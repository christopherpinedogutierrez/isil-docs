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3" r:id="rId2"/>
  </p:sldMasterIdLst>
  <p:notesMasterIdLst>
    <p:notesMasterId r:id="rId25"/>
  </p:notesMasterIdLst>
  <p:handoutMasterIdLst>
    <p:handoutMasterId r:id="rId26"/>
  </p:handoutMasterIdLst>
  <p:sldIdLst>
    <p:sldId id="326" r:id="rId3"/>
    <p:sldId id="432" r:id="rId4"/>
    <p:sldId id="362" r:id="rId5"/>
    <p:sldId id="315" r:id="rId6"/>
    <p:sldId id="336" r:id="rId7"/>
    <p:sldId id="418" r:id="rId8"/>
    <p:sldId id="419" r:id="rId9"/>
    <p:sldId id="420" r:id="rId10"/>
    <p:sldId id="421" r:id="rId11"/>
    <p:sldId id="422" r:id="rId12"/>
    <p:sldId id="425" r:id="rId13"/>
    <p:sldId id="426" r:id="rId14"/>
    <p:sldId id="427" r:id="rId15"/>
    <p:sldId id="428" r:id="rId16"/>
    <p:sldId id="429" r:id="rId17"/>
    <p:sldId id="430" r:id="rId18"/>
    <p:sldId id="431" r:id="rId19"/>
    <p:sldId id="433" r:id="rId20"/>
    <p:sldId id="303" r:id="rId21"/>
    <p:sldId id="434" r:id="rId22"/>
    <p:sldId id="398" r:id="rId23"/>
    <p:sldId id="435" r:id="rId24"/>
  </p:sldIdLst>
  <p:sldSz cx="9144000" cy="5715000" type="screen16x1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1" pos="317" userDrawn="1">
          <p15:clr>
            <a:srgbClr val="A4A3A4"/>
          </p15:clr>
        </p15:guide>
        <p15:guide id="12" orient="horz" pos="1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BE1"/>
    <a:srgbClr val="CCCCCC"/>
    <a:srgbClr val="808799"/>
    <a:srgbClr val="DDEFC8"/>
    <a:srgbClr val="FBC8C4"/>
    <a:srgbClr val="FFEEBF"/>
    <a:srgbClr val="D2EFF4"/>
    <a:srgbClr val="F2F2F2"/>
    <a:srgbClr val="558ED5"/>
    <a:srgbClr val="1F8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003" autoAdjust="0"/>
  </p:normalViewPr>
  <p:slideViewPr>
    <p:cSldViewPr snapToGrid="0" snapToObjects="1" showGuides="1">
      <p:cViewPr>
        <p:scale>
          <a:sx n="140" d="100"/>
          <a:sy n="140" d="100"/>
        </p:scale>
        <p:origin x="536" y="384"/>
      </p:cViewPr>
      <p:guideLst>
        <p:guide pos="317"/>
        <p:guide orient="horz" pos="18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20/8/24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20/08/24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84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6013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3544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94238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5234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4535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8914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5014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303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5670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3726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131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3396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801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73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0751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677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96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831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060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43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6014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59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3871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 DE SISTEMAS EMPRESARIALES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TEMA 14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61516" y="5384440"/>
              <a:ext cx="13869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pos="317" userDrawn="1">
          <p15:clr>
            <a:srgbClr val="F26B43"/>
          </p15:clr>
        </p15:guide>
        <p15:guide id="7" orient="horz" pos="303" userDrawn="1">
          <p15:clr>
            <a:srgbClr val="F26B43"/>
          </p15:clr>
        </p15:guide>
        <p15:guide id="8" orient="horz" pos="575" userDrawn="1">
          <p15:clr>
            <a:srgbClr val="F26B43"/>
          </p15:clr>
        </p15:guide>
        <p15:guide id="9" orient="horz" pos="329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5298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</a:t>
              </a:r>
              <a:r>
                <a:rPr lang="en-US" sz="800" kern="1200" baseline="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SISTEMAS EMPRESARIALES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12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61516" y="5384440"/>
              <a:ext cx="13869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5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www.astera.com/es/type/blog/top-10-data-mining-techniques/" TargetMode="External"/><Relationship Id="rId7" Type="http://schemas.openxmlformats.org/officeDocument/2006/relationships/hyperlink" Target="https://learn.microsoft.com/es-es/training/modules/understand-regression-machine-learnin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verneacademy.com/blog/articulos-ia/10-librerias-python-data-science-machine-learning/" TargetMode="External"/><Relationship Id="rId5" Type="http://schemas.openxmlformats.org/officeDocument/2006/relationships/hyperlink" Target="https://fastercapital.com/es/tema/algoritmos-y-modelos-de-miner%C3%ADa-de-datos.html" TargetMode="External"/><Relationship Id="rId4" Type="http://schemas.openxmlformats.org/officeDocument/2006/relationships/hyperlink" Target="https://jorgeromero.net/tecnicas-y-algoritmos-de-mineria-de-datos" TargetMode="External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4180552-2453-9552-054B-9CCA86611C03}"/>
              </a:ext>
            </a:extLst>
          </p:cNvPr>
          <p:cNvSpPr/>
          <p:nvPr/>
        </p:nvSpPr>
        <p:spPr>
          <a:xfrm>
            <a:off x="280086" y="5275178"/>
            <a:ext cx="8699157" cy="4089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7A39AF-A2BF-A44E-3B9E-B0AEB4EBA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17" y="0"/>
            <a:ext cx="5391150" cy="5715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754C40-7B36-1344-3F0D-9E2B5E4063AE}"/>
              </a:ext>
            </a:extLst>
          </p:cNvPr>
          <p:cNvSpPr txBox="1"/>
          <p:nvPr/>
        </p:nvSpPr>
        <p:spPr>
          <a:xfrm>
            <a:off x="494360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PE" sz="900" b="1" dirty="0">
                <a:solidFill>
                  <a:srgbClr val="6C6D6C"/>
                </a:solidFill>
                <a:latin typeface="Calibri" charset="0"/>
                <a:cs typeface="Calibri" charset="0"/>
                <a:sym typeface="Calibri"/>
              </a:rPr>
              <a:t>ANALÍTICA DE SISTEMAS EMPRESARIALES </a:t>
            </a:r>
            <a:endParaRPr lang="es-PE" sz="900" b="1" dirty="0">
              <a:solidFill>
                <a:srgbClr val="6C6D6C"/>
              </a:solidFill>
              <a:latin typeface="Calibri" charset="0"/>
              <a:cs typeface="Calibri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31677D3-E49B-1732-B870-759FB22E7A6E}"/>
              </a:ext>
            </a:extLst>
          </p:cNvPr>
          <p:cNvSpPr/>
          <p:nvPr/>
        </p:nvSpPr>
        <p:spPr>
          <a:xfrm>
            <a:off x="494361" y="2177570"/>
            <a:ext cx="3258078" cy="1181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200" dirty="0">
                <a:latin typeface="Graphik-Medium" charset="0"/>
              </a:rPr>
              <a:t>DESARROLLO </a:t>
            </a:r>
            <a:r>
              <a:rPr lang="es-ES" sz="3200" b="1" dirty="0">
                <a:latin typeface="Graphik Bold" panose="020B0503030202060203" pitchFamily="34" charset="77"/>
              </a:rPr>
              <a:t>DE  MINERÍA </a:t>
            </a:r>
            <a:br>
              <a:rPr lang="es-ES" sz="3200" b="1" dirty="0">
                <a:latin typeface="Graphik Bold" panose="020B0503030202060203" pitchFamily="34" charset="77"/>
              </a:rPr>
            </a:br>
            <a:r>
              <a:rPr lang="es-ES" sz="3200" b="1" dirty="0">
                <a:latin typeface="Graphik Bold" panose="020B0503030202060203" pitchFamily="34" charset="77"/>
              </a:rPr>
              <a:t>DE DATOS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D8B0E0-458A-5F14-B6DB-9402FB26C9A4}"/>
              </a:ext>
            </a:extLst>
          </p:cNvPr>
          <p:cNvSpPr txBox="1"/>
          <p:nvPr/>
        </p:nvSpPr>
        <p:spPr>
          <a:xfrm>
            <a:off x="735024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E04097"/>
                </a:solidFill>
                <a:latin typeface="Calibri" charset="0"/>
                <a:ea typeface="Calibri" charset="0"/>
                <a:cs typeface="Calibri" charset="0"/>
              </a:rPr>
              <a:t>TEMA 14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CED437E-FCF1-8F8C-FAEB-C168FAED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86" y="1883411"/>
            <a:ext cx="166865" cy="170453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40DF27F5-2884-5913-63E6-CCAD46EBC3D7}"/>
              </a:ext>
            </a:extLst>
          </p:cNvPr>
          <p:cNvSpPr/>
          <p:nvPr/>
        </p:nvSpPr>
        <p:spPr>
          <a:xfrm>
            <a:off x="494360" y="3612072"/>
            <a:ext cx="2848490" cy="11983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419" sz="1100" dirty="0">
                <a:latin typeface="Graphik-Medium" charset="0"/>
              </a:rPr>
              <a:t>D</a:t>
            </a:r>
            <a:r>
              <a:rPr lang="es-ES" sz="1100" dirty="0" err="1">
                <a:latin typeface="Graphik-Medium" charset="0"/>
              </a:rPr>
              <a:t>eterminación</a:t>
            </a:r>
            <a:r>
              <a:rPr lang="es-ES" sz="1100" dirty="0">
                <a:latin typeface="Graphik-Medium" charset="0"/>
              </a:rPr>
              <a:t> de modelos</a:t>
            </a: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Definición de atributos continuos y discretos</a:t>
            </a: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Entrenamiento y prueba de modelos</a:t>
            </a: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Desarrollo de modelos de minería de datos usando SQL Server</a:t>
            </a: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4">
            <a:extLst>
              <a:ext uri="{FF2B5EF4-FFF2-40B4-BE49-F238E27FC236}">
                <a16:creationId xmlns:a16="http://schemas.microsoft.com/office/drawing/2014/main" id="{1BB83EE6-1F91-4660-37D4-8B855E8D93D1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06;p4">
            <a:extLst>
              <a:ext uri="{FF2B5EF4-FFF2-40B4-BE49-F238E27FC236}">
                <a16:creationId xmlns:a16="http://schemas.microsoft.com/office/drawing/2014/main" id="{D0F84C9F-A701-E74B-C57B-5B26D3D4023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7;p4">
            <a:extLst>
              <a:ext uri="{FF2B5EF4-FFF2-40B4-BE49-F238E27FC236}">
                <a16:creationId xmlns:a16="http://schemas.microsoft.com/office/drawing/2014/main" id="{0419059F-C398-2D97-5ABF-F26E87A4F9AE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8;p4">
            <a:extLst>
              <a:ext uri="{FF2B5EF4-FFF2-40B4-BE49-F238E27FC236}">
                <a16:creationId xmlns:a16="http://schemas.microsoft.com/office/drawing/2014/main" id="{9A9E2438-FF06-A842-1E75-7E9B72C7A2D6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dirty="0">
                <a:solidFill>
                  <a:schemeClr val="lt1"/>
                </a:solidFill>
                <a:latin typeface="Graphik Regular" panose="020B0503030202060203" pitchFamily="34" charset="77"/>
                <a:ea typeface="Arial"/>
                <a:cs typeface="Arial"/>
                <a:sym typeface="Arial"/>
              </a:rPr>
              <a:t>INTRODUCCIÓN</a:t>
            </a:r>
            <a:endParaRPr dirty="0">
              <a:latin typeface="Graphik Regular" panose="020B0503030202060203" pitchFamily="34" charset="77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b="1" dirty="0">
                <a:solidFill>
                  <a:schemeClr val="lt1"/>
                </a:solidFill>
                <a:latin typeface="Graphik Bold" panose="020B0503030202060203" pitchFamily="34" charset="77"/>
                <a:ea typeface="Arial"/>
                <a:cs typeface="Arial"/>
                <a:sym typeface="Arial"/>
              </a:rPr>
              <a:t>DE LA SESIÓN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6" name="Google Shape;109;p4">
            <a:extLst>
              <a:ext uri="{FF2B5EF4-FFF2-40B4-BE49-F238E27FC236}">
                <a16:creationId xmlns:a16="http://schemas.microsoft.com/office/drawing/2014/main" id="{30314413-1705-71A7-BE5C-E2E8E1F18884}"/>
              </a:ext>
            </a:extLst>
          </p:cNvPr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0;p4">
            <a:extLst>
              <a:ext uri="{FF2B5EF4-FFF2-40B4-BE49-F238E27FC236}">
                <a16:creationId xmlns:a16="http://schemas.microsoft.com/office/drawing/2014/main" id="{9E2049D1-4502-3ACD-4EE8-0FBD8343EA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7077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p5">
            <a:extLst>
              <a:ext uri="{FF2B5EF4-FFF2-40B4-BE49-F238E27FC236}">
                <a16:creationId xmlns:a16="http://schemas.microsoft.com/office/drawing/2014/main" id="{D80CE28A-A102-2AA3-A488-2333E3AE34EA}"/>
              </a:ext>
            </a:extLst>
          </p:cNvPr>
          <p:cNvSpPr txBox="1"/>
          <p:nvPr/>
        </p:nvSpPr>
        <p:spPr>
          <a:xfrm>
            <a:off x="1282298" y="918371"/>
            <a:ext cx="545896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solidFill>
                  <a:srgbClr val="2626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esta sesión aprenderás qué es el aprendizaje automático y la diferencia entre el aprendizaje automático supervisado y no supervisado.  También cómo entrenar, probar, validar y aplicar un modelo de aprendizaje automático supervisado. Usarás SQL Server y Python para ilustrar el uso de un modelo de regresión.</a:t>
            </a:r>
          </a:p>
        </p:txBody>
      </p:sp>
      <p:pic>
        <p:nvPicPr>
          <p:cNvPr id="3" name="Google Shape;121;p5">
            <a:extLst>
              <a:ext uri="{FF2B5EF4-FFF2-40B4-BE49-F238E27FC236}">
                <a16:creationId xmlns:a16="http://schemas.microsoft.com/office/drawing/2014/main" id="{98E0B47B-E4A9-FE6B-6F4E-DC703333CA9C}"/>
              </a:ext>
            </a:extLst>
          </p:cNvPr>
          <p:cNvPicPr preferRelativeResize="0"/>
          <p:nvPr/>
        </p:nvPicPr>
        <p:blipFill rotWithShape="1">
          <a:blip r:embed="rId3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4;p5">
            <a:extLst>
              <a:ext uri="{FF2B5EF4-FFF2-40B4-BE49-F238E27FC236}">
                <a16:creationId xmlns:a16="http://schemas.microsoft.com/office/drawing/2014/main" id="{E14B2B98-0534-FE95-CD4A-F816F310B0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839" y="975168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7;p5">
            <a:extLst>
              <a:ext uri="{FF2B5EF4-FFF2-40B4-BE49-F238E27FC236}">
                <a16:creationId xmlns:a16="http://schemas.microsoft.com/office/drawing/2014/main" id="{7471EC0F-8E52-824D-CFBA-5749A2375F3D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C661DCE-5C94-656A-229B-3FC3AD3E9AF0}"/>
              </a:ext>
            </a:extLst>
          </p:cNvPr>
          <p:cNvSpPr/>
          <p:nvPr/>
        </p:nvSpPr>
        <p:spPr>
          <a:xfrm>
            <a:off x="182879" y="5233989"/>
            <a:ext cx="8492809" cy="3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067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C5982B38-33BE-F21F-AA06-9C7FCADB3CB7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B8BC3FE2-D334-5DD4-F20B-DC930A2629D1}"/>
              </a:ext>
            </a:extLst>
          </p:cNvPr>
          <p:cNvSpPr txBox="1"/>
          <p:nvPr/>
        </p:nvSpPr>
        <p:spPr>
          <a:xfrm>
            <a:off x="1008063" y="3157860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DETERMINACIÓN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DE MODELOS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AA281DF6-8BE5-2CA7-7276-A56DEF3B48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8984"/>
            <a:ext cx="3889375" cy="3770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TRADICIONAL vs APRENDIZAJE AUTOMÁTICO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2563" indent="-182563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tradicional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 mejora del software se consigue editando su código para añadirle la funcionalidad mejorada.</a:t>
            </a:r>
          </a:p>
          <a:p>
            <a:pPr marL="182563" indent="-182563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2563" indent="-182563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Aprendizaje automático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algoritmo que usa parámetros basados en datos conocidos (conjunto de datos de entrenamiento) para estimar los resultados de un conjunto de datos nuevo. A medida que aumenta el volumen del conjunto de entrenamiento, las estimaciones serán más precisas. El algoritmo aprende de la experiencia subyacente en los datos.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B589C2F3-561E-CD4F-941E-0A8B895336D1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DETERMINACIÓN DE MODELOS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E7ED3E6-FF6C-D1C4-9E72-B24F39D4D2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98" r="36408"/>
          <a:stretch/>
        </p:blipFill>
        <p:spPr>
          <a:xfrm>
            <a:off x="4751389" y="-1"/>
            <a:ext cx="4392612" cy="573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7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6889" y="912813"/>
            <a:ext cx="8130222" cy="18004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APRENDIZAJE SUPERVISADO vs APRENDIZAJE NO SUPERVISADO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Aprendizaje supervisado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proceso de entrenamiento del modelo en el que el algoritmo aprende a partir de ejemplos.</a:t>
            </a:r>
          </a:p>
          <a:p>
            <a:pPr marL="179388" indent="-179388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Aprendizaje no supervisado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proceso de entrenamiento del modelo en un escenario en el que no se conoce la respuesta correcta. El algoritmo obtiene distintas soluciones que pueden ser mejores o peores según el objetivo establecido.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951E9B41-53EC-B697-2C8E-CF79C4BDB204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DETERMINACIÓN DE MODELOS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429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7870200" cy="3939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ENTRENAMIENTO Y USO DEL MODELO DE APRENDIZAJE SUPERVISADO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usar un modelo de aprendizaje automático supervisado debemos dividir los datos de las observaciones con resultados conocidos en dos conjuntos: de entrenamiento y de prueba. Luego debemos:</a:t>
            </a:r>
          </a:p>
          <a:p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Entrenar al modelo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 entrega al modelo los datos del conjunto de entrenamiento. El algoritmo tiene dos fragmentos de código: la función objetivo que establece lo que el modelo debe hacer, y el optimizador que va cambiando los parámetros del modelo para hacerlo cada vez más eficiente.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Probar el modelo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 entrega al modelo entrenado los datos del conjunto de prueba. Usando los parámetros del modelo establece los valores de la función objetivo.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Validar el modelo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establece cuán precisas son las estimaciones entregadas por el modelo.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Usar el modelo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 aplica el modelo a los nuevos datos cuyas estimaciones se desea predecir.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74E124F4-ADFC-0253-9FBE-21544248286A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DETERMINACIÓN DE MODELOS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917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33558" y="912813"/>
            <a:ext cx="8142129" cy="909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USAR UN MODELO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uso de un modelo implica entregarle los datos de entrada y recibir las estimaciones o predicciones. Este proceso también lo ejecutamos cuando entrenamos al modelo.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A79EBF82-BFF8-19A3-EE35-60D39007869A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DETERMINACIÓN DE MODELOS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12996E-662A-75B4-56D0-3BE2586AE050}"/>
              </a:ext>
            </a:extLst>
          </p:cNvPr>
          <p:cNvSpPr txBox="1"/>
          <p:nvPr/>
        </p:nvSpPr>
        <p:spPr>
          <a:xfrm>
            <a:off x="736441" y="3711655"/>
            <a:ext cx="599819" cy="15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</a:t>
            </a:r>
            <a:endParaRPr lang="es-PE" sz="1000" dirty="0"/>
          </a:p>
        </p:txBody>
      </p:sp>
      <p:sp>
        <p:nvSpPr>
          <p:cNvPr id="9" name="Arco 8">
            <a:extLst>
              <a:ext uri="{FF2B5EF4-FFF2-40B4-BE49-F238E27FC236}">
                <a16:creationId xmlns:a16="http://schemas.microsoft.com/office/drawing/2014/main" id="{F511A071-AE6E-5905-0935-2F274E6E5D95}"/>
              </a:ext>
            </a:extLst>
          </p:cNvPr>
          <p:cNvSpPr/>
          <p:nvPr/>
        </p:nvSpPr>
        <p:spPr>
          <a:xfrm rot="18802063">
            <a:off x="3503012" y="3173273"/>
            <a:ext cx="1779202" cy="1805517"/>
          </a:xfrm>
          <a:prstGeom prst="arc">
            <a:avLst/>
          </a:prstGeom>
          <a:ln w="38100">
            <a:solidFill>
              <a:srgbClr val="808799"/>
            </a:solidFill>
            <a:tailEnd type="triangle"/>
          </a:ln>
          <a:effectLst>
            <a:outerShdw sx="1000" sy="1000" rotWithShape="0">
              <a:srgbClr val="808799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C86D307-34F6-2C85-E366-1E2F4EDDB587}"/>
              </a:ext>
            </a:extLst>
          </p:cNvPr>
          <p:cNvSpPr/>
          <p:nvPr/>
        </p:nvSpPr>
        <p:spPr>
          <a:xfrm>
            <a:off x="6883516" y="3382133"/>
            <a:ext cx="1663339" cy="743473"/>
          </a:xfrm>
          <a:prstGeom prst="roundRect">
            <a:avLst/>
          </a:prstGeom>
          <a:solidFill>
            <a:srgbClr val="D2EFF4">
              <a:alpha val="19699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73D031-8557-C05D-F903-A340CF96960F}"/>
              </a:ext>
            </a:extLst>
          </p:cNvPr>
          <p:cNvSpPr txBox="1"/>
          <p:nvPr/>
        </p:nvSpPr>
        <p:spPr>
          <a:xfrm>
            <a:off x="6883516" y="3459295"/>
            <a:ext cx="166333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Buen rendimiento</a:t>
            </a:r>
          </a:p>
          <a:p>
            <a:pPr algn="ctr"/>
            <a:r>
              <a:rPr lang="es-PE" sz="1200" dirty="0">
                <a:solidFill>
                  <a:srgbClr val="CC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Detener </a:t>
            </a:r>
            <a:br>
              <a:rPr lang="es-PE" sz="1200" dirty="0">
                <a:solidFill>
                  <a:srgbClr val="CC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PE" sz="1200" dirty="0">
                <a:solidFill>
                  <a:srgbClr val="CC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entrenamiento</a:t>
            </a:r>
            <a:endParaRPr lang="es-PE" sz="1200" dirty="0">
              <a:solidFill>
                <a:srgbClr val="CCCCCC"/>
              </a:solidFill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2CE00C11-3DE5-35DE-DECC-7B38C2D29DC1}"/>
              </a:ext>
            </a:extLst>
          </p:cNvPr>
          <p:cNvSpPr/>
          <p:nvPr/>
        </p:nvSpPr>
        <p:spPr>
          <a:xfrm>
            <a:off x="1855109" y="4418087"/>
            <a:ext cx="1663339" cy="397639"/>
          </a:xfrm>
          <a:prstGeom prst="roundRect">
            <a:avLst/>
          </a:prstGeom>
          <a:solidFill>
            <a:srgbClr val="DDEFC8">
              <a:alpha val="2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289D54A-BBFE-B11E-A1D4-6D6ECAFB6689}"/>
              </a:ext>
            </a:extLst>
          </p:cNvPr>
          <p:cNvSpPr txBox="1"/>
          <p:nvPr/>
        </p:nvSpPr>
        <p:spPr>
          <a:xfrm>
            <a:off x="1855109" y="4495249"/>
            <a:ext cx="166333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Nuevos parámetros</a:t>
            </a:r>
            <a:endParaRPr lang="es-PE" sz="1200" dirty="0">
              <a:solidFill>
                <a:srgbClr val="CCCCCC"/>
              </a:solidFill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4AC534D7-B6F3-44CD-8CA7-C3B877CE63E8}"/>
              </a:ext>
            </a:extLst>
          </p:cNvPr>
          <p:cNvSpPr/>
          <p:nvPr/>
        </p:nvSpPr>
        <p:spPr>
          <a:xfrm>
            <a:off x="3613951" y="2659776"/>
            <a:ext cx="1371794" cy="397639"/>
          </a:xfrm>
          <a:prstGeom prst="roundRect">
            <a:avLst/>
          </a:prstGeom>
          <a:solidFill>
            <a:srgbClr val="FFEEB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AC437B-7F87-1B50-918A-16C3F7A69500}"/>
              </a:ext>
            </a:extLst>
          </p:cNvPr>
          <p:cNvSpPr txBox="1"/>
          <p:nvPr/>
        </p:nvSpPr>
        <p:spPr>
          <a:xfrm>
            <a:off x="3613950" y="2736938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Estimación</a:t>
            </a:r>
            <a:endParaRPr lang="es-PE" sz="1200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648491D5-DFA4-55EC-6B8D-FE9666C1844A}"/>
              </a:ext>
            </a:extLst>
          </p:cNvPr>
          <p:cNvSpPr/>
          <p:nvPr/>
        </p:nvSpPr>
        <p:spPr>
          <a:xfrm>
            <a:off x="5373363" y="4455285"/>
            <a:ext cx="1371794" cy="397639"/>
          </a:xfrm>
          <a:prstGeom prst="roundRect">
            <a:avLst/>
          </a:prstGeom>
          <a:solidFill>
            <a:srgbClr val="FBC8C4">
              <a:alpha val="2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B7690AB-6609-E4AC-583E-1FF83EFDD98B}"/>
              </a:ext>
            </a:extLst>
          </p:cNvPr>
          <p:cNvSpPr txBox="1"/>
          <p:nvPr/>
        </p:nvSpPr>
        <p:spPr>
          <a:xfrm>
            <a:off x="5373362" y="4532447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Rendimiento</a:t>
            </a:r>
            <a:endParaRPr lang="es-PE" sz="1200" dirty="0">
              <a:solidFill>
                <a:srgbClr val="CCCCCC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54D95D6-5D23-D668-D478-0DDDA08EB6D0}"/>
              </a:ext>
            </a:extLst>
          </p:cNvPr>
          <p:cNvSpPr txBox="1"/>
          <p:nvPr/>
        </p:nvSpPr>
        <p:spPr>
          <a:xfrm>
            <a:off x="4833773" y="3498247"/>
            <a:ext cx="137179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6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</a:t>
            </a:r>
          </a:p>
          <a:p>
            <a:pPr algn="ctr"/>
            <a:r>
              <a:rPr lang="es-PE" sz="1600" dirty="0">
                <a:solidFill>
                  <a:srgbClr val="CCCC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Función</a:t>
            </a:r>
            <a:endParaRPr lang="es-PE" sz="1600" dirty="0">
              <a:solidFill>
                <a:srgbClr val="CCCCCC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05AC902-90A2-851F-A965-408A69416BCE}"/>
              </a:ext>
            </a:extLst>
          </p:cNvPr>
          <p:cNvSpPr txBox="1"/>
          <p:nvPr/>
        </p:nvSpPr>
        <p:spPr>
          <a:xfrm>
            <a:off x="3720591" y="4654104"/>
            <a:ext cx="1371795" cy="246221"/>
          </a:xfrm>
          <a:prstGeom prst="rect">
            <a:avLst/>
          </a:prstGeom>
          <a:noFill/>
          <a:effectLst>
            <a:outerShdw blurRad="50800" dist="50800" dir="5400000" sx="1000" sy="1000" algn="ctr" rotWithShape="0">
              <a:srgbClr val="000000"/>
            </a:outerShdw>
          </a:effec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6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Optimizador</a:t>
            </a:r>
            <a:endParaRPr lang="es-PE" sz="1600" dirty="0">
              <a:solidFill>
                <a:srgbClr val="CCCCCC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97A0CD8-B552-4F39-0347-A5357AD2F3F5}"/>
              </a:ext>
            </a:extLst>
          </p:cNvPr>
          <p:cNvSpPr txBox="1"/>
          <p:nvPr/>
        </p:nvSpPr>
        <p:spPr>
          <a:xfrm>
            <a:off x="2604805" y="3641203"/>
            <a:ext cx="13717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</a:t>
            </a:r>
            <a:endParaRPr lang="es-PE" sz="1600" dirty="0"/>
          </a:p>
        </p:txBody>
      </p:sp>
      <p:sp>
        <p:nvSpPr>
          <p:cNvPr id="21" name="Arco 20">
            <a:extLst>
              <a:ext uri="{FF2B5EF4-FFF2-40B4-BE49-F238E27FC236}">
                <a16:creationId xmlns:a16="http://schemas.microsoft.com/office/drawing/2014/main" id="{DE6097F9-4DF8-81F4-ED49-5AB95C9C173E}"/>
              </a:ext>
            </a:extLst>
          </p:cNvPr>
          <p:cNvSpPr/>
          <p:nvPr/>
        </p:nvSpPr>
        <p:spPr>
          <a:xfrm rot="5026508">
            <a:off x="4342348" y="3393086"/>
            <a:ext cx="1351164" cy="1481986"/>
          </a:xfrm>
          <a:prstGeom prst="arc">
            <a:avLst/>
          </a:prstGeom>
          <a:ln w="38100">
            <a:solidFill>
              <a:srgbClr val="CCCCCC"/>
            </a:solidFill>
            <a:tailEnd type="triangle"/>
          </a:ln>
          <a:effectLst>
            <a:outerShdw sx="1000" sy="1000" rotWithShape="0">
              <a:srgbClr val="808799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Arco 21">
            <a:extLst>
              <a:ext uri="{FF2B5EF4-FFF2-40B4-BE49-F238E27FC236}">
                <a16:creationId xmlns:a16="http://schemas.microsoft.com/office/drawing/2014/main" id="{C7AA5143-246C-C8E5-62CC-544E2CEF0178}"/>
              </a:ext>
            </a:extLst>
          </p:cNvPr>
          <p:cNvSpPr/>
          <p:nvPr/>
        </p:nvSpPr>
        <p:spPr>
          <a:xfrm rot="11091146">
            <a:off x="3130126" y="3322093"/>
            <a:ext cx="1351164" cy="1481986"/>
          </a:xfrm>
          <a:prstGeom prst="arc">
            <a:avLst/>
          </a:prstGeom>
          <a:ln w="38100">
            <a:solidFill>
              <a:srgbClr val="CCCCCC"/>
            </a:solidFill>
            <a:tailEnd type="triangle"/>
          </a:ln>
          <a:effectLst>
            <a:outerShdw sx="1000" sy="1000" rotWithShape="0">
              <a:srgbClr val="808799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2DDA7B2-D36D-E2EA-C5CE-697255CB4D29}"/>
              </a:ext>
            </a:extLst>
          </p:cNvPr>
          <p:cNvCxnSpPr>
            <a:cxnSpLocks/>
          </p:cNvCxnSpPr>
          <p:nvPr/>
        </p:nvCxnSpPr>
        <p:spPr>
          <a:xfrm>
            <a:off x="1656522" y="3780328"/>
            <a:ext cx="1173570" cy="0"/>
          </a:xfrm>
          <a:prstGeom prst="straightConnector1">
            <a:avLst/>
          </a:prstGeom>
          <a:ln w="38100">
            <a:solidFill>
              <a:srgbClr val="808799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DA40A48-7648-39B8-B7F8-7CD46F938D6A}"/>
              </a:ext>
            </a:extLst>
          </p:cNvPr>
          <p:cNvCxnSpPr>
            <a:cxnSpLocks/>
          </p:cNvCxnSpPr>
          <p:nvPr/>
        </p:nvCxnSpPr>
        <p:spPr>
          <a:xfrm>
            <a:off x="6036365" y="3780328"/>
            <a:ext cx="708792" cy="0"/>
          </a:xfrm>
          <a:prstGeom prst="straightConnector1">
            <a:avLst/>
          </a:prstGeom>
          <a:ln w="38100">
            <a:solidFill>
              <a:srgbClr val="CCCCC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FEC4449-3AF3-360E-AE14-C07FA22520DA}"/>
              </a:ext>
            </a:extLst>
          </p:cNvPr>
          <p:cNvSpPr txBox="1"/>
          <p:nvPr/>
        </p:nvSpPr>
        <p:spPr>
          <a:xfrm>
            <a:off x="1653789" y="3575265"/>
            <a:ext cx="103807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Características</a:t>
            </a:r>
            <a:endParaRPr lang="es-PE" sz="10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6AFCDC40-7A77-A417-4226-57822D6B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18" y="3152566"/>
            <a:ext cx="501436" cy="53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5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15497" y="932410"/>
            <a:ext cx="8160191" cy="1152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ENTRENAR UN MODELO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entrenamiento de un modelo implica utilizar el modelo, la función objetivo y el optimizador en un bucle con la intención de mejorar su funcionalidad. Una vez entrenado, lo usamos con datos nuevos. 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DF760F1C-4FB3-2C7D-5225-517AE84DD079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DETERMINACIÓN DE MODELOS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B6DD3146-00B4-77CD-CE90-E816374D3C2E}"/>
              </a:ext>
            </a:extLst>
          </p:cNvPr>
          <p:cNvGrpSpPr/>
          <p:nvPr/>
        </p:nvGrpSpPr>
        <p:grpSpPr>
          <a:xfrm>
            <a:off x="736441" y="2659776"/>
            <a:ext cx="7810414" cy="2305857"/>
            <a:chOff x="736441" y="2659776"/>
            <a:chExt cx="7810414" cy="2305857"/>
          </a:xfrm>
        </p:grpSpPr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4E7665C3-7069-077D-2A64-ACDD67E318C4}"/>
                </a:ext>
              </a:extLst>
            </p:cNvPr>
            <p:cNvSpPr txBox="1"/>
            <p:nvPr/>
          </p:nvSpPr>
          <p:spPr>
            <a:xfrm>
              <a:off x="736441" y="3711655"/>
              <a:ext cx="599819" cy="1538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Datos</a:t>
              </a:r>
              <a:endParaRPr lang="es-PE" sz="1000" dirty="0"/>
            </a:p>
          </p:txBody>
        </p:sp>
        <p:sp>
          <p:nvSpPr>
            <p:cNvPr id="3" name="Arco 2">
              <a:extLst>
                <a:ext uri="{FF2B5EF4-FFF2-40B4-BE49-F238E27FC236}">
                  <a16:creationId xmlns:a16="http://schemas.microsoft.com/office/drawing/2014/main" id="{9C41325E-EE39-2900-D963-7FE3088DED9F}"/>
                </a:ext>
              </a:extLst>
            </p:cNvPr>
            <p:cNvSpPr/>
            <p:nvPr/>
          </p:nvSpPr>
          <p:spPr>
            <a:xfrm rot="18802063">
              <a:off x="3503012" y="3173273"/>
              <a:ext cx="1779202" cy="1805517"/>
            </a:xfrm>
            <a:prstGeom prst="arc">
              <a:avLst/>
            </a:prstGeom>
            <a:ln w="38100">
              <a:solidFill>
                <a:srgbClr val="808799"/>
              </a:solidFill>
              <a:tailEnd type="triangle"/>
            </a:ln>
            <a:effectLst>
              <a:outerShdw sx="1000" sy="1000" rotWithShape="0">
                <a:srgbClr val="808799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1E5E30AD-DA11-2820-322D-10C448229B07}"/>
                </a:ext>
              </a:extLst>
            </p:cNvPr>
            <p:cNvSpPr/>
            <p:nvPr/>
          </p:nvSpPr>
          <p:spPr>
            <a:xfrm>
              <a:off x="6883516" y="3382133"/>
              <a:ext cx="1663339" cy="743473"/>
            </a:xfrm>
            <a:prstGeom prst="roundRect">
              <a:avLst/>
            </a:prstGeom>
            <a:solidFill>
              <a:srgbClr val="D2EFF4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644DB798-707C-E796-BA9A-2FFA5A7E5B80}"/>
                </a:ext>
              </a:extLst>
            </p:cNvPr>
            <p:cNvSpPr txBox="1"/>
            <p:nvPr/>
          </p:nvSpPr>
          <p:spPr>
            <a:xfrm>
              <a:off x="6883516" y="3459295"/>
              <a:ext cx="1663339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Buen rendimiento</a:t>
              </a:r>
            </a:p>
            <a:p>
              <a:pPr algn="ctr"/>
              <a:r>
                <a:rPr lang="es-PE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Detener </a:t>
              </a:r>
              <a:br>
                <a:rPr lang="es-PE" sz="1200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s-PE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el entrenamiento</a:t>
              </a:r>
              <a:endParaRPr lang="es-PE" sz="1200" dirty="0"/>
            </a:p>
          </p:txBody>
        </p: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3E1E8439-681D-D8B6-30C2-56007E54BF7C}"/>
                </a:ext>
              </a:extLst>
            </p:cNvPr>
            <p:cNvSpPr/>
            <p:nvPr/>
          </p:nvSpPr>
          <p:spPr>
            <a:xfrm>
              <a:off x="1855109" y="4418087"/>
              <a:ext cx="1663339" cy="397639"/>
            </a:xfrm>
            <a:prstGeom prst="roundRect">
              <a:avLst/>
            </a:prstGeom>
            <a:solidFill>
              <a:srgbClr val="DDEFC8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AEE2077-D33F-B552-92F9-6040E6A96CAE}"/>
                </a:ext>
              </a:extLst>
            </p:cNvPr>
            <p:cNvSpPr txBox="1"/>
            <p:nvPr/>
          </p:nvSpPr>
          <p:spPr>
            <a:xfrm>
              <a:off x="1855109" y="4495249"/>
              <a:ext cx="1663339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Nuevos parámetros</a:t>
              </a:r>
              <a:endParaRPr lang="es-PE" sz="1200" dirty="0"/>
            </a:p>
          </p:txBody>
        </p:sp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22C80C31-7F3B-CAD1-5B90-3B4982501712}"/>
                </a:ext>
              </a:extLst>
            </p:cNvPr>
            <p:cNvSpPr/>
            <p:nvPr/>
          </p:nvSpPr>
          <p:spPr>
            <a:xfrm>
              <a:off x="3613951" y="2659776"/>
              <a:ext cx="1371794" cy="397639"/>
            </a:xfrm>
            <a:prstGeom prst="roundRect">
              <a:avLst/>
            </a:prstGeom>
            <a:solidFill>
              <a:srgbClr val="FFEEBF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FA7309D-F9F1-941F-829F-F1F6D3BADD8A}"/>
                </a:ext>
              </a:extLst>
            </p:cNvPr>
            <p:cNvSpPr txBox="1"/>
            <p:nvPr/>
          </p:nvSpPr>
          <p:spPr>
            <a:xfrm>
              <a:off x="3613950" y="2736938"/>
              <a:ext cx="1371795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Estimación</a:t>
              </a:r>
              <a:endParaRPr lang="es-PE" sz="1200" dirty="0"/>
            </a:p>
          </p:txBody>
        </p:sp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B520ABC2-05F9-EFCC-C456-AAF4636C58FA}"/>
                </a:ext>
              </a:extLst>
            </p:cNvPr>
            <p:cNvSpPr/>
            <p:nvPr/>
          </p:nvSpPr>
          <p:spPr>
            <a:xfrm>
              <a:off x="5373363" y="4455285"/>
              <a:ext cx="1371794" cy="397639"/>
            </a:xfrm>
            <a:prstGeom prst="roundRect">
              <a:avLst/>
            </a:prstGeom>
            <a:solidFill>
              <a:srgbClr val="FBC8C4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9F7C5052-7203-1617-D7C9-923A33C8CD7F}"/>
                </a:ext>
              </a:extLst>
            </p:cNvPr>
            <p:cNvSpPr txBox="1"/>
            <p:nvPr/>
          </p:nvSpPr>
          <p:spPr>
            <a:xfrm>
              <a:off x="5373362" y="4532447"/>
              <a:ext cx="1371795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Rendimiento</a:t>
              </a:r>
              <a:endParaRPr lang="es-PE" sz="1200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95CE95F-F761-948E-036C-C3DD79930EFA}"/>
                </a:ext>
              </a:extLst>
            </p:cNvPr>
            <p:cNvSpPr txBox="1"/>
            <p:nvPr/>
          </p:nvSpPr>
          <p:spPr>
            <a:xfrm>
              <a:off x="4833773" y="3498247"/>
              <a:ext cx="1371795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Objetivos</a:t>
              </a:r>
            </a:p>
            <a:p>
              <a:pPr algn="ctr"/>
              <a:r>
                <a:rPr lang="es-P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Función</a:t>
              </a:r>
              <a:endParaRPr lang="es-PE" sz="1600" dirty="0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3DDC2D41-71F3-5D41-BC58-75CE57C61518}"/>
                </a:ext>
              </a:extLst>
            </p:cNvPr>
            <p:cNvSpPr txBox="1"/>
            <p:nvPr/>
          </p:nvSpPr>
          <p:spPr>
            <a:xfrm>
              <a:off x="3720591" y="4654104"/>
              <a:ext cx="1371795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Optimizador</a:t>
              </a:r>
              <a:endParaRPr lang="es-PE" sz="1600" dirty="0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5B64A3C-5F34-A7EA-743D-5BB0B9E75C6B}"/>
                </a:ext>
              </a:extLst>
            </p:cNvPr>
            <p:cNvSpPr txBox="1"/>
            <p:nvPr/>
          </p:nvSpPr>
          <p:spPr>
            <a:xfrm>
              <a:off x="2604805" y="3641203"/>
              <a:ext cx="1371795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Modelo</a:t>
              </a:r>
              <a:endParaRPr lang="es-PE" sz="1600" dirty="0"/>
            </a:p>
          </p:txBody>
        </p:sp>
        <p:sp>
          <p:nvSpPr>
            <p:cNvPr id="21" name="Arco 20">
              <a:extLst>
                <a:ext uri="{FF2B5EF4-FFF2-40B4-BE49-F238E27FC236}">
                  <a16:creationId xmlns:a16="http://schemas.microsoft.com/office/drawing/2014/main" id="{C3E452EA-4042-1871-BB16-21108BC49FBE}"/>
                </a:ext>
              </a:extLst>
            </p:cNvPr>
            <p:cNvSpPr/>
            <p:nvPr/>
          </p:nvSpPr>
          <p:spPr>
            <a:xfrm rot="5026508">
              <a:off x="4342348" y="3393086"/>
              <a:ext cx="1351164" cy="1481986"/>
            </a:xfrm>
            <a:prstGeom prst="arc">
              <a:avLst/>
            </a:prstGeom>
            <a:ln w="38100">
              <a:solidFill>
                <a:srgbClr val="808799"/>
              </a:solidFill>
              <a:tailEnd type="triangle"/>
            </a:ln>
            <a:effectLst>
              <a:outerShdw sx="1000" sy="1000" rotWithShape="0">
                <a:srgbClr val="808799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Arco 22">
              <a:extLst>
                <a:ext uri="{FF2B5EF4-FFF2-40B4-BE49-F238E27FC236}">
                  <a16:creationId xmlns:a16="http://schemas.microsoft.com/office/drawing/2014/main" id="{E0FFD52E-ECA3-313A-7F9C-38902A123F7B}"/>
                </a:ext>
              </a:extLst>
            </p:cNvPr>
            <p:cNvSpPr/>
            <p:nvPr/>
          </p:nvSpPr>
          <p:spPr>
            <a:xfrm rot="11091146">
              <a:off x="3130126" y="3322093"/>
              <a:ext cx="1351164" cy="1481986"/>
            </a:xfrm>
            <a:prstGeom prst="arc">
              <a:avLst/>
            </a:prstGeom>
            <a:ln w="38100">
              <a:solidFill>
                <a:srgbClr val="808799"/>
              </a:solidFill>
              <a:tailEnd type="triangle"/>
            </a:ln>
            <a:effectLst>
              <a:outerShdw sx="1000" sy="1000" rotWithShape="0">
                <a:srgbClr val="808799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7BB792E5-7E54-FB81-215A-80CBD2870AF7}"/>
                </a:ext>
              </a:extLst>
            </p:cNvPr>
            <p:cNvCxnSpPr>
              <a:cxnSpLocks/>
            </p:cNvCxnSpPr>
            <p:nvPr/>
          </p:nvCxnSpPr>
          <p:spPr>
            <a:xfrm>
              <a:off x="1656522" y="3780328"/>
              <a:ext cx="1173570" cy="0"/>
            </a:xfrm>
            <a:prstGeom prst="straightConnector1">
              <a:avLst/>
            </a:prstGeom>
            <a:ln w="38100">
              <a:solidFill>
                <a:srgbClr val="808799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9F91A60A-4C40-2DB2-4674-DC7BBFB761CE}"/>
                </a:ext>
              </a:extLst>
            </p:cNvPr>
            <p:cNvCxnSpPr>
              <a:cxnSpLocks/>
            </p:cNvCxnSpPr>
            <p:nvPr/>
          </p:nvCxnSpPr>
          <p:spPr>
            <a:xfrm>
              <a:off x="6036365" y="3780328"/>
              <a:ext cx="708792" cy="0"/>
            </a:xfrm>
            <a:prstGeom prst="straightConnector1">
              <a:avLst/>
            </a:prstGeom>
            <a:ln w="38100">
              <a:solidFill>
                <a:srgbClr val="808799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A4186F30-BF0C-F0BB-DC17-6F2D7D7E9279}"/>
                </a:ext>
              </a:extLst>
            </p:cNvPr>
            <p:cNvSpPr txBox="1"/>
            <p:nvPr/>
          </p:nvSpPr>
          <p:spPr>
            <a:xfrm>
              <a:off x="1653789" y="3575265"/>
              <a:ext cx="1038070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Características</a:t>
              </a:r>
              <a:endParaRPr lang="es-PE" sz="1000" dirty="0"/>
            </a:p>
          </p:txBody>
        </p:sp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813CF555-6E15-263D-A0A6-B40199635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218" y="3152566"/>
              <a:ext cx="501436" cy="5318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618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A36A2050-2630-6E64-0AE2-5AA77FB3C47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472CF8E0-50E8-A642-707D-5E77E4DF3C74}"/>
              </a:ext>
            </a:extLst>
          </p:cNvPr>
          <p:cNvSpPr txBox="1"/>
          <p:nvPr/>
        </p:nvSpPr>
        <p:spPr>
          <a:xfrm>
            <a:off x="1008063" y="3157860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ATRIBUTOS CONTINUOS </a:t>
            </a:r>
            <a:b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</a:b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Y ATRIBUTOS DISCRETOS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8E121BE1-7855-90BB-0E9C-064F4BB183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840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8172450" cy="24068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CONTINUOS (DATOS NUMÉRICOS)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 datos que dentro de un rango de valores, pueden tomar cualquier valor. Por ejemplo, el peso de un perro. </a:t>
            </a: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4150" indent="-1841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Supongamos que el rango de pesos aceptables va desde 0 kg a 20 kg, los pesos de los perros pueden tomar valores como:</a:t>
            </a:r>
          </a:p>
          <a:p>
            <a:pPr marL="184150" indent="-184150">
              <a:spcAft>
                <a:spcPts val="0"/>
              </a:spcAft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0.500, 0.789, 1.250, 2.890, 2.892, 3.100, 5.576, 7.450, 8.111, 10.342, 12.780, 19.978</a:t>
            </a:r>
          </a:p>
          <a:p>
            <a:pPr marL="184150" indent="-184150">
              <a:spcAft>
                <a:spcPts val="0"/>
              </a:spcAft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Suelen ser datos 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numéricos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3DF167A2-C177-A66A-AA59-1985218FCCC6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ATRIBUTOS CONTINUOS Y ATRIBUTOS DISCRETOS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784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8076882" cy="21236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DISCRETOS (DATOS CATEGÓRICOS)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4150" indent="-1841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 datos que pueden tomar solo algunos valores determinados. Por ejemplo, la región en la que se ubica un cliente nacional.</a:t>
            </a:r>
          </a:p>
          <a:p>
            <a:pPr marL="409575" lvl="1" indent="-225425"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Lima, Piura, Loreto, Junín, Callao</a:t>
            </a:r>
          </a:p>
          <a:p>
            <a:pPr marL="184150" indent="-184150">
              <a:spcAft>
                <a:spcPts val="0"/>
              </a:spcAft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Otro ejemplo, la cantidad de clientes en cada región. El valor solo puede ser un número entero.</a:t>
            </a:r>
          </a:p>
          <a:p>
            <a:pPr marL="184150" indent="-184150">
              <a:spcAft>
                <a:spcPts val="0"/>
              </a:spcAft>
            </a:pP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 datos cuyo valores define categorías, por lo que también se les conoce como 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categóricos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DF37CA7E-B5A4-2CF6-6FB4-6E758A6D691F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ATRIBUTOS CONTINUOS Y ATRIBUTOS DISCRETOS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778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21CC8CB7-7E62-4057-ECC0-71C1F20DBE8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E550662C-FA37-A452-A42E-3018F4FCF499}"/>
              </a:ext>
            </a:extLst>
          </p:cNvPr>
          <p:cNvSpPr txBox="1"/>
          <p:nvPr/>
        </p:nvSpPr>
        <p:spPr>
          <a:xfrm>
            <a:off x="1008063" y="3157860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ENTRENAMIENTO </a:t>
            </a:r>
            <a:b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</a:b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Y PRUEBA DE MODELOS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57612436-7373-4A89-A888-13118E2A27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691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8172449" cy="2891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s-PE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PASOS A SEGUIR</a:t>
            </a:r>
            <a:endParaRPr lang="es-PE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Definir la muestra de datos a utilizar.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Identificar los datos incorrectos y eliminarlos/corregirlos.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Identificar los datos que faltan y eliminarlos/añadirlos.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Definir el conjunto de datos de entrenamiento y el conjunto de datos de prueba.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Seleccionar el algoritmo a utilizar.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Entrenar el modelo.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Probar el modelo.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Validar el modelo.</a:t>
            </a:r>
          </a:p>
          <a:p>
            <a:pPr marL="185738" indent="-185738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Aplicar el modelo al conjunto de datos a predecir (datos nuevos).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B34C2CB5-9EBC-1D88-B968-075C488E1D3E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ENTRENAMIENTO Y PRUEBA DE MODELOS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47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10303184-09D6-084A-55A8-6236F91A9E5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5F1758D7-A078-DEFA-1045-7C339D637FD4}"/>
              </a:ext>
            </a:extLst>
          </p:cNvPr>
          <p:cNvSpPr txBox="1"/>
          <p:nvPr/>
        </p:nvSpPr>
        <p:spPr>
          <a:xfrm>
            <a:off x="1008063" y="3157860"/>
            <a:ext cx="5993558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DESARROLLO DE </a:t>
            </a:r>
            <a:b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</a:b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MODELOS DE MINERÍA </a:t>
            </a:r>
            <a:b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</a:b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DE DATOS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B2B19B8E-3E18-78FE-D8B1-B97757A727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380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03238" y="912813"/>
            <a:ext cx="8076882" cy="1308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USANDO SQL SERVER</a:t>
            </a: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desarrollar minería de datos usando 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Server </a:t>
            </a:r>
            <a:r>
              <a:rPr lang="es-P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P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Services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(SSAS) 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debemos contar con una instancia de SSAS versión 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anteriores.</a:t>
            </a: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además contamos con el 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Complemento Minería de Datos para SQL Server 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podemos desarrollar minería de datos desde Excel.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17E6604-695F-4610-5C8D-F384DBA245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501" t="-5807" r="-3556" b="-5731"/>
          <a:stretch/>
        </p:blipFill>
        <p:spPr>
          <a:xfrm>
            <a:off x="2081955" y="2526224"/>
            <a:ext cx="4980090" cy="2707764"/>
          </a:xfrm>
          <a:prstGeom prst="rect">
            <a:avLst/>
          </a:prstGeom>
          <a:solidFill>
            <a:srgbClr val="D9DBE1"/>
          </a:solidFill>
        </p:spPr>
      </p:pic>
      <p:sp>
        <p:nvSpPr>
          <p:cNvPr id="3" name="Google Shape;127;p5">
            <a:extLst>
              <a:ext uri="{FF2B5EF4-FFF2-40B4-BE49-F238E27FC236}">
                <a16:creationId xmlns:a16="http://schemas.microsoft.com/office/drawing/2014/main" id="{66E5B679-5AA5-189F-1F6D-518A7903C8F0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DESARROLLO DE MODELOS DE MINERÍA DE DATOS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78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14087" y="912813"/>
            <a:ext cx="8076882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USANDO PYTHON</a:t>
            </a: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cuenta con un conjunto de librerías especializadas en cálculos numéricos, estadística, ciencias e ingeniería para ejecutar análisis de datos.</a:t>
            </a:r>
          </a:p>
          <a:p>
            <a:pPr marL="184150" indent="-1841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Cuenta también con múltiples IDEs. Usaremos </a:t>
            </a:r>
            <a:r>
              <a:rPr lang="es-PE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Lab </a:t>
            </a: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Anaconda Navigator.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AA88A94-B1E8-7655-95E4-8E4A8FF073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-3533" t="-6036" r="-3467" b="-5348"/>
          <a:stretch/>
        </p:blipFill>
        <p:spPr>
          <a:xfrm>
            <a:off x="1890003" y="2093179"/>
            <a:ext cx="5363993" cy="3140810"/>
          </a:xfrm>
          <a:prstGeom prst="rect">
            <a:avLst/>
          </a:prstGeom>
          <a:noFill/>
        </p:spPr>
      </p:pic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AD4A8CA0-A224-1B4C-6D0F-C058ECCDA0EC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DESARROLLO DE MODELOS DE MINERÍA DE DATOS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264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43;p89">
            <a:extLst>
              <a:ext uri="{FF2B5EF4-FFF2-40B4-BE49-F238E27FC236}">
                <a16:creationId xmlns:a16="http://schemas.microsoft.com/office/drawing/2014/main" id="{183C3663-157F-174C-A29A-92C913BF2D9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oogle Shape;1444;p89">
            <a:extLst>
              <a:ext uri="{FF2B5EF4-FFF2-40B4-BE49-F238E27FC236}">
                <a16:creationId xmlns:a16="http://schemas.microsoft.com/office/drawing/2014/main" id="{A133FAD3-762F-7FDF-AF91-59D18CE22A05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Google Shape;1445;p89">
              <a:extLst>
                <a:ext uri="{FF2B5EF4-FFF2-40B4-BE49-F238E27FC236}">
                  <a16:creationId xmlns:a16="http://schemas.microsoft.com/office/drawing/2014/main" id="{1CD29A22-A5E2-0188-81C5-1184E5945FE5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3600" dirty="0">
                  <a:solidFill>
                    <a:schemeClr val="lt1"/>
                  </a:solidFill>
                  <a:latin typeface="Graphik Regular" panose="020B0503030202060203" pitchFamily="34" charset="77"/>
                  <a:ea typeface="Arial"/>
                  <a:cs typeface="Arial"/>
                  <a:sym typeface="Arial"/>
                </a:rPr>
                <a:t>CONCLUSIONES</a:t>
              </a:r>
              <a:br>
                <a:rPr lang="es-PE" sz="36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s-PE" sz="3600" b="1" dirty="0">
                  <a:solidFill>
                    <a:schemeClr val="lt1"/>
                  </a:solidFill>
                  <a:latin typeface="Graphik Bold" panose="020B0503030202060203" pitchFamily="34" charset="77"/>
                  <a:ea typeface="Arial"/>
                  <a:cs typeface="Arial"/>
                  <a:sym typeface="Arial"/>
                </a:rPr>
                <a:t>MÁS REFERENCIAS</a:t>
              </a:r>
              <a:endParaRPr b="1" dirty="0">
                <a:latin typeface="Graphik Bold" panose="020B0503030202060203" pitchFamily="34" charset="77"/>
              </a:endParaRPr>
            </a:p>
          </p:txBody>
        </p:sp>
        <p:pic>
          <p:nvPicPr>
            <p:cNvPr id="5" name="Google Shape;1446;p89">
              <a:extLst>
                <a:ext uri="{FF2B5EF4-FFF2-40B4-BE49-F238E27FC236}">
                  <a16:creationId xmlns:a16="http://schemas.microsoft.com/office/drawing/2014/main" id="{6BAB1DA1-E379-033C-6A57-EF7C8016D40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Google Shape;1447;p89">
            <a:extLst>
              <a:ext uri="{FF2B5EF4-FFF2-40B4-BE49-F238E27FC236}">
                <a16:creationId xmlns:a16="http://schemas.microsoft.com/office/drawing/2014/main" id="{56BA8EC0-319A-4EF5-D810-B12CD58B7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554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4;p90">
            <a:extLst>
              <a:ext uri="{FF2B5EF4-FFF2-40B4-BE49-F238E27FC236}">
                <a16:creationId xmlns:a16="http://schemas.microsoft.com/office/drawing/2014/main" id="{CD9B55B2-F7CA-079E-E36F-A374A1ACAD84}"/>
              </a:ext>
            </a:extLst>
          </p:cNvPr>
          <p:cNvSpPr txBox="1"/>
          <p:nvPr/>
        </p:nvSpPr>
        <p:spPr>
          <a:xfrm>
            <a:off x="1279545" y="912813"/>
            <a:ext cx="5705454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objetivo del aprendizaje automático es detectar patrones en los datos y usarlos para realizar estimaciones.</a:t>
            </a:r>
          </a:p>
          <a:p>
            <a:endParaRPr lang="es-PE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el aprendizaje automático supervisado, el modelo aprende a partir de los datos que se le entregan.</a:t>
            </a:r>
          </a:p>
          <a:p>
            <a:endParaRPr lang="es-PE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el aprendizaje automático no supervisado, el modelo recibe los datos de entrada, pero no conoce cuál es el resultado correcto. El modelo entrega soluciones mejores o peores según el objetivo.</a:t>
            </a:r>
          </a:p>
          <a:p>
            <a:endParaRPr lang="es-PE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usar un modelo de aprendizaje supervisado previamente hay que entrenarlo con datos con resultados conocidos, probarlo con otros datos con resultados conocidos, y validar su precisión antes de aplicarlo a un conjunto de datos nuevos cuyos resultados deseamos predecir.</a:t>
            </a:r>
          </a:p>
        </p:txBody>
      </p:sp>
      <p:pic>
        <p:nvPicPr>
          <p:cNvPr id="3" name="Google Shape;1455;p90">
            <a:extLst>
              <a:ext uri="{FF2B5EF4-FFF2-40B4-BE49-F238E27FC236}">
                <a16:creationId xmlns:a16="http://schemas.microsoft.com/office/drawing/2014/main" id="{30FF291B-115B-FB67-A79F-33BE3BD2A5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57;p90">
            <a:extLst>
              <a:ext uri="{FF2B5EF4-FFF2-40B4-BE49-F238E27FC236}">
                <a16:creationId xmlns:a16="http://schemas.microsoft.com/office/drawing/2014/main" id="{EFFA986F-6C1E-891F-E687-D1E748A662A9}"/>
              </a:ext>
            </a:extLst>
          </p:cNvPr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458;p90">
            <a:extLst>
              <a:ext uri="{FF2B5EF4-FFF2-40B4-BE49-F238E27FC236}">
                <a16:creationId xmlns:a16="http://schemas.microsoft.com/office/drawing/2014/main" id="{7C5879EB-E07B-8001-758A-430AC8F8E1C8}"/>
              </a:ext>
            </a:extLst>
          </p:cNvPr>
          <p:cNvPicPr preferRelativeResize="0"/>
          <p:nvPr/>
        </p:nvPicPr>
        <p:blipFill rotWithShape="1">
          <a:blip r:embed="rId5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59;p90">
            <a:extLst>
              <a:ext uri="{FF2B5EF4-FFF2-40B4-BE49-F238E27FC236}">
                <a16:creationId xmlns:a16="http://schemas.microsoft.com/office/drawing/2014/main" id="{F4B6C27E-60C0-6C1A-E53A-EEB80874226B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10" name="Google Shape;1456;p90">
            <a:extLst>
              <a:ext uri="{FF2B5EF4-FFF2-40B4-BE49-F238E27FC236}">
                <a16:creationId xmlns:a16="http://schemas.microsoft.com/office/drawing/2014/main" id="{06E03926-6CF4-E651-B539-3D6444E96A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1606732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56;p90">
            <a:extLst>
              <a:ext uri="{FF2B5EF4-FFF2-40B4-BE49-F238E27FC236}">
                <a16:creationId xmlns:a16="http://schemas.microsoft.com/office/drawing/2014/main" id="{FFA79519-63CF-7939-C382-089A28FB28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2258579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97D6CA44-F301-DE50-A259-9C419961216B}"/>
              </a:ext>
            </a:extLst>
          </p:cNvPr>
          <p:cNvSpPr/>
          <p:nvPr/>
        </p:nvSpPr>
        <p:spPr>
          <a:xfrm>
            <a:off x="407350" y="5277533"/>
            <a:ext cx="8469655" cy="394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3" name="Google Shape;1456;p90">
            <a:extLst>
              <a:ext uri="{FF2B5EF4-FFF2-40B4-BE49-F238E27FC236}">
                <a16:creationId xmlns:a16="http://schemas.microsoft.com/office/drawing/2014/main" id="{07BEB9D8-A9FD-4393-7163-A728FA9C95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3117137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4;p91">
            <a:extLst>
              <a:ext uri="{FF2B5EF4-FFF2-40B4-BE49-F238E27FC236}">
                <a16:creationId xmlns:a16="http://schemas.microsoft.com/office/drawing/2014/main" id="{9F27F3DB-7D01-024C-6E73-12E7E453B3C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65;p91">
            <a:extLst>
              <a:ext uri="{FF2B5EF4-FFF2-40B4-BE49-F238E27FC236}">
                <a16:creationId xmlns:a16="http://schemas.microsoft.com/office/drawing/2014/main" id="{BE19BB70-AD0C-1E1B-CABB-7EED2ACB75C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 dirty="0">
                <a:solidFill>
                  <a:schemeClr val="lt1"/>
                </a:solidFill>
                <a:latin typeface="Graphik Regular" panose="020B0503030202060203" pitchFamily="34" charset="77"/>
                <a:ea typeface="Arial"/>
                <a:cs typeface="Arial"/>
                <a:sym typeface="Arial"/>
              </a:rPr>
              <a:t>BIBLIOGRAFÍA</a:t>
            </a:r>
            <a:br>
              <a:rPr lang="es-PE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3600" b="1" dirty="0">
                <a:solidFill>
                  <a:schemeClr val="lt1"/>
                </a:solidFill>
                <a:latin typeface="Graphik Bold" panose="020B0503030202060203" pitchFamily="34" charset="77"/>
                <a:ea typeface="Arial"/>
                <a:cs typeface="Arial"/>
                <a:sym typeface="Arial"/>
              </a:rPr>
              <a:t>MÁS REFERENCIAS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4" name="Google Shape;1466;p91">
            <a:extLst>
              <a:ext uri="{FF2B5EF4-FFF2-40B4-BE49-F238E27FC236}">
                <a16:creationId xmlns:a16="http://schemas.microsoft.com/office/drawing/2014/main" id="{1EE6E680-57ED-9585-8190-499EFFF10A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67;p91">
            <a:extLst>
              <a:ext uri="{FF2B5EF4-FFF2-40B4-BE49-F238E27FC236}">
                <a16:creationId xmlns:a16="http://schemas.microsoft.com/office/drawing/2014/main" id="{C26B263D-18AA-189A-3FF5-4EE7195C4B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605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73;p92">
            <a:extLst>
              <a:ext uri="{FF2B5EF4-FFF2-40B4-BE49-F238E27FC236}">
                <a16:creationId xmlns:a16="http://schemas.microsoft.com/office/drawing/2014/main" id="{DCD0E571-2E80-B4CA-9218-C075CC521559}"/>
              </a:ext>
            </a:extLst>
          </p:cNvPr>
          <p:cNvSpPr txBox="1"/>
          <p:nvPr/>
        </p:nvSpPr>
        <p:spPr>
          <a:xfrm>
            <a:off x="1279008" y="882669"/>
            <a:ext cx="5558519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Astera (2023). Las 10 mejores técnicas de minería de datos.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https://www.astera.com/es/type/blog/top-10-data-mining-techniques/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Romero, J. (2019). Técnicas y algoritmos de minería de datos.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https://jorgeromero.net/tecnicas-y-algoritmos-de-mineria-de-datos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FasterCapital (2019). Algoritmos y modelos de minería de datos.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https://fastercapital.com/es/tema/algoritmos-y-modelos-de-miner%C3%ADa-de-datos.html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lang="es-PE" sz="1400" dirty="0">
                <a:latin typeface="Calibri"/>
              </a:rPr>
              <a:t>Verne Academy (2022). 10 librerías Python para Data Science y Machine Learning. Recuperado de </a:t>
            </a:r>
            <a:r>
              <a:rPr lang="es-PE" sz="1400" dirty="0"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https://verneacademy.com/blog/articulos-ia/10-librerias-python-data-science-machine-learning/</a:t>
            </a:r>
            <a:endParaRPr lang="es-PE" sz="1400" dirty="0"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lang="es-PE" sz="1400" dirty="0"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lang="es-PE" sz="1400" dirty="0">
                <a:latin typeface="Calibri"/>
              </a:rPr>
              <a:t>Microsoft Learn (2022). Aprendizaje y conocimiento de los modelos de regresión en el aprendizaje automático. Recuperado de </a:t>
            </a:r>
            <a:r>
              <a:rPr lang="es-PE" sz="1400" dirty="0">
                <a:latin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https://learn.microsoft.com/es-es/training/modules/understand-regression-machine-learning/</a:t>
            </a:r>
            <a:endParaRPr kumimoji="0" lang="es-ES_tradnl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Google Shape;1474;p92">
            <a:extLst>
              <a:ext uri="{FF2B5EF4-FFF2-40B4-BE49-F238E27FC236}">
                <a16:creationId xmlns:a16="http://schemas.microsoft.com/office/drawing/2014/main" id="{0533C88A-BD66-8BFA-B4F0-4B634B63C81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77;p92">
            <a:extLst>
              <a:ext uri="{FF2B5EF4-FFF2-40B4-BE49-F238E27FC236}">
                <a16:creationId xmlns:a16="http://schemas.microsoft.com/office/drawing/2014/main" id="{F6759BD3-06AF-F161-2930-9DA3DD54C1C9}"/>
              </a:ext>
            </a:extLst>
          </p:cNvPr>
          <p:cNvPicPr preferRelativeResize="0"/>
          <p:nvPr/>
        </p:nvPicPr>
        <p:blipFill rotWithShape="1">
          <a:blip r:embed="rId9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78;p92">
            <a:extLst>
              <a:ext uri="{FF2B5EF4-FFF2-40B4-BE49-F238E27FC236}">
                <a16:creationId xmlns:a16="http://schemas.microsoft.com/office/drawing/2014/main" id="{5F13A2DB-9D53-6F89-BE1E-93C7476B873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8" name="Google Shape;1475;p92">
            <a:extLst>
              <a:ext uri="{FF2B5EF4-FFF2-40B4-BE49-F238E27FC236}">
                <a16:creationId xmlns:a16="http://schemas.microsoft.com/office/drawing/2014/main" id="{81E2645D-527B-5484-EA03-551A417BE02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8064" y="1592768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75;p92">
            <a:extLst>
              <a:ext uri="{FF2B5EF4-FFF2-40B4-BE49-F238E27FC236}">
                <a16:creationId xmlns:a16="http://schemas.microsoft.com/office/drawing/2014/main" id="{85AD1159-8E0E-7024-58E4-0083284EF4C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8064" y="2226422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475;p92">
            <a:extLst>
              <a:ext uri="{FF2B5EF4-FFF2-40B4-BE49-F238E27FC236}">
                <a16:creationId xmlns:a16="http://schemas.microsoft.com/office/drawing/2014/main" id="{0EC0C758-22C0-F9EB-E586-461F11B8FFF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8064" y="3088195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75;p92">
            <a:extLst>
              <a:ext uri="{FF2B5EF4-FFF2-40B4-BE49-F238E27FC236}">
                <a16:creationId xmlns:a16="http://schemas.microsoft.com/office/drawing/2014/main" id="{0EB22457-6DCA-F51D-CED3-4046BCFD4AD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8064" y="3943632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E22FB5CD-2B89-4781-B772-DAD24AD9D59D}"/>
              </a:ext>
            </a:extLst>
          </p:cNvPr>
          <p:cNvSpPr/>
          <p:nvPr/>
        </p:nvSpPr>
        <p:spPr>
          <a:xfrm>
            <a:off x="407350" y="5277533"/>
            <a:ext cx="8469655" cy="394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0807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4;p93">
            <a:extLst>
              <a:ext uri="{FF2B5EF4-FFF2-40B4-BE49-F238E27FC236}">
                <a16:creationId xmlns:a16="http://schemas.microsoft.com/office/drawing/2014/main" id="{83F069BD-2712-7DD6-11A6-8AD99B90E74F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485;p93">
            <a:extLst>
              <a:ext uri="{FF2B5EF4-FFF2-40B4-BE49-F238E27FC236}">
                <a16:creationId xmlns:a16="http://schemas.microsoft.com/office/drawing/2014/main" id="{F401B963-9602-0B71-9BBC-E0906A6B32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66552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34467</TotalTime>
  <Words>1187</Words>
  <Application>Microsoft Macintosh PowerPoint</Application>
  <PresentationFormat>Presentación en pantalla (16:10)</PresentationFormat>
  <Paragraphs>136</Paragraphs>
  <Slides>22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Calibri</vt:lpstr>
      <vt:lpstr>Graphik Bold</vt:lpstr>
      <vt:lpstr>Graphik Regular</vt:lpstr>
      <vt:lpstr>Graphik-Medium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Mary Gabriela Romero Martinez </cp:lastModifiedBy>
  <cp:revision>487</cp:revision>
  <cp:lastPrinted>2018-01-16T21:42:59Z</cp:lastPrinted>
  <dcterms:created xsi:type="dcterms:W3CDTF">2016-10-06T14:52:02Z</dcterms:created>
  <dcterms:modified xsi:type="dcterms:W3CDTF">2024-08-20T20:25:47Z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