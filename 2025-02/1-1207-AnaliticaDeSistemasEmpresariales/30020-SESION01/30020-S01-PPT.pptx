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715000" cx="9144000"/>
  <p:notesSz cx="6858000" cy="9144000"/>
  <p:embeddedFontLst>
    <p:embeddedFont>
      <p:font typeface="Quattrocento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5">
          <p15:clr>
            <a:srgbClr val="A4A3A4"/>
          </p15:clr>
        </p15:guide>
        <p15:guide id="2" orient="horz" pos="303">
          <p15:clr>
            <a:srgbClr val="A4A3A4"/>
          </p15:clr>
        </p15:guide>
        <p15:guide id="3" pos="431">
          <p15:clr>
            <a:srgbClr val="A4A3A4"/>
          </p15:clr>
        </p15:guide>
        <p15:guide id="4" orient="horz" pos="1097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hw7355vnnmOn3jpCIxLYa8wfcJ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0D0516-198D-4A27-A6CF-C6E0A60F2BFC}">
  <a:tblStyle styleId="{950D0516-198D-4A27-A6CF-C6E0A60F2B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5" orient="horz"/>
        <p:guide pos="303" orient="horz"/>
        <p:guide pos="431"/>
        <p:guide pos="109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QuattrocentoSans-regular.fntdata"/><Relationship Id="rId20" Type="http://schemas.openxmlformats.org/officeDocument/2006/relationships/slide" Target="slides/slide14.xml"/><Relationship Id="rId42" Type="http://schemas.openxmlformats.org/officeDocument/2006/relationships/font" Target="fonts/QuattrocentoSans-italic.fntdata"/><Relationship Id="rId41" Type="http://schemas.openxmlformats.org/officeDocument/2006/relationships/font" Target="fonts/QuattrocentoSans-bold.fntdata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font" Target="fonts/QuattrocentoSans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P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  <p15:guide id="2" orient="horz" pos="1900">
          <p15:clr>
            <a:srgbClr val="FBAE40"/>
          </p15:clr>
        </p15:guide>
        <p15:guide id="3" pos="544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>
  <p:cSld name="Título y objeto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6"/>
          <p:cNvGrpSpPr/>
          <p:nvPr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17" name="Google Shape;17;p36"/>
            <p:cNvSpPr txBox="1"/>
            <p:nvPr/>
          </p:nvSpPr>
          <p:spPr>
            <a:xfrm>
              <a:off x="944054" y="5343295"/>
              <a:ext cx="2467342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ANALÍTICA DE SISTEMAS EMPRESARIALES</a:t>
              </a:r>
              <a:r>
                <a:rPr lang="es-PE" sz="8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lang="es-PE" sz="8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•  SESIÓN 01</a:t>
              </a:r>
              <a:endParaRPr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36"/>
            <p:cNvSpPr/>
            <p:nvPr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6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© ISIL. Todos los derechos reservados</a:t>
              </a:r>
              <a:endParaRPr/>
            </a:p>
          </p:txBody>
        </p:sp>
      </p:grpSp>
      <p:pic>
        <p:nvPicPr>
          <p:cNvPr id="19" name="Google Shape;19;p36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495300" y="5322472"/>
            <a:ext cx="448573" cy="250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1 Imagen A">
  <p:cSld name="Subtema - 1 Imagen A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1 Imagen Centrada">
  <p:cSld name="Subtema - 1 Imagen Centrada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Video">
  <p:cSld name="Subtema - Video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4"/>
          <p:cNvGrpSpPr/>
          <p:nvPr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11" name="Google Shape;11;p34"/>
            <p:cNvSpPr txBox="1"/>
            <p:nvPr/>
          </p:nvSpPr>
          <p:spPr>
            <a:xfrm>
              <a:off x="944054" y="5343295"/>
              <a:ext cx="2467342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PE" sz="8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ANALÍTICA DE SISTEMAS EMPRESARIALES  •  SESIÓN 01</a:t>
              </a:r>
              <a:endParaRPr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34"/>
            <p:cNvSpPr/>
            <p:nvPr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6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© ISIL. Todos los derechos reservados</a:t>
              </a:r>
              <a:endParaRPr/>
            </a:p>
          </p:txBody>
        </p:sp>
      </p:grpSp>
      <p:pic>
        <p:nvPicPr>
          <p:cNvPr id="13" name="Google Shape;13;p34"/>
          <p:cNvPicPr preferRelativeResize="0"/>
          <p:nvPr/>
        </p:nvPicPr>
        <p:blipFill rotWithShape="1">
          <a:blip r:embed="rId1">
            <a:alphaModFix amt="20000"/>
          </a:blip>
          <a:srcRect b="0" l="0" r="0" t="0"/>
          <a:stretch/>
        </p:blipFill>
        <p:spPr>
          <a:xfrm>
            <a:off x="495300" y="5322472"/>
            <a:ext cx="448573" cy="2507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pos="2767">
          <p15:clr>
            <a:srgbClr val="F26B43"/>
          </p15:clr>
        </p15:guide>
        <p15:guide id="3" pos="317">
          <p15:clr>
            <a:srgbClr val="F26B43"/>
          </p15:clr>
        </p15:guide>
        <p15:guide id="4" orient="horz" pos="575">
          <p15:clr>
            <a:srgbClr val="F26B43"/>
          </p15:clr>
        </p15:guide>
        <p15:guide id="5" orient="horz" pos="303">
          <p15:clr>
            <a:srgbClr val="F26B43"/>
          </p15:clr>
        </p15:guide>
        <p15:guide id="6" pos="5443">
          <p15:clr>
            <a:srgbClr val="F26B43"/>
          </p15:clr>
        </p15:guide>
        <p15:guide id="7" orient="horz" pos="3297">
          <p15:clr>
            <a:srgbClr val="F26B43"/>
          </p15:clr>
        </p15:guide>
        <p15:guide id="8" pos="299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Relationship Id="rId4" Type="http://schemas.openxmlformats.org/officeDocument/2006/relationships/image" Target="../media/image3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jpg"/><Relationship Id="rId4" Type="http://schemas.openxmlformats.org/officeDocument/2006/relationships/image" Target="../media/image1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jpg"/><Relationship Id="rId4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900">
                <a:solidFill>
                  <a:srgbClr val="6C6D6C"/>
                </a:solidFill>
                <a:latin typeface="Calibri"/>
                <a:ea typeface="Calibri"/>
                <a:cs typeface="Calibri"/>
                <a:sym typeface="Calibri"/>
              </a:rPr>
              <a:t>ANALÍTICA DE SISTEMAS EMPRESARIALES </a:t>
            </a:r>
            <a:endParaRPr b="1" sz="900">
              <a:solidFill>
                <a:srgbClr val="6C6D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03239" y="1870192"/>
            <a:ext cx="3258078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INTRODUCCIÓN A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INTELIGENCIA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NEGOCIOS</a:t>
            </a:r>
            <a:endParaRPr/>
          </a:p>
        </p:txBody>
      </p:sp>
      <p:sp>
        <p:nvSpPr>
          <p:cNvPr id="32" name="Google Shape;32;p1"/>
          <p:cNvSpPr txBox="1"/>
          <p:nvPr/>
        </p:nvSpPr>
        <p:spPr>
          <a:xfrm>
            <a:off x="743902" y="1512008"/>
            <a:ext cx="145764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000">
                <a:solidFill>
                  <a:srgbClr val="E04097"/>
                </a:solidFill>
                <a:latin typeface="Calibri"/>
                <a:ea typeface="Calibri"/>
                <a:cs typeface="Calibri"/>
                <a:sym typeface="Calibri"/>
              </a:rPr>
              <a:t>SESIÓN 01</a:t>
            </a:r>
            <a:endParaRPr/>
          </a:p>
        </p:txBody>
      </p:sp>
      <p:pic>
        <p:nvPicPr>
          <p:cNvPr id="33" name="Google Shape;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64" y="1576033"/>
            <a:ext cx="166865" cy="17045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"/>
          <p:cNvSpPr/>
          <p:nvPr/>
        </p:nvSpPr>
        <p:spPr>
          <a:xfrm>
            <a:off x="503237" y="2778728"/>
            <a:ext cx="3150089" cy="2501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798" lvl="0" marL="17779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ts val="1050"/>
              <a:buFont typeface="Arial"/>
              <a:buChar char="•"/>
            </a:pPr>
            <a:r>
              <a:rPr lang="es-PE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Introducción al curso y contexto</a:t>
            </a:r>
            <a:endParaRPr/>
          </a:p>
          <a:p>
            <a:pPr indent="-177798" lvl="0" marL="17779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ts val="1050"/>
              <a:buFont typeface="Arial"/>
              <a:buChar char="•"/>
            </a:pPr>
            <a:r>
              <a:rPr lang="es-PE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Datos, información y conocimiento</a:t>
            </a:r>
            <a:endParaRPr/>
          </a:p>
          <a:p>
            <a:pPr indent="-177798" lvl="0" marL="17779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ts val="1050"/>
              <a:buFont typeface="Arial"/>
              <a:buChar char="•"/>
            </a:pPr>
            <a:r>
              <a:rPr lang="es-PE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Procesamiento de los datos: recolección, organización, consolidación, análisis, síntesis y toma de decisiones.</a:t>
            </a:r>
            <a:endParaRPr/>
          </a:p>
          <a:p>
            <a:pPr indent="-177798" lvl="0" marL="17779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ts val="1050"/>
              <a:buFont typeface="Arial"/>
              <a:buChar char="•"/>
            </a:pPr>
            <a:r>
              <a:rPr lang="es-PE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de los sistemas de información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798" lvl="0" marL="17779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ts val="1050"/>
              <a:buFont typeface="Arial"/>
              <a:buChar char="•"/>
            </a:pPr>
            <a:r>
              <a:rPr lang="es-PE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Sistemas OLTP y sistemas OLAP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798" lvl="0" marL="17779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ts val="1050"/>
              <a:buFont typeface="Arial"/>
              <a:buChar char="•"/>
            </a:pPr>
            <a:r>
              <a:rPr lang="es-PE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Definición de inteligencia de negocios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798" lvl="0" marL="17779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ts val="1050"/>
              <a:buFont typeface="Arial"/>
              <a:buChar char="•"/>
            </a:pPr>
            <a:r>
              <a:rPr lang="es-PE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Evolución de la inteligencia de negocios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798" lvl="0" marL="17779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ts val="1050"/>
              <a:buFont typeface="Arial"/>
              <a:buChar char="•"/>
            </a:pPr>
            <a:r>
              <a:rPr lang="es-PE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Necesidades de información en las organizaciones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798" lvl="0" marL="17779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ts val="1050"/>
              <a:buFont typeface="Arial"/>
              <a:buChar char="•"/>
            </a:pPr>
            <a:r>
              <a:rPr lang="es-PE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Niveles de madurez de la inteligencia de negocios en las organizaciones</a:t>
            </a:r>
            <a:endParaRPr/>
          </a:p>
        </p:txBody>
      </p:sp>
      <p:pic>
        <p:nvPicPr>
          <p:cNvPr id="35" name="Google Shape;3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2850" y="0"/>
            <a:ext cx="539115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946969"/>
            <a:ext cx="2072213" cy="38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LA SESIÓN</a:t>
            </a:r>
            <a:endParaRPr/>
          </a:p>
        </p:txBody>
      </p:sp>
      <p:pic>
        <p:nvPicPr>
          <p:cNvPr id="44" name="Google Shape;44;p2"/>
          <p:cNvPicPr preferRelativeResize="0"/>
          <p:nvPr/>
        </p:nvPicPr>
        <p:blipFill rotWithShape="1">
          <a:blip r:embed="rId4">
            <a:alphaModFix amt="16000"/>
          </a:blip>
          <a:srcRect b="0" l="0" r="0" t="0"/>
          <a:stretch/>
        </p:blipFill>
        <p:spPr>
          <a:xfrm>
            <a:off x="334433" y="3817749"/>
            <a:ext cx="809264" cy="80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1282298" y="918372"/>
            <a:ext cx="5136790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 esta sesión: </a:t>
            </a:r>
            <a:endParaRPr/>
          </a:p>
          <a:p>
            <a:pPr indent="-79374" lvl="0" marL="17999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4" lvl="0" marL="179998" marR="0" rtl="0" algn="l">
              <a:spcBef>
                <a:spcPts val="0"/>
              </a:spcBef>
              <a:spcAft>
                <a:spcPts val="0"/>
              </a:spcAft>
              <a:buClr>
                <a:srgbClr val="E5594B"/>
              </a:buClr>
              <a:buSzPts val="1400"/>
              <a:buFont typeface="Arial"/>
              <a:buChar char="•"/>
            </a:pPr>
            <a:r>
              <a:rPr lang="es-PE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b="1" lang="es-PE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explicará</a:t>
            </a:r>
            <a:r>
              <a:rPr lang="es-PE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la diferencia entre dato, información y conocimiento a través de situaciones de la vida real.</a:t>
            </a:r>
            <a:br>
              <a:rPr lang="es-PE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4" lvl="0" marL="179998" marR="0" rtl="0" algn="l">
              <a:spcBef>
                <a:spcPts val="0"/>
              </a:spcBef>
              <a:spcAft>
                <a:spcPts val="0"/>
              </a:spcAft>
              <a:buClr>
                <a:srgbClr val="E5594B"/>
              </a:buClr>
              <a:buSzPts val="1400"/>
              <a:buFont typeface="Arial"/>
              <a:buChar char="•"/>
            </a:pPr>
            <a:r>
              <a:rPr b="1" lang="es-PE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Conocerás</a:t>
            </a:r>
            <a:r>
              <a:rPr lang="es-PE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brevemente por qué se justifica implementar un sistema de inteligencia de negocios.</a:t>
            </a:r>
            <a:br>
              <a:rPr lang="es-PE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4" lvl="0" marL="179998" marR="0" rtl="0" algn="l">
              <a:spcBef>
                <a:spcPts val="0"/>
              </a:spcBef>
              <a:spcAft>
                <a:spcPts val="0"/>
              </a:spcAft>
              <a:buClr>
                <a:srgbClr val="E5594B"/>
              </a:buClr>
              <a:buSzPts val="1400"/>
              <a:buFont typeface="Arial"/>
              <a:buChar char="•"/>
            </a:pPr>
            <a:r>
              <a:rPr b="1" lang="es-PE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Identificarás</a:t>
            </a:r>
            <a:r>
              <a:rPr lang="es-PE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las oportunidades de uso de la información y de la aplicación de inteligencia de negocios en una organización.</a:t>
            </a:r>
            <a:endParaRPr/>
          </a:p>
        </p:txBody>
      </p:sp>
      <p:pic>
        <p:nvPicPr>
          <p:cNvPr id="53" name="Google Shape;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39" y="954885"/>
            <a:ext cx="117851" cy="12136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3"/>
          <p:cNvPicPr preferRelativeResize="0"/>
          <p:nvPr/>
        </p:nvPicPr>
        <p:blipFill rotWithShape="1">
          <a:blip r:embed="rId4">
            <a:alphaModFix amt="42000"/>
          </a:blip>
          <a:srcRect b="0" l="0" r="0" t="0"/>
          <a:stretch/>
        </p:blipFill>
        <p:spPr>
          <a:xfrm>
            <a:off x="6986661" y="3052731"/>
            <a:ext cx="1689027" cy="218125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INTRODUCCIÓN </a:t>
            </a:r>
            <a:br>
              <a:rPr b="1"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 CURSO Y CONTEXTO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 txBox="1"/>
          <p:nvPr/>
        </p:nvSpPr>
        <p:spPr>
          <a:xfrm>
            <a:off x="506178" y="917556"/>
            <a:ext cx="8169510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actualidad es importante desarrollar las habilidades necesarias y saber utilizar las herramientas adecuadas para convertir los </a:t>
            </a: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obtenidos de una organización en </a:t>
            </a: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y generar así </a:t>
            </a: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conocimiento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permita una </a:t>
            </a: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 de decisiones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informada.</a:t>
            </a:r>
            <a:endParaRPr/>
          </a:p>
          <a:p>
            <a:pPr indent="-1206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ello, es importante conocer los pasos necesarios para a partir de la </a:t>
            </a: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generada por los procesos 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una organización, </a:t>
            </a: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los reportes 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adecuados que permitan </a:t>
            </a: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ejecutar el análisis de la información 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conduzca a </a:t>
            </a: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decisiones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contribuyan con la </a:t>
            </a: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rentabilidad y funcionalidad 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la organización.</a:t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503238" y="376836"/>
            <a:ext cx="3527904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AL CURSO Y CONTEXTO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/>
          <p:nvPr/>
        </p:nvSpPr>
        <p:spPr>
          <a:xfrm>
            <a:off x="503238" y="912813"/>
            <a:ext cx="3889375" cy="3031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ingresos por ventas de este año han sido 5 % superiores a los ingresos del año anterior. ¿Significa esto que en este año el rendimiento de la empresa ha sido mejor que el del año pasado?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una universidad, la tasa de deserción de los estudiantes en este año ha disminuido 7 puntos porcentuales. ¿Qué hemos ejecutado distinto al año anterior para que esto ocurra?</a:t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503238" y="376836"/>
            <a:ext cx="3527904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AL CURSO Y CONTEXTO </a:t>
            </a:r>
            <a:endParaRPr/>
          </a:p>
        </p:txBody>
      </p:sp>
      <p:pic>
        <p:nvPicPr>
          <p:cNvPr id="78" name="Google Shape;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1388" y="483251"/>
            <a:ext cx="3924301" cy="4750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/>
        </p:nvSpPr>
        <p:spPr>
          <a:xfrm>
            <a:off x="503238" y="912813"/>
            <a:ext cx="4068762" cy="327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plantilla del club de fútbol ABC tiene actualmente un valor de mercado 35 % inferior al valor del año anterior a pesar de que obtuvieron el campeonato. El club XYZ, cuya plantilla es 5 veces superior a la de ABC, terminó a media tabla. ¿Podemos realizar un análisis cuantitativo que explique resultados tan distintos?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-177800" lvl="0" marL="18573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toman decisiones los ejecutivos de una organización?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573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obtener respuesta a estas interrogantes?</a:t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503238" y="4443406"/>
            <a:ext cx="8137524" cy="791737"/>
          </a:xfrm>
          <a:prstGeom prst="rect">
            <a:avLst/>
          </a:prstGeom>
          <a:solidFill>
            <a:srgbClr val="D1EFF4"/>
          </a:solidFill>
          <a:ln>
            <a:noFill/>
          </a:ln>
        </p:spPr>
        <p:txBody>
          <a:bodyPr anchorCtr="0" anchor="t" bIns="72000" lIns="180000" spcFirstLastPara="1" rIns="180000" wrap="square" tIns="72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través de este curso, podrás responder estas y otras interrogantes que te permitan manejar la información empresarial y transformarla en información útil que permita a las organizaciones tomar mejores decisiones.</a:t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503238" y="376836"/>
            <a:ext cx="3527904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AL CURSO Y CONTEXTO </a:t>
            </a:r>
            <a:endParaRPr/>
          </a:p>
        </p:txBody>
      </p:sp>
      <p:pic>
        <p:nvPicPr>
          <p:cNvPr id="86" name="Google Shape;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0770" y="912813"/>
            <a:ext cx="2743478" cy="3530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DATO, INFORMACIÓN Y </a:t>
            </a:r>
            <a:r>
              <a:rPr b="1"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CONOCIMIENTO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/>
          <p:nvPr/>
        </p:nvSpPr>
        <p:spPr>
          <a:xfrm>
            <a:off x="510069" y="921808"/>
            <a:ext cx="816561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 QUÉ SON IMPORTANTES LOS DATOS?</a:t>
            </a:r>
            <a:endParaRPr/>
          </a:p>
        </p:txBody>
      </p:sp>
      <p:sp>
        <p:nvSpPr>
          <p:cNvPr id="100" name="Google Shape;100;p9"/>
          <p:cNvSpPr txBox="1"/>
          <p:nvPr/>
        </p:nvSpPr>
        <p:spPr>
          <a:xfrm>
            <a:off x="3029270" y="4776867"/>
            <a:ext cx="119140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INFORMES</a:t>
            </a:r>
            <a:endParaRPr/>
          </a:p>
        </p:txBody>
      </p:sp>
      <p:sp>
        <p:nvSpPr>
          <p:cNvPr id="101" name="Google Shape;101;p9"/>
          <p:cNvSpPr txBox="1"/>
          <p:nvPr/>
        </p:nvSpPr>
        <p:spPr>
          <a:xfrm>
            <a:off x="964049" y="3318646"/>
            <a:ext cx="138505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Procesamiento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034" y="1800685"/>
            <a:ext cx="1165763" cy="11657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 txBox="1"/>
          <p:nvPr/>
        </p:nvSpPr>
        <p:spPr>
          <a:xfrm>
            <a:off x="791069" y="1444010"/>
            <a:ext cx="77969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/>
          </a:p>
        </p:txBody>
      </p:sp>
      <p:sp>
        <p:nvSpPr>
          <p:cNvPr id="104" name="Google Shape;104;p9"/>
          <p:cNvSpPr txBox="1"/>
          <p:nvPr/>
        </p:nvSpPr>
        <p:spPr>
          <a:xfrm>
            <a:off x="3474762" y="2831436"/>
            <a:ext cx="138505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</a:t>
            </a:r>
            <a:endParaRPr/>
          </a:p>
        </p:txBody>
      </p:sp>
      <p:cxnSp>
        <p:nvCxnSpPr>
          <p:cNvPr id="105" name="Google Shape;105;p9"/>
          <p:cNvCxnSpPr/>
          <p:nvPr/>
        </p:nvCxnSpPr>
        <p:spPr>
          <a:xfrm>
            <a:off x="1895124" y="2885217"/>
            <a:ext cx="1008252" cy="714510"/>
          </a:xfrm>
          <a:prstGeom prst="straightConnector1">
            <a:avLst/>
          </a:prstGeom>
          <a:noFill/>
          <a:ln cap="flat" cmpd="sng" w="38100">
            <a:solidFill>
              <a:srgbClr val="7150A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" name="Google Shape;106;p9"/>
          <p:cNvCxnSpPr/>
          <p:nvPr/>
        </p:nvCxnSpPr>
        <p:spPr>
          <a:xfrm flipH="1" rot="10800000">
            <a:off x="4319588" y="2847801"/>
            <a:ext cx="922021" cy="751926"/>
          </a:xfrm>
          <a:prstGeom prst="straightConnector1">
            <a:avLst/>
          </a:prstGeom>
          <a:noFill/>
          <a:ln cap="flat" cmpd="sng" w="38100">
            <a:solidFill>
              <a:srgbClr val="7150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" name="Google Shape;107;p9"/>
          <p:cNvSpPr txBox="1"/>
          <p:nvPr/>
        </p:nvSpPr>
        <p:spPr>
          <a:xfrm>
            <a:off x="5330344" y="1444010"/>
            <a:ext cx="105961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b="1" sz="1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08" name="Google Shape;108;p9"/>
          <p:cNvCxnSpPr/>
          <p:nvPr/>
        </p:nvCxnSpPr>
        <p:spPr>
          <a:xfrm>
            <a:off x="6563530" y="2649126"/>
            <a:ext cx="906381" cy="849365"/>
          </a:xfrm>
          <a:prstGeom prst="straightConnector1">
            <a:avLst/>
          </a:prstGeom>
          <a:noFill/>
          <a:ln cap="flat" cmpd="sng" w="38100">
            <a:solidFill>
              <a:srgbClr val="7150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" name="Google Shape;109;p9"/>
          <p:cNvSpPr txBox="1"/>
          <p:nvPr/>
        </p:nvSpPr>
        <p:spPr>
          <a:xfrm>
            <a:off x="6943745" y="4776867"/>
            <a:ext cx="132057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RENTABILIDAD</a:t>
            </a:r>
            <a:endParaRPr/>
          </a:p>
        </p:txBody>
      </p:sp>
      <p:sp>
        <p:nvSpPr>
          <p:cNvPr id="110" name="Google Shape;110;p9"/>
          <p:cNvSpPr txBox="1"/>
          <p:nvPr/>
        </p:nvSpPr>
        <p:spPr>
          <a:xfrm>
            <a:off x="7268632" y="2569262"/>
            <a:ext cx="1078826" cy="443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 de decisiones</a:t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503238" y="376836"/>
            <a:ext cx="3527904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DATO, INFORMACIÓN Y CONOCIMIENTO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7064620" y="3578355"/>
            <a:ext cx="1078827" cy="1078827"/>
          </a:xfrm>
          <a:prstGeom prst="ellipse">
            <a:avLst/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7486" y="3807943"/>
            <a:ext cx="643458" cy="6434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9"/>
          <p:cNvSpPr/>
          <p:nvPr/>
        </p:nvSpPr>
        <p:spPr>
          <a:xfrm>
            <a:off x="5320737" y="1853250"/>
            <a:ext cx="1078827" cy="1078827"/>
          </a:xfrm>
          <a:prstGeom prst="ellipse">
            <a:avLst/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7939" y="2050528"/>
            <a:ext cx="684270" cy="68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9"/>
          <p:cNvSpPr/>
          <p:nvPr/>
        </p:nvSpPr>
        <p:spPr>
          <a:xfrm>
            <a:off x="3085561" y="3534453"/>
            <a:ext cx="1078827" cy="1078827"/>
          </a:xfrm>
          <a:prstGeom prst="ellipse">
            <a:avLst/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45819" y="3719387"/>
            <a:ext cx="732014" cy="732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 txBox="1"/>
          <p:nvPr/>
        </p:nvSpPr>
        <p:spPr>
          <a:xfrm>
            <a:off x="510069" y="925339"/>
            <a:ext cx="816561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CADENA DE VALOR DE LOS DATOS</a:t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510069" y="4844553"/>
            <a:ext cx="709131" cy="355547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1492311" y="3990021"/>
            <a:ext cx="1353749" cy="379784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3164868" y="3113159"/>
            <a:ext cx="1523701" cy="384246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CONOCIMIENTO</a:t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5007376" y="2188574"/>
            <a:ext cx="1523701" cy="391336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+CONOCIMIENTO</a:t>
            </a: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1492311" y="4844554"/>
            <a:ext cx="1353749" cy="355547"/>
          </a:xfrm>
          <a:prstGeom prst="roundRect">
            <a:avLst>
              <a:gd fmla="val 16667" name="adj"/>
            </a:avLst>
          </a:prstGeom>
          <a:solidFill>
            <a:srgbClr val="FDC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Significado</a:t>
            </a:r>
            <a:endParaRPr/>
          </a:p>
        </p:txBody>
      </p:sp>
      <p:sp>
        <p:nvSpPr>
          <p:cNvPr id="128" name="Google Shape;128;p10"/>
          <p:cNvSpPr/>
          <p:nvPr/>
        </p:nvSpPr>
        <p:spPr>
          <a:xfrm>
            <a:off x="3180796" y="3990020"/>
            <a:ext cx="1507773" cy="379784"/>
          </a:xfrm>
          <a:prstGeom prst="roundRect">
            <a:avLst>
              <a:gd fmla="val 16667" name="adj"/>
            </a:avLst>
          </a:prstGeom>
          <a:solidFill>
            <a:srgbClr val="FDC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Procesamiento</a:t>
            </a:r>
            <a:endParaRPr/>
          </a:p>
        </p:txBody>
      </p:sp>
      <p:sp>
        <p:nvSpPr>
          <p:cNvPr id="129" name="Google Shape;129;p10"/>
          <p:cNvSpPr/>
          <p:nvPr/>
        </p:nvSpPr>
        <p:spPr>
          <a:xfrm>
            <a:off x="5007376" y="3115577"/>
            <a:ext cx="1523701" cy="391574"/>
          </a:xfrm>
          <a:prstGeom prst="roundRect">
            <a:avLst>
              <a:gd fmla="val 16667" name="adj"/>
            </a:avLst>
          </a:prstGeom>
          <a:solidFill>
            <a:srgbClr val="FDC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Saberes previos</a:t>
            </a:r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6849884" y="2188336"/>
            <a:ext cx="1825804" cy="391574"/>
          </a:xfrm>
          <a:prstGeom prst="roundRect">
            <a:avLst>
              <a:gd fmla="val 16667" name="adj"/>
            </a:avLst>
          </a:prstGeom>
          <a:solidFill>
            <a:srgbClr val="FDC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/>
          </a:p>
        </p:txBody>
      </p:sp>
      <p:sp>
        <p:nvSpPr>
          <p:cNvPr id="131" name="Google Shape;131;p10"/>
          <p:cNvSpPr txBox="1"/>
          <p:nvPr/>
        </p:nvSpPr>
        <p:spPr>
          <a:xfrm>
            <a:off x="6518107" y="2098812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7591656" y="1745072"/>
            <a:ext cx="342260" cy="36580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6849884" y="1302326"/>
            <a:ext cx="1825804" cy="391336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TOMA DE DECISIONES</a:t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5598096" y="2664841"/>
            <a:ext cx="342260" cy="36580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 txBox="1"/>
          <p:nvPr/>
        </p:nvSpPr>
        <p:spPr>
          <a:xfrm>
            <a:off x="4675599" y="3049754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3755588" y="3560810"/>
            <a:ext cx="342260" cy="36580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 txBox="1"/>
          <p:nvPr/>
        </p:nvSpPr>
        <p:spPr>
          <a:xfrm>
            <a:off x="2846060" y="3916017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</p:txBody>
      </p:sp>
      <p:sp>
        <p:nvSpPr>
          <p:cNvPr id="138" name="Google Shape;138;p10"/>
          <p:cNvSpPr txBox="1"/>
          <p:nvPr/>
        </p:nvSpPr>
        <p:spPr>
          <a:xfrm>
            <a:off x="1163822" y="4749724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1998056" y="4404454"/>
            <a:ext cx="342260" cy="36580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4234" y="1799115"/>
            <a:ext cx="1208941" cy="120894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0"/>
          <p:cNvSpPr/>
          <p:nvPr/>
        </p:nvSpPr>
        <p:spPr>
          <a:xfrm>
            <a:off x="503238" y="376836"/>
            <a:ext cx="3527904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DATO, INFORMACIÓN Y CONOCIMIENTO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" name="Google Shape;146;p11"/>
          <p:cNvGraphicFramePr/>
          <p:nvPr/>
        </p:nvGraphicFramePr>
        <p:xfrm>
          <a:off x="511153" y="912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{950D0516-198D-4A27-A6CF-C6E0A60F2BFC}</a:tableStyleId>
              </a:tblPr>
              <a:tblGrid>
                <a:gridCol w="1190125"/>
                <a:gridCol w="2599000"/>
                <a:gridCol w="4375425"/>
              </a:tblGrid>
              <a:tr h="334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DATO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INFORMACIÓN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46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CONOCIMIENTO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4639"/>
                    </a:solidFill>
                  </a:tcPr>
                </a:tc>
              </a:tr>
              <a:tr h="840650">
                <a:tc>
                  <a:txBody>
                    <a:bodyPr/>
                    <a:lstStyle/>
                    <a:p>
                      <a:pPr indent="508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Lluvia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8C4"/>
                    </a:solidFill>
                  </a:tcPr>
                </a:tc>
                <a:tc>
                  <a:txBody>
                    <a:bodyPr/>
                    <a:lstStyle/>
                    <a:p>
                      <a:pPr indent="508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Lluvia abundante en la sierra.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8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2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Si hay lluvia abundante en la sierra y vivo en la costa, cerca a la ribera de un río, debo tomar precauciones </a:t>
                      </a:r>
                      <a:br>
                        <a:rPr lang="es-PE" sz="1400" u="none" cap="none" strike="noStrike"/>
                      </a:br>
                      <a:r>
                        <a:rPr lang="es-PE" sz="1400" u="none" cap="none" strike="noStrike"/>
                        <a:t>por posibles desbordes e inundaciones.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8C4"/>
                    </a:solidFill>
                  </a:tcPr>
                </a:tc>
              </a:tr>
              <a:tr h="840650">
                <a:tc>
                  <a:txBody>
                    <a:bodyPr/>
                    <a:lstStyle/>
                    <a:p>
                      <a:pPr indent="508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7%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8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Se estima que el precio del </a:t>
                      </a:r>
                      <a:br>
                        <a:rPr lang="es-PE" sz="1400" u="none" cap="none" strike="noStrike"/>
                      </a:br>
                      <a:r>
                        <a:rPr lang="es-PE" sz="1400" u="none" cap="none" strike="noStrike"/>
                        <a:t>dólar subirá 7% en el </a:t>
                      </a:r>
                      <a:br>
                        <a:rPr lang="es-PE" sz="1400" u="none" cap="none" strike="noStrike"/>
                      </a:br>
                      <a:r>
                        <a:rPr lang="es-PE" sz="1400" u="none" cap="none" strike="noStrike"/>
                        <a:t>próximo trimestre.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8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2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Si soy exportador recibiré más soles por los productos que venda al exterior; si soy importador tendré que pagar más soles por los productos que compre.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8C4"/>
                    </a:solidFill>
                  </a:tcPr>
                </a:tc>
              </a:tr>
              <a:tr h="587550">
                <a:tc>
                  <a:txBody>
                    <a:bodyPr/>
                    <a:lstStyle/>
                    <a:p>
                      <a:pPr indent="508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Color rojo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8C4"/>
                    </a:solidFill>
                  </a:tcPr>
                </a:tc>
                <a:tc>
                  <a:txBody>
                    <a:bodyPr/>
                    <a:lstStyle/>
                    <a:p>
                      <a:pPr indent="508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Bandera roja en la playa.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8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2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El mar está bastante picado y es muy peligroso adentrarse en él.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8C4"/>
                    </a:solidFill>
                  </a:tcPr>
                </a:tc>
              </a:tr>
              <a:tr h="1093775">
                <a:tc>
                  <a:txBody>
                    <a:bodyPr/>
                    <a:lstStyle/>
                    <a:p>
                      <a:pPr indent="508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11 y 80%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8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Mi nota en el curso es 11, y </a:t>
                      </a:r>
                      <a:br>
                        <a:rPr lang="es-PE" sz="1400" u="none" cap="none" strike="noStrike"/>
                      </a:br>
                      <a:r>
                        <a:rPr lang="es-PE" sz="1400" u="none" cap="none" strike="noStrike"/>
                        <a:t>esto representa el 80% de la nota final. Me falta rendir el examen final.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8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2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Para aprobar el curso necesito que mi nota final sea por lo menos 12,5; por lo tanto necesito obtener 18,5 en mi examen final.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8C4"/>
                    </a:solidFill>
                  </a:tcPr>
                </a:tc>
              </a:tr>
              <a:tr h="587550">
                <a:tc>
                  <a:txBody>
                    <a:bodyPr/>
                    <a:lstStyle/>
                    <a:p>
                      <a:pPr indent="0" lvl="0" marL="508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Quinto superior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8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Requisito para postular: </a:t>
                      </a:r>
                      <a:br>
                        <a:rPr lang="es-PE" sz="1400" u="none" cap="none" strike="noStrike"/>
                      </a:br>
                      <a:r>
                        <a:rPr lang="es-PE" sz="1400" u="none" cap="none" strike="noStrike"/>
                        <a:t>Quinto superior.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8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2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Me encuentro en el décimo superior de la carrera, por lo que no tengo impedimento para postular.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463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8C4"/>
                    </a:solidFill>
                  </a:tcPr>
                </a:tc>
              </a:tr>
            </a:tbl>
          </a:graphicData>
        </a:graphic>
      </p:graphicFrame>
      <p:sp>
        <p:nvSpPr>
          <p:cNvPr id="147" name="Google Shape;147;p11"/>
          <p:cNvSpPr/>
          <p:nvPr/>
        </p:nvSpPr>
        <p:spPr>
          <a:xfrm>
            <a:off x="503238" y="376836"/>
            <a:ext cx="3527904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DATO, INFORMACIÓN Y CONOCIMIENTO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PROCESAMIENTO DE </a:t>
            </a:r>
            <a:b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DATOS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/>
        </p:nvSpPr>
        <p:spPr>
          <a:xfrm>
            <a:off x="511152" y="913438"/>
            <a:ext cx="627176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poder procesar los datos, se pasa por una serie de etapas:</a:t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4572000" y="2067056"/>
            <a:ext cx="1401431" cy="391336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ACCIÓN</a:t>
            </a:r>
            <a:endParaRPr/>
          </a:p>
        </p:txBody>
      </p:sp>
      <p:sp>
        <p:nvSpPr>
          <p:cNvPr id="162" name="Google Shape;162;p13"/>
          <p:cNvSpPr/>
          <p:nvPr/>
        </p:nvSpPr>
        <p:spPr>
          <a:xfrm>
            <a:off x="2884203" y="2724694"/>
            <a:ext cx="1804110" cy="391336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CONOCIMIENTO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1498600" y="3450820"/>
            <a:ext cx="1589726" cy="391336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endParaRPr/>
          </a:p>
        </p:txBody>
      </p:sp>
      <p:sp>
        <p:nvSpPr>
          <p:cNvPr id="164" name="Google Shape;164;p13"/>
          <p:cNvSpPr/>
          <p:nvPr/>
        </p:nvSpPr>
        <p:spPr>
          <a:xfrm>
            <a:off x="510069" y="4176946"/>
            <a:ext cx="988531" cy="391336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13"/>
          <p:cNvCxnSpPr/>
          <p:nvPr/>
        </p:nvCxnSpPr>
        <p:spPr>
          <a:xfrm flipH="1" rot="10800000">
            <a:off x="510069" y="2262724"/>
            <a:ext cx="6182831" cy="2934752"/>
          </a:xfrm>
          <a:prstGeom prst="straightConnector1">
            <a:avLst/>
          </a:prstGeom>
          <a:noFill/>
          <a:ln cap="flat" cmpd="sng" w="57150">
            <a:solidFill>
              <a:srgbClr val="7150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6" name="Google Shape;166;p13"/>
          <p:cNvSpPr txBox="1"/>
          <p:nvPr/>
        </p:nvSpPr>
        <p:spPr>
          <a:xfrm>
            <a:off x="6537916" y="2465830"/>
            <a:ext cx="162339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 de decisiones</a:t>
            </a:r>
            <a:endParaRPr/>
          </a:p>
        </p:txBody>
      </p:sp>
      <p:sp>
        <p:nvSpPr>
          <p:cNvPr id="167" name="Google Shape;167;p13"/>
          <p:cNvSpPr txBox="1"/>
          <p:nvPr/>
        </p:nvSpPr>
        <p:spPr>
          <a:xfrm>
            <a:off x="5756640" y="2944400"/>
            <a:ext cx="6228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Síntesis</a:t>
            </a:r>
            <a:endParaRPr/>
          </a:p>
        </p:txBody>
      </p:sp>
      <p:sp>
        <p:nvSpPr>
          <p:cNvPr id="168" name="Google Shape;168;p13"/>
          <p:cNvSpPr txBox="1"/>
          <p:nvPr/>
        </p:nvSpPr>
        <p:spPr>
          <a:xfrm>
            <a:off x="4824413" y="3400267"/>
            <a:ext cx="62356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/>
          </a:p>
        </p:txBody>
      </p:sp>
      <p:sp>
        <p:nvSpPr>
          <p:cNvPr id="169" name="Google Shape;169;p13"/>
          <p:cNvSpPr txBox="1"/>
          <p:nvPr/>
        </p:nvSpPr>
        <p:spPr>
          <a:xfrm>
            <a:off x="3662235" y="3910531"/>
            <a:ext cx="116217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Consolidación</a:t>
            </a:r>
            <a:endParaRPr/>
          </a:p>
        </p:txBody>
      </p:sp>
      <p:sp>
        <p:nvSpPr>
          <p:cNvPr id="170" name="Google Shape;170;p13"/>
          <p:cNvSpPr txBox="1"/>
          <p:nvPr/>
        </p:nvSpPr>
        <p:spPr>
          <a:xfrm>
            <a:off x="2550550" y="4389935"/>
            <a:ext cx="107555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Organización</a:t>
            </a:r>
            <a:endParaRPr/>
          </a:p>
        </p:txBody>
      </p:sp>
      <p:sp>
        <p:nvSpPr>
          <p:cNvPr id="171" name="Google Shape;171;p13"/>
          <p:cNvSpPr txBox="1"/>
          <p:nvPr/>
        </p:nvSpPr>
        <p:spPr>
          <a:xfrm>
            <a:off x="1498600" y="4810209"/>
            <a:ext cx="99033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Recolección</a:t>
            </a:r>
            <a:endParaRPr/>
          </a:p>
        </p:txBody>
      </p:sp>
      <p:pic>
        <p:nvPicPr>
          <p:cNvPr id="172" name="Google Shape;1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2917" y="1179769"/>
            <a:ext cx="1743521" cy="1074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238" y="2221642"/>
            <a:ext cx="2157147" cy="98081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3"/>
          <p:cNvSpPr/>
          <p:nvPr/>
        </p:nvSpPr>
        <p:spPr>
          <a:xfrm>
            <a:off x="503238" y="376836"/>
            <a:ext cx="3527904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PROCESAMIENTO DE LOS DATOS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OBJETIVOS DE LOS SISTEMAS </a:t>
            </a:r>
            <a:b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INFORMACIÓN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 txBox="1"/>
          <p:nvPr/>
        </p:nvSpPr>
        <p:spPr>
          <a:xfrm>
            <a:off x="503419" y="915364"/>
            <a:ext cx="816561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DE LOS SISTEMAS DE INFORMACIÓN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“Entregar información correcta a la persona adecuada en el momento oportuno.”</a:t>
            </a:r>
            <a:endParaRPr/>
          </a:p>
        </p:txBody>
      </p:sp>
      <p:pic>
        <p:nvPicPr>
          <p:cNvPr id="188" name="Google Shape;188;p15"/>
          <p:cNvPicPr preferRelativeResize="0"/>
          <p:nvPr/>
        </p:nvPicPr>
        <p:blipFill rotWithShape="1">
          <a:blip r:embed="rId3">
            <a:alphaModFix/>
          </a:blip>
          <a:srcRect b="16849" l="0" r="0" t="19791"/>
          <a:stretch/>
        </p:blipFill>
        <p:spPr>
          <a:xfrm>
            <a:off x="510068" y="1741488"/>
            <a:ext cx="8165619" cy="34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5"/>
          <p:cNvSpPr/>
          <p:nvPr/>
        </p:nvSpPr>
        <p:spPr>
          <a:xfrm>
            <a:off x="503238" y="376836"/>
            <a:ext cx="3527904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OBJETIVOS DE LOS SISTEMAS DE INFORMACIÓN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SISTEMAS OLTP Y </a:t>
            </a:r>
            <a:b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SISTEMAS OLAP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/>
          <p:nvPr/>
        </p:nvSpPr>
        <p:spPr>
          <a:xfrm>
            <a:off x="2870218" y="912813"/>
            <a:ext cx="34035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OLTP VS. SISTEMAS OLAP</a:t>
            </a:r>
            <a:endParaRPr/>
          </a:p>
        </p:txBody>
      </p:sp>
      <p:graphicFrame>
        <p:nvGraphicFramePr>
          <p:cNvPr id="203" name="Google Shape;203;p17"/>
          <p:cNvGraphicFramePr/>
          <p:nvPr/>
        </p:nvGraphicFramePr>
        <p:xfrm>
          <a:off x="510069" y="13089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{950D0516-198D-4A27-A6CF-C6E0A60F2BFC}</a:tableStyleId>
              </a:tblPr>
              <a:tblGrid>
                <a:gridCol w="3882550"/>
              </a:tblGrid>
              <a:tr h="329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PE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 OLTP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1C2"/>
                    </a:solidFill>
                  </a:tcPr>
                </a:tc>
              </a:tr>
              <a:tr h="744225">
                <a:tc>
                  <a:txBody>
                    <a:bodyPr/>
                    <a:lstStyle/>
                    <a:p>
                      <a:pPr indent="0" lvl="0" marL="4762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 Transaction Processing</a:t>
                      </a:r>
                      <a:endParaRPr/>
                    </a:p>
                    <a:p>
                      <a:pPr indent="0" lvl="0" marL="4762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Ingreso de datos y procesamiento de transacciones. Ejemplos: cajeros de un supermercado, cajero automático de un banco, aplicaciones de comercio electrónico.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F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4" name="Google Shape;204;p17"/>
          <p:cNvGraphicFramePr/>
          <p:nvPr/>
        </p:nvGraphicFramePr>
        <p:xfrm>
          <a:off x="4764035" y="13089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{950D0516-198D-4A27-A6CF-C6E0A60F2BFC}</a:tableStyleId>
              </a:tblPr>
              <a:tblGrid>
                <a:gridCol w="3882550"/>
              </a:tblGrid>
              <a:tr h="329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600" u="none" cap="none" strike="noStrike"/>
                        <a:t>SISTEMA OLAP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1C2"/>
                    </a:solidFill>
                  </a:tcPr>
                </a:tc>
              </a:tr>
              <a:tr h="744225">
                <a:tc>
                  <a:txBody>
                    <a:bodyPr/>
                    <a:lstStyle/>
                    <a:p>
                      <a:pPr indent="0" lvl="0" marL="88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Line Analytical Processing</a:t>
                      </a:r>
                      <a:endParaRPr/>
                    </a:p>
                    <a:p>
                      <a:pPr indent="0" lvl="0" marL="88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Procesamiento veloz de grandes volúmenes de datos para generar informes. Ejemplos: sistemas de soporte a la toma de decisiones, soluciones de análisis predictivo.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FF4"/>
                    </a:solidFill>
                  </a:tcPr>
                </a:tc>
              </a:tr>
            </a:tbl>
          </a:graphicData>
        </a:graphic>
      </p:graphicFrame>
      <p:pic>
        <p:nvPicPr>
          <p:cNvPr id="205" name="Google Shape;205;p17"/>
          <p:cNvPicPr preferRelativeResize="0"/>
          <p:nvPr/>
        </p:nvPicPr>
        <p:blipFill rotWithShape="1">
          <a:blip r:embed="rId3">
            <a:alphaModFix/>
          </a:blip>
          <a:srcRect b="13740" l="0" r="0" t="13741"/>
          <a:stretch/>
        </p:blipFill>
        <p:spPr>
          <a:xfrm>
            <a:off x="4751390" y="3279511"/>
            <a:ext cx="3882542" cy="195447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/>
          <p:nvPr/>
        </p:nvSpPr>
        <p:spPr>
          <a:xfrm>
            <a:off x="503238" y="376836"/>
            <a:ext cx="3527904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SISTEMAS OLTP Y SISTEMAS OLAP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7"/>
          <p:cNvPicPr preferRelativeResize="0"/>
          <p:nvPr/>
        </p:nvPicPr>
        <p:blipFill rotWithShape="1">
          <a:blip r:embed="rId4">
            <a:alphaModFix/>
          </a:blip>
          <a:srcRect b="18014" l="176" r="-176" t="6477"/>
          <a:stretch/>
        </p:blipFill>
        <p:spPr>
          <a:xfrm>
            <a:off x="510069" y="3279511"/>
            <a:ext cx="3882544" cy="1954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 txBox="1"/>
          <p:nvPr/>
        </p:nvSpPr>
        <p:spPr>
          <a:xfrm>
            <a:off x="510070" y="925339"/>
            <a:ext cx="370371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OLTP VS. SISTEMAS OLAP</a:t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2969581" y="2522198"/>
            <a:ext cx="388234" cy="817727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18"/>
          <p:cNvGraphicFramePr/>
          <p:nvPr/>
        </p:nvGraphicFramePr>
        <p:xfrm>
          <a:off x="510069" y="13706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{950D0516-198D-4A27-A6CF-C6E0A60F2BFC}</a:tableStyleId>
              </a:tblPr>
              <a:tblGrid>
                <a:gridCol w="1531750"/>
                <a:gridCol w="2006425"/>
                <a:gridCol w="1769075"/>
              </a:tblGrid>
              <a:tr h="36205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SIGNIFICA ORIENTADO A LAS OPERACIONES DIARIAS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1C2"/>
                    </a:solidFill>
                  </a:tcPr>
                </a:tc>
                <a:tc hMerge="1"/>
                <a:tc hMerge="1"/>
              </a:tr>
              <a:tr h="607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u="none" cap="none" strike="noStrike">
                          <a:solidFill>
                            <a:schemeClr val="dk1"/>
                          </a:solidFill>
                        </a:rPr>
                        <a:t>Proceso transaccional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200" u="none" cap="none" strike="noStrike">
                          <a:solidFill>
                            <a:schemeClr val="dk1"/>
                          </a:solidFill>
                        </a:rPr>
                        <a:t>OLTP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u="none" cap="none" strike="noStrike">
                          <a:solidFill>
                            <a:schemeClr val="dk1"/>
                          </a:solidFill>
                        </a:rPr>
                        <a:t>(OnLine Transaction Processing)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u="none" cap="none" strike="noStrike">
                          <a:solidFill>
                            <a:schemeClr val="dk1"/>
                          </a:solidFill>
                        </a:rPr>
                        <a:t>Base de datos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u="none" cap="none" strike="noStrike">
                          <a:solidFill>
                            <a:schemeClr val="dk1"/>
                          </a:solidFill>
                        </a:rPr>
                        <a:t>(Modelo E-R)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F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6" name="Google Shape;216;p18"/>
          <p:cNvGraphicFramePr/>
          <p:nvPr/>
        </p:nvGraphicFramePr>
        <p:xfrm>
          <a:off x="510069" y="35564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{950D0516-198D-4A27-A6CF-C6E0A60F2BFC}</a:tableStyleId>
              </a:tblPr>
              <a:tblGrid>
                <a:gridCol w="1531750"/>
                <a:gridCol w="2006425"/>
                <a:gridCol w="1769075"/>
              </a:tblGrid>
              <a:tr h="58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1200" u="none" cap="none" strike="noStrike">
                          <a:solidFill>
                            <a:schemeClr val="dk1"/>
                          </a:solidFill>
                        </a:rPr>
                        <a:t>Proceso analítico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u="none" cap="none" strike="noStrike">
                          <a:solidFill>
                            <a:schemeClr val="dk1"/>
                          </a:solidFill>
                        </a:rPr>
                        <a:t>OLAP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1200" u="none" cap="none" strike="noStrike">
                          <a:solidFill>
                            <a:schemeClr val="dk1"/>
                          </a:solidFill>
                        </a:rPr>
                        <a:t>(OnLine Analytical Processing)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1200" u="none" cap="none" strike="noStrike">
                          <a:solidFill>
                            <a:schemeClr val="dk1"/>
                          </a:solidFill>
                        </a:rPr>
                        <a:t>Data warehouse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1200" u="none" cap="none" strike="noStrike">
                          <a:solidFill>
                            <a:schemeClr val="dk1"/>
                          </a:solidFill>
                        </a:rPr>
                        <a:t>(Modelo dimensional)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FF4"/>
                    </a:solidFill>
                  </a:tcPr>
                </a:tc>
              </a:tr>
              <a:tr h="35767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400" u="none" cap="none" strike="noStrike">
                          <a:solidFill>
                            <a:schemeClr val="lt1"/>
                          </a:solidFill>
                        </a:rPr>
                        <a:t>SIGNIFICADO ORIENTADO AL NEGOCIO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1C2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id="217" name="Google Shape;2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2020" y="3145246"/>
            <a:ext cx="2104588" cy="1762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0030" y="1146144"/>
            <a:ext cx="2568569" cy="172808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8"/>
          <p:cNvSpPr/>
          <p:nvPr/>
        </p:nvSpPr>
        <p:spPr>
          <a:xfrm>
            <a:off x="503238" y="376836"/>
            <a:ext cx="3527904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SISTEMAS OLTP Y SISTEMAS OLAP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 txBox="1"/>
          <p:nvPr/>
        </p:nvSpPr>
        <p:spPr>
          <a:xfrm>
            <a:off x="510069" y="925339"/>
            <a:ext cx="816561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OLTP VS. SISTEMAS OLAP</a:t>
            </a:r>
            <a:endParaRPr/>
          </a:p>
        </p:txBody>
      </p:sp>
      <p:grpSp>
        <p:nvGrpSpPr>
          <p:cNvPr id="225" name="Google Shape;225;p19"/>
          <p:cNvGrpSpPr/>
          <p:nvPr/>
        </p:nvGrpSpPr>
        <p:grpSpPr>
          <a:xfrm>
            <a:off x="1847766" y="1867929"/>
            <a:ext cx="5448466" cy="3329545"/>
            <a:chOff x="76841" y="-1"/>
            <a:chExt cx="5448466" cy="3329545"/>
          </a:xfrm>
        </p:grpSpPr>
        <p:sp>
          <p:nvSpPr>
            <p:cNvPr id="226" name="Google Shape;226;p19"/>
            <p:cNvSpPr/>
            <p:nvPr/>
          </p:nvSpPr>
          <p:spPr>
            <a:xfrm>
              <a:off x="757899" y="587591"/>
              <a:ext cx="4086350" cy="2154362"/>
            </a:xfrm>
            <a:prstGeom prst="round2DiagRect">
              <a:avLst>
                <a:gd fmla="val 0" name="adj1"/>
                <a:gd fmla="val 16670" name="adj2"/>
              </a:avLst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7" name="Google Shape;227;p19"/>
            <p:cNvCxnSpPr/>
            <p:nvPr/>
          </p:nvCxnSpPr>
          <p:spPr>
            <a:xfrm>
              <a:off x="2801074" y="799090"/>
              <a:ext cx="544" cy="1731363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8" name="Google Shape;228;p19"/>
            <p:cNvSpPr/>
            <p:nvPr/>
          </p:nvSpPr>
          <p:spPr>
            <a:xfrm>
              <a:off x="894110" y="732499"/>
              <a:ext cx="1770751" cy="1864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 txBox="1"/>
            <p:nvPr/>
          </p:nvSpPr>
          <p:spPr>
            <a:xfrm>
              <a:off x="894110" y="732499"/>
              <a:ext cx="1770751" cy="1864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lang="es-PE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OLTP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s-PE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Estructura de datos compleja, con gran nivel de detalle, contenido histórico limitado, y con énfasis en la eficiencia de las transacciones.</a:t>
              </a:r>
              <a:endParaRPr/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2937286" y="732499"/>
              <a:ext cx="1770751" cy="1864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9"/>
            <p:cNvSpPr txBox="1"/>
            <p:nvPr/>
          </p:nvSpPr>
          <p:spPr>
            <a:xfrm>
              <a:off x="2937286" y="732499"/>
              <a:ext cx="1770751" cy="1864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lang="es-PE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OLAP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s-PE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Estructura de datos intuitiva, con datos consolidados, contenido histórico rico, y con énfasis en </a:t>
              </a:r>
              <a:br>
                <a:rPr lang="es-PE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PE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 eficiencia de las consultas.</a:t>
              </a:r>
              <a:endParaRPr/>
            </a:p>
          </p:txBody>
        </p:sp>
        <p:sp>
          <p:nvSpPr>
            <p:cNvPr id="232" name="Google Shape;232;p19"/>
            <p:cNvSpPr/>
            <p:nvPr/>
          </p:nvSpPr>
          <p:spPr>
            <a:xfrm rot="-5400000">
              <a:off x="-781266" y="858106"/>
              <a:ext cx="2397272" cy="681058"/>
            </a:xfrm>
            <a:prstGeom prst="rightArrow">
              <a:avLst>
                <a:gd fmla="val 49830" name="adj1"/>
                <a:gd fmla="val 60660" name="adj2"/>
              </a:avLst>
            </a:prstGeom>
            <a:solidFill>
              <a:srgbClr val="7150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9"/>
            <p:cNvSpPr txBox="1"/>
            <p:nvPr/>
          </p:nvSpPr>
          <p:spPr>
            <a:xfrm rot="-5400000">
              <a:off x="-678335" y="1131881"/>
              <a:ext cx="2191409" cy="339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s-PE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Actualización de los datos</a:t>
              </a:r>
              <a:endParaRPr/>
            </a:p>
          </p:txBody>
        </p:sp>
        <p:sp>
          <p:nvSpPr>
            <p:cNvPr id="234" name="Google Shape;234;p19"/>
            <p:cNvSpPr/>
            <p:nvPr/>
          </p:nvSpPr>
          <p:spPr>
            <a:xfrm rot="5400000">
              <a:off x="3986142" y="1790379"/>
              <a:ext cx="2397272" cy="681058"/>
            </a:xfrm>
            <a:prstGeom prst="rightArrow">
              <a:avLst>
                <a:gd fmla="val 49830" name="adj1"/>
                <a:gd fmla="val 60660" name="adj2"/>
              </a:avLst>
            </a:prstGeom>
            <a:solidFill>
              <a:srgbClr val="7150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9"/>
            <p:cNvSpPr txBox="1"/>
            <p:nvPr/>
          </p:nvSpPr>
          <p:spPr>
            <a:xfrm rot="5400000">
              <a:off x="4089074" y="1858291"/>
              <a:ext cx="2191409" cy="339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s-PE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Consulta de los datos</a:t>
              </a:r>
              <a:endParaRPr/>
            </a:p>
          </p:txBody>
        </p:sp>
      </p:grpSp>
      <p:pic>
        <p:nvPicPr>
          <p:cNvPr id="236" name="Google Shape;2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5017" y="1299432"/>
            <a:ext cx="1688499" cy="1032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1642" y="1287054"/>
            <a:ext cx="1237312" cy="103606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9"/>
          <p:cNvSpPr/>
          <p:nvPr/>
        </p:nvSpPr>
        <p:spPr>
          <a:xfrm>
            <a:off x="503238" y="376836"/>
            <a:ext cx="3527904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SISTEMAS OLTP Y SISTEMAS OLAP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DEFINICIÓN DE </a:t>
            </a:r>
            <a:b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 INTELIGENCIA DE NEGOCIOS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 txBox="1"/>
          <p:nvPr/>
        </p:nvSpPr>
        <p:spPr>
          <a:xfrm>
            <a:off x="506352" y="914188"/>
            <a:ext cx="8134411" cy="4262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 INTELIGENCIA DE NEGOCIOS (BI – BUSINESS INTELLIGENCE)</a:t>
            </a:r>
            <a:endParaRPr/>
          </a:p>
          <a:p>
            <a:pPr indent="-185738" lvl="0" marL="185738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inteligencia de negocios simplifica el descubrimiento y el análisis de la información, haciendo posible que los tomadores de decisiones en todos los niveles de una organización puedan fácilmente acceder, comprender, analizar, colaborar y actuar sobre la información, en cualquier momento y en cualquier lugar.</a:t>
            </a:r>
            <a:endParaRPr/>
          </a:p>
          <a:p>
            <a:pPr indent="-128588" lvl="0" marL="2301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8588" lvl="0" marL="2301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8588" lvl="0" marL="2301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8588" lvl="0" marL="2301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85738" lvl="0" marL="185738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inteligencia de negocios es un término general que incluye a las aplicaciones, la infraestructura y herramientas, y las mejores prácticas que permiten el acceso a la información y su análisis para mejorar y optimizar las decisiones y el rendimiento.</a:t>
            </a:r>
            <a:endParaRPr/>
          </a:p>
          <a:p>
            <a:pPr indent="-128588" lvl="0" marL="2301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28588" lvl="0" marL="2301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28588" lvl="0" marL="2301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28588" lvl="0" marL="2301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85738" lvl="0" marL="185738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“La inteligencia de negocios es una herramienta para la toma de decisiones.”</a:t>
            </a:r>
            <a:endParaRPr/>
          </a:p>
        </p:txBody>
      </p:sp>
      <p:pic>
        <p:nvPicPr>
          <p:cNvPr id="252" name="Google Shape;2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8759" y="2403652"/>
            <a:ext cx="1866481" cy="453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9525" y="4164190"/>
            <a:ext cx="1504950" cy="36554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/>
          <p:nvPr/>
        </p:nvSpPr>
        <p:spPr>
          <a:xfrm>
            <a:off x="503238" y="376836"/>
            <a:ext cx="3527904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DEFINICIÓN DE INTELIGENCIA DE NEGOCIOS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EVOLUCIÓN DE </a:t>
            </a:r>
            <a:br>
              <a:rPr b="1"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 INTELIGENCIA DE NEGOCIOS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"/>
          <p:cNvSpPr txBox="1"/>
          <p:nvPr/>
        </p:nvSpPr>
        <p:spPr>
          <a:xfrm>
            <a:off x="510069" y="925339"/>
            <a:ext cx="816561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EVOLUCIÓN DE LA INTELIGENCIA DE NEGOCIOS</a:t>
            </a:r>
            <a:endParaRPr/>
          </a:p>
        </p:txBody>
      </p:sp>
      <p:graphicFrame>
        <p:nvGraphicFramePr>
          <p:cNvPr id="268" name="Google Shape;268;p23"/>
          <p:cNvGraphicFramePr/>
          <p:nvPr/>
        </p:nvGraphicFramePr>
        <p:xfrm>
          <a:off x="510069" y="26121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{950D0516-198D-4A27-A6CF-C6E0A60F2BFC}</a:tableStyleId>
              </a:tblPr>
              <a:tblGrid>
                <a:gridCol w="1726750"/>
                <a:gridCol w="2317250"/>
                <a:gridCol w="2184275"/>
                <a:gridCol w="19373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900" u="none" cap="none" strike="noStrike">
                          <a:solidFill>
                            <a:schemeClr val="dk1"/>
                          </a:solidFill>
                        </a:rPr>
                        <a:t>Interfaz de usuario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Cliente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Web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Multidispositivo</a:t>
                      </a:r>
                      <a:endParaRPr b="0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900" u="none" cap="none" strike="noStrike">
                          <a:solidFill>
                            <a:schemeClr val="dk1"/>
                          </a:solidFill>
                        </a:rPr>
                        <a:t>Prioridad de diseño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Capacidad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Escalabilidad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Usabilidad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900" u="none" cap="none" strike="noStrike">
                          <a:solidFill>
                            <a:schemeClr val="dk1"/>
                          </a:solidFill>
                        </a:rPr>
                        <a:t>Funcionalidad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Resumir y estado actual</a:t>
                      </a:r>
                      <a:endParaRPr b="0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Explorar y predecir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Anticipar y enriquecer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900" u="none" cap="none" strike="noStrike">
                          <a:solidFill>
                            <a:schemeClr val="dk1"/>
                          </a:solidFill>
                        </a:rPr>
                        <a:t>Frecuencia / detalle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Mensual /detallado</a:t>
                      </a:r>
                      <a:endParaRPr b="0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Semanal 🡪 Diario / Resumen</a:t>
                      </a:r>
                      <a:endParaRPr b="0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Tiempo real / proceso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900" u="none" cap="none" strike="noStrike">
                          <a:solidFill>
                            <a:schemeClr val="dk1"/>
                          </a:solidFill>
                        </a:rPr>
                        <a:t>Caso de uso del cliente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Reconciliación operacional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Alineación empresarial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Empoderamiento social</a:t>
                      </a:r>
                      <a:endParaRPr b="0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900" u="none" cap="none" strike="noStrike">
                          <a:solidFill>
                            <a:schemeClr val="dk1"/>
                          </a:solidFill>
                        </a:rPr>
                        <a:t>Alcance de visión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Profunda y estrecha</a:t>
                      </a:r>
                      <a:endParaRPr b="0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Amplia y menos profunda</a:t>
                      </a:r>
                      <a:endParaRPr b="0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Resultado específico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900" u="none" cap="none" strike="noStrike">
                          <a:solidFill>
                            <a:schemeClr val="dk1"/>
                          </a:solidFill>
                        </a:rPr>
                        <a:t>Captación / reutilización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&lt;1% / Limitada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&lt;15% / Alguna</a:t>
                      </a:r>
                      <a:endParaRPr b="0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&gt;25% / Aplicación completa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89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900" u="none" cap="none" strike="noStrike">
                          <a:solidFill>
                            <a:schemeClr val="dk1"/>
                          </a:solidFill>
                        </a:rPr>
                        <a:t>Influencias fundacionales</a:t>
                      </a:r>
                      <a:endParaRPr/>
                    </a:p>
                  </a:txBody>
                  <a:tcPr marT="34300" marB="34300" marR="68575" marL="68575" anchor="ctr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DW 1.0 - Web 1.0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"Solo entrega"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¿Cuándo recibiré mis informes entonces? Eso no es exactamente lo que quería ... ".</a:t>
                      </a:r>
                      <a:endParaRPr b="0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DW 2.0 – Web 2.0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"Creación y entrega"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"Puedo explorar una amplia variedad de activos de datos; prefiero mezclar datos, pero mi informe difiere del suyo."</a:t>
                      </a:r>
                      <a:endParaRPr b="0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Web 3.0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Creación, entrega y gestión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PE" sz="900" u="none" cap="none" strike="noStrike">
                          <a:solidFill>
                            <a:schemeClr val="dk1"/>
                          </a:solidFill>
                        </a:rPr>
                        <a:t>"Puedo usar cualquier herramienta, puedo combinar datos rápidamente (si puedo encontrarlos), fue muy simple al principio, pero ahora ..."</a:t>
                      </a:r>
                      <a:endParaRPr b="0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69" name="Google Shape;269;p23"/>
          <p:cNvSpPr/>
          <p:nvPr/>
        </p:nvSpPr>
        <p:spPr>
          <a:xfrm>
            <a:off x="510069" y="5080100"/>
            <a:ext cx="743346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Referencia: https://www.capgemini.com/2012/07/bi-30-the-journey-to-business-intelligence-what-does-it-mean/#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510069" y="1259963"/>
            <a:ext cx="2021375" cy="481525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 1.0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Centrado en la herramienta</a:t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510069" y="1769969"/>
            <a:ext cx="2021375" cy="772254"/>
          </a:xfrm>
          <a:prstGeom prst="roundRect">
            <a:avLst>
              <a:gd fmla="val 4325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3350" lvl="0" marL="133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Enfoque comunitario.</a:t>
            </a:r>
            <a:endParaRPr/>
          </a:p>
          <a:p>
            <a:pPr indent="-133350" lvl="0" marL="133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 de TI.</a:t>
            </a:r>
            <a:endParaRPr/>
          </a:p>
          <a:p>
            <a:pPr indent="-133350" lvl="0" marL="133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"Científico de datos".</a:t>
            </a:r>
            <a:endParaRPr/>
          </a:p>
          <a:p>
            <a:pPr indent="-133350" lvl="0" marL="133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Procesamiento por lotes.</a:t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3314319" y="1259963"/>
            <a:ext cx="2327227" cy="481525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 2.0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Centrado en la Web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3314319" y="1769969"/>
            <a:ext cx="2327227" cy="772254"/>
          </a:xfrm>
          <a:prstGeom prst="roundRect">
            <a:avLst>
              <a:gd fmla="val 4325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3350" lvl="0" marL="1333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Enfoque empresarial.</a:t>
            </a:r>
            <a:endParaRPr/>
          </a:p>
          <a:p>
            <a:pPr indent="-133350" lvl="0" marL="1333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 híbrido.</a:t>
            </a:r>
            <a:endParaRPr/>
          </a:p>
          <a:p>
            <a:pPr indent="-133350" lvl="0" marL="1333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"Explorador de datos".</a:t>
            </a:r>
            <a:endParaRPr/>
          </a:p>
          <a:p>
            <a:pPr indent="-133350" lvl="0" marL="1333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Procesamiento casi en tiempo real.</a:t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6348461" y="1259963"/>
            <a:ext cx="2327227" cy="481525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 3.0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Centrado en la aplicación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6348461" y="1769969"/>
            <a:ext cx="2327227" cy="772254"/>
          </a:xfrm>
          <a:prstGeom prst="roundRect">
            <a:avLst>
              <a:gd fmla="val 4325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23825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Enfoque colaborativo.</a:t>
            </a:r>
            <a:endParaRPr/>
          </a:p>
          <a:p>
            <a:pPr indent="-123825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Autorregulado.</a:t>
            </a:r>
            <a:endParaRPr/>
          </a:p>
          <a:p>
            <a:pPr indent="-123825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"Grupo de trabajo social".</a:t>
            </a:r>
            <a:endParaRPr/>
          </a:p>
          <a:p>
            <a:pPr indent="-123825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lang="es-PE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proceso.</a:t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2711131" y="1578543"/>
            <a:ext cx="490888" cy="3368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150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5749559" y="1578543"/>
            <a:ext cx="490888" cy="3368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150A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503238" y="376836"/>
            <a:ext cx="3527904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EVOLUCIÓN DE INTELIGENCIA DE NEGOCIOS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1008062" y="3169972"/>
            <a:ext cx="6241149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NECESIDADES DE INFORMACIÓN EN </a:t>
            </a:r>
            <a:r>
              <a:rPr b="1"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LAS ORGANIZACIONES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"/>
          <p:cNvSpPr txBox="1"/>
          <p:nvPr/>
        </p:nvSpPr>
        <p:spPr>
          <a:xfrm>
            <a:off x="510069" y="916713"/>
            <a:ext cx="816561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NECESIDADES DE INFORMACIÓN EN LAS ORGANIZACIONES</a:t>
            </a:r>
            <a:endParaRPr/>
          </a:p>
        </p:txBody>
      </p:sp>
      <p:cxnSp>
        <p:nvCxnSpPr>
          <p:cNvPr id="292" name="Google Shape;292;p25"/>
          <p:cNvCxnSpPr/>
          <p:nvPr/>
        </p:nvCxnSpPr>
        <p:spPr>
          <a:xfrm rot="10800000">
            <a:off x="1319213" y="1527175"/>
            <a:ext cx="0" cy="3588544"/>
          </a:xfrm>
          <a:prstGeom prst="straightConnector1">
            <a:avLst/>
          </a:prstGeom>
          <a:noFill/>
          <a:ln cap="flat" cmpd="sng" w="63500">
            <a:solidFill>
              <a:srgbClr val="EE463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3" name="Google Shape;293;p25"/>
          <p:cNvSpPr txBox="1"/>
          <p:nvPr/>
        </p:nvSpPr>
        <p:spPr>
          <a:xfrm rot="-5400000">
            <a:off x="475881" y="3146305"/>
            <a:ext cx="13437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endParaRPr/>
          </a:p>
        </p:txBody>
      </p:sp>
      <p:cxnSp>
        <p:nvCxnSpPr>
          <p:cNvPr id="294" name="Google Shape;294;p25"/>
          <p:cNvCxnSpPr/>
          <p:nvPr/>
        </p:nvCxnSpPr>
        <p:spPr>
          <a:xfrm>
            <a:off x="1604961" y="1536700"/>
            <a:ext cx="2" cy="3588544"/>
          </a:xfrm>
          <a:prstGeom prst="straightConnector1">
            <a:avLst/>
          </a:prstGeom>
          <a:noFill/>
          <a:ln cap="flat" cmpd="sng" w="63500">
            <a:solidFill>
              <a:srgbClr val="EE463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5" name="Google Shape;295;p25"/>
          <p:cNvSpPr txBox="1"/>
          <p:nvPr/>
        </p:nvSpPr>
        <p:spPr>
          <a:xfrm rot="-5400000">
            <a:off x="716249" y="3146305"/>
            <a:ext cx="21203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Órdenes y directivas</a:t>
            </a:r>
            <a:endParaRPr/>
          </a:p>
        </p:txBody>
      </p:sp>
      <p:grpSp>
        <p:nvGrpSpPr>
          <p:cNvPr id="296" name="Google Shape;296;p25"/>
          <p:cNvGrpSpPr/>
          <p:nvPr/>
        </p:nvGrpSpPr>
        <p:grpSpPr>
          <a:xfrm>
            <a:off x="2598976" y="1327150"/>
            <a:ext cx="4450873" cy="3870325"/>
            <a:chOff x="822563" y="0"/>
            <a:chExt cx="4450873" cy="3870325"/>
          </a:xfrm>
        </p:grpSpPr>
        <p:sp>
          <p:nvSpPr>
            <p:cNvPr id="297" name="Google Shape;297;p25"/>
            <p:cNvSpPr/>
            <p:nvPr/>
          </p:nvSpPr>
          <p:spPr>
            <a:xfrm>
              <a:off x="822563" y="0"/>
              <a:ext cx="3870325" cy="3870325"/>
            </a:xfrm>
            <a:prstGeom prst="triangle">
              <a:avLst>
                <a:gd fmla="val 50000" name="adj"/>
              </a:avLst>
            </a:prstGeom>
            <a:solidFill>
              <a:srgbClr val="00B1C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2757725" y="388990"/>
              <a:ext cx="2515711" cy="830003"/>
            </a:xfrm>
            <a:prstGeom prst="roundRect">
              <a:avLst>
                <a:gd fmla="val 16667" name="adj"/>
              </a:avLst>
            </a:prstGeom>
            <a:solidFill>
              <a:srgbClr val="D1EFF4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5"/>
            <p:cNvSpPr txBox="1"/>
            <p:nvPr/>
          </p:nvSpPr>
          <p:spPr>
            <a:xfrm>
              <a:off x="2798242" y="429507"/>
              <a:ext cx="2434677" cy="748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180000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s-PE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Estratégico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s-PE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Datos consolidados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s-PE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Datos externos</a:t>
              </a:r>
              <a:endParaRPr/>
            </a:p>
          </p:txBody>
        </p:sp>
        <p:sp>
          <p:nvSpPr>
            <p:cNvPr id="300" name="Google Shape;300;p25"/>
            <p:cNvSpPr/>
            <p:nvPr/>
          </p:nvSpPr>
          <p:spPr>
            <a:xfrm>
              <a:off x="2757725" y="1322744"/>
              <a:ext cx="2515711" cy="908090"/>
            </a:xfrm>
            <a:prstGeom prst="roundRect">
              <a:avLst>
                <a:gd fmla="val 16667" name="adj"/>
              </a:avLst>
            </a:prstGeom>
            <a:solidFill>
              <a:srgbClr val="D1EFF4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5"/>
            <p:cNvSpPr txBox="1"/>
            <p:nvPr/>
          </p:nvSpPr>
          <p:spPr>
            <a:xfrm>
              <a:off x="2802054" y="1367073"/>
              <a:ext cx="2427053" cy="819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180000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s-PE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Táctico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s-PE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Datos detallados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s-PE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Datos consolidados</a:t>
              </a:r>
              <a:endParaRPr/>
            </a:p>
          </p:txBody>
        </p:sp>
        <p:sp>
          <p:nvSpPr>
            <p:cNvPr id="302" name="Google Shape;302;p25"/>
            <p:cNvSpPr/>
            <p:nvPr/>
          </p:nvSpPr>
          <p:spPr>
            <a:xfrm>
              <a:off x="2757725" y="2334584"/>
              <a:ext cx="2515711" cy="1042998"/>
            </a:xfrm>
            <a:prstGeom prst="roundRect">
              <a:avLst>
                <a:gd fmla="val 16667" name="adj"/>
              </a:avLst>
            </a:prstGeom>
            <a:solidFill>
              <a:srgbClr val="D1EFF4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5"/>
            <p:cNvSpPr txBox="1"/>
            <p:nvPr/>
          </p:nvSpPr>
          <p:spPr>
            <a:xfrm>
              <a:off x="2808640" y="2385499"/>
              <a:ext cx="2413881" cy="94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180000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s-PE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Operativo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s-PE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Datos detallados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s-PE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Sistemas operacionales y de producción</a:t>
              </a:r>
              <a:endParaRPr/>
            </a:p>
          </p:txBody>
        </p:sp>
      </p:grpSp>
      <p:sp>
        <p:nvSpPr>
          <p:cNvPr id="304" name="Google Shape;304;p25"/>
          <p:cNvSpPr/>
          <p:nvPr/>
        </p:nvSpPr>
        <p:spPr>
          <a:xfrm>
            <a:off x="503238" y="376836"/>
            <a:ext cx="3527904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NECESIDADES DE INFORMACIÓN EN LAS ORGANIZACIONES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"/>
          <p:cNvSpPr/>
          <p:nvPr/>
        </p:nvSpPr>
        <p:spPr>
          <a:xfrm>
            <a:off x="4901831" y="1656211"/>
            <a:ext cx="2706293" cy="1058708"/>
          </a:xfrm>
          <a:prstGeom prst="roundRect">
            <a:avLst>
              <a:gd fmla="val 15299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t" bIns="45700" lIns="324000" spcFirstLastPara="1" rIns="91425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Ventas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PE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Entender mejor al cliente</a:t>
            </a:r>
            <a:endParaRPr/>
          </a:p>
        </p:txBody>
      </p:sp>
      <p:grpSp>
        <p:nvGrpSpPr>
          <p:cNvPr id="310" name="Google Shape;310;p26"/>
          <p:cNvGrpSpPr/>
          <p:nvPr/>
        </p:nvGrpSpPr>
        <p:grpSpPr>
          <a:xfrm>
            <a:off x="4685814" y="1935503"/>
            <a:ext cx="459474" cy="403823"/>
            <a:chOff x="5892512" y="2805541"/>
            <a:chExt cx="459474" cy="403823"/>
          </a:xfrm>
        </p:grpSpPr>
        <p:sp>
          <p:nvSpPr>
            <p:cNvPr id="311" name="Google Shape;311;p26"/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0B798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26"/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>
                <a:gd fmla="val 50000" name="adj"/>
              </a:avLst>
            </a:prstGeom>
            <a:solidFill>
              <a:srgbClr val="00B1C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p26"/>
          <p:cNvSpPr txBox="1"/>
          <p:nvPr/>
        </p:nvSpPr>
        <p:spPr>
          <a:xfrm>
            <a:off x="510069" y="912400"/>
            <a:ext cx="816561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NECESIDADES DE INFORMACIÓN EN LAS ORGANIZACIONES</a:t>
            </a:r>
            <a:endParaRPr/>
          </a:p>
        </p:txBody>
      </p:sp>
      <p:sp>
        <p:nvSpPr>
          <p:cNvPr id="315" name="Google Shape;315;p26"/>
          <p:cNvSpPr/>
          <p:nvPr/>
        </p:nvSpPr>
        <p:spPr>
          <a:xfrm>
            <a:off x="503238" y="376836"/>
            <a:ext cx="3527904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NECESIDADES DE INFORMACIÓN EN LAS ORGANIZACIONES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1517031" y="1656211"/>
            <a:ext cx="2706293" cy="1058708"/>
          </a:xfrm>
          <a:prstGeom prst="roundRect">
            <a:avLst>
              <a:gd fmla="val 15299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t" bIns="45700" lIns="324000" spcFirstLastPara="1" rIns="91425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Marketing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PE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Identificar nuevas oportunidades de negocios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7" name="Google Shape;317;p26"/>
          <p:cNvGrpSpPr/>
          <p:nvPr/>
        </p:nvGrpSpPr>
        <p:grpSpPr>
          <a:xfrm>
            <a:off x="1301014" y="1935503"/>
            <a:ext cx="459474" cy="403823"/>
            <a:chOff x="5892512" y="2805541"/>
            <a:chExt cx="459474" cy="403823"/>
          </a:xfrm>
        </p:grpSpPr>
        <p:sp>
          <p:nvSpPr>
            <p:cNvPr id="318" name="Google Shape;318;p26"/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C73A3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6"/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>
                <a:gd fmla="val 50000" name="adj"/>
              </a:avLst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" name="Google Shape;321;p26"/>
          <p:cNvSpPr/>
          <p:nvPr/>
        </p:nvSpPr>
        <p:spPr>
          <a:xfrm>
            <a:off x="4901831" y="2881696"/>
            <a:ext cx="2706293" cy="1058708"/>
          </a:xfrm>
          <a:prstGeom prst="roundRect">
            <a:avLst>
              <a:gd fmla="val 15299" name="adj"/>
            </a:avLst>
          </a:prstGeom>
          <a:solidFill>
            <a:srgbClr val="92C14E"/>
          </a:solidFill>
          <a:ln>
            <a:noFill/>
          </a:ln>
        </p:spPr>
        <p:txBody>
          <a:bodyPr anchorCtr="0" anchor="t" bIns="45700" lIns="324000" spcFirstLastPara="1" rIns="91425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Finanzas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PE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Elaborar planes para reducción de costos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" name="Google Shape;322;p26"/>
          <p:cNvGrpSpPr/>
          <p:nvPr/>
        </p:nvGrpSpPr>
        <p:grpSpPr>
          <a:xfrm>
            <a:off x="4685814" y="3160988"/>
            <a:ext cx="459474" cy="403823"/>
            <a:chOff x="5892512" y="2805541"/>
            <a:chExt cx="459474" cy="403823"/>
          </a:xfrm>
        </p:grpSpPr>
        <p:sp>
          <p:nvSpPr>
            <p:cNvPr id="323" name="Google Shape;323;p26"/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688A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6"/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>
                <a:gd fmla="val 50000" name="adj"/>
              </a:avLst>
            </a:prstGeom>
            <a:solidFill>
              <a:srgbClr val="92C14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6" name="Google Shape;326;p26"/>
          <p:cNvSpPr/>
          <p:nvPr/>
        </p:nvSpPr>
        <p:spPr>
          <a:xfrm>
            <a:off x="1517031" y="2881696"/>
            <a:ext cx="2706293" cy="1058708"/>
          </a:xfrm>
          <a:prstGeom prst="roundRect">
            <a:avLst>
              <a:gd fmla="val 15299" name="adj"/>
            </a:avLst>
          </a:prstGeom>
          <a:solidFill>
            <a:srgbClr val="7150A0"/>
          </a:solidFill>
          <a:ln>
            <a:noFill/>
          </a:ln>
        </p:spPr>
        <p:txBody>
          <a:bodyPr anchorCtr="0" anchor="t" bIns="45700" lIns="324000" spcFirstLastPara="1" rIns="91425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Operaciones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Analizar procesos buscando eficiencias</a:t>
            </a:r>
            <a:endParaRPr/>
          </a:p>
        </p:txBody>
      </p:sp>
      <p:grpSp>
        <p:nvGrpSpPr>
          <p:cNvPr id="327" name="Google Shape;327;p26"/>
          <p:cNvGrpSpPr/>
          <p:nvPr/>
        </p:nvGrpSpPr>
        <p:grpSpPr>
          <a:xfrm>
            <a:off x="1301014" y="3160988"/>
            <a:ext cx="459474" cy="403823"/>
            <a:chOff x="5892512" y="2805541"/>
            <a:chExt cx="459474" cy="403823"/>
          </a:xfrm>
        </p:grpSpPr>
        <p:sp>
          <p:nvSpPr>
            <p:cNvPr id="328" name="Google Shape;328;p26"/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5B418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6"/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>
                <a:gd fmla="val 50000" name="adj"/>
              </a:avLst>
            </a:prstGeom>
            <a:solidFill>
              <a:srgbClr val="715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26"/>
          <p:cNvSpPr/>
          <p:nvPr/>
        </p:nvSpPr>
        <p:spPr>
          <a:xfrm>
            <a:off x="4258709" y="2516165"/>
            <a:ext cx="566995" cy="493039"/>
          </a:xfrm>
          <a:custGeom>
            <a:rect b="b" l="l" r="r" t="t"/>
            <a:pathLst>
              <a:path extrusionOk="0" h="120000" w="120000">
                <a:moveTo>
                  <a:pt x="6522" y="60000"/>
                </a:moveTo>
                <a:lnTo>
                  <a:pt x="6522" y="60000"/>
                </a:lnTo>
                <a:cubicBezTo>
                  <a:pt x="6522" y="34374"/>
                  <a:pt x="25367" y="12492"/>
                  <a:pt x="51107" y="8231"/>
                </a:cubicBezTo>
                <a:cubicBezTo>
                  <a:pt x="76848" y="3970"/>
                  <a:pt x="101961" y="18574"/>
                  <a:pt x="110521" y="42783"/>
                </a:cubicBezTo>
                <a:lnTo>
                  <a:pt x="116427" y="42783"/>
                </a:lnTo>
                <a:lnTo>
                  <a:pt x="106957" y="60000"/>
                </a:lnTo>
                <a:lnTo>
                  <a:pt x="90340" y="42783"/>
                </a:lnTo>
                <a:lnTo>
                  <a:pt x="95921" y="42783"/>
                </a:lnTo>
                <a:lnTo>
                  <a:pt x="95921" y="42783"/>
                </a:lnTo>
                <a:cubicBezTo>
                  <a:pt x="87358" y="27416"/>
                  <a:pt x="68572" y="19475"/>
                  <a:pt x="50448" y="23561"/>
                </a:cubicBezTo>
                <a:cubicBezTo>
                  <a:pt x="32324" y="27648"/>
                  <a:pt x="19565" y="42702"/>
                  <a:pt x="19565" y="60000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6"/>
          <p:cNvSpPr/>
          <p:nvPr/>
        </p:nvSpPr>
        <p:spPr>
          <a:xfrm rot="10800000">
            <a:off x="4258709" y="2705795"/>
            <a:ext cx="566995" cy="493039"/>
          </a:xfrm>
          <a:custGeom>
            <a:rect b="b" l="l" r="r" t="t"/>
            <a:pathLst>
              <a:path extrusionOk="0" h="120000" w="120000">
                <a:moveTo>
                  <a:pt x="6522" y="60000"/>
                </a:moveTo>
                <a:lnTo>
                  <a:pt x="6522" y="60000"/>
                </a:lnTo>
                <a:cubicBezTo>
                  <a:pt x="6522" y="34374"/>
                  <a:pt x="25367" y="12492"/>
                  <a:pt x="51107" y="8231"/>
                </a:cubicBezTo>
                <a:cubicBezTo>
                  <a:pt x="76848" y="3970"/>
                  <a:pt x="101961" y="18574"/>
                  <a:pt x="110521" y="42783"/>
                </a:cubicBezTo>
                <a:lnTo>
                  <a:pt x="116427" y="42783"/>
                </a:lnTo>
                <a:lnTo>
                  <a:pt x="106957" y="60000"/>
                </a:lnTo>
                <a:lnTo>
                  <a:pt x="90340" y="42783"/>
                </a:lnTo>
                <a:lnTo>
                  <a:pt x="95921" y="42783"/>
                </a:lnTo>
                <a:lnTo>
                  <a:pt x="95921" y="42783"/>
                </a:lnTo>
                <a:cubicBezTo>
                  <a:pt x="87358" y="27416"/>
                  <a:pt x="68572" y="19475"/>
                  <a:pt x="50448" y="23561"/>
                </a:cubicBezTo>
                <a:cubicBezTo>
                  <a:pt x="32324" y="27648"/>
                  <a:pt x="19565" y="42702"/>
                  <a:pt x="19565" y="60000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7"/>
          <p:cNvSpPr txBox="1"/>
          <p:nvPr/>
        </p:nvSpPr>
        <p:spPr>
          <a:xfrm>
            <a:off x="1008062" y="3169972"/>
            <a:ext cx="5006239" cy="9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NIVELES DE MADUREZ DE </a:t>
            </a:r>
            <a:br>
              <a:rPr lang="es-PE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PE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 INTELIGENCIA DE NEGOCIOS EN LAS ORGANIZACIONES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8"/>
          <p:cNvSpPr txBox="1"/>
          <p:nvPr/>
        </p:nvSpPr>
        <p:spPr>
          <a:xfrm>
            <a:off x="505302" y="912813"/>
            <a:ext cx="816561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" lvl="0" marL="31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NIVELES DE MADUREZ DEL BI EN LAS ORGANIZACIONES (GARTNER)</a:t>
            </a:r>
            <a:endParaRPr/>
          </a:p>
        </p:txBody>
      </p:sp>
      <p:cxnSp>
        <p:nvCxnSpPr>
          <p:cNvPr id="346" name="Google Shape;346;p28"/>
          <p:cNvCxnSpPr/>
          <p:nvPr/>
        </p:nvCxnSpPr>
        <p:spPr>
          <a:xfrm rot="10800000">
            <a:off x="1210725" y="1415658"/>
            <a:ext cx="0" cy="3499522"/>
          </a:xfrm>
          <a:prstGeom prst="straightConnector1">
            <a:avLst/>
          </a:prstGeom>
          <a:noFill/>
          <a:ln cap="flat" cmpd="sng" w="38100">
            <a:solidFill>
              <a:srgbClr val="7150A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p28"/>
          <p:cNvCxnSpPr/>
          <p:nvPr/>
        </p:nvCxnSpPr>
        <p:spPr>
          <a:xfrm>
            <a:off x="1197114" y="4915180"/>
            <a:ext cx="6288141" cy="0"/>
          </a:xfrm>
          <a:prstGeom prst="straightConnector1">
            <a:avLst/>
          </a:prstGeom>
          <a:noFill/>
          <a:ln cap="flat" cmpd="sng" w="38100">
            <a:solidFill>
              <a:srgbClr val="7150A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8" name="Google Shape;348;p28"/>
          <p:cNvSpPr txBox="1"/>
          <p:nvPr/>
        </p:nvSpPr>
        <p:spPr>
          <a:xfrm rot="-5400000">
            <a:off x="-217952" y="3040653"/>
            <a:ext cx="23778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Valor para la organización</a:t>
            </a:r>
            <a:endParaRPr/>
          </a:p>
        </p:txBody>
      </p:sp>
      <p:sp>
        <p:nvSpPr>
          <p:cNvPr id="349" name="Google Shape;349;p28"/>
          <p:cNvSpPr txBox="1"/>
          <p:nvPr/>
        </p:nvSpPr>
        <p:spPr>
          <a:xfrm>
            <a:off x="3289830" y="4062513"/>
            <a:ext cx="11819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Retrospectiva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(hindsight)</a:t>
            </a:r>
            <a:endParaRPr/>
          </a:p>
        </p:txBody>
      </p:sp>
      <p:sp>
        <p:nvSpPr>
          <p:cNvPr id="350" name="Google Shape;350;p28"/>
          <p:cNvSpPr txBox="1"/>
          <p:nvPr/>
        </p:nvSpPr>
        <p:spPr>
          <a:xfrm>
            <a:off x="4871877" y="3200110"/>
            <a:ext cx="16152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Visión o percepción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(insight)</a:t>
            </a:r>
            <a:endParaRPr/>
          </a:p>
        </p:txBody>
      </p:sp>
      <p:sp>
        <p:nvSpPr>
          <p:cNvPr id="351" name="Google Shape;351;p28"/>
          <p:cNvSpPr txBox="1"/>
          <p:nvPr/>
        </p:nvSpPr>
        <p:spPr>
          <a:xfrm>
            <a:off x="6550924" y="2372778"/>
            <a:ext cx="9401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Previsión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(foresight)</a:t>
            </a:r>
            <a:endParaRPr/>
          </a:p>
        </p:txBody>
      </p:sp>
      <p:sp>
        <p:nvSpPr>
          <p:cNvPr id="352" name="Google Shape;352;p28"/>
          <p:cNvSpPr/>
          <p:nvPr/>
        </p:nvSpPr>
        <p:spPr>
          <a:xfrm rot="-1656784">
            <a:off x="851827" y="3009012"/>
            <a:ext cx="7130201" cy="36347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INFORMACIÓN                                                                                                  OPTIMIZACIÓN</a:t>
            </a:r>
            <a:endParaRPr/>
          </a:p>
        </p:txBody>
      </p:sp>
      <p:sp>
        <p:nvSpPr>
          <p:cNvPr id="353" name="Google Shape;353;p28"/>
          <p:cNvSpPr/>
          <p:nvPr/>
        </p:nvSpPr>
        <p:spPr>
          <a:xfrm>
            <a:off x="1454950" y="3394525"/>
            <a:ext cx="1267489" cy="481525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ANALÍTICA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DESCRIPTIVA</a:t>
            </a:r>
            <a:endParaRPr/>
          </a:p>
        </p:txBody>
      </p:sp>
      <p:sp>
        <p:nvSpPr>
          <p:cNvPr id="354" name="Google Shape;354;p28"/>
          <p:cNvSpPr/>
          <p:nvPr/>
        </p:nvSpPr>
        <p:spPr>
          <a:xfrm>
            <a:off x="2722509" y="2728405"/>
            <a:ext cx="1267489" cy="481525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ANALÍTICA DE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DIAGNÓSTICO</a:t>
            </a:r>
            <a:endParaRPr/>
          </a:p>
        </p:txBody>
      </p:sp>
      <p:sp>
        <p:nvSpPr>
          <p:cNvPr id="355" name="Google Shape;355;p28"/>
          <p:cNvSpPr/>
          <p:nvPr/>
        </p:nvSpPr>
        <p:spPr>
          <a:xfrm>
            <a:off x="4002972" y="2088995"/>
            <a:ext cx="1267489" cy="481525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ANALÍTICA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PREDICTIVA</a:t>
            </a:r>
            <a:endParaRPr/>
          </a:p>
        </p:txBody>
      </p:sp>
      <p:sp>
        <p:nvSpPr>
          <p:cNvPr id="356" name="Google Shape;356;p28"/>
          <p:cNvSpPr/>
          <p:nvPr/>
        </p:nvSpPr>
        <p:spPr>
          <a:xfrm>
            <a:off x="5270461" y="1468950"/>
            <a:ext cx="1361990" cy="481525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ANALÍTICA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PRESCRIPTIVA</a:t>
            </a:r>
            <a:endParaRPr/>
          </a:p>
        </p:txBody>
      </p:sp>
      <p:sp>
        <p:nvSpPr>
          <p:cNvPr id="357" name="Google Shape;357;p28"/>
          <p:cNvSpPr txBox="1"/>
          <p:nvPr/>
        </p:nvSpPr>
        <p:spPr>
          <a:xfrm>
            <a:off x="1534039" y="3071430"/>
            <a:ext cx="10727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ocurrió?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8"/>
          <p:cNvSpPr txBox="1"/>
          <p:nvPr/>
        </p:nvSpPr>
        <p:spPr>
          <a:xfrm>
            <a:off x="2700712" y="2420364"/>
            <a:ext cx="12956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 qué ocurrió?</a:t>
            </a:r>
            <a:endParaRPr/>
          </a:p>
        </p:txBody>
      </p:sp>
      <p:sp>
        <p:nvSpPr>
          <p:cNvPr id="359" name="Google Shape;359;p28"/>
          <p:cNvSpPr txBox="1"/>
          <p:nvPr/>
        </p:nvSpPr>
        <p:spPr>
          <a:xfrm>
            <a:off x="4079448" y="1780738"/>
            <a:ext cx="11145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ocurrirá?</a:t>
            </a:r>
            <a:endParaRPr/>
          </a:p>
        </p:txBody>
      </p:sp>
      <p:sp>
        <p:nvSpPr>
          <p:cNvPr id="360" name="Google Shape;360;p28"/>
          <p:cNvSpPr txBox="1"/>
          <p:nvPr/>
        </p:nvSpPr>
        <p:spPr>
          <a:xfrm>
            <a:off x="4774536" y="1196499"/>
            <a:ext cx="24113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podemos hacer que ocurra?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8"/>
          <p:cNvSpPr txBox="1"/>
          <p:nvPr/>
        </p:nvSpPr>
        <p:spPr>
          <a:xfrm>
            <a:off x="6069267" y="4930569"/>
            <a:ext cx="125867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Complejidad</a:t>
            </a:r>
            <a:endParaRPr/>
          </a:p>
        </p:txBody>
      </p:sp>
      <p:sp>
        <p:nvSpPr>
          <p:cNvPr id="362" name="Google Shape;362;p28"/>
          <p:cNvSpPr/>
          <p:nvPr/>
        </p:nvSpPr>
        <p:spPr>
          <a:xfrm>
            <a:off x="503237" y="376836"/>
            <a:ext cx="4560203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NIVELES DE MADUREZ DE LA INTELIGENCIA DE NEGOCIOS EN LAS ORGANIZACIONES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8" name="Google Shape;368;p29"/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369" name="Google Shape;369;p29"/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CONCLUSIONES</a:t>
              </a:r>
              <a:br>
                <a:rPr lang="es-PE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s-PE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MÁS REFERENCIAS</a:t>
              </a:r>
              <a:endParaRPr/>
            </a:p>
          </p:txBody>
        </p:sp>
        <p:pic>
          <p:nvPicPr>
            <p:cNvPr id="370" name="Google Shape;370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1" name="Google Shape;37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53" y="946969"/>
            <a:ext cx="2072214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0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0"/>
          <p:cNvSpPr txBox="1"/>
          <p:nvPr/>
        </p:nvSpPr>
        <p:spPr>
          <a:xfrm>
            <a:off x="1279545" y="912813"/>
            <a:ext cx="507281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Cuando los </a:t>
            </a:r>
            <a:r>
              <a:rPr b="1"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tienen algún significado para nosotros, estamos ante </a:t>
            </a:r>
            <a:r>
              <a:rPr b="1"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si ésta es procesada y vinculada a nuestros saberes previos se transforma en </a:t>
            </a:r>
            <a:r>
              <a:rPr b="1"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conocimiento</a:t>
            </a: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nos permite realizar lo que se conoce como </a:t>
            </a:r>
            <a:r>
              <a:rPr b="1"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 de decisiones informada</a:t>
            </a: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inteligencia de negocios </a:t>
            </a: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el conjunto de elementos que nos permiten acceder a la información para analizarla y utilizarla en nuestra </a:t>
            </a:r>
            <a:r>
              <a:rPr b="1"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 de decisiones</a:t>
            </a: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informes elaborados a partir de los datos se pueden obtener de un </a:t>
            </a:r>
            <a:r>
              <a:rPr b="1"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OLTP</a:t>
            </a: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pero se prefiere implementar un </a:t>
            </a:r>
            <a:r>
              <a:rPr b="1"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OLAP</a:t>
            </a: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 su rapidez de respuesta.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60" y="954885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60" y="2020454"/>
            <a:ext cx="114138" cy="117546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0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p30"/>
          <p:cNvPicPr preferRelativeResize="0"/>
          <p:nvPr/>
        </p:nvPicPr>
        <p:blipFill rotWithShape="1">
          <a:blip r:embed="rId4">
            <a:alphaModFix amt="42000"/>
          </a:blip>
          <a:srcRect b="0" l="0" r="0" t="0"/>
          <a:stretch/>
        </p:blipFill>
        <p:spPr>
          <a:xfrm>
            <a:off x="6984999" y="3048772"/>
            <a:ext cx="1690689" cy="21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0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pic>
        <p:nvPicPr>
          <p:cNvPr id="384" name="Google Shape;38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60" y="2870846"/>
            <a:ext cx="114138" cy="117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1"/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br>
              <a:rPr lang="es-PE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PE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MÁS REFERENCIAS</a:t>
            </a:r>
            <a:endParaRPr/>
          </a:p>
        </p:txBody>
      </p:sp>
      <p:pic>
        <p:nvPicPr>
          <p:cNvPr id="391" name="Google Shape;39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46970"/>
            <a:ext cx="2072061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2"/>
          <p:cNvSpPr txBox="1"/>
          <p:nvPr/>
        </p:nvSpPr>
        <p:spPr>
          <a:xfrm>
            <a:off x="1279009" y="917823"/>
            <a:ext cx="4774320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Sinergia (2007). ¿Qué es Business Intelligence?. Recuperado de https://www.sinnexus.com/business_intelligence/index.aspx. Fecha de consulta: 1 de abril del 2024.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CPM BI (2017). BI o Inteligencia de Negocios. Recuperado de https://www.youtube.com/watch?v=_qKqvgnPhSU. Fecha de consulta: 1 de abril del 2024.</a:t>
            </a:r>
            <a:endParaRPr/>
          </a:p>
        </p:txBody>
      </p:sp>
      <p:pic>
        <p:nvPicPr>
          <p:cNvPr id="399" name="Google Shape;39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959114"/>
            <a:ext cx="103867" cy="106967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2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32"/>
          <p:cNvPicPr preferRelativeResize="0"/>
          <p:nvPr/>
        </p:nvPicPr>
        <p:blipFill rotWithShape="1">
          <a:blip r:embed="rId4">
            <a:alphaModFix amt="42000"/>
          </a:blip>
          <a:srcRect b="0" l="0" r="0" t="0"/>
          <a:stretch/>
        </p:blipFill>
        <p:spPr>
          <a:xfrm>
            <a:off x="6985000" y="3036889"/>
            <a:ext cx="1690688" cy="2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2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pic>
        <p:nvPicPr>
          <p:cNvPr id="403" name="Google Shape;40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1826158"/>
            <a:ext cx="103867" cy="106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4199" y="2666298"/>
            <a:ext cx="1295601" cy="386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2016-10-06T14:52:02Z</dcterms:created>
  <dc:creator>ISIL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