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7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326" r:id="rId2"/>
    <p:sldId id="421" r:id="rId3"/>
    <p:sldId id="362" r:id="rId4"/>
    <p:sldId id="315" r:id="rId5"/>
    <p:sldId id="413" r:id="rId6"/>
    <p:sldId id="414" r:id="rId7"/>
    <p:sldId id="416" r:id="rId8"/>
    <p:sldId id="402" r:id="rId9"/>
    <p:sldId id="417" r:id="rId10"/>
    <p:sldId id="418" r:id="rId11"/>
    <p:sldId id="419" r:id="rId12"/>
    <p:sldId id="420" r:id="rId13"/>
    <p:sldId id="410" r:id="rId14"/>
    <p:sldId id="422" r:id="rId15"/>
    <p:sldId id="303" r:id="rId16"/>
    <p:sldId id="423" r:id="rId17"/>
    <p:sldId id="398" r:id="rId18"/>
    <p:sldId id="424" r:id="rId19"/>
  </p:sldIdLst>
  <p:sldSz cx="9144000" cy="5715000" type="screen16x10"/>
  <p:notesSz cx="6858000" cy="9144000"/>
  <p:custDataLst>
    <p:tags r:id="rId2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C14D"/>
    <a:srgbClr val="00B2C2"/>
    <a:srgbClr val="EE4639"/>
    <a:srgbClr val="808799"/>
    <a:srgbClr val="FF7827"/>
    <a:srgbClr val="7150A0"/>
    <a:srgbClr val="FFD039"/>
    <a:srgbClr val="D9DBE1"/>
    <a:srgbClr val="FEC211"/>
    <a:srgbClr val="FFEE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95" autoAdjust="0"/>
    <p:restoredTop sz="87636" autoAdjust="0"/>
  </p:normalViewPr>
  <p:slideViewPr>
    <p:cSldViewPr snapToGrid="0" snapToObjects="1" showGuides="1">
      <p:cViewPr varScale="1">
        <p:scale>
          <a:sx n="129" d="100"/>
          <a:sy n="129" d="100"/>
        </p:scale>
        <p:origin x="200" y="82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20/8/24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20/08/24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6700CA-E45F-416D-B659-25554F846B43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3047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6700CA-E45F-416D-B659-25554F846B43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6200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6700CA-E45F-416D-B659-25554F846B43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0420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502887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94634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44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656099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96625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 i="1" dirty="0"/>
              <a:t>Imágenes tomadas de la documentación del producto Microsoft SQL Server </a:t>
            </a:r>
            <a:r>
              <a:rPr lang="es-PE" sz="1200" i="1" dirty="0" err="1"/>
              <a:t>Analysis</a:t>
            </a:r>
            <a:r>
              <a:rPr lang="es-PE" sz="1200" i="1" dirty="0"/>
              <a:t> </a:t>
            </a:r>
            <a:r>
              <a:rPr lang="es-PE" sz="1200" i="1" dirty="0" err="1"/>
              <a:t>Services</a:t>
            </a:r>
            <a:endParaRPr lang="es-PE" sz="1200" i="1" dirty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46302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226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2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691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Imagen Gig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956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211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256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15164237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7542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tema - 1 Image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4946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9824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tema - 2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6521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tema - Imagen Gig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56080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24822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9860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/>
          <p:cNvGrpSpPr/>
          <p:nvPr userDrawn="1"/>
        </p:nvGrpSpPr>
        <p:grpSpPr>
          <a:xfrm>
            <a:off x="944054" y="5369051"/>
            <a:ext cx="7804380" cy="215444"/>
            <a:chOff x="944054" y="5369051"/>
            <a:chExt cx="7804380" cy="215444"/>
          </a:xfrm>
        </p:grpSpPr>
        <p:sp>
          <p:nvSpPr>
            <p:cNvPr id="16" name="TextBox 7"/>
            <p:cNvSpPr txBox="1"/>
            <p:nvPr userDrawn="1"/>
          </p:nvSpPr>
          <p:spPr>
            <a:xfrm>
              <a:off x="944054" y="5369051"/>
              <a:ext cx="24096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ANALÍTICA</a:t>
              </a:r>
              <a:r>
                <a:rPr lang="en-US" sz="800" kern="1200" baseline="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DE SISTEMAS EMPRESARIALES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TEMA 13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18" name="Rectangle 3"/>
            <p:cNvSpPr/>
            <p:nvPr userDrawn="1"/>
          </p:nvSpPr>
          <p:spPr>
            <a:xfrm>
              <a:off x="7361516" y="5384440"/>
              <a:ext cx="1386918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 ISIL. Todos los derechos reservados</a:t>
              </a:r>
            </a:p>
          </p:txBody>
        </p:sp>
      </p:grp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20">
            <a:alphaModFix amt="20000"/>
          </a:blip>
          <a:stretch>
            <a:fillRect/>
          </a:stretch>
        </p:blipFill>
        <p:spPr>
          <a:xfrm>
            <a:off x="495300" y="5328911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60" r:id="rId4"/>
    <p:sldLayoutId id="2147483657" r:id="rId5"/>
    <p:sldLayoutId id="2147483658" r:id="rId6"/>
    <p:sldLayoutId id="2147483661" r:id="rId7"/>
    <p:sldLayoutId id="2147483659" r:id="rId8"/>
    <p:sldLayoutId id="2147483662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800" userDrawn="1">
          <p15:clr>
            <a:srgbClr val="F26B43"/>
          </p15:clr>
        </p15:guide>
        <p15:guide id="3" pos="2767" userDrawn="1">
          <p15:clr>
            <a:srgbClr val="F26B43"/>
          </p15:clr>
        </p15:guide>
        <p15:guide id="4" pos="2993" userDrawn="1">
          <p15:clr>
            <a:srgbClr val="F26B43"/>
          </p15:clr>
        </p15:guide>
        <p15:guide id="5" pos="5465" userDrawn="1">
          <p15:clr>
            <a:srgbClr val="F26B43"/>
          </p15:clr>
        </p15:guide>
        <p15:guide id="6" pos="317" userDrawn="1">
          <p15:clr>
            <a:srgbClr val="F26B43"/>
          </p15:clr>
        </p15:guide>
        <p15:guide id="7" orient="horz" pos="303" userDrawn="1">
          <p15:clr>
            <a:srgbClr val="F26B43"/>
          </p15:clr>
        </p15:guide>
        <p15:guide id="8" orient="horz" pos="575" userDrawn="1">
          <p15:clr>
            <a:srgbClr val="F26B43"/>
          </p15:clr>
        </p15:guide>
        <p15:guide id="9" orient="horz" pos="32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s-es/analysis-services/data-mining/mining-structures-analysis-services-data-mining?view=asallproducts-allversion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s-es/analysis-services/data-mining/mining-structures-analysis-services-data-mining?view=asallproducts-allversion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s-es/analysis-services/data-mining/mining-structures-analysis-services-data-mining?view=asallproducts-allversion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jorgeromero.net/tecnicas-y-algoritmos-de-mineria-de-datos" TargetMode="External"/><Relationship Id="rId2" Type="http://schemas.openxmlformats.org/officeDocument/2006/relationships/hyperlink" Target="https://www.astera.com/es/type/blog/top-10-data-mining-techniqu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hyperlink" Target="https://fastercapital.com/es/tema/algoritmos-y-modelos-de-miner%C3%ADa-de-datos.html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41DA3A2-7B7D-CC2B-708C-9FCF5754DD86}"/>
              </a:ext>
            </a:extLst>
          </p:cNvPr>
          <p:cNvSpPr/>
          <p:nvPr/>
        </p:nvSpPr>
        <p:spPr>
          <a:xfrm>
            <a:off x="280086" y="5275178"/>
            <a:ext cx="8699157" cy="40893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5CB3DC8-4862-E0B2-F51B-7D016B772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917" y="0"/>
            <a:ext cx="5391150" cy="5715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C142F23-0F00-E484-E777-08A8C2FBD3C9}"/>
              </a:ext>
            </a:extLst>
          </p:cNvPr>
          <p:cNvSpPr txBox="1"/>
          <p:nvPr/>
        </p:nvSpPr>
        <p:spPr>
          <a:xfrm>
            <a:off x="494360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PE" sz="900" b="1" dirty="0">
                <a:solidFill>
                  <a:srgbClr val="6C6D6C"/>
                </a:solidFill>
                <a:latin typeface="Calibri" charset="0"/>
                <a:cs typeface="Calibri" charset="0"/>
                <a:sym typeface="Calibri"/>
              </a:rPr>
              <a:t>ANALÍTICA DE SISTEMAS EMPRESARIALES </a:t>
            </a:r>
            <a:endParaRPr lang="es-PE" sz="900" b="1" dirty="0">
              <a:solidFill>
                <a:srgbClr val="6C6D6C"/>
              </a:solidFill>
              <a:latin typeface="Calibri" charset="0"/>
              <a:cs typeface="Calibri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93F136B-55EE-57FB-24DA-361B152F68F2}"/>
              </a:ext>
            </a:extLst>
          </p:cNvPr>
          <p:cNvSpPr/>
          <p:nvPr/>
        </p:nvSpPr>
        <p:spPr>
          <a:xfrm>
            <a:off x="494361" y="2177570"/>
            <a:ext cx="3258078" cy="11818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s-ES" sz="3200" dirty="0">
                <a:latin typeface="Graphik-Medium" charset="0"/>
              </a:rPr>
              <a:t>MODELOS </a:t>
            </a:r>
            <a:br>
              <a:rPr lang="es-ES" sz="3200" dirty="0">
                <a:latin typeface="Graphik-Medium" charset="0"/>
              </a:rPr>
            </a:br>
            <a:r>
              <a:rPr lang="es-ES" sz="3200" b="1" dirty="0">
                <a:latin typeface="Graphik Bold" panose="020B0503030202060203" pitchFamily="34" charset="77"/>
              </a:rPr>
              <a:t>DE MINERÍA </a:t>
            </a:r>
            <a:br>
              <a:rPr lang="es-ES" sz="3200" b="1" dirty="0">
                <a:latin typeface="Graphik Bold" panose="020B0503030202060203" pitchFamily="34" charset="77"/>
              </a:rPr>
            </a:br>
            <a:r>
              <a:rPr lang="es-ES" sz="3200" b="1" dirty="0">
                <a:latin typeface="Graphik Bold" panose="020B0503030202060203" pitchFamily="34" charset="77"/>
              </a:rPr>
              <a:t>DE DATOS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5FD5C3D-322B-9F9A-1492-300E1A409D62}"/>
              </a:ext>
            </a:extLst>
          </p:cNvPr>
          <p:cNvSpPr txBox="1"/>
          <p:nvPr/>
        </p:nvSpPr>
        <p:spPr>
          <a:xfrm>
            <a:off x="735024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E04097"/>
                </a:solidFill>
                <a:latin typeface="Calibri" charset="0"/>
                <a:ea typeface="Calibri" charset="0"/>
                <a:cs typeface="Calibri" charset="0"/>
              </a:rPr>
              <a:t>TEMA 13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BFE3D86-6998-C05B-844F-3C36A243A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86" y="1883411"/>
            <a:ext cx="166865" cy="170453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EC8D158A-C879-B4F2-D0F9-A5511CF58D9F}"/>
              </a:ext>
            </a:extLst>
          </p:cNvPr>
          <p:cNvSpPr/>
          <p:nvPr/>
        </p:nvSpPr>
        <p:spPr>
          <a:xfrm>
            <a:off x="511944" y="3612072"/>
            <a:ext cx="2732417" cy="7920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800" indent="-177800">
              <a:lnSpc>
                <a:spcPct val="120000"/>
              </a:lnSpc>
              <a:buClr>
                <a:srgbClr val="E04097"/>
              </a:buClr>
              <a:buSzPct val="100000"/>
              <a:buFont typeface="Arial"/>
              <a:buChar char="•"/>
            </a:pPr>
            <a:r>
              <a:rPr lang="es-ES" sz="1100" dirty="0">
                <a:latin typeface="Graphik-Medium" charset="0"/>
              </a:rPr>
              <a:t>Elementos de una solución de minería de datos</a:t>
            </a:r>
          </a:p>
          <a:p>
            <a:pPr marL="177800" indent="-177800">
              <a:lnSpc>
                <a:spcPct val="120000"/>
              </a:lnSpc>
              <a:buClr>
                <a:srgbClr val="E04097"/>
              </a:buClr>
              <a:buSzPct val="100000"/>
              <a:buFont typeface="Arial"/>
              <a:buChar char="•"/>
            </a:pPr>
            <a:r>
              <a:rPr lang="es-ES" sz="1100" dirty="0">
                <a:latin typeface="Graphik-Medium" charset="0"/>
              </a:rPr>
              <a:t>Algoritmos y estructuras de minería de datos</a:t>
            </a:r>
          </a:p>
        </p:txBody>
      </p:sp>
    </p:spTree>
    <p:extLst>
      <p:ext uri="{BB962C8B-B14F-4D97-AF65-F5344CB8AC3E}">
        <p14:creationId xmlns:p14="http://schemas.microsoft.com/office/powerpoint/2010/main" val="2962688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5;p4">
            <a:extLst>
              <a:ext uri="{FF2B5EF4-FFF2-40B4-BE49-F238E27FC236}">
                <a16:creationId xmlns:a16="http://schemas.microsoft.com/office/drawing/2014/main" id="{8F421BC3-9156-DAFE-84CA-A7CADE8BD650}"/>
              </a:ext>
            </a:extLst>
          </p:cNvPr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06;p4">
            <a:extLst>
              <a:ext uri="{FF2B5EF4-FFF2-40B4-BE49-F238E27FC236}">
                <a16:creationId xmlns:a16="http://schemas.microsoft.com/office/drawing/2014/main" id="{94DB2E29-0A91-7ACB-8B17-BB551C2FB6C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946969"/>
            <a:ext cx="2072213" cy="389806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7;p4">
            <a:extLst>
              <a:ext uri="{FF2B5EF4-FFF2-40B4-BE49-F238E27FC236}">
                <a16:creationId xmlns:a16="http://schemas.microsoft.com/office/drawing/2014/main" id="{F8D25FA1-25FF-D7B1-1D91-63C89E594A57}"/>
              </a:ext>
            </a:extLst>
          </p:cNvPr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8;p4">
            <a:extLst>
              <a:ext uri="{FF2B5EF4-FFF2-40B4-BE49-F238E27FC236}">
                <a16:creationId xmlns:a16="http://schemas.microsoft.com/office/drawing/2014/main" id="{034F606F-80AA-5D6A-82F2-F353D73DC32E}"/>
              </a:ext>
            </a:extLst>
          </p:cNvPr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300" dirty="0">
                <a:solidFill>
                  <a:schemeClr val="lt1"/>
                </a:solidFill>
                <a:latin typeface="Graphik Regular" panose="020B0503030202060203" pitchFamily="34" charset="77"/>
                <a:ea typeface="Arial"/>
                <a:cs typeface="Arial"/>
                <a:sym typeface="Arial"/>
              </a:rPr>
              <a:t>INTRODUCCIÓN</a:t>
            </a:r>
            <a:endParaRPr dirty="0">
              <a:latin typeface="Graphik Regular" panose="020B0503030202060203" pitchFamily="34" charset="77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300" b="1" dirty="0">
                <a:solidFill>
                  <a:schemeClr val="lt1"/>
                </a:solidFill>
                <a:latin typeface="Graphik Bold" panose="020B0503030202060203" pitchFamily="34" charset="77"/>
                <a:ea typeface="Arial"/>
                <a:cs typeface="Arial"/>
                <a:sym typeface="Arial"/>
              </a:rPr>
              <a:t>DE LA SESIÓN</a:t>
            </a:r>
            <a:endParaRPr b="1" dirty="0">
              <a:latin typeface="Graphik Bold" panose="020B0503030202060203" pitchFamily="34" charset="77"/>
            </a:endParaRPr>
          </a:p>
        </p:txBody>
      </p:sp>
      <p:pic>
        <p:nvPicPr>
          <p:cNvPr id="6" name="Google Shape;109;p4">
            <a:extLst>
              <a:ext uri="{FF2B5EF4-FFF2-40B4-BE49-F238E27FC236}">
                <a16:creationId xmlns:a16="http://schemas.microsoft.com/office/drawing/2014/main" id="{E7D0507B-9EDD-D10B-3665-C7DFE646128E}"/>
              </a:ext>
            </a:extLst>
          </p:cNvPr>
          <p:cNvPicPr preferRelativeResize="0"/>
          <p:nvPr/>
        </p:nvPicPr>
        <p:blipFill rotWithShape="1">
          <a:blip r:embed="rId3">
            <a:alphaModFix amt="16000"/>
          </a:blip>
          <a:srcRect/>
          <a:stretch/>
        </p:blipFill>
        <p:spPr>
          <a:xfrm>
            <a:off x="334433" y="3817749"/>
            <a:ext cx="809264" cy="809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10;p4">
            <a:extLst>
              <a:ext uri="{FF2B5EF4-FFF2-40B4-BE49-F238E27FC236}">
                <a16:creationId xmlns:a16="http://schemas.microsoft.com/office/drawing/2014/main" id="{F2863910-0343-4F61-61B2-AD3091D01B6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3453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7;p5">
            <a:extLst>
              <a:ext uri="{FF2B5EF4-FFF2-40B4-BE49-F238E27FC236}">
                <a16:creationId xmlns:a16="http://schemas.microsoft.com/office/drawing/2014/main" id="{2D23D246-833E-8DF5-664F-5D17EB0CEEF0}"/>
              </a:ext>
            </a:extLst>
          </p:cNvPr>
          <p:cNvSpPr txBox="1"/>
          <p:nvPr/>
        </p:nvSpPr>
        <p:spPr>
          <a:xfrm>
            <a:off x="1282298" y="918371"/>
            <a:ext cx="54589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ES_tradnl" sz="1400" spc="-10" dirty="0">
                <a:latin typeface="Calibri" panose="020F0502020204030204" pitchFamily="34" charset="0"/>
                <a:cs typeface="Calibri" panose="020F0502020204030204" pitchFamily="34" charset="0"/>
              </a:rPr>
              <a:t>En esta sesión verás qué elementos conforman una solución de minería de datos y cuáles son los componentes de Microsoft SQL Server </a:t>
            </a:r>
            <a:r>
              <a:rPr lang="es-ES_tradnl" sz="1400" spc="-10" dirty="0" err="1">
                <a:latin typeface="Calibri" panose="020F0502020204030204" pitchFamily="34" charset="0"/>
                <a:cs typeface="Calibri" panose="020F0502020204030204" pitchFamily="34" charset="0"/>
              </a:rPr>
              <a:t>Analysis</a:t>
            </a:r>
            <a:r>
              <a:rPr lang="es-ES_tradnl" sz="1400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_tradnl" sz="1400" spc="-10" dirty="0" err="1">
                <a:latin typeface="Calibri" panose="020F0502020204030204" pitchFamily="34" charset="0"/>
                <a:cs typeface="Calibri" panose="020F0502020204030204" pitchFamily="34" charset="0"/>
              </a:rPr>
              <a:t>Services</a:t>
            </a:r>
            <a:r>
              <a:rPr lang="es-ES_tradnl" sz="1400" spc="-10" dirty="0">
                <a:latin typeface="Calibri" panose="020F0502020204030204" pitchFamily="34" charset="0"/>
                <a:cs typeface="Calibri" panose="020F0502020204030204" pitchFamily="34" charset="0"/>
              </a:rPr>
              <a:t> que puedes utilizar para implementarla.</a:t>
            </a:r>
          </a:p>
        </p:txBody>
      </p:sp>
      <p:pic>
        <p:nvPicPr>
          <p:cNvPr id="3" name="Google Shape;121;p5">
            <a:extLst>
              <a:ext uri="{FF2B5EF4-FFF2-40B4-BE49-F238E27FC236}">
                <a16:creationId xmlns:a16="http://schemas.microsoft.com/office/drawing/2014/main" id="{B43DC2E4-A611-A13D-CBD7-9E4638F53DF4}"/>
              </a:ext>
            </a:extLst>
          </p:cNvPr>
          <p:cNvPicPr preferRelativeResize="0"/>
          <p:nvPr/>
        </p:nvPicPr>
        <p:blipFill rotWithShape="1">
          <a:blip r:embed="rId3">
            <a:alphaModFix amt="42000"/>
          </a:blip>
          <a:srcRect/>
          <a:stretch/>
        </p:blipFill>
        <p:spPr>
          <a:xfrm>
            <a:off x="6986661" y="3052731"/>
            <a:ext cx="1689027" cy="218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24;p5">
            <a:extLst>
              <a:ext uri="{FF2B5EF4-FFF2-40B4-BE49-F238E27FC236}">
                <a16:creationId xmlns:a16="http://schemas.microsoft.com/office/drawing/2014/main" id="{44EF37CD-BE86-AFF3-E100-13FC4E9440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0839" y="975168"/>
            <a:ext cx="117851" cy="12136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27;p5">
            <a:extLst>
              <a:ext uri="{FF2B5EF4-FFF2-40B4-BE49-F238E27FC236}">
                <a16:creationId xmlns:a16="http://schemas.microsoft.com/office/drawing/2014/main" id="{8F7E5985-8132-B873-907A-EE14F53665DB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73E3E60-03A9-EE73-D43C-727B383CFC75}"/>
              </a:ext>
            </a:extLst>
          </p:cNvPr>
          <p:cNvSpPr/>
          <p:nvPr/>
        </p:nvSpPr>
        <p:spPr>
          <a:xfrm>
            <a:off x="182879" y="5233989"/>
            <a:ext cx="8492809" cy="352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0671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4;p10">
            <a:extLst>
              <a:ext uri="{FF2B5EF4-FFF2-40B4-BE49-F238E27FC236}">
                <a16:creationId xmlns:a16="http://schemas.microsoft.com/office/drawing/2014/main" id="{6874F435-FD71-DFB2-70C6-C26A45E49D22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75;p10">
            <a:extLst>
              <a:ext uri="{FF2B5EF4-FFF2-40B4-BE49-F238E27FC236}">
                <a16:creationId xmlns:a16="http://schemas.microsoft.com/office/drawing/2014/main" id="{E8268FFD-66CE-DF26-23A0-7FAB80173EA6}"/>
              </a:ext>
            </a:extLst>
          </p:cNvPr>
          <p:cNvSpPr txBox="1"/>
          <p:nvPr/>
        </p:nvSpPr>
        <p:spPr>
          <a:xfrm>
            <a:off x="1008063" y="3157860"/>
            <a:ext cx="5993558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 dirty="0">
                <a:solidFill>
                  <a:schemeClr val="lt1"/>
                </a:solidFill>
                <a:latin typeface="Graphik Regular" panose="020B0503030202060203" pitchFamily="34" charset="77"/>
              </a:rPr>
              <a:t>ELEMENTOS DE 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 b="1" dirty="0">
                <a:solidFill>
                  <a:schemeClr val="lt1"/>
                </a:solidFill>
                <a:latin typeface="Graphik Bold" panose="020B0503030202060203" pitchFamily="34" charset="77"/>
              </a:rPr>
              <a:t>UNA SOLUCIÓN 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 b="1" dirty="0">
                <a:solidFill>
                  <a:schemeClr val="lt1"/>
                </a:solidFill>
                <a:latin typeface="Graphik Bold" panose="020B0503030202060203" pitchFamily="34" charset="77"/>
              </a:rPr>
              <a:t>DE MINERÍA DE DATOS</a:t>
            </a:r>
          </a:p>
        </p:txBody>
      </p:sp>
      <p:pic>
        <p:nvPicPr>
          <p:cNvPr id="5" name="Google Shape;176;p10">
            <a:extLst>
              <a:ext uri="{FF2B5EF4-FFF2-40B4-BE49-F238E27FC236}">
                <a16:creationId xmlns:a16="http://schemas.microsoft.com/office/drawing/2014/main" id="{776684DD-D7F8-D720-239C-08FED2B95F2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063" y="2857500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redondeado 22">
            <a:extLst>
              <a:ext uri="{FF2B5EF4-FFF2-40B4-BE49-F238E27FC236}">
                <a16:creationId xmlns:a16="http://schemas.microsoft.com/office/drawing/2014/main" id="{0A238E3C-69EF-69BD-E7F6-8D6904FDCD30}"/>
              </a:ext>
            </a:extLst>
          </p:cNvPr>
          <p:cNvSpPr/>
          <p:nvPr/>
        </p:nvSpPr>
        <p:spPr>
          <a:xfrm>
            <a:off x="4894976" y="1957957"/>
            <a:ext cx="3780712" cy="826824"/>
          </a:xfrm>
          <a:prstGeom prst="roundRect">
            <a:avLst>
              <a:gd name="adj" fmla="val 7102"/>
            </a:avLst>
          </a:prstGeom>
          <a:solidFill>
            <a:srgbClr val="D2EFF4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CuadroTexto 1"/>
          <p:cNvSpPr txBox="1"/>
          <p:nvPr/>
        </p:nvSpPr>
        <p:spPr>
          <a:xfrm>
            <a:off x="503237" y="915376"/>
            <a:ext cx="3889375" cy="40164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ESTRUCTURA DE MINERÍA DE DATOS</a:t>
            </a: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82563" marR="0" lvl="0" indent="-1825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Una </a:t>
            </a:r>
            <a:r>
              <a:rPr kumimoji="0" lang="es-P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estructura de minería de datos </a:t>
            </a: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define el conjunto o los conjuntos de datos a partir de los cuales se generan los </a:t>
            </a:r>
            <a:r>
              <a:rPr kumimoji="0" lang="es-P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modelos de minería de datos</a:t>
            </a: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182563" marR="0" lvl="0" indent="-1825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s-PE" sz="1600" dirty="0">
                <a:ea typeface="Calibri" panose="020F0502020204030204" pitchFamily="34" charset="0"/>
                <a:cs typeface="Times New Roman" panose="02020603050405020304" pitchFamily="18" charset="0"/>
              </a:rPr>
              <a:t>Los datos a utilizar en la minería de datos pueden estar en cualquier fuente de datos como las tablas de las bases de datos relacionales, hojas de cálculo, archivos planos, entre otros.</a:t>
            </a:r>
          </a:p>
          <a:p>
            <a:pPr marL="182563" marR="0" lvl="0" indent="-1825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82563" marR="0" lvl="0" indent="-1825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la estructura de minería de datos se le puede aplicar distintos modelos de minerías de datos, y establecer cuál de estos ofrece los resultados más precisos.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E66D2A8-A73C-1894-1F2A-60BF87F1CCC3}"/>
              </a:ext>
            </a:extLst>
          </p:cNvPr>
          <p:cNvSpPr/>
          <p:nvPr/>
        </p:nvSpPr>
        <p:spPr>
          <a:xfrm>
            <a:off x="4791739" y="1841029"/>
            <a:ext cx="3978509" cy="1020724"/>
          </a:xfrm>
          <a:prstGeom prst="rect">
            <a:avLst/>
          </a:prstGeom>
          <a:noFill/>
          <a:ln w="31750">
            <a:solidFill>
              <a:srgbClr val="EE4639"/>
            </a:solidFill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E29D0B4-4F79-8D34-EC3D-1BD9B7B9AFFC}"/>
              </a:ext>
            </a:extLst>
          </p:cNvPr>
          <p:cNvSpPr txBox="1"/>
          <p:nvPr/>
        </p:nvSpPr>
        <p:spPr>
          <a:xfrm>
            <a:off x="4747971" y="4788085"/>
            <a:ext cx="3927717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1000" b="1" dirty="0">
                <a:solidFill>
                  <a:srgbClr val="7F7F7F"/>
                </a:solidFill>
                <a:latin typeface="Calibri"/>
                <a:cs typeface="Calibri"/>
              </a:rPr>
              <a:t>Imagen tomada de </a:t>
            </a:r>
            <a:r>
              <a:rPr lang="es-419" sz="1000" dirty="0">
                <a:solidFill>
                  <a:srgbClr val="7F7F7F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https://learn.microsoft.com/es-es/analysis-services/data-mining/mining-structures-analysis-services-data-mining?view=asallproducts-allversions</a:t>
            </a:r>
            <a:endParaRPr lang="es-419" sz="1000" dirty="0">
              <a:solidFill>
                <a:srgbClr val="7F7F7F"/>
              </a:solidFill>
              <a:latin typeface="Calibri"/>
              <a:cs typeface="Calibri"/>
            </a:endParaRPr>
          </a:p>
        </p:txBody>
      </p:sp>
      <p:sp>
        <p:nvSpPr>
          <p:cNvPr id="3" name="Google Shape;127;p5">
            <a:extLst>
              <a:ext uri="{FF2B5EF4-FFF2-40B4-BE49-F238E27FC236}">
                <a16:creationId xmlns:a16="http://schemas.microsoft.com/office/drawing/2014/main" id="{96BFA701-D4C7-56C6-8E37-B8A5BEEA780F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ELEMENTOS DE UNA SOLUCIÓN DE MINERÍA DE DATOS</a:t>
            </a:r>
            <a:r>
              <a:rPr lang="es-PE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C5151E29-4F57-0C92-6B2F-3C2A2CCFDD08}"/>
              </a:ext>
            </a:extLst>
          </p:cNvPr>
          <p:cNvSpPr/>
          <p:nvPr/>
        </p:nvSpPr>
        <p:spPr>
          <a:xfrm>
            <a:off x="4906625" y="3870001"/>
            <a:ext cx="1080658" cy="568042"/>
          </a:xfrm>
          <a:prstGeom prst="roundRect">
            <a:avLst>
              <a:gd name="adj" fmla="val 7102"/>
            </a:avLst>
          </a:prstGeom>
          <a:solidFill>
            <a:srgbClr val="D9DBE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B703528D-3E00-A161-0F56-31192AD74787}"/>
              </a:ext>
            </a:extLst>
          </p:cNvPr>
          <p:cNvSpPr/>
          <p:nvPr/>
        </p:nvSpPr>
        <p:spPr>
          <a:xfrm>
            <a:off x="6263664" y="3870001"/>
            <a:ext cx="1080658" cy="568042"/>
          </a:xfrm>
          <a:prstGeom prst="roundRect">
            <a:avLst>
              <a:gd name="adj" fmla="val 7102"/>
            </a:avLst>
          </a:prstGeom>
          <a:solidFill>
            <a:srgbClr val="D2EFF4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B1A75DAA-A95C-6FB3-B852-00C939407DC7}"/>
              </a:ext>
            </a:extLst>
          </p:cNvPr>
          <p:cNvSpPr/>
          <p:nvPr/>
        </p:nvSpPr>
        <p:spPr>
          <a:xfrm>
            <a:off x="7609055" y="3870001"/>
            <a:ext cx="1080658" cy="568042"/>
          </a:xfrm>
          <a:prstGeom prst="roundRect">
            <a:avLst>
              <a:gd name="adj" fmla="val 7102"/>
            </a:avLst>
          </a:prstGeom>
          <a:solidFill>
            <a:srgbClr val="FFEEB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EC91A6C8-4F58-132C-E701-B17B79C24143}"/>
              </a:ext>
            </a:extLst>
          </p:cNvPr>
          <p:cNvSpPr/>
          <p:nvPr/>
        </p:nvSpPr>
        <p:spPr>
          <a:xfrm>
            <a:off x="6167832" y="3447718"/>
            <a:ext cx="1287148" cy="369864"/>
          </a:xfrm>
          <a:prstGeom prst="roundRect">
            <a:avLst>
              <a:gd name="adj" fmla="val 7102"/>
            </a:avLst>
          </a:prstGeom>
          <a:solidFill>
            <a:srgbClr val="DDEFC8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Rectángulo redondeado 14">
            <a:extLst>
              <a:ext uri="{FF2B5EF4-FFF2-40B4-BE49-F238E27FC236}">
                <a16:creationId xmlns:a16="http://schemas.microsoft.com/office/drawing/2014/main" id="{87C07BB2-68F9-0686-630E-1C9F2385E6A6}"/>
              </a:ext>
            </a:extLst>
          </p:cNvPr>
          <p:cNvSpPr/>
          <p:nvPr/>
        </p:nvSpPr>
        <p:spPr>
          <a:xfrm>
            <a:off x="4791739" y="3447718"/>
            <a:ext cx="1287148" cy="369864"/>
          </a:xfrm>
          <a:prstGeom prst="roundRect">
            <a:avLst>
              <a:gd name="adj" fmla="val 7102"/>
            </a:avLst>
          </a:prstGeom>
          <a:solidFill>
            <a:srgbClr val="DDEFC8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417924F4-59A6-EC12-A1E9-7C4CEA1AF68A}"/>
              </a:ext>
            </a:extLst>
          </p:cNvPr>
          <p:cNvSpPr/>
          <p:nvPr/>
        </p:nvSpPr>
        <p:spPr>
          <a:xfrm>
            <a:off x="4982636" y="2265263"/>
            <a:ext cx="3596713" cy="415133"/>
          </a:xfrm>
          <a:prstGeom prst="roundRect">
            <a:avLst>
              <a:gd name="adj" fmla="val 7102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5CEBBB9F-C68D-31B2-C2E8-932B2EEADDC1}"/>
              </a:ext>
            </a:extLst>
          </p:cNvPr>
          <p:cNvCxnSpPr/>
          <p:nvPr/>
        </p:nvCxnSpPr>
        <p:spPr>
          <a:xfrm>
            <a:off x="5597060" y="2267282"/>
            <a:ext cx="0" cy="404848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A021E710-C1F2-822D-C2B2-8E82C62AE433}"/>
              </a:ext>
            </a:extLst>
          </p:cNvPr>
          <p:cNvCxnSpPr/>
          <p:nvPr/>
        </p:nvCxnSpPr>
        <p:spPr>
          <a:xfrm>
            <a:off x="6191129" y="2267282"/>
            <a:ext cx="0" cy="404848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3753FAEE-C9B2-4724-B096-4360654BCCCD}"/>
              </a:ext>
            </a:extLst>
          </p:cNvPr>
          <p:cNvCxnSpPr/>
          <p:nvPr/>
        </p:nvCxnSpPr>
        <p:spPr>
          <a:xfrm>
            <a:off x="6791022" y="2267282"/>
            <a:ext cx="0" cy="404848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A4225890-D38B-230F-72F2-0B305B6DF7FF}"/>
              </a:ext>
            </a:extLst>
          </p:cNvPr>
          <p:cNvCxnSpPr/>
          <p:nvPr/>
        </p:nvCxnSpPr>
        <p:spPr>
          <a:xfrm>
            <a:off x="7385091" y="2267282"/>
            <a:ext cx="0" cy="404848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5D851744-4023-9DAA-E377-ABB195034ACC}"/>
              </a:ext>
            </a:extLst>
          </p:cNvPr>
          <p:cNvCxnSpPr/>
          <p:nvPr/>
        </p:nvCxnSpPr>
        <p:spPr>
          <a:xfrm>
            <a:off x="7984984" y="2267282"/>
            <a:ext cx="0" cy="404848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C8E46157-C107-5179-8396-C2DBEBE397D0}"/>
              </a:ext>
            </a:extLst>
          </p:cNvPr>
          <p:cNvSpPr/>
          <p:nvPr/>
        </p:nvSpPr>
        <p:spPr>
          <a:xfrm>
            <a:off x="5597060" y="912813"/>
            <a:ext cx="2387924" cy="439214"/>
          </a:xfrm>
          <a:prstGeom prst="roundRect">
            <a:avLst>
              <a:gd name="adj" fmla="val 7102"/>
            </a:avLst>
          </a:prstGeom>
          <a:solidFill>
            <a:srgbClr val="FFEEB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055288B5-C160-C8B7-9397-9E397DEE66A4}"/>
              </a:ext>
            </a:extLst>
          </p:cNvPr>
          <p:cNvCxnSpPr>
            <a:cxnSpLocks/>
          </p:cNvCxnSpPr>
          <p:nvPr/>
        </p:nvCxnSpPr>
        <p:spPr>
          <a:xfrm>
            <a:off x="5220305" y="2680396"/>
            <a:ext cx="0" cy="362766"/>
          </a:xfrm>
          <a:prstGeom prst="line">
            <a:avLst/>
          </a:prstGeom>
          <a:ln w="12700">
            <a:solidFill>
              <a:srgbClr val="00B2C2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C5E85832-F5EA-2DEB-C103-6BDC3C419096}"/>
              </a:ext>
            </a:extLst>
          </p:cNvPr>
          <p:cNvCxnSpPr>
            <a:cxnSpLocks/>
          </p:cNvCxnSpPr>
          <p:nvPr/>
        </p:nvCxnSpPr>
        <p:spPr>
          <a:xfrm>
            <a:off x="5836255" y="2680396"/>
            <a:ext cx="0" cy="362766"/>
          </a:xfrm>
          <a:prstGeom prst="line">
            <a:avLst/>
          </a:prstGeom>
          <a:ln w="12700">
            <a:solidFill>
              <a:srgbClr val="00B2C2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57F9F561-09E3-FDD9-4DE9-6C5AD18777A3}"/>
              </a:ext>
            </a:extLst>
          </p:cNvPr>
          <p:cNvCxnSpPr>
            <a:cxnSpLocks/>
          </p:cNvCxnSpPr>
          <p:nvPr/>
        </p:nvCxnSpPr>
        <p:spPr>
          <a:xfrm>
            <a:off x="6534755" y="2680396"/>
            <a:ext cx="0" cy="362766"/>
          </a:xfrm>
          <a:prstGeom prst="line">
            <a:avLst/>
          </a:prstGeom>
          <a:ln w="12700">
            <a:solidFill>
              <a:srgbClr val="00B2C2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EECDA62E-C544-3462-1997-A2DF548FA604}"/>
              </a:ext>
            </a:extLst>
          </p:cNvPr>
          <p:cNvCxnSpPr>
            <a:cxnSpLocks/>
          </p:cNvCxnSpPr>
          <p:nvPr/>
        </p:nvCxnSpPr>
        <p:spPr>
          <a:xfrm>
            <a:off x="7693630" y="2680396"/>
            <a:ext cx="0" cy="362766"/>
          </a:xfrm>
          <a:prstGeom prst="line">
            <a:avLst/>
          </a:prstGeom>
          <a:ln w="12700">
            <a:solidFill>
              <a:srgbClr val="00B2C2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7B571A13-3A74-F3BA-5096-73C2FF404439}"/>
              </a:ext>
            </a:extLst>
          </p:cNvPr>
          <p:cNvCxnSpPr>
            <a:cxnSpLocks/>
          </p:cNvCxnSpPr>
          <p:nvPr/>
        </p:nvCxnSpPr>
        <p:spPr>
          <a:xfrm>
            <a:off x="5220307" y="3042484"/>
            <a:ext cx="2477269" cy="0"/>
          </a:xfrm>
          <a:prstGeom prst="line">
            <a:avLst/>
          </a:prstGeom>
          <a:ln w="12700">
            <a:solidFill>
              <a:srgbClr val="00B2C2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3B251FF6-E388-39B1-2FC3-B04EC29F8DCD}"/>
              </a:ext>
            </a:extLst>
          </p:cNvPr>
          <p:cNvCxnSpPr>
            <a:cxnSpLocks/>
          </p:cNvCxnSpPr>
          <p:nvPr/>
        </p:nvCxnSpPr>
        <p:spPr>
          <a:xfrm>
            <a:off x="5330991" y="3040813"/>
            <a:ext cx="0" cy="369137"/>
          </a:xfrm>
          <a:prstGeom prst="line">
            <a:avLst/>
          </a:prstGeom>
          <a:ln w="12700">
            <a:solidFill>
              <a:srgbClr val="00B2C2"/>
            </a:solidFill>
            <a:tailEnd type="triangle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A81CD060-3E82-713B-02DE-5BA8C8373D06}"/>
              </a:ext>
            </a:extLst>
          </p:cNvPr>
          <p:cNvCxnSpPr>
            <a:cxnSpLocks/>
          </p:cNvCxnSpPr>
          <p:nvPr/>
        </p:nvCxnSpPr>
        <p:spPr>
          <a:xfrm>
            <a:off x="5318730" y="2680396"/>
            <a:ext cx="0" cy="275529"/>
          </a:xfrm>
          <a:prstGeom prst="line">
            <a:avLst/>
          </a:prstGeom>
          <a:ln w="12700">
            <a:solidFill>
              <a:srgbClr val="EE4639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030A161C-8F0A-B531-C7C7-A9CB712A8BC0}"/>
              </a:ext>
            </a:extLst>
          </p:cNvPr>
          <p:cNvCxnSpPr>
            <a:cxnSpLocks/>
          </p:cNvCxnSpPr>
          <p:nvPr/>
        </p:nvCxnSpPr>
        <p:spPr>
          <a:xfrm>
            <a:off x="6426805" y="2680396"/>
            <a:ext cx="0" cy="275529"/>
          </a:xfrm>
          <a:prstGeom prst="line">
            <a:avLst/>
          </a:prstGeom>
          <a:ln w="12700">
            <a:solidFill>
              <a:srgbClr val="EE4639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0580941B-A61F-089F-27CA-47AADDAA9A01}"/>
              </a:ext>
            </a:extLst>
          </p:cNvPr>
          <p:cNvCxnSpPr>
            <a:cxnSpLocks/>
          </p:cNvCxnSpPr>
          <p:nvPr/>
        </p:nvCxnSpPr>
        <p:spPr>
          <a:xfrm>
            <a:off x="7084030" y="2680396"/>
            <a:ext cx="0" cy="275529"/>
          </a:xfrm>
          <a:prstGeom prst="line">
            <a:avLst/>
          </a:prstGeom>
          <a:ln w="12700">
            <a:solidFill>
              <a:srgbClr val="EE4639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7E6F4CEF-0D64-6BF9-853E-CECFA13EFD51}"/>
              </a:ext>
            </a:extLst>
          </p:cNvPr>
          <p:cNvCxnSpPr>
            <a:cxnSpLocks/>
          </p:cNvCxnSpPr>
          <p:nvPr/>
        </p:nvCxnSpPr>
        <p:spPr>
          <a:xfrm>
            <a:off x="8290530" y="2680396"/>
            <a:ext cx="0" cy="275529"/>
          </a:xfrm>
          <a:prstGeom prst="line">
            <a:avLst/>
          </a:prstGeom>
          <a:ln w="12700">
            <a:solidFill>
              <a:srgbClr val="EE4639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3D007F8D-15EC-48CE-114E-19D33EE96EC0}"/>
              </a:ext>
            </a:extLst>
          </p:cNvPr>
          <p:cNvCxnSpPr>
            <a:cxnSpLocks/>
          </p:cNvCxnSpPr>
          <p:nvPr/>
        </p:nvCxnSpPr>
        <p:spPr>
          <a:xfrm>
            <a:off x="5314726" y="2955925"/>
            <a:ext cx="2975804" cy="0"/>
          </a:xfrm>
          <a:prstGeom prst="line">
            <a:avLst/>
          </a:prstGeom>
          <a:ln w="12700">
            <a:solidFill>
              <a:srgbClr val="EE4639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E9D38565-22E9-F9E0-9623-7B45C51BA237}"/>
              </a:ext>
            </a:extLst>
          </p:cNvPr>
          <p:cNvCxnSpPr>
            <a:cxnSpLocks/>
          </p:cNvCxnSpPr>
          <p:nvPr/>
        </p:nvCxnSpPr>
        <p:spPr>
          <a:xfrm>
            <a:off x="8144041" y="2955925"/>
            <a:ext cx="0" cy="861657"/>
          </a:xfrm>
          <a:prstGeom prst="line">
            <a:avLst/>
          </a:prstGeom>
          <a:ln w="12700">
            <a:solidFill>
              <a:srgbClr val="EE4639"/>
            </a:solidFill>
            <a:tailEnd type="triangle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84B5B383-15A9-AF86-3786-40576FF7DB6C}"/>
              </a:ext>
            </a:extLst>
          </p:cNvPr>
          <p:cNvCxnSpPr>
            <a:cxnSpLocks/>
          </p:cNvCxnSpPr>
          <p:nvPr/>
        </p:nvCxnSpPr>
        <p:spPr>
          <a:xfrm>
            <a:off x="5410805" y="2680396"/>
            <a:ext cx="0" cy="466029"/>
          </a:xfrm>
          <a:prstGeom prst="line">
            <a:avLst/>
          </a:prstGeom>
          <a:ln w="12700">
            <a:solidFill>
              <a:srgbClr val="FEC21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DE49E76C-490C-2199-8C89-07AB1451CA11}"/>
              </a:ext>
            </a:extLst>
          </p:cNvPr>
          <p:cNvCxnSpPr>
            <a:cxnSpLocks/>
          </p:cNvCxnSpPr>
          <p:nvPr/>
        </p:nvCxnSpPr>
        <p:spPr>
          <a:xfrm>
            <a:off x="5944205" y="2680396"/>
            <a:ext cx="0" cy="466029"/>
          </a:xfrm>
          <a:prstGeom prst="line">
            <a:avLst/>
          </a:prstGeom>
          <a:ln w="12700">
            <a:solidFill>
              <a:srgbClr val="FEC21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A6F1AED0-4B8D-DA8E-34DC-6D55359B0303}"/>
              </a:ext>
            </a:extLst>
          </p:cNvPr>
          <p:cNvCxnSpPr>
            <a:cxnSpLocks/>
          </p:cNvCxnSpPr>
          <p:nvPr/>
        </p:nvCxnSpPr>
        <p:spPr>
          <a:xfrm>
            <a:off x="6642705" y="2680396"/>
            <a:ext cx="0" cy="466029"/>
          </a:xfrm>
          <a:prstGeom prst="line">
            <a:avLst/>
          </a:prstGeom>
          <a:ln w="12700">
            <a:solidFill>
              <a:srgbClr val="FEC21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F399F343-1559-23E9-76E6-5B6FA9CC5247}"/>
              </a:ext>
            </a:extLst>
          </p:cNvPr>
          <p:cNvCxnSpPr>
            <a:cxnSpLocks/>
          </p:cNvCxnSpPr>
          <p:nvPr/>
        </p:nvCxnSpPr>
        <p:spPr>
          <a:xfrm>
            <a:off x="7785705" y="2680396"/>
            <a:ext cx="0" cy="466029"/>
          </a:xfrm>
          <a:prstGeom prst="line">
            <a:avLst/>
          </a:prstGeom>
          <a:ln w="12700">
            <a:solidFill>
              <a:srgbClr val="FEC21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DE457B70-B8C9-6CA4-40A8-2A4780663B86}"/>
              </a:ext>
            </a:extLst>
          </p:cNvPr>
          <p:cNvCxnSpPr>
            <a:cxnSpLocks/>
          </p:cNvCxnSpPr>
          <p:nvPr/>
        </p:nvCxnSpPr>
        <p:spPr>
          <a:xfrm>
            <a:off x="5407497" y="3146425"/>
            <a:ext cx="2378208" cy="0"/>
          </a:xfrm>
          <a:prstGeom prst="line">
            <a:avLst/>
          </a:prstGeom>
          <a:ln w="12700">
            <a:solidFill>
              <a:srgbClr val="FEC21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1C821278-15FF-80BD-4BF2-17A98E2B7FFF}"/>
              </a:ext>
            </a:extLst>
          </p:cNvPr>
          <p:cNvCxnSpPr>
            <a:cxnSpLocks/>
          </p:cNvCxnSpPr>
          <p:nvPr/>
        </p:nvCxnSpPr>
        <p:spPr>
          <a:xfrm>
            <a:off x="6797841" y="3146425"/>
            <a:ext cx="0" cy="263525"/>
          </a:xfrm>
          <a:prstGeom prst="line">
            <a:avLst/>
          </a:prstGeom>
          <a:ln w="12700">
            <a:solidFill>
              <a:srgbClr val="FEC211"/>
            </a:solidFill>
            <a:tailEnd type="triangle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4E6F0ADD-F582-1662-44E1-8A48ED42877F}"/>
              </a:ext>
            </a:extLst>
          </p:cNvPr>
          <p:cNvSpPr txBox="1"/>
          <p:nvPr/>
        </p:nvSpPr>
        <p:spPr>
          <a:xfrm>
            <a:off x="6093072" y="1025121"/>
            <a:ext cx="137179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Source</a:t>
            </a:r>
            <a:endParaRPr lang="es-PE" sz="1200" b="1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794E6C19-D72A-737A-4F1C-2C4CCDC9F948}"/>
              </a:ext>
            </a:extLst>
          </p:cNvPr>
          <p:cNvSpPr txBox="1"/>
          <p:nvPr/>
        </p:nvSpPr>
        <p:spPr>
          <a:xfrm>
            <a:off x="4965037" y="2386392"/>
            <a:ext cx="61937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 ID</a:t>
            </a:r>
            <a:endParaRPr lang="es-PE" sz="1000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3CD7E339-B058-7C43-C1A7-4BCB1ACC2A44}"/>
              </a:ext>
            </a:extLst>
          </p:cNvPr>
          <p:cNvSpPr txBox="1"/>
          <p:nvPr/>
        </p:nvSpPr>
        <p:spPr>
          <a:xfrm>
            <a:off x="5589506" y="2386392"/>
            <a:ext cx="61937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</a:t>
            </a:r>
            <a:endParaRPr lang="es-PE" sz="1000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CCC29B34-7579-709A-49AB-783511521CFC}"/>
              </a:ext>
            </a:extLst>
          </p:cNvPr>
          <p:cNvSpPr txBox="1"/>
          <p:nvPr/>
        </p:nvSpPr>
        <p:spPr>
          <a:xfrm>
            <a:off x="6176804" y="2386392"/>
            <a:ext cx="61937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</a:t>
            </a:r>
            <a:endParaRPr lang="es-PE" sz="1000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98A7CADE-494D-DB04-6B3B-58C47BE034D2}"/>
              </a:ext>
            </a:extLst>
          </p:cNvPr>
          <p:cNvSpPr txBox="1"/>
          <p:nvPr/>
        </p:nvSpPr>
        <p:spPr>
          <a:xfrm>
            <a:off x="6778970" y="2386392"/>
            <a:ext cx="61937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Gender</a:t>
            </a:r>
            <a:endParaRPr lang="es-PE" sz="1000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83BF20B2-A5C1-9548-8AF4-3437D4641CAF}"/>
              </a:ext>
            </a:extLst>
          </p:cNvPr>
          <p:cNvSpPr txBox="1"/>
          <p:nvPr/>
        </p:nvSpPr>
        <p:spPr>
          <a:xfrm>
            <a:off x="7373702" y="2386392"/>
            <a:ext cx="61937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</a:t>
            </a:r>
            <a:endParaRPr lang="es-PE" sz="1000" dirty="0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30F485B3-BDEC-7560-E779-337079756420}"/>
              </a:ext>
            </a:extLst>
          </p:cNvPr>
          <p:cNvSpPr txBox="1"/>
          <p:nvPr/>
        </p:nvSpPr>
        <p:spPr>
          <a:xfrm>
            <a:off x="7983302" y="2321740"/>
            <a:ext cx="619372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Nested Table</a:t>
            </a:r>
            <a:endParaRPr lang="es-PE" sz="1000" dirty="0"/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0FEAB063-48F1-617E-16A3-6E568CD139C4}"/>
              </a:ext>
            </a:extLst>
          </p:cNvPr>
          <p:cNvSpPr txBox="1"/>
          <p:nvPr/>
        </p:nvSpPr>
        <p:spPr>
          <a:xfrm>
            <a:off x="6093072" y="2006429"/>
            <a:ext cx="137179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Mining Structure</a:t>
            </a:r>
            <a:endParaRPr lang="es-PE" sz="1200" b="1" dirty="0"/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2D90EF03-150E-CAE8-0F29-7F2D1D4BC001}"/>
              </a:ext>
            </a:extLst>
          </p:cNvPr>
          <p:cNvSpPr txBox="1"/>
          <p:nvPr/>
        </p:nvSpPr>
        <p:spPr>
          <a:xfrm>
            <a:off x="4872674" y="3486646"/>
            <a:ext cx="112636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</a:t>
            </a:r>
          </a:p>
          <a:p>
            <a:pPr algn="ctr"/>
            <a:r>
              <a:rPr lang="es-PE" sz="1000" dirty="0">
                <a:latin typeface="Calibri" panose="020F0502020204030204" pitchFamily="34" charset="0"/>
                <a:cs typeface="Calibri" panose="020F0502020204030204" pitchFamily="34" charset="0"/>
              </a:rPr>
              <a:t>“Regio=Europe”</a:t>
            </a:r>
            <a:endParaRPr lang="es-PE" sz="1000" dirty="0"/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5CB1288F-2FE1-3C20-F342-4DC7D8215175}"/>
              </a:ext>
            </a:extLst>
          </p:cNvPr>
          <p:cNvSpPr txBox="1"/>
          <p:nvPr/>
        </p:nvSpPr>
        <p:spPr>
          <a:xfrm>
            <a:off x="6233123" y="3545898"/>
            <a:ext cx="112636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 </a:t>
            </a:r>
            <a:r>
              <a:rPr lang="es-PE" sz="1000" dirty="0">
                <a:latin typeface="Calibri" panose="020F0502020204030204" pitchFamily="34" charset="0"/>
                <a:cs typeface="Calibri" panose="020F0502020204030204" pitchFamily="34" charset="0"/>
              </a:rPr>
              <a:t>“Age&gt;30”</a:t>
            </a:r>
            <a:endParaRPr lang="es-PE" sz="1000" dirty="0"/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B94997D6-06B6-6679-717C-5FA9AA5FA4CB}"/>
              </a:ext>
            </a:extLst>
          </p:cNvPr>
          <p:cNvSpPr txBox="1"/>
          <p:nvPr/>
        </p:nvSpPr>
        <p:spPr>
          <a:xfrm>
            <a:off x="6253595" y="4044041"/>
            <a:ext cx="112636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2</a:t>
            </a:r>
            <a:endParaRPr lang="es-PE" sz="1000" dirty="0"/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6D773F76-84DF-F18D-AFB8-A587B3E029F4}"/>
              </a:ext>
            </a:extLst>
          </p:cNvPr>
          <p:cNvSpPr txBox="1"/>
          <p:nvPr/>
        </p:nvSpPr>
        <p:spPr>
          <a:xfrm>
            <a:off x="4888819" y="4044041"/>
            <a:ext cx="112636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1</a:t>
            </a:r>
            <a:endParaRPr lang="es-PE" sz="1000" dirty="0"/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8F7C5D02-D1EA-E3D1-6DE7-FB360FA567C5}"/>
              </a:ext>
            </a:extLst>
          </p:cNvPr>
          <p:cNvSpPr txBox="1"/>
          <p:nvPr/>
        </p:nvSpPr>
        <p:spPr>
          <a:xfrm>
            <a:off x="7584252" y="4044041"/>
            <a:ext cx="112636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3</a:t>
            </a:r>
            <a:endParaRPr lang="es-PE" sz="1000" dirty="0"/>
          </a:p>
        </p:txBody>
      </p:sp>
      <p:sp>
        <p:nvSpPr>
          <p:cNvPr id="91" name="Google Shape;952;p54">
            <a:extLst>
              <a:ext uri="{FF2B5EF4-FFF2-40B4-BE49-F238E27FC236}">
                <a16:creationId xmlns:a16="http://schemas.microsoft.com/office/drawing/2014/main" id="{4AA11F4F-F9A8-9C44-9245-A135E147574E}"/>
              </a:ext>
            </a:extLst>
          </p:cNvPr>
          <p:cNvSpPr/>
          <p:nvPr/>
        </p:nvSpPr>
        <p:spPr>
          <a:xfrm rot="5400000">
            <a:off x="6553570" y="1477063"/>
            <a:ext cx="428002" cy="24973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DB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Rectángulo 91">
            <a:extLst>
              <a:ext uri="{FF2B5EF4-FFF2-40B4-BE49-F238E27FC236}">
                <a16:creationId xmlns:a16="http://schemas.microsoft.com/office/drawing/2014/main" id="{046BAAA6-AA13-F7B4-CD06-F4536D216042}"/>
              </a:ext>
            </a:extLst>
          </p:cNvPr>
          <p:cNvSpPr/>
          <p:nvPr/>
        </p:nvSpPr>
        <p:spPr>
          <a:xfrm>
            <a:off x="4791739" y="3813602"/>
            <a:ext cx="1287149" cy="676853"/>
          </a:xfrm>
          <a:prstGeom prst="rect">
            <a:avLst/>
          </a:prstGeom>
          <a:noFill/>
          <a:ln w="31750">
            <a:solidFill>
              <a:srgbClr val="EE4639"/>
            </a:solidFill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8659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06971" y="912813"/>
            <a:ext cx="3899611" cy="28623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MODELO DE MINERÍA DE DATOS</a:t>
            </a: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2563" marR="0" lvl="0" indent="-1825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s-PE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kumimoji="0" lang="es-PE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modelo de minería de datos </a:t>
            </a:r>
            <a:r>
              <a:rPr kumimoji="0" lang="es-PE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define el algoritmo aplicado para analizar los datos.</a:t>
            </a:r>
          </a:p>
          <a:p>
            <a:pPr marL="182563" marR="0" lvl="0" indent="-1825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s-PE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2563" marR="0" lvl="0" indent="-1825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s-PE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El modelo es un conjunto de datos, estadísticas y patrones que se pueden aplicar a nuevos datos para generar predicciones e identificar relaciones entre los datos.</a:t>
            </a:r>
          </a:p>
          <a:p>
            <a:pPr marL="182563" marR="0" lvl="0" indent="-1825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s-PE" sz="15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2563" marR="0" lvl="0" indent="-1825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s-PE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modelo almacena la metadata, los resultados del procesamiento (patrones), y los enlaces a la estructura de minería de datos.</a:t>
            </a:r>
            <a:endParaRPr kumimoji="0" lang="es-PE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7F2700AD-ED06-8CD6-0691-AC1FECA84DD8}"/>
              </a:ext>
            </a:extLst>
          </p:cNvPr>
          <p:cNvSpPr/>
          <p:nvPr/>
        </p:nvSpPr>
        <p:spPr>
          <a:xfrm>
            <a:off x="4894976" y="1957957"/>
            <a:ext cx="3780712" cy="826824"/>
          </a:xfrm>
          <a:prstGeom prst="roundRect">
            <a:avLst>
              <a:gd name="adj" fmla="val 7102"/>
            </a:avLst>
          </a:prstGeom>
          <a:solidFill>
            <a:srgbClr val="D2EFF4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F8FE337-1F2F-52A8-88FA-30B1535208EB}"/>
              </a:ext>
            </a:extLst>
          </p:cNvPr>
          <p:cNvSpPr/>
          <p:nvPr/>
        </p:nvSpPr>
        <p:spPr>
          <a:xfrm>
            <a:off x="4791739" y="1841029"/>
            <a:ext cx="3978509" cy="1020724"/>
          </a:xfrm>
          <a:prstGeom prst="rect">
            <a:avLst/>
          </a:prstGeom>
          <a:noFill/>
          <a:ln w="31750">
            <a:solidFill>
              <a:srgbClr val="EE4639"/>
            </a:solidFill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4EEC83D-F042-4AD2-C9C6-A3F48FF7EE78}"/>
              </a:ext>
            </a:extLst>
          </p:cNvPr>
          <p:cNvSpPr txBox="1"/>
          <p:nvPr/>
        </p:nvSpPr>
        <p:spPr>
          <a:xfrm>
            <a:off x="4747971" y="4788085"/>
            <a:ext cx="3927717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1000" b="1" dirty="0">
                <a:solidFill>
                  <a:srgbClr val="7F7F7F"/>
                </a:solidFill>
                <a:latin typeface="Calibri"/>
                <a:cs typeface="Calibri"/>
              </a:rPr>
              <a:t>Imagen tomada de </a:t>
            </a:r>
            <a:r>
              <a:rPr lang="es-419" sz="1000" dirty="0">
                <a:solidFill>
                  <a:srgbClr val="7F7F7F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https://learn.microsoft.com/es-es/analysis-services/data-mining/mining-structures-analysis-services-data-mining?view=asallproducts-allversions</a:t>
            </a:r>
            <a:endParaRPr lang="es-419" sz="1000" dirty="0">
              <a:solidFill>
                <a:srgbClr val="7F7F7F"/>
              </a:solidFill>
              <a:latin typeface="Calibri"/>
              <a:cs typeface="Calibri"/>
            </a:endParaRPr>
          </a:p>
        </p:txBody>
      </p:sp>
      <p:sp>
        <p:nvSpPr>
          <p:cNvPr id="10" name="Google Shape;127;p5">
            <a:extLst>
              <a:ext uri="{FF2B5EF4-FFF2-40B4-BE49-F238E27FC236}">
                <a16:creationId xmlns:a16="http://schemas.microsoft.com/office/drawing/2014/main" id="{1F90258D-642A-21C8-D95A-A6034D28A7F0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ELEMENTOS DE UNA SOLUCIÓN DE MINERÍA DE DATOS</a:t>
            </a:r>
            <a:r>
              <a:rPr lang="es-PE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D8EC21AA-1047-7135-EA72-3576CD1AF6CC}"/>
              </a:ext>
            </a:extLst>
          </p:cNvPr>
          <p:cNvSpPr/>
          <p:nvPr/>
        </p:nvSpPr>
        <p:spPr>
          <a:xfrm>
            <a:off x="4906625" y="3870001"/>
            <a:ext cx="1080658" cy="568042"/>
          </a:xfrm>
          <a:prstGeom prst="roundRect">
            <a:avLst>
              <a:gd name="adj" fmla="val 7102"/>
            </a:avLst>
          </a:prstGeom>
          <a:solidFill>
            <a:srgbClr val="D9DBE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C52C27AD-4E3C-A6C9-AB1F-1D037AF71158}"/>
              </a:ext>
            </a:extLst>
          </p:cNvPr>
          <p:cNvSpPr/>
          <p:nvPr/>
        </p:nvSpPr>
        <p:spPr>
          <a:xfrm>
            <a:off x="6263664" y="3870001"/>
            <a:ext cx="1080658" cy="568042"/>
          </a:xfrm>
          <a:prstGeom prst="roundRect">
            <a:avLst>
              <a:gd name="adj" fmla="val 7102"/>
            </a:avLst>
          </a:prstGeom>
          <a:solidFill>
            <a:srgbClr val="D2EFF4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Rectángulo redondeado 14">
            <a:extLst>
              <a:ext uri="{FF2B5EF4-FFF2-40B4-BE49-F238E27FC236}">
                <a16:creationId xmlns:a16="http://schemas.microsoft.com/office/drawing/2014/main" id="{A5783D2B-9EDC-A781-74E6-94CA31E005A2}"/>
              </a:ext>
            </a:extLst>
          </p:cNvPr>
          <p:cNvSpPr/>
          <p:nvPr/>
        </p:nvSpPr>
        <p:spPr>
          <a:xfrm>
            <a:off x="7609055" y="3870001"/>
            <a:ext cx="1080658" cy="568042"/>
          </a:xfrm>
          <a:prstGeom prst="roundRect">
            <a:avLst>
              <a:gd name="adj" fmla="val 7102"/>
            </a:avLst>
          </a:prstGeom>
          <a:solidFill>
            <a:srgbClr val="FFEEB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2FFE2458-065E-F085-B08F-F19B710B2B33}"/>
              </a:ext>
            </a:extLst>
          </p:cNvPr>
          <p:cNvSpPr/>
          <p:nvPr/>
        </p:nvSpPr>
        <p:spPr>
          <a:xfrm>
            <a:off x="6167832" y="3447718"/>
            <a:ext cx="1287148" cy="369864"/>
          </a:xfrm>
          <a:prstGeom prst="roundRect">
            <a:avLst>
              <a:gd name="adj" fmla="val 7102"/>
            </a:avLst>
          </a:prstGeom>
          <a:solidFill>
            <a:srgbClr val="DDEFC8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7F02CA9F-8A3B-595D-A189-576813C0F020}"/>
              </a:ext>
            </a:extLst>
          </p:cNvPr>
          <p:cNvSpPr/>
          <p:nvPr/>
        </p:nvSpPr>
        <p:spPr>
          <a:xfrm>
            <a:off x="4791739" y="3447718"/>
            <a:ext cx="1287148" cy="369864"/>
          </a:xfrm>
          <a:prstGeom prst="roundRect">
            <a:avLst>
              <a:gd name="adj" fmla="val 7102"/>
            </a:avLst>
          </a:prstGeom>
          <a:solidFill>
            <a:srgbClr val="DDEFC8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9325EA7E-D13B-BC82-AA85-C7BF676351D4}"/>
              </a:ext>
            </a:extLst>
          </p:cNvPr>
          <p:cNvSpPr/>
          <p:nvPr/>
        </p:nvSpPr>
        <p:spPr>
          <a:xfrm>
            <a:off x="4982636" y="2265263"/>
            <a:ext cx="3596713" cy="415133"/>
          </a:xfrm>
          <a:prstGeom prst="roundRect">
            <a:avLst>
              <a:gd name="adj" fmla="val 7102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1BF6A84C-268C-B85B-B7DC-7AE38B65D6A4}"/>
              </a:ext>
            </a:extLst>
          </p:cNvPr>
          <p:cNvCxnSpPr/>
          <p:nvPr/>
        </p:nvCxnSpPr>
        <p:spPr>
          <a:xfrm>
            <a:off x="5597060" y="2267282"/>
            <a:ext cx="0" cy="404848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82EFD4E0-AFB4-052F-9244-328785FCC111}"/>
              </a:ext>
            </a:extLst>
          </p:cNvPr>
          <p:cNvCxnSpPr/>
          <p:nvPr/>
        </p:nvCxnSpPr>
        <p:spPr>
          <a:xfrm>
            <a:off x="6191129" y="2267282"/>
            <a:ext cx="0" cy="404848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3C55C080-232A-8C64-53E6-336FBB2253B3}"/>
              </a:ext>
            </a:extLst>
          </p:cNvPr>
          <p:cNvCxnSpPr/>
          <p:nvPr/>
        </p:nvCxnSpPr>
        <p:spPr>
          <a:xfrm>
            <a:off x="6791022" y="2267282"/>
            <a:ext cx="0" cy="404848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F8F3A36B-9A80-5939-DDAD-9CD7A7A8218D}"/>
              </a:ext>
            </a:extLst>
          </p:cNvPr>
          <p:cNvCxnSpPr/>
          <p:nvPr/>
        </p:nvCxnSpPr>
        <p:spPr>
          <a:xfrm>
            <a:off x="7385091" y="2267282"/>
            <a:ext cx="0" cy="404848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07D11439-BDEF-0DEE-314E-2EFD1B6279EC}"/>
              </a:ext>
            </a:extLst>
          </p:cNvPr>
          <p:cNvCxnSpPr/>
          <p:nvPr/>
        </p:nvCxnSpPr>
        <p:spPr>
          <a:xfrm>
            <a:off x="7984984" y="2267282"/>
            <a:ext cx="0" cy="404848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BB6F67D7-62D9-3C0F-B851-47D2708161F1}"/>
              </a:ext>
            </a:extLst>
          </p:cNvPr>
          <p:cNvSpPr/>
          <p:nvPr/>
        </p:nvSpPr>
        <p:spPr>
          <a:xfrm>
            <a:off x="5597060" y="912813"/>
            <a:ext cx="2387924" cy="439214"/>
          </a:xfrm>
          <a:prstGeom prst="roundRect">
            <a:avLst>
              <a:gd name="adj" fmla="val 7102"/>
            </a:avLst>
          </a:prstGeom>
          <a:solidFill>
            <a:srgbClr val="FFEEB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70E739BC-49AB-7955-83E0-35634E6198CC}"/>
              </a:ext>
            </a:extLst>
          </p:cNvPr>
          <p:cNvCxnSpPr>
            <a:cxnSpLocks/>
          </p:cNvCxnSpPr>
          <p:nvPr/>
        </p:nvCxnSpPr>
        <p:spPr>
          <a:xfrm>
            <a:off x="5220305" y="2680396"/>
            <a:ext cx="0" cy="362766"/>
          </a:xfrm>
          <a:prstGeom prst="line">
            <a:avLst/>
          </a:prstGeom>
          <a:ln w="12700">
            <a:solidFill>
              <a:srgbClr val="00B2C2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ABEA642F-CB95-BB8A-873B-99FB2365872D}"/>
              </a:ext>
            </a:extLst>
          </p:cNvPr>
          <p:cNvCxnSpPr>
            <a:cxnSpLocks/>
          </p:cNvCxnSpPr>
          <p:nvPr/>
        </p:nvCxnSpPr>
        <p:spPr>
          <a:xfrm>
            <a:off x="5836255" y="2680396"/>
            <a:ext cx="0" cy="362766"/>
          </a:xfrm>
          <a:prstGeom prst="line">
            <a:avLst/>
          </a:prstGeom>
          <a:ln w="12700">
            <a:solidFill>
              <a:srgbClr val="00B2C2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60FD1BAC-0B9E-BA9B-8A1C-70403E4C6C6D}"/>
              </a:ext>
            </a:extLst>
          </p:cNvPr>
          <p:cNvCxnSpPr>
            <a:cxnSpLocks/>
          </p:cNvCxnSpPr>
          <p:nvPr/>
        </p:nvCxnSpPr>
        <p:spPr>
          <a:xfrm>
            <a:off x="6534755" y="2680396"/>
            <a:ext cx="0" cy="362766"/>
          </a:xfrm>
          <a:prstGeom prst="line">
            <a:avLst/>
          </a:prstGeom>
          <a:ln w="12700">
            <a:solidFill>
              <a:srgbClr val="00B2C2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4FB3BE56-96A4-A708-1847-3BC2F4D43B5D}"/>
              </a:ext>
            </a:extLst>
          </p:cNvPr>
          <p:cNvCxnSpPr>
            <a:cxnSpLocks/>
          </p:cNvCxnSpPr>
          <p:nvPr/>
        </p:nvCxnSpPr>
        <p:spPr>
          <a:xfrm>
            <a:off x="7693630" y="2680396"/>
            <a:ext cx="0" cy="362766"/>
          </a:xfrm>
          <a:prstGeom prst="line">
            <a:avLst/>
          </a:prstGeom>
          <a:ln w="12700">
            <a:solidFill>
              <a:srgbClr val="00B2C2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1DADD24A-E9A9-8CC4-A605-3EC553D565A1}"/>
              </a:ext>
            </a:extLst>
          </p:cNvPr>
          <p:cNvCxnSpPr>
            <a:cxnSpLocks/>
          </p:cNvCxnSpPr>
          <p:nvPr/>
        </p:nvCxnSpPr>
        <p:spPr>
          <a:xfrm>
            <a:off x="5220307" y="3042484"/>
            <a:ext cx="2477269" cy="0"/>
          </a:xfrm>
          <a:prstGeom prst="line">
            <a:avLst/>
          </a:prstGeom>
          <a:ln w="12700">
            <a:solidFill>
              <a:srgbClr val="00B2C2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1F5A0F27-D95F-FE8B-926C-744176496C10}"/>
              </a:ext>
            </a:extLst>
          </p:cNvPr>
          <p:cNvCxnSpPr>
            <a:cxnSpLocks/>
          </p:cNvCxnSpPr>
          <p:nvPr/>
        </p:nvCxnSpPr>
        <p:spPr>
          <a:xfrm>
            <a:off x="5330991" y="3040813"/>
            <a:ext cx="0" cy="369137"/>
          </a:xfrm>
          <a:prstGeom prst="line">
            <a:avLst/>
          </a:prstGeom>
          <a:ln w="12700">
            <a:solidFill>
              <a:srgbClr val="00B2C2"/>
            </a:solidFill>
            <a:tailEnd type="triangle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FF8543A5-124A-AFF1-B4E1-520E9121CB8B}"/>
              </a:ext>
            </a:extLst>
          </p:cNvPr>
          <p:cNvCxnSpPr>
            <a:cxnSpLocks/>
          </p:cNvCxnSpPr>
          <p:nvPr/>
        </p:nvCxnSpPr>
        <p:spPr>
          <a:xfrm>
            <a:off x="5318730" y="2680396"/>
            <a:ext cx="0" cy="275529"/>
          </a:xfrm>
          <a:prstGeom prst="line">
            <a:avLst/>
          </a:prstGeom>
          <a:ln w="12700">
            <a:solidFill>
              <a:srgbClr val="EE4639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C6562F6D-7EF0-8EC7-404F-E2E3AC6E9061}"/>
              </a:ext>
            </a:extLst>
          </p:cNvPr>
          <p:cNvCxnSpPr>
            <a:cxnSpLocks/>
          </p:cNvCxnSpPr>
          <p:nvPr/>
        </p:nvCxnSpPr>
        <p:spPr>
          <a:xfrm>
            <a:off x="6426805" y="2680396"/>
            <a:ext cx="0" cy="275529"/>
          </a:xfrm>
          <a:prstGeom prst="line">
            <a:avLst/>
          </a:prstGeom>
          <a:ln w="12700">
            <a:solidFill>
              <a:srgbClr val="EE4639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4967509D-4863-5772-AE8C-273DAB14E40F}"/>
              </a:ext>
            </a:extLst>
          </p:cNvPr>
          <p:cNvCxnSpPr>
            <a:cxnSpLocks/>
          </p:cNvCxnSpPr>
          <p:nvPr/>
        </p:nvCxnSpPr>
        <p:spPr>
          <a:xfrm>
            <a:off x="7084030" y="2680396"/>
            <a:ext cx="0" cy="275529"/>
          </a:xfrm>
          <a:prstGeom prst="line">
            <a:avLst/>
          </a:prstGeom>
          <a:ln w="12700">
            <a:solidFill>
              <a:srgbClr val="EE4639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7BE4B68E-70B5-3BFE-3C6A-FA201D36D150}"/>
              </a:ext>
            </a:extLst>
          </p:cNvPr>
          <p:cNvCxnSpPr>
            <a:cxnSpLocks/>
          </p:cNvCxnSpPr>
          <p:nvPr/>
        </p:nvCxnSpPr>
        <p:spPr>
          <a:xfrm>
            <a:off x="8290530" y="2680396"/>
            <a:ext cx="0" cy="275529"/>
          </a:xfrm>
          <a:prstGeom prst="line">
            <a:avLst/>
          </a:prstGeom>
          <a:ln w="12700">
            <a:solidFill>
              <a:srgbClr val="EE4639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FF60CCBD-3966-588F-B9FE-D5F09381DDDF}"/>
              </a:ext>
            </a:extLst>
          </p:cNvPr>
          <p:cNvCxnSpPr>
            <a:cxnSpLocks/>
          </p:cNvCxnSpPr>
          <p:nvPr/>
        </p:nvCxnSpPr>
        <p:spPr>
          <a:xfrm>
            <a:off x="5314726" y="2955925"/>
            <a:ext cx="2975804" cy="0"/>
          </a:xfrm>
          <a:prstGeom prst="line">
            <a:avLst/>
          </a:prstGeom>
          <a:ln w="12700">
            <a:solidFill>
              <a:srgbClr val="EE4639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6FB70F11-EB96-946D-B081-CB0480F85B4A}"/>
              </a:ext>
            </a:extLst>
          </p:cNvPr>
          <p:cNvCxnSpPr>
            <a:cxnSpLocks/>
          </p:cNvCxnSpPr>
          <p:nvPr/>
        </p:nvCxnSpPr>
        <p:spPr>
          <a:xfrm>
            <a:off x="8144041" y="2955925"/>
            <a:ext cx="0" cy="861657"/>
          </a:xfrm>
          <a:prstGeom prst="line">
            <a:avLst/>
          </a:prstGeom>
          <a:ln w="12700">
            <a:solidFill>
              <a:srgbClr val="EE4639"/>
            </a:solidFill>
            <a:tailEnd type="triangle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5FF5B3F2-0D2A-A468-A98A-6DF544EFD779}"/>
              </a:ext>
            </a:extLst>
          </p:cNvPr>
          <p:cNvCxnSpPr>
            <a:cxnSpLocks/>
          </p:cNvCxnSpPr>
          <p:nvPr/>
        </p:nvCxnSpPr>
        <p:spPr>
          <a:xfrm>
            <a:off x="5410805" y="2680396"/>
            <a:ext cx="0" cy="466029"/>
          </a:xfrm>
          <a:prstGeom prst="line">
            <a:avLst/>
          </a:prstGeom>
          <a:ln w="12700">
            <a:solidFill>
              <a:srgbClr val="FEC21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AAF5249C-DE91-CCB4-A1EF-3F76C143CBCE}"/>
              </a:ext>
            </a:extLst>
          </p:cNvPr>
          <p:cNvCxnSpPr>
            <a:cxnSpLocks/>
          </p:cNvCxnSpPr>
          <p:nvPr/>
        </p:nvCxnSpPr>
        <p:spPr>
          <a:xfrm>
            <a:off x="5944205" y="2680396"/>
            <a:ext cx="0" cy="466029"/>
          </a:xfrm>
          <a:prstGeom prst="line">
            <a:avLst/>
          </a:prstGeom>
          <a:ln w="12700">
            <a:solidFill>
              <a:srgbClr val="FEC21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D917F796-CF7C-02CD-9132-F9AD3729B7CD}"/>
              </a:ext>
            </a:extLst>
          </p:cNvPr>
          <p:cNvCxnSpPr>
            <a:cxnSpLocks/>
          </p:cNvCxnSpPr>
          <p:nvPr/>
        </p:nvCxnSpPr>
        <p:spPr>
          <a:xfrm>
            <a:off x="6642705" y="2680396"/>
            <a:ext cx="0" cy="466029"/>
          </a:xfrm>
          <a:prstGeom prst="line">
            <a:avLst/>
          </a:prstGeom>
          <a:ln w="12700">
            <a:solidFill>
              <a:srgbClr val="FEC21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8185592-023A-AB30-F12D-98E32B5AE998}"/>
              </a:ext>
            </a:extLst>
          </p:cNvPr>
          <p:cNvCxnSpPr>
            <a:cxnSpLocks/>
          </p:cNvCxnSpPr>
          <p:nvPr/>
        </p:nvCxnSpPr>
        <p:spPr>
          <a:xfrm>
            <a:off x="7785705" y="2680396"/>
            <a:ext cx="0" cy="466029"/>
          </a:xfrm>
          <a:prstGeom prst="line">
            <a:avLst/>
          </a:prstGeom>
          <a:ln w="12700">
            <a:solidFill>
              <a:srgbClr val="FEC21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B02D4D17-0BC5-04BB-DCAA-A5BCFB9E7204}"/>
              </a:ext>
            </a:extLst>
          </p:cNvPr>
          <p:cNvCxnSpPr>
            <a:cxnSpLocks/>
          </p:cNvCxnSpPr>
          <p:nvPr/>
        </p:nvCxnSpPr>
        <p:spPr>
          <a:xfrm>
            <a:off x="5407497" y="3146425"/>
            <a:ext cx="2378208" cy="0"/>
          </a:xfrm>
          <a:prstGeom prst="line">
            <a:avLst/>
          </a:prstGeom>
          <a:ln w="12700">
            <a:solidFill>
              <a:srgbClr val="FEC21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F1128638-4492-0B19-8741-9958934BB97F}"/>
              </a:ext>
            </a:extLst>
          </p:cNvPr>
          <p:cNvCxnSpPr>
            <a:cxnSpLocks/>
          </p:cNvCxnSpPr>
          <p:nvPr/>
        </p:nvCxnSpPr>
        <p:spPr>
          <a:xfrm>
            <a:off x="6797841" y="3146425"/>
            <a:ext cx="0" cy="263525"/>
          </a:xfrm>
          <a:prstGeom prst="line">
            <a:avLst/>
          </a:prstGeom>
          <a:ln w="12700">
            <a:solidFill>
              <a:srgbClr val="FEC211"/>
            </a:solidFill>
            <a:tailEnd type="triangle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D70673A6-E650-7C0A-04F9-27B043EF3D27}"/>
              </a:ext>
            </a:extLst>
          </p:cNvPr>
          <p:cNvSpPr txBox="1"/>
          <p:nvPr/>
        </p:nvSpPr>
        <p:spPr>
          <a:xfrm>
            <a:off x="6093072" y="1025121"/>
            <a:ext cx="137179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Source</a:t>
            </a:r>
            <a:endParaRPr lang="es-PE" sz="1200" b="1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C7624CC-C97C-B2ED-58A0-AAAB2109C60C}"/>
              </a:ext>
            </a:extLst>
          </p:cNvPr>
          <p:cNvSpPr txBox="1"/>
          <p:nvPr/>
        </p:nvSpPr>
        <p:spPr>
          <a:xfrm>
            <a:off x="4965037" y="2386392"/>
            <a:ext cx="61937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 ID</a:t>
            </a:r>
            <a:endParaRPr lang="es-PE" sz="1000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F46A931F-B3AB-03F4-DC62-377E2358D8A7}"/>
              </a:ext>
            </a:extLst>
          </p:cNvPr>
          <p:cNvSpPr txBox="1"/>
          <p:nvPr/>
        </p:nvSpPr>
        <p:spPr>
          <a:xfrm>
            <a:off x="5589506" y="2386392"/>
            <a:ext cx="61937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</a:t>
            </a:r>
            <a:endParaRPr lang="es-PE" sz="100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1BFD698-0A87-F8B0-3145-76F5DE7D6F9F}"/>
              </a:ext>
            </a:extLst>
          </p:cNvPr>
          <p:cNvSpPr txBox="1"/>
          <p:nvPr/>
        </p:nvSpPr>
        <p:spPr>
          <a:xfrm>
            <a:off x="6176804" y="2386392"/>
            <a:ext cx="61937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</a:t>
            </a:r>
            <a:endParaRPr lang="es-PE" sz="1000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B55D5304-4CCC-0B9E-1A78-59494C9D3645}"/>
              </a:ext>
            </a:extLst>
          </p:cNvPr>
          <p:cNvSpPr txBox="1"/>
          <p:nvPr/>
        </p:nvSpPr>
        <p:spPr>
          <a:xfrm>
            <a:off x="6778970" y="2386392"/>
            <a:ext cx="61937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Gender</a:t>
            </a:r>
            <a:endParaRPr lang="es-PE" sz="10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9B6770AE-A28E-8CAF-513E-D70039EDA8DF}"/>
              </a:ext>
            </a:extLst>
          </p:cNvPr>
          <p:cNvSpPr txBox="1"/>
          <p:nvPr/>
        </p:nvSpPr>
        <p:spPr>
          <a:xfrm>
            <a:off x="7373702" y="2386392"/>
            <a:ext cx="61937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</a:t>
            </a:r>
            <a:endParaRPr lang="es-PE" sz="1000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3289F447-7E72-2DEB-E93F-EC9FBD61FE84}"/>
              </a:ext>
            </a:extLst>
          </p:cNvPr>
          <p:cNvSpPr txBox="1"/>
          <p:nvPr/>
        </p:nvSpPr>
        <p:spPr>
          <a:xfrm>
            <a:off x="7983302" y="2321740"/>
            <a:ext cx="619372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Nested Table</a:t>
            </a:r>
            <a:endParaRPr lang="es-PE" sz="10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DAFCC6FE-8E06-79FB-5EC1-1980376D76BB}"/>
              </a:ext>
            </a:extLst>
          </p:cNvPr>
          <p:cNvSpPr txBox="1"/>
          <p:nvPr/>
        </p:nvSpPr>
        <p:spPr>
          <a:xfrm>
            <a:off x="6093072" y="2006429"/>
            <a:ext cx="137179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Mining Structure</a:t>
            </a:r>
            <a:endParaRPr lang="es-PE" sz="1200" b="1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AB59F3CB-643C-BD9C-AB40-701AAFC8809C}"/>
              </a:ext>
            </a:extLst>
          </p:cNvPr>
          <p:cNvSpPr txBox="1"/>
          <p:nvPr/>
        </p:nvSpPr>
        <p:spPr>
          <a:xfrm>
            <a:off x="4872674" y="3486646"/>
            <a:ext cx="112636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</a:t>
            </a:r>
          </a:p>
          <a:p>
            <a:pPr algn="ctr"/>
            <a:r>
              <a:rPr lang="es-PE" sz="1000" dirty="0">
                <a:latin typeface="Calibri" panose="020F0502020204030204" pitchFamily="34" charset="0"/>
                <a:cs typeface="Calibri" panose="020F0502020204030204" pitchFamily="34" charset="0"/>
              </a:rPr>
              <a:t>“Regio=Europe”</a:t>
            </a:r>
            <a:endParaRPr lang="es-PE" sz="10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F5AAB170-F2F3-24F4-1468-024D7332D0BF}"/>
              </a:ext>
            </a:extLst>
          </p:cNvPr>
          <p:cNvSpPr txBox="1"/>
          <p:nvPr/>
        </p:nvSpPr>
        <p:spPr>
          <a:xfrm>
            <a:off x="6233123" y="3545898"/>
            <a:ext cx="112636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 </a:t>
            </a:r>
            <a:r>
              <a:rPr lang="es-PE" sz="1000" dirty="0">
                <a:latin typeface="Calibri" panose="020F0502020204030204" pitchFamily="34" charset="0"/>
                <a:cs typeface="Calibri" panose="020F0502020204030204" pitchFamily="34" charset="0"/>
              </a:rPr>
              <a:t>“Age&gt;30”</a:t>
            </a:r>
            <a:endParaRPr lang="es-PE" sz="1000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EE6E5C48-78E2-F91D-5FD4-42B3197B0E82}"/>
              </a:ext>
            </a:extLst>
          </p:cNvPr>
          <p:cNvSpPr txBox="1"/>
          <p:nvPr/>
        </p:nvSpPr>
        <p:spPr>
          <a:xfrm>
            <a:off x="6253595" y="4044041"/>
            <a:ext cx="112636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2</a:t>
            </a:r>
            <a:endParaRPr lang="es-PE" sz="100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865F834B-F529-4DEE-9204-873B37D08653}"/>
              </a:ext>
            </a:extLst>
          </p:cNvPr>
          <p:cNvSpPr txBox="1"/>
          <p:nvPr/>
        </p:nvSpPr>
        <p:spPr>
          <a:xfrm>
            <a:off x="4888819" y="4044041"/>
            <a:ext cx="112636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1</a:t>
            </a:r>
            <a:endParaRPr lang="es-PE" sz="10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6C04B841-EDC0-EB5F-BE89-85C69BE7E6A9}"/>
              </a:ext>
            </a:extLst>
          </p:cNvPr>
          <p:cNvSpPr txBox="1"/>
          <p:nvPr/>
        </p:nvSpPr>
        <p:spPr>
          <a:xfrm>
            <a:off x="7584252" y="4044041"/>
            <a:ext cx="112636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3</a:t>
            </a:r>
            <a:endParaRPr lang="es-PE" sz="1000" dirty="0"/>
          </a:p>
        </p:txBody>
      </p:sp>
      <p:sp>
        <p:nvSpPr>
          <p:cNvPr id="56" name="Google Shape;952;p54">
            <a:extLst>
              <a:ext uri="{FF2B5EF4-FFF2-40B4-BE49-F238E27FC236}">
                <a16:creationId xmlns:a16="http://schemas.microsoft.com/office/drawing/2014/main" id="{8700F9E1-48CD-8A3D-3528-595C00FD5B5E}"/>
              </a:ext>
            </a:extLst>
          </p:cNvPr>
          <p:cNvSpPr/>
          <p:nvPr/>
        </p:nvSpPr>
        <p:spPr>
          <a:xfrm rot="5400000">
            <a:off x="6553570" y="1477063"/>
            <a:ext cx="428002" cy="24973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DB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4711F176-AB37-A630-A1D9-C05B07AAD0B2}"/>
              </a:ext>
            </a:extLst>
          </p:cNvPr>
          <p:cNvSpPr/>
          <p:nvPr/>
        </p:nvSpPr>
        <p:spPr>
          <a:xfrm>
            <a:off x="4791739" y="3813602"/>
            <a:ext cx="1287149" cy="676853"/>
          </a:xfrm>
          <a:prstGeom prst="rect">
            <a:avLst/>
          </a:prstGeom>
          <a:noFill/>
          <a:ln w="31750">
            <a:solidFill>
              <a:srgbClr val="EE4639"/>
            </a:solidFill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5913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13731" y="917233"/>
            <a:ext cx="3886223" cy="37702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ALGORITMO DE MINERÍA DE DATOS</a:t>
            </a: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82563" marR="0" lvl="0" indent="-1825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 </a:t>
            </a:r>
            <a:r>
              <a:rPr kumimoji="0" lang="es-P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algoritmo de minería de datos </a:t>
            </a: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 un conjunto de técnicas para analizar un gran conjunto de datos buscando descubrir patrones y tendencias en los datos.</a:t>
            </a:r>
          </a:p>
          <a:p>
            <a:pPr marL="182563" marR="0" lvl="0" indent="-1825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82563" marR="0" lvl="0" indent="-1825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 algoritmo usa el resultado del análisis para crear un </a:t>
            </a:r>
            <a:r>
              <a:rPr kumimoji="0" lang="es-PE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modelo de minería de datos </a:t>
            </a: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 permita extraer patrones procesables y estadísticas.</a:t>
            </a:r>
          </a:p>
          <a:p>
            <a:pPr marL="182563" marR="0" lvl="0" indent="-1825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82563" marR="0" lvl="0" indent="-1825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Cada algoritmo ejecuta una tarea analítica específica, por lo que para nuestro modelo de minería de datos debemos escoger el algoritmo adecuado para dicha tarea.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644C7C23-6F22-6568-9E49-410D7D86DA69}"/>
              </a:ext>
            </a:extLst>
          </p:cNvPr>
          <p:cNvSpPr/>
          <p:nvPr/>
        </p:nvSpPr>
        <p:spPr>
          <a:xfrm>
            <a:off x="4894976" y="1957957"/>
            <a:ext cx="3780712" cy="826824"/>
          </a:xfrm>
          <a:prstGeom prst="roundRect">
            <a:avLst>
              <a:gd name="adj" fmla="val 7102"/>
            </a:avLst>
          </a:prstGeom>
          <a:solidFill>
            <a:srgbClr val="D2EFF4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2CAEF6E-D356-819B-24FF-8649C6A7CAF1}"/>
              </a:ext>
            </a:extLst>
          </p:cNvPr>
          <p:cNvSpPr/>
          <p:nvPr/>
        </p:nvSpPr>
        <p:spPr>
          <a:xfrm>
            <a:off x="4791739" y="1841029"/>
            <a:ext cx="3978509" cy="1020724"/>
          </a:xfrm>
          <a:prstGeom prst="rect">
            <a:avLst/>
          </a:prstGeom>
          <a:noFill/>
          <a:ln w="31750">
            <a:solidFill>
              <a:srgbClr val="EE4639"/>
            </a:solidFill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6356793-A263-DD38-330E-8A4CA00F5166}"/>
              </a:ext>
            </a:extLst>
          </p:cNvPr>
          <p:cNvSpPr txBox="1"/>
          <p:nvPr/>
        </p:nvSpPr>
        <p:spPr>
          <a:xfrm>
            <a:off x="4747971" y="4788085"/>
            <a:ext cx="3927717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419" sz="1000" b="1" dirty="0">
                <a:solidFill>
                  <a:srgbClr val="7F7F7F"/>
                </a:solidFill>
                <a:latin typeface="Calibri"/>
                <a:cs typeface="Calibri"/>
              </a:rPr>
              <a:t>Imagen tomada de </a:t>
            </a:r>
            <a:r>
              <a:rPr lang="es-419" sz="1000" dirty="0">
                <a:solidFill>
                  <a:srgbClr val="7F7F7F"/>
                </a:solidFill>
                <a:latin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https://learn.microsoft.com/es-es/analysis-services/data-mining/mining-structures-analysis-services-data-mining?view=asallproducts-allversions</a:t>
            </a:r>
            <a:endParaRPr lang="es-419" sz="1000" dirty="0">
              <a:solidFill>
                <a:srgbClr val="7F7F7F"/>
              </a:solidFill>
              <a:latin typeface="Calibri"/>
              <a:cs typeface="Calibri"/>
            </a:endParaRPr>
          </a:p>
        </p:txBody>
      </p:sp>
      <p:sp>
        <p:nvSpPr>
          <p:cNvPr id="10" name="Google Shape;127;p5">
            <a:extLst>
              <a:ext uri="{FF2B5EF4-FFF2-40B4-BE49-F238E27FC236}">
                <a16:creationId xmlns:a16="http://schemas.microsoft.com/office/drawing/2014/main" id="{7E57BD48-665A-A16C-F495-B9A11BFED09B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ELEMENTOS DE UNA SOLUCIÓN DE MINERÍA DE DATOS</a:t>
            </a:r>
            <a:r>
              <a:rPr lang="es-PE" sz="10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3AA2F192-6E1D-6F78-0E98-E63A128C0414}"/>
              </a:ext>
            </a:extLst>
          </p:cNvPr>
          <p:cNvSpPr/>
          <p:nvPr/>
        </p:nvSpPr>
        <p:spPr>
          <a:xfrm>
            <a:off x="4906625" y="3870001"/>
            <a:ext cx="1080658" cy="568042"/>
          </a:xfrm>
          <a:prstGeom prst="roundRect">
            <a:avLst>
              <a:gd name="adj" fmla="val 7102"/>
            </a:avLst>
          </a:prstGeom>
          <a:solidFill>
            <a:srgbClr val="D9DBE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0621E1F3-97F2-366A-B5DA-4FAC6CFEFE0A}"/>
              </a:ext>
            </a:extLst>
          </p:cNvPr>
          <p:cNvSpPr/>
          <p:nvPr/>
        </p:nvSpPr>
        <p:spPr>
          <a:xfrm>
            <a:off x="6263664" y="3870001"/>
            <a:ext cx="1080658" cy="568042"/>
          </a:xfrm>
          <a:prstGeom prst="roundRect">
            <a:avLst>
              <a:gd name="adj" fmla="val 7102"/>
            </a:avLst>
          </a:prstGeom>
          <a:solidFill>
            <a:srgbClr val="D2EFF4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Rectángulo redondeado 14">
            <a:extLst>
              <a:ext uri="{FF2B5EF4-FFF2-40B4-BE49-F238E27FC236}">
                <a16:creationId xmlns:a16="http://schemas.microsoft.com/office/drawing/2014/main" id="{DF879F15-9050-B18D-0AA9-0F3D2CB3FC1C}"/>
              </a:ext>
            </a:extLst>
          </p:cNvPr>
          <p:cNvSpPr/>
          <p:nvPr/>
        </p:nvSpPr>
        <p:spPr>
          <a:xfrm>
            <a:off x="7609055" y="3870001"/>
            <a:ext cx="1080658" cy="568042"/>
          </a:xfrm>
          <a:prstGeom prst="roundRect">
            <a:avLst>
              <a:gd name="adj" fmla="val 7102"/>
            </a:avLst>
          </a:prstGeom>
          <a:solidFill>
            <a:srgbClr val="FFEEB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179C1F6B-DC21-2F90-9032-D178EBE03BE6}"/>
              </a:ext>
            </a:extLst>
          </p:cNvPr>
          <p:cNvSpPr/>
          <p:nvPr/>
        </p:nvSpPr>
        <p:spPr>
          <a:xfrm>
            <a:off x="6167832" y="3447718"/>
            <a:ext cx="1287148" cy="369864"/>
          </a:xfrm>
          <a:prstGeom prst="roundRect">
            <a:avLst>
              <a:gd name="adj" fmla="val 7102"/>
            </a:avLst>
          </a:prstGeom>
          <a:solidFill>
            <a:srgbClr val="DDEFC8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867DC97E-B94D-F49A-A4E3-AD39400A454D}"/>
              </a:ext>
            </a:extLst>
          </p:cNvPr>
          <p:cNvSpPr/>
          <p:nvPr/>
        </p:nvSpPr>
        <p:spPr>
          <a:xfrm>
            <a:off x="4791739" y="3447718"/>
            <a:ext cx="1287148" cy="369864"/>
          </a:xfrm>
          <a:prstGeom prst="roundRect">
            <a:avLst>
              <a:gd name="adj" fmla="val 7102"/>
            </a:avLst>
          </a:prstGeom>
          <a:solidFill>
            <a:srgbClr val="DDEFC8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6DAA3BE3-DDC7-6C5E-2579-5E1BE98250B9}"/>
              </a:ext>
            </a:extLst>
          </p:cNvPr>
          <p:cNvSpPr/>
          <p:nvPr/>
        </p:nvSpPr>
        <p:spPr>
          <a:xfrm>
            <a:off x="4982636" y="2265263"/>
            <a:ext cx="3596713" cy="415133"/>
          </a:xfrm>
          <a:prstGeom prst="roundRect">
            <a:avLst>
              <a:gd name="adj" fmla="val 7102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78A08F4E-D48A-70A0-6B14-001E2BACC385}"/>
              </a:ext>
            </a:extLst>
          </p:cNvPr>
          <p:cNvCxnSpPr/>
          <p:nvPr/>
        </p:nvCxnSpPr>
        <p:spPr>
          <a:xfrm>
            <a:off x="5597060" y="2267282"/>
            <a:ext cx="0" cy="404848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0A3E7CCE-FAE8-BB6F-18F0-AE71EFDC17C7}"/>
              </a:ext>
            </a:extLst>
          </p:cNvPr>
          <p:cNvCxnSpPr/>
          <p:nvPr/>
        </p:nvCxnSpPr>
        <p:spPr>
          <a:xfrm>
            <a:off x="6191129" y="2267282"/>
            <a:ext cx="0" cy="404848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FD5C542A-D153-073C-7814-31CC740DD436}"/>
              </a:ext>
            </a:extLst>
          </p:cNvPr>
          <p:cNvCxnSpPr/>
          <p:nvPr/>
        </p:nvCxnSpPr>
        <p:spPr>
          <a:xfrm>
            <a:off x="6791022" y="2267282"/>
            <a:ext cx="0" cy="404848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614DF78A-0260-B3D3-5394-ED0DD9165BC8}"/>
              </a:ext>
            </a:extLst>
          </p:cNvPr>
          <p:cNvCxnSpPr/>
          <p:nvPr/>
        </p:nvCxnSpPr>
        <p:spPr>
          <a:xfrm>
            <a:off x="7385091" y="2267282"/>
            <a:ext cx="0" cy="404848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B7EFC10-527A-C53C-3DAC-310EF56AF13B}"/>
              </a:ext>
            </a:extLst>
          </p:cNvPr>
          <p:cNvCxnSpPr/>
          <p:nvPr/>
        </p:nvCxnSpPr>
        <p:spPr>
          <a:xfrm>
            <a:off x="7984984" y="2267282"/>
            <a:ext cx="0" cy="404848"/>
          </a:xfrm>
          <a:prstGeom prst="line">
            <a:avLst/>
          </a:prstGeom>
          <a:ln w="12700">
            <a:solidFill>
              <a:schemeClr val="tx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7581F8C5-B3AD-94FD-C207-E0853EDD3183}"/>
              </a:ext>
            </a:extLst>
          </p:cNvPr>
          <p:cNvSpPr/>
          <p:nvPr/>
        </p:nvSpPr>
        <p:spPr>
          <a:xfrm>
            <a:off x="5597060" y="912813"/>
            <a:ext cx="2387924" cy="439214"/>
          </a:xfrm>
          <a:prstGeom prst="roundRect">
            <a:avLst>
              <a:gd name="adj" fmla="val 7102"/>
            </a:avLst>
          </a:prstGeom>
          <a:solidFill>
            <a:srgbClr val="FFEEB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78A216CC-5D8C-4AF7-E280-D678757D0935}"/>
              </a:ext>
            </a:extLst>
          </p:cNvPr>
          <p:cNvCxnSpPr>
            <a:cxnSpLocks/>
          </p:cNvCxnSpPr>
          <p:nvPr/>
        </p:nvCxnSpPr>
        <p:spPr>
          <a:xfrm>
            <a:off x="5220305" y="2680396"/>
            <a:ext cx="0" cy="362766"/>
          </a:xfrm>
          <a:prstGeom prst="line">
            <a:avLst/>
          </a:prstGeom>
          <a:ln w="12700">
            <a:solidFill>
              <a:srgbClr val="00B2C2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53BC8C6-A55A-34F7-A6FC-F3859A54C480}"/>
              </a:ext>
            </a:extLst>
          </p:cNvPr>
          <p:cNvCxnSpPr>
            <a:cxnSpLocks/>
          </p:cNvCxnSpPr>
          <p:nvPr/>
        </p:nvCxnSpPr>
        <p:spPr>
          <a:xfrm>
            <a:off x="5836255" y="2680396"/>
            <a:ext cx="0" cy="362766"/>
          </a:xfrm>
          <a:prstGeom prst="line">
            <a:avLst/>
          </a:prstGeom>
          <a:ln w="12700">
            <a:solidFill>
              <a:srgbClr val="00B2C2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B26D9AAA-3314-87FB-B0D5-904006C2C83B}"/>
              </a:ext>
            </a:extLst>
          </p:cNvPr>
          <p:cNvCxnSpPr>
            <a:cxnSpLocks/>
          </p:cNvCxnSpPr>
          <p:nvPr/>
        </p:nvCxnSpPr>
        <p:spPr>
          <a:xfrm>
            <a:off x="6534755" y="2680396"/>
            <a:ext cx="0" cy="362766"/>
          </a:xfrm>
          <a:prstGeom prst="line">
            <a:avLst/>
          </a:prstGeom>
          <a:ln w="12700">
            <a:solidFill>
              <a:srgbClr val="00B2C2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824335FF-167A-2428-68D8-792C5A86225A}"/>
              </a:ext>
            </a:extLst>
          </p:cNvPr>
          <p:cNvCxnSpPr>
            <a:cxnSpLocks/>
          </p:cNvCxnSpPr>
          <p:nvPr/>
        </p:nvCxnSpPr>
        <p:spPr>
          <a:xfrm>
            <a:off x="7693630" y="2680396"/>
            <a:ext cx="0" cy="362766"/>
          </a:xfrm>
          <a:prstGeom prst="line">
            <a:avLst/>
          </a:prstGeom>
          <a:ln w="12700">
            <a:solidFill>
              <a:srgbClr val="00B2C2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60CE17A9-E493-2D44-8352-BEC1A1A66BDD}"/>
              </a:ext>
            </a:extLst>
          </p:cNvPr>
          <p:cNvCxnSpPr>
            <a:cxnSpLocks/>
          </p:cNvCxnSpPr>
          <p:nvPr/>
        </p:nvCxnSpPr>
        <p:spPr>
          <a:xfrm>
            <a:off x="5220307" y="3042484"/>
            <a:ext cx="2477269" cy="0"/>
          </a:xfrm>
          <a:prstGeom prst="line">
            <a:avLst/>
          </a:prstGeom>
          <a:ln w="12700">
            <a:solidFill>
              <a:srgbClr val="00B2C2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D4EFDB05-A14C-D499-B08C-206D58797450}"/>
              </a:ext>
            </a:extLst>
          </p:cNvPr>
          <p:cNvCxnSpPr>
            <a:cxnSpLocks/>
          </p:cNvCxnSpPr>
          <p:nvPr/>
        </p:nvCxnSpPr>
        <p:spPr>
          <a:xfrm>
            <a:off x="5330991" y="3040813"/>
            <a:ext cx="0" cy="369137"/>
          </a:xfrm>
          <a:prstGeom prst="line">
            <a:avLst/>
          </a:prstGeom>
          <a:ln w="12700">
            <a:solidFill>
              <a:srgbClr val="00B2C2"/>
            </a:solidFill>
            <a:tailEnd type="triangle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C891252B-6214-9811-8DAC-EC5647299D3C}"/>
              </a:ext>
            </a:extLst>
          </p:cNvPr>
          <p:cNvCxnSpPr>
            <a:cxnSpLocks/>
          </p:cNvCxnSpPr>
          <p:nvPr/>
        </p:nvCxnSpPr>
        <p:spPr>
          <a:xfrm>
            <a:off x="5318730" y="2680396"/>
            <a:ext cx="0" cy="275529"/>
          </a:xfrm>
          <a:prstGeom prst="line">
            <a:avLst/>
          </a:prstGeom>
          <a:ln w="12700">
            <a:solidFill>
              <a:srgbClr val="EE4639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2C3F463D-7EFF-88AA-AD64-A008EFEB7882}"/>
              </a:ext>
            </a:extLst>
          </p:cNvPr>
          <p:cNvCxnSpPr>
            <a:cxnSpLocks/>
          </p:cNvCxnSpPr>
          <p:nvPr/>
        </p:nvCxnSpPr>
        <p:spPr>
          <a:xfrm>
            <a:off x="6426805" y="2680396"/>
            <a:ext cx="0" cy="275529"/>
          </a:xfrm>
          <a:prstGeom prst="line">
            <a:avLst/>
          </a:prstGeom>
          <a:ln w="12700">
            <a:solidFill>
              <a:srgbClr val="EE4639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F859D325-45C3-FD39-7181-E8D4DBB9B16F}"/>
              </a:ext>
            </a:extLst>
          </p:cNvPr>
          <p:cNvCxnSpPr>
            <a:cxnSpLocks/>
          </p:cNvCxnSpPr>
          <p:nvPr/>
        </p:nvCxnSpPr>
        <p:spPr>
          <a:xfrm>
            <a:off x="7084030" y="2680396"/>
            <a:ext cx="0" cy="275529"/>
          </a:xfrm>
          <a:prstGeom prst="line">
            <a:avLst/>
          </a:prstGeom>
          <a:ln w="12700">
            <a:solidFill>
              <a:srgbClr val="EE4639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BE7A1BE1-E776-ED23-C7C6-171F91F1EA9B}"/>
              </a:ext>
            </a:extLst>
          </p:cNvPr>
          <p:cNvCxnSpPr>
            <a:cxnSpLocks/>
          </p:cNvCxnSpPr>
          <p:nvPr/>
        </p:nvCxnSpPr>
        <p:spPr>
          <a:xfrm>
            <a:off x="8290530" y="2680396"/>
            <a:ext cx="0" cy="275529"/>
          </a:xfrm>
          <a:prstGeom prst="line">
            <a:avLst/>
          </a:prstGeom>
          <a:ln w="12700">
            <a:solidFill>
              <a:srgbClr val="EE4639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F03AB249-DD46-2FA3-AE62-C832A649D9E3}"/>
              </a:ext>
            </a:extLst>
          </p:cNvPr>
          <p:cNvCxnSpPr>
            <a:cxnSpLocks/>
          </p:cNvCxnSpPr>
          <p:nvPr/>
        </p:nvCxnSpPr>
        <p:spPr>
          <a:xfrm>
            <a:off x="5314726" y="2955925"/>
            <a:ext cx="2975804" cy="0"/>
          </a:xfrm>
          <a:prstGeom prst="line">
            <a:avLst/>
          </a:prstGeom>
          <a:ln w="12700">
            <a:solidFill>
              <a:srgbClr val="EE4639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DD4956F0-790A-768B-46B8-ABA9464CCD8F}"/>
              </a:ext>
            </a:extLst>
          </p:cNvPr>
          <p:cNvCxnSpPr>
            <a:cxnSpLocks/>
          </p:cNvCxnSpPr>
          <p:nvPr/>
        </p:nvCxnSpPr>
        <p:spPr>
          <a:xfrm>
            <a:off x="8144041" y="2955925"/>
            <a:ext cx="0" cy="861657"/>
          </a:xfrm>
          <a:prstGeom prst="line">
            <a:avLst/>
          </a:prstGeom>
          <a:ln w="12700">
            <a:solidFill>
              <a:srgbClr val="EE4639"/>
            </a:solidFill>
            <a:tailEnd type="triangle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22C988D9-FD44-9F11-F108-D619C57246BD}"/>
              </a:ext>
            </a:extLst>
          </p:cNvPr>
          <p:cNvCxnSpPr>
            <a:cxnSpLocks/>
          </p:cNvCxnSpPr>
          <p:nvPr/>
        </p:nvCxnSpPr>
        <p:spPr>
          <a:xfrm>
            <a:off x="5410805" y="2680396"/>
            <a:ext cx="0" cy="466029"/>
          </a:xfrm>
          <a:prstGeom prst="line">
            <a:avLst/>
          </a:prstGeom>
          <a:ln w="12700">
            <a:solidFill>
              <a:srgbClr val="FEC21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3EE798FB-D786-469D-9582-D9112D6B88BA}"/>
              </a:ext>
            </a:extLst>
          </p:cNvPr>
          <p:cNvCxnSpPr>
            <a:cxnSpLocks/>
          </p:cNvCxnSpPr>
          <p:nvPr/>
        </p:nvCxnSpPr>
        <p:spPr>
          <a:xfrm>
            <a:off x="5944205" y="2680396"/>
            <a:ext cx="0" cy="466029"/>
          </a:xfrm>
          <a:prstGeom prst="line">
            <a:avLst/>
          </a:prstGeom>
          <a:ln w="12700">
            <a:solidFill>
              <a:srgbClr val="FEC21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90A13373-E217-09D4-B3BF-FAC3620AE966}"/>
              </a:ext>
            </a:extLst>
          </p:cNvPr>
          <p:cNvCxnSpPr>
            <a:cxnSpLocks/>
          </p:cNvCxnSpPr>
          <p:nvPr/>
        </p:nvCxnSpPr>
        <p:spPr>
          <a:xfrm>
            <a:off x="6642705" y="2680396"/>
            <a:ext cx="0" cy="466029"/>
          </a:xfrm>
          <a:prstGeom prst="line">
            <a:avLst/>
          </a:prstGeom>
          <a:ln w="12700">
            <a:solidFill>
              <a:srgbClr val="FEC21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3FC77C05-48AB-A58F-254B-1C6E28B941CC}"/>
              </a:ext>
            </a:extLst>
          </p:cNvPr>
          <p:cNvCxnSpPr>
            <a:cxnSpLocks/>
          </p:cNvCxnSpPr>
          <p:nvPr/>
        </p:nvCxnSpPr>
        <p:spPr>
          <a:xfrm>
            <a:off x="7785705" y="2680396"/>
            <a:ext cx="0" cy="466029"/>
          </a:xfrm>
          <a:prstGeom prst="line">
            <a:avLst/>
          </a:prstGeom>
          <a:ln w="12700">
            <a:solidFill>
              <a:srgbClr val="FEC21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EA881A1F-E5DC-877E-6D01-6C9C27D7DE9C}"/>
              </a:ext>
            </a:extLst>
          </p:cNvPr>
          <p:cNvCxnSpPr>
            <a:cxnSpLocks/>
          </p:cNvCxnSpPr>
          <p:nvPr/>
        </p:nvCxnSpPr>
        <p:spPr>
          <a:xfrm>
            <a:off x="5407497" y="3146425"/>
            <a:ext cx="2378208" cy="0"/>
          </a:xfrm>
          <a:prstGeom prst="line">
            <a:avLst/>
          </a:prstGeom>
          <a:ln w="12700">
            <a:solidFill>
              <a:srgbClr val="FEC211"/>
            </a:solidFill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09513632-F03D-AA04-AC7D-F8EB2885841F}"/>
              </a:ext>
            </a:extLst>
          </p:cNvPr>
          <p:cNvCxnSpPr>
            <a:cxnSpLocks/>
          </p:cNvCxnSpPr>
          <p:nvPr/>
        </p:nvCxnSpPr>
        <p:spPr>
          <a:xfrm>
            <a:off x="6797841" y="3146425"/>
            <a:ext cx="0" cy="263525"/>
          </a:xfrm>
          <a:prstGeom prst="line">
            <a:avLst/>
          </a:prstGeom>
          <a:ln w="12700">
            <a:solidFill>
              <a:srgbClr val="FEC211"/>
            </a:solidFill>
            <a:tailEnd type="triangle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A1E84052-B08A-12DE-6D75-6D01A232733E}"/>
              </a:ext>
            </a:extLst>
          </p:cNvPr>
          <p:cNvSpPr txBox="1"/>
          <p:nvPr/>
        </p:nvSpPr>
        <p:spPr>
          <a:xfrm>
            <a:off x="6093072" y="1025121"/>
            <a:ext cx="137179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Source</a:t>
            </a:r>
            <a:endParaRPr lang="es-PE" sz="1200" b="1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F8C58992-E99E-0729-A82F-5F155B276DE1}"/>
              </a:ext>
            </a:extLst>
          </p:cNvPr>
          <p:cNvSpPr txBox="1"/>
          <p:nvPr/>
        </p:nvSpPr>
        <p:spPr>
          <a:xfrm>
            <a:off x="4965037" y="2386392"/>
            <a:ext cx="61937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 ID</a:t>
            </a:r>
            <a:endParaRPr lang="es-PE" sz="1000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ED376FFB-1DF4-94E3-DB42-E9012746D7E0}"/>
              </a:ext>
            </a:extLst>
          </p:cNvPr>
          <p:cNvSpPr txBox="1"/>
          <p:nvPr/>
        </p:nvSpPr>
        <p:spPr>
          <a:xfrm>
            <a:off x="5589506" y="2386392"/>
            <a:ext cx="61937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</a:t>
            </a:r>
            <a:endParaRPr lang="es-PE" sz="100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DDEEE936-03AB-A7E9-E0DF-BF4C44093218}"/>
              </a:ext>
            </a:extLst>
          </p:cNvPr>
          <p:cNvSpPr txBox="1"/>
          <p:nvPr/>
        </p:nvSpPr>
        <p:spPr>
          <a:xfrm>
            <a:off x="6176804" y="2386392"/>
            <a:ext cx="61937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</a:t>
            </a:r>
            <a:endParaRPr lang="es-PE" sz="1000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A557DDCB-E352-01CF-0741-C7D51CC1A055}"/>
              </a:ext>
            </a:extLst>
          </p:cNvPr>
          <p:cNvSpPr txBox="1"/>
          <p:nvPr/>
        </p:nvSpPr>
        <p:spPr>
          <a:xfrm>
            <a:off x="6778970" y="2386392"/>
            <a:ext cx="61937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Gender</a:t>
            </a:r>
            <a:endParaRPr lang="es-PE" sz="10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174E4C0-A057-DD78-B4F0-C8D6C80458E3}"/>
              </a:ext>
            </a:extLst>
          </p:cNvPr>
          <p:cNvSpPr txBox="1"/>
          <p:nvPr/>
        </p:nvSpPr>
        <p:spPr>
          <a:xfrm>
            <a:off x="7373702" y="2386392"/>
            <a:ext cx="61937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</a:t>
            </a:r>
            <a:endParaRPr lang="es-PE" sz="1000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9FECF1E0-C197-4799-931D-367D21BD5957}"/>
              </a:ext>
            </a:extLst>
          </p:cNvPr>
          <p:cNvSpPr txBox="1"/>
          <p:nvPr/>
        </p:nvSpPr>
        <p:spPr>
          <a:xfrm>
            <a:off x="7983302" y="2321740"/>
            <a:ext cx="619372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Nested Table</a:t>
            </a:r>
            <a:endParaRPr lang="es-PE" sz="10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C43CF8C7-A976-F0F1-4CEB-EEBA68A6461C}"/>
              </a:ext>
            </a:extLst>
          </p:cNvPr>
          <p:cNvSpPr txBox="1"/>
          <p:nvPr/>
        </p:nvSpPr>
        <p:spPr>
          <a:xfrm>
            <a:off x="6093072" y="2006429"/>
            <a:ext cx="137179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Mining Structure</a:t>
            </a:r>
            <a:endParaRPr lang="es-PE" sz="1200" b="1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B51E2555-3BEA-1B4D-0964-D877D827739F}"/>
              </a:ext>
            </a:extLst>
          </p:cNvPr>
          <p:cNvSpPr txBox="1"/>
          <p:nvPr/>
        </p:nvSpPr>
        <p:spPr>
          <a:xfrm>
            <a:off x="4872674" y="3486646"/>
            <a:ext cx="112636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</a:t>
            </a:r>
          </a:p>
          <a:p>
            <a:pPr algn="ctr"/>
            <a:r>
              <a:rPr lang="es-PE" sz="1000" dirty="0">
                <a:latin typeface="Calibri" panose="020F0502020204030204" pitchFamily="34" charset="0"/>
                <a:cs typeface="Calibri" panose="020F0502020204030204" pitchFamily="34" charset="0"/>
              </a:rPr>
              <a:t>“Regio=Europe”</a:t>
            </a:r>
            <a:endParaRPr lang="es-PE" sz="10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A29C117C-4F22-CE5C-72FD-17111B3ACBB2}"/>
              </a:ext>
            </a:extLst>
          </p:cNvPr>
          <p:cNvSpPr txBox="1"/>
          <p:nvPr/>
        </p:nvSpPr>
        <p:spPr>
          <a:xfrm>
            <a:off x="6233123" y="3545898"/>
            <a:ext cx="112636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 </a:t>
            </a:r>
            <a:r>
              <a:rPr lang="es-PE" sz="1000" dirty="0">
                <a:latin typeface="Calibri" panose="020F0502020204030204" pitchFamily="34" charset="0"/>
                <a:cs typeface="Calibri" panose="020F0502020204030204" pitchFamily="34" charset="0"/>
              </a:rPr>
              <a:t>“Age&gt;30”</a:t>
            </a:r>
            <a:endParaRPr lang="es-PE" sz="1000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121F81FF-B2BE-E4E9-B420-85413A244C2C}"/>
              </a:ext>
            </a:extLst>
          </p:cNvPr>
          <p:cNvSpPr txBox="1"/>
          <p:nvPr/>
        </p:nvSpPr>
        <p:spPr>
          <a:xfrm>
            <a:off x="6253595" y="4044041"/>
            <a:ext cx="112636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2</a:t>
            </a:r>
            <a:endParaRPr lang="es-PE" sz="100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EF7D5DCA-0EBD-3D92-9DAE-B9B898CD39B0}"/>
              </a:ext>
            </a:extLst>
          </p:cNvPr>
          <p:cNvSpPr txBox="1"/>
          <p:nvPr/>
        </p:nvSpPr>
        <p:spPr>
          <a:xfrm>
            <a:off x="4888819" y="4044041"/>
            <a:ext cx="112636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1</a:t>
            </a:r>
            <a:endParaRPr lang="es-PE" sz="10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5CECBB6F-BE8D-033C-5FC7-5C15D9F00A72}"/>
              </a:ext>
            </a:extLst>
          </p:cNvPr>
          <p:cNvSpPr txBox="1"/>
          <p:nvPr/>
        </p:nvSpPr>
        <p:spPr>
          <a:xfrm>
            <a:off x="7584252" y="4044041"/>
            <a:ext cx="112636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3</a:t>
            </a:r>
            <a:endParaRPr lang="es-PE" sz="1000" dirty="0"/>
          </a:p>
        </p:txBody>
      </p:sp>
      <p:sp>
        <p:nvSpPr>
          <p:cNvPr id="56" name="Google Shape;952;p54">
            <a:extLst>
              <a:ext uri="{FF2B5EF4-FFF2-40B4-BE49-F238E27FC236}">
                <a16:creationId xmlns:a16="http://schemas.microsoft.com/office/drawing/2014/main" id="{D100D771-E263-1812-50C6-E7249A20F837}"/>
              </a:ext>
            </a:extLst>
          </p:cNvPr>
          <p:cNvSpPr/>
          <p:nvPr/>
        </p:nvSpPr>
        <p:spPr>
          <a:xfrm rot="5400000">
            <a:off x="6553570" y="1477063"/>
            <a:ext cx="428002" cy="24973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DB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828736EA-2B68-9743-CAFD-1EEA99B7BD7E}"/>
              </a:ext>
            </a:extLst>
          </p:cNvPr>
          <p:cNvSpPr/>
          <p:nvPr/>
        </p:nvSpPr>
        <p:spPr>
          <a:xfrm>
            <a:off x="4791739" y="3813602"/>
            <a:ext cx="1287149" cy="676853"/>
          </a:xfrm>
          <a:prstGeom prst="rect">
            <a:avLst/>
          </a:prstGeom>
          <a:noFill/>
          <a:ln w="31750">
            <a:solidFill>
              <a:srgbClr val="EE4639"/>
            </a:solidFill>
          </a:ln>
          <a:effectLst>
            <a:outerShdw dist="23000"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7089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4;p10">
            <a:extLst>
              <a:ext uri="{FF2B5EF4-FFF2-40B4-BE49-F238E27FC236}">
                <a16:creationId xmlns:a16="http://schemas.microsoft.com/office/drawing/2014/main" id="{880A8C36-3AB3-DEE3-3FB3-35C7792347A9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75;p10">
            <a:extLst>
              <a:ext uri="{FF2B5EF4-FFF2-40B4-BE49-F238E27FC236}">
                <a16:creationId xmlns:a16="http://schemas.microsoft.com/office/drawing/2014/main" id="{1AC88C68-E054-D1C2-C5AF-9B79C3D8C6B0}"/>
              </a:ext>
            </a:extLst>
          </p:cNvPr>
          <p:cNvSpPr txBox="1"/>
          <p:nvPr/>
        </p:nvSpPr>
        <p:spPr>
          <a:xfrm>
            <a:off x="1008063" y="3157860"/>
            <a:ext cx="5993558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s-PE" sz="2800" dirty="0">
                <a:solidFill>
                  <a:schemeClr val="lt1"/>
                </a:solidFill>
                <a:latin typeface="Graphik Regular" panose="020B0503030202060203" pitchFamily="34" charset="77"/>
              </a:rPr>
              <a:t>ALGORITMOS  Y 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 b="1" dirty="0">
                <a:solidFill>
                  <a:schemeClr val="lt1"/>
                </a:solidFill>
                <a:latin typeface="Graphik Bold" panose="020B0503030202060203" pitchFamily="34" charset="77"/>
              </a:rPr>
              <a:t>ESTRUCTURAS </a:t>
            </a:r>
            <a:br>
              <a:rPr lang="es-PE" sz="2800" b="1" dirty="0">
                <a:solidFill>
                  <a:schemeClr val="lt1"/>
                </a:solidFill>
                <a:latin typeface="Graphik Bold" panose="020B0503030202060203" pitchFamily="34" charset="77"/>
              </a:rPr>
            </a:br>
            <a:r>
              <a:rPr lang="es-PE" sz="2800" b="1" dirty="0">
                <a:solidFill>
                  <a:schemeClr val="lt1"/>
                </a:solidFill>
                <a:latin typeface="Graphik Bold" panose="020B0503030202060203" pitchFamily="34" charset="77"/>
              </a:rPr>
              <a:t>DE MINERÍA DE DATOS</a:t>
            </a:r>
          </a:p>
        </p:txBody>
      </p:sp>
      <p:pic>
        <p:nvPicPr>
          <p:cNvPr id="5" name="Google Shape;176;p10">
            <a:extLst>
              <a:ext uri="{FF2B5EF4-FFF2-40B4-BE49-F238E27FC236}">
                <a16:creationId xmlns:a16="http://schemas.microsoft.com/office/drawing/2014/main" id="{E2192266-EFAF-F2E7-9A96-2CE1182CD72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8063" y="2857500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47991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4FC732B2-A0D1-8EFA-0E86-D82462EE4767}"/>
              </a:ext>
            </a:extLst>
          </p:cNvPr>
          <p:cNvSpPr txBox="1"/>
          <p:nvPr/>
        </p:nvSpPr>
        <p:spPr>
          <a:xfrm>
            <a:off x="4767263" y="912813"/>
            <a:ext cx="3889375" cy="35051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s-PE" sz="1600" b="1" dirty="0">
                <a:latin typeface="Calibri" panose="020F0502020204030204" pitchFamily="34" charset="0"/>
                <a:cs typeface="Calibri" panose="020F0502020204030204" pitchFamily="34" charset="0"/>
              </a:rPr>
              <a:t>ALGORITMOS DE ASOCIACIÓN</a:t>
            </a:r>
            <a:endParaRPr lang="es-419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419" sz="1400" dirty="0">
                <a:latin typeface="Calibri" panose="020F0502020204030204" pitchFamily="34" charset="0"/>
                <a:cs typeface="Calibri" panose="020F0502020204030204" pitchFamily="34" charset="0"/>
              </a:rPr>
              <a:t>Buscan relaciones dentro de un conjunto de transacciones; es decir, identifican valores que tienden a presentarse juntos con bastante frecuencia.</a:t>
            </a:r>
          </a:p>
          <a:p>
            <a:endParaRPr lang="es-419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419" sz="1400" b="1" dirty="0">
                <a:latin typeface="Calibri" panose="020F0502020204030204" pitchFamily="34" charset="0"/>
                <a:cs typeface="Calibri" panose="020F0502020204030204" pitchFamily="34" charset="0"/>
              </a:rPr>
              <a:t>ALGORITMO A PRIORI</a:t>
            </a:r>
          </a:p>
          <a:p>
            <a:pPr marL="179388" indent="-179388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419" sz="1400" dirty="0">
                <a:latin typeface="Calibri" panose="020F0502020204030204" pitchFamily="34" charset="0"/>
                <a:cs typeface="Calibri" panose="020F0502020204030204" pitchFamily="34" charset="0"/>
              </a:rPr>
              <a:t>Se utiliza sobre bases de datos transaccionales y permite encontrar “conjuntos de ítems frecuentes” que se utilizan como base para generar las reglas de asociación.</a:t>
            </a:r>
          </a:p>
          <a:p>
            <a:pPr marL="179388" indent="-179388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419" sz="1400" dirty="0">
                <a:latin typeface="Calibri" panose="020F0502020204030204" pitchFamily="34" charset="0"/>
                <a:cs typeface="Calibri" panose="020F0502020204030204" pitchFamily="34" charset="0"/>
              </a:rPr>
              <a:t>Cada transacción es vista como un conjunto de ítems. Identifica dentro del conjunto de ítems, subconjuntos de ítems que aparecen con bastante frecuencia.</a:t>
            </a:r>
          </a:p>
          <a:p>
            <a:pPr marL="179388" indent="-179388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419" sz="1400" b="1" dirty="0">
                <a:latin typeface="Calibri" panose="020F0502020204030204" pitchFamily="34" charset="0"/>
                <a:cs typeface="Calibri" panose="020F0502020204030204" pitchFamily="34" charset="0"/>
              </a:rPr>
              <a:t>Ejemplo: </a:t>
            </a:r>
            <a:r>
              <a:rPr lang="es-419" sz="1400" dirty="0">
                <a:latin typeface="Calibri" panose="020F0502020204030204" pitchFamily="34" charset="0"/>
                <a:cs typeface="Calibri" panose="020F0502020204030204" pitchFamily="34" charset="0"/>
              </a:rPr>
              <a:t>carrito de compras en supermercado.  </a:t>
            </a:r>
            <a:endParaRPr lang="es-E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127;p5">
            <a:extLst>
              <a:ext uri="{FF2B5EF4-FFF2-40B4-BE49-F238E27FC236}">
                <a16:creationId xmlns:a16="http://schemas.microsoft.com/office/drawing/2014/main" id="{42829DC7-72FD-51FF-ABF0-42E577025846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ALGORITMOS Y ESTRUCTURAS DE MINERÍA DE DATOS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86664CC-8B8E-4155-170C-8A18BCFFE8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732" t="-18442" b="-1"/>
          <a:stretch/>
        </p:blipFill>
        <p:spPr>
          <a:xfrm flipH="1">
            <a:off x="-9171" y="1"/>
            <a:ext cx="4401784" cy="5862272"/>
          </a:xfrm>
          <a:prstGeom prst="rect">
            <a:avLst/>
          </a:prstGeom>
          <a:solidFill>
            <a:srgbClr val="FFD039"/>
          </a:solidFill>
        </p:spPr>
      </p:pic>
    </p:spTree>
    <p:extLst>
      <p:ext uri="{BB962C8B-B14F-4D97-AF65-F5344CB8AC3E}">
        <p14:creationId xmlns:p14="http://schemas.microsoft.com/office/powerpoint/2010/main" val="3714540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4FC732B2-A0D1-8EFA-0E86-D82462EE4767}"/>
              </a:ext>
            </a:extLst>
          </p:cNvPr>
          <p:cNvSpPr txBox="1"/>
          <p:nvPr/>
        </p:nvSpPr>
        <p:spPr>
          <a:xfrm>
            <a:off x="503238" y="910134"/>
            <a:ext cx="8011580" cy="169849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s-PE" sz="1600" b="1" dirty="0">
                <a:latin typeface="Calibri" panose="020F0502020204030204" pitchFamily="34" charset="0"/>
                <a:cs typeface="Calibri" panose="020F0502020204030204" pitchFamily="34" charset="0"/>
              </a:rPr>
              <a:t>ALGORITMOS DE AGRUPAMIENTO (CLUSTERING)</a:t>
            </a:r>
            <a:endParaRPr lang="es-419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s-419" sz="1400" dirty="0">
                <a:latin typeface="Calibri" panose="020F0502020204030204" pitchFamily="34" charset="0"/>
                <a:cs typeface="Calibri" panose="020F0502020204030204" pitchFamily="34" charset="0"/>
              </a:rPr>
              <a:t>Agrupan todas las transacciones que tienen el mismo comportamiento, o similares características. Facilitan la segmentación de las transacciones.</a:t>
            </a:r>
          </a:p>
          <a:p>
            <a:r>
              <a:rPr lang="es-419" sz="1400" b="1" dirty="0">
                <a:latin typeface="Calibri" panose="020F0502020204030204" pitchFamily="34" charset="0"/>
                <a:cs typeface="Calibri" panose="020F0502020204030204" pitchFamily="34" charset="0"/>
              </a:rPr>
              <a:t>Algoritmo K-</a:t>
            </a:r>
            <a:r>
              <a:rPr lang="es-419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means</a:t>
            </a:r>
            <a:endParaRPr lang="es-419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s-419" sz="1400" dirty="0">
                <a:latin typeface="Calibri" panose="020F0502020204030204" pitchFamily="34" charset="0"/>
                <a:cs typeface="Calibri" panose="020F0502020204030204" pitchFamily="34" charset="0"/>
              </a:rPr>
              <a:t>Algoritmo basado en centroides. El centroide está representado por la media aritmética de los datos.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s-419" sz="1400" dirty="0">
                <a:latin typeface="Calibri" panose="020F0502020204030204" pitchFamily="34" charset="0"/>
                <a:cs typeface="Calibri" panose="020F0502020204030204" pitchFamily="34" charset="0"/>
              </a:rPr>
              <a:t>El algoritmo utiliza múltiples centroides.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s-419" sz="1400" dirty="0">
                <a:latin typeface="Calibri" panose="020F0502020204030204" pitchFamily="34" charset="0"/>
                <a:cs typeface="Calibri" panose="020F0502020204030204" pitchFamily="34" charset="0"/>
              </a:rPr>
              <a:t>Cada dato se asigna a un grupo en función de su distancia al cuadrado del centroide.</a:t>
            </a:r>
          </a:p>
        </p:txBody>
      </p:sp>
      <p:sp>
        <p:nvSpPr>
          <p:cNvPr id="2" name="Google Shape;127;p5">
            <a:extLst>
              <a:ext uri="{FF2B5EF4-FFF2-40B4-BE49-F238E27FC236}">
                <a16:creationId xmlns:a16="http://schemas.microsoft.com/office/drawing/2014/main" id="{88D55012-E568-5EF2-EEAC-0C1C7E85D1F1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ALGORITMOS Y ESTRUCTURAS DE MINERÍA DE DATOS</a:t>
            </a:r>
            <a:endParaRPr dirty="0"/>
          </a:p>
        </p:txBody>
      </p:sp>
      <p:grpSp>
        <p:nvGrpSpPr>
          <p:cNvPr id="79" name="Grupo 78">
            <a:extLst>
              <a:ext uri="{FF2B5EF4-FFF2-40B4-BE49-F238E27FC236}">
                <a16:creationId xmlns:a16="http://schemas.microsoft.com/office/drawing/2014/main" id="{48ADE95C-7B6B-8551-D263-56934F9692A1}"/>
              </a:ext>
            </a:extLst>
          </p:cNvPr>
          <p:cNvGrpSpPr/>
          <p:nvPr/>
        </p:nvGrpSpPr>
        <p:grpSpPr>
          <a:xfrm>
            <a:off x="1269760" y="2857500"/>
            <a:ext cx="6478536" cy="2442237"/>
            <a:chOff x="4871200" y="1436561"/>
            <a:chExt cx="4215221" cy="1589027"/>
          </a:xfrm>
        </p:grpSpPr>
        <p:sp>
          <p:nvSpPr>
            <p:cNvPr id="8" name="Cruz 7">
              <a:extLst>
                <a:ext uri="{FF2B5EF4-FFF2-40B4-BE49-F238E27FC236}">
                  <a16:creationId xmlns:a16="http://schemas.microsoft.com/office/drawing/2014/main" id="{AD755D3B-2969-9AF1-442C-E203593E5438}"/>
                </a:ext>
              </a:extLst>
            </p:cNvPr>
            <p:cNvSpPr/>
            <p:nvPr/>
          </p:nvSpPr>
          <p:spPr>
            <a:xfrm>
              <a:off x="5954246" y="1853640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Cruz 8">
              <a:extLst>
                <a:ext uri="{FF2B5EF4-FFF2-40B4-BE49-F238E27FC236}">
                  <a16:creationId xmlns:a16="http://schemas.microsoft.com/office/drawing/2014/main" id="{4F562F2F-0A5E-CF48-BF04-1F75F7607DB1}"/>
                </a:ext>
              </a:extLst>
            </p:cNvPr>
            <p:cNvSpPr/>
            <p:nvPr/>
          </p:nvSpPr>
          <p:spPr>
            <a:xfrm>
              <a:off x="5836584" y="1954492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" name="Cruz 10">
              <a:extLst>
                <a:ext uri="{FF2B5EF4-FFF2-40B4-BE49-F238E27FC236}">
                  <a16:creationId xmlns:a16="http://schemas.microsoft.com/office/drawing/2014/main" id="{B0C2FDA9-78C2-FD6C-81CD-09BA905EA1AD}"/>
                </a:ext>
              </a:extLst>
            </p:cNvPr>
            <p:cNvSpPr/>
            <p:nvPr/>
          </p:nvSpPr>
          <p:spPr>
            <a:xfrm>
              <a:off x="6088716" y="1951130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" name="Cruz 11">
              <a:extLst>
                <a:ext uri="{FF2B5EF4-FFF2-40B4-BE49-F238E27FC236}">
                  <a16:creationId xmlns:a16="http://schemas.microsoft.com/office/drawing/2014/main" id="{C2FC4970-787A-8134-9B9C-DC63D72FF478}"/>
                </a:ext>
              </a:extLst>
            </p:cNvPr>
            <p:cNvSpPr/>
            <p:nvPr/>
          </p:nvSpPr>
          <p:spPr>
            <a:xfrm>
              <a:off x="5987863" y="2045260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3" name="Cruz 12">
              <a:extLst>
                <a:ext uri="{FF2B5EF4-FFF2-40B4-BE49-F238E27FC236}">
                  <a16:creationId xmlns:a16="http://schemas.microsoft.com/office/drawing/2014/main" id="{690B4C46-B8CE-1C3B-777B-643DAE2288F9}"/>
                </a:ext>
              </a:extLst>
            </p:cNvPr>
            <p:cNvSpPr/>
            <p:nvPr/>
          </p:nvSpPr>
          <p:spPr>
            <a:xfrm>
              <a:off x="5887010" y="2088963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4" name="Cruz 13">
              <a:extLst>
                <a:ext uri="{FF2B5EF4-FFF2-40B4-BE49-F238E27FC236}">
                  <a16:creationId xmlns:a16="http://schemas.microsoft.com/office/drawing/2014/main" id="{3B115533-0A89-482D-43DC-4436C79E5FEE}"/>
                </a:ext>
              </a:extLst>
            </p:cNvPr>
            <p:cNvSpPr/>
            <p:nvPr/>
          </p:nvSpPr>
          <p:spPr>
            <a:xfrm>
              <a:off x="5950883" y="2183093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5" name="Cruz 14">
              <a:extLst>
                <a:ext uri="{FF2B5EF4-FFF2-40B4-BE49-F238E27FC236}">
                  <a16:creationId xmlns:a16="http://schemas.microsoft.com/office/drawing/2014/main" id="{1559B963-6E54-ADC2-9C67-B144BE6655A8}"/>
                </a:ext>
              </a:extLst>
            </p:cNvPr>
            <p:cNvSpPr/>
            <p:nvPr/>
          </p:nvSpPr>
          <p:spPr>
            <a:xfrm>
              <a:off x="5722283" y="2102411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6" name="Cruz 15">
              <a:extLst>
                <a:ext uri="{FF2B5EF4-FFF2-40B4-BE49-F238E27FC236}">
                  <a16:creationId xmlns:a16="http://schemas.microsoft.com/office/drawing/2014/main" id="{6EFDB790-344C-0284-D6EE-9F16E25EC89D}"/>
                </a:ext>
              </a:extLst>
            </p:cNvPr>
            <p:cNvSpPr/>
            <p:nvPr/>
          </p:nvSpPr>
          <p:spPr>
            <a:xfrm>
              <a:off x="5631516" y="2041899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7" name="Cruz 16">
              <a:extLst>
                <a:ext uri="{FF2B5EF4-FFF2-40B4-BE49-F238E27FC236}">
                  <a16:creationId xmlns:a16="http://schemas.microsoft.com/office/drawing/2014/main" id="{6C98D0D0-6EC0-EB73-4A95-733C869116F2}"/>
                </a:ext>
              </a:extLst>
            </p:cNvPr>
            <p:cNvSpPr/>
            <p:nvPr/>
          </p:nvSpPr>
          <p:spPr>
            <a:xfrm>
              <a:off x="5755901" y="2250328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8" name="Cruz 17">
              <a:extLst>
                <a:ext uri="{FF2B5EF4-FFF2-40B4-BE49-F238E27FC236}">
                  <a16:creationId xmlns:a16="http://schemas.microsoft.com/office/drawing/2014/main" id="{9EB186CE-DBAB-9B2A-D8A8-D5AD1FE38149}"/>
                </a:ext>
              </a:extLst>
            </p:cNvPr>
            <p:cNvSpPr/>
            <p:nvPr/>
          </p:nvSpPr>
          <p:spPr>
            <a:xfrm>
              <a:off x="5490321" y="2273860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9" name="Cruz 18">
              <a:extLst>
                <a:ext uri="{FF2B5EF4-FFF2-40B4-BE49-F238E27FC236}">
                  <a16:creationId xmlns:a16="http://schemas.microsoft.com/office/drawing/2014/main" id="{28C938B1-75EA-ED04-578F-C73DA5E7BCEF}"/>
                </a:ext>
              </a:extLst>
            </p:cNvPr>
            <p:cNvSpPr/>
            <p:nvPr/>
          </p:nvSpPr>
          <p:spPr>
            <a:xfrm>
              <a:off x="5281892" y="2283945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0" name="Cruz 19">
              <a:extLst>
                <a:ext uri="{FF2B5EF4-FFF2-40B4-BE49-F238E27FC236}">
                  <a16:creationId xmlns:a16="http://schemas.microsoft.com/office/drawing/2014/main" id="{2ED9A7C1-EEC3-D4F2-86A7-360B1EE0A528}"/>
                </a:ext>
              </a:extLst>
            </p:cNvPr>
            <p:cNvSpPr/>
            <p:nvPr/>
          </p:nvSpPr>
          <p:spPr>
            <a:xfrm>
              <a:off x="5144059" y="2378075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1" name="Cruz 20">
              <a:extLst>
                <a:ext uri="{FF2B5EF4-FFF2-40B4-BE49-F238E27FC236}">
                  <a16:creationId xmlns:a16="http://schemas.microsoft.com/office/drawing/2014/main" id="{C2A92B75-F613-4BE7-53B4-EBE6FF611FC4}"/>
                </a:ext>
              </a:extLst>
            </p:cNvPr>
            <p:cNvSpPr/>
            <p:nvPr/>
          </p:nvSpPr>
          <p:spPr>
            <a:xfrm>
              <a:off x="5362574" y="2411692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2" name="Cruz 21">
              <a:extLst>
                <a:ext uri="{FF2B5EF4-FFF2-40B4-BE49-F238E27FC236}">
                  <a16:creationId xmlns:a16="http://schemas.microsoft.com/office/drawing/2014/main" id="{7B15A0CD-8DE7-2985-BF56-F4818F9E9505}"/>
                </a:ext>
              </a:extLst>
            </p:cNvPr>
            <p:cNvSpPr/>
            <p:nvPr/>
          </p:nvSpPr>
          <p:spPr>
            <a:xfrm>
              <a:off x="5369298" y="2559610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3" name="Cruz 22">
              <a:extLst>
                <a:ext uri="{FF2B5EF4-FFF2-40B4-BE49-F238E27FC236}">
                  <a16:creationId xmlns:a16="http://schemas.microsoft.com/office/drawing/2014/main" id="{DF4C9922-73CC-B84B-44EC-FD7501D8B6F9}"/>
                </a:ext>
              </a:extLst>
            </p:cNvPr>
            <p:cNvSpPr/>
            <p:nvPr/>
          </p:nvSpPr>
          <p:spPr>
            <a:xfrm>
              <a:off x="5204571" y="2492375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4" name="Cruz 23">
              <a:extLst>
                <a:ext uri="{FF2B5EF4-FFF2-40B4-BE49-F238E27FC236}">
                  <a16:creationId xmlns:a16="http://schemas.microsoft.com/office/drawing/2014/main" id="{90877088-B80F-4879-0AA8-FF07620BD675}"/>
                </a:ext>
              </a:extLst>
            </p:cNvPr>
            <p:cNvSpPr/>
            <p:nvPr/>
          </p:nvSpPr>
          <p:spPr>
            <a:xfrm>
              <a:off x="5090271" y="2556248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5" name="Cruz 24">
              <a:extLst>
                <a:ext uri="{FF2B5EF4-FFF2-40B4-BE49-F238E27FC236}">
                  <a16:creationId xmlns:a16="http://schemas.microsoft.com/office/drawing/2014/main" id="{FE854291-4334-6707-50FC-539284871A0D}"/>
                </a:ext>
              </a:extLst>
            </p:cNvPr>
            <p:cNvSpPr/>
            <p:nvPr/>
          </p:nvSpPr>
          <p:spPr>
            <a:xfrm>
              <a:off x="5164230" y="2734422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6" name="Cruz 25">
              <a:extLst>
                <a:ext uri="{FF2B5EF4-FFF2-40B4-BE49-F238E27FC236}">
                  <a16:creationId xmlns:a16="http://schemas.microsoft.com/office/drawing/2014/main" id="{21D80310-5774-CA6F-EA37-B13433A9D37A}"/>
                </a:ext>
              </a:extLst>
            </p:cNvPr>
            <p:cNvSpPr/>
            <p:nvPr/>
          </p:nvSpPr>
          <p:spPr>
            <a:xfrm>
              <a:off x="5339042" y="2697442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7" name="Cruz 26">
              <a:extLst>
                <a:ext uri="{FF2B5EF4-FFF2-40B4-BE49-F238E27FC236}">
                  <a16:creationId xmlns:a16="http://schemas.microsoft.com/office/drawing/2014/main" id="{2E431D27-DC70-BC83-BD1E-1C8A6C938667}"/>
                </a:ext>
              </a:extLst>
            </p:cNvPr>
            <p:cNvSpPr/>
            <p:nvPr/>
          </p:nvSpPr>
          <p:spPr>
            <a:xfrm>
              <a:off x="5500406" y="2586504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8" name="Cruz 27">
              <a:extLst>
                <a:ext uri="{FF2B5EF4-FFF2-40B4-BE49-F238E27FC236}">
                  <a16:creationId xmlns:a16="http://schemas.microsoft.com/office/drawing/2014/main" id="{2998AC6B-9E4D-0411-5AD0-07C20F577051}"/>
                </a:ext>
              </a:extLst>
            </p:cNvPr>
            <p:cNvSpPr/>
            <p:nvPr/>
          </p:nvSpPr>
          <p:spPr>
            <a:xfrm>
              <a:off x="5772709" y="2620121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9" name="Cruz 28">
              <a:extLst>
                <a:ext uri="{FF2B5EF4-FFF2-40B4-BE49-F238E27FC236}">
                  <a16:creationId xmlns:a16="http://schemas.microsoft.com/office/drawing/2014/main" id="{A8369F93-75FE-59F0-3AD8-500D9B61FBCF}"/>
                </a:ext>
              </a:extLst>
            </p:cNvPr>
            <p:cNvSpPr/>
            <p:nvPr/>
          </p:nvSpPr>
          <p:spPr>
            <a:xfrm>
              <a:off x="5927350" y="2549524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0" name="Cruz 29">
              <a:extLst>
                <a:ext uri="{FF2B5EF4-FFF2-40B4-BE49-F238E27FC236}">
                  <a16:creationId xmlns:a16="http://schemas.microsoft.com/office/drawing/2014/main" id="{37896BB8-F10D-1D0A-EE0B-97EECDC4BC4C}"/>
                </a:ext>
              </a:extLst>
            </p:cNvPr>
            <p:cNvSpPr/>
            <p:nvPr/>
          </p:nvSpPr>
          <p:spPr>
            <a:xfrm>
              <a:off x="6085353" y="2492374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1" name="Cruz 30">
              <a:extLst>
                <a:ext uri="{FF2B5EF4-FFF2-40B4-BE49-F238E27FC236}">
                  <a16:creationId xmlns:a16="http://schemas.microsoft.com/office/drawing/2014/main" id="{9304BB11-E4A5-6824-ACD5-2B10475764D4}"/>
                </a:ext>
              </a:extLst>
            </p:cNvPr>
            <p:cNvSpPr/>
            <p:nvPr/>
          </p:nvSpPr>
          <p:spPr>
            <a:xfrm>
              <a:off x="6364379" y="2532715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2" name="Cruz 31">
              <a:extLst>
                <a:ext uri="{FF2B5EF4-FFF2-40B4-BE49-F238E27FC236}">
                  <a16:creationId xmlns:a16="http://schemas.microsoft.com/office/drawing/2014/main" id="{4098A65C-BBC2-D57F-3CD1-AAF9BB0CE368}"/>
                </a:ext>
              </a:extLst>
            </p:cNvPr>
            <p:cNvSpPr/>
            <p:nvPr/>
          </p:nvSpPr>
          <p:spPr>
            <a:xfrm>
              <a:off x="6166035" y="2636930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3" name="Cruz 32">
              <a:extLst>
                <a:ext uri="{FF2B5EF4-FFF2-40B4-BE49-F238E27FC236}">
                  <a16:creationId xmlns:a16="http://schemas.microsoft.com/office/drawing/2014/main" id="{6A447E2D-FC4A-250F-CDB7-3EE9967A8C82}"/>
                </a:ext>
              </a:extLst>
            </p:cNvPr>
            <p:cNvSpPr/>
            <p:nvPr/>
          </p:nvSpPr>
          <p:spPr>
            <a:xfrm>
              <a:off x="6008032" y="2670547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4" name="Cruz 33">
              <a:extLst>
                <a:ext uri="{FF2B5EF4-FFF2-40B4-BE49-F238E27FC236}">
                  <a16:creationId xmlns:a16="http://schemas.microsoft.com/office/drawing/2014/main" id="{D8893428-414B-7911-2A48-635BDBFC4FFD}"/>
                </a:ext>
              </a:extLst>
            </p:cNvPr>
            <p:cNvSpPr/>
            <p:nvPr/>
          </p:nvSpPr>
          <p:spPr>
            <a:xfrm>
              <a:off x="5954243" y="2794933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5" name="Cruz 34">
              <a:extLst>
                <a:ext uri="{FF2B5EF4-FFF2-40B4-BE49-F238E27FC236}">
                  <a16:creationId xmlns:a16="http://schemas.microsoft.com/office/drawing/2014/main" id="{6DE87769-0C17-E0A6-3051-B12BF006589D}"/>
                </a:ext>
              </a:extLst>
            </p:cNvPr>
            <p:cNvSpPr/>
            <p:nvPr/>
          </p:nvSpPr>
          <p:spPr>
            <a:xfrm>
              <a:off x="6203013" y="2805018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5A0659DF-5D1D-B6DE-D372-F7388B51F25C}"/>
                </a:ext>
              </a:extLst>
            </p:cNvPr>
            <p:cNvCxnSpPr>
              <a:cxnSpLocks/>
            </p:cNvCxnSpPr>
            <p:nvPr/>
          </p:nvCxnSpPr>
          <p:spPr>
            <a:xfrm>
              <a:off x="4871200" y="2927353"/>
              <a:ext cx="1579367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51DD1EF2-276B-2B1A-A85C-4CAD000DF5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5171" y="1741727"/>
              <a:ext cx="0" cy="1283861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ángulo redondeado 40">
              <a:extLst>
                <a:ext uri="{FF2B5EF4-FFF2-40B4-BE49-F238E27FC236}">
                  <a16:creationId xmlns:a16="http://schemas.microsoft.com/office/drawing/2014/main" id="{483F4801-67EB-D19A-5213-6FF1162F4B9B}"/>
                </a:ext>
              </a:extLst>
            </p:cNvPr>
            <p:cNvSpPr/>
            <p:nvPr/>
          </p:nvSpPr>
          <p:spPr>
            <a:xfrm>
              <a:off x="5202533" y="1436561"/>
              <a:ext cx="1073878" cy="264147"/>
            </a:xfrm>
            <a:prstGeom prst="roundRect">
              <a:avLst>
                <a:gd name="adj" fmla="val 7102"/>
              </a:avLst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FB7F082B-1029-8FFC-4619-541DDCDD01BC}"/>
                </a:ext>
              </a:extLst>
            </p:cNvPr>
            <p:cNvSpPr txBox="1"/>
            <p:nvPr/>
          </p:nvSpPr>
          <p:spPr>
            <a:xfrm>
              <a:off x="5277969" y="1491669"/>
              <a:ext cx="928407" cy="1401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4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Before K-Means</a:t>
              </a:r>
              <a:endParaRPr lang="es-PE" sz="1400" dirty="0">
                <a:solidFill>
                  <a:schemeClr val="bg1"/>
                </a:solidFill>
              </a:endParaRPr>
            </a:p>
          </p:txBody>
        </p:sp>
        <p:sp>
          <p:nvSpPr>
            <p:cNvPr id="42" name="Rectángulo redondeado 41">
              <a:extLst>
                <a:ext uri="{FF2B5EF4-FFF2-40B4-BE49-F238E27FC236}">
                  <a16:creationId xmlns:a16="http://schemas.microsoft.com/office/drawing/2014/main" id="{E29C913F-389E-605A-079E-4A26AD0799AA}"/>
                </a:ext>
              </a:extLst>
            </p:cNvPr>
            <p:cNvSpPr/>
            <p:nvPr/>
          </p:nvSpPr>
          <p:spPr>
            <a:xfrm>
              <a:off x="7811262" y="1436561"/>
              <a:ext cx="1073878" cy="264147"/>
            </a:xfrm>
            <a:prstGeom prst="roundRect">
              <a:avLst>
                <a:gd name="adj" fmla="val 7102"/>
              </a:avLst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03970357-E0A6-AEFB-8B91-02CEF9A10C84}"/>
                </a:ext>
              </a:extLst>
            </p:cNvPr>
            <p:cNvSpPr txBox="1"/>
            <p:nvPr/>
          </p:nvSpPr>
          <p:spPr>
            <a:xfrm>
              <a:off x="7886698" y="1491669"/>
              <a:ext cx="928407" cy="1401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4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After K-Means</a:t>
              </a:r>
              <a:endParaRPr lang="es-PE" sz="1400" dirty="0">
                <a:solidFill>
                  <a:schemeClr val="bg1"/>
                </a:solidFill>
              </a:endParaRPr>
            </a:p>
          </p:txBody>
        </p: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412E671B-3B04-1E53-D92F-7D0523016553}"/>
                </a:ext>
              </a:extLst>
            </p:cNvPr>
            <p:cNvCxnSpPr>
              <a:cxnSpLocks/>
            </p:cNvCxnSpPr>
            <p:nvPr/>
          </p:nvCxnSpPr>
          <p:spPr>
            <a:xfrm>
              <a:off x="7486653" y="2927353"/>
              <a:ext cx="1579367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63DE125D-ADB6-8B28-4F1F-80E268D153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0624" y="1741727"/>
              <a:ext cx="0" cy="1283861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Cruz 45">
              <a:extLst>
                <a:ext uri="{FF2B5EF4-FFF2-40B4-BE49-F238E27FC236}">
                  <a16:creationId xmlns:a16="http://schemas.microsoft.com/office/drawing/2014/main" id="{B7C6BFFB-96BC-AAB1-C58D-A48CFF640FB2}"/>
                </a:ext>
              </a:extLst>
            </p:cNvPr>
            <p:cNvSpPr/>
            <p:nvPr/>
          </p:nvSpPr>
          <p:spPr>
            <a:xfrm>
              <a:off x="7907431" y="2283945"/>
              <a:ext cx="73398" cy="73398"/>
            </a:xfrm>
            <a:prstGeom prst="plus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7" name="Cruz 46">
              <a:extLst>
                <a:ext uri="{FF2B5EF4-FFF2-40B4-BE49-F238E27FC236}">
                  <a16:creationId xmlns:a16="http://schemas.microsoft.com/office/drawing/2014/main" id="{E1D1CCA5-7C40-749A-8D9F-120C85A72B04}"/>
                </a:ext>
              </a:extLst>
            </p:cNvPr>
            <p:cNvSpPr/>
            <p:nvPr/>
          </p:nvSpPr>
          <p:spPr>
            <a:xfrm>
              <a:off x="8078881" y="2283945"/>
              <a:ext cx="73398" cy="73398"/>
            </a:xfrm>
            <a:prstGeom prst="plus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8" name="Cruz 47">
              <a:extLst>
                <a:ext uri="{FF2B5EF4-FFF2-40B4-BE49-F238E27FC236}">
                  <a16:creationId xmlns:a16="http://schemas.microsoft.com/office/drawing/2014/main" id="{DCEA2059-5095-5258-0976-D197C7202C83}"/>
                </a:ext>
              </a:extLst>
            </p:cNvPr>
            <p:cNvSpPr/>
            <p:nvPr/>
          </p:nvSpPr>
          <p:spPr>
            <a:xfrm>
              <a:off x="7978028" y="2428501"/>
              <a:ext cx="73398" cy="73398"/>
            </a:xfrm>
            <a:prstGeom prst="plus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9" name="Cruz 48">
              <a:extLst>
                <a:ext uri="{FF2B5EF4-FFF2-40B4-BE49-F238E27FC236}">
                  <a16:creationId xmlns:a16="http://schemas.microsoft.com/office/drawing/2014/main" id="{EF8FAA9D-9D1A-80EE-A3C0-6D8A19428314}"/>
                </a:ext>
              </a:extLst>
            </p:cNvPr>
            <p:cNvSpPr/>
            <p:nvPr/>
          </p:nvSpPr>
          <p:spPr>
            <a:xfrm>
              <a:off x="7776322" y="2391521"/>
              <a:ext cx="73398" cy="73398"/>
            </a:xfrm>
            <a:prstGeom prst="plus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0" name="Cruz 49">
              <a:extLst>
                <a:ext uri="{FF2B5EF4-FFF2-40B4-BE49-F238E27FC236}">
                  <a16:creationId xmlns:a16="http://schemas.microsoft.com/office/drawing/2014/main" id="{0EBFF092-3D2E-10DD-D874-621170A5FA6C}"/>
                </a:ext>
              </a:extLst>
            </p:cNvPr>
            <p:cNvSpPr/>
            <p:nvPr/>
          </p:nvSpPr>
          <p:spPr>
            <a:xfrm>
              <a:off x="7820025" y="2502460"/>
              <a:ext cx="73398" cy="73398"/>
            </a:xfrm>
            <a:prstGeom prst="plus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1" name="Cruz 50">
              <a:extLst>
                <a:ext uri="{FF2B5EF4-FFF2-40B4-BE49-F238E27FC236}">
                  <a16:creationId xmlns:a16="http://schemas.microsoft.com/office/drawing/2014/main" id="{67CAC899-E2F5-0791-F9B1-310DC4A74220}"/>
                </a:ext>
              </a:extLst>
            </p:cNvPr>
            <p:cNvSpPr/>
            <p:nvPr/>
          </p:nvSpPr>
          <p:spPr>
            <a:xfrm>
              <a:off x="7725896" y="2562972"/>
              <a:ext cx="73398" cy="73398"/>
            </a:xfrm>
            <a:prstGeom prst="plus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2" name="Cruz 51">
              <a:extLst>
                <a:ext uri="{FF2B5EF4-FFF2-40B4-BE49-F238E27FC236}">
                  <a16:creationId xmlns:a16="http://schemas.microsoft.com/office/drawing/2014/main" id="{F62F0695-F572-9A33-AB93-A4486F14FEEC}"/>
                </a:ext>
              </a:extLst>
            </p:cNvPr>
            <p:cNvSpPr/>
            <p:nvPr/>
          </p:nvSpPr>
          <p:spPr>
            <a:xfrm>
              <a:off x="7793132" y="2734422"/>
              <a:ext cx="73398" cy="73398"/>
            </a:xfrm>
            <a:prstGeom prst="plus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3" name="Cruz 52">
              <a:extLst>
                <a:ext uri="{FF2B5EF4-FFF2-40B4-BE49-F238E27FC236}">
                  <a16:creationId xmlns:a16="http://schemas.microsoft.com/office/drawing/2014/main" id="{233DD31C-799A-EF27-8FCB-06108430758A}"/>
                </a:ext>
              </a:extLst>
            </p:cNvPr>
            <p:cNvSpPr/>
            <p:nvPr/>
          </p:nvSpPr>
          <p:spPr>
            <a:xfrm>
              <a:off x="7951134" y="2707528"/>
              <a:ext cx="73398" cy="73398"/>
            </a:xfrm>
            <a:prstGeom prst="plus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4" name="Cruz 53">
              <a:extLst>
                <a:ext uri="{FF2B5EF4-FFF2-40B4-BE49-F238E27FC236}">
                  <a16:creationId xmlns:a16="http://schemas.microsoft.com/office/drawing/2014/main" id="{67D5B222-8795-E0B6-B82B-205381766463}"/>
                </a:ext>
              </a:extLst>
            </p:cNvPr>
            <p:cNvSpPr/>
            <p:nvPr/>
          </p:nvSpPr>
          <p:spPr>
            <a:xfrm>
              <a:off x="7978029" y="2562972"/>
              <a:ext cx="73398" cy="73398"/>
            </a:xfrm>
            <a:prstGeom prst="plus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5" name="Cruz 54">
              <a:extLst>
                <a:ext uri="{FF2B5EF4-FFF2-40B4-BE49-F238E27FC236}">
                  <a16:creationId xmlns:a16="http://schemas.microsoft.com/office/drawing/2014/main" id="{791ABD75-AEB8-C113-2BBF-A9F92AC54411}"/>
                </a:ext>
              </a:extLst>
            </p:cNvPr>
            <p:cNvSpPr/>
            <p:nvPr/>
          </p:nvSpPr>
          <p:spPr>
            <a:xfrm>
              <a:off x="8092329" y="2593228"/>
              <a:ext cx="73398" cy="73398"/>
            </a:xfrm>
            <a:prstGeom prst="plus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7" name="Cruz 56">
              <a:extLst>
                <a:ext uri="{FF2B5EF4-FFF2-40B4-BE49-F238E27FC236}">
                  <a16:creationId xmlns:a16="http://schemas.microsoft.com/office/drawing/2014/main" id="{8B5CB8DA-9009-DD6D-F103-448A2A10D33A}"/>
                </a:ext>
              </a:extLst>
            </p:cNvPr>
            <p:cNvSpPr/>
            <p:nvPr/>
          </p:nvSpPr>
          <p:spPr>
            <a:xfrm>
              <a:off x="8263778" y="2051983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8" name="Cruz 57">
              <a:extLst>
                <a:ext uri="{FF2B5EF4-FFF2-40B4-BE49-F238E27FC236}">
                  <a16:creationId xmlns:a16="http://schemas.microsoft.com/office/drawing/2014/main" id="{5CA6D80A-5531-0F0C-5332-A4F966E35E49}"/>
                </a:ext>
              </a:extLst>
            </p:cNvPr>
            <p:cNvSpPr/>
            <p:nvPr/>
          </p:nvSpPr>
          <p:spPr>
            <a:xfrm>
              <a:off x="8336803" y="2112308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9" name="Cruz 58">
              <a:extLst>
                <a:ext uri="{FF2B5EF4-FFF2-40B4-BE49-F238E27FC236}">
                  <a16:creationId xmlns:a16="http://schemas.microsoft.com/office/drawing/2014/main" id="{FC1088C8-32B0-AC25-C129-17E97D3DFB69}"/>
                </a:ext>
              </a:extLst>
            </p:cNvPr>
            <p:cNvSpPr/>
            <p:nvPr/>
          </p:nvSpPr>
          <p:spPr>
            <a:xfrm>
              <a:off x="8451103" y="1959908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0" name="Cruz 59">
              <a:extLst>
                <a:ext uri="{FF2B5EF4-FFF2-40B4-BE49-F238E27FC236}">
                  <a16:creationId xmlns:a16="http://schemas.microsoft.com/office/drawing/2014/main" id="{9EC4C678-5EE6-123D-5AC8-023CA03DF4A5}"/>
                </a:ext>
              </a:extLst>
            </p:cNvPr>
            <p:cNvSpPr/>
            <p:nvPr/>
          </p:nvSpPr>
          <p:spPr>
            <a:xfrm>
              <a:off x="8559053" y="1864658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1" name="Cruz 60">
              <a:extLst>
                <a:ext uri="{FF2B5EF4-FFF2-40B4-BE49-F238E27FC236}">
                  <a16:creationId xmlns:a16="http://schemas.microsoft.com/office/drawing/2014/main" id="{01FCE320-77B2-97F9-C247-0EE1A930E664}"/>
                </a:ext>
              </a:extLst>
            </p:cNvPr>
            <p:cNvSpPr/>
            <p:nvPr/>
          </p:nvSpPr>
          <p:spPr>
            <a:xfrm>
              <a:off x="8695578" y="1966258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2" name="Cruz 61">
              <a:extLst>
                <a:ext uri="{FF2B5EF4-FFF2-40B4-BE49-F238E27FC236}">
                  <a16:creationId xmlns:a16="http://schemas.microsoft.com/office/drawing/2014/main" id="{EF5BAE39-2FFC-80B2-34B9-99EEDE8C52B1}"/>
                </a:ext>
              </a:extLst>
            </p:cNvPr>
            <p:cNvSpPr/>
            <p:nvPr/>
          </p:nvSpPr>
          <p:spPr>
            <a:xfrm>
              <a:off x="8613028" y="2051983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3" name="Cruz 62">
              <a:extLst>
                <a:ext uri="{FF2B5EF4-FFF2-40B4-BE49-F238E27FC236}">
                  <a16:creationId xmlns:a16="http://schemas.microsoft.com/office/drawing/2014/main" id="{22B3E060-8092-7812-2F31-93C565FFB4BC}"/>
                </a:ext>
              </a:extLst>
            </p:cNvPr>
            <p:cNvSpPr/>
            <p:nvPr/>
          </p:nvSpPr>
          <p:spPr>
            <a:xfrm>
              <a:off x="8511428" y="2099608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4" name="Cruz 63">
              <a:extLst>
                <a:ext uri="{FF2B5EF4-FFF2-40B4-BE49-F238E27FC236}">
                  <a16:creationId xmlns:a16="http://schemas.microsoft.com/office/drawing/2014/main" id="{A88E2814-FAAB-B557-D284-B94A459A4590}"/>
                </a:ext>
              </a:extLst>
            </p:cNvPr>
            <p:cNvSpPr/>
            <p:nvPr/>
          </p:nvSpPr>
          <p:spPr>
            <a:xfrm>
              <a:off x="8378078" y="2258358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5" name="Cruz 64">
              <a:extLst>
                <a:ext uri="{FF2B5EF4-FFF2-40B4-BE49-F238E27FC236}">
                  <a16:creationId xmlns:a16="http://schemas.microsoft.com/office/drawing/2014/main" id="{1B9823A6-DF8E-0649-6A44-97C1502BE180}"/>
                </a:ext>
              </a:extLst>
            </p:cNvPr>
            <p:cNvSpPr/>
            <p:nvPr/>
          </p:nvSpPr>
          <p:spPr>
            <a:xfrm>
              <a:off x="8565403" y="2194858"/>
              <a:ext cx="73398" cy="73398"/>
            </a:xfrm>
            <a:prstGeom prst="plus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6" name="Cruz 65">
              <a:extLst>
                <a:ext uri="{FF2B5EF4-FFF2-40B4-BE49-F238E27FC236}">
                  <a16:creationId xmlns:a16="http://schemas.microsoft.com/office/drawing/2014/main" id="{D8FDA629-E671-70C6-8464-950CC3E867B9}"/>
                </a:ext>
              </a:extLst>
            </p:cNvPr>
            <p:cNvSpPr/>
            <p:nvPr/>
          </p:nvSpPr>
          <p:spPr>
            <a:xfrm>
              <a:off x="8695578" y="2509183"/>
              <a:ext cx="73398" cy="73398"/>
            </a:xfrm>
            <a:prstGeom prst="plus">
              <a:avLst/>
            </a:prstGeom>
            <a:solidFill>
              <a:srgbClr val="92C14D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7" name="Cruz 66">
              <a:extLst>
                <a:ext uri="{FF2B5EF4-FFF2-40B4-BE49-F238E27FC236}">
                  <a16:creationId xmlns:a16="http://schemas.microsoft.com/office/drawing/2014/main" id="{5C4E8D64-EFD9-94A1-138B-4890DC63E687}"/>
                </a:ext>
              </a:extLst>
            </p:cNvPr>
            <p:cNvSpPr/>
            <p:nvPr/>
          </p:nvSpPr>
          <p:spPr>
            <a:xfrm>
              <a:off x="8962278" y="2540933"/>
              <a:ext cx="73398" cy="73398"/>
            </a:xfrm>
            <a:prstGeom prst="plus">
              <a:avLst/>
            </a:prstGeom>
            <a:solidFill>
              <a:srgbClr val="92C14D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8" name="Cruz 67">
              <a:extLst>
                <a:ext uri="{FF2B5EF4-FFF2-40B4-BE49-F238E27FC236}">
                  <a16:creationId xmlns:a16="http://schemas.microsoft.com/office/drawing/2014/main" id="{D07235C3-AD08-8C52-4079-022A619E7EF3}"/>
                </a:ext>
              </a:extLst>
            </p:cNvPr>
            <p:cNvSpPr/>
            <p:nvPr/>
          </p:nvSpPr>
          <p:spPr>
            <a:xfrm>
              <a:off x="8778128" y="2645708"/>
              <a:ext cx="73398" cy="73398"/>
            </a:xfrm>
            <a:prstGeom prst="plus">
              <a:avLst/>
            </a:prstGeom>
            <a:solidFill>
              <a:srgbClr val="92C14D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9" name="Cruz 68">
              <a:extLst>
                <a:ext uri="{FF2B5EF4-FFF2-40B4-BE49-F238E27FC236}">
                  <a16:creationId xmlns:a16="http://schemas.microsoft.com/office/drawing/2014/main" id="{6D86C6C9-606B-EAE0-E341-B3467666FF4B}"/>
                </a:ext>
              </a:extLst>
            </p:cNvPr>
            <p:cNvSpPr/>
            <p:nvPr/>
          </p:nvSpPr>
          <p:spPr>
            <a:xfrm>
              <a:off x="8813053" y="2810808"/>
              <a:ext cx="73398" cy="73398"/>
            </a:xfrm>
            <a:prstGeom prst="plus">
              <a:avLst/>
            </a:prstGeom>
            <a:solidFill>
              <a:srgbClr val="92C14D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0" name="Cruz 69">
              <a:extLst>
                <a:ext uri="{FF2B5EF4-FFF2-40B4-BE49-F238E27FC236}">
                  <a16:creationId xmlns:a16="http://schemas.microsoft.com/office/drawing/2014/main" id="{2B18491B-CFF0-02FE-A6EA-837456DC14AF}"/>
                </a:ext>
              </a:extLst>
            </p:cNvPr>
            <p:cNvSpPr/>
            <p:nvPr/>
          </p:nvSpPr>
          <p:spPr>
            <a:xfrm>
              <a:off x="8562228" y="2794933"/>
              <a:ext cx="73398" cy="73398"/>
            </a:xfrm>
            <a:prstGeom prst="plus">
              <a:avLst/>
            </a:prstGeom>
            <a:solidFill>
              <a:srgbClr val="92C14D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1" name="Cruz 70">
              <a:extLst>
                <a:ext uri="{FF2B5EF4-FFF2-40B4-BE49-F238E27FC236}">
                  <a16:creationId xmlns:a16="http://schemas.microsoft.com/office/drawing/2014/main" id="{AB41DACB-6470-0883-FB2A-417689FC2EF3}"/>
                </a:ext>
              </a:extLst>
            </p:cNvPr>
            <p:cNvSpPr/>
            <p:nvPr/>
          </p:nvSpPr>
          <p:spPr>
            <a:xfrm>
              <a:off x="8625728" y="2677458"/>
              <a:ext cx="73398" cy="73398"/>
            </a:xfrm>
            <a:prstGeom prst="plus">
              <a:avLst/>
            </a:prstGeom>
            <a:solidFill>
              <a:srgbClr val="92C14D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2" name="Cruz 71">
              <a:extLst>
                <a:ext uri="{FF2B5EF4-FFF2-40B4-BE49-F238E27FC236}">
                  <a16:creationId xmlns:a16="http://schemas.microsoft.com/office/drawing/2014/main" id="{7AEC52F3-4724-B6FB-0A70-5B784E37A915}"/>
                </a:ext>
              </a:extLst>
            </p:cNvPr>
            <p:cNvSpPr/>
            <p:nvPr/>
          </p:nvSpPr>
          <p:spPr>
            <a:xfrm>
              <a:off x="8546353" y="2563158"/>
              <a:ext cx="73398" cy="73398"/>
            </a:xfrm>
            <a:prstGeom prst="plus">
              <a:avLst/>
            </a:prstGeom>
            <a:solidFill>
              <a:srgbClr val="92C14D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3" name="Cruz 72">
              <a:extLst>
                <a:ext uri="{FF2B5EF4-FFF2-40B4-BE49-F238E27FC236}">
                  <a16:creationId xmlns:a16="http://schemas.microsoft.com/office/drawing/2014/main" id="{FD3EB15D-3546-B99A-FA32-2477E8E93CB9}"/>
                </a:ext>
              </a:extLst>
            </p:cNvPr>
            <p:cNvSpPr/>
            <p:nvPr/>
          </p:nvSpPr>
          <p:spPr>
            <a:xfrm>
              <a:off x="8406653" y="2629833"/>
              <a:ext cx="73398" cy="73398"/>
            </a:xfrm>
            <a:prstGeom prst="plus">
              <a:avLst/>
            </a:prstGeom>
            <a:solidFill>
              <a:srgbClr val="92C14D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4" name="Elipse 73">
              <a:extLst>
                <a:ext uri="{FF2B5EF4-FFF2-40B4-BE49-F238E27FC236}">
                  <a16:creationId xmlns:a16="http://schemas.microsoft.com/office/drawing/2014/main" id="{D8781679-F846-B849-0B4A-D97F9A163EB5}"/>
                </a:ext>
              </a:extLst>
            </p:cNvPr>
            <p:cNvSpPr/>
            <p:nvPr/>
          </p:nvSpPr>
          <p:spPr>
            <a:xfrm rot="1025105">
              <a:off x="7707038" y="2208145"/>
              <a:ext cx="529527" cy="667975"/>
            </a:xfrm>
            <a:prstGeom prst="ellipse">
              <a:avLst/>
            </a:prstGeom>
            <a:noFill/>
            <a:ln w="12700">
              <a:solidFill>
                <a:srgbClr val="EE4639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553EE5B4-6444-F21E-2779-9D574E618E56}"/>
                </a:ext>
              </a:extLst>
            </p:cNvPr>
            <p:cNvSpPr/>
            <p:nvPr/>
          </p:nvSpPr>
          <p:spPr>
            <a:xfrm rot="2749661">
              <a:off x="8270104" y="1778231"/>
              <a:ext cx="477932" cy="641357"/>
            </a:xfrm>
            <a:prstGeom prst="ellipse">
              <a:avLst/>
            </a:prstGeom>
            <a:noFill/>
            <a:ln w="12700">
              <a:solidFill>
                <a:srgbClr val="00B2C2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E6068A38-1378-9A11-BE20-3FA784BAB20D}"/>
                </a:ext>
              </a:extLst>
            </p:cNvPr>
            <p:cNvSpPr/>
            <p:nvPr/>
          </p:nvSpPr>
          <p:spPr>
            <a:xfrm rot="4695690">
              <a:off x="8481420" y="2327077"/>
              <a:ext cx="477932" cy="732070"/>
            </a:xfrm>
            <a:prstGeom prst="ellipse">
              <a:avLst/>
            </a:prstGeom>
            <a:noFill/>
            <a:ln w="12700">
              <a:solidFill>
                <a:srgbClr val="92C14D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77" name="Google Shape;952;p54">
              <a:extLst>
                <a:ext uri="{FF2B5EF4-FFF2-40B4-BE49-F238E27FC236}">
                  <a16:creationId xmlns:a16="http://schemas.microsoft.com/office/drawing/2014/main" id="{39C3DE6D-703D-8FD3-57AF-CD0A4C28D5BA}"/>
                </a:ext>
              </a:extLst>
            </p:cNvPr>
            <p:cNvSpPr/>
            <p:nvPr/>
          </p:nvSpPr>
          <p:spPr>
            <a:xfrm>
              <a:off x="6582395" y="2122048"/>
              <a:ext cx="817775" cy="396875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92C1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CuadroTexto 77">
              <a:extLst>
                <a:ext uri="{FF2B5EF4-FFF2-40B4-BE49-F238E27FC236}">
                  <a16:creationId xmlns:a16="http://schemas.microsoft.com/office/drawing/2014/main" id="{46B4B115-9B46-5298-0767-395381AF1561}"/>
                </a:ext>
              </a:extLst>
            </p:cNvPr>
            <p:cNvSpPr txBox="1"/>
            <p:nvPr/>
          </p:nvSpPr>
          <p:spPr>
            <a:xfrm>
              <a:off x="6590009" y="2243492"/>
              <a:ext cx="727030" cy="1401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4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K-Means</a:t>
              </a:r>
              <a:endParaRPr lang="es-PE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4114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4FC732B2-A0D1-8EFA-0E86-D82462EE4767}"/>
              </a:ext>
            </a:extLst>
          </p:cNvPr>
          <p:cNvSpPr txBox="1"/>
          <p:nvPr/>
        </p:nvSpPr>
        <p:spPr>
          <a:xfrm>
            <a:off x="503238" y="912814"/>
            <a:ext cx="2969724" cy="32099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s-PE" sz="1600" b="1" dirty="0"/>
              <a:t>ALGORITMOS DE CLASIFICACIÓN</a:t>
            </a:r>
            <a:endParaRPr lang="es-419" sz="1600" dirty="0"/>
          </a:p>
          <a:p>
            <a:r>
              <a:rPr lang="es-419" sz="1400" dirty="0"/>
              <a:t>Predicen una o más variables discretas (el atributo a predecir) en base a los valores del resto de atributos (los atributos de entrada) de la transacción.</a:t>
            </a:r>
          </a:p>
          <a:p>
            <a:endParaRPr lang="es-419" sz="1400" dirty="0"/>
          </a:p>
          <a:p>
            <a:r>
              <a:rPr lang="es-419" sz="1400" b="1" dirty="0"/>
              <a:t>ALGORITMO ÁRBOLES DE DECISIÓN</a:t>
            </a:r>
          </a:p>
          <a:p>
            <a:pPr marL="136525" indent="-136525">
              <a:buFont typeface="Arial" panose="020B0604020202020204" pitchFamily="34" charset="0"/>
              <a:buChar char="•"/>
            </a:pPr>
            <a:r>
              <a:rPr lang="es-419" sz="1400" dirty="0"/>
              <a:t>Tiene la forma de un árbol invertido.</a:t>
            </a:r>
          </a:p>
          <a:p>
            <a:pPr marL="136525" indent="-136525">
              <a:buFont typeface="Arial" panose="020B0604020202020204" pitchFamily="34" charset="0"/>
              <a:buChar char="•"/>
            </a:pPr>
            <a:r>
              <a:rPr lang="es-419" sz="1400" dirty="0"/>
              <a:t>Los datos se dividen en ramas, donde cada una representa una categoría de datos o un resultado.</a:t>
            </a:r>
          </a:p>
          <a:p>
            <a:pPr marL="136525" indent="-136525">
              <a:buFont typeface="Arial" panose="020B0604020202020204" pitchFamily="34" charset="0"/>
              <a:buChar char="•"/>
            </a:pPr>
            <a:r>
              <a:rPr lang="es-419" sz="1400" dirty="0"/>
              <a:t>Ideal para problemas con múltiples variables y múltiples resultados posibles.</a:t>
            </a:r>
          </a:p>
        </p:txBody>
      </p:sp>
      <p:sp>
        <p:nvSpPr>
          <p:cNvPr id="2" name="Google Shape;127;p5">
            <a:extLst>
              <a:ext uri="{FF2B5EF4-FFF2-40B4-BE49-F238E27FC236}">
                <a16:creationId xmlns:a16="http://schemas.microsoft.com/office/drawing/2014/main" id="{42D73662-2331-1268-EBCB-BA416B6C3AD3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ALGORITMOS Y ESTRUCTURAS DE MINERÍA DE DATOS</a:t>
            </a:r>
            <a:endParaRPr dirty="0"/>
          </a:p>
        </p:txBody>
      </p:sp>
      <p:grpSp>
        <p:nvGrpSpPr>
          <p:cNvPr id="67" name="Grupo 66">
            <a:extLst>
              <a:ext uri="{FF2B5EF4-FFF2-40B4-BE49-F238E27FC236}">
                <a16:creationId xmlns:a16="http://schemas.microsoft.com/office/drawing/2014/main" id="{87226EE5-9BAA-6FA0-8D23-CF48850525DB}"/>
              </a:ext>
            </a:extLst>
          </p:cNvPr>
          <p:cNvGrpSpPr/>
          <p:nvPr/>
        </p:nvGrpSpPr>
        <p:grpSpPr>
          <a:xfrm>
            <a:off x="3688390" y="1687683"/>
            <a:ext cx="4987298" cy="2687184"/>
            <a:chOff x="3657938" y="2552206"/>
            <a:chExt cx="4987298" cy="2687184"/>
          </a:xfrm>
        </p:grpSpPr>
        <p:sp>
          <p:nvSpPr>
            <p:cNvPr id="13" name="Rectángulo redondeado 12">
              <a:extLst>
                <a:ext uri="{FF2B5EF4-FFF2-40B4-BE49-F238E27FC236}">
                  <a16:creationId xmlns:a16="http://schemas.microsoft.com/office/drawing/2014/main" id="{17250053-CA57-9767-7CB2-64D8EF421EBF}"/>
                </a:ext>
              </a:extLst>
            </p:cNvPr>
            <p:cNvSpPr/>
            <p:nvPr/>
          </p:nvSpPr>
          <p:spPr>
            <a:xfrm>
              <a:off x="5103418" y="2552206"/>
              <a:ext cx="914062" cy="335487"/>
            </a:xfrm>
            <a:prstGeom prst="roundRect">
              <a:avLst>
                <a:gd name="adj" fmla="val 17179"/>
              </a:avLst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" name="Rectángulo redondeado 5">
              <a:extLst>
                <a:ext uri="{FF2B5EF4-FFF2-40B4-BE49-F238E27FC236}">
                  <a16:creationId xmlns:a16="http://schemas.microsoft.com/office/drawing/2014/main" id="{70377A18-CD6D-4111-6548-BD2F22F0BC19}"/>
                </a:ext>
              </a:extLst>
            </p:cNvPr>
            <p:cNvSpPr/>
            <p:nvPr/>
          </p:nvSpPr>
          <p:spPr>
            <a:xfrm>
              <a:off x="3657938" y="3583938"/>
              <a:ext cx="914062" cy="252068"/>
            </a:xfrm>
            <a:prstGeom prst="roundRect">
              <a:avLst>
                <a:gd name="adj" fmla="val 17179"/>
              </a:avLst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357A8700-0CB8-AF6F-35C5-81965815205F}"/>
                </a:ext>
              </a:extLst>
            </p:cNvPr>
            <p:cNvSpPr txBox="1"/>
            <p:nvPr/>
          </p:nvSpPr>
          <p:spPr>
            <a:xfrm>
              <a:off x="3657938" y="3633473"/>
              <a:ext cx="914062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Prospectos</a:t>
              </a:r>
              <a:endParaRPr lang="es-PE" sz="1000" dirty="0">
                <a:solidFill>
                  <a:schemeClr val="bg1"/>
                </a:solidFill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43E34D1D-EE17-DA48-DA82-BDB30483ED05}"/>
                </a:ext>
              </a:extLst>
            </p:cNvPr>
            <p:cNvSpPr txBox="1"/>
            <p:nvPr/>
          </p:nvSpPr>
          <p:spPr>
            <a:xfrm>
              <a:off x="5100826" y="2658395"/>
              <a:ext cx="914062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 a S/. 2,000</a:t>
              </a:r>
              <a:endParaRPr lang="es-PE" sz="800" dirty="0">
                <a:solidFill>
                  <a:schemeClr val="bg1"/>
                </a:solidFill>
              </a:endParaRPr>
            </a:p>
          </p:txBody>
        </p:sp>
        <p:sp>
          <p:nvSpPr>
            <p:cNvPr id="11" name="Rectángulo redondeado 10">
              <a:extLst>
                <a:ext uri="{FF2B5EF4-FFF2-40B4-BE49-F238E27FC236}">
                  <a16:creationId xmlns:a16="http://schemas.microsoft.com/office/drawing/2014/main" id="{F2935797-DA85-F3F0-41C4-09B27A3D876E}"/>
                </a:ext>
              </a:extLst>
            </p:cNvPr>
            <p:cNvSpPr/>
            <p:nvPr/>
          </p:nvSpPr>
          <p:spPr>
            <a:xfrm>
              <a:off x="5103418" y="3534585"/>
              <a:ext cx="914062" cy="335487"/>
            </a:xfrm>
            <a:prstGeom prst="roundRect">
              <a:avLst>
                <a:gd name="adj" fmla="val 17179"/>
              </a:avLst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11C8E851-648E-D3CF-2275-C48F90B075FC}"/>
                </a:ext>
              </a:extLst>
            </p:cNvPr>
            <p:cNvSpPr txBox="1"/>
            <p:nvPr/>
          </p:nvSpPr>
          <p:spPr>
            <a:xfrm>
              <a:off x="5100826" y="3571917"/>
              <a:ext cx="914062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 S/. 2,000</a:t>
              </a:r>
            </a:p>
            <a:p>
              <a:pPr algn="ctr"/>
              <a:r>
                <a:rPr lang="es-PE" sz="8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 S/. 5,000</a:t>
              </a:r>
              <a:endParaRPr lang="es-PE" sz="800" dirty="0">
                <a:solidFill>
                  <a:schemeClr val="bg1"/>
                </a:solidFill>
              </a:endParaRPr>
            </a:p>
          </p:txBody>
        </p:sp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A1A63DFB-08D5-449C-4C9B-8C3372C470F9}"/>
                </a:ext>
              </a:extLst>
            </p:cNvPr>
            <p:cNvSpPr/>
            <p:nvPr/>
          </p:nvSpPr>
          <p:spPr>
            <a:xfrm>
              <a:off x="5103418" y="4608658"/>
              <a:ext cx="914062" cy="335487"/>
            </a:xfrm>
            <a:prstGeom prst="roundRect">
              <a:avLst>
                <a:gd name="adj" fmla="val 17179"/>
              </a:avLst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1CF92DD1-979E-6770-17A7-56DBAE7992B6}"/>
                </a:ext>
              </a:extLst>
            </p:cNvPr>
            <p:cNvSpPr txBox="1"/>
            <p:nvPr/>
          </p:nvSpPr>
          <p:spPr>
            <a:xfrm>
              <a:off x="5100826" y="4645990"/>
              <a:ext cx="914062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 S/. 5,000</a:t>
              </a:r>
            </a:p>
            <a:p>
              <a:pPr algn="ctr"/>
              <a:r>
                <a:rPr lang="es-PE" sz="8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 más</a:t>
              </a:r>
              <a:endParaRPr lang="es-PE" sz="800" dirty="0">
                <a:solidFill>
                  <a:schemeClr val="bg1"/>
                </a:solidFill>
              </a:endParaRPr>
            </a:p>
          </p:txBody>
        </p:sp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D45C4B7C-CD22-EB63-3B4F-3BAF980AA133}"/>
                </a:ext>
              </a:extLst>
            </p:cNvPr>
            <p:cNvSpPr/>
            <p:nvPr/>
          </p:nvSpPr>
          <p:spPr>
            <a:xfrm>
              <a:off x="6543355" y="3559488"/>
              <a:ext cx="914062" cy="252068"/>
            </a:xfrm>
            <a:prstGeom prst="roundRect">
              <a:avLst>
                <a:gd name="adj" fmla="val 17179"/>
              </a:avLst>
            </a:prstGeom>
            <a:solidFill>
              <a:srgbClr val="FF782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23AE9D3E-E6A1-CB88-30E9-142C72AE2DC4}"/>
                </a:ext>
              </a:extLst>
            </p:cNvPr>
            <p:cNvSpPr txBox="1"/>
            <p:nvPr/>
          </p:nvSpPr>
          <p:spPr>
            <a:xfrm>
              <a:off x="6543355" y="3609023"/>
              <a:ext cx="914062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Mala</a:t>
              </a:r>
              <a:endParaRPr lang="es-PE" sz="1000" dirty="0">
                <a:solidFill>
                  <a:schemeClr val="bg1"/>
                </a:solidFill>
              </a:endParaRPr>
            </a:p>
          </p:txBody>
        </p:sp>
        <p:sp>
          <p:nvSpPr>
            <p:cNvPr id="18" name="Rectángulo redondeado 17">
              <a:extLst>
                <a:ext uri="{FF2B5EF4-FFF2-40B4-BE49-F238E27FC236}">
                  <a16:creationId xmlns:a16="http://schemas.microsoft.com/office/drawing/2014/main" id="{709D83BC-F73E-80E3-1C07-9CC7BF5CBA12}"/>
                </a:ext>
              </a:extLst>
            </p:cNvPr>
            <p:cNvSpPr/>
            <p:nvPr/>
          </p:nvSpPr>
          <p:spPr>
            <a:xfrm>
              <a:off x="6543355" y="3206154"/>
              <a:ext cx="914062" cy="252068"/>
            </a:xfrm>
            <a:prstGeom prst="roundRect">
              <a:avLst>
                <a:gd name="adj" fmla="val 17179"/>
              </a:avLst>
            </a:prstGeom>
            <a:solidFill>
              <a:srgbClr val="FF782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D13D5733-40BA-5918-A5CA-EA7A2982A21B}"/>
                </a:ext>
              </a:extLst>
            </p:cNvPr>
            <p:cNvSpPr txBox="1"/>
            <p:nvPr/>
          </p:nvSpPr>
          <p:spPr>
            <a:xfrm>
              <a:off x="6543355" y="3255689"/>
              <a:ext cx="914062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Sin historia</a:t>
              </a:r>
              <a:endParaRPr lang="es-PE" sz="1000" dirty="0">
                <a:solidFill>
                  <a:schemeClr val="bg1"/>
                </a:solidFill>
              </a:endParaRPr>
            </a:p>
          </p:txBody>
        </p:sp>
        <p:sp>
          <p:nvSpPr>
            <p:cNvPr id="20" name="Rectángulo redondeado 19">
              <a:extLst>
                <a:ext uri="{FF2B5EF4-FFF2-40B4-BE49-F238E27FC236}">
                  <a16:creationId xmlns:a16="http://schemas.microsoft.com/office/drawing/2014/main" id="{A15217FE-0821-5851-F727-0DD39635CB12}"/>
                </a:ext>
              </a:extLst>
            </p:cNvPr>
            <p:cNvSpPr/>
            <p:nvPr/>
          </p:nvSpPr>
          <p:spPr>
            <a:xfrm>
              <a:off x="6543355" y="3906667"/>
              <a:ext cx="914062" cy="252068"/>
            </a:xfrm>
            <a:prstGeom prst="roundRect">
              <a:avLst>
                <a:gd name="adj" fmla="val 17179"/>
              </a:avLst>
            </a:prstGeom>
            <a:solidFill>
              <a:srgbClr val="FF782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ECE7BADD-F0AB-1C7C-3524-F95E9E030492}"/>
                </a:ext>
              </a:extLst>
            </p:cNvPr>
            <p:cNvSpPr txBox="1"/>
            <p:nvPr/>
          </p:nvSpPr>
          <p:spPr>
            <a:xfrm>
              <a:off x="6543355" y="3956202"/>
              <a:ext cx="914062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Buena</a:t>
              </a:r>
              <a:endParaRPr lang="es-PE" sz="1000" dirty="0">
                <a:solidFill>
                  <a:schemeClr val="bg1"/>
                </a:solidFill>
              </a:endParaRPr>
            </a:p>
          </p:txBody>
        </p:sp>
        <p:sp>
          <p:nvSpPr>
            <p:cNvPr id="22" name="Rectángulo redondeado 21">
              <a:extLst>
                <a:ext uri="{FF2B5EF4-FFF2-40B4-BE49-F238E27FC236}">
                  <a16:creationId xmlns:a16="http://schemas.microsoft.com/office/drawing/2014/main" id="{D9A8E7F4-F112-D813-10A9-1EBEB6F2D380}"/>
                </a:ext>
              </a:extLst>
            </p:cNvPr>
            <p:cNvSpPr/>
            <p:nvPr/>
          </p:nvSpPr>
          <p:spPr>
            <a:xfrm>
              <a:off x="6543355" y="4640143"/>
              <a:ext cx="914062" cy="252068"/>
            </a:xfrm>
            <a:prstGeom prst="roundRect">
              <a:avLst>
                <a:gd name="adj" fmla="val 17179"/>
              </a:avLst>
            </a:prstGeom>
            <a:solidFill>
              <a:srgbClr val="FF782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7F76C5AA-5529-D260-1138-95B20DED19C9}"/>
                </a:ext>
              </a:extLst>
            </p:cNvPr>
            <p:cNvSpPr txBox="1"/>
            <p:nvPr/>
          </p:nvSpPr>
          <p:spPr>
            <a:xfrm>
              <a:off x="6543355" y="4689678"/>
              <a:ext cx="914062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Mala</a:t>
              </a:r>
              <a:endParaRPr lang="es-PE" sz="1000" dirty="0">
                <a:solidFill>
                  <a:schemeClr val="bg1"/>
                </a:solidFill>
              </a:endParaRPr>
            </a:p>
          </p:txBody>
        </p:sp>
        <p:sp>
          <p:nvSpPr>
            <p:cNvPr id="24" name="Rectángulo redondeado 23">
              <a:extLst>
                <a:ext uri="{FF2B5EF4-FFF2-40B4-BE49-F238E27FC236}">
                  <a16:creationId xmlns:a16="http://schemas.microsoft.com/office/drawing/2014/main" id="{22E43615-25D2-C1B5-10E9-01E8D5F35299}"/>
                </a:ext>
              </a:extLst>
            </p:cNvPr>
            <p:cNvSpPr/>
            <p:nvPr/>
          </p:nvSpPr>
          <p:spPr>
            <a:xfrm>
              <a:off x="6543355" y="4286809"/>
              <a:ext cx="914062" cy="252068"/>
            </a:xfrm>
            <a:prstGeom prst="roundRect">
              <a:avLst>
                <a:gd name="adj" fmla="val 17179"/>
              </a:avLst>
            </a:prstGeom>
            <a:solidFill>
              <a:srgbClr val="FF782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2B5B7935-92A5-F558-E9FF-7183F1EA49D9}"/>
                </a:ext>
              </a:extLst>
            </p:cNvPr>
            <p:cNvSpPr txBox="1"/>
            <p:nvPr/>
          </p:nvSpPr>
          <p:spPr>
            <a:xfrm>
              <a:off x="6543355" y="4336344"/>
              <a:ext cx="914062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Sin historia</a:t>
              </a:r>
              <a:endParaRPr lang="es-PE" sz="1000" dirty="0">
                <a:solidFill>
                  <a:schemeClr val="bg1"/>
                </a:solidFill>
              </a:endParaRPr>
            </a:p>
          </p:txBody>
        </p:sp>
        <p:sp>
          <p:nvSpPr>
            <p:cNvPr id="26" name="Rectángulo redondeado 25">
              <a:extLst>
                <a:ext uri="{FF2B5EF4-FFF2-40B4-BE49-F238E27FC236}">
                  <a16:creationId xmlns:a16="http://schemas.microsoft.com/office/drawing/2014/main" id="{68123377-15C5-EE38-2807-368CDF840067}"/>
                </a:ext>
              </a:extLst>
            </p:cNvPr>
            <p:cNvSpPr/>
            <p:nvPr/>
          </p:nvSpPr>
          <p:spPr>
            <a:xfrm>
              <a:off x="6543355" y="4987322"/>
              <a:ext cx="914062" cy="252068"/>
            </a:xfrm>
            <a:prstGeom prst="roundRect">
              <a:avLst>
                <a:gd name="adj" fmla="val 17179"/>
              </a:avLst>
            </a:prstGeom>
            <a:solidFill>
              <a:srgbClr val="FF782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59664B0E-09BD-F9C6-4275-F5C794A9681A}"/>
                </a:ext>
              </a:extLst>
            </p:cNvPr>
            <p:cNvSpPr txBox="1"/>
            <p:nvPr/>
          </p:nvSpPr>
          <p:spPr>
            <a:xfrm>
              <a:off x="6543355" y="5036857"/>
              <a:ext cx="914062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Buena</a:t>
              </a:r>
              <a:endParaRPr lang="es-PE" sz="1000" dirty="0">
                <a:solidFill>
                  <a:schemeClr val="bg1"/>
                </a:solidFill>
              </a:endParaRPr>
            </a:p>
          </p:txBody>
        </p:sp>
        <p:sp>
          <p:nvSpPr>
            <p:cNvPr id="28" name="Rectángulo redondeado 27">
              <a:extLst>
                <a:ext uri="{FF2B5EF4-FFF2-40B4-BE49-F238E27FC236}">
                  <a16:creationId xmlns:a16="http://schemas.microsoft.com/office/drawing/2014/main" id="{36126B35-E636-5399-F214-88B6D196E585}"/>
                </a:ext>
              </a:extLst>
            </p:cNvPr>
            <p:cNvSpPr/>
            <p:nvPr/>
          </p:nvSpPr>
          <p:spPr>
            <a:xfrm>
              <a:off x="6555700" y="2552207"/>
              <a:ext cx="852407" cy="229300"/>
            </a:xfrm>
            <a:prstGeom prst="roundRect">
              <a:avLst>
                <a:gd name="adj" fmla="val 17179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8B868F6E-541D-DD33-9C1A-0A21CD9F61B2}"/>
                </a:ext>
              </a:extLst>
            </p:cNvPr>
            <p:cNvSpPr txBox="1"/>
            <p:nvPr/>
          </p:nvSpPr>
          <p:spPr>
            <a:xfrm>
              <a:off x="6555699" y="2602131"/>
              <a:ext cx="852407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 otorgar</a:t>
              </a:r>
              <a:endParaRPr lang="es-PE" sz="800" dirty="0">
                <a:solidFill>
                  <a:schemeClr val="bg1"/>
                </a:solidFill>
              </a:endParaRPr>
            </a:p>
          </p:txBody>
        </p:sp>
        <p:sp>
          <p:nvSpPr>
            <p:cNvPr id="30" name="Rectángulo redondeado 29">
              <a:extLst>
                <a:ext uri="{FF2B5EF4-FFF2-40B4-BE49-F238E27FC236}">
                  <a16:creationId xmlns:a16="http://schemas.microsoft.com/office/drawing/2014/main" id="{FBEC9356-AFF9-E533-C644-661D8918354E}"/>
                </a:ext>
              </a:extLst>
            </p:cNvPr>
            <p:cNvSpPr/>
            <p:nvPr/>
          </p:nvSpPr>
          <p:spPr>
            <a:xfrm>
              <a:off x="7792829" y="3212336"/>
              <a:ext cx="852407" cy="229300"/>
            </a:xfrm>
            <a:prstGeom prst="roundRect">
              <a:avLst>
                <a:gd name="adj" fmla="val 17179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2046797D-752D-C206-866C-09600DF06B70}"/>
                </a:ext>
              </a:extLst>
            </p:cNvPr>
            <p:cNvSpPr txBox="1"/>
            <p:nvPr/>
          </p:nvSpPr>
          <p:spPr>
            <a:xfrm>
              <a:off x="7792828" y="3262260"/>
              <a:ext cx="852407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 otorgar</a:t>
              </a:r>
              <a:endParaRPr lang="es-PE" sz="800" dirty="0">
                <a:solidFill>
                  <a:schemeClr val="bg1"/>
                </a:solidFill>
              </a:endParaRPr>
            </a:p>
          </p:txBody>
        </p:sp>
        <p:sp>
          <p:nvSpPr>
            <p:cNvPr id="32" name="Rectángulo redondeado 31">
              <a:extLst>
                <a:ext uri="{FF2B5EF4-FFF2-40B4-BE49-F238E27FC236}">
                  <a16:creationId xmlns:a16="http://schemas.microsoft.com/office/drawing/2014/main" id="{1C3643D7-D941-D3E9-BF6B-B2EAAC7AA4BD}"/>
                </a:ext>
              </a:extLst>
            </p:cNvPr>
            <p:cNvSpPr/>
            <p:nvPr/>
          </p:nvSpPr>
          <p:spPr>
            <a:xfrm>
              <a:off x="7792829" y="3564404"/>
              <a:ext cx="852407" cy="229300"/>
            </a:xfrm>
            <a:prstGeom prst="roundRect">
              <a:avLst>
                <a:gd name="adj" fmla="val 17179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6046278A-C6B6-6427-492A-ED50BB5972B4}"/>
                </a:ext>
              </a:extLst>
            </p:cNvPr>
            <p:cNvSpPr txBox="1"/>
            <p:nvPr/>
          </p:nvSpPr>
          <p:spPr>
            <a:xfrm>
              <a:off x="7792828" y="3614328"/>
              <a:ext cx="852407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 otorgar</a:t>
              </a:r>
              <a:endParaRPr lang="es-PE" sz="800" dirty="0">
                <a:solidFill>
                  <a:schemeClr val="bg1"/>
                </a:solidFill>
              </a:endParaRPr>
            </a:p>
          </p:txBody>
        </p:sp>
        <p:sp>
          <p:nvSpPr>
            <p:cNvPr id="34" name="Rectángulo redondeado 33">
              <a:extLst>
                <a:ext uri="{FF2B5EF4-FFF2-40B4-BE49-F238E27FC236}">
                  <a16:creationId xmlns:a16="http://schemas.microsoft.com/office/drawing/2014/main" id="{DA2BF015-02C2-727C-DA56-E362F4A115AA}"/>
                </a:ext>
              </a:extLst>
            </p:cNvPr>
            <p:cNvSpPr/>
            <p:nvPr/>
          </p:nvSpPr>
          <p:spPr>
            <a:xfrm>
              <a:off x="7792829" y="3916473"/>
              <a:ext cx="852407" cy="229300"/>
            </a:xfrm>
            <a:prstGeom prst="roundRect">
              <a:avLst>
                <a:gd name="adj" fmla="val 17179"/>
              </a:avLst>
            </a:prstGeom>
            <a:solidFill>
              <a:srgbClr val="92C14D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181ED85D-CAF3-8A30-E572-29ABCFE873F6}"/>
                </a:ext>
              </a:extLst>
            </p:cNvPr>
            <p:cNvSpPr txBox="1"/>
            <p:nvPr/>
          </p:nvSpPr>
          <p:spPr>
            <a:xfrm>
              <a:off x="7792828" y="3966397"/>
              <a:ext cx="852407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Otorgar</a:t>
              </a:r>
              <a:endParaRPr lang="es-PE" sz="800" dirty="0">
                <a:solidFill>
                  <a:schemeClr val="bg1"/>
                </a:solidFill>
              </a:endParaRPr>
            </a:p>
          </p:txBody>
        </p:sp>
        <p:sp>
          <p:nvSpPr>
            <p:cNvPr id="36" name="Rectángulo redondeado 35">
              <a:extLst>
                <a:ext uri="{FF2B5EF4-FFF2-40B4-BE49-F238E27FC236}">
                  <a16:creationId xmlns:a16="http://schemas.microsoft.com/office/drawing/2014/main" id="{945CBBDE-FB08-6582-3F39-9E432FF6F38D}"/>
                </a:ext>
              </a:extLst>
            </p:cNvPr>
            <p:cNvSpPr/>
            <p:nvPr/>
          </p:nvSpPr>
          <p:spPr>
            <a:xfrm>
              <a:off x="7792829" y="4283211"/>
              <a:ext cx="852407" cy="229300"/>
            </a:xfrm>
            <a:prstGeom prst="roundRect">
              <a:avLst>
                <a:gd name="adj" fmla="val 17179"/>
              </a:avLst>
            </a:prstGeom>
            <a:solidFill>
              <a:srgbClr val="92C14D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F678900E-74BB-69D8-6888-859982F110B5}"/>
                </a:ext>
              </a:extLst>
            </p:cNvPr>
            <p:cNvSpPr txBox="1"/>
            <p:nvPr/>
          </p:nvSpPr>
          <p:spPr>
            <a:xfrm>
              <a:off x="7792828" y="4333135"/>
              <a:ext cx="852407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Otorgar</a:t>
              </a:r>
              <a:endParaRPr lang="es-PE" sz="800" dirty="0">
                <a:solidFill>
                  <a:schemeClr val="bg1"/>
                </a:solidFill>
              </a:endParaRPr>
            </a:p>
          </p:txBody>
        </p:sp>
        <p:sp>
          <p:nvSpPr>
            <p:cNvPr id="38" name="Rectángulo redondeado 37">
              <a:extLst>
                <a:ext uri="{FF2B5EF4-FFF2-40B4-BE49-F238E27FC236}">
                  <a16:creationId xmlns:a16="http://schemas.microsoft.com/office/drawing/2014/main" id="{7E3093F3-818A-0F9F-9528-AFC4BDB51C44}"/>
                </a:ext>
              </a:extLst>
            </p:cNvPr>
            <p:cNvSpPr/>
            <p:nvPr/>
          </p:nvSpPr>
          <p:spPr>
            <a:xfrm>
              <a:off x="7792829" y="4640170"/>
              <a:ext cx="852407" cy="229300"/>
            </a:xfrm>
            <a:prstGeom prst="roundRect">
              <a:avLst>
                <a:gd name="adj" fmla="val 17179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FFA302F0-8AC3-9721-3DA8-7AD38F254C61}"/>
                </a:ext>
              </a:extLst>
            </p:cNvPr>
            <p:cNvSpPr txBox="1"/>
            <p:nvPr/>
          </p:nvSpPr>
          <p:spPr>
            <a:xfrm>
              <a:off x="7792828" y="4690094"/>
              <a:ext cx="852407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 otorgar</a:t>
              </a:r>
              <a:endParaRPr lang="es-PE" sz="800" dirty="0">
                <a:solidFill>
                  <a:schemeClr val="bg1"/>
                </a:solidFill>
              </a:endParaRPr>
            </a:p>
          </p:txBody>
        </p:sp>
        <p:sp>
          <p:nvSpPr>
            <p:cNvPr id="40" name="Rectángulo redondeado 39">
              <a:extLst>
                <a:ext uri="{FF2B5EF4-FFF2-40B4-BE49-F238E27FC236}">
                  <a16:creationId xmlns:a16="http://schemas.microsoft.com/office/drawing/2014/main" id="{2D223080-52AE-5E34-BCF6-B69BD2DCA67B}"/>
                </a:ext>
              </a:extLst>
            </p:cNvPr>
            <p:cNvSpPr/>
            <p:nvPr/>
          </p:nvSpPr>
          <p:spPr>
            <a:xfrm>
              <a:off x="7792829" y="4992238"/>
              <a:ext cx="852407" cy="229300"/>
            </a:xfrm>
            <a:prstGeom prst="roundRect">
              <a:avLst>
                <a:gd name="adj" fmla="val 17179"/>
              </a:avLst>
            </a:prstGeom>
            <a:solidFill>
              <a:srgbClr val="92C14D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851BDD44-DD6A-E198-CD3B-48A91EE955B4}"/>
                </a:ext>
              </a:extLst>
            </p:cNvPr>
            <p:cNvSpPr txBox="1"/>
            <p:nvPr/>
          </p:nvSpPr>
          <p:spPr>
            <a:xfrm>
              <a:off x="7792828" y="5042162"/>
              <a:ext cx="852407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Otorgar</a:t>
              </a:r>
              <a:endParaRPr lang="es-PE" sz="800" dirty="0">
                <a:solidFill>
                  <a:schemeClr val="bg1"/>
                </a:solidFill>
              </a:endParaRPr>
            </a:p>
          </p:txBody>
        </p: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F03C2EAC-ADDE-5366-F216-95453F5B0567}"/>
                </a:ext>
              </a:extLst>
            </p:cNvPr>
            <p:cNvCxnSpPr>
              <a:cxnSpLocks/>
            </p:cNvCxnSpPr>
            <p:nvPr/>
          </p:nvCxnSpPr>
          <p:spPr>
            <a:xfrm>
              <a:off x="4618321" y="3694807"/>
              <a:ext cx="427996" cy="0"/>
            </a:xfrm>
            <a:prstGeom prst="line">
              <a:avLst/>
            </a:prstGeom>
            <a:ln w="12700">
              <a:solidFill>
                <a:srgbClr val="808799"/>
              </a:solidFill>
              <a:tailEnd type="triangle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7FF66299-8B4F-AE94-BCBD-3D9BC47708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18321" y="2725242"/>
              <a:ext cx="427996" cy="908231"/>
            </a:xfrm>
            <a:prstGeom prst="line">
              <a:avLst/>
            </a:prstGeom>
            <a:ln w="12700">
              <a:solidFill>
                <a:srgbClr val="808799"/>
              </a:solidFill>
              <a:tailEnd type="triangle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3D875B0A-86AE-D758-0154-8C5CB496E322}"/>
                </a:ext>
              </a:extLst>
            </p:cNvPr>
            <p:cNvCxnSpPr>
              <a:cxnSpLocks/>
            </p:cNvCxnSpPr>
            <p:nvPr/>
          </p:nvCxnSpPr>
          <p:spPr>
            <a:xfrm>
              <a:off x="4618321" y="3761888"/>
              <a:ext cx="427996" cy="908231"/>
            </a:xfrm>
            <a:prstGeom prst="line">
              <a:avLst/>
            </a:prstGeom>
            <a:ln w="12700">
              <a:solidFill>
                <a:srgbClr val="808799"/>
              </a:solidFill>
              <a:tailEnd type="triangle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3EC6B6B6-2870-CFC0-CCA6-F7D0FDB4837E}"/>
                </a:ext>
              </a:extLst>
            </p:cNvPr>
            <p:cNvCxnSpPr>
              <a:cxnSpLocks/>
            </p:cNvCxnSpPr>
            <p:nvPr/>
          </p:nvCxnSpPr>
          <p:spPr>
            <a:xfrm>
              <a:off x="6065713" y="2682610"/>
              <a:ext cx="427996" cy="0"/>
            </a:xfrm>
            <a:prstGeom prst="line">
              <a:avLst/>
            </a:prstGeom>
            <a:ln w="12700">
              <a:solidFill>
                <a:srgbClr val="808799"/>
              </a:solidFill>
              <a:tailEnd type="triangle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F9B47D64-DDA1-3067-A6F5-255A14FF591D}"/>
                </a:ext>
              </a:extLst>
            </p:cNvPr>
            <p:cNvCxnSpPr>
              <a:cxnSpLocks/>
            </p:cNvCxnSpPr>
            <p:nvPr/>
          </p:nvCxnSpPr>
          <p:spPr>
            <a:xfrm>
              <a:off x="7508875" y="3323815"/>
              <a:ext cx="244475" cy="0"/>
            </a:xfrm>
            <a:prstGeom prst="line">
              <a:avLst/>
            </a:prstGeom>
            <a:ln w="12700">
              <a:solidFill>
                <a:srgbClr val="808799"/>
              </a:solidFill>
              <a:tailEnd type="triangle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561CB131-3EA1-8D30-EF6B-8D4091D2CDF0}"/>
                </a:ext>
              </a:extLst>
            </p:cNvPr>
            <p:cNvCxnSpPr>
              <a:cxnSpLocks/>
            </p:cNvCxnSpPr>
            <p:nvPr/>
          </p:nvCxnSpPr>
          <p:spPr>
            <a:xfrm>
              <a:off x="7508875" y="3685765"/>
              <a:ext cx="244475" cy="0"/>
            </a:xfrm>
            <a:prstGeom prst="line">
              <a:avLst/>
            </a:prstGeom>
            <a:ln w="12700">
              <a:solidFill>
                <a:srgbClr val="808799"/>
              </a:solidFill>
              <a:tailEnd type="triangle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C4697E88-8FCC-D15B-AC85-03CE2346FF78}"/>
                </a:ext>
              </a:extLst>
            </p:cNvPr>
            <p:cNvCxnSpPr>
              <a:cxnSpLocks/>
            </p:cNvCxnSpPr>
            <p:nvPr/>
          </p:nvCxnSpPr>
          <p:spPr>
            <a:xfrm>
              <a:off x="7508875" y="4028665"/>
              <a:ext cx="244475" cy="0"/>
            </a:xfrm>
            <a:prstGeom prst="line">
              <a:avLst/>
            </a:prstGeom>
            <a:ln w="12700">
              <a:solidFill>
                <a:srgbClr val="808799"/>
              </a:solidFill>
              <a:tailEnd type="triangle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DF378379-A2D9-6B24-E3A5-57C5941C2D7B}"/>
                </a:ext>
              </a:extLst>
            </p:cNvPr>
            <p:cNvCxnSpPr>
              <a:cxnSpLocks/>
            </p:cNvCxnSpPr>
            <p:nvPr/>
          </p:nvCxnSpPr>
          <p:spPr>
            <a:xfrm>
              <a:off x="7508875" y="4403315"/>
              <a:ext cx="244475" cy="0"/>
            </a:xfrm>
            <a:prstGeom prst="line">
              <a:avLst/>
            </a:prstGeom>
            <a:ln w="12700">
              <a:solidFill>
                <a:srgbClr val="808799"/>
              </a:solidFill>
              <a:tailEnd type="triangle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85E82955-6B35-B9E1-5124-543C72A19744}"/>
                </a:ext>
              </a:extLst>
            </p:cNvPr>
            <p:cNvCxnSpPr>
              <a:cxnSpLocks/>
            </p:cNvCxnSpPr>
            <p:nvPr/>
          </p:nvCxnSpPr>
          <p:spPr>
            <a:xfrm>
              <a:off x="7508875" y="4758915"/>
              <a:ext cx="244475" cy="0"/>
            </a:xfrm>
            <a:prstGeom prst="line">
              <a:avLst/>
            </a:prstGeom>
            <a:ln w="12700">
              <a:solidFill>
                <a:srgbClr val="808799"/>
              </a:solidFill>
              <a:tailEnd type="triangle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9EFDA994-8B44-8229-3269-57EF91B93B84}"/>
                </a:ext>
              </a:extLst>
            </p:cNvPr>
            <p:cNvCxnSpPr>
              <a:cxnSpLocks/>
            </p:cNvCxnSpPr>
            <p:nvPr/>
          </p:nvCxnSpPr>
          <p:spPr>
            <a:xfrm>
              <a:off x="7508875" y="5114515"/>
              <a:ext cx="244475" cy="0"/>
            </a:xfrm>
            <a:prstGeom prst="line">
              <a:avLst/>
            </a:prstGeom>
            <a:ln w="12700">
              <a:solidFill>
                <a:srgbClr val="808799"/>
              </a:solidFill>
              <a:tailEnd type="triangle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97F8850D-35EB-DB40-FD2C-41306A7C08E9}"/>
                </a:ext>
              </a:extLst>
            </p:cNvPr>
            <p:cNvCxnSpPr>
              <a:cxnSpLocks/>
            </p:cNvCxnSpPr>
            <p:nvPr/>
          </p:nvCxnSpPr>
          <p:spPr>
            <a:xfrm>
              <a:off x="6059771" y="3694807"/>
              <a:ext cx="427996" cy="0"/>
            </a:xfrm>
            <a:prstGeom prst="line">
              <a:avLst/>
            </a:prstGeom>
            <a:ln w="12700">
              <a:solidFill>
                <a:srgbClr val="808799"/>
              </a:solidFill>
              <a:tailEnd type="triangle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recto 60">
              <a:extLst>
                <a:ext uri="{FF2B5EF4-FFF2-40B4-BE49-F238E27FC236}">
                  <a16:creationId xmlns:a16="http://schemas.microsoft.com/office/drawing/2014/main" id="{8B89F622-8D9C-D815-E532-C76241189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9771" y="3332188"/>
              <a:ext cx="427996" cy="295944"/>
            </a:xfrm>
            <a:prstGeom prst="line">
              <a:avLst/>
            </a:prstGeom>
            <a:ln w="12700">
              <a:solidFill>
                <a:srgbClr val="808799"/>
              </a:solidFill>
              <a:tailEnd type="triangle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205C8DDA-E0F3-82B3-1027-997610B95632}"/>
                </a:ext>
              </a:extLst>
            </p:cNvPr>
            <p:cNvCxnSpPr>
              <a:cxnSpLocks/>
            </p:cNvCxnSpPr>
            <p:nvPr/>
          </p:nvCxnSpPr>
          <p:spPr>
            <a:xfrm>
              <a:off x="6059771" y="3754463"/>
              <a:ext cx="427996" cy="295944"/>
            </a:xfrm>
            <a:prstGeom prst="line">
              <a:avLst/>
            </a:prstGeom>
            <a:ln w="12700">
              <a:solidFill>
                <a:srgbClr val="808799"/>
              </a:solidFill>
              <a:tailEnd type="triangle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EAD02F5D-6456-8C66-B942-BFCDD2BEA83F}"/>
                </a:ext>
              </a:extLst>
            </p:cNvPr>
            <p:cNvCxnSpPr>
              <a:cxnSpLocks/>
            </p:cNvCxnSpPr>
            <p:nvPr/>
          </p:nvCxnSpPr>
          <p:spPr>
            <a:xfrm>
              <a:off x="6059771" y="4787007"/>
              <a:ext cx="427996" cy="0"/>
            </a:xfrm>
            <a:prstGeom prst="line">
              <a:avLst/>
            </a:prstGeom>
            <a:ln w="12700">
              <a:solidFill>
                <a:srgbClr val="808799"/>
              </a:solidFill>
              <a:tailEnd type="triangle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9594E496-0425-B139-D528-7FAD496B51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9771" y="4424388"/>
              <a:ext cx="427996" cy="295944"/>
            </a:xfrm>
            <a:prstGeom prst="line">
              <a:avLst/>
            </a:prstGeom>
            <a:ln w="12700">
              <a:solidFill>
                <a:srgbClr val="808799"/>
              </a:solidFill>
              <a:tailEnd type="triangle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5BC310A8-0791-FD36-1575-8DC4B6CAA705}"/>
                </a:ext>
              </a:extLst>
            </p:cNvPr>
            <p:cNvCxnSpPr>
              <a:cxnSpLocks/>
            </p:cNvCxnSpPr>
            <p:nvPr/>
          </p:nvCxnSpPr>
          <p:spPr>
            <a:xfrm>
              <a:off x="6059771" y="4846663"/>
              <a:ext cx="427996" cy="295944"/>
            </a:xfrm>
            <a:prstGeom prst="line">
              <a:avLst/>
            </a:prstGeom>
            <a:ln w="12700">
              <a:solidFill>
                <a:srgbClr val="808799"/>
              </a:solidFill>
              <a:tailEnd type="triangle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CuadroTexto 68">
            <a:extLst>
              <a:ext uri="{FF2B5EF4-FFF2-40B4-BE49-F238E27FC236}">
                <a16:creationId xmlns:a16="http://schemas.microsoft.com/office/drawing/2014/main" id="{B7329316-B56E-1271-8A1C-24E0F57505EB}"/>
              </a:ext>
            </a:extLst>
          </p:cNvPr>
          <p:cNvSpPr txBox="1"/>
          <p:nvPr/>
        </p:nvSpPr>
        <p:spPr>
          <a:xfrm>
            <a:off x="5031736" y="1094968"/>
            <a:ext cx="2683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PE" sz="1400" b="1" dirty="0"/>
              <a:t>ÁRBOL DE DECISIÓN</a:t>
            </a:r>
            <a:endParaRPr lang="es-419" sz="1400" dirty="0"/>
          </a:p>
        </p:txBody>
      </p:sp>
    </p:spTree>
    <p:extLst>
      <p:ext uri="{BB962C8B-B14F-4D97-AF65-F5344CB8AC3E}">
        <p14:creationId xmlns:p14="http://schemas.microsoft.com/office/powerpoint/2010/main" val="704360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4FC732B2-A0D1-8EFA-0E86-D82462EE4767}"/>
              </a:ext>
            </a:extLst>
          </p:cNvPr>
          <p:cNvSpPr txBox="1"/>
          <p:nvPr/>
        </p:nvSpPr>
        <p:spPr>
          <a:xfrm>
            <a:off x="503238" y="912812"/>
            <a:ext cx="3751775" cy="316042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s-PE" sz="1600" b="1" dirty="0">
                <a:latin typeface="Calibri" panose="020F0502020204030204" pitchFamily="34" charset="0"/>
                <a:cs typeface="Calibri" panose="020F0502020204030204" pitchFamily="34" charset="0"/>
              </a:rPr>
              <a:t>ALGORITMOS DE REGRESIÓN</a:t>
            </a:r>
            <a:endParaRPr lang="es-419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419" sz="1600" dirty="0">
                <a:latin typeface="Calibri" panose="020F0502020204030204" pitchFamily="34" charset="0"/>
                <a:cs typeface="Calibri" panose="020F0502020204030204" pitchFamily="34" charset="0"/>
              </a:rPr>
              <a:t>Predicen una o más variables (continuas </a:t>
            </a:r>
            <a:br>
              <a:rPr lang="es-419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419" sz="1600" dirty="0">
                <a:latin typeface="Calibri" panose="020F0502020204030204" pitchFamily="34" charset="0"/>
                <a:cs typeface="Calibri" panose="020F0502020204030204" pitchFamily="34" charset="0"/>
              </a:rPr>
              <a:t>o discretas) en base a otros atributos del conjunto de datos.</a:t>
            </a:r>
          </a:p>
          <a:p>
            <a:endParaRPr lang="es-419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419" sz="1600" b="1" dirty="0">
                <a:latin typeface="Calibri" panose="020F0502020204030204" pitchFamily="34" charset="0"/>
                <a:cs typeface="Calibri" panose="020F0502020204030204" pitchFamily="34" charset="0"/>
              </a:rPr>
              <a:t>Algoritmo regresión lineal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419" sz="1600" dirty="0">
                <a:latin typeface="Calibri" panose="020F0502020204030204" pitchFamily="34" charset="0"/>
                <a:cs typeface="Calibri" panose="020F0502020204030204" pitchFamily="34" charset="0"/>
              </a:rPr>
              <a:t>Identifica relaciones y calcula probabilidades en base a los datos.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419" sz="1600" dirty="0">
                <a:latin typeface="Calibri" panose="020F0502020204030204" pitchFamily="34" charset="0"/>
                <a:cs typeface="Calibri" panose="020F0502020204030204" pitchFamily="34" charset="0"/>
              </a:rPr>
              <a:t>Determina la línea recta que mejor describe la relación entre la variable independiente y su variable dependiente.</a:t>
            </a:r>
          </a:p>
          <a:p>
            <a:r>
              <a:rPr lang="es-419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3" name="Google Shape;127;p5">
            <a:extLst>
              <a:ext uri="{FF2B5EF4-FFF2-40B4-BE49-F238E27FC236}">
                <a16:creationId xmlns:a16="http://schemas.microsoft.com/office/drawing/2014/main" id="{EE4A6B9D-E071-4244-FB9A-AE3DF9632C58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ALGORITMOS Y ESTRUCTURAS DE MINERÍA DE DATOS</a:t>
            </a:r>
            <a:endParaRPr dirty="0"/>
          </a:p>
        </p:txBody>
      </p:sp>
      <p:grpSp>
        <p:nvGrpSpPr>
          <p:cNvPr id="129" name="Grupo 128">
            <a:extLst>
              <a:ext uri="{FF2B5EF4-FFF2-40B4-BE49-F238E27FC236}">
                <a16:creationId xmlns:a16="http://schemas.microsoft.com/office/drawing/2014/main" id="{1DDE468E-1BA4-59F1-B943-E79E7D2D8455}"/>
              </a:ext>
            </a:extLst>
          </p:cNvPr>
          <p:cNvGrpSpPr/>
          <p:nvPr/>
        </p:nvGrpSpPr>
        <p:grpSpPr>
          <a:xfrm>
            <a:off x="4435186" y="2010093"/>
            <a:ext cx="4240502" cy="2640188"/>
            <a:chOff x="5127353" y="1981200"/>
            <a:chExt cx="3480858" cy="2167224"/>
          </a:xfrm>
        </p:grpSpPr>
        <p:cxnSp>
          <p:nvCxnSpPr>
            <p:cNvPr id="108" name="Conector recto 107">
              <a:extLst>
                <a:ext uri="{FF2B5EF4-FFF2-40B4-BE49-F238E27FC236}">
                  <a16:creationId xmlns:a16="http://schemas.microsoft.com/office/drawing/2014/main" id="{3FF98B00-DB59-B0C2-0A5F-7834DC7F50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3487" y="2287269"/>
              <a:ext cx="3189320" cy="1481456"/>
            </a:xfrm>
            <a:prstGeom prst="line">
              <a:avLst/>
            </a:prstGeom>
            <a:ln>
              <a:solidFill>
                <a:srgbClr val="EE4639"/>
              </a:solidFill>
            </a:ln>
            <a:effectLst>
              <a:outerShdw dist="11883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A39C16E2-46F2-A6B8-72E8-A6FFB9092139}"/>
                </a:ext>
              </a:extLst>
            </p:cNvPr>
            <p:cNvSpPr/>
            <p:nvPr/>
          </p:nvSpPr>
          <p:spPr>
            <a:xfrm>
              <a:off x="5352263" y="330200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1C7789D4-34D6-6F39-7F19-BDF674AE76D5}"/>
                </a:ext>
              </a:extLst>
            </p:cNvPr>
            <p:cNvSpPr/>
            <p:nvPr/>
          </p:nvSpPr>
          <p:spPr>
            <a:xfrm>
              <a:off x="5415763" y="32988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CABC4AC5-684E-B575-469E-27D7A0102487}"/>
                </a:ext>
              </a:extLst>
            </p:cNvPr>
            <p:cNvSpPr/>
            <p:nvPr/>
          </p:nvSpPr>
          <p:spPr>
            <a:xfrm>
              <a:off x="5339563" y="3489325"/>
              <a:ext cx="45719" cy="47625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98E8BD19-6EB7-2C95-5151-ECC2FA43DD27}"/>
                </a:ext>
              </a:extLst>
            </p:cNvPr>
            <p:cNvSpPr/>
            <p:nvPr/>
          </p:nvSpPr>
          <p:spPr>
            <a:xfrm flipH="1">
              <a:off x="5305907" y="353060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B25AC1F8-51D4-5C58-69F7-A4985ECE2EC7}"/>
                </a:ext>
              </a:extLst>
            </p:cNvPr>
            <p:cNvSpPr/>
            <p:nvPr/>
          </p:nvSpPr>
          <p:spPr>
            <a:xfrm>
              <a:off x="5374488" y="36036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4268ECB8-3B53-4376-0DC2-626D4BCC2D41}"/>
                </a:ext>
              </a:extLst>
            </p:cNvPr>
            <p:cNvSpPr/>
            <p:nvPr/>
          </p:nvSpPr>
          <p:spPr>
            <a:xfrm>
              <a:off x="5447513" y="35464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0B985D4A-FEDD-12D1-F657-F451A2EE92B9}"/>
                </a:ext>
              </a:extLst>
            </p:cNvPr>
            <p:cNvSpPr/>
            <p:nvPr/>
          </p:nvSpPr>
          <p:spPr>
            <a:xfrm>
              <a:off x="5549113" y="34702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161E69AA-8AA9-EFDC-2E7D-1CEFB5E4F8F9}"/>
                </a:ext>
              </a:extLst>
            </p:cNvPr>
            <p:cNvSpPr/>
            <p:nvPr/>
          </p:nvSpPr>
          <p:spPr>
            <a:xfrm>
              <a:off x="5584038" y="345440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76628B5C-9DC3-4365-59F5-12C9DC0BE9B2}"/>
                </a:ext>
              </a:extLst>
            </p:cNvPr>
            <p:cNvSpPr/>
            <p:nvPr/>
          </p:nvSpPr>
          <p:spPr>
            <a:xfrm>
              <a:off x="5599913" y="338455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2C00404F-DBA3-408A-253D-6226B0D1260F}"/>
                </a:ext>
              </a:extLst>
            </p:cNvPr>
            <p:cNvSpPr/>
            <p:nvPr/>
          </p:nvSpPr>
          <p:spPr>
            <a:xfrm>
              <a:off x="5682463" y="341630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93A867D3-D2E8-D40D-4505-136CAA763CD0}"/>
                </a:ext>
              </a:extLst>
            </p:cNvPr>
            <p:cNvSpPr/>
            <p:nvPr/>
          </p:nvSpPr>
          <p:spPr>
            <a:xfrm>
              <a:off x="5752313" y="32670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2F081EDF-2003-C32B-F621-A6A3CB6E3468}"/>
                </a:ext>
              </a:extLst>
            </p:cNvPr>
            <p:cNvSpPr/>
            <p:nvPr/>
          </p:nvSpPr>
          <p:spPr>
            <a:xfrm>
              <a:off x="5787238" y="34131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867B2773-1604-4A4F-8C54-1F1FD550CE17}"/>
                </a:ext>
              </a:extLst>
            </p:cNvPr>
            <p:cNvSpPr/>
            <p:nvPr/>
          </p:nvSpPr>
          <p:spPr>
            <a:xfrm>
              <a:off x="5866613" y="34258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88AA56AB-D211-304F-8048-EBA0572CF372}"/>
                </a:ext>
              </a:extLst>
            </p:cNvPr>
            <p:cNvSpPr/>
            <p:nvPr/>
          </p:nvSpPr>
          <p:spPr>
            <a:xfrm>
              <a:off x="5536413" y="36036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6559E1EF-E247-2BF8-227B-044A051AD21E}"/>
                </a:ext>
              </a:extLst>
            </p:cNvPr>
            <p:cNvSpPr/>
            <p:nvPr/>
          </p:nvSpPr>
          <p:spPr>
            <a:xfrm>
              <a:off x="5418938" y="36544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AC386FEE-9F38-058E-3E8A-E555BFA76017}"/>
                </a:ext>
              </a:extLst>
            </p:cNvPr>
            <p:cNvSpPr/>
            <p:nvPr/>
          </p:nvSpPr>
          <p:spPr>
            <a:xfrm>
              <a:off x="5790413" y="361950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80CA2E23-73D2-7A62-D1B3-863555DB9DA0}"/>
                </a:ext>
              </a:extLst>
            </p:cNvPr>
            <p:cNvSpPr/>
            <p:nvPr/>
          </p:nvSpPr>
          <p:spPr>
            <a:xfrm>
              <a:off x="5860263" y="356235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B7275735-6EB3-74FE-8FC6-DBC0B829CB9F}"/>
                </a:ext>
              </a:extLst>
            </p:cNvPr>
            <p:cNvSpPr/>
            <p:nvPr/>
          </p:nvSpPr>
          <p:spPr>
            <a:xfrm>
              <a:off x="5920588" y="345440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D6F977FC-0A55-044B-485F-0A6C4B0AAA32}"/>
                </a:ext>
              </a:extLst>
            </p:cNvPr>
            <p:cNvSpPr/>
            <p:nvPr/>
          </p:nvSpPr>
          <p:spPr>
            <a:xfrm>
              <a:off x="5996788" y="33813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ADC07459-7F4B-02E0-8C26-7694297B19EB}"/>
                </a:ext>
              </a:extLst>
            </p:cNvPr>
            <p:cNvSpPr/>
            <p:nvPr/>
          </p:nvSpPr>
          <p:spPr>
            <a:xfrm>
              <a:off x="5968213" y="332740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3CAD693C-5135-BA04-7D7B-A1B1068B757A}"/>
                </a:ext>
              </a:extLst>
            </p:cNvPr>
            <p:cNvSpPr/>
            <p:nvPr/>
          </p:nvSpPr>
          <p:spPr>
            <a:xfrm>
              <a:off x="5968213" y="31591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14497DEE-308D-F609-2484-BE99B3C67005}"/>
                </a:ext>
              </a:extLst>
            </p:cNvPr>
            <p:cNvSpPr/>
            <p:nvPr/>
          </p:nvSpPr>
          <p:spPr>
            <a:xfrm>
              <a:off x="6079338" y="326390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12C28CE7-2ECD-7AE3-2CB2-C2608146100B}"/>
                </a:ext>
              </a:extLst>
            </p:cNvPr>
            <p:cNvSpPr/>
            <p:nvPr/>
          </p:nvSpPr>
          <p:spPr>
            <a:xfrm>
              <a:off x="6146013" y="305435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6A75C672-63D4-5957-5CA0-EEA2B8590BB4}"/>
                </a:ext>
              </a:extLst>
            </p:cNvPr>
            <p:cNvSpPr/>
            <p:nvPr/>
          </p:nvSpPr>
          <p:spPr>
            <a:xfrm>
              <a:off x="6171413" y="316865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6FAE0391-9981-63DD-5B3D-EB596998D3D2}"/>
                </a:ext>
              </a:extLst>
            </p:cNvPr>
            <p:cNvSpPr/>
            <p:nvPr/>
          </p:nvSpPr>
          <p:spPr>
            <a:xfrm>
              <a:off x="6260313" y="304165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C48D81A5-B5E0-F482-502E-EDDB696448C3}"/>
                </a:ext>
              </a:extLst>
            </p:cNvPr>
            <p:cNvSpPr/>
            <p:nvPr/>
          </p:nvSpPr>
          <p:spPr>
            <a:xfrm>
              <a:off x="6117438" y="337185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D0CAE4ED-34BD-2F06-4FC5-A9BBF4ACD647}"/>
                </a:ext>
              </a:extLst>
            </p:cNvPr>
            <p:cNvSpPr/>
            <p:nvPr/>
          </p:nvSpPr>
          <p:spPr>
            <a:xfrm>
              <a:off x="6053938" y="35210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D4961FE6-FA82-98A2-8F6A-528410FF61F6}"/>
                </a:ext>
              </a:extLst>
            </p:cNvPr>
            <p:cNvSpPr/>
            <p:nvPr/>
          </p:nvSpPr>
          <p:spPr>
            <a:xfrm>
              <a:off x="6199988" y="354330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471FE33F-E69F-7651-DF02-911565AE8004}"/>
                </a:ext>
              </a:extLst>
            </p:cNvPr>
            <p:cNvSpPr/>
            <p:nvPr/>
          </p:nvSpPr>
          <p:spPr>
            <a:xfrm>
              <a:off x="6257138" y="351155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B2BD9922-594A-9B28-9D2C-5C0ABE345BD6}"/>
                </a:ext>
              </a:extLst>
            </p:cNvPr>
            <p:cNvSpPr/>
            <p:nvPr/>
          </p:nvSpPr>
          <p:spPr>
            <a:xfrm>
              <a:off x="6253963" y="34131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1F795E3C-F495-231A-B3DA-C8D32FA68480}"/>
                </a:ext>
              </a:extLst>
            </p:cNvPr>
            <p:cNvSpPr/>
            <p:nvPr/>
          </p:nvSpPr>
          <p:spPr>
            <a:xfrm>
              <a:off x="6304763" y="342265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3A2CFDE9-246E-90F2-2DAA-7F206B8480CB}"/>
                </a:ext>
              </a:extLst>
            </p:cNvPr>
            <p:cNvSpPr/>
            <p:nvPr/>
          </p:nvSpPr>
          <p:spPr>
            <a:xfrm>
              <a:off x="6301588" y="321945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A44DB736-067C-72AF-0A33-3656DFB0125D}"/>
                </a:ext>
              </a:extLst>
            </p:cNvPr>
            <p:cNvSpPr/>
            <p:nvPr/>
          </p:nvSpPr>
          <p:spPr>
            <a:xfrm>
              <a:off x="6311113" y="30892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F8EEFF44-8E27-AF8B-4E96-A6BDC7A48925}"/>
                </a:ext>
              </a:extLst>
            </p:cNvPr>
            <p:cNvSpPr/>
            <p:nvPr/>
          </p:nvSpPr>
          <p:spPr>
            <a:xfrm>
              <a:off x="6393663" y="30575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7D2E7E71-1D59-3C96-10E8-BD37CFC205C8}"/>
                </a:ext>
              </a:extLst>
            </p:cNvPr>
            <p:cNvSpPr/>
            <p:nvPr/>
          </p:nvSpPr>
          <p:spPr>
            <a:xfrm>
              <a:off x="6425413" y="30892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C242266F-F80E-7330-C51D-C141A0234380}"/>
                </a:ext>
              </a:extLst>
            </p:cNvPr>
            <p:cNvSpPr/>
            <p:nvPr/>
          </p:nvSpPr>
          <p:spPr>
            <a:xfrm>
              <a:off x="6412713" y="328295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97D36828-7253-197E-8384-BA0EBB2C53CD}"/>
                </a:ext>
              </a:extLst>
            </p:cNvPr>
            <p:cNvSpPr/>
            <p:nvPr/>
          </p:nvSpPr>
          <p:spPr>
            <a:xfrm>
              <a:off x="6387313" y="33686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6" name="Elipse 45">
              <a:extLst>
                <a:ext uri="{FF2B5EF4-FFF2-40B4-BE49-F238E27FC236}">
                  <a16:creationId xmlns:a16="http://schemas.microsoft.com/office/drawing/2014/main" id="{2954E6EF-53A4-0031-E5A4-1FB1329A3678}"/>
                </a:ext>
              </a:extLst>
            </p:cNvPr>
            <p:cNvSpPr/>
            <p:nvPr/>
          </p:nvSpPr>
          <p:spPr>
            <a:xfrm>
              <a:off x="6412713" y="34639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35BC6946-C14B-D4B2-3818-B84990F8E1B1}"/>
                </a:ext>
              </a:extLst>
            </p:cNvPr>
            <p:cNvSpPr/>
            <p:nvPr/>
          </p:nvSpPr>
          <p:spPr>
            <a:xfrm>
              <a:off x="6501613" y="35147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C97D051F-748F-6F48-FB34-581930F29837}"/>
                </a:ext>
              </a:extLst>
            </p:cNvPr>
            <p:cNvSpPr/>
            <p:nvPr/>
          </p:nvSpPr>
          <p:spPr>
            <a:xfrm>
              <a:off x="6580988" y="34639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BB131868-C712-B9DC-1203-7A380DE025A1}"/>
                </a:ext>
              </a:extLst>
            </p:cNvPr>
            <p:cNvSpPr/>
            <p:nvPr/>
          </p:nvSpPr>
          <p:spPr>
            <a:xfrm>
              <a:off x="6517488" y="32226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A7321AC0-E761-09FE-F1E2-32E1C6093E3F}"/>
                </a:ext>
              </a:extLst>
            </p:cNvPr>
            <p:cNvSpPr/>
            <p:nvPr/>
          </p:nvSpPr>
          <p:spPr>
            <a:xfrm>
              <a:off x="6479388" y="31146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1" name="Elipse 50">
              <a:extLst>
                <a:ext uri="{FF2B5EF4-FFF2-40B4-BE49-F238E27FC236}">
                  <a16:creationId xmlns:a16="http://schemas.microsoft.com/office/drawing/2014/main" id="{3141119A-E8BF-0715-92E8-E979AFF42802}"/>
                </a:ext>
              </a:extLst>
            </p:cNvPr>
            <p:cNvSpPr/>
            <p:nvPr/>
          </p:nvSpPr>
          <p:spPr>
            <a:xfrm>
              <a:off x="6542888" y="30575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6CF2B61F-BC9D-F684-0CBD-7E8FC8997B4F}"/>
                </a:ext>
              </a:extLst>
            </p:cNvPr>
            <p:cNvSpPr/>
            <p:nvPr/>
          </p:nvSpPr>
          <p:spPr>
            <a:xfrm>
              <a:off x="6603213" y="30829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28CC08AA-3D32-F448-45D6-714581EC17C0}"/>
                </a:ext>
              </a:extLst>
            </p:cNvPr>
            <p:cNvSpPr/>
            <p:nvPr/>
          </p:nvSpPr>
          <p:spPr>
            <a:xfrm>
              <a:off x="6679413" y="315595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5" name="Elipse 54">
              <a:extLst>
                <a:ext uri="{FF2B5EF4-FFF2-40B4-BE49-F238E27FC236}">
                  <a16:creationId xmlns:a16="http://schemas.microsoft.com/office/drawing/2014/main" id="{B3FE4309-D102-04D8-EFBF-01FB1CEF6C71}"/>
                </a:ext>
              </a:extLst>
            </p:cNvPr>
            <p:cNvSpPr/>
            <p:nvPr/>
          </p:nvSpPr>
          <p:spPr>
            <a:xfrm>
              <a:off x="6631788" y="28543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08F5850A-7D3D-8C4E-6316-439434FAD33D}"/>
                </a:ext>
              </a:extLst>
            </p:cNvPr>
            <p:cNvSpPr/>
            <p:nvPr/>
          </p:nvSpPr>
          <p:spPr>
            <a:xfrm>
              <a:off x="6714338" y="29178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B402E0C9-DCAD-7DC2-4993-F03952B586A9}"/>
                </a:ext>
              </a:extLst>
            </p:cNvPr>
            <p:cNvSpPr/>
            <p:nvPr/>
          </p:nvSpPr>
          <p:spPr>
            <a:xfrm>
              <a:off x="6704813" y="297815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23E167F1-76A5-126A-129C-E3381CFF4D23}"/>
                </a:ext>
              </a:extLst>
            </p:cNvPr>
            <p:cNvSpPr/>
            <p:nvPr/>
          </p:nvSpPr>
          <p:spPr>
            <a:xfrm>
              <a:off x="6834988" y="29368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9" name="Elipse 58">
              <a:extLst>
                <a:ext uri="{FF2B5EF4-FFF2-40B4-BE49-F238E27FC236}">
                  <a16:creationId xmlns:a16="http://schemas.microsoft.com/office/drawing/2014/main" id="{6E9D60D0-57A0-C8A7-9B93-17AC6C329506}"/>
                </a:ext>
              </a:extLst>
            </p:cNvPr>
            <p:cNvSpPr/>
            <p:nvPr/>
          </p:nvSpPr>
          <p:spPr>
            <a:xfrm>
              <a:off x="6876263" y="29432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DFDC1B6E-4F59-B53B-0809-C665CE50D0F9}"/>
                </a:ext>
              </a:extLst>
            </p:cNvPr>
            <p:cNvSpPr/>
            <p:nvPr/>
          </p:nvSpPr>
          <p:spPr>
            <a:xfrm>
              <a:off x="6882613" y="30448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1CAFEA4A-83CB-4C88-52FF-A8B39ABFF15D}"/>
                </a:ext>
              </a:extLst>
            </p:cNvPr>
            <p:cNvSpPr/>
            <p:nvPr/>
          </p:nvSpPr>
          <p:spPr>
            <a:xfrm>
              <a:off x="6981038" y="30829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A35BF5B3-C18A-DCD8-B904-F01F1EABC8DD}"/>
                </a:ext>
              </a:extLst>
            </p:cNvPr>
            <p:cNvSpPr/>
            <p:nvPr/>
          </p:nvSpPr>
          <p:spPr>
            <a:xfrm>
              <a:off x="7047713" y="30829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6C08D3EB-72C1-01FE-2EBD-4A5EBABD4D75}"/>
                </a:ext>
              </a:extLst>
            </p:cNvPr>
            <p:cNvSpPr/>
            <p:nvPr/>
          </p:nvSpPr>
          <p:spPr>
            <a:xfrm>
              <a:off x="7184238" y="329565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D5B1638F-000C-A3BE-2ECE-DB58A3F02BD6}"/>
                </a:ext>
              </a:extLst>
            </p:cNvPr>
            <p:cNvSpPr/>
            <p:nvPr/>
          </p:nvSpPr>
          <p:spPr>
            <a:xfrm>
              <a:off x="7228688" y="306070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CADF7FEC-8D83-1E49-6429-F88C5E1FE377}"/>
                </a:ext>
              </a:extLst>
            </p:cNvPr>
            <p:cNvSpPr/>
            <p:nvPr/>
          </p:nvSpPr>
          <p:spPr>
            <a:xfrm>
              <a:off x="7079463" y="293370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71838BDD-B469-863B-2A1E-7E7698E401E2}"/>
                </a:ext>
              </a:extLst>
            </p:cNvPr>
            <p:cNvSpPr/>
            <p:nvPr/>
          </p:nvSpPr>
          <p:spPr>
            <a:xfrm>
              <a:off x="7190588" y="28352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34B53C3C-860C-EC24-3706-D738450977A4}"/>
                </a:ext>
              </a:extLst>
            </p:cNvPr>
            <p:cNvSpPr/>
            <p:nvPr/>
          </p:nvSpPr>
          <p:spPr>
            <a:xfrm>
              <a:off x="7317588" y="29622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8" name="Elipse 67">
              <a:extLst>
                <a:ext uri="{FF2B5EF4-FFF2-40B4-BE49-F238E27FC236}">
                  <a16:creationId xmlns:a16="http://schemas.microsoft.com/office/drawing/2014/main" id="{4B2B8B95-587B-F4B8-5441-F93310850969}"/>
                </a:ext>
              </a:extLst>
            </p:cNvPr>
            <p:cNvSpPr/>
            <p:nvPr/>
          </p:nvSpPr>
          <p:spPr>
            <a:xfrm>
              <a:off x="7301713" y="28987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A9D6199A-1A1E-6E23-F8B0-37225B7FF12E}"/>
                </a:ext>
              </a:extLst>
            </p:cNvPr>
            <p:cNvSpPr/>
            <p:nvPr/>
          </p:nvSpPr>
          <p:spPr>
            <a:xfrm>
              <a:off x="7133438" y="24987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04AF652C-22A0-42CE-D6F1-3B386B9DB695}"/>
                </a:ext>
              </a:extLst>
            </p:cNvPr>
            <p:cNvSpPr/>
            <p:nvPr/>
          </p:nvSpPr>
          <p:spPr>
            <a:xfrm>
              <a:off x="7206463" y="26828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E767098C-8E59-E941-6382-D6FAC8D2CD52}"/>
                </a:ext>
              </a:extLst>
            </p:cNvPr>
            <p:cNvSpPr/>
            <p:nvPr/>
          </p:nvSpPr>
          <p:spPr>
            <a:xfrm>
              <a:off x="7285838" y="259715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1884E590-9EDE-ABE0-FC27-057488666430}"/>
                </a:ext>
              </a:extLst>
            </p:cNvPr>
            <p:cNvSpPr/>
            <p:nvPr/>
          </p:nvSpPr>
          <p:spPr>
            <a:xfrm>
              <a:off x="7285838" y="27082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3" name="Elipse 72">
              <a:extLst>
                <a:ext uri="{FF2B5EF4-FFF2-40B4-BE49-F238E27FC236}">
                  <a16:creationId xmlns:a16="http://schemas.microsoft.com/office/drawing/2014/main" id="{D5E3E3FA-5266-6A43-B15E-604D031F4350}"/>
                </a:ext>
              </a:extLst>
            </p:cNvPr>
            <p:cNvSpPr/>
            <p:nvPr/>
          </p:nvSpPr>
          <p:spPr>
            <a:xfrm>
              <a:off x="7336638" y="269875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4" name="Elipse 73">
              <a:extLst>
                <a:ext uri="{FF2B5EF4-FFF2-40B4-BE49-F238E27FC236}">
                  <a16:creationId xmlns:a16="http://schemas.microsoft.com/office/drawing/2014/main" id="{E6DB7577-148C-F994-FAF8-D0DAF0565267}"/>
                </a:ext>
              </a:extLst>
            </p:cNvPr>
            <p:cNvSpPr/>
            <p:nvPr/>
          </p:nvSpPr>
          <p:spPr>
            <a:xfrm>
              <a:off x="7365213" y="290195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EB9C96B0-B7D7-0BAD-DC1D-5826AEAE2C0C}"/>
                </a:ext>
              </a:extLst>
            </p:cNvPr>
            <p:cNvSpPr/>
            <p:nvPr/>
          </p:nvSpPr>
          <p:spPr>
            <a:xfrm>
              <a:off x="7454113" y="28924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3D0E1F1E-D81B-5BD2-84C1-7AE5155E8860}"/>
                </a:ext>
              </a:extLst>
            </p:cNvPr>
            <p:cNvSpPr/>
            <p:nvPr/>
          </p:nvSpPr>
          <p:spPr>
            <a:xfrm>
              <a:off x="7501738" y="28479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7" name="Elipse 76">
              <a:extLst>
                <a:ext uri="{FF2B5EF4-FFF2-40B4-BE49-F238E27FC236}">
                  <a16:creationId xmlns:a16="http://schemas.microsoft.com/office/drawing/2014/main" id="{BE9BF0CF-8AE7-5B35-DFDE-9DF1B6E76503}"/>
                </a:ext>
              </a:extLst>
            </p:cNvPr>
            <p:cNvSpPr/>
            <p:nvPr/>
          </p:nvSpPr>
          <p:spPr>
            <a:xfrm>
              <a:off x="7469988" y="26447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8" name="Elipse 77">
              <a:extLst>
                <a:ext uri="{FF2B5EF4-FFF2-40B4-BE49-F238E27FC236}">
                  <a16:creationId xmlns:a16="http://schemas.microsoft.com/office/drawing/2014/main" id="{0077836D-8300-2749-A109-DA9C82807112}"/>
                </a:ext>
              </a:extLst>
            </p:cNvPr>
            <p:cNvSpPr/>
            <p:nvPr/>
          </p:nvSpPr>
          <p:spPr>
            <a:xfrm>
              <a:off x="7523963" y="26828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9" name="Elipse 78">
              <a:extLst>
                <a:ext uri="{FF2B5EF4-FFF2-40B4-BE49-F238E27FC236}">
                  <a16:creationId xmlns:a16="http://schemas.microsoft.com/office/drawing/2014/main" id="{7109E3C6-4D32-7753-F003-8612923925BA}"/>
                </a:ext>
              </a:extLst>
            </p:cNvPr>
            <p:cNvSpPr/>
            <p:nvPr/>
          </p:nvSpPr>
          <p:spPr>
            <a:xfrm>
              <a:off x="7577938" y="26638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0" name="Elipse 79">
              <a:extLst>
                <a:ext uri="{FF2B5EF4-FFF2-40B4-BE49-F238E27FC236}">
                  <a16:creationId xmlns:a16="http://schemas.microsoft.com/office/drawing/2014/main" id="{B4D8B7FA-B01C-424B-42AC-1F36C8CED320}"/>
                </a:ext>
              </a:extLst>
            </p:cNvPr>
            <p:cNvSpPr/>
            <p:nvPr/>
          </p:nvSpPr>
          <p:spPr>
            <a:xfrm>
              <a:off x="7584288" y="238760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1" name="Elipse 80">
              <a:extLst>
                <a:ext uri="{FF2B5EF4-FFF2-40B4-BE49-F238E27FC236}">
                  <a16:creationId xmlns:a16="http://schemas.microsoft.com/office/drawing/2014/main" id="{1C878A5F-4537-65B1-09A8-1253F56A6EB0}"/>
                </a:ext>
              </a:extLst>
            </p:cNvPr>
            <p:cNvSpPr/>
            <p:nvPr/>
          </p:nvSpPr>
          <p:spPr>
            <a:xfrm>
              <a:off x="7577938" y="28225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2" name="Elipse 81">
              <a:extLst>
                <a:ext uri="{FF2B5EF4-FFF2-40B4-BE49-F238E27FC236}">
                  <a16:creationId xmlns:a16="http://schemas.microsoft.com/office/drawing/2014/main" id="{53C2E002-E937-39D8-6AD7-3907B5090692}"/>
                </a:ext>
              </a:extLst>
            </p:cNvPr>
            <p:cNvSpPr/>
            <p:nvPr/>
          </p:nvSpPr>
          <p:spPr>
            <a:xfrm>
              <a:off x="7596988" y="276225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3" name="Elipse 82">
              <a:extLst>
                <a:ext uri="{FF2B5EF4-FFF2-40B4-BE49-F238E27FC236}">
                  <a16:creationId xmlns:a16="http://schemas.microsoft.com/office/drawing/2014/main" id="{F055DEF7-CC04-AEE2-E035-97F8DFE8A744}"/>
                </a:ext>
              </a:extLst>
            </p:cNvPr>
            <p:cNvSpPr/>
            <p:nvPr/>
          </p:nvSpPr>
          <p:spPr>
            <a:xfrm>
              <a:off x="7616038" y="273050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4" name="Elipse 83">
              <a:extLst>
                <a:ext uri="{FF2B5EF4-FFF2-40B4-BE49-F238E27FC236}">
                  <a16:creationId xmlns:a16="http://schemas.microsoft.com/office/drawing/2014/main" id="{FA7ADA46-32A4-ED54-C394-0AC9E1BFE98A}"/>
                </a:ext>
              </a:extLst>
            </p:cNvPr>
            <p:cNvSpPr/>
            <p:nvPr/>
          </p:nvSpPr>
          <p:spPr>
            <a:xfrm>
              <a:off x="7546188" y="257810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5" name="Elipse 84">
              <a:extLst>
                <a:ext uri="{FF2B5EF4-FFF2-40B4-BE49-F238E27FC236}">
                  <a16:creationId xmlns:a16="http://schemas.microsoft.com/office/drawing/2014/main" id="{1D6EB12A-01B8-DC77-8B92-5FEEC632C480}"/>
                </a:ext>
              </a:extLst>
            </p:cNvPr>
            <p:cNvSpPr/>
            <p:nvPr/>
          </p:nvSpPr>
          <p:spPr>
            <a:xfrm>
              <a:off x="7695413" y="24352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6" name="Elipse 85">
              <a:extLst>
                <a:ext uri="{FF2B5EF4-FFF2-40B4-BE49-F238E27FC236}">
                  <a16:creationId xmlns:a16="http://schemas.microsoft.com/office/drawing/2014/main" id="{2AFC5F4E-4E7C-BD50-FF02-0F0C15403810}"/>
                </a:ext>
              </a:extLst>
            </p:cNvPr>
            <p:cNvSpPr/>
            <p:nvPr/>
          </p:nvSpPr>
          <p:spPr>
            <a:xfrm>
              <a:off x="7584288" y="255270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7" name="Elipse 86">
              <a:extLst>
                <a:ext uri="{FF2B5EF4-FFF2-40B4-BE49-F238E27FC236}">
                  <a16:creationId xmlns:a16="http://schemas.microsoft.com/office/drawing/2014/main" id="{2EC676EF-930E-2418-6319-E3DD2F26244D}"/>
                </a:ext>
              </a:extLst>
            </p:cNvPr>
            <p:cNvSpPr/>
            <p:nvPr/>
          </p:nvSpPr>
          <p:spPr>
            <a:xfrm>
              <a:off x="7603338" y="259080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8" name="Elipse 87">
              <a:extLst>
                <a:ext uri="{FF2B5EF4-FFF2-40B4-BE49-F238E27FC236}">
                  <a16:creationId xmlns:a16="http://schemas.microsoft.com/office/drawing/2014/main" id="{A30485C0-62D6-38A8-1882-28910A58C244}"/>
                </a:ext>
              </a:extLst>
            </p:cNvPr>
            <p:cNvSpPr/>
            <p:nvPr/>
          </p:nvSpPr>
          <p:spPr>
            <a:xfrm>
              <a:off x="7666838" y="256540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9" name="Elipse 88">
              <a:extLst>
                <a:ext uri="{FF2B5EF4-FFF2-40B4-BE49-F238E27FC236}">
                  <a16:creationId xmlns:a16="http://schemas.microsoft.com/office/drawing/2014/main" id="{A8EACE3D-E446-CAC4-41F1-93BAADBFDD90}"/>
                </a:ext>
              </a:extLst>
            </p:cNvPr>
            <p:cNvSpPr/>
            <p:nvPr/>
          </p:nvSpPr>
          <p:spPr>
            <a:xfrm>
              <a:off x="7673188" y="267970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0" name="Elipse 89">
              <a:extLst>
                <a:ext uri="{FF2B5EF4-FFF2-40B4-BE49-F238E27FC236}">
                  <a16:creationId xmlns:a16="http://schemas.microsoft.com/office/drawing/2014/main" id="{8F26868A-B111-D85A-E56B-6388596A65CC}"/>
                </a:ext>
              </a:extLst>
            </p:cNvPr>
            <p:cNvSpPr/>
            <p:nvPr/>
          </p:nvSpPr>
          <p:spPr>
            <a:xfrm>
              <a:off x="7685888" y="27146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1" name="Elipse 90">
              <a:extLst>
                <a:ext uri="{FF2B5EF4-FFF2-40B4-BE49-F238E27FC236}">
                  <a16:creationId xmlns:a16="http://schemas.microsoft.com/office/drawing/2014/main" id="{248F6087-C00A-48A6-A093-3FA87AC02DEC}"/>
                </a:ext>
              </a:extLst>
            </p:cNvPr>
            <p:cNvSpPr/>
            <p:nvPr/>
          </p:nvSpPr>
          <p:spPr>
            <a:xfrm>
              <a:off x="7755738" y="271145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2" name="Elipse 91">
              <a:extLst>
                <a:ext uri="{FF2B5EF4-FFF2-40B4-BE49-F238E27FC236}">
                  <a16:creationId xmlns:a16="http://schemas.microsoft.com/office/drawing/2014/main" id="{CE64EA84-0448-5F5B-F06A-7B9B99C117DD}"/>
                </a:ext>
              </a:extLst>
            </p:cNvPr>
            <p:cNvSpPr/>
            <p:nvPr/>
          </p:nvSpPr>
          <p:spPr>
            <a:xfrm>
              <a:off x="7762088" y="275590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3" name="Elipse 92">
              <a:extLst>
                <a:ext uri="{FF2B5EF4-FFF2-40B4-BE49-F238E27FC236}">
                  <a16:creationId xmlns:a16="http://schemas.microsoft.com/office/drawing/2014/main" id="{A120D5B3-C90D-F7E9-2BEF-B9AADE78242F}"/>
                </a:ext>
              </a:extLst>
            </p:cNvPr>
            <p:cNvSpPr/>
            <p:nvPr/>
          </p:nvSpPr>
          <p:spPr>
            <a:xfrm>
              <a:off x="7819238" y="273685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4" name="Elipse 93">
              <a:extLst>
                <a:ext uri="{FF2B5EF4-FFF2-40B4-BE49-F238E27FC236}">
                  <a16:creationId xmlns:a16="http://schemas.microsoft.com/office/drawing/2014/main" id="{BC80B9EC-13F0-C541-8FD8-EA8DE07A8B60}"/>
                </a:ext>
              </a:extLst>
            </p:cNvPr>
            <p:cNvSpPr/>
            <p:nvPr/>
          </p:nvSpPr>
          <p:spPr>
            <a:xfrm>
              <a:off x="7987513" y="27590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5" name="Elipse 94">
              <a:extLst>
                <a:ext uri="{FF2B5EF4-FFF2-40B4-BE49-F238E27FC236}">
                  <a16:creationId xmlns:a16="http://schemas.microsoft.com/office/drawing/2014/main" id="{AE466AB0-8FDA-CE09-3021-D864409603EF}"/>
                </a:ext>
              </a:extLst>
            </p:cNvPr>
            <p:cNvSpPr/>
            <p:nvPr/>
          </p:nvSpPr>
          <p:spPr>
            <a:xfrm>
              <a:off x="7828763" y="25685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6" name="Elipse 95">
              <a:extLst>
                <a:ext uri="{FF2B5EF4-FFF2-40B4-BE49-F238E27FC236}">
                  <a16:creationId xmlns:a16="http://schemas.microsoft.com/office/drawing/2014/main" id="{BF1DD5E2-ED4F-B1B0-1332-E26A099DB1F8}"/>
                </a:ext>
              </a:extLst>
            </p:cNvPr>
            <p:cNvSpPr/>
            <p:nvPr/>
          </p:nvSpPr>
          <p:spPr>
            <a:xfrm>
              <a:off x="7892263" y="24161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7" name="Elipse 96">
              <a:extLst>
                <a:ext uri="{FF2B5EF4-FFF2-40B4-BE49-F238E27FC236}">
                  <a16:creationId xmlns:a16="http://schemas.microsoft.com/office/drawing/2014/main" id="{AED8FF93-F24D-929F-0B4E-82EEBB43631A}"/>
                </a:ext>
              </a:extLst>
            </p:cNvPr>
            <p:cNvSpPr/>
            <p:nvPr/>
          </p:nvSpPr>
          <p:spPr>
            <a:xfrm>
              <a:off x="7974813" y="250190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8" name="Elipse 97">
              <a:extLst>
                <a:ext uri="{FF2B5EF4-FFF2-40B4-BE49-F238E27FC236}">
                  <a16:creationId xmlns:a16="http://schemas.microsoft.com/office/drawing/2014/main" id="{7315B505-F1FD-943A-4A6B-790E274A1AFD}"/>
                </a:ext>
              </a:extLst>
            </p:cNvPr>
            <p:cNvSpPr/>
            <p:nvPr/>
          </p:nvSpPr>
          <p:spPr>
            <a:xfrm>
              <a:off x="8251038" y="239395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9" name="Elipse 98">
              <a:extLst>
                <a:ext uri="{FF2B5EF4-FFF2-40B4-BE49-F238E27FC236}">
                  <a16:creationId xmlns:a16="http://schemas.microsoft.com/office/drawing/2014/main" id="{143553A6-2932-CEF6-9B49-AC094CFF55E7}"/>
                </a:ext>
              </a:extLst>
            </p:cNvPr>
            <p:cNvSpPr/>
            <p:nvPr/>
          </p:nvSpPr>
          <p:spPr>
            <a:xfrm>
              <a:off x="8397088" y="25114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00" name="Elipse 99">
              <a:extLst>
                <a:ext uri="{FF2B5EF4-FFF2-40B4-BE49-F238E27FC236}">
                  <a16:creationId xmlns:a16="http://schemas.microsoft.com/office/drawing/2014/main" id="{7D995354-3A22-1E33-8159-3DC1D64692F4}"/>
                </a:ext>
              </a:extLst>
            </p:cNvPr>
            <p:cNvSpPr/>
            <p:nvPr/>
          </p:nvSpPr>
          <p:spPr>
            <a:xfrm>
              <a:off x="8025613" y="22193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01" name="Elipse 100">
              <a:extLst>
                <a:ext uri="{FF2B5EF4-FFF2-40B4-BE49-F238E27FC236}">
                  <a16:creationId xmlns:a16="http://schemas.microsoft.com/office/drawing/2014/main" id="{431A09EC-E0BD-B19C-2319-0FB388209814}"/>
                </a:ext>
              </a:extLst>
            </p:cNvPr>
            <p:cNvSpPr/>
            <p:nvPr/>
          </p:nvSpPr>
          <p:spPr>
            <a:xfrm>
              <a:off x="8168488" y="20351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02" name="Elipse 101">
              <a:extLst>
                <a:ext uri="{FF2B5EF4-FFF2-40B4-BE49-F238E27FC236}">
                  <a16:creationId xmlns:a16="http://schemas.microsoft.com/office/drawing/2014/main" id="{5F496272-2272-F949-F012-6275F322C0E5}"/>
                </a:ext>
              </a:extLst>
            </p:cNvPr>
            <p:cNvSpPr/>
            <p:nvPr/>
          </p:nvSpPr>
          <p:spPr>
            <a:xfrm>
              <a:off x="8225638" y="200660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03" name="Elipse 102">
              <a:extLst>
                <a:ext uri="{FF2B5EF4-FFF2-40B4-BE49-F238E27FC236}">
                  <a16:creationId xmlns:a16="http://schemas.microsoft.com/office/drawing/2014/main" id="{BAF91B1C-46D1-163A-24AF-B5425B7841B0}"/>
                </a:ext>
              </a:extLst>
            </p:cNvPr>
            <p:cNvSpPr/>
            <p:nvPr/>
          </p:nvSpPr>
          <p:spPr>
            <a:xfrm>
              <a:off x="8336763" y="198120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04" name="Elipse 103">
              <a:extLst>
                <a:ext uri="{FF2B5EF4-FFF2-40B4-BE49-F238E27FC236}">
                  <a16:creationId xmlns:a16="http://schemas.microsoft.com/office/drawing/2014/main" id="{957AE059-F705-C29D-2797-018A680F4D8A}"/>
                </a:ext>
              </a:extLst>
            </p:cNvPr>
            <p:cNvSpPr/>
            <p:nvPr/>
          </p:nvSpPr>
          <p:spPr>
            <a:xfrm>
              <a:off x="8263738" y="20351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05" name="Elipse 104">
              <a:extLst>
                <a:ext uri="{FF2B5EF4-FFF2-40B4-BE49-F238E27FC236}">
                  <a16:creationId xmlns:a16="http://schemas.microsoft.com/office/drawing/2014/main" id="{9F580697-ECB7-9898-E9C7-D451F9580BBC}"/>
                </a:ext>
              </a:extLst>
            </p:cNvPr>
            <p:cNvSpPr/>
            <p:nvPr/>
          </p:nvSpPr>
          <p:spPr>
            <a:xfrm>
              <a:off x="8282788" y="2241550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06" name="Elipse 105">
              <a:extLst>
                <a:ext uri="{FF2B5EF4-FFF2-40B4-BE49-F238E27FC236}">
                  <a16:creationId xmlns:a16="http://schemas.microsoft.com/office/drawing/2014/main" id="{DE179C86-1D10-413F-55CA-AC57BBAAAEFC}"/>
                </a:ext>
              </a:extLst>
            </p:cNvPr>
            <p:cNvSpPr/>
            <p:nvPr/>
          </p:nvSpPr>
          <p:spPr>
            <a:xfrm>
              <a:off x="8355813" y="223202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0" name="Elipse 109">
              <a:extLst>
                <a:ext uri="{FF2B5EF4-FFF2-40B4-BE49-F238E27FC236}">
                  <a16:creationId xmlns:a16="http://schemas.microsoft.com/office/drawing/2014/main" id="{8FEA96C2-D31A-E3FE-3E5E-AECFA12A215B}"/>
                </a:ext>
              </a:extLst>
            </p:cNvPr>
            <p:cNvSpPr/>
            <p:nvPr/>
          </p:nvSpPr>
          <p:spPr>
            <a:xfrm>
              <a:off x="5487230" y="3971446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1" name="Elipse 110">
              <a:extLst>
                <a:ext uri="{FF2B5EF4-FFF2-40B4-BE49-F238E27FC236}">
                  <a16:creationId xmlns:a16="http://schemas.microsoft.com/office/drawing/2014/main" id="{60B7939F-7B61-00C4-C74E-98DA77B8832D}"/>
                </a:ext>
              </a:extLst>
            </p:cNvPr>
            <p:cNvSpPr/>
            <p:nvPr/>
          </p:nvSpPr>
          <p:spPr>
            <a:xfrm>
              <a:off x="5906870" y="3761836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cxnSp>
          <p:nvCxnSpPr>
            <p:cNvPr id="114" name="Conector recto 113">
              <a:extLst>
                <a:ext uri="{FF2B5EF4-FFF2-40B4-BE49-F238E27FC236}">
                  <a16:creationId xmlns:a16="http://schemas.microsoft.com/office/drawing/2014/main" id="{432C502C-6A5C-27F3-66AE-D7BEFA073B98}"/>
                </a:ext>
              </a:extLst>
            </p:cNvPr>
            <p:cNvCxnSpPr/>
            <p:nvPr/>
          </p:nvCxnSpPr>
          <p:spPr>
            <a:xfrm>
              <a:off x="6068171" y="1981200"/>
              <a:ext cx="0" cy="2106718"/>
            </a:xfrm>
            <a:prstGeom prst="line">
              <a:avLst/>
            </a:prstGeom>
            <a:ln>
              <a:solidFill>
                <a:srgbClr val="808799"/>
              </a:solidFill>
            </a:ln>
            <a:effectLst>
              <a:outerShdw dist="5211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ector recto 114">
              <a:extLst>
                <a:ext uri="{FF2B5EF4-FFF2-40B4-BE49-F238E27FC236}">
                  <a16:creationId xmlns:a16="http://schemas.microsoft.com/office/drawing/2014/main" id="{55894C18-BF60-6EC1-6761-0A800CDD197F}"/>
                </a:ext>
              </a:extLst>
            </p:cNvPr>
            <p:cNvCxnSpPr>
              <a:cxnSpLocks/>
            </p:cNvCxnSpPr>
            <p:nvPr/>
          </p:nvCxnSpPr>
          <p:spPr>
            <a:xfrm>
              <a:off x="5241150" y="3989671"/>
              <a:ext cx="3315944" cy="0"/>
            </a:xfrm>
            <a:prstGeom prst="line">
              <a:avLst/>
            </a:prstGeom>
            <a:ln>
              <a:solidFill>
                <a:srgbClr val="808799"/>
              </a:solidFill>
            </a:ln>
            <a:effectLst>
              <a:outerShdw dist="5211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Elipse 111">
              <a:extLst>
                <a:ext uri="{FF2B5EF4-FFF2-40B4-BE49-F238E27FC236}">
                  <a16:creationId xmlns:a16="http://schemas.microsoft.com/office/drawing/2014/main" id="{A9957733-6F83-74A2-0611-DDE878401899}"/>
                </a:ext>
              </a:extLst>
            </p:cNvPr>
            <p:cNvSpPr/>
            <p:nvPr/>
          </p:nvSpPr>
          <p:spPr>
            <a:xfrm>
              <a:off x="5303021" y="4003375"/>
              <a:ext cx="45719" cy="45719"/>
            </a:xfrm>
            <a:prstGeom prst="ellipse">
              <a:avLst/>
            </a:prstGeom>
            <a:solidFill>
              <a:srgbClr val="00B2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7" name="CuadroTexto 116">
              <a:extLst>
                <a:ext uri="{FF2B5EF4-FFF2-40B4-BE49-F238E27FC236}">
                  <a16:creationId xmlns:a16="http://schemas.microsoft.com/office/drawing/2014/main" id="{DCECF636-C2CE-DF68-58CF-BAACD8052F04}"/>
                </a:ext>
              </a:extLst>
            </p:cNvPr>
            <p:cNvSpPr txBox="1"/>
            <p:nvPr/>
          </p:nvSpPr>
          <p:spPr>
            <a:xfrm>
              <a:off x="5714135" y="2100996"/>
              <a:ext cx="310611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s-PE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15</a:t>
              </a:r>
              <a:endParaRPr lang="es-PE" sz="1000" dirty="0"/>
            </a:p>
          </p:txBody>
        </p:sp>
        <p:sp>
          <p:nvSpPr>
            <p:cNvPr id="118" name="CuadroTexto 117">
              <a:extLst>
                <a:ext uri="{FF2B5EF4-FFF2-40B4-BE49-F238E27FC236}">
                  <a16:creationId xmlns:a16="http://schemas.microsoft.com/office/drawing/2014/main" id="{DA15F8A2-0753-9487-6B5E-0F3632F53653}"/>
                </a:ext>
              </a:extLst>
            </p:cNvPr>
            <p:cNvSpPr txBox="1"/>
            <p:nvPr/>
          </p:nvSpPr>
          <p:spPr>
            <a:xfrm>
              <a:off x="5714135" y="2709159"/>
              <a:ext cx="310611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es-PE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10</a:t>
              </a:r>
              <a:endParaRPr lang="es-PE" sz="1000" dirty="0"/>
            </a:p>
          </p:txBody>
        </p:sp>
        <p:sp>
          <p:nvSpPr>
            <p:cNvPr id="121" name="CuadroTexto 120">
              <a:extLst>
                <a:ext uri="{FF2B5EF4-FFF2-40B4-BE49-F238E27FC236}">
                  <a16:creationId xmlns:a16="http://schemas.microsoft.com/office/drawing/2014/main" id="{78414654-F7DD-E5C0-6853-B8E8197FA392}"/>
                </a:ext>
              </a:extLst>
            </p:cNvPr>
            <p:cNvSpPr txBox="1"/>
            <p:nvPr/>
          </p:nvSpPr>
          <p:spPr>
            <a:xfrm>
              <a:off x="5127353" y="3994536"/>
              <a:ext cx="310611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-20</a:t>
              </a:r>
              <a:endParaRPr lang="es-PE" sz="1000" dirty="0"/>
            </a:p>
          </p:txBody>
        </p:sp>
        <p:sp>
          <p:nvSpPr>
            <p:cNvPr id="122" name="CuadroTexto 121">
              <a:extLst>
                <a:ext uri="{FF2B5EF4-FFF2-40B4-BE49-F238E27FC236}">
                  <a16:creationId xmlns:a16="http://schemas.microsoft.com/office/drawing/2014/main" id="{F3C11853-7737-8930-2B0D-AD4E4CD1BE32}"/>
                </a:ext>
              </a:extLst>
            </p:cNvPr>
            <p:cNvSpPr txBox="1"/>
            <p:nvPr/>
          </p:nvSpPr>
          <p:spPr>
            <a:xfrm>
              <a:off x="5515542" y="3994536"/>
              <a:ext cx="310611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-10</a:t>
              </a:r>
              <a:endParaRPr lang="es-PE" sz="1000" dirty="0"/>
            </a:p>
          </p:txBody>
        </p:sp>
        <p:sp>
          <p:nvSpPr>
            <p:cNvPr id="123" name="CuadroTexto 122">
              <a:extLst>
                <a:ext uri="{FF2B5EF4-FFF2-40B4-BE49-F238E27FC236}">
                  <a16:creationId xmlns:a16="http://schemas.microsoft.com/office/drawing/2014/main" id="{E5D70117-4ADE-0552-C8FB-3D6F2FB2B83C}"/>
                </a:ext>
              </a:extLst>
            </p:cNvPr>
            <p:cNvSpPr txBox="1"/>
            <p:nvPr/>
          </p:nvSpPr>
          <p:spPr>
            <a:xfrm>
              <a:off x="6322151" y="3994536"/>
              <a:ext cx="310611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10</a:t>
              </a:r>
              <a:endParaRPr lang="es-PE" sz="1000" dirty="0"/>
            </a:p>
          </p:txBody>
        </p:sp>
        <p:sp>
          <p:nvSpPr>
            <p:cNvPr id="124" name="CuadroTexto 123">
              <a:extLst>
                <a:ext uri="{FF2B5EF4-FFF2-40B4-BE49-F238E27FC236}">
                  <a16:creationId xmlns:a16="http://schemas.microsoft.com/office/drawing/2014/main" id="{EA57C893-82B6-1BB0-9A1A-3B26C1DFD793}"/>
                </a:ext>
              </a:extLst>
            </p:cNvPr>
            <p:cNvSpPr txBox="1"/>
            <p:nvPr/>
          </p:nvSpPr>
          <p:spPr>
            <a:xfrm>
              <a:off x="6701713" y="3994536"/>
              <a:ext cx="310611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</a:t>
              </a:r>
              <a:endParaRPr lang="es-PE" sz="1000" dirty="0"/>
            </a:p>
          </p:txBody>
        </p:sp>
        <p:sp>
          <p:nvSpPr>
            <p:cNvPr id="125" name="CuadroTexto 124">
              <a:extLst>
                <a:ext uri="{FF2B5EF4-FFF2-40B4-BE49-F238E27FC236}">
                  <a16:creationId xmlns:a16="http://schemas.microsoft.com/office/drawing/2014/main" id="{07442178-93B5-B40F-CD5E-9A42903E908E}"/>
                </a:ext>
              </a:extLst>
            </p:cNvPr>
            <p:cNvSpPr txBox="1"/>
            <p:nvPr/>
          </p:nvSpPr>
          <p:spPr>
            <a:xfrm>
              <a:off x="7111468" y="3994536"/>
              <a:ext cx="310611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30</a:t>
              </a:r>
              <a:endParaRPr lang="es-PE" sz="1000" dirty="0"/>
            </a:p>
          </p:txBody>
        </p:sp>
        <p:sp>
          <p:nvSpPr>
            <p:cNvPr id="126" name="CuadroTexto 125">
              <a:extLst>
                <a:ext uri="{FF2B5EF4-FFF2-40B4-BE49-F238E27FC236}">
                  <a16:creationId xmlns:a16="http://schemas.microsoft.com/office/drawing/2014/main" id="{B8634770-5014-F7BB-962D-09707CA1A483}"/>
                </a:ext>
              </a:extLst>
            </p:cNvPr>
            <p:cNvSpPr txBox="1"/>
            <p:nvPr/>
          </p:nvSpPr>
          <p:spPr>
            <a:xfrm>
              <a:off x="7495344" y="3994536"/>
              <a:ext cx="310611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40</a:t>
              </a:r>
              <a:endParaRPr lang="es-PE" sz="1000" dirty="0"/>
            </a:p>
          </p:txBody>
        </p:sp>
        <p:sp>
          <p:nvSpPr>
            <p:cNvPr id="127" name="CuadroTexto 126">
              <a:extLst>
                <a:ext uri="{FF2B5EF4-FFF2-40B4-BE49-F238E27FC236}">
                  <a16:creationId xmlns:a16="http://schemas.microsoft.com/office/drawing/2014/main" id="{7FE6320C-B3CB-7F51-3CDF-B90979104490}"/>
                </a:ext>
              </a:extLst>
            </p:cNvPr>
            <p:cNvSpPr txBox="1"/>
            <p:nvPr/>
          </p:nvSpPr>
          <p:spPr>
            <a:xfrm>
              <a:off x="7905098" y="3994536"/>
              <a:ext cx="310611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50</a:t>
              </a:r>
              <a:endParaRPr lang="es-PE" sz="1000" dirty="0"/>
            </a:p>
          </p:txBody>
        </p:sp>
        <p:sp>
          <p:nvSpPr>
            <p:cNvPr id="128" name="CuadroTexto 127">
              <a:extLst>
                <a:ext uri="{FF2B5EF4-FFF2-40B4-BE49-F238E27FC236}">
                  <a16:creationId xmlns:a16="http://schemas.microsoft.com/office/drawing/2014/main" id="{8AAD4564-6377-1CC1-DD73-FB4E194A94ED}"/>
                </a:ext>
              </a:extLst>
            </p:cNvPr>
            <p:cNvSpPr txBox="1"/>
            <p:nvPr/>
          </p:nvSpPr>
          <p:spPr>
            <a:xfrm>
              <a:off x="8297600" y="3994536"/>
              <a:ext cx="310611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60</a:t>
              </a:r>
              <a:endParaRPr lang="es-PE" sz="100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8DE84637-6018-9554-C1AF-3D7A8D4B9DB6}"/>
              </a:ext>
            </a:extLst>
          </p:cNvPr>
          <p:cNvGrpSpPr/>
          <p:nvPr/>
        </p:nvGrpSpPr>
        <p:grpSpPr>
          <a:xfrm>
            <a:off x="5317598" y="1379957"/>
            <a:ext cx="2452632" cy="280917"/>
            <a:chOff x="5697415" y="4088887"/>
            <a:chExt cx="2452632" cy="280917"/>
          </a:xfrm>
        </p:grpSpPr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C3C4A585-A092-8187-E279-97F8F682A3E3}"/>
                </a:ext>
              </a:extLst>
            </p:cNvPr>
            <p:cNvSpPr txBox="1"/>
            <p:nvPr/>
          </p:nvSpPr>
          <p:spPr>
            <a:xfrm>
              <a:off x="5697415" y="4185138"/>
              <a:ext cx="1196674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s-ES_tradnl" sz="1200" b="1" dirty="0"/>
                <a:t>Simple </a:t>
              </a:r>
              <a:r>
                <a:rPr lang="es-ES_tradnl" sz="1200" b="1" dirty="0" err="1"/>
                <a:t>Regression</a:t>
              </a:r>
              <a:r>
                <a:rPr lang="es-ES_tradnl" sz="1200" b="1" dirty="0"/>
                <a:t> </a:t>
              </a:r>
            </a:p>
          </p:txBody>
        </p:sp>
        <p:cxnSp>
          <p:nvCxnSpPr>
            <p:cNvPr id="5" name="Conector recto de flecha 4">
              <a:extLst>
                <a:ext uri="{FF2B5EF4-FFF2-40B4-BE49-F238E27FC236}">
                  <a16:creationId xmlns:a16="http://schemas.microsoft.com/office/drawing/2014/main" id="{94F8C57F-3676-746D-2B85-245C4614D921}"/>
                </a:ext>
              </a:extLst>
            </p:cNvPr>
            <p:cNvCxnSpPr/>
            <p:nvPr/>
          </p:nvCxnSpPr>
          <p:spPr>
            <a:xfrm>
              <a:off x="6926671" y="4271850"/>
              <a:ext cx="350433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A5A39B9C-F577-FFFF-59A9-B0546FB06B98}"/>
                </a:ext>
              </a:extLst>
            </p:cNvPr>
            <p:cNvSpPr txBox="1"/>
            <p:nvPr/>
          </p:nvSpPr>
          <p:spPr>
            <a:xfrm>
              <a:off x="7367269" y="4088887"/>
              <a:ext cx="782778" cy="276999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_tradnl" sz="1200" dirty="0"/>
                <a:t>y= </a:t>
              </a:r>
              <a:r>
                <a:rPr lang="es-ES_tradnl" sz="1200" dirty="0" err="1"/>
                <a:t>mx</a:t>
              </a:r>
              <a:r>
                <a:rPr lang="es-ES_tradnl" sz="1200" dirty="0"/>
                <a:t> + 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4812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r="5994"/>
          <a:stretch/>
        </p:blipFill>
        <p:spPr>
          <a:xfrm>
            <a:off x="6143973" y="1649568"/>
            <a:ext cx="2506523" cy="149826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48" y="1668588"/>
            <a:ext cx="2506465" cy="201147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4898" y="1668587"/>
            <a:ext cx="2526019" cy="1808281"/>
          </a:xfrm>
          <a:prstGeom prst="rect">
            <a:avLst/>
          </a:prstGeom>
        </p:spPr>
      </p:pic>
      <p:sp>
        <p:nvSpPr>
          <p:cNvPr id="9" name="Rectangle 5"/>
          <p:cNvSpPr/>
          <p:nvPr/>
        </p:nvSpPr>
        <p:spPr>
          <a:xfrm>
            <a:off x="503238" y="912813"/>
            <a:ext cx="7204493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HERRAMIENTAS PARA DEFINIR ESTRUCTURAS Y MODELOS DE MINERÍA DE DATOS</a:t>
            </a:r>
          </a:p>
        </p:txBody>
      </p:sp>
      <p:sp>
        <p:nvSpPr>
          <p:cNvPr id="4" name="Google Shape;127;p5">
            <a:extLst>
              <a:ext uri="{FF2B5EF4-FFF2-40B4-BE49-F238E27FC236}">
                <a16:creationId xmlns:a16="http://schemas.microsoft.com/office/drawing/2014/main" id="{8EC414B0-6E4E-9F09-7D9A-7C970ED94011}"/>
              </a:ext>
            </a:extLst>
          </p:cNvPr>
          <p:cNvSpPr/>
          <p:nvPr/>
        </p:nvSpPr>
        <p:spPr>
          <a:xfrm>
            <a:off x="503238" y="376836"/>
            <a:ext cx="440178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000" dirty="0">
                <a:solidFill>
                  <a:srgbClr val="A5A5A5"/>
                </a:solidFill>
                <a:latin typeface="Calibri"/>
                <a:cs typeface="Calibri"/>
              </a:rPr>
              <a:t>ALGORITMOS Y ESTRUCTURAS DE MINERÍA DE DATOS</a:t>
            </a:r>
            <a:endParaRPr dirty="0"/>
          </a:p>
        </p:txBody>
      </p:sp>
      <p:cxnSp>
        <p:nvCxnSpPr>
          <p:cNvPr id="8" name="Google Shape;1066;p62">
            <a:extLst>
              <a:ext uri="{FF2B5EF4-FFF2-40B4-BE49-F238E27FC236}">
                <a16:creationId xmlns:a16="http://schemas.microsoft.com/office/drawing/2014/main" id="{B949A63F-01E5-295F-F74B-D2D755A76495}"/>
              </a:ext>
            </a:extLst>
          </p:cNvPr>
          <p:cNvCxnSpPr>
            <a:cxnSpLocks/>
          </p:cNvCxnSpPr>
          <p:nvPr/>
        </p:nvCxnSpPr>
        <p:spPr>
          <a:xfrm flipH="1" flipV="1">
            <a:off x="1815773" y="1945728"/>
            <a:ext cx="6498" cy="5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21" name="Google Shape;988;p56">
            <a:extLst>
              <a:ext uri="{FF2B5EF4-FFF2-40B4-BE49-F238E27FC236}">
                <a16:creationId xmlns:a16="http://schemas.microsoft.com/office/drawing/2014/main" id="{753CFC06-DE55-00EE-7B63-2DCFA0D94D48}"/>
              </a:ext>
            </a:extLst>
          </p:cNvPr>
          <p:cNvSpPr/>
          <p:nvPr/>
        </p:nvSpPr>
        <p:spPr>
          <a:xfrm>
            <a:off x="519349" y="1556512"/>
            <a:ext cx="2518544" cy="2492117"/>
          </a:xfrm>
          <a:prstGeom prst="roundRect">
            <a:avLst>
              <a:gd name="adj" fmla="val 6572"/>
            </a:avLst>
          </a:prstGeom>
          <a:noFill/>
          <a:ln w="38100" cap="flat" cmpd="sng">
            <a:solidFill>
              <a:srgbClr val="FF77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2880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989;p56">
            <a:extLst>
              <a:ext uri="{FF2B5EF4-FFF2-40B4-BE49-F238E27FC236}">
                <a16:creationId xmlns:a16="http://schemas.microsoft.com/office/drawing/2014/main" id="{2477424C-6187-50FE-380C-31805AC01B20}"/>
              </a:ext>
            </a:extLst>
          </p:cNvPr>
          <p:cNvSpPr/>
          <p:nvPr/>
        </p:nvSpPr>
        <p:spPr>
          <a:xfrm>
            <a:off x="511402" y="3594245"/>
            <a:ext cx="2538511" cy="454384"/>
          </a:xfrm>
          <a:prstGeom prst="roundRect">
            <a:avLst>
              <a:gd name="adj" fmla="val 23854"/>
            </a:avLst>
          </a:prstGeom>
          <a:solidFill>
            <a:srgbClr val="FF77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990;p56">
            <a:extLst>
              <a:ext uri="{FF2B5EF4-FFF2-40B4-BE49-F238E27FC236}">
                <a16:creationId xmlns:a16="http://schemas.microsoft.com/office/drawing/2014/main" id="{E4A22824-ED1A-C39C-40E0-676D9164281A}"/>
              </a:ext>
            </a:extLst>
          </p:cNvPr>
          <p:cNvSpPr/>
          <p:nvPr/>
        </p:nvSpPr>
        <p:spPr>
          <a:xfrm>
            <a:off x="511402" y="3147828"/>
            <a:ext cx="2538511" cy="572387"/>
          </a:xfrm>
          <a:prstGeom prst="rect">
            <a:avLst/>
          </a:prstGeom>
          <a:solidFill>
            <a:srgbClr val="FF77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01826DEA-8229-A586-7B94-59B9F7FE9F60}"/>
              </a:ext>
            </a:extLst>
          </p:cNvPr>
          <p:cNvSpPr txBox="1"/>
          <p:nvPr/>
        </p:nvSpPr>
        <p:spPr>
          <a:xfrm>
            <a:off x="511402" y="3268808"/>
            <a:ext cx="251447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" algn="ctr"/>
            <a:r>
              <a:rPr lang="es-PE" sz="1300" b="1" dirty="0">
                <a:solidFill>
                  <a:schemeClr val="lt1"/>
                </a:solidFill>
                <a:latin typeface="Calibri"/>
                <a:cs typeface="Calibri"/>
              </a:rPr>
              <a:t>SQL Server Analysis Services</a:t>
            </a:r>
            <a:br>
              <a:rPr lang="es-PE" sz="1300" b="1" dirty="0">
                <a:solidFill>
                  <a:schemeClr val="lt1"/>
                </a:solidFill>
                <a:latin typeface="Calibri"/>
                <a:cs typeface="Calibri"/>
              </a:rPr>
            </a:br>
            <a:r>
              <a:rPr lang="es-PE" sz="1300" b="1" dirty="0">
                <a:solidFill>
                  <a:schemeClr val="lt1"/>
                </a:solidFill>
                <a:latin typeface="Calibri"/>
                <a:cs typeface="Calibri"/>
              </a:rPr>
              <a:t>(SQL Server 2019 o anteriores)</a:t>
            </a:r>
          </a:p>
          <a:p>
            <a:pPr marL="9525" lvl="1" algn="ctr"/>
            <a:r>
              <a:rPr lang="es-PE" sz="1300" dirty="0">
                <a:solidFill>
                  <a:schemeClr val="lt1"/>
                </a:solidFill>
                <a:latin typeface="Calibri"/>
                <a:cs typeface="Calibri"/>
              </a:rPr>
              <a:t>Asistente para minería de datos</a:t>
            </a:r>
          </a:p>
        </p:txBody>
      </p:sp>
      <p:cxnSp>
        <p:nvCxnSpPr>
          <p:cNvPr id="38" name="Google Shape;1066;p62">
            <a:extLst>
              <a:ext uri="{FF2B5EF4-FFF2-40B4-BE49-F238E27FC236}">
                <a16:creationId xmlns:a16="http://schemas.microsoft.com/office/drawing/2014/main" id="{73A4ACB1-B605-CAD7-5498-3013E1B56D8E}"/>
              </a:ext>
            </a:extLst>
          </p:cNvPr>
          <p:cNvCxnSpPr>
            <a:cxnSpLocks/>
          </p:cNvCxnSpPr>
          <p:nvPr/>
        </p:nvCxnSpPr>
        <p:spPr>
          <a:xfrm flipH="1" flipV="1">
            <a:off x="7440396" y="1945728"/>
            <a:ext cx="6498" cy="5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39" name="Google Shape;988;p56">
            <a:extLst>
              <a:ext uri="{FF2B5EF4-FFF2-40B4-BE49-F238E27FC236}">
                <a16:creationId xmlns:a16="http://schemas.microsoft.com/office/drawing/2014/main" id="{FC0694D6-AB2C-4773-7401-60674C2C4D06}"/>
              </a:ext>
            </a:extLst>
          </p:cNvPr>
          <p:cNvSpPr/>
          <p:nvPr/>
        </p:nvSpPr>
        <p:spPr>
          <a:xfrm>
            <a:off x="6143972" y="1556512"/>
            <a:ext cx="2518544" cy="2492117"/>
          </a:xfrm>
          <a:prstGeom prst="roundRect">
            <a:avLst>
              <a:gd name="adj" fmla="val 6572"/>
            </a:avLst>
          </a:prstGeom>
          <a:noFill/>
          <a:ln w="38100" cap="flat" cmpd="sng">
            <a:solidFill>
              <a:srgbClr val="92C1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2880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989;p56">
            <a:extLst>
              <a:ext uri="{FF2B5EF4-FFF2-40B4-BE49-F238E27FC236}">
                <a16:creationId xmlns:a16="http://schemas.microsoft.com/office/drawing/2014/main" id="{E2CBEAAB-AB2C-2E73-9E88-A38D852DEF0A}"/>
              </a:ext>
            </a:extLst>
          </p:cNvPr>
          <p:cNvSpPr/>
          <p:nvPr/>
        </p:nvSpPr>
        <p:spPr>
          <a:xfrm>
            <a:off x="6136025" y="3594245"/>
            <a:ext cx="2538511" cy="454384"/>
          </a:xfrm>
          <a:prstGeom prst="roundRect">
            <a:avLst>
              <a:gd name="adj" fmla="val 23854"/>
            </a:avLst>
          </a:prstGeom>
          <a:solidFill>
            <a:srgbClr val="92C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" name="Google Shape;990;p56">
            <a:extLst>
              <a:ext uri="{FF2B5EF4-FFF2-40B4-BE49-F238E27FC236}">
                <a16:creationId xmlns:a16="http://schemas.microsoft.com/office/drawing/2014/main" id="{E307EB60-E360-8B27-D637-941FE9698704}"/>
              </a:ext>
            </a:extLst>
          </p:cNvPr>
          <p:cNvSpPr/>
          <p:nvPr/>
        </p:nvSpPr>
        <p:spPr>
          <a:xfrm>
            <a:off x="6136025" y="3147828"/>
            <a:ext cx="2538511" cy="572387"/>
          </a:xfrm>
          <a:prstGeom prst="rect">
            <a:avLst/>
          </a:prstGeom>
          <a:solidFill>
            <a:srgbClr val="92C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D796905-62AB-7A2E-C4CF-633D28B84DFF}"/>
              </a:ext>
            </a:extLst>
          </p:cNvPr>
          <p:cNvSpPr txBox="1"/>
          <p:nvPr/>
        </p:nvSpPr>
        <p:spPr>
          <a:xfrm>
            <a:off x="6136025" y="3268808"/>
            <a:ext cx="251447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" algn="ctr"/>
            <a:r>
              <a:rPr lang="es-PE" sz="1300" b="1" dirty="0">
                <a:solidFill>
                  <a:schemeClr val="lt1"/>
                </a:solidFill>
                <a:latin typeface="Calibri"/>
                <a:cs typeface="Calibri"/>
              </a:rPr>
              <a:t>Microsoft Excel</a:t>
            </a:r>
            <a:br>
              <a:rPr lang="es-PE" sz="1300" b="1" dirty="0">
                <a:solidFill>
                  <a:schemeClr val="lt1"/>
                </a:solidFill>
                <a:latin typeface="Calibri"/>
                <a:cs typeface="Calibri"/>
              </a:rPr>
            </a:br>
            <a:r>
              <a:rPr lang="es-PE" sz="1300" b="1" dirty="0">
                <a:solidFill>
                  <a:schemeClr val="lt1"/>
                </a:solidFill>
                <a:latin typeface="Calibri"/>
                <a:cs typeface="Calibri"/>
              </a:rPr>
              <a:t>(requiere SSAS 2019 o anterior)</a:t>
            </a:r>
          </a:p>
          <a:p>
            <a:pPr marL="9525" lvl="1" algn="ctr"/>
            <a:r>
              <a:rPr lang="es-PE" sz="1300" dirty="0">
                <a:solidFill>
                  <a:schemeClr val="lt1"/>
                </a:solidFill>
                <a:latin typeface="Calibri"/>
                <a:cs typeface="Calibri"/>
              </a:rPr>
              <a:t>Complemento Minería de datos</a:t>
            </a:r>
          </a:p>
        </p:txBody>
      </p:sp>
      <p:cxnSp>
        <p:nvCxnSpPr>
          <p:cNvPr id="43" name="Google Shape;1066;p62">
            <a:extLst>
              <a:ext uri="{FF2B5EF4-FFF2-40B4-BE49-F238E27FC236}">
                <a16:creationId xmlns:a16="http://schemas.microsoft.com/office/drawing/2014/main" id="{65532AFB-F286-6F90-8DB1-5B12F5DF2981}"/>
              </a:ext>
            </a:extLst>
          </p:cNvPr>
          <p:cNvCxnSpPr>
            <a:cxnSpLocks/>
          </p:cNvCxnSpPr>
          <p:nvPr/>
        </p:nvCxnSpPr>
        <p:spPr>
          <a:xfrm flipH="1" flipV="1">
            <a:off x="4622768" y="1945728"/>
            <a:ext cx="6498" cy="5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44" name="Google Shape;988;p56">
            <a:extLst>
              <a:ext uri="{FF2B5EF4-FFF2-40B4-BE49-F238E27FC236}">
                <a16:creationId xmlns:a16="http://schemas.microsoft.com/office/drawing/2014/main" id="{AD4BA3F0-EF44-3417-386E-E0D824808C25}"/>
              </a:ext>
            </a:extLst>
          </p:cNvPr>
          <p:cNvSpPr/>
          <p:nvPr/>
        </p:nvSpPr>
        <p:spPr>
          <a:xfrm>
            <a:off x="3326344" y="1556512"/>
            <a:ext cx="2518544" cy="2492117"/>
          </a:xfrm>
          <a:prstGeom prst="roundRect">
            <a:avLst>
              <a:gd name="adj" fmla="val 6572"/>
            </a:avLst>
          </a:prstGeom>
          <a:noFill/>
          <a:ln w="38100" cap="flat" cmpd="sng">
            <a:solidFill>
              <a:srgbClr val="00B2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2880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989;p56">
            <a:extLst>
              <a:ext uri="{FF2B5EF4-FFF2-40B4-BE49-F238E27FC236}">
                <a16:creationId xmlns:a16="http://schemas.microsoft.com/office/drawing/2014/main" id="{854DD007-2109-3A1A-F70D-908F6A4091C0}"/>
              </a:ext>
            </a:extLst>
          </p:cNvPr>
          <p:cNvSpPr/>
          <p:nvPr/>
        </p:nvSpPr>
        <p:spPr>
          <a:xfrm>
            <a:off x="3318397" y="3594245"/>
            <a:ext cx="2538511" cy="454384"/>
          </a:xfrm>
          <a:prstGeom prst="roundRect">
            <a:avLst>
              <a:gd name="adj" fmla="val 23854"/>
            </a:avLst>
          </a:prstGeom>
          <a:solidFill>
            <a:srgbClr val="00B2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" name="Google Shape;990;p56">
            <a:extLst>
              <a:ext uri="{FF2B5EF4-FFF2-40B4-BE49-F238E27FC236}">
                <a16:creationId xmlns:a16="http://schemas.microsoft.com/office/drawing/2014/main" id="{DD3DA317-CCE3-7D62-A367-5D564132A5F6}"/>
              </a:ext>
            </a:extLst>
          </p:cNvPr>
          <p:cNvSpPr/>
          <p:nvPr/>
        </p:nvSpPr>
        <p:spPr>
          <a:xfrm>
            <a:off x="3318397" y="3147828"/>
            <a:ext cx="2538511" cy="572387"/>
          </a:xfrm>
          <a:prstGeom prst="rect">
            <a:avLst/>
          </a:prstGeom>
          <a:solidFill>
            <a:srgbClr val="00B2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1806C7E0-BB22-59C0-77BF-3C57F65C5850}"/>
              </a:ext>
            </a:extLst>
          </p:cNvPr>
          <p:cNvSpPr txBox="1"/>
          <p:nvPr/>
        </p:nvSpPr>
        <p:spPr>
          <a:xfrm>
            <a:off x="3318397" y="3268808"/>
            <a:ext cx="25144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" lvl="1" algn="ctr"/>
            <a:r>
              <a:rPr lang="es-PE" sz="1300" dirty="0">
                <a:solidFill>
                  <a:schemeClr val="lt1"/>
                </a:solidFill>
                <a:latin typeface="Calibri"/>
                <a:cs typeface="Calibri"/>
              </a:rPr>
              <a:t>Diseñador de minería </a:t>
            </a:r>
            <a:br>
              <a:rPr lang="es-PE" sz="1300" dirty="0">
                <a:solidFill>
                  <a:schemeClr val="lt1"/>
                </a:solidFill>
                <a:latin typeface="Calibri"/>
                <a:cs typeface="Calibri"/>
              </a:rPr>
            </a:br>
            <a:r>
              <a:rPr lang="es-PE" sz="1300" dirty="0">
                <a:solidFill>
                  <a:schemeClr val="lt1"/>
                </a:solidFill>
                <a:latin typeface="Calibri"/>
                <a:cs typeface="Calibri"/>
              </a:rPr>
              <a:t>de datos</a:t>
            </a:r>
          </a:p>
        </p:txBody>
      </p:sp>
    </p:spTree>
    <p:extLst>
      <p:ext uri="{BB962C8B-B14F-4D97-AF65-F5344CB8AC3E}">
        <p14:creationId xmlns:p14="http://schemas.microsoft.com/office/powerpoint/2010/main" val="153370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43;p89">
            <a:extLst>
              <a:ext uri="{FF2B5EF4-FFF2-40B4-BE49-F238E27FC236}">
                <a16:creationId xmlns:a16="http://schemas.microsoft.com/office/drawing/2014/main" id="{76ECC46D-58F2-3E4E-D428-EB37C29A3BB5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oogle Shape;1444;p89">
            <a:extLst>
              <a:ext uri="{FF2B5EF4-FFF2-40B4-BE49-F238E27FC236}">
                <a16:creationId xmlns:a16="http://schemas.microsoft.com/office/drawing/2014/main" id="{544C233A-D618-3EFD-508F-4D40A2BDC7E4}"/>
              </a:ext>
            </a:extLst>
          </p:cNvPr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4" name="Google Shape;1445;p89">
              <a:extLst>
                <a:ext uri="{FF2B5EF4-FFF2-40B4-BE49-F238E27FC236}">
                  <a16:creationId xmlns:a16="http://schemas.microsoft.com/office/drawing/2014/main" id="{B73DE8BB-B33A-A527-B7FB-25868C216392}"/>
                </a:ext>
              </a:extLst>
            </p:cNvPr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3600" dirty="0">
                  <a:solidFill>
                    <a:schemeClr val="lt1"/>
                  </a:solidFill>
                  <a:latin typeface="Graphik Regular" panose="020B0503030202060203" pitchFamily="34" charset="77"/>
                  <a:ea typeface="Arial"/>
                  <a:cs typeface="Arial"/>
                  <a:sym typeface="Arial"/>
                </a:rPr>
                <a:t>CONCLUSIONES</a:t>
              </a:r>
              <a:br>
                <a:rPr lang="es-PE" sz="36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s-PE" sz="3600" b="1" dirty="0">
                  <a:solidFill>
                    <a:schemeClr val="lt1"/>
                  </a:solidFill>
                  <a:latin typeface="Graphik Bold" panose="020B0503030202060203" pitchFamily="34" charset="77"/>
                  <a:ea typeface="Arial"/>
                  <a:cs typeface="Arial"/>
                  <a:sym typeface="Arial"/>
                </a:rPr>
                <a:t>MÁS REFERENCIAS</a:t>
              </a:r>
              <a:endParaRPr b="1" dirty="0">
                <a:latin typeface="Graphik Bold" panose="020B0503030202060203" pitchFamily="34" charset="77"/>
              </a:endParaRPr>
            </a:p>
          </p:txBody>
        </p:sp>
        <p:pic>
          <p:nvPicPr>
            <p:cNvPr id="5" name="Google Shape;1446;p89">
              <a:extLst>
                <a:ext uri="{FF2B5EF4-FFF2-40B4-BE49-F238E27FC236}">
                  <a16:creationId xmlns:a16="http://schemas.microsoft.com/office/drawing/2014/main" id="{D0782461-D25A-149B-0646-AF1F8FC1359B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" name="Google Shape;1447;p89">
            <a:extLst>
              <a:ext uri="{FF2B5EF4-FFF2-40B4-BE49-F238E27FC236}">
                <a16:creationId xmlns:a16="http://schemas.microsoft.com/office/drawing/2014/main" id="{677E7938-0BF2-B92F-F9DF-ABE76786FD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53" y="946969"/>
            <a:ext cx="2072214" cy="38980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0522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54;p90">
            <a:extLst>
              <a:ext uri="{FF2B5EF4-FFF2-40B4-BE49-F238E27FC236}">
                <a16:creationId xmlns:a16="http://schemas.microsoft.com/office/drawing/2014/main" id="{2E52538E-F327-39A9-B025-CB186EB51E4A}"/>
              </a:ext>
            </a:extLst>
          </p:cNvPr>
          <p:cNvSpPr txBox="1"/>
          <p:nvPr/>
        </p:nvSpPr>
        <p:spPr>
          <a:xfrm>
            <a:off x="1279545" y="912813"/>
            <a:ext cx="5705454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implementación de una solución de minería de datos se inicia con la especificación de </a:t>
            </a:r>
            <a:r>
              <a:rPr lang="es-PE" sz="1400" dirty="0">
                <a:latin typeface="Calibri" panose="020F0502020204030204" pitchFamily="34" charset="0"/>
                <a:cs typeface="Calibri" panose="020F0502020204030204" pitchFamily="34" charset="0"/>
              </a:rPr>
              <a:t>la estructura de minería de datos que define el conjunto de datos a utilizar en la predicción.</a:t>
            </a:r>
          </a:p>
          <a:p>
            <a:endParaRPr lang="es-P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PE" sz="1400" dirty="0">
                <a:latin typeface="Calibri" panose="020F0502020204030204" pitchFamily="34" charset="0"/>
                <a:cs typeface="Calibri" panose="020F0502020204030204" pitchFamily="34" charset="0"/>
              </a:rPr>
              <a:t>La selección del algoritmo de minería de datos más apropiado depende de la tarea a realizar: predecir el valor de un atributo discreto, predecir el valor de un atributo continuo o predecir una secuencia.</a:t>
            </a:r>
          </a:p>
          <a:p>
            <a:endParaRPr lang="es-P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PE" sz="1400" dirty="0">
                <a:latin typeface="Calibri" panose="020F0502020204030204" pitchFamily="34" charset="0"/>
                <a:cs typeface="Calibri" panose="020F0502020204030204" pitchFamily="34" charset="0"/>
              </a:rPr>
              <a:t>Los algoritmos tienen distinta precisión, por lo que se recomienda definir varios modelos de minería de datos, estableciendo la precisión para cada algoritmo utilizado en cada modelo, y seleccionando aquel que ofrece una predicción más precisa.</a:t>
            </a:r>
          </a:p>
        </p:txBody>
      </p:sp>
      <p:pic>
        <p:nvPicPr>
          <p:cNvPr id="3" name="Google Shape;1455;p90">
            <a:extLst>
              <a:ext uri="{FF2B5EF4-FFF2-40B4-BE49-F238E27FC236}">
                <a16:creationId xmlns:a16="http://schemas.microsoft.com/office/drawing/2014/main" id="{EFA06023-77D8-1B2B-FD93-38DF02531FC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260" y="954885"/>
            <a:ext cx="114138" cy="11754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457;p90">
            <a:extLst>
              <a:ext uri="{FF2B5EF4-FFF2-40B4-BE49-F238E27FC236}">
                <a16:creationId xmlns:a16="http://schemas.microsoft.com/office/drawing/2014/main" id="{EB73E428-214A-7379-B6B1-AD40011E08C0}"/>
              </a:ext>
            </a:extLst>
          </p:cNvPr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1458;p90">
            <a:extLst>
              <a:ext uri="{FF2B5EF4-FFF2-40B4-BE49-F238E27FC236}">
                <a16:creationId xmlns:a16="http://schemas.microsoft.com/office/drawing/2014/main" id="{D9EF0346-8FDF-5571-2113-0E52C6667E13}"/>
              </a:ext>
            </a:extLst>
          </p:cNvPr>
          <p:cNvPicPr preferRelativeResize="0"/>
          <p:nvPr/>
        </p:nvPicPr>
        <p:blipFill rotWithShape="1">
          <a:blip r:embed="rId5">
            <a:alphaModFix amt="42000"/>
          </a:blip>
          <a:srcRect/>
          <a:stretch/>
        </p:blipFill>
        <p:spPr>
          <a:xfrm>
            <a:off x="6984999" y="3048772"/>
            <a:ext cx="1690689" cy="21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459;p90">
            <a:extLst>
              <a:ext uri="{FF2B5EF4-FFF2-40B4-BE49-F238E27FC236}">
                <a16:creationId xmlns:a16="http://schemas.microsoft.com/office/drawing/2014/main" id="{9B5021AB-5E36-277E-A9EC-D3A51B8A5400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CONCLUSIONES </a:t>
            </a:r>
            <a:endParaRPr/>
          </a:p>
        </p:txBody>
      </p:sp>
      <p:pic>
        <p:nvPicPr>
          <p:cNvPr id="10" name="Google Shape;1456;p90">
            <a:extLst>
              <a:ext uri="{FF2B5EF4-FFF2-40B4-BE49-F238E27FC236}">
                <a16:creationId xmlns:a16="http://schemas.microsoft.com/office/drawing/2014/main" id="{62F4224F-EEA7-D2E9-E91A-F5FC759562D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260" y="1827386"/>
            <a:ext cx="114138" cy="11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456;p90">
            <a:extLst>
              <a:ext uri="{FF2B5EF4-FFF2-40B4-BE49-F238E27FC236}">
                <a16:creationId xmlns:a16="http://schemas.microsoft.com/office/drawing/2014/main" id="{7D56C261-03D9-B9BD-605D-87D36B44374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260" y="2679958"/>
            <a:ext cx="114138" cy="11754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6A5FE713-A83A-D8AA-A827-F461176316D5}"/>
              </a:ext>
            </a:extLst>
          </p:cNvPr>
          <p:cNvSpPr/>
          <p:nvPr/>
        </p:nvSpPr>
        <p:spPr>
          <a:xfrm>
            <a:off x="407350" y="5277533"/>
            <a:ext cx="8469655" cy="39454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544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64;p91">
            <a:extLst>
              <a:ext uri="{FF2B5EF4-FFF2-40B4-BE49-F238E27FC236}">
                <a16:creationId xmlns:a16="http://schemas.microsoft.com/office/drawing/2014/main" id="{864A7253-8F27-9B6D-4AD6-FE681F02B986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465;p91">
            <a:extLst>
              <a:ext uri="{FF2B5EF4-FFF2-40B4-BE49-F238E27FC236}">
                <a16:creationId xmlns:a16="http://schemas.microsoft.com/office/drawing/2014/main" id="{58A9BC41-4A05-F47A-D668-20A1E7D380CE}"/>
              </a:ext>
            </a:extLst>
          </p:cNvPr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600" dirty="0">
                <a:solidFill>
                  <a:schemeClr val="lt1"/>
                </a:solidFill>
                <a:latin typeface="Graphik Regular" panose="020B0503030202060203" pitchFamily="34" charset="77"/>
                <a:ea typeface="Arial"/>
                <a:cs typeface="Arial"/>
                <a:sym typeface="Arial"/>
              </a:rPr>
              <a:t>BIBLIOGRAFÍA</a:t>
            </a:r>
            <a:br>
              <a:rPr lang="es-PE" sz="3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PE" sz="3600" b="1" dirty="0">
                <a:solidFill>
                  <a:schemeClr val="lt1"/>
                </a:solidFill>
                <a:latin typeface="Graphik Bold" panose="020B0503030202060203" pitchFamily="34" charset="77"/>
                <a:ea typeface="Arial"/>
                <a:cs typeface="Arial"/>
                <a:sym typeface="Arial"/>
              </a:rPr>
              <a:t>MÁS REFERENCIAS</a:t>
            </a:r>
            <a:endParaRPr b="1" dirty="0">
              <a:latin typeface="Graphik Bold" panose="020B0503030202060203" pitchFamily="34" charset="77"/>
            </a:endParaRPr>
          </a:p>
        </p:txBody>
      </p:sp>
      <p:pic>
        <p:nvPicPr>
          <p:cNvPr id="4" name="Google Shape;1466;p91">
            <a:extLst>
              <a:ext uri="{FF2B5EF4-FFF2-40B4-BE49-F238E27FC236}">
                <a16:creationId xmlns:a16="http://schemas.microsoft.com/office/drawing/2014/main" id="{FEDB2F51-9884-3E4D-7191-11112F0D2C9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467;p91">
            <a:extLst>
              <a:ext uri="{FF2B5EF4-FFF2-40B4-BE49-F238E27FC236}">
                <a16:creationId xmlns:a16="http://schemas.microsoft.com/office/drawing/2014/main" id="{066BE7AF-749D-07EF-B06A-920B7DBB3A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46970"/>
            <a:ext cx="2072061" cy="38980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7030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73;p92">
            <a:extLst>
              <a:ext uri="{FF2B5EF4-FFF2-40B4-BE49-F238E27FC236}">
                <a16:creationId xmlns:a16="http://schemas.microsoft.com/office/drawing/2014/main" id="{C973A93E-D584-0777-2C5F-6671E4802A65}"/>
              </a:ext>
            </a:extLst>
          </p:cNvPr>
          <p:cNvSpPr txBox="1"/>
          <p:nvPr/>
        </p:nvSpPr>
        <p:spPr>
          <a:xfrm>
            <a:off x="1279008" y="882669"/>
            <a:ext cx="5558519" cy="280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None/>
              <a:tabLst/>
              <a:defRPr/>
            </a:pP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Astera (2023). Las 10 mejores técnicas de minería de datos. Recuperado de </a:t>
            </a:r>
            <a:r>
              <a:rPr kumimoji="0" lang="es-P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https://www.astera.com/es/type/blog/top-10-data-mining-techniques/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None/>
              <a:tabLst/>
              <a:defRPr/>
            </a:pPr>
            <a:endParaRPr lang="es-PE" sz="1400" dirty="0">
              <a:latin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None/>
              <a:tabLst/>
              <a:defRPr/>
            </a:pPr>
            <a:r>
              <a:rPr lang="es-PE" sz="1400" dirty="0">
                <a:latin typeface="Calibri"/>
              </a:rPr>
              <a:t>Romero, J. (2019). Técnicas y algoritmos de minería de datos. Recuperado de </a:t>
            </a:r>
            <a:r>
              <a:rPr lang="es-PE" sz="1400" dirty="0"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https://jorgeromero.net/tecnicas-y-algoritmos-de-mineria-de-datos</a:t>
            </a:r>
            <a:endParaRPr lang="es-PE" sz="1400" dirty="0">
              <a:latin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None/>
              <a:tabLst/>
              <a:defRPr/>
            </a:pPr>
            <a:endParaRPr lang="es-PE" sz="1400" dirty="0">
              <a:latin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None/>
              <a:tabLst/>
              <a:defRPr/>
            </a:pPr>
            <a:r>
              <a:rPr lang="es-PE" sz="1400" dirty="0">
                <a:latin typeface="Calibri"/>
              </a:rPr>
              <a:t>FasterCapital (2019). Algoritmos y modelos de minería de datos. Recuperado de </a:t>
            </a:r>
            <a:r>
              <a:rPr lang="es-PE" sz="1400" dirty="0"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https://fastercapital.com/es/tema/algoritmos-y-modelos-de-miner%C3%ADa-de-datos.html</a:t>
            </a:r>
            <a:endParaRPr lang="es-PE" sz="1400" dirty="0">
              <a:latin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None/>
              <a:tabLst/>
              <a:defRPr/>
            </a:pPr>
            <a:endParaRPr lang="es-PE" sz="1400" dirty="0">
              <a:latin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None/>
              <a:tabLst/>
              <a:defRPr/>
            </a:pPr>
            <a:endParaRPr kumimoji="0" lang="es-PE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None/>
              <a:tabLst/>
              <a:defRPr/>
            </a:pPr>
            <a:endParaRPr kumimoji="0" lang="es-PE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None/>
              <a:tabLst/>
              <a:defRPr/>
            </a:pPr>
            <a:endParaRPr kumimoji="0" lang="es-ES_tradnl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5" name="Google Shape;1474;p92">
            <a:extLst>
              <a:ext uri="{FF2B5EF4-FFF2-40B4-BE49-F238E27FC236}">
                <a16:creationId xmlns:a16="http://schemas.microsoft.com/office/drawing/2014/main" id="{EBCF3754-D72B-25FB-2273-7AF438CA3C0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8064" y="959114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477;p92">
            <a:extLst>
              <a:ext uri="{FF2B5EF4-FFF2-40B4-BE49-F238E27FC236}">
                <a16:creationId xmlns:a16="http://schemas.microsoft.com/office/drawing/2014/main" id="{09073F3C-ED01-5556-B987-B2D07402F128}"/>
              </a:ext>
            </a:extLst>
          </p:cNvPr>
          <p:cNvPicPr preferRelativeResize="0"/>
          <p:nvPr/>
        </p:nvPicPr>
        <p:blipFill rotWithShape="1">
          <a:blip r:embed="rId6">
            <a:alphaModFix amt="42000"/>
          </a:blip>
          <a:srcRect/>
          <a:stretch/>
        </p:blipFill>
        <p:spPr>
          <a:xfrm>
            <a:off x="6985000" y="3036889"/>
            <a:ext cx="1690688" cy="21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478;p92">
            <a:extLst>
              <a:ext uri="{FF2B5EF4-FFF2-40B4-BE49-F238E27FC236}">
                <a16:creationId xmlns:a16="http://schemas.microsoft.com/office/drawing/2014/main" id="{FEC2F4C3-9DE6-77BD-C75C-6C510BEC3AF4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/>
          </a:p>
        </p:txBody>
      </p:sp>
      <p:pic>
        <p:nvPicPr>
          <p:cNvPr id="8" name="Google Shape;1475;p92">
            <a:extLst>
              <a:ext uri="{FF2B5EF4-FFF2-40B4-BE49-F238E27FC236}">
                <a16:creationId xmlns:a16="http://schemas.microsoft.com/office/drawing/2014/main" id="{B502DA31-8B1E-57D4-D22C-1F5F6726D32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8064" y="1592768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475;p92">
            <a:extLst>
              <a:ext uri="{FF2B5EF4-FFF2-40B4-BE49-F238E27FC236}">
                <a16:creationId xmlns:a16="http://schemas.microsoft.com/office/drawing/2014/main" id="{7B9EB9BE-89C2-B32E-B95F-DD4B41F87F0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8064" y="2226422"/>
            <a:ext cx="103867" cy="10696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06B530EB-910A-8734-0543-3DB2F4E2567A}"/>
              </a:ext>
            </a:extLst>
          </p:cNvPr>
          <p:cNvSpPr/>
          <p:nvPr/>
        </p:nvSpPr>
        <p:spPr>
          <a:xfrm>
            <a:off x="407350" y="5277533"/>
            <a:ext cx="8469655" cy="39454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50807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84;p93">
            <a:extLst>
              <a:ext uri="{FF2B5EF4-FFF2-40B4-BE49-F238E27FC236}">
                <a16:creationId xmlns:a16="http://schemas.microsoft.com/office/drawing/2014/main" id="{422BF6E2-E20A-039D-D3BC-F90C74F110CA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485;p93">
            <a:extLst>
              <a:ext uri="{FF2B5EF4-FFF2-40B4-BE49-F238E27FC236}">
                <a16:creationId xmlns:a16="http://schemas.microsoft.com/office/drawing/2014/main" id="{632D4512-4FFD-1307-7CF3-C6EA1D92EDC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24199" y="2666298"/>
            <a:ext cx="1295601" cy="3868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57010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33699</TotalTime>
  <Words>1192</Words>
  <Application>Microsoft Macintosh PowerPoint</Application>
  <PresentationFormat>Presentación en pantalla (16:10)</PresentationFormat>
  <Paragraphs>187</Paragraphs>
  <Slides>18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Arial</vt:lpstr>
      <vt:lpstr>Calibri</vt:lpstr>
      <vt:lpstr>Graphik Bold</vt:lpstr>
      <vt:lpstr>Graphik Regular</vt:lpstr>
      <vt:lpstr>Graphik-Medium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Mary Gabriela Romero Martinez </cp:lastModifiedBy>
  <cp:revision>473</cp:revision>
  <cp:lastPrinted>2018-01-16T21:42:59Z</cp:lastPrinted>
  <dcterms:created xsi:type="dcterms:W3CDTF">2016-10-06T14:52:02Z</dcterms:created>
  <dcterms:modified xsi:type="dcterms:W3CDTF">2024-08-20T20:20:14Z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