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7.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handoutMasterIdLst>
    <p:handoutMasterId r:id="rId23"/>
  </p:handoutMasterIdLst>
  <p:sldIdLst>
    <p:sldId id="326" r:id="rId2"/>
    <p:sldId id="362" r:id="rId3"/>
    <p:sldId id="306" r:id="rId4"/>
    <p:sldId id="315" r:id="rId5"/>
    <p:sldId id="336" r:id="rId6"/>
    <p:sldId id="360" r:id="rId7"/>
    <p:sldId id="361" r:id="rId8"/>
    <p:sldId id="352" r:id="rId9"/>
    <p:sldId id="353" r:id="rId10"/>
    <p:sldId id="354" r:id="rId11"/>
    <p:sldId id="355" r:id="rId12"/>
    <p:sldId id="356" r:id="rId13"/>
    <p:sldId id="359" r:id="rId14"/>
    <p:sldId id="357" r:id="rId15"/>
    <p:sldId id="358" r:id="rId16"/>
    <p:sldId id="363" r:id="rId17"/>
    <p:sldId id="303" r:id="rId18"/>
    <p:sldId id="365" r:id="rId19"/>
    <p:sldId id="281" r:id="rId20"/>
    <p:sldId id="364" r:id="rId21"/>
  </p:sldIdLst>
  <p:sldSz cx="9144000" cy="5715000" type="screen16x10"/>
  <p:notesSz cx="6858000" cy="9144000"/>
  <p:custDataLst>
    <p:tags r:id="rId2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1" pos="317" userDrawn="1">
          <p15:clr>
            <a:srgbClr val="A4A3A4"/>
          </p15:clr>
        </p15:guide>
        <p15:guide id="12" orient="horz" pos="18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2C2"/>
    <a:srgbClr val="EE4639"/>
    <a:srgbClr val="D9DBE1"/>
    <a:srgbClr val="808799"/>
    <a:srgbClr val="FF7827"/>
    <a:srgbClr val="E4DDEE"/>
    <a:srgbClr val="7150A0"/>
    <a:srgbClr val="D2EFF4"/>
    <a:srgbClr val="FBC8C4"/>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661" autoAdjust="0"/>
    <p:restoredTop sz="90763" autoAdjust="0"/>
  </p:normalViewPr>
  <p:slideViewPr>
    <p:cSldViewPr snapToGrid="0" snapToObjects="1" showGuides="1">
      <p:cViewPr varScale="1">
        <p:scale>
          <a:sx n="118" d="100"/>
          <a:sy n="118" d="100"/>
        </p:scale>
        <p:origin x="224" y="1424"/>
      </p:cViewPr>
      <p:guideLst>
        <p:guide pos="317"/>
        <p:guide orient="horz" pos="180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1932DC7-834F-6148-86AF-F72164F7FFC1}" type="datetimeFigureOut">
              <a:rPr lang="es-ES" smtClean="0"/>
              <a:t>20/8/24</a:t>
            </a:fld>
            <a:endParaRPr lang="es-ES"/>
          </a:p>
        </p:txBody>
      </p:sp>
      <p:sp>
        <p:nvSpPr>
          <p:cNvPr id="4" name="Marcador de pie de página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DF1720-AE80-4069-8D89-2C76E8AFD874}" type="datetimeFigureOut">
              <a:rPr lang="es-PE" smtClean="0"/>
              <a:t>20/08/24</a:t>
            </a:fld>
            <a:endParaRPr lang="es-PE"/>
          </a:p>
        </p:txBody>
      </p:sp>
      <p:sp>
        <p:nvSpPr>
          <p:cNvPr id="4" name="Marcador de imagen de diapositiva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1488402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17844387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281541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1095732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3266668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12586844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37215578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34232552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30492563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17070947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31749895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960438" y="1143000"/>
            <a:ext cx="4937125" cy="3086100"/>
          </a:xfrm>
        </p:spPr>
      </p:sp>
      <p:sp>
        <p:nvSpPr>
          <p:cNvPr id="3" name="Marcador de notas 2"/>
          <p:cNvSpPr>
            <a:spLocks noGrp="1"/>
          </p:cNvSpPr>
          <p:nvPr>
            <p:ph type="body" idx="1"/>
          </p:nvPr>
        </p:nvSpPr>
        <p:spPr/>
        <p:txBody>
          <a:bodyPr/>
          <a:lstStyle/>
          <a:p>
            <a:endParaRPr lang="es-PE"/>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6"/>
        <p:cNvGrpSpPr/>
        <p:nvPr/>
      </p:nvGrpSpPr>
      <p:grpSpPr>
        <a:xfrm>
          <a:off x="0" y="0"/>
          <a:ext cx="0" cy="0"/>
          <a:chOff x="0" y="0"/>
          <a:chExt cx="0" cy="0"/>
        </a:xfrm>
      </p:grpSpPr>
      <p:sp>
        <p:nvSpPr>
          <p:cNvPr id="1457" name="Google Shape;1457;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458" name="Google Shape;1458;p26: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085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943131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ubtema - 1 Imagen A">
    <p:spTree>
      <p:nvGrpSpPr>
        <p:cNvPr id="1" name=""/>
        <p:cNvGrpSpPr/>
        <p:nvPr/>
      </p:nvGrpSpPr>
      <p:grpSpPr>
        <a:xfrm>
          <a:off x="0" y="0"/>
          <a:ext cx="0" cy="0"/>
          <a:chOff x="0" y="0"/>
          <a:chExt cx="0" cy="0"/>
        </a:xfrm>
      </p:grpSpPr>
    </p:spTree>
    <p:extLst>
      <p:ext uri="{BB962C8B-B14F-4D97-AF65-F5344CB8AC3E}">
        <p14:creationId xmlns:p14="http://schemas.microsoft.com/office/powerpoint/2010/main" val="6118249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ubtema - 1 Imagen B">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2226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tema - 1 Imagen Centrada">
    <p:spTree>
      <p:nvGrpSpPr>
        <p:cNvPr id="1" name=""/>
        <p:cNvGrpSpPr/>
        <p:nvPr/>
      </p:nvGrpSpPr>
      <p:grpSpPr>
        <a:xfrm>
          <a:off x="0" y="0"/>
          <a:ext cx="0" cy="0"/>
          <a:chOff x="0" y="0"/>
          <a:chExt cx="0" cy="0"/>
        </a:xfrm>
      </p:grpSpPr>
    </p:spTree>
    <p:extLst>
      <p:ext uri="{BB962C8B-B14F-4D97-AF65-F5344CB8AC3E}">
        <p14:creationId xmlns:p14="http://schemas.microsoft.com/office/powerpoint/2010/main" val="19355087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ema - 2 Imágenes">
    <p:spTree>
      <p:nvGrpSpPr>
        <p:cNvPr id="1" name=""/>
        <p:cNvGrpSpPr/>
        <p:nvPr/>
      </p:nvGrpSpPr>
      <p:grpSpPr>
        <a:xfrm>
          <a:off x="0" y="0"/>
          <a:ext cx="0" cy="0"/>
          <a:chOff x="0" y="0"/>
          <a:chExt cx="0" cy="0"/>
        </a:xfrm>
      </p:grpSpPr>
    </p:spTree>
    <p:extLst>
      <p:ext uri="{BB962C8B-B14F-4D97-AF65-F5344CB8AC3E}">
        <p14:creationId xmlns:p14="http://schemas.microsoft.com/office/powerpoint/2010/main" val="964691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ubtema - Imagen Gigan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6956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ubtema - 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5261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Diapositiva de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211312"/>
      </p:ext>
    </p:extLst>
  </p:cSld>
  <p:clrMapOvr>
    <a:masterClrMapping/>
  </p:clrMapOvr>
  <p:extLst>
    <p:ext uri="{DCECCB84-F9BA-43D5-87BE-67443E8EF086}">
      <p15:sldGuideLst xmlns:p15="http://schemas.microsoft.com/office/powerpoint/2012/main">
        <p15:guide id="1" orient="horz" pos="1800" userDrawn="1">
          <p15:clr>
            <a:srgbClr val="FBAE40"/>
          </p15:clr>
        </p15:guide>
        <p15:guide id="2" pos="28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emf"/><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944054" y="5369051"/>
            <a:ext cx="7804380" cy="215444"/>
            <a:chOff x="944054" y="5369051"/>
            <a:chExt cx="7804380" cy="215444"/>
          </a:xfrm>
        </p:grpSpPr>
        <p:sp>
          <p:nvSpPr>
            <p:cNvPr id="16" name="TextBox 7"/>
            <p:cNvSpPr txBox="1"/>
            <p:nvPr userDrawn="1"/>
          </p:nvSpPr>
          <p:spPr>
            <a:xfrm>
              <a:off x="944054" y="5369051"/>
              <a:ext cx="2566728" cy="215444"/>
            </a:xfrm>
            <a:prstGeom prst="rect">
              <a:avLst/>
            </a:prstGeom>
            <a:noFill/>
          </p:spPr>
          <p:txBody>
            <a:bodyPr wrap="none" rtlCol="0">
              <a:spAutoFit/>
            </a:bodyPr>
            <a:lstStyle/>
            <a:p>
              <a:r>
                <a:rPr lang="en-US" sz="800" kern="1200">
                  <a:solidFill>
                    <a:schemeClr val="bg1">
                      <a:lumMod val="50000"/>
                    </a:schemeClr>
                  </a:solidFill>
                  <a:latin typeface="Calibri"/>
                  <a:ea typeface="+mn-ea"/>
                  <a:cs typeface="Calibri"/>
                  <a:sym typeface="Wingdings"/>
                </a:rPr>
                <a:t>ANÁLITICA</a:t>
              </a:r>
              <a:r>
                <a:rPr lang="en-US" sz="800" kern="1200" baseline="0">
                  <a:solidFill>
                    <a:schemeClr val="bg1">
                      <a:lumMod val="50000"/>
                    </a:schemeClr>
                  </a:solidFill>
                  <a:latin typeface="Calibri"/>
                  <a:ea typeface="+mn-ea"/>
                  <a:cs typeface="Calibri"/>
                  <a:sym typeface="Wingdings"/>
                </a:rPr>
                <a:t> DE LOS SISTEMAS EMPRESARIALES </a:t>
              </a:r>
              <a:r>
                <a:rPr lang="en-US" sz="800">
                  <a:solidFill>
                    <a:schemeClr val="bg1">
                      <a:lumMod val="50000"/>
                    </a:schemeClr>
                  </a:solidFill>
                  <a:latin typeface="Calibri"/>
                  <a:ea typeface="Wingdings"/>
                  <a:cs typeface="Calibri"/>
                  <a:sym typeface="Wingdings"/>
                </a:rPr>
                <a:t></a:t>
              </a:r>
              <a:r>
                <a:rPr lang="en-US" sz="800" kern="1200">
                  <a:solidFill>
                    <a:schemeClr val="bg1">
                      <a:lumMod val="50000"/>
                    </a:schemeClr>
                  </a:solidFill>
                  <a:latin typeface="Calibri"/>
                  <a:ea typeface="+mn-ea"/>
                  <a:cs typeface="Calibri"/>
                  <a:sym typeface="Wingdings"/>
                </a:rPr>
                <a:t>  TEMA 10</a:t>
              </a:r>
              <a:endParaRPr lang="en-US" sz="800">
                <a:solidFill>
                  <a:schemeClr val="bg1">
                    <a:lumMod val="50000"/>
                  </a:schemeClr>
                </a:solidFill>
                <a:latin typeface="Calibri"/>
                <a:cs typeface="Calibri"/>
              </a:endParaRPr>
            </a:p>
          </p:txBody>
        </p:sp>
        <p:sp>
          <p:nvSpPr>
            <p:cNvPr id="18" name="Rectangle 3"/>
            <p:cNvSpPr/>
            <p:nvPr userDrawn="1"/>
          </p:nvSpPr>
          <p:spPr>
            <a:xfrm>
              <a:off x="7361516" y="5384440"/>
              <a:ext cx="1386918" cy="184666"/>
            </a:xfrm>
            <a:prstGeom prst="rect">
              <a:avLst/>
            </a:prstGeom>
          </p:spPr>
          <p:txBody>
            <a:bodyPr wrap="none">
              <a:spAutoFit/>
            </a:bodyPr>
            <a:lstStyle/>
            <a:p>
              <a:pPr algn="r"/>
              <a:r>
                <a:rPr lang="es-ES_tradnl" sz="600" dirty="0">
                  <a:solidFill>
                    <a:schemeClr val="bg1">
                      <a:lumMod val="50000"/>
                    </a:schemeClr>
                  </a:solidFill>
                </a:rPr>
                <a:t>©  ISIL. Todos los derechos reservados</a:t>
              </a:r>
            </a:p>
          </p:txBody>
        </p:sp>
      </p:grpSp>
      <p:pic>
        <p:nvPicPr>
          <p:cNvPr id="3" name="Imagen 2"/>
          <p:cNvPicPr>
            <a:picLocks noChangeAspect="1"/>
          </p:cNvPicPr>
          <p:nvPr userDrawn="1"/>
        </p:nvPicPr>
        <p:blipFill>
          <a:blip r:embed="rId11">
            <a:alphaModFix amt="20000"/>
          </a:blip>
          <a:stretch>
            <a:fillRect/>
          </a:stretch>
        </p:blipFill>
        <p:spPr>
          <a:xfrm>
            <a:off x="495300"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60" r:id="rId4"/>
    <p:sldLayoutId id="2147483657" r:id="rId5"/>
    <p:sldLayoutId id="2147483658" r:id="rId6"/>
    <p:sldLayoutId id="2147483661" r:id="rId7"/>
    <p:sldLayoutId id="2147483659" r:id="rId8"/>
    <p:sldLayoutId id="2147483662"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userDrawn="1">
          <p15:clr>
            <a:srgbClr val="F26B43"/>
          </p15:clr>
        </p15:guide>
        <p15:guide id="2" orient="horz" pos="1800" userDrawn="1">
          <p15:clr>
            <a:srgbClr val="F26B43"/>
          </p15:clr>
        </p15:guide>
        <p15:guide id="3" pos="2767" userDrawn="1">
          <p15:clr>
            <a:srgbClr val="F26B43"/>
          </p15:clr>
        </p15:guide>
        <p15:guide id="4" pos="2993" userDrawn="1">
          <p15:clr>
            <a:srgbClr val="F26B43"/>
          </p15:clr>
        </p15:guide>
        <p15:guide id="5" pos="5465" userDrawn="1">
          <p15:clr>
            <a:srgbClr val="F26B43"/>
          </p15:clr>
        </p15:guide>
        <p15:guide id="6" pos="317" userDrawn="1">
          <p15:clr>
            <a:srgbClr val="F26B43"/>
          </p15:clr>
        </p15:guide>
        <p15:guide id="7" orient="horz" pos="303" userDrawn="1">
          <p15:clr>
            <a:srgbClr val="F26B43"/>
          </p15:clr>
        </p15:guide>
        <p15:guide id="8" orient="horz" pos="575" userDrawn="1">
          <p15:clr>
            <a:srgbClr val="F26B43"/>
          </p15:clr>
        </p15:guide>
        <p15:guide id="9" orient="horz" pos="3297"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microsoft.com/office/2007/relationships/hdphoto" Target="../media/hdphoto2.wdp"/><Relationship Id="rId5" Type="http://schemas.openxmlformats.org/officeDocument/2006/relationships/image" Target="../media/image10.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5.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microsoft.com/office/2007/relationships/hdphoto" Target="../media/hdphoto3.wdp"/></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7.png"/><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learn.microsoft.com/es-es/power-bi/fundamentals/desktop-getting-started"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D4449EBE-626C-8E8E-429A-975C5A1C3FF9}"/>
              </a:ext>
            </a:extLst>
          </p:cNvPr>
          <p:cNvSpPr/>
          <p:nvPr/>
        </p:nvSpPr>
        <p:spPr>
          <a:xfrm>
            <a:off x="280086" y="5275178"/>
            <a:ext cx="8699157" cy="408931"/>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pic>
        <p:nvPicPr>
          <p:cNvPr id="3" name="Imagen 2">
            <a:extLst>
              <a:ext uri="{FF2B5EF4-FFF2-40B4-BE49-F238E27FC236}">
                <a16:creationId xmlns:a16="http://schemas.microsoft.com/office/drawing/2014/main" id="{F5F11402-80DE-584F-7CD0-CD335FB599B9}"/>
              </a:ext>
            </a:extLst>
          </p:cNvPr>
          <p:cNvPicPr>
            <a:picLocks noChangeAspect="1"/>
          </p:cNvPicPr>
          <p:nvPr/>
        </p:nvPicPr>
        <p:blipFill>
          <a:blip r:embed="rId2"/>
          <a:stretch>
            <a:fillRect/>
          </a:stretch>
        </p:blipFill>
        <p:spPr>
          <a:xfrm>
            <a:off x="3770917" y="0"/>
            <a:ext cx="5391150" cy="5715000"/>
          </a:xfrm>
          <a:prstGeom prst="rect">
            <a:avLst/>
          </a:prstGeom>
        </p:spPr>
      </p:pic>
      <p:sp>
        <p:nvSpPr>
          <p:cNvPr id="7" name="CuadroTexto 6">
            <a:extLst>
              <a:ext uri="{FF2B5EF4-FFF2-40B4-BE49-F238E27FC236}">
                <a16:creationId xmlns:a16="http://schemas.microsoft.com/office/drawing/2014/main" id="{7C332F03-B736-410A-989D-0316DB715F13}"/>
              </a:ext>
            </a:extLst>
          </p:cNvPr>
          <p:cNvSpPr txBox="1"/>
          <p:nvPr/>
        </p:nvSpPr>
        <p:spPr>
          <a:xfrm>
            <a:off x="494360" y="808689"/>
            <a:ext cx="3104743" cy="138499"/>
          </a:xfrm>
          <a:prstGeom prst="rect">
            <a:avLst/>
          </a:prstGeom>
          <a:noFill/>
        </p:spPr>
        <p:txBody>
          <a:bodyPr wrap="square" lIns="0" tIns="0" rIns="0" bIns="0" rtlCol="0">
            <a:spAutoFit/>
          </a:bodyPr>
          <a:lstStyle/>
          <a:p>
            <a:pPr marL="0" marR="0" lvl="0" indent="0" algn="l" rtl="0">
              <a:lnSpc>
                <a:spcPct val="100000"/>
              </a:lnSpc>
              <a:spcBef>
                <a:spcPts val="0"/>
              </a:spcBef>
              <a:spcAft>
                <a:spcPts val="0"/>
              </a:spcAft>
              <a:buClr>
                <a:srgbClr val="000000"/>
              </a:buClr>
              <a:buSzPts val="1400"/>
              <a:buFont typeface="Arial"/>
              <a:buNone/>
            </a:pPr>
            <a:r>
              <a:rPr lang="es-PE" sz="900" b="1">
                <a:solidFill>
                  <a:srgbClr val="6C6D6C"/>
                </a:solidFill>
                <a:latin typeface="Calibri" charset="0"/>
                <a:cs typeface="Calibri" charset="0"/>
                <a:sym typeface="Calibri"/>
              </a:rPr>
              <a:t>ANALÍTICA DE SISTEMAS EMPRESARIALES </a:t>
            </a:r>
            <a:endParaRPr lang="es-PE" sz="900" b="1">
              <a:solidFill>
                <a:srgbClr val="6C6D6C"/>
              </a:solidFill>
              <a:latin typeface="Calibri" charset="0"/>
              <a:cs typeface="Calibri" charset="0"/>
            </a:endParaRPr>
          </a:p>
        </p:txBody>
      </p:sp>
      <p:sp>
        <p:nvSpPr>
          <p:cNvPr id="9" name="Rectángulo 8">
            <a:extLst>
              <a:ext uri="{FF2B5EF4-FFF2-40B4-BE49-F238E27FC236}">
                <a16:creationId xmlns:a16="http://schemas.microsoft.com/office/drawing/2014/main" id="{3CDBD302-7274-C3B3-4F97-0C01F6355A31}"/>
              </a:ext>
            </a:extLst>
          </p:cNvPr>
          <p:cNvSpPr/>
          <p:nvPr/>
        </p:nvSpPr>
        <p:spPr>
          <a:xfrm>
            <a:off x="494361" y="2177570"/>
            <a:ext cx="3258078" cy="1083374"/>
          </a:xfrm>
          <a:prstGeom prst="rect">
            <a:avLst/>
          </a:prstGeom>
        </p:spPr>
        <p:txBody>
          <a:bodyPr wrap="square" lIns="0" tIns="0" rIns="0" bIns="0">
            <a:spAutoFit/>
          </a:bodyPr>
          <a:lstStyle/>
          <a:p>
            <a:pPr>
              <a:lnSpc>
                <a:spcPct val="80000"/>
              </a:lnSpc>
            </a:pPr>
            <a:r>
              <a:rPr lang="es-ES" sz="2200" dirty="0">
                <a:latin typeface="Graphik-Medium" charset="0"/>
              </a:rPr>
              <a:t>POWER BI -</a:t>
            </a:r>
            <a:r>
              <a:rPr lang="es-ES" sz="2200" b="1" dirty="0">
                <a:latin typeface="Graphik Bold" panose="020B0503030202060203" pitchFamily="34" charset="77"/>
              </a:rPr>
              <a:t>VISUALIZACIONES </a:t>
            </a:r>
            <a:br>
              <a:rPr lang="es-ES" sz="2200" b="1" dirty="0">
                <a:latin typeface="Graphik Bold" panose="020B0503030202060203" pitchFamily="34" charset="77"/>
              </a:rPr>
            </a:br>
            <a:r>
              <a:rPr lang="es-ES" sz="2200" b="1" dirty="0">
                <a:latin typeface="Graphik Bold" panose="020B0503030202060203" pitchFamily="34" charset="77"/>
              </a:rPr>
              <a:t>Y EXPLORACIÓN </a:t>
            </a:r>
            <a:br>
              <a:rPr lang="es-ES" sz="2200" b="1" dirty="0">
                <a:latin typeface="Graphik Bold" panose="020B0503030202060203" pitchFamily="34" charset="77"/>
              </a:rPr>
            </a:br>
            <a:r>
              <a:rPr lang="es-ES" sz="2200" b="1" dirty="0">
                <a:latin typeface="Graphik Bold" panose="020B0503030202060203" pitchFamily="34" charset="77"/>
              </a:rPr>
              <a:t>DE DATOS</a:t>
            </a:r>
          </a:p>
        </p:txBody>
      </p:sp>
      <p:sp>
        <p:nvSpPr>
          <p:cNvPr id="10" name="CuadroTexto 9">
            <a:extLst>
              <a:ext uri="{FF2B5EF4-FFF2-40B4-BE49-F238E27FC236}">
                <a16:creationId xmlns:a16="http://schemas.microsoft.com/office/drawing/2014/main" id="{0B8C9B2E-471D-C0C7-DFDF-4AC51AB77FA5}"/>
              </a:ext>
            </a:extLst>
          </p:cNvPr>
          <p:cNvSpPr txBox="1"/>
          <p:nvPr/>
        </p:nvSpPr>
        <p:spPr>
          <a:xfrm>
            <a:off x="735024" y="1819386"/>
            <a:ext cx="1457648" cy="307777"/>
          </a:xfrm>
          <a:prstGeom prst="rect">
            <a:avLst/>
          </a:prstGeom>
          <a:noFill/>
        </p:spPr>
        <p:txBody>
          <a:bodyPr wrap="square" lIns="0" tIns="0" rIns="0" bIns="0" rtlCol="0">
            <a:spAutoFit/>
          </a:bodyPr>
          <a:lstStyle/>
          <a:p>
            <a:r>
              <a:rPr lang="es-ES_tradnl" sz="2000" b="1" dirty="0">
                <a:solidFill>
                  <a:srgbClr val="E04097"/>
                </a:solidFill>
                <a:latin typeface="Calibri" charset="0"/>
                <a:ea typeface="Calibri" charset="0"/>
                <a:cs typeface="Calibri" charset="0"/>
              </a:rPr>
              <a:t>TEMA 10</a:t>
            </a:r>
          </a:p>
        </p:txBody>
      </p:sp>
      <p:pic>
        <p:nvPicPr>
          <p:cNvPr id="11" name="Imagen 10">
            <a:extLst>
              <a:ext uri="{FF2B5EF4-FFF2-40B4-BE49-F238E27FC236}">
                <a16:creationId xmlns:a16="http://schemas.microsoft.com/office/drawing/2014/main" id="{0F6EC857-1173-2F28-3A9B-04E3C96ED2D3}"/>
              </a:ext>
            </a:extLst>
          </p:cNvPr>
          <p:cNvPicPr>
            <a:picLocks noChangeAspect="1"/>
          </p:cNvPicPr>
          <p:nvPr/>
        </p:nvPicPr>
        <p:blipFill>
          <a:blip r:embed="rId3"/>
          <a:stretch>
            <a:fillRect/>
          </a:stretch>
        </p:blipFill>
        <p:spPr>
          <a:xfrm>
            <a:off x="498586" y="1883411"/>
            <a:ext cx="166865" cy="170453"/>
          </a:xfrm>
          <a:prstGeom prst="rect">
            <a:avLst/>
          </a:prstGeom>
        </p:spPr>
      </p:pic>
      <p:sp>
        <p:nvSpPr>
          <p:cNvPr id="12" name="Rectángulo 11">
            <a:extLst>
              <a:ext uri="{FF2B5EF4-FFF2-40B4-BE49-F238E27FC236}">
                <a16:creationId xmlns:a16="http://schemas.microsoft.com/office/drawing/2014/main" id="{A166D40E-34A1-C7A7-229E-253D217DFCED}"/>
              </a:ext>
            </a:extLst>
          </p:cNvPr>
          <p:cNvSpPr/>
          <p:nvPr/>
        </p:nvSpPr>
        <p:spPr>
          <a:xfrm>
            <a:off x="494360" y="3410908"/>
            <a:ext cx="2848490" cy="588944"/>
          </a:xfrm>
          <a:prstGeom prst="rect">
            <a:avLst/>
          </a:prstGeom>
        </p:spPr>
        <p:txBody>
          <a:bodyPr wrap="square" lIns="0" tIns="0" rIns="0" bIns="0">
            <a:spAutoFit/>
          </a:bodyPr>
          <a:lstStyle/>
          <a:p>
            <a:pPr marL="177800" indent="-177800">
              <a:lnSpc>
                <a:spcPct val="120000"/>
              </a:lnSpc>
              <a:buClr>
                <a:srgbClr val="E04097"/>
              </a:buClr>
              <a:buSzPct val="100000"/>
              <a:buFont typeface="Arial"/>
              <a:buChar char="•"/>
            </a:pPr>
            <a:r>
              <a:rPr lang="es-ES" sz="1100" dirty="0">
                <a:latin typeface="Graphik-Medium" charset="0"/>
              </a:rPr>
              <a:t>Modelo de datos</a:t>
            </a:r>
          </a:p>
          <a:p>
            <a:pPr marL="177800" indent="-177800">
              <a:lnSpc>
                <a:spcPct val="120000"/>
              </a:lnSpc>
              <a:buClr>
                <a:srgbClr val="E04097"/>
              </a:buClr>
              <a:buSzPct val="100000"/>
              <a:buFont typeface="Arial"/>
              <a:buChar char="•"/>
            </a:pPr>
            <a:r>
              <a:rPr lang="es-ES" sz="1100" dirty="0">
                <a:latin typeface="Graphik-Medium" charset="0"/>
              </a:rPr>
              <a:t>Visualizaciones de datos</a:t>
            </a:r>
          </a:p>
          <a:p>
            <a:pPr marL="177800" indent="-177800">
              <a:lnSpc>
                <a:spcPct val="120000"/>
              </a:lnSpc>
              <a:buClr>
                <a:srgbClr val="E04097"/>
              </a:buClr>
              <a:buSzPct val="100000"/>
              <a:buFont typeface="Arial"/>
              <a:buChar char="•"/>
            </a:pPr>
            <a:r>
              <a:rPr lang="es-ES" sz="1100" dirty="0">
                <a:latin typeface="Graphik-Medium" charset="0"/>
              </a:rPr>
              <a:t>Exploración de datos</a:t>
            </a:r>
          </a:p>
        </p:txBody>
      </p:sp>
    </p:spTree>
    <p:extLst>
      <p:ext uri="{BB962C8B-B14F-4D97-AF65-F5344CB8AC3E}">
        <p14:creationId xmlns:p14="http://schemas.microsoft.com/office/powerpoint/2010/main" val="2962688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05;p4">
            <a:extLst>
              <a:ext uri="{FF2B5EF4-FFF2-40B4-BE49-F238E27FC236}">
                <a16:creationId xmlns:a16="http://schemas.microsoft.com/office/drawing/2014/main" id="{B2CD0970-2426-4CCA-7FAF-3260073376F4}"/>
              </a:ext>
            </a:extLst>
          </p:cNvPr>
          <p:cNvSpPr/>
          <p:nvPr/>
        </p:nvSpPr>
        <p:spPr>
          <a:xfrm>
            <a:off x="0" y="1"/>
            <a:ext cx="9144000" cy="5715000"/>
          </a:xfrm>
          <a:prstGeom prst="rect">
            <a:avLst/>
          </a:prstGeom>
          <a:solidFill>
            <a:srgbClr val="ED434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pic>
        <p:nvPicPr>
          <p:cNvPr id="3" name="Google Shape;106;p4">
            <a:extLst>
              <a:ext uri="{FF2B5EF4-FFF2-40B4-BE49-F238E27FC236}">
                <a16:creationId xmlns:a16="http://schemas.microsoft.com/office/drawing/2014/main" id="{DD83DE28-7F85-A352-7518-19E8EB3C6A0E}"/>
              </a:ext>
            </a:extLst>
          </p:cNvPr>
          <p:cNvPicPr preferRelativeResize="0"/>
          <p:nvPr/>
        </p:nvPicPr>
        <p:blipFill rotWithShape="1">
          <a:blip r:embed="rId2">
            <a:alphaModFix/>
          </a:blip>
          <a:srcRect/>
          <a:stretch/>
        </p:blipFill>
        <p:spPr>
          <a:xfrm>
            <a:off x="1" y="946969"/>
            <a:ext cx="2072213" cy="3898064"/>
          </a:xfrm>
          <a:prstGeom prst="rect">
            <a:avLst/>
          </a:prstGeom>
          <a:noFill/>
          <a:ln>
            <a:noFill/>
          </a:ln>
        </p:spPr>
      </p:pic>
      <p:sp>
        <p:nvSpPr>
          <p:cNvPr id="4" name="Google Shape;107;p4">
            <a:extLst>
              <a:ext uri="{FF2B5EF4-FFF2-40B4-BE49-F238E27FC236}">
                <a16:creationId xmlns:a16="http://schemas.microsoft.com/office/drawing/2014/main" id="{899697DC-CE63-0911-2B90-53ECBDACE6FF}"/>
              </a:ext>
            </a:extLst>
          </p:cNvPr>
          <p:cNvSpPr/>
          <p:nvPr/>
        </p:nvSpPr>
        <p:spPr>
          <a:xfrm>
            <a:off x="149817" y="3724759"/>
            <a:ext cx="1037633" cy="1069383"/>
          </a:xfrm>
          <a:prstGeom prst="rect">
            <a:avLst/>
          </a:prstGeom>
          <a:solidFill>
            <a:srgbClr val="ED434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5" name="Google Shape;108;p4">
            <a:extLst>
              <a:ext uri="{FF2B5EF4-FFF2-40B4-BE49-F238E27FC236}">
                <a16:creationId xmlns:a16="http://schemas.microsoft.com/office/drawing/2014/main" id="{09E69E43-9198-96F9-D08E-444C1F347E98}"/>
              </a:ext>
            </a:extLst>
          </p:cNvPr>
          <p:cNvSpPr txBox="1"/>
          <p:nvPr/>
        </p:nvSpPr>
        <p:spPr>
          <a:xfrm>
            <a:off x="2519363" y="2540738"/>
            <a:ext cx="4581728" cy="812530"/>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s-PE" sz="3300">
                <a:solidFill>
                  <a:schemeClr val="lt1"/>
                </a:solidFill>
                <a:latin typeface="Graphik Regular" panose="020B0503030202060203" pitchFamily="34" charset="77"/>
                <a:ea typeface="Arial"/>
                <a:cs typeface="Arial"/>
                <a:sym typeface="Arial"/>
              </a:rPr>
              <a:t>INTRODUCCIÓN</a:t>
            </a:r>
            <a:endParaRPr dirty="0">
              <a:latin typeface="Graphik Regular" panose="020B0503030202060203" pitchFamily="34" charset="77"/>
            </a:endParaRPr>
          </a:p>
          <a:p>
            <a:pPr marL="0" marR="0" lvl="0" indent="0" algn="l" rtl="0">
              <a:lnSpc>
                <a:spcPct val="80000"/>
              </a:lnSpc>
              <a:spcBef>
                <a:spcPts val="0"/>
              </a:spcBef>
              <a:spcAft>
                <a:spcPts val="0"/>
              </a:spcAft>
              <a:buNone/>
            </a:pPr>
            <a:r>
              <a:rPr lang="es-PE" sz="3300" b="1">
                <a:solidFill>
                  <a:schemeClr val="lt1"/>
                </a:solidFill>
                <a:latin typeface="Graphik Bold" panose="020B0503030202060203" pitchFamily="34" charset="77"/>
                <a:ea typeface="Arial"/>
                <a:cs typeface="Arial"/>
                <a:sym typeface="Arial"/>
              </a:rPr>
              <a:t>DE LA SESIÓN</a:t>
            </a:r>
            <a:endParaRPr b="1" dirty="0">
              <a:latin typeface="Graphik Bold" panose="020B0503030202060203" pitchFamily="34" charset="77"/>
            </a:endParaRPr>
          </a:p>
        </p:txBody>
      </p:sp>
      <p:pic>
        <p:nvPicPr>
          <p:cNvPr id="6" name="Google Shape;109;p4">
            <a:extLst>
              <a:ext uri="{FF2B5EF4-FFF2-40B4-BE49-F238E27FC236}">
                <a16:creationId xmlns:a16="http://schemas.microsoft.com/office/drawing/2014/main" id="{5D676788-8D99-3229-0740-46C7A2BE5C18}"/>
              </a:ext>
            </a:extLst>
          </p:cNvPr>
          <p:cNvPicPr preferRelativeResize="0"/>
          <p:nvPr/>
        </p:nvPicPr>
        <p:blipFill rotWithShape="1">
          <a:blip r:embed="rId3">
            <a:alphaModFix amt="16000"/>
          </a:blip>
          <a:srcRect/>
          <a:stretch/>
        </p:blipFill>
        <p:spPr>
          <a:xfrm>
            <a:off x="334433" y="3817749"/>
            <a:ext cx="809264" cy="809264"/>
          </a:xfrm>
          <a:prstGeom prst="rect">
            <a:avLst/>
          </a:prstGeom>
          <a:noFill/>
          <a:ln>
            <a:noFill/>
          </a:ln>
        </p:spPr>
      </p:pic>
      <p:pic>
        <p:nvPicPr>
          <p:cNvPr id="7" name="Google Shape;110;p4">
            <a:extLst>
              <a:ext uri="{FF2B5EF4-FFF2-40B4-BE49-F238E27FC236}">
                <a16:creationId xmlns:a16="http://schemas.microsoft.com/office/drawing/2014/main" id="{F3D57105-2399-3195-9F42-79B6119ECCEE}"/>
              </a:ext>
            </a:extLst>
          </p:cNvPr>
          <p:cNvPicPr preferRelativeResize="0"/>
          <p:nvPr/>
        </p:nvPicPr>
        <p:blipFill rotWithShape="1">
          <a:blip r:embed="rId4">
            <a:alphaModFix/>
          </a:blip>
          <a:srcRect/>
          <a:stretch/>
        </p:blipFill>
        <p:spPr>
          <a:xfrm>
            <a:off x="2528619" y="2194222"/>
            <a:ext cx="202176" cy="208211"/>
          </a:xfrm>
          <a:prstGeom prst="rect">
            <a:avLst/>
          </a:prstGeom>
          <a:noFill/>
          <a:ln>
            <a:noFill/>
          </a:ln>
        </p:spPr>
      </p:pic>
    </p:spTree>
    <p:extLst>
      <p:ext uri="{BB962C8B-B14F-4D97-AF65-F5344CB8AC3E}">
        <p14:creationId xmlns:p14="http://schemas.microsoft.com/office/powerpoint/2010/main" val="2343835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7;p5">
            <a:extLst>
              <a:ext uri="{FF2B5EF4-FFF2-40B4-BE49-F238E27FC236}">
                <a16:creationId xmlns:a16="http://schemas.microsoft.com/office/drawing/2014/main" id="{A7A178B3-E5FE-6C66-1418-68C3960EBAB7}"/>
              </a:ext>
            </a:extLst>
          </p:cNvPr>
          <p:cNvSpPr txBox="1"/>
          <p:nvPr/>
        </p:nvSpPr>
        <p:spPr>
          <a:xfrm>
            <a:off x="1282298" y="918371"/>
            <a:ext cx="5458969" cy="1292662"/>
          </a:xfrm>
          <a:prstGeom prst="rect">
            <a:avLst/>
          </a:prstGeom>
          <a:noFill/>
          <a:ln>
            <a:noFill/>
          </a:ln>
        </p:spPr>
        <p:txBody>
          <a:bodyPr spcFirstLastPara="1" wrap="square" lIns="0" tIns="0" rIns="0" bIns="0" anchor="t" anchorCtr="0">
            <a:spAutoFit/>
          </a:bodyPr>
          <a:lstStyle/>
          <a:p>
            <a:pPr marL="11725">
              <a:buSzPct val="100000"/>
              <a:tabLst>
                <a:tab pos="121285" algn="l"/>
              </a:tabLst>
            </a:pPr>
            <a:r>
              <a:rPr lang="es-ES_tradnl" sz="1400" spc="-10" dirty="0">
                <a:latin typeface="Calibri" panose="020F0502020204030204" pitchFamily="34" charset="0"/>
                <a:cs typeface="Calibri" panose="020F0502020204030204" pitchFamily="34" charset="0"/>
              </a:rPr>
              <a:t>En esta sesión verás sobre las herramientas de </a:t>
            </a:r>
            <a:r>
              <a:rPr lang="es-ES_tradnl" sz="1400" spc="-10" dirty="0" err="1">
                <a:latin typeface="Calibri" panose="020F0502020204030204" pitchFamily="34" charset="0"/>
                <a:cs typeface="Calibri" panose="020F0502020204030204" pitchFamily="34" charset="0"/>
              </a:rPr>
              <a:t>Power</a:t>
            </a:r>
            <a:r>
              <a:rPr lang="es-ES_tradnl" sz="1400" spc="-10" dirty="0">
                <a:latin typeface="Calibri" panose="020F0502020204030204" pitchFamily="34" charset="0"/>
                <a:cs typeface="Calibri" panose="020F0502020204030204" pitchFamily="34" charset="0"/>
              </a:rPr>
              <a:t> BI que te permitan crear visualizaciones de datos atractivas con data integrada de varias fuentes de datos.</a:t>
            </a:r>
          </a:p>
          <a:p>
            <a:pPr marL="11725">
              <a:buSzPct val="100000"/>
              <a:tabLst>
                <a:tab pos="121285" algn="l"/>
              </a:tabLst>
            </a:pPr>
            <a:endParaRPr lang="es-ES_tradnl" sz="1400" spc="-10" dirty="0">
              <a:latin typeface="Calibri" panose="020F0502020204030204" pitchFamily="34" charset="0"/>
              <a:cs typeface="Calibri" panose="020F0502020204030204" pitchFamily="34" charset="0"/>
            </a:endParaRPr>
          </a:p>
          <a:p>
            <a:pPr marL="11725">
              <a:buSzPct val="100000"/>
              <a:tabLst>
                <a:tab pos="121285" algn="l"/>
              </a:tabLst>
            </a:pPr>
            <a:r>
              <a:rPr lang="es-ES_tradnl" sz="1400" spc="-10" dirty="0">
                <a:latin typeface="Calibri" panose="020F0502020204030204" pitchFamily="34" charset="0"/>
                <a:cs typeface="Calibri" panose="020F0502020204030204" pitchFamily="34" charset="0"/>
              </a:rPr>
              <a:t>Conocerás sobre el uso de las herramientas de visualización: tabla, gráfico, mapa, segmentación de datos y medidor.</a:t>
            </a:r>
          </a:p>
        </p:txBody>
      </p:sp>
      <p:pic>
        <p:nvPicPr>
          <p:cNvPr id="3" name="Google Shape;121;p5">
            <a:extLst>
              <a:ext uri="{FF2B5EF4-FFF2-40B4-BE49-F238E27FC236}">
                <a16:creationId xmlns:a16="http://schemas.microsoft.com/office/drawing/2014/main" id="{513AFCE6-CE94-9770-9556-0405D3968C2E}"/>
              </a:ext>
            </a:extLst>
          </p:cNvPr>
          <p:cNvPicPr preferRelativeResize="0"/>
          <p:nvPr/>
        </p:nvPicPr>
        <p:blipFill rotWithShape="1">
          <a:blip r:embed="rId3">
            <a:alphaModFix amt="42000"/>
          </a:blip>
          <a:srcRect/>
          <a:stretch/>
        </p:blipFill>
        <p:spPr>
          <a:xfrm>
            <a:off x="6986661" y="3052731"/>
            <a:ext cx="1689027" cy="2181257"/>
          </a:xfrm>
          <a:prstGeom prst="rect">
            <a:avLst/>
          </a:prstGeom>
          <a:noFill/>
          <a:ln>
            <a:noFill/>
          </a:ln>
        </p:spPr>
      </p:pic>
      <p:pic>
        <p:nvPicPr>
          <p:cNvPr id="4" name="Google Shape;124;p5">
            <a:extLst>
              <a:ext uri="{FF2B5EF4-FFF2-40B4-BE49-F238E27FC236}">
                <a16:creationId xmlns:a16="http://schemas.microsoft.com/office/drawing/2014/main" id="{52FD5F4C-44FF-7504-B382-5800121207E2}"/>
              </a:ext>
            </a:extLst>
          </p:cNvPr>
          <p:cNvPicPr preferRelativeResize="0"/>
          <p:nvPr/>
        </p:nvPicPr>
        <p:blipFill rotWithShape="1">
          <a:blip r:embed="rId4">
            <a:alphaModFix/>
          </a:blip>
          <a:srcRect/>
          <a:stretch/>
        </p:blipFill>
        <p:spPr>
          <a:xfrm>
            <a:off x="1010839" y="975168"/>
            <a:ext cx="117851" cy="121369"/>
          </a:xfrm>
          <a:prstGeom prst="rect">
            <a:avLst/>
          </a:prstGeom>
          <a:noFill/>
          <a:ln>
            <a:noFill/>
          </a:ln>
        </p:spPr>
      </p:pic>
      <p:sp>
        <p:nvSpPr>
          <p:cNvPr id="6" name="Google Shape;127;p5">
            <a:extLst>
              <a:ext uri="{FF2B5EF4-FFF2-40B4-BE49-F238E27FC236}">
                <a16:creationId xmlns:a16="http://schemas.microsoft.com/office/drawing/2014/main" id="{F88835E2-94D9-A960-7D8D-6A7F5C6834F9}"/>
              </a:ext>
            </a:extLst>
          </p:cNvPr>
          <p:cNvSpPr/>
          <p:nvPr/>
        </p:nvSpPr>
        <p:spPr>
          <a:xfrm>
            <a:off x="503238" y="376836"/>
            <a:ext cx="4401784" cy="138499"/>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None/>
            </a:pPr>
            <a:r>
              <a:rPr lang="es-PE" sz="1000" b="1">
                <a:solidFill>
                  <a:srgbClr val="7F7F7F"/>
                </a:solidFill>
                <a:latin typeface="Calibri"/>
                <a:ea typeface="Calibri"/>
                <a:cs typeface="Calibri"/>
                <a:sym typeface="Calibri"/>
              </a:rPr>
              <a:t>+ </a:t>
            </a:r>
            <a:r>
              <a:rPr lang="es-PE" sz="1000">
                <a:solidFill>
                  <a:srgbClr val="A5A5A5"/>
                </a:solidFill>
                <a:latin typeface="Calibri"/>
                <a:ea typeface="Calibri"/>
                <a:cs typeface="Calibri"/>
                <a:sym typeface="Calibri"/>
              </a:rPr>
              <a:t>INTRODUCCIÓN </a:t>
            </a:r>
            <a:endParaRPr/>
          </a:p>
        </p:txBody>
      </p:sp>
      <p:sp>
        <p:nvSpPr>
          <p:cNvPr id="8" name="Rectángulo 7">
            <a:extLst>
              <a:ext uri="{FF2B5EF4-FFF2-40B4-BE49-F238E27FC236}">
                <a16:creationId xmlns:a16="http://schemas.microsoft.com/office/drawing/2014/main" id="{347EC6E7-7BE7-8BF7-E09B-2F432F1226C7}"/>
              </a:ext>
            </a:extLst>
          </p:cNvPr>
          <p:cNvSpPr/>
          <p:nvPr/>
        </p:nvSpPr>
        <p:spPr>
          <a:xfrm>
            <a:off x="182879" y="5233989"/>
            <a:ext cx="8492809" cy="3529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pic>
        <p:nvPicPr>
          <p:cNvPr id="9" name="Google Shape;124;p5">
            <a:extLst>
              <a:ext uri="{FF2B5EF4-FFF2-40B4-BE49-F238E27FC236}">
                <a16:creationId xmlns:a16="http://schemas.microsoft.com/office/drawing/2014/main" id="{D2ACD018-4385-C594-AF09-C7AEAA0E92A2}"/>
              </a:ext>
            </a:extLst>
          </p:cNvPr>
          <p:cNvPicPr preferRelativeResize="0"/>
          <p:nvPr/>
        </p:nvPicPr>
        <p:blipFill rotWithShape="1">
          <a:blip r:embed="rId4">
            <a:alphaModFix/>
          </a:blip>
          <a:srcRect/>
          <a:stretch/>
        </p:blipFill>
        <p:spPr>
          <a:xfrm>
            <a:off x="1010839" y="1824253"/>
            <a:ext cx="117851" cy="121369"/>
          </a:xfrm>
          <a:prstGeom prst="rect">
            <a:avLst/>
          </a:prstGeom>
          <a:noFill/>
          <a:ln>
            <a:noFill/>
          </a:ln>
        </p:spPr>
      </p:pic>
    </p:spTree>
    <p:custDataLst>
      <p:tags r:id="rId1"/>
    </p:custDataLst>
    <p:extLst>
      <p:ext uri="{BB962C8B-B14F-4D97-AF65-F5344CB8AC3E}">
        <p14:creationId xmlns:p14="http://schemas.microsoft.com/office/powerpoint/2010/main" val="3789734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4;p10">
            <a:extLst>
              <a:ext uri="{FF2B5EF4-FFF2-40B4-BE49-F238E27FC236}">
                <a16:creationId xmlns:a16="http://schemas.microsoft.com/office/drawing/2014/main" id="{C936A20E-E1A7-737A-15F5-4EAEDDC5770E}"/>
              </a:ext>
            </a:extLst>
          </p:cNvPr>
          <p:cNvSpPr/>
          <p:nvPr/>
        </p:nvSpPr>
        <p:spPr>
          <a:xfrm>
            <a:off x="0" y="0"/>
            <a:ext cx="9144000" cy="5715000"/>
          </a:xfrm>
          <a:prstGeom prst="rect">
            <a:avLst/>
          </a:prstGeom>
          <a:solidFill>
            <a:srgbClr val="8087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 name="Google Shape;175;p10">
            <a:extLst>
              <a:ext uri="{FF2B5EF4-FFF2-40B4-BE49-F238E27FC236}">
                <a16:creationId xmlns:a16="http://schemas.microsoft.com/office/drawing/2014/main" id="{A520677C-896C-3E14-929F-2809AC332320}"/>
              </a:ext>
            </a:extLst>
          </p:cNvPr>
          <p:cNvSpPr txBox="1"/>
          <p:nvPr/>
        </p:nvSpPr>
        <p:spPr>
          <a:xfrm>
            <a:off x="1008063" y="3157860"/>
            <a:ext cx="5993558"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2800" b="1">
                <a:solidFill>
                  <a:schemeClr val="lt1"/>
                </a:solidFill>
                <a:latin typeface="Graphik Bold" panose="020B0503030202060203" pitchFamily="34" charset="77"/>
              </a:rPr>
              <a:t>MODELO DE DATOS</a:t>
            </a:r>
          </a:p>
        </p:txBody>
      </p:sp>
      <p:pic>
        <p:nvPicPr>
          <p:cNvPr id="5" name="Google Shape;176;p10">
            <a:extLst>
              <a:ext uri="{FF2B5EF4-FFF2-40B4-BE49-F238E27FC236}">
                <a16:creationId xmlns:a16="http://schemas.microsoft.com/office/drawing/2014/main" id="{A63D1AD2-4F29-19B8-578F-FDAC832F60B6}"/>
              </a:ext>
            </a:extLst>
          </p:cNvPr>
          <p:cNvPicPr preferRelativeResize="0"/>
          <p:nvPr/>
        </p:nvPicPr>
        <p:blipFill rotWithShape="1">
          <a:blip r:embed="rId4">
            <a:alphaModFix/>
          </a:blip>
          <a:srcRect/>
          <a:stretch/>
        </p:blipFill>
        <p:spPr>
          <a:xfrm>
            <a:off x="1008063" y="2857500"/>
            <a:ext cx="195423" cy="201256"/>
          </a:xfrm>
          <a:prstGeom prst="rect">
            <a:avLst/>
          </a:prstGeom>
          <a:noFill/>
          <a:ln>
            <a:noFill/>
          </a:ln>
        </p:spPr>
      </p:pic>
    </p:spTree>
    <p:custDataLst>
      <p:tags r:id="rId1"/>
    </p:custDataLst>
    <p:extLst>
      <p:ext uri="{BB962C8B-B14F-4D97-AF65-F5344CB8AC3E}">
        <p14:creationId xmlns:p14="http://schemas.microsoft.com/office/powerpoint/2010/main" val="310943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3238" y="924427"/>
            <a:ext cx="2818460" cy="2954655"/>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ES_tradnl" sz="1600" spc="-10" dirty="0">
                <a:latin typeface="Calibri" panose="020F0502020204030204" pitchFamily="34" charset="0"/>
                <a:cs typeface="Calibri" panose="020F0502020204030204" pitchFamily="34" charset="0"/>
              </a:rPr>
              <a:t>Antes de iniciar el proceso de diseño de la visualización de datos debemos configurar el modelo de datos. Este contiene todas las tablas que provienen de las fuentes de datos, así como las relaciones entre ellas. Debe considerar si será necesario </a:t>
            </a:r>
            <a:r>
              <a:rPr lang="es-ES_tradnl" sz="1600" spc="-10" dirty="0" err="1">
                <a:latin typeface="Calibri" panose="020F0502020204030204" pitchFamily="34" charset="0"/>
                <a:cs typeface="Calibri" panose="020F0502020204030204" pitchFamily="34" charset="0"/>
              </a:rPr>
              <a:t>denormalizar</a:t>
            </a:r>
            <a:r>
              <a:rPr lang="es-ES_tradnl" sz="1600" spc="-10" dirty="0">
                <a:latin typeface="Calibri" panose="020F0502020204030204" pitchFamily="34" charset="0"/>
                <a:cs typeface="Calibri" panose="020F0502020204030204" pitchFamily="34" charset="0"/>
              </a:rPr>
              <a:t> el modelo y crear campos calculados con la finalidad de mejorar su rendimiento.</a:t>
            </a:r>
          </a:p>
        </p:txBody>
      </p:sp>
      <p:sp>
        <p:nvSpPr>
          <p:cNvPr id="2" name="Google Shape;127;p5">
            <a:extLst>
              <a:ext uri="{FF2B5EF4-FFF2-40B4-BE49-F238E27FC236}">
                <a16:creationId xmlns:a16="http://schemas.microsoft.com/office/drawing/2014/main" id="{FA0BB265-C711-A4E1-9B41-8E80867303C5}"/>
              </a:ext>
            </a:extLst>
          </p:cNvPr>
          <p:cNvSpPr/>
          <p:nvPr/>
        </p:nvSpPr>
        <p:spPr>
          <a:xfrm>
            <a:off x="503238" y="376836"/>
            <a:ext cx="4401784" cy="138499"/>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None/>
            </a:pPr>
            <a:r>
              <a:rPr lang="es-PE" sz="1000" b="1">
                <a:solidFill>
                  <a:srgbClr val="7F7F7F"/>
                </a:solidFill>
                <a:latin typeface="Calibri"/>
                <a:ea typeface="Calibri"/>
                <a:cs typeface="Calibri"/>
                <a:sym typeface="Calibri"/>
              </a:rPr>
              <a:t>+ </a:t>
            </a:r>
            <a:r>
              <a:rPr lang="en-US" sz="1000">
                <a:solidFill>
                  <a:srgbClr val="A5A5A5"/>
                </a:solidFill>
                <a:latin typeface="Calibri"/>
                <a:cs typeface="Calibri"/>
              </a:rPr>
              <a:t>MODELO DE DATOS</a:t>
            </a:r>
            <a:r>
              <a:rPr lang="es-PE" sz="1000">
                <a:solidFill>
                  <a:srgbClr val="A5A5A5"/>
                </a:solidFill>
                <a:latin typeface="Calibri"/>
                <a:ea typeface="Calibri"/>
                <a:cs typeface="Calibri"/>
                <a:sym typeface="Calibri"/>
              </a:rPr>
              <a:t> </a:t>
            </a:r>
            <a:endParaRPr/>
          </a:p>
        </p:txBody>
      </p:sp>
      <p:pic>
        <p:nvPicPr>
          <p:cNvPr id="4" name="Imagen 3"/>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4086226" y="924427"/>
            <a:ext cx="2148938" cy="4307139"/>
          </a:xfrm>
          <a:prstGeom prst="rect">
            <a:avLst/>
          </a:prstGeom>
        </p:spPr>
      </p:pic>
      <p:pic>
        <p:nvPicPr>
          <p:cNvPr id="6" name="Imagen 5"/>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Layer>
                </a14:imgProps>
              </a:ext>
            </a:extLst>
          </a:blip>
          <a:stretch>
            <a:fillRect/>
          </a:stretch>
        </p:blipFill>
        <p:spPr>
          <a:xfrm>
            <a:off x="6347362" y="924427"/>
            <a:ext cx="2148938" cy="4307139"/>
          </a:xfrm>
          <a:prstGeom prst="rect">
            <a:avLst/>
          </a:prstGeom>
        </p:spPr>
      </p:pic>
    </p:spTree>
    <p:extLst>
      <p:ext uri="{BB962C8B-B14F-4D97-AF65-F5344CB8AC3E}">
        <p14:creationId xmlns:p14="http://schemas.microsoft.com/office/powerpoint/2010/main" val="3376676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4;p10">
            <a:extLst>
              <a:ext uri="{FF2B5EF4-FFF2-40B4-BE49-F238E27FC236}">
                <a16:creationId xmlns:a16="http://schemas.microsoft.com/office/drawing/2014/main" id="{A95CCEA6-6579-3287-E7EB-AD1DD79BC74A}"/>
              </a:ext>
            </a:extLst>
          </p:cNvPr>
          <p:cNvSpPr/>
          <p:nvPr/>
        </p:nvSpPr>
        <p:spPr>
          <a:xfrm>
            <a:off x="0" y="0"/>
            <a:ext cx="9144000" cy="5715000"/>
          </a:xfrm>
          <a:prstGeom prst="rect">
            <a:avLst/>
          </a:prstGeom>
          <a:solidFill>
            <a:srgbClr val="8087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 name="Google Shape;175;p10">
            <a:extLst>
              <a:ext uri="{FF2B5EF4-FFF2-40B4-BE49-F238E27FC236}">
                <a16:creationId xmlns:a16="http://schemas.microsoft.com/office/drawing/2014/main" id="{5F00F8D6-E643-A21E-726C-8CAD26B00E2A}"/>
              </a:ext>
            </a:extLst>
          </p:cNvPr>
          <p:cNvSpPr txBox="1"/>
          <p:nvPr/>
        </p:nvSpPr>
        <p:spPr>
          <a:xfrm>
            <a:off x="1008063" y="3157860"/>
            <a:ext cx="3743325"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2800">
                <a:solidFill>
                  <a:schemeClr val="lt1"/>
                </a:solidFill>
                <a:latin typeface="Graphik Regular" panose="020B0503030202060203" pitchFamily="34" charset="77"/>
              </a:rPr>
              <a:t>VISUALIZACIONES</a:t>
            </a:r>
            <a:r>
              <a:rPr lang="es-PE" sz="2800" b="1">
                <a:solidFill>
                  <a:schemeClr val="lt1"/>
                </a:solidFill>
                <a:latin typeface="Graphik Bold" panose="020B0503030202060203" pitchFamily="34" charset="77"/>
              </a:rPr>
              <a:t> </a:t>
            </a:r>
          </a:p>
          <a:p>
            <a:pPr marL="0" marR="0" lvl="0" indent="0" algn="l" rtl="0">
              <a:spcBef>
                <a:spcPts val="0"/>
              </a:spcBef>
              <a:spcAft>
                <a:spcPts val="0"/>
              </a:spcAft>
              <a:buNone/>
            </a:pPr>
            <a:r>
              <a:rPr lang="es-PE" sz="2800" b="1">
                <a:solidFill>
                  <a:schemeClr val="lt1"/>
                </a:solidFill>
                <a:latin typeface="Graphik Bold" panose="020B0503030202060203" pitchFamily="34" charset="77"/>
              </a:rPr>
              <a:t>DE DATOS</a:t>
            </a:r>
          </a:p>
        </p:txBody>
      </p:sp>
      <p:pic>
        <p:nvPicPr>
          <p:cNvPr id="5" name="Google Shape;176;p10">
            <a:extLst>
              <a:ext uri="{FF2B5EF4-FFF2-40B4-BE49-F238E27FC236}">
                <a16:creationId xmlns:a16="http://schemas.microsoft.com/office/drawing/2014/main" id="{D1EA6D4F-AD68-C604-0650-2FBB356068C1}"/>
              </a:ext>
            </a:extLst>
          </p:cNvPr>
          <p:cNvPicPr preferRelativeResize="0"/>
          <p:nvPr/>
        </p:nvPicPr>
        <p:blipFill rotWithShape="1">
          <a:blip r:embed="rId4">
            <a:alphaModFix/>
          </a:blip>
          <a:srcRect/>
          <a:stretch/>
        </p:blipFill>
        <p:spPr>
          <a:xfrm>
            <a:off x="1008063" y="2857500"/>
            <a:ext cx="195423" cy="201256"/>
          </a:xfrm>
          <a:prstGeom prst="rect">
            <a:avLst/>
          </a:prstGeom>
          <a:noFill/>
          <a:ln>
            <a:noFill/>
          </a:ln>
        </p:spPr>
      </p:pic>
    </p:spTree>
    <p:custDataLst>
      <p:tags r:id="rId1"/>
    </p:custDataLst>
    <p:extLst>
      <p:ext uri="{BB962C8B-B14F-4D97-AF65-F5344CB8AC3E}">
        <p14:creationId xmlns:p14="http://schemas.microsoft.com/office/powerpoint/2010/main" val="211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3238" y="912813"/>
            <a:ext cx="2375430" cy="1461939"/>
          </a:xfrm>
          <a:prstGeom prst="rect">
            <a:avLst/>
          </a:prstGeom>
        </p:spPr>
        <p:txBody>
          <a:bodyPr vert="horz" wrap="square" lIns="0" tIns="0" rIns="0" bIns="0" rtlCol="0">
            <a:spAutoFit/>
          </a:bodyPr>
          <a:lstStyle/>
          <a:p>
            <a:pPr marL="11725">
              <a:spcAft>
                <a:spcPts val="600"/>
              </a:spcAft>
              <a:buSzPct val="100000"/>
              <a:tabLst>
                <a:tab pos="121285" algn="l"/>
              </a:tabLst>
            </a:pPr>
            <a:r>
              <a:rPr lang="es-ES_tradnl" sz="1500" b="1" spc="-10" dirty="0">
                <a:latin typeface="Calibri" panose="020F0502020204030204" pitchFamily="34" charset="0"/>
                <a:cs typeface="Calibri" panose="020F0502020204030204" pitchFamily="34" charset="0"/>
              </a:rPr>
              <a:t>TABLAS</a:t>
            </a:r>
          </a:p>
          <a:p>
            <a:pPr marL="180000" indent="-168275">
              <a:buSzPct val="100000"/>
              <a:buFont typeface="Arial"/>
              <a:buChar char="•"/>
              <a:tabLst>
                <a:tab pos="121285" algn="l"/>
              </a:tabLst>
            </a:pPr>
            <a:r>
              <a:rPr lang="es-ES_tradnl" sz="1500" spc="-10" dirty="0">
                <a:latin typeface="Calibri" panose="020F0502020204030204" pitchFamily="34" charset="0"/>
                <a:cs typeface="Calibri" panose="020F0502020204030204" pitchFamily="34" charset="0"/>
              </a:rPr>
              <a:t>Para mostrar muchos atributos provenientes de varias fuentes de datos relacionadas se recomienda utilizar la visualización tabla.</a:t>
            </a:r>
          </a:p>
        </p:txBody>
      </p:sp>
      <p:sp>
        <p:nvSpPr>
          <p:cNvPr id="2" name="Google Shape;127;p5">
            <a:extLst>
              <a:ext uri="{FF2B5EF4-FFF2-40B4-BE49-F238E27FC236}">
                <a16:creationId xmlns:a16="http://schemas.microsoft.com/office/drawing/2014/main" id="{58569B98-850B-D46B-D79E-3017F096116C}"/>
              </a:ext>
            </a:extLst>
          </p:cNvPr>
          <p:cNvSpPr/>
          <p:nvPr/>
        </p:nvSpPr>
        <p:spPr>
          <a:xfrm>
            <a:off x="503238" y="376836"/>
            <a:ext cx="4401784" cy="138499"/>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None/>
            </a:pPr>
            <a:r>
              <a:rPr lang="es-PE" sz="1000" b="1">
                <a:solidFill>
                  <a:srgbClr val="7F7F7F"/>
                </a:solidFill>
                <a:latin typeface="Calibri"/>
                <a:ea typeface="Calibri"/>
                <a:cs typeface="Calibri"/>
                <a:sym typeface="Calibri"/>
              </a:rPr>
              <a:t>+ </a:t>
            </a:r>
            <a:r>
              <a:rPr lang="en-US" sz="1000">
                <a:solidFill>
                  <a:srgbClr val="A5A5A5"/>
                </a:solidFill>
                <a:latin typeface="Calibri"/>
                <a:cs typeface="Calibri"/>
              </a:rPr>
              <a:t>VISUALIZACIONES DE DATOS</a:t>
            </a:r>
            <a:endParaRPr/>
          </a:p>
        </p:txBody>
      </p:sp>
      <p:graphicFrame>
        <p:nvGraphicFramePr>
          <p:cNvPr id="4" name="Google Shape;1035;p59">
            <a:extLst>
              <a:ext uri="{FF2B5EF4-FFF2-40B4-BE49-F238E27FC236}">
                <a16:creationId xmlns:a16="http://schemas.microsoft.com/office/drawing/2014/main" id="{4EB84E27-A962-A71B-599A-AF1135556E47}"/>
              </a:ext>
            </a:extLst>
          </p:cNvPr>
          <p:cNvGraphicFramePr/>
          <p:nvPr>
            <p:extLst>
              <p:ext uri="{D42A27DB-BD31-4B8C-83A1-F6EECF244321}">
                <p14:modId xmlns:p14="http://schemas.microsoft.com/office/powerpoint/2010/main" val="592861832"/>
              </p:ext>
            </p:extLst>
          </p:nvPr>
        </p:nvGraphicFramePr>
        <p:xfrm>
          <a:off x="3264101" y="1196344"/>
          <a:ext cx="5411587" cy="4030692"/>
        </p:xfrm>
        <a:graphic>
          <a:graphicData uri="http://schemas.openxmlformats.org/drawingml/2006/table">
            <a:tbl>
              <a:tblPr firstRow="1" bandRow="1">
                <a:noFill/>
              </a:tblPr>
              <a:tblGrid>
                <a:gridCol w="1235770">
                  <a:extLst>
                    <a:ext uri="{9D8B030D-6E8A-4147-A177-3AD203B41FA5}">
                      <a16:colId xmlns:a16="http://schemas.microsoft.com/office/drawing/2014/main" val="20000"/>
                    </a:ext>
                  </a:extLst>
                </a:gridCol>
                <a:gridCol w="405876">
                  <a:extLst>
                    <a:ext uri="{9D8B030D-6E8A-4147-A177-3AD203B41FA5}">
                      <a16:colId xmlns:a16="http://schemas.microsoft.com/office/drawing/2014/main" val="20001"/>
                    </a:ext>
                  </a:extLst>
                </a:gridCol>
                <a:gridCol w="638418">
                  <a:extLst>
                    <a:ext uri="{9D8B030D-6E8A-4147-A177-3AD203B41FA5}">
                      <a16:colId xmlns:a16="http://schemas.microsoft.com/office/drawing/2014/main" val="20002"/>
                    </a:ext>
                  </a:extLst>
                </a:gridCol>
                <a:gridCol w="779368">
                  <a:extLst>
                    <a:ext uri="{9D8B030D-6E8A-4147-A177-3AD203B41FA5}">
                      <a16:colId xmlns:a16="http://schemas.microsoft.com/office/drawing/2014/main" val="20003"/>
                    </a:ext>
                  </a:extLst>
                </a:gridCol>
                <a:gridCol w="581602">
                  <a:extLst>
                    <a:ext uri="{9D8B030D-6E8A-4147-A177-3AD203B41FA5}">
                      <a16:colId xmlns:a16="http://schemas.microsoft.com/office/drawing/2014/main" val="1962237364"/>
                    </a:ext>
                  </a:extLst>
                </a:gridCol>
                <a:gridCol w="984611">
                  <a:extLst>
                    <a:ext uri="{9D8B030D-6E8A-4147-A177-3AD203B41FA5}">
                      <a16:colId xmlns:a16="http://schemas.microsoft.com/office/drawing/2014/main" val="2882227640"/>
                    </a:ext>
                  </a:extLst>
                </a:gridCol>
                <a:gridCol w="785942">
                  <a:extLst>
                    <a:ext uri="{9D8B030D-6E8A-4147-A177-3AD203B41FA5}">
                      <a16:colId xmlns:a16="http://schemas.microsoft.com/office/drawing/2014/main" val="3631166990"/>
                    </a:ext>
                  </a:extLst>
                </a:gridCol>
              </a:tblGrid>
              <a:tr h="195020">
                <a:tc>
                  <a:txBody>
                    <a:bodyPr/>
                    <a:lstStyle/>
                    <a:p>
                      <a:pPr marL="0" marR="0" lvl="0" indent="0" algn="ctr" rtl="0">
                        <a:spcBef>
                          <a:spcPts val="0"/>
                        </a:spcBef>
                        <a:spcAft>
                          <a:spcPts val="0"/>
                        </a:spcAft>
                        <a:buNone/>
                      </a:pPr>
                      <a:r>
                        <a:rPr lang="es-PE" sz="900">
                          <a:latin typeface="Calibri" panose="020F0502020204030204" pitchFamily="34" charset="0"/>
                          <a:ea typeface="Calibri"/>
                          <a:cs typeface="Calibri" panose="020F0502020204030204" pitchFamily="34" charset="0"/>
                          <a:sym typeface="Calibri"/>
                        </a:rPr>
                        <a:t>NomCarrera</a:t>
                      </a:r>
                      <a:endParaRPr sz="900">
                        <a:latin typeface="Calibri" panose="020F0502020204030204" pitchFamily="34" charset="0"/>
                        <a:cs typeface="Calibri" panose="020F0502020204030204" pitchFamily="34" charset="0"/>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8EC540"/>
                    </a:solidFill>
                  </a:tcPr>
                </a:tc>
                <a:tc>
                  <a:txBody>
                    <a:bodyPr/>
                    <a:lstStyle/>
                    <a:p>
                      <a:pPr marL="0" marR="0" lvl="0" indent="0" algn="ctr" rtl="0">
                        <a:spcBef>
                          <a:spcPts val="0"/>
                        </a:spcBef>
                        <a:spcAft>
                          <a:spcPts val="0"/>
                        </a:spcAft>
                        <a:buNone/>
                      </a:pPr>
                      <a:r>
                        <a:rPr lang="es-PE" sz="900">
                          <a:latin typeface="Calibri" panose="020F0502020204030204" pitchFamily="34" charset="0"/>
                          <a:ea typeface="Calibri"/>
                          <a:cs typeface="Calibri" panose="020F0502020204030204" pitchFamily="34" charset="0"/>
                          <a:sym typeface="Calibri"/>
                        </a:rPr>
                        <a:t>Año </a:t>
                      </a:r>
                      <a:endParaRPr sz="900">
                        <a:latin typeface="Calibri" panose="020F0502020204030204" pitchFamily="34" charset="0"/>
                        <a:ea typeface="Calibri"/>
                        <a:cs typeface="Calibri" panose="020F0502020204030204" pitchFamily="34" charset="0"/>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8EC540"/>
                    </a:solidFill>
                  </a:tcPr>
                </a:tc>
                <a:tc>
                  <a:txBody>
                    <a:bodyPr/>
                    <a:lstStyle/>
                    <a:p>
                      <a:pPr marL="0" marR="0" lvl="0" indent="0" algn="ctr" rtl="0">
                        <a:spcBef>
                          <a:spcPts val="0"/>
                        </a:spcBef>
                        <a:spcAft>
                          <a:spcPts val="0"/>
                        </a:spcAft>
                        <a:buNone/>
                      </a:pPr>
                      <a:r>
                        <a:rPr lang="es-PE" sz="900">
                          <a:latin typeface="Calibri" panose="020F0502020204030204" pitchFamily="34" charset="0"/>
                          <a:ea typeface="Calibri"/>
                          <a:cs typeface="Calibri" panose="020F0502020204030204" pitchFamily="34" charset="0"/>
                          <a:sym typeface="Calibri"/>
                        </a:rPr>
                        <a:t>ApePiloto</a:t>
                      </a:r>
                      <a:endParaRPr sz="900">
                        <a:latin typeface="Calibri" panose="020F0502020204030204" pitchFamily="34" charset="0"/>
                        <a:cs typeface="Calibri" panose="020F0502020204030204" pitchFamily="34" charset="0"/>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8EC540"/>
                    </a:solidFill>
                  </a:tcPr>
                </a:tc>
                <a:tc>
                  <a:txBody>
                    <a:bodyPr/>
                    <a:lstStyle/>
                    <a:p>
                      <a:pPr marL="0" marR="0" lvl="0" indent="0" algn="ctr" rtl="0">
                        <a:spcBef>
                          <a:spcPts val="0"/>
                        </a:spcBef>
                        <a:spcAft>
                          <a:spcPts val="0"/>
                        </a:spcAft>
                        <a:buNone/>
                      </a:pPr>
                      <a:r>
                        <a:rPr lang="es-PE" sz="900">
                          <a:latin typeface="Calibri" panose="020F0502020204030204" pitchFamily="34" charset="0"/>
                          <a:ea typeface="Calibri"/>
                          <a:cs typeface="Calibri" panose="020F0502020204030204" pitchFamily="34" charset="0"/>
                          <a:sym typeface="Calibri"/>
                        </a:rPr>
                        <a:t>Nacionalidad</a:t>
                      </a:r>
                      <a:endParaRPr sz="900">
                        <a:latin typeface="Calibri" panose="020F0502020204030204" pitchFamily="34" charset="0"/>
                        <a:cs typeface="Calibri" panose="020F0502020204030204" pitchFamily="34" charset="0"/>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8EC540"/>
                    </a:solidFill>
                  </a:tcPr>
                </a:tc>
                <a:tc>
                  <a:txBody>
                    <a:bodyPr/>
                    <a:lstStyle/>
                    <a:p>
                      <a:pPr marL="0" marR="0" lvl="0" indent="0" algn="ctr" rtl="0">
                        <a:spcBef>
                          <a:spcPts val="0"/>
                        </a:spcBef>
                        <a:spcAft>
                          <a:spcPts val="0"/>
                        </a:spcAft>
                        <a:buNone/>
                      </a:pPr>
                      <a:r>
                        <a:rPr lang="es-ES" sz="900">
                          <a:latin typeface="Calibri" panose="020F0502020204030204" pitchFamily="34" charset="0"/>
                          <a:cs typeface="Calibri" panose="020F0502020204030204" pitchFamily="34" charset="0"/>
                        </a:rPr>
                        <a:t>Posición</a:t>
                      </a:r>
                      <a:endParaRPr sz="900">
                        <a:latin typeface="Calibri" panose="020F0502020204030204" pitchFamily="34" charset="0"/>
                        <a:cs typeface="Calibri" panose="020F0502020204030204" pitchFamily="34" charset="0"/>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8EC540"/>
                    </a:solidFill>
                  </a:tcPr>
                </a:tc>
                <a:tc>
                  <a:txBody>
                    <a:bodyPr/>
                    <a:lstStyle/>
                    <a:p>
                      <a:pPr marL="0" marR="0" lvl="0" indent="0" algn="ctr" rtl="0">
                        <a:spcBef>
                          <a:spcPts val="0"/>
                        </a:spcBef>
                        <a:spcAft>
                          <a:spcPts val="0"/>
                        </a:spcAft>
                        <a:buNone/>
                      </a:pPr>
                      <a:r>
                        <a:rPr lang="es-ES" sz="900" err="1">
                          <a:latin typeface="Calibri" panose="020F0502020204030204" pitchFamily="34" charset="0"/>
                          <a:cs typeface="Calibri" panose="020F0502020204030204" pitchFamily="34" charset="0"/>
                        </a:rPr>
                        <a:t>NomConstructor</a:t>
                      </a:r>
                      <a:endParaRPr sz="900">
                        <a:latin typeface="Calibri" panose="020F0502020204030204" pitchFamily="34" charset="0"/>
                        <a:cs typeface="Calibri" panose="020F0502020204030204" pitchFamily="34" charset="0"/>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8EC540"/>
                    </a:solidFill>
                  </a:tcPr>
                </a:tc>
                <a:tc>
                  <a:txBody>
                    <a:bodyPr/>
                    <a:lstStyle/>
                    <a:p>
                      <a:pPr marL="0" marR="0" lvl="0" indent="0" algn="ctr" rtl="0">
                        <a:spcBef>
                          <a:spcPts val="0"/>
                        </a:spcBef>
                        <a:spcAft>
                          <a:spcPts val="0"/>
                        </a:spcAft>
                        <a:buNone/>
                      </a:pPr>
                      <a:r>
                        <a:rPr lang="es-ES" sz="900">
                          <a:latin typeface="Calibri" panose="020F0502020204030204" pitchFamily="34" charset="0"/>
                          <a:cs typeface="Calibri" panose="020F0502020204030204" pitchFamily="34" charset="0"/>
                        </a:rPr>
                        <a:t>Nacionalidad</a:t>
                      </a:r>
                      <a:endParaRPr sz="900">
                        <a:latin typeface="Calibri" panose="020F0502020204030204" pitchFamily="34" charset="0"/>
                        <a:cs typeface="Calibri" panose="020F0502020204030204" pitchFamily="34" charset="0"/>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8EC540"/>
                    </a:solidFill>
                  </a:tcPr>
                </a:tc>
                <a:extLst>
                  <a:ext uri="{0D108BD9-81ED-4DB2-BD59-A6C34878D82A}">
                    <a16:rowId xmlns:a16="http://schemas.microsoft.com/office/drawing/2014/main" val="10000"/>
                  </a:ext>
                </a:extLst>
              </a:tr>
              <a:tr h="180623">
                <a:tc>
                  <a:txBody>
                    <a:bodyPr/>
                    <a:lstStyle/>
                    <a:p>
                      <a:pPr marL="0" marR="0" lvl="0" indent="0" algn="l"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Abu </a:t>
                      </a:r>
                      <a:r>
                        <a:rPr lang="es-ES" sz="800" err="1">
                          <a:latin typeface="Calibri" panose="020F0502020204030204" pitchFamily="34" charset="0"/>
                          <a:ea typeface="Calibri"/>
                          <a:cs typeface="Calibri" panose="020F0502020204030204" pitchFamily="34" charset="0"/>
                          <a:sym typeface="Calibri"/>
                        </a:rPr>
                        <a:t>Dhabi</a:t>
                      </a:r>
                      <a:r>
                        <a:rPr lang="es-ES" sz="800">
                          <a:latin typeface="Calibri" panose="020F0502020204030204" pitchFamily="34" charset="0"/>
                          <a:ea typeface="Calibri"/>
                          <a:cs typeface="Calibri" panose="020F0502020204030204" pitchFamily="34" charset="0"/>
                          <a:sym typeface="Calibri"/>
                        </a:rPr>
                        <a:t> Grand Prix</a:t>
                      </a:r>
                      <a:endParaRPr sz="800">
                        <a:latin typeface="Calibri" panose="020F0502020204030204" pitchFamily="34" charset="0"/>
                        <a:ea typeface="Calibri"/>
                        <a:cs typeface="Calibri" panose="020F0502020204030204" pitchFamily="34" charset="0"/>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panose="020F0502020204030204" pitchFamily="34" charset="0"/>
                        <a:ea typeface="Calibri"/>
                        <a:cs typeface="Calibri" panose="020F0502020204030204" pitchFamily="34" charset="0"/>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Bottas</a:t>
                      </a:r>
                      <a:endParaRPr sz="800">
                        <a:latin typeface="Calibri" panose="020F0502020204030204" pitchFamily="34" charset="0"/>
                        <a:ea typeface="Calibri"/>
                        <a:cs typeface="Calibri" panose="020F0502020204030204" pitchFamily="34" charset="0"/>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Finnish</a:t>
                      </a:r>
                      <a:endParaRPr sz="800">
                        <a:latin typeface="Calibri" panose="020F0502020204030204" pitchFamily="34" charset="0"/>
                        <a:ea typeface="Calibri"/>
                        <a:cs typeface="Calibri" panose="020F0502020204030204" pitchFamily="34" charset="0"/>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1</a:t>
                      </a:r>
                      <a:endParaRPr sz="800">
                        <a:latin typeface="Calibri" panose="020F0502020204030204" pitchFamily="34" charset="0"/>
                        <a:ea typeface="Calibri"/>
                        <a:cs typeface="Calibri" panose="020F0502020204030204" pitchFamily="34" charset="0"/>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Mercedes</a:t>
                      </a:r>
                      <a:endParaRPr sz="800">
                        <a:latin typeface="Calibri" panose="020F0502020204030204" pitchFamily="34" charset="0"/>
                        <a:ea typeface="Calibri"/>
                        <a:cs typeface="Calibri" panose="020F0502020204030204" pitchFamily="34" charset="0"/>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panose="020F0502020204030204" pitchFamily="34" charset="0"/>
                        <a:ea typeface="Calibri"/>
                        <a:cs typeface="Calibri" panose="020F0502020204030204" pitchFamily="34" charset="0"/>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10001"/>
                  </a:ext>
                </a:extLst>
              </a:tr>
              <a:tr h="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Austrian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Bottas</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8"/>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Finnish</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Mercedes</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10002"/>
                  </a:ext>
                </a:extLst>
              </a:tr>
              <a:tr h="13534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Russian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Bottas</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Finnish</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Mercedes</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10003"/>
                  </a:ext>
                </a:extLst>
              </a:tr>
              <a:tr h="17756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Belgian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Hamilton</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Brtish</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Mercedes</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10004"/>
                  </a:ext>
                </a:extLst>
              </a:tr>
              <a:tr h="17659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British Grand Prix</a:t>
                      </a: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Hamilton</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Brtish</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Mercedes</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10005"/>
                  </a:ext>
                </a:extLst>
              </a:tr>
              <a:tr h="18790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Canadian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Hamilton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Brtish</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Mercedes</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45317081"/>
                  </a:ext>
                </a:extLst>
              </a:tr>
              <a:tr h="1869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Chinese</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Hamilton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Brtish</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Mercedes</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1332955229"/>
                  </a:ext>
                </a:extLst>
              </a:tr>
              <a:tr h="16755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Italian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Hamilton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Brtish</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Mercedes</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3087550363"/>
                  </a:ext>
                </a:extLst>
              </a:tr>
              <a:tr h="18499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Japanese</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Hamilton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Brtish</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Mercedes</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4071209045"/>
                  </a:ext>
                </a:extLst>
              </a:tr>
              <a:tr h="17789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Singapore</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dirty="0">
                          <a:latin typeface="Calibri" panose="020F0502020204030204" pitchFamily="34" charset="0"/>
                          <a:ea typeface="Calibri"/>
                          <a:cs typeface="Calibri" panose="020F0502020204030204" pitchFamily="34" charset="0"/>
                          <a:sym typeface="Calibri"/>
                        </a:rPr>
                        <a:t>Hamilton</a:t>
                      </a:r>
                      <a:endParaRPr sz="800" dirty="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Brtish</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Mercedes</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1734063283"/>
                  </a:ext>
                </a:extLst>
              </a:tr>
              <a:tr h="17078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Spanish</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Hamilton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Brtish</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Mercedes</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4164380259"/>
                  </a:ext>
                </a:extLst>
              </a:tr>
              <a:tr h="16368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United</a:t>
                      </a:r>
                      <a:r>
                        <a:rPr lang="es-ES" sz="800">
                          <a:latin typeface="Calibri" panose="020F0502020204030204" pitchFamily="34" charset="0"/>
                          <a:ea typeface="Calibri"/>
                          <a:cs typeface="Calibri" panose="020F0502020204030204" pitchFamily="34" charset="0"/>
                          <a:sym typeface="Calibri"/>
                        </a:rPr>
                        <a:t> </a:t>
                      </a:r>
                      <a:r>
                        <a:rPr lang="es-ES" sz="800" err="1">
                          <a:latin typeface="Calibri" panose="020F0502020204030204" pitchFamily="34" charset="0"/>
                          <a:ea typeface="Calibri"/>
                          <a:cs typeface="Calibri" panose="020F0502020204030204" pitchFamily="34" charset="0"/>
                          <a:sym typeface="Calibri"/>
                        </a:rPr>
                        <a:t>States</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Hamilton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Brtish</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Mercedes</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3675559937"/>
                  </a:ext>
                </a:extLst>
              </a:tr>
              <a:tr h="15676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Azerbaijan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Ricciardo</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a:ea typeface="Calibri"/>
                          <a:cs typeface="Calibri"/>
                          <a:sym typeface="Calibri"/>
                        </a:rPr>
                        <a:t>Australian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Red Bull</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Australian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1989794142"/>
                  </a:ext>
                </a:extLst>
              </a:tr>
              <a:tr h="15676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Malaysian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a:ea typeface="Calibri"/>
                          <a:cs typeface="Calibri"/>
                          <a:sym typeface="Calibri"/>
                        </a:rPr>
                        <a:t>Verstappen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a:ea typeface="Calibri"/>
                          <a:cs typeface="Calibri"/>
                          <a:sym typeface="Calibri"/>
                        </a:rPr>
                        <a:t>Dutch</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Red Bull</a:t>
                      </a:r>
                      <a:endParaRPr lang="es-ES" sz="800">
                        <a:latin typeface="+mn-lt"/>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Australian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126268671"/>
                  </a:ext>
                </a:extLst>
              </a:tr>
              <a:tr h="15676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Mexican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l" rtl="0">
                        <a:spcBef>
                          <a:spcPts val="0"/>
                        </a:spcBef>
                        <a:spcAft>
                          <a:spcPts val="0"/>
                        </a:spcAft>
                        <a:buNone/>
                      </a:pPr>
                      <a:r>
                        <a:rPr lang="es-ES" sz="800" err="1">
                          <a:latin typeface="+mn-lt"/>
                          <a:ea typeface="Calibri"/>
                          <a:cs typeface="Calibri"/>
                          <a:sym typeface="Calibri"/>
                        </a:rPr>
                        <a:t>Verstappen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mn-lt"/>
                          <a:ea typeface="Calibri"/>
                          <a:cs typeface="Calibri"/>
                          <a:sym typeface="Calibri"/>
                        </a:rPr>
                        <a:t>Dutch</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Red Bull</a:t>
                      </a:r>
                      <a:endParaRPr lang="es-ES" sz="800">
                        <a:latin typeface="+mn-lt"/>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Australian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555798986"/>
                  </a:ext>
                </a:extLst>
              </a:tr>
              <a:tr h="15676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Australian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a:ea typeface="Calibri"/>
                          <a:cs typeface="Calibri"/>
                          <a:sym typeface="Calibri"/>
                        </a:rPr>
                        <a:t>Vettel</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a:ea typeface="Calibri"/>
                          <a:cs typeface="Calibri"/>
                          <a:sym typeface="Calibri"/>
                        </a:rPr>
                        <a:t>German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Ferrari</a:t>
                      </a:r>
                      <a:endParaRPr lang="es-ES" sz="800">
                        <a:latin typeface="+mn-lt"/>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Italian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2341646960"/>
                  </a:ext>
                </a:extLst>
              </a:tr>
              <a:tr h="15676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Bahrain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mn-lt"/>
                          <a:ea typeface="Calibri"/>
                          <a:cs typeface="Calibri"/>
                          <a:sym typeface="Calibri"/>
                        </a:rPr>
                        <a:t>Vettel</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mn-lt"/>
                          <a:ea typeface="Calibri"/>
                          <a:cs typeface="Calibri"/>
                          <a:sym typeface="Calibri"/>
                        </a:rPr>
                        <a:t>German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Ferrari</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Italian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389855089"/>
                  </a:ext>
                </a:extLst>
              </a:tr>
              <a:tr h="15676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Brazilian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mn-lt"/>
                          <a:ea typeface="Calibri"/>
                          <a:cs typeface="Calibri"/>
                          <a:sym typeface="Calibri"/>
                        </a:rPr>
                        <a:t>Vettel</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mn-lt"/>
                          <a:ea typeface="Calibri"/>
                          <a:cs typeface="Calibri"/>
                          <a:sym typeface="Calibri"/>
                        </a:rPr>
                        <a:t>German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Ferrari</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Italian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2369254508"/>
                  </a:ext>
                </a:extLst>
              </a:tr>
              <a:tr h="15676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Hungarian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mn-lt"/>
                          <a:ea typeface="Calibri"/>
                          <a:cs typeface="Calibri"/>
                          <a:sym typeface="Calibri"/>
                        </a:rPr>
                        <a:t>Vettel</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mn-lt"/>
                          <a:ea typeface="Calibri"/>
                          <a:cs typeface="Calibri"/>
                          <a:sym typeface="Calibri"/>
                        </a:rPr>
                        <a:t>German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Ferrari</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Italian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572685700"/>
                  </a:ext>
                </a:extLst>
              </a:tr>
              <a:tr h="15676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Monaco</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mn-lt"/>
                          <a:ea typeface="Calibri"/>
                          <a:cs typeface="Calibri"/>
                          <a:sym typeface="Calibri"/>
                        </a:rPr>
                        <a:t>Vettel</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mn-lt"/>
                          <a:ea typeface="Calibri"/>
                          <a:cs typeface="Calibri"/>
                          <a:sym typeface="Calibri"/>
                        </a:rPr>
                        <a:t>German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Ferrari</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dirty="0" err="1">
                          <a:latin typeface="Calibri" panose="020F0502020204030204" pitchFamily="34" charset="0"/>
                          <a:ea typeface="Calibri"/>
                          <a:cs typeface="Calibri" panose="020F0502020204030204" pitchFamily="34" charset="0"/>
                          <a:sym typeface="Calibri"/>
                        </a:rPr>
                        <a:t>Italian</a:t>
                      </a:r>
                      <a:endParaRPr sz="800" dirty="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1175551247"/>
                  </a:ext>
                </a:extLst>
              </a:tr>
            </a:tbl>
          </a:graphicData>
        </a:graphic>
      </p:graphicFrame>
    </p:spTree>
    <p:extLst>
      <p:ext uri="{BB962C8B-B14F-4D97-AF65-F5344CB8AC3E}">
        <p14:creationId xmlns:p14="http://schemas.microsoft.com/office/powerpoint/2010/main" val="2293450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32870" y="912813"/>
            <a:ext cx="8142818" cy="754053"/>
          </a:xfrm>
          <a:prstGeom prst="rect">
            <a:avLst/>
          </a:prstGeom>
        </p:spPr>
        <p:txBody>
          <a:bodyPr vert="horz" wrap="square" lIns="0" tIns="0" rIns="0" bIns="0" rtlCol="0">
            <a:spAutoFit/>
          </a:bodyPr>
          <a:lstStyle/>
          <a:p>
            <a:pPr marL="11725">
              <a:spcAft>
                <a:spcPts val="600"/>
              </a:spcAft>
              <a:buSzPct val="100000"/>
              <a:tabLst>
                <a:tab pos="121285" algn="l"/>
              </a:tabLst>
            </a:pPr>
            <a:r>
              <a:rPr lang="es-ES_tradnl" sz="1600" b="1" spc="-10" dirty="0">
                <a:solidFill>
                  <a:srgbClr val="262626"/>
                </a:solidFill>
                <a:latin typeface="Calibri" panose="020F0502020204030204" pitchFamily="34" charset="0"/>
                <a:cs typeface="Calibri" panose="020F0502020204030204" pitchFamily="34" charset="0"/>
              </a:rPr>
              <a:t>GRÁFICOS </a:t>
            </a:r>
          </a:p>
          <a:p>
            <a:pPr marL="180000" indent="-168275">
              <a:buSzPct val="100000"/>
              <a:buFont typeface="Arial"/>
              <a:buChar char="•"/>
              <a:tabLst>
                <a:tab pos="121285" algn="l"/>
              </a:tabLst>
            </a:pPr>
            <a:r>
              <a:rPr lang="es-ES_tradnl" sz="1400" spc="-10" dirty="0" err="1">
                <a:solidFill>
                  <a:srgbClr val="262626"/>
                </a:solidFill>
                <a:latin typeface="Calibri" panose="020F0502020204030204" pitchFamily="34" charset="0"/>
                <a:cs typeface="Calibri" panose="020F0502020204030204" pitchFamily="34" charset="0"/>
              </a:rPr>
              <a:t>Power</a:t>
            </a:r>
            <a:r>
              <a:rPr lang="es-ES_tradnl" sz="1400" spc="-10" dirty="0">
                <a:solidFill>
                  <a:srgbClr val="262626"/>
                </a:solidFill>
                <a:latin typeface="Calibri" panose="020F0502020204030204" pitchFamily="34" charset="0"/>
                <a:cs typeface="Calibri" panose="020F0502020204030204" pitchFamily="34" charset="0"/>
              </a:rPr>
              <a:t> BI dispone de gráficos variados para mostrar datos: barras apiladas, columnas apiladas, barras agrupadas, columnas agrupadas, líneas, áreas, áreas apiladas, cascada, dispersión, circular, anillos.</a:t>
            </a:r>
          </a:p>
        </p:txBody>
      </p:sp>
      <p:sp>
        <p:nvSpPr>
          <p:cNvPr id="3" name="Google Shape;127;p5">
            <a:extLst>
              <a:ext uri="{FF2B5EF4-FFF2-40B4-BE49-F238E27FC236}">
                <a16:creationId xmlns:a16="http://schemas.microsoft.com/office/drawing/2014/main" id="{C2C14D48-0DAE-1D2A-9AC7-D3CBFB978166}"/>
              </a:ext>
            </a:extLst>
          </p:cNvPr>
          <p:cNvSpPr/>
          <p:nvPr/>
        </p:nvSpPr>
        <p:spPr>
          <a:xfrm>
            <a:off x="503238" y="376836"/>
            <a:ext cx="4401784" cy="138499"/>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None/>
            </a:pPr>
            <a:r>
              <a:rPr lang="es-PE" sz="1000" b="1">
                <a:solidFill>
                  <a:srgbClr val="7F7F7F"/>
                </a:solidFill>
                <a:latin typeface="Calibri"/>
                <a:ea typeface="Calibri"/>
                <a:cs typeface="Calibri"/>
                <a:sym typeface="Calibri"/>
              </a:rPr>
              <a:t>+ </a:t>
            </a:r>
            <a:r>
              <a:rPr lang="en-US" sz="1000">
                <a:solidFill>
                  <a:srgbClr val="A5A5A5"/>
                </a:solidFill>
                <a:latin typeface="Calibri"/>
                <a:cs typeface="Calibri"/>
              </a:rPr>
              <a:t>VISUALIZACIONES DE DATOS</a:t>
            </a:r>
            <a:endParaRPr/>
          </a:p>
        </p:txBody>
      </p:sp>
      <p:grpSp>
        <p:nvGrpSpPr>
          <p:cNvPr id="37" name="Grupo 36">
            <a:extLst>
              <a:ext uri="{FF2B5EF4-FFF2-40B4-BE49-F238E27FC236}">
                <a16:creationId xmlns:a16="http://schemas.microsoft.com/office/drawing/2014/main" id="{9D30D942-6EA1-75EE-90BD-24125CB3518B}"/>
              </a:ext>
            </a:extLst>
          </p:cNvPr>
          <p:cNvGrpSpPr/>
          <p:nvPr/>
        </p:nvGrpSpPr>
        <p:grpSpPr>
          <a:xfrm>
            <a:off x="1520961" y="1895022"/>
            <a:ext cx="5743304" cy="3378122"/>
            <a:chOff x="1393278" y="1895022"/>
            <a:chExt cx="5743304" cy="3378122"/>
          </a:xfrm>
        </p:grpSpPr>
        <p:sp>
          <p:nvSpPr>
            <p:cNvPr id="6" name="CuadroTexto 5">
              <a:extLst>
                <a:ext uri="{FF2B5EF4-FFF2-40B4-BE49-F238E27FC236}">
                  <a16:creationId xmlns:a16="http://schemas.microsoft.com/office/drawing/2014/main" id="{5E15CEEF-184C-71A2-6BF8-507B99741363}"/>
                </a:ext>
              </a:extLst>
            </p:cNvPr>
            <p:cNvSpPr txBox="1"/>
            <p:nvPr/>
          </p:nvSpPr>
          <p:spPr>
            <a:xfrm>
              <a:off x="1393278" y="2122011"/>
              <a:ext cx="619372" cy="153888"/>
            </a:xfrm>
            <a:prstGeom prst="rect">
              <a:avLst/>
            </a:prstGeom>
            <a:noFill/>
          </p:spPr>
          <p:txBody>
            <a:bodyPr wrap="square" lIns="0" tIns="0" rIns="0" bIns="0">
              <a:spAutoFit/>
            </a:bodyPr>
            <a:lstStyle/>
            <a:p>
              <a:pPr algn="r"/>
              <a:r>
                <a:rPr lang="es-PE" sz="1000">
                  <a:latin typeface="Calibri" panose="020F0502020204030204" pitchFamily="34" charset="0"/>
                  <a:ea typeface="Calibri" panose="020F0502020204030204" pitchFamily="34" charset="0"/>
                  <a:cs typeface="Calibri" panose="020F0502020204030204" pitchFamily="34" charset="0"/>
                </a:rPr>
                <a:t>400</a:t>
              </a:r>
              <a:endParaRPr lang="es-PE" sz="1000"/>
            </a:p>
          </p:txBody>
        </p:sp>
        <p:sp>
          <p:nvSpPr>
            <p:cNvPr id="8" name="Rectángulo 7">
              <a:extLst>
                <a:ext uri="{FF2B5EF4-FFF2-40B4-BE49-F238E27FC236}">
                  <a16:creationId xmlns:a16="http://schemas.microsoft.com/office/drawing/2014/main" id="{1DEEE773-C484-ED08-464B-3031D6F856E5}"/>
                </a:ext>
              </a:extLst>
            </p:cNvPr>
            <p:cNvSpPr/>
            <p:nvPr/>
          </p:nvSpPr>
          <p:spPr>
            <a:xfrm>
              <a:off x="2387965" y="2308790"/>
              <a:ext cx="624950" cy="2644524"/>
            </a:xfrm>
            <a:prstGeom prst="rect">
              <a:avLst/>
            </a:prstGeom>
            <a:solidFill>
              <a:srgbClr val="EE4639"/>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9" name="Rectángulo 8">
              <a:extLst>
                <a:ext uri="{FF2B5EF4-FFF2-40B4-BE49-F238E27FC236}">
                  <a16:creationId xmlns:a16="http://schemas.microsoft.com/office/drawing/2014/main" id="{9C3F7C85-1ECA-4290-5E25-80A9FD02BE48}"/>
                </a:ext>
              </a:extLst>
            </p:cNvPr>
            <p:cNvSpPr/>
            <p:nvPr/>
          </p:nvSpPr>
          <p:spPr>
            <a:xfrm>
              <a:off x="3197110" y="2334533"/>
              <a:ext cx="624950" cy="2618781"/>
            </a:xfrm>
            <a:prstGeom prst="rect">
              <a:avLst/>
            </a:prstGeom>
            <a:solidFill>
              <a:srgbClr val="EE4639"/>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10" name="Rectángulo 9">
              <a:extLst>
                <a:ext uri="{FF2B5EF4-FFF2-40B4-BE49-F238E27FC236}">
                  <a16:creationId xmlns:a16="http://schemas.microsoft.com/office/drawing/2014/main" id="{67E86AD6-47DE-3142-AE63-AE8988B5F659}"/>
                </a:ext>
              </a:extLst>
            </p:cNvPr>
            <p:cNvSpPr/>
            <p:nvPr/>
          </p:nvSpPr>
          <p:spPr>
            <a:xfrm>
              <a:off x="4017380" y="3192717"/>
              <a:ext cx="624950" cy="1760597"/>
            </a:xfrm>
            <a:prstGeom prst="rect">
              <a:avLst/>
            </a:prstGeom>
            <a:solidFill>
              <a:srgbClr val="EE4639"/>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11" name="Rectángulo 10">
              <a:extLst>
                <a:ext uri="{FF2B5EF4-FFF2-40B4-BE49-F238E27FC236}">
                  <a16:creationId xmlns:a16="http://schemas.microsoft.com/office/drawing/2014/main" id="{CF9F53F4-93BD-2C0B-C593-6DA10D1FE12B}"/>
                </a:ext>
              </a:extLst>
            </p:cNvPr>
            <p:cNvSpPr/>
            <p:nvPr/>
          </p:nvSpPr>
          <p:spPr>
            <a:xfrm>
              <a:off x="4830927" y="3501999"/>
              <a:ext cx="624950" cy="1451315"/>
            </a:xfrm>
            <a:prstGeom prst="rect">
              <a:avLst/>
            </a:prstGeom>
            <a:solidFill>
              <a:srgbClr val="EE4639"/>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12" name="Rectángulo 11">
              <a:extLst>
                <a:ext uri="{FF2B5EF4-FFF2-40B4-BE49-F238E27FC236}">
                  <a16:creationId xmlns:a16="http://schemas.microsoft.com/office/drawing/2014/main" id="{156E6A76-9BC9-A0FA-AFAF-02561DCF4444}"/>
                </a:ext>
              </a:extLst>
            </p:cNvPr>
            <p:cNvSpPr/>
            <p:nvPr/>
          </p:nvSpPr>
          <p:spPr>
            <a:xfrm>
              <a:off x="5644474" y="3544208"/>
              <a:ext cx="624950" cy="1409106"/>
            </a:xfrm>
            <a:prstGeom prst="rect">
              <a:avLst/>
            </a:prstGeom>
            <a:solidFill>
              <a:srgbClr val="EE4639"/>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13" name="Rectángulo 12">
              <a:extLst>
                <a:ext uri="{FF2B5EF4-FFF2-40B4-BE49-F238E27FC236}">
                  <a16:creationId xmlns:a16="http://schemas.microsoft.com/office/drawing/2014/main" id="{6CD4D2B2-8B64-544F-ADE0-34460733B6D2}"/>
                </a:ext>
              </a:extLst>
            </p:cNvPr>
            <p:cNvSpPr/>
            <p:nvPr/>
          </p:nvSpPr>
          <p:spPr>
            <a:xfrm>
              <a:off x="6469974" y="3664858"/>
              <a:ext cx="624950" cy="1288456"/>
            </a:xfrm>
            <a:prstGeom prst="rect">
              <a:avLst/>
            </a:prstGeom>
            <a:solidFill>
              <a:srgbClr val="EE4639"/>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14" name="CuadroTexto 13">
              <a:extLst>
                <a:ext uri="{FF2B5EF4-FFF2-40B4-BE49-F238E27FC236}">
                  <a16:creationId xmlns:a16="http://schemas.microsoft.com/office/drawing/2014/main" id="{15B7E504-5A04-A251-5747-06EC23D957E2}"/>
                </a:ext>
              </a:extLst>
            </p:cNvPr>
            <p:cNvSpPr txBox="1"/>
            <p:nvPr/>
          </p:nvSpPr>
          <p:spPr>
            <a:xfrm>
              <a:off x="1393278" y="2466785"/>
              <a:ext cx="619372" cy="153888"/>
            </a:xfrm>
            <a:prstGeom prst="rect">
              <a:avLst/>
            </a:prstGeom>
            <a:noFill/>
          </p:spPr>
          <p:txBody>
            <a:bodyPr wrap="square" lIns="0" tIns="0" rIns="0" bIns="0">
              <a:spAutoFit/>
            </a:bodyPr>
            <a:lstStyle/>
            <a:p>
              <a:pPr algn="r"/>
              <a:r>
                <a:rPr lang="es-PE" sz="1000">
                  <a:latin typeface="Calibri" panose="020F0502020204030204" pitchFamily="34" charset="0"/>
                  <a:ea typeface="Calibri" panose="020F0502020204030204" pitchFamily="34" charset="0"/>
                  <a:cs typeface="Calibri" panose="020F0502020204030204" pitchFamily="34" charset="0"/>
                </a:rPr>
                <a:t>350</a:t>
              </a:r>
              <a:endParaRPr lang="es-PE" sz="1000"/>
            </a:p>
          </p:txBody>
        </p:sp>
        <p:sp>
          <p:nvSpPr>
            <p:cNvPr id="15" name="CuadroTexto 14">
              <a:extLst>
                <a:ext uri="{FF2B5EF4-FFF2-40B4-BE49-F238E27FC236}">
                  <a16:creationId xmlns:a16="http://schemas.microsoft.com/office/drawing/2014/main" id="{E0BFFAA2-129C-53DE-4782-B1CA01796C99}"/>
                </a:ext>
              </a:extLst>
            </p:cNvPr>
            <p:cNvSpPr txBox="1"/>
            <p:nvPr/>
          </p:nvSpPr>
          <p:spPr>
            <a:xfrm>
              <a:off x="1393278" y="2796568"/>
              <a:ext cx="619372" cy="153888"/>
            </a:xfrm>
            <a:prstGeom prst="rect">
              <a:avLst/>
            </a:prstGeom>
            <a:noFill/>
          </p:spPr>
          <p:txBody>
            <a:bodyPr wrap="square" lIns="0" tIns="0" rIns="0" bIns="0">
              <a:spAutoFit/>
            </a:bodyPr>
            <a:lstStyle/>
            <a:p>
              <a:pPr algn="r"/>
              <a:r>
                <a:rPr lang="es-PE" sz="1000">
                  <a:latin typeface="Calibri" panose="020F0502020204030204" pitchFamily="34" charset="0"/>
                  <a:ea typeface="Calibri" panose="020F0502020204030204" pitchFamily="34" charset="0"/>
                  <a:cs typeface="Calibri" panose="020F0502020204030204" pitchFamily="34" charset="0"/>
                </a:rPr>
                <a:t>300</a:t>
              </a:r>
              <a:endParaRPr lang="es-PE" sz="1000"/>
            </a:p>
          </p:txBody>
        </p:sp>
        <p:sp>
          <p:nvSpPr>
            <p:cNvPr id="16" name="CuadroTexto 15">
              <a:extLst>
                <a:ext uri="{FF2B5EF4-FFF2-40B4-BE49-F238E27FC236}">
                  <a16:creationId xmlns:a16="http://schemas.microsoft.com/office/drawing/2014/main" id="{CFBAB0D6-7B52-B5DC-082F-280DA33EE818}"/>
                </a:ext>
              </a:extLst>
            </p:cNvPr>
            <p:cNvSpPr txBox="1"/>
            <p:nvPr/>
          </p:nvSpPr>
          <p:spPr>
            <a:xfrm>
              <a:off x="1393278" y="3141342"/>
              <a:ext cx="619372" cy="153888"/>
            </a:xfrm>
            <a:prstGeom prst="rect">
              <a:avLst/>
            </a:prstGeom>
            <a:noFill/>
          </p:spPr>
          <p:txBody>
            <a:bodyPr wrap="square" lIns="0" tIns="0" rIns="0" bIns="0">
              <a:spAutoFit/>
            </a:bodyPr>
            <a:lstStyle/>
            <a:p>
              <a:pPr algn="r"/>
              <a:r>
                <a:rPr lang="es-PE" sz="1000">
                  <a:latin typeface="Calibri" panose="020F0502020204030204" pitchFamily="34" charset="0"/>
                  <a:ea typeface="Calibri" panose="020F0502020204030204" pitchFamily="34" charset="0"/>
                  <a:cs typeface="Calibri" panose="020F0502020204030204" pitchFamily="34" charset="0"/>
                </a:rPr>
                <a:t>250</a:t>
              </a:r>
              <a:endParaRPr lang="es-PE" sz="1000"/>
            </a:p>
          </p:txBody>
        </p:sp>
        <p:sp>
          <p:nvSpPr>
            <p:cNvPr id="17" name="CuadroTexto 16">
              <a:extLst>
                <a:ext uri="{FF2B5EF4-FFF2-40B4-BE49-F238E27FC236}">
                  <a16:creationId xmlns:a16="http://schemas.microsoft.com/office/drawing/2014/main" id="{18A05D82-A82F-8726-2941-316D7BDCBDC9}"/>
                </a:ext>
              </a:extLst>
            </p:cNvPr>
            <p:cNvSpPr txBox="1"/>
            <p:nvPr/>
          </p:nvSpPr>
          <p:spPr>
            <a:xfrm>
              <a:off x="1393278" y="3478621"/>
              <a:ext cx="619372" cy="153888"/>
            </a:xfrm>
            <a:prstGeom prst="rect">
              <a:avLst/>
            </a:prstGeom>
            <a:noFill/>
          </p:spPr>
          <p:txBody>
            <a:bodyPr wrap="square" lIns="0" tIns="0" rIns="0" bIns="0">
              <a:spAutoFit/>
            </a:bodyPr>
            <a:lstStyle/>
            <a:p>
              <a:pPr algn="r"/>
              <a:r>
                <a:rPr lang="es-PE" sz="1000">
                  <a:latin typeface="Calibri" panose="020F0502020204030204" pitchFamily="34" charset="0"/>
                  <a:ea typeface="Calibri" panose="020F0502020204030204" pitchFamily="34" charset="0"/>
                  <a:cs typeface="Calibri" panose="020F0502020204030204" pitchFamily="34" charset="0"/>
                </a:rPr>
                <a:t>200</a:t>
              </a:r>
              <a:endParaRPr lang="es-PE" sz="1000"/>
            </a:p>
          </p:txBody>
        </p:sp>
        <p:sp>
          <p:nvSpPr>
            <p:cNvPr id="18" name="CuadroTexto 17">
              <a:extLst>
                <a:ext uri="{FF2B5EF4-FFF2-40B4-BE49-F238E27FC236}">
                  <a16:creationId xmlns:a16="http://schemas.microsoft.com/office/drawing/2014/main" id="{5DBC4BD8-A7D5-BEC0-741F-BA97B93AE5B2}"/>
                </a:ext>
              </a:extLst>
            </p:cNvPr>
            <p:cNvSpPr txBox="1"/>
            <p:nvPr/>
          </p:nvSpPr>
          <p:spPr>
            <a:xfrm>
              <a:off x="1393278" y="3830889"/>
              <a:ext cx="619372" cy="153888"/>
            </a:xfrm>
            <a:prstGeom prst="rect">
              <a:avLst/>
            </a:prstGeom>
            <a:noFill/>
          </p:spPr>
          <p:txBody>
            <a:bodyPr wrap="square" lIns="0" tIns="0" rIns="0" bIns="0">
              <a:spAutoFit/>
            </a:bodyPr>
            <a:lstStyle/>
            <a:p>
              <a:pPr algn="r"/>
              <a:r>
                <a:rPr lang="es-PE" sz="1000">
                  <a:latin typeface="Calibri" panose="020F0502020204030204" pitchFamily="34" charset="0"/>
                  <a:ea typeface="Calibri" panose="020F0502020204030204" pitchFamily="34" charset="0"/>
                  <a:cs typeface="Calibri" panose="020F0502020204030204" pitchFamily="34" charset="0"/>
                </a:rPr>
                <a:t>150</a:t>
              </a:r>
              <a:endParaRPr lang="es-PE" sz="1000"/>
            </a:p>
          </p:txBody>
        </p:sp>
        <p:sp>
          <p:nvSpPr>
            <p:cNvPr id="19" name="CuadroTexto 18">
              <a:extLst>
                <a:ext uri="{FF2B5EF4-FFF2-40B4-BE49-F238E27FC236}">
                  <a16:creationId xmlns:a16="http://schemas.microsoft.com/office/drawing/2014/main" id="{8754FF3F-2647-A3D4-32BD-B3CCE761061D}"/>
                </a:ext>
              </a:extLst>
            </p:cNvPr>
            <p:cNvSpPr txBox="1"/>
            <p:nvPr/>
          </p:nvSpPr>
          <p:spPr>
            <a:xfrm>
              <a:off x="1393278" y="4175662"/>
              <a:ext cx="619372" cy="153888"/>
            </a:xfrm>
            <a:prstGeom prst="rect">
              <a:avLst/>
            </a:prstGeom>
            <a:noFill/>
          </p:spPr>
          <p:txBody>
            <a:bodyPr wrap="square" lIns="0" tIns="0" rIns="0" bIns="0">
              <a:spAutoFit/>
            </a:bodyPr>
            <a:lstStyle/>
            <a:p>
              <a:pPr algn="r"/>
              <a:r>
                <a:rPr lang="es-PE" sz="1000">
                  <a:latin typeface="Calibri" panose="020F0502020204030204" pitchFamily="34" charset="0"/>
                  <a:ea typeface="Calibri" panose="020F0502020204030204" pitchFamily="34" charset="0"/>
                  <a:cs typeface="Calibri" panose="020F0502020204030204" pitchFamily="34" charset="0"/>
                </a:rPr>
                <a:t>100</a:t>
              </a:r>
              <a:endParaRPr lang="es-PE" sz="1000"/>
            </a:p>
          </p:txBody>
        </p:sp>
        <p:sp>
          <p:nvSpPr>
            <p:cNvPr id="20" name="CuadroTexto 19">
              <a:extLst>
                <a:ext uri="{FF2B5EF4-FFF2-40B4-BE49-F238E27FC236}">
                  <a16:creationId xmlns:a16="http://schemas.microsoft.com/office/drawing/2014/main" id="{4F19B9CC-6D91-F9DB-EF83-3D85D6C87402}"/>
                </a:ext>
              </a:extLst>
            </p:cNvPr>
            <p:cNvSpPr txBox="1"/>
            <p:nvPr/>
          </p:nvSpPr>
          <p:spPr>
            <a:xfrm>
              <a:off x="1393278" y="4520436"/>
              <a:ext cx="619372" cy="153888"/>
            </a:xfrm>
            <a:prstGeom prst="rect">
              <a:avLst/>
            </a:prstGeom>
            <a:noFill/>
          </p:spPr>
          <p:txBody>
            <a:bodyPr wrap="square" lIns="0" tIns="0" rIns="0" bIns="0">
              <a:spAutoFit/>
            </a:bodyPr>
            <a:lstStyle/>
            <a:p>
              <a:pPr algn="r"/>
              <a:r>
                <a:rPr lang="es-PE" sz="1000">
                  <a:latin typeface="Calibri" panose="020F0502020204030204" pitchFamily="34" charset="0"/>
                  <a:ea typeface="Calibri" panose="020F0502020204030204" pitchFamily="34" charset="0"/>
                  <a:cs typeface="Calibri" panose="020F0502020204030204" pitchFamily="34" charset="0"/>
                </a:rPr>
                <a:t>50</a:t>
              </a:r>
              <a:endParaRPr lang="es-PE" sz="1000"/>
            </a:p>
          </p:txBody>
        </p:sp>
        <p:sp>
          <p:nvSpPr>
            <p:cNvPr id="21" name="CuadroTexto 20">
              <a:extLst>
                <a:ext uri="{FF2B5EF4-FFF2-40B4-BE49-F238E27FC236}">
                  <a16:creationId xmlns:a16="http://schemas.microsoft.com/office/drawing/2014/main" id="{9E348228-FFA7-7F20-E78D-96ECB13DE723}"/>
                </a:ext>
              </a:extLst>
            </p:cNvPr>
            <p:cNvSpPr txBox="1"/>
            <p:nvPr/>
          </p:nvSpPr>
          <p:spPr>
            <a:xfrm>
              <a:off x="1393278" y="4872705"/>
              <a:ext cx="619372" cy="153888"/>
            </a:xfrm>
            <a:prstGeom prst="rect">
              <a:avLst/>
            </a:prstGeom>
            <a:noFill/>
          </p:spPr>
          <p:txBody>
            <a:bodyPr wrap="square" lIns="0" tIns="0" rIns="0" bIns="0">
              <a:spAutoFit/>
            </a:bodyPr>
            <a:lstStyle/>
            <a:p>
              <a:pPr algn="r"/>
              <a:r>
                <a:rPr lang="es-PE" sz="1000">
                  <a:latin typeface="Calibri" panose="020F0502020204030204" pitchFamily="34" charset="0"/>
                  <a:ea typeface="Calibri" panose="020F0502020204030204" pitchFamily="34" charset="0"/>
                  <a:cs typeface="Calibri" panose="020F0502020204030204" pitchFamily="34" charset="0"/>
                </a:rPr>
                <a:t>0</a:t>
              </a:r>
              <a:endParaRPr lang="es-PE" sz="1000"/>
            </a:p>
          </p:txBody>
        </p:sp>
        <p:sp>
          <p:nvSpPr>
            <p:cNvPr id="22" name="CuadroTexto 21">
              <a:extLst>
                <a:ext uri="{FF2B5EF4-FFF2-40B4-BE49-F238E27FC236}">
                  <a16:creationId xmlns:a16="http://schemas.microsoft.com/office/drawing/2014/main" id="{EC28A17B-0319-CBE7-C80A-C228D36E3D20}"/>
                </a:ext>
              </a:extLst>
            </p:cNvPr>
            <p:cNvSpPr txBox="1"/>
            <p:nvPr/>
          </p:nvSpPr>
          <p:spPr>
            <a:xfrm rot="16200000">
              <a:off x="1331723" y="3527856"/>
              <a:ext cx="619372" cy="123111"/>
            </a:xfrm>
            <a:prstGeom prst="rect">
              <a:avLst/>
            </a:prstGeom>
            <a:noFill/>
          </p:spPr>
          <p:txBody>
            <a:bodyPr wrap="square" lIns="0" tIns="0" rIns="0" bIns="0">
              <a:spAutoFit/>
            </a:bodyPr>
            <a:lstStyle/>
            <a:p>
              <a:pPr algn="ctr"/>
              <a:r>
                <a:rPr lang="es-PE" sz="800">
                  <a:latin typeface="Calibri" panose="020F0502020204030204" pitchFamily="34" charset="0"/>
                  <a:ea typeface="Calibri" panose="020F0502020204030204" pitchFamily="34" charset="0"/>
                  <a:cs typeface="Calibri" panose="020F0502020204030204" pitchFamily="34" charset="0"/>
                </a:rPr>
                <a:t>Puntos</a:t>
              </a:r>
              <a:endParaRPr lang="es-PE" sz="800"/>
            </a:p>
          </p:txBody>
        </p:sp>
        <p:sp>
          <p:nvSpPr>
            <p:cNvPr id="23" name="CuadroTexto 22">
              <a:extLst>
                <a:ext uri="{FF2B5EF4-FFF2-40B4-BE49-F238E27FC236}">
                  <a16:creationId xmlns:a16="http://schemas.microsoft.com/office/drawing/2014/main" id="{DEA0C67B-4E75-E3CB-3062-9A79CB05BFA9}"/>
                </a:ext>
              </a:extLst>
            </p:cNvPr>
            <p:cNvSpPr txBox="1"/>
            <p:nvPr/>
          </p:nvSpPr>
          <p:spPr>
            <a:xfrm>
              <a:off x="2387964" y="2154902"/>
              <a:ext cx="619372" cy="153888"/>
            </a:xfrm>
            <a:prstGeom prst="rect">
              <a:avLst/>
            </a:prstGeom>
            <a:noFill/>
          </p:spPr>
          <p:txBody>
            <a:bodyPr wrap="square" lIns="0" tIns="0" rIns="0" bIns="0">
              <a:spAutoFit/>
            </a:bodyPr>
            <a:lstStyle/>
            <a:p>
              <a:pPr algn="ctr"/>
              <a:r>
                <a:rPr lang="es-PE" sz="1000" b="1" dirty="0">
                  <a:solidFill>
                    <a:srgbClr val="EE4639"/>
                  </a:solidFill>
                  <a:latin typeface="Calibri" panose="020F0502020204030204" pitchFamily="34" charset="0"/>
                  <a:ea typeface="Calibri" panose="020F0502020204030204" pitchFamily="34" charset="0"/>
                  <a:cs typeface="Calibri" panose="020F0502020204030204" pitchFamily="34" charset="0"/>
                </a:rPr>
                <a:t>385</a:t>
              </a:r>
              <a:endParaRPr lang="es-PE" sz="1000" b="1" dirty="0">
                <a:solidFill>
                  <a:srgbClr val="EE4639"/>
                </a:solidFill>
              </a:endParaRPr>
            </a:p>
          </p:txBody>
        </p:sp>
        <p:sp>
          <p:nvSpPr>
            <p:cNvPr id="24" name="CuadroTexto 23">
              <a:extLst>
                <a:ext uri="{FF2B5EF4-FFF2-40B4-BE49-F238E27FC236}">
                  <a16:creationId xmlns:a16="http://schemas.microsoft.com/office/drawing/2014/main" id="{525E1788-2C96-7598-C6EF-F9A9ECDF9B3B}"/>
                </a:ext>
              </a:extLst>
            </p:cNvPr>
            <p:cNvSpPr txBox="1"/>
            <p:nvPr/>
          </p:nvSpPr>
          <p:spPr>
            <a:xfrm>
              <a:off x="3202688" y="2180645"/>
              <a:ext cx="619372" cy="153888"/>
            </a:xfrm>
            <a:prstGeom prst="rect">
              <a:avLst/>
            </a:prstGeom>
            <a:noFill/>
          </p:spPr>
          <p:txBody>
            <a:bodyPr wrap="square" lIns="0" tIns="0" rIns="0" bIns="0">
              <a:spAutoFit/>
            </a:bodyPr>
            <a:lstStyle/>
            <a:p>
              <a:pPr algn="ctr"/>
              <a:r>
                <a:rPr lang="es-PE" sz="1000" b="1">
                  <a:solidFill>
                    <a:srgbClr val="EE4639"/>
                  </a:solidFill>
                  <a:latin typeface="Calibri" panose="020F0502020204030204" pitchFamily="34" charset="0"/>
                  <a:ea typeface="Calibri" panose="020F0502020204030204" pitchFamily="34" charset="0"/>
                  <a:cs typeface="Calibri" panose="020F0502020204030204" pitchFamily="34" charset="0"/>
                </a:rPr>
                <a:t>380</a:t>
              </a:r>
              <a:endParaRPr lang="es-PE" sz="1000" b="1">
                <a:solidFill>
                  <a:srgbClr val="EE4639"/>
                </a:solidFill>
              </a:endParaRPr>
            </a:p>
          </p:txBody>
        </p:sp>
        <p:sp>
          <p:nvSpPr>
            <p:cNvPr id="25" name="CuadroTexto 24">
              <a:extLst>
                <a:ext uri="{FF2B5EF4-FFF2-40B4-BE49-F238E27FC236}">
                  <a16:creationId xmlns:a16="http://schemas.microsoft.com/office/drawing/2014/main" id="{CE16C8DF-ADFD-6A70-FFEF-F35F2AF4AFB8}"/>
                </a:ext>
              </a:extLst>
            </p:cNvPr>
            <p:cNvSpPr txBox="1"/>
            <p:nvPr/>
          </p:nvSpPr>
          <p:spPr>
            <a:xfrm>
              <a:off x="4017380" y="3026997"/>
              <a:ext cx="619372" cy="153888"/>
            </a:xfrm>
            <a:prstGeom prst="rect">
              <a:avLst/>
            </a:prstGeom>
            <a:noFill/>
          </p:spPr>
          <p:txBody>
            <a:bodyPr wrap="square" lIns="0" tIns="0" rIns="0" bIns="0">
              <a:spAutoFit/>
            </a:bodyPr>
            <a:lstStyle/>
            <a:p>
              <a:pPr algn="ctr"/>
              <a:r>
                <a:rPr lang="es-PE" sz="1000" b="1">
                  <a:solidFill>
                    <a:srgbClr val="EE4639"/>
                  </a:solidFill>
                  <a:latin typeface="Calibri" panose="020F0502020204030204" pitchFamily="34" charset="0"/>
                  <a:ea typeface="Calibri" panose="020F0502020204030204" pitchFamily="34" charset="0"/>
                  <a:cs typeface="Calibri" panose="020F0502020204030204" pitchFamily="34" charset="0"/>
                </a:rPr>
                <a:t>256</a:t>
              </a:r>
              <a:endParaRPr lang="es-PE" sz="1000" b="1">
                <a:solidFill>
                  <a:srgbClr val="EE4639"/>
                </a:solidFill>
              </a:endParaRPr>
            </a:p>
          </p:txBody>
        </p:sp>
        <p:sp>
          <p:nvSpPr>
            <p:cNvPr id="26" name="CuadroTexto 25">
              <a:extLst>
                <a:ext uri="{FF2B5EF4-FFF2-40B4-BE49-F238E27FC236}">
                  <a16:creationId xmlns:a16="http://schemas.microsoft.com/office/drawing/2014/main" id="{51E00B00-51D0-AA80-06F4-5EFFB7AB532F}"/>
                </a:ext>
              </a:extLst>
            </p:cNvPr>
            <p:cNvSpPr txBox="1"/>
            <p:nvPr/>
          </p:nvSpPr>
          <p:spPr>
            <a:xfrm>
              <a:off x="4837650" y="3342824"/>
              <a:ext cx="619372" cy="153888"/>
            </a:xfrm>
            <a:prstGeom prst="rect">
              <a:avLst/>
            </a:prstGeom>
            <a:noFill/>
          </p:spPr>
          <p:txBody>
            <a:bodyPr wrap="square" lIns="0" tIns="0" rIns="0" bIns="0">
              <a:spAutoFit/>
            </a:bodyPr>
            <a:lstStyle/>
            <a:p>
              <a:pPr algn="ctr"/>
              <a:r>
                <a:rPr lang="es-PE" sz="1000" b="1">
                  <a:solidFill>
                    <a:srgbClr val="EE4639"/>
                  </a:solidFill>
                  <a:latin typeface="Calibri" panose="020F0502020204030204" pitchFamily="34" charset="0"/>
                  <a:ea typeface="Calibri" panose="020F0502020204030204" pitchFamily="34" charset="0"/>
                  <a:cs typeface="Calibri" panose="020F0502020204030204" pitchFamily="34" charset="0"/>
                </a:rPr>
                <a:t>212</a:t>
              </a:r>
              <a:endParaRPr lang="es-PE" sz="1000" b="1">
                <a:solidFill>
                  <a:srgbClr val="EE4639"/>
                </a:solidFill>
              </a:endParaRPr>
            </a:p>
          </p:txBody>
        </p:sp>
        <p:sp>
          <p:nvSpPr>
            <p:cNvPr id="27" name="CuadroTexto 26">
              <a:extLst>
                <a:ext uri="{FF2B5EF4-FFF2-40B4-BE49-F238E27FC236}">
                  <a16:creationId xmlns:a16="http://schemas.microsoft.com/office/drawing/2014/main" id="{BF412759-E2A2-ABBD-DB6D-2C033F5020EB}"/>
                </a:ext>
              </a:extLst>
            </p:cNvPr>
            <p:cNvSpPr txBox="1"/>
            <p:nvPr/>
          </p:nvSpPr>
          <p:spPr>
            <a:xfrm>
              <a:off x="5651197" y="3390320"/>
              <a:ext cx="619372" cy="153888"/>
            </a:xfrm>
            <a:prstGeom prst="rect">
              <a:avLst/>
            </a:prstGeom>
            <a:noFill/>
          </p:spPr>
          <p:txBody>
            <a:bodyPr wrap="square" lIns="0" tIns="0" rIns="0" bIns="0">
              <a:spAutoFit/>
            </a:bodyPr>
            <a:lstStyle/>
            <a:p>
              <a:pPr algn="ctr"/>
              <a:r>
                <a:rPr lang="es-PE" sz="1000" b="1">
                  <a:solidFill>
                    <a:srgbClr val="EE4639"/>
                  </a:solidFill>
                  <a:latin typeface="Calibri" panose="020F0502020204030204" pitchFamily="34" charset="0"/>
                  <a:ea typeface="Calibri" panose="020F0502020204030204" pitchFamily="34" charset="0"/>
                  <a:cs typeface="Calibri" panose="020F0502020204030204" pitchFamily="34" charset="0"/>
                </a:rPr>
                <a:t>204</a:t>
              </a:r>
              <a:endParaRPr lang="es-PE" sz="1000" b="1">
                <a:solidFill>
                  <a:srgbClr val="EE4639"/>
                </a:solidFill>
              </a:endParaRPr>
            </a:p>
          </p:txBody>
        </p:sp>
        <p:sp>
          <p:nvSpPr>
            <p:cNvPr id="28" name="CuadroTexto 27">
              <a:extLst>
                <a:ext uri="{FF2B5EF4-FFF2-40B4-BE49-F238E27FC236}">
                  <a16:creationId xmlns:a16="http://schemas.microsoft.com/office/drawing/2014/main" id="{6CE69511-2F7B-9B52-42F4-A0E66FD73A36}"/>
                </a:ext>
              </a:extLst>
            </p:cNvPr>
            <p:cNvSpPr txBox="1"/>
            <p:nvPr/>
          </p:nvSpPr>
          <p:spPr>
            <a:xfrm>
              <a:off x="6475552" y="3512467"/>
              <a:ext cx="619372" cy="153888"/>
            </a:xfrm>
            <a:prstGeom prst="rect">
              <a:avLst/>
            </a:prstGeom>
            <a:noFill/>
          </p:spPr>
          <p:txBody>
            <a:bodyPr wrap="square" lIns="0" tIns="0" rIns="0" bIns="0">
              <a:spAutoFit/>
            </a:bodyPr>
            <a:lstStyle/>
            <a:p>
              <a:pPr algn="ctr"/>
              <a:r>
                <a:rPr lang="es-PE" sz="1000" b="1">
                  <a:solidFill>
                    <a:srgbClr val="EE4639"/>
                  </a:solidFill>
                  <a:latin typeface="Calibri" panose="020F0502020204030204" pitchFamily="34" charset="0"/>
                  <a:ea typeface="Calibri" panose="020F0502020204030204" pitchFamily="34" charset="0"/>
                  <a:cs typeface="Calibri" panose="020F0502020204030204" pitchFamily="34" charset="0"/>
                </a:rPr>
                <a:t>186</a:t>
              </a:r>
              <a:endParaRPr lang="es-PE" sz="1000" b="1">
                <a:solidFill>
                  <a:srgbClr val="EE4639"/>
                </a:solidFill>
              </a:endParaRPr>
            </a:p>
          </p:txBody>
        </p:sp>
        <p:sp>
          <p:nvSpPr>
            <p:cNvPr id="29" name="CuadroTexto 28">
              <a:extLst>
                <a:ext uri="{FF2B5EF4-FFF2-40B4-BE49-F238E27FC236}">
                  <a16:creationId xmlns:a16="http://schemas.microsoft.com/office/drawing/2014/main" id="{E602EF9F-4251-A2A5-9C89-1EA67569B412}"/>
                </a:ext>
              </a:extLst>
            </p:cNvPr>
            <p:cNvSpPr txBox="1"/>
            <p:nvPr/>
          </p:nvSpPr>
          <p:spPr>
            <a:xfrm>
              <a:off x="2362512" y="4958958"/>
              <a:ext cx="683236" cy="169277"/>
            </a:xfrm>
            <a:prstGeom prst="rect">
              <a:avLst/>
            </a:prstGeom>
            <a:noFill/>
          </p:spPr>
          <p:txBody>
            <a:bodyPr wrap="square" lIns="0" tIns="0" rIns="0" bIns="0">
              <a:spAutoFit/>
            </a:bodyPr>
            <a:lstStyle/>
            <a:p>
              <a:pPr algn="ctr"/>
              <a:r>
                <a:rPr lang="es-PE" sz="1100">
                  <a:latin typeface="Calibri" panose="020F0502020204030204" pitchFamily="34" charset="0"/>
                  <a:ea typeface="Calibri" panose="020F0502020204030204" pitchFamily="34" charset="0"/>
                  <a:cs typeface="Calibri" panose="020F0502020204030204" pitchFamily="34" charset="0"/>
                </a:rPr>
                <a:t>Rosberg</a:t>
              </a:r>
              <a:endParaRPr lang="es-PE" sz="1100"/>
            </a:p>
          </p:txBody>
        </p:sp>
        <p:sp>
          <p:nvSpPr>
            <p:cNvPr id="30" name="CuadroTexto 29">
              <a:extLst>
                <a:ext uri="{FF2B5EF4-FFF2-40B4-BE49-F238E27FC236}">
                  <a16:creationId xmlns:a16="http://schemas.microsoft.com/office/drawing/2014/main" id="{B3EDE941-8A01-0746-863C-8A004402742B}"/>
                </a:ext>
              </a:extLst>
            </p:cNvPr>
            <p:cNvSpPr txBox="1"/>
            <p:nvPr/>
          </p:nvSpPr>
          <p:spPr>
            <a:xfrm>
              <a:off x="3181662" y="4958958"/>
              <a:ext cx="683236" cy="169277"/>
            </a:xfrm>
            <a:prstGeom prst="rect">
              <a:avLst/>
            </a:prstGeom>
            <a:noFill/>
          </p:spPr>
          <p:txBody>
            <a:bodyPr wrap="square" lIns="0" tIns="0" rIns="0" bIns="0">
              <a:spAutoFit/>
            </a:bodyPr>
            <a:lstStyle/>
            <a:p>
              <a:pPr algn="ctr"/>
              <a:r>
                <a:rPr lang="es-PE" sz="1100">
                  <a:latin typeface="Calibri" panose="020F0502020204030204" pitchFamily="34" charset="0"/>
                  <a:ea typeface="Calibri" panose="020F0502020204030204" pitchFamily="34" charset="0"/>
                  <a:cs typeface="Calibri" panose="020F0502020204030204" pitchFamily="34" charset="0"/>
                </a:rPr>
                <a:t>Hamilton</a:t>
              </a:r>
              <a:endParaRPr lang="es-PE" sz="1100"/>
            </a:p>
          </p:txBody>
        </p:sp>
        <p:sp>
          <p:nvSpPr>
            <p:cNvPr id="31" name="CuadroTexto 30">
              <a:extLst>
                <a:ext uri="{FF2B5EF4-FFF2-40B4-BE49-F238E27FC236}">
                  <a16:creationId xmlns:a16="http://schemas.microsoft.com/office/drawing/2014/main" id="{47F9C7D4-CF5A-3B1F-2E36-BA03D50675B9}"/>
                </a:ext>
              </a:extLst>
            </p:cNvPr>
            <p:cNvSpPr txBox="1"/>
            <p:nvPr/>
          </p:nvSpPr>
          <p:spPr>
            <a:xfrm>
              <a:off x="4007162" y="4958958"/>
              <a:ext cx="683236" cy="169277"/>
            </a:xfrm>
            <a:prstGeom prst="rect">
              <a:avLst/>
            </a:prstGeom>
            <a:noFill/>
          </p:spPr>
          <p:txBody>
            <a:bodyPr wrap="square" lIns="0" tIns="0" rIns="0" bIns="0">
              <a:spAutoFit/>
            </a:bodyPr>
            <a:lstStyle/>
            <a:p>
              <a:pPr algn="ctr"/>
              <a:r>
                <a:rPr lang="es-PE" sz="1100">
                  <a:latin typeface="Calibri" panose="020F0502020204030204" pitchFamily="34" charset="0"/>
                  <a:ea typeface="Calibri" panose="020F0502020204030204" pitchFamily="34" charset="0"/>
                  <a:cs typeface="Calibri" panose="020F0502020204030204" pitchFamily="34" charset="0"/>
                </a:rPr>
                <a:t>Ricciardo</a:t>
              </a:r>
              <a:endParaRPr lang="es-PE" sz="1100"/>
            </a:p>
          </p:txBody>
        </p:sp>
        <p:sp>
          <p:nvSpPr>
            <p:cNvPr id="32" name="CuadroTexto 31">
              <a:extLst>
                <a:ext uri="{FF2B5EF4-FFF2-40B4-BE49-F238E27FC236}">
                  <a16:creationId xmlns:a16="http://schemas.microsoft.com/office/drawing/2014/main" id="{E59E0FA6-09E7-1B75-481F-C95B30C378C8}"/>
                </a:ext>
              </a:extLst>
            </p:cNvPr>
            <p:cNvSpPr txBox="1"/>
            <p:nvPr/>
          </p:nvSpPr>
          <p:spPr>
            <a:xfrm>
              <a:off x="4813612" y="4958958"/>
              <a:ext cx="683236" cy="169277"/>
            </a:xfrm>
            <a:prstGeom prst="rect">
              <a:avLst/>
            </a:prstGeom>
            <a:noFill/>
          </p:spPr>
          <p:txBody>
            <a:bodyPr wrap="square" lIns="0" tIns="0" rIns="0" bIns="0">
              <a:spAutoFit/>
            </a:bodyPr>
            <a:lstStyle/>
            <a:p>
              <a:pPr algn="ctr"/>
              <a:r>
                <a:rPr lang="es-PE" sz="1100">
                  <a:latin typeface="Calibri" panose="020F0502020204030204" pitchFamily="34" charset="0"/>
                  <a:ea typeface="Calibri" panose="020F0502020204030204" pitchFamily="34" charset="0"/>
                  <a:cs typeface="Calibri" panose="020F0502020204030204" pitchFamily="34" charset="0"/>
                </a:rPr>
                <a:t>Vettel</a:t>
              </a:r>
              <a:endParaRPr lang="es-PE" sz="1100"/>
            </a:p>
          </p:txBody>
        </p:sp>
        <p:sp>
          <p:nvSpPr>
            <p:cNvPr id="33" name="CuadroTexto 32">
              <a:extLst>
                <a:ext uri="{FF2B5EF4-FFF2-40B4-BE49-F238E27FC236}">
                  <a16:creationId xmlns:a16="http://schemas.microsoft.com/office/drawing/2014/main" id="{03BD9DF1-C93E-7FA8-A809-08F9AAE49BDD}"/>
                </a:ext>
              </a:extLst>
            </p:cNvPr>
            <p:cNvSpPr txBox="1"/>
            <p:nvPr/>
          </p:nvSpPr>
          <p:spPr>
            <a:xfrm>
              <a:off x="5621307" y="4958958"/>
              <a:ext cx="683236" cy="169277"/>
            </a:xfrm>
            <a:prstGeom prst="rect">
              <a:avLst/>
            </a:prstGeom>
            <a:noFill/>
          </p:spPr>
          <p:txBody>
            <a:bodyPr wrap="square" lIns="0" tIns="0" rIns="0" bIns="0">
              <a:spAutoFit/>
            </a:bodyPr>
            <a:lstStyle/>
            <a:p>
              <a:pPr algn="ctr"/>
              <a:r>
                <a:rPr lang="es-PE" sz="1100">
                  <a:latin typeface="Calibri" panose="020F0502020204030204" pitchFamily="34" charset="0"/>
                  <a:ea typeface="Calibri" panose="020F0502020204030204" pitchFamily="34" charset="0"/>
                  <a:cs typeface="Calibri" panose="020F0502020204030204" pitchFamily="34" charset="0"/>
                </a:rPr>
                <a:t>Verstappen</a:t>
              </a:r>
              <a:endParaRPr lang="es-PE" sz="1100"/>
            </a:p>
          </p:txBody>
        </p:sp>
        <p:sp>
          <p:nvSpPr>
            <p:cNvPr id="34" name="CuadroTexto 33">
              <a:extLst>
                <a:ext uri="{FF2B5EF4-FFF2-40B4-BE49-F238E27FC236}">
                  <a16:creationId xmlns:a16="http://schemas.microsoft.com/office/drawing/2014/main" id="{0BD8A2BB-F283-7ED4-9CD0-97FBFED4AFD2}"/>
                </a:ext>
              </a:extLst>
            </p:cNvPr>
            <p:cNvSpPr txBox="1"/>
            <p:nvPr/>
          </p:nvSpPr>
          <p:spPr>
            <a:xfrm>
              <a:off x="6453346" y="4958958"/>
              <a:ext cx="683236" cy="169277"/>
            </a:xfrm>
            <a:prstGeom prst="rect">
              <a:avLst/>
            </a:prstGeom>
            <a:noFill/>
          </p:spPr>
          <p:txBody>
            <a:bodyPr wrap="square" lIns="0" tIns="0" rIns="0" bIns="0">
              <a:spAutoFit/>
            </a:bodyPr>
            <a:lstStyle/>
            <a:p>
              <a:pPr algn="ctr"/>
              <a:r>
                <a:rPr lang="es-PE" sz="1100">
                  <a:latin typeface="Calibri" panose="020F0502020204030204" pitchFamily="34" charset="0"/>
                  <a:ea typeface="Calibri" panose="020F0502020204030204" pitchFamily="34" charset="0"/>
                  <a:cs typeface="Calibri" panose="020F0502020204030204" pitchFamily="34" charset="0"/>
                </a:rPr>
                <a:t>Raikkonen</a:t>
              </a:r>
              <a:endParaRPr lang="es-PE" sz="1100"/>
            </a:p>
          </p:txBody>
        </p:sp>
        <p:sp>
          <p:nvSpPr>
            <p:cNvPr id="35" name="CuadroTexto 34">
              <a:extLst>
                <a:ext uri="{FF2B5EF4-FFF2-40B4-BE49-F238E27FC236}">
                  <a16:creationId xmlns:a16="http://schemas.microsoft.com/office/drawing/2014/main" id="{79769321-7408-5B89-E9C0-17454BD0BE2E}"/>
                </a:ext>
              </a:extLst>
            </p:cNvPr>
            <p:cNvSpPr txBox="1"/>
            <p:nvPr/>
          </p:nvSpPr>
          <p:spPr>
            <a:xfrm>
              <a:off x="3979221" y="5119256"/>
              <a:ext cx="1642086" cy="153888"/>
            </a:xfrm>
            <a:prstGeom prst="rect">
              <a:avLst/>
            </a:prstGeom>
            <a:noFill/>
          </p:spPr>
          <p:txBody>
            <a:bodyPr wrap="square" lIns="0" tIns="0" rIns="0" bIns="0">
              <a:spAutoFit/>
            </a:bodyPr>
            <a:lstStyle/>
            <a:p>
              <a:pPr algn="ctr"/>
              <a:r>
                <a:rPr lang="es-PE" sz="1000">
                  <a:latin typeface="Calibri" panose="020F0502020204030204" pitchFamily="34" charset="0"/>
                  <a:ea typeface="Calibri" panose="020F0502020204030204" pitchFamily="34" charset="0"/>
                  <a:cs typeface="Calibri" panose="020F0502020204030204" pitchFamily="34" charset="0"/>
                </a:rPr>
                <a:t>Piloto (Temporada 2016)</a:t>
              </a:r>
              <a:endParaRPr lang="es-PE" sz="1000"/>
            </a:p>
          </p:txBody>
        </p:sp>
        <p:sp>
          <p:nvSpPr>
            <p:cNvPr id="36" name="CuadroTexto 35">
              <a:extLst>
                <a:ext uri="{FF2B5EF4-FFF2-40B4-BE49-F238E27FC236}">
                  <a16:creationId xmlns:a16="http://schemas.microsoft.com/office/drawing/2014/main" id="{46A7820C-1FF7-4F1C-5BF1-A460E235359E}"/>
                </a:ext>
              </a:extLst>
            </p:cNvPr>
            <p:cNvSpPr txBox="1"/>
            <p:nvPr/>
          </p:nvSpPr>
          <p:spPr>
            <a:xfrm>
              <a:off x="1579853" y="1895022"/>
              <a:ext cx="2091379" cy="153888"/>
            </a:xfrm>
            <a:prstGeom prst="rect">
              <a:avLst/>
            </a:prstGeom>
            <a:noFill/>
          </p:spPr>
          <p:txBody>
            <a:bodyPr wrap="square" lIns="0" tIns="0" rIns="0" bIns="0">
              <a:spAutoFit/>
            </a:bodyPr>
            <a:lstStyle/>
            <a:p>
              <a:pPr algn="ctr"/>
              <a:r>
                <a:rPr lang="es-PE" sz="1000" b="1" dirty="0">
                  <a:latin typeface="Calibri" panose="020F0502020204030204" pitchFamily="34" charset="0"/>
                  <a:ea typeface="Calibri" panose="020F0502020204030204" pitchFamily="34" charset="0"/>
                  <a:cs typeface="Calibri" panose="020F0502020204030204" pitchFamily="34" charset="0"/>
                </a:rPr>
                <a:t>Puntos por Piloto (Temporada 2016)</a:t>
              </a:r>
              <a:endParaRPr lang="es-PE" sz="1000" b="1" dirty="0"/>
            </a:p>
          </p:txBody>
        </p:sp>
      </p:grpSp>
    </p:spTree>
    <p:extLst>
      <p:ext uri="{BB962C8B-B14F-4D97-AF65-F5344CB8AC3E}">
        <p14:creationId xmlns:p14="http://schemas.microsoft.com/office/powerpoint/2010/main" val="1986094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upo 19">
            <a:extLst>
              <a:ext uri="{FF2B5EF4-FFF2-40B4-BE49-F238E27FC236}">
                <a16:creationId xmlns:a16="http://schemas.microsoft.com/office/drawing/2014/main" id="{B218D628-78A0-4534-84B0-DAFF7D0DC5C4}"/>
              </a:ext>
            </a:extLst>
          </p:cNvPr>
          <p:cNvGrpSpPr/>
          <p:nvPr/>
        </p:nvGrpSpPr>
        <p:grpSpPr>
          <a:xfrm>
            <a:off x="2431439" y="2174076"/>
            <a:ext cx="4456985" cy="2788418"/>
            <a:chOff x="2431439" y="2174076"/>
            <a:chExt cx="4456985" cy="2788418"/>
          </a:xfrm>
        </p:grpSpPr>
        <p:cxnSp>
          <p:nvCxnSpPr>
            <p:cNvPr id="10" name="Conector recto 9">
              <a:extLst>
                <a:ext uri="{FF2B5EF4-FFF2-40B4-BE49-F238E27FC236}">
                  <a16:creationId xmlns:a16="http://schemas.microsoft.com/office/drawing/2014/main" id="{09A4EC27-4F88-D0BC-B6BE-0E94C9380E69}"/>
                </a:ext>
              </a:extLst>
            </p:cNvPr>
            <p:cNvCxnSpPr>
              <a:cxnSpLocks/>
            </p:cNvCxnSpPr>
            <p:nvPr/>
          </p:nvCxnSpPr>
          <p:spPr>
            <a:xfrm>
              <a:off x="2431439" y="2174076"/>
              <a:ext cx="4456985" cy="0"/>
            </a:xfrm>
            <a:prstGeom prst="line">
              <a:avLst/>
            </a:prstGeom>
            <a:ln w="9525">
              <a:solidFill>
                <a:schemeClr val="bg1">
                  <a:lumMod val="75000"/>
                </a:schemeClr>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2" name="Conector recto 11">
              <a:extLst>
                <a:ext uri="{FF2B5EF4-FFF2-40B4-BE49-F238E27FC236}">
                  <a16:creationId xmlns:a16="http://schemas.microsoft.com/office/drawing/2014/main" id="{F8D56E5D-4603-51D7-93C1-8C4A2B23780C}"/>
                </a:ext>
              </a:extLst>
            </p:cNvPr>
            <p:cNvCxnSpPr>
              <a:cxnSpLocks/>
            </p:cNvCxnSpPr>
            <p:nvPr/>
          </p:nvCxnSpPr>
          <p:spPr>
            <a:xfrm>
              <a:off x="2431439" y="2525768"/>
              <a:ext cx="4456985" cy="0"/>
            </a:xfrm>
            <a:prstGeom prst="line">
              <a:avLst/>
            </a:prstGeom>
            <a:ln w="9525">
              <a:solidFill>
                <a:schemeClr val="bg1">
                  <a:lumMod val="75000"/>
                </a:schemeClr>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3" name="Conector recto 12">
              <a:extLst>
                <a:ext uri="{FF2B5EF4-FFF2-40B4-BE49-F238E27FC236}">
                  <a16:creationId xmlns:a16="http://schemas.microsoft.com/office/drawing/2014/main" id="{7748AB9C-8EF4-4F49-B7F7-6116DB9FA248}"/>
                </a:ext>
              </a:extLst>
            </p:cNvPr>
            <p:cNvCxnSpPr>
              <a:cxnSpLocks/>
            </p:cNvCxnSpPr>
            <p:nvPr/>
          </p:nvCxnSpPr>
          <p:spPr>
            <a:xfrm>
              <a:off x="2431439" y="2857364"/>
              <a:ext cx="4456985" cy="0"/>
            </a:xfrm>
            <a:prstGeom prst="line">
              <a:avLst/>
            </a:prstGeom>
            <a:ln w="9525">
              <a:solidFill>
                <a:schemeClr val="bg1">
                  <a:lumMod val="75000"/>
                </a:schemeClr>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4" name="Conector recto 13">
              <a:extLst>
                <a:ext uri="{FF2B5EF4-FFF2-40B4-BE49-F238E27FC236}">
                  <a16:creationId xmlns:a16="http://schemas.microsoft.com/office/drawing/2014/main" id="{F92DAB8E-7980-FFA0-81FC-21FE4886327F}"/>
                </a:ext>
              </a:extLst>
            </p:cNvPr>
            <p:cNvCxnSpPr>
              <a:cxnSpLocks/>
            </p:cNvCxnSpPr>
            <p:nvPr/>
          </p:nvCxnSpPr>
          <p:spPr>
            <a:xfrm>
              <a:off x="2431439" y="3214080"/>
              <a:ext cx="4456985" cy="0"/>
            </a:xfrm>
            <a:prstGeom prst="line">
              <a:avLst/>
            </a:prstGeom>
            <a:ln w="9525">
              <a:solidFill>
                <a:schemeClr val="bg1">
                  <a:lumMod val="75000"/>
                </a:schemeClr>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5" name="Conector recto 14">
              <a:extLst>
                <a:ext uri="{FF2B5EF4-FFF2-40B4-BE49-F238E27FC236}">
                  <a16:creationId xmlns:a16="http://schemas.microsoft.com/office/drawing/2014/main" id="{2DFD02A7-8B46-9AE0-F899-A83575067593}"/>
                </a:ext>
              </a:extLst>
            </p:cNvPr>
            <p:cNvCxnSpPr>
              <a:cxnSpLocks/>
            </p:cNvCxnSpPr>
            <p:nvPr/>
          </p:nvCxnSpPr>
          <p:spPr>
            <a:xfrm>
              <a:off x="2431439" y="3525579"/>
              <a:ext cx="4456985" cy="0"/>
            </a:xfrm>
            <a:prstGeom prst="line">
              <a:avLst/>
            </a:prstGeom>
            <a:ln w="9525">
              <a:solidFill>
                <a:schemeClr val="bg1">
                  <a:lumMod val="75000"/>
                </a:schemeClr>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6" name="Conector recto 15">
              <a:extLst>
                <a:ext uri="{FF2B5EF4-FFF2-40B4-BE49-F238E27FC236}">
                  <a16:creationId xmlns:a16="http://schemas.microsoft.com/office/drawing/2014/main" id="{7B50C0FE-C04F-758B-403D-A0E1FFE8D6EF}"/>
                </a:ext>
              </a:extLst>
            </p:cNvPr>
            <p:cNvCxnSpPr>
              <a:cxnSpLocks/>
            </p:cNvCxnSpPr>
            <p:nvPr/>
          </p:nvCxnSpPr>
          <p:spPr>
            <a:xfrm>
              <a:off x="2431439" y="3882296"/>
              <a:ext cx="4456985" cy="0"/>
            </a:xfrm>
            <a:prstGeom prst="line">
              <a:avLst/>
            </a:prstGeom>
            <a:ln w="9525">
              <a:solidFill>
                <a:schemeClr val="bg1">
                  <a:lumMod val="75000"/>
                </a:schemeClr>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7" name="Conector recto 16">
              <a:extLst>
                <a:ext uri="{FF2B5EF4-FFF2-40B4-BE49-F238E27FC236}">
                  <a16:creationId xmlns:a16="http://schemas.microsoft.com/office/drawing/2014/main" id="{0C9C723F-00A8-6083-7E6E-D957F8352D78}"/>
                </a:ext>
              </a:extLst>
            </p:cNvPr>
            <p:cNvCxnSpPr>
              <a:cxnSpLocks/>
            </p:cNvCxnSpPr>
            <p:nvPr/>
          </p:nvCxnSpPr>
          <p:spPr>
            <a:xfrm>
              <a:off x="2431439" y="4239012"/>
              <a:ext cx="4456985" cy="0"/>
            </a:xfrm>
            <a:prstGeom prst="line">
              <a:avLst/>
            </a:prstGeom>
            <a:ln w="9525">
              <a:solidFill>
                <a:schemeClr val="bg1">
                  <a:lumMod val="75000"/>
                </a:schemeClr>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8" name="Conector recto 17">
              <a:extLst>
                <a:ext uri="{FF2B5EF4-FFF2-40B4-BE49-F238E27FC236}">
                  <a16:creationId xmlns:a16="http://schemas.microsoft.com/office/drawing/2014/main" id="{115320EA-7B72-50C8-9956-11D2D08EBE14}"/>
                </a:ext>
              </a:extLst>
            </p:cNvPr>
            <p:cNvCxnSpPr>
              <a:cxnSpLocks/>
            </p:cNvCxnSpPr>
            <p:nvPr/>
          </p:nvCxnSpPr>
          <p:spPr>
            <a:xfrm>
              <a:off x="2431439" y="4585681"/>
              <a:ext cx="4456985" cy="0"/>
            </a:xfrm>
            <a:prstGeom prst="line">
              <a:avLst/>
            </a:prstGeom>
            <a:ln w="9525">
              <a:solidFill>
                <a:schemeClr val="bg1">
                  <a:lumMod val="75000"/>
                </a:schemeClr>
              </a:solidFill>
              <a:prstDash val="sysDash"/>
            </a:ln>
            <a:effectLst/>
          </p:spPr>
          <p:style>
            <a:lnRef idx="2">
              <a:schemeClr val="accent1"/>
            </a:lnRef>
            <a:fillRef idx="0">
              <a:schemeClr val="accent1"/>
            </a:fillRef>
            <a:effectRef idx="1">
              <a:schemeClr val="accent1"/>
            </a:effectRef>
            <a:fontRef idx="minor">
              <a:schemeClr val="tx1"/>
            </a:fontRef>
          </p:style>
        </p:cxnSp>
        <p:cxnSp>
          <p:nvCxnSpPr>
            <p:cNvPr id="19" name="Conector recto 18">
              <a:extLst>
                <a:ext uri="{FF2B5EF4-FFF2-40B4-BE49-F238E27FC236}">
                  <a16:creationId xmlns:a16="http://schemas.microsoft.com/office/drawing/2014/main" id="{64AE4201-1934-31BE-38B7-649626AB810E}"/>
                </a:ext>
              </a:extLst>
            </p:cNvPr>
            <p:cNvCxnSpPr>
              <a:cxnSpLocks/>
            </p:cNvCxnSpPr>
            <p:nvPr/>
          </p:nvCxnSpPr>
          <p:spPr>
            <a:xfrm>
              <a:off x="2431439" y="4962494"/>
              <a:ext cx="4456985" cy="0"/>
            </a:xfrm>
            <a:prstGeom prst="line">
              <a:avLst/>
            </a:prstGeom>
            <a:ln w="9525">
              <a:solidFill>
                <a:schemeClr val="bg1">
                  <a:lumMod val="75000"/>
                </a:schemeClr>
              </a:solidFill>
              <a:prstDash val="sysDash"/>
            </a:ln>
            <a:effectLst/>
          </p:spPr>
          <p:style>
            <a:lnRef idx="2">
              <a:schemeClr val="accent1"/>
            </a:lnRef>
            <a:fillRef idx="0">
              <a:schemeClr val="accent1"/>
            </a:fillRef>
            <a:effectRef idx="1">
              <a:schemeClr val="accent1"/>
            </a:effectRef>
            <a:fontRef idx="minor">
              <a:schemeClr val="tx1"/>
            </a:fontRef>
          </p:style>
        </p:cxnSp>
      </p:grpSp>
      <p:sp>
        <p:nvSpPr>
          <p:cNvPr id="24" name="CuadroTexto 23">
            <a:extLst>
              <a:ext uri="{FF2B5EF4-FFF2-40B4-BE49-F238E27FC236}">
                <a16:creationId xmlns:a16="http://schemas.microsoft.com/office/drawing/2014/main" id="{86D842DE-46A2-2ED1-4036-F7BA08C933C4}"/>
              </a:ext>
            </a:extLst>
          </p:cNvPr>
          <p:cNvSpPr txBox="1"/>
          <p:nvPr/>
        </p:nvSpPr>
        <p:spPr>
          <a:xfrm>
            <a:off x="3326718" y="2120584"/>
            <a:ext cx="619372" cy="153888"/>
          </a:xfrm>
          <a:prstGeom prst="rect">
            <a:avLst/>
          </a:prstGeom>
          <a:noFill/>
        </p:spPr>
        <p:txBody>
          <a:bodyPr wrap="square" lIns="0" tIns="0" rIns="0" bIns="0">
            <a:spAutoFit/>
          </a:bodyPr>
          <a:lstStyle/>
          <a:p>
            <a:pPr algn="ctr"/>
            <a:r>
              <a:rPr lang="es-PE" sz="1000">
                <a:latin typeface="Calibri" panose="020F0502020204030204" pitchFamily="34" charset="0"/>
                <a:ea typeface="Calibri" panose="020F0502020204030204" pitchFamily="34" charset="0"/>
                <a:cs typeface="Calibri" panose="020F0502020204030204" pitchFamily="34" charset="0"/>
              </a:rPr>
              <a:t>380</a:t>
            </a:r>
            <a:endParaRPr lang="es-PE" sz="1000"/>
          </a:p>
        </p:txBody>
      </p:sp>
      <p:sp>
        <p:nvSpPr>
          <p:cNvPr id="25" name="CuadroTexto 24">
            <a:extLst>
              <a:ext uri="{FF2B5EF4-FFF2-40B4-BE49-F238E27FC236}">
                <a16:creationId xmlns:a16="http://schemas.microsoft.com/office/drawing/2014/main" id="{10799A32-2C69-CDC9-BD15-34C42C6A7DCB}"/>
              </a:ext>
            </a:extLst>
          </p:cNvPr>
          <p:cNvSpPr txBox="1"/>
          <p:nvPr/>
        </p:nvSpPr>
        <p:spPr>
          <a:xfrm>
            <a:off x="4017551" y="2989271"/>
            <a:ext cx="619372" cy="153888"/>
          </a:xfrm>
          <a:prstGeom prst="rect">
            <a:avLst/>
          </a:prstGeom>
          <a:noFill/>
        </p:spPr>
        <p:txBody>
          <a:bodyPr wrap="square" lIns="0" tIns="0" rIns="0" bIns="0">
            <a:spAutoFit/>
          </a:bodyPr>
          <a:lstStyle/>
          <a:p>
            <a:pPr algn="ctr"/>
            <a:r>
              <a:rPr lang="es-PE" sz="1000">
                <a:latin typeface="Calibri" panose="020F0502020204030204" pitchFamily="34" charset="0"/>
                <a:ea typeface="Calibri" panose="020F0502020204030204" pitchFamily="34" charset="0"/>
                <a:cs typeface="Calibri" panose="020F0502020204030204" pitchFamily="34" charset="0"/>
              </a:rPr>
              <a:t>256</a:t>
            </a:r>
            <a:endParaRPr lang="es-PE" sz="1000"/>
          </a:p>
        </p:txBody>
      </p:sp>
      <p:sp>
        <p:nvSpPr>
          <p:cNvPr id="26" name="CuadroTexto 25">
            <a:extLst>
              <a:ext uri="{FF2B5EF4-FFF2-40B4-BE49-F238E27FC236}">
                <a16:creationId xmlns:a16="http://schemas.microsoft.com/office/drawing/2014/main" id="{A45F8F4B-3418-E287-E953-3D3E4B0A749E}"/>
              </a:ext>
            </a:extLst>
          </p:cNvPr>
          <p:cNvSpPr txBox="1"/>
          <p:nvPr/>
        </p:nvSpPr>
        <p:spPr>
          <a:xfrm>
            <a:off x="4676578" y="3282763"/>
            <a:ext cx="619372" cy="153888"/>
          </a:xfrm>
          <a:prstGeom prst="rect">
            <a:avLst/>
          </a:prstGeom>
          <a:noFill/>
        </p:spPr>
        <p:txBody>
          <a:bodyPr wrap="square" lIns="0" tIns="0" rIns="0" bIns="0">
            <a:spAutoFit/>
          </a:bodyPr>
          <a:lstStyle/>
          <a:p>
            <a:pPr algn="ctr"/>
            <a:r>
              <a:rPr lang="es-PE" sz="1000">
                <a:latin typeface="Calibri" panose="020F0502020204030204" pitchFamily="34" charset="0"/>
                <a:ea typeface="Calibri" panose="020F0502020204030204" pitchFamily="34" charset="0"/>
                <a:cs typeface="Calibri" panose="020F0502020204030204" pitchFamily="34" charset="0"/>
              </a:rPr>
              <a:t>212</a:t>
            </a:r>
            <a:endParaRPr lang="es-PE" sz="1000"/>
          </a:p>
        </p:txBody>
      </p:sp>
      <p:sp>
        <p:nvSpPr>
          <p:cNvPr id="27" name="CuadroTexto 26">
            <a:extLst>
              <a:ext uri="{FF2B5EF4-FFF2-40B4-BE49-F238E27FC236}">
                <a16:creationId xmlns:a16="http://schemas.microsoft.com/office/drawing/2014/main" id="{650C89EE-9ABA-14E5-F63E-DE9323FB965C}"/>
              </a:ext>
            </a:extLst>
          </p:cNvPr>
          <p:cNvSpPr txBox="1"/>
          <p:nvPr/>
        </p:nvSpPr>
        <p:spPr>
          <a:xfrm>
            <a:off x="5342054" y="3330259"/>
            <a:ext cx="619372" cy="153888"/>
          </a:xfrm>
          <a:prstGeom prst="rect">
            <a:avLst/>
          </a:prstGeom>
          <a:noFill/>
        </p:spPr>
        <p:txBody>
          <a:bodyPr wrap="square" lIns="0" tIns="0" rIns="0" bIns="0">
            <a:spAutoFit/>
          </a:bodyPr>
          <a:lstStyle/>
          <a:p>
            <a:pPr algn="ctr"/>
            <a:r>
              <a:rPr lang="es-PE" sz="1000">
                <a:latin typeface="Calibri" panose="020F0502020204030204" pitchFamily="34" charset="0"/>
                <a:ea typeface="Calibri" panose="020F0502020204030204" pitchFamily="34" charset="0"/>
                <a:cs typeface="Calibri" panose="020F0502020204030204" pitchFamily="34" charset="0"/>
              </a:rPr>
              <a:t>204</a:t>
            </a:r>
            <a:endParaRPr lang="es-PE" sz="1000"/>
          </a:p>
        </p:txBody>
      </p:sp>
      <p:sp>
        <p:nvSpPr>
          <p:cNvPr id="28" name="CuadroTexto 27">
            <a:extLst>
              <a:ext uri="{FF2B5EF4-FFF2-40B4-BE49-F238E27FC236}">
                <a16:creationId xmlns:a16="http://schemas.microsoft.com/office/drawing/2014/main" id="{8D52ECA4-571B-3243-421D-C9D3FB072F3A}"/>
              </a:ext>
            </a:extLst>
          </p:cNvPr>
          <p:cNvSpPr txBox="1"/>
          <p:nvPr/>
        </p:nvSpPr>
        <p:spPr>
          <a:xfrm>
            <a:off x="6011751" y="3452406"/>
            <a:ext cx="619372" cy="153888"/>
          </a:xfrm>
          <a:prstGeom prst="rect">
            <a:avLst/>
          </a:prstGeom>
          <a:noFill/>
        </p:spPr>
        <p:txBody>
          <a:bodyPr wrap="square" lIns="0" tIns="0" rIns="0" bIns="0">
            <a:spAutoFit/>
          </a:bodyPr>
          <a:lstStyle/>
          <a:p>
            <a:pPr algn="ctr"/>
            <a:r>
              <a:rPr lang="es-PE" sz="1000">
                <a:latin typeface="Calibri" panose="020F0502020204030204" pitchFamily="34" charset="0"/>
                <a:ea typeface="Calibri" panose="020F0502020204030204" pitchFamily="34" charset="0"/>
                <a:cs typeface="Calibri" panose="020F0502020204030204" pitchFamily="34" charset="0"/>
              </a:rPr>
              <a:t>186</a:t>
            </a:r>
            <a:endParaRPr lang="es-PE" sz="1000"/>
          </a:p>
        </p:txBody>
      </p:sp>
      <p:sp>
        <p:nvSpPr>
          <p:cNvPr id="29" name="CuadroTexto 28">
            <a:extLst>
              <a:ext uri="{FF2B5EF4-FFF2-40B4-BE49-F238E27FC236}">
                <a16:creationId xmlns:a16="http://schemas.microsoft.com/office/drawing/2014/main" id="{48BE2361-5AAB-244B-624B-3DE559EF05DF}"/>
              </a:ext>
            </a:extLst>
          </p:cNvPr>
          <p:cNvSpPr txBox="1"/>
          <p:nvPr/>
        </p:nvSpPr>
        <p:spPr>
          <a:xfrm>
            <a:off x="2621840" y="4970505"/>
            <a:ext cx="683236" cy="169277"/>
          </a:xfrm>
          <a:prstGeom prst="rect">
            <a:avLst/>
          </a:prstGeom>
          <a:noFill/>
        </p:spPr>
        <p:txBody>
          <a:bodyPr wrap="square" lIns="0" tIns="0" rIns="0" bIns="0">
            <a:spAutoFit/>
          </a:bodyPr>
          <a:lstStyle/>
          <a:p>
            <a:pPr algn="ctr"/>
            <a:r>
              <a:rPr lang="es-PE" sz="1100">
                <a:latin typeface="Calibri" panose="020F0502020204030204" pitchFamily="34" charset="0"/>
                <a:ea typeface="Calibri" panose="020F0502020204030204" pitchFamily="34" charset="0"/>
                <a:cs typeface="Calibri" panose="020F0502020204030204" pitchFamily="34" charset="0"/>
              </a:rPr>
              <a:t>Rosberg</a:t>
            </a:r>
            <a:endParaRPr lang="es-PE" sz="1100"/>
          </a:p>
        </p:txBody>
      </p:sp>
      <p:sp>
        <p:nvSpPr>
          <p:cNvPr id="30" name="CuadroTexto 29">
            <a:extLst>
              <a:ext uri="{FF2B5EF4-FFF2-40B4-BE49-F238E27FC236}">
                <a16:creationId xmlns:a16="http://schemas.microsoft.com/office/drawing/2014/main" id="{84A3D3A8-BF89-B1E4-C8D7-85B00E6D485C}"/>
              </a:ext>
            </a:extLst>
          </p:cNvPr>
          <p:cNvSpPr txBox="1"/>
          <p:nvPr/>
        </p:nvSpPr>
        <p:spPr>
          <a:xfrm>
            <a:off x="3306516" y="4970505"/>
            <a:ext cx="683236" cy="169277"/>
          </a:xfrm>
          <a:prstGeom prst="rect">
            <a:avLst/>
          </a:prstGeom>
          <a:noFill/>
        </p:spPr>
        <p:txBody>
          <a:bodyPr wrap="square" lIns="0" tIns="0" rIns="0" bIns="0">
            <a:spAutoFit/>
          </a:bodyPr>
          <a:lstStyle/>
          <a:p>
            <a:pPr algn="ctr"/>
            <a:r>
              <a:rPr lang="es-PE" sz="1100">
                <a:latin typeface="Calibri" panose="020F0502020204030204" pitchFamily="34" charset="0"/>
                <a:ea typeface="Calibri" panose="020F0502020204030204" pitchFamily="34" charset="0"/>
                <a:cs typeface="Calibri" panose="020F0502020204030204" pitchFamily="34" charset="0"/>
              </a:rPr>
              <a:t>Hamilton</a:t>
            </a:r>
            <a:endParaRPr lang="es-PE" sz="1100"/>
          </a:p>
        </p:txBody>
      </p:sp>
      <p:sp>
        <p:nvSpPr>
          <p:cNvPr id="31" name="CuadroTexto 30">
            <a:extLst>
              <a:ext uri="{FF2B5EF4-FFF2-40B4-BE49-F238E27FC236}">
                <a16:creationId xmlns:a16="http://schemas.microsoft.com/office/drawing/2014/main" id="{D82D598E-A6DF-AF20-97E9-0A610B29892A}"/>
              </a:ext>
            </a:extLst>
          </p:cNvPr>
          <p:cNvSpPr txBox="1"/>
          <p:nvPr/>
        </p:nvSpPr>
        <p:spPr>
          <a:xfrm>
            <a:off x="3983212" y="4970505"/>
            <a:ext cx="683236" cy="169277"/>
          </a:xfrm>
          <a:prstGeom prst="rect">
            <a:avLst/>
          </a:prstGeom>
          <a:noFill/>
        </p:spPr>
        <p:txBody>
          <a:bodyPr wrap="square" lIns="0" tIns="0" rIns="0" bIns="0">
            <a:spAutoFit/>
          </a:bodyPr>
          <a:lstStyle/>
          <a:p>
            <a:pPr algn="ctr"/>
            <a:r>
              <a:rPr lang="es-PE" sz="1100">
                <a:latin typeface="Calibri" panose="020F0502020204030204" pitchFamily="34" charset="0"/>
                <a:ea typeface="Calibri" panose="020F0502020204030204" pitchFamily="34" charset="0"/>
                <a:cs typeface="Calibri" panose="020F0502020204030204" pitchFamily="34" charset="0"/>
              </a:rPr>
              <a:t>Ricciardo</a:t>
            </a:r>
            <a:endParaRPr lang="es-PE" sz="1100"/>
          </a:p>
        </p:txBody>
      </p:sp>
      <p:sp>
        <p:nvSpPr>
          <p:cNvPr id="32" name="CuadroTexto 31">
            <a:extLst>
              <a:ext uri="{FF2B5EF4-FFF2-40B4-BE49-F238E27FC236}">
                <a16:creationId xmlns:a16="http://schemas.microsoft.com/office/drawing/2014/main" id="{2325206E-3AA4-962E-0443-86F90FDC9D46}"/>
              </a:ext>
            </a:extLst>
          </p:cNvPr>
          <p:cNvSpPr txBox="1"/>
          <p:nvPr/>
        </p:nvSpPr>
        <p:spPr>
          <a:xfrm>
            <a:off x="4707944" y="4970505"/>
            <a:ext cx="541150" cy="169277"/>
          </a:xfrm>
          <a:prstGeom prst="rect">
            <a:avLst/>
          </a:prstGeom>
          <a:noFill/>
        </p:spPr>
        <p:txBody>
          <a:bodyPr wrap="square" lIns="0" tIns="0" rIns="0" bIns="0">
            <a:spAutoFit/>
          </a:bodyPr>
          <a:lstStyle/>
          <a:p>
            <a:pPr algn="ctr"/>
            <a:r>
              <a:rPr lang="es-PE" sz="1100">
                <a:latin typeface="Calibri" panose="020F0502020204030204" pitchFamily="34" charset="0"/>
                <a:ea typeface="Calibri" panose="020F0502020204030204" pitchFamily="34" charset="0"/>
                <a:cs typeface="Calibri" panose="020F0502020204030204" pitchFamily="34" charset="0"/>
              </a:rPr>
              <a:t>Vettel</a:t>
            </a:r>
            <a:endParaRPr lang="es-PE" sz="1100"/>
          </a:p>
        </p:txBody>
      </p:sp>
      <p:sp>
        <p:nvSpPr>
          <p:cNvPr id="33" name="CuadroTexto 32">
            <a:extLst>
              <a:ext uri="{FF2B5EF4-FFF2-40B4-BE49-F238E27FC236}">
                <a16:creationId xmlns:a16="http://schemas.microsoft.com/office/drawing/2014/main" id="{42726B5B-A7FE-BE0F-C352-96C3BA46178E}"/>
              </a:ext>
            </a:extLst>
          </p:cNvPr>
          <p:cNvSpPr txBox="1"/>
          <p:nvPr/>
        </p:nvSpPr>
        <p:spPr>
          <a:xfrm>
            <a:off x="5317656" y="4970505"/>
            <a:ext cx="683236" cy="169277"/>
          </a:xfrm>
          <a:prstGeom prst="rect">
            <a:avLst/>
          </a:prstGeom>
          <a:noFill/>
        </p:spPr>
        <p:txBody>
          <a:bodyPr wrap="square" lIns="0" tIns="0" rIns="0" bIns="0">
            <a:spAutoFit/>
          </a:bodyPr>
          <a:lstStyle/>
          <a:p>
            <a:pPr algn="ctr"/>
            <a:r>
              <a:rPr lang="es-PE" sz="1100">
                <a:latin typeface="Calibri" panose="020F0502020204030204" pitchFamily="34" charset="0"/>
                <a:ea typeface="Calibri" panose="020F0502020204030204" pitchFamily="34" charset="0"/>
                <a:cs typeface="Calibri" panose="020F0502020204030204" pitchFamily="34" charset="0"/>
              </a:rPr>
              <a:t>Verstappen</a:t>
            </a:r>
            <a:endParaRPr lang="es-PE" sz="1100"/>
          </a:p>
        </p:txBody>
      </p:sp>
      <p:sp>
        <p:nvSpPr>
          <p:cNvPr id="34" name="CuadroTexto 33">
            <a:extLst>
              <a:ext uri="{FF2B5EF4-FFF2-40B4-BE49-F238E27FC236}">
                <a16:creationId xmlns:a16="http://schemas.microsoft.com/office/drawing/2014/main" id="{6C1F1417-6F2A-5F13-9595-B1C4B031044E}"/>
              </a:ext>
            </a:extLst>
          </p:cNvPr>
          <p:cNvSpPr txBox="1"/>
          <p:nvPr/>
        </p:nvSpPr>
        <p:spPr>
          <a:xfrm>
            <a:off x="6000892" y="4970505"/>
            <a:ext cx="683236" cy="169277"/>
          </a:xfrm>
          <a:prstGeom prst="rect">
            <a:avLst/>
          </a:prstGeom>
          <a:noFill/>
        </p:spPr>
        <p:txBody>
          <a:bodyPr wrap="square" lIns="0" tIns="0" rIns="0" bIns="0">
            <a:spAutoFit/>
          </a:bodyPr>
          <a:lstStyle/>
          <a:p>
            <a:pPr algn="ctr"/>
            <a:r>
              <a:rPr lang="es-PE" sz="1100">
                <a:latin typeface="Calibri" panose="020F0502020204030204" pitchFamily="34" charset="0"/>
                <a:ea typeface="Calibri" panose="020F0502020204030204" pitchFamily="34" charset="0"/>
                <a:cs typeface="Calibri" panose="020F0502020204030204" pitchFamily="34" charset="0"/>
              </a:rPr>
              <a:t>Raikkonen</a:t>
            </a:r>
            <a:endParaRPr lang="es-PE" sz="1100"/>
          </a:p>
        </p:txBody>
      </p:sp>
      <p:sp>
        <p:nvSpPr>
          <p:cNvPr id="35" name="CuadroTexto 34">
            <a:extLst>
              <a:ext uri="{FF2B5EF4-FFF2-40B4-BE49-F238E27FC236}">
                <a16:creationId xmlns:a16="http://schemas.microsoft.com/office/drawing/2014/main" id="{0521C192-2479-045E-CE08-03C2483DC0F3}"/>
              </a:ext>
            </a:extLst>
          </p:cNvPr>
          <p:cNvSpPr txBox="1"/>
          <p:nvPr/>
        </p:nvSpPr>
        <p:spPr>
          <a:xfrm>
            <a:off x="4279111" y="5124369"/>
            <a:ext cx="756784" cy="138499"/>
          </a:xfrm>
          <a:prstGeom prst="rect">
            <a:avLst/>
          </a:prstGeom>
          <a:noFill/>
        </p:spPr>
        <p:txBody>
          <a:bodyPr wrap="square" lIns="0" tIns="0" rIns="0" bIns="0">
            <a:spAutoFit/>
          </a:bodyPr>
          <a:lstStyle/>
          <a:p>
            <a:pPr algn="ctr"/>
            <a:r>
              <a:rPr lang="es-PE" sz="900">
                <a:latin typeface="Calibri" panose="020F0502020204030204" pitchFamily="34" charset="0"/>
                <a:ea typeface="Calibri" panose="020F0502020204030204" pitchFamily="34" charset="0"/>
                <a:cs typeface="Calibri" panose="020F0502020204030204" pitchFamily="34" charset="0"/>
              </a:rPr>
              <a:t>ApePiloto</a:t>
            </a:r>
            <a:endParaRPr lang="es-PE" sz="900"/>
          </a:p>
        </p:txBody>
      </p:sp>
      <p:sp>
        <p:nvSpPr>
          <p:cNvPr id="37" name="Rectángulo 36">
            <a:extLst>
              <a:ext uri="{FF2B5EF4-FFF2-40B4-BE49-F238E27FC236}">
                <a16:creationId xmlns:a16="http://schemas.microsoft.com/office/drawing/2014/main" id="{2D728129-4CC9-6BB3-01EA-7EE7BC283077}"/>
              </a:ext>
            </a:extLst>
          </p:cNvPr>
          <p:cNvSpPr/>
          <p:nvPr/>
        </p:nvSpPr>
        <p:spPr>
          <a:xfrm>
            <a:off x="2700670" y="2236744"/>
            <a:ext cx="525660" cy="2723360"/>
          </a:xfrm>
          <a:prstGeom prst="rect">
            <a:avLst/>
          </a:prstGeom>
          <a:solidFill>
            <a:srgbClr val="00B2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38" name="Rectángulo 37">
            <a:extLst>
              <a:ext uri="{FF2B5EF4-FFF2-40B4-BE49-F238E27FC236}">
                <a16:creationId xmlns:a16="http://schemas.microsoft.com/office/drawing/2014/main" id="{58BCF638-D939-DF87-BA49-F9607A113E55}"/>
              </a:ext>
            </a:extLst>
          </p:cNvPr>
          <p:cNvSpPr/>
          <p:nvPr/>
        </p:nvSpPr>
        <p:spPr>
          <a:xfrm>
            <a:off x="3376772" y="2295376"/>
            <a:ext cx="525660" cy="2664727"/>
          </a:xfrm>
          <a:prstGeom prst="rect">
            <a:avLst/>
          </a:prstGeom>
          <a:solidFill>
            <a:srgbClr val="00B2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39" name="Rectángulo 38">
            <a:extLst>
              <a:ext uri="{FF2B5EF4-FFF2-40B4-BE49-F238E27FC236}">
                <a16:creationId xmlns:a16="http://schemas.microsoft.com/office/drawing/2014/main" id="{D865321A-E8BF-2BD9-99ED-16B87FDAD757}"/>
              </a:ext>
            </a:extLst>
          </p:cNvPr>
          <p:cNvSpPr/>
          <p:nvPr/>
        </p:nvSpPr>
        <p:spPr>
          <a:xfrm>
            <a:off x="4052874" y="3153561"/>
            <a:ext cx="525660" cy="1806542"/>
          </a:xfrm>
          <a:prstGeom prst="rect">
            <a:avLst/>
          </a:prstGeom>
          <a:solidFill>
            <a:srgbClr val="00B2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40" name="Rectángulo 39">
            <a:extLst>
              <a:ext uri="{FF2B5EF4-FFF2-40B4-BE49-F238E27FC236}">
                <a16:creationId xmlns:a16="http://schemas.microsoft.com/office/drawing/2014/main" id="{E579241E-5291-25BD-D1CD-28700AB4F35F}"/>
              </a:ext>
            </a:extLst>
          </p:cNvPr>
          <p:cNvSpPr/>
          <p:nvPr/>
        </p:nvSpPr>
        <p:spPr>
          <a:xfrm>
            <a:off x="4723434" y="3473311"/>
            <a:ext cx="525660" cy="1486792"/>
          </a:xfrm>
          <a:prstGeom prst="rect">
            <a:avLst/>
          </a:prstGeom>
          <a:solidFill>
            <a:srgbClr val="00B2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41" name="Rectángulo 40">
            <a:extLst>
              <a:ext uri="{FF2B5EF4-FFF2-40B4-BE49-F238E27FC236}">
                <a16:creationId xmlns:a16="http://schemas.microsoft.com/office/drawing/2014/main" id="{00CDE770-89FA-A118-5439-F37FD7CFAD32}"/>
              </a:ext>
            </a:extLst>
          </p:cNvPr>
          <p:cNvSpPr/>
          <p:nvPr/>
        </p:nvSpPr>
        <p:spPr>
          <a:xfrm>
            <a:off x="5399536" y="3527425"/>
            <a:ext cx="525660" cy="1432677"/>
          </a:xfrm>
          <a:prstGeom prst="rect">
            <a:avLst/>
          </a:prstGeom>
          <a:solidFill>
            <a:srgbClr val="00B2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42" name="Rectángulo 41">
            <a:extLst>
              <a:ext uri="{FF2B5EF4-FFF2-40B4-BE49-F238E27FC236}">
                <a16:creationId xmlns:a16="http://schemas.microsoft.com/office/drawing/2014/main" id="{76461E44-3B76-5AD7-C925-2ADD9D2DF3F9}"/>
              </a:ext>
            </a:extLst>
          </p:cNvPr>
          <p:cNvSpPr/>
          <p:nvPr/>
        </p:nvSpPr>
        <p:spPr>
          <a:xfrm>
            <a:off x="6069461" y="3654425"/>
            <a:ext cx="525660" cy="1305677"/>
          </a:xfrm>
          <a:prstGeom prst="rect">
            <a:avLst/>
          </a:prstGeom>
          <a:solidFill>
            <a:srgbClr val="00B2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43" name="CuadroTexto 42">
            <a:extLst>
              <a:ext uri="{FF2B5EF4-FFF2-40B4-BE49-F238E27FC236}">
                <a16:creationId xmlns:a16="http://schemas.microsoft.com/office/drawing/2014/main" id="{B79A3F24-0D56-F0C7-6366-8F0EE7365E6F}"/>
              </a:ext>
            </a:extLst>
          </p:cNvPr>
          <p:cNvSpPr txBox="1"/>
          <p:nvPr/>
        </p:nvSpPr>
        <p:spPr>
          <a:xfrm>
            <a:off x="1787402" y="2082855"/>
            <a:ext cx="619372" cy="153888"/>
          </a:xfrm>
          <a:prstGeom prst="rect">
            <a:avLst/>
          </a:prstGeom>
          <a:noFill/>
        </p:spPr>
        <p:txBody>
          <a:bodyPr wrap="square" lIns="0" tIns="0" rIns="0" bIns="0">
            <a:spAutoFit/>
          </a:bodyPr>
          <a:lstStyle/>
          <a:p>
            <a:pPr algn="r"/>
            <a:r>
              <a:rPr lang="es-PE" sz="1000">
                <a:latin typeface="Calibri" panose="020F0502020204030204" pitchFamily="34" charset="0"/>
                <a:ea typeface="Calibri" panose="020F0502020204030204" pitchFamily="34" charset="0"/>
                <a:cs typeface="Calibri" panose="020F0502020204030204" pitchFamily="34" charset="0"/>
              </a:rPr>
              <a:t>400</a:t>
            </a:r>
            <a:endParaRPr lang="es-PE" sz="1000"/>
          </a:p>
        </p:txBody>
      </p:sp>
      <p:sp>
        <p:nvSpPr>
          <p:cNvPr id="44" name="CuadroTexto 43">
            <a:extLst>
              <a:ext uri="{FF2B5EF4-FFF2-40B4-BE49-F238E27FC236}">
                <a16:creationId xmlns:a16="http://schemas.microsoft.com/office/drawing/2014/main" id="{607945DD-7C88-9133-183D-9E3E55AC5B4C}"/>
              </a:ext>
            </a:extLst>
          </p:cNvPr>
          <p:cNvSpPr txBox="1"/>
          <p:nvPr/>
        </p:nvSpPr>
        <p:spPr>
          <a:xfrm>
            <a:off x="1787402" y="2427629"/>
            <a:ext cx="619372" cy="153888"/>
          </a:xfrm>
          <a:prstGeom prst="rect">
            <a:avLst/>
          </a:prstGeom>
          <a:noFill/>
        </p:spPr>
        <p:txBody>
          <a:bodyPr wrap="square" lIns="0" tIns="0" rIns="0" bIns="0">
            <a:spAutoFit/>
          </a:bodyPr>
          <a:lstStyle/>
          <a:p>
            <a:pPr algn="r"/>
            <a:r>
              <a:rPr lang="es-PE" sz="1000">
                <a:latin typeface="Calibri" panose="020F0502020204030204" pitchFamily="34" charset="0"/>
                <a:ea typeface="Calibri" panose="020F0502020204030204" pitchFamily="34" charset="0"/>
                <a:cs typeface="Calibri" panose="020F0502020204030204" pitchFamily="34" charset="0"/>
              </a:rPr>
              <a:t>350</a:t>
            </a:r>
            <a:endParaRPr lang="es-PE" sz="1000"/>
          </a:p>
        </p:txBody>
      </p:sp>
      <p:sp>
        <p:nvSpPr>
          <p:cNvPr id="45" name="CuadroTexto 44">
            <a:extLst>
              <a:ext uri="{FF2B5EF4-FFF2-40B4-BE49-F238E27FC236}">
                <a16:creationId xmlns:a16="http://schemas.microsoft.com/office/drawing/2014/main" id="{177CC2AC-4100-CAD9-D69B-DEB903C96DEE}"/>
              </a:ext>
            </a:extLst>
          </p:cNvPr>
          <p:cNvSpPr txBox="1"/>
          <p:nvPr/>
        </p:nvSpPr>
        <p:spPr>
          <a:xfrm>
            <a:off x="1787402" y="2757412"/>
            <a:ext cx="619372" cy="153888"/>
          </a:xfrm>
          <a:prstGeom prst="rect">
            <a:avLst/>
          </a:prstGeom>
          <a:noFill/>
        </p:spPr>
        <p:txBody>
          <a:bodyPr wrap="square" lIns="0" tIns="0" rIns="0" bIns="0">
            <a:spAutoFit/>
          </a:bodyPr>
          <a:lstStyle/>
          <a:p>
            <a:pPr algn="r"/>
            <a:r>
              <a:rPr lang="es-PE" sz="1000">
                <a:latin typeface="Calibri" panose="020F0502020204030204" pitchFamily="34" charset="0"/>
                <a:ea typeface="Calibri" panose="020F0502020204030204" pitchFamily="34" charset="0"/>
                <a:cs typeface="Calibri" panose="020F0502020204030204" pitchFamily="34" charset="0"/>
              </a:rPr>
              <a:t>300</a:t>
            </a:r>
            <a:endParaRPr lang="es-PE" sz="1000"/>
          </a:p>
        </p:txBody>
      </p:sp>
      <p:sp>
        <p:nvSpPr>
          <p:cNvPr id="46" name="CuadroTexto 45">
            <a:extLst>
              <a:ext uri="{FF2B5EF4-FFF2-40B4-BE49-F238E27FC236}">
                <a16:creationId xmlns:a16="http://schemas.microsoft.com/office/drawing/2014/main" id="{424CDB06-3677-A7BB-41FC-92CF39F8C528}"/>
              </a:ext>
            </a:extLst>
          </p:cNvPr>
          <p:cNvSpPr txBox="1"/>
          <p:nvPr/>
        </p:nvSpPr>
        <p:spPr>
          <a:xfrm>
            <a:off x="1787402" y="3102186"/>
            <a:ext cx="619372" cy="153888"/>
          </a:xfrm>
          <a:prstGeom prst="rect">
            <a:avLst/>
          </a:prstGeom>
          <a:noFill/>
        </p:spPr>
        <p:txBody>
          <a:bodyPr wrap="square" lIns="0" tIns="0" rIns="0" bIns="0">
            <a:spAutoFit/>
          </a:bodyPr>
          <a:lstStyle/>
          <a:p>
            <a:pPr algn="r"/>
            <a:r>
              <a:rPr lang="es-PE" sz="1000">
                <a:latin typeface="Calibri" panose="020F0502020204030204" pitchFamily="34" charset="0"/>
                <a:ea typeface="Calibri" panose="020F0502020204030204" pitchFamily="34" charset="0"/>
                <a:cs typeface="Calibri" panose="020F0502020204030204" pitchFamily="34" charset="0"/>
              </a:rPr>
              <a:t>250</a:t>
            </a:r>
            <a:endParaRPr lang="es-PE" sz="1000"/>
          </a:p>
        </p:txBody>
      </p:sp>
      <p:sp>
        <p:nvSpPr>
          <p:cNvPr id="47" name="CuadroTexto 46">
            <a:extLst>
              <a:ext uri="{FF2B5EF4-FFF2-40B4-BE49-F238E27FC236}">
                <a16:creationId xmlns:a16="http://schemas.microsoft.com/office/drawing/2014/main" id="{2C27940E-9694-C62E-C538-DF362AF266A8}"/>
              </a:ext>
            </a:extLst>
          </p:cNvPr>
          <p:cNvSpPr txBox="1"/>
          <p:nvPr/>
        </p:nvSpPr>
        <p:spPr>
          <a:xfrm>
            <a:off x="1787402" y="3439465"/>
            <a:ext cx="619372" cy="153888"/>
          </a:xfrm>
          <a:prstGeom prst="rect">
            <a:avLst/>
          </a:prstGeom>
          <a:noFill/>
        </p:spPr>
        <p:txBody>
          <a:bodyPr wrap="square" lIns="0" tIns="0" rIns="0" bIns="0">
            <a:spAutoFit/>
          </a:bodyPr>
          <a:lstStyle/>
          <a:p>
            <a:pPr algn="r"/>
            <a:r>
              <a:rPr lang="es-PE" sz="1000">
                <a:latin typeface="Calibri" panose="020F0502020204030204" pitchFamily="34" charset="0"/>
                <a:ea typeface="Calibri" panose="020F0502020204030204" pitchFamily="34" charset="0"/>
                <a:cs typeface="Calibri" panose="020F0502020204030204" pitchFamily="34" charset="0"/>
              </a:rPr>
              <a:t>200</a:t>
            </a:r>
            <a:endParaRPr lang="es-PE" sz="1000"/>
          </a:p>
        </p:txBody>
      </p:sp>
      <p:sp>
        <p:nvSpPr>
          <p:cNvPr id="48" name="CuadroTexto 47">
            <a:extLst>
              <a:ext uri="{FF2B5EF4-FFF2-40B4-BE49-F238E27FC236}">
                <a16:creationId xmlns:a16="http://schemas.microsoft.com/office/drawing/2014/main" id="{EF743984-BD9A-1F68-8903-2BEE4EFF88EC}"/>
              </a:ext>
            </a:extLst>
          </p:cNvPr>
          <p:cNvSpPr txBox="1"/>
          <p:nvPr/>
        </p:nvSpPr>
        <p:spPr>
          <a:xfrm>
            <a:off x="1787402" y="3791733"/>
            <a:ext cx="619372" cy="153888"/>
          </a:xfrm>
          <a:prstGeom prst="rect">
            <a:avLst/>
          </a:prstGeom>
          <a:noFill/>
        </p:spPr>
        <p:txBody>
          <a:bodyPr wrap="square" lIns="0" tIns="0" rIns="0" bIns="0">
            <a:spAutoFit/>
          </a:bodyPr>
          <a:lstStyle/>
          <a:p>
            <a:pPr algn="r"/>
            <a:r>
              <a:rPr lang="es-PE" sz="1000">
                <a:latin typeface="Calibri" panose="020F0502020204030204" pitchFamily="34" charset="0"/>
                <a:ea typeface="Calibri" panose="020F0502020204030204" pitchFamily="34" charset="0"/>
                <a:cs typeface="Calibri" panose="020F0502020204030204" pitchFamily="34" charset="0"/>
              </a:rPr>
              <a:t>150</a:t>
            </a:r>
            <a:endParaRPr lang="es-PE" sz="1000"/>
          </a:p>
        </p:txBody>
      </p:sp>
      <p:sp>
        <p:nvSpPr>
          <p:cNvPr id="49" name="CuadroTexto 48">
            <a:extLst>
              <a:ext uri="{FF2B5EF4-FFF2-40B4-BE49-F238E27FC236}">
                <a16:creationId xmlns:a16="http://schemas.microsoft.com/office/drawing/2014/main" id="{526E29D8-5779-8A33-020A-4F69E8E31FA6}"/>
              </a:ext>
            </a:extLst>
          </p:cNvPr>
          <p:cNvSpPr txBox="1"/>
          <p:nvPr/>
        </p:nvSpPr>
        <p:spPr>
          <a:xfrm>
            <a:off x="1787402" y="4136506"/>
            <a:ext cx="619372" cy="153888"/>
          </a:xfrm>
          <a:prstGeom prst="rect">
            <a:avLst/>
          </a:prstGeom>
          <a:noFill/>
        </p:spPr>
        <p:txBody>
          <a:bodyPr wrap="square" lIns="0" tIns="0" rIns="0" bIns="0">
            <a:spAutoFit/>
          </a:bodyPr>
          <a:lstStyle/>
          <a:p>
            <a:pPr algn="r"/>
            <a:r>
              <a:rPr lang="es-PE" sz="1000">
                <a:latin typeface="Calibri" panose="020F0502020204030204" pitchFamily="34" charset="0"/>
                <a:ea typeface="Calibri" panose="020F0502020204030204" pitchFamily="34" charset="0"/>
                <a:cs typeface="Calibri" panose="020F0502020204030204" pitchFamily="34" charset="0"/>
              </a:rPr>
              <a:t>100</a:t>
            </a:r>
            <a:endParaRPr lang="es-PE" sz="1000"/>
          </a:p>
        </p:txBody>
      </p:sp>
      <p:sp>
        <p:nvSpPr>
          <p:cNvPr id="50" name="CuadroTexto 49">
            <a:extLst>
              <a:ext uri="{FF2B5EF4-FFF2-40B4-BE49-F238E27FC236}">
                <a16:creationId xmlns:a16="http://schemas.microsoft.com/office/drawing/2014/main" id="{56BE1AF7-00BE-393D-8E6D-0A727A0D057B}"/>
              </a:ext>
            </a:extLst>
          </p:cNvPr>
          <p:cNvSpPr txBox="1"/>
          <p:nvPr/>
        </p:nvSpPr>
        <p:spPr>
          <a:xfrm>
            <a:off x="1787402" y="4481280"/>
            <a:ext cx="619372" cy="153888"/>
          </a:xfrm>
          <a:prstGeom prst="rect">
            <a:avLst/>
          </a:prstGeom>
          <a:noFill/>
        </p:spPr>
        <p:txBody>
          <a:bodyPr wrap="square" lIns="0" tIns="0" rIns="0" bIns="0">
            <a:spAutoFit/>
          </a:bodyPr>
          <a:lstStyle/>
          <a:p>
            <a:pPr algn="r"/>
            <a:r>
              <a:rPr lang="es-PE" sz="1000">
                <a:latin typeface="Calibri" panose="020F0502020204030204" pitchFamily="34" charset="0"/>
                <a:ea typeface="Calibri" panose="020F0502020204030204" pitchFamily="34" charset="0"/>
                <a:cs typeface="Calibri" panose="020F0502020204030204" pitchFamily="34" charset="0"/>
              </a:rPr>
              <a:t>50</a:t>
            </a:r>
            <a:endParaRPr lang="es-PE" sz="1000"/>
          </a:p>
        </p:txBody>
      </p:sp>
      <p:sp>
        <p:nvSpPr>
          <p:cNvPr id="51" name="CuadroTexto 50">
            <a:extLst>
              <a:ext uri="{FF2B5EF4-FFF2-40B4-BE49-F238E27FC236}">
                <a16:creationId xmlns:a16="http://schemas.microsoft.com/office/drawing/2014/main" id="{33BD6B92-2359-A671-F1C7-A1D34E73FA83}"/>
              </a:ext>
            </a:extLst>
          </p:cNvPr>
          <p:cNvSpPr txBox="1"/>
          <p:nvPr/>
        </p:nvSpPr>
        <p:spPr>
          <a:xfrm>
            <a:off x="1787402" y="4833549"/>
            <a:ext cx="619372" cy="153888"/>
          </a:xfrm>
          <a:prstGeom prst="rect">
            <a:avLst/>
          </a:prstGeom>
          <a:noFill/>
        </p:spPr>
        <p:txBody>
          <a:bodyPr wrap="square" lIns="0" tIns="0" rIns="0" bIns="0">
            <a:spAutoFit/>
          </a:bodyPr>
          <a:lstStyle/>
          <a:p>
            <a:pPr algn="r"/>
            <a:r>
              <a:rPr lang="es-PE" sz="1000">
                <a:latin typeface="Calibri" panose="020F0502020204030204" pitchFamily="34" charset="0"/>
                <a:ea typeface="Calibri" panose="020F0502020204030204" pitchFamily="34" charset="0"/>
                <a:cs typeface="Calibri" panose="020F0502020204030204" pitchFamily="34" charset="0"/>
              </a:rPr>
              <a:t>0</a:t>
            </a:r>
            <a:endParaRPr lang="es-PE" sz="1000"/>
          </a:p>
        </p:txBody>
      </p:sp>
      <p:sp>
        <p:nvSpPr>
          <p:cNvPr id="52" name="CuadroTexto 51">
            <a:extLst>
              <a:ext uri="{FF2B5EF4-FFF2-40B4-BE49-F238E27FC236}">
                <a16:creationId xmlns:a16="http://schemas.microsoft.com/office/drawing/2014/main" id="{8115016F-036F-88AB-EE89-8DD0EB1685CF}"/>
              </a:ext>
            </a:extLst>
          </p:cNvPr>
          <p:cNvSpPr txBox="1"/>
          <p:nvPr/>
        </p:nvSpPr>
        <p:spPr>
          <a:xfrm rot="16200000">
            <a:off x="1725847" y="3488700"/>
            <a:ext cx="619372" cy="123111"/>
          </a:xfrm>
          <a:prstGeom prst="rect">
            <a:avLst/>
          </a:prstGeom>
          <a:noFill/>
        </p:spPr>
        <p:txBody>
          <a:bodyPr wrap="square" lIns="0" tIns="0" rIns="0" bIns="0">
            <a:spAutoFit/>
          </a:bodyPr>
          <a:lstStyle/>
          <a:p>
            <a:pPr algn="ctr"/>
            <a:r>
              <a:rPr lang="es-PE" sz="800">
                <a:latin typeface="Calibri" panose="020F0502020204030204" pitchFamily="34" charset="0"/>
                <a:ea typeface="Calibri" panose="020F0502020204030204" pitchFamily="34" charset="0"/>
                <a:cs typeface="Calibri" panose="020F0502020204030204" pitchFamily="34" charset="0"/>
              </a:rPr>
              <a:t>Puntos</a:t>
            </a:r>
            <a:endParaRPr lang="es-PE" sz="800"/>
          </a:p>
        </p:txBody>
      </p:sp>
      <p:sp>
        <p:nvSpPr>
          <p:cNvPr id="54" name="CuadroTexto 53">
            <a:extLst>
              <a:ext uri="{FF2B5EF4-FFF2-40B4-BE49-F238E27FC236}">
                <a16:creationId xmlns:a16="http://schemas.microsoft.com/office/drawing/2014/main" id="{85808814-5A96-5616-6460-59DAFEAEC815}"/>
              </a:ext>
            </a:extLst>
          </p:cNvPr>
          <p:cNvSpPr txBox="1"/>
          <p:nvPr/>
        </p:nvSpPr>
        <p:spPr>
          <a:xfrm>
            <a:off x="6022605" y="2450174"/>
            <a:ext cx="619372" cy="153888"/>
          </a:xfrm>
          <a:prstGeom prst="rect">
            <a:avLst/>
          </a:prstGeom>
          <a:noFill/>
        </p:spPr>
        <p:txBody>
          <a:bodyPr wrap="square" lIns="0" tIns="0" rIns="0" bIns="0">
            <a:spAutoFit/>
          </a:bodyPr>
          <a:lstStyle/>
          <a:p>
            <a:pPr algn="ctr"/>
            <a:r>
              <a:rPr lang="es-PE" sz="1000">
                <a:latin typeface="Calibri" panose="020F0502020204030204" pitchFamily="34" charset="0"/>
                <a:ea typeface="Calibri" panose="020F0502020204030204" pitchFamily="34" charset="0"/>
                <a:cs typeface="Calibri" panose="020F0502020204030204" pitchFamily="34" charset="0"/>
              </a:rPr>
              <a:t>242.45</a:t>
            </a:r>
            <a:endParaRPr lang="es-PE" sz="1000"/>
          </a:p>
        </p:txBody>
      </p:sp>
      <p:sp>
        <p:nvSpPr>
          <p:cNvPr id="55" name="CuadroTexto 54">
            <a:extLst>
              <a:ext uri="{FF2B5EF4-FFF2-40B4-BE49-F238E27FC236}">
                <a16:creationId xmlns:a16="http://schemas.microsoft.com/office/drawing/2014/main" id="{30DB8BCA-EB42-4892-BA24-9B719C637AF8}"/>
              </a:ext>
            </a:extLst>
          </p:cNvPr>
          <p:cNvSpPr txBox="1"/>
          <p:nvPr/>
        </p:nvSpPr>
        <p:spPr>
          <a:xfrm>
            <a:off x="6706024" y="4895799"/>
            <a:ext cx="619372" cy="123111"/>
          </a:xfrm>
          <a:prstGeom prst="rect">
            <a:avLst/>
          </a:prstGeom>
          <a:noFill/>
        </p:spPr>
        <p:txBody>
          <a:bodyPr wrap="square" lIns="0" tIns="0" rIns="0" bIns="0">
            <a:spAutoFit/>
          </a:bodyPr>
          <a:lstStyle/>
          <a:p>
            <a:pPr algn="ctr"/>
            <a:r>
              <a:rPr lang="es-PE" sz="800">
                <a:latin typeface="Calibri" panose="020F0502020204030204" pitchFamily="34" charset="0"/>
                <a:ea typeface="Calibri" panose="020F0502020204030204" pitchFamily="34" charset="0"/>
                <a:cs typeface="Calibri" panose="020F0502020204030204" pitchFamily="34" charset="0"/>
              </a:rPr>
              <a:t>2408</a:t>
            </a:r>
            <a:endParaRPr lang="es-PE" sz="800"/>
          </a:p>
        </p:txBody>
      </p:sp>
      <p:sp>
        <p:nvSpPr>
          <p:cNvPr id="56" name="CuadroTexto 55">
            <a:extLst>
              <a:ext uri="{FF2B5EF4-FFF2-40B4-BE49-F238E27FC236}">
                <a16:creationId xmlns:a16="http://schemas.microsoft.com/office/drawing/2014/main" id="{7793FF49-7D94-C4DB-DBA3-04DC1E0279F1}"/>
              </a:ext>
            </a:extLst>
          </p:cNvPr>
          <p:cNvSpPr txBox="1"/>
          <p:nvPr/>
        </p:nvSpPr>
        <p:spPr>
          <a:xfrm>
            <a:off x="6706024" y="4607932"/>
            <a:ext cx="619372" cy="123111"/>
          </a:xfrm>
          <a:prstGeom prst="rect">
            <a:avLst/>
          </a:prstGeom>
          <a:noFill/>
        </p:spPr>
        <p:txBody>
          <a:bodyPr wrap="square" lIns="0" tIns="0" rIns="0" bIns="0">
            <a:spAutoFit/>
          </a:bodyPr>
          <a:lstStyle/>
          <a:p>
            <a:pPr algn="ctr"/>
            <a:r>
              <a:rPr lang="es-PE" sz="800">
                <a:latin typeface="Calibri" panose="020F0502020204030204" pitchFamily="34" charset="0"/>
                <a:ea typeface="Calibri" panose="020F0502020204030204" pitchFamily="34" charset="0"/>
                <a:cs typeface="Calibri" panose="020F0502020204030204" pitchFamily="34" charset="0"/>
              </a:rPr>
              <a:t>2410</a:t>
            </a:r>
            <a:endParaRPr lang="es-PE" sz="800"/>
          </a:p>
        </p:txBody>
      </p:sp>
      <p:sp>
        <p:nvSpPr>
          <p:cNvPr id="57" name="CuadroTexto 56">
            <a:extLst>
              <a:ext uri="{FF2B5EF4-FFF2-40B4-BE49-F238E27FC236}">
                <a16:creationId xmlns:a16="http://schemas.microsoft.com/office/drawing/2014/main" id="{CCEDB2BE-BE27-0153-61C6-F8A91C2DAEB5}"/>
              </a:ext>
            </a:extLst>
          </p:cNvPr>
          <p:cNvSpPr txBox="1"/>
          <p:nvPr/>
        </p:nvSpPr>
        <p:spPr>
          <a:xfrm>
            <a:off x="6706024" y="4328532"/>
            <a:ext cx="619372" cy="123111"/>
          </a:xfrm>
          <a:prstGeom prst="rect">
            <a:avLst/>
          </a:prstGeom>
          <a:noFill/>
        </p:spPr>
        <p:txBody>
          <a:bodyPr wrap="square" lIns="0" tIns="0" rIns="0" bIns="0">
            <a:spAutoFit/>
          </a:bodyPr>
          <a:lstStyle/>
          <a:p>
            <a:pPr algn="ctr"/>
            <a:r>
              <a:rPr lang="es-PE" sz="800">
                <a:latin typeface="Calibri" panose="020F0502020204030204" pitchFamily="34" charset="0"/>
                <a:ea typeface="Calibri" panose="020F0502020204030204" pitchFamily="34" charset="0"/>
                <a:cs typeface="Calibri" panose="020F0502020204030204" pitchFamily="34" charset="0"/>
              </a:rPr>
              <a:t>2412</a:t>
            </a:r>
            <a:endParaRPr lang="es-PE" sz="800"/>
          </a:p>
        </p:txBody>
      </p:sp>
      <p:sp>
        <p:nvSpPr>
          <p:cNvPr id="58" name="CuadroTexto 57">
            <a:extLst>
              <a:ext uri="{FF2B5EF4-FFF2-40B4-BE49-F238E27FC236}">
                <a16:creationId xmlns:a16="http://schemas.microsoft.com/office/drawing/2014/main" id="{BB1C55BF-FCDC-C1F4-18FD-946697B8705E}"/>
              </a:ext>
            </a:extLst>
          </p:cNvPr>
          <p:cNvSpPr txBox="1"/>
          <p:nvPr/>
        </p:nvSpPr>
        <p:spPr>
          <a:xfrm>
            <a:off x="6706024" y="4053366"/>
            <a:ext cx="619372" cy="123111"/>
          </a:xfrm>
          <a:prstGeom prst="rect">
            <a:avLst/>
          </a:prstGeom>
          <a:noFill/>
        </p:spPr>
        <p:txBody>
          <a:bodyPr wrap="square" lIns="0" tIns="0" rIns="0" bIns="0">
            <a:spAutoFit/>
          </a:bodyPr>
          <a:lstStyle/>
          <a:p>
            <a:pPr algn="ctr"/>
            <a:r>
              <a:rPr lang="es-PE" sz="800">
                <a:latin typeface="Calibri" panose="020F0502020204030204" pitchFamily="34" charset="0"/>
                <a:ea typeface="Calibri" panose="020F0502020204030204" pitchFamily="34" charset="0"/>
                <a:cs typeface="Calibri" panose="020F0502020204030204" pitchFamily="34" charset="0"/>
              </a:rPr>
              <a:t>2414</a:t>
            </a:r>
            <a:endParaRPr lang="es-PE" sz="800"/>
          </a:p>
        </p:txBody>
      </p:sp>
      <p:sp>
        <p:nvSpPr>
          <p:cNvPr id="59" name="CuadroTexto 58">
            <a:extLst>
              <a:ext uri="{FF2B5EF4-FFF2-40B4-BE49-F238E27FC236}">
                <a16:creationId xmlns:a16="http://schemas.microsoft.com/office/drawing/2014/main" id="{4A459FE7-0813-9441-F6E1-7FB4BFE414F9}"/>
              </a:ext>
            </a:extLst>
          </p:cNvPr>
          <p:cNvSpPr txBox="1"/>
          <p:nvPr/>
        </p:nvSpPr>
        <p:spPr>
          <a:xfrm>
            <a:off x="6706024" y="3769733"/>
            <a:ext cx="619372" cy="123111"/>
          </a:xfrm>
          <a:prstGeom prst="rect">
            <a:avLst/>
          </a:prstGeom>
          <a:noFill/>
        </p:spPr>
        <p:txBody>
          <a:bodyPr wrap="square" lIns="0" tIns="0" rIns="0" bIns="0">
            <a:spAutoFit/>
          </a:bodyPr>
          <a:lstStyle/>
          <a:p>
            <a:pPr algn="ctr"/>
            <a:r>
              <a:rPr lang="es-PE" sz="800">
                <a:latin typeface="Calibri" panose="020F0502020204030204" pitchFamily="34" charset="0"/>
                <a:ea typeface="Calibri" panose="020F0502020204030204" pitchFamily="34" charset="0"/>
                <a:cs typeface="Calibri" panose="020F0502020204030204" pitchFamily="34" charset="0"/>
              </a:rPr>
              <a:t>2416</a:t>
            </a:r>
            <a:endParaRPr lang="es-PE" sz="800"/>
          </a:p>
        </p:txBody>
      </p:sp>
      <p:sp>
        <p:nvSpPr>
          <p:cNvPr id="60" name="CuadroTexto 59">
            <a:extLst>
              <a:ext uri="{FF2B5EF4-FFF2-40B4-BE49-F238E27FC236}">
                <a16:creationId xmlns:a16="http://schemas.microsoft.com/office/drawing/2014/main" id="{F1E7AFAE-814A-D4C8-866D-0F19E73E304A}"/>
              </a:ext>
            </a:extLst>
          </p:cNvPr>
          <p:cNvSpPr txBox="1"/>
          <p:nvPr/>
        </p:nvSpPr>
        <p:spPr>
          <a:xfrm>
            <a:off x="6706024" y="3486100"/>
            <a:ext cx="619372" cy="123111"/>
          </a:xfrm>
          <a:prstGeom prst="rect">
            <a:avLst/>
          </a:prstGeom>
          <a:noFill/>
        </p:spPr>
        <p:txBody>
          <a:bodyPr wrap="square" lIns="0" tIns="0" rIns="0" bIns="0">
            <a:spAutoFit/>
          </a:bodyPr>
          <a:lstStyle/>
          <a:p>
            <a:pPr algn="ctr"/>
            <a:r>
              <a:rPr lang="es-PE" sz="800">
                <a:latin typeface="Calibri" panose="020F0502020204030204" pitchFamily="34" charset="0"/>
                <a:ea typeface="Calibri" panose="020F0502020204030204" pitchFamily="34" charset="0"/>
                <a:cs typeface="Calibri" panose="020F0502020204030204" pitchFamily="34" charset="0"/>
              </a:rPr>
              <a:t>2418</a:t>
            </a:r>
            <a:endParaRPr lang="es-PE" sz="800"/>
          </a:p>
        </p:txBody>
      </p:sp>
      <p:sp>
        <p:nvSpPr>
          <p:cNvPr id="61" name="CuadroTexto 60">
            <a:extLst>
              <a:ext uri="{FF2B5EF4-FFF2-40B4-BE49-F238E27FC236}">
                <a16:creationId xmlns:a16="http://schemas.microsoft.com/office/drawing/2014/main" id="{945A89A0-0F54-5021-D4CC-1B5DC0601DF1}"/>
              </a:ext>
            </a:extLst>
          </p:cNvPr>
          <p:cNvSpPr txBox="1"/>
          <p:nvPr/>
        </p:nvSpPr>
        <p:spPr>
          <a:xfrm>
            <a:off x="6706024" y="3206700"/>
            <a:ext cx="619372" cy="123111"/>
          </a:xfrm>
          <a:prstGeom prst="rect">
            <a:avLst/>
          </a:prstGeom>
          <a:noFill/>
        </p:spPr>
        <p:txBody>
          <a:bodyPr wrap="square" lIns="0" tIns="0" rIns="0" bIns="0">
            <a:spAutoFit/>
          </a:bodyPr>
          <a:lstStyle/>
          <a:p>
            <a:pPr algn="ctr"/>
            <a:r>
              <a:rPr lang="es-PE" sz="800">
                <a:latin typeface="Calibri" panose="020F0502020204030204" pitchFamily="34" charset="0"/>
                <a:ea typeface="Calibri" panose="020F0502020204030204" pitchFamily="34" charset="0"/>
                <a:cs typeface="Calibri" panose="020F0502020204030204" pitchFamily="34" charset="0"/>
              </a:rPr>
              <a:t>2420</a:t>
            </a:r>
            <a:endParaRPr lang="es-PE" sz="800"/>
          </a:p>
        </p:txBody>
      </p:sp>
      <p:sp>
        <p:nvSpPr>
          <p:cNvPr id="62" name="CuadroTexto 61">
            <a:extLst>
              <a:ext uri="{FF2B5EF4-FFF2-40B4-BE49-F238E27FC236}">
                <a16:creationId xmlns:a16="http://schemas.microsoft.com/office/drawing/2014/main" id="{639ACF5E-AAEB-BA11-F1B0-5DB433C6131B}"/>
              </a:ext>
            </a:extLst>
          </p:cNvPr>
          <p:cNvSpPr txBox="1"/>
          <p:nvPr/>
        </p:nvSpPr>
        <p:spPr>
          <a:xfrm>
            <a:off x="6706024" y="2918833"/>
            <a:ext cx="619372" cy="123111"/>
          </a:xfrm>
          <a:prstGeom prst="rect">
            <a:avLst/>
          </a:prstGeom>
          <a:noFill/>
        </p:spPr>
        <p:txBody>
          <a:bodyPr wrap="square" lIns="0" tIns="0" rIns="0" bIns="0">
            <a:spAutoFit/>
          </a:bodyPr>
          <a:lstStyle/>
          <a:p>
            <a:pPr algn="ctr"/>
            <a:r>
              <a:rPr lang="es-PE" sz="800">
                <a:latin typeface="Calibri" panose="020F0502020204030204" pitchFamily="34" charset="0"/>
                <a:ea typeface="Calibri" panose="020F0502020204030204" pitchFamily="34" charset="0"/>
                <a:cs typeface="Calibri" panose="020F0502020204030204" pitchFamily="34" charset="0"/>
              </a:rPr>
              <a:t>2422</a:t>
            </a:r>
            <a:endParaRPr lang="es-PE" sz="800"/>
          </a:p>
        </p:txBody>
      </p:sp>
      <p:sp>
        <p:nvSpPr>
          <p:cNvPr id="63" name="CuadroTexto 62">
            <a:extLst>
              <a:ext uri="{FF2B5EF4-FFF2-40B4-BE49-F238E27FC236}">
                <a16:creationId xmlns:a16="http://schemas.microsoft.com/office/drawing/2014/main" id="{FF9EACBD-F153-1421-3159-387BBEF61C99}"/>
              </a:ext>
            </a:extLst>
          </p:cNvPr>
          <p:cNvSpPr txBox="1"/>
          <p:nvPr/>
        </p:nvSpPr>
        <p:spPr>
          <a:xfrm>
            <a:off x="6706024" y="2635199"/>
            <a:ext cx="619372" cy="123111"/>
          </a:xfrm>
          <a:prstGeom prst="rect">
            <a:avLst/>
          </a:prstGeom>
          <a:noFill/>
        </p:spPr>
        <p:txBody>
          <a:bodyPr wrap="square" lIns="0" tIns="0" rIns="0" bIns="0">
            <a:spAutoFit/>
          </a:bodyPr>
          <a:lstStyle/>
          <a:p>
            <a:pPr algn="ctr"/>
            <a:r>
              <a:rPr lang="es-PE" sz="800">
                <a:latin typeface="Calibri" panose="020F0502020204030204" pitchFamily="34" charset="0"/>
                <a:ea typeface="Calibri" panose="020F0502020204030204" pitchFamily="34" charset="0"/>
                <a:cs typeface="Calibri" panose="020F0502020204030204" pitchFamily="34" charset="0"/>
              </a:rPr>
              <a:t>2424</a:t>
            </a:r>
            <a:endParaRPr lang="es-PE" sz="800"/>
          </a:p>
        </p:txBody>
      </p:sp>
      <p:sp>
        <p:nvSpPr>
          <p:cNvPr id="64" name="CuadroTexto 63">
            <a:extLst>
              <a:ext uri="{FF2B5EF4-FFF2-40B4-BE49-F238E27FC236}">
                <a16:creationId xmlns:a16="http://schemas.microsoft.com/office/drawing/2014/main" id="{D5748EFD-9706-107B-1DF8-405DEE6F7EAC}"/>
              </a:ext>
            </a:extLst>
          </p:cNvPr>
          <p:cNvSpPr txBox="1"/>
          <p:nvPr/>
        </p:nvSpPr>
        <p:spPr>
          <a:xfrm>
            <a:off x="6706024" y="2364266"/>
            <a:ext cx="619372" cy="123111"/>
          </a:xfrm>
          <a:prstGeom prst="rect">
            <a:avLst/>
          </a:prstGeom>
          <a:noFill/>
        </p:spPr>
        <p:txBody>
          <a:bodyPr wrap="square" lIns="0" tIns="0" rIns="0" bIns="0">
            <a:spAutoFit/>
          </a:bodyPr>
          <a:lstStyle/>
          <a:p>
            <a:pPr algn="ctr"/>
            <a:r>
              <a:rPr lang="es-PE" sz="800">
                <a:latin typeface="Calibri" panose="020F0502020204030204" pitchFamily="34" charset="0"/>
                <a:ea typeface="Calibri" panose="020F0502020204030204" pitchFamily="34" charset="0"/>
                <a:cs typeface="Calibri" panose="020F0502020204030204" pitchFamily="34" charset="0"/>
              </a:rPr>
              <a:t>2426</a:t>
            </a:r>
            <a:endParaRPr lang="es-PE" sz="800"/>
          </a:p>
        </p:txBody>
      </p:sp>
      <p:sp>
        <p:nvSpPr>
          <p:cNvPr id="65" name="CuadroTexto 64">
            <a:extLst>
              <a:ext uri="{FF2B5EF4-FFF2-40B4-BE49-F238E27FC236}">
                <a16:creationId xmlns:a16="http://schemas.microsoft.com/office/drawing/2014/main" id="{99D7C8CA-99F3-0C66-2EB8-04B4961BBA34}"/>
              </a:ext>
            </a:extLst>
          </p:cNvPr>
          <p:cNvSpPr txBox="1"/>
          <p:nvPr/>
        </p:nvSpPr>
        <p:spPr>
          <a:xfrm>
            <a:off x="6706024" y="2080634"/>
            <a:ext cx="619372" cy="123111"/>
          </a:xfrm>
          <a:prstGeom prst="rect">
            <a:avLst/>
          </a:prstGeom>
          <a:noFill/>
        </p:spPr>
        <p:txBody>
          <a:bodyPr wrap="square" lIns="0" tIns="0" rIns="0" bIns="0">
            <a:spAutoFit/>
          </a:bodyPr>
          <a:lstStyle/>
          <a:p>
            <a:pPr algn="ctr"/>
            <a:r>
              <a:rPr lang="es-PE" sz="800">
                <a:latin typeface="Calibri" panose="020F0502020204030204" pitchFamily="34" charset="0"/>
                <a:ea typeface="Calibri" panose="020F0502020204030204" pitchFamily="34" charset="0"/>
                <a:cs typeface="Calibri" panose="020F0502020204030204" pitchFamily="34" charset="0"/>
              </a:rPr>
              <a:t>2428</a:t>
            </a:r>
            <a:endParaRPr lang="es-PE" sz="800"/>
          </a:p>
        </p:txBody>
      </p:sp>
      <p:sp>
        <p:nvSpPr>
          <p:cNvPr id="66" name="CuadroTexto 65">
            <a:extLst>
              <a:ext uri="{FF2B5EF4-FFF2-40B4-BE49-F238E27FC236}">
                <a16:creationId xmlns:a16="http://schemas.microsoft.com/office/drawing/2014/main" id="{402A4AF1-C9E1-09B2-9124-049FD44D518D}"/>
              </a:ext>
            </a:extLst>
          </p:cNvPr>
          <p:cNvSpPr txBox="1"/>
          <p:nvPr/>
        </p:nvSpPr>
        <p:spPr>
          <a:xfrm>
            <a:off x="2751677" y="1917855"/>
            <a:ext cx="1018990" cy="123111"/>
          </a:xfrm>
          <a:prstGeom prst="rect">
            <a:avLst/>
          </a:prstGeom>
          <a:noFill/>
        </p:spPr>
        <p:txBody>
          <a:bodyPr wrap="square" lIns="0" tIns="0" rIns="0" bIns="0">
            <a:spAutoFit/>
          </a:bodyPr>
          <a:lstStyle/>
          <a:p>
            <a:pPr algn="ctr"/>
            <a:r>
              <a:rPr lang="es-PE" sz="800" dirty="0">
                <a:latin typeface="Calibri" panose="020F0502020204030204" pitchFamily="34" charset="0"/>
                <a:ea typeface="Calibri" panose="020F0502020204030204" pitchFamily="34" charset="0"/>
                <a:cs typeface="Calibri" panose="020F0502020204030204" pitchFamily="34" charset="0"/>
              </a:rPr>
              <a:t>Max. de VelocidadVMR</a:t>
            </a:r>
            <a:endParaRPr lang="es-PE" sz="800" dirty="0"/>
          </a:p>
        </p:txBody>
      </p:sp>
      <p:sp>
        <p:nvSpPr>
          <p:cNvPr id="67" name="CuadroTexto 66">
            <a:extLst>
              <a:ext uri="{FF2B5EF4-FFF2-40B4-BE49-F238E27FC236}">
                <a16:creationId xmlns:a16="http://schemas.microsoft.com/office/drawing/2014/main" id="{02CE57BA-5028-9536-BFF4-B603E03BD16F}"/>
              </a:ext>
            </a:extLst>
          </p:cNvPr>
          <p:cNvSpPr txBox="1"/>
          <p:nvPr/>
        </p:nvSpPr>
        <p:spPr>
          <a:xfrm>
            <a:off x="2131672" y="1917855"/>
            <a:ext cx="413624" cy="123111"/>
          </a:xfrm>
          <a:prstGeom prst="rect">
            <a:avLst/>
          </a:prstGeom>
          <a:noFill/>
        </p:spPr>
        <p:txBody>
          <a:bodyPr wrap="square" lIns="0" tIns="0" rIns="0" bIns="0">
            <a:spAutoFit/>
          </a:bodyPr>
          <a:lstStyle/>
          <a:p>
            <a:pPr algn="ctr"/>
            <a:r>
              <a:rPr lang="es-PE" sz="800">
                <a:latin typeface="Calibri" panose="020F0502020204030204" pitchFamily="34" charset="0"/>
                <a:ea typeface="Calibri" panose="020F0502020204030204" pitchFamily="34" charset="0"/>
                <a:cs typeface="Calibri" panose="020F0502020204030204" pitchFamily="34" charset="0"/>
              </a:rPr>
              <a:t>Puntos</a:t>
            </a:r>
            <a:endParaRPr lang="es-PE" sz="800"/>
          </a:p>
        </p:txBody>
      </p:sp>
      <p:sp>
        <p:nvSpPr>
          <p:cNvPr id="68" name="CuadroTexto 67">
            <a:extLst>
              <a:ext uri="{FF2B5EF4-FFF2-40B4-BE49-F238E27FC236}">
                <a16:creationId xmlns:a16="http://schemas.microsoft.com/office/drawing/2014/main" id="{64A381E1-5CA8-F86F-B556-05613DCFF26C}"/>
              </a:ext>
            </a:extLst>
          </p:cNvPr>
          <p:cNvSpPr txBox="1"/>
          <p:nvPr/>
        </p:nvSpPr>
        <p:spPr>
          <a:xfrm>
            <a:off x="2096510" y="1727633"/>
            <a:ext cx="2145059" cy="169277"/>
          </a:xfrm>
          <a:prstGeom prst="rect">
            <a:avLst/>
          </a:prstGeom>
          <a:noFill/>
        </p:spPr>
        <p:txBody>
          <a:bodyPr wrap="square" lIns="0" tIns="0" rIns="0" bIns="0">
            <a:spAutoFit/>
          </a:bodyPr>
          <a:lstStyle/>
          <a:p>
            <a:r>
              <a:rPr lang="es-PE" sz="1100" b="1" dirty="0">
                <a:latin typeface="Calibri" panose="020F0502020204030204" pitchFamily="34" charset="0"/>
                <a:ea typeface="Calibri" panose="020F0502020204030204" pitchFamily="34" charset="0"/>
                <a:cs typeface="Calibri" panose="020F0502020204030204" pitchFamily="34" charset="0"/>
              </a:rPr>
              <a:t>Puntos y VelocidadVMR por Piloto</a:t>
            </a:r>
            <a:endParaRPr lang="es-PE" sz="1100" b="1" dirty="0"/>
          </a:p>
        </p:txBody>
      </p:sp>
      <p:sp>
        <p:nvSpPr>
          <p:cNvPr id="7" name="object 7"/>
          <p:cNvSpPr txBox="1"/>
          <p:nvPr/>
        </p:nvSpPr>
        <p:spPr>
          <a:xfrm>
            <a:off x="503238" y="920335"/>
            <a:ext cx="8172450" cy="754053"/>
          </a:xfrm>
          <a:prstGeom prst="rect">
            <a:avLst/>
          </a:prstGeom>
        </p:spPr>
        <p:txBody>
          <a:bodyPr vert="horz" wrap="square" lIns="0" tIns="0" rIns="0" bIns="0" rtlCol="0">
            <a:spAutoFit/>
          </a:bodyPr>
          <a:lstStyle/>
          <a:p>
            <a:pPr marL="11725">
              <a:spcAft>
                <a:spcPts val="600"/>
              </a:spcAft>
              <a:buSzPct val="100000"/>
              <a:tabLst>
                <a:tab pos="121285" algn="l"/>
              </a:tabLst>
            </a:pPr>
            <a:r>
              <a:rPr lang="es-ES_tradnl" sz="1600" b="1" spc="-10" dirty="0">
                <a:latin typeface="Calibri" panose="020F0502020204030204" pitchFamily="34" charset="0"/>
                <a:cs typeface="Calibri" panose="020F0502020204030204" pitchFamily="34" charset="0"/>
              </a:rPr>
              <a:t>GRÁFICOS COMBINADOS</a:t>
            </a:r>
          </a:p>
          <a:p>
            <a:pPr marL="180000" indent="-168275">
              <a:buSzPct val="100000"/>
              <a:buFont typeface="Arial"/>
              <a:buChar char="•"/>
              <a:tabLst>
                <a:tab pos="121285" algn="l"/>
              </a:tabLst>
            </a:pPr>
            <a:r>
              <a:rPr lang="es-ES_tradnl" sz="1400" spc="-10" dirty="0" err="1">
                <a:latin typeface="Calibri" panose="020F0502020204030204" pitchFamily="34" charset="0"/>
                <a:cs typeface="Calibri" panose="020F0502020204030204" pitchFamily="34" charset="0"/>
              </a:rPr>
              <a:t>Power</a:t>
            </a:r>
            <a:r>
              <a:rPr lang="es-ES_tradnl" sz="1400" spc="-10" dirty="0">
                <a:latin typeface="Calibri" panose="020F0502020204030204" pitchFamily="34" charset="0"/>
                <a:cs typeface="Calibri" panose="020F0502020204030204" pitchFamily="34" charset="0"/>
              </a:rPr>
              <a:t> BI dispone de gráficos combinados para mostrar los valores de 2 atributos distintos en la misma visualización.</a:t>
            </a:r>
          </a:p>
        </p:txBody>
      </p:sp>
      <p:sp>
        <p:nvSpPr>
          <p:cNvPr id="2" name="Google Shape;127;p5">
            <a:extLst>
              <a:ext uri="{FF2B5EF4-FFF2-40B4-BE49-F238E27FC236}">
                <a16:creationId xmlns:a16="http://schemas.microsoft.com/office/drawing/2014/main" id="{F29F25FA-771D-93FA-2824-0ACE252D4002}"/>
              </a:ext>
            </a:extLst>
          </p:cNvPr>
          <p:cNvSpPr/>
          <p:nvPr/>
        </p:nvSpPr>
        <p:spPr>
          <a:xfrm>
            <a:off x="503238" y="376836"/>
            <a:ext cx="4401784" cy="138499"/>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None/>
            </a:pPr>
            <a:r>
              <a:rPr lang="es-PE" sz="1000" b="1">
                <a:solidFill>
                  <a:srgbClr val="7F7F7F"/>
                </a:solidFill>
                <a:latin typeface="Calibri"/>
                <a:ea typeface="Calibri"/>
                <a:cs typeface="Calibri"/>
                <a:sym typeface="Calibri"/>
              </a:rPr>
              <a:t>+ </a:t>
            </a:r>
            <a:r>
              <a:rPr lang="en-US" sz="1000">
                <a:solidFill>
                  <a:srgbClr val="A5A5A5"/>
                </a:solidFill>
                <a:latin typeface="Calibri"/>
                <a:cs typeface="Calibri"/>
              </a:rPr>
              <a:t>VISUALIZACIONES DE DATOS</a:t>
            </a:r>
            <a:endParaRPr/>
          </a:p>
        </p:txBody>
      </p:sp>
      <p:sp>
        <p:nvSpPr>
          <p:cNvPr id="70" name="CuadroTexto 69">
            <a:extLst>
              <a:ext uri="{FF2B5EF4-FFF2-40B4-BE49-F238E27FC236}">
                <a16:creationId xmlns:a16="http://schemas.microsoft.com/office/drawing/2014/main" id="{DDAD0A1F-2B7B-2907-66B9-5681365185B4}"/>
              </a:ext>
            </a:extLst>
          </p:cNvPr>
          <p:cNvSpPr txBox="1"/>
          <p:nvPr/>
        </p:nvSpPr>
        <p:spPr>
          <a:xfrm>
            <a:off x="2653772" y="2274472"/>
            <a:ext cx="619372" cy="153888"/>
          </a:xfrm>
          <a:prstGeom prst="rect">
            <a:avLst/>
          </a:prstGeom>
          <a:noFill/>
        </p:spPr>
        <p:txBody>
          <a:bodyPr wrap="square" lIns="0" tIns="0" rIns="0" bIns="0">
            <a:spAutoFit/>
          </a:bodyPr>
          <a:lstStyle/>
          <a:p>
            <a:pPr algn="ctr"/>
            <a:r>
              <a:rPr lang="es-PE" sz="1000">
                <a:solidFill>
                  <a:schemeClr val="bg1"/>
                </a:solidFill>
                <a:latin typeface="Calibri" panose="020F0502020204030204" pitchFamily="34" charset="0"/>
                <a:ea typeface="Calibri" panose="020F0502020204030204" pitchFamily="34" charset="0"/>
                <a:cs typeface="Calibri" panose="020F0502020204030204" pitchFamily="34" charset="0"/>
              </a:rPr>
              <a:t>385</a:t>
            </a:r>
            <a:endParaRPr lang="es-PE" sz="1000">
              <a:solidFill>
                <a:schemeClr val="bg1"/>
              </a:solidFill>
            </a:endParaRPr>
          </a:p>
        </p:txBody>
      </p:sp>
      <p:cxnSp>
        <p:nvCxnSpPr>
          <p:cNvPr id="83" name="Conector recto 82">
            <a:extLst>
              <a:ext uri="{FF2B5EF4-FFF2-40B4-BE49-F238E27FC236}">
                <a16:creationId xmlns:a16="http://schemas.microsoft.com/office/drawing/2014/main" id="{D8820B74-FCE2-B29A-9EE3-DEE64CE0354F}"/>
              </a:ext>
            </a:extLst>
          </p:cNvPr>
          <p:cNvCxnSpPr>
            <a:cxnSpLocks/>
          </p:cNvCxnSpPr>
          <p:nvPr/>
        </p:nvCxnSpPr>
        <p:spPr>
          <a:xfrm flipV="1">
            <a:off x="2963458" y="3762769"/>
            <a:ext cx="688389" cy="1194585"/>
          </a:xfrm>
          <a:prstGeom prst="line">
            <a:avLst/>
          </a:prstGeom>
          <a:ln w="19050">
            <a:solidFill>
              <a:srgbClr val="0070C0"/>
            </a:solidFill>
          </a:ln>
        </p:spPr>
        <p:style>
          <a:lnRef idx="1">
            <a:schemeClr val="accent6"/>
          </a:lnRef>
          <a:fillRef idx="0">
            <a:schemeClr val="accent6"/>
          </a:fillRef>
          <a:effectRef idx="0">
            <a:schemeClr val="accent6"/>
          </a:effectRef>
          <a:fontRef idx="minor">
            <a:schemeClr val="tx1"/>
          </a:fontRef>
        </p:style>
      </p:cxnSp>
      <p:cxnSp>
        <p:nvCxnSpPr>
          <p:cNvPr id="86" name="Conector recto 85">
            <a:extLst>
              <a:ext uri="{FF2B5EF4-FFF2-40B4-BE49-F238E27FC236}">
                <a16:creationId xmlns:a16="http://schemas.microsoft.com/office/drawing/2014/main" id="{8DF0A6B8-F4AB-6E08-ED27-6BCB1FBB7ED2}"/>
              </a:ext>
            </a:extLst>
          </p:cNvPr>
          <p:cNvCxnSpPr/>
          <p:nvPr/>
        </p:nvCxnSpPr>
        <p:spPr>
          <a:xfrm flipV="1">
            <a:off x="3654046" y="2264070"/>
            <a:ext cx="665891" cy="1498699"/>
          </a:xfrm>
          <a:prstGeom prst="line">
            <a:avLst/>
          </a:prstGeom>
          <a:ln w="19050">
            <a:solidFill>
              <a:srgbClr val="0070C0"/>
            </a:solidFill>
          </a:ln>
        </p:spPr>
        <p:style>
          <a:lnRef idx="1">
            <a:schemeClr val="accent6"/>
          </a:lnRef>
          <a:fillRef idx="0">
            <a:schemeClr val="accent6"/>
          </a:fillRef>
          <a:effectRef idx="0">
            <a:schemeClr val="accent6"/>
          </a:effectRef>
          <a:fontRef idx="minor">
            <a:schemeClr val="tx1"/>
          </a:fontRef>
        </p:style>
      </p:cxnSp>
      <p:cxnSp>
        <p:nvCxnSpPr>
          <p:cNvPr id="88" name="Conector recto 87">
            <a:extLst>
              <a:ext uri="{FF2B5EF4-FFF2-40B4-BE49-F238E27FC236}">
                <a16:creationId xmlns:a16="http://schemas.microsoft.com/office/drawing/2014/main" id="{936DCC88-2F36-AD44-0642-4E5DD212838D}"/>
              </a:ext>
            </a:extLst>
          </p:cNvPr>
          <p:cNvCxnSpPr>
            <a:cxnSpLocks/>
            <a:stCxn id="53" idx="0"/>
          </p:cNvCxnSpPr>
          <p:nvPr/>
        </p:nvCxnSpPr>
        <p:spPr>
          <a:xfrm>
            <a:off x="4327237" y="2295376"/>
            <a:ext cx="663607" cy="1522715"/>
          </a:xfrm>
          <a:prstGeom prst="line">
            <a:avLst/>
          </a:prstGeom>
          <a:ln w="19050">
            <a:solidFill>
              <a:srgbClr val="0070C0"/>
            </a:solidFill>
          </a:ln>
        </p:spPr>
        <p:style>
          <a:lnRef idx="1">
            <a:schemeClr val="accent6"/>
          </a:lnRef>
          <a:fillRef idx="0">
            <a:schemeClr val="accent6"/>
          </a:fillRef>
          <a:effectRef idx="0">
            <a:schemeClr val="accent6"/>
          </a:effectRef>
          <a:fontRef idx="minor">
            <a:schemeClr val="tx1"/>
          </a:fontRef>
        </p:style>
      </p:cxnSp>
      <p:cxnSp>
        <p:nvCxnSpPr>
          <p:cNvPr id="90" name="Conector recto 89">
            <a:extLst>
              <a:ext uri="{FF2B5EF4-FFF2-40B4-BE49-F238E27FC236}">
                <a16:creationId xmlns:a16="http://schemas.microsoft.com/office/drawing/2014/main" id="{335E2221-502C-421A-5A8F-6D66AEF11E29}"/>
              </a:ext>
            </a:extLst>
          </p:cNvPr>
          <p:cNvCxnSpPr>
            <a:cxnSpLocks/>
          </p:cNvCxnSpPr>
          <p:nvPr/>
        </p:nvCxnSpPr>
        <p:spPr>
          <a:xfrm>
            <a:off x="4996431" y="3818091"/>
            <a:ext cx="686595" cy="358386"/>
          </a:xfrm>
          <a:prstGeom prst="line">
            <a:avLst/>
          </a:prstGeom>
          <a:ln w="19050">
            <a:solidFill>
              <a:srgbClr val="0070C0"/>
            </a:solidFill>
          </a:ln>
        </p:spPr>
        <p:style>
          <a:lnRef idx="1">
            <a:schemeClr val="accent6"/>
          </a:lnRef>
          <a:fillRef idx="0">
            <a:schemeClr val="accent6"/>
          </a:fillRef>
          <a:effectRef idx="0">
            <a:schemeClr val="accent6"/>
          </a:effectRef>
          <a:fontRef idx="minor">
            <a:schemeClr val="tx1"/>
          </a:fontRef>
        </p:style>
      </p:cxnSp>
      <p:cxnSp>
        <p:nvCxnSpPr>
          <p:cNvPr id="92" name="Conector recto 91">
            <a:extLst>
              <a:ext uri="{FF2B5EF4-FFF2-40B4-BE49-F238E27FC236}">
                <a16:creationId xmlns:a16="http://schemas.microsoft.com/office/drawing/2014/main" id="{E1ECE1C3-9DF8-7258-5947-D82A376227BA}"/>
              </a:ext>
            </a:extLst>
          </p:cNvPr>
          <p:cNvCxnSpPr>
            <a:cxnSpLocks/>
          </p:cNvCxnSpPr>
          <p:nvPr/>
        </p:nvCxnSpPr>
        <p:spPr>
          <a:xfrm flipV="1">
            <a:off x="5657850" y="2647578"/>
            <a:ext cx="682034" cy="1528899"/>
          </a:xfrm>
          <a:prstGeom prst="line">
            <a:avLst/>
          </a:prstGeom>
          <a:ln w="19050">
            <a:solidFill>
              <a:srgbClr val="0070C0"/>
            </a:solidFill>
          </a:ln>
        </p:spPr>
        <p:style>
          <a:lnRef idx="1">
            <a:schemeClr val="accent6"/>
          </a:lnRef>
          <a:fillRef idx="0">
            <a:schemeClr val="accent6"/>
          </a:fillRef>
          <a:effectRef idx="0">
            <a:schemeClr val="accent6"/>
          </a:effectRef>
          <a:fontRef idx="minor">
            <a:schemeClr val="tx1"/>
          </a:fontRef>
        </p:style>
      </p:cxnSp>
      <p:sp>
        <p:nvSpPr>
          <p:cNvPr id="53" name="CuadroTexto 52">
            <a:extLst>
              <a:ext uri="{FF2B5EF4-FFF2-40B4-BE49-F238E27FC236}">
                <a16:creationId xmlns:a16="http://schemas.microsoft.com/office/drawing/2014/main" id="{3989A5F7-5954-DF6F-DA83-16D6C01B5636}"/>
              </a:ext>
            </a:extLst>
          </p:cNvPr>
          <p:cNvSpPr txBox="1"/>
          <p:nvPr/>
        </p:nvSpPr>
        <p:spPr>
          <a:xfrm>
            <a:off x="4017551" y="2295376"/>
            <a:ext cx="619372" cy="153888"/>
          </a:xfrm>
          <a:prstGeom prst="rect">
            <a:avLst/>
          </a:prstGeom>
          <a:solidFill>
            <a:schemeClr val="bg1"/>
          </a:solidFill>
        </p:spPr>
        <p:txBody>
          <a:bodyPr wrap="square" lIns="0" tIns="0" rIns="0" bIns="0">
            <a:spAutoFit/>
          </a:bodyPr>
          <a:lstStyle/>
          <a:p>
            <a:pPr algn="ctr"/>
            <a:r>
              <a:rPr lang="es-PE" sz="1000" dirty="0">
                <a:latin typeface="Calibri" panose="020F0502020204030204" pitchFamily="34" charset="0"/>
                <a:ea typeface="Calibri" panose="020F0502020204030204" pitchFamily="34" charset="0"/>
                <a:cs typeface="Calibri" panose="020F0502020204030204" pitchFamily="34" charset="0"/>
              </a:rPr>
              <a:t>242.73</a:t>
            </a:r>
            <a:endParaRPr lang="es-PE" sz="1000" dirty="0"/>
          </a:p>
        </p:txBody>
      </p:sp>
      <p:sp>
        <p:nvSpPr>
          <p:cNvPr id="71" name="CuadroTexto 70">
            <a:extLst>
              <a:ext uri="{FF2B5EF4-FFF2-40B4-BE49-F238E27FC236}">
                <a16:creationId xmlns:a16="http://schemas.microsoft.com/office/drawing/2014/main" id="{CD105926-B1C1-9798-DF94-C1F3CF31195E}"/>
              </a:ext>
            </a:extLst>
          </p:cNvPr>
          <p:cNvSpPr txBox="1"/>
          <p:nvPr/>
        </p:nvSpPr>
        <p:spPr>
          <a:xfrm>
            <a:off x="2732647" y="4756605"/>
            <a:ext cx="466559" cy="153888"/>
          </a:xfrm>
          <a:prstGeom prst="rect">
            <a:avLst/>
          </a:prstGeom>
          <a:solidFill>
            <a:srgbClr val="00B2C2"/>
          </a:solidFill>
        </p:spPr>
        <p:txBody>
          <a:bodyPr wrap="square" lIns="0" tIns="0" rIns="0" bIns="0">
            <a:spAutoFit/>
          </a:bodyPr>
          <a:lstStyle/>
          <a:p>
            <a:pPr algn="ctr"/>
            <a:r>
              <a:rPr lang="es-PE" sz="1000" dirty="0">
                <a:solidFill>
                  <a:schemeClr val="bg1"/>
                </a:solidFill>
                <a:latin typeface="Calibri" panose="020F0502020204030204" pitchFamily="34" charset="0"/>
                <a:ea typeface="Calibri" panose="020F0502020204030204" pitchFamily="34" charset="0"/>
                <a:cs typeface="Calibri" panose="020F0502020204030204" pitchFamily="34" charset="0"/>
              </a:rPr>
              <a:t>240.82</a:t>
            </a:r>
            <a:endParaRPr lang="es-PE" sz="1000" dirty="0">
              <a:solidFill>
                <a:schemeClr val="bg1"/>
              </a:solidFill>
            </a:endParaRPr>
          </a:p>
        </p:txBody>
      </p:sp>
      <p:sp>
        <p:nvSpPr>
          <p:cNvPr id="72" name="CuadroTexto 71">
            <a:extLst>
              <a:ext uri="{FF2B5EF4-FFF2-40B4-BE49-F238E27FC236}">
                <a16:creationId xmlns:a16="http://schemas.microsoft.com/office/drawing/2014/main" id="{9B455BA7-F007-3D66-7CC0-68C1BABAFC3F}"/>
              </a:ext>
            </a:extLst>
          </p:cNvPr>
          <p:cNvSpPr txBox="1"/>
          <p:nvPr/>
        </p:nvSpPr>
        <p:spPr>
          <a:xfrm>
            <a:off x="3395795" y="3602306"/>
            <a:ext cx="506637" cy="153888"/>
          </a:xfrm>
          <a:prstGeom prst="rect">
            <a:avLst/>
          </a:prstGeom>
          <a:solidFill>
            <a:srgbClr val="00B2C2"/>
          </a:solidFill>
        </p:spPr>
        <p:txBody>
          <a:bodyPr wrap="square" lIns="0" tIns="0" rIns="0" bIns="0">
            <a:spAutoFit/>
          </a:bodyPr>
          <a:lstStyle/>
          <a:p>
            <a:pPr algn="ctr"/>
            <a:r>
              <a:rPr lang="es-PE" sz="1000" dirty="0">
                <a:solidFill>
                  <a:schemeClr val="bg1"/>
                </a:solidFill>
                <a:latin typeface="Calibri" panose="020F0502020204030204" pitchFamily="34" charset="0"/>
                <a:ea typeface="Calibri" panose="020F0502020204030204" pitchFamily="34" charset="0"/>
                <a:cs typeface="Calibri" panose="020F0502020204030204" pitchFamily="34" charset="0"/>
              </a:rPr>
              <a:t>241.65</a:t>
            </a:r>
            <a:endParaRPr lang="es-PE" sz="1000" dirty="0">
              <a:solidFill>
                <a:schemeClr val="bg1"/>
              </a:solidFill>
            </a:endParaRPr>
          </a:p>
        </p:txBody>
      </p:sp>
      <p:sp>
        <p:nvSpPr>
          <p:cNvPr id="73" name="CuadroTexto 72">
            <a:extLst>
              <a:ext uri="{FF2B5EF4-FFF2-40B4-BE49-F238E27FC236}">
                <a16:creationId xmlns:a16="http://schemas.microsoft.com/office/drawing/2014/main" id="{16201CB5-52F2-217F-A657-06DA0BADF016}"/>
              </a:ext>
            </a:extLst>
          </p:cNvPr>
          <p:cNvSpPr txBox="1"/>
          <p:nvPr/>
        </p:nvSpPr>
        <p:spPr>
          <a:xfrm>
            <a:off x="4751388" y="3692789"/>
            <a:ext cx="458788" cy="153888"/>
          </a:xfrm>
          <a:prstGeom prst="rect">
            <a:avLst/>
          </a:prstGeom>
          <a:solidFill>
            <a:srgbClr val="00B2C2"/>
          </a:solidFill>
        </p:spPr>
        <p:txBody>
          <a:bodyPr wrap="square" lIns="0" tIns="0" rIns="0" bIns="0">
            <a:spAutoFit/>
          </a:bodyPr>
          <a:lstStyle/>
          <a:p>
            <a:pPr algn="ctr"/>
            <a:r>
              <a:rPr lang="es-PE" sz="1000" dirty="0">
                <a:solidFill>
                  <a:schemeClr val="bg1"/>
                </a:solidFill>
                <a:latin typeface="Calibri" panose="020F0502020204030204" pitchFamily="34" charset="0"/>
                <a:ea typeface="Calibri" panose="020F0502020204030204" pitchFamily="34" charset="0"/>
                <a:cs typeface="Calibri" panose="020F0502020204030204" pitchFamily="34" charset="0"/>
              </a:rPr>
              <a:t>241.63</a:t>
            </a:r>
            <a:endParaRPr lang="es-PE" sz="1000" dirty="0">
              <a:solidFill>
                <a:schemeClr val="bg1"/>
              </a:solidFill>
            </a:endParaRPr>
          </a:p>
        </p:txBody>
      </p:sp>
      <p:sp>
        <p:nvSpPr>
          <p:cNvPr id="5" name="CuadroTexto 4">
            <a:extLst>
              <a:ext uri="{FF2B5EF4-FFF2-40B4-BE49-F238E27FC236}">
                <a16:creationId xmlns:a16="http://schemas.microsoft.com/office/drawing/2014/main" id="{BE7108A9-9571-EA52-468E-AE31E0509D5B}"/>
              </a:ext>
            </a:extLst>
          </p:cNvPr>
          <p:cNvSpPr txBox="1"/>
          <p:nvPr/>
        </p:nvSpPr>
        <p:spPr>
          <a:xfrm>
            <a:off x="5426075" y="4134683"/>
            <a:ext cx="463550" cy="153888"/>
          </a:xfrm>
          <a:prstGeom prst="rect">
            <a:avLst/>
          </a:prstGeom>
          <a:solidFill>
            <a:srgbClr val="00B2C2"/>
          </a:solidFill>
        </p:spPr>
        <p:txBody>
          <a:bodyPr wrap="square" lIns="0" tIns="0" rIns="0" bIns="0">
            <a:spAutoFit/>
          </a:bodyPr>
          <a:lstStyle/>
          <a:p>
            <a:pPr algn="ctr"/>
            <a:r>
              <a:rPr lang="es-PE" sz="1000" dirty="0">
                <a:solidFill>
                  <a:schemeClr val="bg1"/>
                </a:solidFill>
                <a:latin typeface="Calibri" panose="020F0502020204030204" pitchFamily="34" charset="0"/>
                <a:ea typeface="Calibri" panose="020F0502020204030204" pitchFamily="34" charset="0"/>
                <a:cs typeface="Calibri" panose="020F0502020204030204" pitchFamily="34" charset="0"/>
              </a:rPr>
              <a:t>241.36</a:t>
            </a:r>
            <a:endParaRPr lang="es-PE" sz="1000" dirty="0">
              <a:solidFill>
                <a:schemeClr val="bg1"/>
              </a:solidFill>
            </a:endParaRPr>
          </a:p>
        </p:txBody>
      </p:sp>
      <p:sp>
        <p:nvSpPr>
          <p:cNvPr id="6" name="Elipse 5">
            <a:extLst>
              <a:ext uri="{FF2B5EF4-FFF2-40B4-BE49-F238E27FC236}">
                <a16:creationId xmlns:a16="http://schemas.microsoft.com/office/drawing/2014/main" id="{AC340E2E-EB4F-64C7-B0FF-4B82F1ED2265}"/>
              </a:ext>
            </a:extLst>
          </p:cNvPr>
          <p:cNvSpPr/>
          <p:nvPr/>
        </p:nvSpPr>
        <p:spPr>
          <a:xfrm>
            <a:off x="2096510" y="1951133"/>
            <a:ext cx="70659" cy="70659"/>
          </a:xfrm>
          <a:prstGeom prst="ellipse">
            <a:avLst/>
          </a:prstGeom>
          <a:solidFill>
            <a:srgbClr val="00B2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p>
        </p:txBody>
      </p:sp>
      <p:sp>
        <p:nvSpPr>
          <p:cNvPr id="8" name="Elipse 7">
            <a:extLst>
              <a:ext uri="{FF2B5EF4-FFF2-40B4-BE49-F238E27FC236}">
                <a16:creationId xmlns:a16="http://schemas.microsoft.com/office/drawing/2014/main" id="{590ADA8F-ADBA-2C6A-905F-674E1B8CED5D}"/>
              </a:ext>
            </a:extLst>
          </p:cNvPr>
          <p:cNvSpPr/>
          <p:nvPr/>
        </p:nvSpPr>
        <p:spPr>
          <a:xfrm>
            <a:off x="2674360" y="1951133"/>
            <a:ext cx="70659" cy="70659"/>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_tradnl" dirty="0"/>
          </a:p>
        </p:txBody>
      </p:sp>
    </p:spTree>
    <p:extLst>
      <p:ext uri="{BB962C8B-B14F-4D97-AF65-F5344CB8AC3E}">
        <p14:creationId xmlns:p14="http://schemas.microsoft.com/office/powerpoint/2010/main" val="2843132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32870" y="902348"/>
            <a:ext cx="8142818" cy="754053"/>
          </a:xfrm>
          <a:prstGeom prst="rect">
            <a:avLst/>
          </a:prstGeom>
        </p:spPr>
        <p:txBody>
          <a:bodyPr vert="horz" wrap="square" lIns="0" tIns="0" rIns="0" bIns="0" rtlCol="0">
            <a:spAutoFit/>
          </a:bodyPr>
          <a:lstStyle/>
          <a:p>
            <a:pPr marL="11725">
              <a:spcAft>
                <a:spcPts val="600"/>
              </a:spcAft>
              <a:buSzPct val="100000"/>
              <a:tabLst>
                <a:tab pos="121285" algn="l"/>
              </a:tabLst>
            </a:pPr>
            <a:r>
              <a:rPr lang="es-ES_tradnl" sz="1600" b="1" spc="-10" dirty="0">
                <a:solidFill>
                  <a:srgbClr val="262626"/>
                </a:solidFill>
                <a:latin typeface="Calibri" panose="020F0502020204030204" pitchFamily="34" charset="0"/>
                <a:cs typeface="Calibri" panose="020F0502020204030204" pitchFamily="34" charset="0"/>
              </a:rPr>
              <a:t>MAPA</a:t>
            </a:r>
          </a:p>
          <a:p>
            <a:pPr marL="180000" indent="-168275">
              <a:buSzPct val="100000"/>
              <a:buFont typeface="Arial"/>
              <a:buChar char="•"/>
              <a:tabLst>
                <a:tab pos="121285" algn="l"/>
              </a:tabLst>
            </a:pPr>
            <a:r>
              <a:rPr lang="es-ES_tradnl" sz="1400" spc="-10" dirty="0">
                <a:solidFill>
                  <a:srgbClr val="262626"/>
                </a:solidFill>
                <a:latin typeface="Calibri" panose="020F0502020204030204" pitchFamily="34" charset="0"/>
                <a:cs typeface="Calibri" panose="020F0502020204030204" pitchFamily="34" charset="0"/>
              </a:rPr>
              <a:t>Si se dispone de datos de ubicación geográfica podemos utilizar la visualización mapa para mostrar la métrica relacionada con dichos datos.</a:t>
            </a:r>
          </a:p>
        </p:txBody>
      </p:sp>
      <p:pic>
        <p:nvPicPr>
          <p:cNvPr id="2" name="Imagen 1"/>
          <p:cNvPicPr>
            <a:picLocks noChangeAspect="1"/>
          </p:cNvPicPr>
          <p:nvPr/>
        </p:nvPicPr>
        <p:blipFill>
          <a:blip r:embed="rId3"/>
          <a:stretch>
            <a:fillRect/>
          </a:stretch>
        </p:blipFill>
        <p:spPr>
          <a:xfrm>
            <a:off x="1960133" y="1764874"/>
            <a:ext cx="5288292" cy="3505626"/>
          </a:xfrm>
          <a:prstGeom prst="rect">
            <a:avLst/>
          </a:prstGeom>
        </p:spPr>
      </p:pic>
      <p:sp>
        <p:nvSpPr>
          <p:cNvPr id="3" name="Google Shape;127;p5">
            <a:extLst>
              <a:ext uri="{FF2B5EF4-FFF2-40B4-BE49-F238E27FC236}">
                <a16:creationId xmlns:a16="http://schemas.microsoft.com/office/drawing/2014/main" id="{6C4430AC-C48A-C258-F807-60BBD51A9F96}"/>
              </a:ext>
            </a:extLst>
          </p:cNvPr>
          <p:cNvSpPr/>
          <p:nvPr/>
        </p:nvSpPr>
        <p:spPr>
          <a:xfrm>
            <a:off x="503238" y="376836"/>
            <a:ext cx="4401784" cy="138499"/>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None/>
            </a:pPr>
            <a:r>
              <a:rPr lang="es-PE" sz="1000" b="1">
                <a:solidFill>
                  <a:srgbClr val="7F7F7F"/>
                </a:solidFill>
                <a:latin typeface="Calibri"/>
                <a:ea typeface="Calibri"/>
                <a:cs typeface="Calibri"/>
                <a:sym typeface="Calibri"/>
              </a:rPr>
              <a:t>+ </a:t>
            </a:r>
            <a:r>
              <a:rPr lang="en-US" sz="1000">
                <a:solidFill>
                  <a:srgbClr val="A5A5A5"/>
                </a:solidFill>
                <a:latin typeface="Calibri"/>
                <a:cs typeface="Calibri"/>
              </a:rPr>
              <a:t>VISUALIZACIONES DE DATOS</a:t>
            </a:r>
            <a:endParaRPr/>
          </a:p>
        </p:txBody>
      </p:sp>
    </p:spTree>
    <p:extLst>
      <p:ext uri="{BB962C8B-B14F-4D97-AF65-F5344CB8AC3E}">
        <p14:creationId xmlns:p14="http://schemas.microsoft.com/office/powerpoint/2010/main" val="963110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ángulo 13">
            <a:extLst>
              <a:ext uri="{FF2B5EF4-FFF2-40B4-BE49-F238E27FC236}">
                <a16:creationId xmlns:a16="http://schemas.microsoft.com/office/drawing/2014/main" id="{9C3C0AFD-EE2E-841A-079F-08B4DD937B69}"/>
              </a:ext>
            </a:extLst>
          </p:cNvPr>
          <p:cNvSpPr/>
          <p:nvPr/>
        </p:nvSpPr>
        <p:spPr>
          <a:xfrm>
            <a:off x="6788081" y="1706001"/>
            <a:ext cx="1378038" cy="3512901"/>
          </a:xfrm>
          <a:prstGeom prst="rect">
            <a:avLst/>
          </a:prstGeom>
          <a:solidFill>
            <a:srgbClr val="E4DDEE"/>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18" name="Rectángulo 17">
            <a:extLst>
              <a:ext uri="{FF2B5EF4-FFF2-40B4-BE49-F238E27FC236}">
                <a16:creationId xmlns:a16="http://schemas.microsoft.com/office/drawing/2014/main" id="{E1831B68-7084-7C65-8FA9-00430C70D681}"/>
              </a:ext>
            </a:extLst>
          </p:cNvPr>
          <p:cNvSpPr/>
          <p:nvPr/>
        </p:nvSpPr>
        <p:spPr>
          <a:xfrm>
            <a:off x="6788081" y="4260042"/>
            <a:ext cx="1378038" cy="958860"/>
          </a:xfrm>
          <a:prstGeom prst="rect">
            <a:avLst/>
          </a:prstGeom>
          <a:solidFill>
            <a:srgbClr val="7150A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7" name="object 7"/>
          <p:cNvSpPr txBox="1"/>
          <p:nvPr/>
        </p:nvSpPr>
        <p:spPr>
          <a:xfrm>
            <a:off x="500591" y="920104"/>
            <a:ext cx="8142818" cy="538609"/>
          </a:xfrm>
          <a:prstGeom prst="rect">
            <a:avLst/>
          </a:prstGeom>
        </p:spPr>
        <p:txBody>
          <a:bodyPr vert="horz" wrap="square" lIns="0" tIns="0" rIns="0" bIns="0" rtlCol="0">
            <a:spAutoFit/>
          </a:bodyPr>
          <a:lstStyle/>
          <a:p>
            <a:pPr marL="11725">
              <a:spcAft>
                <a:spcPts val="600"/>
              </a:spcAft>
              <a:buSzPct val="100000"/>
              <a:tabLst>
                <a:tab pos="121285" algn="l"/>
              </a:tabLst>
            </a:pPr>
            <a:r>
              <a:rPr lang="es-ES_tradnl" sz="1600" b="1" spc="-10" dirty="0">
                <a:latin typeface="Calibri" panose="020F0502020204030204" pitchFamily="34" charset="0"/>
                <a:cs typeface="Calibri" panose="020F0502020204030204" pitchFamily="34" charset="0"/>
              </a:rPr>
              <a:t>SEGMENTACIONES DE DATOS</a:t>
            </a:r>
          </a:p>
          <a:p>
            <a:pPr marL="180000" indent="-168275">
              <a:buSzPct val="100000"/>
              <a:buFont typeface="Arial"/>
              <a:buChar char="•"/>
              <a:tabLst>
                <a:tab pos="121285" algn="l"/>
              </a:tabLst>
            </a:pPr>
            <a:r>
              <a:rPr lang="es-ES_tradnl" sz="1400" spc="-10" dirty="0">
                <a:latin typeface="Calibri" panose="020F0502020204030204" pitchFamily="34" charset="0"/>
                <a:cs typeface="Calibri" panose="020F0502020204030204" pitchFamily="34" charset="0"/>
              </a:rPr>
              <a:t>Permiten definir filtros que no están basados en los datos que se están visualizando.</a:t>
            </a:r>
          </a:p>
        </p:txBody>
      </p:sp>
      <p:sp>
        <p:nvSpPr>
          <p:cNvPr id="2" name="Google Shape;127;p5">
            <a:extLst>
              <a:ext uri="{FF2B5EF4-FFF2-40B4-BE49-F238E27FC236}">
                <a16:creationId xmlns:a16="http://schemas.microsoft.com/office/drawing/2014/main" id="{20397B2B-A649-A416-179E-3B02DC1F7B60}"/>
              </a:ext>
            </a:extLst>
          </p:cNvPr>
          <p:cNvSpPr/>
          <p:nvPr/>
        </p:nvSpPr>
        <p:spPr>
          <a:xfrm>
            <a:off x="503238" y="376836"/>
            <a:ext cx="4401784" cy="138499"/>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None/>
            </a:pPr>
            <a:r>
              <a:rPr lang="es-PE" sz="1000" b="1">
                <a:solidFill>
                  <a:srgbClr val="7F7F7F"/>
                </a:solidFill>
                <a:latin typeface="Calibri"/>
                <a:ea typeface="Calibri"/>
                <a:cs typeface="Calibri"/>
                <a:sym typeface="Calibri"/>
              </a:rPr>
              <a:t>+ </a:t>
            </a:r>
            <a:r>
              <a:rPr lang="en-US" sz="1000">
                <a:solidFill>
                  <a:srgbClr val="A5A5A5"/>
                </a:solidFill>
                <a:latin typeface="Calibri"/>
                <a:cs typeface="Calibri"/>
              </a:rPr>
              <a:t>VISUALIZACIONES DE DATOS</a:t>
            </a:r>
            <a:endParaRPr/>
          </a:p>
        </p:txBody>
      </p:sp>
      <p:graphicFrame>
        <p:nvGraphicFramePr>
          <p:cNvPr id="4" name="Google Shape;1035;p59">
            <a:extLst>
              <a:ext uri="{FF2B5EF4-FFF2-40B4-BE49-F238E27FC236}">
                <a16:creationId xmlns:a16="http://schemas.microsoft.com/office/drawing/2014/main" id="{3C991BEA-C523-A22D-D589-D34CA013662F}"/>
              </a:ext>
            </a:extLst>
          </p:cNvPr>
          <p:cNvGraphicFramePr/>
          <p:nvPr>
            <p:extLst>
              <p:ext uri="{D42A27DB-BD31-4B8C-83A1-F6EECF244321}">
                <p14:modId xmlns:p14="http://schemas.microsoft.com/office/powerpoint/2010/main" val="2624280516"/>
              </p:ext>
            </p:extLst>
          </p:nvPr>
        </p:nvGraphicFramePr>
        <p:xfrm>
          <a:off x="972230" y="1968144"/>
          <a:ext cx="3671958" cy="3265844"/>
        </p:xfrm>
        <a:graphic>
          <a:graphicData uri="http://schemas.openxmlformats.org/drawingml/2006/table">
            <a:tbl>
              <a:tblPr firstRow="1" bandRow="1">
                <a:noFill/>
              </a:tblPr>
              <a:tblGrid>
                <a:gridCol w="1235770">
                  <a:extLst>
                    <a:ext uri="{9D8B030D-6E8A-4147-A177-3AD203B41FA5}">
                      <a16:colId xmlns:a16="http://schemas.microsoft.com/office/drawing/2014/main" val="20000"/>
                    </a:ext>
                  </a:extLst>
                </a:gridCol>
                <a:gridCol w="405876">
                  <a:extLst>
                    <a:ext uri="{9D8B030D-6E8A-4147-A177-3AD203B41FA5}">
                      <a16:colId xmlns:a16="http://schemas.microsoft.com/office/drawing/2014/main" val="20001"/>
                    </a:ext>
                  </a:extLst>
                </a:gridCol>
                <a:gridCol w="699599">
                  <a:extLst>
                    <a:ext uri="{9D8B030D-6E8A-4147-A177-3AD203B41FA5}">
                      <a16:colId xmlns:a16="http://schemas.microsoft.com/office/drawing/2014/main" val="20002"/>
                    </a:ext>
                  </a:extLst>
                </a:gridCol>
                <a:gridCol w="780586">
                  <a:extLst>
                    <a:ext uri="{9D8B030D-6E8A-4147-A177-3AD203B41FA5}">
                      <a16:colId xmlns:a16="http://schemas.microsoft.com/office/drawing/2014/main" val="20003"/>
                    </a:ext>
                  </a:extLst>
                </a:gridCol>
                <a:gridCol w="550127">
                  <a:extLst>
                    <a:ext uri="{9D8B030D-6E8A-4147-A177-3AD203B41FA5}">
                      <a16:colId xmlns:a16="http://schemas.microsoft.com/office/drawing/2014/main" val="1962237364"/>
                    </a:ext>
                  </a:extLst>
                </a:gridCol>
              </a:tblGrid>
              <a:tr h="195020">
                <a:tc>
                  <a:txBody>
                    <a:bodyPr/>
                    <a:lstStyle/>
                    <a:p>
                      <a:pPr marL="0" marR="0" lvl="0" indent="0" algn="ctr" rtl="0">
                        <a:spcBef>
                          <a:spcPts val="0"/>
                        </a:spcBef>
                        <a:spcAft>
                          <a:spcPts val="0"/>
                        </a:spcAft>
                        <a:buNone/>
                      </a:pPr>
                      <a:r>
                        <a:rPr lang="es-PE" sz="900">
                          <a:latin typeface="Calibri" panose="020F0502020204030204" pitchFamily="34" charset="0"/>
                          <a:ea typeface="Calibri"/>
                          <a:cs typeface="Calibri" panose="020F0502020204030204" pitchFamily="34" charset="0"/>
                          <a:sym typeface="Calibri"/>
                        </a:rPr>
                        <a:t>NomCarrera</a:t>
                      </a:r>
                      <a:endParaRPr sz="900">
                        <a:latin typeface="Calibri" panose="020F0502020204030204" pitchFamily="34" charset="0"/>
                        <a:cs typeface="Calibri" panose="020F0502020204030204" pitchFamily="34" charset="0"/>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8EC540"/>
                    </a:solidFill>
                  </a:tcPr>
                </a:tc>
                <a:tc>
                  <a:txBody>
                    <a:bodyPr/>
                    <a:lstStyle/>
                    <a:p>
                      <a:pPr marL="0" marR="0" lvl="0" indent="0" algn="ctr" rtl="0">
                        <a:spcBef>
                          <a:spcPts val="0"/>
                        </a:spcBef>
                        <a:spcAft>
                          <a:spcPts val="0"/>
                        </a:spcAft>
                        <a:buNone/>
                      </a:pPr>
                      <a:r>
                        <a:rPr lang="es-PE" sz="900">
                          <a:latin typeface="Calibri" panose="020F0502020204030204" pitchFamily="34" charset="0"/>
                          <a:ea typeface="Calibri"/>
                          <a:cs typeface="Calibri" panose="020F0502020204030204" pitchFamily="34" charset="0"/>
                          <a:sym typeface="Calibri"/>
                        </a:rPr>
                        <a:t>Año </a:t>
                      </a:r>
                      <a:endParaRPr sz="900">
                        <a:latin typeface="Calibri" panose="020F0502020204030204" pitchFamily="34" charset="0"/>
                        <a:ea typeface="Calibri"/>
                        <a:cs typeface="Calibri" panose="020F0502020204030204" pitchFamily="34" charset="0"/>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8EC540"/>
                    </a:solidFill>
                  </a:tcPr>
                </a:tc>
                <a:tc>
                  <a:txBody>
                    <a:bodyPr/>
                    <a:lstStyle/>
                    <a:p>
                      <a:pPr marL="0" marR="0" lvl="0" indent="0" algn="ctr" rtl="0">
                        <a:spcBef>
                          <a:spcPts val="0"/>
                        </a:spcBef>
                        <a:spcAft>
                          <a:spcPts val="0"/>
                        </a:spcAft>
                        <a:buNone/>
                      </a:pPr>
                      <a:r>
                        <a:rPr lang="es-PE" sz="900">
                          <a:latin typeface="Calibri" panose="020F0502020204030204" pitchFamily="34" charset="0"/>
                          <a:ea typeface="Calibri"/>
                          <a:cs typeface="Calibri" panose="020F0502020204030204" pitchFamily="34" charset="0"/>
                          <a:sym typeface="Calibri"/>
                        </a:rPr>
                        <a:t>ApePiloto</a:t>
                      </a:r>
                      <a:endParaRPr sz="900">
                        <a:latin typeface="Calibri" panose="020F0502020204030204" pitchFamily="34" charset="0"/>
                        <a:cs typeface="Calibri" panose="020F0502020204030204" pitchFamily="34" charset="0"/>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8EC540"/>
                    </a:solidFill>
                  </a:tcPr>
                </a:tc>
                <a:tc>
                  <a:txBody>
                    <a:bodyPr/>
                    <a:lstStyle/>
                    <a:p>
                      <a:pPr marL="0" marR="0" lvl="0" indent="0" algn="ctr" rtl="0">
                        <a:spcBef>
                          <a:spcPts val="0"/>
                        </a:spcBef>
                        <a:spcAft>
                          <a:spcPts val="0"/>
                        </a:spcAft>
                        <a:buNone/>
                      </a:pPr>
                      <a:r>
                        <a:rPr lang="es-PE" sz="900">
                          <a:latin typeface="Calibri" panose="020F0502020204030204" pitchFamily="34" charset="0"/>
                          <a:ea typeface="Calibri"/>
                          <a:cs typeface="Calibri" panose="020F0502020204030204" pitchFamily="34" charset="0"/>
                          <a:sym typeface="Calibri"/>
                        </a:rPr>
                        <a:t>Nacionalidad</a:t>
                      </a:r>
                      <a:endParaRPr sz="900">
                        <a:latin typeface="Calibri" panose="020F0502020204030204" pitchFamily="34" charset="0"/>
                        <a:cs typeface="Calibri" panose="020F0502020204030204" pitchFamily="34" charset="0"/>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8EC540"/>
                    </a:solidFill>
                  </a:tcPr>
                </a:tc>
                <a:tc>
                  <a:txBody>
                    <a:bodyPr/>
                    <a:lstStyle/>
                    <a:p>
                      <a:pPr marL="0" marR="0" lvl="0" indent="0" algn="ctr" rtl="0">
                        <a:spcBef>
                          <a:spcPts val="0"/>
                        </a:spcBef>
                        <a:spcAft>
                          <a:spcPts val="0"/>
                        </a:spcAft>
                        <a:buNone/>
                      </a:pPr>
                      <a:r>
                        <a:rPr lang="es-ES" sz="900">
                          <a:latin typeface="Calibri" panose="020F0502020204030204" pitchFamily="34" charset="0"/>
                          <a:cs typeface="Calibri" panose="020F0502020204030204" pitchFamily="34" charset="0"/>
                        </a:rPr>
                        <a:t>Posición</a:t>
                      </a:r>
                      <a:endParaRPr sz="900">
                        <a:latin typeface="Calibri" panose="020F0502020204030204" pitchFamily="34" charset="0"/>
                        <a:cs typeface="Calibri" panose="020F0502020204030204" pitchFamily="34" charset="0"/>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8EC540"/>
                    </a:solidFill>
                  </a:tcPr>
                </a:tc>
                <a:extLst>
                  <a:ext uri="{0D108BD9-81ED-4DB2-BD59-A6C34878D82A}">
                    <a16:rowId xmlns:a16="http://schemas.microsoft.com/office/drawing/2014/main" val="10000"/>
                  </a:ext>
                </a:extLst>
              </a:tr>
              <a:tr h="18062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Brazilian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2010</a:t>
                      </a:r>
                      <a:endParaRPr sz="800">
                        <a:latin typeface="Calibri" panose="020F0502020204030204" pitchFamily="34" charset="0"/>
                        <a:ea typeface="Calibri"/>
                        <a:cs typeface="Calibri" panose="020F0502020204030204" pitchFamily="34" charset="0"/>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Rosberg</a:t>
                      </a:r>
                      <a:endParaRPr sz="800">
                        <a:latin typeface="Calibri" panose="020F0502020204030204" pitchFamily="34" charset="0"/>
                        <a:ea typeface="Calibri"/>
                        <a:cs typeface="Calibri" panose="020F0502020204030204" pitchFamily="34" charset="0"/>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panose="020F0502020204030204" pitchFamily="34" charset="0"/>
                        <a:ea typeface="Calibri"/>
                        <a:cs typeface="Calibri" panose="020F0502020204030204" pitchFamily="34" charset="0"/>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6</a:t>
                      </a:r>
                      <a:endParaRPr sz="800">
                        <a:latin typeface="Calibri" panose="020F0502020204030204" pitchFamily="34" charset="0"/>
                        <a:ea typeface="Calibri"/>
                        <a:cs typeface="Calibri" panose="020F0502020204030204" pitchFamily="34" charset="0"/>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10001"/>
                  </a:ext>
                </a:extLst>
              </a:tr>
              <a:tr h="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Brazilian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2010</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Schumacher</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8"/>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7</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10002"/>
                  </a:ext>
                </a:extLst>
              </a:tr>
              <a:tr h="13534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Brazilian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2011</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Rosberg</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7</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10003"/>
                  </a:ext>
                </a:extLst>
              </a:tr>
              <a:tr h="17756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Belgian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2011</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Schumacher</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15</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10004"/>
                  </a:ext>
                </a:extLst>
              </a:tr>
              <a:tr h="17659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Brazilian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2012</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Rosberg</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a:ea typeface="Calibri"/>
                        <a:cs typeface="Calibri"/>
                        <a:sym typeface="Calibri"/>
                      </a:endParaRP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15</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10005"/>
                  </a:ext>
                </a:extLst>
              </a:tr>
              <a:tr h="18790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Brazilian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2012</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Schumacher</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7</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45317081"/>
                  </a:ext>
                </a:extLst>
              </a:tr>
              <a:tr h="1869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Brazilian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2013</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Hamilton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Brtish</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9</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1332955229"/>
                  </a:ext>
                </a:extLst>
              </a:tr>
              <a:tr h="16755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Brazilian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2013</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Rosberg</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5</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3087550363"/>
                  </a:ext>
                </a:extLst>
              </a:tr>
              <a:tr h="18499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Brazilian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2014</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Hamilton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Brtish</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2</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4071209045"/>
                  </a:ext>
                </a:extLst>
              </a:tr>
              <a:tr h="17789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Brazilian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2014</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Rosberg</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1734063283"/>
                  </a:ext>
                </a:extLst>
              </a:tr>
              <a:tr h="17078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Brazilian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2015</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Hamilton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Brtish</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2</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4164380259"/>
                  </a:ext>
                </a:extLst>
              </a:tr>
              <a:tr h="16368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Brazilian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2015</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Calibri" panose="020F0502020204030204" pitchFamily="34" charset="0"/>
                          <a:ea typeface="Calibri"/>
                          <a:cs typeface="Calibri" panose="020F0502020204030204" pitchFamily="34" charset="0"/>
                          <a:sym typeface="Calibri"/>
                        </a:rPr>
                        <a:t>Rosberg</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3675559937"/>
                  </a:ext>
                </a:extLst>
              </a:tr>
              <a:tr h="15676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Brazilian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2016</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Hamilton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a:ea typeface="Calibri"/>
                          <a:cs typeface="Calibri"/>
                          <a:sym typeface="Calibri"/>
                        </a:rPr>
                        <a:t>British</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1</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1989794142"/>
                  </a:ext>
                </a:extLst>
              </a:tr>
              <a:tr h="15676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Brazilian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2016</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Rosberg</a:t>
                      </a:r>
                      <a:endParaRPr lang="es-ES" sz="800">
                        <a:latin typeface="+mn-lt"/>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German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2</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126268671"/>
                  </a:ext>
                </a:extLst>
              </a:tr>
              <a:tr h="15676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Brazilian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mn-lt"/>
                          <a:ea typeface="Calibri"/>
                          <a:cs typeface="Calibri"/>
                          <a:sym typeface="Calibri"/>
                        </a:rPr>
                        <a:t>Bottas</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err="1">
                          <a:latin typeface="+mn-lt"/>
                          <a:ea typeface="Calibri"/>
                          <a:cs typeface="Calibri"/>
                          <a:sym typeface="Calibri"/>
                        </a:rPr>
                        <a:t>Finnish</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2</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555798986"/>
                  </a:ext>
                </a:extLst>
              </a:tr>
              <a:tr h="15676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ES" sz="800" err="1">
                          <a:latin typeface="Calibri" panose="020F0502020204030204" pitchFamily="34" charset="0"/>
                          <a:ea typeface="Calibri"/>
                          <a:cs typeface="Calibri" panose="020F0502020204030204" pitchFamily="34" charset="0"/>
                          <a:sym typeface="Calibri"/>
                        </a:rPr>
                        <a:t>Brazilian</a:t>
                      </a:r>
                      <a:r>
                        <a:rPr lang="es-ES" sz="800">
                          <a:latin typeface="Calibri" panose="020F0502020204030204" pitchFamily="34" charset="0"/>
                          <a:ea typeface="Calibri"/>
                          <a:cs typeface="Calibri" panose="020F0502020204030204" pitchFamily="34" charset="0"/>
                          <a:sym typeface="Calibri"/>
                        </a:rPr>
                        <a:t> Grand Prix</a:t>
                      </a:r>
                    </a:p>
                  </a:txBody>
                  <a:tcPr marL="69293" marR="69293" marT="34646" marB="34646" anchor="ctr">
                    <a:lnL w="12700" cap="flat" cmpd="sng">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2017</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panose="020F0502020204030204" pitchFamily="34" charset="0"/>
                          <a:ea typeface="Calibri"/>
                          <a:cs typeface="Calibri" panose="020F0502020204030204" pitchFamily="34" charset="0"/>
                          <a:sym typeface="Calibri"/>
                        </a:rPr>
                        <a:t>Hamilton</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rtl="0">
                        <a:spcBef>
                          <a:spcPts val="0"/>
                        </a:spcBef>
                        <a:spcAft>
                          <a:spcPts val="0"/>
                        </a:spcAft>
                        <a:buNone/>
                      </a:pPr>
                      <a:r>
                        <a:rPr lang="es-ES" sz="800">
                          <a:latin typeface="Calibri"/>
                          <a:ea typeface="Calibri"/>
                          <a:cs typeface="Calibri"/>
                          <a:sym typeface="Calibri"/>
                        </a:rPr>
                        <a:t>British</a:t>
                      </a:r>
                      <a:endParaRPr sz="800">
                        <a:latin typeface="Calibri"/>
                        <a:ea typeface="Calibri"/>
                        <a:cs typeface="Calibri"/>
                        <a:sym typeface="Calibri"/>
                      </a:endParaRP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s-ES" sz="800">
                          <a:latin typeface="Calibri" panose="020F0502020204030204" pitchFamily="34" charset="0"/>
                          <a:ea typeface="Calibri"/>
                          <a:cs typeface="Calibri" panose="020F0502020204030204" pitchFamily="34" charset="0"/>
                          <a:sym typeface="Calibri"/>
                        </a:rPr>
                        <a:t>4</a:t>
                      </a:r>
                    </a:p>
                  </a:txBody>
                  <a:tcPr marL="69293" marR="69293" marT="34646" marB="34646" anchor="ctr">
                    <a:lnL w="12700" cap="flat" cmpd="sng" algn="ctr">
                      <a:solidFill>
                        <a:srgbClr val="92C34D"/>
                      </a:solidFill>
                      <a:prstDash val="solid"/>
                      <a:round/>
                      <a:headEnd type="none" w="sm" len="sm"/>
                      <a:tailEnd type="none" w="sm" len="sm"/>
                    </a:lnL>
                    <a:lnR w="12700" cap="flat" cmpd="sng" algn="ctr">
                      <a:solidFill>
                        <a:srgbClr val="92C34D"/>
                      </a:solidFill>
                      <a:prstDash val="solid"/>
                      <a:round/>
                      <a:headEnd type="none" w="sm" len="sm"/>
                      <a:tailEnd type="none" w="sm" len="sm"/>
                    </a:lnR>
                    <a:lnT w="12700" cap="flat" cmpd="sng" algn="ctr">
                      <a:solidFill>
                        <a:srgbClr val="92C34D"/>
                      </a:solidFill>
                      <a:prstDash val="solid"/>
                      <a:round/>
                      <a:headEnd type="none" w="sm" len="sm"/>
                      <a:tailEnd type="none" w="sm" len="sm"/>
                    </a:lnT>
                    <a:lnB w="12700" cap="flat" cmpd="sng" algn="ctr">
                      <a:solidFill>
                        <a:srgbClr val="92C34D"/>
                      </a:solidFill>
                      <a:prstDash val="solid"/>
                      <a:round/>
                      <a:headEnd type="none" w="sm" len="sm"/>
                      <a:tailEnd type="none" w="sm" len="sm"/>
                    </a:lnB>
                    <a:solidFill>
                      <a:srgbClr val="DDEEC7"/>
                    </a:solidFill>
                  </a:tcPr>
                </a:tc>
                <a:extLst>
                  <a:ext uri="{0D108BD9-81ED-4DB2-BD59-A6C34878D82A}">
                    <a16:rowId xmlns:a16="http://schemas.microsoft.com/office/drawing/2014/main" val="2341646960"/>
                  </a:ext>
                </a:extLst>
              </a:tr>
            </a:tbl>
          </a:graphicData>
        </a:graphic>
      </p:graphicFrame>
      <p:sp>
        <p:nvSpPr>
          <p:cNvPr id="10" name="Rectángulo 9">
            <a:extLst>
              <a:ext uri="{FF2B5EF4-FFF2-40B4-BE49-F238E27FC236}">
                <a16:creationId xmlns:a16="http://schemas.microsoft.com/office/drawing/2014/main" id="{0C45AD75-1EC9-8FF6-CBE3-9458BED4025B}"/>
              </a:ext>
            </a:extLst>
          </p:cNvPr>
          <p:cNvSpPr/>
          <p:nvPr/>
        </p:nvSpPr>
        <p:spPr>
          <a:xfrm>
            <a:off x="5215573" y="1706002"/>
            <a:ext cx="1208556" cy="3512901"/>
          </a:xfrm>
          <a:prstGeom prst="rect">
            <a:avLst/>
          </a:prstGeom>
          <a:solidFill>
            <a:srgbClr val="FBC8C4"/>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8" name="CuadroTexto 7">
            <a:extLst>
              <a:ext uri="{FF2B5EF4-FFF2-40B4-BE49-F238E27FC236}">
                <a16:creationId xmlns:a16="http://schemas.microsoft.com/office/drawing/2014/main" id="{49B8CE65-189B-137C-106B-FFF22EEB67A2}"/>
              </a:ext>
            </a:extLst>
          </p:cNvPr>
          <p:cNvSpPr txBox="1"/>
          <p:nvPr/>
        </p:nvSpPr>
        <p:spPr>
          <a:xfrm>
            <a:off x="5215573" y="1706002"/>
            <a:ext cx="1208556" cy="3647152"/>
          </a:xfrm>
          <a:prstGeom prst="rect">
            <a:avLst/>
          </a:prstGeom>
          <a:noFill/>
        </p:spPr>
        <p:txBody>
          <a:bodyPr wrap="square">
            <a:spAutoFit/>
          </a:bodyPr>
          <a:lstStyle/>
          <a:p>
            <a:pPr>
              <a:spcAft>
                <a:spcPts val="600"/>
              </a:spcAft>
            </a:pPr>
            <a:r>
              <a:rPr lang="es-ES" sz="1000" dirty="0" err="1">
                <a:latin typeface="Calibri" panose="020F0502020204030204" pitchFamily="34" charset="0"/>
                <a:ea typeface="Calibri"/>
                <a:cs typeface="Calibri" panose="020F0502020204030204" pitchFamily="34" charset="0"/>
                <a:sym typeface="Calibri"/>
              </a:rPr>
              <a:t>NomConstructor</a:t>
            </a:r>
            <a:endParaRPr lang="es-ES" sz="1000" dirty="0">
              <a:latin typeface="Calibri" panose="020F0502020204030204" pitchFamily="34" charset="0"/>
              <a:ea typeface="Calibri"/>
              <a:cs typeface="Calibri" panose="020F0502020204030204" pitchFamily="34" charset="0"/>
              <a:sym typeface="Calibri"/>
            </a:endParaRPr>
          </a:p>
          <a:p>
            <a:pPr marL="92075"/>
            <a:r>
              <a:rPr lang="es-ES" sz="800" dirty="0">
                <a:latin typeface="Calibri" panose="020F0502020204030204" pitchFamily="34" charset="0"/>
                <a:ea typeface="Calibri"/>
                <a:cs typeface="Calibri" panose="020F0502020204030204" pitchFamily="34" charset="0"/>
                <a:sym typeface="Calibri"/>
              </a:rPr>
              <a:t>McLaren-BRM</a:t>
            </a:r>
          </a:p>
          <a:p>
            <a:pPr marL="92075"/>
            <a:r>
              <a:rPr lang="es-ES" sz="800" dirty="0">
                <a:latin typeface="Calibri" panose="020F0502020204030204" pitchFamily="34" charset="0"/>
                <a:cs typeface="Calibri" panose="020F0502020204030204" pitchFamily="34" charset="0"/>
                <a:sym typeface="Calibri"/>
              </a:rPr>
              <a:t>McLaren-Ford</a:t>
            </a:r>
          </a:p>
          <a:p>
            <a:pPr marL="92075"/>
            <a:r>
              <a:rPr lang="es-ES" sz="800" dirty="0">
                <a:latin typeface="Calibri" panose="020F0502020204030204" pitchFamily="34" charset="0"/>
                <a:cs typeface="Calibri" panose="020F0502020204030204" pitchFamily="34" charset="0"/>
                <a:sym typeface="Calibri"/>
              </a:rPr>
              <a:t>McLaren-</a:t>
            </a:r>
            <a:r>
              <a:rPr lang="es-ES" sz="800" dirty="0" err="1">
                <a:latin typeface="Calibri" panose="020F0502020204030204" pitchFamily="34" charset="0"/>
                <a:cs typeface="Calibri" panose="020F0502020204030204" pitchFamily="34" charset="0"/>
                <a:sym typeface="Calibri"/>
              </a:rPr>
              <a:t>Serenissima</a:t>
            </a:r>
            <a:endParaRPr lang="es-ES" sz="800" dirty="0">
              <a:latin typeface="Calibri" panose="020F0502020204030204" pitchFamily="34" charset="0"/>
              <a:cs typeface="Calibri" panose="020F0502020204030204" pitchFamily="34" charset="0"/>
              <a:sym typeface="Calibri"/>
            </a:endParaRPr>
          </a:p>
          <a:p>
            <a:pPr marL="92075"/>
            <a:r>
              <a:rPr lang="es-ES" sz="800" dirty="0">
                <a:latin typeface="Calibri" panose="020F0502020204030204" pitchFamily="34" charset="0"/>
                <a:cs typeface="Calibri" panose="020F0502020204030204" pitchFamily="34" charset="0"/>
                <a:sym typeface="Calibri"/>
              </a:rPr>
              <a:t>Mercedes</a:t>
            </a:r>
          </a:p>
          <a:p>
            <a:pPr marL="92075"/>
            <a:r>
              <a:rPr lang="es-ES" sz="800" dirty="0" err="1">
                <a:latin typeface="Calibri" panose="020F0502020204030204" pitchFamily="34" charset="0"/>
                <a:cs typeface="Calibri" panose="020F0502020204030204" pitchFamily="34" charset="0"/>
                <a:sym typeface="Calibri"/>
              </a:rPr>
              <a:t>Marzario</a:t>
            </a:r>
            <a:endParaRPr lang="es-ES" sz="800" dirty="0">
              <a:latin typeface="Calibri" panose="020F0502020204030204" pitchFamily="34" charset="0"/>
              <a:cs typeface="Calibri" panose="020F0502020204030204" pitchFamily="34" charset="0"/>
              <a:sym typeface="Calibri"/>
            </a:endParaRPr>
          </a:p>
          <a:p>
            <a:pPr marL="92075"/>
            <a:r>
              <a:rPr lang="es-ES" sz="800" dirty="0" err="1">
                <a:latin typeface="Calibri" panose="020F0502020204030204" pitchFamily="34" charset="0"/>
                <a:cs typeface="Calibri" panose="020F0502020204030204" pitchFamily="34" charset="0"/>
                <a:sym typeface="Calibri"/>
              </a:rPr>
              <a:t>Meskowski</a:t>
            </a:r>
            <a:endParaRPr lang="es-ES" sz="800" dirty="0">
              <a:latin typeface="Calibri" panose="020F0502020204030204" pitchFamily="34" charset="0"/>
              <a:cs typeface="Calibri" panose="020F0502020204030204" pitchFamily="34" charset="0"/>
              <a:sym typeface="Calibri"/>
            </a:endParaRPr>
          </a:p>
          <a:p>
            <a:pPr marL="92075"/>
            <a:r>
              <a:rPr lang="es-ES" sz="800" dirty="0">
                <a:latin typeface="Calibri" panose="020F0502020204030204" pitchFamily="34" charset="0"/>
                <a:cs typeface="Calibri" panose="020F0502020204030204" pitchFamily="34" charset="0"/>
                <a:sym typeface="Calibri"/>
              </a:rPr>
              <a:t>MF1</a:t>
            </a:r>
          </a:p>
          <a:p>
            <a:pPr marL="92075"/>
            <a:r>
              <a:rPr lang="es-ES" sz="800" dirty="0">
                <a:latin typeface="Calibri" panose="020F0502020204030204" pitchFamily="34" charset="0"/>
                <a:cs typeface="Calibri" panose="020F0502020204030204" pitchFamily="34" charset="0"/>
                <a:sym typeface="Calibri"/>
              </a:rPr>
              <a:t>Milano</a:t>
            </a:r>
          </a:p>
          <a:p>
            <a:pPr marL="92075"/>
            <a:r>
              <a:rPr lang="es-ES" sz="800" dirty="0">
                <a:latin typeface="Calibri" panose="020F0502020204030204" pitchFamily="34" charset="0"/>
                <a:cs typeface="Calibri" panose="020F0502020204030204" pitchFamily="34" charset="0"/>
                <a:sym typeface="Calibri"/>
              </a:rPr>
              <a:t>Minardi</a:t>
            </a:r>
          </a:p>
          <a:p>
            <a:pPr marL="92075"/>
            <a:r>
              <a:rPr lang="es-ES" sz="800" dirty="0">
                <a:latin typeface="Calibri" panose="020F0502020204030204" pitchFamily="34" charset="0"/>
                <a:cs typeface="Calibri" panose="020F0502020204030204" pitchFamily="34" charset="0"/>
                <a:sym typeface="Calibri"/>
              </a:rPr>
              <a:t>Moore</a:t>
            </a:r>
          </a:p>
          <a:p>
            <a:pPr marL="92075"/>
            <a:r>
              <a:rPr lang="es-ES" sz="800" dirty="0" err="1">
                <a:latin typeface="Calibri" panose="020F0502020204030204" pitchFamily="34" charset="0"/>
                <a:cs typeface="Calibri" panose="020F0502020204030204" pitchFamily="34" charset="0"/>
                <a:sym typeface="Calibri"/>
              </a:rPr>
              <a:t>Nichels</a:t>
            </a:r>
            <a:endParaRPr lang="es-ES" sz="800" dirty="0">
              <a:latin typeface="Calibri" panose="020F0502020204030204" pitchFamily="34" charset="0"/>
              <a:cs typeface="Calibri" panose="020F0502020204030204" pitchFamily="34" charset="0"/>
              <a:sym typeface="Calibri"/>
            </a:endParaRPr>
          </a:p>
          <a:p>
            <a:pPr marL="92075"/>
            <a:r>
              <a:rPr lang="es-ES" sz="800" dirty="0">
                <a:latin typeface="Calibri" panose="020F0502020204030204" pitchFamily="34" charset="0"/>
                <a:cs typeface="Calibri" panose="020F0502020204030204" pitchFamily="34" charset="0"/>
                <a:sym typeface="Calibri"/>
              </a:rPr>
              <a:t>Olson</a:t>
            </a:r>
          </a:p>
          <a:p>
            <a:pPr marL="92075"/>
            <a:r>
              <a:rPr lang="es-ES" sz="800" dirty="0">
                <a:latin typeface="Calibri" panose="020F0502020204030204" pitchFamily="34" charset="0"/>
                <a:cs typeface="Calibri" panose="020F0502020204030204" pitchFamily="34" charset="0"/>
                <a:sym typeface="Calibri"/>
              </a:rPr>
              <a:t>Onyx</a:t>
            </a:r>
          </a:p>
          <a:p>
            <a:pPr marL="92075"/>
            <a:r>
              <a:rPr lang="es-ES" sz="800" dirty="0">
                <a:latin typeface="Calibri" panose="020F0502020204030204" pitchFamily="34" charset="0"/>
                <a:cs typeface="Calibri" panose="020F0502020204030204" pitchFamily="34" charset="0"/>
                <a:sym typeface="Calibri"/>
              </a:rPr>
              <a:t>OSCA</a:t>
            </a:r>
          </a:p>
          <a:p>
            <a:pPr marL="92075"/>
            <a:r>
              <a:rPr lang="es-ES" sz="800" dirty="0">
                <a:latin typeface="Calibri" panose="020F0502020204030204" pitchFamily="34" charset="0"/>
                <a:cs typeface="Calibri" panose="020F0502020204030204" pitchFamily="34" charset="0"/>
                <a:sym typeface="Calibri"/>
              </a:rPr>
              <a:t>Osella</a:t>
            </a:r>
          </a:p>
          <a:p>
            <a:pPr marL="92075"/>
            <a:r>
              <a:rPr lang="es-ES" sz="800" dirty="0" err="1">
                <a:latin typeface="Calibri" panose="020F0502020204030204" pitchFamily="34" charset="0"/>
                <a:cs typeface="Calibri" panose="020F0502020204030204" pitchFamily="34" charset="0"/>
                <a:sym typeface="Calibri"/>
              </a:rPr>
              <a:t>Pacific</a:t>
            </a:r>
            <a:endParaRPr lang="es-ES" sz="800" dirty="0">
              <a:latin typeface="Calibri" panose="020F0502020204030204" pitchFamily="34" charset="0"/>
              <a:cs typeface="Calibri" panose="020F0502020204030204" pitchFamily="34" charset="0"/>
              <a:sym typeface="Calibri"/>
            </a:endParaRPr>
          </a:p>
          <a:p>
            <a:pPr marL="92075"/>
            <a:r>
              <a:rPr lang="es-ES" sz="800" dirty="0" err="1">
                <a:latin typeface="Calibri" panose="020F0502020204030204" pitchFamily="34" charset="0"/>
                <a:cs typeface="Calibri" panose="020F0502020204030204" pitchFamily="34" charset="0"/>
                <a:sym typeface="Calibri"/>
              </a:rPr>
              <a:t>Pankratz</a:t>
            </a:r>
            <a:endParaRPr lang="es-ES" sz="800" dirty="0">
              <a:latin typeface="Calibri" panose="020F0502020204030204" pitchFamily="34" charset="0"/>
              <a:cs typeface="Calibri" panose="020F0502020204030204" pitchFamily="34" charset="0"/>
              <a:sym typeface="Calibri"/>
            </a:endParaRPr>
          </a:p>
          <a:p>
            <a:pPr marL="92075"/>
            <a:r>
              <a:rPr lang="es-ES" sz="800" dirty="0" err="1">
                <a:latin typeface="Calibri" panose="020F0502020204030204" pitchFamily="34" charset="0"/>
                <a:cs typeface="Calibri" panose="020F0502020204030204" pitchFamily="34" charset="0"/>
                <a:sym typeface="Calibri"/>
              </a:rPr>
              <a:t>Parnelli</a:t>
            </a:r>
            <a:endParaRPr lang="es-ES" sz="800" dirty="0">
              <a:latin typeface="Calibri" panose="020F0502020204030204" pitchFamily="34" charset="0"/>
              <a:cs typeface="Calibri" panose="020F0502020204030204" pitchFamily="34" charset="0"/>
              <a:sym typeface="Calibri"/>
            </a:endParaRPr>
          </a:p>
          <a:p>
            <a:pPr marL="92075"/>
            <a:r>
              <a:rPr lang="es-ES" sz="800" dirty="0" err="1">
                <a:latin typeface="Calibri" panose="020F0502020204030204" pitchFamily="34" charset="0"/>
                <a:cs typeface="Calibri" panose="020F0502020204030204" pitchFamily="34" charset="0"/>
                <a:sym typeface="Calibri"/>
              </a:rPr>
              <a:t>Pawl</a:t>
            </a:r>
            <a:endParaRPr lang="es-ES" sz="800" dirty="0">
              <a:latin typeface="Calibri" panose="020F0502020204030204" pitchFamily="34" charset="0"/>
              <a:cs typeface="Calibri" panose="020F0502020204030204" pitchFamily="34" charset="0"/>
              <a:sym typeface="Calibri"/>
            </a:endParaRPr>
          </a:p>
          <a:p>
            <a:pPr marL="92075"/>
            <a:r>
              <a:rPr lang="es-ES" sz="800" dirty="0" err="1">
                <a:latin typeface="Calibri" panose="020F0502020204030204" pitchFamily="34" charset="0"/>
                <a:cs typeface="Calibri" panose="020F0502020204030204" pitchFamily="34" charset="0"/>
                <a:sym typeface="Calibri"/>
              </a:rPr>
              <a:t>Penske</a:t>
            </a:r>
            <a:endParaRPr lang="es-ES" sz="800" dirty="0">
              <a:latin typeface="Calibri" panose="020F0502020204030204" pitchFamily="34" charset="0"/>
              <a:cs typeface="Calibri" panose="020F0502020204030204" pitchFamily="34" charset="0"/>
              <a:sym typeface="Calibri"/>
            </a:endParaRPr>
          </a:p>
          <a:p>
            <a:pPr marL="92075"/>
            <a:r>
              <a:rPr lang="es-ES" sz="800" dirty="0">
                <a:latin typeface="Calibri" panose="020F0502020204030204" pitchFamily="34" charset="0"/>
                <a:cs typeface="Calibri" panose="020F0502020204030204" pitchFamily="34" charset="0"/>
                <a:sym typeface="Calibri"/>
              </a:rPr>
              <a:t>Phillips</a:t>
            </a:r>
          </a:p>
          <a:p>
            <a:pPr marL="92075"/>
            <a:r>
              <a:rPr lang="es-ES" sz="800" dirty="0" err="1">
                <a:latin typeface="Calibri" panose="020F0502020204030204" pitchFamily="34" charset="0"/>
                <a:cs typeface="Calibri" panose="020F0502020204030204" pitchFamily="34" charset="0"/>
                <a:sym typeface="Calibri"/>
              </a:rPr>
              <a:t>Politoys</a:t>
            </a:r>
            <a:endParaRPr lang="es-ES" sz="800" dirty="0">
              <a:latin typeface="Calibri" panose="020F0502020204030204" pitchFamily="34" charset="0"/>
              <a:cs typeface="Calibri" panose="020F0502020204030204" pitchFamily="34" charset="0"/>
              <a:sym typeface="Calibri"/>
            </a:endParaRPr>
          </a:p>
          <a:p>
            <a:pPr marL="92075"/>
            <a:r>
              <a:rPr lang="es-ES" sz="800" dirty="0">
                <a:latin typeface="Calibri" panose="020F0502020204030204" pitchFamily="34" charset="0"/>
                <a:cs typeface="Calibri" panose="020F0502020204030204" pitchFamily="34" charset="0"/>
                <a:sym typeface="Calibri"/>
              </a:rPr>
              <a:t>Porsche</a:t>
            </a:r>
          </a:p>
          <a:p>
            <a:pPr marL="92075"/>
            <a:r>
              <a:rPr lang="es-ES" sz="800" dirty="0" err="1">
                <a:latin typeface="Calibri" panose="020F0502020204030204" pitchFamily="34" charset="0"/>
                <a:cs typeface="Calibri" panose="020F0502020204030204" pitchFamily="34" charset="0"/>
                <a:sym typeface="Calibri"/>
              </a:rPr>
              <a:t>Prost</a:t>
            </a:r>
            <a:endParaRPr lang="es-ES" sz="800" dirty="0">
              <a:latin typeface="Calibri" panose="020F0502020204030204" pitchFamily="34" charset="0"/>
              <a:cs typeface="Calibri" panose="020F0502020204030204" pitchFamily="34" charset="0"/>
              <a:sym typeface="Calibri"/>
            </a:endParaRPr>
          </a:p>
          <a:p>
            <a:pPr marL="92075"/>
            <a:r>
              <a:rPr lang="es-ES" sz="800" dirty="0" err="1">
                <a:latin typeface="Calibri" panose="020F0502020204030204" pitchFamily="34" charset="0"/>
                <a:cs typeface="Calibri" panose="020F0502020204030204" pitchFamily="34" charset="0"/>
                <a:sym typeface="Calibri"/>
              </a:rPr>
              <a:t>Protos</a:t>
            </a:r>
            <a:endParaRPr lang="es-ES" sz="800" dirty="0">
              <a:latin typeface="Calibri" panose="020F0502020204030204" pitchFamily="34" charset="0"/>
              <a:cs typeface="Calibri" panose="020F0502020204030204" pitchFamily="34" charset="0"/>
              <a:sym typeface="Calibri"/>
            </a:endParaRPr>
          </a:p>
          <a:p>
            <a:pPr marL="92075"/>
            <a:r>
              <a:rPr lang="es-ES" sz="800" dirty="0">
                <a:latin typeface="Calibri" panose="020F0502020204030204" pitchFamily="34" charset="0"/>
                <a:cs typeface="Calibri" panose="020F0502020204030204" pitchFamily="34" charset="0"/>
                <a:sym typeface="Calibri"/>
              </a:rPr>
              <a:t>-</a:t>
            </a:r>
            <a:endParaRPr lang="es-PE" sz="800" dirty="0"/>
          </a:p>
        </p:txBody>
      </p:sp>
      <p:sp>
        <p:nvSpPr>
          <p:cNvPr id="9" name="Rectángulo 8">
            <a:extLst>
              <a:ext uri="{FF2B5EF4-FFF2-40B4-BE49-F238E27FC236}">
                <a16:creationId xmlns:a16="http://schemas.microsoft.com/office/drawing/2014/main" id="{5FE6CE52-6F54-51CE-B462-3098F2F8A1CE}"/>
              </a:ext>
            </a:extLst>
          </p:cNvPr>
          <p:cNvSpPr/>
          <p:nvPr/>
        </p:nvSpPr>
        <p:spPr>
          <a:xfrm>
            <a:off x="5316434" y="2382846"/>
            <a:ext cx="52773" cy="52773"/>
          </a:xfrm>
          <a:prstGeom prst="rect">
            <a:avLst/>
          </a:prstGeom>
          <a:solidFill>
            <a:schemeClr val="tx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15" name="Rectángulo 14">
            <a:extLst>
              <a:ext uri="{FF2B5EF4-FFF2-40B4-BE49-F238E27FC236}">
                <a16:creationId xmlns:a16="http://schemas.microsoft.com/office/drawing/2014/main" id="{1BD35EEE-B0DD-1052-A847-80B6319C8C4C}"/>
              </a:ext>
            </a:extLst>
          </p:cNvPr>
          <p:cNvSpPr/>
          <p:nvPr/>
        </p:nvSpPr>
        <p:spPr>
          <a:xfrm>
            <a:off x="6888278" y="2744472"/>
            <a:ext cx="52773" cy="52773"/>
          </a:xfrm>
          <a:prstGeom prst="rect">
            <a:avLst/>
          </a:prstGeom>
          <a:solidFill>
            <a:schemeClr val="tx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16" name="Rectángulo 15">
            <a:extLst>
              <a:ext uri="{FF2B5EF4-FFF2-40B4-BE49-F238E27FC236}">
                <a16:creationId xmlns:a16="http://schemas.microsoft.com/office/drawing/2014/main" id="{DF8AAD92-FAD7-9FF8-E9DA-E48BBEDD8364}"/>
              </a:ext>
            </a:extLst>
          </p:cNvPr>
          <p:cNvSpPr/>
          <p:nvPr/>
        </p:nvSpPr>
        <p:spPr>
          <a:xfrm>
            <a:off x="6888278" y="4562940"/>
            <a:ext cx="52773" cy="52773"/>
          </a:xfrm>
          <a:prstGeom prst="rect">
            <a:avLst/>
          </a:prstGeom>
          <a:noFill/>
          <a:ln w="12700">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17" name="Rectángulo 16">
            <a:extLst>
              <a:ext uri="{FF2B5EF4-FFF2-40B4-BE49-F238E27FC236}">
                <a16:creationId xmlns:a16="http://schemas.microsoft.com/office/drawing/2014/main" id="{AD424AB0-E47C-FD2E-629B-E2385ED5E76A}"/>
              </a:ext>
            </a:extLst>
          </p:cNvPr>
          <p:cNvSpPr/>
          <p:nvPr/>
        </p:nvSpPr>
        <p:spPr>
          <a:xfrm>
            <a:off x="6888278" y="4689940"/>
            <a:ext cx="52773" cy="52773"/>
          </a:xfrm>
          <a:prstGeom prst="rect">
            <a:avLst/>
          </a:prstGeom>
          <a:noFill/>
          <a:ln w="12700">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12" name="CuadroTexto 11">
            <a:extLst>
              <a:ext uri="{FF2B5EF4-FFF2-40B4-BE49-F238E27FC236}">
                <a16:creationId xmlns:a16="http://schemas.microsoft.com/office/drawing/2014/main" id="{52008B7A-4C56-E6F1-05C1-D3CAA464C80C}"/>
              </a:ext>
            </a:extLst>
          </p:cNvPr>
          <p:cNvSpPr txBox="1"/>
          <p:nvPr/>
        </p:nvSpPr>
        <p:spPr>
          <a:xfrm>
            <a:off x="6797869" y="1706002"/>
            <a:ext cx="1378039" cy="3139321"/>
          </a:xfrm>
          <a:prstGeom prst="rect">
            <a:avLst/>
          </a:prstGeom>
          <a:noFill/>
        </p:spPr>
        <p:txBody>
          <a:bodyPr wrap="square">
            <a:spAutoFit/>
          </a:bodyPr>
          <a:lstStyle/>
          <a:p>
            <a:pPr>
              <a:spcAft>
                <a:spcPts val="600"/>
              </a:spcAft>
            </a:pPr>
            <a:r>
              <a:rPr lang="es-ES" sz="1000" dirty="0" err="1">
                <a:latin typeface="Calibri" panose="020F0502020204030204" pitchFamily="34" charset="0"/>
                <a:ea typeface="Calibri"/>
                <a:cs typeface="Calibri" panose="020F0502020204030204" pitchFamily="34" charset="0"/>
                <a:sym typeface="Calibri"/>
              </a:rPr>
              <a:t>Pais</a:t>
            </a:r>
            <a:endParaRPr lang="es-ES" sz="1000" dirty="0">
              <a:latin typeface="Calibri" panose="020F0502020204030204" pitchFamily="34" charset="0"/>
              <a:ea typeface="Calibri"/>
              <a:cs typeface="Calibri" panose="020F0502020204030204" pitchFamily="34" charset="0"/>
              <a:sym typeface="Calibri"/>
            </a:endParaRPr>
          </a:p>
          <a:p>
            <a:pPr marL="92075"/>
            <a:r>
              <a:rPr lang="es-ES" sz="800" dirty="0">
                <a:latin typeface="Calibri" panose="020F0502020204030204" pitchFamily="34" charset="0"/>
                <a:ea typeface="Calibri"/>
                <a:cs typeface="Calibri" panose="020F0502020204030204" pitchFamily="34" charset="0"/>
                <a:sym typeface="Calibri"/>
              </a:rPr>
              <a:t>Argentina</a:t>
            </a:r>
          </a:p>
          <a:p>
            <a:pPr marL="92075"/>
            <a:r>
              <a:rPr lang="es-ES" sz="800" dirty="0">
                <a:latin typeface="Calibri" panose="020F0502020204030204" pitchFamily="34" charset="0"/>
                <a:cs typeface="Calibri" panose="020F0502020204030204" pitchFamily="34" charset="0"/>
                <a:sym typeface="Calibri"/>
              </a:rPr>
              <a:t>Australia</a:t>
            </a:r>
          </a:p>
          <a:p>
            <a:pPr marL="92075"/>
            <a:r>
              <a:rPr lang="es-ES" sz="800" dirty="0">
                <a:latin typeface="Calibri" panose="020F0502020204030204" pitchFamily="34" charset="0"/>
                <a:cs typeface="Calibri" panose="020F0502020204030204" pitchFamily="34" charset="0"/>
                <a:sym typeface="Calibri"/>
              </a:rPr>
              <a:t>Austria</a:t>
            </a:r>
          </a:p>
          <a:p>
            <a:pPr marL="92075"/>
            <a:r>
              <a:rPr lang="es-ES" sz="800" dirty="0" err="1">
                <a:latin typeface="Calibri" panose="020F0502020204030204" pitchFamily="34" charset="0"/>
                <a:cs typeface="Calibri" panose="020F0502020204030204" pitchFamily="34" charset="0"/>
                <a:sym typeface="Calibri"/>
              </a:rPr>
              <a:t>Azerbaijan</a:t>
            </a:r>
            <a:endParaRPr lang="es-ES" sz="800" dirty="0">
              <a:latin typeface="Calibri" panose="020F0502020204030204" pitchFamily="34" charset="0"/>
              <a:cs typeface="Calibri" panose="020F0502020204030204" pitchFamily="34" charset="0"/>
              <a:sym typeface="Calibri"/>
            </a:endParaRPr>
          </a:p>
          <a:p>
            <a:pPr marL="92075"/>
            <a:r>
              <a:rPr lang="es-ES" sz="800" dirty="0" err="1">
                <a:latin typeface="Calibri" panose="020F0502020204030204" pitchFamily="34" charset="0"/>
                <a:cs typeface="Calibri" panose="020F0502020204030204" pitchFamily="34" charset="0"/>
                <a:sym typeface="Calibri"/>
              </a:rPr>
              <a:t>Bahrain</a:t>
            </a:r>
            <a:endParaRPr lang="es-ES" sz="800" dirty="0">
              <a:latin typeface="Calibri" panose="020F0502020204030204" pitchFamily="34" charset="0"/>
              <a:cs typeface="Calibri" panose="020F0502020204030204" pitchFamily="34" charset="0"/>
              <a:sym typeface="Calibri"/>
            </a:endParaRPr>
          </a:p>
          <a:p>
            <a:pPr marL="92075"/>
            <a:r>
              <a:rPr lang="es-ES" sz="800" dirty="0" err="1">
                <a:latin typeface="Calibri" panose="020F0502020204030204" pitchFamily="34" charset="0"/>
                <a:cs typeface="Calibri" panose="020F0502020204030204" pitchFamily="34" charset="0"/>
                <a:sym typeface="Calibri"/>
              </a:rPr>
              <a:t>Belgium</a:t>
            </a:r>
            <a:endParaRPr lang="es-ES" sz="800" dirty="0">
              <a:latin typeface="Calibri" panose="020F0502020204030204" pitchFamily="34" charset="0"/>
              <a:cs typeface="Calibri" panose="020F0502020204030204" pitchFamily="34" charset="0"/>
              <a:sym typeface="Calibri"/>
            </a:endParaRPr>
          </a:p>
          <a:p>
            <a:pPr marL="92075"/>
            <a:r>
              <a:rPr lang="es-ES" sz="800" dirty="0" err="1">
                <a:latin typeface="Calibri" panose="020F0502020204030204" pitchFamily="34" charset="0"/>
                <a:cs typeface="Calibri" panose="020F0502020204030204" pitchFamily="34" charset="0"/>
                <a:sym typeface="Calibri"/>
              </a:rPr>
              <a:t>Brazil</a:t>
            </a:r>
            <a:endParaRPr lang="es-ES" sz="800" dirty="0">
              <a:latin typeface="Calibri" panose="020F0502020204030204" pitchFamily="34" charset="0"/>
              <a:cs typeface="Calibri" panose="020F0502020204030204" pitchFamily="34" charset="0"/>
              <a:sym typeface="Calibri"/>
            </a:endParaRPr>
          </a:p>
          <a:p>
            <a:pPr marL="92075"/>
            <a:r>
              <a:rPr lang="es-ES" sz="800" dirty="0">
                <a:latin typeface="Calibri" panose="020F0502020204030204" pitchFamily="34" charset="0"/>
                <a:cs typeface="Calibri" panose="020F0502020204030204" pitchFamily="34" charset="0"/>
                <a:sym typeface="Calibri"/>
              </a:rPr>
              <a:t>Cabada</a:t>
            </a:r>
          </a:p>
          <a:p>
            <a:pPr marL="92075"/>
            <a:r>
              <a:rPr lang="es-ES" sz="800" dirty="0">
                <a:latin typeface="Calibri" panose="020F0502020204030204" pitchFamily="34" charset="0"/>
                <a:cs typeface="Calibri" panose="020F0502020204030204" pitchFamily="34" charset="0"/>
                <a:sym typeface="Calibri"/>
              </a:rPr>
              <a:t>China</a:t>
            </a:r>
          </a:p>
          <a:p>
            <a:pPr marL="92075"/>
            <a:r>
              <a:rPr lang="es-ES" sz="800" dirty="0">
                <a:latin typeface="Calibri" panose="020F0502020204030204" pitchFamily="34" charset="0"/>
                <a:cs typeface="Calibri" panose="020F0502020204030204" pitchFamily="34" charset="0"/>
                <a:sym typeface="Calibri"/>
              </a:rPr>
              <a:t>France</a:t>
            </a:r>
          </a:p>
          <a:p>
            <a:pPr marL="92075"/>
            <a:r>
              <a:rPr lang="es-ES" sz="800" dirty="0" err="1">
                <a:latin typeface="Calibri" panose="020F0502020204030204" pitchFamily="34" charset="0"/>
                <a:cs typeface="Calibri" panose="020F0502020204030204" pitchFamily="34" charset="0"/>
                <a:sym typeface="Calibri"/>
              </a:rPr>
              <a:t>Germany</a:t>
            </a:r>
            <a:endParaRPr lang="es-ES" sz="800" dirty="0">
              <a:latin typeface="Calibri" panose="020F0502020204030204" pitchFamily="34" charset="0"/>
              <a:cs typeface="Calibri" panose="020F0502020204030204" pitchFamily="34" charset="0"/>
              <a:sym typeface="Calibri"/>
            </a:endParaRPr>
          </a:p>
          <a:p>
            <a:pPr marL="92075"/>
            <a:r>
              <a:rPr lang="es-ES" sz="800" dirty="0" err="1">
                <a:latin typeface="Calibri" panose="020F0502020204030204" pitchFamily="34" charset="0"/>
                <a:cs typeface="Calibri" panose="020F0502020204030204" pitchFamily="34" charset="0"/>
                <a:sym typeface="Calibri"/>
              </a:rPr>
              <a:t>Hungary</a:t>
            </a:r>
            <a:endParaRPr lang="es-ES" sz="800" dirty="0">
              <a:latin typeface="Calibri" panose="020F0502020204030204" pitchFamily="34" charset="0"/>
              <a:cs typeface="Calibri" panose="020F0502020204030204" pitchFamily="34" charset="0"/>
              <a:sym typeface="Calibri"/>
            </a:endParaRPr>
          </a:p>
          <a:p>
            <a:pPr marL="92075"/>
            <a:r>
              <a:rPr lang="es-ES" sz="800" dirty="0">
                <a:latin typeface="Calibri" panose="020F0502020204030204" pitchFamily="34" charset="0"/>
                <a:cs typeface="Calibri" panose="020F0502020204030204" pitchFamily="34" charset="0"/>
                <a:sym typeface="Calibri"/>
              </a:rPr>
              <a:t>India</a:t>
            </a:r>
          </a:p>
          <a:p>
            <a:pPr marL="92075"/>
            <a:r>
              <a:rPr lang="es-ES" sz="800" dirty="0" err="1">
                <a:latin typeface="Calibri" panose="020F0502020204030204" pitchFamily="34" charset="0"/>
                <a:cs typeface="Calibri" panose="020F0502020204030204" pitchFamily="34" charset="0"/>
                <a:sym typeface="Calibri"/>
              </a:rPr>
              <a:t>Italy</a:t>
            </a:r>
            <a:endParaRPr lang="es-ES" sz="800" dirty="0">
              <a:latin typeface="Calibri" panose="020F0502020204030204" pitchFamily="34" charset="0"/>
              <a:cs typeface="Calibri" panose="020F0502020204030204" pitchFamily="34" charset="0"/>
              <a:sym typeface="Calibri"/>
            </a:endParaRPr>
          </a:p>
          <a:p>
            <a:pPr marL="92075"/>
            <a:r>
              <a:rPr lang="es-ES" sz="800" dirty="0" err="1">
                <a:latin typeface="Calibri" panose="020F0502020204030204" pitchFamily="34" charset="0"/>
                <a:cs typeface="Calibri" panose="020F0502020204030204" pitchFamily="34" charset="0"/>
                <a:sym typeface="Calibri"/>
              </a:rPr>
              <a:t>Japan</a:t>
            </a:r>
            <a:endParaRPr lang="es-ES" sz="800" dirty="0">
              <a:latin typeface="Calibri" panose="020F0502020204030204" pitchFamily="34" charset="0"/>
              <a:cs typeface="Calibri" panose="020F0502020204030204" pitchFamily="34" charset="0"/>
              <a:sym typeface="Calibri"/>
            </a:endParaRPr>
          </a:p>
          <a:p>
            <a:pPr marL="92075"/>
            <a:r>
              <a:rPr lang="es-ES" sz="800" dirty="0" err="1">
                <a:latin typeface="Calibri" panose="020F0502020204030204" pitchFamily="34" charset="0"/>
                <a:cs typeface="Calibri" panose="020F0502020204030204" pitchFamily="34" charset="0"/>
                <a:sym typeface="Calibri"/>
              </a:rPr>
              <a:t>Korea</a:t>
            </a:r>
            <a:endParaRPr lang="es-ES" sz="800" dirty="0">
              <a:latin typeface="Calibri" panose="020F0502020204030204" pitchFamily="34" charset="0"/>
              <a:cs typeface="Calibri" panose="020F0502020204030204" pitchFamily="34" charset="0"/>
              <a:sym typeface="Calibri"/>
            </a:endParaRPr>
          </a:p>
          <a:p>
            <a:pPr marL="92075"/>
            <a:r>
              <a:rPr lang="es-ES" sz="800" dirty="0">
                <a:latin typeface="Calibri" panose="020F0502020204030204" pitchFamily="34" charset="0"/>
                <a:cs typeface="Calibri" panose="020F0502020204030204" pitchFamily="34" charset="0"/>
                <a:sym typeface="Calibri"/>
              </a:rPr>
              <a:t>Malaysia</a:t>
            </a:r>
          </a:p>
          <a:p>
            <a:pPr marL="92075"/>
            <a:r>
              <a:rPr lang="es-ES" sz="800" dirty="0" err="1">
                <a:latin typeface="Calibri" panose="020F0502020204030204" pitchFamily="34" charset="0"/>
                <a:cs typeface="Calibri" panose="020F0502020204030204" pitchFamily="34" charset="0"/>
                <a:sym typeface="Calibri"/>
              </a:rPr>
              <a:t>Mexico</a:t>
            </a:r>
            <a:endParaRPr lang="es-ES" sz="800" dirty="0">
              <a:latin typeface="Calibri" panose="020F0502020204030204" pitchFamily="34" charset="0"/>
              <a:cs typeface="Calibri" panose="020F0502020204030204" pitchFamily="34" charset="0"/>
              <a:sym typeface="Calibri"/>
            </a:endParaRPr>
          </a:p>
          <a:p>
            <a:pPr marL="92075"/>
            <a:endParaRPr lang="es-ES" sz="800" dirty="0">
              <a:latin typeface="Calibri" panose="020F0502020204030204" pitchFamily="34" charset="0"/>
              <a:cs typeface="Calibri" panose="020F0502020204030204" pitchFamily="34" charset="0"/>
              <a:sym typeface="Calibri"/>
            </a:endParaRPr>
          </a:p>
          <a:p>
            <a:pPr marL="4763">
              <a:spcAft>
                <a:spcPts val="600"/>
              </a:spcAft>
            </a:pPr>
            <a:r>
              <a:rPr lang="es-ES" sz="1000" dirty="0" err="1">
                <a:latin typeface="Calibri" panose="020F0502020204030204" pitchFamily="34" charset="0"/>
                <a:cs typeface="Calibri" panose="020F0502020204030204" pitchFamily="34" charset="0"/>
                <a:sym typeface="Calibri"/>
              </a:rPr>
              <a:t>NomCircuito</a:t>
            </a:r>
            <a:endParaRPr lang="es-ES" sz="1000" dirty="0">
              <a:latin typeface="Calibri" panose="020F0502020204030204" pitchFamily="34" charset="0"/>
              <a:cs typeface="Calibri" panose="020F0502020204030204" pitchFamily="34" charset="0"/>
              <a:sym typeface="Calibri"/>
            </a:endParaRPr>
          </a:p>
          <a:p>
            <a:pPr marL="92075"/>
            <a:r>
              <a:rPr lang="es-ES" sz="800" dirty="0" err="1">
                <a:latin typeface="Calibri" panose="020F0502020204030204" pitchFamily="34" charset="0"/>
                <a:cs typeface="Calibri" panose="020F0502020204030204" pitchFamily="34" charset="0"/>
                <a:sym typeface="Calibri"/>
              </a:rPr>
              <a:t>Auti_dromo</a:t>
            </a:r>
            <a:r>
              <a:rPr lang="es-ES" sz="800" dirty="0">
                <a:latin typeface="Calibri" panose="020F0502020204030204" pitchFamily="34" charset="0"/>
                <a:cs typeface="Calibri" panose="020F0502020204030204" pitchFamily="34" charset="0"/>
                <a:sym typeface="Calibri"/>
              </a:rPr>
              <a:t> </a:t>
            </a:r>
            <a:r>
              <a:rPr lang="es-ES" sz="800" dirty="0" err="1">
                <a:latin typeface="Calibri" panose="020F0502020204030204" pitchFamily="34" charset="0"/>
                <a:cs typeface="Calibri" panose="020F0502020204030204" pitchFamily="34" charset="0"/>
                <a:sym typeface="Calibri"/>
              </a:rPr>
              <a:t>internacio</a:t>
            </a:r>
            <a:r>
              <a:rPr lang="es-ES" sz="800" dirty="0">
                <a:latin typeface="Calibri" panose="020F0502020204030204" pitchFamily="34" charset="0"/>
                <a:cs typeface="Calibri" panose="020F0502020204030204" pitchFamily="34" charset="0"/>
                <a:sym typeface="Calibri"/>
              </a:rPr>
              <a:t>…</a:t>
            </a:r>
          </a:p>
          <a:p>
            <a:pPr marL="92075"/>
            <a:r>
              <a:rPr lang="es-ES" sz="800" dirty="0" err="1">
                <a:latin typeface="Calibri" panose="020F0502020204030204" pitchFamily="34" charset="0"/>
                <a:cs typeface="Calibri" panose="020F0502020204030204" pitchFamily="34" charset="0"/>
                <a:sym typeface="Calibri"/>
              </a:rPr>
              <a:t>Auti_dromo</a:t>
            </a:r>
            <a:r>
              <a:rPr lang="es-ES" sz="800" dirty="0">
                <a:latin typeface="Calibri" panose="020F0502020204030204" pitchFamily="34" charset="0"/>
                <a:cs typeface="Calibri" panose="020F0502020204030204" pitchFamily="34" charset="0"/>
                <a:sym typeface="Calibri"/>
              </a:rPr>
              <a:t> Josi</a:t>
            </a:r>
            <a:r>
              <a:rPr lang="es-ES_tradnl" sz="800" dirty="0">
                <a:latin typeface="Calibri" panose="020F0502020204030204" pitchFamily="34" charset="0"/>
                <a:cs typeface="Calibri" panose="020F0502020204030204" pitchFamily="34" charset="0"/>
              </a:rPr>
              <a:t>© Carl…</a:t>
            </a:r>
            <a:endParaRPr lang="es-PE"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71417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32869" y="912813"/>
            <a:ext cx="8142818" cy="569387"/>
          </a:xfrm>
          <a:prstGeom prst="rect">
            <a:avLst/>
          </a:prstGeom>
        </p:spPr>
        <p:txBody>
          <a:bodyPr vert="horz" wrap="square" lIns="0" tIns="0" rIns="0" bIns="0" rtlCol="0">
            <a:spAutoFit/>
          </a:bodyPr>
          <a:lstStyle/>
          <a:p>
            <a:pPr marL="11725">
              <a:spcAft>
                <a:spcPts val="600"/>
              </a:spcAft>
              <a:buSzPct val="100000"/>
              <a:tabLst>
                <a:tab pos="121285" algn="l"/>
              </a:tabLst>
            </a:pPr>
            <a:r>
              <a:rPr lang="es-ES_tradnl" sz="1600" b="1" spc="-10" dirty="0">
                <a:solidFill>
                  <a:srgbClr val="262626"/>
                </a:solidFill>
                <a:latin typeface="Calibri" panose="020F0502020204030204" pitchFamily="34" charset="0"/>
                <a:cs typeface="Calibri" panose="020F0502020204030204" pitchFamily="34" charset="0"/>
              </a:rPr>
              <a:t>MEDIDOR</a:t>
            </a:r>
          </a:p>
          <a:p>
            <a:pPr marL="180000" indent="-168275">
              <a:buSzPct val="100000"/>
              <a:buFont typeface="Arial"/>
              <a:buChar char="•"/>
              <a:tabLst>
                <a:tab pos="121285" algn="l"/>
              </a:tabLst>
            </a:pPr>
            <a:r>
              <a:rPr lang="es-ES_tradnl" sz="1600" spc="-10" dirty="0">
                <a:solidFill>
                  <a:srgbClr val="262626"/>
                </a:solidFill>
                <a:latin typeface="Calibri" panose="020F0502020204030204" pitchFamily="34" charset="0"/>
                <a:cs typeface="Calibri" panose="020F0502020204030204" pitchFamily="34" charset="0"/>
              </a:rPr>
              <a:t>Compara un valor obtenido contra el valor meta a obtener.</a:t>
            </a:r>
          </a:p>
        </p:txBody>
      </p:sp>
      <p:sp>
        <p:nvSpPr>
          <p:cNvPr id="2" name="Google Shape;127;p5">
            <a:extLst>
              <a:ext uri="{FF2B5EF4-FFF2-40B4-BE49-F238E27FC236}">
                <a16:creationId xmlns:a16="http://schemas.microsoft.com/office/drawing/2014/main" id="{C9A32826-DE3D-52D3-1F4B-D8C02DE2590A}"/>
              </a:ext>
            </a:extLst>
          </p:cNvPr>
          <p:cNvSpPr/>
          <p:nvPr/>
        </p:nvSpPr>
        <p:spPr>
          <a:xfrm>
            <a:off x="503238" y="376836"/>
            <a:ext cx="4401784" cy="138499"/>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None/>
            </a:pPr>
            <a:r>
              <a:rPr lang="es-PE" sz="1000" b="1">
                <a:solidFill>
                  <a:srgbClr val="7F7F7F"/>
                </a:solidFill>
                <a:latin typeface="Calibri"/>
                <a:ea typeface="Calibri"/>
                <a:cs typeface="Calibri"/>
                <a:sym typeface="Calibri"/>
              </a:rPr>
              <a:t>+ </a:t>
            </a:r>
            <a:r>
              <a:rPr lang="en-US" sz="1000">
                <a:solidFill>
                  <a:srgbClr val="A5A5A5"/>
                </a:solidFill>
                <a:latin typeface="Calibri"/>
                <a:cs typeface="Calibri"/>
              </a:rPr>
              <a:t>VISUALIZACIONES DE DATOS</a:t>
            </a:r>
            <a:endParaRPr/>
          </a:p>
        </p:txBody>
      </p:sp>
      <p:sp>
        <p:nvSpPr>
          <p:cNvPr id="3" name="CuadroTexto 2">
            <a:extLst>
              <a:ext uri="{FF2B5EF4-FFF2-40B4-BE49-F238E27FC236}">
                <a16:creationId xmlns:a16="http://schemas.microsoft.com/office/drawing/2014/main" id="{85CD0B5D-AB92-B41E-D8BA-A60C239F1C39}"/>
              </a:ext>
            </a:extLst>
          </p:cNvPr>
          <p:cNvSpPr txBox="1"/>
          <p:nvPr/>
        </p:nvSpPr>
        <p:spPr>
          <a:xfrm>
            <a:off x="3012279" y="4217576"/>
            <a:ext cx="619372" cy="184666"/>
          </a:xfrm>
          <a:prstGeom prst="rect">
            <a:avLst/>
          </a:prstGeom>
          <a:noFill/>
        </p:spPr>
        <p:txBody>
          <a:bodyPr wrap="square" lIns="0" tIns="0" rIns="0" bIns="0">
            <a:spAutoFit/>
          </a:bodyPr>
          <a:lstStyle/>
          <a:p>
            <a:pPr algn="ctr"/>
            <a:r>
              <a:rPr lang="es-PE" sz="1200" dirty="0">
                <a:latin typeface="Calibri" panose="020F0502020204030204" pitchFamily="34" charset="0"/>
                <a:ea typeface="Calibri" panose="020F0502020204030204" pitchFamily="34" charset="0"/>
                <a:cs typeface="Calibri" panose="020F0502020204030204" pitchFamily="34" charset="0"/>
              </a:rPr>
              <a:t>120.20</a:t>
            </a:r>
            <a:endParaRPr lang="es-PE" sz="1200" dirty="0"/>
          </a:p>
        </p:txBody>
      </p:sp>
      <p:sp>
        <p:nvSpPr>
          <p:cNvPr id="6" name="CuadroTexto 5">
            <a:extLst>
              <a:ext uri="{FF2B5EF4-FFF2-40B4-BE49-F238E27FC236}">
                <a16:creationId xmlns:a16="http://schemas.microsoft.com/office/drawing/2014/main" id="{B4578757-C478-BC66-C13E-BF4F7CB97F9A}"/>
              </a:ext>
            </a:extLst>
          </p:cNvPr>
          <p:cNvSpPr txBox="1"/>
          <p:nvPr/>
        </p:nvSpPr>
        <p:spPr>
          <a:xfrm>
            <a:off x="3123159" y="2059337"/>
            <a:ext cx="3744061" cy="200055"/>
          </a:xfrm>
          <a:prstGeom prst="rect">
            <a:avLst/>
          </a:prstGeom>
          <a:noFill/>
        </p:spPr>
        <p:txBody>
          <a:bodyPr wrap="square" lIns="0" tIns="0" rIns="0" bIns="0">
            <a:spAutoFit/>
          </a:bodyPr>
          <a:lstStyle/>
          <a:p>
            <a:r>
              <a:rPr lang="es-PE" sz="1300" dirty="0">
                <a:latin typeface="Calibri" panose="020F0502020204030204" pitchFamily="34" charset="0"/>
                <a:ea typeface="Calibri" panose="020F0502020204030204" pitchFamily="34" charset="0"/>
                <a:cs typeface="Calibri" panose="020F0502020204030204" pitchFamily="34" charset="0"/>
              </a:rPr>
              <a:t>VelAlcanzada, VelMínima, VelMáxima y VelObjetivo</a:t>
            </a:r>
            <a:endParaRPr lang="es-PE" sz="1300" dirty="0"/>
          </a:p>
        </p:txBody>
      </p:sp>
      <p:sp>
        <p:nvSpPr>
          <p:cNvPr id="8" name="CuadroTexto 7">
            <a:extLst>
              <a:ext uri="{FF2B5EF4-FFF2-40B4-BE49-F238E27FC236}">
                <a16:creationId xmlns:a16="http://schemas.microsoft.com/office/drawing/2014/main" id="{EB1B7C3C-B5FD-C78A-46CF-F2D0209C6402}"/>
              </a:ext>
            </a:extLst>
          </p:cNvPr>
          <p:cNvSpPr txBox="1"/>
          <p:nvPr/>
        </p:nvSpPr>
        <p:spPr>
          <a:xfrm>
            <a:off x="6247848" y="4217576"/>
            <a:ext cx="619372" cy="184666"/>
          </a:xfrm>
          <a:prstGeom prst="rect">
            <a:avLst/>
          </a:prstGeom>
          <a:noFill/>
        </p:spPr>
        <p:txBody>
          <a:bodyPr wrap="square" lIns="0" tIns="0" rIns="0" bIns="0">
            <a:spAutoFit/>
          </a:bodyPr>
          <a:lstStyle/>
          <a:p>
            <a:pPr algn="ctr"/>
            <a:r>
              <a:rPr lang="es-PE" sz="1200" dirty="0">
                <a:latin typeface="Calibri" panose="020F0502020204030204" pitchFamily="34" charset="0"/>
                <a:ea typeface="Calibri" panose="020F0502020204030204" pitchFamily="34" charset="0"/>
                <a:cs typeface="Calibri" panose="020F0502020204030204" pitchFamily="34" charset="0"/>
              </a:rPr>
              <a:t>249.70</a:t>
            </a:r>
            <a:endParaRPr lang="es-PE" sz="1200" dirty="0"/>
          </a:p>
        </p:txBody>
      </p:sp>
      <p:sp>
        <p:nvSpPr>
          <p:cNvPr id="9" name="CuadroTexto 8">
            <a:extLst>
              <a:ext uri="{FF2B5EF4-FFF2-40B4-BE49-F238E27FC236}">
                <a16:creationId xmlns:a16="http://schemas.microsoft.com/office/drawing/2014/main" id="{24C60A9E-894A-8482-F44D-95DF88DFC929}"/>
              </a:ext>
            </a:extLst>
          </p:cNvPr>
          <p:cNvSpPr txBox="1"/>
          <p:nvPr/>
        </p:nvSpPr>
        <p:spPr>
          <a:xfrm>
            <a:off x="4392613" y="3600393"/>
            <a:ext cx="1090187" cy="369332"/>
          </a:xfrm>
          <a:prstGeom prst="rect">
            <a:avLst/>
          </a:prstGeom>
          <a:noFill/>
        </p:spPr>
        <p:txBody>
          <a:bodyPr wrap="square" lIns="0" tIns="0" rIns="0" bIns="0">
            <a:spAutoFit/>
          </a:bodyPr>
          <a:lstStyle/>
          <a:p>
            <a:pPr algn="ctr"/>
            <a:r>
              <a:rPr lang="es-PE" sz="2400" dirty="0">
                <a:latin typeface="Calibri" panose="020F0502020204030204" pitchFamily="34" charset="0"/>
                <a:ea typeface="Calibri" panose="020F0502020204030204" pitchFamily="34" charset="0"/>
                <a:cs typeface="Calibri" panose="020F0502020204030204" pitchFamily="34" charset="0"/>
              </a:rPr>
              <a:t>230.60</a:t>
            </a:r>
            <a:endParaRPr lang="es-PE" sz="2400" dirty="0"/>
          </a:p>
        </p:txBody>
      </p:sp>
      <p:sp>
        <p:nvSpPr>
          <p:cNvPr id="18" name="Rectángulo 17">
            <a:extLst>
              <a:ext uri="{FF2B5EF4-FFF2-40B4-BE49-F238E27FC236}">
                <a16:creationId xmlns:a16="http://schemas.microsoft.com/office/drawing/2014/main" id="{D3FB9E64-269B-9A44-90EA-922D62C7F57B}"/>
              </a:ext>
            </a:extLst>
          </p:cNvPr>
          <p:cNvSpPr/>
          <p:nvPr/>
        </p:nvSpPr>
        <p:spPr>
          <a:xfrm>
            <a:off x="1942040" y="2047989"/>
            <a:ext cx="1058627" cy="398337"/>
          </a:xfrm>
          <a:prstGeom prst="rect">
            <a:avLst/>
          </a:prstGeom>
          <a:solidFill>
            <a:schemeClr val="tx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19" name="Rectángulo 18">
            <a:extLst>
              <a:ext uri="{FF2B5EF4-FFF2-40B4-BE49-F238E27FC236}">
                <a16:creationId xmlns:a16="http://schemas.microsoft.com/office/drawing/2014/main" id="{055ED843-3B3B-2432-C7F1-40319C2F5829}"/>
              </a:ext>
            </a:extLst>
          </p:cNvPr>
          <p:cNvSpPr/>
          <p:nvPr/>
        </p:nvSpPr>
        <p:spPr>
          <a:xfrm>
            <a:off x="1942040" y="2463626"/>
            <a:ext cx="1058627" cy="275112"/>
          </a:xfrm>
          <a:prstGeom prst="rect">
            <a:avLst/>
          </a:prstGeom>
          <a:solidFill>
            <a:schemeClr val="tx1">
              <a:lumMod val="75000"/>
              <a:lumOff val="25000"/>
            </a:scheme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20" name="Rectángulo 19">
            <a:extLst>
              <a:ext uri="{FF2B5EF4-FFF2-40B4-BE49-F238E27FC236}">
                <a16:creationId xmlns:a16="http://schemas.microsoft.com/office/drawing/2014/main" id="{B9CC68D6-CBE3-7E5C-24A5-7D37C319DC04}"/>
              </a:ext>
            </a:extLst>
          </p:cNvPr>
          <p:cNvSpPr/>
          <p:nvPr/>
        </p:nvSpPr>
        <p:spPr>
          <a:xfrm>
            <a:off x="1942040" y="2744980"/>
            <a:ext cx="1058627" cy="275112"/>
          </a:xfrm>
          <a:prstGeom prst="rect">
            <a:avLst/>
          </a:prstGeom>
          <a:solidFill>
            <a:srgbClr val="D9DBE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21" name="Rectángulo 20">
            <a:extLst>
              <a:ext uri="{FF2B5EF4-FFF2-40B4-BE49-F238E27FC236}">
                <a16:creationId xmlns:a16="http://schemas.microsoft.com/office/drawing/2014/main" id="{CE50D881-4DED-2A3D-8EA3-F194214759E4}"/>
              </a:ext>
            </a:extLst>
          </p:cNvPr>
          <p:cNvSpPr/>
          <p:nvPr/>
        </p:nvSpPr>
        <p:spPr>
          <a:xfrm>
            <a:off x="1942040" y="3013545"/>
            <a:ext cx="1058627" cy="275112"/>
          </a:xfrm>
          <a:prstGeom prst="rect">
            <a:avLst/>
          </a:prstGeom>
          <a:solidFill>
            <a:srgbClr val="808799"/>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22" name="Rectángulo 21">
            <a:extLst>
              <a:ext uri="{FF2B5EF4-FFF2-40B4-BE49-F238E27FC236}">
                <a16:creationId xmlns:a16="http://schemas.microsoft.com/office/drawing/2014/main" id="{30D76F65-9E6A-232D-3209-9BB7177B9993}"/>
              </a:ext>
            </a:extLst>
          </p:cNvPr>
          <p:cNvSpPr/>
          <p:nvPr/>
        </p:nvSpPr>
        <p:spPr>
          <a:xfrm>
            <a:off x="1942040" y="3294899"/>
            <a:ext cx="1058627" cy="275112"/>
          </a:xfrm>
          <a:prstGeom prst="rect">
            <a:avLst/>
          </a:prstGeom>
          <a:solidFill>
            <a:srgbClr val="D9DBE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23" name="Rectángulo 22">
            <a:extLst>
              <a:ext uri="{FF2B5EF4-FFF2-40B4-BE49-F238E27FC236}">
                <a16:creationId xmlns:a16="http://schemas.microsoft.com/office/drawing/2014/main" id="{1993A482-D4EA-4CA9-894F-6AFE41D0EDB2}"/>
              </a:ext>
            </a:extLst>
          </p:cNvPr>
          <p:cNvSpPr/>
          <p:nvPr/>
        </p:nvSpPr>
        <p:spPr>
          <a:xfrm>
            <a:off x="1942040" y="3563464"/>
            <a:ext cx="1058627" cy="275112"/>
          </a:xfrm>
          <a:prstGeom prst="rect">
            <a:avLst/>
          </a:prstGeom>
          <a:solidFill>
            <a:srgbClr val="808799"/>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24" name="Rectángulo 23">
            <a:extLst>
              <a:ext uri="{FF2B5EF4-FFF2-40B4-BE49-F238E27FC236}">
                <a16:creationId xmlns:a16="http://schemas.microsoft.com/office/drawing/2014/main" id="{760812F8-C7F5-4435-042D-44845B0E34E9}"/>
              </a:ext>
            </a:extLst>
          </p:cNvPr>
          <p:cNvSpPr/>
          <p:nvPr/>
        </p:nvSpPr>
        <p:spPr>
          <a:xfrm>
            <a:off x="1942040" y="3844818"/>
            <a:ext cx="1058627" cy="275112"/>
          </a:xfrm>
          <a:prstGeom prst="rect">
            <a:avLst/>
          </a:prstGeom>
          <a:solidFill>
            <a:srgbClr val="D9DBE1"/>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25" name="Rectángulo 24">
            <a:extLst>
              <a:ext uri="{FF2B5EF4-FFF2-40B4-BE49-F238E27FC236}">
                <a16:creationId xmlns:a16="http://schemas.microsoft.com/office/drawing/2014/main" id="{ECEAAA59-CE6A-02D6-47F6-C3EAC8E4143C}"/>
              </a:ext>
            </a:extLst>
          </p:cNvPr>
          <p:cNvSpPr/>
          <p:nvPr/>
        </p:nvSpPr>
        <p:spPr>
          <a:xfrm>
            <a:off x="1942040" y="4113383"/>
            <a:ext cx="1058627" cy="275112"/>
          </a:xfrm>
          <a:prstGeom prst="rect">
            <a:avLst/>
          </a:prstGeom>
          <a:solidFill>
            <a:srgbClr val="808799"/>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s-PE"/>
          </a:p>
        </p:txBody>
      </p:sp>
      <p:sp>
        <p:nvSpPr>
          <p:cNvPr id="10" name="CuadroTexto 9">
            <a:extLst>
              <a:ext uri="{FF2B5EF4-FFF2-40B4-BE49-F238E27FC236}">
                <a16:creationId xmlns:a16="http://schemas.microsoft.com/office/drawing/2014/main" id="{B005D33C-C88E-1C74-C17F-7C1C7AD2ADEC}"/>
              </a:ext>
            </a:extLst>
          </p:cNvPr>
          <p:cNvSpPr txBox="1"/>
          <p:nvPr/>
        </p:nvSpPr>
        <p:spPr>
          <a:xfrm>
            <a:off x="2038481" y="2146796"/>
            <a:ext cx="890157" cy="215444"/>
          </a:xfrm>
          <a:prstGeom prst="rect">
            <a:avLst/>
          </a:prstGeom>
          <a:noFill/>
        </p:spPr>
        <p:txBody>
          <a:bodyPr wrap="square" lIns="0" tIns="0" rIns="0" bIns="0">
            <a:spAutoFit/>
          </a:bodyPr>
          <a:lstStyle/>
          <a:p>
            <a:r>
              <a:rPr lang="es-PE" sz="1400" dirty="0">
                <a:solidFill>
                  <a:schemeClr val="bg1"/>
                </a:solidFill>
                <a:latin typeface="Calibri" panose="020F0502020204030204" pitchFamily="34" charset="0"/>
                <a:ea typeface="Calibri" panose="020F0502020204030204" pitchFamily="34" charset="0"/>
                <a:cs typeface="Calibri" panose="020F0502020204030204" pitchFamily="34" charset="0"/>
              </a:rPr>
              <a:t>ApePiloto</a:t>
            </a:r>
            <a:endParaRPr lang="es-PE" sz="1400" dirty="0">
              <a:solidFill>
                <a:schemeClr val="bg1"/>
              </a:solidFill>
            </a:endParaRPr>
          </a:p>
        </p:txBody>
      </p:sp>
      <p:sp>
        <p:nvSpPr>
          <p:cNvPr id="11" name="CuadroTexto 10">
            <a:extLst>
              <a:ext uri="{FF2B5EF4-FFF2-40B4-BE49-F238E27FC236}">
                <a16:creationId xmlns:a16="http://schemas.microsoft.com/office/drawing/2014/main" id="{555E51B9-DDAB-2605-49F0-33B778C53BC6}"/>
              </a:ext>
            </a:extLst>
          </p:cNvPr>
          <p:cNvSpPr txBox="1"/>
          <p:nvPr/>
        </p:nvSpPr>
        <p:spPr>
          <a:xfrm>
            <a:off x="2017963" y="2491663"/>
            <a:ext cx="910675" cy="215444"/>
          </a:xfrm>
          <a:prstGeom prst="rect">
            <a:avLst/>
          </a:prstGeom>
          <a:noFill/>
        </p:spPr>
        <p:txBody>
          <a:bodyPr wrap="square" lIns="0" tIns="0" rIns="0" bIns="0">
            <a:spAutoFit/>
          </a:bodyPr>
          <a:lstStyle/>
          <a:p>
            <a:r>
              <a:rPr lang="es-PE" sz="1400" dirty="0">
                <a:solidFill>
                  <a:schemeClr val="bg1"/>
                </a:solidFill>
                <a:latin typeface="Calibri" panose="020F0502020204030204" pitchFamily="34" charset="0"/>
                <a:ea typeface="Calibri" panose="020F0502020204030204" pitchFamily="34" charset="0"/>
                <a:cs typeface="Calibri" panose="020F0502020204030204" pitchFamily="34" charset="0"/>
              </a:rPr>
              <a:t>Hamilton</a:t>
            </a:r>
            <a:endParaRPr lang="es-PE" sz="1400" dirty="0">
              <a:solidFill>
                <a:schemeClr val="bg1"/>
              </a:solidFill>
            </a:endParaRPr>
          </a:p>
        </p:txBody>
      </p:sp>
      <p:sp>
        <p:nvSpPr>
          <p:cNvPr id="12" name="CuadroTexto 11">
            <a:extLst>
              <a:ext uri="{FF2B5EF4-FFF2-40B4-BE49-F238E27FC236}">
                <a16:creationId xmlns:a16="http://schemas.microsoft.com/office/drawing/2014/main" id="{A5EBB2A6-1994-0C39-F497-2D78B79B208F}"/>
              </a:ext>
            </a:extLst>
          </p:cNvPr>
          <p:cNvSpPr txBox="1"/>
          <p:nvPr/>
        </p:nvSpPr>
        <p:spPr>
          <a:xfrm>
            <a:off x="2017963" y="2766418"/>
            <a:ext cx="910676" cy="215444"/>
          </a:xfrm>
          <a:prstGeom prst="rect">
            <a:avLst/>
          </a:prstGeom>
          <a:noFill/>
        </p:spPr>
        <p:txBody>
          <a:bodyPr wrap="square" lIns="0" tIns="0" rIns="0" bIns="0">
            <a:spAutoFit/>
          </a:bodyPr>
          <a:lstStyle/>
          <a:p>
            <a:r>
              <a:rPr lang="es-PE" sz="1400" dirty="0">
                <a:latin typeface="Calibri" panose="020F0502020204030204" pitchFamily="34" charset="0"/>
                <a:ea typeface="Calibri" panose="020F0502020204030204" pitchFamily="34" charset="0"/>
                <a:cs typeface="Calibri" panose="020F0502020204030204" pitchFamily="34" charset="0"/>
              </a:rPr>
              <a:t>Raikkonen</a:t>
            </a:r>
            <a:endParaRPr lang="es-PE" sz="1400" dirty="0"/>
          </a:p>
        </p:txBody>
      </p:sp>
      <p:sp>
        <p:nvSpPr>
          <p:cNvPr id="13" name="CuadroTexto 12">
            <a:extLst>
              <a:ext uri="{FF2B5EF4-FFF2-40B4-BE49-F238E27FC236}">
                <a16:creationId xmlns:a16="http://schemas.microsoft.com/office/drawing/2014/main" id="{7FDA7AE1-977A-1CA0-2F33-BB79BC59DE2D}"/>
              </a:ext>
            </a:extLst>
          </p:cNvPr>
          <p:cNvSpPr txBox="1"/>
          <p:nvPr/>
        </p:nvSpPr>
        <p:spPr>
          <a:xfrm>
            <a:off x="2017963" y="3041173"/>
            <a:ext cx="910676" cy="215444"/>
          </a:xfrm>
          <a:prstGeom prst="rect">
            <a:avLst/>
          </a:prstGeom>
          <a:noFill/>
        </p:spPr>
        <p:txBody>
          <a:bodyPr wrap="square" lIns="0" tIns="0" rIns="0" bIns="0">
            <a:spAutoFit/>
          </a:bodyPr>
          <a:lstStyle/>
          <a:p>
            <a:r>
              <a:rPr lang="es-PE" sz="1400" dirty="0">
                <a:latin typeface="Calibri" panose="020F0502020204030204" pitchFamily="34" charset="0"/>
                <a:ea typeface="Calibri" panose="020F0502020204030204" pitchFamily="34" charset="0"/>
                <a:cs typeface="Calibri" panose="020F0502020204030204" pitchFamily="34" charset="0"/>
              </a:rPr>
              <a:t>Ricciardo</a:t>
            </a:r>
            <a:endParaRPr lang="es-PE" sz="1400" dirty="0"/>
          </a:p>
        </p:txBody>
      </p:sp>
      <p:sp>
        <p:nvSpPr>
          <p:cNvPr id="14" name="CuadroTexto 13">
            <a:extLst>
              <a:ext uri="{FF2B5EF4-FFF2-40B4-BE49-F238E27FC236}">
                <a16:creationId xmlns:a16="http://schemas.microsoft.com/office/drawing/2014/main" id="{A42AE438-549C-B16D-E9D2-2CDC83094C6B}"/>
              </a:ext>
            </a:extLst>
          </p:cNvPr>
          <p:cNvSpPr txBox="1"/>
          <p:nvPr/>
        </p:nvSpPr>
        <p:spPr>
          <a:xfrm>
            <a:off x="2017961" y="3316285"/>
            <a:ext cx="910677" cy="215444"/>
          </a:xfrm>
          <a:prstGeom prst="rect">
            <a:avLst/>
          </a:prstGeom>
          <a:noFill/>
        </p:spPr>
        <p:txBody>
          <a:bodyPr wrap="square" lIns="0" tIns="0" rIns="0" bIns="0">
            <a:spAutoFit/>
          </a:bodyPr>
          <a:lstStyle/>
          <a:p>
            <a:r>
              <a:rPr lang="es-PE" sz="1400" dirty="0">
                <a:latin typeface="Calibri" panose="020F0502020204030204" pitchFamily="34" charset="0"/>
                <a:ea typeface="Calibri" panose="020F0502020204030204" pitchFamily="34" charset="0"/>
                <a:cs typeface="Calibri" panose="020F0502020204030204" pitchFamily="34" charset="0"/>
              </a:rPr>
              <a:t>Rosberg</a:t>
            </a:r>
            <a:endParaRPr lang="es-PE" sz="1400" dirty="0"/>
          </a:p>
        </p:txBody>
      </p:sp>
      <p:sp>
        <p:nvSpPr>
          <p:cNvPr id="15" name="CuadroTexto 14">
            <a:extLst>
              <a:ext uri="{FF2B5EF4-FFF2-40B4-BE49-F238E27FC236}">
                <a16:creationId xmlns:a16="http://schemas.microsoft.com/office/drawing/2014/main" id="{FB7F64AE-13B2-B60D-6D42-C0FC35D6EB78}"/>
              </a:ext>
            </a:extLst>
          </p:cNvPr>
          <p:cNvSpPr txBox="1"/>
          <p:nvPr/>
        </p:nvSpPr>
        <p:spPr>
          <a:xfrm>
            <a:off x="2017962" y="3597284"/>
            <a:ext cx="982706" cy="215444"/>
          </a:xfrm>
          <a:prstGeom prst="rect">
            <a:avLst/>
          </a:prstGeom>
          <a:noFill/>
        </p:spPr>
        <p:txBody>
          <a:bodyPr wrap="square" lIns="0" tIns="0" rIns="0" bIns="0">
            <a:spAutoFit/>
          </a:bodyPr>
          <a:lstStyle/>
          <a:p>
            <a:r>
              <a:rPr lang="es-PE" sz="1400" dirty="0">
                <a:latin typeface="Calibri" panose="020F0502020204030204" pitchFamily="34" charset="0"/>
                <a:ea typeface="Calibri" panose="020F0502020204030204" pitchFamily="34" charset="0"/>
                <a:cs typeface="Calibri" panose="020F0502020204030204" pitchFamily="34" charset="0"/>
              </a:rPr>
              <a:t>Schumacher</a:t>
            </a:r>
            <a:endParaRPr lang="es-PE" sz="1400" dirty="0"/>
          </a:p>
        </p:txBody>
      </p:sp>
      <p:sp>
        <p:nvSpPr>
          <p:cNvPr id="16" name="CuadroTexto 15">
            <a:extLst>
              <a:ext uri="{FF2B5EF4-FFF2-40B4-BE49-F238E27FC236}">
                <a16:creationId xmlns:a16="http://schemas.microsoft.com/office/drawing/2014/main" id="{1B1E821B-E070-CBF6-641E-6DA24940F0C5}"/>
              </a:ext>
            </a:extLst>
          </p:cNvPr>
          <p:cNvSpPr txBox="1"/>
          <p:nvPr/>
        </p:nvSpPr>
        <p:spPr>
          <a:xfrm>
            <a:off x="2017961" y="3865136"/>
            <a:ext cx="910677" cy="215444"/>
          </a:xfrm>
          <a:prstGeom prst="rect">
            <a:avLst/>
          </a:prstGeom>
          <a:noFill/>
        </p:spPr>
        <p:txBody>
          <a:bodyPr wrap="square" lIns="0" tIns="0" rIns="0" bIns="0">
            <a:spAutoFit/>
          </a:bodyPr>
          <a:lstStyle/>
          <a:p>
            <a:r>
              <a:rPr lang="es-PE" sz="1400" dirty="0">
                <a:latin typeface="Calibri" panose="020F0502020204030204" pitchFamily="34" charset="0"/>
                <a:ea typeface="Calibri" panose="020F0502020204030204" pitchFamily="34" charset="0"/>
                <a:cs typeface="Calibri" panose="020F0502020204030204" pitchFamily="34" charset="0"/>
              </a:rPr>
              <a:t>Verstappen</a:t>
            </a:r>
            <a:endParaRPr lang="es-PE" sz="1400" dirty="0"/>
          </a:p>
        </p:txBody>
      </p:sp>
      <p:sp>
        <p:nvSpPr>
          <p:cNvPr id="17" name="CuadroTexto 16">
            <a:extLst>
              <a:ext uri="{FF2B5EF4-FFF2-40B4-BE49-F238E27FC236}">
                <a16:creationId xmlns:a16="http://schemas.microsoft.com/office/drawing/2014/main" id="{777E3783-F8D4-DC8A-4B6D-40CB983715C7}"/>
              </a:ext>
            </a:extLst>
          </p:cNvPr>
          <p:cNvSpPr txBox="1"/>
          <p:nvPr/>
        </p:nvSpPr>
        <p:spPr>
          <a:xfrm>
            <a:off x="2017961" y="4141146"/>
            <a:ext cx="910677" cy="215444"/>
          </a:xfrm>
          <a:prstGeom prst="rect">
            <a:avLst/>
          </a:prstGeom>
          <a:noFill/>
        </p:spPr>
        <p:txBody>
          <a:bodyPr wrap="square" lIns="0" tIns="0" rIns="0" bIns="0">
            <a:spAutoFit/>
          </a:bodyPr>
          <a:lstStyle/>
          <a:p>
            <a:r>
              <a:rPr lang="es-PE" sz="1400" dirty="0">
                <a:latin typeface="Calibri" panose="020F0502020204030204" pitchFamily="34" charset="0"/>
                <a:ea typeface="Calibri" panose="020F0502020204030204" pitchFamily="34" charset="0"/>
                <a:cs typeface="Calibri" panose="020F0502020204030204" pitchFamily="34" charset="0"/>
              </a:rPr>
              <a:t>Vettel</a:t>
            </a:r>
            <a:endParaRPr lang="es-PE" sz="1400" dirty="0"/>
          </a:p>
        </p:txBody>
      </p:sp>
      <p:sp>
        <p:nvSpPr>
          <p:cNvPr id="27" name="CuadroTexto 26">
            <a:extLst>
              <a:ext uri="{FF2B5EF4-FFF2-40B4-BE49-F238E27FC236}">
                <a16:creationId xmlns:a16="http://schemas.microsoft.com/office/drawing/2014/main" id="{913CAA89-F82A-1CF7-8B94-E6ACAB2DB67A}"/>
              </a:ext>
            </a:extLst>
          </p:cNvPr>
          <p:cNvSpPr txBox="1"/>
          <p:nvPr/>
        </p:nvSpPr>
        <p:spPr>
          <a:xfrm>
            <a:off x="6647144" y="3608687"/>
            <a:ext cx="619372" cy="184666"/>
          </a:xfrm>
          <a:prstGeom prst="rect">
            <a:avLst/>
          </a:prstGeom>
          <a:noFill/>
        </p:spPr>
        <p:txBody>
          <a:bodyPr wrap="square" lIns="0" tIns="0" rIns="0" bIns="0">
            <a:spAutoFit/>
          </a:bodyPr>
          <a:lstStyle/>
          <a:p>
            <a:pPr algn="ctr"/>
            <a:r>
              <a:rPr lang="es-PE" sz="1200" dirty="0">
                <a:latin typeface="Calibri" panose="020F0502020204030204" pitchFamily="34" charset="0"/>
                <a:ea typeface="Calibri" panose="020F0502020204030204" pitchFamily="34" charset="0"/>
                <a:cs typeface="Calibri" panose="020F0502020204030204" pitchFamily="34" charset="0"/>
              </a:rPr>
              <a:t>240.30</a:t>
            </a:r>
            <a:endParaRPr lang="es-PE" sz="1200" dirty="0"/>
          </a:p>
        </p:txBody>
      </p:sp>
      <p:pic>
        <p:nvPicPr>
          <p:cNvPr id="30" name="Imagen 29">
            <a:extLst>
              <a:ext uri="{FF2B5EF4-FFF2-40B4-BE49-F238E27FC236}">
                <a16:creationId xmlns:a16="http://schemas.microsoft.com/office/drawing/2014/main" id="{57A8811B-374C-DB4E-41C6-746BE886ACF2}"/>
              </a:ext>
            </a:extLst>
          </p:cNvPr>
          <p:cNvPicPr>
            <a:picLocks noChangeAspect="1"/>
          </p:cNvPicPr>
          <p:nvPr/>
        </p:nvPicPr>
        <p:blipFill>
          <a:blip r:embed="rId3"/>
          <a:stretch>
            <a:fillRect/>
          </a:stretch>
        </p:blipFill>
        <p:spPr>
          <a:xfrm>
            <a:off x="3097108" y="2362240"/>
            <a:ext cx="3644900" cy="1841500"/>
          </a:xfrm>
          <a:prstGeom prst="rect">
            <a:avLst/>
          </a:prstGeom>
        </p:spPr>
      </p:pic>
      <p:cxnSp>
        <p:nvCxnSpPr>
          <p:cNvPr id="32" name="Conector recto 31">
            <a:extLst>
              <a:ext uri="{FF2B5EF4-FFF2-40B4-BE49-F238E27FC236}">
                <a16:creationId xmlns:a16="http://schemas.microsoft.com/office/drawing/2014/main" id="{6BAB3C93-04B2-677D-86A0-9BE4CC1BDAD7}"/>
              </a:ext>
            </a:extLst>
          </p:cNvPr>
          <p:cNvCxnSpPr>
            <a:cxnSpLocks/>
          </p:cNvCxnSpPr>
          <p:nvPr/>
        </p:nvCxnSpPr>
        <p:spPr>
          <a:xfrm flipV="1">
            <a:off x="6164680" y="3732165"/>
            <a:ext cx="522606" cy="183899"/>
          </a:xfrm>
          <a:prstGeom prst="line">
            <a:avLst/>
          </a:prstGeom>
          <a:ln w="19050">
            <a:solidFill>
              <a:srgbClr val="808799"/>
            </a:solidFill>
          </a:ln>
          <a:effectLst>
            <a:outerShdw dist="1139" sx="1000" sy="1000" rotWithShape="0">
              <a:srgbClr val="000000"/>
            </a:outerShdw>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3620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4;p10">
            <a:extLst>
              <a:ext uri="{FF2B5EF4-FFF2-40B4-BE49-F238E27FC236}">
                <a16:creationId xmlns:a16="http://schemas.microsoft.com/office/drawing/2014/main" id="{A57E20FE-E571-A31E-E0F1-0AAC6C3C4D76}"/>
              </a:ext>
            </a:extLst>
          </p:cNvPr>
          <p:cNvSpPr/>
          <p:nvPr/>
        </p:nvSpPr>
        <p:spPr>
          <a:xfrm>
            <a:off x="0" y="0"/>
            <a:ext cx="9144000" cy="5715000"/>
          </a:xfrm>
          <a:prstGeom prst="rect">
            <a:avLst/>
          </a:prstGeom>
          <a:solidFill>
            <a:srgbClr val="8087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 name="Google Shape;175;p10">
            <a:extLst>
              <a:ext uri="{FF2B5EF4-FFF2-40B4-BE49-F238E27FC236}">
                <a16:creationId xmlns:a16="http://schemas.microsoft.com/office/drawing/2014/main" id="{CBD484BE-D62C-4177-ECBA-2D5ADAA58CAD}"/>
              </a:ext>
            </a:extLst>
          </p:cNvPr>
          <p:cNvSpPr txBox="1"/>
          <p:nvPr/>
        </p:nvSpPr>
        <p:spPr>
          <a:xfrm>
            <a:off x="1008063" y="3157860"/>
            <a:ext cx="3743325" cy="86177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PE" sz="2800" dirty="0">
                <a:solidFill>
                  <a:schemeClr val="lt1"/>
                </a:solidFill>
                <a:latin typeface="Graphik Regular" panose="020B0503030202060203" pitchFamily="34" charset="77"/>
              </a:rPr>
              <a:t>EXPLORACIÓN </a:t>
            </a:r>
            <a:br>
              <a:rPr lang="es-PE" sz="2800" dirty="0">
                <a:solidFill>
                  <a:schemeClr val="lt1"/>
                </a:solidFill>
                <a:latin typeface="Graphik Regular" panose="020B0503030202060203" pitchFamily="34" charset="77"/>
              </a:rPr>
            </a:br>
            <a:r>
              <a:rPr lang="es-PE" sz="2800" b="1" dirty="0">
                <a:solidFill>
                  <a:schemeClr val="lt1"/>
                </a:solidFill>
                <a:latin typeface="Graphik Bold" panose="020B0503030202060203" pitchFamily="34" charset="77"/>
              </a:rPr>
              <a:t>DE DATOS</a:t>
            </a:r>
          </a:p>
        </p:txBody>
      </p:sp>
      <p:pic>
        <p:nvPicPr>
          <p:cNvPr id="5" name="Google Shape;176;p10">
            <a:extLst>
              <a:ext uri="{FF2B5EF4-FFF2-40B4-BE49-F238E27FC236}">
                <a16:creationId xmlns:a16="http://schemas.microsoft.com/office/drawing/2014/main" id="{D92B253C-5562-8949-29AA-A8F5A829C919}"/>
              </a:ext>
            </a:extLst>
          </p:cNvPr>
          <p:cNvPicPr preferRelativeResize="0"/>
          <p:nvPr/>
        </p:nvPicPr>
        <p:blipFill rotWithShape="1">
          <a:blip r:embed="rId4">
            <a:alphaModFix/>
          </a:blip>
          <a:srcRect/>
          <a:stretch/>
        </p:blipFill>
        <p:spPr>
          <a:xfrm>
            <a:off x="1008063" y="2857500"/>
            <a:ext cx="195423" cy="201256"/>
          </a:xfrm>
          <a:prstGeom prst="rect">
            <a:avLst/>
          </a:prstGeom>
          <a:noFill/>
          <a:ln>
            <a:noFill/>
          </a:ln>
        </p:spPr>
      </p:pic>
    </p:spTree>
    <p:custDataLst>
      <p:tags r:id="rId1"/>
    </p:custDataLst>
    <p:extLst>
      <p:ext uri="{BB962C8B-B14F-4D97-AF65-F5344CB8AC3E}">
        <p14:creationId xmlns:p14="http://schemas.microsoft.com/office/powerpoint/2010/main" val="200178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03053" y="912813"/>
            <a:ext cx="8142818" cy="215444"/>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ES_tradnl" sz="1400" spc="-10" dirty="0">
                <a:latin typeface="Calibri" panose="020F0502020204030204" pitchFamily="34" charset="0"/>
                <a:cs typeface="Calibri" panose="020F0502020204030204" pitchFamily="34" charset="0"/>
              </a:rPr>
              <a:t>Tablero con visualizaciones: mapa, tabla, gráfico de líneas y tabla.</a:t>
            </a:r>
          </a:p>
        </p:txBody>
      </p:sp>
      <p:pic>
        <p:nvPicPr>
          <p:cNvPr id="2" name="Imagen 1"/>
          <p:cNvPicPr>
            <a:picLocks noChangeAspect="1"/>
          </p:cNvPicPr>
          <p:nvPr/>
        </p:nvPicPr>
        <p:blipFill rotWithShape="1">
          <a:blip r:embed="rId3">
            <a:extLst>
              <a:ext uri="{BEBA8EAE-BF5A-486C-A8C5-ECC9F3942E4B}">
                <a14:imgProps xmlns:a14="http://schemas.microsoft.com/office/drawing/2010/main">
                  <a14:imgLayer r:embed="rId4">
                    <a14:imgEffect>
                      <a14:sharpenSoften amount="25000"/>
                    </a14:imgEffect>
                  </a14:imgLayer>
                </a14:imgProps>
              </a:ext>
            </a:extLst>
          </a:blip>
          <a:srcRect l="-2684" t="-3932" r="-2684" b="-4235"/>
          <a:stretch/>
        </p:blipFill>
        <p:spPr>
          <a:xfrm>
            <a:off x="1180407" y="1313411"/>
            <a:ext cx="6783186" cy="3920577"/>
          </a:xfrm>
          <a:prstGeom prst="rect">
            <a:avLst/>
          </a:prstGeom>
          <a:solidFill>
            <a:srgbClr val="D9DBE1"/>
          </a:solidFill>
        </p:spPr>
      </p:pic>
      <p:sp>
        <p:nvSpPr>
          <p:cNvPr id="3" name="Rectángulo 2"/>
          <p:cNvSpPr/>
          <p:nvPr/>
        </p:nvSpPr>
        <p:spPr>
          <a:xfrm>
            <a:off x="2659232" y="2925388"/>
            <a:ext cx="208108" cy="176892"/>
          </a:xfrm>
          <a:prstGeom prst="rect">
            <a:avLst/>
          </a:prstGeom>
          <a:noFill/>
          <a:ln w="31750">
            <a:solidFill>
              <a:srgbClr val="EE4639"/>
            </a:solidFill>
          </a:ln>
          <a:effectLst>
            <a:outerShdw dist="11586"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sp>
        <p:nvSpPr>
          <p:cNvPr id="4" name="Google Shape;127;p5">
            <a:extLst>
              <a:ext uri="{FF2B5EF4-FFF2-40B4-BE49-F238E27FC236}">
                <a16:creationId xmlns:a16="http://schemas.microsoft.com/office/drawing/2014/main" id="{DCD5D7E4-BEFA-0752-3AE7-CA5E47C2FED7}"/>
              </a:ext>
            </a:extLst>
          </p:cNvPr>
          <p:cNvSpPr/>
          <p:nvPr/>
        </p:nvSpPr>
        <p:spPr>
          <a:xfrm>
            <a:off x="503238" y="376836"/>
            <a:ext cx="4401784" cy="138499"/>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None/>
            </a:pPr>
            <a:r>
              <a:rPr lang="es-PE" sz="1000" b="1" dirty="0">
                <a:solidFill>
                  <a:srgbClr val="7F7F7F"/>
                </a:solidFill>
                <a:latin typeface="Calibri"/>
                <a:ea typeface="Calibri"/>
                <a:cs typeface="Calibri"/>
                <a:sym typeface="Calibri"/>
              </a:rPr>
              <a:t>+ </a:t>
            </a:r>
            <a:r>
              <a:rPr lang="en-US" sz="1000" dirty="0">
                <a:solidFill>
                  <a:srgbClr val="A5A5A5"/>
                </a:solidFill>
                <a:latin typeface="Calibri"/>
                <a:cs typeface="Calibri"/>
              </a:rPr>
              <a:t>EXPLORACIÓN DE DATOS</a:t>
            </a:r>
            <a:endParaRPr dirty="0"/>
          </a:p>
        </p:txBody>
      </p:sp>
    </p:spTree>
    <p:extLst>
      <p:ext uri="{BB962C8B-B14F-4D97-AF65-F5344CB8AC3E}">
        <p14:creationId xmlns:p14="http://schemas.microsoft.com/office/powerpoint/2010/main" val="3395464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512992" y="921165"/>
            <a:ext cx="8142818" cy="215444"/>
          </a:xfrm>
          <a:prstGeom prst="rect">
            <a:avLst/>
          </a:prstGeom>
        </p:spPr>
        <p:txBody>
          <a:bodyPr vert="horz" wrap="square" lIns="0" tIns="0" rIns="0" bIns="0" rtlCol="0">
            <a:spAutoFit/>
          </a:bodyPr>
          <a:lstStyle/>
          <a:p>
            <a:pPr marL="180000" indent="-168275">
              <a:buSzPct val="100000"/>
              <a:buFont typeface="Arial"/>
              <a:buChar char="•"/>
              <a:tabLst>
                <a:tab pos="121285" algn="l"/>
              </a:tabLst>
            </a:pPr>
            <a:r>
              <a:rPr lang="es-ES_tradnl" sz="1400" spc="-10" dirty="0">
                <a:solidFill>
                  <a:srgbClr val="262626"/>
                </a:solidFill>
                <a:latin typeface="Calibri" panose="020F0502020204030204" pitchFamily="34" charset="0"/>
                <a:cs typeface="Calibri" panose="020F0502020204030204" pitchFamily="34" charset="0"/>
              </a:rPr>
              <a:t>El mismo tablero de la diapositiva </a:t>
            </a:r>
            <a:r>
              <a:rPr lang="es-ES_tradnl" sz="1400" spc="-10" dirty="0">
                <a:latin typeface="Calibri" panose="020F0502020204030204" pitchFamily="34" charset="0"/>
                <a:cs typeface="Calibri" panose="020F0502020204030204" pitchFamily="34" charset="0"/>
              </a:rPr>
              <a:t>anterior</a:t>
            </a:r>
            <a:r>
              <a:rPr lang="es-ES_tradnl" sz="1400" spc="-10" dirty="0">
                <a:solidFill>
                  <a:srgbClr val="262626"/>
                </a:solidFill>
                <a:latin typeface="Calibri" panose="020F0502020204030204" pitchFamily="34" charset="0"/>
                <a:cs typeface="Calibri" panose="020F0502020204030204" pitchFamily="34" charset="0"/>
              </a:rPr>
              <a:t> luego de hacer clic en el círculo sobre Arabia </a:t>
            </a:r>
            <a:r>
              <a:rPr lang="es-ES_tradnl" sz="1400" spc="-10" dirty="0" err="1">
                <a:solidFill>
                  <a:srgbClr val="262626"/>
                </a:solidFill>
                <a:latin typeface="Calibri" panose="020F0502020204030204" pitchFamily="34" charset="0"/>
                <a:cs typeface="Calibri" panose="020F0502020204030204" pitchFamily="34" charset="0"/>
              </a:rPr>
              <a:t>Saudi</a:t>
            </a:r>
            <a:r>
              <a:rPr lang="es-ES_tradnl" sz="1400" spc="-10" dirty="0">
                <a:solidFill>
                  <a:srgbClr val="262626"/>
                </a:solidFill>
                <a:latin typeface="Calibri" panose="020F0502020204030204" pitchFamily="34" charset="0"/>
                <a:cs typeface="Calibri" panose="020F0502020204030204" pitchFamily="34" charset="0"/>
              </a:rPr>
              <a:t>.</a:t>
            </a:r>
          </a:p>
        </p:txBody>
      </p:sp>
      <p:sp>
        <p:nvSpPr>
          <p:cNvPr id="2" name="Google Shape;127;p5">
            <a:extLst>
              <a:ext uri="{FF2B5EF4-FFF2-40B4-BE49-F238E27FC236}">
                <a16:creationId xmlns:a16="http://schemas.microsoft.com/office/drawing/2014/main" id="{7B9A25F4-9EB8-23DA-70FF-80CDB5E7111E}"/>
              </a:ext>
            </a:extLst>
          </p:cNvPr>
          <p:cNvSpPr/>
          <p:nvPr/>
        </p:nvSpPr>
        <p:spPr>
          <a:xfrm>
            <a:off x="503238" y="376836"/>
            <a:ext cx="4401784" cy="138499"/>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None/>
            </a:pPr>
            <a:r>
              <a:rPr lang="es-PE" sz="1000" b="1" dirty="0">
                <a:solidFill>
                  <a:srgbClr val="7F7F7F"/>
                </a:solidFill>
                <a:latin typeface="Calibri"/>
                <a:ea typeface="Calibri"/>
                <a:cs typeface="Calibri"/>
                <a:sym typeface="Calibri"/>
              </a:rPr>
              <a:t>+ </a:t>
            </a:r>
            <a:r>
              <a:rPr lang="en-US" sz="1000" dirty="0">
                <a:solidFill>
                  <a:srgbClr val="A5A5A5"/>
                </a:solidFill>
                <a:latin typeface="Calibri"/>
                <a:cs typeface="Calibri"/>
              </a:rPr>
              <a:t>EXPLORACIÓN DE DATOS</a:t>
            </a:r>
            <a:endParaRPr dirty="0"/>
          </a:p>
        </p:txBody>
      </p:sp>
      <p:grpSp>
        <p:nvGrpSpPr>
          <p:cNvPr id="14" name="Grupo 13">
            <a:extLst>
              <a:ext uri="{FF2B5EF4-FFF2-40B4-BE49-F238E27FC236}">
                <a16:creationId xmlns:a16="http://schemas.microsoft.com/office/drawing/2014/main" id="{7B5751F4-B8FC-3E7D-38A8-744C27648D00}"/>
              </a:ext>
            </a:extLst>
          </p:cNvPr>
          <p:cNvGrpSpPr/>
          <p:nvPr/>
        </p:nvGrpSpPr>
        <p:grpSpPr>
          <a:xfrm>
            <a:off x="1188720" y="1313411"/>
            <a:ext cx="6766559" cy="3920577"/>
            <a:chOff x="1188720" y="1313411"/>
            <a:chExt cx="6766559" cy="3920577"/>
          </a:xfrm>
        </p:grpSpPr>
        <p:pic>
          <p:nvPicPr>
            <p:cNvPr id="12" name="Imagen 11">
              <a:extLst>
                <a:ext uri="{FF2B5EF4-FFF2-40B4-BE49-F238E27FC236}">
                  <a16:creationId xmlns:a16="http://schemas.microsoft.com/office/drawing/2014/main" id="{B79541D8-EAD0-2633-E428-B9758758DC44}"/>
                </a:ext>
              </a:extLst>
            </p:cNvPr>
            <p:cNvPicPr>
              <a:picLocks noChangeAspect="1"/>
            </p:cNvPicPr>
            <p:nvPr/>
          </p:nvPicPr>
          <p:blipFill rotWithShape="1">
            <a:blip r:embed="rId3"/>
            <a:srcRect l="-2528" t="-3941" r="-2528" b="-4516"/>
            <a:stretch/>
          </p:blipFill>
          <p:spPr>
            <a:xfrm>
              <a:off x="1188720" y="1313411"/>
              <a:ext cx="6766559" cy="3920577"/>
            </a:xfrm>
            <a:prstGeom prst="rect">
              <a:avLst/>
            </a:prstGeom>
            <a:solidFill>
              <a:srgbClr val="D9DBE1"/>
            </a:solidFill>
          </p:spPr>
        </p:pic>
        <p:sp>
          <p:nvSpPr>
            <p:cNvPr id="13" name="Rectángulo 12">
              <a:extLst>
                <a:ext uri="{FF2B5EF4-FFF2-40B4-BE49-F238E27FC236}">
                  <a16:creationId xmlns:a16="http://schemas.microsoft.com/office/drawing/2014/main" id="{4E276C2F-E7CE-3887-94CC-93307FFF6C22}"/>
                </a:ext>
              </a:extLst>
            </p:cNvPr>
            <p:cNvSpPr/>
            <p:nvPr/>
          </p:nvSpPr>
          <p:spPr>
            <a:xfrm>
              <a:off x="2642672" y="2921588"/>
              <a:ext cx="209562" cy="178128"/>
            </a:xfrm>
            <a:prstGeom prst="rect">
              <a:avLst/>
            </a:prstGeom>
            <a:noFill/>
            <a:ln w="31750">
              <a:solidFill>
                <a:srgbClr val="EE4639"/>
              </a:solidFill>
            </a:ln>
            <a:effectLst>
              <a:outerShdw sx="1000" sy="1000" rotWithShape="0">
                <a:srgbClr val="000000"/>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PE"/>
            </a:p>
          </p:txBody>
        </p:sp>
      </p:grpSp>
    </p:spTree>
    <p:extLst>
      <p:ext uri="{BB962C8B-B14F-4D97-AF65-F5344CB8AC3E}">
        <p14:creationId xmlns:p14="http://schemas.microsoft.com/office/powerpoint/2010/main" val="3833249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43;p89">
            <a:extLst>
              <a:ext uri="{FF2B5EF4-FFF2-40B4-BE49-F238E27FC236}">
                <a16:creationId xmlns:a16="http://schemas.microsoft.com/office/drawing/2014/main" id="{9D21070D-AEE9-5720-36A3-64F87140163B}"/>
              </a:ext>
            </a:extLst>
          </p:cNvPr>
          <p:cNvSpPr/>
          <p:nvPr/>
        </p:nvSpPr>
        <p:spPr>
          <a:xfrm>
            <a:off x="0" y="0"/>
            <a:ext cx="9144000" cy="5715000"/>
          </a:xfrm>
          <a:prstGeom prst="rect">
            <a:avLst/>
          </a:prstGeom>
          <a:solidFill>
            <a:srgbClr val="654E9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 name="Google Shape;1444;p89">
            <a:extLst>
              <a:ext uri="{FF2B5EF4-FFF2-40B4-BE49-F238E27FC236}">
                <a16:creationId xmlns:a16="http://schemas.microsoft.com/office/drawing/2014/main" id="{F299E19B-1BCF-A430-077A-D7485D2F4E1D}"/>
              </a:ext>
            </a:extLst>
          </p:cNvPr>
          <p:cNvGrpSpPr/>
          <p:nvPr/>
        </p:nvGrpSpPr>
        <p:grpSpPr>
          <a:xfrm>
            <a:off x="2506315" y="2194222"/>
            <a:ext cx="4581728" cy="1326557"/>
            <a:chOff x="2403187" y="2211377"/>
            <a:chExt cx="4581728" cy="1326557"/>
          </a:xfrm>
        </p:grpSpPr>
        <p:sp>
          <p:nvSpPr>
            <p:cNvPr id="4" name="Google Shape;1445;p89">
              <a:extLst>
                <a:ext uri="{FF2B5EF4-FFF2-40B4-BE49-F238E27FC236}">
                  <a16:creationId xmlns:a16="http://schemas.microsoft.com/office/drawing/2014/main" id="{54D48C2F-A907-0023-B3E5-B424FAEBF885}"/>
                </a:ext>
              </a:extLst>
            </p:cNvPr>
            <p:cNvSpPr txBox="1"/>
            <p:nvPr/>
          </p:nvSpPr>
          <p:spPr>
            <a:xfrm>
              <a:off x="2403187" y="2540738"/>
              <a:ext cx="4581728" cy="997196"/>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PE" sz="3600" dirty="0">
                  <a:solidFill>
                    <a:schemeClr val="lt1"/>
                  </a:solidFill>
                  <a:latin typeface="Graphik Regular" panose="020B0503030202060203" pitchFamily="34" charset="77"/>
                  <a:sym typeface="Arial"/>
                </a:rPr>
                <a:t>CONCLUSIONES</a:t>
              </a:r>
              <a:br>
                <a:rPr lang="es-PE" sz="3600" dirty="0">
                  <a:solidFill>
                    <a:schemeClr val="lt1"/>
                  </a:solidFill>
                  <a:latin typeface="Graphik Regular" panose="020B0503030202060203" pitchFamily="34" charset="77"/>
                  <a:sym typeface="Arial"/>
                </a:rPr>
              </a:br>
              <a:r>
                <a:rPr lang="es-PE" sz="3600" b="1" dirty="0">
                  <a:solidFill>
                    <a:schemeClr val="lt1"/>
                  </a:solidFill>
                  <a:latin typeface="Graphik Bold" panose="020B0503030202060203" pitchFamily="34" charset="77"/>
                  <a:sym typeface="Arial"/>
                </a:rPr>
                <a:t>MÁS REFERENCIAS</a:t>
              </a:r>
              <a:endParaRPr b="1" dirty="0">
                <a:latin typeface="Graphik Bold" panose="020B0503030202060203" pitchFamily="34" charset="77"/>
              </a:endParaRPr>
            </a:p>
          </p:txBody>
        </p:sp>
        <p:pic>
          <p:nvPicPr>
            <p:cNvPr id="5" name="Google Shape;1446;p89">
              <a:extLst>
                <a:ext uri="{FF2B5EF4-FFF2-40B4-BE49-F238E27FC236}">
                  <a16:creationId xmlns:a16="http://schemas.microsoft.com/office/drawing/2014/main" id="{D6BE2EA1-5A9A-D0BF-D195-78070D6B950B}"/>
                </a:ext>
              </a:extLst>
            </p:cNvPr>
            <p:cNvPicPr preferRelativeResize="0"/>
            <p:nvPr/>
          </p:nvPicPr>
          <p:blipFill rotWithShape="1">
            <a:blip r:embed="rId2">
              <a:alphaModFix/>
            </a:blip>
            <a:srcRect/>
            <a:stretch/>
          </p:blipFill>
          <p:spPr>
            <a:xfrm>
              <a:off x="2425491" y="2211377"/>
              <a:ext cx="202176" cy="208211"/>
            </a:xfrm>
            <a:prstGeom prst="rect">
              <a:avLst/>
            </a:prstGeom>
            <a:noFill/>
            <a:ln>
              <a:noFill/>
            </a:ln>
          </p:spPr>
        </p:pic>
      </p:grpSp>
      <p:pic>
        <p:nvPicPr>
          <p:cNvPr id="6" name="Google Shape;1447;p89">
            <a:extLst>
              <a:ext uri="{FF2B5EF4-FFF2-40B4-BE49-F238E27FC236}">
                <a16:creationId xmlns:a16="http://schemas.microsoft.com/office/drawing/2014/main" id="{AD2E0288-EBEF-7314-2643-EFCC5CBBBE02}"/>
              </a:ext>
            </a:extLst>
          </p:cNvPr>
          <p:cNvPicPr preferRelativeResize="0"/>
          <p:nvPr/>
        </p:nvPicPr>
        <p:blipFill rotWithShape="1">
          <a:blip r:embed="rId3">
            <a:alphaModFix/>
          </a:blip>
          <a:srcRect/>
          <a:stretch/>
        </p:blipFill>
        <p:spPr>
          <a:xfrm>
            <a:off x="-1253" y="946969"/>
            <a:ext cx="2072214" cy="3898064"/>
          </a:xfrm>
          <a:prstGeom prst="rect">
            <a:avLst/>
          </a:prstGeom>
          <a:noFill/>
          <a:ln>
            <a:noFill/>
          </a:ln>
        </p:spPr>
      </p:pic>
    </p:spTree>
    <p:extLst>
      <p:ext uri="{BB962C8B-B14F-4D97-AF65-F5344CB8AC3E}">
        <p14:creationId xmlns:p14="http://schemas.microsoft.com/office/powerpoint/2010/main" val="3017946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53;p90">
            <a:extLst>
              <a:ext uri="{FF2B5EF4-FFF2-40B4-BE49-F238E27FC236}">
                <a16:creationId xmlns:a16="http://schemas.microsoft.com/office/drawing/2014/main" id="{5C668580-BBAC-0DFF-2B37-D0E7A11AB278}"/>
              </a:ext>
            </a:extLst>
          </p:cNvPr>
          <p:cNvSpPr/>
          <p:nvPr/>
        </p:nvSpPr>
        <p:spPr>
          <a:xfrm>
            <a:off x="301556" y="5321030"/>
            <a:ext cx="8453337" cy="29183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 name="Google Shape;1454;p90">
            <a:extLst>
              <a:ext uri="{FF2B5EF4-FFF2-40B4-BE49-F238E27FC236}">
                <a16:creationId xmlns:a16="http://schemas.microsoft.com/office/drawing/2014/main" id="{CBAABC89-ADDD-B149-CBCE-EEB1D2C966A8}"/>
              </a:ext>
            </a:extLst>
          </p:cNvPr>
          <p:cNvSpPr txBox="1"/>
          <p:nvPr/>
        </p:nvSpPr>
        <p:spPr>
          <a:xfrm>
            <a:off x="1279545" y="912813"/>
            <a:ext cx="5705454" cy="2369880"/>
          </a:xfrm>
          <a:prstGeom prst="rect">
            <a:avLst/>
          </a:prstGeom>
          <a:noFill/>
          <a:ln>
            <a:noFill/>
          </a:ln>
        </p:spPr>
        <p:txBody>
          <a:bodyPr spcFirstLastPara="1" wrap="square" lIns="0" tIns="0" rIns="0" bIns="0" anchor="t" anchorCtr="0">
            <a:spAutoFit/>
          </a:bodyPr>
          <a:lstStyle/>
          <a:p>
            <a:r>
              <a:rPr lang="es-PE" sz="1400" dirty="0">
                <a:latin typeface="Calibri" panose="020F0502020204030204" pitchFamily="34" charset="0"/>
                <a:ea typeface="Calibri" panose="020F0502020204030204" pitchFamily="34" charset="0"/>
                <a:cs typeface="Calibri" panose="020F0502020204030204" pitchFamily="34" charset="0"/>
              </a:rPr>
              <a:t>En esta sesión hemos comprobado lo fácil que es crear tableros de información integrados usando las herramientas de Power BI, pero previamente se requiere definir el modelo de datos que contiene los datos a visualizar.</a:t>
            </a:r>
          </a:p>
          <a:p>
            <a:endParaRPr lang="es-PE" sz="1400" dirty="0">
              <a:latin typeface="Calibri" panose="020F0502020204030204" pitchFamily="34" charset="0"/>
              <a:ea typeface="Calibri" panose="020F0502020204030204" pitchFamily="34" charset="0"/>
              <a:cs typeface="Calibri" panose="020F0502020204030204" pitchFamily="34" charset="0"/>
            </a:endParaRPr>
          </a:p>
          <a:p>
            <a:r>
              <a:rPr lang="es-ES" sz="1400" dirty="0">
                <a:latin typeface="Calibri" panose="020F0502020204030204" pitchFamily="34" charset="0"/>
                <a:cs typeface="Calibri" panose="020F0502020204030204" pitchFamily="34" charset="0"/>
              </a:rPr>
              <a:t>La visualización de datos te ayuda a convertir todos esos datos pormenorizados en información empresarial, para que sea más comprensible y resulte visualmente atractiva y de utilidad.</a:t>
            </a:r>
          </a:p>
          <a:p>
            <a:endParaRPr lang="es-ES" sz="1400" dirty="0">
              <a:latin typeface="Calibri" panose="020F0502020204030204" pitchFamily="34" charset="0"/>
              <a:cs typeface="Calibri" panose="020F0502020204030204" pitchFamily="34" charset="0"/>
            </a:endParaRPr>
          </a:p>
          <a:p>
            <a:r>
              <a:rPr lang="es-ES" sz="1400" dirty="0">
                <a:latin typeface="Calibri" panose="020F0502020204030204" pitchFamily="34" charset="0"/>
                <a:cs typeface="Calibri" panose="020F0502020204030204" pitchFamily="34" charset="0"/>
              </a:rPr>
              <a:t>La visualización de datos te permite descubrir y narrar la información oculta en los números, a través de paneles de datos, informes interactivos, diagramas, gráficos y otras representaciones visuales.</a:t>
            </a:r>
            <a:endParaRPr lang="es-PE" sz="1400" dirty="0">
              <a:latin typeface="Calibri" panose="020F0502020204030204" pitchFamily="34" charset="0"/>
              <a:cs typeface="Calibri" panose="020F0502020204030204" pitchFamily="34" charset="0"/>
            </a:endParaRPr>
          </a:p>
        </p:txBody>
      </p:sp>
      <p:pic>
        <p:nvPicPr>
          <p:cNvPr id="4" name="Google Shape;1455;p90">
            <a:extLst>
              <a:ext uri="{FF2B5EF4-FFF2-40B4-BE49-F238E27FC236}">
                <a16:creationId xmlns:a16="http://schemas.microsoft.com/office/drawing/2014/main" id="{3230E0CD-D784-664D-EC88-C6DBE1FF9418}"/>
              </a:ext>
            </a:extLst>
          </p:cNvPr>
          <p:cNvPicPr preferRelativeResize="0"/>
          <p:nvPr/>
        </p:nvPicPr>
        <p:blipFill rotWithShape="1">
          <a:blip r:embed="rId4">
            <a:alphaModFix/>
          </a:blip>
          <a:srcRect/>
          <a:stretch/>
        </p:blipFill>
        <p:spPr>
          <a:xfrm>
            <a:off x="1011260" y="954885"/>
            <a:ext cx="114138" cy="117546"/>
          </a:xfrm>
          <a:prstGeom prst="rect">
            <a:avLst/>
          </a:prstGeom>
          <a:noFill/>
          <a:ln>
            <a:noFill/>
          </a:ln>
        </p:spPr>
      </p:pic>
      <p:pic>
        <p:nvPicPr>
          <p:cNvPr id="6" name="Google Shape;1456;p90">
            <a:extLst>
              <a:ext uri="{FF2B5EF4-FFF2-40B4-BE49-F238E27FC236}">
                <a16:creationId xmlns:a16="http://schemas.microsoft.com/office/drawing/2014/main" id="{2A890267-4EB3-78D0-458E-28413EC6C0AB}"/>
              </a:ext>
            </a:extLst>
          </p:cNvPr>
          <p:cNvPicPr preferRelativeResize="0"/>
          <p:nvPr/>
        </p:nvPicPr>
        <p:blipFill rotWithShape="1">
          <a:blip r:embed="rId4">
            <a:alphaModFix/>
          </a:blip>
          <a:srcRect/>
          <a:stretch/>
        </p:blipFill>
        <p:spPr>
          <a:xfrm>
            <a:off x="1011260" y="1821114"/>
            <a:ext cx="114138" cy="117546"/>
          </a:xfrm>
          <a:prstGeom prst="rect">
            <a:avLst/>
          </a:prstGeom>
          <a:noFill/>
          <a:ln>
            <a:noFill/>
          </a:ln>
        </p:spPr>
      </p:pic>
      <p:sp>
        <p:nvSpPr>
          <p:cNvPr id="8" name="Google Shape;1457;p90">
            <a:extLst>
              <a:ext uri="{FF2B5EF4-FFF2-40B4-BE49-F238E27FC236}">
                <a16:creationId xmlns:a16="http://schemas.microsoft.com/office/drawing/2014/main" id="{E0A8A53F-DC16-9AEB-7A5F-8565E22E0312}"/>
              </a:ext>
            </a:extLst>
          </p:cNvPr>
          <p:cNvSpPr/>
          <p:nvPr/>
        </p:nvSpPr>
        <p:spPr>
          <a:xfrm>
            <a:off x="8133347" y="163629"/>
            <a:ext cx="808522" cy="75474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0" name="Google Shape;1458;p90">
            <a:extLst>
              <a:ext uri="{FF2B5EF4-FFF2-40B4-BE49-F238E27FC236}">
                <a16:creationId xmlns:a16="http://schemas.microsoft.com/office/drawing/2014/main" id="{986B67F9-E747-826A-6F7F-BA24798C0239}"/>
              </a:ext>
            </a:extLst>
          </p:cNvPr>
          <p:cNvPicPr preferRelativeResize="0"/>
          <p:nvPr/>
        </p:nvPicPr>
        <p:blipFill rotWithShape="1">
          <a:blip r:embed="rId5">
            <a:alphaModFix amt="42000"/>
          </a:blip>
          <a:srcRect/>
          <a:stretch/>
        </p:blipFill>
        <p:spPr>
          <a:xfrm>
            <a:off x="6984999" y="3048772"/>
            <a:ext cx="1690689" cy="2185216"/>
          </a:xfrm>
          <a:prstGeom prst="rect">
            <a:avLst/>
          </a:prstGeom>
          <a:noFill/>
          <a:ln>
            <a:noFill/>
          </a:ln>
        </p:spPr>
      </p:pic>
      <p:sp>
        <p:nvSpPr>
          <p:cNvPr id="11" name="Google Shape;1459;p90">
            <a:extLst>
              <a:ext uri="{FF2B5EF4-FFF2-40B4-BE49-F238E27FC236}">
                <a16:creationId xmlns:a16="http://schemas.microsoft.com/office/drawing/2014/main" id="{178867C6-9544-B241-F7E2-5155317B5AC0}"/>
              </a:ext>
            </a:extLst>
          </p:cNvPr>
          <p:cNvSpPr/>
          <p:nvPr/>
        </p:nvSpPr>
        <p:spPr>
          <a:xfrm>
            <a:off x="503238" y="376836"/>
            <a:ext cx="2430462" cy="138499"/>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None/>
            </a:pPr>
            <a:r>
              <a:rPr lang="es-PE" sz="1000" b="1">
                <a:solidFill>
                  <a:srgbClr val="7F7F7F"/>
                </a:solidFill>
                <a:latin typeface="Calibri"/>
                <a:ea typeface="Calibri"/>
                <a:cs typeface="Calibri"/>
                <a:sym typeface="Calibri"/>
              </a:rPr>
              <a:t>+ </a:t>
            </a:r>
            <a:r>
              <a:rPr lang="es-PE" sz="1000">
                <a:solidFill>
                  <a:srgbClr val="A5A5A5"/>
                </a:solidFill>
                <a:latin typeface="Calibri"/>
                <a:ea typeface="Calibri"/>
                <a:cs typeface="Calibri"/>
                <a:sym typeface="Calibri"/>
              </a:rPr>
              <a:t>CONCLUSIONES </a:t>
            </a:r>
            <a:endParaRPr/>
          </a:p>
        </p:txBody>
      </p:sp>
      <p:pic>
        <p:nvPicPr>
          <p:cNvPr id="13" name="Google Shape;1456;p90">
            <a:extLst>
              <a:ext uri="{FF2B5EF4-FFF2-40B4-BE49-F238E27FC236}">
                <a16:creationId xmlns:a16="http://schemas.microsoft.com/office/drawing/2014/main" id="{41136230-3733-3C0C-F9F2-1CA5EB7FE812}"/>
              </a:ext>
            </a:extLst>
          </p:cNvPr>
          <p:cNvPicPr preferRelativeResize="0"/>
          <p:nvPr/>
        </p:nvPicPr>
        <p:blipFill rotWithShape="1">
          <a:blip r:embed="rId4">
            <a:alphaModFix/>
          </a:blip>
          <a:srcRect/>
          <a:stretch/>
        </p:blipFill>
        <p:spPr>
          <a:xfrm>
            <a:off x="1011260" y="2687344"/>
            <a:ext cx="114138" cy="117546"/>
          </a:xfrm>
          <a:prstGeom prst="rect">
            <a:avLst/>
          </a:prstGeom>
          <a:noFill/>
          <a:ln>
            <a:noFill/>
          </a:ln>
        </p:spPr>
      </p:pic>
    </p:spTree>
    <p:custDataLst>
      <p:tags r:id="rId1"/>
    </p:custDataLst>
    <p:extLst>
      <p:ext uri="{BB962C8B-B14F-4D97-AF65-F5344CB8AC3E}">
        <p14:creationId xmlns:p14="http://schemas.microsoft.com/office/powerpoint/2010/main" val="4015447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64;p91">
            <a:extLst>
              <a:ext uri="{FF2B5EF4-FFF2-40B4-BE49-F238E27FC236}">
                <a16:creationId xmlns:a16="http://schemas.microsoft.com/office/drawing/2014/main" id="{061918FB-68C8-E814-3F57-D27E85FA4EFF}"/>
              </a:ext>
            </a:extLst>
          </p:cNvPr>
          <p:cNvSpPr/>
          <p:nvPr/>
        </p:nvSpPr>
        <p:spPr>
          <a:xfrm>
            <a:off x="0" y="0"/>
            <a:ext cx="9144000" cy="5715000"/>
          </a:xfrm>
          <a:prstGeom prst="rect">
            <a:avLst/>
          </a:prstGeom>
          <a:solidFill>
            <a:srgbClr val="8DCB6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 name="Google Shape;1465;p91">
            <a:extLst>
              <a:ext uri="{FF2B5EF4-FFF2-40B4-BE49-F238E27FC236}">
                <a16:creationId xmlns:a16="http://schemas.microsoft.com/office/drawing/2014/main" id="{D06996FC-E3FD-C742-80F8-CA96E142CAFA}"/>
              </a:ext>
            </a:extLst>
          </p:cNvPr>
          <p:cNvSpPr txBox="1"/>
          <p:nvPr/>
        </p:nvSpPr>
        <p:spPr>
          <a:xfrm>
            <a:off x="2519363" y="2540738"/>
            <a:ext cx="4581728" cy="997196"/>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PE" sz="3600" dirty="0">
                <a:solidFill>
                  <a:schemeClr val="lt1"/>
                </a:solidFill>
                <a:latin typeface="Graphik Regular" panose="020B0503030202060203" pitchFamily="34" charset="77"/>
                <a:sym typeface="Arial"/>
              </a:rPr>
              <a:t>BIBLIOGRAFÍA</a:t>
            </a:r>
            <a:br>
              <a:rPr lang="es-PE" sz="3600" dirty="0">
                <a:solidFill>
                  <a:schemeClr val="lt1"/>
                </a:solidFill>
                <a:latin typeface="Graphik Regular" panose="020B0503030202060203" pitchFamily="34" charset="77"/>
                <a:sym typeface="Arial"/>
              </a:rPr>
            </a:br>
            <a:r>
              <a:rPr lang="es-PE" sz="3600" b="1" dirty="0">
                <a:solidFill>
                  <a:schemeClr val="lt1"/>
                </a:solidFill>
                <a:latin typeface="Graphik Bold" panose="020B0503030202060203" pitchFamily="34" charset="77"/>
                <a:sym typeface="Arial"/>
              </a:rPr>
              <a:t>MÁS REFERENCIAS</a:t>
            </a:r>
            <a:endParaRPr b="1" dirty="0">
              <a:latin typeface="Graphik Bold" panose="020B0503030202060203" pitchFamily="34" charset="77"/>
            </a:endParaRPr>
          </a:p>
        </p:txBody>
      </p:sp>
      <p:pic>
        <p:nvPicPr>
          <p:cNvPr id="4" name="Google Shape;1466;p91">
            <a:extLst>
              <a:ext uri="{FF2B5EF4-FFF2-40B4-BE49-F238E27FC236}">
                <a16:creationId xmlns:a16="http://schemas.microsoft.com/office/drawing/2014/main" id="{43458C32-CB5B-D695-DD7A-22587C83EE5D}"/>
              </a:ext>
            </a:extLst>
          </p:cNvPr>
          <p:cNvPicPr preferRelativeResize="0"/>
          <p:nvPr/>
        </p:nvPicPr>
        <p:blipFill rotWithShape="1">
          <a:blip r:embed="rId2">
            <a:alphaModFix/>
          </a:blip>
          <a:srcRect/>
          <a:stretch/>
        </p:blipFill>
        <p:spPr>
          <a:xfrm>
            <a:off x="2528619" y="2194222"/>
            <a:ext cx="202176" cy="208211"/>
          </a:xfrm>
          <a:prstGeom prst="rect">
            <a:avLst/>
          </a:prstGeom>
          <a:noFill/>
          <a:ln>
            <a:noFill/>
          </a:ln>
        </p:spPr>
      </p:pic>
      <p:pic>
        <p:nvPicPr>
          <p:cNvPr id="5" name="Google Shape;1467;p91">
            <a:extLst>
              <a:ext uri="{FF2B5EF4-FFF2-40B4-BE49-F238E27FC236}">
                <a16:creationId xmlns:a16="http://schemas.microsoft.com/office/drawing/2014/main" id="{54088B57-D43B-DA13-1080-CE64793650AC}"/>
              </a:ext>
            </a:extLst>
          </p:cNvPr>
          <p:cNvPicPr preferRelativeResize="0"/>
          <p:nvPr/>
        </p:nvPicPr>
        <p:blipFill rotWithShape="1">
          <a:blip r:embed="rId3">
            <a:alphaModFix/>
          </a:blip>
          <a:srcRect/>
          <a:stretch/>
        </p:blipFill>
        <p:spPr>
          <a:xfrm>
            <a:off x="0" y="946970"/>
            <a:ext cx="2072061" cy="3898064"/>
          </a:xfrm>
          <a:prstGeom prst="rect">
            <a:avLst/>
          </a:prstGeom>
          <a:noFill/>
          <a:ln>
            <a:noFill/>
          </a:ln>
        </p:spPr>
      </p:pic>
    </p:spTree>
    <p:extLst>
      <p:ext uri="{BB962C8B-B14F-4D97-AF65-F5344CB8AC3E}">
        <p14:creationId xmlns:p14="http://schemas.microsoft.com/office/powerpoint/2010/main" val="14656535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59"/>
        <p:cNvGrpSpPr/>
        <p:nvPr/>
      </p:nvGrpSpPr>
      <p:grpSpPr>
        <a:xfrm>
          <a:off x="0" y="0"/>
          <a:ext cx="0" cy="0"/>
          <a:chOff x="0" y="0"/>
          <a:chExt cx="0" cy="0"/>
        </a:xfrm>
      </p:grpSpPr>
      <p:sp>
        <p:nvSpPr>
          <p:cNvPr id="1460" name="Google Shape;1460;p26"/>
          <p:cNvSpPr txBox="1"/>
          <p:nvPr/>
        </p:nvSpPr>
        <p:spPr>
          <a:xfrm>
            <a:off x="9333192" y="1506807"/>
            <a:ext cx="7881937" cy="1854437"/>
          </a:xfrm>
          <a:prstGeom prst="rect">
            <a:avLst/>
          </a:prstGeom>
          <a:noFill/>
          <a:ln>
            <a:noFill/>
          </a:ln>
        </p:spPr>
        <p:txBody>
          <a:bodyPr spcFirstLastPara="1" wrap="square" lIns="0" tIns="0" rIns="0" bIns="0" anchor="t" anchorCtr="0">
            <a:noAutofit/>
          </a:bodyPr>
          <a:lstStyle/>
          <a:p>
            <a:pPr marL="174624" marR="0" lvl="0" indent="-79373" algn="l" rtl="0">
              <a:spcBef>
                <a:spcPts val="0"/>
              </a:spcBef>
              <a:spcAft>
                <a:spcPts val="0"/>
              </a:spcAft>
              <a:buClr>
                <a:schemeClr val="dk1"/>
              </a:buClr>
              <a:buSzPts val="1500"/>
              <a:buFont typeface="Arial"/>
              <a:buNone/>
            </a:pPr>
            <a:endParaRPr sz="1500">
              <a:solidFill>
                <a:schemeClr val="dk1"/>
              </a:solidFill>
              <a:latin typeface="Calibri"/>
              <a:ea typeface="Calibri"/>
              <a:cs typeface="Calibri"/>
              <a:sym typeface="Calibri"/>
            </a:endParaRPr>
          </a:p>
        </p:txBody>
      </p:sp>
      <p:sp>
        <p:nvSpPr>
          <p:cNvPr id="2" name="Google Shape;1472;p92">
            <a:extLst>
              <a:ext uri="{FF2B5EF4-FFF2-40B4-BE49-F238E27FC236}">
                <a16:creationId xmlns:a16="http://schemas.microsoft.com/office/drawing/2014/main" id="{2E9A31C4-DA37-B523-8DBA-5498DC93F1C3}"/>
              </a:ext>
            </a:extLst>
          </p:cNvPr>
          <p:cNvSpPr/>
          <p:nvPr/>
        </p:nvSpPr>
        <p:spPr>
          <a:xfrm>
            <a:off x="301556" y="5321030"/>
            <a:ext cx="8453337" cy="29183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 name="Google Shape;1473;p92">
            <a:extLst>
              <a:ext uri="{FF2B5EF4-FFF2-40B4-BE49-F238E27FC236}">
                <a16:creationId xmlns:a16="http://schemas.microsoft.com/office/drawing/2014/main" id="{7F46016A-3431-BA86-6929-11069DEFE9C1}"/>
              </a:ext>
            </a:extLst>
          </p:cNvPr>
          <p:cNvSpPr txBox="1"/>
          <p:nvPr/>
        </p:nvSpPr>
        <p:spPr>
          <a:xfrm>
            <a:off x="1279009" y="917823"/>
            <a:ext cx="6013889" cy="1508105"/>
          </a:xfrm>
          <a:prstGeom prst="rect">
            <a:avLst/>
          </a:prstGeom>
          <a:noFill/>
          <a:ln>
            <a:noFill/>
          </a:ln>
        </p:spPr>
        <p:txBody>
          <a:bodyPr spcFirstLastPara="1" wrap="square" lIns="0" tIns="0" rIns="0" bIns="0" anchor="t" anchorCtr="0">
            <a:spAutoFit/>
          </a:bodyPr>
          <a:lstStyle/>
          <a:p>
            <a:r>
              <a:rPr lang="en-US" sz="1400" dirty="0">
                <a:latin typeface="Calibri" panose="020F0502020204030204" pitchFamily="34" charset="0"/>
                <a:cs typeface="Calibri" panose="020F0502020204030204" pitchFamily="34" charset="0"/>
              </a:rPr>
              <a:t>Microsoft Learn (2023). </a:t>
            </a:r>
            <a:r>
              <a:rPr lang="en-US" sz="1400" dirty="0" err="1">
                <a:latin typeface="Calibri" panose="020F0502020204030204" pitchFamily="34" charset="0"/>
                <a:cs typeface="Calibri" panose="020F0502020204030204" pitchFamily="34" charset="0"/>
              </a:rPr>
              <a:t>Introducción</a:t>
            </a:r>
            <a:r>
              <a:rPr lang="en-US" sz="1400" dirty="0">
                <a:latin typeface="Calibri" panose="020F0502020204030204" pitchFamily="34" charset="0"/>
                <a:cs typeface="Calibri" panose="020F0502020204030204" pitchFamily="34" charset="0"/>
              </a:rPr>
              <a:t> a Power BI Desktop. </a:t>
            </a:r>
            <a:r>
              <a:rPr lang="en-US" sz="1400" dirty="0" err="1">
                <a:latin typeface="Calibri" panose="020F0502020204030204" pitchFamily="34" charset="0"/>
                <a:cs typeface="Calibri" panose="020F0502020204030204" pitchFamily="34" charset="0"/>
              </a:rPr>
              <a:t>Recuperado</a:t>
            </a:r>
            <a:r>
              <a:rPr lang="en-US" sz="1400" dirty="0">
                <a:latin typeface="Calibri" panose="020F0502020204030204" pitchFamily="34" charset="0"/>
                <a:cs typeface="Calibri" panose="020F0502020204030204" pitchFamily="34" charset="0"/>
              </a:rPr>
              <a:t> de </a:t>
            </a:r>
            <a:r>
              <a:rPr lang="en-US" sz="1400" dirty="0">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https://learn.microsoft.com/es-es/power-bi/fundamentals/desktop-getting-started</a:t>
            </a:r>
            <a:r>
              <a:rPr lang="en-US" sz="1400" dirty="0">
                <a:latin typeface="Calibri" panose="020F0502020204030204" pitchFamily="34" charset="0"/>
                <a:cs typeface="Calibri" panose="020F0502020204030204" pitchFamily="34" charset="0"/>
              </a:rPr>
              <a:t>.</a:t>
            </a:r>
          </a:p>
          <a:p>
            <a:r>
              <a:rPr lang="en-US" sz="1400" dirty="0">
                <a:latin typeface="Calibri" panose="020F0502020204030204" pitchFamily="34" charset="0"/>
                <a:cs typeface="Calibri" panose="020F0502020204030204" pitchFamily="34" charset="0"/>
              </a:rPr>
              <a:t> </a:t>
            </a:r>
          </a:p>
          <a:p>
            <a:r>
              <a:rPr lang="en-US" sz="1400" dirty="0">
                <a:latin typeface="Calibri" panose="020F0502020204030204" pitchFamily="34" charset="0"/>
                <a:cs typeface="Calibri" panose="020F0502020204030204" pitchFamily="34" charset="0"/>
              </a:rPr>
              <a:t>Microsoft Learn (2023). </a:t>
            </a:r>
            <a:r>
              <a:rPr lang="en-US" sz="1400" dirty="0" err="1">
                <a:latin typeface="Calibri" panose="020F0502020204030204" pitchFamily="34" charset="0"/>
                <a:cs typeface="Calibri" panose="020F0502020204030204" pitchFamily="34" charset="0"/>
              </a:rPr>
              <a:t>Tipos</a:t>
            </a:r>
            <a:r>
              <a:rPr lang="en-US" sz="1400" dirty="0">
                <a:latin typeface="Calibri" panose="020F0502020204030204" pitchFamily="34" charset="0"/>
                <a:cs typeface="Calibri" panose="020F0502020204030204" pitchFamily="34" charset="0"/>
              </a:rPr>
              <a:t> de </a:t>
            </a:r>
            <a:r>
              <a:rPr lang="en-US" sz="1400" dirty="0" err="1">
                <a:latin typeface="Calibri" panose="020F0502020204030204" pitchFamily="34" charset="0"/>
                <a:cs typeface="Calibri" panose="020F0502020204030204" pitchFamily="34" charset="0"/>
              </a:rPr>
              <a:t>visualizaciones</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en</a:t>
            </a:r>
            <a:r>
              <a:rPr lang="en-US" sz="1400" dirty="0">
                <a:latin typeface="Calibri" panose="020F0502020204030204" pitchFamily="34" charset="0"/>
                <a:cs typeface="Calibri" panose="020F0502020204030204" pitchFamily="34" charset="0"/>
              </a:rPr>
              <a:t> Power BI. </a:t>
            </a:r>
            <a:r>
              <a:rPr lang="en-US" sz="1400" dirty="0" err="1">
                <a:latin typeface="Calibri" panose="020F0502020204030204" pitchFamily="34" charset="0"/>
                <a:cs typeface="Calibri" panose="020F0502020204030204" pitchFamily="34" charset="0"/>
              </a:rPr>
              <a:t>Recuperado</a:t>
            </a:r>
            <a:r>
              <a:rPr lang="en-US" sz="1400" dirty="0">
                <a:latin typeface="Calibri" panose="020F0502020204030204" pitchFamily="34" charset="0"/>
                <a:cs typeface="Calibri" panose="020F0502020204030204" pitchFamily="34" charset="0"/>
              </a:rPr>
              <a:t> de https://learn.microsoft.com/es-es/power-bi/visuals/power-bi-visualization-types-for-reports-and-q-and-a.</a:t>
            </a:r>
            <a:endParaRPr lang="en-US" sz="1400" dirty="0">
              <a:latin typeface="Calibri" panose="020F0502020204030204" pitchFamily="34" charset="0"/>
              <a:ea typeface="Calibri"/>
              <a:cs typeface="Calibri" panose="020F0502020204030204" pitchFamily="34" charset="0"/>
              <a:sym typeface="Calibri"/>
            </a:endParaRPr>
          </a:p>
        </p:txBody>
      </p:sp>
      <p:pic>
        <p:nvPicPr>
          <p:cNvPr id="4" name="Google Shape;1474;p92">
            <a:extLst>
              <a:ext uri="{FF2B5EF4-FFF2-40B4-BE49-F238E27FC236}">
                <a16:creationId xmlns:a16="http://schemas.microsoft.com/office/drawing/2014/main" id="{F7C2ADE5-9F3E-FBD1-FC77-AC9E3FD29088}"/>
              </a:ext>
            </a:extLst>
          </p:cNvPr>
          <p:cNvPicPr preferRelativeResize="0"/>
          <p:nvPr/>
        </p:nvPicPr>
        <p:blipFill rotWithShape="1">
          <a:blip r:embed="rId4">
            <a:alphaModFix/>
          </a:blip>
          <a:srcRect/>
          <a:stretch/>
        </p:blipFill>
        <p:spPr>
          <a:xfrm>
            <a:off x="1008064" y="959114"/>
            <a:ext cx="103867" cy="106967"/>
          </a:xfrm>
          <a:prstGeom prst="rect">
            <a:avLst/>
          </a:prstGeom>
          <a:noFill/>
          <a:ln>
            <a:noFill/>
          </a:ln>
        </p:spPr>
      </p:pic>
      <p:pic>
        <p:nvPicPr>
          <p:cNvPr id="5" name="Google Shape;1477;p92">
            <a:extLst>
              <a:ext uri="{FF2B5EF4-FFF2-40B4-BE49-F238E27FC236}">
                <a16:creationId xmlns:a16="http://schemas.microsoft.com/office/drawing/2014/main" id="{02D67B03-6CCE-C8E6-4F84-55D31B385BCC}"/>
              </a:ext>
            </a:extLst>
          </p:cNvPr>
          <p:cNvPicPr preferRelativeResize="0"/>
          <p:nvPr/>
        </p:nvPicPr>
        <p:blipFill rotWithShape="1">
          <a:blip r:embed="rId5">
            <a:alphaModFix amt="42000"/>
          </a:blip>
          <a:srcRect/>
          <a:stretch/>
        </p:blipFill>
        <p:spPr>
          <a:xfrm>
            <a:off x="6985000" y="3036889"/>
            <a:ext cx="1690688" cy="2197100"/>
          </a:xfrm>
          <a:prstGeom prst="rect">
            <a:avLst/>
          </a:prstGeom>
          <a:noFill/>
          <a:ln>
            <a:noFill/>
          </a:ln>
        </p:spPr>
      </p:pic>
      <p:sp>
        <p:nvSpPr>
          <p:cNvPr id="6" name="Google Shape;1478;p92">
            <a:extLst>
              <a:ext uri="{FF2B5EF4-FFF2-40B4-BE49-F238E27FC236}">
                <a16:creationId xmlns:a16="http://schemas.microsoft.com/office/drawing/2014/main" id="{74FA811C-7527-5511-A387-FE964AC6432B}"/>
              </a:ext>
            </a:extLst>
          </p:cNvPr>
          <p:cNvSpPr/>
          <p:nvPr/>
        </p:nvSpPr>
        <p:spPr>
          <a:xfrm>
            <a:off x="503238" y="376836"/>
            <a:ext cx="2430462" cy="138499"/>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None/>
            </a:pPr>
            <a:r>
              <a:rPr lang="es-PE" sz="1000" b="1">
                <a:solidFill>
                  <a:srgbClr val="7F7F7F"/>
                </a:solidFill>
                <a:latin typeface="Calibri"/>
                <a:ea typeface="Calibri"/>
                <a:cs typeface="Calibri"/>
                <a:sym typeface="Calibri"/>
              </a:rPr>
              <a:t>+ </a:t>
            </a:r>
            <a:r>
              <a:rPr lang="es-PE" sz="1000">
                <a:solidFill>
                  <a:srgbClr val="A5A5A5"/>
                </a:solidFill>
                <a:latin typeface="Calibri"/>
                <a:ea typeface="Calibri"/>
                <a:cs typeface="Calibri"/>
                <a:sym typeface="Calibri"/>
              </a:rPr>
              <a:t>BIBLIOGRAFÍA</a:t>
            </a:r>
            <a:endParaRPr/>
          </a:p>
        </p:txBody>
      </p:sp>
      <p:pic>
        <p:nvPicPr>
          <p:cNvPr id="7" name="Google Shape;1475;p92">
            <a:extLst>
              <a:ext uri="{FF2B5EF4-FFF2-40B4-BE49-F238E27FC236}">
                <a16:creationId xmlns:a16="http://schemas.microsoft.com/office/drawing/2014/main" id="{25ABC24E-8CB4-D8F6-A8B6-FFC40BC87D7A}"/>
              </a:ext>
            </a:extLst>
          </p:cNvPr>
          <p:cNvPicPr preferRelativeResize="0"/>
          <p:nvPr/>
        </p:nvPicPr>
        <p:blipFill rotWithShape="1">
          <a:blip r:embed="rId4">
            <a:alphaModFix/>
          </a:blip>
          <a:srcRect/>
          <a:stretch/>
        </p:blipFill>
        <p:spPr>
          <a:xfrm>
            <a:off x="1008064" y="1851188"/>
            <a:ext cx="103867" cy="106967"/>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484;p93">
            <a:extLst>
              <a:ext uri="{FF2B5EF4-FFF2-40B4-BE49-F238E27FC236}">
                <a16:creationId xmlns:a16="http://schemas.microsoft.com/office/drawing/2014/main" id="{E75D2404-C0A4-8D28-C68C-C4D095485BDE}"/>
              </a:ext>
            </a:extLst>
          </p:cNvPr>
          <p:cNvSpPr/>
          <p:nvPr/>
        </p:nvSpPr>
        <p:spPr>
          <a:xfrm>
            <a:off x="0" y="0"/>
            <a:ext cx="9144000" cy="5715000"/>
          </a:xfrm>
          <a:prstGeom prst="rect">
            <a:avLst/>
          </a:prstGeom>
          <a:solidFill>
            <a:srgbClr val="8087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 name="Google Shape;1485;p93">
            <a:extLst>
              <a:ext uri="{FF2B5EF4-FFF2-40B4-BE49-F238E27FC236}">
                <a16:creationId xmlns:a16="http://schemas.microsoft.com/office/drawing/2014/main" id="{934486DE-6DF7-E6A8-DB2A-4CEDAD72F905}"/>
              </a:ext>
            </a:extLst>
          </p:cNvPr>
          <p:cNvPicPr preferRelativeResize="0"/>
          <p:nvPr/>
        </p:nvPicPr>
        <p:blipFill rotWithShape="1">
          <a:blip r:embed="rId2">
            <a:alphaModFix/>
          </a:blip>
          <a:srcRect/>
          <a:stretch/>
        </p:blipFill>
        <p:spPr>
          <a:xfrm>
            <a:off x="3924199" y="2666298"/>
            <a:ext cx="1295601" cy="386803"/>
          </a:xfrm>
          <a:prstGeom prst="rect">
            <a:avLst/>
          </a:prstGeom>
          <a:noFill/>
          <a:ln>
            <a:noFill/>
          </a:ln>
        </p:spPr>
      </p:pic>
    </p:spTree>
    <p:extLst>
      <p:ext uri="{BB962C8B-B14F-4D97-AF65-F5344CB8AC3E}">
        <p14:creationId xmlns:p14="http://schemas.microsoft.com/office/powerpoint/2010/main" val="29571903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4728</TotalTime>
  <Words>1004</Words>
  <Application>Microsoft Macintosh PowerPoint</Application>
  <PresentationFormat>Presentación en pantalla (16:10)</PresentationFormat>
  <Paragraphs>427</Paragraphs>
  <Slides>20</Slides>
  <Notes>14</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20</vt:i4>
      </vt:variant>
    </vt:vector>
  </HeadingPairs>
  <TitlesOfParts>
    <vt:vector size="26" baseType="lpstr">
      <vt:lpstr>Arial</vt:lpstr>
      <vt:lpstr>Calibri</vt:lpstr>
      <vt:lpstr>Graphik Bold</vt:lpstr>
      <vt:lpstr>Graphik Regular</vt:lpstr>
      <vt:lpstr>Graphik-Medium</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Mary Gabriela Romero Martinez </cp:lastModifiedBy>
  <cp:revision>405</cp:revision>
  <cp:lastPrinted>2018-01-16T21:42:59Z</cp:lastPrinted>
  <dcterms:created xsi:type="dcterms:W3CDTF">2016-10-06T14:52:02Z</dcterms:created>
  <dcterms:modified xsi:type="dcterms:W3CDTF">2024-08-20T19:34:56Z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