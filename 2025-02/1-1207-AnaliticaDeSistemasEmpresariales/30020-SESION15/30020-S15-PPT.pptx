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ags/tag2.xml" ContentType="application/vnd.openxmlformats-officedocument.presentationml.tags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7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8.xml" ContentType="application/vnd.openxmlformats-officedocument.presentationml.tags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3" r:id="rId2"/>
  </p:sldMasterIdLst>
  <p:notesMasterIdLst>
    <p:notesMasterId r:id="rId22"/>
  </p:notesMasterIdLst>
  <p:handoutMasterIdLst>
    <p:handoutMasterId r:id="rId23"/>
  </p:handoutMasterIdLst>
  <p:sldIdLst>
    <p:sldId id="326" r:id="rId3"/>
    <p:sldId id="435" r:id="rId4"/>
    <p:sldId id="362" r:id="rId5"/>
    <p:sldId id="315" r:id="rId6"/>
    <p:sldId id="336" r:id="rId7"/>
    <p:sldId id="418" r:id="rId8"/>
    <p:sldId id="432" r:id="rId9"/>
    <p:sldId id="433" r:id="rId10"/>
    <p:sldId id="422" r:id="rId11"/>
    <p:sldId id="428" r:id="rId12"/>
    <p:sldId id="430" r:id="rId13"/>
    <p:sldId id="431" r:id="rId14"/>
    <p:sldId id="427" r:id="rId15"/>
    <p:sldId id="434" r:id="rId16"/>
    <p:sldId id="436" r:id="rId17"/>
    <p:sldId id="303" r:id="rId18"/>
    <p:sldId id="437" r:id="rId19"/>
    <p:sldId id="398" r:id="rId20"/>
    <p:sldId id="438" r:id="rId21"/>
  </p:sldIdLst>
  <p:sldSz cx="9144000" cy="5715000" type="screen16x10"/>
  <p:notesSz cx="6858000" cy="9144000"/>
  <p:custDataLst>
    <p:tags r:id="rId2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4639"/>
    <a:srgbClr val="D9DBE1"/>
    <a:srgbClr val="44AA56"/>
    <a:srgbClr val="C72B2C"/>
    <a:srgbClr val="0B3644"/>
    <a:srgbClr val="E96F6D"/>
    <a:srgbClr val="5DBB99"/>
    <a:srgbClr val="558ED5"/>
    <a:srgbClr val="268B8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30" autoAdjust="0"/>
    <p:restoredTop sz="93981" autoAdjust="0"/>
  </p:normalViewPr>
  <p:slideViewPr>
    <p:cSldViewPr snapToGrid="0" snapToObjects="1" showGuides="1">
      <p:cViewPr varScale="1">
        <p:scale>
          <a:sx n="149" d="100"/>
          <a:sy n="149" d="100"/>
        </p:scale>
        <p:origin x="176" y="584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gs" Target="tags/tag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932DC7-834F-6148-86AF-F72164F7FFC1}" type="datetimeFigureOut">
              <a:rPr lang="es-ES" smtClean="0"/>
              <a:t>20/8/24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EA6FD5-E31A-6D44-BE80-5A94AC694F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265184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DF1720-AE80-4069-8D89-2C76E8AFD874}" type="datetimeFigureOut">
              <a:rPr lang="es-PE" smtClean="0"/>
              <a:t>20/08/24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6700CA-E45F-416D-B659-25554F846B4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48527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344541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88402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160135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976104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8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305970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9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845352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10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256704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711311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533967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430368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615207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344541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3085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943131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1 Image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1824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1 Image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2226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1 Imagen Centr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5508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2 Imáge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4691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Imagen Giga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69565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5261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02113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0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8738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6507510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1 Image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06773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1 Image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59667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1 Imagen Centr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38316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2 Imáge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50609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Imagen Giga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7436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76014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6590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image" Target="../media/image1.emf"/><Relationship Id="rId5" Type="http://schemas.openxmlformats.org/officeDocument/2006/relationships/slideLayout" Target="../slideLayouts/slideLayout14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Agrupar 13"/>
          <p:cNvGrpSpPr/>
          <p:nvPr userDrawn="1"/>
        </p:nvGrpSpPr>
        <p:grpSpPr>
          <a:xfrm>
            <a:off x="944054" y="5369051"/>
            <a:ext cx="7804380" cy="215444"/>
            <a:chOff x="944054" y="5369051"/>
            <a:chExt cx="7804380" cy="215444"/>
          </a:xfrm>
        </p:grpSpPr>
        <p:sp>
          <p:nvSpPr>
            <p:cNvPr id="16" name="TextBox 7"/>
            <p:cNvSpPr txBox="1"/>
            <p:nvPr userDrawn="1"/>
          </p:nvSpPr>
          <p:spPr>
            <a:xfrm>
              <a:off x="944054" y="5369051"/>
              <a:ext cx="238719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kern="1200" dirty="0">
                  <a:solidFill>
                    <a:schemeClr val="bg1">
                      <a:lumMod val="50000"/>
                    </a:schemeClr>
                  </a:solidFill>
                  <a:latin typeface="Calibri"/>
                  <a:ea typeface="+mn-ea"/>
                  <a:cs typeface="Calibri"/>
                  <a:sym typeface="Wingdings"/>
                </a:rPr>
                <a:t>ANALÍTICA DE SISTEMAS EMPRESARIALES </a:t>
              </a:r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libri"/>
                  <a:ea typeface="Wingdings"/>
                  <a:cs typeface="Calibri"/>
                  <a:sym typeface="Wingdings"/>
                </a:rPr>
                <a:t></a:t>
              </a:r>
              <a:r>
                <a:rPr lang="en-US" sz="800" kern="1200" dirty="0">
                  <a:solidFill>
                    <a:schemeClr val="bg1">
                      <a:lumMod val="50000"/>
                    </a:schemeClr>
                  </a:solidFill>
                  <a:latin typeface="Calibri"/>
                  <a:ea typeface="+mn-ea"/>
                  <a:cs typeface="Calibri"/>
                  <a:sym typeface="Wingdings"/>
                </a:rPr>
                <a:t>  TEMA 15</a:t>
              </a:r>
              <a:endParaRPr lang="en-US" sz="800" dirty="0">
                <a:solidFill>
                  <a:schemeClr val="bg1">
                    <a:lumMod val="50000"/>
                  </a:schemeClr>
                </a:solidFill>
                <a:latin typeface="Calibri"/>
                <a:cs typeface="Calibri"/>
              </a:endParaRPr>
            </a:p>
          </p:txBody>
        </p:sp>
        <p:sp>
          <p:nvSpPr>
            <p:cNvPr id="18" name="Rectangle 3"/>
            <p:cNvSpPr/>
            <p:nvPr userDrawn="1"/>
          </p:nvSpPr>
          <p:spPr>
            <a:xfrm>
              <a:off x="7361516" y="5384440"/>
              <a:ext cx="1386918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es-ES_tradnl" sz="600" dirty="0">
                  <a:solidFill>
                    <a:schemeClr val="bg1">
                      <a:lumMod val="50000"/>
                    </a:schemeClr>
                  </a:solidFill>
                </a:rPr>
                <a:t>©  ISIL. Todos los derechos reservados</a:t>
              </a:r>
            </a:p>
          </p:txBody>
        </p:sp>
      </p:grpSp>
      <p:pic>
        <p:nvPicPr>
          <p:cNvPr id="3" name="Imagen 2"/>
          <p:cNvPicPr>
            <a:picLocks noChangeAspect="1"/>
          </p:cNvPicPr>
          <p:nvPr userDrawn="1"/>
        </p:nvPicPr>
        <p:blipFill>
          <a:blip r:embed="rId11">
            <a:alphaModFix amt="20000"/>
          </a:blip>
          <a:stretch>
            <a:fillRect/>
          </a:stretch>
        </p:blipFill>
        <p:spPr>
          <a:xfrm>
            <a:off x="495300" y="5328911"/>
            <a:ext cx="448573" cy="250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932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60" r:id="rId4"/>
    <p:sldLayoutId id="2147483657" r:id="rId5"/>
    <p:sldLayoutId id="2147483658" r:id="rId6"/>
    <p:sldLayoutId id="2147483661" r:id="rId7"/>
    <p:sldLayoutId id="2147483659" r:id="rId8"/>
    <p:sldLayoutId id="2147483662" r:id="rId9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 userDrawn="1">
          <p15:clr>
            <a:srgbClr val="F26B43"/>
          </p15:clr>
        </p15:guide>
        <p15:guide id="2" orient="horz" pos="1800" userDrawn="1">
          <p15:clr>
            <a:srgbClr val="F26B43"/>
          </p15:clr>
        </p15:guide>
        <p15:guide id="3" pos="2767" userDrawn="1">
          <p15:clr>
            <a:srgbClr val="F26B43"/>
          </p15:clr>
        </p15:guide>
        <p15:guide id="4" pos="2993" userDrawn="1">
          <p15:clr>
            <a:srgbClr val="F26B43"/>
          </p15:clr>
        </p15:guide>
        <p15:guide id="5" pos="5465" userDrawn="1">
          <p15:clr>
            <a:srgbClr val="F26B43"/>
          </p15:clr>
        </p15:guide>
        <p15:guide id="6" pos="317" userDrawn="1">
          <p15:clr>
            <a:srgbClr val="F26B43"/>
          </p15:clr>
        </p15:guide>
        <p15:guide id="7" orient="horz" pos="303" userDrawn="1">
          <p15:clr>
            <a:srgbClr val="F26B43"/>
          </p15:clr>
        </p15:guide>
        <p15:guide id="8" orient="horz" pos="3297" userDrawn="1">
          <p15:clr>
            <a:srgbClr val="F26B43"/>
          </p15:clr>
        </p15:guide>
        <p15:guide id="9" orient="horz" pos="575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Agrupar 13"/>
          <p:cNvGrpSpPr/>
          <p:nvPr userDrawn="1"/>
        </p:nvGrpSpPr>
        <p:grpSpPr>
          <a:xfrm>
            <a:off x="944054" y="5369051"/>
            <a:ext cx="7804380" cy="215444"/>
            <a:chOff x="944054" y="5369051"/>
            <a:chExt cx="7804380" cy="215444"/>
          </a:xfrm>
        </p:grpSpPr>
        <p:sp>
          <p:nvSpPr>
            <p:cNvPr id="16" name="TextBox 7"/>
            <p:cNvSpPr txBox="1"/>
            <p:nvPr userDrawn="1"/>
          </p:nvSpPr>
          <p:spPr>
            <a:xfrm>
              <a:off x="944054" y="5369051"/>
              <a:ext cx="252986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kern="1200" dirty="0">
                  <a:solidFill>
                    <a:schemeClr val="bg1">
                      <a:lumMod val="50000"/>
                    </a:schemeClr>
                  </a:solidFill>
                  <a:latin typeface="Calibri"/>
                  <a:ea typeface="+mn-ea"/>
                  <a:cs typeface="Calibri"/>
                  <a:sym typeface="Wingdings"/>
                </a:rPr>
                <a:t>ANALÍTICA</a:t>
              </a:r>
              <a:r>
                <a:rPr lang="en-US" sz="800" kern="1200" baseline="0" dirty="0">
                  <a:solidFill>
                    <a:schemeClr val="bg1">
                      <a:lumMod val="50000"/>
                    </a:schemeClr>
                  </a:solidFill>
                  <a:latin typeface="Calibri"/>
                  <a:ea typeface="+mn-ea"/>
                  <a:cs typeface="Calibri"/>
                  <a:sym typeface="Wingdings"/>
                </a:rPr>
                <a:t> DE SISTEMAS EMPRESARIALES</a:t>
              </a:r>
              <a:r>
                <a:rPr lang="en-US" sz="800" kern="1200" dirty="0">
                  <a:solidFill>
                    <a:schemeClr val="bg1">
                      <a:lumMod val="50000"/>
                    </a:schemeClr>
                  </a:solidFill>
                  <a:latin typeface="Calibri"/>
                  <a:ea typeface="+mn-ea"/>
                  <a:cs typeface="Calibri"/>
                  <a:sym typeface="Wingdings"/>
                </a:rPr>
                <a:t>  </a:t>
              </a:r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libri"/>
                  <a:ea typeface="Wingdings"/>
                  <a:cs typeface="Calibri"/>
                  <a:sym typeface="Wingdings"/>
                </a:rPr>
                <a:t></a:t>
              </a:r>
              <a:r>
                <a:rPr lang="en-US" sz="800" kern="1200" dirty="0">
                  <a:solidFill>
                    <a:schemeClr val="bg1">
                      <a:lumMod val="50000"/>
                    </a:schemeClr>
                  </a:solidFill>
                  <a:latin typeface="Calibri"/>
                  <a:ea typeface="+mn-ea"/>
                  <a:cs typeface="Calibri"/>
                  <a:sym typeface="Wingdings"/>
                </a:rPr>
                <a:t>  SESIÓN 12</a:t>
              </a:r>
              <a:endParaRPr lang="en-US" sz="800" dirty="0">
                <a:solidFill>
                  <a:schemeClr val="bg1">
                    <a:lumMod val="50000"/>
                  </a:schemeClr>
                </a:solidFill>
                <a:latin typeface="Calibri"/>
                <a:cs typeface="Calibri"/>
              </a:endParaRPr>
            </a:p>
          </p:txBody>
        </p:sp>
        <p:sp>
          <p:nvSpPr>
            <p:cNvPr id="18" name="Rectangle 3"/>
            <p:cNvSpPr/>
            <p:nvPr userDrawn="1"/>
          </p:nvSpPr>
          <p:spPr>
            <a:xfrm>
              <a:off x="7361516" y="5384440"/>
              <a:ext cx="1386918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es-ES_tradnl" sz="600" dirty="0">
                  <a:solidFill>
                    <a:schemeClr val="bg1">
                      <a:lumMod val="50000"/>
                    </a:schemeClr>
                  </a:solidFill>
                </a:rPr>
                <a:t>©  ISIL. Todos los derechos reservados</a:t>
              </a:r>
            </a:p>
          </p:txBody>
        </p:sp>
      </p:grpSp>
      <p:pic>
        <p:nvPicPr>
          <p:cNvPr id="3" name="Imagen 2"/>
          <p:cNvPicPr>
            <a:picLocks noChangeAspect="1"/>
          </p:cNvPicPr>
          <p:nvPr userDrawn="1"/>
        </p:nvPicPr>
        <p:blipFill>
          <a:blip r:embed="rId11">
            <a:alphaModFix amt="20000"/>
          </a:blip>
          <a:stretch>
            <a:fillRect/>
          </a:stretch>
        </p:blipFill>
        <p:spPr>
          <a:xfrm>
            <a:off x="495300" y="5328911"/>
            <a:ext cx="448573" cy="250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453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hyperlink" Target="https://jorgeromero.net/tecnicas-y-algoritmos-de-mineria-de-datos" TargetMode="External"/><Relationship Id="rId7" Type="http://schemas.openxmlformats.org/officeDocument/2006/relationships/image" Target="../media/image17.png"/><Relationship Id="rId2" Type="http://schemas.openxmlformats.org/officeDocument/2006/relationships/hyperlink" Target="https://www.astera.com/es/type/blog/top-10-data-mining-techniques/" TargetMode="Externa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blog.hubspot.es/website/como-ejecutar-una-prueba-ab#que-es" TargetMode="External"/><Relationship Id="rId5" Type="http://schemas.openxmlformats.org/officeDocument/2006/relationships/hyperlink" Target="https://www.oracle.com/mx/cx/marketing/what-is-ab-testing/#:~:text=Las%20pruebas%20A%2FB%20(tambi%C3%A9n,en%20funci%C3%B3n%20de%20m%C3%A9tricas%20clave" TargetMode="External"/><Relationship Id="rId4" Type="http://schemas.openxmlformats.org/officeDocument/2006/relationships/hyperlink" Target="https://fastercapital.com/es/tema/algoritmos-y-modelos-de-miner%C3%ADa-de-datos.html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2240955F-A707-B931-6C7F-7E8F0BC88088}"/>
              </a:ext>
            </a:extLst>
          </p:cNvPr>
          <p:cNvSpPr/>
          <p:nvPr/>
        </p:nvSpPr>
        <p:spPr>
          <a:xfrm>
            <a:off x="280086" y="5275178"/>
            <a:ext cx="8699157" cy="408931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51B7891-6FCB-99FF-75F1-9D113AB9C2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0917" y="0"/>
            <a:ext cx="5391150" cy="571500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C05067C9-6290-B749-5FEE-5F2DABD872D4}"/>
              </a:ext>
            </a:extLst>
          </p:cNvPr>
          <p:cNvSpPr txBox="1"/>
          <p:nvPr/>
        </p:nvSpPr>
        <p:spPr>
          <a:xfrm>
            <a:off x="494360" y="808689"/>
            <a:ext cx="3104743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PE" sz="900" b="1" dirty="0">
                <a:solidFill>
                  <a:srgbClr val="6C6D6C"/>
                </a:solidFill>
                <a:latin typeface="Calibri" charset="0"/>
                <a:cs typeface="Calibri" charset="0"/>
                <a:sym typeface="Calibri"/>
              </a:rPr>
              <a:t>ANALÍTICA DE SISTEMAS EMPRESARIALES </a:t>
            </a:r>
            <a:endParaRPr lang="es-PE" sz="900" b="1" dirty="0">
              <a:solidFill>
                <a:srgbClr val="6C6D6C"/>
              </a:solidFill>
              <a:latin typeface="Calibri" charset="0"/>
              <a:cs typeface="Calibri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326F925C-AC00-4529-AA9B-6C362CD63F0D}"/>
              </a:ext>
            </a:extLst>
          </p:cNvPr>
          <p:cNvSpPr/>
          <p:nvPr/>
        </p:nvSpPr>
        <p:spPr>
          <a:xfrm>
            <a:off x="494361" y="2177570"/>
            <a:ext cx="3258078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80000"/>
              </a:lnSpc>
            </a:pPr>
            <a:r>
              <a:rPr lang="es-ES" sz="2000" dirty="0">
                <a:latin typeface="Graphik-Medium" charset="0"/>
              </a:rPr>
              <a:t>IMPLEMENTACIÓN</a:t>
            </a:r>
          </a:p>
          <a:p>
            <a:pPr>
              <a:lnSpc>
                <a:spcPct val="80000"/>
              </a:lnSpc>
            </a:pPr>
            <a:r>
              <a:rPr lang="es-ES" sz="2000" b="1" dirty="0">
                <a:latin typeface="Graphik Bold" panose="020B0503030202060203" pitchFamily="34" charset="77"/>
              </a:rPr>
              <a:t>DE  MINERÍA DE DATOS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68B25E4-5C9A-2DE8-827F-405FB6E48068}"/>
              </a:ext>
            </a:extLst>
          </p:cNvPr>
          <p:cNvSpPr txBox="1"/>
          <p:nvPr/>
        </p:nvSpPr>
        <p:spPr>
          <a:xfrm>
            <a:off x="735024" y="1819386"/>
            <a:ext cx="145764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_tradnl" sz="2000" b="1" dirty="0">
                <a:solidFill>
                  <a:srgbClr val="E04097"/>
                </a:solidFill>
                <a:latin typeface="Calibri" charset="0"/>
                <a:ea typeface="Calibri" charset="0"/>
                <a:cs typeface="Calibri" charset="0"/>
              </a:rPr>
              <a:t>TEMA 15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C013E1DF-C081-4CA9-6FC4-7D337828E4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586" y="1883411"/>
            <a:ext cx="166865" cy="170453"/>
          </a:xfrm>
          <a:prstGeom prst="rect">
            <a:avLst/>
          </a:prstGeom>
        </p:spPr>
      </p:pic>
      <p:sp>
        <p:nvSpPr>
          <p:cNvPr id="13" name="Rectángulo 12">
            <a:extLst>
              <a:ext uri="{FF2B5EF4-FFF2-40B4-BE49-F238E27FC236}">
                <a16:creationId xmlns:a16="http://schemas.microsoft.com/office/drawing/2014/main" id="{9B8CEC9B-5540-132E-0B7C-474E926DA86A}"/>
              </a:ext>
            </a:extLst>
          </p:cNvPr>
          <p:cNvSpPr/>
          <p:nvPr/>
        </p:nvSpPr>
        <p:spPr>
          <a:xfrm>
            <a:off x="494360" y="2989774"/>
            <a:ext cx="2848490" cy="7920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77800" indent="-177800">
              <a:lnSpc>
                <a:spcPct val="120000"/>
              </a:lnSpc>
              <a:buClr>
                <a:srgbClr val="E04097"/>
              </a:buClr>
              <a:buSzPct val="100000"/>
              <a:buFont typeface="Arial"/>
              <a:buChar char="•"/>
            </a:pPr>
            <a:r>
              <a:rPr lang="es-419" sz="1100" dirty="0">
                <a:latin typeface="Graphik-Medium" charset="0"/>
              </a:rPr>
              <a:t>Test A/B</a:t>
            </a:r>
            <a:endParaRPr lang="es-ES" sz="1100" dirty="0">
              <a:latin typeface="Graphik-Medium" charset="0"/>
            </a:endParaRPr>
          </a:p>
          <a:p>
            <a:pPr marL="177800" indent="-177800">
              <a:lnSpc>
                <a:spcPct val="120000"/>
              </a:lnSpc>
              <a:buClr>
                <a:srgbClr val="E04097"/>
              </a:buClr>
              <a:buSzPct val="100000"/>
              <a:buFont typeface="Arial"/>
              <a:buChar char="•"/>
            </a:pPr>
            <a:r>
              <a:rPr lang="es-ES" sz="1100" dirty="0">
                <a:latin typeface="Graphik-Medium" charset="0"/>
              </a:rPr>
              <a:t>Implementación de modelos de minería de datos</a:t>
            </a:r>
          </a:p>
          <a:p>
            <a:pPr marL="177800" indent="-177800">
              <a:lnSpc>
                <a:spcPct val="120000"/>
              </a:lnSpc>
              <a:buClr>
                <a:srgbClr val="E04097"/>
              </a:buClr>
              <a:buSzPct val="100000"/>
              <a:buFont typeface="Arial"/>
              <a:buChar char="•"/>
            </a:pPr>
            <a:r>
              <a:rPr lang="es-ES" sz="1100" dirty="0">
                <a:latin typeface="Graphik-Medium" charset="0"/>
              </a:rPr>
              <a:t>Consumo de minería de datos</a:t>
            </a:r>
          </a:p>
        </p:txBody>
      </p:sp>
    </p:spTree>
    <p:extLst>
      <p:ext uri="{BB962C8B-B14F-4D97-AF65-F5344CB8AC3E}">
        <p14:creationId xmlns:p14="http://schemas.microsoft.com/office/powerpoint/2010/main" val="29626886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5;p4">
            <a:extLst>
              <a:ext uri="{FF2B5EF4-FFF2-40B4-BE49-F238E27FC236}">
                <a16:creationId xmlns:a16="http://schemas.microsoft.com/office/drawing/2014/main" id="{CFC45A33-0ABD-848B-9862-74BB19B1EC64}"/>
              </a:ext>
            </a:extLst>
          </p:cNvPr>
          <p:cNvSpPr/>
          <p:nvPr/>
        </p:nvSpPr>
        <p:spPr>
          <a:xfrm>
            <a:off x="0" y="1"/>
            <a:ext cx="9144000" cy="5715000"/>
          </a:xfrm>
          <a:prstGeom prst="rect">
            <a:avLst/>
          </a:prstGeom>
          <a:solidFill>
            <a:srgbClr val="ED434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Google Shape;106;p4">
            <a:extLst>
              <a:ext uri="{FF2B5EF4-FFF2-40B4-BE49-F238E27FC236}">
                <a16:creationId xmlns:a16="http://schemas.microsoft.com/office/drawing/2014/main" id="{C59E6412-D6C5-C8ED-353C-C6A985EFAEC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946969"/>
            <a:ext cx="2072213" cy="389806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07;p4">
            <a:extLst>
              <a:ext uri="{FF2B5EF4-FFF2-40B4-BE49-F238E27FC236}">
                <a16:creationId xmlns:a16="http://schemas.microsoft.com/office/drawing/2014/main" id="{58DEF709-5CE5-AF16-0CE7-7AAAE06BB072}"/>
              </a:ext>
            </a:extLst>
          </p:cNvPr>
          <p:cNvSpPr/>
          <p:nvPr/>
        </p:nvSpPr>
        <p:spPr>
          <a:xfrm>
            <a:off x="149817" y="3724759"/>
            <a:ext cx="1037633" cy="1069383"/>
          </a:xfrm>
          <a:prstGeom prst="rect">
            <a:avLst/>
          </a:prstGeom>
          <a:solidFill>
            <a:srgbClr val="ED434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108;p4">
            <a:extLst>
              <a:ext uri="{FF2B5EF4-FFF2-40B4-BE49-F238E27FC236}">
                <a16:creationId xmlns:a16="http://schemas.microsoft.com/office/drawing/2014/main" id="{163ADB24-1963-4147-BBBE-B8E81FF80476}"/>
              </a:ext>
            </a:extLst>
          </p:cNvPr>
          <p:cNvSpPr txBox="1"/>
          <p:nvPr/>
        </p:nvSpPr>
        <p:spPr>
          <a:xfrm>
            <a:off x="2519363" y="2540738"/>
            <a:ext cx="4581728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3300" dirty="0">
                <a:solidFill>
                  <a:schemeClr val="lt1"/>
                </a:solidFill>
                <a:latin typeface="Graphik Regular" panose="020B0503030202060203" pitchFamily="34" charset="77"/>
                <a:ea typeface="Arial"/>
                <a:cs typeface="Arial"/>
                <a:sym typeface="Arial"/>
              </a:rPr>
              <a:t>INTRODUCCIÓN</a:t>
            </a:r>
            <a:endParaRPr dirty="0">
              <a:latin typeface="Graphik Regular" panose="020B0503030202060203" pitchFamily="34" charset="77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3300" b="1" dirty="0">
                <a:solidFill>
                  <a:schemeClr val="lt1"/>
                </a:solidFill>
                <a:latin typeface="Graphik Bold" panose="020B0503030202060203" pitchFamily="34" charset="77"/>
                <a:ea typeface="Arial"/>
                <a:cs typeface="Arial"/>
                <a:sym typeface="Arial"/>
              </a:rPr>
              <a:t>DE LA SESIÓN</a:t>
            </a:r>
            <a:endParaRPr b="1" dirty="0">
              <a:latin typeface="Graphik Bold" panose="020B0503030202060203" pitchFamily="34" charset="77"/>
            </a:endParaRPr>
          </a:p>
        </p:txBody>
      </p:sp>
      <p:pic>
        <p:nvPicPr>
          <p:cNvPr id="6" name="Google Shape;109;p4">
            <a:extLst>
              <a:ext uri="{FF2B5EF4-FFF2-40B4-BE49-F238E27FC236}">
                <a16:creationId xmlns:a16="http://schemas.microsoft.com/office/drawing/2014/main" id="{E23F9D60-F922-648C-594A-D0D097B03691}"/>
              </a:ext>
            </a:extLst>
          </p:cNvPr>
          <p:cNvPicPr preferRelativeResize="0"/>
          <p:nvPr/>
        </p:nvPicPr>
        <p:blipFill rotWithShape="1">
          <a:blip r:embed="rId3">
            <a:alphaModFix amt="16000"/>
          </a:blip>
          <a:srcRect/>
          <a:stretch/>
        </p:blipFill>
        <p:spPr>
          <a:xfrm>
            <a:off x="334433" y="3817749"/>
            <a:ext cx="809264" cy="8092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10;p4">
            <a:extLst>
              <a:ext uri="{FF2B5EF4-FFF2-40B4-BE49-F238E27FC236}">
                <a16:creationId xmlns:a16="http://schemas.microsoft.com/office/drawing/2014/main" id="{D0B103FF-3AE9-5DE8-98EE-33B1D996715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28619" y="2194222"/>
            <a:ext cx="202176" cy="20821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74088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7;p5">
            <a:extLst>
              <a:ext uri="{FF2B5EF4-FFF2-40B4-BE49-F238E27FC236}">
                <a16:creationId xmlns:a16="http://schemas.microsoft.com/office/drawing/2014/main" id="{8E2012ED-9536-A1B5-518C-E0D353ED2447}"/>
              </a:ext>
            </a:extLst>
          </p:cNvPr>
          <p:cNvSpPr txBox="1"/>
          <p:nvPr/>
        </p:nvSpPr>
        <p:spPr>
          <a:xfrm>
            <a:off x="1282298" y="918371"/>
            <a:ext cx="545896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ES_tradnl" sz="1400" spc="-10" dirty="0">
                <a:latin typeface="Calibri" panose="020F0502020204030204" pitchFamily="34" charset="0"/>
                <a:cs typeface="Calibri" panose="020F0502020204030204" pitchFamily="34" charset="0"/>
              </a:rPr>
              <a:t>En esta sesión verás qué es el test A/B, cómo implementar modelos de minería de datos y los escenarios en los que se aplican los modelos de minería de datos.</a:t>
            </a:r>
          </a:p>
        </p:txBody>
      </p:sp>
      <p:pic>
        <p:nvPicPr>
          <p:cNvPr id="3" name="Google Shape;121;p5">
            <a:extLst>
              <a:ext uri="{FF2B5EF4-FFF2-40B4-BE49-F238E27FC236}">
                <a16:creationId xmlns:a16="http://schemas.microsoft.com/office/drawing/2014/main" id="{FEC299A0-662D-EEFB-5BAD-C3A1B9FB7413}"/>
              </a:ext>
            </a:extLst>
          </p:cNvPr>
          <p:cNvPicPr preferRelativeResize="0"/>
          <p:nvPr/>
        </p:nvPicPr>
        <p:blipFill rotWithShape="1">
          <a:blip r:embed="rId3">
            <a:alphaModFix amt="42000"/>
          </a:blip>
          <a:srcRect/>
          <a:stretch/>
        </p:blipFill>
        <p:spPr>
          <a:xfrm>
            <a:off x="6986661" y="3052731"/>
            <a:ext cx="1689027" cy="2181257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24;p5">
            <a:extLst>
              <a:ext uri="{FF2B5EF4-FFF2-40B4-BE49-F238E27FC236}">
                <a16:creationId xmlns:a16="http://schemas.microsoft.com/office/drawing/2014/main" id="{F4355817-2B97-8B8E-2358-917D488155F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0839" y="975168"/>
            <a:ext cx="117851" cy="12136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27;p5">
            <a:extLst>
              <a:ext uri="{FF2B5EF4-FFF2-40B4-BE49-F238E27FC236}">
                <a16:creationId xmlns:a16="http://schemas.microsoft.com/office/drawing/2014/main" id="{FB2D2D5F-CF24-1054-7C07-3AB3EAB90E5D}"/>
              </a:ext>
            </a:extLst>
          </p:cNvPr>
          <p:cNvSpPr/>
          <p:nvPr/>
        </p:nvSpPr>
        <p:spPr>
          <a:xfrm>
            <a:off x="503238" y="376836"/>
            <a:ext cx="4401784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PE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INTRODUCCIÓN </a:t>
            </a:r>
            <a:endParaRPr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C7A4BE3-01AF-DB2F-5DA9-7B2E95D00F31}"/>
              </a:ext>
            </a:extLst>
          </p:cNvPr>
          <p:cNvSpPr/>
          <p:nvPr/>
        </p:nvSpPr>
        <p:spPr>
          <a:xfrm>
            <a:off x="182879" y="5233989"/>
            <a:ext cx="8492809" cy="3529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90671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74;p10">
            <a:extLst>
              <a:ext uri="{FF2B5EF4-FFF2-40B4-BE49-F238E27FC236}">
                <a16:creationId xmlns:a16="http://schemas.microsoft.com/office/drawing/2014/main" id="{F0DDAFC1-1F39-0428-EE92-4D2C9A0621E3}"/>
              </a:ext>
            </a:extLst>
          </p:cNvPr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75;p10">
            <a:extLst>
              <a:ext uri="{FF2B5EF4-FFF2-40B4-BE49-F238E27FC236}">
                <a16:creationId xmlns:a16="http://schemas.microsoft.com/office/drawing/2014/main" id="{9B0EF942-A3F6-F4B4-6220-703534AFC7A0}"/>
              </a:ext>
            </a:extLst>
          </p:cNvPr>
          <p:cNvSpPr txBox="1"/>
          <p:nvPr/>
        </p:nvSpPr>
        <p:spPr>
          <a:xfrm>
            <a:off x="1008063" y="3157860"/>
            <a:ext cx="5993558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2800" b="1" dirty="0">
                <a:solidFill>
                  <a:schemeClr val="lt1"/>
                </a:solidFill>
                <a:latin typeface="Graphik Bold" panose="020B0503030202060203" pitchFamily="34" charset="77"/>
              </a:rPr>
              <a:t>TEST A/B</a:t>
            </a:r>
          </a:p>
        </p:txBody>
      </p:sp>
      <p:pic>
        <p:nvPicPr>
          <p:cNvPr id="5" name="Google Shape;176;p10">
            <a:extLst>
              <a:ext uri="{FF2B5EF4-FFF2-40B4-BE49-F238E27FC236}">
                <a16:creationId xmlns:a16="http://schemas.microsoft.com/office/drawing/2014/main" id="{E97996BF-E736-9674-AC20-4BC4BAFF750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8063" y="2857500"/>
            <a:ext cx="195423" cy="201256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09433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503237" y="917610"/>
            <a:ext cx="3889375" cy="3135025"/>
          </a:xfrm>
          <a:prstGeom prst="rect">
            <a:avLst/>
          </a:prstGeom>
        </p:spPr>
        <p:txBody>
          <a:bodyPr wrap="square" lIns="0" tIns="0" rIns="0">
            <a:spAutoFit/>
          </a:bodyPr>
          <a:lstStyle/>
          <a:p>
            <a:pPr algn="just">
              <a:lnSpc>
                <a:spcPct val="115000"/>
              </a:lnSpc>
              <a:spcAft>
                <a:spcPts val="600"/>
              </a:spcAft>
            </a:pPr>
            <a:r>
              <a:rPr lang="es-PE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¿QUÉ ES UN TEST A/B?</a:t>
            </a:r>
            <a:endParaRPr lang="es-PE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7800" indent="-177800">
              <a:buFont typeface="Arial" panose="020B0604020202020204" pitchFamily="34" charset="0"/>
              <a:buChar char="•"/>
            </a:pPr>
            <a:r>
              <a:rPr lang="es-E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 el experimento que muestra dos versiones de un mismo contenido a dos audiencias distintas para establecer cuál tiene el mejor rendimiento.</a:t>
            </a:r>
          </a:p>
          <a:p>
            <a:pPr marL="177800" indent="-177800"/>
            <a:r>
              <a:rPr lang="es-E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</a:p>
          <a:p>
            <a:pPr marL="177800" indent="-177800">
              <a:buFont typeface="Arial" panose="020B0604020202020204" pitchFamily="34" charset="0"/>
              <a:buChar char="•"/>
            </a:pPr>
            <a:r>
              <a:rPr lang="es-E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 el experimento que compara el valor de una variable contra el valor de la misma variable, pero con una ligera variación, para establecer cuál de los dos casos produce mejores resultados.</a:t>
            </a: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endParaRPr lang="es-PE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Google Shape;127;p5">
            <a:extLst>
              <a:ext uri="{FF2B5EF4-FFF2-40B4-BE49-F238E27FC236}">
                <a16:creationId xmlns:a16="http://schemas.microsoft.com/office/drawing/2014/main" id="{44E4DA7F-1C75-C89C-8726-33F7F06DBE2C}"/>
              </a:ext>
            </a:extLst>
          </p:cNvPr>
          <p:cNvSpPr/>
          <p:nvPr/>
        </p:nvSpPr>
        <p:spPr>
          <a:xfrm>
            <a:off x="503238" y="376836"/>
            <a:ext cx="4401784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n-US" sz="1000" dirty="0">
                <a:solidFill>
                  <a:srgbClr val="A5A5A5"/>
                </a:solidFill>
                <a:latin typeface="Calibri"/>
                <a:cs typeface="Calibri"/>
              </a:rPr>
              <a:t>TEST A/B</a:t>
            </a:r>
            <a:endParaRPr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B6FA585B-88E8-60D5-9BB9-77F48D38A3EF}"/>
              </a:ext>
            </a:extLst>
          </p:cNvPr>
          <p:cNvSpPr/>
          <p:nvPr/>
        </p:nvSpPr>
        <p:spPr>
          <a:xfrm>
            <a:off x="4937657" y="2027767"/>
            <a:ext cx="1083733" cy="1121833"/>
          </a:xfrm>
          <a:prstGeom prst="rect">
            <a:avLst/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8A931FB-0840-37F5-F007-08A55B59294D}"/>
              </a:ext>
            </a:extLst>
          </p:cNvPr>
          <p:cNvSpPr/>
          <p:nvPr/>
        </p:nvSpPr>
        <p:spPr>
          <a:xfrm>
            <a:off x="5344059" y="2235200"/>
            <a:ext cx="603774" cy="304799"/>
          </a:xfrm>
          <a:prstGeom prst="rect">
            <a:avLst/>
          </a:prstGeom>
          <a:solidFill>
            <a:srgbClr val="92D050"/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5CE89DD-4507-158C-603A-86A462CDA13E}"/>
              </a:ext>
            </a:extLst>
          </p:cNvPr>
          <p:cNvSpPr/>
          <p:nvPr/>
        </p:nvSpPr>
        <p:spPr>
          <a:xfrm>
            <a:off x="5013859" y="2226733"/>
            <a:ext cx="290508" cy="304799"/>
          </a:xfrm>
          <a:prstGeom prst="rect">
            <a:avLst/>
          </a:prstGeom>
          <a:solidFill>
            <a:srgbClr val="FFC000"/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C5C0368-8D4B-AB03-86EA-D0182B83AFF7}"/>
              </a:ext>
            </a:extLst>
          </p:cNvPr>
          <p:cNvSpPr/>
          <p:nvPr/>
        </p:nvSpPr>
        <p:spPr>
          <a:xfrm>
            <a:off x="5013858" y="2599267"/>
            <a:ext cx="603773" cy="148166"/>
          </a:xfrm>
          <a:prstGeom prst="rect">
            <a:avLst/>
          </a:prstGeom>
          <a:solidFill>
            <a:srgbClr val="00B0F0"/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29C6F3B-11DE-38C2-E7EA-2B749334C981}"/>
              </a:ext>
            </a:extLst>
          </p:cNvPr>
          <p:cNvSpPr/>
          <p:nvPr/>
        </p:nvSpPr>
        <p:spPr>
          <a:xfrm>
            <a:off x="5009624" y="2946400"/>
            <a:ext cx="938209" cy="148166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7F1C5771-21DE-D8AB-64A0-FB3B40ECC294}"/>
              </a:ext>
            </a:extLst>
          </p:cNvPr>
          <p:cNvCxnSpPr/>
          <p:nvPr/>
        </p:nvCxnSpPr>
        <p:spPr>
          <a:xfrm>
            <a:off x="5009624" y="2857500"/>
            <a:ext cx="938209" cy="0"/>
          </a:xfrm>
          <a:prstGeom prst="line">
            <a:avLst/>
          </a:prstGeom>
          <a:ln w="12700">
            <a:solidFill>
              <a:schemeClr val="tx1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810671C5-AEC1-B7DC-2661-BE4609A977A0}"/>
              </a:ext>
            </a:extLst>
          </p:cNvPr>
          <p:cNvCxnSpPr/>
          <p:nvPr/>
        </p:nvCxnSpPr>
        <p:spPr>
          <a:xfrm>
            <a:off x="5009624" y="2810933"/>
            <a:ext cx="938209" cy="0"/>
          </a:xfrm>
          <a:prstGeom prst="line">
            <a:avLst/>
          </a:prstGeom>
          <a:ln w="12700">
            <a:solidFill>
              <a:schemeClr val="tx1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D4F8A7DC-BB87-D1E6-5B9E-A8A252DDCE80}"/>
              </a:ext>
            </a:extLst>
          </p:cNvPr>
          <p:cNvCxnSpPr>
            <a:cxnSpLocks/>
          </p:cNvCxnSpPr>
          <p:nvPr/>
        </p:nvCxnSpPr>
        <p:spPr>
          <a:xfrm>
            <a:off x="5668433" y="2755900"/>
            <a:ext cx="279400" cy="0"/>
          </a:xfrm>
          <a:prstGeom prst="line">
            <a:avLst/>
          </a:prstGeom>
          <a:ln w="12700">
            <a:solidFill>
              <a:schemeClr val="tx1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5EB6B613-A435-7596-FF41-D7B39011C82F}"/>
              </a:ext>
            </a:extLst>
          </p:cNvPr>
          <p:cNvCxnSpPr>
            <a:cxnSpLocks/>
          </p:cNvCxnSpPr>
          <p:nvPr/>
        </p:nvCxnSpPr>
        <p:spPr>
          <a:xfrm>
            <a:off x="5668433" y="2709333"/>
            <a:ext cx="279400" cy="0"/>
          </a:xfrm>
          <a:prstGeom prst="line">
            <a:avLst/>
          </a:prstGeom>
          <a:ln w="12700">
            <a:solidFill>
              <a:schemeClr val="tx1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3191D4D4-17B7-DB55-ABF7-A3F15DB268E0}"/>
              </a:ext>
            </a:extLst>
          </p:cNvPr>
          <p:cNvCxnSpPr>
            <a:cxnSpLocks/>
          </p:cNvCxnSpPr>
          <p:nvPr/>
        </p:nvCxnSpPr>
        <p:spPr>
          <a:xfrm>
            <a:off x="5668433" y="2662766"/>
            <a:ext cx="279400" cy="0"/>
          </a:xfrm>
          <a:prstGeom prst="line">
            <a:avLst/>
          </a:prstGeom>
          <a:ln w="12700">
            <a:solidFill>
              <a:schemeClr val="tx1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FBB57412-371E-53FF-0B9C-901AEB3594EE}"/>
              </a:ext>
            </a:extLst>
          </p:cNvPr>
          <p:cNvCxnSpPr>
            <a:cxnSpLocks/>
          </p:cNvCxnSpPr>
          <p:nvPr/>
        </p:nvCxnSpPr>
        <p:spPr>
          <a:xfrm>
            <a:off x="5668433" y="2603499"/>
            <a:ext cx="279400" cy="0"/>
          </a:xfrm>
          <a:prstGeom prst="line">
            <a:avLst/>
          </a:prstGeom>
          <a:ln w="12700">
            <a:solidFill>
              <a:schemeClr val="tx1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5BF5DC65-1A6C-21E2-72BB-D21FF8A1439D}"/>
              </a:ext>
            </a:extLst>
          </p:cNvPr>
          <p:cNvCxnSpPr>
            <a:cxnSpLocks/>
          </p:cNvCxnSpPr>
          <p:nvPr/>
        </p:nvCxnSpPr>
        <p:spPr>
          <a:xfrm>
            <a:off x="4937657" y="2125132"/>
            <a:ext cx="1083733" cy="0"/>
          </a:xfrm>
          <a:prstGeom prst="line">
            <a:avLst/>
          </a:prstGeom>
          <a:ln w="12700">
            <a:solidFill>
              <a:schemeClr val="tx1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Elipse 22">
            <a:extLst>
              <a:ext uri="{FF2B5EF4-FFF2-40B4-BE49-F238E27FC236}">
                <a16:creationId xmlns:a16="http://schemas.microsoft.com/office/drawing/2014/main" id="{772C52EA-FFB4-5E15-A241-2A4C9BE86FC7}"/>
              </a:ext>
            </a:extLst>
          </p:cNvPr>
          <p:cNvSpPr/>
          <p:nvPr/>
        </p:nvSpPr>
        <p:spPr>
          <a:xfrm>
            <a:off x="4963905" y="2057823"/>
            <a:ext cx="45719" cy="45719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1B5471B4-BFBB-21E4-3E79-7C983E9B8110}"/>
              </a:ext>
            </a:extLst>
          </p:cNvPr>
          <p:cNvSpPr/>
          <p:nvPr/>
        </p:nvSpPr>
        <p:spPr>
          <a:xfrm>
            <a:off x="5033755" y="2057823"/>
            <a:ext cx="45719" cy="45719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9D1DEEB8-FB4B-8138-3ECA-3C38DB0C5592}"/>
              </a:ext>
            </a:extLst>
          </p:cNvPr>
          <p:cNvSpPr/>
          <p:nvPr/>
        </p:nvSpPr>
        <p:spPr>
          <a:xfrm>
            <a:off x="5103605" y="2057823"/>
            <a:ext cx="45719" cy="45719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806E495E-6717-6A78-9588-C3A3C101B411}"/>
              </a:ext>
            </a:extLst>
          </p:cNvPr>
          <p:cNvSpPr/>
          <p:nvPr/>
        </p:nvSpPr>
        <p:spPr>
          <a:xfrm>
            <a:off x="5009624" y="3965575"/>
            <a:ext cx="93981" cy="188516"/>
          </a:xfrm>
          <a:prstGeom prst="rect">
            <a:avLst/>
          </a:prstGeom>
          <a:solidFill>
            <a:srgbClr val="E04097"/>
          </a:solidFill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3D48409B-E6C6-13F9-9151-6BA4FB994B42}"/>
              </a:ext>
            </a:extLst>
          </p:cNvPr>
          <p:cNvSpPr/>
          <p:nvPr/>
        </p:nvSpPr>
        <p:spPr>
          <a:xfrm>
            <a:off x="5174724" y="3914775"/>
            <a:ext cx="93981" cy="239316"/>
          </a:xfrm>
          <a:prstGeom prst="rect">
            <a:avLst/>
          </a:prstGeom>
          <a:solidFill>
            <a:srgbClr val="E04097"/>
          </a:solidFill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975BEB95-540B-3F75-5B96-C7B4B94CFD6B}"/>
              </a:ext>
            </a:extLst>
          </p:cNvPr>
          <p:cNvSpPr/>
          <p:nvPr/>
        </p:nvSpPr>
        <p:spPr>
          <a:xfrm>
            <a:off x="5336649" y="3965575"/>
            <a:ext cx="93981" cy="188516"/>
          </a:xfrm>
          <a:prstGeom prst="rect">
            <a:avLst/>
          </a:prstGeom>
          <a:solidFill>
            <a:srgbClr val="E04097"/>
          </a:solidFill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98F239A8-7BDE-DCC9-7308-49698CFA37DB}"/>
              </a:ext>
            </a:extLst>
          </p:cNvPr>
          <p:cNvSpPr/>
          <p:nvPr/>
        </p:nvSpPr>
        <p:spPr>
          <a:xfrm>
            <a:off x="5508099" y="3914775"/>
            <a:ext cx="93981" cy="239316"/>
          </a:xfrm>
          <a:prstGeom prst="rect">
            <a:avLst/>
          </a:prstGeom>
          <a:solidFill>
            <a:srgbClr val="E04097"/>
          </a:solidFill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720C354D-92DD-A213-E24D-542F06CF7379}"/>
              </a:ext>
            </a:extLst>
          </p:cNvPr>
          <p:cNvSpPr/>
          <p:nvPr/>
        </p:nvSpPr>
        <p:spPr>
          <a:xfrm>
            <a:off x="7079724" y="3552825"/>
            <a:ext cx="93981" cy="601266"/>
          </a:xfrm>
          <a:prstGeom prst="rect">
            <a:avLst/>
          </a:prstGeom>
          <a:solidFill>
            <a:srgbClr val="92D050"/>
          </a:solidFill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7DF65B69-E95F-1684-620C-FDE7993BE753}"/>
              </a:ext>
            </a:extLst>
          </p:cNvPr>
          <p:cNvSpPr/>
          <p:nvPr/>
        </p:nvSpPr>
        <p:spPr>
          <a:xfrm>
            <a:off x="7254349" y="3403600"/>
            <a:ext cx="93981" cy="750491"/>
          </a:xfrm>
          <a:prstGeom prst="rect">
            <a:avLst/>
          </a:prstGeom>
          <a:solidFill>
            <a:srgbClr val="92D050"/>
          </a:solidFill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79BD7781-68B2-9387-3760-8703CD0F4AF3}"/>
              </a:ext>
            </a:extLst>
          </p:cNvPr>
          <p:cNvSpPr/>
          <p:nvPr/>
        </p:nvSpPr>
        <p:spPr>
          <a:xfrm>
            <a:off x="7413099" y="3530600"/>
            <a:ext cx="93981" cy="623491"/>
          </a:xfrm>
          <a:prstGeom prst="rect">
            <a:avLst/>
          </a:prstGeom>
          <a:solidFill>
            <a:srgbClr val="92D050"/>
          </a:solidFill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56B94D64-0800-0432-0EB2-980EB2CAF38E}"/>
              </a:ext>
            </a:extLst>
          </p:cNvPr>
          <p:cNvSpPr/>
          <p:nvPr/>
        </p:nvSpPr>
        <p:spPr>
          <a:xfrm>
            <a:off x="7581374" y="3403600"/>
            <a:ext cx="93981" cy="750491"/>
          </a:xfrm>
          <a:prstGeom prst="rect">
            <a:avLst/>
          </a:prstGeom>
          <a:solidFill>
            <a:srgbClr val="92D050"/>
          </a:solidFill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849C0AED-910A-EA24-34B4-4B85FCDDDE5E}"/>
              </a:ext>
            </a:extLst>
          </p:cNvPr>
          <p:cNvSpPr/>
          <p:nvPr/>
        </p:nvSpPr>
        <p:spPr>
          <a:xfrm>
            <a:off x="6997276" y="2027767"/>
            <a:ext cx="1083733" cy="1121833"/>
          </a:xfrm>
          <a:prstGeom prst="rect">
            <a:avLst/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5082A1AF-DBF7-99F8-16BB-466DD22FC202}"/>
              </a:ext>
            </a:extLst>
          </p:cNvPr>
          <p:cNvSpPr/>
          <p:nvPr/>
        </p:nvSpPr>
        <p:spPr>
          <a:xfrm>
            <a:off x="7069243" y="2235200"/>
            <a:ext cx="938209" cy="304799"/>
          </a:xfrm>
          <a:prstGeom prst="rect">
            <a:avLst/>
          </a:prstGeom>
          <a:solidFill>
            <a:srgbClr val="92D050"/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BDDB6332-CB16-AEF5-0A49-89D4F35DFB5F}"/>
              </a:ext>
            </a:extLst>
          </p:cNvPr>
          <p:cNvSpPr/>
          <p:nvPr/>
        </p:nvSpPr>
        <p:spPr>
          <a:xfrm>
            <a:off x="7400502" y="2599266"/>
            <a:ext cx="274853" cy="165037"/>
          </a:xfrm>
          <a:prstGeom prst="rect">
            <a:avLst/>
          </a:prstGeom>
          <a:solidFill>
            <a:srgbClr val="00B0F0"/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FF4410C4-830A-181C-19CA-21DD3038A554}"/>
              </a:ext>
            </a:extLst>
          </p:cNvPr>
          <p:cNvSpPr/>
          <p:nvPr/>
        </p:nvSpPr>
        <p:spPr>
          <a:xfrm>
            <a:off x="7069243" y="2946400"/>
            <a:ext cx="938209" cy="148166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E6C8D042-8CC6-EEEB-1C4E-AFA2A2DDD142}"/>
              </a:ext>
            </a:extLst>
          </p:cNvPr>
          <p:cNvCxnSpPr/>
          <p:nvPr/>
        </p:nvCxnSpPr>
        <p:spPr>
          <a:xfrm>
            <a:off x="7069243" y="2857500"/>
            <a:ext cx="938209" cy="0"/>
          </a:xfrm>
          <a:prstGeom prst="line">
            <a:avLst/>
          </a:prstGeom>
          <a:ln w="12700">
            <a:solidFill>
              <a:schemeClr val="tx1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F62016D2-C367-9A08-CA01-3CA0AFE02680}"/>
              </a:ext>
            </a:extLst>
          </p:cNvPr>
          <p:cNvCxnSpPr/>
          <p:nvPr/>
        </p:nvCxnSpPr>
        <p:spPr>
          <a:xfrm>
            <a:off x="7079724" y="2825186"/>
            <a:ext cx="938209" cy="0"/>
          </a:xfrm>
          <a:prstGeom prst="line">
            <a:avLst/>
          </a:prstGeom>
          <a:ln w="12700">
            <a:solidFill>
              <a:schemeClr val="tx1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609D50AA-8F3C-C7F8-304C-9BB980B21609}"/>
              </a:ext>
            </a:extLst>
          </p:cNvPr>
          <p:cNvCxnSpPr>
            <a:cxnSpLocks/>
          </p:cNvCxnSpPr>
          <p:nvPr/>
        </p:nvCxnSpPr>
        <p:spPr>
          <a:xfrm>
            <a:off x="6997276" y="2125132"/>
            <a:ext cx="1083733" cy="0"/>
          </a:xfrm>
          <a:prstGeom prst="line">
            <a:avLst/>
          </a:prstGeom>
          <a:ln w="12700">
            <a:solidFill>
              <a:schemeClr val="tx1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Elipse 45">
            <a:extLst>
              <a:ext uri="{FF2B5EF4-FFF2-40B4-BE49-F238E27FC236}">
                <a16:creationId xmlns:a16="http://schemas.microsoft.com/office/drawing/2014/main" id="{A30446BF-9055-C40E-32C5-CC62D5A3D819}"/>
              </a:ext>
            </a:extLst>
          </p:cNvPr>
          <p:cNvSpPr/>
          <p:nvPr/>
        </p:nvSpPr>
        <p:spPr>
          <a:xfrm>
            <a:off x="7023524" y="2057823"/>
            <a:ext cx="45719" cy="45719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7" name="Elipse 46">
            <a:extLst>
              <a:ext uri="{FF2B5EF4-FFF2-40B4-BE49-F238E27FC236}">
                <a16:creationId xmlns:a16="http://schemas.microsoft.com/office/drawing/2014/main" id="{6B3F75DC-22E2-4AD2-4A41-FECA73BB2ACA}"/>
              </a:ext>
            </a:extLst>
          </p:cNvPr>
          <p:cNvSpPr/>
          <p:nvPr/>
        </p:nvSpPr>
        <p:spPr>
          <a:xfrm>
            <a:off x="7093374" y="2057823"/>
            <a:ext cx="45719" cy="45719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8" name="Elipse 47">
            <a:extLst>
              <a:ext uri="{FF2B5EF4-FFF2-40B4-BE49-F238E27FC236}">
                <a16:creationId xmlns:a16="http://schemas.microsoft.com/office/drawing/2014/main" id="{F0D205A0-9F7A-0974-2880-9C0B95433762}"/>
              </a:ext>
            </a:extLst>
          </p:cNvPr>
          <p:cNvSpPr/>
          <p:nvPr/>
        </p:nvSpPr>
        <p:spPr>
          <a:xfrm>
            <a:off x="7163224" y="2057823"/>
            <a:ext cx="45719" cy="45719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5469E1CE-5629-96FB-13E0-F95F1F8508A5}"/>
              </a:ext>
            </a:extLst>
          </p:cNvPr>
          <p:cNvSpPr/>
          <p:nvPr/>
        </p:nvSpPr>
        <p:spPr>
          <a:xfrm>
            <a:off x="7073477" y="2599266"/>
            <a:ext cx="274853" cy="165037"/>
          </a:xfrm>
          <a:prstGeom prst="rect">
            <a:avLst/>
          </a:prstGeom>
          <a:solidFill>
            <a:srgbClr val="FFC000"/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CC72C347-13F5-E2E0-70AA-D13A640268E1}"/>
              </a:ext>
            </a:extLst>
          </p:cNvPr>
          <p:cNvSpPr/>
          <p:nvPr/>
        </p:nvSpPr>
        <p:spPr>
          <a:xfrm>
            <a:off x="7733877" y="2599266"/>
            <a:ext cx="274853" cy="165037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cxnSp>
        <p:nvCxnSpPr>
          <p:cNvPr id="53" name="Conector recto 52">
            <a:extLst>
              <a:ext uri="{FF2B5EF4-FFF2-40B4-BE49-F238E27FC236}">
                <a16:creationId xmlns:a16="http://schemas.microsoft.com/office/drawing/2014/main" id="{6356EBDC-7D25-6F17-9A3B-C9B9C708B1E9}"/>
              </a:ext>
            </a:extLst>
          </p:cNvPr>
          <p:cNvCxnSpPr>
            <a:cxnSpLocks/>
          </p:cNvCxnSpPr>
          <p:nvPr/>
        </p:nvCxnSpPr>
        <p:spPr>
          <a:xfrm flipV="1">
            <a:off x="4938920" y="4145136"/>
            <a:ext cx="1273169" cy="8955"/>
          </a:xfrm>
          <a:prstGeom prst="line">
            <a:avLst/>
          </a:prstGeom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cto 53">
            <a:extLst>
              <a:ext uri="{FF2B5EF4-FFF2-40B4-BE49-F238E27FC236}">
                <a16:creationId xmlns:a16="http://schemas.microsoft.com/office/drawing/2014/main" id="{71D7EE04-A356-0106-D645-C01AE2D897F2}"/>
              </a:ext>
            </a:extLst>
          </p:cNvPr>
          <p:cNvCxnSpPr>
            <a:cxnSpLocks/>
          </p:cNvCxnSpPr>
          <p:nvPr/>
        </p:nvCxnSpPr>
        <p:spPr>
          <a:xfrm flipV="1">
            <a:off x="4935330" y="3278190"/>
            <a:ext cx="1" cy="87590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cto 56">
            <a:extLst>
              <a:ext uri="{FF2B5EF4-FFF2-40B4-BE49-F238E27FC236}">
                <a16:creationId xmlns:a16="http://schemas.microsoft.com/office/drawing/2014/main" id="{A1B9B32B-5AE2-E336-5E31-0E22AB1C6632}"/>
              </a:ext>
            </a:extLst>
          </p:cNvPr>
          <p:cNvCxnSpPr>
            <a:cxnSpLocks/>
          </p:cNvCxnSpPr>
          <p:nvPr/>
        </p:nvCxnSpPr>
        <p:spPr>
          <a:xfrm flipV="1">
            <a:off x="7008991" y="3278190"/>
            <a:ext cx="1" cy="87590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9" name="Imagen 58">
            <a:extLst>
              <a:ext uri="{FF2B5EF4-FFF2-40B4-BE49-F238E27FC236}">
                <a16:creationId xmlns:a16="http://schemas.microsoft.com/office/drawing/2014/main" id="{0D00C942-9C26-906A-457B-1DA0BE8F3C9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8419" t="12194" r="11989" b="59842"/>
          <a:stretch/>
        </p:blipFill>
        <p:spPr>
          <a:xfrm>
            <a:off x="7507080" y="1514746"/>
            <a:ext cx="296388" cy="280073"/>
          </a:xfrm>
          <a:prstGeom prst="rect">
            <a:avLst/>
          </a:prstGeom>
        </p:spPr>
      </p:pic>
      <p:pic>
        <p:nvPicPr>
          <p:cNvPr id="60" name="Imagen 59">
            <a:extLst>
              <a:ext uri="{FF2B5EF4-FFF2-40B4-BE49-F238E27FC236}">
                <a16:creationId xmlns:a16="http://schemas.microsoft.com/office/drawing/2014/main" id="{4664DD5A-49F3-8A5F-F93B-626F9E78FDC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622" t="61612" r="61536" b="15718"/>
          <a:stretch/>
        </p:blipFill>
        <p:spPr>
          <a:xfrm>
            <a:off x="5430630" y="1517772"/>
            <a:ext cx="332368" cy="303308"/>
          </a:xfrm>
          <a:prstGeom prst="rect">
            <a:avLst/>
          </a:prstGeom>
        </p:spPr>
      </p:pic>
      <p:sp>
        <p:nvSpPr>
          <p:cNvPr id="62" name="CuadroTexto 61">
            <a:extLst>
              <a:ext uri="{FF2B5EF4-FFF2-40B4-BE49-F238E27FC236}">
                <a16:creationId xmlns:a16="http://schemas.microsoft.com/office/drawing/2014/main" id="{B26E7894-2EE5-9F9D-05CD-C4C078F76AF6}"/>
              </a:ext>
            </a:extLst>
          </p:cNvPr>
          <p:cNvSpPr txBox="1"/>
          <p:nvPr/>
        </p:nvSpPr>
        <p:spPr>
          <a:xfrm>
            <a:off x="5025652" y="1447052"/>
            <a:ext cx="55742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s-PE" sz="2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4062B225-BBB4-DC1B-A910-7B741AB846C4}"/>
              </a:ext>
            </a:extLst>
          </p:cNvPr>
          <p:cNvSpPr txBox="1"/>
          <p:nvPr/>
        </p:nvSpPr>
        <p:spPr>
          <a:xfrm>
            <a:off x="7085111" y="1447052"/>
            <a:ext cx="55742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endParaRPr lang="es-PE" sz="2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A41D1CD3-D58F-E4AE-AEC7-AC67D71BC7F4}"/>
              </a:ext>
            </a:extLst>
          </p:cNvPr>
          <p:cNvSpPr txBox="1"/>
          <p:nvPr/>
        </p:nvSpPr>
        <p:spPr>
          <a:xfrm>
            <a:off x="6263777" y="2442450"/>
            <a:ext cx="557429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5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VS.</a:t>
            </a:r>
            <a:endParaRPr lang="es-PE" sz="15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8DBB3151-75F8-EDC2-FEE9-378EED568925}"/>
              </a:ext>
            </a:extLst>
          </p:cNvPr>
          <p:cNvSpPr txBox="1"/>
          <p:nvPr/>
        </p:nvSpPr>
        <p:spPr>
          <a:xfrm>
            <a:off x="5666535" y="3525726"/>
            <a:ext cx="7507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Click</a:t>
            </a:r>
            <a:r>
              <a:rPr lang="es-ES" sz="1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rate</a:t>
            </a:r>
            <a:endParaRPr lang="es-ES" sz="1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s-ES" sz="1000" kern="100" dirty="0">
                <a:latin typeface="Calibri" panose="020F0502020204030204" pitchFamily="34" charset="0"/>
                <a:cs typeface="Calibri" panose="020F0502020204030204" pitchFamily="34" charset="0"/>
              </a:rPr>
              <a:t>23%</a:t>
            </a:r>
            <a:endParaRPr lang="es-PE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4C81AEBE-9DBD-1E4A-D16F-BAFBEB58D41D}"/>
              </a:ext>
            </a:extLst>
          </p:cNvPr>
          <p:cNvSpPr txBox="1"/>
          <p:nvPr/>
        </p:nvSpPr>
        <p:spPr>
          <a:xfrm>
            <a:off x="7907227" y="3525726"/>
            <a:ext cx="7507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Click</a:t>
            </a:r>
            <a:r>
              <a:rPr lang="es-ES" sz="1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rate</a:t>
            </a:r>
            <a:endParaRPr lang="es-ES" sz="1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s-ES" sz="1000" kern="100" dirty="0">
                <a:latin typeface="Calibri" panose="020F0502020204030204" pitchFamily="34" charset="0"/>
                <a:cs typeface="Calibri" panose="020F0502020204030204" pitchFamily="34" charset="0"/>
              </a:rPr>
              <a:t>72%</a:t>
            </a:r>
            <a:endParaRPr lang="es-PE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1" name="Conector recto 50">
            <a:extLst>
              <a:ext uri="{FF2B5EF4-FFF2-40B4-BE49-F238E27FC236}">
                <a16:creationId xmlns:a16="http://schemas.microsoft.com/office/drawing/2014/main" id="{848D97B6-970A-ED54-FC35-55309271B89E}"/>
              </a:ext>
            </a:extLst>
          </p:cNvPr>
          <p:cNvCxnSpPr>
            <a:cxnSpLocks/>
          </p:cNvCxnSpPr>
          <p:nvPr/>
        </p:nvCxnSpPr>
        <p:spPr>
          <a:xfrm flipV="1">
            <a:off x="6997276" y="4145136"/>
            <a:ext cx="1273169" cy="8955"/>
          </a:xfrm>
          <a:prstGeom prst="line">
            <a:avLst/>
          </a:prstGeom>
          <a:ln w="12700">
            <a:solidFill>
              <a:schemeClr val="tx1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6676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ángulo 41">
            <a:extLst>
              <a:ext uri="{FF2B5EF4-FFF2-40B4-BE49-F238E27FC236}">
                <a16:creationId xmlns:a16="http://schemas.microsoft.com/office/drawing/2014/main" id="{AB2862CE-C027-BE30-80E4-8550BE1725F4}"/>
              </a:ext>
            </a:extLst>
          </p:cNvPr>
          <p:cNvSpPr/>
          <p:nvPr/>
        </p:nvSpPr>
        <p:spPr>
          <a:xfrm>
            <a:off x="2857309" y="2064234"/>
            <a:ext cx="5818378" cy="2852989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6" name="Rectángulo 5"/>
          <p:cNvSpPr/>
          <p:nvPr/>
        </p:nvSpPr>
        <p:spPr>
          <a:xfrm>
            <a:off x="503238" y="912813"/>
            <a:ext cx="8172449" cy="85254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s-PE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UTILIDAD DE LOS TEST A/B</a:t>
            </a:r>
            <a:endParaRPr lang="es-PE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E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 emplean mucho en el marketing digital para comprobar la tasa de conversión de los prospectos estableciendo el porcentaje de ellos que realizan la acción deseada.</a:t>
            </a:r>
          </a:p>
        </p:txBody>
      </p:sp>
      <p:sp>
        <p:nvSpPr>
          <p:cNvPr id="2" name="Google Shape;127;p5">
            <a:extLst>
              <a:ext uri="{FF2B5EF4-FFF2-40B4-BE49-F238E27FC236}">
                <a16:creationId xmlns:a16="http://schemas.microsoft.com/office/drawing/2014/main" id="{5C75BDA4-D356-806E-8240-33742C0208B9}"/>
              </a:ext>
            </a:extLst>
          </p:cNvPr>
          <p:cNvSpPr/>
          <p:nvPr/>
        </p:nvSpPr>
        <p:spPr>
          <a:xfrm>
            <a:off x="503238" y="376836"/>
            <a:ext cx="4401784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n-US" sz="1000" dirty="0">
                <a:solidFill>
                  <a:srgbClr val="A5A5A5"/>
                </a:solidFill>
                <a:latin typeface="Calibri"/>
                <a:cs typeface="Calibri"/>
              </a:rPr>
              <a:t>TEST A/B</a:t>
            </a:r>
            <a:endParaRPr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7151507-85ED-8412-5876-F91906DBFDBC}"/>
              </a:ext>
            </a:extLst>
          </p:cNvPr>
          <p:cNvSpPr/>
          <p:nvPr/>
        </p:nvSpPr>
        <p:spPr>
          <a:xfrm>
            <a:off x="503238" y="2672834"/>
            <a:ext cx="2286457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s-E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Audiencia A --&gt; Versión A </a:t>
            </a:r>
          </a:p>
          <a:p>
            <a:r>
              <a:rPr lang="es-E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--&gt; acción deseada --&gt; % positivos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950124E-7531-E2EF-C99E-C74B74CD7208}"/>
              </a:ext>
            </a:extLst>
          </p:cNvPr>
          <p:cNvSpPr/>
          <p:nvPr/>
        </p:nvSpPr>
        <p:spPr>
          <a:xfrm>
            <a:off x="503238" y="3856541"/>
            <a:ext cx="2286457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s-E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Audiencia B --&gt; Versión B </a:t>
            </a:r>
          </a:p>
          <a:p>
            <a:r>
              <a:rPr lang="es-E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--&gt; acción deseada --&gt; % positivos B</a:t>
            </a:r>
          </a:p>
        </p:txBody>
      </p:sp>
      <p:sp>
        <p:nvSpPr>
          <p:cNvPr id="15" name="Rectángulo redondeado 14">
            <a:extLst>
              <a:ext uri="{FF2B5EF4-FFF2-40B4-BE49-F238E27FC236}">
                <a16:creationId xmlns:a16="http://schemas.microsoft.com/office/drawing/2014/main" id="{715BC5BE-82D4-A021-6A24-111027E7B68A}"/>
              </a:ext>
            </a:extLst>
          </p:cNvPr>
          <p:cNvSpPr/>
          <p:nvPr/>
        </p:nvSpPr>
        <p:spPr>
          <a:xfrm rot="10800000">
            <a:off x="5221535" y="3635505"/>
            <a:ext cx="1089997" cy="884850"/>
          </a:xfrm>
          <a:prstGeom prst="roundRect">
            <a:avLst>
              <a:gd name="adj" fmla="val 6257"/>
            </a:avLst>
          </a:prstGeom>
          <a:solidFill>
            <a:srgbClr val="D9DBE1"/>
          </a:solidFill>
          <a:ln>
            <a:noFill/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13" name="Rectángulo redondeado 12">
            <a:extLst>
              <a:ext uri="{FF2B5EF4-FFF2-40B4-BE49-F238E27FC236}">
                <a16:creationId xmlns:a16="http://schemas.microsoft.com/office/drawing/2014/main" id="{C0C62E58-FE24-1651-6ED6-FC461D421AC4}"/>
              </a:ext>
            </a:extLst>
          </p:cNvPr>
          <p:cNvSpPr/>
          <p:nvPr/>
        </p:nvSpPr>
        <p:spPr>
          <a:xfrm rot="10800000">
            <a:off x="5256004" y="3744740"/>
            <a:ext cx="1021057" cy="732009"/>
          </a:xfrm>
          <a:prstGeom prst="roundRect">
            <a:avLst>
              <a:gd name="adj" fmla="val 6257"/>
            </a:avLst>
          </a:prstGeom>
          <a:solidFill>
            <a:schemeClr val="bg1"/>
          </a:solidFill>
          <a:ln>
            <a:noFill/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10" name="Rectángulo redondeado 9">
            <a:extLst>
              <a:ext uri="{FF2B5EF4-FFF2-40B4-BE49-F238E27FC236}">
                <a16:creationId xmlns:a16="http://schemas.microsoft.com/office/drawing/2014/main" id="{DBCEDA08-B66E-CA19-183A-41E3513CE29C}"/>
              </a:ext>
            </a:extLst>
          </p:cNvPr>
          <p:cNvSpPr/>
          <p:nvPr/>
        </p:nvSpPr>
        <p:spPr>
          <a:xfrm>
            <a:off x="5646024" y="3789594"/>
            <a:ext cx="579542" cy="204040"/>
          </a:xfrm>
          <a:prstGeom prst="roundRect">
            <a:avLst/>
          </a:prstGeom>
          <a:solidFill>
            <a:srgbClr val="92C14D"/>
          </a:solidFill>
          <a:ln>
            <a:noFill/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11" name="Rectángulo redondeado 10">
            <a:extLst>
              <a:ext uri="{FF2B5EF4-FFF2-40B4-BE49-F238E27FC236}">
                <a16:creationId xmlns:a16="http://schemas.microsoft.com/office/drawing/2014/main" id="{F0E2883C-8ECD-6896-BA61-B2EF64BD16B8}"/>
              </a:ext>
            </a:extLst>
          </p:cNvPr>
          <p:cNvSpPr/>
          <p:nvPr/>
        </p:nvSpPr>
        <p:spPr>
          <a:xfrm rot="16200000">
            <a:off x="5138008" y="3954343"/>
            <a:ext cx="615067" cy="296396"/>
          </a:xfrm>
          <a:prstGeom prst="roundRect">
            <a:avLst/>
          </a:prstGeom>
          <a:solidFill>
            <a:srgbClr val="D9DBE1"/>
          </a:solidFill>
          <a:ln>
            <a:noFill/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12" name="Rectángulo redondeado 11">
            <a:extLst>
              <a:ext uri="{FF2B5EF4-FFF2-40B4-BE49-F238E27FC236}">
                <a16:creationId xmlns:a16="http://schemas.microsoft.com/office/drawing/2014/main" id="{3DFF0DC8-34C2-2EF2-7145-2F7E6B11B093}"/>
              </a:ext>
            </a:extLst>
          </p:cNvPr>
          <p:cNvSpPr/>
          <p:nvPr/>
        </p:nvSpPr>
        <p:spPr>
          <a:xfrm rot="10800000">
            <a:off x="5643020" y="4052275"/>
            <a:ext cx="579541" cy="357800"/>
          </a:xfrm>
          <a:prstGeom prst="roundRect">
            <a:avLst/>
          </a:prstGeom>
          <a:solidFill>
            <a:srgbClr val="D9DBE1"/>
          </a:solidFill>
          <a:ln>
            <a:noFill/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16" name="Rectángulo redondeado 15">
            <a:extLst>
              <a:ext uri="{FF2B5EF4-FFF2-40B4-BE49-F238E27FC236}">
                <a16:creationId xmlns:a16="http://schemas.microsoft.com/office/drawing/2014/main" id="{158C6C52-A0FE-BA03-71A6-08AFF77FE98A}"/>
              </a:ext>
            </a:extLst>
          </p:cNvPr>
          <p:cNvSpPr/>
          <p:nvPr/>
        </p:nvSpPr>
        <p:spPr>
          <a:xfrm rot="10800000">
            <a:off x="5221535" y="2289305"/>
            <a:ext cx="1089997" cy="884850"/>
          </a:xfrm>
          <a:prstGeom prst="roundRect">
            <a:avLst>
              <a:gd name="adj" fmla="val 6257"/>
            </a:avLst>
          </a:prstGeom>
          <a:solidFill>
            <a:srgbClr val="D9DBE1"/>
          </a:solidFill>
          <a:ln>
            <a:noFill/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17" name="Rectángulo redondeado 16">
            <a:extLst>
              <a:ext uri="{FF2B5EF4-FFF2-40B4-BE49-F238E27FC236}">
                <a16:creationId xmlns:a16="http://schemas.microsoft.com/office/drawing/2014/main" id="{E0D35761-F898-DAA6-C3BA-F850ED9E9308}"/>
              </a:ext>
            </a:extLst>
          </p:cNvPr>
          <p:cNvSpPr/>
          <p:nvPr/>
        </p:nvSpPr>
        <p:spPr>
          <a:xfrm rot="10800000">
            <a:off x="5256004" y="2398540"/>
            <a:ext cx="1021057" cy="732009"/>
          </a:xfrm>
          <a:prstGeom prst="roundRect">
            <a:avLst>
              <a:gd name="adj" fmla="val 6257"/>
            </a:avLst>
          </a:prstGeom>
          <a:solidFill>
            <a:schemeClr val="bg1"/>
          </a:solidFill>
          <a:ln>
            <a:noFill/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18" name="Rectángulo redondeado 17">
            <a:extLst>
              <a:ext uri="{FF2B5EF4-FFF2-40B4-BE49-F238E27FC236}">
                <a16:creationId xmlns:a16="http://schemas.microsoft.com/office/drawing/2014/main" id="{0D114EDA-8C9F-7ACC-7A15-19A5B4F9FE76}"/>
              </a:ext>
            </a:extLst>
          </p:cNvPr>
          <p:cNvSpPr/>
          <p:nvPr/>
        </p:nvSpPr>
        <p:spPr>
          <a:xfrm>
            <a:off x="5646024" y="2443394"/>
            <a:ext cx="579542" cy="204040"/>
          </a:xfrm>
          <a:prstGeom prst="roundRect">
            <a:avLst/>
          </a:prstGeom>
          <a:solidFill>
            <a:srgbClr val="EE4639"/>
          </a:solidFill>
          <a:ln>
            <a:noFill/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19" name="Rectángulo redondeado 18">
            <a:extLst>
              <a:ext uri="{FF2B5EF4-FFF2-40B4-BE49-F238E27FC236}">
                <a16:creationId xmlns:a16="http://schemas.microsoft.com/office/drawing/2014/main" id="{68D60441-F606-F208-3C68-36793EBF8BCE}"/>
              </a:ext>
            </a:extLst>
          </p:cNvPr>
          <p:cNvSpPr/>
          <p:nvPr/>
        </p:nvSpPr>
        <p:spPr>
          <a:xfrm rot="16200000">
            <a:off x="5138008" y="2608143"/>
            <a:ext cx="615067" cy="296396"/>
          </a:xfrm>
          <a:prstGeom prst="roundRect">
            <a:avLst/>
          </a:prstGeom>
          <a:solidFill>
            <a:srgbClr val="D9DBE1"/>
          </a:solidFill>
          <a:ln>
            <a:noFill/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20" name="Rectángulo redondeado 19">
            <a:extLst>
              <a:ext uri="{FF2B5EF4-FFF2-40B4-BE49-F238E27FC236}">
                <a16:creationId xmlns:a16="http://schemas.microsoft.com/office/drawing/2014/main" id="{D8157818-5FE4-6A70-7895-3E8A7BFBC3A0}"/>
              </a:ext>
            </a:extLst>
          </p:cNvPr>
          <p:cNvSpPr/>
          <p:nvPr/>
        </p:nvSpPr>
        <p:spPr>
          <a:xfrm rot="10800000">
            <a:off x="5643020" y="2706075"/>
            <a:ext cx="579541" cy="357800"/>
          </a:xfrm>
          <a:prstGeom prst="roundRect">
            <a:avLst/>
          </a:prstGeom>
          <a:solidFill>
            <a:srgbClr val="D9DBE1"/>
          </a:solidFill>
          <a:ln>
            <a:noFill/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21" name="Triángulo 20">
            <a:extLst>
              <a:ext uri="{FF2B5EF4-FFF2-40B4-BE49-F238E27FC236}">
                <a16:creationId xmlns:a16="http://schemas.microsoft.com/office/drawing/2014/main" id="{06FFBA43-7AD8-6DC1-C142-ABA821592812}"/>
              </a:ext>
            </a:extLst>
          </p:cNvPr>
          <p:cNvSpPr/>
          <p:nvPr/>
        </p:nvSpPr>
        <p:spPr>
          <a:xfrm rot="19742137">
            <a:off x="4616092" y="2644644"/>
            <a:ext cx="205939" cy="174274"/>
          </a:xfrm>
          <a:prstGeom prst="triangle">
            <a:avLst/>
          </a:prstGeom>
          <a:solidFill>
            <a:srgbClr val="D9DBE1"/>
          </a:solidFill>
          <a:ln>
            <a:noFill/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22" name="Triángulo 21">
            <a:extLst>
              <a:ext uri="{FF2B5EF4-FFF2-40B4-BE49-F238E27FC236}">
                <a16:creationId xmlns:a16="http://schemas.microsoft.com/office/drawing/2014/main" id="{4E07812A-25E6-2BA4-FA4B-BFD47F5734A1}"/>
              </a:ext>
            </a:extLst>
          </p:cNvPr>
          <p:cNvSpPr/>
          <p:nvPr/>
        </p:nvSpPr>
        <p:spPr>
          <a:xfrm rot="19742137">
            <a:off x="4616092" y="3994019"/>
            <a:ext cx="205939" cy="174274"/>
          </a:xfrm>
          <a:prstGeom prst="triangle">
            <a:avLst/>
          </a:prstGeom>
          <a:solidFill>
            <a:srgbClr val="D9DBE1"/>
          </a:solidFill>
          <a:ln>
            <a:noFill/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23" name="Triángulo 22">
            <a:extLst>
              <a:ext uri="{FF2B5EF4-FFF2-40B4-BE49-F238E27FC236}">
                <a16:creationId xmlns:a16="http://schemas.microsoft.com/office/drawing/2014/main" id="{F980F7EB-5348-A38C-8241-8B52599ACED2}"/>
              </a:ext>
            </a:extLst>
          </p:cNvPr>
          <p:cNvSpPr/>
          <p:nvPr/>
        </p:nvSpPr>
        <p:spPr>
          <a:xfrm rot="19742137">
            <a:off x="6657617" y="2644644"/>
            <a:ext cx="205939" cy="174274"/>
          </a:xfrm>
          <a:prstGeom prst="triangle">
            <a:avLst/>
          </a:prstGeom>
          <a:solidFill>
            <a:srgbClr val="D9DBE1"/>
          </a:solidFill>
          <a:ln>
            <a:noFill/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24" name="Triángulo 23">
            <a:extLst>
              <a:ext uri="{FF2B5EF4-FFF2-40B4-BE49-F238E27FC236}">
                <a16:creationId xmlns:a16="http://schemas.microsoft.com/office/drawing/2014/main" id="{F27CB767-18FB-62CA-6CD7-79171EB902CF}"/>
              </a:ext>
            </a:extLst>
          </p:cNvPr>
          <p:cNvSpPr/>
          <p:nvPr/>
        </p:nvSpPr>
        <p:spPr>
          <a:xfrm rot="19742137">
            <a:off x="6657617" y="3994019"/>
            <a:ext cx="205939" cy="174274"/>
          </a:xfrm>
          <a:prstGeom prst="triangle">
            <a:avLst/>
          </a:prstGeom>
          <a:solidFill>
            <a:srgbClr val="D9DBE1"/>
          </a:solidFill>
          <a:ln>
            <a:noFill/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B8F664BA-6036-D2CE-9C6D-09C39B665A59}"/>
              </a:ext>
            </a:extLst>
          </p:cNvPr>
          <p:cNvSpPr/>
          <p:nvPr/>
        </p:nvSpPr>
        <p:spPr>
          <a:xfrm>
            <a:off x="3159041" y="2884974"/>
            <a:ext cx="1233572" cy="338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s-ES" sz="1100" kern="100" dirty="0">
                <a:solidFill>
                  <a:srgbClr val="D9DBE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50% </a:t>
            </a:r>
            <a:r>
              <a:rPr lang="es-ES" sz="1100" kern="100" dirty="0" err="1">
                <a:solidFill>
                  <a:srgbClr val="D9DBE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visitors</a:t>
            </a:r>
            <a:br>
              <a:rPr lang="es-ES" sz="1100" kern="100" dirty="0">
                <a:solidFill>
                  <a:srgbClr val="D9DBE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s-ES" sz="1100" kern="100" dirty="0" err="1">
                <a:solidFill>
                  <a:srgbClr val="D9DBE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see</a:t>
            </a:r>
            <a:r>
              <a:rPr lang="es-ES" sz="1100" kern="100" dirty="0">
                <a:solidFill>
                  <a:srgbClr val="D9DBE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100" kern="100" dirty="0" err="1">
                <a:solidFill>
                  <a:srgbClr val="D9DBE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variation</a:t>
            </a:r>
            <a:r>
              <a:rPr lang="es-ES" sz="1100" kern="100" dirty="0">
                <a:solidFill>
                  <a:srgbClr val="D9DBE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246D2DD9-EE42-6487-23D2-0175D2F4A3D7}"/>
              </a:ext>
            </a:extLst>
          </p:cNvPr>
          <p:cNvSpPr/>
          <p:nvPr/>
        </p:nvSpPr>
        <p:spPr>
          <a:xfrm>
            <a:off x="3159041" y="4290191"/>
            <a:ext cx="1233572" cy="338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s-ES" sz="1100" kern="100" dirty="0">
                <a:solidFill>
                  <a:srgbClr val="D9DBE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50% </a:t>
            </a:r>
            <a:r>
              <a:rPr lang="es-ES" sz="1100" kern="100" dirty="0" err="1">
                <a:solidFill>
                  <a:srgbClr val="D9DBE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visitors</a:t>
            </a:r>
            <a:br>
              <a:rPr lang="es-ES" sz="1100" kern="100" dirty="0">
                <a:solidFill>
                  <a:srgbClr val="D9DBE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s-ES" sz="1100" kern="100" dirty="0" err="1">
                <a:solidFill>
                  <a:srgbClr val="D9DBE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see</a:t>
            </a:r>
            <a:r>
              <a:rPr lang="es-ES" sz="1100" kern="100" dirty="0">
                <a:solidFill>
                  <a:srgbClr val="D9DBE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100" kern="100" dirty="0" err="1">
                <a:solidFill>
                  <a:srgbClr val="D9DBE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variation</a:t>
            </a:r>
            <a:r>
              <a:rPr lang="es-ES" sz="1100" kern="100" dirty="0">
                <a:solidFill>
                  <a:srgbClr val="D9DBE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61871E7D-CB9A-0E99-2779-0E550C6948FC}"/>
              </a:ext>
            </a:extLst>
          </p:cNvPr>
          <p:cNvSpPr/>
          <p:nvPr/>
        </p:nvSpPr>
        <p:spPr>
          <a:xfrm>
            <a:off x="5149746" y="3227394"/>
            <a:ext cx="1233572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s-ES" sz="1300" kern="100" dirty="0" err="1">
                <a:solidFill>
                  <a:srgbClr val="D9DBE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Variation</a:t>
            </a:r>
            <a:r>
              <a:rPr lang="es-ES" sz="1300" kern="100" dirty="0">
                <a:solidFill>
                  <a:srgbClr val="D9DBE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3B8E8BEE-2390-5FA9-96B1-031F9CC0C82C}"/>
              </a:ext>
            </a:extLst>
          </p:cNvPr>
          <p:cNvSpPr/>
          <p:nvPr/>
        </p:nvSpPr>
        <p:spPr>
          <a:xfrm>
            <a:off x="5149746" y="4537875"/>
            <a:ext cx="1233572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s-ES" sz="1300" kern="100" dirty="0" err="1">
                <a:solidFill>
                  <a:srgbClr val="D9DBE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Variation</a:t>
            </a:r>
            <a:r>
              <a:rPr lang="es-ES" sz="1300" kern="100" dirty="0">
                <a:solidFill>
                  <a:srgbClr val="D9DBE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FEA731AE-8D6F-38AA-30CF-28F883A204D5}"/>
              </a:ext>
            </a:extLst>
          </p:cNvPr>
          <p:cNvSpPr/>
          <p:nvPr/>
        </p:nvSpPr>
        <p:spPr>
          <a:xfrm>
            <a:off x="7030359" y="2878350"/>
            <a:ext cx="1233572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s-ES" sz="1400" kern="100" dirty="0" err="1">
                <a:solidFill>
                  <a:srgbClr val="D9DBE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conversion</a:t>
            </a:r>
            <a:endParaRPr lang="es-ES" sz="1400" kern="100" dirty="0">
              <a:solidFill>
                <a:srgbClr val="D9DBE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305D99BA-6FF8-19BA-0C5E-92022960E9CE}"/>
              </a:ext>
            </a:extLst>
          </p:cNvPr>
          <p:cNvSpPr/>
          <p:nvPr/>
        </p:nvSpPr>
        <p:spPr>
          <a:xfrm>
            <a:off x="7030359" y="4243225"/>
            <a:ext cx="1233572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s-ES" sz="1400" kern="100" dirty="0" err="1">
                <a:solidFill>
                  <a:srgbClr val="D9DBE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conversion</a:t>
            </a:r>
            <a:endParaRPr lang="es-ES" sz="1400" kern="100" dirty="0">
              <a:solidFill>
                <a:srgbClr val="D9DBE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3265746B-6CC5-FF09-F8D6-D043EDA40692}"/>
              </a:ext>
            </a:extLst>
          </p:cNvPr>
          <p:cNvSpPr/>
          <p:nvPr/>
        </p:nvSpPr>
        <p:spPr>
          <a:xfrm>
            <a:off x="7092564" y="2365057"/>
            <a:ext cx="1089998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s-ES" sz="4000" b="1" kern="100" dirty="0">
                <a:solidFill>
                  <a:srgbClr val="D9DBE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23%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A01DEF9B-321D-86A9-20AB-C23B3675F6F4}"/>
              </a:ext>
            </a:extLst>
          </p:cNvPr>
          <p:cNvSpPr/>
          <p:nvPr/>
        </p:nvSpPr>
        <p:spPr>
          <a:xfrm>
            <a:off x="7092564" y="3743380"/>
            <a:ext cx="1089998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s-ES" sz="4000" b="1" kern="100" dirty="0">
                <a:solidFill>
                  <a:srgbClr val="D9DBE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11%</a:t>
            </a:r>
          </a:p>
        </p:txBody>
      </p:sp>
      <p:pic>
        <p:nvPicPr>
          <p:cNvPr id="34" name="Imagen 33">
            <a:extLst>
              <a:ext uri="{FF2B5EF4-FFF2-40B4-BE49-F238E27FC236}">
                <a16:creationId xmlns:a16="http://schemas.microsoft.com/office/drawing/2014/main" id="{D8380ADD-2533-5F8D-C4A8-276CF9166C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9300" y="2363518"/>
            <a:ext cx="199813" cy="493982"/>
          </a:xfrm>
          <a:prstGeom prst="rect">
            <a:avLst/>
          </a:prstGeom>
        </p:spPr>
      </p:pic>
      <p:pic>
        <p:nvPicPr>
          <p:cNvPr id="35" name="Imagen 34">
            <a:extLst>
              <a:ext uri="{FF2B5EF4-FFF2-40B4-BE49-F238E27FC236}">
                <a16:creationId xmlns:a16="http://schemas.microsoft.com/office/drawing/2014/main" id="{A98A077D-ACDB-A40E-18DC-42E2160EC5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3775" y="2363518"/>
            <a:ext cx="199813" cy="493982"/>
          </a:xfrm>
          <a:prstGeom prst="rect">
            <a:avLst/>
          </a:prstGeom>
        </p:spPr>
      </p:pic>
      <p:pic>
        <p:nvPicPr>
          <p:cNvPr id="36" name="Imagen 35">
            <a:extLst>
              <a:ext uri="{FF2B5EF4-FFF2-40B4-BE49-F238E27FC236}">
                <a16:creationId xmlns:a16="http://schemas.microsoft.com/office/drawing/2014/main" id="{CA425AB9-08CF-0B6B-72F3-6F1242C167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8725" y="2363518"/>
            <a:ext cx="199813" cy="493982"/>
          </a:xfrm>
          <a:prstGeom prst="rect">
            <a:avLst/>
          </a:prstGeom>
        </p:spPr>
      </p:pic>
      <p:pic>
        <p:nvPicPr>
          <p:cNvPr id="37" name="Imagen 36">
            <a:extLst>
              <a:ext uri="{FF2B5EF4-FFF2-40B4-BE49-F238E27FC236}">
                <a16:creationId xmlns:a16="http://schemas.microsoft.com/office/drawing/2014/main" id="{5EFB4D3E-73CC-2D18-D505-019DD06E33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4150" y="2363518"/>
            <a:ext cx="199813" cy="493982"/>
          </a:xfrm>
          <a:prstGeom prst="rect">
            <a:avLst/>
          </a:prstGeom>
        </p:spPr>
      </p:pic>
      <p:pic>
        <p:nvPicPr>
          <p:cNvPr id="38" name="Imagen 37">
            <a:extLst>
              <a:ext uri="{FF2B5EF4-FFF2-40B4-BE49-F238E27FC236}">
                <a16:creationId xmlns:a16="http://schemas.microsoft.com/office/drawing/2014/main" id="{E5434F4A-5763-4878-F9BD-6D2283D986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9300" y="3735118"/>
            <a:ext cx="199813" cy="493982"/>
          </a:xfrm>
          <a:prstGeom prst="rect">
            <a:avLst/>
          </a:prstGeom>
        </p:spPr>
      </p:pic>
      <p:pic>
        <p:nvPicPr>
          <p:cNvPr id="39" name="Imagen 38">
            <a:extLst>
              <a:ext uri="{FF2B5EF4-FFF2-40B4-BE49-F238E27FC236}">
                <a16:creationId xmlns:a16="http://schemas.microsoft.com/office/drawing/2014/main" id="{2E148EDF-19EE-2837-1744-9D6CFD5EB3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3775" y="3735118"/>
            <a:ext cx="199813" cy="493982"/>
          </a:xfrm>
          <a:prstGeom prst="rect">
            <a:avLst/>
          </a:prstGeom>
        </p:spPr>
      </p:pic>
      <p:pic>
        <p:nvPicPr>
          <p:cNvPr id="40" name="Imagen 39">
            <a:extLst>
              <a:ext uri="{FF2B5EF4-FFF2-40B4-BE49-F238E27FC236}">
                <a16:creationId xmlns:a16="http://schemas.microsoft.com/office/drawing/2014/main" id="{E79834DB-F585-DDBB-3F8C-F3FA87A1FD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8725" y="3735118"/>
            <a:ext cx="199813" cy="493982"/>
          </a:xfrm>
          <a:prstGeom prst="rect">
            <a:avLst/>
          </a:prstGeom>
        </p:spPr>
      </p:pic>
      <p:pic>
        <p:nvPicPr>
          <p:cNvPr id="41" name="Imagen 40">
            <a:extLst>
              <a:ext uri="{FF2B5EF4-FFF2-40B4-BE49-F238E27FC236}">
                <a16:creationId xmlns:a16="http://schemas.microsoft.com/office/drawing/2014/main" id="{EF89E507-3726-D70B-5DDC-8EC216FE28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4150" y="3735118"/>
            <a:ext cx="199813" cy="493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297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503238" y="912813"/>
            <a:ext cx="3855402" cy="35609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s-PE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¿PORQUÉ REALIZAR TEST A/B?</a:t>
            </a:r>
            <a:endParaRPr lang="es-PE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7800" indent="-177800">
              <a:buFont typeface="Arial" panose="020B0604020202020204" pitchFamily="34" charset="0"/>
              <a:buChar char="•"/>
            </a:pPr>
            <a:r>
              <a:rPr lang="es-E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Los test A/B se pueden ejecutar para obtener recomendaciones que permitan ajustar el rendimiento de una campaña de marketing digital evaluando los activos usados en la campaña como correos electrónicos, boletines, anuncios, mensajería y páginas web.</a:t>
            </a:r>
          </a:p>
          <a:p>
            <a:pPr marL="177800" indent="-177800">
              <a:buFont typeface="Arial" panose="020B0604020202020204" pitchFamily="34" charset="0"/>
              <a:buChar char="•"/>
            </a:pPr>
            <a:r>
              <a:rPr lang="es-E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</a:p>
          <a:p>
            <a:pPr marL="177800" indent="-177800">
              <a:buFont typeface="Arial" panose="020B0604020202020204" pitchFamily="34" charset="0"/>
              <a:buChar char="•"/>
            </a:pPr>
            <a:r>
              <a:rPr lang="es-E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Permiten evaluar los activos usados en la estrategia de marketing estableciendo qué funciona y qué no funciona, qué se debe mejorar, y qué se debe descartar.</a:t>
            </a:r>
          </a:p>
          <a:p>
            <a:endParaRPr lang="es-E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Google Shape;127;p5">
            <a:extLst>
              <a:ext uri="{FF2B5EF4-FFF2-40B4-BE49-F238E27FC236}">
                <a16:creationId xmlns:a16="http://schemas.microsoft.com/office/drawing/2014/main" id="{FB5A1B93-5215-1DCA-C162-C838CA7F4AD1}"/>
              </a:ext>
            </a:extLst>
          </p:cNvPr>
          <p:cNvSpPr/>
          <p:nvPr/>
        </p:nvSpPr>
        <p:spPr>
          <a:xfrm>
            <a:off x="503238" y="376836"/>
            <a:ext cx="4401784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n-US" sz="1000" dirty="0">
                <a:solidFill>
                  <a:srgbClr val="A5A5A5"/>
                </a:solidFill>
                <a:latin typeface="Calibri"/>
                <a:cs typeface="Calibri"/>
              </a:rPr>
              <a:t>TEST A/B</a:t>
            </a:r>
            <a:endParaRPr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A6095E0-640B-BF9E-620D-DD499A3FB21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2552" r="16381"/>
          <a:stretch/>
        </p:blipFill>
        <p:spPr>
          <a:xfrm>
            <a:off x="4742216" y="0"/>
            <a:ext cx="4401784" cy="5746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604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ángulo redondeado 28">
            <a:extLst>
              <a:ext uri="{FF2B5EF4-FFF2-40B4-BE49-F238E27FC236}">
                <a16:creationId xmlns:a16="http://schemas.microsoft.com/office/drawing/2014/main" id="{5D42A8CA-D149-3F3D-BDF6-A79AEB77B9BA}"/>
              </a:ext>
            </a:extLst>
          </p:cNvPr>
          <p:cNvSpPr/>
          <p:nvPr/>
        </p:nvSpPr>
        <p:spPr>
          <a:xfrm>
            <a:off x="4826000" y="1469550"/>
            <a:ext cx="1146175" cy="2162650"/>
          </a:xfrm>
          <a:prstGeom prst="roundRect">
            <a:avLst>
              <a:gd name="adj" fmla="val 10751"/>
            </a:avLst>
          </a:prstGeom>
          <a:solidFill>
            <a:srgbClr val="0B3644"/>
          </a:solidFill>
          <a:ln>
            <a:noFill/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3" name="Rectángulo redondeado 92">
            <a:extLst>
              <a:ext uri="{FF2B5EF4-FFF2-40B4-BE49-F238E27FC236}">
                <a16:creationId xmlns:a16="http://schemas.microsoft.com/office/drawing/2014/main" id="{B76AEAA3-71FE-9425-45E4-E7F7B580F118}"/>
              </a:ext>
            </a:extLst>
          </p:cNvPr>
          <p:cNvSpPr/>
          <p:nvPr/>
        </p:nvSpPr>
        <p:spPr>
          <a:xfrm>
            <a:off x="7217597" y="1469550"/>
            <a:ext cx="1146175" cy="2162650"/>
          </a:xfrm>
          <a:prstGeom prst="roundRect">
            <a:avLst>
              <a:gd name="adj" fmla="val 10751"/>
            </a:avLst>
          </a:prstGeom>
          <a:solidFill>
            <a:srgbClr val="0B3644"/>
          </a:solidFill>
          <a:ln>
            <a:noFill/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2" name="Rectángulo 101">
            <a:extLst>
              <a:ext uri="{FF2B5EF4-FFF2-40B4-BE49-F238E27FC236}">
                <a16:creationId xmlns:a16="http://schemas.microsoft.com/office/drawing/2014/main" id="{E8A0DFBE-453B-1712-837F-1A50DE4C6418}"/>
              </a:ext>
            </a:extLst>
          </p:cNvPr>
          <p:cNvSpPr/>
          <p:nvPr/>
        </p:nvSpPr>
        <p:spPr>
          <a:xfrm>
            <a:off x="4912582" y="1799926"/>
            <a:ext cx="989936" cy="14917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3" name="Rectángulo 102">
            <a:extLst>
              <a:ext uri="{FF2B5EF4-FFF2-40B4-BE49-F238E27FC236}">
                <a16:creationId xmlns:a16="http://schemas.microsoft.com/office/drawing/2014/main" id="{BEFF816E-A99B-315A-E98C-EF9691D62E83}"/>
              </a:ext>
            </a:extLst>
          </p:cNvPr>
          <p:cNvSpPr/>
          <p:nvPr/>
        </p:nvSpPr>
        <p:spPr>
          <a:xfrm>
            <a:off x="7284154" y="1799926"/>
            <a:ext cx="989936" cy="14917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Rectángulo 5"/>
          <p:cNvSpPr/>
          <p:nvPr/>
        </p:nvSpPr>
        <p:spPr>
          <a:xfrm>
            <a:off x="503237" y="928845"/>
            <a:ext cx="3889375" cy="28223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s-PE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EJEMPLOS DE TEST A/B</a:t>
            </a:r>
            <a:endParaRPr lang="es-PE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E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Los test A/B se pueden aplicar a uno o más de los siguientes elementos del marketing digital:</a:t>
            </a:r>
          </a:p>
          <a:p>
            <a:r>
              <a:rPr lang="es-E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</a:p>
          <a:p>
            <a:pPr marL="180975" indent="-180975">
              <a:buFont typeface="Arial" panose="020B0604020202020204" pitchFamily="34" charset="0"/>
              <a:buChar char="•"/>
            </a:pPr>
            <a:r>
              <a:rPr lang="es-ES" sz="16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Copy</a:t>
            </a:r>
            <a:r>
              <a:rPr lang="es-E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texto persuasivo que invita a la acción</a:t>
            </a:r>
          </a:p>
          <a:p>
            <a:pPr marL="180975" indent="-180975">
              <a:buFont typeface="Arial" panose="020B0604020202020204" pitchFamily="34" charset="0"/>
              <a:buChar char="•"/>
            </a:pPr>
            <a:r>
              <a:rPr lang="es-E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Diseño y disposición de los elementos de la página web</a:t>
            </a:r>
          </a:p>
          <a:p>
            <a:pPr marL="180975" indent="-180975">
              <a:buFont typeface="Arial" panose="020B0604020202020204" pitchFamily="34" charset="0"/>
              <a:buChar char="•"/>
            </a:pPr>
            <a:r>
              <a:rPr lang="es-E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Enlaces de navegación</a:t>
            </a:r>
          </a:p>
          <a:p>
            <a:pPr marL="180975" indent="-180975">
              <a:buFont typeface="Arial" panose="020B0604020202020204" pitchFamily="34" charset="0"/>
              <a:buChar char="•"/>
            </a:pPr>
            <a:r>
              <a:rPr lang="es-E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Línea de asunto de los correos electrónicos</a:t>
            </a:r>
          </a:p>
          <a:p>
            <a:pPr marL="180975" indent="-180975">
              <a:buFont typeface="Arial" panose="020B0604020202020204" pitchFamily="34" charset="0"/>
              <a:buChar char="•"/>
            </a:pPr>
            <a:r>
              <a:rPr lang="es-E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Botones de acción</a:t>
            </a:r>
          </a:p>
          <a:p>
            <a:endParaRPr lang="es-E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Google Shape;127;p5">
            <a:extLst>
              <a:ext uri="{FF2B5EF4-FFF2-40B4-BE49-F238E27FC236}">
                <a16:creationId xmlns:a16="http://schemas.microsoft.com/office/drawing/2014/main" id="{8EE81A13-BC88-55FE-BE25-CAFDC1493A4D}"/>
              </a:ext>
            </a:extLst>
          </p:cNvPr>
          <p:cNvSpPr/>
          <p:nvPr/>
        </p:nvSpPr>
        <p:spPr>
          <a:xfrm>
            <a:off x="503238" y="376836"/>
            <a:ext cx="4401784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n-US" sz="1000" dirty="0">
                <a:solidFill>
                  <a:srgbClr val="A5A5A5"/>
                </a:solidFill>
                <a:latin typeface="Calibri"/>
                <a:cs typeface="Calibri"/>
              </a:rPr>
              <a:t>TEST A/B</a:t>
            </a:r>
            <a:endParaRPr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C69B0BC-A00F-540C-876D-D42C4C075778}"/>
              </a:ext>
            </a:extLst>
          </p:cNvPr>
          <p:cNvSpPr/>
          <p:nvPr/>
        </p:nvSpPr>
        <p:spPr>
          <a:xfrm>
            <a:off x="5177118" y="1887070"/>
            <a:ext cx="461682" cy="116542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3A895F6-6F77-6475-A006-05515CF39CA2}"/>
              </a:ext>
            </a:extLst>
          </p:cNvPr>
          <p:cNvSpPr/>
          <p:nvPr/>
        </p:nvSpPr>
        <p:spPr>
          <a:xfrm>
            <a:off x="5230906" y="2043952"/>
            <a:ext cx="354106" cy="53789"/>
          </a:xfrm>
          <a:prstGeom prst="rect">
            <a:avLst/>
          </a:prstGeom>
          <a:solidFill>
            <a:srgbClr val="D9DBE1"/>
          </a:solidFill>
          <a:ln>
            <a:noFill/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028A477-D1B6-DC5B-CC8C-B5D6ED4EA151}"/>
              </a:ext>
            </a:extLst>
          </p:cNvPr>
          <p:cNvSpPr/>
          <p:nvPr/>
        </p:nvSpPr>
        <p:spPr>
          <a:xfrm>
            <a:off x="4913322" y="2129116"/>
            <a:ext cx="989936" cy="331177"/>
          </a:xfrm>
          <a:prstGeom prst="rect">
            <a:avLst/>
          </a:prstGeom>
          <a:solidFill>
            <a:srgbClr val="92C14D"/>
          </a:solidFill>
          <a:ln>
            <a:noFill/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E78FBC8-E778-AD4B-595A-8F7FFCE47AAE}"/>
              </a:ext>
            </a:extLst>
          </p:cNvPr>
          <p:cNvSpPr/>
          <p:nvPr/>
        </p:nvSpPr>
        <p:spPr>
          <a:xfrm>
            <a:off x="4966447" y="2501151"/>
            <a:ext cx="264459" cy="264461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C38CDE68-D1AD-BE04-035B-292AA6F4EAE5}"/>
              </a:ext>
            </a:extLst>
          </p:cNvPr>
          <p:cNvSpPr/>
          <p:nvPr/>
        </p:nvSpPr>
        <p:spPr>
          <a:xfrm>
            <a:off x="5280211" y="2501151"/>
            <a:ext cx="264459" cy="264461"/>
          </a:xfrm>
          <a:prstGeom prst="rect">
            <a:avLst/>
          </a:prstGeom>
          <a:solidFill>
            <a:srgbClr val="EE4639"/>
          </a:solidFill>
          <a:ln>
            <a:noFill/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97BB5AF-7D4A-A141-F348-68A0D57B2DE3}"/>
              </a:ext>
            </a:extLst>
          </p:cNvPr>
          <p:cNvSpPr/>
          <p:nvPr/>
        </p:nvSpPr>
        <p:spPr>
          <a:xfrm>
            <a:off x="5588186" y="2501151"/>
            <a:ext cx="264459" cy="264461"/>
          </a:xfrm>
          <a:prstGeom prst="rect">
            <a:avLst/>
          </a:prstGeom>
          <a:solidFill>
            <a:srgbClr val="558ED5"/>
          </a:solidFill>
          <a:ln>
            <a:noFill/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2B78DEE4-1935-3F86-06EE-CC9DAA5E2416}"/>
              </a:ext>
            </a:extLst>
          </p:cNvPr>
          <p:cNvSpPr/>
          <p:nvPr/>
        </p:nvSpPr>
        <p:spPr>
          <a:xfrm>
            <a:off x="4970556" y="2790077"/>
            <a:ext cx="260350" cy="45719"/>
          </a:xfrm>
          <a:prstGeom prst="rect">
            <a:avLst/>
          </a:prstGeom>
          <a:solidFill>
            <a:srgbClr val="D9DBE1"/>
          </a:solidFill>
          <a:ln>
            <a:noFill/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FF490121-52CF-9F2E-9760-8CD05E5DC36C}"/>
              </a:ext>
            </a:extLst>
          </p:cNvPr>
          <p:cNvSpPr/>
          <p:nvPr/>
        </p:nvSpPr>
        <p:spPr>
          <a:xfrm>
            <a:off x="4970556" y="2872627"/>
            <a:ext cx="260350" cy="45719"/>
          </a:xfrm>
          <a:prstGeom prst="rect">
            <a:avLst/>
          </a:prstGeom>
          <a:solidFill>
            <a:srgbClr val="D9DBE1"/>
          </a:solidFill>
          <a:ln>
            <a:noFill/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DB9D762E-C656-7C1D-6340-A962A9BDB112}"/>
              </a:ext>
            </a:extLst>
          </p:cNvPr>
          <p:cNvSpPr/>
          <p:nvPr/>
        </p:nvSpPr>
        <p:spPr>
          <a:xfrm>
            <a:off x="4970556" y="2958352"/>
            <a:ext cx="260350" cy="45719"/>
          </a:xfrm>
          <a:prstGeom prst="rect">
            <a:avLst/>
          </a:prstGeom>
          <a:solidFill>
            <a:srgbClr val="D9DBE1"/>
          </a:solidFill>
          <a:ln>
            <a:noFill/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5F5613CB-AAD4-3550-0F43-CA3DD28814C0}"/>
              </a:ext>
            </a:extLst>
          </p:cNvPr>
          <p:cNvSpPr/>
          <p:nvPr/>
        </p:nvSpPr>
        <p:spPr>
          <a:xfrm>
            <a:off x="4970556" y="3037727"/>
            <a:ext cx="206562" cy="45719"/>
          </a:xfrm>
          <a:prstGeom prst="rect">
            <a:avLst/>
          </a:prstGeom>
          <a:solidFill>
            <a:srgbClr val="D9DBE1"/>
          </a:solidFill>
          <a:ln>
            <a:noFill/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F7949FC-89A5-854D-7559-3D3D292ED138}"/>
              </a:ext>
            </a:extLst>
          </p:cNvPr>
          <p:cNvSpPr/>
          <p:nvPr/>
        </p:nvSpPr>
        <p:spPr>
          <a:xfrm>
            <a:off x="5275356" y="2790077"/>
            <a:ext cx="260350" cy="45719"/>
          </a:xfrm>
          <a:prstGeom prst="rect">
            <a:avLst/>
          </a:prstGeom>
          <a:solidFill>
            <a:srgbClr val="D9DBE1"/>
          </a:solidFill>
          <a:ln>
            <a:noFill/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ED26FE1D-655E-DDE0-9E48-A54B757E92AE}"/>
              </a:ext>
            </a:extLst>
          </p:cNvPr>
          <p:cNvSpPr/>
          <p:nvPr/>
        </p:nvSpPr>
        <p:spPr>
          <a:xfrm>
            <a:off x="5275356" y="2872627"/>
            <a:ext cx="260350" cy="45719"/>
          </a:xfrm>
          <a:prstGeom prst="rect">
            <a:avLst/>
          </a:prstGeom>
          <a:solidFill>
            <a:srgbClr val="D9DBE1"/>
          </a:solidFill>
          <a:ln>
            <a:noFill/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E92FFCF1-D7CB-99F8-431F-F9427D912628}"/>
              </a:ext>
            </a:extLst>
          </p:cNvPr>
          <p:cNvSpPr/>
          <p:nvPr/>
        </p:nvSpPr>
        <p:spPr>
          <a:xfrm>
            <a:off x="5275356" y="2958352"/>
            <a:ext cx="260350" cy="45719"/>
          </a:xfrm>
          <a:prstGeom prst="rect">
            <a:avLst/>
          </a:prstGeom>
          <a:solidFill>
            <a:srgbClr val="D9DBE1"/>
          </a:solidFill>
          <a:ln>
            <a:noFill/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A53FA943-2C78-16FB-9678-8B3FB1BE38BC}"/>
              </a:ext>
            </a:extLst>
          </p:cNvPr>
          <p:cNvSpPr/>
          <p:nvPr/>
        </p:nvSpPr>
        <p:spPr>
          <a:xfrm>
            <a:off x="5275356" y="3037727"/>
            <a:ext cx="206562" cy="45719"/>
          </a:xfrm>
          <a:prstGeom prst="rect">
            <a:avLst/>
          </a:prstGeom>
          <a:solidFill>
            <a:srgbClr val="D9DBE1"/>
          </a:solidFill>
          <a:ln>
            <a:noFill/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FC3BA241-0FEE-3FE8-82F5-268C12640E92}"/>
              </a:ext>
            </a:extLst>
          </p:cNvPr>
          <p:cNvSpPr/>
          <p:nvPr/>
        </p:nvSpPr>
        <p:spPr>
          <a:xfrm>
            <a:off x="5592856" y="2790077"/>
            <a:ext cx="260350" cy="45719"/>
          </a:xfrm>
          <a:prstGeom prst="rect">
            <a:avLst/>
          </a:prstGeom>
          <a:solidFill>
            <a:srgbClr val="D9DBE1"/>
          </a:solidFill>
          <a:ln>
            <a:noFill/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8B4BC2A5-93AF-6217-F1A4-992E6F0B8B6F}"/>
              </a:ext>
            </a:extLst>
          </p:cNvPr>
          <p:cNvSpPr/>
          <p:nvPr/>
        </p:nvSpPr>
        <p:spPr>
          <a:xfrm>
            <a:off x="5592856" y="2872627"/>
            <a:ext cx="260350" cy="45719"/>
          </a:xfrm>
          <a:prstGeom prst="rect">
            <a:avLst/>
          </a:prstGeom>
          <a:solidFill>
            <a:srgbClr val="D9DBE1"/>
          </a:solidFill>
          <a:ln>
            <a:noFill/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E6C02986-DD53-9355-70C1-D64E4334C049}"/>
              </a:ext>
            </a:extLst>
          </p:cNvPr>
          <p:cNvSpPr/>
          <p:nvPr/>
        </p:nvSpPr>
        <p:spPr>
          <a:xfrm>
            <a:off x="5592856" y="2958352"/>
            <a:ext cx="260350" cy="45719"/>
          </a:xfrm>
          <a:prstGeom prst="rect">
            <a:avLst/>
          </a:prstGeom>
          <a:solidFill>
            <a:srgbClr val="D9DBE1"/>
          </a:solidFill>
          <a:ln>
            <a:noFill/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61A64385-E635-A80B-F5B3-30139F4F5D84}"/>
              </a:ext>
            </a:extLst>
          </p:cNvPr>
          <p:cNvSpPr/>
          <p:nvPr/>
        </p:nvSpPr>
        <p:spPr>
          <a:xfrm>
            <a:off x="5592856" y="3037727"/>
            <a:ext cx="206562" cy="45719"/>
          </a:xfrm>
          <a:prstGeom prst="rect">
            <a:avLst/>
          </a:prstGeom>
          <a:solidFill>
            <a:srgbClr val="D9DBE1"/>
          </a:solidFill>
          <a:ln>
            <a:noFill/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672B3DC5-A625-BE1E-967F-D6B25B0FFE7C}"/>
              </a:ext>
            </a:extLst>
          </p:cNvPr>
          <p:cNvSpPr/>
          <p:nvPr/>
        </p:nvSpPr>
        <p:spPr>
          <a:xfrm>
            <a:off x="4913322" y="1797167"/>
            <a:ext cx="989936" cy="49372"/>
          </a:xfrm>
          <a:prstGeom prst="rect">
            <a:avLst/>
          </a:prstGeom>
          <a:solidFill>
            <a:srgbClr val="7150A0"/>
          </a:solidFill>
          <a:ln>
            <a:noFill/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6" name="Rectángulo redondeado 25">
            <a:extLst>
              <a:ext uri="{FF2B5EF4-FFF2-40B4-BE49-F238E27FC236}">
                <a16:creationId xmlns:a16="http://schemas.microsoft.com/office/drawing/2014/main" id="{38F7533B-00DD-56AB-B61B-E5D127D16146}"/>
              </a:ext>
            </a:extLst>
          </p:cNvPr>
          <p:cNvSpPr/>
          <p:nvPr/>
        </p:nvSpPr>
        <p:spPr>
          <a:xfrm>
            <a:off x="5245287" y="1641705"/>
            <a:ext cx="339725" cy="72464"/>
          </a:xfrm>
          <a:prstGeom prst="roundRect">
            <a:avLst/>
          </a:prstGeom>
          <a:noFill/>
          <a:ln w="19050">
            <a:solidFill>
              <a:schemeClr val="bg1"/>
            </a:solidFill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06BA10E7-4C1A-48C4-7AD2-CAD2EA17A4B3}"/>
              </a:ext>
            </a:extLst>
          </p:cNvPr>
          <p:cNvSpPr/>
          <p:nvPr/>
        </p:nvSpPr>
        <p:spPr>
          <a:xfrm>
            <a:off x="5280399" y="3328057"/>
            <a:ext cx="235883" cy="23588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07909F20-51E3-3489-DC35-335B5421B9C1}"/>
              </a:ext>
            </a:extLst>
          </p:cNvPr>
          <p:cNvSpPr/>
          <p:nvPr/>
        </p:nvSpPr>
        <p:spPr>
          <a:xfrm>
            <a:off x="7546415" y="1917760"/>
            <a:ext cx="461682" cy="116542"/>
          </a:xfrm>
          <a:prstGeom prst="rect">
            <a:avLst/>
          </a:prstGeom>
          <a:solidFill>
            <a:srgbClr val="268B80"/>
          </a:solidFill>
          <a:ln>
            <a:noFill/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1" name="Rectángulo 50">
            <a:extLst>
              <a:ext uri="{FF2B5EF4-FFF2-40B4-BE49-F238E27FC236}">
                <a16:creationId xmlns:a16="http://schemas.microsoft.com/office/drawing/2014/main" id="{727AF8BF-44ED-C20C-7E57-0DF27D89BCDC}"/>
              </a:ext>
            </a:extLst>
          </p:cNvPr>
          <p:cNvSpPr/>
          <p:nvPr/>
        </p:nvSpPr>
        <p:spPr>
          <a:xfrm>
            <a:off x="7470775" y="2070846"/>
            <a:ext cx="589290" cy="48519"/>
          </a:xfrm>
          <a:prstGeom prst="rect">
            <a:avLst/>
          </a:prstGeom>
          <a:solidFill>
            <a:srgbClr val="D9DBE1"/>
          </a:solidFill>
          <a:ln>
            <a:noFill/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22FC3372-BEA9-0380-C5FA-6B96C091390B}"/>
              </a:ext>
            </a:extLst>
          </p:cNvPr>
          <p:cNvSpPr/>
          <p:nvPr/>
        </p:nvSpPr>
        <p:spPr>
          <a:xfrm>
            <a:off x="7289197" y="2160224"/>
            <a:ext cx="989936" cy="300069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71586CFA-E478-FF8A-59E8-B0A08EC9E067}"/>
              </a:ext>
            </a:extLst>
          </p:cNvPr>
          <p:cNvSpPr/>
          <p:nvPr/>
        </p:nvSpPr>
        <p:spPr>
          <a:xfrm>
            <a:off x="7366000" y="2501152"/>
            <a:ext cx="832647" cy="139171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8" name="Rectángulo 67">
            <a:extLst>
              <a:ext uri="{FF2B5EF4-FFF2-40B4-BE49-F238E27FC236}">
                <a16:creationId xmlns:a16="http://schemas.microsoft.com/office/drawing/2014/main" id="{C6CDB2BA-86EB-19AC-F00B-048F07D84C81}"/>
              </a:ext>
            </a:extLst>
          </p:cNvPr>
          <p:cNvSpPr/>
          <p:nvPr/>
        </p:nvSpPr>
        <p:spPr>
          <a:xfrm>
            <a:off x="7285047" y="1804042"/>
            <a:ext cx="989936" cy="69352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9" name="Rectángulo redondeado 68">
            <a:extLst>
              <a:ext uri="{FF2B5EF4-FFF2-40B4-BE49-F238E27FC236}">
                <a16:creationId xmlns:a16="http://schemas.microsoft.com/office/drawing/2014/main" id="{BDA03A5B-29CE-679E-F4D3-99B0C0A886F6}"/>
              </a:ext>
            </a:extLst>
          </p:cNvPr>
          <p:cNvSpPr/>
          <p:nvPr/>
        </p:nvSpPr>
        <p:spPr>
          <a:xfrm>
            <a:off x="7617012" y="1641705"/>
            <a:ext cx="339725" cy="72464"/>
          </a:xfrm>
          <a:prstGeom prst="roundRect">
            <a:avLst/>
          </a:prstGeom>
          <a:noFill/>
          <a:ln w="19050">
            <a:solidFill>
              <a:schemeClr val="bg1"/>
            </a:solidFill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0" name="Rectángulo 69">
            <a:extLst>
              <a:ext uri="{FF2B5EF4-FFF2-40B4-BE49-F238E27FC236}">
                <a16:creationId xmlns:a16="http://schemas.microsoft.com/office/drawing/2014/main" id="{AFDF5163-A255-E187-AC45-026AB2F67AAA}"/>
              </a:ext>
            </a:extLst>
          </p:cNvPr>
          <p:cNvSpPr/>
          <p:nvPr/>
        </p:nvSpPr>
        <p:spPr>
          <a:xfrm>
            <a:off x="7285047" y="3250074"/>
            <a:ext cx="989936" cy="45719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1" name="Rectángulo 70">
            <a:extLst>
              <a:ext uri="{FF2B5EF4-FFF2-40B4-BE49-F238E27FC236}">
                <a16:creationId xmlns:a16="http://schemas.microsoft.com/office/drawing/2014/main" id="{7E4B2CCA-950D-847E-DD2E-9F8BADB4EAE9}"/>
              </a:ext>
            </a:extLst>
          </p:cNvPr>
          <p:cNvSpPr/>
          <p:nvPr/>
        </p:nvSpPr>
        <p:spPr>
          <a:xfrm>
            <a:off x="7366000" y="2751978"/>
            <a:ext cx="832647" cy="120650"/>
          </a:xfrm>
          <a:prstGeom prst="rect">
            <a:avLst/>
          </a:prstGeom>
          <a:solidFill>
            <a:srgbClr val="EE4639"/>
          </a:solidFill>
          <a:ln>
            <a:noFill/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2" name="Rectángulo 71">
            <a:extLst>
              <a:ext uri="{FF2B5EF4-FFF2-40B4-BE49-F238E27FC236}">
                <a16:creationId xmlns:a16="http://schemas.microsoft.com/office/drawing/2014/main" id="{E2827DCC-D668-01C8-6200-B81FB1AC73D3}"/>
              </a:ext>
            </a:extLst>
          </p:cNvPr>
          <p:cNvSpPr/>
          <p:nvPr/>
        </p:nvSpPr>
        <p:spPr>
          <a:xfrm>
            <a:off x="7366000" y="2999628"/>
            <a:ext cx="832647" cy="120650"/>
          </a:xfrm>
          <a:prstGeom prst="rect">
            <a:avLst/>
          </a:prstGeom>
          <a:solidFill>
            <a:srgbClr val="558ED5"/>
          </a:solidFill>
          <a:ln>
            <a:noFill/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3" name="Rectángulo 72">
            <a:extLst>
              <a:ext uri="{FF2B5EF4-FFF2-40B4-BE49-F238E27FC236}">
                <a16:creationId xmlns:a16="http://schemas.microsoft.com/office/drawing/2014/main" id="{0DBEAD8D-77A4-2920-7795-E68FCB1743B8}"/>
              </a:ext>
            </a:extLst>
          </p:cNvPr>
          <p:cNvSpPr/>
          <p:nvPr/>
        </p:nvSpPr>
        <p:spPr>
          <a:xfrm>
            <a:off x="7366000" y="2658221"/>
            <a:ext cx="832647" cy="45719"/>
          </a:xfrm>
          <a:prstGeom prst="rect">
            <a:avLst/>
          </a:prstGeom>
          <a:solidFill>
            <a:srgbClr val="D9DBE1"/>
          </a:solidFill>
          <a:ln>
            <a:noFill/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4" name="Rectángulo 73">
            <a:extLst>
              <a:ext uri="{FF2B5EF4-FFF2-40B4-BE49-F238E27FC236}">
                <a16:creationId xmlns:a16="http://schemas.microsoft.com/office/drawing/2014/main" id="{F8475851-5B25-2BF0-6358-00700B3E2DEA}"/>
              </a:ext>
            </a:extLst>
          </p:cNvPr>
          <p:cNvSpPr/>
          <p:nvPr/>
        </p:nvSpPr>
        <p:spPr>
          <a:xfrm>
            <a:off x="7366000" y="2902696"/>
            <a:ext cx="832647" cy="45719"/>
          </a:xfrm>
          <a:prstGeom prst="rect">
            <a:avLst/>
          </a:prstGeom>
          <a:solidFill>
            <a:srgbClr val="D9DBE1"/>
          </a:solidFill>
          <a:ln>
            <a:noFill/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5" name="Rectángulo 74">
            <a:extLst>
              <a:ext uri="{FF2B5EF4-FFF2-40B4-BE49-F238E27FC236}">
                <a16:creationId xmlns:a16="http://schemas.microsoft.com/office/drawing/2014/main" id="{E9D440D9-648E-5377-9DEF-05F3D0B51394}"/>
              </a:ext>
            </a:extLst>
          </p:cNvPr>
          <p:cNvSpPr/>
          <p:nvPr/>
        </p:nvSpPr>
        <p:spPr>
          <a:xfrm>
            <a:off x="7366000" y="3150346"/>
            <a:ext cx="832647" cy="45719"/>
          </a:xfrm>
          <a:prstGeom prst="rect">
            <a:avLst/>
          </a:prstGeom>
          <a:solidFill>
            <a:srgbClr val="D9DBE1"/>
          </a:solidFill>
          <a:ln>
            <a:noFill/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6" name="Elipse 75">
            <a:extLst>
              <a:ext uri="{FF2B5EF4-FFF2-40B4-BE49-F238E27FC236}">
                <a16:creationId xmlns:a16="http://schemas.microsoft.com/office/drawing/2014/main" id="{7C714EC2-CA30-D39A-05F3-AC0A5EAD6891}"/>
              </a:ext>
            </a:extLst>
          </p:cNvPr>
          <p:cNvSpPr/>
          <p:nvPr/>
        </p:nvSpPr>
        <p:spPr>
          <a:xfrm>
            <a:off x="7661649" y="3328057"/>
            <a:ext cx="235883" cy="23588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8" name="Rectángulo 77">
            <a:extLst>
              <a:ext uri="{FF2B5EF4-FFF2-40B4-BE49-F238E27FC236}">
                <a16:creationId xmlns:a16="http://schemas.microsoft.com/office/drawing/2014/main" id="{8A494F45-38D2-25E8-375D-9091A0EED83B}"/>
              </a:ext>
            </a:extLst>
          </p:cNvPr>
          <p:cNvSpPr/>
          <p:nvPr/>
        </p:nvSpPr>
        <p:spPr>
          <a:xfrm>
            <a:off x="4809378" y="3862521"/>
            <a:ext cx="157069" cy="649153"/>
          </a:xfrm>
          <a:prstGeom prst="rect">
            <a:avLst/>
          </a:prstGeom>
          <a:solidFill>
            <a:srgbClr val="5DBB99"/>
          </a:solidFill>
          <a:ln>
            <a:noFill/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9" name="Rectángulo 78">
            <a:extLst>
              <a:ext uri="{FF2B5EF4-FFF2-40B4-BE49-F238E27FC236}">
                <a16:creationId xmlns:a16="http://schemas.microsoft.com/office/drawing/2014/main" id="{5329A061-F623-27F3-EA0D-1B9FF7642B30}"/>
              </a:ext>
            </a:extLst>
          </p:cNvPr>
          <p:cNvSpPr/>
          <p:nvPr/>
        </p:nvSpPr>
        <p:spPr>
          <a:xfrm>
            <a:off x="4996703" y="3930650"/>
            <a:ext cx="157069" cy="581024"/>
          </a:xfrm>
          <a:prstGeom prst="rect">
            <a:avLst/>
          </a:prstGeom>
          <a:solidFill>
            <a:srgbClr val="5DBB99"/>
          </a:solidFill>
          <a:ln>
            <a:noFill/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80" name="Rectángulo 79">
            <a:extLst>
              <a:ext uri="{FF2B5EF4-FFF2-40B4-BE49-F238E27FC236}">
                <a16:creationId xmlns:a16="http://schemas.microsoft.com/office/drawing/2014/main" id="{1DD5B91E-8124-F2B2-C03F-8FC86CAA7AF6}"/>
              </a:ext>
            </a:extLst>
          </p:cNvPr>
          <p:cNvSpPr/>
          <p:nvPr/>
        </p:nvSpPr>
        <p:spPr>
          <a:xfrm>
            <a:off x="5187203" y="3966692"/>
            <a:ext cx="157069" cy="544982"/>
          </a:xfrm>
          <a:prstGeom prst="rect">
            <a:avLst/>
          </a:prstGeom>
          <a:solidFill>
            <a:srgbClr val="5DBB99"/>
          </a:solidFill>
          <a:ln>
            <a:noFill/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81" name="Rectángulo 80">
            <a:extLst>
              <a:ext uri="{FF2B5EF4-FFF2-40B4-BE49-F238E27FC236}">
                <a16:creationId xmlns:a16="http://schemas.microsoft.com/office/drawing/2014/main" id="{ABC5B241-D2B0-0084-E9E1-7FACE397D9BA}"/>
              </a:ext>
            </a:extLst>
          </p:cNvPr>
          <p:cNvSpPr/>
          <p:nvPr/>
        </p:nvSpPr>
        <p:spPr>
          <a:xfrm>
            <a:off x="5374528" y="3926493"/>
            <a:ext cx="157069" cy="585181"/>
          </a:xfrm>
          <a:prstGeom prst="rect">
            <a:avLst/>
          </a:prstGeom>
          <a:solidFill>
            <a:srgbClr val="5DBB99"/>
          </a:solidFill>
          <a:ln>
            <a:noFill/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82" name="Rectángulo 81">
            <a:extLst>
              <a:ext uri="{FF2B5EF4-FFF2-40B4-BE49-F238E27FC236}">
                <a16:creationId xmlns:a16="http://schemas.microsoft.com/office/drawing/2014/main" id="{AFACABC8-AF7B-B9E0-7985-96EC4AE0F995}"/>
              </a:ext>
            </a:extLst>
          </p:cNvPr>
          <p:cNvSpPr/>
          <p:nvPr/>
        </p:nvSpPr>
        <p:spPr>
          <a:xfrm>
            <a:off x="7180729" y="4286250"/>
            <a:ext cx="157069" cy="225424"/>
          </a:xfrm>
          <a:prstGeom prst="rect">
            <a:avLst/>
          </a:prstGeom>
          <a:solidFill>
            <a:srgbClr val="E96F6D"/>
          </a:solidFill>
          <a:ln>
            <a:noFill/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83" name="Rectángulo 82">
            <a:extLst>
              <a:ext uri="{FF2B5EF4-FFF2-40B4-BE49-F238E27FC236}">
                <a16:creationId xmlns:a16="http://schemas.microsoft.com/office/drawing/2014/main" id="{58D9F657-BE03-432F-9004-F3BBE5120CFA}"/>
              </a:ext>
            </a:extLst>
          </p:cNvPr>
          <p:cNvSpPr/>
          <p:nvPr/>
        </p:nvSpPr>
        <p:spPr>
          <a:xfrm>
            <a:off x="7364879" y="4249308"/>
            <a:ext cx="157069" cy="262366"/>
          </a:xfrm>
          <a:prstGeom prst="rect">
            <a:avLst/>
          </a:prstGeom>
          <a:solidFill>
            <a:srgbClr val="E96F6D"/>
          </a:solidFill>
          <a:ln>
            <a:noFill/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84" name="Rectángulo 83">
            <a:extLst>
              <a:ext uri="{FF2B5EF4-FFF2-40B4-BE49-F238E27FC236}">
                <a16:creationId xmlns:a16="http://schemas.microsoft.com/office/drawing/2014/main" id="{93D2543F-4CCE-C9ED-E54B-9C382C907A38}"/>
              </a:ext>
            </a:extLst>
          </p:cNvPr>
          <p:cNvSpPr/>
          <p:nvPr/>
        </p:nvSpPr>
        <p:spPr>
          <a:xfrm>
            <a:off x="7555379" y="4275790"/>
            <a:ext cx="157069" cy="235884"/>
          </a:xfrm>
          <a:prstGeom prst="rect">
            <a:avLst/>
          </a:prstGeom>
          <a:solidFill>
            <a:srgbClr val="E96F6D"/>
          </a:solidFill>
          <a:ln>
            <a:noFill/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85" name="Rectángulo 84">
            <a:extLst>
              <a:ext uri="{FF2B5EF4-FFF2-40B4-BE49-F238E27FC236}">
                <a16:creationId xmlns:a16="http://schemas.microsoft.com/office/drawing/2014/main" id="{9AEA625F-F85C-793F-FFBA-371325A64B67}"/>
              </a:ext>
            </a:extLst>
          </p:cNvPr>
          <p:cNvSpPr/>
          <p:nvPr/>
        </p:nvSpPr>
        <p:spPr>
          <a:xfrm>
            <a:off x="7733179" y="4275790"/>
            <a:ext cx="157069" cy="235884"/>
          </a:xfrm>
          <a:prstGeom prst="rect">
            <a:avLst/>
          </a:prstGeom>
          <a:solidFill>
            <a:srgbClr val="E96F6D"/>
          </a:solidFill>
          <a:ln>
            <a:noFill/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86" name="Rectángulo 85">
            <a:extLst>
              <a:ext uri="{FF2B5EF4-FFF2-40B4-BE49-F238E27FC236}">
                <a16:creationId xmlns:a16="http://schemas.microsoft.com/office/drawing/2014/main" id="{D36C4E06-9475-9075-785F-4233FA598F69}"/>
              </a:ext>
            </a:extLst>
          </p:cNvPr>
          <p:cNvSpPr/>
          <p:nvPr/>
        </p:nvSpPr>
        <p:spPr>
          <a:xfrm>
            <a:off x="5585012" y="4218827"/>
            <a:ext cx="446181" cy="56963"/>
          </a:xfrm>
          <a:prstGeom prst="rect">
            <a:avLst/>
          </a:prstGeom>
          <a:solidFill>
            <a:srgbClr val="D9DBE1"/>
          </a:solidFill>
          <a:ln>
            <a:noFill/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88" name="Rectángulo 87">
            <a:extLst>
              <a:ext uri="{FF2B5EF4-FFF2-40B4-BE49-F238E27FC236}">
                <a16:creationId xmlns:a16="http://schemas.microsoft.com/office/drawing/2014/main" id="{21E39FDE-130C-7824-3A2E-8EFF6BDD7203}"/>
              </a:ext>
            </a:extLst>
          </p:cNvPr>
          <p:cNvSpPr/>
          <p:nvPr/>
        </p:nvSpPr>
        <p:spPr>
          <a:xfrm>
            <a:off x="5676900" y="4310902"/>
            <a:ext cx="354293" cy="56963"/>
          </a:xfrm>
          <a:prstGeom prst="rect">
            <a:avLst/>
          </a:prstGeom>
          <a:solidFill>
            <a:srgbClr val="D9DBE1"/>
          </a:solidFill>
          <a:ln>
            <a:noFill/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89" name="Rectángulo 88">
            <a:extLst>
              <a:ext uri="{FF2B5EF4-FFF2-40B4-BE49-F238E27FC236}">
                <a16:creationId xmlns:a16="http://schemas.microsoft.com/office/drawing/2014/main" id="{EF108A18-CC3D-4C05-5835-B712EE02F157}"/>
              </a:ext>
            </a:extLst>
          </p:cNvPr>
          <p:cNvSpPr/>
          <p:nvPr/>
        </p:nvSpPr>
        <p:spPr>
          <a:xfrm>
            <a:off x="5752353" y="4402977"/>
            <a:ext cx="275665" cy="56963"/>
          </a:xfrm>
          <a:prstGeom prst="rect">
            <a:avLst/>
          </a:prstGeom>
          <a:solidFill>
            <a:srgbClr val="D9DBE1"/>
          </a:solidFill>
          <a:ln>
            <a:noFill/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0" name="Rectángulo 89">
            <a:extLst>
              <a:ext uri="{FF2B5EF4-FFF2-40B4-BE49-F238E27FC236}">
                <a16:creationId xmlns:a16="http://schemas.microsoft.com/office/drawing/2014/main" id="{D104DC64-7962-5413-E24B-DE272195FBA9}"/>
              </a:ext>
            </a:extLst>
          </p:cNvPr>
          <p:cNvSpPr/>
          <p:nvPr/>
        </p:nvSpPr>
        <p:spPr>
          <a:xfrm>
            <a:off x="7953562" y="4222002"/>
            <a:ext cx="446181" cy="56963"/>
          </a:xfrm>
          <a:prstGeom prst="rect">
            <a:avLst/>
          </a:prstGeom>
          <a:solidFill>
            <a:srgbClr val="D9DBE1"/>
          </a:solidFill>
          <a:ln>
            <a:noFill/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1" name="Rectángulo 90">
            <a:extLst>
              <a:ext uri="{FF2B5EF4-FFF2-40B4-BE49-F238E27FC236}">
                <a16:creationId xmlns:a16="http://schemas.microsoft.com/office/drawing/2014/main" id="{665E7B6A-1A7F-7BC1-80B0-6FFFBDD2467A}"/>
              </a:ext>
            </a:extLst>
          </p:cNvPr>
          <p:cNvSpPr/>
          <p:nvPr/>
        </p:nvSpPr>
        <p:spPr>
          <a:xfrm>
            <a:off x="8045450" y="4314077"/>
            <a:ext cx="354293" cy="56963"/>
          </a:xfrm>
          <a:prstGeom prst="rect">
            <a:avLst/>
          </a:prstGeom>
          <a:solidFill>
            <a:srgbClr val="D9DBE1"/>
          </a:solidFill>
          <a:ln>
            <a:noFill/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2" name="Rectángulo 91">
            <a:extLst>
              <a:ext uri="{FF2B5EF4-FFF2-40B4-BE49-F238E27FC236}">
                <a16:creationId xmlns:a16="http://schemas.microsoft.com/office/drawing/2014/main" id="{F185788D-59D2-F5E5-5C82-7283FC05696A}"/>
              </a:ext>
            </a:extLst>
          </p:cNvPr>
          <p:cNvSpPr/>
          <p:nvPr/>
        </p:nvSpPr>
        <p:spPr>
          <a:xfrm>
            <a:off x="8120903" y="4406152"/>
            <a:ext cx="275665" cy="56963"/>
          </a:xfrm>
          <a:prstGeom prst="rect">
            <a:avLst/>
          </a:prstGeom>
          <a:solidFill>
            <a:srgbClr val="D9DBE1"/>
          </a:solidFill>
          <a:ln>
            <a:noFill/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94" name="Imagen 93">
            <a:extLst>
              <a:ext uri="{FF2B5EF4-FFF2-40B4-BE49-F238E27FC236}">
                <a16:creationId xmlns:a16="http://schemas.microsoft.com/office/drawing/2014/main" id="{4585FA00-1676-3A7C-EFB2-C0F59472817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8419" t="12194" r="11989" b="59842"/>
          <a:stretch/>
        </p:blipFill>
        <p:spPr>
          <a:xfrm>
            <a:off x="5047884" y="1096239"/>
            <a:ext cx="296388" cy="280073"/>
          </a:xfrm>
          <a:prstGeom prst="rect">
            <a:avLst/>
          </a:prstGeom>
        </p:spPr>
      </p:pic>
      <p:pic>
        <p:nvPicPr>
          <p:cNvPr id="95" name="Imagen 94">
            <a:extLst>
              <a:ext uri="{FF2B5EF4-FFF2-40B4-BE49-F238E27FC236}">
                <a16:creationId xmlns:a16="http://schemas.microsoft.com/office/drawing/2014/main" id="{9D571FF0-D7F4-688D-73AE-C0A54775254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622" t="61612" r="61536" b="15718"/>
          <a:stretch/>
        </p:blipFill>
        <p:spPr>
          <a:xfrm>
            <a:off x="7430281" y="1102370"/>
            <a:ext cx="332368" cy="303308"/>
          </a:xfrm>
          <a:prstGeom prst="rect">
            <a:avLst/>
          </a:prstGeom>
        </p:spPr>
      </p:pic>
      <p:sp>
        <p:nvSpPr>
          <p:cNvPr id="97" name="CuadroTexto 96">
            <a:extLst>
              <a:ext uri="{FF2B5EF4-FFF2-40B4-BE49-F238E27FC236}">
                <a16:creationId xmlns:a16="http://schemas.microsoft.com/office/drawing/2014/main" id="{A05B9D00-338D-4571-C16A-A92E9ACF58AC}"/>
              </a:ext>
            </a:extLst>
          </p:cNvPr>
          <p:cNvSpPr txBox="1"/>
          <p:nvPr/>
        </p:nvSpPr>
        <p:spPr>
          <a:xfrm>
            <a:off x="7674847" y="956864"/>
            <a:ext cx="55742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200" b="1" kern="100" dirty="0">
                <a:solidFill>
                  <a:srgbClr val="C72B2C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endParaRPr lang="es-PE" sz="3200" b="1" dirty="0">
              <a:solidFill>
                <a:srgbClr val="C72B2C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8" name="CuadroTexto 97">
            <a:extLst>
              <a:ext uri="{FF2B5EF4-FFF2-40B4-BE49-F238E27FC236}">
                <a16:creationId xmlns:a16="http://schemas.microsoft.com/office/drawing/2014/main" id="{7D1A5CB8-5000-2B0E-A8D9-6AF7D0F2B98F}"/>
              </a:ext>
            </a:extLst>
          </p:cNvPr>
          <p:cNvSpPr txBox="1"/>
          <p:nvPr/>
        </p:nvSpPr>
        <p:spPr>
          <a:xfrm>
            <a:off x="6127376" y="2119281"/>
            <a:ext cx="9264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VS.</a:t>
            </a:r>
            <a:endParaRPr lang="es-PE" sz="3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9" name="CuadroTexto 98">
            <a:extLst>
              <a:ext uri="{FF2B5EF4-FFF2-40B4-BE49-F238E27FC236}">
                <a16:creationId xmlns:a16="http://schemas.microsoft.com/office/drawing/2014/main" id="{C8A5FDC6-6CB4-E94B-99F2-D06F45910BB1}"/>
              </a:ext>
            </a:extLst>
          </p:cNvPr>
          <p:cNvSpPr txBox="1"/>
          <p:nvPr/>
        </p:nvSpPr>
        <p:spPr>
          <a:xfrm>
            <a:off x="5452886" y="3768106"/>
            <a:ext cx="75074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kern="100" dirty="0">
                <a:latin typeface="Calibri" panose="020F0502020204030204" pitchFamily="34" charset="0"/>
                <a:cs typeface="Calibri" panose="020F0502020204030204" pitchFamily="34" charset="0"/>
              </a:rPr>
              <a:t>25%</a:t>
            </a:r>
          </a:p>
          <a:p>
            <a:pPr algn="ctr"/>
            <a:r>
              <a:rPr lang="es-ES" sz="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Conversion</a:t>
            </a:r>
            <a:endParaRPr lang="es-ES" sz="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s-P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0" name="CuadroTexto 99">
            <a:extLst>
              <a:ext uri="{FF2B5EF4-FFF2-40B4-BE49-F238E27FC236}">
                <a16:creationId xmlns:a16="http://schemas.microsoft.com/office/drawing/2014/main" id="{81CE1A46-886A-A682-C13F-44B717175629}"/>
              </a:ext>
            </a:extLst>
          </p:cNvPr>
          <p:cNvSpPr txBox="1"/>
          <p:nvPr/>
        </p:nvSpPr>
        <p:spPr>
          <a:xfrm>
            <a:off x="5271424" y="956864"/>
            <a:ext cx="55742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200" b="1" kern="100" dirty="0">
                <a:solidFill>
                  <a:srgbClr val="44AA5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s-PE" sz="3200" b="1" dirty="0">
              <a:solidFill>
                <a:srgbClr val="44AA56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1" name="CuadroTexto 100">
            <a:extLst>
              <a:ext uri="{FF2B5EF4-FFF2-40B4-BE49-F238E27FC236}">
                <a16:creationId xmlns:a16="http://schemas.microsoft.com/office/drawing/2014/main" id="{DFAF02E4-2921-D7A8-A17E-E95FF05F1D20}"/>
              </a:ext>
            </a:extLst>
          </p:cNvPr>
          <p:cNvSpPr txBox="1"/>
          <p:nvPr/>
        </p:nvSpPr>
        <p:spPr>
          <a:xfrm>
            <a:off x="7811713" y="3768106"/>
            <a:ext cx="75074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kern="100" dirty="0">
                <a:latin typeface="Calibri" panose="020F0502020204030204" pitchFamily="34" charset="0"/>
                <a:cs typeface="Calibri" panose="020F0502020204030204" pitchFamily="34" charset="0"/>
              </a:rPr>
              <a:t>5%</a:t>
            </a:r>
          </a:p>
          <a:p>
            <a:pPr algn="ctr"/>
            <a:r>
              <a:rPr lang="es-ES" sz="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Conversion</a:t>
            </a:r>
            <a:endParaRPr lang="es-ES" sz="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s-P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04" name="Conector recto 103">
            <a:extLst>
              <a:ext uri="{FF2B5EF4-FFF2-40B4-BE49-F238E27FC236}">
                <a16:creationId xmlns:a16="http://schemas.microsoft.com/office/drawing/2014/main" id="{125C5CDF-B97F-ECB6-6E9B-73F19C7B90F9}"/>
              </a:ext>
            </a:extLst>
          </p:cNvPr>
          <p:cNvCxnSpPr>
            <a:cxnSpLocks/>
          </p:cNvCxnSpPr>
          <p:nvPr/>
        </p:nvCxnSpPr>
        <p:spPr>
          <a:xfrm flipV="1">
            <a:off x="4778830" y="4505388"/>
            <a:ext cx="1273169" cy="8955"/>
          </a:xfrm>
          <a:prstGeom prst="line">
            <a:avLst/>
          </a:prstGeom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ector recto 104">
            <a:extLst>
              <a:ext uri="{FF2B5EF4-FFF2-40B4-BE49-F238E27FC236}">
                <a16:creationId xmlns:a16="http://schemas.microsoft.com/office/drawing/2014/main" id="{FFB15B88-7522-8BCD-AF12-E1D56CD5F611}"/>
              </a:ext>
            </a:extLst>
          </p:cNvPr>
          <p:cNvCxnSpPr>
            <a:cxnSpLocks/>
          </p:cNvCxnSpPr>
          <p:nvPr/>
        </p:nvCxnSpPr>
        <p:spPr>
          <a:xfrm flipV="1">
            <a:off x="4775240" y="3804295"/>
            <a:ext cx="0" cy="71004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recto 106">
            <a:extLst>
              <a:ext uri="{FF2B5EF4-FFF2-40B4-BE49-F238E27FC236}">
                <a16:creationId xmlns:a16="http://schemas.microsoft.com/office/drawing/2014/main" id="{AFF6C4E3-04E8-879F-8015-249E2F25DE9D}"/>
              </a:ext>
            </a:extLst>
          </p:cNvPr>
          <p:cNvCxnSpPr>
            <a:cxnSpLocks/>
          </p:cNvCxnSpPr>
          <p:nvPr/>
        </p:nvCxnSpPr>
        <p:spPr>
          <a:xfrm flipV="1">
            <a:off x="7150402" y="4505388"/>
            <a:ext cx="1273169" cy="8955"/>
          </a:xfrm>
          <a:prstGeom prst="line">
            <a:avLst/>
          </a:prstGeom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ector recto 107">
            <a:extLst>
              <a:ext uri="{FF2B5EF4-FFF2-40B4-BE49-F238E27FC236}">
                <a16:creationId xmlns:a16="http://schemas.microsoft.com/office/drawing/2014/main" id="{6380F999-3E90-C446-400D-C064F57D4E6E}"/>
              </a:ext>
            </a:extLst>
          </p:cNvPr>
          <p:cNvCxnSpPr>
            <a:cxnSpLocks/>
          </p:cNvCxnSpPr>
          <p:nvPr/>
        </p:nvCxnSpPr>
        <p:spPr>
          <a:xfrm flipV="1">
            <a:off x="7146812" y="3804295"/>
            <a:ext cx="0" cy="71004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40776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74;p10">
            <a:extLst>
              <a:ext uri="{FF2B5EF4-FFF2-40B4-BE49-F238E27FC236}">
                <a16:creationId xmlns:a16="http://schemas.microsoft.com/office/drawing/2014/main" id="{5461B77C-10CD-2DC3-9379-4BF89E1EE96F}"/>
              </a:ext>
            </a:extLst>
          </p:cNvPr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75;p10">
            <a:extLst>
              <a:ext uri="{FF2B5EF4-FFF2-40B4-BE49-F238E27FC236}">
                <a16:creationId xmlns:a16="http://schemas.microsoft.com/office/drawing/2014/main" id="{1269FE31-C2E3-D212-9617-2CEB274141A5}"/>
              </a:ext>
            </a:extLst>
          </p:cNvPr>
          <p:cNvSpPr txBox="1"/>
          <p:nvPr/>
        </p:nvSpPr>
        <p:spPr>
          <a:xfrm>
            <a:off x="1008063" y="3157860"/>
            <a:ext cx="5993558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es-PE" sz="2800" dirty="0">
                <a:solidFill>
                  <a:schemeClr val="lt1"/>
                </a:solidFill>
                <a:latin typeface="Graphik Regular" panose="020B0503030202060203" pitchFamily="34" charset="77"/>
              </a:rPr>
              <a:t>IMPLEMENTACIÓN</a:t>
            </a:r>
            <a:r>
              <a:rPr lang="es-PE" sz="2800" b="1" dirty="0">
                <a:solidFill>
                  <a:schemeClr val="lt1"/>
                </a:solidFill>
                <a:latin typeface="Graphik Bold" panose="020B0503030202060203" pitchFamily="34" charset="77"/>
              </a:rPr>
              <a:t> </a:t>
            </a:r>
            <a:r>
              <a:rPr lang="es-PE" sz="2800" dirty="0">
                <a:solidFill>
                  <a:schemeClr val="lt1"/>
                </a:solidFill>
                <a:latin typeface="Graphik Regular" panose="020B0503030202060203" pitchFamily="34" charset="77"/>
              </a:rPr>
              <a:t>DE MODELOS </a:t>
            </a:r>
          </a:p>
          <a:p>
            <a:pPr>
              <a:lnSpc>
                <a:spcPct val="90000"/>
              </a:lnSpc>
              <a:defRPr/>
            </a:pPr>
            <a:r>
              <a:rPr lang="es-PE" sz="2800" b="1" dirty="0">
                <a:solidFill>
                  <a:schemeClr val="lt1"/>
                </a:solidFill>
                <a:latin typeface="Graphik Bold" panose="020B0503030202060203" pitchFamily="34" charset="77"/>
              </a:rPr>
              <a:t>DE MINERÍA DE DATOS</a:t>
            </a:r>
            <a:endParaRPr lang="es-ES" sz="2800" b="1" dirty="0">
              <a:solidFill>
                <a:schemeClr val="lt1"/>
              </a:solidFill>
              <a:latin typeface="Graphik Bold" panose="020B0503030202060203" pitchFamily="34" charset="77"/>
            </a:endParaRPr>
          </a:p>
        </p:txBody>
      </p:sp>
      <p:pic>
        <p:nvPicPr>
          <p:cNvPr id="5" name="Google Shape;176;p10">
            <a:extLst>
              <a:ext uri="{FF2B5EF4-FFF2-40B4-BE49-F238E27FC236}">
                <a16:creationId xmlns:a16="http://schemas.microsoft.com/office/drawing/2014/main" id="{1DC092B1-3C74-B135-0BC9-A879F7BCABF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8063" y="2857500"/>
            <a:ext cx="195423" cy="201256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684097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503238" y="912813"/>
            <a:ext cx="8172450" cy="28918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just">
              <a:lnSpc>
                <a:spcPct val="115000"/>
              </a:lnSpc>
              <a:spcAft>
                <a:spcPts val="600"/>
              </a:spcAft>
            </a:pPr>
            <a:r>
              <a:rPr lang="es-PE" sz="1600" b="1" dirty="0">
                <a:ea typeface="Calibri" panose="020F0502020204030204" pitchFamily="34" charset="0"/>
                <a:cs typeface="Times New Roman" panose="02020603050405020304" pitchFamily="18" charset="0"/>
              </a:rPr>
              <a:t>PASOS A SEGUIR</a:t>
            </a:r>
            <a:endParaRPr lang="es-PE" sz="16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77800" indent="-177800" algn="just">
              <a:lnSpc>
                <a:spcPct val="115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PE" sz="1600" dirty="0">
                <a:ea typeface="Calibri" panose="020F0502020204030204" pitchFamily="34" charset="0"/>
                <a:cs typeface="Times New Roman" panose="02020603050405020304" pitchFamily="18" charset="0"/>
              </a:rPr>
              <a:t>Definir la muestra de datos a utilizar.</a:t>
            </a:r>
          </a:p>
          <a:p>
            <a:pPr marL="177800" indent="-177800" algn="just">
              <a:lnSpc>
                <a:spcPct val="115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PE" sz="1600" dirty="0">
                <a:ea typeface="Calibri" panose="020F0502020204030204" pitchFamily="34" charset="0"/>
                <a:cs typeface="Times New Roman" panose="02020603050405020304" pitchFamily="18" charset="0"/>
              </a:rPr>
              <a:t>Identificar los datos incorrectos y eliminarlos/corregirlos.</a:t>
            </a:r>
          </a:p>
          <a:p>
            <a:pPr marL="177800" indent="-177800" algn="just">
              <a:lnSpc>
                <a:spcPct val="115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PE" sz="1600" dirty="0">
                <a:ea typeface="Calibri" panose="020F0502020204030204" pitchFamily="34" charset="0"/>
                <a:cs typeface="Times New Roman" panose="02020603050405020304" pitchFamily="18" charset="0"/>
              </a:rPr>
              <a:t>Identificar los datos que faltan y eliminarlos/añadirlos.</a:t>
            </a:r>
          </a:p>
          <a:p>
            <a:pPr marL="177800" indent="-177800" algn="just">
              <a:lnSpc>
                <a:spcPct val="115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PE" sz="1600" dirty="0">
                <a:ea typeface="Calibri" panose="020F0502020204030204" pitchFamily="34" charset="0"/>
                <a:cs typeface="Times New Roman" panose="02020603050405020304" pitchFamily="18" charset="0"/>
              </a:rPr>
              <a:t>Definir el conjunto de datos de entrenamiento y el conjunto de datos de prueba.</a:t>
            </a:r>
          </a:p>
          <a:p>
            <a:pPr marL="177800" indent="-177800" algn="just">
              <a:lnSpc>
                <a:spcPct val="115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PE" sz="1600" dirty="0">
                <a:ea typeface="Calibri" panose="020F0502020204030204" pitchFamily="34" charset="0"/>
                <a:cs typeface="Times New Roman" panose="02020603050405020304" pitchFamily="18" charset="0"/>
              </a:rPr>
              <a:t>Seleccionar el algoritmo a utilizar.</a:t>
            </a:r>
          </a:p>
          <a:p>
            <a:pPr marL="177800" indent="-177800" algn="just">
              <a:lnSpc>
                <a:spcPct val="115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PE" sz="1600" dirty="0">
                <a:ea typeface="Calibri" panose="020F0502020204030204" pitchFamily="34" charset="0"/>
                <a:cs typeface="Times New Roman" panose="02020603050405020304" pitchFamily="18" charset="0"/>
              </a:rPr>
              <a:t>Entrenar el modelo.</a:t>
            </a:r>
          </a:p>
          <a:p>
            <a:pPr marL="177800" indent="-177800" algn="just">
              <a:lnSpc>
                <a:spcPct val="115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PE" sz="1600" dirty="0">
                <a:ea typeface="Calibri" panose="020F0502020204030204" pitchFamily="34" charset="0"/>
                <a:cs typeface="Times New Roman" panose="02020603050405020304" pitchFamily="18" charset="0"/>
              </a:rPr>
              <a:t>Probar el modelo.</a:t>
            </a:r>
          </a:p>
          <a:p>
            <a:pPr marL="177800" indent="-177800" algn="just">
              <a:lnSpc>
                <a:spcPct val="115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PE" sz="1600" dirty="0">
                <a:ea typeface="Calibri" panose="020F0502020204030204" pitchFamily="34" charset="0"/>
                <a:cs typeface="Times New Roman" panose="02020603050405020304" pitchFamily="18" charset="0"/>
              </a:rPr>
              <a:t>Validar el modelo.</a:t>
            </a:r>
          </a:p>
          <a:p>
            <a:pPr marL="177800" indent="-177800" algn="just">
              <a:lnSpc>
                <a:spcPct val="115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PE" sz="1600" dirty="0">
                <a:ea typeface="Calibri" panose="020F0502020204030204" pitchFamily="34" charset="0"/>
                <a:cs typeface="Times New Roman" panose="02020603050405020304" pitchFamily="18" charset="0"/>
              </a:rPr>
              <a:t>Aplicar el modelo al conjunto de datos a predecir (datos nuevos).</a:t>
            </a:r>
          </a:p>
        </p:txBody>
      </p:sp>
      <p:sp>
        <p:nvSpPr>
          <p:cNvPr id="2" name="Google Shape;127;p5">
            <a:extLst>
              <a:ext uri="{FF2B5EF4-FFF2-40B4-BE49-F238E27FC236}">
                <a16:creationId xmlns:a16="http://schemas.microsoft.com/office/drawing/2014/main" id="{3042F212-14CD-8F5B-14AF-85BCDB7E0EC8}"/>
              </a:ext>
            </a:extLst>
          </p:cNvPr>
          <p:cNvSpPr/>
          <p:nvPr/>
        </p:nvSpPr>
        <p:spPr>
          <a:xfrm>
            <a:off x="503238" y="376836"/>
            <a:ext cx="4401784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n-US" sz="1000" dirty="0">
                <a:solidFill>
                  <a:srgbClr val="A5A5A5"/>
                </a:solidFill>
                <a:latin typeface="Calibri"/>
                <a:cs typeface="Calibri"/>
              </a:rPr>
              <a:t>IMPLEMENTACIÓN DE MODELOS DE MINERÍA DE DATOS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54706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503238" y="912813"/>
            <a:ext cx="8172450" cy="8754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just">
              <a:lnSpc>
                <a:spcPct val="115000"/>
              </a:lnSpc>
              <a:spcAft>
                <a:spcPts val="600"/>
              </a:spcAft>
            </a:pPr>
            <a:r>
              <a:rPr lang="es-PE" sz="1600" b="1" dirty="0">
                <a:ea typeface="Calibri" panose="020F0502020204030204" pitchFamily="34" charset="0"/>
                <a:cs typeface="Times New Roman" panose="02020603050405020304" pitchFamily="18" charset="0"/>
              </a:rPr>
              <a:t>USANDO SQL SERVER</a:t>
            </a:r>
          </a:p>
          <a:p>
            <a:pPr marL="285750" indent="-285750" algn="just">
              <a:lnSpc>
                <a:spcPct val="115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PE" sz="1500" dirty="0">
                <a:ea typeface="Calibri" panose="020F0502020204030204" pitchFamily="34" charset="0"/>
                <a:cs typeface="Times New Roman" panose="02020603050405020304" pitchFamily="18" charset="0"/>
              </a:rPr>
              <a:t>Para desarrollar minería de datos usando </a:t>
            </a:r>
            <a:r>
              <a:rPr lang="es-PE" sz="1500" b="1" dirty="0">
                <a:ea typeface="Calibri" panose="020F0502020204030204" pitchFamily="34" charset="0"/>
                <a:cs typeface="Times New Roman" panose="02020603050405020304" pitchFamily="18" charset="0"/>
              </a:rPr>
              <a:t>SQL Server Analysis Services (SSAS) </a:t>
            </a:r>
            <a:r>
              <a:rPr lang="es-PE" sz="1500" dirty="0">
                <a:ea typeface="Calibri" panose="020F0502020204030204" pitchFamily="34" charset="0"/>
                <a:cs typeface="Times New Roman" panose="02020603050405020304" pitchFamily="18" charset="0"/>
              </a:rPr>
              <a:t>debemos contar una instancia de SSAS versión </a:t>
            </a:r>
            <a:r>
              <a:rPr lang="es-PE" sz="1500" b="1" dirty="0">
                <a:ea typeface="Calibri" panose="020F0502020204030204" pitchFamily="34" charset="0"/>
                <a:cs typeface="Times New Roman" panose="02020603050405020304" pitchFamily="18" charset="0"/>
              </a:rPr>
              <a:t>2019</a:t>
            </a:r>
            <a:r>
              <a:rPr lang="es-PE" sz="1500" dirty="0">
                <a:ea typeface="Calibri" panose="020F0502020204030204" pitchFamily="34" charset="0"/>
                <a:cs typeface="Times New Roman" panose="02020603050405020304" pitchFamily="18" charset="0"/>
              </a:rPr>
              <a:t> o anteriores.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F88291C-1EAB-1098-E1FC-CF1DB435AE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0068" y="1971824"/>
            <a:ext cx="5054632" cy="3170682"/>
          </a:xfrm>
          <a:prstGeom prst="rect">
            <a:avLst/>
          </a:prstGeom>
          <a:ln>
            <a:noFill/>
          </a:ln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ED3CA182-938B-7BAC-D4B0-99B6EFCCD8BB}"/>
              </a:ext>
            </a:extLst>
          </p:cNvPr>
          <p:cNvSpPr/>
          <p:nvPr/>
        </p:nvSpPr>
        <p:spPr>
          <a:xfrm>
            <a:off x="2819400" y="3695700"/>
            <a:ext cx="1508760" cy="304800"/>
          </a:xfrm>
          <a:prstGeom prst="rect">
            <a:avLst/>
          </a:prstGeom>
          <a:noFill/>
          <a:ln w="31750">
            <a:solidFill>
              <a:srgbClr val="EE4639"/>
            </a:solidFill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Google Shape;127;p5">
            <a:extLst>
              <a:ext uri="{FF2B5EF4-FFF2-40B4-BE49-F238E27FC236}">
                <a16:creationId xmlns:a16="http://schemas.microsoft.com/office/drawing/2014/main" id="{B7BD2623-B293-781D-F1A3-74A7F11ED547}"/>
              </a:ext>
            </a:extLst>
          </p:cNvPr>
          <p:cNvSpPr/>
          <p:nvPr/>
        </p:nvSpPr>
        <p:spPr>
          <a:xfrm>
            <a:off x="503238" y="376836"/>
            <a:ext cx="4401784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n-US" sz="1000" dirty="0">
                <a:solidFill>
                  <a:srgbClr val="A5A5A5"/>
                </a:solidFill>
                <a:latin typeface="Calibri"/>
                <a:cs typeface="Calibri"/>
              </a:rPr>
              <a:t>IMPLEMENTACIÓN DE MODELOS DE MINERÍA DE DATOS</a:t>
            </a:r>
            <a:endParaRPr dirty="0"/>
          </a:p>
        </p:txBody>
      </p:sp>
      <p:cxnSp>
        <p:nvCxnSpPr>
          <p:cNvPr id="3" name="Google Shape;957;p54">
            <a:extLst>
              <a:ext uri="{FF2B5EF4-FFF2-40B4-BE49-F238E27FC236}">
                <a16:creationId xmlns:a16="http://schemas.microsoft.com/office/drawing/2014/main" id="{3A5A85C5-98BE-1A53-6607-2B8B6426C7A7}"/>
              </a:ext>
            </a:extLst>
          </p:cNvPr>
          <p:cNvCxnSpPr>
            <a:cxnSpLocks/>
          </p:cNvCxnSpPr>
          <p:nvPr/>
        </p:nvCxnSpPr>
        <p:spPr>
          <a:xfrm flipH="1">
            <a:off x="4392613" y="3339101"/>
            <a:ext cx="1103724" cy="356599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0" name="Rectángulo redondeado 9">
            <a:extLst>
              <a:ext uri="{FF2B5EF4-FFF2-40B4-BE49-F238E27FC236}">
                <a16:creationId xmlns:a16="http://schemas.microsoft.com/office/drawing/2014/main" id="{57B2964E-0982-99B3-14B6-7D08C2240C60}"/>
              </a:ext>
            </a:extLst>
          </p:cNvPr>
          <p:cNvSpPr/>
          <p:nvPr/>
        </p:nvSpPr>
        <p:spPr>
          <a:xfrm>
            <a:off x="5571309" y="2857500"/>
            <a:ext cx="1998071" cy="1187631"/>
          </a:xfrm>
          <a:prstGeom prst="roundRect">
            <a:avLst>
              <a:gd name="adj" fmla="val 10068"/>
            </a:avLst>
          </a:prstGeom>
          <a:solidFill>
            <a:srgbClr val="EE4639"/>
          </a:solidFill>
          <a:ln>
            <a:noFill/>
          </a:ln>
          <a:effectLst>
            <a:outerShdw dist="1949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2D00E17-B2E9-E542-B1AD-9554D393C23F}"/>
              </a:ext>
            </a:extLst>
          </p:cNvPr>
          <p:cNvSpPr txBox="1"/>
          <p:nvPr/>
        </p:nvSpPr>
        <p:spPr>
          <a:xfrm>
            <a:off x="5618522" y="2974261"/>
            <a:ext cx="190364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Una vez entrenado y validado el modelo, lo aplicamos sobre la data a predecir.</a:t>
            </a:r>
          </a:p>
        </p:txBody>
      </p:sp>
    </p:spTree>
    <p:extLst>
      <p:ext uri="{BB962C8B-B14F-4D97-AF65-F5344CB8AC3E}">
        <p14:creationId xmlns:p14="http://schemas.microsoft.com/office/powerpoint/2010/main" val="25077805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503237" y="912813"/>
            <a:ext cx="3889375" cy="1983428"/>
          </a:xfrm>
          <a:prstGeom prst="rect">
            <a:avLst/>
          </a:prstGeom>
        </p:spPr>
        <p:txBody>
          <a:bodyPr wrap="square" lIns="0" tIns="0" rIns="0">
            <a:spAutoFit/>
          </a:bodyPr>
          <a:lstStyle/>
          <a:p>
            <a:pPr algn="just">
              <a:lnSpc>
                <a:spcPct val="115000"/>
              </a:lnSpc>
              <a:spcAft>
                <a:spcPts val="600"/>
              </a:spcAft>
            </a:pPr>
            <a:r>
              <a:rPr lang="es-PE" sz="1600" b="1" dirty="0">
                <a:ea typeface="Calibri" panose="020F0502020204030204" pitchFamily="34" charset="0"/>
                <a:cs typeface="Times New Roman" panose="02020603050405020304" pitchFamily="18" charset="0"/>
              </a:rPr>
              <a:t>USANDO PYTHON</a:t>
            </a:r>
            <a:endParaRPr lang="es-PE" sz="1500" b="1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80975" indent="-180975" algn="just">
              <a:lnSpc>
                <a:spcPct val="115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PE" sz="1500" dirty="0">
                <a:ea typeface="Calibri" panose="020F0502020204030204" pitchFamily="34" charset="0"/>
                <a:cs typeface="Times New Roman" panose="02020603050405020304" pitchFamily="18" charset="0"/>
              </a:rPr>
              <a:t>Crear el modelo.</a:t>
            </a:r>
          </a:p>
          <a:p>
            <a:pPr marL="180975" indent="-180975" algn="just">
              <a:lnSpc>
                <a:spcPct val="115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PE" sz="1500" dirty="0">
                <a:ea typeface="Calibri" panose="020F0502020204030204" pitchFamily="34" charset="0"/>
                <a:cs typeface="Times New Roman" panose="02020603050405020304" pitchFamily="18" charset="0"/>
              </a:rPr>
              <a:t>Entrenar el modelo.</a:t>
            </a:r>
          </a:p>
          <a:p>
            <a:pPr marL="180975" indent="-180975" algn="just">
              <a:lnSpc>
                <a:spcPct val="115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PE" sz="1500" dirty="0">
                <a:ea typeface="Calibri" panose="020F0502020204030204" pitchFamily="34" charset="0"/>
                <a:cs typeface="Times New Roman" panose="02020603050405020304" pitchFamily="18" charset="0"/>
              </a:rPr>
              <a:t>Probar y validar el modelo.</a:t>
            </a:r>
          </a:p>
          <a:p>
            <a:pPr marL="180975" indent="-180975" algn="just">
              <a:lnSpc>
                <a:spcPct val="115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PE" sz="1500" dirty="0">
                <a:ea typeface="Calibri" panose="020F0502020204030204" pitchFamily="34" charset="0"/>
                <a:cs typeface="Times New Roman" panose="02020603050405020304" pitchFamily="18" charset="0"/>
              </a:rPr>
              <a:t>Guardar el modelo en el disco.</a:t>
            </a:r>
          </a:p>
          <a:p>
            <a:pPr marL="180975" indent="-180975" algn="just">
              <a:lnSpc>
                <a:spcPct val="115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PE" sz="1500" dirty="0">
                <a:ea typeface="Calibri" panose="020F0502020204030204" pitchFamily="34" charset="0"/>
                <a:cs typeface="Times New Roman" panose="02020603050405020304" pitchFamily="18" charset="0"/>
              </a:rPr>
              <a:t>Cargar el modelo desde el disco.</a:t>
            </a:r>
          </a:p>
          <a:p>
            <a:pPr marL="180975" indent="-180975" algn="just">
              <a:lnSpc>
                <a:spcPct val="115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PE" sz="1500" dirty="0">
                <a:ea typeface="Calibri" panose="020F0502020204030204" pitchFamily="34" charset="0"/>
                <a:cs typeface="Times New Roman" panose="02020603050405020304" pitchFamily="18" charset="0"/>
              </a:rPr>
              <a:t>Aplicar el modelo sobre la data a predecir.</a:t>
            </a:r>
          </a:p>
        </p:txBody>
      </p:sp>
      <p:sp>
        <p:nvSpPr>
          <p:cNvPr id="2" name="Google Shape;127;p5">
            <a:extLst>
              <a:ext uri="{FF2B5EF4-FFF2-40B4-BE49-F238E27FC236}">
                <a16:creationId xmlns:a16="http://schemas.microsoft.com/office/drawing/2014/main" id="{FA0C3E9F-A0E6-7E4B-D99B-076E529D4006}"/>
              </a:ext>
            </a:extLst>
          </p:cNvPr>
          <p:cNvSpPr/>
          <p:nvPr/>
        </p:nvSpPr>
        <p:spPr>
          <a:xfrm>
            <a:off x="503238" y="376836"/>
            <a:ext cx="4401784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n-US" sz="1000" dirty="0">
                <a:solidFill>
                  <a:srgbClr val="A5A5A5"/>
                </a:solidFill>
                <a:latin typeface="Calibri"/>
                <a:cs typeface="Calibri"/>
              </a:rPr>
              <a:t>IMPLEMENTACIÓN DE MODELOS DE MINERÍA DE DATOS</a:t>
            </a:r>
            <a:endParaRPr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631BDBB-7BED-497E-0412-91454CF2A676}"/>
              </a:ext>
            </a:extLst>
          </p:cNvPr>
          <p:cNvSpPr/>
          <p:nvPr/>
        </p:nvSpPr>
        <p:spPr>
          <a:xfrm>
            <a:off x="4392612" y="0"/>
            <a:ext cx="4751388" cy="5715000"/>
          </a:xfrm>
          <a:prstGeom prst="rect">
            <a:avLst/>
          </a:prstGeom>
          <a:solidFill>
            <a:srgbClr val="D9DBE1"/>
          </a:solidFill>
          <a:ln>
            <a:noFill/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EE9440E-AA4F-135C-F279-9B7C0DED3266}"/>
              </a:ext>
            </a:extLst>
          </p:cNvPr>
          <p:cNvSpPr/>
          <p:nvPr/>
        </p:nvSpPr>
        <p:spPr>
          <a:xfrm>
            <a:off x="4606927" y="470266"/>
            <a:ext cx="4235184" cy="476372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B285912-9BFC-96DF-1A5B-1E9DFC2C5696}"/>
              </a:ext>
            </a:extLst>
          </p:cNvPr>
          <p:cNvSpPr txBox="1"/>
          <p:nvPr/>
        </p:nvSpPr>
        <p:spPr>
          <a:xfrm>
            <a:off x="4733925" y="660668"/>
            <a:ext cx="4068762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def</a:t>
            </a:r>
            <a:r>
              <a:rPr lang="en-US" sz="7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7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check_size_of_boots</a:t>
            </a:r>
            <a:r>
              <a:rPr lang="en-US" sz="7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7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selected_harness_size</a:t>
            </a:r>
            <a:r>
              <a:rPr lang="en-US" sz="7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7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selected_boot_size</a:t>
            </a:r>
            <a:r>
              <a:rPr lang="en-US" sz="7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):</a:t>
            </a:r>
          </a:p>
          <a:p>
            <a:r>
              <a:rPr lang="en-US" sz="7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7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'''</a:t>
            </a:r>
            <a:endParaRPr lang="en-US" sz="7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7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Calculates whether the customer has chosen a pair of doggy boots that </a:t>
            </a:r>
            <a:endParaRPr lang="en-US" sz="7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7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are a sensible size. This works by estimating the dog's actual boot </a:t>
            </a:r>
            <a:endParaRPr lang="en-US" sz="7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7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size from their harness size.</a:t>
            </a:r>
            <a:endParaRPr lang="en-US" sz="7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br>
              <a:rPr lang="en-US" sz="7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sz="7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This returns a message for the customer that should be shown before</a:t>
            </a:r>
            <a:endParaRPr lang="en-US" sz="7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7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they complete their payment </a:t>
            </a:r>
            <a:endParaRPr lang="en-US" sz="7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br>
              <a:rPr lang="en-US" sz="7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sz="7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700" b="0" dirty="0" err="1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selected_harness_size</a:t>
            </a:r>
            <a:r>
              <a:rPr lang="en-US" sz="7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 The size of the harness the customer wants to buy</a:t>
            </a:r>
            <a:endParaRPr lang="en-US" sz="7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7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700" b="0" dirty="0" err="1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selected_boot_size</a:t>
            </a:r>
            <a:r>
              <a:rPr lang="en-US" sz="7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 The size of the doggy boots the customer wants to buy</a:t>
            </a:r>
            <a:endParaRPr lang="en-US" sz="7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7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'''</a:t>
            </a:r>
            <a:endParaRPr lang="en-US" sz="7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br>
              <a:rPr lang="en-US" sz="7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sz="7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7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# Estimate the customer's dog's boot size</a:t>
            </a:r>
            <a:endParaRPr lang="en-US" sz="7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7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7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estimated_boot_size</a:t>
            </a:r>
            <a:r>
              <a:rPr lang="en-US" sz="7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7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load_model_and_predict</a:t>
            </a:r>
            <a:r>
              <a:rPr lang="en-US" sz="7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7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selected_harness_size</a:t>
            </a:r>
            <a:r>
              <a:rPr lang="en-US" sz="7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br>
              <a:rPr lang="en-US" sz="7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sz="7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7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# Round to the nearest whole number because we don't sell partial sizes</a:t>
            </a:r>
            <a:endParaRPr lang="en-US" sz="7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7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7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estimated_boot_size</a:t>
            </a:r>
            <a:r>
              <a:rPr lang="en-US" sz="7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700" b="0" dirty="0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7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700" b="0" dirty="0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round</a:t>
            </a:r>
            <a:r>
              <a:rPr lang="en-US" sz="7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7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estimated_boot_size</a:t>
            </a:r>
            <a:r>
              <a:rPr lang="en-US" sz="7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))</a:t>
            </a:r>
          </a:p>
          <a:p>
            <a:br>
              <a:rPr lang="en-US" sz="7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sz="7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7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# Check if the boot size selected is appropriate</a:t>
            </a:r>
            <a:endParaRPr lang="en-US" sz="7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7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7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7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7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selected_boot_size</a:t>
            </a:r>
            <a:r>
              <a:rPr lang="en-US" sz="7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== </a:t>
            </a:r>
            <a:r>
              <a:rPr lang="en-US" sz="7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estimated_boot_size</a:t>
            </a:r>
            <a:r>
              <a:rPr lang="en-US" sz="7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</a:p>
          <a:p>
            <a:r>
              <a:rPr lang="en-US" sz="7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</a:t>
            </a:r>
            <a:r>
              <a:rPr lang="en-US" sz="7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# The selected boots are probably OK</a:t>
            </a:r>
            <a:endParaRPr lang="en-US" sz="7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7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</a:t>
            </a:r>
            <a:r>
              <a:rPr lang="en-US" sz="7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sz="7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700" b="0" dirty="0" err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</a:t>
            </a:r>
            <a:r>
              <a:rPr lang="en-US" sz="700" b="0" dirty="0" err="1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"Great</a:t>
            </a:r>
            <a:r>
              <a:rPr lang="en-US" sz="7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choice! We think these boots will fit your avalanche dog well."</a:t>
            </a:r>
            <a:endParaRPr lang="en-US" sz="7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br>
              <a:rPr lang="en-US" sz="7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sz="7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7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7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7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selected_boot_size</a:t>
            </a:r>
            <a:r>
              <a:rPr lang="en-US" sz="7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&lt; </a:t>
            </a:r>
            <a:r>
              <a:rPr lang="en-US" sz="7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estimated_boot_size</a:t>
            </a:r>
            <a:r>
              <a:rPr lang="en-US" sz="7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</a:p>
          <a:p>
            <a:r>
              <a:rPr lang="en-US" sz="7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</a:t>
            </a:r>
            <a:r>
              <a:rPr lang="en-US" sz="7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# Selected boots might be too small </a:t>
            </a:r>
            <a:endParaRPr lang="en-US" sz="7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7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</a:t>
            </a:r>
            <a:r>
              <a:rPr lang="en-US" sz="7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sz="7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7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"The boots you have selected might be TOO SMALL for a dog as "</a:t>
            </a:r>
            <a:r>
              <a:rPr lang="en-US" sz="7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\</a:t>
            </a:r>
          </a:p>
          <a:p>
            <a:r>
              <a:rPr lang="en-US" sz="7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   </a:t>
            </a:r>
            <a:r>
              <a:rPr lang="en-US" sz="700" b="0" dirty="0" err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</a:t>
            </a:r>
            <a:r>
              <a:rPr lang="en-US" sz="700" b="0" dirty="0" err="1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"big</a:t>
            </a:r>
            <a:r>
              <a:rPr lang="en-US" sz="7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as yours. We recommend a doggy boots size of </a:t>
            </a:r>
            <a:r>
              <a:rPr lang="en-US" sz="7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r>
              <a:rPr lang="en-US" sz="7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estimated_boot_size</a:t>
            </a:r>
            <a:r>
              <a:rPr lang="en-US" sz="7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r>
              <a:rPr lang="en-US" sz="7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."</a:t>
            </a:r>
            <a:endParaRPr lang="en-US" sz="7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br>
              <a:rPr lang="en-US" sz="7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sz="7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7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7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7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selected_boot_size</a:t>
            </a:r>
            <a:r>
              <a:rPr lang="en-US" sz="7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&gt; </a:t>
            </a:r>
            <a:r>
              <a:rPr lang="en-US" sz="7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estimated_boot_size</a:t>
            </a:r>
            <a:r>
              <a:rPr lang="en-US" sz="7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</a:p>
          <a:p>
            <a:r>
              <a:rPr lang="en-US" sz="7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</a:t>
            </a:r>
            <a:r>
              <a:rPr lang="en-US" sz="7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# Selected boots might be too big </a:t>
            </a:r>
            <a:endParaRPr lang="en-US" sz="7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7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</a:t>
            </a:r>
            <a:r>
              <a:rPr lang="en-US" sz="7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sz="7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7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"The boots you have selected might be TOO BIG for a dog as "</a:t>
            </a:r>
            <a:r>
              <a:rPr lang="en-US" sz="7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\</a:t>
            </a:r>
          </a:p>
          <a:p>
            <a:r>
              <a:rPr lang="en-US" sz="7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   </a:t>
            </a:r>
            <a:r>
              <a:rPr lang="en-US" sz="700" b="0" dirty="0" err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</a:t>
            </a:r>
            <a:r>
              <a:rPr lang="en-US" sz="700" b="0" dirty="0" err="1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"small</a:t>
            </a:r>
            <a:r>
              <a:rPr lang="en-US" sz="7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as yours. We recommend a doggy boots size of </a:t>
            </a:r>
            <a:r>
              <a:rPr lang="en-US" sz="7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r>
              <a:rPr lang="en-US" sz="7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estimated_boot_size</a:t>
            </a:r>
            <a:r>
              <a:rPr lang="en-US" sz="7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r>
              <a:rPr lang="en-US" sz="7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."</a:t>
            </a:r>
            <a:endParaRPr lang="en-US" sz="7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7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</a:p>
          <a:p>
            <a:br>
              <a:rPr lang="en-US" sz="7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sz="7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# Practice using our new warning system</a:t>
            </a:r>
            <a:endParaRPr lang="en-US" sz="7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7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check_size_of_boots</a:t>
            </a:r>
            <a:r>
              <a:rPr lang="en-US" sz="7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7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selected_harness_size</a:t>
            </a:r>
            <a:r>
              <a:rPr lang="en-US" sz="7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7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55</a:t>
            </a:r>
            <a:r>
              <a:rPr lang="en-US" sz="7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7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selected_boot_size</a:t>
            </a:r>
            <a:r>
              <a:rPr lang="en-US" sz="7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7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39</a:t>
            </a:r>
            <a:r>
              <a:rPr lang="en-US" sz="7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526443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74;p10">
            <a:extLst>
              <a:ext uri="{FF2B5EF4-FFF2-40B4-BE49-F238E27FC236}">
                <a16:creationId xmlns:a16="http://schemas.microsoft.com/office/drawing/2014/main" id="{AC06FF11-6728-0E8B-6232-F268EBE30292}"/>
              </a:ext>
            </a:extLst>
          </p:cNvPr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75;p10">
            <a:extLst>
              <a:ext uri="{FF2B5EF4-FFF2-40B4-BE49-F238E27FC236}">
                <a16:creationId xmlns:a16="http://schemas.microsoft.com/office/drawing/2014/main" id="{D6C23CC1-F959-0C4A-07C9-0A9492E6415B}"/>
              </a:ext>
            </a:extLst>
          </p:cNvPr>
          <p:cNvSpPr txBox="1"/>
          <p:nvPr/>
        </p:nvSpPr>
        <p:spPr>
          <a:xfrm>
            <a:off x="1008063" y="3157860"/>
            <a:ext cx="5993558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es-PE" sz="2800" dirty="0">
                <a:solidFill>
                  <a:schemeClr val="lt1"/>
                </a:solidFill>
                <a:latin typeface="Graphik Regular" panose="020B0503030202060203" pitchFamily="34" charset="77"/>
              </a:rPr>
              <a:t>CONSUMO DE MODELOS </a:t>
            </a:r>
            <a:br>
              <a:rPr lang="es-PE" sz="2800" dirty="0">
                <a:solidFill>
                  <a:schemeClr val="lt1"/>
                </a:solidFill>
                <a:latin typeface="Graphik Regular" panose="020B0503030202060203" pitchFamily="34" charset="77"/>
              </a:rPr>
            </a:br>
            <a:r>
              <a:rPr lang="es-PE" sz="2800" b="1" dirty="0">
                <a:solidFill>
                  <a:schemeClr val="lt1"/>
                </a:solidFill>
                <a:latin typeface="Graphik Bold" panose="020B0503030202060203" pitchFamily="34" charset="77"/>
              </a:rPr>
              <a:t>DE MINERÍA DE DATOS</a:t>
            </a:r>
            <a:endParaRPr lang="es-ES" sz="2800" b="1" dirty="0">
              <a:solidFill>
                <a:schemeClr val="lt1"/>
              </a:solidFill>
              <a:latin typeface="Graphik Bold" panose="020B0503030202060203" pitchFamily="34" charset="77"/>
            </a:endParaRPr>
          </a:p>
        </p:txBody>
      </p:sp>
      <p:pic>
        <p:nvPicPr>
          <p:cNvPr id="5" name="Google Shape;176;p10">
            <a:extLst>
              <a:ext uri="{FF2B5EF4-FFF2-40B4-BE49-F238E27FC236}">
                <a16:creationId xmlns:a16="http://schemas.microsoft.com/office/drawing/2014/main" id="{3A67CD62-12CC-2C4D-B43C-EB2E49E97E7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8063" y="2857500"/>
            <a:ext cx="195423" cy="201256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469158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503238" y="911225"/>
            <a:ext cx="7888732" cy="3216265"/>
          </a:xfrm>
          <a:prstGeom prst="rect">
            <a:avLst/>
          </a:prstGeom>
        </p:spPr>
        <p:txBody>
          <a:bodyPr wrap="square" lIns="0" tIns="0" rIns="0">
            <a:spAutoFit/>
          </a:bodyPr>
          <a:lstStyle/>
          <a:p>
            <a:pPr>
              <a:spcAft>
                <a:spcPts val="600"/>
              </a:spcAft>
            </a:pPr>
            <a:r>
              <a:rPr lang="es-PE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ESCENARIOS DE APLICACIÓN DE MINERÍA DE DATOS</a:t>
            </a:r>
            <a:endParaRPr lang="es-PE" sz="15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87325" indent="-187325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PE" sz="1500" b="1" dirty="0">
                <a:solidFill>
                  <a:srgbClr val="EE463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Marketing</a:t>
            </a:r>
            <a:r>
              <a:rPr lang="es-PE" sz="1500" dirty="0">
                <a:solidFill>
                  <a:srgbClr val="EE463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s-PE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exploración de grandes volúmenes de datos para mejorar la segmentación del mercado; análisis de las relaciones entre variables para predecir el comportamiento de los consumidores y crear campañas personalizadas.</a:t>
            </a:r>
          </a:p>
          <a:p>
            <a:pPr marL="187325" indent="-187325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PE" sz="1500" b="1" dirty="0">
                <a:solidFill>
                  <a:srgbClr val="EE463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Comercio minorista</a:t>
            </a:r>
            <a:r>
              <a:rPr lang="es-PE" sz="1500" dirty="0">
                <a:solidFill>
                  <a:srgbClr val="EE463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s-PE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 el caso de los supermercados, descubrimiento de patrones de consumo para identificar asociaciones de productos y definir la distribución de los productos dentro del local.</a:t>
            </a:r>
          </a:p>
          <a:p>
            <a:pPr marL="187325" indent="-187325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PE" sz="1500" b="1" dirty="0">
                <a:solidFill>
                  <a:srgbClr val="EE463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Banca: </a:t>
            </a:r>
            <a:r>
              <a:rPr lang="es-PE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establecimiento de la calificación crediticia de los clientes según sus características y comportamiento; análisis de las operaciones para detectar fraudes; detección de patrones de consumo para crear nuevos productos.</a:t>
            </a:r>
          </a:p>
          <a:p>
            <a:pPr marL="187325" indent="-187325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PE" sz="1500" b="1" dirty="0">
                <a:solidFill>
                  <a:srgbClr val="EE463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Medicina: </a:t>
            </a:r>
            <a:r>
              <a:rPr lang="es-PE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análisis de los datos de los pacientes para establecer diagnósticos más precisos.</a:t>
            </a:r>
          </a:p>
          <a:p>
            <a:pPr marL="187325" indent="-187325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PE" sz="1500" b="1" dirty="0">
                <a:solidFill>
                  <a:srgbClr val="EE463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Medios de comunicación: </a:t>
            </a:r>
            <a:r>
              <a:rPr lang="es-PE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análisis del comportamiento de la audiencia para brindar recomendaciones personalizadas.</a:t>
            </a:r>
          </a:p>
        </p:txBody>
      </p:sp>
      <p:sp>
        <p:nvSpPr>
          <p:cNvPr id="2" name="Google Shape;127;p5">
            <a:extLst>
              <a:ext uri="{FF2B5EF4-FFF2-40B4-BE49-F238E27FC236}">
                <a16:creationId xmlns:a16="http://schemas.microsoft.com/office/drawing/2014/main" id="{1CF958ED-053C-9D5C-9F2C-91AF690A34FE}"/>
              </a:ext>
            </a:extLst>
          </p:cNvPr>
          <p:cNvSpPr/>
          <p:nvPr/>
        </p:nvSpPr>
        <p:spPr>
          <a:xfrm>
            <a:off x="503238" y="376836"/>
            <a:ext cx="4401784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n-US" sz="1000" dirty="0">
                <a:solidFill>
                  <a:srgbClr val="A5A5A5"/>
                </a:solidFill>
                <a:latin typeface="Calibri"/>
                <a:cs typeface="Calibri"/>
              </a:rPr>
              <a:t>CONSUMO DE MODELOS DE MINERÍA DE DATOS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887431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43;p89">
            <a:extLst>
              <a:ext uri="{FF2B5EF4-FFF2-40B4-BE49-F238E27FC236}">
                <a16:creationId xmlns:a16="http://schemas.microsoft.com/office/drawing/2014/main" id="{6F348854-6A7F-E2D3-E289-1BBECAD774E6}"/>
              </a:ext>
            </a:extLst>
          </p:cNvPr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654E9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" name="Google Shape;1444;p89">
            <a:extLst>
              <a:ext uri="{FF2B5EF4-FFF2-40B4-BE49-F238E27FC236}">
                <a16:creationId xmlns:a16="http://schemas.microsoft.com/office/drawing/2014/main" id="{294D8EA9-52D2-A24C-E3A1-1DF26BBF4CA9}"/>
              </a:ext>
            </a:extLst>
          </p:cNvPr>
          <p:cNvGrpSpPr/>
          <p:nvPr/>
        </p:nvGrpSpPr>
        <p:grpSpPr>
          <a:xfrm>
            <a:off x="2506315" y="2194222"/>
            <a:ext cx="4581728" cy="1326557"/>
            <a:chOff x="2403187" y="2211377"/>
            <a:chExt cx="4581728" cy="1326557"/>
          </a:xfrm>
        </p:grpSpPr>
        <p:sp>
          <p:nvSpPr>
            <p:cNvPr id="4" name="Google Shape;1445;p89">
              <a:extLst>
                <a:ext uri="{FF2B5EF4-FFF2-40B4-BE49-F238E27FC236}">
                  <a16:creationId xmlns:a16="http://schemas.microsoft.com/office/drawing/2014/main" id="{A01C2FDB-8501-7138-0BF7-B94EFE9D4316}"/>
                </a:ext>
              </a:extLst>
            </p:cNvPr>
            <p:cNvSpPr txBox="1"/>
            <p:nvPr/>
          </p:nvSpPr>
          <p:spPr>
            <a:xfrm>
              <a:off x="2403187" y="2540738"/>
              <a:ext cx="4581728" cy="9971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3600" dirty="0">
                  <a:solidFill>
                    <a:schemeClr val="lt1"/>
                  </a:solidFill>
                  <a:latin typeface="Graphik Regular" panose="020B0503030202060203" pitchFamily="34" charset="77"/>
                  <a:ea typeface="Arial"/>
                  <a:cs typeface="Arial"/>
                  <a:sym typeface="Arial"/>
                </a:rPr>
                <a:t>CONCLUSIONES</a:t>
              </a:r>
              <a:br>
                <a:rPr lang="es-PE" sz="3600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s-PE" sz="3600" b="1" dirty="0">
                  <a:solidFill>
                    <a:schemeClr val="lt1"/>
                  </a:solidFill>
                  <a:latin typeface="Graphik Bold" panose="020B0503030202060203" pitchFamily="34" charset="77"/>
                  <a:ea typeface="Arial"/>
                  <a:cs typeface="Arial"/>
                  <a:sym typeface="Arial"/>
                </a:rPr>
                <a:t>MÁS REFERENCIAS</a:t>
              </a:r>
              <a:endParaRPr b="1" dirty="0">
                <a:latin typeface="Graphik Bold" panose="020B0503030202060203" pitchFamily="34" charset="77"/>
              </a:endParaRPr>
            </a:p>
          </p:txBody>
        </p:sp>
        <p:pic>
          <p:nvPicPr>
            <p:cNvPr id="5" name="Google Shape;1446;p89">
              <a:extLst>
                <a:ext uri="{FF2B5EF4-FFF2-40B4-BE49-F238E27FC236}">
                  <a16:creationId xmlns:a16="http://schemas.microsoft.com/office/drawing/2014/main" id="{19BD0AE4-55B5-74F9-8EFD-394F34D838B2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425491" y="2211377"/>
              <a:ext cx="202176" cy="20821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" name="Google Shape;1447;p89">
            <a:extLst>
              <a:ext uri="{FF2B5EF4-FFF2-40B4-BE49-F238E27FC236}">
                <a16:creationId xmlns:a16="http://schemas.microsoft.com/office/drawing/2014/main" id="{D1E87AD1-951A-E3A5-D828-576E50A1506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253" y="946969"/>
            <a:ext cx="2072214" cy="389806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070947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54;p90">
            <a:extLst>
              <a:ext uri="{FF2B5EF4-FFF2-40B4-BE49-F238E27FC236}">
                <a16:creationId xmlns:a16="http://schemas.microsoft.com/office/drawing/2014/main" id="{1ADCBFC7-7F73-E4F1-94F5-BC6CEC7BF37E}"/>
              </a:ext>
            </a:extLst>
          </p:cNvPr>
          <p:cNvSpPr txBox="1"/>
          <p:nvPr/>
        </p:nvSpPr>
        <p:spPr>
          <a:xfrm>
            <a:off x="1279545" y="912813"/>
            <a:ext cx="5705454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s-PE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 </a:t>
            </a:r>
            <a:r>
              <a:rPr lang="es-PE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 A/B</a:t>
            </a:r>
            <a:r>
              <a:rPr lang="es-PE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permite analizar la forma cómo las personas interactúan con los contenidos con la finalidad de mejorar la respuesta aquellas a dichos contenidos.</a:t>
            </a:r>
          </a:p>
          <a:p>
            <a:endParaRPr lang="es-PE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PE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 realizar minería de datos sobre un caso específico podemos utilizar </a:t>
            </a:r>
            <a:r>
              <a:rPr lang="es-PE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distintos algoritmos (modelos)</a:t>
            </a:r>
            <a:r>
              <a:rPr lang="es-PE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Debemos elegir los más adecuados para el caso, entrenarlos y probarlos, luego validarlos y seleccionar el modelo que ofrece los mejores resultados.</a:t>
            </a:r>
          </a:p>
          <a:p>
            <a:endParaRPr lang="es-PE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PE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</a:t>
            </a:r>
            <a:r>
              <a:rPr lang="es-PE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minería de datos </a:t>
            </a:r>
            <a:r>
              <a:rPr lang="es-PE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 puede aplicar en cualquier entorno en el que se desea establecer tendencias y patrones de comportamiento.</a:t>
            </a:r>
          </a:p>
          <a:p>
            <a:endParaRPr lang="es-PE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Google Shape;1455;p90">
            <a:extLst>
              <a:ext uri="{FF2B5EF4-FFF2-40B4-BE49-F238E27FC236}">
                <a16:creationId xmlns:a16="http://schemas.microsoft.com/office/drawing/2014/main" id="{440592F1-35CD-F732-2EFA-C5F8C7E183D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1260" y="954885"/>
            <a:ext cx="114138" cy="11754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457;p90">
            <a:extLst>
              <a:ext uri="{FF2B5EF4-FFF2-40B4-BE49-F238E27FC236}">
                <a16:creationId xmlns:a16="http://schemas.microsoft.com/office/drawing/2014/main" id="{605A062A-98B4-5426-5027-7DC64BC6F1C2}"/>
              </a:ext>
            </a:extLst>
          </p:cNvPr>
          <p:cNvSpPr/>
          <p:nvPr/>
        </p:nvSpPr>
        <p:spPr>
          <a:xfrm>
            <a:off x="8133347" y="163629"/>
            <a:ext cx="808522" cy="7547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Google Shape;1458;p90">
            <a:extLst>
              <a:ext uri="{FF2B5EF4-FFF2-40B4-BE49-F238E27FC236}">
                <a16:creationId xmlns:a16="http://schemas.microsoft.com/office/drawing/2014/main" id="{E6396958-35F8-5311-A16C-96C38484ADE1}"/>
              </a:ext>
            </a:extLst>
          </p:cNvPr>
          <p:cNvPicPr preferRelativeResize="0"/>
          <p:nvPr/>
        </p:nvPicPr>
        <p:blipFill rotWithShape="1">
          <a:blip r:embed="rId5">
            <a:alphaModFix amt="42000"/>
          </a:blip>
          <a:srcRect/>
          <a:stretch/>
        </p:blipFill>
        <p:spPr>
          <a:xfrm>
            <a:off x="6984999" y="3048772"/>
            <a:ext cx="1690689" cy="2185216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459;p90">
            <a:extLst>
              <a:ext uri="{FF2B5EF4-FFF2-40B4-BE49-F238E27FC236}">
                <a16:creationId xmlns:a16="http://schemas.microsoft.com/office/drawing/2014/main" id="{341D34F1-A5C4-E925-4C8E-F817DF4C3078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00" b="1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PE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CONCLUSIONES </a:t>
            </a:r>
            <a:endParaRPr/>
          </a:p>
        </p:txBody>
      </p:sp>
      <p:pic>
        <p:nvPicPr>
          <p:cNvPr id="10" name="Google Shape;1456;p90">
            <a:extLst>
              <a:ext uri="{FF2B5EF4-FFF2-40B4-BE49-F238E27FC236}">
                <a16:creationId xmlns:a16="http://schemas.microsoft.com/office/drawing/2014/main" id="{44C73C57-2994-097C-913E-338157EDC5D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1260" y="1827386"/>
            <a:ext cx="114138" cy="1175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456;p90">
            <a:extLst>
              <a:ext uri="{FF2B5EF4-FFF2-40B4-BE49-F238E27FC236}">
                <a16:creationId xmlns:a16="http://schemas.microsoft.com/office/drawing/2014/main" id="{4C4B508C-647A-0DC2-91BB-D888EC90BBA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1260" y="2882463"/>
            <a:ext cx="114138" cy="117546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BDAED887-A958-2501-EC21-9B74FDF9449F}"/>
              </a:ext>
            </a:extLst>
          </p:cNvPr>
          <p:cNvSpPr/>
          <p:nvPr/>
        </p:nvSpPr>
        <p:spPr>
          <a:xfrm>
            <a:off x="407350" y="5277533"/>
            <a:ext cx="8469655" cy="39454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154479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64;p91">
            <a:extLst>
              <a:ext uri="{FF2B5EF4-FFF2-40B4-BE49-F238E27FC236}">
                <a16:creationId xmlns:a16="http://schemas.microsoft.com/office/drawing/2014/main" id="{F1CB4BD6-46CE-A8AB-3EDA-DE4DC0972C55}"/>
              </a:ext>
            </a:extLst>
          </p:cNvPr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DCB6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465;p91">
            <a:extLst>
              <a:ext uri="{FF2B5EF4-FFF2-40B4-BE49-F238E27FC236}">
                <a16:creationId xmlns:a16="http://schemas.microsoft.com/office/drawing/2014/main" id="{991FEFDD-641E-AEFD-23D6-0C42BC6FB87A}"/>
              </a:ext>
            </a:extLst>
          </p:cNvPr>
          <p:cNvSpPr txBox="1"/>
          <p:nvPr/>
        </p:nvSpPr>
        <p:spPr>
          <a:xfrm>
            <a:off x="2519363" y="2540738"/>
            <a:ext cx="4581728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3600" dirty="0">
                <a:solidFill>
                  <a:schemeClr val="lt1"/>
                </a:solidFill>
                <a:latin typeface="Graphik Regular" panose="020B0503030202060203" pitchFamily="34" charset="77"/>
                <a:ea typeface="Arial"/>
                <a:cs typeface="Arial"/>
                <a:sym typeface="Arial"/>
              </a:rPr>
              <a:t>BIBLIOGRAFÍA</a:t>
            </a:r>
            <a:br>
              <a:rPr lang="es-PE" sz="36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-PE" sz="3600" b="1" dirty="0">
                <a:solidFill>
                  <a:schemeClr val="lt1"/>
                </a:solidFill>
                <a:latin typeface="Graphik Bold" panose="020B0503030202060203" pitchFamily="34" charset="77"/>
                <a:ea typeface="Arial"/>
                <a:cs typeface="Arial"/>
                <a:sym typeface="Arial"/>
              </a:rPr>
              <a:t>MÁS REFERENCIAS</a:t>
            </a:r>
            <a:endParaRPr b="1" dirty="0">
              <a:latin typeface="Graphik Bold" panose="020B0503030202060203" pitchFamily="34" charset="77"/>
            </a:endParaRPr>
          </a:p>
        </p:txBody>
      </p:sp>
      <p:pic>
        <p:nvPicPr>
          <p:cNvPr id="4" name="Google Shape;1466;p91">
            <a:extLst>
              <a:ext uri="{FF2B5EF4-FFF2-40B4-BE49-F238E27FC236}">
                <a16:creationId xmlns:a16="http://schemas.microsoft.com/office/drawing/2014/main" id="{17F68DC7-EBF0-8C41-FBE6-48BE1FADB86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28619" y="2194222"/>
            <a:ext cx="202176" cy="20821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467;p91">
            <a:extLst>
              <a:ext uri="{FF2B5EF4-FFF2-40B4-BE49-F238E27FC236}">
                <a16:creationId xmlns:a16="http://schemas.microsoft.com/office/drawing/2014/main" id="{ED08B555-49BB-6F46-291F-A7EE1C68458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46970"/>
            <a:ext cx="2072061" cy="389806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532515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473;p92">
            <a:extLst>
              <a:ext uri="{FF2B5EF4-FFF2-40B4-BE49-F238E27FC236}">
                <a16:creationId xmlns:a16="http://schemas.microsoft.com/office/drawing/2014/main" id="{A72024CD-3BF9-B921-9321-7A665DAB90F1}"/>
              </a:ext>
            </a:extLst>
          </p:cNvPr>
          <p:cNvSpPr txBox="1"/>
          <p:nvPr/>
        </p:nvSpPr>
        <p:spPr>
          <a:xfrm>
            <a:off x="1279009" y="882669"/>
            <a:ext cx="5463624" cy="4093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indent="0">
              <a:spcBef>
                <a:spcPts val="0"/>
              </a:spcBef>
              <a:buSzPct val="100000"/>
              <a:buNone/>
              <a:defRPr/>
            </a:pPr>
            <a:r>
              <a:rPr kumimoji="0" lang="es-PE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Astera (2023). Las 10 mejores técnicas de minería de datos. Recuperado de </a:t>
            </a:r>
            <a:r>
              <a:rPr kumimoji="0" lang="es-PE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https://www.astera.com/es/type/blog/top-10-data-mining-techniques/</a:t>
            </a:r>
            <a:endParaRPr kumimoji="0" lang="es-PE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indent="0">
              <a:spcBef>
                <a:spcPts val="0"/>
              </a:spcBef>
              <a:buSzPct val="100000"/>
              <a:buNone/>
              <a:defRPr/>
            </a:pPr>
            <a:endParaRPr kumimoji="0" lang="es-PE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indent="0">
              <a:spcBef>
                <a:spcPts val="0"/>
              </a:spcBef>
              <a:buSzPct val="100000"/>
              <a:buNone/>
              <a:defRPr/>
            </a:pPr>
            <a:r>
              <a:rPr kumimoji="0" lang="es-PE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Romero, J. (2019). Técnicas y algoritmos de minería de datos. Recuperado de </a:t>
            </a:r>
            <a:r>
              <a:rPr kumimoji="0" lang="es-PE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https://jorgeromero.net/tecnicas-y-algoritmos-de-mineria-de-datos</a:t>
            </a:r>
            <a:endParaRPr kumimoji="0" lang="es-PE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indent="0">
              <a:spcBef>
                <a:spcPts val="0"/>
              </a:spcBef>
              <a:buSzPct val="100000"/>
              <a:buNone/>
              <a:defRPr/>
            </a:pPr>
            <a:endParaRPr kumimoji="0" lang="es-PE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indent="0">
              <a:spcBef>
                <a:spcPts val="0"/>
              </a:spcBef>
              <a:buSzPct val="100000"/>
              <a:buNone/>
              <a:defRPr/>
            </a:pPr>
            <a:r>
              <a:rPr kumimoji="0" lang="es-PE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FasterCapital (2019). Algoritmos y modelos de minería de datos. Recuperado de </a:t>
            </a:r>
            <a:r>
              <a:rPr kumimoji="0" lang="es-PE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https://fastercapital.com/es/tema/algoritmos-y-modelos-de-miner%C3%ADa-de-datos.html</a:t>
            </a:r>
            <a:endParaRPr kumimoji="0" lang="es-PE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indent="0">
              <a:spcBef>
                <a:spcPts val="0"/>
              </a:spcBef>
              <a:buSzPct val="100000"/>
              <a:buNone/>
              <a:defRPr/>
            </a:pPr>
            <a:endParaRPr kumimoji="0" lang="es-PE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indent="0">
              <a:spcBef>
                <a:spcPts val="0"/>
              </a:spcBef>
              <a:buSzPct val="100000"/>
              <a:buNone/>
              <a:defRPr/>
            </a:pPr>
            <a:r>
              <a:rPr kumimoji="0" lang="es-PE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Oracle (2024). ¿Qué son las pruebas A/B?. Recuperado de </a:t>
            </a:r>
            <a:r>
              <a:rPr kumimoji="0" lang="es-PE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https://www.oracle.com/mx/cx/marketing/what-is-ab-testing/#:~:text=Las%20pruebas%20A%2FB%20(tambi%C3%A9n,en%20funci%C3%B3n%20de%20m%C3%A9tricas%20clave</a:t>
            </a:r>
            <a:r>
              <a:rPr kumimoji="0" lang="es-PE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  <a:p>
            <a:pPr marL="0" indent="0">
              <a:spcBef>
                <a:spcPts val="0"/>
              </a:spcBef>
              <a:buSzPct val="100000"/>
              <a:buNone/>
              <a:defRPr/>
            </a:pPr>
            <a:endParaRPr kumimoji="0" lang="es-PE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indent="0">
              <a:spcBef>
                <a:spcPts val="0"/>
              </a:spcBef>
              <a:buSzPct val="100000"/>
              <a:buNone/>
              <a:defRPr/>
            </a:pPr>
            <a:r>
              <a:rPr lang="es-PE" sz="1400" dirty="0">
                <a:latin typeface="Calibri"/>
              </a:rPr>
              <a:t>Santos, D. (2023). A/B testing: qué son las pruebas A/B y cómo hacerlas. Recuperado de </a:t>
            </a:r>
            <a:r>
              <a:rPr lang="es-PE" sz="1400" dirty="0">
                <a:latin typeface="Calibri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https://blog.hubspot.es/website/como-ejecutar-una-prueba-ab#que-es</a:t>
            </a:r>
            <a:endParaRPr lang="es-PE" sz="1400" dirty="0">
              <a:latin typeface="Calibri"/>
            </a:endParaRPr>
          </a:p>
          <a:p>
            <a:pPr marL="0" indent="0">
              <a:spcBef>
                <a:spcPts val="0"/>
              </a:spcBef>
              <a:buSzPct val="100000"/>
              <a:buNone/>
              <a:defRPr/>
            </a:pPr>
            <a:endParaRPr kumimoji="0" lang="es-PE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Google Shape;1474;p92">
            <a:extLst>
              <a:ext uri="{FF2B5EF4-FFF2-40B4-BE49-F238E27FC236}">
                <a16:creationId xmlns:a16="http://schemas.microsoft.com/office/drawing/2014/main" id="{ED2FFA75-C63F-20C7-D95C-0AFF9816FA52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08064" y="959114"/>
            <a:ext cx="103867" cy="106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477;p92">
            <a:extLst>
              <a:ext uri="{FF2B5EF4-FFF2-40B4-BE49-F238E27FC236}">
                <a16:creationId xmlns:a16="http://schemas.microsoft.com/office/drawing/2014/main" id="{DF6710F4-A80B-FBFA-CA30-15825245558F}"/>
              </a:ext>
            </a:extLst>
          </p:cNvPr>
          <p:cNvPicPr preferRelativeResize="0"/>
          <p:nvPr/>
        </p:nvPicPr>
        <p:blipFill rotWithShape="1">
          <a:blip r:embed="rId8">
            <a:alphaModFix amt="42000"/>
          </a:blip>
          <a:srcRect/>
          <a:stretch/>
        </p:blipFill>
        <p:spPr>
          <a:xfrm>
            <a:off x="6985000" y="3036889"/>
            <a:ext cx="1690688" cy="21971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478;p92">
            <a:extLst>
              <a:ext uri="{FF2B5EF4-FFF2-40B4-BE49-F238E27FC236}">
                <a16:creationId xmlns:a16="http://schemas.microsoft.com/office/drawing/2014/main" id="{799BECA9-15C6-0F81-0B53-FD6F5FAFF884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00" b="1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PE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BIBLIOGRAFÍA</a:t>
            </a:r>
            <a:endParaRPr/>
          </a:p>
        </p:txBody>
      </p:sp>
      <p:pic>
        <p:nvPicPr>
          <p:cNvPr id="8" name="Google Shape;1475;p92">
            <a:extLst>
              <a:ext uri="{FF2B5EF4-FFF2-40B4-BE49-F238E27FC236}">
                <a16:creationId xmlns:a16="http://schemas.microsoft.com/office/drawing/2014/main" id="{5E2814FC-3CC7-53F5-8DE0-0CE64C7A98FD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08064" y="1592768"/>
            <a:ext cx="103867" cy="106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475;p92">
            <a:extLst>
              <a:ext uri="{FF2B5EF4-FFF2-40B4-BE49-F238E27FC236}">
                <a16:creationId xmlns:a16="http://schemas.microsoft.com/office/drawing/2014/main" id="{B163BCAE-7A17-F7C4-F4A3-15AB9994F8E2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08064" y="2226422"/>
            <a:ext cx="103867" cy="106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475;p92">
            <a:extLst>
              <a:ext uri="{FF2B5EF4-FFF2-40B4-BE49-F238E27FC236}">
                <a16:creationId xmlns:a16="http://schemas.microsoft.com/office/drawing/2014/main" id="{1E940FA4-FFE4-3245-F5F2-0FAE9A0E75D4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08064" y="3088195"/>
            <a:ext cx="103867" cy="106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475;p92">
            <a:extLst>
              <a:ext uri="{FF2B5EF4-FFF2-40B4-BE49-F238E27FC236}">
                <a16:creationId xmlns:a16="http://schemas.microsoft.com/office/drawing/2014/main" id="{0015DAED-E6FC-873A-64E0-D28B2486A567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08064" y="4147320"/>
            <a:ext cx="103867" cy="106967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802D532D-901A-FC14-41BB-8D430A95C6D5}"/>
              </a:ext>
            </a:extLst>
          </p:cNvPr>
          <p:cNvSpPr/>
          <p:nvPr/>
        </p:nvSpPr>
        <p:spPr>
          <a:xfrm>
            <a:off x="407350" y="5277533"/>
            <a:ext cx="8469655" cy="39454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508072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84;p93">
            <a:extLst>
              <a:ext uri="{FF2B5EF4-FFF2-40B4-BE49-F238E27FC236}">
                <a16:creationId xmlns:a16="http://schemas.microsoft.com/office/drawing/2014/main" id="{F9592EDB-5797-E41B-0C6B-F7DB6B46C235}"/>
              </a:ext>
            </a:extLst>
          </p:cNvPr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Google Shape;1485;p93">
            <a:extLst>
              <a:ext uri="{FF2B5EF4-FFF2-40B4-BE49-F238E27FC236}">
                <a16:creationId xmlns:a16="http://schemas.microsoft.com/office/drawing/2014/main" id="{10C2D113-2ED2-2404-84CD-0A339DA4858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924199" y="2666298"/>
            <a:ext cx="1295601" cy="38680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2355769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ARTICULATE_DESIGN_ID_OFFICE THEME" val="Yge96mEv"/>
  <p:tag name="ARTICULATE_SLIDE_COUNT" val="11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34707</TotalTime>
  <Words>1429</Words>
  <Application>Microsoft Macintosh PowerPoint</Application>
  <PresentationFormat>Presentación en pantalla (16:10)</PresentationFormat>
  <Paragraphs>152</Paragraphs>
  <Slides>19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19</vt:i4>
      </vt:variant>
    </vt:vector>
  </HeadingPairs>
  <TitlesOfParts>
    <vt:vector size="27" baseType="lpstr">
      <vt:lpstr>Arial</vt:lpstr>
      <vt:lpstr>Calibri</vt:lpstr>
      <vt:lpstr>Consolas</vt:lpstr>
      <vt:lpstr>Graphik Bold</vt:lpstr>
      <vt:lpstr>Graphik Regular</vt:lpstr>
      <vt:lpstr>Graphik-Medium</vt:lpstr>
      <vt:lpstr>Office Theme</vt:lpstr>
      <vt:lpstr>1_Office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ISIL</dc:creator>
  <cp:lastModifiedBy>Mary Gabriela Romero Martinez </cp:lastModifiedBy>
  <cp:revision>481</cp:revision>
  <cp:lastPrinted>2018-01-16T21:42:59Z</cp:lastPrinted>
  <dcterms:created xsi:type="dcterms:W3CDTF">2016-10-06T14:52:02Z</dcterms:created>
  <dcterms:modified xsi:type="dcterms:W3CDTF">2024-08-20T20:29:43Z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5400A83D-B4FE-497C-9E2F-ACF3BA8DEF15</vt:lpwstr>
  </property>
  <property fmtid="{D5CDD505-2E9C-101B-9397-08002B2CF9AE}" pid="3" name="ArticulatePath">
    <vt:lpwstr>plantilla_cursos_presenciales-v3.1.6</vt:lpwstr>
  </property>
</Properties>
</file>