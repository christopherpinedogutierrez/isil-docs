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handoutMasterIdLst>
    <p:handoutMasterId r:id="rId28"/>
  </p:handoutMasterIdLst>
  <p:sldIdLst>
    <p:sldId id="662" r:id="rId2"/>
    <p:sldId id="627" r:id="rId3"/>
    <p:sldId id="628" r:id="rId4"/>
    <p:sldId id="629" r:id="rId5"/>
    <p:sldId id="762" r:id="rId6"/>
    <p:sldId id="260" r:id="rId7"/>
    <p:sldId id="763" r:id="rId8"/>
    <p:sldId id="764" r:id="rId9"/>
    <p:sldId id="776" r:id="rId10"/>
    <p:sldId id="765" r:id="rId11"/>
    <p:sldId id="777" r:id="rId12"/>
    <p:sldId id="767" r:id="rId13"/>
    <p:sldId id="778" r:id="rId14"/>
    <p:sldId id="268" r:id="rId15"/>
    <p:sldId id="769" r:id="rId16"/>
    <p:sldId id="770" r:id="rId17"/>
    <p:sldId id="771" r:id="rId18"/>
    <p:sldId id="772" r:id="rId19"/>
    <p:sldId id="773" r:id="rId20"/>
    <p:sldId id="274" r:id="rId21"/>
    <p:sldId id="761" r:id="rId22"/>
    <p:sldId id="775" r:id="rId23"/>
    <p:sldId id="588" r:id="rId24"/>
    <p:sldId id="589" r:id="rId25"/>
    <p:sldId id="731" r:id="rId26"/>
  </p:sldIdLst>
  <p:sldSz cx="9144000" cy="5715000" type="screen16x10"/>
  <p:notesSz cx="6858000" cy="9144000"/>
  <p:custDataLst>
    <p:tags r:id="rId2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5" pos="431" userDrawn="1">
          <p15:clr>
            <a:srgbClr val="A4A3A4"/>
          </p15:clr>
        </p15:guide>
        <p15:guide id="16" orient="horz" pos="757" userDrawn="1">
          <p15:clr>
            <a:srgbClr val="A4A3A4"/>
          </p15:clr>
        </p15:guide>
        <p15:guide id="17" pos="25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1C2"/>
    <a:srgbClr val="714EA0"/>
    <a:srgbClr val="EE4639"/>
    <a:srgbClr val="808799"/>
    <a:srgbClr val="92C14E"/>
    <a:srgbClr val="E3DCED"/>
    <a:srgbClr val="E14098"/>
    <a:srgbClr val="7150A0"/>
    <a:srgbClr val="D1EFF4"/>
    <a:srgbClr val="688A3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31" autoAdjust="0"/>
    <p:restoredTop sz="91868" autoAdjust="0"/>
  </p:normalViewPr>
  <p:slideViewPr>
    <p:cSldViewPr snapToGrid="0" snapToObjects="1" showGuides="1">
      <p:cViewPr varScale="1">
        <p:scale>
          <a:sx n="125" d="100"/>
          <a:sy n="125" d="100"/>
        </p:scale>
        <p:origin x="1452" y="108"/>
      </p:cViewPr>
      <p:guideLst>
        <p:guide pos="431"/>
        <p:guide orient="horz" pos="757"/>
        <p:guide pos="2562"/>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932DC7-834F-6148-86AF-F72164F7FFC1}" type="datetimeFigureOut">
              <a:rPr lang="es-ES" smtClean="0"/>
              <a:t>01/07/2024</a:t>
            </a:fld>
            <a:endParaRPr lang="es-ES"/>
          </a:p>
        </p:txBody>
      </p:sp>
      <p:sp>
        <p:nvSpPr>
          <p:cNvPr id="4" name="Marcador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F1720-AE80-4069-8D89-2C76E8AFD874}" type="datetimeFigureOut">
              <a:rPr lang="es-PE" smtClean="0"/>
              <a:t>1/07/2024</a:t>
            </a:fld>
            <a:endParaRPr lang="es-PE"/>
          </a:p>
        </p:txBody>
      </p:sp>
      <p:sp>
        <p:nvSpPr>
          <p:cNvPr id="4" name="Marcador de imagen de diapositiva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a:t>
            </a:fld>
            <a:endParaRPr lang="es-ES"/>
          </a:p>
        </p:txBody>
      </p:sp>
    </p:spTree>
    <p:extLst>
      <p:ext uri="{BB962C8B-B14F-4D97-AF65-F5344CB8AC3E}">
        <p14:creationId xmlns:p14="http://schemas.microsoft.com/office/powerpoint/2010/main" val="1743296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3</a:t>
            </a:fld>
            <a:endParaRPr lang="es-ES" dirty="0"/>
          </a:p>
        </p:txBody>
      </p:sp>
    </p:spTree>
    <p:extLst>
      <p:ext uri="{BB962C8B-B14F-4D97-AF65-F5344CB8AC3E}">
        <p14:creationId xmlns:p14="http://schemas.microsoft.com/office/powerpoint/2010/main" val="1986432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4</a:t>
            </a:fld>
            <a:endParaRPr lang="es-ES" dirty="0"/>
          </a:p>
        </p:txBody>
      </p:sp>
    </p:spTree>
    <p:extLst>
      <p:ext uri="{BB962C8B-B14F-4D97-AF65-F5344CB8AC3E}">
        <p14:creationId xmlns:p14="http://schemas.microsoft.com/office/powerpoint/2010/main" val="835700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 name="Google Shape;45;p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p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9</a:t>
            </a:fld>
            <a:endParaRPr lang="es-ES" dirty="0"/>
          </a:p>
        </p:txBody>
      </p:sp>
    </p:spTree>
    <p:extLst>
      <p:ext uri="{BB962C8B-B14F-4D97-AF65-F5344CB8AC3E}">
        <p14:creationId xmlns:p14="http://schemas.microsoft.com/office/powerpoint/2010/main" val="2193692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11</a:t>
            </a:fld>
            <a:endParaRPr lang="es-ES" dirty="0"/>
          </a:p>
        </p:txBody>
      </p:sp>
    </p:spTree>
    <p:extLst>
      <p:ext uri="{BB962C8B-B14F-4D97-AF65-F5344CB8AC3E}">
        <p14:creationId xmlns:p14="http://schemas.microsoft.com/office/powerpoint/2010/main" val="1487443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1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13</a:t>
            </a:fld>
            <a:endParaRPr lang="es-ES" dirty="0"/>
          </a:p>
        </p:txBody>
      </p:sp>
    </p:spTree>
    <p:extLst>
      <p:ext uri="{BB962C8B-B14F-4D97-AF65-F5344CB8AC3E}">
        <p14:creationId xmlns:p14="http://schemas.microsoft.com/office/powerpoint/2010/main" val="21101856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1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1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21</a:t>
            </a:fld>
            <a:endParaRPr lang="es-ES" dirty="0"/>
          </a:p>
        </p:txBody>
      </p:sp>
    </p:spTree>
    <p:extLst>
      <p:ext uri="{BB962C8B-B14F-4D97-AF65-F5344CB8AC3E}">
        <p14:creationId xmlns:p14="http://schemas.microsoft.com/office/powerpoint/2010/main" val="8655320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2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24</a:t>
            </a:fld>
            <a:endParaRPr lang="es-ES" dirty="0"/>
          </a:p>
        </p:txBody>
      </p:sp>
    </p:spTree>
    <p:extLst>
      <p:ext uri="{BB962C8B-B14F-4D97-AF65-F5344CB8AC3E}">
        <p14:creationId xmlns:p14="http://schemas.microsoft.com/office/powerpoint/2010/main" val="278263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2" pos="2880" userDrawn="1">
          <p15:clr>
            <a:srgbClr val="FBAE40"/>
          </p15:clr>
        </p15:guide>
        <p15:guide id="3" orient="horz" pos="1900" userDrawn="1">
          <p15:clr>
            <a:srgbClr val="FBAE40"/>
          </p15:clr>
        </p15:guide>
        <p15:guide id="4" pos="544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2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8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261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Título y objetos">
    <p:spTree>
      <p:nvGrpSpPr>
        <p:cNvPr id="1" name=""/>
        <p:cNvGrpSpPr/>
        <p:nvPr/>
      </p:nvGrpSpPr>
      <p:grpSpPr>
        <a:xfrm>
          <a:off x="0" y="0"/>
          <a:ext cx="0" cy="0"/>
          <a:chOff x="0" y="0"/>
          <a:chExt cx="0" cy="0"/>
        </a:xfrm>
      </p:grpSpPr>
      <p:grpSp>
        <p:nvGrpSpPr>
          <p:cNvPr id="2" name="Agrupar 13">
            <a:extLst>
              <a:ext uri="{FF2B5EF4-FFF2-40B4-BE49-F238E27FC236}">
                <a16:creationId xmlns:a16="http://schemas.microsoft.com/office/drawing/2014/main" id="{EE396788-5A79-8D39-BC8E-86ECEB650A77}"/>
              </a:ext>
            </a:extLst>
          </p:cNvPr>
          <p:cNvGrpSpPr/>
          <p:nvPr userDrawn="1"/>
        </p:nvGrpSpPr>
        <p:grpSpPr>
          <a:xfrm>
            <a:off x="944054" y="5343295"/>
            <a:ext cx="7804380" cy="215444"/>
            <a:chOff x="944054" y="5343295"/>
            <a:chExt cx="7804380" cy="215444"/>
          </a:xfrm>
        </p:grpSpPr>
        <p:sp>
          <p:nvSpPr>
            <p:cNvPr id="3" name="TextBox 7">
              <a:extLst>
                <a:ext uri="{FF2B5EF4-FFF2-40B4-BE49-F238E27FC236}">
                  <a16:creationId xmlns:a16="http://schemas.microsoft.com/office/drawing/2014/main" id="{C9FEC313-CD23-47F0-A828-849E12E5E3CC}"/>
                </a:ext>
              </a:extLst>
            </p:cNvPr>
            <p:cNvSpPr txBox="1"/>
            <p:nvPr userDrawn="1"/>
          </p:nvSpPr>
          <p:spPr>
            <a:xfrm>
              <a:off x="944054" y="5343295"/>
              <a:ext cx="2467342"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ANALÍTICA DE SISTEMAS EMPRESARIALES</a:t>
              </a:r>
              <a:r>
                <a:rPr lang="en-US" sz="800" kern="1200" baseline="0" dirty="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03</a:t>
              </a:r>
              <a:endParaRPr lang="en-US" sz="800" dirty="0">
                <a:solidFill>
                  <a:schemeClr val="bg1">
                    <a:lumMod val="50000"/>
                  </a:schemeClr>
                </a:solidFill>
                <a:latin typeface="Calibri"/>
                <a:cs typeface="Calibri"/>
              </a:endParaRPr>
            </a:p>
          </p:txBody>
        </p:sp>
        <p:sp>
          <p:nvSpPr>
            <p:cNvPr id="4" name="Rectangle 3">
              <a:extLst>
                <a:ext uri="{FF2B5EF4-FFF2-40B4-BE49-F238E27FC236}">
                  <a16:creationId xmlns:a16="http://schemas.microsoft.com/office/drawing/2014/main" id="{8A55EED3-D33C-5537-ACE4-B21B34047BA4}"/>
                </a:ext>
              </a:extLst>
            </p:cNvPr>
            <p:cNvSpPr/>
            <p:nvPr userDrawn="1"/>
          </p:nvSpPr>
          <p:spPr>
            <a:xfrm>
              <a:off x="7379148" y="5371562"/>
              <a:ext cx="1369286" cy="184666"/>
            </a:xfrm>
            <a:prstGeom prst="rect">
              <a:avLst/>
            </a:prstGeom>
          </p:spPr>
          <p:txBody>
            <a:bodyPr wrap="none">
              <a:spAutoFit/>
            </a:bodyPr>
            <a:lstStyle/>
            <a:p>
              <a:pPr algn="r"/>
              <a:r>
                <a:rPr lang="es-ES_tradnl" sz="600" dirty="0">
                  <a:solidFill>
                    <a:schemeClr val="bg1">
                      <a:lumMod val="50000"/>
                    </a:schemeClr>
                  </a:solidFill>
                </a:rPr>
                <a:t>© ISIL. Todos los derechos reservados</a:t>
              </a:r>
            </a:p>
          </p:txBody>
        </p:sp>
      </p:grpSp>
      <p:pic>
        <p:nvPicPr>
          <p:cNvPr id="7" name="Imagen 6">
            <a:extLst>
              <a:ext uri="{FF2B5EF4-FFF2-40B4-BE49-F238E27FC236}">
                <a16:creationId xmlns:a16="http://schemas.microsoft.com/office/drawing/2014/main" id="{629383BC-861E-A43F-194A-81F1472DC99A}"/>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495300" y="5322472"/>
            <a:ext cx="448573" cy="250755"/>
          </a:xfrm>
          <a:prstGeom prst="rect">
            <a:avLst/>
          </a:prstGeom>
        </p:spPr>
      </p:pic>
    </p:spTree>
    <p:extLst>
      <p:ext uri="{BB962C8B-B14F-4D97-AF65-F5344CB8AC3E}">
        <p14:creationId xmlns:p14="http://schemas.microsoft.com/office/powerpoint/2010/main" val="1637286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14"/>
        <p:cNvGrpSpPr/>
        <p:nvPr/>
      </p:nvGrpSpPr>
      <p:grpSpPr>
        <a:xfrm>
          <a:off x="0" y="0"/>
          <a:ext cx="0" cy="0"/>
          <a:chOff x="0" y="0"/>
          <a:chExt cx="0" cy="0"/>
        </a:xfrm>
      </p:grpSpPr>
    </p:spTree>
    <p:extLst>
      <p:ext uri="{BB962C8B-B14F-4D97-AF65-F5344CB8AC3E}">
        <p14:creationId xmlns:p14="http://schemas.microsoft.com/office/powerpoint/2010/main" val="2364991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Agrupar 13"/>
          <p:cNvGrpSpPr/>
          <p:nvPr userDrawn="1"/>
        </p:nvGrpSpPr>
        <p:grpSpPr>
          <a:xfrm>
            <a:off x="944054" y="5343295"/>
            <a:ext cx="7804380" cy="215444"/>
            <a:chOff x="944054" y="5343295"/>
            <a:chExt cx="7804380" cy="215444"/>
          </a:xfrm>
        </p:grpSpPr>
        <p:sp>
          <p:nvSpPr>
            <p:cNvPr id="7" name="TextBox 7"/>
            <p:cNvSpPr txBox="1"/>
            <p:nvPr userDrawn="1"/>
          </p:nvSpPr>
          <p:spPr>
            <a:xfrm>
              <a:off x="944054" y="5343295"/>
              <a:ext cx="2467342"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ANALÍTICA DE SISTEMAS EMPRESARIALES</a:t>
              </a:r>
              <a:r>
                <a:rPr lang="en-US" sz="800" kern="1200" baseline="0" dirty="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03</a:t>
              </a:r>
              <a:endParaRPr lang="en-US" sz="800" dirty="0">
                <a:solidFill>
                  <a:schemeClr val="bg1">
                    <a:lumMod val="50000"/>
                  </a:schemeClr>
                </a:solidFill>
                <a:latin typeface="Calibri"/>
                <a:cs typeface="Calibri"/>
              </a:endParaRPr>
            </a:p>
          </p:txBody>
        </p:sp>
        <p:sp>
          <p:nvSpPr>
            <p:cNvPr id="8" name="Rectangle 3"/>
            <p:cNvSpPr/>
            <p:nvPr userDrawn="1"/>
          </p:nvSpPr>
          <p:spPr>
            <a:xfrm>
              <a:off x="7379148" y="5371562"/>
              <a:ext cx="1369286" cy="184666"/>
            </a:xfrm>
            <a:prstGeom prst="rect">
              <a:avLst/>
            </a:prstGeom>
          </p:spPr>
          <p:txBody>
            <a:bodyPr wrap="none">
              <a:spAutoFit/>
            </a:bodyPr>
            <a:lstStyle/>
            <a:p>
              <a:pPr algn="r"/>
              <a:r>
                <a:rPr lang="es-ES_tradnl" sz="600" dirty="0">
                  <a:solidFill>
                    <a:schemeClr val="bg1">
                      <a:lumMod val="50000"/>
                    </a:schemeClr>
                  </a:solidFill>
                </a:rPr>
                <a:t>© ISIL. Todos los derechos reservados</a:t>
              </a:r>
            </a:p>
          </p:txBody>
        </p:sp>
      </p:grpSp>
      <p:pic>
        <p:nvPicPr>
          <p:cNvPr id="9" name="Imagen 8"/>
          <p:cNvPicPr>
            <a:picLocks noChangeAspect="1"/>
          </p:cNvPicPr>
          <p:nvPr userDrawn="1"/>
        </p:nvPicPr>
        <p:blipFill>
          <a:blip r:embed="rId9" cstate="screen">
            <a:alphaModFix amt="20000"/>
            <a:extLst>
              <a:ext uri="{28A0092B-C50C-407E-A947-70E740481C1C}">
                <a14:useLocalDpi xmlns:a14="http://schemas.microsoft.com/office/drawing/2010/main"/>
              </a:ext>
            </a:extLst>
          </a:blip>
          <a:stretch>
            <a:fillRect/>
          </a:stretch>
        </p:blipFill>
        <p:spPr>
          <a:xfrm>
            <a:off x="495300" y="5322472"/>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7" r:id="rId4"/>
    <p:sldLayoutId id="2147483659" r:id="rId5"/>
    <p:sldLayoutId id="2147483660" r:id="rId6"/>
    <p:sldLayoutId id="2147483661"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pos="2767" userDrawn="1">
          <p15:clr>
            <a:srgbClr val="F26B43"/>
          </p15:clr>
        </p15:guide>
        <p15:guide id="3" pos="317" userDrawn="1">
          <p15:clr>
            <a:srgbClr val="F26B43"/>
          </p15:clr>
        </p15:guide>
        <p15:guide id="4" orient="horz" pos="575" userDrawn="1">
          <p15:clr>
            <a:srgbClr val="F26B43"/>
          </p15:clr>
        </p15:guide>
        <p15:guide id="5" orient="horz" pos="303" userDrawn="1">
          <p15:clr>
            <a:srgbClr val="F26B43"/>
          </p15:clr>
        </p15:guide>
        <p15:guide id="6" pos="5443" userDrawn="1">
          <p15:clr>
            <a:srgbClr val="F26B43"/>
          </p15:clr>
        </p15:guide>
        <p15:guide id="7" orient="horz" pos="3297" userDrawn="1">
          <p15:clr>
            <a:srgbClr val="F26B43"/>
          </p15:clr>
        </p15:guide>
        <p15:guide id="8" pos="299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ángulo 40"/>
          <p:cNvSpPr/>
          <p:nvPr/>
        </p:nvSpPr>
        <p:spPr>
          <a:xfrm>
            <a:off x="182879" y="5120640"/>
            <a:ext cx="4304965" cy="46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3" name="CuadroTexto 22">
            <a:extLst>
              <a:ext uri="{FF2B5EF4-FFF2-40B4-BE49-F238E27FC236}">
                <a16:creationId xmlns:a16="http://schemas.microsoft.com/office/drawing/2014/main" id="{00376003-8003-B944-8B01-9A232A7A385C}"/>
              </a:ext>
            </a:extLst>
          </p:cNvPr>
          <p:cNvSpPr txBox="1"/>
          <p:nvPr/>
        </p:nvSpPr>
        <p:spPr>
          <a:xfrm>
            <a:off x="503238" y="808689"/>
            <a:ext cx="3104743" cy="138499"/>
          </a:xfrm>
          <a:prstGeom prst="rect">
            <a:avLst/>
          </a:prstGeom>
          <a:noFill/>
        </p:spPr>
        <p:txBody>
          <a:bodyPr wrap="square" lIns="0" tIns="0" rIns="0" bIns="0" rtlCol="0">
            <a:spAutoFit/>
          </a:bodyPr>
          <a:lstStyle/>
          <a:p>
            <a:r>
              <a:rPr lang="en-US" sz="900" b="1" dirty="0">
                <a:solidFill>
                  <a:srgbClr val="6C6D6C"/>
                </a:solidFill>
                <a:latin typeface="Calibri" charset="0"/>
                <a:cs typeface="Calibri" charset="0"/>
                <a:sym typeface="Wingdings"/>
              </a:rPr>
              <a:t>ANALÍTICA DE SISTEMAS EMPRESARIALES </a:t>
            </a:r>
            <a:endParaRPr lang="es-ES_tradnl" sz="900" b="1" dirty="0">
              <a:solidFill>
                <a:srgbClr val="6C6D6C"/>
              </a:solidFill>
              <a:latin typeface="Calibri" charset="0"/>
              <a:cs typeface="Calibri" charset="0"/>
            </a:endParaRPr>
          </a:p>
        </p:txBody>
      </p:sp>
      <p:pic>
        <p:nvPicPr>
          <p:cNvPr id="4" name="Imagen 3">
            <a:extLst>
              <a:ext uri="{FF2B5EF4-FFF2-40B4-BE49-F238E27FC236}">
                <a16:creationId xmlns:a16="http://schemas.microsoft.com/office/drawing/2014/main" id="{5F6F030B-C752-AD44-958B-E73463C78685}"/>
              </a:ext>
            </a:extLst>
          </p:cNvPr>
          <p:cNvPicPr>
            <a:picLocks noChangeAspect="1"/>
          </p:cNvPicPr>
          <p:nvPr/>
        </p:nvPicPr>
        <p:blipFill>
          <a:blip r:embed="rId3"/>
          <a:stretch>
            <a:fillRect/>
          </a:stretch>
        </p:blipFill>
        <p:spPr>
          <a:xfrm>
            <a:off x="3752849" y="-7542"/>
            <a:ext cx="5391150" cy="5722541"/>
          </a:xfrm>
          <a:prstGeom prst="rect">
            <a:avLst/>
          </a:prstGeom>
        </p:spPr>
      </p:pic>
      <p:sp>
        <p:nvSpPr>
          <p:cNvPr id="2" name="Rectángulo 1">
            <a:extLst>
              <a:ext uri="{FF2B5EF4-FFF2-40B4-BE49-F238E27FC236}">
                <a16:creationId xmlns:a16="http://schemas.microsoft.com/office/drawing/2014/main" id="{AC56C332-AC9C-5CDE-E4A7-D1AD9C720B6F}"/>
              </a:ext>
            </a:extLst>
          </p:cNvPr>
          <p:cNvSpPr/>
          <p:nvPr/>
        </p:nvSpPr>
        <p:spPr>
          <a:xfrm>
            <a:off x="503238" y="2177570"/>
            <a:ext cx="3249611" cy="886397"/>
          </a:xfrm>
          <a:prstGeom prst="rect">
            <a:avLst/>
          </a:prstGeom>
        </p:spPr>
        <p:txBody>
          <a:bodyPr wrap="square" lIns="0" tIns="0" rIns="0" bIns="0">
            <a:spAutoFit/>
          </a:bodyPr>
          <a:lstStyle/>
          <a:p>
            <a:pPr>
              <a:lnSpc>
                <a:spcPct val="90000"/>
              </a:lnSpc>
            </a:pPr>
            <a:r>
              <a:rPr lang="en-US" sz="3200" dirty="0">
                <a:latin typeface="Graphik Medium" panose="020B0503030202060203" pitchFamily="34" charset="77"/>
                <a:sym typeface="Calibri"/>
              </a:rPr>
              <a:t>MODELADO </a:t>
            </a:r>
            <a:br>
              <a:rPr lang="en-US" sz="3200" dirty="0">
                <a:latin typeface="Graphik Medium" panose="020B0503030202060203" pitchFamily="34" charset="77"/>
                <a:sym typeface="Calibri"/>
              </a:rPr>
            </a:br>
            <a:r>
              <a:rPr lang="en-US" sz="3200" b="1" dirty="0">
                <a:latin typeface="Graphik Bold" panose="020B0503030202060203" pitchFamily="34" charset="77"/>
                <a:sym typeface="Calibri"/>
              </a:rPr>
              <a:t>DIMENSIONAL</a:t>
            </a:r>
            <a:endParaRPr lang="en-US" sz="3200" b="1" dirty="0">
              <a:latin typeface="Graphik Bold" panose="020B0503030202060203" pitchFamily="34" charset="77"/>
            </a:endParaRPr>
          </a:p>
        </p:txBody>
      </p:sp>
      <p:sp>
        <p:nvSpPr>
          <p:cNvPr id="3" name="Rectángulo 2">
            <a:extLst>
              <a:ext uri="{FF2B5EF4-FFF2-40B4-BE49-F238E27FC236}">
                <a16:creationId xmlns:a16="http://schemas.microsoft.com/office/drawing/2014/main" id="{1D1189B2-41AF-6D82-F5E0-ACAECF805B82}"/>
              </a:ext>
            </a:extLst>
          </p:cNvPr>
          <p:cNvSpPr/>
          <p:nvPr/>
        </p:nvSpPr>
        <p:spPr>
          <a:xfrm>
            <a:off x="503237" y="3219842"/>
            <a:ext cx="3104743" cy="1972015"/>
          </a:xfrm>
          <a:prstGeom prst="rect">
            <a:avLst/>
          </a:prstGeom>
        </p:spPr>
        <p:txBody>
          <a:bodyPr wrap="square" lIns="0" tIns="0" rIns="0" bIns="0">
            <a:spAutoFit/>
          </a:bodyPr>
          <a:lstStyle/>
          <a:p>
            <a:pPr marL="177798" marR="0" lvl="0" indent="-177798" algn="l" rtl="0">
              <a:lnSpc>
                <a:spcPct val="120000"/>
              </a:lnSpc>
              <a:spcBef>
                <a:spcPts val="0"/>
              </a:spcBef>
              <a:spcAft>
                <a:spcPts val="0"/>
              </a:spcAft>
              <a:buClr>
                <a:srgbClr val="E14098"/>
              </a:buClr>
              <a:buSzPct val="100000"/>
              <a:buFont typeface="Arial"/>
              <a:buChar char="•"/>
            </a:pPr>
            <a:r>
              <a:rPr lang="es-ES_tradnl" sz="1200">
                <a:latin typeface="Graphik Medium" panose="020B0503030202060203" pitchFamily="34" charset="77"/>
                <a:ea typeface="Calibri"/>
                <a:cs typeface="Calibri"/>
                <a:sym typeface="Calibri"/>
              </a:rPr>
              <a:t>Componentes: tablas de hechos, dimensiones y medidas.</a:t>
            </a:r>
            <a:endParaRPr lang="es-ES_tradnl" sz="1200">
              <a:latin typeface="Graphik Medium" panose="020B0503030202060203" pitchFamily="34" charset="77"/>
            </a:endParaRPr>
          </a:p>
          <a:p>
            <a:pPr marL="177798" marR="0" lvl="0" indent="-177798" algn="l" rtl="0">
              <a:lnSpc>
                <a:spcPct val="120000"/>
              </a:lnSpc>
              <a:spcBef>
                <a:spcPts val="0"/>
              </a:spcBef>
              <a:spcAft>
                <a:spcPts val="0"/>
              </a:spcAft>
              <a:buClr>
                <a:srgbClr val="E14098"/>
              </a:buClr>
              <a:buSzPct val="100000"/>
              <a:buFont typeface="Arial"/>
              <a:buChar char="•"/>
            </a:pPr>
            <a:r>
              <a:rPr lang="es-ES_tradnl" sz="1200">
                <a:latin typeface="Graphik Medium" panose="020B0503030202060203" pitchFamily="34" charset="77"/>
                <a:ea typeface="Calibri"/>
                <a:cs typeface="Calibri"/>
                <a:sym typeface="Calibri"/>
              </a:rPr>
              <a:t>Esquemas: estrella y copo de nieve.</a:t>
            </a:r>
            <a:endParaRPr lang="es-ES_tradnl" sz="1200">
              <a:latin typeface="Graphik Medium" panose="020B0503030202060203" pitchFamily="34" charset="77"/>
            </a:endParaRPr>
          </a:p>
          <a:p>
            <a:pPr marL="177798" marR="0" lvl="0" indent="-177798" algn="l" rtl="0">
              <a:lnSpc>
                <a:spcPct val="120000"/>
              </a:lnSpc>
              <a:spcBef>
                <a:spcPts val="0"/>
              </a:spcBef>
              <a:spcAft>
                <a:spcPts val="0"/>
              </a:spcAft>
              <a:buClr>
                <a:srgbClr val="E14098"/>
              </a:buClr>
              <a:buSzPct val="100000"/>
              <a:buFont typeface="Arial"/>
              <a:buChar char="•"/>
            </a:pPr>
            <a:r>
              <a:rPr lang="es-ES_tradnl" sz="1200">
                <a:latin typeface="Graphik Medium" panose="020B0503030202060203" pitchFamily="34" charset="77"/>
                <a:ea typeface="Calibri"/>
                <a:cs typeface="Calibri"/>
                <a:sym typeface="Calibri"/>
              </a:rPr>
              <a:t>Modelado dimensional vs modelado E-R</a:t>
            </a:r>
            <a:endParaRPr lang="es-ES_tradnl" sz="1200">
              <a:latin typeface="Graphik Medium" panose="020B0503030202060203" pitchFamily="34" charset="77"/>
            </a:endParaRPr>
          </a:p>
          <a:p>
            <a:pPr marL="177798" marR="0" lvl="0" indent="-177798" algn="l" rtl="0">
              <a:lnSpc>
                <a:spcPct val="120000"/>
              </a:lnSpc>
              <a:spcBef>
                <a:spcPts val="0"/>
              </a:spcBef>
              <a:spcAft>
                <a:spcPts val="0"/>
              </a:spcAft>
              <a:buClr>
                <a:srgbClr val="E14098"/>
              </a:buClr>
              <a:buSzPct val="100000"/>
              <a:buFont typeface="Arial"/>
              <a:buChar char="•"/>
            </a:pPr>
            <a:r>
              <a:rPr lang="es-ES_tradnl" sz="1200">
                <a:latin typeface="Graphik Medium" panose="020B0503030202060203" pitchFamily="34" charset="77"/>
                <a:ea typeface="Calibri"/>
                <a:cs typeface="Calibri"/>
                <a:sym typeface="Calibri"/>
              </a:rPr>
              <a:t>Pasos para crear un modelo dimensional</a:t>
            </a:r>
            <a:endParaRPr lang="es-ES_tradnl" sz="1200">
              <a:latin typeface="Graphik Medium" panose="020B0503030202060203" pitchFamily="34" charset="77"/>
            </a:endParaRPr>
          </a:p>
          <a:p>
            <a:pPr marL="177798" marR="0" lvl="0" indent="-177798" algn="l" rtl="0">
              <a:lnSpc>
                <a:spcPct val="120000"/>
              </a:lnSpc>
              <a:spcBef>
                <a:spcPts val="0"/>
              </a:spcBef>
              <a:spcAft>
                <a:spcPts val="0"/>
              </a:spcAft>
              <a:buClr>
                <a:srgbClr val="E14098"/>
              </a:buClr>
              <a:buSzPct val="100000"/>
              <a:buFont typeface="Arial"/>
              <a:buChar char="•"/>
            </a:pPr>
            <a:r>
              <a:rPr lang="es-ES_tradnl" sz="1200">
                <a:latin typeface="Graphik Medium" panose="020B0503030202060203" pitchFamily="34" charset="77"/>
                <a:ea typeface="Calibri"/>
                <a:cs typeface="Calibri"/>
                <a:sym typeface="Calibri"/>
              </a:rPr>
              <a:t>Implementación de un  modelo dimensional en Microsoft SQL Server.</a:t>
            </a:r>
            <a:endParaRPr lang="es-ES_tradnl" sz="1200">
              <a:latin typeface="Graphik Medium" panose="020B0503030202060203" pitchFamily="34" charset="77"/>
            </a:endParaRPr>
          </a:p>
          <a:p>
            <a:pPr marL="177798" marR="0" lvl="0" indent="-177798" algn="l" rtl="0">
              <a:lnSpc>
                <a:spcPct val="120000"/>
              </a:lnSpc>
              <a:spcBef>
                <a:spcPts val="0"/>
              </a:spcBef>
              <a:spcAft>
                <a:spcPts val="0"/>
              </a:spcAft>
              <a:buClr>
                <a:srgbClr val="E14098"/>
              </a:buClr>
              <a:buSzPct val="100000"/>
              <a:buFont typeface="Arial"/>
              <a:buChar char="•"/>
            </a:pPr>
            <a:endParaRPr lang="es-ES_tradnl" sz="1200">
              <a:latin typeface="Graphik Medium" panose="020B0503030202060203" pitchFamily="34" charset="77"/>
            </a:endParaRPr>
          </a:p>
        </p:txBody>
      </p:sp>
      <p:sp>
        <p:nvSpPr>
          <p:cNvPr id="5" name="CuadroTexto 4">
            <a:extLst>
              <a:ext uri="{FF2B5EF4-FFF2-40B4-BE49-F238E27FC236}">
                <a16:creationId xmlns:a16="http://schemas.microsoft.com/office/drawing/2014/main" id="{8F0C791E-55A4-CF62-B567-CC3C65452046}"/>
              </a:ext>
            </a:extLst>
          </p:cNvPr>
          <p:cNvSpPr txBox="1"/>
          <p:nvPr/>
        </p:nvSpPr>
        <p:spPr>
          <a:xfrm>
            <a:off x="743902" y="1819386"/>
            <a:ext cx="1457648" cy="307777"/>
          </a:xfrm>
          <a:prstGeom prst="rect">
            <a:avLst/>
          </a:prstGeom>
          <a:noFill/>
        </p:spPr>
        <p:txBody>
          <a:bodyPr wrap="square" lIns="0" tIns="0" rIns="0" bIns="0" rtlCol="0">
            <a:spAutoFit/>
          </a:bodyPr>
          <a:lstStyle/>
          <a:p>
            <a:r>
              <a:rPr lang="es-ES_tradnl" sz="2000" b="1" dirty="0">
                <a:solidFill>
                  <a:srgbClr val="E14098"/>
                </a:solidFill>
                <a:latin typeface="Calibri" charset="0"/>
                <a:ea typeface="Calibri" charset="0"/>
                <a:cs typeface="Calibri" charset="0"/>
              </a:rPr>
              <a:t>SESIÓN 03</a:t>
            </a:r>
          </a:p>
        </p:txBody>
      </p:sp>
      <p:pic>
        <p:nvPicPr>
          <p:cNvPr id="6" name="Imagen 5">
            <a:extLst>
              <a:ext uri="{FF2B5EF4-FFF2-40B4-BE49-F238E27FC236}">
                <a16:creationId xmlns:a16="http://schemas.microsoft.com/office/drawing/2014/main" id="{474548A7-011E-0B5D-1381-0BA486642CE8}"/>
              </a:ext>
            </a:extLst>
          </p:cNvPr>
          <p:cNvPicPr>
            <a:picLocks noChangeAspect="1"/>
          </p:cNvPicPr>
          <p:nvPr/>
        </p:nvPicPr>
        <p:blipFill>
          <a:blip r:embed="rId4"/>
          <a:stretch>
            <a:fillRect/>
          </a:stretch>
        </p:blipFill>
        <p:spPr>
          <a:xfrm>
            <a:off x="507464" y="1883411"/>
            <a:ext cx="166865" cy="170453"/>
          </a:xfrm>
          <a:prstGeom prst="rect">
            <a:avLst/>
          </a:prstGeom>
        </p:spPr>
      </p:pic>
    </p:spTree>
    <p:extLst>
      <p:ext uri="{BB962C8B-B14F-4D97-AF65-F5344CB8AC3E}">
        <p14:creationId xmlns:p14="http://schemas.microsoft.com/office/powerpoint/2010/main" val="909209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
            <a:ext cx="9144000" cy="5715000"/>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46969"/>
            <a:ext cx="2072213" cy="3898064"/>
          </a:xfrm>
          <a:prstGeom prst="rect">
            <a:avLst/>
          </a:prstGeom>
        </p:spPr>
      </p:pic>
      <p:sp>
        <p:nvSpPr>
          <p:cNvPr id="6" name="Rectángulo 5"/>
          <p:cNvSpPr/>
          <p:nvPr/>
        </p:nvSpPr>
        <p:spPr>
          <a:xfrm>
            <a:off x="149817" y="3724759"/>
            <a:ext cx="1037633" cy="1069383"/>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CuadroTexto 3"/>
          <p:cNvSpPr txBox="1"/>
          <p:nvPr/>
        </p:nvSpPr>
        <p:spPr>
          <a:xfrm>
            <a:off x="2519363" y="2540738"/>
            <a:ext cx="4581728" cy="812530"/>
          </a:xfrm>
          <a:prstGeom prst="rect">
            <a:avLst/>
          </a:prstGeom>
          <a:noFill/>
        </p:spPr>
        <p:txBody>
          <a:bodyPr wrap="square" lIns="0" tIns="0" rIns="0" bIns="0" rtlCol="0">
            <a:spAutoFit/>
          </a:bodyPr>
          <a:lstStyle/>
          <a:p>
            <a:pPr>
              <a:lnSpc>
                <a:spcPct val="80000"/>
              </a:lnSpc>
            </a:pPr>
            <a:r>
              <a:rPr lang="es-ES_tradnl" sz="3300" dirty="0">
                <a:solidFill>
                  <a:schemeClr val="bg1"/>
                </a:solidFill>
                <a:latin typeface="Graphik Regular" charset="0"/>
                <a:ea typeface="Graphik Regular" charset="0"/>
                <a:cs typeface="Graphik Regular" charset="0"/>
              </a:rPr>
              <a:t>INTRODUCCIÓN</a:t>
            </a:r>
          </a:p>
          <a:p>
            <a:pPr>
              <a:lnSpc>
                <a:spcPct val="80000"/>
              </a:lnSpc>
            </a:pPr>
            <a:r>
              <a:rPr lang="es-ES_tradnl" sz="3300" b="1" dirty="0">
                <a:solidFill>
                  <a:schemeClr val="bg1"/>
                </a:solidFill>
                <a:latin typeface="Graphik Bold" charset="0"/>
                <a:ea typeface="Graphik Bold" charset="0"/>
                <a:cs typeface="Graphik Bold" charset="0"/>
              </a:rPr>
              <a:t>DE LA SESIÓN</a:t>
            </a:r>
          </a:p>
        </p:txBody>
      </p:sp>
      <p:pic>
        <p:nvPicPr>
          <p:cNvPr id="3" name="Imagen 2"/>
          <p:cNvPicPr>
            <a:picLocks noChangeAspect="1"/>
          </p:cNvPicPr>
          <p:nvPr/>
        </p:nvPicPr>
        <p:blipFill>
          <a:blip r:embed="rId3">
            <a:alphaModFix amt="16000"/>
          </a:blip>
          <a:stretch>
            <a:fillRect/>
          </a:stretch>
        </p:blipFill>
        <p:spPr>
          <a:xfrm>
            <a:off x="334433" y="3817749"/>
            <a:ext cx="809264" cy="809264"/>
          </a:xfrm>
          <a:prstGeom prst="rect">
            <a:avLst/>
          </a:prstGeom>
        </p:spPr>
      </p:pic>
      <p:pic>
        <p:nvPicPr>
          <p:cNvPr id="9" name="Imagen 8">
            <a:extLst>
              <a:ext uri="{FF2B5EF4-FFF2-40B4-BE49-F238E27FC236}">
                <a16:creationId xmlns:a16="http://schemas.microsoft.com/office/drawing/2014/main" id="{2CD7628C-6304-5D4B-BA7D-591238143DE2}"/>
              </a:ext>
            </a:extLst>
          </p:cNvPr>
          <p:cNvPicPr>
            <a:picLocks noChangeAspect="1"/>
          </p:cNvPicPr>
          <p:nvPr/>
        </p:nvPicPr>
        <p:blipFill>
          <a:blip r:embed="rId4"/>
          <a:stretch>
            <a:fillRect/>
          </a:stretch>
        </p:blipFill>
        <p:spPr>
          <a:xfrm>
            <a:off x="2528619" y="2194222"/>
            <a:ext cx="202176" cy="208211"/>
          </a:xfrm>
          <a:prstGeom prst="rect">
            <a:avLst/>
          </a:prstGeom>
        </p:spPr>
      </p:pic>
    </p:spTree>
    <p:extLst>
      <p:ext uri="{BB962C8B-B14F-4D97-AF65-F5344CB8AC3E}">
        <p14:creationId xmlns:p14="http://schemas.microsoft.com/office/powerpoint/2010/main" val="1941559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918960" y="5364480"/>
            <a:ext cx="2133600" cy="2244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object 7"/>
          <p:cNvSpPr txBox="1"/>
          <p:nvPr/>
        </p:nvSpPr>
        <p:spPr>
          <a:xfrm>
            <a:off x="1282298" y="918372"/>
            <a:ext cx="5636662" cy="1508105"/>
          </a:xfrm>
          <a:prstGeom prst="rect">
            <a:avLst/>
          </a:prstGeom>
        </p:spPr>
        <p:txBody>
          <a:bodyPr vert="horz" wrap="square" lIns="0" tIns="0" rIns="0" bIns="0" rtlCol="0">
            <a:spAutoFit/>
          </a:bodyPr>
          <a:lstStyle/>
          <a:p>
            <a:pPr marL="11724" marR="0" lvl="0" algn="l" rtl="0">
              <a:spcBef>
                <a:spcPts val="0"/>
              </a:spcBef>
              <a:spcAft>
                <a:spcPts val="0"/>
              </a:spcAft>
              <a:buClr>
                <a:srgbClr val="262626"/>
              </a:buClr>
              <a:buSzPts val="1600"/>
            </a:pPr>
            <a:r>
              <a:rPr lang="es-ES_tradnl" sz="1400">
                <a:solidFill>
                  <a:srgbClr val="262626"/>
                </a:solidFill>
                <a:latin typeface="Calibri"/>
                <a:ea typeface="Calibri"/>
                <a:cs typeface="Calibri"/>
                <a:sym typeface="Calibri"/>
              </a:rPr>
              <a:t>Se identificarán los componentes de un modelo dimensional: el hecho, las dimensiones y la métrica que satisfacen un requerimiento de información para análisis.</a:t>
            </a:r>
            <a:endParaRPr lang="es-ES_tradnl" sz="1400"/>
          </a:p>
          <a:p>
            <a:pPr marL="113324" marR="0" lvl="0" algn="l" rtl="0">
              <a:spcBef>
                <a:spcPts val="0"/>
              </a:spcBef>
              <a:spcAft>
                <a:spcPts val="0"/>
              </a:spcAft>
              <a:buClr>
                <a:schemeClr val="dk1"/>
              </a:buClr>
              <a:buSzPts val="1600"/>
            </a:pPr>
            <a:endParaRPr lang="es-ES_tradnl" sz="1400">
              <a:solidFill>
                <a:srgbClr val="262626"/>
              </a:solidFill>
              <a:latin typeface="Calibri"/>
              <a:ea typeface="Calibri"/>
              <a:cs typeface="Calibri"/>
              <a:sym typeface="Calibri"/>
            </a:endParaRPr>
          </a:p>
          <a:p>
            <a:pPr marL="11724" marR="0" lvl="0" algn="l" rtl="0">
              <a:spcBef>
                <a:spcPts val="0"/>
              </a:spcBef>
              <a:spcAft>
                <a:spcPts val="0"/>
              </a:spcAft>
              <a:buClr>
                <a:srgbClr val="262626"/>
              </a:buClr>
              <a:buSzPts val="1600"/>
            </a:pPr>
            <a:r>
              <a:rPr lang="es-ES_tradnl" sz="1400">
                <a:solidFill>
                  <a:srgbClr val="262626"/>
                </a:solidFill>
                <a:latin typeface="Calibri"/>
                <a:ea typeface="Calibri"/>
                <a:cs typeface="Calibri"/>
                <a:sym typeface="Calibri"/>
              </a:rPr>
              <a:t>Se representará gráficamente el modelo dimensional.</a:t>
            </a:r>
            <a:endParaRPr lang="es-ES_tradnl" sz="1400"/>
          </a:p>
          <a:p>
            <a:pPr marL="113324" marR="0" lvl="0" algn="l" rtl="0">
              <a:spcBef>
                <a:spcPts val="0"/>
              </a:spcBef>
              <a:spcAft>
                <a:spcPts val="0"/>
              </a:spcAft>
              <a:buClr>
                <a:schemeClr val="dk1"/>
              </a:buClr>
              <a:buSzPts val="1600"/>
            </a:pPr>
            <a:endParaRPr lang="es-ES_tradnl" sz="1400">
              <a:solidFill>
                <a:srgbClr val="262626"/>
              </a:solidFill>
              <a:latin typeface="Calibri"/>
              <a:ea typeface="Calibri"/>
              <a:cs typeface="Calibri"/>
              <a:sym typeface="Calibri"/>
            </a:endParaRPr>
          </a:p>
          <a:p>
            <a:pPr marL="11724" marR="0" lvl="0" algn="l" rtl="0">
              <a:spcBef>
                <a:spcPts val="0"/>
              </a:spcBef>
              <a:spcAft>
                <a:spcPts val="0"/>
              </a:spcAft>
              <a:buClr>
                <a:srgbClr val="262626"/>
              </a:buClr>
              <a:buSzPts val="1600"/>
            </a:pPr>
            <a:r>
              <a:rPr lang="es-ES_tradnl" sz="1400">
                <a:solidFill>
                  <a:srgbClr val="262626"/>
                </a:solidFill>
                <a:latin typeface="Calibri"/>
                <a:ea typeface="Calibri"/>
                <a:cs typeface="Calibri"/>
                <a:sym typeface="Calibri"/>
              </a:rPr>
              <a:t>aprenderás a codificar el script de implementación del modelo dimensional.</a:t>
            </a:r>
            <a:endParaRPr lang="es-ES_tradnl" sz="1400"/>
          </a:p>
        </p:txBody>
      </p:sp>
      <p:pic>
        <p:nvPicPr>
          <p:cNvPr id="6" name="Imagen 5"/>
          <p:cNvPicPr>
            <a:picLocks noChangeAspect="1"/>
          </p:cNvPicPr>
          <p:nvPr/>
        </p:nvPicPr>
        <p:blipFill>
          <a:blip r:embed="rId3"/>
          <a:stretch>
            <a:fillRect/>
          </a:stretch>
        </p:blipFill>
        <p:spPr>
          <a:xfrm>
            <a:off x="1010839" y="954885"/>
            <a:ext cx="117851" cy="121369"/>
          </a:xfrm>
          <a:prstGeom prst="rect">
            <a:avLst/>
          </a:prstGeom>
        </p:spPr>
      </p:pic>
      <p:sp>
        <p:nvSpPr>
          <p:cNvPr id="2" name="Rectángulo 1"/>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7" name="Imagen 16"/>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6661" y="3052731"/>
            <a:ext cx="1689027" cy="2181257"/>
          </a:xfrm>
          <a:prstGeom prst="rect">
            <a:avLst/>
          </a:prstGeom>
        </p:spPr>
      </p:pic>
      <p:sp>
        <p:nvSpPr>
          <p:cNvPr id="9" name="Rectángulo 8"/>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INTRODUCCIÓN </a:t>
            </a:r>
          </a:p>
        </p:txBody>
      </p:sp>
      <p:pic>
        <p:nvPicPr>
          <p:cNvPr id="3" name="Imagen 2">
            <a:extLst>
              <a:ext uri="{FF2B5EF4-FFF2-40B4-BE49-F238E27FC236}">
                <a16:creationId xmlns:a16="http://schemas.microsoft.com/office/drawing/2014/main" id="{AFB28DA7-64F2-C36B-1698-15FE68C6E942}"/>
              </a:ext>
            </a:extLst>
          </p:cNvPr>
          <p:cNvPicPr>
            <a:picLocks noChangeAspect="1"/>
          </p:cNvPicPr>
          <p:nvPr/>
        </p:nvPicPr>
        <p:blipFill>
          <a:blip r:embed="rId3"/>
          <a:stretch>
            <a:fillRect/>
          </a:stretch>
        </p:blipFill>
        <p:spPr>
          <a:xfrm>
            <a:off x="1010839" y="1821578"/>
            <a:ext cx="117851" cy="121369"/>
          </a:xfrm>
          <a:prstGeom prst="rect">
            <a:avLst/>
          </a:prstGeom>
        </p:spPr>
      </p:pic>
      <p:pic>
        <p:nvPicPr>
          <p:cNvPr id="5" name="Imagen 4">
            <a:extLst>
              <a:ext uri="{FF2B5EF4-FFF2-40B4-BE49-F238E27FC236}">
                <a16:creationId xmlns:a16="http://schemas.microsoft.com/office/drawing/2014/main" id="{03B66B38-8B1B-2C05-3DCC-9DB1E0245A31}"/>
              </a:ext>
            </a:extLst>
          </p:cNvPr>
          <p:cNvPicPr>
            <a:picLocks noChangeAspect="1"/>
          </p:cNvPicPr>
          <p:nvPr/>
        </p:nvPicPr>
        <p:blipFill>
          <a:blip r:embed="rId3"/>
          <a:stretch>
            <a:fillRect/>
          </a:stretch>
        </p:blipFill>
        <p:spPr>
          <a:xfrm>
            <a:off x="1010839" y="2250949"/>
            <a:ext cx="117851" cy="121369"/>
          </a:xfrm>
          <a:prstGeom prst="rect">
            <a:avLst/>
          </a:prstGeom>
        </p:spPr>
      </p:pic>
    </p:spTree>
    <p:extLst>
      <p:ext uri="{BB962C8B-B14F-4D97-AF65-F5344CB8AC3E}">
        <p14:creationId xmlns:p14="http://schemas.microsoft.com/office/powerpoint/2010/main" val="783239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997196"/>
          </a:xfrm>
          <a:prstGeom prst="rect">
            <a:avLst/>
          </a:prstGeom>
          <a:noFill/>
        </p:spPr>
        <p:txBody>
          <a:bodyPr wrap="square" lIns="0" tIns="0" rIns="0" bIns="0" rtlCol="0">
            <a:spAutoFit/>
          </a:bodyPr>
          <a:lstStyle/>
          <a:p>
            <a:pPr>
              <a:lnSpc>
                <a:spcPct val="90000"/>
              </a:lnSpc>
              <a:spcBef>
                <a:spcPts val="1000"/>
              </a:spcBef>
              <a:defRPr/>
            </a:pPr>
            <a:r>
              <a:rPr lang="en-US" sz="2400" dirty="0">
                <a:solidFill>
                  <a:schemeClr val="bg1"/>
                </a:solidFill>
                <a:latin typeface="Graphik Regular" panose="020B0503030202060203" pitchFamily="34" charset="77"/>
                <a:sym typeface="Calibri"/>
              </a:rPr>
              <a:t>COMPONENTES: </a:t>
            </a:r>
            <a:br>
              <a:rPr lang="en-US" sz="2400" dirty="0">
                <a:solidFill>
                  <a:schemeClr val="bg1"/>
                </a:solidFill>
                <a:latin typeface="Graphik Regular" panose="020B0503030202060203" pitchFamily="34" charset="77"/>
                <a:sym typeface="Calibri"/>
              </a:rPr>
            </a:br>
            <a:r>
              <a:rPr lang="en-US" sz="2400" b="1" dirty="0">
                <a:solidFill>
                  <a:schemeClr val="bg1"/>
                </a:solidFill>
                <a:latin typeface="Graphik Bold" panose="020B0503030202060203" pitchFamily="34" charset="77"/>
                <a:sym typeface="Calibri"/>
              </a:rPr>
              <a:t>TABLAS DE HECHOS, DIMENSIONES Y MEDIDAS</a:t>
            </a:r>
            <a:endParaRPr lang="en-US" sz="24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400363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4"/>
          <p:cNvSpPr txBox="1"/>
          <p:nvPr/>
        </p:nvSpPr>
        <p:spPr>
          <a:xfrm>
            <a:off x="503238" y="912813"/>
            <a:ext cx="6823710" cy="106182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ES_tradnl" sz="1600" b="1">
                <a:solidFill>
                  <a:schemeClr val="dk1"/>
                </a:solidFill>
                <a:latin typeface="Calibri"/>
                <a:ea typeface="Calibri"/>
                <a:cs typeface="Calibri"/>
                <a:sym typeface="Calibri"/>
              </a:rPr>
              <a:t>UN MODELO DIMENSIONAL ESTÁ CONFORMADO POR:</a:t>
            </a:r>
            <a:endParaRPr lang="es-ES_tradnl"/>
          </a:p>
          <a:p>
            <a:pPr marL="174625" marR="0" lvl="0" indent="-174625" algn="l" rtl="0">
              <a:spcBef>
                <a:spcPts val="0"/>
              </a:spcBef>
              <a:spcAft>
                <a:spcPts val="0"/>
              </a:spcAft>
              <a:buClr>
                <a:schemeClr val="dk1"/>
              </a:buClr>
              <a:buSzPts val="1600"/>
              <a:buFont typeface="Arial"/>
              <a:buChar char="•"/>
            </a:pPr>
            <a:r>
              <a:rPr lang="es-ES_tradnl" sz="1600">
                <a:solidFill>
                  <a:schemeClr val="dk1"/>
                </a:solidFill>
                <a:latin typeface="Calibri"/>
                <a:ea typeface="Calibri"/>
                <a:cs typeface="Calibri"/>
                <a:sym typeface="Calibri"/>
              </a:rPr>
              <a:t>los hechos</a:t>
            </a:r>
            <a:endParaRPr lang="es-ES_tradnl"/>
          </a:p>
          <a:p>
            <a:pPr marL="174625" marR="0" lvl="0" indent="-174625" algn="l" rtl="0">
              <a:spcBef>
                <a:spcPts val="0"/>
              </a:spcBef>
              <a:spcAft>
                <a:spcPts val="0"/>
              </a:spcAft>
              <a:buClr>
                <a:schemeClr val="dk1"/>
              </a:buClr>
              <a:buSzPts val="1600"/>
              <a:buFont typeface="Arial"/>
              <a:buChar char="•"/>
            </a:pPr>
            <a:r>
              <a:rPr lang="es-ES_tradnl" sz="1600">
                <a:solidFill>
                  <a:schemeClr val="dk1"/>
                </a:solidFill>
                <a:latin typeface="Calibri"/>
                <a:ea typeface="Calibri"/>
                <a:cs typeface="Calibri"/>
                <a:sym typeface="Calibri"/>
              </a:rPr>
              <a:t>las medidas</a:t>
            </a:r>
            <a:endParaRPr lang="es-ES_tradnl"/>
          </a:p>
          <a:p>
            <a:pPr marL="174625" marR="0" lvl="0" indent="-174625" algn="l" rtl="0">
              <a:spcBef>
                <a:spcPts val="0"/>
              </a:spcBef>
              <a:spcAft>
                <a:spcPts val="0"/>
              </a:spcAft>
              <a:buClr>
                <a:schemeClr val="dk1"/>
              </a:buClr>
              <a:buSzPts val="1600"/>
              <a:buFont typeface="Arial"/>
              <a:buChar char="•"/>
            </a:pPr>
            <a:r>
              <a:rPr lang="es-ES_tradnl" sz="1600">
                <a:solidFill>
                  <a:schemeClr val="dk1"/>
                </a:solidFill>
                <a:latin typeface="Calibri"/>
                <a:ea typeface="Calibri"/>
                <a:cs typeface="Calibri"/>
                <a:sym typeface="Calibri"/>
              </a:rPr>
              <a:t>las dimensiones</a:t>
            </a:r>
            <a:endParaRPr lang="es-ES_tradnl"/>
          </a:p>
        </p:txBody>
      </p:sp>
      <p:sp>
        <p:nvSpPr>
          <p:cNvPr id="2" name="Rectangle 5">
            <a:extLst>
              <a:ext uri="{FF2B5EF4-FFF2-40B4-BE49-F238E27FC236}">
                <a16:creationId xmlns:a16="http://schemas.microsoft.com/office/drawing/2014/main" id="{8668ED8A-1D0D-BBC8-4F36-C26C99BD47A3}"/>
              </a:ext>
            </a:extLst>
          </p:cNvPr>
          <p:cNvSpPr/>
          <p:nvPr/>
        </p:nvSpPr>
        <p:spPr>
          <a:xfrm>
            <a:off x="503237" y="376836"/>
            <a:ext cx="3852494"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COMPONENTES: TABLAS DE HECHOS, DIMENSIONES Y MEDIDAS</a:t>
            </a:r>
            <a:r>
              <a:rPr lang="es-PE" sz="1000" dirty="0">
                <a:solidFill>
                  <a:schemeClr val="bg1">
                    <a:lumMod val="65000"/>
                  </a:schemeClr>
                </a:solidFill>
                <a:latin typeface="Calibri" charset="0"/>
                <a:cs typeface="Calibri"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5"/>
          <p:cNvSpPr txBox="1"/>
          <p:nvPr/>
        </p:nvSpPr>
        <p:spPr>
          <a:xfrm>
            <a:off x="4067175" y="1203015"/>
            <a:ext cx="4028598" cy="3200876"/>
          </a:xfrm>
          <a:prstGeom prst="rect">
            <a:avLst/>
          </a:prstGeom>
          <a:noFill/>
          <a:ln>
            <a:noFill/>
          </a:ln>
        </p:spPr>
        <p:txBody>
          <a:bodyPr spcFirstLastPara="1" wrap="square" lIns="0" tIns="0" rIns="0" bIns="0" anchor="t" anchorCtr="0">
            <a:spAutoFit/>
          </a:bodyPr>
          <a:lstStyle/>
          <a:p>
            <a:pPr marL="174625" marR="0" lvl="0" indent="-174625" algn="l" rtl="0">
              <a:spcBef>
                <a:spcPts val="0"/>
              </a:spcBef>
              <a:spcAft>
                <a:spcPts val="0"/>
              </a:spcAft>
              <a:buClr>
                <a:schemeClr val="dk1"/>
              </a:buClr>
              <a:buSzPts val="1600"/>
              <a:buFont typeface="Arial"/>
              <a:buChar char="•"/>
            </a:pPr>
            <a:r>
              <a:rPr lang="es-ES_tradnl" sz="1600" b="1" i="1" dirty="0">
                <a:solidFill>
                  <a:schemeClr val="dk1"/>
                </a:solidFill>
                <a:latin typeface="Calibri"/>
                <a:ea typeface="Calibri"/>
                <a:cs typeface="Calibri"/>
                <a:sym typeface="Calibri"/>
              </a:rPr>
              <a:t>Los hechos </a:t>
            </a:r>
            <a:r>
              <a:rPr lang="es-ES_tradnl" sz="1600" dirty="0">
                <a:solidFill>
                  <a:schemeClr val="dk1"/>
                </a:solidFill>
                <a:latin typeface="Calibri"/>
                <a:ea typeface="Calibri"/>
                <a:cs typeface="Calibri"/>
                <a:sym typeface="Calibri"/>
              </a:rPr>
              <a:t>son las transacciones o eventos del negocio que deseamos analizar.</a:t>
            </a:r>
            <a:endParaRPr lang="es-ES_tradnl" dirty="0"/>
          </a:p>
          <a:p>
            <a:pPr marL="363538" marR="0" lvl="1" indent="-188913" algn="l" rtl="0">
              <a:spcBef>
                <a:spcPts val="0"/>
              </a:spcBef>
              <a:spcAft>
                <a:spcPts val="0"/>
              </a:spcAft>
              <a:buClr>
                <a:schemeClr val="dk1"/>
              </a:buClr>
              <a:buSzPts val="1600"/>
              <a:buFont typeface="Arial"/>
              <a:buChar char="•"/>
            </a:pPr>
            <a:r>
              <a:rPr lang="es-ES_tradnl" sz="1600" b="0" i="0" u="none" strike="noStrike" cap="none" dirty="0">
                <a:solidFill>
                  <a:schemeClr val="dk1"/>
                </a:solidFill>
                <a:latin typeface="Calibri"/>
                <a:ea typeface="Calibri"/>
                <a:cs typeface="Calibri"/>
                <a:sym typeface="Calibri"/>
              </a:rPr>
              <a:t>¿Cómo estuvo el nivel de las </a:t>
            </a:r>
            <a:r>
              <a:rPr lang="es-ES_tradnl" sz="1600" b="1" i="0" u="none" strike="noStrike" cap="none" dirty="0">
                <a:solidFill>
                  <a:srgbClr val="00B1C2"/>
                </a:solidFill>
                <a:latin typeface="Calibri"/>
                <a:ea typeface="Calibri"/>
                <a:cs typeface="Calibri"/>
                <a:sym typeface="Calibri"/>
              </a:rPr>
              <a:t>ventas</a:t>
            </a:r>
            <a:r>
              <a:rPr lang="es-ES_tradnl" sz="1600" b="0" i="0" u="none" strike="noStrike" cap="none" dirty="0">
                <a:solidFill>
                  <a:schemeClr val="dk1"/>
                </a:solidFill>
                <a:latin typeface="Calibri"/>
                <a:ea typeface="Calibri"/>
                <a:cs typeface="Calibri"/>
                <a:sym typeface="Calibri"/>
              </a:rPr>
              <a:t> en el </a:t>
            </a:r>
            <a:br>
              <a:rPr lang="es-ES_tradnl" sz="1600" b="0" i="0" u="none" strike="noStrike" cap="none" dirty="0">
                <a:solidFill>
                  <a:schemeClr val="dk1"/>
                </a:solidFill>
                <a:latin typeface="Calibri"/>
                <a:ea typeface="Calibri"/>
                <a:cs typeface="Calibri"/>
                <a:sym typeface="Calibri"/>
              </a:rPr>
            </a:br>
            <a:r>
              <a:rPr lang="es-ES_tradnl" sz="1600" b="0" i="0" u="none" strike="noStrike" cap="none" dirty="0">
                <a:solidFill>
                  <a:schemeClr val="dk1"/>
                </a:solidFill>
                <a:latin typeface="Calibri"/>
                <a:ea typeface="Calibri"/>
                <a:cs typeface="Calibri"/>
                <a:sym typeface="Calibri"/>
              </a:rPr>
              <a:t>último mes?</a:t>
            </a:r>
            <a:endParaRPr lang="es-ES_tradnl" dirty="0"/>
          </a:p>
          <a:p>
            <a:pPr marL="363538" marR="0" lvl="1" indent="-87313" algn="l" rtl="0">
              <a:spcBef>
                <a:spcPts val="0"/>
              </a:spcBef>
              <a:spcAft>
                <a:spcPts val="0"/>
              </a:spcAft>
              <a:buClr>
                <a:schemeClr val="dk1"/>
              </a:buClr>
              <a:buSzPts val="1600"/>
              <a:buFont typeface="Arial"/>
              <a:buNone/>
            </a:pPr>
            <a:endParaRPr lang="es-ES_tradnl" sz="1600" b="0" i="0" u="none" strike="noStrike" cap="none" dirty="0">
              <a:solidFill>
                <a:schemeClr val="dk1"/>
              </a:solidFill>
              <a:latin typeface="Calibri"/>
              <a:ea typeface="Calibri"/>
              <a:cs typeface="Calibri"/>
              <a:sym typeface="Calibri"/>
            </a:endParaRPr>
          </a:p>
          <a:p>
            <a:pPr marL="174625" marR="0" lvl="0" indent="-174625" algn="l" rtl="0">
              <a:spcBef>
                <a:spcPts val="0"/>
              </a:spcBef>
              <a:spcAft>
                <a:spcPts val="0"/>
              </a:spcAft>
              <a:buClr>
                <a:schemeClr val="dk1"/>
              </a:buClr>
              <a:buSzPts val="1600"/>
              <a:buFont typeface="Arial"/>
              <a:buChar char="•"/>
            </a:pPr>
            <a:r>
              <a:rPr lang="es-ES_tradnl" sz="1600" b="1" i="1" dirty="0">
                <a:solidFill>
                  <a:schemeClr val="dk1"/>
                </a:solidFill>
                <a:latin typeface="Calibri"/>
                <a:ea typeface="Calibri"/>
                <a:cs typeface="Calibri"/>
                <a:sym typeface="Calibri"/>
              </a:rPr>
              <a:t>Las medidas </a:t>
            </a:r>
            <a:r>
              <a:rPr lang="es-ES_tradnl" sz="1600" dirty="0">
                <a:solidFill>
                  <a:schemeClr val="dk1"/>
                </a:solidFill>
                <a:latin typeface="Calibri"/>
                <a:ea typeface="Calibri"/>
                <a:cs typeface="Calibri"/>
                <a:sym typeface="Calibri"/>
              </a:rPr>
              <a:t>son la base para definir los indicadores del negocio.</a:t>
            </a:r>
            <a:endParaRPr lang="es-ES_tradnl" dirty="0"/>
          </a:p>
          <a:p>
            <a:pPr marL="363538" marR="0" lvl="1" indent="-188913" algn="l" rtl="0">
              <a:spcBef>
                <a:spcPts val="0"/>
              </a:spcBef>
              <a:spcAft>
                <a:spcPts val="0"/>
              </a:spcAft>
              <a:buClr>
                <a:schemeClr val="dk1"/>
              </a:buClr>
              <a:buSzPts val="1600"/>
              <a:buFont typeface="Arial"/>
              <a:buChar char="•"/>
            </a:pPr>
            <a:r>
              <a:rPr lang="es-ES_tradnl" sz="1600" b="0" i="0" u="none" strike="noStrike" cap="none" dirty="0">
                <a:solidFill>
                  <a:schemeClr val="dk1"/>
                </a:solidFill>
                <a:latin typeface="Calibri"/>
                <a:ea typeface="Calibri"/>
                <a:cs typeface="Calibri"/>
                <a:sym typeface="Calibri"/>
              </a:rPr>
              <a:t>¿Cuántas unidades vendimos?</a:t>
            </a:r>
            <a:endParaRPr lang="es-ES_tradnl" dirty="0"/>
          </a:p>
          <a:p>
            <a:pPr marL="363538" marR="0" lvl="1" indent="-188913" algn="l" rtl="0">
              <a:spcBef>
                <a:spcPts val="0"/>
              </a:spcBef>
              <a:spcAft>
                <a:spcPts val="0"/>
              </a:spcAft>
              <a:buClr>
                <a:schemeClr val="dk1"/>
              </a:buClr>
              <a:buSzPts val="1600"/>
              <a:buFont typeface="Arial"/>
              <a:buChar char="•"/>
            </a:pPr>
            <a:r>
              <a:rPr lang="es-ES_tradnl" sz="1600" b="0" i="0" u="none" strike="noStrike" cap="none" dirty="0">
                <a:solidFill>
                  <a:schemeClr val="dk1"/>
                </a:solidFill>
                <a:latin typeface="Calibri"/>
                <a:ea typeface="Calibri"/>
                <a:cs typeface="Calibri"/>
                <a:sym typeface="Calibri"/>
              </a:rPr>
              <a:t>¿Cuánto fue el monto obtenido en dólares?</a:t>
            </a:r>
            <a:endParaRPr lang="es-ES_tradnl" dirty="0"/>
          </a:p>
          <a:p>
            <a:pPr marL="363538" marR="0" lvl="1" indent="-87313" algn="l" rtl="0">
              <a:spcBef>
                <a:spcPts val="0"/>
              </a:spcBef>
              <a:spcAft>
                <a:spcPts val="0"/>
              </a:spcAft>
              <a:buClr>
                <a:schemeClr val="dk1"/>
              </a:buClr>
              <a:buSzPts val="1600"/>
              <a:buFont typeface="Arial"/>
              <a:buNone/>
            </a:pPr>
            <a:endParaRPr lang="es-ES_tradnl" sz="1600" b="0" i="0" u="none" strike="noStrike" cap="none" dirty="0">
              <a:solidFill>
                <a:schemeClr val="dk1"/>
              </a:solidFill>
              <a:latin typeface="Calibri"/>
              <a:ea typeface="Calibri"/>
              <a:cs typeface="Calibri"/>
              <a:sym typeface="Calibri"/>
            </a:endParaRPr>
          </a:p>
          <a:p>
            <a:pPr marL="174625" marR="0" lvl="0" indent="-174625" algn="l" rtl="0">
              <a:spcBef>
                <a:spcPts val="0"/>
              </a:spcBef>
              <a:spcAft>
                <a:spcPts val="0"/>
              </a:spcAft>
              <a:buClr>
                <a:schemeClr val="dk1"/>
              </a:buClr>
              <a:buSzPts val="1600"/>
              <a:buFont typeface="Arial"/>
              <a:buChar char="•"/>
            </a:pPr>
            <a:r>
              <a:rPr lang="es-ES_tradnl" sz="1600" dirty="0">
                <a:solidFill>
                  <a:schemeClr val="dk1"/>
                </a:solidFill>
                <a:latin typeface="Calibri"/>
                <a:ea typeface="Calibri"/>
                <a:cs typeface="Calibri"/>
                <a:sym typeface="Calibri"/>
              </a:rPr>
              <a:t>En la tabla de hechos, cada fila representa una ocurrencia del hecho.</a:t>
            </a:r>
            <a:endParaRPr lang="es-ES_tradnl" dirty="0"/>
          </a:p>
          <a:p>
            <a:pPr marL="363538" marR="0" lvl="1" indent="-188913" algn="l" rtl="0">
              <a:spcBef>
                <a:spcPts val="0"/>
              </a:spcBef>
              <a:spcAft>
                <a:spcPts val="0"/>
              </a:spcAft>
              <a:buClr>
                <a:schemeClr val="dk1"/>
              </a:buClr>
              <a:buSzPts val="1600"/>
              <a:buFont typeface="Arial"/>
              <a:buChar char="•"/>
            </a:pPr>
            <a:r>
              <a:rPr lang="es-ES_tradnl" sz="1600" b="0" i="0" u="none" strike="noStrike" cap="none" dirty="0">
                <a:solidFill>
                  <a:schemeClr val="dk1"/>
                </a:solidFill>
                <a:latin typeface="Calibri"/>
                <a:ea typeface="Calibri"/>
                <a:cs typeface="Calibri"/>
                <a:sym typeface="Calibri"/>
              </a:rPr>
              <a:t>Cada fila representa una venta.</a:t>
            </a:r>
            <a:endParaRPr lang="es-ES_tradnl" dirty="0"/>
          </a:p>
        </p:txBody>
      </p:sp>
      <p:pic>
        <p:nvPicPr>
          <p:cNvPr id="54" name="Google Shape;54;p5"/>
          <p:cNvPicPr preferRelativeResize="0"/>
          <p:nvPr/>
        </p:nvPicPr>
        <p:blipFill rotWithShape="1">
          <a:blip r:embed="rId3">
            <a:alphaModFix/>
          </a:blip>
          <a:srcRect/>
          <a:stretch/>
        </p:blipFill>
        <p:spPr>
          <a:xfrm>
            <a:off x="1206255" y="1614487"/>
            <a:ext cx="2171700" cy="2486025"/>
          </a:xfrm>
          <a:prstGeom prst="rect">
            <a:avLst/>
          </a:prstGeom>
          <a:noFill/>
          <a:ln>
            <a:noFill/>
          </a:ln>
        </p:spPr>
      </p:pic>
      <p:sp>
        <p:nvSpPr>
          <p:cNvPr id="55" name="Google Shape;55;p5"/>
          <p:cNvSpPr/>
          <p:nvPr/>
        </p:nvSpPr>
        <p:spPr>
          <a:xfrm>
            <a:off x="1422909" y="3206858"/>
            <a:ext cx="937775" cy="690771"/>
          </a:xfrm>
          <a:prstGeom prst="rect">
            <a:avLst/>
          </a:prstGeom>
          <a:noFill/>
          <a:ln w="31750"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56" name="Google Shape;56;p5"/>
          <p:cNvSpPr txBox="1"/>
          <p:nvPr/>
        </p:nvSpPr>
        <p:spPr>
          <a:xfrm>
            <a:off x="1477259" y="4476757"/>
            <a:ext cx="82907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dirty="0" err="1">
                <a:solidFill>
                  <a:srgbClr val="00B1C2"/>
                </a:solidFill>
                <a:latin typeface="Calibri"/>
                <a:ea typeface="Calibri"/>
                <a:cs typeface="Calibri"/>
                <a:sym typeface="Calibri"/>
              </a:rPr>
              <a:t>Medidas</a:t>
            </a:r>
            <a:endParaRPr dirty="0">
              <a:solidFill>
                <a:srgbClr val="00B1C2"/>
              </a:solidFill>
            </a:endParaRPr>
          </a:p>
        </p:txBody>
      </p:sp>
      <p:cxnSp>
        <p:nvCxnSpPr>
          <p:cNvPr id="57" name="Google Shape;57;p5"/>
          <p:cNvCxnSpPr>
            <a:stCxn id="56" idx="0"/>
          </p:cNvCxnSpPr>
          <p:nvPr/>
        </p:nvCxnSpPr>
        <p:spPr>
          <a:xfrm rot="10800000">
            <a:off x="1891796" y="3897757"/>
            <a:ext cx="0" cy="579000"/>
          </a:xfrm>
          <a:prstGeom prst="straightConnector1">
            <a:avLst/>
          </a:prstGeom>
          <a:noFill/>
          <a:ln w="31750" cap="flat" cmpd="sng">
            <a:solidFill>
              <a:srgbClr val="00B1C2"/>
            </a:solidFill>
            <a:prstDash val="solid"/>
            <a:round/>
            <a:headEnd type="none" w="sm" len="sm"/>
            <a:tailEnd type="triangle" w="med" len="med"/>
          </a:ln>
        </p:spPr>
      </p:cxnSp>
      <p:sp>
        <p:nvSpPr>
          <p:cNvPr id="2" name="Rectangle 5">
            <a:extLst>
              <a:ext uri="{FF2B5EF4-FFF2-40B4-BE49-F238E27FC236}">
                <a16:creationId xmlns:a16="http://schemas.microsoft.com/office/drawing/2014/main" id="{3FFED6FA-73A6-49D8-B0AA-AC5FE25253B6}"/>
              </a:ext>
            </a:extLst>
          </p:cNvPr>
          <p:cNvSpPr/>
          <p:nvPr/>
        </p:nvSpPr>
        <p:spPr>
          <a:xfrm>
            <a:off x="503237" y="376836"/>
            <a:ext cx="3852494"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COMPONENTES: TABLAS DE HECHOS, DIMENSIONES Y MEDIDAS</a:t>
            </a:r>
            <a:r>
              <a:rPr lang="es-PE" sz="1000" dirty="0">
                <a:solidFill>
                  <a:schemeClr val="bg1">
                    <a:lumMod val="65000"/>
                  </a:schemeClr>
                </a:solidFill>
                <a:latin typeface="Calibri" charset="0"/>
                <a:cs typeface="Calibri" charset="0"/>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6"/>
          <p:cNvSpPr txBox="1"/>
          <p:nvPr/>
        </p:nvSpPr>
        <p:spPr>
          <a:xfrm>
            <a:off x="4789488" y="1496669"/>
            <a:ext cx="3851275" cy="2954655"/>
          </a:xfrm>
          <a:prstGeom prst="rect">
            <a:avLst/>
          </a:prstGeom>
          <a:noFill/>
          <a:ln>
            <a:noFill/>
          </a:ln>
        </p:spPr>
        <p:txBody>
          <a:bodyPr spcFirstLastPara="1" wrap="square" lIns="0" tIns="0" rIns="0" bIns="0" anchor="t" anchorCtr="0">
            <a:spAutoFit/>
          </a:bodyPr>
          <a:lstStyle/>
          <a:p>
            <a:pPr marL="174625" marR="0" lvl="0" indent="-174625" algn="l" rtl="0">
              <a:spcBef>
                <a:spcPts val="0"/>
              </a:spcBef>
              <a:spcAft>
                <a:spcPts val="0"/>
              </a:spcAft>
              <a:buClr>
                <a:schemeClr val="dk1"/>
              </a:buClr>
              <a:buSzPts val="1600"/>
              <a:buFont typeface="Arial"/>
              <a:buChar char="•"/>
            </a:pPr>
            <a:r>
              <a:rPr lang="es-ES_tradnl" sz="1600" b="1" i="1" dirty="0">
                <a:solidFill>
                  <a:schemeClr val="dk1"/>
                </a:solidFill>
                <a:latin typeface="Calibri"/>
                <a:ea typeface="Calibri"/>
                <a:cs typeface="Calibri"/>
                <a:sym typeface="Calibri"/>
              </a:rPr>
              <a:t>Las dimensiones </a:t>
            </a:r>
            <a:r>
              <a:rPr lang="es-ES_tradnl" sz="1600" dirty="0">
                <a:solidFill>
                  <a:schemeClr val="dk1"/>
                </a:solidFill>
                <a:latin typeface="Calibri"/>
                <a:ea typeface="Calibri"/>
                <a:cs typeface="Calibri"/>
                <a:sym typeface="Calibri"/>
              </a:rPr>
              <a:t>son los "puntos de vista" por los que se realiza el análisis de los hechos.</a:t>
            </a:r>
            <a:endParaRPr lang="es-ES_tradnl" dirty="0"/>
          </a:p>
          <a:p>
            <a:pPr marL="363538" marR="0" lvl="1" indent="-188913" algn="l" rtl="0">
              <a:spcBef>
                <a:spcPts val="0"/>
              </a:spcBef>
              <a:spcAft>
                <a:spcPts val="0"/>
              </a:spcAft>
              <a:buClr>
                <a:schemeClr val="dk1"/>
              </a:buClr>
              <a:buSzPts val="1600"/>
              <a:buFont typeface="Arial"/>
              <a:buChar char="•"/>
            </a:pPr>
            <a:r>
              <a:rPr lang="es-ES_tradnl" sz="1600" b="0" i="0" u="none" strike="noStrike" cap="none" dirty="0">
                <a:solidFill>
                  <a:schemeClr val="dk1"/>
                </a:solidFill>
                <a:latin typeface="Calibri"/>
                <a:ea typeface="Calibri"/>
                <a:cs typeface="Calibri"/>
                <a:sym typeface="Calibri"/>
              </a:rPr>
              <a:t>Ventas por </a:t>
            </a:r>
            <a:r>
              <a:rPr lang="es-ES_tradnl" sz="1600" b="0" i="0" u="none" strike="noStrike" cap="none" dirty="0">
                <a:solidFill>
                  <a:srgbClr val="00B1C2"/>
                </a:solidFill>
                <a:latin typeface="Calibri"/>
                <a:ea typeface="Calibri"/>
                <a:cs typeface="Calibri"/>
                <a:sym typeface="Calibri"/>
              </a:rPr>
              <a:t>cliente</a:t>
            </a:r>
            <a:r>
              <a:rPr lang="es-ES_tradnl" sz="1600" b="0" i="0" u="none" strike="noStrike" cap="none" dirty="0">
                <a:solidFill>
                  <a:schemeClr val="dk1"/>
                </a:solidFill>
                <a:latin typeface="Calibri"/>
                <a:ea typeface="Calibri"/>
                <a:cs typeface="Calibri"/>
                <a:sym typeface="Calibri"/>
              </a:rPr>
              <a:t>.</a:t>
            </a:r>
            <a:endParaRPr lang="es-ES_tradnl" dirty="0"/>
          </a:p>
          <a:p>
            <a:pPr marL="363538" marR="0" lvl="1" indent="-188913" algn="l" rtl="0">
              <a:spcBef>
                <a:spcPts val="0"/>
              </a:spcBef>
              <a:spcAft>
                <a:spcPts val="0"/>
              </a:spcAft>
              <a:buClr>
                <a:schemeClr val="dk1"/>
              </a:buClr>
              <a:buSzPts val="1600"/>
              <a:buFont typeface="Arial"/>
              <a:buChar char="•"/>
            </a:pPr>
            <a:r>
              <a:rPr lang="es-ES_tradnl" sz="1600" b="0" i="0" u="none" strike="noStrike" cap="none" dirty="0">
                <a:solidFill>
                  <a:schemeClr val="dk1"/>
                </a:solidFill>
                <a:latin typeface="Calibri"/>
                <a:ea typeface="Calibri"/>
                <a:cs typeface="Calibri"/>
                <a:sym typeface="Calibri"/>
              </a:rPr>
              <a:t>Ventas por </a:t>
            </a:r>
            <a:r>
              <a:rPr lang="es-ES_tradnl" sz="1600" b="0" i="0" u="none" strike="noStrike" cap="none" dirty="0">
                <a:solidFill>
                  <a:srgbClr val="00B1C2"/>
                </a:solidFill>
                <a:latin typeface="Calibri"/>
                <a:ea typeface="Calibri"/>
                <a:cs typeface="Calibri"/>
                <a:sym typeface="Calibri"/>
              </a:rPr>
              <a:t>producto</a:t>
            </a:r>
            <a:r>
              <a:rPr lang="es-ES_tradnl" sz="1600" b="0" i="0" u="none" strike="noStrike" cap="none" dirty="0">
                <a:solidFill>
                  <a:schemeClr val="dk1"/>
                </a:solidFill>
                <a:latin typeface="Calibri"/>
                <a:ea typeface="Calibri"/>
                <a:cs typeface="Calibri"/>
                <a:sym typeface="Calibri"/>
              </a:rPr>
              <a:t>.</a:t>
            </a:r>
            <a:endParaRPr lang="es-ES_tradnl" dirty="0"/>
          </a:p>
          <a:p>
            <a:pPr marL="363538" marR="0" lvl="1" indent="-188913" algn="l" rtl="0">
              <a:spcBef>
                <a:spcPts val="0"/>
              </a:spcBef>
              <a:spcAft>
                <a:spcPts val="0"/>
              </a:spcAft>
              <a:buClr>
                <a:schemeClr val="dk1"/>
              </a:buClr>
              <a:buSzPts val="1600"/>
              <a:buFont typeface="Arial"/>
              <a:buChar char="•"/>
            </a:pPr>
            <a:r>
              <a:rPr lang="es-ES_tradnl" sz="1600" b="0" i="0" u="none" strike="noStrike" cap="none" dirty="0">
                <a:solidFill>
                  <a:schemeClr val="dk1"/>
                </a:solidFill>
                <a:latin typeface="Calibri"/>
                <a:ea typeface="Calibri"/>
                <a:cs typeface="Calibri"/>
                <a:sym typeface="Calibri"/>
              </a:rPr>
              <a:t>Ventas </a:t>
            </a:r>
            <a:r>
              <a:rPr lang="es-ES_tradnl" sz="1600" b="0" i="0" u="none" strike="noStrike" cap="none" dirty="0">
                <a:solidFill>
                  <a:srgbClr val="00B1C2"/>
                </a:solidFill>
                <a:latin typeface="Calibri"/>
                <a:ea typeface="Calibri"/>
                <a:cs typeface="Calibri"/>
                <a:sym typeface="Calibri"/>
              </a:rPr>
              <a:t>mensuales</a:t>
            </a:r>
            <a:r>
              <a:rPr lang="es-ES_tradnl" sz="1600" b="0" i="0" u="none" strike="noStrike" cap="none" dirty="0">
                <a:solidFill>
                  <a:schemeClr val="dk1"/>
                </a:solidFill>
                <a:latin typeface="Calibri"/>
                <a:ea typeface="Calibri"/>
                <a:cs typeface="Calibri"/>
                <a:sym typeface="Calibri"/>
              </a:rPr>
              <a:t>.</a:t>
            </a:r>
            <a:endParaRPr lang="es-ES_tradnl" dirty="0"/>
          </a:p>
          <a:p>
            <a:pPr marL="363538" marR="0" lvl="1" indent="-188913" algn="l" rtl="0">
              <a:spcBef>
                <a:spcPts val="0"/>
              </a:spcBef>
              <a:spcAft>
                <a:spcPts val="0"/>
              </a:spcAft>
              <a:buClr>
                <a:schemeClr val="dk1"/>
              </a:buClr>
              <a:buSzPts val="1600"/>
              <a:buFont typeface="Arial"/>
              <a:buChar char="•"/>
            </a:pPr>
            <a:r>
              <a:rPr lang="es-ES_tradnl" sz="1600" b="0" i="0" u="none" strike="noStrike" cap="none" dirty="0">
                <a:solidFill>
                  <a:schemeClr val="dk1"/>
                </a:solidFill>
                <a:latin typeface="Calibri"/>
                <a:ea typeface="Calibri"/>
                <a:cs typeface="Calibri"/>
                <a:sym typeface="Calibri"/>
              </a:rPr>
              <a:t>Ventas </a:t>
            </a:r>
            <a:r>
              <a:rPr lang="es-ES_tradnl" sz="1600" b="0" i="0" u="none" strike="noStrike" cap="none" dirty="0">
                <a:solidFill>
                  <a:srgbClr val="00B1C2"/>
                </a:solidFill>
                <a:latin typeface="Calibri"/>
                <a:ea typeface="Calibri"/>
                <a:cs typeface="Calibri"/>
                <a:sym typeface="Calibri"/>
              </a:rPr>
              <a:t>mensuales</a:t>
            </a:r>
            <a:r>
              <a:rPr lang="es-ES_tradnl" sz="1600" b="0" i="0" u="none" strike="noStrike" cap="none" dirty="0">
                <a:solidFill>
                  <a:schemeClr val="dk1"/>
                </a:solidFill>
                <a:latin typeface="Calibri"/>
                <a:ea typeface="Calibri"/>
                <a:cs typeface="Calibri"/>
                <a:sym typeface="Calibri"/>
              </a:rPr>
              <a:t> por </a:t>
            </a:r>
            <a:r>
              <a:rPr lang="es-ES_tradnl" sz="1600" b="0" i="0" u="none" strike="noStrike" cap="none" dirty="0">
                <a:solidFill>
                  <a:srgbClr val="00B1C2"/>
                </a:solidFill>
                <a:latin typeface="Calibri"/>
                <a:ea typeface="Calibri"/>
                <a:cs typeface="Calibri"/>
                <a:sym typeface="Calibri"/>
              </a:rPr>
              <a:t>producto</a:t>
            </a:r>
            <a:r>
              <a:rPr lang="es-ES_tradnl" sz="1600" b="0" i="0" u="none" strike="noStrike" cap="none" dirty="0">
                <a:solidFill>
                  <a:schemeClr val="dk1"/>
                </a:solidFill>
                <a:latin typeface="Calibri"/>
                <a:ea typeface="Calibri"/>
                <a:cs typeface="Calibri"/>
                <a:sym typeface="Calibri"/>
              </a:rPr>
              <a:t> y </a:t>
            </a:r>
            <a:r>
              <a:rPr lang="es-ES_tradnl" sz="1600" b="0" i="0" u="none" strike="noStrike" cap="none" dirty="0">
                <a:solidFill>
                  <a:srgbClr val="00B1C2"/>
                </a:solidFill>
                <a:latin typeface="Calibri"/>
                <a:ea typeface="Calibri"/>
                <a:cs typeface="Calibri"/>
                <a:sym typeface="Calibri"/>
              </a:rPr>
              <a:t>cliente</a:t>
            </a:r>
            <a:r>
              <a:rPr lang="es-ES_tradnl" sz="1600" b="0" i="0" u="none" strike="noStrike" cap="none" dirty="0">
                <a:solidFill>
                  <a:schemeClr val="dk1"/>
                </a:solidFill>
                <a:latin typeface="Calibri"/>
                <a:ea typeface="Calibri"/>
                <a:cs typeface="Calibri"/>
                <a:sym typeface="Calibri"/>
              </a:rPr>
              <a:t>.</a:t>
            </a:r>
            <a:endParaRPr lang="es-ES_tradnl" dirty="0"/>
          </a:p>
          <a:p>
            <a:pPr marL="363538" marR="0" lvl="1" indent="-87313" algn="l" rtl="0">
              <a:spcBef>
                <a:spcPts val="0"/>
              </a:spcBef>
              <a:spcAft>
                <a:spcPts val="0"/>
              </a:spcAft>
              <a:buClr>
                <a:schemeClr val="dk1"/>
              </a:buClr>
              <a:buSzPts val="1600"/>
              <a:buFont typeface="Arial"/>
              <a:buNone/>
            </a:pPr>
            <a:endParaRPr lang="es-ES_tradnl" sz="1600" b="0" i="0" u="none" strike="noStrike" cap="none" dirty="0">
              <a:solidFill>
                <a:schemeClr val="dk1"/>
              </a:solidFill>
              <a:latin typeface="Calibri"/>
              <a:ea typeface="Calibri"/>
              <a:cs typeface="Calibri"/>
              <a:sym typeface="Calibri"/>
            </a:endParaRPr>
          </a:p>
          <a:p>
            <a:pPr marL="174625" marR="0" lvl="0" indent="-174625" algn="l" rtl="0">
              <a:spcBef>
                <a:spcPts val="0"/>
              </a:spcBef>
              <a:spcAft>
                <a:spcPts val="0"/>
              </a:spcAft>
              <a:buClr>
                <a:schemeClr val="dk1"/>
              </a:buClr>
              <a:buSzPts val="1600"/>
              <a:buFont typeface="Arial"/>
              <a:buChar char="•"/>
            </a:pPr>
            <a:r>
              <a:rPr lang="es-ES_tradnl" sz="1600" dirty="0">
                <a:solidFill>
                  <a:schemeClr val="dk1"/>
                </a:solidFill>
                <a:latin typeface="Calibri"/>
                <a:ea typeface="Calibri"/>
                <a:cs typeface="Calibri"/>
                <a:sym typeface="Calibri"/>
              </a:rPr>
              <a:t>En la tabla de dimensión, cada fila representa una instancia de la dimensión.</a:t>
            </a:r>
            <a:endParaRPr lang="es-ES_tradnl" dirty="0"/>
          </a:p>
          <a:p>
            <a:pPr marL="363538" marR="0" lvl="1" indent="-188913" algn="l" rtl="0">
              <a:spcBef>
                <a:spcPts val="0"/>
              </a:spcBef>
              <a:spcAft>
                <a:spcPts val="0"/>
              </a:spcAft>
              <a:buClr>
                <a:schemeClr val="dk1"/>
              </a:buClr>
              <a:buSzPts val="1600"/>
              <a:buFont typeface="Arial"/>
              <a:buChar char="•"/>
            </a:pPr>
            <a:r>
              <a:rPr lang="es-ES_tradnl" sz="1600" b="0" i="0" u="none" strike="noStrike" cap="none" dirty="0">
                <a:solidFill>
                  <a:schemeClr val="dk1"/>
                </a:solidFill>
                <a:latin typeface="Calibri"/>
                <a:ea typeface="Calibri"/>
                <a:cs typeface="Calibri"/>
                <a:sym typeface="Calibri"/>
              </a:rPr>
              <a:t>En la dimensión cliente, cada fila representa a un cliente y sus atributos.</a:t>
            </a:r>
            <a:endParaRPr lang="es-ES_tradnl" dirty="0"/>
          </a:p>
        </p:txBody>
      </p:sp>
      <p:grpSp>
        <p:nvGrpSpPr>
          <p:cNvPr id="64" name="Google Shape;64;p6"/>
          <p:cNvGrpSpPr/>
          <p:nvPr/>
        </p:nvGrpSpPr>
        <p:grpSpPr>
          <a:xfrm>
            <a:off x="532161" y="1496669"/>
            <a:ext cx="4127521" cy="3359260"/>
            <a:chOff x="601980" y="1421513"/>
            <a:chExt cx="4267200" cy="3472940"/>
          </a:xfrm>
        </p:grpSpPr>
        <p:pic>
          <p:nvPicPr>
            <p:cNvPr id="65" name="Google Shape;65;p6"/>
            <p:cNvPicPr preferRelativeResize="0"/>
            <p:nvPr/>
          </p:nvPicPr>
          <p:blipFill rotWithShape="1">
            <a:blip r:embed="rId3">
              <a:alphaModFix/>
            </a:blip>
            <a:srcRect/>
            <a:stretch/>
          </p:blipFill>
          <p:spPr>
            <a:xfrm>
              <a:off x="601980" y="1421513"/>
              <a:ext cx="4267200" cy="3472940"/>
            </a:xfrm>
            <a:prstGeom prst="rect">
              <a:avLst/>
            </a:prstGeom>
            <a:noFill/>
            <a:ln>
              <a:noFill/>
            </a:ln>
          </p:spPr>
        </p:pic>
        <p:sp>
          <p:nvSpPr>
            <p:cNvPr id="66" name="Google Shape;66;p6"/>
            <p:cNvSpPr/>
            <p:nvPr/>
          </p:nvSpPr>
          <p:spPr>
            <a:xfrm>
              <a:off x="601980" y="1421513"/>
              <a:ext cx="678180" cy="304417"/>
            </a:xfrm>
            <a:prstGeom prst="rect">
              <a:avLst/>
            </a:prstGeom>
            <a:noFill/>
            <a:ln w="31750" cap="flat" cmpd="sng">
              <a:solidFill>
                <a:srgbClr val="EE463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 name="Google Shape;67;p6"/>
            <p:cNvSpPr/>
            <p:nvPr/>
          </p:nvSpPr>
          <p:spPr>
            <a:xfrm>
              <a:off x="2948940" y="1421704"/>
              <a:ext cx="788670" cy="304417"/>
            </a:xfrm>
            <a:prstGeom prst="rect">
              <a:avLst/>
            </a:prstGeom>
            <a:noFill/>
            <a:ln w="31750" cap="flat" cmpd="sng">
              <a:solidFill>
                <a:srgbClr val="EE463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 name="Google Shape;68;p6"/>
            <p:cNvSpPr/>
            <p:nvPr/>
          </p:nvSpPr>
          <p:spPr>
            <a:xfrm>
              <a:off x="3078480" y="3402904"/>
              <a:ext cx="659130" cy="304417"/>
            </a:xfrm>
            <a:prstGeom prst="rect">
              <a:avLst/>
            </a:prstGeom>
            <a:noFill/>
            <a:ln w="31750" cap="flat" cmpd="sng">
              <a:solidFill>
                <a:srgbClr val="EE463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 name="Rectangle 5">
            <a:extLst>
              <a:ext uri="{FF2B5EF4-FFF2-40B4-BE49-F238E27FC236}">
                <a16:creationId xmlns:a16="http://schemas.microsoft.com/office/drawing/2014/main" id="{90177053-464D-DD5B-FD0E-D3AB08022F2E}"/>
              </a:ext>
            </a:extLst>
          </p:cNvPr>
          <p:cNvSpPr/>
          <p:nvPr/>
        </p:nvSpPr>
        <p:spPr>
          <a:xfrm>
            <a:off x="503237" y="376836"/>
            <a:ext cx="3852494"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COMPONENTES: TABLAS DE HECHOS, DIMENSIONES Y MEDIDAS</a:t>
            </a:r>
            <a:r>
              <a:rPr lang="es-PE" sz="1000" dirty="0">
                <a:solidFill>
                  <a:schemeClr val="bg1">
                    <a:lumMod val="65000"/>
                  </a:schemeClr>
                </a:solidFill>
                <a:latin typeface="Calibri" charset="0"/>
                <a:cs typeface="Calibri" charset="0"/>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7"/>
          <p:cNvPicPr preferRelativeResize="0"/>
          <p:nvPr/>
        </p:nvPicPr>
        <p:blipFill rotWithShape="1">
          <a:blip r:embed="rId3">
            <a:alphaModFix/>
          </a:blip>
          <a:srcRect/>
          <a:stretch/>
        </p:blipFill>
        <p:spPr>
          <a:xfrm>
            <a:off x="1068783" y="1109756"/>
            <a:ext cx="6975074" cy="4065560"/>
          </a:xfrm>
          <a:prstGeom prst="rect">
            <a:avLst/>
          </a:prstGeom>
          <a:noFill/>
          <a:ln>
            <a:noFill/>
          </a:ln>
        </p:spPr>
      </p:pic>
      <p:sp>
        <p:nvSpPr>
          <p:cNvPr id="76" name="Google Shape;76;p7"/>
          <p:cNvSpPr txBox="1"/>
          <p:nvPr/>
        </p:nvSpPr>
        <p:spPr>
          <a:xfrm>
            <a:off x="5891250" y="1461201"/>
            <a:ext cx="1207062"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a:solidFill>
                  <a:srgbClr val="000000"/>
                </a:solidFill>
                <a:latin typeface="Calibri"/>
                <a:ea typeface="Calibri"/>
                <a:cs typeface="Calibri"/>
                <a:sym typeface="Calibri"/>
              </a:rPr>
              <a:t>Dimensión Tiempo</a:t>
            </a:r>
            <a:endParaRPr/>
          </a:p>
        </p:txBody>
      </p:sp>
      <p:sp>
        <p:nvSpPr>
          <p:cNvPr id="77" name="Google Shape;77;p7"/>
          <p:cNvSpPr txBox="1"/>
          <p:nvPr/>
        </p:nvSpPr>
        <p:spPr>
          <a:xfrm>
            <a:off x="1134890" y="3998144"/>
            <a:ext cx="1364156"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a:solidFill>
                  <a:srgbClr val="000000"/>
                </a:solidFill>
                <a:latin typeface="Calibri"/>
                <a:ea typeface="Calibri"/>
                <a:cs typeface="Calibri"/>
                <a:sym typeface="Calibri"/>
              </a:rPr>
              <a:t>Dimensión Empleado</a:t>
            </a:r>
            <a:endParaRPr/>
          </a:p>
        </p:txBody>
      </p:sp>
      <p:sp>
        <p:nvSpPr>
          <p:cNvPr id="78" name="Google Shape;78;p7"/>
          <p:cNvSpPr txBox="1"/>
          <p:nvPr/>
        </p:nvSpPr>
        <p:spPr>
          <a:xfrm>
            <a:off x="5317388" y="3460626"/>
            <a:ext cx="72808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dirty="0" err="1">
                <a:solidFill>
                  <a:srgbClr val="EE4639"/>
                </a:solidFill>
                <a:latin typeface="Calibri"/>
                <a:ea typeface="Calibri"/>
                <a:cs typeface="Calibri"/>
                <a:sym typeface="Calibri"/>
              </a:rPr>
              <a:t>Hechos</a:t>
            </a:r>
            <a:endParaRPr dirty="0">
              <a:solidFill>
                <a:srgbClr val="EE4639"/>
              </a:solidFill>
            </a:endParaRPr>
          </a:p>
        </p:txBody>
      </p:sp>
      <p:sp>
        <p:nvSpPr>
          <p:cNvPr id="79" name="Google Shape;79;p7"/>
          <p:cNvSpPr/>
          <p:nvPr/>
        </p:nvSpPr>
        <p:spPr>
          <a:xfrm>
            <a:off x="3496549" y="2504346"/>
            <a:ext cx="1831402" cy="2196657"/>
          </a:xfrm>
          <a:prstGeom prst="rect">
            <a:avLst/>
          </a:prstGeom>
          <a:noFill/>
          <a:ln w="31750" cap="flat" cmpd="sng">
            <a:solidFill>
              <a:srgbClr val="EE463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80" name="Google Shape;80;p7"/>
          <p:cNvSpPr txBox="1"/>
          <p:nvPr/>
        </p:nvSpPr>
        <p:spPr>
          <a:xfrm>
            <a:off x="1112650" y="1669262"/>
            <a:ext cx="1386085"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a:solidFill>
                  <a:srgbClr val="000000"/>
                </a:solidFill>
                <a:latin typeface="Calibri"/>
                <a:ea typeface="Calibri"/>
                <a:cs typeface="Calibri"/>
                <a:sym typeface="Calibri"/>
              </a:rPr>
              <a:t>Dimensión Proveedor</a:t>
            </a:r>
            <a:endParaRPr/>
          </a:p>
        </p:txBody>
      </p:sp>
      <p:sp>
        <p:nvSpPr>
          <p:cNvPr id="81" name="Google Shape;81;p7"/>
          <p:cNvSpPr txBox="1"/>
          <p:nvPr/>
        </p:nvSpPr>
        <p:spPr>
          <a:xfrm>
            <a:off x="6293833" y="3972481"/>
            <a:ext cx="1168525"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a:solidFill>
                  <a:srgbClr val="000000"/>
                </a:solidFill>
                <a:latin typeface="Calibri"/>
                <a:ea typeface="Calibri"/>
                <a:cs typeface="Calibri"/>
                <a:sym typeface="Calibri"/>
              </a:rPr>
              <a:t>Dimensión Cliente</a:t>
            </a:r>
            <a:endParaRPr/>
          </a:p>
        </p:txBody>
      </p:sp>
      <p:sp>
        <p:nvSpPr>
          <p:cNvPr id="82" name="Google Shape;82;p7"/>
          <p:cNvSpPr/>
          <p:nvPr/>
        </p:nvSpPr>
        <p:spPr>
          <a:xfrm>
            <a:off x="3691375" y="3851562"/>
            <a:ext cx="765810" cy="560070"/>
          </a:xfrm>
          <a:prstGeom prst="rect">
            <a:avLst/>
          </a:prstGeom>
          <a:noFill/>
          <a:ln w="31750"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83" name="Google Shape;83;p7"/>
          <p:cNvSpPr txBox="1"/>
          <p:nvPr/>
        </p:nvSpPr>
        <p:spPr>
          <a:xfrm>
            <a:off x="5428736" y="4080814"/>
            <a:ext cx="76431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0098A6"/>
                </a:solidFill>
                <a:latin typeface="Calibri"/>
                <a:ea typeface="Calibri"/>
                <a:cs typeface="Calibri"/>
                <a:sym typeface="Calibri"/>
              </a:rPr>
              <a:t>Métrica</a:t>
            </a:r>
            <a:endParaRPr/>
          </a:p>
        </p:txBody>
      </p:sp>
      <p:sp>
        <p:nvSpPr>
          <p:cNvPr id="84" name="Google Shape;84;p7"/>
          <p:cNvSpPr txBox="1"/>
          <p:nvPr/>
        </p:nvSpPr>
        <p:spPr>
          <a:xfrm>
            <a:off x="3576500" y="912813"/>
            <a:ext cx="130632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_tradnl" sz="1200" b="1">
                <a:solidFill>
                  <a:srgbClr val="000000"/>
                </a:solidFill>
                <a:latin typeface="Calibri"/>
                <a:ea typeface="Calibri"/>
                <a:cs typeface="Calibri"/>
                <a:sym typeface="Calibri"/>
              </a:rPr>
              <a:t>Dimensión Producto</a:t>
            </a:r>
            <a:endParaRPr lang="es-ES_tradnl"/>
          </a:p>
        </p:txBody>
      </p:sp>
      <p:cxnSp>
        <p:nvCxnSpPr>
          <p:cNvPr id="85" name="Google Shape;85;p7"/>
          <p:cNvCxnSpPr/>
          <p:nvPr/>
        </p:nvCxnSpPr>
        <p:spPr>
          <a:xfrm rot="10800000">
            <a:off x="4473281" y="4005450"/>
            <a:ext cx="1002949" cy="236649"/>
          </a:xfrm>
          <a:prstGeom prst="straightConnector1">
            <a:avLst/>
          </a:prstGeom>
          <a:noFill/>
          <a:ln w="31750" cap="flat" cmpd="sng">
            <a:solidFill>
              <a:srgbClr val="00B1C2"/>
            </a:solidFill>
            <a:prstDash val="solid"/>
            <a:round/>
            <a:headEnd type="none" w="sm" len="sm"/>
            <a:tailEnd type="triangle" w="med" len="med"/>
          </a:ln>
        </p:spPr>
      </p:cxnSp>
      <p:sp>
        <p:nvSpPr>
          <p:cNvPr id="2" name="Rectangle 5">
            <a:extLst>
              <a:ext uri="{FF2B5EF4-FFF2-40B4-BE49-F238E27FC236}">
                <a16:creationId xmlns:a16="http://schemas.microsoft.com/office/drawing/2014/main" id="{A0A08DBE-4CD2-FFDD-78BC-FF67AD4192B7}"/>
              </a:ext>
            </a:extLst>
          </p:cNvPr>
          <p:cNvSpPr/>
          <p:nvPr/>
        </p:nvSpPr>
        <p:spPr>
          <a:xfrm>
            <a:off x="503237" y="376836"/>
            <a:ext cx="3852494"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COMPONENTES: TABLAS DE HECHOS, DIMENSIONES Y MEDIDAS</a:t>
            </a:r>
            <a:r>
              <a:rPr lang="es-PE" sz="1000" dirty="0">
                <a:solidFill>
                  <a:schemeClr val="bg1">
                    <a:lumMod val="65000"/>
                  </a:schemeClr>
                </a:solidFill>
                <a:latin typeface="Calibri" charset="0"/>
                <a:cs typeface="Calibri"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775597"/>
          </a:xfrm>
          <a:prstGeom prst="rect">
            <a:avLst/>
          </a:prstGeom>
          <a:noFill/>
        </p:spPr>
        <p:txBody>
          <a:bodyPr wrap="square" lIns="0" tIns="0" rIns="0" bIns="0" rtlCol="0">
            <a:spAutoFit/>
          </a:bodyPr>
          <a:lstStyle/>
          <a:p>
            <a:pPr>
              <a:lnSpc>
                <a:spcPct val="90000"/>
              </a:lnSpc>
              <a:spcBef>
                <a:spcPts val="1000"/>
              </a:spcBef>
              <a:defRPr/>
            </a:pPr>
            <a:r>
              <a:rPr lang="en-US" sz="2800" dirty="0">
                <a:solidFill>
                  <a:schemeClr val="bg1"/>
                </a:solidFill>
                <a:latin typeface="Graphik Regular" panose="020B0503030202060203" pitchFamily="34" charset="77"/>
                <a:sym typeface="Calibri"/>
              </a:rPr>
              <a:t>ESQUEMAS: </a:t>
            </a:r>
            <a:br>
              <a:rPr lang="en-US" sz="2800" b="1" dirty="0">
                <a:solidFill>
                  <a:schemeClr val="bg1"/>
                </a:solidFill>
                <a:latin typeface="Graphik Bold" panose="020B0503030202060203" pitchFamily="34" charset="77"/>
                <a:sym typeface="Calibri"/>
              </a:rPr>
            </a:br>
            <a:r>
              <a:rPr lang="en-US" sz="2800" b="1" dirty="0">
                <a:solidFill>
                  <a:schemeClr val="bg1"/>
                </a:solidFill>
                <a:latin typeface="Graphik Bold" panose="020B0503030202060203" pitchFamily="34" charset="77"/>
                <a:sym typeface="Calibri"/>
              </a:rPr>
              <a:t>ESTRELLA Y COPO DE NIEVE</a:t>
            </a:r>
            <a:endParaRPr lang="en-US" sz="28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1414889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8" name="Google Shape;98;p9"/>
          <p:cNvPicPr preferRelativeResize="0"/>
          <p:nvPr/>
        </p:nvPicPr>
        <p:blipFill rotWithShape="1">
          <a:blip r:embed="rId3">
            <a:alphaModFix/>
          </a:blip>
          <a:srcRect/>
          <a:stretch/>
        </p:blipFill>
        <p:spPr>
          <a:xfrm>
            <a:off x="494700" y="1726732"/>
            <a:ext cx="3887518" cy="2281427"/>
          </a:xfrm>
          <a:prstGeom prst="rect">
            <a:avLst/>
          </a:prstGeom>
          <a:noFill/>
          <a:ln>
            <a:noFill/>
          </a:ln>
        </p:spPr>
      </p:pic>
      <p:pic>
        <p:nvPicPr>
          <p:cNvPr id="99" name="Google Shape;99;p9"/>
          <p:cNvPicPr preferRelativeResize="0"/>
          <p:nvPr/>
        </p:nvPicPr>
        <p:blipFill rotWithShape="1">
          <a:blip r:embed="rId4">
            <a:alphaModFix/>
          </a:blip>
          <a:srcRect/>
          <a:stretch/>
        </p:blipFill>
        <p:spPr>
          <a:xfrm>
            <a:off x="4898710" y="1829697"/>
            <a:ext cx="3697038" cy="2181858"/>
          </a:xfrm>
          <a:prstGeom prst="rect">
            <a:avLst/>
          </a:prstGeom>
          <a:noFill/>
          <a:ln>
            <a:noFill/>
          </a:ln>
        </p:spPr>
      </p:pic>
      <p:sp>
        <p:nvSpPr>
          <p:cNvPr id="100" name="Google Shape;100;p9"/>
          <p:cNvSpPr txBox="1"/>
          <p:nvPr/>
        </p:nvSpPr>
        <p:spPr>
          <a:xfrm>
            <a:off x="509075" y="914261"/>
            <a:ext cx="1728487"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ESQUEMA ESTRELLA</a:t>
            </a:r>
            <a:endParaRPr dirty="0"/>
          </a:p>
        </p:txBody>
      </p:sp>
      <p:sp>
        <p:nvSpPr>
          <p:cNvPr id="101" name="Google Shape;101;p9"/>
          <p:cNvSpPr txBox="1"/>
          <p:nvPr/>
        </p:nvSpPr>
        <p:spPr>
          <a:xfrm>
            <a:off x="4761783" y="923273"/>
            <a:ext cx="2248757"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ESQUEMA COPO DE NIEVE</a:t>
            </a:r>
            <a:endParaRPr dirty="0"/>
          </a:p>
        </p:txBody>
      </p:sp>
      <p:cxnSp>
        <p:nvCxnSpPr>
          <p:cNvPr id="102" name="Google Shape;102;p9"/>
          <p:cNvCxnSpPr/>
          <p:nvPr/>
        </p:nvCxnSpPr>
        <p:spPr>
          <a:xfrm>
            <a:off x="4572000" y="948325"/>
            <a:ext cx="0" cy="4277293"/>
          </a:xfrm>
          <a:prstGeom prst="straightConnector1">
            <a:avLst/>
          </a:prstGeom>
          <a:noFill/>
          <a:ln w="19050" cap="flat" cmpd="sng">
            <a:solidFill>
              <a:srgbClr val="00B1C2"/>
            </a:solidFill>
            <a:prstDash val="solid"/>
            <a:round/>
            <a:headEnd type="none" w="sm" len="sm"/>
            <a:tailEnd type="none" w="sm" len="sm"/>
          </a:ln>
        </p:spPr>
      </p:cxnSp>
      <p:sp>
        <p:nvSpPr>
          <p:cNvPr id="103" name="Google Shape;103;p9"/>
          <p:cNvSpPr txBox="1"/>
          <p:nvPr/>
        </p:nvSpPr>
        <p:spPr>
          <a:xfrm>
            <a:off x="513175" y="4240733"/>
            <a:ext cx="3782222" cy="984885"/>
          </a:xfrm>
          <a:prstGeom prst="rect">
            <a:avLst/>
          </a:prstGeom>
          <a:noFill/>
          <a:ln>
            <a:noFill/>
          </a:ln>
        </p:spPr>
        <p:txBody>
          <a:bodyPr spcFirstLastPara="1" wrap="square" lIns="0" tIns="0" rIns="0" bIns="0" anchor="t" anchorCtr="0">
            <a:spAutoFit/>
          </a:bodyPr>
          <a:lstStyle/>
          <a:p>
            <a:pPr marL="174625" marR="0" lvl="0" indent="-174625" algn="l" rtl="0">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Cada punta de la estrella tiene una sola tabla de dimensión.</a:t>
            </a:r>
            <a:endParaRPr/>
          </a:p>
          <a:p>
            <a:pPr marL="174625" marR="0" lvl="0" indent="-174625" algn="l" rtl="0">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Puede tener algunas dimensiones denormalizadas.</a:t>
            </a:r>
            <a:endParaRPr/>
          </a:p>
        </p:txBody>
      </p:sp>
      <p:sp>
        <p:nvSpPr>
          <p:cNvPr id="104" name="Google Shape;104;p9"/>
          <p:cNvSpPr txBox="1"/>
          <p:nvPr/>
        </p:nvSpPr>
        <p:spPr>
          <a:xfrm>
            <a:off x="4824413" y="4240733"/>
            <a:ext cx="3851276" cy="738664"/>
          </a:xfrm>
          <a:prstGeom prst="rect">
            <a:avLst/>
          </a:prstGeom>
          <a:noFill/>
          <a:ln>
            <a:noFill/>
          </a:ln>
        </p:spPr>
        <p:txBody>
          <a:bodyPr spcFirstLastPara="1" wrap="square" lIns="0" tIns="0" rIns="0" bIns="0" anchor="t" anchorCtr="0">
            <a:spAutoFit/>
          </a:bodyPr>
          <a:lstStyle/>
          <a:p>
            <a:pPr marL="174625" marR="0" lvl="0" indent="-174625" algn="l" rtl="0">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Una o más puntas de la estrella tienen tablas relacionadas debido a que la dimensión se ha normalizado.</a:t>
            </a:r>
            <a:endParaRPr/>
          </a:p>
        </p:txBody>
      </p:sp>
      <p:sp>
        <p:nvSpPr>
          <p:cNvPr id="105" name="Google Shape;105;p9"/>
          <p:cNvSpPr/>
          <p:nvPr/>
        </p:nvSpPr>
        <p:spPr>
          <a:xfrm>
            <a:off x="1836728" y="1715303"/>
            <a:ext cx="1061086" cy="713838"/>
          </a:xfrm>
          <a:prstGeom prst="rect">
            <a:avLst/>
          </a:prstGeom>
          <a:noFill/>
          <a:ln w="31750" cap="flat" cmpd="sng">
            <a:solidFill>
              <a:srgbClr val="EE463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 name="Google Shape;106;p9"/>
          <p:cNvSpPr txBox="1"/>
          <p:nvPr/>
        </p:nvSpPr>
        <p:spPr>
          <a:xfrm>
            <a:off x="2654732" y="1296516"/>
            <a:ext cx="1660391"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_tradnl" sz="1200" b="1">
                <a:solidFill>
                  <a:srgbClr val="EE4639"/>
                </a:solidFill>
                <a:latin typeface="Calibri"/>
                <a:ea typeface="Calibri"/>
                <a:cs typeface="Calibri"/>
                <a:sym typeface="Calibri"/>
              </a:rPr>
              <a:t>dimensión denormalizada</a:t>
            </a:r>
          </a:p>
        </p:txBody>
      </p:sp>
      <p:sp>
        <p:nvSpPr>
          <p:cNvPr id="107" name="Google Shape;107;p9"/>
          <p:cNvSpPr/>
          <p:nvPr/>
        </p:nvSpPr>
        <p:spPr>
          <a:xfrm>
            <a:off x="4898709" y="1792551"/>
            <a:ext cx="2414220" cy="639138"/>
          </a:xfrm>
          <a:prstGeom prst="rect">
            <a:avLst/>
          </a:prstGeom>
          <a:noFill/>
          <a:ln w="31750" cap="flat" cmpd="sng">
            <a:solidFill>
              <a:srgbClr val="EE463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 name="Google Shape;108;p9"/>
          <p:cNvSpPr txBox="1"/>
          <p:nvPr/>
        </p:nvSpPr>
        <p:spPr>
          <a:xfrm>
            <a:off x="7175597" y="1296516"/>
            <a:ext cx="1500091"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_tradnl" sz="1200" b="1">
                <a:solidFill>
                  <a:srgbClr val="EE4639"/>
                </a:solidFill>
                <a:latin typeface="Calibri"/>
                <a:ea typeface="Calibri"/>
                <a:cs typeface="Calibri"/>
                <a:sym typeface="Calibri"/>
              </a:rPr>
              <a:t>dimensión normalizada</a:t>
            </a:r>
            <a:endParaRPr lang="es-ES_tradnl">
              <a:solidFill>
                <a:srgbClr val="EE4639"/>
              </a:solidFill>
            </a:endParaRPr>
          </a:p>
        </p:txBody>
      </p:sp>
      <p:sp>
        <p:nvSpPr>
          <p:cNvPr id="2" name="Rectangle 5">
            <a:extLst>
              <a:ext uri="{FF2B5EF4-FFF2-40B4-BE49-F238E27FC236}">
                <a16:creationId xmlns:a16="http://schemas.microsoft.com/office/drawing/2014/main" id="{3E27B3CF-66FF-9B0F-6703-050D3EF1DA86}"/>
              </a:ext>
            </a:extLst>
          </p:cNvPr>
          <p:cNvSpPr/>
          <p:nvPr/>
        </p:nvSpPr>
        <p:spPr>
          <a:xfrm>
            <a:off x="503237" y="376836"/>
            <a:ext cx="3852494"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ESQUEMAS: ESTRELLA Y COPO DE NIEVE</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775597"/>
          </a:xfrm>
          <a:prstGeom prst="rect">
            <a:avLst/>
          </a:prstGeom>
          <a:noFill/>
        </p:spPr>
        <p:txBody>
          <a:bodyPr wrap="square" lIns="0" tIns="0" rIns="0" bIns="0" rtlCol="0">
            <a:spAutoFit/>
          </a:bodyPr>
          <a:lstStyle/>
          <a:p>
            <a:pPr>
              <a:lnSpc>
                <a:spcPct val="90000"/>
              </a:lnSpc>
              <a:spcBef>
                <a:spcPts val="1000"/>
              </a:spcBef>
              <a:defRPr/>
            </a:pPr>
            <a:r>
              <a:rPr lang="en-US" sz="2800" dirty="0">
                <a:solidFill>
                  <a:schemeClr val="bg1"/>
                </a:solidFill>
                <a:latin typeface="Graphik Regular" panose="020B0503030202060203" pitchFamily="34" charset="77"/>
                <a:sym typeface="Calibri"/>
              </a:rPr>
              <a:t>MODELADO DIMENSIONAL </a:t>
            </a:r>
            <a:br>
              <a:rPr lang="en-US" sz="2800" dirty="0">
                <a:solidFill>
                  <a:schemeClr val="bg1"/>
                </a:solidFill>
                <a:latin typeface="Graphik Regular" panose="020B0503030202060203" pitchFamily="34" charset="77"/>
                <a:sym typeface="Calibri"/>
              </a:rPr>
            </a:br>
            <a:r>
              <a:rPr lang="en-US" sz="2800" b="1" dirty="0">
                <a:solidFill>
                  <a:schemeClr val="bg1"/>
                </a:solidFill>
                <a:latin typeface="Graphik Bold" panose="020B0503030202060203" pitchFamily="34" charset="77"/>
                <a:sym typeface="Calibri"/>
              </a:rPr>
              <a:t>VS. MODELADO E-R</a:t>
            </a:r>
            <a:endParaRPr lang="en-US" sz="28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3450342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2" name="Rectangle 5">
            <a:extLst>
              <a:ext uri="{FF2B5EF4-FFF2-40B4-BE49-F238E27FC236}">
                <a16:creationId xmlns:a16="http://schemas.microsoft.com/office/drawing/2014/main" id="{C14DDDC3-E43D-1078-933A-2909CE34DCFC}"/>
              </a:ext>
            </a:extLst>
          </p:cNvPr>
          <p:cNvSpPr/>
          <p:nvPr/>
        </p:nvSpPr>
        <p:spPr>
          <a:xfrm>
            <a:off x="503237" y="376836"/>
            <a:ext cx="3852494"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MODELO DIMENSIONAL VS MODELO ENTIDAD/RELACIÓN</a:t>
            </a:r>
            <a:endParaRPr lang="es-PE" sz="1000" dirty="0">
              <a:solidFill>
                <a:schemeClr val="bg1">
                  <a:lumMod val="65000"/>
                </a:schemeClr>
              </a:solidFill>
              <a:latin typeface="Calibri" charset="0"/>
              <a:cs typeface="Calibri" charset="0"/>
            </a:endParaRPr>
          </a:p>
        </p:txBody>
      </p:sp>
      <p:graphicFrame>
        <p:nvGraphicFramePr>
          <p:cNvPr id="3" name="Tabla 2">
            <a:extLst>
              <a:ext uri="{FF2B5EF4-FFF2-40B4-BE49-F238E27FC236}">
                <a16:creationId xmlns:a16="http://schemas.microsoft.com/office/drawing/2014/main" id="{2C825EB4-2358-01C3-26A0-634C8B7D6F86}"/>
              </a:ext>
            </a:extLst>
          </p:cNvPr>
          <p:cNvGraphicFramePr>
            <a:graphicFrameLocks noGrp="1"/>
          </p:cNvGraphicFramePr>
          <p:nvPr>
            <p:extLst>
              <p:ext uri="{D42A27DB-BD31-4B8C-83A1-F6EECF244321}">
                <p14:modId xmlns:p14="http://schemas.microsoft.com/office/powerpoint/2010/main" val="751253568"/>
              </p:ext>
            </p:extLst>
          </p:nvPr>
        </p:nvGraphicFramePr>
        <p:xfrm>
          <a:off x="684213" y="1603823"/>
          <a:ext cx="7672608" cy="2390440"/>
        </p:xfrm>
        <a:graphic>
          <a:graphicData uri="http://schemas.openxmlformats.org/drawingml/2006/table">
            <a:tbl>
              <a:tblPr firstRow="1" bandRow="1">
                <a:tableStyleId>{5C22544A-7EE6-4342-B048-85BDC9FD1C3A}</a:tableStyleId>
              </a:tblPr>
              <a:tblGrid>
                <a:gridCol w="1947669">
                  <a:extLst>
                    <a:ext uri="{9D8B030D-6E8A-4147-A177-3AD203B41FA5}">
                      <a16:colId xmlns:a16="http://schemas.microsoft.com/office/drawing/2014/main" val="4114970465"/>
                    </a:ext>
                  </a:extLst>
                </a:gridCol>
                <a:gridCol w="2822713">
                  <a:extLst>
                    <a:ext uri="{9D8B030D-6E8A-4147-A177-3AD203B41FA5}">
                      <a16:colId xmlns:a16="http://schemas.microsoft.com/office/drawing/2014/main" val="2051927166"/>
                    </a:ext>
                  </a:extLst>
                </a:gridCol>
                <a:gridCol w="2902226">
                  <a:extLst>
                    <a:ext uri="{9D8B030D-6E8A-4147-A177-3AD203B41FA5}">
                      <a16:colId xmlns:a16="http://schemas.microsoft.com/office/drawing/2014/main" val="310995284"/>
                    </a:ext>
                  </a:extLst>
                </a:gridCol>
              </a:tblGrid>
              <a:tr h="370840">
                <a:tc>
                  <a:txBody>
                    <a:bodyPr/>
                    <a:lstStyle/>
                    <a:p>
                      <a:endParaRPr lang="es-ES_tradnl" sz="1500" noProof="0" dirty="0">
                        <a:latin typeface="+mn-lt"/>
                      </a:endParaRPr>
                    </a:p>
                  </a:txBody>
                  <a:tcPr>
                    <a:lnL w="12700" cap="flat" cmpd="sng" algn="ctr">
                      <a:noFill/>
                      <a:prstDash val="solid"/>
                      <a:round/>
                      <a:headEnd type="none" w="med" len="med"/>
                      <a:tailEnd type="none" w="med" len="med"/>
                    </a:lnL>
                    <a:lnR w="12700" cap="flat" cmpd="sng" algn="ctr">
                      <a:solidFill>
                        <a:srgbClr val="6F768A"/>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6F768A"/>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500" u="none" strike="noStrike" cap="none" noProof="0" dirty="0">
                          <a:latin typeface="+mn-lt"/>
                        </a:rPr>
                        <a:t>Modelo Dimensional</a:t>
                      </a:r>
                    </a:p>
                  </a:txBody>
                  <a:tcPr anchor="ctr">
                    <a:lnL w="12700" cap="flat" cmpd="sng" algn="ctr">
                      <a:solidFill>
                        <a:srgbClr val="6F768A"/>
                      </a:solidFill>
                      <a:prstDash val="solid"/>
                      <a:round/>
                      <a:headEnd type="none" w="med" len="med"/>
                      <a:tailEnd type="none" w="med" len="med"/>
                    </a:lnL>
                    <a:lnR w="12700" cap="flat" cmpd="sng" algn="ctr">
                      <a:solidFill>
                        <a:srgbClr val="6F768A"/>
                      </a:solidFill>
                      <a:prstDash val="solid"/>
                      <a:round/>
                      <a:headEnd type="none" w="med" len="med"/>
                      <a:tailEnd type="none" w="med" len="med"/>
                    </a:lnR>
                    <a:lnT w="12700" cap="flat" cmpd="sng" algn="ctr">
                      <a:solidFill>
                        <a:srgbClr val="6F768A"/>
                      </a:solidFill>
                      <a:prstDash val="solid"/>
                      <a:round/>
                      <a:headEnd type="none" w="med" len="med"/>
                      <a:tailEnd type="none" w="med" len="med"/>
                    </a:lnT>
                    <a:lnB w="12700" cap="flat" cmpd="sng" algn="ctr">
                      <a:solidFill>
                        <a:srgbClr val="6F768A"/>
                      </a:solidFill>
                      <a:prstDash val="solid"/>
                      <a:round/>
                      <a:headEnd type="none" w="med" len="med"/>
                      <a:tailEnd type="none" w="med" len="med"/>
                    </a:lnB>
                    <a:solidFill>
                      <a:srgbClr val="EE4639"/>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500" u="none" strike="noStrike" cap="none" noProof="0" dirty="0">
                          <a:latin typeface="+mn-lt"/>
                        </a:rPr>
                        <a:t>Modelo Entidad/Relación</a:t>
                      </a:r>
                    </a:p>
                  </a:txBody>
                  <a:tcPr anchor="ctr">
                    <a:lnL w="12700" cap="flat" cmpd="sng" algn="ctr">
                      <a:solidFill>
                        <a:srgbClr val="6F768A"/>
                      </a:solidFill>
                      <a:prstDash val="solid"/>
                      <a:round/>
                      <a:headEnd type="none" w="med" len="med"/>
                      <a:tailEnd type="none" w="med" len="med"/>
                    </a:lnL>
                    <a:lnR w="12700" cap="flat" cmpd="sng" algn="ctr">
                      <a:solidFill>
                        <a:srgbClr val="6F768A"/>
                      </a:solidFill>
                      <a:prstDash val="solid"/>
                      <a:round/>
                      <a:headEnd type="none" w="med" len="med"/>
                      <a:tailEnd type="none" w="med" len="med"/>
                    </a:lnR>
                    <a:lnT w="12700" cap="flat" cmpd="sng" algn="ctr">
                      <a:solidFill>
                        <a:srgbClr val="6F768A"/>
                      </a:solidFill>
                      <a:prstDash val="solid"/>
                      <a:round/>
                      <a:headEnd type="none" w="med" len="med"/>
                      <a:tailEnd type="none" w="med" len="med"/>
                    </a:lnT>
                    <a:lnB w="12700" cap="flat" cmpd="sng" algn="ctr">
                      <a:solidFill>
                        <a:srgbClr val="6F768A"/>
                      </a:solidFill>
                      <a:prstDash val="solid"/>
                      <a:round/>
                      <a:headEnd type="none" w="med" len="med"/>
                      <a:tailEnd type="none" w="med" len="med"/>
                    </a:lnB>
                    <a:solidFill>
                      <a:srgbClr val="EE4639"/>
                    </a:solidFill>
                  </a:tcPr>
                </a:tc>
                <a:extLst>
                  <a:ext uri="{0D108BD9-81ED-4DB2-BD59-A6C34878D82A}">
                    <a16:rowId xmlns:a16="http://schemas.microsoft.com/office/drawing/2014/main" val="1231077983"/>
                  </a:ext>
                </a:extLst>
              </a:tr>
              <a:tr h="370840">
                <a:tc>
                  <a:txBody>
                    <a:bodyPr/>
                    <a:lstStyle/>
                    <a:p>
                      <a:pPr algn="l"/>
                      <a:r>
                        <a:rPr lang="es-ES_tradnl" sz="1500" b="1" u="none" strike="noStrike" cap="none" noProof="0" dirty="0">
                          <a:solidFill>
                            <a:schemeClr val="bg1"/>
                          </a:solidFill>
                          <a:latin typeface="+mn-lt"/>
                        </a:rPr>
                        <a:t>Propósito</a:t>
                      </a:r>
                      <a:endParaRPr lang="es-ES_tradnl" sz="1500" noProof="0" dirty="0">
                        <a:solidFill>
                          <a:schemeClr val="bg1"/>
                        </a:solidFill>
                        <a:latin typeface="+mn-lt"/>
                      </a:endParaRPr>
                    </a:p>
                  </a:txBody>
                  <a:tcPr marL="144000" marR="108000" anchor="ctr">
                    <a:lnL w="12700" cap="flat" cmpd="sng" algn="ctr">
                      <a:solidFill>
                        <a:srgbClr val="6F768A"/>
                      </a:solidFill>
                      <a:prstDash val="solid"/>
                      <a:round/>
                      <a:headEnd type="none" w="med" len="med"/>
                      <a:tailEnd type="none" w="med" len="med"/>
                    </a:lnL>
                    <a:lnR w="12700" cap="flat" cmpd="sng" algn="ctr">
                      <a:solidFill>
                        <a:srgbClr val="6F768A"/>
                      </a:solidFill>
                      <a:prstDash val="solid"/>
                      <a:round/>
                      <a:headEnd type="none" w="med" len="med"/>
                      <a:tailEnd type="none" w="med" len="med"/>
                    </a:lnR>
                    <a:lnT w="12700" cap="flat" cmpd="sng" algn="ctr">
                      <a:solidFill>
                        <a:srgbClr val="6F768A"/>
                      </a:solidFill>
                      <a:prstDash val="solid"/>
                      <a:round/>
                      <a:headEnd type="none" w="med" len="med"/>
                      <a:tailEnd type="none" w="med" len="med"/>
                    </a:lnT>
                    <a:lnB w="12700" cap="flat" cmpd="sng" algn="ctr">
                      <a:solidFill>
                        <a:srgbClr val="6F768A"/>
                      </a:solidFill>
                      <a:prstDash val="solid"/>
                      <a:round/>
                      <a:headEnd type="none" w="med" len="med"/>
                      <a:tailEnd type="none" w="med" len="med"/>
                    </a:lnB>
                    <a:solidFill>
                      <a:srgbClr val="808799"/>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sz="1500" u="none" strike="noStrike" cap="none" noProof="0" dirty="0">
                          <a:latin typeface="+mn-lt"/>
                        </a:rPr>
                        <a:t>Optimizar el tiempo de respuesta a las consultas</a:t>
                      </a:r>
                    </a:p>
                  </a:txBody>
                  <a:tcPr marL="108000" marT="108000" marB="108000">
                    <a:lnL w="12700" cap="flat" cmpd="sng" algn="ctr">
                      <a:solidFill>
                        <a:srgbClr val="6F768A"/>
                      </a:solidFill>
                      <a:prstDash val="solid"/>
                      <a:round/>
                      <a:headEnd type="none" w="med" len="med"/>
                      <a:tailEnd type="none" w="med" len="med"/>
                    </a:lnL>
                    <a:lnR w="12700" cap="flat" cmpd="sng" algn="ctr">
                      <a:solidFill>
                        <a:srgbClr val="6F768A"/>
                      </a:solidFill>
                      <a:prstDash val="solid"/>
                      <a:round/>
                      <a:headEnd type="none" w="med" len="med"/>
                      <a:tailEnd type="none" w="med" len="med"/>
                    </a:lnR>
                    <a:lnT w="12700" cap="flat" cmpd="sng" algn="ctr">
                      <a:solidFill>
                        <a:srgbClr val="6F768A"/>
                      </a:solidFill>
                      <a:prstDash val="solid"/>
                      <a:round/>
                      <a:headEnd type="none" w="med" len="med"/>
                      <a:tailEnd type="none" w="med" len="med"/>
                    </a:lnT>
                    <a:lnB w="12700" cap="flat" cmpd="sng" algn="ctr">
                      <a:solidFill>
                        <a:srgbClr val="6F768A"/>
                      </a:solidFill>
                      <a:prstDash val="solid"/>
                      <a:round/>
                      <a:headEnd type="none" w="med" len="med"/>
                      <a:tailEnd type="none" w="med" len="med"/>
                    </a:lnB>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sz="1500" u="none" strike="noStrike" cap="none" noProof="0" dirty="0">
                          <a:latin typeface="+mn-lt"/>
                        </a:rPr>
                        <a:t>Optimizar el almacenamiento actualizado de los datos</a:t>
                      </a:r>
                    </a:p>
                  </a:txBody>
                  <a:tcPr marL="108000" marT="108000" marB="108000">
                    <a:lnL w="12700" cap="flat" cmpd="sng" algn="ctr">
                      <a:solidFill>
                        <a:srgbClr val="6F768A"/>
                      </a:solidFill>
                      <a:prstDash val="solid"/>
                      <a:round/>
                      <a:headEnd type="none" w="med" len="med"/>
                      <a:tailEnd type="none" w="med" len="med"/>
                    </a:lnL>
                    <a:lnR w="12700" cap="flat" cmpd="sng" algn="ctr">
                      <a:solidFill>
                        <a:srgbClr val="6F768A"/>
                      </a:solidFill>
                      <a:prstDash val="solid"/>
                      <a:round/>
                      <a:headEnd type="none" w="med" len="med"/>
                      <a:tailEnd type="none" w="med" len="med"/>
                    </a:lnR>
                    <a:lnT w="12700" cap="flat" cmpd="sng" algn="ctr">
                      <a:solidFill>
                        <a:srgbClr val="6F768A"/>
                      </a:solidFill>
                      <a:prstDash val="solid"/>
                      <a:round/>
                      <a:headEnd type="none" w="med" len="med"/>
                      <a:tailEnd type="none" w="med" len="med"/>
                    </a:lnT>
                    <a:lnB w="12700" cap="flat" cmpd="sng" algn="ctr">
                      <a:solidFill>
                        <a:srgbClr val="6F768A"/>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3878709"/>
                  </a:ext>
                </a:extLst>
              </a:tr>
              <a:tr h="370840">
                <a:tc>
                  <a:txBody>
                    <a:bodyPr/>
                    <a:lstStyle/>
                    <a:p>
                      <a:pPr algn="l"/>
                      <a:r>
                        <a:rPr lang="es-ES_tradnl" sz="1500" b="1" u="none" strike="noStrike" cap="none" noProof="0" dirty="0">
                          <a:solidFill>
                            <a:schemeClr val="bg1"/>
                          </a:solidFill>
                          <a:latin typeface="+mn-lt"/>
                        </a:rPr>
                        <a:t>Representación</a:t>
                      </a:r>
                      <a:endParaRPr lang="es-ES_tradnl" sz="1500" noProof="0" dirty="0">
                        <a:solidFill>
                          <a:schemeClr val="bg1"/>
                        </a:solidFill>
                        <a:latin typeface="+mn-lt"/>
                      </a:endParaRPr>
                    </a:p>
                  </a:txBody>
                  <a:tcPr marL="144000" marR="108000" anchor="ctr">
                    <a:lnL w="12700" cap="flat" cmpd="sng" algn="ctr">
                      <a:solidFill>
                        <a:srgbClr val="6F768A"/>
                      </a:solidFill>
                      <a:prstDash val="solid"/>
                      <a:round/>
                      <a:headEnd type="none" w="med" len="med"/>
                      <a:tailEnd type="none" w="med" len="med"/>
                    </a:lnL>
                    <a:lnR w="12700" cap="flat" cmpd="sng" algn="ctr">
                      <a:solidFill>
                        <a:srgbClr val="6F768A"/>
                      </a:solidFill>
                      <a:prstDash val="solid"/>
                      <a:round/>
                      <a:headEnd type="none" w="med" len="med"/>
                      <a:tailEnd type="none" w="med" len="med"/>
                    </a:lnR>
                    <a:lnT w="12700" cap="flat" cmpd="sng" algn="ctr">
                      <a:solidFill>
                        <a:srgbClr val="6F768A"/>
                      </a:solidFill>
                      <a:prstDash val="solid"/>
                      <a:round/>
                      <a:headEnd type="none" w="med" len="med"/>
                      <a:tailEnd type="none" w="med" len="med"/>
                    </a:lnT>
                    <a:lnB w="12700" cap="flat" cmpd="sng" algn="ctr">
                      <a:solidFill>
                        <a:srgbClr val="6F768A"/>
                      </a:solidFill>
                      <a:prstDash val="solid"/>
                      <a:round/>
                      <a:headEnd type="none" w="med" len="med"/>
                      <a:tailEnd type="none" w="med" len="med"/>
                    </a:lnB>
                    <a:solidFill>
                      <a:srgbClr val="808799"/>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sz="1500" u="none" strike="noStrike" cap="none" noProof="0" dirty="0">
                          <a:latin typeface="+mn-lt"/>
                        </a:rPr>
                        <a:t>Estructura de datos sumamente intuitiva (con cierto nivel de </a:t>
                      </a:r>
                      <a:r>
                        <a:rPr lang="es-ES_tradnl" sz="1500" u="none" strike="noStrike" cap="none" noProof="0" dirty="0" err="1">
                          <a:latin typeface="+mn-lt"/>
                        </a:rPr>
                        <a:t>denormalización</a:t>
                      </a:r>
                      <a:r>
                        <a:rPr lang="es-ES_tradnl" sz="1500" u="none" strike="noStrike" cap="none" noProof="0" dirty="0">
                          <a:latin typeface="+mn-lt"/>
                        </a:rPr>
                        <a:t>)</a:t>
                      </a:r>
                    </a:p>
                  </a:txBody>
                  <a:tcPr marL="108000" marT="108000" marB="108000">
                    <a:lnL w="12700" cap="flat" cmpd="sng" algn="ctr">
                      <a:solidFill>
                        <a:srgbClr val="6F768A"/>
                      </a:solidFill>
                      <a:prstDash val="solid"/>
                      <a:round/>
                      <a:headEnd type="none" w="med" len="med"/>
                      <a:tailEnd type="none" w="med" len="med"/>
                    </a:lnL>
                    <a:lnR w="12700" cap="flat" cmpd="sng" algn="ctr">
                      <a:solidFill>
                        <a:srgbClr val="6F768A"/>
                      </a:solidFill>
                      <a:prstDash val="solid"/>
                      <a:round/>
                      <a:headEnd type="none" w="med" len="med"/>
                      <a:tailEnd type="none" w="med" len="med"/>
                    </a:lnR>
                    <a:lnT w="12700" cap="flat" cmpd="sng" algn="ctr">
                      <a:solidFill>
                        <a:srgbClr val="6F768A"/>
                      </a:solidFill>
                      <a:prstDash val="solid"/>
                      <a:round/>
                      <a:headEnd type="none" w="med" len="med"/>
                      <a:tailEnd type="none" w="med" len="med"/>
                    </a:lnT>
                    <a:lnB w="12700" cap="flat" cmpd="sng" algn="ctr">
                      <a:solidFill>
                        <a:srgbClr val="6F768A"/>
                      </a:solidFill>
                      <a:prstDash val="solid"/>
                      <a:round/>
                      <a:headEnd type="none" w="med" len="med"/>
                      <a:tailEnd type="none" w="med" len="med"/>
                    </a:lnB>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sz="1500" u="none" strike="noStrike" cap="none" noProof="0" dirty="0">
                          <a:latin typeface="+mn-lt"/>
                        </a:rPr>
                        <a:t>Estructura de datos compleja (altamente normalizada)</a:t>
                      </a:r>
                    </a:p>
                  </a:txBody>
                  <a:tcPr marL="108000" marT="108000" marB="108000">
                    <a:lnL w="12700" cap="flat" cmpd="sng" algn="ctr">
                      <a:solidFill>
                        <a:srgbClr val="6F768A"/>
                      </a:solidFill>
                      <a:prstDash val="solid"/>
                      <a:round/>
                      <a:headEnd type="none" w="med" len="med"/>
                      <a:tailEnd type="none" w="med" len="med"/>
                    </a:lnL>
                    <a:lnR w="12700" cap="flat" cmpd="sng" algn="ctr">
                      <a:solidFill>
                        <a:srgbClr val="6F768A"/>
                      </a:solidFill>
                      <a:prstDash val="solid"/>
                      <a:round/>
                      <a:headEnd type="none" w="med" len="med"/>
                      <a:tailEnd type="none" w="med" len="med"/>
                    </a:lnR>
                    <a:lnT w="12700" cap="flat" cmpd="sng" algn="ctr">
                      <a:solidFill>
                        <a:srgbClr val="6F768A"/>
                      </a:solidFill>
                      <a:prstDash val="solid"/>
                      <a:round/>
                      <a:headEnd type="none" w="med" len="med"/>
                      <a:tailEnd type="none" w="med" len="med"/>
                    </a:lnT>
                    <a:lnB w="12700" cap="flat" cmpd="sng" algn="ctr">
                      <a:solidFill>
                        <a:srgbClr val="6F768A"/>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37852698"/>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sz="1500" b="1" u="none" strike="noStrike" cap="none" noProof="0" dirty="0">
                          <a:solidFill>
                            <a:schemeClr val="bg1"/>
                          </a:solidFill>
                          <a:latin typeface="+mn-lt"/>
                        </a:rPr>
                        <a:t>Componentes</a:t>
                      </a:r>
                    </a:p>
                  </a:txBody>
                  <a:tcPr marL="144000" marR="108000" anchor="ctr">
                    <a:lnL w="12700" cap="flat" cmpd="sng" algn="ctr">
                      <a:solidFill>
                        <a:srgbClr val="6F768A"/>
                      </a:solidFill>
                      <a:prstDash val="solid"/>
                      <a:round/>
                      <a:headEnd type="none" w="med" len="med"/>
                      <a:tailEnd type="none" w="med" len="med"/>
                    </a:lnL>
                    <a:lnR w="12700" cap="flat" cmpd="sng" algn="ctr">
                      <a:solidFill>
                        <a:srgbClr val="6F768A"/>
                      </a:solidFill>
                      <a:prstDash val="solid"/>
                      <a:round/>
                      <a:headEnd type="none" w="med" len="med"/>
                      <a:tailEnd type="none" w="med" len="med"/>
                    </a:lnR>
                    <a:lnT w="12700" cap="flat" cmpd="sng" algn="ctr">
                      <a:solidFill>
                        <a:srgbClr val="6F768A"/>
                      </a:solidFill>
                      <a:prstDash val="solid"/>
                      <a:round/>
                      <a:headEnd type="none" w="med" len="med"/>
                      <a:tailEnd type="none" w="med" len="med"/>
                    </a:lnT>
                    <a:lnB w="12700" cap="flat" cmpd="sng" algn="ctr">
                      <a:solidFill>
                        <a:srgbClr val="6F768A"/>
                      </a:solidFill>
                      <a:prstDash val="solid"/>
                      <a:round/>
                      <a:headEnd type="none" w="med" len="med"/>
                      <a:tailEnd type="none" w="med" len="med"/>
                    </a:lnB>
                    <a:solidFill>
                      <a:srgbClr val="808799"/>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sz="1500" u="none" strike="noStrike" cap="none" noProof="0" dirty="0">
                          <a:latin typeface="+mn-lt"/>
                        </a:rPr>
                        <a:t>Hechos, medidas y dimensiones</a:t>
                      </a:r>
                    </a:p>
                  </a:txBody>
                  <a:tcPr marL="108000" marT="108000" marB="108000">
                    <a:lnL w="12700" cap="flat" cmpd="sng" algn="ctr">
                      <a:solidFill>
                        <a:srgbClr val="6F768A"/>
                      </a:solidFill>
                      <a:prstDash val="solid"/>
                      <a:round/>
                      <a:headEnd type="none" w="med" len="med"/>
                      <a:tailEnd type="none" w="med" len="med"/>
                    </a:lnL>
                    <a:lnR w="12700" cap="flat" cmpd="sng" algn="ctr">
                      <a:solidFill>
                        <a:srgbClr val="6F768A"/>
                      </a:solidFill>
                      <a:prstDash val="solid"/>
                      <a:round/>
                      <a:headEnd type="none" w="med" len="med"/>
                      <a:tailEnd type="none" w="med" len="med"/>
                    </a:lnR>
                    <a:lnT w="12700" cap="flat" cmpd="sng" algn="ctr">
                      <a:solidFill>
                        <a:srgbClr val="6F768A"/>
                      </a:solidFill>
                      <a:prstDash val="solid"/>
                      <a:round/>
                      <a:headEnd type="none" w="med" len="med"/>
                      <a:tailEnd type="none" w="med" len="med"/>
                    </a:lnT>
                    <a:lnB w="12700" cap="flat" cmpd="sng" algn="ctr">
                      <a:solidFill>
                        <a:srgbClr val="6F768A"/>
                      </a:solidFill>
                      <a:prstDash val="solid"/>
                      <a:round/>
                      <a:headEnd type="none" w="med" len="med"/>
                      <a:tailEnd type="none" w="med" len="med"/>
                    </a:lnB>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sz="1500" u="none" strike="noStrike" cap="none" noProof="0" dirty="0">
                          <a:latin typeface="+mn-lt"/>
                        </a:rPr>
                        <a:t>Entidades, atributos y relaciones</a:t>
                      </a:r>
                    </a:p>
                  </a:txBody>
                  <a:tcPr marL="108000" marT="108000" marB="108000">
                    <a:lnL w="12700" cap="flat" cmpd="sng" algn="ctr">
                      <a:solidFill>
                        <a:srgbClr val="6F768A"/>
                      </a:solidFill>
                      <a:prstDash val="solid"/>
                      <a:round/>
                      <a:headEnd type="none" w="med" len="med"/>
                      <a:tailEnd type="none" w="med" len="med"/>
                    </a:lnL>
                    <a:lnR w="12700" cap="flat" cmpd="sng" algn="ctr">
                      <a:solidFill>
                        <a:srgbClr val="6F768A"/>
                      </a:solidFill>
                      <a:prstDash val="solid"/>
                      <a:round/>
                      <a:headEnd type="none" w="med" len="med"/>
                      <a:tailEnd type="none" w="med" len="med"/>
                    </a:lnR>
                    <a:lnT w="12700" cap="flat" cmpd="sng" algn="ctr">
                      <a:solidFill>
                        <a:srgbClr val="6F768A"/>
                      </a:solidFill>
                      <a:prstDash val="solid"/>
                      <a:round/>
                      <a:headEnd type="none" w="med" len="med"/>
                      <a:tailEnd type="none" w="med" len="med"/>
                    </a:lnT>
                    <a:lnB w="12700" cap="flat" cmpd="sng" algn="ctr">
                      <a:solidFill>
                        <a:srgbClr val="6F768A"/>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8178959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775597"/>
          </a:xfrm>
          <a:prstGeom prst="rect">
            <a:avLst/>
          </a:prstGeom>
          <a:noFill/>
        </p:spPr>
        <p:txBody>
          <a:bodyPr wrap="square" lIns="0" tIns="0" rIns="0" bIns="0" rtlCol="0">
            <a:spAutoFit/>
          </a:bodyPr>
          <a:lstStyle/>
          <a:p>
            <a:pPr>
              <a:lnSpc>
                <a:spcPct val="90000"/>
              </a:lnSpc>
              <a:spcBef>
                <a:spcPts val="1000"/>
              </a:spcBef>
              <a:defRPr/>
            </a:pPr>
            <a:r>
              <a:rPr lang="en-US" sz="2800" dirty="0">
                <a:solidFill>
                  <a:schemeClr val="bg1"/>
                </a:solidFill>
                <a:latin typeface="Graphik Regular" panose="020B0503030202060203" pitchFamily="34" charset="77"/>
                <a:sym typeface="Calibri"/>
              </a:rPr>
              <a:t>PASOS PARA CREAR UN </a:t>
            </a:r>
            <a:r>
              <a:rPr lang="en-US" sz="2800" b="1" dirty="0">
                <a:solidFill>
                  <a:schemeClr val="bg1"/>
                </a:solidFill>
                <a:latin typeface="Graphik Bold" panose="020B0503030202060203" pitchFamily="34" charset="77"/>
                <a:sym typeface="Calibri"/>
              </a:rPr>
              <a:t>MODELADO DIMENSIONAL</a:t>
            </a:r>
            <a:endParaRPr lang="en-US" sz="28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542960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5" name="Google Shape;135;p13"/>
          <p:cNvSpPr txBox="1"/>
          <p:nvPr/>
        </p:nvSpPr>
        <p:spPr>
          <a:xfrm>
            <a:off x="503238" y="912813"/>
            <a:ext cx="3889375" cy="3693319"/>
          </a:xfrm>
          <a:prstGeom prst="rect">
            <a:avLst/>
          </a:prstGeom>
          <a:noFill/>
          <a:ln>
            <a:noFill/>
          </a:ln>
        </p:spPr>
        <p:txBody>
          <a:bodyPr spcFirstLastPara="1" wrap="square" lIns="0" tIns="0" rIns="0" bIns="0" anchor="t" anchorCtr="0">
            <a:spAutoFit/>
          </a:bodyPr>
          <a:lstStyle/>
          <a:p>
            <a:pPr marL="11724" marR="0" lvl="0" indent="0" algn="l" rtl="0">
              <a:spcBef>
                <a:spcPts val="0"/>
              </a:spcBef>
              <a:spcAft>
                <a:spcPts val="0"/>
              </a:spcAft>
              <a:buNone/>
            </a:pPr>
            <a:r>
              <a:rPr lang="es-ES_tradnl" sz="1500" b="1">
                <a:solidFill>
                  <a:srgbClr val="262626"/>
                </a:solidFill>
                <a:latin typeface="Calibri" panose="020F0502020204030204" pitchFamily="34" charset="0"/>
                <a:ea typeface="Calibri"/>
                <a:cs typeface="Calibri" panose="020F0502020204030204" pitchFamily="34" charset="0"/>
                <a:sym typeface="Calibri"/>
              </a:rPr>
              <a:t>Pasos a seguir en el modelado dimensional:</a:t>
            </a:r>
            <a:endParaRPr lang="es-ES_tradnl" sz="1500">
              <a:latin typeface="Calibri" panose="020F0502020204030204" pitchFamily="34" charset="0"/>
              <a:cs typeface="Calibri" panose="020F0502020204030204" pitchFamily="34" charset="0"/>
            </a:endParaRPr>
          </a:p>
          <a:p>
            <a:pPr marL="179998" marR="0" lvl="0" indent="-66674" algn="l" rtl="0">
              <a:spcBef>
                <a:spcPts val="0"/>
              </a:spcBef>
              <a:spcAft>
                <a:spcPts val="0"/>
              </a:spcAft>
              <a:buClr>
                <a:schemeClr val="dk1"/>
              </a:buClr>
              <a:buSzPts val="1600"/>
              <a:buFont typeface="Arial"/>
              <a:buNone/>
            </a:pPr>
            <a:endParaRPr lang="es-ES_tradnl" sz="1500">
              <a:solidFill>
                <a:srgbClr val="262626"/>
              </a:solidFill>
              <a:latin typeface="Calibri" panose="020F0502020204030204" pitchFamily="34" charset="0"/>
              <a:ea typeface="Calibri"/>
              <a:cs typeface="Calibri" panose="020F0502020204030204" pitchFamily="34" charset="0"/>
              <a:sym typeface="Calibri"/>
            </a:endParaRPr>
          </a:p>
          <a:p>
            <a:pPr marL="179998" marR="0" lvl="0" indent="-168274" algn="l" rtl="0">
              <a:spcBef>
                <a:spcPts val="0"/>
              </a:spcBef>
              <a:spcAft>
                <a:spcPts val="0"/>
              </a:spcAft>
              <a:buClr>
                <a:srgbClr val="262626"/>
              </a:buClr>
              <a:buSzPts val="1600"/>
              <a:buFont typeface="Arial"/>
              <a:buChar char="•"/>
            </a:pPr>
            <a:r>
              <a:rPr lang="es-ES_tradnl" sz="1500">
                <a:solidFill>
                  <a:srgbClr val="262626"/>
                </a:solidFill>
                <a:latin typeface="Calibri" panose="020F0502020204030204" pitchFamily="34" charset="0"/>
                <a:ea typeface="Calibri"/>
                <a:cs typeface="Calibri" panose="020F0502020204030204" pitchFamily="34" charset="0"/>
                <a:sym typeface="Calibri"/>
              </a:rPr>
              <a:t>Definir el objetivo del modelo </a:t>
            </a:r>
            <a:r>
              <a:rPr lang="es-ES_tradnl" sz="1500" b="1">
                <a:solidFill>
                  <a:srgbClr val="262626"/>
                </a:solidFill>
                <a:latin typeface="Calibri" panose="020F0502020204030204" pitchFamily="34" charset="0"/>
                <a:ea typeface="Calibri"/>
                <a:cs typeface="Calibri" panose="020F0502020204030204" pitchFamily="34" charset="0"/>
                <a:sym typeface="Calibri"/>
              </a:rPr>
              <a:t>identificando </a:t>
            </a:r>
            <a:br>
              <a:rPr lang="es-ES_tradnl" sz="1500" b="1">
                <a:solidFill>
                  <a:srgbClr val="262626"/>
                </a:solidFill>
                <a:latin typeface="Calibri" panose="020F0502020204030204" pitchFamily="34" charset="0"/>
                <a:ea typeface="Calibri"/>
                <a:cs typeface="Calibri" panose="020F0502020204030204" pitchFamily="34" charset="0"/>
                <a:sym typeface="Calibri"/>
              </a:rPr>
            </a:br>
            <a:r>
              <a:rPr lang="es-ES_tradnl" sz="1500" b="1">
                <a:solidFill>
                  <a:srgbClr val="262626"/>
                </a:solidFill>
                <a:latin typeface="Calibri" panose="020F0502020204030204" pitchFamily="34" charset="0"/>
                <a:ea typeface="Calibri"/>
                <a:cs typeface="Calibri" panose="020F0502020204030204" pitchFamily="34" charset="0"/>
                <a:sym typeface="Calibri"/>
              </a:rPr>
              <a:t>el hecho.</a:t>
            </a:r>
            <a:endParaRPr lang="es-ES_tradnl" sz="1500">
              <a:latin typeface="Calibri" panose="020F0502020204030204" pitchFamily="34" charset="0"/>
              <a:cs typeface="Calibri" panose="020F0502020204030204" pitchFamily="34" charset="0"/>
            </a:endParaRPr>
          </a:p>
          <a:p>
            <a:pPr marL="174625" marR="0" lvl="1" indent="0" algn="l" rtl="0">
              <a:spcBef>
                <a:spcPts val="0"/>
              </a:spcBef>
              <a:spcAft>
                <a:spcPts val="0"/>
              </a:spcAft>
              <a:buNone/>
            </a:pPr>
            <a:r>
              <a:rPr lang="es-ES_tradnl" sz="1500" b="0" i="0" u="none" strike="noStrike" cap="none">
                <a:solidFill>
                  <a:srgbClr val="262626"/>
                </a:solidFill>
                <a:latin typeface="Calibri" panose="020F0502020204030204" pitchFamily="34" charset="0"/>
                <a:ea typeface="Calibri"/>
                <a:cs typeface="Calibri" panose="020F0502020204030204" pitchFamily="34" charset="0"/>
                <a:sym typeface="Calibri"/>
              </a:rPr>
              <a:t>La transacción o evento que se desea analizar.</a:t>
            </a:r>
            <a:endParaRPr lang="es-ES_tradnl" sz="1500">
              <a:latin typeface="Calibri" panose="020F0502020204030204" pitchFamily="34" charset="0"/>
              <a:cs typeface="Calibri" panose="020F0502020204030204" pitchFamily="34" charset="0"/>
            </a:endParaRPr>
          </a:p>
          <a:p>
            <a:pPr marL="179998" marR="0" lvl="0" indent="-168274" algn="l" rtl="0">
              <a:spcBef>
                <a:spcPts val="0"/>
              </a:spcBef>
              <a:spcAft>
                <a:spcPts val="0"/>
              </a:spcAft>
              <a:buClr>
                <a:srgbClr val="262626"/>
              </a:buClr>
              <a:buSzPts val="1600"/>
              <a:buFont typeface="Arial"/>
              <a:buChar char="•"/>
            </a:pPr>
            <a:r>
              <a:rPr lang="es-ES_tradnl" sz="1500" b="1">
                <a:solidFill>
                  <a:srgbClr val="262626"/>
                </a:solidFill>
                <a:latin typeface="Calibri" panose="020F0502020204030204" pitchFamily="34" charset="0"/>
                <a:ea typeface="Calibri"/>
                <a:cs typeface="Calibri" panose="020F0502020204030204" pitchFamily="34" charset="0"/>
                <a:sym typeface="Calibri"/>
              </a:rPr>
              <a:t>Establecer la granularidad del hecho</a:t>
            </a:r>
            <a:r>
              <a:rPr lang="es-ES_tradnl" sz="1500">
                <a:solidFill>
                  <a:srgbClr val="262626"/>
                </a:solidFill>
                <a:latin typeface="Calibri" panose="020F0502020204030204" pitchFamily="34" charset="0"/>
                <a:ea typeface="Calibri"/>
                <a:cs typeface="Calibri" panose="020F0502020204030204" pitchFamily="34" charset="0"/>
                <a:sym typeface="Calibri"/>
              </a:rPr>
              <a:t>.</a:t>
            </a:r>
            <a:endParaRPr lang="es-ES_tradnl" sz="1500">
              <a:latin typeface="Calibri" panose="020F0502020204030204" pitchFamily="34" charset="0"/>
              <a:cs typeface="Calibri" panose="020F0502020204030204" pitchFamily="34" charset="0"/>
            </a:endParaRPr>
          </a:p>
          <a:p>
            <a:pPr marL="174625" marR="0" lvl="1" indent="0" algn="l" rtl="0">
              <a:spcBef>
                <a:spcPts val="0"/>
              </a:spcBef>
              <a:spcAft>
                <a:spcPts val="0"/>
              </a:spcAft>
              <a:buNone/>
            </a:pPr>
            <a:r>
              <a:rPr lang="es-ES_tradnl" sz="1500" b="0" i="0" u="none" strike="noStrike" cap="none">
                <a:solidFill>
                  <a:srgbClr val="262626"/>
                </a:solidFill>
                <a:latin typeface="Calibri" panose="020F0502020204030204" pitchFamily="34" charset="0"/>
                <a:ea typeface="Calibri"/>
                <a:cs typeface="Calibri" panose="020F0502020204030204" pitchFamily="34" charset="0"/>
                <a:sym typeface="Calibri"/>
              </a:rPr>
              <a:t>Nivel de detalle al que se desea llegar.</a:t>
            </a:r>
            <a:endParaRPr lang="es-ES_tradnl" sz="1500">
              <a:latin typeface="Calibri" panose="020F0502020204030204" pitchFamily="34" charset="0"/>
              <a:cs typeface="Calibri" panose="020F0502020204030204" pitchFamily="34" charset="0"/>
            </a:endParaRPr>
          </a:p>
          <a:p>
            <a:pPr marL="179998" marR="0" lvl="0" indent="-168274" algn="l" rtl="0">
              <a:spcBef>
                <a:spcPts val="0"/>
              </a:spcBef>
              <a:spcAft>
                <a:spcPts val="0"/>
              </a:spcAft>
              <a:buClr>
                <a:srgbClr val="262626"/>
              </a:buClr>
              <a:buSzPts val="1600"/>
              <a:buFont typeface="Arial"/>
              <a:buChar char="•"/>
            </a:pPr>
            <a:r>
              <a:rPr lang="es-ES_tradnl" sz="1500">
                <a:solidFill>
                  <a:srgbClr val="262626"/>
                </a:solidFill>
                <a:latin typeface="Calibri" panose="020F0502020204030204" pitchFamily="34" charset="0"/>
                <a:ea typeface="Calibri"/>
                <a:cs typeface="Calibri" panose="020F0502020204030204" pitchFamily="34" charset="0"/>
                <a:sym typeface="Calibri"/>
              </a:rPr>
              <a:t>Identificar las medidas a  evaluar.</a:t>
            </a:r>
            <a:endParaRPr lang="es-ES_tradnl" sz="1500">
              <a:latin typeface="Calibri" panose="020F0502020204030204" pitchFamily="34" charset="0"/>
              <a:cs typeface="Calibri" panose="020F0502020204030204" pitchFamily="34" charset="0"/>
            </a:endParaRPr>
          </a:p>
          <a:p>
            <a:pPr marL="174625" marR="0" lvl="1" indent="0" algn="l" rtl="0">
              <a:spcBef>
                <a:spcPts val="0"/>
              </a:spcBef>
              <a:spcAft>
                <a:spcPts val="0"/>
              </a:spcAft>
              <a:buNone/>
            </a:pPr>
            <a:r>
              <a:rPr lang="es-ES_tradnl" sz="1500" b="0" i="0" u="none" strike="noStrike" cap="none">
                <a:solidFill>
                  <a:srgbClr val="262626"/>
                </a:solidFill>
                <a:latin typeface="Calibri" panose="020F0502020204030204" pitchFamily="34" charset="0"/>
                <a:ea typeface="Calibri"/>
                <a:cs typeface="Calibri" panose="020F0502020204030204" pitchFamily="34" charset="0"/>
                <a:sym typeface="Calibri"/>
              </a:rPr>
              <a:t>Atributos numéricos a evaluar.</a:t>
            </a:r>
            <a:endParaRPr lang="es-ES_tradnl" sz="1500">
              <a:latin typeface="Calibri" panose="020F0502020204030204" pitchFamily="34" charset="0"/>
              <a:cs typeface="Calibri" panose="020F0502020204030204" pitchFamily="34" charset="0"/>
            </a:endParaRPr>
          </a:p>
          <a:p>
            <a:pPr marL="179998" marR="0" lvl="0" indent="-168274" algn="l" rtl="0">
              <a:spcBef>
                <a:spcPts val="0"/>
              </a:spcBef>
              <a:spcAft>
                <a:spcPts val="0"/>
              </a:spcAft>
              <a:buClr>
                <a:srgbClr val="262626"/>
              </a:buClr>
              <a:buSzPts val="1600"/>
              <a:buFont typeface="Arial"/>
              <a:buChar char="•"/>
            </a:pPr>
            <a:r>
              <a:rPr lang="es-ES_tradnl" sz="1500">
                <a:solidFill>
                  <a:srgbClr val="262626"/>
                </a:solidFill>
                <a:latin typeface="Calibri" panose="020F0502020204030204" pitchFamily="34" charset="0"/>
                <a:ea typeface="Calibri"/>
                <a:cs typeface="Calibri" panose="020F0502020204030204" pitchFamily="34" charset="0"/>
                <a:sym typeface="Calibri"/>
              </a:rPr>
              <a:t>Definir las dimensiones.</a:t>
            </a:r>
            <a:endParaRPr lang="es-ES_tradnl" sz="1500">
              <a:latin typeface="Calibri" panose="020F0502020204030204" pitchFamily="34" charset="0"/>
              <a:cs typeface="Calibri" panose="020F0502020204030204" pitchFamily="34" charset="0"/>
            </a:endParaRPr>
          </a:p>
          <a:p>
            <a:pPr marL="174625" marR="0" lvl="1" indent="0" algn="l" rtl="0">
              <a:spcBef>
                <a:spcPts val="0"/>
              </a:spcBef>
              <a:spcAft>
                <a:spcPts val="0"/>
              </a:spcAft>
              <a:buNone/>
            </a:pPr>
            <a:r>
              <a:rPr lang="es-ES_tradnl" sz="1500" b="0" i="0" u="none" strike="noStrike" cap="none">
                <a:solidFill>
                  <a:srgbClr val="262626"/>
                </a:solidFill>
                <a:latin typeface="Calibri" panose="020F0502020204030204" pitchFamily="34" charset="0"/>
                <a:ea typeface="Calibri"/>
                <a:cs typeface="Calibri" panose="020F0502020204030204" pitchFamily="34" charset="0"/>
                <a:sym typeface="Calibri"/>
              </a:rPr>
              <a:t>Criterios por los que se desea analizar el hecho.</a:t>
            </a:r>
            <a:endParaRPr lang="es-ES_tradnl" sz="1500">
              <a:latin typeface="Calibri" panose="020F0502020204030204" pitchFamily="34" charset="0"/>
              <a:cs typeface="Calibri" panose="020F0502020204030204" pitchFamily="34" charset="0"/>
            </a:endParaRPr>
          </a:p>
          <a:p>
            <a:pPr marL="179998" marR="0" lvl="0" indent="-168274" algn="l" rtl="0">
              <a:spcBef>
                <a:spcPts val="0"/>
              </a:spcBef>
              <a:spcAft>
                <a:spcPts val="0"/>
              </a:spcAft>
              <a:buClr>
                <a:srgbClr val="262626"/>
              </a:buClr>
              <a:buSzPts val="1600"/>
              <a:buFont typeface="Arial"/>
              <a:buChar char="•"/>
            </a:pPr>
            <a:r>
              <a:rPr lang="es-ES_tradnl" sz="1500">
                <a:solidFill>
                  <a:srgbClr val="262626"/>
                </a:solidFill>
                <a:latin typeface="Calibri" panose="020F0502020204030204" pitchFamily="34" charset="0"/>
                <a:ea typeface="Calibri"/>
                <a:cs typeface="Calibri" panose="020F0502020204030204" pitchFamily="34" charset="0"/>
                <a:sym typeface="Calibri"/>
              </a:rPr>
              <a:t>Establecer la granularidad de la dimensión tiempo.</a:t>
            </a:r>
            <a:endParaRPr lang="es-ES_tradnl" sz="1500">
              <a:latin typeface="Calibri" panose="020F0502020204030204" pitchFamily="34" charset="0"/>
              <a:cs typeface="Calibri" panose="020F0502020204030204" pitchFamily="34" charset="0"/>
            </a:endParaRPr>
          </a:p>
          <a:p>
            <a:pPr marL="174625" marR="0" lvl="1" indent="0" algn="l" rtl="0">
              <a:spcBef>
                <a:spcPts val="0"/>
              </a:spcBef>
              <a:spcAft>
                <a:spcPts val="0"/>
              </a:spcAft>
              <a:buNone/>
            </a:pPr>
            <a:r>
              <a:rPr lang="es-ES_tradnl" sz="1500" b="0" i="0" u="none" strike="noStrike" cap="none">
                <a:solidFill>
                  <a:srgbClr val="262626"/>
                </a:solidFill>
                <a:latin typeface="Calibri" panose="020F0502020204030204" pitchFamily="34" charset="0"/>
                <a:ea typeface="Calibri"/>
                <a:cs typeface="Calibri" panose="020F0502020204030204" pitchFamily="34" charset="0"/>
                <a:sym typeface="Calibri"/>
              </a:rPr>
              <a:t>Periodo más pequeño a tener en cuenta.</a:t>
            </a:r>
            <a:endParaRPr lang="es-ES_tradnl" sz="1500">
              <a:latin typeface="Calibri" panose="020F0502020204030204" pitchFamily="34" charset="0"/>
              <a:cs typeface="Calibri" panose="020F0502020204030204" pitchFamily="34" charset="0"/>
            </a:endParaRPr>
          </a:p>
          <a:p>
            <a:pPr marL="179998" marR="0" lvl="0" indent="-168274" algn="l" rtl="0">
              <a:spcBef>
                <a:spcPts val="0"/>
              </a:spcBef>
              <a:spcAft>
                <a:spcPts val="0"/>
              </a:spcAft>
              <a:buClr>
                <a:srgbClr val="262626"/>
              </a:buClr>
              <a:buSzPts val="1600"/>
              <a:buFont typeface="Arial"/>
              <a:buChar char="•"/>
            </a:pPr>
            <a:r>
              <a:rPr lang="es-ES_tradnl" sz="1500">
                <a:solidFill>
                  <a:srgbClr val="262626"/>
                </a:solidFill>
                <a:latin typeface="Calibri" panose="020F0502020204030204" pitchFamily="34" charset="0"/>
                <a:ea typeface="Calibri"/>
                <a:cs typeface="Calibri" panose="020F0502020204030204" pitchFamily="34" charset="0"/>
                <a:sym typeface="Calibri"/>
              </a:rPr>
              <a:t>Seleccionar el esquema a utilizar.</a:t>
            </a:r>
            <a:endParaRPr lang="es-ES_tradnl" sz="1500">
              <a:latin typeface="Calibri" panose="020F0502020204030204" pitchFamily="34" charset="0"/>
              <a:cs typeface="Calibri" panose="020F0502020204030204" pitchFamily="34" charset="0"/>
            </a:endParaRPr>
          </a:p>
          <a:p>
            <a:pPr marL="174625" marR="0" lvl="1" indent="0" algn="l" rtl="0">
              <a:spcBef>
                <a:spcPts val="0"/>
              </a:spcBef>
              <a:spcAft>
                <a:spcPts val="0"/>
              </a:spcAft>
              <a:buNone/>
            </a:pPr>
            <a:r>
              <a:rPr lang="es-ES_tradnl" sz="1500" b="0" i="0" u="none" strike="noStrike" cap="none">
                <a:solidFill>
                  <a:srgbClr val="262626"/>
                </a:solidFill>
                <a:latin typeface="Calibri" panose="020F0502020204030204" pitchFamily="34" charset="0"/>
                <a:ea typeface="Calibri"/>
                <a:cs typeface="Calibri" panose="020F0502020204030204" pitchFamily="34" charset="0"/>
                <a:sym typeface="Calibri"/>
              </a:rPr>
              <a:t>Estrella o copo de nieve.</a:t>
            </a:r>
            <a:endParaRPr lang="es-ES_tradnl" sz="1500">
              <a:latin typeface="Calibri" panose="020F0502020204030204" pitchFamily="34" charset="0"/>
              <a:cs typeface="Calibri" panose="020F0502020204030204" pitchFamily="34" charset="0"/>
            </a:endParaRPr>
          </a:p>
        </p:txBody>
      </p:sp>
      <p:pic>
        <p:nvPicPr>
          <p:cNvPr id="136" name="Google Shape;136;p13"/>
          <p:cNvPicPr preferRelativeResize="0"/>
          <p:nvPr/>
        </p:nvPicPr>
        <p:blipFill rotWithShape="1">
          <a:blip r:embed="rId3">
            <a:alphaModFix/>
          </a:blip>
          <a:srcRect/>
          <a:stretch/>
        </p:blipFill>
        <p:spPr>
          <a:xfrm>
            <a:off x="4751388" y="1513921"/>
            <a:ext cx="3819525" cy="2257425"/>
          </a:xfrm>
          <a:prstGeom prst="rect">
            <a:avLst/>
          </a:prstGeom>
          <a:noFill/>
          <a:ln>
            <a:noFill/>
          </a:ln>
        </p:spPr>
      </p:pic>
      <p:sp>
        <p:nvSpPr>
          <p:cNvPr id="2" name="Rectangle 5">
            <a:extLst>
              <a:ext uri="{FF2B5EF4-FFF2-40B4-BE49-F238E27FC236}">
                <a16:creationId xmlns:a16="http://schemas.microsoft.com/office/drawing/2014/main" id="{0B5CEB1E-7679-4564-C8C8-BC52B2AC394E}"/>
              </a:ext>
            </a:extLst>
          </p:cNvPr>
          <p:cNvSpPr/>
          <p:nvPr/>
        </p:nvSpPr>
        <p:spPr>
          <a:xfrm>
            <a:off x="503237" y="376836"/>
            <a:ext cx="3852494"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PASOS PARA CREAR UN MODELO  DIMENSIONAL</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4"/>
          <p:cNvSpPr txBox="1"/>
          <p:nvPr/>
        </p:nvSpPr>
        <p:spPr>
          <a:xfrm>
            <a:off x="4751388" y="1201738"/>
            <a:ext cx="3889375" cy="2954655"/>
          </a:xfrm>
          <a:prstGeom prst="rect">
            <a:avLst/>
          </a:prstGeom>
          <a:noFill/>
          <a:ln>
            <a:noFill/>
          </a:ln>
        </p:spPr>
        <p:txBody>
          <a:bodyPr spcFirstLastPara="1" wrap="square" lIns="0" tIns="0" rIns="0" bIns="0" anchor="t" anchorCtr="0">
            <a:spAutoFit/>
          </a:bodyPr>
          <a:lstStyle/>
          <a:p>
            <a:pPr marL="174625" marR="0" lvl="0" indent="-174625" algn="l" rtl="0">
              <a:spcBef>
                <a:spcPts val="0"/>
              </a:spcBef>
              <a:spcAft>
                <a:spcPts val="0"/>
              </a:spcAft>
              <a:buClr>
                <a:schemeClr val="dk1"/>
              </a:buClr>
              <a:buSzPts val="1600"/>
              <a:buFont typeface="Arial"/>
              <a:buChar char="•"/>
            </a:pPr>
            <a:r>
              <a:rPr lang="es-ES_tradnl" sz="1600">
                <a:solidFill>
                  <a:schemeClr val="dk1"/>
                </a:solidFill>
                <a:latin typeface="Calibri"/>
                <a:ea typeface="Calibri"/>
                <a:cs typeface="Calibri"/>
                <a:sym typeface="Calibri"/>
              </a:rPr>
              <a:t>El hecho es un evento que es descrito por sus medidas y las ocurrencias de las dimensiones que participan en el evento.</a:t>
            </a:r>
            <a:br>
              <a:rPr lang="es-ES_tradnl" sz="1600">
                <a:solidFill>
                  <a:schemeClr val="dk1"/>
                </a:solidFill>
                <a:latin typeface="Calibri"/>
                <a:ea typeface="Calibri"/>
                <a:cs typeface="Calibri"/>
                <a:sym typeface="Calibri"/>
              </a:rPr>
            </a:br>
            <a:endParaRPr lang="es-ES_tradnl" sz="1600">
              <a:solidFill>
                <a:schemeClr val="dk1"/>
              </a:solidFill>
              <a:latin typeface="Calibri"/>
              <a:ea typeface="Calibri"/>
              <a:cs typeface="Calibri"/>
              <a:sym typeface="Calibri"/>
            </a:endParaRPr>
          </a:p>
          <a:p>
            <a:pPr marL="174625" marR="0" lvl="0" indent="-174625" algn="l" rtl="0">
              <a:spcBef>
                <a:spcPts val="0"/>
              </a:spcBef>
              <a:spcAft>
                <a:spcPts val="0"/>
              </a:spcAft>
              <a:buClr>
                <a:schemeClr val="dk1"/>
              </a:buClr>
              <a:buSzPts val="1600"/>
              <a:buFont typeface="Arial"/>
              <a:buChar char="•"/>
            </a:pPr>
            <a:r>
              <a:rPr lang="es-ES_tradnl" sz="1600">
                <a:solidFill>
                  <a:schemeClr val="dk1"/>
                </a:solidFill>
                <a:latin typeface="Calibri"/>
                <a:ea typeface="Calibri"/>
                <a:cs typeface="Calibri"/>
                <a:sym typeface="Calibri"/>
              </a:rPr>
              <a:t>En el ejemplo, cada fila de la tabla VENTAS_FACT es una ocurrencia del evento "venta" que es descrita por las unidades que se vendieron, el precio acordado, el monto de la venta, el producto que se vendió, el cliente al que se le vendió, el proveedor de dicho producto, el empleado que hizo la venta, y la fecha en la que se llevó a cabo.</a:t>
            </a:r>
            <a:endParaRPr lang="es-ES_tradnl"/>
          </a:p>
        </p:txBody>
      </p:sp>
      <p:pic>
        <p:nvPicPr>
          <p:cNvPr id="142" name="Google Shape;142;p14"/>
          <p:cNvPicPr preferRelativeResize="0"/>
          <p:nvPr/>
        </p:nvPicPr>
        <p:blipFill rotWithShape="1">
          <a:blip r:embed="rId3">
            <a:alphaModFix/>
          </a:blip>
          <a:srcRect/>
          <a:stretch/>
        </p:blipFill>
        <p:spPr>
          <a:xfrm>
            <a:off x="1484543" y="1457324"/>
            <a:ext cx="2171700" cy="2486025"/>
          </a:xfrm>
          <a:prstGeom prst="rect">
            <a:avLst/>
          </a:prstGeom>
          <a:noFill/>
          <a:ln>
            <a:noFill/>
          </a:ln>
        </p:spPr>
      </p:pic>
      <p:sp>
        <p:nvSpPr>
          <p:cNvPr id="143" name="Google Shape;143;p14"/>
          <p:cNvSpPr/>
          <p:nvPr/>
        </p:nvSpPr>
        <p:spPr>
          <a:xfrm>
            <a:off x="1701197" y="3049695"/>
            <a:ext cx="937775" cy="690771"/>
          </a:xfrm>
          <a:prstGeom prst="rect">
            <a:avLst/>
          </a:prstGeom>
          <a:noFill/>
          <a:ln w="31750"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44" name="Google Shape;144;p14"/>
          <p:cNvSpPr txBox="1"/>
          <p:nvPr/>
        </p:nvSpPr>
        <p:spPr>
          <a:xfrm>
            <a:off x="1755547" y="4319594"/>
            <a:ext cx="82907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00B1C2"/>
                </a:solidFill>
                <a:latin typeface="Calibri"/>
                <a:ea typeface="Calibri"/>
                <a:cs typeface="Calibri"/>
                <a:sym typeface="Calibri"/>
              </a:rPr>
              <a:t>Medidas</a:t>
            </a:r>
            <a:endParaRPr>
              <a:solidFill>
                <a:srgbClr val="00B1C2"/>
              </a:solidFill>
            </a:endParaRPr>
          </a:p>
        </p:txBody>
      </p:sp>
      <p:cxnSp>
        <p:nvCxnSpPr>
          <p:cNvPr id="145" name="Google Shape;145;p14"/>
          <p:cNvCxnSpPr>
            <a:stCxn id="144" idx="0"/>
          </p:cNvCxnSpPr>
          <p:nvPr/>
        </p:nvCxnSpPr>
        <p:spPr>
          <a:xfrm rot="10800000">
            <a:off x="2170084" y="3740594"/>
            <a:ext cx="0" cy="579000"/>
          </a:xfrm>
          <a:prstGeom prst="straightConnector1">
            <a:avLst/>
          </a:prstGeom>
          <a:noFill/>
          <a:ln w="31750" cap="flat" cmpd="sng">
            <a:solidFill>
              <a:srgbClr val="00B1C2"/>
            </a:solidFill>
            <a:prstDash val="solid"/>
            <a:round/>
            <a:headEnd type="none" w="sm" len="sm"/>
            <a:tailEnd type="triangle" w="med" len="med"/>
          </a:ln>
        </p:spPr>
      </p:cxnSp>
      <p:sp>
        <p:nvSpPr>
          <p:cNvPr id="2" name="Rectangle 5">
            <a:extLst>
              <a:ext uri="{FF2B5EF4-FFF2-40B4-BE49-F238E27FC236}">
                <a16:creationId xmlns:a16="http://schemas.microsoft.com/office/drawing/2014/main" id="{AD971195-2A5E-0A70-F356-B18C7F4AF8C3}"/>
              </a:ext>
            </a:extLst>
          </p:cNvPr>
          <p:cNvSpPr/>
          <p:nvPr/>
        </p:nvSpPr>
        <p:spPr>
          <a:xfrm>
            <a:off x="503237" y="376836"/>
            <a:ext cx="3852494"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PASOS PARA CREAR UN MODELO  DIMENSIONAL</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5"/>
          <p:cNvSpPr/>
          <p:nvPr/>
        </p:nvSpPr>
        <p:spPr>
          <a:xfrm>
            <a:off x="503238" y="916760"/>
            <a:ext cx="1963737"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LA TABLA DE HECHOS</a:t>
            </a:r>
            <a:endParaRPr dirty="0"/>
          </a:p>
        </p:txBody>
      </p:sp>
      <p:sp>
        <p:nvSpPr>
          <p:cNvPr id="152" name="Google Shape;152;p15"/>
          <p:cNvSpPr txBox="1"/>
          <p:nvPr/>
        </p:nvSpPr>
        <p:spPr>
          <a:xfrm>
            <a:off x="4759751" y="1201738"/>
            <a:ext cx="3881012" cy="2846933"/>
          </a:xfrm>
          <a:prstGeom prst="rect">
            <a:avLst/>
          </a:prstGeom>
          <a:noFill/>
          <a:ln>
            <a:noFill/>
          </a:ln>
        </p:spPr>
        <p:txBody>
          <a:bodyPr spcFirstLastPara="1" wrap="square" lIns="0" tIns="0" rIns="0" bIns="0" anchor="t" anchorCtr="0">
            <a:spAutoFit/>
          </a:bodyPr>
          <a:lstStyle/>
          <a:p>
            <a:pPr marL="174625" marR="0" lvl="0" indent="-174625" algn="l" rtl="0">
              <a:spcBef>
                <a:spcPts val="0"/>
              </a:spcBef>
              <a:spcAft>
                <a:spcPts val="600"/>
              </a:spcAft>
              <a:buClr>
                <a:schemeClr val="dk1"/>
              </a:buClr>
              <a:buSzPts val="1600"/>
              <a:buFont typeface="Arial"/>
              <a:buChar char="•"/>
            </a:pPr>
            <a:r>
              <a:rPr lang="en-US" sz="1600">
                <a:solidFill>
                  <a:schemeClr val="dk1"/>
                </a:solidFill>
                <a:latin typeface="Calibri"/>
                <a:ea typeface="Calibri"/>
                <a:cs typeface="Calibri"/>
                <a:sym typeface="Calibri"/>
              </a:rPr>
              <a:t>La tabla de hechos refleja el número de transacciones llevadas a cabo.</a:t>
            </a:r>
            <a:endParaRPr/>
          </a:p>
          <a:p>
            <a:pPr marL="174625" marR="0" lvl="0" indent="-174625" algn="l" rtl="0">
              <a:spcBef>
                <a:spcPts val="0"/>
              </a:spcBef>
              <a:spcAft>
                <a:spcPts val="600"/>
              </a:spcAft>
              <a:buClr>
                <a:schemeClr val="dk1"/>
              </a:buClr>
              <a:buSzPts val="1600"/>
              <a:buFont typeface="Arial"/>
              <a:buChar char="•"/>
            </a:pPr>
            <a:r>
              <a:rPr lang="en-US" sz="1600">
                <a:solidFill>
                  <a:schemeClr val="dk1"/>
                </a:solidFill>
                <a:latin typeface="Calibri"/>
                <a:ea typeface="Calibri"/>
                <a:cs typeface="Calibri"/>
                <a:sym typeface="Calibri"/>
              </a:rPr>
              <a:t>Describe muy bien los procesos del negocio.</a:t>
            </a:r>
            <a:endParaRPr/>
          </a:p>
          <a:p>
            <a:pPr marL="174625" marR="0" lvl="0" indent="-174625" algn="l" rtl="0">
              <a:spcBef>
                <a:spcPts val="0"/>
              </a:spcBef>
              <a:spcAft>
                <a:spcPts val="600"/>
              </a:spcAft>
              <a:buClr>
                <a:schemeClr val="dk1"/>
              </a:buClr>
              <a:buSzPts val="1600"/>
              <a:buFont typeface="Arial"/>
              <a:buChar char="•"/>
            </a:pPr>
            <a:r>
              <a:rPr lang="en-US" sz="1600">
                <a:solidFill>
                  <a:schemeClr val="dk1"/>
                </a:solidFill>
                <a:latin typeface="Calibri"/>
                <a:ea typeface="Calibri"/>
                <a:cs typeface="Calibri"/>
                <a:sym typeface="Calibri"/>
              </a:rPr>
              <a:t>Suelen ser tablas muy grandes que crecen rápidamente.</a:t>
            </a:r>
            <a:endParaRPr/>
          </a:p>
          <a:p>
            <a:pPr marL="174625" marR="0" lvl="0" indent="-174625" algn="l" rtl="0">
              <a:spcBef>
                <a:spcPts val="0"/>
              </a:spcBef>
              <a:spcAft>
                <a:spcPts val="600"/>
              </a:spcAft>
              <a:buClr>
                <a:schemeClr val="dk1"/>
              </a:buClr>
              <a:buSzPts val="1600"/>
              <a:buFont typeface="Arial"/>
              <a:buChar char="•"/>
            </a:pPr>
            <a:r>
              <a:rPr lang="en-US" sz="1600">
                <a:solidFill>
                  <a:schemeClr val="dk1"/>
                </a:solidFill>
                <a:latin typeface="Calibri"/>
                <a:ea typeface="Calibri"/>
                <a:cs typeface="Calibri"/>
                <a:sym typeface="Calibri"/>
              </a:rPr>
              <a:t>Pueden contener medidas base (por ejemplo unidades), derivadas (por ejemplo monto) o agregadas.</a:t>
            </a:r>
            <a:endParaRPr/>
          </a:p>
          <a:p>
            <a:pPr marL="174625" marR="0" lvl="0" indent="-174625" algn="l" rtl="0">
              <a:spcBef>
                <a:spcPts val="0"/>
              </a:spcBef>
              <a:spcAft>
                <a:spcPts val="600"/>
              </a:spcAft>
              <a:buClr>
                <a:schemeClr val="dk1"/>
              </a:buClr>
              <a:buSzPts val="1600"/>
              <a:buFont typeface="Arial"/>
              <a:buChar char="•"/>
            </a:pPr>
            <a:r>
              <a:rPr lang="en-US" sz="1600">
                <a:solidFill>
                  <a:schemeClr val="dk1"/>
                </a:solidFill>
                <a:latin typeface="Calibri"/>
                <a:ea typeface="Calibri"/>
                <a:cs typeface="Calibri"/>
                <a:sym typeface="Calibri"/>
              </a:rPr>
              <a:t>Se relacionan con las dimensiones a través de sus claves foráneas.</a:t>
            </a:r>
            <a:endParaRPr/>
          </a:p>
        </p:txBody>
      </p:sp>
      <p:sp>
        <p:nvSpPr>
          <p:cNvPr id="2" name="Rectangle 5">
            <a:extLst>
              <a:ext uri="{FF2B5EF4-FFF2-40B4-BE49-F238E27FC236}">
                <a16:creationId xmlns:a16="http://schemas.microsoft.com/office/drawing/2014/main" id="{C9450C7E-0946-43F3-AEE1-863A43F27301}"/>
              </a:ext>
            </a:extLst>
          </p:cNvPr>
          <p:cNvSpPr/>
          <p:nvPr/>
        </p:nvSpPr>
        <p:spPr>
          <a:xfrm>
            <a:off x="503237" y="376836"/>
            <a:ext cx="3852494"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PASOS PARA CREAR UN MODELO  DIMENSIONAL</a:t>
            </a:r>
            <a:endParaRPr lang="es-PE" sz="1000" dirty="0">
              <a:solidFill>
                <a:schemeClr val="bg1">
                  <a:lumMod val="65000"/>
                </a:schemeClr>
              </a:solidFill>
              <a:latin typeface="Calibri" charset="0"/>
              <a:cs typeface="Calibri" charset="0"/>
            </a:endParaRPr>
          </a:p>
        </p:txBody>
      </p:sp>
      <p:pic>
        <p:nvPicPr>
          <p:cNvPr id="3" name="Google Shape;142;p14">
            <a:extLst>
              <a:ext uri="{FF2B5EF4-FFF2-40B4-BE49-F238E27FC236}">
                <a16:creationId xmlns:a16="http://schemas.microsoft.com/office/drawing/2014/main" id="{A7C27978-D06B-5F70-BB3A-A5B76635BE3D}"/>
              </a:ext>
            </a:extLst>
          </p:cNvPr>
          <p:cNvPicPr preferRelativeResize="0"/>
          <p:nvPr/>
        </p:nvPicPr>
        <p:blipFill rotWithShape="1">
          <a:blip r:embed="rId3">
            <a:alphaModFix/>
          </a:blip>
          <a:srcRect/>
          <a:stretch/>
        </p:blipFill>
        <p:spPr>
          <a:xfrm>
            <a:off x="1484543" y="1457324"/>
            <a:ext cx="2171700" cy="2486025"/>
          </a:xfrm>
          <a:prstGeom prst="rect">
            <a:avLst/>
          </a:prstGeom>
          <a:noFill/>
          <a:ln>
            <a:noFill/>
          </a:ln>
        </p:spPr>
      </p:pic>
      <p:sp>
        <p:nvSpPr>
          <p:cNvPr id="4" name="Google Shape;143;p14">
            <a:extLst>
              <a:ext uri="{FF2B5EF4-FFF2-40B4-BE49-F238E27FC236}">
                <a16:creationId xmlns:a16="http://schemas.microsoft.com/office/drawing/2014/main" id="{94408B7D-BED0-03A0-7164-1E1A1E768F58}"/>
              </a:ext>
            </a:extLst>
          </p:cNvPr>
          <p:cNvSpPr/>
          <p:nvPr/>
        </p:nvSpPr>
        <p:spPr>
          <a:xfrm>
            <a:off x="1701197" y="3049695"/>
            <a:ext cx="937775" cy="690771"/>
          </a:xfrm>
          <a:prstGeom prst="rect">
            <a:avLst/>
          </a:prstGeom>
          <a:noFill/>
          <a:ln w="31750"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5" name="Google Shape;144;p14">
            <a:extLst>
              <a:ext uri="{FF2B5EF4-FFF2-40B4-BE49-F238E27FC236}">
                <a16:creationId xmlns:a16="http://schemas.microsoft.com/office/drawing/2014/main" id="{1F301AB4-32BA-DF17-B050-715243D252A6}"/>
              </a:ext>
            </a:extLst>
          </p:cNvPr>
          <p:cNvSpPr txBox="1"/>
          <p:nvPr/>
        </p:nvSpPr>
        <p:spPr>
          <a:xfrm>
            <a:off x="1755547" y="4319594"/>
            <a:ext cx="82907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00B1C2"/>
                </a:solidFill>
                <a:latin typeface="Calibri"/>
                <a:ea typeface="Calibri"/>
                <a:cs typeface="Calibri"/>
                <a:sym typeface="Calibri"/>
              </a:rPr>
              <a:t>Medidas</a:t>
            </a:r>
            <a:endParaRPr>
              <a:solidFill>
                <a:srgbClr val="00B1C2"/>
              </a:solidFill>
            </a:endParaRPr>
          </a:p>
        </p:txBody>
      </p:sp>
      <p:cxnSp>
        <p:nvCxnSpPr>
          <p:cNvPr id="6" name="Google Shape;145;p14">
            <a:extLst>
              <a:ext uri="{FF2B5EF4-FFF2-40B4-BE49-F238E27FC236}">
                <a16:creationId xmlns:a16="http://schemas.microsoft.com/office/drawing/2014/main" id="{CC91739F-9316-5E72-D50D-901372A20811}"/>
              </a:ext>
            </a:extLst>
          </p:cNvPr>
          <p:cNvCxnSpPr>
            <a:stCxn id="5" idx="0"/>
          </p:cNvCxnSpPr>
          <p:nvPr/>
        </p:nvCxnSpPr>
        <p:spPr>
          <a:xfrm rot="10800000">
            <a:off x="2170084" y="3740594"/>
            <a:ext cx="0" cy="579000"/>
          </a:xfrm>
          <a:prstGeom prst="straightConnector1">
            <a:avLst/>
          </a:prstGeom>
          <a:noFill/>
          <a:ln w="31750" cap="flat" cmpd="sng">
            <a:solidFill>
              <a:srgbClr val="00B1C2"/>
            </a:solidFill>
            <a:prstDash val="solid"/>
            <a:round/>
            <a:headEnd type="none" w="sm" len="sm"/>
            <a:tailEnd type="triangl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6"/>
          <p:cNvSpPr/>
          <p:nvPr/>
        </p:nvSpPr>
        <p:spPr>
          <a:xfrm>
            <a:off x="513465" y="915615"/>
            <a:ext cx="2348682"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LAS DIMENSIONES</a:t>
            </a:r>
            <a:endParaRPr dirty="0"/>
          </a:p>
        </p:txBody>
      </p:sp>
      <p:grpSp>
        <p:nvGrpSpPr>
          <p:cNvPr id="163" name="Google Shape;163;p16"/>
          <p:cNvGrpSpPr/>
          <p:nvPr/>
        </p:nvGrpSpPr>
        <p:grpSpPr>
          <a:xfrm>
            <a:off x="554642" y="1481434"/>
            <a:ext cx="4082754" cy="3322825"/>
            <a:chOff x="601980" y="1421513"/>
            <a:chExt cx="4267200" cy="3472940"/>
          </a:xfrm>
        </p:grpSpPr>
        <p:pic>
          <p:nvPicPr>
            <p:cNvPr id="164" name="Google Shape;164;p16"/>
            <p:cNvPicPr preferRelativeResize="0"/>
            <p:nvPr/>
          </p:nvPicPr>
          <p:blipFill rotWithShape="1">
            <a:blip r:embed="rId3">
              <a:alphaModFix/>
            </a:blip>
            <a:srcRect/>
            <a:stretch/>
          </p:blipFill>
          <p:spPr>
            <a:xfrm>
              <a:off x="601980" y="1421513"/>
              <a:ext cx="4267200" cy="3472940"/>
            </a:xfrm>
            <a:prstGeom prst="rect">
              <a:avLst/>
            </a:prstGeom>
            <a:noFill/>
            <a:ln>
              <a:noFill/>
            </a:ln>
          </p:spPr>
        </p:pic>
        <p:sp>
          <p:nvSpPr>
            <p:cNvPr id="165" name="Google Shape;165;p16"/>
            <p:cNvSpPr/>
            <p:nvPr/>
          </p:nvSpPr>
          <p:spPr>
            <a:xfrm>
              <a:off x="601980" y="1421513"/>
              <a:ext cx="678180" cy="304417"/>
            </a:xfrm>
            <a:prstGeom prst="rect">
              <a:avLst/>
            </a:prstGeom>
            <a:noFill/>
            <a:ln w="31750" cap="flat" cmpd="sng">
              <a:solidFill>
                <a:srgbClr val="EE463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 name="Google Shape;166;p16"/>
            <p:cNvSpPr/>
            <p:nvPr/>
          </p:nvSpPr>
          <p:spPr>
            <a:xfrm>
              <a:off x="2948940" y="1421704"/>
              <a:ext cx="788670" cy="304417"/>
            </a:xfrm>
            <a:prstGeom prst="rect">
              <a:avLst/>
            </a:prstGeom>
            <a:noFill/>
            <a:ln w="31750" cap="flat" cmpd="sng">
              <a:solidFill>
                <a:srgbClr val="EE463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 name="Google Shape;167;p16"/>
            <p:cNvSpPr/>
            <p:nvPr/>
          </p:nvSpPr>
          <p:spPr>
            <a:xfrm>
              <a:off x="3013731" y="3402904"/>
              <a:ext cx="723879" cy="304417"/>
            </a:xfrm>
            <a:prstGeom prst="rect">
              <a:avLst/>
            </a:prstGeom>
            <a:noFill/>
            <a:ln w="31750" cap="flat" cmpd="sng">
              <a:solidFill>
                <a:srgbClr val="EE463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68" name="Google Shape;168;p16"/>
          <p:cNvSpPr txBox="1"/>
          <p:nvPr/>
        </p:nvSpPr>
        <p:spPr>
          <a:xfrm>
            <a:off x="4751388" y="1201738"/>
            <a:ext cx="3889375" cy="2277547"/>
          </a:xfrm>
          <a:prstGeom prst="rect">
            <a:avLst/>
          </a:prstGeom>
          <a:noFill/>
          <a:ln>
            <a:noFill/>
          </a:ln>
        </p:spPr>
        <p:txBody>
          <a:bodyPr spcFirstLastPara="1" wrap="square" lIns="0" tIns="0" rIns="0" bIns="0" anchor="t" anchorCtr="0">
            <a:spAutoFit/>
          </a:bodyPr>
          <a:lstStyle/>
          <a:p>
            <a:pPr marL="174625" marR="0" lvl="0" indent="-174625" algn="l" rtl="0">
              <a:spcBef>
                <a:spcPts val="0"/>
              </a:spcBef>
              <a:spcAft>
                <a:spcPts val="600"/>
              </a:spcAft>
              <a:buClr>
                <a:schemeClr val="dk1"/>
              </a:buClr>
              <a:buSzPts val="1600"/>
              <a:buFont typeface="Arial"/>
              <a:buChar char="•"/>
            </a:pPr>
            <a:r>
              <a:rPr lang="en-US" sz="1600">
                <a:solidFill>
                  <a:schemeClr val="dk1"/>
                </a:solidFill>
                <a:latin typeface="Calibri"/>
                <a:ea typeface="Calibri"/>
                <a:cs typeface="Calibri"/>
                <a:sym typeface="Calibri"/>
              </a:rPr>
              <a:t>Las dimensiones tienen una clave primaria simple, y sus atributos suelen ser textuales.</a:t>
            </a:r>
            <a:endParaRPr/>
          </a:p>
          <a:p>
            <a:pPr marL="174625" marR="0" lvl="0" indent="-174625" algn="l" rtl="0">
              <a:spcBef>
                <a:spcPts val="0"/>
              </a:spcBef>
              <a:spcAft>
                <a:spcPts val="600"/>
              </a:spcAft>
              <a:buClr>
                <a:schemeClr val="dk1"/>
              </a:buClr>
              <a:buSzPts val="1600"/>
              <a:buFont typeface="Arial"/>
              <a:buChar char="•"/>
            </a:pPr>
            <a:r>
              <a:rPr lang="en-US" sz="1600">
                <a:solidFill>
                  <a:schemeClr val="dk1"/>
                </a:solidFill>
                <a:latin typeface="Calibri"/>
                <a:ea typeface="Calibri"/>
                <a:cs typeface="Calibri"/>
                <a:sym typeface="Calibri"/>
              </a:rPr>
              <a:t>Pueden organizarse en jerarquías. Por ejemplo Categoría/Producto, o una jerarquía basada en el tiempo como Año/Semestre/Trimestre, Mes.</a:t>
            </a:r>
            <a:endParaRPr/>
          </a:p>
          <a:p>
            <a:pPr marL="174625" marR="0" lvl="0" indent="-174625" algn="l" rtl="0">
              <a:spcBef>
                <a:spcPts val="0"/>
              </a:spcBef>
              <a:spcAft>
                <a:spcPts val="600"/>
              </a:spcAft>
              <a:buClr>
                <a:schemeClr val="dk1"/>
              </a:buClr>
              <a:buSzPts val="1600"/>
              <a:buFont typeface="Arial"/>
              <a:buChar char="•"/>
            </a:pPr>
            <a:r>
              <a:rPr lang="en-US" sz="1600">
                <a:solidFill>
                  <a:schemeClr val="dk1"/>
                </a:solidFill>
                <a:latin typeface="Calibri"/>
                <a:ea typeface="Calibri"/>
                <a:cs typeface="Calibri"/>
                <a:sym typeface="Calibri"/>
              </a:rPr>
              <a:t>Suelen tener muchos atributos descriptivos.</a:t>
            </a:r>
            <a:endParaRPr/>
          </a:p>
          <a:p>
            <a:pPr marL="174625" marR="0" lvl="0" indent="-174625" algn="l" rtl="0">
              <a:spcBef>
                <a:spcPts val="0"/>
              </a:spcBef>
              <a:spcAft>
                <a:spcPts val="600"/>
              </a:spcAft>
              <a:buClr>
                <a:schemeClr val="dk1"/>
              </a:buClr>
              <a:buSzPts val="1600"/>
              <a:buFont typeface="Arial"/>
              <a:buChar char="•"/>
            </a:pPr>
            <a:r>
              <a:rPr lang="en-US" sz="1600">
                <a:solidFill>
                  <a:schemeClr val="dk1"/>
                </a:solidFill>
                <a:latin typeface="Calibri"/>
                <a:ea typeface="Calibri"/>
                <a:cs typeface="Calibri"/>
                <a:sym typeface="Calibri"/>
              </a:rPr>
              <a:t>Suelen estar altamente indexados.</a:t>
            </a:r>
            <a:endParaRPr/>
          </a:p>
        </p:txBody>
      </p:sp>
      <p:sp>
        <p:nvSpPr>
          <p:cNvPr id="2" name="Rectangle 5">
            <a:extLst>
              <a:ext uri="{FF2B5EF4-FFF2-40B4-BE49-F238E27FC236}">
                <a16:creationId xmlns:a16="http://schemas.microsoft.com/office/drawing/2014/main" id="{6BB7616A-7CFF-E9E0-D37A-EBE56875FBF7}"/>
              </a:ext>
            </a:extLst>
          </p:cNvPr>
          <p:cNvSpPr/>
          <p:nvPr/>
        </p:nvSpPr>
        <p:spPr>
          <a:xfrm>
            <a:off x="503237" y="376836"/>
            <a:ext cx="3852494"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PASOS PARA CREAR UN MODELO  DIMENSIONAL</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7"/>
          <p:cNvSpPr/>
          <p:nvPr/>
        </p:nvSpPr>
        <p:spPr>
          <a:xfrm>
            <a:off x="503237" y="915601"/>
            <a:ext cx="2760353"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TIPO DE LLAVES O CLAVES</a:t>
            </a:r>
            <a:endParaRPr dirty="0"/>
          </a:p>
        </p:txBody>
      </p:sp>
      <p:sp>
        <p:nvSpPr>
          <p:cNvPr id="175" name="Google Shape;175;p17"/>
          <p:cNvSpPr txBox="1"/>
          <p:nvPr/>
        </p:nvSpPr>
        <p:spPr>
          <a:xfrm>
            <a:off x="503238" y="1606693"/>
            <a:ext cx="3843020" cy="12311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_tradnl" sz="1600" b="1">
                <a:solidFill>
                  <a:schemeClr val="dk1"/>
                </a:solidFill>
                <a:latin typeface="Calibri"/>
                <a:ea typeface="Calibri"/>
                <a:cs typeface="Calibri"/>
                <a:sym typeface="Calibri"/>
              </a:rPr>
              <a:t>Tipos de llaves o claves:</a:t>
            </a:r>
            <a:endParaRPr lang="es-ES_tradnl" sz="1600">
              <a:solidFill>
                <a:schemeClr val="dk1"/>
              </a:solidFill>
              <a:latin typeface="Calibri"/>
              <a:ea typeface="Calibri"/>
              <a:cs typeface="Calibri"/>
              <a:sym typeface="Calibri"/>
            </a:endParaRPr>
          </a:p>
          <a:p>
            <a:pPr marL="174625" marR="0" lvl="0" indent="-174625" algn="l" rtl="0">
              <a:spcBef>
                <a:spcPts val="0"/>
              </a:spcBef>
              <a:spcAft>
                <a:spcPts val="0"/>
              </a:spcAft>
              <a:buClr>
                <a:schemeClr val="dk1"/>
              </a:buClr>
              <a:buSzPts val="1600"/>
              <a:buFont typeface="Arial"/>
              <a:buChar char="•"/>
            </a:pPr>
            <a:r>
              <a:rPr lang="es-ES_tradnl" sz="1600">
                <a:solidFill>
                  <a:schemeClr val="dk1"/>
                </a:solidFill>
                <a:latin typeface="Calibri"/>
                <a:ea typeface="Calibri"/>
                <a:cs typeface="Calibri"/>
                <a:sym typeface="Calibri"/>
              </a:rPr>
              <a:t>Llave primaria (PK).</a:t>
            </a:r>
            <a:endParaRPr lang="es-ES_tradnl"/>
          </a:p>
          <a:p>
            <a:pPr marL="174625" marR="0" lvl="0" indent="-174625" algn="l" rtl="0">
              <a:spcBef>
                <a:spcPts val="0"/>
              </a:spcBef>
              <a:spcAft>
                <a:spcPts val="0"/>
              </a:spcAft>
              <a:buClr>
                <a:schemeClr val="dk1"/>
              </a:buClr>
              <a:buSzPts val="1600"/>
              <a:buFont typeface="Arial"/>
              <a:buChar char="•"/>
            </a:pPr>
            <a:r>
              <a:rPr lang="es-ES_tradnl" sz="1600">
                <a:solidFill>
                  <a:schemeClr val="dk1"/>
                </a:solidFill>
                <a:latin typeface="Calibri"/>
                <a:ea typeface="Calibri"/>
                <a:cs typeface="Calibri"/>
                <a:sym typeface="Calibri"/>
              </a:rPr>
              <a:t>Llave foránea (FK).</a:t>
            </a:r>
            <a:endParaRPr lang="es-ES_tradnl"/>
          </a:p>
          <a:p>
            <a:pPr marL="174625" marR="0" lvl="0" indent="-174625" algn="l" rtl="0">
              <a:spcBef>
                <a:spcPts val="0"/>
              </a:spcBef>
              <a:spcAft>
                <a:spcPts val="0"/>
              </a:spcAft>
              <a:buClr>
                <a:schemeClr val="dk1"/>
              </a:buClr>
              <a:buSzPts val="1600"/>
              <a:buFont typeface="Arial"/>
              <a:buChar char="•"/>
            </a:pPr>
            <a:r>
              <a:rPr lang="es-ES_tradnl" sz="1600">
                <a:solidFill>
                  <a:schemeClr val="dk1"/>
                </a:solidFill>
                <a:latin typeface="Calibri"/>
                <a:ea typeface="Calibri"/>
                <a:cs typeface="Calibri"/>
                <a:sym typeface="Calibri"/>
              </a:rPr>
              <a:t>Llave compuesta.</a:t>
            </a:r>
            <a:endParaRPr lang="es-ES_tradnl"/>
          </a:p>
          <a:p>
            <a:pPr marL="174625" marR="0" lvl="0" indent="-174625" algn="l" rtl="0">
              <a:spcBef>
                <a:spcPts val="0"/>
              </a:spcBef>
              <a:spcAft>
                <a:spcPts val="0"/>
              </a:spcAft>
              <a:buClr>
                <a:schemeClr val="dk1"/>
              </a:buClr>
              <a:buSzPts val="1600"/>
              <a:buFont typeface="Arial"/>
              <a:buChar char="•"/>
            </a:pPr>
            <a:r>
              <a:rPr lang="es-ES_tradnl" sz="1600">
                <a:solidFill>
                  <a:schemeClr val="dk1"/>
                </a:solidFill>
                <a:latin typeface="Calibri"/>
                <a:ea typeface="Calibri"/>
                <a:cs typeface="Calibri"/>
                <a:sym typeface="Calibri"/>
              </a:rPr>
              <a:t>Llave artificial.</a:t>
            </a:r>
            <a:endParaRPr lang="es-ES_tradnl"/>
          </a:p>
        </p:txBody>
      </p:sp>
      <p:sp>
        <p:nvSpPr>
          <p:cNvPr id="176" name="Google Shape;176;p17"/>
          <p:cNvSpPr txBox="1"/>
          <p:nvPr/>
        </p:nvSpPr>
        <p:spPr>
          <a:xfrm>
            <a:off x="4751388" y="1606693"/>
            <a:ext cx="3851275" cy="12311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_tradnl" sz="1600" b="1" dirty="0">
                <a:solidFill>
                  <a:schemeClr val="dk1"/>
                </a:solidFill>
                <a:latin typeface="Calibri"/>
                <a:ea typeface="Calibri"/>
                <a:cs typeface="Calibri"/>
                <a:sym typeface="Calibri"/>
              </a:rPr>
              <a:t>Ventajas del uso de llaves artificiales:</a:t>
            </a:r>
            <a:endParaRPr lang="es-ES_tradnl" dirty="0"/>
          </a:p>
          <a:p>
            <a:pPr marL="174625" marR="0" lvl="0" indent="-174625" algn="l" rtl="0">
              <a:spcBef>
                <a:spcPts val="0"/>
              </a:spcBef>
              <a:spcAft>
                <a:spcPts val="0"/>
              </a:spcAft>
              <a:buClr>
                <a:schemeClr val="dk1"/>
              </a:buClr>
              <a:buSzPts val="1600"/>
              <a:buFont typeface="Arial"/>
              <a:buChar char="•"/>
            </a:pPr>
            <a:r>
              <a:rPr lang="es-ES_tradnl" sz="1600" dirty="0">
                <a:solidFill>
                  <a:schemeClr val="dk1"/>
                </a:solidFill>
                <a:latin typeface="Calibri"/>
                <a:ea typeface="Calibri"/>
                <a:cs typeface="Calibri"/>
                <a:sym typeface="Calibri"/>
              </a:rPr>
              <a:t>Suelen ser numéricas autoincremento.</a:t>
            </a:r>
            <a:endParaRPr lang="es-ES_tradnl" dirty="0"/>
          </a:p>
          <a:p>
            <a:pPr marL="174625" marR="0" lvl="0" indent="-174625" algn="l" rtl="0">
              <a:spcBef>
                <a:spcPts val="0"/>
              </a:spcBef>
              <a:spcAft>
                <a:spcPts val="0"/>
              </a:spcAft>
              <a:buClr>
                <a:schemeClr val="dk1"/>
              </a:buClr>
              <a:buSzPts val="1600"/>
              <a:buFont typeface="Arial"/>
              <a:buChar char="•"/>
            </a:pPr>
            <a:r>
              <a:rPr lang="es-ES_tradnl" sz="1600" dirty="0">
                <a:solidFill>
                  <a:schemeClr val="dk1"/>
                </a:solidFill>
                <a:latin typeface="Calibri"/>
                <a:ea typeface="Calibri"/>
                <a:cs typeface="Calibri"/>
                <a:sym typeface="Calibri"/>
              </a:rPr>
              <a:t>Son más fáciles de procesar y mejoran el rendimiento.</a:t>
            </a:r>
            <a:endParaRPr lang="es-ES_tradnl" dirty="0"/>
          </a:p>
          <a:p>
            <a:pPr marL="174625" marR="0" lvl="0" indent="-174625" algn="l" rtl="0">
              <a:spcBef>
                <a:spcPts val="0"/>
              </a:spcBef>
              <a:spcAft>
                <a:spcPts val="0"/>
              </a:spcAft>
              <a:buClr>
                <a:schemeClr val="dk1"/>
              </a:buClr>
              <a:buSzPts val="1600"/>
              <a:buFont typeface="Arial"/>
              <a:buChar char="•"/>
            </a:pPr>
            <a:r>
              <a:rPr lang="es-ES_tradnl" sz="1600" dirty="0">
                <a:solidFill>
                  <a:schemeClr val="dk1"/>
                </a:solidFill>
                <a:latin typeface="Calibri"/>
                <a:ea typeface="Calibri"/>
                <a:cs typeface="Calibri"/>
                <a:sym typeface="Calibri"/>
              </a:rPr>
              <a:t>Reducen el tamaño de la tabla de hechos.</a:t>
            </a:r>
            <a:endParaRPr lang="es-ES_tradnl" dirty="0"/>
          </a:p>
        </p:txBody>
      </p:sp>
      <p:cxnSp>
        <p:nvCxnSpPr>
          <p:cNvPr id="177" name="Google Shape;177;p17"/>
          <p:cNvCxnSpPr/>
          <p:nvPr/>
        </p:nvCxnSpPr>
        <p:spPr>
          <a:xfrm flipH="1">
            <a:off x="4578562" y="1481433"/>
            <a:ext cx="4442" cy="1499762"/>
          </a:xfrm>
          <a:prstGeom prst="straightConnector1">
            <a:avLst/>
          </a:prstGeom>
          <a:noFill/>
          <a:ln w="19050" cap="flat" cmpd="sng">
            <a:solidFill>
              <a:srgbClr val="00B1C2"/>
            </a:solidFill>
            <a:prstDash val="solid"/>
            <a:round/>
            <a:headEnd type="none" w="sm" len="sm"/>
            <a:tailEnd type="none" w="sm" len="sm"/>
          </a:ln>
        </p:spPr>
      </p:cxnSp>
      <p:sp>
        <p:nvSpPr>
          <p:cNvPr id="2" name="Rectangle 5">
            <a:extLst>
              <a:ext uri="{FF2B5EF4-FFF2-40B4-BE49-F238E27FC236}">
                <a16:creationId xmlns:a16="http://schemas.microsoft.com/office/drawing/2014/main" id="{711A28E5-5813-889B-F5BB-31DE1B708B3B}"/>
              </a:ext>
            </a:extLst>
          </p:cNvPr>
          <p:cNvSpPr/>
          <p:nvPr/>
        </p:nvSpPr>
        <p:spPr>
          <a:xfrm>
            <a:off x="503237" y="376836"/>
            <a:ext cx="3852494"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PASOS PARA CREAR UN MODELO  DIMENSIONAL</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8"/>
          <p:cNvSpPr txBox="1"/>
          <p:nvPr/>
        </p:nvSpPr>
        <p:spPr>
          <a:xfrm>
            <a:off x="516084" y="912813"/>
            <a:ext cx="7553198" cy="380104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ES_tradnl" sz="1600" b="1" dirty="0">
                <a:solidFill>
                  <a:schemeClr val="dk1"/>
                </a:solidFill>
                <a:latin typeface="Calibri"/>
                <a:ea typeface="Calibri"/>
                <a:cs typeface="Calibri"/>
                <a:sym typeface="Calibri"/>
              </a:rPr>
              <a:t>GRANULARIDAD DEL HECHO</a:t>
            </a:r>
            <a:endParaRPr lang="es-ES_tradnl" sz="1600" dirty="0">
              <a:solidFill>
                <a:schemeClr val="dk1"/>
              </a:solidFill>
              <a:latin typeface="Calibri"/>
              <a:ea typeface="Calibri"/>
              <a:cs typeface="Calibri"/>
              <a:sym typeface="Calibri"/>
            </a:endParaRPr>
          </a:p>
          <a:p>
            <a:pPr marL="185738" marR="0" lvl="0" indent="-185738" algn="l" rtl="0">
              <a:spcBef>
                <a:spcPts val="0"/>
              </a:spcBef>
              <a:spcAft>
                <a:spcPts val="0"/>
              </a:spcAft>
              <a:buClr>
                <a:schemeClr val="dk1"/>
              </a:buClr>
              <a:buSzPts val="1600"/>
              <a:buFont typeface="Arial"/>
              <a:buChar char="•"/>
            </a:pPr>
            <a:r>
              <a:rPr lang="es-ES_tradnl" sz="1600" dirty="0">
                <a:solidFill>
                  <a:schemeClr val="dk1"/>
                </a:solidFill>
                <a:latin typeface="Calibri"/>
                <a:ea typeface="Calibri"/>
                <a:cs typeface="Calibri"/>
                <a:sym typeface="Calibri"/>
              </a:rPr>
              <a:t>Es una importante consideración de diseño. El tamaño del grano define el nivel de detalle al que se puede llegar en el análisis.</a:t>
            </a:r>
            <a:endParaRPr lang="es-ES_tradnl" dirty="0"/>
          </a:p>
          <a:p>
            <a:pPr marL="185738" marR="0" lvl="0" indent="-84138" algn="l" rtl="0">
              <a:spcBef>
                <a:spcPts val="0"/>
              </a:spcBef>
              <a:spcAft>
                <a:spcPts val="0"/>
              </a:spcAft>
              <a:buClr>
                <a:schemeClr val="dk1"/>
              </a:buClr>
              <a:buSzPts val="1600"/>
              <a:buFont typeface="Arial"/>
              <a:buNone/>
            </a:pPr>
            <a:endParaRPr lang="es-ES_tradnl" sz="1600" dirty="0">
              <a:solidFill>
                <a:schemeClr val="dk1"/>
              </a:solidFill>
              <a:latin typeface="Calibri"/>
              <a:ea typeface="Calibri"/>
              <a:cs typeface="Calibri"/>
              <a:sym typeface="Calibri"/>
            </a:endParaRPr>
          </a:p>
          <a:p>
            <a:pPr marL="185738" marR="0" lvl="0" indent="-185738" algn="l" rtl="0">
              <a:spcBef>
                <a:spcPts val="0"/>
              </a:spcBef>
              <a:spcAft>
                <a:spcPts val="0"/>
              </a:spcAft>
              <a:buClr>
                <a:schemeClr val="dk1"/>
              </a:buClr>
              <a:buSzPts val="1600"/>
              <a:buFont typeface="Arial"/>
              <a:buChar char="•"/>
            </a:pPr>
            <a:r>
              <a:rPr lang="es-ES_tradnl" sz="1600" b="1" dirty="0">
                <a:solidFill>
                  <a:schemeClr val="dk1"/>
                </a:solidFill>
                <a:latin typeface="Calibri"/>
                <a:ea typeface="Calibri"/>
                <a:cs typeface="Calibri"/>
                <a:sym typeface="Calibri"/>
              </a:rPr>
              <a:t>Grano fino: </a:t>
            </a:r>
            <a:r>
              <a:rPr lang="es-ES_tradnl" sz="1600" dirty="0">
                <a:solidFill>
                  <a:schemeClr val="dk1"/>
                </a:solidFill>
                <a:latin typeface="Calibri"/>
                <a:ea typeface="Calibri"/>
                <a:cs typeface="Calibri"/>
                <a:sym typeface="Calibri"/>
              </a:rPr>
              <a:t>se define a nivel de la transacción proporcionando alto nivel de detalle.</a:t>
            </a:r>
            <a:endParaRPr lang="es-ES_tradnl" dirty="0"/>
          </a:p>
          <a:p>
            <a:pPr marL="185738" marR="0" lvl="0" indent="-84138" algn="l" rtl="0">
              <a:spcBef>
                <a:spcPts val="0"/>
              </a:spcBef>
              <a:spcAft>
                <a:spcPts val="0"/>
              </a:spcAft>
              <a:buClr>
                <a:schemeClr val="dk1"/>
              </a:buClr>
              <a:buSzPts val="1600"/>
              <a:buFont typeface="Arial"/>
              <a:buNone/>
            </a:pPr>
            <a:endParaRPr lang="es-ES_tradnl" sz="1600" dirty="0">
              <a:solidFill>
                <a:schemeClr val="dk1"/>
              </a:solidFill>
              <a:latin typeface="Calibri"/>
              <a:ea typeface="Calibri"/>
              <a:cs typeface="Calibri"/>
              <a:sym typeface="Calibri"/>
            </a:endParaRPr>
          </a:p>
          <a:p>
            <a:pPr marL="185738" marR="0" lvl="0" indent="-84138" algn="l" rtl="0">
              <a:spcBef>
                <a:spcPts val="0"/>
              </a:spcBef>
              <a:spcAft>
                <a:spcPts val="0"/>
              </a:spcAft>
              <a:buClr>
                <a:schemeClr val="dk1"/>
              </a:buClr>
              <a:buSzPts val="1600"/>
              <a:buFont typeface="Arial"/>
              <a:buNone/>
            </a:pPr>
            <a:endParaRPr lang="es-ES_tradnl" sz="1600" dirty="0">
              <a:solidFill>
                <a:schemeClr val="dk1"/>
              </a:solidFill>
              <a:latin typeface="Calibri"/>
              <a:ea typeface="Calibri"/>
              <a:cs typeface="Calibri"/>
              <a:sym typeface="Calibri"/>
            </a:endParaRPr>
          </a:p>
          <a:p>
            <a:pPr marL="185738" marR="0" lvl="0" indent="-84138" algn="l" rtl="0">
              <a:spcBef>
                <a:spcPts val="0"/>
              </a:spcBef>
              <a:spcAft>
                <a:spcPts val="0"/>
              </a:spcAft>
              <a:buClr>
                <a:schemeClr val="dk1"/>
              </a:buClr>
              <a:buSzPts val="1600"/>
              <a:buFont typeface="Arial"/>
              <a:buNone/>
            </a:pPr>
            <a:endParaRPr lang="es-ES_tradnl" sz="1600" dirty="0">
              <a:solidFill>
                <a:schemeClr val="dk1"/>
              </a:solidFill>
              <a:latin typeface="Calibri"/>
              <a:ea typeface="Calibri"/>
              <a:cs typeface="Calibri"/>
              <a:sym typeface="Calibri"/>
            </a:endParaRPr>
          </a:p>
          <a:p>
            <a:pPr marL="185738" marR="0" lvl="0" indent="-185738" algn="l" rtl="0">
              <a:spcBef>
                <a:spcPts val="0"/>
              </a:spcBef>
              <a:spcAft>
                <a:spcPts val="0"/>
              </a:spcAft>
              <a:buClr>
                <a:schemeClr val="dk1"/>
              </a:buClr>
              <a:buSzPts val="1600"/>
              <a:buFont typeface="Arial"/>
              <a:buChar char="•"/>
            </a:pPr>
            <a:r>
              <a:rPr lang="es-ES_tradnl" sz="1600" b="1" dirty="0">
                <a:solidFill>
                  <a:schemeClr val="dk1"/>
                </a:solidFill>
                <a:latin typeface="Calibri"/>
                <a:ea typeface="Calibri"/>
                <a:cs typeface="Calibri"/>
                <a:sym typeface="Calibri"/>
              </a:rPr>
              <a:t>Grano grueso: </a:t>
            </a:r>
            <a:r>
              <a:rPr lang="es-ES_tradnl" sz="1600" dirty="0">
                <a:solidFill>
                  <a:schemeClr val="dk1"/>
                </a:solidFill>
                <a:latin typeface="Calibri"/>
                <a:ea typeface="Calibri"/>
                <a:cs typeface="Calibri"/>
                <a:sym typeface="Calibri"/>
              </a:rPr>
              <a:t>define data agregada (</a:t>
            </a:r>
            <a:r>
              <a:rPr lang="es-ES_tradnl" sz="1600" dirty="0" err="1">
                <a:solidFill>
                  <a:schemeClr val="dk1"/>
                </a:solidFill>
                <a:latin typeface="Calibri"/>
                <a:ea typeface="Calibri"/>
                <a:cs typeface="Calibri"/>
                <a:sym typeface="Calibri"/>
              </a:rPr>
              <a:t>sumarizada</a:t>
            </a:r>
            <a:r>
              <a:rPr lang="es-ES_tradnl" sz="1600" dirty="0">
                <a:solidFill>
                  <a:schemeClr val="dk1"/>
                </a:solidFill>
                <a:latin typeface="Calibri"/>
                <a:ea typeface="Calibri"/>
                <a:cs typeface="Calibri"/>
                <a:sym typeface="Calibri"/>
              </a:rPr>
              <a:t>) ocultando información que no podrá ser explotada.</a:t>
            </a:r>
          </a:p>
          <a:p>
            <a:pPr marL="185738" marR="0" lvl="0" indent="-185738" algn="l" rtl="0">
              <a:spcBef>
                <a:spcPts val="0"/>
              </a:spcBef>
              <a:spcAft>
                <a:spcPts val="0"/>
              </a:spcAft>
              <a:buClr>
                <a:schemeClr val="dk1"/>
              </a:buClr>
              <a:buSzPts val="1600"/>
              <a:buFont typeface="Arial"/>
              <a:buChar char="•"/>
            </a:pPr>
            <a:endParaRPr lang="es-ES_tradnl" dirty="0"/>
          </a:p>
          <a:p>
            <a:pPr marL="185738" marR="0" lvl="0" indent="-84138" algn="l" rtl="0">
              <a:spcBef>
                <a:spcPts val="0"/>
              </a:spcBef>
              <a:spcAft>
                <a:spcPts val="0"/>
              </a:spcAft>
              <a:buClr>
                <a:schemeClr val="dk1"/>
              </a:buClr>
              <a:buSzPts val="1600"/>
              <a:buFont typeface="Arial"/>
              <a:buNone/>
            </a:pPr>
            <a:endParaRPr lang="es-ES_tradnl" sz="1600" dirty="0">
              <a:solidFill>
                <a:schemeClr val="dk1"/>
              </a:solidFill>
              <a:latin typeface="Calibri"/>
              <a:ea typeface="Calibri"/>
              <a:cs typeface="Calibri"/>
              <a:sym typeface="Calibri"/>
            </a:endParaRPr>
          </a:p>
          <a:p>
            <a:pPr marL="185738" marR="0" lvl="0" indent="-185738" algn="l" rtl="0">
              <a:spcBef>
                <a:spcPts val="0"/>
              </a:spcBef>
              <a:spcAft>
                <a:spcPts val="0"/>
              </a:spcAft>
              <a:buClr>
                <a:schemeClr val="dk1"/>
              </a:buClr>
              <a:buSzPts val="1600"/>
              <a:buFont typeface="Arial"/>
              <a:buChar char="•"/>
            </a:pPr>
            <a:r>
              <a:rPr lang="es-ES_tradnl" sz="1600" b="1" dirty="0">
                <a:solidFill>
                  <a:schemeClr val="dk1"/>
                </a:solidFill>
                <a:latin typeface="Calibri"/>
                <a:ea typeface="Calibri"/>
                <a:cs typeface="Calibri"/>
                <a:sym typeface="Calibri"/>
              </a:rPr>
              <a:t>Granularidad de la dimensión tiempo: </a:t>
            </a:r>
            <a:r>
              <a:rPr lang="es-ES_tradnl" sz="1600" dirty="0">
                <a:solidFill>
                  <a:schemeClr val="dk1"/>
                </a:solidFill>
                <a:latin typeface="Calibri"/>
                <a:ea typeface="Calibri"/>
                <a:cs typeface="Calibri"/>
                <a:sym typeface="Calibri"/>
              </a:rPr>
              <a:t>si el tamaño del grano es Mes, no podrá analizar las transacciones diarias; pero, si el tamaño es Día, podrá analizarlas día por día y también mes a mes.</a:t>
            </a:r>
            <a:endParaRPr lang="es-ES_tradnl" dirty="0"/>
          </a:p>
        </p:txBody>
      </p:sp>
      <p:pic>
        <p:nvPicPr>
          <p:cNvPr id="184" name="Google Shape;184;p18"/>
          <p:cNvPicPr preferRelativeResize="0"/>
          <p:nvPr/>
        </p:nvPicPr>
        <p:blipFill rotWithShape="1">
          <a:blip r:embed="rId3">
            <a:alphaModFix/>
          </a:blip>
          <a:srcRect/>
          <a:stretch/>
        </p:blipFill>
        <p:spPr>
          <a:xfrm>
            <a:off x="2191070" y="2397218"/>
            <a:ext cx="1885950" cy="381000"/>
          </a:xfrm>
          <a:prstGeom prst="rect">
            <a:avLst/>
          </a:prstGeom>
          <a:noFill/>
          <a:ln>
            <a:noFill/>
          </a:ln>
        </p:spPr>
      </p:pic>
      <p:pic>
        <p:nvPicPr>
          <p:cNvPr id="185" name="Google Shape;185;p18"/>
          <p:cNvPicPr preferRelativeResize="0"/>
          <p:nvPr/>
        </p:nvPicPr>
        <p:blipFill rotWithShape="1">
          <a:blip r:embed="rId4">
            <a:alphaModFix/>
          </a:blip>
          <a:srcRect/>
          <a:stretch/>
        </p:blipFill>
        <p:spPr>
          <a:xfrm>
            <a:off x="2519682" y="3477258"/>
            <a:ext cx="657225" cy="228600"/>
          </a:xfrm>
          <a:prstGeom prst="rect">
            <a:avLst/>
          </a:prstGeom>
          <a:noFill/>
          <a:ln>
            <a:noFill/>
          </a:ln>
        </p:spPr>
      </p:pic>
      <p:sp>
        <p:nvSpPr>
          <p:cNvPr id="2" name="Rectangle 5">
            <a:extLst>
              <a:ext uri="{FF2B5EF4-FFF2-40B4-BE49-F238E27FC236}">
                <a16:creationId xmlns:a16="http://schemas.microsoft.com/office/drawing/2014/main" id="{D9460B43-4384-9F1A-17BB-2674253B9FA3}"/>
              </a:ext>
            </a:extLst>
          </p:cNvPr>
          <p:cNvSpPr/>
          <p:nvPr/>
        </p:nvSpPr>
        <p:spPr>
          <a:xfrm>
            <a:off x="503237" y="376836"/>
            <a:ext cx="3852494"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PASOS PARA CREAR UN MODELO  DIMENSIONAL</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9"/>
          <p:cNvSpPr/>
          <p:nvPr/>
        </p:nvSpPr>
        <p:spPr>
          <a:xfrm>
            <a:off x="503237" y="679164"/>
            <a:ext cx="7204493"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¿QUÉ ESQUEMA UTILIZAR</a:t>
            </a:r>
            <a:r>
              <a:rPr lang="en-US" sz="1500" b="1" dirty="0">
                <a:solidFill>
                  <a:schemeClr val="dk1"/>
                </a:solidFill>
                <a:latin typeface="Calibri"/>
                <a:ea typeface="Calibri"/>
                <a:cs typeface="Calibri"/>
                <a:sym typeface="Calibri"/>
              </a:rPr>
              <a:t>?</a:t>
            </a:r>
            <a:endParaRPr dirty="0"/>
          </a:p>
        </p:txBody>
      </p:sp>
      <p:pic>
        <p:nvPicPr>
          <p:cNvPr id="192" name="Google Shape;192;p19"/>
          <p:cNvPicPr preferRelativeResize="0"/>
          <p:nvPr/>
        </p:nvPicPr>
        <p:blipFill rotWithShape="1">
          <a:blip r:embed="rId3">
            <a:alphaModFix/>
          </a:blip>
          <a:srcRect/>
          <a:stretch/>
        </p:blipFill>
        <p:spPr>
          <a:xfrm>
            <a:off x="503238" y="1773516"/>
            <a:ext cx="3924762" cy="2303284"/>
          </a:xfrm>
          <a:prstGeom prst="rect">
            <a:avLst/>
          </a:prstGeom>
          <a:noFill/>
          <a:ln>
            <a:noFill/>
          </a:ln>
        </p:spPr>
      </p:pic>
      <p:pic>
        <p:nvPicPr>
          <p:cNvPr id="193" name="Google Shape;193;p19"/>
          <p:cNvPicPr preferRelativeResize="0"/>
          <p:nvPr/>
        </p:nvPicPr>
        <p:blipFill rotWithShape="1">
          <a:blip r:embed="rId4">
            <a:alphaModFix/>
          </a:blip>
          <a:srcRect/>
          <a:stretch/>
        </p:blipFill>
        <p:spPr>
          <a:xfrm>
            <a:off x="4797156" y="1826376"/>
            <a:ext cx="3823145" cy="2256282"/>
          </a:xfrm>
          <a:prstGeom prst="rect">
            <a:avLst/>
          </a:prstGeom>
          <a:noFill/>
          <a:ln>
            <a:noFill/>
          </a:ln>
        </p:spPr>
      </p:pic>
      <p:sp>
        <p:nvSpPr>
          <p:cNvPr id="194" name="Google Shape;194;p19"/>
          <p:cNvSpPr txBox="1"/>
          <p:nvPr/>
        </p:nvSpPr>
        <p:spPr>
          <a:xfrm>
            <a:off x="511189" y="1137951"/>
            <a:ext cx="1913152"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dirty="0">
                <a:solidFill>
                  <a:schemeClr val="dk1"/>
                </a:solidFill>
                <a:latin typeface="Calibri"/>
                <a:ea typeface="Calibri"/>
                <a:cs typeface="Calibri"/>
                <a:sym typeface="Calibri"/>
              </a:rPr>
              <a:t>ESQUEMA ESTRELLA</a:t>
            </a:r>
            <a:endParaRPr sz="1500" dirty="0"/>
          </a:p>
        </p:txBody>
      </p:sp>
      <p:sp>
        <p:nvSpPr>
          <p:cNvPr id="195" name="Google Shape;195;p19"/>
          <p:cNvSpPr txBox="1"/>
          <p:nvPr/>
        </p:nvSpPr>
        <p:spPr>
          <a:xfrm>
            <a:off x="4751388" y="1137951"/>
            <a:ext cx="2433423"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dirty="0">
                <a:solidFill>
                  <a:schemeClr val="dk1"/>
                </a:solidFill>
                <a:latin typeface="Calibri"/>
                <a:ea typeface="Calibri"/>
                <a:cs typeface="Calibri"/>
                <a:sym typeface="Calibri"/>
              </a:rPr>
              <a:t>ESQUEMA COPO DE NIEVE</a:t>
            </a:r>
            <a:endParaRPr sz="1500" dirty="0"/>
          </a:p>
        </p:txBody>
      </p:sp>
      <p:cxnSp>
        <p:nvCxnSpPr>
          <p:cNvPr id="196" name="Google Shape;196;p19"/>
          <p:cNvCxnSpPr/>
          <p:nvPr/>
        </p:nvCxnSpPr>
        <p:spPr>
          <a:xfrm>
            <a:off x="4572000" y="1037173"/>
            <a:ext cx="0" cy="4427537"/>
          </a:xfrm>
          <a:prstGeom prst="straightConnector1">
            <a:avLst/>
          </a:prstGeom>
          <a:noFill/>
          <a:ln w="9525" cap="flat" cmpd="sng">
            <a:solidFill>
              <a:srgbClr val="4A7DBA"/>
            </a:solidFill>
            <a:prstDash val="solid"/>
            <a:round/>
            <a:headEnd type="none" w="sm" len="sm"/>
            <a:tailEnd type="none" w="sm" len="sm"/>
          </a:ln>
        </p:spPr>
      </p:cxnSp>
      <p:sp>
        <p:nvSpPr>
          <p:cNvPr id="197" name="Google Shape;197;p19"/>
          <p:cNvSpPr txBox="1"/>
          <p:nvPr/>
        </p:nvSpPr>
        <p:spPr>
          <a:xfrm>
            <a:off x="503237" y="4335024"/>
            <a:ext cx="4005151" cy="215444"/>
          </a:xfrm>
          <a:prstGeom prst="rect">
            <a:avLst/>
          </a:prstGeom>
          <a:noFill/>
          <a:ln>
            <a:noFill/>
          </a:ln>
        </p:spPr>
        <p:txBody>
          <a:bodyPr spcFirstLastPara="1" wrap="square" lIns="0" tIns="0" rIns="0" bIns="0" anchor="t" anchorCtr="0">
            <a:spAutoFit/>
          </a:bodyPr>
          <a:lstStyle/>
          <a:p>
            <a:pPr marL="174625" marR="0" lvl="0" indent="-174625" algn="l" rtl="0">
              <a:spcBef>
                <a:spcPts val="0"/>
              </a:spcBef>
              <a:spcAft>
                <a:spcPts val="0"/>
              </a:spcAft>
              <a:buClr>
                <a:schemeClr val="dk1"/>
              </a:buClr>
              <a:buSzPts val="1500"/>
              <a:buFont typeface="Arial"/>
              <a:buChar char="•"/>
            </a:pPr>
            <a:r>
              <a:rPr lang="es-ES_tradnl" sz="1400" dirty="0">
                <a:solidFill>
                  <a:schemeClr val="dk1"/>
                </a:solidFill>
                <a:latin typeface="Calibri" panose="020F0502020204030204" pitchFamily="34" charset="0"/>
                <a:ea typeface="Calibri"/>
                <a:cs typeface="Calibri" panose="020F0502020204030204" pitchFamily="34" charset="0"/>
                <a:sym typeface="Calibri"/>
              </a:rPr>
              <a:t>El esquema estrella es muy intuitivo para el usuario.</a:t>
            </a:r>
            <a:endParaRPr lang="es-ES_tradnl" sz="1400" dirty="0">
              <a:latin typeface="Calibri" panose="020F0502020204030204" pitchFamily="34" charset="0"/>
              <a:cs typeface="Calibri" panose="020F0502020204030204" pitchFamily="34" charset="0"/>
            </a:endParaRPr>
          </a:p>
        </p:txBody>
      </p:sp>
      <p:sp>
        <p:nvSpPr>
          <p:cNvPr id="198" name="Google Shape;198;p19"/>
          <p:cNvSpPr txBox="1"/>
          <p:nvPr/>
        </p:nvSpPr>
        <p:spPr>
          <a:xfrm>
            <a:off x="4824413" y="4335024"/>
            <a:ext cx="3851276" cy="861774"/>
          </a:xfrm>
          <a:prstGeom prst="rect">
            <a:avLst/>
          </a:prstGeom>
          <a:noFill/>
          <a:ln>
            <a:noFill/>
          </a:ln>
        </p:spPr>
        <p:txBody>
          <a:bodyPr spcFirstLastPara="1" wrap="square" lIns="0" tIns="0" rIns="0" bIns="0" anchor="t" anchorCtr="0">
            <a:spAutoFit/>
          </a:bodyPr>
          <a:lstStyle/>
          <a:p>
            <a:pPr marL="174625" marR="0" lvl="0" indent="-174625" algn="l" rtl="0">
              <a:spcBef>
                <a:spcPts val="0"/>
              </a:spcBef>
              <a:spcAft>
                <a:spcPts val="0"/>
              </a:spcAft>
              <a:buClr>
                <a:schemeClr val="dk1"/>
              </a:buClr>
              <a:buSzPts val="1500"/>
              <a:buFont typeface="Arial"/>
              <a:buChar char="•"/>
            </a:pPr>
            <a:r>
              <a:rPr lang="es-ES_tradnl" sz="1400">
                <a:solidFill>
                  <a:schemeClr val="dk1"/>
                </a:solidFill>
                <a:latin typeface="Calibri" panose="020F0502020204030204" pitchFamily="34" charset="0"/>
                <a:ea typeface="Calibri"/>
                <a:cs typeface="Calibri" panose="020F0502020204030204" pitchFamily="34" charset="0"/>
                <a:sym typeface="Calibri"/>
              </a:rPr>
              <a:t>Las dimensiones normalizadas hacen que el esquema no sea fácil de entender para el usuario.</a:t>
            </a:r>
            <a:endParaRPr lang="es-ES_tradnl" sz="1400">
              <a:latin typeface="Calibri" panose="020F0502020204030204" pitchFamily="34" charset="0"/>
              <a:cs typeface="Calibri" panose="020F0502020204030204" pitchFamily="34" charset="0"/>
            </a:endParaRPr>
          </a:p>
          <a:p>
            <a:pPr marL="174625" marR="0" lvl="0" indent="-174625" algn="l" rtl="0">
              <a:spcBef>
                <a:spcPts val="0"/>
              </a:spcBef>
              <a:spcAft>
                <a:spcPts val="0"/>
              </a:spcAft>
              <a:buClr>
                <a:schemeClr val="dk1"/>
              </a:buClr>
              <a:buSzPts val="1500"/>
              <a:buFont typeface="Arial"/>
              <a:buChar char="•"/>
            </a:pPr>
            <a:r>
              <a:rPr lang="es-ES_tradnl" sz="1400">
                <a:solidFill>
                  <a:schemeClr val="dk1"/>
                </a:solidFill>
                <a:latin typeface="Calibri" panose="020F0502020204030204" pitchFamily="34" charset="0"/>
                <a:ea typeface="Calibri"/>
                <a:cs typeface="Calibri" panose="020F0502020204030204" pitchFamily="34" charset="0"/>
                <a:sym typeface="Calibri"/>
              </a:rPr>
              <a:t>Requiere la ejecución de más combinaciones (joins), degradando el rendimiento.</a:t>
            </a:r>
            <a:endParaRPr lang="es-ES_tradnl" sz="1400">
              <a:latin typeface="Calibri" panose="020F0502020204030204" pitchFamily="34" charset="0"/>
              <a:cs typeface="Calibri" panose="020F0502020204030204" pitchFamily="34" charset="0"/>
            </a:endParaRPr>
          </a:p>
        </p:txBody>
      </p:sp>
      <p:sp>
        <p:nvSpPr>
          <p:cNvPr id="199" name="Google Shape;199;p19"/>
          <p:cNvSpPr/>
          <p:nvPr/>
        </p:nvSpPr>
        <p:spPr>
          <a:xfrm>
            <a:off x="1850274" y="1762085"/>
            <a:ext cx="1071252" cy="720677"/>
          </a:xfrm>
          <a:prstGeom prst="rect">
            <a:avLst/>
          </a:prstGeom>
          <a:noFill/>
          <a:ln w="31750" cap="flat" cmpd="sng">
            <a:solidFill>
              <a:srgbClr val="EE463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 name="Google Shape;200;p19"/>
          <p:cNvSpPr txBox="1"/>
          <p:nvPr/>
        </p:nvSpPr>
        <p:spPr>
          <a:xfrm>
            <a:off x="2388675" y="1387356"/>
            <a:ext cx="1930913"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_tradnl" sz="1400" b="1">
                <a:solidFill>
                  <a:srgbClr val="EE4639"/>
                </a:solidFill>
                <a:latin typeface="Calibri"/>
                <a:ea typeface="Calibri"/>
                <a:cs typeface="Calibri"/>
                <a:sym typeface="Calibri"/>
              </a:rPr>
              <a:t>dimensión denormalizada</a:t>
            </a:r>
          </a:p>
        </p:txBody>
      </p:sp>
      <p:sp>
        <p:nvSpPr>
          <p:cNvPr id="201" name="Google Shape;201;p19"/>
          <p:cNvSpPr/>
          <p:nvPr/>
        </p:nvSpPr>
        <p:spPr>
          <a:xfrm>
            <a:off x="4797156" y="1789229"/>
            <a:ext cx="2496570" cy="660939"/>
          </a:xfrm>
          <a:prstGeom prst="rect">
            <a:avLst/>
          </a:prstGeom>
          <a:noFill/>
          <a:ln w="31750" cap="flat" cmpd="sng">
            <a:solidFill>
              <a:srgbClr val="EE463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19"/>
          <p:cNvSpPr txBox="1"/>
          <p:nvPr/>
        </p:nvSpPr>
        <p:spPr>
          <a:xfrm>
            <a:off x="6930723" y="1387356"/>
            <a:ext cx="174496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_tradnl" sz="1400" b="1">
                <a:solidFill>
                  <a:srgbClr val="EE4639"/>
                </a:solidFill>
                <a:latin typeface="Calibri"/>
                <a:ea typeface="Calibri"/>
                <a:cs typeface="Calibri"/>
                <a:sym typeface="Calibri"/>
              </a:rPr>
              <a:t>dimensión normalizada</a:t>
            </a:r>
            <a:endParaRPr lang="es-ES_tradnl">
              <a:solidFill>
                <a:srgbClr val="EE4639"/>
              </a:solidFill>
            </a:endParaRPr>
          </a:p>
        </p:txBody>
      </p:sp>
      <p:sp>
        <p:nvSpPr>
          <p:cNvPr id="2" name="Rectangle 5">
            <a:extLst>
              <a:ext uri="{FF2B5EF4-FFF2-40B4-BE49-F238E27FC236}">
                <a16:creationId xmlns:a16="http://schemas.microsoft.com/office/drawing/2014/main" id="{451A74C0-A909-64A3-FC7E-0283F021181B}"/>
              </a:ext>
            </a:extLst>
          </p:cNvPr>
          <p:cNvSpPr/>
          <p:nvPr/>
        </p:nvSpPr>
        <p:spPr>
          <a:xfrm>
            <a:off x="503237" y="376836"/>
            <a:ext cx="3852494"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PASOS PARA CREAR UN MODELO  DIMENSIONAL</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62149" cy="1457835"/>
          </a:xfrm>
          <a:prstGeom prst="rect">
            <a:avLst/>
          </a:prstGeom>
          <a:noFill/>
        </p:spPr>
        <p:txBody>
          <a:bodyPr wrap="square" lIns="0" tIns="0" rIns="0" bIns="0" rtlCol="0">
            <a:spAutoFit/>
          </a:bodyPr>
          <a:lstStyle/>
          <a:p>
            <a:pPr>
              <a:lnSpc>
                <a:spcPct val="90000"/>
              </a:lnSpc>
              <a:spcBef>
                <a:spcPts val="1000"/>
              </a:spcBef>
              <a:defRPr/>
            </a:pPr>
            <a:r>
              <a:rPr lang="en-US" sz="2400" dirty="0">
                <a:solidFill>
                  <a:schemeClr val="bg1"/>
                </a:solidFill>
                <a:latin typeface="Graphik Regular" panose="020B0503030202060203" pitchFamily="34" charset="77"/>
                <a:sym typeface="Calibri"/>
              </a:rPr>
              <a:t>IMPLEMENTACIÓN DE UN</a:t>
            </a:r>
            <a:r>
              <a:rPr lang="en-US" sz="2400" b="1" dirty="0">
                <a:solidFill>
                  <a:schemeClr val="bg1"/>
                </a:solidFill>
                <a:latin typeface="Graphik Bold" panose="020B0503030202060203" pitchFamily="34" charset="77"/>
                <a:sym typeface="Calibri"/>
              </a:rPr>
              <a:t> </a:t>
            </a:r>
            <a:br>
              <a:rPr lang="en-US" sz="2400" b="1" dirty="0">
                <a:solidFill>
                  <a:schemeClr val="bg1"/>
                </a:solidFill>
                <a:latin typeface="Graphik Bold" panose="020B0503030202060203" pitchFamily="34" charset="77"/>
                <a:sym typeface="Calibri"/>
              </a:rPr>
            </a:br>
            <a:r>
              <a:rPr lang="en-US" sz="2400" b="1" dirty="0">
                <a:solidFill>
                  <a:schemeClr val="bg1"/>
                </a:solidFill>
                <a:latin typeface="Graphik Bold" panose="020B0503030202060203" pitchFamily="34" charset="77"/>
                <a:sym typeface="Calibri"/>
              </a:rPr>
              <a:t>MODELO DIMENSIONAL EN MICROSOFT SQL SERVER</a:t>
            </a:r>
            <a:endParaRPr lang="en-US" sz="2400" b="1" dirty="0">
              <a:solidFill>
                <a:schemeClr val="bg1"/>
              </a:solidFill>
              <a:latin typeface="Graphik Bold" panose="020B0503030202060203" pitchFamily="34" charset="77"/>
            </a:endParaRPr>
          </a:p>
          <a:p>
            <a:pPr>
              <a:lnSpc>
                <a:spcPct val="90000"/>
              </a:lnSpc>
              <a:spcBef>
                <a:spcPts val="1000"/>
              </a:spcBef>
              <a:defRPr/>
            </a:pPr>
            <a:endParaRPr lang="es-PE" sz="24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2187810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216" name="Google Shape;216;p21"/>
          <p:cNvPicPr preferRelativeResize="0"/>
          <p:nvPr/>
        </p:nvPicPr>
        <p:blipFill rotWithShape="1">
          <a:blip r:embed="rId3">
            <a:alphaModFix/>
          </a:blip>
          <a:srcRect/>
          <a:stretch/>
        </p:blipFill>
        <p:spPr>
          <a:xfrm>
            <a:off x="4892047" y="1874982"/>
            <a:ext cx="3636577" cy="2134160"/>
          </a:xfrm>
          <a:prstGeom prst="rect">
            <a:avLst/>
          </a:prstGeom>
          <a:noFill/>
          <a:ln>
            <a:noFill/>
          </a:ln>
        </p:spPr>
      </p:pic>
      <p:cxnSp>
        <p:nvCxnSpPr>
          <p:cNvPr id="217" name="Google Shape;217;p21"/>
          <p:cNvCxnSpPr>
            <a:cxnSpLocks/>
          </p:cNvCxnSpPr>
          <p:nvPr/>
        </p:nvCxnSpPr>
        <p:spPr>
          <a:xfrm>
            <a:off x="4572000" y="915739"/>
            <a:ext cx="0" cy="4318249"/>
          </a:xfrm>
          <a:prstGeom prst="straightConnector1">
            <a:avLst/>
          </a:prstGeom>
          <a:noFill/>
          <a:ln w="9525" cap="flat" cmpd="sng">
            <a:solidFill>
              <a:srgbClr val="00B1C2"/>
            </a:solidFill>
            <a:prstDash val="solid"/>
            <a:round/>
            <a:headEnd type="none" w="sm" len="sm"/>
            <a:tailEnd type="none" w="sm" len="sm"/>
          </a:ln>
        </p:spPr>
      </p:cxnSp>
      <p:sp>
        <p:nvSpPr>
          <p:cNvPr id="218" name="Google Shape;218;p21"/>
          <p:cNvSpPr txBox="1"/>
          <p:nvPr/>
        </p:nvSpPr>
        <p:spPr>
          <a:xfrm>
            <a:off x="503239" y="915739"/>
            <a:ext cx="3889374" cy="4154984"/>
          </a:xfrm>
          <a:prstGeom prst="rect">
            <a:avLst/>
          </a:prstGeom>
          <a:noFill/>
          <a:ln>
            <a:noFill/>
          </a:ln>
        </p:spPr>
        <p:txBody>
          <a:bodyPr spcFirstLastPara="1" wrap="square" lIns="0" tIns="0" rIns="0" bIns="0" anchor="t" anchorCtr="0">
            <a:spAutoFit/>
          </a:bodyPr>
          <a:lstStyle/>
          <a:p>
            <a:pPr marL="0" marR="0" lvl="0" indent="0" rtl="0">
              <a:lnSpc>
                <a:spcPct val="100000"/>
              </a:lnSpc>
              <a:spcBef>
                <a:spcPts val="0"/>
              </a:spcBef>
              <a:spcAft>
                <a:spcPts val="0"/>
              </a:spcAft>
              <a:buClr>
                <a:srgbClr val="000000"/>
              </a:buClr>
              <a:buSzPts val="1600"/>
              <a:buFont typeface="Calibri"/>
              <a:buNone/>
            </a:pPr>
            <a:r>
              <a:rPr lang="es-ES_tradnl" sz="1500" b="0" i="0" u="none" strike="noStrike" cap="none" dirty="0">
                <a:solidFill>
                  <a:srgbClr val="000000"/>
                </a:solidFill>
                <a:latin typeface="Calibri" panose="020F0502020204030204" pitchFamily="34" charset="0"/>
                <a:ea typeface="Calibri"/>
                <a:cs typeface="Calibri" panose="020F0502020204030204" pitchFamily="34" charset="0"/>
                <a:sym typeface="Calibri"/>
              </a:rPr>
              <a:t>Una vez definido el modelo dimensional (su modelo físico, es decir los </a:t>
            </a:r>
            <a:r>
              <a:rPr lang="es-ES_tradnl" sz="1500" b="1" i="0" u="none" strike="noStrike" cap="none" dirty="0">
                <a:solidFill>
                  <a:srgbClr val="00B1C2"/>
                </a:solidFill>
                <a:latin typeface="Calibri" panose="020F0502020204030204" pitchFamily="34" charset="0"/>
                <a:ea typeface="Calibri"/>
                <a:cs typeface="Calibri" panose="020F0502020204030204" pitchFamily="34" charset="0"/>
                <a:sym typeface="Calibri"/>
              </a:rPr>
              <a:t>tipos de datos </a:t>
            </a:r>
            <a:r>
              <a:rPr lang="es-ES_tradnl" sz="1500" b="0" i="0" u="none" strike="noStrike" cap="none" dirty="0">
                <a:solidFill>
                  <a:srgbClr val="000000"/>
                </a:solidFill>
                <a:latin typeface="Calibri" panose="020F0502020204030204" pitchFamily="34" charset="0"/>
                <a:ea typeface="Calibri"/>
                <a:cs typeface="Calibri" panose="020F0502020204030204" pitchFamily="34" charset="0"/>
                <a:sym typeface="Calibri"/>
              </a:rPr>
              <a:t>de los atributos y </a:t>
            </a:r>
            <a:r>
              <a:rPr lang="es-ES_tradnl" sz="1500" b="1" i="0" u="none" strike="noStrike" cap="none" dirty="0">
                <a:solidFill>
                  <a:srgbClr val="00B1C2"/>
                </a:solidFill>
                <a:latin typeface="Calibri" panose="020F0502020204030204" pitchFamily="34" charset="0"/>
                <a:ea typeface="Calibri"/>
                <a:cs typeface="Calibri" panose="020F0502020204030204" pitchFamily="34" charset="0"/>
                <a:sym typeface="Calibri"/>
              </a:rPr>
              <a:t>restricciones</a:t>
            </a:r>
            <a:r>
              <a:rPr lang="es-ES_tradnl" sz="1500" b="0" i="0" u="none" strike="noStrike" cap="none" dirty="0">
                <a:solidFill>
                  <a:srgbClr val="000000"/>
                </a:solidFill>
                <a:latin typeface="Calibri" panose="020F0502020204030204" pitchFamily="34" charset="0"/>
                <a:ea typeface="Calibri"/>
                <a:cs typeface="Calibri" panose="020F0502020204030204" pitchFamily="34" charset="0"/>
                <a:sym typeface="Calibri"/>
              </a:rPr>
              <a:t>), y el esquema a implementar, debemos:</a:t>
            </a:r>
            <a:endParaRPr lang="es-ES_tradnl" sz="1500" dirty="0">
              <a:latin typeface="Calibri" panose="020F0502020204030204" pitchFamily="34" charset="0"/>
              <a:cs typeface="Calibri" panose="020F0502020204030204" pitchFamily="34" charset="0"/>
            </a:endParaRPr>
          </a:p>
          <a:p>
            <a:pPr marL="174625" marR="0" lvl="0" indent="-73025" rtl="0">
              <a:lnSpc>
                <a:spcPct val="100000"/>
              </a:lnSpc>
              <a:spcBef>
                <a:spcPts val="0"/>
              </a:spcBef>
              <a:spcAft>
                <a:spcPts val="0"/>
              </a:spcAft>
              <a:buClr>
                <a:schemeClr val="dk1"/>
              </a:buClr>
              <a:buSzPts val="1600"/>
              <a:buFont typeface="Arial"/>
              <a:buNone/>
            </a:pPr>
            <a:endParaRPr lang="es-ES_tradnl" sz="1500" b="0" i="0" u="none" strike="noStrike" cap="none" dirty="0">
              <a:solidFill>
                <a:srgbClr val="000000"/>
              </a:solidFill>
              <a:latin typeface="Calibri" panose="020F0502020204030204" pitchFamily="34" charset="0"/>
              <a:ea typeface="Calibri"/>
              <a:cs typeface="Calibri" panose="020F0502020204030204" pitchFamily="34" charset="0"/>
              <a:sym typeface="Calibri"/>
            </a:endParaRPr>
          </a:p>
          <a:p>
            <a:pPr marL="174625" marR="0" lvl="0" indent="-174625" rtl="0">
              <a:lnSpc>
                <a:spcPct val="100000"/>
              </a:lnSpc>
              <a:spcBef>
                <a:spcPts val="0"/>
              </a:spcBef>
              <a:spcAft>
                <a:spcPts val="0"/>
              </a:spcAft>
              <a:buClr>
                <a:srgbClr val="000000"/>
              </a:buClr>
              <a:buSzPts val="1600"/>
              <a:buFont typeface="Arial"/>
              <a:buChar char="•"/>
            </a:pPr>
            <a:r>
              <a:rPr lang="es-ES_tradnl" sz="1500" b="0" i="0" u="none" strike="noStrike" cap="none" dirty="0">
                <a:solidFill>
                  <a:srgbClr val="000000"/>
                </a:solidFill>
                <a:latin typeface="Calibri" panose="020F0502020204030204" pitchFamily="34" charset="0"/>
                <a:ea typeface="Calibri"/>
                <a:cs typeface="Calibri" panose="020F0502020204030204" pitchFamily="34" charset="0"/>
                <a:sym typeface="Calibri"/>
              </a:rPr>
              <a:t>Codificar el script SQL que despliega el modelo dimensional en un servidor SQL.</a:t>
            </a:r>
            <a:endParaRPr lang="es-ES_tradnl" sz="1500" dirty="0">
              <a:latin typeface="Calibri" panose="020F0502020204030204" pitchFamily="34" charset="0"/>
              <a:cs typeface="Calibri" panose="020F0502020204030204" pitchFamily="34" charset="0"/>
            </a:endParaRPr>
          </a:p>
          <a:p>
            <a:pPr marL="174625" marR="0" lvl="0" indent="-174625" rtl="0">
              <a:lnSpc>
                <a:spcPct val="100000"/>
              </a:lnSpc>
              <a:spcBef>
                <a:spcPts val="0"/>
              </a:spcBef>
              <a:spcAft>
                <a:spcPts val="0"/>
              </a:spcAft>
              <a:buClr>
                <a:srgbClr val="000000"/>
              </a:buClr>
              <a:buSzPts val="1600"/>
              <a:buFont typeface="Arial"/>
              <a:buChar char="•"/>
            </a:pPr>
            <a:r>
              <a:rPr lang="es-ES_tradnl" sz="1500" b="0" i="0" u="none" strike="noStrike" cap="none" dirty="0">
                <a:solidFill>
                  <a:srgbClr val="000000"/>
                </a:solidFill>
                <a:latin typeface="Calibri" panose="020F0502020204030204" pitchFamily="34" charset="0"/>
                <a:ea typeface="Calibri"/>
                <a:cs typeface="Calibri" panose="020F0502020204030204" pitchFamily="34" charset="0"/>
                <a:sym typeface="Calibri"/>
              </a:rPr>
              <a:t>Ejecutar el </a:t>
            </a:r>
            <a:r>
              <a:rPr lang="es-ES_tradnl" sz="1500" b="1" i="0" u="none" strike="noStrike" cap="none" dirty="0">
                <a:solidFill>
                  <a:srgbClr val="00B1C2"/>
                </a:solidFill>
                <a:latin typeface="Calibri" panose="020F0502020204030204" pitchFamily="34" charset="0"/>
                <a:ea typeface="Calibri"/>
                <a:cs typeface="Calibri" panose="020F0502020204030204" pitchFamily="34" charset="0"/>
                <a:sym typeface="Calibri"/>
              </a:rPr>
              <a:t>mapeo de columnas</a:t>
            </a:r>
            <a:r>
              <a:rPr lang="es-ES_tradnl" sz="1500" b="0" i="0" u="none" strike="noStrike" cap="none" dirty="0">
                <a:solidFill>
                  <a:srgbClr val="000000"/>
                </a:solidFill>
                <a:latin typeface="Calibri" panose="020F0502020204030204" pitchFamily="34" charset="0"/>
                <a:ea typeface="Calibri"/>
                <a:cs typeface="Calibri" panose="020F0502020204030204" pitchFamily="34" charset="0"/>
                <a:sym typeface="Calibri"/>
              </a:rPr>
              <a:t>, que consiste en identificar la fuente de los datos a almacenar en cada columna del modelo dimensional.</a:t>
            </a:r>
            <a:endParaRPr lang="es-ES_tradnl" sz="1500" dirty="0">
              <a:latin typeface="Calibri" panose="020F0502020204030204" pitchFamily="34" charset="0"/>
              <a:cs typeface="Calibri" panose="020F0502020204030204" pitchFamily="34" charset="0"/>
            </a:endParaRPr>
          </a:p>
          <a:p>
            <a:pPr marL="174625" marR="0" lvl="0" indent="-174625" rtl="0">
              <a:lnSpc>
                <a:spcPct val="100000"/>
              </a:lnSpc>
              <a:spcBef>
                <a:spcPts val="0"/>
              </a:spcBef>
              <a:spcAft>
                <a:spcPts val="0"/>
              </a:spcAft>
              <a:buClr>
                <a:srgbClr val="000000"/>
              </a:buClr>
              <a:buSzPts val="1600"/>
              <a:buFont typeface="Arial"/>
              <a:buChar char="•"/>
            </a:pPr>
            <a:r>
              <a:rPr lang="es-ES_tradnl" sz="1500" b="0" i="0" u="none" strike="noStrike" cap="none" dirty="0">
                <a:solidFill>
                  <a:srgbClr val="000000"/>
                </a:solidFill>
                <a:latin typeface="Calibri" panose="020F0502020204030204" pitchFamily="34" charset="0"/>
                <a:ea typeface="Calibri"/>
                <a:cs typeface="Calibri" panose="020F0502020204030204" pitchFamily="34" charset="0"/>
                <a:sym typeface="Calibri"/>
              </a:rPr>
              <a:t>Establecer si para algunas columnas del modelo dimensional se requiere ejecutar alguna </a:t>
            </a:r>
            <a:r>
              <a:rPr lang="es-ES_tradnl" sz="1500" b="1" i="0" u="none" strike="noStrike" cap="none" dirty="0">
                <a:solidFill>
                  <a:srgbClr val="00B1C2"/>
                </a:solidFill>
                <a:latin typeface="Calibri" panose="020F0502020204030204" pitchFamily="34" charset="0"/>
                <a:ea typeface="Calibri"/>
                <a:cs typeface="Calibri" panose="020F0502020204030204" pitchFamily="34" charset="0"/>
                <a:sym typeface="Calibri"/>
              </a:rPr>
              <a:t>transformación</a:t>
            </a:r>
            <a:r>
              <a:rPr lang="es-ES_tradnl" sz="1500" b="0" i="0" u="none" strike="noStrike" cap="none" dirty="0">
                <a:solidFill>
                  <a:srgbClr val="000000"/>
                </a:solidFill>
                <a:latin typeface="Calibri" panose="020F0502020204030204" pitchFamily="34" charset="0"/>
                <a:ea typeface="Calibri"/>
                <a:cs typeface="Calibri" panose="020F0502020204030204" pitchFamily="34" charset="0"/>
                <a:sym typeface="Calibri"/>
              </a:rPr>
              <a:t> previa para que el dato fuente se ajuste a las características de la columna del modelo dimensional.</a:t>
            </a:r>
            <a:endParaRPr lang="es-ES_tradnl" sz="1500" dirty="0">
              <a:latin typeface="Calibri" panose="020F0502020204030204" pitchFamily="34" charset="0"/>
              <a:cs typeface="Calibri" panose="020F0502020204030204" pitchFamily="34" charset="0"/>
            </a:endParaRPr>
          </a:p>
          <a:p>
            <a:pPr marL="174625" marR="0" lvl="0" indent="-174625" rtl="0">
              <a:lnSpc>
                <a:spcPct val="100000"/>
              </a:lnSpc>
              <a:spcBef>
                <a:spcPts val="0"/>
              </a:spcBef>
              <a:spcAft>
                <a:spcPts val="0"/>
              </a:spcAft>
              <a:buClr>
                <a:srgbClr val="000000"/>
              </a:buClr>
              <a:buSzPts val="1600"/>
              <a:buFont typeface="Arial"/>
              <a:buChar char="•"/>
            </a:pPr>
            <a:r>
              <a:rPr lang="es-ES_tradnl" sz="1500" b="0" i="0" u="none" strike="noStrike" cap="none" dirty="0">
                <a:solidFill>
                  <a:srgbClr val="000000"/>
                </a:solidFill>
                <a:latin typeface="Calibri" panose="020F0502020204030204" pitchFamily="34" charset="0"/>
                <a:ea typeface="Calibri"/>
                <a:cs typeface="Calibri" panose="020F0502020204030204" pitchFamily="34" charset="0"/>
                <a:sym typeface="Calibri"/>
              </a:rPr>
              <a:t>Poblar el modelo dimensional usando alguna herramienta que permita ejecutar </a:t>
            </a:r>
            <a:r>
              <a:rPr lang="es-ES_tradnl" sz="1500" b="1" i="0" u="none" strike="noStrike" cap="none" dirty="0">
                <a:solidFill>
                  <a:srgbClr val="00B1C2"/>
                </a:solidFill>
                <a:latin typeface="Calibri" panose="020F0502020204030204" pitchFamily="34" charset="0"/>
                <a:ea typeface="Calibri"/>
                <a:cs typeface="Calibri" panose="020F0502020204030204" pitchFamily="34" charset="0"/>
                <a:sym typeface="Calibri"/>
              </a:rPr>
              <a:t>operaciones ETL</a:t>
            </a:r>
            <a:r>
              <a:rPr lang="es-ES_tradnl" sz="1500" b="0" i="0" u="none" strike="noStrike" cap="none" dirty="0">
                <a:solidFill>
                  <a:srgbClr val="00B1C2"/>
                </a:solidFill>
                <a:latin typeface="Calibri" panose="020F0502020204030204" pitchFamily="34" charset="0"/>
                <a:ea typeface="Calibri"/>
                <a:cs typeface="Calibri" panose="020F0502020204030204" pitchFamily="34" charset="0"/>
                <a:sym typeface="Calibri"/>
              </a:rPr>
              <a:t> </a:t>
            </a:r>
            <a:r>
              <a:rPr lang="es-ES_tradnl" sz="1500" b="0" i="0" u="none" strike="noStrike" cap="none" dirty="0">
                <a:solidFill>
                  <a:srgbClr val="000000"/>
                </a:solidFill>
                <a:latin typeface="Calibri" panose="020F0502020204030204" pitchFamily="34" charset="0"/>
                <a:ea typeface="Calibri"/>
                <a:cs typeface="Calibri" panose="020F0502020204030204" pitchFamily="34" charset="0"/>
                <a:sym typeface="Calibri"/>
              </a:rPr>
              <a:t>(</a:t>
            </a:r>
            <a:r>
              <a:rPr lang="es-ES_tradnl" sz="1500" b="0" i="0" u="none" strike="noStrike" cap="none" dirty="0" err="1">
                <a:solidFill>
                  <a:srgbClr val="000000"/>
                </a:solidFill>
                <a:latin typeface="Calibri" panose="020F0502020204030204" pitchFamily="34" charset="0"/>
                <a:ea typeface="Calibri"/>
                <a:cs typeface="Calibri" panose="020F0502020204030204" pitchFamily="34" charset="0"/>
                <a:sym typeface="Calibri"/>
              </a:rPr>
              <a:t>Extraction</a:t>
            </a:r>
            <a:r>
              <a:rPr lang="es-ES_tradnl" sz="1500" b="0" i="0" u="none" strike="noStrike" cap="none" dirty="0">
                <a:solidFill>
                  <a:srgbClr val="000000"/>
                </a:solidFill>
                <a:latin typeface="Calibri" panose="020F0502020204030204" pitchFamily="34" charset="0"/>
                <a:ea typeface="Calibri"/>
                <a:cs typeface="Calibri" panose="020F0502020204030204" pitchFamily="34" charset="0"/>
                <a:sym typeface="Calibri"/>
              </a:rPr>
              <a:t>, </a:t>
            </a:r>
            <a:r>
              <a:rPr lang="es-ES_tradnl" sz="1500" b="0" i="0" u="none" strike="noStrike" cap="none" dirty="0" err="1">
                <a:solidFill>
                  <a:srgbClr val="000000"/>
                </a:solidFill>
                <a:latin typeface="Calibri" panose="020F0502020204030204" pitchFamily="34" charset="0"/>
                <a:ea typeface="Calibri"/>
                <a:cs typeface="Calibri" panose="020F0502020204030204" pitchFamily="34" charset="0"/>
                <a:sym typeface="Calibri"/>
              </a:rPr>
              <a:t>Transformation</a:t>
            </a:r>
            <a:r>
              <a:rPr lang="es-ES_tradnl" sz="1500" b="0" i="0" u="none" strike="noStrike" cap="none" dirty="0">
                <a:solidFill>
                  <a:srgbClr val="000000"/>
                </a:solidFill>
                <a:latin typeface="Calibri" panose="020F0502020204030204" pitchFamily="34" charset="0"/>
                <a:ea typeface="Calibri"/>
                <a:cs typeface="Calibri" panose="020F0502020204030204" pitchFamily="34" charset="0"/>
                <a:sym typeface="Calibri"/>
              </a:rPr>
              <a:t>, Load).</a:t>
            </a:r>
            <a:endParaRPr lang="es-ES_tradnl" sz="1500" dirty="0">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D371DF52-711E-950B-54C7-38A7EBEFD63D}"/>
              </a:ext>
            </a:extLst>
          </p:cNvPr>
          <p:cNvSpPr/>
          <p:nvPr/>
        </p:nvSpPr>
        <p:spPr>
          <a:xfrm>
            <a:off x="503236" y="376836"/>
            <a:ext cx="5380727"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IMPLEMENTACIÓN DE UN MODELO DIMENSIONAL EN MICROSOFT SQL SERVER</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65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nvGrpSpPr>
          <p:cNvPr id="4" name="Grupo 3">
            <a:extLst>
              <a:ext uri="{FF2B5EF4-FFF2-40B4-BE49-F238E27FC236}">
                <a16:creationId xmlns:a16="http://schemas.microsoft.com/office/drawing/2014/main" id="{8A495D6D-73E7-D64C-AD5A-8212D6B1E2F3}"/>
              </a:ext>
            </a:extLst>
          </p:cNvPr>
          <p:cNvGrpSpPr/>
          <p:nvPr/>
        </p:nvGrpSpPr>
        <p:grpSpPr>
          <a:xfrm>
            <a:off x="2506315" y="2194222"/>
            <a:ext cx="4581728" cy="1326557"/>
            <a:chOff x="2403187" y="2211377"/>
            <a:chExt cx="4581728" cy="1326557"/>
          </a:xfrm>
        </p:grpSpPr>
        <p:sp>
          <p:nvSpPr>
            <p:cNvPr id="6" name="CuadroTexto 5">
              <a:extLst>
                <a:ext uri="{FF2B5EF4-FFF2-40B4-BE49-F238E27FC236}">
                  <a16:creationId xmlns:a16="http://schemas.microsoft.com/office/drawing/2014/main" id="{682CC9F8-A9FF-BF41-B987-57AFB7D160FE}"/>
                </a:ext>
              </a:extLst>
            </p:cNvPr>
            <p:cNvSpPr txBox="1"/>
            <p:nvPr/>
          </p:nvSpPr>
          <p:spPr>
            <a:xfrm>
              <a:off x="2403187"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CONCLUSIONES</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8" name="Imagen 7">
              <a:extLst>
                <a:ext uri="{FF2B5EF4-FFF2-40B4-BE49-F238E27FC236}">
                  <a16:creationId xmlns:a16="http://schemas.microsoft.com/office/drawing/2014/main" id="{2CD7628C-6304-5D4B-BA7D-591238143DE2}"/>
                </a:ext>
              </a:extLst>
            </p:cNvPr>
            <p:cNvPicPr>
              <a:picLocks noChangeAspect="1"/>
            </p:cNvPicPr>
            <p:nvPr/>
          </p:nvPicPr>
          <p:blipFill>
            <a:blip r:embed="rId2"/>
            <a:stretch>
              <a:fillRect/>
            </a:stretch>
          </p:blipFill>
          <p:spPr>
            <a:xfrm>
              <a:off x="2425491" y="2211377"/>
              <a:ext cx="202176" cy="208211"/>
            </a:xfrm>
            <a:prstGeom prst="rect">
              <a:avLst/>
            </a:prstGeom>
          </p:spPr>
        </p:pic>
      </p:grpSp>
      <p:pic>
        <p:nvPicPr>
          <p:cNvPr id="10" name="Imagen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 y="946969"/>
            <a:ext cx="2072214" cy="3898064"/>
          </a:xfrm>
          <a:prstGeom prst="rect">
            <a:avLst/>
          </a:prstGeom>
        </p:spPr>
      </p:pic>
    </p:spTree>
    <p:extLst>
      <p:ext uri="{BB962C8B-B14F-4D97-AF65-F5344CB8AC3E}">
        <p14:creationId xmlns:p14="http://schemas.microsoft.com/office/powerpoint/2010/main" val="3161235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object 7"/>
          <p:cNvSpPr txBox="1"/>
          <p:nvPr/>
        </p:nvSpPr>
        <p:spPr>
          <a:xfrm>
            <a:off x="1279544" y="912813"/>
            <a:ext cx="4954279" cy="3579674"/>
          </a:xfrm>
          <a:prstGeom prst="rect">
            <a:avLst/>
          </a:prstGeom>
        </p:spPr>
        <p:txBody>
          <a:bodyPr vert="horz" wrap="square" lIns="0" tIns="0" rIns="0" bIns="0" rtlCol="0">
            <a:spAutoFit/>
          </a:bodyPr>
          <a:lstStyle/>
          <a:p>
            <a:pPr marR="0" lvl="0" algn="l" rtl="0">
              <a:spcBef>
                <a:spcPts val="0"/>
              </a:spcBef>
              <a:spcAft>
                <a:spcPts val="0"/>
              </a:spcAft>
              <a:buClr>
                <a:schemeClr val="lt1"/>
              </a:buClr>
              <a:buSzPts val="1700"/>
            </a:pPr>
            <a:r>
              <a:rPr lang="es-ES_tradnl" sz="1400" dirty="0">
                <a:latin typeface="Calibri" panose="020F0502020204030204" pitchFamily="34" charset="0"/>
                <a:ea typeface="Calibri"/>
                <a:cs typeface="Calibri" panose="020F0502020204030204" pitchFamily="34" charset="0"/>
                <a:sym typeface="Calibri"/>
              </a:rPr>
              <a:t>Un modelo dimensional está conformado por el </a:t>
            </a:r>
            <a:r>
              <a:rPr lang="es-ES_tradnl" sz="1400" b="1" dirty="0">
                <a:latin typeface="Calibri" panose="020F0502020204030204" pitchFamily="34" charset="0"/>
                <a:ea typeface="Calibri"/>
                <a:cs typeface="Calibri" panose="020F0502020204030204" pitchFamily="34" charset="0"/>
                <a:sym typeface="Calibri"/>
              </a:rPr>
              <a:t>hecho</a:t>
            </a:r>
            <a:r>
              <a:rPr lang="es-ES_tradnl" sz="1400" dirty="0">
                <a:latin typeface="Calibri" panose="020F0502020204030204" pitchFamily="34" charset="0"/>
                <a:ea typeface="Calibri"/>
                <a:cs typeface="Calibri" panose="020F0502020204030204" pitchFamily="34" charset="0"/>
                <a:sym typeface="Calibri"/>
              </a:rPr>
              <a:t>, que es </a:t>
            </a:r>
            <a:br>
              <a:rPr lang="es-ES_tradnl" sz="1400" dirty="0">
                <a:latin typeface="Calibri" panose="020F0502020204030204" pitchFamily="34" charset="0"/>
                <a:ea typeface="Calibri"/>
                <a:cs typeface="Calibri" panose="020F0502020204030204" pitchFamily="34" charset="0"/>
                <a:sym typeface="Calibri"/>
              </a:rPr>
            </a:br>
            <a:r>
              <a:rPr lang="es-ES_tradnl" sz="1400" dirty="0">
                <a:latin typeface="Calibri" panose="020F0502020204030204" pitchFamily="34" charset="0"/>
                <a:ea typeface="Calibri"/>
                <a:cs typeface="Calibri" panose="020F0502020204030204" pitchFamily="34" charset="0"/>
                <a:sym typeface="Calibri"/>
              </a:rPr>
              <a:t>la transacción o evento a analizar.</a:t>
            </a:r>
            <a:endParaRPr lang="es-ES_tradnl" sz="1400" dirty="0">
              <a:latin typeface="Calibri" panose="020F0502020204030204" pitchFamily="34" charset="0"/>
              <a:cs typeface="Calibri" panose="020F0502020204030204" pitchFamily="34" charset="0"/>
            </a:endParaRPr>
          </a:p>
          <a:p>
            <a:pPr marL="107951" marR="0" lvl="0" algn="l" rtl="0">
              <a:spcBef>
                <a:spcPts val="0"/>
              </a:spcBef>
              <a:spcAft>
                <a:spcPts val="0"/>
              </a:spcAft>
              <a:buClr>
                <a:schemeClr val="dk1"/>
              </a:buClr>
              <a:buSzPts val="1700"/>
            </a:pPr>
            <a:endParaRPr lang="es-ES_tradnl" sz="1400" dirty="0">
              <a:latin typeface="Calibri" panose="020F0502020204030204" pitchFamily="34" charset="0"/>
              <a:ea typeface="Calibri"/>
              <a:cs typeface="Calibri" panose="020F0502020204030204" pitchFamily="34" charset="0"/>
              <a:sym typeface="Calibri"/>
            </a:endParaRPr>
          </a:p>
          <a:p>
            <a:pPr marR="0" lvl="0" algn="l" rtl="0">
              <a:spcBef>
                <a:spcPts val="0"/>
              </a:spcBef>
              <a:spcAft>
                <a:spcPts val="0"/>
              </a:spcAft>
              <a:buClr>
                <a:schemeClr val="lt1"/>
              </a:buClr>
              <a:buSzPts val="1700"/>
            </a:pPr>
            <a:r>
              <a:rPr lang="es-ES_tradnl" sz="1400" dirty="0">
                <a:latin typeface="Calibri" panose="020F0502020204030204" pitchFamily="34" charset="0"/>
                <a:ea typeface="Calibri"/>
                <a:cs typeface="Calibri" panose="020F0502020204030204" pitchFamily="34" charset="0"/>
                <a:sym typeface="Calibri"/>
              </a:rPr>
              <a:t>El hecho define los números o </a:t>
            </a:r>
            <a:r>
              <a:rPr lang="es-ES_tradnl" sz="1400" b="1" dirty="0">
                <a:latin typeface="Calibri" panose="020F0502020204030204" pitchFamily="34" charset="0"/>
                <a:ea typeface="Calibri"/>
                <a:cs typeface="Calibri" panose="020F0502020204030204" pitchFamily="34" charset="0"/>
                <a:sym typeface="Calibri"/>
              </a:rPr>
              <a:t>medidas</a:t>
            </a:r>
            <a:r>
              <a:rPr lang="es-ES_tradnl" sz="1400" dirty="0">
                <a:latin typeface="Calibri" panose="020F0502020204030204" pitchFamily="34" charset="0"/>
                <a:ea typeface="Calibri"/>
                <a:cs typeface="Calibri" panose="020F0502020204030204" pitchFamily="34" charset="0"/>
                <a:sym typeface="Calibri"/>
              </a:rPr>
              <a:t> a evaluar, y que establecen el estado del negocio.</a:t>
            </a:r>
            <a:endParaRPr lang="es-ES_tradnl" sz="1400" dirty="0">
              <a:latin typeface="Calibri" panose="020F0502020204030204" pitchFamily="34" charset="0"/>
              <a:cs typeface="Calibri" panose="020F0502020204030204" pitchFamily="34" charset="0"/>
            </a:endParaRPr>
          </a:p>
          <a:p>
            <a:pPr marL="107951" marR="0" lvl="0" algn="l" rtl="0">
              <a:spcBef>
                <a:spcPts val="0"/>
              </a:spcBef>
              <a:spcAft>
                <a:spcPts val="0"/>
              </a:spcAft>
              <a:buClr>
                <a:schemeClr val="dk1"/>
              </a:buClr>
              <a:buSzPts val="1700"/>
            </a:pPr>
            <a:endParaRPr lang="es-ES_tradnl" sz="1400" dirty="0">
              <a:latin typeface="Calibri" panose="020F0502020204030204" pitchFamily="34" charset="0"/>
              <a:ea typeface="Calibri"/>
              <a:cs typeface="Calibri" panose="020F0502020204030204" pitchFamily="34" charset="0"/>
              <a:sym typeface="Calibri"/>
            </a:endParaRPr>
          </a:p>
          <a:p>
            <a:pPr marR="0" lvl="0" algn="l" rtl="0">
              <a:spcBef>
                <a:spcPts val="0"/>
              </a:spcBef>
              <a:spcAft>
                <a:spcPts val="0"/>
              </a:spcAft>
              <a:buClr>
                <a:schemeClr val="lt1"/>
              </a:buClr>
              <a:buSzPts val="1700"/>
            </a:pPr>
            <a:r>
              <a:rPr lang="es-ES_tradnl" sz="1400" dirty="0">
                <a:latin typeface="Calibri" panose="020F0502020204030204" pitchFamily="34" charset="0"/>
                <a:ea typeface="Calibri"/>
                <a:cs typeface="Calibri" panose="020F0502020204030204" pitchFamily="34" charset="0"/>
                <a:sym typeface="Calibri"/>
              </a:rPr>
              <a:t>También son parte del modelo dimensional, las </a:t>
            </a:r>
            <a:r>
              <a:rPr lang="es-ES_tradnl" sz="1400" b="1" dirty="0">
                <a:latin typeface="Calibri" panose="020F0502020204030204" pitchFamily="34" charset="0"/>
                <a:ea typeface="Calibri"/>
                <a:cs typeface="Calibri" panose="020F0502020204030204" pitchFamily="34" charset="0"/>
                <a:sym typeface="Calibri"/>
              </a:rPr>
              <a:t>dimensiones</a:t>
            </a:r>
            <a:r>
              <a:rPr lang="es-ES_tradnl" sz="1400" dirty="0">
                <a:latin typeface="Calibri" panose="020F0502020204030204" pitchFamily="34" charset="0"/>
                <a:ea typeface="Calibri"/>
                <a:cs typeface="Calibri" panose="020F0502020204030204" pitchFamily="34" charset="0"/>
                <a:sym typeface="Calibri"/>
              </a:rPr>
              <a:t> o criterios por los que se analiza el hecho.</a:t>
            </a:r>
            <a:endParaRPr lang="es-ES_tradnl" sz="1400" dirty="0">
              <a:latin typeface="Calibri" panose="020F0502020204030204" pitchFamily="34" charset="0"/>
              <a:cs typeface="Calibri" panose="020F0502020204030204" pitchFamily="34" charset="0"/>
            </a:endParaRPr>
          </a:p>
          <a:p>
            <a:pPr marL="107951" marR="0" lvl="0" algn="l" rtl="0">
              <a:spcBef>
                <a:spcPts val="0"/>
              </a:spcBef>
              <a:spcAft>
                <a:spcPts val="0"/>
              </a:spcAft>
              <a:buClr>
                <a:schemeClr val="dk1"/>
              </a:buClr>
              <a:buSzPts val="1700"/>
            </a:pPr>
            <a:endParaRPr lang="es-ES_tradnl" sz="1400" dirty="0">
              <a:latin typeface="Calibri" panose="020F0502020204030204" pitchFamily="34" charset="0"/>
              <a:ea typeface="Calibri"/>
              <a:cs typeface="Calibri" panose="020F0502020204030204" pitchFamily="34" charset="0"/>
              <a:sym typeface="Calibri"/>
            </a:endParaRPr>
          </a:p>
          <a:p>
            <a:pPr marR="0" lvl="0" algn="l" rtl="0">
              <a:spcBef>
                <a:spcPts val="0"/>
              </a:spcBef>
              <a:spcAft>
                <a:spcPts val="0"/>
              </a:spcAft>
              <a:buClr>
                <a:schemeClr val="lt1"/>
              </a:buClr>
              <a:buSzPts val="1700"/>
            </a:pPr>
            <a:r>
              <a:rPr lang="es-ES_tradnl" sz="1400" dirty="0">
                <a:latin typeface="Calibri" panose="020F0502020204030204" pitchFamily="34" charset="0"/>
                <a:ea typeface="Calibri"/>
                <a:cs typeface="Calibri" panose="020F0502020204030204" pitchFamily="34" charset="0"/>
                <a:sym typeface="Calibri"/>
              </a:rPr>
              <a:t>Cada fila de una tabla de dimensión es una ocurrencia de la dimensión. Describe completamente a la ocurrencia.</a:t>
            </a:r>
            <a:endParaRPr lang="es-ES_tradnl" sz="1400" dirty="0">
              <a:latin typeface="Calibri" panose="020F0502020204030204" pitchFamily="34" charset="0"/>
              <a:cs typeface="Calibri" panose="020F0502020204030204" pitchFamily="34" charset="0"/>
            </a:endParaRPr>
          </a:p>
          <a:p>
            <a:pPr marL="107951" marR="0" lvl="0" algn="l" rtl="0">
              <a:spcBef>
                <a:spcPts val="0"/>
              </a:spcBef>
              <a:spcAft>
                <a:spcPts val="0"/>
              </a:spcAft>
              <a:buClr>
                <a:schemeClr val="dk1"/>
              </a:buClr>
              <a:buSzPts val="1700"/>
            </a:pPr>
            <a:endParaRPr lang="es-ES_tradnl" sz="1400" dirty="0">
              <a:latin typeface="Calibri" panose="020F0502020204030204" pitchFamily="34" charset="0"/>
              <a:ea typeface="Calibri"/>
              <a:cs typeface="Calibri" panose="020F0502020204030204" pitchFamily="34" charset="0"/>
              <a:sym typeface="Calibri"/>
            </a:endParaRPr>
          </a:p>
          <a:p>
            <a:pPr marR="0" lvl="0" algn="l" rtl="0">
              <a:spcBef>
                <a:spcPts val="0"/>
              </a:spcBef>
              <a:spcAft>
                <a:spcPts val="0"/>
              </a:spcAft>
              <a:buClr>
                <a:schemeClr val="lt1"/>
              </a:buClr>
              <a:buSzPts val="1700"/>
            </a:pPr>
            <a:r>
              <a:rPr lang="es-ES_tradnl" sz="1400" dirty="0">
                <a:latin typeface="Calibri" panose="020F0502020204030204" pitchFamily="34" charset="0"/>
                <a:ea typeface="Calibri"/>
                <a:cs typeface="Calibri" panose="020F0502020204030204" pitchFamily="34" charset="0"/>
                <a:sym typeface="Calibri"/>
              </a:rPr>
              <a:t>Cada fila de la tabla de hechos es una ocurrencia de la transacción a analizar. La ocurrencia es descrita por cada una de las ocurrencias de las dimensiones que participan en la transacción y por los valores de sus medidas.</a:t>
            </a:r>
            <a:endParaRPr lang="es-ES_tradnl" sz="1400" dirty="0">
              <a:latin typeface="Calibri" panose="020F0502020204030204" pitchFamily="34" charset="0"/>
              <a:cs typeface="Calibri" panose="020F0502020204030204" pitchFamily="34" charset="0"/>
            </a:endParaRPr>
          </a:p>
        </p:txBody>
      </p:sp>
      <p:pic>
        <p:nvPicPr>
          <p:cNvPr id="8" name="Imagen 7"/>
          <p:cNvPicPr>
            <a:picLocks noChangeAspect="1"/>
          </p:cNvPicPr>
          <p:nvPr/>
        </p:nvPicPr>
        <p:blipFill>
          <a:blip r:embed="rId3"/>
          <a:stretch>
            <a:fillRect/>
          </a:stretch>
        </p:blipFill>
        <p:spPr>
          <a:xfrm>
            <a:off x="1011260" y="954885"/>
            <a:ext cx="114138" cy="117546"/>
          </a:xfrm>
          <a:prstGeom prst="rect">
            <a:avLst/>
          </a:prstGeom>
        </p:spPr>
      </p:pic>
      <p:pic>
        <p:nvPicPr>
          <p:cNvPr id="15" name="Imagen 14"/>
          <p:cNvPicPr>
            <a:picLocks noChangeAspect="1"/>
          </p:cNvPicPr>
          <p:nvPr/>
        </p:nvPicPr>
        <p:blipFill>
          <a:blip r:embed="rId3"/>
          <a:stretch>
            <a:fillRect/>
          </a:stretch>
        </p:blipFill>
        <p:spPr>
          <a:xfrm>
            <a:off x="1011260" y="1590509"/>
            <a:ext cx="114138" cy="117546"/>
          </a:xfrm>
          <a:prstGeom prst="rect">
            <a:avLst/>
          </a:prstGeom>
        </p:spPr>
      </p:pic>
      <p:sp>
        <p:nvSpPr>
          <p:cNvPr id="16" name="Rectángulo 15"/>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2" name="Imagen 1"/>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9"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pic>
        <p:nvPicPr>
          <p:cNvPr id="10" name="Imagen 9">
            <a:extLst>
              <a:ext uri="{FF2B5EF4-FFF2-40B4-BE49-F238E27FC236}">
                <a16:creationId xmlns:a16="http://schemas.microsoft.com/office/drawing/2014/main" id="{FC1A0E23-925F-4E47-8125-ED716B036D28}"/>
              </a:ext>
            </a:extLst>
          </p:cNvPr>
          <p:cNvPicPr>
            <a:picLocks noChangeAspect="1"/>
          </p:cNvPicPr>
          <p:nvPr/>
        </p:nvPicPr>
        <p:blipFill>
          <a:blip r:embed="rId3"/>
          <a:stretch>
            <a:fillRect/>
          </a:stretch>
        </p:blipFill>
        <p:spPr>
          <a:xfrm>
            <a:off x="1011260" y="2880858"/>
            <a:ext cx="114138" cy="117546"/>
          </a:xfrm>
          <a:prstGeom prst="rect">
            <a:avLst/>
          </a:prstGeom>
        </p:spPr>
      </p:pic>
      <p:pic>
        <p:nvPicPr>
          <p:cNvPr id="5" name="Imagen 4">
            <a:extLst>
              <a:ext uri="{FF2B5EF4-FFF2-40B4-BE49-F238E27FC236}">
                <a16:creationId xmlns:a16="http://schemas.microsoft.com/office/drawing/2014/main" id="{3A9803F0-9407-85A4-39AF-7A20CD1AE5AB}"/>
              </a:ext>
            </a:extLst>
          </p:cNvPr>
          <p:cNvPicPr>
            <a:picLocks noChangeAspect="1"/>
          </p:cNvPicPr>
          <p:nvPr/>
        </p:nvPicPr>
        <p:blipFill>
          <a:blip r:embed="rId3"/>
          <a:stretch>
            <a:fillRect/>
          </a:stretch>
        </p:blipFill>
        <p:spPr>
          <a:xfrm>
            <a:off x="1011260" y="2231507"/>
            <a:ext cx="114138" cy="117546"/>
          </a:xfrm>
          <a:prstGeom prst="rect">
            <a:avLst/>
          </a:prstGeom>
        </p:spPr>
      </p:pic>
      <p:pic>
        <p:nvPicPr>
          <p:cNvPr id="6" name="Imagen 5">
            <a:extLst>
              <a:ext uri="{FF2B5EF4-FFF2-40B4-BE49-F238E27FC236}">
                <a16:creationId xmlns:a16="http://schemas.microsoft.com/office/drawing/2014/main" id="{7DD99B13-6C9A-8B33-576D-7D380049F34F}"/>
              </a:ext>
            </a:extLst>
          </p:cNvPr>
          <p:cNvPicPr>
            <a:picLocks noChangeAspect="1"/>
          </p:cNvPicPr>
          <p:nvPr/>
        </p:nvPicPr>
        <p:blipFill>
          <a:blip r:embed="rId3"/>
          <a:stretch>
            <a:fillRect/>
          </a:stretch>
        </p:blipFill>
        <p:spPr>
          <a:xfrm>
            <a:off x="1011260" y="3519969"/>
            <a:ext cx="114138" cy="117546"/>
          </a:xfrm>
          <a:prstGeom prst="rect">
            <a:avLst/>
          </a:prstGeom>
        </p:spPr>
      </p:pic>
    </p:spTree>
    <p:extLst>
      <p:ext uri="{BB962C8B-B14F-4D97-AF65-F5344CB8AC3E}">
        <p14:creationId xmlns:p14="http://schemas.microsoft.com/office/powerpoint/2010/main" val="4093090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pic>
        <p:nvPicPr>
          <p:cNvPr id="3" name="Imagen 2"/>
          <p:cNvPicPr>
            <a:picLocks noChangeAspect="1"/>
          </p:cNvPicPr>
          <p:nvPr/>
        </p:nvPicPr>
        <p:blipFill>
          <a:blip r:embed="rId2"/>
          <a:stretch>
            <a:fillRect/>
          </a:stretch>
        </p:blipFill>
        <p:spPr>
          <a:xfrm>
            <a:off x="3924199" y="2666298"/>
            <a:ext cx="1295601" cy="386803"/>
          </a:xfrm>
          <a:prstGeom prst="rect">
            <a:avLst/>
          </a:prstGeom>
        </p:spPr>
      </p:pic>
    </p:spTree>
    <p:extLst>
      <p:ext uri="{BB962C8B-B14F-4D97-AF65-F5344CB8AC3E}">
        <p14:creationId xmlns:p14="http://schemas.microsoft.com/office/powerpoint/2010/main" val="9030956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lIns="91425" tIns="91425" rIns="91425" bIns="91425" anchor="t" anchorCtr="0">
        <a:noAutofit/>
      </a:bodyPr>
      <a:lstStyle>
        <a:defPPr marL="174625" indent="-174625">
          <a:spcBef>
            <a:spcPts val="0"/>
          </a:spcBef>
          <a:buSzPct val="100000"/>
          <a:defRPr sz="1500" dirty="0" smtClean="0">
            <a:latin typeface="Calibri"/>
            <a:cs typeface="Calibri"/>
          </a:defRPr>
        </a:defPPr>
      </a:lstStyle>
    </a:tx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5187</TotalTime>
  <Words>1305</Words>
  <Application>Microsoft Office PowerPoint</Application>
  <PresentationFormat>Presentación en pantalla (16:10)</PresentationFormat>
  <Paragraphs>166</Paragraphs>
  <Slides>25</Slides>
  <Notes>22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25</vt:i4>
      </vt:variant>
    </vt:vector>
  </HeadingPairs>
  <TitlesOfParts>
    <vt:vector size="32" baseType="lpstr">
      <vt:lpstr>Arial</vt:lpstr>
      <vt:lpstr>Calibri</vt:lpstr>
      <vt:lpstr>Graphik Bold</vt:lpstr>
      <vt:lpstr>Graphik Medium</vt:lpstr>
      <vt:lpstr>Graphik Regular</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Rosa Maria Muñoz Mendo</cp:lastModifiedBy>
  <cp:revision>408</cp:revision>
  <cp:lastPrinted>2018-01-16T21:42:59Z</cp:lastPrinted>
  <dcterms:created xsi:type="dcterms:W3CDTF">2016-10-06T14:52:02Z</dcterms:created>
  <dcterms:modified xsi:type="dcterms:W3CDTF">2024-07-01T14:00:35Z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