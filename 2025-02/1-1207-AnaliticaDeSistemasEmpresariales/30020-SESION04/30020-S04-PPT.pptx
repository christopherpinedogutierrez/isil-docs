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handoutMasterIdLst>
    <p:handoutMasterId r:id="rId33"/>
  </p:handoutMasterIdLst>
  <p:sldIdLst>
    <p:sldId id="662" r:id="rId2"/>
    <p:sldId id="627" r:id="rId3"/>
    <p:sldId id="628" r:id="rId4"/>
    <p:sldId id="629" r:id="rId5"/>
    <p:sldId id="259" r:id="rId6"/>
    <p:sldId id="783" r:id="rId7"/>
    <p:sldId id="261" r:id="rId8"/>
    <p:sldId id="262" r:id="rId9"/>
    <p:sldId id="263" r:id="rId10"/>
    <p:sldId id="264" r:id="rId11"/>
    <p:sldId id="784" r:id="rId12"/>
    <p:sldId id="266" r:id="rId13"/>
    <p:sldId id="267" r:id="rId14"/>
    <p:sldId id="785" r:id="rId15"/>
    <p:sldId id="269" r:id="rId16"/>
    <p:sldId id="270" r:id="rId17"/>
    <p:sldId id="271" r:id="rId18"/>
    <p:sldId id="272" r:id="rId19"/>
    <p:sldId id="273" r:id="rId20"/>
    <p:sldId id="782" r:id="rId21"/>
    <p:sldId id="275" r:id="rId22"/>
    <p:sldId id="276" r:id="rId23"/>
    <p:sldId id="277" r:id="rId24"/>
    <p:sldId id="786" r:id="rId25"/>
    <p:sldId id="279" r:id="rId26"/>
    <p:sldId id="588" r:id="rId27"/>
    <p:sldId id="589" r:id="rId28"/>
    <p:sldId id="590" r:id="rId29"/>
    <p:sldId id="591" r:id="rId30"/>
    <p:sldId id="731" r:id="rId31"/>
  </p:sldIdLst>
  <p:sldSz cx="9144000" cy="5715000" type="screen16x10"/>
  <p:notesSz cx="6858000" cy="91440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5" pos="431" userDrawn="1">
          <p15:clr>
            <a:srgbClr val="A4A3A4"/>
          </p15:clr>
        </p15:guide>
        <p15:guide id="16" orient="horz" pos="757" userDrawn="1">
          <p15:clr>
            <a:srgbClr val="A4A3A4"/>
          </p15:clr>
        </p15:guide>
        <p15:guide id="17" pos="25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1C2"/>
    <a:srgbClr val="EE4639"/>
    <a:srgbClr val="714EA0"/>
    <a:srgbClr val="FDC212"/>
    <a:srgbClr val="D1EFF4"/>
    <a:srgbClr val="808799"/>
    <a:srgbClr val="92C14E"/>
    <a:srgbClr val="E3DCED"/>
    <a:srgbClr val="E14098"/>
    <a:srgbClr val="7150A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59" autoAdjust="0"/>
    <p:restoredTop sz="91839" autoAdjust="0"/>
  </p:normalViewPr>
  <p:slideViewPr>
    <p:cSldViewPr snapToGrid="0" snapToObjects="1" showGuides="1">
      <p:cViewPr varScale="1">
        <p:scale>
          <a:sx n="125" d="100"/>
          <a:sy n="125" d="100"/>
        </p:scale>
        <p:origin x="1446" y="108"/>
      </p:cViewPr>
      <p:guideLst>
        <p:guide pos="431"/>
        <p:guide orient="horz" pos="757"/>
        <p:guide pos="2562"/>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01/07/2024</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1/07/2024</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a:t>
            </a:fld>
            <a:endParaRPr lang="es-ES"/>
          </a:p>
        </p:txBody>
      </p:sp>
    </p:spTree>
    <p:extLst>
      <p:ext uri="{BB962C8B-B14F-4D97-AF65-F5344CB8AC3E}">
        <p14:creationId xmlns:p14="http://schemas.microsoft.com/office/powerpoint/2010/main" val="174329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3</a:t>
            </a:fld>
            <a:endParaRPr lang="es-ES" dirty="0"/>
          </a:p>
        </p:txBody>
      </p:sp>
    </p:spTree>
    <p:extLst>
      <p:ext uri="{BB962C8B-B14F-4D97-AF65-F5344CB8AC3E}">
        <p14:creationId xmlns:p14="http://schemas.microsoft.com/office/powerpoint/2010/main" val="1986432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4</a:t>
            </a:fld>
            <a:endParaRPr lang="es-ES" dirty="0"/>
          </a:p>
        </p:txBody>
      </p:sp>
    </p:spTree>
    <p:extLst>
      <p:ext uri="{BB962C8B-B14F-4D97-AF65-F5344CB8AC3E}">
        <p14:creationId xmlns:p14="http://schemas.microsoft.com/office/powerpoint/2010/main" val="835700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6</a:t>
            </a:fld>
            <a:endParaRPr lang="es-ES" dirty="0"/>
          </a:p>
        </p:txBody>
      </p:sp>
    </p:spTree>
    <p:extLst>
      <p:ext uri="{BB962C8B-B14F-4D97-AF65-F5344CB8AC3E}">
        <p14:creationId xmlns:p14="http://schemas.microsoft.com/office/powerpoint/2010/main" val="349678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2" name="Google Shape;292;p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9" name="Google Shape;71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11</a:t>
            </a:fld>
            <a:endParaRPr lang="es-ES" dirty="0"/>
          </a:p>
        </p:txBody>
      </p:sp>
    </p:spTree>
    <p:extLst>
      <p:ext uri="{BB962C8B-B14F-4D97-AF65-F5344CB8AC3E}">
        <p14:creationId xmlns:p14="http://schemas.microsoft.com/office/powerpoint/2010/main" val="4230905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1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4" name="Google Shape;73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p1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14</a:t>
            </a:fld>
            <a:endParaRPr lang="es-ES" dirty="0"/>
          </a:p>
        </p:txBody>
      </p:sp>
    </p:spTree>
    <p:extLst>
      <p:ext uri="{BB962C8B-B14F-4D97-AF65-F5344CB8AC3E}">
        <p14:creationId xmlns:p14="http://schemas.microsoft.com/office/powerpoint/2010/main" val="2317591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1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6" name="Google Shape;77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1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1" name="Google Shape;84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1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6" name="Google Shape;88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9" name="Google Shape;92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p1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9" name="Google Shape;94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1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8" name="Google Shape;97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9"/>
        <p:cNvGrpSpPr/>
        <p:nvPr/>
      </p:nvGrpSpPr>
      <p:grpSpPr>
        <a:xfrm>
          <a:off x="0" y="0"/>
          <a:ext cx="0" cy="0"/>
          <a:chOff x="0" y="0"/>
          <a:chExt cx="0" cy="0"/>
        </a:xfrm>
      </p:grpSpPr>
      <p:sp>
        <p:nvSpPr>
          <p:cNvPr id="1300" name="Google Shape;1300;p2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1" name="Google Shape;130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2" name="Google Shape;130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
        <p:cNvGrpSpPr/>
        <p:nvPr/>
      </p:nvGrpSpPr>
      <p:grpSpPr>
        <a:xfrm>
          <a:off x="0" y="0"/>
          <a:ext cx="0" cy="0"/>
          <a:chOff x="0" y="0"/>
          <a:chExt cx="0" cy="0"/>
        </a:xfrm>
      </p:grpSpPr>
      <p:sp>
        <p:nvSpPr>
          <p:cNvPr id="1363" name="Google Shape;1363;p2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4" name="Google Shape;136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5" name="Google Shape;136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7"/>
        <p:cNvGrpSpPr/>
        <p:nvPr/>
      </p:nvGrpSpPr>
      <p:grpSpPr>
        <a:xfrm>
          <a:off x="0" y="0"/>
          <a:ext cx="0" cy="0"/>
          <a:chOff x="0" y="0"/>
          <a:chExt cx="0" cy="0"/>
        </a:xfrm>
      </p:grpSpPr>
      <p:sp>
        <p:nvSpPr>
          <p:cNvPr id="1388" name="Google Shape;1388;p2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9" name="Google Shape;138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0" name="Google Shape;139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24</a:t>
            </a:fld>
            <a:endParaRPr lang="es-ES" dirty="0"/>
          </a:p>
        </p:txBody>
      </p:sp>
    </p:spTree>
    <p:extLst>
      <p:ext uri="{BB962C8B-B14F-4D97-AF65-F5344CB8AC3E}">
        <p14:creationId xmlns:p14="http://schemas.microsoft.com/office/powerpoint/2010/main" val="26389072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p2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3" name="Google Shape;1443;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4" name="Google Shape;1444;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6B7E992D-280B-41DE-9EA7-7D9ADBA98B46}" type="slidenum">
              <a:rPr lang="es-ES" smtClean="0"/>
              <a:pPr/>
              <a:t>27</a:t>
            </a:fld>
            <a:endParaRPr lang="es-ES" dirty="0"/>
          </a:p>
        </p:txBody>
      </p:sp>
    </p:spTree>
    <p:extLst>
      <p:ext uri="{BB962C8B-B14F-4D97-AF65-F5344CB8AC3E}">
        <p14:creationId xmlns:p14="http://schemas.microsoft.com/office/powerpoint/2010/main" val="278263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2" pos="2880" userDrawn="1">
          <p15:clr>
            <a:srgbClr val="FBAE40"/>
          </p15:clr>
        </p15:guide>
        <p15:guide id="3" orient="horz" pos="1900" userDrawn="1">
          <p15:clr>
            <a:srgbClr val="FBAE40"/>
          </p15:clr>
        </p15:guide>
        <p15:guide id="4" pos="544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ítulo y objetos">
    <p:spTree>
      <p:nvGrpSpPr>
        <p:cNvPr id="1" name=""/>
        <p:cNvGrpSpPr/>
        <p:nvPr/>
      </p:nvGrpSpPr>
      <p:grpSpPr>
        <a:xfrm>
          <a:off x="0" y="0"/>
          <a:ext cx="0" cy="0"/>
          <a:chOff x="0" y="0"/>
          <a:chExt cx="0" cy="0"/>
        </a:xfrm>
      </p:grpSpPr>
      <p:grpSp>
        <p:nvGrpSpPr>
          <p:cNvPr id="2" name="Agrupar 13">
            <a:extLst>
              <a:ext uri="{FF2B5EF4-FFF2-40B4-BE49-F238E27FC236}">
                <a16:creationId xmlns:a16="http://schemas.microsoft.com/office/drawing/2014/main" id="{EE396788-5A79-8D39-BC8E-86ECEB650A77}"/>
              </a:ext>
            </a:extLst>
          </p:cNvPr>
          <p:cNvGrpSpPr/>
          <p:nvPr userDrawn="1"/>
        </p:nvGrpSpPr>
        <p:grpSpPr>
          <a:xfrm>
            <a:off x="944054" y="5343295"/>
            <a:ext cx="7804380" cy="215444"/>
            <a:chOff x="944054" y="5343295"/>
            <a:chExt cx="7804380" cy="215444"/>
          </a:xfrm>
        </p:grpSpPr>
        <p:sp>
          <p:nvSpPr>
            <p:cNvPr id="3" name="TextBox 7">
              <a:extLst>
                <a:ext uri="{FF2B5EF4-FFF2-40B4-BE49-F238E27FC236}">
                  <a16:creationId xmlns:a16="http://schemas.microsoft.com/office/drawing/2014/main" id="{C9FEC313-CD23-47F0-A828-849E12E5E3CC}"/>
                </a:ext>
              </a:extLst>
            </p:cNvPr>
            <p:cNvSpPr txBox="1"/>
            <p:nvPr userDrawn="1"/>
          </p:nvSpPr>
          <p:spPr>
            <a:xfrm>
              <a:off x="944054" y="5343295"/>
              <a:ext cx="2467342"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ANALÍTICA DE SISTEMAS EMPRESARIALES</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04</a:t>
              </a:r>
              <a:endParaRPr lang="en-US" sz="800" dirty="0">
                <a:solidFill>
                  <a:schemeClr val="bg1">
                    <a:lumMod val="50000"/>
                  </a:schemeClr>
                </a:solidFill>
                <a:latin typeface="Calibri"/>
                <a:cs typeface="Calibri"/>
              </a:endParaRPr>
            </a:p>
          </p:txBody>
        </p:sp>
        <p:sp>
          <p:nvSpPr>
            <p:cNvPr id="4" name="Rectangle 3">
              <a:extLst>
                <a:ext uri="{FF2B5EF4-FFF2-40B4-BE49-F238E27FC236}">
                  <a16:creationId xmlns:a16="http://schemas.microsoft.com/office/drawing/2014/main" id="{8A55EED3-D33C-5537-ACE4-B21B34047BA4}"/>
                </a:ext>
              </a:extLst>
            </p:cNvPr>
            <p:cNvSpPr/>
            <p:nvPr userDrawn="1"/>
          </p:nvSpPr>
          <p:spPr>
            <a:xfrm>
              <a:off x="7379148" y="5371562"/>
              <a:ext cx="1369286"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7" name="Imagen 6">
            <a:extLst>
              <a:ext uri="{FF2B5EF4-FFF2-40B4-BE49-F238E27FC236}">
                <a16:creationId xmlns:a16="http://schemas.microsoft.com/office/drawing/2014/main" id="{629383BC-861E-A43F-194A-81F1472DC99A}"/>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1637286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userDrawn="1">
  <p:cSld name="1_Diapositiva de título">
    <p:spTree>
      <p:nvGrpSpPr>
        <p:cNvPr id="1" name="Shape 29"/>
        <p:cNvGrpSpPr/>
        <p:nvPr/>
      </p:nvGrpSpPr>
      <p:grpSpPr>
        <a:xfrm>
          <a:off x="0" y="0"/>
          <a:ext cx="0" cy="0"/>
          <a:chOff x="0" y="0"/>
          <a:chExt cx="0" cy="0"/>
        </a:xfrm>
      </p:grpSpPr>
    </p:spTree>
    <p:extLst>
      <p:ext uri="{BB962C8B-B14F-4D97-AF65-F5344CB8AC3E}">
        <p14:creationId xmlns:p14="http://schemas.microsoft.com/office/powerpoint/2010/main" val="10670944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Agrupar 13"/>
          <p:cNvGrpSpPr/>
          <p:nvPr userDrawn="1"/>
        </p:nvGrpSpPr>
        <p:grpSpPr>
          <a:xfrm>
            <a:off x="944054" y="5343295"/>
            <a:ext cx="7804380" cy="215444"/>
            <a:chOff x="944054" y="5343295"/>
            <a:chExt cx="7804380" cy="215444"/>
          </a:xfrm>
        </p:grpSpPr>
        <p:sp>
          <p:nvSpPr>
            <p:cNvPr id="7" name="TextBox 7"/>
            <p:cNvSpPr txBox="1"/>
            <p:nvPr userDrawn="1"/>
          </p:nvSpPr>
          <p:spPr>
            <a:xfrm>
              <a:off x="944054" y="5343295"/>
              <a:ext cx="2467342"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ANALÍTICA DE SISTEMAS EMPRESARIALES</a:t>
              </a:r>
              <a:r>
                <a:rPr lang="en-US" sz="800" kern="1200" baseline="0" dirty="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04</a:t>
              </a:r>
              <a:endParaRPr lang="en-US" sz="800" dirty="0">
                <a:solidFill>
                  <a:schemeClr val="bg1">
                    <a:lumMod val="50000"/>
                  </a:schemeClr>
                </a:solidFill>
                <a:latin typeface="Calibri"/>
                <a:cs typeface="Calibri"/>
              </a:endParaRPr>
            </a:p>
          </p:txBody>
        </p:sp>
        <p:sp>
          <p:nvSpPr>
            <p:cNvPr id="8" name="Rectangle 3"/>
            <p:cNvSpPr/>
            <p:nvPr userDrawn="1"/>
          </p:nvSpPr>
          <p:spPr>
            <a:xfrm>
              <a:off x="7379148" y="5371562"/>
              <a:ext cx="1369286"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9" name="Imagen 8"/>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pos="2767" userDrawn="1">
          <p15:clr>
            <a:srgbClr val="F26B43"/>
          </p15:clr>
        </p15:guide>
        <p15:guide id="3" pos="317" userDrawn="1">
          <p15:clr>
            <a:srgbClr val="F26B43"/>
          </p15:clr>
        </p15:guide>
        <p15:guide id="4" orient="horz" pos="575" userDrawn="1">
          <p15:clr>
            <a:srgbClr val="F26B43"/>
          </p15:clr>
        </p15:guide>
        <p15:guide id="5" orient="horz" pos="303" userDrawn="1">
          <p15:clr>
            <a:srgbClr val="F26B43"/>
          </p15:clr>
        </p15:guide>
        <p15:guide id="6" pos="5443" userDrawn="1">
          <p15:clr>
            <a:srgbClr val="F26B43"/>
          </p15:clr>
        </p15:guide>
        <p15:guide id="7" orient="horz" pos="3297" userDrawn="1">
          <p15:clr>
            <a:srgbClr val="F26B43"/>
          </p15:clr>
        </p15:guide>
        <p15:guide id="8" pos="299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4.xml"/><Relationship Id="rId7"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1.png"/><Relationship Id="rId10"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ángulo 40"/>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CuadroTexto 22">
            <a:extLst>
              <a:ext uri="{FF2B5EF4-FFF2-40B4-BE49-F238E27FC236}">
                <a16:creationId xmlns:a16="http://schemas.microsoft.com/office/drawing/2014/main" id="{00376003-8003-B944-8B01-9A232A7A385C}"/>
              </a:ext>
            </a:extLst>
          </p:cNvPr>
          <p:cNvSpPr txBox="1"/>
          <p:nvPr/>
        </p:nvSpPr>
        <p:spPr>
          <a:xfrm>
            <a:off x="503238" y="808689"/>
            <a:ext cx="3104743" cy="138499"/>
          </a:xfrm>
          <a:prstGeom prst="rect">
            <a:avLst/>
          </a:prstGeom>
          <a:noFill/>
        </p:spPr>
        <p:txBody>
          <a:bodyPr wrap="square" lIns="0" tIns="0" rIns="0" bIns="0" rtlCol="0">
            <a:spAutoFit/>
          </a:bodyPr>
          <a:lstStyle/>
          <a:p>
            <a:r>
              <a:rPr lang="en-US" sz="900" b="1" dirty="0">
                <a:solidFill>
                  <a:srgbClr val="6C6D6C"/>
                </a:solidFill>
                <a:latin typeface="Calibri" charset="0"/>
                <a:cs typeface="Calibri" charset="0"/>
                <a:sym typeface="Wingdings"/>
              </a:rPr>
              <a:t>ANALÍTICA DE SISTEMAS EMPRESARIALES </a:t>
            </a:r>
            <a:endParaRPr lang="es-ES_tradnl" sz="900" b="1" dirty="0">
              <a:solidFill>
                <a:srgbClr val="6C6D6C"/>
              </a:solidFill>
              <a:latin typeface="Calibri" charset="0"/>
              <a:cs typeface="Calibri" charset="0"/>
            </a:endParaRPr>
          </a:p>
        </p:txBody>
      </p:sp>
      <p:pic>
        <p:nvPicPr>
          <p:cNvPr id="4" name="Imagen 3">
            <a:extLst>
              <a:ext uri="{FF2B5EF4-FFF2-40B4-BE49-F238E27FC236}">
                <a16:creationId xmlns:a16="http://schemas.microsoft.com/office/drawing/2014/main" id="{5F6F030B-C752-AD44-958B-E73463C78685}"/>
              </a:ext>
            </a:extLst>
          </p:cNvPr>
          <p:cNvPicPr>
            <a:picLocks noChangeAspect="1"/>
          </p:cNvPicPr>
          <p:nvPr/>
        </p:nvPicPr>
        <p:blipFill>
          <a:blip r:embed="rId3"/>
          <a:stretch>
            <a:fillRect/>
          </a:stretch>
        </p:blipFill>
        <p:spPr>
          <a:xfrm>
            <a:off x="3752849" y="-7542"/>
            <a:ext cx="5391150" cy="5722541"/>
          </a:xfrm>
          <a:prstGeom prst="rect">
            <a:avLst/>
          </a:prstGeom>
        </p:spPr>
      </p:pic>
      <p:sp>
        <p:nvSpPr>
          <p:cNvPr id="2" name="Rectángulo 1">
            <a:extLst>
              <a:ext uri="{FF2B5EF4-FFF2-40B4-BE49-F238E27FC236}">
                <a16:creationId xmlns:a16="http://schemas.microsoft.com/office/drawing/2014/main" id="{AC56C332-AC9C-5CDE-E4A7-D1AD9C720B6F}"/>
              </a:ext>
            </a:extLst>
          </p:cNvPr>
          <p:cNvSpPr/>
          <p:nvPr/>
        </p:nvSpPr>
        <p:spPr>
          <a:xfrm>
            <a:off x="503239" y="2177570"/>
            <a:ext cx="3104742" cy="1107996"/>
          </a:xfrm>
          <a:prstGeom prst="rect">
            <a:avLst/>
          </a:prstGeom>
        </p:spPr>
        <p:txBody>
          <a:bodyPr wrap="square" lIns="0" tIns="0" rIns="0" bIns="0">
            <a:spAutoFit/>
          </a:bodyPr>
          <a:lstStyle/>
          <a:p>
            <a:pPr>
              <a:lnSpc>
                <a:spcPct val="90000"/>
              </a:lnSpc>
            </a:pPr>
            <a:r>
              <a:rPr lang="en-US" sz="2000" dirty="0">
                <a:latin typeface="Graphik Medium" panose="020B0503030202060203" pitchFamily="34" charset="77"/>
                <a:sym typeface="Calibri"/>
              </a:rPr>
              <a:t>OPERACIONES DE </a:t>
            </a:r>
            <a:r>
              <a:rPr lang="en-US" sz="2000" b="1" dirty="0">
                <a:latin typeface="Graphik Bold" panose="020B0503030202060203" pitchFamily="34" charset="77"/>
                <a:sym typeface="Calibri"/>
              </a:rPr>
              <a:t>EXTRACCIÓN, TRANSFORMACIÓN Y CARGA (ETL) – PARTE 1</a:t>
            </a:r>
          </a:p>
        </p:txBody>
      </p:sp>
      <p:sp>
        <p:nvSpPr>
          <p:cNvPr id="3" name="Rectángulo 2">
            <a:extLst>
              <a:ext uri="{FF2B5EF4-FFF2-40B4-BE49-F238E27FC236}">
                <a16:creationId xmlns:a16="http://schemas.microsoft.com/office/drawing/2014/main" id="{1D1189B2-41AF-6D82-F5E0-ACAECF805B82}"/>
              </a:ext>
            </a:extLst>
          </p:cNvPr>
          <p:cNvSpPr/>
          <p:nvPr/>
        </p:nvSpPr>
        <p:spPr>
          <a:xfrm>
            <a:off x="503237" y="3549494"/>
            <a:ext cx="3104743" cy="1307217"/>
          </a:xfrm>
          <a:prstGeom prst="rect">
            <a:avLst/>
          </a:prstGeom>
        </p:spPr>
        <p:txBody>
          <a:bodyPr wrap="square" lIns="0" tIns="0" rIns="0" bIns="0">
            <a:spAutoFit/>
          </a:bodyPr>
          <a:lstStyle/>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Escenario de operaciones ETL</a:t>
            </a: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Extracción de datos</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Estandarización de datos</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Transformación de datos</a:t>
            </a:r>
            <a:endParaRPr lang="es-ES_tradnl" sz="1200">
              <a:latin typeface="Graphik Medium" panose="020B0503030202060203" pitchFamily="34" charset="77"/>
            </a:endParaRPr>
          </a:p>
          <a:p>
            <a:pPr marL="177798" marR="0" lvl="0" indent="-177798" algn="l" rtl="0">
              <a:lnSpc>
                <a:spcPct val="120000"/>
              </a:lnSpc>
              <a:spcBef>
                <a:spcPts val="0"/>
              </a:spcBef>
              <a:spcAft>
                <a:spcPts val="0"/>
              </a:spcAft>
              <a:buClr>
                <a:srgbClr val="E14098"/>
              </a:buClr>
              <a:buSzPct val="100000"/>
              <a:buFont typeface="Arial"/>
              <a:buChar char="•"/>
            </a:pPr>
            <a:r>
              <a:rPr lang="es-ES_tradnl" sz="1200">
                <a:latin typeface="Graphik Medium" panose="020B0503030202060203" pitchFamily="34" charset="77"/>
                <a:ea typeface="Calibri"/>
                <a:cs typeface="Calibri"/>
                <a:sym typeface="Calibri"/>
              </a:rPr>
              <a:t>Carga de datos</a:t>
            </a:r>
          </a:p>
          <a:p>
            <a:pPr marL="177798" marR="0" lvl="0" indent="-177798" algn="l" rtl="0">
              <a:lnSpc>
                <a:spcPct val="120000"/>
              </a:lnSpc>
              <a:spcBef>
                <a:spcPts val="0"/>
              </a:spcBef>
              <a:spcAft>
                <a:spcPts val="0"/>
              </a:spcAft>
              <a:buClr>
                <a:srgbClr val="E14098"/>
              </a:buClr>
              <a:buSzPct val="100000"/>
              <a:buFont typeface="Arial"/>
              <a:buChar char="•"/>
            </a:pPr>
            <a:endParaRPr lang="es-ES_tradnl" sz="1200">
              <a:latin typeface="Graphik Medium" panose="020B0503030202060203" pitchFamily="34" charset="77"/>
            </a:endParaRPr>
          </a:p>
        </p:txBody>
      </p:sp>
      <p:sp>
        <p:nvSpPr>
          <p:cNvPr id="5" name="CuadroTexto 4">
            <a:extLst>
              <a:ext uri="{FF2B5EF4-FFF2-40B4-BE49-F238E27FC236}">
                <a16:creationId xmlns:a16="http://schemas.microsoft.com/office/drawing/2014/main" id="{8F0C791E-55A4-CF62-B567-CC3C65452046}"/>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E14098"/>
                </a:solidFill>
                <a:latin typeface="Calibri" charset="0"/>
                <a:ea typeface="Calibri" charset="0"/>
                <a:cs typeface="Calibri" charset="0"/>
              </a:rPr>
              <a:t>SESIÓN 04</a:t>
            </a:r>
          </a:p>
        </p:txBody>
      </p:sp>
      <p:pic>
        <p:nvPicPr>
          <p:cNvPr id="6" name="Imagen 5">
            <a:extLst>
              <a:ext uri="{FF2B5EF4-FFF2-40B4-BE49-F238E27FC236}">
                <a16:creationId xmlns:a16="http://schemas.microsoft.com/office/drawing/2014/main" id="{474548A7-011E-0B5D-1381-0BA486642CE8}"/>
              </a:ext>
            </a:extLst>
          </p:cNvPr>
          <p:cNvPicPr>
            <a:picLocks noChangeAspect="1"/>
          </p:cNvPicPr>
          <p:nvPr/>
        </p:nvPicPr>
        <p:blipFill>
          <a:blip r:embed="rId4"/>
          <a:stretch>
            <a:fillRect/>
          </a:stretch>
        </p:blipFill>
        <p:spPr>
          <a:xfrm>
            <a:off x="507464" y="1883411"/>
            <a:ext cx="166865" cy="170453"/>
          </a:xfrm>
          <a:prstGeom prst="rect">
            <a:avLst/>
          </a:prstGeom>
        </p:spPr>
      </p:pic>
    </p:spTree>
    <p:extLst>
      <p:ext uri="{BB962C8B-B14F-4D97-AF65-F5344CB8AC3E}">
        <p14:creationId xmlns:p14="http://schemas.microsoft.com/office/powerpoint/2010/main" val="909209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6" name="Rectángulo 5"/>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CuadroTexto 3"/>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3" name="Imagen 2"/>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9" name="Imagen 8">
            <a:extLst>
              <a:ext uri="{FF2B5EF4-FFF2-40B4-BE49-F238E27FC236}">
                <a16:creationId xmlns:a16="http://schemas.microsoft.com/office/drawing/2014/main" id="{2CD7628C-6304-5D4B-BA7D-591238143DE2}"/>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194155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object 7"/>
          <p:cNvSpPr txBox="1"/>
          <p:nvPr/>
        </p:nvSpPr>
        <p:spPr>
          <a:xfrm>
            <a:off x="1282298" y="918372"/>
            <a:ext cx="5636662" cy="1723549"/>
          </a:xfrm>
          <a:prstGeom prst="rect">
            <a:avLst/>
          </a:prstGeom>
        </p:spPr>
        <p:txBody>
          <a:bodyPr vert="horz" wrap="square" lIns="0" tIns="0" rIns="0" bIns="0" rtlCol="0">
            <a:spAutoFit/>
          </a:bodyPr>
          <a:lstStyle/>
          <a:p>
            <a:pPr marL="11724" marR="0" lvl="0" algn="l" rtl="0">
              <a:spcBef>
                <a:spcPts val="0"/>
              </a:spcBef>
              <a:spcAft>
                <a:spcPts val="0"/>
              </a:spcAft>
              <a:buClr>
                <a:srgbClr val="262626"/>
              </a:buClr>
              <a:buSzPts val="1600"/>
            </a:pPr>
            <a:r>
              <a:rPr lang="es-ES_tradnl" sz="1400">
                <a:ea typeface="Calibri"/>
                <a:cs typeface="Calibri"/>
                <a:sym typeface="Calibri"/>
              </a:rPr>
              <a:t>En esta sesión conocerás cómo es el escenario de una solución en la que se ejecutan operaciones ETL.</a:t>
            </a:r>
            <a:endParaRPr lang="es-ES_tradnl" sz="1400"/>
          </a:p>
          <a:p>
            <a:pPr marL="113324" marR="0" lvl="0" algn="l" rtl="0">
              <a:spcBef>
                <a:spcPts val="0"/>
              </a:spcBef>
              <a:spcAft>
                <a:spcPts val="0"/>
              </a:spcAft>
              <a:buClr>
                <a:schemeClr val="dk1"/>
              </a:buClr>
              <a:buSzPts val="1600"/>
            </a:pPr>
            <a:endParaRPr lang="es-ES_tradnl" sz="1400">
              <a:ea typeface="Calibri"/>
              <a:cs typeface="Calibri"/>
              <a:sym typeface="Calibri"/>
            </a:endParaRPr>
          </a:p>
          <a:p>
            <a:pPr marL="11724" marR="0" lvl="0" algn="l" rtl="0">
              <a:spcBef>
                <a:spcPts val="0"/>
              </a:spcBef>
              <a:spcAft>
                <a:spcPts val="0"/>
              </a:spcAft>
              <a:buClr>
                <a:srgbClr val="262626"/>
              </a:buClr>
              <a:buSzPts val="1600"/>
            </a:pPr>
            <a:r>
              <a:rPr lang="es-ES_tradnl" sz="1400">
                <a:ea typeface="Calibri"/>
                <a:cs typeface="Calibri"/>
                <a:sym typeface="Calibri"/>
              </a:rPr>
              <a:t>Conocerás sobre los problemas referidos a la calidad de los datos que pueden presentarse durante la extracción de datos.</a:t>
            </a:r>
            <a:endParaRPr lang="es-ES_tradnl" sz="1400"/>
          </a:p>
          <a:p>
            <a:pPr marL="113324" marR="0" lvl="0" algn="l" rtl="0">
              <a:spcBef>
                <a:spcPts val="0"/>
              </a:spcBef>
              <a:spcAft>
                <a:spcPts val="0"/>
              </a:spcAft>
              <a:buClr>
                <a:schemeClr val="dk1"/>
              </a:buClr>
              <a:buSzPts val="1600"/>
            </a:pPr>
            <a:endParaRPr lang="es-ES_tradnl" sz="1400">
              <a:ea typeface="Calibri"/>
              <a:cs typeface="Calibri"/>
              <a:sym typeface="Calibri"/>
            </a:endParaRPr>
          </a:p>
          <a:p>
            <a:pPr marL="11724" marR="0" lvl="0" algn="l" rtl="0">
              <a:spcBef>
                <a:spcPts val="0"/>
              </a:spcBef>
              <a:spcAft>
                <a:spcPts val="0"/>
              </a:spcAft>
              <a:buClr>
                <a:srgbClr val="262626"/>
              </a:buClr>
              <a:buSzPts val="1600"/>
            </a:pPr>
            <a:r>
              <a:rPr lang="es-ES_tradnl" sz="1400">
                <a:ea typeface="Calibri"/>
                <a:cs typeface="Calibri"/>
                <a:sym typeface="Calibri"/>
              </a:rPr>
              <a:t>Y por último aprenderás cómo se estandarizan e integran los datos mediante las transformaciones de datos, con la finalidad de garantizar su calidad.</a:t>
            </a:r>
            <a:endParaRPr lang="es-ES_tradnl" sz="1400"/>
          </a:p>
        </p:txBody>
      </p:sp>
      <p:pic>
        <p:nvPicPr>
          <p:cNvPr id="6" name="Imagen 5"/>
          <p:cNvPicPr>
            <a:picLocks noChangeAspect="1"/>
          </p:cNvPicPr>
          <p:nvPr/>
        </p:nvPicPr>
        <p:blipFill>
          <a:blip r:embed="rId3"/>
          <a:stretch>
            <a:fillRect/>
          </a:stretch>
        </p:blipFill>
        <p:spPr>
          <a:xfrm>
            <a:off x="1010839" y="954885"/>
            <a:ext cx="117851" cy="121369"/>
          </a:xfrm>
          <a:prstGeom prst="rect">
            <a:avLst/>
          </a:prstGeom>
        </p:spPr>
      </p:pic>
      <p:sp>
        <p:nvSpPr>
          <p:cNvPr id="2" name="Rectángulo 1"/>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17" name="Imagen 16"/>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9" name="Rectángulo 8"/>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pic>
        <p:nvPicPr>
          <p:cNvPr id="3" name="Imagen 2">
            <a:extLst>
              <a:ext uri="{FF2B5EF4-FFF2-40B4-BE49-F238E27FC236}">
                <a16:creationId xmlns:a16="http://schemas.microsoft.com/office/drawing/2014/main" id="{AFB28DA7-64F2-C36B-1698-15FE68C6E942}"/>
              </a:ext>
            </a:extLst>
          </p:cNvPr>
          <p:cNvPicPr>
            <a:picLocks noChangeAspect="1"/>
          </p:cNvPicPr>
          <p:nvPr/>
        </p:nvPicPr>
        <p:blipFill>
          <a:blip r:embed="rId3"/>
          <a:stretch>
            <a:fillRect/>
          </a:stretch>
        </p:blipFill>
        <p:spPr>
          <a:xfrm>
            <a:off x="1010839" y="1602917"/>
            <a:ext cx="117851" cy="121369"/>
          </a:xfrm>
          <a:prstGeom prst="rect">
            <a:avLst/>
          </a:prstGeom>
        </p:spPr>
      </p:pic>
      <p:pic>
        <p:nvPicPr>
          <p:cNvPr id="5" name="Imagen 4">
            <a:extLst>
              <a:ext uri="{FF2B5EF4-FFF2-40B4-BE49-F238E27FC236}">
                <a16:creationId xmlns:a16="http://schemas.microsoft.com/office/drawing/2014/main" id="{03B66B38-8B1B-2C05-3DCC-9DB1E0245A31}"/>
              </a:ext>
            </a:extLst>
          </p:cNvPr>
          <p:cNvPicPr>
            <a:picLocks noChangeAspect="1"/>
          </p:cNvPicPr>
          <p:nvPr/>
        </p:nvPicPr>
        <p:blipFill>
          <a:blip r:embed="rId3"/>
          <a:stretch>
            <a:fillRect/>
          </a:stretch>
        </p:blipFill>
        <p:spPr>
          <a:xfrm>
            <a:off x="1010839" y="2250949"/>
            <a:ext cx="117851" cy="121369"/>
          </a:xfrm>
          <a:prstGeom prst="rect">
            <a:avLst/>
          </a:prstGeom>
        </p:spPr>
      </p:pic>
    </p:spTree>
    <p:extLst>
      <p:ext uri="{BB962C8B-B14F-4D97-AF65-F5344CB8AC3E}">
        <p14:creationId xmlns:p14="http://schemas.microsoft.com/office/powerpoint/2010/main" val="783239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775597"/>
          </a:xfrm>
          <a:prstGeom prst="rect">
            <a:avLst/>
          </a:prstGeom>
          <a:noFill/>
        </p:spPr>
        <p:txBody>
          <a:bodyPr wrap="square" lIns="0" tIns="0" rIns="0" bIns="0" rtlCol="0">
            <a:spAutoFit/>
          </a:bodyPr>
          <a:lstStyle/>
          <a:p>
            <a:pPr>
              <a:lnSpc>
                <a:spcPct val="90000"/>
              </a:lnSpc>
              <a:spcBef>
                <a:spcPts val="1000"/>
              </a:spcBef>
              <a:defRPr/>
            </a:pPr>
            <a:r>
              <a:rPr lang="en-US" sz="2800" dirty="0">
                <a:solidFill>
                  <a:schemeClr val="bg1"/>
                </a:solidFill>
                <a:latin typeface="Graphik Regular" panose="020B0503030202060203" pitchFamily="34" charset="77"/>
                <a:sym typeface="Calibri"/>
              </a:rPr>
              <a:t>ESCENARIO DE </a:t>
            </a:r>
            <a:br>
              <a:rPr lang="en-US" sz="2800" b="1" dirty="0">
                <a:solidFill>
                  <a:schemeClr val="bg1"/>
                </a:solidFill>
                <a:latin typeface="Graphik Bold" panose="020B0503030202060203" pitchFamily="34" charset="77"/>
                <a:sym typeface="Calibri"/>
              </a:rPr>
            </a:br>
            <a:r>
              <a:rPr lang="en-US" sz="2800" b="1" dirty="0">
                <a:solidFill>
                  <a:schemeClr val="bg1"/>
                </a:solidFill>
                <a:latin typeface="Graphik Bold" panose="020B0503030202060203" pitchFamily="34" charset="77"/>
                <a:sym typeface="Calibri"/>
              </a:rPr>
              <a:t>OPERACIONES ETL</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40036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4"/>
          <p:cNvPicPr preferRelativeResize="0"/>
          <p:nvPr/>
        </p:nvPicPr>
        <p:blipFill rotWithShape="1">
          <a:blip r:embed="rId4">
            <a:alphaModFix/>
          </a:blip>
          <a:srcRect/>
          <a:stretch/>
        </p:blipFill>
        <p:spPr>
          <a:xfrm>
            <a:off x="945621" y="1853066"/>
            <a:ext cx="523019" cy="523019"/>
          </a:xfrm>
          <a:prstGeom prst="rect">
            <a:avLst/>
          </a:prstGeom>
          <a:noFill/>
          <a:ln>
            <a:noFill/>
          </a:ln>
        </p:spPr>
      </p:pic>
      <p:sp>
        <p:nvSpPr>
          <p:cNvPr id="129" name="Google Shape;129;p4"/>
          <p:cNvSpPr txBox="1"/>
          <p:nvPr/>
        </p:nvSpPr>
        <p:spPr>
          <a:xfrm>
            <a:off x="607098" y="1456919"/>
            <a:ext cx="129208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dirty="0">
                <a:solidFill>
                  <a:srgbClr val="000000"/>
                </a:solidFill>
                <a:latin typeface="Calibri" panose="020F0502020204030204" pitchFamily="34" charset="0"/>
                <a:ea typeface="Quattrocento Sans"/>
                <a:cs typeface="Calibri" panose="020F0502020204030204" pitchFamily="34" charset="0"/>
                <a:sym typeface="Quattrocento Sans"/>
              </a:rPr>
              <a:t>FUENTES DE DATOS</a:t>
            </a:r>
            <a:endParaRPr dirty="0">
              <a:latin typeface="Calibri" panose="020F0502020204030204" pitchFamily="34" charset="0"/>
              <a:cs typeface="Calibri" panose="020F0502020204030204" pitchFamily="34" charset="0"/>
            </a:endParaRPr>
          </a:p>
        </p:txBody>
      </p:sp>
      <p:sp>
        <p:nvSpPr>
          <p:cNvPr id="130" name="Google Shape;130;p4"/>
          <p:cNvSpPr txBox="1"/>
          <p:nvPr/>
        </p:nvSpPr>
        <p:spPr>
          <a:xfrm>
            <a:off x="653255" y="4414923"/>
            <a:ext cx="1318677"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dirty="0">
                <a:solidFill>
                  <a:srgbClr val="000000"/>
                </a:solidFill>
                <a:latin typeface="Calibri" panose="020F0502020204030204" pitchFamily="34" charset="0"/>
                <a:ea typeface="Calibri"/>
                <a:cs typeface="Calibri" panose="020F0502020204030204" pitchFamily="34" charset="0"/>
                <a:sym typeface="Calibri"/>
              </a:rPr>
              <a:t>DATA ORGANIZADA POR APLICACIONES</a:t>
            </a:r>
            <a:endParaRPr sz="1600" dirty="0">
              <a:latin typeface="Calibri" panose="020F0502020204030204" pitchFamily="34" charset="0"/>
              <a:cs typeface="Calibri" panose="020F0502020204030204" pitchFamily="34" charset="0"/>
            </a:endParaRPr>
          </a:p>
        </p:txBody>
      </p:sp>
      <p:sp>
        <p:nvSpPr>
          <p:cNvPr id="131" name="Google Shape;131;p4"/>
          <p:cNvSpPr txBox="1"/>
          <p:nvPr/>
        </p:nvSpPr>
        <p:spPr>
          <a:xfrm>
            <a:off x="6584667" y="1401317"/>
            <a:ext cx="1938646"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dirty="0">
                <a:solidFill>
                  <a:srgbClr val="000000"/>
                </a:solidFill>
                <a:latin typeface="Calibri" panose="020F0502020204030204" pitchFamily="34" charset="0"/>
                <a:ea typeface="Quattrocento Sans"/>
                <a:cs typeface="Calibri" panose="020F0502020204030204" pitchFamily="34" charset="0"/>
                <a:sym typeface="Quattrocento Sans"/>
              </a:rPr>
              <a:t>HERRAMIENTAS DE EXPLOTACIÓN DE </a:t>
            </a:r>
            <a:br>
              <a:rPr lang="en-US" sz="1200" dirty="0">
                <a:solidFill>
                  <a:srgbClr val="000000"/>
                </a:solidFill>
                <a:latin typeface="Calibri" panose="020F0502020204030204" pitchFamily="34" charset="0"/>
                <a:ea typeface="Quattrocento Sans"/>
                <a:cs typeface="Calibri" panose="020F0502020204030204" pitchFamily="34" charset="0"/>
                <a:sym typeface="Quattrocento Sans"/>
              </a:rPr>
            </a:br>
            <a:r>
              <a:rPr lang="en-US" sz="1200" dirty="0">
                <a:solidFill>
                  <a:srgbClr val="000000"/>
                </a:solidFill>
                <a:latin typeface="Calibri" panose="020F0502020204030204" pitchFamily="34" charset="0"/>
                <a:ea typeface="Quattrocento Sans"/>
                <a:cs typeface="Calibri" panose="020F0502020204030204" pitchFamily="34" charset="0"/>
                <a:sym typeface="Quattrocento Sans"/>
              </a:rPr>
              <a:t>LA INFORMACIÓN</a:t>
            </a:r>
            <a:endParaRPr dirty="0">
              <a:latin typeface="Calibri" panose="020F0502020204030204" pitchFamily="34" charset="0"/>
              <a:cs typeface="Calibri" panose="020F0502020204030204" pitchFamily="34" charset="0"/>
            </a:endParaRPr>
          </a:p>
        </p:txBody>
      </p:sp>
      <p:sp>
        <p:nvSpPr>
          <p:cNvPr id="133" name="Google Shape;133;p4"/>
          <p:cNvSpPr txBox="1"/>
          <p:nvPr/>
        </p:nvSpPr>
        <p:spPr>
          <a:xfrm>
            <a:off x="2256613" y="2624053"/>
            <a:ext cx="1220912" cy="646331"/>
          </a:xfrm>
          <a:prstGeom prst="rect">
            <a:avLst/>
          </a:prstGeom>
          <a:solidFill>
            <a:srgbClr val="EE4639"/>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bg1"/>
                </a:solidFill>
                <a:latin typeface="Calibri" panose="020F0502020204030204" pitchFamily="34" charset="0"/>
                <a:ea typeface="Quattrocento Sans"/>
                <a:cs typeface="Calibri" panose="020F0502020204030204" pitchFamily="34" charset="0"/>
                <a:sym typeface="Quattrocento Sans"/>
              </a:rPr>
              <a:t>Extracción,</a:t>
            </a:r>
            <a:endParaRPr>
              <a:solidFill>
                <a:schemeClr val="bg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200">
                <a:solidFill>
                  <a:schemeClr val="bg1"/>
                </a:solidFill>
                <a:latin typeface="Calibri" panose="020F0502020204030204" pitchFamily="34" charset="0"/>
                <a:ea typeface="Quattrocento Sans"/>
                <a:cs typeface="Calibri" panose="020F0502020204030204" pitchFamily="34" charset="0"/>
                <a:sym typeface="Quattrocento Sans"/>
              </a:rPr>
              <a:t>Transformación</a:t>
            </a:r>
            <a:endParaRPr>
              <a:solidFill>
                <a:schemeClr val="bg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200">
                <a:solidFill>
                  <a:schemeClr val="bg1"/>
                </a:solidFill>
                <a:latin typeface="Calibri" panose="020F0502020204030204" pitchFamily="34" charset="0"/>
                <a:ea typeface="Quattrocento Sans"/>
                <a:cs typeface="Calibri" panose="020F0502020204030204" pitchFamily="34" charset="0"/>
                <a:sym typeface="Quattrocento Sans"/>
              </a:rPr>
              <a:t>y Carga</a:t>
            </a:r>
            <a:endParaRPr>
              <a:solidFill>
                <a:schemeClr val="bg1"/>
              </a:solidFill>
              <a:latin typeface="Calibri" panose="020F0502020204030204" pitchFamily="34" charset="0"/>
              <a:cs typeface="Calibri" panose="020F0502020204030204" pitchFamily="34" charset="0"/>
            </a:endParaRPr>
          </a:p>
        </p:txBody>
      </p:sp>
      <p:sp>
        <p:nvSpPr>
          <p:cNvPr id="135" name="Google Shape;135;p4"/>
          <p:cNvSpPr txBox="1"/>
          <p:nvPr/>
        </p:nvSpPr>
        <p:spPr>
          <a:xfrm>
            <a:off x="5004882" y="1462646"/>
            <a:ext cx="1486112"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dirty="0">
                <a:solidFill>
                  <a:srgbClr val="000000"/>
                </a:solidFill>
                <a:latin typeface="Calibri" panose="020F0502020204030204" pitchFamily="34" charset="0"/>
                <a:ea typeface="Quattrocento Sans"/>
                <a:cs typeface="Calibri" panose="020F0502020204030204" pitchFamily="34" charset="0"/>
                <a:sym typeface="Quattrocento Sans"/>
              </a:rPr>
              <a:t>DATA WAREHOUSE</a:t>
            </a:r>
            <a:endParaRPr dirty="0">
              <a:latin typeface="Calibri" panose="020F0502020204030204" pitchFamily="34" charset="0"/>
              <a:cs typeface="Calibri" panose="020F0502020204030204" pitchFamily="34" charset="0"/>
            </a:endParaRPr>
          </a:p>
        </p:txBody>
      </p:sp>
      <p:sp>
        <p:nvSpPr>
          <p:cNvPr id="137" name="Google Shape;137;p4"/>
          <p:cNvSpPr txBox="1"/>
          <p:nvPr/>
        </p:nvSpPr>
        <p:spPr>
          <a:xfrm>
            <a:off x="540121" y="2376085"/>
            <a:ext cx="133402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alibri" panose="020F0502020204030204" pitchFamily="34" charset="0"/>
                <a:ea typeface="Quattrocento Sans"/>
                <a:cs typeface="Calibri" panose="020F0502020204030204" pitchFamily="34" charset="0"/>
                <a:sym typeface="Quattrocento Sans"/>
              </a:rPr>
              <a:t>Data operacional</a:t>
            </a:r>
            <a:endParaRPr>
              <a:latin typeface="Calibri" panose="020F0502020204030204" pitchFamily="34" charset="0"/>
              <a:cs typeface="Calibri" panose="020F0502020204030204" pitchFamily="34" charset="0"/>
            </a:endParaRPr>
          </a:p>
        </p:txBody>
      </p:sp>
      <p:pic>
        <p:nvPicPr>
          <p:cNvPr id="138" name="Google Shape;138;p4"/>
          <p:cNvPicPr preferRelativeResize="0"/>
          <p:nvPr/>
        </p:nvPicPr>
        <p:blipFill rotWithShape="1">
          <a:blip r:embed="rId5">
            <a:alphaModFix/>
          </a:blip>
          <a:srcRect/>
          <a:stretch/>
        </p:blipFill>
        <p:spPr>
          <a:xfrm>
            <a:off x="900956" y="3585498"/>
            <a:ext cx="612348" cy="294096"/>
          </a:xfrm>
          <a:prstGeom prst="rect">
            <a:avLst/>
          </a:prstGeom>
          <a:noFill/>
          <a:ln>
            <a:noFill/>
          </a:ln>
        </p:spPr>
      </p:pic>
      <p:sp>
        <p:nvSpPr>
          <p:cNvPr id="139" name="Google Shape;139;p4"/>
          <p:cNvSpPr txBox="1"/>
          <p:nvPr/>
        </p:nvSpPr>
        <p:spPr>
          <a:xfrm>
            <a:off x="613057" y="3879594"/>
            <a:ext cx="118814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alibri" panose="020F0502020204030204" pitchFamily="34" charset="0"/>
                <a:ea typeface="Quattrocento Sans"/>
                <a:cs typeface="Calibri" panose="020F0502020204030204" pitchFamily="34" charset="0"/>
                <a:sym typeface="Quattrocento Sans"/>
              </a:rPr>
              <a:t>Data adquirida</a:t>
            </a:r>
            <a:endParaRPr>
              <a:latin typeface="Calibri" panose="020F0502020204030204" pitchFamily="34" charset="0"/>
              <a:cs typeface="Calibri" panose="020F0502020204030204" pitchFamily="34" charset="0"/>
            </a:endParaRPr>
          </a:p>
        </p:txBody>
      </p:sp>
      <p:graphicFrame>
        <p:nvGraphicFramePr>
          <p:cNvPr id="140" name="Google Shape;140;p4"/>
          <p:cNvGraphicFramePr/>
          <p:nvPr/>
        </p:nvGraphicFramePr>
        <p:xfrm>
          <a:off x="1000755" y="2781403"/>
          <a:ext cx="412750" cy="363538"/>
        </p:xfrm>
        <a:graphic>
          <a:graphicData uri="http://schemas.openxmlformats.org/presentationml/2006/ole">
            <mc:AlternateContent xmlns:mc="http://schemas.openxmlformats.org/markup-compatibility/2006">
              <mc:Choice xmlns:v="urn:schemas-microsoft-com:vml" Requires="v">
                <p:oleObj spid="_x0000_s1026" r:id="rId6" imgW="412750" imgH="363538" progId="MS_ClipArt_Gallery.2">
                  <p:embed/>
                </p:oleObj>
              </mc:Choice>
              <mc:Fallback>
                <p:oleObj r:id="rId6" imgW="412750" imgH="363538" progId="MS_ClipArt_Gallery.2">
                  <p:embed/>
                  <p:pic>
                    <p:nvPicPr>
                      <p:cNvPr id="140" name="Google Shape;140;p4"/>
                      <p:cNvPicPr preferRelativeResize="0"/>
                      <p:nvPr/>
                    </p:nvPicPr>
                    <p:blipFill rotWithShape="1">
                      <a:blip r:embed="rId7">
                        <a:alphaModFix/>
                      </a:blip>
                      <a:srcRect/>
                      <a:stretch/>
                    </p:blipFill>
                    <p:spPr>
                      <a:xfrm>
                        <a:off x="1000755" y="2781403"/>
                        <a:ext cx="412750" cy="363538"/>
                      </a:xfrm>
                      <a:prstGeom prst="rect">
                        <a:avLst/>
                      </a:prstGeom>
                      <a:noFill/>
                      <a:ln>
                        <a:noFill/>
                      </a:ln>
                    </p:spPr>
                  </p:pic>
                </p:oleObj>
              </mc:Fallback>
            </mc:AlternateContent>
          </a:graphicData>
        </a:graphic>
      </p:graphicFrame>
      <p:sp>
        <p:nvSpPr>
          <p:cNvPr id="141" name="Google Shape;141;p4"/>
          <p:cNvSpPr txBox="1"/>
          <p:nvPr/>
        </p:nvSpPr>
        <p:spPr>
          <a:xfrm>
            <a:off x="515081" y="3165187"/>
            <a:ext cx="1384097"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alibri" panose="020F0502020204030204" pitchFamily="34" charset="0"/>
                <a:ea typeface="Quattrocento Sans"/>
                <a:cs typeface="Calibri" panose="020F0502020204030204" pitchFamily="34" charset="0"/>
                <a:sym typeface="Quattrocento Sans"/>
              </a:rPr>
              <a:t>Data de escritorio</a:t>
            </a:r>
            <a:endParaRPr>
              <a:latin typeface="Calibri" panose="020F0502020204030204" pitchFamily="34" charset="0"/>
              <a:cs typeface="Calibri" panose="020F0502020204030204" pitchFamily="34" charset="0"/>
            </a:endParaRPr>
          </a:p>
        </p:txBody>
      </p:sp>
      <p:sp>
        <p:nvSpPr>
          <p:cNvPr id="142" name="Google Shape;142;p4"/>
          <p:cNvSpPr/>
          <p:nvPr/>
        </p:nvSpPr>
        <p:spPr>
          <a:xfrm>
            <a:off x="1902414" y="1853066"/>
            <a:ext cx="289982" cy="2303527"/>
          </a:xfrm>
          <a:prstGeom prst="rightArrowCallout">
            <a:avLst>
              <a:gd name="adj1" fmla="val 31474"/>
              <a:gd name="adj2" fmla="val 34044"/>
              <a:gd name="adj3" fmla="val 18226"/>
              <a:gd name="adj4" fmla="val 64977"/>
            </a:avLst>
          </a:prstGeom>
          <a:solidFill>
            <a:srgbClr val="00B1C2"/>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pitchFamily="34" charset="0"/>
              <a:ea typeface="Calibri"/>
              <a:cs typeface="Calibri" panose="020F0502020204030204" pitchFamily="34" charset="0"/>
              <a:sym typeface="Calibri"/>
            </a:endParaRPr>
          </a:p>
        </p:txBody>
      </p:sp>
      <p:grpSp>
        <p:nvGrpSpPr>
          <p:cNvPr id="143" name="Google Shape;143;p4"/>
          <p:cNvGrpSpPr/>
          <p:nvPr/>
        </p:nvGrpSpPr>
        <p:grpSpPr>
          <a:xfrm flipH="1">
            <a:off x="5555644" y="2361115"/>
            <a:ext cx="452957" cy="382588"/>
            <a:chOff x="1488" y="1248"/>
            <a:chExt cx="403" cy="288"/>
          </a:xfrm>
        </p:grpSpPr>
        <p:sp>
          <p:nvSpPr>
            <p:cNvPr id="144" name="Google Shape;144;p4"/>
            <p:cNvSpPr/>
            <p:nvPr/>
          </p:nvSpPr>
          <p:spPr>
            <a:xfrm>
              <a:off x="1492" y="1281"/>
              <a:ext cx="394" cy="208"/>
            </a:xfrm>
            <a:prstGeom prst="rect">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145" name="Google Shape;145;p4"/>
            <p:cNvSpPr/>
            <p:nvPr/>
          </p:nvSpPr>
          <p:spPr>
            <a:xfrm>
              <a:off x="1488" y="1449"/>
              <a:ext cx="403" cy="87"/>
            </a:xfrm>
            <a:prstGeom prst="ellipse">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146" name="Google Shape;146;p4"/>
            <p:cNvSpPr/>
            <p:nvPr/>
          </p:nvSpPr>
          <p:spPr>
            <a:xfrm>
              <a:off x="1488" y="1248"/>
              <a:ext cx="403" cy="78"/>
            </a:xfrm>
            <a:prstGeom prst="ellipse">
              <a:avLst/>
            </a:prstGeom>
            <a:gradFill>
              <a:gsLst>
                <a:gs pos="0">
                  <a:srgbClr val="909090"/>
                </a:gs>
                <a:gs pos="100000">
                  <a:srgbClr val="CECECE"/>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grpSp>
      <p:grpSp>
        <p:nvGrpSpPr>
          <p:cNvPr id="147" name="Google Shape;147;p4"/>
          <p:cNvGrpSpPr/>
          <p:nvPr/>
        </p:nvGrpSpPr>
        <p:grpSpPr>
          <a:xfrm flipH="1">
            <a:off x="5551148" y="2937683"/>
            <a:ext cx="452957" cy="382588"/>
            <a:chOff x="1488" y="1248"/>
            <a:chExt cx="403" cy="288"/>
          </a:xfrm>
        </p:grpSpPr>
        <p:sp>
          <p:nvSpPr>
            <p:cNvPr id="148" name="Google Shape;148;p4"/>
            <p:cNvSpPr/>
            <p:nvPr/>
          </p:nvSpPr>
          <p:spPr>
            <a:xfrm>
              <a:off x="1492" y="1281"/>
              <a:ext cx="394" cy="208"/>
            </a:xfrm>
            <a:prstGeom prst="rect">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149" name="Google Shape;149;p4"/>
            <p:cNvSpPr/>
            <p:nvPr/>
          </p:nvSpPr>
          <p:spPr>
            <a:xfrm>
              <a:off x="1488" y="1449"/>
              <a:ext cx="403" cy="87"/>
            </a:xfrm>
            <a:prstGeom prst="ellipse">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150" name="Google Shape;150;p4"/>
            <p:cNvSpPr/>
            <p:nvPr/>
          </p:nvSpPr>
          <p:spPr>
            <a:xfrm>
              <a:off x="1488" y="1248"/>
              <a:ext cx="403" cy="78"/>
            </a:xfrm>
            <a:prstGeom prst="ellipse">
              <a:avLst/>
            </a:prstGeom>
            <a:gradFill>
              <a:gsLst>
                <a:gs pos="0">
                  <a:srgbClr val="909090"/>
                </a:gs>
                <a:gs pos="100000">
                  <a:srgbClr val="CECECE"/>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grpSp>
      <p:grpSp>
        <p:nvGrpSpPr>
          <p:cNvPr id="151" name="Google Shape;151;p4"/>
          <p:cNvGrpSpPr/>
          <p:nvPr/>
        </p:nvGrpSpPr>
        <p:grpSpPr>
          <a:xfrm flipH="1">
            <a:off x="5555644" y="3512355"/>
            <a:ext cx="452957" cy="382588"/>
            <a:chOff x="1488" y="1248"/>
            <a:chExt cx="403" cy="288"/>
          </a:xfrm>
        </p:grpSpPr>
        <p:sp>
          <p:nvSpPr>
            <p:cNvPr id="152" name="Google Shape;152;p4"/>
            <p:cNvSpPr/>
            <p:nvPr/>
          </p:nvSpPr>
          <p:spPr>
            <a:xfrm>
              <a:off x="1492" y="1281"/>
              <a:ext cx="394" cy="208"/>
            </a:xfrm>
            <a:prstGeom prst="rect">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153" name="Google Shape;153;p4"/>
            <p:cNvSpPr/>
            <p:nvPr/>
          </p:nvSpPr>
          <p:spPr>
            <a:xfrm>
              <a:off x="1488" y="1449"/>
              <a:ext cx="403" cy="87"/>
            </a:xfrm>
            <a:prstGeom prst="ellipse">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154" name="Google Shape;154;p4"/>
            <p:cNvSpPr/>
            <p:nvPr/>
          </p:nvSpPr>
          <p:spPr>
            <a:xfrm>
              <a:off x="1488" y="1248"/>
              <a:ext cx="403" cy="78"/>
            </a:xfrm>
            <a:prstGeom prst="ellipse">
              <a:avLst/>
            </a:prstGeom>
            <a:gradFill>
              <a:gsLst>
                <a:gs pos="0">
                  <a:srgbClr val="909090"/>
                </a:gs>
                <a:gs pos="100000">
                  <a:srgbClr val="CECECE"/>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grpSp>
      <p:sp>
        <p:nvSpPr>
          <p:cNvPr id="155" name="Google Shape;155;p4"/>
          <p:cNvSpPr txBox="1"/>
          <p:nvPr/>
        </p:nvSpPr>
        <p:spPr>
          <a:xfrm>
            <a:off x="5311106" y="1907917"/>
            <a:ext cx="93128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alibri" panose="020F0502020204030204" pitchFamily="34" charset="0"/>
                <a:ea typeface="Quattrocento Sans"/>
                <a:cs typeface="Calibri" panose="020F0502020204030204" pitchFamily="34" charset="0"/>
                <a:sym typeface="Quattrocento Sans"/>
              </a:rPr>
              <a:t>Data marts</a:t>
            </a:r>
            <a:endParaRPr>
              <a:latin typeface="Calibri" panose="020F0502020204030204" pitchFamily="34" charset="0"/>
              <a:cs typeface="Calibri" panose="020F0502020204030204" pitchFamily="34" charset="0"/>
            </a:endParaRPr>
          </a:p>
        </p:txBody>
      </p:sp>
      <p:grpSp>
        <p:nvGrpSpPr>
          <p:cNvPr id="156" name="Google Shape;156;p4"/>
          <p:cNvGrpSpPr/>
          <p:nvPr/>
        </p:nvGrpSpPr>
        <p:grpSpPr>
          <a:xfrm flipH="1">
            <a:off x="6786574" y="2179320"/>
            <a:ext cx="447592" cy="449580"/>
            <a:chOff x="2449" y="2352"/>
            <a:chExt cx="230" cy="240"/>
          </a:xfrm>
        </p:grpSpPr>
        <p:sp>
          <p:nvSpPr>
            <p:cNvPr id="157" name="Google Shape;157;p4"/>
            <p:cNvSpPr/>
            <p:nvPr/>
          </p:nvSpPr>
          <p:spPr>
            <a:xfrm flipH="1">
              <a:off x="2452" y="2356"/>
              <a:ext cx="224" cy="231"/>
            </a:xfrm>
            <a:prstGeom prst="cube">
              <a:avLst>
                <a:gd name="adj" fmla="val 24995"/>
              </a:avLst>
            </a:prstGeom>
            <a:solidFill>
              <a:srgbClr val="FF9900"/>
            </a:solidFill>
            <a:ln w="12700"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cxnSp>
          <p:nvCxnSpPr>
            <p:cNvPr id="158" name="Google Shape;158;p4"/>
            <p:cNvCxnSpPr/>
            <p:nvPr/>
          </p:nvCxnSpPr>
          <p:spPr>
            <a:xfrm>
              <a:off x="2644" y="2412"/>
              <a:ext cx="0" cy="177"/>
            </a:xfrm>
            <a:prstGeom prst="straightConnector1">
              <a:avLst/>
            </a:prstGeom>
            <a:noFill/>
            <a:ln w="12700" cap="flat" cmpd="sng">
              <a:solidFill>
                <a:schemeClr val="lt2"/>
              </a:solidFill>
              <a:prstDash val="solid"/>
              <a:round/>
              <a:headEnd type="none" w="sm" len="sm"/>
              <a:tailEnd type="none" w="sm" len="sm"/>
            </a:ln>
          </p:spPr>
        </p:cxnSp>
        <p:cxnSp>
          <p:nvCxnSpPr>
            <p:cNvPr id="159" name="Google Shape;159;p4"/>
            <p:cNvCxnSpPr/>
            <p:nvPr/>
          </p:nvCxnSpPr>
          <p:spPr>
            <a:xfrm>
              <a:off x="2610" y="2412"/>
              <a:ext cx="0" cy="178"/>
            </a:xfrm>
            <a:prstGeom prst="straightConnector1">
              <a:avLst/>
            </a:prstGeom>
            <a:noFill/>
            <a:ln w="12700" cap="flat" cmpd="sng">
              <a:solidFill>
                <a:schemeClr val="lt2"/>
              </a:solidFill>
              <a:prstDash val="solid"/>
              <a:round/>
              <a:headEnd type="none" w="sm" len="sm"/>
              <a:tailEnd type="none" w="sm" len="sm"/>
            </a:ln>
          </p:spPr>
        </p:cxnSp>
        <p:cxnSp>
          <p:nvCxnSpPr>
            <p:cNvPr id="160" name="Google Shape;160;p4"/>
            <p:cNvCxnSpPr/>
            <p:nvPr/>
          </p:nvCxnSpPr>
          <p:spPr>
            <a:xfrm>
              <a:off x="2486" y="2391"/>
              <a:ext cx="0" cy="178"/>
            </a:xfrm>
            <a:prstGeom prst="straightConnector1">
              <a:avLst/>
            </a:prstGeom>
            <a:noFill/>
            <a:ln w="12700" cap="flat" cmpd="sng">
              <a:solidFill>
                <a:schemeClr val="lt2"/>
              </a:solidFill>
              <a:prstDash val="solid"/>
              <a:round/>
              <a:headEnd type="none" w="sm" len="sm"/>
              <a:tailEnd type="none" w="sm" len="sm"/>
            </a:ln>
          </p:spPr>
        </p:cxnSp>
        <p:cxnSp>
          <p:nvCxnSpPr>
            <p:cNvPr id="161" name="Google Shape;161;p4"/>
            <p:cNvCxnSpPr/>
            <p:nvPr/>
          </p:nvCxnSpPr>
          <p:spPr>
            <a:xfrm>
              <a:off x="2468" y="2372"/>
              <a:ext cx="0" cy="178"/>
            </a:xfrm>
            <a:prstGeom prst="straightConnector1">
              <a:avLst/>
            </a:prstGeom>
            <a:noFill/>
            <a:ln w="12700" cap="flat" cmpd="sng">
              <a:solidFill>
                <a:schemeClr val="lt2"/>
              </a:solidFill>
              <a:prstDash val="solid"/>
              <a:round/>
              <a:headEnd type="none" w="sm" len="sm"/>
              <a:tailEnd type="none" w="sm" len="sm"/>
            </a:ln>
          </p:spPr>
        </p:cxnSp>
        <p:cxnSp>
          <p:nvCxnSpPr>
            <p:cNvPr id="162" name="Google Shape;162;p4"/>
            <p:cNvCxnSpPr/>
            <p:nvPr/>
          </p:nvCxnSpPr>
          <p:spPr>
            <a:xfrm rot="10800000">
              <a:off x="2486" y="2394"/>
              <a:ext cx="177" cy="0"/>
            </a:xfrm>
            <a:prstGeom prst="straightConnector1">
              <a:avLst/>
            </a:prstGeom>
            <a:noFill/>
            <a:ln w="12700" cap="flat" cmpd="sng">
              <a:solidFill>
                <a:schemeClr val="lt2"/>
              </a:solidFill>
              <a:prstDash val="solid"/>
              <a:round/>
              <a:headEnd type="none" w="sm" len="sm"/>
              <a:tailEnd type="none" w="sm" len="sm"/>
            </a:ln>
          </p:spPr>
        </p:cxnSp>
        <p:cxnSp>
          <p:nvCxnSpPr>
            <p:cNvPr id="163" name="Google Shape;163;p4"/>
            <p:cNvCxnSpPr/>
            <p:nvPr/>
          </p:nvCxnSpPr>
          <p:spPr>
            <a:xfrm rot="10800000">
              <a:off x="2468" y="2372"/>
              <a:ext cx="176" cy="0"/>
            </a:xfrm>
            <a:prstGeom prst="straightConnector1">
              <a:avLst/>
            </a:prstGeom>
            <a:noFill/>
            <a:ln w="12700" cap="flat" cmpd="sng">
              <a:solidFill>
                <a:schemeClr val="lt2"/>
              </a:solidFill>
              <a:prstDash val="solid"/>
              <a:round/>
              <a:headEnd type="none" w="sm" len="sm"/>
              <a:tailEnd type="none" w="sm" len="sm"/>
            </a:ln>
          </p:spPr>
        </p:cxnSp>
        <p:cxnSp>
          <p:nvCxnSpPr>
            <p:cNvPr id="164" name="Google Shape;164;p4"/>
            <p:cNvCxnSpPr/>
            <p:nvPr/>
          </p:nvCxnSpPr>
          <p:spPr>
            <a:xfrm rot="10800000">
              <a:off x="2502" y="2448"/>
              <a:ext cx="177" cy="0"/>
            </a:xfrm>
            <a:prstGeom prst="straightConnector1">
              <a:avLst/>
            </a:prstGeom>
            <a:noFill/>
            <a:ln w="12700" cap="flat" cmpd="sng">
              <a:solidFill>
                <a:schemeClr val="lt2"/>
              </a:solidFill>
              <a:prstDash val="solid"/>
              <a:round/>
              <a:headEnd type="none" w="sm" len="sm"/>
              <a:tailEnd type="none" w="sm" len="sm"/>
            </a:ln>
          </p:spPr>
        </p:cxnSp>
        <p:cxnSp>
          <p:nvCxnSpPr>
            <p:cNvPr id="165" name="Google Shape;165;p4"/>
            <p:cNvCxnSpPr/>
            <p:nvPr/>
          </p:nvCxnSpPr>
          <p:spPr>
            <a:xfrm rot="10800000">
              <a:off x="2502" y="2485"/>
              <a:ext cx="177" cy="0"/>
            </a:xfrm>
            <a:prstGeom prst="straightConnector1">
              <a:avLst/>
            </a:prstGeom>
            <a:noFill/>
            <a:ln w="12700" cap="flat" cmpd="sng">
              <a:solidFill>
                <a:schemeClr val="lt2"/>
              </a:solidFill>
              <a:prstDash val="solid"/>
              <a:round/>
              <a:headEnd type="none" w="sm" len="sm"/>
              <a:tailEnd type="none" w="sm" len="sm"/>
            </a:ln>
          </p:spPr>
        </p:cxnSp>
        <p:cxnSp>
          <p:nvCxnSpPr>
            <p:cNvPr id="166" name="Google Shape;166;p4"/>
            <p:cNvCxnSpPr/>
            <p:nvPr/>
          </p:nvCxnSpPr>
          <p:spPr>
            <a:xfrm rot="10800000">
              <a:off x="2502" y="2522"/>
              <a:ext cx="177" cy="0"/>
            </a:xfrm>
            <a:prstGeom prst="straightConnector1">
              <a:avLst/>
            </a:prstGeom>
            <a:noFill/>
            <a:ln w="12700" cap="flat" cmpd="sng">
              <a:solidFill>
                <a:schemeClr val="lt2"/>
              </a:solidFill>
              <a:prstDash val="solid"/>
              <a:round/>
              <a:headEnd type="none" w="sm" len="sm"/>
              <a:tailEnd type="none" w="sm" len="sm"/>
            </a:ln>
          </p:spPr>
        </p:cxnSp>
        <p:cxnSp>
          <p:nvCxnSpPr>
            <p:cNvPr id="167" name="Google Shape;167;p4"/>
            <p:cNvCxnSpPr/>
            <p:nvPr/>
          </p:nvCxnSpPr>
          <p:spPr>
            <a:xfrm rot="10800000">
              <a:off x="2502" y="2559"/>
              <a:ext cx="177" cy="0"/>
            </a:xfrm>
            <a:prstGeom prst="straightConnector1">
              <a:avLst/>
            </a:prstGeom>
            <a:noFill/>
            <a:ln w="12700" cap="flat" cmpd="sng">
              <a:solidFill>
                <a:schemeClr val="lt2"/>
              </a:solidFill>
              <a:prstDash val="solid"/>
              <a:round/>
              <a:headEnd type="none" w="sm" len="sm"/>
              <a:tailEnd type="none" w="sm" len="sm"/>
            </a:ln>
          </p:spPr>
        </p:cxnSp>
        <p:cxnSp>
          <p:nvCxnSpPr>
            <p:cNvPr id="168" name="Google Shape;168;p4"/>
            <p:cNvCxnSpPr/>
            <p:nvPr/>
          </p:nvCxnSpPr>
          <p:spPr>
            <a:xfrm>
              <a:off x="2577" y="2412"/>
              <a:ext cx="0" cy="179"/>
            </a:xfrm>
            <a:prstGeom prst="straightConnector1">
              <a:avLst/>
            </a:prstGeom>
            <a:noFill/>
            <a:ln w="12700" cap="flat" cmpd="sng">
              <a:solidFill>
                <a:schemeClr val="lt2"/>
              </a:solidFill>
              <a:prstDash val="solid"/>
              <a:round/>
              <a:headEnd type="none" w="sm" len="sm"/>
              <a:tailEnd type="none" w="sm" len="sm"/>
            </a:ln>
          </p:spPr>
        </p:cxnSp>
        <p:cxnSp>
          <p:nvCxnSpPr>
            <p:cNvPr id="169" name="Google Shape;169;p4"/>
            <p:cNvCxnSpPr/>
            <p:nvPr/>
          </p:nvCxnSpPr>
          <p:spPr>
            <a:xfrm>
              <a:off x="2544" y="2413"/>
              <a:ext cx="0" cy="179"/>
            </a:xfrm>
            <a:prstGeom prst="straightConnector1">
              <a:avLst/>
            </a:prstGeom>
            <a:noFill/>
            <a:ln w="12700" cap="flat" cmpd="sng">
              <a:solidFill>
                <a:schemeClr val="lt2"/>
              </a:solidFill>
              <a:prstDash val="solid"/>
              <a:round/>
              <a:headEnd type="none" w="sm" len="sm"/>
              <a:tailEnd type="none" w="sm" len="sm"/>
            </a:ln>
          </p:spPr>
        </p:cxnSp>
        <p:cxnSp>
          <p:nvCxnSpPr>
            <p:cNvPr id="170" name="Google Shape;170;p4"/>
            <p:cNvCxnSpPr/>
            <p:nvPr/>
          </p:nvCxnSpPr>
          <p:spPr>
            <a:xfrm rot="10800000">
              <a:off x="2591" y="2352"/>
              <a:ext cx="53" cy="59"/>
            </a:xfrm>
            <a:prstGeom prst="straightConnector1">
              <a:avLst/>
            </a:prstGeom>
            <a:noFill/>
            <a:ln w="12700" cap="flat" cmpd="sng">
              <a:solidFill>
                <a:schemeClr val="lt2"/>
              </a:solidFill>
              <a:prstDash val="solid"/>
              <a:round/>
              <a:headEnd type="none" w="sm" len="sm"/>
              <a:tailEnd type="none" w="sm" len="sm"/>
            </a:ln>
          </p:spPr>
        </p:cxnSp>
        <p:cxnSp>
          <p:nvCxnSpPr>
            <p:cNvPr id="171" name="Google Shape;171;p4"/>
            <p:cNvCxnSpPr/>
            <p:nvPr/>
          </p:nvCxnSpPr>
          <p:spPr>
            <a:xfrm rot="10800000">
              <a:off x="2558" y="2355"/>
              <a:ext cx="53" cy="58"/>
            </a:xfrm>
            <a:prstGeom prst="straightConnector1">
              <a:avLst/>
            </a:prstGeom>
            <a:noFill/>
            <a:ln w="12700" cap="flat" cmpd="sng">
              <a:solidFill>
                <a:schemeClr val="lt2"/>
              </a:solidFill>
              <a:prstDash val="solid"/>
              <a:round/>
              <a:headEnd type="none" w="sm" len="sm"/>
              <a:tailEnd type="none" w="sm" len="sm"/>
            </a:ln>
          </p:spPr>
        </p:cxnSp>
        <p:cxnSp>
          <p:nvCxnSpPr>
            <p:cNvPr id="172" name="Google Shape;172;p4"/>
            <p:cNvCxnSpPr/>
            <p:nvPr/>
          </p:nvCxnSpPr>
          <p:spPr>
            <a:xfrm rot="10800000">
              <a:off x="2525" y="2353"/>
              <a:ext cx="54" cy="59"/>
            </a:xfrm>
            <a:prstGeom prst="straightConnector1">
              <a:avLst/>
            </a:prstGeom>
            <a:noFill/>
            <a:ln w="12700" cap="flat" cmpd="sng">
              <a:solidFill>
                <a:schemeClr val="lt2"/>
              </a:solidFill>
              <a:prstDash val="solid"/>
              <a:round/>
              <a:headEnd type="none" w="sm" len="sm"/>
              <a:tailEnd type="none" w="sm" len="sm"/>
            </a:ln>
          </p:spPr>
        </p:cxnSp>
        <p:cxnSp>
          <p:nvCxnSpPr>
            <p:cNvPr id="173" name="Google Shape;173;p4"/>
            <p:cNvCxnSpPr/>
            <p:nvPr/>
          </p:nvCxnSpPr>
          <p:spPr>
            <a:xfrm rot="10800000">
              <a:off x="2492" y="2355"/>
              <a:ext cx="52" cy="58"/>
            </a:xfrm>
            <a:prstGeom prst="straightConnector1">
              <a:avLst/>
            </a:prstGeom>
            <a:noFill/>
            <a:ln w="12700" cap="flat" cmpd="sng">
              <a:solidFill>
                <a:schemeClr val="lt2"/>
              </a:solidFill>
              <a:prstDash val="solid"/>
              <a:round/>
              <a:headEnd type="none" w="sm" len="sm"/>
              <a:tailEnd type="none" w="sm" len="sm"/>
            </a:ln>
          </p:spPr>
        </p:cxnSp>
        <p:cxnSp>
          <p:nvCxnSpPr>
            <p:cNvPr id="174" name="Google Shape;174;p4"/>
            <p:cNvCxnSpPr/>
            <p:nvPr/>
          </p:nvCxnSpPr>
          <p:spPr>
            <a:xfrm rot="10800000">
              <a:off x="2450" y="2388"/>
              <a:ext cx="53" cy="60"/>
            </a:xfrm>
            <a:prstGeom prst="straightConnector1">
              <a:avLst/>
            </a:prstGeom>
            <a:noFill/>
            <a:ln w="12700" cap="flat" cmpd="sng">
              <a:solidFill>
                <a:schemeClr val="lt2"/>
              </a:solidFill>
              <a:prstDash val="solid"/>
              <a:round/>
              <a:headEnd type="none" w="sm" len="sm"/>
              <a:tailEnd type="none" w="sm" len="sm"/>
            </a:ln>
          </p:spPr>
        </p:cxnSp>
        <p:cxnSp>
          <p:nvCxnSpPr>
            <p:cNvPr id="175" name="Google Shape;175;p4"/>
            <p:cNvCxnSpPr/>
            <p:nvPr/>
          </p:nvCxnSpPr>
          <p:spPr>
            <a:xfrm rot="10800000">
              <a:off x="2449" y="2422"/>
              <a:ext cx="53" cy="60"/>
            </a:xfrm>
            <a:prstGeom prst="straightConnector1">
              <a:avLst/>
            </a:prstGeom>
            <a:noFill/>
            <a:ln w="12700" cap="flat" cmpd="sng">
              <a:solidFill>
                <a:schemeClr val="lt2"/>
              </a:solidFill>
              <a:prstDash val="solid"/>
              <a:round/>
              <a:headEnd type="none" w="sm" len="sm"/>
              <a:tailEnd type="none" w="sm" len="sm"/>
            </a:ln>
          </p:spPr>
        </p:cxnSp>
        <p:cxnSp>
          <p:nvCxnSpPr>
            <p:cNvPr id="176" name="Google Shape;176;p4"/>
            <p:cNvCxnSpPr/>
            <p:nvPr/>
          </p:nvCxnSpPr>
          <p:spPr>
            <a:xfrm rot="10800000">
              <a:off x="2450" y="2463"/>
              <a:ext cx="53" cy="59"/>
            </a:xfrm>
            <a:prstGeom prst="straightConnector1">
              <a:avLst/>
            </a:prstGeom>
            <a:noFill/>
            <a:ln w="12700" cap="flat" cmpd="sng">
              <a:solidFill>
                <a:schemeClr val="lt2"/>
              </a:solidFill>
              <a:prstDash val="solid"/>
              <a:round/>
              <a:headEnd type="none" w="sm" len="sm"/>
              <a:tailEnd type="none" w="sm" len="sm"/>
            </a:ln>
          </p:spPr>
        </p:cxnSp>
        <p:cxnSp>
          <p:nvCxnSpPr>
            <p:cNvPr id="177" name="Google Shape;177;p4"/>
            <p:cNvCxnSpPr/>
            <p:nvPr/>
          </p:nvCxnSpPr>
          <p:spPr>
            <a:xfrm rot="10800000">
              <a:off x="2449" y="2495"/>
              <a:ext cx="53" cy="60"/>
            </a:xfrm>
            <a:prstGeom prst="straightConnector1">
              <a:avLst/>
            </a:prstGeom>
            <a:noFill/>
            <a:ln w="12700" cap="flat" cmpd="sng">
              <a:solidFill>
                <a:schemeClr val="lt2"/>
              </a:solidFill>
              <a:prstDash val="solid"/>
              <a:round/>
              <a:headEnd type="none" w="sm" len="sm"/>
              <a:tailEnd type="none" w="sm" len="sm"/>
            </a:ln>
          </p:spPr>
        </p:cxnSp>
      </p:grpSp>
      <p:sp>
        <p:nvSpPr>
          <p:cNvPr id="178" name="Google Shape;178;p4"/>
          <p:cNvSpPr txBox="1"/>
          <p:nvPr/>
        </p:nvSpPr>
        <p:spPr>
          <a:xfrm>
            <a:off x="6566819" y="2660684"/>
            <a:ext cx="96494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alibri" panose="020F0502020204030204" pitchFamily="34" charset="0"/>
                <a:ea typeface="Quattrocento Sans"/>
                <a:cs typeface="Calibri" panose="020F0502020204030204" pitchFamily="34" charset="0"/>
                <a:sym typeface="Quattrocento Sans"/>
              </a:rPr>
              <a:t>Cubo OLAP</a:t>
            </a:r>
            <a:endParaRPr>
              <a:latin typeface="Calibri" panose="020F0502020204030204" pitchFamily="34" charset="0"/>
              <a:cs typeface="Calibri" panose="020F0502020204030204" pitchFamily="34" charset="0"/>
            </a:endParaRPr>
          </a:p>
        </p:txBody>
      </p:sp>
      <p:sp>
        <p:nvSpPr>
          <p:cNvPr id="179" name="Google Shape;179;p4"/>
          <p:cNvSpPr txBox="1"/>
          <p:nvPr/>
        </p:nvSpPr>
        <p:spPr>
          <a:xfrm>
            <a:off x="7572880" y="2720054"/>
            <a:ext cx="78630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alibri" panose="020F0502020204030204" pitchFamily="34" charset="0"/>
                <a:ea typeface="Quattrocento Sans"/>
                <a:cs typeface="Calibri" panose="020F0502020204030204" pitchFamily="34" charset="0"/>
                <a:sym typeface="Quattrocento Sans"/>
              </a:rPr>
              <a:t>Reportes</a:t>
            </a:r>
            <a:endParaRPr>
              <a:latin typeface="Calibri" panose="020F0502020204030204" pitchFamily="34" charset="0"/>
              <a:cs typeface="Calibri" panose="020F0502020204030204" pitchFamily="34" charset="0"/>
            </a:endParaRPr>
          </a:p>
        </p:txBody>
      </p:sp>
      <p:sp>
        <p:nvSpPr>
          <p:cNvPr id="181" name="Google Shape;181;p4"/>
          <p:cNvSpPr txBox="1"/>
          <p:nvPr/>
        </p:nvSpPr>
        <p:spPr>
          <a:xfrm>
            <a:off x="6881093" y="3408560"/>
            <a:ext cx="132638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000000"/>
                </a:solidFill>
                <a:latin typeface="Calibri" panose="020F0502020204030204" pitchFamily="34" charset="0"/>
                <a:ea typeface="Quattrocento Sans"/>
                <a:cs typeface="Calibri" panose="020F0502020204030204" pitchFamily="34" charset="0"/>
                <a:sym typeface="Quattrocento Sans"/>
              </a:rPr>
              <a:t>Minería de datos</a:t>
            </a:r>
            <a:endParaRPr>
              <a:latin typeface="Calibri" panose="020F0502020204030204" pitchFamily="34" charset="0"/>
              <a:cs typeface="Calibri" panose="020F0502020204030204" pitchFamily="34" charset="0"/>
            </a:endParaRPr>
          </a:p>
        </p:txBody>
      </p:sp>
      <p:sp>
        <p:nvSpPr>
          <p:cNvPr id="182" name="Google Shape;182;p4"/>
          <p:cNvSpPr txBox="1"/>
          <p:nvPr/>
        </p:nvSpPr>
        <p:spPr>
          <a:xfrm>
            <a:off x="2110105" y="4414923"/>
            <a:ext cx="1482322"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dirty="0">
                <a:solidFill>
                  <a:srgbClr val="000000"/>
                </a:solidFill>
                <a:latin typeface="Calibri" panose="020F0502020204030204" pitchFamily="34" charset="0"/>
                <a:ea typeface="Calibri"/>
                <a:cs typeface="Calibri" panose="020F0502020204030204" pitchFamily="34" charset="0"/>
                <a:sym typeface="Calibri"/>
              </a:rPr>
              <a:t>INTEGRACIÓN Y ESTANDARIZACIÓN</a:t>
            </a:r>
            <a:endParaRPr sz="1600" dirty="0">
              <a:latin typeface="Calibri" panose="020F0502020204030204" pitchFamily="34" charset="0"/>
              <a:cs typeface="Calibri" panose="020F0502020204030204" pitchFamily="34" charset="0"/>
            </a:endParaRPr>
          </a:p>
        </p:txBody>
      </p:sp>
      <p:sp>
        <p:nvSpPr>
          <p:cNvPr id="183" name="Google Shape;183;p4"/>
          <p:cNvSpPr txBox="1"/>
          <p:nvPr/>
        </p:nvSpPr>
        <p:spPr>
          <a:xfrm>
            <a:off x="5237498" y="4414923"/>
            <a:ext cx="1138681"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dirty="0">
                <a:solidFill>
                  <a:srgbClr val="000000"/>
                </a:solidFill>
                <a:latin typeface="Calibri" panose="020F0502020204030204" pitchFamily="34" charset="0"/>
                <a:ea typeface="Calibri"/>
                <a:cs typeface="Calibri" panose="020F0502020204030204" pitchFamily="34" charset="0"/>
                <a:sym typeface="Calibri"/>
              </a:rPr>
              <a:t>DATA ORGANIZADA POR TEMAS</a:t>
            </a:r>
            <a:endParaRPr sz="1600" dirty="0">
              <a:latin typeface="Calibri" panose="020F0502020204030204" pitchFamily="34" charset="0"/>
              <a:cs typeface="Calibri" panose="020F0502020204030204" pitchFamily="34" charset="0"/>
            </a:endParaRPr>
          </a:p>
        </p:txBody>
      </p:sp>
      <p:sp>
        <p:nvSpPr>
          <p:cNvPr id="184" name="Google Shape;184;p4"/>
          <p:cNvSpPr txBox="1"/>
          <p:nvPr/>
        </p:nvSpPr>
        <p:spPr>
          <a:xfrm>
            <a:off x="6792413" y="4414923"/>
            <a:ext cx="173090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000000"/>
                </a:solidFill>
                <a:latin typeface="Calibri" panose="020F0502020204030204" pitchFamily="34" charset="0"/>
                <a:ea typeface="Calibri"/>
                <a:cs typeface="Calibri" panose="020F0502020204030204" pitchFamily="34" charset="0"/>
                <a:sym typeface="Calibri"/>
              </a:rPr>
              <a:t>USUARIO DEL NEGOCIO</a:t>
            </a:r>
            <a:endParaRPr sz="1600">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100">
                <a:solidFill>
                  <a:srgbClr val="000000"/>
                </a:solidFill>
                <a:latin typeface="Calibri" panose="020F0502020204030204" pitchFamily="34" charset="0"/>
                <a:ea typeface="Calibri"/>
                <a:cs typeface="Calibri" panose="020F0502020204030204" pitchFamily="34" charset="0"/>
                <a:sym typeface="Calibri"/>
              </a:rPr>
              <a:t>Recupera y analiza la data almacenada en el DW</a:t>
            </a:r>
            <a:endParaRPr sz="1600">
              <a:latin typeface="Calibri" panose="020F0502020204030204" pitchFamily="34" charset="0"/>
              <a:cs typeface="Calibri" panose="020F0502020204030204" pitchFamily="34" charset="0"/>
            </a:endParaRPr>
          </a:p>
        </p:txBody>
      </p:sp>
      <p:sp>
        <p:nvSpPr>
          <p:cNvPr id="185" name="Google Shape;185;p4"/>
          <p:cNvSpPr/>
          <p:nvPr/>
        </p:nvSpPr>
        <p:spPr>
          <a:xfrm>
            <a:off x="6341889" y="1853066"/>
            <a:ext cx="289982" cy="2303527"/>
          </a:xfrm>
          <a:prstGeom prst="rightArrowCallout">
            <a:avLst>
              <a:gd name="adj1" fmla="val 31474"/>
              <a:gd name="adj2" fmla="val 34044"/>
              <a:gd name="adj3" fmla="val 18226"/>
              <a:gd name="adj4" fmla="val 64977"/>
            </a:avLst>
          </a:prstGeom>
          <a:solidFill>
            <a:srgbClr val="00B1C2"/>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pitchFamily="34" charset="0"/>
              <a:ea typeface="Calibri"/>
              <a:cs typeface="Calibri" panose="020F0502020204030204" pitchFamily="34" charset="0"/>
              <a:sym typeface="Calibri"/>
            </a:endParaRPr>
          </a:p>
        </p:txBody>
      </p:sp>
      <p:sp>
        <p:nvSpPr>
          <p:cNvPr id="186" name="Google Shape;186;p4"/>
          <p:cNvSpPr/>
          <p:nvPr/>
        </p:nvSpPr>
        <p:spPr>
          <a:xfrm>
            <a:off x="5086177" y="1863748"/>
            <a:ext cx="259216" cy="2303527"/>
          </a:xfrm>
          <a:prstGeom prst="rightArrowCallout">
            <a:avLst>
              <a:gd name="adj1" fmla="val 31474"/>
              <a:gd name="adj2" fmla="val 34044"/>
              <a:gd name="adj3" fmla="val 18226"/>
              <a:gd name="adj4" fmla="val 64977"/>
            </a:avLst>
          </a:prstGeom>
          <a:solidFill>
            <a:srgbClr val="00B1C2"/>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pitchFamily="34" charset="0"/>
              <a:ea typeface="Calibri"/>
              <a:cs typeface="Calibri" panose="020F0502020204030204" pitchFamily="34" charset="0"/>
              <a:sym typeface="Calibri"/>
            </a:endParaRPr>
          </a:p>
        </p:txBody>
      </p:sp>
      <p:grpSp>
        <p:nvGrpSpPr>
          <p:cNvPr id="187" name="Google Shape;187;p4"/>
          <p:cNvGrpSpPr/>
          <p:nvPr/>
        </p:nvGrpSpPr>
        <p:grpSpPr>
          <a:xfrm flipH="1">
            <a:off x="4126385" y="2729775"/>
            <a:ext cx="452957" cy="382588"/>
            <a:chOff x="1488" y="1248"/>
            <a:chExt cx="403" cy="288"/>
          </a:xfrm>
        </p:grpSpPr>
        <p:sp>
          <p:nvSpPr>
            <p:cNvPr id="188" name="Google Shape;188;p4"/>
            <p:cNvSpPr/>
            <p:nvPr/>
          </p:nvSpPr>
          <p:spPr>
            <a:xfrm>
              <a:off x="1492" y="1281"/>
              <a:ext cx="394" cy="208"/>
            </a:xfrm>
            <a:prstGeom prst="rect">
              <a:avLst/>
            </a:prstGeom>
            <a:gradFill>
              <a:gsLst>
                <a:gs pos="0">
                  <a:srgbClr val="AA8000"/>
                </a:gs>
                <a:gs pos="48000">
                  <a:srgbClr val="FFC107"/>
                </a:gs>
                <a:gs pos="100000">
                  <a:srgbClr val="FFD966"/>
                </a:gs>
              </a:gsLst>
              <a:lin ang="16200000" scaled="0"/>
            </a:gradFill>
            <a:ln w="9525"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189" name="Google Shape;189;p4"/>
            <p:cNvSpPr/>
            <p:nvPr/>
          </p:nvSpPr>
          <p:spPr>
            <a:xfrm>
              <a:off x="1488" y="1449"/>
              <a:ext cx="403" cy="87"/>
            </a:xfrm>
            <a:prstGeom prst="ellipse">
              <a:avLst/>
            </a:prstGeom>
            <a:gradFill>
              <a:gsLst>
                <a:gs pos="0">
                  <a:srgbClr val="AA8000"/>
                </a:gs>
                <a:gs pos="48000">
                  <a:srgbClr val="FFC107"/>
                </a:gs>
                <a:gs pos="100000">
                  <a:srgbClr val="FFD966"/>
                </a:gs>
              </a:gsLst>
              <a:lin ang="16200000" scaled="0"/>
            </a:gradFill>
            <a:ln w="9525"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190" name="Google Shape;190;p4"/>
            <p:cNvSpPr/>
            <p:nvPr/>
          </p:nvSpPr>
          <p:spPr>
            <a:xfrm>
              <a:off x="1488" y="1248"/>
              <a:ext cx="403" cy="78"/>
            </a:xfrm>
            <a:prstGeom prst="ellipse">
              <a:avLst/>
            </a:prstGeom>
            <a:gradFill>
              <a:gsLst>
                <a:gs pos="0">
                  <a:srgbClr val="AA8000"/>
                </a:gs>
                <a:gs pos="48000">
                  <a:srgbClr val="FFC107"/>
                </a:gs>
                <a:gs pos="100000">
                  <a:srgbClr val="FFD966"/>
                </a:gs>
              </a:gsLst>
              <a:lin ang="16200000" scaled="0"/>
            </a:gradFill>
            <a:ln w="9525"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Calibri" panose="020F0502020204030204" pitchFamily="34" charset="0"/>
                <a:ea typeface="Times New Roman"/>
                <a:cs typeface="Calibri" panose="020F0502020204030204" pitchFamily="34" charset="0"/>
                <a:sym typeface="Times New Roman"/>
              </a:endParaRPr>
            </a:p>
          </p:txBody>
        </p:sp>
      </p:grpSp>
      <p:sp>
        <p:nvSpPr>
          <p:cNvPr id="191" name="Google Shape;191;p4"/>
          <p:cNvSpPr/>
          <p:nvPr/>
        </p:nvSpPr>
        <p:spPr>
          <a:xfrm>
            <a:off x="3587021" y="1858173"/>
            <a:ext cx="289982" cy="2303527"/>
          </a:xfrm>
          <a:prstGeom prst="rightArrowCallout">
            <a:avLst>
              <a:gd name="adj1" fmla="val 31474"/>
              <a:gd name="adj2" fmla="val 34044"/>
              <a:gd name="adj3" fmla="val 18226"/>
              <a:gd name="adj4" fmla="val 64977"/>
            </a:avLst>
          </a:prstGeom>
          <a:solidFill>
            <a:srgbClr val="00B1C2"/>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pitchFamily="34" charset="0"/>
              <a:ea typeface="Calibri"/>
              <a:cs typeface="Calibri" panose="020F0502020204030204" pitchFamily="34" charset="0"/>
              <a:sym typeface="Calibri"/>
            </a:endParaRPr>
          </a:p>
        </p:txBody>
      </p:sp>
      <p:sp>
        <p:nvSpPr>
          <p:cNvPr id="192" name="Google Shape;192;p4"/>
          <p:cNvSpPr txBox="1"/>
          <p:nvPr/>
        </p:nvSpPr>
        <p:spPr>
          <a:xfrm>
            <a:off x="3640679" y="4414923"/>
            <a:ext cx="1318677"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dirty="0">
                <a:solidFill>
                  <a:srgbClr val="000000"/>
                </a:solidFill>
                <a:latin typeface="Calibri" panose="020F0502020204030204" pitchFamily="34" charset="0"/>
                <a:ea typeface="Calibri"/>
                <a:cs typeface="Calibri" panose="020F0502020204030204" pitchFamily="34" charset="0"/>
                <a:sym typeface="Calibri"/>
              </a:rPr>
              <a:t>CREACIÓN, REFRESCO Y MANTENIMIENTO DEL DW</a:t>
            </a:r>
            <a:endParaRPr sz="1600" dirty="0">
              <a:latin typeface="Calibri" panose="020F0502020204030204" pitchFamily="34" charset="0"/>
              <a:cs typeface="Calibri" panose="020F0502020204030204" pitchFamily="34" charset="0"/>
            </a:endParaRPr>
          </a:p>
        </p:txBody>
      </p:sp>
      <p:sp>
        <p:nvSpPr>
          <p:cNvPr id="193" name="Google Shape;193;p4"/>
          <p:cNvSpPr/>
          <p:nvPr/>
        </p:nvSpPr>
        <p:spPr>
          <a:xfrm>
            <a:off x="515081" y="1367692"/>
            <a:ext cx="4492528" cy="3696677"/>
          </a:xfrm>
          <a:prstGeom prst="rect">
            <a:avLst/>
          </a:prstGeom>
          <a:noFill/>
          <a:ln w="31750" cap="flat" cmpd="sng">
            <a:solidFill>
              <a:srgbClr val="EE4639"/>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pitchFamily="34" charset="0"/>
              <a:ea typeface="Calibri"/>
              <a:cs typeface="Calibri" panose="020F0502020204030204" pitchFamily="34" charset="0"/>
              <a:sym typeface="Calibri"/>
            </a:endParaRPr>
          </a:p>
        </p:txBody>
      </p:sp>
      <p:sp>
        <p:nvSpPr>
          <p:cNvPr id="194" name="Google Shape;194;p4"/>
          <p:cNvSpPr/>
          <p:nvPr/>
        </p:nvSpPr>
        <p:spPr>
          <a:xfrm>
            <a:off x="2110105" y="1474470"/>
            <a:ext cx="2875567" cy="374357"/>
          </a:xfrm>
          <a:prstGeom prst="leftRightArrow">
            <a:avLst>
              <a:gd name="adj1" fmla="val 50000"/>
              <a:gd name="adj2" fmla="val 50000"/>
            </a:avLst>
          </a:prstGeom>
          <a:solidFill>
            <a:srgbClr val="EE4639"/>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bg1"/>
                </a:solidFill>
                <a:latin typeface="Calibri" panose="020F0502020204030204" pitchFamily="34" charset="0"/>
                <a:ea typeface="Calibri"/>
                <a:cs typeface="Calibri" panose="020F0502020204030204" pitchFamily="34" charset="0"/>
                <a:sym typeface="Calibri"/>
              </a:rPr>
              <a:t>Staging area</a:t>
            </a:r>
            <a:endParaRPr sz="1400">
              <a:solidFill>
                <a:schemeClr val="bg1"/>
              </a:solidFill>
              <a:latin typeface="Calibri" panose="020F0502020204030204" pitchFamily="34" charset="0"/>
              <a:ea typeface="Calibri"/>
              <a:cs typeface="Calibri" panose="020F0502020204030204" pitchFamily="34" charset="0"/>
              <a:sym typeface="Calibri"/>
            </a:endParaRPr>
          </a:p>
        </p:txBody>
      </p:sp>
      <p:sp>
        <p:nvSpPr>
          <p:cNvPr id="2" name="Rectangle 5">
            <a:extLst>
              <a:ext uri="{FF2B5EF4-FFF2-40B4-BE49-F238E27FC236}">
                <a16:creationId xmlns:a16="http://schemas.microsoft.com/office/drawing/2014/main" id="{534042E5-C5E7-1A3C-1FF4-AD50761E437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ESCENARIOS DE OPERACIONES ETL</a:t>
            </a:r>
            <a:r>
              <a:rPr lang="es-PE" sz="1000" dirty="0">
                <a:solidFill>
                  <a:schemeClr val="bg1">
                    <a:lumMod val="65000"/>
                  </a:schemeClr>
                </a:solidFill>
                <a:latin typeface="Calibri" charset="0"/>
                <a:cs typeface="Calibri" charset="0"/>
              </a:rPr>
              <a:t> </a:t>
            </a:r>
          </a:p>
        </p:txBody>
      </p:sp>
      <p:pic>
        <p:nvPicPr>
          <p:cNvPr id="3" name="Imagen 2">
            <a:extLst>
              <a:ext uri="{FF2B5EF4-FFF2-40B4-BE49-F238E27FC236}">
                <a16:creationId xmlns:a16="http://schemas.microsoft.com/office/drawing/2014/main" id="{514E193C-AC79-519C-776E-F542A7DBB39A}"/>
              </a:ext>
            </a:extLst>
          </p:cNvPr>
          <p:cNvPicPr>
            <a:picLocks noChangeAspect="1"/>
          </p:cNvPicPr>
          <p:nvPr/>
        </p:nvPicPr>
        <p:blipFill>
          <a:blip r:embed="rId8"/>
          <a:stretch>
            <a:fillRect/>
          </a:stretch>
        </p:blipFill>
        <p:spPr>
          <a:xfrm>
            <a:off x="7162162" y="2893508"/>
            <a:ext cx="636896" cy="636896"/>
          </a:xfrm>
          <a:prstGeom prst="rect">
            <a:avLst/>
          </a:prstGeom>
        </p:spPr>
      </p:pic>
      <p:pic>
        <p:nvPicPr>
          <p:cNvPr id="4" name="Imagen 3">
            <a:extLst>
              <a:ext uri="{FF2B5EF4-FFF2-40B4-BE49-F238E27FC236}">
                <a16:creationId xmlns:a16="http://schemas.microsoft.com/office/drawing/2014/main" id="{3D19BD5A-3405-91AE-F594-348ED6BCF108}"/>
              </a:ext>
            </a:extLst>
          </p:cNvPr>
          <p:cNvPicPr>
            <a:picLocks noChangeAspect="1"/>
          </p:cNvPicPr>
          <p:nvPr/>
        </p:nvPicPr>
        <p:blipFill>
          <a:blip r:embed="rId9"/>
          <a:stretch>
            <a:fillRect/>
          </a:stretch>
        </p:blipFill>
        <p:spPr>
          <a:xfrm>
            <a:off x="7288932" y="3820067"/>
            <a:ext cx="543114" cy="543114"/>
          </a:xfrm>
          <a:prstGeom prst="rect">
            <a:avLst/>
          </a:prstGeom>
        </p:spPr>
      </p:pic>
      <p:pic>
        <p:nvPicPr>
          <p:cNvPr id="5" name="Imagen 4">
            <a:extLst>
              <a:ext uri="{FF2B5EF4-FFF2-40B4-BE49-F238E27FC236}">
                <a16:creationId xmlns:a16="http://schemas.microsoft.com/office/drawing/2014/main" id="{8E921BE5-8AF4-EC17-EEFD-1DB82CE29CD5}"/>
              </a:ext>
            </a:extLst>
          </p:cNvPr>
          <p:cNvPicPr>
            <a:picLocks noChangeAspect="1"/>
          </p:cNvPicPr>
          <p:nvPr/>
        </p:nvPicPr>
        <p:blipFill>
          <a:blip r:embed="rId10"/>
          <a:stretch>
            <a:fillRect/>
          </a:stretch>
        </p:blipFill>
        <p:spPr>
          <a:xfrm>
            <a:off x="7710407" y="2028639"/>
            <a:ext cx="613373" cy="613373"/>
          </a:xfrm>
          <a:prstGeom prst="rect">
            <a:avLst/>
          </a:prstGeom>
        </p:spPr>
      </p:pic>
      <p:sp>
        <p:nvSpPr>
          <p:cNvPr id="6" name="Rectángulo redondeado 5">
            <a:extLst>
              <a:ext uri="{FF2B5EF4-FFF2-40B4-BE49-F238E27FC236}">
                <a16:creationId xmlns:a16="http://schemas.microsoft.com/office/drawing/2014/main" id="{F4497EC8-AF7E-73F3-04ED-C08579DF8B60}"/>
              </a:ext>
            </a:extLst>
          </p:cNvPr>
          <p:cNvSpPr/>
          <p:nvPr/>
        </p:nvSpPr>
        <p:spPr>
          <a:xfrm>
            <a:off x="503238" y="917127"/>
            <a:ext cx="3887151" cy="308024"/>
          </a:xfrm>
          <a:prstGeom prst="roundRect">
            <a:avLst/>
          </a:prstGeom>
          <a:solidFill>
            <a:srgbClr val="714E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rtl="0">
              <a:spcBef>
                <a:spcPts val="0"/>
              </a:spcBef>
              <a:spcAft>
                <a:spcPts val="0"/>
              </a:spcAft>
              <a:buNone/>
            </a:pPr>
            <a:r>
              <a:rPr lang="es-PE" sz="1200" b="1" dirty="0">
                <a:solidFill>
                  <a:schemeClr val="lt1"/>
                </a:solidFill>
                <a:latin typeface="Calibri"/>
                <a:ea typeface="Calibri"/>
                <a:cs typeface="Calibri"/>
                <a:sym typeface="Calibri"/>
              </a:rPr>
              <a:t>SISTEMAS TRANSACCIONALES U OPERACIONALES</a:t>
            </a:r>
            <a:endParaRPr lang="es-PE" sz="1200" dirty="0"/>
          </a:p>
        </p:txBody>
      </p:sp>
      <p:grpSp>
        <p:nvGrpSpPr>
          <p:cNvPr id="7" name="Grupo 6">
            <a:extLst>
              <a:ext uri="{FF2B5EF4-FFF2-40B4-BE49-F238E27FC236}">
                <a16:creationId xmlns:a16="http://schemas.microsoft.com/office/drawing/2014/main" id="{74C6060C-1CFC-CFA5-DB1D-B899FB7C6C2C}"/>
              </a:ext>
            </a:extLst>
          </p:cNvPr>
          <p:cNvGrpSpPr/>
          <p:nvPr/>
        </p:nvGrpSpPr>
        <p:grpSpPr>
          <a:xfrm>
            <a:off x="387487" y="959208"/>
            <a:ext cx="251235" cy="220806"/>
            <a:chOff x="301599" y="2767061"/>
            <a:chExt cx="459474" cy="403823"/>
          </a:xfrm>
        </p:grpSpPr>
        <p:sp>
          <p:nvSpPr>
            <p:cNvPr id="8" name="Elipse 7">
              <a:extLst>
                <a:ext uri="{FF2B5EF4-FFF2-40B4-BE49-F238E27FC236}">
                  <a16:creationId xmlns:a16="http://schemas.microsoft.com/office/drawing/2014/main" id="{A7713BF1-0CAA-82FE-0285-BC3AEFA310FC}"/>
                </a:ext>
              </a:extLst>
            </p:cNvPr>
            <p:cNvSpPr/>
            <p:nvPr/>
          </p:nvSpPr>
          <p:spPr>
            <a:xfrm>
              <a:off x="365364" y="2780935"/>
              <a:ext cx="395709" cy="376075"/>
            </a:xfrm>
            <a:prstGeom prst="ellipse">
              <a:avLst/>
            </a:prstGeom>
            <a:solidFill>
              <a:srgbClr val="5E4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a:p>
          </p:txBody>
        </p:sp>
        <p:sp>
          <p:nvSpPr>
            <p:cNvPr id="9" name="Elipse 8">
              <a:extLst>
                <a:ext uri="{FF2B5EF4-FFF2-40B4-BE49-F238E27FC236}">
                  <a16:creationId xmlns:a16="http://schemas.microsoft.com/office/drawing/2014/main" id="{8CB21A30-DF69-7B46-19B1-69F1FAED1BEF}"/>
                </a:ext>
              </a:extLst>
            </p:cNvPr>
            <p:cNvSpPr/>
            <p:nvPr/>
          </p:nvSpPr>
          <p:spPr>
            <a:xfrm>
              <a:off x="301599" y="276706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a:p>
          </p:txBody>
        </p:sp>
        <p:sp>
          <p:nvSpPr>
            <p:cNvPr id="10" name="Triángulo 9">
              <a:extLst>
                <a:ext uri="{FF2B5EF4-FFF2-40B4-BE49-F238E27FC236}">
                  <a16:creationId xmlns:a16="http://schemas.microsoft.com/office/drawing/2014/main" id="{20318C29-801B-3493-1493-DE80C9BAE377}"/>
                </a:ext>
              </a:extLst>
            </p:cNvPr>
            <p:cNvSpPr/>
            <p:nvPr/>
          </p:nvSpPr>
          <p:spPr>
            <a:xfrm rot="5400000">
              <a:off x="485372" y="2907782"/>
              <a:ext cx="186870" cy="122381"/>
            </a:xfrm>
            <a:prstGeom prst="triangle">
              <a:avLst/>
            </a:prstGeom>
            <a:solidFill>
              <a:srgbClr val="714F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a:p>
          </p:txBody>
        </p:sp>
      </p:grpSp>
      <p:sp>
        <p:nvSpPr>
          <p:cNvPr id="11" name="Rectángulo redondeado 10">
            <a:extLst>
              <a:ext uri="{FF2B5EF4-FFF2-40B4-BE49-F238E27FC236}">
                <a16:creationId xmlns:a16="http://schemas.microsoft.com/office/drawing/2014/main" id="{BF6F0898-F95A-5EFD-0CA4-54161F1170B6}"/>
              </a:ext>
            </a:extLst>
          </p:cNvPr>
          <p:cNvSpPr/>
          <p:nvPr/>
        </p:nvSpPr>
        <p:spPr>
          <a:xfrm>
            <a:off x="4755567" y="917127"/>
            <a:ext cx="3887151" cy="308024"/>
          </a:xfrm>
          <a:prstGeom prst="roundRect">
            <a:avLst/>
          </a:prstGeom>
          <a:solidFill>
            <a:srgbClr val="714E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rtl="0">
              <a:spcBef>
                <a:spcPts val="0"/>
              </a:spcBef>
              <a:spcAft>
                <a:spcPts val="0"/>
              </a:spcAft>
              <a:buNone/>
            </a:pPr>
            <a:r>
              <a:rPr lang="es-PE" sz="1200" b="1" dirty="0">
                <a:solidFill>
                  <a:schemeClr val="lt1"/>
                </a:solidFill>
                <a:latin typeface="Calibri"/>
                <a:ea typeface="Calibri"/>
                <a:cs typeface="Calibri"/>
                <a:sym typeface="Calibri"/>
              </a:rPr>
              <a:t>SISTEMAS DE ANÁLISIS DE DATOS</a:t>
            </a:r>
            <a:endParaRPr lang="es-PE" sz="1200" dirty="0"/>
          </a:p>
        </p:txBody>
      </p:sp>
      <p:grpSp>
        <p:nvGrpSpPr>
          <p:cNvPr id="12" name="Grupo 11">
            <a:extLst>
              <a:ext uri="{FF2B5EF4-FFF2-40B4-BE49-F238E27FC236}">
                <a16:creationId xmlns:a16="http://schemas.microsoft.com/office/drawing/2014/main" id="{8C7CE4DF-5929-1D64-F2F1-03837C3FD557}"/>
              </a:ext>
            </a:extLst>
          </p:cNvPr>
          <p:cNvGrpSpPr/>
          <p:nvPr/>
        </p:nvGrpSpPr>
        <p:grpSpPr>
          <a:xfrm>
            <a:off x="4639816" y="959208"/>
            <a:ext cx="251235" cy="220806"/>
            <a:chOff x="301599" y="2767061"/>
            <a:chExt cx="459474" cy="403823"/>
          </a:xfrm>
        </p:grpSpPr>
        <p:sp>
          <p:nvSpPr>
            <p:cNvPr id="13" name="Elipse 12">
              <a:extLst>
                <a:ext uri="{FF2B5EF4-FFF2-40B4-BE49-F238E27FC236}">
                  <a16:creationId xmlns:a16="http://schemas.microsoft.com/office/drawing/2014/main" id="{3B5FD76E-EBFA-2809-8E7B-F9C27FC12628}"/>
                </a:ext>
              </a:extLst>
            </p:cNvPr>
            <p:cNvSpPr/>
            <p:nvPr/>
          </p:nvSpPr>
          <p:spPr>
            <a:xfrm>
              <a:off x="365364" y="2780935"/>
              <a:ext cx="395709" cy="376075"/>
            </a:xfrm>
            <a:prstGeom prst="ellipse">
              <a:avLst/>
            </a:prstGeom>
            <a:solidFill>
              <a:srgbClr val="5E4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a:p>
          </p:txBody>
        </p:sp>
        <p:sp>
          <p:nvSpPr>
            <p:cNvPr id="14" name="Elipse 13">
              <a:extLst>
                <a:ext uri="{FF2B5EF4-FFF2-40B4-BE49-F238E27FC236}">
                  <a16:creationId xmlns:a16="http://schemas.microsoft.com/office/drawing/2014/main" id="{25C69578-E039-D7CB-0DCC-33277906B647}"/>
                </a:ext>
              </a:extLst>
            </p:cNvPr>
            <p:cNvSpPr/>
            <p:nvPr/>
          </p:nvSpPr>
          <p:spPr>
            <a:xfrm>
              <a:off x="301599" y="276706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a:p>
          </p:txBody>
        </p:sp>
        <p:sp>
          <p:nvSpPr>
            <p:cNvPr id="15" name="Triángulo 14">
              <a:extLst>
                <a:ext uri="{FF2B5EF4-FFF2-40B4-BE49-F238E27FC236}">
                  <a16:creationId xmlns:a16="http://schemas.microsoft.com/office/drawing/2014/main" id="{52A52485-4226-8AF6-3B5E-223CE4B37771}"/>
                </a:ext>
              </a:extLst>
            </p:cNvPr>
            <p:cNvSpPr/>
            <p:nvPr/>
          </p:nvSpPr>
          <p:spPr>
            <a:xfrm rot="5400000">
              <a:off x="485372" y="2907782"/>
              <a:ext cx="186870" cy="122381"/>
            </a:xfrm>
            <a:prstGeom prst="triangle">
              <a:avLst/>
            </a:prstGeom>
            <a:solidFill>
              <a:srgbClr val="714F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387798"/>
          </a:xfrm>
          <a:prstGeom prst="rect">
            <a:avLst/>
          </a:prstGeom>
          <a:noFill/>
        </p:spPr>
        <p:txBody>
          <a:bodyPr wrap="square" lIns="0" tIns="0" rIns="0" bIns="0" rtlCol="0">
            <a:spAutoFit/>
          </a:bodyPr>
          <a:lstStyle/>
          <a:p>
            <a:pPr>
              <a:lnSpc>
                <a:spcPct val="90000"/>
              </a:lnSpc>
              <a:spcBef>
                <a:spcPts val="1000"/>
              </a:spcBef>
              <a:defRPr/>
            </a:pPr>
            <a:r>
              <a:rPr lang="en-US" sz="2800" b="1" dirty="0">
                <a:solidFill>
                  <a:schemeClr val="bg1"/>
                </a:solidFill>
                <a:latin typeface="Graphik Bold" panose="020B0503030202060203" pitchFamily="34" charset="77"/>
                <a:sym typeface="Calibri"/>
              </a:rPr>
              <a:t>EXTRACCIÓN DE DATOS</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4119141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8" name="Google Shape;208;p6"/>
          <p:cNvSpPr txBox="1"/>
          <p:nvPr/>
        </p:nvSpPr>
        <p:spPr>
          <a:xfrm>
            <a:off x="506494" y="912813"/>
            <a:ext cx="7676214" cy="4262705"/>
          </a:xfrm>
          <a:prstGeom prst="rect">
            <a:avLst/>
          </a:prstGeom>
          <a:noFill/>
          <a:ln>
            <a:noFill/>
          </a:ln>
        </p:spPr>
        <p:txBody>
          <a:bodyPr spcFirstLastPara="1" wrap="square" lIns="0" tIns="0" rIns="0" bIns="0" anchor="t" anchorCtr="0">
            <a:spAutoFit/>
          </a:bodyPr>
          <a:lstStyle/>
          <a:p>
            <a:pPr marL="11724">
              <a:spcAft>
                <a:spcPts val="600"/>
              </a:spcAft>
              <a:buClr>
                <a:srgbClr val="262626"/>
              </a:buClr>
              <a:buSzPts val="1600"/>
            </a:pPr>
            <a:r>
              <a:rPr lang="es-ES_tradnl" sz="1600" b="1" dirty="0">
                <a:solidFill>
                  <a:schemeClr val="dk1"/>
                </a:solidFill>
                <a:latin typeface="Calibri" panose="020F0502020204030204" pitchFamily="34" charset="0"/>
                <a:ea typeface="Calibri"/>
                <a:cs typeface="Calibri" panose="020F0502020204030204" pitchFamily="34" charset="0"/>
                <a:sym typeface="Calibri"/>
              </a:rPr>
              <a:t>VALIDACIÓN PREVIA</a:t>
            </a:r>
          </a:p>
          <a:p>
            <a:pPr marL="179998" marR="0" lvl="0" indent="-168274" rtl="0">
              <a:spcBef>
                <a:spcPts val="0"/>
              </a:spcBef>
              <a:spcAft>
                <a:spcPts val="0"/>
              </a:spcAft>
              <a:buClr>
                <a:srgbClr val="262626"/>
              </a:buClr>
              <a:buSzPts val="1600"/>
              <a:buFont typeface="Arial"/>
              <a:buChar char="•"/>
            </a:pPr>
            <a:r>
              <a:rPr lang="es-ES_tradnl" sz="1600" dirty="0">
                <a:solidFill>
                  <a:srgbClr val="262626"/>
                </a:solidFill>
                <a:latin typeface="Calibri" panose="020F0502020204030204" pitchFamily="34" charset="0"/>
                <a:ea typeface="Calibri"/>
                <a:cs typeface="Calibri" panose="020F0502020204030204" pitchFamily="34" charset="0"/>
                <a:sym typeface="Calibri"/>
              </a:rPr>
              <a:t>El objetivo de la validación previa de los datos es garantizar que los datos a extraer desde el origen y que serán enviados al destino tengan la calidad deseada en cuanto a precisión, consistencia y confiabilidad evitando posibles problemas y errores que se pudieran producir durante las fases de transformación y carga.</a:t>
            </a:r>
            <a:endParaRPr lang="es-ES_tradnl" sz="1600" dirty="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dirty="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dirty="0">
                <a:solidFill>
                  <a:srgbClr val="262626"/>
                </a:solidFill>
                <a:latin typeface="Calibri" panose="020F0502020204030204" pitchFamily="34" charset="0"/>
                <a:ea typeface="Calibri"/>
                <a:cs typeface="Calibri" panose="020F0502020204030204" pitchFamily="34" charset="0"/>
                <a:sym typeface="Calibri"/>
              </a:rPr>
              <a:t>Validar el esquema de los datos de origen garantiza que estos coincidan con el esquema del destino de los datos.</a:t>
            </a:r>
            <a:endParaRPr lang="es-ES_tradnl" sz="1600" dirty="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dirty="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dirty="0">
                <a:solidFill>
                  <a:srgbClr val="262626"/>
                </a:solidFill>
                <a:latin typeface="Calibri" panose="020F0502020204030204" pitchFamily="34" charset="0"/>
                <a:ea typeface="Calibri"/>
                <a:cs typeface="Calibri" panose="020F0502020204030204" pitchFamily="34" charset="0"/>
                <a:sym typeface="Calibri"/>
              </a:rPr>
              <a:t>Validar el formato de los datos de origen permite estandarizarlos evitando problemas con los tipos de datos del destino.</a:t>
            </a:r>
            <a:endParaRPr lang="es-ES_tradnl" sz="1600" dirty="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dirty="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dirty="0">
                <a:solidFill>
                  <a:srgbClr val="262626"/>
                </a:solidFill>
                <a:latin typeface="Calibri" panose="020F0502020204030204" pitchFamily="34" charset="0"/>
                <a:ea typeface="Calibri"/>
                <a:cs typeface="Calibri" panose="020F0502020204030204" pitchFamily="34" charset="0"/>
                <a:sym typeface="Calibri"/>
              </a:rPr>
              <a:t>Validar los valores de los datos de origen permite detectar y corregir valores atípicos, valores no disponibles, duplicados e incoherencias.</a:t>
            </a:r>
            <a:endParaRPr lang="es-ES_tradnl" sz="1600" dirty="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dirty="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dirty="0">
                <a:solidFill>
                  <a:srgbClr val="262626"/>
                </a:solidFill>
                <a:latin typeface="Calibri" panose="020F0502020204030204" pitchFamily="34" charset="0"/>
                <a:ea typeface="Calibri"/>
                <a:cs typeface="Calibri" panose="020F0502020204030204" pitchFamily="34" charset="0"/>
                <a:sym typeface="Calibri"/>
              </a:rPr>
              <a:t>Validar la integridad de los datos de origen permite establecer la confiabilidad y precisión de los datos.</a:t>
            </a:r>
            <a:endParaRPr lang="es-ES_tradnl" sz="1600" dirty="0">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3411B9A5-C108-61BB-8A44-99F1EB2BCF7C}"/>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EXTRACCIÓN DE DATOS</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5" name="Google Shape;215;p7"/>
          <p:cNvSpPr/>
          <p:nvPr/>
        </p:nvSpPr>
        <p:spPr>
          <a:xfrm>
            <a:off x="3650121" y="2240114"/>
            <a:ext cx="1752600" cy="777935"/>
          </a:xfrm>
          <a:prstGeom prst="roundRect">
            <a:avLst>
              <a:gd name="adj" fmla="val 11539"/>
            </a:avLst>
          </a:prstGeom>
          <a:solidFill>
            <a:srgbClr val="FFFFFF"/>
          </a:solidFill>
          <a:ln w="12700" cap="flat" cmpd="sng">
            <a:solidFill>
              <a:srgbClr val="EE4639"/>
            </a:solid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s-ES_tradnl" sz="1400" b="1" dirty="0">
                <a:solidFill>
                  <a:schemeClr val="dk1"/>
                </a:solidFill>
                <a:latin typeface="Calibri" panose="020F0502020204030204" pitchFamily="34" charset="0"/>
                <a:ea typeface="Quattrocento Sans"/>
                <a:cs typeface="Calibri" panose="020F0502020204030204" pitchFamily="34" charset="0"/>
                <a:sym typeface="Quattrocento Sans"/>
              </a:rPr>
              <a:t>Aplicación de</a:t>
            </a:r>
            <a:endParaRPr lang="es-ES_tradnl" sz="1400" dirty="0">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s-ES_tradnl" sz="1400" b="1" dirty="0">
                <a:solidFill>
                  <a:schemeClr val="dk1"/>
                </a:solidFill>
                <a:latin typeface="Calibri" panose="020F0502020204030204" pitchFamily="34" charset="0"/>
                <a:ea typeface="Quattrocento Sans"/>
                <a:cs typeface="Calibri" panose="020F0502020204030204" pitchFamily="34" charset="0"/>
                <a:sym typeface="Quattrocento Sans"/>
              </a:rPr>
              <a:t>extracción de</a:t>
            </a:r>
            <a:r>
              <a:rPr lang="es-ES_tradnl" sz="1400" dirty="0">
                <a:latin typeface="Calibri" panose="020F0502020204030204" pitchFamily="34" charset="0"/>
                <a:cs typeface="Calibri" panose="020F0502020204030204" pitchFamily="34" charset="0"/>
                <a:sym typeface="Quattrocento Sans"/>
              </a:rPr>
              <a:t> </a:t>
            </a:r>
            <a:r>
              <a:rPr lang="es-ES_tradnl" sz="1400" b="1" dirty="0">
                <a:solidFill>
                  <a:schemeClr val="dk1"/>
                </a:solidFill>
                <a:latin typeface="Calibri" panose="020F0502020204030204" pitchFamily="34" charset="0"/>
                <a:ea typeface="Quattrocento Sans"/>
                <a:cs typeface="Calibri" panose="020F0502020204030204" pitchFamily="34" charset="0"/>
                <a:sym typeface="Quattrocento Sans"/>
              </a:rPr>
              <a:t>datos</a:t>
            </a:r>
          </a:p>
        </p:txBody>
      </p:sp>
      <p:sp>
        <p:nvSpPr>
          <p:cNvPr id="216" name="Google Shape;216;p7"/>
          <p:cNvSpPr txBox="1"/>
          <p:nvPr/>
        </p:nvSpPr>
        <p:spPr>
          <a:xfrm>
            <a:off x="1265870" y="2422775"/>
            <a:ext cx="1067408" cy="30777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400" dirty="0">
                <a:solidFill>
                  <a:schemeClr val="dk1"/>
                </a:solidFill>
                <a:latin typeface="Calibri" panose="020F0502020204030204" pitchFamily="34" charset="0"/>
                <a:ea typeface="Quattrocento Sans"/>
                <a:cs typeface="Calibri" panose="020F0502020204030204" pitchFamily="34" charset="0"/>
                <a:sym typeface="Quattrocento Sans"/>
              </a:rPr>
              <a:t>Data OLTP</a:t>
            </a:r>
            <a:endParaRPr sz="1400" dirty="0">
              <a:latin typeface="Calibri" panose="020F0502020204030204" pitchFamily="34" charset="0"/>
              <a:cs typeface="Calibri" panose="020F0502020204030204" pitchFamily="34" charset="0"/>
            </a:endParaRPr>
          </a:p>
        </p:txBody>
      </p:sp>
      <p:sp>
        <p:nvSpPr>
          <p:cNvPr id="217" name="Google Shape;217;p7"/>
          <p:cNvSpPr txBox="1"/>
          <p:nvPr/>
        </p:nvSpPr>
        <p:spPr>
          <a:xfrm>
            <a:off x="6863221" y="2345216"/>
            <a:ext cx="1093313"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dirty="0">
                <a:solidFill>
                  <a:schemeClr val="dk1"/>
                </a:solidFill>
                <a:latin typeface="Calibri" panose="020F0502020204030204" pitchFamily="34" charset="0"/>
                <a:ea typeface="Quattrocento Sans"/>
                <a:cs typeface="Calibri" panose="020F0502020204030204" pitchFamily="34" charset="0"/>
                <a:sym typeface="Quattrocento Sans"/>
              </a:rPr>
              <a:t>Data</a:t>
            </a:r>
            <a:endParaRPr sz="1400" dirty="0">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400" dirty="0">
                <a:solidFill>
                  <a:schemeClr val="dk1"/>
                </a:solidFill>
                <a:latin typeface="Calibri" panose="020F0502020204030204" pitchFamily="34" charset="0"/>
                <a:ea typeface="Quattrocento Sans"/>
                <a:cs typeface="Calibri" panose="020F0502020204030204" pitchFamily="34" charset="0"/>
                <a:sym typeface="Quattrocento Sans"/>
              </a:rPr>
              <a:t>Warehouse</a:t>
            </a:r>
            <a:endParaRPr sz="1400" dirty="0">
              <a:latin typeface="Calibri" panose="020F0502020204030204" pitchFamily="34" charset="0"/>
              <a:cs typeface="Calibri" panose="020F0502020204030204" pitchFamily="34" charset="0"/>
            </a:endParaRPr>
          </a:p>
        </p:txBody>
      </p:sp>
      <p:grpSp>
        <p:nvGrpSpPr>
          <p:cNvPr id="218" name="Google Shape;218;p7"/>
          <p:cNvGrpSpPr/>
          <p:nvPr/>
        </p:nvGrpSpPr>
        <p:grpSpPr>
          <a:xfrm>
            <a:off x="4259721" y="1478114"/>
            <a:ext cx="452438" cy="300038"/>
            <a:chOff x="528" y="3120"/>
            <a:chExt cx="333" cy="285"/>
          </a:xfrm>
        </p:grpSpPr>
        <p:sp>
          <p:nvSpPr>
            <p:cNvPr id="219" name="Google Shape;219;p7"/>
            <p:cNvSpPr/>
            <p:nvPr/>
          </p:nvSpPr>
          <p:spPr>
            <a:xfrm>
              <a:off x="528" y="3120"/>
              <a:ext cx="331" cy="93"/>
            </a:xfrm>
            <a:prstGeom prst="ellipse">
              <a:avLst/>
            </a:prstGeom>
            <a:gradFill>
              <a:gsLst>
                <a:gs pos="0">
                  <a:srgbClr val="631900"/>
                </a:gs>
                <a:gs pos="50000">
                  <a:srgbClr val="CC3300"/>
                </a:gs>
                <a:gs pos="100000">
                  <a:srgbClr val="631900"/>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7"/>
            <p:cNvSpPr/>
            <p:nvPr/>
          </p:nvSpPr>
          <p:spPr>
            <a:xfrm>
              <a:off x="528" y="3168"/>
              <a:ext cx="333" cy="193"/>
            </a:xfrm>
            <a:custGeom>
              <a:avLst/>
              <a:gdLst/>
              <a:ahLst/>
              <a:cxnLst/>
              <a:rect l="l" t="t" r="r" b="b"/>
              <a:pathLst>
                <a:path w="333" h="193" extrusionOk="0">
                  <a:moveTo>
                    <a:pt x="0" y="0"/>
                  </a:moveTo>
                  <a:lnTo>
                    <a:pt x="0" y="192"/>
                  </a:lnTo>
                  <a:lnTo>
                    <a:pt x="332" y="192"/>
                  </a:lnTo>
                  <a:lnTo>
                    <a:pt x="332" y="0"/>
                  </a:lnTo>
                  <a:lnTo>
                    <a:pt x="0" y="0"/>
                  </a:lnTo>
                </a:path>
              </a:pathLst>
            </a:custGeom>
            <a:gradFill>
              <a:gsLst>
                <a:gs pos="0">
                  <a:srgbClr val="631900"/>
                </a:gs>
                <a:gs pos="50000">
                  <a:srgbClr val="CC3300"/>
                </a:gs>
                <a:gs pos="100000">
                  <a:srgbClr val="631900"/>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7"/>
            <p:cNvSpPr/>
            <p:nvPr/>
          </p:nvSpPr>
          <p:spPr>
            <a:xfrm>
              <a:off x="528" y="3312"/>
              <a:ext cx="331" cy="93"/>
            </a:xfrm>
            <a:prstGeom prst="ellipse">
              <a:avLst/>
            </a:prstGeom>
            <a:gradFill>
              <a:gsLst>
                <a:gs pos="0">
                  <a:srgbClr val="631900"/>
                </a:gs>
                <a:gs pos="50000">
                  <a:srgbClr val="CC3300"/>
                </a:gs>
                <a:gs pos="100000">
                  <a:srgbClr val="631900"/>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sp>
        <p:nvSpPr>
          <p:cNvPr id="222" name="Google Shape;222;p7"/>
          <p:cNvSpPr txBox="1"/>
          <p:nvPr/>
        </p:nvSpPr>
        <p:spPr>
          <a:xfrm>
            <a:off x="3852268" y="897416"/>
            <a:ext cx="1268296"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s-ES_tradnl" sz="1400">
                <a:solidFill>
                  <a:schemeClr val="dk1"/>
                </a:solidFill>
                <a:latin typeface="Calibri" panose="020F0502020204030204" pitchFamily="34" charset="0"/>
                <a:ea typeface="Quattrocento Sans"/>
                <a:cs typeface="Calibri" panose="020F0502020204030204" pitchFamily="34" charset="0"/>
                <a:sym typeface="Quattrocento Sans"/>
              </a:rPr>
              <a:t>Repositorio</a:t>
            </a:r>
          </a:p>
          <a:p>
            <a:pPr marL="0" marR="0" lvl="0" indent="0" algn="ctr" rtl="0">
              <a:spcBef>
                <a:spcPts val="0"/>
              </a:spcBef>
              <a:spcAft>
                <a:spcPts val="0"/>
              </a:spcAft>
              <a:buNone/>
            </a:pPr>
            <a:r>
              <a:rPr lang="es-ES_tradnl" sz="1400">
                <a:solidFill>
                  <a:schemeClr val="dk1"/>
                </a:solidFill>
                <a:latin typeface="Calibri" panose="020F0502020204030204" pitchFamily="34" charset="0"/>
                <a:ea typeface="Quattrocento Sans"/>
                <a:cs typeface="Calibri" panose="020F0502020204030204" pitchFamily="34" charset="0"/>
                <a:sym typeface="Quattrocento Sans"/>
              </a:rPr>
              <a:t>de metadatos</a:t>
            </a:r>
          </a:p>
        </p:txBody>
      </p:sp>
      <p:cxnSp>
        <p:nvCxnSpPr>
          <p:cNvPr id="223" name="Google Shape;223;p7"/>
          <p:cNvCxnSpPr/>
          <p:nvPr/>
        </p:nvCxnSpPr>
        <p:spPr>
          <a:xfrm rot="10800000">
            <a:off x="4412121" y="1859114"/>
            <a:ext cx="0" cy="304800"/>
          </a:xfrm>
          <a:prstGeom prst="straightConnector1">
            <a:avLst/>
          </a:prstGeom>
          <a:noFill/>
          <a:ln w="12700" cap="flat" cmpd="sng">
            <a:solidFill>
              <a:schemeClr val="dk1"/>
            </a:solidFill>
            <a:prstDash val="solid"/>
            <a:round/>
            <a:headEnd type="none" w="med" len="med"/>
            <a:tailEnd type="triangle" w="med" len="med"/>
          </a:ln>
        </p:spPr>
      </p:cxnSp>
      <p:cxnSp>
        <p:nvCxnSpPr>
          <p:cNvPr id="224" name="Google Shape;224;p7"/>
          <p:cNvCxnSpPr/>
          <p:nvPr/>
        </p:nvCxnSpPr>
        <p:spPr>
          <a:xfrm>
            <a:off x="4564521" y="1859114"/>
            <a:ext cx="0" cy="304800"/>
          </a:xfrm>
          <a:prstGeom prst="straightConnector1">
            <a:avLst/>
          </a:prstGeom>
          <a:noFill/>
          <a:ln w="12700" cap="flat" cmpd="sng">
            <a:solidFill>
              <a:schemeClr val="dk1"/>
            </a:solidFill>
            <a:prstDash val="solid"/>
            <a:round/>
            <a:headEnd type="none" w="med" len="med"/>
            <a:tailEnd type="triangle" w="med" len="med"/>
          </a:ln>
        </p:spPr>
      </p:cxnSp>
      <p:cxnSp>
        <p:nvCxnSpPr>
          <p:cNvPr id="225" name="Google Shape;225;p7"/>
          <p:cNvCxnSpPr/>
          <p:nvPr/>
        </p:nvCxnSpPr>
        <p:spPr>
          <a:xfrm>
            <a:off x="3040521" y="2621114"/>
            <a:ext cx="533400" cy="0"/>
          </a:xfrm>
          <a:prstGeom prst="straightConnector1">
            <a:avLst/>
          </a:prstGeom>
          <a:noFill/>
          <a:ln w="12700" cap="flat" cmpd="sng">
            <a:solidFill>
              <a:schemeClr val="dk1"/>
            </a:solidFill>
            <a:prstDash val="solid"/>
            <a:round/>
            <a:headEnd type="none" w="med" len="med"/>
            <a:tailEnd type="triangle" w="med" len="med"/>
          </a:ln>
        </p:spPr>
      </p:cxnSp>
      <p:cxnSp>
        <p:nvCxnSpPr>
          <p:cNvPr id="226" name="Google Shape;226;p7"/>
          <p:cNvCxnSpPr/>
          <p:nvPr/>
        </p:nvCxnSpPr>
        <p:spPr>
          <a:xfrm>
            <a:off x="5631321" y="2697314"/>
            <a:ext cx="381000" cy="0"/>
          </a:xfrm>
          <a:prstGeom prst="straightConnector1">
            <a:avLst/>
          </a:prstGeom>
          <a:noFill/>
          <a:ln w="12700" cap="flat" cmpd="sng">
            <a:solidFill>
              <a:schemeClr val="dk1"/>
            </a:solidFill>
            <a:prstDash val="solid"/>
            <a:round/>
            <a:headEnd type="none" w="med" len="med"/>
            <a:tailEnd type="triangle" w="med" len="med"/>
          </a:ln>
        </p:spPr>
      </p:cxnSp>
      <p:sp>
        <p:nvSpPr>
          <p:cNvPr id="227" name="Google Shape;227;p7"/>
          <p:cNvSpPr/>
          <p:nvPr/>
        </p:nvSpPr>
        <p:spPr>
          <a:xfrm>
            <a:off x="2659521" y="1630514"/>
            <a:ext cx="1600200" cy="609600"/>
          </a:xfrm>
          <a:custGeom>
            <a:avLst/>
            <a:gdLst/>
            <a:ahLst/>
            <a:cxnLst/>
            <a:rect l="l" t="t" r="r" b="b"/>
            <a:pathLst>
              <a:path w="1008" h="384" extrusionOk="0">
                <a:moveTo>
                  <a:pt x="0" y="384"/>
                </a:moveTo>
                <a:lnTo>
                  <a:pt x="0" y="0"/>
                </a:lnTo>
                <a:lnTo>
                  <a:pt x="1008" y="0"/>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7"/>
          <p:cNvSpPr/>
          <p:nvPr/>
        </p:nvSpPr>
        <p:spPr>
          <a:xfrm flipH="1">
            <a:off x="4716921" y="1630514"/>
            <a:ext cx="1828800" cy="609600"/>
          </a:xfrm>
          <a:custGeom>
            <a:avLst/>
            <a:gdLst/>
            <a:ahLst/>
            <a:cxnLst/>
            <a:rect l="l" t="t" r="r" b="b"/>
            <a:pathLst>
              <a:path w="1008" h="384" extrusionOk="0">
                <a:moveTo>
                  <a:pt x="0" y="384"/>
                </a:moveTo>
                <a:lnTo>
                  <a:pt x="0" y="0"/>
                </a:lnTo>
                <a:lnTo>
                  <a:pt x="1008" y="0"/>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229" name="Google Shape;229;p7"/>
          <p:cNvGrpSpPr/>
          <p:nvPr/>
        </p:nvGrpSpPr>
        <p:grpSpPr>
          <a:xfrm>
            <a:off x="2430921" y="3201096"/>
            <a:ext cx="609600" cy="914400"/>
            <a:chOff x="864" y="1104"/>
            <a:chExt cx="624" cy="864"/>
          </a:xfrm>
        </p:grpSpPr>
        <p:grpSp>
          <p:nvGrpSpPr>
            <p:cNvPr id="230" name="Google Shape;230;p7"/>
            <p:cNvGrpSpPr/>
            <p:nvPr/>
          </p:nvGrpSpPr>
          <p:grpSpPr>
            <a:xfrm>
              <a:off x="864" y="1104"/>
              <a:ext cx="624" cy="192"/>
              <a:chOff x="864" y="1104"/>
              <a:chExt cx="624" cy="192"/>
            </a:xfrm>
          </p:grpSpPr>
          <p:sp>
            <p:nvSpPr>
              <p:cNvPr id="231" name="Google Shape;231;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35" name="Google Shape;235;p7"/>
            <p:cNvGrpSpPr/>
            <p:nvPr/>
          </p:nvGrpSpPr>
          <p:grpSpPr>
            <a:xfrm>
              <a:off x="864" y="1248"/>
              <a:ext cx="624" cy="336"/>
              <a:chOff x="864" y="1248"/>
              <a:chExt cx="624" cy="528"/>
            </a:xfrm>
          </p:grpSpPr>
          <p:sp>
            <p:nvSpPr>
              <p:cNvPr id="236" name="Google Shape;236;p7"/>
              <p:cNvSpPr/>
              <p:nvPr/>
            </p:nvSpPr>
            <p:spPr>
              <a:xfrm>
                <a:off x="864" y="1248"/>
                <a:ext cx="624" cy="240"/>
              </a:xfrm>
              <a:custGeom>
                <a:avLst/>
                <a:gdLst/>
                <a:ahLst/>
                <a:cxnLst/>
                <a:rect l="l" t="t" r="r" b="b"/>
                <a:pathLst>
                  <a:path w="624" h="240" extrusionOk="0">
                    <a:moveTo>
                      <a:pt x="0" y="48"/>
                    </a:moveTo>
                    <a:lnTo>
                      <a:pt x="0" y="240"/>
                    </a:lnTo>
                    <a:lnTo>
                      <a:pt x="288" y="144"/>
                    </a:lnTo>
                    <a:lnTo>
                      <a:pt x="240" y="240"/>
                    </a:lnTo>
                    <a:lnTo>
                      <a:pt x="624" y="96"/>
                    </a:lnTo>
                    <a:lnTo>
                      <a:pt x="624" y="0"/>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7" name="Google Shape;237;p7"/>
              <p:cNvSpPr/>
              <p:nvPr/>
            </p:nvSpPr>
            <p:spPr>
              <a:xfrm rot="10800000">
                <a:off x="864" y="1536"/>
                <a:ext cx="624" cy="240"/>
              </a:xfrm>
              <a:custGeom>
                <a:avLst/>
                <a:gdLst/>
                <a:ahLst/>
                <a:cxnLst/>
                <a:rect l="l" t="t" r="r" b="b"/>
                <a:pathLst>
                  <a:path w="624" h="240" extrusionOk="0">
                    <a:moveTo>
                      <a:pt x="0" y="48"/>
                    </a:moveTo>
                    <a:lnTo>
                      <a:pt x="0" y="240"/>
                    </a:lnTo>
                    <a:lnTo>
                      <a:pt x="288" y="144"/>
                    </a:lnTo>
                    <a:lnTo>
                      <a:pt x="240" y="240"/>
                    </a:lnTo>
                    <a:lnTo>
                      <a:pt x="624" y="96"/>
                    </a:lnTo>
                    <a:lnTo>
                      <a:pt x="624" y="0"/>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38" name="Google Shape;238;p7"/>
            <p:cNvGrpSpPr/>
            <p:nvPr/>
          </p:nvGrpSpPr>
          <p:grpSpPr>
            <a:xfrm>
              <a:off x="864" y="1584"/>
              <a:ext cx="624" cy="192"/>
              <a:chOff x="864" y="1104"/>
              <a:chExt cx="624" cy="192"/>
            </a:xfrm>
          </p:grpSpPr>
          <p:sp>
            <p:nvSpPr>
              <p:cNvPr id="239" name="Google Shape;239;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40" name="Google Shape;240;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41" name="Google Shape;241;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43" name="Google Shape;243;p7"/>
            <p:cNvGrpSpPr/>
            <p:nvPr/>
          </p:nvGrpSpPr>
          <p:grpSpPr>
            <a:xfrm>
              <a:off x="864" y="1776"/>
              <a:ext cx="624" cy="192"/>
              <a:chOff x="864" y="1104"/>
              <a:chExt cx="624" cy="192"/>
            </a:xfrm>
          </p:grpSpPr>
          <p:sp>
            <p:nvSpPr>
              <p:cNvPr id="244" name="Google Shape;244;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46" name="Google Shape;246;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47" name="Google Shape;247;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248" name="Google Shape;248;p7"/>
          <p:cNvGrpSpPr/>
          <p:nvPr/>
        </p:nvGrpSpPr>
        <p:grpSpPr>
          <a:xfrm>
            <a:off x="5936121" y="3201096"/>
            <a:ext cx="1219200" cy="914400"/>
            <a:chOff x="4032" y="3024"/>
            <a:chExt cx="768" cy="576"/>
          </a:xfrm>
        </p:grpSpPr>
        <p:grpSp>
          <p:nvGrpSpPr>
            <p:cNvPr id="249" name="Google Shape;249;p7"/>
            <p:cNvGrpSpPr/>
            <p:nvPr/>
          </p:nvGrpSpPr>
          <p:grpSpPr>
            <a:xfrm>
              <a:off x="4032" y="3024"/>
              <a:ext cx="384" cy="128"/>
              <a:chOff x="864" y="1104"/>
              <a:chExt cx="624" cy="192"/>
            </a:xfrm>
          </p:grpSpPr>
          <p:sp>
            <p:nvSpPr>
              <p:cNvPr id="250" name="Google Shape;250;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51" name="Google Shape;251;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52" name="Google Shape;252;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53" name="Google Shape;253;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54" name="Google Shape;254;p7"/>
            <p:cNvGrpSpPr/>
            <p:nvPr/>
          </p:nvGrpSpPr>
          <p:grpSpPr>
            <a:xfrm>
              <a:off x="4032" y="3120"/>
              <a:ext cx="768" cy="224"/>
              <a:chOff x="864" y="1248"/>
              <a:chExt cx="624" cy="528"/>
            </a:xfrm>
          </p:grpSpPr>
          <p:sp>
            <p:nvSpPr>
              <p:cNvPr id="255" name="Google Shape;255;p7"/>
              <p:cNvSpPr/>
              <p:nvPr/>
            </p:nvSpPr>
            <p:spPr>
              <a:xfrm>
                <a:off x="864" y="1248"/>
                <a:ext cx="624" cy="240"/>
              </a:xfrm>
              <a:custGeom>
                <a:avLst/>
                <a:gdLst/>
                <a:ahLst/>
                <a:cxnLst/>
                <a:rect l="l" t="t" r="r" b="b"/>
                <a:pathLst>
                  <a:path w="624" h="240" extrusionOk="0">
                    <a:moveTo>
                      <a:pt x="0" y="48"/>
                    </a:moveTo>
                    <a:lnTo>
                      <a:pt x="0" y="240"/>
                    </a:lnTo>
                    <a:lnTo>
                      <a:pt x="288" y="144"/>
                    </a:lnTo>
                    <a:lnTo>
                      <a:pt x="240" y="240"/>
                    </a:lnTo>
                    <a:lnTo>
                      <a:pt x="624" y="96"/>
                    </a:lnTo>
                    <a:lnTo>
                      <a:pt x="624" y="0"/>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256;p7"/>
              <p:cNvSpPr/>
              <p:nvPr/>
            </p:nvSpPr>
            <p:spPr>
              <a:xfrm rot="10800000">
                <a:off x="864" y="1536"/>
                <a:ext cx="624" cy="240"/>
              </a:xfrm>
              <a:custGeom>
                <a:avLst/>
                <a:gdLst/>
                <a:ahLst/>
                <a:cxnLst/>
                <a:rect l="l" t="t" r="r" b="b"/>
                <a:pathLst>
                  <a:path w="624" h="240" extrusionOk="0">
                    <a:moveTo>
                      <a:pt x="0" y="48"/>
                    </a:moveTo>
                    <a:lnTo>
                      <a:pt x="0" y="240"/>
                    </a:lnTo>
                    <a:lnTo>
                      <a:pt x="288" y="144"/>
                    </a:lnTo>
                    <a:lnTo>
                      <a:pt x="240" y="240"/>
                    </a:lnTo>
                    <a:lnTo>
                      <a:pt x="624" y="96"/>
                    </a:lnTo>
                    <a:lnTo>
                      <a:pt x="624" y="0"/>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57" name="Google Shape;257;p7"/>
            <p:cNvGrpSpPr/>
            <p:nvPr/>
          </p:nvGrpSpPr>
          <p:grpSpPr>
            <a:xfrm>
              <a:off x="4032" y="3344"/>
              <a:ext cx="384" cy="128"/>
              <a:chOff x="864" y="1104"/>
              <a:chExt cx="624" cy="192"/>
            </a:xfrm>
          </p:grpSpPr>
          <p:sp>
            <p:nvSpPr>
              <p:cNvPr id="258" name="Google Shape;258;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259;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61" name="Google Shape;261;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62" name="Google Shape;262;p7"/>
            <p:cNvGrpSpPr/>
            <p:nvPr/>
          </p:nvGrpSpPr>
          <p:grpSpPr>
            <a:xfrm>
              <a:off x="4032" y="3472"/>
              <a:ext cx="384" cy="128"/>
              <a:chOff x="864" y="1104"/>
              <a:chExt cx="624" cy="192"/>
            </a:xfrm>
          </p:grpSpPr>
          <p:sp>
            <p:nvSpPr>
              <p:cNvPr id="263" name="Google Shape;263;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64" name="Google Shape;264;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65" name="Google Shape;265;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66" name="Google Shape;266;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67" name="Google Shape;267;p7"/>
            <p:cNvGrpSpPr/>
            <p:nvPr/>
          </p:nvGrpSpPr>
          <p:grpSpPr>
            <a:xfrm>
              <a:off x="4416" y="3024"/>
              <a:ext cx="384" cy="128"/>
              <a:chOff x="864" y="1104"/>
              <a:chExt cx="624" cy="192"/>
            </a:xfrm>
          </p:grpSpPr>
          <p:sp>
            <p:nvSpPr>
              <p:cNvPr id="268" name="Google Shape;268;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69" name="Google Shape;269;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70" name="Google Shape;270;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71" name="Google Shape;271;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72" name="Google Shape;272;p7"/>
            <p:cNvGrpSpPr/>
            <p:nvPr/>
          </p:nvGrpSpPr>
          <p:grpSpPr>
            <a:xfrm>
              <a:off x="4416" y="3344"/>
              <a:ext cx="384" cy="128"/>
              <a:chOff x="864" y="1104"/>
              <a:chExt cx="624" cy="192"/>
            </a:xfrm>
          </p:grpSpPr>
          <p:sp>
            <p:nvSpPr>
              <p:cNvPr id="273" name="Google Shape;273;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74" name="Google Shape;274;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75" name="Google Shape;275;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77" name="Google Shape;277;p7"/>
            <p:cNvGrpSpPr/>
            <p:nvPr/>
          </p:nvGrpSpPr>
          <p:grpSpPr>
            <a:xfrm>
              <a:off x="4416" y="3472"/>
              <a:ext cx="384" cy="128"/>
              <a:chOff x="864" y="1104"/>
              <a:chExt cx="624" cy="192"/>
            </a:xfrm>
          </p:grpSpPr>
          <p:sp>
            <p:nvSpPr>
              <p:cNvPr id="278" name="Google Shape;278;p7"/>
              <p:cNvSpPr/>
              <p:nvPr/>
            </p:nvSpPr>
            <p:spPr>
              <a:xfrm>
                <a:off x="864" y="1104"/>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7"/>
              <p:cNvSpPr/>
              <p:nvPr/>
            </p:nvSpPr>
            <p:spPr>
              <a:xfrm>
                <a:off x="1104" y="1104"/>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80" name="Google Shape;280;p7"/>
              <p:cNvSpPr/>
              <p:nvPr/>
            </p:nvSpPr>
            <p:spPr>
              <a:xfrm>
                <a:off x="864" y="1200"/>
                <a:ext cx="240"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81" name="Google Shape;281;p7"/>
              <p:cNvSpPr/>
              <p:nvPr/>
            </p:nvSpPr>
            <p:spPr>
              <a:xfrm>
                <a:off x="1104" y="1200"/>
                <a:ext cx="384" cy="96"/>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282" name="Google Shape;282;p7"/>
          <p:cNvSpPr/>
          <p:nvPr/>
        </p:nvSpPr>
        <p:spPr>
          <a:xfrm>
            <a:off x="2888121" y="3810696"/>
            <a:ext cx="3352800" cy="228600"/>
          </a:xfrm>
          <a:custGeom>
            <a:avLst/>
            <a:gdLst/>
            <a:ahLst/>
            <a:cxnLst/>
            <a:rect l="l" t="t" r="r" b="b"/>
            <a:pathLst>
              <a:path w="2112" h="144" extrusionOk="0">
                <a:moveTo>
                  <a:pt x="0" y="0"/>
                </a:moveTo>
                <a:cubicBezTo>
                  <a:pt x="64" y="72"/>
                  <a:pt x="128" y="144"/>
                  <a:pt x="480" y="144"/>
                </a:cubicBezTo>
                <a:cubicBezTo>
                  <a:pt x="832" y="144"/>
                  <a:pt x="1840" y="24"/>
                  <a:pt x="2112"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3" name="Google Shape;283;p7"/>
          <p:cNvPicPr preferRelativeResize="0"/>
          <p:nvPr/>
        </p:nvPicPr>
        <p:blipFill rotWithShape="1">
          <a:blip r:embed="rId3">
            <a:alphaModFix/>
          </a:blip>
          <a:srcRect/>
          <a:stretch/>
        </p:blipFill>
        <p:spPr>
          <a:xfrm>
            <a:off x="2365102" y="2385004"/>
            <a:ext cx="523019" cy="523019"/>
          </a:xfrm>
          <a:prstGeom prst="rect">
            <a:avLst/>
          </a:prstGeom>
          <a:noFill/>
          <a:ln>
            <a:noFill/>
          </a:ln>
        </p:spPr>
      </p:pic>
      <p:grpSp>
        <p:nvGrpSpPr>
          <p:cNvPr id="284" name="Google Shape;284;p7"/>
          <p:cNvGrpSpPr/>
          <p:nvPr/>
        </p:nvGrpSpPr>
        <p:grpSpPr>
          <a:xfrm flipH="1">
            <a:off x="6322895" y="2483160"/>
            <a:ext cx="452957" cy="382588"/>
            <a:chOff x="1488" y="1248"/>
            <a:chExt cx="403" cy="288"/>
          </a:xfrm>
        </p:grpSpPr>
        <p:sp>
          <p:nvSpPr>
            <p:cNvPr id="285" name="Google Shape;285;p7"/>
            <p:cNvSpPr/>
            <p:nvPr/>
          </p:nvSpPr>
          <p:spPr>
            <a:xfrm>
              <a:off x="1492" y="1281"/>
              <a:ext cx="394" cy="208"/>
            </a:xfrm>
            <a:prstGeom prst="rect">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6" name="Google Shape;286;p7"/>
            <p:cNvSpPr/>
            <p:nvPr/>
          </p:nvSpPr>
          <p:spPr>
            <a:xfrm>
              <a:off x="1488" y="1449"/>
              <a:ext cx="403" cy="87"/>
            </a:xfrm>
            <a:prstGeom prst="ellipse">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287" name="Google Shape;287;p7"/>
            <p:cNvSpPr/>
            <p:nvPr/>
          </p:nvSpPr>
          <p:spPr>
            <a:xfrm>
              <a:off x="1488" y="1248"/>
              <a:ext cx="403" cy="78"/>
            </a:xfrm>
            <a:prstGeom prst="ellipse">
              <a:avLst/>
            </a:prstGeom>
            <a:gradFill>
              <a:gsLst>
                <a:gs pos="0">
                  <a:srgbClr val="909090"/>
                </a:gs>
                <a:gs pos="100000">
                  <a:srgbClr val="CECECE"/>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grpSp>
      <p:sp>
        <p:nvSpPr>
          <p:cNvPr id="289" name="Google Shape;289;p7"/>
          <p:cNvSpPr txBox="1"/>
          <p:nvPr/>
        </p:nvSpPr>
        <p:spPr>
          <a:xfrm>
            <a:off x="503238" y="914511"/>
            <a:ext cx="1722523"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MAPEO DE DATOS</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6A5D12A9-80A5-067C-CE88-4E45C703820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EXTRACCIÓN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47C40BE2-534D-5EF9-1639-3436FD01C63D}"/>
              </a:ext>
            </a:extLst>
          </p:cNvPr>
          <p:cNvSpPr/>
          <p:nvPr/>
        </p:nvSpPr>
        <p:spPr>
          <a:xfrm>
            <a:off x="1735015" y="4416077"/>
            <a:ext cx="5673969" cy="669600"/>
          </a:xfrm>
          <a:prstGeom prst="round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l" rtl="0">
              <a:spcBef>
                <a:spcPts val="0"/>
              </a:spcBef>
              <a:spcAft>
                <a:spcPts val="0"/>
              </a:spcAft>
              <a:buNone/>
            </a:pPr>
            <a:r>
              <a:rPr lang="es-ES_tradnl" sz="1600" dirty="0">
                <a:solidFill>
                  <a:srgbClr val="00B1C2"/>
                </a:solidFill>
                <a:ea typeface="Quattrocento Sans"/>
                <a:cs typeface="Quattrocento Sans"/>
                <a:sym typeface="Quattrocento Sans"/>
              </a:rPr>
              <a:t>Se verifica en las fuentes de datos, qué atributo o atributos se deben leer para poblar cada atributo del data </a:t>
            </a:r>
            <a:r>
              <a:rPr lang="es-ES_tradnl" sz="1600" dirty="0" err="1">
                <a:solidFill>
                  <a:srgbClr val="00B1C2"/>
                </a:solidFill>
                <a:ea typeface="Quattrocento Sans"/>
                <a:cs typeface="Quattrocento Sans"/>
                <a:sym typeface="Quattrocento Sans"/>
              </a:rPr>
              <a:t>warehouse</a:t>
            </a:r>
            <a:r>
              <a:rPr lang="es-ES_tradnl" sz="1600" dirty="0">
                <a:solidFill>
                  <a:srgbClr val="00B1C2"/>
                </a:solidFill>
                <a:ea typeface="Quattrocento Sans"/>
                <a:cs typeface="Quattrocento Sans"/>
                <a:sym typeface="Quattrocento Sans"/>
              </a:rPr>
              <a:t>.</a:t>
            </a:r>
            <a:endParaRPr lang="es-ES_tradnl" sz="1600" dirty="0">
              <a:solidFill>
                <a:srgbClr val="00B1C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5" name="Google Shape;295;p8"/>
          <p:cNvSpPr/>
          <p:nvPr/>
        </p:nvSpPr>
        <p:spPr>
          <a:xfrm>
            <a:off x="3061910" y="1518399"/>
            <a:ext cx="1110000" cy="688518"/>
          </a:xfrm>
          <a:prstGeom prst="roundRect">
            <a:avLst>
              <a:gd name="adj" fmla="val 16667"/>
            </a:avLst>
          </a:prstGeom>
          <a:noFill/>
          <a:ln w="19050" cap="flat" cmpd="sng">
            <a:solidFill>
              <a:srgbClr val="EE4639"/>
            </a:solidFill>
            <a:prstDash val="solid"/>
            <a:round/>
            <a:headEnd type="none" w="sm" len="sm"/>
            <a:tailEnd type="none" w="sm" len="sm"/>
          </a:ln>
          <a:effectLst/>
        </p:spPr>
        <p:txBody>
          <a:bodyPr spcFirstLastPara="1" wrap="square" lIns="0" tIns="45700" rIns="0" bIns="45700" anchor="ctr" anchorCtr="0">
            <a:noAutofit/>
          </a:bodyPr>
          <a:lstStyle/>
          <a:p>
            <a:pPr marL="0" marR="0" lvl="0" indent="0" algn="ctr" rtl="0">
              <a:lnSpc>
                <a:spcPct val="90000"/>
              </a:lnSpc>
              <a:spcBef>
                <a:spcPts val="0"/>
              </a:spcBef>
              <a:spcAft>
                <a:spcPts val="0"/>
              </a:spcAft>
              <a:buNone/>
            </a:pP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Aplicación </a:t>
            </a:r>
            <a:b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b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de</a:t>
            </a:r>
            <a:r>
              <a:rPr lang="es-ES_tradnl" sz="1200" dirty="0">
                <a:latin typeface="Calibri" panose="020F0502020204030204" pitchFamily="34" charset="0"/>
                <a:cs typeface="Calibri" panose="020F0502020204030204" pitchFamily="34" charset="0"/>
                <a:sym typeface="Quattrocento Sans"/>
              </a:rPr>
              <a:t> </a:t>
            </a: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extracción </a:t>
            </a:r>
            <a:b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b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de</a:t>
            </a:r>
            <a:r>
              <a:rPr lang="es-ES_tradnl" sz="1200" dirty="0">
                <a:latin typeface="Calibri" panose="020F0502020204030204" pitchFamily="34" charset="0"/>
                <a:cs typeface="Calibri" panose="020F0502020204030204" pitchFamily="34" charset="0"/>
                <a:sym typeface="Quattrocento Sans"/>
              </a:rPr>
              <a:t> </a:t>
            </a: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datos</a:t>
            </a:r>
          </a:p>
        </p:txBody>
      </p:sp>
      <p:sp>
        <p:nvSpPr>
          <p:cNvPr id="296" name="Google Shape;296;p8"/>
          <p:cNvSpPr txBox="1"/>
          <p:nvPr/>
        </p:nvSpPr>
        <p:spPr>
          <a:xfrm>
            <a:off x="1344713" y="1650402"/>
            <a:ext cx="983328" cy="283533"/>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chemeClr val="dk1"/>
                </a:solidFill>
                <a:latin typeface="Calibri" panose="020F0502020204030204" pitchFamily="34" charset="0"/>
                <a:ea typeface="Quattrocento Sans"/>
                <a:cs typeface="Calibri" panose="020F0502020204030204" pitchFamily="34" charset="0"/>
                <a:sym typeface="Quattrocento Sans"/>
              </a:rPr>
              <a:t>Data OLTP</a:t>
            </a:r>
            <a:endParaRPr sz="1600">
              <a:latin typeface="Calibri" panose="020F0502020204030204" pitchFamily="34" charset="0"/>
              <a:cs typeface="Calibri" panose="020F0502020204030204" pitchFamily="34" charset="0"/>
            </a:endParaRPr>
          </a:p>
        </p:txBody>
      </p:sp>
      <p:sp>
        <p:nvSpPr>
          <p:cNvPr id="297" name="Google Shape;297;p8"/>
          <p:cNvSpPr txBox="1"/>
          <p:nvPr/>
        </p:nvSpPr>
        <p:spPr>
          <a:xfrm>
            <a:off x="4506159" y="2006527"/>
            <a:ext cx="619047" cy="46162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chemeClr val="dk1"/>
                </a:solidFill>
                <a:latin typeface="Calibri" panose="020F0502020204030204" pitchFamily="34" charset="0"/>
                <a:ea typeface="Quattrocento Sans"/>
                <a:cs typeface="Calibri" panose="020F0502020204030204" pitchFamily="34" charset="0"/>
                <a:sym typeface="Quattrocento Sans"/>
              </a:rPr>
              <a:t>Carga</a:t>
            </a:r>
            <a:endParaRPr sz="1200">
              <a:solidFill>
                <a:schemeClr val="dk1"/>
              </a:solidFill>
              <a:latin typeface="Calibri" panose="020F0502020204030204" pitchFamily="34" charset="0"/>
              <a:ea typeface="Quattrocento Sans"/>
              <a:cs typeface="Calibri" panose="020F0502020204030204" pitchFamily="34" charset="0"/>
              <a:sym typeface="Quattrocento Sans"/>
            </a:endParaRPr>
          </a:p>
          <a:p>
            <a:pPr marL="0" marR="0" lvl="0" indent="0" algn="ctr" rtl="0">
              <a:spcBef>
                <a:spcPts val="0"/>
              </a:spcBef>
              <a:spcAft>
                <a:spcPts val="0"/>
              </a:spcAft>
              <a:buNone/>
            </a:pPr>
            <a:r>
              <a:rPr lang="en-US" sz="1200">
                <a:solidFill>
                  <a:schemeClr val="dk1"/>
                </a:solidFill>
                <a:latin typeface="Calibri" panose="020F0502020204030204" pitchFamily="34" charset="0"/>
                <a:ea typeface="Quattrocento Sans"/>
                <a:cs typeface="Calibri" panose="020F0502020204030204" pitchFamily="34" charset="0"/>
                <a:sym typeface="Quattrocento Sans"/>
              </a:rPr>
              <a:t>Inicial</a:t>
            </a:r>
            <a:endParaRPr sz="1200">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298" name="Google Shape;298;p8"/>
          <p:cNvSpPr/>
          <p:nvPr/>
        </p:nvSpPr>
        <p:spPr>
          <a:xfrm>
            <a:off x="7063178" y="1152785"/>
            <a:ext cx="863889"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Tabla Cliente</a:t>
            </a:r>
            <a:endParaRPr sz="1600">
              <a:latin typeface="Calibri" panose="020F0502020204030204" pitchFamily="34" charset="0"/>
              <a:cs typeface="Calibri" panose="020F0502020204030204" pitchFamily="34" charset="0"/>
            </a:endParaRPr>
          </a:p>
        </p:txBody>
      </p:sp>
      <p:sp>
        <p:nvSpPr>
          <p:cNvPr id="299" name="Google Shape;299;p8"/>
          <p:cNvSpPr/>
          <p:nvPr/>
        </p:nvSpPr>
        <p:spPr>
          <a:xfrm>
            <a:off x="5799620" y="2346146"/>
            <a:ext cx="967260"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Tabla Producto</a:t>
            </a:r>
            <a:endParaRPr sz="900">
              <a:solidFill>
                <a:schemeClr val="dk1"/>
              </a:solidFill>
              <a:latin typeface="Calibri" panose="020F0502020204030204" pitchFamily="34" charset="0"/>
              <a:ea typeface="Arial"/>
              <a:cs typeface="Calibri" panose="020F0502020204030204" pitchFamily="34" charset="0"/>
              <a:sym typeface="Arial"/>
            </a:endParaRPr>
          </a:p>
        </p:txBody>
      </p:sp>
      <p:sp>
        <p:nvSpPr>
          <p:cNvPr id="300" name="Google Shape;300;p8"/>
          <p:cNvSpPr/>
          <p:nvPr/>
        </p:nvSpPr>
        <p:spPr>
          <a:xfrm>
            <a:off x="5869818" y="1152785"/>
            <a:ext cx="890470"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Tabla Tiempo</a:t>
            </a:r>
            <a:endParaRPr sz="1600">
              <a:latin typeface="Calibri" panose="020F0502020204030204" pitchFamily="34" charset="0"/>
              <a:cs typeface="Calibri" panose="020F0502020204030204" pitchFamily="34" charset="0"/>
            </a:endParaRPr>
          </a:p>
        </p:txBody>
      </p:sp>
      <p:sp>
        <p:nvSpPr>
          <p:cNvPr id="301" name="Google Shape;301;p8"/>
          <p:cNvSpPr/>
          <p:nvPr/>
        </p:nvSpPr>
        <p:spPr>
          <a:xfrm>
            <a:off x="7133376" y="2346146"/>
            <a:ext cx="856506"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Tabla Tienda</a:t>
            </a:r>
            <a:endParaRPr sz="1600">
              <a:latin typeface="Calibri" panose="020F0502020204030204" pitchFamily="34" charset="0"/>
              <a:cs typeface="Calibri" panose="020F0502020204030204" pitchFamily="34" charset="0"/>
            </a:endParaRPr>
          </a:p>
        </p:txBody>
      </p:sp>
      <p:cxnSp>
        <p:nvCxnSpPr>
          <p:cNvPr id="302" name="Google Shape;302;p8"/>
          <p:cNvCxnSpPr/>
          <p:nvPr/>
        </p:nvCxnSpPr>
        <p:spPr>
          <a:xfrm>
            <a:off x="6463573" y="1512548"/>
            <a:ext cx="174031" cy="0"/>
          </a:xfrm>
          <a:prstGeom prst="straightConnector1">
            <a:avLst/>
          </a:prstGeom>
          <a:noFill/>
          <a:ln w="12700" cap="flat" cmpd="sng">
            <a:solidFill>
              <a:schemeClr val="dk1"/>
            </a:solidFill>
            <a:prstDash val="solid"/>
            <a:round/>
            <a:headEnd type="none" w="sm" len="sm"/>
            <a:tailEnd type="none" w="sm" len="sm"/>
          </a:ln>
        </p:spPr>
      </p:cxnSp>
      <p:grpSp>
        <p:nvGrpSpPr>
          <p:cNvPr id="303" name="Google Shape;303;p8"/>
          <p:cNvGrpSpPr/>
          <p:nvPr/>
        </p:nvGrpSpPr>
        <p:grpSpPr>
          <a:xfrm>
            <a:off x="6114047" y="1454050"/>
            <a:ext cx="349526" cy="169644"/>
            <a:chOff x="2016" y="1200"/>
            <a:chExt cx="384" cy="140"/>
          </a:xfrm>
        </p:grpSpPr>
        <p:sp>
          <p:nvSpPr>
            <p:cNvPr id="304" name="Google Shape;304;p8"/>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05" name="Google Shape;305;p8"/>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06" name="Google Shape;306;p8"/>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07" name="Google Shape;307;p8"/>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08" name="Google Shape;308;p8"/>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09" name="Google Shape;309;p8"/>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0" name="Google Shape;310;p8"/>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1" name="Google Shape;311;p8"/>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2" name="Google Shape;312;p8"/>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3" name="Google Shape;313;p8"/>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4" name="Google Shape;314;p8"/>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5" name="Google Shape;315;p8"/>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6" name="Google Shape;316;p8"/>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7" name="Google Shape;317;p8"/>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8" name="Google Shape;318;p8"/>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19" name="Google Shape;319;p8"/>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20" name="Google Shape;320;p8"/>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21" name="Google Shape;321;p8"/>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22" name="Google Shape;322;p8"/>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23" name="Google Shape;323;p8"/>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324" name="Google Shape;324;p8"/>
          <p:cNvGrpSpPr/>
          <p:nvPr/>
        </p:nvGrpSpPr>
        <p:grpSpPr>
          <a:xfrm>
            <a:off x="7335194" y="2091679"/>
            <a:ext cx="349525" cy="168181"/>
            <a:chOff x="2016" y="1200"/>
            <a:chExt cx="384" cy="140"/>
          </a:xfrm>
        </p:grpSpPr>
        <p:sp>
          <p:nvSpPr>
            <p:cNvPr id="325" name="Google Shape;325;p8"/>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26" name="Google Shape;326;p8"/>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27" name="Google Shape;327;p8"/>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28" name="Google Shape;328;p8"/>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29" name="Google Shape;329;p8"/>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0" name="Google Shape;330;p8"/>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1" name="Google Shape;331;p8"/>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2" name="Google Shape;332;p8"/>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3" name="Google Shape;333;p8"/>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4" name="Google Shape;334;p8"/>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5" name="Google Shape;335;p8"/>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6" name="Google Shape;336;p8"/>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7" name="Google Shape;337;p8"/>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8" name="Google Shape;338;p8"/>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39" name="Google Shape;339;p8"/>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40" name="Google Shape;340;p8"/>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41" name="Google Shape;341;p8"/>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42" name="Google Shape;342;p8"/>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43" name="Google Shape;343;p8"/>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44" name="Google Shape;344;p8"/>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345" name="Google Shape;345;p8"/>
          <p:cNvGrpSpPr/>
          <p:nvPr/>
        </p:nvGrpSpPr>
        <p:grpSpPr>
          <a:xfrm>
            <a:off x="6114047" y="2091679"/>
            <a:ext cx="349526" cy="168181"/>
            <a:chOff x="2016" y="1200"/>
            <a:chExt cx="384" cy="140"/>
          </a:xfrm>
        </p:grpSpPr>
        <p:sp>
          <p:nvSpPr>
            <p:cNvPr id="346" name="Google Shape;346;p8"/>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47" name="Google Shape;347;p8"/>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48" name="Google Shape;348;p8"/>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49" name="Google Shape;349;p8"/>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0" name="Google Shape;350;p8"/>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1" name="Google Shape;351;p8"/>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2" name="Google Shape;352;p8"/>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3" name="Google Shape;353;p8"/>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4" name="Google Shape;354;p8"/>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5" name="Google Shape;355;p8"/>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6" name="Google Shape;356;p8"/>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7" name="Google Shape;357;p8"/>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8" name="Google Shape;358;p8"/>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59" name="Google Shape;359;p8"/>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60" name="Google Shape;360;p8"/>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61" name="Google Shape;361;p8"/>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62" name="Google Shape;362;p8"/>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63" name="Google Shape;363;p8"/>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64" name="Google Shape;364;p8"/>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65" name="Google Shape;365;p8"/>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366" name="Google Shape;366;p8"/>
          <p:cNvGrpSpPr/>
          <p:nvPr/>
        </p:nvGrpSpPr>
        <p:grpSpPr>
          <a:xfrm>
            <a:off x="7335194" y="1454050"/>
            <a:ext cx="349525" cy="169644"/>
            <a:chOff x="2016" y="1200"/>
            <a:chExt cx="384" cy="140"/>
          </a:xfrm>
        </p:grpSpPr>
        <p:sp>
          <p:nvSpPr>
            <p:cNvPr id="367" name="Google Shape;367;p8"/>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68" name="Google Shape;368;p8"/>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69" name="Google Shape;369;p8"/>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0" name="Google Shape;370;p8"/>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1" name="Google Shape;371;p8"/>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2" name="Google Shape;372;p8"/>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3" name="Google Shape;373;p8"/>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4" name="Google Shape;374;p8"/>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5" name="Google Shape;375;p8"/>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6" name="Google Shape;376;p8"/>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7" name="Google Shape;377;p8"/>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8" name="Google Shape;378;p8"/>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79" name="Google Shape;379;p8"/>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80" name="Google Shape;380;p8"/>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81" name="Google Shape;381;p8"/>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82" name="Google Shape;382;p8"/>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83" name="Google Shape;383;p8"/>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84" name="Google Shape;384;p8"/>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85" name="Google Shape;385;p8"/>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86" name="Google Shape;386;p8"/>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cxnSp>
        <p:nvCxnSpPr>
          <p:cNvPr id="387" name="Google Shape;387;p8"/>
          <p:cNvCxnSpPr/>
          <p:nvPr/>
        </p:nvCxnSpPr>
        <p:spPr>
          <a:xfrm>
            <a:off x="6463573" y="2148714"/>
            <a:ext cx="174031" cy="0"/>
          </a:xfrm>
          <a:prstGeom prst="straightConnector1">
            <a:avLst/>
          </a:prstGeom>
          <a:noFill/>
          <a:ln w="12700" cap="flat" cmpd="sng">
            <a:solidFill>
              <a:schemeClr val="dk1"/>
            </a:solidFill>
            <a:prstDash val="solid"/>
            <a:round/>
            <a:headEnd type="none" w="sm" len="sm"/>
            <a:tailEnd type="none" w="sm" len="sm"/>
          </a:ln>
        </p:spPr>
      </p:cxnSp>
      <p:cxnSp>
        <p:nvCxnSpPr>
          <p:cNvPr id="388" name="Google Shape;388;p8"/>
          <p:cNvCxnSpPr/>
          <p:nvPr/>
        </p:nvCxnSpPr>
        <p:spPr>
          <a:xfrm>
            <a:off x="7161162" y="2148714"/>
            <a:ext cx="174032" cy="0"/>
          </a:xfrm>
          <a:prstGeom prst="straightConnector1">
            <a:avLst/>
          </a:prstGeom>
          <a:noFill/>
          <a:ln w="12700" cap="flat" cmpd="sng">
            <a:solidFill>
              <a:schemeClr val="dk1"/>
            </a:solidFill>
            <a:prstDash val="solid"/>
            <a:round/>
            <a:headEnd type="none" w="sm" len="sm"/>
            <a:tailEnd type="none" w="sm" len="sm"/>
          </a:ln>
        </p:spPr>
      </p:cxnSp>
      <p:cxnSp>
        <p:nvCxnSpPr>
          <p:cNvPr id="389" name="Google Shape;389;p8"/>
          <p:cNvCxnSpPr/>
          <p:nvPr/>
        </p:nvCxnSpPr>
        <p:spPr>
          <a:xfrm>
            <a:off x="7161162" y="1512548"/>
            <a:ext cx="174032" cy="0"/>
          </a:xfrm>
          <a:prstGeom prst="straightConnector1">
            <a:avLst/>
          </a:prstGeom>
          <a:noFill/>
          <a:ln w="12700" cap="flat" cmpd="sng">
            <a:solidFill>
              <a:schemeClr val="dk1"/>
            </a:solidFill>
            <a:prstDash val="solid"/>
            <a:round/>
            <a:headEnd type="none" w="sm" len="sm"/>
            <a:tailEnd type="none" w="sm" len="sm"/>
          </a:ln>
        </p:spPr>
      </p:cxnSp>
      <p:sp>
        <p:nvSpPr>
          <p:cNvPr id="390" name="Google Shape;390;p8"/>
          <p:cNvSpPr/>
          <p:nvPr/>
        </p:nvSpPr>
        <p:spPr>
          <a:xfrm>
            <a:off x="7231360" y="3441521"/>
            <a:ext cx="863889"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Tabla Cliente</a:t>
            </a:r>
            <a:endParaRPr sz="1600">
              <a:latin typeface="Calibri" panose="020F0502020204030204" pitchFamily="34" charset="0"/>
              <a:cs typeface="Calibri" panose="020F0502020204030204" pitchFamily="34" charset="0"/>
            </a:endParaRPr>
          </a:p>
        </p:txBody>
      </p:sp>
      <p:sp>
        <p:nvSpPr>
          <p:cNvPr id="391" name="Google Shape;391;p8"/>
          <p:cNvSpPr/>
          <p:nvPr/>
        </p:nvSpPr>
        <p:spPr>
          <a:xfrm>
            <a:off x="5967801" y="4634882"/>
            <a:ext cx="967260"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Tabla Producto</a:t>
            </a:r>
            <a:endParaRPr sz="1600">
              <a:latin typeface="Calibri" panose="020F0502020204030204" pitchFamily="34" charset="0"/>
              <a:cs typeface="Calibri" panose="020F0502020204030204" pitchFamily="34" charset="0"/>
            </a:endParaRPr>
          </a:p>
        </p:txBody>
      </p:sp>
      <p:sp>
        <p:nvSpPr>
          <p:cNvPr id="392" name="Google Shape;392;p8"/>
          <p:cNvSpPr/>
          <p:nvPr/>
        </p:nvSpPr>
        <p:spPr>
          <a:xfrm>
            <a:off x="6037999" y="3441521"/>
            <a:ext cx="890470"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Tabla Tiempo</a:t>
            </a:r>
            <a:endParaRPr sz="1600">
              <a:latin typeface="Calibri" panose="020F0502020204030204" pitchFamily="34" charset="0"/>
              <a:cs typeface="Calibri" panose="020F0502020204030204" pitchFamily="34" charset="0"/>
            </a:endParaRPr>
          </a:p>
        </p:txBody>
      </p:sp>
      <p:sp>
        <p:nvSpPr>
          <p:cNvPr id="393" name="Google Shape;393;p8"/>
          <p:cNvSpPr/>
          <p:nvPr/>
        </p:nvSpPr>
        <p:spPr>
          <a:xfrm>
            <a:off x="7301557" y="4634882"/>
            <a:ext cx="856506"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Tabla Tienda</a:t>
            </a:r>
            <a:endParaRPr sz="1600">
              <a:latin typeface="Calibri" panose="020F0502020204030204" pitchFamily="34" charset="0"/>
              <a:cs typeface="Calibri" panose="020F0502020204030204" pitchFamily="34" charset="0"/>
            </a:endParaRPr>
          </a:p>
        </p:txBody>
      </p:sp>
      <p:cxnSp>
        <p:nvCxnSpPr>
          <p:cNvPr id="394" name="Google Shape;394;p8"/>
          <p:cNvCxnSpPr/>
          <p:nvPr/>
        </p:nvCxnSpPr>
        <p:spPr>
          <a:xfrm>
            <a:off x="6631754" y="3801284"/>
            <a:ext cx="174032" cy="0"/>
          </a:xfrm>
          <a:prstGeom prst="straightConnector1">
            <a:avLst/>
          </a:prstGeom>
          <a:noFill/>
          <a:ln w="12700" cap="flat" cmpd="sng">
            <a:solidFill>
              <a:schemeClr val="dk1"/>
            </a:solidFill>
            <a:prstDash val="solid"/>
            <a:round/>
            <a:headEnd type="none" w="sm" len="sm"/>
            <a:tailEnd type="none" w="sm" len="sm"/>
          </a:ln>
        </p:spPr>
      </p:cxnSp>
      <p:grpSp>
        <p:nvGrpSpPr>
          <p:cNvPr id="395" name="Google Shape;395;p8"/>
          <p:cNvGrpSpPr/>
          <p:nvPr/>
        </p:nvGrpSpPr>
        <p:grpSpPr>
          <a:xfrm>
            <a:off x="6282229" y="3742786"/>
            <a:ext cx="349525" cy="169644"/>
            <a:chOff x="2016" y="1200"/>
            <a:chExt cx="384" cy="140"/>
          </a:xfrm>
        </p:grpSpPr>
        <p:sp>
          <p:nvSpPr>
            <p:cNvPr id="396" name="Google Shape;396;p8"/>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97" name="Google Shape;397;p8"/>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98" name="Google Shape;398;p8"/>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399" name="Google Shape;399;p8"/>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0" name="Google Shape;400;p8"/>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1" name="Google Shape;401;p8"/>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2" name="Google Shape;402;p8"/>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3" name="Google Shape;403;p8"/>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4" name="Google Shape;404;p8"/>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5" name="Google Shape;405;p8"/>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6" name="Google Shape;406;p8"/>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7" name="Google Shape;407;p8"/>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8" name="Google Shape;408;p8"/>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09" name="Google Shape;409;p8"/>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10" name="Google Shape;410;p8"/>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11" name="Google Shape;411;p8"/>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12" name="Google Shape;412;p8"/>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13" name="Google Shape;413;p8"/>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14" name="Google Shape;414;p8"/>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15" name="Google Shape;415;p8"/>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416" name="Google Shape;416;p8"/>
          <p:cNvGrpSpPr/>
          <p:nvPr/>
        </p:nvGrpSpPr>
        <p:grpSpPr>
          <a:xfrm>
            <a:off x="6810174" y="3652114"/>
            <a:ext cx="523558" cy="342214"/>
            <a:chOff x="4269" y="2677"/>
            <a:chExt cx="358" cy="234"/>
          </a:xfrm>
        </p:grpSpPr>
        <p:sp>
          <p:nvSpPr>
            <p:cNvPr id="417" name="Google Shape;417;p8"/>
            <p:cNvSpPr/>
            <p:nvPr/>
          </p:nvSpPr>
          <p:spPr>
            <a:xfrm>
              <a:off x="4269" y="2850"/>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18" name="Google Shape;418;p8"/>
            <p:cNvSpPr/>
            <p:nvPr/>
          </p:nvSpPr>
          <p:spPr>
            <a:xfrm>
              <a:off x="4269" y="287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19" name="Google Shape;419;p8"/>
            <p:cNvSpPr/>
            <p:nvPr/>
          </p:nvSpPr>
          <p:spPr>
            <a:xfrm>
              <a:off x="4329" y="2850"/>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20" name="Google Shape;420;p8"/>
            <p:cNvSpPr/>
            <p:nvPr/>
          </p:nvSpPr>
          <p:spPr>
            <a:xfrm>
              <a:off x="4329" y="2879"/>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21" name="Google Shape;421;p8"/>
            <p:cNvSpPr/>
            <p:nvPr/>
          </p:nvSpPr>
          <p:spPr>
            <a:xfrm>
              <a:off x="4388" y="2850"/>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22" name="Google Shape;422;p8"/>
            <p:cNvSpPr/>
            <p:nvPr/>
          </p:nvSpPr>
          <p:spPr>
            <a:xfrm>
              <a:off x="4388" y="287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423" name="Google Shape;423;p8"/>
            <p:cNvGrpSpPr/>
            <p:nvPr/>
          </p:nvGrpSpPr>
          <p:grpSpPr>
            <a:xfrm>
              <a:off x="4269" y="2677"/>
              <a:ext cx="358" cy="173"/>
              <a:chOff x="4269" y="2677"/>
              <a:chExt cx="358" cy="173"/>
            </a:xfrm>
          </p:grpSpPr>
          <p:sp>
            <p:nvSpPr>
              <p:cNvPr id="424" name="Google Shape;424;p8"/>
              <p:cNvSpPr/>
              <p:nvPr/>
            </p:nvSpPr>
            <p:spPr>
              <a:xfrm>
                <a:off x="4269" y="2677"/>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25" name="Google Shape;425;p8"/>
              <p:cNvSpPr/>
              <p:nvPr/>
            </p:nvSpPr>
            <p:spPr>
              <a:xfrm>
                <a:off x="4269" y="2706"/>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26" name="Google Shape;426;p8"/>
              <p:cNvSpPr/>
              <p:nvPr/>
            </p:nvSpPr>
            <p:spPr>
              <a:xfrm>
                <a:off x="4269" y="2734"/>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27" name="Google Shape;427;p8"/>
              <p:cNvSpPr/>
              <p:nvPr/>
            </p:nvSpPr>
            <p:spPr>
              <a:xfrm>
                <a:off x="4269" y="2763"/>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28" name="Google Shape;428;p8"/>
              <p:cNvSpPr/>
              <p:nvPr/>
            </p:nvSpPr>
            <p:spPr>
              <a:xfrm>
                <a:off x="4329" y="2677"/>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29" name="Google Shape;429;p8"/>
              <p:cNvSpPr/>
              <p:nvPr/>
            </p:nvSpPr>
            <p:spPr>
              <a:xfrm>
                <a:off x="4329" y="2706"/>
                <a:ext cx="59"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0" name="Google Shape;430;p8"/>
              <p:cNvSpPr/>
              <p:nvPr/>
            </p:nvSpPr>
            <p:spPr>
              <a:xfrm>
                <a:off x="4329" y="2734"/>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1" name="Google Shape;431;p8"/>
              <p:cNvSpPr/>
              <p:nvPr/>
            </p:nvSpPr>
            <p:spPr>
              <a:xfrm>
                <a:off x="4329" y="2763"/>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2" name="Google Shape;432;p8"/>
              <p:cNvSpPr/>
              <p:nvPr/>
            </p:nvSpPr>
            <p:spPr>
              <a:xfrm>
                <a:off x="4388" y="2677"/>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3" name="Google Shape;433;p8"/>
              <p:cNvSpPr/>
              <p:nvPr/>
            </p:nvSpPr>
            <p:spPr>
              <a:xfrm>
                <a:off x="4388" y="2706"/>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4" name="Google Shape;434;p8"/>
              <p:cNvSpPr/>
              <p:nvPr/>
            </p:nvSpPr>
            <p:spPr>
              <a:xfrm>
                <a:off x="4388" y="2734"/>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5" name="Google Shape;435;p8"/>
              <p:cNvSpPr/>
              <p:nvPr/>
            </p:nvSpPr>
            <p:spPr>
              <a:xfrm>
                <a:off x="4388" y="2763"/>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6" name="Google Shape;436;p8"/>
              <p:cNvSpPr/>
              <p:nvPr/>
            </p:nvSpPr>
            <p:spPr>
              <a:xfrm>
                <a:off x="4448" y="2677"/>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7" name="Google Shape;437;p8"/>
              <p:cNvSpPr/>
              <p:nvPr/>
            </p:nvSpPr>
            <p:spPr>
              <a:xfrm>
                <a:off x="4448" y="2706"/>
                <a:ext cx="60" cy="28"/>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8" name="Google Shape;438;p8"/>
              <p:cNvSpPr/>
              <p:nvPr/>
            </p:nvSpPr>
            <p:spPr>
              <a:xfrm>
                <a:off x="4448" y="2734"/>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39" name="Google Shape;439;p8"/>
              <p:cNvSpPr/>
              <p:nvPr/>
            </p:nvSpPr>
            <p:spPr>
              <a:xfrm>
                <a:off x="4448" y="2763"/>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440" name="Google Shape;440;p8"/>
              <p:cNvGrpSpPr/>
              <p:nvPr/>
            </p:nvGrpSpPr>
            <p:grpSpPr>
              <a:xfrm>
                <a:off x="4508" y="2677"/>
                <a:ext cx="30" cy="115"/>
                <a:chOff x="1392" y="3192"/>
                <a:chExt cx="192" cy="288"/>
              </a:xfrm>
            </p:grpSpPr>
            <p:sp>
              <p:nvSpPr>
                <p:cNvPr id="441" name="Google Shape;441;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42" name="Google Shape;442;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43" name="Google Shape;443;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44" name="Google Shape;444;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445" name="Google Shape;445;p8"/>
              <p:cNvGrpSpPr/>
              <p:nvPr/>
            </p:nvGrpSpPr>
            <p:grpSpPr>
              <a:xfrm>
                <a:off x="4538" y="2678"/>
                <a:ext cx="29" cy="115"/>
                <a:chOff x="1392" y="3192"/>
                <a:chExt cx="192" cy="288"/>
              </a:xfrm>
            </p:grpSpPr>
            <p:sp>
              <p:nvSpPr>
                <p:cNvPr id="446" name="Google Shape;446;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47" name="Google Shape;447;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48" name="Google Shape;448;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49" name="Google Shape;449;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450" name="Google Shape;450;p8"/>
              <p:cNvGrpSpPr/>
              <p:nvPr/>
            </p:nvGrpSpPr>
            <p:grpSpPr>
              <a:xfrm>
                <a:off x="4567" y="2679"/>
                <a:ext cx="30" cy="116"/>
                <a:chOff x="1392" y="3192"/>
                <a:chExt cx="192" cy="288"/>
              </a:xfrm>
            </p:grpSpPr>
            <p:sp>
              <p:nvSpPr>
                <p:cNvPr id="451" name="Google Shape;451;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52" name="Google Shape;452;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53" name="Google Shape;453;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54" name="Google Shape;454;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455" name="Google Shape;455;p8"/>
              <p:cNvGrpSpPr/>
              <p:nvPr/>
            </p:nvGrpSpPr>
            <p:grpSpPr>
              <a:xfrm>
                <a:off x="4597" y="2680"/>
                <a:ext cx="30" cy="115"/>
                <a:chOff x="1392" y="3192"/>
                <a:chExt cx="192" cy="288"/>
              </a:xfrm>
            </p:grpSpPr>
            <p:sp>
              <p:nvSpPr>
                <p:cNvPr id="456" name="Google Shape;456;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57" name="Google Shape;457;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58" name="Google Shape;458;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59" name="Google Shape;459;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460" name="Google Shape;460;p8"/>
              <p:cNvSpPr/>
              <p:nvPr/>
            </p:nvSpPr>
            <p:spPr>
              <a:xfrm>
                <a:off x="4269" y="279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61" name="Google Shape;461;p8"/>
              <p:cNvSpPr/>
              <p:nvPr/>
            </p:nvSpPr>
            <p:spPr>
              <a:xfrm>
                <a:off x="4269" y="2821"/>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62" name="Google Shape;462;p8"/>
              <p:cNvSpPr/>
              <p:nvPr/>
            </p:nvSpPr>
            <p:spPr>
              <a:xfrm>
                <a:off x="4329" y="2792"/>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63" name="Google Shape;463;p8"/>
              <p:cNvSpPr/>
              <p:nvPr/>
            </p:nvSpPr>
            <p:spPr>
              <a:xfrm>
                <a:off x="4329" y="2821"/>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64" name="Google Shape;464;p8"/>
              <p:cNvSpPr/>
              <p:nvPr/>
            </p:nvSpPr>
            <p:spPr>
              <a:xfrm>
                <a:off x="4388" y="279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65" name="Google Shape;465;p8"/>
              <p:cNvSpPr/>
              <p:nvPr/>
            </p:nvSpPr>
            <p:spPr>
              <a:xfrm>
                <a:off x="4388" y="2821"/>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66" name="Google Shape;466;p8"/>
              <p:cNvSpPr/>
              <p:nvPr/>
            </p:nvSpPr>
            <p:spPr>
              <a:xfrm>
                <a:off x="4448" y="2792"/>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67" name="Google Shape;467;p8"/>
              <p:cNvSpPr/>
              <p:nvPr/>
            </p:nvSpPr>
            <p:spPr>
              <a:xfrm>
                <a:off x="4448" y="2821"/>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468" name="Google Shape;468;p8"/>
            <p:cNvSpPr/>
            <p:nvPr/>
          </p:nvSpPr>
          <p:spPr>
            <a:xfrm>
              <a:off x="4448" y="2850"/>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69" name="Google Shape;469;p8"/>
            <p:cNvSpPr/>
            <p:nvPr/>
          </p:nvSpPr>
          <p:spPr>
            <a:xfrm>
              <a:off x="4448" y="2879"/>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470" name="Google Shape;470;p8"/>
            <p:cNvGrpSpPr/>
            <p:nvPr/>
          </p:nvGrpSpPr>
          <p:grpSpPr>
            <a:xfrm>
              <a:off x="4508" y="2792"/>
              <a:ext cx="30" cy="116"/>
              <a:chOff x="1392" y="3192"/>
              <a:chExt cx="192" cy="288"/>
            </a:xfrm>
          </p:grpSpPr>
          <p:sp>
            <p:nvSpPr>
              <p:cNvPr id="471" name="Google Shape;471;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72" name="Google Shape;472;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73" name="Google Shape;473;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74" name="Google Shape;474;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475" name="Google Shape;475;p8"/>
            <p:cNvGrpSpPr/>
            <p:nvPr/>
          </p:nvGrpSpPr>
          <p:grpSpPr>
            <a:xfrm>
              <a:off x="4538" y="2793"/>
              <a:ext cx="29" cy="115"/>
              <a:chOff x="1392" y="3192"/>
              <a:chExt cx="192" cy="288"/>
            </a:xfrm>
          </p:grpSpPr>
          <p:sp>
            <p:nvSpPr>
              <p:cNvPr id="476" name="Google Shape;476;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77" name="Google Shape;477;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78" name="Google Shape;478;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79" name="Google Shape;479;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480" name="Google Shape;480;p8"/>
            <p:cNvGrpSpPr/>
            <p:nvPr/>
          </p:nvGrpSpPr>
          <p:grpSpPr>
            <a:xfrm>
              <a:off x="4567" y="2795"/>
              <a:ext cx="30" cy="115"/>
              <a:chOff x="1392" y="3192"/>
              <a:chExt cx="192" cy="288"/>
            </a:xfrm>
          </p:grpSpPr>
          <p:sp>
            <p:nvSpPr>
              <p:cNvPr id="481" name="Google Shape;481;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82" name="Google Shape;482;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83" name="Google Shape;483;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84" name="Google Shape;484;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485" name="Google Shape;485;p8"/>
            <p:cNvGrpSpPr/>
            <p:nvPr/>
          </p:nvGrpSpPr>
          <p:grpSpPr>
            <a:xfrm>
              <a:off x="4597" y="2795"/>
              <a:ext cx="30" cy="116"/>
              <a:chOff x="1392" y="3192"/>
              <a:chExt cx="192" cy="288"/>
            </a:xfrm>
          </p:grpSpPr>
          <p:sp>
            <p:nvSpPr>
              <p:cNvPr id="486" name="Google Shape;486;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87" name="Google Shape;487;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88" name="Google Shape;488;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89" name="Google Shape;489;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grpSp>
        <p:nvGrpSpPr>
          <p:cNvPr id="490" name="Google Shape;490;p8"/>
          <p:cNvGrpSpPr/>
          <p:nvPr/>
        </p:nvGrpSpPr>
        <p:grpSpPr>
          <a:xfrm>
            <a:off x="7503376" y="4380415"/>
            <a:ext cx="349526" cy="168182"/>
            <a:chOff x="2016" y="1200"/>
            <a:chExt cx="384" cy="140"/>
          </a:xfrm>
        </p:grpSpPr>
        <p:sp>
          <p:nvSpPr>
            <p:cNvPr id="491" name="Google Shape;491;p8"/>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92" name="Google Shape;492;p8"/>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93" name="Google Shape;493;p8"/>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94" name="Google Shape;494;p8"/>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95" name="Google Shape;495;p8"/>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96" name="Google Shape;496;p8"/>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97" name="Google Shape;497;p8"/>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98" name="Google Shape;498;p8"/>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499" name="Google Shape;499;p8"/>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0" name="Google Shape;500;p8"/>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1" name="Google Shape;501;p8"/>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2" name="Google Shape;502;p8"/>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3" name="Google Shape;503;p8"/>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4" name="Google Shape;504;p8"/>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5" name="Google Shape;505;p8"/>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6" name="Google Shape;506;p8"/>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7" name="Google Shape;507;p8"/>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8" name="Google Shape;508;p8"/>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09" name="Google Shape;509;p8"/>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10" name="Google Shape;510;p8"/>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511" name="Google Shape;511;p8"/>
          <p:cNvGrpSpPr/>
          <p:nvPr/>
        </p:nvGrpSpPr>
        <p:grpSpPr>
          <a:xfrm>
            <a:off x="6282229" y="4380415"/>
            <a:ext cx="349525" cy="168182"/>
            <a:chOff x="2016" y="1200"/>
            <a:chExt cx="384" cy="140"/>
          </a:xfrm>
        </p:grpSpPr>
        <p:sp>
          <p:nvSpPr>
            <p:cNvPr id="512" name="Google Shape;512;p8"/>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13" name="Google Shape;513;p8"/>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14" name="Google Shape;514;p8"/>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15" name="Google Shape;515;p8"/>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16" name="Google Shape;516;p8"/>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17" name="Google Shape;517;p8"/>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18" name="Google Shape;518;p8"/>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19" name="Google Shape;519;p8"/>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0" name="Google Shape;520;p8"/>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1" name="Google Shape;521;p8"/>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2" name="Google Shape;522;p8"/>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3" name="Google Shape;523;p8"/>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4" name="Google Shape;524;p8"/>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5" name="Google Shape;525;p8"/>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6" name="Google Shape;526;p8"/>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7" name="Google Shape;527;p8"/>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8" name="Google Shape;528;p8"/>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29" name="Google Shape;529;p8"/>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30" name="Google Shape;530;p8"/>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31" name="Google Shape;531;p8"/>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532" name="Google Shape;532;p8"/>
          <p:cNvGrpSpPr/>
          <p:nvPr/>
        </p:nvGrpSpPr>
        <p:grpSpPr>
          <a:xfrm>
            <a:off x="7503376" y="3742786"/>
            <a:ext cx="349526" cy="169644"/>
            <a:chOff x="2016" y="1200"/>
            <a:chExt cx="384" cy="140"/>
          </a:xfrm>
        </p:grpSpPr>
        <p:sp>
          <p:nvSpPr>
            <p:cNvPr id="533" name="Google Shape;533;p8"/>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34" name="Google Shape;534;p8"/>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35" name="Google Shape;535;p8"/>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36" name="Google Shape;536;p8"/>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37" name="Google Shape;537;p8"/>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38" name="Google Shape;538;p8"/>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39" name="Google Shape;539;p8"/>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0" name="Google Shape;540;p8"/>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1" name="Google Shape;541;p8"/>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2" name="Google Shape;542;p8"/>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3" name="Google Shape;543;p8"/>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4" name="Google Shape;544;p8"/>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5" name="Google Shape;545;p8"/>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6" name="Google Shape;546;p8"/>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7" name="Google Shape;547;p8"/>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8" name="Google Shape;548;p8"/>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49" name="Google Shape;549;p8"/>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50" name="Google Shape;550;p8"/>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51" name="Google Shape;551;p8"/>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52" name="Google Shape;552;p8"/>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cxnSp>
        <p:nvCxnSpPr>
          <p:cNvPr id="553" name="Google Shape;553;p8"/>
          <p:cNvCxnSpPr/>
          <p:nvPr/>
        </p:nvCxnSpPr>
        <p:spPr>
          <a:xfrm rot="10800000" flipH="1">
            <a:off x="6631754" y="4354091"/>
            <a:ext cx="178419" cy="83360"/>
          </a:xfrm>
          <a:prstGeom prst="straightConnector1">
            <a:avLst/>
          </a:prstGeom>
          <a:noFill/>
          <a:ln w="12700" cap="flat" cmpd="sng">
            <a:solidFill>
              <a:schemeClr val="dk1"/>
            </a:solidFill>
            <a:prstDash val="solid"/>
            <a:round/>
            <a:headEnd type="none" w="sm" len="sm"/>
            <a:tailEnd type="none" w="sm" len="sm"/>
          </a:ln>
        </p:spPr>
      </p:cxnSp>
      <p:cxnSp>
        <p:nvCxnSpPr>
          <p:cNvPr id="554" name="Google Shape;554;p8"/>
          <p:cNvCxnSpPr/>
          <p:nvPr/>
        </p:nvCxnSpPr>
        <p:spPr>
          <a:xfrm>
            <a:off x="7345431" y="4318992"/>
            <a:ext cx="157945" cy="118459"/>
          </a:xfrm>
          <a:prstGeom prst="straightConnector1">
            <a:avLst/>
          </a:prstGeom>
          <a:noFill/>
          <a:ln w="12700" cap="flat" cmpd="sng">
            <a:solidFill>
              <a:schemeClr val="dk1"/>
            </a:solidFill>
            <a:prstDash val="solid"/>
            <a:round/>
            <a:headEnd type="none" w="sm" len="sm"/>
            <a:tailEnd type="none" w="sm" len="sm"/>
          </a:ln>
        </p:spPr>
      </p:cxnSp>
      <p:cxnSp>
        <p:nvCxnSpPr>
          <p:cNvPr id="555" name="Google Shape;555;p8"/>
          <p:cNvCxnSpPr/>
          <p:nvPr/>
        </p:nvCxnSpPr>
        <p:spPr>
          <a:xfrm>
            <a:off x="7329344" y="3801284"/>
            <a:ext cx="174031" cy="0"/>
          </a:xfrm>
          <a:prstGeom prst="straightConnector1">
            <a:avLst/>
          </a:prstGeom>
          <a:noFill/>
          <a:ln w="12700" cap="flat" cmpd="sng">
            <a:solidFill>
              <a:schemeClr val="dk1"/>
            </a:solidFill>
            <a:prstDash val="solid"/>
            <a:round/>
            <a:headEnd type="none" w="sm" len="sm"/>
            <a:tailEnd type="none" w="sm" len="sm"/>
          </a:ln>
        </p:spPr>
      </p:cxnSp>
      <p:sp>
        <p:nvSpPr>
          <p:cNvPr id="556" name="Google Shape;556;p8"/>
          <p:cNvSpPr/>
          <p:nvPr/>
        </p:nvSpPr>
        <p:spPr>
          <a:xfrm>
            <a:off x="6669778" y="1405789"/>
            <a:ext cx="491384" cy="842372"/>
          </a:xfrm>
          <a:prstGeom prst="rect">
            <a:avLst/>
          </a:prstGeom>
          <a:noFill/>
          <a:ln w="12700"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557" name="Google Shape;557;p8"/>
          <p:cNvGrpSpPr/>
          <p:nvPr/>
        </p:nvGrpSpPr>
        <p:grpSpPr>
          <a:xfrm>
            <a:off x="6810174" y="4073300"/>
            <a:ext cx="523558" cy="342214"/>
            <a:chOff x="4269" y="2677"/>
            <a:chExt cx="358" cy="234"/>
          </a:xfrm>
        </p:grpSpPr>
        <p:sp>
          <p:nvSpPr>
            <p:cNvPr id="558" name="Google Shape;558;p8"/>
            <p:cNvSpPr/>
            <p:nvPr/>
          </p:nvSpPr>
          <p:spPr>
            <a:xfrm>
              <a:off x="4269" y="2850"/>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59" name="Google Shape;559;p8"/>
            <p:cNvSpPr/>
            <p:nvPr/>
          </p:nvSpPr>
          <p:spPr>
            <a:xfrm>
              <a:off x="4269" y="287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60" name="Google Shape;560;p8"/>
            <p:cNvSpPr/>
            <p:nvPr/>
          </p:nvSpPr>
          <p:spPr>
            <a:xfrm>
              <a:off x="4329" y="2850"/>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61" name="Google Shape;561;p8"/>
            <p:cNvSpPr/>
            <p:nvPr/>
          </p:nvSpPr>
          <p:spPr>
            <a:xfrm>
              <a:off x="4329" y="2879"/>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62" name="Google Shape;562;p8"/>
            <p:cNvSpPr/>
            <p:nvPr/>
          </p:nvSpPr>
          <p:spPr>
            <a:xfrm>
              <a:off x="4388" y="2850"/>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63" name="Google Shape;563;p8"/>
            <p:cNvSpPr/>
            <p:nvPr/>
          </p:nvSpPr>
          <p:spPr>
            <a:xfrm>
              <a:off x="4388" y="287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564" name="Google Shape;564;p8"/>
            <p:cNvGrpSpPr/>
            <p:nvPr/>
          </p:nvGrpSpPr>
          <p:grpSpPr>
            <a:xfrm>
              <a:off x="4269" y="2677"/>
              <a:ext cx="358" cy="173"/>
              <a:chOff x="4269" y="2677"/>
              <a:chExt cx="358" cy="173"/>
            </a:xfrm>
          </p:grpSpPr>
          <p:sp>
            <p:nvSpPr>
              <p:cNvPr id="565" name="Google Shape;565;p8"/>
              <p:cNvSpPr/>
              <p:nvPr/>
            </p:nvSpPr>
            <p:spPr>
              <a:xfrm>
                <a:off x="4269" y="2677"/>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66" name="Google Shape;566;p8"/>
              <p:cNvSpPr/>
              <p:nvPr/>
            </p:nvSpPr>
            <p:spPr>
              <a:xfrm>
                <a:off x="4269" y="2706"/>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67" name="Google Shape;567;p8"/>
              <p:cNvSpPr/>
              <p:nvPr/>
            </p:nvSpPr>
            <p:spPr>
              <a:xfrm>
                <a:off x="4269" y="2734"/>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68" name="Google Shape;568;p8"/>
              <p:cNvSpPr/>
              <p:nvPr/>
            </p:nvSpPr>
            <p:spPr>
              <a:xfrm>
                <a:off x="4269" y="2763"/>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69" name="Google Shape;569;p8"/>
              <p:cNvSpPr/>
              <p:nvPr/>
            </p:nvSpPr>
            <p:spPr>
              <a:xfrm>
                <a:off x="4329" y="2677"/>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0" name="Google Shape;570;p8"/>
              <p:cNvSpPr/>
              <p:nvPr/>
            </p:nvSpPr>
            <p:spPr>
              <a:xfrm>
                <a:off x="4329" y="2706"/>
                <a:ext cx="59"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1" name="Google Shape;571;p8"/>
              <p:cNvSpPr/>
              <p:nvPr/>
            </p:nvSpPr>
            <p:spPr>
              <a:xfrm>
                <a:off x="4329" y="2734"/>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2" name="Google Shape;572;p8"/>
              <p:cNvSpPr/>
              <p:nvPr/>
            </p:nvSpPr>
            <p:spPr>
              <a:xfrm>
                <a:off x="4329" y="2763"/>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3" name="Google Shape;573;p8"/>
              <p:cNvSpPr/>
              <p:nvPr/>
            </p:nvSpPr>
            <p:spPr>
              <a:xfrm>
                <a:off x="4388" y="2677"/>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4" name="Google Shape;574;p8"/>
              <p:cNvSpPr/>
              <p:nvPr/>
            </p:nvSpPr>
            <p:spPr>
              <a:xfrm>
                <a:off x="4388" y="2706"/>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5" name="Google Shape;575;p8"/>
              <p:cNvSpPr/>
              <p:nvPr/>
            </p:nvSpPr>
            <p:spPr>
              <a:xfrm>
                <a:off x="4388" y="2734"/>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6" name="Google Shape;576;p8"/>
              <p:cNvSpPr/>
              <p:nvPr/>
            </p:nvSpPr>
            <p:spPr>
              <a:xfrm>
                <a:off x="4388" y="2763"/>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7" name="Google Shape;577;p8"/>
              <p:cNvSpPr/>
              <p:nvPr/>
            </p:nvSpPr>
            <p:spPr>
              <a:xfrm>
                <a:off x="4448" y="2677"/>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8" name="Google Shape;578;p8"/>
              <p:cNvSpPr/>
              <p:nvPr/>
            </p:nvSpPr>
            <p:spPr>
              <a:xfrm>
                <a:off x="4448" y="2706"/>
                <a:ext cx="60" cy="28"/>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79" name="Google Shape;579;p8"/>
              <p:cNvSpPr/>
              <p:nvPr/>
            </p:nvSpPr>
            <p:spPr>
              <a:xfrm>
                <a:off x="4448" y="2734"/>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80" name="Google Shape;580;p8"/>
              <p:cNvSpPr/>
              <p:nvPr/>
            </p:nvSpPr>
            <p:spPr>
              <a:xfrm>
                <a:off x="4448" y="2763"/>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581" name="Google Shape;581;p8"/>
              <p:cNvGrpSpPr/>
              <p:nvPr/>
            </p:nvGrpSpPr>
            <p:grpSpPr>
              <a:xfrm>
                <a:off x="4508" y="2677"/>
                <a:ext cx="30" cy="115"/>
                <a:chOff x="1392" y="3192"/>
                <a:chExt cx="192" cy="288"/>
              </a:xfrm>
            </p:grpSpPr>
            <p:sp>
              <p:nvSpPr>
                <p:cNvPr id="582" name="Google Shape;582;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83" name="Google Shape;583;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84" name="Google Shape;584;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85" name="Google Shape;585;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586" name="Google Shape;586;p8"/>
              <p:cNvGrpSpPr/>
              <p:nvPr/>
            </p:nvGrpSpPr>
            <p:grpSpPr>
              <a:xfrm>
                <a:off x="4538" y="2678"/>
                <a:ext cx="29" cy="115"/>
                <a:chOff x="1392" y="3192"/>
                <a:chExt cx="192" cy="288"/>
              </a:xfrm>
            </p:grpSpPr>
            <p:sp>
              <p:nvSpPr>
                <p:cNvPr id="587" name="Google Shape;587;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88" name="Google Shape;588;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89" name="Google Shape;589;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90" name="Google Shape;590;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591" name="Google Shape;591;p8"/>
              <p:cNvGrpSpPr/>
              <p:nvPr/>
            </p:nvGrpSpPr>
            <p:grpSpPr>
              <a:xfrm>
                <a:off x="4567" y="2679"/>
                <a:ext cx="30" cy="116"/>
                <a:chOff x="1392" y="3192"/>
                <a:chExt cx="192" cy="288"/>
              </a:xfrm>
            </p:grpSpPr>
            <p:sp>
              <p:nvSpPr>
                <p:cNvPr id="592" name="Google Shape;592;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93" name="Google Shape;593;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94" name="Google Shape;594;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95" name="Google Shape;595;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596" name="Google Shape;596;p8"/>
              <p:cNvGrpSpPr/>
              <p:nvPr/>
            </p:nvGrpSpPr>
            <p:grpSpPr>
              <a:xfrm>
                <a:off x="4597" y="2680"/>
                <a:ext cx="30" cy="115"/>
                <a:chOff x="1392" y="3192"/>
                <a:chExt cx="192" cy="288"/>
              </a:xfrm>
            </p:grpSpPr>
            <p:sp>
              <p:nvSpPr>
                <p:cNvPr id="597" name="Google Shape;597;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98" name="Google Shape;598;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599" name="Google Shape;599;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00" name="Google Shape;600;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601" name="Google Shape;601;p8"/>
              <p:cNvSpPr/>
              <p:nvPr/>
            </p:nvSpPr>
            <p:spPr>
              <a:xfrm>
                <a:off x="4269" y="279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02" name="Google Shape;602;p8"/>
              <p:cNvSpPr/>
              <p:nvPr/>
            </p:nvSpPr>
            <p:spPr>
              <a:xfrm>
                <a:off x="4269" y="2821"/>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03" name="Google Shape;603;p8"/>
              <p:cNvSpPr/>
              <p:nvPr/>
            </p:nvSpPr>
            <p:spPr>
              <a:xfrm>
                <a:off x="4329" y="2792"/>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04" name="Google Shape;604;p8"/>
              <p:cNvSpPr/>
              <p:nvPr/>
            </p:nvSpPr>
            <p:spPr>
              <a:xfrm>
                <a:off x="4329" y="2821"/>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05" name="Google Shape;605;p8"/>
              <p:cNvSpPr/>
              <p:nvPr/>
            </p:nvSpPr>
            <p:spPr>
              <a:xfrm>
                <a:off x="4388" y="279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06" name="Google Shape;606;p8"/>
              <p:cNvSpPr/>
              <p:nvPr/>
            </p:nvSpPr>
            <p:spPr>
              <a:xfrm>
                <a:off x="4388" y="2821"/>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07" name="Google Shape;607;p8"/>
              <p:cNvSpPr/>
              <p:nvPr/>
            </p:nvSpPr>
            <p:spPr>
              <a:xfrm>
                <a:off x="4448" y="2792"/>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08" name="Google Shape;608;p8"/>
              <p:cNvSpPr/>
              <p:nvPr/>
            </p:nvSpPr>
            <p:spPr>
              <a:xfrm>
                <a:off x="4448" y="2821"/>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609" name="Google Shape;609;p8"/>
            <p:cNvSpPr/>
            <p:nvPr/>
          </p:nvSpPr>
          <p:spPr>
            <a:xfrm>
              <a:off x="4448" y="2850"/>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10" name="Google Shape;610;p8"/>
            <p:cNvSpPr/>
            <p:nvPr/>
          </p:nvSpPr>
          <p:spPr>
            <a:xfrm>
              <a:off x="4448" y="2879"/>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611" name="Google Shape;611;p8"/>
            <p:cNvGrpSpPr/>
            <p:nvPr/>
          </p:nvGrpSpPr>
          <p:grpSpPr>
            <a:xfrm>
              <a:off x="4508" y="2792"/>
              <a:ext cx="30" cy="116"/>
              <a:chOff x="1392" y="3192"/>
              <a:chExt cx="192" cy="288"/>
            </a:xfrm>
          </p:grpSpPr>
          <p:sp>
            <p:nvSpPr>
              <p:cNvPr id="612" name="Google Shape;612;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13" name="Google Shape;613;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14" name="Google Shape;614;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15" name="Google Shape;615;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616" name="Google Shape;616;p8"/>
            <p:cNvGrpSpPr/>
            <p:nvPr/>
          </p:nvGrpSpPr>
          <p:grpSpPr>
            <a:xfrm>
              <a:off x="4538" y="2793"/>
              <a:ext cx="29" cy="115"/>
              <a:chOff x="1392" y="3192"/>
              <a:chExt cx="192" cy="288"/>
            </a:xfrm>
          </p:grpSpPr>
          <p:sp>
            <p:nvSpPr>
              <p:cNvPr id="617" name="Google Shape;617;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18" name="Google Shape;618;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19" name="Google Shape;619;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20" name="Google Shape;620;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621" name="Google Shape;621;p8"/>
            <p:cNvGrpSpPr/>
            <p:nvPr/>
          </p:nvGrpSpPr>
          <p:grpSpPr>
            <a:xfrm>
              <a:off x="4567" y="2795"/>
              <a:ext cx="30" cy="115"/>
              <a:chOff x="1392" y="3192"/>
              <a:chExt cx="192" cy="288"/>
            </a:xfrm>
          </p:grpSpPr>
          <p:sp>
            <p:nvSpPr>
              <p:cNvPr id="622" name="Google Shape;622;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23" name="Google Shape;623;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24" name="Google Shape;624;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25" name="Google Shape;625;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626" name="Google Shape;626;p8"/>
            <p:cNvGrpSpPr/>
            <p:nvPr/>
          </p:nvGrpSpPr>
          <p:grpSpPr>
            <a:xfrm>
              <a:off x="4597" y="2795"/>
              <a:ext cx="30" cy="116"/>
              <a:chOff x="1392" y="3192"/>
              <a:chExt cx="192" cy="288"/>
            </a:xfrm>
          </p:grpSpPr>
          <p:sp>
            <p:nvSpPr>
              <p:cNvPr id="627" name="Google Shape;627;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28" name="Google Shape;628;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29" name="Google Shape;629;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30" name="Google Shape;630;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grpSp>
        <p:nvGrpSpPr>
          <p:cNvPr id="631" name="Google Shape;631;p8"/>
          <p:cNvGrpSpPr/>
          <p:nvPr/>
        </p:nvGrpSpPr>
        <p:grpSpPr>
          <a:xfrm>
            <a:off x="6810174" y="4494486"/>
            <a:ext cx="523558" cy="172569"/>
            <a:chOff x="2208" y="2832"/>
            <a:chExt cx="358" cy="118"/>
          </a:xfrm>
        </p:grpSpPr>
        <p:sp>
          <p:nvSpPr>
            <p:cNvPr id="632" name="Google Shape;632;p8"/>
            <p:cNvSpPr/>
            <p:nvPr/>
          </p:nvSpPr>
          <p:spPr>
            <a:xfrm>
              <a:off x="2208" y="283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33" name="Google Shape;633;p8"/>
            <p:cNvSpPr/>
            <p:nvPr/>
          </p:nvSpPr>
          <p:spPr>
            <a:xfrm>
              <a:off x="2208" y="2861"/>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34" name="Google Shape;634;p8"/>
            <p:cNvSpPr/>
            <p:nvPr/>
          </p:nvSpPr>
          <p:spPr>
            <a:xfrm>
              <a:off x="2208" y="288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35" name="Google Shape;635;p8"/>
            <p:cNvSpPr/>
            <p:nvPr/>
          </p:nvSpPr>
          <p:spPr>
            <a:xfrm>
              <a:off x="2208" y="2918"/>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36" name="Google Shape;636;p8"/>
            <p:cNvSpPr/>
            <p:nvPr/>
          </p:nvSpPr>
          <p:spPr>
            <a:xfrm>
              <a:off x="2268" y="2832"/>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37" name="Google Shape;637;p8"/>
            <p:cNvSpPr/>
            <p:nvPr/>
          </p:nvSpPr>
          <p:spPr>
            <a:xfrm>
              <a:off x="2268" y="2861"/>
              <a:ext cx="59"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38" name="Google Shape;638;p8"/>
            <p:cNvSpPr/>
            <p:nvPr/>
          </p:nvSpPr>
          <p:spPr>
            <a:xfrm>
              <a:off x="2268" y="2889"/>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39" name="Google Shape;639;p8"/>
            <p:cNvSpPr/>
            <p:nvPr/>
          </p:nvSpPr>
          <p:spPr>
            <a:xfrm>
              <a:off x="2268" y="2918"/>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40" name="Google Shape;640;p8"/>
            <p:cNvSpPr/>
            <p:nvPr/>
          </p:nvSpPr>
          <p:spPr>
            <a:xfrm>
              <a:off x="2327" y="283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41" name="Google Shape;641;p8"/>
            <p:cNvSpPr/>
            <p:nvPr/>
          </p:nvSpPr>
          <p:spPr>
            <a:xfrm>
              <a:off x="2327" y="2861"/>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42" name="Google Shape;642;p8"/>
            <p:cNvSpPr/>
            <p:nvPr/>
          </p:nvSpPr>
          <p:spPr>
            <a:xfrm>
              <a:off x="2327" y="288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43" name="Google Shape;643;p8"/>
            <p:cNvSpPr/>
            <p:nvPr/>
          </p:nvSpPr>
          <p:spPr>
            <a:xfrm>
              <a:off x="2327" y="2918"/>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44" name="Google Shape;644;p8"/>
            <p:cNvSpPr/>
            <p:nvPr/>
          </p:nvSpPr>
          <p:spPr>
            <a:xfrm>
              <a:off x="2387" y="2832"/>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45" name="Google Shape;645;p8"/>
            <p:cNvSpPr/>
            <p:nvPr/>
          </p:nvSpPr>
          <p:spPr>
            <a:xfrm>
              <a:off x="2387" y="2861"/>
              <a:ext cx="60" cy="28"/>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46" name="Google Shape;646;p8"/>
            <p:cNvSpPr/>
            <p:nvPr/>
          </p:nvSpPr>
          <p:spPr>
            <a:xfrm>
              <a:off x="2387" y="2889"/>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47" name="Google Shape;647;p8"/>
            <p:cNvSpPr/>
            <p:nvPr/>
          </p:nvSpPr>
          <p:spPr>
            <a:xfrm>
              <a:off x="2387" y="2918"/>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648" name="Google Shape;648;p8"/>
            <p:cNvGrpSpPr/>
            <p:nvPr/>
          </p:nvGrpSpPr>
          <p:grpSpPr>
            <a:xfrm>
              <a:off x="2447" y="2832"/>
              <a:ext cx="30" cy="115"/>
              <a:chOff x="1392" y="3192"/>
              <a:chExt cx="192" cy="288"/>
            </a:xfrm>
          </p:grpSpPr>
          <p:sp>
            <p:nvSpPr>
              <p:cNvPr id="649" name="Google Shape;649;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50" name="Google Shape;650;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51" name="Google Shape;651;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52" name="Google Shape;652;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653" name="Google Shape;653;p8"/>
            <p:cNvGrpSpPr/>
            <p:nvPr/>
          </p:nvGrpSpPr>
          <p:grpSpPr>
            <a:xfrm>
              <a:off x="2477" y="2833"/>
              <a:ext cx="29" cy="115"/>
              <a:chOff x="1392" y="3192"/>
              <a:chExt cx="192" cy="288"/>
            </a:xfrm>
          </p:grpSpPr>
          <p:sp>
            <p:nvSpPr>
              <p:cNvPr id="654" name="Google Shape;654;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55" name="Google Shape;655;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56" name="Google Shape;656;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57" name="Google Shape;657;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658" name="Google Shape;658;p8"/>
            <p:cNvGrpSpPr/>
            <p:nvPr/>
          </p:nvGrpSpPr>
          <p:grpSpPr>
            <a:xfrm>
              <a:off x="2506" y="2834"/>
              <a:ext cx="30" cy="116"/>
              <a:chOff x="1392" y="3192"/>
              <a:chExt cx="192" cy="288"/>
            </a:xfrm>
          </p:grpSpPr>
          <p:sp>
            <p:nvSpPr>
              <p:cNvPr id="659" name="Google Shape;659;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60" name="Google Shape;660;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61" name="Google Shape;661;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62" name="Google Shape;662;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nvGrpSpPr>
            <p:cNvPr id="663" name="Google Shape;663;p8"/>
            <p:cNvGrpSpPr/>
            <p:nvPr/>
          </p:nvGrpSpPr>
          <p:grpSpPr>
            <a:xfrm>
              <a:off x="2536" y="2835"/>
              <a:ext cx="30" cy="115"/>
              <a:chOff x="1392" y="3192"/>
              <a:chExt cx="192" cy="288"/>
            </a:xfrm>
          </p:grpSpPr>
          <p:sp>
            <p:nvSpPr>
              <p:cNvPr id="664" name="Google Shape;664;p8"/>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65" name="Google Shape;665;p8"/>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66" name="Google Shape;666;p8"/>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67" name="Google Shape;667;p8"/>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grpSp>
      <p:sp>
        <p:nvSpPr>
          <p:cNvPr id="668" name="Google Shape;668;p8"/>
          <p:cNvSpPr/>
          <p:nvPr/>
        </p:nvSpPr>
        <p:spPr>
          <a:xfrm>
            <a:off x="5055232" y="1573971"/>
            <a:ext cx="2218540" cy="222659"/>
          </a:xfrm>
          <a:custGeom>
            <a:avLst/>
            <a:gdLst/>
            <a:ahLst/>
            <a:cxnLst/>
            <a:rect l="l" t="t" r="r" b="b"/>
            <a:pathLst>
              <a:path w="1632" h="168" extrusionOk="0">
                <a:moveTo>
                  <a:pt x="0" y="144"/>
                </a:moveTo>
                <a:cubicBezTo>
                  <a:pt x="488" y="156"/>
                  <a:pt x="976" y="168"/>
                  <a:pt x="1248" y="144"/>
                </a:cubicBezTo>
                <a:cubicBezTo>
                  <a:pt x="1520" y="120"/>
                  <a:pt x="1576" y="60"/>
                  <a:pt x="1632"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69" name="Google Shape;669;p8"/>
          <p:cNvSpPr/>
          <p:nvPr/>
        </p:nvSpPr>
        <p:spPr>
          <a:xfrm>
            <a:off x="5055232" y="1573971"/>
            <a:ext cx="954981" cy="76431"/>
          </a:xfrm>
          <a:custGeom>
            <a:avLst/>
            <a:gdLst/>
            <a:ahLst/>
            <a:cxnLst/>
            <a:rect l="l" t="t" r="r" b="b"/>
            <a:pathLst>
              <a:path w="768" h="56" extrusionOk="0">
                <a:moveTo>
                  <a:pt x="0" y="48"/>
                </a:moveTo>
                <a:cubicBezTo>
                  <a:pt x="200" y="52"/>
                  <a:pt x="400" y="56"/>
                  <a:pt x="528" y="48"/>
                </a:cubicBezTo>
                <a:cubicBezTo>
                  <a:pt x="656" y="40"/>
                  <a:pt x="712" y="20"/>
                  <a:pt x="768"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70" name="Google Shape;670;p8"/>
          <p:cNvSpPr/>
          <p:nvPr/>
        </p:nvSpPr>
        <p:spPr>
          <a:xfrm rot="10800000" flipH="1">
            <a:off x="5055232" y="1846353"/>
            <a:ext cx="2218540" cy="254101"/>
          </a:xfrm>
          <a:custGeom>
            <a:avLst/>
            <a:gdLst/>
            <a:ahLst/>
            <a:cxnLst/>
            <a:rect l="l" t="t" r="r" b="b"/>
            <a:pathLst>
              <a:path w="1632" h="168" extrusionOk="0">
                <a:moveTo>
                  <a:pt x="0" y="144"/>
                </a:moveTo>
                <a:cubicBezTo>
                  <a:pt x="488" y="156"/>
                  <a:pt x="976" y="168"/>
                  <a:pt x="1248" y="144"/>
                </a:cubicBezTo>
                <a:cubicBezTo>
                  <a:pt x="1520" y="120"/>
                  <a:pt x="1576" y="60"/>
                  <a:pt x="1632"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71" name="Google Shape;671;p8"/>
          <p:cNvSpPr/>
          <p:nvPr/>
        </p:nvSpPr>
        <p:spPr>
          <a:xfrm rot="10800000" flipH="1">
            <a:off x="5055232" y="1952323"/>
            <a:ext cx="954981" cy="124732"/>
          </a:xfrm>
          <a:custGeom>
            <a:avLst/>
            <a:gdLst/>
            <a:ahLst/>
            <a:cxnLst/>
            <a:rect l="l" t="t" r="r" b="b"/>
            <a:pathLst>
              <a:path w="768" h="56" extrusionOk="0">
                <a:moveTo>
                  <a:pt x="0" y="48"/>
                </a:moveTo>
                <a:cubicBezTo>
                  <a:pt x="200" y="52"/>
                  <a:pt x="400" y="56"/>
                  <a:pt x="528" y="48"/>
                </a:cubicBezTo>
                <a:cubicBezTo>
                  <a:pt x="656" y="40"/>
                  <a:pt x="712" y="20"/>
                  <a:pt x="768"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72" name="Google Shape;672;p8"/>
          <p:cNvSpPr txBox="1"/>
          <p:nvPr/>
        </p:nvSpPr>
        <p:spPr>
          <a:xfrm>
            <a:off x="4125284" y="1039552"/>
            <a:ext cx="1295390" cy="311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s-ES_tradnl" sz="1400" b="1">
                <a:solidFill>
                  <a:schemeClr val="dk1"/>
                </a:solidFill>
                <a:latin typeface="Calibri" panose="020F0502020204030204" pitchFamily="34" charset="0"/>
                <a:ea typeface="Arial"/>
                <a:cs typeface="Calibri" panose="020F0502020204030204" pitchFamily="34" charset="0"/>
                <a:sym typeface="Arial"/>
              </a:rPr>
              <a:t>Carga Inicial</a:t>
            </a:r>
          </a:p>
        </p:txBody>
      </p:sp>
      <p:sp>
        <p:nvSpPr>
          <p:cNvPr id="673" name="Google Shape;673;p8"/>
          <p:cNvSpPr txBox="1"/>
          <p:nvPr/>
        </p:nvSpPr>
        <p:spPr>
          <a:xfrm>
            <a:off x="3694953" y="3258662"/>
            <a:ext cx="2386721" cy="311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s-ES_tradnl" sz="1400" b="1">
                <a:solidFill>
                  <a:schemeClr val="dk1"/>
                </a:solidFill>
                <a:latin typeface="Calibri" panose="020F0502020204030204" pitchFamily="34" charset="0"/>
                <a:ea typeface="Arial"/>
                <a:cs typeface="Calibri" panose="020F0502020204030204" pitchFamily="34" charset="0"/>
                <a:sym typeface="Arial"/>
              </a:rPr>
              <a:t>Refresco Periódico</a:t>
            </a:r>
          </a:p>
        </p:txBody>
      </p:sp>
      <p:sp>
        <p:nvSpPr>
          <p:cNvPr id="674" name="Google Shape;674;p8"/>
          <p:cNvSpPr/>
          <p:nvPr/>
        </p:nvSpPr>
        <p:spPr>
          <a:xfrm>
            <a:off x="6641992" y="1222983"/>
            <a:ext cx="459264"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Facts</a:t>
            </a:r>
            <a:endParaRPr sz="1600">
              <a:latin typeface="Calibri" panose="020F0502020204030204" pitchFamily="34" charset="0"/>
              <a:cs typeface="Calibri" panose="020F0502020204030204" pitchFamily="34" charset="0"/>
            </a:endParaRPr>
          </a:p>
        </p:txBody>
      </p:sp>
      <p:sp>
        <p:nvSpPr>
          <p:cNvPr id="675" name="Google Shape;675;p8"/>
          <p:cNvSpPr/>
          <p:nvPr/>
        </p:nvSpPr>
        <p:spPr>
          <a:xfrm>
            <a:off x="6810174" y="3441521"/>
            <a:ext cx="459264" cy="23144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900">
                <a:solidFill>
                  <a:schemeClr val="dk1"/>
                </a:solidFill>
                <a:latin typeface="Calibri" panose="020F0502020204030204" pitchFamily="34" charset="0"/>
                <a:ea typeface="Arial"/>
                <a:cs typeface="Calibri" panose="020F0502020204030204" pitchFamily="34" charset="0"/>
                <a:sym typeface="Arial"/>
              </a:rPr>
              <a:t>Facts</a:t>
            </a:r>
            <a:endParaRPr sz="1600">
              <a:latin typeface="Calibri" panose="020F0502020204030204" pitchFamily="34" charset="0"/>
              <a:cs typeface="Calibri" panose="020F0502020204030204" pitchFamily="34" charset="0"/>
            </a:endParaRPr>
          </a:p>
        </p:txBody>
      </p:sp>
      <p:cxnSp>
        <p:nvCxnSpPr>
          <p:cNvPr id="676" name="Google Shape;676;p8"/>
          <p:cNvCxnSpPr/>
          <p:nvPr/>
        </p:nvCxnSpPr>
        <p:spPr>
          <a:xfrm>
            <a:off x="2710922" y="1784564"/>
            <a:ext cx="280791" cy="0"/>
          </a:xfrm>
          <a:prstGeom prst="straightConnector1">
            <a:avLst/>
          </a:prstGeom>
          <a:noFill/>
          <a:ln w="12700" cap="flat" cmpd="sng">
            <a:solidFill>
              <a:schemeClr val="dk1"/>
            </a:solidFill>
            <a:prstDash val="solid"/>
            <a:round/>
            <a:headEnd type="none" w="med" len="med"/>
            <a:tailEnd type="triangle" w="med" len="med"/>
          </a:ln>
        </p:spPr>
      </p:cxnSp>
      <p:cxnSp>
        <p:nvCxnSpPr>
          <p:cNvPr id="677" name="Google Shape;677;p8"/>
          <p:cNvCxnSpPr/>
          <p:nvPr/>
        </p:nvCxnSpPr>
        <p:spPr>
          <a:xfrm>
            <a:off x="4255271" y="1784564"/>
            <a:ext cx="280791" cy="0"/>
          </a:xfrm>
          <a:prstGeom prst="straightConnector1">
            <a:avLst/>
          </a:prstGeom>
          <a:noFill/>
          <a:ln w="12700" cap="flat" cmpd="sng">
            <a:solidFill>
              <a:schemeClr val="dk1"/>
            </a:solidFill>
            <a:prstDash val="solid"/>
            <a:round/>
            <a:headEnd type="none" w="med" len="med"/>
            <a:tailEnd type="triangle" w="med" len="med"/>
          </a:ln>
        </p:spPr>
      </p:cxnSp>
      <p:sp>
        <p:nvSpPr>
          <p:cNvPr id="678" name="Google Shape;678;p8"/>
          <p:cNvSpPr txBox="1"/>
          <p:nvPr/>
        </p:nvSpPr>
        <p:spPr>
          <a:xfrm>
            <a:off x="1368529" y="3926179"/>
            <a:ext cx="983328" cy="283533"/>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chemeClr val="dk1"/>
                </a:solidFill>
                <a:latin typeface="Calibri" panose="020F0502020204030204" pitchFamily="34" charset="0"/>
                <a:ea typeface="Quattrocento Sans"/>
                <a:cs typeface="Calibri" panose="020F0502020204030204" pitchFamily="34" charset="0"/>
                <a:sym typeface="Quattrocento Sans"/>
              </a:rPr>
              <a:t>Data OLTP</a:t>
            </a:r>
            <a:endParaRPr sz="1600">
              <a:latin typeface="Calibri" panose="020F0502020204030204" pitchFamily="34" charset="0"/>
              <a:cs typeface="Calibri" panose="020F0502020204030204" pitchFamily="34" charset="0"/>
            </a:endParaRPr>
          </a:p>
        </p:txBody>
      </p:sp>
      <p:sp>
        <p:nvSpPr>
          <p:cNvPr id="679" name="Google Shape;679;p8"/>
          <p:cNvSpPr txBox="1"/>
          <p:nvPr/>
        </p:nvSpPr>
        <p:spPr>
          <a:xfrm>
            <a:off x="4471312" y="4789865"/>
            <a:ext cx="839081" cy="46162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a:solidFill>
                  <a:schemeClr val="dk1"/>
                </a:solidFill>
                <a:latin typeface="Calibri" panose="020F0502020204030204" pitchFamily="34" charset="0"/>
                <a:ea typeface="Quattrocento Sans"/>
                <a:cs typeface="Calibri" panose="020F0502020204030204" pitchFamily="34" charset="0"/>
                <a:sym typeface="Quattrocento Sans"/>
              </a:rPr>
              <a:t>Carga</a:t>
            </a:r>
            <a:endParaRPr sz="1200">
              <a:solidFill>
                <a:schemeClr val="dk1"/>
              </a:solidFill>
              <a:latin typeface="Calibri" panose="020F0502020204030204" pitchFamily="34" charset="0"/>
              <a:ea typeface="Quattrocento Sans"/>
              <a:cs typeface="Calibri" panose="020F0502020204030204" pitchFamily="34" charset="0"/>
              <a:sym typeface="Quattrocento Sans"/>
            </a:endParaRPr>
          </a:p>
          <a:p>
            <a:pPr marL="0" marR="0" lvl="0" indent="0" algn="ctr" rtl="0">
              <a:spcBef>
                <a:spcPts val="0"/>
              </a:spcBef>
              <a:spcAft>
                <a:spcPts val="0"/>
              </a:spcAft>
              <a:buNone/>
            </a:pPr>
            <a:r>
              <a:rPr lang="en-US" sz="1200">
                <a:solidFill>
                  <a:schemeClr val="dk1"/>
                </a:solidFill>
                <a:latin typeface="Calibri" panose="020F0502020204030204" pitchFamily="34" charset="0"/>
                <a:ea typeface="Quattrocento Sans"/>
                <a:cs typeface="Calibri" panose="020F0502020204030204" pitchFamily="34" charset="0"/>
                <a:sym typeface="Quattrocento Sans"/>
              </a:rPr>
              <a:t>periódica</a:t>
            </a:r>
            <a:endParaRPr sz="1200">
              <a:solidFill>
                <a:schemeClr val="dk1"/>
              </a:solidFill>
              <a:latin typeface="Calibri" panose="020F0502020204030204" pitchFamily="34" charset="0"/>
              <a:ea typeface="Quattrocento Sans"/>
              <a:cs typeface="Calibri" panose="020F0502020204030204" pitchFamily="34" charset="0"/>
              <a:sym typeface="Quattrocento Sans"/>
            </a:endParaRPr>
          </a:p>
        </p:txBody>
      </p:sp>
      <p:cxnSp>
        <p:nvCxnSpPr>
          <p:cNvPr id="680" name="Google Shape;680;p8"/>
          <p:cNvCxnSpPr/>
          <p:nvPr/>
        </p:nvCxnSpPr>
        <p:spPr>
          <a:xfrm>
            <a:off x="2756258" y="4058676"/>
            <a:ext cx="280791" cy="0"/>
          </a:xfrm>
          <a:prstGeom prst="straightConnector1">
            <a:avLst/>
          </a:prstGeom>
          <a:noFill/>
          <a:ln w="12700" cap="flat" cmpd="sng">
            <a:solidFill>
              <a:schemeClr val="dk1"/>
            </a:solidFill>
            <a:prstDash val="solid"/>
            <a:round/>
            <a:headEnd type="none" w="med" len="med"/>
            <a:tailEnd type="triangle" w="med" len="med"/>
          </a:ln>
        </p:spPr>
      </p:cxnSp>
      <p:cxnSp>
        <p:nvCxnSpPr>
          <p:cNvPr id="681" name="Google Shape;681;p8"/>
          <p:cNvCxnSpPr/>
          <p:nvPr/>
        </p:nvCxnSpPr>
        <p:spPr>
          <a:xfrm>
            <a:off x="4353255" y="4058676"/>
            <a:ext cx="280791" cy="0"/>
          </a:xfrm>
          <a:prstGeom prst="straightConnector1">
            <a:avLst/>
          </a:prstGeom>
          <a:noFill/>
          <a:ln w="12700" cap="flat" cmpd="sng">
            <a:solidFill>
              <a:schemeClr val="dk1"/>
            </a:solidFill>
            <a:prstDash val="solid"/>
            <a:round/>
            <a:headEnd type="none" w="med" len="med"/>
            <a:tailEnd type="triangle" w="med" len="med"/>
          </a:ln>
        </p:spPr>
      </p:cxnSp>
      <p:grpSp>
        <p:nvGrpSpPr>
          <p:cNvPr id="682" name="Google Shape;682;p8"/>
          <p:cNvGrpSpPr/>
          <p:nvPr/>
        </p:nvGrpSpPr>
        <p:grpSpPr>
          <a:xfrm>
            <a:off x="818707" y="2116526"/>
            <a:ext cx="1330660" cy="1577732"/>
            <a:chOff x="2002" y="1137"/>
            <a:chExt cx="1762" cy="2046"/>
          </a:xfrm>
          <a:solidFill>
            <a:srgbClr val="00B1C2"/>
          </a:solidFill>
        </p:grpSpPr>
        <p:sp>
          <p:nvSpPr>
            <p:cNvPr id="683" name="Google Shape;683;p8"/>
            <p:cNvSpPr/>
            <p:nvPr/>
          </p:nvSpPr>
          <p:spPr>
            <a:xfrm>
              <a:off x="2368" y="1300"/>
              <a:ext cx="355" cy="421"/>
            </a:xfrm>
            <a:custGeom>
              <a:avLst/>
              <a:gdLst/>
              <a:ahLst/>
              <a:cxnLst/>
              <a:rect l="l" t="t" r="r" b="b"/>
              <a:pathLst>
                <a:path w="710" h="842" extrusionOk="0">
                  <a:moveTo>
                    <a:pt x="427" y="377"/>
                  </a:moveTo>
                  <a:lnTo>
                    <a:pt x="417" y="350"/>
                  </a:lnTo>
                  <a:lnTo>
                    <a:pt x="397" y="311"/>
                  </a:lnTo>
                  <a:lnTo>
                    <a:pt x="374" y="261"/>
                  </a:lnTo>
                  <a:lnTo>
                    <a:pt x="349" y="210"/>
                  </a:lnTo>
                  <a:lnTo>
                    <a:pt x="324" y="160"/>
                  </a:lnTo>
                  <a:lnTo>
                    <a:pt x="303" y="119"/>
                  </a:lnTo>
                  <a:lnTo>
                    <a:pt x="288" y="89"/>
                  </a:lnTo>
                  <a:lnTo>
                    <a:pt x="282" y="78"/>
                  </a:lnTo>
                  <a:lnTo>
                    <a:pt x="313" y="76"/>
                  </a:lnTo>
                  <a:lnTo>
                    <a:pt x="319" y="87"/>
                  </a:lnTo>
                  <a:lnTo>
                    <a:pt x="336" y="120"/>
                  </a:lnTo>
                  <a:lnTo>
                    <a:pt x="359" y="165"/>
                  </a:lnTo>
                  <a:lnTo>
                    <a:pt x="386" y="216"/>
                  </a:lnTo>
                  <a:lnTo>
                    <a:pt x="414" y="269"/>
                  </a:lnTo>
                  <a:lnTo>
                    <a:pt x="438" y="317"/>
                  </a:lnTo>
                  <a:lnTo>
                    <a:pt x="456" y="351"/>
                  </a:lnTo>
                  <a:lnTo>
                    <a:pt x="464" y="367"/>
                  </a:lnTo>
                  <a:lnTo>
                    <a:pt x="469" y="372"/>
                  </a:lnTo>
                  <a:lnTo>
                    <a:pt x="473" y="374"/>
                  </a:lnTo>
                  <a:lnTo>
                    <a:pt x="480" y="373"/>
                  </a:lnTo>
                  <a:lnTo>
                    <a:pt x="486" y="371"/>
                  </a:lnTo>
                  <a:lnTo>
                    <a:pt x="491" y="367"/>
                  </a:lnTo>
                  <a:lnTo>
                    <a:pt x="494" y="362"/>
                  </a:lnTo>
                  <a:lnTo>
                    <a:pt x="495" y="355"/>
                  </a:lnTo>
                  <a:lnTo>
                    <a:pt x="494" y="348"/>
                  </a:lnTo>
                  <a:lnTo>
                    <a:pt x="484" y="321"/>
                  </a:lnTo>
                  <a:lnTo>
                    <a:pt x="464" y="282"/>
                  </a:lnTo>
                  <a:lnTo>
                    <a:pt x="441" y="234"/>
                  </a:lnTo>
                  <a:lnTo>
                    <a:pt x="415" y="182"/>
                  </a:lnTo>
                  <a:lnTo>
                    <a:pt x="389" y="132"/>
                  </a:lnTo>
                  <a:lnTo>
                    <a:pt x="369" y="91"/>
                  </a:lnTo>
                  <a:lnTo>
                    <a:pt x="354" y="61"/>
                  </a:lnTo>
                  <a:lnTo>
                    <a:pt x="348" y="51"/>
                  </a:lnTo>
                  <a:lnTo>
                    <a:pt x="370" y="48"/>
                  </a:lnTo>
                  <a:lnTo>
                    <a:pt x="376" y="60"/>
                  </a:lnTo>
                  <a:lnTo>
                    <a:pt x="393" y="92"/>
                  </a:lnTo>
                  <a:lnTo>
                    <a:pt x="416" y="136"/>
                  </a:lnTo>
                  <a:lnTo>
                    <a:pt x="442" y="188"/>
                  </a:lnTo>
                  <a:lnTo>
                    <a:pt x="470" y="241"/>
                  </a:lnTo>
                  <a:lnTo>
                    <a:pt x="494" y="288"/>
                  </a:lnTo>
                  <a:lnTo>
                    <a:pt x="514" y="324"/>
                  </a:lnTo>
                  <a:lnTo>
                    <a:pt x="523" y="341"/>
                  </a:lnTo>
                  <a:lnTo>
                    <a:pt x="529" y="347"/>
                  </a:lnTo>
                  <a:lnTo>
                    <a:pt x="536" y="350"/>
                  </a:lnTo>
                  <a:lnTo>
                    <a:pt x="543" y="350"/>
                  </a:lnTo>
                  <a:lnTo>
                    <a:pt x="551" y="348"/>
                  </a:lnTo>
                  <a:lnTo>
                    <a:pt x="556" y="343"/>
                  </a:lnTo>
                  <a:lnTo>
                    <a:pt x="561" y="339"/>
                  </a:lnTo>
                  <a:lnTo>
                    <a:pt x="563" y="332"/>
                  </a:lnTo>
                  <a:lnTo>
                    <a:pt x="562" y="326"/>
                  </a:lnTo>
                  <a:lnTo>
                    <a:pt x="546" y="296"/>
                  </a:lnTo>
                  <a:lnTo>
                    <a:pt x="525" y="253"/>
                  </a:lnTo>
                  <a:lnTo>
                    <a:pt x="500" y="204"/>
                  </a:lnTo>
                  <a:lnTo>
                    <a:pt x="476" y="151"/>
                  </a:lnTo>
                  <a:lnTo>
                    <a:pt x="452" y="102"/>
                  </a:lnTo>
                  <a:lnTo>
                    <a:pt x="432" y="61"/>
                  </a:lnTo>
                  <a:lnTo>
                    <a:pt x="418" y="32"/>
                  </a:lnTo>
                  <a:lnTo>
                    <a:pt x="414" y="22"/>
                  </a:lnTo>
                  <a:lnTo>
                    <a:pt x="427" y="22"/>
                  </a:lnTo>
                  <a:lnTo>
                    <a:pt x="434" y="34"/>
                  </a:lnTo>
                  <a:lnTo>
                    <a:pt x="452" y="68"/>
                  </a:lnTo>
                  <a:lnTo>
                    <a:pt x="476" y="115"/>
                  </a:lnTo>
                  <a:lnTo>
                    <a:pt x="505" y="169"/>
                  </a:lnTo>
                  <a:lnTo>
                    <a:pt x="533" y="226"/>
                  </a:lnTo>
                  <a:lnTo>
                    <a:pt x="560" y="274"/>
                  </a:lnTo>
                  <a:lnTo>
                    <a:pt x="581" y="311"/>
                  </a:lnTo>
                  <a:lnTo>
                    <a:pt x="591" y="328"/>
                  </a:lnTo>
                  <a:lnTo>
                    <a:pt x="598" y="333"/>
                  </a:lnTo>
                  <a:lnTo>
                    <a:pt x="607" y="336"/>
                  </a:lnTo>
                  <a:lnTo>
                    <a:pt x="619" y="337"/>
                  </a:lnTo>
                  <a:lnTo>
                    <a:pt x="630" y="336"/>
                  </a:lnTo>
                  <a:lnTo>
                    <a:pt x="639" y="332"/>
                  </a:lnTo>
                  <a:lnTo>
                    <a:pt x="645" y="324"/>
                  </a:lnTo>
                  <a:lnTo>
                    <a:pt x="647" y="311"/>
                  </a:lnTo>
                  <a:lnTo>
                    <a:pt x="642" y="295"/>
                  </a:lnTo>
                  <a:lnTo>
                    <a:pt x="629" y="268"/>
                  </a:lnTo>
                  <a:lnTo>
                    <a:pt x="611" y="229"/>
                  </a:lnTo>
                  <a:lnTo>
                    <a:pt x="587" y="183"/>
                  </a:lnTo>
                  <a:lnTo>
                    <a:pt x="564" y="135"/>
                  </a:lnTo>
                  <a:lnTo>
                    <a:pt x="543" y="89"/>
                  </a:lnTo>
                  <a:lnTo>
                    <a:pt x="523" y="49"/>
                  </a:lnTo>
                  <a:lnTo>
                    <a:pt x="510" y="23"/>
                  </a:lnTo>
                  <a:lnTo>
                    <a:pt x="506" y="13"/>
                  </a:lnTo>
                  <a:lnTo>
                    <a:pt x="510" y="0"/>
                  </a:lnTo>
                  <a:lnTo>
                    <a:pt x="672" y="326"/>
                  </a:lnTo>
                  <a:lnTo>
                    <a:pt x="637" y="398"/>
                  </a:lnTo>
                  <a:lnTo>
                    <a:pt x="635" y="398"/>
                  </a:lnTo>
                  <a:lnTo>
                    <a:pt x="629" y="397"/>
                  </a:lnTo>
                  <a:lnTo>
                    <a:pt x="621" y="396"/>
                  </a:lnTo>
                  <a:lnTo>
                    <a:pt x="611" y="396"/>
                  </a:lnTo>
                  <a:lnTo>
                    <a:pt x="600" y="397"/>
                  </a:lnTo>
                  <a:lnTo>
                    <a:pt x="590" y="398"/>
                  </a:lnTo>
                  <a:lnTo>
                    <a:pt x="581" y="403"/>
                  </a:lnTo>
                  <a:lnTo>
                    <a:pt x="574" y="409"/>
                  </a:lnTo>
                  <a:lnTo>
                    <a:pt x="575" y="427"/>
                  </a:lnTo>
                  <a:lnTo>
                    <a:pt x="589" y="463"/>
                  </a:lnTo>
                  <a:lnTo>
                    <a:pt x="611" y="511"/>
                  </a:lnTo>
                  <a:lnTo>
                    <a:pt x="636" y="564"/>
                  </a:lnTo>
                  <a:lnTo>
                    <a:pt x="662" y="617"/>
                  </a:lnTo>
                  <a:lnTo>
                    <a:pt x="687" y="662"/>
                  </a:lnTo>
                  <a:lnTo>
                    <a:pt x="703" y="694"/>
                  </a:lnTo>
                  <a:lnTo>
                    <a:pt x="710" y="706"/>
                  </a:lnTo>
                  <a:lnTo>
                    <a:pt x="690" y="720"/>
                  </a:lnTo>
                  <a:lnTo>
                    <a:pt x="684" y="707"/>
                  </a:lnTo>
                  <a:lnTo>
                    <a:pt x="670" y="675"/>
                  </a:lnTo>
                  <a:lnTo>
                    <a:pt x="650" y="629"/>
                  </a:lnTo>
                  <a:lnTo>
                    <a:pt x="625" y="575"/>
                  </a:lnTo>
                  <a:lnTo>
                    <a:pt x="600" y="521"/>
                  </a:lnTo>
                  <a:lnTo>
                    <a:pt x="576" y="471"/>
                  </a:lnTo>
                  <a:lnTo>
                    <a:pt x="555" y="435"/>
                  </a:lnTo>
                  <a:lnTo>
                    <a:pt x="540" y="418"/>
                  </a:lnTo>
                  <a:lnTo>
                    <a:pt x="529" y="415"/>
                  </a:lnTo>
                  <a:lnTo>
                    <a:pt x="517" y="416"/>
                  </a:lnTo>
                  <a:lnTo>
                    <a:pt x="506" y="420"/>
                  </a:lnTo>
                  <a:lnTo>
                    <a:pt x="495" y="427"/>
                  </a:lnTo>
                  <a:lnTo>
                    <a:pt x="487" y="434"/>
                  </a:lnTo>
                  <a:lnTo>
                    <a:pt x="483" y="443"/>
                  </a:lnTo>
                  <a:lnTo>
                    <a:pt x="480" y="450"/>
                  </a:lnTo>
                  <a:lnTo>
                    <a:pt x="482" y="457"/>
                  </a:lnTo>
                  <a:lnTo>
                    <a:pt x="491" y="474"/>
                  </a:lnTo>
                  <a:lnTo>
                    <a:pt x="509" y="509"/>
                  </a:lnTo>
                  <a:lnTo>
                    <a:pt x="533" y="556"/>
                  </a:lnTo>
                  <a:lnTo>
                    <a:pt x="561" y="609"/>
                  </a:lnTo>
                  <a:lnTo>
                    <a:pt x="587" y="661"/>
                  </a:lnTo>
                  <a:lnTo>
                    <a:pt x="611" y="706"/>
                  </a:lnTo>
                  <a:lnTo>
                    <a:pt x="627" y="738"/>
                  </a:lnTo>
                  <a:lnTo>
                    <a:pt x="632" y="750"/>
                  </a:lnTo>
                  <a:lnTo>
                    <a:pt x="631" y="751"/>
                  </a:lnTo>
                  <a:lnTo>
                    <a:pt x="628" y="753"/>
                  </a:lnTo>
                  <a:lnTo>
                    <a:pt x="623" y="757"/>
                  </a:lnTo>
                  <a:lnTo>
                    <a:pt x="616" y="761"/>
                  </a:lnTo>
                  <a:lnTo>
                    <a:pt x="607" y="766"/>
                  </a:lnTo>
                  <a:lnTo>
                    <a:pt x="597" y="773"/>
                  </a:lnTo>
                  <a:lnTo>
                    <a:pt x="585" y="780"/>
                  </a:lnTo>
                  <a:lnTo>
                    <a:pt x="572" y="787"/>
                  </a:lnTo>
                  <a:lnTo>
                    <a:pt x="559" y="795"/>
                  </a:lnTo>
                  <a:lnTo>
                    <a:pt x="544" y="802"/>
                  </a:lnTo>
                  <a:lnTo>
                    <a:pt x="529" y="810"/>
                  </a:lnTo>
                  <a:lnTo>
                    <a:pt x="513" y="818"/>
                  </a:lnTo>
                  <a:lnTo>
                    <a:pt x="496" y="825"/>
                  </a:lnTo>
                  <a:lnTo>
                    <a:pt x="480" y="831"/>
                  </a:lnTo>
                  <a:lnTo>
                    <a:pt x="463" y="837"/>
                  </a:lnTo>
                  <a:lnTo>
                    <a:pt x="447" y="842"/>
                  </a:lnTo>
                  <a:lnTo>
                    <a:pt x="316" y="588"/>
                  </a:lnTo>
                  <a:lnTo>
                    <a:pt x="311" y="590"/>
                  </a:lnTo>
                  <a:lnTo>
                    <a:pt x="303" y="597"/>
                  </a:lnTo>
                  <a:lnTo>
                    <a:pt x="302" y="615"/>
                  </a:lnTo>
                  <a:lnTo>
                    <a:pt x="316" y="652"/>
                  </a:lnTo>
                  <a:lnTo>
                    <a:pt x="252" y="579"/>
                  </a:lnTo>
                  <a:lnTo>
                    <a:pt x="169" y="569"/>
                  </a:lnTo>
                  <a:lnTo>
                    <a:pt x="0" y="229"/>
                  </a:lnTo>
                  <a:lnTo>
                    <a:pt x="14" y="210"/>
                  </a:lnTo>
                  <a:lnTo>
                    <a:pt x="38" y="204"/>
                  </a:lnTo>
                  <a:lnTo>
                    <a:pt x="53" y="177"/>
                  </a:lnTo>
                  <a:lnTo>
                    <a:pt x="82" y="175"/>
                  </a:lnTo>
                  <a:lnTo>
                    <a:pt x="116" y="142"/>
                  </a:lnTo>
                  <a:lnTo>
                    <a:pt x="153" y="144"/>
                  </a:lnTo>
                  <a:lnTo>
                    <a:pt x="309" y="435"/>
                  </a:lnTo>
                  <a:lnTo>
                    <a:pt x="314" y="441"/>
                  </a:lnTo>
                  <a:lnTo>
                    <a:pt x="321" y="443"/>
                  </a:lnTo>
                  <a:lnTo>
                    <a:pt x="332" y="444"/>
                  </a:lnTo>
                  <a:lnTo>
                    <a:pt x="341" y="442"/>
                  </a:lnTo>
                  <a:lnTo>
                    <a:pt x="349" y="438"/>
                  </a:lnTo>
                  <a:lnTo>
                    <a:pt x="355" y="431"/>
                  </a:lnTo>
                  <a:lnTo>
                    <a:pt x="357" y="421"/>
                  </a:lnTo>
                  <a:lnTo>
                    <a:pt x="355" y="409"/>
                  </a:lnTo>
                  <a:lnTo>
                    <a:pt x="195" y="105"/>
                  </a:lnTo>
                  <a:lnTo>
                    <a:pt x="233" y="102"/>
                  </a:lnTo>
                  <a:lnTo>
                    <a:pt x="393" y="395"/>
                  </a:lnTo>
                  <a:lnTo>
                    <a:pt x="397" y="401"/>
                  </a:lnTo>
                  <a:lnTo>
                    <a:pt x="403" y="404"/>
                  </a:lnTo>
                  <a:lnTo>
                    <a:pt x="410" y="404"/>
                  </a:lnTo>
                  <a:lnTo>
                    <a:pt x="417" y="403"/>
                  </a:lnTo>
                  <a:lnTo>
                    <a:pt x="423" y="398"/>
                  </a:lnTo>
                  <a:lnTo>
                    <a:pt x="427" y="393"/>
                  </a:lnTo>
                  <a:lnTo>
                    <a:pt x="429" y="385"/>
                  </a:lnTo>
                  <a:lnTo>
                    <a:pt x="427" y="377"/>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84" name="Google Shape;684;p8"/>
            <p:cNvSpPr/>
            <p:nvPr/>
          </p:nvSpPr>
          <p:spPr>
            <a:xfrm>
              <a:off x="2217" y="1137"/>
              <a:ext cx="594" cy="594"/>
            </a:xfrm>
            <a:custGeom>
              <a:avLst/>
              <a:gdLst/>
              <a:ahLst/>
              <a:cxnLst/>
              <a:rect l="l" t="t" r="r" b="b"/>
              <a:pathLst>
                <a:path w="1189" h="1189" extrusionOk="0">
                  <a:moveTo>
                    <a:pt x="656" y="1186"/>
                  </a:moveTo>
                  <a:lnTo>
                    <a:pt x="648" y="1186"/>
                  </a:lnTo>
                  <a:lnTo>
                    <a:pt x="641" y="1187"/>
                  </a:lnTo>
                  <a:lnTo>
                    <a:pt x="633" y="1187"/>
                  </a:lnTo>
                  <a:lnTo>
                    <a:pt x="626" y="1187"/>
                  </a:lnTo>
                  <a:lnTo>
                    <a:pt x="618" y="1189"/>
                  </a:lnTo>
                  <a:lnTo>
                    <a:pt x="610" y="1189"/>
                  </a:lnTo>
                  <a:lnTo>
                    <a:pt x="603" y="1189"/>
                  </a:lnTo>
                  <a:lnTo>
                    <a:pt x="595" y="1189"/>
                  </a:lnTo>
                  <a:lnTo>
                    <a:pt x="534" y="1185"/>
                  </a:lnTo>
                  <a:lnTo>
                    <a:pt x="475" y="1177"/>
                  </a:lnTo>
                  <a:lnTo>
                    <a:pt x="418" y="1162"/>
                  </a:lnTo>
                  <a:lnTo>
                    <a:pt x="363" y="1141"/>
                  </a:lnTo>
                  <a:lnTo>
                    <a:pt x="311" y="1117"/>
                  </a:lnTo>
                  <a:lnTo>
                    <a:pt x="262" y="1087"/>
                  </a:lnTo>
                  <a:lnTo>
                    <a:pt x="217" y="1053"/>
                  </a:lnTo>
                  <a:lnTo>
                    <a:pt x="174" y="1015"/>
                  </a:lnTo>
                  <a:lnTo>
                    <a:pt x="136" y="972"/>
                  </a:lnTo>
                  <a:lnTo>
                    <a:pt x="102" y="927"/>
                  </a:lnTo>
                  <a:lnTo>
                    <a:pt x="72" y="878"/>
                  </a:lnTo>
                  <a:lnTo>
                    <a:pt x="48" y="826"/>
                  </a:lnTo>
                  <a:lnTo>
                    <a:pt x="27" y="770"/>
                  </a:lnTo>
                  <a:lnTo>
                    <a:pt x="12" y="714"/>
                  </a:lnTo>
                  <a:lnTo>
                    <a:pt x="4" y="655"/>
                  </a:lnTo>
                  <a:lnTo>
                    <a:pt x="0" y="594"/>
                  </a:lnTo>
                  <a:lnTo>
                    <a:pt x="4" y="533"/>
                  </a:lnTo>
                  <a:lnTo>
                    <a:pt x="12" y="475"/>
                  </a:lnTo>
                  <a:lnTo>
                    <a:pt x="27" y="418"/>
                  </a:lnTo>
                  <a:lnTo>
                    <a:pt x="48" y="363"/>
                  </a:lnTo>
                  <a:lnTo>
                    <a:pt x="72" y="311"/>
                  </a:lnTo>
                  <a:lnTo>
                    <a:pt x="102" y="261"/>
                  </a:lnTo>
                  <a:lnTo>
                    <a:pt x="136" y="217"/>
                  </a:lnTo>
                  <a:lnTo>
                    <a:pt x="174" y="174"/>
                  </a:lnTo>
                  <a:lnTo>
                    <a:pt x="217" y="136"/>
                  </a:lnTo>
                  <a:lnTo>
                    <a:pt x="262" y="101"/>
                  </a:lnTo>
                  <a:lnTo>
                    <a:pt x="311" y="71"/>
                  </a:lnTo>
                  <a:lnTo>
                    <a:pt x="363" y="47"/>
                  </a:lnTo>
                  <a:lnTo>
                    <a:pt x="418" y="26"/>
                  </a:lnTo>
                  <a:lnTo>
                    <a:pt x="475" y="12"/>
                  </a:lnTo>
                  <a:lnTo>
                    <a:pt x="534" y="3"/>
                  </a:lnTo>
                  <a:lnTo>
                    <a:pt x="595" y="0"/>
                  </a:lnTo>
                  <a:lnTo>
                    <a:pt x="656" y="3"/>
                  </a:lnTo>
                  <a:lnTo>
                    <a:pt x="714" y="12"/>
                  </a:lnTo>
                  <a:lnTo>
                    <a:pt x="771" y="26"/>
                  </a:lnTo>
                  <a:lnTo>
                    <a:pt x="826" y="47"/>
                  </a:lnTo>
                  <a:lnTo>
                    <a:pt x="878" y="71"/>
                  </a:lnTo>
                  <a:lnTo>
                    <a:pt x="927" y="101"/>
                  </a:lnTo>
                  <a:lnTo>
                    <a:pt x="972" y="136"/>
                  </a:lnTo>
                  <a:lnTo>
                    <a:pt x="1015" y="174"/>
                  </a:lnTo>
                  <a:lnTo>
                    <a:pt x="1053" y="217"/>
                  </a:lnTo>
                  <a:lnTo>
                    <a:pt x="1088" y="261"/>
                  </a:lnTo>
                  <a:lnTo>
                    <a:pt x="1118" y="311"/>
                  </a:lnTo>
                  <a:lnTo>
                    <a:pt x="1142" y="363"/>
                  </a:lnTo>
                  <a:lnTo>
                    <a:pt x="1162" y="418"/>
                  </a:lnTo>
                  <a:lnTo>
                    <a:pt x="1177" y="475"/>
                  </a:lnTo>
                  <a:lnTo>
                    <a:pt x="1185" y="533"/>
                  </a:lnTo>
                  <a:lnTo>
                    <a:pt x="1189" y="594"/>
                  </a:lnTo>
                  <a:lnTo>
                    <a:pt x="1187" y="652"/>
                  </a:lnTo>
                  <a:lnTo>
                    <a:pt x="1179" y="707"/>
                  </a:lnTo>
                  <a:lnTo>
                    <a:pt x="1165" y="760"/>
                  </a:lnTo>
                  <a:lnTo>
                    <a:pt x="1147" y="812"/>
                  </a:lnTo>
                  <a:lnTo>
                    <a:pt x="1126" y="861"/>
                  </a:lnTo>
                  <a:lnTo>
                    <a:pt x="1099" y="909"/>
                  </a:lnTo>
                  <a:lnTo>
                    <a:pt x="1069" y="952"/>
                  </a:lnTo>
                  <a:lnTo>
                    <a:pt x="1035" y="994"/>
                  </a:lnTo>
                  <a:lnTo>
                    <a:pt x="1021" y="988"/>
                  </a:lnTo>
                  <a:lnTo>
                    <a:pt x="1010" y="980"/>
                  </a:lnTo>
                  <a:lnTo>
                    <a:pt x="1001" y="971"/>
                  </a:lnTo>
                  <a:lnTo>
                    <a:pt x="994" y="961"/>
                  </a:lnTo>
                  <a:lnTo>
                    <a:pt x="989" y="949"/>
                  </a:lnTo>
                  <a:lnTo>
                    <a:pt x="985" y="935"/>
                  </a:lnTo>
                  <a:lnTo>
                    <a:pt x="982" y="920"/>
                  </a:lnTo>
                  <a:lnTo>
                    <a:pt x="980" y="904"/>
                  </a:lnTo>
                  <a:lnTo>
                    <a:pt x="1005" y="871"/>
                  </a:lnTo>
                  <a:lnTo>
                    <a:pt x="1027" y="836"/>
                  </a:lnTo>
                  <a:lnTo>
                    <a:pt x="1045" y="799"/>
                  </a:lnTo>
                  <a:lnTo>
                    <a:pt x="1061" y="761"/>
                  </a:lnTo>
                  <a:lnTo>
                    <a:pt x="1074" y="721"/>
                  </a:lnTo>
                  <a:lnTo>
                    <a:pt x="1083" y="681"/>
                  </a:lnTo>
                  <a:lnTo>
                    <a:pt x="1088" y="638"/>
                  </a:lnTo>
                  <a:lnTo>
                    <a:pt x="1090" y="594"/>
                  </a:lnTo>
                  <a:lnTo>
                    <a:pt x="1088" y="544"/>
                  </a:lnTo>
                  <a:lnTo>
                    <a:pt x="1080" y="494"/>
                  </a:lnTo>
                  <a:lnTo>
                    <a:pt x="1068" y="447"/>
                  </a:lnTo>
                  <a:lnTo>
                    <a:pt x="1051" y="402"/>
                  </a:lnTo>
                  <a:lnTo>
                    <a:pt x="1030" y="358"/>
                  </a:lnTo>
                  <a:lnTo>
                    <a:pt x="1005" y="318"/>
                  </a:lnTo>
                  <a:lnTo>
                    <a:pt x="977" y="280"/>
                  </a:lnTo>
                  <a:lnTo>
                    <a:pt x="945" y="244"/>
                  </a:lnTo>
                  <a:lnTo>
                    <a:pt x="909" y="212"/>
                  </a:lnTo>
                  <a:lnTo>
                    <a:pt x="871" y="184"/>
                  </a:lnTo>
                  <a:lnTo>
                    <a:pt x="831" y="159"/>
                  </a:lnTo>
                  <a:lnTo>
                    <a:pt x="787" y="138"/>
                  </a:lnTo>
                  <a:lnTo>
                    <a:pt x="742" y="121"/>
                  </a:lnTo>
                  <a:lnTo>
                    <a:pt x="695" y="109"/>
                  </a:lnTo>
                  <a:lnTo>
                    <a:pt x="645" y="101"/>
                  </a:lnTo>
                  <a:lnTo>
                    <a:pt x="595" y="99"/>
                  </a:lnTo>
                  <a:lnTo>
                    <a:pt x="544" y="101"/>
                  </a:lnTo>
                  <a:lnTo>
                    <a:pt x="494" y="109"/>
                  </a:lnTo>
                  <a:lnTo>
                    <a:pt x="447" y="121"/>
                  </a:lnTo>
                  <a:lnTo>
                    <a:pt x="401" y="138"/>
                  </a:lnTo>
                  <a:lnTo>
                    <a:pt x="358" y="159"/>
                  </a:lnTo>
                  <a:lnTo>
                    <a:pt x="317" y="184"/>
                  </a:lnTo>
                  <a:lnTo>
                    <a:pt x="279" y="212"/>
                  </a:lnTo>
                  <a:lnTo>
                    <a:pt x="244" y="244"/>
                  </a:lnTo>
                  <a:lnTo>
                    <a:pt x="212" y="280"/>
                  </a:lnTo>
                  <a:lnTo>
                    <a:pt x="183" y="318"/>
                  </a:lnTo>
                  <a:lnTo>
                    <a:pt x="159" y="358"/>
                  </a:lnTo>
                  <a:lnTo>
                    <a:pt x="139" y="402"/>
                  </a:lnTo>
                  <a:lnTo>
                    <a:pt x="121" y="447"/>
                  </a:lnTo>
                  <a:lnTo>
                    <a:pt x="110" y="494"/>
                  </a:lnTo>
                  <a:lnTo>
                    <a:pt x="102" y="544"/>
                  </a:lnTo>
                  <a:lnTo>
                    <a:pt x="99" y="594"/>
                  </a:lnTo>
                  <a:lnTo>
                    <a:pt x="102" y="645"/>
                  </a:lnTo>
                  <a:lnTo>
                    <a:pt x="110" y="694"/>
                  </a:lnTo>
                  <a:lnTo>
                    <a:pt x="121" y="742"/>
                  </a:lnTo>
                  <a:lnTo>
                    <a:pt x="139" y="788"/>
                  </a:lnTo>
                  <a:lnTo>
                    <a:pt x="159" y="830"/>
                  </a:lnTo>
                  <a:lnTo>
                    <a:pt x="183" y="872"/>
                  </a:lnTo>
                  <a:lnTo>
                    <a:pt x="212" y="910"/>
                  </a:lnTo>
                  <a:lnTo>
                    <a:pt x="244" y="944"/>
                  </a:lnTo>
                  <a:lnTo>
                    <a:pt x="279" y="977"/>
                  </a:lnTo>
                  <a:lnTo>
                    <a:pt x="317" y="1005"/>
                  </a:lnTo>
                  <a:lnTo>
                    <a:pt x="358" y="1030"/>
                  </a:lnTo>
                  <a:lnTo>
                    <a:pt x="401" y="1050"/>
                  </a:lnTo>
                  <a:lnTo>
                    <a:pt x="447" y="1068"/>
                  </a:lnTo>
                  <a:lnTo>
                    <a:pt x="494" y="1079"/>
                  </a:lnTo>
                  <a:lnTo>
                    <a:pt x="544" y="1087"/>
                  </a:lnTo>
                  <a:lnTo>
                    <a:pt x="595" y="1090"/>
                  </a:lnTo>
                  <a:lnTo>
                    <a:pt x="602" y="1090"/>
                  </a:lnTo>
                  <a:lnTo>
                    <a:pt x="607" y="1090"/>
                  </a:lnTo>
                  <a:lnTo>
                    <a:pt x="614" y="1090"/>
                  </a:lnTo>
                  <a:lnTo>
                    <a:pt x="621" y="1088"/>
                  </a:lnTo>
                  <a:lnTo>
                    <a:pt x="628" y="1088"/>
                  </a:lnTo>
                  <a:lnTo>
                    <a:pt x="635" y="1088"/>
                  </a:lnTo>
                  <a:lnTo>
                    <a:pt x="641" y="1087"/>
                  </a:lnTo>
                  <a:lnTo>
                    <a:pt x="648" y="1087"/>
                  </a:lnTo>
                  <a:lnTo>
                    <a:pt x="664" y="1115"/>
                  </a:lnTo>
                  <a:lnTo>
                    <a:pt x="669" y="1144"/>
                  </a:lnTo>
                  <a:lnTo>
                    <a:pt x="665" y="1168"/>
                  </a:lnTo>
                  <a:lnTo>
                    <a:pt x="656" y="1186"/>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85" name="Google Shape;685;p8"/>
            <p:cNvSpPr/>
            <p:nvPr/>
          </p:nvSpPr>
          <p:spPr>
            <a:xfrm>
              <a:off x="2002" y="2129"/>
              <a:ext cx="251" cy="142"/>
            </a:xfrm>
            <a:custGeom>
              <a:avLst/>
              <a:gdLst/>
              <a:ahLst/>
              <a:cxnLst/>
              <a:rect l="l" t="t" r="r" b="b"/>
              <a:pathLst>
                <a:path w="503" h="286" extrusionOk="0">
                  <a:moveTo>
                    <a:pt x="503" y="128"/>
                  </a:moveTo>
                  <a:lnTo>
                    <a:pt x="319" y="84"/>
                  </a:lnTo>
                  <a:lnTo>
                    <a:pt x="316" y="90"/>
                  </a:lnTo>
                  <a:lnTo>
                    <a:pt x="311" y="105"/>
                  </a:lnTo>
                  <a:lnTo>
                    <a:pt x="304" y="125"/>
                  </a:lnTo>
                  <a:lnTo>
                    <a:pt x="301" y="144"/>
                  </a:lnTo>
                  <a:lnTo>
                    <a:pt x="269" y="143"/>
                  </a:lnTo>
                  <a:lnTo>
                    <a:pt x="269" y="134"/>
                  </a:lnTo>
                  <a:lnTo>
                    <a:pt x="270" y="113"/>
                  </a:lnTo>
                  <a:lnTo>
                    <a:pt x="275" y="85"/>
                  </a:lnTo>
                  <a:lnTo>
                    <a:pt x="286" y="60"/>
                  </a:lnTo>
                  <a:lnTo>
                    <a:pt x="39" y="0"/>
                  </a:lnTo>
                  <a:lnTo>
                    <a:pt x="36" y="6"/>
                  </a:lnTo>
                  <a:lnTo>
                    <a:pt x="31" y="21"/>
                  </a:lnTo>
                  <a:lnTo>
                    <a:pt x="24" y="43"/>
                  </a:lnTo>
                  <a:lnTo>
                    <a:pt x="16" y="70"/>
                  </a:lnTo>
                  <a:lnTo>
                    <a:pt x="8" y="100"/>
                  </a:lnTo>
                  <a:lnTo>
                    <a:pt x="2" y="133"/>
                  </a:lnTo>
                  <a:lnTo>
                    <a:pt x="0" y="164"/>
                  </a:lnTo>
                  <a:lnTo>
                    <a:pt x="2" y="193"/>
                  </a:lnTo>
                  <a:lnTo>
                    <a:pt x="5" y="209"/>
                  </a:lnTo>
                  <a:lnTo>
                    <a:pt x="11" y="217"/>
                  </a:lnTo>
                  <a:lnTo>
                    <a:pt x="17" y="220"/>
                  </a:lnTo>
                  <a:lnTo>
                    <a:pt x="24" y="223"/>
                  </a:lnTo>
                  <a:lnTo>
                    <a:pt x="28" y="224"/>
                  </a:lnTo>
                  <a:lnTo>
                    <a:pt x="36" y="225"/>
                  </a:lnTo>
                  <a:lnTo>
                    <a:pt x="49" y="227"/>
                  </a:lnTo>
                  <a:lnTo>
                    <a:pt x="65" y="231"/>
                  </a:lnTo>
                  <a:lnTo>
                    <a:pt x="84" y="234"/>
                  </a:lnTo>
                  <a:lnTo>
                    <a:pt x="103" y="239"/>
                  </a:lnTo>
                  <a:lnTo>
                    <a:pt x="125" y="242"/>
                  </a:lnTo>
                  <a:lnTo>
                    <a:pt x="147" y="247"/>
                  </a:lnTo>
                  <a:lnTo>
                    <a:pt x="168" y="250"/>
                  </a:lnTo>
                  <a:lnTo>
                    <a:pt x="190" y="255"/>
                  </a:lnTo>
                  <a:lnTo>
                    <a:pt x="209" y="258"/>
                  </a:lnTo>
                  <a:lnTo>
                    <a:pt x="226" y="262"/>
                  </a:lnTo>
                  <a:lnTo>
                    <a:pt x="241" y="264"/>
                  </a:lnTo>
                  <a:lnTo>
                    <a:pt x="252" y="266"/>
                  </a:lnTo>
                  <a:lnTo>
                    <a:pt x="260" y="269"/>
                  </a:lnTo>
                  <a:lnTo>
                    <a:pt x="262" y="269"/>
                  </a:lnTo>
                  <a:lnTo>
                    <a:pt x="284" y="247"/>
                  </a:lnTo>
                  <a:lnTo>
                    <a:pt x="474" y="286"/>
                  </a:lnTo>
                  <a:lnTo>
                    <a:pt x="474" y="274"/>
                  </a:lnTo>
                  <a:lnTo>
                    <a:pt x="478" y="243"/>
                  </a:lnTo>
                  <a:lnTo>
                    <a:pt x="487" y="194"/>
                  </a:lnTo>
                  <a:lnTo>
                    <a:pt x="503" y="128"/>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86" name="Google Shape;686;p8"/>
            <p:cNvSpPr/>
            <p:nvPr/>
          </p:nvSpPr>
          <p:spPr>
            <a:xfrm>
              <a:off x="2037" y="2099"/>
              <a:ext cx="125" cy="31"/>
            </a:xfrm>
            <a:custGeom>
              <a:avLst/>
              <a:gdLst/>
              <a:ahLst/>
              <a:cxnLst/>
              <a:rect l="l" t="t" r="r" b="b"/>
              <a:pathLst>
                <a:path w="250" h="64" extrusionOk="0">
                  <a:moveTo>
                    <a:pt x="0" y="11"/>
                  </a:moveTo>
                  <a:lnTo>
                    <a:pt x="11" y="0"/>
                  </a:lnTo>
                  <a:lnTo>
                    <a:pt x="250" y="53"/>
                  </a:lnTo>
                  <a:lnTo>
                    <a:pt x="234" y="64"/>
                  </a:lnTo>
                  <a:lnTo>
                    <a:pt x="0" y="11"/>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87" name="Google Shape;687;p8"/>
            <p:cNvSpPr/>
            <p:nvPr/>
          </p:nvSpPr>
          <p:spPr>
            <a:xfrm>
              <a:off x="2179" y="1598"/>
              <a:ext cx="1585" cy="1585"/>
            </a:xfrm>
            <a:custGeom>
              <a:avLst/>
              <a:gdLst/>
              <a:ahLst/>
              <a:cxnLst/>
              <a:rect l="l" t="t" r="r" b="b"/>
              <a:pathLst>
                <a:path w="3171" h="3171" extrusionOk="0">
                  <a:moveTo>
                    <a:pt x="1565" y="280"/>
                  </a:moveTo>
                  <a:lnTo>
                    <a:pt x="1497" y="281"/>
                  </a:lnTo>
                  <a:lnTo>
                    <a:pt x="1432" y="287"/>
                  </a:lnTo>
                  <a:lnTo>
                    <a:pt x="1366" y="295"/>
                  </a:lnTo>
                  <a:lnTo>
                    <a:pt x="1302" y="307"/>
                  </a:lnTo>
                  <a:lnTo>
                    <a:pt x="1238" y="322"/>
                  </a:lnTo>
                  <a:lnTo>
                    <a:pt x="1176" y="339"/>
                  </a:lnTo>
                  <a:lnTo>
                    <a:pt x="1115" y="360"/>
                  </a:lnTo>
                  <a:lnTo>
                    <a:pt x="1055" y="383"/>
                  </a:lnTo>
                  <a:lnTo>
                    <a:pt x="998" y="409"/>
                  </a:lnTo>
                  <a:lnTo>
                    <a:pt x="941" y="438"/>
                  </a:lnTo>
                  <a:lnTo>
                    <a:pt x="886" y="470"/>
                  </a:lnTo>
                  <a:lnTo>
                    <a:pt x="833" y="504"/>
                  </a:lnTo>
                  <a:lnTo>
                    <a:pt x="781" y="541"/>
                  </a:lnTo>
                  <a:lnTo>
                    <a:pt x="732" y="580"/>
                  </a:lnTo>
                  <a:lnTo>
                    <a:pt x="684" y="621"/>
                  </a:lnTo>
                  <a:lnTo>
                    <a:pt x="639" y="664"/>
                  </a:lnTo>
                  <a:lnTo>
                    <a:pt x="596" y="710"/>
                  </a:lnTo>
                  <a:lnTo>
                    <a:pt x="554" y="757"/>
                  </a:lnTo>
                  <a:lnTo>
                    <a:pt x="515" y="807"/>
                  </a:lnTo>
                  <a:lnTo>
                    <a:pt x="478" y="858"/>
                  </a:lnTo>
                  <a:lnTo>
                    <a:pt x="445" y="911"/>
                  </a:lnTo>
                  <a:lnTo>
                    <a:pt x="412" y="967"/>
                  </a:lnTo>
                  <a:lnTo>
                    <a:pt x="384" y="1023"/>
                  </a:lnTo>
                  <a:lnTo>
                    <a:pt x="358" y="1081"/>
                  </a:lnTo>
                  <a:lnTo>
                    <a:pt x="334" y="1141"/>
                  </a:lnTo>
                  <a:lnTo>
                    <a:pt x="313" y="1202"/>
                  </a:lnTo>
                  <a:lnTo>
                    <a:pt x="296" y="1264"/>
                  </a:lnTo>
                  <a:lnTo>
                    <a:pt x="281" y="1327"/>
                  </a:lnTo>
                  <a:lnTo>
                    <a:pt x="270" y="1392"/>
                  </a:lnTo>
                  <a:lnTo>
                    <a:pt x="262" y="1457"/>
                  </a:lnTo>
                  <a:lnTo>
                    <a:pt x="256" y="1523"/>
                  </a:lnTo>
                  <a:lnTo>
                    <a:pt x="255" y="1591"/>
                  </a:lnTo>
                  <a:lnTo>
                    <a:pt x="256" y="1659"/>
                  </a:lnTo>
                  <a:lnTo>
                    <a:pt x="262" y="1724"/>
                  </a:lnTo>
                  <a:lnTo>
                    <a:pt x="270" y="1790"/>
                  </a:lnTo>
                  <a:lnTo>
                    <a:pt x="281" y="1856"/>
                  </a:lnTo>
                  <a:lnTo>
                    <a:pt x="296" y="1919"/>
                  </a:lnTo>
                  <a:lnTo>
                    <a:pt x="313" y="1981"/>
                  </a:lnTo>
                  <a:lnTo>
                    <a:pt x="334" y="2042"/>
                  </a:lnTo>
                  <a:lnTo>
                    <a:pt x="358" y="2101"/>
                  </a:lnTo>
                  <a:lnTo>
                    <a:pt x="384" y="2160"/>
                  </a:lnTo>
                  <a:lnTo>
                    <a:pt x="412" y="2216"/>
                  </a:lnTo>
                  <a:lnTo>
                    <a:pt x="445" y="2272"/>
                  </a:lnTo>
                  <a:lnTo>
                    <a:pt x="478" y="2324"/>
                  </a:lnTo>
                  <a:lnTo>
                    <a:pt x="515" y="2376"/>
                  </a:lnTo>
                  <a:lnTo>
                    <a:pt x="554" y="2426"/>
                  </a:lnTo>
                  <a:lnTo>
                    <a:pt x="596" y="2473"/>
                  </a:lnTo>
                  <a:lnTo>
                    <a:pt x="639" y="2519"/>
                  </a:lnTo>
                  <a:lnTo>
                    <a:pt x="684" y="2563"/>
                  </a:lnTo>
                  <a:lnTo>
                    <a:pt x="732" y="2603"/>
                  </a:lnTo>
                  <a:lnTo>
                    <a:pt x="781" y="2642"/>
                  </a:lnTo>
                  <a:lnTo>
                    <a:pt x="833" y="2679"/>
                  </a:lnTo>
                  <a:lnTo>
                    <a:pt x="886" y="2714"/>
                  </a:lnTo>
                  <a:lnTo>
                    <a:pt x="941" y="2745"/>
                  </a:lnTo>
                  <a:lnTo>
                    <a:pt x="998" y="2774"/>
                  </a:lnTo>
                  <a:lnTo>
                    <a:pt x="1055" y="2800"/>
                  </a:lnTo>
                  <a:lnTo>
                    <a:pt x="1115" y="2824"/>
                  </a:lnTo>
                  <a:lnTo>
                    <a:pt x="1176" y="2845"/>
                  </a:lnTo>
                  <a:lnTo>
                    <a:pt x="1238" y="2862"/>
                  </a:lnTo>
                  <a:lnTo>
                    <a:pt x="1302" y="2877"/>
                  </a:lnTo>
                  <a:lnTo>
                    <a:pt x="1366" y="2889"/>
                  </a:lnTo>
                  <a:lnTo>
                    <a:pt x="1432" y="2897"/>
                  </a:lnTo>
                  <a:lnTo>
                    <a:pt x="1497" y="2903"/>
                  </a:lnTo>
                  <a:lnTo>
                    <a:pt x="1565" y="2904"/>
                  </a:lnTo>
                  <a:lnTo>
                    <a:pt x="1633" y="2903"/>
                  </a:lnTo>
                  <a:lnTo>
                    <a:pt x="1699" y="2897"/>
                  </a:lnTo>
                  <a:lnTo>
                    <a:pt x="1765" y="2889"/>
                  </a:lnTo>
                  <a:lnTo>
                    <a:pt x="1830" y="2877"/>
                  </a:lnTo>
                  <a:lnTo>
                    <a:pt x="1894" y="2862"/>
                  </a:lnTo>
                  <a:lnTo>
                    <a:pt x="1956" y="2845"/>
                  </a:lnTo>
                  <a:lnTo>
                    <a:pt x="2017" y="2824"/>
                  </a:lnTo>
                  <a:lnTo>
                    <a:pt x="2076" y="2800"/>
                  </a:lnTo>
                  <a:lnTo>
                    <a:pt x="2134" y="2774"/>
                  </a:lnTo>
                  <a:lnTo>
                    <a:pt x="2191" y="2745"/>
                  </a:lnTo>
                  <a:lnTo>
                    <a:pt x="2246" y="2714"/>
                  </a:lnTo>
                  <a:lnTo>
                    <a:pt x="2299" y="2679"/>
                  </a:lnTo>
                  <a:lnTo>
                    <a:pt x="2350" y="2642"/>
                  </a:lnTo>
                  <a:lnTo>
                    <a:pt x="2399" y="2603"/>
                  </a:lnTo>
                  <a:lnTo>
                    <a:pt x="2448" y="2563"/>
                  </a:lnTo>
                  <a:lnTo>
                    <a:pt x="2493" y="2519"/>
                  </a:lnTo>
                  <a:lnTo>
                    <a:pt x="2536" y="2473"/>
                  </a:lnTo>
                  <a:lnTo>
                    <a:pt x="2578" y="2426"/>
                  </a:lnTo>
                  <a:lnTo>
                    <a:pt x="2617" y="2376"/>
                  </a:lnTo>
                  <a:lnTo>
                    <a:pt x="2653" y="2324"/>
                  </a:lnTo>
                  <a:lnTo>
                    <a:pt x="2687" y="2272"/>
                  </a:lnTo>
                  <a:lnTo>
                    <a:pt x="2719" y="2216"/>
                  </a:lnTo>
                  <a:lnTo>
                    <a:pt x="2748" y="2160"/>
                  </a:lnTo>
                  <a:lnTo>
                    <a:pt x="2774" y="2101"/>
                  </a:lnTo>
                  <a:lnTo>
                    <a:pt x="2798" y="2042"/>
                  </a:lnTo>
                  <a:lnTo>
                    <a:pt x="2819" y="1981"/>
                  </a:lnTo>
                  <a:lnTo>
                    <a:pt x="2836" y="1919"/>
                  </a:lnTo>
                  <a:lnTo>
                    <a:pt x="2851" y="1856"/>
                  </a:lnTo>
                  <a:lnTo>
                    <a:pt x="2862" y="1790"/>
                  </a:lnTo>
                  <a:lnTo>
                    <a:pt x="2870" y="1724"/>
                  </a:lnTo>
                  <a:lnTo>
                    <a:pt x="2876" y="1659"/>
                  </a:lnTo>
                  <a:lnTo>
                    <a:pt x="2877" y="1591"/>
                  </a:lnTo>
                  <a:lnTo>
                    <a:pt x="2876" y="1523"/>
                  </a:lnTo>
                  <a:lnTo>
                    <a:pt x="2870" y="1457"/>
                  </a:lnTo>
                  <a:lnTo>
                    <a:pt x="2862" y="1392"/>
                  </a:lnTo>
                  <a:lnTo>
                    <a:pt x="2851" y="1327"/>
                  </a:lnTo>
                  <a:lnTo>
                    <a:pt x="2836" y="1264"/>
                  </a:lnTo>
                  <a:lnTo>
                    <a:pt x="2819" y="1202"/>
                  </a:lnTo>
                  <a:lnTo>
                    <a:pt x="2798" y="1141"/>
                  </a:lnTo>
                  <a:lnTo>
                    <a:pt x="2774" y="1081"/>
                  </a:lnTo>
                  <a:lnTo>
                    <a:pt x="2748" y="1023"/>
                  </a:lnTo>
                  <a:lnTo>
                    <a:pt x="2719" y="967"/>
                  </a:lnTo>
                  <a:lnTo>
                    <a:pt x="2687" y="911"/>
                  </a:lnTo>
                  <a:lnTo>
                    <a:pt x="2653" y="858"/>
                  </a:lnTo>
                  <a:lnTo>
                    <a:pt x="2617" y="807"/>
                  </a:lnTo>
                  <a:lnTo>
                    <a:pt x="2578" y="757"/>
                  </a:lnTo>
                  <a:lnTo>
                    <a:pt x="2536" y="710"/>
                  </a:lnTo>
                  <a:lnTo>
                    <a:pt x="2493" y="664"/>
                  </a:lnTo>
                  <a:lnTo>
                    <a:pt x="2448" y="621"/>
                  </a:lnTo>
                  <a:lnTo>
                    <a:pt x="2399" y="580"/>
                  </a:lnTo>
                  <a:lnTo>
                    <a:pt x="2350" y="541"/>
                  </a:lnTo>
                  <a:lnTo>
                    <a:pt x="2299" y="504"/>
                  </a:lnTo>
                  <a:lnTo>
                    <a:pt x="2246" y="470"/>
                  </a:lnTo>
                  <a:lnTo>
                    <a:pt x="2191" y="438"/>
                  </a:lnTo>
                  <a:lnTo>
                    <a:pt x="2134" y="409"/>
                  </a:lnTo>
                  <a:lnTo>
                    <a:pt x="2076" y="383"/>
                  </a:lnTo>
                  <a:lnTo>
                    <a:pt x="2017" y="360"/>
                  </a:lnTo>
                  <a:lnTo>
                    <a:pt x="1956" y="339"/>
                  </a:lnTo>
                  <a:lnTo>
                    <a:pt x="1894" y="322"/>
                  </a:lnTo>
                  <a:lnTo>
                    <a:pt x="1830" y="307"/>
                  </a:lnTo>
                  <a:lnTo>
                    <a:pt x="1765" y="295"/>
                  </a:lnTo>
                  <a:lnTo>
                    <a:pt x="1699" y="287"/>
                  </a:lnTo>
                  <a:lnTo>
                    <a:pt x="1633" y="281"/>
                  </a:lnTo>
                  <a:lnTo>
                    <a:pt x="1565" y="280"/>
                  </a:lnTo>
                  <a:lnTo>
                    <a:pt x="1585" y="0"/>
                  </a:lnTo>
                  <a:lnTo>
                    <a:pt x="1667" y="3"/>
                  </a:lnTo>
                  <a:lnTo>
                    <a:pt x="1747" y="8"/>
                  </a:lnTo>
                  <a:lnTo>
                    <a:pt x="1827" y="19"/>
                  </a:lnTo>
                  <a:lnTo>
                    <a:pt x="1905" y="33"/>
                  </a:lnTo>
                  <a:lnTo>
                    <a:pt x="1981" y="50"/>
                  </a:lnTo>
                  <a:lnTo>
                    <a:pt x="2057" y="72"/>
                  </a:lnTo>
                  <a:lnTo>
                    <a:pt x="2131" y="97"/>
                  </a:lnTo>
                  <a:lnTo>
                    <a:pt x="2202" y="125"/>
                  </a:lnTo>
                  <a:lnTo>
                    <a:pt x="2273" y="157"/>
                  </a:lnTo>
                  <a:lnTo>
                    <a:pt x="2342" y="192"/>
                  </a:lnTo>
                  <a:lnTo>
                    <a:pt x="2407" y="230"/>
                  </a:lnTo>
                  <a:lnTo>
                    <a:pt x="2472" y="271"/>
                  </a:lnTo>
                  <a:lnTo>
                    <a:pt x="2534" y="316"/>
                  </a:lnTo>
                  <a:lnTo>
                    <a:pt x="2594" y="363"/>
                  </a:lnTo>
                  <a:lnTo>
                    <a:pt x="2652" y="413"/>
                  </a:lnTo>
                  <a:lnTo>
                    <a:pt x="2707" y="464"/>
                  </a:lnTo>
                  <a:lnTo>
                    <a:pt x="2759" y="520"/>
                  </a:lnTo>
                  <a:lnTo>
                    <a:pt x="2809" y="577"/>
                  </a:lnTo>
                  <a:lnTo>
                    <a:pt x="2857" y="637"/>
                  </a:lnTo>
                  <a:lnTo>
                    <a:pt x="2900" y="699"/>
                  </a:lnTo>
                  <a:lnTo>
                    <a:pt x="2942" y="764"/>
                  </a:lnTo>
                  <a:lnTo>
                    <a:pt x="2980" y="831"/>
                  </a:lnTo>
                  <a:lnTo>
                    <a:pt x="3014" y="899"/>
                  </a:lnTo>
                  <a:lnTo>
                    <a:pt x="3047" y="969"/>
                  </a:lnTo>
                  <a:lnTo>
                    <a:pt x="3075" y="1040"/>
                  </a:lnTo>
                  <a:lnTo>
                    <a:pt x="3100" y="1114"/>
                  </a:lnTo>
                  <a:lnTo>
                    <a:pt x="3121" y="1189"/>
                  </a:lnTo>
                  <a:lnTo>
                    <a:pt x="3139" y="1266"/>
                  </a:lnTo>
                  <a:lnTo>
                    <a:pt x="3153" y="1344"/>
                  </a:lnTo>
                  <a:lnTo>
                    <a:pt x="3163" y="1423"/>
                  </a:lnTo>
                  <a:lnTo>
                    <a:pt x="3169" y="1503"/>
                  </a:lnTo>
                  <a:lnTo>
                    <a:pt x="3171" y="1585"/>
                  </a:lnTo>
                  <a:lnTo>
                    <a:pt x="3169" y="1667"/>
                  </a:lnTo>
                  <a:lnTo>
                    <a:pt x="3163" y="1747"/>
                  </a:lnTo>
                  <a:lnTo>
                    <a:pt x="3153" y="1827"/>
                  </a:lnTo>
                  <a:lnTo>
                    <a:pt x="3139" y="1905"/>
                  </a:lnTo>
                  <a:lnTo>
                    <a:pt x="3121" y="1981"/>
                  </a:lnTo>
                  <a:lnTo>
                    <a:pt x="3100" y="2057"/>
                  </a:lnTo>
                  <a:lnTo>
                    <a:pt x="3075" y="2131"/>
                  </a:lnTo>
                  <a:lnTo>
                    <a:pt x="3047" y="2202"/>
                  </a:lnTo>
                  <a:lnTo>
                    <a:pt x="3014" y="2273"/>
                  </a:lnTo>
                  <a:lnTo>
                    <a:pt x="2980" y="2342"/>
                  </a:lnTo>
                  <a:lnTo>
                    <a:pt x="2942" y="2407"/>
                  </a:lnTo>
                  <a:lnTo>
                    <a:pt x="2900" y="2472"/>
                  </a:lnTo>
                  <a:lnTo>
                    <a:pt x="2857" y="2534"/>
                  </a:lnTo>
                  <a:lnTo>
                    <a:pt x="2809" y="2594"/>
                  </a:lnTo>
                  <a:lnTo>
                    <a:pt x="2759" y="2652"/>
                  </a:lnTo>
                  <a:lnTo>
                    <a:pt x="2707" y="2707"/>
                  </a:lnTo>
                  <a:lnTo>
                    <a:pt x="2652" y="2759"/>
                  </a:lnTo>
                  <a:lnTo>
                    <a:pt x="2594" y="2809"/>
                  </a:lnTo>
                  <a:lnTo>
                    <a:pt x="2534" y="2857"/>
                  </a:lnTo>
                  <a:lnTo>
                    <a:pt x="2472" y="2900"/>
                  </a:lnTo>
                  <a:lnTo>
                    <a:pt x="2407" y="2942"/>
                  </a:lnTo>
                  <a:lnTo>
                    <a:pt x="2342" y="2980"/>
                  </a:lnTo>
                  <a:lnTo>
                    <a:pt x="2273" y="3014"/>
                  </a:lnTo>
                  <a:lnTo>
                    <a:pt x="2202" y="3047"/>
                  </a:lnTo>
                  <a:lnTo>
                    <a:pt x="2131" y="3075"/>
                  </a:lnTo>
                  <a:lnTo>
                    <a:pt x="2057" y="3100"/>
                  </a:lnTo>
                  <a:lnTo>
                    <a:pt x="1981" y="3121"/>
                  </a:lnTo>
                  <a:lnTo>
                    <a:pt x="1905" y="3139"/>
                  </a:lnTo>
                  <a:lnTo>
                    <a:pt x="1827" y="3153"/>
                  </a:lnTo>
                  <a:lnTo>
                    <a:pt x="1747" y="3163"/>
                  </a:lnTo>
                  <a:lnTo>
                    <a:pt x="1667" y="3169"/>
                  </a:lnTo>
                  <a:lnTo>
                    <a:pt x="1585" y="3171"/>
                  </a:lnTo>
                  <a:lnTo>
                    <a:pt x="1503" y="3169"/>
                  </a:lnTo>
                  <a:lnTo>
                    <a:pt x="1423" y="3163"/>
                  </a:lnTo>
                  <a:lnTo>
                    <a:pt x="1343" y="3153"/>
                  </a:lnTo>
                  <a:lnTo>
                    <a:pt x="1266" y="3139"/>
                  </a:lnTo>
                  <a:lnTo>
                    <a:pt x="1189" y="3121"/>
                  </a:lnTo>
                  <a:lnTo>
                    <a:pt x="1114" y="3100"/>
                  </a:lnTo>
                  <a:lnTo>
                    <a:pt x="1040" y="3075"/>
                  </a:lnTo>
                  <a:lnTo>
                    <a:pt x="968" y="3047"/>
                  </a:lnTo>
                  <a:lnTo>
                    <a:pt x="897" y="3014"/>
                  </a:lnTo>
                  <a:lnTo>
                    <a:pt x="829" y="2980"/>
                  </a:lnTo>
                  <a:lnTo>
                    <a:pt x="763" y="2942"/>
                  </a:lnTo>
                  <a:lnTo>
                    <a:pt x="699" y="2900"/>
                  </a:lnTo>
                  <a:lnTo>
                    <a:pt x="637" y="2857"/>
                  </a:lnTo>
                  <a:lnTo>
                    <a:pt x="577" y="2809"/>
                  </a:lnTo>
                  <a:lnTo>
                    <a:pt x="520" y="2759"/>
                  </a:lnTo>
                  <a:lnTo>
                    <a:pt x="464" y="2707"/>
                  </a:lnTo>
                  <a:lnTo>
                    <a:pt x="411" y="2652"/>
                  </a:lnTo>
                  <a:lnTo>
                    <a:pt x="362" y="2594"/>
                  </a:lnTo>
                  <a:lnTo>
                    <a:pt x="315" y="2534"/>
                  </a:lnTo>
                  <a:lnTo>
                    <a:pt x="271" y="2472"/>
                  </a:lnTo>
                  <a:lnTo>
                    <a:pt x="229" y="2407"/>
                  </a:lnTo>
                  <a:lnTo>
                    <a:pt x="191" y="2342"/>
                  </a:lnTo>
                  <a:lnTo>
                    <a:pt x="157" y="2273"/>
                  </a:lnTo>
                  <a:lnTo>
                    <a:pt x="125" y="2202"/>
                  </a:lnTo>
                  <a:lnTo>
                    <a:pt x="96" y="2131"/>
                  </a:lnTo>
                  <a:lnTo>
                    <a:pt x="72" y="2057"/>
                  </a:lnTo>
                  <a:lnTo>
                    <a:pt x="50" y="1981"/>
                  </a:lnTo>
                  <a:lnTo>
                    <a:pt x="32" y="1905"/>
                  </a:lnTo>
                  <a:lnTo>
                    <a:pt x="19" y="1827"/>
                  </a:lnTo>
                  <a:lnTo>
                    <a:pt x="8" y="1747"/>
                  </a:lnTo>
                  <a:lnTo>
                    <a:pt x="2" y="1667"/>
                  </a:lnTo>
                  <a:lnTo>
                    <a:pt x="0" y="1585"/>
                  </a:lnTo>
                  <a:lnTo>
                    <a:pt x="2" y="1503"/>
                  </a:lnTo>
                  <a:lnTo>
                    <a:pt x="8" y="1423"/>
                  </a:lnTo>
                  <a:lnTo>
                    <a:pt x="19" y="1344"/>
                  </a:lnTo>
                  <a:lnTo>
                    <a:pt x="32" y="1266"/>
                  </a:lnTo>
                  <a:lnTo>
                    <a:pt x="50" y="1189"/>
                  </a:lnTo>
                  <a:lnTo>
                    <a:pt x="72" y="1114"/>
                  </a:lnTo>
                  <a:lnTo>
                    <a:pt x="96" y="1040"/>
                  </a:lnTo>
                  <a:lnTo>
                    <a:pt x="125" y="969"/>
                  </a:lnTo>
                  <a:lnTo>
                    <a:pt x="157" y="899"/>
                  </a:lnTo>
                  <a:lnTo>
                    <a:pt x="191" y="831"/>
                  </a:lnTo>
                  <a:lnTo>
                    <a:pt x="229" y="764"/>
                  </a:lnTo>
                  <a:lnTo>
                    <a:pt x="271" y="699"/>
                  </a:lnTo>
                  <a:lnTo>
                    <a:pt x="315" y="637"/>
                  </a:lnTo>
                  <a:lnTo>
                    <a:pt x="362" y="577"/>
                  </a:lnTo>
                  <a:lnTo>
                    <a:pt x="411" y="520"/>
                  </a:lnTo>
                  <a:lnTo>
                    <a:pt x="464" y="464"/>
                  </a:lnTo>
                  <a:lnTo>
                    <a:pt x="520" y="413"/>
                  </a:lnTo>
                  <a:lnTo>
                    <a:pt x="577" y="363"/>
                  </a:lnTo>
                  <a:lnTo>
                    <a:pt x="637" y="316"/>
                  </a:lnTo>
                  <a:lnTo>
                    <a:pt x="699" y="271"/>
                  </a:lnTo>
                  <a:lnTo>
                    <a:pt x="763" y="230"/>
                  </a:lnTo>
                  <a:lnTo>
                    <a:pt x="829" y="192"/>
                  </a:lnTo>
                  <a:lnTo>
                    <a:pt x="897" y="157"/>
                  </a:lnTo>
                  <a:lnTo>
                    <a:pt x="968" y="125"/>
                  </a:lnTo>
                  <a:lnTo>
                    <a:pt x="1040" y="97"/>
                  </a:lnTo>
                  <a:lnTo>
                    <a:pt x="1114" y="72"/>
                  </a:lnTo>
                  <a:lnTo>
                    <a:pt x="1189" y="50"/>
                  </a:lnTo>
                  <a:lnTo>
                    <a:pt x="1266" y="33"/>
                  </a:lnTo>
                  <a:lnTo>
                    <a:pt x="1343" y="19"/>
                  </a:lnTo>
                  <a:lnTo>
                    <a:pt x="1423" y="8"/>
                  </a:lnTo>
                  <a:lnTo>
                    <a:pt x="1503" y="3"/>
                  </a:lnTo>
                  <a:lnTo>
                    <a:pt x="1585" y="0"/>
                  </a:lnTo>
                  <a:lnTo>
                    <a:pt x="1565" y="280"/>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688" name="Google Shape;688;p8"/>
          <p:cNvSpPr txBox="1"/>
          <p:nvPr/>
        </p:nvSpPr>
        <p:spPr>
          <a:xfrm>
            <a:off x="908092" y="2685070"/>
            <a:ext cx="1303377" cy="78190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100">
                <a:solidFill>
                  <a:schemeClr val="dk1"/>
                </a:solidFill>
                <a:latin typeface="Calibri" panose="020F0502020204030204" pitchFamily="34" charset="0"/>
                <a:ea typeface="Quattrocento Sans"/>
                <a:cs typeface="Calibri" panose="020F0502020204030204" pitchFamily="34" charset="0"/>
                <a:sym typeface="Quattrocento Sans"/>
              </a:rPr>
              <a:t>Diario</a:t>
            </a:r>
            <a:endParaRPr sz="1100">
              <a:solidFill>
                <a:schemeClr val="dk1"/>
              </a:solidFill>
              <a:latin typeface="Calibri" panose="020F0502020204030204" pitchFamily="34" charset="0"/>
              <a:ea typeface="Quattrocento Sans"/>
              <a:cs typeface="Calibri" panose="020F0502020204030204" pitchFamily="34" charset="0"/>
              <a:sym typeface="Quattrocento Sans"/>
            </a:endParaRPr>
          </a:p>
          <a:p>
            <a:pPr marL="0" marR="0" lvl="0" indent="0" algn="ctr" rtl="0">
              <a:spcBef>
                <a:spcPts val="0"/>
              </a:spcBef>
              <a:spcAft>
                <a:spcPts val="0"/>
              </a:spcAft>
              <a:buNone/>
            </a:pPr>
            <a:r>
              <a:rPr lang="en-US" sz="1100">
                <a:solidFill>
                  <a:schemeClr val="dk1"/>
                </a:solidFill>
                <a:latin typeface="Calibri" panose="020F0502020204030204" pitchFamily="34" charset="0"/>
                <a:ea typeface="Quattrocento Sans"/>
                <a:cs typeface="Calibri" panose="020F0502020204030204" pitchFamily="34" charset="0"/>
                <a:sym typeface="Quattrocento Sans"/>
              </a:rPr>
              <a:t>Semanal</a:t>
            </a:r>
            <a:endParaRPr sz="1100">
              <a:solidFill>
                <a:schemeClr val="dk1"/>
              </a:solidFill>
              <a:latin typeface="Calibri" panose="020F0502020204030204" pitchFamily="34" charset="0"/>
              <a:ea typeface="Quattrocento Sans"/>
              <a:cs typeface="Calibri" panose="020F0502020204030204" pitchFamily="34" charset="0"/>
              <a:sym typeface="Quattrocento Sans"/>
            </a:endParaRPr>
          </a:p>
          <a:p>
            <a:pPr marL="0" marR="0" lvl="0" indent="0" algn="ctr" rtl="0">
              <a:spcBef>
                <a:spcPts val="0"/>
              </a:spcBef>
              <a:spcAft>
                <a:spcPts val="0"/>
              </a:spcAft>
              <a:buNone/>
            </a:pPr>
            <a:r>
              <a:rPr lang="en-US" sz="1100">
                <a:solidFill>
                  <a:schemeClr val="dk1"/>
                </a:solidFill>
                <a:latin typeface="Calibri" panose="020F0502020204030204" pitchFamily="34" charset="0"/>
                <a:ea typeface="Quattrocento Sans"/>
                <a:cs typeface="Calibri" panose="020F0502020204030204" pitchFamily="34" charset="0"/>
                <a:sym typeface="Quattrocento Sans"/>
              </a:rPr>
              <a:t>Mensual</a:t>
            </a:r>
            <a:endParaRPr sz="1100">
              <a:solidFill>
                <a:schemeClr val="dk1"/>
              </a:solidFill>
              <a:latin typeface="Calibri" panose="020F0502020204030204" pitchFamily="34" charset="0"/>
              <a:ea typeface="Quattrocento Sans"/>
              <a:cs typeface="Calibri" panose="020F0502020204030204" pitchFamily="34" charset="0"/>
              <a:sym typeface="Quattrocento Sans"/>
            </a:endParaRPr>
          </a:p>
          <a:p>
            <a:pPr marL="0" marR="0" lvl="0" indent="0" algn="ctr" rtl="0">
              <a:spcBef>
                <a:spcPts val="0"/>
              </a:spcBef>
              <a:spcAft>
                <a:spcPts val="0"/>
              </a:spcAft>
              <a:buNone/>
            </a:pPr>
            <a:r>
              <a:rPr lang="en-US" sz="1100">
                <a:solidFill>
                  <a:schemeClr val="dk1"/>
                </a:solidFill>
                <a:latin typeface="Calibri" panose="020F0502020204030204" pitchFamily="34" charset="0"/>
                <a:ea typeface="Quattrocento Sans"/>
                <a:cs typeface="Calibri" panose="020F0502020204030204" pitchFamily="34" charset="0"/>
                <a:sym typeface="Quattrocento Sans"/>
              </a:rPr>
              <a:t>Trimestral</a:t>
            </a:r>
            <a:endParaRPr sz="1600">
              <a:latin typeface="Calibri" panose="020F0502020204030204" pitchFamily="34" charset="0"/>
              <a:cs typeface="Calibri" panose="020F0502020204030204" pitchFamily="34" charset="0"/>
            </a:endParaRPr>
          </a:p>
        </p:txBody>
      </p:sp>
      <p:sp>
        <p:nvSpPr>
          <p:cNvPr id="689" name="Google Shape;689;p8"/>
          <p:cNvSpPr txBox="1"/>
          <p:nvPr/>
        </p:nvSpPr>
        <p:spPr>
          <a:xfrm>
            <a:off x="2217962" y="2740696"/>
            <a:ext cx="1284049" cy="52318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¿Tiempo Real?</a:t>
            </a:r>
            <a:endParaRPr lang="es-ES_tradnl" sz="1600">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¿Horario?</a:t>
            </a:r>
            <a:endParaRPr lang="es-ES_tradnl" sz="1600">
              <a:latin typeface="Calibri" panose="020F0502020204030204" pitchFamily="34" charset="0"/>
              <a:cs typeface="Calibri" panose="020F0502020204030204" pitchFamily="34" charset="0"/>
            </a:endParaRPr>
          </a:p>
        </p:txBody>
      </p:sp>
      <p:sp>
        <p:nvSpPr>
          <p:cNvPr id="690" name="Google Shape;690;p8"/>
          <p:cNvSpPr txBox="1"/>
          <p:nvPr/>
        </p:nvSpPr>
        <p:spPr>
          <a:xfrm>
            <a:off x="5973244" y="2618700"/>
            <a:ext cx="2049707" cy="311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s-PE" sz="1400" dirty="0">
                <a:solidFill>
                  <a:schemeClr val="dk1"/>
                </a:solidFill>
                <a:latin typeface="Calibri" panose="020F0502020204030204" pitchFamily="34" charset="0"/>
                <a:ea typeface="Quattrocento Sans"/>
                <a:cs typeface="Calibri" panose="020F0502020204030204" pitchFamily="34" charset="0"/>
                <a:sym typeface="Quattrocento Sans"/>
              </a:rPr>
              <a:t>Tabla de hechos (vacía</a:t>
            </a:r>
            <a:r>
              <a:rPr lang="en-US" sz="1400" dirty="0">
                <a:solidFill>
                  <a:schemeClr val="dk1"/>
                </a:solidFill>
                <a:latin typeface="Calibri" panose="020F0502020204030204" pitchFamily="34" charset="0"/>
                <a:ea typeface="Quattrocento Sans"/>
                <a:cs typeface="Calibri" panose="020F0502020204030204" pitchFamily="34" charset="0"/>
                <a:sym typeface="Quattrocento Sans"/>
              </a:rPr>
              <a:t>)</a:t>
            </a:r>
            <a:endParaRPr sz="1400" dirty="0">
              <a:solidFill>
                <a:schemeClr val="dk1"/>
              </a:solidFill>
              <a:latin typeface="Calibri" panose="020F0502020204030204" pitchFamily="34" charset="0"/>
              <a:ea typeface="Quattrocento Sans"/>
              <a:cs typeface="Calibri" panose="020F0502020204030204" pitchFamily="34" charset="0"/>
              <a:sym typeface="Quattrocento Sans"/>
            </a:endParaRPr>
          </a:p>
        </p:txBody>
      </p:sp>
      <p:cxnSp>
        <p:nvCxnSpPr>
          <p:cNvPr id="691" name="Google Shape;691;p8"/>
          <p:cNvCxnSpPr/>
          <p:nvPr/>
        </p:nvCxnSpPr>
        <p:spPr>
          <a:xfrm rot="10800000" flipH="1">
            <a:off x="6739976" y="2318358"/>
            <a:ext cx="140395" cy="280791"/>
          </a:xfrm>
          <a:prstGeom prst="straightConnector1">
            <a:avLst/>
          </a:prstGeom>
          <a:noFill/>
          <a:ln w="12700" cap="flat" cmpd="sng">
            <a:solidFill>
              <a:schemeClr val="dk1"/>
            </a:solidFill>
            <a:prstDash val="solid"/>
            <a:round/>
            <a:headEnd type="none" w="med" len="med"/>
            <a:tailEnd type="triangle" w="med" len="med"/>
          </a:ln>
        </p:spPr>
      </p:cxnSp>
      <p:sp>
        <p:nvSpPr>
          <p:cNvPr id="692" name="Google Shape;692;p8"/>
          <p:cNvSpPr/>
          <p:nvPr/>
        </p:nvSpPr>
        <p:spPr>
          <a:xfrm>
            <a:off x="5179095" y="3785198"/>
            <a:ext cx="1560880" cy="311501"/>
          </a:xfrm>
          <a:custGeom>
            <a:avLst/>
            <a:gdLst/>
            <a:ahLst/>
            <a:cxnLst/>
            <a:rect l="l" t="t" r="r" b="b"/>
            <a:pathLst>
              <a:path w="1200" h="256" extrusionOk="0">
                <a:moveTo>
                  <a:pt x="0" y="0"/>
                </a:moveTo>
                <a:cubicBezTo>
                  <a:pt x="108" y="76"/>
                  <a:pt x="216" y="152"/>
                  <a:pt x="384" y="192"/>
                </a:cubicBezTo>
                <a:cubicBezTo>
                  <a:pt x="552" y="232"/>
                  <a:pt x="872" y="256"/>
                  <a:pt x="1008" y="240"/>
                </a:cubicBezTo>
                <a:cubicBezTo>
                  <a:pt x="1144" y="224"/>
                  <a:pt x="1172" y="160"/>
                  <a:pt x="1200" y="96"/>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93" name="Google Shape;693;p8"/>
          <p:cNvSpPr/>
          <p:nvPr/>
        </p:nvSpPr>
        <p:spPr>
          <a:xfrm>
            <a:off x="5207052" y="4258300"/>
            <a:ext cx="1553236" cy="105746"/>
          </a:xfrm>
          <a:custGeom>
            <a:avLst/>
            <a:gdLst/>
            <a:ahLst/>
            <a:cxnLst/>
            <a:rect l="l" t="t" r="r" b="b"/>
            <a:pathLst>
              <a:path w="1200" h="96" extrusionOk="0">
                <a:moveTo>
                  <a:pt x="0" y="0"/>
                </a:moveTo>
                <a:cubicBezTo>
                  <a:pt x="188" y="48"/>
                  <a:pt x="376" y="96"/>
                  <a:pt x="576" y="96"/>
                </a:cubicBezTo>
                <a:cubicBezTo>
                  <a:pt x="776" y="96"/>
                  <a:pt x="1096" y="16"/>
                  <a:pt x="1200"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94" name="Google Shape;694;p8"/>
          <p:cNvSpPr/>
          <p:nvPr/>
        </p:nvSpPr>
        <p:spPr>
          <a:xfrm>
            <a:off x="5194937" y="4584062"/>
            <a:ext cx="2094922" cy="462959"/>
          </a:xfrm>
          <a:custGeom>
            <a:avLst/>
            <a:gdLst/>
            <a:ahLst/>
            <a:cxnLst/>
            <a:rect l="l" t="t" r="r" b="b"/>
            <a:pathLst>
              <a:path w="1392" h="448" extrusionOk="0">
                <a:moveTo>
                  <a:pt x="0" y="0"/>
                </a:moveTo>
                <a:cubicBezTo>
                  <a:pt x="124" y="84"/>
                  <a:pt x="248" y="168"/>
                  <a:pt x="432" y="240"/>
                </a:cubicBezTo>
                <a:cubicBezTo>
                  <a:pt x="616" y="312"/>
                  <a:pt x="944" y="448"/>
                  <a:pt x="1104" y="432"/>
                </a:cubicBezTo>
                <a:cubicBezTo>
                  <a:pt x="1264" y="416"/>
                  <a:pt x="1328" y="280"/>
                  <a:pt x="1392" y="144"/>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Calibri" panose="020F0502020204030204" pitchFamily="34" charset="0"/>
              <a:ea typeface="Calibri"/>
              <a:cs typeface="Calibri" panose="020F0502020204030204" pitchFamily="34" charset="0"/>
              <a:sym typeface="Calibri"/>
            </a:endParaRPr>
          </a:p>
        </p:txBody>
      </p:sp>
      <p:sp>
        <p:nvSpPr>
          <p:cNvPr id="695" name="Google Shape;695;p8"/>
          <p:cNvSpPr/>
          <p:nvPr/>
        </p:nvSpPr>
        <p:spPr>
          <a:xfrm>
            <a:off x="3084352" y="3767651"/>
            <a:ext cx="1110000" cy="669800"/>
          </a:xfrm>
          <a:prstGeom prst="roundRect">
            <a:avLst>
              <a:gd name="adj" fmla="val 16667"/>
            </a:avLst>
          </a:prstGeom>
          <a:noFill/>
          <a:ln w="19050" cap="flat" cmpd="sng">
            <a:solidFill>
              <a:srgbClr val="EE4639"/>
            </a:solidFill>
            <a:prstDash val="solid"/>
            <a:round/>
            <a:headEnd type="none" w="sm" len="sm"/>
            <a:tailEnd type="none" w="sm" len="sm"/>
          </a:ln>
          <a:effectLst/>
        </p:spPr>
        <p:txBody>
          <a:bodyPr spcFirstLastPara="1" wrap="square" lIns="0" tIns="45700" rIns="0" bIns="45700" anchor="ctr" anchorCtr="0">
            <a:noAutofit/>
          </a:bodyPr>
          <a:lstStyle/>
          <a:p>
            <a:pPr marL="0" marR="0" lvl="0" indent="0" algn="ctr" rtl="0">
              <a:lnSpc>
                <a:spcPct val="90000"/>
              </a:lnSpc>
              <a:spcBef>
                <a:spcPts val="0"/>
              </a:spcBef>
              <a:spcAft>
                <a:spcPts val="0"/>
              </a:spcAft>
              <a:buNone/>
            </a:pP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Aplicación </a:t>
            </a:r>
            <a:b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b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de</a:t>
            </a:r>
            <a:r>
              <a:rPr lang="es-ES_tradnl" sz="1200" dirty="0">
                <a:latin typeface="Calibri" panose="020F0502020204030204" pitchFamily="34" charset="0"/>
                <a:cs typeface="Calibri" panose="020F0502020204030204" pitchFamily="34" charset="0"/>
                <a:sym typeface="Quattrocento Sans"/>
              </a:rPr>
              <a:t> </a:t>
            </a: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extracción </a:t>
            </a:r>
            <a:b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b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de</a:t>
            </a:r>
            <a:r>
              <a:rPr lang="es-ES_tradnl" sz="1200" dirty="0">
                <a:latin typeface="Calibri" panose="020F0502020204030204" pitchFamily="34" charset="0"/>
                <a:cs typeface="Calibri" panose="020F0502020204030204" pitchFamily="34" charset="0"/>
                <a:sym typeface="Quattrocento Sans"/>
              </a:rPr>
              <a:t> </a:t>
            </a:r>
            <a:r>
              <a:rPr lang="es-ES_tradnl" sz="1200" b="1" dirty="0">
                <a:solidFill>
                  <a:schemeClr val="dk1"/>
                </a:solidFill>
                <a:latin typeface="Calibri" panose="020F0502020204030204" pitchFamily="34" charset="0"/>
                <a:ea typeface="Quattrocento Sans"/>
                <a:cs typeface="Calibri" panose="020F0502020204030204" pitchFamily="34" charset="0"/>
                <a:sym typeface="Quattrocento Sans"/>
              </a:rPr>
              <a:t>datos</a:t>
            </a:r>
          </a:p>
        </p:txBody>
      </p:sp>
      <p:pic>
        <p:nvPicPr>
          <p:cNvPr id="696" name="Google Shape;696;p8"/>
          <p:cNvPicPr preferRelativeResize="0"/>
          <p:nvPr/>
        </p:nvPicPr>
        <p:blipFill rotWithShape="1">
          <a:blip r:embed="rId3">
            <a:alphaModFix/>
          </a:blip>
          <a:srcRect/>
          <a:stretch/>
        </p:blipFill>
        <p:spPr>
          <a:xfrm>
            <a:off x="2245664" y="1512994"/>
            <a:ext cx="481820" cy="481820"/>
          </a:xfrm>
          <a:prstGeom prst="rect">
            <a:avLst/>
          </a:prstGeom>
          <a:noFill/>
          <a:ln>
            <a:noFill/>
          </a:ln>
        </p:spPr>
      </p:pic>
      <p:pic>
        <p:nvPicPr>
          <p:cNvPr id="697" name="Google Shape;697;p8"/>
          <p:cNvPicPr preferRelativeResize="0"/>
          <p:nvPr/>
        </p:nvPicPr>
        <p:blipFill rotWithShape="1">
          <a:blip r:embed="rId3">
            <a:alphaModFix/>
          </a:blip>
          <a:srcRect/>
          <a:stretch/>
        </p:blipFill>
        <p:spPr>
          <a:xfrm>
            <a:off x="2301537" y="3797656"/>
            <a:ext cx="481820" cy="481820"/>
          </a:xfrm>
          <a:prstGeom prst="rect">
            <a:avLst/>
          </a:prstGeom>
          <a:noFill/>
          <a:ln>
            <a:noFill/>
          </a:ln>
        </p:spPr>
      </p:pic>
      <p:grpSp>
        <p:nvGrpSpPr>
          <p:cNvPr id="698" name="Google Shape;698;p8"/>
          <p:cNvGrpSpPr/>
          <p:nvPr/>
        </p:nvGrpSpPr>
        <p:grpSpPr>
          <a:xfrm flipH="1">
            <a:off x="4587135" y="1605289"/>
            <a:ext cx="417277" cy="352451"/>
            <a:chOff x="1488" y="1248"/>
            <a:chExt cx="403" cy="288"/>
          </a:xfrm>
        </p:grpSpPr>
        <p:sp>
          <p:nvSpPr>
            <p:cNvPr id="699" name="Google Shape;699;p8"/>
            <p:cNvSpPr/>
            <p:nvPr/>
          </p:nvSpPr>
          <p:spPr>
            <a:xfrm>
              <a:off x="1492" y="1281"/>
              <a:ext cx="394" cy="208"/>
            </a:xfrm>
            <a:prstGeom prst="rect">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700" name="Google Shape;700;p8"/>
            <p:cNvSpPr/>
            <p:nvPr/>
          </p:nvSpPr>
          <p:spPr>
            <a:xfrm>
              <a:off x="1488" y="1449"/>
              <a:ext cx="403" cy="87"/>
            </a:xfrm>
            <a:prstGeom prst="ellipse">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701" name="Google Shape;701;p8"/>
            <p:cNvSpPr/>
            <p:nvPr/>
          </p:nvSpPr>
          <p:spPr>
            <a:xfrm>
              <a:off x="1488" y="1248"/>
              <a:ext cx="403" cy="78"/>
            </a:xfrm>
            <a:prstGeom prst="ellipse">
              <a:avLst/>
            </a:prstGeom>
            <a:gradFill>
              <a:gsLst>
                <a:gs pos="0">
                  <a:srgbClr val="909090"/>
                </a:gs>
                <a:gs pos="100000">
                  <a:srgbClr val="CECECE"/>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grpSp>
      <p:grpSp>
        <p:nvGrpSpPr>
          <p:cNvPr id="702" name="Google Shape;702;p8"/>
          <p:cNvGrpSpPr/>
          <p:nvPr/>
        </p:nvGrpSpPr>
        <p:grpSpPr>
          <a:xfrm flipH="1">
            <a:off x="4683818" y="3645533"/>
            <a:ext cx="417277" cy="352451"/>
            <a:chOff x="1488" y="1248"/>
            <a:chExt cx="403" cy="288"/>
          </a:xfrm>
        </p:grpSpPr>
        <p:sp>
          <p:nvSpPr>
            <p:cNvPr id="703" name="Google Shape;703;p8"/>
            <p:cNvSpPr/>
            <p:nvPr/>
          </p:nvSpPr>
          <p:spPr>
            <a:xfrm>
              <a:off x="1492" y="1281"/>
              <a:ext cx="394" cy="208"/>
            </a:xfrm>
            <a:prstGeom prst="rect">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704" name="Google Shape;704;p8"/>
            <p:cNvSpPr/>
            <p:nvPr/>
          </p:nvSpPr>
          <p:spPr>
            <a:xfrm>
              <a:off x="1488" y="1449"/>
              <a:ext cx="403" cy="87"/>
            </a:xfrm>
            <a:prstGeom prst="ellipse">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705" name="Google Shape;705;p8"/>
            <p:cNvSpPr/>
            <p:nvPr/>
          </p:nvSpPr>
          <p:spPr>
            <a:xfrm>
              <a:off x="1488" y="1248"/>
              <a:ext cx="403" cy="78"/>
            </a:xfrm>
            <a:prstGeom prst="ellipse">
              <a:avLst/>
            </a:prstGeom>
            <a:gradFill>
              <a:gsLst>
                <a:gs pos="0">
                  <a:srgbClr val="909090"/>
                </a:gs>
                <a:gs pos="100000">
                  <a:srgbClr val="CECECE"/>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grpSp>
      <p:grpSp>
        <p:nvGrpSpPr>
          <p:cNvPr id="706" name="Google Shape;706;p8"/>
          <p:cNvGrpSpPr/>
          <p:nvPr/>
        </p:nvGrpSpPr>
        <p:grpSpPr>
          <a:xfrm flipH="1">
            <a:off x="4679676" y="4039799"/>
            <a:ext cx="417277" cy="352451"/>
            <a:chOff x="1488" y="1248"/>
            <a:chExt cx="403" cy="288"/>
          </a:xfrm>
        </p:grpSpPr>
        <p:sp>
          <p:nvSpPr>
            <p:cNvPr id="707" name="Google Shape;707;p8"/>
            <p:cNvSpPr/>
            <p:nvPr/>
          </p:nvSpPr>
          <p:spPr>
            <a:xfrm>
              <a:off x="1492" y="1281"/>
              <a:ext cx="394" cy="208"/>
            </a:xfrm>
            <a:prstGeom prst="rect">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708" name="Google Shape;708;p8"/>
            <p:cNvSpPr/>
            <p:nvPr/>
          </p:nvSpPr>
          <p:spPr>
            <a:xfrm>
              <a:off x="1488" y="1449"/>
              <a:ext cx="403" cy="87"/>
            </a:xfrm>
            <a:prstGeom prst="ellipse">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709" name="Google Shape;709;p8"/>
            <p:cNvSpPr/>
            <p:nvPr/>
          </p:nvSpPr>
          <p:spPr>
            <a:xfrm>
              <a:off x="1488" y="1248"/>
              <a:ext cx="403" cy="78"/>
            </a:xfrm>
            <a:prstGeom prst="ellipse">
              <a:avLst/>
            </a:prstGeom>
            <a:gradFill>
              <a:gsLst>
                <a:gs pos="0">
                  <a:srgbClr val="909090"/>
                </a:gs>
                <a:gs pos="100000">
                  <a:srgbClr val="CECECE"/>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grpSp>
      <p:grpSp>
        <p:nvGrpSpPr>
          <p:cNvPr id="710" name="Google Shape;710;p8"/>
          <p:cNvGrpSpPr/>
          <p:nvPr/>
        </p:nvGrpSpPr>
        <p:grpSpPr>
          <a:xfrm flipH="1">
            <a:off x="4683818" y="4432318"/>
            <a:ext cx="417277" cy="352451"/>
            <a:chOff x="1488" y="1248"/>
            <a:chExt cx="403" cy="288"/>
          </a:xfrm>
        </p:grpSpPr>
        <p:sp>
          <p:nvSpPr>
            <p:cNvPr id="711" name="Google Shape;711;p8"/>
            <p:cNvSpPr/>
            <p:nvPr/>
          </p:nvSpPr>
          <p:spPr>
            <a:xfrm>
              <a:off x="1492" y="1281"/>
              <a:ext cx="394" cy="208"/>
            </a:xfrm>
            <a:prstGeom prst="rect">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712" name="Google Shape;712;p8"/>
            <p:cNvSpPr/>
            <p:nvPr/>
          </p:nvSpPr>
          <p:spPr>
            <a:xfrm>
              <a:off x="1488" y="1449"/>
              <a:ext cx="403" cy="87"/>
            </a:xfrm>
            <a:prstGeom prst="ellipse">
              <a:avLst/>
            </a:prstGeom>
            <a:gradFill>
              <a:gsLst>
                <a:gs pos="0">
                  <a:srgbClr val="7C7C7C"/>
                </a:gs>
                <a:gs pos="50000">
                  <a:srgbClr val="CECECE"/>
                </a:gs>
                <a:gs pos="100000">
                  <a:srgbClr val="7C7C7C"/>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sp>
          <p:nvSpPr>
            <p:cNvPr id="713" name="Google Shape;713;p8"/>
            <p:cNvSpPr/>
            <p:nvPr/>
          </p:nvSpPr>
          <p:spPr>
            <a:xfrm>
              <a:off x="1488" y="1248"/>
              <a:ext cx="403" cy="78"/>
            </a:xfrm>
            <a:prstGeom prst="ellipse">
              <a:avLst/>
            </a:prstGeom>
            <a:gradFill>
              <a:gsLst>
                <a:gs pos="0">
                  <a:srgbClr val="909090"/>
                </a:gs>
                <a:gs pos="100000">
                  <a:srgbClr val="CECECE"/>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000">
                <a:solidFill>
                  <a:schemeClr val="dk1"/>
                </a:solidFill>
                <a:latin typeface="Calibri" panose="020F0502020204030204" pitchFamily="34" charset="0"/>
                <a:ea typeface="Times New Roman"/>
                <a:cs typeface="Calibri" panose="020F0502020204030204" pitchFamily="34" charset="0"/>
                <a:sym typeface="Times New Roman"/>
              </a:endParaRPr>
            </a:p>
          </p:txBody>
        </p:sp>
      </p:grpSp>
      <p:sp>
        <p:nvSpPr>
          <p:cNvPr id="715" name="Google Shape;715;p8"/>
          <p:cNvSpPr txBox="1"/>
          <p:nvPr/>
        </p:nvSpPr>
        <p:spPr>
          <a:xfrm>
            <a:off x="504747" y="916442"/>
            <a:ext cx="2411814"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panose="020F0502020204030204" pitchFamily="34" charset="0"/>
                <a:ea typeface="Calibri"/>
                <a:cs typeface="Calibri" panose="020F0502020204030204" pitchFamily="34" charset="0"/>
                <a:sym typeface="Calibri"/>
              </a:rPr>
              <a:t>EL PROCESO DE REFRESCO</a:t>
            </a:r>
            <a:endParaRPr sz="1600" b="1"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2" name="Rectangle 5">
            <a:extLst>
              <a:ext uri="{FF2B5EF4-FFF2-40B4-BE49-F238E27FC236}">
                <a16:creationId xmlns:a16="http://schemas.microsoft.com/office/drawing/2014/main" id="{F5EA84E4-E5C8-0004-629D-19B5FCDE12B3}"/>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EXTRACCIÓN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759B9279-360E-E6FE-94DF-FF90984EA1C6}"/>
              </a:ext>
            </a:extLst>
          </p:cNvPr>
          <p:cNvSpPr/>
          <p:nvPr/>
        </p:nvSpPr>
        <p:spPr>
          <a:xfrm>
            <a:off x="503239" y="4566823"/>
            <a:ext cx="3668010" cy="669600"/>
          </a:xfrm>
          <a:prstGeom prst="round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l" rtl="0">
              <a:spcBef>
                <a:spcPts val="0"/>
              </a:spcBef>
              <a:spcAft>
                <a:spcPts val="0"/>
              </a:spcAft>
              <a:buNone/>
            </a:pPr>
            <a:r>
              <a:rPr lang="es-ES_tradnl" sz="1400" dirty="0">
                <a:solidFill>
                  <a:srgbClr val="00B1C2"/>
                </a:solidFill>
                <a:latin typeface="Calibri"/>
                <a:ea typeface="Calibri"/>
                <a:cs typeface="Calibri"/>
                <a:sym typeface="Calibri"/>
              </a:rPr>
              <a:t>Se busca optimizar el uso de recursos durante el proceso de carga del data </a:t>
            </a:r>
            <a:r>
              <a:rPr lang="es-ES_tradnl" sz="1400" dirty="0" err="1">
                <a:solidFill>
                  <a:srgbClr val="00B1C2"/>
                </a:solidFill>
                <a:latin typeface="Calibri"/>
                <a:ea typeface="Calibri"/>
                <a:cs typeface="Calibri"/>
                <a:sym typeface="Calibri"/>
              </a:rPr>
              <a:t>warehouse</a:t>
            </a:r>
            <a:r>
              <a:rPr lang="es-ES_tradnl" sz="1400" dirty="0">
                <a:solidFill>
                  <a:srgbClr val="00B1C2"/>
                </a:solidFill>
                <a:latin typeface="Calibri"/>
                <a:ea typeface="Calibri"/>
                <a:cs typeface="Calibri"/>
                <a:sym typeface="Calibri"/>
              </a:rPr>
              <a:t>.</a:t>
            </a:r>
            <a:endParaRPr lang="es-ES_tradnl" sz="1400" dirty="0">
              <a:solidFill>
                <a:srgbClr val="00B1C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2" name="Google Shape;722;p9"/>
          <p:cNvSpPr txBox="1"/>
          <p:nvPr/>
        </p:nvSpPr>
        <p:spPr>
          <a:xfrm>
            <a:off x="512116" y="912813"/>
            <a:ext cx="7998268" cy="1969770"/>
          </a:xfrm>
          <a:prstGeom prst="rect">
            <a:avLst/>
          </a:prstGeom>
          <a:noFill/>
          <a:ln>
            <a:noFill/>
          </a:ln>
        </p:spPr>
        <p:txBody>
          <a:bodyPr spcFirstLastPara="1" wrap="square" lIns="0" tIns="0" rIns="0" bIns="0" anchor="t" anchorCtr="0">
            <a:spAutoFit/>
          </a:bodyPr>
          <a:lstStyle/>
          <a:p>
            <a:pPr marL="11724">
              <a:buClr>
                <a:srgbClr val="262626"/>
              </a:buClr>
              <a:buSzPts val="1600"/>
            </a:pPr>
            <a:r>
              <a:rPr lang="es-ES_tradnl" sz="1600" b="1" dirty="0">
                <a:solidFill>
                  <a:schemeClr val="dk1"/>
                </a:solidFill>
                <a:latin typeface="Calibri"/>
                <a:ea typeface="Calibri"/>
                <a:cs typeface="Calibri"/>
                <a:sym typeface="Calibri"/>
              </a:rPr>
              <a:t>EL PROBLEMA</a:t>
            </a:r>
          </a:p>
          <a:p>
            <a:pPr marL="179998" marR="0" lvl="0" indent="-168274" algn="l" rtl="0">
              <a:spcBef>
                <a:spcPts val="0"/>
              </a:spcBef>
              <a:spcAft>
                <a:spcPts val="0"/>
              </a:spcAft>
              <a:buClr>
                <a:srgbClr val="262626"/>
              </a:buClr>
              <a:buSzPts val="1600"/>
              <a:buFont typeface="Arial"/>
              <a:buChar char="•"/>
            </a:pPr>
            <a:r>
              <a:rPr lang="es-ES_tradnl" sz="1600" dirty="0">
                <a:solidFill>
                  <a:srgbClr val="262626"/>
                </a:solidFill>
                <a:latin typeface="Calibri"/>
                <a:ea typeface="Calibri"/>
                <a:cs typeface="Calibri"/>
                <a:sym typeface="Calibri"/>
              </a:rPr>
              <a:t>Inconsistencia en el uso de estándares en los aplicativos propios del negocio.</a:t>
            </a:r>
            <a:endParaRPr lang="es-ES_tradnl" dirty="0"/>
          </a:p>
          <a:p>
            <a:pPr marL="184150" marR="0" lvl="1" algn="l" rtl="0">
              <a:spcBef>
                <a:spcPts val="0"/>
              </a:spcBef>
              <a:spcAft>
                <a:spcPts val="0"/>
              </a:spcAft>
              <a:buNone/>
            </a:pPr>
            <a:r>
              <a:rPr lang="es-ES_tradnl" sz="1600" b="0" i="0" u="none" strike="noStrike" cap="none" dirty="0" err="1">
                <a:solidFill>
                  <a:srgbClr val="262626"/>
                </a:solidFill>
                <a:latin typeface="Calibri"/>
                <a:ea typeface="Calibri"/>
                <a:cs typeface="Calibri"/>
                <a:sym typeface="Calibri"/>
              </a:rPr>
              <a:t>Flags</a:t>
            </a:r>
            <a:r>
              <a:rPr lang="es-ES_tradnl" sz="1600" b="0" i="0" u="none" strike="noStrike" cap="none" dirty="0">
                <a:solidFill>
                  <a:srgbClr val="262626"/>
                </a:solidFill>
                <a:latin typeface="Calibri"/>
                <a:ea typeface="Calibri"/>
                <a:cs typeface="Calibri"/>
                <a:sym typeface="Calibri"/>
              </a:rPr>
              <a:t>, códigos, números, fechas, tamaño de campos.</a:t>
            </a:r>
            <a:endParaRPr lang="es-ES_tradnl" dirty="0"/>
          </a:p>
          <a:p>
            <a:pPr marL="179998" marR="0" lvl="0" indent="-66674" algn="l" rtl="0">
              <a:spcBef>
                <a:spcPts val="0"/>
              </a:spcBef>
              <a:spcAft>
                <a:spcPts val="0"/>
              </a:spcAft>
              <a:buClr>
                <a:schemeClr val="dk1"/>
              </a:buClr>
              <a:buSzPts val="1600"/>
              <a:buFont typeface="Arial"/>
              <a:buNone/>
            </a:pPr>
            <a:endParaRPr lang="es-ES_tradnl" sz="1600" dirty="0">
              <a:solidFill>
                <a:srgbClr val="262626"/>
              </a:solidFill>
              <a:latin typeface="Calibri"/>
              <a:ea typeface="Calibri"/>
              <a:cs typeface="Calibri"/>
              <a:sym typeface="Calibri"/>
            </a:endParaRPr>
          </a:p>
          <a:p>
            <a:pPr marL="179998" marR="0" lvl="0" indent="-168274" algn="l" rtl="0">
              <a:spcBef>
                <a:spcPts val="0"/>
              </a:spcBef>
              <a:spcAft>
                <a:spcPts val="0"/>
              </a:spcAft>
              <a:buClr>
                <a:srgbClr val="262626"/>
              </a:buClr>
              <a:buSzPts val="1600"/>
              <a:buFont typeface="Arial"/>
              <a:buChar char="•"/>
            </a:pPr>
            <a:r>
              <a:rPr lang="es-ES_tradnl" sz="1600" dirty="0">
                <a:solidFill>
                  <a:srgbClr val="262626"/>
                </a:solidFill>
                <a:latin typeface="Calibri"/>
                <a:ea typeface="Calibri"/>
                <a:cs typeface="Calibri"/>
                <a:sym typeface="Calibri"/>
              </a:rPr>
              <a:t>El estándar de los sistemas OLTP cambia con el tiempo, pero las bases de datos antiguas siguen sin alinearse a los nuevos estándares.</a:t>
            </a:r>
            <a:endParaRPr lang="es-ES_tradnl" dirty="0"/>
          </a:p>
          <a:p>
            <a:pPr marL="179998" marR="0" lvl="0" indent="-66674" algn="l" rtl="0">
              <a:spcBef>
                <a:spcPts val="0"/>
              </a:spcBef>
              <a:spcAft>
                <a:spcPts val="0"/>
              </a:spcAft>
              <a:buClr>
                <a:schemeClr val="dk1"/>
              </a:buClr>
              <a:buSzPts val="1600"/>
              <a:buFont typeface="Arial"/>
              <a:buNone/>
            </a:pPr>
            <a:endParaRPr lang="es-ES_tradnl" sz="1600" dirty="0">
              <a:solidFill>
                <a:srgbClr val="262626"/>
              </a:solidFill>
              <a:latin typeface="Calibri"/>
              <a:ea typeface="Calibri"/>
              <a:cs typeface="Calibri"/>
              <a:sym typeface="Calibri"/>
            </a:endParaRPr>
          </a:p>
          <a:p>
            <a:pPr marL="179998" marR="0" lvl="0" indent="-168274" algn="l" rtl="0">
              <a:spcBef>
                <a:spcPts val="0"/>
              </a:spcBef>
              <a:spcAft>
                <a:spcPts val="0"/>
              </a:spcAft>
              <a:buClr>
                <a:srgbClr val="262626"/>
              </a:buClr>
              <a:buSzPts val="1600"/>
              <a:buFont typeface="Arial"/>
              <a:buChar char="•"/>
            </a:pPr>
            <a:r>
              <a:rPr lang="es-ES_tradnl" sz="1600" dirty="0">
                <a:solidFill>
                  <a:srgbClr val="262626"/>
                </a:solidFill>
                <a:latin typeface="Calibri"/>
                <a:ea typeface="Calibri"/>
                <a:cs typeface="Calibri"/>
                <a:sym typeface="Calibri"/>
              </a:rPr>
              <a:t>Distintas aplicaciones con distintos estándares.</a:t>
            </a:r>
            <a:endParaRPr lang="es-ES_tradnl" dirty="0"/>
          </a:p>
        </p:txBody>
      </p:sp>
      <p:sp>
        <p:nvSpPr>
          <p:cNvPr id="2" name="Rectangle 5">
            <a:extLst>
              <a:ext uri="{FF2B5EF4-FFF2-40B4-BE49-F238E27FC236}">
                <a16:creationId xmlns:a16="http://schemas.microsoft.com/office/drawing/2014/main" id="{5E236DDD-8E9E-FBA4-8041-8EAB193101BD}"/>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EXTRACCIÓN DE DATOS</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775597"/>
          </a:xfrm>
          <a:prstGeom prst="rect">
            <a:avLst/>
          </a:prstGeom>
          <a:noFill/>
        </p:spPr>
        <p:txBody>
          <a:bodyPr wrap="square" lIns="0" tIns="0" rIns="0" bIns="0" rtlCol="0">
            <a:spAutoFit/>
          </a:bodyPr>
          <a:lstStyle/>
          <a:p>
            <a:pPr>
              <a:lnSpc>
                <a:spcPct val="90000"/>
              </a:lnSpc>
              <a:spcBef>
                <a:spcPts val="1000"/>
              </a:spcBef>
              <a:defRPr/>
            </a:pPr>
            <a:r>
              <a:rPr lang="en-US" sz="2800" dirty="0">
                <a:solidFill>
                  <a:schemeClr val="bg1"/>
                </a:solidFill>
                <a:latin typeface="Graphik Regular" panose="020B0503030202060203" pitchFamily="34" charset="77"/>
                <a:sym typeface="Calibri"/>
              </a:rPr>
              <a:t>ESTANDARIZACIÓN</a:t>
            </a:r>
            <a:r>
              <a:rPr lang="en-US" sz="2800" b="1" dirty="0">
                <a:solidFill>
                  <a:schemeClr val="bg1"/>
                </a:solidFill>
                <a:latin typeface="Graphik Bold" panose="020B0503030202060203" pitchFamily="34" charset="77"/>
                <a:sym typeface="Calibri"/>
              </a:rPr>
              <a:t> </a:t>
            </a:r>
            <a:br>
              <a:rPr lang="en-US" sz="2800" b="1" dirty="0">
                <a:solidFill>
                  <a:schemeClr val="bg1"/>
                </a:solidFill>
                <a:latin typeface="Graphik Bold" panose="020B0503030202060203" pitchFamily="34" charset="77"/>
                <a:sym typeface="Calibri"/>
              </a:rPr>
            </a:br>
            <a:r>
              <a:rPr lang="en-US" sz="2800" b="1" dirty="0">
                <a:solidFill>
                  <a:schemeClr val="bg1"/>
                </a:solidFill>
                <a:latin typeface="Graphik Bold" panose="020B0503030202060203" pitchFamily="34" charset="77"/>
                <a:sym typeface="Calibri"/>
              </a:rPr>
              <a:t>DE DATOS</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748070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graphicFrame>
        <p:nvGraphicFramePr>
          <p:cNvPr id="737" name="Google Shape;737;p11"/>
          <p:cNvGraphicFramePr/>
          <p:nvPr>
            <p:extLst>
              <p:ext uri="{D42A27DB-BD31-4B8C-83A1-F6EECF244321}">
                <p14:modId xmlns:p14="http://schemas.microsoft.com/office/powerpoint/2010/main" val="4105413745"/>
              </p:ext>
            </p:extLst>
          </p:nvPr>
        </p:nvGraphicFramePr>
        <p:xfrm>
          <a:off x="871448" y="1540292"/>
          <a:ext cx="1242050" cy="1724700"/>
        </p:xfrm>
        <a:graphic>
          <a:graphicData uri="http://schemas.openxmlformats.org/drawingml/2006/table">
            <a:tbl>
              <a:tblPr firstRow="1" bandRow="1">
                <a:noFill/>
              </a:tblPr>
              <a:tblGrid>
                <a:gridCol w="487675">
                  <a:extLst>
                    <a:ext uri="{9D8B030D-6E8A-4147-A177-3AD203B41FA5}">
                      <a16:colId xmlns:a16="http://schemas.microsoft.com/office/drawing/2014/main" val="20000"/>
                    </a:ext>
                  </a:extLst>
                </a:gridCol>
                <a:gridCol w="297175">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tblGrid>
              <a:tr h="287450">
                <a:tc>
                  <a:txBody>
                    <a:bodyPr/>
                    <a:lstStyle/>
                    <a:p>
                      <a:pPr marL="0" marR="0" lvl="0" indent="0" algn="ctr" rtl="0">
                        <a:spcBef>
                          <a:spcPts val="0"/>
                        </a:spcBef>
                        <a:spcAft>
                          <a:spcPts val="0"/>
                        </a:spcAft>
                        <a:buNone/>
                      </a:pPr>
                      <a:r>
                        <a:rPr lang="en-US" sz="1200" u="none" strike="noStrike" cap="none" dirty="0">
                          <a:solidFill>
                            <a:schemeClr val="dk1"/>
                          </a:solidFill>
                          <a:latin typeface="Calibri"/>
                          <a:ea typeface="Calibri"/>
                          <a:cs typeface="Calibri"/>
                          <a:sym typeface="Calibri"/>
                        </a:rPr>
                        <a:t>*</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ctr" rtl="0">
                        <a:spcBef>
                          <a:spcPts val="0"/>
                        </a:spcBef>
                        <a:spcAft>
                          <a:spcPts val="0"/>
                        </a:spcAft>
                        <a:buNone/>
                      </a:pPr>
                      <a:endParaRPr sz="1200" u="none" strike="noStrike" cap="none">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0"/>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X, x</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ctr" rtl="0">
                        <a:spcBef>
                          <a:spcPts val="0"/>
                        </a:spcBef>
                        <a:spcAft>
                          <a:spcPts val="0"/>
                        </a:spcAft>
                        <a:buNone/>
                      </a:pPr>
                      <a:endParaRPr sz="1200" b="1" u="none" strike="noStrike" cap="none">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200" b="1"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1"/>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1</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ctr" rtl="0">
                        <a:spcBef>
                          <a:spcPts val="0"/>
                        </a:spcBef>
                        <a:spcAft>
                          <a:spcPts val="0"/>
                        </a:spcAft>
                        <a:buNone/>
                      </a:pPr>
                      <a:endParaRPr sz="1200" b="1" u="none" strike="noStrike" cap="none">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0</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2"/>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Y, y</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ctr" rtl="0">
                        <a:spcBef>
                          <a:spcPts val="0"/>
                        </a:spcBef>
                        <a:spcAft>
                          <a:spcPts val="0"/>
                        </a:spcAft>
                        <a:buNone/>
                      </a:pPr>
                      <a:endParaRPr sz="1200" b="1" u="none" strike="noStrike" cap="none">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N, n</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3"/>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T, t</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ctr" rtl="0">
                        <a:spcBef>
                          <a:spcPts val="0"/>
                        </a:spcBef>
                        <a:spcAft>
                          <a:spcPts val="0"/>
                        </a:spcAft>
                        <a:buNone/>
                      </a:pPr>
                      <a:endParaRPr sz="1200" b="1" u="none" strike="noStrike" cap="none">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F, f</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4"/>
                  </a:ext>
                </a:extLst>
              </a:tr>
              <a:tr h="287450">
                <a:tc>
                  <a:txBody>
                    <a:bodyPr/>
                    <a:lstStyle/>
                    <a:p>
                      <a:pPr marL="0" marR="0" lvl="0" indent="0" algn="ctr" rtl="0">
                        <a:spcBef>
                          <a:spcPts val="0"/>
                        </a:spcBef>
                        <a:spcAft>
                          <a:spcPts val="0"/>
                        </a:spcAft>
                        <a:buNone/>
                      </a:pPr>
                      <a:endParaRPr sz="1200" b="1"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ctr" rtl="0">
                        <a:spcBef>
                          <a:spcPts val="0"/>
                        </a:spcBef>
                        <a:spcAft>
                          <a:spcPts val="0"/>
                        </a:spcAft>
                        <a:buNone/>
                      </a:pPr>
                      <a:endParaRPr sz="1200" b="1" u="none" strike="noStrike" cap="none">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U</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5"/>
                  </a:ext>
                </a:extLst>
              </a:tr>
            </a:tbl>
          </a:graphicData>
        </a:graphic>
      </p:graphicFrame>
      <p:sp>
        <p:nvSpPr>
          <p:cNvPr id="738" name="Google Shape;738;p11"/>
          <p:cNvSpPr txBox="1"/>
          <p:nvPr/>
        </p:nvSpPr>
        <p:spPr>
          <a:xfrm>
            <a:off x="825728" y="1201738"/>
            <a:ext cx="111710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latin typeface="Calibri" panose="020F0502020204030204" pitchFamily="34" charset="0"/>
                <a:ea typeface="Quattrocento Sans"/>
                <a:cs typeface="Calibri" panose="020F0502020204030204" pitchFamily="34" charset="0"/>
                <a:sym typeface="Quattrocento Sans"/>
              </a:rPr>
              <a:t>Valores flag</a:t>
            </a:r>
            <a:endParaRPr sz="1400">
              <a:latin typeface="Calibri" panose="020F0502020204030204" pitchFamily="34" charset="0"/>
              <a:ea typeface="Quattrocento Sans"/>
              <a:cs typeface="Calibri" panose="020F0502020204030204" pitchFamily="34" charset="0"/>
              <a:sym typeface="Quattrocento Sans"/>
            </a:endParaRPr>
          </a:p>
        </p:txBody>
      </p:sp>
      <p:graphicFrame>
        <p:nvGraphicFramePr>
          <p:cNvPr id="739" name="Google Shape;739;p11"/>
          <p:cNvGraphicFramePr/>
          <p:nvPr>
            <p:extLst>
              <p:ext uri="{D42A27DB-BD31-4B8C-83A1-F6EECF244321}">
                <p14:modId xmlns:p14="http://schemas.microsoft.com/office/powerpoint/2010/main" val="708214610"/>
              </p:ext>
            </p:extLst>
          </p:nvPr>
        </p:nvGraphicFramePr>
        <p:xfrm>
          <a:off x="3686648" y="1551008"/>
          <a:ext cx="1032500" cy="1149800"/>
        </p:xfrm>
        <a:graphic>
          <a:graphicData uri="http://schemas.openxmlformats.org/drawingml/2006/table">
            <a:tbl>
              <a:tblPr firstRow="1" bandRow="1">
                <a:noFill/>
              </a:tblPr>
              <a:tblGrid>
                <a:gridCol w="1032500">
                  <a:extLst>
                    <a:ext uri="{9D8B030D-6E8A-4147-A177-3AD203B41FA5}">
                      <a16:colId xmlns:a16="http://schemas.microsoft.com/office/drawing/2014/main" val="20000"/>
                    </a:ext>
                  </a:extLst>
                </a:gridCol>
              </a:tblGrid>
              <a:tr h="287450">
                <a:tc>
                  <a:txBody>
                    <a:bodyPr/>
                    <a:lstStyle/>
                    <a:p>
                      <a:pPr marL="0" marR="0" lvl="0" indent="0" algn="ctr" rtl="0">
                        <a:spcBef>
                          <a:spcPts val="0"/>
                        </a:spcBef>
                        <a:spcAft>
                          <a:spcPts val="0"/>
                        </a:spcAft>
                        <a:buNone/>
                      </a:pPr>
                      <a:r>
                        <a:rPr lang="en-US" sz="1200" u="none" strike="noStrike" cap="none" dirty="0">
                          <a:solidFill>
                            <a:schemeClr val="dk1"/>
                          </a:solidFill>
                          <a:latin typeface="Calibri"/>
                          <a:ea typeface="Calibri"/>
                          <a:cs typeface="Calibri"/>
                          <a:sym typeface="Calibri"/>
                        </a:rPr>
                        <a:t>10</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0"/>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FIN</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1"/>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Fin</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2"/>
                  </a:ext>
                </a:extLst>
              </a:tr>
              <a:tr h="287450">
                <a:tc>
                  <a:txBody>
                    <a:bodyPr/>
                    <a:lstStyle/>
                    <a:p>
                      <a:pPr marL="0" marR="0" lvl="0" indent="0" algn="ctr" rtl="0">
                        <a:spcBef>
                          <a:spcPts val="0"/>
                        </a:spcBef>
                        <a:spcAft>
                          <a:spcPts val="0"/>
                        </a:spcAft>
                        <a:buNone/>
                      </a:pPr>
                      <a:r>
                        <a:rPr lang="en-US" sz="1200" b="1" u="none" strike="noStrike" cap="none" dirty="0" err="1">
                          <a:solidFill>
                            <a:schemeClr val="dk1"/>
                          </a:solidFill>
                          <a:latin typeface="Calibri"/>
                          <a:ea typeface="Calibri"/>
                          <a:cs typeface="Calibri"/>
                          <a:sym typeface="Calibri"/>
                        </a:rPr>
                        <a:t>Finanzas</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3"/>
                  </a:ext>
                </a:extLst>
              </a:tr>
            </a:tbl>
          </a:graphicData>
        </a:graphic>
      </p:graphicFrame>
      <p:sp>
        <p:nvSpPr>
          <p:cNvPr id="740" name="Google Shape;740;p11"/>
          <p:cNvSpPr txBox="1"/>
          <p:nvPr/>
        </p:nvSpPr>
        <p:spPr>
          <a:xfrm>
            <a:off x="3611476" y="1223884"/>
            <a:ext cx="160441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latin typeface="Calibri" panose="020F0502020204030204" pitchFamily="34" charset="0"/>
                <a:ea typeface="Quattrocento Sans"/>
                <a:cs typeface="Calibri" panose="020F0502020204030204" pitchFamily="34" charset="0"/>
                <a:sym typeface="Quattrocento Sans"/>
              </a:rPr>
              <a:t>Valores de código</a:t>
            </a:r>
            <a:endParaRPr>
              <a:latin typeface="Calibri" panose="020F0502020204030204" pitchFamily="34" charset="0"/>
              <a:cs typeface="Calibri" panose="020F0502020204030204" pitchFamily="34" charset="0"/>
            </a:endParaRPr>
          </a:p>
        </p:txBody>
      </p:sp>
      <p:graphicFrame>
        <p:nvGraphicFramePr>
          <p:cNvPr id="741" name="Google Shape;741;p11"/>
          <p:cNvGraphicFramePr/>
          <p:nvPr>
            <p:extLst>
              <p:ext uri="{D42A27DB-BD31-4B8C-83A1-F6EECF244321}">
                <p14:modId xmlns:p14="http://schemas.microsoft.com/office/powerpoint/2010/main" val="3853453185"/>
              </p:ext>
            </p:extLst>
          </p:nvPr>
        </p:nvGraphicFramePr>
        <p:xfrm>
          <a:off x="6219124" y="1551008"/>
          <a:ext cx="774825" cy="1149800"/>
        </p:xfrm>
        <a:graphic>
          <a:graphicData uri="http://schemas.openxmlformats.org/drawingml/2006/table">
            <a:tbl>
              <a:tblPr firstRow="1" bandRow="1">
                <a:noFill/>
              </a:tblPr>
              <a:tblGrid>
                <a:gridCol w="774825">
                  <a:extLst>
                    <a:ext uri="{9D8B030D-6E8A-4147-A177-3AD203B41FA5}">
                      <a16:colId xmlns:a16="http://schemas.microsoft.com/office/drawing/2014/main" val="20000"/>
                    </a:ext>
                  </a:extLst>
                </a:gridCol>
              </a:tblGrid>
              <a:tr h="287450">
                <a:tc>
                  <a:txBody>
                    <a:bodyPr/>
                    <a:lstStyle/>
                    <a:p>
                      <a:pPr marL="0" marR="0" lvl="0" indent="0" algn="ctr" rtl="0">
                        <a:spcBef>
                          <a:spcPts val="0"/>
                        </a:spcBef>
                        <a:spcAft>
                          <a:spcPts val="0"/>
                        </a:spcAft>
                        <a:buNone/>
                      </a:pPr>
                      <a:endParaRPr sz="12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0"/>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NULL</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1"/>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UN</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2"/>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extLst>
                  <a:ext uri="{0D108BD9-81ED-4DB2-BD59-A6C34878D82A}">
                    <a16:rowId xmlns:a16="http://schemas.microsoft.com/office/drawing/2014/main" val="10003"/>
                  </a:ext>
                </a:extLst>
              </a:tr>
            </a:tbl>
          </a:graphicData>
        </a:graphic>
      </p:graphicFrame>
      <p:sp>
        <p:nvSpPr>
          <p:cNvPr id="742" name="Google Shape;742;p11"/>
          <p:cNvSpPr txBox="1"/>
          <p:nvPr/>
        </p:nvSpPr>
        <p:spPr>
          <a:xfrm>
            <a:off x="6130928" y="1212271"/>
            <a:ext cx="192341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latin typeface="Calibri" panose="020F0502020204030204" pitchFamily="34" charset="0"/>
                <a:ea typeface="Quattrocento Sans"/>
                <a:cs typeface="Calibri" panose="020F0502020204030204" pitchFamily="34" charset="0"/>
                <a:sym typeface="Quattrocento Sans"/>
              </a:rPr>
              <a:t>Valores desconocidos</a:t>
            </a:r>
            <a:endParaRPr>
              <a:latin typeface="Calibri" panose="020F0502020204030204" pitchFamily="34" charset="0"/>
              <a:cs typeface="Calibri" panose="020F0502020204030204" pitchFamily="34" charset="0"/>
            </a:endParaRPr>
          </a:p>
        </p:txBody>
      </p:sp>
      <p:graphicFrame>
        <p:nvGraphicFramePr>
          <p:cNvPr id="743" name="Google Shape;743;p11"/>
          <p:cNvGraphicFramePr/>
          <p:nvPr>
            <p:extLst>
              <p:ext uri="{D42A27DB-BD31-4B8C-83A1-F6EECF244321}">
                <p14:modId xmlns:p14="http://schemas.microsoft.com/office/powerpoint/2010/main" val="2652624687"/>
              </p:ext>
            </p:extLst>
          </p:nvPr>
        </p:nvGraphicFramePr>
        <p:xfrm>
          <a:off x="2547686" y="3429445"/>
          <a:ext cx="2849875" cy="1724700"/>
        </p:xfrm>
        <a:graphic>
          <a:graphicData uri="http://schemas.openxmlformats.org/drawingml/2006/table">
            <a:tbl>
              <a:tblPr firstRow="1" bandRow="1">
                <a:noFill/>
              </a:tblPr>
              <a:tblGrid>
                <a:gridCol w="609600">
                  <a:extLst>
                    <a:ext uri="{9D8B030D-6E8A-4147-A177-3AD203B41FA5}">
                      <a16:colId xmlns:a16="http://schemas.microsoft.com/office/drawing/2014/main" val="20000"/>
                    </a:ext>
                  </a:extLst>
                </a:gridCol>
                <a:gridCol w="2240275">
                  <a:extLst>
                    <a:ext uri="{9D8B030D-6E8A-4147-A177-3AD203B41FA5}">
                      <a16:colId xmlns:a16="http://schemas.microsoft.com/office/drawing/2014/main" val="20001"/>
                    </a:ext>
                  </a:extLst>
                </a:gridCol>
              </a:tblGrid>
              <a:tr h="287450">
                <a:tc>
                  <a:txBody>
                    <a:bodyPr/>
                    <a:lstStyle/>
                    <a:p>
                      <a:pPr marL="0" marR="0" lvl="0" indent="0" algn="ctr" rtl="0">
                        <a:spcBef>
                          <a:spcPts val="0"/>
                        </a:spcBef>
                        <a:spcAft>
                          <a:spcPts val="0"/>
                        </a:spcAft>
                        <a:buNone/>
                      </a:pPr>
                      <a:r>
                        <a:rPr lang="en-US" sz="1200" u="none" strike="noStrike" cap="none" dirty="0">
                          <a:solidFill>
                            <a:schemeClr val="dk1"/>
                          </a:solidFill>
                          <a:latin typeface="Calibri"/>
                          <a:ea typeface="Calibri"/>
                          <a:cs typeface="Calibri"/>
                          <a:sym typeface="Calibri"/>
                        </a:rPr>
                        <a:t>-8</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u="none" strike="noStrike" cap="none" noProof="0" dirty="0">
                          <a:solidFill>
                            <a:schemeClr val="dk1"/>
                          </a:solidFill>
                          <a:latin typeface="Calibri"/>
                          <a:ea typeface="Calibri"/>
                          <a:cs typeface="Calibri"/>
                          <a:sym typeface="Calibri"/>
                        </a:rPr>
                        <a:t>Signo negativo en posición fija</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0"/>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8-</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Signo negativo en posición fija</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1"/>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(8)</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Valor negativo entre paréntesis</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2"/>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800</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Separador decimal implícito</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3"/>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-8,00</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Separador decimal explícito</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4"/>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8E2</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Notación científica</a:t>
                      </a: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5"/>
                  </a:ext>
                </a:extLst>
              </a:tr>
            </a:tbl>
          </a:graphicData>
        </a:graphic>
      </p:graphicFrame>
      <p:sp>
        <p:nvSpPr>
          <p:cNvPr id="744" name="Google Shape;744;p11"/>
          <p:cNvSpPr txBox="1"/>
          <p:nvPr/>
        </p:nvSpPr>
        <p:spPr>
          <a:xfrm>
            <a:off x="2467676" y="3097671"/>
            <a:ext cx="165410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_tradnl" sz="1400">
                <a:latin typeface="Calibri" panose="020F0502020204030204" pitchFamily="34" charset="0"/>
                <a:ea typeface="Quattrocento Sans"/>
                <a:cs typeface="Calibri" panose="020F0502020204030204" pitchFamily="34" charset="0"/>
                <a:sym typeface="Quattrocento Sans"/>
              </a:rPr>
              <a:t>Valores numéricos</a:t>
            </a:r>
            <a:endParaRPr lang="es-ES_tradnl">
              <a:latin typeface="Calibri" panose="020F0502020204030204" pitchFamily="34" charset="0"/>
              <a:cs typeface="Calibri" panose="020F0502020204030204" pitchFamily="34" charset="0"/>
            </a:endParaRPr>
          </a:p>
        </p:txBody>
      </p:sp>
      <p:graphicFrame>
        <p:nvGraphicFramePr>
          <p:cNvPr id="745" name="Google Shape;745;p11"/>
          <p:cNvGraphicFramePr/>
          <p:nvPr>
            <p:extLst>
              <p:ext uri="{D42A27DB-BD31-4B8C-83A1-F6EECF244321}">
                <p14:modId xmlns:p14="http://schemas.microsoft.com/office/powerpoint/2010/main" val="699507934"/>
              </p:ext>
            </p:extLst>
          </p:nvPr>
        </p:nvGraphicFramePr>
        <p:xfrm>
          <a:off x="5923346" y="3141995"/>
          <a:ext cx="2569125" cy="2012150"/>
        </p:xfrm>
        <a:graphic>
          <a:graphicData uri="http://schemas.openxmlformats.org/drawingml/2006/table">
            <a:tbl>
              <a:tblPr firstRow="1" bandRow="1">
                <a:noFill/>
              </a:tblPr>
              <a:tblGrid>
                <a:gridCol w="976525">
                  <a:extLst>
                    <a:ext uri="{9D8B030D-6E8A-4147-A177-3AD203B41FA5}">
                      <a16:colId xmlns:a16="http://schemas.microsoft.com/office/drawing/2014/main" val="20000"/>
                    </a:ext>
                  </a:extLst>
                </a:gridCol>
                <a:gridCol w="1592600">
                  <a:extLst>
                    <a:ext uri="{9D8B030D-6E8A-4147-A177-3AD203B41FA5}">
                      <a16:colId xmlns:a16="http://schemas.microsoft.com/office/drawing/2014/main" val="20001"/>
                    </a:ext>
                  </a:extLst>
                </a:gridCol>
              </a:tblGrid>
              <a:tr h="287450">
                <a:tc>
                  <a:txBody>
                    <a:bodyPr/>
                    <a:lstStyle/>
                    <a:p>
                      <a:pPr marL="0" marR="0" lvl="0" indent="0" algn="ctr" rtl="0">
                        <a:spcBef>
                          <a:spcPts val="0"/>
                        </a:spcBef>
                        <a:spcAft>
                          <a:spcPts val="0"/>
                        </a:spcAft>
                        <a:buNone/>
                      </a:pPr>
                      <a:r>
                        <a:rPr lang="en-US" sz="1200" u="none" strike="noStrike" cap="none" dirty="0">
                          <a:solidFill>
                            <a:schemeClr val="dk1"/>
                          </a:solidFill>
                          <a:latin typeface="Calibri"/>
                          <a:ea typeface="Calibri"/>
                          <a:cs typeface="Calibri"/>
                          <a:sym typeface="Calibri"/>
                        </a:rPr>
                        <a:t>MMDDYY</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endParaRPr sz="1200"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0"/>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DDMMYY</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endParaRPr sz="1200" b="1"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1"/>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YYMMDD</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endParaRPr lang="es-ES_tradnl" sz="1200" b="1" u="none" strike="noStrike" cap="none" noProof="0" dirty="0">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2"/>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CCYYMMDD</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Estándar ISO</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3"/>
                  </a:ext>
                </a:extLst>
              </a:tr>
              <a:tr h="287450">
                <a:tc>
                  <a:txBody>
                    <a:bodyPr/>
                    <a:lstStyle/>
                    <a:p>
                      <a:pPr marL="0" marR="0" lvl="0" indent="0" algn="ctr" rtl="0">
                        <a:spcBef>
                          <a:spcPts val="0"/>
                        </a:spcBef>
                        <a:spcAft>
                          <a:spcPts val="0"/>
                        </a:spcAft>
                        <a:buNone/>
                      </a:pPr>
                      <a:endParaRPr sz="1200" b="1" u="none" strike="noStrike" cap="none" dirty="0">
                        <a:solidFill>
                          <a:schemeClr val="dk1"/>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Fecha desconocida</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4"/>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0</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Fecha desconocida</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5"/>
                  </a:ext>
                </a:extLst>
              </a:tr>
              <a:tr h="287450">
                <a:tc>
                  <a:txBody>
                    <a:bodyPr/>
                    <a:lstStyle/>
                    <a:p>
                      <a:pPr marL="0" marR="0" lvl="0" indent="0" algn="ctr" rtl="0">
                        <a:spcBef>
                          <a:spcPts val="0"/>
                        </a:spcBef>
                        <a:spcAft>
                          <a:spcPts val="0"/>
                        </a:spcAft>
                        <a:buNone/>
                      </a:pPr>
                      <a:r>
                        <a:rPr lang="en-US" sz="1200" b="1" u="none" strike="noStrike" cap="none" dirty="0">
                          <a:solidFill>
                            <a:schemeClr val="dk1"/>
                          </a:solidFill>
                          <a:latin typeface="Calibri"/>
                          <a:ea typeface="Calibri"/>
                          <a:cs typeface="Calibri"/>
                          <a:sym typeface="Calibri"/>
                        </a:rPr>
                        <a:t>00 00 00</a:t>
                      </a:r>
                      <a:endParaRPr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DC212"/>
                    </a:solidFill>
                  </a:tcPr>
                </a:tc>
                <a:tc>
                  <a:txBody>
                    <a:bodyPr/>
                    <a:lstStyle/>
                    <a:p>
                      <a:pPr marL="0" marR="0" lvl="0" indent="0" algn="l" rtl="0">
                        <a:spcBef>
                          <a:spcPts val="0"/>
                        </a:spcBef>
                        <a:spcAft>
                          <a:spcPts val="0"/>
                        </a:spcAft>
                        <a:buNone/>
                      </a:pPr>
                      <a:r>
                        <a:rPr lang="es-ES_tradnl" sz="1200" b="1" u="none" strike="noStrike" cap="none" noProof="0" dirty="0">
                          <a:solidFill>
                            <a:schemeClr val="dk1"/>
                          </a:solidFill>
                          <a:latin typeface="Calibri"/>
                          <a:ea typeface="Calibri"/>
                          <a:cs typeface="Calibri"/>
                          <a:sym typeface="Calibri"/>
                        </a:rPr>
                        <a:t>Fecha desconocida</a:t>
                      </a:r>
                      <a:endParaRPr lang="es-ES_tradnl" noProof="0" dirty="0"/>
                    </a:p>
                  </a:txBody>
                  <a:tcPr marL="91450" marR="91450" marT="45725" marB="45725" anchor="ctr">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746" name="Google Shape;746;p11"/>
          <p:cNvSpPr txBox="1"/>
          <p:nvPr/>
        </p:nvSpPr>
        <p:spPr>
          <a:xfrm>
            <a:off x="5843337" y="2810228"/>
            <a:ext cx="17690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latin typeface="Calibri" panose="020F0502020204030204" pitchFamily="34" charset="0"/>
                <a:ea typeface="Quattrocento Sans"/>
                <a:cs typeface="Calibri" panose="020F0502020204030204" pitchFamily="34" charset="0"/>
                <a:sym typeface="Quattrocento Sans"/>
              </a:rPr>
              <a:t>Valores de fecha</a:t>
            </a:r>
            <a:endParaRPr>
              <a:latin typeface="Calibri" panose="020F0502020204030204" pitchFamily="34" charset="0"/>
              <a:cs typeface="Calibri" panose="020F0502020204030204" pitchFamily="34" charset="0"/>
            </a:endParaRPr>
          </a:p>
        </p:txBody>
      </p:sp>
      <p:sp>
        <p:nvSpPr>
          <p:cNvPr id="748" name="Google Shape;748;p11"/>
          <p:cNvSpPr txBox="1"/>
          <p:nvPr/>
        </p:nvSpPr>
        <p:spPr>
          <a:xfrm>
            <a:off x="503107" y="923573"/>
            <a:ext cx="3419206"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INCONSISTENCIA EN LOS ESTÁNDARES</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9E3013A1-734A-4D19-DDF7-6561E2D7452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ESTANDARIZACIÓN DE DATOS</a:t>
            </a:r>
            <a:endParaRPr lang="es-PE" sz="1000" dirty="0">
              <a:solidFill>
                <a:schemeClr val="bg1">
                  <a:lumMod val="65000"/>
                </a:schemeClr>
              </a:solidFill>
              <a:latin typeface="Calibri" charset="0"/>
              <a:cs typeface="Calibri" charset="0"/>
            </a:endParaRPr>
          </a:p>
        </p:txBody>
      </p:sp>
      <p:sp>
        <p:nvSpPr>
          <p:cNvPr id="4" name="Rectángulo redondeado 3">
            <a:extLst>
              <a:ext uri="{FF2B5EF4-FFF2-40B4-BE49-F238E27FC236}">
                <a16:creationId xmlns:a16="http://schemas.microsoft.com/office/drawing/2014/main" id="{A2065507-24AF-FABB-A4EA-123EDCC02A60}"/>
              </a:ext>
            </a:extLst>
          </p:cNvPr>
          <p:cNvSpPr/>
          <p:nvPr/>
        </p:nvSpPr>
        <p:spPr>
          <a:xfrm>
            <a:off x="503239" y="3936238"/>
            <a:ext cx="1849192" cy="1030937"/>
          </a:xfrm>
          <a:prstGeom prst="roundRect">
            <a:avLst>
              <a:gd name="adj" fmla="val 9844"/>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44000" rtlCol="0" anchor="ctr"/>
          <a:lstStyle/>
          <a:p>
            <a:pPr marL="0" marR="0" lvl="0" indent="0" algn="l" rtl="0">
              <a:spcBef>
                <a:spcPts val="0"/>
              </a:spcBef>
              <a:spcAft>
                <a:spcPts val="0"/>
              </a:spcAft>
              <a:buNone/>
            </a:pPr>
            <a:r>
              <a:rPr lang="es-ES_tradnl" sz="1400">
                <a:solidFill>
                  <a:schemeClr val="tx1"/>
                </a:solidFill>
                <a:latin typeface="Calibri"/>
                <a:ea typeface="Calibri"/>
                <a:cs typeface="Calibri"/>
                <a:sym typeface="Calibri"/>
              </a:rPr>
              <a:t>Se utiliza distintas denominaciones y formatos para el mismo dato.</a:t>
            </a:r>
            <a:endParaRPr lang="es-ES_tradnl" sz="140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9" name="Google Shape;759;p12"/>
          <p:cNvSpPr txBox="1"/>
          <p:nvPr/>
        </p:nvSpPr>
        <p:spPr>
          <a:xfrm>
            <a:off x="1774766" y="1848081"/>
            <a:ext cx="1830309" cy="33855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Calibri"/>
                <a:ea typeface="Calibri"/>
                <a:cs typeface="Calibri"/>
                <a:sym typeface="Calibri"/>
              </a:rPr>
              <a:t>Mi nombre es Tomy</a:t>
            </a:r>
            <a:endParaRPr sz="1600">
              <a:solidFill>
                <a:schemeClr val="dk1"/>
              </a:solidFill>
              <a:latin typeface="Calibri"/>
              <a:ea typeface="Calibri"/>
              <a:cs typeface="Calibri"/>
              <a:sym typeface="Calibri"/>
            </a:endParaRPr>
          </a:p>
        </p:txBody>
      </p:sp>
      <p:sp>
        <p:nvSpPr>
          <p:cNvPr id="761" name="Google Shape;761;p12"/>
          <p:cNvSpPr txBox="1"/>
          <p:nvPr/>
        </p:nvSpPr>
        <p:spPr>
          <a:xfrm>
            <a:off x="1774766" y="3393766"/>
            <a:ext cx="1919051" cy="33855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Calibri"/>
                <a:ea typeface="Calibri"/>
                <a:cs typeface="Calibri"/>
                <a:sym typeface="Calibri"/>
              </a:rPr>
              <a:t>Mi nombre es Tomás</a:t>
            </a:r>
            <a:endParaRPr sz="1600">
              <a:solidFill>
                <a:schemeClr val="dk1"/>
              </a:solidFill>
              <a:latin typeface="Calibri"/>
              <a:ea typeface="Calibri"/>
              <a:cs typeface="Calibri"/>
              <a:sym typeface="Calibri"/>
            </a:endParaRPr>
          </a:p>
        </p:txBody>
      </p:sp>
      <p:sp>
        <p:nvSpPr>
          <p:cNvPr id="762" name="Google Shape;762;p12"/>
          <p:cNvSpPr txBox="1"/>
          <p:nvPr/>
        </p:nvSpPr>
        <p:spPr>
          <a:xfrm>
            <a:off x="5980454" y="1841102"/>
            <a:ext cx="1984261" cy="33855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Calibri"/>
                <a:ea typeface="Calibri"/>
                <a:cs typeface="Calibri"/>
                <a:sym typeface="Calibri"/>
              </a:rPr>
              <a:t>Mi nombre es Brenda</a:t>
            </a:r>
            <a:endParaRPr/>
          </a:p>
        </p:txBody>
      </p:sp>
      <p:sp>
        <p:nvSpPr>
          <p:cNvPr id="763" name="Google Shape;763;p12"/>
          <p:cNvSpPr txBox="1"/>
          <p:nvPr/>
        </p:nvSpPr>
        <p:spPr>
          <a:xfrm>
            <a:off x="5980454" y="3374369"/>
            <a:ext cx="1984261" cy="33855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dirty="0">
                <a:solidFill>
                  <a:schemeClr val="dk1"/>
                </a:solidFill>
                <a:latin typeface="Calibri"/>
                <a:ea typeface="Calibri"/>
                <a:cs typeface="Calibri"/>
                <a:sym typeface="Calibri"/>
              </a:rPr>
              <a:t>Mi </a:t>
            </a:r>
            <a:r>
              <a:rPr lang="en-US" sz="1600" dirty="0" err="1">
                <a:solidFill>
                  <a:schemeClr val="dk1"/>
                </a:solidFill>
                <a:latin typeface="Calibri"/>
                <a:ea typeface="Calibri"/>
                <a:cs typeface="Calibri"/>
                <a:sym typeface="Calibri"/>
              </a:rPr>
              <a:t>nombre</a:t>
            </a:r>
            <a:r>
              <a:rPr lang="en-US" sz="1600" dirty="0">
                <a:solidFill>
                  <a:schemeClr val="dk1"/>
                </a:solidFill>
                <a:latin typeface="Calibri"/>
                <a:ea typeface="Calibri"/>
                <a:cs typeface="Calibri"/>
                <a:sym typeface="Calibri"/>
              </a:rPr>
              <a:t> es Brenda</a:t>
            </a:r>
            <a:endParaRPr dirty="0"/>
          </a:p>
        </p:txBody>
      </p:sp>
      <p:sp>
        <p:nvSpPr>
          <p:cNvPr id="765" name="Google Shape;765;p12"/>
          <p:cNvSpPr txBox="1"/>
          <p:nvPr/>
        </p:nvSpPr>
        <p:spPr>
          <a:xfrm>
            <a:off x="503238" y="918223"/>
            <a:ext cx="3553473"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SEMÁNTICA (significado) DE LOS DATOS</a:t>
            </a:r>
            <a:endParaRPr sz="1600" b="1">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6FDBC156-CDBE-0673-8B6E-18C4467C9C4A}"/>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ESTANDARIZACIÓN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802C2C6A-E9C7-7E3D-45ED-FA1FC72768EE}"/>
              </a:ext>
            </a:extLst>
          </p:cNvPr>
          <p:cNvSpPr/>
          <p:nvPr/>
        </p:nvSpPr>
        <p:spPr>
          <a:xfrm>
            <a:off x="684213" y="4435374"/>
            <a:ext cx="3668010" cy="439646"/>
          </a:xfrm>
          <a:prstGeom prst="roundRect">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ctr" rtl="0">
              <a:spcBef>
                <a:spcPts val="0"/>
              </a:spcBef>
              <a:spcAft>
                <a:spcPts val="0"/>
              </a:spcAft>
              <a:buNone/>
            </a:pPr>
            <a:r>
              <a:rPr lang="es-ES_tradnl" sz="1600" dirty="0">
                <a:solidFill>
                  <a:schemeClr val="tx1"/>
                </a:solidFill>
                <a:latin typeface="Calibri"/>
                <a:ea typeface="Calibri"/>
                <a:cs typeface="Calibri"/>
                <a:sym typeface="Calibri"/>
              </a:rPr>
              <a:t>Diferente nombre, mismo significado</a:t>
            </a:r>
          </a:p>
        </p:txBody>
      </p:sp>
      <p:sp>
        <p:nvSpPr>
          <p:cNvPr id="4" name="Rectángulo redondeado 3">
            <a:extLst>
              <a:ext uri="{FF2B5EF4-FFF2-40B4-BE49-F238E27FC236}">
                <a16:creationId xmlns:a16="http://schemas.microsoft.com/office/drawing/2014/main" id="{8672491B-131F-CAC3-8938-6F1782F4FB1B}"/>
              </a:ext>
            </a:extLst>
          </p:cNvPr>
          <p:cNvSpPr/>
          <p:nvPr/>
        </p:nvSpPr>
        <p:spPr>
          <a:xfrm>
            <a:off x="4791779" y="4435374"/>
            <a:ext cx="3668010" cy="439646"/>
          </a:xfrm>
          <a:prstGeom prst="roundRect">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ctr" rtl="0">
              <a:spcBef>
                <a:spcPts val="0"/>
              </a:spcBef>
              <a:spcAft>
                <a:spcPts val="0"/>
              </a:spcAft>
              <a:buNone/>
            </a:pPr>
            <a:r>
              <a:rPr lang="es-ES_tradnl" sz="1600">
                <a:solidFill>
                  <a:schemeClr val="tx1"/>
                </a:solidFill>
                <a:latin typeface="Calibri"/>
                <a:ea typeface="Calibri"/>
                <a:cs typeface="Calibri"/>
                <a:sym typeface="Calibri"/>
              </a:rPr>
              <a:t>Mismo nombre, diferente significado</a:t>
            </a:r>
          </a:p>
        </p:txBody>
      </p:sp>
      <p:pic>
        <p:nvPicPr>
          <p:cNvPr id="7" name="Imagen 6">
            <a:extLst>
              <a:ext uri="{FF2B5EF4-FFF2-40B4-BE49-F238E27FC236}">
                <a16:creationId xmlns:a16="http://schemas.microsoft.com/office/drawing/2014/main" id="{94743DBB-1DFB-8B81-60AB-9932C46E575C}"/>
              </a:ext>
            </a:extLst>
          </p:cNvPr>
          <p:cNvPicPr>
            <a:picLocks noChangeAspect="1"/>
          </p:cNvPicPr>
          <p:nvPr/>
        </p:nvPicPr>
        <p:blipFill rotWithShape="1">
          <a:blip r:embed="rId3"/>
          <a:srcRect t="1" b="52125"/>
          <a:stretch/>
        </p:blipFill>
        <p:spPr>
          <a:xfrm>
            <a:off x="684213" y="1452828"/>
            <a:ext cx="919739" cy="1289095"/>
          </a:xfrm>
          <a:prstGeom prst="rect">
            <a:avLst/>
          </a:prstGeom>
        </p:spPr>
      </p:pic>
      <p:cxnSp>
        <p:nvCxnSpPr>
          <p:cNvPr id="9" name="Conector recto 8">
            <a:extLst>
              <a:ext uri="{FF2B5EF4-FFF2-40B4-BE49-F238E27FC236}">
                <a16:creationId xmlns:a16="http://schemas.microsoft.com/office/drawing/2014/main" id="{0E5E7EB7-AD01-9592-939E-2D1C032FBB07}"/>
              </a:ext>
            </a:extLst>
          </p:cNvPr>
          <p:cNvCxnSpPr>
            <a:cxnSpLocks/>
          </p:cNvCxnSpPr>
          <p:nvPr/>
        </p:nvCxnSpPr>
        <p:spPr>
          <a:xfrm>
            <a:off x="557869" y="2741923"/>
            <a:ext cx="1100714" cy="0"/>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Conector recto 10">
            <a:extLst>
              <a:ext uri="{FF2B5EF4-FFF2-40B4-BE49-F238E27FC236}">
                <a16:creationId xmlns:a16="http://schemas.microsoft.com/office/drawing/2014/main" id="{F9017238-28D3-862D-EE4B-69A0F1F50FAA}"/>
              </a:ext>
            </a:extLst>
          </p:cNvPr>
          <p:cNvCxnSpPr>
            <a:cxnSpLocks/>
          </p:cNvCxnSpPr>
          <p:nvPr/>
        </p:nvCxnSpPr>
        <p:spPr>
          <a:xfrm>
            <a:off x="557869" y="4207631"/>
            <a:ext cx="1100714" cy="0"/>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2" name="Imagen 11">
            <a:extLst>
              <a:ext uri="{FF2B5EF4-FFF2-40B4-BE49-F238E27FC236}">
                <a16:creationId xmlns:a16="http://schemas.microsoft.com/office/drawing/2014/main" id="{3541B0C9-D626-A62C-3F91-BC65164E756F}"/>
              </a:ext>
            </a:extLst>
          </p:cNvPr>
          <p:cNvPicPr>
            <a:picLocks noChangeAspect="1"/>
          </p:cNvPicPr>
          <p:nvPr/>
        </p:nvPicPr>
        <p:blipFill rotWithShape="1">
          <a:blip r:embed="rId4"/>
          <a:srcRect t="-684" b="53386"/>
          <a:stretch/>
        </p:blipFill>
        <p:spPr>
          <a:xfrm>
            <a:off x="807852" y="2860092"/>
            <a:ext cx="840838" cy="1347539"/>
          </a:xfrm>
          <a:prstGeom prst="rect">
            <a:avLst/>
          </a:prstGeom>
        </p:spPr>
      </p:pic>
      <p:cxnSp>
        <p:nvCxnSpPr>
          <p:cNvPr id="14" name="Conector recto 13">
            <a:extLst>
              <a:ext uri="{FF2B5EF4-FFF2-40B4-BE49-F238E27FC236}">
                <a16:creationId xmlns:a16="http://schemas.microsoft.com/office/drawing/2014/main" id="{9FA45286-53A7-80A7-9441-759784A5B3F0}"/>
              </a:ext>
            </a:extLst>
          </p:cNvPr>
          <p:cNvCxnSpPr>
            <a:cxnSpLocks/>
          </p:cNvCxnSpPr>
          <p:nvPr/>
        </p:nvCxnSpPr>
        <p:spPr>
          <a:xfrm>
            <a:off x="4770362" y="2741923"/>
            <a:ext cx="1100714" cy="0"/>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16" name="Imagen 15">
            <a:extLst>
              <a:ext uri="{FF2B5EF4-FFF2-40B4-BE49-F238E27FC236}">
                <a16:creationId xmlns:a16="http://schemas.microsoft.com/office/drawing/2014/main" id="{2FEB000E-5CA6-0A12-140E-36B270DBAA4C}"/>
              </a:ext>
            </a:extLst>
          </p:cNvPr>
          <p:cNvPicPr>
            <a:picLocks noChangeAspect="1"/>
          </p:cNvPicPr>
          <p:nvPr/>
        </p:nvPicPr>
        <p:blipFill rotWithShape="1">
          <a:blip r:embed="rId5"/>
          <a:srcRect l="-12332" r="6679" b="56392"/>
          <a:stretch/>
        </p:blipFill>
        <p:spPr>
          <a:xfrm>
            <a:off x="4876800" y="1448938"/>
            <a:ext cx="786661" cy="1289096"/>
          </a:xfrm>
          <a:prstGeom prst="rect">
            <a:avLst/>
          </a:prstGeom>
        </p:spPr>
      </p:pic>
      <p:cxnSp>
        <p:nvCxnSpPr>
          <p:cNvPr id="18" name="Conector recto 17">
            <a:extLst>
              <a:ext uri="{FF2B5EF4-FFF2-40B4-BE49-F238E27FC236}">
                <a16:creationId xmlns:a16="http://schemas.microsoft.com/office/drawing/2014/main" id="{C26ADBD0-BE8A-5750-D0F1-9948F4EA49A5}"/>
              </a:ext>
            </a:extLst>
          </p:cNvPr>
          <p:cNvCxnSpPr>
            <a:cxnSpLocks/>
          </p:cNvCxnSpPr>
          <p:nvPr/>
        </p:nvCxnSpPr>
        <p:spPr>
          <a:xfrm>
            <a:off x="4754730" y="4207631"/>
            <a:ext cx="1100714" cy="0"/>
          </a:xfrm>
          <a:prstGeom prst="line">
            <a:avLst/>
          </a:prstGeom>
          <a:ln w="1270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21" name="Imagen 20">
            <a:extLst>
              <a:ext uri="{FF2B5EF4-FFF2-40B4-BE49-F238E27FC236}">
                <a16:creationId xmlns:a16="http://schemas.microsoft.com/office/drawing/2014/main" id="{A7464E66-0460-CC52-0B1B-E3A3B3E1A5FE}"/>
              </a:ext>
            </a:extLst>
          </p:cNvPr>
          <p:cNvPicPr>
            <a:picLocks noChangeAspect="1"/>
          </p:cNvPicPr>
          <p:nvPr/>
        </p:nvPicPr>
        <p:blipFill>
          <a:blip r:embed="rId6"/>
          <a:stretch>
            <a:fillRect/>
          </a:stretch>
        </p:blipFill>
        <p:spPr>
          <a:xfrm>
            <a:off x="4814260" y="2965776"/>
            <a:ext cx="1041184" cy="12418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775597"/>
          </a:xfrm>
          <a:prstGeom prst="rect">
            <a:avLst/>
          </a:prstGeom>
          <a:noFill/>
        </p:spPr>
        <p:txBody>
          <a:bodyPr wrap="square" lIns="0" tIns="0" rIns="0" bIns="0" rtlCol="0">
            <a:spAutoFit/>
          </a:bodyPr>
          <a:lstStyle/>
          <a:p>
            <a:pPr>
              <a:lnSpc>
                <a:spcPct val="90000"/>
              </a:lnSpc>
              <a:spcBef>
                <a:spcPts val="1000"/>
              </a:spcBef>
              <a:defRPr/>
            </a:pPr>
            <a:r>
              <a:rPr lang="en-US" sz="2800" dirty="0">
                <a:solidFill>
                  <a:schemeClr val="bg1"/>
                </a:solidFill>
                <a:latin typeface="Graphik Regular" panose="020B0503030202060203" pitchFamily="34" charset="77"/>
                <a:sym typeface="Calibri"/>
              </a:rPr>
              <a:t>TRANSFORMACIÓN </a:t>
            </a:r>
            <a:br>
              <a:rPr lang="en-US" sz="2800" dirty="0">
                <a:solidFill>
                  <a:schemeClr val="bg1"/>
                </a:solidFill>
                <a:latin typeface="Graphik Regular" panose="020B0503030202060203" pitchFamily="34" charset="77"/>
                <a:sym typeface="Calibri"/>
              </a:rPr>
            </a:br>
            <a:r>
              <a:rPr lang="en-US" sz="2800" b="1" dirty="0">
                <a:solidFill>
                  <a:schemeClr val="bg1"/>
                </a:solidFill>
                <a:latin typeface="Graphik Bold" panose="020B0503030202060203" pitchFamily="34" charset="77"/>
                <a:sym typeface="Calibri"/>
              </a:rPr>
              <a:t>DE DATOS</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903987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9" name="Google Shape;779;p14"/>
          <p:cNvSpPr txBox="1"/>
          <p:nvPr/>
        </p:nvSpPr>
        <p:spPr>
          <a:xfrm>
            <a:off x="506501" y="912813"/>
            <a:ext cx="98854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LIMPIEZA</a:t>
            </a:r>
            <a:endParaRPr sz="1600" b="1" dirty="0">
              <a:solidFill>
                <a:schemeClr val="dk1"/>
              </a:solidFill>
              <a:latin typeface="Calibri"/>
              <a:ea typeface="Calibri"/>
              <a:cs typeface="Calibri"/>
              <a:sym typeface="Calibri"/>
            </a:endParaRPr>
          </a:p>
        </p:txBody>
      </p:sp>
      <p:sp>
        <p:nvSpPr>
          <p:cNvPr id="785" name="Google Shape;785;p14"/>
          <p:cNvSpPr/>
          <p:nvPr/>
        </p:nvSpPr>
        <p:spPr>
          <a:xfrm>
            <a:off x="2857500" y="2812491"/>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6" name="Google Shape;786;p14"/>
          <p:cNvSpPr/>
          <p:nvPr/>
        </p:nvSpPr>
        <p:spPr>
          <a:xfrm>
            <a:off x="5608324" y="2812491"/>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2" name="Google Shape;832;p14"/>
          <p:cNvSpPr txBox="1"/>
          <p:nvPr/>
        </p:nvSpPr>
        <p:spPr>
          <a:xfrm>
            <a:off x="1962897" y="1632837"/>
            <a:ext cx="121770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le falta la tilde</a:t>
            </a:r>
            <a:endParaRPr sz="1400">
              <a:solidFill>
                <a:schemeClr val="dk1"/>
              </a:solidFill>
              <a:latin typeface="Calibri"/>
              <a:ea typeface="Calibri"/>
              <a:cs typeface="Calibri"/>
              <a:sym typeface="Calibri"/>
            </a:endParaRPr>
          </a:p>
        </p:txBody>
      </p:sp>
      <p:sp>
        <p:nvSpPr>
          <p:cNvPr id="833" name="Google Shape;833;p14"/>
          <p:cNvSpPr txBox="1"/>
          <p:nvPr/>
        </p:nvSpPr>
        <p:spPr>
          <a:xfrm>
            <a:off x="525241" y="4580035"/>
            <a:ext cx="121770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le falta la tilde</a:t>
            </a:r>
            <a:endParaRPr sz="1400">
              <a:solidFill>
                <a:schemeClr val="dk1"/>
              </a:solidFill>
              <a:latin typeface="Calibri"/>
              <a:ea typeface="Calibri"/>
              <a:cs typeface="Calibri"/>
              <a:sym typeface="Calibri"/>
            </a:endParaRPr>
          </a:p>
        </p:txBody>
      </p:sp>
      <p:sp>
        <p:nvSpPr>
          <p:cNvPr id="834" name="Google Shape;834;p14"/>
          <p:cNvSpPr txBox="1"/>
          <p:nvPr/>
        </p:nvSpPr>
        <p:spPr>
          <a:xfrm>
            <a:off x="3352800" y="3569617"/>
            <a:ext cx="1396493"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tiene espacios al inicio y/o al final de la cadena</a:t>
            </a:r>
            <a:endParaRPr sz="140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DF7056E2-CFD6-9365-EEEC-F5103D51D6B4}"/>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F9C9E904-3D08-56C5-C69E-20E0D8C6A045}"/>
              </a:ext>
            </a:extLst>
          </p:cNvPr>
          <p:cNvSpPr/>
          <p:nvPr/>
        </p:nvSpPr>
        <p:spPr>
          <a:xfrm>
            <a:off x="1518795" y="916945"/>
            <a:ext cx="7121968" cy="620454"/>
          </a:xfrm>
          <a:prstGeom prst="roundRect">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l" rtl="0">
              <a:spcBef>
                <a:spcPts val="0"/>
              </a:spcBef>
              <a:spcAft>
                <a:spcPts val="0"/>
              </a:spcAft>
              <a:buNone/>
            </a:pPr>
            <a:r>
              <a:rPr lang="es-ES_tradnl" sz="1400" dirty="0">
                <a:solidFill>
                  <a:schemeClr val="dk1"/>
                </a:solidFill>
                <a:latin typeface="Calibri"/>
                <a:ea typeface="Calibri"/>
                <a:cs typeface="Calibri"/>
                <a:sym typeface="Calibri"/>
              </a:rPr>
              <a:t>Consiste en eliminar datos no relevantes, corregir datos, resolver los casos de ausencia de datos, eliminar datos duplicados, resolver la contradicción en los datos.</a:t>
            </a:r>
            <a:endParaRPr lang="es-ES_tradnl" sz="1400" dirty="0"/>
          </a:p>
        </p:txBody>
      </p:sp>
      <p:cxnSp>
        <p:nvCxnSpPr>
          <p:cNvPr id="5" name="Conector angular 4">
            <a:extLst>
              <a:ext uri="{FF2B5EF4-FFF2-40B4-BE49-F238E27FC236}">
                <a16:creationId xmlns:a16="http://schemas.microsoft.com/office/drawing/2014/main" id="{D9D23D29-9C6C-0A85-51A3-31C2FAA00848}"/>
              </a:ext>
            </a:extLst>
          </p:cNvPr>
          <p:cNvCxnSpPr>
            <a:cxnSpLocks/>
            <a:stCxn id="832" idx="2"/>
          </p:cNvCxnSpPr>
          <p:nvPr/>
        </p:nvCxnSpPr>
        <p:spPr>
          <a:xfrm rot="5400000">
            <a:off x="2040561" y="1763143"/>
            <a:ext cx="353719" cy="708660"/>
          </a:xfrm>
          <a:prstGeom prst="bentConnector3">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 name="Conector angular 5">
            <a:extLst>
              <a:ext uri="{FF2B5EF4-FFF2-40B4-BE49-F238E27FC236}">
                <a16:creationId xmlns:a16="http://schemas.microsoft.com/office/drawing/2014/main" id="{D066CF26-4592-A448-5A3E-465A13EAED1D}"/>
              </a:ext>
            </a:extLst>
          </p:cNvPr>
          <p:cNvCxnSpPr>
            <a:cxnSpLocks/>
            <a:stCxn id="833" idx="0"/>
          </p:cNvCxnSpPr>
          <p:nvPr/>
        </p:nvCxnSpPr>
        <p:spPr>
          <a:xfrm rot="5400000" flipH="1" flipV="1">
            <a:off x="1321851" y="4038796"/>
            <a:ext cx="353483" cy="728996"/>
          </a:xfrm>
          <a:prstGeom prst="bentConnector3">
            <a:avLst>
              <a:gd name="adj1" fmla="val 50000"/>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9" name="Tabla 8">
            <a:extLst>
              <a:ext uri="{FF2B5EF4-FFF2-40B4-BE49-F238E27FC236}">
                <a16:creationId xmlns:a16="http://schemas.microsoft.com/office/drawing/2014/main" id="{0DF192D2-8EF9-1F86-FC53-A750EE78B936}"/>
              </a:ext>
            </a:extLst>
          </p:cNvPr>
          <p:cNvGraphicFramePr>
            <a:graphicFrameLocks noGrp="1"/>
          </p:cNvGraphicFramePr>
          <p:nvPr>
            <p:extLst>
              <p:ext uri="{D42A27DB-BD31-4B8C-83A1-F6EECF244321}">
                <p14:modId xmlns:p14="http://schemas.microsoft.com/office/powerpoint/2010/main" val="4209441438"/>
              </p:ext>
            </p:extLst>
          </p:nvPr>
        </p:nvGraphicFramePr>
        <p:xfrm>
          <a:off x="517963" y="2294331"/>
          <a:ext cx="2034728" cy="1924998"/>
        </p:xfrm>
        <a:graphic>
          <a:graphicData uri="http://schemas.openxmlformats.org/drawingml/2006/table">
            <a:tbl>
              <a:tblPr firstRow="1" bandRow="1">
                <a:tableStyleId>{5C22544A-7EE6-4342-B048-85BDC9FD1C3A}</a:tableStyleId>
              </a:tblPr>
              <a:tblGrid>
                <a:gridCol w="318283">
                  <a:extLst>
                    <a:ext uri="{9D8B030D-6E8A-4147-A177-3AD203B41FA5}">
                      <a16:colId xmlns:a16="http://schemas.microsoft.com/office/drawing/2014/main" val="3291778468"/>
                    </a:ext>
                  </a:extLst>
                </a:gridCol>
                <a:gridCol w="406400">
                  <a:extLst>
                    <a:ext uri="{9D8B030D-6E8A-4147-A177-3AD203B41FA5}">
                      <a16:colId xmlns:a16="http://schemas.microsoft.com/office/drawing/2014/main" val="225770983"/>
                    </a:ext>
                  </a:extLst>
                </a:gridCol>
                <a:gridCol w="945662">
                  <a:extLst>
                    <a:ext uri="{9D8B030D-6E8A-4147-A177-3AD203B41FA5}">
                      <a16:colId xmlns:a16="http://schemas.microsoft.com/office/drawing/2014/main" val="889764849"/>
                    </a:ext>
                  </a:extLst>
                </a:gridCol>
                <a:gridCol w="364383">
                  <a:extLst>
                    <a:ext uri="{9D8B030D-6E8A-4147-A177-3AD203B41FA5}">
                      <a16:colId xmlns:a16="http://schemas.microsoft.com/office/drawing/2014/main" val="382024075"/>
                    </a:ext>
                  </a:extLst>
                </a:gridCol>
              </a:tblGrid>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mn-lt"/>
                          <a:ea typeface="Arial"/>
                          <a:cs typeface="Arial"/>
                          <a:sym typeface="Arial"/>
                        </a:rPr>
                        <a:t>Mexico</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extLst>
                  <a:ext uri="{0D108BD9-81ED-4DB2-BD59-A6C34878D82A}">
                    <a16:rowId xmlns:a16="http://schemas.microsoft.com/office/drawing/2014/main" val="1262700101"/>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r>
                        <a:rPr lang="es-ES_tradnl" sz="1200" b="0" dirty="0">
                          <a:solidFill>
                            <a:schemeClr val="tx1"/>
                          </a:solidFill>
                          <a:latin typeface="+mn-lt"/>
                        </a:rPr>
                        <a:t>Argentina</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extLst>
                  <a:ext uri="{0D108BD9-81ED-4DB2-BD59-A6C34878D82A}">
                    <a16:rowId xmlns:a16="http://schemas.microsoft.com/office/drawing/2014/main" val="2778033117"/>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r>
                        <a:rPr lang="es-ES_tradnl" sz="1200" b="0" dirty="0">
                          <a:solidFill>
                            <a:schemeClr val="tx1"/>
                          </a:solidFill>
                          <a:latin typeface="+mn-lt"/>
                        </a:rPr>
                        <a:t>Perú</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extLst>
                  <a:ext uri="{0D108BD9-81ED-4DB2-BD59-A6C34878D82A}">
                    <a16:rowId xmlns:a16="http://schemas.microsoft.com/office/drawing/2014/main" val="207889307"/>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r>
                        <a:rPr lang="es-ES_tradnl" sz="1200" b="0" dirty="0">
                          <a:solidFill>
                            <a:schemeClr val="tx1"/>
                          </a:solidFill>
                          <a:latin typeface="+mn-lt"/>
                        </a:rPr>
                        <a:t>   Argentina</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extLst>
                  <a:ext uri="{0D108BD9-81ED-4DB2-BD59-A6C34878D82A}">
                    <a16:rowId xmlns:a16="http://schemas.microsoft.com/office/drawing/2014/main" val="1515853368"/>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mn-lt"/>
                          <a:ea typeface="Arial"/>
                          <a:cs typeface="Arial"/>
                          <a:sym typeface="Arial"/>
                        </a:rPr>
                        <a:t>México</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extLst>
                  <a:ext uri="{0D108BD9-81ED-4DB2-BD59-A6C34878D82A}">
                    <a16:rowId xmlns:a16="http://schemas.microsoft.com/office/drawing/2014/main" val="268076873"/>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200" b="0" dirty="0" err="1">
                          <a:solidFill>
                            <a:schemeClr val="tx1"/>
                          </a:solidFill>
                          <a:latin typeface="+mn-lt"/>
                        </a:rPr>
                        <a:t>Peru</a:t>
                      </a:r>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extLst>
                  <a:ext uri="{0D108BD9-81ED-4DB2-BD59-A6C34878D82A}">
                    <a16:rowId xmlns:a16="http://schemas.microsoft.com/office/drawing/2014/main" val="2129603960"/>
                  </a:ext>
                </a:extLst>
              </a:tr>
            </a:tbl>
          </a:graphicData>
        </a:graphic>
      </p:graphicFrame>
      <p:sp>
        <p:nvSpPr>
          <p:cNvPr id="10" name="Rectángulo redondeado 9">
            <a:extLst>
              <a:ext uri="{FF2B5EF4-FFF2-40B4-BE49-F238E27FC236}">
                <a16:creationId xmlns:a16="http://schemas.microsoft.com/office/drawing/2014/main" id="{87C2F69F-983E-AD5B-6FF1-767A75DCB233}"/>
              </a:ext>
            </a:extLst>
          </p:cNvPr>
          <p:cNvSpPr/>
          <p:nvPr/>
        </p:nvSpPr>
        <p:spPr>
          <a:xfrm>
            <a:off x="3419480" y="2719754"/>
            <a:ext cx="2074548" cy="446680"/>
          </a:xfrm>
          <a:prstGeom prst="roundRect">
            <a:avLst/>
          </a:prstGeom>
          <a:solidFill>
            <a:srgbClr val="00B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rtl="0">
              <a:spcBef>
                <a:spcPts val="0"/>
              </a:spcBef>
              <a:spcAft>
                <a:spcPts val="0"/>
              </a:spcAft>
              <a:buNone/>
            </a:pPr>
            <a:r>
              <a:rPr lang="es-ES_tradnl" sz="1600" b="1">
                <a:solidFill>
                  <a:schemeClr val="bg1"/>
                </a:solidFill>
                <a:latin typeface="Calibri"/>
                <a:ea typeface="Calibri"/>
                <a:cs typeface="Calibri"/>
                <a:sym typeface="Calibri"/>
              </a:rPr>
              <a:t>corrección de datos</a:t>
            </a:r>
          </a:p>
        </p:txBody>
      </p:sp>
      <p:graphicFrame>
        <p:nvGraphicFramePr>
          <p:cNvPr id="11" name="Tabla 10">
            <a:extLst>
              <a:ext uri="{FF2B5EF4-FFF2-40B4-BE49-F238E27FC236}">
                <a16:creationId xmlns:a16="http://schemas.microsoft.com/office/drawing/2014/main" id="{C3C4EB87-F61E-93D8-F390-37DDAB3850DF}"/>
              </a:ext>
            </a:extLst>
          </p:cNvPr>
          <p:cNvGraphicFramePr>
            <a:graphicFrameLocks noGrp="1"/>
          </p:cNvGraphicFramePr>
          <p:nvPr>
            <p:extLst>
              <p:ext uri="{D42A27DB-BD31-4B8C-83A1-F6EECF244321}">
                <p14:modId xmlns:p14="http://schemas.microsoft.com/office/powerpoint/2010/main" val="3245600713"/>
              </p:ext>
            </p:extLst>
          </p:nvPr>
        </p:nvGraphicFramePr>
        <p:xfrm>
          <a:off x="6395133" y="2294331"/>
          <a:ext cx="2034728" cy="1924998"/>
        </p:xfrm>
        <a:graphic>
          <a:graphicData uri="http://schemas.openxmlformats.org/drawingml/2006/table">
            <a:tbl>
              <a:tblPr firstRow="1" bandRow="1">
                <a:tableStyleId>{5C22544A-7EE6-4342-B048-85BDC9FD1C3A}</a:tableStyleId>
              </a:tblPr>
              <a:tblGrid>
                <a:gridCol w="318283">
                  <a:extLst>
                    <a:ext uri="{9D8B030D-6E8A-4147-A177-3AD203B41FA5}">
                      <a16:colId xmlns:a16="http://schemas.microsoft.com/office/drawing/2014/main" val="3291778468"/>
                    </a:ext>
                  </a:extLst>
                </a:gridCol>
                <a:gridCol w="406400">
                  <a:extLst>
                    <a:ext uri="{9D8B030D-6E8A-4147-A177-3AD203B41FA5}">
                      <a16:colId xmlns:a16="http://schemas.microsoft.com/office/drawing/2014/main" val="225770983"/>
                    </a:ext>
                  </a:extLst>
                </a:gridCol>
                <a:gridCol w="906584">
                  <a:extLst>
                    <a:ext uri="{9D8B030D-6E8A-4147-A177-3AD203B41FA5}">
                      <a16:colId xmlns:a16="http://schemas.microsoft.com/office/drawing/2014/main" val="889764849"/>
                    </a:ext>
                  </a:extLst>
                </a:gridCol>
                <a:gridCol w="403461">
                  <a:extLst>
                    <a:ext uri="{9D8B030D-6E8A-4147-A177-3AD203B41FA5}">
                      <a16:colId xmlns:a16="http://schemas.microsoft.com/office/drawing/2014/main" val="382024075"/>
                    </a:ext>
                  </a:extLst>
                </a:gridCol>
              </a:tblGrid>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EE4639"/>
                          </a:solidFill>
                          <a:latin typeface="+mn-lt"/>
                          <a:ea typeface="Arial"/>
                          <a:cs typeface="Arial"/>
                          <a:sym typeface="Arial"/>
                        </a:rPr>
                        <a:t>México</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r>
                        <a:rPr lang="es-ES_tradnl" sz="1200" b="0" dirty="0">
                          <a:solidFill>
                            <a:schemeClr val="tx1"/>
                          </a:solidFill>
                          <a:latin typeface="+mn-lt"/>
                        </a:rPr>
                        <a:t>Argentina</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2778033117"/>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r>
                        <a:rPr lang="es-ES_tradnl" sz="1200" b="0" dirty="0">
                          <a:solidFill>
                            <a:schemeClr val="tx1"/>
                          </a:solidFill>
                          <a:latin typeface="+mn-lt"/>
                        </a:rPr>
                        <a:t>Perú</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207889307"/>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r>
                        <a:rPr lang="es-ES_tradnl" sz="1200" b="1" dirty="0">
                          <a:solidFill>
                            <a:srgbClr val="EE4639"/>
                          </a:solidFill>
                          <a:latin typeface="+mn-lt"/>
                        </a:rPr>
                        <a:t>Argentina</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1515853368"/>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mn-lt"/>
                          <a:ea typeface="Arial"/>
                          <a:cs typeface="Arial"/>
                          <a:sym typeface="Arial"/>
                        </a:rPr>
                        <a:t>México</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268076873"/>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_tradnl" sz="1200" b="1" dirty="0">
                          <a:solidFill>
                            <a:srgbClr val="EE4639"/>
                          </a:solidFill>
                          <a:latin typeface="+mn-lt"/>
                        </a:rPr>
                        <a:t>Perú</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2129603960"/>
                  </a:ext>
                </a:extLst>
              </a:tr>
            </a:tbl>
          </a:graphicData>
        </a:graphic>
      </p:graphicFrame>
      <p:cxnSp>
        <p:nvCxnSpPr>
          <p:cNvPr id="12" name="Conector angular 11">
            <a:extLst>
              <a:ext uri="{FF2B5EF4-FFF2-40B4-BE49-F238E27FC236}">
                <a16:creationId xmlns:a16="http://schemas.microsoft.com/office/drawing/2014/main" id="{00DA1DA6-45CB-B4B7-4787-AB1DC76F2FD2}"/>
              </a:ext>
            </a:extLst>
          </p:cNvPr>
          <p:cNvCxnSpPr>
            <a:cxnSpLocks/>
            <a:stCxn id="834" idx="1"/>
          </p:cNvCxnSpPr>
          <p:nvPr/>
        </p:nvCxnSpPr>
        <p:spPr>
          <a:xfrm rot="10800000">
            <a:off x="2571750" y="3429631"/>
            <a:ext cx="781050" cy="509319"/>
          </a:xfrm>
          <a:prstGeom prst="bentConnector3">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4" name="Google Shape;844;p15"/>
          <p:cNvSpPr txBox="1"/>
          <p:nvPr/>
        </p:nvSpPr>
        <p:spPr>
          <a:xfrm>
            <a:off x="503238" y="925971"/>
            <a:ext cx="1016047"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FILTRADO</a:t>
            </a:r>
            <a:endParaRPr sz="1600" b="1" dirty="0">
              <a:solidFill>
                <a:schemeClr val="dk1"/>
              </a:solidFill>
              <a:latin typeface="Calibri"/>
              <a:ea typeface="Calibri"/>
              <a:cs typeface="Calibri"/>
              <a:sym typeface="Calibri"/>
            </a:endParaRPr>
          </a:p>
        </p:txBody>
      </p:sp>
      <p:sp>
        <p:nvSpPr>
          <p:cNvPr id="849" name="Google Shape;849;p15"/>
          <p:cNvSpPr txBox="1"/>
          <p:nvPr/>
        </p:nvSpPr>
        <p:spPr>
          <a:xfrm>
            <a:off x="1369032" y="4557255"/>
            <a:ext cx="47801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país</a:t>
            </a:r>
            <a:endParaRPr sz="1400">
              <a:solidFill>
                <a:schemeClr val="dk1"/>
              </a:solidFill>
              <a:latin typeface="Calibri"/>
              <a:ea typeface="Calibri"/>
              <a:cs typeface="Calibri"/>
              <a:sym typeface="Calibri"/>
            </a:endParaRPr>
          </a:p>
        </p:txBody>
      </p:sp>
      <p:sp>
        <p:nvSpPr>
          <p:cNvPr id="850" name="Google Shape;850;p15"/>
          <p:cNvSpPr/>
          <p:nvPr/>
        </p:nvSpPr>
        <p:spPr>
          <a:xfrm>
            <a:off x="3467102" y="2008282"/>
            <a:ext cx="1988818" cy="353943"/>
          </a:xfrm>
          <a:prstGeom prst="roundRect">
            <a:avLst>
              <a:gd name="adj" fmla="val 16667"/>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a:solidFill>
                  <a:schemeClr val="bg1"/>
                </a:solidFill>
                <a:latin typeface="Calibri"/>
                <a:ea typeface="Calibri"/>
                <a:cs typeface="Calibri"/>
                <a:sym typeface="Calibri"/>
              </a:rPr>
              <a:t>filtro: país = ‘Argentina’</a:t>
            </a:r>
            <a:endParaRPr sz="1400" b="1">
              <a:solidFill>
                <a:schemeClr val="bg1"/>
              </a:solidFill>
              <a:latin typeface="Calibri"/>
              <a:ea typeface="Calibri"/>
              <a:cs typeface="Calibri"/>
              <a:sym typeface="Calibri"/>
            </a:endParaRPr>
          </a:p>
        </p:txBody>
      </p:sp>
      <p:sp>
        <p:nvSpPr>
          <p:cNvPr id="851" name="Google Shape;851;p15"/>
          <p:cNvSpPr/>
          <p:nvPr/>
        </p:nvSpPr>
        <p:spPr>
          <a:xfrm>
            <a:off x="2857500" y="2008280"/>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bg1"/>
              </a:solidFill>
              <a:latin typeface="Calibri"/>
              <a:ea typeface="Calibri"/>
              <a:cs typeface="Calibri"/>
              <a:sym typeface="Calibri"/>
            </a:endParaRPr>
          </a:p>
        </p:txBody>
      </p:sp>
      <p:sp>
        <p:nvSpPr>
          <p:cNvPr id="852" name="Google Shape;852;p15"/>
          <p:cNvSpPr/>
          <p:nvPr/>
        </p:nvSpPr>
        <p:spPr>
          <a:xfrm>
            <a:off x="5608324" y="2008280"/>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bg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BEC0F06A-C57C-5186-0C88-A5EA07CCF495}"/>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A4BB13E2-25B6-7050-6D2F-5BAA9F37C91D}"/>
              </a:ext>
            </a:extLst>
          </p:cNvPr>
          <p:cNvSpPr/>
          <p:nvPr/>
        </p:nvSpPr>
        <p:spPr>
          <a:xfrm>
            <a:off x="1518795" y="916945"/>
            <a:ext cx="7121968" cy="620454"/>
          </a:xfrm>
          <a:prstGeom prst="roundRect">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l" rtl="0">
              <a:spcBef>
                <a:spcPts val="0"/>
              </a:spcBef>
              <a:spcAft>
                <a:spcPts val="0"/>
              </a:spcAft>
              <a:buNone/>
            </a:pPr>
            <a:r>
              <a:rPr lang="es-ES_tradnl" sz="1400" dirty="0">
                <a:solidFill>
                  <a:schemeClr val="dk1"/>
                </a:solidFill>
                <a:latin typeface="Calibri"/>
                <a:ea typeface="Calibri"/>
                <a:cs typeface="Calibri"/>
                <a:sym typeface="Calibri"/>
              </a:rPr>
              <a:t>Obtención de un subconjunto de datos mediante la definición de un filtro que establece que datos deben pasar al subconjunto.</a:t>
            </a:r>
            <a:endParaRPr lang="es-ES_tradnl" sz="1400" dirty="0"/>
          </a:p>
        </p:txBody>
      </p:sp>
      <p:graphicFrame>
        <p:nvGraphicFramePr>
          <p:cNvPr id="4" name="Tabla 3">
            <a:extLst>
              <a:ext uri="{FF2B5EF4-FFF2-40B4-BE49-F238E27FC236}">
                <a16:creationId xmlns:a16="http://schemas.microsoft.com/office/drawing/2014/main" id="{3153CFC6-62FF-D0B3-4D37-A11ECBA64AC2}"/>
              </a:ext>
            </a:extLst>
          </p:cNvPr>
          <p:cNvGraphicFramePr>
            <a:graphicFrameLocks noGrp="1"/>
          </p:cNvGraphicFramePr>
          <p:nvPr>
            <p:extLst>
              <p:ext uri="{D42A27DB-BD31-4B8C-83A1-F6EECF244321}">
                <p14:modId xmlns:p14="http://schemas.microsoft.com/office/powerpoint/2010/main" val="2638808292"/>
              </p:ext>
            </p:extLst>
          </p:nvPr>
        </p:nvGraphicFramePr>
        <p:xfrm>
          <a:off x="517963" y="2294331"/>
          <a:ext cx="2034728" cy="1924998"/>
        </p:xfrm>
        <a:graphic>
          <a:graphicData uri="http://schemas.openxmlformats.org/drawingml/2006/table">
            <a:tbl>
              <a:tblPr firstRow="1" bandRow="1">
                <a:tableStyleId>{5C22544A-7EE6-4342-B048-85BDC9FD1C3A}</a:tableStyleId>
              </a:tblPr>
              <a:tblGrid>
                <a:gridCol w="318283">
                  <a:extLst>
                    <a:ext uri="{9D8B030D-6E8A-4147-A177-3AD203B41FA5}">
                      <a16:colId xmlns:a16="http://schemas.microsoft.com/office/drawing/2014/main" val="3291778468"/>
                    </a:ext>
                  </a:extLst>
                </a:gridCol>
                <a:gridCol w="406400">
                  <a:extLst>
                    <a:ext uri="{9D8B030D-6E8A-4147-A177-3AD203B41FA5}">
                      <a16:colId xmlns:a16="http://schemas.microsoft.com/office/drawing/2014/main" val="225770983"/>
                    </a:ext>
                  </a:extLst>
                </a:gridCol>
                <a:gridCol w="945662">
                  <a:extLst>
                    <a:ext uri="{9D8B030D-6E8A-4147-A177-3AD203B41FA5}">
                      <a16:colId xmlns:a16="http://schemas.microsoft.com/office/drawing/2014/main" val="889764849"/>
                    </a:ext>
                  </a:extLst>
                </a:gridCol>
                <a:gridCol w="364383">
                  <a:extLst>
                    <a:ext uri="{9D8B030D-6E8A-4147-A177-3AD203B41FA5}">
                      <a16:colId xmlns:a16="http://schemas.microsoft.com/office/drawing/2014/main" val="382024075"/>
                    </a:ext>
                  </a:extLst>
                </a:gridCol>
              </a:tblGrid>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mn-lt"/>
                          <a:ea typeface="Arial"/>
                          <a:cs typeface="Arial"/>
                          <a:sym typeface="Arial"/>
                        </a:rPr>
                        <a:t>México</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algn="ctr"/>
                      <a:r>
                        <a:rPr lang="es-ES_tradnl" sz="1200" b="0" dirty="0">
                          <a:solidFill>
                            <a:schemeClr val="tx1"/>
                          </a:solidFill>
                          <a:latin typeface="+mn-lt"/>
                        </a:rPr>
                        <a:t>Argentina</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2778033117"/>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algn="ctr"/>
                      <a:r>
                        <a:rPr lang="es-ES_tradnl" sz="1200" b="0" dirty="0">
                          <a:solidFill>
                            <a:schemeClr val="tx1"/>
                          </a:solidFill>
                          <a:latin typeface="+mn-lt"/>
                        </a:rPr>
                        <a:t>Perú</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207889307"/>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algn="ctr"/>
                      <a:r>
                        <a:rPr lang="es-ES_tradnl" sz="1200" b="0" dirty="0">
                          <a:solidFill>
                            <a:schemeClr val="tx1"/>
                          </a:solidFill>
                          <a:latin typeface="+mn-lt"/>
                        </a:rPr>
                        <a:t>Argentina</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1515853368"/>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mn-lt"/>
                          <a:ea typeface="Arial"/>
                          <a:cs typeface="Arial"/>
                          <a:sym typeface="Arial"/>
                        </a:rPr>
                        <a:t>México</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268076873"/>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0" dirty="0">
                          <a:solidFill>
                            <a:schemeClr val="tx1"/>
                          </a:solidFill>
                          <a:latin typeface="+mn-lt"/>
                        </a:rPr>
                        <a:t>Colombia</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2129603960"/>
                  </a:ext>
                </a:extLst>
              </a:tr>
            </a:tbl>
          </a:graphicData>
        </a:graphic>
      </p:graphicFrame>
      <p:cxnSp>
        <p:nvCxnSpPr>
          <p:cNvPr id="5" name="Conector angular 4">
            <a:extLst>
              <a:ext uri="{FF2B5EF4-FFF2-40B4-BE49-F238E27FC236}">
                <a16:creationId xmlns:a16="http://schemas.microsoft.com/office/drawing/2014/main" id="{BA0E491A-9E92-F544-BDB9-AC5892D160BF}"/>
              </a:ext>
            </a:extLst>
          </p:cNvPr>
          <p:cNvCxnSpPr>
            <a:cxnSpLocks/>
            <a:stCxn id="849" idx="0"/>
          </p:cNvCxnSpPr>
          <p:nvPr/>
        </p:nvCxnSpPr>
        <p:spPr>
          <a:xfrm rot="5400000" flipH="1" flipV="1">
            <a:off x="1570214" y="4264379"/>
            <a:ext cx="330702" cy="255050"/>
          </a:xfrm>
          <a:prstGeom prst="bentConnector3">
            <a:avLst>
              <a:gd name="adj1" fmla="val 50000"/>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7" name="Tabla 6">
            <a:extLst>
              <a:ext uri="{FF2B5EF4-FFF2-40B4-BE49-F238E27FC236}">
                <a16:creationId xmlns:a16="http://schemas.microsoft.com/office/drawing/2014/main" id="{143A1AA4-17BE-67F2-0F6E-5C045E59B62E}"/>
              </a:ext>
            </a:extLst>
          </p:cNvPr>
          <p:cNvGraphicFramePr>
            <a:graphicFrameLocks noGrp="1"/>
          </p:cNvGraphicFramePr>
          <p:nvPr>
            <p:extLst>
              <p:ext uri="{D42A27DB-BD31-4B8C-83A1-F6EECF244321}">
                <p14:modId xmlns:p14="http://schemas.microsoft.com/office/powerpoint/2010/main" val="1265951962"/>
              </p:ext>
            </p:extLst>
          </p:nvPr>
        </p:nvGraphicFramePr>
        <p:xfrm>
          <a:off x="6348240" y="1923895"/>
          <a:ext cx="2034728" cy="641666"/>
        </p:xfrm>
        <a:graphic>
          <a:graphicData uri="http://schemas.openxmlformats.org/drawingml/2006/table">
            <a:tbl>
              <a:tblPr firstRow="1" bandRow="1">
                <a:tableStyleId>{5C22544A-7EE6-4342-B048-85BDC9FD1C3A}</a:tableStyleId>
              </a:tblPr>
              <a:tblGrid>
                <a:gridCol w="318283">
                  <a:extLst>
                    <a:ext uri="{9D8B030D-6E8A-4147-A177-3AD203B41FA5}">
                      <a16:colId xmlns:a16="http://schemas.microsoft.com/office/drawing/2014/main" val="3291778468"/>
                    </a:ext>
                  </a:extLst>
                </a:gridCol>
                <a:gridCol w="406400">
                  <a:extLst>
                    <a:ext uri="{9D8B030D-6E8A-4147-A177-3AD203B41FA5}">
                      <a16:colId xmlns:a16="http://schemas.microsoft.com/office/drawing/2014/main" val="225770983"/>
                    </a:ext>
                  </a:extLst>
                </a:gridCol>
                <a:gridCol w="945662">
                  <a:extLst>
                    <a:ext uri="{9D8B030D-6E8A-4147-A177-3AD203B41FA5}">
                      <a16:colId xmlns:a16="http://schemas.microsoft.com/office/drawing/2014/main" val="889764849"/>
                    </a:ext>
                  </a:extLst>
                </a:gridCol>
                <a:gridCol w="364383">
                  <a:extLst>
                    <a:ext uri="{9D8B030D-6E8A-4147-A177-3AD203B41FA5}">
                      <a16:colId xmlns:a16="http://schemas.microsoft.com/office/drawing/2014/main" val="382024075"/>
                    </a:ext>
                  </a:extLst>
                </a:gridCol>
              </a:tblGrid>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rgbClr val="714EA0"/>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dirty="0">
                          <a:solidFill>
                            <a:schemeClr val="tx1"/>
                          </a:solidFill>
                          <a:latin typeface="+mn-lt"/>
                          <a:ea typeface="Arial"/>
                          <a:cs typeface="Arial"/>
                          <a:sym typeface="Arial"/>
                        </a:rPr>
                        <a:t>Argentina</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rgbClr val="714EA0"/>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algn="ctr"/>
                      <a:r>
                        <a:rPr lang="es-ES_tradnl" sz="1200" b="0" dirty="0">
                          <a:solidFill>
                            <a:schemeClr val="tx1"/>
                          </a:solidFill>
                          <a:latin typeface="+mn-lt"/>
                        </a:rPr>
                        <a:t>Argentina</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2778033117"/>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9" name="Google Shape;889;p16"/>
          <p:cNvSpPr txBox="1"/>
          <p:nvPr/>
        </p:nvSpPr>
        <p:spPr>
          <a:xfrm>
            <a:off x="499559" y="925893"/>
            <a:ext cx="1800108"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DATOS DERIVADOS</a:t>
            </a:r>
            <a:endParaRPr sz="1600" b="1" dirty="0">
              <a:solidFill>
                <a:schemeClr val="dk1"/>
              </a:solidFill>
              <a:latin typeface="Calibri"/>
              <a:ea typeface="Calibri"/>
              <a:cs typeface="Calibri"/>
              <a:sym typeface="Calibri"/>
            </a:endParaRPr>
          </a:p>
        </p:txBody>
      </p:sp>
      <p:sp>
        <p:nvSpPr>
          <p:cNvPr id="894" name="Google Shape;894;p16"/>
          <p:cNvSpPr txBox="1"/>
          <p:nvPr/>
        </p:nvSpPr>
        <p:spPr>
          <a:xfrm>
            <a:off x="662940" y="2699889"/>
            <a:ext cx="166436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fecha de nacimiento</a:t>
            </a:r>
          </a:p>
        </p:txBody>
      </p:sp>
      <p:sp>
        <p:nvSpPr>
          <p:cNvPr id="895" name="Google Shape;895;p16"/>
          <p:cNvSpPr/>
          <p:nvPr/>
        </p:nvSpPr>
        <p:spPr>
          <a:xfrm>
            <a:off x="3467102" y="1997952"/>
            <a:ext cx="1737360" cy="353943"/>
          </a:xfrm>
          <a:prstGeom prst="roundRect">
            <a:avLst>
              <a:gd name="adj" fmla="val 16667"/>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s-ES_tradnl" sz="1400" b="1">
                <a:solidFill>
                  <a:schemeClr val="bg1"/>
                </a:solidFill>
                <a:latin typeface="Calibri" panose="020F0502020204030204" pitchFamily="34" charset="0"/>
                <a:ea typeface="Calibri"/>
                <a:cs typeface="Calibri" panose="020F0502020204030204" pitchFamily="34" charset="0"/>
                <a:sym typeface="Calibri"/>
              </a:rPr>
              <a:t>fórmula o algoritmo</a:t>
            </a:r>
          </a:p>
        </p:txBody>
      </p:sp>
      <p:sp>
        <p:nvSpPr>
          <p:cNvPr id="901" name="Google Shape;901;p16"/>
          <p:cNvSpPr txBox="1"/>
          <p:nvPr/>
        </p:nvSpPr>
        <p:spPr>
          <a:xfrm>
            <a:off x="7519941" y="2699889"/>
            <a:ext cx="55015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edad</a:t>
            </a:r>
          </a:p>
        </p:txBody>
      </p:sp>
      <p:sp>
        <p:nvSpPr>
          <p:cNvPr id="902" name="Google Shape;902;p16"/>
          <p:cNvSpPr/>
          <p:nvPr/>
        </p:nvSpPr>
        <p:spPr>
          <a:xfrm>
            <a:off x="2857500" y="1997950"/>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lang="es-ES_tradnl" sz="1800">
              <a:solidFill>
                <a:schemeClr val="bg1"/>
              </a:solidFill>
              <a:latin typeface="Calibri" panose="020F0502020204030204" pitchFamily="34" charset="0"/>
              <a:ea typeface="Calibri"/>
              <a:cs typeface="Calibri" panose="020F0502020204030204" pitchFamily="34" charset="0"/>
              <a:sym typeface="Calibri"/>
            </a:endParaRPr>
          </a:p>
        </p:txBody>
      </p:sp>
      <p:sp>
        <p:nvSpPr>
          <p:cNvPr id="903" name="Google Shape;903;p16"/>
          <p:cNvSpPr/>
          <p:nvPr/>
        </p:nvSpPr>
        <p:spPr>
          <a:xfrm>
            <a:off x="5318764" y="1997950"/>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lang="es-ES_tradnl" sz="1800">
              <a:solidFill>
                <a:schemeClr val="bg1"/>
              </a:solidFill>
              <a:latin typeface="Calibri" panose="020F0502020204030204" pitchFamily="34" charset="0"/>
              <a:ea typeface="Calibri"/>
              <a:cs typeface="Calibri" panose="020F0502020204030204" pitchFamily="34" charset="0"/>
              <a:sym typeface="Calibri"/>
            </a:endParaRPr>
          </a:p>
        </p:txBody>
      </p:sp>
      <p:sp>
        <p:nvSpPr>
          <p:cNvPr id="914" name="Google Shape;914;p16"/>
          <p:cNvSpPr/>
          <p:nvPr/>
        </p:nvSpPr>
        <p:spPr>
          <a:xfrm>
            <a:off x="3936376" y="3462721"/>
            <a:ext cx="895344" cy="353943"/>
          </a:xfrm>
          <a:prstGeom prst="roundRect">
            <a:avLst>
              <a:gd name="adj" fmla="val 16667"/>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s-ES_tradnl" sz="1400" b="1">
                <a:solidFill>
                  <a:schemeClr val="bg1"/>
                </a:solidFill>
                <a:latin typeface="Calibri" panose="020F0502020204030204" pitchFamily="34" charset="0"/>
                <a:ea typeface="Calibri"/>
                <a:cs typeface="Calibri" panose="020F0502020204030204" pitchFamily="34" charset="0"/>
                <a:sym typeface="Calibri"/>
              </a:rPr>
              <a:t>fórmula</a:t>
            </a:r>
          </a:p>
        </p:txBody>
      </p:sp>
      <p:sp>
        <p:nvSpPr>
          <p:cNvPr id="915" name="Google Shape;915;p16"/>
          <p:cNvSpPr/>
          <p:nvPr/>
        </p:nvSpPr>
        <p:spPr>
          <a:xfrm>
            <a:off x="3335337" y="3462719"/>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lang="es-ES_tradnl" sz="1800">
              <a:solidFill>
                <a:schemeClr val="bg1"/>
              </a:solidFill>
              <a:latin typeface="Calibri" panose="020F0502020204030204" pitchFamily="34" charset="0"/>
              <a:ea typeface="Calibri"/>
              <a:cs typeface="Calibri" panose="020F0502020204030204" pitchFamily="34" charset="0"/>
              <a:sym typeface="Calibri"/>
            </a:endParaRPr>
          </a:p>
        </p:txBody>
      </p:sp>
      <p:sp>
        <p:nvSpPr>
          <p:cNvPr id="916" name="Google Shape;916;p16"/>
          <p:cNvSpPr/>
          <p:nvPr/>
        </p:nvSpPr>
        <p:spPr>
          <a:xfrm>
            <a:off x="4926015" y="3462719"/>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lang="es-ES_tradnl" sz="1800">
              <a:solidFill>
                <a:schemeClr val="bg1"/>
              </a:solidFill>
              <a:latin typeface="Calibri" panose="020F0502020204030204" pitchFamily="34" charset="0"/>
              <a:ea typeface="Calibri"/>
              <a:cs typeface="Calibri" panose="020F0502020204030204" pitchFamily="34" charset="0"/>
              <a:sym typeface="Calibri"/>
            </a:endParaRPr>
          </a:p>
        </p:txBody>
      </p:sp>
      <p:sp>
        <p:nvSpPr>
          <p:cNvPr id="918" name="Google Shape;918;p16"/>
          <p:cNvSpPr txBox="1"/>
          <p:nvPr/>
        </p:nvSpPr>
        <p:spPr>
          <a:xfrm>
            <a:off x="552658" y="4324555"/>
            <a:ext cx="1431417"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apelllido paterno</a:t>
            </a:r>
          </a:p>
        </p:txBody>
      </p:sp>
      <p:sp>
        <p:nvSpPr>
          <p:cNvPr id="919" name="Google Shape;919;p16"/>
          <p:cNvSpPr txBox="1"/>
          <p:nvPr/>
        </p:nvSpPr>
        <p:spPr>
          <a:xfrm>
            <a:off x="1637057" y="4630843"/>
            <a:ext cx="1479508"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apelllido materno</a:t>
            </a:r>
          </a:p>
        </p:txBody>
      </p:sp>
      <p:sp>
        <p:nvSpPr>
          <p:cNvPr id="920" name="Google Shape;920;p16"/>
          <p:cNvSpPr txBox="1"/>
          <p:nvPr/>
        </p:nvSpPr>
        <p:spPr>
          <a:xfrm>
            <a:off x="2754630" y="4323064"/>
            <a:ext cx="760978"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nombre</a:t>
            </a:r>
          </a:p>
        </p:txBody>
      </p:sp>
      <p:sp>
        <p:nvSpPr>
          <p:cNvPr id="924" name="Google Shape;924;p16"/>
          <p:cNvSpPr txBox="1"/>
          <p:nvPr/>
        </p:nvSpPr>
        <p:spPr>
          <a:xfrm>
            <a:off x="6685009" y="4323064"/>
            <a:ext cx="1490986"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nombre completo</a:t>
            </a:r>
          </a:p>
        </p:txBody>
      </p:sp>
      <p:sp>
        <p:nvSpPr>
          <p:cNvPr id="2" name="Rectangle 5">
            <a:extLst>
              <a:ext uri="{FF2B5EF4-FFF2-40B4-BE49-F238E27FC236}">
                <a16:creationId xmlns:a16="http://schemas.microsoft.com/office/drawing/2014/main" id="{FC8DF620-0D71-6437-7E3D-382FF707F6A1}"/>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FA3A2968-0F35-E1FC-18E4-E6C7E409F1DB}"/>
              </a:ext>
            </a:extLst>
          </p:cNvPr>
          <p:cNvSpPr/>
          <p:nvPr/>
        </p:nvSpPr>
        <p:spPr>
          <a:xfrm>
            <a:off x="2299667" y="916945"/>
            <a:ext cx="6341096" cy="620454"/>
          </a:xfrm>
          <a:prstGeom prst="roundRect">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l" rtl="0">
              <a:spcBef>
                <a:spcPts val="0"/>
              </a:spcBef>
              <a:spcAft>
                <a:spcPts val="0"/>
              </a:spcAft>
              <a:buNone/>
            </a:pPr>
            <a:r>
              <a:rPr lang="es-ES_tradnl" sz="1400" dirty="0">
                <a:solidFill>
                  <a:schemeClr val="dk1"/>
                </a:solidFill>
                <a:latin typeface="Calibri"/>
                <a:ea typeface="Calibri"/>
                <a:cs typeface="Calibri"/>
                <a:sym typeface="Calibri"/>
              </a:rPr>
              <a:t>Obtención de un nuevo dato a partir de datos existentes mediante la aplicación de una fórmula o algoritmo.</a:t>
            </a:r>
            <a:endParaRPr lang="es-ES_tradnl" sz="1400" dirty="0"/>
          </a:p>
        </p:txBody>
      </p:sp>
      <p:graphicFrame>
        <p:nvGraphicFramePr>
          <p:cNvPr id="4" name="Tabla 3">
            <a:extLst>
              <a:ext uri="{FF2B5EF4-FFF2-40B4-BE49-F238E27FC236}">
                <a16:creationId xmlns:a16="http://schemas.microsoft.com/office/drawing/2014/main" id="{58784E0F-FBEA-DCC5-097C-2E7B8FDBA9D2}"/>
              </a:ext>
            </a:extLst>
          </p:cNvPr>
          <p:cNvGraphicFramePr>
            <a:graphicFrameLocks noGrp="1"/>
          </p:cNvGraphicFramePr>
          <p:nvPr>
            <p:extLst>
              <p:ext uri="{D42A27DB-BD31-4B8C-83A1-F6EECF244321}">
                <p14:modId xmlns:p14="http://schemas.microsoft.com/office/powerpoint/2010/main" val="549634558"/>
              </p:ext>
            </p:extLst>
          </p:nvPr>
        </p:nvGraphicFramePr>
        <p:xfrm>
          <a:off x="537022" y="2034356"/>
          <a:ext cx="2034728" cy="320833"/>
        </p:xfrm>
        <a:graphic>
          <a:graphicData uri="http://schemas.openxmlformats.org/drawingml/2006/table">
            <a:tbl>
              <a:tblPr firstRow="1" bandRow="1">
                <a:tableStyleId>{5C22544A-7EE6-4342-B048-85BDC9FD1C3A}</a:tableStyleId>
              </a:tblPr>
              <a:tblGrid>
                <a:gridCol w="318283">
                  <a:extLst>
                    <a:ext uri="{9D8B030D-6E8A-4147-A177-3AD203B41FA5}">
                      <a16:colId xmlns:a16="http://schemas.microsoft.com/office/drawing/2014/main" val="3291778468"/>
                    </a:ext>
                  </a:extLst>
                </a:gridCol>
                <a:gridCol w="406400">
                  <a:extLst>
                    <a:ext uri="{9D8B030D-6E8A-4147-A177-3AD203B41FA5}">
                      <a16:colId xmlns:a16="http://schemas.microsoft.com/office/drawing/2014/main" val="225770983"/>
                    </a:ext>
                  </a:extLst>
                </a:gridCol>
                <a:gridCol w="945662">
                  <a:extLst>
                    <a:ext uri="{9D8B030D-6E8A-4147-A177-3AD203B41FA5}">
                      <a16:colId xmlns:a16="http://schemas.microsoft.com/office/drawing/2014/main" val="889764849"/>
                    </a:ext>
                  </a:extLst>
                </a:gridCol>
                <a:gridCol w="364383">
                  <a:extLst>
                    <a:ext uri="{9D8B030D-6E8A-4147-A177-3AD203B41FA5}">
                      <a16:colId xmlns:a16="http://schemas.microsoft.com/office/drawing/2014/main" val="382024075"/>
                    </a:ext>
                  </a:extLst>
                </a:gridCol>
              </a:tblGrid>
              <a:tr h="320833">
                <a:tc>
                  <a:txBody>
                    <a:bodyPr/>
                    <a:lstStyle/>
                    <a:p>
                      <a:endParaRPr lang="es-ES_tradnl" sz="1200" b="0" dirty="0">
                        <a:solidFill>
                          <a:schemeClr val="tx1"/>
                        </a:solidFill>
                        <a:latin typeface="Calibri" panose="020F0502020204030204" pitchFamily="34" charset="0"/>
                        <a:cs typeface="Calibri" panose="020F0502020204030204" pitchFamily="34" charset="0"/>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endParaRPr lang="es-ES_tradnl" sz="1200" b="0" dirty="0">
                        <a:solidFill>
                          <a:schemeClr val="tx1"/>
                        </a:solidFill>
                        <a:latin typeface="Calibri" panose="020F0502020204030204" pitchFamily="34" charset="0"/>
                        <a:cs typeface="Calibri" panose="020F0502020204030204" pitchFamily="34" charset="0"/>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dirty="0">
                          <a:solidFill>
                            <a:schemeClr val="dk1"/>
                          </a:solidFill>
                          <a:latin typeface="Calibri" panose="020F0502020204030204" pitchFamily="34" charset="0"/>
                          <a:ea typeface="Arial"/>
                          <a:cs typeface="Calibri" panose="020F0502020204030204" pitchFamily="34" charset="0"/>
                          <a:sym typeface="Arial"/>
                        </a:rPr>
                        <a:t>26/11/2000</a:t>
                      </a:r>
                      <a:endParaRPr lang="en-US" sz="1200" b="0" dirty="0">
                        <a:solidFill>
                          <a:schemeClr val="tx1"/>
                        </a:solidFill>
                        <a:latin typeface="Calibri" panose="020F0502020204030204" pitchFamily="34" charset="0"/>
                        <a:ea typeface="Arial"/>
                        <a:cs typeface="Calibri" panose="020F0502020204030204" pitchFamily="34" charset="0"/>
                        <a:sym typeface="Arial"/>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endParaRPr lang="es-ES_tradnl" sz="1200" b="0" dirty="0">
                        <a:solidFill>
                          <a:schemeClr val="tx1"/>
                        </a:solidFill>
                        <a:latin typeface="Calibri" panose="020F0502020204030204" pitchFamily="34" charset="0"/>
                        <a:cs typeface="Calibri" panose="020F0502020204030204" pitchFamily="34" charset="0"/>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graphicFrame>
        <p:nvGraphicFramePr>
          <p:cNvPr id="5" name="Tabla 4">
            <a:extLst>
              <a:ext uri="{FF2B5EF4-FFF2-40B4-BE49-F238E27FC236}">
                <a16:creationId xmlns:a16="http://schemas.microsoft.com/office/drawing/2014/main" id="{60740847-BAB7-9031-4F2A-C6047E6D3EE9}"/>
              </a:ext>
            </a:extLst>
          </p:cNvPr>
          <p:cNvGraphicFramePr>
            <a:graphicFrameLocks noGrp="1"/>
          </p:cNvGraphicFramePr>
          <p:nvPr>
            <p:extLst>
              <p:ext uri="{D42A27DB-BD31-4B8C-83A1-F6EECF244321}">
                <p14:modId xmlns:p14="http://schemas.microsoft.com/office/powerpoint/2010/main" val="720252769"/>
              </p:ext>
            </p:extLst>
          </p:nvPr>
        </p:nvGraphicFramePr>
        <p:xfrm>
          <a:off x="5986103" y="1997444"/>
          <a:ext cx="2258737" cy="320833"/>
        </p:xfrm>
        <a:graphic>
          <a:graphicData uri="http://schemas.openxmlformats.org/drawingml/2006/table">
            <a:tbl>
              <a:tblPr firstRow="1" bandRow="1">
                <a:tableStyleId>{5C22544A-7EE6-4342-B048-85BDC9FD1C3A}</a:tableStyleId>
              </a:tblPr>
              <a:tblGrid>
                <a:gridCol w="299660">
                  <a:extLst>
                    <a:ext uri="{9D8B030D-6E8A-4147-A177-3AD203B41FA5}">
                      <a16:colId xmlns:a16="http://schemas.microsoft.com/office/drawing/2014/main" val="3291778468"/>
                    </a:ext>
                  </a:extLst>
                </a:gridCol>
                <a:gridCol w="382621">
                  <a:extLst>
                    <a:ext uri="{9D8B030D-6E8A-4147-A177-3AD203B41FA5}">
                      <a16:colId xmlns:a16="http://schemas.microsoft.com/office/drawing/2014/main" val="225770983"/>
                    </a:ext>
                  </a:extLst>
                </a:gridCol>
                <a:gridCol w="890330">
                  <a:extLst>
                    <a:ext uri="{9D8B030D-6E8A-4147-A177-3AD203B41FA5}">
                      <a16:colId xmlns:a16="http://schemas.microsoft.com/office/drawing/2014/main" val="889764849"/>
                    </a:ext>
                  </a:extLst>
                </a:gridCol>
                <a:gridCol w="343063">
                  <a:extLst>
                    <a:ext uri="{9D8B030D-6E8A-4147-A177-3AD203B41FA5}">
                      <a16:colId xmlns:a16="http://schemas.microsoft.com/office/drawing/2014/main" val="382024075"/>
                    </a:ext>
                  </a:extLst>
                </a:gridCol>
                <a:gridCol w="343063">
                  <a:extLst>
                    <a:ext uri="{9D8B030D-6E8A-4147-A177-3AD203B41FA5}">
                      <a16:colId xmlns:a16="http://schemas.microsoft.com/office/drawing/2014/main" val="154072165"/>
                    </a:ext>
                  </a:extLst>
                </a:gridCol>
              </a:tblGrid>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rgbClr val="714EA0"/>
                    </a:solid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b="0" dirty="0">
                          <a:solidFill>
                            <a:schemeClr val="dk1"/>
                          </a:solidFill>
                          <a:latin typeface="+mn-lt"/>
                          <a:ea typeface="Arial"/>
                          <a:cs typeface="Arial"/>
                          <a:sym typeface="Arial"/>
                        </a:rPr>
                        <a:t>26/11/2000</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noFill/>
                  </a:tcPr>
                </a:tc>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r>
                        <a:rPr lang="es-ES_tradnl" sz="1200" b="0" dirty="0">
                          <a:solidFill>
                            <a:schemeClr val="tx1"/>
                          </a:solidFill>
                          <a:latin typeface="+mn-lt"/>
                        </a:rPr>
                        <a:t>23</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cxnSp>
        <p:nvCxnSpPr>
          <p:cNvPr id="6" name="Conector angular 5">
            <a:extLst>
              <a:ext uri="{FF2B5EF4-FFF2-40B4-BE49-F238E27FC236}">
                <a16:creationId xmlns:a16="http://schemas.microsoft.com/office/drawing/2014/main" id="{9651123B-4A49-9356-D4B9-D96E02CAB208}"/>
              </a:ext>
            </a:extLst>
          </p:cNvPr>
          <p:cNvCxnSpPr>
            <a:cxnSpLocks/>
          </p:cNvCxnSpPr>
          <p:nvPr/>
        </p:nvCxnSpPr>
        <p:spPr>
          <a:xfrm rot="5400000" flipH="1" flipV="1">
            <a:off x="1457297" y="2419219"/>
            <a:ext cx="330702" cy="255050"/>
          </a:xfrm>
          <a:prstGeom prst="bentConnector3">
            <a:avLst>
              <a:gd name="adj1" fmla="val 50000"/>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 name="Conector angular 6">
            <a:extLst>
              <a:ext uri="{FF2B5EF4-FFF2-40B4-BE49-F238E27FC236}">
                <a16:creationId xmlns:a16="http://schemas.microsoft.com/office/drawing/2014/main" id="{6DF947E3-3C58-2D19-2871-3D4316313092}"/>
              </a:ext>
            </a:extLst>
          </p:cNvPr>
          <p:cNvCxnSpPr>
            <a:cxnSpLocks/>
          </p:cNvCxnSpPr>
          <p:nvPr/>
        </p:nvCxnSpPr>
        <p:spPr>
          <a:xfrm rot="5400000" flipH="1" flipV="1">
            <a:off x="7757191" y="2419219"/>
            <a:ext cx="330702" cy="255050"/>
          </a:xfrm>
          <a:prstGeom prst="bentConnector3">
            <a:avLst>
              <a:gd name="adj1" fmla="val 50000"/>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8" name="Tabla 7">
            <a:extLst>
              <a:ext uri="{FF2B5EF4-FFF2-40B4-BE49-F238E27FC236}">
                <a16:creationId xmlns:a16="http://schemas.microsoft.com/office/drawing/2014/main" id="{8DF98A9B-73A0-9883-3B03-13054B4CD2BC}"/>
              </a:ext>
            </a:extLst>
          </p:cNvPr>
          <p:cNvGraphicFramePr>
            <a:graphicFrameLocks noGrp="1"/>
          </p:cNvGraphicFramePr>
          <p:nvPr>
            <p:extLst>
              <p:ext uri="{D42A27DB-BD31-4B8C-83A1-F6EECF244321}">
                <p14:modId xmlns:p14="http://schemas.microsoft.com/office/powerpoint/2010/main" val="2016542999"/>
              </p:ext>
            </p:extLst>
          </p:nvPr>
        </p:nvGraphicFramePr>
        <p:xfrm>
          <a:off x="537022" y="3495832"/>
          <a:ext cx="2491932" cy="320833"/>
        </p:xfrm>
        <a:graphic>
          <a:graphicData uri="http://schemas.openxmlformats.org/drawingml/2006/table">
            <a:tbl>
              <a:tblPr firstRow="1" bandRow="1">
                <a:tableStyleId>{5C22544A-7EE6-4342-B048-85BDC9FD1C3A}</a:tableStyleId>
              </a:tblPr>
              <a:tblGrid>
                <a:gridCol w="279688">
                  <a:extLst>
                    <a:ext uri="{9D8B030D-6E8A-4147-A177-3AD203B41FA5}">
                      <a16:colId xmlns:a16="http://schemas.microsoft.com/office/drawing/2014/main" val="3291778468"/>
                    </a:ext>
                  </a:extLst>
                </a:gridCol>
                <a:gridCol w="652582">
                  <a:extLst>
                    <a:ext uri="{9D8B030D-6E8A-4147-A177-3AD203B41FA5}">
                      <a16:colId xmlns:a16="http://schemas.microsoft.com/office/drawing/2014/main" val="225770983"/>
                    </a:ext>
                  </a:extLst>
                </a:gridCol>
                <a:gridCol w="679939">
                  <a:extLst>
                    <a:ext uri="{9D8B030D-6E8A-4147-A177-3AD203B41FA5}">
                      <a16:colId xmlns:a16="http://schemas.microsoft.com/office/drawing/2014/main" val="889764849"/>
                    </a:ext>
                  </a:extLst>
                </a:gridCol>
                <a:gridCol w="640861">
                  <a:extLst>
                    <a:ext uri="{9D8B030D-6E8A-4147-A177-3AD203B41FA5}">
                      <a16:colId xmlns:a16="http://schemas.microsoft.com/office/drawing/2014/main" val="382024075"/>
                    </a:ext>
                  </a:extLst>
                </a:gridCol>
                <a:gridCol w="238862">
                  <a:extLst>
                    <a:ext uri="{9D8B030D-6E8A-4147-A177-3AD203B41FA5}">
                      <a16:colId xmlns:a16="http://schemas.microsoft.com/office/drawing/2014/main" val="3837622801"/>
                    </a:ext>
                  </a:extLst>
                </a:gridCol>
              </a:tblGrid>
              <a:tr h="320833">
                <a:tc>
                  <a:txBody>
                    <a:bodyPr/>
                    <a:lstStyle/>
                    <a:p>
                      <a:endParaRPr lang="es-ES_tradnl" sz="1200" b="0" dirty="0">
                        <a:solidFill>
                          <a:schemeClr val="tx1"/>
                        </a:solidFill>
                        <a:latin typeface="Calibri" panose="020F0502020204030204" pitchFamily="34" charset="0"/>
                        <a:cs typeface="Calibri" panose="020F0502020204030204" pitchFamily="34" charset="0"/>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rgbClr val="EE4639"/>
                    </a:solidFill>
                  </a:tcPr>
                </a:tc>
                <a:tc>
                  <a:txBody>
                    <a:bodyPr/>
                    <a:lstStyle/>
                    <a:p>
                      <a:pPr algn="ctr"/>
                      <a:r>
                        <a:rPr lang="en-US" sz="1200" b="0" dirty="0">
                          <a:solidFill>
                            <a:schemeClr val="dk1"/>
                          </a:solidFill>
                          <a:latin typeface="Calibri" panose="020F0502020204030204" pitchFamily="34" charset="0"/>
                          <a:ea typeface="Arial"/>
                          <a:cs typeface="Calibri" panose="020F0502020204030204" pitchFamily="34" charset="0"/>
                          <a:sym typeface="Arial"/>
                        </a:rPr>
                        <a:t>Matos</a:t>
                      </a:r>
                      <a:endParaRPr lang="es-ES_tradnl" sz="1200" b="0" dirty="0">
                        <a:solidFill>
                          <a:schemeClr val="tx1"/>
                        </a:solidFill>
                        <a:latin typeface="Calibri" panose="020F0502020204030204" pitchFamily="34" charset="0"/>
                        <a:cs typeface="Calibri" panose="020F0502020204030204" pitchFamily="34" charset="0"/>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dirty="0" err="1">
                          <a:solidFill>
                            <a:schemeClr val="dk1"/>
                          </a:solidFill>
                          <a:latin typeface="Calibri" panose="020F0502020204030204" pitchFamily="34" charset="0"/>
                          <a:ea typeface="Arial"/>
                          <a:cs typeface="Calibri" panose="020F0502020204030204" pitchFamily="34" charset="0"/>
                          <a:sym typeface="Arial"/>
                        </a:rPr>
                        <a:t>Arévalo</a:t>
                      </a:r>
                      <a:endParaRPr lang="en-US" sz="1200" b="0" dirty="0">
                        <a:solidFill>
                          <a:schemeClr val="tx1"/>
                        </a:solidFill>
                        <a:latin typeface="Calibri" panose="020F0502020204030204" pitchFamily="34" charset="0"/>
                        <a:ea typeface="Arial"/>
                        <a:cs typeface="Calibri" panose="020F0502020204030204" pitchFamily="34" charset="0"/>
                        <a:sym typeface="Arial"/>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noFill/>
                  </a:tcPr>
                </a:tc>
                <a:tc>
                  <a:txBody>
                    <a:bodyPr/>
                    <a:lstStyle/>
                    <a:p>
                      <a:pPr algn="ctr"/>
                      <a:r>
                        <a:rPr lang="es-ES_tradnl" sz="1200" b="0" dirty="0">
                          <a:solidFill>
                            <a:schemeClr val="tx1"/>
                          </a:solidFill>
                          <a:latin typeface="Calibri" panose="020F0502020204030204" pitchFamily="34" charset="0"/>
                          <a:cs typeface="Calibri" panose="020F0502020204030204" pitchFamily="34" charset="0"/>
                        </a:rPr>
                        <a:t>Rosa</a:t>
                      </a: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tc>
                  <a:txBody>
                    <a:bodyPr/>
                    <a:lstStyle/>
                    <a:p>
                      <a:endParaRPr lang="es-ES_tradnl" sz="1200" b="0" dirty="0">
                        <a:solidFill>
                          <a:schemeClr val="tx1"/>
                        </a:solidFill>
                        <a:latin typeface="Calibri" panose="020F0502020204030204" pitchFamily="34" charset="0"/>
                        <a:cs typeface="Calibri" panose="020F0502020204030204" pitchFamily="34" charset="0"/>
                      </a:endParaRPr>
                    </a:p>
                  </a:txBody>
                  <a:tcPr marL="61471" marR="61471" marT="30735" marB="30735" anchor="ctr">
                    <a:lnL w="12700" cap="flat" cmpd="sng" algn="ctr">
                      <a:solidFill>
                        <a:srgbClr val="DF3F37"/>
                      </a:solidFill>
                      <a:prstDash val="solid"/>
                      <a:round/>
                      <a:headEnd type="none" w="med" len="med"/>
                      <a:tailEnd type="none" w="med" len="med"/>
                    </a:lnL>
                    <a:lnR w="12700" cap="flat" cmpd="sng" algn="ctr">
                      <a:solidFill>
                        <a:srgbClr val="DF3F37"/>
                      </a:solidFill>
                      <a:prstDash val="solid"/>
                      <a:round/>
                      <a:headEnd type="none" w="med" len="med"/>
                      <a:tailEnd type="none" w="med" len="med"/>
                    </a:lnR>
                    <a:lnT w="12700" cap="flat" cmpd="sng" algn="ctr">
                      <a:solidFill>
                        <a:srgbClr val="DF3F37"/>
                      </a:solidFill>
                      <a:prstDash val="solid"/>
                      <a:round/>
                      <a:headEnd type="none" w="med" len="med"/>
                      <a:tailEnd type="none" w="med" len="med"/>
                    </a:lnT>
                    <a:lnB w="12700" cap="flat" cmpd="sng" algn="ctr">
                      <a:solidFill>
                        <a:srgbClr val="DF3F37"/>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cxnSp>
        <p:nvCxnSpPr>
          <p:cNvPr id="9" name="Conector angular 8">
            <a:extLst>
              <a:ext uri="{FF2B5EF4-FFF2-40B4-BE49-F238E27FC236}">
                <a16:creationId xmlns:a16="http://schemas.microsoft.com/office/drawing/2014/main" id="{9950E868-FE2D-4E77-981B-059E64B3A778}"/>
              </a:ext>
            </a:extLst>
          </p:cNvPr>
          <p:cNvCxnSpPr>
            <a:cxnSpLocks/>
            <a:stCxn id="918" idx="0"/>
          </p:cNvCxnSpPr>
          <p:nvPr/>
        </p:nvCxnSpPr>
        <p:spPr>
          <a:xfrm rot="16200000" flipV="1">
            <a:off x="926098" y="3982285"/>
            <a:ext cx="507890" cy="176649"/>
          </a:xfrm>
          <a:prstGeom prst="bentConnector3">
            <a:avLst>
              <a:gd name="adj1" fmla="val 50000"/>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Conector angular 11">
            <a:extLst>
              <a:ext uri="{FF2B5EF4-FFF2-40B4-BE49-F238E27FC236}">
                <a16:creationId xmlns:a16="http://schemas.microsoft.com/office/drawing/2014/main" id="{2B1D597D-1E08-81FD-6B99-6CFE6815B0B4}"/>
              </a:ext>
            </a:extLst>
          </p:cNvPr>
          <p:cNvCxnSpPr>
            <a:cxnSpLocks/>
            <a:stCxn id="919" idx="0"/>
          </p:cNvCxnSpPr>
          <p:nvPr/>
        </p:nvCxnSpPr>
        <p:spPr>
          <a:xfrm rot="16200000" flipV="1">
            <a:off x="1691510" y="3945541"/>
            <a:ext cx="814179" cy="556425"/>
          </a:xfrm>
          <a:prstGeom prst="bentConnector3">
            <a:avLst>
              <a:gd name="adj1" fmla="val 50000"/>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Conector angular 13">
            <a:extLst>
              <a:ext uri="{FF2B5EF4-FFF2-40B4-BE49-F238E27FC236}">
                <a16:creationId xmlns:a16="http://schemas.microsoft.com/office/drawing/2014/main" id="{E9506AB9-8C7C-202A-91D7-E9B52D900A03}"/>
              </a:ext>
            </a:extLst>
          </p:cNvPr>
          <p:cNvCxnSpPr>
            <a:cxnSpLocks/>
            <a:stCxn id="920" idx="0"/>
          </p:cNvCxnSpPr>
          <p:nvPr/>
        </p:nvCxnSpPr>
        <p:spPr>
          <a:xfrm rot="16200000" flipV="1">
            <a:off x="2655956" y="3843901"/>
            <a:ext cx="506402" cy="451924"/>
          </a:xfrm>
          <a:prstGeom prst="bentConnector3">
            <a:avLst>
              <a:gd name="adj1" fmla="val 50000"/>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17" name="Tabla 16">
            <a:extLst>
              <a:ext uri="{FF2B5EF4-FFF2-40B4-BE49-F238E27FC236}">
                <a16:creationId xmlns:a16="http://schemas.microsoft.com/office/drawing/2014/main" id="{21EE62FE-2D21-2B52-47A6-63E301A97E0D}"/>
              </a:ext>
            </a:extLst>
          </p:cNvPr>
          <p:cNvGraphicFramePr>
            <a:graphicFrameLocks noGrp="1"/>
          </p:cNvGraphicFramePr>
          <p:nvPr>
            <p:extLst>
              <p:ext uri="{D42A27DB-BD31-4B8C-83A1-F6EECF244321}">
                <p14:modId xmlns:p14="http://schemas.microsoft.com/office/powerpoint/2010/main" val="1474185103"/>
              </p:ext>
            </p:extLst>
          </p:nvPr>
        </p:nvGraphicFramePr>
        <p:xfrm>
          <a:off x="5986103" y="3462259"/>
          <a:ext cx="2258738" cy="320833"/>
        </p:xfrm>
        <a:graphic>
          <a:graphicData uri="http://schemas.openxmlformats.org/drawingml/2006/table">
            <a:tbl>
              <a:tblPr firstRow="1" bandRow="1">
                <a:tableStyleId>{5C22544A-7EE6-4342-B048-85BDC9FD1C3A}</a:tableStyleId>
              </a:tblPr>
              <a:tblGrid>
                <a:gridCol w="308165">
                  <a:extLst>
                    <a:ext uri="{9D8B030D-6E8A-4147-A177-3AD203B41FA5}">
                      <a16:colId xmlns:a16="http://schemas.microsoft.com/office/drawing/2014/main" val="3291778468"/>
                    </a:ext>
                  </a:extLst>
                </a:gridCol>
                <a:gridCol w="1643929">
                  <a:extLst>
                    <a:ext uri="{9D8B030D-6E8A-4147-A177-3AD203B41FA5}">
                      <a16:colId xmlns:a16="http://schemas.microsoft.com/office/drawing/2014/main" val="225770983"/>
                    </a:ext>
                  </a:extLst>
                </a:gridCol>
                <a:gridCol w="306644">
                  <a:extLst>
                    <a:ext uri="{9D8B030D-6E8A-4147-A177-3AD203B41FA5}">
                      <a16:colId xmlns:a16="http://schemas.microsoft.com/office/drawing/2014/main" val="3990136807"/>
                    </a:ext>
                  </a:extLst>
                </a:gridCol>
              </a:tblGrid>
              <a:tr h="320833">
                <a:tc>
                  <a:txBody>
                    <a:bodyPr/>
                    <a:lstStyle/>
                    <a:p>
                      <a:endParaRPr lang="es-ES_tradnl" sz="1200" b="0" dirty="0">
                        <a:solidFill>
                          <a:schemeClr val="tx1"/>
                        </a:solidFill>
                        <a:latin typeface="+mn-lt"/>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rgbClr val="714EA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dirty="0">
                          <a:solidFill>
                            <a:schemeClr val="dk1"/>
                          </a:solidFill>
                          <a:latin typeface="+mn-lt"/>
                          <a:ea typeface="Arial"/>
                          <a:cs typeface="Arial"/>
                          <a:sym typeface="Arial"/>
                        </a:rPr>
                        <a:t>Matos </a:t>
                      </a:r>
                      <a:r>
                        <a:rPr lang="en-US" sz="1200" b="0" dirty="0" err="1">
                          <a:solidFill>
                            <a:schemeClr val="dk1"/>
                          </a:solidFill>
                          <a:latin typeface="+mn-lt"/>
                          <a:ea typeface="Arial"/>
                          <a:cs typeface="Arial"/>
                          <a:sym typeface="Arial"/>
                        </a:rPr>
                        <a:t>Arévalo</a:t>
                      </a:r>
                      <a:r>
                        <a:rPr lang="en-US" sz="1200" b="0" dirty="0">
                          <a:solidFill>
                            <a:schemeClr val="dk1"/>
                          </a:solidFill>
                          <a:latin typeface="+mn-lt"/>
                          <a:ea typeface="Arial"/>
                          <a:cs typeface="Arial"/>
                          <a:sym typeface="Arial"/>
                        </a:rPr>
                        <a:t>, Rosa</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b="0" dirty="0">
                        <a:solidFill>
                          <a:schemeClr val="dk1"/>
                        </a:solidFill>
                        <a:latin typeface="+mn-lt"/>
                        <a:ea typeface="Arial"/>
                        <a:cs typeface="Arial"/>
                        <a:sym typeface="Arial"/>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cxnSp>
        <p:nvCxnSpPr>
          <p:cNvPr id="18" name="Conector angular 17">
            <a:extLst>
              <a:ext uri="{FF2B5EF4-FFF2-40B4-BE49-F238E27FC236}">
                <a16:creationId xmlns:a16="http://schemas.microsoft.com/office/drawing/2014/main" id="{63BAD946-3DE4-0173-B086-E429564EA5FF}"/>
              </a:ext>
            </a:extLst>
          </p:cNvPr>
          <p:cNvCxnSpPr>
            <a:cxnSpLocks/>
            <a:endCxn id="17" idx="2"/>
          </p:cNvCxnSpPr>
          <p:nvPr/>
        </p:nvCxnSpPr>
        <p:spPr>
          <a:xfrm rot="16200000" flipV="1">
            <a:off x="7003001" y="3895563"/>
            <a:ext cx="539972" cy="315029"/>
          </a:xfrm>
          <a:prstGeom prst="bentConnector3">
            <a:avLst>
              <a:gd name="adj1" fmla="val 50000"/>
            </a:avLst>
          </a:prstGeom>
          <a:ln>
            <a:solidFill>
              <a:srgbClr val="00B1C2"/>
            </a:solidFill>
            <a:tailEnd type="triangle"/>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2" name="Google Shape;932;p17"/>
          <p:cNvSpPr txBox="1"/>
          <p:nvPr/>
        </p:nvSpPr>
        <p:spPr>
          <a:xfrm>
            <a:off x="515885" y="918643"/>
            <a:ext cx="441325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SEPARACIÓN DE DATOS – CAMPO DE TEXTO LIBRE</a:t>
            </a:r>
            <a:endParaRPr sz="1600" b="1" dirty="0">
              <a:solidFill>
                <a:schemeClr val="dk1"/>
              </a:solidFill>
              <a:latin typeface="Calibri"/>
              <a:ea typeface="Calibri"/>
              <a:cs typeface="Calibri"/>
              <a:sym typeface="Calibri"/>
            </a:endParaRPr>
          </a:p>
        </p:txBody>
      </p:sp>
      <p:sp>
        <p:nvSpPr>
          <p:cNvPr id="935" name="Google Shape;935;p17"/>
          <p:cNvSpPr txBox="1"/>
          <p:nvPr/>
        </p:nvSpPr>
        <p:spPr>
          <a:xfrm>
            <a:off x="3992843" y="2051794"/>
            <a:ext cx="305561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descripción del producto</a:t>
            </a:r>
          </a:p>
        </p:txBody>
      </p:sp>
      <p:sp>
        <p:nvSpPr>
          <p:cNvPr id="937" name="Google Shape;937;p17"/>
          <p:cNvSpPr txBox="1"/>
          <p:nvPr/>
        </p:nvSpPr>
        <p:spPr>
          <a:xfrm>
            <a:off x="3643389" y="3566344"/>
            <a:ext cx="118039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_tradnl" sz="1400" b="1" dirty="0">
                <a:solidFill>
                  <a:srgbClr val="00B1C2"/>
                </a:solidFill>
                <a:latin typeface="Calibri" panose="020F0502020204030204" pitchFamily="34" charset="0"/>
                <a:ea typeface="Calibri"/>
                <a:cs typeface="Calibri" panose="020F0502020204030204" pitchFamily="34" charset="0"/>
                <a:sym typeface="Calibri"/>
              </a:rPr>
              <a:t>nombre del producto</a:t>
            </a:r>
          </a:p>
        </p:txBody>
      </p:sp>
      <p:sp>
        <p:nvSpPr>
          <p:cNvPr id="940" name="Google Shape;940;p17"/>
          <p:cNvSpPr txBox="1"/>
          <p:nvPr/>
        </p:nvSpPr>
        <p:spPr>
          <a:xfrm>
            <a:off x="4999604" y="3674064"/>
            <a:ext cx="109325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_tradnl" sz="1400" b="1">
                <a:solidFill>
                  <a:srgbClr val="00B1C2"/>
                </a:solidFill>
                <a:latin typeface="Calibri" panose="020F0502020204030204" pitchFamily="34" charset="0"/>
                <a:ea typeface="Calibri"/>
                <a:cs typeface="Calibri" panose="020F0502020204030204" pitchFamily="34" charset="0"/>
                <a:sym typeface="Calibri"/>
              </a:rPr>
              <a:t>dosificación</a:t>
            </a:r>
          </a:p>
        </p:txBody>
      </p:sp>
      <p:sp>
        <p:nvSpPr>
          <p:cNvPr id="941" name="Google Shape;941;p17"/>
          <p:cNvSpPr txBox="1"/>
          <p:nvPr/>
        </p:nvSpPr>
        <p:spPr>
          <a:xfrm>
            <a:off x="6195546" y="3661801"/>
            <a:ext cx="125147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_tradnl" sz="1400" b="1">
                <a:solidFill>
                  <a:srgbClr val="00B1C2"/>
                </a:solidFill>
                <a:latin typeface="Calibri" panose="020F0502020204030204" pitchFamily="34" charset="0"/>
                <a:ea typeface="Calibri"/>
                <a:cs typeface="Calibri" panose="020F0502020204030204" pitchFamily="34" charset="0"/>
                <a:sym typeface="Calibri"/>
              </a:rPr>
              <a:t>presentación</a:t>
            </a:r>
          </a:p>
        </p:txBody>
      </p:sp>
      <p:sp>
        <p:nvSpPr>
          <p:cNvPr id="942" name="Google Shape;942;p17"/>
          <p:cNvSpPr txBox="1"/>
          <p:nvPr/>
        </p:nvSpPr>
        <p:spPr>
          <a:xfrm>
            <a:off x="1351084" y="3709480"/>
            <a:ext cx="2066321"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METADATA DESCUBIERTA</a:t>
            </a:r>
          </a:p>
        </p:txBody>
      </p:sp>
      <p:sp>
        <p:nvSpPr>
          <p:cNvPr id="943" name="Google Shape;943;p17"/>
          <p:cNvSpPr/>
          <p:nvPr/>
        </p:nvSpPr>
        <p:spPr>
          <a:xfrm rot="5400000">
            <a:off x="4876221" y="2895295"/>
            <a:ext cx="49530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lang="es-ES_tradnl" sz="1800">
              <a:solidFill>
                <a:schemeClr val="lt1"/>
              </a:solidFill>
              <a:latin typeface="Calibri" panose="020F0502020204030204" pitchFamily="34" charset="0"/>
              <a:ea typeface="Calibri"/>
              <a:cs typeface="Calibri" panose="020F0502020204030204" pitchFamily="34" charset="0"/>
              <a:sym typeface="Calibri"/>
            </a:endParaRPr>
          </a:p>
        </p:txBody>
      </p:sp>
      <p:sp>
        <p:nvSpPr>
          <p:cNvPr id="944" name="Google Shape;944;p17"/>
          <p:cNvSpPr txBox="1"/>
          <p:nvPr/>
        </p:nvSpPr>
        <p:spPr>
          <a:xfrm>
            <a:off x="1348542" y="4114305"/>
            <a:ext cx="2066321" cy="307777"/>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s-ES_tradnl" sz="1400" dirty="0">
                <a:solidFill>
                  <a:schemeClr val="dk1"/>
                </a:solidFill>
                <a:latin typeface="Calibri" panose="020F0502020204030204" pitchFamily="34" charset="0"/>
                <a:ea typeface="Calibri"/>
                <a:cs typeface="Calibri" panose="020F0502020204030204" pitchFamily="34" charset="0"/>
                <a:sym typeface="Calibri"/>
              </a:rPr>
              <a:t>COLUMNAS EXTRAÍDAS</a:t>
            </a:r>
          </a:p>
        </p:txBody>
      </p:sp>
      <p:sp>
        <p:nvSpPr>
          <p:cNvPr id="945" name="Google Shape;945;p17"/>
          <p:cNvSpPr txBox="1"/>
          <p:nvPr/>
        </p:nvSpPr>
        <p:spPr>
          <a:xfrm>
            <a:off x="2754127" y="2441960"/>
            <a:ext cx="11049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TEXTO LIBRE</a:t>
            </a:r>
          </a:p>
        </p:txBody>
      </p:sp>
      <p:sp>
        <p:nvSpPr>
          <p:cNvPr id="2" name="Rectangle 5">
            <a:extLst>
              <a:ext uri="{FF2B5EF4-FFF2-40B4-BE49-F238E27FC236}">
                <a16:creationId xmlns:a16="http://schemas.microsoft.com/office/drawing/2014/main" id="{CAAD7507-983E-0107-02E9-F8523CB02394}"/>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821F11A4-2D93-B116-3D94-833320AA9C47}"/>
              </a:ext>
            </a:extLst>
          </p:cNvPr>
          <p:cNvSpPr/>
          <p:nvPr/>
        </p:nvSpPr>
        <p:spPr>
          <a:xfrm>
            <a:off x="1604718" y="1372763"/>
            <a:ext cx="5934564" cy="414879"/>
          </a:xfrm>
          <a:prstGeom prst="roundRect">
            <a:avLst>
              <a:gd name="adj" fmla="val 24202"/>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ctr" rtl="0">
              <a:spcBef>
                <a:spcPts val="0"/>
              </a:spcBef>
              <a:spcAft>
                <a:spcPts val="0"/>
              </a:spcAft>
              <a:buNone/>
            </a:pPr>
            <a:r>
              <a:rPr lang="es-ES_tradnl" sz="1400">
                <a:solidFill>
                  <a:schemeClr val="dk1"/>
                </a:solidFill>
                <a:latin typeface="Calibri"/>
                <a:ea typeface="Calibri"/>
                <a:cs typeface="Calibri"/>
                <a:sym typeface="Calibri"/>
              </a:rPr>
              <a:t>Se busca darle estructura a la data contenida en el campo de texto libre.</a:t>
            </a:r>
            <a:endParaRPr lang="es-ES_tradnl" sz="1400"/>
          </a:p>
        </p:txBody>
      </p:sp>
      <p:graphicFrame>
        <p:nvGraphicFramePr>
          <p:cNvPr id="4" name="Tabla 3">
            <a:extLst>
              <a:ext uri="{FF2B5EF4-FFF2-40B4-BE49-F238E27FC236}">
                <a16:creationId xmlns:a16="http://schemas.microsoft.com/office/drawing/2014/main" id="{C4093F19-ACD8-2A1F-E9B3-032EB1A9DF59}"/>
              </a:ext>
            </a:extLst>
          </p:cNvPr>
          <p:cNvGraphicFramePr>
            <a:graphicFrameLocks noGrp="1"/>
          </p:cNvGraphicFramePr>
          <p:nvPr>
            <p:extLst>
              <p:ext uri="{D42A27DB-BD31-4B8C-83A1-F6EECF244321}">
                <p14:modId xmlns:p14="http://schemas.microsoft.com/office/powerpoint/2010/main" val="2290252656"/>
              </p:ext>
            </p:extLst>
          </p:nvPr>
        </p:nvGraphicFramePr>
        <p:xfrm>
          <a:off x="3993504" y="2409429"/>
          <a:ext cx="2244157" cy="320833"/>
        </p:xfrm>
        <a:graphic>
          <a:graphicData uri="http://schemas.openxmlformats.org/drawingml/2006/table">
            <a:tbl>
              <a:tblPr firstRow="1" bandRow="1">
                <a:tableStyleId>{5C22544A-7EE6-4342-B048-85BDC9FD1C3A}</a:tableStyleId>
              </a:tblPr>
              <a:tblGrid>
                <a:gridCol w="2244157">
                  <a:extLst>
                    <a:ext uri="{9D8B030D-6E8A-4147-A177-3AD203B41FA5}">
                      <a16:colId xmlns:a16="http://schemas.microsoft.com/office/drawing/2014/main" val="225770983"/>
                    </a:ext>
                  </a:extLst>
                </a:gridCol>
              </a:tblGrid>
              <a:tr h="320833">
                <a:tc>
                  <a:txBody>
                    <a:bodyPr/>
                    <a:lstStyle/>
                    <a:p>
                      <a:pPr marL="0" marR="0" lvl="0" indent="0" algn="ctr" rtl="0">
                        <a:spcBef>
                          <a:spcPts val="0"/>
                        </a:spcBef>
                        <a:spcAft>
                          <a:spcPts val="0"/>
                        </a:spcAft>
                        <a:buNone/>
                      </a:pPr>
                      <a:r>
                        <a:rPr lang="es-ES_tradnl" sz="1200" noProof="0" dirty="0" err="1">
                          <a:solidFill>
                            <a:schemeClr val="dk1"/>
                          </a:solidFill>
                          <a:latin typeface="Calibri" panose="020F0502020204030204" pitchFamily="34" charset="0"/>
                          <a:ea typeface="Arial"/>
                          <a:cs typeface="Calibri" panose="020F0502020204030204" pitchFamily="34" charset="0"/>
                          <a:sym typeface="Arial"/>
                        </a:rPr>
                        <a:t>Pravacol</a:t>
                      </a:r>
                      <a:r>
                        <a:rPr lang="es-ES_tradnl" sz="1200" noProof="0" dirty="0">
                          <a:solidFill>
                            <a:schemeClr val="dk1"/>
                          </a:solidFill>
                          <a:latin typeface="Calibri" panose="020F0502020204030204" pitchFamily="34" charset="0"/>
                          <a:ea typeface="Arial"/>
                          <a:cs typeface="Calibri" panose="020F0502020204030204" pitchFamily="34" charset="0"/>
                          <a:sym typeface="Arial"/>
                        </a:rPr>
                        <a:t> 100 miligramos tableta</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graphicFrame>
        <p:nvGraphicFramePr>
          <p:cNvPr id="5" name="Tabla 4">
            <a:extLst>
              <a:ext uri="{FF2B5EF4-FFF2-40B4-BE49-F238E27FC236}">
                <a16:creationId xmlns:a16="http://schemas.microsoft.com/office/drawing/2014/main" id="{0DD9FBAE-FE7C-238B-A153-2B35539AC02F}"/>
              </a:ext>
            </a:extLst>
          </p:cNvPr>
          <p:cNvGraphicFramePr>
            <a:graphicFrameLocks noGrp="1"/>
          </p:cNvGraphicFramePr>
          <p:nvPr>
            <p:extLst>
              <p:ext uri="{D42A27DB-BD31-4B8C-83A1-F6EECF244321}">
                <p14:modId xmlns:p14="http://schemas.microsoft.com/office/powerpoint/2010/main" val="3916852789"/>
              </p:ext>
            </p:extLst>
          </p:nvPr>
        </p:nvGraphicFramePr>
        <p:xfrm>
          <a:off x="3680386" y="4081922"/>
          <a:ext cx="3590322" cy="338439"/>
        </p:xfrm>
        <a:graphic>
          <a:graphicData uri="http://schemas.openxmlformats.org/drawingml/2006/table">
            <a:tbl>
              <a:tblPr firstRow="1" bandRow="1">
                <a:tableStyleId>{5C22544A-7EE6-4342-B048-85BDC9FD1C3A}</a:tableStyleId>
              </a:tblPr>
              <a:tblGrid>
                <a:gridCol w="1196774">
                  <a:extLst>
                    <a:ext uri="{9D8B030D-6E8A-4147-A177-3AD203B41FA5}">
                      <a16:colId xmlns:a16="http://schemas.microsoft.com/office/drawing/2014/main" val="225770983"/>
                    </a:ext>
                  </a:extLst>
                </a:gridCol>
                <a:gridCol w="1196774">
                  <a:extLst>
                    <a:ext uri="{9D8B030D-6E8A-4147-A177-3AD203B41FA5}">
                      <a16:colId xmlns:a16="http://schemas.microsoft.com/office/drawing/2014/main" val="1202280473"/>
                    </a:ext>
                  </a:extLst>
                </a:gridCol>
                <a:gridCol w="1196774">
                  <a:extLst>
                    <a:ext uri="{9D8B030D-6E8A-4147-A177-3AD203B41FA5}">
                      <a16:colId xmlns:a16="http://schemas.microsoft.com/office/drawing/2014/main" val="732164341"/>
                    </a:ext>
                  </a:extLst>
                </a:gridCol>
              </a:tblGrid>
              <a:tr h="338439">
                <a:tc>
                  <a:txBody>
                    <a:bodyPr/>
                    <a:lstStyle/>
                    <a:p>
                      <a:pPr marL="0" marR="0" lvl="0" indent="0" algn="ctr" rtl="0">
                        <a:spcBef>
                          <a:spcPts val="0"/>
                        </a:spcBef>
                        <a:spcAft>
                          <a:spcPts val="0"/>
                        </a:spcAft>
                        <a:buNone/>
                      </a:pPr>
                      <a:r>
                        <a:rPr lang="es-ES_tradnl" sz="1200" dirty="0" err="1">
                          <a:solidFill>
                            <a:schemeClr val="dk1"/>
                          </a:solidFill>
                          <a:latin typeface="Calibri" panose="020F0502020204030204" pitchFamily="34" charset="0"/>
                          <a:ea typeface="Arial"/>
                          <a:cs typeface="Calibri" panose="020F0502020204030204" pitchFamily="34" charset="0"/>
                          <a:sym typeface="Arial"/>
                        </a:rPr>
                        <a:t>Pravacol</a:t>
                      </a:r>
                      <a:endParaRPr lang="es-ES_tradnl" sz="1200" noProof="0" dirty="0">
                        <a:solidFill>
                          <a:schemeClr val="dk1"/>
                        </a:solidFill>
                        <a:latin typeface="Calibri" panose="020F0502020204030204" pitchFamily="34" charset="0"/>
                        <a:ea typeface="Arial"/>
                        <a:cs typeface="Calibri" panose="020F0502020204030204" pitchFamily="34" charset="0"/>
                        <a:sym typeface="Arial"/>
                      </a:endParaRP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dirty="0">
                          <a:solidFill>
                            <a:schemeClr val="dk1"/>
                          </a:solidFill>
                          <a:latin typeface="Calibri" panose="020F0502020204030204" pitchFamily="34" charset="0"/>
                          <a:ea typeface="Arial"/>
                          <a:cs typeface="Calibri" panose="020F0502020204030204" pitchFamily="34" charset="0"/>
                          <a:sym typeface="Arial"/>
                        </a:rPr>
                        <a:t>100 miligramos</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dirty="0">
                          <a:solidFill>
                            <a:schemeClr val="dk1"/>
                          </a:solidFill>
                          <a:latin typeface="Calibri" panose="020F0502020204030204" pitchFamily="34" charset="0"/>
                          <a:ea typeface="Arial"/>
                          <a:cs typeface="Calibri" panose="020F0502020204030204" pitchFamily="34" charset="0"/>
                          <a:sym typeface="Arial"/>
                        </a:rPr>
                        <a:t>tableta</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2" name="Google Shape;952;p18"/>
          <p:cNvSpPr txBox="1"/>
          <p:nvPr/>
        </p:nvSpPr>
        <p:spPr>
          <a:xfrm>
            <a:off x="503238" y="919112"/>
            <a:ext cx="447160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SEPARACIÓN DE DATOS – DIVISIÓN DE COLUMNAS</a:t>
            </a:r>
            <a:endParaRPr sz="1600" b="1">
              <a:solidFill>
                <a:schemeClr val="dk1"/>
              </a:solidFill>
              <a:latin typeface="Calibri"/>
              <a:ea typeface="Calibri"/>
              <a:cs typeface="Calibri"/>
              <a:sym typeface="Calibri"/>
            </a:endParaRPr>
          </a:p>
        </p:txBody>
      </p:sp>
      <p:sp>
        <p:nvSpPr>
          <p:cNvPr id="955" name="Google Shape;955;p18"/>
          <p:cNvSpPr/>
          <p:nvPr/>
        </p:nvSpPr>
        <p:spPr>
          <a:xfrm>
            <a:off x="3924300" y="1534748"/>
            <a:ext cx="1737360"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pitchFamily="34" charset="0"/>
              <a:ea typeface="Calibri"/>
              <a:cs typeface="Calibri" panose="020F0502020204030204" pitchFamily="34" charset="0"/>
              <a:sym typeface="Calibri"/>
            </a:endParaRPr>
          </a:p>
        </p:txBody>
      </p:sp>
      <p:sp>
        <p:nvSpPr>
          <p:cNvPr id="956" name="Google Shape;956;p18"/>
          <p:cNvSpPr txBox="1"/>
          <p:nvPr/>
        </p:nvSpPr>
        <p:spPr>
          <a:xfrm>
            <a:off x="1943803" y="3295904"/>
            <a:ext cx="198049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pitchFamily="34" charset="0"/>
                <a:ea typeface="Calibri"/>
                <a:cs typeface="Calibri" panose="020F0502020204030204" pitchFamily="34" charset="0"/>
                <a:sym typeface="Calibri"/>
              </a:rPr>
              <a:t>REGISTRO DE ENTRADA</a:t>
            </a:r>
            <a:endParaRPr sz="1400">
              <a:solidFill>
                <a:schemeClr val="dk1"/>
              </a:solidFill>
              <a:latin typeface="Calibri" panose="020F0502020204030204" pitchFamily="34" charset="0"/>
              <a:ea typeface="Calibri"/>
              <a:cs typeface="Calibri" panose="020F0502020204030204" pitchFamily="34" charset="0"/>
              <a:sym typeface="Calibri"/>
            </a:endParaRPr>
          </a:p>
        </p:txBody>
      </p:sp>
      <p:sp>
        <p:nvSpPr>
          <p:cNvPr id="960" name="Google Shape;960;p18"/>
          <p:cNvSpPr txBox="1"/>
          <p:nvPr/>
        </p:nvSpPr>
        <p:spPr>
          <a:xfrm>
            <a:off x="1943969" y="1247435"/>
            <a:ext cx="184350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pitchFamily="34" charset="0"/>
                <a:ea typeface="Calibri"/>
                <a:cs typeface="Calibri" panose="020F0502020204030204" pitchFamily="34" charset="0"/>
                <a:sym typeface="Calibri"/>
              </a:rPr>
              <a:t>CAMPO DE ENTRADA</a:t>
            </a:r>
            <a:endParaRPr sz="1400">
              <a:solidFill>
                <a:schemeClr val="dk1"/>
              </a:solidFill>
              <a:latin typeface="Calibri" panose="020F0502020204030204" pitchFamily="34" charset="0"/>
              <a:ea typeface="Calibri"/>
              <a:cs typeface="Calibri" panose="020F0502020204030204" pitchFamily="34" charset="0"/>
              <a:sym typeface="Calibri"/>
            </a:endParaRPr>
          </a:p>
        </p:txBody>
      </p:sp>
      <p:sp>
        <p:nvSpPr>
          <p:cNvPr id="961" name="Google Shape;961;p18"/>
          <p:cNvSpPr txBox="1"/>
          <p:nvPr/>
        </p:nvSpPr>
        <p:spPr>
          <a:xfrm>
            <a:off x="5932611" y="1242782"/>
            <a:ext cx="206632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pitchFamily="34" charset="0"/>
                <a:ea typeface="Calibri"/>
                <a:cs typeface="Calibri" panose="020F0502020204030204" pitchFamily="34" charset="0"/>
                <a:sym typeface="Calibri"/>
              </a:rPr>
              <a:t>CAMPOS DE SALIDA</a:t>
            </a:r>
            <a:endParaRPr sz="1400">
              <a:solidFill>
                <a:schemeClr val="dk1"/>
              </a:solidFill>
              <a:latin typeface="Calibri" panose="020F0502020204030204" pitchFamily="34" charset="0"/>
              <a:ea typeface="Calibri"/>
              <a:cs typeface="Calibri" panose="020F0502020204030204" pitchFamily="34" charset="0"/>
              <a:sym typeface="Calibri"/>
            </a:endParaRPr>
          </a:p>
        </p:txBody>
      </p:sp>
      <p:sp>
        <p:nvSpPr>
          <p:cNvPr id="972" name="Google Shape;972;p18"/>
          <p:cNvSpPr txBox="1"/>
          <p:nvPr/>
        </p:nvSpPr>
        <p:spPr>
          <a:xfrm>
            <a:off x="6018435" y="2740166"/>
            <a:ext cx="198049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pitchFamily="34" charset="0"/>
                <a:ea typeface="Calibri"/>
                <a:cs typeface="Calibri" panose="020F0502020204030204" pitchFamily="34" charset="0"/>
                <a:sym typeface="Calibri"/>
              </a:rPr>
              <a:t>REGISTROS DE SALIDA</a:t>
            </a:r>
            <a:endParaRPr sz="1400">
              <a:solidFill>
                <a:schemeClr val="dk1"/>
              </a:solidFill>
              <a:latin typeface="Calibri" panose="020F0502020204030204" pitchFamily="34" charset="0"/>
              <a:ea typeface="Calibri"/>
              <a:cs typeface="Calibri" panose="020F0502020204030204" pitchFamily="34" charset="0"/>
              <a:sym typeface="Calibri"/>
            </a:endParaRPr>
          </a:p>
        </p:txBody>
      </p:sp>
      <p:sp>
        <p:nvSpPr>
          <p:cNvPr id="973" name="Google Shape;973;p18"/>
          <p:cNvSpPr/>
          <p:nvPr/>
        </p:nvSpPr>
        <p:spPr>
          <a:xfrm>
            <a:off x="3924300" y="3675992"/>
            <a:ext cx="1805692" cy="353943"/>
          </a:xfrm>
          <a:prstGeom prst="rightArrow">
            <a:avLst>
              <a:gd name="adj1" fmla="val 50000"/>
              <a:gd name="adj2" fmla="val 50000"/>
            </a:avLst>
          </a:prstGeom>
          <a:solidFill>
            <a:srgbClr val="00B1C2"/>
          </a:solidFill>
          <a:ln w="9525" cap="flat" cmpd="sng">
            <a:no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pitchFamily="34" charset="0"/>
              <a:ea typeface="Calibri"/>
              <a:cs typeface="Calibri" panose="020F0502020204030204" pitchFamily="34" charset="0"/>
              <a:sym typeface="Calibri"/>
            </a:endParaRPr>
          </a:p>
        </p:txBody>
      </p:sp>
      <p:sp>
        <p:nvSpPr>
          <p:cNvPr id="2" name="Rectangle 5">
            <a:extLst>
              <a:ext uri="{FF2B5EF4-FFF2-40B4-BE49-F238E27FC236}">
                <a16:creationId xmlns:a16="http://schemas.microsoft.com/office/drawing/2014/main" id="{3ABEBA92-18EA-334E-44CD-0282A5B479AD}"/>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767FB682-27D4-CF2C-91D8-78D796405130}"/>
              </a:ext>
            </a:extLst>
          </p:cNvPr>
          <p:cNvSpPr/>
          <p:nvPr/>
        </p:nvSpPr>
        <p:spPr>
          <a:xfrm>
            <a:off x="2017783" y="4788635"/>
            <a:ext cx="5235969" cy="414879"/>
          </a:xfrm>
          <a:prstGeom prst="roundRect">
            <a:avLst>
              <a:gd name="adj" fmla="val 24202"/>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ctr"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Registro de entrada dividido en varios registros de salida.</a:t>
            </a:r>
            <a:endParaRPr lang="es-ES_tradnl" sz="1400">
              <a:latin typeface="Calibri" panose="020F0502020204030204" pitchFamily="34" charset="0"/>
              <a:cs typeface="Calibri" panose="020F0502020204030204" pitchFamily="34" charset="0"/>
            </a:endParaRPr>
          </a:p>
        </p:txBody>
      </p:sp>
      <p:sp>
        <p:nvSpPr>
          <p:cNvPr id="4" name="Rectángulo redondeado 3">
            <a:extLst>
              <a:ext uri="{FF2B5EF4-FFF2-40B4-BE49-F238E27FC236}">
                <a16:creationId xmlns:a16="http://schemas.microsoft.com/office/drawing/2014/main" id="{DB2EF9B6-AC36-22E4-050C-5230785B683D}"/>
              </a:ext>
            </a:extLst>
          </p:cNvPr>
          <p:cNvSpPr/>
          <p:nvPr/>
        </p:nvSpPr>
        <p:spPr>
          <a:xfrm>
            <a:off x="2017783" y="2069353"/>
            <a:ext cx="5235969" cy="414879"/>
          </a:xfrm>
          <a:prstGeom prst="roundRect">
            <a:avLst>
              <a:gd name="adj" fmla="val 24202"/>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ctr" rtl="0">
              <a:spcBef>
                <a:spcPts val="0"/>
              </a:spcBef>
              <a:spcAft>
                <a:spcPts val="0"/>
              </a:spcAft>
              <a:buNone/>
            </a:pPr>
            <a:r>
              <a:rPr lang="es-ES_tradnl" sz="1400">
                <a:solidFill>
                  <a:srgbClr val="00B1C2"/>
                </a:solidFill>
                <a:latin typeface="Calibri" panose="020F0502020204030204" pitchFamily="34" charset="0"/>
                <a:ea typeface="Calibri"/>
                <a:cs typeface="Calibri" panose="020F0502020204030204" pitchFamily="34" charset="0"/>
                <a:sym typeface="Calibri"/>
              </a:rPr>
              <a:t>Campo de entrada dividido en varios campos de salida.</a:t>
            </a:r>
          </a:p>
        </p:txBody>
      </p:sp>
      <p:graphicFrame>
        <p:nvGraphicFramePr>
          <p:cNvPr id="5" name="Tabla 4">
            <a:extLst>
              <a:ext uri="{FF2B5EF4-FFF2-40B4-BE49-F238E27FC236}">
                <a16:creationId xmlns:a16="http://schemas.microsoft.com/office/drawing/2014/main" id="{6FA9D535-6CDB-3807-45A0-DD9BE2110DF2}"/>
              </a:ext>
            </a:extLst>
          </p:cNvPr>
          <p:cNvGraphicFramePr>
            <a:graphicFrameLocks noGrp="1"/>
          </p:cNvGraphicFramePr>
          <p:nvPr>
            <p:extLst>
              <p:ext uri="{D42A27DB-BD31-4B8C-83A1-F6EECF244321}">
                <p14:modId xmlns:p14="http://schemas.microsoft.com/office/powerpoint/2010/main" val="1949315954"/>
              </p:ext>
            </p:extLst>
          </p:nvPr>
        </p:nvGraphicFramePr>
        <p:xfrm>
          <a:off x="2017784" y="1580159"/>
          <a:ext cx="1632002" cy="320833"/>
        </p:xfrm>
        <a:graphic>
          <a:graphicData uri="http://schemas.openxmlformats.org/drawingml/2006/table">
            <a:tbl>
              <a:tblPr firstRow="1" bandRow="1">
                <a:tableStyleId>{5C22544A-7EE6-4342-B048-85BDC9FD1C3A}</a:tableStyleId>
              </a:tblPr>
              <a:tblGrid>
                <a:gridCol w="1632002">
                  <a:extLst>
                    <a:ext uri="{9D8B030D-6E8A-4147-A177-3AD203B41FA5}">
                      <a16:colId xmlns:a16="http://schemas.microsoft.com/office/drawing/2014/main" val="225770983"/>
                    </a:ext>
                  </a:extLst>
                </a:gridCol>
              </a:tblGrid>
              <a:tr h="320833">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XYZ</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graphicFrame>
        <p:nvGraphicFramePr>
          <p:cNvPr id="6" name="Tabla 5">
            <a:extLst>
              <a:ext uri="{FF2B5EF4-FFF2-40B4-BE49-F238E27FC236}">
                <a16:creationId xmlns:a16="http://schemas.microsoft.com/office/drawing/2014/main" id="{6D453E5E-35E8-7E26-0C0F-3A27C2FF037E}"/>
              </a:ext>
            </a:extLst>
          </p:cNvPr>
          <p:cNvGraphicFramePr>
            <a:graphicFrameLocks noGrp="1"/>
          </p:cNvGraphicFramePr>
          <p:nvPr>
            <p:extLst>
              <p:ext uri="{D42A27DB-BD31-4B8C-83A1-F6EECF244321}">
                <p14:modId xmlns:p14="http://schemas.microsoft.com/office/powerpoint/2010/main" val="4191391881"/>
              </p:ext>
            </p:extLst>
          </p:nvPr>
        </p:nvGraphicFramePr>
        <p:xfrm>
          <a:off x="6018435" y="1579359"/>
          <a:ext cx="1335018" cy="320833"/>
        </p:xfrm>
        <a:graphic>
          <a:graphicData uri="http://schemas.openxmlformats.org/drawingml/2006/table">
            <a:tbl>
              <a:tblPr firstRow="1" bandRow="1">
                <a:tableStyleId>{5C22544A-7EE6-4342-B048-85BDC9FD1C3A}</a:tableStyleId>
              </a:tblPr>
              <a:tblGrid>
                <a:gridCol w="445006">
                  <a:extLst>
                    <a:ext uri="{9D8B030D-6E8A-4147-A177-3AD203B41FA5}">
                      <a16:colId xmlns:a16="http://schemas.microsoft.com/office/drawing/2014/main" val="225770983"/>
                    </a:ext>
                  </a:extLst>
                </a:gridCol>
                <a:gridCol w="445006">
                  <a:extLst>
                    <a:ext uri="{9D8B030D-6E8A-4147-A177-3AD203B41FA5}">
                      <a16:colId xmlns:a16="http://schemas.microsoft.com/office/drawing/2014/main" val="3475555971"/>
                    </a:ext>
                  </a:extLst>
                </a:gridCol>
                <a:gridCol w="445006">
                  <a:extLst>
                    <a:ext uri="{9D8B030D-6E8A-4147-A177-3AD203B41FA5}">
                      <a16:colId xmlns:a16="http://schemas.microsoft.com/office/drawing/2014/main" val="2475223150"/>
                    </a:ext>
                  </a:extLst>
                </a:gridCol>
              </a:tblGrid>
              <a:tr h="320833">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X</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Y</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Z</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graphicFrame>
        <p:nvGraphicFramePr>
          <p:cNvPr id="8" name="Tabla 7">
            <a:extLst>
              <a:ext uri="{FF2B5EF4-FFF2-40B4-BE49-F238E27FC236}">
                <a16:creationId xmlns:a16="http://schemas.microsoft.com/office/drawing/2014/main" id="{78ABB126-BF90-915B-E485-68E053734BF6}"/>
              </a:ext>
            </a:extLst>
          </p:cNvPr>
          <p:cNvGraphicFramePr>
            <a:graphicFrameLocks noGrp="1"/>
          </p:cNvGraphicFramePr>
          <p:nvPr>
            <p:extLst>
              <p:ext uri="{D42A27DB-BD31-4B8C-83A1-F6EECF244321}">
                <p14:modId xmlns:p14="http://schemas.microsoft.com/office/powerpoint/2010/main" val="3188591892"/>
              </p:ext>
            </p:extLst>
          </p:nvPr>
        </p:nvGraphicFramePr>
        <p:xfrm>
          <a:off x="2016957" y="3689513"/>
          <a:ext cx="1805692" cy="320833"/>
        </p:xfrm>
        <a:graphic>
          <a:graphicData uri="http://schemas.openxmlformats.org/drawingml/2006/table">
            <a:tbl>
              <a:tblPr firstRow="1" bandRow="1">
                <a:tableStyleId>{5C22544A-7EE6-4342-B048-85BDC9FD1C3A}</a:tableStyleId>
              </a:tblPr>
              <a:tblGrid>
                <a:gridCol w="451423">
                  <a:extLst>
                    <a:ext uri="{9D8B030D-6E8A-4147-A177-3AD203B41FA5}">
                      <a16:colId xmlns:a16="http://schemas.microsoft.com/office/drawing/2014/main" val="225770983"/>
                    </a:ext>
                  </a:extLst>
                </a:gridCol>
                <a:gridCol w="451423">
                  <a:extLst>
                    <a:ext uri="{9D8B030D-6E8A-4147-A177-3AD203B41FA5}">
                      <a16:colId xmlns:a16="http://schemas.microsoft.com/office/drawing/2014/main" val="3475555971"/>
                    </a:ext>
                  </a:extLst>
                </a:gridCol>
                <a:gridCol w="451423">
                  <a:extLst>
                    <a:ext uri="{9D8B030D-6E8A-4147-A177-3AD203B41FA5}">
                      <a16:colId xmlns:a16="http://schemas.microsoft.com/office/drawing/2014/main" val="778292430"/>
                    </a:ext>
                  </a:extLst>
                </a:gridCol>
                <a:gridCol w="451423">
                  <a:extLst>
                    <a:ext uri="{9D8B030D-6E8A-4147-A177-3AD203B41FA5}">
                      <a16:colId xmlns:a16="http://schemas.microsoft.com/office/drawing/2014/main" val="2475223150"/>
                    </a:ext>
                  </a:extLst>
                </a:gridCol>
              </a:tblGrid>
              <a:tr h="320833">
                <a:tc>
                  <a:txBody>
                    <a:bodyPr/>
                    <a:lstStyle/>
                    <a:p>
                      <a:pPr marL="0" marR="0" lvl="0" indent="0" algn="ctr" rtl="0">
                        <a:spcBef>
                          <a:spcPts val="0"/>
                        </a:spcBef>
                        <a:spcAft>
                          <a:spcPts val="0"/>
                        </a:spcAft>
                        <a:buNone/>
                      </a:pPr>
                      <a:r>
                        <a:rPr lang="es-ES_tradnl" sz="1200" noProof="0" dirty="0">
                          <a:solidFill>
                            <a:schemeClr val="dk1"/>
                          </a:solidFill>
                          <a:latin typeface="Calibri" panose="020F0502020204030204" pitchFamily="34" charset="0"/>
                          <a:ea typeface="Arial"/>
                          <a:cs typeface="Calibri" panose="020F0502020204030204" pitchFamily="34" charset="0"/>
                          <a:sym typeface="Arial"/>
                        </a:rPr>
                        <a:t>Llave</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x</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chemeClr val="dk1"/>
                          </a:solidFill>
                          <a:latin typeface="Calibri" panose="020F0502020204030204" pitchFamily="34" charset="0"/>
                          <a:ea typeface="Arial"/>
                          <a:cs typeface="Calibri" panose="020F0502020204030204" pitchFamily="34" charset="0"/>
                          <a:sym typeface="Arial"/>
                        </a:rPr>
                        <a:t>Y</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Z</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graphicFrame>
        <p:nvGraphicFramePr>
          <p:cNvPr id="9" name="Tabla 8">
            <a:extLst>
              <a:ext uri="{FF2B5EF4-FFF2-40B4-BE49-F238E27FC236}">
                <a16:creationId xmlns:a16="http://schemas.microsoft.com/office/drawing/2014/main" id="{FC93A8A3-BA18-6522-2FCC-0E090561FE9E}"/>
              </a:ext>
            </a:extLst>
          </p:cNvPr>
          <p:cNvGraphicFramePr>
            <a:graphicFrameLocks noGrp="1"/>
          </p:cNvGraphicFramePr>
          <p:nvPr>
            <p:extLst>
              <p:ext uri="{D42A27DB-BD31-4B8C-83A1-F6EECF244321}">
                <p14:modId xmlns:p14="http://schemas.microsoft.com/office/powerpoint/2010/main" val="1764028179"/>
              </p:ext>
            </p:extLst>
          </p:nvPr>
        </p:nvGraphicFramePr>
        <p:xfrm>
          <a:off x="6018435" y="3227835"/>
          <a:ext cx="1299784" cy="320833"/>
        </p:xfrm>
        <a:graphic>
          <a:graphicData uri="http://schemas.openxmlformats.org/drawingml/2006/table">
            <a:tbl>
              <a:tblPr firstRow="1" bandRow="1">
                <a:tableStyleId>{5C22544A-7EE6-4342-B048-85BDC9FD1C3A}</a:tableStyleId>
              </a:tblPr>
              <a:tblGrid>
                <a:gridCol w="783105">
                  <a:extLst>
                    <a:ext uri="{9D8B030D-6E8A-4147-A177-3AD203B41FA5}">
                      <a16:colId xmlns:a16="http://schemas.microsoft.com/office/drawing/2014/main" val="225770983"/>
                    </a:ext>
                  </a:extLst>
                </a:gridCol>
                <a:gridCol w="516679">
                  <a:extLst>
                    <a:ext uri="{9D8B030D-6E8A-4147-A177-3AD203B41FA5}">
                      <a16:colId xmlns:a16="http://schemas.microsoft.com/office/drawing/2014/main" val="3475555971"/>
                    </a:ext>
                  </a:extLst>
                </a:gridCol>
              </a:tblGrid>
              <a:tr h="320833">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Llave1</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X</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graphicFrame>
        <p:nvGraphicFramePr>
          <p:cNvPr id="10" name="Tabla 9">
            <a:extLst>
              <a:ext uri="{FF2B5EF4-FFF2-40B4-BE49-F238E27FC236}">
                <a16:creationId xmlns:a16="http://schemas.microsoft.com/office/drawing/2014/main" id="{A01E094A-6B76-6C91-BD01-190E89A2F308}"/>
              </a:ext>
            </a:extLst>
          </p:cNvPr>
          <p:cNvGraphicFramePr>
            <a:graphicFrameLocks noGrp="1"/>
          </p:cNvGraphicFramePr>
          <p:nvPr>
            <p:extLst>
              <p:ext uri="{D42A27DB-BD31-4B8C-83A1-F6EECF244321}">
                <p14:modId xmlns:p14="http://schemas.microsoft.com/office/powerpoint/2010/main" val="1510386910"/>
              </p:ext>
            </p:extLst>
          </p:nvPr>
        </p:nvGraphicFramePr>
        <p:xfrm>
          <a:off x="6018435" y="3657681"/>
          <a:ext cx="1299784" cy="320833"/>
        </p:xfrm>
        <a:graphic>
          <a:graphicData uri="http://schemas.openxmlformats.org/drawingml/2006/table">
            <a:tbl>
              <a:tblPr firstRow="1" bandRow="1">
                <a:tableStyleId>{5C22544A-7EE6-4342-B048-85BDC9FD1C3A}</a:tableStyleId>
              </a:tblPr>
              <a:tblGrid>
                <a:gridCol w="783105">
                  <a:extLst>
                    <a:ext uri="{9D8B030D-6E8A-4147-A177-3AD203B41FA5}">
                      <a16:colId xmlns:a16="http://schemas.microsoft.com/office/drawing/2014/main" val="225770983"/>
                    </a:ext>
                  </a:extLst>
                </a:gridCol>
                <a:gridCol w="516679">
                  <a:extLst>
                    <a:ext uri="{9D8B030D-6E8A-4147-A177-3AD203B41FA5}">
                      <a16:colId xmlns:a16="http://schemas.microsoft.com/office/drawing/2014/main" val="3475555971"/>
                    </a:ext>
                  </a:extLst>
                </a:gridCol>
              </a:tblGrid>
              <a:tr h="320833">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Llave2</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Y</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graphicFrame>
        <p:nvGraphicFramePr>
          <p:cNvPr id="11" name="Tabla 10">
            <a:extLst>
              <a:ext uri="{FF2B5EF4-FFF2-40B4-BE49-F238E27FC236}">
                <a16:creationId xmlns:a16="http://schemas.microsoft.com/office/drawing/2014/main" id="{69AF2585-3187-5CB3-606E-96526864B03A}"/>
              </a:ext>
            </a:extLst>
          </p:cNvPr>
          <p:cNvGraphicFramePr>
            <a:graphicFrameLocks noGrp="1"/>
          </p:cNvGraphicFramePr>
          <p:nvPr>
            <p:extLst>
              <p:ext uri="{D42A27DB-BD31-4B8C-83A1-F6EECF244321}">
                <p14:modId xmlns:p14="http://schemas.microsoft.com/office/powerpoint/2010/main" val="2805462544"/>
              </p:ext>
            </p:extLst>
          </p:nvPr>
        </p:nvGraphicFramePr>
        <p:xfrm>
          <a:off x="6018435" y="4088452"/>
          <a:ext cx="1299784" cy="320833"/>
        </p:xfrm>
        <a:graphic>
          <a:graphicData uri="http://schemas.openxmlformats.org/drawingml/2006/table">
            <a:tbl>
              <a:tblPr firstRow="1" bandRow="1">
                <a:tableStyleId>{5C22544A-7EE6-4342-B048-85BDC9FD1C3A}</a:tableStyleId>
              </a:tblPr>
              <a:tblGrid>
                <a:gridCol w="783105">
                  <a:extLst>
                    <a:ext uri="{9D8B030D-6E8A-4147-A177-3AD203B41FA5}">
                      <a16:colId xmlns:a16="http://schemas.microsoft.com/office/drawing/2014/main" val="225770983"/>
                    </a:ext>
                  </a:extLst>
                </a:gridCol>
                <a:gridCol w="516679">
                  <a:extLst>
                    <a:ext uri="{9D8B030D-6E8A-4147-A177-3AD203B41FA5}">
                      <a16:colId xmlns:a16="http://schemas.microsoft.com/office/drawing/2014/main" val="3475555971"/>
                    </a:ext>
                  </a:extLst>
                </a:gridCol>
              </a:tblGrid>
              <a:tr h="320833">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Llave3</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Z</a:t>
                      </a:r>
                    </a:p>
                  </a:txBody>
                  <a:tcPr marL="61471" marR="61471" marT="30735" marB="30735" anchor="ctr">
                    <a:lnL w="12700" cap="flat" cmpd="sng" algn="ctr">
                      <a:solidFill>
                        <a:srgbClr val="60438F"/>
                      </a:solidFill>
                      <a:prstDash val="solid"/>
                      <a:round/>
                      <a:headEnd type="none" w="med" len="med"/>
                      <a:tailEnd type="none" w="med" len="med"/>
                    </a:lnL>
                    <a:lnR w="12700" cap="flat" cmpd="sng" algn="ctr">
                      <a:solidFill>
                        <a:srgbClr val="60438F"/>
                      </a:solidFill>
                      <a:prstDash val="solid"/>
                      <a:round/>
                      <a:headEnd type="none" w="med" len="med"/>
                      <a:tailEnd type="none" w="med" len="med"/>
                    </a:lnR>
                    <a:lnT w="12700" cap="flat" cmpd="sng" algn="ctr">
                      <a:solidFill>
                        <a:srgbClr val="60438F"/>
                      </a:solidFill>
                      <a:prstDash val="solid"/>
                      <a:round/>
                      <a:headEnd type="none" w="med" len="med"/>
                      <a:tailEnd type="none" w="med" len="med"/>
                    </a:lnT>
                    <a:lnB w="12700" cap="flat" cmpd="sng" algn="ctr">
                      <a:solidFill>
                        <a:srgbClr val="60438F"/>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1" name="Google Shape;981;p19"/>
          <p:cNvSpPr/>
          <p:nvPr/>
        </p:nvSpPr>
        <p:spPr>
          <a:xfrm>
            <a:off x="730885" y="1441450"/>
            <a:ext cx="447675"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982" name="Google Shape;982;p19"/>
          <p:cNvSpPr/>
          <p:nvPr/>
        </p:nvSpPr>
        <p:spPr>
          <a:xfrm>
            <a:off x="1188085" y="1441450"/>
            <a:ext cx="446088"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panose="020F0502020204030204" pitchFamily="34" charset="0"/>
                <a:ea typeface="Quattrocento Sans"/>
                <a:cs typeface="Calibri" panose="020F0502020204030204" pitchFamily="34" charset="0"/>
                <a:sym typeface="Quattrocento Sans"/>
              </a:rPr>
              <a:t>a</a:t>
            </a:r>
            <a:endParaRPr dirty="0">
              <a:latin typeface="Calibri" panose="020F0502020204030204" pitchFamily="34" charset="0"/>
              <a:cs typeface="Calibri" panose="020F0502020204030204" pitchFamily="34" charset="0"/>
            </a:endParaRPr>
          </a:p>
        </p:txBody>
      </p:sp>
      <p:sp>
        <p:nvSpPr>
          <p:cNvPr id="983" name="Google Shape;983;p19"/>
          <p:cNvSpPr/>
          <p:nvPr/>
        </p:nvSpPr>
        <p:spPr>
          <a:xfrm>
            <a:off x="1624648" y="1441450"/>
            <a:ext cx="447675"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984" name="Google Shape;984;p19"/>
          <p:cNvSpPr/>
          <p:nvPr/>
        </p:nvSpPr>
        <p:spPr>
          <a:xfrm>
            <a:off x="1973898" y="1441450"/>
            <a:ext cx="396875" cy="304800"/>
          </a:xfrm>
          <a:custGeom>
            <a:avLst/>
            <a:gdLst/>
            <a:ahLst/>
            <a:cxnLst/>
            <a:rect l="l" t="t" r="r" b="b"/>
            <a:pathLst>
              <a:path w="384" h="288" extrusionOk="0">
                <a:moveTo>
                  <a:pt x="96" y="0"/>
                </a:moveTo>
                <a:lnTo>
                  <a:pt x="384" y="0"/>
                </a:lnTo>
                <a:lnTo>
                  <a:pt x="240" y="96"/>
                </a:lnTo>
                <a:lnTo>
                  <a:pt x="384" y="192"/>
                </a:lnTo>
                <a:lnTo>
                  <a:pt x="288" y="288"/>
                </a:lnTo>
                <a:lnTo>
                  <a:pt x="0" y="288"/>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5" name="Google Shape;985;p19"/>
          <p:cNvSpPr/>
          <p:nvPr/>
        </p:nvSpPr>
        <p:spPr>
          <a:xfrm>
            <a:off x="2569210" y="1441450"/>
            <a:ext cx="447675"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986" name="Google Shape;986;p19"/>
          <p:cNvSpPr/>
          <p:nvPr/>
        </p:nvSpPr>
        <p:spPr>
          <a:xfrm>
            <a:off x="2370773" y="1441450"/>
            <a:ext cx="249237" cy="304800"/>
          </a:xfrm>
          <a:custGeom>
            <a:avLst/>
            <a:gdLst/>
            <a:ahLst/>
            <a:cxnLst/>
            <a:rect l="l" t="t" r="r" b="b"/>
            <a:pathLst>
              <a:path w="240" h="288" extrusionOk="0">
                <a:moveTo>
                  <a:pt x="192" y="0"/>
                </a:moveTo>
                <a:lnTo>
                  <a:pt x="96" y="0"/>
                </a:lnTo>
                <a:lnTo>
                  <a:pt x="0" y="96"/>
                </a:lnTo>
                <a:lnTo>
                  <a:pt x="96" y="144"/>
                </a:lnTo>
                <a:lnTo>
                  <a:pt x="0" y="288"/>
                </a:lnTo>
                <a:lnTo>
                  <a:pt x="240" y="288"/>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987" name="Google Shape;987;p19"/>
          <p:cNvGrpSpPr/>
          <p:nvPr/>
        </p:nvGrpSpPr>
        <p:grpSpPr>
          <a:xfrm>
            <a:off x="730885" y="2432050"/>
            <a:ext cx="2286000" cy="304800"/>
            <a:chOff x="513" y="1824"/>
            <a:chExt cx="1440" cy="192"/>
          </a:xfrm>
        </p:grpSpPr>
        <p:sp>
          <p:nvSpPr>
            <p:cNvPr id="988" name="Google Shape;988;p19"/>
            <p:cNvSpPr/>
            <p:nvPr/>
          </p:nvSpPr>
          <p:spPr>
            <a:xfrm>
              <a:off x="513" y="1824"/>
              <a:ext cx="282" cy="19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989" name="Google Shape;989;p19"/>
            <p:cNvSpPr/>
            <p:nvPr/>
          </p:nvSpPr>
          <p:spPr>
            <a:xfrm>
              <a:off x="801" y="1824"/>
              <a:ext cx="281" cy="19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990" name="Google Shape;990;p19"/>
            <p:cNvSpPr/>
            <p:nvPr/>
          </p:nvSpPr>
          <p:spPr>
            <a:xfrm>
              <a:off x="1076" y="1824"/>
              <a:ext cx="282" cy="19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panose="020F0502020204030204" pitchFamily="34" charset="0"/>
                  <a:ea typeface="Quattrocento Sans"/>
                  <a:cs typeface="Calibri" panose="020F0502020204030204" pitchFamily="34" charset="0"/>
                  <a:sym typeface="Quattrocento Sans"/>
                </a:rPr>
                <a:t>b</a:t>
              </a:r>
              <a:endParaRPr>
                <a:latin typeface="Calibri" panose="020F0502020204030204" pitchFamily="34" charset="0"/>
                <a:cs typeface="Calibri" panose="020F0502020204030204" pitchFamily="34" charset="0"/>
              </a:endParaRPr>
            </a:p>
          </p:txBody>
        </p:sp>
        <p:sp>
          <p:nvSpPr>
            <p:cNvPr id="991" name="Google Shape;991;p19"/>
            <p:cNvSpPr/>
            <p:nvPr/>
          </p:nvSpPr>
          <p:spPr>
            <a:xfrm>
              <a:off x="1296" y="1824"/>
              <a:ext cx="250" cy="192"/>
            </a:xfrm>
            <a:custGeom>
              <a:avLst/>
              <a:gdLst/>
              <a:ahLst/>
              <a:cxnLst/>
              <a:rect l="l" t="t" r="r" b="b"/>
              <a:pathLst>
                <a:path w="384" h="288" extrusionOk="0">
                  <a:moveTo>
                    <a:pt x="96" y="0"/>
                  </a:moveTo>
                  <a:lnTo>
                    <a:pt x="384" y="0"/>
                  </a:lnTo>
                  <a:lnTo>
                    <a:pt x="240" y="96"/>
                  </a:lnTo>
                  <a:lnTo>
                    <a:pt x="384" y="192"/>
                  </a:lnTo>
                  <a:lnTo>
                    <a:pt x="288" y="288"/>
                  </a:lnTo>
                  <a:lnTo>
                    <a:pt x="0" y="288"/>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992" name="Google Shape;992;p19"/>
            <p:cNvSpPr/>
            <p:nvPr/>
          </p:nvSpPr>
          <p:spPr>
            <a:xfrm>
              <a:off x="1671" y="1824"/>
              <a:ext cx="282" cy="19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993" name="Google Shape;993;p19"/>
            <p:cNvSpPr/>
            <p:nvPr/>
          </p:nvSpPr>
          <p:spPr>
            <a:xfrm>
              <a:off x="1546" y="1824"/>
              <a:ext cx="157" cy="192"/>
            </a:xfrm>
            <a:custGeom>
              <a:avLst/>
              <a:gdLst/>
              <a:ahLst/>
              <a:cxnLst/>
              <a:rect l="l" t="t" r="r" b="b"/>
              <a:pathLst>
                <a:path w="240" h="288" extrusionOk="0">
                  <a:moveTo>
                    <a:pt x="192" y="0"/>
                  </a:moveTo>
                  <a:lnTo>
                    <a:pt x="96" y="0"/>
                  </a:lnTo>
                  <a:lnTo>
                    <a:pt x="0" y="96"/>
                  </a:lnTo>
                  <a:lnTo>
                    <a:pt x="96" y="144"/>
                  </a:lnTo>
                  <a:lnTo>
                    <a:pt x="0" y="288"/>
                  </a:lnTo>
                  <a:lnTo>
                    <a:pt x="240" y="288"/>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994" name="Google Shape;994;p19"/>
          <p:cNvSpPr/>
          <p:nvPr/>
        </p:nvSpPr>
        <p:spPr>
          <a:xfrm>
            <a:off x="730885" y="3346450"/>
            <a:ext cx="447675"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panose="020F0502020204030204" pitchFamily="34" charset="0"/>
                <a:ea typeface="Quattrocento Sans"/>
                <a:cs typeface="Calibri" panose="020F0502020204030204" pitchFamily="34" charset="0"/>
                <a:sym typeface="Quattrocento Sans"/>
              </a:rPr>
              <a:t>c</a:t>
            </a:r>
            <a:endParaRPr sz="1600">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995" name="Google Shape;995;p19"/>
          <p:cNvSpPr/>
          <p:nvPr/>
        </p:nvSpPr>
        <p:spPr>
          <a:xfrm>
            <a:off x="1193800" y="3346450"/>
            <a:ext cx="446088"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 </a:t>
            </a:r>
            <a:endParaRPr/>
          </a:p>
        </p:txBody>
      </p:sp>
      <p:sp>
        <p:nvSpPr>
          <p:cNvPr id="996" name="Google Shape;996;p19"/>
          <p:cNvSpPr/>
          <p:nvPr/>
        </p:nvSpPr>
        <p:spPr>
          <a:xfrm>
            <a:off x="1649095" y="3346450"/>
            <a:ext cx="394653"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997" name="Google Shape;997;p19"/>
          <p:cNvSpPr/>
          <p:nvPr/>
        </p:nvSpPr>
        <p:spPr>
          <a:xfrm>
            <a:off x="1945323" y="3346450"/>
            <a:ext cx="396875" cy="304800"/>
          </a:xfrm>
          <a:custGeom>
            <a:avLst/>
            <a:gdLst/>
            <a:ahLst/>
            <a:cxnLst/>
            <a:rect l="l" t="t" r="r" b="b"/>
            <a:pathLst>
              <a:path w="384" h="288" extrusionOk="0">
                <a:moveTo>
                  <a:pt x="96" y="0"/>
                </a:moveTo>
                <a:lnTo>
                  <a:pt x="384" y="0"/>
                </a:lnTo>
                <a:lnTo>
                  <a:pt x="240" y="96"/>
                </a:lnTo>
                <a:lnTo>
                  <a:pt x="384" y="192"/>
                </a:lnTo>
                <a:lnTo>
                  <a:pt x="288" y="288"/>
                </a:lnTo>
                <a:lnTo>
                  <a:pt x="0" y="288"/>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8" name="Google Shape;998;p19"/>
          <p:cNvSpPr/>
          <p:nvPr/>
        </p:nvSpPr>
        <p:spPr>
          <a:xfrm>
            <a:off x="2574925" y="3346450"/>
            <a:ext cx="447675"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999" name="Google Shape;999;p19"/>
          <p:cNvSpPr/>
          <p:nvPr/>
        </p:nvSpPr>
        <p:spPr>
          <a:xfrm>
            <a:off x="2365058" y="3346450"/>
            <a:ext cx="249237" cy="304800"/>
          </a:xfrm>
          <a:custGeom>
            <a:avLst/>
            <a:gdLst/>
            <a:ahLst/>
            <a:cxnLst/>
            <a:rect l="l" t="t" r="r" b="b"/>
            <a:pathLst>
              <a:path w="240" h="288" extrusionOk="0">
                <a:moveTo>
                  <a:pt x="192" y="0"/>
                </a:moveTo>
                <a:lnTo>
                  <a:pt x="96" y="0"/>
                </a:lnTo>
                <a:lnTo>
                  <a:pt x="0" y="96"/>
                </a:lnTo>
                <a:lnTo>
                  <a:pt x="96" y="144"/>
                </a:lnTo>
                <a:lnTo>
                  <a:pt x="0" y="288"/>
                </a:lnTo>
                <a:lnTo>
                  <a:pt x="240" y="288"/>
                </a:lnTo>
              </a:path>
            </a:pathLst>
          </a:custGeom>
          <a:noFill/>
          <a:ln w="12700" cap="flat" cmpd="sng">
            <a:solidFill>
              <a:schemeClr val="dk1"/>
            </a:solidFill>
            <a:prstDash val="solid"/>
            <a:round/>
            <a:headEnd type="none" w="med" len="med"/>
            <a:tailEnd type="non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0" name="Google Shape;1000;p19"/>
          <p:cNvSpPr/>
          <p:nvPr/>
        </p:nvSpPr>
        <p:spPr>
          <a:xfrm>
            <a:off x="3886200" y="2089150"/>
            <a:ext cx="1204913" cy="822325"/>
          </a:xfrm>
          <a:prstGeom prst="roundRect">
            <a:avLst>
              <a:gd name="adj" fmla="val 16667"/>
            </a:avLst>
          </a:prstGeom>
          <a:solidFill>
            <a:srgbClr val="FFFFFF"/>
          </a:solidFill>
          <a:ln w="12700" cap="flat" cmpd="sng">
            <a:solidFill>
              <a:srgbClr val="EE4639"/>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s-ES_tradnl" sz="1400" b="1" dirty="0">
                <a:solidFill>
                  <a:schemeClr val="dk1"/>
                </a:solidFill>
                <a:latin typeface="Calibri" panose="020F0502020204030204" pitchFamily="34" charset="0"/>
                <a:ea typeface="Quattrocento Sans"/>
                <a:cs typeface="Calibri" panose="020F0502020204030204" pitchFamily="34" charset="0"/>
                <a:sym typeface="Quattrocento Sans"/>
              </a:rPr>
              <a:t>aplicación de</a:t>
            </a:r>
            <a:r>
              <a:rPr lang="es-ES_tradnl" sz="1400" dirty="0">
                <a:latin typeface="Calibri" panose="020F0502020204030204" pitchFamily="34" charset="0"/>
                <a:cs typeface="Calibri" panose="020F0502020204030204" pitchFamily="34" charset="0"/>
                <a:sym typeface="Quattrocento Sans"/>
              </a:rPr>
              <a:t> </a:t>
            </a:r>
            <a:r>
              <a:rPr lang="es-ES_tradnl" sz="1400" b="1" dirty="0">
                <a:solidFill>
                  <a:schemeClr val="dk1"/>
                </a:solidFill>
                <a:latin typeface="Calibri" panose="020F0502020204030204" pitchFamily="34" charset="0"/>
                <a:ea typeface="Quattrocento Sans"/>
                <a:cs typeface="Calibri" panose="020F0502020204030204" pitchFamily="34" charset="0"/>
                <a:sym typeface="Quattrocento Sans"/>
              </a:rPr>
              <a:t>extracción</a:t>
            </a:r>
          </a:p>
          <a:p>
            <a:pPr marL="0" marR="0" lvl="0" indent="0" algn="ctr" rtl="0">
              <a:spcBef>
                <a:spcPts val="0"/>
              </a:spcBef>
              <a:spcAft>
                <a:spcPts val="0"/>
              </a:spcAft>
              <a:buNone/>
            </a:pPr>
            <a:r>
              <a:rPr lang="es-ES_tradnl" sz="1400" b="1" dirty="0">
                <a:solidFill>
                  <a:schemeClr val="dk1"/>
                </a:solidFill>
                <a:latin typeface="Calibri" panose="020F0502020204030204" pitchFamily="34" charset="0"/>
                <a:ea typeface="Quattrocento Sans"/>
                <a:cs typeface="Calibri" panose="020F0502020204030204" pitchFamily="34" charset="0"/>
                <a:sym typeface="Quattrocento Sans"/>
              </a:rPr>
              <a:t>de datos</a:t>
            </a:r>
          </a:p>
        </p:txBody>
      </p:sp>
      <p:cxnSp>
        <p:nvCxnSpPr>
          <p:cNvPr id="1001" name="Google Shape;1001;p19"/>
          <p:cNvCxnSpPr/>
          <p:nvPr/>
        </p:nvCxnSpPr>
        <p:spPr>
          <a:xfrm>
            <a:off x="6283325" y="2098675"/>
            <a:ext cx="188913" cy="1588"/>
          </a:xfrm>
          <a:prstGeom prst="straightConnector1">
            <a:avLst/>
          </a:prstGeom>
          <a:noFill/>
          <a:ln w="12700" cap="flat" cmpd="sng">
            <a:solidFill>
              <a:schemeClr val="dk1"/>
            </a:solidFill>
            <a:prstDash val="solid"/>
            <a:round/>
            <a:headEnd type="none" w="sm" len="sm"/>
            <a:tailEnd type="none" w="sm" len="sm"/>
          </a:ln>
        </p:spPr>
      </p:cxnSp>
      <p:grpSp>
        <p:nvGrpSpPr>
          <p:cNvPr id="1002" name="Google Shape;1002;p19"/>
          <p:cNvGrpSpPr/>
          <p:nvPr/>
        </p:nvGrpSpPr>
        <p:grpSpPr>
          <a:xfrm>
            <a:off x="5903913" y="2035175"/>
            <a:ext cx="379412" cy="184150"/>
            <a:chOff x="2016" y="1200"/>
            <a:chExt cx="384" cy="140"/>
          </a:xfrm>
        </p:grpSpPr>
        <p:sp>
          <p:nvSpPr>
            <p:cNvPr id="1003" name="Google Shape;1003;p19"/>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04" name="Google Shape;1004;p19"/>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05" name="Google Shape;1005;p19"/>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06" name="Google Shape;1006;p19"/>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07" name="Google Shape;1007;p19"/>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08" name="Google Shape;1008;p19"/>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09" name="Google Shape;1009;p19"/>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0" name="Google Shape;1010;p19"/>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1" name="Google Shape;1011;p19"/>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2" name="Google Shape;1012;p19"/>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3" name="Google Shape;1013;p19"/>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4" name="Google Shape;1014;p19"/>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5" name="Google Shape;1015;p19"/>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6" name="Google Shape;1016;p19"/>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7" name="Google Shape;1017;p19"/>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8" name="Google Shape;1018;p19"/>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19" name="Google Shape;1019;p19"/>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0" name="Google Shape;1020;p19"/>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1" name="Google Shape;1021;p19"/>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2" name="Google Shape;1022;p19"/>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23" name="Google Shape;1023;p19"/>
          <p:cNvGrpSpPr/>
          <p:nvPr/>
        </p:nvGrpSpPr>
        <p:grpSpPr>
          <a:xfrm>
            <a:off x="6477000" y="1936750"/>
            <a:ext cx="568325" cy="371475"/>
            <a:chOff x="4269" y="2677"/>
            <a:chExt cx="358" cy="234"/>
          </a:xfrm>
        </p:grpSpPr>
        <p:sp>
          <p:nvSpPr>
            <p:cNvPr id="1024" name="Google Shape;1024;p19"/>
            <p:cNvSpPr/>
            <p:nvPr/>
          </p:nvSpPr>
          <p:spPr>
            <a:xfrm>
              <a:off x="4269" y="2850"/>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5" name="Google Shape;1025;p19"/>
            <p:cNvSpPr/>
            <p:nvPr/>
          </p:nvSpPr>
          <p:spPr>
            <a:xfrm>
              <a:off x="4269" y="287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6" name="Google Shape;1026;p19"/>
            <p:cNvSpPr/>
            <p:nvPr/>
          </p:nvSpPr>
          <p:spPr>
            <a:xfrm>
              <a:off x="4329" y="2850"/>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7" name="Google Shape;1027;p19"/>
            <p:cNvSpPr/>
            <p:nvPr/>
          </p:nvSpPr>
          <p:spPr>
            <a:xfrm>
              <a:off x="4329" y="2879"/>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8" name="Google Shape;1028;p19"/>
            <p:cNvSpPr/>
            <p:nvPr/>
          </p:nvSpPr>
          <p:spPr>
            <a:xfrm>
              <a:off x="4388" y="2850"/>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29" name="Google Shape;1029;p19"/>
            <p:cNvSpPr/>
            <p:nvPr/>
          </p:nvSpPr>
          <p:spPr>
            <a:xfrm>
              <a:off x="4388" y="287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nvGrpSpPr>
            <p:cNvPr id="1030" name="Google Shape;1030;p19"/>
            <p:cNvGrpSpPr/>
            <p:nvPr/>
          </p:nvGrpSpPr>
          <p:grpSpPr>
            <a:xfrm>
              <a:off x="4269" y="2677"/>
              <a:ext cx="358" cy="173"/>
              <a:chOff x="4269" y="2677"/>
              <a:chExt cx="358" cy="173"/>
            </a:xfrm>
          </p:grpSpPr>
          <p:sp>
            <p:nvSpPr>
              <p:cNvPr id="1031" name="Google Shape;1031;p19"/>
              <p:cNvSpPr/>
              <p:nvPr/>
            </p:nvSpPr>
            <p:spPr>
              <a:xfrm>
                <a:off x="4269" y="2677"/>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2" name="Google Shape;1032;p19"/>
              <p:cNvSpPr/>
              <p:nvPr/>
            </p:nvSpPr>
            <p:spPr>
              <a:xfrm>
                <a:off x="4269" y="2706"/>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3" name="Google Shape;1033;p19"/>
              <p:cNvSpPr/>
              <p:nvPr/>
            </p:nvSpPr>
            <p:spPr>
              <a:xfrm>
                <a:off x="4269" y="2734"/>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4" name="Google Shape;1034;p19"/>
              <p:cNvSpPr/>
              <p:nvPr/>
            </p:nvSpPr>
            <p:spPr>
              <a:xfrm>
                <a:off x="4269" y="2763"/>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5" name="Google Shape;1035;p19"/>
              <p:cNvSpPr/>
              <p:nvPr/>
            </p:nvSpPr>
            <p:spPr>
              <a:xfrm>
                <a:off x="4329" y="2677"/>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6" name="Google Shape;1036;p19"/>
              <p:cNvSpPr/>
              <p:nvPr/>
            </p:nvSpPr>
            <p:spPr>
              <a:xfrm>
                <a:off x="4329" y="2706"/>
                <a:ext cx="59"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7" name="Google Shape;1037;p19"/>
              <p:cNvSpPr/>
              <p:nvPr/>
            </p:nvSpPr>
            <p:spPr>
              <a:xfrm>
                <a:off x="4329" y="2734"/>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8" name="Google Shape;1038;p19"/>
              <p:cNvSpPr/>
              <p:nvPr/>
            </p:nvSpPr>
            <p:spPr>
              <a:xfrm>
                <a:off x="4329" y="2763"/>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39" name="Google Shape;1039;p19"/>
              <p:cNvSpPr/>
              <p:nvPr/>
            </p:nvSpPr>
            <p:spPr>
              <a:xfrm>
                <a:off x="4388" y="2677"/>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0" name="Google Shape;1040;p19"/>
              <p:cNvSpPr/>
              <p:nvPr/>
            </p:nvSpPr>
            <p:spPr>
              <a:xfrm>
                <a:off x="4388" y="2706"/>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1" name="Google Shape;1041;p19"/>
              <p:cNvSpPr/>
              <p:nvPr/>
            </p:nvSpPr>
            <p:spPr>
              <a:xfrm>
                <a:off x="4388" y="2734"/>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2" name="Google Shape;1042;p19"/>
              <p:cNvSpPr/>
              <p:nvPr/>
            </p:nvSpPr>
            <p:spPr>
              <a:xfrm>
                <a:off x="4388" y="2763"/>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3" name="Google Shape;1043;p19"/>
              <p:cNvSpPr/>
              <p:nvPr/>
            </p:nvSpPr>
            <p:spPr>
              <a:xfrm>
                <a:off x="4448" y="2677"/>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4" name="Google Shape;1044;p19"/>
              <p:cNvSpPr/>
              <p:nvPr/>
            </p:nvSpPr>
            <p:spPr>
              <a:xfrm>
                <a:off x="4448" y="2706"/>
                <a:ext cx="60" cy="28"/>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5" name="Google Shape;1045;p19"/>
              <p:cNvSpPr/>
              <p:nvPr/>
            </p:nvSpPr>
            <p:spPr>
              <a:xfrm>
                <a:off x="4448" y="2734"/>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6" name="Google Shape;1046;p19"/>
              <p:cNvSpPr/>
              <p:nvPr/>
            </p:nvSpPr>
            <p:spPr>
              <a:xfrm>
                <a:off x="4448" y="2763"/>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nvGrpSpPr>
              <p:cNvPr id="1047" name="Google Shape;1047;p19"/>
              <p:cNvGrpSpPr/>
              <p:nvPr/>
            </p:nvGrpSpPr>
            <p:grpSpPr>
              <a:xfrm>
                <a:off x="4508" y="2677"/>
                <a:ext cx="30" cy="115"/>
                <a:chOff x="1392" y="3192"/>
                <a:chExt cx="192" cy="288"/>
              </a:xfrm>
            </p:grpSpPr>
            <p:sp>
              <p:nvSpPr>
                <p:cNvPr id="1048" name="Google Shape;1048;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49" name="Google Shape;1049;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50" name="Google Shape;1050;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51" name="Google Shape;1051;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52" name="Google Shape;1052;p19"/>
              <p:cNvGrpSpPr/>
              <p:nvPr/>
            </p:nvGrpSpPr>
            <p:grpSpPr>
              <a:xfrm>
                <a:off x="4538" y="2678"/>
                <a:ext cx="29" cy="115"/>
                <a:chOff x="1392" y="3192"/>
                <a:chExt cx="192" cy="288"/>
              </a:xfrm>
            </p:grpSpPr>
            <p:sp>
              <p:nvSpPr>
                <p:cNvPr id="1053" name="Google Shape;1053;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54" name="Google Shape;1054;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55" name="Google Shape;1055;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56" name="Google Shape;1056;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57" name="Google Shape;1057;p19"/>
              <p:cNvGrpSpPr/>
              <p:nvPr/>
            </p:nvGrpSpPr>
            <p:grpSpPr>
              <a:xfrm>
                <a:off x="4567" y="2679"/>
                <a:ext cx="30" cy="116"/>
                <a:chOff x="1392" y="3192"/>
                <a:chExt cx="192" cy="288"/>
              </a:xfrm>
            </p:grpSpPr>
            <p:sp>
              <p:nvSpPr>
                <p:cNvPr id="1058" name="Google Shape;1058;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59" name="Google Shape;1059;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0" name="Google Shape;1060;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1" name="Google Shape;1061;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62" name="Google Shape;1062;p19"/>
              <p:cNvGrpSpPr/>
              <p:nvPr/>
            </p:nvGrpSpPr>
            <p:grpSpPr>
              <a:xfrm>
                <a:off x="4597" y="2680"/>
                <a:ext cx="30" cy="115"/>
                <a:chOff x="1392" y="3192"/>
                <a:chExt cx="192" cy="288"/>
              </a:xfrm>
            </p:grpSpPr>
            <p:sp>
              <p:nvSpPr>
                <p:cNvPr id="1063" name="Google Shape;1063;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4" name="Google Shape;1064;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5" name="Google Shape;1065;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6" name="Google Shape;1066;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sp>
            <p:nvSpPr>
              <p:cNvPr id="1067" name="Google Shape;1067;p19"/>
              <p:cNvSpPr/>
              <p:nvPr/>
            </p:nvSpPr>
            <p:spPr>
              <a:xfrm>
                <a:off x="4269" y="279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8" name="Google Shape;1068;p19"/>
              <p:cNvSpPr/>
              <p:nvPr/>
            </p:nvSpPr>
            <p:spPr>
              <a:xfrm>
                <a:off x="4269" y="2821"/>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9" name="Google Shape;1069;p19"/>
              <p:cNvSpPr/>
              <p:nvPr/>
            </p:nvSpPr>
            <p:spPr>
              <a:xfrm>
                <a:off x="4329" y="2792"/>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70" name="Google Shape;1070;p19"/>
              <p:cNvSpPr/>
              <p:nvPr/>
            </p:nvSpPr>
            <p:spPr>
              <a:xfrm>
                <a:off x="4329" y="2821"/>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71" name="Google Shape;1071;p19"/>
              <p:cNvSpPr/>
              <p:nvPr/>
            </p:nvSpPr>
            <p:spPr>
              <a:xfrm>
                <a:off x="4388" y="279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72" name="Google Shape;1072;p19"/>
              <p:cNvSpPr/>
              <p:nvPr/>
            </p:nvSpPr>
            <p:spPr>
              <a:xfrm>
                <a:off x="4388" y="2821"/>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73" name="Google Shape;1073;p19"/>
              <p:cNvSpPr/>
              <p:nvPr/>
            </p:nvSpPr>
            <p:spPr>
              <a:xfrm>
                <a:off x="4448" y="2792"/>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74" name="Google Shape;1074;p19"/>
              <p:cNvSpPr/>
              <p:nvPr/>
            </p:nvSpPr>
            <p:spPr>
              <a:xfrm>
                <a:off x="4448" y="2821"/>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sp>
          <p:nvSpPr>
            <p:cNvPr id="1075" name="Google Shape;1075;p19"/>
            <p:cNvSpPr/>
            <p:nvPr/>
          </p:nvSpPr>
          <p:spPr>
            <a:xfrm>
              <a:off x="4448" y="2850"/>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76" name="Google Shape;1076;p19"/>
            <p:cNvSpPr/>
            <p:nvPr/>
          </p:nvSpPr>
          <p:spPr>
            <a:xfrm>
              <a:off x="4448" y="2879"/>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nvGrpSpPr>
            <p:cNvPr id="1077" name="Google Shape;1077;p19"/>
            <p:cNvGrpSpPr/>
            <p:nvPr/>
          </p:nvGrpSpPr>
          <p:grpSpPr>
            <a:xfrm>
              <a:off x="4508" y="2792"/>
              <a:ext cx="30" cy="116"/>
              <a:chOff x="1392" y="3192"/>
              <a:chExt cx="192" cy="288"/>
            </a:xfrm>
          </p:grpSpPr>
          <p:sp>
            <p:nvSpPr>
              <p:cNvPr id="1078" name="Google Shape;1078;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79" name="Google Shape;1079;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80" name="Google Shape;1080;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81" name="Google Shape;1081;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82" name="Google Shape;1082;p19"/>
            <p:cNvGrpSpPr/>
            <p:nvPr/>
          </p:nvGrpSpPr>
          <p:grpSpPr>
            <a:xfrm>
              <a:off x="4538" y="2793"/>
              <a:ext cx="29" cy="115"/>
              <a:chOff x="1392" y="3192"/>
              <a:chExt cx="192" cy="288"/>
            </a:xfrm>
          </p:grpSpPr>
          <p:sp>
            <p:nvSpPr>
              <p:cNvPr id="1083" name="Google Shape;1083;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84" name="Google Shape;1084;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85" name="Google Shape;1085;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86" name="Google Shape;1086;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87" name="Google Shape;1087;p19"/>
            <p:cNvGrpSpPr/>
            <p:nvPr/>
          </p:nvGrpSpPr>
          <p:grpSpPr>
            <a:xfrm>
              <a:off x="4567" y="2795"/>
              <a:ext cx="30" cy="115"/>
              <a:chOff x="1392" y="3192"/>
              <a:chExt cx="192" cy="288"/>
            </a:xfrm>
          </p:grpSpPr>
          <p:sp>
            <p:nvSpPr>
              <p:cNvPr id="1088" name="Google Shape;1088;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89" name="Google Shape;1089;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90" name="Google Shape;1090;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91" name="Google Shape;1091;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092" name="Google Shape;1092;p19"/>
            <p:cNvGrpSpPr/>
            <p:nvPr/>
          </p:nvGrpSpPr>
          <p:grpSpPr>
            <a:xfrm>
              <a:off x="4597" y="2795"/>
              <a:ext cx="30" cy="116"/>
              <a:chOff x="1392" y="3192"/>
              <a:chExt cx="192" cy="288"/>
            </a:xfrm>
          </p:grpSpPr>
          <p:sp>
            <p:nvSpPr>
              <p:cNvPr id="1093" name="Google Shape;1093;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94" name="Google Shape;1094;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95" name="Google Shape;1095;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96" name="Google Shape;1096;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1097" name="Google Shape;1097;p19"/>
          <p:cNvGrpSpPr/>
          <p:nvPr/>
        </p:nvGrpSpPr>
        <p:grpSpPr>
          <a:xfrm>
            <a:off x="7229475" y="2727325"/>
            <a:ext cx="379413" cy="182563"/>
            <a:chOff x="2016" y="1200"/>
            <a:chExt cx="384" cy="140"/>
          </a:xfrm>
        </p:grpSpPr>
        <p:sp>
          <p:nvSpPr>
            <p:cNvPr id="1098" name="Google Shape;1098;p19"/>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99" name="Google Shape;1099;p19"/>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0" name="Google Shape;1100;p19"/>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1" name="Google Shape;1101;p19"/>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2" name="Google Shape;1102;p19"/>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3" name="Google Shape;1103;p19"/>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4" name="Google Shape;1104;p19"/>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5" name="Google Shape;1105;p19"/>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6" name="Google Shape;1106;p19"/>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7" name="Google Shape;1107;p19"/>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8" name="Google Shape;1108;p19"/>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09" name="Google Shape;1109;p19"/>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10" name="Google Shape;1110;p19"/>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11" name="Google Shape;1111;p19"/>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12" name="Google Shape;1112;p19"/>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13" name="Google Shape;1113;p19"/>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14" name="Google Shape;1114;p19"/>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15" name="Google Shape;1115;p19"/>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16" name="Google Shape;1116;p19"/>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17" name="Google Shape;1117;p19"/>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118" name="Google Shape;1118;p19"/>
          <p:cNvGrpSpPr/>
          <p:nvPr/>
        </p:nvGrpSpPr>
        <p:grpSpPr>
          <a:xfrm>
            <a:off x="5903913" y="2727325"/>
            <a:ext cx="379412" cy="182563"/>
            <a:chOff x="2016" y="1200"/>
            <a:chExt cx="384" cy="140"/>
          </a:xfrm>
        </p:grpSpPr>
        <p:sp>
          <p:nvSpPr>
            <p:cNvPr id="1119" name="Google Shape;1119;p19"/>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0" name="Google Shape;1120;p19"/>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1" name="Google Shape;1121;p19"/>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2" name="Google Shape;1122;p19"/>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3" name="Google Shape;1123;p19"/>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4" name="Google Shape;1124;p19"/>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5" name="Google Shape;1125;p19"/>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6" name="Google Shape;1126;p19"/>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7" name="Google Shape;1127;p19"/>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8" name="Google Shape;1128;p19"/>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29" name="Google Shape;1129;p19"/>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0" name="Google Shape;1130;p19"/>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1" name="Google Shape;1131;p19"/>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2" name="Google Shape;1132;p19"/>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3" name="Google Shape;1133;p19"/>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4" name="Google Shape;1134;p19"/>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5" name="Google Shape;1135;p19"/>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6" name="Google Shape;1136;p19"/>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7" name="Google Shape;1137;p19"/>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38" name="Google Shape;1138;p19"/>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139" name="Google Shape;1139;p19"/>
          <p:cNvGrpSpPr/>
          <p:nvPr/>
        </p:nvGrpSpPr>
        <p:grpSpPr>
          <a:xfrm>
            <a:off x="7229475" y="2035175"/>
            <a:ext cx="379413" cy="184150"/>
            <a:chOff x="2016" y="1200"/>
            <a:chExt cx="384" cy="140"/>
          </a:xfrm>
        </p:grpSpPr>
        <p:sp>
          <p:nvSpPr>
            <p:cNvPr id="1140" name="Google Shape;1140;p19"/>
            <p:cNvSpPr/>
            <p:nvPr/>
          </p:nvSpPr>
          <p:spPr>
            <a:xfrm>
              <a:off x="2016" y="120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1" name="Google Shape;1141;p19"/>
            <p:cNvSpPr/>
            <p:nvPr/>
          </p:nvSpPr>
          <p:spPr>
            <a:xfrm>
              <a:off x="2112"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2" name="Google Shape;1142;p19"/>
            <p:cNvSpPr/>
            <p:nvPr/>
          </p:nvSpPr>
          <p:spPr>
            <a:xfrm>
              <a:off x="2184"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3" name="Google Shape;1143;p19"/>
            <p:cNvSpPr/>
            <p:nvPr/>
          </p:nvSpPr>
          <p:spPr>
            <a:xfrm>
              <a:off x="2256"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4" name="Google Shape;1144;p19"/>
            <p:cNvSpPr/>
            <p:nvPr/>
          </p:nvSpPr>
          <p:spPr>
            <a:xfrm>
              <a:off x="2328" y="120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5" name="Google Shape;1145;p19"/>
            <p:cNvSpPr/>
            <p:nvPr/>
          </p:nvSpPr>
          <p:spPr>
            <a:xfrm>
              <a:off x="2016" y="123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6" name="Google Shape;1146;p19"/>
            <p:cNvSpPr/>
            <p:nvPr/>
          </p:nvSpPr>
          <p:spPr>
            <a:xfrm>
              <a:off x="2112"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7" name="Google Shape;1147;p19"/>
            <p:cNvSpPr/>
            <p:nvPr/>
          </p:nvSpPr>
          <p:spPr>
            <a:xfrm>
              <a:off x="2184"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8" name="Google Shape;1148;p19"/>
            <p:cNvSpPr/>
            <p:nvPr/>
          </p:nvSpPr>
          <p:spPr>
            <a:xfrm>
              <a:off x="2256"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49" name="Google Shape;1149;p19"/>
            <p:cNvSpPr/>
            <p:nvPr/>
          </p:nvSpPr>
          <p:spPr>
            <a:xfrm>
              <a:off x="2328" y="123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0" name="Google Shape;1150;p19"/>
            <p:cNvSpPr/>
            <p:nvPr/>
          </p:nvSpPr>
          <p:spPr>
            <a:xfrm>
              <a:off x="2016" y="1270"/>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1" name="Google Shape;1151;p19"/>
            <p:cNvSpPr/>
            <p:nvPr/>
          </p:nvSpPr>
          <p:spPr>
            <a:xfrm>
              <a:off x="2112"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2" name="Google Shape;1152;p19"/>
            <p:cNvSpPr/>
            <p:nvPr/>
          </p:nvSpPr>
          <p:spPr>
            <a:xfrm>
              <a:off x="2184"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3" name="Google Shape;1153;p19"/>
            <p:cNvSpPr/>
            <p:nvPr/>
          </p:nvSpPr>
          <p:spPr>
            <a:xfrm>
              <a:off x="2256"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4" name="Google Shape;1154;p19"/>
            <p:cNvSpPr/>
            <p:nvPr/>
          </p:nvSpPr>
          <p:spPr>
            <a:xfrm>
              <a:off x="2328" y="1270"/>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5" name="Google Shape;1155;p19"/>
            <p:cNvSpPr/>
            <p:nvPr/>
          </p:nvSpPr>
          <p:spPr>
            <a:xfrm>
              <a:off x="2016" y="1305"/>
              <a:ext cx="96" cy="35"/>
            </a:xfrm>
            <a:prstGeom prst="rect">
              <a:avLst/>
            </a:prstGeom>
            <a:solidFill>
              <a:srgbClr val="FF00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6" name="Google Shape;1156;p19"/>
            <p:cNvSpPr/>
            <p:nvPr/>
          </p:nvSpPr>
          <p:spPr>
            <a:xfrm>
              <a:off x="2112"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7" name="Google Shape;1157;p19"/>
            <p:cNvSpPr/>
            <p:nvPr/>
          </p:nvSpPr>
          <p:spPr>
            <a:xfrm>
              <a:off x="2184"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8" name="Google Shape;1158;p19"/>
            <p:cNvSpPr/>
            <p:nvPr/>
          </p:nvSpPr>
          <p:spPr>
            <a:xfrm>
              <a:off x="2256"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59" name="Google Shape;1159;p19"/>
            <p:cNvSpPr/>
            <p:nvPr/>
          </p:nvSpPr>
          <p:spPr>
            <a:xfrm>
              <a:off x="2328" y="1305"/>
              <a:ext cx="72" cy="35"/>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cxnSp>
        <p:nvCxnSpPr>
          <p:cNvPr id="1160" name="Google Shape;1160;p19"/>
          <p:cNvCxnSpPr/>
          <p:nvPr/>
        </p:nvCxnSpPr>
        <p:spPr>
          <a:xfrm rot="10800000" flipH="1">
            <a:off x="6283325" y="2698750"/>
            <a:ext cx="193675" cy="90488"/>
          </a:xfrm>
          <a:prstGeom prst="straightConnector1">
            <a:avLst/>
          </a:prstGeom>
          <a:noFill/>
          <a:ln w="12700" cap="flat" cmpd="sng">
            <a:solidFill>
              <a:schemeClr val="dk1"/>
            </a:solidFill>
            <a:prstDash val="solid"/>
            <a:round/>
            <a:headEnd type="none" w="sm" len="sm"/>
            <a:tailEnd type="none" w="sm" len="sm"/>
          </a:ln>
        </p:spPr>
      </p:cxnSp>
      <p:cxnSp>
        <p:nvCxnSpPr>
          <p:cNvPr id="1161" name="Google Shape;1161;p19"/>
          <p:cNvCxnSpPr/>
          <p:nvPr/>
        </p:nvCxnSpPr>
        <p:spPr>
          <a:xfrm>
            <a:off x="7058025" y="2660650"/>
            <a:ext cx="171450" cy="128588"/>
          </a:xfrm>
          <a:prstGeom prst="straightConnector1">
            <a:avLst/>
          </a:prstGeom>
          <a:noFill/>
          <a:ln w="12700" cap="flat" cmpd="sng">
            <a:solidFill>
              <a:schemeClr val="dk1"/>
            </a:solidFill>
            <a:prstDash val="solid"/>
            <a:round/>
            <a:headEnd type="none" w="sm" len="sm"/>
            <a:tailEnd type="none" w="sm" len="sm"/>
          </a:ln>
        </p:spPr>
      </p:cxnSp>
      <p:cxnSp>
        <p:nvCxnSpPr>
          <p:cNvPr id="1162" name="Google Shape;1162;p19"/>
          <p:cNvCxnSpPr/>
          <p:nvPr/>
        </p:nvCxnSpPr>
        <p:spPr>
          <a:xfrm>
            <a:off x="7040563" y="2098675"/>
            <a:ext cx="188912" cy="1588"/>
          </a:xfrm>
          <a:prstGeom prst="straightConnector1">
            <a:avLst/>
          </a:prstGeom>
          <a:noFill/>
          <a:ln w="12700" cap="flat" cmpd="sng">
            <a:solidFill>
              <a:schemeClr val="dk1"/>
            </a:solidFill>
            <a:prstDash val="solid"/>
            <a:round/>
            <a:headEnd type="none" w="sm" len="sm"/>
            <a:tailEnd type="none" w="sm" len="sm"/>
          </a:ln>
        </p:spPr>
      </p:cxnSp>
      <p:grpSp>
        <p:nvGrpSpPr>
          <p:cNvPr id="1163" name="Google Shape;1163;p19"/>
          <p:cNvGrpSpPr/>
          <p:nvPr/>
        </p:nvGrpSpPr>
        <p:grpSpPr>
          <a:xfrm>
            <a:off x="6477000" y="2393950"/>
            <a:ext cx="568325" cy="371475"/>
            <a:chOff x="4269" y="2677"/>
            <a:chExt cx="358" cy="234"/>
          </a:xfrm>
        </p:grpSpPr>
        <p:sp>
          <p:nvSpPr>
            <p:cNvPr id="1164" name="Google Shape;1164;p19"/>
            <p:cNvSpPr/>
            <p:nvPr/>
          </p:nvSpPr>
          <p:spPr>
            <a:xfrm>
              <a:off x="4269" y="2850"/>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65" name="Google Shape;1165;p19"/>
            <p:cNvSpPr/>
            <p:nvPr/>
          </p:nvSpPr>
          <p:spPr>
            <a:xfrm>
              <a:off x="4269" y="287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66" name="Google Shape;1166;p19"/>
            <p:cNvSpPr/>
            <p:nvPr/>
          </p:nvSpPr>
          <p:spPr>
            <a:xfrm>
              <a:off x="4329" y="2850"/>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67" name="Google Shape;1167;p19"/>
            <p:cNvSpPr/>
            <p:nvPr/>
          </p:nvSpPr>
          <p:spPr>
            <a:xfrm>
              <a:off x="4329" y="2879"/>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68" name="Google Shape;1168;p19"/>
            <p:cNvSpPr/>
            <p:nvPr/>
          </p:nvSpPr>
          <p:spPr>
            <a:xfrm>
              <a:off x="4388" y="2850"/>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69" name="Google Shape;1169;p19"/>
            <p:cNvSpPr/>
            <p:nvPr/>
          </p:nvSpPr>
          <p:spPr>
            <a:xfrm>
              <a:off x="4388" y="287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nvGrpSpPr>
            <p:cNvPr id="1170" name="Google Shape;1170;p19"/>
            <p:cNvGrpSpPr/>
            <p:nvPr/>
          </p:nvGrpSpPr>
          <p:grpSpPr>
            <a:xfrm>
              <a:off x="4269" y="2677"/>
              <a:ext cx="358" cy="173"/>
              <a:chOff x="4269" y="2677"/>
              <a:chExt cx="358" cy="173"/>
            </a:xfrm>
          </p:grpSpPr>
          <p:sp>
            <p:nvSpPr>
              <p:cNvPr id="1171" name="Google Shape;1171;p19"/>
              <p:cNvSpPr/>
              <p:nvPr/>
            </p:nvSpPr>
            <p:spPr>
              <a:xfrm>
                <a:off x="4269" y="2677"/>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2" name="Google Shape;1172;p19"/>
              <p:cNvSpPr/>
              <p:nvPr/>
            </p:nvSpPr>
            <p:spPr>
              <a:xfrm>
                <a:off x="4269" y="2706"/>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3" name="Google Shape;1173;p19"/>
              <p:cNvSpPr/>
              <p:nvPr/>
            </p:nvSpPr>
            <p:spPr>
              <a:xfrm>
                <a:off x="4269" y="2734"/>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4" name="Google Shape;1174;p19"/>
              <p:cNvSpPr/>
              <p:nvPr/>
            </p:nvSpPr>
            <p:spPr>
              <a:xfrm>
                <a:off x="4269" y="2763"/>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5" name="Google Shape;1175;p19"/>
              <p:cNvSpPr/>
              <p:nvPr/>
            </p:nvSpPr>
            <p:spPr>
              <a:xfrm>
                <a:off x="4329" y="2677"/>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6" name="Google Shape;1176;p19"/>
              <p:cNvSpPr/>
              <p:nvPr/>
            </p:nvSpPr>
            <p:spPr>
              <a:xfrm>
                <a:off x="4329" y="2706"/>
                <a:ext cx="59"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7" name="Google Shape;1177;p19"/>
              <p:cNvSpPr/>
              <p:nvPr/>
            </p:nvSpPr>
            <p:spPr>
              <a:xfrm>
                <a:off x="4329" y="2734"/>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8" name="Google Shape;1178;p19"/>
              <p:cNvSpPr/>
              <p:nvPr/>
            </p:nvSpPr>
            <p:spPr>
              <a:xfrm>
                <a:off x="4329" y="2763"/>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9" name="Google Shape;1179;p19"/>
              <p:cNvSpPr/>
              <p:nvPr/>
            </p:nvSpPr>
            <p:spPr>
              <a:xfrm>
                <a:off x="4388" y="2677"/>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80" name="Google Shape;1180;p19"/>
              <p:cNvSpPr/>
              <p:nvPr/>
            </p:nvSpPr>
            <p:spPr>
              <a:xfrm>
                <a:off x="4388" y="2706"/>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81" name="Google Shape;1181;p19"/>
              <p:cNvSpPr/>
              <p:nvPr/>
            </p:nvSpPr>
            <p:spPr>
              <a:xfrm>
                <a:off x="4388" y="2734"/>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82" name="Google Shape;1182;p19"/>
              <p:cNvSpPr/>
              <p:nvPr/>
            </p:nvSpPr>
            <p:spPr>
              <a:xfrm>
                <a:off x="4388" y="2763"/>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83" name="Google Shape;1183;p19"/>
              <p:cNvSpPr/>
              <p:nvPr/>
            </p:nvSpPr>
            <p:spPr>
              <a:xfrm>
                <a:off x="4448" y="2677"/>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84" name="Google Shape;1184;p19"/>
              <p:cNvSpPr/>
              <p:nvPr/>
            </p:nvSpPr>
            <p:spPr>
              <a:xfrm>
                <a:off x="4448" y="2706"/>
                <a:ext cx="60" cy="28"/>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85" name="Google Shape;1185;p19"/>
              <p:cNvSpPr/>
              <p:nvPr/>
            </p:nvSpPr>
            <p:spPr>
              <a:xfrm>
                <a:off x="4448" y="2734"/>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86" name="Google Shape;1186;p19"/>
              <p:cNvSpPr/>
              <p:nvPr/>
            </p:nvSpPr>
            <p:spPr>
              <a:xfrm>
                <a:off x="4448" y="2763"/>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nvGrpSpPr>
              <p:cNvPr id="1187" name="Google Shape;1187;p19"/>
              <p:cNvGrpSpPr/>
              <p:nvPr/>
            </p:nvGrpSpPr>
            <p:grpSpPr>
              <a:xfrm>
                <a:off x="4508" y="2677"/>
                <a:ext cx="30" cy="115"/>
                <a:chOff x="1392" y="3192"/>
                <a:chExt cx="192" cy="288"/>
              </a:xfrm>
            </p:grpSpPr>
            <p:sp>
              <p:nvSpPr>
                <p:cNvPr id="1188" name="Google Shape;1188;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89" name="Google Shape;1189;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90" name="Google Shape;1190;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91" name="Google Shape;1191;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192" name="Google Shape;1192;p19"/>
              <p:cNvGrpSpPr/>
              <p:nvPr/>
            </p:nvGrpSpPr>
            <p:grpSpPr>
              <a:xfrm>
                <a:off x="4538" y="2678"/>
                <a:ext cx="29" cy="115"/>
                <a:chOff x="1392" y="3192"/>
                <a:chExt cx="192" cy="288"/>
              </a:xfrm>
            </p:grpSpPr>
            <p:sp>
              <p:nvSpPr>
                <p:cNvPr id="1193" name="Google Shape;1193;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94" name="Google Shape;1194;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95" name="Google Shape;1195;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96" name="Google Shape;1196;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197" name="Google Shape;1197;p19"/>
              <p:cNvGrpSpPr/>
              <p:nvPr/>
            </p:nvGrpSpPr>
            <p:grpSpPr>
              <a:xfrm>
                <a:off x="4567" y="2679"/>
                <a:ext cx="30" cy="116"/>
                <a:chOff x="1392" y="3192"/>
                <a:chExt cx="192" cy="288"/>
              </a:xfrm>
            </p:grpSpPr>
            <p:sp>
              <p:nvSpPr>
                <p:cNvPr id="1198" name="Google Shape;1198;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99" name="Google Shape;1199;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00" name="Google Shape;1200;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01" name="Google Shape;1201;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202" name="Google Shape;1202;p19"/>
              <p:cNvGrpSpPr/>
              <p:nvPr/>
            </p:nvGrpSpPr>
            <p:grpSpPr>
              <a:xfrm>
                <a:off x="4597" y="2680"/>
                <a:ext cx="30" cy="115"/>
                <a:chOff x="1392" y="3192"/>
                <a:chExt cx="192" cy="288"/>
              </a:xfrm>
            </p:grpSpPr>
            <p:sp>
              <p:nvSpPr>
                <p:cNvPr id="1203" name="Google Shape;1203;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04" name="Google Shape;1204;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05" name="Google Shape;1205;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06" name="Google Shape;1206;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sp>
            <p:nvSpPr>
              <p:cNvPr id="1207" name="Google Shape;1207;p19"/>
              <p:cNvSpPr/>
              <p:nvPr/>
            </p:nvSpPr>
            <p:spPr>
              <a:xfrm>
                <a:off x="4269" y="279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08" name="Google Shape;1208;p19"/>
              <p:cNvSpPr/>
              <p:nvPr/>
            </p:nvSpPr>
            <p:spPr>
              <a:xfrm>
                <a:off x="4269" y="2821"/>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09" name="Google Shape;1209;p19"/>
              <p:cNvSpPr/>
              <p:nvPr/>
            </p:nvSpPr>
            <p:spPr>
              <a:xfrm>
                <a:off x="4329" y="2792"/>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10" name="Google Shape;1210;p19"/>
              <p:cNvSpPr/>
              <p:nvPr/>
            </p:nvSpPr>
            <p:spPr>
              <a:xfrm>
                <a:off x="4329" y="2821"/>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11" name="Google Shape;1211;p19"/>
              <p:cNvSpPr/>
              <p:nvPr/>
            </p:nvSpPr>
            <p:spPr>
              <a:xfrm>
                <a:off x="4388" y="279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12" name="Google Shape;1212;p19"/>
              <p:cNvSpPr/>
              <p:nvPr/>
            </p:nvSpPr>
            <p:spPr>
              <a:xfrm>
                <a:off x="4388" y="2821"/>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13" name="Google Shape;1213;p19"/>
              <p:cNvSpPr/>
              <p:nvPr/>
            </p:nvSpPr>
            <p:spPr>
              <a:xfrm>
                <a:off x="4448" y="2792"/>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14" name="Google Shape;1214;p19"/>
              <p:cNvSpPr/>
              <p:nvPr/>
            </p:nvSpPr>
            <p:spPr>
              <a:xfrm>
                <a:off x="4448" y="2821"/>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sp>
          <p:nvSpPr>
            <p:cNvPr id="1215" name="Google Shape;1215;p19"/>
            <p:cNvSpPr/>
            <p:nvPr/>
          </p:nvSpPr>
          <p:spPr>
            <a:xfrm>
              <a:off x="4448" y="2850"/>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16" name="Google Shape;1216;p19"/>
            <p:cNvSpPr/>
            <p:nvPr/>
          </p:nvSpPr>
          <p:spPr>
            <a:xfrm>
              <a:off x="4448" y="2879"/>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nvGrpSpPr>
            <p:cNvPr id="1217" name="Google Shape;1217;p19"/>
            <p:cNvGrpSpPr/>
            <p:nvPr/>
          </p:nvGrpSpPr>
          <p:grpSpPr>
            <a:xfrm>
              <a:off x="4508" y="2792"/>
              <a:ext cx="30" cy="116"/>
              <a:chOff x="1392" y="3192"/>
              <a:chExt cx="192" cy="288"/>
            </a:xfrm>
          </p:grpSpPr>
          <p:sp>
            <p:nvSpPr>
              <p:cNvPr id="1218" name="Google Shape;1218;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19" name="Google Shape;1219;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20" name="Google Shape;1220;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21" name="Google Shape;1221;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222" name="Google Shape;1222;p19"/>
            <p:cNvGrpSpPr/>
            <p:nvPr/>
          </p:nvGrpSpPr>
          <p:grpSpPr>
            <a:xfrm>
              <a:off x="4538" y="2793"/>
              <a:ext cx="29" cy="115"/>
              <a:chOff x="1392" y="3192"/>
              <a:chExt cx="192" cy="288"/>
            </a:xfrm>
          </p:grpSpPr>
          <p:sp>
            <p:nvSpPr>
              <p:cNvPr id="1223" name="Google Shape;1223;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24" name="Google Shape;1224;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25" name="Google Shape;1225;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26" name="Google Shape;1226;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227" name="Google Shape;1227;p19"/>
            <p:cNvGrpSpPr/>
            <p:nvPr/>
          </p:nvGrpSpPr>
          <p:grpSpPr>
            <a:xfrm>
              <a:off x="4567" y="2795"/>
              <a:ext cx="30" cy="115"/>
              <a:chOff x="1392" y="3192"/>
              <a:chExt cx="192" cy="288"/>
            </a:xfrm>
          </p:grpSpPr>
          <p:sp>
            <p:nvSpPr>
              <p:cNvPr id="1228" name="Google Shape;1228;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29" name="Google Shape;1229;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30" name="Google Shape;1230;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31" name="Google Shape;1231;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232" name="Google Shape;1232;p19"/>
            <p:cNvGrpSpPr/>
            <p:nvPr/>
          </p:nvGrpSpPr>
          <p:grpSpPr>
            <a:xfrm>
              <a:off x="4597" y="2795"/>
              <a:ext cx="30" cy="116"/>
              <a:chOff x="1392" y="3192"/>
              <a:chExt cx="192" cy="288"/>
            </a:xfrm>
          </p:grpSpPr>
          <p:sp>
            <p:nvSpPr>
              <p:cNvPr id="1233" name="Google Shape;1233;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34" name="Google Shape;1234;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35" name="Google Shape;1235;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36" name="Google Shape;1236;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grpSp>
        <p:nvGrpSpPr>
          <p:cNvPr id="1237" name="Google Shape;1237;p19"/>
          <p:cNvGrpSpPr/>
          <p:nvPr/>
        </p:nvGrpSpPr>
        <p:grpSpPr>
          <a:xfrm>
            <a:off x="6477000" y="2851150"/>
            <a:ext cx="568325" cy="187325"/>
            <a:chOff x="2208" y="2832"/>
            <a:chExt cx="358" cy="118"/>
          </a:xfrm>
        </p:grpSpPr>
        <p:sp>
          <p:nvSpPr>
            <p:cNvPr id="1238" name="Google Shape;1238;p19"/>
            <p:cNvSpPr/>
            <p:nvPr/>
          </p:nvSpPr>
          <p:spPr>
            <a:xfrm>
              <a:off x="2208" y="283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39" name="Google Shape;1239;p19"/>
            <p:cNvSpPr/>
            <p:nvPr/>
          </p:nvSpPr>
          <p:spPr>
            <a:xfrm>
              <a:off x="2208" y="2861"/>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0" name="Google Shape;1240;p19"/>
            <p:cNvSpPr/>
            <p:nvPr/>
          </p:nvSpPr>
          <p:spPr>
            <a:xfrm>
              <a:off x="2208" y="288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1" name="Google Shape;1241;p19"/>
            <p:cNvSpPr/>
            <p:nvPr/>
          </p:nvSpPr>
          <p:spPr>
            <a:xfrm>
              <a:off x="2208" y="2918"/>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2" name="Google Shape;1242;p19"/>
            <p:cNvSpPr/>
            <p:nvPr/>
          </p:nvSpPr>
          <p:spPr>
            <a:xfrm>
              <a:off x="2268" y="2832"/>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3" name="Google Shape;1243;p19"/>
            <p:cNvSpPr/>
            <p:nvPr/>
          </p:nvSpPr>
          <p:spPr>
            <a:xfrm>
              <a:off x="2268" y="2861"/>
              <a:ext cx="59"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4" name="Google Shape;1244;p19"/>
            <p:cNvSpPr/>
            <p:nvPr/>
          </p:nvSpPr>
          <p:spPr>
            <a:xfrm>
              <a:off x="2268" y="2889"/>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5" name="Google Shape;1245;p19"/>
            <p:cNvSpPr/>
            <p:nvPr/>
          </p:nvSpPr>
          <p:spPr>
            <a:xfrm>
              <a:off x="2268" y="2918"/>
              <a:ext cx="59"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6" name="Google Shape;1246;p19"/>
            <p:cNvSpPr/>
            <p:nvPr/>
          </p:nvSpPr>
          <p:spPr>
            <a:xfrm>
              <a:off x="2327" y="2832"/>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7" name="Google Shape;1247;p19"/>
            <p:cNvSpPr/>
            <p:nvPr/>
          </p:nvSpPr>
          <p:spPr>
            <a:xfrm>
              <a:off x="2327" y="2861"/>
              <a:ext cx="60" cy="28"/>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8" name="Google Shape;1248;p19"/>
            <p:cNvSpPr/>
            <p:nvPr/>
          </p:nvSpPr>
          <p:spPr>
            <a:xfrm>
              <a:off x="2327" y="2889"/>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49" name="Google Shape;1249;p19"/>
            <p:cNvSpPr/>
            <p:nvPr/>
          </p:nvSpPr>
          <p:spPr>
            <a:xfrm>
              <a:off x="2327" y="2918"/>
              <a:ext cx="60" cy="29"/>
            </a:xfrm>
            <a:prstGeom prst="rect">
              <a:avLst/>
            </a:prstGeom>
            <a:solidFill>
              <a:srgbClr val="CC33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50" name="Google Shape;1250;p19"/>
            <p:cNvSpPr/>
            <p:nvPr/>
          </p:nvSpPr>
          <p:spPr>
            <a:xfrm>
              <a:off x="2387" y="2832"/>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51" name="Google Shape;1251;p19"/>
            <p:cNvSpPr/>
            <p:nvPr/>
          </p:nvSpPr>
          <p:spPr>
            <a:xfrm>
              <a:off x="2387" y="2861"/>
              <a:ext cx="60" cy="28"/>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52" name="Google Shape;1252;p19"/>
            <p:cNvSpPr/>
            <p:nvPr/>
          </p:nvSpPr>
          <p:spPr>
            <a:xfrm>
              <a:off x="2387" y="2889"/>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53" name="Google Shape;1253;p19"/>
            <p:cNvSpPr/>
            <p:nvPr/>
          </p:nvSpPr>
          <p:spPr>
            <a:xfrm>
              <a:off x="2387" y="2918"/>
              <a:ext cx="60" cy="29"/>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nvGrpSpPr>
            <p:cNvPr id="1254" name="Google Shape;1254;p19"/>
            <p:cNvGrpSpPr/>
            <p:nvPr/>
          </p:nvGrpSpPr>
          <p:grpSpPr>
            <a:xfrm>
              <a:off x="2447" y="2832"/>
              <a:ext cx="30" cy="115"/>
              <a:chOff x="1392" y="3192"/>
              <a:chExt cx="192" cy="288"/>
            </a:xfrm>
          </p:grpSpPr>
          <p:sp>
            <p:nvSpPr>
              <p:cNvPr id="1255" name="Google Shape;1255;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56" name="Google Shape;1256;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57" name="Google Shape;1257;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58" name="Google Shape;1258;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259" name="Google Shape;1259;p19"/>
            <p:cNvGrpSpPr/>
            <p:nvPr/>
          </p:nvGrpSpPr>
          <p:grpSpPr>
            <a:xfrm>
              <a:off x="2477" y="2833"/>
              <a:ext cx="29" cy="115"/>
              <a:chOff x="1392" y="3192"/>
              <a:chExt cx="192" cy="288"/>
            </a:xfrm>
          </p:grpSpPr>
          <p:sp>
            <p:nvSpPr>
              <p:cNvPr id="1260" name="Google Shape;1260;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61" name="Google Shape;1261;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62" name="Google Shape;1262;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63" name="Google Shape;1263;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264" name="Google Shape;1264;p19"/>
            <p:cNvGrpSpPr/>
            <p:nvPr/>
          </p:nvGrpSpPr>
          <p:grpSpPr>
            <a:xfrm>
              <a:off x="2506" y="2834"/>
              <a:ext cx="30" cy="116"/>
              <a:chOff x="1392" y="3192"/>
              <a:chExt cx="192" cy="288"/>
            </a:xfrm>
          </p:grpSpPr>
          <p:sp>
            <p:nvSpPr>
              <p:cNvPr id="1265" name="Google Shape;1265;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66" name="Google Shape;1266;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67" name="Google Shape;1267;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68" name="Google Shape;1268;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269" name="Google Shape;1269;p19"/>
            <p:cNvGrpSpPr/>
            <p:nvPr/>
          </p:nvGrpSpPr>
          <p:grpSpPr>
            <a:xfrm>
              <a:off x="2536" y="2835"/>
              <a:ext cx="30" cy="115"/>
              <a:chOff x="1392" y="3192"/>
              <a:chExt cx="192" cy="288"/>
            </a:xfrm>
          </p:grpSpPr>
          <p:sp>
            <p:nvSpPr>
              <p:cNvPr id="1270" name="Google Shape;1270;p19"/>
              <p:cNvSpPr/>
              <p:nvPr/>
            </p:nvSpPr>
            <p:spPr>
              <a:xfrm>
                <a:off x="1392" y="3192"/>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71" name="Google Shape;1271;p19"/>
              <p:cNvSpPr/>
              <p:nvPr/>
            </p:nvSpPr>
            <p:spPr>
              <a:xfrm>
                <a:off x="1392" y="3264"/>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72" name="Google Shape;1272;p19"/>
              <p:cNvSpPr/>
              <p:nvPr/>
            </p:nvSpPr>
            <p:spPr>
              <a:xfrm>
                <a:off x="1392" y="3336"/>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273" name="Google Shape;1273;p19"/>
              <p:cNvSpPr/>
              <p:nvPr/>
            </p:nvSpPr>
            <p:spPr>
              <a:xfrm>
                <a:off x="1392" y="3408"/>
                <a:ext cx="192" cy="7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1274" name="Google Shape;1274;p19"/>
          <p:cNvSpPr/>
          <p:nvPr/>
        </p:nvSpPr>
        <p:spPr>
          <a:xfrm>
            <a:off x="6477000" y="1708150"/>
            <a:ext cx="498534" cy="24686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Facts</a:t>
            </a:r>
            <a:endParaRPr>
              <a:latin typeface="Calibri" panose="020F0502020204030204" pitchFamily="34" charset="0"/>
              <a:cs typeface="Calibri" panose="020F0502020204030204" pitchFamily="34" charset="0"/>
            </a:endParaRPr>
          </a:p>
        </p:txBody>
      </p:sp>
      <p:cxnSp>
        <p:nvCxnSpPr>
          <p:cNvPr id="1291" name="Google Shape;1291;p19"/>
          <p:cNvCxnSpPr/>
          <p:nvPr/>
        </p:nvCxnSpPr>
        <p:spPr>
          <a:xfrm flipH="1">
            <a:off x="4800600" y="2851150"/>
            <a:ext cx="1066800" cy="1295400"/>
          </a:xfrm>
          <a:prstGeom prst="straightConnector1">
            <a:avLst/>
          </a:prstGeom>
          <a:noFill/>
          <a:ln w="12700" cap="flat" cmpd="sng">
            <a:solidFill>
              <a:schemeClr val="dk1"/>
            </a:solidFill>
            <a:prstDash val="solid"/>
            <a:round/>
            <a:headEnd type="none" w="med" len="med"/>
            <a:tailEnd type="none" w="med" len="med"/>
          </a:ln>
        </p:spPr>
      </p:cxnSp>
      <p:cxnSp>
        <p:nvCxnSpPr>
          <p:cNvPr id="1292" name="Google Shape;1292;p19"/>
          <p:cNvCxnSpPr/>
          <p:nvPr/>
        </p:nvCxnSpPr>
        <p:spPr>
          <a:xfrm>
            <a:off x="6324600" y="2851150"/>
            <a:ext cx="1371600" cy="1371600"/>
          </a:xfrm>
          <a:prstGeom prst="straightConnector1">
            <a:avLst/>
          </a:prstGeom>
          <a:noFill/>
          <a:ln w="12700" cap="flat" cmpd="sng">
            <a:solidFill>
              <a:schemeClr val="dk1"/>
            </a:solidFill>
            <a:prstDash val="solid"/>
            <a:round/>
            <a:headEnd type="none" w="med" len="med"/>
            <a:tailEnd type="none" w="med" len="med"/>
          </a:ln>
        </p:spPr>
      </p:cxnSp>
      <p:cxnSp>
        <p:nvCxnSpPr>
          <p:cNvPr id="1293" name="Google Shape;1293;p19"/>
          <p:cNvCxnSpPr/>
          <p:nvPr/>
        </p:nvCxnSpPr>
        <p:spPr>
          <a:xfrm>
            <a:off x="3124200" y="1555750"/>
            <a:ext cx="685800" cy="533400"/>
          </a:xfrm>
          <a:prstGeom prst="straightConnector1">
            <a:avLst/>
          </a:prstGeom>
          <a:noFill/>
          <a:ln w="12700" cap="flat" cmpd="sng">
            <a:solidFill>
              <a:schemeClr val="dk1"/>
            </a:solidFill>
            <a:prstDash val="solid"/>
            <a:round/>
            <a:headEnd type="none" w="med" len="med"/>
            <a:tailEnd type="triangle" w="med" len="med"/>
          </a:ln>
        </p:spPr>
      </p:cxnSp>
      <p:cxnSp>
        <p:nvCxnSpPr>
          <p:cNvPr id="1294" name="Google Shape;1294;p19"/>
          <p:cNvCxnSpPr/>
          <p:nvPr/>
        </p:nvCxnSpPr>
        <p:spPr>
          <a:xfrm>
            <a:off x="3124200" y="2546350"/>
            <a:ext cx="685800" cy="0"/>
          </a:xfrm>
          <a:prstGeom prst="straightConnector1">
            <a:avLst/>
          </a:prstGeom>
          <a:noFill/>
          <a:ln w="12700" cap="flat" cmpd="sng">
            <a:solidFill>
              <a:schemeClr val="dk1"/>
            </a:solidFill>
            <a:prstDash val="solid"/>
            <a:round/>
            <a:headEnd type="none" w="med" len="med"/>
            <a:tailEnd type="triangle" w="med" len="med"/>
          </a:ln>
        </p:spPr>
      </p:cxnSp>
      <p:cxnSp>
        <p:nvCxnSpPr>
          <p:cNvPr id="1295" name="Google Shape;1295;p19"/>
          <p:cNvCxnSpPr/>
          <p:nvPr/>
        </p:nvCxnSpPr>
        <p:spPr>
          <a:xfrm rot="10800000" flipH="1">
            <a:off x="3128962" y="2851150"/>
            <a:ext cx="681037" cy="609600"/>
          </a:xfrm>
          <a:prstGeom prst="straightConnector1">
            <a:avLst/>
          </a:prstGeom>
          <a:noFill/>
          <a:ln w="12700" cap="flat" cmpd="sng">
            <a:solidFill>
              <a:schemeClr val="dk1"/>
            </a:solidFill>
            <a:prstDash val="solid"/>
            <a:round/>
            <a:headEnd type="none" w="med" len="med"/>
            <a:tailEnd type="triangle" w="med" len="med"/>
          </a:ln>
        </p:spPr>
      </p:cxnSp>
      <p:cxnSp>
        <p:nvCxnSpPr>
          <p:cNvPr id="1296" name="Google Shape;1296;p19"/>
          <p:cNvCxnSpPr/>
          <p:nvPr/>
        </p:nvCxnSpPr>
        <p:spPr>
          <a:xfrm>
            <a:off x="5181600" y="2470150"/>
            <a:ext cx="1143000" cy="0"/>
          </a:xfrm>
          <a:prstGeom prst="straightConnector1">
            <a:avLst/>
          </a:prstGeom>
          <a:noFill/>
          <a:ln w="12700" cap="flat" cmpd="sng">
            <a:solidFill>
              <a:schemeClr val="dk1"/>
            </a:solidFill>
            <a:prstDash val="solid"/>
            <a:round/>
            <a:headEnd type="none" w="med" len="med"/>
            <a:tailEnd type="triangle" w="med" len="med"/>
          </a:ln>
        </p:spPr>
      </p:cxnSp>
      <p:sp>
        <p:nvSpPr>
          <p:cNvPr id="1298" name="Google Shape;1298;p19"/>
          <p:cNvSpPr txBox="1"/>
          <p:nvPr/>
        </p:nvSpPr>
        <p:spPr>
          <a:xfrm>
            <a:off x="505724" y="913860"/>
            <a:ext cx="2518831"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CONSOLIDACIÓN DE DATOS</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46C9B59F-8709-5B60-F30E-6AFBEEAB01CD}"/>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437A4C3A-E569-66C3-D3B0-B5460098884F}"/>
              </a:ext>
            </a:extLst>
          </p:cNvPr>
          <p:cNvSpPr/>
          <p:nvPr/>
        </p:nvSpPr>
        <p:spPr>
          <a:xfrm>
            <a:off x="3135115" y="912813"/>
            <a:ext cx="5235969" cy="414879"/>
          </a:xfrm>
          <a:prstGeom prst="roundRect">
            <a:avLst>
              <a:gd name="adj" fmla="val 24202"/>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l" rtl="0">
              <a:spcBef>
                <a:spcPts val="0"/>
              </a:spcBef>
              <a:spcAft>
                <a:spcPts val="0"/>
              </a:spcAft>
              <a:buNone/>
            </a:pPr>
            <a:r>
              <a:rPr lang="es-ES_tradnl" sz="1400" dirty="0">
                <a:solidFill>
                  <a:schemeClr val="dk1"/>
                </a:solidFill>
                <a:latin typeface="Calibri"/>
                <a:ea typeface="Calibri"/>
                <a:cs typeface="Calibri"/>
                <a:sym typeface="Calibri"/>
              </a:rPr>
              <a:t>Se utiliza agregación de datos para generar consolidados.</a:t>
            </a:r>
            <a:endParaRPr lang="es-ES_tradnl" sz="1400" dirty="0"/>
          </a:p>
        </p:txBody>
      </p:sp>
      <p:graphicFrame>
        <p:nvGraphicFramePr>
          <p:cNvPr id="4" name="Tabla 3">
            <a:extLst>
              <a:ext uri="{FF2B5EF4-FFF2-40B4-BE49-F238E27FC236}">
                <a16:creationId xmlns:a16="http://schemas.microsoft.com/office/drawing/2014/main" id="{15281292-0146-36EB-1677-C2CF75F459E4}"/>
              </a:ext>
            </a:extLst>
          </p:cNvPr>
          <p:cNvGraphicFramePr>
            <a:graphicFrameLocks noGrp="1"/>
          </p:cNvGraphicFramePr>
          <p:nvPr>
            <p:extLst>
              <p:ext uri="{D42A27DB-BD31-4B8C-83A1-F6EECF244321}">
                <p14:modId xmlns:p14="http://schemas.microsoft.com/office/powerpoint/2010/main" val="2672245566"/>
              </p:ext>
            </p:extLst>
          </p:nvPr>
        </p:nvGraphicFramePr>
        <p:xfrm>
          <a:off x="4766024" y="4255293"/>
          <a:ext cx="3025452" cy="991132"/>
        </p:xfrm>
        <a:graphic>
          <a:graphicData uri="http://schemas.openxmlformats.org/drawingml/2006/table">
            <a:tbl>
              <a:tblPr firstRow="1" bandRow="1">
                <a:tableStyleId>{5C22544A-7EE6-4342-B048-85BDC9FD1C3A}</a:tableStyleId>
              </a:tblPr>
              <a:tblGrid>
                <a:gridCol w="756363">
                  <a:extLst>
                    <a:ext uri="{9D8B030D-6E8A-4147-A177-3AD203B41FA5}">
                      <a16:colId xmlns:a16="http://schemas.microsoft.com/office/drawing/2014/main" val="225770983"/>
                    </a:ext>
                  </a:extLst>
                </a:gridCol>
                <a:gridCol w="756363">
                  <a:extLst>
                    <a:ext uri="{9D8B030D-6E8A-4147-A177-3AD203B41FA5}">
                      <a16:colId xmlns:a16="http://schemas.microsoft.com/office/drawing/2014/main" val="3475555971"/>
                    </a:ext>
                  </a:extLst>
                </a:gridCol>
                <a:gridCol w="756363">
                  <a:extLst>
                    <a:ext uri="{9D8B030D-6E8A-4147-A177-3AD203B41FA5}">
                      <a16:colId xmlns:a16="http://schemas.microsoft.com/office/drawing/2014/main" val="778292430"/>
                    </a:ext>
                  </a:extLst>
                </a:gridCol>
                <a:gridCol w="756363">
                  <a:extLst>
                    <a:ext uri="{9D8B030D-6E8A-4147-A177-3AD203B41FA5}">
                      <a16:colId xmlns:a16="http://schemas.microsoft.com/office/drawing/2014/main" val="2475223150"/>
                    </a:ext>
                  </a:extLst>
                </a:gridCol>
              </a:tblGrid>
              <a:tr h="247783">
                <a:tc>
                  <a:txBody>
                    <a:bodyPr/>
                    <a:lstStyle/>
                    <a:p>
                      <a:pPr marL="0" marR="0" lvl="0" indent="0" algn="ctr" rtl="0">
                        <a:spcBef>
                          <a:spcPts val="0"/>
                        </a:spcBef>
                        <a:spcAft>
                          <a:spcPts val="0"/>
                        </a:spcAft>
                        <a:buNone/>
                      </a:pPr>
                      <a:endParaRPr lang="es-ES_tradnl" sz="1200" noProof="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rgbClr val="EE4639"/>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a</a:t>
                      </a: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chemeClr val="dk1"/>
                          </a:solidFill>
                          <a:latin typeface="Calibri" panose="020F0502020204030204" pitchFamily="34" charset="0"/>
                          <a:ea typeface="Arial"/>
                          <a:cs typeface="Calibri" panose="020F0502020204030204" pitchFamily="34" charset="0"/>
                          <a:sym typeface="Arial"/>
                        </a:rPr>
                        <a:t>b</a:t>
                      </a: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r>
                        <a:rPr lang="en-US" sz="1200" dirty="0">
                          <a:solidFill>
                            <a:schemeClr val="dk1"/>
                          </a:solidFill>
                          <a:latin typeface="Calibri" panose="020F0502020204030204" pitchFamily="34" charset="0"/>
                          <a:ea typeface="Arial"/>
                          <a:cs typeface="Calibri" panose="020F0502020204030204" pitchFamily="34" charset="0"/>
                          <a:sym typeface="Arial"/>
                        </a:rPr>
                        <a:t>c</a:t>
                      </a: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extLst>
                  <a:ext uri="{0D108BD9-81ED-4DB2-BD59-A6C34878D82A}">
                    <a16:rowId xmlns:a16="http://schemas.microsoft.com/office/drawing/2014/main" val="1262700101"/>
                  </a:ext>
                </a:extLst>
              </a:tr>
              <a:tr h="247783">
                <a:tc>
                  <a:txBody>
                    <a:bodyPr/>
                    <a:lstStyle/>
                    <a:p>
                      <a:pPr marL="0" marR="0" lvl="0" indent="0" algn="ctr" rtl="0">
                        <a:spcBef>
                          <a:spcPts val="0"/>
                        </a:spcBef>
                        <a:spcAft>
                          <a:spcPts val="0"/>
                        </a:spcAft>
                        <a:buNone/>
                      </a:pPr>
                      <a:endParaRPr lang="es-ES_tradnl" sz="1200" noProof="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rgbClr val="EE4639"/>
                    </a:solidFill>
                  </a:tcPr>
                </a:tc>
                <a:tc>
                  <a:txBody>
                    <a:bodyPr/>
                    <a:lstStyle/>
                    <a:p>
                      <a:pPr marL="0" marR="0" lvl="0" indent="0" algn="ctr" rtl="0">
                        <a:spcBef>
                          <a:spcPts val="0"/>
                        </a:spcBef>
                        <a:spcAft>
                          <a:spcPts val="0"/>
                        </a:spcAft>
                        <a:buNone/>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extLst>
                  <a:ext uri="{0D108BD9-81ED-4DB2-BD59-A6C34878D82A}">
                    <a16:rowId xmlns:a16="http://schemas.microsoft.com/office/drawing/2014/main" val="2462092839"/>
                  </a:ext>
                </a:extLst>
              </a:tr>
              <a:tr h="247783">
                <a:tc>
                  <a:txBody>
                    <a:bodyPr/>
                    <a:lstStyle/>
                    <a:p>
                      <a:pPr marL="0" marR="0" lvl="0" indent="0" algn="ctr" rtl="0">
                        <a:spcBef>
                          <a:spcPts val="0"/>
                        </a:spcBef>
                        <a:spcAft>
                          <a:spcPts val="0"/>
                        </a:spcAft>
                        <a:buNone/>
                      </a:pPr>
                      <a:endParaRPr lang="es-ES_tradnl" sz="1200" noProof="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rgbClr val="EE4639"/>
                    </a:solidFill>
                  </a:tcPr>
                </a:tc>
                <a:tc>
                  <a:txBody>
                    <a:bodyPr/>
                    <a:lstStyle/>
                    <a:p>
                      <a:pPr marL="0" marR="0" lvl="0" indent="0" algn="ctr" rtl="0">
                        <a:spcBef>
                          <a:spcPts val="0"/>
                        </a:spcBef>
                        <a:spcAft>
                          <a:spcPts val="0"/>
                        </a:spcAft>
                        <a:buNone/>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extLst>
                  <a:ext uri="{0D108BD9-81ED-4DB2-BD59-A6C34878D82A}">
                    <a16:rowId xmlns:a16="http://schemas.microsoft.com/office/drawing/2014/main" val="741089988"/>
                  </a:ext>
                </a:extLst>
              </a:tr>
              <a:tr h="247783">
                <a:tc>
                  <a:txBody>
                    <a:bodyPr/>
                    <a:lstStyle/>
                    <a:p>
                      <a:pPr marL="0" marR="0" lvl="0" indent="0" algn="ctr" rtl="0">
                        <a:spcBef>
                          <a:spcPts val="0"/>
                        </a:spcBef>
                        <a:spcAft>
                          <a:spcPts val="0"/>
                        </a:spcAft>
                        <a:buNone/>
                      </a:pPr>
                      <a:endParaRPr lang="es-ES_tradnl" sz="1200" noProof="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rgbClr val="EE4639"/>
                    </a:solidFill>
                  </a:tcPr>
                </a:tc>
                <a:tc>
                  <a:txBody>
                    <a:bodyPr/>
                    <a:lstStyle/>
                    <a:p>
                      <a:pPr marL="0" marR="0" lvl="0" indent="0" algn="ctr" rtl="0">
                        <a:spcBef>
                          <a:spcPts val="0"/>
                        </a:spcBef>
                        <a:spcAft>
                          <a:spcPts val="0"/>
                        </a:spcAft>
                        <a:buNone/>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tc>
                  <a:txBody>
                    <a:bodyPr/>
                    <a:lstStyle/>
                    <a:p>
                      <a:pPr marL="0" marR="0" lvl="0" indent="0" algn="ctr" rtl="0">
                        <a:spcBef>
                          <a:spcPts val="0"/>
                        </a:spcBef>
                        <a:spcAft>
                          <a:spcPts val="0"/>
                        </a:spcAft>
                        <a:buNone/>
                      </a:pPr>
                      <a:endParaRPr lang="en-US" sz="1200" dirty="0">
                        <a:solidFill>
                          <a:schemeClr val="dk1"/>
                        </a:solidFill>
                        <a:latin typeface="Calibri" panose="020F0502020204030204" pitchFamily="34" charset="0"/>
                        <a:ea typeface="Arial"/>
                        <a:cs typeface="Calibri" panose="020F0502020204030204" pitchFamily="34" charset="0"/>
                        <a:sym typeface="Arial"/>
                      </a:endParaRPr>
                    </a:p>
                  </a:txBody>
                  <a:tcPr marL="47798" marR="47798" marT="23899" marB="23899" anchor="ctr">
                    <a:lnL w="12700" cap="flat" cmpd="sng" algn="ctr">
                      <a:solidFill>
                        <a:srgbClr val="808799"/>
                      </a:solidFill>
                      <a:prstDash val="solid"/>
                      <a:round/>
                      <a:headEnd type="none" w="med" len="med"/>
                      <a:tailEnd type="none" w="med" len="med"/>
                    </a:lnL>
                    <a:lnR w="12700" cap="flat" cmpd="sng" algn="ctr">
                      <a:solidFill>
                        <a:srgbClr val="808799"/>
                      </a:solidFill>
                      <a:prstDash val="solid"/>
                      <a:round/>
                      <a:headEnd type="none" w="med" len="med"/>
                      <a:tailEnd type="none" w="med" len="med"/>
                    </a:lnR>
                    <a:lnT w="12700" cap="flat" cmpd="sng" algn="ctr">
                      <a:solidFill>
                        <a:srgbClr val="808799"/>
                      </a:solidFill>
                      <a:prstDash val="solid"/>
                      <a:round/>
                      <a:headEnd type="none" w="med" len="med"/>
                      <a:tailEnd type="none" w="med" len="med"/>
                    </a:lnT>
                    <a:lnB w="12700" cap="flat" cmpd="sng" algn="ctr">
                      <a:solidFill>
                        <a:srgbClr val="808799"/>
                      </a:solidFill>
                      <a:prstDash val="solid"/>
                      <a:round/>
                      <a:headEnd type="none" w="med" len="med"/>
                      <a:tailEnd type="none" w="med" len="med"/>
                    </a:lnB>
                    <a:solidFill>
                      <a:schemeClr val="bg1"/>
                    </a:solidFill>
                  </a:tcPr>
                </a:tc>
                <a:extLst>
                  <a:ext uri="{0D108BD9-81ED-4DB2-BD59-A6C34878D82A}">
                    <a16:rowId xmlns:a16="http://schemas.microsoft.com/office/drawing/2014/main" val="236870733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3"/>
        <p:cNvGrpSpPr/>
        <p:nvPr/>
      </p:nvGrpSpPr>
      <p:grpSpPr>
        <a:xfrm>
          <a:off x="0" y="0"/>
          <a:ext cx="0" cy="0"/>
          <a:chOff x="0" y="0"/>
          <a:chExt cx="0" cy="0"/>
        </a:xfrm>
      </p:grpSpPr>
      <p:sp>
        <p:nvSpPr>
          <p:cNvPr id="1305" name="Google Shape;1305;p20"/>
          <p:cNvSpPr/>
          <p:nvPr/>
        </p:nvSpPr>
        <p:spPr>
          <a:xfrm>
            <a:off x="1371600" y="1544320"/>
            <a:ext cx="304800" cy="228600"/>
          </a:xfrm>
          <a:prstGeom prst="rect">
            <a:avLst/>
          </a:prstGeom>
          <a:solidFill>
            <a:srgbClr val="EE463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06" name="Google Shape;1306;p20"/>
          <p:cNvSpPr/>
          <p:nvPr/>
        </p:nvSpPr>
        <p:spPr>
          <a:xfrm>
            <a:off x="1676400" y="1544320"/>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07" name="Google Shape;1307;p20"/>
          <p:cNvSpPr/>
          <p:nvPr/>
        </p:nvSpPr>
        <p:spPr>
          <a:xfrm>
            <a:off x="1905000" y="1544320"/>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08" name="Google Shape;1308;p20" descr="Wide downward diagonal"/>
          <p:cNvSpPr/>
          <p:nvPr/>
        </p:nvSpPr>
        <p:spPr>
          <a:xfrm>
            <a:off x="2133600" y="1544320"/>
            <a:ext cx="228600" cy="228600"/>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09" name="Google Shape;1309;p20"/>
          <p:cNvSpPr/>
          <p:nvPr/>
        </p:nvSpPr>
        <p:spPr>
          <a:xfrm>
            <a:off x="2362200" y="1544320"/>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0" name="Google Shape;1310;p20" descr="Wide upward diagonal"/>
          <p:cNvSpPr/>
          <p:nvPr/>
        </p:nvSpPr>
        <p:spPr>
          <a:xfrm>
            <a:off x="2590800" y="1544320"/>
            <a:ext cx="228600" cy="228600"/>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1" name="Google Shape;1311;p20"/>
          <p:cNvSpPr/>
          <p:nvPr/>
        </p:nvSpPr>
        <p:spPr>
          <a:xfrm>
            <a:off x="2819400" y="1544320"/>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2" name="Google Shape;1312;p20"/>
          <p:cNvSpPr/>
          <p:nvPr/>
        </p:nvSpPr>
        <p:spPr>
          <a:xfrm>
            <a:off x="5486400" y="1544320"/>
            <a:ext cx="304800" cy="228600"/>
          </a:xfrm>
          <a:prstGeom prst="rect">
            <a:avLst/>
          </a:prstGeom>
          <a:solidFill>
            <a:srgbClr val="714EA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3" name="Google Shape;1313;p20"/>
          <p:cNvSpPr/>
          <p:nvPr/>
        </p:nvSpPr>
        <p:spPr>
          <a:xfrm>
            <a:off x="5791200" y="1544320"/>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4" name="Google Shape;1314;p20"/>
          <p:cNvSpPr/>
          <p:nvPr/>
        </p:nvSpPr>
        <p:spPr>
          <a:xfrm>
            <a:off x="6019800" y="1544320"/>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5" name="Google Shape;1315;p20" descr="Wide downward diagonal"/>
          <p:cNvSpPr/>
          <p:nvPr/>
        </p:nvSpPr>
        <p:spPr>
          <a:xfrm>
            <a:off x="6248400" y="1544320"/>
            <a:ext cx="457200" cy="228600"/>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6" name="Google Shape;1316;p20"/>
          <p:cNvSpPr/>
          <p:nvPr/>
        </p:nvSpPr>
        <p:spPr>
          <a:xfrm>
            <a:off x="6705600" y="1544320"/>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7" name="Google Shape;1317;p20" descr="Wide upward diagonal"/>
          <p:cNvSpPr/>
          <p:nvPr/>
        </p:nvSpPr>
        <p:spPr>
          <a:xfrm>
            <a:off x="6934200" y="1544320"/>
            <a:ext cx="381000" cy="228600"/>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8" name="Google Shape;1318;p20"/>
          <p:cNvSpPr/>
          <p:nvPr/>
        </p:nvSpPr>
        <p:spPr>
          <a:xfrm>
            <a:off x="7315200" y="1544320"/>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19" name="Google Shape;1319;p20"/>
          <p:cNvSpPr/>
          <p:nvPr/>
        </p:nvSpPr>
        <p:spPr>
          <a:xfrm>
            <a:off x="3657600" y="1391920"/>
            <a:ext cx="1219200" cy="533400"/>
          </a:xfrm>
          <a:prstGeom prst="roundRect">
            <a:avLst>
              <a:gd name="adj" fmla="val 16667"/>
            </a:avLst>
          </a:prstGeom>
          <a:noFill/>
          <a:ln w="12700" cap="flat" cmpd="sng">
            <a:solidFill>
              <a:schemeClr val="dk1"/>
            </a:solidFill>
            <a:prstDash val="solid"/>
            <a:round/>
            <a:headEnd type="none" w="sm" len="sm"/>
            <a:tailEnd type="none" w="sm" len="sm"/>
          </a:ln>
        </p:spPr>
        <p:txBody>
          <a:bodyPr spcFirstLastPara="1" wrap="square" lIns="0" tIns="45700" rIns="0" bIns="45700" anchor="ctr" anchorCtr="0">
            <a:noAutofit/>
          </a:bodyPr>
          <a:lstStyle/>
          <a:p>
            <a:pPr marL="0" marR="0" lvl="0" indent="0" algn="ctr" rtl="0">
              <a:spcBef>
                <a:spcPts val="0"/>
              </a:spcBef>
              <a:spcAft>
                <a:spcPts val="0"/>
              </a:spcAft>
              <a:buNone/>
            </a:pPr>
            <a:r>
              <a:rPr lang="es-ES_tradnl" sz="1200" b="1">
                <a:solidFill>
                  <a:schemeClr val="dk1"/>
                </a:solidFill>
                <a:latin typeface="Calibri" panose="020F0502020204030204" pitchFamily="34" charset="0"/>
                <a:ea typeface="Quattrocento Sans"/>
                <a:cs typeface="Calibri" panose="020F0502020204030204" pitchFamily="34" charset="0"/>
                <a:sym typeface="Quattrocento Sans"/>
              </a:rPr>
              <a:t>transformación</a:t>
            </a:r>
          </a:p>
          <a:p>
            <a:pPr marL="0" marR="0" lvl="0" indent="0" algn="ctr" rtl="0">
              <a:spcBef>
                <a:spcPts val="0"/>
              </a:spcBef>
              <a:spcAft>
                <a:spcPts val="0"/>
              </a:spcAft>
              <a:buNone/>
            </a:pPr>
            <a:r>
              <a:rPr lang="es-ES_tradnl" sz="1200" b="1">
                <a:solidFill>
                  <a:schemeClr val="dk1"/>
                </a:solidFill>
                <a:latin typeface="Calibri" panose="020F0502020204030204" pitchFamily="34" charset="0"/>
                <a:ea typeface="Quattrocento Sans"/>
                <a:cs typeface="Calibri" panose="020F0502020204030204" pitchFamily="34" charset="0"/>
                <a:sym typeface="Quattrocento Sans"/>
              </a:rPr>
              <a:t>de datos</a:t>
            </a:r>
          </a:p>
        </p:txBody>
      </p:sp>
      <p:sp>
        <p:nvSpPr>
          <p:cNvPr id="1320" name="Google Shape;1320;p20"/>
          <p:cNvSpPr/>
          <p:nvPr/>
        </p:nvSpPr>
        <p:spPr>
          <a:xfrm flipH="1">
            <a:off x="3124200" y="1544320"/>
            <a:ext cx="436563" cy="228600"/>
          </a:xfrm>
          <a:prstGeom prst="leftArrow">
            <a:avLst>
              <a:gd name="adj1" fmla="val 50000"/>
              <a:gd name="adj2" fmla="val 47743"/>
            </a:avLst>
          </a:prstGeom>
          <a:solidFill>
            <a:srgbClr val="00B1C2"/>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21" name="Google Shape;1321;p20"/>
          <p:cNvSpPr/>
          <p:nvPr/>
        </p:nvSpPr>
        <p:spPr>
          <a:xfrm flipH="1">
            <a:off x="4953000" y="1544320"/>
            <a:ext cx="436563" cy="228600"/>
          </a:xfrm>
          <a:prstGeom prst="leftArrow">
            <a:avLst>
              <a:gd name="adj1" fmla="val 50000"/>
              <a:gd name="adj2" fmla="val 47743"/>
            </a:avLst>
          </a:prstGeom>
          <a:solidFill>
            <a:srgbClr val="00B1C2"/>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22" name="Google Shape;1322;p20"/>
          <p:cNvSpPr/>
          <p:nvPr/>
        </p:nvSpPr>
        <p:spPr>
          <a:xfrm>
            <a:off x="2743200" y="1163320"/>
            <a:ext cx="4343400" cy="304800"/>
          </a:xfrm>
          <a:custGeom>
            <a:avLst/>
            <a:gdLst/>
            <a:ahLst/>
            <a:cxnLst/>
            <a:rect l="l" t="t" r="r" b="b"/>
            <a:pathLst>
              <a:path w="2736" h="192" extrusionOk="0">
                <a:moveTo>
                  <a:pt x="0" y="192"/>
                </a:moveTo>
                <a:cubicBezTo>
                  <a:pt x="36" y="136"/>
                  <a:pt x="72" y="80"/>
                  <a:pt x="144" y="48"/>
                </a:cubicBezTo>
                <a:cubicBezTo>
                  <a:pt x="216" y="16"/>
                  <a:pt x="64" y="0"/>
                  <a:pt x="432" y="0"/>
                </a:cubicBezTo>
                <a:cubicBezTo>
                  <a:pt x="800" y="0"/>
                  <a:pt x="1968" y="16"/>
                  <a:pt x="2352" y="48"/>
                </a:cubicBezTo>
                <a:cubicBezTo>
                  <a:pt x="2736" y="80"/>
                  <a:pt x="2736" y="136"/>
                  <a:pt x="2736" y="192"/>
                </a:cubicBezTo>
              </a:path>
            </a:pathLst>
          </a:custGeom>
          <a:noFill/>
          <a:ln w="12700" cap="flat" cmpd="sng">
            <a:solidFill>
              <a:schemeClr val="dk1"/>
            </a:solidFill>
            <a:prstDash val="dot"/>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23" name="Google Shape;1323;p20"/>
          <p:cNvSpPr/>
          <p:nvPr/>
        </p:nvSpPr>
        <p:spPr>
          <a:xfrm>
            <a:off x="2286000" y="1849120"/>
            <a:ext cx="4191000" cy="355600"/>
          </a:xfrm>
          <a:custGeom>
            <a:avLst/>
            <a:gdLst/>
            <a:ahLst/>
            <a:cxnLst/>
            <a:rect l="l" t="t" r="r" b="b"/>
            <a:pathLst>
              <a:path w="2640" h="224" extrusionOk="0">
                <a:moveTo>
                  <a:pt x="0" y="0"/>
                </a:moveTo>
                <a:cubicBezTo>
                  <a:pt x="64" y="56"/>
                  <a:pt x="128" y="112"/>
                  <a:pt x="240" y="144"/>
                </a:cubicBezTo>
                <a:cubicBezTo>
                  <a:pt x="352" y="176"/>
                  <a:pt x="328" y="184"/>
                  <a:pt x="672" y="192"/>
                </a:cubicBezTo>
                <a:cubicBezTo>
                  <a:pt x="1016" y="200"/>
                  <a:pt x="1976" y="224"/>
                  <a:pt x="2304" y="192"/>
                </a:cubicBezTo>
                <a:cubicBezTo>
                  <a:pt x="2632" y="160"/>
                  <a:pt x="2636" y="80"/>
                  <a:pt x="2640" y="0"/>
                </a:cubicBezTo>
              </a:path>
            </a:pathLst>
          </a:custGeom>
          <a:noFill/>
          <a:ln w="12700" cap="flat" cmpd="sng">
            <a:solidFill>
              <a:schemeClr val="dk1"/>
            </a:solidFill>
            <a:prstDash val="dot"/>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24" name="Google Shape;1324;p20"/>
          <p:cNvSpPr txBox="1"/>
          <p:nvPr/>
        </p:nvSpPr>
        <p:spPr>
          <a:xfrm>
            <a:off x="2082403" y="2298710"/>
            <a:ext cx="1079976" cy="52322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400">
                <a:solidFill>
                  <a:schemeClr val="dk1"/>
                </a:solidFill>
                <a:latin typeface="Calibri" panose="020F0502020204030204" pitchFamily="34" charset="0"/>
                <a:ea typeface="Quattrocento Sans"/>
                <a:cs typeface="Calibri" panose="020F0502020204030204" pitchFamily="34" charset="0"/>
                <a:sym typeface="Quattrocento Sans"/>
              </a:rPr>
              <a:t>código de</a:t>
            </a:r>
            <a:endParaRPr>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n-US" sz="1400">
                <a:solidFill>
                  <a:schemeClr val="dk1"/>
                </a:solidFill>
                <a:latin typeface="Calibri" panose="020F0502020204030204" pitchFamily="34" charset="0"/>
                <a:ea typeface="Quattrocento Sans"/>
                <a:cs typeface="Calibri" panose="020F0502020204030204" pitchFamily="34" charset="0"/>
                <a:sym typeface="Quattrocento Sans"/>
              </a:rPr>
              <a:t>producción</a:t>
            </a:r>
            <a:endParaRPr sz="1400">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325" name="Google Shape;1325;p20"/>
          <p:cNvSpPr txBox="1"/>
          <p:nvPr/>
        </p:nvSpPr>
        <p:spPr>
          <a:xfrm>
            <a:off x="6284000" y="2320706"/>
            <a:ext cx="1547731" cy="30777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400">
                <a:solidFill>
                  <a:schemeClr val="dk1"/>
                </a:solidFill>
                <a:latin typeface="Calibri" panose="020F0502020204030204" pitchFamily="34" charset="0"/>
                <a:ea typeface="Quattrocento Sans"/>
                <a:cs typeface="Calibri" panose="020F0502020204030204" pitchFamily="34" charset="0"/>
                <a:sym typeface="Quattrocento Sans"/>
              </a:rPr>
              <a:t>texto equivalente</a:t>
            </a:r>
            <a:endParaRPr sz="1400">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326" name="Google Shape;1326;p20"/>
          <p:cNvSpPr/>
          <p:nvPr/>
        </p:nvSpPr>
        <p:spPr>
          <a:xfrm>
            <a:off x="2209800" y="1849120"/>
            <a:ext cx="304800" cy="381000"/>
          </a:xfrm>
          <a:custGeom>
            <a:avLst/>
            <a:gdLst/>
            <a:ahLst/>
            <a:cxnLst/>
            <a:rect l="l" t="t" r="r" b="b"/>
            <a:pathLst>
              <a:path w="192" h="240" extrusionOk="0">
                <a:moveTo>
                  <a:pt x="192" y="240"/>
                </a:moveTo>
                <a:cubicBezTo>
                  <a:pt x="136" y="236"/>
                  <a:pt x="80" y="232"/>
                  <a:pt x="48" y="192"/>
                </a:cubicBezTo>
                <a:cubicBezTo>
                  <a:pt x="16" y="152"/>
                  <a:pt x="8" y="76"/>
                  <a:pt x="0"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27" name="Google Shape;1327;p20"/>
          <p:cNvSpPr/>
          <p:nvPr/>
        </p:nvSpPr>
        <p:spPr>
          <a:xfrm>
            <a:off x="2667000" y="1849120"/>
            <a:ext cx="165100" cy="381000"/>
          </a:xfrm>
          <a:custGeom>
            <a:avLst/>
            <a:gdLst/>
            <a:ahLst/>
            <a:cxnLst/>
            <a:rect l="l" t="t" r="r" b="b"/>
            <a:pathLst>
              <a:path w="104" h="240" extrusionOk="0">
                <a:moveTo>
                  <a:pt x="0" y="240"/>
                </a:moveTo>
                <a:cubicBezTo>
                  <a:pt x="44" y="212"/>
                  <a:pt x="88" y="184"/>
                  <a:pt x="96" y="144"/>
                </a:cubicBezTo>
                <a:cubicBezTo>
                  <a:pt x="104" y="104"/>
                  <a:pt x="76" y="52"/>
                  <a:pt x="48"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28" name="Google Shape;1328;p20"/>
          <p:cNvSpPr/>
          <p:nvPr/>
        </p:nvSpPr>
        <p:spPr>
          <a:xfrm>
            <a:off x="6553200" y="1849120"/>
            <a:ext cx="355600" cy="457200"/>
          </a:xfrm>
          <a:custGeom>
            <a:avLst/>
            <a:gdLst/>
            <a:ahLst/>
            <a:cxnLst/>
            <a:rect l="l" t="t" r="r" b="b"/>
            <a:pathLst>
              <a:path w="224" h="288" extrusionOk="0">
                <a:moveTo>
                  <a:pt x="224" y="288"/>
                </a:moveTo>
                <a:cubicBezTo>
                  <a:pt x="144" y="240"/>
                  <a:pt x="64" y="192"/>
                  <a:pt x="32" y="144"/>
                </a:cubicBezTo>
                <a:cubicBezTo>
                  <a:pt x="0" y="96"/>
                  <a:pt x="16" y="48"/>
                  <a:pt x="32"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29" name="Google Shape;1329;p20"/>
          <p:cNvSpPr/>
          <p:nvPr/>
        </p:nvSpPr>
        <p:spPr>
          <a:xfrm>
            <a:off x="7010400" y="1849120"/>
            <a:ext cx="228600" cy="457200"/>
          </a:xfrm>
          <a:custGeom>
            <a:avLst/>
            <a:gdLst/>
            <a:ahLst/>
            <a:cxnLst/>
            <a:rect l="l" t="t" r="r" b="b"/>
            <a:pathLst>
              <a:path w="144" h="240" extrusionOk="0">
                <a:moveTo>
                  <a:pt x="0" y="240"/>
                </a:moveTo>
                <a:cubicBezTo>
                  <a:pt x="36" y="212"/>
                  <a:pt x="72" y="184"/>
                  <a:pt x="96" y="144"/>
                </a:cubicBezTo>
                <a:cubicBezTo>
                  <a:pt x="120" y="104"/>
                  <a:pt x="132" y="52"/>
                  <a:pt x="144"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grpSp>
        <p:nvGrpSpPr>
          <p:cNvPr id="1330" name="Google Shape;1330;p20"/>
          <p:cNvGrpSpPr/>
          <p:nvPr/>
        </p:nvGrpSpPr>
        <p:grpSpPr>
          <a:xfrm>
            <a:off x="3505200" y="3144520"/>
            <a:ext cx="1676400" cy="914400"/>
            <a:chOff x="1680" y="2208"/>
            <a:chExt cx="1056" cy="864"/>
          </a:xfrm>
        </p:grpSpPr>
        <p:sp>
          <p:nvSpPr>
            <p:cNvPr id="1331" name="Google Shape;1331;p20"/>
            <p:cNvSpPr/>
            <p:nvPr/>
          </p:nvSpPr>
          <p:spPr>
            <a:xfrm rot="10800000" flipH="1">
              <a:off x="1680" y="2208"/>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32" name="Google Shape;1332;p20"/>
            <p:cNvSpPr/>
            <p:nvPr/>
          </p:nvSpPr>
          <p:spPr>
            <a:xfrm rot="10800000" flipH="1">
              <a:off x="1968" y="2208"/>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33" name="Google Shape;1333;p20"/>
            <p:cNvSpPr/>
            <p:nvPr/>
          </p:nvSpPr>
          <p:spPr>
            <a:xfrm rot="10800000" flipH="1">
              <a:off x="1680" y="2352"/>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34" name="Google Shape;1334;p20"/>
            <p:cNvSpPr/>
            <p:nvPr/>
          </p:nvSpPr>
          <p:spPr>
            <a:xfrm rot="10800000" flipH="1">
              <a:off x="1968" y="2352"/>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35" name="Google Shape;1335;p20"/>
            <p:cNvSpPr/>
            <p:nvPr/>
          </p:nvSpPr>
          <p:spPr>
            <a:xfrm rot="10800000" flipH="1">
              <a:off x="1680" y="2496"/>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36" name="Google Shape;1336;p20"/>
            <p:cNvSpPr/>
            <p:nvPr/>
          </p:nvSpPr>
          <p:spPr>
            <a:xfrm rot="10800000" flipH="1">
              <a:off x="1968" y="2496"/>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37" name="Google Shape;1337;p20"/>
            <p:cNvSpPr/>
            <p:nvPr/>
          </p:nvSpPr>
          <p:spPr>
            <a:xfrm rot="10800000" flipH="1">
              <a:off x="1680" y="2640"/>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38" name="Google Shape;1338;p20"/>
            <p:cNvSpPr/>
            <p:nvPr/>
          </p:nvSpPr>
          <p:spPr>
            <a:xfrm rot="10800000" flipH="1">
              <a:off x="1968" y="2640"/>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39" name="Google Shape;1339;p20"/>
            <p:cNvSpPr/>
            <p:nvPr/>
          </p:nvSpPr>
          <p:spPr>
            <a:xfrm rot="10800000" flipH="1">
              <a:off x="1680" y="2784"/>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40" name="Google Shape;1340;p20"/>
            <p:cNvSpPr/>
            <p:nvPr/>
          </p:nvSpPr>
          <p:spPr>
            <a:xfrm rot="10800000" flipH="1">
              <a:off x="1968" y="2784"/>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41" name="Google Shape;1341;p20"/>
            <p:cNvSpPr/>
            <p:nvPr/>
          </p:nvSpPr>
          <p:spPr>
            <a:xfrm rot="10800000" flipH="1">
              <a:off x="1680" y="2928"/>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42" name="Google Shape;1342;p20"/>
            <p:cNvSpPr/>
            <p:nvPr/>
          </p:nvSpPr>
          <p:spPr>
            <a:xfrm rot="10800000" flipH="1">
              <a:off x="1968" y="2928"/>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1343" name="Google Shape;1343;p20"/>
          <p:cNvSpPr txBox="1"/>
          <p:nvPr/>
        </p:nvSpPr>
        <p:spPr>
          <a:xfrm>
            <a:off x="3352800" y="2746028"/>
            <a:ext cx="808235" cy="40011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códigos de</a:t>
            </a:r>
            <a:endParaRPr>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producción</a:t>
            </a:r>
            <a:endParaRPr sz="1000">
              <a:solidFill>
                <a:schemeClr val="dk1"/>
              </a:solidFill>
              <a:latin typeface="Calibri" panose="020F0502020204030204" pitchFamily="34" charset="0"/>
              <a:ea typeface="Arial"/>
              <a:cs typeface="Calibri" panose="020F0502020204030204" pitchFamily="34" charset="0"/>
              <a:sym typeface="Arial"/>
            </a:endParaRPr>
          </a:p>
        </p:txBody>
      </p:sp>
      <p:sp>
        <p:nvSpPr>
          <p:cNvPr id="1344" name="Google Shape;1344;p20"/>
          <p:cNvSpPr txBox="1"/>
          <p:nvPr/>
        </p:nvSpPr>
        <p:spPr>
          <a:xfrm>
            <a:off x="4267200" y="2744440"/>
            <a:ext cx="835485" cy="40011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texto</a:t>
            </a:r>
            <a:endParaRPr sz="1000">
              <a:solidFill>
                <a:schemeClr val="dk1"/>
              </a:solidFill>
              <a:latin typeface="Calibri" panose="020F0502020204030204" pitchFamily="34" charset="0"/>
              <a:ea typeface="Arial"/>
              <a:cs typeface="Calibri" panose="020F0502020204030204" pitchFamily="34" charset="0"/>
              <a:sym typeface="Arial"/>
            </a:endParaRPr>
          </a:p>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equivalente</a:t>
            </a:r>
            <a:endParaRPr sz="1000">
              <a:solidFill>
                <a:schemeClr val="dk1"/>
              </a:solidFill>
              <a:latin typeface="Calibri" panose="020F0502020204030204" pitchFamily="34" charset="0"/>
              <a:ea typeface="Arial"/>
              <a:cs typeface="Calibri" panose="020F0502020204030204" pitchFamily="34" charset="0"/>
              <a:sym typeface="Arial"/>
            </a:endParaRPr>
          </a:p>
        </p:txBody>
      </p:sp>
      <p:sp>
        <p:nvSpPr>
          <p:cNvPr id="1345" name="Google Shape;1345;p20"/>
          <p:cNvSpPr txBox="1"/>
          <p:nvPr/>
        </p:nvSpPr>
        <p:spPr>
          <a:xfrm>
            <a:off x="3268695" y="4286032"/>
            <a:ext cx="2271969" cy="30777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400">
                <a:solidFill>
                  <a:schemeClr val="dk1"/>
                </a:solidFill>
                <a:latin typeface="Calibri" panose="020F0502020204030204" pitchFamily="34" charset="0"/>
                <a:ea typeface="Quattrocento Sans"/>
                <a:cs typeface="Calibri" panose="020F0502020204030204" pitchFamily="34" charset="0"/>
                <a:sym typeface="Quattrocento Sans"/>
              </a:rPr>
              <a:t>tablas lookup (búsqueda)</a:t>
            </a:r>
            <a:endParaRPr>
              <a:latin typeface="Calibri" panose="020F0502020204030204" pitchFamily="34" charset="0"/>
              <a:cs typeface="Calibri" panose="020F0502020204030204" pitchFamily="34" charset="0"/>
            </a:endParaRPr>
          </a:p>
        </p:txBody>
      </p:sp>
      <p:cxnSp>
        <p:nvCxnSpPr>
          <p:cNvPr id="1346" name="Google Shape;1346;p20"/>
          <p:cNvCxnSpPr/>
          <p:nvPr/>
        </p:nvCxnSpPr>
        <p:spPr>
          <a:xfrm>
            <a:off x="4114800" y="2001520"/>
            <a:ext cx="0" cy="914400"/>
          </a:xfrm>
          <a:prstGeom prst="straightConnector1">
            <a:avLst/>
          </a:prstGeom>
          <a:noFill/>
          <a:ln w="12700" cap="flat" cmpd="sng">
            <a:solidFill>
              <a:schemeClr val="dk1"/>
            </a:solidFill>
            <a:prstDash val="solid"/>
            <a:round/>
            <a:headEnd type="triangle" w="med" len="med"/>
            <a:tailEnd type="none" w="med" len="med"/>
          </a:ln>
        </p:spPr>
      </p:cxnSp>
      <p:grpSp>
        <p:nvGrpSpPr>
          <p:cNvPr id="1347" name="Google Shape;1347;p20"/>
          <p:cNvGrpSpPr/>
          <p:nvPr/>
        </p:nvGrpSpPr>
        <p:grpSpPr>
          <a:xfrm>
            <a:off x="3657600" y="3296920"/>
            <a:ext cx="1676400" cy="914400"/>
            <a:chOff x="1680" y="2208"/>
            <a:chExt cx="1056" cy="864"/>
          </a:xfrm>
        </p:grpSpPr>
        <p:sp>
          <p:nvSpPr>
            <p:cNvPr id="1348" name="Google Shape;1348;p20"/>
            <p:cNvSpPr/>
            <p:nvPr/>
          </p:nvSpPr>
          <p:spPr>
            <a:xfrm rot="10800000" flipH="1">
              <a:off x="1680" y="2208"/>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49" name="Google Shape;1349;p20"/>
            <p:cNvSpPr/>
            <p:nvPr/>
          </p:nvSpPr>
          <p:spPr>
            <a:xfrm rot="10800000" flipH="1">
              <a:off x="1968" y="2208"/>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0" name="Google Shape;1350;p20"/>
            <p:cNvSpPr/>
            <p:nvPr/>
          </p:nvSpPr>
          <p:spPr>
            <a:xfrm rot="10800000" flipH="1">
              <a:off x="1680" y="2352"/>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1" name="Google Shape;1351;p20"/>
            <p:cNvSpPr/>
            <p:nvPr/>
          </p:nvSpPr>
          <p:spPr>
            <a:xfrm rot="10800000" flipH="1">
              <a:off x="1968" y="2352"/>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2" name="Google Shape;1352;p20"/>
            <p:cNvSpPr/>
            <p:nvPr/>
          </p:nvSpPr>
          <p:spPr>
            <a:xfrm rot="10800000" flipH="1">
              <a:off x="1680" y="2496"/>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3" name="Google Shape;1353;p20"/>
            <p:cNvSpPr/>
            <p:nvPr/>
          </p:nvSpPr>
          <p:spPr>
            <a:xfrm rot="10800000" flipH="1">
              <a:off x="1968" y="2496"/>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4" name="Google Shape;1354;p20"/>
            <p:cNvSpPr/>
            <p:nvPr/>
          </p:nvSpPr>
          <p:spPr>
            <a:xfrm rot="10800000" flipH="1">
              <a:off x="1680" y="2640"/>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5" name="Google Shape;1355;p20"/>
            <p:cNvSpPr/>
            <p:nvPr/>
          </p:nvSpPr>
          <p:spPr>
            <a:xfrm rot="10800000" flipH="1">
              <a:off x="1968" y="2640"/>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6" name="Google Shape;1356;p20"/>
            <p:cNvSpPr/>
            <p:nvPr/>
          </p:nvSpPr>
          <p:spPr>
            <a:xfrm rot="10800000" flipH="1">
              <a:off x="1680" y="2784"/>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7" name="Google Shape;1357;p20"/>
            <p:cNvSpPr/>
            <p:nvPr/>
          </p:nvSpPr>
          <p:spPr>
            <a:xfrm rot="10800000" flipH="1">
              <a:off x="1968" y="2784"/>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8" name="Google Shape;1358;p20"/>
            <p:cNvSpPr/>
            <p:nvPr/>
          </p:nvSpPr>
          <p:spPr>
            <a:xfrm rot="10800000" flipH="1">
              <a:off x="1680" y="2928"/>
              <a:ext cx="28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359" name="Google Shape;1359;p20"/>
            <p:cNvSpPr/>
            <p:nvPr/>
          </p:nvSpPr>
          <p:spPr>
            <a:xfrm rot="10800000" flipH="1">
              <a:off x="1968" y="2928"/>
              <a:ext cx="768" cy="144"/>
            </a:xfrm>
            <a:prstGeom prst="rect">
              <a:avLst/>
            </a:prstGeom>
            <a:solidFill>
              <a:srgbClr val="FFFFFF"/>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1361" name="Google Shape;1361;p20"/>
          <p:cNvSpPr txBox="1"/>
          <p:nvPr/>
        </p:nvSpPr>
        <p:spPr>
          <a:xfrm>
            <a:off x="518711" y="912813"/>
            <a:ext cx="1157689"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BÚSQUEDA</a:t>
            </a:r>
            <a:endParaRPr sz="1600" b="1">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746C97DE-E571-F9E2-78A8-A9CC3A01E8B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B4E9392C-8BC0-B1D6-96EF-A068FEBDCF67}"/>
              </a:ext>
            </a:extLst>
          </p:cNvPr>
          <p:cNvSpPr/>
          <p:nvPr/>
        </p:nvSpPr>
        <p:spPr>
          <a:xfrm>
            <a:off x="1946060" y="4819109"/>
            <a:ext cx="5235969" cy="414879"/>
          </a:xfrm>
          <a:prstGeom prst="roundRect">
            <a:avLst>
              <a:gd name="adj" fmla="val 24202"/>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ctr" rtl="0">
              <a:spcBef>
                <a:spcPts val="0"/>
              </a:spcBef>
              <a:spcAft>
                <a:spcPts val="0"/>
              </a:spcAft>
              <a:buNone/>
            </a:pPr>
            <a:r>
              <a:rPr lang="es-ES_tradnl" sz="1400">
                <a:solidFill>
                  <a:schemeClr val="dk1"/>
                </a:solidFill>
                <a:latin typeface="Calibri" panose="020F0502020204030204" pitchFamily="34" charset="0"/>
                <a:ea typeface="Calibri"/>
                <a:cs typeface="Calibri" panose="020F0502020204030204" pitchFamily="34" charset="0"/>
                <a:sym typeface="Calibri"/>
              </a:rPr>
              <a:t>Uso de terminología más cercana al lenguaje del negocio.</a:t>
            </a:r>
            <a:endParaRPr lang="es-ES_tradnl" sz="1400">
              <a:latin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66"/>
        <p:cNvGrpSpPr/>
        <p:nvPr/>
      </p:nvGrpSpPr>
      <p:grpSpPr>
        <a:xfrm>
          <a:off x="0" y="0"/>
          <a:ext cx="0" cy="0"/>
          <a:chOff x="0" y="0"/>
          <a:chExt cx="0" cy="0"/>
        </a:xfrm>
      </p:grpSpPr>
      <p:sp>
        <p:nvSpPr>
          <p:cNvPr id="1368" name="Google Shape;1368;p21"/>
          <p:cNvSpPr/>
          <p:nvPr/>
        </p:nvSpPr>
        <p:spPr>
          <a:xfrm>
            <a:off x="837036" y="2181603"/>
            <a:ext cx="2935419" cy="342274"/>
          </a:xfrm>
          <a:prstGeom prst="rect">
            <a:avLst/>
          </a:prstGeom>
          <a:noFill/>
          <a:ln>
            <a:noFill/>
          </a:ln>
        </p:spPr>
        <p:txBody>
          <a:bodyPr spcFirstLastPara="1" wrap="square" lIns="92075" tIns="46025" rIns="92075" bIns="46025" anchor="t" anchorCtr="0">
            <a:spAutoFit/>
          </a:bodyPr>
          <a:lstStyle/>
          <a:p>
            <a:pPr marL="342900" marR="0" lvl="0" indent="-342900" algn="l" rtl="0">
              <a:lnSpc>
                <a:spcPct val="90000"/>
              </a:lnSpc>
              <a:spcBef>
                <a:spcPts val="0"/>
              </a:spcBef>
              <a:spcAft>
                <a:spcPts val="0"/>
              </a:spcAft>
              <a:buNone/>
            </a:pPr>
            <a:r>
              <a:rPr lang="en-US" sz="1800">
                <a:solidFill>
                  <a:schemeClr val="dk1"/>
                </a:solidFill>
                <a:latin typeface="Calibri" panose="020F0502020204030204" pitchFamily="34" charset="0"/>
                <a:ea typeface="Quattrocento Sans"/>
                <a:cs typeface="Calibri" panose="020F0502020204030204" pitchFamily="34" charset="0"/>
                <a:sym typeface="Quattrocento Sans"/>
              </a:rPr>
              <a:t>llave OLTP  =  43N0000202</a:t>
            </a:r>
            <a:endParaRPr>
              <a:latin typeface="Calibri" panose="020F0502020204030204" pitchFamily="34" charset="0"/>
              <a:cs typeface="Calibri" panose="020F0502020204030204" pitchFamily="34" charset="0"/>
            </a:endParaRPr>
          </a:p>
        </p:txBody>
      </p:sp>
      <p:sp>
        <p:nvSpPr>
          <p:cNvPr id="1369" name="Google Shape;1369;p21"/>
          <p:cNvSpPr/>
          <p:nvPr/>
        </p:nvSpPr>
        <p:spPr>
          <a:xfrm>
            <a:off x="1659351" y="2867971"/>
            <a:ext cx="3494546" cy="342274"/>
          </a:xfrm>
          <a:prstGeom prst="rect">
            <a:avLst/>
          </a:prstGeom>
          <a:noFill/>
          <a:ln>
            <a:noFill/>
          </a:ln>
        </p:spPr>
        <p:txBody>
          <a:bodyPr spcFirstLastPara="1" wrap="square" lIns="92075" tIns="46025" rIns="92075" bIns="46025" anchor="t" anchorCtr="0">
            <a:spAutoFit/>
          </a:bodyPr>
          <a:lstStyle/>
          <a:p>
            <a:pPr marL="342900" marR="0" lvl="0" indent="-342900" algn="l" rtl="0">
              <a:lnSpc>
                <a:spcPct val="90000"/>
              </a:lnSpc>
              <a:spcBef>
                <a:spcPts val="0"/>
              </a:spcBef>
              <a:spcAft>
                <a:spcPts val="0"/>
              </a:spcAft>
              <a:buNone/>
            </a:pPr>
            <a:r>
              <a:rPr lang="en-US" sz="1800">
                <a:solidFill>
                  <a:schemeClr val="dk1"/>
                </a:solidFill>
                <a:latin typeface="Calibri" panose="020F0502020204030204" pitchFamily="34" charset="0"/>
                <a:ea typeface="Arial"/>
                <a:cs typeface="Calibri" panose="020F0502020204030204" pitchFamily="34" charset="0"/>
                <a:sym typeface="Arial"/>
              </a:rPr>
              <a:t>  </a:t>
            </a:r>
            <a:r>
              <a:rPr lang="en-US" sz="1800">
                <a:solidFill>
                  <a:schemeClr val="dk1"/>
                </a:solidFill>
                <a:latin typeface="Calibri" panose="020F0502020204030204" pitchFamily="34" charset="0"/>
                <a:ea typeface="Quattrocento Sans"/>
                <a:cs typeface="Calibri" panose="020F0502020204030204" pitchFamily="34" charset="0"/>
                <a:sym typeface="Quattrocento Sans"/>
              </a:rPr>
              <a:t>43          N            00002      02 </a:t>
            </a:r>
            <a:endParaRPr>
              <a:latin typeface="Calibri" panose="020F0502020204030204" pitchFamily="34" charset="0"/>
              <a:cs typeface="Calibri" panose="020F0502020204030204" pitchFamily="34" charset="0"/>
            </a:endParaRPr>
          </a:p>
        </p:txBody>
      </p:sp>
      <p:cxnSp>
        <p:nvCxnSpPr>
          <p:cNvPr id="1370" name="Google Shape;1370;p21"/>
          <p:cNvCxnSpPr/>
          <p:nvPr/>
        </p:nvCxnSpPr>
        <p:spPr>
          <a:xfrm>
            <a:off x="1999076" y="3271196"/>
            <a:ext cx="0" cy="838200"/>
          </a:xfrm>
          <a:prstGeom prst="straightConnector1">
            <a:avLst/>
          </a:prstGeom>
          <a:noFill/>
          <a:ln w="12700" cap="flat" cmpd="sng">
            <a:solidFill>
              <a:schemeClr val="dk1"/>
            </a:solidFill>
            <a:prstDash val="dash"/>
            <a:round/>
            <a:headEnd type="none" w="sm" len="sm"/>
            <a:tailEnd type="stealth" w="med" len="med"/>
          </a:ln>
        </p:spPr>
      </p:cxnSp>
      <p:cxnSp>
        <p:nvCxnSpPr>
          <p:cNvPr id="1371" name="Google Shape;1371;p21"/>
          <p:cNvCxnSpPr/>
          <p:nvPr/>
        </p:nvCxnSpPr>
        <p:spPr>
          <a:xfrm>
            <a:off x="2833466" y="3271196"/>
            <a:ext cx="0" cy="393700"/>
          </a:xfrm>
          <a:prstGeom prst="straightConnector1">
            <a:avLst/>
          </a:prstGeom>
          <a:noFill/>
          <a:ln w="12700" cap="flat" cmpd="sng">
            <a:solidFill>
              <a:schemeClr val="dk1"/>
            </a:solidFill>
            <a:prstDash val="dash"/>
            <a:round/>
            <a:headEnd type="none" w="sm" len="sm"/>
            <a:tailEnd type="stealth" w="med" len="med"/>
          </a:ln>
        </p:spPr>
      </p:cxnSp>
      <p:cxnSp>
        <p:nvCxnSpPr>
          <p:cNvPr id="1372" name="Google Shape;1372;p21"/>
          <p:cNvCxnSpPr/>
          <p:nvPr/>
        </p:nvCxnSpPr>
        <p:spPr>
          <a:xfrm>
            <a:off x="3995516" y="3271196"/>
            <a:ext cx="0" cy="762000"/>
          </a:xfrm>
          <a:prstGeom prst="straightConnector1">
            <a:avLst/>
          </a:prstGeom>
          <a:noFill/>
          <a:ln w="12700" cap="flat" cmpd="sng">
            <a:solidFill>
              <a:schemeClr val="dk1"/>
            </a:solidFill>
            <a:prstDash val="dash"/>
            <a:round/>
            <a:headEnd type="none" w="sm" len="sm"/>
            <a:tailEnd type="stealth" w="med" len="med"/>
          </a:ln>
        </p:spPr>
      </p:cxnSp>
      <p:cxnSp>
        <p:nvCxnSpPr>
          <p:cNvPr id="1373" name="Google Shape;1373;p21"/>
          <p:cNvCxnSpPr/>
          <p:nvPr/>
        </p:nvCxnSpPr>
        <p:spPr>
          <a:xfrm>
            <a:off x="4795616" y="3271196"/>
            <a:ext cx="0" cy="466725"/>
          </a:xfrm>
          <a:prstGeom prst="straightConnector1">
            <a:avLst/>
          </a:prstGeom>
          <a:noFill/>
          <a:ln w="12700" cap="flat" cmpd="sng">
            <a:solidFill>
              <a:schemeClr val="dk1"/>
            </a:solidFill>
            <a:prstDash val="dash"/>
            <a:round/>
            <a:headEnd type="none" w="sm" len="sm"/>
            <a:tailEnd type="stealth" w="med" len="med"/>
          </a:ln>
        </p:spPr>
      </p:cxnSp>
      <p:sp>
        <p:nvSpPr>
          <p:cNvPr id="1374" name="Google Shape;1374;p21"/>
          <p:cNvSpPr/>
          <p:nvPr/>
        </p:nvSpPr>
        <p:spPr>
          <a:xfrm>
            <a:off x="1355186" y="4109396"/>
            <a:ext cx="1405706" cy="286874"/>
          </a:xfrm>
          <a:prstGeom prst="rect">
            <a:avLst/>
          </a:prstGeom>
          <a:noFill/>
          <a:ln>
            <a:noFill/>
          </a:ln>
        </p:spPr>
        <p:txBody>
          <a:bodyPr spcFirstLastPara="1" wrap="square" lIns="92075" tIns="46025" rIns="92075" bIns="46025" anchor="t" anchorCtr="0">
            <a:spAutoFit/>
          </a:bodyPr>
          <a:lstStyle/>
          <a:p>
            <a:pPr marL="342900" marR="0" lvl="0" indent="-342900" algn="l" rtl="0">
              <a:lnSpc>
                <a:spcPct val="90000"/>
              </a:lnSpc>
              <a:spcBef>
                <a:spcPts val="0"/>
              </a:spcBef>
              <a:spcAft>
                <a:spcPts val="0"/>
              </a:spcAft>
              <a:buNone/>
            </a:pPr>
            <a:r>
              <a:rPr lang="en-US" sz="1400" b="1">
                <a:solidFill>
                  <a:schemeClr val="dk1"/>
                </a:solidFill>
                <a:latin typeface="Calibri" panose="020F0502020204030204" pitchFamily="34" charset="0"/>
                <a:ea typeface="Quattrocento Sans"/>
                <a:cs typeface="Calibri" panose="020F0502020204030204" pitchFamily="34" charset="0"/>
                <a:sym typeface="Quattrocento Sans"/>
              </a:rPr>
              <a:t>código de país</a:t>
            </a:r>
            <a:endParaRPr sz="1400" b="1">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375" name="Google Shape;1375;p21"/>
          <p:cNvSpPr/>
          <p:nvPr/>
        </p:nvSpPr>
        <p:spPr>
          <a:xfrm>
            <a:off x="2120996" y="3728396"/>
            <a:ext cx="1858963" cy="284163"/>
          </a:xfrm>
          <a:prstGeom prst="rect">
            <a:avLst/>
          </a:prstGeom>
          <a:noFill/>
          <a:ln>
            <a:noFill/>
          </a:ln>
        </p:spPr>
        <p:txBody>
          <a:bodyPr spcFirstLastPara="1" wrap="square" lIns="92075" tIns="46025" rIns="92075" bIns="46025" anchor="t" anchorCtr="0">
            <a:spAutoFit/>
          </a:bodyPr>
          <a:lstStyle/>
          <a:p>
            <a:pPr marL="342900" marR="0" lvl="0" indent="-342900" algn="l" rtl="0">
              <a:lnSpc>
                <a:spcPct val="90000"/>
              </a:lnSpc>
              <a:spcBef>
                <a:spcPts val="0"/>
              </a:spcBef>
              <a:spcAft>
                <a:spcPts val="0"/>
              </a:spcAft>
              <a:buNone/>
            </a:pPr>
            <a:r>
              <a:rPr lang="en-US" sz="1400" b="1">
                <a:solidFill>
                  <a:schemeClr val="dk1"/>
                </a:solidFill>
                <a:latin typeface="Calibri" panose="020F0502020204030204" pitchFamily="34" charset="0"/>
                <a:ea typeface="Quattrocento Sans"/>
                <a:cs typeface="Calibri" panose="020F0502020204030204" pitchFamily="34" charset="0"/>
                <a:sym typeface="Quattrocento Sans"/>
              </a:rPr>
              <a:t>territorio de ventas</a:t>
            </a:r>
            <a:endParaRPr sz="1400" b="1">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376" name="Google Shape;1376;p21"/>
          <p:cNvSpPr/>
          <p:nvPr/>
        </p:nvSpPr>
        <p:spPr>
          <a:xfrm>
            <a:off x="3406624" y="4094147"/>
            <a:ext cx="1154162" cy="286874"/>
          </a:xfrm>
          <a:prstGeom prst="rect">
            <a:avLst/>
          </a:prstGeom>
          <a:noFill/>
          <a:ln>
            <a:noFill/>
          </a:ln>
        </p:spPr>
        <p:txBody>
          <a:bodyPr spcFirstLastPara="1" wrap="square" lIns="92075" tIns="46025" rIns="92075" bIns="46025" anchor="t" anchorCtr="0">
            <a:spAutoFit/>
          </a:bodyPr>
          <a:lstStyle/>
          <a:p>
            <a:pPr marL="342900" marR="0" lvl="0" indent="-342900" algn="l" rtl="0">
              <a:lnSpc>
                <a:spcPct val="90000"/>
              </a:lnSpc>
              <a:spcBef>
                <a:spcPts val="0"/>
              </a:spcBef>
              <a:spcAft>
                <a:spcPts val="0"/>
              </a:spcAft>
              <a:buNone/>
            </a:pPr>
            <a:r>
              <a:rPr lang="en-US" sz="1400" b="1">
                <a:solidFill>
                  <a:schemeClr val="dk1"/>
                </a:solidFill>
                <a:latin typeface="Calibri" panose="020F0502020204030204" pitchFamily="34" charset="0"/>
                <a:ea typeface="Quattrocento Sans"/>
                <a:cs typeface="Calibri" panose="020F0502020204030204" pitchFamily="34" charset="0"/>
                <a:sym typeface="Quattrocento Sans"/>
              </a:rPr>
              <a:t># secuencia</a:t>
            </a:r>
            <a:endParaRPr sz="1400" b="1">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377" name="Google Shape;1377;p21"/>
          <p:cNvSpPr/>
          <p:nvPr/>
        </p:nvSpPr>
        <p:spPr>
          <a:xfrm>
            <a:off x="4220941" y="3766496"/>
            <a:ext cx="1481046" cy="286874"/>
          </a:xfrm>
          <a:prstGeom prst="rect">
            <a:avLst/>
          </a:prstGeom>
          <a:noFill/>
          <a:ln>
            <a:noFill/>
          </a:ln>
        </p:spPr>
        <p:txBody>
          <a:bodyPr spcFirstLastPara="1" wrap="square" lIns="92075" tIns="46025" rIns="92075" bIns="46025" anchor="t" anchorCtr="0">
            <a:spAutoFit/>
          </a:bodyPr>
          <a:lstStyle/>
          <a:p>
            <a:pPr marL="342900" marR="0" lvl="0" indent="-342900" algn="l" rtl="0">
              <a:lnSpc>
                <a:spcPct val="90000"/>
              </a:lnSpc>
              <a:spcBef>
                <a:spcPts val="0"/>
              </a:spcBef>
              <a:spcAft>
                <a:spcPts val="0"/>
              </a:spcAft>
              <a:buNone/>
            </a:pPr>
            <a:r>
              <a:rPr lang="en-US" sz="1400" b="1">
                <a:solidFill>
                  <a:schemeClr val="dk1"/>
                </a:solidFill>
                <a:latin typeface="Calibri" panose="020F0502020204030204" pitchFamily="34" charset="0"/>
                <a:ea typeface="Quattrocento Sans"/>
                <a:cs typeface="Calibri" panose="020F0502020204030204" pitchFamily="34" charset="0"/>
                <a:sym typeface="Quattrocento Sans"/>
              </a:rPr>
              <a:t>canal de ventas</a:t>
            </a:r>
            <a:endParaRPr sz="1400" b="1">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378" name="Google Shape;1378;p21"/>
          <p:cNvSpPr/>
          <p:nvPr/>
        </p:nvSpPr>
        <p:spPr>
          <a:xfrm>
            <a:off x="6186266" y="2280596"/>
            <a:ext cx="533400"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Quattrocento Sans"/>
                <a:cs typeface="Calibri" panose="020F0502020204030204" pitchFamily="34" charset="0"/>
                <a:sym typeface="Quattrocento Sans"/>
              </a:rPr>
              <a:t>43</a:t>
            </a:r>
            <a:endParaRPr>
              <a:latin typeface="Calibri" panose="020F0502020204030204" pitchFamily="34" charset="0"/>
              <a:cs typeface="Calibri" panose="020F0502020204030204" pitchFamily="34" charset="0"/>
            </a:endParaRPr>
          </a:p>
        </p:txBody>
      </p:sp>
      <p:sp>
        <p:nvSpPr>
          <p:cNvPr id="1379" name="Google Shape;1379;p21"/>
          <p:cNvSpPr/>
          <p:nvPr/>
        </p:nvSpPr>
        <p:spPr>
          <a:xfrm>
            <a:off x="6719666" y="2280596"/>
            <a:ext cx="457200"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Quattrocento Sans"/>
                <a:cs typeface="Calibri" panose="020F0502020204030204" pitchFamily="34" charset="0"/>
                <a:sym typeface="Quattrocento Sans"/>
              </a:rPr>
              <a:t>N</a:t>
            </a:r>
            <a:endParaRPr>
              <a:latin typeface="Calibri" panose="020F0502020204030204" pitchFamily="34" charset="0"/>
              <a:cs typeface="Calibri" panose="020F0502020204030204" pitchFamily="34" charset="0"/>
            </a:endParaRPr>
          </a:p>
        </p:txBody>
      </p:sp>
      <p:sp>
        <p:nvSpPr>
          <p:cNvPr id="1380" name="Google Shape;1380;p21"/>
          <p:cNvSpPr/>
          <p:nvPr/>
        </p:nvSpPr>
        <p:spPr>
          <a:xfrm>
            <a:off x="7176866" y="2280596"/>
            <a:ext cx="762000"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Quattrocento Sans"/>
                <a:cs typeface="Calibri" panose="020F0502020204030204" pitchFamily="34" charset="0"/>
                <a:sym typeface="Quattrocento Sans"/>
              </a:rPr>
              <a:t>00002</a:t>
            </a:r>
            <a:endParaRPr>
              <a:latin typeface="Calibri" panose="020F0502020204030204" pitchFamily="34" charset="0"/>
              <a:cs typeface="Calibri" panose="020F0502020204030204" pitchFamily="34" charset="0"/>
            </a:endParaRPr>
          </a:p>
        </p:txBody>
      </p:sp>
      <p:sp>
        <p:nvSpPr>
          <p:cNvPr id="1381" name="Google Shape;1381;p21"/>
          <p:cNvSpPr/>
          <p:nvPr/>
        </p:nvSpPr>
        <p:spPr>
          <a:xfrm>
            <a:off x="7938866" y="2280596"/>
            <a:ext cx="457200" cy="3048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Quattrocento Sans"/>
                <a:cs typeface="Calibri" panose="020F0502020204030204" pitchFamily="34" charset="0"/>
                <a:sym typeface="Quattrocento Sans"/>
              </a:rPr>
              <a:t>02</a:t>
            </a:r>
            <a:endParaRPr>
              <a:latin typeface="Calibri" panose="020F0502020204030204" pitchFamily="34" charset="0"/>
              <a:cs typeface="Calibri" panose="020F0502020204030204" pitchFamily="34" charset="0"/>
            </a:endParaRPr>
          </a:p>
        </p:txBody>
      </p:sp>
      <p:sp>
        <p:nvSpPr>
          <p:cNvPr id="1382" name="Google Shape;1382;p21"/>
          <p:cNvSpPr txBox="1"/>
          <p:nvPr/>
        </p:nvSpPr>
        <p:spPr>
          <a:xfrm>
            <a:off x="5940855" y="1823982"/>
            <a:ext cx="2570447" cy="33855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Quattrocento Sans"/>
                <a:cs typeface="Calibri" panose="020F0502020204030204" pitchFamily="34" charset="0"/>
                <a:sym typeface="Quattrocento Sans"/>
              </a:rPr>
              <a:t>columnas en el warehouse</a:t>
            </a:r>
            <a:endParaRPr>
              <a:latin typeface="Calibri" panose="020F0502020204030204" pitchFamily="34" charset="0"/>
              <a:cs typeface="Calibri" panose="020F0502020204030204" pitchFamily="34" charset="0"/>
            </a:endParaRPr>
          </a:p>
        </p:txBody>
      </p:sp>
      <p:cxnSp>
        <p:nvCxnSpPr>
          <p:cNvPr id="1383" name="Google Shape;1383;p21"/>
          <p:cNvCxnSpPr/>
          <p:nvPr/>
        </p:nvCxnSpPr>
        <p:spPr>
          <a:xfrm>
            <a:off x="4281266" y="2356796"/>
            <a:ext cx="1752600" cy="0"/>
          </a:xfrm>
          <a:prstGeom prst="straightConnector1">
            <a:avLst/>
          </a:prstGeom>
          <a:noFill/>
          <a:ln w="12700" cap="flat" cmpd="sng">
            <a:solidFill>
              <a:schemeClr val="dk1"/>
            </a:solidFill>
            <a:prstDash val="solid"/>
            <a:round/>
            <a:headEnd type="none" w="med" len="med"/>
            <a:tailEnd type="triangle" w="med" len="med"/>
          </a:ln>
        </p:spPr>
      </p:cxnSp>
      <p:sp>
        <p:nvSpPr>
          <p:cNvPr id="1384" name="Google Shape;1384;p21"/>
          <p:cNvSpPr txBox="1"/>
          <p:nvPr/>
        </p:nvSpPr>
        <p:spPr>
          <a:xfrm>
            <a:off x="1920448" y="4529253"/>
            <a:ext cx="3073662" cy="33855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Quattrocento Sans"/>
                <a:cs typeface="Calibri" panose="020F0502020204030204" pitchFamily="34" charset="0"/>
                <a:sym typeface="Quattrocento Sans"/>
              </a:rPr>
              <a:t>Llave con inteligencia embebida</a:t>
            </a:r>
            <a:endParaRPr sz="1600">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386" name="Google Shape;1386;p21"/>
          <p:cNvSpPr txBox="1"/>
          <p:nvPr/>
        </p:nvSpPr>
        <p:spPr>
          <a:xfrm>
            <a:off x="503238" y="912813"/>
            <a:ext cx="2777282"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LLAVES INTELIGENTES</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24DD65F3-72A5-F3E8-90DB-C0D3452B0EBD}"/>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8F160CC3-C1B7-1237-9828-A74332FBECEB}"/>
              </a:ext>
            </a:extLst>
          </p:cNvPr>
          <p:cNvSpPr/>
          <p:nvPr/>
        </p:nvSpPr>
        <p:spPr>
          <a:xfrm>
            <a:off x="2535912" y="923047"/>
            <a:ext cx="6104851" cy="414879"/>
          </a:xfrm>
          <a:prstGeom prst="roundRect">
            <a:avLst>
              <a:gd name="adj" fmla="val 24202"/>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l" rtl="0">
              <a:spcBef>
                <a:spcPts val="0"/>
              </a:spcBef>
              <a:spcAft>
                <a:spcPts val="0"/>
              </a:spcAft>
              <a:buNone/>
            </a:pPr>
            <a:r>
              <a:rPr lang="es-ES_tradnl" sz="1400">
                <a:solidFill>
                  <a:schemeClr val="dk1"/>
                </a:solidFill>
                <a:latin typeface="Calibri"/>
                <a:ea typeface="Calibri"/>
                <a:cs typeface="Calibri"/>
                <a:sym typeface="Calibri"/>
              </a:rPr>
              <a:t>Las llaves inteligentes no son fáciles de "descifrar" para el usuario de negocios.</a:t>
            </a:r>
            <a:endParaRPr lang="es-ES_tradnl"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91"/>
        <p:cNvGrpSpPr/>
        <p:nvPr/>
      </p:nvGrpSpPr>
      <p:grpSpPr>
        <a:xfrm>
          <a:off x="0" y="0"/>
          <a:ext cx="0" cy="0"/>
          <a:chOff x="0" y="0"/>
          <a:chExt cx="0" cy="0"/>
        </a:xfrm>
      </p:grpSpPr>
      <p:sp>
        <p:nvSpPr>
          <p:cNvPr id="1393" name="Google Shape;1393;p22"/>
          <p:cNvSpPr/>
          <p:nvPr/>
        </p:nvSpPr>
        <p:spPr>
          <a:xfrm>
            <a:off x="1680210" y="1459307"/>
            <a:ext cx="304800" cy="228600"/>
          </a:xfrm>
          <a:prstGeom prst="rect">
            <a:avLst/>
          </a:prstGeom>
          <a:solidFill>
            <a:srgbClr val="EE4639"/>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94" name="Google Shape;1394;p22"/>
          <p:cNvSpPr/>
          <p:nvPr/>
        </p:nvSpPr>
        <p:spPr>
          <a:xfrm>
            <a:off x="19850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95" name="Google Shape;1395;p22"/>
          <p:cNvSpPr/>
          <p:nvPr/>
        </p:nvSpPr>
        <p:spPr>
          <a:xfrm>
            <a:off x="22136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96" name="Google Shape;1396;p22"/>
          <p:cNvSpPr/>
          <p:nvPr/>
        </p:nvSpPr>
        <p:spPr>
          <a:xfrm>
            <a:off x="24422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97" name="Google Shape;1397;p22"/>
          <p:cNvSpPr/>
          <p:nvPr/>
        </p:nvSpPr>
        <p:spPr>
          <a:xfrm>
            <a:off x="26708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98" name="Google Shape;1398;p22"/>
          <p:cNvSpPr/>
          <p:nvPr/>
        </p:nvSpPr>
        <p:spPr>
          <a:xfrm>
            <a:off x="28994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399" name="Google Shape;1399;p22"/>
          <p:cNvSpPr/>
          <p:nvPr/>
        </p:nvSpPr>
        <p:spPr>
          <a:xfrm>
            <a:off x="31280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400" name="Google Shape;1400;p22"/>
          <p:cNvSpPr/>
          <p:nvPr/>
        </p:nvSpPr>
        <p:spPr>
          <a:xfrm>
            <a:off x="5795010" y="1459307"/>
            <a:ext cx="304800" cy="228600"/>
          </a:xfrm>
          <a:prstGeom prst="rect">
            <a:avLst/>
          </a:prstGeom>
          <a:solidFill>
            <a:srgbClr val="00B1C2"/>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401" name="Google Shape;1401;p22"/>
          <p:cNvSpPr/>
          <p:nvPr/>
        </p:nvSpPr>
        <p:spPr>
          <a:xfrm>
            <a:off x="60998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402" name="Google Shape;1402;p22"/>
          <p:cNvSpPr/>
          <p:nvPr/>
        </p:nvSpPr>
        <p:spPr>
          <a:xfrm>
            <a:off x="63284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403" name="Google Shape;1403;p22"/>
          <p:cNvSpPr/>
          <p:nvPr/>
        </p:nvSpPr>
        <p:spPr>
          <a:xfrm>
            <a:off x="6557010" y="1459307"/>
            <a:ext cx="4572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404" name="Google Shape;1404;p22"/>
          <p:cNvSpPr/>
          <p:nvPr/>
        </p:nvSpPr>
        <p:spPr>
          <a:xfrm>
            <a:off x="70142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405" name="Google Shape;1405;p22"/>
          <p:cNvSpPr/>
          <p:nvPr/>
        </p:nvSpPr>
        <p:spPr>
          <a:xfrm>
            <a:off x="7242810" y="1459307"/>
            <a:ext cx="3810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406" name="Google Shape;1406;p22"/>
          <p:cNvSpPr/>
          <p:nvPr/>
        </p:nvSpPr>
        <p:spPr>
          <a:xfrm>
            <a:off x="7623810" y="1459307"/>
            <a:ext cx="228600" cy="2286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Arial"/>
                <a:cs typeface="Calibri" panose="020F0502020204030204" pitchFamily="34" charset="0"/>
                <a:sym typeface="Arial"/>
              </a:rPr>
              <a:t> </a:t>
            </a:r>
            <a:endParaRPr>
              <a:latin typeface="Calibri" panose="020F0502020204030204" pitchFamily="34" charset="0"/>
              <a:cs typeface="Calibri" panose="020F0502020204030204" pitchFamily="34" charset="0"/>
            </a:endParaRPr>
          </a:p>
        </p:txBody>
      </p:sp>
      <p:sp>
        <p:nvSpPr>
          <p:cNvPr id="1407" name="Google Shape;1407;p22"/>
          <p:cNvSpPr/>
          <p:nvPr/>
        </p:nvSpPr>
        <p:spPr>
          <a:xfrm>
            <a:off x="3966210" y="1306907"/>
            <a:ext cx="1219200" cy="533400"/>
          </a:xfrm>
          <a:prstGeom prst="roundRect">
            <a:avLst>
              <a:gd name="adj" fmla="val 16667"/>
            </a:avLst>
          </a:prstGeom>
          <a:noFill/>
          <a:ln w="12700" cap="flat" cmpd="sng">
            <a:solidFill>
              <a:srgbClr val="EE463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latin typeface="Calibri" panose="020F0502020204030204" pitchFamily="34" charset="0"/>
                <a:ea typeface="Quattrocento Sans"/>
                <a:cs typeface="Calibri" panose="020F0502020204030204" pitchFamily="34" charset="0"/>
                <a:sym typeface="Quattrocento Sans"/>
              </a:rPr>
              <a:t>transformación</a:t>
            </a:r>
            <a:endParaRPr sz="1200" b="1">
              <a:latin typeface="Calibri" panose="020F0502020204030204" pitchFamily="34" charset="0"/>
              <a:ea typeface="Quattrocento Sans"/>
              <a:cs typeface="Calibri" panose="020F0502020204030204" pitchFamily="34" charset="0"/>
              <a:sym typeface="Quattrocento Sans"/>
            </a:endParaRPr>
          </a:p>
          <a:p>
            <a:pPr marL="0" marR="0" lvl="0" indent="0" algn="ctr" rtl="0">
              <a:spcBef>
                <a:spcPts val="0"/>
              </a:spcBef>
              <a:spcAft>
                <a:spcPts val="0"/>
              </a:spcAft>
              <a:buNone/>
            </a:pPr>
            <a:r>
              <a:rPr lang="en-US" sz="1200" b="1">
                <a:latin typeface="Calibri" panose="020F0502020204030204" pitchFamily="34" charset="0"/>
                <a:ea typeface="Quattrocento Sans"/>
                <a:cs typeface="Calibri" panose="020F0502020204030204" pitchFamily="34" charset="0"/>
                <a:sym typeface="Quattrocento Sans"/>
              </a:rPr>
              <a:t>de llave</a:t>
            </a:r>
            <a:endParaRPr sz="1200" b="1">
              <a:latin typeface="Calibri" panose="020F0502020204030204" pitchFamily="34" charset="0"/>
              <a:ea typeface="Quattrocento Sans"/>
              <a:cs typeface="Calibri" panose="020F0502020204030204" pitchFamily="34" charset="0"/>
              <a:sym typeface="Quattrocento Sans"/>
            </a:endParaRPr>
          </a:p>
        </p:txBody>
      </p:sp>
      <p:sp>
        <p:nvSpPr>
          <p:cNvPr id="1408" name="Google Shape;1408;p22"/>
          <p:cNvSpPr/>
          <p:nvPr/>
        </p:nvSpPr>
        <p:spPr>
          <a:xfrm flipH="1">
            <a:off x="3432810" y="1459307"/>
            <a:ext cx="436563" cy="228600"/>
          </a:xfrm>
          <a:prstGeom prst="leftArrow">
            <a:avLst>
              <a:gd name="adj1" fmla="val 50000"/>
              <a:gd name="adj2" fmla="val 47743"/>
            </a:avLst>
          </a:prstGeom>
          <a:gradFill>
            <a:gsLst>
              <a:gs pos="100000">
                <a:srgbClr val="EE4639"/>
              </a:gs>
              <a:gs pos="0">
                <a:srgbClr val="00B1C2"/>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09" name="Google Shape;1409;p22"/>
          <p:cNvSpPr/>
          <p:nvPr/>
        </p:nvSpPr>
        <p:spPr>
          <a:xfrm flipH="1">
            <a:off x="5261610" y="1459307"/>
            <a:ext cx="436563" cy="228600"/>
          </a:xfrm>
          <a:prstGeom prst="leftArrow">
            <a:avLst>
              <a:gd name="adj1" fmla="val 50000"/>
              <a:gd name="adj2" fmla="val 47743"/>
            </a:avLst>
          </a:prstGeom>
          <a:gradFill>
            <a:gsLst>
              <a:gs pos="100000">
                <a:srgbClr val="EE4639"/>
              </a:gs>
              <a:gs pos="0">
                <a:srgbClr val="00B1C2"/>
              </a:gs>
            </a:gsLst>
            <a:lin ang="0" scaled="0"/>
          </a:gra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10" name="Google Shape;1410;p22"/>
          <p:cNvSpPr txBox="1"/>
          <p:nvPr/>
        </p:nvSpPr>
        <p:spPr>
          <a:xfrm>
            <a:off x="643849" y="2128230"/>
            <a:ext cx="1952073" cy="33855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Calibri" panose="020F0502020204030204" pitchFamily="34" charset="0"/>
                <a:ea typeface="Quattrocento Sans"/>
                <a:cs typeface="Calibri" panose="020F0502020204030204" pitchFamily="34" charset="0"/>
                <a:sym typeface="Quattrocento Sans"/>
              </a:rPr>
              <a:t>llave de producción</a:t>
            </a:r>
            <a:endParaRPr sz="1600">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411" name="Google Shape;1411;p22"/>
          <p:cNvSpPr txBox="1"/>
          <p:nvPr/>
        </p:nvSpPr>
        <p:spPr>
          <a:xfrm>
            <a:off x="4541234" y="2294675"/>
            <a:ext cx="1609031" cy="33855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dirty="0" err="1">
                <a:solidFill>
                  <a:schemeClr val="dk1"/>
                </a:solidFill>
                <a:latin typeface="Calibri" panose="020F0502020204030204" pitchFamily="34" charset="0"/>
                <a:ea typeface="Quattrocento Sans"/>
                <a:cs typeface="Calibri" panose="020F0502020204030204" pitchFamily="34" charset="0"/>
                <a:sym typeface="Quattrocento Sans"/>
              </a:rPr>
              <a:t>llave</a:t>
            </a:r>
            <a:r>
              <a:rPr lang="en-US" sz="1600" dirty="0">
                <a:solidFill>
                  <a:schemeClr val="dk1"/>
                </a:solidFill>
                <a:latin typeface="Calibri" panose="020F0502020204030204" pitchFamily="34" charset="0"/>
                <a:ea typeface="Quattrocento Sans"/>
                <a:cs typeface="Calibri" panose="020F0502020204030204" pitchFamily="34" charset="0"/>
                <a:sym typeface="Quattrocento Sans"/>
              </a:rPr>
              <a:t> </a:t>
            </a:r>
            <a:r>
              <a:rPr lang="en-US" sz="1600" dirty="0" err="1">
                <a:solidFill>
                  <a:schemeClr val="dk1"/>
                </a:solidFill>
                <a:latin typeface="Calibri" panose="020F0502020204030204" pitchFamily="34" charset="0"/>
                <a:ea typeface="Quattrocento Sans"/>
                <a:cs typeface="Calibri" panose="020F0502020204030204" pitchFamily="34" charset="0"/>
                <a:sym typeface="Quattrocento Sans"/>
              </a:rPr>
              <a:t>subrogada</a:t>
            </a:r>
            <a:endParaRPr sz="1600" dirty="0">
              <a:solidFill>
                <a:schemeClr val="dk1"/>
              </a:solidFill>
              <a:latin typeface="Calibri" panose="020F0502020204030204" pitchFamily="34" charset="0"/>
              <a:ea typeface="Quattrocento Sans"/>
              <a:cs typeface="Calibri" panose="020F0502020204030204" pitchFamily="34" charset="0"/>
              <a:sym typeface="Quattrocento Sans"/>
            </a:endParaRPr>
          </a:p>
        </p:txBody>
      </p:sp>
      <p:sp>
        <p:nvSpPr>
          <p:cNvPr id="1412" name="Google Shape;1412;p22"/>
          <p:cNvSpPr/>
          <p:nvPr/>
        </p:nvSpPr>
        <p:spPr>
          <a:xfrm rot="10800000" flipH="1">
            <a:off x="3813810" y="30595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13" name="Google Shape;1413;p22"/>
          <p:cNvSpPr/>
          <p:nvPr/>
        </p:nvSpPr>
        <p:spPr>
          <a:xfrm rot="10800000" flipH="1">
            <a:off x="4271010" y="30595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14" name="Google Shape;1414;p22"/>
          <p:cNvSpPr/>
          <p:nvPr/>
        </p:nvSpPr>
        <p:spPr>
          <a:xfrm rot="10800000" flipH="1">
            <a:off x="3813810" y="32119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15" name="Google Shape;1415;p22"/>
          <p:cNvSpPr/>
          <p:nvPr/>
        </p:nvSpPr>
        <p:spPr>
          <a:xfrm rot="10800000" flipH="1">
            <a:off x="4271010" y="32119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16" name="Google Shape;1416;p22"/>
          <p:cNvSpPr/>
          <p:nvPr/>
        </p:nvSpPr>
        <p:spPr>
          <a:xfrm rot="10800000" flipH="1">
            <a:off x="3813810" y="33643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17" name="Google Shape;1417;p22"/>
          <p:cNvSpPr/>
          <p:nvPr/>
        </p:nvSpPr>
        <p:spPr>
          <a:xfrm rot="10800000" flipH="1">
            <a:off x="4271010" y="33643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18" name="Google Shape;1418;p22"/>
          <p:cNvSpPr/>
          <p:nvPr/>
        </p:nvSpPr>
        <p:spPr>
          <a:xfrm rot="10800000" flipH="1">
            <a:off x="3813810" y="35167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19" name="Google Shape;1419;p22"/>
          <p:cNvSpPr/>
          <p:nvPr/>
        </p:nvSpPr>
        <p:spPr>
          <a:xfrm rot="10800000" flipH="1">
            <a:off x="4271010" y="35167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20" name="Google Shape;1420;p22"/>
          <p:cNvSpPr/>
          <p:nvPr/>
        </p:nvSpPr>
        <p:spPr>
          <a:xfrm rot="10800000" flipH="1">
            <a:off x="3813810" y="36691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21" name="Google Shape;1421;p22"/>
          <p:cNvSpPr/>
          <p:nvPr/>
        </p:nvSpPr>
        <p:spPr>
          <a:xfrm rot="10800000" flipH="1">
            <a:off x="4271010" y="36691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22" name="Google Shape;1422;p22"/>
          <p:cNvSpPr/>
          <p:nvPr/>
        </p:nvSpPr>
        <p:spPr>
          <a:xfrm rot="10800000" flipH="1">
            <a:off x="3813810" y="38215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23" name="Google Shape;1423;p22"/>
          <p:cNvSpPr/>
          <p:nvPr/>
        </p:nvSpPr>
        <p:spPr>
          <a:xfrm rot="10800000" flipH="1">
            <a:off x="4271010" y="3821507"/>
            <a:ext cx="457200" cy="1524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24" name="Google Shape;1424;p22"/>
          <p:cNvSpPr txBox="1"/>
          <p:nvPr/>
        </p:nvSpPr>
        <p:spPr>
          <a:xfrm>
            <a:off x="3604260" y="2661015"/>
            <a:ext cx="808235" cy="40011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llave de</a:t>
            </a:r>
            <a:endParaRPr>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produccion</a:t>
            </a:r>
            <a:endParaRPr sz="1000">
              <a:solidFill>
                <a:schemeClr val="dk1"/>
              </a:solidFill>
              <a:latin typeface="Calibri" panose="020F0502020204030204" pitchFamily="34" charset="0"/>
              <a:ea typeface="Arial"/>
              <a:cs typeface="Calibri" panose="020F0502020204030204" pitchFamily="34" charset="0"/>
              <a:sym typeface="Arial"/>
            </a:endParaRPr>
          </a:p>
        </p:txBody>
      </p:sp>
      <p:sp>
        <p:nvSpPr>
          <p:cNvPr id="1425" name="Google Shape;1425;p22"/>
          <p:cNvSpPr txBox="1"/>
          <p:nvPr/>
        </p:nvSpPr>
        <p:spPr>
          <a:xfrm>
            <a:off x="4347210" y="2661015"/>
            <a:ext cx="785793" cy="40011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llave</a:t>
            </a:r>
            <a:endParaRPr sz="1000">
              <a:solidFill>
                <a:schemeClr val="dk1"/>
              </a:solidFill>
              <a:latin typeface="Calibri" panose="020F0502020204030204" pitchFamily="34" charset="0"/>
              <a:ea typeface="Arial"/>
              <a:cs typeface="Calibri" panose="020F0502020204030204" pitchFamily="34" charset="0"/>
              <a:sym typeface="Arial"/>
            </a:endParaRPr>
          </a:p>
          <a:p>
            <a:pPr marL="0" marR="0" lvl="0" indent="0" algn="l" rtl="0">
              <a:spcBef>
                <a:spcPts val="0"/>
              </a:spcBef>
              <a:spcAft>
                <a:spcPts val="0"/>
              </a:spcAft>
              <a:buNone/>
            </a:pPr>
            <a:r>
              <a:rPr lang="en-US" sz="1000">
                <a:solidFill>
                  <a:schemeClr val="dk1"/>
                </a:solidFill>
                <a:latin typeface="Calibri" panose="020F0502020204030204" pitchFamily="34" charset="0"/>
                <a:ea typeface="Arial"/>
                <a:cs typeface="Calibri" panose="020F0502020204030204" pitchFamily="34" charset="0"/>
                <a:sym typeface="Arial"/>
              </a:rPr>
              <a:t>subrogada</a:t>
            </a:r>
            <a:endParaRPr sz="1000">
              <a:solidFill>
                <a:schemeClr val="dk1"/>
              </a:solidFill>
              <a:latin typeface="Calibri" panose="020F0502020204030204" pitchFamily="34" charset="0"/>
              <a:ea typeface="Arial"/>
              <a:cs typeface="Calibri" panose="020F0502020204030204" pitchFamily="34" charset="0"/>
              <a:sym typeface="Arial"/>
            </a:endParaRPr>
          </a:p>
        </p:txBody>
      </p:sp>
      <p:sp>
        <p:nvSpPr>
          <p:cNvPr id="1426" name="Google Shape;1426;p22"/>
          <p:cNvSpPr txBox="1"/>
          <p:nvPr/>
        </p:nvSpPr>
        <p:spPr>
          <a:xfrm>
            <a:off x="3688978" y="4068096"/>
            <a:ext cx="1178528" cy="30777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400">
                <a:solidFill>
                  <a:schemeClr val="dk1"/>
                </a:solidFill>
                <a:latin typeface="Calibri" panose="020F0502020204030204" pitchFamily="34" charset="0"/>
                <a:ea typeface="Quattrocento Sans"/>
                <a:cs typeface="Calibri" panose="020F0502020204030204" pitchFamily="34" charset="0"/>
                <a:sym typeface="Quattrocento Sans"/>
              </a:rPr>
              <a:t>tabla lookup</a:t>
            </a:r>
            <a:endParaRPr>
              <a:latin typeface="Calibri" panose="020F0502020204030204" pitchFamily="34" charset="0"/>
              <a:cs typeface="Calibri" panose="020F0502020204030204" pitchFamily="34" charset="0"/>
            </a:endParaRPr>
          </a:p>
        </p:txBody>
      </p:sp>
      <p:cxnSp>
        <p:nvCxnSpPr>
          <p:cNvPr id="1427" name="Google Shape;1427;p22"/>
          <p:cNvCxnSpPr/>
          <p:nvPr/>
        </p:nvCxnSpPr>
        <p:spPr>
          <a:xfrm>
            <a:off x="4347210" y="1916507"/>
            <a:ext cx="0" cy="914400"/>
          </a:xfrm>
          <a:prstGeom prst="straightConnector1">
            <a:avLst/>
          </a:prstGeom>
          <a:noFill/>
          <a:ln w="12700" cap="flat" cmpd="sng">
            <a:solidFill>
              <a:schemeClr val="dk1"/>
            </a:solidFill>
            <a:prstDash val="solid"/>
            <a:round/>
            <a:headEnd type="triangle" w="med" len="med"/>
            <a:tailEnd type="none" w="med" len="med"/>
          </a:ln>
        </p:spPr>
      </p:cxnSp>
      <p:sp>
        <p:nvSpPr>
          <p:cNvPr id="1428" name="Google Shape;1428;p22"/>
          <p:cNvSpPr/>
          <p:nvPr/>
        </p:nvSpPr>
        <p:spPr>
          <a:xfrm>
            <a:off x="1146810" y="1764107"/>
            <a:ext cx="685800" cy="304800"/>
          </a:xfrm>
          <a:custGeom>
            <a:avLst/>
            <a:gdLst/>
            <a:ahLst/>
            <a:cxnLst/>
            <a:rect l="l" t="t" r="r" b="b"/>
            <a:pathLst>
              <a:path w="432" h="192" extrusionOk="0">
                <a:moveTo>
                  <a:pt x="0" y="192"/>
                </a:moveTo>
                <a:cubicBezTo>
                  <a:pt x="56" y="148"/>
                  <a:pt x="112" y="104"/>
                  <a:pt x="144" y="96"/>
                </a:cubicBezTo>
                <a:cubicBezTo>
                  <a:pt x="176" y="88"/>
                  <a:pt x="144" y="160"/>
                  <a:pt x="192" y="144"/>
                </a:cubicBezTo>
                <a:cubicBezTo>
                  <a:pt x="240" y="128"/>
                  <a:pt x="336" y="64"/>
                  <a:pt x="432"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29" name="Google Shape;1429;p22"/>
          <p:cNvSpPr/>
          <p:nvPr/>
        </p:nvSpPr>
        <p:spPr>
          <a:xfrm>
            <a:off x="5337810" y="1764107"/>
            <a:ext cx="609600" cy="533400"/>
          </a:xfrm>
          <a:custGeom>
            <a:avLst/>
            <a:gdLst/>
            <a:ahLst/>
            <a:cxnLst/>
            <a:rect l="l" t="t" r="r" b="b"/>
            <a:pathLst>
              <a:path w="384" h="336" extrusionOk="0">
                <a:moveTo>
                  <a:pt x="0" y="336"/>
                </a:moveTo>
                <a:cubicBezTo>
                  <a:pt x="28" y="232"/>
                  <a:pt x="56" y="128"/>
                  <a:pt x="96" y="96"/>
                </a:cubicBezTo>
                <a:cubicBezTo>
                  <a:pt x="136" y="64"/>
                  <a:pt x="192" y="160"/>
                  <a:pt x="240" y="144"/>
                </a:cubicBezTo>
                <a:cubicBezTo>
                  <a:pt x="288" y="128"/>
                  <a:pt x="336" y="64"/>
                  <a:pt x="384" y="0"/>
                </a:cubicBezTo>
              </a:path>
            </a:pathLst>
          </a:cu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panose="020F0502020204030204" pitchFamily="34" charset="0"/>
              <a:ea typeface="Calibri"/>
              <a:cs typeface="Calibri" panose="020F0502020204030204" pitchFamily="34" charset="0"/>
              <a:sym typeface="Calibri"/>
            </a:endParaRPr>
          </a:p>
        </p:txBody>
      </p:sp>
      <p:sp>
        <p:nvSpPr>
          <p:cNvPr id="1430" name="Google Shape;1430;p22"/>
          <p:cNvSpPr txBox="1"/>
          <p:nvPr/>
        </p:nvSpPr>
        <p:spPr>
          <a:xfrm>
            <a:off x="5698173" y="1068334"/>
            <a:ext cx="2628900"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600">
                <a:solidFill>
                  <a:schemeClr val="dk1"/>
                </a:solidFill>
                <a:latin typeface="Calibri"/>
                <a:ea typeface="Calibri"/>
                <a:cs typeface="Calibri"/>
                <a:sym typeface="Calibri"/>
              </a:rPr>
              <a:t>Registros de la dimensión</a:t>
            </a:r>
            <a:endParaRPr sz="1600">
              <a:solidFill>
                <a:schemeClr val="dk1"/>
              </a:solidFill>
              <a:latin typeface="Calibri"/>
              <a:ea typeface="Calibri"/>
              <a:cs typeface="Calibri"/>
              <a:sym typeface="Calibri"/>
            </a:endParaRPr>
          </a:p>
        </p:txBody>
      </p:sp>
      <p:sp>
        <p:nvSpPr>
          <p:cNvPr id="1433" name="Google Shape;1433;p22"/>
          <p:cNvSpPr txBox="1"/>
          <p:nvPr/>
        </p:nvSpPr>
        <p:spPr>
          <a:xfrm>
            <a:off x="505569" y="921815"/>
            <a:ext cx="2777282"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a:solidFill>
                  <a:schemeClr val="dk1"/>
                </a:solidFill>
                <a:latin typeface="Calibri"/>
                <a:ea typeface="Calibri"/>
                <a:cs typeface="Calibri"/>
                <a:sym typeface="Calibri"/>
              </a:rPr>
              <a:t>ASIGNACIÓN DE LLAVES</a:t>
            </a:r>
            <a:endParaRPr sz="1600" b="1" dirty="0">
              <a:solidFill>
                <a:schemeClr val="dk1"/>
              </a:solidFill>
              <a:latin typeface="Calibri"/>
              <a:ea typeface="Calibri"/>
              <a:cs typeface="Calibri"/>
              <a:sym typeface="Calibri"/>
            </a:endParaRPr>
          </a:p>
        </p:txBody>
      </p:sp>
      <p:sp>
        <p:nvSpPr>
          <p:cNvPr id="2" name="Rectangle 5">
            <a:extLst>
              <a:ext uri="{FF2B5EF4-FFF2-40B4-BE49-F238E27FC236}">
                <a16:creationId xmlns:a16="http://schemas.microsoft.com/office/drawing/2014/main" id="{518EE2BC-9A2D-0051-AF73-C73B59A4D21C}"/>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TRANSFORMACIÓN DE DATOS</a:t>
            </a:r>
            <a:endParaRPr lang="es-PE" sz="1000" dirty="0">
              <a:solidFill>
                <a:schemeClr val="bg1">
                  <a:lumMod val="65000"/>
                </a:schemeClr>
              </a:solidFill>
              <a:latin typeface="Calibri" charset="0"/>
              <a:cs typeface="Calibri" charset="0"/>
            </a:endParaRPr>
          </a:p>
        </p:txBody>
      </p:sp>
      <p:sp>
        <p:nvSpPr>
          <p:cNvPr id="3" name="Rectángulo redondeado 2">
            <a:extLst>
              <a:ext uri="{FF2B5EF4-FFF2-40B4-BE49-F238E27FC236}">
                <a16:creationId xmlns:a16="http://schemas.microsoft.com/office/drawing/2014/main" id="{76BB75D4-9F21-4190-4FFB-D1E6E7CCF0AB}"/>
              </a:ext>
            </a:extLst>
          </p:cNvPr>
          <p:cNvSpPr/>
          <p:nvPr/>
        </p:nvSpPr>
        <p:spPr>
          <a:xfrm>
            <a:off x="1515977" y="4536011"/>
            <a:ext cx="6112046" cy="614474"/>
          </a:xfrm>
          <a:prstGeom prst="roundRect">
            <a:avLst>
              <a:gd name="adj" fmla="val 16978"/>
            </a:avLst>
          </a:prstGeom>
          <a:solidFill>
            <a:srgbClr val="D1EFF4"/>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algn="l" rtl="0">
              <a:spcBef>
                <a:spcPts val="0"/>
              </a:spcBef>
              <a:spcAft>
                <a:spcPts val="0"/>
              </a:spcAft>
              <a:buNone/>
            </a:pPr>
            <a:r>
              <a:rPr lang="es-ES_tradnl" sz="1400" dirty="0">
                <a:solidFill>
                  <a:schemeClr val="dk1"/>
                </a:solidFill>
                <a:latin typeface="Calibri" panose="020F0502020204030204" pitchFamily="34" charset="0"/>
                <a:ea typeface="Quattrocento Sans"/>
                <a:cs typeface="Calibri" panose="020F0502020204030204" pitchFamily="34" charset="0"/>
                <a:sym typeface="Quattrocento Sans"/>
              </a:rPr>
              <a:t>Llave subrogada: identificador único en una tabla, y que no tiene ningún significado para el negocio. Su objetivo es diferenciar a un registro de los otros.</a:t>
            </a:r>
            <a:endParaRPr lang="es-ES_tradnl" sz="1400" dirty="0">
              <a:latin typeface="Calibri" panose="020F0502020204030204" pitchFamily="34" charset="0"/>
              <a:cs typeface="Calibri" panose="020F0502020204030204" pitchFamily="34" charset="0"/>
            </a:endParaRPr>
          </a:p>
        </p:txBody>
      </p:sp>
      <p:sp>
        <p:nvSpPr>
          <p:cNvPr id="4" name="Rectángulo redondeado 3">
            <a:extLst>
              <a:ext uri="{FF2B5EF4-FFF2-40B4-BE49-F238E27FC236}">
                <a16:creationId xmlns:a16="http://schemas.microsoft.com/office/drawing/2014/main" id="{82266BED-0C6C-0FAA-1808-428209BA52DC}"/>
              </a:ext>
            </a:extLst>
          </p:cNvPr>
          <p:cNvSpPr/>
          <p:nvPr/>
        </p:nvSpPr>
        <p:spPr>
          <a:xfrm>
            <a:off x="5610456" y="2904274"/>
            <a:ext cx="2832208" cy="1179509"/>
          </a:xfrm>
          <a:prstGeom prst="roundRect">
            <a:avLst>
              <a:gd name="adj" fmla="val 9428"/>
            </a:avLst>
          </a:prstGeom>
          <a:solidFill>
            <a:srgbClr val="00B1C2"/>
          </a:solid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marL="0" marR="0" lvl="0" indent="0" rtl="0">
              <a:spcBef>
                <a:spcPts val="0"/>
              </a:spcBef>
              <a:spcAft>
                <a:spcPts val="0"/>
              </a:spcAft>
              <a:buNone/>
            </a:pPr>
            <a:r>
              <a:rPr lang="es-ES_tradnl" sz="1400">
                <a:solidFill>
                  <a:schemeClr val="bg1"/>
                </a:solidFill>
                <a:latin typeface="Calibri" panose="020F0502020204030204" pitchFamily="34" charset="0"/>
                <a:ea typeface="Quattrocento Sans"/>
                <a:cs typeface="Calibri" panose="020F0502020204030204" pitchFamily="34" charset="0"/>
                <a:sym typeface="Quattrocento Sans"/>
              </a:rPr>
              <a:t>Las llaves subrogadas son creadas antes de cargar los registros a la tabla de hechos y las dimensiones en el data warehouse. </a:t>
            </a:r>
            <a:endParaRPr lang="es-ES_tradnl" sz="1400">
              <a:solidFill>
                <a:schemeClr val="bg1"/>
              </a:solidFill>
              <a:latin typeface="Calibri" panose="020F0502020204030204" pitchFamily="34" charset="0"/>
              <a:cs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8" name="CuadroTexto 17">
            <a:extLst>
              <a:ext uri="{FF2B5EF4-FFF2-40B4-BE49-F238E27FC236}">
                <a16:creationId xmlns:a16="http://schemas.microsoft.com/office/drawing/2014/main" id="{F58EABDC-EE9F-6D4B-8493-73E3A05BE100}"/>
              </a:ext>
            </a:extLst>
          </p:cNvPr>
          <p:cNvSpPr txBox="1"/>
          <p:nvPr/>
        </p:nvSpPr>
        <p:spPr>
          <a:xfrm>
            <a:off x="1008063" y="3169972"/>
            <a:ext cx="5122394" cy="387798"/>
          </a:xfrm>
          <a:prstGeom prst="rect">
            <a:avLst/>
          </a:prstGeom>
          <a:noFill/>
        </p:spPr>
        <p:txBody>
          <a:bodyPr wrap="square" lIns="0" tIns="0" rIns="0" bIns="0" rtlCol="0">
            <a:spAutoFit/>
          </a:bodyPr>
          <a:lstStyle/>
          <a:p>
            <a:pPr>
              <a:lnSpc>
                <a:spcPct val="90000"/>
              </a:lnSpc>
              <a:spcBef>
                <a:spcPts val="1000"/>
              </a:spcBef>
              <a:defRPr/>
            </a:pPr>
            <a:r>
              <a:rPr lang="en-US" sz="2800" b="1" dirty="0">
                <a:solidFill>
                  <a:schemeClr val="bg1"/>
                </a:solidFill>
                <a:latin typeface="Graphik Bold" panose="020B0503030202060203" pitchFamily="34" charset="77"/>
                <a:sym typeface="Calibri"/>
              </a:rPr>
              <a:t>CARGA DE DATOS</a:t>
            </a:r>
            <a:endParaRPr lang="en-US" sz="2800" b="1" dirty="0">
              <a:solidFill>
                <a:schemeClr val="bg1"/>
              </a:solidFill>
              <a:latin typeface="Graphik Bold" panose="020B0503030202060203" pitchFamily="34" charset="77"/>
            </a:endParaRPr>
          </a:p>
        </p:txBody>
      </p:sp>
      <p:pic>
        <p:nvPicPr>
          <p:cNvPr id="19" name="Imagen 18">
            <a:extLst>
              <a:ext uri="{FF2B5EF4-FFF2-40B4-BE49-F238E27FC236}">
                <a16:creationId xmlns:a16="http://schemas.microsoft.com/office/drawing/2014/main" id="{2E011318-DF6A-E443-82C0-13421C5F2D5E}"/>
              </a:ext>
            </a:extLst>
          </p:cNvPr>
          <p:cNvPicPr>
            <a:picLocks noChangeAspect="1"/>
          </p:cNvPicPr>
          <p:nvPr/>
        </p:nvPicPr>
        <p:blipFill>
          <a:blip r:embed="rId3"/>
          <a:stretch>
            <a:fillRect/>
          </a:stretch>
        </p:blipFill>
        <p:spPr>
          <a:xfrm>
            <a:off x="1008063" y="2869612"/>
            <a:ext cx="195423" cy="201256"/>
          </a:xfrm>
          <a:prstGeom prst="rect">
            <a:avLst/>
          </a:prstGeom>
        </p:spPr>
      </p:pic>
    </p:spTree>
    <p:extLst>
      <p:ext uri="{BB962C8B-B14F-4D97-AF65-F5344CB8AC3E}">
        <p14:creationId xmlns:p14="http://schemas.microsoft.com/office/powerpoint/2010/main" val="873761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7" name="Google Shape;1447;p24"/>
          <p:cNvSpPr txBox="1"/>
          <p:nvPr/>
        </p:nvSpPr>
        <p:spPr>
          <a:xfrm>
            <a:off x="503238" y="912813"/>
            <a:ext cx="8054836" cy="4185761"/>
          </a:xfrm>
          <a:prstGeom prst="rect">
            <a:avLst/>
          </a:prstGeom>
          <a:noFill/>
          <a:ln>
            <a:noFill/>
          </a:ln>
        </p:spPr>
        <p:txBody>
          <a:bodyPr spcFirstLastPara="1" wrap="square" lIns="0" tIns="0" rIns="0" bIns="0" anchor="t" anchorCtr="0">
            <a:spAutoFit/>
          </a:bodyPr>
          <a:lstStyle/>
          <a:p>
            <a:pPr marL="179998" marR="0" lvl="0" indent="-168274" rtl="0">
              <a:spcBef>
                <a:spcPts val="0"/>
              </a:spcBef>
              <a:spcAft>
                <a:spcPts val="0"/>
              </a:spcAft>
              <a:buClr>
                <a:srgbClr val="262626"/>
              </a:buClr>
              <a:buSzPts val="1600"/>
              <a:buFont typeface="Arial"/>
              <a:buChar char="•"/>
            </a:pPr>
            <a:r>
              <a:rPr lang="es-ES_tradnl" sz="1600" dirty="0">
                <a:solidFill>
                  <a:srgbClr val="262626"/>
                </a:solidFill>
                <a:latin typeface="Calibri" panose="020F0502020204030204" pitchFamily="34" charset="0"/>
                <a:ea typeface="Calibri"/>
                <a:cs typeface="Calibri" panose="020F0502020204030204" pitchFamily="34" charset="0"/>
                <a:sym typeface="Calibri"/>
              </a:rPr>
              <a:t>La última fase del proceso ETL es la </a:t>
            </a:r>
            <a:r>
              <a:rPr lang="es-ES_tradnl" sz="1600" b="1" dirty="0">
                <a:solidFill>
                  <a:srgbClr val="00B1C2"/>
                </a:solidFill>
                <a:latin typeface="Calibri" panose="020F0502020204030204" pitchFamily="34" charset="0"/>
                <a:ea typeface="Calibri"/>
                <a:cs typeface="Calibri" panose="020F0502020204030204" pitchFamily="34" charset="0"/>
                <a:sym typeface="Calibri"/>
              </a:rPr>
              <a:t>carga</a:t>
            </a:r>
            <a:r>
              <a:rPr lang="es-ES_tradnl" sz="1600" dirty="0">
                <a:solidFill>
                  <a:srgbClr val="00B1C2"/>
                </a:solidFill>
                <a:latin typeface="Calibri" panose="020F0502020204030204" pitchFamily="34" charset="0"/>
                <a:ea typeface="Calibri"/>
                <a:cs typeface="Calibri" panose="020F0502020204030204" pitchFamily="34" charset="0"/>
                <a:sym typeface="Calibri"/>
              </a:rPr>
              <a:t> </a:t>
            </a:r>
            <a:r>
              <a:rPr lang="es-ES_tradnl" sz="1600" dirty="0">
                <a:solidFill>
                  <a:srgbClr val="262626"/>
                </a:solidFill>
                <a:latin typeface="Calibri" panose="020F0502020204030204" pitchFamily="34" charset="0"/>
                <a:ea typeface="Calibri"/>
                <a:cs typeface="Calibri" panose="020F0502020204030204" pitchFamily="34" charset="0"/>
                <a:sym typeface="Calibri"/>
              </a:rPr>
              <a:t>de los datos obtenidos en la fase de </a:t>
            </a:r>
            <a:r>
              <a:rPr lang="es-ES_tradnl" sz="1600" b="1" dirty="0">
                <a:solidFill>
                  <a:srgbClr val="00B1C2"/>
                </a:solidFill>
                <a:latin typeface="Calibri" panose="020F0502020204030204" pitchFamily="34" charset="0"/>
                <a:ea typeface="Calibri"/>
                <a:cs typeface="Calibri" panose="020F0502020204030204" pitchFamily="34" charset="0"/>
                <a:sym typeface="Calibri"/>
              </a:rPr>
              <a:t>transformación</a:t>
            </a:r>
            <a:r>
              <a:rPr lang="es-ES_tradnl" sz="1600" dirty="0">
                <a:solidFill>
                  <a:srgbClr val="00B1C2"/>
                </a:solidFill>
                <a:latin typeface="Calibri" panose="020F0502020204030204" pitchFamily="34" charset="0"/>
                <a:ea typeface="Calibri"/>
                <a:cs typeface="Calibri" panose="020F0502020204030204" pitchFamily="34" charset="0"/>
                <a:sym typeface="Calibri"/>
              </a:rPr>
              <a:t> </a:t>
            </a:r>
            <a:r>
              <a:rPr lang="es-ES_tradnl" sz="1600" dirty="0">
                <a:solidFill>
                  <a:srgbClr val="262626"/>
                </a:solidFill>
                <a:latin typeface="Calibri" panose="020F0502020204030204" pitchFamily="34" charset="0"/>
                <a:ea typeface="Calibri"/>
                <a:cs typeface="Calibri" panose="020F0502020204030204" pitchFamily="34" charset="0"/>
                <a:sym typeface="Calibri"/>
              </a:rPr>
              <a:t>en el data </a:t>
            </a:r>
            <a:r>
              <a:rPr lang="es-ES_tradnl" sz="1600" dirty="0" err="1">
                <a:solidFill>
                  <a:srgbClr val="262626"/>
                </a:solidFill>
                <a:latin typeface="Calibri" panose="020F0502020204030204" pitchFamily="34" charset="0"/>
                <a:ea typeface="Calibri"/>
                <a:cs typeface="Calibri" panose="020F0502020204030204" pitchFamily="34" charset="0"/>
                <a:sym typeface="Calibri"/>
              </a:rPr>
              <a:t>warehouse</a:t>
            </a:r>
            <a:r>
              <a:rPr lang="es-ES_tradnl" sz="1600" dirty="0">
                <a:solidFill>
                  <a:srgbClr val="262626"/>
                </a:solidFill>
                <a:latin typeface="Calibri" panose="020F0502020204030204" pitchFamily="34" charset="0"/>
                <a:ea typeface="Calibri"/>
                <a:cs typeface="Calibri" panose="020F0502020204030204" pitchFamily="34" charset="0"/>
                <a:sym typeface="Calibri"/>
              </a:rPr>
              <a:t> (o data </a:t>
            </a:r>
            <a:r>
              <a:rPr lang="es-ES_tradnl" sz="1600" dirty="0" err="1">
                <a:solidFill>
                  <a:srgbClr val="262626"/>
                </a:solidFill>
                <a:latin typeface="Calibri" panose="020F0502020204030204" pitchFamily="34" charset="0"/>
                <a:ea typeface="Calibri"/>
                <a:cs typeface="Calibri" panose="020F0502020204030204" pitchFamily="34" charset="0"/>
                <a:sym typeface="Calibri"/>
              </a:rPr>
              <a:t>mart</a:t>
            </a:r>
            <a:r>
              <a:rPr lang="es-ES_tradnl" sz="1600" dirty="0">
                <a:solidFill>
                  <a:srgbClr val="262626"/>
                </a:solidFill>
                <a:latin typeface="Calibri" panose="020F0502020204030204" pitchFamily="34" charset="0"/>
                <a:ea typeface="Calibri"/>
                <a:cs typeface="Calibri" panose="020F0502020204030204" pitchFamily="34" charset="0"/>
                <a:sym typeface="Calibri"/>
              </a:rPr>
              <a:t>).</a:t>
            </a:r>
            <a:endParaRPr lang="es-ES_tradnl" sz="1600" dirty="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dirty="0">
              <a:solidFill>
                <a:srgbClr val="262626"/>
              </a:solidFill>
              <a:latin typeface="Calibri" panose="020F0502020204030204" pitchFamily="34" charset="0"/>
              <a:ea typeface="Calibri"/>
              <a:cs typeface="Calibri" panose="020F0502020204030204" pitchFamily="34" charset="0"/>
              <a:sym typeface="Calibri"/>
            </a:endParaRPr>
          </a:p>
          <a:p>
            <a:pPr marL="179998" marR="0" lvl="0" indent="-168274" rtl="0">
              <a:spcBef>
                <a:spcPts val="0"/>
              </a:spcBef>
              <a:spcAft>
                <a:spcPts val="0"/>
              </a:spcAft>
              <a:buClr>
                <a:srgbClr val="262626"/>
              </a:buClr>
              <a:buSzPts val="1600"/>
              <a:buFont typeface="Arial"/>
              <a:buChar char="•"/>
            </a:pPr>
            <a:r>
              <a:rPr lang="es-ES_tradnl" sz="1600" dirty="0">
                <a:solidFill>
                  <a:srgbClr val="262626"/>
                </a:solidFill>
                <a:latin typeface="Calibri" panose="020F0502020204030204" pitchFamily="34" charset="0"/>
                <a:ea typeface="Calibri"/>
                <a:cs typeface="Calibri" panose="020F0502020204030204" pitchFamily="34" charset="0"/>
                <a:sym typeface="Calibri"/>
              </a:rPr>
              <a:t>La carga se puede ejecutar de dos maneras:</a:t>
            </a:r>
            <a:endParaRPr lang="es-ES_tradnl" sz="1600" dirty="0">
              <a:latin typeface="Calibri" panose="020F0502020204030204" pitchFamily="34" charset="0"/>
              <a:cs typeface="Calibri" panose="020F0502020204030204" pitchFamily="34" charset="0"/>
            </a:endParaRPr>
          </a:p>
          <a:p>
            <a:pPr marL="179998" marR="0" lvl="0" indent="-66674" rtl="0">
              <a:spcBef>
                <a:spcPts val="0"/>
              </a:spcBef>
              <a:spcAft>
                <a:spcPts val="0"/>
              </a:spcAft>
              <a:buClr>
                <a:schemeClr val="dk1"/>
              </a:buClr>
              <a:buSzPts val="1600"/>
              <a:buFont typeface="Arial"/>
              <a:buNone/>
            </a:pPr>
            <a:endParaRPr lang="es-ES_tradnl" sz="1600" dirty="0">
              <a:solidFill>
                <a:srgbClr val="262626"/>
              </a:solidFill>
              <a:latin typeface="Calibri" panose="020F0502020204030204" pitchFamily="34" charset="0"/>
              <a:ea typeface="Calibri"/>
              <a:cs typeface="Calibri" panose="020F0502020204030204" pitchFamily="34" charset="0"/>
              <a:sym typeface="Calibri"/>
            </a:endParaRPr>
          </a:p>
          <a:p>
            <a:pPr marL="360363" marR="0" lvl="1" indent="-176213" rtl="0">
              <a:spcBef>
                <a:spcPts val="0"/>
              </a:spcBef>
              <a:spcAft>
                <a:spcPts val="0"/>
              </a:spcAft>
              <a:buClr>
                <a:srgbClr val="00B1C2"/>
              </a:buClr>
              <a:buSzPts val="1600"/>
              <a:buFont typeface="Arial"/>
              <a:buChar char="•"/>
            </a:pPr>
            <a:r>
              <a:rPr lang="es-ES_tradnl" sz="1600" b="1" i="0" u="none" strike="noStrike" cap="none" dirty="0">
                <a:solidFill>
                  <a:srgbClr val="00B1C2"/>
                </a:solidFill>
                <a:latin typeface="Calibri" panose="020F0502020204030204" pitchFamily="34" charset="0"/>
                <a:ea typeface="Calibri"/>
                <a:cs typeface="Calibri" panose="020F0502020204030204" pitchFamily="34" charset="0"/>
                <a:sym typeface="Calibri"/>
              </a:rPr>
              <a:t>Inserción por lotes</a:t>
            </a:r>
            <a:r>
              <a:rPr lang="es-ES_tradnl" sz="1600" b="0" i="0" u="none" strike="noStrike" cap="none" dirty="0">
                <a:solidFill>
                  <a:srgbClr val="262626"/>
                </a:solidFill>
                <a:latin typeface="Calibri" panose="020F0502020204030204" pitchFamily="34" charset="0"/>
                <a:ea typeface="Calibri"/>
                <a:cs typeface="Calibri" panose="020F0502020204030204" pitchFamily="34" charset="0"/>
                <a:sym typeface="Calibri"/>
              </a:rPr>
              <a:t>: los datos a cargar se van acumulando en un gran bloque de datos (lote). El lote de datos se inserta en una única operación. Tiene el inconveniente de que si por algún motivo el proceso de carga se interrumpe, se pierde la consistencia de los datos, por lo que puede ser necesario repetir el proceso de carga. En esta modalidad el tiempo de carga es menor a costa de la pérdida de consistencia ante una falla del sistema.</a:t>
            </a:r>
            <a:endParaRPr lang="es-ES_tradnl" sz="1600" dirty="0">
              <a:latin typeface="Calibri" panose="020F0502020204030204" pitchFamily="34" charset="0"/>
              <a:cs typeface="Calibri" panose="020F0502020204030204" pitchFamily="34" charset="0"/>
            </a:endParaRPr>
          </a:p>
          <a:p>
            <a:pPr marL="360363" marR="0" lvl="0" indent="-176213" rtl="0">
              <a:spcBef>
                <a:spcPts val="0"/>
              </a:spcBef>
              <a:spcAft>
                <a:spcPts val="0"/>
              </a:spcAft>
              <a:buClr>
                <a:srgbClr val="00B1C2"/>
              </a:buClr>
              <a:buSzPts val="1600"/>
              <a:buFont typeface="Arial"/>
              <a:buNone/>
            </a:pPr>
            <a:endParaRPr lang="es-ES_tradnl" sz="1600" dirty="0">
              <a:solidFill>
                <a:srgbClr val="262626"/>
              </a:solidFill>
              <a:latin typeface="Calibri" panose="020F0502020204030204" pitchFamily="34" charset="0"/>
              <a:ea typeface="Calibri"/>
              <a:cs typeface="Calibri" panose="020F0502020204030204" pitchFamily="34" charset="0"/>
              <a:sym typeface="Calibri"/>
            </a:endParaRPr>
          </a:p>
          <a:p>
            <a:pPr marL="360363" marR="0" lvl="1" indent="-176213" rtl="0">
              <a:spcBef>
                <a:spcPts val="0"/>
              </a:spcBef>
              <a:spcAft>
                <a:spcPts val="0"/>
              </a:spcAft>
              <a:buClr>
                <a:srgbClr val="00B1C2"/>
              </a:buClr>
              <a:buSzPts val="1600"/>
              <a:buFont typeface="Arial"/>
              <a:buChar char="•"/>
            </a:pPr>
            <a:r>
              <a:rPr lang="es-ES_tradnl" sz="1600" b="1" i="0" u="none" strike="noStrike" cap="none" dirty="0">
                <a:solidFill>
                  <a:srgbClr val="00B1C2"/>
                </a:solidFill>
                <a:latin typeface="Calibri" panose="020F0502020204030204" pitchFamily="34" charset="0"/>
                <a:ea typeface="Calibri"/>
                <a:cs typeface="Calibri" panose="020F0502020204030204" pitchFamily="34" charset="0"/>
                <a:sym typeface="Calibri"/>
              </a:rPr>
              <a:t>Carga incremental</a:t>
            </a:r>
            <a:r>
              <a:rPr lang="es-ES_tradnl" sz="1600" b="0" i="0" u="none" strike="noStrike" cap="none" dirty="0">
                <a:solidFill>
                  <a:srgbClr val="262626"/>
                </a:solidFill>
                <a:latin typeface="Calibri" panose="020F0502020204030204" pitchFamily="34" charset="0"/>
                <a:ea typeface="Calibri"/>
                <a:cs typeface="Calibri" panose="020F0502020204030204" pitchFamily="34" charset="0"/>
                <a:sym typeface="Calibri"/>
              </a:rPr>
              <a:t>: el sistema acumula los datos según un criterio específico; por ejemplo, rango de fechas, cantidad de registros, ubicación geográfica, etc. Esta modalidad permite establecer el punto exacto hasta el que se ejecuta la carga. Por ejemplo, todos los registros de ventas del mes (del día 1 del mes hasta el último día del mes). Si se produjera una interrupción, solo tenemos que retomar la carga en el punto en el que ocurrió la interrupción, que es fácilmente identificable.</a:t>
            </a:r>
            <a:endParaRPr lang="es-ES_tradnl" sz="1600" dirty="0">
              <a:latin typeface="Calibri" panose="020F0502020204030204" pitchFamily="34" charset="0"/>
              <a:cs typeface="Calibri" panose="020F0502020204030204" pitchFamily="34" charset="0"/>
            </a:endParaRPr>
          </a:p>
        </p:txBody>
      </p:sp>
      <p:sp>
        <p:nvSpPr>
          <p:cNvPr id="2" name="Rectangle 5">
            <a:extLst>
              <a:ext uri="{FF2B5EF4-FFF2-40B4-BE49-F238E27FC236}">
                <a16:creationId xmlns:a16="http://schemas.microsoft.com/office/drawing/2014/main" id="{8E2C10A2-E0EA-7259-C0A5-FED7AA8D335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n-US" sz="1000" dirty="0">
                <a:solidFill>
                  <a:schemeClr val="bg1">
                    <a:lumMod val="65000"/>
                  </a:schemeClr>
                </a:solidFill>
                <a:latin typeface="Calibri" charset="0"/>
                <a:cs typeface="Calibri" charset="0"/>
                <a:sym typeface="Calibri"/>
              </a:rPr>
              <a:t>CARGA DE DATOS</a:t>
            </a:r>
            <a:endParaRPr lang="es-PE" sz="1000" dirty="0">
              <a:solidFill>
                <a:schemeClr val="bg1">
                  <a:lumMod val="65000"/>
                </a:schemeClr>
              </a:solidFill>
              <a:latin typeface="Calibri" charset="0"/>
              <a:cs typeface="Calibri"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nvGrpSpPr>
          <p:cNvPr id="4" name="Grupo 3">
            <a:extLst>
              <a:ext uri="{FF2B5EF4-FFF2-40B4-BE49-F238E27FC236}">
                <a16:creationId xmlns:a16="http://schemas.microsoft.com/office/drawing/2014/main" id="{8A495D6D-73E7-D64C-AD5A-8212D6B1E2F3}"/>
              </a:ext>
            </a:extLst>
          </p:cNvPr>
          <p:cNvGrpSpPr/>
          <p:nvPr/>
        </p:nvGrpSpPr>
        <p:grpSpPr>
          <a:xfrm>
            <a:off x="2506315" y="2194222"/>
            <a:ext cx="4581728" cy="1326557"/>
            <a:chOff x="2403187" y="2211377"/>
            <a:chExt cx="4581728" cy="1326557"/>
          </a:xfrm>
        </p:grpSpPr>
        <p:sp>
          <p:nvSpPr>
            <p:cNvPr id="6" name="CuadroTexto 5">
              <a:extLst>
                <a:ext uri="{FF2B5EF4-FFF2-40B4-BE49-F238E27FC236}">
                  <a16:creationId xmlns:a16="http://schemas.microsoft.com/office/drawing/2014/main" id="{682CC9F8-A9FF-BF41-B987-57AFB7D160FE}"/>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8" name="Imagen 7">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10" name="Image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3161235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object 7"/>
          <p:cNvSpPr txBox="1"/>
          <p:nvPr/>
        </p:nvSpPr>
        <p:spPr>
          <a:xfrm>
            <a:off x="1279544" y="912813"/>
            <a:ext cx="5431974" cy="2369880"/>
          </a:xfrm>
          <a:prstGeom prst="rect">
            <a:avLst/>
          </a:prstGeom>
        </p:spPr>
        <p:txBody>
          <a:bodyPr vert="horz" wrap="square" lIns="0" tIns="0" rIns="0" bIns="0" rtlCol="0">
            <a:spAutoFit/>
          </a:bodyPr>
          <a:lstStyle/>
          <a:p>
            <a:pPr marR="0" lvl="0" rtl="0">
              <a:spcBef>
                <a:spcPts val="0"/>
              </a:spcBef>
              <a:spcAft>
                <a:spcPts val="0"/>
              </a:spcAft>
              <a:buClr>
                <a:srgbClr val="FFFFFF"/>
              </a:buClr>
              <a:buSzPts val="1700"/>
            </a:pPr>
            <a:r>
              <a:rPr lang="es-ES_tradnl" sz="1400">
                <a:latin typeface="Calibri" panose="020F0502020204030204" pitchFamily="34" charset="0"/>
                <a:ea typeface="Calibri"/>
                <a:cs typeface="Calibri" panose="020F0502020204030204" pitchFamily="34" charset="0"/>
                <a:sym typeface="Calibri"/>
              </a:rPr>
              <a:t>Los datos de una organización no siempre tienen la calidad requerida para realizar </a:t>
            </a:r>
            <a:r>
              <a:rPr lang="es-ES_tradnl" sz="1400" b="1" u="sng">
                <a:latin typeface="Calibri" panose="020F0502020204030204" pitchFamily="34" charset="0"/>
                <a:ea typeface="Calibri"/>
                <a:cs typeface="Calibri" panose="020F0502020204030204" pitchFamily="34" charset="0"/>
                <a:sym typeface="Calibri"/>
              </a:rPr>
              <a:t>análisis de información</a:t>
            </a:r>
            <a:r>
              <a:rPr lang="es-ES_tradnl" sz="1400">
                <a:latin typeface="Calibri" panose="020F0502020204030204" pitchFamily="34" charset="0"/>
                <a:ea typeface="Calibri"/>
                <a:cs typeface="Calibri" panose="020F0502020204030204" pitchFamily="34" charset="0"/>
                <a:sym typeface="Calibri"/>
              </a:rPr>
              <a:t>, por lo que es necesario someterlos a un proceso de </a:t>
            </a:r>
            <a:r>
              <a:rPr lang="es-ES_tradnl" sz="1400" b="1" u="sng">
                <a:latin typeface="Calibri" panose="020F0502020204030204" pitchFamily="34" charset="0"/>
                <a:ea typeface="Calibri"/>
                <a:cs typeface="Calibri" panose="020F0502020204030204" pitchFamily="34" charset="0"/>
                <a:sym typeface="Calibri"/>
              </a:rPr>
              <a:t>calidad de datos</a:t>
            </a:r>
            <a:r>
              <a:rPr lang="es-ES_tradnl" sz="1400" b="1">
                <a:latin typeface="Calibri" panose="020F0502020204030204" pitchFamily="34" charset="0"/>
                <a:ea typeface="Calibri"/>
                <a:cs typeface="Calibri" panose="020F0502020204030204" pitchFamily="34" charset="0"/>
                <a:sym typeface="Calibri"/>
              </a:rPr>
              <a:t> </a:t>
            </a:r>
            <a:r>
              <a:rPr lang="es-ES_tradnl" sz="1400">
                <a:latin typeface="Calibri" panose="020F0502020204030204" pitchFamily="34" charset="0"/>
                <a:ea typeface="Calibri"/>
                <a:cs typeface="Calibri" panose="020F0502020204030204" pitchFamily="34" charset="0"/>
                <a:sym typeface="Calibri"/>
              </a:rPr>
              <a:t>para estandarizarlos e integrarlos.</a:t>
            </a:r>
            <a:endParaRPr lang="es-ES_tradnl" sz="1400">
              <a:latin typeface="Calibri" panose="020F0502020204030204" pitchFamily="34" charset="0"/>
              <a:cs typeface="Calibri" panose="020F0502020204030204" pitchFamily="34" charset="0"/>
            </a:endParaRPr>
          </a:p>
          <a:p>
            <a:pPr marL="107951" marR="0" lvl="0" rtl="0">
              <a:spcBef>
                <a:spcPts val="0"/>
              </a:spcBef>
              <a:spcAft>
                <a:spcPts val="0"/>
              </a:spcAft>
              <a:buClr>
                <a:schemeClr val="dk1"/>
              </a:buClr>
              <a:buSzPts val="1700"/>
            </a:pPr>
            <a:endParaRPr lang="es-ES_tradnl" sz="1400">
              <a:latin typeface="Calibri" panose="020F0502020204030204" pitchFamily="34" charset="0"/>
              <a:ea typeface="Calibri"/>
              <a:cs typeface="Calibri" panose="020F0502020204030204" pitchFamily="34" charset="0"/>
              <a:sym typeface="Calibri"/>
            </a:endParaRPr>
          </a:p>
          <a:p>
            <a:pPr marR="0" lvl="0" rtl="0">
              <a:spcBef>
                <a:spcPts val="0"/>
              </a:spcBef>
              <a:spcAft>
                <a:spcPts val="0"/>
              </a:spcAft>
              <a:buClr>
                <a:srgbClr val="FFFFFF"/>
              </a:buClr>
              <a:buSzPts val="1700"/>
            </a:pPr>
            <a:r>
              <a:rPr lang="es-ES_tradnl" sz="1400">
                <a:latin typeface="Calibri" panose="020F0502020204030204" pitchFamily="34" charset="0"/>
                <a:ea typeface="Calibri"/>
                <a:cs typeface="Calibri" panose="020F0502020204030204" pitchFamily="34" charset="0"/>
                <a:sym typeface="Calibri"/>
              </a:rPr>
              <a:t>El objetivo de las </a:t>
            </a:r>
            <a:r>
              <a:rPr lang="es-ES_tradnl" sz="1400" b="1" u="sng">
                <a:latin typeface="Calibri" panose="020F0502020204030204" pitchFamily="34" charset="0"/>
                <a:ea typeface="Calibri"/>
                <a:cs typeface="Calibri" panose="020F0502020204030204" pitchFamily="34" charset="0"/>
                <a:sym typeface="Calibri"/>
              </a:rPr>
              <a:t>operaciones ETL</a:t>
            </a:r>
            <a:r>
              <a:rPr lang="es-ES_tradnl" sz="1400">
                <a:latin typeface="Calibri" panose="020F0502020204030204" pitchFamily="34" charset="0"/>
                <a:ea typeface="Calibri"/>
                <a:cs typeface="Calibri" panose="020F0502020204030204" pitchFamily="34" charset="0"/>
                <a:sym typeface="Calibri"/>
              </a:rPr>
              <a:t> es garantizar la </a:t>
            </a:r>
            <a:r>
              <a:rPr lang="es-ES_tradnl" sz="1400" b="1" u="sng">
                <a:latin typeface="Calibri" panose="020F0502020204030204" pitchFamily="34" charset="0"/>
                <a:ea typeface="Calibri"/>
                <a:cs typeface="Calibri" panose="020F0502020204030204" pitchFamily="34" charset="0"/>
                <a:sym typeface="Calibri"/>
              </a:rPr>
              <a:t>calidad de los datos</a:t>
            </a:r>
            <a:r>
              <a:rPr lang="es-ES_tradnl" sz="1400">
                <a:latin typeface="Calibri" panose="020F0502020204030204" pitchFamily="34" charset="0"/>
                <a:ea typeface="Calibri"/>
                <a:cs typeface="Calibri" panose="020F0502020204030204" pitchFamily="34" charset="0"/>
                <a:sym typeface="Calibri"/>
              </a:rPr>
              <a:t> en cuanto a precisión, consistencia y confiabilidad.</a:t>
            </a:r>
            <a:endParaRPr lang="es-ES_tradnl" sz="1400">
              <a:latin typeface="Calibri" panose="020F0502020204030204" pitchFamily="34" charset="0"/>
              <a:cs typeface="Calibri" panose="020F0502020204030204" pitchFamily="34" charset="0"/>
            </a:endParaRPr>
          </a:p>
          <a:p>
            <a:pPr marL="107951" marR="0" lvl="0" rtl="0">
              <a:spcBef>
                <a:spcPts val="0"/>
              </a:spcBef>
              <a:spcAft>
                <a:spcPts val="0"/>
              </a:spcAft>
              <a:buClr>
                <a:schemeClr val="dk1"/>
              </a:buClr>
              <a:buSzPts val="1700"/>
            </a:pPr>
            <a:endParaRPr lang="es-ES_tradnl" sz="1400">
              <a:latin typeface="Calibri" panose="020F0502020204030204" pitchFamily="34" charset="0"/>
              <a:ea typeface="Calibri"/>
              <a:cs typeface="Calibri" panose="020F0502020204030204" pitchFamily="34" charset="0"/>
              <a:sym typeface="Calibri"/>
            </a:endParaRPr>
          </a:p>
          <a:p>
            <a:pPr marR="0" lvl="0" rtl="0">
              <a:spcBef>
                <a:spcPts val="0"/>
              </a:spcBef>
              <a:spcAft>
                <a:spcPts val="0"/>
              </a:spcAft>
              <a:buClr>
                <a:srgbClr val="FFFFFF"/>
              </a:buClr>
              <a:buSzPts val="1700"/>
            </a:pPr>
            <a:r>
              <a:rPr lang="es-ES_tradnl" sz="1400">
                <a:latin typeface="Calibri" panose="020F0502020204030204" pitchFamily="34" charset="0"/>
                <a:ea typeface="Calibri"/>
                <a:cs typeface="Calibri" panose="020F0502020204030204" pitchFamily="34" charset="0"/>
                <a:sym typeface="Calibri"/>
              </a:rPr>
              <a:t>Durante el proceso de extracción de datos se debe identificar </a:t>
            </a:r>
            <a:r>
              <a:rPr lang="es-ES_tradnl" sz="1400" b="1" u="sng">
                <a:latin typeface="Calibri" panose="020F0502020204030204" pitchFamily="34" charset="0"/>
                <a:ea typeface="Calibri"/>
                <a:cs typeface="Calibri" panose="020F0502020204030204" pitchFamily="34" charset="0"/>
                <a:sym typeface="Calibri"/>
              </a:rPr>
              <a:t>qué problemas presentan los datos</a:t>
            </a:r>
            <a:r>
              <a:rPr lang="es-ES_tradnl" sz="1400" u="sng">
                <a:latin typeface="Calibri" panose="020F0502020204030204" pitchFamily="34" charset="0"/>
                <a:ea typeface="Calibri"/>
                <a:cs typeface="Calibri" panose="020F0502020204030204" pitchFamily="34" charset="0"/>
                <a:sym typeface="Calibri"/>
              </a:rPr>
              <a:t>,</a:t>
            </a:r>
            <a:r>
              <a:rPr lang="es-ES_tradnl" sz="1400">
                <a:latin typeface="Calibri" panose="020F0502020204030204" pitchFamily="34" charset="0"/>
                <a:ea typeface="Calibri"/>
                <a:cs typeface="Calibri" panose="020F0502020204030204" pitchFamily="34" charset="0"/>
                <a:sym typeface="Calibri"/>
              </a:rPr>
              <a:t> para luego aplicarles las </a:t>
            </a:r>
            <a:r>
              <a:rPr lang="es-ES_tradnl" sz="1400" b="1" u="sng">
                <a:latin typeface="Calibri" panose="020F0502020204030204" pitchFamily="34" charset="0"/>
                <a:ea typeface="Calibri"/>
                <a:cs typeface="Calibri" panose="020F0502020204030204" pitchFamily="34" charset="0"/>
                <a:sym typeface="Calibri"/>
              </a:rPr>
              <a:t>operaciones de transformación </a:t>
            </a:r>
            <a:r>
              <a:rPr lang="es-ES_tradnl" sz="1400">
                <a:latin typeface="Calibri" panose="020F0502020204030204" pitchFamily="34" charset="0"/>
                <a:ea typeface="Calibri"/>
                <a:cs typeface="Calibri" panose="020F0502020204030204" pitchFamily="34" charset="0"/>
                <a:sym typeface="Calibri"/>
              </a:rPr>
              <a:t>que permiten que los datos sean utilizables para análisis de información.</a:t>
            </a:r>
            <a:endParaRPr lang="es-ES_tradnl" sz="1400">
              <a:latin typeface="Calibri" panose="020F0502020204030204" pitchFamily="34" charset="0"/>
              <a:cs typeface="Calibri" panose="020F0502020204030204" pitchFamily="34" charset="0"/>
            </a:endParaRPr>
          </a:p>
        </p:txBody>
      </p:sp>
      <p:pic>
        <p:nvPicPr>
          <p:cNvPr id="8" name="Imagen 7"/>
          <p:cNvPicPr>
            <a:picLocks noChangeAspect="1"/>
          </p:cNvPicPr>
          <p:nvPr/>
        </p:nvPicPr>
        <p:blipFill>
          <a:blip r:embed="rId3"/>
          <a:stretch>
            <a:fillRect/>
          </a:stretch>
        </p:blipFill>
        <p:spPr>
          <a:xfrm>
            <a:off x="1011260" y="954885"/>
            <a:ext cx="114138" cy="117546"/>
          </a:xfrm>
          <a:prstGeom prst="rect">
            <a:avLst/>
          </a:prstGeom>
        </p:spPr>
      </p:pic>
      <p:pic>
        <p:nvPicPr>
          <p:cNvPr id="15" name="Imagen 14"/>
          <p:cNvPicPr>
            <a:picLocks noChangeAspect="1"/>
          </p:cNvPicPr>
          <p:nvPr/>
        </p:nvPicPr>
        <p:blipFill>
          <a:blip r:embed="rId3"/>
          <a:stretch>
            <a:fillRect/>
          </a:stretch>
        </p:blipFill>
        <p:spPr>
          <a:xfrm>
            <a:off x="1011260" y="1819240"/>
            <a:ext cx="114138" cy="117546"/>
          </a:xfrm>
          <a:prstGeom prst="rect">
            <a:avLst/>
          </a:prstGeom>
        </p:spPr>
      </p:pic>
      <p:sp>
        <p:nvSpPr>
          <p:cNvPr id="16" name="Rectángulo 15"/>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2" name="Imagen 1"/>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5" name="Imagen 4">
            <a:extLst>
              <a:ext uri="{FF2B5EF4-FFF2-40B4-BE49-F238E27FC236}">
                <a16:creationId xmlns:a16="http://schemas.microsoft.com/office/drawing/2014/main" id="{3A9803F0-9407-85A4-39AF-7A20CD1AE5AB}"/>
              </a:ext>
            </a:extLst>
          </p:cNvPr>
          <p:cNvPicPr>
            <a:picLocks noChangeAspect="1"/>
          </p:cNvPicPr>
          <p:nvPr/>
        </p:nvPicPr>
        <p:blipFill>
          <a:blip r:embed="rId3"/>
          <a:stretch>
            <a:fillRect/>
          </a:stretch>
        </p:blipFill>
        <p:spPr>
          <a:xfrm>
            <a:off x="1011260" y="2472523"/>
            <a:ext cx="114138" cy="117546"/>
          </a:xfrm>
          <a:prstGeom prst="rect">
            <a:avLst/>
          </a:prstGeom>
        </p:spPr>
      </p:pic>
    </p:spTree>
    <p:extLst>
      <p:ext uri="{BB962C8B-B14F-4D97-AF65-F5344CB8AC3E}">
        <p14:creationId xmlns:p14="http://schemas.microsoft.com/office/powerpoint/2010/main" val="4093090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0" y="0"/>
            <a:ext cx="9144000" cy="5715000"/>
          </a:xfrm>
          <a:prstGeom prst="rect">
            <a:avLst/>
          </a:prstGeom>
          <a:solidFill>
            <a:srgbClr val="8DCB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CuadroTexto 6">
            <a:extLst>
              <a:ext uri="{FF2B5EF4-FFF2-40B4-BE49-F238E27FC236}">
                <a16:creationId xmlns:a16="http://schemas.microsoft.com/office/drawing/2014/main" id="{4C9F27E8-E0F0-CF48-B2E7-A2617B9B1DEA}"/>
              </a:ext>
            </a:extLst>
          </p:cNvPr>
          <p:cNvSpPr txBox="1"/>
          <p:nvPr/>
        </p:nvSpPr>
        <p:spPr>
          <a:xfrm>
            <a:off x="2519363"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BIBLIOGRAFÍA</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6" name="Imagen 5">
            <a:extLst>
              <a:ext uri="{FF2B5EF4-FFF2-40B4-BE49-F238E27FC236}">
                <a16:creationId xmlns:a16="http://schemas.microsoft.com/office/drawing/2014/main" id="{2CD7628C-6304-5D4B-BA7D-591238143DE2}"/>
              </a:ext>
            </a:extLst>
          </p:cNvPr>
          <p:cNvPicPr>
            <a:picLocks noChangeAspect="1"/>
          </p:cNvPicPr>
          <p:nvPr/>
        </p:nvPicPr>
        <p:blipFill>
          <a:blip r:embed="rId2"/>
          <a:stretch>
            <a:fillRect/>
          </a:stretch>
        </p:blipFill>
        <p:spPr>
          <a:xfrm>
            <a:off x="2528619" y="2194222"/>
            <a:ext cx="202176" cy="208211"/>
          </a:xfrm>
          <a:prstGeom prst="rect">
            <a:avLst/>
          </a:prstGeom>
        </p:spPr>
      </p:pic>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6970"/>
            <a:ext cx="2072061" cy="3898064"/>
          </a:xfrm>
          <a:prstGeom prst="rect">
            <a:avLst/>
          </a:prstGeom>
        </p:spPr>
      </p:pic>
    </p:spTree>
    <p:extLst>
      <p:ext uri="{BB962C8B-B14F-4D97-AF65-F5344CB8AC3E}">
        <p14:creationId xmlns:p14="http://schemas.microsoft.com/office/powerpoint/2010/main" val="596676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 name="object 7"/>
          <p:cNvSpPr txBox="1"/>
          <p:nvPr/>
        </p:nvSpPr>
        <p:spPr>
          <a:xfrm>
            <a:off x="1279009" y="917823"/>
            <a:ext cx="4774320" cy="2369880"/>
          </a:xfrm>
          <a:prstGeom prst="rect">
            <a:avLst/>
          </a:prstGeom>
        </p:spPr>
        <p:txBody>
          <a:bodyPr vert="horz" wrap="square" lIns="0" tIns="0" rIns="0" bIns="0" rtlCol="0">
            <a:spAutoFit/>
          </a:bodyPr>
          <a:lstStyle/>
          <a:p>
            <a:pPr marL="11724" marR="0" lvl="0" algn="l" rtl="0">
              <a:spcBef>
                <a:spcPts val="0"/>
              </a:spcBef>
              <a:spcAft>
                <a:spcPts val="0"/>
              </a:spcAft>
              <a:buClr>
                <a:srgbClr val="262626"/>
              </a:buClr>
              <a:buSzPts val="1600"/>
            </a:pPr>
            <a:r>
              <a:rPr lang="es-ES_tradnl" sz="1400" dirty="0">
                <a:solidFill>
                  <a:srgbClr val="262626"/>
                </a:solidFill>
                <a:ea typeface="Calibri"/>
                <a:cs typeface="Calibri"/>
                <a:sym typeface="Calibri"/>
              </a:rPr>
              <a:t>Extracción, transformación y carga de datos (ETL). Recuperado de </a:t>
            </a:r>
            <a:br>
              <a:rPr lang="es-ES_tradnl" sz="1400" dirty="0">
                <a:solidFill>
                  <a:srgbClr val="262626"/>
                </a:solidFill>
                <a:ea typeface="Calibri"/>
                <a:cs typeface="Calibri"/>
                <a:sym typeface="Calibri"/>
              </a:rPr>
            </a:br>
            <a:r>
              <a:rPr lang="es-ES_tradnl" sz="1400" dirty="0">
                <a:solidFill>
                  <a:srgbClr val="262626"/>
                </a:solidFill>
                <a:ea typeface="Calibri"/>
                <a:cs typeface="Calibri"/>
                <a:sym typeface="Calibri"/>
              </a:rPr>
              <a:t>https://learn.microsoft.com/es-es/</a:t>
            </a:r>
            <a:r>
              <a:rPr lang="es-ES_tradnl" sz="1400" dirty="0" err="1">
                <a:solidFill>
                  <a:srgbClr val="262626"/>
                </a:solidFill>
                <a:ea typeface="Calibri"/>
                <a:cs typeface="Calibri"/>
                <a:sym typeface="Calibri"/>
              </a:rPr>
              <a:t>azure</a:t>
            </a:r>
            <a:r>
              <a:rPr lang="es-ES_tradnl" sz="1400" dirty="0">
                <a:solidFill>
                  <a:srgbClr val="262626"/>
                </a:solidFill>
                <a:ea typeface="Calibri"/>
                <a:cs typeface="Calibri"/>
                <a:sym typeface="Calibri"/>
              </a:rPr>
              <a:t>/architecture/data-guide/relational-data/etl. Fecha de consulta: 19 de abril del 2024</a:t>
            </a:r>
            <a:endParaRPr lang="es-ES_tradnl" sz="1400" dirty="0"/>
          </a:p>
          <a:p>
            <a:pPr marL="113324" marR="0" lvl="0" algn="l" rtl="0">
              <a:spcBef>
                <a:spcPts val="0"/>
              </a:spcBef>
              <a:spcAft>
                <a:spcPts val="0"/>
              </a:spcAft>
              <a:buClr>
                <a:schemeClr val="dk1"/>
              </a:buClr>
              <a:buSzPts val="1600"/>
            </a:pPr>
            <a:endParaRPr lang="es-ES_tradnl" sz="1400" dirty="0">
              <a:solidFill>
                <a:srgbClr val="262626"/>
              </a:solidFill>
              <a:ea typeface="Calibri"/>
              <a:cs typeface="Calibri"/>
              <a:sym typeface="Calibri"/>
            </a:endParaRPr>
          </a:p>
          <a:p>
            <a:pPr marL="11724" marR="0" lvl="0" algn="l" rtl="0">
              <a:spcBef>
                <a:spcPts val="0"/>
              </a:spcBef>
              <a:spcAft>
                <a:spcPts val="0"/>
              </a:spcAft>
              <a:buClr>
                <a:srgbClr val="262626"/>
              </a:buClr>
              <a:buSzPts val="1600"/>
            </a:pPr>
            <a:r>
              <a:rPr lang="es-ES_tradnl" sz="1400" dirty="0">
                <a:solidFill>
                  <a:srgbClr val="262626"/>
                </a:solidFill>
                <a:ea typeface="Calibri"/>
                <a:cs typeface="Calibri"/>
                <a:sym typeface="Calibri"/>
              </a:rPr>
              <a:t>¿Qué son los procesos ETL? Recuperado de </a:t>
            </a:r>
            <a:br>
              <a:rPr lang="es-ES_tradnl" sz="1400" dirty="0">
                <a:solidFill>
                  <a:srgbClr val="262626"/>
                </a:solidFill>
                <a:ea typeface="Calibri"/>
                <a:cs typeface="Calibri"/>
                <a:sym typeface="Calibri"/>
              </a:rPr>
            </a:br>
            <a:r>
              <a:rPr lang="es-ES_tradnl" sz="1400" dirty="0">
                <a:solidFill>
                  <a:srgbClr val="262626"/>
                </a:solidFill>
                <a:ea typeface="Calibri"/>
                <a:cs typeface="Calibri"/>
                <a:sym typeface="Calibri"/>
              </a:rPr>
              <a:t>https://blog.powerdata.es/el-valor-de-la-gestion-de-datos/qu-son-los-procesos-etl. Fecha de consulta: 20 de abril del 2024</a:t>
            </a:r>
            <a:endParaRPr lang="es-ES_tradnl" sz="1400" dirty="0"/>
          </a:p>
          <a:p>
            <a:pPr marL="113324" marR="0" lvl="0" algn="l" rtl="0">
              <a:spcBef>
                <a:spcPts val="0"/>
              </a:spcBef>
              <a:spcAft>
                <a:spcPts val="0"/>
              </a:spcAft>
              <a:buClr>
                <a:schemeClr val="dk1"/>
              </a:buClr>
              <a:buSzPts val="1600"/>
            </a:pPr>
            <a:endParaRPr lang="es-ES_tradnl" sz="1400" dirty="0">
              <a:solidFill>
                <a:srgbClr val="262626"/>
              </a:solidFill>
              <a:ea typeface="Calibri"/>
              <a:cs typeface="Calibri"/>
              <a:sym typeface="Calibri"/>
            </a:endParaRPr>
          </a:p>
          <a:p>
            <a:pPr marL="11724" marR="0" lvl="0" algn="l" rtl="0">
              <a:spcBef>
                <a:spcPts val="0"/>
              </a:spcBef>
              <a:spcAft>
                <a:spcPts val="0"/>
              </a:spcAft>
              <a:buClr>
                <a:srgbClr val="262626"/>
              </a:buClr>
              <a:buSzPts val="1600"/>
            </a:pPr>
            <a:r>
              <a:rPr lang="es-ES_tradnl" sz="1400" dirty="0">
                <a:solidFill>
                  <a:srgbClr val="262626"/>
                </a:solidFill>
                <a:ea typeface="Calibri"/>
                <a:cs typeface="Calibri"/>
                <a:sym typeface="Calibri"/>
              </a:rPr>
              <a:t>¿Qué es extracción, transformación y carga (ETL)? Recuperado de https://aws.amazon.com/es/what-is/etl/. Fecha de consulta: 20 de abril del 2024</a:t>
            </a:r>
            <a:endParaRPr lang="es-ES_tradnl" sz="1400" dirty="0"/>
          </a:p>
        </p:txBody>
      </p:sp>
      <p:pic>
        <p:nvPicPr>
          <p:cNvPr id="9" name="Imagen 8"/>
          <p:cNvPicPr>
            <a:picLocks noChangeAspect="1"/>
          </p:cNvPicPr>
          <p:nvPr/>
        </p:nvPicPr>
        <p:blipFill>
          <a:blip r:embed="rId2"/>
          <a:stretch>
            <a:fillRect/>
          </a:stretch>
        </p:blipFill>
        <p:spPr>
          <a:xfrm>
            <a:off x="1008064" y="959114"/>
            <a:ext cx="103867" cy="106967"/>
          </a:xfrm>
          <a:prstGeom prst="rect">
            <a:avLst/>
          </a:prstGeom>
        </p:spPr>
      </p:pic>
      <p:pic>
        <p:nvPicPr>
          <p:cNvPr id="14" name="Imagen 13">
            <a:extLst>
              <a:ext uri="{FF2B5EF4-FFF2-40B4-BE49-F238E27FC236}">
                <a16:creationId xmlns:a16="http://schemas.microsoft.com/office/drawing/2014/main" id="{D0016DFD-D096-A245-9591-9C15FD675265}"/>
              </a:ext>
            </a:extLst>
          </p:cNvPr>
          <p:cNvPicPr>
            <a:picLocks noChangeAspect="1"/>
          </p:cNvPicPr>
          <p:nvPr/>
        </p:nvPicPr>
        <p:blipFill>
          <a:blip r:embed="rId2"/>
          <a:stretch>
            <a:fillRect/>
          </a:stretch>
        </p:blipFill>
        <p:spPr>
          <a:xfrm>
            <a:off x="1008064" y="1833221"/>
            <a:ext cx="103867" cy="106967"/>
          </a:xfrm>
          <a:prstGeom prst="rect">
            <a:avLst/>
          </a:prstGeom>
        </p:spPr>
      </p:pic>
      <p:sp>
        <p:nvSpPr>
          <p:cNvPr id="19" name="Rectángulo 18"/>
          <p:cNvSpPr/>
          <p:nvPr/>
        </p:nvSpPr>
        <p:spPr>
          <a:xfrm>
            <a:off x="8133347" y="163629"/>
            <a:ext cx="808522" cy="754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3" name="Imagen 2"/>
          <p:cNvPicPr>
            <a:picLocks noChangeAspect="1"/>
          </p:cNvPicPr>
          <p:nvPr/>
        </p:nvPicPr>
        <p:blipFill>
          <a:blip r:embed="rId3">
            <a:alphaModFix amt="42000"/>
            <a:extLst>
              <a:ext uri="{28A0092B-C50C-407E-A947-70E740481C1C}">
                <a14:useLocalDpi xmlns:a14="http://schemas.microsoft.com/office/drawing/2010/main" val="0"/>
              </a:ext>
            </a:extLst>
          </a:blip>
          <a:stretch>
            <a:fillRect/>
          </a:stretch>
        </p:blipFill>
        <p:spPr>
          <a:xfrm>
            <a:off x="6985000" y="3036889"/>
            <a:ext cx="1690688" cy="2197100"/>
          </a:xfrm>
          <a:prstGeom prst="rect">
            <a:avLst/>
          </a:prstGeom>
        </p:spPr>
      </p:pic>
      <p:sp>
        <p:nvSpPr>
          <p:cNvPr id="8" name="Rectangle 5"/>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BIBLIOGRAFÍA</a:t>
            </a:r>
          </a:p>
        </p:txBody>
      </p:sp>
      <p:pic>
        <p:nvPicPr>
          <p:cNvPr id="5" name="Imagen 4">
            <a:extLst>
              <a:ext uri="{FF2B5EF4-FFF2-40B4-BE49-F238E27FC236}">
                <a16:creationId xmlns:a16="http://schemas.microsoft.com/office/drawing/2014/main" id="{91CE0DFB-72C9-3BA2-EB4A-6910690D0A43}"/>
              </a:ext>
            </a:extLst>
          </p:cNvPr>
          <p:cNvPicPr>
            <a:picLocks noChangeAspect="1"/>
          </p:cNvPicPr>
          <p:nvPr/>
        </p:nvPicPr>
        <p:blipFill>
          <a:blip r:embed="rId2"/>
          <a:stretch>
            <a:fillRect/>
          </a:stretch>
        </p:blipFill>
        <p:spPr>
          <a:xfrm>
            <a:off x="1008064" y="2677879"/>
            <a:ext cx="103867" cy="106967"/>
          </a:xfrm>
          <a:prstGeom prst="rect">
            <a:avLst/>
          </a:prstGeom>
        </p:spPr>
      </p:pic>
    </p:spTree>
    <p:extLst>
      <p:ext uri="{BB962C8B-B14F-4D97-AF65-F5344CB8AC3E}">
        <p14:creationId xmlns:p14="http://schemas.microsoft.com/office/powerpoint/2010/main" val="1742401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pic>
        <p:nvPicPr>
          <p:cNvPr id="3" name="Imagen 2"/>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9030956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5308</TotalTime>
  <Words>1625</Words>
  <Application>Microsoft Office PowerPoint</Application>
  <PresentationFormat>Presentación en pantalla (16:10)</PresentationFormat>
  <Paragraphs>371</Paragraphs>
  <Slides>30</Slides>
  <Notes>25</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30</vt:i4>
      </vt:variant>
    </vt:vector>
  </HeadingPairs>
  <TitlesOfParts>
    <vt:vector size="40" baseType="lpstr">
      <vt:lpstr>Arial</vt:lpstr>
      <vt:lpstr>Calibri</vt:lpstr>
      <vt:lpstr>Graphik Bold</vt:lpstr>
      <vt:lpstr>Graphik Medium</vt:lpstr>
      <vt:lpstr>Graphik Regular</vt:lpstr>
      <vt:lpstr>Quattrocento Sans</vt:lpstr>
      <vt:lpstr>Times New Roman</vt:lpstr>
      <vt:lpstr>Wingdings</vt:lpstr>
      <vt:lpstr>Office Theme</vt:lpstr>
      <vt:lpstr>MS_ClipArt_Gallery.2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Rosa Maria Muñoz Mendo</cp:lastModifiedBy>
  <cp:revision>409</cp:revision>
  <cp:lastPrinted>2018-01-16T21:42:59Z</cp:lastPrinted>
  <dcterms:created xsi:type="dcterms:W3CDTF">2016-10-06T14:52:02Z</dcterms:created>
  <dcterms:modified xsi:type="dcterms:W3CDTF">2024-07-01T14:07:31Z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