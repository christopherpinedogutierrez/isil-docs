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handoutMasterIdLst>
    <p:handoutMasterId r:id="rId41"/>
  </p:handoutMasterIdLst>
  <p:sldIdLst>
    <p:sldId id="662" r:id="rId2"/>
    <p:sldId id="627" r:id="rId3"/>
    <p:sldId id="628" r:id="rId4"/>
    <p:sldId id="629" r:id="rId5"/>
    <p:sldId id="259" r:id="rId6"/>
    <p:sldId id="755" r:id="rId7"/>
    <p:sldId id="261" r:id="rId8"/>
    <p:sldId id="262" r:id="rId9"/>
    <p:sldId id="756" r:id="rId10"/>
    <p:sldId id="264" r:id="rId11"/>
    <p:sldId id="265" r:id="rId12"/>
    <p:sldId id="266" r:id="rId13"/>
    <p:sldId id="267" r:id="rId14"/>
    <p:sldId id="757" r:id="rId15"/>
    <p:sldId id="269" r:id="rId16"/>
    <p:sldId id="270" r:id="rId17"/>
    <p:sldId id="271" r:id="rId18"/>
    <p:sldId id="272" r:id="rId19"/>
    <p:sldId id="273" r:id="rId20"/>
    <p:sldId id="758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759" r:id="rId29"/>
    <p:sldId id="283" r:id="rId30"/>
    <p:sldId id="284" r:id="rId31"/>
    <p:sldId id="760" r:id="rId32"/>
    <p:sldId id="286" r:id="rId33"/>
    <p:sldId id="287" r:id="rId34"/>
    <p:sldId id="588" r:id="rId35"/>
    <p:sldId id="589" r:id="rId36"/>
    <p:sldId id="590" r:id="rId37"/>
    <p:sldId id="591" r:id="rId38"/>
    <p:sldId id="731" r:id="rId39"/>
  </p:sldIdLst>
  <p:sldSz cx="9144000" cy="5715000" type="screen16x10"/>
  <p:notesSz cx="6858000" cy="9144000"/>
  <p:custDataLst>
    <p:tags r:id="rId4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pos="431" userDrawn="1">
          <p15:clr>
            <a:srgbClr val="A4A3A4"/>
          </p15:clr>
        </p15:guide>
        <p15:guide id="16" orient="horz" pos="757" userDrawn="1">
          <p15:clr>
            <a:srgbClr val="A4A3A4"/>
          </p15:clr>
        </p15:guide>
        <p15:guide id="17" pos="25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C2"/>
    <a:srgbClr val="EE4639"/>
    <a:srgbClr val="808799"/>
    <a:srgbClr val="714EA0"/>
    <a:srgbClr val="92C14E"/>
    <a:srgbClr val="E3DCED"/>
    <a:srgbClr val="E14098"/>
    <a:srgbClr val="7150A0"/>
    <a:srgbClr val="D1EFF4"/>
    <a:srgbClr val="688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44" autoAdjust="0"/>
    <p:restoredTop sz="91837" autoAdjust="0"/>
  </p:normalViewPr>
  <p:slideViewPr>
    <p:cSldViewPr snapToGrid="0" snapToObjects="1" showGuides="1">
      <p:cViewPr varScale="1">
        <p:scale>
          <a:sx n="125" d="100"/>
          <a:sy n="125" d="100"/>
        </p:scale>
        <p:origin x="1404" y="108"/>
      </p:cViewPr>
      <p:guideLst>
        <p:guide pos="431"/>
        <p:guide orient="horz" pos="757"/>
        <p:guide pos="256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932DC7-834F-6148-86AF-F72164F7FFC1}" type="datetimeFigureOut">
              <a:rPr lang="es-ES" smtClean="0"/>
              <a:t>28/06/2024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EA6FD5-E31A-6D44-BE80-5A94AC694FC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65184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F1720-AE80-4069-8D89-2C76E8AFD874}" type="datetimeFigureOut">
              <a:rPr lang="es-PE" smtClean="0"/>
              <a:t>28/06/2024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6700CA-E45F-416D-B659-25554F846B4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852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2963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86432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57001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319929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0293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90830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881073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28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9348554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91386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7E992D-280B-41DE-9EA7-7D9ADBA98B46}" type="slidenum">
              <a:rPr lang="es-ES" smtClean="0"/>
              <a:pPr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263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0851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80" userDrawn="1">
          <p15:clr>
            <a:srgbClr val="FBAE40"/>
          </p15:clr>
        </p15:guide>
        <p15:guide id="3" orient="horz" pos="1900" userDrawn="1">
          <p15:clr>
            <a:srgbClr val="FBAE40"/>
          </p15:clr>
        </p15:guide>
        <p15:guide id="4" pos="544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943131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1824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1 Imagen Centr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508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ema -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526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3">
            <a:extLst>
              <a:ext uri="{FF2B5EF4-FFF2-40B4-BE49-F238E27FC236}">
                <a16:creationId xmlns:a16="http://schemas.microsoft.com/office/drawing/2014/main" id="{EE396788-5A79-8D39-BC8E-86ECEB650A77}"/>
              </a:ext>
            </a:extLst>
          </p:cNvPr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3" name="TextBox 7">
              <a:extLst>
                <a:ext uri="{FF2B5EF4-FFF2-40B4-BE49-F238E27FC236}">
                  <a16:creationId xmlns:a16="http://schemas.microsoft.com/office/drawing/2014/main" id="{C9FEC313-CD23-47F0-A828-849E12E5E3CC}"/>
                </a:ext>
              </a:extLst>
            </p:cNvPr>
            <p:cNvSpPr txBox="1"/>
            <p:nvPr userDrawn="1"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A55EED3-D33C-5537-ACE4-B21B34047BA4}"/>
                </a:ext>
              </a:extLst>
            </p:cNvPr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ISIL. Todos los derechos reservados</a:t>
              </a:r>
            </a:p>
          </p:txBody>
        </p:sp>
      </p:grpSp>
      <p:pic>
        <p:nvPicPr>
          <p:cNvPr id="7" name="Imagen 6">
            <a:extLst>
              <a:ext uri="{FF2B5EF4-FFF2-40B4-BE49-F238E27FC236}">
                <a16:creationId xmlns:a16="http://schemas.microsoft.com/office/drawing/2014/main" id="{629383BC-861E-A43F-194A-81F1472DC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286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4991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Agrupar 13"/>
          <p:cNvGrpSpPr/>
          <p:nvPr userDrawn="1"/>
        </p:nvGrpSpPr>
        <p:grpSpPr>
          <a:xfrm>
            <a:off x="944054" y="5343295"/>
            <a:ext cx="7804380" cy="215444"/>
            <a:chOff x="944054" y="5343295"/>
            <a:chExt cx="7804380" cy="215444"/>
          </a:xfrm>
        </p:grpSpPr>
        <p:sp>
          <p:nvSpPr>
            <p:cNvPr id="7" name="TextBox 7"/>
            <p:cNvSpPr txBox="1"/>
            <p:nvPr userDrawn="1"/>
          </p:nvSpPr>
          <p:spPr>
            <a:xfrm>
              <a:off x="944054" y="5343295"/>
              <a:ext cx="246734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ANALÍTICA DE SISTEMAS EMPRESARIALES</a:t>
              </a:r>
              <a:r>
                <a:rPr lang="en-US" sz="800" kern="1200" baseline="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</a:t>
              </a:r>
              <a:r>
                <a:rPr lang="en-US" sz="8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Wingdings"/>
                  <a:cs typeface="Calibri"/>
                  <a:sym typeface="Wingdings"/>
                </a:rPr>
                <a:t></a:t>
              </a:r>
              <a:r>
                <a:rPr lang="en-US" sz="800" kern="1200" dirty="0">
                  <a:solidFill>
                    <a:schemeClr val="bg1">
                      <a:lumMod val="50000"/>
                    </a:schemeClr>
                  </a:solidFill>
                  <a:latin typeface="Calibri"/>
                  <a:ea typeface="+mn-ea"/>
                  <a:cs typeface="Calibri"/>
                  <a:sym typeface="Wingdings"/>
                </a:rPr>
                <a:t>  SESIÓN 02</a:t>
              </a:r>
              <a:endParaRPr lang="en-US" sz="800" dirty="0">
                <a:solidFill>
                  <a:schemeClr val="bg1">
                    <a:lumMod val="50000"/>
                  </a:schemeClr>
                </a:solidFill>
                <a:latin typeface="Calibri"/>
                <a:cs typeface="Calibri"/>
              </a:endParaRPr>
            </a:p>
          </p:txBody>
        </p:sp>
        <p:sp>
          <p:nvSpPr>
            <p:cNvPr id="8" name="Rectangle 3"/>
            <p:cNvSpPr/>
            <p:nvPr userDrawn="1"/>
          </p:nvSpPr>
          <p:spPr>
            <a:xfrm>
              <a:off x="7379148" y="5371562"/>
              <a:ext cx="1369286" cy="18466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es-ES_tradnl" sz="600" dirty="0">
                  <a:solidFill>
                    <a:schemeClr val="bg1">
                      <a:lumMod val="50000"/>
                    </a:schemeClr>
                  </a:solidFill>
                </a:rPr>
                <a:t>© ISIL. Todos los derechos reservados</a:t>
              </a:r>
            </a:p>
          </p:txBody>
        </p:sp>
      </p:grpSp>
      <p:pic>
        <p:nvPicPr>
          <p:cNvPr id="9" name="Imagen 8"/>
          <p:cNvPicPr>
            <a:picLocks noChangeAspect="1"/>
          </p:cNvPicPr>
          <p:nvPr userDrawn="1"/>
        </p:nvPicPr>
        <p:blipFill>
          <a:blip r:embed="rId9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300" y="5322472"/>
            <a:ext cx="448573" cy="250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932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7" r:id="rId4"/>
    <p:sldLayoutId id="2147483659" r:id="rId5"/>
    <p:sldLayoutId id="2147483660" r:id="rId6"/>
    <p:sldLayoutId id="2147483661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pos="2767" userDrawn="1">
          <p15:clr>
            <a:srgbClr val="F26B43"/>
          </p15:clr>
        </p15:guide>
        <p15:guide id="3" pos="317" userDrawn="1">
          <p15:clr>
            <a:srgbClr val="F26B43"/>
          </p15:clr>
        </p15:guide>
        <p15:guide id="4" orient="horz" pos="575" userDrawn="1">
          <p15:clr>
            <a:srgbClr val="F26B43"/>
          </p15:clr>
        </p15:guide>
        <p15:guide id="5" orient="horz" pos="303" userDrawn="1">
          <p15:clr>
            <a:srgbClr val="F26B43"/>
          </p15:clr>
        </p15:guide>
        <p15:guide id="6" pos="5443" userDrawn="1">
          <p15:clr>
            <a:srgbClr val="F26B43"/>
          </p15:clr>
        </p15:guide>
        <p15:guide id="7" orient="horz" pos="3297" userDrawn="1">
          <p15:clr>
            <a:srgbClr val="F26B43"/>
          </p15:clr>
        </p15:guide>
        <p15:guide id="8" pos="299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10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notesSlide" Target="../notesSlides/notesSlide12.xml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18.jpg"/><Relationship Id="rId12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jpg"/><Relationship Id="rId11" Type="http://schemas.openxmlformats.org/officeDocument/2006/relationships/image" Target="../media/image9.png"/><Relationship Id="rId5" Type="http://schemas.openxmlformats.org/officeDocument/2006/relationships/image" Target="../media/image16.jpg"/><Relationship Id="rId10" Type="http://schemas.openxmlformats.org/officeDocument/2006/relationships/oleObject" Target="../embeddings/oleObject8.bin"/><Relationship Id="rId4" Type="http://schemas.openxmlformats.org/officeDocument/2006/relationships/image" Target="../media/image15.jp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.bin"/><Relationship Id="rId13" Type="http://schemas.microsoft.com/office/2007/relationships/hdphoto" Target="../media/hdphoto3.wdp"/><Relationship Id="rId18" Type="http://schemas.microsoft.com/office/2007/relationships/hdphoto" Target="../media/hdphoto7.wdp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2.png"/><Relationship Id="rId12" Type="http://schemas.microsoft.com/office/2007/relationships/hdphoto" Target="../media/hdphoto2.wdp"/><Relationship Id="rId17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6" Type="http://schemas.microsoft.com/office/2007/relationships/hdphoto" Target="../media/hdphoto6.wdp"/><Relationship Id="rId20" Type="http://schemas.microsoft.com/office/2007/relationships/hdphoto" Target="../media/hdphoto9.wdp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1.png"/><Relationship Id="rId11" Type="http://schemas.microsoft.com/office/2007/relationships/hdphoto" Target="../media/hdphoto1.wdp"/><Relationship Id="rId5" Type="http://schemas.openxmlformats.org/officeDocument/2006/relationships/image" Target="../media/image17.jpg"/><Relationship Id="rId15" Type="http://schemas.microsoft.com/office/2007/relationships/hdphoto" Target="../media/hdphoto5.wdp"/><Relationship Id="rId10" Type="http://schemas.openxmlformats.org/officeDocument/2006/relationships/image" Target="../media/image19.png"/><Relationship Id="rId19" Type="http://schemas.microsoft.com/office/2007/relationships/hdphoto" Target="../media/hdphoto8.wdp"/><Relationship Id="rId4" Type="http://schemas.openxmlformats.org/officeDocument/2006/relationships/image" Target="../media/image15.jpg"/><Relationship Id="rId9" Type="http://schemas.openxmlformats.org/officeDocument/2006/relationships/image" Target="../media/image9.png"/><Relationship Id="rId14" Type="http://schemas.microsoft.com/office/2007/relationships/hdphoto" Target="../media/hdphoto4.wdp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microsoft.com/office/2007/relationships/hdphoto" Target="../media/hdphoto11.wdp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12.png"/><Relationship Id="rId12" Type="http://schemas.openxmlformats.org/officeDocument/2006/relationships/image" Target="../media/image20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1.png"/><Relationship Id="rId11" Type="http://schemas.microsoft.com/office/2007/relationships/hdphoto" Target="../media/hdphoto10.wdp"/><Relationship Id="rId5" Type="http://schemas.openxmlformats.org/officeDocument/2006/relationships/image" Target="../media/image18.jpg"/><Relationship Id="rId10" Type="http://schemas.openxmlformats.org/officeDocument/2006/relationships/image" Target="../media/image19.png"/><Relationship Id="rId4" Type="http://schemas.openxmlformats.org/officeDocument/2006/relationships/image" Target="../media/image16.jpg"/><Relationship Id="rId9" Type="http://schemas.openxmlformats.org/officeDocument/2006/relationships/image" Target="../media/image9.png"/><Relationship Id="rId14" Type="http://schemas.microsoft.com/office/2007/relationships/hdphoto" Target="../media/hdphoto9.wdp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ángulo 40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0376003-8003-B944-8B01-9A232A7A385C}"/>
              </a:ext>
            </a:extLst>
          </p:cNvPr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900" b="1" dirty="0">
                <a:solidFill>
                  <a:srgbClr val="6C6D6C"/>
                </a:solidFill>
                <a:latin typeface="Calibri" charset="0"/>
                <a:cs typeface="Calibri" charset="0"/>
                <a:sym typeface="Wingdings"/>
              </a:rPr>
              <a:t>ANALÍTICA DE SISTEMAS EMPRESARIALES </a:t>
            </a:r>
            <a:endParaRPr lang="es-ES_tradnl" sz="900" b="1" dirty="0">
              <a:solidFill>
                <a:srgbClr val="6C6D6C"/>
              </a:solidFill>
              <a:latin typeface="Calibri" charset="0"/>
              <a:cs typeface="Calibri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F6F030B-C752-AD44-958B-E73463C786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2849" y="-7542"/>
            <a:ext cx="5391150" cy="5722541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AC56C332-AC9C-5CDE-E4A7-D1AD9C720B6F}"/>
              </a:ext>
            </a:extLst>
          </p:cNvPr>
          <p:cNvSpPr/>
          <p:nvPr/>
        </p:nvSpPr>
        <p:spPr>
          <a:xfrm>
            <a:off x="503238" y="2177570"/>
            <a:ext cx="3249611" cy="72712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s-PE" sz="1750" dirty="0">
                <a:latin typeface="Graphik Medium" panose="020B0503030202060203" pitchFamily="34" charset="77"/>
                <a:sym typeface="Calibri"/>
              </a:rPr>
              <a:t>ARQUITECTURA </a:t>
            </a:r>
          </a:p>
          <a:p>
            <a:pPr>
              <a:lnSpc>
                <a:spcPct val="90000"/>
              </a:lnSpc>
            </a:pPr>
            <a:r>
              <a:rPr lang="es-PE" sz="1750" dirty="0">
                <a:latin typeface="Graphik Medium" panose="020B0503030202060203" pitchFamily="34" charset="77"/>
                <a:sym typeface="Calibri"/>
              </a:rPr>
              <a:t>DE UNA </a:t>
            </a:r>
            <a:r>
              <a:rPr lang="es-PE" sz="1750" b="1" dirty="0">
                <a:latin typeface="Graphik Bold" panose="020B0503030202060203" pitchFamily="34" charset="77"/>
                <a:sym typeface="Calibri"/>
              </a:rPr>
              <a:t>SOLUCIÓN </a:t>
            </a:r>
            <a:r>
              <a:rPr lang="es-PE" sz="1750" b="1" dirty="0">
                <a:latin typeface="Graphik Bold" panose="020B0503030202060203" pitchFamily="34" charset="77"/>
                <a:ea typeface="Calibri"/>
                <a:cs typeface="Calibri"/>
                <a:sym typeface="Calibri"/>
              </a:rPr>
              <a:t>DE INTELIGENCIA DE NEGOCIOS</a:t>
            </a:r>
            <a:endParaRPr lang="es-PE" sz="1750" b="1" dirty="0">
              <a:latin typeface="Graphik Bold" panose="020B0503030202060203" pitchFamily="34" charset="77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D1189B2-41AF-6D82-F5E0-ACAECF805B82}"/>
              </a:ext>
            </a:extLst>
          </p:cNvPr>
          <p:cNvSpPr/>
          <p:nvPr/>
        </p:nvSpPr>
        <p:spPr>
          <a:xfrm>
            <a:off x="503237" y="3219842"/>
            <a:ext cx="3104743" cy="1972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Visión general de la arquitectura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Componentes: Fuentes de datos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Componentes: Herramientas ETL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Componentes: Almacenamiento Dimensional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Componentes: Herramientas de explotación de la información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Introducción al modelado dimensional</a:t>
            </a:r>
            <a:endParaRPr lang="es-PE" sz="1200" dirty="0">
              <a:latin typeface="Graphik Medium" panose="020B0503030202060203" pitchFamily="34" charset="77"/>
            </a:endParaRPr>
          </a:p>
          <a:p>
            <a:pPr marL="177798" marR="0" lvl="0" indent="-177798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14098"/>
              </a:buClr>
              <a:buSzPct val="100000"/>
              <a:buFont typeface="Arial"/>
              <a:buChar char="•"/>
            </a:pPr>
            <a:r>
              <a:rPr lang="es-PE" sz="1200" dirty="0">
                <a:latin typeface="Graphik Medium" panose="020B0503030202060203" pitchFamily="34" charset="77"/>
                <a:ea typeface="Calibri"/>
                <a:cs typeface="Calibri"/>
                <a:sym typeface="Calibri"/>
              </a:rPr>
              <a:t>Métricas y KPI</a:t>
            </a:r>
            <a:endParaRPr lang="es-PE" sz="1200" dirty="0">
              <a:latin typeface="Graphik Medium" panose="020B0503030202060203" pitchFamily="34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F0C791E-55A4-CF62-B567-CC3C65452046}"/>
              </a:ext>
            </a:extLst>
          </p:cNvPr>
          <p:cNvSpPr txBox="1"/>
          <p:nvPr/>
        </p:nvSpPr>
        <p:spPr>
          <a:xfrm>
            <a:off x="743902" y="1819386"/>
            <a:ext cx="145764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ES_tradnl" sz="2000" b="1" dirty="0">
                <a:solidFill>
                  <a:srgbClr val="E14098"/>
                </a:solidFill>
                <a:latin typeface="Calibri" charset="0"/>
                <a:ea typeface="Calibri" charset="0"/>
                <a:cs typeface="Calibri" charset="0"/>
              </a:rPr>
              <a:t>SESIÓN 02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74548A7-011E-0B5D-1381-0BA486642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64" y="1883411"/>
            <a:ext cx="166865" cy="170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09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946969"/>
            <a:ext cx="2072213" cy="3898064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CuadroTexto 3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80000"/>
              </a:lnSpc>
            </a:pPr>
            <a:r>
              <a:rPr lang="es-ES_tradnl" sz="33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INTRODUCCIÓN</a:t>
            </a:r>
          </a:p>
          <a:p>
            <a:pPr>
              <a:lnSpc>
                <a:spcPct val="80000"/>
              </a:lnSpc>
            </a:pPr>
            <a:r>
              <a:rPr lang="es-ES_tradnl" sz="33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DE LA SESIÓN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16000"/>
          </a:blip>
          <a:stretch>
            <a:fillRect/>
          </a:stretch>
        </p:blipFill>
        <p:spPr>
          <a:xfrm>
            <a:off x="334433" y="3817749"/>
            <a:ext cx="809264" cy="80926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559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object 7"/>
          <p:cNvSpPr txBox="1"/>
          <p:nvPr/>
        </p:nvSpPr>
        <p:spPr>
          <a:xfrm>
            <a:off x="1282298" y="918372"/>
            <a:ext cx="5636662" cy="193899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24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None/>
            </a:pPr>
            <a:r>
              <a:rPr lang="es-PE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En esta sesión,</a:t>
            </a:r>
            <a:endParaRPr lang="es-PE" sz="1400" dirty="0"/>
          </a:p>
          <a:p>
            <a:pPr marL="11724" marR="0" lvl="0" indent="0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None/>
            </a:pPr>
            <a:endParaRPr lang="es-PE" sz="14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179998" marR="0" lvl="0" indent="-168274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Se explicará la función de cada uno de los componentes en la arquitectura de una solución de inteligencia de negocios.</a:t>
            </a:r>
            <a:br>
              <a:rPr lang="es-PE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</a:br>
            <a:endParaRPr lang="es-PE" sz="14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179998" marR="0" lvl="0" indent="-168274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Aprenderás brevemente qué es el modelo dimensional y su diferencia con el modelo relacional.</a:t>
            </a:r>
            <a:endParaRPr lang="es-PE" sz="1400" dirty="0"/>
          </a:p>
          <a:p>
            <a:pPr marL="179998" marR="0" lvl="0" indent="-66674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None/>
            </a:pPr>
            <a:endParaRPr lang="es-PE" sz="1400" dirty="0">
              <a:solidFill>
                <a:srgbClr val="262626"/>
              </a:solidFill>
              <a:ea typeface="Calibri"/>
              <a:cs typeface="Calibri"/>
              <a:sym typeface="Calibri"/>
            </a:endParaRPr>
          </a:p>
          <a:p>
            <a:pPr marL="179998" marR="0" lvl="0" indent="-168274" algn="l" rtl="0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ct val="100000"/>
              <a:buFont typeface="Arial"/>
              <a:buChar char="•"/>
            </a:pPr>
            <a:r>
              <a:rPr lang="es-PE" sz="1400" dirty="0">
                <a:solidFill>
                  <a:srgbClr val="262626"/>
                </a:solidFill>
                <a:ea typeface="Calibri"/>
                <a:cs typeface="Calibri"/>
                <a:sym typeface="Calibri"/>
              </a:rPr>
              <a:t>Y conocerás lo que son las métricas, los indicadores y los KPI.</a:t>
            </a:r>
            <a:endParaRPr lang="es-ES_tradnl" sz="1400" spc="-10" dirty="0">
              <a:solidFill>
                <a:srgbClr val="262626"/>
              </a:solidFill>
              <a:cs typeface="Source Sans Pro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39" y="954885"/>
            <a:ext cx="117851" cy="121369"/>
          </a:xfrm>
          <a:prstGeom prst="rect">
            <a:avLst/>
          </a:prstGeom>
        </p:spPr>
      </p:pic>
      <p:sp>
        <p:nvSpPr>
          <p:cNvPr id="2" name="Rectángulo 1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61" y="3052731"/>
            <a:ext cx="1689027" cy="2181257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5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INTRODUCCIÓN </a:t>
            </a:r>
          </a:p>
        </p:txBody>
      </p:sp>
    </p:spTree>
    <p:extLst>
      <p:ext uri="{BB962C8B-B14F-4D97-AF65-F5344CB8AC3E}">
        <p14:creationId xmlns:p14="http://schemas.microsoft.com/office/powerpoint/2010/main" val="783239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7755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VISIÓN GENERAL DE </a:t>
            </a:r>
            <a:b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LA ARQUITECTURA</a:t>
            </a:r>
            <a:endParaRPr lang="es-PE" sz="28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3288726E-7867-CD42-4641-D83A07F36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162" y="2893508"/>
            <a:ext cx="636896" cy="636896"/>
          </a:xfrm>
          <a:prstGeom prst="rect">
            <a:avLst/>
          </a:prstGeom>
        </p:spPr>
      </p:pic>
      <p:pic>
        <p:nvPicPr>
          <p:cNvPr id="46" name="Google Shape;46;p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941" y="1853066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4"/>
          <p:cNvSpPr txBox="1"/>
          <p:nvPr/>
        </p:nvSpPr>
        <p:spPr>
          <a:xfrm>
            <a:off x="714863" y="1292834"/>
            <a:ext cx="1423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/>
          </a:p>
        </p:txBody>
      </p:sp>
      <p:sp>
        <p:nvSpPr>
          <p:cNvPr id="50" name="Google Shape;50;p4"/>
          <p:cNvSpPr txBox="1"/>
          <p:nvPr/>
        </p:nvSpPr>
        <p:spPr>
          <a:xfrm>
            <a:off x="814441" y="4425073"/>
            <a:ext cx="197099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OLTP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aplicaciones: Producción, Créditos, RRHH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6651081" y="1292834"/>
            <a:ext cx="17864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HERRAMIENTAS DE EXPLOTACIÓN DE LA INFORMACIÓN</a:t>
            </a:r>
            <a:endParaRPr/>
          </a:p>
        </p:txBody>
      </p:sp>
      <p:sp>
        <p:nvSpPr>
          <p:cNvPr id="55" name="Google Shape;55;p4"/>
          <p:cNvSpPr txBox="1"/>
          <p:nvPr/>
        </p:nvSpPr>
        <p:spPr>
          <a:xfrm>
            <a:off x="2659707" y="1292834"/>
            <a:ext cx="14597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HERRAMIENTAS ETL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4817224" y="1292834"/>
            <a:ext cx="14499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b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DIMENSIONAL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814441" y="2376085"/>
            <a:ext cx="12442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operacional</a:t>
            </a:r>
            <a:endParaRPr/>
          </a:p>
        </p:txBody>
      </p:sp>
      <p:pic>
        <p:nvPicPr>
          <p:cNvPr id="59" name="Google Shape;59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5276" y="3585498"/>
            <a:ext cx="612348" cy="294096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4"/>
          <p:cNvSpPr txBox="1"/>
          <p:nvPr/>
        </p:nvSpPr>
        <p:spPr>
          <a:xfrm>
            <a:off x="887377" y="3879594"/>
            <a:ext cx="11015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adquirida</a:t>
            </a:r>
            <a:endParaRPr/>
          </a:p>
        </p:txBody>
      </p:sp>
      <p:graphicFrame>
        <p:nvGraphicFramePr>
          <p:cNvPr id="61" name="Google Shape;61;p4"/>
          <p:cNvGraphicFramePr/>
          <p:nvPr/>
        </p:nvGraphicFramePr>
        <p:xfrm>
          <a:off x="1275075" y="2781403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r:id="rId7" imgW="412750" imgH="363538" progId="MS_ClipArt_Gallery.2">
                  <p:embed/>
                </p:oleObj>
              </mc:Choice>
              <mc:Fallback>
                <p:oleObj r:id="rId7" imgW="412750" imgH="363538" progId="MS_ClipArt_Gallery.2">
                  <p:embed/>
                  <p:pic>
                    <p:nvPicPr>
                      <p:cNvPr id="61" name="Google Shape;61;p4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275075" y="2781403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Google Shape;62;p4"/>
          <p:cNvSpPr txBox="1"/>
          <p:nvPr/>
        </p:nvSpPr>
        <p:spPr>
          <a:xfrm>
            <a:off x="789401" y="3165187"/>
            <a:ext cx="12956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 escritorio</a:t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313894" y="1853066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" name="Google Shape;66;p4"/>
          <p:cNvGrpSpPr/>
          <p:nvPr/>
        </p:nvGrpSpPr>
        <p:grpSpPr>
          <a:xfrm flipH="1">
            <a:off x="4902133" y="2335326"/>
            <a:ext cx="452957" cy="382588"/>
            <a:chOff x="1488" y="1248"/>
            <a:chExt cx="403" cy="288"/>
          </a:xfrm>
        </p:grpSpPr>
        <p:sp>
          <p:nvSpPr>
            <p:cNvPr id="67" name="Google Shape;67;p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70;p4"/>
          <p:cNvGrpSpPr/>
          <p:nvPr/>
        </p:nvGrpSpPr>
        <p:grpSpPr>
          <a:xfrm flipH="1">
            <a:off x="4897637" y="2911894"/>
            <a:ext cx="452957" cy="382588"/>
            <a:chOff x="1488" y="1248"/>
            <a:chExt cx="403" cy="288"/>
          </a:xfrm>
        </p:grpSpPr>
        <p:sp>
          <p:nvSpPr>
            <p:cNvPr id="71" name="Google Shape;71;p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4" name="Google Shape;74;p4"/>
          <p:cNvGrpSpPr/>
          <p:nvPr/>
        </p:nvGrpSpPr>
        <p:grpSpPr>
          <a:xfrm flipH="1">
            <a:off x="4902133" y="3486566"/>
            <a:ext cx="452957" cy="382588"/>
            <a:chOff x="1488" y="1248"/>
            <a:chExt cx="403" cy="288"/>
          </a:xfrm>
        </p:grpSpPr>
        <p:sp>
          <p:nvSpPr>
            <p:cNvPr id="75" name="Google Shape;75;p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4"/>
          <p:cNvSpPr txBox="1"/>
          <p:nvPr/>
        </p:nvSpPr>
        <p:spPr>
          <a:xfrm>
            <a:off x="4979636" y="1907917"/>
            <a:ext cx="87229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marts</a:t>
            </a:r>
            <a:endParaRPr/>
          </a:p>
        </p:txBody>
      </p:sp>
      <p:sp>
        <p:nvSpPr>
          <p:cNvPr id="79" name="Google Shape;79;p4"/>
          <p:cNvSpPr txBox="1"/>
          <p:nvPr/>
        </p:nvSpPr>
        <p:spPr>
          <a:xfrm>
            <a:off x="5415275" y="2381301"/>
            <a:ext cx="6033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/>
          </a:p>
        </p:txBody>
      </p:sp>
      <p:sp>
        <p:nvSpPr>
          <p:cNvPr id="80" name="Google Shape;80;p4"/>
          <p:cNvSpPr txBox="1"/>
          <p:nvPr/>
        </p:nvSpPr>
        <p:spPr>
          <a:xfrm>
            <a:off x="5415275" y="2955937"/>
            <a:ext cx="71750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5415275" y="3523532"/>
            <a:ext cx="6801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</p:txBody>
      </p:sp>
      <p:grpSp>
        <p:nvGrpSpPr>
          <p:cNvPr id="82" name="Google Shape;82;p4"/>
          <p:cNvGrpSpPr/>
          <p:nvPr/>
        </p:nvGrpSpPr>
        <p:grpSpPr>
          <a:xfrm flipH="1">
            <a:off x="6786574" y="2179320"/>
            <a:ext cx="447592" cy="449580"/>
            <a:chOff x="2449" y="2352"/>
            <a:chExt cx="230" cy="240"/>
          </a:xfrm>
        </p:grpSpPr>
        <p:sp>
          <p:nvSpPr>
            <p:cNvPr id="83" name="Google Shape;83;p4"/>
            <p:cNvSpPr/>
            <p:nvPr/>
          </p:nvSpPr>
          <p:spPr>
            <a:xfrm flipH="1">
              <a:off x="2452" y="2356"/>
              <a:ext cx="224" cy="231"/>
            </a:xfrm>
            <a:prstGeom prst="cube">
              <a:avLst>
                <a:gd name="adj" fmla="val 24995"/>
              </a:avLst>
            </a:prstGeom>
            <a:solidFill>
              <a:srgbClr val="FF9900"/>
            </a:solidFill>
            <a:ln w="12700" cap="flat" cmpd="sng">
              <a:solidFill>
                <a:schemeClr val="lt2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4" name="Google Shape;84;p4"/>
            <p:cNvCxnSpPr/>
            <p:nvPr/>
          </p:nvCxnSpPr>
          <p:spPr>
            <a:xfrm>
              <a:off x="2644" y="2412"/>
              <a:ext cx="0" cy="177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4"/>
            <p:cNvCxnSpPr/>
            <p:nvPr/>
          </p:nvCxnSpPr>
          <p:spPr>
            <a:xfrm>
              <a:off x="2610" y="2412"/>
              <a:ext cx="0" cy="178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4"/>
            <p:cNvCxnSpPr/>
            <p:nvPr/>
          </p:nvCxnSpPr>
          <p:spPr>
            <a:xfrm>
              <a:off x="2486" y="2391"/>
              <a:ext cx="0" cy="178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4"/>
            <p:cNvCxnSpPr/>
            <p:nvPr/>
          </p:nvCxnSpPr>
          <p:spPr>
            <a:xfrm>
              <a:off x="2468" y="2372"/>
              <a:ext cx="0" cy="178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4"/>
            <p:cNvCxnSpPr/>
            <p:nvPr/>
          </p:nvCxnSpPr>
          <p:spPr>
            <a:xfrm rot="10800000">
              <a:off x="2486" y="2394"/>
              <a:ext cx="177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4"/>
            <p:cNvCxnSpPr/>
            <p:nvPr/>
          </p:nvCxnSpPr>
          <p:spPr>
            <a:xfrm rot="10800000">
              <a:off x="2468" y="2372"/>
              <a:ext cx="176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4"/>
            <p:cNvCxnSpPr/>
            <p:nvPr/>
          </p:nvCxnSpPr>
          <p:spPr>
            <a:xfrm rot="10800000">
              <a:off x="2502" y="2448"/>
              <a:ext cx="177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4"/>
            <p:cNvCxnSpPr/>
            <p:nvPr/>
          </p:nvCxnSpPr>
          <p:spPr>
            <a:xfrm rot="10800000">
              <a:off x="2502" y="2485"/>
              <a:ext cx="177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4"/>
            <p:cNvCxnSpPr/>
            <p:nvPr/>
          </p:nvCxnSpPr>
          <p:spPr>
            <a:xfrm rot="10800000">
              <a:off x="2502" y="2522"/>
              <a:ext cx="177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4"/>
            <p:cNvCxnSpPr/>
            <p:nvPr/>
          </p:nvCxnSpPr>
          <p:spPr>
            <a:xfrm rot="10800000">
              <a:off x="2502" y="2559"/>
              <a:ext cx="177" cy="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4"/>
            <p:cNvCxnSpPr/>
            <p:nvPr/>
          </p:nvCxnSpPr>
          <p:spPr>
            <a:xfrm>
              <a:off x="2577" y="2412"/>
              <a:ext cx="0" cy="179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4"/>
            <p:cNvCxnSpPr/>
            <p:nvPr/>
          </p:nvCxnSpPr>
          <p:spPr>
            <a:xfrm>
              <a:off x="2544" y="2413"/>
              <a:ext cx="0" cy="179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4"/>
            <p:cNvCxnSpPr/>
            <p:nvPr/>
          </p:nvCxnSpPr>
          <p:spPr>
            <a:xfrm rot="10800000">
              <a:off x="2591" y="2352"/>
              <a:ext cx="53" cy="59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4"/>
            <p:cNvCxnSpPr/>
            <p:nvPr/>
          </p:nvCxnSpPr>
          <p:spPr>
            <a:xfrm rot="10800000">
              <a:off x="2558" y="2355"/>
              <a:ext cx="53" cy="58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4"/>
            <p:cNvCxnSpPr/>
            <p:nvPr/>
          </p:nvCxnSpPr>
          <p:spPr>
            <a:xfrm rot="10800000">
              <a:off x="2525" y="2353"/>
              <a:ext cx="54" cy="59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4"/>
            <p:cNvCxnSpPr/>
            <p:nvPr/>
          </p:nvCxnSpPr>
          <p:spPr>
            <a:xfrm rot="10800000">
              <a:off x="2492" y="2355"/>
              <a:ext cx="52" cy="58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4"/>
            <p:cNvCxnSpPr/>
            <p:nvPr/>
          </p:nvCxnSpPr>
          <p:spPr>
            <a:xfrm rot="10800000">
              <a:off x="2450" y="2388"/>
              <a:ext cx="53" cy="6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4"/>
            <p:cNvCxnSpPr/>
            <p:nvPr/>
          </p:nvCxnSpPr>
          <p:spPr>
            <a:xfrm rot="10800000">
              <a:off x="2449" y="2422"/>
              <a:ext cx="53" cy="6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4"/>
            <p:cNvCxnSpPr/>
            <p:nvPr/>
          </p:nvCxnSpPr>
          <p:spPr>
            <a:xfrm rot="10800000">
              <a:off x="2450" y="2463"/>
              <a:ext cx="53" cy="59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4"/>
            <p:cNvCxnSpPr/>
            <p:nvPr/>
          </p:nvCxnSpPr>
          <p:spPr>
            <a:xfrm rot="10800000">
              <a:off x="2449" y="2495"/>
              <a:ext cx="53" cy="60"/>
            </a:xfrm>
            <a:prstGeom prst="straightConnector1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04" name="Google Shape;104;p4"/>
          <p:cNvSpPr txBox="1"/>
          <p:nvPr/>
        </p:nvSpPr>
        <p:spPr>
          <a:xfrm>
            <a:off x="6566819" y="2662785"/>
            <a:ext cx="8803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Cubo OLAP</a:t>
            </a:r>
            <a:endParaRPr/>
          </a:p>
        </p:txBody>
      </p:sp>
      <p:sp>
        <p:nvSpPr>
          <p:cNvPr id="105" name="Google Shape;105;p4"/>
          <p:cNvSpPr txBox="1"/>
          <p:nvPr/>
        </p:nvSpPr>
        <p:spPr>
          <a:xfrm>
            <a:off x="7579217" y="2662785"/>
            <a:ext cx="74456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Reportes</a:t>
            </a:r>
            <a:endParaRPr dirty="0"/>
          </a:p>
        </p:txBody>
      </p:sp>
      <p:sp>
        <p:nvSpPr>
          <p:cNvPr id="107" name="Google Shape;107;p4"/>
          <p:cNvSpPr txBox="1"/>
          <p:nvPr/>
        </p:nvSpPr>
        <p:spPr>
          <a:xfrm>
            <a:off x="6881093" y="3408560"/>
            <a:ext cx="1242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Minería de datos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2693997" y="4425073"/>
            <a:ext cx="14823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Y ESTANDARIZACIÓN</a:t>
            </a:r>
            <a:endParaRPr/>
          </a:p>
        </p:txBody>
      </p:sp>
      <p:sp>
        <p:nvSpPr>
          <p:cNvPr id="109" name="Google Shape;109;p4"/>
          <p:cNvSpPr txBox="1"/>
          <p:nvPr/>
        </p:nvSpPr>
        <p:spPr>
          <a:xfrm>
            <a:off x="4869920" y="4425073"/>
            <a:ext cx="168972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temas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7065520" y="4425073"/>
            <a:ext cx="122123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USUARIOS DEL NEGOCIO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6341889" y="1853066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390389" y="1863748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158C3A98-E791-AA6D-1C9A-0C5A45F96718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VISIÓN GENERAL DE LA ARQUITECTURA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</a:rPr>
              <a:t> </a:t>
            </a:r>
          </a:p>
        </p:txBody>
      </p: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261C00F5-0F45-F9BB-5148-EC51EA833285}"/>
              </a:ext>
            </a:extLst>
          </p:cNvPr>
          <p:cNvSpPr/>
          <p:nvPr/>
        </p:nvSpPr>
        <p:spPr>
          <a:xfrm>
            <a:off x="503238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TRANSACCIONALES U OPERACIONALES</a:t>
            </a:r>
            <a:endParaRPr lang="es-PE" sz="12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C0E3204-525E-D43D-8B12-75C0FC6CF02D}"/>
              </a:ext>
            </a:extLst>
          </p:cNvPr>
          <p:cNvGrpSpPr/>
          <p:nvPr/>
        </p:nvGrpSpPr>
        <p:grpSpPr>
          <a:xfrm>
            <a:off x="387487" y="959208"/>
            <a:ext cx="251235" cy="220806"/>
            <a:chOff x="301599" y="2767061"/>
            <a:chExt cx="459474" cy="40382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757F1BEC-3691-DB87-7612-2879622B2044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652DC50A-1960-91DC-93FF-3FAB254B3622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8D295346-4E30-2998-9435-E98D33162997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E6547FD-34DA-02F0-B5DD-9F0B7DDB1B58}"/>
              </a:ext>
            </a:extLst>
          </p:cNvPr>
          <p:cNvSpPr/>
          <p:nvPr/>
        </p:nvSpPr>
        <p:spPr>
          <a:xfrm>
            <a:off x="4755567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DE ANÁLISIS DE DATOS</a:t>
            </a:r>
            <a:endParaRPr lang="es-PE" sz="1200" dirty="0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99E6020-EA79-9E23-9C48-C2D7A9B62432}"/>
              </a:ext>
            </a:extLst>
          </p:cNvPr>
          <p:cNvGrpSpPr/>
          <p:nvPr/>
        </p:nvGrpSpPr>
        <p:grpSpPr>
          <a:xfrm>
            <a:off x="4639816" y="959208"/>
            <a:ext cx="251235" cy="220806"/>
            <a:chOff x="301599" y="2767061"/>
            <a:chExt cx="459474" cy="403823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5A4C7D3C-2931-6B1F-7C3E-253A9EB0E31F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1D843140-787D-BD4F-08D6-D72C023B7F23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13" name="Triángulo 12">
              <a:extLst>
                <a:ext uri="{FF2B5EF4-FFF2-40B4-BE49-F238E27FC236}">
                  <a16:creationId xmlns:a16="http://schemas.microsoft.com/office/drawing/2014/main" id="{710F5A2C-CB3B-5238-DA25-82734A480B44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A60CB6CC-2DA9-3F57-A40B-9AD43A0676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88932" y="3820067"/>
            <a:ext cx="543114" cy="543114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B01642E7-D1F2-7B9A-227B-44D252BC1F5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0407" y="2028639"/>
            <a:ext cx="613373" cy="613373"/>
          </a:xfrm>
          <a:prstGeom prst="rect">
            <a:avLst/>
          </a:prstGeom>
        </p:spPr>
      </p:pic>
      <p:sp>
        <p:nvSpPr>
          <p:cNvPr id="20" name="Rectángulo redondeado 19">
            <a:extLst>
              <a:ext uri="{FF2B5EF4-FFF2-40B4-BE49-F238E27FC236}">
                <a16:creationId xmlns:a16="http://schemas.microsoft.com/office/drawing/2014/main" id="{E95EAB4A-208F-4157-7A64-7D65DE4ACA93}"/>
              </a:ext>
            </a:extLst>
          </p:cNvPr>
          <p:cNvSpPr/>
          <p:nvPr/>
        </p:nvSpPr>
        <p:spPr>
          <a:xfrm>
            <a:off x="2736236" y="2062773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lang="es-PE" sz="1200" dirty="0"/>
          </a:p>
        </p:txBody>
      </p:sp>
      <p:sp>
        <p:nvSpPr>
          <p:cNvPr id="21" name="Rectángulo redondeado 20">
            <a:extLst>
              <a:ext uri="{FF2B5EF4-FFF2-40B4-BE49-F238E27FC236}">
                <a16:creationId xmlns:a16="http://schemas.microsoft.com/office/drawing/2014/main" id="{ADA2CA46-3C4E-E79E-1870-5CC9D0385177}"/>
              </a:ext>
            </a:extLst>
          </p:cNvPr>
          <p:cNvSpPr/>
          <p:nvPr/>
        </p:nvSpPr>
        <p:spPr>
          <a:xfrm>
            <a:off x="2736235" y="2809160"/>
            <a:ext cx="1236733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lang="es-PE" sz="1200" dirty="0"/>
          </a:p>
        </p:txBody>
      </p:sp>
      <p:sp>
        <p:nvSpPr>
          <p:cNvPr id="22" name="Rectángulo redondeado 21">
            <a:extLst>
              <a:ext uri="{FF2B5EF4-FFF2-40B4-BE49-F238E27FC236}">
                <a16:creationId xmlns:a16="http://schemas.microsoft.com/office/drawing/2014/main" id="{DCC49DED-77F1-0502-37C3-7A176E672591}"/>
              </a:ext>
            </a:extLst>
          </p:cNvPr>
          <p:cNvSpPr/>
          <p:nvPr/>
        </p:nvSpPr>
        <p:spPr>
          <a:xfrm>
            <a:off x="2736236" y="3585498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 lang="es-PE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993558" cy="14578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COMPONENTES DE UNA SOLUCIÓN </a:t>
            </a:r>
            <a:b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</a:br>
            <a: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DE INTELIGENCIA DE NEGOCIOS: </a:t>
            </a:r>
            <a:b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</a:br>
            <a:r>
              <a:rPr lang="es-PE" sz="24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FUENTES DE DATOS</a:t>
            </a: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6945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8863" y="1915696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6"/>
          <p:cNvSpPr txBox="1"/>
          <p:nvPr/>
        </p:nvSpPr>
        <p:spPr>
          <a:xfrm>
            <a:off x="1138671" y="1479594"/>
            <a:ext cx="1423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/>
          </a:p>
        </p:txBody>
      </p:sp>
      <p:sp>
        <p:nvSpPr>
          <p:cNvPr id="126" name="Google Shape;126;p6"/>
          <p:cNvSpPr txBox="1"/>
          <p:nvPr/>
        </p:nvSpPr>
        <p:spPr>
          <a:xfrm>
            <a:off x="480302" y="4513319"/>
            <a:ext cx="251341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OLTP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aplicaciones: Producción, Créditos, RRHH</a:t>
            </a:r>
            <a:endParaRPr dirty="0"/>
          </a:p>
        </p:txBody>
      </p:sp>
      <p:sp>
        <p:nvSpPr>
          <p:cNvPr id="129" name="Google Shape;129;p6"/>
          <p:cNvSpPr txBox="1"/>
          <p:nvPr/>
        </p:nvSpPr>
        <p:spPr>
          <a:xfrm>
            <a:off x="1228247" y="2438715"/>
            <a:ext cx="12442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operacional</a:t>
            </a:r>
            <a:endParaRPr/>
          </a:p>
        </p:txBody>
      </p:sp>
      <p:pic>
        <p:nvPicPr>
          <p:cNvPr id="130" name="Google Shape;130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4198" y="3648128"/>
            <a:ext cx="612348" cy="29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1299613" y="3942224"/>
            <a:ext cx="11015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adquirida</a:t>
            </a:r>
            <a:endParaRPr/>
          </a:p>
        </p:txBody>
      </p:sp>
      <p:graphicFrame>
        <p:nvGraphicFramePr>
          <p:cNvPr id="132" name="Google Shape;132;p6"/>
          <p:cNvGraphicFramePr/>
          <p:nvPr/>
        </p:nvGraphicFramePr>
        <p:xfrm>
          <a:off x="1643997" y="2844033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132" name="Google Shape;132;p6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643997" y="2844033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" name="Google Shape;133;p6"/>
          <p:cNvSpPr txBox="1"/>
          <p:nvPr/>
        </p:nvSpPr>
        <p:spPr>
          <a:xfrm>
            <a:off x="1202567" y="3227817"/>
            <a:ext cx="12956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 escritorio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4330852" y="1862690"/>
            <a:ext cx="4344836" cy="15081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FUENTES DE DATOS PUEDEN INCLUIR:</a:t>
            </a:r>
            <a:endParaRPr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 relacionales de aplicaciones.</a:t>
            </a:r>
            <a:endParaRPr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Bases de datos propietarias.</a:t>
            </a:r>
            <a:endParaRPr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Documentos.</a:t>
            </a:r>
            <a:endParaRPr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externos.</a:t>
            </a:r>
            <a:endParaRPr/>
          </a:p>
          <a:p>
            <a:pPr marL="180975" marR="0" lvl="0" indent="-1809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Flujo de datos en tiempo real.</a:t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3449622" y="1863748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5BDFA67E-4304-9D20-A1BF-422BAB00E32A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FUENTES DE DATOS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E3E79DB2-F9A6-1DFA-7E03-D9557D3791E6}"/>
              </a:ext>
            </a:extLst>
          </p:cNvPr>
          <p:cNvSpPr/>
          <p:nvPr/>
        </p:nvSpPr>
        <p:spPr>
          <a:xfrm>
            <a:off x="503238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TRANSACCIONALES U OPERACIONALES</a:t>
            </a:r>
            <a:endParaRPr lang="es-PE" sz="12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304C1EA2-2AD7-663C-82FC-E80FD7FB976F}"/>
              </a:ext>
            </a:extLst>
          </p:cNvPr>
          <p:cNvGrpSpPr/>
          <p:nvPr/>
        </p:nvGrpSpPr>
        <p:grpSpPr>
          <a:xfrm>
            <a:off x="387487" y="959208"/>
            <a:ext cx="251235" cy="220806"/>
            <a:chOff x="301599" y="2767061"/>
            <a:chExt cx="459474" cy="40382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ABA4B2C1-689B-5759-9906-E4D3D596A398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E9DB5964-CF8E-1FE5-0747-B850E2A3B1BB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7299645B-C25A-88D4-00D8-FFFC0C650C89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488776" y="4475178"/>
            <a:ext cx="2309187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OLTP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aplicaciones: Producción, Créditos, RRHH</a:t>
            </a:r>
            <a:endParaRPr/>
          </a:p>
        </p:txBody>
      </p:sp>
      <p:sp>
        <p:nvSpPr>
          <p:cNvPr id="143" name="Google Shape;143;p7"/>
          <p:cNvSpPr txBox="1"/>
          <p:nvPr/>
        </p:nvSpPr>
        <p:spPr>
          <a:xfrm>
            <a:off x="4330852" y="1863748"/>
            <a:ext cx="4309911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AUDITAR LAS FUENTES DE DATOS PARA ESTABLECER: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contenidos en cada fuente.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Volumen almacenado y generado.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Tipos de datos y dominio.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Llaves y códigos propios del negocio.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Problemas de integridad y valores nulos.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Duplicidad e inconsistencias.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actuales de integración.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y actualización.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3449622" y="1863748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8863" y="1915696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7"/>
          <p:cNvSpPr txBox="1"/>
          <p:nvPr/>
        </p:nvSpPr>
        <p:spPr>
          <a:xfrm>
            <a:off x="1138671" y="1479594"/>
            <a:ext cx="1423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228247" y="2438715"/>
            <a:ext cx="12442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operacional</a:t>
            </a:r>
            <a:endParaRPr/>
          </a:p>
        </p:txBody>
      </p:sp>
      <p:pic>
        <p:nvPicPr>
          <p:cNvPr id="148" name="Google Shape;148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44198" y="3648128"/>
            <a:ext cx="612348" cy="29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7"/>
          <p:cNvSpPr txBox="1"/>
          <p:nvPr/>
        </p:nvSpPr>
        <p:spPr>
          <a:xfrm>
            <a:off x="1299613" y="3942224"/>
            <a:ext cx="110151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adquirida</a:t>
            </a:r>
            <a:endParaRPr/>
          </a:p>
        </p:txBody>
      </p:sp>
      <p:graphicFrame>
        <p:nvGraphicFramePr>
          <p:cNvPr id="150" name="Google Shape;150;p7"/>
          <p:cNvGraphicFramePr/>
          <p:nvPr/>
        </p:nvGraphicFramePr>
        <p:xfrm>
          <a:off x="1643997" y="2844033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150" name="Google Shape;150;p7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643997" y="2844033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Google Shape;151;p7"/>
          <p:cNvSpPr txBox="1"/>
          <p:nvPr/>
        </p:nvSpPr>
        <p:spPr>
          <a:xfrm>
            <a:off x="1202567" y="3227817"/>
            <a:ext cx="12956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 escritorio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4417EA7-A145-AA3C-944F-AEB291390E0F}"/>
              </a:ext>
            </a:extLst>
          </p:cNvPr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FUENTES DE DATOS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F5FF0912-D84C-C6F2-E9A8-8EE78AC8A25A}"/>
              </a:ext>
            </a:extLst>
          </p:cNvPr>
          <p:cNvSpPr/>
          <p:nvPr/>
        </p:nvSpPr>
        <p:spPr>
          <a:xfrm>
            <a:off x="503238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TRANSACCIONALES U OPERACIONALES</a:t>
            </a:r>
            <a:endParaRPr lang="es-PE" sz="12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BBF22F5A-8225-C9B0-4B3E-A2B133081CFA}"/>
              </a:ext>
            </a:extLst>
          </p:cNvPr>
          <p:cNvGrpSpPr/>
          <p:nvPr/>
        </p:nvGrpSpPr>
        <p:grpSpPr>
          <a:xfrm>
            <a:off x="387487" y="959208"/>
            <a:ext cx="251235" cy="220806"/>
            <a:chOff x="301599" y="2767061"/>
            <a:chExt cx="459474" cy="40382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4E20126-71B7-1425-BEC5-ABEFD219B856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4A673611-9389-FE92-ACD2-F7F288336576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75F33D98-1F76-6A26-4C4D-D39F8FB50CF0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421017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COMPONENTES DE UNA SOLUCIÓN DE INTELIGENCIA DE NEGOCIOS: </a:t>
            </a:r>
            <a:r>
              <a:rPr lang="es-PE" sz="24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HERRAMIENTAS ETL</a:t>
            </a: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54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941" y="1853066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9"/>
          <p:cNvSpPr txBox="1"/>
          <p:nvPr/>
        </p:nvSpPr>
        <p:spPr>
          <a:xfrm>
            <a:off x="714863" y="1418094"/>
            <a:ext cx="142353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/>
          </a:p>
        </p:txBody>
      </p:sp>
      <p:sp>
        <p:nvSpPr>
          <p:cNvPr id="165" name="Google Shape;165;p9"/>
          <p:cNvSpPr txBox="1"/>
          <p:nvPr/>
        </p:nvSpPr>
        <p:spPr>
          <a:xfrm>
            <a:off x="483034" y="4581910"/>
            <a:ext cx="2302403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OLTP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aplicaciones: Producción, Créditos, RRHH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2659707" y="1418094"/>
            <a:ext cx="146110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HERRAMIENTAS ETL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814441" y="2376085"/>
            <a:ext cx="12442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operacional</a:t>
            </a:r>
            <a:endParaRPr/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5276" y="3585498"/>
            <a:ext cx="612348" cy="29409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 txBox="1"/>
          <p:nvPr/>
        </p:nvSpPr>
        <p:spPr>
          <a:xfrm>
            <a:off x="887377" y="3879594"/>
            <a:ext cx="11015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adquirida</a:t>
            </a:r>
            <a:endParaRPr/>
          </a:p>
        </p:txBody>
      </p:sp>
      <p:graphicFrame>
        <p:nvGraphicFramePr>
          <p:cNvPr id="173" name="Google Shape;173;p9"/>
          <p:cNvGraphicFramePr/>
          <p:nvPr/>
        </p:nvGraphicFramePr>
        <p:xfrm>
          <a:off x="1275075" y="2781403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173" name="Google Shape;173;p9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275075" y="2781403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" name="Google Shape;174;p9"/>
          <p:cNvSpPr txBox="1"/>
          <p:nvPr/>
        </p:nvSpPr>
        <p:spPr>
          <a:xfrm>
            <a:off x="789401" y="3165187"/>
            <a:ext cx="12956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 escritorio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2313894" y="1853066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2827428" y="4581910"/>
            <a:ext cx="148232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Y ESTANDARIZACIÓN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4319588" y="1863748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4834247" y="1674455"/>
            <a:ext cx="3806516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Las herramientas de extracción, transformación y carga buscan consolidar datos de fuentes heterogéneas en una plataforma estándar y en un formato estándar. Incluyen las siguientes operaciones: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Extracción de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Validación de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Limpieza de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Transformación de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Agregación de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de datos.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3F442E2-9935-D2C0-9A8C-CF6D04ED8B55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 - HERRAMIENTAS ETL (EXTRACT, TRANSFORMATION, LOAD)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81179232-1A10-0B06-57C7-8B1C228ED69F}"/>
              </a:ext>
            </a:extLst>
          </p:cNvPr>
          <p:cNvSpPr/>
          <p:nvPr/>
        </p:nvSpPr>
        <p:spPr>
          <a:xfrm>
            <a:off x="503238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TRANSACCIONALES U OPERACIONALES</a:t>
            </a:r>
            <a:endParaRPr lang="es-PE" sz="12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9119EB07-9B44-D1F1-049F-ADE6E017DB2D}"/>
              </a:ext>
            </a:extLst>
          </p:cNvPr>
          <p:cNvGrpSpPr/>
          <p:nvPr/>
        </p:nvGrpSpPr>
        <p:grpSpPr>
          <a:xfrm>
            <a:off x="387487" y="959208"/>
            <a:ext cx="251235" cy="220806"/>
            <a:chOff x="301599" y="2767061"/>
            <a:chExt cx="459474" cy="40382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5349F655-0F24-6FC2-B2F1-44F31C33D133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FEA3152B-8159-0224-9202-88613F13345B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40338BFC-A535-481E-093D-9375A41B5B16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9A6315CF-2547-FF5D-EDFE-6C223AC7FF81}"/>
              </a:ext>
            </a:extLst>
          </p:cNvPr>
          <p:cNvSpPr/>
          <p:nvPr/>
        </p:nvSpPr>
        <p:spPr>
          <a:xfrm>
            <a:off x="2736236" y="2062773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lang="es-PE" sz="1200" dirty="0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CB69FAFA-A8E0-B841-5F19-0A131C41614C}"/>
              </a:ext>
            </a:extLst>
          </p:cNvPr>
          <p:cNvSpPr/>
          <p:nvPr/>
        </p:nvSpPr>
        <p:spPr>
          <a:xfrm>
            <a:off x="2736235" y="2809160"/>
            <a:ext cx="1236733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lang="es-PE" sz="1200" dirty="0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1A38AA86-E126-B8DF-F7D3-1F965CFBDB34}"/>
              </a:ext>
            </a:extLst>
          </p:cNvPr>
          <p:cNvSpPr/>
          <p:nvPr/>
        </p:nvSpPr>
        <p:spPr>
          <a:xfrm>
            <a:off x="2736236" y="3585498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 lang="es-PE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/>
          <p:nvPr/>
        </p:nvSpPr>
        <p:spPr>
          <a:xfrm>
            <a:off x="1840683" y="2097059"/>
            <a:ext cx="1303958" cy="722047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3175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941" y="1724604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 txBox="1"/>
          <p:nvPr/>
        </p:nvSpPr>
        <p:spPr>
          <a:xfrm>
            <a:off x="1122217" y="1393684"/>
            <a:ext cx="7617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3850103" y="1085186"/>
            <a:ext cx="118147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ETL</a:t>
            </a:r>
            <a:endParaRPr/>
          </a:p>
        </p:txBody>
      </p:sp>
      <p:pic>
        <p:nvPicPr>
          <p:cNvPr id="189" name="Google Shape;189;p1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5276" y="2862676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0" name="Google Shape;190;p10"/>
          <p:cNvGraphicFramePr/>
          <p:nvPr/>
        </p:nvGraphicFramePr>
        <p:xfrm>
          <a:off x="1275075" y="2378621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190" name="Google Shape;190;p10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275075" y="2378621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" name="Google Shape;191;p10"/>
          <p:cNvSpPr/>
          <p:nvPr/>
        </p:nvSpPr>
        <p:spPr>
          <a:xfrm>
            <a:off x="1986212" y="2233889"/>
            <a:ext cx="1099888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dirty="0"/>
          </a:p>
        </p:txBody>
      </p:sp>
      <p:pic>
        <p:nvPicPr>
          <p:cNvPr id="192" name="Google Shape;192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4642" y="1670683"/>
            <a:ext cx="650118" cy="14860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0"/>
          <p:cNvSpPr/>
          <p:nvPr/>
        </p:nvSpPr>
        <p:spPr>
          <a:xfrm>
            <a:off x="3850103" y="2237802"/>
            <a:ext cx="1447467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/>
          </a:p>
        </p:txBody>
      </p:sp>
      <p:grpSp>
        <p:nvGrpSpPr>
          <p:cNvPr id="194" name="Google Shape;194;p10"/>
          <p:cNvGrpSpPr/>
          <p:nvPr/>
        </p:nvGrpSpPr>
        <p:grpSpPr>
          <a:xfrm flipH="1">
            <a:off x="7252045" y="1714471"/>
            <a:ext cx="452957" cy="382588"/>
            <a:chOff x="1488" y="1248"/>
            <a:chExt cx="403" cy="288"/>
          </a:xfrm>
        </p:grpSpPr>
        <p:sp>
          <p:nvSpPr>
            <p:cNvPr id="195" name="Google Shape;195;p10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0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10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10"/>
          <p:cNvGrpSpPr/>
          <p:nvPr/>
        </p:nvGrpSpPr>
        <p:grpSpPr>
          <a:xfrm flipH="1">
            <a:off x="7247549" y="2188169"/>
            <a:ext cx="452957" cy="382588"/>
            <a:chOff x="1488" y="1248"/>
            <a:chExt cx="403" cy="288"/>
          </a:xfrm>
        </p:grpSpPr>
        <p:sp>
          <p:nvSpPr>
            <p:cNvPr id="199" name="Google Shape;199;p10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2" name="Google Shape;202;p10"/>
          <p:cNvGrpSpPr/>
          <p:nvPr/>
        </p:nvGrpSpPr>
        <p:grpSpPr>
          <a:xfrm flipH="1">
            <a:off x="7252045" y="2637111"/>
            <a:ext cx="452957" cy="382588"/>
            <a:chOff x="1488" y="1248"/>
            <a:chExt cx="403" cy="288"/>
          </a:xfrm>
        </p:grpSpPr>
        <p:sp>
          <p:nvSpPr>
            <p:cNvPr id="203" name="Google Shape;203;p10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0"/>
          <p:cNvGrpSpPr/>
          <p:nvPr/>
        </p:nvGrpSpPr>
        <p:grpSpPr>
          <a:xfrm flipH="1">
            <a:off x="5434151" y="1800240"/>
            <a:ext cx="555168" cy="1162309"/>
            <a:chOff x="1488" y="1248"/>
            <a:chExt cx="403" cy="288"/>
          </a:xfrm>
        </p:grpSpPr>
        <p:sp>
          <p:nvSpPr>
            <p:cNvPr id="207" name="Google Shape;207;p10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0" name="Google Shape;210;p10"/>
          <p:cNvSpPr/>
          <p:nvPr/>
        </p:nvSpPr>
        <p:spPr>
          <a:xfrm>
            <a:off x="6125900" y="2237802"/>
            <a:ext cx="850214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7080504" y="1398144"/>
            <a:ext cx="84484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DESTINO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 rot="5400000">
            <a:off x="4400901" y="1831851"/>
            <a:ext cx="326646" cy="2839166"/>
          </a:xfrm>
          <a:prstGeom prst="rightBrace">
            <a:avLst>
              <a:gd name="adj1" fmla="val 0"/>
              <a:gd name="adj2" fmla="val 50000"/>
            </a:avLst>
          </a:prstGeom>
          <a:noFill/>
          <a:ln w="25400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3409530" y="3479548"/>
            <a:ext cx="23206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intermedio</a:t>
            </a:r>
            <a:b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"staging area"</a:t>
            </a:r>
            <a:endParaRPr/>
          </a:p>
        </p:txBody>
      </p:sp>
      <p:sp>
        <p:nvSpPr>
          <p:cNvPr id="214" name="Google Shape;214;p10"/>
          <p:cNvSpPr txBox="1"/>
          <p:nvPr/>
        </p:nvSpPr>
        <p:spPr>
          <a:xfrm>
            <a:off x="476250" y="4069377"/>
            <a:ext cx="3373853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Carga inicial.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Identificación de cambios en los datos.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Frecuencia de extracción.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Ventanas de tiempo.</a:t>
            </a:r>
            <a:endParaRPr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Manejo de excepciones.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795035" y="916515"/>
            <a:ext cx="128349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sz="1600" b="1" dirty="0">
              <a:solidFill>
                <a:srgbClr val="EE46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81F38494-A197-6623-868A-E2209100287D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 - HERRAMIENTAS ETL (EXTRACT, TRANSFORMATION, LOAD)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922E12E8-C8BC-CA96-AC45-22F1B2E3BD43}"/>
              </a:ext>
            </a:extLst>
          </p:cNvPr>
          <p:cNvGrpSpPr/>
          <p:nvPr/>
        </p:nvGrpSpPr>
        <p:grpSpPr>
          <a:xfrm>
            <a:off x="511901" y="912280"/>
            <a:ext cx="210869" cy="211672"/>
            <a:chOff x="511901" y="912280"/>
            <a:chExt cx="210869" cy="211672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4685AE50-8083-791A-4D2E-E041BA685C75}"/>
                </a:ext>
              </a:extLst>
            </p:cNvPr>
            <p:cNvSpPr/>
            <p:nvPr/>
          </p:nvSpPr>
          <p:spPr>
            <a:xfrm rot="5400000">
              <a:off x="511500" y="912681"/>
              <a:ext cx="211672" cy="21086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490F118B-6DCB-C114-B1A2-FB0B78C5C8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6792" y="966062"/>
              <a:ext cx="101088" cy="1041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"/>
          <p:cNvSpPr/>
          <p:nvPr/>
        </p:nvSpPr>
        <p:spPr>
          <a:xfrm>
            <a:off x="3794760" y="1920892"/>
            <a:ext cx="1536648" cy="722047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3175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9941" y="1523469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1"/>
          <p:cNvSpPr txBox="1"/>
          <p:nvPr/>
        </p:nvSpPr>
        <p:spPr>
          <a:xfrm>
            <a:off x="1122217" y="1192549"/>
            <a:ext cx="67999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3850103" y="1047260"/>
            <a:ext cx="13236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ETL</a:t>
            </a:r>
            <a:endParaRPr/>
          </a:p>
        </p:txBody>
      </p:sp>
      <p:pic>
        <p:nvPicPr>
          <p:cNvPr id="225" name="Google Shape;225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75276" y="2661541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6" name="Google Shape;226;p11"/>
          <p:cNvGraphicFramePr/>
          <p:nvPr>
            <p:extLst>
              <p:ext uri="{D42A27DB-BD31-4B8C-83A1-F6EECF244321}">
                <p14:modId xmlns:p14="http://schemas.microsoft.com/office/powerpoint/2010/main" val="2860824436"/>
              </p:ext>
            </p:extLst>
          </p:nvPr>
        </p:nvGraphicFramePr>
        <p:xfrm>
          <a:off x="1275075" y="2177486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226" name="Google Shape;226;p11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275075" y="2177486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7" name="Google Shape;227;p11"/>
          <p:cNvSpPr/>
          <p:nvPr/>
        </p:nvSpPr>
        <p:spPr>
          <a:xfrm>
            <a:off x="1986212" y="2032754"/>
            <a:ext cx="1099888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/>
          </a:p>
        </p:txBody>
      </p:sp>
      <p:pic>
        <p:nvPicPr>
          <p:cNvPr id="228" name="Google Shape;22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44642" y="1847261"/>
            <a:ext cx="650118" cy="92318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/>
          <p:nvPr/>
        </p:nvSpPr>
        <p:spPr>
          <a:xfrm>
            <a:off x="3850103" y="2036667"/>
            <a:ext cx="1447467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/>
          </a:p>
        </p:txBody>
      </p:sp>
      <p:grpSp>
        <p:nvGrpSpPr>
          <p:cNvPr id="230" name="Google Shape;230;p11"/>
          <p:cNvGrpSpPr/>
          <p:nvPr/>
        </p:nvGrpSpPr>
        <p:grpSpPr>
          <a:xfrm flipH="1">
            <a:off x="7252045" y="1513336"/>
            <a:ext cx="452957" cy="382588"/>
            <a:chOff x="1488" y="1248"/>
            <a:chExt cx="403" cy="288"/>
          </a:xfrm>
        </p:grpSpPr>
        <p:sp>
          <p:nvSpPr>
            <p:cNvPr id="231" name="Google Shape;231;p11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11"/>
          <p:cNvGrpSpPr/>
          <p:nvPr/>
        </p:nvGrpSpPr>
        <p:grpSpPr>
          <a:xfrm flipH="1">
            <a:off x="7247549" y="1987034"/>
            <a:ext cx="452957" cy="382588"/>
            <a:chOff x="1488" y="1248"/>
            <a:chExt cx="403" cy="288"/>
          </a:xfrm>
        </p:grpSpPr>
        <p:sp>
          <p:nvSpPr>
            <p:cNvPr id="235" name="Google Shape;235;p11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1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1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11"/>
          <p:cNvGrpSpPr/>
          <p:nvPr/>
        </p:nvGrpSpPr>
        <p:grpSpPr>
          <a:xfrm flipH="1">
            <a:off x="7252045" y="2435976"/>
            <a:ext cx="452957" cy="382588"/>
            <a:chOff x="1488" y="1248"/>
            <a:chExt cx="403" cy="288"/>
          </a:xfrm>
        </p:grpSpPr>
        <p:sp>
          <p:nvSpPr>
            <p:cNvPr id="239" name="Google Shape;239;p11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p11"/>
          <p:cNvGrpSpPr/>
          <p:nvPr/>
        </p:nvGrpSpPr>
        <p:grpSpPr>
          <a:xfrm flipH="1">
            <a:off x="5434151" y="1854176"/>
            <a:ext cx="555168" cy="722047"/>
            <a:chOff x="1488" y="1248"/>
            <a:chExt cx="403" cy="288"/>
          </a:xfrm>
        </p:grpSpPr>
        <p:sp>
          <p:nvSpPr>
            <p:cNvPr id="243" name="Google Shape;243;p11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11"/>
          <p:cNvSpPr/>
          <p:nvPr/>
        </p:nvSpPr>
        <p:spPr>
          <a:xfrm>
            <a:off x="6125900" y="2036667"/>
            <a:ext cx="850214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7080504" y="1197009"/>
            <a:ext cx="7507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DESTINO</a:t>
            </a:r>
            <a:endParaRPr/>
          </a:p>
        </p:txBody>
      </p:sp>
      <p:sp>
        <p:nvSpPr>
          <p:cNvPr id="248" name="Google Shape;248;p11"/>
          <p:cNvSpPr/>
          <p:nvPr/>
        </p:nvSpPr>
        <p:spPr>
          <a:xfrm rot="5400000">
            <a:off x="4400901" y="1505067"/>
            <a:ext cx="326646" cy="2839166"/>
          </a:xfrm>
          <a:prstGeom prst="rightBrace">
            <a:avLst>
              <a:gd name="adj1" fmla="val 0"/>
              <a:gd name="adj2" fmla="val 50000"/>
            </a:avLst>
          </a:prstGeom>
          <a:noFill/>
          <a:ln w="25400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3413413" y="3115186"/>
            <a:ext cx="23206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intermedio</a:t>
            </a:r>
            <a:b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"staging area"</a:t>
            </a:r>
            <a:endParaRPr/>
          </a:p>
        </p:txBody>
      </p:sp>
      <p:graphicFrame>
        <p:nvGraphicFramePr>
          <p:cNvPr id="250" name="Google Shape;250;p11"/>
          <p:cNvGraphicFramePr/>
          <p:nvPr>
            <p:extLst>
              <p:ext uri="{D42A27DB-BD31-4B8C-83A1-F6EECF244321}">
                <p14:modId xmlns:p14="http://schemas.microsoft.com/office/powerpoint/2010/main" val="2301413787"/>
              </p:ext>
            </p:extLst>
          </p:nvPr>
        </p:nvGraphicFramePr>
        <p:xfrm>
          <a:off x="2328613" y="3741531"/>
          <a:ext cx="4552108" cy="150713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250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1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10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b="1" u="none" strike="noStrike" cap="none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LIMPIEZA (Cleaning)</a:t>
                      </a:r>
                      <a:endParaRPr sz="1500" b="1" dirty="0">
                        <a:solidFill>
                          <a:schemeClr val="bg1"/>
                        </a:solidFill>
                      </a:endParaRPr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ESTANDARIZACIÓN (Conforming)</a:t>
                      </a:r>
                      <a:endParaRPr sz="1100" b="1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087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datos</a:t>
                      </a:r>
                      <a:endParaRPr sz="1500" dirty="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Unificar codificación</a:t>
                      </a:r>
                      <a:endParaRPr sz="150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62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Corregir datos</a:t>
                      </a:r>
                      <a:endParaRPr sz="1500" dirty="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Diferentes formatos</a:t>
                      </a:r>
                      <a:endParaRPr sz="10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2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Ausencia de datos</a:t>
                      </a:r>
                      <a:endParaRPr sz="150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Unidades de medida</a:t>
                      </a:r>
                      <a:endParaRPr sz="1500" dirty="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826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Eliminar duplicados</a:t>
                      </a:r>
                      <a:endParaRPr sz="150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Dimensiones</a:t>
                      </a:r>
                      <a:endParaRPr sz="1500" dirty="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99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 contradictorios</a:t>
                      </a:r>
                      <a:endParaRPr sz="150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0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Tablas de hechos / agregadas</a:t>
                      </a:r>
                      <a:endParaRPr sz="1500" dirty="0"/>
                    </a:p>
                  </a:txBody>
                  <a:tcPr marL="57751" marR="57751" marT="28886" marB="28886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1" name="Google Shape;251;p11"/>
          <p:cNvSpPr/>
          <p:nvPr/>
        </p:nvSpPr>
        <p:spPr>
          <a:xfrm>
            <a:off x="793803" y="914235"/>
            <a:ext cx="1846275" cy="2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sz="1600" b="1" dirty="0">
              <a:solidFill>
                <a:srgbClr val="EE46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EC947893-8481-EB0B-17FD-F30088C78BBF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 - HERRAMIENTAS ETL (EXTRACT, TRANSFORMATION, LOAD)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27E8FFE6-7D93-A18D-D1A3-7BC78CBC153A}"/>
              </a:ext>
            </a:extLst>
          </p:cNvPr>
          <p:cNvGrpSpPr/>
          <p:nvPr/>
        </p:nvGrpSpPr>
        <p:grpSpPr>
          <a:xfrm>
            <a:off x="511901" y="912280"/>
            <a:ext cx="210869" cy="211672"/>
            <a:chOff x="511901" y="912280"/>
            <a:chExt cx="210869" cy="211672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74AF225D-53E4-1A0C-67B1-D5B3913A0100}"/>
                </a:ext>
              </a:extLst>
            </p:cNvPr>
            <p:cNvSpPr/>
            <p:nvPr/>
          </p:nvSpPr>
          <p:spPr>
            <a:xfrm rot="5400000">
              <a:off x="511500" y="912681"/>
              <a:ext cx="211672" cy="21086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714BFB9E-33D0-1B3F-8A2F-569B553E444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6792" y="966062"/>
              <a:ext cx="101088" cy="1041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12"/>
          <p:cNvGraphicFramePr/>
          <p:nvPr>
            <p:extLst>
              <p:ext uri="{D42A27DB-BD31-4B8C-83A1-F6EECF244321}">
                <p14:modId xmlns:p14="http://schemas.microsoft.com/office/powerpoint/2010/main" val="1983070915"/>
              </p:ext>
            </p:extLst>
          </p:nvPr>
        </p:nvGraphicFramePr>
        <p:xfrm>
          <a:off x="2350396" y="3710983"/>
          <a:ext cx="4443207" cy="152300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196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67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46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 INICIAL</a:t>
                      </a:r>
                      <a:endParaRPr sz="1200" b="1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2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CARGA PERIÓDICA</a:t>
                      </a:r>
                      <a:endParaRPr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29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dirty="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Grandes volúmenes</a:t>
                      </a:r>
                      <a:endParaRPr sz="1600" dirty="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Menos datos</a:t>
                      </a:r>
                      <a:endParaRPr sz="160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8537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60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Incremental</a:t>
                      </a:r>
                      <a:endParaRPr sz="1600" dirty="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568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Varios procesos</a:t>
                      </a:r>
                      <a:endParaRPr sz="160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Procesos menos complejos</a:t>
                      </a:r>
                      <a:endParaRPr sz="1600" dirty="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02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Histórica</a:t>
                      </a:r>
                      <a:endParaRPr sz="160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1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Día a día</a:t>
                      </a:r>
                      <a:endParaRPr sz="1600" dirty="0"/>
                    </a:p>
                  </a:txBody>
                  <a:tcPr marL="62756" marR="62756" marT="31389" marB="31389" anchor="ctr">
                    <a:lnL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714E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C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7" name="Google Shape;287;p12"/>
          <p:cNvSpPr/>
          <p:nvPr/>
        </p:nvSpPr>
        <p:spPr>
          <a:xfrm>
            <a:off x="792163" y="899441"/>
            <a:ext cx="78899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 sz="1600" b="1" dirty="0">
              <a:solidFill>
                <a:srgbClr val="EE463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0ED36E0-0D50-CDA7-2D26-D074C5F15B5A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 - HERRAMIENTAS ETL (EXTRACT, TRANSFORMATION, LOAD)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5F92C5B-3281-4725-FF82-6EC6CFE66348}"/>
              </a:ext>
            </a:extLst>
          </p:cNvPr>
          <p:cNvGrpSpPr/>
          <p:nvPr/>
        </p:nvGrpSpPr>
        <p:grpSpPr>
          <a:xfrm>
            <a:off x="511901" y="912280"/>
            <a:ext cx="210869" cy="211672"/>
            <a:chOff x="511901" y="912280"/>
            <a:chExt cx="210869" cy="211672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1A9C390-5024-73EC-CBE0-B576E32037BC}"/>
                </a:ext>
              </a:extLst>
            </p:cNvPr>
            <p:cNvSpPr/>
            <p:nvPr/>
          </p:nvSpPr>
          <p:spPr>
            <a:xfrm rot="5400000">
              <a:off x="511500" y="912681"/>
              <a:ext cx="211672" cy="21086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644A9D30-16A3-C28D-C88D-CCA574BA2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6792" y="966062"/>
              <a:ext cx="101088" cy="104106"/>
            </a:xfrm>
            <a:prstGeom prst="rect">
              <a:avLst/>
            </a:prstGeom>
          </p:spPr>
        </p:pic>
      </p:grpSp>
      <p:sp>
        <p:nvSpPr>
          <p:cNvPr id="6" name="Google Shape;221;p11">
            <a:extLst>
              <a:ext uri="{FF2B5EF4-FFF2-40B4-BE49-F238E27FC236}">
                <a16:creationId xmlns:a16="http://schemas.microsoft.com/office/drawing/2014/main" id="{3940DC2A-3221-4F8B-DAD8-75D2A7AAC0A6}"/>
              </a:ext>
            </a:extLst>
          </p:cNvPr>
          <p:cNvSpPr/>
          <p:nvPr/>
        </p:nvSpPr>
        <p:spPr>
          <a:xfrm>
            <a:off x="6018977" y="1920892"/>
            <a:ext cx="1061527" cy="722047"/>
          </a:xfrm>
          <a:prstGeom prst="roundRect">
            <a:avLst>
              <a:gd name="adj" fmla="val 16667"/>
            </a:avLst>
          </a:prstGeom>
          <a:solidFill>
            <a:schemeClr val="accent1">
              <a:alpha val="0"/>
            </a:schemeClr>
          </a:solidFill>
          <a:ln w="31750" cap="flat" cmpd="sng">
            <a:solidFill>
              <a:srgbClr val="EE463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22;p11">
            <a:extLst>
              <a:ext uri="{FF2B5EF4-FFF2-40B4-BE49-F238E27FC236}">
                <a16:creationId xmlns:a16="http://schemas.microsoft.com/office/drawing/2014/main" id="{F5FB01A8-9F35-47D2-AA5D-58BD7D83A65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19941" y="1523469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23;p11">
            <a:extLst>
              <a:ext uri="{FF2B5EF4-FFF2-40B4-BE49-F238E27FC236}">
                <a16:creationId xmlns:a16="http://schemas.microsoft.com/office/drawing/2014/main" id="{4E84047A-E3AB-9255-E4C4-91415442DF98}"/>
              </a:ext>
            </a:extLst>
          </p:cNvPr>
          <p:cNvSpPr txBox="1"/>
          <p:nvPr/>
        </p:nvSpPr>
        <p:spPr>
          <a:xfrm>
            <a:off x="1122217" y="1192549"/>
            <a:ext cx="67999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</a:t>
            </a:r>
            <a:endParaRPr/>
          </a:p>
        </p:txBody>
      </p:sp>
      <p:sp>
        <p:nvSpPr>
          <p:cNvPr id="9" name="Google Shape;224;p11">
            <a:extLst>
              <a:ext uri="{FF2B5EF4-FFF2-40B4-BE49-F238E27FC236}">
                <a16:creationId xmlns:a16="http://schemas.microsoft.com/office/drawing/2014/main" id="{EC262DDF-107E-FFD1-0BA1-75C6AC1D9123}"/>
              </a:ext>
            </a:extLst>
          </p:cNvPr>
          <p:cNvSpPr txBox="1"/>
          <p:nvPr/>
        </p:nvSpPr>
        <p:spPr>
          <a:xfrm>
            <a:off x="3850103" y="1047260"/>
            <a:ext cx="1323632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PROCESO ETL</a:t>
            </a:r>
            <a:endParaRPr/>
          </a:p>
        </p:txBody>
      </p:sp>
      <p:pic>
        <p:nvPicPr>
          <p:cNvPr id="10" name="Google Shape;225;p11">
            <a:extLst>
              <a:ext uri="{FF2B5EF4-FFF2-40B4-BE49-F238E27FC236}">
                <a16:creationId xmlns:a16="http://schemas.microsoft.com/office/drawing/2014/main" id="{56BBD6BF-4A3F-8B9D-B0AD-2BDF0C6C801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75276" y="2661541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" name="Google Shape;226;p11">
            <a:extLst>
              <a:ext uri="{FF2B5EF4-FFF2-40B4-BE49-F238E27FC236}">
                <a16:creationId xmlns:a16="http://schemas.microsoft.com/office/drawing/2014/main" id="{387AB517-56D5-BD6F-5682-9DF1FE7303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4306860"/>
              </p:ext>
            </p:extLst>
          </p:nvPr>
        </p:nvGraphicFramePr>
        <p:xfrm>
          <a:off x="1275075" y="2177486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r:id="rId7" imgW="412750" imgH="363538" progId="MS_ClipArt_Gallery.2">
                  <p:embed/>
                </p:oleObj>
              </mc:Choice>
              <mc:Fallback>
                <p:oleObj r:id="rId7" imgW="412750" imgH="363538" progId="MS_ClipArt_Gallery.2">
                  <p:embed/>
                  <p:pic>
                    <p:nvPicPr>
                      <p:cNvPr id="226" name="Google Shape;226;p11"/>
                      <p:cNvPicPr preferRelativeResize="0"/>
                      <p:nvPr/>
                    </p:nvPicPr>
                    <p:blipFill rotWithShape="1">
                      <a:blip r:embed="rId8">
                        <a:alphaModFix/>
                      </a:blip>
                      <a:srcRect/>
                      <a:stretch/>
                    </p:blipFill>
                    <p:spPr>
                      <a:xfrm>
                        <a:off x="1275075" y="2177486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Google Shape;227;p11">
            <a:extLst>
              <a:ext uri="{FF2B5EF4-FFF2-40B4-BE49-F238E27FC236}">
                <a16:creationId xmlns:a16="http://schemas.microsoft.com/office/drawing/2014/main" id="{844F53EE-9644-A230-55B2-AE320CF0EF5E}"/>
              </a:ext>
            </a:extLst>
          </p:cNvPr>
          <p:cNvSpPr/>
          <p:nvPr/>
        </p:nvSpPr>
        <p:spPr>
          <a:xfrm>
            <a:off x="1986212" y="2032754"/>
            <a:ext cx="1099888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/>
          </a:p>
        </p:txBody>
      </p:sp>
      <p:pic>
        <p:nvPicPr>
          <p:cNvPr id="13" name="Google Shape;228;p11">
            <a:extLst>
              <a:ext uri="{FF2B5EF4-FFF2-40B4-BE49-F238E27FC236}">
                <a16:creationId xmlns:a16="http://schemas.microsoft.com/office/drawing/2014/main" id="{EBB541A6-63CF-2B17-5692-B76C909A5EF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144642" y="1847261"/>
            <a:ext cx="650118" cy="92318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29;p11">
            <a:extLst>
              <a:ext uri="{FF2B5EF4-FFF2-40B4-BE49-F238E27FC236}">
                <a16:creationId xmlns:a16="http://schemas.microsoft.com/office/drawing/2014/main" id="{3683D502-45AF-8259-DE2C-615DEF372C3B}"/>
              </a:ext>
            </a:extLst>
          </p:cNvPr>
          <p:cNvSpPr/>
          <p:nvPr/>
        </p:nvSpPr>
        <p:spPr>
          <a:xfrm>
            <a:off x="3850103" y="2036667"/>
            <a:ext cx="1447467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/>
          </a:p>
        </p:txBody>
      </p:sp>
      <p:grpSp>
        <p:nvGrpSpPr>
          <p:cNvPr id="15" name="Google Shape;230;p11">
            <a:extLst>
              <a:ext uri="{FF2B5EF4-FFF2-40B4-BE49-F238E27FC236}">
                <a16:creationId xmlns:a16="http://schemas.microsoft.com/office/drawing/2014/main" id="{65F13AF8-1E58-8E34-028E-48ADF0FB9011}"/>
              </a:ext>
            </a:extLst>
          </p:cNvPr>
          <p:cNvGrpSpPr/>
          <p:nvPr/>
        </p:nvGrpSpPr>
        <p:grpSpPr>
          <a:xfrm flipH="1">
            <a:off x="7252045" y="1513336"/>
            <a:ext cx="452957" cy="382588"/>
            <a:chOff x="1488" y="1248"/>
            <a:chExt cx="403" cy="288"/>
          </a:xfrm>
        </p:grpSpPr>
        <p:sp>
          <p:nvSpPr>
            <p:cNvPr id="16" name="Google Shape;231;p11">
              <a:extLst>
                <a:ext uri="{FF2B5EF4-FFF2-40B4-BE49-F238E27FC236}">
                  <a16:creationId xmlns:a16="http://schemas.microsoft.com/office/drawing/2014/main" id="{CA731DD0-07BE-5A82-27F2-DC0104FC5D22}"/>
                </a:ext>
              </a:extLst>
            </p:cNvPr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32;p11">
              <a:extLst>
                <a:ext uri="{FF2B5EF4-FFF2-40B4-BE49-F238E27FC236}">
                  <a16:creationId xmlns:a16="http://schemas.microsoft.com/office/drawing/2014/main" id="{F7DAFF19-3DF5-5646-8C36-B8099751B6D7}"/>
                </a:ext>
              </a:extLst>
            </p:cNvPr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33;p11">
              <a:extLst>
                <a:ext uri="{FF2B5EF4-FFF2-40B4-BE49-F238E27FC236}">
                  <a16:creationId xmlns:a16="http://schemas.microsoft.com/office/drawing/2014/main" id="{D9DA9793-8316-7855-8E88-3BA1A279D269}"/>
                </a:ext>
              </a:extLst>
            </p:cNvPr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234;p11">
            <a:extLst>
              <a:ext uri="{FF2B5EF4-FFF2-40B4-BE49-F238E27FC236}">
                <a16:creationId xmlns:a16="http://schemas.microsoft.com/office/drawing/2014/main" id="{5098809C-1193-DD34-E154-CAC310A678DD}"/>
              </a:ext>
            </a:extLst>
          </p:cNvPr>
          <p:cNvGrpSpPr/>
          <p:nvPr/>
        </p:nvGrpSpPr>
        <p:grpSpPr>
          <a:xfrm flipH="1">
            <a:off x="7247549" y="1987034"/>
            <a:ext cx="452957" cy="382588"/>
            <a:chOff x="1488" y="1248"/>
            <a:chExt cx="403" cy="288"/>
          </a:xfrm>
        </p:grpSpPr>
        <p:sp>
          <p:nvSpPr>
            <p:cNvPr id="20" name="Google Shape;235;p11">
              <a:extLst>
                <a:ext uri="{FF2B5EF4-FFF2-40B4-BE49-F238E27FC236}">
                  <a16:creationId xmlns:a16="http://schemas.microsoft.com/office/drawing/2014/main" id="{7B146420-6165-07CC-DFE7-8CC08C702B32}"/>
                </a:ext>
              </a:extLst>
            </p:cNvPr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36;p11">
              <a:extLst>
                <a:ext uri="{FF2B5EF4-FFF2-40B4-BE49-F238E27FC236}">
                  <a16:creationId xmlns:a16="http://schemas.microsoft.com/office/drawing/2014/main" id="{86B55063-E943-A012-9B31-798FBA3F94FD}"/>
                </a:ext>
              </a:extLst>
            </p:cNvPr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7;p11">
              <a:extLst>
                <a:ext uri="{FF2B5EF4-FFF2-40B4-BE49-F238E27FC236}">
                  <a16:creationId xmlns:a16="http://schemas.microsoft.com/office/drawing/2014/main" id="{309622D9-0A60-3A5D-4A32-71D52E4D8B2F}"/>
                </a:ext>
              </a:extLst>
            </p:cNvPr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8;p11">
            <a:extLst>
              <a:ext uri="{FF2B5EF4-FFF2-40B4-BE49-F238E27FC236}">
                <a16:creationId xmlns:a16="http://schemas.microsoft.com/office/drawing/2014/main" id="{AFC1D9FF-5C37-12F7-5DD3-8BC90C4444A4}"/>
              </a:ext>
            </a:extLst>
          </p:cNvPr>
          <p:cNvGrpSpPr/>
          <p:nvPr/>
        </p:nvGrpSpPr>
        <p:grpSpPr>
          <a:xfrm flipH="1">
            <a:off x="7252045" y="2435976"/>
            <a:ext cx="452957" cy="382588"/>
            <a:chOff x="1488" y="1248"/>
            <a:chExt cx="403" cy="288"/>
          </a:xfrm>
        </p:grpSpPr>
        <p:sp>
          <p:nvSpPr>
            <p:cNvPr id="24" name="Google Shape;239;p11">
              <a:extLst>
                <a:ext uri="{FF2B5EF4-FFF2-40B4-BE49-F238E27FC236}">
                  <a16:creationId xmlns:a16="http://schemas.microsoft.com/office/drawing/2014/main" id="{2E7E7F4C-7EC5-8A54-6CB2-6A0B8DE10346}"/>
                </a:ext>
              </a:extLst>
            </p:cNvPr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40;p11">
              <a:extLst>
                <a:ext uri="{FF2B5EF4-FFF2-40B4-BE49-F238E27FC236}">
                  <a16:creationId xmlns:a16="http://schemas.microsoft.com/office/drawing/2014/main" id="{423A687F-94BE-9819-A7B0-8B5E27EB3C69}"/>
                </a:ext>
              </a:extLst>
            </p:cNvPr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41;p11">
              <a:extLst>
                <a:ext uri="{FF2B5EF4-FFF2-40B4-BE49-F238E27FC236}">
                  <a16:creationId xmlns:a16="http://schemas.microsoft.com/office/drawing/2014/main" id="{B658DE59-5EB5-114E-355F-38297DD3436A}"/>
                </a:ext>
              </a:extLst>
            </p:cNvPr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" name="Google Shape;242;p11">
            <a:extLst>
              <a:ext uri="{FF2B5EF4-FFF2-40B4-BE49-F238E27FC236}">
                <a16:creationId xmlns:a16="http://schemas.microsoft.com/office/drawing/2014/main" id="{9FB72B10-9290-1F1D-C0CC-0F48C04E77AD}"/>
              </a:ext>
            </a:extLst>
          </p:cNvPr>
          <p:cNvGrpSpPr/>
          <p:nvPr/>
        </p:nvGrpSpPr>
        <p:grpSpPr>
          <a:xfrm flipH="1">
            <a:off x="5434151" y="1854176"/>
            <a:ext cx="555168" cy="722047"/>
            <a:chOff x="1488" y="1248"/>
            <a:chExt cx="403" cy="288"/>
          </a:xfrm>
        </p:grpSpPr>
        <p:sp>
          <p:nvSpPr>
            <p:cNvPr id="28" name="Google Shape;243;p11">
              <a:extLst>
                <a:ext uri="{FF2B5EF4-FFF2-40B4-BE49-F238E27FC236}">
                  <a16:creationId xmlns:a16="http://schemas.microsoft.com/office/drawing/2014/main" id="{C1EBD28B-859E-AF6D-F760-F42B552A32E6}"/>
                </a:ext>
              </a:extLst>
            </p:cNvPr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44;p11">
              <a:extLst>
                <a:ext uri="{FF2B5EF4-FFF2-40B4-BE49-F238E27FC236}">
                  <a16:creationId xmlns:a16="http://schemas.microsoft.com/office/drawing/2014/main" id="{F352A9C2-73E3-3514-0357-6BCE45F57BDD}"/>
                </a:ext>
              </a:extLst>
            </p:cNvPr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45;p11">
              <a:extLst>
                <a:ext uri="{FF2B5EF4-FFF2-40B4-BE49-F238E27FC236}">
                  <a16:creationId xmlns:a16="http://schemas.microsoft.com/office/drawing/2014/main" id="{E091028C-522E-5128-C6BA-B4866DA048CA}"/>
                </a:ext>
              </a:extLst>
            </p:cNvPr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246;p11">
            <a:extLst>
              <a:ext uri="{FF2B5EF4-FFF2-40B4-BE49-F238E27FC236}">
                <a16:creationId xmlns:a16="http://schemas.microsoft.com/office/drawing/2014/main" id="{97363123-AAC6-8AF2-841B-5CF926F35C37}"/>
              </a:ext>
            </a:extLst>
          </p:cNvPr>
          <p:cNvSpPr/>
          <p:nvPr/>
        </p:nvSpPr>
        <p:spPr>
          <a:xfrm>
            <a:off x="6125900" y="2036667"/>
            <a:ext cx="850214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/>
          </a:p>
        </p:txBody>
      </p:sp>
      <p:sp>
        <p:nvSpPr>
          <p:cNvPr id="32" name="Google Shape;247;p11">
            <a:extLst>
              <a:ext uri="{FF2B5EF4-FFF2-40B4-BE49-F238E27FC236}">
                <a16:creationId xmlns:a16="http://schemas.microsoft.com/office/drawing/2014/main" id="{0CFA76C2-7A6C-48E4-7B73-F7ED37337653}"/>
              </a:ext>
            </a:extLst>
          </p:cNvPr>
          <p:cNvSpPr txBox="1"/>
          <p:nvPr/>
        </p:nvSpPr>
        <p:spPr>
          <a:xfrm>
            <a:off x="7080504" y="1197009"/>
            <a:ext cx="75078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DESTINO</a:t>
            </a:r>
            <a:endParaRPr/>
          </a:p>
        </p:txBody>
      </p:sp>
      <p:sp>
        <p:nvSpPr>
          <p:cNvPr id="33" name="Google Shape;248;p11">
            <a:extLst>
              <a:ext uri="{FF2B5EF4-FFF2-40B4-BE49-F238E27FC236}">
                <a16:creationId xmlns:a16="http://schemas.microsoft.com/office/drawing/2014/main" id="{C9102928-7442-B734-D041-39A72A731060}"/>
              </a:ext>
            </a:extLst>
          </p:cNvPr>
          <p:cNvSpPr/>
          <p:nvPr/>
        </p:nvSpPr>
        <p:spPr>
          <a:xfrm rot="5400000">
            <a:off x="4400901" y="1505067"/>
            <a:ext cx="326646" cy="2839166"/>
          </a:xfrm>
          <a:prstGeom prst="rightBrace">
            <a:avLst>
              <a:gd name="adj1" fmla="val 0"/>
              <a:gd name="adj2" fmla="val 50000"/>
            </a:avLst>
          </a:prstGeom>
          <a:noFill/>
          <a:ln w="25400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249;p11">
            <a:extLst>
              <a:ext uri="{FF2B5EF4-FFF2-40B4-BE49-F238E27FC236}">
                <a16:creationId xmlns:a16="http://schemas.microsoft.com/office/drawing/2014/main" id="{C149A189-AD4C-D60E-4C75-A1BB54E1CA1D}"/>
              </a:ext>
            </a:extLst>
          </p:cNvPr>
          <p:cNvSpPr txBox="1"/>
          <p:nvPr/>
        </p:nvSpPr>
        <p:spPr>
          <a:xfrm>
            <a:off x="3413413" y="3115186"/>
            <a:ext cx="2320636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Almacenamiento intermedio</a:t>
            </a:r>
            <a:b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"staging area"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657108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COMPONENTES DE UNA SOLUCIÓN DE INTELIGENCIA DE NEGOCIOS: </a:t>
            </a:r>
            <a:r>
              <a:rPr lang="es-PE" sz="24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ALMACENAMIENTO DIMENSIONAL</a:t>
            </a: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471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5055" y="1853066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4"/>
          <p:cNvSpPr txBox="1"/>
          <p:nvPr/>
        </p:nvSpPr>
        <p:spPr>
          <a:xfrm>
            <a:off x="714863" y="1330934"/>
            <a:ext cx="142340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FUENTES DE DATOS</a:t>
            </a:r>
            <a:endParaRPr/>
          </a:p>
        </p:txBody>
      </p:sp>
      <p:sp>
        <p:nvSpPr>
          <p:cNvPr id="302" name="Google Shape;302;p14"/>
          <p:cNvSpPr txBox="1"/>
          <p:nvPr/>
        </p:nvSpPr>
        <p:spPr>
          <a:xfrm>
            <a:off x="526312" y="4425074"/>
            <a:ext cx="197099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OLTP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aplicaciones: Producción, Créditos, RRHH</a:t>
            </a:r>
            <a:endParaRPr/>
          </a:p>
        </p:txBody>
      </p:sp>
      <p:sp>
        <p:nvSpPr>
          <p:cNvPr id="306" name="Google Shape;306;p14"/>
          <p:cNvSpPr txBox="1"/>
          <p:nvPr/>
        </p:nvSpPr>
        <p:spPr>
          <a:xfrm>
            <a:off x="2659707" y="1330934"/>
            <a:ext cx="145975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HERRAMIENTAS ETL</a:t>
            </a:r>
            <a:endParaRPr/>
          </a:p>
        </p:txBody>
      </p:sp>
      <p:sp>
        <p:nvSpPr>
          <p:cNvPr id="307" name="Google Shape;307;p14"/>
          <p:cNvSpPr txBox="1"/>
          <p:nvPr/>
        </p:nvSpPr>
        <p:spPr>
          <a:xfrm>
            <a:off x="4817224" y="1336661"/>
            <a:ext cx="144994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ALMACENAMIENTO</a:t>
            </a:r>
            <a:b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DIMENSIONAL</a:t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804439" y="2376085"/>
            <a:ext cx="12442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operacional</a:t>
            </a:r>
            <a:endParaRPr/>
          </a:p>
        </p:txBody>
      </p:sp>
      <p:pic>
        <p:nvPicPr>
          <p:cNvPr id="310" name="Google Shape;310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20390" y="3585498"/>
            <a:ext cx="612348" cy="29409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4"/>
          <p:cNvSpPr txBox="1"/>
          <p:nvPr/>
        </p:nvSpPr>
        <p:spPr>
          <a:xfrm>
            <a:off x="875804" y="3879594"/>
            <a:ext cx="11015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adquirida</a:t>
            </a:r>
            <a:endParaRPr/>
          </a:p>
        </p:txBody>
      </p:sp>
      <p:graphicFrame>
        <p:nvGraphicFramePr>
          <p:cNvPr id="312" name="Google Shape;312;p14"/>
          <p:cNvGraphicFramePr/>
          <p:nvPr/>
        </p:nvGraphicFramePr>
        <p:xfrm>
          <a:off x="1220189" y="2781403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r:id="rId6" imgW="412750" imgH="363538" progId="MS_ClipArt_Gallery.2">
                  <p:embed/>
                </p:oleObj>
              </mc:Choice>
              <mc:Fallback>
                <p:oleObj r:id="rId6" imgW="412750" imgH="363538" progId="MS_ClipArt_Gallery.2">
                  <p:embed/>
                  <p:pic>
                    <p:nvPicPr>
                      <p:cNvPr id="312" name="Google Shape;312;p14"/>
                      <p:cNvPicPr preferRelativeResize="0"/>
                      <p:nvPr/>
                    </p:nvPicPr>
                    <p:blipFill rotWithShape="1">
                      <a:blip r:embed="rId7">
                        <a:alphaModFix/>
                      </a:blip>
                      <a:srcRect/>
                      <a:stretch/>
                    </p:blipFill>
                    <p:spPr>
                      <a:xfrm>
                        <a:off x="1220189" y="2781403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" name="Google Shape;313;p14"/>
          <p:cNvSpPr txBox="1"/>
          <p:nvPr/>
        </p:nvSpPr>
        <p:spPr>
          <a:xfrm>
            <a:off x="778759" y="3165187"/>
            <a:ext cx="129561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de escritorio</a:t>
            </a:r>
            <a:endParaRPr/>
          </a:p>
        </p:txBody>
      </p:sp>
      <p:sp>
        <p:nvSpPr>
          <p:cNvPr id="314" name="Google Shape;314;p14"/>
          <p:cNvSpPr/>
          <p:nvPr/>
        </p:nvSpPr>
        <p:spPr>
          <a:xfrm>
            <a:off x="2313894" y="1853066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7" name="Google Shape;317;p14"/>
          <p:cNvGrpSpPr/>
          <p:nvPr/>
        </p:nvGrpSpPr>
        <p:grpSpPr>
          <a:xfrm flipH="1">
            <a:off x="4902133" y="2335326"/>
            <a:ext cx="452957" cy="382588"/>
            <a:chOff x="1488" y="1248"/>
            <a:chExt cx="403" cy="288"/>
          </a:xfrm>
        </p:grpSpPr>
        <p:sp>
          <p:nvSpPr>
            <p:cNvPr id="318" name="Google Shape;318;p1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1" name="Google Shape;321;p14"/>
          <p:cNvGrpSpPr/>
          <p:nvPr/>
        </p:nvGrpSpPr>
        <p:grpSpPr>
          <a:xfrm flipH="1">
            <a:off x="4897637" y="2911894"/>
            <a:ext cx="452957" cy="382588"/>
            <a:chOff x="1488" y="1248"/>
            <a:chExt cx="403" cy="288"/>
          </a:xfrm>
        </p:grpSpPr>
        <p:sp>
          <p:nvSpPr>
            <p:cNvPr id="322" name="Google Shape;322;p1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1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4"/>
          <p:cNvGrpSpPr/>
          <p:nvPr/>
        </p:nvGrpSpPr>
        <p:grpSpPr>
          <a:xfrm flipH="1">
            <a:off x="4902133" y="3486566"/>
            <a:ext cx="452957" cy="382588"/>
            <a:chOff x="1488" y="1248"/>
            <a:chExt cx="403" cy="288"/>
          </a:xfrm>
        </p:grpSpPr>
        <p:sp>
          <p:nvSpPr>
            <p:cNvPr id="326" name="Google Shape;326;p14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9" name="Google Shape;329;p14"/>
          <p:cNvSpPr txBox="1"/>
          <p:nvPr/>
        </p:nvSpPr>
        <p:spPr>
          <a:xfrm>
            <a:off x="4979636" y="1907917"/>
            <a:ext cx="88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marts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5415275" y="2381301"/>
            <a:ext cx="61472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Ventas</a:t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5415275" y="2955937"/>
            <a:ext cx="730969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Finanzas</a:t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5415275" y="3523532"/>
            <a:ext cx="69115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Clientes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2637144" y="4425074"/>
            <a:ext cx="148232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INTEGRACIÓN Y ESTANDARIZACIÓN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4813067" y="4425073"/>
            <a:ext cx="168972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OLAP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organizada por temas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6341889" y="1853066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4456082" y="1863748"/>
            <a:ext cx="289982" cy="2303527"/>
          </a:xfrm>
          <a:prstGeom prst="rightArrowCallout">
            <a:avLst>
              <a:gd name="adj1" fmla="val 31474"/>
              <a:gd name="adj2" fmla="val 34044"/>
              <a:gd name="adj3" fmla="val 18226"/>
              <a:gd name="adj4" fmla="val 64977"/>
            </a:avLst>
          </a:prstGeom>
          <a:solidFill>
            <a:srgbClr val="00B1C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6783445" y="2109004"/>
            <a:ext cx="1696658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¿Construir primero el data warehouse y luego los data marts, o construir primero los data marts y luego integrarlos en un data warehouse?</a:t>
            </a:r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3F0BEC37-5B9A-67EF-1119-16679EA42F6B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ALMACENAMIENTO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39A1A7CE-4731-9F01-EC7E-3DA7EE53454D}"/>
              </a:ext>
            </a:extLst>
          </p:cNvPr>
          <p:cNvSpPr/>
          <p:nvPr/>
        </p:nvSpPr>
        <p:spPr>
          <a:xfrm>
            <a:off x="503238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TRANSACCIONALES U OPERACIONALES</a:t>
            </a:r>
            <a:endParaRPr lang="es-PE" sz="1200" dirty="0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191E130B-9968-21E2-EE31-F9878E635E21}"/>
              </a:ext>
            </a:extLst>
          </p:cNvPr>
          <p:cNvGrpSpPr/>
          <p:nvPr/>
        </p:nvGrpSpPr>
        <p:grpSpPr>
          <a:xfrm>
            <a:off x="387487" y="959208"/>
            <a:ext cx="251235" cy="220806"/>
            <a:chOff x="301599" y="2767061"/>
            <a:chExt cx="459474" cy="403823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43B5AB8D-BACA-FD40-E90E-58BEBEC8CF59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6" name="Elipse 5">
              <a:extLst>
                <a:ext uri="{FF2B5EF4-FFF2-40B4-BE49-F238E27FC236}">
                  <a16:creationId xmlns:a16="http://schemas.microsoft.com/office/drawing/2014/main" id="{3B4516DC-DB2D-B4E7-50B6-ECBE817B3AE7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7" name="Triángulo 6">
              <a:extLst>
                <a:ext uri="{FF2B5EF4-FFF2-40B4-BE49-F238E27FC236}">
                  <a16:creationId xmlns:a16="http://schemas.microsoft.com/office/drawing/2014/main" id="{3CF053C8-E34B-24F0-5217-8F6C86755A2E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C73EB8F4-75DC-A583-FEC1-F0D5670AF17A}"/>
              </a:ext>
            </a:extLst>
          </p:cNvPr>
          <p:cNvSpPr/>
          <p:nvPr/>
        </p:nvSpPr>
        <p:spPr>
          <a:xfrm>
            <a:off x="4755567" y="917127"/>
            <a:ext cx="3887151" cy="308024"/>
          </a:xfrm>
          <a:prstGeom prst="roundRect">
            <a:avLst/>
          </a:prstGeom>
          <a:solidFill>
            <a:srgbClr val="714E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SISTEMAS DE ANÁLISIS DE DATOS</a:t>
            </a:r>
            <a:endParaRPr lang="es-PE" sz="120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C84D77B-635C-9D1F-E609-D145A507C1BF}"/>
              </a:ext>
            </a:extLst>
          </p:cNvPr>
          <p:cNvGrpSpPr/>
          <p:nvPr/>
        </p:nvGrpSpPr>
        <p:grpSpPr>
          <a:xfrm>
            <a:off x="4639816" y="959208"/>
            <a:ext cx="251235" cy="220806"/>
            <a:chOff x="301599" y="2767061"/>
            <a:chExt cx="459474" cy="403823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51586BDB-B782-84AB-79DD-76FEEC173E40}"/>
                </a:ext>
              </a:extLst>
            </p:cNvPr>
            <p:cNvSpPr/>
            <p:nvPr/>
          </p:nvSpPr>
          <p:spPr>
            <a:xfrm>
              <a:off x="365364" y="2780935"/>
              <a:ext cx="395709" cy="376075"/>
            </a:xfrm>
            <a:prstGeom prst="ellipse">
              <a:avLst/>
            </a:prstGeom>
            <a:solidFill>
              <a:srgbClr val="5E42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F919E940-3845-649F-0506-34CE56A27CDC}"/>
                </a:ext>
              </a:extLst>
            </p:cNvPr>
            <p:cNvSpPr/>
            <p:nvPr/>
          </p:nvSpPr>
          <p:spPr>
            <a:xfrm>
              <a:off x="301599" y="2767061"/>
              <a:ext cx="424906" cy="40382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  <p:sp>
          <p:nvSpPr>
            <p:cNvPr id="12" name="Triángulo 11">
              <a:extLst>
                <a:ext uri="{FF2B5EF4-FFF2-40B4-BE49-F238E27FC236}">
                  <a16:creationId xmlns:a16="http://schemas.microsoft.com/office/drawing/2014/main" id="{9E196032-A756-5770-BA4D-855E564E5EA8}"/>
                </a:ext>
              </a:extLst>
            </p:cNvPr>
            <p:cNvSpPr/>
            <p:nvPr/>
          </p:nvSpPr>
          <p:spPr>
            <a:xfrm rot="5400000">
              <a:off x="485372" y="2907782"/>
              <a:ext cx="186870" cy="122381"/>
            </a:xfrm>
            <a:prstGeom prst="triangle">
              <a:avLst/>
            </a:prstGeom>
            <a:solidFill>
              <a:srgbClr val="714F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 sz="1300"/>
            </a:p>
          </p:txBody>
        </p:sp>
      </p:grpSp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A93EC73E-0764-1E82-7864-FF3079E57BA8}"/>
              </a:ext>
            </a:extLst>
          </p:cNvPr>
          <p:cNvSpPr/>
          <p:nvPr/>
        </p:nvSpPr>
        <p:spPr>
          <a:xfrm>
            <a:off x="2736236" y="2062773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Extracción</a:t>
            </a:r>
            <a:endParaRPr lang="es-PE" sz="1200" dirty="0"/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87B2B67A-52C2-B93B-F40E-6B1B950FD025}"/>
              </a:ext>
            </a:extLst>
          </p:cNvPr>
          <p:cNvSpPr/>
          <p:nvPr/>
        </p:nvSpPr>
        <p:spPr>
          <a:xfrm>
            <a:off x="2736235" y="2809160"/>
            <a:ext cx="1236733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Transformación</a:t>
            </a:r>
            <a:endParaRPr lang="es-PE" sz="1200" dirty="0"/>
          </a:p>
        </p:txBody>
      </p:sp>
      <p:sp>
        <p:nvSpPr>
          <p:cNvPr id="15" name="Rectángulo redondeado 14">
            <a:extLst>
              <a:ext uri="{FF2B5EF4-FFF2-40B4-BE49-F238E27FC236}">
                <a16:creationId xmlns:a16="http://schemas.microsoft.com/office/drawing/2014/main" id="{A8ACDAA0-B566-1DDF-5797-AAA458B35CA8}"/>
              </a:ext>
            </a:extLst>
          </p:cNvPr>
          <p:cNvSpPr/>
          <p:nvPr/>
        </p:nvSpPr>
        <p:spPr>
          <a:xfrm>
            <a:off x="2736236" y="3585498"/>
            <a:ext cx="983974" cy="308024"/>
          </a:xfrm>
          <a:prstGeom prst="roundRect">
            <a:avLst/>
          </a:prstGeom>
          <a:solidFill>
            <a:srgbClr val="EE4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Carga</a:t>
            </a:r>
            <a:endParaRPr lang="es-PE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" name="Google Shape;342;p15"/>
          <p:cNvGrpSpPr/>
          <p:nvPr/>
        </p:nvGrpSpPr>
        <p:grpSpPr>
          <a:xfrm flipH="1">
            <a:off x="7194023" y="3428902"/>
            <a:ext cx="1208475" cy="1459903"/>
            <a:chOff x="1488" y="1248"/>
            <a:chExt cx="403" cy="288"/>
          </a:xfrm>
        </p:grpSpPr>
        <p:sp>
          <p:nvSpPr>
            <p:cNvPr id="343" name="Google Shape;343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46" name="Google Shape;346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2784" y="1691726"/>
            <a:ext cx="1026808" cy="13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4545" y="1691726"/>
            <a:ext cx="1137646" cy="13154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8" name="Google Shape;348;p15"/>
          <p:cNvCxnSpPr/>
          <p:nvPr/>
        </p:nvCxnSpPr>
        <p:spPr>
          <a:xfrm>
            <a:off x="4574003" y="1623215"/>
            <a:ext cx="0" cy="3606086"/>
          </a:xfrm>
          <a:prstGeom prst="straightConnector1">
            <a:avLst/>
          </a:prstGeom>
          <a:noFill/>
          <a:ln w="19050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9" name="Google Shape;349;p15"/>
          <p:cNvSpPr txBox="1"/>
          <p:nvPr/>
        </p:nvSpPr>
        <p:spPr>
          <a:xfrm>
            <a:off x="830580" y="3007129"/>
            <a:ext cx="11326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 Inmon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4915975" y="3007129"/>
            <a:ext cx="11262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Ralph Kimball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16410" y="1691726"/>
            <a:ext cx="1030572" cy="13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1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78571" y="1683868"/>
            <a:ext cx="1069195" cy="132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28304" y="3462862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5"/>
          <p:cNvSpPr txBox="1"/>
          <p:nvPr/>
        </p:nvSpPr>
        <p:spPr>
          <a:xfrm>
            <a:off x="624840" y="4956970"/>
            <a:ext cx="120924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 de datos</a:t>
            </a:r>
            <a:endParaRPr/>
          </a:p>
        </p:txBody>
      </p:sp>
      <p:pic>
        <p:nvPicPr>
          <p:cNvPr id="355" name="Google Shape;355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3639" y="4600934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56" name="Google Shape;356;p15"/>
          <p:cNvGraphicFramePr/>
          <p:nvPr>
            <p:extLst>
              <p:ext uri="{D42A27DB-BD31-4B8C-83A1-F6EECF244321}">
                <p14:modId xmlns:p14="http://schemas.microsoft.com/office/powerpoint/2010/main" val="3570113861"/>
              </p:ext>
            </p:extLst>
          </p:nvPr>
        </p:nvGraphicFramePr>
        <p:xfrm>
          <a:off x="983438" y="4116879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r:id="rId10" imgW="412750" imgH="363538" progId="MS_ClipArt_Gallery.2">
                  <p:embed/>
                </p:oleObj>
              </mc:Choice>
              <mc:Fallback>
                <p:oleObj r:id="rId10" imgW="412750" imgH="363538" progId="MS_ClipArt_Gallery.2">
                  <p:embed/>
                  <p:pic>
                    <p:nvPicPr>
                      <p:cNvPr id="356" name="Google Shape;356;p15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/>
                      <a:stretch/>
                    </p:blipFill>
                    <p:spPr>
                      <a:xfrm>
                        <a:off x="983438" y="4116879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7" name="Google Shape;357;p15"/>
          <p:cNvSpPr/>
          <p:nvPr/>
        </p:nvSpPr>
        <p:spPr>
          <a:xfrm>
            <a:off x="1694575" y="3972147"/>
            <a:ext cx="408545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p15"/>
          <p:cNvGrpSpPr/>
          <p:nvPr/>
        </p:nvGrpSpPr>
        <p:grpSpPr>
          <a:xfrm flipH="1">
            <a:off x="3778492" y="3503161"/>
            <a:ext cx="452957" cy="382588"/>
            <a:chOff x="1488" y="1248"/>
            <a:chExt cx="403" cy="288"/>
          </a:xfrm>
        </p:grpSpPr>
        <p:sp>
          <p:nvSpPr>
            <p:cNvPr id="359" name="Google Shape;359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2" name="Google Shape;362;p15"/>
          <p:cNvGrpSpPr/>
          <p:nvPr/>
        </p:nvGrpSpPr>
        <p:grpSpPr>
          <a:xfrm flipH="1">
            <a:off x="3773996" y="3976859"/>
            <a:ext cx="452957" cy="382588"/>
            <a:chOff x="1488" y="1248"/>
            <a:chExt cx="403" cy="288"/>
          </a:xfrm>
        </p:grpSpPr>
        <p:sp>
          <p:nvSpPr>
            <p:cNvPr id="363" name="Google Shape;363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6" name="Google Shape;366;p15"/>
          <p:cNvGrpSpPr/>
          <p:nvPr/>
        </p:nvGrpSpPr>
        <p:grpSpPr>
          <a:xfrm flipH="1">
            <a:off x="3778492" y="4425801"/>
            <a:ext cx="452957" cy="382588"/>
            <a:chOff x="1488" y="1248"/>
            <a:chExt cx="403" cy="288"/>
          </a:xfrm>
        </p:grpSpPr>
        <p:sp>
          <p:nvSpPr>
            <p:cNvPr id="367" name="Google Shape;367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0" name="Google Shape;370;p15"/>
          <p:cNvGrpSpPr/>
          <p:nvPr/>
        </p:nvGrpSpPr>
        <p:grpSpPr>
          <a:xfrm flipH="1">
            <a:off x="2326358" y="3805427"/>
            <a:ext cx="555168" cy="945812"/>
            <a:chOff x="1488" y="1248"/>
            <a:chExt cx="403" cy="288"/>
          </a:xfrm>
        </p:grpSpPr>
        <p:sp>
          <p:nvSpPr>
            <p:cNvPr id="371" name="Google Shape;371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4" name="Google Shape;374;p15"/>
          <p:cNvSpPr/>
          <p:nvPr/>
        </p:nvSpPr>
        <p:spPr>
          <a:xfrm>
            <a:off x="3160887" y="3992978"/>
            <a:ext cx="423185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5"/>
          <p:cNvSpPr txBox="1"/>
          <p:nvPr/>
        </p:nvSpPr>
        <p:spPr>
          <a:xfrm>
            <a:off x="2000911" y="4814682"/>
            <a:ext cx="12251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/>
          </a:p>
        </p:txBody>
      </p:sp>
      <p:sp>
        <p:nvSpPr>
          <p:cNvPr id="376" name="Google Shape;376;p15"/>
          <p:cNvSpPr txBox="1"/>
          <p:nvPr/>
        </p:nvSpPr>
        <p:spPr>
          <a:xfrm>
            <a:off x="3534833" y="4956970"/>
            <a:ext cx="88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marts</a:t>
            </a:r>
            <a:endParaRPr/>
          </a:p>
        </p:txBody>
      </p:sp>
      <p:pic>
        <p:nvPicPr>
          <p:cNvPr id="377" name="Google Shape;377;p15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942453" y="3465669"/>
            <a:ext cx="523019" cy="52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5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897788" y="4603741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9" name="Google Shape;379;p15"/>
          <p:cNvGraphicFramePr/>
          <p:nvPr>
            <p:extLst>
              <p:ext uri="{D42A27DB-BD31-4B8C-83A1-F6EECF244321}">
                <p14:modId xmlns:p14="http://schemas.microsoft.com/office/powerpoint/2010/main" val="2315984970"/>
              </p:ext>
            </p:extLst>
          </p:nvPr>
        </p:nvGraphicFramePr>
        <p:xfrm>
          <a:off x="4997587" y="4119686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r:id="rId12" imgW="412750" imgH="363538" progId="MS_ClipArt_Gallery.2">
                  <p:embed/>
                </p:oleObj>
              </mc:Choice>
              <mc:Fallback>
                <p:oleObj r:id="rId12" imgW="412750" imgH="363538" progId="MS_ClipArt_Gallery.2">
                  <p:embed/>
                  <p:pic>
                    <p:nvPicPr>
                      <p:cNvPr id="379" name="Google Shape;379;p15"/>
                      <p:cNvPicPr preferRelativeResize="0"/>
                      <p:nvPr/>
                    </p:nvPicPr>
                    <p:blipFill rotWithShape="1">
                      <a:blip r:embed="rId11">
                        <a:alphaModFix/>
                      </a:blip>
                      <a:srcRect/>
                      <a:stretch/>
                    </p:blipFill>
                    <p:spPr>
                      <a:xfrm>
                        <a:off x="4997587" y="4119686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0" name="Google Shape;380;p15"/>
          <p:cNvSpPr/>
          <p:nvPr/>
        </p:nvSpPr>
        <p:spPr>
          <a:xfrm>
            <a:off x="5708724" y="3974954"/>
            <a:ext cx="1249610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1" name="Google Shape;381;p15"/>
          <p:cNvGrpSpPr/>
          <p:nvPr/>
        </p:nvGrpSpPr>
        <p:grpSpPr>
          <a:xfrm flipH="1">
            <a:off x="7328522" y="4373231"/>
            <a:ext cx="452957" cy="382588"/>
            <a:chOff x="1488" y="1248"/>
            <a:chExt cx="403" cy="288"/>
          </a:xfrm>
        </p:grpSpPr>
        <p:sp>
          <p:nvSpPr>
            <p:cNvPr id="382" name="Google Shape;382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5" name="Google Shape;385;p15"/>
          <p:cNvSpPr txBox="1"/>
          <p:nvPr/>
        </p:nvSpPr>
        <p:spPr>
          <a:xfrm>
            <a:off x="7203645" y="4897837"/>
            <a:ext cx="1225144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7798260" y="3805427"/>
            <a:ext cx="88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marts</a:t>
            </a:r>
            <a:endParaRPr/>
          </a:p>
        </p:txBody>
      </p:sp>
      <p:grpSp>
        <p:nvGrpSpPr>
          <p:cNvPr id="387" name="Google Shape;387;p15"/>
          <p:cNvGrpSpPr/>
          <p:nvPr/>
        </p:nvGrpSpPr>
        <p:grpSpPr>
          <a:xfrm flipH="1">
            <a:off x="7330682" y="3816395"/>
            <a:ext cx="452957" cy="382588"/>
            <a:chOff x="1488" y="1248"/>
            <a:chExt cx="403" cy="288"/>
          </a:xfrm>
        </p:grpSpPr>
        <p:sp>
          <p:nvSpPr>
            <p:cNvPr id="388" name="Google Shape;388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1" name="Google Shape;391;p15"/>
          <p:cNvGrpSpPr/>
          <p:nvPr/>
        </p:nvGrpSpPr>
        <p:grpSpPr>
          <a:xfrm flipH="1">
            <a:off x="7834353" y="4122554"/>
            <a:ext cx="452957" cy="382588"/>
            <a:chOff x="1488" y="1248"/>
            <a:chExt cx="403" cy="288"/>
          </a:xfrm>
        </p:grpSpPr>
        <p:sp>
          <p:nvSpPr>
            <p:cNvPr id="392" name="Google Shape;392;p15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15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5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5" name="Google Shape;395;p15"/>
          <p:cNvSpPr txBox="1"/>
          <p:nvPr/>
        </p:nvSpPr>
        <p:spPr>
          <a:xfrm>
            <a:off x="1827152" y="1245622"/>
            <a:ext cx="55206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 ENFOQUES PARA LA CONSTRUCCIÓN DE UN DATA WAREHOUSE</a:t>
            </a:r>
            <a:endParaRPr/>
          </a:p>
        </p:txBody>
      </p:sp>
      <p:sp>
        <p:nvSpPr>
          <p:cNvPr id="396" name="Google Shape;396;p15"/>
          <p:cNvSpPr txBox="1"/>
          <p:nvPr/>
        </p:nvSpPr>
        <p:spPr>
          <a:xfrm>
            <a:off x="4727380" y="4952302"/>
            <a:ext cx="120924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 de datos</a:t>
            </a: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513414" y="927740"/>
            <a:ext cx="34437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WAREHOUSE Y DATA MARTS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D3A595F-E6FD-9D55-45AF-AF6C9FFA9A78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ALMACENAMIENTO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" name="Google Shape;40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0580" y="1387337"/>
            <a:ext cx="1137646" cy="131540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4" name="Google Shape;404;p16"/>
          <p:cNvCxnSpPr/>
          <p:nvPr/>
        </p:nvCxnSpPr>
        <p:spPr>
          <a:xfrm>
            <a:off x="4583430" y="1242061"/>
            <a:ext cx="0" cy="3991927"/>
          </a:xfrm>
          <a:prstGeom prst="straightConnector1">
            <a:avLst/>
          </a:prstGeom>
          <a:noFill/>
          <a:ln w="19050" cap="flat" cmpd="sng">
            <a:solidFill>
              <a:srgbClr val="00B1C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05" name="Google Shape;405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16410" y="1387337"/>
            <a:ext cx="1030572" cy="1315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8304" y="3337823"/>
            <a:ext cx="523019" cy="52301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16"/>
          <p:cNvSpPr txBox="1"/>
          <p:nvPr/>
        </p:nvSpPr>
        <p:spPr>
          <a:xfrm>
            <a:off x="624840" y="4840409"/>
            <a:ext cx="120924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Fuente de datos</a:t>
            </a:r>
            <a:endParaRPr/>
          </a:p>
        </p:txBody>
      </p:sp>
      <p:pic>
        <p:nvPicPr>
          <p:cNvPr id="408" name="Google Shape;408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83639" y="4475895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9" name="Google Shape;409;p16"/>
          <p:cNvGraphicFramePr/>
          <p:nvPr>
            <p:extLst>
              <p:ext uri="{D42A27DB-BD31-4B8C-83A1-F6EECF244321}">
                <p14:modId xmlns:p14="http://schemas.microsoft.com/office/powerpoint/2010/main" val="1776503593"/>
              </p:ext>
            </p:extLst>
          </p:nvPr>
        </p:nvGraphicFramePr>
        <p:xfrm>
          <a:off x="983438" y="3991840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r:id="rId8" imgW="412750" imgH="363538" progId="MS_ClipArt_Gallery.2">
                  <p:embed/>
                </p:oleObj>
              </mc:Choice>
              <mc:Fallback>
                <p:oleObj r:id="rId8" imgW="412750" imgH="363538" progId="MS_ClipArt_Gallery.2">
                  <p:embed/>
                  <p:pic>
                    <p:nvPicPr>
                      <p:cNvPr id="409" name="Google Shape;409;p1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983438" y="3991840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" name="Google Shape;410;p16"/>
          <p:cNvSpPr/>
          <p:nvPr/>
        </p:nvSpPr>
        <p:spPr>
          <a:xfrm>
            <a:off x="1694575" y="3847108"/>
            <a:ext cx="408545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11" name="Google Shape;411;p16"/>
          <p:cNvGrpSpPr/>
          <p:nvPr/>
        </p:nvGrpSpPr>
        <p:grpSpPr>
          <a:xfrm flipH="1">
            <a:off x="3778492" y="3378122"/>
            <a:ext cx="452957" cy="382588"/>
            <a:chOff x="1488" y="1248"/>
            <a:chExt cx="403" cy="288"/>
          </a:xfrm>
        </p:grpSpPr>
        <p:sp>
          <p:nvSpPr>
            <p:cNvPr id="412" name="Google Shape;412;p16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3" name="Google Shape;413;p16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4" name="Google Shape;414;p16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5" name="Google Shape;415;p16"/>
          <p:cNvGrpSpPr/>
          <p:nvPr/>
        </p:nvGrpSpPr>
        <p:grpSpPr>
          <a:xfrm flipH="1">
            <a:off x="3773996" y="3851820"/>
            <a:ext cx="452957" cy="382588"/>
            <a:chOff x="1488" y="1248"/>
            <a:chExt cx="403" cy="288"/>
          </a:xfrm>
        </p:grpSpPr>
        <p:sp>
          <p:nvSpPr>
            <p:cNvPr id="416" name="Google Shape;416;p16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7" name="Google Shape;417;p16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18" name="Google Shape;418;p16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19" name="Google Shape;419;p16"/>
          <p:cNvGrpSpPr/>
          <p:nvPr/>
        </p:nvGrpSpPr>
        <p:grpSpPr>
          <a:xfrm flipH="1">
            <a:off x="3778492" y="4300762"/>
            <a:ext cx="452957" cy="382588"/>
            <a:chOff x="1488" y="1248"/>
            <a:chExt cx="403" cy="288"/>
          </a:xfrm>
        </p:grpSpPr>
        <p:sp>
          <p:nvSpPr>
            <p:cNvPr id="420" name="Google Shape;420;p16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1" name="Google Shape;421;p16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2" name="Google Shape;422;p16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23" name="Google Shape;423;p16"/>
          <p:cNvGrpSpPr/>
          <p:nvPr/>
        </p:nvGrpSpPr>
        <p:grpSpPr>
          <a:xfrm flipH="1">
            <a:off x="2326358" y="3463891"/>
            <a:ext cx="555168" cy="1162309"/>
            <a:chOff x="1488" y="1248"/>
            <a:chExt cx="403" cy="288"/>
          </a:xfrm>
        </p:grpSpPr>
        <p:sp>
          <p:nvSpPr>
            <p:cNvPr id="424" name="Google Shape;424;p16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26" name="Google Shape;426;p16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27" name="Google Shape;427;p16"/>
          <p:cNvSpPr/>
          <p:nvPr/>
        </p:nvSpPr>
        <p:spPr>
          <a:xfrm>
            <a:off x="3160887" y="3867939"/>
            <a:ext cx="423185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2"/>
          </a:solidFill>
          <a:ln w="254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28" name="Google Shape;428;p16"/>
          <p:cNvSpPr txBox="1"/>
          <p:nvPr/>
        </p:nvSpPr>
        <p:spPr>
          <a:xfrm>
            <a:off x="2000911" y="4698121"/>
            <a:ext cx="12726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warehouse</a:t>
            </a:r>
            <a:endParaRPr/>
          </a:p>
        </p:txBody>
      </p:sp>
      <p:sp>
        <p:nvSpPr>
          <p:cNvPr id="429" name="Google Shape;429;p16"/>
          <p:cNvSpPr txBox="1"/>
          <p:nvPr/>
        </p:nvSpPr>
        <p:spPr>
          <a:xfrm>
            <a:off x="3534833" y="4840409"/>
            <a:ext cx="8871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Data marts</a:t>
            </a:r>
            <a:endParaRPr/>
          </a:p>
        </p:txBody>
      </p:sp>
      <p:sp>
        <p:nvSpPr>
          <p:cNvPr id="430" name="Google Shape;430;p16"/>
          <p:cNvSpPr txBox="1"/>
          <p:nvPr/>
        </p:nvSpPr>
        <p:spPr>
          <a:xfrm>
            <a:off x="4760717" y="1217504"/>
            <a:ext cx="3236744" cy="4016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Top-Down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Única fuente de "verdad".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Poca redundancia.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ETL sencillo.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Flexible.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Varias necesidades de reporte.</a:t>
            </a:r>
            <a:endParaRPr dirty="0"/>
          </a:p>
          <a:p>
            <a:pPr marL="446088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 de negocio entendible.</a:t>
            </a:r>
            <a:endParaRPr dirty="0"/>
          </a:p>
          <a:p>
            <a:pPr marL="4445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tiempo del proyecto.</a:t>
            </a:r>
            <a:endParaRPr dirty="0"/>
          </a:p>
          <a:p>
            <a:pPr marL="4445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experto y amplio.</a:t>
            </a:r>
            <a:endParaRPr dirty="0"/>
          </a:p>
          <a:p>
            <a:pPr marL="4445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Complejo en el tiempo.</a:t>
            </a:r>
            <a:endParaRPr dirty="0"/>
          </a:p>
          <a:p>
            <a:pPr marL="444500" marR="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procesos ETL.</a:t>
            </a:r>
            <a:endParaRPr dirty="0"/>
          </a:p>
        </p:txBody>
      </p:sp>
      <p:sp>
        <p:nvSpPr>
          <p:cNvPr id="431" name="Google Shape;431;p16"/>
          <p:cNvSpPr txBox="1"/>
          <p:nvPr/>
        </p:nvSpPr>
        <p:spPr>
          <a:xfrm>
            <a:off x="830580" y="2717779"/>
            <a:ext cx="113263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 Inmon</a:t>
            </a:r>
            <a:endParaRPr sz="1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6"/>
          <p:cNvSpPr/>
          <p:nvPr/>
        </p:nvSpPr>
        <p:spPr>
          <a:xfrm>
            <a:off x="503238" y="911754"/>
            <a:ext cx="222381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ENFOQUE DE INMON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EB4BE84-EB50-4F4C-E3DD-7865EA5D637D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ALMACENAMIENTO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D3A1A9E5-1A9A-E66B-2BE7-09DDE3C2620E}"/>
              </a:ext>
            </a:extLst>
          </p:cNvPr>
          <p:cNvGrpSpPr/>
          <p:nvPr/>
        </p:nvGrpSpPr>
        <p:grpSpPr>
          <a:xfrm>
            <a:off x="4830701" y="1617793"/>
            <a:ext cx="247389" cy="247389"/>
            <a:chOff x="4808280" y="1595372"/>
            <a:chExt cx="292231" cy="292231"/>
          </a:xfrm>
        </p:grpSpPr>
        <p:sp>
          <p:nvSpPr>
            <p:cNvPr id="3" name="Elipse 2">
              <a:extLst>
                <a:ext uri="{FF2B5EF4-FFF2-40B4-BE49-F238E27FC236}">
                  <a16:creationId xmlns:a16="http://schemas.microsoft.com/office/drawing/2014/main" id="{F431B9A6-59AC-12D8-AB12-09D2E0EF9070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06FE7553-E797-A981-3704-C9241AABA3F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40FD72E2-2072-08C4-E680-95B48A71A10B}"/>
              </a:ext>
            </a:extLst>
          </p:cNvPr>
          <p:cNvGrpSpPr/>
          <p:nvPr/>
        </p:nvGrpSpPr>
        <p:grpSpPr>
          <a:xfrm>
            <a:off x="4830701" y="1976568"/>
            <a:ext cx="247389" cy="247389"/>
            <a:chOff x="4808280" y="1595372"/>
            <a:chExt cx="292231" cy="292231"/>
          </a:xfrm>
        </p:grpSpPr>
        <p:sp>
          <p:nvSpPr>
            <p:cNvPr id="18" name="Elipse 17">
              <a:extLst>
                <a:ext uri="{FF2B5EF4-FFF2-40B4-BE49-F238E27FC236}">
                  <a16:creationId xmlns:a16="http://schemas.microsoft.com/office/drawing/2014/main" id="{D2185C3B-F8E6-1006-3723-5D19E2F6E1F6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377291E-ABFC-9230-D6E8-344EA8781E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2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2E81501D-E9E1-F56D-3475-ED747964617C}"/>
              </a:ext>
            </a:extLst>
          </p:cNvPr>
          <p:cNvGrpSpPr/>
          <p:nvPr/>
        </p:nvGrpSpPr>
        <p:grpSpPr>
          <a:xfrm>
            <a:off x="4830701" y="2344868"/>
            <a:ext cx="247389" cy="247389"/>
            <a:chOff x="4808280" y="1595372"/>
            <a:chExt cx="292231" cy="292231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7CA6A4F8-0E02-397C-D292-AE78AC79733A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22" name="Imagen 21">
              <a:extLst>
                <a:ext uri="{FF2B5EF4-FFF2-40B4-BE49-F238E27FC236}">
                  <a16:creationId xmlns:a16="http://schemas.microsoft.com/office/drawing/2014/main" id="{901BF9FE-57C6-AA44-715D-044533E06F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BC9366C-520E-CDF6-4D29-336276E5E0B9}"/>
              </a:ext>
            </a:extLst>
          </p:cNvPr>
          <p:cNvGrpSpPr/>
          <p:nvPr/>
        </p:nvGrpSpPr>
        <p:grpSpPr>
          <a:xfrm>
            <a:off x="4830701" y="2702740"/>
            <a:ext cx="247389" cy="247389"/>
            <a:chOff x="4808280" y="1595372"/>
            <a:chExt cx="292231" cy="292231"/>
          </a:xfrm>
        </p:grpSpPr>
        <p:sp>
          <p:nvSpPr>
            <p:cNvPr id="24" name="Elipse 23">
              <a:extLst>
                <a:ext uri="{FF2B5EF4-FFF2-40B4-BE49-F238E27FC236}">
                  <a16:creationId xmlns:a16="http://schemas.microsoft.com/office/drawing/2014/main" id="{6DBFE858-B500-2351-2E0D-D306579AF4E5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25" name="Imagen 24">
              <a:extLst>
                <a:ext uri="{FF2B5EF4-FFF2-40B4-BE49-F238E27FC236}">
                  <a16:creationId xmlns:a16="http://schemas.microsoft.com/office/drawing/2014/main" id="{5CA8A1A9-6E74-2FD9-6A6D-DD42100651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8281F31-57FD-2018-F632-A03C08EF729E}"/>
              </a:ext>
            </a:extLst>
          </p:cNvPr>
          <p:cNvGrpSpPr/>
          <p:nvPr/>
        </p:nvGrpSpPr>
        <p:grpSpPr>
          <a:xfrm>
            <a:off x="4830701" y="3081468"/>
            <a:ext cx="247389" cy="247389"/>
            <a:chOff x="4808280" y="1595372"/>
            <a:chExt cx="292231" cy="292231"/>
          </a:xfrm>
        </p:grpSpPr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6E30231B-4ECB-37D6-C4D4-6C32982524BC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613DABD1-073E-6A00-F0F1-3E8404A24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5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9B052204-27DE-70B0-3C8C-708EF29FFB13}"/>
              </a:ext>
            </a:extLst>
          </p:cNvPr>
          <p:cNvGrpSpPr/>
          <p:nvPr/>
        </p:nvGrpSpPr>
        <p:grpSpPr>
          <a:xfrm>
            <a:off x="4830701" y="3459293"/>
            <a:ext cx="247389" cy="247389"/>
            <a:chOff x="4808280" y="1595372"/>
            <a:chExt cx="292231" cy="292231"/>
          </a:xfrm>
        </p:grpSpPr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6DF2B719-BC9C-08FB-5B90-5924E5BAD331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31" name="Imagen 30">
              <a:extLst>
                <a:ext uri="{FF2B5EF4-FFF2-40B4-BE49-F238E27FC236}">
                  <a16:creationId xmlns:a16="http://schemas.microsoft.com/office/drawing/2014/main" id="{6C5F2BD1-12E2-BFE4-F380-38C58B7B81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35" name="Grupo 34">
            <a:extLst>
              <a:ext uri="{FF2B5EF4-FFF2-40B4-BE49-F238E27FC236}">
                <a16:creationId xmlns:a16="http://schemas.microsoft.com/office/drawing/2014/main" id="{E64BDE31-0DAA-09CE-406C-83F8E0D3783A}"/>
              </a:ext>
            </a:extLst>
          </p:cNvPr>
          <p:cNvGrpSpPr/>
          <p:nvPr/>
        </p:nvGrpSpPr>
        <p:grpSpPr>
          <a:xfrm>
            <a:off x="4830701" y="3831743"/>
            <a:ext cx="247389" cy="247389"/>
            <a:chOff x="4830701" y="3831743"/>
            <a:chExt cx="247389" cy="247389"/>
          </a:xfrm>
        </p:grpSpPr>
        <p:sp>
          <p:nvSpPr>
            <p:cNvPr id="32" name="Elipse 31">
              <a:extLst>
                <a:ext uri="{FF2B5EF4-FFF2-40B4-BE49-F238E27FC236}">
                  <a16:creationId xmlns:a16="http://schemas.microsoft.com/office/drawing/2014/main" id="{69E061D9-4D89-7600-1D39-A030CD6FC792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34" name="Imagen 33">
              <a:extLst>
                <a:ext uri="{FF2B5EF4-FFF2-40B4-BE49-F238E27FC236}">
                  <a16:creationId xmlns:a16="http://schemas.microsoft.com/office/drawing/2014/main" id="{8402C51A-16D1-00CF-CAE5-D7068EFA6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36" name="Grupo 35">
            <a:extLst>
              <a:ext uri="{FF2B5EF4-FFF2-40B4-BE49-F238E27FC236}">
                <a16:creationId xmlns:a16="http://schemas.microsoft.com/office/drawing/2014/main" id="{8C245167-48A6-28AB-0983-755057BC1463}"/>
              </a:ext>
            </a:extLst>
          </p:cNvPr>
          <p:cNvGrpSpPr/>
          <p:nvPr/>
        </p:nvGrpSpPr>
        <p:grpSpPr>
          <a:xfrm>
            <a:off x="4830701" y="4177818"/>
            <a:ext cx="247389" cy="247389"/>
            <a:chOff x="4830701" y="3831743"/>
            <a:chExt cx="247389" cy="247389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6B6CD09C-51F7-535E-EBC6-F6E39F0E24CC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38" name="Imagen 37">
              <a:extLst>
                <a:ext uri="{FF2B5EF4-FFF2-40B4-BE49-F238E27FC236}">
                  <a16:creationId xmlns:a16="http://schemas.microsoft.com/office/drawing/2014/main" id="{D38EF0EC-2443-1B2F-33AD-4E356DBC92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8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B5D4543A-070D-B7C1-3CC8-D4DA02FF4477}"/>
              </a:ext>
            </a:extLst>
          </p:cNvPr>
          <p:cNvGrpSpPr/>
          <p:nvPr/>
        </p:nvGrpSpPr>
        <p:grpSpPr>
          <a:xfrm>
            <a:off x="4830701" y="4549293"/>
            <a:ext cx="247389" cy="247389"/>
            <a:chOff x="4830701" y="3831743"/>
            <a:chExt cx="247389" cy="247389"/>
          </a:xfrm>
        </p:grpSpPr>
        <p:sp>
          <p:nvSpPr>
            <p:cNvPr id="40" name="Elipse 39">
              <a:extLst>
                <a:ext uri="{FF2B5EF4-FFF2-40B4-BE49-F238E27FC236}">
                  <a16:creationId xmlns:a16="http://schemas.microsoft.com/office/drawing/2014/main" id="{153E764D-0329-AE6F-FA1E-BD516DE1D350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41" name="Imagen 40">
              <a:extLst>
                <a:ext uri="{FF2B5EF4-FFF2-40B4-BE49-F238E27FC236}">
                  <a16:creationId xmlns:a16="http://schemas.microsoft.com/office/drawing/2014/main" id="{A0656194-7108-71E7-0653-13B5A37D56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9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42" name="Grupo 41">
            <a:extLst>
              <a:ext uri="{FF2B5EF4-FFF2-40B4-BE49-F238E27FC236}">
                <a16:creationId xmlns:a16="http://schemas.microsoft.com/office/drawing/2014/main" id="{C690DB2A-1C63-BCF9-8188-966F2AF31B72}"/>
              </a:ext>
            </a:extLst>
          </p:cNvPr>
          <p:cNvGrpSpPr/>
          <p:nvPr/>
        </p:nvGrpSpPr>
        <p:grpSpPr>
          <a:xfrm>
            <a:off x="4830701" y="4923943"/>
            <a:ext cx="247389" cy="247389"/>
            <a:chOff x="4830701" y="3831743"/>
            <a:chExt cx="247389" cy="247389"/>
          </a:xfrm>
        </p:grpSpPr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1FBF7C9A-C768-C8B0-F9CF-99483B74AD37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44" name="Imagen 43">
              <a:extLst>
                <a:ext uri="{FF2B5EF4-FFF2-40B4-BE49-F238E27FC236}">
                  <a16:creationId xmlns:a16="http://schemas.microsoft.com/office/drawing/2014/main" id="{F62D4DD5-4AE2-F394-F907-15F3A3D678F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0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8" name="Google Shape;438;p17"/>
          <p:cNvGrpSpPr/>
          <p:nvPr/>
        </p:nvGrpSpPr>
        <p:grpSpPr>
          <a:xfrm flipH="1">
            <a:off x="3047912" y="3342284"/>
            <a:ext cx="1208475" cy="1459903"/>
            <a:chOff x="1488" y="1248"/>
            <a:chExt cx="403" cy="288"/>
          </a:xfrm>
        </p:grpSpPr>
        <p:sp>
          <p:nvSpPr>
            <p:cNvPr id="439" name="Google Shape;439;p17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0" name="Google Shape;440;p17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41" name="Google Shape;441;p17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442" name="Google Shape;442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434" y="1421233"/>
            <a:ext cx="1137646" cy="1315403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7"/>
          <p:cNvSpPr txBox="1"/>
          <p:nvPr/>
        </p:nvSpPr>
        <p:spPr>
          <a:xfrm>
            <a:off x="733141" y="2736636"/>
            <a:ext cx="11817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Ralph Kimball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4" name="Google Shape;444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132460" y="1421234"/>
            <a:ext cx="1069195" cy="1343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96342" y="3338922"/>
            <a:ext cx="523019" cy="523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1677" y="4476994"/>
            <a:ext cx="612348" cy="2940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47" name="Google Shape;447;p17"/>
          <p:cNvGraphicFramePr/>
          <p:nvPr>
            <p:extLst>
              <p:ext uri="{D42A27DB-BD31-4B8C-83A1-F6EECF244321}">
                <p14:modId xmlns:p14="http://schemas.microsoft.com/office/powerpoint/2010/main" val="1926293654"/>
              </p:ext>
            </p:extLst>
          </p:nvPr>
        </p:nvGraphicFramePr>
        <p:xfrm>
          <a:off x="851476" y="3992939"/>
          <a:ext cx="412750" cy="363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r:id="rId8" imgW="412750" imgH="363538" progId="MS_ClipArt_Gallery.2">
                  <p:embed/>
                </p:oleObj>
              </mc:Choice>
              <mc:Fallback>
                <p:oleObj r:id="rId8" imgW="412750" imgH="363538" progId="MS_ClipArt_Gallery.2">
                  <p:embed/>
                  <p:pic>
                    <p:nvPicPr>
                      <p:cNvPr id="447" name="Google Shape;447;p17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/>
                      <a:stretch/>
                    </p:blipFill>
                    <p:spPr>
                      <a:xfrm>
                        <a:off x="851476" y="3992939"/>
                        <a:ext cx="412750" cy="363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8" name="Google Shape;448;p17"/>
          <p:cNvSpPr/>
          <p:nvPr/>
        </p:nvSpPr>
        <p:spPr>
          <a:xfrm>
            <a:off x="1562613" y="3848207"/>
            <a:ext cx="1249610" cy="48463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E4639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449" name="Google Shape;449;p17"/>
          <p:cNvGrpSpPr/>
          <p:nvPr/>
        </p:nvGrpSpPr>
        <p:grpSpPr>
          <a:xfrm flipH="1">
            <a:off x="3182411" y="4246484"/>
            <a:ext cx="452957" cy="382588"/>
            <a:chOff x="1488" y="1248"/>
            <a:chExt cx="403" cy="288"/>
          </a:xfrm>
        </p:grpSpPr>
        <p:sp>
          <p:nvSpPr>
            <p:cNvPr id="450" name="Google Shape;450;p17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1" name="Google Shape;451;p17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2" name="Google Shape;452;p17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53" name="Google Shape;453;p17"/>
          <p:cNvSpPr txBox="1"/>
          <p:nvPr/>
        </p:nvSpPr>
        <p:spPr>
          <a:xfrm>
            <a:off x="3057534" y="4929003"/>
            <a:ext cx="127265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warehouse</a:t>
            </a:r>
            <a:endParaRPr/>
          </a:p>
        </p:txBody>
      </p:sp>
      <p:sp>
        <p:nvSpPr>
          <p:cNvPr id="454" name="Google Shape;454;p17"/>
          <p:cNvSpPr txBox="1"/>
          <p:nvPr/>
        </p:nvSpPr>
        <p:spPr>
          <a:xfrm>
            <a:off x="3652149" y="3678680"/>
            <a:ext cx="9312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 marts</a:t>
            </a:r>
            <a:endParaRPr/>
          </a:p>
        </p:txBody>
      </p:sp>
      <p:grpSp>
        <p:nvGrpSpPr>
          <p:cNvPr id="455" name="Google Shape;455;p17"/>
          <p:cNvGrpSpPr/>
          <p:nvPr/>
        </p:nvGrpSpPr>
        <p:grpSpPr>
          <a:xfrm flipH="1">
            <a:off x="3184571" y="3689648"/>
            <a:ext cx="452957" cy="382588"/>
            <a:chOff x="1488" y="1248"/>
            <a:chExt cx="403" cy="288"/>
          </a:xfrm>
        </p:grpSpPr>
        <p:sp>
          <p:nvSpPr>
            <p:cNvPr id="456" name="Google Shape;456;p17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7" name="Google Shape;457;p17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58" name="Google Shape;458;p17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459" name="Google Shape;459;p17"/>
          <p:cNvGrpSpPr/>
          <p:nvPr/>
        </p:nvGrpSpPr>
        <p:grpSpPr>
          <a:xfrm flipH="1">
            <a:off x="3688242" y="3995807"/>
            <a:ext cx="452957" cy="382588"/>
            <a:chOff x="1488" y="1248"/>
            <a:chExt cx="403" cy="288"/>
          </a:xfrm>
        </p:grpSpPr>
        <p:sp>
          <p:nvSpPr>
            <p:cNvPr id="460" name="Google Shape;460;p17"/>
            <p:cNvSpPr/>
            <p:nvPr/>
          </p:nvSpPr>
          <p:spPr>
            <a:xfrm>
              <a:off x="1492" y="1281"/>
              <a:ext cx="394" cy="208"/>
            </a:xfrm>
            <a:prstGeom prst="rect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1" name="Google Shape;461;p17"/>
            <p:cNvSpPr/>
            <p:nvPr/>
          </p:nvSpPr>
          <p:spPr>
            <a:xfrm>
              <a:off x="1488" y="1449"/>
              <a:ext cx="403" cy="87"/>
            </a:xfrm>
            <a:prstGeom prst="ellipse">
              <a:avLst/>
            </a:prstGeom>
            <a:gradFill>
              <a:gsLst>
                <a:gs pos="0">
                  <a:srgbClr val="7C7C7C"/>
                </a:gs>
                <a:gs pos="50000">
                  <a:srgbClr val="CECECE"/>
                </a:gs>
                <a:gs pos="100000">
                  <a:srgbClr val="7C7C7C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62" name="Google Shape;462;p17"/>
            <p:cNvSpPr/>
            <p:nvPr/>
          </p:nvSpPr>
          <p:spPr>
            <a:xfrm>
              <a:off x="1488" y="1248"/>
              <a:ext cx="403" cy="78"/>
            </a:xfrm>
            <a:prstGeom prst="ellipse">
              <a:avLst/>
            </a:prstGeom>
            <a:gradFill>
              <a:gsLst>
                <a:gs pos="0">
                  <a:srgbClr val="909090"/>
                </a:gs>
                <a:gs pos="100000">
                  <a:srgbClr val="CECECE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463" name="Google Shape;463;p17"/>
          <p:cNvSpPr txBox="1"/>
          <p:nvPr/>
        </p:nvSpPr>
        <p:spPr>
          <a:xfrm>
            <a:off x="4751388" y="1194329"/>
            <a:ext cx="3541133" cy="3593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Bottom-Up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más corto.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dimensional más entendible y eficiente.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chemeClr val="dk1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Equipo de desarrollo pequeño.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existe una única "verdad".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Datos redundantes.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Restrictivo y no cubre todas las necesidades de reporte.</a:t>
            </a:r>
            <a:endParaRPr dirty="0"/>
          </a:p>
          <a:p>
            <a:pPr marL="444500" marR="0" lvl="0" algn="l" rtl="0"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SzPts val="1600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complejo integrar datos heredados.</a:t>
            </a:r>
            <a:endParaRPr dirty="0"/>
          </a:p>
        </p:txBody>
      </p:sp>
      <p:sp>
        <p:nvSpPr>
          <p:cNvPr id="464" name="Google Shape;464;p17"/>
          <p:cNvSpPr txBox="1"/>
          <p:nvPr/>
        </p:nvSpPr>
        <p:spPr>
          <a:xfrm>
            <a:off x="618999" y="4929003"/>
            <a:ext cx="127708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200" b="1">
                <a:solidFill>
                  <a:srgbClr val="00000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Fuente de datos</a:t>
            </a:r>
            <a:endParaRPr/>
          </a:p>
        </p:txBody>
      </p:sp>
      <p:cxnSp>
        <p:nvCxnSpPr>
          <p:cNvPr id="465" name="Google Shape;465;p17"/>
          <p:cNvCxnSpPr/>
          <p:nvPr/>
        </p:nvCxnSpPr>
        <p:spPr>
          <a:xfrm>
            <a:off x="4583430" y="912813"/>
            <a:ext cx="0" cy="3991927"/>
          </a:xfrm>
          <a:prstGeom prst="straightConnector1">
            <a:avLst/>
          </a:prstGeom>
          <a:noFill/>
          <a:ln w="19050" cap="flat" cmpd="sng">
            <a:solidFill>
              <a:srgbClr val="2DB1B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p17"/>
          <p:cNvSpPr/>
          <p:nvPr/>
        </p:nvSpPr>
        <p:spPr>
          <a:xfrm>
            <a:off x="503238" y="912813"/>
            <a:ext cx="233884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ENFOQUE DE KIMBALL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6882D8C0-4542-AEBF-153E-C39E670F21B4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ALMACENAMIENTO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C5A2C21-B16A-634A-ECC7-77E520F4DC0A}"/>
              </a:ext>
            </a:extLst>
          </p:cNvPr>
          <p:cNvGrpSpPr/>
          <p:nvPr/>
        </p:nvGrpSpPr>
        <p:grpSpPr>
          <a:xfrm>
            <a:off x="4843463" y="1528893"/>
            <a:ext cx="247389" cy="247389"/>
            <a:chOff x="4808280" y="1595372"/>
            <a:chExt cx="292231" cy="292231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54BA0AB5-A029-A722-ACB6-9B2C36407E59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AD170AF-F195-3D99-0D69-1D5415A395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37A44434-0C18-7C6D-180E-63F993C5CF9F}"/>
              </a:ext>
            </a:extLst>
          </p:cNvPr>
          <p:cNvGrpSpPr/>
          <p:nvPr/>
        </p:nvGrpSpPr>
        <p:grpSpPr>
          <a:xfrm>
            <a:off x="4843463" y="1887668"/>
            <a:ext cx="247389" cy="247389"/>
            <a:chOff x="4808280" y="1595372"/>
            <a:chExt cx="292231" cy="292231"/>
          </a:xfrm>
        </p:grpSpPr>
        <p:sp>
          <p:nvSpPr>
            <p:cNvPr id="7" name="Elipse 6">
              <a:extLst>
                <a:ext uri="{FF2B5EF4-FFF2-40B4-BE49-F238E27FC236}">
                  <a16:creationId xmlns:a16="http://schemas.microsoft.com/office/drawing/2014/main" id="{1D94F5FC-E615-3C13-F6CC-9456FAFD5135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618F21CC-5CBB-6D18-4488-D5CAB73830A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E938B58-D6A1-1055-AE84-4B78E594DC0A}"/>
              </a:ext>
            </a:extLst>
          </p:cNvPr>
          <p:cNvGrpSpPr/>
          <p:nvPr/>
        </p:nvGrpSpPr>
        <p:grpSpPr>
          <a:xfrm>
            <a:off x="4843463" y="2465518"/>
            <a:ext cx="247389" cy="247389"/>
            <a:chOff x="4808280" y="1595372"/>
            <a:chExt cx="292231" cy="292231"/>
          </a:xfrm>
        </p:grpSpPr>
        <p:sp>
          <p:nvSpPr>
            <p:cNvPr id="10" name="Elipse 9">
              <a:extLst>
                <a:ext uri="{FF2B5EF4-FFF2-40B4-BE49-F238E27FC236}">
                  <a16:creationId xmlns:a16="http://schemas.microsoft.com/office/drawing/2014/main" id="{40F891A1-3A9A-F5CC-4BBD-51E56310CDFB}"/>
                </a:ext>
              </a:extLst>
            </p:cNvPr>
            <p:cNvSpPr/>
            <p:nvPr/>
          </p:nvSpPr>
          <p:spPr>
            <a:xfrm>
              <a:off x="4808280" y="1595372"/>
              <a:ext cx="292231" cy="292231"/>
            </a:xfrm>
            <a:prstGeom prst="ellipse">
              <a:avLst/>
            </a:prstGeom>
            <a:solidFill>
              <a:srgbClr val="92C14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29041781-C7D2-3411-5480-01DED9060E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4865944" y="1656150"/>
              <a:ext cx="177025" cy="177025"/>
            </a:xfrm>
            <a:prstGeom prst="rect">
              <a:avLst/>
            </a:prstGeom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3B90441-9C3A-B574-FB0E-E3B39AB03651}"/>
              </a:ext>
            </a:extLst>
          </p:cNvPr>
          <p:cNvGrpSpPr/>
          <p:nvPr/>
        </p:nvGrpSpPr>
        <p:grpSpPr>
          <a:xfrm>
            <a:off x="4845517" y="2830945"/>
            <a:ext cx="247389" cy="247389"/>
            <a:chOff x="4830701" y="3831743"/>
            <a:chExt cx="247389" cy="247389"/>
          </a:xfrm>
        </p:grpSpPr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CAEC77DA-1E74-290B-AFAB-A69DFDACDD64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4" name="Imagen 13">
              <a:extLst>
                <a:ext uri="{FF2B5EF4-FFF2-40B4-BE49-F238E27FC236}">
                  <a16:creationId xmlns:a16="http://schemas.microsoft.com/office/drawing/2014/main" id="{990F8007-572E-4F3E-3DFA-905C8AAFC9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07E89B57-2FA9-27DD-60E5-21A990483D06}"/>
              </a:ext>
            </a:extLst>
          </p:cNvPr>
          <p:cNvGrpSpPr/>
          <p:nvPr/>
        </p:nvGrpSpPr>
        <p:grpSpPr>
          <a:xfrm>
            <a:off x="4845517" y="3211945"/>
            <a:ext cx="247389" cy="247389"/>
            <a:chOff x="4830701" y="3831743"/>
            <a:chExt cx="247389" cy="247389"/>
          </a:xfrm>
        </p:grpSpPr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0EDCDB31-1940-552B-1FCF-58632D5C1F98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7" name="Imagen 16">
              <a:extLst>
                <a:ext uri="{FF2B5EF4-FFF2-40B4-BE49-F238E27FC236}">
                  <a16:creationId xmlns:a16="http://schemas.microsoft.com/office/drawing/2014/main" id="{CA02B2E1-8DB9-9ED0-69BE-1E097F2CC6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52D8EDB9-0633-3649-B5B3-318EB7E177F5}"/>
              </a:ext>
            </a:extLst>
          </p:cNvPr>
          <p:cNvGrpSpPr/>
          <p:nvPr/>
        </p:nvGrpSpPr>
        <p:grpSpPr>
          <a:xfrm>
            <a:off x="4845517" y="3553031"/>
            <a:ext cx="247389" cy="247389"/>
            <a:chOff x="4830701" y="3831743"/>
            <a:chExt cx="247389" cy="247389"/>
          </a:xfrm>
        </p:grpSpPr>
        <p:sp>
          <p:nvSpPr>
            <p:cNvPr id="19" name="Elipse 18">
              <a:extLst>
                <a:ext uri="{FF2B5EF4-FFF2-40B4-BE49-F238E27FC236}">
                  <a16:creationId xmlns:a16="http://schemas.microsoft.com/office/drawing/2014/main" id="{724BBDE7-AC6F-080D-E477-C83A19FCEE81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20" name="Imagen 19">
              <a:extLst>
                <a:ext uri="{FF2B5EF4-FFF2-40B4-BE49-F238E27FC236}">
                  <a16:creationId xmlns:a16="http://schemas.microsoft.com/office/drawing/2014/main" id="{7C9DA842-90DD-6F7E-E776-8FDE01CA2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  <p:grpSp>
        <p:nvGrpSpPr>
          <p:cNvPr id="21" name="Grupo 20">
            <a:extLst>
              <a:ext uri="{FF2B5EF4-FFF2-40B4-BE49-F238E27FC236}">
                <a16:creationId xmlns:a16="http://schemas.microsoft.com/office/drawing/2014/main" id="{0DD5350C-DDD0-CB15-EB29-91351A04E464}"/>
              </a:ext>
            </a:extLst>
          </p:cNvPr>
          <p:cNvGrpSpPr/>
          <p:nvPr/>
        </p:nvGrpSpPr>
        <p:grpSpPr>
          <a:xfrm>
            <a:off x="4845517" y="4159003"/>
            <a:ext cx="247389" cy="247389"/>
            <a:chOff x="4830701" y="3831743"/>
            <a:chExt cx="247389" cy="247389"/>
          </a:xfrm>
        </p:grpSpPr>
        <p:sp>
          <p:nvSpPr>
            <p:cNvPr id="22" name="Elipse 21">
              <a:extLst>
                <a:ext uri="{FF2B5EF4-FFF2-40B4-BE49-F238E27FC236}">
                  <a16:creationId xmlns:a16="http://schemas.microsoft.com/office/drawing/2014/main" id="{DA9BDD75-E3E4-D25E-9584-A12CF03D787C}"/>
                </a:ext>
              </a:extLst>
            </p:cNvPr>
            <p:cNvSpPr/>
            <p:nvPr/>
          </p:nvSpPr>
          <p:spPr>
            <a:xfrm>
              <a:off x="4830701" y="3831743"/>
              <a:ext cx="247389" cy="247389"/>
            </a:xfrm>
            <a:prstGeom prst="ellipse">
              <a:avLst/>
            </a:prstGeom>
            <a:solidFill>
              <a:srgbClr val="EE463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23" name="Imagen 22">
              <a:extLst>
                <a:ext uri="{FF2B5EF4-FFF2-40B4-BE49-F238E27FC236}">
                  <a16:creationId xmlns:a16="http://schemas.microsoft.com/office/drawing/2014/main" id="{B03258D2-D0B0-6A66-BB72-9E925E05FD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14">
                      <a14:imgEffect>
                        <a14:colorTemperature colorTemp="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 flipH="1">
              <a:off x="4899462" y="3900504"/>
              <a:ext cx="109866" cy="1098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2" name="Google Shape;472;p18"/>
          <p:cNvGraphicFramePr/>
          <p:nvPr>
            <p:extLst>
              <p:ext uri="{D42A27DB-BD31-4B8C-83A1-F6EECF244321}">
                <p14:modId xmlns:p14="http://schemas.microsoft.com/office/powerpoint/2010/main" val="3028779639"/>
              </p:ext>
            </p:extLst>
          </p:nvPr>
        </p:nvGraphicFramePr>
        <p:xfrm>
          <a:off x="914399" y="1393736"/>
          <a:ext cx="7315200" cy="3363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66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66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82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7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34300" marB="343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WAREHOUSE</a:t>
                      </a:r>
                      <a:endParaRPr sz="1600" b="1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34300" marB="34300" anchor="ctr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79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 MART</a:t>
                      </a:r>
                      <a:endParaRPr b="1" dirty="0">
                        <a:solidFill>
                          <a:schemeClr val="bg1"/>
                        </a:solidFill>
                      </a:endParaRPr>
                    </a:p>
                  </a:txBody>
                  <a:tcPr marL="68575" marR="68575" marT="34300" marB="34300" anchor="ctr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7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ALCANCE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General.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Empresarial (centralizado).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Estratégico.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Planeado.</a:t>
                      </a:r>
                      <a:endParaRPr sz="1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Específico.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Áreas (descentralizado).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Táctico.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Orgánico (puede ser planeado).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7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DATOS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Históricos/detallados/agregados.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Normalizados.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Poca historia/detallados/agregados.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Denormalizados.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FUENTES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Muchas.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Pocas.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558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PROS Y CONTRAS</a:t>
                      </a:r>
                      <a:endParaRPr sz="1400" dirty="0">
                        <a:solidFill>
                          <a:schemeClr val="lt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14EA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Flexible.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Orientada a los datos.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única y compleja.</a:t>
                      </a:r>
                      <a:endParaRPr sz="1400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Restrictiva.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Orientada a proyectos.</a:t>
                      </a:r>
                      <a:endParaRPr dirty="0"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E" sz="1400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Muchas estructuras simples (que pueden convertirse en una estructura compleja).</a:t>
                      </a:r>
                      <a:endParaRPr dirty="0"/>
                    </a:p>
                  </a:txBody>
                  <a:tcPr marL="68575" marR="68575" marT="34300" marB="34300">
                    <a:lnL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7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73" name="Google Shape;473;p18"/>
          <p:cNvSpPr/>
          <p:nvPr/>
        </p:nvSpPr>
        <p:spPr>
          <a:xfrm>
            <a:off x="2953929" y="915687"/>
            <a:ext cx="320946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WAREHOUSE VS DATA MARTS</a:t>
            </a:r>
            <a:endParaRPr sz="16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8CB70B7-37A1-5A29-A044-9972A14162F1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COMPONENTES: ALMACENAMIENTO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600127" cy="13295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4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COMPONENTES DE UNA SOLUCIÓN DE INTELIGENCIA DE NEGOCIOS: </a:t>
            </a:r>
            <a:r>
              <a:rPr lang="es-PE" sz="24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HERRAMIENTAS DE EXPLOTACIÓN DE LA INFORMACIÓN</a:t>
            </a: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8201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"/>
          <p:cNvSpPr txBox="1"/>
          <p:nvPr/>
        </p:nvSpPr>
        <p:spPr>
          <a:xfrm>
            <a:off x="502196" y="916303"/>
            <a:ext cx="8138568" cy="4019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LOS 5 ESTILOS DEL BI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Enterprise reporting</a:t>
            </a:r>
            <a:endParaRPr sz="16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Reporte empresarial orientado a la toma de decisiones.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misma vista en la pantalla y en la impresora.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Data operativa consolidada para análisis tanto para operativos como para tácticos y estratégicos.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Elimina el cuello de botella con el área de TI.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Software: Reporting Services y Power BI.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Análisis de cubos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698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Más rápido que consultar tablas.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698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Elimina la necesidad de recurrir al área de TI.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698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 usuario puede construir su cubo.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6986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Consultas ad-hoc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Para el nivel transaccional u operativo.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Consulta frecuente diseñada específicamente para una operación.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47F4C7B7-3ED2-ED1E-D924-6D421F58CA9F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21"/>
          <p:cNvSpPr txBox="1"/>
          <p:nvPr/>
        </p:nvSpPr>
        <p:spPr>
          <a:xfrm>
            <a:off x="501661" y="912812"/>
            <a:ext cx="8353553" cy="2084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Aft>
                <a:spcPts val="600"/>
              </a:spcAft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5 ESTILOS DEL BI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estadístico y minería de datos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Búsqueda de patrones en los datos.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data histórica.</a:t>
            </a:r>
            <a:endParaRPr dirty="0"/>
          </a:p>
          <a:p>
            <a:pPr marL="285750" marR="0" lvl="0" indent="-184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Envío proactivo de alertas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Enviar reporte de inventario a la fuerza de ventas.</a:t>
            </a:r>
            <a:endParaRPr dirty="0"/>
          </a:p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Alerta por uso de tarjetas de crédito.</a:t>
            </a:r>
            <a:endParaRPr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27BFB6F-A163-DB1A-8809-9B6A1717C5E8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2"/>
          <p:cNvSpPr txBox="1"/>
          <p:nvPr/>
        </p:nvSpPr>
        <p:spPr>
          <a:xfrm>
            <a:off x="508290" y="914197"/>
            <a:ext cx="3257941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spcAft>
                <a:spcPts val="600"/>
              </a:spcAft>
              <a:buClr>
                <a:schemeClr val="dk1"/>
              </a:buClr>
              <a:buSzPts val="1600"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REPORTES FORMALES</a:t>
            </a:r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Usados a intervalos regulares.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Contienen información específica para usuarios específicos.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Basados en fuentes corporativas.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Tienen una estructura formal.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distribuyen en formato de documentos.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Diseñados para ser impresos.</a:t>
            </a:r>
            <a:endParaRPr dirty="0"/>
          </a:p>
        </p:txBody>
      </p:sp>
      <p:pic>
        <p:nvPicPr>
          <p:cNvPr id="502" name="Google Shape;502;p22"/>
          <p:cNvPicPr preferRelativeResize="0"/>
          <p:nvPr/>
        </p:nvPicPr>
        <p:blipFill rotWithShape="1">
          <a:blip r:embed="rId3"/>
          <a:srcRect l="2696" t="5783" r="2463" b="5737"/>
          <a:stretch/>
        </p:blipFill>
        <p:spPr>
          <a:xfrm>
            <a:off x="4067175" y="1181188"/>
            <a:ext cx="4568535" cy="2000767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3C77BEEB-7634-F659-8EFF-4326234D3740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23"/>
          <p:cNvSpPr txBox="1"/>
          <p:nvPr/>
        </p:nvSpPr>
        <p:spPr>
          <a:xfrm>
            <a:off x="503239" y="912813"/>
            <a:ext cx="2918692" cy="2122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EXPLORACIÓN DE DATOS</a:t>
            </a:r>
            <a:endParaRPr dirty="0"/>
          </a:p>
          <a:p>
            <a:pPr marL="176213" marR="0" lvl="0" indent="-176213" algn="l" rtl="0">
              <a:spcBef>
                <a:spcPts val="0"/>
              </a:spcBef>
              <a:spcAft>
                <a:spcPts val="60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Orientados al análisis por parte de los usuarios.</a:t>
            </a:r>
            <a:endParaRPr dirty="0"/>
          </a:p>
          <a:p>
            <a:pPr marL="176213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Basados en modelos de datos.</a:t>
            </a:r>
            <a:endParaRPr dirty="0"/>
          </a:p>
          <a:p>
            <a:pPr marL="176213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actividad de análisis no es estructurada o restringida.</a:t>
            </a:r>
            <a:endParaRPr dirty="0"/>
          </a:p>
          <a:p>
            <a:pPr marL="176213" marR="0" lvl="0" indent="-17621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usuarios presentan o comunican hallazgos.</a:t>
            </a:r>
            <a:endParaRPr dirty="0"/>
          </a:p>
        </p:txBody>
      </p:sp>
      <p:pic>
        <p:nvPicPr>
          <p:cNvPr id="510" name="Google Shape;51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175" y="912812"/>
            <a:ext cx="4573588" cy="315511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2290F19-88DC-6D4C-09E6-F4CE738BD5AF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4"/>
          <p:cNvSpPr txBox="1"/>
          <p:nvPr/>
        </p:nvSpPr>
        <p:spPr>
          <a:xfrm>
            <a:off x="503239" y="912813"/>
            <a:ext cx="3126082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MEZCLAS (</a:t>
            </a:r>
            <a:r>
              <a:rPr lang="es-PE" sz="16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MASHUP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DE ANÁLISIS </a:t>
            </a:r>
            <a:b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DATOS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Basados en datos de fuentes corporativas y otras fuentes.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Usuario familiarizado con técnicas de acceso a datos sin necesidad de soporte TI.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Distribución eventual o a demanda de resultados.</a:t>
            </a:r>
            <a:endParaRPr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C5BA7EB2-5FCD-CDB6-B78D-2CFD1FEB2D1E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84006A79-2768-3BFE-9096-6C06916DD43F}"/>
              </a:ext>
            </a:extLst>
          </p:cNvPr>
          <p:cNvGrpSpPr/>
          <p:nvPr/>
        </p:nvGrpSpPr>
        <p:grpSpPr>
          <a:xfrm>
            <a:off x="4067175" y="912812"/>
            <a:ext cx="4573588" cy="3430783"/>
            <a:chOff x="4067175" y="912813"/>
            <a:chExt cx="4494318" cy="3371320"/>
          </a:xfrm>
        </p:grpSpPr>
        <p:pic>
          <p:nvPicPr>
            <p:cNvPr id="517" name="Google Shape;517;p24"/>
            <p:cNvPicPr preferRelativeResize="0"/>
            <p:nvPr/>
          </p:nvPicPr>
          <p:blipFill rotWithShape="1">
            <a:blip r:embed="rId3">
              <a:alphaModFix/>
            </a:blip>
            <a:srcRect r="1733" b="2839"/>
            <a:stretch/>
          </p:blipFill>
          <p:spPr>
            <a:xfrm>
              <a:off x="4067175" y="912813"/>
              <a:ext cx="4494318" cy="3371320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53F4B564-5E82-A2F6-8CD3-FFA93CCB41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119737" y="2564520"/>
              <a:ext cx="2579090" cy="165865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5"/>
          <p:cNvSpPr txBox="1"/>
          <p:nvPr/>
        </p:nvSpPr>
        <p:spPr>
          <a:xfrm>
            <a:off x="503236" y="921679"/>
            <a:ext cx="3207651" cy="229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TARJETAS DE RESULTADOS (</a:t>
            </a:r>
            <a:r>
              <a:rPr lang="es-PE" sz="16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SCORECARD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Muestran una calificación o resultado para un indicador clave de rendimiento (KPI).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Muestran el desempeño general de un vistazo.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Usualmente creados por desarrolladores BI.</a:t>
            </a:r>
            <a:endParaRPr dirty="0"/>
          </a:p>
        </p:txBody>
      </p:sp>
      <p:pic>
        <p:nvPicPr>
          <p:cNvPr id="524" name="Google Shape;524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175" y="912813"/>
            <a:ext cx="4573588" cy="2740948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6941F8A-AC8C-5994-9543-096104D3548C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6"/>
          <p:cNvSpPr txBox="1"/>
          <p:nvPr/>
        </p:nvSpPr>
        <p:spPr>
          <a:xfrm>
            <a:off x="503238" y="912813"/>
            <a:ext cx="3107257" cy="27853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TABLEROS (</a:t>
            </a:r>
            <a:r>
              <a:rPr lang="es-PE" sz="16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Alojados en portales y consumidos por navegadores de internet.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Mezclan diferentes visualizaciones de datos.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Permiten análisis y filtros interactivos.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Usados para seguimiento de desempeño del negocio.</a:t>
            </a:r>
            <a:endParaRPr dirty="0"/>
          </a:p>
          <a:p>
            <a:pPr marL="185738" marR="0" lvl="0" indent="-18573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Creados por desarrolladores BI especializados.</a:t>
            </a:r>
            <a:endParaRPr dirty="0"/>
          </a:p>
        </p:txBody>
      </p:sp>
      <p:pic>
        <p:nvPicPr>
          <p:cNvPr id="531" name="Google Shape;53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67175" y="912813"/>
            <a:ext cx="4573588" cy="28813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9FE675AA-DEC2-76B5-F7A1-4271D3B37A69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HERRAMIENTAS DE EXPLOTACIÓN DE LA INFORMACIÓN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600127" cy="12362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dirty="0">
                <a:solidFill>
                  <a:schemeClr val="bg1"/>
                </a:solidFill>
                <a:latin typeface="Graphik Regular" panose="020B0503030202060203" pitchFamily="34" charset="77"/>
                <a:sym typeface="Calibri"/>
              </a:rPr>
              <a:t>INTRODUCCIÓN </a:t>
            </a:r>
            <a:b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</a:b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AL MODELADO DIMENSIONAL</a:t>
            </a:r>
            <a:endParaRPr lang="es-PE" sz="28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  <a:p>
            <a:pPr>
              <a:lnSpc>
                <a:spcPct val="90000"/>
              </a:lnSpc>
              <a:spcBef>
                <a:spcPts val="1000"/>
              </a:spcBef>
              <a:defRPr/>
            </a:pPr>
            <a:endParaRPr lang="es-PE" sz="2400" b="1" dirty="0">
              <a:solidFill>
                <a:schemeClr val="bg1"/>
              </a:solidFill>
              <a:latin typeface="Graphik Bold" panose="020B0503030202060203" pitchFamily="34" charset="77"/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6149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28"/>
          <p:cNvGrpSpPr/>
          <p:nvPr/>
        </p:nvGrpSpPr>
        <p:grpSpPr>
          <a:xfrm>
            <a:off x="1190901" y="956754"/>
            <a:ext cx="6975074" cy="4253798"/>
            <a:chOff x="1068783" y="1009685"/>
            <a:chExt cx="6975074" cy="4253798"/>
          </a:xfrm>
        </p:grpSpPr>
        <p:pic>
          <p:nvPicPr>
            <p:cNvPr id="545" name="Google Shape;545;p28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068783" y="1197923"/>
              <a:ext cx="6975074" cy="4065560"/>
            </a:xfrm>
            <a:prstGeom prst="rect">
              <a:avLst/>
            </a:prstGeom>
            <a:noFill/>
            <a:ln>
              <a:solidFill>
                <a:srgbClr val="00B1C2"/>
              </a:solidFill>
            </a:ln>
          </p:spPr>
        </p:pic>
        <p:sp>
          <p:nvSpPr>
            <p:cNvPr id="546" name="Google Shape;546;p28"/>
            <p:cNvSpPr txBox="1"/>
            <p:nvPr/>
          </p:nvSpPr>
          <p:spPr>
            <a:xfrm>
              <a:off x="5908753" y="1534105"/>
              <a:ext cx="1207062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Dimensión Tiempo</a:t>
              </a:r>
              <a:endParaRPr/>
            </a:p>
          </p:txBody>
        </p:sp>
        <p:sp>
          <p:nvSpPr>
            <p:cNvPr id="547" name="Google Shape;547;p28"/>
            <p:cNvSpPr txBox="1"/>
            <p:nvPr/>
          </p:nvSpPr>
          <p:spPr>
            <a:xfrm>
              <a:off x="1122907" y="4084564"/>
              <a:ext cx="1364156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Dimensión Empleado</a:t>
              </a:r>
              <a:endParaRPr/>
            </a:p>
          </p:txBody>
        </p:sp>
        <p:sp>
          <p:nvSpPr>
            <p:cNvPr id="548" name="Google Shape;548;p28"/>
            <p:cNvSpPr txBox="1"/>
            <p:nvPr/>
          </p:nvSpPr>
          <p:spPr>
            <a:xfrm>
              <a:off x="5317388" y="3548793"/>
              <a:ext cx="136851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b="1">
                  <a:solidFill>
                    <a:srgbClr val="EE4639"/>
                  </a:solidFill>
                  <a:latin typeface="Calibri"/>
                  <a:ea typeface="Calibri"/>
                  <a:cs typeface="Calibri"/>
                  <a:sym typeface="Calibri"/>
                </a:rPr>
                <a:t>Tabla de hechos</a:t>
              </a:r>
              <a:endParaRPr>
                <a:solidFill>
                  <a:srgbClr val="EE4639"/>
                </a:solidFill>
              </a:endParaRPr>
            </a:p>
          </p:txBody>
        </p:sp>
        <p:sp>
          <p:nvSpPr>
            <p:cNvPr id="549" name="Google Shape;549;p28"/>
            <p:cNvSpPr/>
            <p:nvPr/>
          </p:nvSpPr>
          <p:spPr>
            <a:xfrm>
              <a:off x="3496549" y="2592513"/>
              <a:ext cx="1831402" cy="2196657"/>
            </a:xfrm>
            <a:prstGeom prst="rect">
              <a:avLst/>
            </a:prstGeom>
            <a:noFill/>
            <a:ln w="31750" cap="flat" cmpd="sng">
              <a:solidFill>
                <a:srgbClr val="EE463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28"/>
            <p:cNvSpPr txBox="1"/>
            <p:nvPr/>
          </p:nvSpPr>
          <p:spPr>
            <a:xfrm>
              <a:off x="1120963" y="1758553"/>
              <a:ext cx="1386085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Dimensión Proveedor</a:t>
              </a:r>
              <a:endParaRPr/>
            </a:p>
          </p:txBody>
        </p:sp>
        <p:sp>
          <p:nvSpPr>
            <p:cNvPr id="551" name="Google Shape;551;p28"/>
            <p:cNvSpPr txBox="1"/>
            <p:nvPr/>
          </p:nvSpPr>
          <p:spPr>
            <a:xfrm>
              <a:off x="6293833" y="4049489"/>
              <a:ext cx="1168525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Dimensión Cliente</a:t>
              </a:r>
              <a:endParaRPr/>
            </a:p>
          </p:txBody>
        </p:sp>
        <p:sp>
          <p:nvSpPr>
            <p:cNvPr id="552" name="Google Shape;552;p28"/>
            <p:cNvSpPr/>
            <p:nvPr/>
          </p:nvSpPr>
          <p:spPr>
            <a:xfrm>
              <a:off x="3691375" y="3939729"/>
              <a:ext cx="765810" cy="560070"/>
            </a:xfrm>
            <a:prstGeom prst="rect">
              <a:avLst/>
            </a:prstGeom>
            <a:noFill/>
            <a:ln w="31750" cap="flat" cmpd="sng">
              <a:solidFill>
                <a:srgbClr val="00B1C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28"/>
            <p:cNvSpPr txBox="1"/>
            <p:nvPr/>
          </p:nvSpPr>
          <p:spPr>
            <a:xfrm>
              <a:off x="5428736" y="4168981"/>
              <a:ext cx="764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400" b="1" dirty="0">
                  <a:solidFill>
                    <a:srgbClr val="00B1C2"/>
                  </a:solidFill>
                  <a:latin typeface="Calibri"/>
                  <a:ea typeface="Calibri"/>
                  <a:cs typeface="Calibri"/>
                  <a:sym typeface="Calibri"/>
                </a:rPr>
                <a:t>Métrica</a:t>
              </a:r>
              <a:endParaRPr dirty="0">
                <a:solidFill>
                  <a:srgbClr val="00B1C2"/>
                </a:solidFill>
              </a:endParaRPr>
            </a:p>
          </p:txBody>
        </p:sp>
        <p:sp>
          <p:nvSpPr>
            <p:cNvPr id="554" name="Google Shape;554;p28"/>
            <p:cNvSpPr txBox="1"/>
            <p:nvPr/>
          </p:nvSpPr>
          <p:spPr>
            <a:xfrm>
              <a:off x="3575905" y="1009685"/>
              <a:ext cx="130632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PE" sz="1200" b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Dimensión Producto</a:t>
              </a:r>
              <a:endParaRPr/>
            </a:p>
          </p:txBody>
        </p:sp>
        <p:cxnSp>
          <p:nvCxnSpPr>
            <p:cNvPr id="555" name="Google Shape;555;p28"/>
            <p:cNvCxnSpPr/>
            <p:nvPr/>
          </p:nvCxnSpPr>
          <p:spPr>
            <a:xfrm rot="10800000">
              <a:off x="4473281" y="4093617"/>
              <a:ext cx="1002949" cy="236649"/>
            </a:xfrm>
            <a:prstGeom prst="straightConnector1">
              <a:avLst/>
            </a:prstGeom>
            <a:noFill/>
            <a:ln w="31750" cap="flat" cmpd="sng">
              <a:solidFill>
                <a:srgbClr val="00B1C2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sp>
        <p:nvSpPr>
          <p:cNvPr id="2" name="Rectangle 5">
            <a:extLst>
              <a:ext uri="{FF2B5EF4-FFF2-40B4-BE49-F238E27FC236}">
                <a16:creationId xmlns:a16="http://schemas.microsoft.com/office/drawing/2014/main" id="{95245413-03FF-162B-A5A8-02CB4CA50A6F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INTRODUCCIÓN AL MODELADO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9"/>
          <p:cNvSpPr txBox="1"/>
          <p:nvPr/>
        </p:nvSpPr>
        <p:spPr>
          <a:xfrm>
            <a:off x="503238" y="912813"/>
            <a:ext cx="6771715" cy="3108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dimensional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 "intuitivo".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Fácil acceso a la información.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de alto rendimiento.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 a las consultas y análisis de datos. Modelo de datos denormalizado.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Soporte a la toma de decisiones.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Esquemas: estrella (star) y copo de nieve (snowflake).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Elementos: dimensiones, hechos y medidas (métrica).</a:t>
            </a:r>
            <a:endParaRPr dirty="0"/>
          </a:p>
          <a:p>
            <a:pPr marL="342900" marR="0" lvl="0" indent="-241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dirty="0"/>
          </a:p>
          <a:p>
            <a:pPr marL="174625" marR="0" lvl="0" indent="-1746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Orientado a las transacciones (registro y actualización de datos). Modelo de datos normalizado.</a:t>
            </a:r>
            <a:endParaRPr dirty="0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B01BDFEE-66BC-195D-9219-E5248F0078B2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INTRODUCCIÓN AL MODELADO DIMENSIONAL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F58EABDC-EE9F-6D4B-8493-73E3A05BE100}"/>
              </a:ext>
            </a:extLst>
          </p:cNvPr>
          <p:cNvSpPr txBox="1"/>
          <p:nvPr/>
        </p:nvSpPr>
        <p:spPr>
          <a:xfrm>
            <a:off x="1008063" y="3169972"/>
            <a:ext cx="5600127" cy="3877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2800" b="1" dirty="0">
                <a:solidFill>
                  <a:schemeClr val="bg1"/>
                </a:solidFill>
                <a:latin typeface="Graphik Bold" panose="020B0503030202060203" pitchFamily="34" charset="77"/>
                <a:sym typeface="Calibri"/>
              </a:rPr>
              <a:t>MÉTRICAS Y KPI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E011318-DF6A-E443-82C0-13421C5F2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063" y="2869612"/>
            <a:ext cx="195423" cy="201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6615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31"/>
          <p:cNvSpPr txBox="1"/>
          <p:nvPr/>
        </p:nvSpPr>
        <p:spPr>
          <a:xfrm>
            <a:off x="503238" y="914273"/>
            <a:ext cx="8137525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MÉTRICA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un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dato numérico 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que representa la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medida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de algo.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Ejemplos: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0" lvl="1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 unidades vendidas de un producto.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0" lvl="1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 monto ingresado por la venta de un producto.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0" lvl="1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nota final del curso de un alumno.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6400" marR="0" lvl="1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un dato en crudo, único y específico para una situación.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2413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0"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INDICADOR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un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valor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que mide el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logro de un objetivo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 expresa como índice o porcentaje.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Requiere de dos métricas: el resultado que estamos midiendo, el valor objetivo que se desea alcanzar.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Ejemplo: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0" lvl="1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venta total del mes comparada con la meta establecida para dicho mes.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55600" marR="0" lvl="1" indent="-177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b="0" i="0" u="none" strike="noStrike" cap="none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cantidad de alumnos matriculados comparada contra la meta establecida por la institución.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D3229EBC-AED7-6884-C0D6-931E4319EDF9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MÉTRICAS Y KPI: MÉTRICA E INDICADOR 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2"/>
          <p:cNvSpPr txBox="1"/>
          <p:nvPr/>
        </p:nvSpPr>
        <p:spPr>
          <a:xfrm>
            <a:off x="503238" y="912813"/>
            <a:ext cx="8137525" cy="1800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KPI (Key Performance Indicator)</a:t>
            </a:r>
            <a:endParaRPr sz="1600" b="1" dirty="0">
              <a:solidFill>
                <a:schemeClr val="dk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Indicador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orientado al éxito de la estrategia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No todo indicador es un KPI. Es un indicador que ayuda a establecer la ruta a seguir para el éxito del negocio.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 un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indicador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que muestra la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eficacia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con la que una organización logra sus </a:t>
            </a:r>
            <a:r>
              <a:rPr lang="es-PE" sz="1600" b="1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objetivos clave</a:t>
            </a: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Evalúa lo que otros hacen bien, sea áreas internas de la organización o competidores.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74625" marR="0" lvl="0" indent="-17462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PE" sz="16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Usa los datos generados por los procesos.</a:t>
            </a:r>
            <a:endParaRPr sz="1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A06EBB2F-2972-3050-25AB-E13BF3C6B1D1}"/>
              </a:ext>
            </a:extLst>
          </p:cNvPr>
          <p:cNvSpPr/>
          <p:nvPr/>
        </p:nvSpPr>
        <p:spPr>
          <a:xfrm>
            <a:off x="503238" y="376836"/>
            <a:ext cx="4175200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cs typeface="Calibri" charset="0"/>
                <a:sym typeface="Calibri"/>
              </a:rPr>
              <a:t>MÉTRICAS Y KPI: MÉTRICA E INDICADOR </a:t>
            </a:r>
            <a:endParaRPr lang="es-PE" sz="1000" dirty="0">
              <a:solidFill>
                <a:schemeClr val="bg1">
                  <a:lumMod val="65000"/>
                </a:schemeClr>
              </a:solidFill>
              <a:latin typeface="Calibri" charset="0"/>
              <a:cs typeface="Calibri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8A495D6D-73E7-D64C-AD5A-8212D6B1E2F3}"/>
              </a:ext>
            </a:extLst>
          </p:cNvPr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682CC9F8-A9FF-BF41-B987-57AFB7D160FE}"/>
                </a:ext>
              </a:extLst>
            </p:cNvPr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  <a:t>CONCLUSIONES</a:t>
              </a:r>
              <a:br>
                <a:rPr lang="es-ES_tradnl" sz="3600" dirty="0">
                  <a:solidFill>
                    <a:schemeClr val="bg1"/>
                  </a:solidFill>
                  <a:latin typeface="Graphik Regular" charset="0"/>
                  <a:ea typeface="Graphik Regular" charset="0"/>
                  <a:cs typeface="Graphik Regular" charset="0"/>
                </a:rPr>
              </a:br>
              <a:r>
                <a:rPr lang="es-ES_tradnl" sz="3600" b="1" dirty="0">
                  <a:solidFill>
                    <a:schemeClr val="bg1"/>
                  </a:solidFill>
                  <a:latin typeface="Graphik Bold" charset="0"/>
                  <a:ea typeface="Graphik Bold" charset="0"/>
                  <a:cs typeface="Graphik Bold" charset="0"/>
                </a:rPr>
                <a:t>MÁS REFERENCIAS</a:t>
              </a:r>
            </a:p>
          </p:txBody>
        </p:sp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2CD7628C-6304-5D4B-BA7D-591238143D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</p:spPr>
        </p:pic>
      </p:grpSp>
      <p:pic>
        <p:nvPicPr>
          <p:cNvPr id="10" name="Imagen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53" y="946969"/>
            <a:ext cx="2072214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57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object 7"/>
          <p:cNvSpPr txBox="1"/>
          <p:nvPr/>
        </p:nvSpPr>
        <p:spPr>
          <a:xfrm>
            <a:off x="1279544" y="912813"/>
            <a:ext cx="5375779" cy="430887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Una solución de inteligencia de negocios está conformada por las fuentes de datos, las herramientas ETL, el almacenamiento dimensional y </a:t>
            </a:r>
            <a:b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 herramientas de explotación de la información.</a:t>
            </a: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951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fuentes de datos 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están constituidas por la data operacional de </a:t>
            </a:r>
            <a:b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 organización (la data del día a día).</a:t>
            </a: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951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almacenamiento dimensional 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 implementa mediante la construcción del data warehouse y los data marts.</a:t>
            </a: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951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herramientas ETL 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se utilizan para extraer la data desde las fuentes de datos, transformarla para conseguir calidad de datos, y cargarla en el almacenamiento dimensional.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endParaRPr lang="es-PE" sz="14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Las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herramientas de explotación de la información 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permiten que los usuarios de negocio obtengan la información en un formato que les permita analizarla para dar soporte a su toma de decisiones.</a:t>
            </a:r>
            <a:endParaRPr lang="es-PE" sz="1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07951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</a:pPr>
            <a:endParaRPr lang="es-PE" sz="1400" dirty="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</a:pP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El buen diseño de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indicadores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 es vital para </a:t>
            </a:r>
            <a:r>
              <a:rPr lang="es-PE" sz="1400" b="1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medir el desempeño </a:t>
            </a: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de </a:t>
            </a:r>
            <a:b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</a:br>
            <a:r>
              <a:rPr lang="es-PE" sz="14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una organización.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954885"/>
            <a:ext cx="114138" cy="117546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1811363"/>
            <a:ext cx="114138" cy="117546"/>
          </a:xfrm>
          <a:prstGeom prst="rect">
            <a:avLst/>
          </a:prstGeom>
        </p:spPr>
      </p:pic>
      <p:sp>
        <p:nvSpPr>
          <p:cNvPr id="16" name="Rectángulo 1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999" y="3048772"/>
            <a:ext cx="1690689" cy="2185216"/>
          </a:xfrm>
          <a:prstGeom prst="rect">
            <a:avLst/>
          </a:prstGeom>
        </p:spPr>
      </p:pic>
      <p:sp>
        <p:nvSpPr>
          <p:cNvPr id="9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CONCLUSIONES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C1A0E23-925F-4E47-8125-ED716B036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093656"/>
            <a:ext cx="114138" cy="11754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A9803F0-9407-85A4-39AF-7A20CD1AE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2445026"/>
            <a:ext cx="114138" cy="11754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7DD99B13-6C9A-8B33-576D-7D380049F3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3942742"/>
            <a:ext cx="114138" cy="11754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FCF578F-66E0-26FC-5042-945F4FD36F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60" y="4804891"/>
            <a:ext cx="114138" cy="11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0901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C9F27E8-E0F0-CF48-B2E7-A2617B9B1DEA}"/>
              </a:ext>
            </a:extLst>
          </p:cNvPr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0000"/>
              </a:lnSpc>
            </a:pPr>
            <a: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  <a:t>BIBLIOGRAFÍA</a:t>
            </a:r>
            <a:br>
              <a:rPr lang="es-ES_tradnl" sz="3600" dirty="0">
                <a:solidFill>
                  <a:schemeClr val="bg1"/>
                </a:solidFill>
                <a:latin typeface="Graphik Regular" charset="0"/>
                <a:ea typeface="Graphik Regular" charset="0"/>
                <a:cs typeface="Graphik Regular" charset="0"/>
              </a:rPr>
            </a:br>
            <a:r>
              <a:rPr lang="es-ES_tradnl" sz="3600" b="1" dirty="0">
                <a:solidFill>
                  <a:schemeClr val="bg1"/>
                </a:solidFill>
                <a:latin typeface="Graphik Bold" charset="0"/>
                <a:ea typeface="Graphik Bold" charset="0"/>
                <a:cs typeface="Graphik Bold" charset="0"/>
              </a:rPr>
              <a:t>MÁS REFERENCIAS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CD7628C-6304-5D4B-BA7D-591238143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8619" y="2194222"/>
            <a:ext cx="202176" cy="20821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46970"/>
            <a:ext cx="2072061" cy="3898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617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object 7"/>
          <p:cNvSpPr txBox="1"/>
          <p:nvPr/>
        </p:nvSpPr>
        <p:spPr>
          <a:xfrm>
            <a:off x="1279009" y="917823"/>
            <a:ext cx="4774320" cy="15081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Sinergia (2007). ¿Qué es Business Intelligence?. Recuperado de https://www.sinnexus.com/business_intelligence/index.aspx. Fecha de consulta: 1 de abril del 2024.</a:t>
            </a:r>
          </a:p>
          <a:p>
            <a:pPr marL="95251"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es-PE"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es-PE" sz="1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CPM BI (2017). BI o Inteligencia de Negocios. Recuperado de https://www.youtube.com/watch?v=_qKqvgnPhSU. Fecha de consulta: 1 de abril del 2024.</a:t>
            </a: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959114"/>
            <a:ext cx="103867" cy="106967"/>
          </a:xfrm>
          <a:prstGeom prst="rect">
            <a:avLst/>
          </a:prstGeom>
        </p:spPr>
      </p:pic>
      <p:sp>
        <p:nvSpPr>
          <p:cNvPr id="19" name="Rectángulo 18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0" y="3036889"/>
            <a:ext cx="1690688" cy="2197100"/>
          </a:xfrm>
          <a:prstGeom prst="rect">
            <a:avLst/>
          </a:prstGeom>
        </p:spPr>
      </p:pic>
      <p:sp>
        <p:nvSpPr>
          <p:cNvPr id="8" name="Rectangle 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defRPr/>
            </a:pPr>
            <a:r>
              <a:rPr lang="es-PE" sz="1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/>
                <a:cs typeface="Calibri"/>
              </a:rPr>
              <a:t>+ </a:t>
            </a:r>
            <a:r>
              <a:rPr lang="es-PE" sz="1000" dirty="0">
                <a:solidFill>
                  <a:schemeClr val="bg1">
                    <a:lumMod val="65000"/>
                  </a:schemeClr>
                </a:solidFill>
                <a:latin typeface="Calibri" charset="0"/>
                <a:ea typeface="Calibri" charset="0"/>
                <a:cs typeface="Calibri" charset="0"/>
              </a:rPr>
              <a:t>BIBLIOGRAFÍA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AEB68FC-B278-2F43-A091-3E8F46A9C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4" y="1826158"/>
            <a:ext cx="103867" cy="106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432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199" y="2666298"/>
            <a:ext cx="1295601" cy="38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95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  <p:tag name="ARTICULATE_DESIGN_ID_OFFICE THEME" val="Yge96mEv"/>
  <p:tag name="ARTICULATE_SLIDE_COUNT" val="1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lIns="91425" tIns="91425" rIns="91425" bIns="91425" anchor="t" anchorCtr="0">
        <a:noAutofit/>
      </a:bodyPr>
      <a:lstStyle>
        <a:defPPr marL="174625" indent="-174625">
          <a:spcBef>
            <a:spcPts val="0"/>
          </a:spcBef>
          <a:buSzPct val="100000"/>
          <a:defRPr sz="1500" dirty="0" smtClean="0">
            <a:latin typeface="Calibri"/>
            <a:cs typeface="Calibri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5139</TotalTime>
  <Words>1926</Words>
  <Application>Microsoft Office PowerPoint</Application>
  <PresentationFormat>Presentación en pantalla (16:10)</PresentationFormat>
  <Paragraphs>379</Paragraphs>
  <Slides>38</Slides>
  <Notes>33</Notes>
  <HiddenSlides>0</HiddenSlides>
  <MMClips>0</MMClips>
  <ScaleCrop>false</ScaleCrop>
  <HeadingPairs>
    <vt:vector size="8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38</vt:i4>
      </vt:variant>
    </vt:vector>
  </HeadingPairs>
  <TitlesOfParts>
    <vt:vector size="49" baseType="lpstr">
      <vt:lpstr>Arial</vt:lpstr>
      <vt:lpstr>Calibri</vt:lpstr>
      <vt:lpstr>Graphik Bold</vt:lpstr>
      <vt:lpstr>Graphik Medium</vt:lpstr>
      <vt:lpstr>Graphik Regular</vt:lpstr>
      <vt:lpstr>Quattrocento Sans</vt:lpstr>
      <vt:lpstr>Source Sans Pro</vt:lpstr>
      <vt:lpstr>Times New Roman</vt:lpstr>
      <vt:lpstr>Wingdings</vt:lpstr>
      <vt:lpstr>Office Theme</vt:lpstr>
      <vt:lpstr>MS_ClipArt_Gallery.2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ISIL</dc:creator>
  <cp:lastModifiedBy>Rosa Maria Muñoz Mendo</cp:lastModifiedBy>
  <cp:revision>407</cp:revision>
  <cp:lastPrinted>2018-01-16T21:42:59Z</cp:lastPrinted>
  <dcterms:created xsi:type="dcterms:W3CDTF">2016-10-06T14:52:02Z</dcterms:created>
  <dcterms:modified xsi:type="dcterms:W3CDTF">2024-06-28T17:13:12Z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5400A83D-B4FE-497C-9E2F-ACF3BA8DEF15</vt:lpwstr>
  </property>
  <property fmtid="{D5CDD505-2E9C-101B-9397-08002B2CF9AE}" pid="3" name="ArticulatePath">
    <vt:lpwstr>plantilla_cursos_presenciales-v3.1.6</vt:lpwstr>
  </property>
</Properties>
</file>