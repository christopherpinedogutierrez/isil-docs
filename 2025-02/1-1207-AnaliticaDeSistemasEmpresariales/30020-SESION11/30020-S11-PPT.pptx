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26" r:id="rId2"/>
    <p:sldId id="385" r:id="rId3"/>
    <p:sldId id="362" r:id="rId4"/>
    <p:sldId id="366" r:id="rId5"/>
    <p:sldId id="367" r:id="rId6"/>
    <p:sldId id="377" r:id="rId7"/>
    <p:sldId id="315" r:id="rId8"/>
    <p:sldId id="379" r:id="rId9"/>
    <p:sldId id="380" r:id="rId10"/>
    <p:sldId id="384" r:id="rId11"/>
    <p:sldId id="375" r:id="rId12"/>
    <p:sldId id="376" r:id="rId13"/>
    <p:sldId id="381" r:id="rId14"/>
    <p:sldId id="382" r:id="rId15"/>
    <p:sldId id="383" r:id="rId16"/>
    <p:sldId id="386" r:id="rId17"/>
    <p:sldId id="303" r:id="rId18"/>
    <p:sldId id="388" r:id="rId19"/>
    <p:sldId id="281" r:id="rId20"/>
    <p:sldId id="387" r:id="rId21"/>
  </p:sldIdLst>
  <p:sldSz cx="9144000" cy="5715000" type="screen16x10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1" pos="317" userDrawn="1">
          <p15:clr>
            <a:srgbClr val="A4A3A4"/>
          </p15:clr>
        </p15:guide>
        <p15:guide id="12" orient="horz" pos="18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BE1"/>
    <a:srgbClr val="EE4639"/>
    <a:srgbClr val="72B9B1"/>
    <a:srgbClr val="00B2C2"/>
    <a:srgbClr val="BFD5EF"/>
    <a:srgbClr val="F2F2F2"/>
    <a:srgbClr val="558ED5"/>
    <a:srgbClr val="1F85A6"/>
    <a:srgbClr val="E6E6E6"/>
    <a:srgbClr val="D102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55" autoAdjust="0"/>
    <p:restoredTop sz="90952" autoAdjust="0"/>
  </p:normalViewPr>
  <p:slideViewPr>
    <p:cSldViewPr snapToGrid="0" snapToObjects="1" showGuides="1">
      <p:cViewPr varScale="1">
        <p:scale>
          <a:sx n="107" d="100"/>
          <a:sy n="107" d="100"/>
        </p:scale>
        <p:origin x="168" y="656"/>
      </p:cViewPr>
      <p:guideLst>
        <p:guide pos="317"/>
        <p:guide orient="horz" pos="18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20/8/24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20/08/24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89668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5491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88427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064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95448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03875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5482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6752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3830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8136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03808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458" name="Google Shape;145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5667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ANALÍTICA DE LOS SISTEMAS EMPRESARIALES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TEMA 11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361516" y="5384440"/>
              <a:ext cx="1386918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60" r:id="rId4"/>
    <p:sldLayoutId id="2147483657" r:id="rId5"/>
    <p:sldLayoutId id="2147483658" r:id="rId6"/>
    <p:sldLayoutId id="2147483661" r:id="rId7"/>
    <p:sldLayoutId id="2147483659" r:id="rId8"/>
    <p:sldLayoutId id="2147483662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800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pos="5465" userDrawn="1">
          <p15:clr>
            <a:srgbClr val="F26B43"/>
          </p15:clr>
        </p15:guide>
        <p15:guide id="6" pos="317" userDrawn="1">
          <p15:clr>
            <a:srgbClr val="F26B43"/>
          </p15:clr>
        </p15:guide>
        <p15:guide id="7" orient="horz" pos="303" userDrawn="1">
          <p15:clr>
            <a:srgbClr val="F26B43"/>
          </p15:clr>
        </p15:guide>
        <p15:guide id="8" orient="horz" pos="575" userDrawn="1">
          <p15:clr>
            <a:srgbClr val="F26B43"/>
          </p15:clr>
        </p15:guide>
        <p15:guide id="9" orient="horz" pos="32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kAAZTXtBrQ" TargetMode="Externa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hyperlink" Target="https://learn.microsoft.com/es-es/power-bi/visuals/power-bi-visualization-kpi?tabs=powerbi-desktop" TargetMode="External"/><Relationship Id="rId4" Type="http://schemas.openxmlformats.org/officeDocument/2006/relationships/hyperlink" Target="https://edicomgroup.es/blog/tipos-dashboards-ejemplos-kpis#:~:text=Un%20dashboard%20o%20cuadro%20de,una%20manera%20visual%20e%20intuitiva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77F2A90-7F3A-CBA3-C776-366458156283}"/>
              </a:ext>
            </a:extLst>
          </p:cNvPr>
          <p:cNvSpPr/>
          <p:nvPr/>
        </p:nvSpPr>
        <p:spPr>
          <a:xfrm>
            <a:off x="280086" y="5275178"/>
            <a:ext cx="8699157" cy="4089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EC8B1B-11CD-B827-A776-B791231B8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917" y="0"/>
            <a:ext cx="5391150" cy="5715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8EDFA99-EFFB-0002-9FC6-14079EAC7AA9}"/>
              </a:ext>
            </a:extLst>
          </p:cNvPr>
          <p:cNvSpPr txBox="1"/>
          <p:nvPr/>
        </p:nvSpPr>
        <p:spPr>
          <a:xfrm>
            <a:off x="494360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PE" sz="900" b="1" dirty="0">
                <a:solidFill>
                  <a:srgbClr val="6C6D6C"/>
                </a:solidFill>
                <a:latin typeface="Calibri" charset="0"/>
                <a:cs typeface="Calibri" charset="0"/>
                <a:sym typeface="Calibri"/>
              </a:rPr>
              <a:t>ANALÍTICA DE SISTEMAS EMPRESARIALES </a:t>
            </a:r>
            <a:endParaRPr lang="es-PE" sz="900" b="1" dirty="0">
              <a:solidFill>
                <a:srgbClr val="6C6D6C"/>
              </a:solidFill>
              <a:latin typeface="Calibri" charset="0"/>
              <a:cs typeface="Calibri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61EF1B-F263-DFA4-A6B8-AF6BED24C11B}"/>
              </a:ext>
            </a:extLst>
          </p:cNvPr>
          <p:cNvSpPr/>
          <p:nvPr/>
        </p:nvSpPr>
        <p:spPr>
          <a:xfrm>
            <a:off x="494361" y="2177570"/>
            <a:ext cx="3258078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s-ES" sz="3000" dirty="0" err="1">
                <a:latin typeface="Graphik-Medium" charset="0"/>
              </a:rPr>
              <a:t>KPIs</a:t>
            </a:r>
            <a:r>
              <a:rPr lang="es-ES" sz="3000" dirty="0">
                <a:latin typeface="Graphik-Medium" charset="0"/>
              </a:rPr>
              <a:t> EN </a:t>
            </a:r>
            <a:br>
              <a:rPr lang="es-ES" sz="3000" dirty="0">
                <a:latin typeface="Graphik-Medium" charset="0"/>
              </a:rPr>
            </a:br>
            <a:r>
              <a:rPr lang="es-ES" sz="3000" b="1" dirty="0">
                <a:latin typeface="Graphik Bold" panose="020B0503030202060203" pitchFamily="34" charset="77"/>
              </a:rPr>
              <a:t>LOS PROCESOS </a:t>
            </a:r>
            <a:br>
              <a:rPr lang="es-ES" sz="3000" b="1" dirty="0">
                <a:latin typeface="Graphik Bold" panose="020B0503030202060203" pitchFamily="34" charset="77"/>
              </a:rPr>
            </a:br>
            <a:r>
              <a:rPr lang="es-ES" sz="3000" b="1" dirty="0">
                <a:latin typeface="Graphik Bold" panose="020B0503030202060203" pitchFamily="34" charset="77"/>
              </a:rPr>
              <a:t>DE NEGOCIOS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C1EC040-2EB4-1807-FA1E-9B80A2BAA39B}"/>
              </a:ext>
            </a:extLst>
          </p:cNvPr>
          <p:cNvSpPr txBox="1"/>
          <p:nvPr/>
        </p:nvSpPr>
        <p:spPr>
          <a:xfrm>
            <a:off x="735024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E04097"/>
                </a:solidFill>
                <a:latin typeface="Calibri" charset="0"/>
                <a:ea typeface="Calibri" charset="0"/>
                <a:cs typeface="Calibri" charset="0"/>
              </a:rPr>
              <a:t>TEMA 11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0F61BFC-D41D-0F9E-FE91-D590AD18E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86" y="1883411"/>
            <a:ext cx="166865" cy="170453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6FAF44AF-13C0-6DDB-EA2F-D17BE9BD2C69}"/>
              </a:ext>
            </a:extLst>
          </p:cNvPr>
          <p:cNvSpPr/>
          <p:nvPr/>
        </p:nvSpPr>
        <p:spPr>
          <a:xfrm>
            <a:off x="494360" y="3612072"/>
            <a:ext cx="2848490" cy="11983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E04097"/>
              </a:buClr>
              <a:buSzPct val="100000"/>
              <a:buFont typeface="Arial"/>
              <a:buChar char="•"/>
            </a:pPr>
            <a:r>
              <a:rPr lang="es-ES" sz="1100" dirty="0">
                <a:latin typeface="Graphik-Medium" charset="0"/>
              </a:rPr>
              <a:t>Medidas y </a:t>
            </a:r>
            <a:r>
              <a:rPr lang="es-ES" sz="1100" dirty="0" err="1">
                <a:latin typeface="Graphik-Medium" charset="0"/>
              </a:rPr>
              <a:t>KPIs</a:t>
            </a:r>
            <a:endParaRPr lang="es-ES" sz="1100" dirty="0">
              <a:latin typeface="Graphik-Medium" charset="0"/>
            </a:endParaRPr>
          </a:p>
          <a:p>
            <a:pPr marL="177800" indent="-177800">
              <a:lnSpc>
                <a:spcPct val="120000"/>
              </a:lnSpc>
              <a:buClr>
                <a:srgbClr val="E04097"/>
              </a:buClr>
              <a:buSzPct val="100000"/>
              <a:buFont typeface="Arial"/>
              <a:buChar char="•"/>
            </a:pPr>
            <a:r>
              <a:rPr lang="es-ES" sz="1100" dirty="0" err="1">
                <a:latin typeface="Graphik-Medium" charset="0"/>
              </a:rPr>
              <a:t>Dashboards</a:t>
            </a:r>
            <a:r>
              <a:rPr lang="es-ES" sz="1100" dirty="0">
                <a:latin typeface="Graphik-Medium" charset="0"/>
              </a:rPr>
              <a:t> para medición del desempeño de los procesos de negocio.</a:t>
            </a:r>
          </a:p>
          <a:p>
            <a:pPr marL="177800" indent="-177800">
              <a:lnSpc>
                <a:spcPct val="120000"/>
              </a:lnSpc>
              <a:buClr>
                <a:srgbClr val="E04097"/>
              </a:buClr>
              <a:buSzPct val="100000"/>
              <a:buFont typeface="Arial"/>
              <a:buChar char="•"/>
            </a:pPr>
            <a:r>
              <a:rPr lang="es-ES" sz="1100" dirty="0">
                <a:latin typeface="Graphik-Medium" charset="0"/>
              </a:rPr>
              <a:t>Generación de </a:t>
            </a:r>
            <a:r>
              <a:rPr lang="es-ES" sz="1100" dirty="0" err="1">
                <a:latin typeface="Graphik-Medium" charset="0"/>
              </a:rPr>
              <a:t>KPIs</a:t>
            </a:r>
            <a:endParaRPr lang="es-ES" sz="1100" dirty="0">
              <a:latin typeface="Graphik-Medium" charset="0"/>
            </a:endParaRPr>
          </a:p>
          <a:p>
            <a:pPr marL="177800" indent="-177800">
              <a:lnSpc>
                <a:spcPct val="120000"/>
              </a:lnSpc>
              <a:buClr>
                <a:srgbClr val="E04097"/>
              </a:buClr>
              <a:buSzPct val="100000"/>
              <a:buFont typeface="Arial"/>
              <a:buChar char="•"/>
            </a:pPr>
            <a:r>
              <a:rPr lang="es-ES" sz="1100" dirty="0">
                <a:latin typeface="Graphik-Medium" charset="0"/>
              </a:rPr>
              <a:t>Caso práctico</a:t>
            </a:r>
          </a:p>
        </p:txBody>
      </p:sp>
    </p:spTree>
    <p:extLst>
      <p:ext uri="{BB962C8B-B14F-4D97-AF65-F5344CB8AC3E}">
        <p14:creationId xmlns:p14="http://schemas.microsoft.com/office/powerpoint/2010/main" val="2962688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5;p4">
            <a:extLst>
              <a:ext uri="{FF2B5EF4-FFF2-40B4-BE49-F238E27FC236}">
                <a16:creationId xmlns:a16="http://schemas.microsoft.com/office/drawing/2014/main" id="{CB9CCC11-1620-AD63-DC09-2BEE31F7E919}"/>
              </a:ext>
            </a:extLst>
          </p:cNvPr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06;p4">
            <a:extLst>
              <a:ext uri="{FF2B5EF4-FFF2-40B4-BE49-F238E27FC236}">
                <a16:creationId xmlns:a16="http://schemas.microsoft.com/office/drawing/2014/main" id="{6F5E27F5-11DB-D298-FEC3-E7461AA2815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946969"/>
            <a:ext cx="2072213" cy="38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7;p4">
            <a:extLst>
              <a:ext uri="{FF2B5EF4-FFF2-40B4-BE49-F238E27FC236}">
                <a16:creationId xmlns:a16="http://schemas.microsoft.com/office/drawing/2014/main" id="{82A5E842-E6DE-7A11-5EE8-DC607C2067A6}"/>
              </a:ext>
            </a:extLst>
          </p:cNvPr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8;p4">
            <a:extLst>
              <a:ext uri="{FF2B5EF4-FFF2-40B4-BE49-F238E27FC236}">
                <a16:creationId xmlns:a16="http://schemas.microsoft.com/office/drawing/2014/main" id="{350BEB87-BC1D-3D6B-D594-D57C588EDA98}"/>
              </a:ext>
            </a:extLst>
          </p:cNvPr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300" dirty="0">
                <a:solidFill>
                  <a:schemeClr val="lt1"/>
                </a:solidFill>
                <a:latin typeface="Graphik Regular" panose="020B0503030202060203" pitchFamily="34" charset="77"/>
                <a:ea typeface="Arial"/>
                <a:cs typeface="Arial"/>
                <a:sym typeface="Arial"/>
              </a:rPr>
              <a:t>INTRODUCCIÓN</a:t>
            </a:r>
            <a:endParaRPr dirty="0">
              <a:latin typeface="Graphik Regular" panose="020B0503030202060203" pitchFamily="34" charset="77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300" b="1" dirty="0">
                <a:solidFill>
                  <a:schemeClr val="lt1"/>
                </a:solidFill>
                <a:latin typeface="Graphik Bold" panose="020B0503030202060203" pitchFamily="34" charset="77"/>
                <a:ea typeface="Arial"/>
                <a:cs typeface="Arial"/>
                <a:sym typeface="Arial"/>
              </a:rPr>
              <a:t>DE LA SESIÓN</a:t>
            </a:r>
            <a:endParaRPr b="1" dirty="0">
              <a:latin typeface="Graphik Bold" panose="020B0503030202060203" pitchFamily="34" charset="77"/>
            </a:endParaRPr>
          </a:p>
        </p:txBody>
      </p:sp>
      <p:pic>
        <p:nvPicPr>
          <p:cNvPr id="6" name="Google Shape;109;p4">
            <a:extLst>
              <a:ext uri="{FF2B5EF4-FFF2-40B4-BE49-F238E27FC236}">
                <a16:creationId xmlns:a16="http://schemas.microsoft.com/office/drawing/2014/main" id="{2F448C91-13F4-2A71-1D42-7EB8417654B3}"/>
              </a:ext>
            </a:extLst>
          </p:cNvPr>
          <p:cNvPicPr preferRelativeResize="0"/>
          <p:nvPr/>
        </p:nvPicPr>
        <p:blipFill rotWithShape="1">
          <a:blip r:embed="rId3">
            <a:alphaModFix amt="16000"/>
          </a:blip>
          <a:srcRect/>
          <a:stretch/>
        </p:blipFill>
        <p:spPr>
          <a:xfrm>
            <a:off x="334433" y="3817749"/>
            <a:ext cx="809264" cy="8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10;p4">
            <a:extLst>
              <a:ext uri="{FF2B5EF4-FFF2-40B4-BE49-F238E27FC236}">
                <a16:creationId xmlns:a16="http://schemas.microsoft.com/office/drawing/2014/main" id="{1EBBFB51-CD34-6A86-58BE-54D2087361C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673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7;p5">
            <a:extLst>
              <a:ext uri="{FF2B5EF4-FFF2-40B4-BE49-F238E27FC236}">
                <a16:creationId xmlns:a16="http://schemas.microsoft.com/office/drawing/2014/main" id="{852877BE-FEBF-B614-8A3B-22F9EF9D9486}"/>
              </a:ext>
            </a:extLst>
          </p:cNvPr>
          <p:cNvSpPr txBox="1"/>
          <p:nvPr/>
        </p:nvSpPr>
        <p:spPr>
          <a:xfrm>
            <a:off x="1282298" y="918371"/>
            <a:ext cx="5880502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ES_tradnl" sz="1400" spc="-10" dirty="0">
                <a:latin typeface="Calibri" panose="020F0502020204030204" pitchFamily="34" charset="0"/>
                <a:cs typeface="Calibri" panose="020F0502020204030204" pitchFamily="34" charset="0"/>
              </a:rPr>
              <a:t>En esta sesión verás sobre la creación de un informe que integra distintas visualizaciones de datos de </a:t>
            </a:r>
            <a:r>
              <a:rPr lang="es-ES_tradnl" sz="1400" spc="-10" dirty="0" err="1">
                <a:latin typeface="Calibri" panose="020F0502020204030204" pitchFamily="34" charset="0"/>
                <a:cs typeface="Calibri" panose="020F0502020204030204" pitchFamily="34" charset="0"/>
              </a:rPr>
              <a:t>Power</a:t>
            </a:r>
            <a:r>
              <a:rPr lang="es-ES_tradnl" sz="1400" spc="-10" dirty="0">
                <a:latin typeface="Calibri" panose="020F0502020204030204" pitchFamily="34" charset="0"/>
                <a:cs typeface="Calibri" panose="020F0502020204030204" pitchFamily="34" charset="0"/>
              </a:rPr>
              <a:t> BI que trabajan sincronizadamente.</a:t>
            </a:r>
          </a:p>
          <a:p>
            <a:pPr marL="11725">
              <a:buSzPct val="100000"/>
              <a:tabLst>
                <a:tab pos="121285" algn="l"/>
              </a:tabLst>
            </a:pPr>
            <a:endParaRPr lang="es-ES_tradnl" sz="1400" spc="-1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s-ES_tradnl" sz="1400" spc="-10" dirty="0">
                <a:latin typeface="Calibri" panose="020F0502020204030204" pitchFamily="34" charset="0"/>
                <a:cs typeface="Calibri" panose="020F0502020204030204" pitchFamily="34" charset="0"/>
              </a:rPr>
              <a:t>Conocerás que son los </a:t>
            </a:r>
            <a:r>
              <a:rPr lang="es-ES_tradnl" sz="1400" spc="-10" dirty="0" err="1">
                <a:latin typeface="Calibri" panose="020F0502020204030204" pitchFamily="34" charset="0"/>
                <a:cs typeface="Calibri" panose="020F0502020204030204" pitchFamily="34" charset="0"/>
              </a:rPr>
              <a:t>KPIs</a:t>
            </a:r>
            <a:r>
              <a:rPr lang="es-ES_tradnl" sz="1400" spc="-10" dirty="0">
                <a:latin typeface="Calibri" panose="020F0502020204030204" pitchFamily="34" charset="0"/>
                <a:cs typeface="Calibri" panose="020F0502020204030204" pitchFamily="34" charset="0"/>
              </a:rPr>
              <a:t> y cómo se establecen.</a:t>
            </a:r>
          </a:p>
          <a:p>
            <a:pPr marL="11725">
              <a:buSzPct val="100000"/>
              <a:tabLst>
                <a:tab pos="121285" algn="l"/>
              </a:tabLst>
            </a:pPr>
            <a:endParaRPr lang="es-ES_tradnl" sz="1400" spc="-1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s-ES_tradnl" sz="1400" spc="-10" dirty="0">
                <a:latin typeface="Calibri" panose="020F0502020204030204" pitchFamily="34" charset="0"/>
                <a:cs typeface="Calibri" panose="020F0502020204030204" pitchFamily="34" charset="0"/>
              </a:rPr>
              <a:t>Para ilustrar los temas de esta sesión utilizarás la data de ventas que se encuentra almacenada en una base de datos de SQL Server denominada </a:t>
            </a:r>
            <a:r>
              <a:rPr lang="es-ES_tradnl" sz="1400" b="1" spc="-10" dirty="0" err="1">
                <a:latin typeface="Calibri" panose="020F0502020204030204" pitchFamily="34" charset="0"/>
                <a:cs typeface="Calibri" panose="020F0502020204030204" pitchFamily="34" charset="0"/>
              </a:rPr>
              <a:t>GlobalTech</a:t>
            </a:r>
            <a:r>
              <a:rPr lang="es-ES_tradnl" sz="1400" spc="-1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" name="Google Shape;121;p5">
            <a:extLst>
              <a:ext uri="{FF2B5EF4-FFF2-40B4-BE49-F238E27FC236}">
                <a16:creationId xmlns:a16="http://schemas.microsoft.com/office/drawing/2014/main" id="{9F164EA4-BA07-C263-5D32-60510F46ED91}"/>
              </a:ext>
            </a:extLst>
          </p:cNvPr>
          <p:cNvPicPr preferRelativeResize="0"/>
          <p:nvPr/>
        </p:nvPicPr>
        <p:blipFill rotWithShape="1">
          <a:blip r:embed="rId3">
            <a:alphaModFix amt="42000"/>
          </a:blip>
          <a:srcRect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4;p5">
            <a:extLst>
              <a:ext uri="{FF2B5EF4-FFF2-40B4-BE49-F238E27FC236}">
                <a16:creationId xmlns:a16="http://schemas.microsoft.com/office/drawing/2014/main" id="{7E4DC7D1-A011-D8B0-82F1-66F6FA2713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0839" y="975168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27;p5">
            <a:extLst>
              <a:ext uri="{FF2B5EF4-FFF2-40B4-BE49-F238E27FC236}">
                <a16:creationId xmlns:a16="http://schemas.microsoft.com/office/drawing/2014/main" id="{6C417D01-B34E-3B9C-984F-3515554BD5C8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3FA856-47AA-188F-9753-FDC4154D63AF}"/>
              </a:ext>
            </a:extLst>
          </p:cNvPr>
          <p:cNvSpPr/>
          <p:nvPr/>
        </p:nvSpPr>
        <p:spPr>
          <a:xfrm>
            <a:off x="182879" y="5233989"/>
            <a:ext cx="8492809" cy="352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9" name="Google Shape;124;p5">
            <a:extLst>
              <a:ext uri="{FF2B5EF4-FFF2-40B4-BE49-F238E27FC236}">
                <a16:creationId xmlns:a16="http://schemas.microsoft.com/office/drawing/2014/main" id="{D57DB757-4C34-975F-6D67-0E21E0AF7A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0839" y="1618980"/>
            <a:ext cx="117851" cy="121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24;p5">
            <a:extLst>
              <a:ext uri="{FF2B5EF4-FFF2-40B4-BE49-F238E27FC236}">
                <a16:creationId xmlns:a16="http://schemas.microsoft.com/office/drawing/2014/main" id="{427FFA01-BDE7-B254-88E6-E4C64524EA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0839" y="2029527"/>
            <a:ext cx="117851" cy="12136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067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4;p10">
            <a:extLst>
              <a:ext uri="{FF2B5EF4-FFF2-40B4-BE49-F238E27FC236}">
                <a16:creationId xmlns:a16="http://schemas.microsoft.com/office/drawing/2014/main" id="{C62ADBB0-4E8C-F4BC-945C-36C0A1D7CAEC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5;p10">
            <a:extLst>
              <a:ext uri="{FF2B5EF4-FFF2-40B4-BE49-F238E27FC236}">
                <a16:creationId xmlns:a16="http://schemas.microsoft.com/office/drawing/2014/main" id="{1CE8A602-3E9A-EF8A-CE8A-7F9866BF5A82}"/>
              </a:ext>
            </a:extLst>
          </p:cNvPr>
          <p:cNvSpPr txBox="1"/>
          <p:nvPr/>
        </p:nvSpPr>
        <p:spPr>
          <a:xfrm>
            <a:off x="1008063" y="3157860"/>
            <a:ext cx="599355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MEDIDAS Y KPIs</a:t>
            </a:r>
          </a:p>
        </p:txBody>
      </p:sp>
      <p:pic>
        <p:nvPicPr>
          <p:cNvPr id="5" name="Google Shape;176;p10">
            <a:extLst>
              <a:ext uri="{FF2B5EF4-FFF2-40B4-BE49-F238E27FC236}">
                <a16:creationId xmlns:a16="http://schemas.microsoft.com/office/drawing/2014/main" id="{AF7F4E4D-D9D5-6786-4BE3-D34FB3B75A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2857500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9795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/>
          <p:cNvSpPr txBox="1"/>
          <p:nvPr/>
        </p:nvSpPr>
        <p:spPr>
          <a:xfrm>
            <a:off x="503240" y="912812"/>
            <a:ext cx="3889374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s-PE" sz="1400" dirty="0">
                <a:latin typeface="Calibri" panose="020F0502020204030204" pitchFamily="34" charset="0"/>
                <a:cs typeface="Calibri" panose="020F0502020204030204" pitchFamily="34" charset="0"/>
              </a:rPr>
              <a:t>Una </a:t>
            </a:r>
            <a:r>
              <a:rPr lang="es-PE" sz="1400" b="1" dirty="0">
                <a:solidFill>
                  <a:srgbClr val="00B2C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medida</a:t>
            </a:r>
            <a:r>
              <a:rPr lang="es-PE" sz="1400" dirty="0">
                <a:latin typeface="Calibri" panose="020F0502020204030204" pitchFamily="34" charset="0"/>
                <a:cs typeface="Calibri" panose="020F0502020204030204" pitchFamily="34" charset="0"/>
              </a:rPr>
              <a:t> es un cálculo numérico usado en el análisis de datos. Ejemplos que se encuentran normalmente en informes empresariales son: sumas, promedios, valores mínimos o máximos, recuentos, o cálculos más avanzados que se crean con una fórmula adecuada.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es-P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s-PE" sz="1400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lang="es-PE" sz="1400" b="1" dirty="0">
                <a:solidFill>
                  <a:srgbClr val="00B2C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KPI (Key Performance </a:t>
            </a:r>
            <a:r>
              <a:rPr lang="es-PE" sz="1400" b="1" dirty="0" err="1">
                <a:solidFill>
                  <a:srgbClr val="00B2C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Indicator</a:t>
            </a:r>
            <a:r>
              <a:rPr lang="es-PE" sz="1400" b="1" dirty="0">
                <a:solidFill>
                  <a:srgbClr val="00B2C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Indicador Clave de Rendimiento) </a:t>
            </a:r>
            <a:r>
              <a:rPr lang="es-PE" sz="1400" dirty="0">
                <a:latin typeface="Calibri" panose="020F0502020204030204" pitchFamily="34" charset="0"/>
                <a:cs typeface="Calibri" panose="020F0502020204030204" pitchFamily="34" charset="0"/>
              </a:rPr>
              <a:t>se basa en una medida específica y está diseñado para ayudar a evaluar el valor, estado y tendencia actuales de una métrica. El KPI mide el rendimiento del valor, definido por una medida base, con respecto a un valor de destino.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es-P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26262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“El objetivo último de un KPI es ayudar a tomar mejores decisiones respecto al estado actual de un proceso, proyecto, estrategia o campaña y de esta forma, poder definir una línea de acción futura.”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es-P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27;p5">
            <a:extLst>
              <a:ext uri="{FF2B5EF4-FFF2-40B4-BE49-F238E27FC236}">
                <a16:creationId xmlns:a16="http://schemas.microsoft.com/office/drawing/2014/main" id="{4FAF558B-6538-9424-0AE9-8900F3AFF967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MEDIDAS Y KPIs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25C8043-BD2F-BEDB-BBBB-7AFEE1CEFD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954" r="10376"/>
          <a:stretch/>
        </p:blipFill>
        <p:spPr>
          <a:xfrm>
            <a:off x="4751388" y="912812"/>
            <a:ext cx="3924300" cy="433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28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3DA0918E-0DC6-7E38-152E-22334F2B35AC}"/>
              </a:ext>
            </a:extLst>
          </p:cNvPr>
          <p:cNvSpPr/>
          <p:nvPr/>
        </p:nvSpPr>
        <p:spPr>
          <a:xfrm>
            <a:off x="4751389" y="0"/>
            <a:ext cx="4401784" cy="5715001"/>
          </a:xfrm>
          <a:prstGeom prst="rect">
            <a:avLst/>
          </a:prstGeom>
          <a:solidFill>
            <a:srgbClr val="72B9B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198E8612-A249-924A-5FF4-0934D06314D2}"/>
              </a:ext>
            </a:extLst>
          </p:cNvPr>
          <p:cNvGrpSpPr/>
          <p:nvPr/>
        </p:nvGrpSpPr>
        <p:grpSpPr>
          <a:xfrm>
            <a:off x="6399126" y="376836"/>
            <a:ext cx="1106309" cy="2565178"/>
            <a:chOff x="6978650" y="877888"/>
            <a:chExt cx="1733550" cy="4019550"/>
          </a:xfrm>
        </p:grpSpPr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78650" y="877888"/>
              <a:ext cx="1733550" cy="4019550"/>
            </a:xfrm>
            <a:prstGeom prst="rect">
              <a:avLst/>
            </a:prstGeom>
          </p:spPr>
        </p:pic>
        <p:sp>
          <p:nvSpPr>
            <p:cNvPr id="4" name="Rectángulo 3"/>
            <p:cNvSpPr/>
            <p:nvPr/>
          </p:nvSpPr>
          <p:spPr>
            <a:xfrm>
              <a:off x="8355330" y="2011680"/>
              <a:ext cx="274320" cy="262890"/>
            </a:xfrm>
            <a:prstGeom prst="rect">
              <a:avLst/>
            </a:prstGeom>
            <a:noFill/>
            <a:ln w="25400">
              <a:solidFill>
                <a:srgbClr val="EE4639"/>
              </a:solidFill>
            </a:ln>
            <a:effectLst>
              <a:outerShdw dist="8242" sx="1000" sy="1000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" name="Rectángulo 6"/>
            <p:cNvSpPr/>
            <p:nvPr/>
          </p:nvSpPr>
          <p:spPr>
            <a:xfrm>
              <a:off x="7086600" y="2766060"/>
              <a:ext cx="377190" cy="342900"/>
            </a:xfrm>
            <a:prstGeom prst="rect">
              <a:avLst/>
            </a:prstGeom>
            <a:noFill/>
            <a:ln w="25400">
              <a:solidFill>
                <a:srgbClr val="EE4639"/>
              </a:solidFill>
            </a:ln>
            <a:effectLst>
              <a:outerShdw dist="9358" sx="1000" sy="1000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8D2717E2-FE08-0023-0C32-5C7436BF33BA}"/>
              </a:ext>
            </a:extLst>
          </p:cNvPr>
          <p:cNvSpPr txBox="1"/>
          <p:nvPr/>
        </p:nvSpPr>
        <p:spPr>
          <a:xfrm>
            <a:off x="503238" y="912813"/>
            <a:ext cx="3889375" cy="42627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cs typeface="Calibri" panose="020F0502020204030204" pitchFamily="34" charset="0"/>
              </a:rPr>
              <a:t>Algunos ejemplos de KPI:</a:t>
            </a:r>
          </a:p>
          <a:p>
            <a:pPr marL="182563" indent="-173038">
              <a:buFont typeface="Arial" panose="020B0604020202020204" pitchFamily="34" charset="0"/>
              <a:buChar char="•"/>
            </a:pPr>
            <a:r>
              <a:rPr lang="es-PE" sz="1600" dirty="0">
                <a:latin typeface="Calibri" panose="020F0502020204030204" pitchFamily="34" charset="0"/>
                <a:cs typeface="Calibri" panose="020F0502020204030204" pitchFamily="34" charset="0"/>
              </a:rPr>
              <a:t>Ingreso mensual por unidad de negocio comparado con el objetivo del mes para cada unidad de negocio, para ver si se cumple o no la previsión establecida.</a:t>
            </a:r>
          </a:p>
          <a:p>
            <a:pPr marL="182563" indent="-173038">
              <a:buFont typeface="Arial" panose="020B0604020202020204" pitchFamily="34" charset="0"/>
              <a:buChar char="•"/>
            </a:pPr>
            <a:endParaRPr lang="es-P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2563" indent="-173038">
              <a:buFont typeface="Arial" panose="020B0604020202020204" pitchFamily="34" charset="0"/>
              <a:buChar char="•"/>
            </a:pPr>
            <a:r>
              <a:rPr lang="es-PE" sz="1600" dirty="0">
                <a:latin typeface="Calibri" panose="020F0502020204030204" pitchFamily="34" charset="0"/>
                <a:cs typeface="Calibri" panose="020F0502020204030204" pitchFamily="34" charset="0"/>
              </a:rPr>
              <a:t>Cantidad de alumnos matriculados en el periodo académico comparado con el objetivo establecido para el periodo, para ver si se cumple o no la previsión establecida.</a:t>
            </a:r>
          </a:p>
          <a:p>
            <a:pPr marL="182563" indent="-173038">
              <a:buFont typeface="Arial" panose="020B0604020202020204" pitchFamily="34" charset="0"/>
              <a:buChar char="•"/>
            </a:pPr>
            <a:endParaRPr lang="es-P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2563" indent="-173038">
              <a:buFont typeface="Arial" panose="020B0604020202020204" pitchFamily="34" charset="0"/>
              <a:buChar char="•"/>
            </a:pPr>
            <a:r>
              <a:rPr lang="es-PE" sz="1600" dirty="0">
                <a:latin typeface="Calibri" panose="020F0502020204030204" pitchFamily="34" charset="0"/>
                <a:cs typeface="Calibri" panose="020F0502020204030204" pitchFamily="34" charset="0"/>
              </a:rPr>
              <a:t>Cantidad mensual de visitantes del sitio web comparado con el objetivo establecido para el año, acumulado mes a mes, para ver si se cumplen las previsiones mensuales.</a:t>
            </a:r>
          </a:p>
          <a:p>
            <a:endParaRPr lang="es-P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42AD0B10-F33E-B6CE-4A94-D11D438EA359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MEDIDAS Y KPIs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271C65C-9B32-939B-3F6B-7DB8B4EA9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164" y="3060456"/>
            <a:ext cx="3048681" cy="243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57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4;p10">
            <a:extLst>
              <a:ext uri="{FF2B5EF4-FFF2-40B4-BE49-F238E27FC236}">
                <a16:creationId xmlns:a16="http://schemas.microsoft.com/office/drawing/2014/main" id="{245EB454-DA9C-5033-0885-E41D8EB5BF1F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5;p10">
            <a:extLst>
              <a:ext uri="{FF2B5EF4-FFF2-40B4-BE49-F238E27FC236}">
                <a16:creationId xmlns:a16="http://schemas.microsoft.com/office/drawing/2014/main" id="{E5C70C79-B700-B276-5411-A807748C621E}"/>
              </a:ext>
            </a:extLst>
          </p:cNvPr>
          <p:cNvSpPr txBox="1"/>
          <p:nvPr/>
        </p:nvSpPr>
        <p:spPr>
          <a:xfrm>
            <a:off x="1008063" y="3157860"/>
            <a:ext cx="5993558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2400" dirty="0">
                <a:solidFill>
                  <a:schemeClr val="lt1"/>
                </a:solidFill>
                <a:latin typeface="Graphik Regular" panose="020B0503030202060203" pitchFamily="34" charset="77"/>
              </a:rPr>
              <a:t>DASHBOARDS PARA </a:t>
            </a:r>
          </a:p>
          <a:p>
            <a:pPr>
              <a:lnSpc>
                <a:spcPct val="90000"/>
              </a:lnSpc>
            </a:pPr>
            <a:r>
              <a:rPr lang="es-PE" sz="2400" b="1" dirty="0">
                <a:solidFill>
                  <a:schemeClr val="lt1"/>
                </a:solidFill>
                <a:latin typeface="Graphik Bold" panose="020B0503030202060203" pitchFamily="34" charset="77"/>
              </a:rPr>
              <a:t>MEDICIÓN DEL DESEMPEÑO </a:t>
            </a:r>
            <a:br>
              <a:rPr lang="es-PE" sz="2400" b="1" dirty="0">
                <a:solidFill>
                  <a:schemeClr val="lt1"/>
                </a:solidFill>
                <a:latin typeface="Graphik Bold" panose="020B0503030202060203" pitchFamily="34" charset="77"/>
              </a:rPr>
            </a:br>
            <a:r>
              <a:rPr lang="es-PE" sz="2400" b="1" dirty="0">
                <a:solidFill>
                  <a:schemeClr val="lt1"/>
                </a:solidFill>
                <a:latin typeface="Graphik Bold" panose="020B0503030202060203" pitchFamily="34" charset="77"/>
              </a:rPr>
              <a:t>DE LOS PROCESOS DE NEGOCIO</a:t>
            </a:r>
          </a:p>
        </p:txBody>
      </p:sp>
      <p:pic>
        <p:nvPicPr>
          <p:cNvPr id="5" name="Google Shape;176;p10">
            <a:extLst>
              <a:ext uri="{FF2B5EF4-FFF2-40B4-BE49-F238E27FC236}">
                <a16:creationId xmlns:a16="http://schemas.microsoft.com/office/drawing/2014/main" id="{FFD54A4E-4716-D552-7BE8-4F1655F5FA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2857500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D2717E2-FE08-0023-0C32-5C7436BF33BA}"/>
              </a:ext>
            </a:extLst>
          </p:cNvPr>
          <p:cNvSpPr txBox="1"/>
          <p:nvPr/>
        </p:nvSpPr>
        <p:spPr>
          <a:xfrm>
            <a:off x="503238" y="912813"/>
            <a:ext cx="8172450" cy="6001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1300" dirty="0"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lang="es-ES_tradnl" sz="1300" b="1" dirty="0" err="1"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s-ES_tradnl" sz="1300" dirty="0">
                <a:latin typeface="Calibri"/>
                <a:ea typeface="Calibri"/>
                <a:cs typeface="Calibri"/>
                <a:sym typeface="Calibri"/>
              </a:rPr>
              <a:t> es una representación gráfica de los principales indicadores (KPI) que intervienen en la consecución de los objetivos de negocio, y que está orientada a la toma de decisiones para optimizar la estrategia de la empresa. Un </a:t>
            </a:r>
            <a:r>
              <a:rPr lang="es-ES_tradnl" sz="1300" dirty="0" err="1"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s-ES_tradnl" sz="1300" dirty="0">
                <a:latin typeface="Calibri"/>
                <a:ea typeface="Calibri"/>
                <a:cs typeface="Calibri"/>
                <a:sym typeface="Calibri"/>
              </a:rPr>
              <a:t> debe permitir transformar los datos en información y ésta en conocimiento para el negocio.</a:t>
            </a:r>
            <a:endParaRPr lang="es-ES_tradnl" sz="13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AE4BB59-1FD9-D7EB-45D9-877FB427C6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-3104" t="-4228" r="-3505" b="-5140"/>
          <a:stretch/>
        </p:blipFill>
        <p:spPr>
          <a:xfrm>
            <a:off x="1779680" y="1968963"/>
            <a:ext cx="5619566" cy="326502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EDD22F22-09E6-450B-8739-E9D01FFD8728}"/>
              </a:ext>
            </a:extLst>
          </p:cNvPr>
          <p:cNvSpPr/>
          <p:nvPr/>
        </p:nvSpPr>
        <p:spPr>
          <a:xfrm>
            <a:off x="3493546" y="1633248"/>
            <a:ext cx="213765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b="1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Dashboard – </a:t>
            </a:r>
            <a:r>
              <a:rPr lang="en-US" sz="1400" b="1" dirty="0" err="1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GlobalTech</a:t>
            </a:r>
            <a:r>
              <a:rPr lang="en-US" sz="1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 </a:t>
            </a:r>
            <a:endParaRPr lang="es-PE" sz="1400" dirty="0"/>
          </a:p>
        </p:txBody>
      </p:sp>
      <p:sp>
        <p:nvSpPr>
          <p:cNvPr id="6" name="Google Shape;127;p5">
            <a:extLst>
              <a:ext uri="{FF2B5EF4-FFF2-40B4-BE49-F238E27FC236}">
                <a16:creationId xmlns:a16="http://schemas.microsoft.com/office/drawing/2014/main" id="{FCF19CE3-FAE0-9995-7AB2-3914AFCC977D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DASHBOARDS PARA MEDICIÓN DEL DESEMPEÑO DE LOS PROCESOS DE NEGOCIO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98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D2717E2-FE08-0023-0C32-5C7436BF33BA}"/>
              </a:ext>
            </a:extLst>
          </p:cNvPr>
          <p:cNvSpPr txBox="1"/>
          <p:nvPr/>
        </p:nvSpPr>
        <p:spPr>
          <a:xfrm>
            <a:off x="503238" y="912813"/>
            <a:ext cx="8172449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Crear un </a:t>
            </a:r>
            <a:r>
              <a:rPr lang="es-ES" sz="1600" b="1" dirty="0" err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s-ES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no es añadir datos por añadir, sino mostrar de la forma más adecuada, aquellos que nos permitan tomar decisiones. Es una foto “fija” de las </a:t>
            </a:r>
            <a:r>
              <a:rPr lang="es-ES" sz="1600" dirty="0" err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KPIs</a:t>
            </a:r>
            <a:r>
              <a:rPr lang="es-ES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que más influyen en la consecución de nuestros objetivos.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16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936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</a:pPr>
            <a:r>
              <a:rPr lang="es-ES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Segmentación y contexto: 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tabLst>
                <a:tab pos="177800" algn="l"/>
              </a:tabLst>
            </a:pPr>
            <a:r>
              <a:rPr lang="es-ES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	Debe presentar los </a:t>
            </a:r>
            <a:r>
              <a:rPr lang="es-ES" sz="1600" dirty="0" err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KPIs</a:t>
            </a:r>
            <a:r>
              <a:rPr lang="es-ES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de forma que sean relevantes (accionables) para el negocio.</a:t>
            </a:r>
          </a:p>
          <a:p>
            <a:pPr marL="180975" indent="-193675">
              <a:buClr>
                <a:srgbClr val="262626"/>
              </a:buClr>
              <a:buSzPts val="1800"/>
              <a:buFont typeface="Arial"/>
              <a:buChar char="•"/>
            </a:pPr>
            <a:endParaRPr lang="es-ES" sz="16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indent="-193675">
              <a:buClr>
                <a:srgbClr val="262626"/>
              </a:buClr>
              <a:buSzPts val="1800"/>
              <a:buFont typeface="Arial"/>
              <a:buChar char="•"/>
            </a:pPr>
            <a:r>
              <a:rPr lang="es-ES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Visualización:</a:t>
            </a:r>
          </a:p>
          <a:p>
            <a:pPr marL="215900" lvl="1">
              <a:buClr>
                <a:srgbClr val="262626"/>
              </a:buClr>
              <a:buSzPts val="1800"/>
            </a:pPr>
            <a:r>
              <a:rPr lang="es-ES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persona que toma las decisiones debe ser capaz de interpretar fácilmente la información que está viendo. Los </a:t>
            </a:r>
            <a:r>
              <a:rPr lang="es-ES" sz="1600" dirty="0" err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dashboards</a:t>
            </a:r>
            <a:r>
              <a:rPr lang="es-ES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se suelen representar en el equivalente a un formato A4, pero existen herramientas de visualización de datos, que permiten profundizar en ellos desde el propio </a:t>
            </a:r>
            <a:r>
              <a:rPr lang="es-ES" sz="1600" dirty="0" err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s-ES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endParaRPr lang="es-ES" sz="16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C238A00C-966B-DF3F-73C3-7775BD859E2A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DASHBOARDS PARA MEDICIÓN DEL DESEMPEÑO DE LOS PROCESOS DE NEGOCIO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716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D2717E2-FE08-0023-0C32-5C7436BF33BA}"/>
              </a:ext>
            </a:extLst>
          </p:cNvPr>
          <p:cNvSpPr txBox="1"/>
          <p:nvPr/>
        </p:nvSpPr>
        <p:spPr>
          <a:xfrm>
            <a:off x="511508" y="912813"/>
            <a:ext cx="8120983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7800" indent="-177800">
              <a:buClr>
                <a:srgbClr val="262626"/>
              </a:buClr>
              <a:buSzPts val="1800"/>
              <a:buFont typeface="Arial" panose="020B0604020202020204" pitchFamily="34" charset="0"/>
              <a:buChar char="•"/>
              <a:tabLst>
                <a:tab pos="177800" algn="l"/>
                <a:tab pos="482600" algn="l"/>
                <a:tab pos="533400" algn="l"/>
              </a:tabLst>
            </a:pPr>
            <a:r>
              <a:rPr lang="es-ES" sz="1600" b="1" dirty="0">
                <a:latin typeface="Calibri"/>
                <a:ea typeface="Calibri"/>
                <a:cs typeface="Calibri"/>
                <a:sym typeface="Calibri"/>
              </a:rPr>
              <a:t>Análisis: </a:t>
            </a:r>
          </a:p>
          <a:p>
            <a:pPr marL="177800" lvl="1">
              <a:buClr>
                <a:srgbClr val="262626"/>
              </a:buClr>
              <a:buSzPts val="1800"/>
              <a:tabLst>
                <a:tab pos="38100" algn="l"/>
                <a:tab pos="177800" algn="l"/>
              </a:tabLst>
            </a:pPr>
            <a:r>
              <a:rPr lang="es-ES" sz="1600" dirty="0">
                <a:latin typeface="Calibri"/>
                <a:ea typeface="Calibri"/>
                <a:cs typeface="Calibri"/>
                <a:sym typeface="Calibri"/>
              </a:rPr>
              <a:t>Además de los KPI el </a:t>
            </a:r>
            <a:r>
              <a:rPr lang="es-ES" sz="1600" dirty="0" err="1"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s-ES" sz="1600" dirty="0">
                <a:latin typeface="Calibri"/>
                <a:ea typeface="Calibri"/>
                <a:cs typeface="Calibri"/>
                <a:sym typeface="Calibri"/>
              </a:rPr>
              <a:t> debe acompañarse de un análisis sobre: lo ocurrido, las recomendaciones dadas y su potencial impacto sobre el negocio. El análisis debe recomendar acciones, no describirlas. Por ejemplo, no podemos quedarnos en: “La tasa de conversión subió hasta el 2%”. Debemos explicar el origen de esa subida, que vamos a hacer para que se mantenga, que efecto va a tener esto en el negocio, etc.</a:t>
            </a:r>
          </a:p>
          <a:p>
            <a:pPr marL="180975" marR="0" lvl="0" indent="-1936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</a:pPr>
            <a:endParaRPr lang="es-ES" sz="1600" dirty="0"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936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</a:pPr>
            <a:endParaRPr lang="es-ES" sz="1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384A3575-3A64-5E26-7D7C-E99CA2AB344F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DASHBOARDS PARA MEDICIÓN DEL DESEMPEÑO DE LOS PROCESOS DE NEGOCIO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536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4;p10">
            <a:extLst>
              <a:ext uri="{FF2B5EF4-FFF2-40B4-BE49-F238E27FC236}">
                <a16:creationId xmlns:a16="http://schemas.microsoft.com/office/drawing/2014/main" id="{99C61A43-2408-7931-1F69-DA1B34AA3901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5;p10">
            <a:extLst>
              <a:ext uri="{FF2B5EF4-FFF2-40B4-BE49-F238E27FC236}">
                <a16:creationId xmlns:a16="http://schemas.microsoft.com/office/drawing/2014/main" id="{BC2C65DF-E6FB-0505-5256-8B5618DD128C}"/>
              </a:ext>
            </a:extLst>
          </p:cNvPr>
          <p:cNvSpPr txBox="1"/>
          <p:nvPr/>
        </p:nvSpPr>
        <p:spPr>
          <a:xfrm>
            <a:off x="1008063" y="3157860"/>
            <a:ext cx="599355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GENERACIÓN DE KPIs</a:t>
            </a:r>
          </a:p>
        </p:txBody>
      </p:sp>
      <p:pic>
        <p:nvPicPr>
          <p:cNvPr id="5" name="Google Shape;176;p10">
            <a:extLst>
              <a:ext uri="{FF2B5EF4-FFF2-40B4-BE49-F238E27FC236}">
                <a16:creationId xmlns:a16="http://schemas.microsoft.com/office/drawing/2014/main" id="{84F1F7E5-A14E-E6BE-EB70-782AB3FBCD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2857500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492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/>
          <p:cNvSpPr txBox="1"/>
          <p:nvPr/>
        </p:nvSpPr>
        <p:spPr>
          <a:xfrm>
            <a:off x="503238" y="912813"/>
            <a:ext cx="8172450" cy="35702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PE" sz="1600" dirty="0">
                <a:latin typeface="Calibri" panose="020F0502020204030204" pitchFamily="34" charset="0"/>
                <a:cs typeface="Calibri" panose="020F0502020204030204" pitchFamily="34" charset="0"/>
              </a:rPr>
              <a:t>Para generar un KPI en </a:t>
            </a:r>
            <a:r>
              <a:rPr lang="es-P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Power</a:t>
            </a:r>
            <a:r>
              <a:rPr lang="es-PE" sz="1600" dirty="0">
                <a:latin typeface="Calibri" panose="020F0502020204030204" pitchFamily="34" charset="0"/>
                <a:cs typeface="Calibri" panose="020F0502020204030204" pitchFamily="34" charset="0"/>
              </a:rPr>
              <a:t> BI procedemos del siguiente modo:</a:t>
            </a:r>
          </a:p>
          <a:p>
            <a:endParaRPr lang="es-P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  <a:tabLst>
                <a:tab pos="127000" algn="l"/>
              </a:tabLst>
            </a:pPr>
            <a:r>
              <a:rPr lang="es-PE" sz="1600" dirty="0">
                <a:latin typeface="Calibri" panose="020F0502020204030204" pitchFamily="34" charset="0"/>
                <a:cs typeface="Calibri" panose="020F0502020204030204" pitchFamily="34" charset="0"/>
              </a:rPr>
              <a:t>Definir la medida base del KPI. Por ejemplo, si necesitamos un indicador que compare las ventas del año respecto a las ventas del año anterior, la medida a definir sería una que entregue el total de las ventas del año (</a:t>
            </a:r>
            <a:r>
              <a:rPr lang="es-P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TotalVentas</a:t>
            </a:r>
            <a:r>
              <a:rPr lang="es-PE" sz="16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177800" indent="-177800">
              <a:buFont typeface="Arial" panose="020B0604020202020204" pitchFamily="34" charset="0"/>
              <a:buChar char="•"/>
              <a:tabLst>
                <a:tab pos="127000" algn="l"/>
              </a:tabLst>
            </a:pPr>
            <a:endParaRPr lang="es-P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  <a:tabLst>
                <a:tab pos="127000" algn="l"/>
              </a:tabLst>
            </a:pPr>
            <a:r>
              <a:rPr lang="es-PE" sz="1600" dirty="0">
                <a:latin typeface="Calibri" panose="020F0502020204030204" pitchFamily="34" charset="0"/>
                <a:cs typeface="Calibri" panose="020F0502020204030204" pitchFamily="34" charset="0"/>
              </a:rPr>
              <a:t>Definir la medida que establece el valor objetivo. En este caso, debemos definir una medida que entregue el total de las ventas del año anterior (</a:t>
            </a:r>
            <a:r>
              <a:rPr lang="es-P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TotalVentasAñoAnterior</a:t>
            </a:r>
            <a:r>
              <a:rPr lang="es-PE" sz="16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s-PE" sz="1600" dirty="0">
                <a:latin typeface="Calibri" panose="020F0502020204030204" pitchFamily="34" charset="0"/>
                <a:cs typeface="Calibri" panose="020F0502020204030204" pitchFamily="34" charset="0"/>
              </a:rPr>
              <a:t>Crear el KPI. Para este ejemplo, en </a:t>
            </a:r>
            <a:r>
              <a:rPr lang="es-P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Power</a:t>
            </a:r>
            <a:r>
              <a:rPr lang="es-PE" sz="1600" dirty="0">
                <a:latin typeface="Calibri" panose="020F0502020204030204" pitchFamily="34" charset="0"/>
                <a:cs typeface="Calibri" panose="020F0502020204030204" pitchFamily="34" charset="0"/>
              </a:rPr>
              <a:t> BI definimos:</a:t>
            </a:r>
          </a:p>
          <a:p>
            <a:endParaRPr lang="es-P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82600" lvl="2">
              <a:tabLst>
                <a:tab pos="800100" algn="l"/>
              </a:tabLst>
            </a:pPr>
            <a:r>
              <a:rPr lang="es-PE" sz="1600" dirty="0">
                <a:latin typeface="Calibri" panose="020F0502020204030204" pitchFamily="34" charset="0"/>
                <a:cs typeface="Calibri" panose="020F0502020204030204" pitchFamily="34" charset="0"/>
              </a:rPr>
              <a:t>Campo Valor: medida </a:t>
            </a:r>
            <a:r>
              <a:rPr lang="es-P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TotalVentas</a:t>
            </a:r>
            <a:endParaRPr lang="es-P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82600" lvl="2">
              <a:tabLst>
                <a:tab pos="800100" algn="l"/>
              </a:tabLst>
            </a:pPr>
            <a:r>
              <a:rPr lang="es-PE" sz="1600" dirty="0">
                <a:latin typeface="Calibri" panose="020F0502020204030204" pitchFamily="34" charset="0"/>
                <a:cs typeface="Calibri" panose="020F0502020204030204" pitchFamily="34" charset="0"/>
              </a:rPr>
              <a:t>Campo Destino: medida </a:t>
            </a:r>
            <a:r>
              <a:rPr lang="es-P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TotalVentasAñoAnterior</a:t>
            </a:r>
            <a:endParaRPr lang="es-P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82600" lvl="2">
              <a:tabLst>
                <a:tab pos="800100" algn="l"/>
              </a:tabLst>
            </a:pPr>
            <a:r>
              <a:rPr lang="es-PE" sz="1600" dirty="0">
                <a:latin typeface="Calibri" panose="020F0502020204030204" pitchFamily="34" charset="0"/>
                <a:cs typeface="Calibri" panose="020F0502020204030204" pitchFamily="34" charset="0"/>
              </a:rPr>
              <a:t>Campo Eje de tendencia: atributo Año</a:t>
            </a:r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27;p5">
            <a:extLst>
              <a:ext uri="{FF2B5EF4-FFF2-40B4-BE49-F238E27FC236}">
                <a16:creationId xmlns:a16="http://schemas.microsoft.com/office/drawing/2014/main" id="{79BB0EF2-F228-33AE-3245-DD8CA23E4A4F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GENERACIÓN DE KPIs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5612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E78DD12-8E58-59F8-8BFD-AD3194569A10}"/>
              </a:ext>
            </a:extLst>
          </p:cNvPr>
          <p:cNvSpPr txBox="1"/>
          <p:nvPr/>
        </p:nvSpPr>
        <p:spPr>
          <a:xfrm>
            <a:off x="521225" y="912813"/>
            <a:ext cx="218290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419" sz="1600" b="1" dirty="0">
                <a:latin typeface="Calibri" panose="020F0502020204030204" pitchFamily="34" charset="0"/>
                <a:cs typeface="Calibri" panose="020F0502020204030204" pitchFamily="34" charset="0"/>
              </a:rPr>
              <a:t>DEFINIR LA MEDIDA BASE</a:t>
            </a:r>
            <a:endParaRPr lang="es-E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C41CE5-72EA-0683-6B74-EE491A0017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917" t="-3092" r="-2017" b="-3710"/>
          <a:stretch/>
        </p:blipFill>
        <p:spPr>
          <a:xfrm>
            <a:off x="815163" y="1311348"/>
            <a:ext cx="7024577" cy="3834809"/>
          </a:xfrm>
          <a:prstGeom prst="rect">
            <a:avLst/>
          </a:prstGeom>
          <a:noFill/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6C7AFE21-0B86-96F6-4EC6-0A9583690BC1}"/>
              </a:ext>
            </a:extLst>
          </p:cNvPr>
          <p:cNvSpPr/>
          <p:nvPr/>
        </p:nvSpPr>
        <p:spPr>
          <a:xfrm>
            <a:off x="1546628" y="2001284"/>
            <a:ext cx="1550991" cy="153581"/>
          </a:xfrm>
          <a:prstGeom prst="rect">
            <a:avLst/>
          </a:prstGeom>
          <a:noFill/>
          <a:ln w="25400">
            <a:solidFill>
              <a:srgbClr val="EE4639"/>
            </a:solidFill>
          </a:ln>
          <a:effectLst>
            <a:outerShdw dist="11586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Google Shape;127;p5">
            <a:extLst>
              <a:ext uri="{FF2B5EF4-FFF2-40B4-BE49-F238E27FC236}">
                <a16:creationId xmlns:a16="http://schemas.microsoft.com/office/drawing/2014/main" id="{575BD3DD-9630-FFCD-BD6F-D158B62C603F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GENERACIÓN DE KPIs</a:t>
            </a:r>
            <a:endParaRPr dirty="0"/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00FDB710-2467-851B-B016-B72A7D21EBCE}"/>
              </a:ext>
            </a:extLst>
          </p:cNvPr>
          <p:cNvSpPr/>
          <p:nvPr/>
        </p:nvSpPr>
        <p:spPr>
          <a:xfrm>
            <a:off x="5932488" y="2591686"/>
            <a:ext cx="2743200" cy="418214"/>
          </a:xfrm>
          <a:prstGeom prst="roundRect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A383EC9-D5FA-EDE8-49AE-6769EC208BFE}"/>
              </a:ext>
            </a:extLst>
          </p:cNvPr>
          <p:cNvSpPr txBox="1"/>
          <p:nvPr/>
        </p:nvSpPr>
        <p:spPr>
          <a:xfrm>
            <a:off x="5932487" y="2662293"/>
            <a:ext cx="27432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TotalVentas</a:t>
            </a:r>
            <a:r>
              <a:rPr lang="es-ES" sz="1200" b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SUM(Ventas[</a:t>
            </a:r>
            <a:r>
              <a:rPr lang="es-ES" sz="1200" b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montoVenta</a:t>
            </a:r>
            <a:r>
              <a:rPr lang="es-ES" sz="1200" b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])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053D669-266E-868C-E146-AA0566F9E115}"/>
              </a:ext>
            </a:extLst>
          </p:cNvPr>
          <p:cNvCxnSpPr>
            <a:cxnSpLocks/>
          </p:cNvCxnSpPr>
          <p:nvPr/>
        </p:nvCxnSpPr>
        <p:spPr>
          <a:xfrm flipH="1" flipV="1">
            <a:off x="3161416" y="2123853"/>
            <a:ext cx="2707756" cy="619347"/>
          </a:xfrm>
          <a:prstGeom prst="straightConnector1">
            <a:avLst/>
          </a:prstGeom>
          <a:ln w="19050">
            <a:solidFill>
              <a:srgbClr val="EE4639"/>
            </a:solidFill>
            <a:tailEnd type="triangle"/>
          </a:ln>
          <a:effectLst>
            <a:outerShdw blurRad="11014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47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005D82C5-7B84-75F3-0732-D122CECA41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909" t="-3181" r="-2174" b="-3776"/>
          <a:stretch/>
        </p:blipFill>
        <p:spPr>
          <a:xfrm>
            <a:off x="815162" y="1311348"/>
            <a:ext cx="7024578" cy="3834809"/>
          </a:xfrm>
          <a:prstGeom prst="rect">
            <a:avLst/>
          </a:prstGeom>
          <a:noFill/>
        </p:spPr>
      </p:pic>
      <p:sp>
        <p:nvSpPr>
          <p:cNvPr id="3" name="Google Shape;127;p5">
            <a:extLst>
              <a:ext uri="{FF2B5EF4-FFF2-40B4-BE49-F238E27FC236}">
                <a16:creationId xmlns:a16="http://schemas.microsoft.com/office/drawing/2014/main" id="{63947860-05E6-AA52-B71E-D73FB7B56248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GENERACIÓN DE KPIs</a:t>
            </a:r>
            <a:endParaRPr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E32D88E-2C6B-58C1-E494-96BFB441A16B}"/>
              </a:ext>
            </a:extLst>
          </p:cNvPr>
          <p:cNvSpPr txBox="1"/>
          <p:nvPr/>
        </p:nvSpPr>
        <p:spPr>
          <a:xfrm>
            <a:off x="521224" y="912813"/>
            <a:ext cx="51599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419" sz="1600" b="1" dirty="0">
                <a:latin typeface="Calibri" panose="020F0502020204030204" pitchFamily="34" charset="0"/>
                <a:cs typeface="Calibri" panose="020F0502020204030204" pitchFamily="34" charset="0"/>
              </a:rPr>
              <a:t>LA MEDIDA QUE ESTABLECE EL VALOR OBJETIVO</a:t>
            </a:r>
            <a:endParaRPr lang="es-E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C05A113-C0DE-10CE-A73F-7CEC34AB1547}"/>
              </a:ext>
            </a:extLst>
          </p:cNvPr>
          <p:cNvSpPr/>
          <p:nvPr/>
        </p:nvSpPr>
        <p:spPr>
          <a:xfrm>
            <a:off x="1546628" y="2001284"/>
            <a:ext cx="3025372" cy="153581"/>
          </a:xfrm>
          <a:prstGeom prst="rect">
            <a:avLst/>
          </a:prstGeom>
          <a:noFill/>
          <a:ln w="25400">
            <a:solidFill>
              <a:srgbClr val="EE4639"/>
            </a:solidFill>
          </a:ln>
          <a:effectLst>
            <a:outerShdw dist="11586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8FEE9B43-757B-343E-B3F4-7E04C47F6E29}"/>
              </a:ext>
            </a:extLst>
          </p:cNvPr>
          <p:cNvSpPr/>
          <p:nvPr/>
        </p:nvSpPr>
        <p:spPr>
          <a:xfrm>
            <a:off x="3112179" y="2888560"/>
            <a:ext cx="5513987" cy="418214"/>
          </a:xfrm>
          <a:prstGeom prst="roundRect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E3375A4-7E0E-C8CC-F889-6C2461A5E5DE}"/>
              </a:ext>
            </a:extLst>
          </p:cNvPr>
          <p:cNvSpPr txBox="1"/>
          <p:nvPr/>
        </p:nvSpPr>
        <p:spPr>
          <a:xfrm>
            <a:off x="3112178" y="2959167"/>
            <a:ext cx="55139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TotalVentasAñoAnterior</a:t>
            </a:r>
            <a:r>
              <a:rPr lang="es-E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CALCULATE([</a:t>
            </a:r>
            <a:r>
              <a:rPr lang="es-E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TotalVentas</a:t>
            </a:r>
            <a:r>
              <a:rPr lang="es-E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],DATEADD(Fechas[fecha],-1,YEAR))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D3FDA50-BF0A-56A6-3B0D-36CFFE08D0CA}"/>
              </a:ext>
            </a:extLst>
          </p:cNvPr>
          <p:cNvCxnSpPr>
            <a:cxnSpLocks/>
          </p:cNvCxnSpPr>
          <p:nvPr/>
        </p:nvCxnSpPr>
        <p:spPr>
          <a:xfrm flipH="1" flipV="1">
            <a:off x="4655976" y="2092547"/>
            <a:ext cx="1091681" cy="725405"/>
          </a:xfrm>
          <a:prstGeom prst="straightConnector1">
            <a:avLst/>
          </a:prstGeom>
          <a:ln w="19050">
            <a:solidFill>
              <a:srgbClr val="EE4639"/>
            </a:solidFill>
            <a:tailEnd type="triangle"/>
          </a:ln>
          <a:effectLst>
            <a:outerShdw blurRad="11014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4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;p5">
            <a:extLst>
              <a:ext uri="{FF2B5EF4-FFF2-40B4-BE49-F238E27FC236}">
                <a16:creationId xmlns:a16="http://schemas.microsoft.com/office/drawing/2014/main" id="{E21F9156-52CE-3697-3766-D351716D2C74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GENERACIÓN DE KPIs</a:t>
            </a:r>
            <a:endParaRPr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321C8B9-4E5D-E27D-E1AA-B58812AF94E7}"/>
              </a:ext>
            </a:extLst>
          </p:cNvPr>
          <p:cNvSpPr txBox="1"/>
          <p:nvPr/>
        </p:nvSpPr>
        <p:spPr>
          <a:xfrm>
            <a:off x="521224" y="912813"/>
            <a:ext cx="51599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419" sz="1600" b="1" dirty="0">
                <a:latin typeface="Calibri" panose="020F0502020204030204" pitchFamily="34" charset="0"/>
                <a:cs typeface="Calibri" panose="020F0502020204030204" pitchFamily="34" charset="0"/>
              </a:rPr>
              <a:t>CREAR EL KPI</a:t>
            </a:r>
            <a:endParaRPr lang="es-E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7851982-84AA-901C-6EEF-599D43FEED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897" t="-3258" r="-2015" b="-3520"/>
          <a:stretch/>
        </p:blipFill>
        <p:spPr>
          <a:xfrm>
            <a:off x="815162" y="1311349"/>
            <a:ext cx="7024578" cy="3834808"/>
          </a:xfrm>
          <a:prstGeom prst="rect">
            <a:avLst/>
          </a:prstGeom>
          <a:noFill/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8E578991-0391-F99F-C6BA-B0AB51A00583}"/>
              </a:ext>
            </a:extLst>
          </p:cNvPr>
          <p:cNvSpPr/>
          <p:nvPr/>
        </p:nvSpPr>
        <p:spPr>
          <a:xfrm>
            <a:off x="1162975" y="1991476"/>
            <a:ext cx="1074198" cy="583048"/>
          </a:xfrm>
          <a:prstGeom prst="rect">
            <a:avLst/>
          </a:prstGeom>
          <a:noFill/>
          <a:ln w="25400">
            <a:solidFill>
              <a:srgbClr val="EE4639"/>
            </a:solidFill>
          </a:ln>
          <a:effectLst>
            <a:outerShdw dist="11586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8FD133A-0B77-DB5D-6F76-C083F3E6CCFE}"/>
              </a:ext>
            </a:extLst>
          </p:cNvPr>
          <p:cNvSpPr/>
          <p:nvPr/>
        </p:nvSpPr>
        <p:spPr>
          <a:xfrm>
            <a:off x="5761607" y="3758131"/>
            <a:ext cx="1029809" cy="1018055"/>
          </a:xfrm>
          <a:prstGeom prst="rect">
            <a:avLst/>
          </a:prstGeom>
          <a:noFill/>
          <a:ln w="25400">
            <a:solidFill>
              <a:srgbClr val="EE4639"/>
            </a:solidFill>
          </a:ln>
          <a:effectLst>
            <a:outerShdw dist="11586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755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43;p89">
            <a:extLst>
              <a:ext uri="{FF2B5EF4-FFF2-40B4-BE49-F238E27FC236}">
                <a16:creationId xmlns:a16="http://schemas.microsoft.com/office/drawing/2014/main" id="{F50C3986-0AF5-A7EA-27A4-AE3697D41DB8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oogle Shape;1444;p89">
            <a:extLst>
              <a:ext uri="{FF2B5EF4-FFF2-40B4-BE49-F238E27FC236}">
                <a16:creationId xmlns:a16="http://schemas.microsoft.com/office/drawing/2014/main" id="{87DB0B9A-67A6-CB63-1D5F-4654A3B5AD2D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4" name="Google Shape;1445;p89">
              <a:extLst>
                <a:ext uri="{FF2B5EF4-FFF2-40B4-BE49-F238E27FC236}">
                  <a16:creationId xmlns:a16="http://schemas.microsoft.com/office/drawing/2014/main" id="{2DF0805C-C109-4D87-4F1C-C7D378863EC8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3600" dirty="0">
                  <a:solidFill>
                    <a:schemeClr val="lt1"/>
                  </a:solidFill>
                  <a:latin typeface="Graphik Regular" panose="020B0503030202060203" pitchFamily="34" charset="77"/>
                  <a:ea typeface="Arial"/>
                  <a:cs typeface="Arial"/>
                  <a:sym typeface="Arial"/>
                </a:rPr>
                <a:t>CONCLUSIONES</a:t>
              </a:r>
              <a:br>
                <a:rPr lang="es-PE" sz="36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s-PE" sz="3600" b="1" dirty="0">
                  <a:solidFill>
                    <a:schemeClr val="lt1"/>
                  </a:solidFill>
                  <a:latin typeface="Graphik Bold" panose="020B0503030202060203" pitchFamily="34" charset="77"/>
                  <a:ea typeface="Arial"/>
                  <a:cs typeface="Arial"/>
                  <a:sym typeface="Arial"/>
                </a:rPr>
                <a:t>MÁS REFERENCIAS</a:t>
              </a:r>
              <a:endParaRPr b="1" dirty="0">
                <a:latin typeface="Graphik Bold" panose="020B0503030202060203" pitchFamily="34" charset="77"/>
              </a:endParaRPr>
            </a:p>
          </p:txBody>
        </p:sp>
        <p:pic>
          <p:nvPicPr>
            <p:cNvPr id="5" name="Google Shape;1446;p89">
              <a:extLst>
                <a:ext uri="{FF2B5EF4-FFF2-40B4-BE49-F238E27FC236}">
                  <a16:creationId xmlns:a16="http://schemas.microsoft.com/office/drawing/2014/main" id="{1988FE5C-0816-79AC-15C0-EA6878AAA22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" name="Google Shape;1447;p89">
            <a:extLst>
              <a:ext uri="{FF2B5EF4-FFF2-40B4-BE49-F238E27FC236}">
                <a16:creationId xmlns:a16="http://schemas.microsoft.com/office/drawing/2014/main" id="{D620765C-5CF2-84F1-0F13-832F4AA89A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53" y="946969"/>
            <a:ext cx="2072214" cy="3898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14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54;p90">
            <a:extLst>
              <a:ext uri="{FF2B5EF4-FFF2-40B4-BE49-F238E27FC236}">
                <a16:creationId xmlns:a16="http://schemas.microsoft.com/office/drawing/2014/main" id="{B4044D9B-6A79-6B50-193E-CEE8DF579C86}"/>
              </a:ext>
            </a:extLst>
          </p:cNvPr>
          <p:cNvSpPr txBox="1"/>
          <p:nvPr/>
        </p:nvSpPr>
        <p:spPr>
          <a:xfrm>
            <a:off x="1279545" y="912813"/>
            <a:ext cx="5705454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esta sesión hemos comprobado lo fácil que es crear dashboards usando las herramientas de Power BI, pero previamente se requiere </a:t>
            </a:r>
            <a:r>
              <a:rPr lang="es-PE" sz="1400" dirty="0">
                <a:latin typeface="Calibri" panose="020F0502020204030204" pitchFamily="34" charset="0"/>
                <a:cs typeface="Calibri" panose="020F0502020204030204" pitchFamily="34" charset="0"/>
              </a:rPr>
              <a:t>establecer cuáles son los requerimientos de información de los usuarios.</a:t>
            </a:r>
          </a:p>
          <a:p>
            <a:endParaRPr lang="es-P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Recordemos que el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dashboard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o también conocido como panel de información o panel de gestión, es una interfaz gráfica que ayuda a los usuarios a visualizar indicadores clave de desempeño o KPI y métricas para la toma de decisiones.</a:t>
            </a:r>
          </a:p>
          <a:p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Un KPI es un indicador clave del desempeño, el cuál son métricas que identifican el grado de desempeño o rendimiento de un proceso o de una acción desarrollada, y con relación a un objetivo previamente establecido.</a:t>
            </a:r>
            <a:endParaRPr lang="es-P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Google Shape;1455;p90">
            <a:extLst>
              <a:ext uri="{FF2B5EF4-FFF2-40B4-BE49-F238E27FC236}">
                <a16:creationId xmlns:a16="http://schemas.microsoft.com/office/drawing/2014/main" id="{E18AC7D2-DED3-2C1D-D9D3-ED82AFD32FA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260" y="954885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57;p90">
            <a:extLst>
              <a:ext uri="{FF2B5EF4-FFF2-40B4-BE49-F238E27FC236}">
                <a16:creationId xmlns:a16="http://schemas.microsoft.com/office/drawing/2014/main" id="{60FDE2A3-630C-3E85-990F-E559FFDFF046}"/>
              </a:ext>
            </a:extLst>
          </p:cNvPr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458;p90">
            <a:extLst>
              <a:ext uri="{FF2B5EF4-FFF2-40B4-BE49-F238E27FC236}">
                <a16:creationId xmlns:a16="http://schemas.microsoft.com/office/drawing/2014/main" id="{C708D71A-667E-26DF-4601-CEEC749C0371}"/>
              </a:ext>
            </a:extLst>
          </p:cNvPr>
          <p:cNvPicPr preferRelativeResize="0"/>
          <p:nvPr/>
        </p:nvPicPr>
        <p:blipFill rotWithShape="1">
          <a:blip r:embed="rId5">
            <a:alphaModFix amt="42000"/>
          </a:blip>
          <a:srcRect/>
          <a:stretch/>
        </p:blipFill>
        <p:spPr>
          <a:xfrm>
            <a:off x="6984999" y="3048772"/>
            <a:ext cx="1690689" cy="21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459;p90">
            <a:extLst>
              <a:ext uri="{FF2B5EF4-FFF2-40B4-BE49-F238E27FC236}">
                <a16:creationId xmlns:a16="http://schemas.microsoft.com/office/drawing/2014/main" id="{B0FFFB01-79AE-CB79-C8B5-587AC6EB8BE3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pic>
        <p:nvPicPr>
          <p:cNvPr id="10" name="Google Shape;1456;p90">
            <a:extLst>
              <a:ext uri="{FF2B5EF4-FFF2-40B4-BE49-F238E27FC236}">
                <a16:creationId xmlns:a16="http://schemas.microsoft.com/office/drawing/2014/main" id="{8CB5D32F-4502-36FA-D541-F03BEB2EC3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260" y="1827386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456;p90">
            <a:extLst>
              <a:ext uri="{FF2B5EF4-FFF2-40B4-BE49-F238E27FC236}">
                <a16:creationId xmlns:a16="http://schemas.microsoft.com/office/drawing/2014/main" id="{850D5ACF-FE8A-B5A1-F312-88FF9BBDB85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260" y="2679958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A05ABDD5-71D2-77A5-DA60-7ABB0B00E682}"/>
              </a:ext>
            </a:extLst>
          </p:cNvPr>
          <p:cNvSpPr/>
          <p:nvPr/>
        </p:nvSpPr>
        <p:spPr>
          <a:xfrm>
            <a:off x="407350" y="5277533"/>
            <a:ext cx="8469655" cy="3945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4;p91">
            <a:extLst>
              <a:ext uri="{FF2B5EF4-FFF2-40B4-BE49-F238E27FC236}">
                <a16:creationId xmlns:a16="http://schemas.microsoft.com/office/drawing/2014/main" id="{409F62A9-F5BD-B304-9E98-919F943F503C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65;p91">
            <a:extLst>
              <a:ext uri="{FF2B5EF4-FFF2-40B4-BE49-F238E27FC236}">
                <a16:creationId xmlns:a16="http://schemas.microsoft.com/office/drawing/2014/main" id="{7932E4BC-9A80-8956-2AEB-AF44D8FD4DD7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600" dirty="0">
                <a:solidFill>
                  <a:schemeClr val="lt1"/>
                </a:solidFill>
                <a:latin typeface="Graphik Regular" panose="020B0503030202060203" pitchFamily="34" charset="77"/>
                <a:sym typeface="Arial"/>
              </a:rPr>
              <a:t>BIBLIOGRAFÍA</a:t>
            </a:r>
            <a:br>
              <a:rPr lang="es-PE" sz="3600" dirty="0">
                <a:solidFill>
                  <a:schemeClr val="lt1"/>
                </a:solidFill>
                <a:latin typeface="Graphik Regular" panose="020B0503030202060203" pitchFamily="34" charset="77"/>
                <a:sym typeface="Arial"/>
              </a:rPr>
            </a:br>
            <a:r>
              <a:rPr lang="es-PE" sz="3600" b="1" dirty="0">
                <a:solidFill>
                  <a:schemeClr val="lt1"/>
                </a:solidFill>
                <a:latin typeface="Graphik Bold" panose="020B0503030202060203" pitchFamily="34" charset="77"/>
                <a:sym typeface="Arial"/>
              </a:rPr>
              <a:t>MÁS REFERENCIAS</a:t>
            </a:r>
            <a:endParaRPr b="1" dirty="0">
              <a:latin typeface="Graphik Bold" panose="020B0503030202060203" pitchFamily="34" charset="77"/>
            </a:endParaRPr>
          </a:p>
        </p:txBody>
      </p:sp>
      <p:pic>
        <p:nvPicPr>
          <p:cNvPr id="4" name="Google Shape;1466;p91">
            <a:extLst>
              <a:ext uri="{FF2B5EF4-FFF2-40B4-BE49-F238E27FC236}">
                <a16:creationId xmlns:a16="http://schemas.microsoft.com/office/drawing/2014/main" id="{CDA15A67-0F04-B558-F699-89A71238091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67;p91">
            <a:extLst>
              <a:ext uri="{FF2B5EF4-FFF2-40B4-BE49-F238E27FC236}">
                <a16:creationId xmlns:a16="http://schemas.microsoft.com/office/drawing/2014/main" id="{704BC361-9292-1B0E-31BC-4EA554B5F3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46970"/>
            <a:ext cx="2072061" cy="3898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9843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26"/>
          <p:cNvSpPr txBox="1"/>
          <p:nvPr/>
        </p:nvSpPr>
        <p:spPr>
          <a:xfrm>
            <a:off x="9379845" y="1177265"/>
            <a:ext cx="7881937" cy="1854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4624" marR="0" lvl="0" indent="-7937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72;p92">
            <a:extLst>
              <a:ext uri="{FF2B5EF4-FFF2-40B4-BE49-F238E27FC236}">
                <a16:creationId xmlns:a16="http://schemas.microsoft.com/office/drawing/2014/main" id="{606EBBF1-E7A0-92FC-987B-5B76DE961C57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73;p92">
            <a:extLst>
              <a:ext uri="{FF2B5EF4-FFF2-40B4-BE49-F238E27FC236}">
                <a16:creationId xmlns:a16="http://schemas.microsoft.com/office/drawing/2014/main" id="{B312DB92-E7C1-753A-B170-578007CD9EC2}"/>
              </a:ext>
            </a:extLst>
          </p:cNvPr>
          <p:cNvSpPr txBox="1"/>
          <p:nvPr/>
        </p:nvSpPr>
        <p:spPr>
          <a:xfrm>
            <a:off x="1279009" y="917823"/>
            <a:ext cx="6013889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Comunicación Numérica (2021). Maneja KPIs como todo un Pro. Recuperado de </a:t>
            </a:r>
            <a:r>
              <a:rPr lang="es-419" sz="1400" u="sng" dirty="0"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https://www.youtube.com/watch?v=YkAAZTXtBrQ</a:t>
            </a:r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Edicom (2024). Analítica de datos: Tipos de dashboards y ejemplos de KPIs. Recuperado de </a:t>
            </a:r>
            <a:r>
              <a:rPr lang="es-419" sz="1400" u="sng" dirty="0">
                <a:latin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https://edicomgroup.es/blog/tipos-dashboards-ejemplos-kpis#:~:text=Un%20dashboard%20o%20cuadro%20de,una%20manera%20visual%20e%20intuitiva</a:t>
            </a:r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Microsoft Learn (2023). Creación de visualizaciones de indicador clave de rendimiento (KPI). Recuperado de </a:t>
            </a:r>
            <a:r>
              <a:rPr lang="es-419" sz="1400" u="sng" dirty="0">
                <a:latin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https://learn.microsoft.com/es-es/power-bi/visuals/power-bi-visualization-kpi?tabs=powerbi-desktop</a:t>
            </a:r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9998" marR="0" lvl="0" indent="-666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419" sz="14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1724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419" sz="14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4" name="Google Shape;1474;p92">
            <a:extLst>
              <a:ext uri="{FF2B5EF4-FFF2-40B4-BE49-F238E27FC236}">
                <a16:creationId xmlns:a16="http://schemas.microsoft.com/office/drawing/2014/main" id="{39D70549-C7A2-F7ED-86B6-D6469C33CB8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77;p92">
            <a:extLst>
              <a:ext uri="{FF2B5EF4-FFF2-40B4-BE49-F238E27FC236}">
                <a16:creationId xmlns:a16="http://schemas.microsoft.com/office/drawing/2014/main" id="{7923607B-6F6C-1BEE-C8ED-B4519F2D0D1E}"/>
              </a:ext>
            </a:extLst>
          </p:cNvPr>
          <p:cNvPicPr preferRelativeResize="0"/>
          <p:nvPr/>
        </p:nvPicPr>
        <p:blipFill rotWithShape="1">
          <a:blip r:embed="rId7">
            <a:alphaModFix amt="42000"/>
          </a:blip>
          <a:srcRect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478;p92">
            <a:extLst>
              <a:ext uri="{FF2B5EF4-FFF2-40B4-BE49-F238E27FC236}">
                <a16:creationId xmlns:a16="http://schemas.microsoft.com/office/drawing/2014/main" id="{3649AEA7-DF0B-A528-14E8-04D371F3AC6B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7" name="Google Shape;1475;p92">
            <a:extLst>
              <a:ext uri="{FF2B5EF4-FFF2-40B4-BE49-F238E27FC236}">
                <a16:creationId xmlns:a16="http://schemas.microsoft.com/office/drawing/2014/main" id="{22E8ADEE-6540-1FCA-1858-D0DA650C1DC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8064" y="1626102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475;p92">
            <a:extLst>
              <a:ext uri="{FF2B5EF4-FFF2-40B4-BE49-F238E27FC236}">
                <a16:creationId xmlns:a16="http://schemas.microsoft.com/office/drawing/2014/main" id="{E06B4417-9358-2610-66E1-C2D69C64A96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8064" y="2703767"/>
            <a:ext cx="103867" cy="106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4;p93">
            <a:extLst>
              <a:ext uri="{FF2B5EF4-FFF2-40B4-BE49-F238E27FC236}">
                <a16:creationId xmlns:a16="http://schemas.microsoft.com/office/drawing/2014/main" id="{B6750D5C-4B2B-A795-2FFA-81E4F28D58FB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485;p93">
            <a:extLst>
              <a:ext uri="{FF2B5EF4-FFF2-40B4-BE49-F238E27FC236}">
                <a16:creationId xmlns:a16="http://schemas.microsoft.com/office/drawing/2014/main" id="{30FA9382-125E-FCBB-0D2C-F3C90785881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13888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5415</TotalTime>
  <Words>1082</Words>
  <Application>Microsoft Macintosh PowerPoint</Application>
  <PresentationFormat>Presentación en pantalla (16:10)</PresentationFormat>
  <Paragraphs>93</Paragraphs>
  <Slides>20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Arial</vt:lpstr>
      <vt:lpstr>Calibri</vt:lpstr>
      <vt:lpstr>Graphik Bold</vt:lpstr>
      <vt:lpstr>Graphik Medium</vt:lpstr>
      <vt:lpstr>Graphik Regular</vt:lpstr>
      <vt:lpstr>Graphik-Medium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Mary Gabriela Romero Martinez </cp:lastModifiedBy>
  <cp:revision>429</cp:revision>
  <cp:lastPrinted>2018-01-16T21:42:59Z</cp:lastPrinted>
  <dcterms:created xsi:type="dcterms:W3CDTF">2016-10-06T14:52:02Z</dcterms:created>
  <dcterms:modified xsi:type="dcterms:W3CDTF">2024-08-20T19:42:43Z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