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handoutMasterIdLst>
    <p:handoutMasterId r:id="rId35"/>
  </p:handoutMasterIdLst>
  <p:sldIdLst>
    <p:sldId id="662" r:id="rId2"/>
    <p:sldId id="627" r:id="rId3"/>
    <p:sldId id="628" r:id="rId4"/>
    <p:sldId id="629" r:id="rId5"/>
    <p:sldId id="788" r:id="rId6"/>
    <p:sldId id="260" r:id="rId7"/>
    <p:sldId id="789" r:id="rId8"/>
    <p:sldId id="790" r:id="rId9"/>
    <p:sldId id="804" r:id="rId10"/>
    <p:sldId id="792" r:id="rId11"/>
    <p:sldId id="265" r:id="rId12"/>
    <p:sldId id="793" r:id="rId13"/>
    <p:sldId id="794" r:id="rId14"/>
    <p:sldId id="268" r:id="rId15"/>
    <p:sldId id="795" r:id="rId16"/>
    <p:sldId id="805" r:id="rId17"/>
    <p:sldId id="797" r:id="rId18"/>
    <p:sldId id="798" r:id="rId19"/>
    <p:sldId id="799" r:id="rId20"/>
    <p:sldId id="274" r:id="rId21"/>
    <p:sldId id="800" r:id="rId22"/>
    <p:sldId id="801" r:id="rId23"/>
    <p:sldId id="802" r:id="rId24"/>
    <p:sldId id="278" r:id="rId25"/>
    <p:sldId id="803" r:id="rId26"/>
    <p:sldId id="280" r:id="rId27"/>
    <p:sldId id="806" r:id="rId28"/>
    <p:sldId id="282" r:id="rId29"/>
    <p:sldId id="283" r:id="rId30"/>
    <p:sldId id="588" r:id="rId31"/>
    <p:sldId id="589" r:id="rId32"/>
    <p:sldId id="731" r:id="rId33"/>
  </p:sldIdLst>
  <p:sldSz cx="9144000" cy="5715000" type="screen16x10"/>
  <p:notesSz cx="6858000" cy="9144000"/>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5" pos="431" userDrawn="1">
          <p15:clr>
            <a:srgbClr val="A4A3A4"/>
          </p15:clr>
        </p15:guide>
        <p15:guide id="17" pos="2562" userDrawn="1">
          <p15:clr>
            <a:srgbClr val="A4A3A4"/>
          </p15:clr>
        </p15:guide>
        <p15:guide id="18" orient="horz" pos="1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C2"/>
    <a:srgbClr val="FE7828"/>
    <a:srgbClr val="EE4639"/>
    <a:srgbClr val="714EA0"/>
    <a:srgbClr val="D1EFF4"/>
    <a:srgbClr val="FDC212"/>
    <a:srgbClr val="92C14E"/>
    <a:srgbClr val="808799"/>
    <a:srgbClr val="E3DCED"/>
    <a:srgbClr val="E1409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6" autoAdjust="0"/>
    <p:restoredTop sz="91881" autoAdjust="0"/>
  </p:normalViewPr>
  <p:slideViewPr>
    <p:cSldViewPr snapToGrid="0" snapToObjects="1" showGuides="1">
      <p:cViewPr varScale="1">
        <p:scale>
          <a:sx n="125" d="100"/>
          <a:sy n="125" d="100"/>
        </p:scale>
        <p:origin x="1446" y="108"/>
      </p:cViewPr>
      <p:guideLst>
        <p:guide pos="431"/>
        <p:guide pos="2562"/>
        <p:guide orient="horz" pos="180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01/07/2024</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1/07/2024</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835700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9</a:t>
            </a:fld>
            <a:endParaRPr lang="es-ES" dirty="0"/>
          </a:p>
        </p:txBody>
      </p:sp>
    </p:spTree>
    <p:extLst>
      <p:ext uri="{BB962C8B-B14F-4D97-AF65-F5344CB8AC3E}">
        <p14:creationId xmlns:p14="http://schemas.microsoft.com/office/powerpoint/2010/main" val="2869954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5" name="Google Shape;56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16</a:t>
            </a:fld>
            <a:endParaRPr lang="es-ES" dirty="0"/>
          </a:p>
        </p:txBody>
      </p:sp>
    </p:spTree>
    <p:extLst>
      <p:ext uri="{BB962C8B-B14F-4D97-AF65-F5344CB8AC3E}">
        <p14:creationId xmlns:p14="http://schemas.microsoft.com/office/powerpoint/2010/main" val="3668110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7" name="Google Shape;74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5" name="Google Shape;75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1" name="Google Shape;77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7" name="Google Shape;78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2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5" name="Google Shape;79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3" name="Google Shape;80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2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27</a:t>
            </a:fld>
            <a:endParaRPr lang="es-ES" dirty="0"/>
          </a:p>
        </p:txBody>
      </p:sp>
    </p:spTree>
    <p:extLst>
      <p:ext uri="{BB962C8B-B14F-4D97-AF65-F5344CB8AC3E}">
        <p14:creationId xmlns:p14="http://schemas.microsoft.com/office/powerpoint/2010/main" val="42864414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2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2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31</a:t>
            </a:fld>
            <a:endParaRPr lang="es-ES" dirty="0"/>
          </a:p>
        </p:txBody>
      </p:sp>
    </p:spTree>
    <p:extLst>
      <p:ext uri="{BB962C8B-B14F-4D97-AF65-F5344CB8AC3E}">
        <p14:creationId xmlns:p14="http://schemas.microsoft.com/office/powerpoint/2010/main" val="278263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2" pos="2880" userDrawn="1">
          <p15:clr>
            <a:srgbClr val="FBAE40"/>
          </p15:clr>
        </p15:guide>
        <p15:guide id="3" orient="horz" pos="1900" userDrawn="1">
          <p15:clr>
            <a:srgbClr val="FBAE40"/>
          </p15:clr>
        </p15:guide>
        <p15:guide id="4" pos="544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grpSp>
        <p:nvGrpSpPr>
          <p:cNvPr id="2" name="Agrupar 13">
            <a:extLst>
              <a:ext uri="{FF2B5EF4-FFF2-40B4-BE49-F238E27FC236}">
                <a16:creationId xmlns:a16="http://schemas.microsoft.com/office/drawing/2014/main" id="{EE396788-5A79-8D39-BC8E-86ECEB650A77}"/>
              </a:ext>
            </a:extLst>
          </p:cNvPr>
          <p:cNvGrpSpPr/>
          <p:nvPr userDrawn="1"/>
        </p:nvGrpSpPr>
        <p:grpSpPr>
          <a:xfrm>
            <a:off x="944054" y="5343295"/>
            <a:ext cx="7804380" cy="215444"/>
            <a:chOff x="944054" y="5343295"/>
            <a:chExt cx="7804380" cy="215444"/>
          </a:xfrm>
        </p:grpSpPr>
        <p:sp>
          <p:nvSpPr>
            <p:cNvPr id="3" name="TextBox 7">
              <a:extLst>
                <a:ext uri="{FF2B5EF4-FFF2-40B4-BE49-F238E27FC236}">
                  <a16:creationId xmlns:a16="http://schemas.microsoft.com/office/drawing/2014/main" id="{C9FEC313-CD23-47F0-A828-849E12E5E3CC}"/>
                </a:ext>
              </a:extLst>
            </p:cNvPr>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05</a:t>
              </a:r>
              <a:endParaRPr lang="en-US" sz="800" dirty="0">
                <a:solidFill>
                  <a:schemeClr val="bg1">
                    <a:lumMod val="50000"/>
                  </a:schemeClr>
                </a:solidFill>
                <a:latin typeface="Calibri"/>
                <a:cs typeface="Calibri"/>
              </a:endParaRPr>
            </a:p>
          </p:txBody>
        </p:sp>
        <p:sp>
          <p:nvSpPr>
            <p:cNvPr id="4" name="Rectangle 3">
              <a:extLst>
                <a:ext uri="{FF2B5EF4-FFF2-40B4-BE49-F238E27FC236}">
                  <a16:creationId xmlns:a16="http://schemas.microsoft.com/office/drawing/2014/main" id="{8A55EED3-D33C-5537-ACE4-B21B34047BA4}"/>
                </a:ext>
              </a:extLst>
            </p:cNvPr>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7" name="Imagen 6">
            <a:extLst>
              <a:ext uri="{FF2B5EF4-FFF2-40B4-BE49-F238E27FC236}">
                <a16:creationId xmlns:a16="http://schemas.microsoft.com/office/drawing/2014/main" id="{629383BC-861E-A43F-194A-81F1472DC99A}"/>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16372865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05</a:t>
              </a:r>
              <a:endParaRPr lang="en-US" sz="800" dirty="0">
                <a:solidFill>
                  <a:schemeClr val="bg1">
                    <a:lumMod val="50000"/>
                  </a:schemeClr>
                </a:solidFill>
                <a:latin typeface="Calibri"/>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9" name="Imagen 8"/>
          <p:cNvPicPr>
            <a:picLocks noChangeAspect="1"/>
          </p:cNvPicPr>
          <p:nvPr userDrawn="1"/>
        </p:nvPicPr>
        <p:blipFill>
          <a:blip r:embed="rId5"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pos="2767" userDrawn="1">
          <p15:clr>
            <a:srgbClr val="F26B43"/>
          </p15:clr>
        </p15:guide>
        <p15:guide id="3" pos="317" userDrawn="1">
          <p15:clr>
            <a:srgbClr val="F26B43"/>
          </p15:clr>
        </p15:guide>
        <p15:guide id="4" orient="horz" pos="575" userDrawn="1">
          <p15:clr>
            <a:srgbClr val="F26B43"/>
          </p15:clr>
        </p15:guide>
        <p15:guide id="5" orient="horz" pos="303" userDrawn="1">
          <p15:clr>
            <a:srgbClr val="F26B43"/>
          </p15:clr>
        </p15:guide>
        <p15:guide id="6" pos="5443" userDrawn="1">
          <p15:clr>
            <a:srgbClr val="F26B43"/>
          </p15:clr>
        </p15:guide>
        <p15:guide id="7" orient="horz" pos="3297" userDrawn="1">
          <p15:clr>
            <a:srgbClr val="F26B43"/>
          </p15:clr>
        </p15:guide>
        <p15:guide id="8" pos="299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n-US" sz="900" b="1" dirty="0">
                <a:solidFill>
                  <a:srgbClr val="6C6D6C"/>
                </a:solidFill>
                <a:latin typeface="Calibri" charset="0"/>
                <a:cs typeface="Calibri" charset="0"/>
                <a:sym typeface="Wingdings"/>
              </a:rPr>
              <a:t>ANALÍTICA DE SISTEMAS EMPRESARIALES </a:t>
            </a:r>
            <a:endParaRPr lang="es-ES_tradnl" sz="900" b="1" dirty="0">
              <a:solidFill>
                <a:srgbClr val="6C6D6C"/>
              </a:solidFill>
              <a:latin typeface="Calibri" charset="0"/>
              <a:cs typeface="Calibri" charset="0"/>
            </a:endParaRPr>
          </a:p>
        </p:txBody>
      </p:sp>
      <p:pic>
        <p:nvPicPr>
          <p:cNvPr id="4" name="Imagen 3">
            <a:extLst>
              <a:ext uri="{FF2B5EF4-FFF2-40B4-BE49-F238E27FC236}">
                <a16:creationId xmlns:a16="http://schemas.microsoft.com/office/drawing/2014/main" id="{5F6F030B-C752-AD44-958B-E73463C78685}"/>
              </a:ext>
            </a:extLst>
          </p:cNvPr>
          <p:cNvPicPr>
            <a:picLocks noChangeAspect="1"/>
          </p:cNvPicPr>
          <p:nvPr/>
        </p:nvPicPr>
        <p:blipFill>
          <a:blip r:embed="rId3"/>
          <a:stretch>
            <a:fillRect/>
          </a:stretch>
        </p:blipFill>
        <p:spPr>
          <a:xfrm>
            <a:off x="3752849" y="-7542"/>
            <a:ext cx="5391150" cy="5722541"/>
          </a:xfrm>
          <a:prstGeom prst="rect">
            <a:avLst/>
          </a:prstGeom>
        </p:spPr>
      </p:pic>
      <p:sp>
        <p:nvSpPr>
          <p:cNvPr id="2" name="Rectángulo 1">
            <a:extLst>
              <a:ext uri="{FF2B5EF4-FFF2-40B4-BE49-F238E27FC236}">
                <a16:creationId xmlns:a16="http://schemas.microsoft.com/office/drawing/2014/main" id="{AC56C332-AC9C-5CDE-E4A7-D1AD9C720B6F}"/>
              </a:ext>
            </a:extLst>
          </p:cNvPr>
          <p:cNvSpPr/>
          <p:nvPr/>
        </p:nvSpPr>
        <p:spPr>
          <a:xfrm>
            <a:off x="503239" y="2177570"/>
            <a:ext cx="3104742" cy="1107996"/>
          </a:xfrm>
          <a:prstGeom prst="rect">
            <a:avLst/>
          </a:prstGeom>
        </p:spPr>
        <p:txBody>
          <a:bodyPr wrap="square" lIns="0" tIns="0" rIns="0" bIns="0">
            <a:spAutoFit/>
          </a:bodyPr>
          <a:lstStyle/>
          <a:p>
            <a:pPr>
              <a:lnSpc>
                <a:spcPct val="90000"/>
              </a:lnSpc>
            </a:pPr>
            <a:r>
              <a:rPr lang="en-US" sz="2000" dirty="0">
                <a:latin typeface="Graphik Medium" panose="020B0503030202060203" pitchFamily="34" charset="77"/>
                <a:sym typeface="Calibri"/>
              </a:rPr>
              <a:t>OPERACIONES DE </a:t>
            </a:r>
            <a:r>
              <a:rPr lang="en-US" sz="2000" b="1" dirty="0">
                <a:latin typeface="Graphik Bold" panose="020B0503030202060203" pitchFamily="34" charset="77"/>
                <a:sym typeface="Calibri"/>
              </a:rPr>
              <a:t>EXTRACCIÓN, TRANSFORMACIÓN Y CARGA (ETL) – PARTE 2</a:t>
            </a:r>
          </a:p>
        </p:txBody>
      </p:sp>
      <p:sp>
        <p:nvSpPr>
          <p:cNvPr id="3" name="Rectángulo 2">
            <a:extLst>
              <a:ext uri="{FF2B5EF4-FFF2-40B4-BE49-F238E27FC236}">
                <a16:creationId xmlns:a16="http://schemas.microsoft.com/office/drawing/2014/main" id="{1D1189B2-41AF-6D82-F5E0-ACAECF805B82}"/>
              </a:ext>
            </a:extLst>
          </p:cNvPr>
          <p:cNvSpPr/>
          <p:nvPr/>
        </p:nvSpPr>
        <p:spPr>
          <a:xfrm>
            <a:off x="503237" y="3549494"/>
            <a:ext cx="3104743" cy="1091581"/>
          </a:xfrm>
          <a:prstGeom prst="rect">
            <a:avLst/>
          </a:prstGeom>
        </p:spPr>
        <p:txBody>
          <a:bodyPr wrap="square" lIns="0" tIns="0" rIns="0" bIns="0">
            <a:spAutoFit/>
          </a:bodyPr>
          <a:lstStyle/>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Staging área. Elementos e importancia</a:t>
            </a: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Particionamiento del data warehouse</a:t>
            </a: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Particionamiento en SQL Server</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Creación de paquetes SQL Server Integration Services</a:t>
            </a:r>
            <a:endParaRPr lang="es-ES_tradnl" sz="1200">
              <a:latin typeface="Graphik Medium" panose="020B0503030202060203" pitchFamily="34" charset="77"/>
            </a:endParaRPr>
          </a:p>
        </p:txBody>
      </p:sp>
      <p:sp>
        <p:nvSpPr>
          <p:cNvPr id="5" name="CuadroTexto 4">
            <a:extLst>
              <a:ext uri="{FF2B5EF4-FFF2-40B4-BE49-F238E27FC236}">
                <a16:creationId xmlns:a16="http://schemas.microsoft.com/office/drawing/2014/main" id="{8F0C791E-55A4-CF62-B567-CC3C65452046}"/>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E14098"/>
                </a:solidFill>
                <a:latin typeface="Calibri" charset="0"/>
                <a:ea typeface="Calibri" charset="0"/>
                <a:cs typeface="Calibri" charset="0"/>
              </a:rPr>
              <a:t>SESIÓN 05</a:t>
            </a:r>
          </a:p>
        </p:txBody>
      </p:sp>
      <p:pic>
        <p:nvPicPr>
          <p:cNvPr id="6" name="Imagen 5">
            <a:extLst>
              <a:ext uri="{FF2B5EF4-FFF2-40B4-BE49-F238E27FC236}">
                <a16:creationId xmlns:a16="http://schemas.microsoft.com/office/drawing/2014/main" id="{474548A7-011E-0B5D-1381-0BA486642CE8}"/>
              </a:ext>
            </a:extLst>
          </p:cNvPr>
          <p:cNvPicPr>
            <a:picLocks noChangeAspect="1"/>
          </p:cNvPicPr>
          <p:nvPr/>
        </p:nvPicPr>
        <p:blipFill>
          <a:blip r:embed="rId4"/>
          <a:stretch>
            <a:fillRect/>
          </a:stretch>
        </p:blipFill>
        <p:spPr>
          <a:xfrm>
            <a:off x="507464" y="1883411"/>
            <a:ext cx="166865" cy="170453"/>
          </a:xfrm>
          <a:prstGeom prst="rect">
            <a:avLst/>
          </a:prstGeom>
        </p:spPr>
      </p:pic>
    </p:spTree>
    <p:extLst>
      <p:ext uri="{BB962C8B-B14F-4D97-AF65-F5344CB8AC3E}">
        <p14:creationId xmlns:p14="http://schemas.microsoft.com/office/powerpoint/2010/main" val="909209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object 7"/>
          <p:cNvSpPr txBox="1"/>
          <p:nvPr/>
        </p:nvSpPr>
        <p:spPr>
          <a:xfrm>
            <a:off x="1282298" y="918372"/>
            <a:ext cx="5636662" cy="1938992"/>
          </a:xfrm>
          <a:prstGeom prst="rect">
            <a:avLst/>
          </a:prstGeom>
        </p:spPr>
        <p:txBody>
          <a:bodyPr vert="horz" wrap="square" lIns="0" tIns="0" rIns="0" bIns="0" rtlCol="0">
            <a:spAutoFit/>
          </a:bodyPr>
          <a:lstStyle/>
          <a:p>
            <a:pPr marL="11724" marR="0" lvl="0" algn="l" rtl="0">
              <a:spcBef>
                <a:spcPts val="0"/>
              </a:spcBef>
              <a:spcAft>
                <a:spcPts val="0"/>
              </a:spcAft>
              <a:buClr>
                <a:srgbClr val="262626"/>
              </a:buClr>
              <a:buSzPts val="1600"/>
            </a:pPr>
            <a:r>
              <a:rPr lang="es-ES_tradnl" sz="1400">
                <a:latin typeface="Calibri" panose="020F0502020204030204" pitchFamily="34" charset="0"/>
                <a:ea typeface="Calibri"/>
                <a:cs typeface="Calibri" panose="020F0502020204030204" pitchFamily="34" charset="0"/>
                <a:sym typeface="Calibri"/>
              </a:rPr>
              <a:t>Se profundizará en la definición del staging area y su uso en el proceso de extracción de datos.</a:t>
            </a:r>
            <a:endParaRPr lang="es-ES_tradnl" sz="1400">
              <a:latin typeface="Calibri" panose="020F0502020204030204" pitchFamily="34" charset="0"/>
              <a:cs typeface="Calibri" panose="020F0502020204030204" pitchFamily="34" charset="0"/>
            </a:endParaRPr>
          </a:p>
          <a:p>
            <a:pPr marL="113324" marR="0" lvl="0" algn="l" rtl="0">
              <a:spcBef>
                <a:spcPts val="0"/>
              </a:spcBef>
              <a:spcAft>
                <a:spcPts val="0"/>
              </a:spcAft>
              <a:buClr>
                <a:schemeClr val="dk1"/>
              </a:buClr>
              <a:buSzPts val="1600"/>
            </a:pPr>
            <a:endParaRPr lang="es-ES_tradnl" sz="1400">
              <a:latin typeface="Calibri" panose="020F0502020204030204" pitchFamily="34" charset="0"/>
              <a:ea typeface="Calibri"/>
              <a:cs typeface="Calibri" panose="020F0502020204030204" pitchFamily="34" charset="0"/>
              <a:sym typeface="Calibri"/>
            </a:endParaRPr>
          </a:p>
          <a:p>
            <a:pPr marL="11724" marR="0" lvl="0" algn="l" rtl="0">
              <a:spcBef>
                <a:spcPts val="0"/>
              </a:spcBef>
              <a:spcAft>
                <a:spcPts val="0"/>
              </a:spcAft>
              <a:buClr>
                <a:srgbClr val="262626"/>
              </a:buClr>
              <a:buSzPts val="1600"/>
            </a:pPr>
            <a:r>
              <a:rPr lang="es-ES_tradnl" sz="1400">
                <a:latin typeface="Calibri" panose="020F0502020204030204" pitchFamily="34" charset="0"/>
                <a:ea typeface="Calibri"/>
                <a:cs typeface="Calibri" panose="020F0502020204030204" pitchFamily="34" charset="0"/>
                <a:sym typeface="Calibri"/>
              </a:rPr>
              <a:t>Se explicará cómo particionar una base de datos para mejorar el acceso a los datos por parte de las consultas, y se verá cómo hacerlo en MS SQL Server.</a:t>
            </a:r>
            <a:endParaRPr lang="es-ES_tradnl" sz="1400">
              <a:latin typeface="Calibri" panose="020F0502020204030204" pitchFamily="34" charset="0"/>
              <a:cs typeface="Calibri" panose="020F0502020204030204" pitchFamily="34" charset="0"/>
            </a:endParaRPr>
          </a:p>
          <a:p>
            <a:pPr marL="113324" marR="0" lvl="0" algn="l" rtl="0">
              <a:spcBef>
                <a:spcPts val="0"/>
              </a:spcBef>
              <a:spcAft>
                <a:spcPts val="0"/>
              </a:spcAft>
              <a:buClr>
                <a:schemeClr val="dk1"/>
              </a:buClr>
              <a:buSzPts val="1600"/>
            </a:pPr>
            <a:endParaRPr lang="es-ES_tradnl" sz="1400">
              <a:latin typeface="Calibri" panose="020F0502020204030204" pitchFamily="34" charset="0"/>
              <a:ea typeface="Calibri"/>
              <a:cs typeface="Calibri" panose="020F0502020204030204" pitchFamily="34" charset="0"/>
              <a:sym typeface="Calibri"/>
            </a:endParaRPr>
          </a:p>
          <a:p>
            <a:pPr marL="11724" marR="0" lvl="0" algn="l" rtl="0">
              <a:spcBef>
                <a:spcPts val="0"/>
              </a:spcBef>
              <a:spcAft>
                <a:spcPts val="0"/>
              </a:spcAft>
              <a:buClr>
                <a:srgbClr val="262626"/>
              </a:buClr>
              <a:buSzPts val="1600"/>
            </a:pPr>
            <a:r>
              <a:rPr lang="es-ES_tradnl" sz="1400">
                <a:latin typeface="Calibri" panose="020F0502020204030204" pitchFamily="34" charset="0"/>
                <a:ea typeface="Calibri"/>
                <a:cs typeface="Calibri" panose="020F0502020204030204" pitchFamily="34" charset="0"/>
                <a:sym typeface="Calibri"/>
              </a:rPr>
              <a:t>Crearás paquetes SSIS para implementar las operaciones ETL (Extraction, Transformation, Load) orientadas a la implementación del modelo de datos dimensional para los sistemas OLAP.</a:t>
            </a:r>
            <a:endParaRPr lang="es-ES_tradnl" sz="1400">
              <a:latin typeface="Calibri" panose="020F0502020204030204" pitchFamily="34" charset="0"/>
              <a:cs typeface="Calibri" panose="020F0502020204030204" pitchFamily="34" charset="0"/>
            </a:endParaRPr>
          </a:p>
        </p:txBody>
      </p:sp>
      <p:pic>
        <p:nvPicPr>
          <p:cNvPr id="6" name="Imagen 5"/>
          <p:cNvPicPr>
            <a:picLocks noChangeAspect="1"/>
          </p:cNvPicPr>
          <p:nvPr/>
        </p:nvPicPr>
        <p:blipFill>
          <a:blip r:embed="rId3"/>
          <a:stretch>
            <a:fillRect/>
          </a:stretch>
        </p:blipFill>
        <p:spPr>
          <a:xfrm>
            <a:off x="1010839" y="954885"/>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pic>
        <p:nvPicPr>
          <p:cNvPr id="3" name="Imagen 2">
            <a:extLst>
              <a:ext uri="{FF2B5EF4-FFF2-40B4-BE49-F238E27FC236}">
                <a16:creationId xmlns:a16="http://schemas.microsoft.com/office/drawing/2014/main" id="{AFB28DA7-64F2-C36B-1698-15FE68C6E942}"/>
              </a:ext>
            </a:extLst>
          </p:cNvPr>
          <p:cNvPicPr>
            <a:picLocks noChangeAspect="1"/>
          </p:cNvPicPr>
          <p:nvPr/>
        </p:nvPicPr>
        <p:blipFill>
          <a:blip r:embed="rId3"/>
          <a:stretch>
            <a:fillRect/>
          </a:stretch>
        </p:blipFill>
        <p:spPr>
          <a:xfrm>
            <a:off x="1010839" y="1602917"/>
            <a:ext cx="117851" cy="121369"/>
          </a:xfrm>
          <a:prstGeom prst="rect">
            <a:avLst/>
          </a:prstGeom>
        </p:spPr>
      </p:pic>
      <p:pic>
        <p:nvPicPr>
          <p:cNvPr id="5" name="Imagen 4">
            <a:extLst>
              <a:ext uri="{FF2B5EF4-FFF2-40B4-BE49-F238E27FC236}">
                <a16:creationId xmlns:a16="http://schemas.microsoft.com/office/drawing/2014/main" id="{03B66B38-8B1B-2C05-3DCC-9DB1E0245A31}"/>
              </a:ext>
            </a:extLst>
          </p:cNvPr>
          <p:cNvPicPr>
            <a:picLocks noChangeAspect="1"/>
          </p:cNvPicPr>
          <p:nvPr/>
        </p:nvPicPr>
        <p:blipFill>
          <a:blip r:embed="rId3"/>
          <a:stretch>
            <a:fillRect/>
          </a:stretch>
        </p:blipFill>
        <p:spPr>
          <a:xfrm>
            <a:off x="1010839" y="2250949"/>
            <a:ext cx="117851" cy="121369"/>
          </a:xfrm>
          <a:prstGeom prst="rect">
            <a:avLst/>
          </a:prstGeom>
        </p:spPr>
      </p:pic>
    </p:spTree>
    <p:extLst>
      <p:ext uri="{BB962C8B-B14F-4D97-AF65-F5344CB8AC3E}">
        <p14:creationId xmlns:p14="http://schemas.microsoft.com/office/powerpoint/2010/main" val="783239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387798"/>
          </a:xfrm>
          <a:prstGeom prst="rect">
            <a:avLst/>
          </a:prstGeom>
          <a:noFill/>
        </p:spPr>
        <p:txBody>
          <a:bodyPr wrap="square" lIns="0" tIns="0" rIns="0" bIns="0" rtlCol="0">
            <a:spAutoFit/>
          </a:bodyPr>
          <a:lstStyle/>
          <a:p>
            <a:pPr>
              <a:lnSpc>
                <a:spcPct val="90000"/>
              </a:lnSpc>
              <a:spcBef>
                <a:spcPts val="1000"/>
              </a:spcBef>
              <a:defRPr/>
            </a:pPr>
            <a:r>
              <a:rPr lang="en-US" sz="2800" b="1" dirty="0">
                <a:solidFill>
                  <a:schemeClr val="bg1"/>
                </a:solidFill>
                <a:latin typeface="Graphik Bold" panose="020B0503030202060203" pitchFamily="34" charset="77"/>
                <a:sym typeface="Calibri"/>
              </a:rPr>
              <a:t>STAGING AREA</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0036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3" name="Google Shape;53;p4"/>
          <p:cNvSpPr txBox="1"/>
          <p:nvPr/>
        </p:nvSpPr>
        <p:spPr>
          <a:xfrm>
            <a:off x="503237" y="914893"/>
            <a:ext cx="8137525" cy="1061829"/>
          </a:xfrm>
          <a:prstGeom prst="rect">
            <a:avLst/>
          </a:prstGeom>
          <a:noFill/>
          <a:ln>
            <a:noFill/>
          </a:ln>
        </p:spPr>
        <p:txBody>
          <a:bodyPr spcFirstLastPara="1" wrap="square" lIns="0" tIns="0" rIns="0" bIns="0" anchor="t" anchorCtr="0">
            <a:spAutoFit/>
          </a:bodyPr>
          <a:lstStyle/>
          <a:p>
            <a:pPr marL="11724" marR="0" lvl="0" indent="0" rtl="0">
              <a:spcBef>
                <a:spcPts val="0"/>
              </a:spcBef>
              <a:spcAft>
                <a:spcPts val="600"/>
              </a:spcAft>
              <a:buNone/>
            </a:pPr>
            <a:r>
              <a:rPr lang="es-ES_tradnl" sz="1600" b="1">
                <a:latin typeface="Calibri"/>
                <a:ea typeface="Calibri"/>
                <a:cs typeface="Calibri"/>
                <a:sym typeface="Calibri"/>
              </a:rPr>
              <a:t>CONCEPTO</a:t>
            </a:r>
            <a:endParaRPr lang="es-ES_tradnl" sz="1600">
              <a:latin typeface="Calibri"/>
              <a:ea typeface="Calibri"/>
              <a:cs typeface="Calibri"/>
              <a:sym typeface="Calibri"/>
            </a:endParaRPr>
          </a:p>
          <a:p>
            <a:pPr marL="11724" marR="0" lvl="0" indent="0" rtl="0">
              <a:spcBef>
                <a:spcPts val="0"/>
              </a:spcBef>
              <a:spcAft>
                <a:spcPts val="0"/>
              </a:spcAft>
              <a:buNone/>
            </a:pPr>
            <a:r>
              <a:rPr lang="es-ES_tradnl" sz="1600">
                <a:latin typeface="Calibri"/>
                <a:ea typeface="Calibri"/>
                <a:cs typeface="Calibri"/>
                <a:sym typeface="Calibri"/>
              </a:rPr>
              <a:t>Área de almacenamiento intermedio utilizada para la administración y el procesamiento de los datos durante las operaciones de extracción, transformación y carga, de modo que garanticemos la calidad de dichos datos.</a:t>
            </a:r>
            <a:endParaRPr lang="es-ES_tradnl"/>
          </a:p>
        </p:txBody>
      </p:sp>
      <p:sp>
        <p:nvSpPr>
          <p:cNvPr id="54" name="Google Shape;54;p4"/>
          <p:cNvSpPr/>
          <p:nvPr/>
        </p:nvSpPr>
        <p:spPr>
          <a:xfrm>
            <a:off x="1249878" y="2859840"/>
            <a:ext cx="1013460" cy="1158240"/>
          </a:xfrm>
          <a:prstGeom prst="flowChartMagneticDisk">
            <a:avLst/>
          </a:prstGeom>
          <a:solidFill>
            <a:srgbClr val="00B1C2"/>
          </a:solidFill>
          <a:ln w="9525" cap="flat" cmpd="sng">
            <a:solidFill>
              <a:schemeClr val="bg1"/>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 name="Google Shape;55;p4"/>
          <p:cNvSpPr/>
          <p:nvPr/>
        </p:nvSpPr>
        <p:spPr>
          <a:xfrm>
            <a:off x="4010124" y="2859840"/>
            <a:ext cx="1013460" cy="1158240"/>
          </a:xfrm>
          <a:prstGeom prst="flowChartMagneticDisk">
            <a:avLst/>
          </a:prstGeom>
          <a:solidFill>
            <a:srgbClr val="00B1C2"/>
          </a:solidFill>
          <a:ln w="9525" cap="flat" cmpd="sng">
            <a:solidFill>
              <a:schemeClr val="bg1"/>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56;p4"/>
          <p:cNvSpPr/>
          <p:nvPr/>
        </p:nvSpPr>
        <p:spPr>
          <a:xfrm>
            <a:off x="6770370" y="2859840"/>
            <a:ext cx="1013460" cy="1158240"/>
          </a:xfrm>
          <a:prstGeom prst="flowChartMagneticDisk">
            <a:avLst/>
          </a:prstGeom>
          <a:solidFill>
            <a:srgbClr val="00B1C2"/>
          </a:solidFill>
          <a:ln w="9525" cap="flat" cmpd="sng">
            <a:solidFill>
              <a:schemeClr val="bg1"/>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 name="Google Shape;57;p4"/>
          <p:cNvSpPr txBox="1"/>
          <p:nvPr/>
        </p:nvSpPr>
        <p:spPr>
          <a:xfrm>
            <a:off x="3858853" y="2405926"/>
            <a:ext cx="131600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staging area</a:t>
            </a:r>
            <a:endParaRPr sz="1800">
              <a:solidFill>
                <a:schemeClr val="dk1"/>
              </a:solidFill>
              <a:latin typeface="Calibri"/>
              <a:ea typeface="Calibri"/>
              <a:cs typeface="Calibri"/>
              <a:sym typeface="Calibri"/>
            </a:endParaRPr>
          </a:p>
        </p:txBody>
      </p:sp>
      <p:sp>
        <p:nvSpPr>
          <p:cNvPr id="58" name="Google Shape;58;p4"/>
          <p:cNvSpPr/>
          <p:nvPr/>
        </p:nvSpPr>
        <p:spPr>
          <a:xfrm>
            <a:off x="2523321" y="3414046"/>
            <a:ext cx="1226820" cy="281939"/>
          </a:xfrm>
          <a:prstGeom prst="rightArrow">
            <a:avLst>
              <a:gd name="adj1" fmla="val 50000"/>
              <a:gd name="adj2" fmla="val 50000"/>
            </a:avLst>
          </a:prstGeom>
          <a:solidFill>
            <a:srgbClr val="FDC21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 name="Google Shape;59;p4"/>
          <p:cNvSpPr/>
          <p:nvPr/>
        </p:nvSpPr>
        <p:spPr>
          <a:xfrm>
            <a:off x="5283567" y="3414045"/>
            <a:ext cx="1226820" cy="281939"/>
          </a:xfrm>
          <a:prstGeom prst="rightArrow">
            <a:avLst>
              <a:gd name="adj1" fmla="val 50000"/>
              <a:gd name="adj2" fmla="val 50000"/>
            </a:avLst>
          </a:prstGeom>
          <a:solidFill>
            <a:srgbClr val="FDC21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4"/>
          <p:cNvSpPr txBox="1"/>
          <p:nvPr/>
        </p:nvSpPr>
        <p:spPr>
          <a:xfrm>
            <a:off x="2584938" y="3075492"/>
            <a:ext cx="106343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0B1C2"/>
                </a:solidFill>
                <a:latin typeface="Calibri"/>
                <a:ea typeface="Calibri"/>
                <a:cs typeface="Calibri"/>
                <a:sym typeface="Calibri"/>
              </a:rPr>
              <a:t>extracción</a:t>
            </a:r>
            <a:endParaRPr sz="1600" b="1">
              <a:solidFill>
                <a:srgbClr val="00B1C2"/>
              </a:solidFill>
              <a:latin typeface="Calibri"/>
              <a:ea typeface="Calibri"/>
              <a:cs typeface="Calibri"/>
              <a:sym typeface="Calibri"/>
            </a:endParaRPr>
          </a:p>
        </p:txBody>
      </p:sp>
      <p:sp>
        <p:nvSpPr>
          <p:cNvPr id="61" name="Google Shape;61;p4"/>
          <p:cNvSpPr txBox="1"/>
          <p:nvPr/>
        </p:nvSpPr>
        <p:spPr>
          <a:xfrm>
            <a:off x="5316006" y="3076612"/>
            <a:ext cx="101346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rgbClr val="00B1C2"/>
                </a:solidFill>
                <a:latin typeface="Calibri"/>
                <a:ea typeface="Calibri"/>
                <a:cs typeface="Calibri"/>
                <a:sym typeface="Calibri"/>
              </a:rPr>
              <a:t>carga</a:t>
            </a:r>
            <a:endParaRPr sz="1600" b="1">
              <a:solidFill>
                <a:srgbClr val="00B1C2"/>
              </a:solidFill>
              <a:latin typeface="Calibri"/>
              <a:ea typeface="Calibri"/>
              <a:cs typeface="Calibri"/>
              <a:sym typeface="Calibri"/>
            </a:endParaRPr>
          </a:p>
        </p:txBody>
      </p:sp>
      <p:sp>
        <p:nvSpPr>
          <p:cNvPr id="62" name="Google Shape;62;p4"/>
          <p:cNvSpPr txBox="1"/>
          <p:nvPr/>
        </p:nvSpPr>
        <p:spPr>
          <a:xfrm>
            <a:off x="3828553" y="4053728"/>
            <a:ext cx="148822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0B1C2"/>
                </a:solidFill>
                <a:latin typeface="Calibri"/>
                <a:ea typeface="Calibri"/>
                <a:cs typeface="Calibri"/>
                <a:sym typeface="Calibri"/>
              </a:rPr>
              <a:t>transformación</a:t>
            </a:r>
            <a:endParaRPr sz="1600" b="1">
              <a:solidFill>
                <a:srgbClr val="00B1C2"/>
              </a:solidFill>
              <a:latin typeface="Calibri"/>
              <a:ea typeface="Calibri"/>
              <a:cs typeface="Calibri"/>
              <a:sym typeface="Calibri"/>
            </a:endParaRPr>
          </a:p>
        </p:txBody>
      </p:sp>
      <p:sp>
        <p:nvSpPr>
          <p:cNvPr id="63" name="Google Shape;63;p4"/>
          <p:cNvSpPr txBox="1"/>
          <p:nvPr/>
        </p:nvSpPr>
        <p:spPr>
          <a:xfrm>
            <a:off x="6835793" y="2405926"/>
            <a:ext cx="8826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destino</a:t>
            </a:r>
            <a:endParaRPr sz="1800">
              <a:solidFill>
                <a:schemeClr val="dk1"/>
              </a:solidFill>
              <a:latin typeface="Calibri"/>
              <a:ea typeface="Calibri"/>
              <a:cs typeface="Calibri"/>
              <a:sym typeface="Calibri"/>
            </a:endParaRPr>
          </a:p>
        </p:txBody>
      </p:sp>
      <p:sp>
        <p:nvSpPr>
          <p:cNvPr id="64" name="Google Shape;64;p4"/>
          <p:cNvSpPr txBox="1"/>
          <p:nvPr/>
        </p:nvSpPr>
        <p:spPr>
          <a:xfrm>
            <a:off x="1364673" y="2405926"/>
            <a:ext cx="7838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origen</a:t>
            </a:r>
            <a:endParaRPr sz="180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0FCB8D34-7E50-B6A3-3CF8-E71713BCF960}"/>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STAGING AREA</a:t>
            </a:r>
            <a:r>
              <a:rPr lang="es-PE" sz="1000" dirty="0">
                <a:solidFill>
                  <a:schemeClr val="bg1">
                    <a:lumMod val="65000"/>
                  </a:schemeClr>
                </a:solidFill>
                <a:latin typeface="Calibri" charset="0"/>
                <a:cs typeface="Calibri"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1" name="Google Shape;71;p5"/>
          <p:cNvSpPr txBox="1"/>
          <p:nvPr/>
        </p:nvSpPr>
        <p:spPr>
          <a:xfrm>
            <a:off x="503238" y="912813"/>
            <a:ext cx="8102216" cy="4262705"/>
          </a:xfrm>
          <a:prstGeom prst="rect">
            <a:avLst/>
          </a:prstGeom>
          <a:noFill/>
          <a:ln>
            <a:noFill/>
          </a:ln>
        </p:spPr>
        <p:txBody>
          <a:bodyPr spcFirstLastPara="1" wrap="square" lIns="0" tIns="0" rIns="0" bIns="0" anchor="t" anchorCtr="0">
            <a:spAutoFit/>
          </a:bodyPr>
          <a:lstStyle/>
          <a:p>
            <a:pPr marL="11724">
              <a:spcAft>
                <a:spcPts val="600"/>
              </a:spcAft>
              <a:buClr>
                <a:srgbClr val="262626"/>
              </a:buClr>
              <a:buSzPts val="1600"/>
            </a:pPr>
            <a:r>
              <a:rPr lang="es-ES_tradnl" sz="1600" b="1">
                <a:solidFill>
                  <a:schemeClr val="dk1"/>
                </a:solidFill>
                <a:latin typeface="Calibri" panose="020F0502020204030204" pitchFamily="34" charset="0"/>
                <a:ea typeface="Calibri"/>
                <a:cs typeface="Calibri" panose="020F0502020204030204" pitchFamily="34" charset="0"/>
                <a:sym typeface="Calibri"/>
              </a:rPr>
              <a:t>ELEMENTOS E IMPORTANCIA</a:t>
            </a:r>
          </a:p>
          <a:p>
            <a:pPr marL="179998" marR="0" lvl="0" indent="-168274" rtl="0">
              <a:spcBef>
                <a:spcPts val="0"/>
              </a:spcBef>
              <a:spcAft>
                <a:spcPts val="0"/>
              </a:spcAft>
              <a:buClr>
                <a:srgbClr val="262626"/>
              </a:buClr>
              <a:buSzPts val="1600"/>
              <a:buFont typeface="Arial"/>
              <a:buChar char="•"/>
            </a:pPr>
            <a:r>
              <a:rPr lang="es-ES_tradnl" sz="1600">
                <a:solidFill>
                  <a:srgbClr val="262626"/>
                </a:solidFill>
                <a:latin typeface="Calibri" panose="020F0502020204030204" pitchFamily="34" charset="0"/>
                <a:ea typeface="Calibri"/>
                <a:cs typeface="Calibri" panose="020F0502020204030204" pitchFamily="34" charset="0"/>
                <a:sym typeface="Calibri"/>
              </a:rPr>
              <a:t>El staging area se implementa en un disco separado, y de preferencia en un servidor separado, de modo que no afecta ni ralentiza otros procesos del sistema.</a:t>
            </a:r>
            <a:endParaRPr lang="es-ES_tradnl" sz="160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a:solidFill>
                  <a:srgbClr val="262626"/>
                </a:solidFill>
                <a:latin typeface="Calibri" panose="020F0502020204030204" pitchFamily="34" charset="0"/>
                <a:ea typeface="Calibri"/>
                <a:cs typeface="Calibri" panose="020F0502020204030204" pitchFamily="34" charset="0"/>
                <a:sym typeface="Calibri"/>
              </a:rPr>
              <a:t>Contiene tablas normalizadas y archivos usados para</a:t>
            </a:r>
            <a:endParaRPr lang="es-ES_tradnl" sz="1600">
              <a:latin typeface="Calibri" panose="020F0502020204030204" pitchFamily="34" charset="0"/>
              <a:cs typeface="Calibri" panose="020F0502020204030204" pitchFamily="34" charset="0"/>
            </a:endParaRPr>
          </a:p>
          <a:p>
            <a:pPr marL="361950" marR="0" lvl="1" indent="-180975" rtl="0">
              <a:spcBef>
                <a:spcPts val="0"/>
              </a:spcBef>
              <a:spcAft>
                <a:spcPts val="0"/>
              </a:spcAft>
              <a:buClr>
                <a:srgbClr val="262626"/>
              </a:buClr>
              <a:buSzPts val="1600"/>
              <a:buFont typeface="Arial" panose="020B0604020202020204" pitchFamily="34" charset="0"/>
              <a:buChar char="•"/>
            </a:pPr>
            <a:r>
              <a:rPr lang="es-ES_tradnl" sz="1600" b="0" i="1" u="none" strike="noStrike" cap="none">
                <a:solidFill>
                  <a:srgbClr val="262626"/>
                </a:solidFill>
                <a:latin typeface="Calibri" panose="020F0502020204030204" pitchFamily="34" charset="0"/>
                <a:ea typeface="Calibri"/>
                <a:cs typeface="Calibri" panose="020F0502020204030204" pitchFamily="34" charset="0"/>
                <a:sym typeface="Calibri"/>
              </a:rPr>
              <a:t>Staging</a:t>
            </a:r>
            <a:r>
              <a:rPr lang="es-ES_tradnl" sz="1600" b="0" i="0" u="none" strike="noStrike" cap="none">
                <a:solidFill>
                  <a:srgbClr val="262626"/>
                </a:solidFill>
                <a:latin typeface="Calibri" panose="020F0502020204030204" pitchFamily="34" charset="0"/>
                <a:ea typeface="Calibri"/>
                <a:cs typeface="Calibri" panose="020F0502020204030204" pitchFamily="34" charset="0"/>
                <a:sym typeface="Calibri"/>
              </a:rPr>
              <a:t> e integridad de datos del Sistema OLTP.</a:t>
            </a:r>
            <a:endParaRPr lang="es-ES_tradnl" sz="1600">
              <a:latin typeface="Calibri" panose="020F0502020204030204" pitchFamily="34" charset="0"/>
              <a:cs typeface="Calibri" panose="020F0502020204030204" pitchFamily="34" charset="0"/>
            </a:endParaRPr>
          </a:p>
          <a:p>
            <a:pPr marL="361950" marR="0" lvl="1" indent="-180975" rtl="0">
              <a:spcBef>
                <a:spcPts val="0"/>
              </a:spcBef>
              <a:spcAft>
                <a:spcPts val="0"/>
              </a:spcAft>
              <a:buClr>
                <a:srgbClr val="262626"/>
              </a:buClr>
              <a:buSzPts val="1600"/>
              <a:buFont typeface="Arial" panose="020B0604020202020204" pitchFamily="34" charset="0"/>
              <a:buChar char="•"/>
            </a:pPr>
            <a:r>
              <a:rPr lang="es-ES_tradnl" sz="1600" b="0" i="0" u="none" strike="noStrike" cap="none">
                <a:solidFill>
                  <a:srgbClr val="262626"/>
                </a:solidFill>
                <a:latin typeface="Calibri" panose="020F0502020204030204" pitchFamily="34" charset="0"/>
                <a:ea typeface="Calibri"/>
                <a:cs typeface="Calibri" panose="020F0502020204030204" pitchFamily="34" charset="0"/>
                <a:sym typeface="Calibri"/>
              </a:rPr>
              <a:t>Validación.</a:t>
            </a:r>
            <a:endParaRPr lang="es-ES_tradnl" sz="1600">
              <a:latin typeface="Calibri" panose="020F0502020204030204" pitchFamily="34" charset="0"/>
              <a:cs typeface="Calibri" panose="020F0502020204030204" pitchFamily="34" charset="0"/>
            </a:endParaRPr>
          </a:p>
          <a:p>
            <a:pPr marL="361950" marR="0" lvl="1" indent="-180975" rtl="0">
              <a:spcBef>
                <a:spcPts val="0"/>
              </a:spcBef>
              <a:spcAft>
                <a:spcPts val="0"/>
              </a:spcAft>
              <a:buClr>
                <a:srgbClr val="262626"/>
              </a:buClr>
              <a:buSzPts val="1600"/>
              <a:buFont typeface="Arial" panose="020B0604020202020204" pitchFamily="34" charset="0"/>
              <a:buChar char="•"/>
            </a:pPr>
            <a:r>
              <a:rPr lang="es-ES_tradnl" sz="1600" b="0" i="0" u="none" strike="noStrike" cap="none">
                <a:solidFill>
                  <a:srgbClr val="262626"/>
                </a:solidFill>
                <a:latin typeface="Calibri" panose="020F0502020204030204" pitchFamily="34" charset="0"/>
                <a:ea typeface="Calibri"/>
                <a:cs typeface="Calibri" panose="020F0502020204030204" pitchFamily="34" charset="0"/>
                <a:sym typeface="Calibri"/>
              </a:rPr>
              <a:t>Referencias cruzadas y búsquedas.</a:t>
            </a:r>
            <a:endParaRPr lang="es-ES_tradnl" sz="160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a:solidFill>
                  <a:srgbClr val="262626"/>
                </a:solidFill>
                <a:latin typeface="Calibri" panose="020F0502020204030204" pitchFamily="34" charset="0"/>
                <a:ea typeface="Calibri"/>
                <a:cs typeface="Calibri" panose="020F0502020204030204" pitchFamily="34" charset="0"/>
                <a:sym typeface="Calibri"/>
              </a:rPr>
              <a:t>En el staging area la data se puede volcar por lotes. Si se produjera una incidencia en uno de los lotes, solo tendríamos que repetir el volcado del lote en el que se produjo la incidencia.</a:t>
            </a:r>
            <a:endParaRPr lang="es-ES_tradnl" sz="160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a:solidFill>
                  <a:srgbClr val="262626"/>
                </a:solidFill>
                <a:latin typeface="Calibri" panose="020F0502020204030204" pitchFamily="34" charset="0"/>
                <a:ea typeface="Calibri"/>
                <a:cs typeface="Calibri" panose="020F0502020204030204" pitchFamily="34" charset="0"/>
                <a:sym typeface="Calibri"/>
              </a:rPr>
              <a:t>La data OLTP fluye a través del </a:t>
            </a:r>
            <a:r>
              <a:rPr lang="es-ES_tradnl" sz="1600" i="1">
                <a:solidFill>
                  <a:srgbClr val="262626"/>
                </a:solidFill>
                <a:latin typeface="Calibri" panose="020F0502020204030204" pitchFamily="34" charset="0"/>
                <a:ea typeface="Calibri"/>
                <a:cs typeface="Calibri" panose="020F0502020204030204" pitchFamily="34" charset="0"/>
                <a:sym typeface="Calibri"/>
              </a:rPr>
              <a:t>staging area</a:t>
            </a:r>
            <a:r>
              <a:rPr lang="es-ES_tradnl" sz="1600">
                <a:solidFill>
                  <a:srgbClr val="262626"/>
                </a:solidFill>
                <a:latin typeface="Calibri" panose="020F0502020204030204" pitchFamily="34" charset="0"/>
                <a:ea typeface="Calibri"/>
                <a:cs typeface="Calibri" panose="020F0502020204030204" pitchFamily="34" charset="0"/>
                <a:sym typeface="Calibri"/>
              </a:rPr>
              <a:t> y es eventualmente almacenada en el destino, que suele ser un esquema estrella (dimensional).</a:t>
            </a:r>
            <a:endParaRPr lang="es-ES_tradnl" sz="160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a:solidFill>
                  <a:srgbClr val="262626"/>
                </a:solidFill>
                <a:latin typeface="Calibri" panose="020F0502020204030204" pitchFamily="34" charset="0"/>
                <a:ea typeface="Calibri"/>
                <a:cs typeface="Calibri" panose="020F0502020204030204" pitchFamily="34" charset="0"/>
                <a:sym typeface="Calibri"/>
              </a:rPr>
              <a:t>El acceso a la data por parte de los usuarios de negocio está siempre direccionado a la base de datos dimensional. Los usuarios del negocio no deben acceder al staging area.</a:t>
            </a:r>
            <a:endParaRPr lang="es-ES_tradnl" sz="1600">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2A74BADE-E9FD-7909-0887-CD848647D6CE}"/>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STAGING AREA</a:t>
            </a:r>
            <a:r>
              <a:rPr lang="es-PE" sz="1000" dirty="0">
                <a:solidFill>
                  <a:schemeClr val="bg1">
                    <a:lumMod val="65000"/>
                  </a:schemeClr>
                </a:solidFill>
                <a:latin typeface="Calibri" charset="0"/>
                <a:cs typeface="Calibri"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9" name="Google Shape;79;p6"/>
          <p:cNvSpPr/>
          <p:nvPr/>
        </p:nvSpPr>
        <p:spPr>
          <a:xfrm>
            <a:off x="1680210" y="1520267"/>
            <a:ext cx="304800" cy="228600"/>
          </a:xfrm>
          <a:prstGeom prst="rect">
            <a:avLst/>
          </a:prstGeom>
          <a:solidFill>
            <a:srgbClr val="EE463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0" name="Google Shape;80;p6"/>
          <p:cNvSpPr/>
          <p:nvPr/>
        </p:nvSpPr>
        <p:spPr>
          <a:xfrm>
            <a:off x="19850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1" name="Google Shape;81;p6"/>
          <p:cNvSpPr/>
          <p:nvPr/>
        </p:nvSpPr>
        <p:spPr>
          <a:xfrm>
            <a:off x="22136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2" name="Google Shape;82;p6"/>
          <p:cNvSpPr/>
          <p:nvPr/>
        </p:nvSpPr>
        <p:spPr>
          <a:xfrm>
            <a:off x="24422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3" name="Google Shape;83;p6"/>
          <p:cNvSpPr/>
          <p:nvPr/>
        </p:nvSpPr>
        <p:spPr>
          <a:xfrm>
            <a:off x="26708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4" name="Google Shape;84;p6"/>
          <p:cNvSpPr/>
          <p:nvPr/>
        </p:nvSpPr>
        <p:spPr>
          <a:xfrm>
            <a:off x="28994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5" name="Google Shape;85;p6"/>
          <p:cNvSpPr/>
          <p:nvPr/>
        </p:nvSpPr>
        <p:spPr>
          <a:xfrm>
            <a:off x="31280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6" name="Google Shape;86;p6"/>
          <p:cNvSpPr/>
          <p:nvPr/>
        </p:nvSpPr>
        <p:spPr>
          <a:xfrm>
            <a:off x="5795010" y="1520267"/>
            <a:ext cx="304800" cy="2286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7" name="Google Shape;87;p6"/>
          <p:cNvSpPr/>
          <p:nvPr/>
        </p:nvSpPr>
        <p:spPr>
          <a:xfrm>
            <a:off x="60998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8" name="Google Shape;88;p6"/>
          <p:cNvSpPr/>
          <p:nvPr/>
        </p:nvSpPr>
        <p:spPr>
          <a:xfrm>
            <a:off x="63284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89" name="Google Shape;89;p6"/>
          <p:cNvSpPr/>
          <p:nvPr/>
        </p:nvSpPr>
        <p:spPr>
          <a:xfrm>
            <a:off x="6557010" y="1520267"/>
            <a:ext cx="4572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90" name="Google Shape;90;p6"/>
          <p:cNvSpPr/>
          <p:nvPr/>
        </p:nvSpPr>
        <p:spPr>
          <a:xfrm>
            <a:off x="70142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91" name="Google Shape;91;p6"/>
          <p:cNvSpPr/>
          <p:nvPr/>
        </p:nvSpPr>
        <p:spPr>
          <a:xfrm>
            <a:off x="7242810" y="1520267"/>
            <a:ext cx="3810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92" name="Google Shape;92;p6"/>
          <p:cNvSpPr/>
          <p:nvPr/>
        </p:nvSpPr>
        <p:spPr>
          <a:xfrm>
            <a:off x="7623810" y="152026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 </a:t>
            </a:r>
            <a:endParaRPr/>
          </a:p>
        </p:txBody>
      </p:sp>
      <p:sp>
        <p:nvSpPr>
          <p:cNvPr id="96" name="Google Shape;96;p6"/>
          <p:cNvSpPr txBox="1"/>
          <p:nvPr/>
        </p:nvSpPr>
        <p:spPr>
          <a:xfrm>
            <a:off x="730155" y="2204578"/>
            <a:ext cx="1779461"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a:latin typeface="Calibri" panose="020F0502020204030204" pitchFamily="34" charset="0"/>
                <a:ea typeface="Quattrocento Sans"/>
                <a:cs typeface="Calibri" panose="020F0502020204030204" pitchFamily="34" charset="0"/>
                <a:sym typeface="Quattrocento Sans"/>
              </a:rPr>
              <a:t>Llave de producción</a:t>
            </a:r>
          </a:p>
        </p:txBody>
      </p:sp>
      <p:sp>
        <p:nvSpPr>
          <p:cNvPr id="97" name="Google Shape;97;p6"/>
          <p:cNvSpPr txBox="1"/>
          <p:nvPr/>
        </p:nvSpPr>
        <p:spPr>
          <a:xfrm>
            <a:off x="4606700" y="2371023"/>
            <a:ext cx="1478097"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a:latin typeface="Calibri" panose="020F0502020204030204" pitchFamily="34" charset="0"/>
                <a:ea typeface="Quattrocento Sans"/>
                <a:cs typeface="Calibri" panose="020F0502020204030204" pitchFamily="34" charset="0"/>
                <a:sym typeface="Quattrocento Sans"/>
              </a:rPr>
              <a:t>Llave subrogada</a:t>
            </a:r>
          </a:p>
        </p:txBody>
      </p:sp>
      <p:sp>
        <p:nvSpPr>
          <p:cNvPr id="98" name="Google Shape;98;p6"/>
          <p:cNvSpPr/>
          <p:nvPr/>
        </p:nvSpPr>
        <p:spPr>
          <a:xfrm rot="10800000" flipH="1">
            <a:off x="3813810" y="31204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6"/>
          <p:cNvSpPr/>
          <p:nvPr/>
        </p:nvSpPr>
        <p:spPr>
          <a:xfrm rot="10800000" flipH="1">
            <a:off x="4271010" y="31204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p6"/>
          <p:cNvSpPr/>
          <p:nvPr/>
        </p:nvSpPr>
        <p:spPr>
          <a:xfrm rot="10800000" flipH="1">
            <a:off x="3813810" y="32728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6"/>
          <p:cNvSpPr/>
          <p:nvPr/>
        </p:nvSpPr>
        <p:spPr>
          <a:xfrm rot="10800000" flipH="1">
            <a:off x="4271010" y="32728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6"/>
          <p:cNvSpPr/>
          <p:nvPr/>
        </p:nvSpPr>
        <p:spPr>
          <a:xfrm rot="10800000" flipH="1">
            <a:off x="3813810" y="34252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6"/>
          <p:cNvSpPr/>
          <p:nvPr/>
        </p:nvSpPr>
        <p:spPr>
          <a:xfrm rot="10800000" flipH="1">
            <a:off x="4271010" y="34252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6"/>
          <p:cNvSpPr/>
          <p:nvPr/>
        </p:nvSpPr>
        <p:spPr>
          <a:xfrm rot="10800000" flipH="1">
            <a:off x="3813810" y="35776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6"/>
          <p:cNvSpPr/>
          <p:nvPr/>
        </p:nvSpPr>
        <p:spPr>
          <a:xfrm rot="10800000" flipH="1">
            <a:off x="4271010" y="35776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6"/>
          <p:cNvSpPr/>
          <p:nvPr/>
        </p:nvSpPr>
        <p:spPr>
          <a:xfrm rot="10800000" flipH="1">
            <a:off x="3813810" y="37300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6"/>
          <p:cNvSpPr/>
          <p:nvPr/>
        </p:nvSpPr>
        <p:spPr>
          <a:xfrm rot="10800000" flipH="1">
            <a:off x="4271010" y="37300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6"/>
          <p:cNvSpPr/>
          <p:nvPr/>
        </p:nvSpPr>
        <p:spPr>
          <a:xfrm rot="10800000" flipH="1">
            <a:off x="3813810" y="38824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6"/>
          <p:cNvSpPr/>
          <p:nvPr/>
        </p:nvSpPr>
        <p:spPr>
          <a:xfrm rot="10800000" flipH="1">
            <a:off x="4271010" y="388246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6"/>
          <p:cNvSpPr txBox="1"/>
          <p:nvPr/>
        </p:nvSpPr>
        <p:spPr>
          <a:xfrm>
            <a:off x="3604260" y="2737364"/>
            <a:ext cx="761747" cy="3693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s-ES_tradnl" sz="900">
                <a:latin typeface="Calibri" panose="020F0502020204030204" pitchFamily="34" charset="0"/>
                <a:ea typeface="Arial"/>
                <a:cs typeface="Calibri" panose="020F0502020204030204" pitchFamily="34" charset="0"/>
                <a:sym typeface="Arial"/>
              </a:rPr>
              <a:t>Llave de</a:t>
            </a:r>
            <a:endParaRPr lang="es-ES_tradn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s-ES_tradnl" sz="900">
                <a:latin typeface="Calibri" panose="020F0502020204030204" pitchFamily="34" charset="0"/>
                <a:ea typeface="Arial"/>
                <a:cs typeface="Calibri" panose="020F0502020204030204" pitchFamily="34" charset="0"/>
                <a:sym typeface="Arial"/>
              </a:rPr>
              <a:t>Producción</a:t>
            </a:r>
          </a:p>
        </p:txBody>
      </p:sp>
      <p:sp>
        <p:nvSpPr>
          <p:cNvPr id="111" name="Google Shape;111;p6"/>
          <p:cNvSpPr txBox="1"/>
          <p:nvPr/>
        </p:nvSpPr>
        <p:spPr>
          <a:xfrm>
            <a:off x="4347210" y="2737364"/>
            <a:ext cx="729687" cy="3693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s-ES_tradnl" sz="900">
                <a:latin typeface="Calibri" panose="020F0502020204030204" pitchFamily="34" charset="0"/>
                <a:ea typeface="Arial"/>
                <a:cs typeface="Calibri" panose="020F0502020204030204" pitchFamily="34" charset="0"/>
                <a:sym typeface="Arial"/>
              </a:rPr>
              <a:t>Llave</a:t>
            </a:r>
          </a:p>
          <a:p>
            <a:pPr marL="0" marR="0" lvl="0" indent="0" algn="l" rtl="0">
              <a:spcBef>
                <a:spcPts val="0"/>
              </a:spcBef>
              <a:spcAft>
                <a:spcPts val="0"/>
              </a:spcAft>
              <a:buNone/>
            </a:pPr>
            <a:r>
              <a:rPr lang="es-ES_tradnl" sz="900">
                <a:latin typeface="Calibri" panose="020F0502020204030204" pitchFamily="34" charset="0"/>
                <a:ea typeface="Arial"/>
                <a:cs typeface="Calibri" panose="020F0502020204030204" pitchFamily="34" charset="0"/>
                <a:sym typeface="Arial"/>
              </a:rPr>
              <a:t>subrogada</a:t>
            </a:r>
          </a:p>
        </p:txBody>
      </p:sp>
      <p:sp>
        <p:nvSpPr>
          <p:cNvPr id="112" name="Google Shape;112;p6"/>
          <p:cNvSpPr txBox="1"/>
          <p:nvPr/>
        </p:nvSpPr>
        <p:spPr>
          <a:xfrm>
            <a:off x="3683688" y="4129056"/>
            <a:ext cx="1189108"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a:latin typeface="Calibri" panose="020F0502020204030204" pitchFamily="34" charset="0"/>
                <a:ea typeface="Quattrocento Sans"/>
                <a:cs typeface="Calibri" panose="020F0502020204030204" pitchFamily="34" charset="0"/>
                <a:sym typeface="Quattrocento Sans"/>
              </a:rPr>
              <a:t>Tabla lookup</a:t>
            </a:r>
            <a:endParaRPr lang="es-ES_tradnl">
              <a:latin typeface="Calibri" panose="020F0502020204030204" pitchFamily="34" charset="0"/>
              <a:cs typeface="Calibri" panose="020F0502020204030204" pitchFamily="34" charset="0"/>
            </a:endParaRPr>
          </a:p>
        </p:txBody>
      </p:sp>
      <p:cxnSp>
        <p:nvCxnSpPr>
          <p:cNvPr id="113" name="Google Shape;113;p6"/>
          <p:cNvCxnSpPr/>
          <p:nvPr/>
        </p:nvCxnSpPr>
        <p:spPr>
          <a:xfrm>
            <a:off x="4347210" y="1977467"/>
            <a:ext cx="0" cy="914400"/>
          </a:xfrm>
          <a:prstGeom prst="straightConnector1">
            <a:avLst/>
          </a:prstGeom>
          <a:noFill/>
          <a:ln w="12700" cap="flat" cmpd="sng">
            <a:solidFill>
              <a:schemeClr val="dk1"/>
            </a:solidFill>
            <a:prstDash val="solid"/>
            <a:round/>
            <a:headEnd type="triangle" w="med" len="med"/>
            <a:tailEnd type="none" w="med" len="med"/>
          </a:ln>
        </p:spPr>
      </p:cxnSp>
      <p:sp>
        <p:nvSpPr>
          <p:cNvPr id="114" name="Google Shape;114;p6"/>
          <p:cNvSpPr/>
          <p:nvPr/>
        </p:nvSpPr>
        <p:spPr>
          <a:xfrm>
            <a:off x="1146810" y="1825067"/>
            <a:ext cx="685800" cy="304800"/>
          </a:xfrm>
          <a:custGeom>
            <a:avLst/>
            <a:gdLst/>
            <a:ahLst/>
            <a:cxnLst/>
            <a:rect l="l" t="t" r="r" b="b"/>
            <a:pathLst>
              <a:path w="432" h="192" extrusionOk="0">
                <a:moveTo>
                  <a:pt x="0" y="192"/>
                </a:moveTo>
                <a:cubicBezTo>
                  <a:pt x="56" y="148"/>
                  <a:pt x="112" y="104"/>
                  <a:pt x="144" y="96"/>
                </a:cubicBezTo>
                <a:cubicBezTo>
                  <a:pt x="176" y="88"/>
                  <a:pt x="144" y="160"/>
                  <a:pt x="192" y="144"/>
                </a:cubicBezTo>
                <a:cubicBezTo>
                  <a:pt x="240" y="128"/>
                  <a:pt x="336" y="64"/>
                  <a:pt x="432"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6"/>
          <p:cNvSpPr/>
          <p:nvPr/>
        </p:nvSpPr>
        <p:spPr>
          <a:xfrm>
            <a:off x="5337810" y="1825067"/>
            <a:ext cx="609600" cy="533400"/>
          </a:xfrm>
          <a:custGeom>
            <a:avLst/>
            <a:gdLst/>
            <a:ahLst/>
            <a:cxnLst/>
            <a:rect l="l" t="t" r="r" b="b"/>
            <a:pathLst>
              <a:path w="384" h="336" extrusionOk="0">
                <a:moveTo>
                  <a:pt x="0" y="336"/>
                </a:moveTo>
                <a:cubicBezTo>
                  <a:pt x="28" y="232"/>
                  <a:pt x="56" y="128"/>
                  <a:pt x="96" y="96"/>
                </a:cubicBezTo>
                <a:cubicBezTo>
                  <a:pt x="136" y="64"/>
                  <a:pt x="192" y="160"/>
                  <a:pt x="240" y="144"/>
                </a:cubicBezTo>
                <a:cubicBezTo>
                  <a:pt x="288" y="128"/>
                  <a:pt x="336" y="64"/>
                  <a:pt x="384"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 name="Google Shape;116;p6"/>
          <p:cNvSpPr txBox="1"/>
          <p:nvPr/>
        </p:nvSpPr>
        <p:spPr>
          <a:xfrm>
            <a:off x="5705547" y="932795"/>
            <a:ext cx="2628900" cy="30777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Quattrocento Sans"/>
                <a:cs typeface="Calibri" panose="020F0502020204030204" pitchFamily="34" charset="0"/>
                <a:sym typeface="Quattrocento Sans"/>
              </a:rPr>
              <a:t>Registros de la dimensión</a:t>
            </a:r>
          </a:p>
        </p:txBody>
      </p:sp>
      <p:sp>
        <p:nvSpPr>
          <p:cNvPr id="117" name="Google Shape;117;p6"/>
          <p:cNvSpPr txBox="1"/>
          <p:nvPr/>
        </p:nvSpPr>
        <p:spPr>
          <a:xfrm>
            <a:off x="5947410" y="2916691"/>
            <a:ext cx="2514600" cy="116955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b="1">
                <a:solidFill>
                  <a:schemeClr val="dk1"/>
                </a:solidFill>
                <a:latin typeface="Quattrocento Sans"/>
                <a:ea typeface="Quattrocento Sans"/>
                <a:cs typeface="Quattrocento Sans"/>
                <a:sym typeface="Quattrocento Sans"/>
              </a:rPr>
              <a:t>Las llaves subrogadas son creadas antes de cargar los registros a la tabla de hechos y las dimensiones en el data warehouse. </a:t>
            </a:r>
            <a:endParaRPr/>
          </a:p>
        </p:txBody>
      </p:sp>
      <p:sp>
        <p:nvSpPr>
          <p:cNvPr id="119" name="Google Shape;119;p6"/>
          <p:cNvSpPr txBox="1"/>
          <p:nvPr/>
        </p:nvSpPr>
        <p:spPr>
          <a:xfrm>
            <a:off x="520581" y="912813"/>
            <a:ext cx="2215158"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ASIGNACIÓN DE LLAVES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6ACD82F9-9FFF-6314-2067-4BB875B665F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STAGING AREA</a:t>
            </a:r>
            <a:r>
              <a:rPr lang="es-PE" sz="1000" dirty="0">
                <a:solidFill>
                  <a:schemeClr val="bg1">
                    <a:lumMod val="65000"/>
                  </a:schemeClr>
                </a:solidFill>
                <a:latin typeface="Calibri" charset="0"/>
                <a:cs typeface="Calibri" charset="0"/>
              </a:rPr>
              <a:t> </a:t>
            </a:r>
          </a:p>
        </p:txBody>
      </p:sp>
      <p:sp>
        <p:nvSpPr>
          <p:cNvPr id="3" name="Google Shape;1407;p22">
            <a:extLst>
              <a:ext uri="{FF2B5EF4-FFF2-40B4-BE49-F238E27FC236}">
                <a16:creationId xmlns:a16="http://schemas.microsoft.com/office/drawing/2014/main" id="{6B2CBE9E-8FB0-6BA4-FCD3-DC37453A08AA}"/>
              </a:ext>
            </a:extLst>
          </p:cNvPr>
          <p:cNvSpPr/>
          <p:nvPr/>
        </p:nvSpPr>
        <p:spPr>
          <a:xfrm>
            <a:off x="3966210" y="1306907"/>
            <a:ext cx="1219200" cy="533400"/>
          </a:xfrm>
          <a:prstGeom prst="roundRect">
            <a:avLst>
              <a:gd name="adj" fmla="val 16667"/>
            </a:avLst>
          </a:prstGeom>
          <a:noFill/>
          <a:ln w="1270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latin typeface="Calibri" panose="020F0502020204030204" pitchFamily="34" charset="0"/>
                <a:ea typeface="Quattrocento Sans"/>
                <a:cs typeface="Calibri" panose="020F0502020204030204" pitchFamily="34" charset="0"/>
                <a:sym typeface="Quattrocento Sans"/>
              </a:rPr>
              <a:t>transformación</a:t>
            </a:r>
            <a:endParaRPr sz="1200" b="1">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200" b="1">
                <a:latin typeface="Calibri" panose="020F0502020204030204" pitchFamily="34" charset="0"/>
                <a:ea typeface="Quattrocento Sans"/>
                <a:cs typeface="Calibri" panose="020F0502020204030204" pitchFamily="34" charset="0"/>
                <a:sym typeface="Quattrocento Sans"/>
              </a:rPr>
              <a:t>de llave</a:t>
            </a:r>
            <a:endParaRPr sz="1200" b="1">
              <a:latin typeface="Calibri" panose="020F0502020204030204" pitchFamily="34" charset="0"/>
              <a:ea typeface="Quattrocento Sans"/>
              <a:cs typeface="Calibri" panose="020F0502020204030204" pitchFamily="34" charset="0"/>
              <a:sym typeface="Quattrocento Sans"/>
            </a:endParaRPr>
          </a:p>
        </p:txBody>
      </p:sp>
      <p:sp>
        <p:nvSpPr>
          <p:cNvPr id="4" name="Google Shape;1408;p22">
            <a:extLst>
              <a:ext uri="{FF2B5EF4-FFF2-40B4-BE49-F238E27FC236}">
                <a16:creationId xmlns:a16="http://schemas.microsoft.com/office/drawing/2014/main" id="{C62B27F9-E05D-75F4-9EF0-D56CFD68E370}"/>
              </a:ext>
            </a:extLst>
          </p:cNvPr>
          <p:cNvSpPr/>
          <p:nvPr/>
        </p:nvSpPr>
        <p:spPr>
          <a:xfrm flipH="1">
            <a:off x="3432810" y="1459307"/>
            <a:ext cx="436563" cy="228600"/>
          </a:xfrm>
          <a:prstGeom prst="leftArrow">
            <a:avLst>
              <a:gd name="adj1" fmla="val 50000"/>
              <a:gd name="adj2" fmla="val 47743"/>
            </a:avLst>
          </a:prstGeom>
          <a:gradFill>
            <a:gsLst>
              <a:gs pos="100000">
                <a:srgbClr val="EE4639"/>
              </a:gs>
              <a:gs pos="0">
                <a:srgbClr val="00B1C2"/>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5" name="Google Shape;1409;p22">
            <a:extLst>
              <a:ext uri="{FF2B5EF4-FFF2-40B4-BE49-F238E27FC236}">
                <a16:creationId xmlns:a16="http://schemas.microsoft.com/office/drawing/2014/main" id="{F8D5B4B3-55D9-B494-A2C1-3344D8A6FFF3}"/>
              </a:ext>
            </a:extLst>
          </p:cNvPr>
          <p:cNvSpPr/>
          <p:nvPr/>
        </p:nvSpPr>
        <p:spPr>
          <a:xfrm flipH="1">
            <a:off x="5261610" y="1459307"/>
            <a:ext cx="436563" cy="228600"/>
          </a:xfrm>
          <a:prstGeom prst="leftArrow">
            <a:avLst>
              <a:gd name="adj1" fmla="val 50000"/>
              <a:gd name="adj2" fmla="val 47743"/>
            </a:avLst>
          </a:prstGeom>
          <a:gradFill>
            <a:gsLst>
              <a:gs pos="100000">
                <a:srgbClr val="EE4639"/>
              </a:gs>
              <a:gs pos="0">
                <a:srgbClr val="00B1C2"/>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6" name="Rectángulo redondeado 5">
            <a:extLst>
              <a:ext uri="{FF2B5EF4-FFF2-40B4-BE49-F238E27FC236}">
                <a16:creationId xmlns:a16="http://schemas.microsoft.com/office/drawing/2014/main" id="{1983AE4D-5B79-E2C4-C417-013E3A03301B}"/>
              </a:ext>
            </a:extLst>
          </p:cNvPr>
          <p:cNvSpPr/>
          <p:nvPr/>
        </p:nvSpPr>
        <p:spPr>
          <a:xfrm>
            <a:off x="1515977" y="4536011"/>
            <a:ext cx="6112046" cy="614474"/>
          </a:xfrm>
          <a:prstGeom prst="roundRect">
            <a:avLst>
              <a:gd name="adj" fmla="val 16978"/>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rtl="0">
              <a:spcBef>
                <a:spcPts val="0"/>
              </a:spcBef>
              <a:spcAft>
                <a:spcPts val="0"/>
              </a:spcAft>
              <a:buNone/>
            </a:pPr>
            <a:r>
              <a:rPr lang="es-ES_tradnl" sz="1400" b="1" dirty="0">
                <a:solidFill>
                  <a:schemeClr val="tx1"/>
                </a:solidFill>
                <a:latin typeface="Calibri"/>
                <a:ea typeface="Calibri"/>
                <a:cs typeface="Calibri"/>
                <a:sym typeface="Calibri"/>
              </a:rPr>
              <a:t>Clave subrogada: </a:t>
            </a:r>
            <a:r>
              <a:rPr lang="es-ES_tradnl" sz="1400" dirty="0">
                <a:solidFill>
                  <a:schemeClr val="tx1"/>
                </a:solidFill>
                <a:latin typeface="Calibri"/>
                <a:ea typeface="Calibri"/>
                <a:cs typeface="Calibri"/>
                <a:sym typeface="Calibri"/>
              </a:rPr>
              <a:t>identificador único en una tabla, y que no tiene ningún significado para el negocio. Su objetivo es diferenciar a un registro de los otros.</a:t>
            </a:r>
            <a:endParaRPr lang="es-ES_tradnl" sz="14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cxnSp>
        <p:nvCxnSpPr>
          <p:cNvPr id="151" name="Google Shape;151;p7"/>
          <p:cNvCxnSpPr/>
          <p:nvPr/>
        </p:nvCxnSpPr>
        <p:spPr>
          <a:xfrm>
            <a:off x="2209800" y="1577340"/>
            <a:ext cx="381000" cy="0"/>
          </a:xfrm>
          <a:prstGeom prst="straightConnector1">
            <a:avLst/>
          </a:prstGeom>
          <a:noFill/>
          <a:ln w="12700" cap="flat" cmpd="sng">
            <a:solidFill>
              <a:schemeClr val="dk1"/>
            </a:solidFill>
            <a:prstDash val="solid"/>
            <a:round/>
            <a:headEnd type="none" w="med" len="med"/>
            <a:tailEnd type="none" w="med" len="med"/>
          </a:ln>
        </p:spPr>
      </p:cxnSp>
      <p:cxnSp>
        <p:nvCxnSpPr>
          <p:cNvPr id="152" name="Google Shape;152;p7"/>
          <p:cNvCxnSpPr/>
          <p:nvPr/>
        </p:nvCxnSpPr>
        <p:spPr>
          <a:xfrm>
            <a:off x="2209800" y="1501140"/>
            <a:ext cx="152400" cy="76200"/>
          </a:xfrm>
          <a:prstGeom prst="straightConnector1">
            <a:avLst/>
          </a:prstGeom>
          <a:noFill/>
          <a:ln w="12700" cap="flat" cmpd="sng">
            <a:solidFill>
              <a:schemeClr val="dk1"/>
            </a:solidFill>
            <a:prstDash val="solid"/>
            <a:round/>
            <a:headEnd type="none" w="med" len="med"/>
            <a:tailEnd type="none" w="med" len="med"/>
          </a:ln>
        </p:spPr>
      </p:cxnSp>
      <p:cxnSp>
        <p:nvCxnSpPr>
          <p:cNvPr id="153" name="Google Shape;153;p7"/>
          <p:cNvCxnSpPr/>
          <p:nvPr/>
        </p:nvCxnSpPr>
        <p:spPr>
          <a:xfrm rot="10800000" flipH="1">
            <a:off x="2209800" y="1577340"/>
            <a:ext cx="152400" cy="76200"/>
          </a:xfrm>
          <a:prstGeom prst="straightConnector1">
            <a:avLst/>
          </a:prstGeom>
          <a:noFill/>
          <a:ln w="12700" cap="flat" cmpd="sng">
            <a:solidFill>
              <a:schemeClr val="dk1"/>
            </a:solidFill>
            <a:prstDash val="solid"/>
            <a:round/>
            <a:headEnd type="none" w="med" len="med"/>
            <a:tailEnd type="none" w="med" len="med"/>
          </a:ln>
        </p:spPr>
      </p:cxnSp>
      <p:sp>
        <p:nvSpPr>
          <p:cNvPr id="154" name="Google Shape;154;p7"/>
          <p:cNvSpPr/>
          <p:nvPr/>
        </p:nvSpPr>
        <p:spPr>
          <a:xfrm>
            <a:off x="5181600" y="11963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55" name="Google Shape;155;p7"/>
          <p:cNvSpPr/>
          <p:nvPr/>
        </p:nvSpPr>
        <p:spPr>
          <a:xfrm>
            <a:off x="5334000" y="11963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56" name="Google Shape;156;p7"/>
          <p:cNvSpPr/>
          <p:nvPr/>
        </p:nvSpPr>
        <p:spPr>
          <a:xfrm>
            <a:off x="5486400" y="11963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57" name="Google Shape;157;p7"/>
          <p:cNvSpPr/>
          <p:nvPr/>
        </p:nvSpPr>
        <p:spPr>
          <a:xfrm>
            <a:off x="5638800" y="11963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58" name="Google Shape;158;p7"/>
          <p:cNvSpPr/>
          <p:nvPr/>
        </p:nvSpPr>
        <p:spPr>
          <a:xfrm>
            <a:off x="5181600" y="13487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59" name="Google Shape;159;p7"/>
          <p:cNvSpPr/>
          <p:nvPr/>
        </p:nvSpPr>
        <p:spPr>
          <a:xfrm>
            <a:off x="5334000" y="13487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0" name="Google Shape;160;p7"/>
          <p:cNvSpPr/>
          <p:nvPr/>
        </p:nvSpPr>
        <p:spPr>
          <a:xfrm>
            <a:off x="5486400" y="13487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1" name="Google Shape;161;p7"/>
          <p:cNvSpPr/>
          <p:nvPr/>
        </p:nvSpPr>
        <p:spPr>
          <a:xfrm>
            <a:off x="5638800" y="13487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2" name="Google Shape;162;p7"/>
          <p:cNvSpPr/>
          <p:nvPr/>
        </p:nvSpPr>
        <p:spPr>
          <a:xfrm>
            <a:off x="5181600" y="15011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3" name="Google Shape;163;p7"/>
          <p:cNvSpPr/>
          <p:nvPr/>
        </p:nvSpPr>
        <p:spPr>
          <a:xfrm>
            <a:off x="5334000" y="15011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4" name="Google Shape;164;p7"/>
          <p:cNvSpPr/>
          <p:nvPr/>
        </p:nvSpPr>
        <p:spPr>
          <a:xfrm>
            <a:off x="5486400" y="15011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5" name="Google Shape;165;p7"/>
          <p:cNvSpPr/>
          <p:nvPr/>
        </p:nvSpPr>
        <p:spPr>
          <a:xfrm>
            <a:off x="5638800" y="15011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6" name="Google Shape;166;p7"/>
          <p:cNvSpPr/>
          <p:nvPr/>
        </p:nvSpPr>
        <p:spPr>
          <a:xfrm>
            <a:off x="5181600" y="16535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7" name="Google Shape;167;p7"/>
          <p:cNvSpPr/>
          <p:nvPr/>
        </p:nvSpPr>
        <p:spPr>
          <a:xfrm>
            <a:off x="5334000" y="16535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8" name="Google Shape;168;p7"/>
          <p:cNvSpPr/>
          <p:nvPr/>
        </p:nvSpPr>
        <p:spPr>
          <a:xfrm>
            <a:off x="5486400" y="16535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69" name="Google Shape;169;p7"/>
          <p:cNvSpPr/>
          <p:nvPr/>
        </p:nvSpPr>
        <p:spPr>
          <a:xfrm>
            <a:off x="5638800" y="16535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0" name="Google Shape;170;p7"/>
          <p:cNvSpPr/>
          <p:nvPr/>
        </p:nvSpPr>
        <p:spPr>
          <a:xfrm>
            <a:off x="5181600" y="18059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1" name="Google Shape;171;p7"/>
          <p:cNvSpPr/>
          <p:nvPr/>
        </p:nvSpPr>
        <p:spPr>
          <a:xfrm>
            <a:off x="5334000" y="18059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2" name="Google Shape;172;p7"/>
          <p:cNvSpPr/>
          <p:nvPr/>
        </p:nvSpPr>
        <p:spPr>
          <a:xfrm>
            <a:off x="5486400" y="18059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3" name="Google Shape;173;p7"/>
          <p:cNvSpPr/>
          <p:nvPr/>
        </p:nvSpPr>
        <p:spPr>
          <a:xfrm>
            <a:off x="5638800" y="18059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4" name="Google Shape;174;p7"/>
          <p:cNvSpPr/>
          <p:nvPr/>
        </p:nvSpPr>
        <p:spPr>
          <a:xfrm>
            <a:off x="5181600" y="19583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5" name="Google Shape;175;p7"/>
          <p:cNvSpPr/>
          <p:nvPr/>
        </p:nvSpPr>
        <p:spPr>
          <a:xfrm>
            <a:off x="5334000" y="19583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6" name="Google Shape;176;p7"/>
          <p:cNvSpPr/>
          <p:nvPr/>
        </p:nvSpPr>
        <p:spPr>
          <a:xfrm>
            <a:off x="5486400" y="19583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7" name="Google Shape;177;p7"/>
          <p:cNvSpPr/>
          <p:nvPr/>
        </p:nvSpPr>
        <p:spPr>
          <a:xfrm>
            <a:off x="5638800" y="19583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8" name="Google Shape;178;p7"/>
          <p:cNvSpPr/>
          <p:nvPr/>
        </p:nvSpPr>
        <p:spPr>
          <a:xfrm>
            <a:off x="5181600" y="21107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9" name="Google Shape;179;p7"/>
          <p:cNvSpPr/>
          <p:nvPr/>
        </p:nvSpPr>
        <p:spPr>
          <a:xfrm>
            <a:off x="5334000" y="21107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0" name="Google Shape;180;p7"/>
          <p:cNvSpPr/>
          <p:nvPr/>
        </p:nvSpPr>
        <p:spPr>
          <a:xfrm>
            <a:off x="5486400" y="21107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1" name="Google Shape;181;p7"/>
          <p:cNvSpPr/>
          <p:nvPr/>
        </p:nvSpPr>
        <p:spPr>
          <a:xfrm>
            <a:off x="5638800" y="21107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2" name="Google Shape;182;p7"/>
          <p:cNvSpPr/>
          <p:nvPr/>
        </p:nvSpPr>
        <p:spPr>
          <a:xfrm>
            <a:off x="5181600" y="22631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3" name="Google Shape;183;p7"/>
          <p:cNvSpPr/>
          <p:nvPr/>
        </p:nvSpPr>
        <p:spPr>
          <a:xfrm>
            <a:off x="5334000" y="22631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4" name="Google Shape;184;p7"/>
          <p:cNvSpPr/>
          <p:nvPr/>
        </p:nvSpPr>
        <p:spPr>
          <a:xfrm>
            <a:off x="5486400" y="22631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5" name="Google Shape;185;p7"/>
          <p:cNvSpPr/>
          <p:nvPr/>
        </p:nvSpPr>
        <p:spPr>
          <a:xfrm>
            <a:off x="5638800" y="22631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6" name="Google Shape;186;p7"/>
          <p:cNvSpPr/>
          <p:nvPr/>
        </p:nvSpPr>
        <p:spPr>
          <a:xfrm>
            <a:off x="5181600" y="24155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7" name="Google Shape;187;p7"/>
          <p:cNvSpPr/>
          <p:nvPr/>
        </p:nvSpPr>
        <p:spPr>
          <a:xfrm>
            <a:off x="5334000" y="24155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8" name="Google Shape;188;p7"/>
          <p:cNvSpPr/>
          <p:nvPr/>
        </p:nvSpPr>
        <p:spPr>
          <a:xfrm>
            <a:off x="5486400" y="24155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9" name="Google Shape;189;p7"/>
          <p:cNvSpPr/>
          <p:nvPr/>
        </p:nvSpPr>
        <p:spPr>
          <a:xfrm>
            <a:off x="5638800" y="24155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90" name="Google Shape;190;p7"/>
          <p:cNvSpPr/>
          <p:nvPr/>
        </p:nvSpPr>
        <p:spPr>
          <a:xfrm>
            <a:off x="5181600" y="25679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91" name="Google Shape;191;p7"/>
          <p:cNvSpPr/>
          <p:nvPr/>
        </p:nvSpPr>
        <p:spPr>
          <a:xfrm>
            <a:off x="5334000" y="25679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92" name="Google Shape;192;p7"/>
          <p:cNvSpPr/>
          <p:nvPr/>
        </p:nvSpPr>
        <p:spPr>
          <a:xfrm>
            <a:off x="5486400" y="2567940"/>
            <a:ext cx="1524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93" name="Google Shape;193;p7"/>
          <p:cNvSpPr/>
          <p:nvPr/>
        </p:nvSpPr>
        <p:spPr>
          <a:xfrm>
            <a:off x="5638800" y="2567940"/>
            <a:ext cx="1524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94" name="Google Shape;194;p7"/>
          <p:cNvSpPr/>
          <p:nvPr/>
        </p:nvSpPr>
        <p:spPr>
          <a:xfrm>
            <a:off x="6172200" y="1196340"/>
            <a:ext cx="2286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5" name="Google Shape;195;p7"/>
          <p:cNvSpPr/>
          <p:nvPr/>
        </p:nvSpPr>
        <p:spPr>
          <a:xfrm>
            <a:off x="6400800" y="11963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6" name="Google Shape;196;p7"/>
          <p:cNvSpPr/>
          <p:nvPr/>
        </p:nvSpPr>
        <p:spPr>
          <a:xfrm>
            <a:off x="6629400" y="1196340"/>
            <a:ext cx="3810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7" name="Google Shape;197;p7"/>
          <p:cNvSpPr/>
          <p:nvPr/>
        </p:nvSpPr>
        <p:spPr>
          <a:xfrm>
            <a:off x="7010400" y="11963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1</a:t>
            </a:r>
            <a:endParaRPr/>
          </a:p>
        </p:txBody>
      </p:sp>
      <p:sp>
        <p:nvSpPr>
          <p:cNvPr id="198" name="Google Shape;198;p7"/>
          <p:cNvSpPr/>
          <p:nvPr/>
        </p:nvSpPr>
        <p:spPr>
          <a:xfrm>
            <a:off x="6172200" y="1348740"/>
            <a:ext cx="2286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9" name="Google Shape;199;p7"/>
          <p:cNvSpPr/>
          <p:nvPr/>
        </p:nvSpPr>
        <p:spPr>
          <a:xfrm>
            <a:off x="6400800" y="13487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0" name="Google Shape;200;p7"/>
          <p:cNvSpPr/>
          <p:nvPr/>
        </p:nvSpPr>
        <p:spPr>
          <a:xfrm>
            <a:off x="6629400" y="1348740"/>
            <a:ext cx="3810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1" name="Google Shape;201;p7"/>
          <p:cNvSpPr/>
          <p:nvPr/>
        </p:nvSpPr>
        <p:spPr>
          <a:xfrm>
            <a:off x="7010400" y="13487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2</a:t>
            </a:r>
            <a:endParaRPr/>
          </a:p>
        </p:txBody>
      </p:sp>
      <p:sp>
        <p:nvSpPr>
          <p:cNvPr id="202" name="Google Shape;202;p7"/>
          <p:cNvSpPr/>
          <p:nvPr/>
        </p:nvSpPr>
        <p:spPr>
          <a:xfrm>
            <a:off x="6172200" y="1501140"/>
            <a:ext cx="2286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3" name="Google Shape;203;p7"/>
          <p:cNvSpPr/>
          <p:nvPr/>
        </p:nvSpPr>
        <p:spPr>
          <a:xfrm>
            <a:off x="6400800" y="15011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4" name="Google Shape;204;p7"/>
          <p:cNvSpPr/>
          <p:nvPr/>
        </p:nvSpPr>
        <p:spPr>
          <a:xfrm>
            <a:off x="6629400" y="1501140"/>
            <a:ext cx="3810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5" name="Google Shape;205;p7"/>
          <p:cNvSpPr/>
          <p:nvPr/>
        </p:nvSpPr>
        <p:spPr>
          <a:xfrm>
            <a:off x="7010400" y="15011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3</a:t>
            </a:r>
            <a:endParaRPr/>
          </a:p>
        </p:txBody>
      </p:sp>
      <p:sp>
        <p:nvSpPr>
          <p:cNvPr id="206" name="Google Shape;206;p7"/>
          <p:cNvSpPr/>
          <p:nvPr/>
        </p:nvSpPr>
        <p:spPr>
          <a:xfrm>
            <a:off x="6172200" y="1653540"/>
            <a:ext cx="228600" cy="1524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7" name="Google Shape;207;p7"/>
          <p:cNvSpPr/>
          <p:nvPr/>
        </p:nvSpPr>
        <p:spPr>
          <a:xfrm>
            <a:off x="6400800" y="16535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8" name="Google Shape;208;p7"/>
          <p:cNvSpPr/>
          <p:nvPr/>
        </p:nvSpPr>
        <p:spPr>
          <a:xfrm>
            <a:off x="6629400" y="1653540"/>
            <a:ext cx="3810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09" name="Google Shape;209;p7"/>
          <p:cNvSpPr/>
          <p:nvPr/>
        </p:nvSpPr>
        <p:spPr>
          <a:xfrm>
            <a:off x="7010400" y="16535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4</a:t>
            </a:r>
            <a:endParaRPr/>
          </a:p>
        </p:txBody>
      </p:sp>
      <p:cxnSp>
        <p:nvCxnSpPr>
          <p:cNvPr id="210" name="Google Shape;210;p7"/>
          <p:cNvCxnSpPr/>
          <p:nvPr/>
        </p:nvCxnSpPr>
        <p:spPr>
          <a:xfrm>
            <a:off x="5791200" y="1348740"/>
            <a:ext cx="381000" cy="0"/>
          </a:xfrm>
          <a:prstGeom prst="straightConnector1">
            <a:avLst/>
          </a:prstGeom>
          <a:noFill/>
          <a:ln w="12700" cap="flat" cmpd="sng">
            <a:solidFill>
              <a:schemeClr val="dk1"/>
            </a:solidFill>
            <a:prstDash val="solid"/>
            <a:round/>
            <a:headEnd type="none" w="med" len="med"/>
            <a:tailEnd type="none" w="med" len="med"/>
          </a:ln>
        </p:spPr>
      </p:cxnSp>
      <p:cxnSp>
        <p:nvCxnSpPr>
          <p:cNvPr id="211" name="Google Shape;211;p7"/>
          <p:cNvCxnSpPr/>
          <p:nvPr/>
        </p:nvCxnSpPr>
        <p:spPr>
          <a:xfrm>
            <a:off x="5791200" y="1272540"/>
            <a:ext cx="152400" cy="76200"/>
          </a:xfrm>
          <a:prstGeom prst="straightConnector1">
            <a:avLst/>
          </a:prstGeom>
          <a:noFill/>
          <a:ln w="12700" cap="flat" cmpd="sng">
            <a:solidFill>
              <a:schemeClr val="dk1"/>
            </a:solidFill>
            <a:prstDash val="solid"/>
            <a:round/>
            <a:headEnd type="none" w="med" len="med"/>
            <a:tailEnd type="none" w="med" len="med"/>
          </a:ln>
        </p:spPr>
      </p:cxnSp>
      <p:cxnSp>
        <p:nvCxnSpPr>
          <p:cNvPr id="212" name="Google Shape;212;p7"/>
          <p:cNvCxnSpPr/>
          <p:nvPr/>
        </p:nvCxnSpPr>
        <p:spPr>
          <a:xfrm rot="10800000" flipH="1">
            <a:off x="5791200" y="1348740"/>
            <a:ext cx="152400" cy="76200"/>
          </a:xfrm>
          <a:prstGeom prst="straightConnector1">
            <a:avLst/>
          </a:prstGeom>
          <a:noFill/>
          <a:ln w="12700" cap="flat" cmpd="sng">
            <a:solidFill>
              <a:schemeClr val="dk1"/>
            </a:solidFill>
            <a:prstDash val="solid"/>
            <a:round/>
            <a:headEnd type="none" w="med" len="med"/>
            <a:tailEnd type="none" w="med" len="med"/>
          </a:ln>
        </p:spPr>
      </p:cxnSp>
      <p:sp>
        <p:nvSpPr>
          <p:cNvPr id="213" name="Google Shape;213;p7"/>
          <p:cNvSpPr/>
          <p:nvPr/>
        </p:nvSpPr>
        <p:spPr>
          <a:xfrm>
            <a:off x="7239000" y="11963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14" name="Google Shape;214;p7"/>
          <p:cNvSpPr/>
          <p:nvPr/>
        </p:nvSpPr>
        <p:spPr>
          <a:xfrm>
            <a:off x="7467600" y="11963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A</a:t>
            </a:r>
            <a:endParaRPr/>
          </a:p>
        </p:txBody>
      </p:sp>
      <p:sp>
        <p:nvSpPr>
          <p:cNvPr id="215" name="Google Shape;215;p7"/>
          <p:cNvSpPr/>
          <p:nvPr/>
        </p:nvSpPr>
        <p:spPr>
          <a:xfrm>
            <a:off x="7239000" y="13487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16" name="Google Shape;216;p7"/>
          <p:cNvSpPr/>
          <p:nvPr/>
        </p:nvSpPr>
        <p:spPr>
          <a:xfrm>
            <a:off x="7467600" y="13487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A</a:t>
            </a:r>
            <a:endParaRPr/>
          </a:p>
        </p:txBody>
      </p:sp>
      <p:sp>
        <p:nvSpPr>
          <p:cNvPr id="217" name="Google Shape;217;p7"/>
          <p:cNvSpPr/>
          <p:nvPr/>
        </p:nvSpPr>
        <p:spPr>
          <a:xfrm>
            <a:off x="7239000" y="15011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18" name="Google Shape;218;p7"/>
          <p:cNvSpPr/>
          <p:nvPr/>
        </p:nvSpPr>
        <p:spPr>
          <a:xfrm>
            <a:off x="7467600" y="15011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B</a:t>
            </a:r>
            <a:endParaRPr/>
          </a:p>
        </p:txBody>
      </p:sp>
      <p:sp>
        <p:nvSpPr>
          <p:cNvPr id="219" name="Google Shape;219;p7"/>
          <p:cNvSpPr/>
          <p:nvPr/>
        </p:nvSpPr>
        <p:spPr>
          <a:xfrm>
            <a:off x="7239000" y="16535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20" name="Google Shape;220;p7"/>
          <p:cNvSpPr/>
          <p:nvPr/>
        </p:nvSpPr>
        <p:spPr>
          <a:xfrm>
            <a:off x="7467600" y="16535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B</a:t>
            </a:r>
            <a:endParaRPr/>
          </a:p>
        </p:txBody>
      </p:sp>
      <p:sp>
        <p:nvSpPr>
          <p:cNvPr id="221" name="Google Shape;221;p7"/>
          <p:cNvSpPr/>
          <p:nvPr/>
        </p:nvSpPr>
        <p:spPr>
          <a:xfrm>
            <a:off x="7696200" y="11963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22" name="Google Shape;222;p7"/>
          <p:cNvSpPr/>
          <p:nvPr/>
        </p:nvSpPr>
        <p:spPr>
          <a:xfrm>
            <a:off x="7696200" y="13487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23" name="Google Shape;223;p7"/>
          <p:cNvSpPr/>
          <p:nvPr/>
        </p:nvSpPr>
        <p:spPr>
          <a:xfrm>
            <a:off x="7696200" y="15011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24" name="Google Shape;224;p7"/>
          <p:cNvSpPr/>
          <p:nvPr/>
        </p:nvSpPr>
        <p:spPr>
          <a:xfrm>
            <a:off x="7696200" y="1653540"/>
            <a:ext cx="2286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25" name="Google Shape;225;p7"/>
          <p:cNvSpPr txBox="1"/>
          <p:nvPr/>
        </p:nvSpPr>
        <p:spPr>
          <a:xfrm>
            <a:off x="653734" y="2423106"/>
            <a:ext cx="4191000" cy="64633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Validar las relaciones uno-a-uno</a:t>
            </a:r>
          </a:p>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y uno-a-muchos entre atributos almacenados en una tabla de dimensión.</a:t>
            </a:r>
            <a:endParaRPr lang="es-ES_tradnl" sz="1400">
              <a:latin typeface="Calibri" panose="020F0502020204030204" pitchFamily="34" charset="0"/>
              <a:cs typeface="Calibri" panose="020F0502020204030204" pitchFamily="34" charset="0"/>
            </a:endParaRPr>
          </a:p>
        </p:txBody>
      </p:sp>
      <p:sp>
        <p:nvSpPr>
          <p:cNvPr id="226" name="Google Shape;226;p7"/>
          <p:cNvSpPr txBox="1"/>
          <p:nvPr/>
        </p:nvSpPr>
        <p:spPr>
          <a:xfrm>
            <a:off x="4973754" y="2780892"/>
            <a:ext cx="2377189" cy="215444"/>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ES_tradnl" sz="1400" b="1">
                <a:solidFill>
                  <a:schemeClr val="dk1"/>
                </a:solidFill>
                <a:latin typeface="Calibri" panose="020F0502020204030204" pitchFamily="34" charset="0"/>
                <a:ea typeface="Quattrocento Sans"/>
                <a:cs typeface="Calibri" panose="020F0502020204030204" pitchFamily="34" charset="0"/>
                <a:sym typeface="Quattrocento Sans"/>
              </a:rPr>
              <a:t>Tabla de Hechos (Fact Table)</a:t>
            </a:r>
            <a:endParaRPr lang="es-ES_tradnl" sz="1400">
              <a:latin typeface="Calibri" panose="020F0502020204030204" pitchFamily="34" charset="0"/>
              <a:cs typeface="Calibri" panose="020F0502020204030204" pitchFamily="34" charset="0"/>
            </a:endParaRPr>
          </a:p>
        </p:txBody>
      </p:sp>
      <p:sp>
        <p:nvSpPr>
          <p:cNvPr id="227" name="Google Shape;227;p7"/>
          <p:cNvSpPr txBox="1"/>
          <p:nvPr/>
        </p:nvSpPr>
        <p:spPr>
          <a:xfrm>
            <a:off x="6285704" y="1942692"/>
            <a:ext cx="1628780" cy="215444"/>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a:solidFill>
                  <a:schemeClr val="dk1"/>
                </a:solidFill>
                <a:latin typeface="Calibri" panose="020F0502020204030204" pitchFamily="34" charset="0"/>
                <a:ea typeface="Quattrocento Sans"/>
                <a:cs typeface="Calibri" panose="020F0502020204030204" pitchFamily="34" charset="0"/>
                <a:sym typeface="Quattrocento Sans"/>
              </a:rPr>
              <a:t>Tabla de Dimensión</a:t>
            </a:r>
            <a:endParaRPr sz="1400" b="1">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228" name="Google Shape;228;p7"/>
          <p:cNvSpPr txBox="1"/>
          <p:nvPr/>
        </p:nvSpPr>
        <p:spPr>
          <a:xfrm>
            <a:off x="1945196" y="2079218"/>
            <a:ext cx="1175323" cy="215444"/>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a:solidFill>
                  <a:schemeClr val="dk1"/>
                </a:solidFill>
                <a:latin typeface="Calibri" panose="020F0502020204030204" pitchFamily="34" charset="0"/>
                <a:ea typeface="Quattrocento Sans"/>
                <a:cs typeface="Calibri" panose="020F0502020204030204" pitchFamily="34" charset="0"/>
                <a:sym typeface="Quattrocento Sans"/>
              </a:rPr>
              <a:t>Esquema E-R</a:t>
            </a:r>
            <a:endParaRPr sz="1400">
              <a:latin typeface="Calibri" panose="020F0502020204030204" pitchFamily="34" charset="0"/>
              <a:cs typeface="Calibri" panose="020F0502020204030204" pitchFamily="34" charset="0"/>
            </a:endParaRPr>
          </a:p>
        </p:txBody>
      </p:sp>
      <p:sp>
        <p:nvSpPr>
          <p:cNvPr id="229" name="Google Shape;229;p7"/>
          <p:cNvSpPr txBox="1"/>
          <p:nvPr/>
        </p:nvSpPr>
        <p:spPr>
          <a:xfrm>
            <a:off x="503238" y="3497263"/>
            <a:ext cx="7596822" cy="1736725"/>
          </a:xfrm>
          <a:prstGeom prst="rect">
            <a:avLst/>
          </a:prstGeom>
          <a:noFill/>
          <a:ln>
            <a:noFill/>
          </a:ln>
        </p:spPr>
        <p:txBody>
          <a:bodyPr spcFirstLastPara="1" wrap="square" lIns="0" tIns="0" rIns="0" bIns="0" anchor="t" anchorCtr="0">
            <a:noAutofit/>
          </a:bodyPr>
          <a:lstStyle/>
          <a:p>
            <a:pPr marL="180975" marR="0" lvl="1" indent="-174625" algn="l" rtl="0">
              <a:spcAft>
                <a:spcPts val="0"/>
              </a:spcAft>
              <a:buClr>
                <a:schemeClr val="dk1"/>
              </a:buClr>
              <a:buSzPts val="1600"/>
              <a:buFont typeface="Arial" panose="020B0604020202020204" pitchFamily="34" charset="0"/>
              <a:buChar char="•"/>
            </a:pPr>
            <a:r>
              <a:rPr lang="es-ES_tradnl" sz="1500" b="0" i="0" u="none" strike="noStrike" cap="none" dirty="0">
                <a:solidFill>
                  <a:schemeClr val="dk1"/>
                </a:solidFill>
                <a:latin typeface="Calibri" panose="020F0502020204030204" pitchFamily="34" charset="0"/>
                <a:ea typeface="Calibri"/>
                <a:cs typeface="Calibri" panose="020F0502020204030204" pitchFamily="34" charset="0"/>
                <a:sym typeface="Calibri"/>
              </a:rPr>
              <a:t>Use un esquema E-R para el </a:t>
            </a:r>
            <a:r>
              <a:rPr lang="es-ES_tradnl" sz="15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Staging</a:t>
            </a:r>
            <a:r>
              <a:rPr lang="es-ES_tradnl" sz="15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s-ES_tradnl" sz="15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Area</a:t>
            </a:r>
            <a:r>
              <a:rPr lang="es-ES_tradnl" sz="15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endParaRPr lang="es-ES_tradnl" sz="1500" dirty="0">
              <a:latin typeface="Calibri" panose="020F0502020204030204" pitchFamily="34" charset="0"/>
              <a:cs typeface="Calibri" panose="020F0502020204030204" pitchFamily="34" charset="0"/>
            </a:endParaRPr>
          </a:p>
          <a:p>
            <a:pPr marL="180975" marR="0" lvl="1" indent="-174625" algn="l" rtl="0">
              <a:spcAft>
                <a:spcPts val="0"/>
              </a:spcAft>
              <a:buClr>
                <a:schemeClr val="dk1"/>
              </a:buClr>
              <a:buSzPts val="1600"/>
              <a:buFont typeface="Arial" panose="020B0604020202020204" pitchFamily="34" charset="0"/>
              <a:buChar char="•"/>
            </a:pPr>
            <a:r>
              <a:rPr lang="es-ES_tradnl" sz="1500" b="0" i="0" u="none" strike="noStrike" cap="none" dirty="0">
                <a:solidFill>
                  <a:schemeClr val="dk1"/>
                </a:solidFill>
                <a:latin typeface="Calibri" panose="020F0502020204030204" pitchFamily="34" charset="0"/>
                <a:ea typeface="Calibri"/>
                <a:cs typeface="Calibri" panose="020F0502020204030204" pitchFamily="34" charset="0"/>
                <a:sym typeface="Calibri"/>
              </a:rPr>
              <a:t>Procesamiento secuencial sobre las tablas de dimensión. </a:t>
            </a:r>
          </a:p>
          <a:p>
            <a:pPr marL="180975" marR="0" lvl="1" indent="-174625" algn="l" rtl="0">
              <a:spcAft>
                <a:spcPts val="0"/>
              </a:spcAft>
              <a:buClr>
                <a:schemeClr val="dk1"/>
              </a:buClr>
              <a:buSzPts val="1600"/>
              <a:buFont typeface="Arial" panose="020B0604020202020204" pitchFamily="34" charset="0"/>
              <a:buChar char="•"/>
            </a:pPr>
            <a:endParaRPr lang="es-ES_tradnl" sz="1500" dirty="0">
              <a:latin typeface="Calibri" panose="020F0502020204030204" pitchFamily="34" charset="0"/>
              <a:cs typeface="Calibri" panose="020F0502020204030204" pitchFamily="34" charset="0"/>
            </a:endParaRPr>
          </a:p>
          <a:p>
            <a:pPr marL="361950" marR="0" lvl="2" indent="-180975" algn="l" rtl="0">
              <a:spcAft>
                <a:spcPts val="0"/>
              </a:spcAft>
              <a:buClr>
                <a:schemeClr val="dk1"/>
              </a:buClr>
              <a:buSzPts val="1600"/>
              <a:buFont typeface="Arial" panose="020B0604020202020204" pitchFamily="34" charset="0"/>
              <a:buChar char="•"/>
            </a:pPr>
            <a:r>
              <a:rPr lang="es-ES_tradnl" sz="1500" b="1" i="0" u="none" strike="noStrike" cap="none" dirty="0">
                <a:solidFill>
                  <a:schemeClr val="dk1"/>
                </a:solidFill>
                <a:latin typeface="Calibri" panose="020F0502020204030204" pitchFamily="34" charset="0"/>
                <a:ea typeface="Calibri"/>
                <a:cs typeface="Calibri" panose="020F0502020204030204" pitchFamily="34" charset="0"/>
                <a:sym typeface="Calibri"/>
              </a:rPr>
              <a:t>Uno-a-uno:  </a:t>
            </a:r>
            <a:r>
              <a:rPr lang="es-ES_tradnl" sz="1500" b="0" i="0" u="none" strike="noStrike" cap="none" dirty="0">
                <a:solidFill>
                  <a:schemeClr val="dk1"/>
                </a:solidFill>
                <a:latin typeface="Calibri" panose="020F0502020204030204" pitchFamily="34" charset="0"/>
                <a:ea typeface="Calibri"/>
                <a:cs typeface="Calibri" panose="020F0502020204030204" pitchFamily="34" charset="0"/>
                <a:sym typeface="Calibri"/>
              </a:rPr>
              <a:t>Ordenar sobre una columna y verificar que existe exactamente un solo valor en la otra columna.  </a:t>
            </a:r>
            <a:endParaRPr lang="es-ES_tradnl" sz="1500" dirty="0">
              <a:latin typeface="Calibri" panose="020F0502020204030204" pitchFamily="34" charset="0"/>
              <a:cs typeface="Calibri" panose="020F0502020204030204" pitchFamily="34" charset="0"/>
            </a:endParaRPr>
          </a:p>
          <a:p>
            <a:pPr marL="361950" marR="0" lvl="2" indent="-180975" algn="l" rtl="0">
              <a:spcAft>
                <a:spcPts val="0"/>
              </a:spcAft>
              <a:buClr>
                <a:schemeClr val="dk1"/>
              </a:buClr>
              <a:buSzPts val="1600"/>
              <a:buFont typeface="Arial" panose="020B0604020202020204" pitchFamily="34" charset="0"/>
              <a:buChar char="•"/>
            </a:pPr>
            <a:r>
              <a:rPr lang="es-ES_tradnl" sz="1500" b="1" i="0" u="none" strike="noStrike" cap="none" dirty="0">
                <a:solidFill>
                  <a:schemeClr val="dk1"/>
                </a:solidFill>
                <a:latin typeface="Calibri" panose="020F0502020204030204" pitchFamily="34" charset="0"/>
                <a:ea typeface="Calibri"/>
                <a:cs typeface="Calibri" panose="020F0502020204030204" pitchFamily="34" charset="0"/>
                <a:sym typeface="Calibri"/>
              </a:rPr>
              <a:t>Uno-a-muchos:  </a:t>
            </a:r>
            <a:r>
              <a:rPr lang="es-ES_tradnl" sz="1500" b="0" i="0" u="none" strike="noStrike" cap="none" dirty="0">
                <a:solidFill>
                  <a:schemeClr val="dk1"/>
                </a:solidFill>
                <a:latin typeface="Calibri" panose="020F0502020204030204" pitchFamily="34" charset="0"/>
                <a:ea typeface="Calibri"/>
                <a:cs typeface="Calibri" panose="020F0502020204030204" pitchFamily="34" charset="0"/>
                <a:sym typeface="Calibri"/>
              </a:rPr>
              <a:t>Ordenar sobre los atributos y verificar que cada valor tenga solo un valor en la otra tabla de atributos. </a:t>
            </a:r>
            <a:endParaRPr lang="es-ES_tradnl" sz="1500" dirty="0">
              <a:latin typeface="Calibri" panose="020F0502020204030204" pitchFamily="34" charset="0"/>
              <a:cs typeface="Calibri" panose="020F0502020204030204" pitchFamily="34" charset="0"/>
            </a:endParaRPr>
          </a:p>
        </p:txBody>
      </p:sp>
      <p:sp>
        <p:nvSpPr>
          <p:cNvPr id="230" name="Google Shape;230;p7"/>
          <p:cNvSpPr txBox="1"/>
          <p:nvPr/>
        </p:nvSpPr>
        <p:spPr>
          <a:xfrm>
            <a:off x="503238" y="913591"/>
            <a:ext cx="243226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INTEGRIDAD REFERENCIAL</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F3B9813D-65B8-4A21-BC27-B11B85B11E4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STAGING AREA</a:t>
            </a:r>
            <a:r>
              <a:rPr lang="es-PE" sz="1000" dirty="0">
                <a:solidFill>
                  <a:schemeClr val="bg1">
                    <a:lumMod val="65000"/>
                  </a:schemeClr>
                </a:solidFill>
                <a:latin typeface="Calibri" charset="0"/>
                <a:cs typeface="Calibri" charset="0"/>
              </a:rPr>
              <a:t> </a:t>
            </a:r>
          </a:p>
        </p:txBody>
      </p:sp>
      <p:graphicFrame>
        <p:nvGraphicFramePr>
          <p:cNvPr id="3" name="Tabla 2">
            <a:extLst>
              <a:ext uri="{FF2B5EF4-FFF2-40B4-BE49-F238E27FC236}">
                <a16:creationId xmlns:a16="http://schemas.microsoft.com/office/drawing/2014/main" id="{0FC6882F-077D-84FA-07F4-B922F093E7C5}"/>
              </a:ext>
            </a:extLst>
          </p:cNvPr>
          <p:cNvGraphicFramePr>
            <a:graphicFrameLocks noGrp="1"/>
          </p:cNvGraphicFramePr>
          <p:nvPr>
            <p:extLst>
              <p:ext uri="{D42A27DB-BD31-4B8C-83A1-F6EECF244321}">
                <p14:modId xmlns:p14="http://schemas.microsoft.com/office/powerpoint/2010/main" val="4163016690"/>
              </p:ext>
            </p:extLst>
          </p:nvPr>
        </p:nvGraphicFramePr>
        <p:xfrm>
          <a:off x="1088393" y="1317126"/>
          <a:ext cx="1121407" cy="713200"/>
        </p:xfrm>
        <a:graphic>
          <a:graphicData uri="http://schemas.openxmlformats.org/drawingml/2006/table">
            <a:tbl>
              <a:tblPr firstRow="1" bandRow="1">
                <a:tableStyleId>{5C22544A-7EE6-4342-B048-85BDC9FD1C3A}</a:tableStyleId>
              </a:tblPr>
              <a:tblGrid>
                <a:gridCol w="213013">
                  <a:extLst>
                    <a:ext uri="{9D8B030D-6E8A-4147-A177-3AD203B41FA5}">
                      <a16:colId xmlns:a16="http://schemas.microsoft.com/office/drawing/2014/main" val="3291778468"/>
                    </a:ext>
                  </a:extLst>
                </a:gridCol>
                <a:gridCol w="226198">
                  <a:extLst>
                    <a:ext uri="{9D8B030D-6E8A-4147-A177-3AD203B41FA5}">
                      <a16:colId xmlns:a16="http://schemas.microsoft.com/office/drawing/2014/main" val="225770983"/>
                    </a:ext>
                  </a:extLst>
                </a:gridCol>
                <a:gridCol w="434732">
                  <a:extLst>
                    <a:ext uri="{9D8B030D-6E8A-4147-A177-3AD203B41FA5}">
                      <a16:colId xmlns:a16="http://schemas.microsoft.com/office/drawing/2014/main" val="889764849"/>
                    </a:ext>
                  </a:extLst>
                </a:gridCol>
                <a:gridCol w="247464">
                  <a:extLst>
                    <a:ext uri="{9D8B030D-6E8A-4147-A177-3AD203B41FA5}">
                      <a16:colId xmlns:a16="http://schemas.microsoft.com/office/drawing/2014/main" val="382024075"/>
                    </a:ext>
                  </a:extLst>
                </a:gridCol>
              </a:tblGrid>
              <a:tr h="170003">
                <a:tc>
                  <a:txBody>
                    <a:bodyPr/>
                    <a:lstStyle/>
                    <a:p>
                      <a:pPr algn="ctr"/>
                      <a:r>
                        <a:rPr lang="es-ES_tradnl" sz="900" b="0" dirty="0">
                          <a:solidFill>
                            <a:schemeClr val="tx1"/>
                          </a:solidFill>
                          <a:latin typeface="+mn-lt"/>
                        </a:rPr>
                        <a:t>1</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4639"/>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mn-lt"/>
                        <a:ea typeface="Arial"/>
                        <a:cs typeface="Arial"/>
                        <a:sym typeface="Arial"/>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s-ES_tradnl" sz="900" b="0" dirty="0">
                          <a:solidFill>
                            <a:schemeClr val="tx1"/>
                          </a:solidFill>
                          <a:latin typeface="+mn-lt"/>
                        </a:rPr>
                        <a:t>A</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extLst>
                  <a:ext uri="{0D108BD9-81ED-4DB2-BD59-A6C34878D82A}">
                    <a16:rowId xmlns:a16="http://schemas.microsoft.com/office/drawing/2014/main" val="1262700101"/>
                  </a:ext>
                </a:extLst>
              </a:tr>
              <a:tr h="170003">
                <a:tc>
                  <a:txBody>
                    <a:bodyPr/>
                    <a:lstStyle/>
                    <a:p>
                      <a:pPr algn="ctr"/>
                      <a:r>
                        <a:rPr lang="es-ES_tradnl" sz="900" b="0" dirty="0">
                          <a:solidFill>
                            <a:schemeClr val="tx1"/>
                          </a:solidFill>
                          <a:latin typeface="+mn-lt"/>
                        </a:rPr>
                        <a:t>2</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4639"/>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s-ES_tradnl" sz="900" b="0" dirty="0">
                          <a:solidFill>
                            <a:schemeClr val="tx1"/>
                          </a:solidFill>
                          <a:latin typeface="+mn-lt"/>
                        </a:rPr>
                        <a:t>A</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extLst>
                  <a:ext uri="{0D108BD9-81ED-4DB2-BD59-A6C34878D82A}">
                    <a16:rowId xmlns:a16="http://schemas.microsoft.com/office/drawing/2014/main" val="2778033117"/>
                  </a:ext>
                </a:extLst>
              </a:tr>
              <a:tr h="170003">
                <a:tc>
                  <a:txBody>
                    <a:bodyPr/>
                    <a:lstStyle/>
                    <a:p>
                      <a:pPr algn="ctr"/>
                      <a:r>
                        <a:rPr lang="es-ES_tradnl" sz="900" b="0" dirty="0">
                          <a:solidFill>
                            <a:schemeClr val="tx1"/>
                          </a:solidFill>
                          <a:latin typeface="+mn-lt"/>
                        </a:rPr>
                        <a:t>3</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4639"/>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s-ES_tradnl" sz="900" b="0" dirty="0">
                          <a:solidFill>
                            <a:schemeClr val="tx1"/>
                          </a:solidFill>
                          <a:latin typeface="+mn-lt"/>
                        </a:rPr>
                        <a:t>B</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extLst>
                  <a:ext uri="{0D108BD9-81ED-4DB2-BD59-A6C34878D82A}">
                    <a16:rowId xmlns:a16="http://schemas.microsoft.com/office/drawing/2014/main" val="207889307"/>
                  </a:ext>
                </a:extLst>
              </a:tr>
              <a:tr h="170003">
                <a:tc>
                  <a:txBody>
                    <a:bodyPr/>
                    <a:lstStyle/>
                    <a:p>
                      <a:pPr algn="ctr"/>
                      <a:r>
                        <a:rPr lang="es-ES_tradnl" sz="900" b="0" dirty="0">
                          <a:solidFill>
                            <a:schemeClr val="tx1"/>
                          </a:solidFill>
                          <a:latin typeface="+mn-lt"/>
                        </a:rPr>
                        <a:t>4</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4639"/>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s-ES_tradnl" sz="900" b="0" dirty="0">
                          <a:solidFill>
                            <a:schemeClr val="tx1"/>
                          </a:solidFill>
                          <a:latin typeface="+mn-lt"/>
                        </a:rPr>
                        <a:t>B</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extLst>
                  <a:ext uri="{0D108BD9-81ED-4DB2-BD59-A6C34878D82A}">
                    <a16:rowId xmlns:a16="http://schemas.microsoft.com/office/drawing/2014/main" val="1515853368"/>
                  </a:ext>
                </a:extLst>
              </a:tr>
            </a:tbl>
          </a:graphicData>
        </a:graphic>
      </p:graphicFrame>
      <p:graphicFrame>
        <p:nvGraphicFramePr>
          <p:cNvPr id="4" name="Tabla 3">
            <a:extLst>
              <a:ext uri="{FF2B5EF4-FFF2-40B4-BE49-F238E27FC236}">
                <a16:creationId xmlns:a16="http://schemas.microsoft.com/office/drawing/2014/main" id="{4D56C788-9E96-0B72-D444-6F1132A0475F}"/>
              </a:ext>
            </a:extLst>
          </p:cNvPr>
          <p:cNvGraphicFramePr>
            <a:graphicFrameLocks noGrp="1"/>
          </p:cNvGraphicFramePr>
          <p:nvPr>
            <p:extLst>
              <p:ext uri="{D42A27DB-BD31-4B8C-83A1-F6EECF244321}">
                <p14:modId xmlns:p14="http://schemas.microsoft.com/office/powerpoint/2010/main" val="26419533"/>
              </p:ext>
            </p:extLst>
          </p:nvPr>
        </p:nvGraphicFramePr>
        <p:xfrm>
          <a:off x="2592406" y="1339986"/>
          <a:ext cx="780381" cy="534900"/>
        </p:xfrm>
        <a:graphic>
          <a:graphicData uri="http://schemas.openxmlformats.org/drawingml/2006/table">
            <a:tbl>
              <a:tblPr firstRow="1" bandRow="1">
                <a:tableStyleId>{5C22544A-7EE6-4342-B048-85BDC9FD1C3A}</a:tableStyleId>
              </a:tblPr>
              <a:tblGrid>
                <a:gridCol w="260127">
                  <a:extLst>
                    <a:ext uri="{9D8B030D-6E8A-4147-A177-3AD203B41FA5}">
                      <a16:colId xmlns:a16="http://schemas.microsoft.com/office/drawing/2014/main" val="382024075"/>
                    </a:ext>
                  </a:extLst>
                </a:gridCol>
                <a:gridCol w="260127">
                  <a:extLst>
                    <a:ext uri="{9D8B030D-6E8A-4147-A177-3AD203B41FA5}">
                      <a16:colId xmlns:a16="http://schemas.microsoft.com/office/drawing/2014/main" val="2625101716"/>
                    </a:ext>
                  </a:extLst>
                </a:gridCol>
                <a:gridCol w="260127">
                  <a:extLst>
                    <a:ext uri="{9D8B030D-6E8A-4147-A177-3AD203B41FA5}">
                      <a16:colId xmlns:a16="http://schemas.microsoft.com/office/drawing/2014/main" val="2890322229"/>
                    </a:ext>
                  </a:extLst>
                </a:gridCol>
              </a:tblGrid>
              <a:tr h="170003">
                <a:tc>
                  <a:txBody>
                    <a:bodyPr/>
                    <a:lstStyle/>
                    <a:p>
                      <a:pPr algn="ctr"/>
                      <a:r>
                        <a:rPr lang="es-ES_tradnl" sz="900" b="0" dirty="0">
                          <a:solidFill>
                            <a:schemeClr val="tx1"/>
                          </a:solidFill>
                          <a:latin typeface="+mn-lt"/>
                        </a:rPr>
                        <a:t>A</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r h="170003">
                <a:tc>
                  <a:txBody>
                    <a:bodyPr/>
                    <a:lstStyle/>
                    <a:p>
                      <a:pPr algn="ctr"/>
                      <a:r>
                        <a:rPr lang="es-ES_tradnl" sz="900" b="0" dirty="0">
                          <a:solidFill>
                            <a:schemeClr val="tx1"/>
                          </a:solidFill>
                          <a:latin typeface="+mn-lt"/>
                        </a:rPr>
                        <a:t>B</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8033117"/>
                  </a:ext>
                </a:extLst>
              </a:tr>
              <a:tr h="170003">
                <a:tc>
                  <a:txBody>
                    <a:bodyPr/>
                    <a:lstStyle/>
                    <a:p>
                      <a:pPr algn="ctr"/>
                      <a:r>
                        <a:rPr lang="es-ES_tradnl" sz="900" b="0" dirty="0">
                          <a:solidFill>
                            <a:schemeClr val="tx1"/>
                          </a:solidFill>
                          <a:latin typeface="+mn-lt"/>
                        </a:rPr>
                        <a:t>C</a:t>
                      </a: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C2"/>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900" b="0" dirty="0">
                        <a:solidFill>
                          <a:schemeClr val="tx1"/>
                        </a:solidFill>
                        <a:latin typeface="+mn-lt"/>
                      </a:endParaRPr>
                    </a:p>
                  </a:txBody>
                  <a:tcPr marL="41140" marR="41140" marT="20570" marB="20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8893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PARTICIONAMIENTO DEL </a:t>
            </a:r>
            <a:r>
              <a:rPr lang="en-US" sz="2800" b="1" dirty="0">
                <a:solidFill>
                  <a:schemeClr val="bg1"/>
                </a:solidFill>
                <a:latin typeface="Graphik Bold" panose="020B0503030202060203" pitchFamily="34" charset="77"/>
                <a:sym typeface="Calibri"/>
              </a:rPr>
              <a:t>DATA WAREHOUSE</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219079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4" name="Google Shape;244;p9"/>
          <p:cNvSpPr txBox="1"/>
          <p:nvPr/>
        </p:nvSpPr>
        <p:spPr>
          <a:xfrm>
            <a:off x="503238" y="912813"/>
            <a:ext cx="8137525" cy="3087687"/>
          </a:xfrm>
          <a:prstGeom prst="rect">
            <a:avLst/>
          </a:prstGeom>
          <a:noFill/>
          <a:ln>
            <a:noFill/>
          </a:ln>
        </p:spPr>
        <p:txBody>
          <a:bodyPr spcFirstLastPara="1" wrap="square" lIns="0" tIns="0" rIns="0" bIns="0" anchor="t" anchorCtr="0">
            <a:noAutofit/>
          </a:bodyPr>
          <a:lstStyle/>
          <a:p>
            <a:pPr marL="180975" marR="0" lvl="0" indent="-180975" algn="l" rtl="0">
              <a:spcBef>
                <a:spcPts val="0"/>
              </a:spcBef>
              <a:spcAft>
                <a:spcPts val="0"/>
              </a:spcAft>
              <a:buClr>
                <a:schemeClr val="dk1"/>
              </a:buClr>
              <a:buSzPts val="1600"/>
              <a:buFont typeface="Arial" panose="020B0604020202020204" pitchFamily="34" charset="0"/>
              <a:buChar char="•"/>
            </a:pPr>
            <a:r>
              <a:rPr lang="es-ES_tradnl" sz="1600" dirty="0">
                <a:solidFill>
                  <a:schemeClr val="dk1"/>
                </a:solidFill>
                <a:ea typeface="Calibri"/>
                <a:cs typeface="Calibri"/>
                <a:sym typeface="Calibri"/>
              </a:rPr>
              <a:t>Es el proceso de dividir una tabla en unidades más pequeñas. </a:t>
            </a:r>
            <a:endParaRPr lang="es-ES_tradnl" sz="1600" dirty="0"/>
          </a:p>
          <a:p>
            <a:pPr marL="387350" marR="0" lvl="0" indent="-285750" algn="l" rtl="0">
              <a:spcBef>
                <a:spcPts val="320"/>
              </a:spcBef>
              <a:spcAft>
                <a:spcPts val="0"/>
              </a:spcAft>
              <a:buClr>
                <a:schemeClr val="dk1"/>
              </a:buClr>
              <a:buSzPts val="1600"/>
              <a:buFont typeface="Arial" panose="020B0604020202020204" pitchFamily="34" charset="0"/>
              <a:buChar char="•"/>
            </a:pPr>
            <a:endParaRPr lang="es-ES_tradnl" sz="1600" dirty="0">
              <a:solidFill>
                <a:schemeClr val="dk1"/>
              </a:solidFill>
              <a:ea typeface="Calibri"/>
              <a:cs typeface="Calibri"/>
              <a:sym typeface="Calibri"/>
            </a:endParaRPr>
          </a:p>
          <a:p>
            <a:pPr marL="180975" marR="0" lvl="0" indent="-180975" algn="l" rtl="0">
              <a:spcBef>
                <a:spcPts val="320"/>
              </a:spcBef>
              <a:spcAft>
                <a:spcPts val="0"/>
              </a:spcAft>
              <a:buClr>
                <a:schemeClr val="dk1"/>
              </a:buClr>
              <a:buSzPts val="1600"/>
              <a:buFont typeface="Arial" panose="020B0604020202020204" pitchFamily="34" charset="0"/>
              <a:buChar char="•"/>
            </a:pPr>
            <a:r>
              <a:rPr lang="es-ES_tradnl" sz="1600" dirty="0">
                <a:solidFill>
                  <a:schemeClr val="dk1"/>
                </a:solidFill>
                <a:ea typeface="Calibri"/>
                <a:cs typeface="Calibri"/>
                <a:sym typeface="Calibri"/>
              </a:rPr>
              <a:t>Ventajas:</a:t>
            </a:r>
            <a:endParaRPr lang="es-ES_tradnl" sz="1600" i="1" dirty="0">
              <a:solidFill>
                <a:schemeClr val="dk1"/>
              </a:solidFill>
              <a:ea typeface="Calibri"/>
              <a:cs typeface="Calibri"/>
              <a:sym typeface="Calibri"/>
            </a:endParaRPr>
          </a:p>
          <a:p>
            <a:pPr marL="361950" marR="0" lvl="1" indent="-180975" algn="l" rtl="0">
              <a:spcBef>
                <a:spcPts val="320"/>
              </a:spcBef>
              <a:spcAft>
                <a:spcPts val="0"/>
              </a:spcAft>
              <a:buClr>
                <a:schemeClr val="dk1"/>
              </a:buClr>
              <a:buSzPts val="1600"/>
              <a:buFont typeface="Arial" panose="020B0604020202020204" pitchFamily="34" charset="0"/>
              <a:buChar char="•"/>
            </a:pPr>
            <a:r>
              <a:rPr lang="es-ES_tradnl" sz="1600" b="0" i="0" u="none" strike="noStrike" cap="none" dirty="0">
                <a:solidFill>
                  <a:schemeClr val="dk1"/>
                </a:solidFill>
                <a:ea typeface="Calibri"/>
                <a:cs typeface="Calibri"/>
                <a:sym typeface="Calibri"/>
              </a:rPr>
              <a:t>Las consultas son respondidas más rápidamente.</a:t>
            </a:r>
            <a:endParaRPr lang="es-ES_tradnl" sz="1600" dirty="0"/>
          </a:p>
          <a:p>
            <a:pPr marL="361950" marR="0" lvl="1" indent="-180975" algn="l" rtl="0">
              <a:spcBef>
                <a:spcPts val="320"/>
              </a:spcBef>
              <a:spcAft>
                <a:spcPts val="0"/>
              </a:spcAft>
              <a:buClr>
                <a:schemeClr val="dk1"/>
              </a:buClr>
              <a:buSzPts val="1600"/>
              <a:buFont typeface="Arial" panose="020B0604020202020204" pitchFamily="34" charset="0"/>
              <a:buChar char="•"/>
            </a:pPr>
            <a:r>
              <a:rPr lang="es-ES_tradnl" sz="1600" b="0" i="0" u="none" strike="noStrike" cap="none" dirty="0">
                <a:solidFill>
                  <a:schemeClr val="dk1"/>
                </a:solidFill>
                <a:ea typeface="Calibri"/>
                <a:cs typeface="Calibri"/>
                <a:sym typeface="Calibri"/>
              </a:rPr>
              <a:t>Acelera el proceso de </a:t>
            </a:r>
            <a:r>
              <a:rPr lang="es-ES_tradnl" sz="1600" b="0" i="0" u="none" strike="noStrike" cap="none" dirty="0" err="1">
                <a:solidFill>
                  <a:schemeClr val="dk1"/>
                </a:solidFill>
                <a:ea typeface="Calibri"/>
                <a:cs typeface="Calibri"/>
                <a:sym typeface="Calibri"/>
              </a:rPr>
              <a:t>backup</a:t>
            </a:r>
            <a:r>
              <a:rPr lang="es-ES_tradnl" sz="1600" b="0" i="0" u="none" strike="noStrike" cap="none" dirty="0">
                <a:solidFill>
                  <a:schemeClr val="dk1"/>
                </a:solidFill>
                <a:ea typeface="Calibri"/>
                <a:cs typeface="Calibri"/>
                <a:sym typeface="Calibri"/>
              </a:rPr>
              <a:t> y </a:t>
            </a:r>
            <a:r>
              <a:rPr lang="es-ES_tradnl" sz="1600" b="0" i="0" u="none" strike="noStrike" cap="none" dirty="0" err="1">
                <a:solidFill>
                  <a:schemeClr val="dk1"/>
                </a:solidFill>
                <a:ea typeface="Calibri"/>
                <a:cs typeface="Calibri"/>
                <a:sym typeface="Calibri"/>
              </a:rPr>
              <a:t>restore</a:t>
            </a:r>
            <a:r>
              <a:rPr lang="es-ES_tradnl" sz="1600" b="0" i="0" u="none" strike="noStrike" cap="none" dirty="0">
                <a:solidFill>
                  <a:schemeClr val="dk1"/>
                </a:solidFill>
                <a:ea typeface="Calibri"/>
                <a:cs typeface="Calibri"/>
                <a:sym typeface="Calibri"/>
              </a:rPr>
              <a:t> de la data incremental.</a:t>
            </a:r>
            <a:endParaRPr lang="es-ES_tradnl" sz="1600" dirty="0"/>
          </a:p>
          <a:p>
            <a:pPr marL="361950" marR="0" lvl="1" indent="-180975" algn="l" rtl="0">
              <a:spcBef>
                <a:spcPts val="320"/>
              </a:spcBef>
              <a:spcAft>
                <a:spcPts val="0"/>
              </a:spcAft>
              <a:buClr>
                <a:schemeClr val="dk1"/>
              </a:buClr>
              <a:buSzPts val="1600"/>
              <a:buFont typeface="Arial" panose="020B0604020202020204" pitchFamily="34" charset="0"/>
              <a:buChar char="•"/>
            </a:pPr>
            <a:r>
              <a:rPr lang="es-ES_tradnl" sz="1600" b="0" i="0" u="none" strike="noStrike" cap="none" dirty="0">
                <a:solidFill>
                  <a:schemeClr val="dk1"/>
                </a:solidFill>
                <a:ea typeface="Calibri"/>
                <a:cs typeface="Calibri"/>
                <a:sym typeface="Calibri"/>
              </a:rPr>
              <a:t>Disminuye el tiempo requerido para cargar las tablas indexadas.</a:t>
            </a:r>
            <a:endParaRPr lang="es-ES_tradnl" sz="1600" dirty="0"/>
          </a:p>
          <a:p>
            <a:pPr marL="387350" marR="0" lvl="0" indent="-285750" algn="l" rtl="0">
              <a:spcBef>
                <a:spcPts val="320"/>
              </a:spcBef>
              <a:spcAft>
                <a:spcPts val="0"/>
              </a:spcAft>
              <a:buClr>
                <a:schemeClr val="dk1"/>
              </a:buClr>
              <a:buSzPts val="1600"/>
              <a:buFont typeface="Arial" panose="020B0604020202020204" pitchFamily="34" charset="0"/>
              <a:buChar char="•"/>
            </a:pPr>
            <a:endParaRPr lang="es-ES_tradnl" sz="1600" dirty="0">
              <a:solidFill>
                <a:schemeClr val="dk1"/>
              </a:solidFill>
              <a:ea typeface="Calibri"/>
              <a:cs typeface="Calibri"/>
              <a:sym typeface="Calibri"/>
            </a:endParaRPr>
          </a:p>
          <a:p>
            <a:pPr marL="180975" marR="0" lvl="0" indent="-180975" algn="l" rtl="0">
              <a:spcBef>
                <a:spcPts val="320"/>
              </a:spcBef>
              <a:spcAft>
                <a:spcPts val="0"/>
              </a:spcAft>
              <a:buClr>
                <a:schemeClr val="dk1"/>
              </a:buClr>
              <a:buSzPts val="1600"/>
              <a:buFont typeface="Arial" panose="020B0604020202020204" pitchFamily="34" charset="0"/>
              <a:buChar char="•"/>
            </a:pPr>
            <a:r>
              <a:rPr lang="es-ES_tradnl" sz="1600" dirty="0">
                <a:solidFill>
                  <a:schemeClr val="dk1"/>
                </a:solidFill>
                <a:ea typeface="Calibri"/>
                <a:cs typeface="Calibri"/>
                <a:sym typeface="Calibri"/>
              </a:rPr>
              <a:t>El particionamiento no es libre. </a:t>
            </a:r>
            <a:endParaRPr lang="es-ES_tradnl" sz="1600" dirty="0"/>
          </a:p>
          <a:p>
            <a:pPr marL="361950" marR="0" lvl="1" indent="-180975" algn="l" rtl="0">
              <a:spcBef>
                <a:spcPts val="320"/>
              </a:spcBef>
              <a:spcAft>
                <a:spcPts val="0"/>
              </a:spcAft>
              <a:buClr>
                <a:schemeClr val="dk1"/>
              </a:buClr>
              <a:buSzPts val="1600"/>
              <a:buFont typeface="Arial" panose="020B0604020202020204" pitchFamily="34" charset="0"/>
              <a:buChar char="•"/>
            </a:pPr>
            <a:r>
              <a:rPr lang="es-ES_tradnl" sz="1600" b="0" i="0" u="none" strike="noStrike" cap="none" dirty="0">
                <a:solidFill>
                  <a:schemeClr val="dk1"/>
                </a:solidFill>
                <a:ea typeface="Calibri"/>
                <a:cs typeface="Calibri"/>
                <a:sym typeface="Calibri"/>
              </a:rPr>
              <a:t>La mayor cantidad de consultas son requeridas para determinar </a:t>
            </a:r>
            <a:r>
              <a:rPr lang="es-ES_tradnl" sz="1600" dirty="0">
                <a:solidFill>
                  <a:schemeClr val="dk1"/>
                </a:solidFill>
                <a:ea typeface="Calibri"/>
                <a:cs typeface="Calibri"/>
                <a:sym typeface="Calibri"/>
              </a:rPr>
              <a:t>cuál</a:t>
            </a:r>
            <a:r>
              <a:rPr lang="es-ES_tradnl" sz="1600" b="0" i="0" u="none" strike="noStrike" cap="none" dirty="0">
                <a:solidFill>
                  <a:schemeClr val="dk1"/>
                </a:solidFill>
                <a:ea typeface="Calibri"/>
                <a:cs typeface="Calibri"/>
                <a:sym typeface="Calibri"/>
              </a:rPr>
              <a:t> tabla contiene la data más requerida por el usuario.</a:t>
            </a:r>
            <a:endParaRPr lang="es-ES_tradnl" sz="1600" dirty="0"/>
          </a:p>
          <a:p>
            <a:pPr marL="361950" marR="0" lvl="1" indent="-180975" algn="l" rtl="0">
              <a:spcBef>
                <a:spcPts val="320"/>
              </a:spcBef>
              <a:spcAft>
                <a:spcPts val="0"/>
              </a:spcAft>
              <a:buClr>
                <a:schemeClr val="dk1"/>
              </a:buClr>
              <a:buSzPts val="1600"/>
              <a:buFont typeface="Arial" panose="020B0604020202020204" pitchFamily="34" charset="0"/>
              <a:buChar char="•"/>
            </a:pPr>
            <a:r>
              <a:rPr lang="es-ES_tradnl" sz="1600" b="0" i="0" u="none" strike="noStrike" cap="none" dirty="0">
                <a:solidFill>
                  <a:schemeClr val="dk1"/>
                </a:solidFill>
                <a:ea typeface="Calibri"/>
                <a:cs typeface="Calibri"/>
                <a:sym typeface="Calibri"/>
              </a:rPr>
              <a:t>Adicionalmente la </a:t>
            </a:r>
            <a:r>
              <a:rPr lang="es-ES_tradnl" sz="1600" b="0" i="0" u="none" strike="noStrike" cap="none" dirty="0" err="1">
                <a:solidFill>
                  <a:schemeClr val="dk1"/>
                </a:solidFill>
                <a:ea typeface="Calibri"/>
                <a:cs typeface="Calibri"/>
                <a:sym typeface="Calibri"/>
              </a:rPr>
              <a:t>metadata</a:t>
            </a:r>
            <a:r>
              <a:rPr lang="es-ES_tradnl" sz="1600" b="0" i="0" u="none" strike="noStrike" cap="none" dirty="0">
                <a:solidFill>
                  <a:schemeClr val="dk1"/>
                </a:solidFill>
                <a:ea typeface="Calibri"/>
                <a:cs typeface="Calibri"/>
                <a:sym typeface="Calibri"/>
              </a:rPr>
              <a:t> es requerida para definir el particionamiento en el </a:t>
            </a:r>
            <a:r>
              <a:rPr lang="es-ES_tradnl" sz="1600" b="0" i="0" u="none" strike="noStrike" cap="none" dirty="0" err="1">
                <a:solidFill>
                  <a:schemeClr val="dk1"/>
                </a:solidFill>
                <a:ea typeface="Calibri"/>
                <a:cs typeface="Calibri"/>
                <a:sym typeface="Calibri"/>
              </a:rPr>
              <a:t>warehouse</a:t>
            </a:r>
            <a:r>
              <a:rPr lang="es-ES_tradnl" sz="1600" b="0" i="0" u="none" strike="noStrike" cap="none" dirty="0">
                <a:solidFill>
                  <a:schemeClr val="dk1"/>
                </a:solidFill>
                <a:ea typeface="Calibri"/>
                <a:cs typeface="Calibri"/>
                <a:sym typeface="Calibri"/>
              </a:rPr>
              <a:t>.</a:t>
            </a:r>
            <a:endParaRPr lang="es-ES_tradnl" sz="1600" dirty="0"/>
          </a:p>
        </p:txBody>
      </p:sp>
      <p:sp>
        <p:nvSpPr>
          <p:cNvPr id="2" name="Rectangle 5">
            <a:extLst>
              <a:ext uri="{FF2B5EF4-FFF2-40B4-BE49-F238E27FC236}">
                <a16:creationId xmlns:a16="http://schemas.microsoft.com/office/drawing/2014/main" id="{25EA6602-1F81-4FC2-B445-3F5B81E9A948}"/>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DEL DATA WAREHOUSE</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10"/>
          <p:cNvSpPr txBox="1"/>
          <p:nvPr/>
        </p:nvSpPr>
        <p:spPr>
          <a:xfrm>
            <a:off x="503238" y="917044"/>
            <a:ext cx="3032760" cy="569387"/>
          </a:xfrm>
          <a:prstGeom prst="rect">
            <a:avLst/>
          </a:prstGeom>
          <a:noFill/>
          <a:ln>
            <a:noFill/>
          </a:ln>
        </p:spPr>
        <p:txBody>
          <a:bodyPr spcFirstLastPara="1" wrap="square" lIns="0" tIns="0" rIns="0" bIns="0" anchor="ctr" anchorCtr="0">
            <a:spAutoFit/>
          </a:bodyPr>
          <a:lstStyle/>
          <a:p>
            <a:pPr>
              <a:spcAft>
                <a:spcPts val="600"/>
              </a:spcAft>
            </a:pPr>
            <a:r>
              <a:rPr lang="es-ES_tradnl" sz="1600" b="1">
                <a:latin typeface="Calibri" panose="020F0502020204030204" pitchFamily="34" charset="0"/>
                <a:ea typeface="Calibri"/>
                <a:cs typeface="Calibri" panose="020F0502020204030204" pitchFamily="34" charset="0"/>
                <a:sym typeface="Calibri"/>
              </a:rPr>
              <a:t>HORIZONTAL</a:t>
            </a:r>
          </a:p>
          <a:p>
            <a:pPr marL="0" marR="0" lvl="0" indent="0" algn="l" rtl="0">
              <a:spcBef>
                <a:spcPts val="0"/>
              </a:spcBef>
              <a:spcAft>
                <a:spcPts val="0"/>
              </a:spcAft>
              <a:buNone/>
            </a:pPr>
            <a:r>
              <a:rPr lang="es-ES_tradnl" sz="1600">
                <a:latin typeface="Calibri" panose="020F0502020204030204" pitchFamily="34" charset="0"/>
                <a:ea typeface="Quattrocento Sans"/>
                <a:cs typeface="Calibri" panose="020F0502020204030204" pitchFamily="34" charset="0"/>
                <a:sym typeface="Quattrocento Sans"/>
              </a:rPr>
              <a:t>Tabla particionada horizontal (HTP)</a:t>
            </a:r>
            <a:endParaRPr lang="es-ES_tradnl" sz="1600">
              <a:latin typeface="Calibri" panose="020F0502020204030204" pitchFamily="34" charset="0"/>
              <a:cs typeface="Calibri" panose="020F0502020204030204" pitchFamily="34" charset="0"/>
            </a:endParaRPr>
          </a:p>
        </p:txBody>
      </p:sp>
      <p:sp>
        <p:nvSpPr>
          <p:cNvPr id="252" name="Google Shape;252;p10"/>
          <p:cNvSpPr/>
          <p:nvPr/>
        </p:nvSpPr>
        <p:spPr>
          <a:xfrm>
            <a:off x="1150621" y="16560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3" name="Google Shape;253;p10"/>
          <p:cNvSpPr/>
          <p:nvPr/>
        </p:nvSpPr>
        <p:spPr>
          <a:xfrm>
            <a:off x="1303021" y="16560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4" name="Google Shape;254;p10"/>
          <p:cNvSpPr/>
          <p:nvPr/>
        </p:nvSpPr>
        <p:spPr>
          <a:xfrm>
            <a:off x="1150621" y="17322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5" name="Google Shape;255;p10"/>
          <p:cNvSpPr/>
          <p:nvPr/>
        </p:nvSpPr>
        <p:spPr>
          <a:xfrm>
            <a:off x="1303021" y="17322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6" name="Google Shape;256;p10"/>
          <p:cNvSpPr/>
          <p:nvPr/>
        </p:nvSpPr>
        <p:spPr>
          <a:xfrm>
            <a:off x="1150621" y="18084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7" name="Google Shape;257;p10"/>
          <p:cNvSpPr/>
          <p:nvPr/>
        </p:nvSpPr>
        <p:spPr>
          <a:xfrm>
            <a:off x="1303021" y="18084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8" name="Google Shape;258;p10"/>
          <p:cNvSpPr/>
          <p:nvPr/>
        </p:nvSpPr>
        <p:spPr>
          <a:xfrm>
            <a:off x="1150621" y="18846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59" name="Google Shape;259;p10"/>
          <p:cNvSpPr/>
          <p:nvPr/>
        </p:nvSpPr>
        <p:spPr>
          <a:xfrm>
            <a:off x="1303021" y="18846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0" name="Google Shape;260;p10"/>
          <p:cNvSpPr/>
          <p:nvPr/>
        </p:nvSpPr>
        <p:spPr>
          <a:xfrm>
            <a:off x="1150621" y="19608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1" name="Google Shape;261;p10"/>
          <p:cNvSpPr/>
          <p:nvPr/>
        </p:nvSpPr>
        <p:spPr>
          <a:xfrm>
            <a:off x="1303021" y="19608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2" name="Google Shape;262;p10"/>
          <p:cNvSpPr/>
          <p:nvPr/>
        </p:nvSpPr>
        <p:spPr>
          <a:xfrm>
            <a:off x="1150621" y="20370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3" name="Google Shape;263;p10"/>
          <p:cNvSpPr/>
          <p:nvPr/>
        </p:nvSpPr>
        <p:spPr>
          <a:xfrm>
            <a:off x="1303021" y="20370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4" name="Google Shape;264;p10"/>
          <p:cNvSpPr/>
          <p:nvPr/>
        </p:nvSpPr>
        <p:spPr>
          <a:xfrm>
            <a:off x="1150621" y="22656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5" name="Google Shape;265;p10"/>
          <p:cNvSpPr/>
          <p:nvPr/>
        </p:nvSpPr>
        <p:spPr>
          <a:xfrm>
            <a:off x="1303021" y="22656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6" name="Google Shape;266;p10"/>
          <p:cNvSpPr/>
          <p:nvPr/>
        </p:nvSpPr>
        <p:spPr>
          <a:xfrm>
            <a:off x="1150621" y="23418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7" name="Google Shape;267;p10"/>
          <p:cNvSpPr/>
          <p:nvPr/>
        </p:nvSpPr>
        <p:spPr>
          <a:xfrm>
            <a:off x="1303021" y="23418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8" name="Google Shape;268;p10"/>
          <p:cNvSpPr/>
          <p:nvPr/>
        </p:nvSpPr>
        <p:spPr>
          <a:xfrm>
            <a:off x="1150621" y="24180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69" name="Google Shape;269;p10"/>
          <p:cNvSpPr/>
          <p:nvPr/>
        </p:nvSpPr>
        <p:spPr>
          <a:xfrm>
            <a:off x="1303021" y="24180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0" name="Google Shape;270;p10"/>
          <p:cNvSpPr/>
          <p:nvPr/>
        </p:nvSpPr>
        <p:spPr>
          <a:xfrm>
            <a:off x="1150621" y="24942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1" name="Google Shape;271;p10"/>
          <p:cNvSpPr/>
          <p:nvPr/>
        </p:nvSpPr>
        <p:spPr>
          <a:xfrm>
            <a:off x="1303021" y="24942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2" name="Google Shape;272;p10"/>
          <p:cNvSpPr/>
          <p:nvPr/>
        </p:nvSpPr>
        <p:spPr>
          <a:xfrm>
            <a:off x="1150621" y="25704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3" name="Google Shape;273;p10"/>
          <p:cNvSpPr/>
          <p:nvPr/>
        </p:nvSpPr>
        <p:spPr>
          <a:xfrm>
            <a:off x="1303021" y="25704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4" name="Google Shape;274;p10"/>
          <p:cNvSpPr/>
          <p:nvPr/>
        </p:nvSpPr>
        <p:spPr>
          <a:xfrm>
            <a:off x="1150621" y="26466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5" name="Google Shape;275;p10"/>
          <p:cNvSpPr/>
          <p:nvPr/>
        </p:nvSpPr>
        <p:spPr>
          <a:xfrm>
            <a:off x="1303021" y="26466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6" name="Google Shape;276;p10"/>
          <p:cNvSpPr/>
          <p:nvPr/>
        </p:nvSpPr>
        <p:spPr>
          <a:xfrm>
            <a:off x="1150621" y="27228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7" name="Google Shape;277;p10"/>
          <p:cNvSpPr/>
          <p:nvPr/>
        </p:nvSpPr>
        <p:spPr>
          <a:xfrm>
            <a:off x="1303021" y="27228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8" name="Google Shape;278;p10"/>
          <p:cNvSpPr/>
          <p:nvPr/>
        </p:nvSpPr>
        <p:spPr>
          <a:xfrm>
            <a:off x="1150621" y="27990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79" name="Google Shape;279;p10"/>
          <p:cNvSpPr/>
          <p:nvPr/>
        </p:nvSpPr>
        <p:spPr>
          <a:xfrm>
            <a:off x="1303021" y="27990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0" name="Google Shape;280;p10"/>
          <p:cNvSpPr/>
          <p:nvPr/>
        </p:nvSpPr>
        <p:spPr>
          <a:xfrm>
            <a:off x="1150621" y="28752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1" name="Google Shape;281;p10"/>
          <p:cNvSpPr/>
          <p:nvPr/>
        </p:nvSpPr>
        <p:spPr>
          <a:xfrm>
            <a:off x="1303021" y="28752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2" name="Google Shape;282;p10"/>
          <p:cNvSpPr/>
          <p:nvPr/>
        </p:nvSpPr>
        <p:spPr>
          <a:xfrm>
            <a:off x="1150621" y="29514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3" name="Google Shape;283;p10"/>
          <p:cNvSpPr/>
          <p:nvPr/>
        </p:nvSpPr>
        <p:spPr>
          <a:xfrm>
            <a:off x="1303021" y="29514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4" name="Google Shape;284;p10"/>
          <p:cNvSpPr/>
          <p:nvPr/>
        </p:nvSpPr>
        <p:spPr>
          <a:xfrm>
            <a:off x="1150621" y="30276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5" name="Google Shape;285;p10"/>
          <p:cNvSpPr/>
          <p:nvPr/>
        </p:nvSpPr>
        <p:spPr>
          <a:xfrm>
            <a:off x="1303021" y="30276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6" name="Google Shape;286;p10"/>
          <p:cNvSpPr/>
          <p:nvPr/>
        </p:nvSpPr>
        <p:spPr>
          <a:xfrm>
            <a:off x="1150621" y="31038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7" name="Google Shape;287;p10"/>
          <p:cNvSpPr/>
          <p:nvPr/>
        </p:nvSpPr>
        <p:spPr>
          <a:xfrm>
            <a:off x="1303021" y="31038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8" name="Google Shape;288;p10"/>
          <p:cNvSpPr/>
          <p:nvPr/>
        </p:nvSpPr>
        <p:spPr>
          <a:xfrm>
            <a:off x="1150621" y="31800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9" name="Google Shape;289;p10"/>
          <p:cNvSpPr/>
          <p:nvPr/>
        </p:nvSpPr>
        <p:spPr>
          <a:xfrm>
            <a:off x="1303021" y="31800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0" name="Google Shape;290;p10"/>
          <p:cNvSpPr/>
          <p:nvPr/>
        </p:nvSpPr>
        <p:spPr>
          <a:xfrm>
            <a:off x="1150621" y="34086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1" name="Google Shape;291;p10"/>
          <p:cNvSpPr/>
          <p:nvPr/>
        </p:nvSpPr>
        <p:spPr>
          <a:xfrm>
            <a:off x="1303021" y="34086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2" name="Google Shape;292;p10"/>
          <p:cNvSpPr/>
          <p:nvPr/>
        </p:nvSpPr>
        <p:spPr>
          <a:xfrm>
            <a:off x="1150621" y="34848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3" name="Google Shape;293;p10"/>
          <p:cNvSpPr/>
          <p:nvPr/>
        </p:nvSpPr>
        <p:spPr>
          <a:xfrm>
            <a:off x="1303021" y="34848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4" name="Google Shape;294;p10"/>
          <p:cNvSpPr/>
          <p:nvPr/>
        </p:nvSpPr>
        <p:spPr>
          <a:xfrm>
            <a:off x="1150621" y="35610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5" name="Google Shape;295;p10"/>
          <p:cNvSpPr/>
          <p:nvPr/>
        </p:nvSpPr>
        <p:spPr>
          <a:xfrm>
            <a:off x="1303021" y="35610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6" name="Google Shape;296;p10"/>
          <p:cNvSpPr/>
          <p:nvPr/>
        </p:nvSpPr>
        <p:spPr>
          <a:xfrm>
            <a:off x="1150621" y="36372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7" name="Google Shape;297;p10"/>
          <p:cNvSpPr/>
          <p:nvPr/>
        </p:nvSpPr>
        <p:spPr>
          <a:xfrm>
            <a:off x="1303021" y="36372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8" name="Google Shape;298;p10"/>
          <p:cNvSpPr/>
          <p:nvPr/>
        </p:nvSpPr>
        <p:spPr>
          <a:xfrm>
            <a:off x="1150621" y="3713481"/>
            <a:ext cx="152400" cy="74612"/>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99" name="Google Shape;299;p10"/>
          <p:cNvSpPr/>
          <p:nvPr/>
        </p:nvSpPr>
        <p:spPr>
          <a:xfrm>
            <a:off x="1303021" y="3713481"/>
            <a:ext cx="11430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00" name="Google Shape;300;p10"/>
          <p:cNvSpPr/>
          <p:nvPr/>
        </p:nvSpPr>
        <p:spPr>
          <a:xfrm>
            <a:off x="5036822" y="1201737"/>
            <a:ext cx="3361344" cy="2815031"/>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rgbClr val="00B1C2"/>
              </a:buClr>
              <a:buSzPct val="100000"/>
            </a:pPr>
            <a:r>
              <a:rPr lang="es-ES_tradnl" sz="1600" dirty="0">
                <a:latin typeface="Calibri" panose="020F0502020204030204" pitchFamily="34" charset="0"/>
                <a:ea typeface="Calibri"/>
                <a:cs typeface="Calibri" panose="020F0502020204030204" pitchFamily="34" charset="0"/>
                <a:sym typeface="Calibri"/>
              </a:rPr>
              <a:t>Una práctica común es particionar por tiempo, dado que es frecuente encontrar este tipo de preguntas en las consultas a los Sistemas de Soporte a la Toma de Decisiones. </a:t>
            </a:r>
            <a:endParaRPr lang="es-ES_tradnl" sz="1600" dirty="0">
              <a:latin typeface="Calibri" panose="020F0502020204030204" pitchFamily="34" charset="0"/>
              <a:cs typeface="Calibri" panose="020F0502020204030204" pitchFamily="34" charset="0"/>
            </a:endParaRPr>
          </a:p>
          <a:p>
            <a:pPr marR="0" lvl="0" algn="l" rtl="0">
              <a:spcBef>
                <a:spcPts val="320"/>
              </a:spcBef>
              <a:spcAft>
                <a:spcPts val="0"/>
              </a:spcAft>
              <a:buClr>
                <a:srgbClr val="00B1C2"/>
              </a:buClr>
              <a:buSzPct val="100000"/>
            </a:pPr>
            <a:endParaRPr lang="es-ES_tradnl" sz="1600" dirty="0">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B1C2"/>
              </a:buClr>
              <a:buSzPct val="100000"/>
            </a:pPr>
            <a:r>
              <a:rPr lang="es-ES_tradnl" sz="1600" dirty="0">
                <a:latin typeface="Calibri" panose="020F0502020204030204" pitchFamily="34" charset="0"/>
                <a:ea typeface="Calibri"/>
                <a:cs typeface="Calibri" panose="020F0502020204030204" pitchFamily="34" charset="0"/>
                <a:sym typeface="Calibri"/>
              </a:rPr>
              <a:t>Elegir el criterio de HTP de una tabla puede ser un desafío, dado que la estrategia de una partición favorece a un conjunto de </a:t>
            </a:r>
            <a:r>
              <a:rPr lang="es-ES_tradnl" sz="1600" dirty="0" err="1">
                <a:latin typeface="Calibri" panose="020F0502020204030204" pitchFamily="34" charset="0"/>
                <a:ea typeface="Calibri"/>
                <a:cs typeface="Calibri" panose="020F0502020204030204" pitchFamily="34" charset="0"/>
                <a:sym typeface="Calibri"/>
              </a:rPr>
              <a:t>queries</a:t>
            </a:r>
            <a:r>
              <a:rPr lang="es-ES_tradnl" sz="1600" dirty="0">
                <a:latin typeface="Calibri" panose="020F0502020204030204" pitchFamily="34" charset="0"/>
                <a:ea typeface="Calibri"/>
                <a:cs typeface="Calibri" panose="020F0502020204030204" pitchFamily="34" charset="0"/>
                <a:sym typeface="Calibri"/>
              </a:rPr>
              <a:t> sobre otro.</a:t>
            </a:r>
            <a:endParaRPr lang="es-ES_tradnl" sz="1600" dirty="0">
              <a:latin typeface="Calibri" panose="020F0502020204030204" pitchFamily="34" charset="0"/>
              <a:cs typeface="Calibri" panose="020F0502020204030204" pitchFamily="34" charset="0"/>
            </a:endParaRPr>
          </a:p>
        </p:txBody>
      </p:sp>
      <p:sp>
        <p:nvSpPr>
          <p:cNvPr id="301" name="Google Shape;301;p10"/>
          <p:cNvSpPr/>
          <p:nvPr/>
        </p:nvSpPr>
        <p:spPr>
          <a:xfrm>
            <a:off x="2674621" y="1784777"/>
            <a:ext cx="2362200" cy="181588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Criterio para particionar:</a:t>
            </a:r>
          </a:p>
          <a:p>
            <a:pPr marL="0" marR="0" lvl="0" indent="0" algn="l" rtl="0">
              <a:spcBef>
                <a:spcPts val="0"/>
              </a:spcBef>
              <a:spcAft>
                <a:spcPts val="0"/>
              </a:spcAft>
              <a:buNone/>
            </a:pPr>
            <a:r>
              <a:rPr lang="es-ES_tradnl" sz="1400" dirty="0">
                <a:solidFill>
                  <a:schemeClr val="dk1"/>
                </a:solidFill>
                <a:latin typeface="Calibri" panose="020F0502020204030204" pitchFamily="34" charset="0"/>
                <a:ea typeface="Quattrocento Sans"/>
                <a:cs typeface="Calibri" panose="020F0502020204030204" pitchFamily="34" charset="0"/>
                <a:sym typeface="Quattrocento Sans"/>
              </a:rPr>
              <a:t>Tiempo:</a:t>
            </a:r>
            <a:endParaRPr lang="es-ES_tradnl" dirty="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s-ES_tradnl" sz="1400" dirty="0">
                <a:solidFill>
                  <a:schemeClr val="dk1"/>
                </a:solidFill>
                <a:latin typeface="Calibri" panose="020F0502020204030204" pitchFamily="34" charset="0"/>
                <a:ea typeface="Quattrocento Sans"/>
                <a:cs typeface="Calibri" panose="020F0502020204030204" pitchFamily="34" charset="0"/>
                <a:sym typeface="Quattrocento Sans"/>
              </a:rPr>
              <a:t>	Año, Mes.</a:t>
            </a:r>
            <a:endParaRPr lang="es-ES_tradnl" dirty="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s-ES_tradnl" sz="1400" dirty="0">
                <a:solidFill>
                  <a:schemeClr val="dk1"/>
                </a:solidFill>
                <a:latin typeface="Calibri" panose="020F0502020204030204" pitchFamily="34" charset="0"/>
                <a:ea typeface="Quattrocento Sans"/>
                <a:cs typeface="Calibri" panose="020F0502020204030204" pitchFamily="34" charset="0"/>
                <a:sym typeface="Quattrocento Sans"/>
              </a:rPr>
              <a:t>Geografía:</a:t>
            </a:r>
            <a:endParaRPr lang="es-ES_tradnl" dirty="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s-ES_tradnl" sz="1400" dirty="0">
                <a:solidFill>
                  <a:schemeClr val="dk1"/>
                </a:solidFill>
                <a:latin typeface="Calibri" panose="020F0502020204030204" pitchFamily="34" charset="0"/>
                <a:ea typeface="Quattrocento Sans"/>
                <a:cs typeface="Calibri" panose="020F0502020204030204" pitchFamily="34" charset="0"/>
                <a:sym typeface="Quattrocento Sans"/>
              </a:rPr>
              <a:t>	Norte, Sur.</a:t>
            </a:r>
            <a:endParaRPr lang="es-ES_tradnl" dirty="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s-ES_tradnl" sz="1400" dirty="0">
                <a:solidFill>
                  <a:schemeClr val="dk1"/>
                </a:solidFill>
                <a:latin typeface="Calibri" panose="020F0502020204030204" pitchFamily="34" charset="0"/>
                <a:ea typeface="Quattrocento Sans"/>
                <a:cs typeface="Calibri" panose="020F0502020204030204" pitchFamily="34" charset="0"/>
                <a:sym typeface="Quattrocento Sans"/>
              </a:rPr>
              <a:t>Organización:</a:t>
            </a:r>
            <a:endParaRPr lang="es-ES_tradnl" dirty="0">
              <a:latin typeface="Calibri" panose="020F0502020204030204" pitchFamily="34" charset="0"/>
              <a:cs typeface="Calibri" panose="020F0502020204030204" pitchFamily="34" charset="0"/>
            </a:endParaRPr>
          </a:p>
          <a:p>
            <a:pPr marL="742950" marR="0" lvl="1" indent="-285750" algn="l" rtl="0">
              <a:spcBef>
                <a:spcPts val="0"/>
              </a:spcBef>
              <a:spcAft>
                <a:spcPts val="0"/>
              </a:spcAft>
              <a:buNone/>
            </a:pPr>
            <a:r>
              <a:rPr lang="es-ES_tradnl" sz="1400" b="0" i="0" u="none" strike="noStrike" cap="none" dirty="0">
                <a:solidFill>
                  <a:schemeClr val="dk1"/>
                </a:solidFill>
                <a:latin typeface="Calibri" panose="020F0502020204030204" pitchFamily="34" charset="0"/>
                <a:ea typeface="Quattrocento Sans"/>
                <a:cs typeface="Calibri" panose="020F0502020204030204" pitchFamily="34" charset="0"/>
                <a:sym typeface="Quattrocento Sans"/>
              </a:rPr>
              <a:t>Marketing,</a:t>
            </a:r>
            <a:endParaRPr lang="es-ES_tradnl" dirty="0">
              <a:latin typeface="Calibri" panose="020F0502020204030204" pitchFamily="34" charset="0"/>
              <a:cs typeface="Calibri" panose="020F0502020204030204" pitchFamily="34" charset="0"/>
            </a:endParaRPr>
          </a:p>
          <a:p>
            <a:pPr marL="742950" marR="0" lvl="1" indent="-285750" algn="l" rtl="0">
              <a:spcBef>
                <a:spcPts val="0"/>
              </a:spcBef>
              <a:spcAft>
                <a:spcPts val="0"/>
              </a:spcAft>
              <a:buNone/>
            </a:pPr>
            <a:r>
              <a:rPr lang="es-ES_tradnl" sz="1400" b="0" i="0" u="none" strike="noStrike" cap="none" dirty="0">
                <a:solidFill>
                  <a:schemeClr val="dk1"/>
                </a:solidFill>
                <a:latin typeface="Calibri" panose="020F0502020204030204" pitchFamily="34" charset="0"/>
                <a:ea typeface="Quattrocento Sans"/>
                <a:cs typeface="Calibri" panose="020F0502020204030204" pitchFamily="34" charset="0"/>
                <a:sym typeface="Quattrocento Sans"/>
              </a:rPr>
              <a:t>Manufactura.</a:t>
            </a:r>
            <a:endParaRPr lang="es-ES_tradnl" dirty="0">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C3291B63-15A6-EE08-14DD-226E602B7BD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DEL DATA WAREHOUSE</a:t>
            </a:r>
            <a:endParaRPr lang="es-PE" sz="1000" dirty="0">
              <a:solidFill>
                <a:schemeClr val="bg1">
                  <a:lumMod val="65000"/>
                </a:schemeClr>
              </a:solidFill>
              <a:latin typeface="Calibri" charset="0"/>
              <a:cs typeface="Calibri" charset="0"/>
            </a:endParaRPr>
          </a:p>
        </p:txBody>
      </p:sp>
      <p:cxnSp>
        <p:nvCxnSpPr>
          <p:cNvPr id="3" name="Conector recto 2">
            <a:extLst>
              <a:ext uri="{FF2B5EF4-FFF2-40B4-BE49-F238E27FC236}">
                <a16:creationId xmlns:a16="http://schemas.microsoft.com/office/drawing/2014/main" id="{0F226E92-9945-1A11-F9E8-27500D39203E}"/>
              </a:ext>
            </a:extLst>
          </p:cNvPr>
          <p:cNvCxnSpPr>
            <a:cxnSpLocks/>
          </p:cNvCxnSpPr>
          <p:nvPr/>
        </p:nvCxnSpPr>
        <p:spPr>
          <a:xfrm>
            <a:off x="4850593" y="1426212"/>
            <a:ext cx="0" cy="1295081"/>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4" name="Más 3">
            <a:extLst>
              <a:ext uri="{FF2B5EF4-FFF2-40B4-BE49-F238E27FC236}">
                <a16:creationId xmlns:a16="http://schemas.microsoft.com/office/drawing/2014/main" id="{3A247BF6-F144-633A-3A4B-3E3887B9E8DA}"/>
              </a:ext>
            </a:extLst>
          </p:cNvPr>
          <p:cNvSpPr/>
          <p:nvPr/>
        </p:nvSpPr>
        <p:spPr>
          <a:xfrm>
            <a:off x="4774251" y="1233114"/>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Más 4">
            <a:extLst>
              <a:ext uri="{FF2B5EF4-FFF2-40B4-BE49-F238E27FC236}">
                <a16:creationId xmlns:a16="http://schemas.microsoft.com/office/drawing/2014/main" id="{AD07C515-D739-B174-D1D5-C2D8B3960EEC}"/>
              </a:ext>
            </a:extLst>
          </p:cNvPr>
          <p:cNvSpPr/>
          <p:nvPr/>
        </p:nvSpPr>
        <p:spPr>
          <a:xfrm>
            <a:off x="4774251" y="2802834"/>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9" name="Google Shape;309;p11"/>
          <p:cNvSpPr txBox="1"/>
          <p:nvPr/>
        </p:nvSpPr>
        <p:spPr>
          <a:xfrm>
            <a:off x="503238" y="920487"/>
            <a:ext cx="2829560" cy="507831"/>
          </a:xfrm>
          <a:prstGeom prst="rect">
            <a:avLst/>
          </a:prstGeom>
          <a:noFill/>
          <a:ln>
            <a:noFill/>
          </a:ln>
        </p:spPr>
        <p:txBody>
          <a:bodyPr spcFirstLastPara="1" wrap="square" lIns="0" tIns="0" rIns="0" bIns="0" anchor="ctr" anchorCtr="0">
            <a:spAutoFit/>
          </a:bodyPr>
          <a:lstStyle/>
          <a:p>
            <a:pPr>
              <a:spcAft>
                <a:spcPts val="600"/>
              </a:spcAft>
            </a:pPr>
            <a:r>
              <a:rPr lang="es-ES_tradnl" sz="1400" b="1" dirty="0">
                <a:solidFill>
                  <a:schemeClr val="dk1"/>
                </a:solidFill>
                <a:ea typeface="Calibri"/>
                <a:cs typeface="Calibri"/>
                <a:sym typeface="Calibri"/>
              </a:rPr>
              <a:t>VERTICAL</a:t>
            </a:r>
          </a:p>
          <a:p>
            <a:pPr marL="0" marR="0" lvl="0" indent="0" algn="l" rtl="0">
              <a:spcBef>
                <a:spcPts val="0"/>
              </a:spcBef>
              <a:spcAft>
                <a:spcPts val="0"/>
              </a:spcAft>
              <a:buNone/>
            </a:pPr>
            <a:r>
              <a:rPr lang="es-ES_tradnl" sz="1400" dirty="0">
                <a:solidFill>
                  <a:schemeClr val="dk1"/>
                </a:solidFill>
                <a:ea typeface="Quattrocento Sans"/>
                <a:cs typeface="Quattrocento Sans"/>
                <a:sym typeface="Quattrocento Sans"/>
              </a:rPr>
              <a:t>Tabla particionada vertical (VTP)</a:t>
            </a:r>
            <a:endParaRPr lang="es-ES_tradnl" dirty="0"/>
          </a:p>
        </p:txBody>
      </p:sp>
      <p:sp>
        <p:nvSpPr>
          <p:cNvPr id="310" name="Google Shape;310;p11"/>
          <p:cNvSpPr/>
          <p:nvPr/>
        </p:nvSpPr>
        <p:spPr>
          <a:xfrm>
            <a:off x="5059680" y="1202633"/>
            <a:ext cx="3330562" cy="2109070"/>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chemeClr val="dk2"/>
              </a:buClr>
              <a:buSzPts val="1200"/>
            </a:pPr>
            <a:r>
              <a:rPr lang="es-ES_tradnl" sz="1600" dirty="0">
                <a:latin typeface="Calibri" panose="020F0502020204030204" pitchFamily="34" charset="0"/>
                <a:ea typeface="Calibri"/>
                <a:cs typeface="Calibri" panose="020F0502020204030204" pitchFamily="34" charset="0"/>
                <a:sym typeface="Calibri"/>
              </a:rPr>
              <a:t>Una razón común para aplicar VTP a una tabla es acelerar el acceso a los </a:t>
            </a:r>
            <a:r>
              <a:rPr lang="es-ES_tradnl" sz="1600" dirty="0" err="1">
                <a:latin typeface="Calibri" panose="020F0502020204030204" pitchFamily="34" charset="0"/>
                <a:ea typeface="Calibri"/>
                <a:cs typeface="Calibri" panose="020F0502020204030204" pitchFamily="34" charset="0"/>
                <a:sym typeface="Calibri"/>
              </a:rPr>
              <a:t>queries</a:t>
            </a:r>
            <a:r>
              <a:rPr lang="es-ES_tradnl" sz="1600" dirty="0">
                <a:latin typeface="Calibri" panose="020F0502020204030204" pitchFamily="34" charset="0"/>
                <a:ea typeface="Calibri"/>
                <a:cs typeface="Calibri" panose="020F0502020204030204" pitchFamily="34" charset="0"/>
                <a:sym typeface="Calibri"/>
              </a:rPr>
              <a:t> emitidos por un conjunto muy diverso de usuarios.</a:t>
            </a:r>
            <a:endParaRPr lang="es-ES_tradnl" sz="1600" dirty="0">
              <a:latin typeface="Calibri" panose="020F0502020204030204" pitchFamily="34" charset="0"/>
              <a:cs typeface="Calibri" panose="020F0502020204030204" pitchFamily="34" charset="0"/>
            </a:endParaRPr>
          </a:p>
          <a:p>
            <a:pPr marL="76200" marR="0" lvl="0" algn="l" rtl="0">
              <a:spcBef>
                <a:spcPts val="320"/>
              </a:spcBef>
              <a:spcAft>
                <a:spcPts val="0"/>
              </a:spcAft>
              <a:buClr>
                <a:schemeClr val="dk2"/>
              </a:buClr>
              <a:buSzPts val="1200"/>
            </a:pPr>
            <a:endParaRPr lang="es-ES_tradnl" sz="1600" dirty="0">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chemeClr val="dk2"/>
              </a:buClr>
              <a:buSzPts val="1200"/>
            </a:pPr>
            <a:r>
              <a:rPr lang="es-ES_tradnl" sz="1600" dirty="0">
                <a:latin typeface="Calibri" panose="020F0502020204030204" pitchFamily="34" charset="0"/>
                <a:ea typeface="Calibri"/>
                <a:cs typeface="Calibri" panose="020F0502020204030204" pitchFamily="34" charset="0"/>
                <a:sym typeface="Calibri"/>
              </a:rPr>
              <a:t>Transporta la sobrecarga de espacio asociada con la duplicación de claves en todas las particiones.</a:t>
            </a:r>
            <a:endParaRPr lang="es-ES_tradnl" sz="1600" dirty="0">
              <a:latin typeface="Calibri" panose="020F0502020204030204" pitchFamily="34" charset="0"/>
              <a:cs typeface="Calibri" panose="020F0502020204030204" pitchFamily="34" charset="0"/>
            </a:endParaRPr>
          </a:p>
        </p:txBody>
      </p:sp>
      <p:sp>
        <p:nvSpPr>
          <p:cNvPr id="311" name="Google Shape;311;p11"/>
          <p:cNvSpPr/>
          <p:nvPr/>
        </p:nvSpPr>
        <p:spPr>
          <a:xfrm>
            <a:off x="1234885" y="1789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2" name="Google Shape;312;p11"/>
          <p:cNvSpPr/>
          <p:nvPr/>
        </p:nvSpPr>
        <p:spPr>
          <a:xfrm>
            <a:off x="1387285" y="1789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3" name="Google Shape;313;p11"/>
          <p:cNvSpPr/>
          <p:nvPr/>
        </p:nvSpPr>
        <p:spPr>
          <a:xfrm>
            <a:off x="1234885" y="1865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4" name="Google Shape;314;p11"/>
          <p:cNvSpPr/>
          <p:nvPr/>
        </p:nvSpPr>
        <p:spPr>
          <a:xfrm>
            <a:off x="1387285" y="1865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5" name="Google Shape;315;p11"/>
          <p:cNvSpPr/>
          <p:nvPr/>
        </p:nvSpPr>
        <p:spPr>
          <a:xfrm>
            <a:off x="1234885" y="1941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6" name="Google Shape;316;p11"/>
          <p:cNvSpPr/>
          <p:nvPr/>
        </p:nvSpPr>
        <p:spPr>
          <a:xfrm>
            <a:off x="1387285" y="1941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7" name="Google Shape;317;p11"/>
          <p:cNvSpPr/>
          <p:nvPr/>
        </p:nvSpPr>
        <p:spPr>
          <a:xfrm>
            <a:off x="1234885" y="2017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8" name="Google Shape;318;p11"/>
          <p:cNvSpPr/>
          <p:nvPr/>
        </p:nvSpPr>
        <p:spPr>
          <a:xfrm>
            <a:off x="1387285" y="2017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19" name="Google Shape;319;p11"/>
          <p:cNvSpPr/>
          <p:nvPr/>
        </p:nvSpPr>
        <p:spPr>
          <a:xfrm>
            <a:off x="1234885" y="2094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0" name="Google Shape;320;p11"/>
          <p:cNvSpPr/>
          <p:nvPr/>
        </p:nvSpPr>
        <p:spPr>
          <a:xfrm>
            <a:off x="1387285" y="2094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1" name="Google Shape;321;p11"/>
          <p:cNvSpPr/>
          <p:nvPr/>
        </p:nvSpPr>
        <p:spPr>
          <a:xfrm>
            <a:off x="1234885" y="2170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2" name="Google Shape;322;p11"/>
          <p:cNvSpPr/>
          <p:nvPr/>
        </p:nvSpPr>
        <p:spPr>
          <a:xfrm>
            <a:off x="1387285" y="2170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3" name="Google Shape;323;p11"/>
          <p:cNvSpPr/>
          <p:nvPr/>
        </p:nvSpPr>
        <p:spPr>
          <a:xfrm>
            <a:off x="1234885" y="2246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4" name="Google Shape;324;p11"/>
          <p:cNvSpPr/>
          <p:nvPr/>
        </p:nvSpPr>
        <p:spPr>
          <a:xfrm>
            <a:off x="1387285" y="2246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5" name="Google Shape;325;p11"/>
          <p:cNvSpPr/>
          <p:nvPr/>
        </p:nvSpPr>
        <p:spPr>
          <a:xfrm>
            <a:off x="1234885" y="2322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6" name="Google Shape;326;p11"/>
          <p:cNvSpPr/>
          <p:nvPr/>
        </p:nvSpPr>
        <p:spPr>
          <a:xfrm>
            <a:off x="1387285" y="2322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7" name="Google Shape;327;p11"/>
          <p:cNvSpPr/>
          <p:nvPr/>
        </p:nvSpPr>
        <p:spPr>
          <a:xfrm>
            <a:off x="1234885" y="2398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8" name="Google Shape;328;p11"/>
          <p:cNvSpPr/>
          <p:nvPr/>
        </p:nvSpPr>
        <p:spPr>
          <a:xfrm>
            <a:off x="1387285" y="2398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29" name="Google Shape;329;p11"/>
          <p:cNvSpPr/>
          <p:nvPr/>
        </p:nvSpPr>
        <p:spPr>
          <a:xfrm>
            <a:off x="1234885" y="2475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0" name="Google Shape;330;p11"/>
          <p:cNvSpPr/>
          <p:nvPr/>
        </p:nvSpPr>
        <p:spPr>
          <a:xfrm>
            <a:off x="1387285" y="2475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1" name="Google Shape;331;p11"/>
          <p:cNvSpPr/>
          <p:nvPr/>
        </p:nvSpPr>
        <p:spPr>
          <a:xfrm>
            <a:off x="1234885" y="2551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2" name="Google Shape;332;p11"/>
          <p:cNvSpPr/>
          <p:nvPr/>
        </p:nvSpPr>
        <p:spPr>
          <a:xfrm>
            <a:off x="1387285" y="2551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3" name="Google Shape;333;p11"/>
          <p:cNvSpPr/>
          <p:nvPr/>
        </p:nvSpPr>
        <p:spPr>
          <a:xfrm>
            <a:off x="1234885" y="2627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4" name="Google Shape;334;p11"/>
          <p:cNvSpPr/>
          <p:nvPr/>
        </p:nvSpPr>
        <p:spPr>
          <a:xfrm>
            <a:off x="1387285" y="2627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5" name="Google Shape;335;p11"/>
          <p:cNvSpPr/>
          <p:nvPr/>
        </p:nvSpPr>
        <p:spPr>
          <a:xfrm>
            <a:off x="1234885" y="2703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6" name="Google Shape;336;p11"/>
          <p:cNvSpPr/>
          <p:nvPr/>
        </p:nvSpPr>
        <p:spPr>
          <a:xfrm>
            <a:off x="1387285" y="2703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7" name="Google Shape;337;p11"/>
          <p:cNvSpPr/>
          <p:nvPr/>
        </p:nvSpPr>
        <p:spPr>
          <a:xfrm>
            <a:off x="1234885" y="2779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8" name="Google Shape;338;p11"/>
          <p:cNvSpPr/>
          <p:nvPr/>
        </p:nvSpPr>
        <p:spPr>
          <a:xfrm>
            <a:off x="1387285" y="2779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39" name="Google Shape;339;p11"/>
          <p:cNvSpPr/>
          <p:nvPr/>
        </p:nvSpPr>
        <p:spPr>
          <a:xfrm>
            <a:off x="1234885" y="2856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0" name="Google Shape;340;p11"/>
          <p:cNvSpPr/>
          <p:nvPr/>
        </p:nvSpPr>
        <p:spPr>
          <a:xfrm>
            <a:off x="1387285" y="2856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1" name="Google Shape;341;p11"/>
          <p:cNvSpPr/>
          <p:nvPr/>
        </p:nvSpPr>
        <p:spPr>
          <a:xfrm>
            <a:off x="1234885" y="2932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2" name="Google Shape;342;p11"/>
          <p:cNvSpPr/>
          <p:nvPr/>
        </p:nvSpPr>
        <p:spPr>
          <a:xfrm>
            <a:off x="1387285" y="2932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3" name="Google Shape;343;p11"/>
          <p:cNvSpPr/>
          <p:nvPr/>
        </p:nvSpPr>
        <p:spPr>
          <a:xfrm>
            <a:off x="1234885" y="3008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4" name="Google Shape;344;p11"/>
          <p:cNvSpPr/>
          <p:nvPr/>
        </p:nvSpPr>
        <p:spPr>
          <a:xfrm>
            <a:off x="1387285" y="3008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5" name="Google Shape;345;p11"/>
          <p:cNvSpPr/>
          <p:nvPr/>
        </p:nvSpPr>
        <p:spPr>
          <a:xfrm>
            <a:off x="1234885" y="3084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6" name="Google Shape;346;p11"/>
          <p:cNvSpPr/>
          <p:nvPr/>
        </p:nvSpPr>
        <p:spPr>
          <a:xfrm>
            <a:off x="1387285" y="3084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7" name="Google Shape;347;p11"/>
          <p:cNvSpPr/>
          <p:nvPr/>
        </p:nvSpPr>
        <p:spPr>
          <a:xfrm>
            <a:off x="1234885" y="3160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8" name="Google Shape;348;p11"/>
          <p:cNvSpPr/>
          <p:nvPr/>
        </p:nvSpPr>
        <p:spPr>
          <a:xfrm>
            <a:off x="1387285" y="3160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49" name="Google Shape;349;p11"/>
          <p:cNvSpPr/>
          <p:nvPr/>
        </p:nvSpPr>
        <p:spPr>
          <a:xfrm>
            <a:off x="1234885" y="3237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0" name="Google Shape;350;p11"/>
          <p:cNvSpPr/>
          <p:nvPr/>
        </p:nvSpPr>
        <p:spPr>
          <a:xfrm>
            <a:off x="1387285" y="3237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1" name="Google Shape;351;p11"/>
          <p:cNvSpPr/>
          <p:nvPr/>
        </p:nvSpPr>
        <p:spPr>
          <a:xfrm>
            <a:off x="1234885" y="3313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2" name="Google Shape;352;p11"/>
          <p:cNvSpPr/>
          <p:nvPr/>
        </p:nvSpPr>
        <p:spPr>
          <a:xfrm>
            <a:off x="1387285" y="3313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3" name="Google Shape;353;p11"/>
          <p:cNvSpPr/>
          <p:nvPr/>
        </p:nvSpPr>
        <p:spPr>
          <a:xfrm>
            <a:off x="1234885" y="3389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4" name="Google Shape;354;p11"/>
          <p:cNvSpPr/>
          <p:nvPr/>
        </p:nvSpPr>
        <p:spPr>
          <a:xfrm>
            <a:off x="1387285" y="3389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5" name="Google Shape;355;p11"/>
          <p:cNvSpPr/>
          <p:nvPr/>
        </p:nvSpPr>
        <p:spPr>
          <a:xfrm>
            <a:off x="1234885" y="3465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6" name="Google Shape;356;p11"/>
          <p:cNvSpPr/>
          <p:nvPr/>
        </p:nvSpPr>
        <p:spPr>
          <a:xfrm>
            <a:off x="1387285" y="3465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7" name="Google Shape;357;p11"/>
          <p:cNvSpPr/>
          <p:nvPr/>
        </p:nvSpPr>
        <p:spPr>
          <a:xfrm>
            <a:off x="1234885" y="3541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8" name="Google Shape;358;p11"/>
          <p:cNvSpPr/>
          <p:nvPr/>
        </p:nvSpPr>
        <p:spPr>
          <a:xfrm>
            <a:off x="1387285" y="3541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59" name="Google Shape;359;p11"/>
          <p:cNvSpPr/>
          <p:nvPr/>
        </p:nvSpPr>
        <p:spPr>
          <a:xfrm>
            <a:off x="1234885" y="3618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0" name="Google Shape;360;p11"/>
          <p:cNvSpPr/>
          <p:nvPr/>
        </p:nvSpPr>
        <p:spPr>
          <a:xfrm>
            <a:off x="1387285" y="3618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1" name="Google Shape;361;p11"/>
          <p:cNvSpPr/>
          <p:nvPr/>
        </p:nvSpPr>
        <p:spPr>
          <a:xfrm>
            <a:off x="2073085" y="1789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2" name="Google Shape;362;p11"/>
          <p:cNvSpPr/>
          <p:nvPr/>
        </p:nvSpPr>
        <p:spPr>
          <a:xfrm>
            <a:off x="2225485" y="1789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3" name="Google Shape;363;p11"/>
          <p:cNvSpPr/>
          <p:nvPr/>
        </p:nvSpPr>
        <p:spPr>
          <a:xfrm>
            <a:off x="2073085" y="1865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4" name="Google Shape;364;p11"/>
          <p:cNvSpPr/>
          <p:nvPr/>
        </p:nvSpPr>
        <p:spPr>
          <a:xfrm>
            <a:off x="2225485" y="1865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5" name="Google Shape;365;p11"/>
          <p:cNvSpPr/>
          <p:nvPr/>
        </p:nvSpPr>
        <p:spPr>
          <a:xfrm>
            <a:off x="2073085" y="1941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6" name="Google Shape;366;p11"/>
          <p:cNvSpPr/>
          <p:nvPr/>
        </p:nvSpPr>
        <p:spPr>
          <a:xfrm>
            <a:off x="2225485" y="1941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7" name="Google Shape;367;p11"/>
          <p:cNvSpPr/>
          <p:nvPr/>
        </p:nvSpPr>
        <p:spPr>
          <a:xfrm>
            <a:off x="2073085" y="2017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8" name="Google Shape;368;p11"/>
          <p:cNvSpPr/>
          <p:nvPr/>
        </p:nvSpPr>
        <p:spPr>
          <a:xfrm>
            <a:off x="2225485" y="2017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69" name="Google Shape;369;p11"/>
          <p:cNvSpPr/>
          <p:nvPr/>
        </p:nvSpPr>
        <p:spPr>
          <a:xfrm>
            <a:off x="2073085" y="2094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0" name="Google Shape;370;p11"/>
          <p:cNvSpPr/>
          <p:nvPr/>
        </p:nvSpPr>
        <p:spPr>
          <a:xfrm>
            <a:off x="2225485" y="2094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1" name="Google Shape;371;p11"/>
          <p:cNvSpPr/>
          <p:nvPr/>
        </p:nvSpPr>
        <p:spPr>
          <a:xfrm>
            <a:off x="2073085" y="2170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2" name="Google Shape;372;p11"/>
          <p:cNvSpPr/>
          <p:nvPr/>
        </p:nvSpPr>
        <p:spPr>
          <a:xfrm>
            <a:off x="2225485" y="2170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3" name="Google Shape;373;p11"/>
          <p:cNvSpPr/>
          <p:nvPr/>
        </p:nvSpPr>
        <p:spPr>
          <a:xfrm>
            <a:off x="2073085" y="2246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4" name="Google Shape;374;p11"/>
          <p:cNvSpPr/>
          <p:nvPr/>
        </p:nvSpPr>
        <p:spPr>
          <a:xfrm>
            <a:off x="2225485" y="2246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5" name="Google Shape;375;p11"/>
          <p:cNvSpPr/>
          <p:nvPr/>
        </p:nvSpPr>
        <p:spPr>
          <a:xfrm>
            <a:off x="2073085" y="2322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6" name="Google Shape;376;p11"/>
          <p:cNvSpPr/>
          <p:nvPr/>
        </p:nvSpPr>
        <p:spPr>
          <a:xfrm>
            <a:off x="2225485" y="2322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7" name="Google Shape;377;p11"/>
          <p:cNvSpPr/>
          <p:nvPr/>
        </p:nvSpPr>
        <p:spPr>
          <a:xfrm>
            <a:off x="2073085" y="2398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8" name="Google Shape;378;p11"/>
          <p:cNvSpPr/>
          <p:nvPr/>
        </p:nvSpPr>
        <p:spPr>
          <a:xfrm>
            <a:off x="2225485" y="2398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79" name="Google Shape;379;p11"/>
          <p:cNvSpPr/>
          <p:nvPr/>
        </p:nvSpPr>
        <p:spPr>
          <a:xfrm>
            <a:off x="2073085" y="2475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0" name="Google Shape;380;p11"/>
          <p:cNvSpPr/>
          <p:nvPr/>
        </p:nvSpPr>
        <p:spPr>
          <a:xfrm>
            <a:off x="2225485" y="2475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1" name="Google Shape;381;p11"/>
          <p:cNvSpPr/>
          <p:nvPr/>
        </p:nvSpPr>
        <p:spPr>
          <a:xfrm>
            <a:off x="2073085" y="2551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2" name="Google Shape;382;p11"/>
          <p:cNvSpPr/>
          <p:nvPr/>
        </p:nvSpPr>
        <p:spPr>
          <a:xfrm>
            <a:off x="2225485" y="2551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3" name="Google Shape;383;p11"/>
          <p:cNvSpPr/>
          <p:nvPr/>
        </p:nvSpPr>
        <p:spPr>
          <a:xfrm>
            <a:off x="2073085" y="2627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4" name="Google Shape;384;p11"/>
          <p:cNvSpPr/>
          <p:nvPr/>
        </p:nvSpPr>
        <p:spPr>
          <a:xfrm>
            <a:off x="2225485" y="2627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5" name="Google Shape;385;p11"/>
          <p:cNvSpPr/>
          <p:nvPr/>
        </p:nvSpPr>
        <p:spPr>
          <a:xfrm>
            <a:off x="2073085" y="2703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6" name="Google Shape;386;p11"/>
          <p:cNvSpPr/>
          <p:nvPr/>
        </p:nvSpPr>
        <p:spPr>
          <a:xfrm>
            <a:off x="2225485" y="2703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7" name="Google Shape;387;p11"/>
          <p:cNvSpPr/>
          <p:nvPr/>
        </p:nvSpPr>
        <p:spPr>
          <a:xfrm>
            <a:off x="2073085" y="2779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8" name="Google Shape;388;p11"/>
          <p:cNvSpPr/>
          <p:nvPr/>
        </p:nvSpPr>
        <p:spPr>
          <a:xfrm>
            <a:off x="2225485" y="2779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89" name="Google Shape;389;p11"/>
          <p:cNvSpPr/>
          <p:nvPr/>
        </p:nvSpPr>
        <p:spPr>
          <a:xfrm>
            <a:off x="2073085" y="2856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0" name="Google Shape;390;p11"/>
          <p:cNvSpPr/>
          <p:nvPr/>
        </p:nvSpPr>
        <p:spPr>
          <a:xfrm>
            <a:off x="2225485" y="2856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1" name="Google Shape;391;p11"/>
          <p:cNvSpPr/>
          <p:nvPr/>
        </p:nvSpPr>
        <p:spPr>
          <a:xfrm>
            <a:off x="2073085" y="2932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2" name="Google Shape;392;p11"/>
          <p:cNvSpPr/>
          <p:nvPr/>
        </p:nvSpPr>
        <p:spPr>
          <a:xfrm>
            <a:off x="2225485" y="2932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3" name="Google Shape;393;p11"/>
          <p:cNvSpPr/>
          <p:nvPr/>
        </p:nvSpPr>
        <p:spPr>
          <a:xfrm>
            <a:off x="2073085" y="3008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4" name="Google Shape;394;p11"/>
          <p:cNvSpPr/>
          <p:nvPr/>
        </p:nvSpPr>
        <p:spPr>
          <a:xfrm>
            <a:off x="2225485" y="3008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5" name="Google Shape;395;p11"/>
          <p:cNvSpPr/>
          <p:nvPr/>
        </p:nvSpPr>
        <p:spPr>
          <a:xfrm>
            <a:off x="2073085" y="3084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6" name="Google Shape;396;p11"/>
          <p:cNvSpPr/>
          <p:nvPr/>
        </p:nvSpPr>
        <p:spPr>
          <a:xfrm>
            <a:off x="2225485" y="3084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7" name="Google Shape;397;p11"/>
          <p:cNvSpPr/>
          <p:nvPr/>
        </p:nvSpPr>
        <p:spPr>
          <a:xfrm>
            <a:off x="2073085" y="3160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8" name="Google Shape;398;p11"/>
          <p:cNvSpPr/>
          <p:nvPr/>
        </p:nvSpPr>
        <p:spPr>
          <a:xfrm>
            <a:off x="2225485" y="3160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9" name="Google Shape;399;p11"/>
          <p:cNvSpPr/>
          <p:nvPr/>
        </p:nvSpPr>
        <p:spPr>
          <a:xfrm>
            <a:off x="2073085" y="3237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0" name="Google Shape;400;p11"/>
          <p:cNvSpPr/>
          <p:nvPr/>
        </p:nvSpPr>
        <p:spPr>
          <a:xfrm>
            <a:off x="2225485" y="3237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1" name="Google Shape;401;p11"/>
          <p:cNvSpPr/>
          <p:nvPr/>
        </p:nvSpPr>
        <p:spPr>
          <a:xfrm>
            <a:off x="2073085" y="3313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2" name="Google Shape;402;p11"/>
          <p:cNvSpPr/>
          <p:nvPr/>
        </p:nvSpPr>
        <p:spPr>
          <a:xfrm>
            <a:off x="2225485" y="3313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3" name="Google Shape;403;p11"/>
          <p:cNvSpPr/>
          <p:nvPr/>
        </p:nvSpPr>
        <p:spPr>
          <a:xfrm>
            <a:off x="2073085" y="3389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4" name="Google Shape;404;p11"/>
          <p:cNvSpPr/>
          <p:nvPr/>
        </p:nvSpPr>
        <p:spPr>
          <a:xfrm>
            <a:off x="2225485" y="3389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5" name="Google Shape;405;p11"/>
          <p:cNvSpPr/>
          <p:nvPr/>
        </p:nvSpPr>
        <p:spPr>
          <a:xfrm>
            <a:off x="2073085" y="3465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6" name="Google Shape;406;p11"/>
          <p:cNvSpPr/>
          <p:nvPr/>
        </p:nvSpPr>
        <p:spPr>
          <a:xfrm>
            <a:off x="2225485" y="3465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7" name="Google Shape;407;p11"/>
          <p:cNvSpPr/>
          <p:nvPr/>
        </p:nvSpPr>
        <p:spPr>
          <a:xfrm>
            <a:off x="2073085" y="3541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8" name="Google Shape;408;p11"/>
          <p:cNvSpPr/>
          <p:nvPr/>
        </p:nvSpPr>
        <p:spPr>
          <a:xfrm>
            <a:off x="2225485" y="3541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09" name="Google Shape;409;p11"/>
          <p:cNvSpPr/>
          <p:nvPr/>
        </p:nvSpPr>
        <p:spPr>
          <a:xfrm>
            <a:off x="2073085" y="3618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0" name="Google Shape;410;p11"/>
          <p:cNvSpPr/>
          <p:nvPr/>
        </p:nvSpPr>
        <p:spPr>
          <a:xfrm>
            <a:off x="2225485" y="3618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1" name="Google Shape;411;p11"/>
          <p:cNvSpPr/>
          <p:nvPr/>
        </p:nvSpPr>
        <p:spPr>
          <a:xfrm>
            <a:off x="2911285" y="1789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2" name="Google Shape;412;p11"/>
          <p:cNvSpPr/>
          <p:nvPr/>
        </p:nvSpPr>
        <p:spPr>
          <a:xfrm>
            <a:off x="3063685" y="1789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3" name="Google Shape;413;p11"/>
          <p:cNvSpPr/>
          <p:nvPr/>
        </p:nvSpPr>
        <p:spPr>
          <a:xfrm>
            <a:off x="2911285" y="1865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4" name="Google Shape;414;p11"/>
          <p:cNvSpPr/>
          <p:nvPr/>
        </p:nvSpPr>
        <p:spPr>
          <a:xfrm>
            <a:off x="3063685" y="1865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5" name="Google Shape;415;p11"/>
          <p:cNvSpPr/>
          <p:nvPr/>
        </p:nvSpPr>
        <p:spPr>
          <a:xfrm>
            <a:off x="2911285" y="1941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6" name="Google Shape;416;p11"/>
          <p:cNvSpPr/>
          <p:nvPr/>
        </p:nvSpPr>
        <p:spPr>
          <a:xfrm>
            <a:off x="3063685" y="1941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7" name="Google Shape;417;p11"/>
          <p:cNvSpPr/>
          <p:nvPr/>
        </p:nvSpPr>
        <p:spPr>
          <a:xfrm>
            <a:off x="2911285" y="2017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8" name="Google Shape;418;p11"/>
          <p:cNvSpPr/>
          <p:nvPr/>
        </p:nvSpPr>
        <p:spPr>
          <a:xfrm>
            <a:off x="3063685" y="2017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19" name="Google Shape;419;p11"/>
          <p:cNvSpPr/>
          <p:nvPr/>
        </p:nvSpPr>
        <p:spPr>
          <a:xfrm>
            <a:off x="2911285" y="2094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0" name="Google Shape;420;p11"/>
          <p:cNvSpPr/>
          <p:nvPr/>
        </p:nvSpPr>
        <p:spPr>
          <a:xfrm>
            <a:off x="3063685" y="2094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1" name="Google Shape;421;p11"/>
          <p:cNvSpPr/>
          <p:nvPr/>
        </p:nvSpPr>
        <p:spPr>
          <a:xfrm>
            <a:off x="2911285" y="2170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2" name="Google Shape;422;p11"/>
          <p:cNvSpPr/>
          <p:nvPr/>
        </p:nvSpPr>
        <p:spPr>
          <a:xfrm>
            <a:off x="3063685" y="2170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3" name="Google Shape;423;p11"/>
          <p:cNvSpPr/>
          <p:nvPr/>
        </p:nvSpPr>
        <p:spPr>
          <a:xfrm>
            <a:off x="2911285" y="2246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4" name="Google Shape;424;p11"/>
          <p:cNvSpPr/>
          <p:nvPr/>
        </p:nvSpPr>
        <p:spPr>
          <a:xfrm>
            <a:off x="3063685" y="2246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5" name="Google Shape;425;p11"/>
          <p:cNvSpPr/>
          <p:nvPr/>
        </p:nvSpPr>
        <p:spPr>
          <a:xfrm>
            <a:off x="2911285" y="2322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6" name="Google Shape;426;p11"/>
          <p:cNvSpPr/>
          <p:nvPr/>
        </p:nvSpPr>
        <p:spPr>
          <a:xfrm>
            <a:off x="3063685" y="2322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7" name="Google Shape;427;p11"/>
          <p:cNvSpPr/>
          <p:nvPr/>
        </p:nvSpPr>
        <p:spPr>
          <a:xfrm>
            <a:off x="2911285" y="2398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8" name="Google Shape;428;p11"/>
          <p:cNvSpPr/>
          <p:nvPr/>
        </p:nvSpPr>
        <p:spPr>
          <a:xfrm>
            <a:off x="3063685" y="2398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29" name="Google Shape;429;p11"/>
          <p:cNvSpPr/>
          <p:nvPr/>
        </p:nvSpPr>
        <p:spPr>
          <a:xfrm>
            <a:off x="2911285" y="2475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0" name="Google Shape;430;p11"/>
          <p:cNvSpPr/>
          <p:nvPr/>
        </p:nvSpPr>
        <p:spPr>
          <a:xfrm>
            <a:off x="3063685" y="2475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1" name="Google Shape;431;p11"/>
          <p:cNvSpPr/>
          <p:nvPr/>
        </p:nvSpPr>
        <p:spPr>
          <a:xfrm>
            <a:off x="2911285" y="2551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2" name="Google Shape;432;p11"/>
          <p:cNvSpPr/>
          <p:nvPr/>
        </p:nvSpPr>
        <p:spPr>
          <a:xfrm>
            <a:off x="3063685" y="2551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3" name="Google Shape;433;p11"/>
          <p:cNvSpPr/>
          <p:nvPr/>
        </p:nvSpPr>
        <p:spPr>
          <a:xfrm>
            <a:off x="2911285" y="2627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4" name="Google Shape;434;p11"/>
          <p:cNvSpPr/>
          <p:nvPr/>
        </p:nvSpPr>
        <p:spPr>
          <a:xfrm>
            <a:off x="3063685" y="2627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5" name="Google Shape;435;p11"/>
          <p:cNvSpPr/>
          <p:nvPr/>
        </p:nvSpPr>
        <p:spPr>
          <a:xfrm>
            <a:off x="2911285" y="2703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6" name="Google Shape;436;p11"/>
          <p:cNvSpPr/>
          <p:nvPr/>
        </p:nvSpPr>
        <p:spPr>
          <a:xfrm>
            <a:off x="3063685" y="2703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7" name="Google Shape;437;p11"/>
          <p:cNvSpPr/>
          <p:nvPr/>
        </p:nvSpPr>
        <p:spPr>
          <a:xfrm>
            <a:off x="2911285" y="2779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8" name="Google Shape;438;p11"/>
          <p:cNvSpPr/>
          <p:nvPr/>
        </p:nvSpPr>
        <p:spPr>
          <a:xfrm>
            <a:off x="3063685" y="2779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39" name="Google Shape;439;p11"/>
          <p:cNvSpPr/>
          <p:nvPr/>
        </p:nvSpPr>
        <p:spPr>
          <a:xfrm>
            <a:off x="2911285" y="2856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0" name="Google Shape;440;p11"/>
          <p:cNvSpPr/>
          <p:nvPr/>
        </p:nvSpPr>
        <p:spPr>
          <a:xfrm>
            <a:off x="3063685" y="2856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1" name="Google Shape;441;p11"/>
          <p:cNvSpPr/>
          <p:nvPr/>
        </p:nvSpPr>
        <p:spPr>
          <a:xfrm>
            <a:off x="2911285" y="2932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2" name="Google Shape;442;p11"/>
          <p:cNvSpPr/>
          <p:nvPr/>
        </p:nvSpPr>
        <p:spPr>
          <a:xfrm>
            <a:off x="3063685" y="2932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3" name="Google Shape;443;p11"/>
          <p:cNvSpPr/>
          <p:nvPr/>
        </p:nvSpPr>
        <p:spPr>
          <a:xfrm>
            <a:off x="2911285" y="3008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4" name="Google Shape;444;p11"/>
          <p:cNvSpPr/>
          <p:nvPr/>
        </p:nvSpPr>
        <p:spPr>
          <a:xfrm>
            <a:off x="3063685" y="3008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5" name="Google Shape;445;p11"/>
          <p:cNvSpPr/>
          <p:nvPr/>
        </p:nvSpPr>
        <p:spPr>
          <a:xfrm>
            <a:off x="2911285" y="3084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6" name="Google Shape;446;p11"/>
          <p:cNvSpPr/>
          <p:nvPr/>
        </p:nvSpPr>
        <p:spPr>
          <a:xfrm>
            <a:off x="3063685" y="3084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7" name="Google Shape;447;p11"/>
          <p:cNvSpPr/>
          <p:nvPr/>
        </p:nvSpPr>
        <p:spPr>
          <a:xfrm>
            <a:off x="2911285" y="3160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8" name="Google Shape;448;p11"/>
          <p:cNvSpPr/>
          <p:nvPr/>
        </p:nvSpPr>
        <p:spPr>
          <a:xfrm>
            <a:off x="3063685" y="3160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49" name="Google Shape;449;p11"/>
          <p:cNvSpPr/>
          <p:nvPr/>
        </p:nvSpPr>
        <p:spPr>
          <a:xfrm>
            <a:off x="2911285" y="3237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0" name="Google Shape;450;p11"/>
          <p:cNvSpPr/>
          <p:nvPr/>
        </p:nvSpPr>
        <p:spPr>
          <a:xfrm>
            <a:off x="3063685" y="3237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1" name="Google Shape;451;p11"/>
          <p:cNvSpPr/>
          <p:nvPr/>
        </p:nvSpPr>
        <p:spPr>
          <a:xfrm>
            <a:off x="2911285" y="33132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2" name="Google Shape;452;p11"/>
          <p:cNvSpPr/>
          <p:nvPr/>
        </p:nvSpPr>
        <p:spPr>
          <a:xfrm>
            <a:off x="3063685" y="33132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3" name="Google Shape;453;p11"/>
          <p:cNvSpPr/>
          <p:nvPr/>
        </p:nvSpPr>
        <p:spPr>
          <a:xfrm>
            <a:off x="2911285" y="33894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4" name="Google Shape;454;p11"/>
          <p:cNvSpPr/>
          <p:nvPr/>
        </p:nvSpPr>
        <p:spPr>
          <a:xfrm>
            <a:off x="3063685" y="33894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5" name="Google Shape;455;p11"/>
          <p:cNvSpPr/>
          <p:nvPr/>
        </p:nvSpPr>
        <p:spPr>
          <a:xfrm>
            <a:off x="2911285" y="34656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6" name="Google Shape;456;p11"/>
          <p:cNvSpPr/>
          <p:nvPr/>
        </p:nvSpPr>
        <p:spPr>
          <a:xfrm>
            <a:off x="3063685" y="34656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7" name="Google Shape;457;p11"/>
          <p:cNvSpPr/>
          <p:nvPr/>
        </p:nvSpPr>
        <p:spPr>
          <a:xfrm>
            <a:off x="2911285" y="35418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8" name="Google Shape;458;p11"/>
          <p:cNvSpPr/>
          <p:nvPr/>
        </p:nvSpPr>
        <p:spPr>
          <a:xfrm>
            <a:off x="3063685" y="35418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9" name="Google Shape;459;p11"/>
          <p:cNvSpPr/>
          <p:nvPr/>
        </p:nvSpPr>
        <p:spPr>
          <a:xfrm>
            <a:off x="2911285" y="3618090"/>
            <a:ext cx="152400" cy="74613"/>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60" name="Google Shape;460;p11"/>
          <p:cNvSpPr/>
          <p:nvPr/>
        </p:nvSpPr>
        <p:spPr>
          <a:xfrm>
            <a:off x="3063685" y="3618090"/>
            <a:ext cx="304800" cy="762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 name="Rectangle 5">
            <a:extLst>
              <a:ext uri="{FF2B5EF4-FFF2-40B4-BE49-F238E27FC236}">
                <a16:creationId xmlns:a16="http://schemas.microsoft.com/office/drawing/2014/main" id="{22B27B88-CBD9-4468-E900-1356ADFC7EFB}"/>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DEL DATA WAREHOUSE</a:t>
            </a:r>
            <a:endParaRPr lang="es-PE" sz="1000" dirty="0">
              <a:solidFill>
                <a:schemeClr val="bg1">
                  <a:lumMod val="65000"/>
                </a:schemeClr>
              </a:solidFill>
              <a:latin typeface="Calibri" charset="0"/>
              <a:cs typeface="Calibri" charset="0"/>
            </a:endParaRPr>
          </a:p>
        </p:txBody>
      </p:sp>
      <p:cxnSp>
        <p:nvCxnSpPr>
          <p:cNvPr id="3" name="Conector recto 2">
            <a:extLst>
              <a:ext uri="{FF2B5EF4-FFF2-40B4-BE49-F238E27FC236}">
                <a16:creationId xmlns:a16="http://schemas.microsoft.com/office/drawing/2014/main" id="{135DA13F-1232-F179-5F51-E255467DC6C6}"/>
              </a:ext>
            </a:extLst>
          </p:cNvPr>
          <p:cNvCxnSpPr>
            <a:cxnSpLocks/>
          </p:cNvCxnSpPr>
          <p:nvPr/>
        </p:nvCxnSpPr>
        <p:spPr>
          <a:xfrm>
            <a:off x="4850593" y="1426212"/>
            <a:ext cx="0" cy="1047291"/>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4" name="Más 3">
            <a:extLst>
              <a:ext uri="{FF2B5EF4-FFF2-40B4-BE49-F238E27FC236}">
                <a16:creationId xmlns:a16="http://schemas.microsoft.com/office/drawing/2014/main" id="{227F6A05-8625-25AA-B47A-EDDA9FBCFDE1}"/>
              </a:ext>
            </a:extLst>
          </p:cNvPr>
          <p:cNvSpPr/>
          <p:nvPr/>
        </p:nvSpPr>
        <p:spPr>
          <a:xfrm>
            <a:off x="4774251" y="1233114"/>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 name="Más 5">
            <a:extLst>
              <a:ext uri="{FF2B5EF4-FFF2-40B4-BE49-F238E27FC236}">
                <a16:creationId xmlns:a16="http://schemas.microsoft.com/office/drawing/2014/main" id="{7C200E06-DF80-1828-FEBF-51675006A9D4}"/>
              </a:ext>
            </a:extLst>
          </p:cNvPr>
          <p:cNvSpPr/>
          <p:nvPr/>
        </p:nvSpPr>
        <p:spPr>
          <a:xfrm>
            <a:off x="4774251" y="2520894"/>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8" name="Google Shape;468;p12"/>
          <p:cNvSpPr/>
          <p:nvPr/>
        </p:nvSpPr>
        <p:spPr>
          <a:xfrm>
            <a:off x="4495800" y="1335731"/>
            <a:ext cx="687387"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1</a:t>
            </a:r>
            <a:endParaRPr>
              <a:latin typeface="Calibri" panose="020F0502020204030204" pitchFamily="34" charset="0"/>
              <a:cs typeface="Calibri" panose="020F0502020204030204" pitchFamily="34" charset="0"/>
            </a:endParaRPr>
          </a:p>
        </p:txBody>
      </p:sp>
      <p:sp>
        <p:nvSpPr>
          <p:cNvPr id="469" name="Google Shape;469;p12"/>
          <p:cNvSpPr/>
          <p:nvPr/>
        </p:nvSpPr>
        <p:spPr>
          <a:xfrm>
            <a:off x="4495800" y="1580206"/>
            <a:ext cx="687387" cy="24606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2</a:t>
            </a:r>
            <a:endParaRPr>
              <a:latin typeface="Calibri" panose="020F0502020204030204" pitchFamily="34" charset="0"/>
              <a:cs typeface="Calibri" panose="020F0502020204030204" pitchFamily="34" charset="0"/>
            </a:endParaRPr>
          </a:p>
        </p:txBody>
      </p:sp>
      <p:sp>
        <p:nvSpPr>
          <p:cNvPr id="470" name="Google Shape;470;p12"/>
          <p:cNvSpPr/>
          <p:nvPr/>
        </p:nvSpPr>
        <p:spPr>
          <a:xfrm>
            <a:off x="4495800" y="1826269"/>
            <a:ext cx="687387"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3</a:t>
            </a:r>
            <a:endParaRPr>
              <a:latin typeface="Calibri" panose="020F0502020204030204" pitchFamily="34" charset="0"/>
              <a:cs typeface="Calibri" panose="020F0502020204030204" pitchFamily="34" charset="0"/>
            </a:endParaRPr>
          </a:p>
        </p:txBody>
      </p:sp>
      <p:sp>
        <p:nvSpPr>
          <p:cNvPr id="471" name="Google Shape;471;p12"/>
          <p:cNvSpPr/>
          <p:nvPr/>
        </p:nvSpPr>
        <p:spPr>
          <a:xfrm>
            <a:off x="4495800" y="2070744"/>
            <a:ext cx="687387"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4</a:t>
            </a:r>
            <a:endParaRPr>
              <a:latin typeface="Calibri" panose="020F0502020204030204" pitchFamily="34" charset="0"/>
              <a:cs typeface="Calibri" panose="020F0502020204030204" pitchFamily="34" charset="0"/>
            </a:endParaRPr>
          </a:p>
        </p:txBody>
      </p:sp>
      <p:sp>
        <p:nvSpPr>
          <p:cNvPr id="472" name="Google Shape;472;p12"/>
          <p:cNvSpPr/>
          <p:nvPr/>
        </p:nvSpPr>
        <p:spPr>
          <a:xfrm>
            <a:off x="4495800" y="2315219"/>
            <a:ext cx="687387"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473" name="Google Shape;473;p12"/>
          <p:cNvSpPr/>
          <p:nvPr/>
        </p:nvSpPr>
        <p:spPr>
          <a:xfrm>
            <a:off x="4495800" y="2559694"/>
            <a:ext cx="687387" cy="24606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cxnSp>
        <p:nvCxnSpPr>
          <p:cNvPr id="492" name="Google Shape;492;p12"/>
          <p:cNvCxnSpPr/>
          <p:nvPr/>
        </p:nvCxnSpPr>
        <p:spPr>
          <a:xfrm>
            <a:off x="2619375" y="1457969"/>
            <a:ext cx="561975" cy="0"/>
          </a:xfrm>
          <a:prstGeom prst="straightConnector1">
            <a:avLst/>
          </a:prstGeom>
          <a:noFill/>
          <a:ln w="12700" cap="flat" cmpd="sng">
            <a:solidFill>
              <a:schemeClr val="dk1"/>
            </a:solidFill>
            <a:prstDash val="solid"/>
            <a:round/>
            <a:headEnd type="none" w="med" len="med"/>
            <a:tailEnd type="triangle" w="med" len="med"/>
          </a:ln>
        </p:spPr>
      </p:cxnSp>
      <p:cxnSp>
        <p:nvCxnSpPr>
          <p:cNvPr id="493" name="Google Shape;493;p12"/>
          <p:cNvCxnSpPr/>
          <p:nvPr/>
        </p:nvCxnSpPr>
        <p:spPr>
          <a:xfrm>
            <a:off x="2619375" y="1702444"/>
            <a:ext cx="625475" cy="184150"/>
          </a:xfrm>
          <a:prstGeom prst="straightConnector1">
            <a:avLst/>
          </a:prstGeom>
          <a:noFill/>
          <a:ln w="12700" cap="flat" cmpd="sng">
            <a:solidFill>
              <a:schemeClr val="dk1"/>
            </a:solidFill>
            <a:prstDash val="solid"/>
            <a:round/>
            <a:headEnd type="none" w="med" len="med"/>
            <a:tailEnd type="triangle" w="med" len="med"/>
          </a:ln>
        </p:spPr>
      </p:cxnSp>
      <p:cxnSp>
        <p:nvCxnSpPr>
          <p:cNvPr id="494" name="Google Shape;494;p12"/>
          <p:cNvCxnSpPr/>
          <p:nvPr/>
        </p:nvCxnSpPr>
        <p:spPr>
          <a:xfrm>
            <a:off x="2619375" y="1948506"/>
            <a:ext cx="625475" cy="366713"/>
          </a:xfrm>
          <a:prstGeom prst="straightConnector1">
            <a:avLst/>
          </a:prstGeom>
          <a:noFill/>
          <a:ln w="12700" cap="flat" cmpd="sng">
            <a:solidFill>
              <a:schemeClr val="dk1"/>
            </a:solidFill>
            <a:prstDash val="solid"/>
            <a:round/>
            <a:headEnd type="none" w="med" len="med"/>
            <a:tailEnd type="triangle" w="med" len="med"/>
          </a:ln>
        </p:spPr>
      </p:cxnSp>
      <p:cxnSp>
        <p:nvCxnSpPr>
          <p:cNvPr id="495" name="Google Shape;495;p12"/>
          <p:cNvCxnSpPr/>
          <p:nvPr/>
        </p:nvCxnSpPr>
        <p:spPr>
          <a:xfrm rot="10800000" flipH="1">
            <a:off x="2619375" y="1580206"/>
            <a:ext cx="561975" cy="612775"/>
          </a:xfrm>
          <a:prstGeom prst="straightConnector1">
            <a:avLst/>
          </a:prstGeom>
          <a:noFill/>
          <a:ln w="12700" cap="flat" cmpd="sng">
            <a:solidFill>
              <a:schemeClr val="dk1"/>
            </a:solidFill>
            <a:prstDash val="solid"/>
            <a:round/>
            <a:headEnd type="none" w="med" len="med"/>
            <a:tailEnd type="triangle" w="med" len="med"/>
          </a:ln>
        </p:spPr>
      </p:cxnSp>
      <p:sp>
        <p:nvSpPr>
          <p:cNvPr id="496" name="Google Shape;496;p12"/>
          <p:cNvSpPr/>
          <p:nvPr/>
        </p:nvSpPr>
        <p:spPr>
          <a:xfrm>
            <a:off x="5557837" y="1580206"/>
            <a:ext cx="750888" cy="796925"/>
          </a:xfrm>
          <a:prstGeom prst="ellipse">
            <a:avLst/>
          </a:pr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900" b="1" dirty="0">
                <a:solidFill>
                  <a:srgbClr val="714EA0"/>
                </a:solidFill>
                <a:latin typeface="Calibri" panose="020F0502020204030204" pitchFamily="34" charset="0"/>
                <a:ea typeface="Arial"/>
                <a:cs typeface="Calibri" panose="020F0502020204030204" pitchFamily="34" charset="0"/>
                <a:sym typeface="Arial"/>
              </a:rPr>
              <a:t>Hash</a:t>
            </a:r>
            <a:endParaRPr dirty="0">
              <a:solidFill>
                <a:srgbClr val="714EA0"/>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900" b="1" dirty="0">
                <a:solidFill>
                  <a:srgbClr val="714EA0"/>
                </a:solidFill>
                <a:latin typeface="Calibri" panose="020F0502020204030204" pitchFamily="34" charset="0"/>
                <a:ea typeface="Arial"/>
                <a:cs typeface="Calibri" panose="020F0502020204030204" pitchFamily="34" charset="0"/>
                <a:sym typeface="Arial"/>
              </a:rPr>
              <a:t>Algorithm</a:t>
            </a:r>
            <a:endParaRPr dirty="0">
              <a:solidFill>
                <a:srgbClr val="714EA0"/>
              </a:solidFill>
              <a:latin typeface="Calibri" panose="020F0502020204030204" pitchFamily="34" charset="0"/>
              <a:cs typeface="Calibri" panose="020F0502020204030204" pitchFamily="34" charset="0"/>
            </a:endParaRPr>
          </a:p>
        </p:txBody>
      </p:sp>
      <p:cxnSp>
        <p:nvCxnSpPr>
          <p:cNvPr id="515" name="Google Shape;515;p12"/>
          <p:cNvCxnSpPr/>
          <p:nvPr/>
        </p:nvCxnSpPr>
        <p:spPr>
          <a:xfrm>
            <a:off x="5245100" y="1457969"/>
            <a:ext cx="312737" cy="184150"/>
          </a:xfrm>
          <a:prstGeom prst="straightConnector1">
            <a:avLst/>
          </a:prstGeom>
          <a:noFill/>
          <a:ln w="12700" cap="flat" cmpd="sng">
            <a:solidFill>
              <a:schemeClr val="dk1"/>
            </a:solidFill>
            <a:prstDash val="solid"/>
            <a:round/>
            <a:headEnd type="none" w="med" len="med"/>
            <a:tailEnd type="triangle" w="med" len="med"/>
          </a:ln>
        </p:spPr>
      </p:cxnSp>
      <p:cxnSp>
        <p:nvCxnSpPr>
          <p:cNvPr id="516" name="Google Shape;516;p12"/>
          <p:cNvCxnSpPr/>
          <p:nvPr/>
        </p:nvCxnSpPr>
        <p:spPr>
          <a:xfrm>
            <a:off x="5308600" y="1764356"/>
            <a:ext cx="187325" cy="61913"/>
          </a:xfrm>
          <a:prstGeom prst="straightConnector1">
            <a:avLst/>
          </a:prstGeom>
          <a:noFill/>
          <a:ln w="12700" cap="flat" cmpd="sng">
            <a:solidFill>
              <a:schemeClr val="dk1"/>
            </a:solidFill>
            <a:prstDash val="solid"/>
            <a:round/>
            <a:headEnd type="none" w="med" len="med"/>
            <a:tailEnd type="triangle" w="med" len="med"/>
          </a:ln>
        </p:spPr>
      </p:cxnSp>
      <p:cxnSp>
        <p:nvCxnSpPr>
          <p:cNvPr id="517" name="Google Shape;517;p12"/>
          <p:cNvCxnSpPr/>
          <p:nvPr/>
        </p:nvCxnSpPr>
        <p:spPr>
          <a:xfrm>
            <a:off x="5308600" y="1948506"/>
            <a:ext cx="187325" cy="0"/>
          </a:xfrm>
          <a:prstGeom prst="straightConnector1">
            <a:avLst/>
          </a:prstGeom>
          <a:noFill/>
          <a:ln w="12700" cap="flat" cmpd="sng">
            <a:solidFill>
              <a:schemeClr val="dk1"/>
            </a:solidFill>
            <a:prstDash val="solid"/>
            <a:round/>
            <a:headEnd type="none" w="med" len="med"/>
            <a:tailEnd type="triangle" w="med" len="med"/>
          </a:ln>
        </p:spPr>
      </p:cxnSp>
      <p:cxnSp>
        <p:nvCxnSpPr>
          <p:cNvPr id="518" name="Google Shape;518;p12"/>
          <p:cNvCxnSpPr/>
          <p:nvPr/>
        </p:nvCxnSpPr>
        <p:spPr>
          <a:xfrm rot="10800000" flipH="1">
            <a:off x="5308600" y="2070744"/>
            <a:ext cx="187325" cy="122237"/>
          </a:xfrm>
          <a:prstGeom prst="straightConnector1">
            <a:avLst/>
          </a:prstGeom>
          <a:noFill/>
          <a:ln w="12700" cap="flat" cmpd="sng">
            <a:solidFill>
              <a:schemeClr val="dk1"/>
            </a:solidFill>
            <a:prstDash val="solid"/>
            <a:round/>
            <a:headEnd type="none" w="med" len="med"/>
            <a:tailEnd type="triangle" w="med" len="med"/>
          </a:ln>
        </p:spPr>
      </p:cxnSp>
      <p:cxnSp>
        <p:nvCxnSpPr>
          <p:cNvPr id="519" name="Google Shape;519;p12"/>
          <p:cNvCxnSpPr/>
          <p:nvPr/>
        </p:nvCxnSpPr>
        <p:spPr>
          <a:xfrm rot="10800000" flipH="1">
            <a:off x="6372225" y="1580206"/>
            <a:ext cx="312737" cy="246063"/>
          </a:xfrm>
          <a:prstGeom prst="straightConnector1">
            <a:avLst/>
          </a:prstGeom>
          <a:noFill/>
          <a:ln w="12700" cap="flat" cmpd="sng">
            <a:solidFill>
              <a:schemeClr val="dk1"/>
            </a:solidFill>
            <a:prstDash val="solid"/>
            <a:round/>
            <a:headEnd type="none" w="med" len="med"/>
            <a:tailEnd type="triangle" w="med" len="med"/>
          </a:ln>
        </p:spPr>
      </p:cxnSp>
      <p:cxnSp>
        <p:nvCxnSpPr>
          <p:cNvPr id="520" name="Google Shape;520;p12"/>
          <p:cNvCxnSpPr/>
          <p:nvPr/>
        </p:nvCxnSpPr>
        <p:spPr>
          <a:xfrm>
            <a:off x="6372225" y="1948506"/>
            <a:ext cx="312737" cy="0"/>
          </a:xfrm>
          <a:prstGeom prst="straightConnector1">
            <a:avLst/>
          </a:prstGeom>
          <a:noFill/>
          <a:ln w="12700" cap="flat" cmpd="sng">
            <a:solidFill>
              <a:schemeClr val="dk1"/>
            </a:solidFill>
            <a:prstDash val="solid"/>
            <a:round/>
            <a:headEnd type="none" w="med" len="med"/>
            <a:tailEnd type="triangle" w="med" len="med"/>
          </a:ln>
        </p:spPr>
      </p:cxnSp>
      <p:cxnSp>
        <p:nvCxnSpPr>
          <p:cNvPr id="521" name="Google Shape;521;p12"/>
          <p:cNvCxnSpPr/>
          <p:nvPr/>
        </p:nvCxnSpPr>
        <p:spPr>
          <a:xfrm>
            <a:off x="6372225" y="2070744"/>
            <a:ext cx="312737" cy="306387"/>
          </a:xfrm>
          <a:prstGeom prst="straightConnector1">
            <a:avLst/>
          </a:prstGeom>
          <a:noFill/>
          <a:ln w="12700" cap="flat" cmpd="sng">
            <a:solidFill>
              <a:schemeClr val="dk1"/>
            </a:solidFill>
            <a:prstDash val="solid"/>
            <a:round/>
            <a:headEnd type="none" w="med" len="med"/>
            <a:tailEnd type="triangle" w="med" len="med"/>
          </a:ln>
        </p:spPr>
      </p:cxnSp>
      <p:sp>
        <p:nvSpPr>
          <p:cNvPr id="522" name="Google Shape;522;p12"/>
          <p:cNvSpPr/>
          <p:nvPr/>
        </p:nvSpPr>
        <p:spPr>
          <a:xfrm>
            <a:off x="1868487" y="1335731"/>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1</a:t>
            </a:r>
            <a:endParaRPr>
              <a:latin typeface="Calibri" panose="020F0502020204030204" pitchFamily="34" charset="0"/>
              <a:cs typeface="Calibri" panose="020F0502020204030204" pitchFamily="34" charset="0"/>
            </a:endParaRPr>
          </a:p>
        </p:txBody>
      </p:sp>
      <p:sp>
        <p:nvSpPr>
          <p:cNvPr id="523" name="Google Shape;523;p12"/>
          <p:cNvSpPr/>
          <p:nvPr/>
        </p:nvSpPr>
        <p:spPr>
          <a:xfrm>
            <a:off x="1868487" y="1580206"/>
            <a:ext cx="687388" cy="24606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2</a:t>
            </a:r>
            <a:endParaRPr>
              <a:latin typeface="Calibri" panose="020F0502020204030204" pitchFamily="34" charset="0"/>
              <a:cs typeface="Calibri" panose="020F0502020204030204" pitchFamily="34" charset="0"/>
            </a:endParaRPr>
          </a:p>
        </p:txBody>
      </p:sp>
      <p:sp>
        <p:nvSpPr>
          <p:cNvPr id="524" name="Google Shape;524;p12"/>
          <p:cNvSpPr/>
          <p:nvPr/>
        </p:nvSpPr>
        <p:spPr>
          <a:xfrm>
            <a:off x="1868487" y="1826269"/>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3</a:t>
            </a:r>
            <a:endParaRPr>
              <a:latin typeface="Calibri" panose="020F0502020204030204" pitchFamily="34" charset="0"/>
              <a:cs typeface="Calibri" panose="020F0502020204030204" pitchFamily="34" charset="0"/>
            </a:endParaRPr>
          </a:p>
        </p:txBody>
      </p:sp>
      <p:sp>
        <p:nvSpPr>
          <p:cNvPr id="525" name="Google Shape;525;p12"/>
          <p:cNvSpPr/>
          <p:nvPr/>
        </p:nvSpPr>
        <p:spPr>
          <a:xfrm>
            <a:off x="1868487" y="2070744"/>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4</a:t>
            </a:r>
            <a:endParaRPr>
              <a:latin typeface="Calibri" panose="020F0502020204030204" pitchFamily="34" charset="0"/>
              <a:cs typeface="Calibri" panose="020F0502020204030204" pitchFamily="34" charset="0"/>
            </a:endParaRPr>
          </a:p>
        </p:txBody>
      </p:sp>
      <p:sp>
        <p:nvSpPr>
          <p:cNvPr id="526" name="Google Shape;526;p12"/>
          <p:cNvSpPr/>
          <p:nvPr/>
        </p:nvSpPr>
        <p:spPr>
          <a:xfrm>
            <a:off x="1868487" y="2315219"/>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527" name="Google Shape;527;p12"/>
          <p:cNvSpPr/>
          <p:nvPr/>
        </p:nvSpPr>
        <p:spPr>
          <a:xfrm>
            <a:off x="1868487" y="2559694"/>
            <a:ext cx="687388" cy="24606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cxnSp>
        <p:nvCxnSpPr>
          <p:cNvPr id="546" name="Google Shape;546;p12"/>
          <p:cNvCxnSpPr/>
          <p:nvPr/>
        </p:nvCxnSpPr>
        <p:spPr>
          <a:xfrm>
            <a:off x="4089400" y="3661419"/>
            <a:ext cx="561975" cy="0"/>
          </a:xfrm>
          <a:prstGeom prst="straightConnector1">
            <a:avLst/>
          </a:prstGeom>
          <a:noFill/>
          <a:ln w="12700" cap="flat" cmpd="sng">
            <a:solidFill>
              <a:schemeClr val="dk1"/>
            </a:solidFill>
            <a:prstDash val="solid"/>
            <a:round/>
            <a:headEnd type="none" w="med" len="med"/>
            <a:tailEnd type="triangle" w="med" len="med"/>
          </a:ln>
        </p:spPr>
      </p:cxnSp>
      <p:cxnSp>
        <p:nvCxnSpPr>
          <p:cNvPr id="547" name="Google Shape;547;p12"/>
          <p:cNvCxnSpPr/>
          <p:nvPr/>
        </p:nvCxnSpPr>
        <p:spPr>
          <a:xfrm>
            <a:off x="4089400" y="3907481"/>
            <a:ext cx="625475" cy="182563"/>
          </a:xfrm>
          <a:prstGeom prst="straightConnector1">
            <a:avLst/>
          </a:prstGeom>
          <a:noFill/>
          <a:ln w="12700" cap="flat" cmpd="sng">
            <a:solidFill>
              <a:schemeClr val="dk1"/>
            </a:solidFill>
            <a:prstDash val="solid"/>
            <a:round/>
            <a:headEnd type="none" w="med" len="med"/>
            <a:tailEnd type="triangle" w="med" len="med"/>
          </a:ln>
        </p:spPr>
      </p:cxnSp>
      <p:cxnSp>
        <p:nvCxnSpPr>
          <p:cNvPr id="548" name="Google Shape;548;p12"/>
          <p:cNvCxnSpPr/>
          <p:nvPr/>
        </p:nvCxnSpPr>
        <p:spPr>
          <a:xfrm rot="10800000" flipH="1">
            <a:off x="4089400" y="3785244"/>
            <a:ext cx="561975" cy="366712"/>
          </a:xfrm>
          <a:prstGeom prst="straightConnector1">
            <a:avLst/>
          </a:prstGeom>
          <a:noFill/>
          <a:ln w="12700" cap="flat" cmpd="sng">
            <a:solidFill>
              <a:schemeClr val="dk1"/>
            </a:solidFill>
            <a:prstDash val="solid"/>
            <a:round/>
            <a:headEnd type="none" w="med" len="med"/>
            <a:tailEnd type="triangle" w="med" len="med"/>
          </a:ln>
        </p:spPr>
      </p:cxnSp>
      <p:sp>
        <p:nvSpPr>
          <p:cNvPr id="549" name="Google Shape;549;p12"/>
          <p:cNvSpPr/>
          <p:nvPr/>
        </p:nvSpPr>
        <p:spPr>
          <a:xfrm>
            <a:off x="3338512" y="3539181"/>
            <a:ext cx="687388" cy="24606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1</a:t>
            </a:r>
            <a:endParaRPr>
              <a:latin typeface="Calibri" panose="020F0502020204030204" pitchFamily="34" charset="0"/>
              <a:cs typeface="Calibri" panose="020F0502020204030204" pitchFamily="34" charset="0"/>
            </a:endParaRPr>
          </a:p>
        </p:txBody>
      </p:sp>
      <p:sp>
        <p:nvSpPr>
          <p:cNvPr id="550" name="Google Shape;550;p12"/>
          <p:cNvSpPr/>
          <p:nvPr/>
        </p:nvSpPr>
        <p:spPr>
          <a:xfrm>
            <a:off x="3338512" y="3785244"/>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2</a:t>
            </a:r>
            <a:endParaRPr>
              <a:latin typeface="Calibri" panose="020F0502020204030204" pitchFamily="34" charset="0"/>
              <a:cs typeface="Calibri" panose="020F0502020204030204" pitchFamily="34" charset="0"/>
            </a:endParaRPr>
          </a:p>
        </p:txBody>
      </p:sp>
      <p:sp>
        <p:nvSpPr>
          <p:cNvPr id="551" name="Google Shape;551;p12"/>
          <p:cNvSpPr/>
          <p:nvPr/>
        </p:nvSpPr>
        <p:spPr>
          <a:xfrm>
            <a:off x="3338512" y="4029719"/>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3</a:t>
            </a:r>
            <a:endParaRPr>
              <a:latin typeface="Calibri" panose="020F0502020204030204" pitchFamily="34" charset="0"/>
              <a:cs typeface="Calibri" panose="020F0502020204030204" pitchFamily="34" charset="0"/>
            </a:endParaRPr>
          </a:p>
        </p:txBody>
      </p:sp>
      <p:sp>
        <p:nvSpPr>
          <p:cNvPr id="552" name="Google Shape;552;p12"/>
          <p:cNvSpPr/>
          <p:nvPr/>
        </p:nvSpPr>
        <p:spPr>
          <a:xfrm>
            <a:off x="3338512" y="4274194"/>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Record 4</a:t>
            </a:r>
            <a:endParaRPr>
              <a:latin typeface="Calibri" panose="020F0502020204030204" pitchFamily="34" charset="0"/>
              <a:cs typeface="Calibri" panose="020F0502020204030204" pitchFamily="34" charset="0"/>
            </a:endParaRPr>
          </a:p>
        </p:txBody>
      </p:sp>
      <p:sp>
        <p:nvSpPr>
          <p:cNvPr id="553" name="Google Shape;553;p12"/>
          <p:cNvSpPr/>
          <p:nvPr/>
        </p:nvSpPr>
        <p:spPr>
          <a:xfrm>
            <a:off x="3338512" y="4518669"/>
            <a:ext cx="687388" cy="24606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554" name="Google Shape;554;p12"/>
          <p:cNvSpPr/>
          <p:nvPr/>
        </p:nvSpPr>
        <p:spPr>
          <a:xfrm>
            <a:off x="3338512" y="4764731"/>
            <a:ext cx="687388" cy="24447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cxnSp>
        <p:nvCxnSpPr>
          <p:cNvPr id="555" name="Google Shape;555;p12"/>
          <p:cNvCxnSpPr/>
          <p:nvPr/>
        </p:nvCxnSpPr>
        <p:spPr>
          <a:xfrm>
            <a:off x="4089400" y="4396431"/>
            <a:ext cx="561975" cy="122238"/>
          </a:xfrm>
          <a:prstGeom prst="straightConnector1">
            <a:avLst/>
          </a:prstGeom>
          <a:noFill/>
          <a:ln w="12700" cap="flat" cmpd="sng">
            <a:solidFill>
              <a:schemeClr val="dk1"/>
            </a:solidFill>
            <a:prstDash val="solid"/>
            <a:round/>
            <a:headEnd type="none" w="med" len="med"/>
            <a:tailEnd type="triangle" w="med" len="med"/>
          </a:ln>
        </p:spPr>
      </p:cxnSp>
      <p:sp>
        <p:nvSpPr>
          <p:cNvPr id="556" name="Google Shape;556;p12"/>
          <p:cNvSpPr txBox="1"/>
          <p:nvPr/>
        </p:nvSpPr>
        <p:spPr>
          <a:xfrm>
            <a:off x="5214937" y="3536413"/>
            <a:ext cx="747320" cy="276999"/>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América</a:t>
            </a:r>
            <a:endParaRPr>
              <a:latin typeface="Calibri" panose="020F0502020204030204" pitchFamily="34" charset="0"/>
              <a:cs typeface="Calibri" panose="020F0502020204030204" pitchFamily="34" charset="0"/>
            </a:endParaRPr>
          </a:p>
        </p:txBody>
      </p:sp>
      <p:sp>
        <p:nvSpPr>
          <p:cNvPr id="557" name="Google Shape;557;p12"/>
          <p:cNvSpPr txBox="1"/>
          <p:nvPr/>
        </p:nvSpPr>
        <p:spPr>
          <a:xfrm>
            <a:off x="5214937" y="3965038"/>
            <a:ext cx="1072730" cy="276999"/>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Asia/Pacífico</a:t>
            </a:r>
            <a:endParaRPr sz="1200">
              <a:solidFill>
                <a:schemeClr val="dk1"/>
              </a:solidFill>
              <a:latin typeface="Calibri" panose="020F0502020204030204" pitchFamily="34" charset="0"/>
              <a:ea typeface="Arial"/>
              <a:cs typeface="Calibri" panose="020F0502020204030204" pitchFamily="34" charset="0"/>
              <a:sym typeface="Arial"/>
            </a:endParaRPr>
          </a:p>
        </p:txBody>
      </p:sp>
      <p:sp>
        <p:nvSpPr>
          <p:cNvPr id="558" name="Google Shape;558;p12"/>
          <p:cNvSpPr txBox="1"/>
          <p:nvPr/>
        </p:nvSpPr>
        <p:spPr>
          <a:xfrm>
            <a:off x="5214937" y="4394844"/>
            <a:ext cx="673100" cy="27463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Europa</a:t>
            </a:r>
            <a:endParaRPr>
              <a:latin typeface="Calibri" panose="020F0502020204030204" pitchFamily="34" charset="0"/>
              <a:cs typeface="Calibri" panose="020F0502020204030204" pitchFamily="34" charset="0"/>
            </a:endParaRPr>
          </a:p>
        </p:txBody>
      </p:sp>
      <p:sp>
        <p:nvSpPr>
          <p:cNvPr id="559" name="Google Shape;559;p12"/>
          <p:cNvSpPr txBox="1"/>
          <p:nvPr/>
        </p:nvSpPr>
        <p:spPr>
          <a:xfrm>
            <a:off x="2814637" y="2718230"/>
            <a:ext cx="1300163"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Round-robin</a:t>
            </a:r>
            <a:endParaRPr>
              <a:latin typeface="Calibri" panose="020F0502020204030204" pitchFamily="34" charset="0"/>
              <a:cs typeface="Calibri" panose="020F0502020204030204" pitchFamily="34" charset="0"/>
            </a:endParaRPr>
          </a:p>
        </p:txBody>
      </p:sp>
      <p:sp>
        <p:nvSpPr>
          <p:cNvPr id="560" name="Google Shape;560;p12"/>
          <p:cNvSpPr txBox="1"/>
          <p:nvPr/>
        </p:nvSpPr>
        <p:spPr>
          <a:xfrm>
            <a:off x="6624637" y="2683786"/>
            <a:ext cx="657225"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Hash</a:t>
            </a:r>
            <a:endParaRPr>
              <a:latin typeface="Calibri" panose="020F0502020204030204" pitchFamily="34" charset="0"/>
              <a:cs typeface="Calibri" panose="020F0502020204030204" pitchFamily="34" charset="0"/>
            </a:endParaRPr>
          </a:p>
        </p:txBody>
      </p:sp>
      <p:sp>
        <p:nvSpPr>
          <p:cNvPr id="561" name="Google Shape;561;p12"/>
          <p:cNvSpPr txBox="1"/>
          <p:nvPr/>
        </p:nvSpPr>
        <p:spPr>
          <a:xfrm>
            <a:off x="4620418" y="4822291"/>
            <a:ext cx="781050"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dirty="0">
                <a:solidFill>
                  <a:schemeClr val="dk1"/>
                </a:solidFill>
                <a:latin typeface="Calibri" panose="020F0502020204030204" pitchFamily="34" charset="0"/>
                <a:ea typeface="Arial"/>
                <a:cs typeface="Calibri" panose="020F0502020204030204" pitchFamily="34" charset="0"/>
                <a:sym typeface="Arial"/>
              </a:rPr>
              <a:t>Range</a:t>
            </a:r>
            <a:endParaRPr dirty="0">
              <a:latin typeface="Calibri" panose="020F0502020204030204" pitchFamily="34" charset="0"/>
              <a:cs typeface="Calibri" panose="020F0502020204030204" pitchFamily="34" charset="0"/>
            </a:endParaRPr>
          </a:p>
        </p:txBody>
      </p:sp>
      <p:sp>
        <p:nvSpPr>
          <p:cNvPr id="562" name="Google Shape;562;p12"/>
          <p:cNvSpPr txBox="1"/>
          <p:nvPr/>
        </p:nvSpPr>
        <p:spPr>
          <a:xfrm>
            <a:off x="503238" y="916752"/>
            <a:ext cx="135081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ALGORITMOS</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BDF4BB9F-BAE1-054E-72ED-C9868B24593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DEL DATA WAREHOUSE</a:t>
            </a:r>
            <a:endParaRPr lang="es-PE" sz="1000" dirty="0">
              <a:solidFill>
                <a:schemeClr val="bg1">
                  <a:lumMod val="65000"/>
                </a:schemeClr>
              </a:solidFill>
              <a:latin typeface="Calibri" charset="0"/>
              <a:cs typeface="Calibri" charset="0"/>
            </a:endParaRPr>
          </a:p>
        </p:txBody>
      </p:sp>
      <p:sp>
        <p:nvSpPr>
          <p:cNvPr id="10" name="Cilindro 9">
            <a:extLst>
              <a:ext uri="{FF2B5EF4-FFF2-40B4-BE49-F238E27FC236}">
                <a16:creationId xmlns:a16="http://schemas.microsoft.com/office/drawing/2014/main" id="{19362D28-C131-4880-61C8-2721BE2FF033}"/>
              </a:ext>
            </a:extLst>
          </p:cNvPr>
          <p:cNvSpPr/>
          <p:nvPr/>
        </p:nvSpPr>
        <p:spPr>
          <a:xfrm>
            <a:off x="3324761" y="131975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1" name="Cilindro 10">
            <a:extLst>
              <a:ext uri="{FF2B5EF4-FFF2-40B4-BE49-F238E27FC236}">
                <a16:creationId xmlns:a16="http://schemas.microsoft.com/office/drawing/2014/main" id="{4E96265B-4B94-DE09-F713-57768624DADB}"/>
              </a:ext>
            </a:extLst>
          </p:cNvPr>
          <p:cNvSpPr/>
          <p:nvPr/>
        </p:nvSpPr>
        <p:spPr>
          <a:xfrm>
            <a:off x="3324761" y="174647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2" name="Cilindro 11">
            <a:extLst>
              <a:ext uri="{FF2B5EF4-FFF2-40B4-BE49-F238E27FC236}">
                <a16:creationId xmlns:a16="http://schemas.microsoft.com/office/drawing/2014/main" id="{691FE2A4-6B98-DAB8-FCAE-72951583D981}"/>
              </a:ext>
            </a:extLst>
          </p:cNvPr>
          <p:cNvSpPr/>
          <p:nvPr/>
        </p:nvSpPr>
        <p:spPr>
          <a:xfrm>
            <a:off x="3324761" y="215795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3" name="Cilindro 12">
            <a:extLst>
              <a:ext uri="{FF2B5EF4-FFF2-40B4-BE49-F238E27FC236}">
                <a16:creationId xmlns:a16="http://schemas.microsoft.com/office/drawing/2014/main" id="{AFCC304F-28DD-96EA-E3F8-78D8A581C52C}"/>
              </a:ext>
            </a:extLst>
          </p:cNvPr>
          <p:cNvSpPr/>
          <p:nvPr/>
        </p:nvSpPr>
        <p:spPr>
          <a:xfrm>
            <a:off x="6730901" y="131975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 name="Cilindro 13">
            <a:extLst>
              <a:ext uri="{FF2B5EF4-FFF2-40B4-BE49-F238E27FC236}">
                <a16:creationId xmlns:a16="http://schemas.microsoft.com/office/drawing/2014/main" id="{B1E47692-9633-ECBD-A09E-A09C7BB4BE1E}"/>
              </a:ext>
            </a:extLst>
          </p:cNvPr>
          <p:cNvSpPr/>
          <p:nvPr/>
        </p:nvSpPr>
        <p:spPr>
          <a:xfrm>
            <a:off x="6730901" y="174647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 name="Cilindro 14">
            <a:extLst>
              <a:ext uri="{FF2B5EF4-FFF2-40B4-BE49-F238E27FC236}">
                <a16:creationId xmlns:a16="http://schemas.microsoft.com/office/drawing/2014/main" id="{3A46D49B-D59E-AFED-0B9E-E85C36F98997}"/>
              </a:ext>
            </a:extLst>
          </p:cNvPr>
          <p:cNvSpPr/>
          <p:nvPr/>
        </p:nvSpPr>
        <p:spPr>
          <a:xfrm>
            <a:off x="6730901" y="215795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6" name="Cilindro 15">
            <a:extLst>
              <a:ext uri="{FF2B5EF4-FFF2-40B4-BE49-F238E27FC236}">
                <a16:creationId xmlns:a16="http://schemas.microsoft.com/office/drawing/2014/main" id="{D511E317-3395-49C6-907D-27D4852E5456}"/>
              </a:ext>
            </a:extLst>
          </p:cNvPr>
          <p:cNvSpPr/>
          <p:nvPr/>
        </p:nvSpPr>
        <p:spPr>
          <a:xfrm>
            <a:off x="4795421" y="352193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7" name="Cilindro 16">
            <a:extLst>
              <a:ext uri="{FF2B5EF4-FFF2-40B4-BE49-F238E27FC236}">
                <a16:creationId xmlns:a16="http://schemas.microsoft.com/office/drawing/2014/main" id="{AE7E7529-2FA6-2F10-5DDD-9CF04E4BFD19}"/>
              </a:ext>
            </a:extLst>
          </p:cNvPr>
          <p:cNvSpPr/>
          <p:nvPr/>
        </p:nvSpPr>
        <p:spPr>
          <a:xfrm>
            <a:off x="4795421" y="3946102"/>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8" name="Cilindro 17">
            <a:extLst>
              <a:ext uri="{FF2B5EF4-FFF2-40B4-BE49-F238E27FC236}">
                <a16:creationId xmlns:a16="http://schemas.microsoft.com/office/drawing/2014/main" id="{2CE7E53F-A990-0649-3A0C-3F0B2F83CF7C}"/>
              </a:ext>
            </a:extLst>
          </p:cNvPr>
          <p:cNvSpPr/>
          <p:nvPr/>
        </p:nvSpPr>
        <p:spPr>
          <a:xfrm>
            <a:off x="4795421" y="4408517"/>
            <a:ext cx="340995" cy="323445"/>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grpSp>
        <p:nvGrpSpPr>
          <p:cNvPr id="569" name="Google Shape;569;p13"/>
          <p:cNvGrpSpPr/>
          <p:nvPr/>
        </p:nvGrpSpPr>
        <p:grpSpPr>
          <a:xfrm>
            <a:off x="5965825" y="3925253"/>
            <a:ext cx="685800" cy="1206500"/>
            <a:chOff x="3936" y="2815"/>
            <a:chExt cx="432" cy="760"/>
          </a:xfrm>
          <a:solidFill>
            <a:srgbClr val="FDC212"/>
          </a:solidFill>
        </p:grpSpPr>
        <p:sp>
          <p:nvSpPr>
            <p:cNvPr id="570" name="Google Shape;570;p13"/>
            <p:cNvSpPr/>
            <p:nvPr/>
          </p:nvSpPr>
          <p:spPr>
            <a:xfrm>
              <a:off x="3942" y="3060"/>
              <a:ext cx="421" cy="61"/>
            </a:xfrm>
            <a:custGeom>
              <a:avLst/>
              <a:gdLst/>
              <a:ahLst/>
              <a:cxnLst/>
              <a:rect l="l" t="t" r="r" b="b"/>
              <a:pathLst>
                <a:path w="421" h="61" extrusionOk="0">
                  <a:moveTo>
                    <a:pt x="0" y="0"/>
                  </a:moveTo>
                  <a:lnTo>
                    <a:pt x="0" y="45"/>
                  </a:lnTo>
                  <a:lnTo>
                    <a:pt x="162" y="30"/>
                  </a:lnTo>
                  <a:lnTo>
                    <a:pt x="144" y="60"/>
                  </a:lnTo>
                  <a:lnTo>
                    <a:pt x="420" y="22"/>
                  </a:lnTo>
                  <a:lnTo>
                    <a:pt x="420" y="3"/>
                  </a:lnTo>
                  <a:lnTo>
                    <a:pt x="420" y="7"/>
                  </a:lnTo>
                </a:path>
              </a:pathLst>
            </a:custGeom>
            <a:grp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1" name="Google Shape;571;p13"/>
            <p:cNvSpPr/>
            <p:nvPr/>
          </p:nvSpPr>
          <p:spPr>
            <a:xfrm>
              <a:off x="3940" y="2819"/>
              <a:ext cx="424" cy="239"/>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572" name="Google Shape;572;p13"/>
            <p:cNvCxnSpPr/>
            <p:nvPr/>
          </p:nvCxnSpPr>
          <p:spPr>
            <a:xfrm>
              <a:off x="3936" y="2877"/>
              <a:ext cx="432" cy="0"/>
            </a:xfrm>
            <a:prstGeom prst="straightConnector1">
              <a:avLst/>
            </a:prstGeom>
            <a:grpFill/>
            <a:ln w="12700" cap="flat" cmpd="sng">
              <a:solidFill>
                <a:schemeClr val="lt2"/>
              </a:solidFill>
              <a:prstDash val="solid"/>
              <a:round/>
              <a:headEnd type="none" w="sm" len="sm"/>
              <a:tailEnd type="none" w="sm" len="sm"/>
            </a:ln>
          </p:spPr>
        </p:cxnSp>
        <p:cxnSp>
          <p:nvCxnSpPr>
            <p:cNvPr id="573" name="Google Shape;573;p13"/>
            <p:cNvCxnSpPr/>
            <p:nvPr/>
          </p:nvCxnSpPr>
          <p:spPr>
            <a:xfrm>
              <a:off x="3936" y="2939"/>
              <a:ext cx="432" cy="0"/>
            </a:xfrm>
            <a:prstGeom prst="straightConnector1">
              <a:avLst/>
            </a:prstGeom>
            <a:grpFill/>
            <a:ln w="12700" cap="flat" cmpd="sng">
              <a:solidFill>
                <a:schemeClr val="lt2"/>
              </a:solidFill>
              <a:prstDash val="solid"/>
              <a:round/>
              <a:headEnd type="none" w="sm" len="sm"/>
              <a:tailEnd type="none" w="sm" len="sm"/>
            </a:ln>
          </p:spPr>
        </p:cxnSp>
        <p:cxnSp>
          <p:nvCxnSpPr>
            <p:cNvPr id="574" name="Google Shape;574;p13"/>
            <p:cNvCxnSpPr/>
            <p:nvPr/>
          </p:nvCxnSpPr>
          <p:spPr>
            <a:xfrm>
              <a:off x="3936" y="3001"/>
              <a:ext cx="432" cy="0"/>
            </a:xfrm>
            <a:prstGeom prst="straightConnector1">
              <a:avLst/>
            </a:prstGeom>
            <a:grpFill/>
            <a:ln w="12700" cap="flat" cmpd="sng">
              <a:solidFill>
                <a:schemeClr val="lt2"/>
              </a:solidFill>
              <a:prstDash val="solid"/>
              <a:round/>
              <a:headEnd type="none" w="sm" len="sm"/>
              <a:tailEnd type="none" w="sm" len="sm"/>
            </a:ln>
          </p:spPr>
        </p:cxnSp>
        <p:cxnSp>
          <p:nvCxnSpPr>
            <p:cNvPr id="575" name="Google Shape;575;p13"/>
            <p:cNvCxnSpPr/>
            <p:nvPr/>
          </p:nvCxnSpPr>
          <p:spPr>
            <a:xfrm>
              <a:off x="3995" y="2815"/>
              <a:ext cx="0" cy="247"/>
            </a:xfrm>
            <a:prstGeom prst="straightConnector1">
              <a:avLst/>
            </a:prstGeom>
            <a:grpFill/>
            <a:ln w="12700" cap="flat" cmpd="sng">
              <a:solidFill>
                <a:schemeClr val="lt2"/>
              </a:solidFill>
              <a:prstDash val="solid"/>
              <a:round/>
              <a:headEnd type="none" w="sm" len="sm"/>
              <a:tailEnd type="none" w="sm" len="sm"/>
            </a:ln>
          </p:spPr>
        </p:cxnSp>
        <p:cxnSp>
          <p:nvCxnSpPr>
            <p:cNvPr id="576" name="Google Shape;576;p13"/>
            <p:cNvCxnSpPr/>
            <p:nvPr/>
          </p:nvCxnSpPr>
          <p:spPr>
            <a:xfrm>
              <a:off x="4093" y="2815"/>
              <a:ext cx="0" cy="247"/>
            </a:xfrm>
            <a:prstGeom prst="straightConnector1">
              <a:avLst/>
            </a:prstGeom>
            <a:grpFill/>
            <a:ln w="12700" cap="flat" cmpd="sng">
              <a:solidFill>
                <a:schemeClr val="lt2"/>
              </a:solidFill>
              <a:prstDash val="solid"/>
              <a:round/>
              <a:headEnd type="none" w="sm" len="sm"/>
              <a:tailEnd type="none" w="sm" len="sm"/>
            </a:ln>
          </p:spPr>
        </p:cxnSp>
        <p:cxnSp>
          <p:nvCxnSpPr>
            <p:cNvPr id="577" name="Google Shape;577;p13"/>
            <p:cNvCxnSpPr/>
            <p:nvPr/>
          </p:nvCxnSpPr>
          <p:spPr>
            <a:xfrm>
              <a:off x="4250" y="2815"/>
              <a:ext cx="0" cy="247"/>
            </a:xfrm>
            <a:prstGeom prst="straightConnector1">
              <a:avLst/>
            </a:prstGeom>
            <a:grpFill/>
            <a:ln w="12700" cap="flat" cmpd="sng">
              <a:solidFill>
                <a:schemeClr val="lt2"/>
              </a:solidFill>
              <a:prstDash val="solid"/>
              <a:round/>
              <a:headEnd type="none" w="sm" len="sm"/>
              <a:tailEnd type="none" w="sm" len="sm"/>
            </a:ln>
          </p:spPr>
        </p:cxnSp>
        <p:sp>
          <p:nvSpPr>
            <p:cNvPr id="578" name="Google Shape;578;p13"/>
            <p:cNvSpPr/>
            <p:nvPr/>
          </p:nvSpPr>
          <p:spPr>
            <a:xfrm>
              <a:off x="3940" y="3207"/>
              <a:ext cx="424" cy="364"/>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579" name="Google Shape;579;p13"/>
            <p:cNvCxnSpPr/>
            <p:nvPr/>
          </p:nvCxnSpPr>
          <p:spPr>
            <a:xfrm>
              <a:off x="3936" y="3327"/>
              <a:ext cx="432" cy="0"/>
            </a:xfrm>
            <a:prstGeom prst="straightConnector1">
              <a:avLst/>
            </a:prstGeom>
            <a:grpFill/>
            <a:ln w="12700" cap="flat" cmpd="sng">
              <a:solidFill>
                <a:schemeClr val="lt2"/>
              </a:solidFill>
              <a:prstDash val="solid"/>
              <a:round/>
              <a:headEnd type="none" w="sm" len="sm"/>
              <a:tailEnd type="none" w="sm" len="sm"/>
            </a:ln>
          </p:spPr>
        </p:cxnSp>
        <p:cxnSp>
          <p:nvCxnSpPr>
            <p:cNvPr id="580" name="Google Shape;580;p13"/>
            <p:cNvCxnSpPr/>
            <p:nvPr/>
          </p:nvCxnSpPr>
          <p:spPr>
            <a:xfrm>
              <a:off x="3936" y="3388"/>
              <a:ext cx="432" cy="0"/>
            </a:xfrm>
            <a:prstGeom prst="straightConnector1">
              <a:avLst/>
            </a:prstGeom>
            <a:grpFill/>
            <a:ln w="12700" cap="flat" cmpd="sng">
              <a:solidFill>
                <a:schemeClr val="lt2"/>
              </a:solidFill>
              <a:prstDash val="solid"/>
              <a:round/>
              <a:headEnd type="none" w="sm" len="sm"/>
              <a:tailEnd type="none" w="sm" len="sm"/>
            </a:ln>
          </p:spPr>
        </p:cxnSp>
        <p:cxnSp>
          <p:nvCxnSpPr>
            <p:cNvPr id="581" name="Google Shape;581;p13"/>
            <p:cNvCxnSpPr/>
            <p:nvPr/>
          </p:nvCxnSpPr>
          <p:spPr>
            <a:xfrm>
              <a:off x="3936" y="3450"/>
              <a:ext cx="432" cy="0"/>
            </a:xfrm>
            <a:prstGeom prst="straightConnector1">
              <a:avLst/>
            </a:prstGeom>
            <a:grpFill/>
            <a:ln w="12700" cap="flat" cmpd="sng">
              <a:solidFill>
                <a:schemeClr val="lt2"/>
              </a:solidFill>
              <a:prstDash val="solid"/>
              <a:round/>
              <a:headEnd type="none" w="sm" len="sm"/>
              <a:tailEnd type="none" w="sm" len="sm"/>
            </a:ln>
          </p:spPr>
        </p:cxnSp>
        <p:cxnSp>
          <p:nvCxnSpPr>
            <p:cNvPr id="582" name="Google Shape;582;p13"/>
            <p:cNvCxnSpPr/>
            <p:nvPr/>
          </p:nvCxnSpPr>
          <p:spPr>
            <a:xfrm>
              <a:off x="3936" y="3512"/>
              <a:ext cx="432" cy="0"/>
            </a:xfrm>
            <a:prstGeom prst="straightConnector1">
              <a:avLst/>
            </a:prstGeom>
            <a:grpFill/>
            <a:ln w="12700" cap="flat" cmpd="sng">
              <a:solidFill>
                <a:schemeClr val="lt2"/>
              </a:solidFill>
              <a:prstDash val="solid"/>
              <a:round/>
              <a:headEnd type="none" w="sm" len="sm"/>
              <a:tailEnd type="none" w="sm" len="sm"/>
            </a:ln>
          </p:spPr>
        </p:cxnSp>
        <p:cxnSp>
          <p:nvCxnSpPr>
            <p:cNvPr id="583" name="Google Shape;583;p13"/>
            <p:cNvCxnSpPr/>
            <p:nvPr/>
          </p:nvCxnSpPr>
          <p:spPr>
            <a:xfrm>
              <a:off x="3995" y="3203"/>
              <a:ext cx="0" cy="372"/>
            </a:xfrm>
            <a:prstGeom prst="straightConnector1">
              <a:avLst/>
            </a:prstGeom>
            <a:grpFill/>
            <a:ln w="12700" cap="flat" cmpd="sng">
              <a:solidFill>
                <a:schemeClr val="lt2"/>
              </a:solidFill>
              <a:prstDash val="solid"/>
              <a:round/>
              <a:headEnd type="none" w="sm" len="sm"/>
              <a:tailEnd type="none" w="sm" len="sm"/>
            </a:ln>
          </p:spPr>
        </p:cxnSp>
        <p:cxnSp>
          <p:nvCxnSpPr>
            <p:cNvPr id="584" name="Google Shape;584;p13"/>
            <p:cNvCxnSpPr/>
            <p:nvPr/>
          </p:nvCxnSpPr>
          <p:spPr>
            <a:xfrm>
              <a:off x="4093" y="3203"/>
              <a:ext cx="0" cy="372"/>
            </a:xfrm>
            <a:prstGeom prst="straightConnector1">
              <a:avLst/>
            </a:prstGeom>
            <a:grpFill/>
            <a:ln w="12700" cap="flat" cmpd="sng">
              <a:solidFill>
                <a:schemeClr val="lt2"/>
              </a:solidFill>
              <a:prstDash val="solid"/>
              <a:round/>
              <a:headEnd type="none" w="sm" len="sm"/>
              <a:tailEnd type="none" w="sm" len="sm"/>
            </a:ln>
          </p:spPr>
        </p:cxnSp>
        <p:cxnSp>
          <p:nvCxnSpPr>
            <p:cNvPr id="585" name="Google Shape;585;p13"/>
            <p:cNvCxnSpPr/>
            <p:nvPr/>
          </p:nvCxnSpPr>
          <p:spPr>
            <a:xfrm>
              <a:off x="4250" y="3203"/>
              <a:ext cx="0" cy="372"/>
            </a:xfrm>
            <a:prstGeom prst="straightConnector1">
              <a:avLst/>
            </a:prstGeom>
            <a:grpFill/>
            <a:ln w="12700" cap="flat" cmpd="sng">
              <a:solidFill>
                <a:schemeClr val="lt2"/>
              </a:solidFill>
              <a:prstDash val="solid"/>
              <a:round/>
              <a:headEnd type="none" w="sm" len="sm"/>
              <a:tailEnd type="none" w="sm" len="sm"/>
            </a:ln>
          </p:spPr>
        </p:cxnSp>
        <p:cxnSp>
          <p:nvCxnSpPr>
            <p:cNvPr id="586" name="Google Shape;586;p13"/>
            <p:cNvCxnSpPr/>
            <p:nvPr/>
          </p:nvCxnSpPr>
          <p:spPr>
            <a:xfrm>
              <a:off x="3936" y="3265"/>
              <a:ext cx="432" cy="0"/>
            </a:xfrm>
            <a:prstGeom prst="straightConnector1">
              <a:avLst/>
            </a:prstGeom>
            <a:grpFill/>
            <a:ln w="12700" cap="flat" cmpd="sng">
              <a:solidFill>
                <a:schemeClr val="lt2"/>
              </a:solidFill>
              <a:prstDash val="solid"/>
              <a:round/>
              <a:headEnd type="none" w="sm" len="sm"/>
              <a:tailEnd type="none" w="sm" len="sm"/>
            </a:ln>
          </p:spPr>
        </p:cxnSp>
        <p:sp>
          <p:nvSpPr>
            <p:cNvPr id="587" name="Google Shape;587;p13"/>
            <p:cNvSpPr/>
            <p:nvPr/>
          </p:nvSpPr>
          <p:spPr>
            <a:xfrm>
              <a:off x="3936" y="3138"/>
              <a:ext cx="427" cy="67"/>
            </a:xfrm>
            <a:custGeom>
              <a:avLst/>
              <a:gdLst/>
              <a:ahLst/>
              <a:cxnLst/>
              <a:rect l="l" t="t" r="r" b="b"/>
              <a:pathLst>
                <a:path w="427" h="67" extrusionOk="0">
                  <a:moveTo>
                    <a:pt x="0" y="66"/>
                  </a:moveTo>
                  <a:lnTo>
                    <a:pt x="0" y="33"/>
                  </a:lnTo>
                  <a:lnTo>
                    <a:pt x="133" y="13"/>
                  </a:lnTo>
                  <a:lnTo>
                    <a:pt x="121" y="46"/>
                  </a:lnTo>
                  <a:lnTo>
                    <a:pt x="426" y="0"/>
                  </a:lnTo>
                  <a:lnTo>
                    <a:pt x="426" y="66"/>
                  </a:lnTo>
                </a:path>
              </a:pathLst>
            </a:custGeom>
            <a:grpFill/>
            <a:ln w="127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588" name="Google Shape;588;p13"/>
          <p:cNvGrpSpPr/>
          <p:nvPr/>
        </p:nvGrpSpPr>
        <p:grpSpPr>
          <a:xfrm>
            <a:off x="2994025" y="3123565"/>
            <a:ext cx="457200" cy="295275"/>
            <a:chOff x="2064" y="2310"/>
            <a:chExt cx="288" cy="186"/>
          </a:xfrm>
          <a:solidFill>
            <a:srgbClr val="92C14E"/>
          </a:solidFill>
        </p:grpSpPr>
        <p:sp>
          <p:nvSpPr>
            <p:cNvPr id="589" name="Google Shape;589;p13"/>
            <p:cNvSpPr/>
            <p:nvPr/>
          </p:nvSpPr>
          <p:spPr>
            <a:xfrm>
              <a:off x="2068" y="2314"/>
              <a:ext cx="280" cy="178"/>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590" name="Google Shape;590;p13"/>
            <p:cNvCxnSpPr/>
            <p:nvPr/>
          </p:nvCxnSpPr>
          <p:spPr>
            <a:xfrm>
              <a:off x="2064" y="2372"/>
              <a:ext cx="288" cy="0"/>
            </a:xfrm>
            <a:prstGeom prst="straightConnector1">
              <a:avLst/>
            </a:prstGeom>
            <a:grpFill/>
            <a:ln w="12700" cap="flat" cmpd="sng">
              <a:solidFill>
                <a:schemeClr val="lt2"/>
              </a:solidFill>
              <a:prstDash val="solid"/>
              <a:round/>
              <a:headEnd type="none" w="sm" len="sm"/>
              <a:tailEnd type="none" w="sm" len="sm"/>
            </a:ln>
          </p:spPr>
        </p:cxnSp>
        <p:cxnSp>
          <p:nvCxnSpPr>
            <p:cNvPr id="591" name="Google Shape;591;p13"/>
            <p:cNvCxnSpPr/>
            <p:nvPr/>
          </p:nvCxnSpPr>
          <p:spPr>
            <a:xfrm>
              <a:off x="2064" y="2433"/>
              <a:ext cx="288" cy="0"/>
            </a:xfrm>
            <a:prstGeom prst="straightConnector1">
              <a:avLst/>
            </a:prstGeom>
            <a:grpFill/>
            <a:ln w="12700" cap="flat" cmpd="sng">
              <a:solidFill>
                <a:schemeClr val="lt2"/>
              </a:solidFill>
              <a:prstDash val="solid"/>
              <a:round/>
              <a:headEnd type="none" w="sm" len="sm"/>
              <a:tailEnd type="none" w="sm" len="sm"/>
            </a:ln>
          </p:spPr>
        </p:cxnSp>
        <p:cxnSp>
          <p:nvCxnSpPr>
            <p:cNvPr id="592" name="Google Shape;592;p13"/>
            <p:cNvCxnSpPr/>
            <p:nvPr/>
          </p:nvCxnSpPr>
          <p:spPr>
            <a:xfrm>
              <a:off x="2103" y="2310"/>
              <a:ext cx="0" cy="186"/>
            </a:xfrm>
            <a:prstGeom prst="straightConnector1">
              <a:avLst/>
            </a:prstGeom>
            <a:grpFill/>
            <a:ln w="12700" cap="flat" cmpd="sng">
              <a:solidFill>
                <a:schemeClr val="lt2"/>
              </a:solidFill>
              <a:prstDash val="solid"/>
              <a:round/>
              <a:headEnd type="none" w="sm" len="sm"/>
              <a:tailEnd type="none" w="sm" len="sm"/>
            </a:ln>
          </p:spPr>
        </p:cxnSp>
        <p:cxnSp>
          <p:nvCxnSpPr>
            <p:cNvPr id="593" name="Google Shape;593;p13"/>
            <p:cNvCxnSpPr/>
            <p:nvPr/>
          </p:nvCxnSpPr>
          <p:spPr>
            <a:xfrm>
              <a:off x="2169" y="2310"/>
              <a:ext cx="0" cy="186"/>
            </a:xfrm>
            <a:prstGeom prst="straightConnector1">
              <a:avLst/>
            </a:prstGeom>
            <a:grpFill/>
            <a:ln w="12700" cap="flat" cmpd="sng">
              <a:solidFill>
                <a:schemeClr val="lt2"/>
              </a:solidFill>
              <a:prstDash val="solid"/>
              <a:round/>
              <a:headEnd type="none" w="sm" len="sm"/>
              <a:tailEnd type="none" w="sm" len="sm"/>
            </a:ln>
          </p:spPr>
        </p:cxnSp>
        <p:cxnSp>
          <p:nvCxnSpPr>
            <p:cNvPr id="594" name="Google Shape;594;p13"/>
            <p:cNvCxnSpPr/>
            <p:nvPr/>
          </p:nvCxnSpPr>
          <p:spPr>
            <a:xfrm>
              <a:off x="2273" y="2310"/>
              <a:ext cx="0" cy="186"/>
            </a:xfrm>
            <a:prstGeom prst="straightConnector1">
              <a:avLst/>
            </a:prstGeom>
            <a:grpFill/>
            <a:ln w="12700" cap="flat" cmpd="sng">
              <a:solidFill>
                <a:schemeClr val="lt2"/>
              </a:solidFill>
              <a:prstDash val="solid"/>
              <a:round/>
              <a:headEnd type="none" w="sm" len="sm"/>
              <a:tailEnd type="none" w="sm" len="sm"/>
            </a:ln>
          </p:spPr>
        </p:cxnSp>
      </p:grpSp>
      <p:sp>
        <p:nvSpPr>
          <p:cNvPr id="616" name="Google Shape;616;p13"/>
          <p:cNvSpPr/>
          <p:nvPr/>
        </p:nvSpPr>
        <p:spPr>
          <a:xfrm>
            <a:off x="4912995" y="1270953"/>
            <a:ext cx="2973388" cy="144462"/>
          </a:xfrm>
          <a:custGeom>
            <a:avLst/>
            <a:gdLst/>
            <a:ahLst/>
            <a:cxnLst/>
            <a:rect l="l" t="t" r="r" b="b"/>
            <a:pathLst>
              <a:path w="1873" h="91" extrusionOk="0">
                <a:moveTo>
                  <a:pt x="0" y="90"/>
                </a:moveTo>
                <a:lnTo>
                  <a:pt x="0" y="0"/>
                </a:lnTo>
                <a:lnTo>
                  <a:pt x="1872" y="0"/>
                </a:lnTo>
                <a:lnTo>
                  <a:pt x="1872" y="90"/>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panose="020F0502020204030204" pitchFamily="34" charset="0"/>
              <a:ea typeface="Calibri"/>
              <a:cs typeface="Calibri" panose="020F0502020204030204" pitchFamily="34" charset="0"/>
              <a:sym typeface="Calibri"/>
            </a:endParaRPr>
          </a:p>
        </p:txBody>
      </p:sp>
      <p:cxnSp>
        <p:nvCxnSpPr>
          <p:cNvPr id="617" name="Google Shape;617;p13"/>
          <p:cNvCxnSpPr/>
          <p:nvPr/>
        </p:nvCxnSpPr>
        <p:spPr>
          <a:xfrm>
            <a:off x="6373495" y="1270953"/>
            <a:ext cx="0" cy="142875"/>
          </a:xfrm>
          <a:prstGeom prst="straightConnector1">
            <a:avLst/>
          </a:prstGeom>
          <a:noFill/>
          <a:ln w="12700" cap="flat" cmpd="sng">
            <a:solidFill>
              <a:schemeClr val="dk1"/>
            </a:solidFill>
            <a:prstDash val="solid"/>
            <a:round/>
            <a:headEnd type="none" w="sm" len="sm"/>
            <a:tailEnd type="none" w="sm" len="sm"/>
          </a:ln>
        </p:spPr>
      </p:cxnSp>
      <p:sp>
        <p:nvSpPr>
          <p:cNvPr id="618" name="Google Shape;618;p13"/>
          <p:cNvSpPr/>
          <p:nvPr/>
        </p:nvSpPr>
        <p:spPr>
          <a:xfrm>
            <a:off x="4404995" y="1426528"/>
            <a:ext cx="1017588" cy="841375"/>
          </a:xfrm>
          <a:prstGeom prst="rect">
            <a:avLst/>
          </a:prstGeom>
          <a:no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Times New Roman"/>
              <a:cs typeface="Calibri" panose="020F0502020204030204" pitchFamily="34" charset="0"/>
              <a:sym typeface="Times New Roman"/>
            </a:endParaRPr>
          </a:p>
        </p:txBody>
      </p:sp>
      <p:grpSp>
        <p:nvGrpSpPr>
          <p:cNvPr id="619" name="Google Shape;619;p13"/>
          <p:cNvGrpSpPr/>
          <p:nvPr/>
        </p:nvGrpSpPr>
        <p:grpSpPr>
          <a:xfrm>
            <a:off x="4554220" y="1564640"/>
            <a:ext cx="717550" cy="565150"/>
            <a:chOff x="2982" y="1328"/>
            <a:chExt cx="452" cy="356"/>
          </a:xfrm>
        </p:grpSpPr>
        <p:sp>
          <p:nvSpPr>
            <p:cNvPr id="620" name="Google Shape;620;p13"/>
            <p:cNvSpPr/>
            <p:nvPr/>
          </p:nvSpPr>
          <p:spPr>
            <a:xfrm>
              <a:off x="2982" y="1328"/>
              <a:ext cx="222" cy="174"/>
            </a:xfrm>
            <a:prstGeom prst="rect">
              <a:avLst/>
            </a:prstGeom>
            <a:noFill/>
            <a:ln w="12700" cap="flat" cmpd="sng">
              <a:solidFill>
                <a:schemeClr val="dk1"/>
              </a:solidFill>
              <a:prstDash val="solid"/>
              <a:miter lim="800000"/>
              <a:headEnd type="none" w="sm" len="sm"/>
              <a:tailEnd type="none" w="sm" len="sm"/>
            </a:ln>
          </p:spPr>
          <p:txBody>
            <a:bodyPr spcFirstLastPara="1" wrap="square" lIns="0" tIns="46025" rIns="0"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CPU</a:t>
              </a:r>
              <a:endParaRPr sz="1200">
                <a:latin typeface="Calibri" panose="020F0502020204030204" pitchFamily="34" charset="0"/>
                <a:cs typeface="Calibri" panose="020F0502020204030204" pitchFamily="34" charset="0"/>
              </a:endParaRPr>
            </a:p>
          </p:txBody>
        </p:sp>
        <p:sp>
          <p:nvSpPr>
            <p:cNvPr id="621" name="Google Shape;621;p13"/>
            <p:cNvSpPr/>
            <p:nvPr/>
          </p:nvSpPr>
          <p:spPr>
            <a:xfrm>
              <a:off x="3212" y="1328"/>
              <a:ext cx="222" cy="174"/>
            </a:xfrm>
            <a:prstGeom prst="rect">
              <a:avLst/>
            </a:prstGeom>
            <a:noFill/>
            <a:ln w="12700" cap="flat" cmpd="sng">
              <a:solidFill>
                <a:schemeClr val="dk1"/>
              </a:solidFill>
              <a:prstDash val="solid"/>
              <a:miter lim="800000"/>
              <a:headEnd type="none" w="sm" len="sm"/>
              <a:tailEnd type="none" w="sm" len="sm"/>
            </a:ln>
          </p:spPr>
          <p:txBody>
            <a:bodyPr spcFirstLastPara="1" wrap="square" lIns="0" tIns="46025" rIns="0"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CPU</a:t>
              </a:r>
              <a:endParaRPr sz="1200">
                <a:latin typeface="Calibri" panose="020F0502020204030204" pitchFamily="34" charset="0"/>
                <a:cs typeface="Calibri" panose="020F0502020204030204" pitchFamily="34" charset="0"/>
              </a:endParaRPr>
            </a:p>
          </p:txBody>
        </p:sp>
        <p:sp>
          <p:nvSpPr>
            <p:cNvPr id="622" name="Google Shape;622;p13"/>
            <p:cNvSpPr/>
            <p:nvPr/>
          </p:nvSpPr>
          <p:spPr>
            <a:xfrm>
              <a:off x="2982" y="1510"/>
              <a:ext cx="452" cy="174"/>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Memoria</a:t>
              </a:r>
              <a:endParaRPr sz="1200">
                <a:latin typeface="Calibri" panose="020F0502020204030204" pitchFamily="34" charset="0"/>
                <a:cs typeface="Calibri" panose="020F0502020204030204" pitchFamily="34" charset="0"/>
              </a:endParaRPr>
            </a:p>
          </p:txBody>
        </p:sp>
      </p:grpSp>
      <p:sp>
        <p:nvSpPr>
          <p:cNvPr id="623" name="Google Shape;623;p13"/>
          <p:cNvSpPr/>
          <p:nvPr/>
        </p:nvSpPr>
        <p:spPr>
          <a:xfrm>
            <a:off x="5865495" y="1426528"/>
            <a:ext cx="1017588" cy="841375"/>
          </a:xfrm>
          <a:prstGeom prst="rect">
            <a:avLst/>
          </a:prstGeom>
          <a:no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Times New Roman"/>
              <a:cs typeface="Calibri" panose="020F0502020204030204" pitchFamily="34" charset="0"/>
              <a:sym typeface="Times New Roman"/>
            </a:endParaRPr>
          </a:p>
        </p:txBody>
      </p:sp>
      <p:grpSp>
        <p:nvGrpSpPr>
          <p:cNvPr id="624" name="Google Shape;624;p13"/>
          <p:cNvGrpSpPr/>
          <p:nvPr/>
        </p:nvGrpSpPr>
        <p:grpSpPr>
          <a:xfrm>
            <a:off x="6016308" y="1564640"/>
            <a:ext cx="714375" cy="565150"/>
            <a:chOff x="3903" y="1328"/>
            <a:chExt cx="450" cy="356"/>
          </a:xfrm>
        </p:grpSpPr>
        <p:sp>
          <p:nvSpPr>
            <p:cNvPr id="625" name="Google Shape;625;p13"/>
            <p:cNvSpPr/>
            <p:nvPr/>
          </p:nvSpPr>
          <p:spPr>
            <a:xfrm>
              <a:off x="3903" y="1328"/>
              <a:ext cx="221" cy="174"/>
            </a:xfrm>
            <a:prstGeom prst="rect">
              <a:avLst/>
            </a:prstGeom>
            <a:noFill/>
            <a:ln w="12700" cap="flat" cmpd="sng">
              <a:solidFill>
                <a:schemeClr val="dk1"/>
              </a:solidFill>
              <a:prstDash val="solid"/>
              <a:miter lim="800000"/>
              <a:headEnd type="none" w="sm" len="sm"/>
              <a:tailEnd type="none" w="sm" len="sm"/>
            </a:ln>
          </p:spPr>
          <p:txBody>
            <a:bodyPr spcFirstLastPara="1" wrap="square" lIns="0" tIns="46025" rIns="0"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CPU</a:t>
              </a:r>
              <a:endParaRPr sz="1200">
                <a:latin typeface="Calibri" panose="020F0502020204030204" pitchFamily="34" charset="0"/>
                <a:cs typeface="Calibri" panose="020F0502020204030204" pitchFamily="34" charset="0"/>
              </a:endParaRPr>
            </a:p>
          </p:txBody>
        </p:sp>
        <p:sp>
          <p:nvSpPr>
            <p:cNvPr id="626" name="Google Shape;626;p13"/>
            <p:cNvSpPr/>
            <p:nvPr/>
          </p:nvSpPr>
          <p:spPr>
            <a:xfrm>
              <a:off x="4132" y="1328"/>
              <a:ext cx="221" cy="174"/>
            </a:xfrm>
            <a:prstGeom prst="rect">
              <a:avLst/>
            </a:prstGeom>
            <a:noFill/>
            <a:ln w="12700" cap="flat" cmpd="sng">
              <a:solidFill>
                <a:schemeClr val="dk1"/>
              </a:solidFill>
              <a:prstDash val="solid"/>
              <a:miter lim="800000"/>
              <a:headEnd type="none" w="sm" len="sm"/>
              <a:tailEnd type="none" w="sm" len="sm"/>
            </a:ln>
          </p:spPr>
          <p:txBody>
            <a:bodyPr spcFirstLastPara="1" wrap="square" lIns="0" tIns="46025" rIns="0" bIns="46025" anchor="ctr" anchorCtr="0">
              <a:noAutofit/>
            </a:bodyPr>
            <a:lstStyle/>
            <a:p>
              <a:pPr marL="0" marR="0" lvl="0" indent="0" algn="ctr" rtl="0">
                <a:spcBef>
                  <a:spcPts val="0"/>
                </a:spcBef>
                <a:spcAft>
                  <a:spcPts val="0"/>
                </a:spcAft>
                <a:buNone/>
              </a:pPr>
              <a:r>
                <a:rPr lang="en-US" sz="1000" dirty="0">
                  <a:solidFill>
                    <a:schemeClr val="dk1"/>
                  </a:solidFill>
                  <a:latin typeface="Calibri" panose="020F0502020204030204" pitchFamily="34" charset="0"/>
                  <a:ea typeface="Arial"/>
                  <a:cs typeface="Calibri" panose="020F0502020204030204" pitchFamily="34" charset="0"/>
                  <a:sym typeface="Arial"/>
                </a:rPr>
                <a:t>CPU</a:t>
              </a:r>
              <a:endParaRPr sz="1200" dirty="0">
                <a:latin typeface="Calibri" panose="020F0502020204030204" pitchFamily="34" charset="0"/>
                <a:cs typeface="Calibri" panose="020F0502020204030204" pitchFamily="34" charset="0"/>
              </a:endParaRPr>
            </a:p>
          </p:txBody>
        </p:sp>
        <p:sp>
          <p:nvSpPr>
            <p:cNvPr id="627" name="Google Shape;627;p13"/>
            <p:cNvSpPr/>
            <p:nvPr/>
          </p:nvSpPr>
          <p:spPr>
            <a:xfrm>
              <a:off x="3903" y="1510"/>
              <a:ext cx="450" cy="174"/>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Memoria</a:t>
              </a:r>
              <a:endParaRPr sz="1200">
                <a:latin typeface="Calibri" panose="020F0502020204030204" pitchFamily="34" charset="0"/>
                <a:cs typeface="Calibri" panose="020F0502020204030204" pitchFamily="34" charset="0"/>
              </a:endParaRPr>
            </a:p>
          </p:txBody>
        </p:sp>
      </p:grpSp>
      <p:sp>
        <p:nvSpPr>
          <p:cNvPr id="628" name="Google Shape;628;p13"/>
          <p:cNvSpPr/>
          <p:nvPr/>
        </p:nvSpPr>
        <p:spPr>
          <a:xfrm>
            <a:off x="7322820" y="1426528"/>
            <a:ext cx="1019175" cy="841375"/>
          </a:xfrm>
          <a:prstGeom prst="rect">
            <a:avLst/>
          </a:prstGeom>
          <a:no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Times New Roman"/>
              <a:cs typeface="Calibri" panose="020F0502020204030204" pitchFamily="34" charset="0"/>
              <a:sym typeface="Times New Roman"/>
            </a:endParaRPr>
          </a:p>
        </p:txBody>
      </p:sp>
      <p:grpSp>
        <p:nvGrpSpPr>
          <p:cNvPr id="629" name="Google Shape;629;p13"/>
          <p:cNvGrpSpPr/>
          <p:nvPr/>
        </p:nvGrpSpPr>
        <p:grpSpPr>
          <a:xfrm>
            <a:off x="7475220" y="1564640"/>
            <a:ext cx="717550" cy="565150"/>
            <a:chOff x="4822" y="1328"/>
            <a:chExt cx="452" cy="356"/>
          </a:xfrm>
        </p:grpSpPr>
        <p:sp>
          <p:nvSpPr>
            <p:cNvPr id="630" name="Google Shape;630;p13"/>
            <p:cNvSpPr/>
            <p:nvPr/>
          </p:nvSpPr>
          <p:spPr>
            <a:xfrm>
              <a:off x="4822" y="1328"/>
              <a:ext cx="222" cy="174"/>
            </a:xfrm>
            <a:prstGeom prst="rect">
              <a:avLst/>
            </a:prstGeom>
            <a:noFill/>
            <a:ln w="12700" cap="flat" cmpd="sng">
              <a:solidFill>
                <a:schemeClr val="dk1"/>
              </a:solidFill>
              <a:prstDash val="solid"/>
              <a:miter lim="800000"/>
              <a:headEnd type="none" w="sm" len="sm"/>
              <a:tailEnd type="none" w="sm" len="sm"/>
            </a:ln>
          </p:spPr>
          <p:txBody>
            <a:bodyPr spcFirstLastPara="1" wrap="square" lIns="0" tIns="46025" rIns="0" bIns="46025" anchor="ctr" anchorCtr="0">
              <a:noAutofit/>
            </a:bodyPr>
            <a:lstStyle/>
            <a:p>
              <a:pPr marL="0" marR="0" lvl="0" indent="0" algn="ctr" rtl="0">
                <a:spcBef>
                  <a:spcPts val="0"/>
                </a:spcBef>
                <a:spcAft>
                  <a:spcPts val="0"/>
                </a:spcAft>
                <a:buNone/>
              </a:pPr>
              <a:r>
                <a:rPr lang="en-US" sz="1000" dirty="0">
                  <a:solidFill>
                    <a:schemeClr val="dk1"/>
                  </a:solidFill>
                  <a:latin typeface="Calibri" panose="020F0502020204030204" pitchFamily="34" charset="0"/>
                  <a:ea typeface="Arial"/>
                  <a:cs typeface="Calibri" panose="020F0502020204030204" pitchFamily="34" charset="0"/>
                  <a:sym typeface="Arial"/>
                </a:rPr>
                <a:t>CPU</a:t>
              </a:r>
              <a:endParaRPr sz="1200" dirty="0">
                <a:latin typeface="Calibri" panose="020F0502020204030204" pitchFamily="34" charset="0"/>
                <a:cs typeface="Calibri" panose="020F0502020204030204" pitchFamily="34" charset="0"/>
              </a:endParaRPr>
            </a:p>
          </p:txBody>
        </p:sp>
        <p:sp>
          <p:nvSpPr>
            <p:cNvPr id="631" name="Google Shape;631;p13"/>
            <p:cNvSpPr/>
            <p:nvPr/>
          </p:nvSpPr>
          <p:spPr>
            <a:xfrm>
              <a:off x="5052" y="1328"/>
              <a:ext cx="222" cy="174"/>
            </a:xfrm>
            <a:prstGeom prst="rect">
              <a:avLst/>
            </a:prstGeom>
            <a:noFill/>
            <a:ln w="12700" cap="flat" cmpd="sng">
              <a:solidFill>
                <a:schemeClr val="dk1"/>
              </a:solidFill>
              <a:prstDash val="solid"/>
              <a:miter lim="800000"/>
              <a:headEnd type="none" w="sm" len="sm"/>
              <a:tailEnd type="none" w="sm" len="sm"/>
            </a:ln>
          </p:spPr>
          <p:txBody>
            <a:bodyPr spcFirstLastPara="1" wrap="square" lIns="0" tIns="46025" rIns="0"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CPU</a:t>
              </a:r>
              <a:endParaRPr sz="1200">
                <a:latin typeface="Calibri" panose="020F0502020204030204" pitchFamily="34" charset="0"/>
                <a:cs typeface="Calibri" panose="020F0502020204030204" pitchFamily="34" charset="0"/>
              </a:endParaRPr>
            </a:p>
          </p:txBody>
        </p:sp>
        <p:sp>
          <p:nvSpPr>
            <p:cNvPr id="632" name="Google Shape;632;p13"/>
            <p:cNvSpPr/>
            <p:nvPr/>
          </p:nvSpPr>
          <p:spPr>
            <a:xfrm>
              <a:off x="4822" y="1510"/>
              <a:ext cx="452" cy="174"/>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Memoria</a:t>
              </a:r>
              <a:endParaRPr sz="1200">
                <a:latin typeface="Calibri" panose="020F0502020204030204" pitchFamily="34" charset="0"/>
                <a:cs typeface="Calibri" panose="020F0502020204030204" pitchFamily="34" charset="0"/>
              </a:endParaRPr>
            </a:p>
          </p:txBody>
        </p:sp>
      </p:grpSp>
      <p:sp>
        <p:nvSpPr>
          <p:cNvPr id="633" name="Google Shape;633;p13"/>
          <p:cNvSpPr/>
          <p:nvPr/>
        </p:nvSpPr>
        <p:spPr>
          <a:xfrm>
            <a:off x="1177925" y="1221740"/>
            <a:ext cx="1270000" cy="1747838"/>
          </a:xfrm>
          <a:prstGeom prst="rect">
            <a:avLst/>
          </a:prstGeom>
          <a:no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634" name="Google Shape;634;p13"/>
          <p:cNvSpPr/>
          <p:nvPr/>
        </p:nvSpPr>
        <p:spPr>
          <a:xfrm>
            <a:off x="1365250" y="2250440"/>
            <a:ext cx="441325"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35" name="Google Shape;635;p13"/>
          <p:cNvSpPr/>
          <p:nvPr/>
        </p:nvSpPr>
        <p:spPr>
          <a:xfrm>
            <a:off x="1819275" y="2250440"/>
            <a:ext cx="441325"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36" name="Google Shape;636;p13"/>
          <p:cNvSpPr/>
          <p:nvPr/>
        </p:nvSpPr>
        <p:spPr>
          <a:xfrm>
            <a:off x="1365250" y="2545715"/>
            <a:ext cx="895350"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Memoria</a:t>
            </a:r>
            <a:endParaRPr sz="1600">
              <a:latin typeface="Calibri" panose="020F0502020204030204" pitchFamily="34" charset="0"/>
              <a:cs typeface="Calibri" panose="020F0502020204030204" pitchFamily="34" charset="0"/>
            </a:endParaRPr>
          </a:p>
        </p:txBody>
      </p:sp>
      <p:sp>
        <p:nvSpPr>
          <p:cNvPr id="637" name="Google Shape;637;p13"/>
          <p:cNvSpPr/>
          <p:nvPr/>
        </p:nvSpPr>
        <p:spPr>
          <a:xfrm>
            <a:off x="1365250" y="1955165"/>
            <a:ext cx="441325"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38" name="Google Shape;638;p13"/>
          <p:cNvSpPr/>
          <p:nvPr/>
        </p:nvSpPr>
        <p:spPr>
          <a:xfrm>
            <a:off x="1819275" y="1955165"/>
            <a:ext cx="441325"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39" name="Google Shape;639;p13"/>
          <p:cNvSpPr/>
          <p:nvPr/>
        </p:nvSpPr>
        <p:spPr>
          <a:xfrm>
            <a:off x="1365250" y="1658303"/>
            <a:ext cx="441325" cy="284162"/>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40" name="Google Shape;640;p13"/>
          <p:cNvSpPr/>
          <p:nvPr/>
        </p:nvSpPr>
        <p:spPr>
          <a:xfrm>
            <a:off x="1819275" y="1658303"/>
            <a:ext cx="441325" cy="284162"/>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41" name="Google Shape;641;p13"/>
          <p:cNvSpPr/>
          <p:nvPr/>
        </p:nvSpPr>
        <p:spPr>
          <a:xfrm>
            <a:off x="1365250" y="1363028"/>
            <a:ext cx="441325"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sp>
        <p:nvSpPr>
          <p:cNvPr id="642" name="Google Shape;642;p13"/>
          <p:cNvSpPr/>
          <p:nvPr/>
        </p:nvSpPr>
        <p:spPr>
          <a:xfrm>
            <a:off x="1819275" y="1363028"/>
            <a:ext cx="441325" cy="2825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Arial"/>
                <a:cs typeface="Calibri" panose="020F0502020204030204" pitchFamily="34" charset="0"/>
                <a:sym typeface="Arial"/>
              </a:rPr>
              <a:t>CPU</a:t>
            </a:r>
            <a:endParaRPr sz="1600">
              <a:latin typeface="Calibri" panose="020F0502020204030204" pitchFamily="34" charset="0"/>
              <a:cs typeface="Calibri" panose="020F0502020204030204" pitchFamily="34" charset="0"/>
            </a:endParaRPr>
          </a:p>
        </p:txBody>
      </p:sp>
      <p:grpSp>
        <p:nvGrpSpPr>
          <p:cNvPr id="644" name="Google Shape;644;p13"/>
          <p:cNvGrpSpPr/>
          <p:nvPr/>
        </p:nvGrpSpPr>
        <p:grpSpPr>
          <a:xfrm>
            <a:off x="2994025" y="3885565"/>
            <a:ext cx="457200" cy="295275"/>
            <a:chOff x="2064" y="2790"/>
            <a:chExt cx="288" cy="186"/>
          </a:xfrm>
          <a:solidFill>
            <a:srgbClr val="92C14E"/>
          </a:solidFill>
        </p:grpSpPr>
        <p:sp>
          <p:nvSpPr>
            <p:cNvPr id="645" name="Google Shape;645;p13"/>
            <p:cNvSpPr/>
            <p:nvPr/>
          </p:nvSpPr>
          <p:spPr>
            <a:xfrm>
              <a:off x="2068" y="2794"/>
              <a:ext cx="280" cy="178"/>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646" name="Google Shape;646;p13"/>
            <p:cNvCxnSpPr/>
            <p:nvPr/>
          </p:nvCxnSpPr>
          <p:spPr>
            <a:xfrm>
              <a:off x="2064" y="2852"/>
              <a:ext cx="288" cy="0"/>
            </a:xfrm>
            <a:prstGeom prst="straightConnector1">
              <a:avLst/>
            </a:prstGeom>
            <a:grpFill/>
            <a:ln w="12700" cap="flat" cmpd="sng">
              <a:solidFill>
                <a:schemeClr val="lt2"/>
              </a:solidFill>
              <a:prstDash val="solid"/>
              <a:round/>
              <a:headEnd type="none" w="sm" len="sm"/>
              <a:tailEnd type="none" w="sm" len="sm"/>
            </a:ln>
          </p:spPr>
        </p:cxnSp>
        <p:cxnSp>
          <p:nvCxnSpPr>
            <p:cNvPr id="647" name="Google Shape;647;p13"/>
            <p:cNvCxnSpPr/>
            <p:nvPr/>
          </p:nvCxnSpPr>
          <p:spPr>
            <a:xfrm>
              <a:off x="2064" y="2913"/>
              <a:ext cx="288" cy="0"/>
            </a:xfrm>
            <a:prstGeom prst="straightConnector1">
              <a:avLst/>
            </a:prstGeom>
            <a:grpFill/>
            <a:ln w="12700" cap="flat" cmpd="sng">
              <a:solidFill>
                <a:schemeClr val="lt2"/>
              </a:solidFill>
              <a:prstDash val="solid"/>
              <a:round/>
              <a:headEnd type="none" w="sm" len="sm"/>
              <a:tailEnd type="none" w="sm" len="sm"/>
            </a:ln>
          </p:spPr>
        </p:cxnSp>
        <p:cxnSp>
          <p:nvCxnSpPr>
            <p:cNvPr id="648" name="Google Shape;648;p13"/>
            <p:cNvCxnSpPr/>
            <p:nvPr/>
          </p:nvCxnSpPr>
          <p:spPr>
            <a:xfrm>
              <a:off x="2103" y="2790"/>
              <a:ext cx="0" cy="186"/>
            </a:xfrm>
            <a:prstGeom prst="straightConnector1">
              <a:avLst/>
            </a:prstGeom>
            <a:grpFill/>
            <a:ln w="12700" cap="flat" cmpd="sng">
              <a:solidFill>
                <a:schemeClr val="lt2"/>
              </a:solidFill>
              <a:prstDash val="solid"/>
              <a:round/>
              <a:headEnd type="none" w="sm" len="sm"/>
              <a:tailEnd type="none" w="sm" len="sm"/>
            </a:ln>
          </p:spPr>
        </p:cxnSp>
        <p:cxnSp>
          <p:nvCxnSpPr>
            <p:cNvPr id="649" name="Google Shape;649;p13"/>
            <p:cNvCxnSpPr/>
            <p:nvPr/>
          </p:nvCxnSpPr>
          <p:spPr>
            <a:xfrm>
              <a:off x="2169" y="2790"/>
              <a:ext cx="0" cy="186"/>
            </a:xfrm>
            <a:prstGeom prst="straightConnector1">
              <a:avLst/>
            </a:prstGeom>
            <a:grpFill/>
            <a:ln w="12700" cap="flat" cmpd="sng">
              <a:solidFill>
                <a:schemeClr val="lt2"/>
              </a:solidFill>
              <a:prstDash val="solid"/>
              <a:round/>
              <a:headEnd type="none" w="sm" len="sm"/>
              <a:tailEnd type="none" w="sm" len="sm"/>
            </a:ln>
          </p:spPr>
        </p:cxnSp>
        <p:cxnSp>
          <p:nvCxnSpPr>
            <p:cNvPr id="650" name="Google Shape;650;p13"/>
            <p:cNvCxnSpPr/>
            <p:nvPr/>
          </p:nvCxnSpPr>
          <p:spPr>
            <a:xfrm>
              <a:off x="2273" y="2790"/>
              <a:ext cx="0" cy="186"/>
            </a:xfrm>
            <a:prstGeom prst="straightConnector1">
              <a:avLst/>
            </a:prstGeom>
            <a:grpFill/>
            <a:ln w="12700" cap="flat" cmpd="sng">
              <a:solidFill>
                <a:schemeClr val="lt2"/>
              </a:solidFill>
              <a:prstDash val="solid"/>
              <a:round/>
              <a:headEnd type="none" w="sm" len="sm"/>
              <a:tailEnd type="none" w="sm" len="sm"/>
            </a:ln>
          </p:spPr>
        </p:cxnSp>
      </p:grpSp>
      <p:grpSp>
        <p:nvGrpSpPr>
          <p:cNvPr id="651" name="Google Shape;651;p13"/>
          <p:cNvGrpSpPr/>
          <p:nvPr/>
        </p:nvGrpSpPr>
        <p:grpSpPr>
          <a:xfrm>
            <a:off x="2994025" y="3504565"/>
            <a:ext cx="457200" cy="295275"/>
            <a:chOff x="2064" y="2550"/>
            <a:chExt cx="288" cy="186"/>
          </a:xfrm>
          <a:solidFill>
            <a:srgbClr val="92C14E"/>
          </a:solidFill>
        </p:grpSpPr>
        <p:sp>
          <p:nvSpPr>
            <p:cNvPr id="652" name="Google Shape;652;p13"/>
            <p:cNvSpPr/>
            <p:nvPr/>
          </p:nvSpPr>
          <p:spPr>
            <a:xfrm>
              <a:off x="2068" y="2554"/>
              <a:ext cx="280" cy="178"/>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653" name="Google Shape;653;p13"/>
            <p:cNvCxnSpPr/>
            <p:nvPr/>
          </p:nvCxnSpPr>
          <p:spPr>
            <a:xfrm>
              <a:off x="2064" y="2612"/>
              <a:ext cx="288" cy="0"/>
            </a:xfrm>
            <a:prstGeom prst="straightConnector1">
              <a:avLst/>
            </a:prstGeom>
            <a:grpFill/>
            <a:ln w="12700" cap="flat" cmpd="sng">
              <a:solidFill>
                <a:schemeClr val="lt2"/>
              </a:solidFill>
              <a:prstDash val="solid"/>
              <a:round/>
              <a:headEnd type="none" w="sm" len="sm"/>
              <a:tailEnd type="none" w="sm" len="sm"/>
            </a:ln>
          </p:spPr>
        </p:cxnSp>
        <p:cxnSp>
          <p:nvCxnSpPr>
            <p:cNvPr id="654" name="Google Shape;654;p13"/>
            <p:cNvCxnSpPr/>
            <p:nvPr/>
          </p:nvCxnSpPr>
          <p:spPr>
            <a:xfrm>
              <a:off x="2064" y="2673"/>
              <a:ext cx="288" cy="0"/>
            </a:xfrm>
            <a:prstGeom prst="straightConnector1">
              <a:avLst/>
            </a:prstGeom>
            <a:grpFill/>
            <a:ln w="12700" cap="flat" cmpd="sng">
              <a:solidFill>
                <a:schemeClr val="lt2"/>
              </a:solidFill>
              <a:prstDash val="solid"/>
              <a:round/>
              <a:headEnd type="none" w="sm" len="sm"/>
              <a:tailEnd type="none" w="sm" len="sm"/>
            </a:ln>
          </p:spPr>
        </p:cxnSp>
        <p:cxnSp>
          <p:nvCxnSpPr>
            <p:cNvPr id="655" name="Google Shape;655;p13"/>
            <p:cNvCxnSpPr/>
            <p:nvPr/>
          </p:nvCxnSpPr>
          <p:spPr>
            <a:xfrm>
              <a:off x="2103" y="2550"/>
              <a:ext cx="0" cy="186"/>
            </a:xfrm>
            <a:prstGeom prst="straightConnector1">
              <a:avLst/>
            </a:prstGeom>
            <a:grpFill/>
            <a:ln w="12700" cap="flat" cmpd="sng">
              <a:solidFill>
                <a:schemeClr val="lt2"/>
              </a:solidFill>
              <a:prstDash val="solid"/>
              <a:round/>
              <a:headEnd type="none" w="sm" len="sm"/>
              <a:tailEnd type="none" w="sm" len="sm"/>
            </a:ln>
          </p:spPr>
        </p:cxnSp>
        <p:cxnSp>
          <p:nvCxnSpPr>
            <p:cNvPr id="656" name="Google Shape;656;p13"/>
            <p:cNvCxnSpPr/>
            <p:nvPr/>
          </p:nvCxnSpPr>
          <p:spPr>
            <a:xfrm>
              <a:off x="2169" y="2550"/>
              <a:ext cx="0" cy="186"/>
            </a:xfrm>
            <a:prstGeom prst="straightConnector1">
              <a:avLst/>
            </a:prstGeom>
            <a:grpFill/>
            <a:ln w="12700" cap="flat" cmpd="sng">
              <a:solidFill>
                <a:schemeClr val="lt2"/>
              </a:solidFill>
              <a:prstDash val="solid"/>
              <a:round/>
              <a:headEnd type="none" w="sm" len="sm"/>
              <a:tailEnd type="none" w="sm" len="sm"/>
            </a:ln>
          </p:spPr>
        </p:cxnSp>
        <p:cxnSp>
          <p:nvCxnSpPr>
            <p:cNvPr id="657" name="Google Shape;657;p13"/>
            <p:cNvCxnSpPr/>
            <p:nvPr/>
          </p:nvCxnSpPr>
          <p:spPr>
            <a:xfrm>
              <a:off x="2273" y="2550"/>
              <a:ext cx="0" cy="186"/>
            </a:xfrm>
            <a:prstGeom prst="straightConnector1">
              <a:avLst/>
            </a:prstGeom>
            <a:grpFill/>
            <a:ln w="12700" cap="flat" cmpd="sng">
              <a:solidFill>
                <a:schemeClr val="lt2"/>
              </a:solidFill>
              <a:prstDash val="solid"/>
              <a:round/>
              <a:headEnd type="none" w="sm" len="sm"/>
              <a:tailEnd type="none" w="sm" len="sm"/>
            </a:ln>
          </p:spPr>
        </p:cxnSp>
      </p:grpSp>
      <p:grpSp>
        <p:nvGrpSpPr>
          <p:cNvPr id="658" name="Google Shape;658;p13"/>
          <p:cNvGrpSpPr/>
          <p:nvPr/>
        </p:nvGrpSpPr>
        <p:grpSpPr>
          <a:xfrm>
            <a:off x="4670425" y="3047365"/>
            <a:ext cx="457200" cy="295275"/>
            <a:chOff x="3120" y="2262"/>
            <a:chExt cx="288" cy="186"/>
          </a:xfrm>
          <a:solidFill>
            <a:srgbClr val="92C14E"/>
          </a:solidFill>
        </p:grpSpPr>
        <p:sp>
          <p:nvSpPr>
            <p:cNvPr id="659" name="Google Shape;659;p13"/>
            <p:cNvSpPr/>
            <p:nvPr/>
          </p:nvSpPr>
          <p:spPr>
            <a:xfrm>
              <a:off x="3124" y="2266"/>
              <a:ext cx="280" cy="178"/>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660" name="Google Shape;660;p13"/>
            <p:cNvCxnSpPr/>
            <p:nvPr/>
          </p:nvCxnSpPr>
          <p:spPr>
            <a:xfrm>
              <a:off x="3120" y="2324"/>
              <a:ext cx="288" cy="0"/>
            </a:xfrm>
            <a:prstGeom prst="straightConnector1">
              <a:avLst/>
            </a:prstGeom>
            <a:grpFill/>
            <a:ln w="12700" cap="flat" cmpd="sng">
              <a:solidFill>
                <a:schemeClr val="lt2"/>
              </a:solidFill>
              <a:prstDash val="solid"/>
              <a:round/>
              <a:headEnd type="none" w="sm" len="sm"/>
              <a:tailEnd type="none" w="sm" len="sm"/>
            </a:ln>
          </p:spPr>
        </p:cxnSp>
        <p:cxnSp>
          <p:nvCxnSpPr>
            <p:cNvPr id="661" name="Google Shape;661;p13"/>
            <p:cNvCxnSpPr/>
            <p:nvPr/>
          </p:nvCxnSpPr>
          <p:spPr>
            <a:xfrm>
              <a:off x="3120" y="2385"/>
              <a:ext cx="288" cy="0"/>
            </a:xfrm>
            <a:prstGeom prst="straightConnector1">
              <a:avLst/>
            </a:prstGeom>
            <a:grpFill/>
            <a:ln w="12700" cap="flat" cmpd="sng">
              <a:solidFill>
                <a:schemeClr val="lt2"/>
              </a:solidFill>
              <a:prstDash val="solid"/>
              <a:round/>
              <a:headEnd type="none" w="sm" len="sm"/>
              <a:tailEnd type="none" w="sm" len="sm"/>
            </a:ln>
          </p:spPr>
        </p:cxnSp>
        <p:cxnSp>
          <p:nvCxnSpPr>
            <p:cNvPr id="662" name="Google Shape;662;p13"/>
            <p:cNvCxnSpPr/>
            <p:nvPr/>
          </p:nvCxnSpPr>
          <p:spPr>
            <a:xfrm>
              <a:off x="3159" y="2262"/>
              <a:ext cx="0" cy="186"/>
            </a:xfrm>
            <a:prstGeom prst="straightConnector1">
              <a:avLst/>
            </a:prstGeom>
            <a:grpFill/>
            <a:ln w="12700" cap="flat" cmpd="sng">
              <a:solidFill>
                <a:schemeClr val="lt2"/>
              </a:solidFill>
              <a:prstDash val="solid"/>
              <a:round/>
              <a:headEnd type="none" w="sm" len="sm"/>
              <a:tailEnd type="none" w="sm" len="sm"/>
            </a:ln>
          </p:spPr>
        </p:cxnSp>
        <p:cxnSp>
          <p:nvCxnSpPr>
            <p:cNvPr id="663" name="Google Shape;663;p13"/>
            <p:cNvCxnSpPr/>
            <p:nvPr/>
          </p:nvCxnSpPr>
          <p:spPr>
            <a:xfrm>
              <a:off x="3225" y="2262"/>
              <a:ext cx="0" cy="186"/>
            </a:xfrm>
            <a:prstGeom prst="straightConnector1">
              <a:avLst/>
            </a:prstGeom>
            <a:grpFill/>
            <a:ln w="12700" cap="flat" cmpd="sng">
              <a:solidFill>
                <a:schemeClr val="lt2"/>
              </a:solidFill>
              <a:prstDash val="solid"/>
              <a:round/>
              <a:headEnd type="none" w="sm" len="sm"/>
              <a:tailEnd type="none" w="sm" len="sm"/>
            </a:ln>
          </p:spPr>
        </p:cxnSp>
        <p:cxnSp>
          <p:nvCxnSpPr>
            <p:cNvPr id="664" name="Google Shape;664;p13"/>
            <p:cNvCxnSpPr/>
            <p:nvPr/>
          </p:nvCxnSpPr>
          <p:spPr>
            <a:xfrm>
              <a:off x="3329" y="2262"/>
              <a:ext cx="0" cy="186"/>
            </a:xfrm>
            <a:prstGeom prst="straightConnector1">
              <a:avLst/>
            </a:prstGeom>
            <a:grpFill/>
            <a:ln w="12700" cap="flat" cmpd="sng">
              <a:solidFill>
                <a:schemeClr val="lt2"/>
              </a:solidFill>
              <a:prstDash val="solid"/>
              <a:round/>
              <a:headEnd type="none" w="sm" len="sm"/>
              <a:tailEnd type="none" w="sm" len="sm"/>
            </a:ln>
          </p:spPr>
        </p:cxnSp>
      </p:grpSp>
      <p:grpSp>
        <p:nvGrpSpPr>
          <p:cNvPr id="665" name="Google Shape;665;p13"/>
          <p:cNvGrpSpPr/>
          <p:nvPr/>
        </p:nvGrpSpPr>
        <p:grpSpPr>
          <a:xfrm>
            <a:off x="6118225" y="3047365"/>
            <a:ext cx="457200" cy="295275"/>
            <a:chOff x="4032" y="2262"/>
            <a:chExt cx="288" cy="186"/>
          </a:xfrm>
          <a:solidFill>
            <a:srgbClr val="92C14E"/>
          </a:solidFill>
        </p:grpSpPr>
        <p:sp>
          <p:nvSpPr>
            <p:cNvPr id="666" name="Google Shape;666;p13"/>
            <p:cNvSpPr/>
            <p:nvPr/>
          </p:nvSpPr>
          <p:spPr>
            <a:xfrm>
              <a:off x="4036" y="2266"/>
              <a:ext cx="280" cy="178"/>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667" name="Google Shape;667;p13"/>
            <p:cNvCxnSpPr/>
            <p:nvPr/>
          </p:nvCxnSpPr>
          <p:spPr>
            <a:xfrm>
              <a:off x="4032" y="2324"/>
              <a:ext cx="288" cy="0"/>
            </a:xfrm>
            <a:prstGeom prst="straightConnector1">
              <a:avLst/>
            </a:prstGeom>
            <a:grpFill/>
            <a:ln w="12700" cap="flat" cmpd="sng">
              <a:solidFill>
                <a:schemeClr val="lt2"/>
              </a:solidFill>
              <a:prstDash val="solid"/>
              <a:round/>
              <a:headEnd type="none" w="sm" len="sm"/>
              <a:tailEnd type="none" w="sm" len="sm"/>
            </a:ln>
          </p:spPr>
        </p:cxnSp>
        <p:cxnSp>
          <p:nvCxnSpPr>
            <p:cNvPr id="668" name="Google Shape;668;p13"/>
            <p:cNvCxnSpPr/>
            <p:nvPr/>
          </p:nvCxnSpPr>
          <p:spPr>
            <a:xfrm>
              <a:off x="4032" y="2385"/>
              <a:ext cx="288" cy="0"/>
            </a:xfrm>
            <a:prstGeom prst="straightConnector1">
              <a:avLst/>
            </a:prstGeom>
            <a:grpFill/>
            <a:ln w="12700" cap="flat" cmpd="sng">
              <a:solidFill>
                <a:schemeClr val="lt2"/>
              </a:solidFill>
              <a:prstDash val="solid"/>
              <a:round/>
              <a:headEnd type="none" w="sm" len="sm"/>
              <a:tailEnd type="none" w="sm" len="sm"/>
            </a:ln>
          </p:spPr>
        </p:cxnSp>
        <p:cxnSp>
          <p:nvCxnSpPr>
            <p:cNvPr id="669" name="Google Shape;669;p13"/>
            <p:cNvCxnSpPr/>
            <p:nvPr/>
          </p:nvCxnSpPr>
          <p:spPr>
            <a:xfrm>
              <a:off x="4071" y="2262"/>
              <a:ext cx="0" cy="186"/>
            </a:xfrm>
            <a:prstGeom prst="straightConnector1">
              <a:avLst/>
            </a:prstGeom>
            <a:grpFill/>
            <a:ln w="12700" cap="flat" cmpd="sng">
              <a:solidFill>
                <a:schemeClr val="lt2"/>
              </a:solidFill>
              <a:prstDash val="solid"/>
              <a:round/>
              <a:headEnd type="none" w="sm" len="sm"/>
              <a:tailEnd type="none" w="sm" len="sm"/>
            </a:ln>
          </p:spPr>
        </p:cxnSp>
        <p:cxnSp>
          <p:nvCxnSpPr>
            <p:cNvPr id="670" name="Google Shape;670;p13"/>
            <p:cNvCxnSpPr/>
            <p:nvPr/>
          </p:nvCxnSpPr>
          <p:spPr>
            <a:xfrm>
              <a:off x="4137" y="2262"/>
              <a:ext cx="0" cy="186"/>
            </a:xfrm>
            <a:prstGeom prst="straightConnector1">
              <a:avLst/>
            </a:prstGeom>
            <a:grpFill/>
            <a:ln w="12700" cap="flat" cmpd="sng">
              <a:solidFill>
                <a:schemeClr val="lt2"/>
              </a:solidFill>
              <a:prstDash val="solid"/>
              <a:round/>
              <a:headEnd type="none" w="sm" len="sm"/>
              <a:tailEnd type="none" w="sm" len="sm"/>
            </a:ln>
          </p:spPr>
        </p:cxnSp>
        <p:cxnSp>
          <p:nvCxnSpPr>
            <p:cNvPr id="671" name="Google Shape;671;p13"/>
            <p:cNvCxnSpPr/>
            <p:nvPr/>
          </p:nvCxnSpPr>
          <p:spPr>
            <a:xfrm>
              <a:off x="4241" y="2262"/>
              <a:ext cx="0" cy="186"/>
            </a:xfrm>
            <a:prstGeom prst="straightConnector1">
              <a:avLst/>
            </a:prstGeom>
            <a:grpFill/>
            <a:ln w="12700" cap="flat" cmpd="sng">
              <a:solidFill>
                <a:schemeClr val="lt2"/>
              </a:solidFill>
              <a:prstDash val="solid"/>
              <a:round/>
              <a:headEnd type="none" w="sm" len="sm"/>
              <a:tailEnd type="none" w="sm" len="sm"/>
            </a:ln>
          </p:spPr>
        </p:cxnSp>
      </p:grpSp>
      <p:grpSp>
        <p:nvGrpSpPr>
          <p:cNvPr id="672" name="Google Shape;672;p13"/>
          <p:cNvGrpSpPr/>
          <p:nvPr/>
        </p:nvGrpSpPr>
        <p:grpSpPr>
          <a:xfrm>
            <a:off x="7566025" y="3047365"/>
            <a:ext cx="457200" cy="295275"/>
            <a:chOff x="4944" y="2262"/>
            <a:chExt cx="288" cy="186"/>
          </a:xfrm>
          <a:solidFill>
            <a:srgbClr val="92C14E"/>
          </a:solidFill>
        </p:grpSpPr>
        <p:sp>
          <p:nvSpPr>
            <p:cNvPr id="673" name="Google Shape;673;p13"/>
            <p:cNvSpPr/>
            <p:nvPr/>
          </p:nvSpPr>
          <p:spPr>
            <a:xfrm>
              <a:off x="4948" y="2266"/>
              <a:ext cx="280" cy="178"/>
            </a:xfrm>
            <a:prstGeom prst="rect">
              <a:avLst/>
            </a:prstGeom>
            <a:grp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674" name="Google Shape;674;p13"/>
            <p:cNvCxnSpPr/>
            <p:nvPr/>
          </p:nvCxnSpPr>
          <p:spPr>
            <a:xfrm>
              <a:off x="4944" y="2324"/>
              <a:ext cx="288" cy="0"/>
            </a:xfrm>
            <a:prstGeom prst="straightConnector1">
              <a:avLst/>
            </a:prstGeom>
            <a:grpFill/>
            <a:ln w="12700" cap="flat" cmpd="sng">
              <a:solidFill>
                <a:schemeClr val="lt2"/>
              </a:solidFill>
              <a:prstDash val="solid"/>
              <a:round/>
              <a:headEnd type="none" w="sm" len="sm"/>
              <a:tailEnd type="none" w="sm" len="sm"/>
            </a:ln>
          </p:spPr>
        </p:cxnSp>
        <p:cxnSp>
          <p:nvCxnSpPr>
            <p:cNvPr id="675" name="Google Shape;675;p13"/>
            <p:cNvCxnSpPr/>
            <p:nvPr/>
          </p:nvCxnSpPr>
          <p:spPr>
            <a:xfrm>
              <a:off x="4944" y="2385"/>
              <a:ext cx="288" cy="0"/>
            </a:xfrm>
            <a:prstGeom prst="straightConnector1">
              <a:avLst/>
            </a:prstGeom>
            <a:grpFill/>
            <a:ln w="12700" cap="flat" cmpd="sng">
              <a:solidFill>
                <a:schemeClr val="lt2"/>
              </a:solidFill>
              <a:prstDash val="solid"/>
              <a:round/>
              <a:headEnd type="none" w="sm" len="sm"/>
              <a:tailEnd type="none" w="sm" len="sm"/>
            </a:ln>
          </p:spPr>
        </p:cxnSp>
        <p:cxnSp>
          <p:nvCxnSpPr>
            <p:cNvPr id="676" name="Google Shape;676;p13"/>
            <p:cNvCxnSpPr/>
            <p:nvPr/>
          </p:nvCxnSpPr>
          <p:spPr>
            <a:xfrm>
              <a:off x="4983" y="2262"/>
              <a:ext cx="0" cy="186"/>
            </a:xfrm>
            <a:prstGeom prst="straightConnector1">
              <a:avLst/>
            </a:prstGeom>
            <a:grpFill/>
            <a:ln w="12700" cap="flat" cmpd="sng">
              <a:solidFill>
                <a:schemeClr val="lt2"/>
              </a:solidFill>
              <a:prstDash val="solid"/>
              <a:round/>
              <a:headEnd type="none" w="sm" len="sm"/>
              <a:tailEnd type="none" w="sm" len="sm"/>
            </a:ln>
          </p:spPr>
        </p:cxnSp>
        <p:cxnSp>
          <p:nvCxnSpPr>
            <p:cNvPr id="677" name="Google Shape;677;p13"/>
            <p:cNvCxnSpPr/>
            <p:nvPr/>
          </p:nvCxnSpPr>
          <p:spPr>
            <a:xfrm>
              <a:off x="5049" y="2262"/>
              <a:ext cx="0" cy="186"/>
            </a:xfrm>
            <a:prstGeom prst="straightConnector1">
              <a:avLst/>
            </a:prstGeom>
            <a:grpFill/>
            <a:ln w="12700" cap="flat" cmpd="sng">
              <a:solidFill>
                <a:schemeClr val="lt2"/>
              </a:solidFill>
              <a:prstDash val="solid"/>
              <a:round/>
              <a:headEnd type="none" w="sm" len="sm"/>
              <a:tailEnd type="none" w="sm" len="sm"/>
            </a:ln>
          </p:spPr>
        </p:cxnSp>
        <p:cxnSp>
          <p:nvCxnSpPr>
            <p:cNvPr id="678" name="Google Shape;678;p13"/>
            <p:cNvCxnSpPr/>
            <p:nvPr/>
          </p:nvCxnSpPr>
          <p:spPr>
            <a:xfrm>
              <a:off x="5153" y="2262"/>
              <a:ext cx="0" cy="186"/>
            </a:xfrm>
            <a:prstGeom prst="straightConnector1">
              <a:avLst/>
            </a:prstGeom>
            <a:grpFill/>
            <a:ln w="12700" cap="flat" cmpd="sng">
              <a:solidFill>
                <a:schemeClr val="lt2"/>
              </a:solidFill>
              <a:prstDash val="solid"/>
              <a:round/>
              <a:headEnd type="none" w="sm" len="sm"/>
              <a:tailEnd type="none" w="sm" len="sm"/>
            </a:ln>
          </p:spPr>
        </p:cxnSp>
      </p:grpSp>
      <p:sp>
        <p:nvSpPr>
          <p:cNvPr id="685" name="Google Shape;685;p13"/>
          <p:cNvSpPr/>
          <p:nvPr/>
        </p:nvSpPr>
        <p:spPr>
          <a:xfrm>
            <a:off x="6788150" y="4126865"/>
            <a:ext cx="1035050"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1995-1997</a:t>
            </a:r>
            <a:endParaRPr sz="1600">
              <a:latin typeface="Calibri" panose="020F0502020204030204" pitchFamily="34" charset="0"/>
              <a:cs typeface="Calibri" panose="020F0502020204030204" pitchFamily="34" charset="0"/>
            </a:endParaRPr>
          </a:p>
        </p:txBody>
      </p:sp>
      <p:sp>
        <p:nvSpPr>
          <p:cNvPr id="686" name="Google Shape;686;p13"/>
          <p:cNvSpPr/>
          <p:nvPr/>
        </p:nvSpPr>
        <p:spPr>
          <a:xfrm>
            <a:off x="4578350" y="3441065"/>
            <a:ext cx="579438"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1995</a:t>
            </a:r>
            <a:endParaRPr sz="1600">
              <a:latin typeface="Calibri" panose="020F0502020204030204" pitchFamily="34" charset="0"/>
              <a:cs typeface="Calibri" panose="020F0502020204030204" pitchFamily="34" charset="0"/>
            </a:endParaRPr>
          </a:p>
        </p:txBody>
      </p:sp>
      <p:sp>
        <p:nvSpPr>
          <p:cNvPr id="687" name="Google Shape;687;p13"/>
          <p:cNvSpPr/>
          <p:nvPr/>
        </p:nvSpPr>
        <p:spPr>
          <a:xfrm>
            <a:off x="6026150" y="3441065"/>
            <a:ext cx="579438"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1996</a:t>
            </a:r>
            <a:endParaRPr sz="1600">
              <a:latin typeface="Calibri" panose="020F0502020204030204" pitchFamily="34" charset="0"/>
              <a:cs typeface="Calibri" panose="020F0502020204030204" pitchFamily="34" charset="0"/>
            </a:endParaRPr>
          </a:p>
        </p:txBody>
      </p:sp>
      <p:sp>
        <p:nvSpPr>
          <p:cNvPr id="688" name="Google Shape;688;p13"/>
          <p:cNvSpPr/>
          <p:nvPr/>
        </p:nvSpPr>
        <p:spPr>
          <a:xfrm>
            <a:off x="7550150" y="3517265"/>
            <a:ext cx="579438"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1997</a:t>
            </a:r>
            <a:endParaRPr sz="1600">
              <a:latin typeface="Calibri" panose="020F0502020204030204" pitchFamily="34" charset="0"/>
              <a:cs typeface="Calibri" panose="020F0502020204030204" pitchFamily="34" charset="0"/>
            </a:endParaRPr>
          </a:p>
        </p:txBody>
      </p:sp>
      <p:sp>
        <p:nvSpPr>
          <p:cNvPr id="689" name="Google Shape;689;p13"/>
          <p:cNvSpPr/>
          <p:nvPr/>
        </p:nvSpPr>
        <p:spPr>
          <a:xfrm>
            <a:off x="3511550" y="3136265"/>
            <a:ext cx="579438"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1995</a:t>
            </a:r>
            <a:endParaRPr sz="1600">
              <a:latin typeface="Calibri" panose="020F0502020204030204" pitchFamily="34" charset="0"/>
              <a:cs typeface="Calibri" panose="020F0502020204030204" pitchFamily="34" charset="0"/>
            </a:endParaRPr>
          </a:p>
        </p:txBody>
      </p:sp>
      <p:sp>
        <p:nvSpPr>
          <p:cNvPr id="690" name="Google Shape;690;p13"/>
          <p:cNvSpPr/>
          <p:nvPr/>
        </p:nvSpPr>
        <p:spPr>
          <a:xfrm>
            <a:off x="3511550" y="3517265"/>
            <a:ext cx="579438"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1996</a:t>
            </a:r>
            <a:endParaRPr sz="1600">
              <a:latin typeface="Calibri" panose="020F0502020204030204" pitchFamily="34" charset="0"/>
              <a:cs typeface="Calibri" panose="020F0502020204030204" pitchFamily="34" charset="0"/>
            </a:endParaRPr>
          </a:p>
        </p:txBody>
      </p:sp>
      <p:sp>
        <p:nvSpPr>
          <p:cNvPr id="691" name="Google Shape;691;p13"/>
          <p:cNvSpPr/>
          <p:nvPr/>
        </p:nvSpPr>
        <p:spPr>
          <a:xfrm>
            <a:off x="3511550" y="3898265"/>
            <a:ext cx="579438" cy="27761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200">
                <a:solidFill>
                  <a:schemeClr val="dk1"/>
                </a:solidFill>
                <a:latin typeface="Calibri" panose="020F0502020204030204" pitchFamily="34" charset="0"/>
                <a:ea typeface="Arial"/>
                <a:cs typeface="Calibri" panose="020F0502020204030204" pitchFamily="34" charset="0"/>
                <a:sym typeface="Arial"/>
              </a:rPr>
              <a:t>1997</a:t>
            </a:r>
            <a:endParaRPr sz="1600">
              <a:latin typeface="Calibri" panose="020F0502020204030204" pitchFamily="34" charset="0"/>
              <a:cs typeface="Calibri" panose="020F0502020204030204" pitchFamily="34" charset="0"/>
            </a:endParaRPr>
          </a:p>
        </p:txBody>
      </p:sp>
      <p:sp>
        <p:nvSpPr>
          <p:cNvPr id="692" name="Google Shape;692;p13"/>
          <p:cNvSpPr/>
          <p:nvPr/>
        </p:nvSpPr>
        <p:spPr>
          <a:xfrm>
            <a:off x="701193" y="4448982"/>
            <a:ext cx="3648622" cy="64633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ES_tradnl" sz="1400" i="1" dirty="0">
                <a:solidFill>
                  <a:schemeClr val="dk1"/>
                </a:solidFill>
                <a:latin typeface="Calibri" panose="020F0502020204030204" pitchFamily="34" charset="0"/>
                <a:ea typeface="Calibri"/>
                <a:cs typeface="Calibri" panose="020F0502020204030204" pitchFamily="34" charset="0"/>
                <a:sym typeface="Calibri"/>
              </a:rPr>
              <a:t>Una estrategia de particionamiento es influenciada no sólo por el tipo de consultas sino también por la arquitectura del hardware.</a:t>
            </a:r>
            <a:endParaRPr lang="es-ES_tradnl" sz="1600" dirty="0">
              <a:latin typeface="Calibri" panose="020F0502020204030204" pitchFamily="34" charset="0"/>
              <a:cs typeface="Calibri" panose="020F0502020204030204" pitchFamily="34" charset="0"/>
            </a:endParaRPr>
          </a:p>
        </p:txBody>
      </p:sp>
      <p:sp>
        <p:nvSpPr>
          <p:cNvPr id="693" name="Google Shape;693;p13"/>
          <p:cNvSpPr/>
          <p:nvPr/>
        </p:nvSpPr>
        <p:spPr>
          <a:xfrm>
            <a:off x="1077315" y="3459741"/>
            <a:ext cx="1457130" cy="63155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400" b="1" u="sng">
                <a:solidFill>
                  <a:schemeClr val="dk1"/>
                </a:solidFill>
                <a:latin typeface="Calibri" panose="020F0502020204030204" pitchFamily="34" charset="0"/>
                <a:ea typeface="Arial"/>
                <a:cs typeface="Calibri" panose="020F0502020204030204" pitchFamily="34" charset="0"/>
                <a:sym typeface="Arial"/>
              </a:rPr>
              <a:t>SMP</a:t>
            </a:r>
            <a:endParaRPr sz="160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000" b="1" u="sng">
                <a:solidFill>
                  <a:schemeClr val="dk1"/>
                </a:solidFill>
                <a:latin typeface="Calibri" panose="020F0502020204030204" pitchFamily="34" charset="0"/>
                <a:ea typeface="Arial"/>
                <a:cs typeface="Calibri" panose="020F0502020204030204" pitchFamily="34" charset="0"/>
                <a:sym typeface="Arial"/>
              </a:rPr>
              <a:t>Multiprocesamiento</a:t>
            </a:r>
            <a:endParaRPr sz="1000" b="1" u="sng">
              <a:solidFill>
                <a:schemeClr val="dk1"/>
              </a:solidFill>
              <a:latin typeface="Calibri" panose="020F0502020204030204" pitchFamily="34" charset="0"/>
              <a:ea typeface="Arial"/>
              <a:cs typeface="Calibri" panose="020F0502020204030204" pitchFamily="34" charset="0"/>
              <a:sym typeface="Arial"/>
            </a:endParaRPr>
          </a:p>
          <a:p>
            <a:pPr marL="0" marR="0" lvl="0" indent="0" algn="l" rtl="0">
              <a:spcBef>
                <a:spcPts val="0"/>
              </a:spcBef>
              <a:spcAft>
                <a:spcPts val="0"/>
              </a:spcAft>
              <a:buNone/>
            </a:pPr>
            <a:r>
              <a:rPr lang="en-US" sz="1000" b="1" u="sng">
                <a:solidFill>
                  <a:schemeClr val="dk1"/>
                </a:solidFill>
                <a:latin typeface="Calibri" panose="020F0502020204030204" pitchFamily="34" charset="0"/>
                <a:ea typeface="Arial"/>
                <a:cs typeface="Calibri" panose="020F0502020204030204" pitchFamily="34" charset="0"/>
                <a:sym typeface="Arial"/>
              </a:rPr>
              <a:t>Simétrico</a:t>
            </a:r>
            <a:endParaRPr sz="1000" b="1" u="sng">
              <a:solidFill>
                <a:schemeClr val="dk1"/>
              </a:solidFill>
              <a:latin typeface="Calibri" panose="020F0502020204030204" pitchFamily="34" charset="0"/>
              <a:ea typeface="Arial"/>
              <a:cs typeface="Calibri" panose="020F0502020204030204" pitchFamily="34" charset="0"/>
              <a:sym typeface="Arial"/>
            </a:endParaRPr>
          </a:p>
        </p:txBody>
      </p:sp>
      <p:sp>
        <p:nvSpPr>
          <p:cNvPr id="694" name="Google Shape;694;p13"/>
          <p:cNvSpPr/>
          <p:nvPr/>
        </p:nvSpPr>
        <p:spPr>
          <a:xfrm>
            <a:off x="3250248" y="1199452"/>
            <a:ext cx="1152560" cy="770057"/>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400" b="1" u="sng">
                <a:solidFill>
                  <a:schemeClr val="dk1"/>
                </a:solidFill>
                <a:latin typeface="Calibri" panose="020F0502020204030204" pitchFamily="34" charset="0"/>
                <a:ea typeface="Arial"/>
                <a:cs typeface="Calibri" panose="020F0502020204030204" pitchFamily="34" charset="0"/>
                <a:sym typeface="Arial"/>
              </a:rPr>
              <a:t>MPP</a:t>
            </a:r>
            <a:endParaRPr sz="160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000" b="1" u="sng">
                <a:solidFill>
                  <a:schemeClr val="dk1"/>
                </a:solidFill>
                <a:latin typeface="Calibri" panose="020F0502020204030204" pitchFamily="34" charset="0"/>
                <a:ea typeface="Arial"/>
                <a:cs typeface="Calibri" panose="020F0502020204030204" pitchFamily="34" charset="0"/>
                <a:sym typeface="Arial"/>
              </a:rPr>
              <a:t>Procesamiento</a:t>
            </a:r>
            <a:endParaRPr sz="1000" b="1" u="sng">
              <a:solidFill>
                <a:schemeClr val="dk1"/>
              </a:solidFill>
              <a:latin typeface="Calibri" panose="020F0502020204030204" pitchFamily="34" charset="0"/>
              <a:ea typeface="Arial"/>
              <a:cs typeface="Calibri" panose="020F0502020204030204" pitchFamily="34" charset="0"/>
              <a:sym typeface="Arial"/>
            </a:endParaRPr>
          </a:p>
          <a:p>
            <a:pPr marL="0" marR="0" lvl="0" indent="0" algn="l" rtl="0">
              <a:spcBef>
                <a:spcPts val="0"/>
              </a:spcBef>
              <a:spcAft>
                <a:spcPts val="0"/>
              </a:spcAft>
              <a:buNone/>
            </a:pPr>
            <a:r>
              <a:rPr lang="en-US" sz="1000" b="1" u="sng">
                <a:solidFill>
                  <a:schemeClr val="dk1"/>
                </a:solidFill>
                <a:latin typeface="Calibri" panose="020F0502020204030204" pitchFamily="34" charset="0"/>
                <a:ea typeface="Arial"/>
                <a:cs typeface="Calibri" panose="020F0502020204030204" pitchFamily="34" charset="0"/>
                <a:sym typeface="Arial"/>
              </a:rPr>
              <a:t>Masivamente</a:t>
            </a:r>
            <a:endParaRPr sz="1000" b="1" u="sng">
              <a:solidFill>
                <a:schemeClr val="dk1"/>
              </a:solidFill>
              <a:latin typeface="Calibri" panose="020F0502020204030204" pitchFamily="34" charset="0"/>
              <a:ea typeface="Arial"/>
              <a:cs typeface="Calibri" panose="020F0502020204030204" pitchFamily="34" charset="0"/>
              <a:sym typeface="Arial"/>
            </a:endParaRPr>
          </a:p>
          <a:p>
            <a:pPr marL="0" marR="0" lvl="0" indent="0" algn="l" rtl="0">
              <a:spcBef>
                <a:spcPts val="0"/>
              </a:spcBef>
              <a:spcAft>
                <a:spcPts val="0"/>
              </a:spcAft>
              <a:buNone/>
            </a:pPr>
            <a:r>
              <a:rPr lang="en-US" sz="1000" b="1" u="sng">
                <a:solidFill>
                  <a:schemeClr val="dk1"/>
                </a:solidFill>
                <a:latin typeface="Calibri" panose="020F0502020204030204" pitchFamily="34" charset="0"/>
                <a:ea typeface="Arial"/>
                <a:cs typeface="Calibri" panose="020F0502020204030204" pitchFamily="34" charset="0"/>
                <a:sym typeface="Arial"/>
              </a:rPr>
              <a:t>Paralelo</a:t>
            </a:r>
            <a:endParaRPr sz="1000" b="1" u="sng">
              <a:solidFill>
                <a:schemeClr val="dk1"/>
              </a:solidFill>
              <a:latin typeface="Calibri" panose="020F0502020204030204" pitchFamily="34" charset="0"/>
              <a:ea typeface="Arial"/>
              <a:cs typeface="Calibri" panose="020F0502020204030204" pitchFamily="34" charset="0"/>
              <a:sym typeface="Arial"/>
            </a:endParaRPr>
          </a:p>
        </p:txBody>
      </p:sp>
      <p:sp>
        <p:nvSpPr>
          <p:cNvPr id="696" name="Google Shape;696;p13"/>
          <p:cNvSpPr txBox="1"/>
          <p:nvPr/>
        </p:nvSpPr>
        <p:spPr>
          <a:xfrm>
            <a:off x="453847" y="580119"/>
            <a:ext cx="29599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ARQUITECTURA DEL HARDWARE</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E298EE5D-B2C8-F5B6-8552-8445E75D4CF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DEL DATA WAREHOUSE</a:t>
            </a:r>
            <a:endParaRPr lang="es-PE" sz="1000" dirty="0">
              <a:solidFill>
                <a:schemeClr val="bg1">
                  <a:lumMod val="65000"/>
                </a:schemeClr>
              </a:solidFill>
              <a:latin typeface="Calibri" charset="0"/>
              <a:cs typeface="Calibri" charset="0"/>
            </a:endParaRPr>
          </a:p>
        </p:txBody>
      </p:sp>
      <p:sp>
        <p:nvSpPr>
          <p:cNvPr id="6" name="Cilindro 5">
            <a:extLst>
              <a:ext uri="{FF2B5EF4-FFF2-40B4-BE49-F238E27FC236}">
                <a16:creationId xmlns:a16="http://schemas.microsoft.com/office/drawing/2014/main" id="{852CA1CA-BF76-005C-64CD-525CEF4AF08A}"/>
              </a:ext>
            </a:extLst>
          </p:cNvPr>
          <p:cNvSpPr/>
          <p:nvPr/>
        </p:nvSpPr>
        <p:spPr>
          <a:xfrm>
            <a:off x="4696301" y="2436494"/>
            <a:ext cx="433388" cy="388621"/>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 name="Cilindro 6">
            <a:extLst>
              <a:ext uri="{FF2B5EF4-FFF2-40B4-BE49-F238E27FC236}">
                <a16:creationId xmlns:a16="http://schemas.microsoft.com/office/drawing/2014/main" id="{298012FC-60B6-C6F2-FEE6-716E22193358}"/>
              </a:ext>
            </a:extLst>
          </p:cNvPr>
          <p:cNvSpPr/>
          <p:nvPr/>
        </p:nvSpPr>
        <p:spPr>
          <a:xfrm>
            <a:off x="6139117" y="2436494"/>
            <a:ext cx="433388" cy="388621"/>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 name="Cilindro 7">
            <a:extLst>
              <a:ext uri="{FF2B5EF4-FFF2-40B4-BE49-F238E27FC236}">
                <a16:creationId xmlns:a16="http://schemas.microsoft.com/office/drawing/2014/main" id="{5AC8E621-491B-32C0-4C78-E3B4216B7404}"/>
              </a:ext>
            </a:extLst>
          </p:cNvPr>
          <p:cNvSpPr/>
          <p:nvPr/>
        </p:nvSpPr>
        <p:spPr>
          <a:xfrm>
            <a:off x="7618909" y="2436494"/>
            <a:ext cx="433388" cy="388621"/>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0" name="Cilindro 9">
            <a:extLst>
              <a:ext uri="{FF2B5EF4-FFF2-40B4-BE49-F238E27FC236}">
                <a16:creationId xmlns:a16="http://schemas.microsoft.com/office/drawing/2014/main" id="{BE1DF76B-3849-2831-1B21-F5ACFC73BF44}"/>
              </a:ext>
            </a:extLst>
          </p:cNvPr>
          <p:cNvSpPr/>
          <p:nvPr/>
        </p:nvSpPr>
        <p:spPr>
          <a:xfrm>
            <a:off x="2261642" y="3050748"/>
            <a:ext cx="433388" cy="388621"/>
          </a:xfrm>
          <a:prstGeom prst="can">
            <a:avLst/>
          </a:prstGeom>
          <a:solidFill>
            <a:srgbClr val="FE7828"/>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cxnSp>
        <p:nvCxnSpPr>
          <p:cNvPr id="12" name="Conector angular 11">
            <a:extLst>
              <a:ext uri="{FF2B5EF4-FFF2-40B4-BE49-F238E27FC236}">
                <a16:creationId xmlns:a16="http://schemas.microsoft.com/office/drawing/2014/main" id="{F24155E7-98E2-77AF-9CD4-85C3B87E206B}"/>
              </a:ext>
            </a:extLst>
          </p:cNvPr>
          <p:cNvCxnSpPr>
            <a:stCxn id="633" idx="2"/>
            <a:endCxn id="10" idx="2"/>
          </p:cNvCxnSpPr>
          <p:nvPr/>
        </p:nvCxnSpPr>
        <p:spPr>
          <a:xfrm rot="16200000" flipH="1">
            <a:off x="1899543" y="2882959"/>
            <a:ext cx="275481" cy="448717"/>
          </a:xfrm>
          <a:prstGeom prst="bentConnector2">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E920495F-65DF-E7BA-3E29-FC38FADDC39E}"/>
              </a:ext>
            </a:extLst>
          </p:cNvPr>
          <p:cNvCxnSpPr>
            <a:cxnSpLocks/>
            <a:stCxn id="618" idx="2"/>
            <a:endCxn id="6" idx="1"/>
          </p:cNvCxnSpPr>
          <p:nvPr/>
        </p:nvCxnSpPr>
        <p:spPr>
          <a:xfrm flipH="1">
            <a:off x="4912995" y="2267903"/>
            <a:ext cx="794" cy="16859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EE0709E7-98E8-C23F-62D7-C47294A12A36}"/>
              </a:ext>
            </a:extLst>
          </p:cNvPr>
          <p:cNvCxnSpPr>
            <a:cxnSpLocks/>
          </p:cNvCxnSpPr>
          <p:nvPr/>
        </p:nvCxnSpPr>
        <p:spPr>
          <a:xfrm flipH="1">
            <a:off x="6374622" y="2267903"/>
            <a:ext cx="794" cy="16859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C938292D-E2B1-D45F-6BBF-E6A12F1009E8}"/>
              </a:ext>
            </a:extLst>
          </p:cNvPr>
          <p:cNvCxnSpPr>
            <a:cxnSpLocks/>
          </p:cNvCxnSpPr>
          <p:nvPr/>
        </p:nvCxnSpPr>
        <p:spPr>
          <a:xfrm flipH="1">
            <a:off x="7843311" y="2267903"/>
            <a:ext cx="794" cy="16859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3" name="Google Shape;703;p14"/>
          <p:cNvSpPr txBox="1"/>
          <p:nvPr/>
        </p:nvSpPr>
        <p:spPr>
          <a:xfrm>
            <a:off x="888022" y="2118946"/>
            <a:ext cx="3974123" cy="2215662"/>
          </a:xfrm>
          <a:prstGeom prst="rect">
            <a:avLst/>
          </a:prstGeom>
          <a:noFill/>
          <a:ln>
            <a:noFill/>
          </a:ln>
        </p:spPr>
        <p:txBody>
          <a:bodyPr spcFirstLastPara="1" wrap="square" lIns="0" tIns="0" rIns="0" bIns="0" anchor="t" anchorCtr="0">
            <a:noAutofit/>
          </a:bodyPr>
          <a:lstStyle/>
          <a:p>
            <a:pPr marR="0" lvl="0" algn="l" rtl="0">
              <a:spcAft>
                <a:spcPts val="800"/>
              </a:spcAft>
              <a:buClr>
                <a:schemeClr val="dk1"/>
              </a:buClr>
              <a:buSzPts val="1600"/>
            </a:pPr>
            <a:r>
              <a:rPr lang="es-ES_tradnl" sz="1600" dirty="0">
                <a:solidFill>
                  <a:schemeClr val="dk1"/>
                </a:solidFill>
                <a:latin typeface="Calibri" panose="020F0502020204030204" pitchFamily="34" charset="0"/>
                <a:ea typeface="Calibri"/>
                <a:cs typeface="Calibri" panose="020F0502020204030204" pitchFamily="34" charset="0"/>
                <a:sym typeface="Calibri"/>
              </a:rPr>
              <a:t>Incrementa el paralelismo.</a:t>
            </a:r>
            <a:endParaRPr lang="es-ES_tradnl" sz="1600" dirty="0">
              <a:latin typeface="Calibri" panose="020F0502020204030204" pitchFamily="34" charset="0"/>
              <a:cs typeface="Calibri" panose="020F0502020204030204" pitchFamily="34" charset="0"/>
            </a:endParaRPr>
          </a:p>
          <a:p>
            <a:pPr marR="0" lvl="0" algn="l" rtl="0">
              <a:spcAft>
                <a:spcPts val="800"/>
              </a:spcAft>
              <a:buClr>
                <a:schemeClr val="dk1"/>
              </a:buClr>
              <a:buSzPts val="1600"/>
            </a:pPr>
            <a:r>
              <a:rPr lang="es-ES_tradnl" sz="1600" dirty="0">
                <a:solidFill>
                  <a:schemeClr val="dk1"/>
                </a:solidFill>
                <a:latin typeface="Calibri" panose="020F0502020204030204" pitchFamily="34" charset="0"/>
                <a:ea typeface="Calibri"/>
                <a:cs typeface="Calibri" panose="020F0502020204030204" pitchFamily="34" charset="0"/>
                <a:sym typeface="Calibri"/>
              </a:rPr>
              <a:t>Reduce los tiempos de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backup</a:t>
            </a:r>
            <a:r>
              <a:rPr lang="es-ES_tradnl" sz="1600" dirty="0">
                <a:solidFill>
                  <a:schemeClr val="dk1"/>
                </a:solidFill>
                <a:latin typeface="Calibri" panose="020F0502020204030204" pitchFamily="34" charset="0"/>
                <a:ea typeface="Calibri"/>
                <a:cs typeface="Calibri" panose="020F0502020204030204" pitchFamily="34" charset="0"/>
                <a:sym typeface="Calibri"/>
              </a:rPr>
              <a:t>.</a:t>
            </a:r>
            <a:endParaRPr lang="es-ES_tradnl" sz="1600" dirty="0">
              <a:latin typeface="Calibri" panose="020F0502020204030204" pitchFamily="34" charset="0"/>
              <a:cs typeface="Calibri" panose="020F0502020204030204" pitchFamily="34" charset="0"/>
            </a:endParaRPr>
          </a:p>
          <a:p>
            <a:pPr marR="0" lvl="0" algn="l" rtl="0">
              <a:spcAft>
                <a:spcPts val="800"/>
              </a:spcAft>
              <a:buClr>
                <a:schemeClr val="dk1"/>
              </a:buClr>
              <a:buSzPts val="1600"/>
            </a:pPr>
            <a:r>
              <a:rPr lang="es-ES_tradnl" sz="1600" dirty="0">
                <a:solidFill>
                  <a:schemeClr val="dk1"/>
                </a:solidFill>
                <a:latin typeface="Calibri" panose="020F0502020204030204" pitchFamily="34" charset="0"/>
                <a:ea typeface="Calibri"/>
                <a:cs typeface="Calibri" panose="020F0502020204030204" pitchFamily="34" charset="0"/>
                <a:sym typeface="Calibri"/>
              </a:rPr>
              <a:t>Incrementa la disponibilidad.</a:t>
            </a:r>
            <a:endParaRPr lang="es-ES_tradnl" sz="1600" dirty="0">
              <a:latin typeface="Calibri" panose="020F0502020204030204" pitchFamily="34" charset="0"/>
              <a:cs typeface="Calibri" panose="020F0502020204030204" pitchFamily="34" charset="0"/>
            </a:endParaRPr>
          </a:p>
          <a:p>
            <a:pPr marR="0" lvl="0" algn="l" rtl="0">
              <a:spcAft>
                <a:spcPts val="800"/>
              </a:spcAft>
              <a:buClr>
                <a:schemeClr val="dk1"/>
              </a:buClr>
              <a:buSzPts val="1600"/>
            </a:pPr>
            <a:r>
              <a:rPr lang="es-ES_tradnl" sz="1600" dirty="0">
                <a:solidFill>
                  <a:schemeClr val="dk1"/>
                </a:solidFill>
                <a:latin typeface="Calibri" panose="020F0502020204030204" pitchFamily="34" charset="0"/>
                <a:ea typeface="Calibri"/>
                <a:cs typeface="Calibri" panose="020F0502020204030204" pitchFamily="34" charset="0"/>
                <a:sym typeface="Calibri"/>
              </a:rPr>
              <a:t>Mejora la administración.</a:t>
            </a:r>
            <a:endParaRPr lang="es-ES_tradnl" sz="1600" dirty="0">
              <a:latin typeface="Calibri" panose="020F0502020204030204" pitchFamily="34" charset="0"/>
              <a:cs typeface="Calibri" panose="020F0502020204030204" pitchFamily="34" charset="0"/>
            </a:endParaRPr>
          </a:p>
          <a:p>
            <a:pPr marR="0" lvl="0" algn="l" rtl="0">
              <a:spcAft>
                <a:spcPts val="800"/>
              </a:spcAft>
              <a:buClr>
                <a:schemeClr val="dk1"/>
              </a:buClr>
              <a:buSzPts val="1600"/>
            </a:pPr>
            <a:r>
              <a:rPr lang="es-ES_tradnl" sz="1600" dirty="0">
                <a:solidFill>
                  <a:schemeClr val="dk1"/>
                </a:solidFill>
                <a:latin typeface="Calibri" panose="020F0502020204030204" pitchFamily="34" charset="0"/>
                <a:ea typeface="Calibri"/>
                <a:cs typeface="Calibri" panose="020F0502020204030204" pitchFamily="34" charset="0"/>
                <a:sym typeface="Calibri"/>
              </a:rPr>
              <a:t>Reduce el conjunto de datos para las consultas.</a:t>
            </a:r>
            <a:endParaRPr lang="es-ES_tradnl" sz="1600" dirty="0">
              <a:latin typeface="Calibri" panose="020F0502020204030204" pitchFamily="34" charset="0"/>
              <a:cs typeface="Calibri" panose="020F0502020204030204" pitchFamily="34" charset="0"/>
            </a:endParaRPr>
          </a:p>
          <a:p>
            <a:pPr marR="0" lvl="0" algn="l" rtl="0">
              <a:spcAft>
                <a:spcPts val="800"/>
              </a:spcAft>
              <a:buClr>
                <a:schemeClr val="dk1"/>
              </a:buClr>
              <a:buSzPts val="1600"/>
            </a:pPr>
            <a:r>
              <a:rPr lang="es-ES_tradnl" sz="1600" dirty="0">
                <a:solidFill>
                  <a:schemeClr val="dk1"/>
                </a:solidFill>
                <a:latin typeface="Calibri" panose="020F0502020204030204" pitchFamily="34" charset="0"/>
                <a:ea typeface="Calibri"/>
                <a:cs typeface="Calibri" panose="020F0502020204030204" pitchFamily="34" charset="0"/>
                <a:sym typeface="Calibri"/>
              </a:rPr>
              <a:t>La eliminación de datos antiguos es más rápida. </a:t>
            </a:r>
            <a:endParaRPr lang="es-ES_tradnl" sz="1600" dirty="0">
              <a:latin typeface="Calibri" panose="020F0502020204030204" pitchFamily="34" charset="0"/>
              <a:cs typeface="Calibri" panose="020F0502020204030204" pitchFamily="34" charset="0"/>
            </a:endParaRPr>
          </a:p>
        </p:txBody>
      </p:sp>
      <p:sp>
        <p:nvSpPr>
          <p:cNvPr id="728" name="Google Shape;728;p14"/>
          <p:cNvSpPr txBox="1"/>
          <p:nvPr/>
        </p:nvSpPr>
        <p:spPr>
          <a:xfrm>
            <a:off x="503238" y="912813"/>
            <a:ext cx="1183337"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BENEFICIOS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3DC9AAC8-1780-4828-B901-872D771286D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DEL DATA WAREHOUSE</a:t>
            </a:r>
            <a:endParaRPr lang="es-PE" sz="1000" dirty="0">
              <a:solidFill>
                <a:schemeClr val="bg1">
                  <a:lumMod val="65000"/>
                </a:schemeClr>
              </a:solidFill>
              <a:latin typeface="Calibri" charset="0"/>
              <a:cs typeface="Calibri" charset="0"/>
            </a:endParaRPr>
          </a:p>
        </p:txBody>
      </p:sp>
      <p:grpSp>
        <p:nvGrpSpPr>
          <p:cNvPr id="12" name="Grupo 11">
            <a:extLst>
              <a:ext uri="{FF2B5EF4-FFF2-40B4-BE49-F238E27FC236}">
                <a16:creationId xmlns:a16="http://schemas.microsoft.com/office/drawing/2014/main" id="{45E5CCAC-1C65-A144-C418-CC0F35EAF42F}"/>
              </a:ext>
            </a:extLst>
          </p:cNvPr>
          <p:cNvGrpSpPr/>
          <p:nvPr/>
        </p:nvGrpSpPr>
        <p:grpSpPr>
          <a:xfrm>
            <a:off x="5101734" y="1978269"/>
            <a:ext cx="2768969" cy="2053581"/>
            <a:chOff x="3457575" y="1227693"/>
            <a:chExt cx="1710638" cy="1268679"/>
          </a:xfrm>
        </p:grpSpPr>
        <p:sp>
          <p:nvSpPr>
            <p:cNvPr id="720" name="Google Shape;720;p14"/>
            <p:cNvSpPr/>
            <p:nvPr/>
          </p:nvSpPr>
          <p:spPr>
            <a:xfrm>
              <a:off x="4121468" y="1442722"/>
              <a:ext cx="609600" cy="304800"/>
            </a:xfrm>
            <a:custGeom>
              <a:avLst/>
              <a:gdLst/>
              <a:ahLst/>
              <a:cxnLst/>
              <a:rect l="l" t="t" r="r" b="b"/>
              <a:pathLst>
                <a:path w="384" h="192" extrusionOk="0">
                  <a:moveTo>
                    <a:pt x="0" y="192"/>
                  </a:moveTo>
                  <a:cubicBezTo>
                    <a:pt x="88" y="184"/>
                    <a:pt x="176" y="176"/>
                    <a:pt x="240" y="144"/>
                  </a:cubicBezTo>
                  <a:cubicBezTo>
                    <a:pt x="304" y="112"/>
                    <a:pt x="344" y="56"/>
                    <a:pt x="384"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14"/>
            <p:cNvSpPr/>
            <p:nvPr/>
          </p:nvSpPr>
          <p:spPr>
            <a:xfrm>
              <a:off x="4121468" y="1747522"/>
              <a:ext cx="609600" cy="88900"/>
            </a:xfrm>
            <a:custGeom>
              <a:avLst/>
              <a:gdLst/>
              <a:ahLst/>
              <a:cxnLst/>
              <a:rect l="l" t="t" r="r" b="b"/>
              <a:pathLst>
                <a:path w="384" h="56" extrusionOk="0">
                  <a:moveTo>
                    <a:pt x="0" y="48"/>
                  </a:moveTo>
                  <a:cubicBezTo>
                    <a:pt x="64" y="52"/>
                    <a:pt x="128" y="56"/>
                    <a:pt x="192" y="48"/>
                  </a:cubicBezTo>
                  <a:cubicBezTo>
                    <a:pt x="256" y="40"/>
                    <a:pt x="352" y="8"/>
                    <a:pt x="384"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14"/>
            <p:cNvSpPr/>
            <p:nvPr/>
          </p:nvSpPr>
          <p:spPr>
            <a:xfrm rot="10800000" flipH="1">
              <a:off x="4121468" y="1976122"/>
              <a:ext cx="609600" cy="304800"/>
            </a:xfrm>
            <a:custGeom>
              <a:avLst/>
              <a:gdLst/>
              <a:ahLst/>
              <a:cxnLst/>
              <a:rect l="l" t="t" r="r" b="b"/>
              <a:pathLst>
                <a:path w="384" h="192" extrusionOk="0">
                  <a:moveTo>
                    <a:pt x="0" y="192"/>
                  </a:moveTo>
                  <a:cubicBezTo>
                    <a:pt x="88" y="184"/>
                    <a:pt x="176" y="176"/>
                    <a:pt x="240" y="144"/>
                  </a:cubicBezTo>
                  <a:cubicBezTo>
                    <a:pt x="304" y="112"/>
                    <a:pt x="344" y="56"/>
                    <a:pt x="384"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3" name="Google Shape;723;p14"/>
            <p:cNvSpPr/>
            <p:nvPr/>
          </p:nvSpPr>
          <p:spPr>
            <a:xfrm rot="10800000" flipH="1">
              <a:off x="4121468" y="1899922"/>
              <a:ext cx="609600" cy="88900"/>
            </a:xfrm>
            <a:custGeom>
              <a:avLst/>
              <a:gdLst/>
              <a:ahLst/>
              <a:cxnLst/>
              <a:rect l="l" t="t" r="r" b="b"/>
              <a:pathLst>
                <a:path w="384" h="56" extrusionOk="0">
                  <a:moveTo>
                    <a:pt x="0" y="48"/>
                  </a:moveTo>
                  <a:cubicBezTo>
                    <a:pt x="64" y="52"/>
                    <a:pt x="128" y="56"/>
                    <a:pt x="192" y="48"/>
                  </a:cubicBezTo>
                  <a:cubicBezTo>
                    <a:pt x="256" y="40"/>
                    <a:pt x="352" y="8"/>
                    <a:pt x="384"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724" name="Google Shape;724;p14"/>
            <p:cNvGrpSpPr/>
            <p:nvPr/>
          </p:nvGrpSpPr>
          <p:grpSpPr>
            <a:xfrm>
              <a:off x="3511868" y="1595122"/>
              <a:ext cx="528638" cy="452438"/>
              <a:chOff x="3216" y="1554"/>
              <a:chExt cx="333" cy="285"/>
            </a:xfrm>
          </p:grpSpPr>
          <p:sp>
            <p:nvSpPr>
              <p:cNvPr id="725" name="Google Shape;725;p14"/>
              <p:cNvSpPr/>
              <p:nvPr/>
            </p:nvSpPr>
            <p:spPr>
              <a:xfrm>
                <a:off x="3216" y="1554"/>
                <a:ext cx="331" cy="93"/>
              </a:xfrm>
              <a:prstGeom prst="ellipse">
                <a:avLst/>
              </a:prstGeom>
              <a:gradFill>
                <a:gsLst>
                  <a:gs pos="0">
                    <a:srgbClr val="007C7C"/>
                  </a:gs>
                  <a:gs pos="50000">
                    <a:srgbClr val="00FFFF"/>
                  </a:gs>
                  <a:gs pos="100000">
                    <a:srgbClr val="00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26" name="Google Shape;726;p14"/>
              <p:cNvSpPr/>
              <p:nvPr/>
            </p:nvSpPr>
            <p:spPr>
              <a:xfrm>
                <a:off x="3216" y="1602"/>
                <a:ext cx="333" cy="193"/>
              </a:xfrm>
              <a:custGeom>
                <a:avLst/>
                <a:gdLst/>
                <a:ahLst/>
                <a:cxnLst/>
                <a:rect l="l" t="t" r="r" b="b"/>
                <a:pathLst>
                  <a:path w="333" h="193" extrusionOk="0">
                    <a:moveTo>
                      <a:pt x="0" y="0"/>
                    </a:moveTo>
                    <a:lnTo>
                      <a:pt x="0" y="192"/>
                    </a:lnTo>
                    <a:lnTo>
                      <a:pt x="332" y="192"/>
                    </a:lnTo>
                    <a:lnTo>
                      <a:pt x="332" y="0"/>
                    </a:lnTo>
                    <a:lnTo>
                      <a:pt x="0" y="0"/>
                    </a:lnTo>
                  </a:path>
                </a:pathLst>
              </a:custGeom>
              <a:gradFill>
                <a:gsLst>
                  <a:gs pos="0">
                    <a:srgbClr val="007C7C"/>
                  </a:gs>
                  <a:gs pos="50000">
                    <a:srgbClr val="00FFFF"/>
                  </a:gs>
                  <a:gs pos="100000">
                    <a:srgbClr val="007C7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7" name="Google Shape;727;p14"/>
              <p:cNvSpPr/>
              <p:nvPr/>
            </p:nvSpPr>
            <p:spPr>
              <a:xfrm>
                <a:off x="3216" y="1746"/>
                <a:ext cx="331" cy="93"/>
              </a:xfrm>
              <a:prstGeom prst="ellipse">
                <a:avLst/>
              </a:prstGeom>
              <a:gradFill>
                <a:gsLst>
                  <a:gs pos="0">
                    <a:srgbClr val="007C7C"/>
                  </a:gs>
                  <a:gs pos="50000">
                    <a:srgbClr val="00FFFF"/>
                  </a:gs>
                  <a:gs pos="100000">
                    <a:srgbClr val="00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pSp>
        <p:sp>
          <p:nvSpPr>
            <p:cNvPr id="3" name="Cilindro 2">
              <a:extLst>
                <a:ext uri="{FF2B5EF4-FFF2-40B4-BE49-F238E27FC236}">
                  <a16:creationId xmlns:a16="http://schemas.microsoft.com/office/drawing/2014/main" id="{08061F3A-F87A-2426-2E40-1A991F7E6F1D}"/>
                </a:ext>
              </a:extLst>
            </p:cNvPr>
            <p:cNvSpPr/>
            <p:nvPr/>
          </p:nvSpPr>
          <p:spPr>
            <a:xfrm>
              <a:off x="3457575" y="1595122"/>
              <a:ext cx="609600" cy="474795"/>
            </a:xfrm>
            <a:prstGeom prst="can">
              <a:avLst/>
            </a:prstGeom>
            <a:solidFill>
              <a:srgbClr val="00B1C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 name="Cilindro 7">
              <a:extLst>
                <a:ext uri="{FF2B5EF4-FFF2-40B4-BE49-F238E27FC236}">
                  <a16:creationId xmlns:a16="http://schemas.microsoft.com/office/drawing/2014/main" id="{875B6784-CD29-B84E-E3FC-3BA45E2AFFBE}"/>
                </a:ext>
              </a:extLst>
            </p:cNvPr>
            <p:cNvSpPr/>
            <p:nvPr/>
          </p:nvSpPr>
          <p:spPr>
            <a:xfrm>
              <a:off x="4807268" y="1227693"/>
              <a:ext cx="360945" cy="281127"/>
            </a:xfrm>
            <a:prstGeom prst="can">
              <a:avLst/>
            </a:prstGeom>
            <a:solidFill>
              <a:srgbClr val="00B1C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 name="Cilindro 8">
              <a:extLst>
                <a:ext uri="{FF2B5EF4-FFF2-40B4-BE49-F238E27FC236}">
                  <a16:creationId xmlns:a16="http://schemas.microsoft.com/office/drawing/2014/main" id="{EFA386DC-C4CF-8B69-8776-D5CB721BB5C8}"/>
                </a:ext>
              </a:extLst>
            </p:cNvPr>
            <p:cNvSpPr/>
            <p:nvPr/>
          </p:nvSpPr>
          <p:spPr>
            <a:xfrm>
              <a:off x="4807268" y="1570178"/>
              <a:ext cx="360945" cy="281127"/>
            </a:xfrm>
            <a:prstGeom prst="can">
              <a:avLst/>
            </a:prstGeom>
            <a:solidFill>
              <a:srgbClr val="00B1C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0" name="Cilindro 9">
              <a:extLst>
                <a:ext uri="{FF2B5EF4-FFF2-40B4-BE49-F238E27FC236}">
                  <a16:creationId xmlns:a16="http://schemas.microsoft.com/office/drawing/2014/main" id="{6A327930-4039-F7EF-1762-DCD1F4B84753}"/>
                </a:ext>
              </a:extLst>
            </p:cNvPr>
            <p:cNvSpPr/>
            <p:nvPr/>
          </p:nvSpPr>
          <p:spPr>
            <a:xfrm>
              <a:off x="4807268" y="1892711"/>
              <a:ext cx="360945" cy="281127"/>
            </a:xfrm>
            <a:prstGeom prst="can">
              <a:avLst/>
            </a:prstGeom>
            <a:solidFill>
              <a:srgbClr val="00B1C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1" name="Cilindro 10">
              <a:extLst>
                <a:ext uri="{FF2B5EF4-FFF2-40B4-BE49-F238E27FC236}">
                  <a16:creationId xmlns:a16="http://schemas.microsoft.com/office/drawing/2014/main" id="{8BE8BA11-D0EA-CFD1-B744-4B7C624E417C}"/>
                </a:ext>
              </a:extLst>
            </p:cNvPr>
            <p:cNvSpPr/>
            <p:nvPr/>
          </p:nvSpPr>
          <p:spPr>
            <a:xfrm>
              <a:off x="4807268" y="2215245"/>
              <a:ext cx="360945" cy="281127"/>
            </a:xfrm>
            <a:prstGeom prst="can">
              <a:avLst/>
            </a:prstGeom>
            <a:solidFill>
              <a:srgbClr val="00B1C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grpSp>
      <p:cxnSp>
        <p:nvCxnSpPr>
          <p:cNvPr id="13" name="Conector recto 12">
            <a:extLst>
              <a:ext uri="{FF2B5EF4-FFF2-40B4-BE49-F238E27FC236}">
                <a16:creationId xmlns:a16="http://schemas.microsoft.com/office/drawing/2014/main" id="{C24383B9-A792-5DCA-E098-2FEC88AA47E4}"/>
              </a:ext>
            </a:extLst>
          </p:cNvPr>
          <p:cNvCxnSpPr>
            <a:cxnSpLocks/>
          </p:cNvCxnSpPr>
          <p:nvPr/>
        </p:nvCxnSpPr>
        <p:spPr>
          <a:xfrm>
            <a:off x="684213" y="2362855"/>
            <a:ext cx="0" cy="127426"/>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14" name="Más 13">
            <a:extLst>
              <a:ext uri="{FF2B5EF4-FFF2-40B4-BE49-F238E27FC236}">
                <a16:creationId xmlns:a16="http://schemas.microsoft.com/office/drawing/2014/main" id="{BDA7A47A-AAF9-913E-2621-8642425FA695}"/>
              </a:ext>
            </a:extLst>
          </p:cNvPr>
          <p:cNvSpPr/>
          <p:nvPr/>
        </p:nvSpPr>
        <p:spPr>
          <a:xfrm>
            <a:off x="607871" y="2173648"/>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Más 15">
            <a:extLst>
              <a:ext uri="{FF2B5EF4-FFF2-40B4-BE49-F238E27FC236}">
                <a16:creationId xmlns:a16="http://schemas.microsoft.com/office/drawing/2014/main" id="{395D24FB-A971-53E3-57DA-F5965ABC90E1}"/>
              </a:ext>
            </a:extLst>
          </p:cNvPr>
          <p:cNvSpPr/>
          <p:nvPr/>
        </p:nvSpPr>
        <p:spPr>
          <a:xfrm>
            <a:off x="607871" y="2531626"/>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18" name="Conector recto 17">
            <a:extLst>
              <a:ext uri="{FF2B5EF4-FFF2-40B4-BE49-F238E27FC236}">
                <a16:creationId xmlns:a16="http://schemas.microsoft.com/office/drawing/2014/main" id="{41D3C21F-F053-3D1E-F256-24D874DC423F}"/>
              </a:ext>
            </a:extLst>
          </p:cNvPr>
          <p:cNvCxnSpPr>
            <a:cxnSpLocks/>
          </p:cNvCxnSpPr>
          <p:nvPr/>
        </p:nvCxnSpPr>
        <p:spPr>
          <a:xfrm>
            <a:off x="684213" y="2705269"/>
            <a:ext cx="0" cy="127426"/>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19" name="Más 18">
            <a:extLst>
              <a:ext uri="{FF2B5EF4-FFF2-40B4-BE49-F238E27FC236}">
                <a16:creationId xmlns:a16="http://schemas.microsoft.com/office/drawing/2014/main" id="{D4849822-20C9-1577-AA31-81A8A2658B60}"/>
              </a:ext>
            </a:extLst>
          </p:cNvPr>
          <p:cNvSpPr/>
          <p:nvPr/>
        </p:nvSpPr>
        <p:spPr>
          <a:xfrm>
            <a:off x="607871" y="2874040"/>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20" name="Conector recto 19">
            <a:extLst>
              <a:ext uri="{FF2B5EF4-FFF2-40B4-BE49-F238E27FC236}">
                <a16:creationId xmlns:a16="http://schemas.microsoft.com/office/drawing/2014/main" id="{D63D0939-2B8A-8693-22F0-CFFC4C1F4DB7}"/>
              </a:ext>
            </a:extLst>
          </p:cNvPr>
          <p:cNvCxnSpPr>
            <a:cxnSpLocks/>
          </p:cNvCxnSpPr>
          <p:nvPr/>
        </p:nvCxnSpPr>
        <p:spPr>
          <a:xfrm>
            <a:off x="684213" y="3039900"/>
            <a:ext cx="0" cy="127426"/>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21" name="Más 20">
            <a:extLst>
              <a:ext uri="{FF2B5EF4-FFF2-40B4-BE49-F238E27FC236}">
                <a16:creationId xmlns:a16="http://schemas.microsoft.com/office/drawing/2014/main" id="{4D1C70CD-4E71-9A80-55F6-D1E8F8530EE6}"/>
              </a:ext>
            </a:extLst>
          </p:cNvPr>
          <p:cNvSpPr/>
          <p:nvPr/>
        </p:nvSpPr>
        <p:spPr>
          <a:xfrm>
            <a:off x="607871" y="3208671"/>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22" name="Conector recto 21">
            <a:extLst>
              <a:ext uri="{FF2B5EF4-FFF2-40B4-BE49-F238E27FC236}">
                <a16:creationId xmlns:a16="http://schemas.microsoft.com/office/drawing/2014/main" id="{D2E86FEE-1BF0-C11E-F2EE-C67809CCC352}"/>
              </a:ext>
            </a:extLst>
          </p:cNvPr>
          <p:cNvCxnSpPr>
            <a:cxnSpLocks/>
          </p:cNvCxnSpPr>
          <p:nvPr/>
        </p:nvCxnSpPr>
        <p:spPr>
          <a:xfrm>
            <a:off x="684213" y="3382314"/>
            <a:ext cx="0" cy="127426"/>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23" name="Más 22">
            <a:extLst>
              <a:ext uri="{FF2B5EF4-FFF2-40B4-BE49-F238E27FC236}">
                <a16:creationId xmlns:a16="http://schemas.microsoft.com/office/drawing/2014/main" id="{0D6F5019-BA0F-3B6D-D23D-109187A9D02E}"/>
              </a:ext>
            </a:extLst>
          </p:cNvPr>
          <p:cNvSpPr/>
          <p:nvPr/>
        </p:nvSpPr>
        <p:spPr>
          <a:xfrm>
            <a:off x="607871" y="3551085"/>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24" name="Conector recto 23">
            <a:extLst>
              <a:ext uri="{FF2B5EF4-FFF2-40B4-BE49-F238E27FC236}">
                <a16:creationId xmlns:a16="http://schemas.microsoft.com/office/drawing/2014/main" id="{610E94C7-6A48-39AD-9761-907BE44A9403}"/>
              </a:ext>
            </a:extLst>
          </p:cNvPr>
          <p:cNvCxnSpPr>
            <a:cxnSpLocks/>
          </p:cNvCxnSpPr>
          <p:nvPr/>
        </p:nvCxnSpPr>
        <p:spPr>
          <a:xfrm>
            <a:off x="684213" y="3724728"/>
            <a:ext cx="0" cy="127426"/>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25" name="Más 24">
            <a:extLst>
              <a:ext uri="{FF2B5EF4-FFF2-40B4-BE49-F238E27FC236}">
                <a16:creationId xmlns:a16="http://schemas.microsoft.com/office/drawing/2014/main" id="{44ED1FE3-ADBB-FCA1-7A67-9600BB94E16A}"/>
              </a:ext>
            </a:extLst>
          </p:cNvPr>
          <p:cNvSpPr/>
          <p:nvPr/>
        </p:nvSpPr>
        <p:spPr>
          <a:xfrm>
            <a:off x="607871" y="3893499"/>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PARTICIONAMIENTO EN </a:t>
            </a:r>
            <a:br>
              <a:rPr lang="en-US" sz="2800" dirty="0">
                <a:solidFill>
                  <a:schemeClr val="bg1"/>
                </a:solidFill>
                <a:latin typeface="Graphik Regular" panose="020B0503030202060203" pitchFamily="34" charset="77"/>
                <a:sym typeface="Calibri"/>
              </a:rPr>
            </a:br>
            <a:r>
              <a:rPr lang="en-US" sz="2800" b="1" dirty="0">
                <a:solidFill>
                  <a:schemeClr val="bg1"/>
                </a:solidFill>
                <a:latin typeface="Graphik Bold" panose="020B0503030202060203" pitchFamily="34" charset="77"/>
                <a:sym typeface="Calibri"/>
              </a:rPr>
              <a:t>SQL SERVER</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1171133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3" name="Google Shape;743;p16"/>
          <p:cNvSpPr txBox="1"/>
          <p:nvPr/>
        </p:nvSpPr>
        <p:spPr>
          <a:xfrm>
            <a:off x="503238" y="912813"/>
            <a:ext cx="168937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TABLAS E ÍNDICES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27265118-0845-1F0F-148D-32C2C0CF62A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sp>
        <p:nvSpPr>
          <p:cNvPr id="3" name="Google Shape;743;p16">
            <a:extLst>
              <a:ext uri="{FF2B5EF4-FFF2-40B4-BE49-F238E27FC236}">
                <a16:creationId xmlns:a16="http://schemas.microsoft.com/office/drawing/2014/main" id="{8313B8B3-EDC6-2251-84BE-2F423735B729}"/>
              </a:ext>
            </a:extLst>
          </p:cNvPr>
          <p:cNvSpPr txBox="1"/>
          <p:nvPr/>
        </p:nvSpPr>
        <p:spPr>
          <a:xfrm>
            <a:off x="1958658" y="1309053"/>
            <a:ext cx="5333682" cy="492443"/>
          </a:xfrm>
          <a:prstGeom prst="rect">
            <a:avLst/>
          </a:prstGeom>
          <a:noFill/>
          <a:ln>
            <a:noFill/>
          </a:ln>
        </p:spPr>
        <p:txBody>
          <a:bodyPr spcFirstLastPara="1" wrap="square" lIns="0" tIns="0" rIns="0" bIns="0" anchor="t" anchorCtr="0">
            <a:spAutoFit/>
          </a:bodyPr>
          <a:lstStyle/>
          <a:p>
            <a:pPr marL="180975" marR="0" lvl="0" indent="-180975" algn="l" rtl="0">
              <a:spcBef>
                <a:spcPts val="0"/>
              </a:spcBef>
              <a:spcAft>
                <a:spcPts val="0"/>
              </a:spcAft>
              <a:buFont typeface="Arial" panose="020B0604020202020204" pitchFamily="34" charset="0"/>
              <a:buChar char="•"/>
            </a:pPr>
            <a:r>
              <a:rPr lang="es-ES_tradnl" sz="1600" dirty="0">
                <a:solidFill>
                  <a:schemeClr val="dk1"/>
                </a:solidFill>
                <a:latin typeface="Calibri"/>
                <a:ea typeface="Calibri"/>
                <a:cs typeface="Calibri"/>
                <a:sym typeface="Calibri"/>
              </a:rPr>
              <a:t>Reparte las filas de la table entre varios </a:t>
            </a:r>
            <a:r>
              <a:rPr lang="es-ES_tradnl" sz="1600" dirty="0" err="1">
                <a:solidFill>
                  <a:schemeClr val="dk1"/>
                </a:solidFill>
                <a:latin typeface="Calibri"/>
                <a:ea typeface="Calibri"/>
                <a:cs typeface="Calibri"/>
                <a:sym typeface="Calibri"/>
              </a:rPr>
              <a:t>filegroups</a:t>
            </a:r>
            <a:r>
              <a:rPr lang="es-ES_tradnl" sz="1600" dirty="0">
                <a:solidFill>
                  <a:schemeClr val="dk1"/>
                </a:solidFill>
                <a:latin typeface="Calibri"/>
                <a:ea typeface="Calibri"/>
                <a:cs typeface="Calibri"/>
                <a:sym typeface="Calibri"/>
              </a:rPr>
              <a:t>, dependiendo del valor que tome una determinada columna.</a:t>
            </a:r>
          </a:p>
        </p:txBody>
      </p:sp>
      <p:pic>
        <p:nvPicPr>
          <p:cNvPr id="5" name="Imagen 4">
            <a:extLst>
              <a:ext uri="{FF2B5EF4-FFF2-40B4-BE49-F238E27FC236}">
                <a16:creationId xmlns:a16="http://schemas.microsoft.com/office/drawing/2014/main" id="{4EB0D933-3B07-B303-F0D8-184534074877}"/>
              </a:ext>
            </a:extLst>
          </p:cNvPr>
          <p:cNvPicPr>
            <a:picLocks noChangeAspect="1"/>
          </p:cNvPicPr>
          <p:nvPr/>
        </p:nvPicPr>
        <p:blipFill>
          <a:blip r:embed="rId3"/>
          <a:stretch>
            <a:fillRect/>
          </a:stretch>
        </p:blipFill>
        <p:spPr>
          <a:xfrm>
            <a:off x="2483718" y="2103324"/>
            <a:ext cx="558165" cy="558165"/>
          </a:xfrm>
          <a:prstGeom prst="rect">
            <a:avLst/>
          </a:prstGeom>
        </p:spPr>
      </p:pic>
      <p:pic>
        <p:nvPicPr>
          <p:cNvPr id="6" name="Imagen 5">
            <a:extLst>
              <a:ext uri="{FF2B5EF4-FFF2-40B4-BE49-F238E27FC236}">
                <a16:creationId xmlns:a16="http://schemas.microsoft.com/office/drawing/2014/main" id="{5028D3B3-5862-47B4-4FAC-3D2EEEDEDA62}"/>
              </a:ext>
            </a:extLst>
          </p:cNvPr>
          <p:cNvPicPr>
            <a:picLocks noChangeAspect="1"/>
          </p:cNvPicPr>
          <p:nvPr/>
        </p:nvPicPr>
        <p:blipFill>
          <a:blip r:embed="rId3"/>
          <a:stretch>
            <a:fillRect/>
          </a:stretch>
        </p:blipFill>
        <p:spPr>
          <a:xfrm>
            <a:off x="3642001" y="2103324"/>
            <a:ext cx="558165" cy="558165"/>
          </a:xfrm>
          <a:prstGeom prst="rect">
            <a:avLst/>
          </a:prstGeom>
        </p:spPr>
      </p:pic>
      <p:sp>
        <p:nvSpPr>
          <p:cNvPr id="7" name="Google Shape;743;p16">
            <a:extLst>
              <a:ext uri="{FF2B5EF4-FFF2-40B4-BE49-F238E27FC236}">
                <a16:creationId xmlns:a16="http://schemas.microsoft.com/office/drawing/2014/main" id="{570E3DD9-B352-4A81-74B5-B78B124AC6CD}"/>
              </a:ext>
            </a:extLst>
          </p:cNvPr>
          <p:cNvSpPr txBox="1"/>
          <p:nvPr/>
        </p:nvSpPr>
        <p:spPr>
          <a:xfrm>
            <a:off x="2446729" y="2784002"/>
            <a:ext cx="632142"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dirty="0">
                <a:solidFill>
                  <a:schemeClr val="dk1"/>
                </a:solidFill>
                <a:latin typeface="Calibri"/>
                <a:ea typeface="Calibri"/>
                <a:cs typeface="Calibri"/>
                <a:sym typeface="Calibri"/>
              </a:rPr>
              <a:t>&lt; 2003</a:t>
            </a:r>
            <a:endParaRPr sz="1400" dirty="0">
              <a:solidFill>
                <a:schemeClr val="dk1"/>
              </a:solidFill>
              <a:latin typeface="Calibri"/>
              <a:ea typeface="Calibri"/>
              <a:cs typeface="Calibri"/>
              <a:sym typeface="Calibri"/>
            </a:endParaRPr>
          </a:p>
        </p:txBody>
      </p:sp>
      <p:sp>
        <p:nvSpPr>
          <p:cNvPr id="8" name="Google Shape;743;p16">
            <a:extLst>
              <a:ext uri="{FF2B5EF4-FFF2-40B4-BE49-F238E27FC236}">
                <a16:creationId xmlns:a16="http://schemas.microsoft.com/office/drawing/2014/main" id="{53C0DB91-B08A-8320-D3E0-3A9ECDA8C032}"/>
              </a:ext>
            </a:extLst>
          </p:cNvPr>
          <p:cNvSpPr txBox="1"/>
          <p:nvPr/>
        </p:nvSpPr>
        <p:spPr>
          <a:xfrm>
            <a:off x="3381729" y="2784002"/>
            <a:ext cx="1078707" cy="215444"/>
          </a:xfrm>
          <a:prstGeom prst="rect">
            <a:avLst/>
          </a:prstGeom>
          <a:noFill/>
          <a:ln>
            <a:noFill/>
          </a:ln>
        </p:spPr>
        <p:txBody>
          <a:bodyPr spcFirstLastPara="1" wrap="square" lIns="0" tIns="0" rIns="0" bIns="0" anchor="t" anchorCtr="0">
            <a:spAutoFit/>
          </a:bodyPr>
          <a:lstStyle/>
          <a:p>
            <a:pPr algn="ctr"/>
            <a:r>
              <a:rPr lang="en-US" sz="1400" dirty="0">
                <a:solidFill>
                  <a:schemeClr val="dk1"/>
                </a:solidFill>
                <a:latin typeface="Calibri"/>
                <a:ea typeface="Calibri"/>
                <a:cs typeface="Calibri"/>
                <a:sym typeface="Calibri"/>
              </a:rPr>
              <a:t>2003 -- 2004</a:t>
            </a:r>
          </a:p>
        </p:txBody>
      </p:sp>
      <p:pic>
        <p:nvPicPr>
          <p:cNvPr id="9" name="Imagen 8">
            <a:extLst>
              <a:ext uri="{FF2B5EF4-FFF2-40B4-BE49-F238E27FC236}">
                <a16:creationId xmlns:a16="http://schemas.microsoft.com/office/drawing/2014/main" id="{75807C86-C7C2-B6FB-8366-787E99632EF9}"/>
              </a:ext>
            </a:extLst>
          </p:cNvPr>
          <p:cNvPicPr>
            <a:picLocks noChangeAspect="1"/>
          </p:cNvPicPr>
          <p:nvPr/>
        </p:nvPicPr>
        <p:blipFill>
          <a:blip r:embed="rId3"/>
          <a:stretch>
            <a:fillRect/>
          </a:stretch>
        </p:blipFill>
        <p:spPr>
          <a:xfrm>
            <a:off x="4863107" y="2103324"/>
            <a:ext cx="558165" cy="558165"/>
          </a:xfrm>
          <a:prstGeom prst="rect">
            <a:avLst/>
          </a:prstGeom>
        </p:spPr>
      </p:pic>
      <p:sp>
        <p:nvSpPr>
          <p:cNvPr id="10" name="Google Shape;743;p16">
            <a:extLst>
              <a:ext uri="{FF2B5EF4-FFF2-40B4-BE49-F238E27FC236}">
                <a16:creationId xmlns:a16="http://schemas.microsoft.com/office/drawing/2014/main" id="{D1B930A4-99A1-022A-A111-3314BCEB8303}"/>
              </a:ext>
            </a:extLst>
          </p:cNvPr>
          <p:cNvSpPr txBox="1"/>
          <p:nvPr/>
        </p:nvSpPr>
        <p:spPr>
          <a:xfrm>
            <a:off x="4602835" y="2784002"/>
            <a:ext cx="1078707" cy="215444"/>
          </a:xfrm>
          <a:prstGeom prst="rect">
            <a:avLst/>
          </a:prstGeom>
          <a:noFill/>
          <a:ln>
            <a:noFill/>
          </a:ln>
        </p:spPr>
        <p:txBody>
          <a:bodyPr spcFirstLastPara="1" wrap="square" lIns="0" tIns="0" rIns="0" bIns="0" anchor="t" anchorCtr="0">
            <a:spAutoFit/>
          </a:bodyPr>
          <a:lstStyle/>
          <a:p>
            <a:pPr algn="ctr"/>
            <a:r>
              <a:rPr lang="en-US" sz="1400" dirty="0">
                <a:solidFill>
                  <a:schemeClr val="dk1"/>
                </a:solidFill>
                <a:latin typeface="Calibri"/>
                <a:ea typeface="Calibri"/>
                <a:cs typeface="Calibri"/>
                <a:sym typeface="Calibri"/>
              </a:rPr>
              <a:t>2004 -- 2005</a:t>
            </a:r>
          </a:p>
        </p:txBody>
      </p:sp>
      <p:pic>
        <p:nvPicPr>
          <p:cNvPr id="11" name="Imagen 10">
            <a:extLst>
              <a:ext uri="{FF2B5EF4-FFF2-40B4-BE49-F238E27FC236}">
                <a16:creationId xmlns:a16="http://schemas.microsoft.com/office/drawing/2014/main" id="{8A3796A5-6DBC-6224-5F17-043AB41C8B2F}"/>
              </a:ext>
            </a:extLst>
          </p:cNvPr>
          <p:cNvPicPr>
            <a:picLocks noChangeAspect="1"/>
          </p:cNvPicPr>
          <p:nvPr/>
        </p:nvPicPr>
        <p:blipFill>
          <a:blip r:embed="rId3"/>
          <a:stretch>
            <a:fillRect/>
          </a:stretch>
        </p:blipFill>
        <p:spPr>
          <a:xfrm>
            <a:off x="5920338" y="2103324"/>
            <a:ext cx="558165" cy="558165"/>
          </a:xfrm>
          <a:prstGeom prst="rect">
            <a:avLst/>
          </a:prstGeom>
        </p:spPr>
      </p:pic>
      <p:sp>
        <p:nvSpPr>
          <p:cNvPr id="12" name="Google Shape;743;p16">
            <a:extLst>
              <a:ext uri="{FF2B5EF4-FFF2-40B4-BE49-F238E27FC236}">
                <a16:creationId xmlns:a16="http://schemas.microsoft.com/office/drawing/2014/main" id="{3D476767-8DF4-9BE7-939B-3E31D2D0A8A2}"/>
              </a:ext>
            </a:extLst>
          </p:cNvPr>
          <p:cNvSpPr txBox="1"/>
          <p:nvPr/>
        </p:nvSpPr>
        <p:spPr>
          <a:xfrm>
            <a:off x="5883349" y="2784002"/>
            <a:ext cx="632142"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dirty="0">
                <a:solidFill>
                  <a:schemeClr val="dk1"/>
                </a:solidFill>
                <a:latin typeface="Calibri"/>
                <a:ea typeface="Calibri"/>
                <a:cs typeface="Calibri"/>
                <a:sym typeface="Calibri"/>
              </a:rPr>
              <a:t>&gt; 2005</a:t>
            </a:r>
          </a:p>
        </p:txBody>
      </p:sp>
      <p:pic>
        <p:nvPicPr>
          <p:cNvPr id="13" name="Imagen 12">
            <a:extLst>
              <a:ext uri="{FF2B5EF4-FFF2-40B4-BE49-F238E27FC236}">
                <a16:creationId xmlns:a16="http://schemas.microsoft.com/office/drawing/2014/main" id="{E6E5E6CB-DCE7-989A-F925-D56C07CBB730}"/>
              </a:ext>
            </a:extLst>
          </p:cNvPr>
          <p:cNvPicPr>
            <a:picLocks noChangeAspect="1"/>
          </p:cNvPicPr>
          <p:nvPr/>
        </p:nvPicPr>
        <p:blipFill>
          <a:blip r:embed="rId3"/>
          <a:stretch>
            <a:fillRect/>
          </a:stretch>
        </p:blipFill>
        <p:spPr>
          <a:xfrm>
            <a:off x="4189073" y="3530578"/>
            <a:ext cx="765854" cy="765854"/>
          </a:xfrm>
          <a:prstGeom prst="rect">
            <a:avLst/>
          </a:prstGeom>
        </p:spPr>
      </p:pic>
      <p:sp>
        <p:nvSpPr>
          <p:cNvPr id="14" name="Rectángulo redondeado 13">
            <a:extLst>
              <a:ext uri="{FF2B5EF4-FFF2-40B4-BE49-F238E27FC236}">
                <a16:creationId xmlns:a16="http://schemas.microsoft.com/office/drawing/2014/main" id="{B450BCD2-AC26-D9B4-1CF8-2DA2EE7AE0B1}"/>
              </a:ext>
            </a:extLst>
          </p:cNvPr>
          <p:cNvSpPr/>
          <p:nvPr/>
        </p:nvSpPr>
        <p:spPr>
          <a:xfrm>
            <a:off x="3921084" y="4417604"/>
            <a:ext cx="1301831" cy="320040"/>
          </a:xfrm>
          <a:prstGeom prst="roundRect">
            <a:avLst/>
          </a:prstGeom>
          <a:solidFill>
            <a:srgbClr val="00B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400" b="1" dirty="0"/>
              <a:t>Sales. </a:t>
            </a:r>
            <a:r>
              <a:rPr lang="es-ES_tradnl" sz="1400" b="1" dirty="0" err="1"/>
              <a:t>Orders</a:t>
            </a:r>
            <a:endParaRPr lang="es-ES_tradnl" sz="1400" b="1" dirty="0"/>
          </a:p>
        </p:txBody>
      </p:sp>
      <p:sp>
        <p:nvSpPr>
          <p:cNvPr id="15" name="Triángulo 14">
            <a:extLst>
              <a:ext uri="{FF2B5EF4-FFF2-40B4-BE49-F238E27FC236}">
                <a16:creationId xmlns:a16="http://schemas.microsoft.com/office/drawing/2014/main" id="{B7547AAE-18D4-65F5-3C48-601AF3C05D22}"/>
              </a:ext>
            </a:extLst>
          </p:cNvPr>
          <p:cNvSpPr/>
          <p:nvPr/>
        </p:nvSpPr>
        <p:spPr>
          <a:xfrm rot="10800000">
            <a:off x="2631116" y="3052764"/>
            <a:ext cx="3777303" cy="437174"/>
          </a:xfrm>
          <a:prstGeom prst="triangle">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50" name="Google Shape;750;p17"/>
          <p:cNvSpPr txBox="1"/>
          <p:nvPr/>
        </p:nvSpPr>
        <p:spPr>
          <a:xfrm>
            <a:off x="503238" y="912813"/>
            <a:ext cx="7204493" cy="2600007"/>
          </a:xfrm>
          <a:prstGeom prst="rect">
            <a:avLst/>
          </a:prstGeom>
          <a:noFill/>
          <a:ln>
            <a:noFill/>
          </a:ln>
        </p:spPr>
        <p:txBody>
          <a:bodyPr spcFirstLastPara="1" wrap="square" lIns="0" tIns="0" rIns="0" bIns="0" anchor="t" anchorCtr="0">
            <a:noAutofit/>
          </a:bodyPr>
          <a:lstStyle/>
          <a:p>
            <a:pPr>
              <a:spcAft>
                <a:spcPts val="600"/>
              </a:spcAft>
              <a:buClr>
                <a:srgbClr val="000066"/>
              </a:buClr>
              <a:buSzPts val="1600"/>
            </a:pPr>
            <a:r>
              <a:rPr lang="es-ES_tradnl" sz="1600" b="1" dirty="0">
                <a:solidFill>
                  <a:schemeClr val="dk1"/>
                </a:solidFill>
                <a:latin typeface="Calibri"/>
                <a:ea typeface="Calibri"/>
                <a:cs typeface="Calibri"/>
                <a:sym typeface="Calibri"/>
              </a:rPr>
              <a:t>PARTITION FUNCTION</a:t>
            </a:r>
          </a:p>
          <a:p>
            <a:pPr marL="180975" marR="0" lvl="0" indent="-180975" algn="l" rtl="0">
              <a:spcBef>
                <a:spcPts val="0"/>
              </a:spcBef>
              <a:spcAft>
                <a:spcPts val="0"/>
              </a:spcAft>
              <a:buClr>
                <a:schemeClr val="tx1"/>
              </a:buClr>
              <a:buSzPts val="1600"/>
              <a:buFont typeface="Arial"/>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Definen el tipo de dato que se utilizará para particionar la información.</a:t>
            </a:r>
            <a:endParaRPr lang="es-ES_tradnl" sz="1600" dirty="0">
              <a:latin typeface="Calibri" panose="020F0502020204030204" pitchFamily="34" charset="0"/>
              <a:cs typeface="Calibri" panose="020F0502020204030204" pitchFamily="34" charset="0"/>
            </a:endParaRPr>
          </a:p>
          <a:p>
            <a:pPr marL="180975" marR="0" lvl="0" indent="-180975" algn="l" rtl="0">
              <a:spcBef>
                <a:spcPts val="320"/>
              </a:spcBef>
              <a:spcAft>
                <a:spcPts val="0"/>
              </a:spcAft>
              <a:buClr>
                <a:schemeClr val="tx1"/>
              </a:buClr>
              <a:buSzPts val="1600"/>
              <a:buFont typeface="Arial"/>
              <a:buNone/>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320"/>
              </a:spcBef>
              <a:spcAft>
                <a:spcPts val="0"/>
              </a:spcAft>
              <a:buClr>
                <a:schemeClr val="tx1"/>
              </a:buClr>
              <a:buSzPts val="1600"/>
              <a:buFont typeface="Arial"/>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Todos los tipos de datos, excepto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text</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ntext</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image</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xml</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timestamp</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varchar</a:t>
            </a:r>
            <a:r>
              <a:rPr lang="es-ES_tradnl" sz="1600" b="1" dirty="0">
                <a:solidFill>
                  <a:schemeClr val="dk1"/>
                </a:solidFill>
                <a:latin typeface="Calibri" panose="020F0502020204030204" pitchFamily="34" charset="0"/>
                <a:ea typeface="Calibri"/>
                <a:cs typeface="Calibri" panose="020F0502020204030204" pitchFamily="34" charset="0"/>
                <a:sym typeface="Calibri"/>
              </a:rPr>
              <a:t>(</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max</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nvarchar</a:t>
            </a:r>
            <a:r>
              <a:rPr lang="es-ES_tradnl" sz="1600" b="1" dirty="0">
                <a:solidFill>
                  <a:schemeClr val="dk1"/>
                </a:solidFill>
                <a:latin typeface="Calibri" panose="020F0502020204030204" pitchFamily="34" charset="0"/>
                <a:ea typeface="Calibri"/>
                <a:cs typeface="Calibri" panose="020F0502020204030204" pitchFamily="34" charset="0"/>
                <a:sym typeface="Calibri"/>
              </a:rPr>
              <a:t>(</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max</a:t>
            </a:r>
            <a:r>
              <a:rPr lang="es-ES_tradnl" sz="1600" b="1" dirty="0">
                <a:solidFill>
                  <a:schemeClr val="dk1"/>
                </a:solidFill>
                <a:latin typeface="Calibri" panose="020F0502020204030204" pitchFamily="34" charset="0"/>
                <a:ea typeface="Calibri"/>
                <a:cs typeface="Calibri" panose="020F0502020204030204" pitchFamily="34" charset="0"/>
                <a:sym typeface="Calibri"/>
              </a:rPr>
              <a:t>), </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varbinary</a:t>
            </a:r>
            <a:r>
              <a:rPr lang="es-ES_tradnl" sz="1600" b="1" dirty="0">
                <a:solidFill>
                  <a:schemeClr val="dk1"/>
                </a:solidFill>
                <a:latin typeface="Calibri" panose="020F0502020204030204" pitchFamily="34" charset="0"/>
                <a:ea typeface="Calibri"/>
                <a:cs typeface="Calibri" panose="020F0502020204030204" pitchFamily="34" charset="0"/>
                <a:sym typeface="Calibri"/>
              </a:rPr>
              <a:t>(</a:t>
            </a:r>
            <a:r>
              <a:rPr lang="es-ES_tradnl" sz="1600" b="1" dirty="0" err="1">
                <a:solidFill>
                  <a:schemeClr val="dk1"/>
                </a:solidFill>
                <a:latin typeface="Calibri" panose="020F0502020204030204" pitchFamily="34" charset="0"/>
                <a:ea typeface="Calibri"/>
                <a:cs typeface="Calibri" panose="020F0502020204030204" pitchFamily="34" charset="0"/>
                <a:sym typeface="Calibri"/>
              </a:rPr>
              <a:t>max</a:t>
            </a:r>
            <a:r>
              <a:rPr lang="es-ES_tradnl" sz="1600" b="1" dirty="0">
                <a:solidFill>
                  <a:schemeClr val="dk1"/>
                </a:solidFill>
                <a:latin typeface="Calibri" panose="020F0502020204030204" pitchFamily="34" charset="0"/>
                <a:ea typeface="Calibri"/>
                <a:cs typeface="Calibri" panose="020F0502020204030204" pitchFamily="34" charset="0"/>
                <a:sym typeface="Calibri"/>
              </a:rPr>
              <a:t>)</a:t>
            </a:r>
            <a:r>
              <a:rPr lang="es-ES_tradnl" sz="1600" dirty="0">
                <a:solidFill>
                  <a:schemeClr val="dk1"/>
                </a:solidFill>
                <a:latin typeface="Calibri" panose="020F0502020204030204" pitchFamily="34" charset="0"/>
                <a:ea typeface="Calibri"/>
                <a:cs typeface="Calibri" panose="020F0502020204030204" pitchFamily="34" charset="0"/>
                <a:sym typeface="Calibri"/>
              </a:rPr>
              <a:t>, son aceptables para particionar.</a:t>
            </a:r>
            <a:endParaRPr lang="es-ES_tradnl" sz="1600" dirty="0">
              <a:latin typeface="Calibri" panose="020F0502020204030204" pitchFamily="34" charset="0"/>
              <a:cs typeface="Calibri" panose="020F0502020204030204" pitchFamily="34" charset="0"/>
            </a:endParaRPr>
          </a:p>
          <a:p>
            <a:pPr marL="180975" marR="0" lvl="0" indent="-180975" algn="l" rtl="0">
              <a:spcBef>
                <a:spcPts val="320"/>
              </a:spcBef>
              <a:spcAft>
                <a:spcPts val="0"/>
              </a:spcAft>
              <a:buClr>
                <a:schemeClr val="tx1"/>
              </a:buClr>
              <a:buSzPts val="1600"/>
              <a:buFont typeface="Arial"/>
              <a:buNone/>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320"/>
              </a:spcBef>
              <a:spcAft>
                <a:spcPts val="0"/>
              </a:spcAft>
              <a:buClr>
                <a:schemeClr val="tx1"/>
              </a:buClr>
              <a:buSzPts val="1600"/>
              <a:buFont typeface="Arial"/>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Contiene el valor de las fronteras que se utilizarán en la partición.</a:t>
            </a:r>
            <a:endParaRPr lang="es-ES_tradnl" sz="1600" dirty="0">
              <a:latin typeface="Calibri" panose="020F0502020204030204" pitchFamily="34" charset="0"/>
              <a:cs typeface="Calibri" panose="020F0502020204030204" pitchFamily="34" charset="0"/>
            </a:endParaRPr>
          </a:p>
          <a:p>
            <a:pPr marL="180975" marR="0" lvl="0" indent="-180975" algn="l" rtl="0">
              <a:spcBef>
                <a:spcPts val="320"/>
              </a:spcBef>
              <a:spcAft>
                <a:spcPts val="0"/>
              </a:spcAft>
              <a:buClr>
                <a:schemeClr val="tx1"/>
              </a:buClr>
              <a:buSzPts val="1600"/>
              <a:buFont typeface="Arial"/>
              <a:buNone/>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320"/>
              </a:spcBef>
              <a:spcAft>
                <a:spcPts val="0"/>
              </a:spcAft>
              <a:buClr>
                <a:schemeClr val="tx1"/>
              </a:buClr>
              <a:buSzPts val="1600"/>
              <a:buFont typeface="Arial"/>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El número de particiones </a:t>
            </a:r>
            <a:r>
              <a:rPr lang="es-ES_tradnl" sz="1600" dirty="0">
                <a:solidFill>
                  <a:schemeClr val="dk1"/>
                </a:solidFill>
                <a:latin typeface="Calibri"/>
                <a:ea typeface="Calibri"/>
                <a:cs typeface="Calibri"/>
                <a:sym typeface="Calibri"/>
              </a:rPr>
              <a:t>es igual al número de las fronteras más 1.</a:t>
            </a:r>
          </a:p>
        </p:txBody>
      </p:sp>
      <p:sp>
        <p:nvSpPr>
          <p:cNvPr id="2" name="Rectangle 5">
            <a:extLst>
              <a:ext uri="{FF2B5EF4-FFF2-40B4-BE49-F238E27FC236}">
                <a16:creationId xmlns:a16="http://schemas.microsoft.com/office/drawing/2014/main" id="{6B7E2558-699B-43ED-EB52-21CAF099CCF0}"/>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8" name="Google Shape;758;p18"/>
          <p:cNvSpPr txBox="1"/>
          <p:nvPr/>
        </p:nvSpPr>
        <p:spPr>
          <a:xfrm>
            <a:off x="858169" y="1320208"/>
            <a:ext cx="7545983" cy="3366305"/>
          </a:xfrm>
          <a:prstGeom prst="rect">
            <a:avLst/>
          </a:prstGeom>
          <a:noFill/>
          <a:ln>
            <a:noFill/>
          </a:ln>
        </p:spPr>
        <p:txBody>
          <a:bodyPr spcFirstLastPara="1" wrap="square" lIns="0" tIns="0" rIns="0" bIns="0" anchor="t" anchorCtr="0">
            <a:noAutofit/>
          </a:bodyPr>
          <a:lstStyle/>
          <a:p>
            <a:pPr marR="0" lvl="0" algn="l" rtl="0">
              <a:lnSpc>
                <a:spcPct val="80000"/>
              </a:lnSpc>
              <a:spcBef>
                <a:spcPts val="0"/>
              </a:spcBef>
              <a:spcAft>
                <a:spcPts val="0"/>
              </a:spcAft>
              <a:buClr>
                <a:srgbClr val="000066"/>
              </a:buClr>
              <a:buSzPts val="1600"/>
            </a:pPr>
            <a:r>
              <a:rPr lang="en-US" sz="1600" b="1" dirty="0" err="1">
                <a:solidFill>
                  <a:schemeClr val="dk1"/>
                </a:solidFill>
                <a:latin typeface="Calibri" panose="020F0502020204030204" pitchFamily="34" charset="0"/>
                <a:ea typeface="Calibri"/>
                <a:cs typeface="Calibri" panose="020F0502020204030204" pitchFamily="34" charset="0"/>
                <a:sym typeface="Calibri"/>
              </a:rPr>
              <a:t>Sintaxis</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CREATE PARTITION FUNCTION &lt;</a:t>
            </a:r>
            <a:r>
              <a:rPr lang="en-US" sz="1600" dirty="0" err="1">
                <a:solidFill>
                  <a:schemeClr val="dk1"/>
                </a:solidFill>
                <a:latin typeface="Calibri" panose="020F0502020204030204" pitchFamily="34" charset="0"/>
                <a:ea typeface="Calibri"/>
                <a:cs typeface="Calibri" panose="020F0502020204030204" pitchFamily="34" charset="0"/>
                <a:sym typeface="Calibri"/>
              </a:rPr>
              <a:t>Nombre</a:t>
            </a:r>
            <a:r>
              <a:rPr lang="en-US" sz="1600" dirty="0">
                <a:solidFill>
                  <a:schemeClr val="dk1"/>
                </a:solidFill>
                <a:latin typeface="Calibri" panose="020F0502020204030204" pitchFamily="34" charset="0"/>
                <a:ea typeface="Calibri"/>
                <a:cs typeface="Calibri" panose="020F0502020204030204" pitchFamily="34" charset="0"/>
                <a:sym typeface="Calibri"/>
              </a:rPr>
              <a:t>&gt; (</a:t>
            </a:r>
            <a:r>
              <a:rPr lang="en-US" sz="1600" dirty="0" err="1">
                <a:solidFill>
                  <a:schemeClr val="dk1"/>
                </a:solidFill>
                <a:latin typeface="Calibri" panose="020F0502020204030204" pitchFamily="34" charset="0"/>
                <a:ea typeface="Calibri"/>
                <a:cs typeface="Calibri" panose="020F0502020204030204" pitchFamily="34" charset="0"/>
                <a:sym typeface="Calibri"/>
              </a:rPr>
              <a:t>tipo</a:t>
            </a:r>
            <a:r>
              <a:rPr lang="en-US" sz="1600" dirty="0">
                <a:solidFill>
                  <a:schemeClr val="dk1"/>
                </a:solidFill>
                <a:latin typeface="Calibri" panose="020F0502020204030204" pitchFamily="34" charset="0"/>
                <a:ea typeface="Calibri"/>
                <a:cs typeface="Calibri" panose="020F0502020204030204" pitchFamily="34" charset="0"/>
                <a:sym typeface="Calibri"/>
              </a:rPr>
              <a:t> de </a:t>
            </a:r>
            <a:r>
              <a:rPr lang="en-US" sz="1600" dirty="0" err="1">
                <a:solidFill>
                  <a:schemeClr val="dk1"/>
                </a:solidFill>
                <a:latin typeface="Calibri" panose="020F0502020204030204" pitchFamily="34" charset="0"/>
                <a:ea typeface="Calibri"/>
                <a:cs typeface="Calibri" panose="020F0502020204030204" pitchFamily="34" charset="0"/>
                <a:sym typeface="Calibri"/>
              </a:rPr>
              <a:t>dato</a:t>
            </a:r>
            <a:r>
              <a:rPr lang="en-US" sz="1600" dirty="0">
                <a:solidFill>
                  <a:schemeClr val="dk1"/>
                </a:solidFill>
                <a:latin typeface="Calibri" panose="020F0502020204030204" pitchFamily="34" charset="0"/>
                <a:ea typeface="Calibri"/>
                <a:cs typeface="Calibri" panose="020F0502020204030204" pitchFamily="34" charset="0"/>
                <a:sym typeface="Calibri"/>
              </a:rPr>
              <a:t>)</a:t>
            </a:r>
            <a:endParaRPr sz="1600" dirty="0">
              <a:latin typeface="Calibri" panose="020F0502020204030204" pitchFamily="34" charset="0"/>
              <a:cs typeface="Calibri" panose="020F0502020204030204" pitchFamily="34" charset="0"/>
            </a:endParaRPr>
          </a:p>
          <a:p>
            <a:pPr marR="0" lvl="0" algn="l" rtl="0">
              <a:lnSpc>
                <a:spcPct val="80000"/>
              </a:lnSpc>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AS RANGE [ LEFT | RIGHT ]</a:t>
            </a:r>
            <a:endParaRPr sz="1600" dirty="0">
              <a:latin typeface="Calibri" panose="020F0502020204030204" pitchFamily="34" charset="0"/>
              <a:cs typeface="Calibri" panose="020F0502020204030204" pitchFamily="34" charset="0"/>
            </a:endParaRPr>
          </a:p>
          <a:p>
            <a:pPr marR="0" lvl="0" algn="l" rtl="0">
              <a:lnSpc>
                <a:spcPct val="80000"/>
              </a:lnSpc>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FOR VALUES ( &lt;</a:t>
            </a:r>
            <a:r>
              <a:rPr lang="en-US" sz="1600" dirty="0" err="1">
                <a:solidFill>
                  <a:schemeClr val="dk1"/>
                </a:solidFill>
                <a:latin typeface="Calibri" panose="020F0502020204030204" pitchFamily="34" charset="0"/>
                <a:ea typeface="Calibri"/>
                <a:cs typeface="Calibri" panose="020F0502020204030204" pitchFamily="34" charset="0"/>
                <a:sym typeface="Calibri"/>
              </a:rPr>
              <a:t>lista</a:t>
            </a:r>
            <a:r>
              <a:rPr lang="en-US" sz="1600" dirty="0">
                <a:solidFill>
                  <a:schemeClr val="dk1"/>
                </a:solidFill>
                <a:latin typeface="Calibri" panose="020F0502020204030204" pitchFamily="34" charset="0"/>
                <a:ea typeface="Calibri"/>
                <a:cs typeface="Calibri" panose="020F0502020204030204" pitchFamily="34" charset="0"/>
                <a:sym typeface="Calibri"/>
              </a:rPr>
              <a:t> de </a:t>
            </a:r>
            <a:r>
              <a:rPr lang="en-US" sz="1600" dirty="0" err="1">
                <a:solidFill>
                  <a:schemeClr val="dk1"/>
                </a:solidFill>
                <a:latin typeface="Calibri" panose="020F0502020204030204" pitchFamily="34" charset="0"/>
                <a:ea typeface="Calibri"/>
                <a:cs typeface="Calibri" panose="020F0502020204030204" pitchFamily="34" charset="0"/>
                <a:sym typeface="Calibri"/>
              </a:rPr>
              <a:t>valores</a:t>
            </a:r>
            <a:r>
              <a:rPr lang="en-US" sz="1600" dirty="0">
                <a:solidFill>
                  <a:schemeClr val="dk1"/>
                </a:solidFill>
                <a:latin typeface="Calibri" panose="020F0502020204030204" pitchFamily="34" charset="0"/>
                <a:ea typeface="Calibri"/>
                <a:cs typeface="Calibri" panose="020F0502020204030204" pitchFamily="34" charset="0"/>
                <a:sym typeface="Calibri"/>
              </a:rPr>
              <a:t>&gt;)</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r>
              <a:rPr lang="en-US" sz="1600" b="1" dirty="0" err="1">
                <a:solidFill>
                  <a:schemeClr val="dk1"/>
                </a:solidFill>
                <a:latin typeface="Calibri" panose="020F0502020204030204" pitchFamily="34" charset="0"/>
                <a:ea typeface="Calibri"/>
                <a:cs typeface="Calibri" panose="020F0502020204030204" pitchFamily="34" charset="0"/>
                <a:sym typeface="Calibri"/>
              </a:rPr>
              <a:t>Ejemplo</a:t>
            </a:r>
            <a:endParaRPr sz="1600" dirty="0">
              <a:latin typeface="Calibri" panose="020F0502020204030204" pitchFamily="34" charset="0"/>
              <a:cs typeface="Calibri" panose="020F0502020204030204" pitchFamily="34" charset="0"/>
            </a:endParaRPr>
          </a:p>
          <a:p>
            <a:pPr marR="0" lvl="0" algn="l" rtl="0">
              <a:lnSpc>
                <a:spcPct val="80000"/>
              </a:lnSpc>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CREATE PARTITION FUNCTION </a:t>
            </a:r>
            <a:r>
              <a:rPr lang="en-US" sz="1600" dirty="0" err="1">
                <a:solidFill>
                  <a:schemeClr val="dk1"/>
                </a:solidFill>
                <a:latin typeface="Calibri" panose="020F0502020204030204" pitchFamily="34" charset="0"/>
                <a:ea typeface="Calibri"/>
                <a:cs typeface="Calibri" panose="020F0502020204030204" pitchFamily="34" charset="0"/>
                <a:sym typeface="Calibri"/>
              </a:rPr>
              <a:t>pf_FechaDocumento</a:t>
            </a:r>
            <a:r>
              <a:rPr lang="en-US" sz="1600" dirty="0">
                <a:solidFill>
                  <a:schemeClr val="dk1"/>
                </a:solidFill>
                <a:latin typeface="Calibri" panose="020F0502020204030204" pitchFamily="34" charset="0"/>
                <a:ea typeface="Calibri"/>
                <a:cs typeface="Calibri" panose="020F0502020204030204" pitchFamily="34" charset="0"/>
                <a:sym typeface="Calibri"/>
              </a:rPr>
              <a:t> (datetime)</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AS RANGE LEFT</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FOR VALUES ('01/01/2002','01/01/2004','01/01/2006')</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lnSpc>
                <a:spcPct val="80000"/>
              </a:lnSpc>
              <a:spcBef>
                <a:spcPts val="320"/>
              </a:spcBef>
              <a:spcAft>
                <a:spcPts val="0"/>
              </a:spcAft>
              <a:buClr>
                <a:srgbClr val="000066"/>
              </a:buClr>
              <a:buSzPts val="1600"/>
            </a:pPr>
            <a:r>
              <a:rPr lang="en-US" sz="1600" b="1" dirty="0">
                <a:solidFill>
                  <a:schemeClr val="dk1"/>
                </a:solidFill>
                <a:latin typeface="Calibri" panose="020F0502020204030204" pitchFamily="34" charset="0"/>
                <a:ea typeface="Calibri"/>
                <a:cs typeface="Calibri" panose="020F0502020204030204" pitchFamily="34" charset="0"/>
                <a:sym typeface="Calibri"/>
              </a:rPr>
              <a:t>Fronteras.</a:t>
            </a:r>
            <a:endParaRPr sz="1600" dirty="0">
              <a:latin typeface="Calibri" panose="020F0502020204030204" pitchFamily="34" charset="0"/>
              <a:cs typeface="Calibri" panose="020F0502020204030204" pitchFamily="34" charset="0"/>
            </a:endParaRPr>
          </a:p>
          <a:p>
            <a:pPr marL="180975" marR="0" lvl="1" indent="-174625" algn="l" rtl="0">
              <a:lnSpc>
                <a:spcPct val="80000"/>
              </a:lnSpc>
              <a:spcBef>
                <a:spcPts val="320"/>
              </a:spcBef>
              <a:spcAft>
                <a:spcPts val="0"/>
              </a:spcAft>
              <a:buClr>
                <a:schemeClr val="tx1"/>
              </a:buClr>
              <a:buSzPts val="1600"/>
              <a:buFont typeface="Arial" panose="020B0604020202020204" pitchFamily="34" charset="0"/>
              <a:buChar char="•"/>
            </a:pP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Fechas</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menores</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a 01/01/2002 </a:t>
            </a: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incluido</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el</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01/01/2002</a:t>
            </a:r>
            <a:endParaRPr sz="1600" dirty="0">
              <a:latin typeface="Calibri" panose="020F0502020204030204" pitchFamily="34" charset="0"/>
              <a:cs typeface="Calibri" panose="020F0502020204030204" pitchFamily="34" charset="0"/>
            </a:endParaRPr>
          </a:p>
          <a:p>
            <a:pPr marL="180975" marR="0" lvl="1" indent="-174625" algn="l" rtl="0">
              <a:lnSpc>
                <a:spcPct val="80000"/>
              </a:lnSpc>
              <a:spcBef>
                <a:spcPts val="320"/>
              </a:spcBef>
              <a:spcAft>
                <a:spcPts val="0"/>
              </a:spcAft>
              <a:buClr>
                <a:schemeClr val="tx1"/>
              </a:buClr>
              <a:buSzPts val="1600"/>
              <a:buFont typeface="Arial" panose="020B0604020202020204" pitchFamily="34" charset="0"/>
              <a:buChar char="•"/>
            </a:pP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Fechas</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entre 01/01/2002 y 01/01/2004 </a:t>
            </a: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incluido</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01/01/2004</a:t>
            </a:r>
            <a:endParaRPr sz="1600" dirty="0">
              <a:latin typeface="Calibri" panose="020F0502020204030204" pitchFamily="34" charset="0"/>
              <a:cs typeface="Calibri" panose="020F0502020204030204" pitchFamily="34" charset="0"/>
            </a:endParaRPr>
          </a:p>
          <a:p>
            <a:pPr marL="180975" marR="0" lvl="1" indent="-174625" algn="l" rtl="0">
              <a:lnSpc>
                <a:spcPct val="80000"/>
              </a:lnSpc>
              <a:spcBef>
                <a:spcPts val="320"/>
              </a:spcBef>
              <a:spcAft>
                <a:spcPts val="0"/>
              </a:spcAft>
              <a:buClr>
                <a:schemeClr val="tx1"/>
              </a:buClr>
              <a:buSzPts val="1600"/>
              <a:buFont typeface="Arial" panose="020B0604020202020204" pitchFamily="34" charset="0"/>
              <a:buChar char="•"/>
            </a:pP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Fechas</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entre 01/01/2004 y 01/01/2006 </a:t>
            </a: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incluido</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01/01/2006</a:t>
            </a:r>
            <a:endParaRPr sz="1600" dirty="0">
              <a:latin typeface="Calibri" panose="020F0502020204030204" pitchFamily="34" charset="0"/>
              <a:cs typeface="Calibri" panose="020F0502020204030204" pitchFamily="34" charset="0"/>
            </a:endParaRPr>
          </a:p>
          <a:p>
            <a:pPr marL="180975" marR="0" lvl="1" indent="-174625" algn="l" rtl="0">
              <a:lnSpc>
                <a:spcPct val="80000"/>
              </a:lnSpc>
              <a:spcBef>
                <a:spcPts val="320"/>
              </a:spcBef>
              <a:spcAft>
                <a:spcPts val="0"/>
              </a:spcAft>
              <a:buClr>
                <a:schemeClr val="tx1"/>
              </a:buClr>
              <a:buSzPts val="1600"/>
              <a:buFont typeface="Arial" panose="020B0604020202020204" pitchFamily="34" charset="0"/>
              <a:buChar char="•"/>
            </a:pP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Fechas</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n-US" sz="16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Superiores</a:t>
            </a:r>
            <a:r>
              <a:rPr lang="en-US" sz="1600" b="0" i="0" u="none" strike="noStrike" cap="none" dirty="0">
                <a:solidFill>
                  <a:schemeClr val="dk1"/>
                </a:solidFill>
                <a:latin typeface="Calibri" panose="020F0502020204030204" pitchFamily="34" charset="0"/>
                <a:ea typeface="Calibri"/>
                <a:cs typeface="Calibri" panose="020F0502020204030204" pitchFamily="34" charset="0"/>
                <a:sym typeface="Calibri"/>
              </a:rPr>
              <a:t> al 01/01/2006</a:t>
            </a:r>
            <a:endParaRPr sz="1600" dirty="0">
              <a:latin typeface="Calibri" panose="020F0502020204030204" pitchFamily="34" charset="0"/>
              <a:cs typeface="Calibri" panose="020F0502020204030204" pitchFamily="34" charset="0"/>
            </a:endParaRPr>
          </a:p>
        </p:txBody>
      </p:sp>
      <p:sp>
        <p:nvSpPr>
          <p:cNvPr id="759" name="Google Shape;759;p18"/>
          <p:cNvSpPr txBox="1"/>
          <p:nvPr/>
        </p:nvSpPr>
        <p:spPr>
          <a:xfrm>
            <a:off x="503238" y="912813"/>
            <a:ext cx="313842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SINTAXIS DE PARTITION FUNCTION</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6D13CADA-FA61-1819-FE77-AEF2BCF6269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cxnSp>
        <p:nvCxnSpPr>
          <p:cNvPr id="3" name="Conector recto 2">
            <a:extLst>
              <a:ext uri="{FF2B5EF4-FFF2-40B4-BE49-F238E27FC236}">
                <a16:creationId xmlns:a16="http://schemas.microsoft.com/office/drawing/2014/main" id="{AC3907BD-DB29-1CC6-C06C-DC01E65D1B54}"/>
              </a:ext>
            </a:extLst>
          </p:cNvPr>
          <p:cNvCxnSpPr>
            <a:cxnSpLocks/>
          </p:cNvCxnSpPr>
          <p:nvPr/>
        </p:nvCxnSpPr>
        <p:spPr>
          <a:xfrm>
            <a:off x="684213" y="1509415"/>
            <a:ext cx="0" cy="922739"/>
          </a:xfrm>
          <a:prstGeom prst="line">
            <a:avLst/>
          </a:prstGeom>
          <a:ln>
            <a:solidFill>
              <a:srgbClr val="714EA0"/>
            </a:solidFill>
          </a:ln>
        </p:spPr>
        <p:style>
          <a:lnRef idx="1">
            <a:schemeClr val="accent1"/>
          </a:lnRef>
          <a:fillRef idx="0">
            <a:schemeClr val="accent1"/>
          </a:fillRef>
          <a:effectRef idx="0">
            <a:schemeClr val="accent1"/>
          </a:effectRef>
          <a:fontRef idx="minor">
            <a:schemeClr val="tx1"/>
          </a:fontRef>
        </p:style>
      </p:cxnSp>
      <p:sp>
        <p:nvSpPr>
          <p:cNvPr id="4" name="Más 3">
            <a:extLst>
              <a:ext uri="{FF2B5EF4-FFF2-40B4-BE49-F238E27FC236}">
                <a16:creationId xmlns:a16="http://schemas.microsoft.com/office/drawing/2014/main" id="{9B49CEAD-772C-3E0B-3F53-BA2D93B10154}"/>
              </a:ext>
            </a:extLst>
          </p:cNvPr>
          <p:cNvSpPr/>
          <p:nvPr/>
        </p:nvSpPr>
        <p:spPr>
          <a:xfrm>
            <a:off x="607871" y="1320208"/>
            <a:ext cx="152683" cy="152683"/>
          </a:xfrm>
          <a:prstGeom prst="mathPlus">
            <a:avLst>
              <a:gd name="adj1" fmla="val 15202"/>
            </a:avLst>
          </a:prstGeom>
          <a:solidFill>
            <a:srgbClr val="714E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 name="Más 5">
            <a:extLst>
              <a:ext uri="{FF2B5EF4-FFF2-40B4-BE49-F238E27FC236}">
                <a16:creationId xmlns:a16="http://schemas.microsoft.com/office/drawing/2014/main" id="{ACEAD402-BB5E-50C9-1647-99B37618C2FB}"/>
              </a:ext>
            </a:extLst>
          </p:cNvPr>
          <p:cNvSpPr/>
          <p:nvPr/>
        </p:nvSpPr>
        <p:spPr>
          <a:xfrm>
            <a:off x="607871" y="2493188"/>
            <a:ext cx="152683" cy="152683"/>
          </a:xfrm>
          <a:prstGeom prst="mathPlus">
            <a:avLst>
              <a:gd name="adj1" fmla="val 15202"/>
            </a:avLst>
          </a:prstGeom>
          <a:solidFill>
            <a:srgbClr val="714E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Más 7">
            <a:extLst>
              <a:ext uri="{FF2B5EF4-FFF2-40B4-BE49-F238E27FC236}">
                <a16:creationId xmlns:a16="http://schemas.microsoft.com/office/drawing/2014/main" id="{4309CC69-4CD8-D636-1F6C-6EA5E6BC6E68}"/>
              </a:ext>
            </a:extLst>
          </p:cNvPr>
          <p:cNvSpPr/>
          <p:nvPr/>
        </p:nvSpPr>
        <p:spPr>
          <a:xfrm>
            <a:off x="607871" y="3654926"/>
            <a:ext cx="152683" cy="152683"/>
          </a:xfrm>
          <a:prstGeom prst="mathPlus">
            <a:avLst>
              <a:gd name="adj1" fmla="val 15202"/>
            </a:avLst>
          </a:prstGeom>
          <a:solidFill>
            <a:srgbClr val="714E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9" name="Conector recto 8">
            <a:extLst>
              <a:ext uri="{FF2B5EF4-FFF2-40B4-BE49-F238E27FC236}">
                <a16:creationId xmlns:a16="http://schemas.microsoft.com/office/drawing/2014/main" id="{2249AE77-8CB0-91B8-6AD7-F9886D796437}"/>
              </a:ext>
            </a:extLst>
          </p:cNvPr>
          <p:cNvCxnSpPr>
            <a:cxnSpLocks/>
          </p:cNvCxnSpPr>
          <p:nvPr/>
        </p:nvCxnSpPr>
        <p:spPr>
          <a:xfrm>
            <a:off x="684213" y="2697386"/>
            <a:ext cx="0" cy="922739"/>
          </a:xfrm>
          <a:prstGeom prst="line">
            <a:avLst/>
          </a:prstGeom>
          <a:ln>
            <a:solidFill>
              <a:srgbClr val="714E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6" name="Google Shape;766;p19"/>
          <p:cNvSpPr txBox="1"/>
          <p:nvPr/>
        </p:nvSpPr>
        <p:spPr>
          <a:xfrm>
            <a:off x="503238" y="912813"/>
            <a:ext cx="7932102" cy="2428239"/>
          </a:xfrm>
          <a:prstGeom prst="rect">
            <a:avLst/>
          </a:prstGeom>
          <a:noFill/>
          <a:ln>
            <a:noFill/>
          </a:ln>
        </p:spPr>
        <p:txBody>
          <a:bodyPr spcFirstLastPara="1" wrap="square" lIns="0" tIns="0" rIns="0" bIns="0" anchor="t" anchorCtr="0">
            <a:noAutofit/>
          </a:bodyPr>
          <a:lstStyle/>
          <a:p>
            <a:pPr>
              <a:spcAft>
                <a:spcPts val="600"/>
              </a:spcAft>
              <a:buClr>
                <a:schemeClr val="tx1"/>
              </a:buClr>
              <a:buSzPts val="1600"/>
            </a:pPr>
            <a:r>
              <a:rPr lang="es-ES_tradnl" sz="1600" b="1" dirty="0">
                <a:solidFill>
                  <a:schemeClr val="dk1"/>
                </a:solidFill>
                <a:latin typeface="Calibri" panose="020F0502020204030204" pitchFamily="34" charset="0"/>
                <a:ea typeface="Calibri"/>
                <a:cs typeface="Calibri" panose="020F0502020204030204" pitchFamily="34" charset="0"/>
                <a:sym typeface="Calibri"/>
              </a:rPr>
              <a:t>PARTITION SCHEME</a:t>
            </a:r>
          </a:p>
          <a:p>
            <a:pPr marL="180975" marR="0" lvl="0" indent="-180975" rtl="0">
              <a:spcBef>
                <a:spcPts val="0"/>
              </a:spcBef>
              <a:spcAft>
                <a:spcPts val="0"/>
              </a:spcAft>
              <a:buClr>
                <a:schemeClr val="tx1"/>
              </a:buClr>
              <a:buSzPts val="1600"/>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Mapea las particiones definidas en la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Partition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Function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a los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filegroups</a:t>
            </a:r>
            <a:r>
              <a:rPr lang="es-ES_tradnl" sz="1600" dirty="0">
                <a:solidFill>
                  <a:schemeClr val="dk1"/>
                </a:solidFill>
                <a:latin typeface="Calibri" panose="020F0502020204030204" pitchFamily="34" charset="0"/>
                <a:ea typeface="Calibri"/>
                <a:cs typeface="Calibri" panose="020F0502020204030204" pitchFamily="34" charset="0"/>
                <a:sym typeface="Calibri"/>
              </a:rPr>
              <a:t> donde la información será almacenada físicamente.</a:t>
            </a:r>
            <a:endParaRPr lang="es-ES_tradnl" sz="1600" dirty="0">
              <a:latin typeface="Calibri" panose="020F0502020204030204" pitchFamily="34" charset="0"/>
              <a:cs typeface="Calibri" panose="020F0502020204030204" pitchFamily="34" charset="0"/>
            </a:endParaRPr>
          </a:p>
          <a:p>
            <a:pPr marL="180975" marR="0" lvl="0" indent="-180975" rtl="0">
              <a:spcBef>
                <a:spcPts val="320"/>
              </a:spcBef>
              <a:spcAft>
                <a:spcPts val="0"/>
              </a:spcAft>
              <a:buClr>
                <a:schemeClr val="tx1"/>
              </a:buClr>
              <a:buSzPts val="1600"/>
              <a:buFont typeface="Arial" panose="020B0604020202020204" pitchFamily="34" charset="0"/>
              <a:buChar char="•"/>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rtl="0">
              <a:spcBef>
                <a:spcPts val="320"/>
              </a:spcBef>
              <a:spcAft>
                <a:spcPts val="0"/>
              </a:spcAft>
              <a:buClr>
                <a:schemeClr val="tx1"/>
              </a:buClr>
              <a:buSzPts val="1600"/>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En necesario que exista una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Partition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Function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definida.</a:t>
            </a:r>
            <a:endParaRPr lang="es-ES_tradnl" sz="1600" dirty="0">
              <a:latin typeface="Calibri" panose="020F0502020204030204" pitchFamily="34" charset="0"/>
              <a:cs typeface="Calibri" panose="020F0502020204030204" pitchFamily="34" charset="0"/>
            </a:endParaRPr>
          </a:p>
          <a:p>
            <a:pPr marL="180975" marR="0" lvl="0" indent="-180975" rtl="0">
              <a:spcBef>
                <a:spcPts val="320"/>
              </a:spcBef>
              <a:spcAft>
                <a:spcPts val="0"/>
              </a:spcAft>
              <a:buClr>
                <a:schemeClr val="tx1"/>
              </a:buClr>
              <a:buSzPts val="1600"/>
              <a:buFont typeface="Arial" panose="020B0604020202020204" pitchFamily="34" charset="0"/>
              <a:buChar char="•"/>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rtl="0">
              <a:spcBef>
                <a:spcPts val="320"/>
              </a:spcBef>
              <a:spcAft>
                <a:spcPts val="0"/>
              </a:spcAft>
              <a:buClr>
                <a:schemeClr val="tx1"/>
              </a:buClr>
              <a:buSzPts val="1600"/>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Es necesario que existan los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filesgroups</a:t>
            </a:r>
            <a:r>
              <a:rPr lang="es-ES_tradnl" sz="1600" dirty="0">
                <a:solidFill>
                  <a:schemeClr val="dk1"/>
                </a:solidFill>
                <a:latin typeface="Calibri" panose="020F0502020204030204" pitchFamily="34" charset="0"/>
                <a:ea typeface="Calibri"/>
                <a:cs typeface="Calibri" panose="020F0502020204030204" pitchFamily="34" charset="0"/>
                <a:sym typeface="Calibri"/>
              </a:rPr>
              <a:t> que se utilizarán en la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Partition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Scheme</a:t>
            </a:r>
            <a:r>
              <a:rPr lang="es-ES_tradnl" sz="1600" dirty="0">
                <a:solidFill>
                  <a:schemeClr val="dk1"/>
                </a:solidFill>
                <a:latin typeface="Calibri" panose="020F0502020204030204" pitchFamily="34" charset="0"/>
                <a:ea typeface="Calibri"/>
                <a:cs typeface="Calibri" panose="020F0502020204030204" pitchFamily="34" charset="0"/>
                <a:sym typeface="Calibri"/>
              </a:rPr>
              <a:t>.</a:t>
            </a:r>
            <a:endParaRPr lang="es-ES_tradnl" sz="1600" dirty="0">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FEE9FEA8-A0FD-3D13-F529-CF7834D4186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4" name="Google Shape;774;p20"/>
          <p:cNvSpPr txBox="1"/>
          <p:nvPr/>
        </p:nvSpPr>
        <p:spPr>
          <a:xfrm>
            <a:off x="914989" y="1291676"/>
            <a:ext cx="5030470" cy="2992119"/>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rgbClr val="000066"/>
              </a:buClr>
              <a:buSzPts val="1600"/>
            </a:pPr>
            <a:r>
              <a:rPr lang="en-US" sz="1600" b="1" dirty="0" err="1">
                <a:solidFill>
                  <a:schemeClr val="dk1"/>
                </a:solidFill>
                <a:latin typeface="Calibri" panose="020F0502020204030204" pitchFamily="34" charset="0"/>
                <a:ea typeface="Calibri"/>
                <a:cs typeface="Calibri" panose="020F0502020204030204" pitchFamily="34" charset="0"/>
                <a:sym typeface="Calibri"/>
              </a:rPr>
              <a:t>Sintaxis</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CREATE PARTITION SCHEME &lt;</a:t>
            </a:r>
            <a:r>
              <a:rPr lang="en-US" sz="1600" dirty="0" err="1">
                <a:solidFill>
                  <a:schemeClr val="dk1"/>
                </a:solidFill>
                <a:latin typeface="Calibri" panose="020F0502020204030204" pitchFamily="34" charset="0"/>
                <a:ea typeface="Calibri"/>
                <a:cs typeface="Calibri" panose="020F0502020204030204" pitchFamily="34" charset="0"/>
                <a:sym typeface="Calibri"/>
              </a:rPr>
              <a:t>Nombre</a:t>
            </a:r>
            <a:r>
              <a:rPr lang="en-US" sz="1600" dirty="0">
                <a:solidFill>
                  <a:schemeClr val="dk1"/>
                </a:solidFill>
                <a:latin typeface="Calibri" panose="020F0502020204030204" pitchFamily="34" charset="0"/>
                <a:ea typeface="Calibri"/>
                <a:cs typeface="Calibri" panose="020F0502020204030204" pitchFamily="34" charset="0"/>
                <a:sym typeface="Calibri"/>
              </a:rPr>
              <a:t>&gt;</a:t>
            </a:r>
            <a:endParaRPr sz="1600" dirty="0">
              <a:latin typeface="Calibri" panose="020F0502020204030204" pitchFamily="34" charset="0"/>
              <a:cs typeface="Calibri" panose="020F0502020204030204" pitchFamily="34" charset="0"/>
            </a:endParaRPr>
          </a:p>
          <a:p>
            <a:pPr marR="0" lvl="0" algn="l" rtl="0">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AS PARTITION &lt;partition function&gt;</a:t>
            </a:r>
            <a:endParaRPr sz="1600" dirty="0">
              <a:latin typeface="Calibri" panose="020F0502020204030204" pitchFamily="34" charset="0"/>
              <a:cs typeface="Calibri" panose="020F0502020204030204" pitchFamily="34" charset="0"/>
            </a:endParaRPr>
          </a:p>
          <a:p>
            <a:pPr marR="0" lvl="0" algn="l" rtl="0">
              <a:spcBef>
                <a:spcPts val="320"/>
              </a:spcBef>
              <a:spcAft>
                <a:spcPts val="0"/>
              </a:spcAft>
              <a:buClr>
                <a:srgbClr val="000066"/>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[TO ( &lt;</a:t>
            </a:r>
            <a:r>
              <a:rPr lang="en-US" sz="1600" dirty="0" err="1">
                <a:solidFill>
                  <a:schemeClr val="dk1"/>
                </a:solidFill>
                <a:latin typeface="Calibri" panose="020F0502020204030204" pitchFamily="34" charset="0"/>
                <a:ea typeface="Calibri"/>
                <a:cs typeface="Calibri" panose="020F0502020204030204" pitchFamily="34" charset="0"/>
                <a:sym typeface="Calibri"/>
              </a:rPr>
              <a:t>lista</a:t>
            </a:r>
            <a:r>
              <a:rPr lang="en-US" sz="1600" dirty="0">
                <a:solidFill>
                  <a:schemeClr val="dk1"/>
                </a:solidFill>
                <a:latin typeface="Calibri" panose="020F0502020204030204" pitchFamily="34" charset="0"/>
                <a:ea typeface="Calibri"/>
                <a:cs typeface="Calibri" panose="020F0502020204030204" pitchFamily="34" charset="0"/>
                <a:sym typeface="Calibri"/>
              </a:rPr>
              <a:t> de filegroups&gt;) | ALL TO (filegroup)</a:t>
            </a: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0066"/>
              </a:buClr>
              <a:buSzPts val="1600"/>
            </a:pPr>
            <a:endParaRPr sz="1600" dirty="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0066"/>
              </a:buClr>
              <a:buSzPts val="1600"/>
            </a:pPr>
            <a:r>
              <a:rPr lang="en-US" sz="1600" b="1" dirty="0" err="1">
                <a:solidFill>
                  <a:schemeClr val="dk1"/>
                </a:solidFill>
                <a:latin typeface="Calibri" panose="020F0502020204030204" pitchFamily="34" charset="0"/>
                <a:ea typeface="Calibri"/>
                <a:cs typeface="Calibri" panose="020F0502020204030204" pitchFamily="34" charset="0"/>
                <a:sym typeface="Calibri"/>
              </a:rPr>
              <a:t>Ejemplo</a:t>
            </a:r>
            <a:endParaRPr sz="1600" dirty="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CREATE PARTITION SCHEME </a:t>
            </a:r>
            <a:r>
              <a:rPr lang="en-US" sz="1600" dirty="0" err="1">
                <a:solidFill>
                  <a:schemeClr val="dk1"/>
                </a:solidFill>
                <a:latin typeface="Calibri" panose="020F0502020204030204" pitchFamily="34" charset="0"/>
                <a:ea typeface="Calibri"/>
                <a:cs typeface="Calibri" panose="020F0502020204030204" pitchFamily="34" charset="0"/>
                <a:sym typeface="Calibri"/>
              </a:rPr>
              <a:t>ps_FechaDocumento</a:t>
            </a:r>
            <a:endParaRPr sz="1600" dirty="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AS PARTITION </a:t>
            </a:r>
            <a:r>
              <a:rPr lang="en-US" sz="1600" dirty="0" err="1">
                <a:solidFill>
                  <a:schemeClr val="dk1"/>
                </a:solidFill>
                <a:latin typeface="Calibri" panose="020F0502020204030204" pitchFamily="34" charset="0"/>
                <a:ea typeface="Calibri"/>
                <a:cs typeface="Calibri" panose="020F0502020204030204" pitchFamily="34" charset="0"/>
                <a:sym typeface="Calibri"/>
              </a:rPr>
              <a:t>pf_FechaDocumento</a:t>
            </a:r>
            <a:endParaRPr sz="1600" dirty="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dirty="0">
                <a:solidFill>
                  <a:schemeClr val="dk1"/>
                </a:solidFill>
                <a:latin typeface="Calibri" panose="020F0502020204030204" pitchFamily="34" charset="0"/>
                <a:ea typeface="Calibri"/>
                <a:cs typeface="Calibri" panose="020F0502020204030204" pitchFamily="34" charset="0"/>
                <a:sym typeface="Calibri"/>
              </a:rPr>
              <a:t>	TO (Filegroup1, Filegroup2, Filegroup1, Filegroup2)</a:t>
            </a:r>
            <a:endParaRPr sz="1600"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775" name="Google Shape;775;p20"/>
          <p:cNvSpPr txBox="1"/>
          <p:nvPr/>
        </p:nvSpPr>
        <p:spPr>
          <a:xfrm>
            <a:off x="503238" y="912813"/>
            <a:ext cx="2949846"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SINTAXIS DE PARTITION SCHEME</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76F80C76-26E0-FDBC-3F7F-80CC0C19CEC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cxnSp>
        <p:nvCxnSpPr>
          <p:cNvPr id="3" name="Conector recto 2">
            <a:extLst>
              <a:ext uri="{FF2B5EF4-FFF2-40B4-BE49-F238E27FC236}">
                <a16:creationId xmlns:a16="http://schemas.microsoft.com/office/drawing/2014/main" id="{BAEA7EC4-8676-3806-05EE-23B5ECCBB559}"/>
              </a:ext>
            </a:extLst>
          </p:cNvPr>
          <p:cNvCxnSpPr>
            <a:cxnSpLocks/>
          </p:cNvCxnSpPr>
          <p:nvPr/>
        </p:nvCxnSpPr>
        <p:spPr>
          <a:xfrm>
            <a:off x="684213" y="1509415"/>
            <a:ext cx="0" cy="1193390"/>
          </a:xfrm>
          <a:prstGeom prst="line">
            <a:avLst/>
          </a:prstGeom>
          <a:ln>
            <a:solidFill>
              <a:srgbClr val="EE4639"/>
            </a:solidFill>
          </a:ln>
        </p:spPr>
        <p:style>
          <a:lnRef idx="1">
            <a:schemeClr val="accent1"/>
          </a:lnRef>
          <a:fillRef idx="0">
            <a:schemeClr val="accent1"/>
          </a:fillRef>
          <a:effectRef idx="0">
            <a:schemeClr val="accent1"/>
          </a:effectRef>
          <a:fontRef idx="minor">
            <a:schemeClr val="tx1"/>
          </a:fontRef>
        </p:style>
      </p:cxnSp>
      <p:sp>
        <p:nvSpPr>
          <p:cNvPr id="4" name="Más 3">
            <a:extLst>
              <a:ext uri="{FF2B5EF4-FFF2-40B4-BE49-F238E27FC236}">
                <a16:creationId xmlns:a16="http://schemas.microsoft.com/office/drawing/2014/main" id="{3D978AC3-DD81-B137-1FA5-6401244458B5}"/>
              </a:ext>
            </a:extLst>
          </p:cNvPr>
          <p:cNvSpPr/>
          <p:nvPr/>
        </p:nvSpPr>
        <p:spPr>
          <a:xfrm>
            <a:off x="607871" y="132020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Más 4">
            <a:extLst>
              <a:ext uri="{FF2B5EF4-FFF2-40B4-BE49-F238E27FC236}">
                <a16:creationId xmlns:a16="http://schemas.microsoft.com/office/drawing/2014/main" id="{9AA724CD-D55B-09A1-003D-9D6ACC256C86}"/>
              </a:ext>
            </a:extLst>
          </p:cNvPr>
          <p:cNvSpPr/>
          <p:nvPr/>
        </p:nvSpPr>
        <p:spPr>
          <a:xfrm>
            <a:off x="607871" y="2759745"/>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2" name="Google Shape;782;p21"/>
          <p:cNvSpPr txBox="1"/>
          <p:nvPr/>
        </p:nvSpPr>
        <p:spPr>
          <a:xfrm>
            <a:off x="875031" y="1379103"/>
            <a:ext cx="6196330" cy="2956793"/>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rgbClr val="000066"/>
              </a:buClr>
              <a:buSzPts val="1600"/>
            </a:pPr>
            <a:r>
              <a:rPr lang="en-US" sz="1600" b="1" dirty="0" err="1">
                <a:solidFill>
                  <a:schemeClr val="dk1"/>
                </a:solidFill>
                <a:latin typeface="Calibri"/>
                <a:ea typeface="Calibri"/>
                <a:cs typeface="Calibri"/>
                <a:sym typeface="Calibri"/>
              </a:rPr>
              <a:t>Ejemplo</a:t>
            </a:r>
            <a:endParaRPr sz="1600" dirty="0">
              <a:solidFill>
                <a:schemeClr val="dk1"/>
              </a:solidFill>
              <a:latin typeface="Calibri"/>
              <a:ea typeface="Calibri"/>
              <a:cs typeface="Calibri"/>
              <a:sym typeface="Calibri"/>
            </a:endParaRPr>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CREATE PARTITION SCHEME </a:t>
            </a:r>
            <a:r>
              <a:rPr lang="en-US" sz="1600" dirty="0" err="1">
                <a:solidFill>
                  <a:schemeClr val="dk1"/>
                </a:solidFill>
                <a:latin typeface="Calibri"/>
                <a:ea typeface="Calibri"/>
                <a:cs typeface="Calibri"/>
                <a:sym typeface="Calibri"/>
              </a:rPr>
              <a:t>ps_FechaDocumento</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AS PARTITION </a:t>
            </a:r>
            <a:r>
              <a:rPr lang="en-US" sz="1600" dirty="0" err="1">
                <a:solidFill>
                  <a:schemeClr val="dk1"/>
                </a:solidFill>
                <a:latin typeface="Calibri"/>
                <a:ea typeface="Calibri"/>
                <a:cs typeface="Calibri"/>
                <a:sym typeface="Calibri"/>
              </a:rPr>
              <a:t>pf_FechaDocumento</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TO (Filegroup1, Filegroup2, Filegroup1, Filegroup2, Filegroup1)</a:t>
            </a:r>
            <a:endParaRPr sz="1600" dirty="0">
              <a:solidFill>
                <a:schemeClr val="dk1"/>
              </a:solidFill>
              <a:latin typeface="Calibri"/>
              <a:ea typeface="Calibri"/>
              <a:cs typeface="Calibri"/>
              <a:sym typeface="Calibri"/>
            </a:endParaRPr>
          </a:p>
          <a:p>
            <a:pPr marR="0" lvl="0" algn="l" rtl="0">
              <a:spcBef>
                <a:spcPts val="320"/>
              </a:spcBef>
              <a:spcAft>
                <a:spcPts val="0"/>
              </a:spcAft>
              <a:buClr>
                <a:srgbClr val="000066"/>
              </a:buClr>
              <a:buSzPts val="1600"/>
            </a:pPr>
            <a:endParaRPr sz="1600" dirty="0">
              <a:solidFill>
                <a:schemeClr val="dk1"/>
              </a:solidFill>
              <a:latin typeface="Calibri"/>
              <a:ea typeface="Calibri"/>
              <a:cs typeface="Calibri"/>
              <a:sym typeface="Calibri"/>
            </a:endParaRPr>
          </a:p>
          <a:p>
            <a:pPr marR="0" lvl="0" algn="l" rtl="0">
              <a:spcBef>
                <a:spcPts val="320"/>
              </a:spcBef>
              <a:spcAft>
                <a:spcPts val="0"/>
              </a:spcAft>
              <a:buClr>
                <a:srgbClr val="000066"/>
              </a:buClr>
              <a:buSzPts val="1600"/>
            </a:pPr>
            <a:r>
              <a:rPr lang="en-US" sz="1600" b="1" dirty="0" err="1">
                <a:solidFill>
                  <a:schemeClr val="dk1"/>
                </a:solidFill>
                <a:latin typeface="Calibri"/>
                <a:ea typeface="Calibri"/>
                <a:cs typeface="Calibri"/>
                <a:sym typeface="Calibri"/>
              </a:rPr>
              <a:t>Ejemplo</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CREATE PARTITION SCHEME </a:t>
            </a:r>
            <a:r>
              <a:rPr lang="en-US" sz="1600" dirty="0" err="1">
                <a:solidFill>
                  <a:schemeClr val="dk1"/>
                </a:solidFill>
                <a:latin typeface="Calibri"/>
                <a:ea typeface="Calibri"/>
                <a:cs typeface="Calibri"/>
                <a:sym typeface="Calibri"/>
              </a:rPr>
              <a:t>ps_FechaDocumento</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AS PARTITION </a:t>
            </a:r>
            <a:r>
              <a:rPr lang="en-US" sz="1600" dirty="0" err="1">
                <a:solidFill>
                  <a:schemeClr val="dk1"/>
                </a:solidFill>
                <a:latin typeface="Calibri"/>
                <a:ea typeface="Calibri"/>
                <a:cs typeface="Calibri"/>
                <a:sym typeface="Calibri"/>
              </a:rPr>
              <a:t>pf_FechaDocumento</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ALL TO (Filegroup1)</a:t>
            </a:r>
            <a:endParaRPr dirty="0"/>
          </a:p>
        </p:txBody>
      </p:sp>
      <p:sp>
        <p:nvSpPr>
          <p:cNvPr id="783" name="Google Shape;783;p21"/>
          <p:cNvSpPr txBox="1"/>
          <p:nvPr/>
        </p:nvSpPr>
        <p:spPr>
          <a:xfrm>
            <a:off x="503238" y="912813"/>
            <a:ext cx="3061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EJEMPLOS DE PARTITION SCHEME</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AFA08DE5-613E-83CD-35CC-D68F9217408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cxnSp>
        <p:nvCxnSpPr>
          <p:cNvPr id="3" name="Conector recto 2">
            <a:extLst>
              <a:ext uri="{FF2B5EF4-FFF2-40B4-BE49-F238E27FC236}">
                <a16:creationId xmlns:a16="http://schemas.microsoft.com/office/drawing/2014/main" id="{FC9DC5F3-CFE9-63C4-6DE1-BF642E2A90A6}"/>
              </a:ext>
            </a:extLst>
          </p:cNvPr>
          <p:cNvCxnSpPr>
            <a:cxnSpLocks/>
          </p:cNvCxnSpPr>
          <p:nvPr/>
        </p:nvCxnSpPr>
        <p:spPr>
          <a:xfrm>
            <a:off x="684213" y="1584727"/>
            <a:ext cx="0" cy="1193390"/>
          </a:xfrm>
          <a:prstGeom prst="line">
            <a:avLst/>
          </a:prstGeom>
          <a:ln>
            <a:solidFill>
              <a:srgbClr val="FE7828"/>
            </a:solidFill>
          </a:ln>
        </p:spPr>
        <p:style>
          <a:lnRef idx="1">
            <a:schemeClr val="accent1"/>
          </a:lnRef>
          <a:fillRef idx="0">
            <a:schemeClr val="accent1"/>
          </a:fillRef>
          <a:effectRef idx="0">
            <a:schemeClr val="accent1"/>
          </a:effectRef>
          <a:fontRef idx="minor">
            <a:schemeClr val="tx1"/>
          </a:fontRef>
        </p:style>
      </p:cxnSp>
      <p:sp>
        <p:nvSpPr>
          <p:cNvPr id="4" name="Más 3">
            <a:extLst>
              <a:ext uri="{FF2B5EF4-FFF2-40B4-BE49-F238E27FC236}">
                <a16:creationId xmlns:a16="http://schemas.microsoft.com/office/drawing/2014/main" id="{F55EC8A6-9DDC-2B25-9B7E-DA17B6138FEB}"/>
              </a:ext>
            </a:extLst>
          </p:cNvPr>
          <p:cNvSpPr/>
          <p:nvPr/>
        </p:nvSpPr>
        <p:spPr>
          <a:xfrm>
            <a:off x="607871" y="1395520"/>
            <a:ext cx="152683" cy="152683"/>
          </a:xfrm>
          <a:prstGeom prst="mathPlus">
            <a:avLst>
              <a:gd name="adj1" fmla="val 15202"/>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Más 4">
            <a:extLst>
              <a:ext uri="{FF2B5EF4-FFF2-40B4-BE49-F238E27FC236}">
                <a16:creationId xmlns:a16="http://schemas.microsoft.com/office/drawing/2014/main" id="{10DF7A36-7210-3D47-2E7B-FC0EAEE486C7}"/>
              </a:ext>
            </a:extLst>
          </p:cNvPr>
          <p:cNvSpPr/>
          <p:nvPr/>
        </p:nvSpPr>
        <p:spPr>
          <a:xfrm>
            <a:off x="607871" y="2849181"/>
            <a:ext cx="152683" cy="152683"/>
          </a:xfrm>
          <a:prstGeom prst="mathPlus">
            <a:avLst>
              <a:gd name="adj1" fmla="val 15202"/>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90" name="Google Shape;790;p22"/>
          <p:cNvSpPr txBox="1"/>
          <p:nvPr/>
        </p:nvSpPr>
        <p:spPr>
          <a:xfrm>
            <a:off x="503238" y="912813"/>
            <a:ext cx="7337742" cy="2048400"/>
          </a:xfrm>
          <a:prstGeom prst="rect">
            <a:avLst/>
          </a:prstGeom>
          <a:noFill/>
          <a:ln>
            <a:noFill/>
          </a:ln>
        </p:spPr>
        <p:txBody>
          <a:bodyPr spcFirstLastPara="1" wrap="square" lIns="0" tIns="0" rIns="0" bIns="0" anchor="t" anchorCtr="0">
            <a:noAutofit/>
          </a:bodyPr>
          <a:lstStyle/>
          <a:p>
            <a:pPr>
              <a:spcAft>
                <a:spcPts val="600"/>
              </a:spcAft>
              <a:buClr>
                <a:schemeClr val="tx1"/>
              </a:buClr>
              <a:buSzPts val="1600"/>
            </a:pPr>
            <a:r>
              <a:rPr lang="en-US" sz="1600" b="1" dirty="0">
                <a:solidFill>
                  <a:schemeClr val="dk1"/>
                </a:solidFill>
                <a:latin typeface="Calibri" panose="020F0502020204030204" pitchFamily="34" charset="0"/>
                <a:ea typeface="Calibri"/>
                <a:cs typeface="Calibri" panose="020F0502020204030204" pitchFamily="34" charset="0"/>
                <a:sym typeface="Calibri"/>
              </a:rPr>
              <a:t>TABLA PARTICIONADA</a:t>
            </a:r>
            <a:endParaRPr lang="en-US"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0"/>
              </a:spcBef>
              <a:spcAft>
                <a:spcPts val="0"/>
              </a:spcAft>
              <a:buClr>
                <a:schemeClr val="tx1"/>
              </a:buClr>
              <a:buSzPts val="1600"/>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Requiere un </a:t>
            </a:r>
            <a:r>
              <a:rPr lang="en-US" sz="1600" dirty="0">
                <a:solidFill>
                  <a:schemeClr val="dk1"/>
                </a:solidFill>
                <a:latin typeface="Calibri" panose="020F0502020204030204" pitchFamily="34" charset="0"/>
                <a:ea typeface="Calibri"/>
                <a:cs typeface="Calibri" panose="020F0502020204030204" pitchFamily="34" charset="0"/>
                <a:sym typeface="Calibri"/>
              </a:rPr>
              <a:t>Partition Scheme</a:t>
            </a:r>
            <a:r>
              <a:rPr lang="es-ES_tradnl" sz="1600" dirty="0">
                <a:solidFill>
                  <a:schemeClr val="dk1"/>
                </a:solidFill>
                <a:latin typeface="Calibri" panose="020F0502020204030204" pitchFamily="34" charset="0"/>
                <a:ea typeface="Calibri"/>
                <a:cs typeface="Calibri" panose="020F0502020204030204" pitchFamily="34" charset="0"/>
                <a:sym typeface="Calibri"/>
              </a:rPr>
              <a:t>.</a:t>
            </a:r>
            <a:endParaRPr lang="es-ES_tradnl" sz="1600" dirty="0">
              <a:latin typeface="Calibri" panose="020F0502020204030204" pitchFamily="34" charset="0"/>
              <a:cs typeface="Calibri" panose="020F0502020204030204" pitchFamily="34" charset="0"/>
            </a:endParaRPr>
          </a:p>
          <a:p>
            <a:pPr marL="180975" marR="0" lvl="0" indent="-180975" algn="l" rtl="0">
              <a:spcBef>
                <a:spcPts val="320"/>
              </a:spcBef>
              <a:spcAft>
                <a:spcPts val="0"/>
              </a:spcAft>
              <a:buClr>
                <a:schemeClr val="tx1"/>
              </a:buClr>
              <a:buSzPts val="1600"/>
              <a:buFont typeface="Arial" panose="020B0604020202020204" pitchFamily="34" charset="0"/>
              <a:buChar char="•"/>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320"/>
              </a:spcBef>
              <a:spcAft>
                <a:spcPts val="0"/>
              </a:spcAft>
              <a:buClr>
                <a:schemeClr val="tx1"/>
              </a:buClr>
              <a:buSzPts val="1600"/>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Se debe indicar la columna que se utilizará para el particionamiento.</a:t>
            </a:r>
            <a:endParaRPr lang="es-ES_tradnl" sz="1600" dirty="0">
              <a:latin typeface="Calibri" panose="020F0502020204030204" pitchFamily="34" charset="0"/>
              <a:cs typeface="Calibri" panose="020F0502020204030204" pitchFamily="34" charset="0"/>
            </a:endParaRPr>
          </a:p>
          <a:p>
            <a:pPr marL="180975" marR="0" lvl="0" indent="-180975" algn="l" rtl="0">
              <a:spcBef>
                <a:spcPts val="320"/>
              </a:spcBef>
              <a:spcAft>
                <a:spcPts val="0"/>
              </a:spcAft>
              <a:buClr>
                <a:schemeClr val="tx1"/>
              </a:buClr>
              <a:buSzPts val="1600"/>
              <a:buFont typeface="Arial" panose="020B0604020202020204" pitchFamily="34" charset="0"/>
              <a:buChar char="•"/>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320"/>
              </a:spcBef>
              <a:spcAft>
                <a:spcPts val="0"/>
              </a:spcAft>
              <a:buClr>
                <a:schemeClr val="tx1"/>
              </a:buClr>
              <a:buSzPts val="1600"/>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El tipo de dato de la columna por la que se particionará debe ser el mismo tipo de dato de la </a:t>
            </a:r>
            <a:r>
              <a:rPr lang="en-US" sz="1600" dirty="0">
                <a:solidFill>
                  <a:schemeClr val="dk1"/>
                </a:solidFill>
                <a:latin typeface="Calibri" panose="020F0502020204030204" pitchFamily="34" charset="0"/>
                <a:ea typeface="Calibri"/>
                <a:cs typeface="Calibri" panose="020F0502020204030204" pitchFamily="34" charset="0"/>
                <a:sym typeface="Calibri"/>
              </a:rPr>
              <a:t>Partition Function.</a:t>
            </a:r>
          </a:p>
        </p:txBody>
      </p:sp>
      <p:sp>
        <p:nvSpPr>
          <p:cNvPr id="2" name="Rectangle 5">
            <a:extLst>
              <a:ext uri="{FF2B5EF4-FFF2-40B4-BE49-F238E27FC236}">
                <a16:creationId xmlns:a16="http://schemas.microsoft.com/office/drawing/2014/main" id="{CE91BA0D-005A-812C-C88F-3B276CE88D9E}"/>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8" name="Google Shape;798;p23"/>
          <p:cNvSpPr txBox="1"/>
          <p:nvPr/>
        </p:nvSpPr>
        <p:spPr>
          <a:xfrm>
            <a:off x="960834" y="1389243"/>
            <a:ext cx="4639866" cy="3130232"/>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rgbClr val="000066"/>
              </a:buClr>
              <a:buSzPts val="1600"/>
            </a:pPr>
            <a:r>
              <a:rPr lang="en-US" sz="1600" b="1">
                <a:solidFill>
                  <a:schemeClr val="dk1"/>
                </a:solidFill>
                <a:latin typeface="Calibri" panose="020F0502020204030204" pitchFamily="34" charset="0"/>
                <a:ea typeface="Calibri"/>
                <a:cs typeface="Calibri" panose="020F0502020204030204" pitchFamily="34" charset="0"/>
                <a:sym typeface="Calibri"/>
              </a:rPr>
              <a:t>Sintaxis</a:t>
            </a:r>
            <a:endParaRPr sz="160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0066"/>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CREATE TABLE &lt;Nombre&gt;</a:t>
            </a:r>
            <a:endParaRPr sz="1600">
              <a:latin typeface="Calibri" panose="020F0502020204030204" pitchFamily="34" charset="0"/>
              <a:cs typeface="Calibri" panose="020F0502020204030204" pitchFamily="34" charset="0"/>
            </a:endParaRPr>
          </a:p>
          <a:p>
            <a:pPr marR="0" lvl="0" algn="l" rtl="0">
              <a:spcBef>
                <a:spcPts val="320"/>
              </a:spcBef>
              <a:spcAft>
                <a:spcPts val="0"/>
              </a:spcAft>
              <a:buClr>
                <a:srgbClr val="000066"/>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&lt;Lista de campos&gt;</a:t>
            </a:r>
            <a:endParaRPr sz="1600">
              <a:latin typeface="Calibri" panose="020F0502020204030204" pitchFamily="34" charset="0"/>
              <a:cs typeface="Calibri" panose="020F0502020204030204" pitchFamily="34" charset="0"/>
            </a:endParaRPr>
          </a:p>
          <a:p>
            <a:pPr marR="0" lvl="0" algn="l" rtl="0">
              <a:spcBef>
                <a:spcPts val="320"/>
              </a:spcBef>
              <a:spcAft>
                <a:spcPts val="0"/>
              </a:spcAft>
              <a:buClr>
                <a:srgbClr val="000066"/>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ON  &lt;partition scheme&gt;(campo de partición)</a:t>
            </a:r>
            <a:endParaRPr sz="160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0066"/>
              </a:buClr>
              <a:buSzPts val="1600"/>
            </a:pPr>
            <a:endParaRPr sz="160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rgbClr val="000066"/>
              </a:buClr>
              <a:buSzPts val="1600"/>
            </a:pPr>
            <a:r>
              <a:rPr lang="en-US" sz="1600" b="1">
                <a:solidFill>
                  <a:schemeClr val="dk1"/>
                </a:solidFill>
                <a:latin typeface="Calibri" panose="020F0502020204030204" pitchFamily="34" charset="0"/>
                <a:ea typeface="Calibri"/>
                <a:cs typeface="Calibri" panose="020F0502020204030204" pitchFamily="34" charset="0"/>
                <a:sym typeface="Calibri"/>
              </a:rPr>
              <a:t>Ejemplo</a:t>
            </a:r>
            <a:endParaRPr sz="160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CREATE TABLE Ventas (</a:t>
            </a:r>
            <a:endParaRPr sz="160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SalesOrderID int identity,</a:t>
            </a:r>
            <a:endParaRPr sz="160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OrderDate datetime)</a:t>
            </a:r>
            <a:endParaRPr sz="1600">
              <a:latin typeface="Calibri" panose="020F0502020204030204" pitchFamily="34" charset="0"/>
              <a:cs typeface="Calibri" panose="020F0502020204030204" pitchFamily="34" charset="0"/>
            </a:endParaRPr>
          </a:p>
          <a:p>
            <a:pPr marR="0" lvl="0" algn="l" rtl="0">
              <a:spcBef>
                <a:spcPts val="320"/>
              </a:spcBef>
              <a:spcAft>
                <a:spcPts val="0"/>
              </a:spcAft>
              <a:buClr>
                <a:schemeClr val="dk1"/>
              </a:buClr>
              <a:buSzPts val="1600"/>
            </a:pPr>
            <a:r>
              <a:rPr lang="en-US" sz="1600">
                <a:solidFill>
                  <a:schemeClr val="dk1"/>
                </a:solidFill>
                <a:latin typeface="Calibri" panose="020F0502020204030204" pitchFamily="34" charset="0"/>
                <a:ea typeface="Calibri"/>
                <a:cs typeface="Calibri" panose="020F0502020204030204" pitchFamily="34" charset="0"/>
                <a:sym typeface="Calibri"/>
              </a:rPr>
              <a:t>	ON ps_FechaDocumento(OrderDate) </a:t>
            </a:r>
            <a:endParaRPr sz="1600">
              <a:solidFill>
                <a:schemeClr val="dk1"/>
              </a:solidFill>
              <a:latin typeface="Calibri" panose="020F0502020204030204" pitchFamily="34" charset="0"/>
              <a:ea typeface="Calibri"/>
              <a:cs typeface="Calibri" panose="020F0502020204030204" pitchFamily="34" charset="0"/>
              <a:sym typeface="Calibri"/>
            </a:endParaRPr>
          </a:p>
          <a:p>
            <a:pPr marR="0" lvl="0" algn="l" rtl="0">
              <a:spcBef>
                <a:spcPts val="320"/>
              </a:spcBef>
              <a:spcAft>
                <a:spcPts val="0"/>
              </a:spcAft>
              <a:buClr>
                <a:schemeClr val="dk1"/>
              </a:buClr>
              <a:buSzPts val="1600"/>
            </a:pPr>
            <a:endParaRPr sz="1600">
              <a:solidFill>
                <a:srgbClr val="000066"/>
              </a:solidFill>
              <a:latin typeface="Calibri" panose="020F0502020204030204" pitchFamily="34" charset="0"/>
              <a:ea typeface="Calibri"/>
              <a:cs typeface="Calibri" panose="020F0502020204030204" pitchFamily="34" charset="0"/>
              <a:sym typeface="Calibri"/>
            </a:endParaRPr>
          </a:p>
        </p:txBody>
      </p:sp>
      <p:sp>
        <p:nvSpPr>
          <p:cNvPr id="799" name="Google Shape;799;p23"/>
          <p:cNvSpPr txBox="1"/>
          <p:nvPr/>
        </p:nvSpPr>
        <p:spPr>
          <a:xfrm>
            <a:off x="503238" y="912813"/>
            <a:ext cx="4435317"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SINTAXIS PARA CREAR UNA TABLA PARTICIONADA</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69B0DA00-6910-DEE4-B856-6D2EDE03096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cxnSp>
        <p:nvCxnSpPr>
          <p:cNvPr id="3" name="Conector recto 2">
            <a:extLst>
              <a:ext uri="{FF2B5EF4-FFF2-40B4-BE49-F238E27FC236}">
                <a16:creationId xmlns:a16="http://schemas.microsoft.com/office/drawing/2014/main" id="{CF58D7C8-46C9-C1E2-5430-2408C2B71096}"/>
              </a:ext>
            </a:extLst>
          </p:cNvPr>
          <p:cNvCxnSpPr>
            <a:cxnSpLocks/>
          </p:cNvCxnSpPr>
          <p:nvPr/>
        </p:nvCxnSpPr>
        <p:spPr>
          <a:xfrm>
            <a:off x="684213" y="1584727"/>
            <a:ext cx="0" cy="1193390"/>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4" name="Más 3">
            <a:extLst>
              <a:ext uri="{FF2B5EF4-FFF2-40B4-BE49-F238E27FC236}">
                <a16:creationId xmlns:a16="http://schemas.microsoft.com/office/drawing/2014/main" id="{70022552-1700-830C-7B0F-256B32F395AD}"/>
              </a:ext>
            </a:extLst>
          </p:cNvPr>
          <p:cNvSpPr/>
          <p:nvPr/>
        </p:nvSpPr>
        <p:spPr>
          <a:xfrm>
            <a:off x="607871" y="1395520"/>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Más 4">
            <a:extLst>
              <a:ext uri="{FF2B5EF4-FFF2-40B4-BE49-F238E27FC236}">
                <a16:creationId xmlns:a16="http://schemas.microsoft.com/office/drawing/2014/main" id="{32D21D73-39D4-20D7-86C1-00674D14D568}"/>
              </a:ext>
            </a:extLst>
          </p:cNvPr>
          <p:cNvSpPr/>
          <p:nvPr/>
        </p:nvSpPr>
        <p:spPr>
          <a:xfrm>
            <a:off x="607871" y="2858560"/>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6" name="Google Shape;806;p24"/>
          <p:cNvSpPr txBox="1"/>
          <p:nvPr/>
        </p:nvSpPr>
        <p:spPr>
          <a:xfrm>
            <a:off x="848463" y="1360026"/>
            <a:ext cx="6472592" cy="1145783"/>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rgbClr val="000066"/>
              </a:buClr>
              <a:buSzPts val="1600"/>
            </a:pPr>
            <a:r>
              <a:rPr lang="en-US" sz="1600" b="1" dirty="0">
                <a:solidFill>
                  <a:schemeClr val="dk1"/>
                </a:solidFill>
                <a:latin typeface="Calibri"/>
                <a:ea typeface="Calibri"/>
                <a:cs typeface="Calibri"/>
                <a:sym typeface="Calibri"/>
              </a:rPr>
              <a:t>Consulta</a:t>
            </a:r>
            <a:endParaRPr dirty="0"/>
          </a:p>
          <a:p>
            <a:pPr marL="342897" marR="0" lvl="0" indent="-342897" algn="l" rtl="0">
              <a:spcBef>
                <a:spcPts val="320"/>
              </a:spcBef>
              <a:spcAft>
                <a:spcPts val="0"/>
              </a:spcAft>
              <a:buClr>
                <a:schemeClr val="dk1"/>
              </a:buClr>
              <a:buSzPts val="1600"/>
              <a:buFont typeface="Arimo"/>
              <a:buNone/>
            </a:pPr>
            <a:r>
              <a:rPr lang="en-US" sz="1600" dirty="0">
                <a:solidFill>
                  <a:schemeClr val="dk1"/>
                </a:solidFill>
                <a:latin typeface="Calibri"/>
                <a:ea typeface="Calibri"/>
                <a:cs typeface="Calibri"/>
                <a:sym typeface="Calibri"/>
              </a:rPr>
              <a:t>	SELECT </a:t>
            </a:r>
            <a:r>
              <a:rPr lang="en-US" sz="1600" dirty="0" err="1">
                <a:solidFill>
                  <a:schemeClr val="dk1"/>
                </a:solidFill>
                <a:latin typeface="Calibri"/>
                <a:ea typeface="Calibri"/>
                <a:cs typeface="Calibri"/>
                <a:sym typeface="Calibri"/>
              </a:rPr>
              <a:t>SalesOrderID</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OrderDate</a:t>
            </a: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342897" marR="0" lvl="0" indent="-342897" algn="l" rtl="0">
              <a:spcBef>
                <a:spcPts val="320"/>
              </a:spcBef>
              <a:spcAft>
                <a:spcPts val="0"/>
              </a:spcAft>
              <a:buClr>
                <a:schemeClr val="dk1"/>
              </a:buClr>
              <a:buSzPts val="1600"/>
              <a:buFont typeface="Arimo"/>
              <a:buNone/>
            </a:pP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partition.pf_FechaDocumento</a:t>
            </a:r>
            <a:r>
              <a:rPr lang="en-US" sz="1600" dirty="0">
                <a:solidFill>
                  <a:schemeClr val="dk1"/>
                </a:solidFill>
                <a:latin typeface="Calibri"/>
                <a:ea typeface="Calibri"/>
                <a:cs typeface="Calibri"/>
                <a:sym typeface="Calibri"/>
              </a:rPr>
              <a:t>(</a:t>
            </a:r>
            <a:r>
              <a:rPr lang="en-US" sz="1600" dirty="0" err="1">
                <a:solidFill>
                  <a:schemeClr val="dk1"/>
                </a:solidFill>
                <a:latin typeface="Calibri"/>
                <a:ea typeface="Calibri"/>
                <a:cs typeface="Calibri"/>
                <a:sym typeface="Calibri"/>
              </a:rPr>
              <a:t>OrderDate</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NroParicion</a:t>
            </a:r>
            <a:endParaRPr dirty="0"/>
          </a:p>
          <a:p>
            <a:pPr marL="342897" marR="0" lvl="0" indent="-342897" algn="l" rtl="0">
              <a:spcBef>
                <a:spcPts val="320"/>
              </a:spcBef>
              <a:spcAft>
                <a:spcPts val="0"/>
              </a:spcAft>
              <a:buClr>
                <a:schemeClr val="dk1"/>
              </a:buClr>
              <a:buSzPts val="1600"/>
              <a:buFont typeface="Arimo"/>
              <a:buNone/>
            </a:pPr>
            <a:r>
              <a:rPr lang="en-US" sz="1600" dirty="0">
                <a:solidFill>
                  <a:schemeClr val="dk1"/>
                </a:solidFill>
                <a:latin typeface="Calibri"/>
                <a:ea typeface="Calibri"/>
                <a:cs typeface="Calibri"/>
                <a:sym typeface="Calibri"/>
              </a:rPr>
              <a:t>	FROM Ventas</a:t>
            </a:r>
            <a:endParaRPr dirty="0"/>
          </a:p>
          <a:p>
            <a:pPr marL="342897" marR="0" lvl="0" indent="-342897" algn="l" rtl="0">
              <a:spcBef>
                <a:spcPts val="320"/>
              </a:spcBef>
              <a:spcAft>
                <a:spcPts val="0"/>
              </a:spcAft>
              <a:buClr>
                <a:schemeClr val="dk1"/>
              </a:buClr>
              <a:buSzPts val="1600"/>
              <a:buFont typeface="Arimo"/>
              <a:buNone/>
            </a:pPr>
            <a:endParaRPr sz="1600" dirty="0">
              <a:solidFill>
                <a:srgbClr val="000066"/>
              </a:solidFill>
              <a:latin typeface="Calibri"/>
              <a:ea typeface="Calibri"/>
              <a:cs typeface="Calibri"/>
              <a:sym typeface="Calibri"/>
            </a:endParaRPr>
          </a:p>
        </p:txBody>
      </p:sp>
      <p:sp>
        <p:nvSpPr>
          <p:cNvPr id="807" name="Google Shape;807;p24"/>
          <p:cNvSpPr txBox="1"/>
          <p:nvPr/>
        </p:nvSpPr>
        <p:spPr>
          <a:xfrm>
            <a:off x="503238" y="920241"/>
            <a:ext cx="2996782"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CONSULTAR PARTICIONAMIENTO</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DC1701C0-EAC5-3F01-CB50-8EE980AE0DEB}"/>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sp>
        <p:nvSpPr>
          <p:cNvPr id="4" name="Más 3">
            <a:extLst>
              <a:ext uri="{FF2B5EF4-FFF2-40B4-BE49-F238E27FC236}">
                <a16:creationId xmlns:a16="http://schemas.microsoft.com/office/drawing/2014/main" id="{B46AA9B5-5EBF-D455-907A-3C79440E19E4}"/>
              </a:ext>
            </a:extLst>
          </p:cNvPr>
          <p:cNvSpPr/>
          <p:nvPr/>
        </p:nvSpPr>
        <p:spPr>
          <a:xfrm>
            <a:off x="607871" y="1395520"/>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4" name="Google Shape;814;p25"/>
          <p:cNvSpPr txBox="1"/>
          <p:nvPr/>
        </p:nvSpPr>
        <p:spPr>
          <a:xfrm>
            <a:off x="875031" y="1399223"/>
            <a:ext cx="5830569" cy="3355657"/>
          </a:xfrm>
          <a:prstGeom prst="rect">
            <a:avLst/>
          </a:prstGeom>
          <a:noFill/>
          <a:ln>
            <a:noFill/>
          </a:ln>
        </p:spPr>
        <p:txBody>
          <a:bodyPr spcFirstLastPara="1" wrap="square" lIns="0" tIns="0" rIns="0" bIns="0" anchor="t" anchorCtr="0">
            <a:noAutofit/>
          </a:bodyPr>
          <a:lstStyle/>
          <a:p>
            <a:pPr marR="0" lvl="0" algn="l" rtl="0">
              <a:spcBef>
                <a:spcPts val="0"/>
              </a:spcBef>
              <a:spcAft>
                <a:spcPts val="0"/>
              </a:spcAft>
              <a:buClr>
                <a:srgbClr val="000066"/>
              </a:buClr>
              <a:buSzPts val="1600"/>
            </a:pPr>
            <a:r>
              <a:rPr lang="en-US" sz="1600" b="1" dirty="0" err="1">
                <a:solidFill>
                  <a:schemeClr val="dk1"/>
                </a:solidFill>
                <a:latin typeface="Calibri"/>
                <a:ea typeface="Calibri"/>
                <a:cs typeface="Calibri"/>
                <a:sym typeface="Calibri"/>
              </a:rPr>
              <a:t>Sintaxis</a:t>
            </a:r>
            <a:endParaRPr dirty="0"/>
          </a:p>
          <a:p>
            <a:pPr marR="0" lvl="0" algn="l" rtl="0">
              <a:spcBef>
                <a:spcPts val="320"/>
              </a:spcBef>
              <a:spcAft>
                <a:spcPts val="0"/>
              </a:spcAft>
              <a:buClr>
                <a:schemeClr val="dk1"/>
              </a:buClr>
              <a:buSzPts val="1600"/>
            </a:pPr>
            <a:r>
              <a:rPr lang="en-US" sz="1600" b="1" dirty="0">
                <a:solidFill>
                  <a:schemeClr val="dk1"/>
                </a:solidFill>
                <a:latin typeface="Calibri"/>
                <a:ea typeface="Calibri"/>
                <a:cs typeface="Calibri"/>
                <a:sym typeface="Calibri"/>
              </a:rPr>
              <a:t>	</a:t>
            </a:r>
            <a:r>
              <a:rPr lang="en-US" sz="1600" dirty="0">
                <a:solidFill>
                  <a:schemeClr val="dk1"/>
                </a:solidFill>
                <a:latin typeface="Calibri"/>
                <a:ea typeface="Calibri"/>
                <a:cs typeface="Calibri"/>
                <a:sym typeface="Calibri"/>
              </a:rPr>
              <a:t>CREATE INDEX &lt;</a:t>
            </a:r>
            <a:r>
              <a:rPr lang="en-US" sz="1600" dirty="0" err="1">
                <a:solidFill>
                  <a:schemeClr val="dk1"/>
                </a:solidFill>
                <a:latin typeface="Calibri"/>
                <a:ea typeface="Calibri"/>
                <a:cs typeface="Calibri"/>
                <a:sym typeface="Calibri"/>
              </a:rPr>
              <a:t>nombre</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indice</a:t>
            </a:r>
            <a:r>
              <a:rPr lang="en-US" sz="1600" dirty="0">
                <a:solidFill>
                  <a:schemeClr val="dk1"/>
                </a:solidFill>
                <a:latin typeface="Calibri"/>
                <a:ea typeface="Calibri"/>
                <a:cs typeface="Calibri"/>
                <a:sym typeface="Calibri"/>
              </a:rPr>
              <a:t>&gt;</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ON &lt;</a:t>
            </a:r>
            <a:r>
              <a:rPr lang="en-US" sz="1600" dirty="0" err="1">
                <a:solidFill>
                  <a:schemeClr val="dk1"/>
                </a:solidFill>
                <a:latin typeface="Calibri"/>
                <a:ea typeface="Calibri"/>
                <a:cs typeface="Calibri"/>
                <a:sym typeface="Calibri"/>
              </a:rPr>
              <a:t>tabla</a:t>
            </a:r>
            <a:r>
              <a:rPr lang="en-US" sz="1600" dirty="0">
                <a:solidFill>
                  <a:schemeClr val="dk1"/>
                </a:solidFill>
                <a:latin typeface="Calibri"/>
                <a:ea typeface="Calibri"/>
                <a:cs typeface="Calibri"/>
                <a:sym typeface="Calibri"/>
              </a:rPr>
              <a:t>&gt;(</a:t>
            </a:r>
            <a:r>
              <a:rPr lang="en-US" sz="1600" dirty="0" err="1">
                <a:solidFill>
                  <a:schemeClr val="dk1"/>
                </a:solidFill>
                <a:latin typeface="Calibri"/>
                <a:ea typeface="Calibri"/>
                <a:cs typeface="Calibri"/>
                <a:sym typeface="Calibri"/>
              </a:rPr>
              <a:t>lista</a:t>
            </a:r>
            <a:r>
              <a:rPr lang="en-US" sz="1600" dirty="0">
                <a:solidFill>
                  <a:schemeClr val="dk1"/>
                </a:solidFill>
                <a:latin typeface="Calibri"/>
                <a:ea typeface="Calibri"/>
                <a:cs typeface="Calibri"/>
                <a:sym typeface="Calibri"/>
              </a:rPr>
              <a:t> de campos)</a:t>
            </a:r>
            <a:endParaRPr dirty="0"/>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ON partition scheme(campo de </a:t>
            </a:r>
            <a:r>
              <a:rPr lang="en-US" sz="1600" dirty="0" err="1">
                <a:solidFill>
                  <a:schemeClr val="dk1"/>
                </a:solidFill>
                <a:latin typeface="Calibri"/>
                <a:ea typeface="Calibri"/>
                <a:cs typeface="Calibri"/>
                <a:sym typeface="Calibri"/>
              </a:rPr>
              <a:t>particionamiento</a:t>
            </a: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R="0" lvl="0" algn="l" rtl="0">
              <a:spcBef>
                <a:spcPts val="320"/>
              </a:spcBef>
              <a:spcAft>
                <a:spcPts val="0"/>
              </a:spcAft>
              <a:buClr>
                <a:schemeClr val="dk1"/>
              </a:buClr>
              <a:buSzPts val="1600"/>
            </a:pPr>
            <a:endParaRPr sz="1600" dirty="0">
              <a:solidFill>
                <a:schemeClr val="dk1"/>
              </a:solidFill>
              <a:latin typeface="Calibri"/>
              <a:ea typeface="Calibri"/>
              <a:cs typeface="Calibri"/>
              <a:sym typeface="Calibri"/>
            </a:endParaRPr>
          </a:p>
          <a:p>
            <a:pPr marR="0" lvl="0" algn="l" rtl="0">
              <a:spcBef>
                <a:spcPts val="320"/>
              </a:spcBef>
              <a:spcAft>
                <a:spcPts val="0"/>
              </a:spcAft>
              <a:buClr>
                <a:srgbClr val="000066"/>
              </a:buClr>
              <a:buSzPts val="1600"/>
            </a:pPr>
            <a:r>
              <a:rPr lang="en-US" sz="1600" b="1" dirty="0" err="1">
                <a:solidFill>
                  <a:schemeClr val="dk1"/>
                </a:solidFill>
                <a:latin typeface="Calibri"/>
                <a:ea typeface="Calibri"/>
                <a:cs typeface="Calibri"/>
                <a:sym typeface="Calibri"/>
              </a:rPr>
              <a:t>Ejemplo</a:t>
            </a:r>
            <a:endParaRPr dirty="0"/>
          </a:p>
          <a:p>
            <a:pPr marR="0" lvl="0" algn="l" rtl="0">
              <a:spcBef>
                <a:spcPts val="320"/>
              </a:spcBef>
              <a:spcAft>
                <a:spcPts val="0"/>
              </a:spcAft>
              <a:buClr>
                <a:schemeClr val="dk1"/>
              </a:buClr>
              <a:buSzPts val="1600"/>
            </a:pPr>
            <a:r>
              <a:rPr lang="en-US" sz="1600" b="1" dirty="0">
                <a:solidFill>
                  <a:schemeClr val="dk1"/>
                </a:solidFill>
                <a:latin typeface="Calibri"/>
                <a:ea typeface="Calibri"/>
                <a:cs typeface="Calibri"/>
                <a:sym typeface="Calibri"/>
              </a:rPr>
              <a:t>	</a:t>
            </a:r>
            <a:r>
              <a:rPr lang="en-US" sz="1600" dirty="0">
                <a:solidFill>
                  <a:schemeClr val="dk1"/>
                </a:solidFill>
                <a:latin typeface="Calibri"/>
                <a:ea typeface="Calibri"/>
                <a:cs typeface="Calibri"/>
                <a:sym typeface="Calibri"/>
              </a:rPr>
              <a:t>CREATE UNIQUE INDEX idx5_orden</a:t>
            </a:r>
            <a:endParaRPr sz="1600" dirty="0">
              <a:solidFill>
                <a:schemeClr val="dk1"/>
              </a:solidFill>
              <a:latin typeface="Calibri"/>
              <a:ea typeface="Calibri"/>
              <a:cs typeface="Calibri"/>
              <a:sym typeface="Calibri"/>
            </a:endParaRPr>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ON Ventas( </a:t>
            </a:r>
            <a:r>
              <a:rPr lang="en-US" sz="1600" dirty="0" err="1">
                <a:solidFill>
                  <a:schemeClr val="dk1"/>
                </a:solidFill>
                <a:latin typeface="Calibri"/>
                <a:ea typeface="Calibri"/>
                <a:cs typeface="Calibri"/>
                <a:sym typeface="Calibri"/>
              </a:rPr>
              <a:t>SalesOrderId</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OrderDate</a:t>
            </a: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R="0" lvl="0" algn="l" rtl="0">
              <a:spcBef>
                <a:spcPts val="320"/>
              </a:spcBef>
              <a:spcAft>
                <a:spcPts val="0"/>
              </a:spcAft>
              <a:buClr>
                <a:schemeClr val="dk1"/>
              </a:buClr>
              <a:buSzPts val="1600"/>
            </a:pPr>
            <a:r>
              <a:rPr lang="en-US" sz="1600" dirty="0">
                <a:solidFill>
                  <a:schemeClr val="dk1"/>
                </a:solidFill>
                <a:latin typeface="Calibri"/>
                <a:ea typeface="Calibri"/>
                <a:cs typeface="Calibri"/>
                <a:sym typeface="Calibri"/>
              </a:rPr>
              <a:t>	ON </a:t>
            </a:r>
            <a:r>
              <a:rPr lang="en-US" sz="1600" dirty="0" err="1">
                <a:solidFill>
                  <a:schemeClr val="dk1"/>
                </a:solidFill>
                <a:latin typeface="Calibri"/>
                <a:ea typeface="Calibri"/>
                <a:cs typeface="Calibri"/>
                <a:sym typeface="Calibri"/>
              </a:rPr>
              <a:t>ps_FechaDocumento</a:t>
            </a:r>
            <a:r>
              <a:rPr lang="en-US" sz="1600" dirty="0">
                <a:solidFill>
                  <a:schemeClr val="dk1"/>
                </a:solidFill>
                <a:latin typeface="Calibri"/>
                <a:ea typeface="Calibri"/>
                <a:cs typeface="Calibri"/>
                <a:sym typeface="Calibri"/>
              </a:rPr>
              <a:t>(</a:t>
            </a:r>
            <a:r>
              <a:rPr lang="en-US" sz="1600" dirty="0" err="1">
                <a:solidFill>
                  <a:schemeClr val="dk1"/>
                </a:solidFill>
                <a:latin typeface="Calibri"/>
                <a:ea typeface="Calibri"/>
                <a:cs typeface="Calibri"/>
                <a:sym typeface="Calibri"/>
              </a:rPr>
              <a:t>OrderDate</a:t>
            </a:r>
            <a:r>
              <a:rPr lang="en-US" sz="1600" dirty="0">
                <a:solidFill>
                  <a:schemeClr val="dk1"/>
                </a:solidFill>
                <a:latin typeface="Calibri"/>
                <a:ea typeface="Calibri"/>
                <a:cs typeface="Calibri"/>
                <a:sym typeface="Calibri"/>
              </a:rPr>
              <a:t>)</a:t>
            </a:r>
            <a:endParaRPr dirty="0"/>
          </a:p>
        </p:txBody>
      </p:sp>
      <p:sp>
        <p:nvSpPr>
          <p:cNvPr id="815" name="Google Shape;815;p25"/>
          <p:cNvSpPr txBox="1"/>
          <p:nvPr/>
        </p:nvSpPr>
        <p:spPr>
          <a:xfrm>
            <a:off x="503238" y="912813"/>
            <a:ext cx="2939266"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PARTICIONAMIENTO DE ÍNDICES</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46138FC7-10B7-3B42-D196-0DB35F780C8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PARTICIONAMIENTO EN SQL SERVER</a:t>
            </a:r>
            <a:endParaRPr lang="es-PE" sz="1000" dirty="0">
              <a:solidFill>
                <a:schemeClr val="bg1">
                  <a:lumMod val="65000"/>
                </a:schemeClr>
              </a:solidFill>
              <a:latin typeface="Calibri" charset="0"/>
              <a:cs typeface="Calibri" charset="0"/>
            </a:endParaRPr>
          </a:p>
        </p:txBody>
      </p:sp>
      <p:sp>
        <p:nvSpPr>
          <p:cNvPr id="3" name="Más 2">
            <a:extLst>
              <a:ext uri="{FF2B5EF4-FFF2-40B4-BE49-F238E27FC236}">
                <a16:creationId xmlns:a16="http://schemas.microsoft.com/office/drawing/2014/main" id="{DAC12125-6F54-8B3B-A2DA-EC01A3F9592F}"/>
              </a:ext>
            </a:extLst>
          </p:cNvPr>
          <p:cNvSpPr/>
          <p:nvPr/>
        </p:nvSpPr>
        <p:spPr>
          <a:xfrm>
            <a:off x="607871" y="1395520"/>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 name="Conector recto 3">
            <a:extLst>
              <a:ext uri="{FF2B5EF4-FFF2-40B4-BE49-F238E27FC236}">
                <a16:creationId xmlns:a16="http://schemas.microsoft.com/office/drawing/2014/main" id="{360DD307-4C30-677E-06D8-A1061A5B33EB}"/>
              </a:ext>
            </a:extLst>
          </p:cNvPr>
          <p:cNvCxnSpPr>
            <a:cxnSpLocks/>
          </p:cNvCxnSpPr>
          <p:nvPr/>
        </p:nvCxnSpPr>
        <p:spPr>
          <a:xfrm>
            <a:off x="684213" y="1584727"/>
            <a:ext cx="0" cy="1193390"/>
          </a:xfrm>
          <a:prstGeom prst="line">
            <a:avLst/>
          </a:prstGeom>
          <a:ln>
            <a:solidFill>
              <a:srgbClr val="00B1C2"/>
            </a:solidFill>
          </a:ln>
        </p:spPr>
        <p:style>
          <a:lnRef idx="1">
            <a:schemeClr val="accent1"/>
          </a:lnRef>
          <a:fillRef idx="0">
            <a:schemeClr val="accent1"/>
          </a:fillRef>
          <a:effectRef idx="0">
            <a:schemeClr val="accent1"/>
          </a:effectRef>
          <a:fontRef idx="minor">
            <a:schemeClr val="tx1"/>
          </a:fontRef>
        </p:style>
      </p:cxnSp>
      <p:sp>
        <p:nvSpPr>
          <p:cNvPr id="5" name="Más 4">
            <a:extLst>
              <a:ext uri="{FF2B5EF4-FFF2-40B4-BE49-F238E27FC236}">
                <a16:creationId xmlns:a16="http://schemas.microsoft.com/office/drawing/2014/main" id="{8BCABC9C-BB8D-2868-2879-EF3215816EA9}"/>
              </a:ext>
            </a:extLst>
          </p:cNvPr>
          <p:cNvSpPr/>
          <p:nvPr/>
        </p:nvSpPr>
        <p:spPr>
          <a:xfrm>
            <a:off x="607871" y="2858560"/>
            <a:ext cx="152683" cy="152683"/>
          </a:xfrm>
          <a:prstGeom prst="mathPlus">
            <a:avLst>
              <a:gd name="adj1" fmla="val 1520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2" y="3169972"/>
            <a:ext cx="6611937" cy="1291636"/>
          </a:xfrm>
          <a:prstGeom prst="rect">
            <a:avLst/>
          </a:prstGeom>
          <a:noFill/>
        </p:spPr>
        <p:txBody>
          <a:bodyPr wrap="square" lIns="0" tIns="0" rIns="0" bIns="0" rtlCol="0">
            <a:spAutoFit/>
          </a:bodyPr>
          <a:lstStyle/>
          <a:p>
            <a:pPr marR="0" lvl="0" indent="-182563">
              <a:lnSpc>
                <a:spcPct val="90000"/>
              </a:lnSpc>
              <a:spcBef>
                <a:spcPts val="1000"/>
              </a:spcBef>
              <a:spcAft>
                <a:spcPts val="0"/>
              </a:spcAft>
              <a:buClr>
                <a:srgbClr val="FFFFFF"/>
              </a:buClr>
              <a:buSzPts val="2800"/>
              <a:buFont typeface="Calibri"/>
              <a:buNone/>
              <a:defRPr/>
            </a:pPr>
            <a:r>
              <a:rPr lang="en-US" sz="2800" dirty="0">
                <a:solidFill>
                  <a:schemeClr val="bg1"/>
                </a:solidFill>
                <a:latin typeface="Graphik Regular" panose="020B0503030202060203" pitchFamily="34" charset="77"/>
                <a:sym typeface="Calibri"/>
              </a:rPr>
              <a:t>CREACIÓN DE PAQUETES SQL SERVER </a:t>
            </a:r>
            <a:r>
              <a:rPr lang="en-US" sz="2800" b="1" dirty="0">
                <a:solidFill>
                  <a:schemeClr val="bg1"/>
                </a:solidFill>
                <a:latin typeface="Graphik Bold" panose="020B0503030202060203" pitchFamily="34" charset="77"/>
                <a:sym typeface="Calibri"/>
              </a:rPr>
              <a:t>INTEGRATION SERVICES (SSIS)</a:t>
            </a:r>
          </a:p>
          <a:p>
            <a:pPr>
              <a:lnSpc>
                <a:spcPct val="90000"/>
              </a:lnSpc>
              <a:spcBef>
                <a:spcPts val="1000"/>
              </a:spcBef>
              <a:defRPr/>
            </a:pP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16434074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9" name="Google Shape;829;p27"/>
          <p:cNvSpPr txBox="1"/>
          <p:nvPr/>
        </p:nvSpPr>
        <p:spPr>
          <a:xfrm>
            <a:off x="503238" y="926207"/>
            <a:ext cx="229889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SQL SERVER DATA TOOLS</a:t>
            </a:r>
            <a:endParaRPr sz="1600" b="1" dirty="0">
              <a:solidFill>
                <a:schemeClr val="dk1"/>
              </a:solidFill>
              <a:latin typeface="Calibri"/>
              <a:ea typeface="Calibri"/>
              <a:cs typeface="Calibri"/>
              <a:sym typeface="Calibri"/>
            </a:endParaRPr>
          </a:p>
        </p:txBody>
      </p:sp>
      <p:pic>
        <p:nvPicPr>
          <p:cNvPr id="830" name="Google Shape;830;p27"/>
          <p:cNvPicPr preferRelativeResize="0"/>
          <p:nvPr/>
        </p:nvPicPr>
        <p:blipFill rotWithShape="1">
          <a:blip r:embed="rId3">
            <a:alphaModFix/>
          </a:blip>
          <a:srcRect/>
          <a:stretch/>
        </p:blipFill>
        <p:spPr>
          <a:xfrm>
            <a:off x="1767840" y="1328594"/>
            <a:ext cx="5608320" cy="3008630"/>
          </a:xfrm>
          <a:prstGeom prst="rect">
            <a:avLst/>
          </a:prstGeom>
          <a:noFill/>
          <a:ln>
            <a:noFill/>
          </a:ln>
        </p:spPr>
      </p:pic>
      <p:sp>
        <p:nvSpPr>
          <p:cNvPr id="831" name="Google Shape;831;p27"/>
          <p:cNvSpPr txBox="1"/>
          <p:nvPr/>
        </p:nvSpPr>
        <p:spPr>
          <a:xfrm>
            <a:off x="503237" y="4493390"/>
            <a:ext cx="8165977" cy="6326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s-ES_tradnl" sz="1600">
                <a:solidFill>
                  <a:schemeClr val="dk1"/>
                </a:solidFill>
                <a:latin typeface="Calibri"/>
                <a:ea typeface="Calibri"/>
                <a:cs typeface="Calibri"/>
                <a:sym typeface="Calibri"/>
              </a:rPr>
              <a:t>SQL Server Data Tools es un conjunto de herramientas que permite crear y gestionar proyectos de SQL Server Integration Services (SSIS) y de SQL Server Analysis Services (SSAS).</a:t>
            </a:r>
          </a:p>
        </p:txBody>
      </p:sp>
      <p:sp>
        <p:nvSpPr>
          <p:cNvPr id="2" name="Rectangle 5">
            <a:extLst>
              <a:ext uri="{FF2B5EF4-FFF2-40B4-BE49-F238E27FC236}">
                <a16:creationId xmlns:a16="http://schemas.microsoft.com/office/drawing/2014/main" id="{9FCD5EF0-6F9D-89F7-9D7B-5CBDAA6B20C8}"/>
              </a:ext>
            </a:extLst>
          </p:cNvPr>
          <p:cNvSpPr/>
          <p:nvPr/>
        </p:nvSpPr>
        <p:spPr>
          <a:xfrm>
            <a:off x="503238" y="376836"/>
            <a:ext cx="375761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CREACIÓN DE PAQUETES SQL SERVER INTEGRATION SERVICES (SSIS)</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9" name="Google Shape;839;p28"/>
          <p:cNvSpPr txBox="1"/>
          <p:nvPr/>
        </p:nvSpPr>
        <p:spPr>
          <a:xfrm>
            <a:off x="503238" y="912813"/>
            <a:ext cx="3757612" cy="3253155"/>
          </a:xfrm>
          <a:prstGeom prst="rect">
            <a:avLst/>
          </a:prstGeom>
          <a:noFill/>
          <a:ln>
            <a:noFill/>
          </a:ln>
        </p:spPr>
        <p:txBody>
          <a:bodyPr spcFirstLastPara="1" wrap="square" lIns="0" tIns="0" rIns="0" bIns="0" anchor="t" anchorCtr="0">
            <a:noAutofit/>
          </a:bodyPr>
          <a:lstStyle/>
          <a:p>
            <a:pPr>
              <a:spcAft>
                <a:spcPts val="600"/>
              </a:spcAft>
            </a:pPr>
            <a:r>
              <a:rPr lang="es-ES_tradnl" sz="1600" b="1" dirty="0">
                <a:solidFill>
                  <a:schemeClr val="dk1"/>
                </a:solidFill>
                <a:latin typeface="Calibri" panose="020F0502020204030204" pitchFamily="34" charset="0"/>
                <a:ea typeface="Calibri"/>
                <a:cs typeface="Calibri" panose="020F0502020204030204" pitchFamily="34" charset="0"/>
                <a:sym typeface="Calibri"/>
              </a:rPr>
              <a:t>PAQUETES SSIS</a:t>
            </a:r>
          </a:p>
          <a:p>
            <a:pPr marL="182563" marR="0" lvl="0" indent="-182563" rtl="0">
              <a:spcBef>
                <a:spcPts val="0"/>
              </a:spcBef>
              <a:spcAft>
                <a:spcPts val="0"/>
              </a:spcAft>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Un paquete SSIS es un programa que ejecuta un conjunto de tareas vinculadas a las operaciones ETL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Extraction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a:t>
            </a:r>
            <a:r>
              <a:rPr lang="es-ES_tradnl" sz="1600" dirty="0" err="1">
                <a:solidFill>
                  <a:schemeClr val="dk1"/>
                </a:solidFill>
                <a:latin typeface="Calibri" panose="020F0502020204030204" pitchFamily="34" charset="0"/>
                <a:ea typeface="Calibri"/>
                <a:cs typeface="Calibri" panose="020F0502020204030204" pitchFamily="34" charset="0"/>
                <a:sym typeface="Calibri"/>
              </a:rPr>
              <a:t>Transformation</a:t>
            </a:r>
            <a:r>
              <a:rPr lang="es-ES_tradnl" sz="1600" dirty="0">
                <a:solidFill>
                  <a:schemeClr val="dk1"/>
                </a:solidFill>
                <a:latin typeface="Calibri" panose="020F0502020204030204" pitchFamily="34" charset="0"/>
                <a:ea typeface="Calibri"/>
                <a:cs typeface="Calibri" panose="020F0502020204030204" pitchFamily="34" charset="0"/>
                <a:sym typeface="Calibri"/>
              </a:rPr>
              <a:t>, Load).</a:t>
            </a:r>
            <a:endParaRPr lang="es-ES_tradnl" sz="1600" dirty="0">
              <a:latin typeface="Calibri" panose="020F0502020204030204" pitchFamily="34" charset="0"/>
              <a:cs typeface="Calibri" panose="020F0502020204030204" pitchFamily="34" charset="0"/>
            </a:endParaRPr>
          </a:p>
          <a:p>
            <a:pPr marL="182563" marR="0" lvl="0" indent="-182563" rtl="0">
              <a:spcBef>
                <a:spcPts val="0"/>
              </a:spcBef>
              <a:spcAft>
                <a:spcPts val="0"/>
              </a:spcAft>
              <a:buFont typeface="Arial" panose="020B0604020202020204" pitchFamily="34" charset="0"/>
              <a:buChar char="•"/>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2563" marR="0" lvl="0" indent="-182563" rtl="0">
              <a:spcBef>
                <a:spcPts val="0"/>
              </a:spcBef>
              <a:spcAft>
                <a:spcPts val="0"/>
              </a:spcAft>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En un paquete SSIS la tarea central es la </a:t>
            </a:r>
            <a:r>
              <a:rPr lang="es-ES_tradnl" sz="1600" b="1" dirty="0">
                <a:solidFill>
                  <a:schemeClr val="dk1"/>
                </a:solidFill>
                <a:latin typeface="Calibri" panose="020F0502020204030204" pitchFamily="34" charset="0"/>
                <a:ea typeface="Calibri"/>
                <a:cs typeface="Calibri" panose="020F0502020204030204" pitchFamily="34" charset="0"/>
                <a:sym typeface="Calibri"/>
              </a:rPr>
              <a:t>Tarea Flujo de datos</a:t>
            </a:r>
            <a:r>
              <a:rPr lang="es-ES_tradnl" sz="1600" dirty="0">
                <a:solidFill>
                  <a:schemeClr val="dk1"/>
                </a:solidFill>
                <a:latin typeface="Calibri" panose="020F0502020204030204" pitchFamily="34" charset="0"/>
                <a:ea typeface="Calibri"/>
                <a:cs typeface="Calibri" panose="020F0502020204030204" pitchFamily="34" charset="0"/>
                <a:sym typeface="Calibri"/>
              </a:rPr>
              <a:t>, que es la que permite configurar una operación ETL.</a:t>
            </a:r>
            <a:endParaRPr lang="es-ES_tradnl" sz="1600" dirty="0">
              <a:latin typeface="Calibri" panose="020F0502020204030204" pitchFamily="34" charset="0"/>
              <a:cs typeface="Calibri" panose="020F0502020204030204" pitchFamily="34" charset="0"/>
            </a:endParaRPr>
          </a:p>
          <a:p>
            <a:pPr marL="182563" marR="0" lvl="0" indent="-182563" rtl="0">
              <a:spcBef>
                <a:spcPts val="0"/>
              </a:spcBef>
              <a:spcAft>
                <a:spcPts val="0"/>
              </a:spcAft>
              <a:buFont typeface="Arial" panose="020B0604020202020204" pitchFamily="34" charset="0"/>
              <a:buChar char="•"/>
            </a:pPr>
            <a:endParaRPr lang="es-ES_tradnl" sz="1600" dirty="0">
              <a:solidFill>
                <a:schemeClr val="dk1"/>
              </a:solidFill>
              <a:latin typeface="Calibri" panose="020F0502020204030204" pitchFamily="34" charset="0"/>
              <a:ea typeface="Calibri"/>
              <a:cs typeface="Calibri" panose="020F0502020204030204" pitchFamily="34" charset="0"/>
              <a:sym typeface="Calibri"/>
            </a:endParaRPr>
          </a:p>
          <a:p>
            <a:pPr marL="182563" marR="0" lvl="0" indent="-182563" rtl="0">
              <a:spcBef>
                <a:spcPts val="0"/>
              </a:spcBef>
              <a:spcAft>
                <a:spcPts val="0"/>
              </a:spcAft>
              <a:buFont typeface="Arial" panose="020B0604020202020204" pitchFamily="34" charset="0"/>
              <a:buChar char="•"/>
            </a:pPr>
            <a:r>
              <a:rPr lang="es-ES_tradnl" sz="1600" dirty="0">
                <a:solidFill>
                  <a:schemeClr val="dk1"/>
                </a:solidFill>
                <a:latin typeface="Calibri" panose="020F0502020204030204" pitchFamily="34" charset="0"/>
                <a:ea typeface="Calibri"/>
                <a:cs typeface="Calibri" panose="020F0502020204030204" pitchFamily="34" charset="0"/>
                <a:sym typeface="Calibri"/>
              </a:rPr>
              <a:t>Veremos el uso de las herramientas SQL Server Data Tools a través de la ejecución de una Actividad No Calificada.</a:t>
            </a:r>
          </a:p>
        </p:txBody>
      </p:sp>
      <p:pic>
        <p:nvPicPr>
          <p:cNvPr id="840" name="Google Shape;840;p28"/>
          <p:cNvPicPr preferRelativeResize="0"/>
          <p:nvPr/>
        </p:nvPicPr>
        <p:blipFill rotWithShape="1">
          <a:blip r:embed="rId3">
            <a:alphaModFix/>
          </a:blip>
          <a:srcRect/>
          <a:stretch/>
        </p:blipFill>
        <p:spPr>
          <a:xfrm>
            <a:off x="5384022" y="912813"/>
            <a:ext cx="2634673" cy="4321174"/>
          </a:xfrm>
          <a:prstGeom prst="rect">
            <a:avLst/>
          </a:prstGeom>
          <a:noFill/>
          <a:ln>
            <a:noFill/>
          </a:ln>
        </p:spPr>
      </p:pic>
      <p:sp>
        <p:nvSpPr>
          <p:cNvPr id="2" name="Rectangle 5">
            <a:extLst>
              <a:ext uri="{FF2B5EF4-FFF2-40B4-BE49-F238E27FC236}">
                <a16:creationId xmlns:a16="http://schemas.microsoft.com/office/drawing/2014/main" id="{68C13314-9A46-CEB8-E9C1-58117C1D5777}"/>
              </a:ext>
            </a:extLst>
          </p:cNvPr>
          <p:cNvSpPr/>
          <p:nvPr/>
        </p:nvSpPr>
        <p:spPr>
          <a:xfrm>
            <a:off x="503238" y="376836"/>
            <a:ext cx="375761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PCREACIÓN DE PAQUETES SQL SERVER INTEGRATION SERVICES (SSIS)</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3161235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object 7"/>
          <p:cNvSpPr txBox="1"/>
          <p:nvPr/>
        </p:nvSpPr>
        <p:spPr>
          <a:xfrm>
            <a:off x="1279544" y="912813"/>
            <a:ext cx="5431974" cy="2154436"/>
          </a:xfrm>
          <a:prstGeom prst="rect">
            <a:avLst/>
          </a:prstGeom>
        </p:spPr>
        <p:txBody>
          <a:bodyPr vert="horz" wrap="square" lIns="0" tIns="0" rIns="0" bIns="0" rtlCol="0">
            <a:spAutoFit/>
          </a:bodyPr>
          <a:lstStyle/>
          <a:p>
            <a:pPr marR="0" lvl="0" rtl="0">
              <a:spcBef>
                <a:spcPts val="0"/>
              </a:spcBef>
              <a:spcAft>
                <a:spcPts val="0"/>
              </a:spcAft>
              <a:buClr>
                <a:schemeClr val="lt1"/>
              </a:buClr>
              <a:buSzPts val="1700"/>
            </a:pPr>
            <a:r>
              <a:rPr lang="es-ES_tradnl" sz="1400">
                <a:latin typeface="Calibri" panose="020F0502020204030204" pitchFamily="34" charset="0"/>
                <a:ea typeface="Calibri"/>
                <a:cs typeface="Calibri" panose="020F0502020204030204" pitchFamily="34" charset="0"/>
                <a:sym typeface="Calibri"/>
              </a:rPr>
              <a:t>El </a:t>
            </a:r>
            <a:r>
              <a:rPr lang="es-ES_tradnl" sz="1400" b="1">
                <a:latin typeface="Calibri" panose="020F0502020204030204" pitchFamily="34" charset="0"/>
                <a:ea typeface="Calibri"/>
                <a:cs typeface="Calibri" panose="020F0502020204030204" pitchFamily="34" charset="0"/>
                <a:sym typeface="Calibri"/>
              </a:rPr>
              <a:t>staging area </a:t>
            </a:r>
            <a:r>
              <a:rPr lang="es-ES_tradnl" sz="1400">
                <a:latin typeface="Calibri" panose="020F0502020204030204" pitchFamily="34" charset="0"/>
                <a:ea typeface="Calibri"/>
                <a:cs typeface="Calibri" panose="020F0502020204030204" pitchFamily="34" charset="0"/>
                <a:sym typeface="Calibri"/>
              </a:rPr>
              <a:t>es un almacenamiento intermedio usado en las operaciones ETL para corregir, estandarizar y consolidar los datos provenientes de las fuentes de datos transaccionales u operacionales, antes de almacenarlas en el almacenamiento dimensional.</a:t>
            </a:r>
            <a:endParaRPr lang="es-ES_tradnl" sz="1400">
              <a:latin typeface="Calibri" panose="020F0502020204030204" pitchFamily="34" charset="0"/>
              <a:cs typeface="Calibri" panose="020F0502020204030204" pitchFamily="34" charset="0"/>
            </a:endParaRPr>
          </a:p>
          <a:p>
            <a:pPr marL="107951" marR="0" lvl="0" rtl="0">
              <a:spcBef>
                <a:spcPts val="0"/>
              </a:spcBef>
              <a:spcAft>
                <a:spcPts val="0"/>
              </a:spcAft>
              <a:buClr>
                <a:schemeClr val="dk1"/>
              </a:buClr>
              <a:buSzPts val="1700"/>
            </a:pPr>
            <a:endParaRPr lang="es-ES_tradnl" sz="1400">
              <a:latin typeface="Calibri" panose="020F0502020204030204" pitchFamily="34" charset="0"/>
              <a:ea typeface="Calibri"/>
              <a:cs typeface="Calibri" panose="020F0502020204030204" pitchFamily="34" charset="0"/>
              <a:sym typeface="Calibri"/>
            </a:endParaRPr>
          </a:p>
          <a:p>
            <a:pPr marR="0" lvl="0" rtl="0">
              <a:spcBef>
                <a:spcPts val="0"/>
              </a:spcBef>
              <a:spcAft>
                <a:spcPts val="0"/>
              </a:spcAft>
              <a:buClr>
                <a:schemeClr val="lt1"/>
              </a:buClr>
              <a:buSzPts val="1700"/>
            </a:pPr>
            <a:r>
              <a:rPr lang="es-ES_tradnl" sz="1400">
                <a:latin typeface="Calibri" panose="020F0502020204030204" pitchFamily="34" charset="0"/>
                <a:ea typeface="Calibri"/>
                <a:cs typeface="Calibri" panose="020F0502020204030204" pitchFamily="34" charset="0"/>
                <a:sym typeface="Calibri"/>
              </a:rPr>
              <a:t>El </a:t>
            </a:r>
            <a:r>
              <a:rPr lang="es-ES_tradnl" sz="1400" b="1">
                <a:latin typeface="Calibri" panose="020F0502020204030204" pitchFamily="34" charset="0"/>
                <a:ea typeface="Calibri"/>
                <a:cs typeface="Calibri" panose="020F0502020204030204" pitchFamily="34" charset="0"/>
                <a:sym typeface="Calibri"/>
              </a:rPr>
              <a:t>particionamiento</a:t>
            </a:r>
            <a:r>
              <a:rPr lang="es-ES_tradnl" sz="1400">
                <a:latin typeface="Calibri" panose="020F0502020204030204" pitchFamily="34" charset="0"/>
                <a:ea typeface="Calibri"/>
                <a:cs typeface="Calibri" panose="020F0502020204030204" pitchFamily="34" charset="0"/>
                <a:sym typeface="Calibri"/>
              </a:rPr>
              <a:t> de las bases de datos muy grandes </a:t>
            </a:r>
            <a:r>
              <a:rPr lang="es-ES_tradnl" sz="1400" b="1">
                <a:latin typeface="Calibri" panose="020F0502020204030204" pitchFamily="34" charset="0"/>
                <a:ea typeface="Calibri"/>
                <a:cs typeface="Calibri" panose="020F0502020204030204" pitchFamily="34" charset="0"/>
                <a:sym typeface="Calibri"/>
              </a:rPr>
              <a:t>mejora el acceso de las consultas a los datos</a:t>
            </a:r>
            <a:r>
              <a:rPr lang="es-ES_tradnl" sz="1400">
                <a:latin typeface="Calibri" panose="020F0502020204030204" pitchFamily="34" charset="0"/>
                <a:ea typeface="Calibri"/>
                <a:cs typeface="Calibri" panose="020F0502020204030204" pitchFamily="34" charset="0"/>
                <a:sym typeface="Calibri"/>
              </a:rPr>
              <a:t>.</a:t>
            </a:r>
            <a:endParaRPr lang="es-ES_tradnl" sz="1400">
              <a:latin typeface="Calibri" panose="020F0502020204030204" pitchFamily="34" charset="0"/>
              <a:cs typeface="Calibri" panose="020F0502020204030204" pitchFamily="34" charset="0"/>
            </a:endParaRPr>
          </a:p>
          <a:p>
            <a:pPr marL="107951" marR="0" lvl="0" rtl="0">
              <a:spcBef>
                <a:spcPts val="0"/>
              </a:spcBef>
              <a:spcAft>
                <a:spcPts val="0"/>
              </a:spcAft>
              <a:buClr>
                <a:schemeClr val="dk1"/>
              </a:buClr>
              <a:buSzPts val="1700"/>
            </a:pPr>
            <a:endParaRPr lang="es-ES_tradnl" sz="1400">
              <a:latin typeface="Calibri" panose="020F0502020204030204" pitchFamily="34" charset="0"/>
              <a:ea typeface="Calibri"/>
              <a:cs typeface="Calibri" panose="020F0502020204030204" pitchFamily="34" charset="0"/>
              <a:sym typeface="Calibri"/>
            </a:endParaRPr>
          </a:p>
          <a:p>
            <a:pPr marR="0" lvl="0" rtl="0">
              <a:spcBef>
                <a:spcPts val="0"/>
              </a:spcBef>
              <a:spcAft>
                <a:spcPts val="0"/>
              </a:spcAft>
              <a:buClr>
                <a:schemeClr val="lt1"/>
              </a:buClr>
              <a:buSzPts val="1700"/>
            </a:pPr>
            <a:r>
              <a:rPr lang="es-ES_tradnl" sz="1400">
                <a:latin typeface="Calibri" panose="020F0502020204030204" pitchFamily="34" charset="0"/>
                <a:ea typeface="Calibri"/>
                <a:cs typeface="Calibri" panose="020F0502020204030204" pitchFamily="34" charset="0"/>
                <a:sym typeface="Calibri"/>
              </a:rPr>
              <a:t>Además del tipo de consultas, la </a:t>
            </a:r>
            <a:r>
              <a:rPr lang="es-ES_tradnl" sz="1400" b="1">
                <a:latin typeface="Calibri" panose="020F0502020204030204" pitchFamily="34" charset="0"/>
                <a:ea typeface="Calibri"/>
                <a:cs typeface="Calibri" panose="020F0502020204030204" pitchFamily="34" charset="0"/>
                <a:sym typeface="Calibri"/>
              </a:rPr>
              <a:t>arquitectura del hardware </a:t>
            </a:r>
            <a:r>
              <a:rPr lang="es-ES_tradnl" sz="1400">
                <a:latin typeface="Calibri" panose="020F0502020204030204" pitchFamily="34" charset="0"/>
                <a:ea typeface="Calibri"/>
                <a:cs typeface="Calibri" panose="020F0502020204030204" pitchFamily="34" charset="0"/>
                <a:sym typeface="Calibri"/>
              </a:rPr>
              <a:t>influye en la estrategia del diseño de particionamiento de una base de datos.</a:t>
            </a:r>
            <a:endParaRPr lang="es-ES_tradnl" sz="1400">
              <a:latin typeface="Calibri" panose="020F0502020204030204" pitchFamily="34" charset="0"/>
              <a:cs typeface="Calibri" panose="020F0502020204030204" pitchFamily="34" charset="0"/>
            </a:endParaRP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2029359"/>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5" name="Imagen 4">
            <a:extLst>
              <a:ext uri="{FF2B5EF4-FFF2-40B4-BE49-F238E27FC236}">
                <a16:creationId xmlns:a16="http://schemas.microsoft.com/office/drawing/2014/main" id="{3A9803F0-9407-85A4-39AF-7A20CD1AE5AB}"/>
              </a:ext>
            </a:extLst>
          </p:cNvPr>
          <p:cNvPicPr>
            <a:picLocks noChangeAspect="1"/>
          </p:cNvPicPr>
          <p:nvPr/>
        </p:nvPicPr>
        <p:blipFill>
          <a:blip r:embed="rId3"/>
          <a:stretch>
            <a:fillRect/>
          </a:stretch>
        </p:blipFill>
        <p:spPr>
          <a:xfrm>
            <a:off x="1011260" y="2656486"/>
            <a:ext cx="114138" cy="117546"/>
          </a:xfrm>
          <a:prstGeom prst="rect">
            <a:avLst/>
          </a:prstGeom>
        </p:spPr>
      </p:pic>
    </p:spTree>
    <p:extLst>
      <p:ext uri="{BB962C8B-B14F-4D97-AF65-F5344CB8AC3E}">
        <p14:creationId xmlns:p14="http://schemas.microsoft.com/office/powerpoint/2010/main" val="4093090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903095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5394</TotalTime>
  <Words>1757</Words>
  <Application>Microsoft Office PowerPoint</Application>
  <PresentationFormat>Presentación en pantalla (16:10)</PresentationFormat>
  <Paragraphs>348</Paragraphs>
  <Slides>32</Slides>
  <Notes>29</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32</vt:i4>
      </vt:variant>
    </vt:vector>
  </HeadingPairs>
  <TitlesOfParts>
    <vt:vector size="42" baseType="lpstr">
      <vt:lpstr>Arial</vt:lpstr>
      <vt:lpstr>Arimo</vt:lpstr>
      <vt:lpstr>Calibri</vt:lpstr>
      <vt:lpstr>Graphik Bold</vt:lpstr>
      <vt:lpstr>Graphik Medium</vt:lpstr>
      <vt:lpstr>Graphik Regular</vt:lpstr>
      <vt:lpstr>Quattrocento Sans</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Rosa Maria Muñoz Mendo</cp:lastModifiedBy>
  <cp:revision>410</cp:revision>
  <cp:lastPrinted>2018-01-16T21:42:59Z</cp:lastPrinted>
  <dcterms:created xsi:type="dcterms:W3CDTF">2016-10-06T14:52:02Z</dcterms:created>
  <dcterms:modified xsi:type="dcterms:W3CDTF">2024-07-01T14:21:13Z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