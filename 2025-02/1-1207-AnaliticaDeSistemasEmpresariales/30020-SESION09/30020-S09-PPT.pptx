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662" r:id="rId2"/>
    <p:sldId id="627" r:id="rId3"/>
    <p:sldId id="628" r:id="rId4"/>
    <p:sldId id="629" r:id="rId5"/>
    <p:sldId id="336" r:id="rId6"/>
    <p:sldId id="663" r:id="rId7"/>
    <p:sldId id="347" r:id="rId8"/>
    <p:sldId id="664" r:id="rId9"/>
    <p:sldId id="349" r:id="rId10"/>
    <p:sldId id="665" r:id="rId11"/>
    <p:sldId id="345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588" r:id="rId20"/>
    <p:sldId id="589" r:id="rId21"/>
    <p:sldId id="590" r:id="rId22"/>
    <p:sldId id="591" r:id="rId23"/>
    <p:sldId id="593" r:id="rId24"/>
  </p:sldIdLst>
  <p:sldSz cx="9144000" cy="5715000" type="screen16x10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639"/>
    <a:srgbClr val="01B1C2"/>
    <a:srgbClr val="F2F2F2"/>
    <a:srgbClr val="558ED5"/>
    <a:srgbClr val="1F85A6"/>
    <a:srgbClr val="E6E6E6"/>
    <a:srgbClr val="D1022C"/>
    <a:srgbClr val="BFD5EF"/>
    <a:srgbClr val="FFFFF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7" autoAdjust="0"/>
    <p:restoredTop sz="93765" autoAdjust="0"/>
  </p:normalViewPr>
  <p:slideViewPr>
    <p:cSldViewPr snapToGrid="0" snapToObjects="1" showGuides="1">
      <p:cViewPr varScale="1">
        <p:scale>
          <a:sx n="118" d="100"/>
          <a:sy n="118" d="100"/>
        </p:scale>
        <p:origin x="208" y="90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20/8/24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20/08/24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29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643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5700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840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6378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5634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6399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1312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1999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15275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3710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11145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852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4985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056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0565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15913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657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3">
            <a:extLst>
              <a:ext uri="{FF2B5EF4-FFF2-40B4-BE49-F238E27FC236}">
                <a16:creationId xmlns:a16="http://schemas.microsoft.com/office/drawing/2014/main" id="{EE396788-5A79-8D39-BC8E-86ECEB650A77}"/>
              </a:ext>
            </a:extLst>
          </p:cNvPr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3" name="TextBox 7">
              <a:extLst>
                <a:ext uri="{FF2B5EF4-FFF2-40B4-BE49-F238E27FC236}">
                  <a16:creationId xmlns:a16="http://schemas.microsoft.com/office/drawing/2014/main" id="{C9FEC313-CD23-47F0-A828-849E12E5E3CC}"/>
                </a:ext>
              </a:extLst>
            </p:cNvPr>
            <p:cNvSpPr txBox="1"/>
            <p:nvPr userDrawn="1"/>
          </p:nvSpPr>
          <p:spPr>
            <a:xfrm>
              <a:off x="944054" y="5343295"/>
              <a:ext cx="246734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ANALÍTICA DE SISTEMAS EMPRESARIALES</a:t>
              </a:r>
              <a:r>
                <a:rPr lang="en-US" sz="800" kern="1200" baseline="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07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A55EED3-D33C-5537-ACE4-B21B34047BA4}"/>
                </a:ext>
              </a:extLst>
            </p:cNvPr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ISIL. Todos los derechos reservados</a:t>
              </a:r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629383BC-861E-A43F-194A-81F1472DC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1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3">
            <a:extLst>
              <a:ext uri="{FF2B5EF4-FFF2-40B4-BE49-F238E27FC236}">
                <a16:creationId xmlns:a16="http://schemas.microsoft.com/office/drawing/2014/main" id="{EB669248-F49E-6B06-61DA-C0579A348944}"/>
              </a:ext>
            </a:extLst>
          </p:cNvPr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89464503-36E5-EB82-52AE-152B984B0397}"/>
                </a:ext>
              </a:extLst>
            </p:cNvPr>
            <p:cNvSpPr txBox="1"/>
            <p:nvPr userDrawn="1"/>
          </p:nvSpPr>
          <p:spPr>
            <a:xfrm>
              <a:off x="944054" y="5343295"/>
              <a:ext cx="246734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ANALÍTICA DE SISTEMAS EMPRESARIALES</a:t>
              </a:r>
              <a:r>
                <a:rPr lang="en-US" sz="800" kern="1200" baseline="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09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D7095C6-AD41-2ACE-5A45-1BAEB8B79AFF}"/>
                </a:ext>
              </a:extLst>
            </p:cNvPr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ISIL. Todos los derechos reservados</a:t>
              </a: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66326B67-A3CD-D301-B774-105D9DAFA1A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3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pos="5465" userDrawn="1">
          <p15:clr>
            <a:srgbClr val="F26B43"/>
          </p15:clr>
        </p15:guide>
        <p15:guide id="3" pos="2993" userDrawn="1">
          <p15:clr>
            <a:srgbClr val="F26B43"/>
          </p15:clr>
        </p15:guide>
        <p15:guide id="4" pos="2767" userDrawn="1">
          <p15:clr>
            <a:srgbClr val="F26B43"/>
          </p15:clr>
        </p15:guide>
        <p15:guide id="5" pos="317" userDrawn="1">
          <p15:clr>
            <a:srgbClr val="F26B43"/>
          </p15:clr>
        </p15:guide>
        <p15:guide id="6" orient="horz" pos="303" userDrawn="1">
          <p15:clr>
            <a:srgbClr val="F26B43"/>
          </p15:clr>
        </p15:guide>
        <p15:guide id="7" orient="horz" pos="575" userDrawn="1">
          <p15:clr>
            <a:srgbClr val="F26B43"/>
          </p15:clr>
        </p15:guide>
        <p15:guide id="8" orient="horz" pos="32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owerplatform.microsoft.com/en-u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hyperlink" Target="https://docs.microsoft.com/es-es/power-bi/power-bi-overview" TargetMode="External"/><Relationship Id="rId7" Type="http://schemas.openxmlformats.org/officeDocument/2006/relationships/image" Target="../media/image21.png"/><Relationship Id="rId12" Type="http://schemas.microsoft.com/office/2007/relationships/hdphoto" Target="../media/hdphoto6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microsoft.com/office/2007/relationships/hdphoto" Target="../media/hdphoto5.wdp"/><Relationship Id="rId4" Type="http://schemas.openxmlformats.org/officeDocument/2006/relationships/image" Target="../media/image18.emf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7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1" dirty="0">
                <a:solidFill>
                  <a:srgbClr val="6C6D6C"/>
                </a:solidFill>
                <a:latin typeface="Calibri" charset="0"/>
                <a:cs typeface="Calibri" charset="0"/>
                <a:sym typeface="Wingdings"/>
              </a:rPr>
              <a:t>ANALÍTICA DE SISTEMAS EMPRESARIALES </a:t>
            </a:r>
            <a:endParaRPr lang="es-ES_tradnl" sz="900" b="1" dirty="0">
              <a:solidFill>
                <a:srgbClr val="6C6D6C"/>
              </a:solidFill>
              <a:latin typeface="Calibri" charset="0"/>
              <a:cs typeface="Calibri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6F030B-C752-AD44-958B-E73463C78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49" y="1"/>
            <a:ext cx="5391150" cy="5715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C56C332-AC9C-5CDE-E4A7-D1AD9C720B6F}"/>
              </a:ext>
            </a:extLst>
          </p:cNvPr>
          <p:cNvSpPr/>
          <p:nvPr/>
        </p:nvSpPr>
        <p:spPr>
          <a:xfrm>
            <a:off x="503239" y="2177570"/>
            <a:ext cx="3012959" cy="7755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ES" sz="2800" dirty="0">
                <a:latin typeface="Graphik-Medium" panose="020B0503030202060203" pitchFamily="34" charset="77"/>
              </a:rPr>
              <a:t>VISUALIZACIÓN</a:t>
            </a:r>
          </a:p>
          <a:p>
            <a:pPr>
              <a:lnSpc>
                <a:spcPct val="90000"/>
              </a:lnSpc>
            </a:pPr>
            <a:r>
              <a:rPr lang="es-ES" sz="2800" b="1" dirty="0">
                <a:latin typeface="Graphik Bold" panose="020B0503030202060203" pitchFamily="34" charset="77"/>
              </a:rPr>
              <a:t>DE DATOS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D1189B2-41AF-6D82-F5E0-ACAECF805B82}"/>
              </a:ext>
            </a:extLst>
          </p:cNvPr>
          <p:cNvSpPr/>
          <p:nvPr/>
        </p:nvSpPr>
        <p:spPr>
          <a:xfrm>
            <a:off x="503237" y="3357545"/>
            <a:ext cx="3012961" cy="10810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798" indent="-177798">
              <a:lnSpc>
                <a:spcPct val="120000"/>
              </a:lnSpc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ES" sz="1200" dirty="0">
                <a:latin typeface="Graphik-Medium" panose="020B0503030202060203" pitchFamily="34" charset="77"/>
              </a:rPr>
              <a:t>Objetivo de la visualización de datos</a:t>
            </a:r>
          </a:p>
          <a:p>
            <a:pPr marL="177798" indent="-177798">
              <a:lnSpc>
                <a:spcPct val="120000"/>
              </a:lnSpc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ES" sz="1200" i="1" dirty="0" err="1">
                <a:latin typeface="Graphik-MediumItalic" panose="020B0503030202060203" pitchFamily="34" charset="77"/>
              </a:rPr>
              <a:t>Storytelling</a:t>
            </a:r>
            <a:r>
              <a:rPr lang="es-ES" sz="1200" dirty="0">
                <a:latin typeface="Graphik-Medium" panose="020B0503030202060203" pitchFamily="34" charset="77"/>
              </a:rPr>
              <a:t> y visualización de datos</a:t>
            </a:r>
          </a:p>
          <a:p>
            <a:pPr marL="177798" indent="-177798">
              <a:lnSpc>
                <a:spcPct val="120000"/>
              </a:lnSpc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ES" sz="1200" dirty="0">
                <a:latin typeface="Graphik-Medium" panose="020B0503030202060203" pitchFamily="34" charset="77"/>
              </a:rPr>
              <a:t>Herramientas de autoservicio de inteligencia de negocios</a:t>
            </a:r>
          </a:p>
          <a:p>
            <a:pPr marL="177798" indent="-177798">
              <a:lnSpc>
                <a:spcPct val="120000"/>
              </a:lnSpc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ES" sz="1200" dirty="0" err="1">
                <a:latin typeface="Graphik-Medium" panose="020B0503030202060203" pitchFamily="34" charset="77"/>
              </a:rPr>
              <a:t>Power</a:t>
            </a:r>
            <a:r>
              <a:rPr lang="es-ES" sz="1200" dirty="0">
                <a:latin typeface="Graphik-Medium" panose="020B0503030202060203" pitchFamily="34" charset="77"/>
              </a:rPr>
              <a:t> BI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0C791E-55A4-CF62-B567-CC3C65452046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E14098"/>
                </a:solidFill>
                <a:latin typeface="Calibri" charset="0"/>
                <a:ea typeface="Calibri" charset="0"/>
                <a:cs typeface="Calibri" charset="0"/>
              </a:rPr>
              <a:t>SESIÓN 09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74548A7-011E-0B5D-1381-0BA486642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9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object 7"/>
          <p:cNvSpPr txBox="1"/>
          <p:nvPr/>
        </p:nvSpPr>
        <p:spPr>
          <a:xfrm>
            <a:off x="1282299" y="954551"/>
            <a:ext cx="4782746" cy="150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cs typeface="Source Sans Pro"/>
              </a:rPr>
              <a:t>En esta sesión conocerás sobre la importancia de la elaboración de visualizaciones de datos adecuadas para el análisis de la información y la generación de conocimiento para una correcta toma de decisiones.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ES_tradnl" sz="1400" spc="-10" dirty="0">
              <a:cs typeface="Source Sans Pro"/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cs typeface="Source Sans Pro"/>
              </a:rPr>
              <a:t>Recordarás sobre el uso de </a:t>
            </a:r>
            <a:r>
              <a:rPr lang="es-ES_tradnl" sz="1400" spc="-10" dirty="0" err="1">
                <a:cs typeface="Source Sans Pro"/>
              </a:rPr>
              <a:t>Power</a:t>
            </a:r>
            <a:r>
              <a:rPr lang="es-ES_tradnl" sz="1400" spc="-10" dirty="0">
                <a:cs typeface="Source Sans Pro"/>
              </a:rPr>
              <a:t> BI: servicio de elaboración de informes visuales.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91064"/>
            <a:ext cx="117851" cy="121369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C9317B-B9AD-38A6-530A-A8AB5991C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2076914"/>
            <a:ext cx="117851" cy="12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39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122394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panose="020B0503030202060203" pitchFamily="34" charset="77"/>
              </a:rPr>
              <a:t>OBJETIVO DE LA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</a:rPr>
              <a:t>VISUALIZACIÓN DE DATOS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3238" y="912813"/>
            <a:ext cx="8172450" cy="1077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b="1" spc="-10" dirty="0">
                <a:solidFill>
                  <a:srgbClr val="262626"/>
                </a:solidFill>
                <a:cs typeface="Source Sans Pro"/>
              </a:rPr>
              <a:t>VISUALIZACIÓN DE DATOS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ES_tradnl" sz="1400" spc="-10" dirty="0">
                <a:solidFill>
                  <a:srgbClr val="262626"/>
                </a:solidFill>
                <a:cs typeface="Source Sans Pro"/>
              </a:rPr>
              <a:t>El objetivo de la visualización de datos es obtener de ellos conocimiento que nos ayude a tomar buenas decisiones de negocios a través del análisis de los datos.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ES_tradnl" sz="1400" spc="-10" dirty="0">
                <a:solidFill>
                  <a:srgbClr val="262626"/>
                </a:solidFill>
                <a:cs typeface="Source Sans Pro"/>
              </a:rPr>
              <a:t>La visualización debe ser amigable y entregar la información de un solo vistazo mediante el uso de tablas de datos consolidados y gráficos.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944" y="2299529"/>
            <a:ext cx="5720111" cy="2934459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F006195-CB74-DCA8-BC11-754E95BF712C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OBJETIVO DE LA VISUALIZACIÓN DE DATOS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6676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122394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panose="020B0503030202060203" pitchFamily="34" charset="77"/>
              </a:rPr>
              <a:t>STORYTELLING Y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</a:rPr>
              <a:t>VISUALIZACIÓN DE DATOS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4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3238" y="912813"/>
            <a:ext cx="8172450" cy="13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ES_tradnl" sz="1400" b="1" spc="-10" dirty="0">
                <a:solidFill>
                  <a:srgbClr val="262626"/>
                </a:solidFill>
                <a:cs typeface="Source Sans Pro"/>
              </a:rPr>
              <a:t>STORYTELLING CON DATOS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ES_tradnl" sz="1400" spc="-10" dirty="0">
                <a:solidFill>
                  <a:srgbClr val="262626"/>
                </a:solidFill>
                <a:cs typeface="Source Sans Pro"/>
              </a:rPr>
              <a:t>Actualmente la elaboración de tablas y gráficos es un tema muy sencillo. Cualquiera con un dominio medio de Excel puede hacerlos.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ES_tradnl" sz="1400" spc="-10" dirty="0">
                <a:solidFill>
                  <a:srgbClr val="262626"/>
                </a:solidFill>
                <a:cs typeface="Source Sans Pro"/>
              </a:rPr>
              <a:t>La facilidad para elaborar tablas y gráficos puede hacer que tendamos a mostrar la mayor cantidad posible de información, haciendo difícil la comunicación y su análisis.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ES_tradnl" sz="1400" spc="-10" dirty="0">
                <a:solidFill>
                  <a:srgbClr val="262626"/>
                </a:solidFill>
                <a:cs typeface="Source Sans Pro"/>
              </a:rPr>
              <a:t>Los elementos visuales asociados a los datos son efectivos cuando se muestra la historia que hay detrás de ellos.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835" y="2399701"/>
            <a:ext cx="5092329" cy="287080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EC7524B6-7E88-8D68-6A00-BC74C1165A8C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STORYTELLING Y VISUALIZACIÓN DE DATOS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8414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6451070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panose="020B0503030202060203" pitchFamily="34" charset="77"/>
              </a:rPr>
              <a:t>HERRAMIENTAS DE AUTOSERVICIO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</a:rPr>
              <a:t>DE INTELIGENCIA DE NEGOCIOS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43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8FDFDCE0-6C31-5AE1-2CFD-FCCA0520C7E2}"/>
              </a:ext>
            </a:extLst>
          </p:cNvPr>
          <p:cNvSpPr/>
          <p:nvPr/>
        </p:nvSpPr>
        <p:spPr>
          <a:xfrm>
            <a:off x="503238" y="912813"/>
            <a:ext cx="8172450" cy="4321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865" y="4227629"/>
            <a:ext cx="1432560" cy="43721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372" y="2811317"/>
            <a:ext cx="3036342" cy="693521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D82F611-E8C9-BED3-2D01-16E8FAE8F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333" y="1499424"/>
            <a:ext cx="2730123" cy="88818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235555F-0C8C-CC57-8363-EBDABEC5CA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185" y="1588589"/>
            <a:ext cx="2013761" cy="71052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EB314D8-DF09-2A1A-423D-39C955FEF34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2350" t="9350" r="12348" b="14475"/>
          <a:stretch/>
        </p:blipFill>
        <p:spPr>
          <a:xfrm>
            <a:off x="6952016" y="1158776"/>
            <a:ext cx="1148553" cy="116188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D47DFEE-0A48-7AB8-1678-9341A12A139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1395" b="23226"/>
          <a:stretch/>
        </p:blipFill>
        <p:spPr>
          <a:xfrm>
            <a:off x="1019130" y="4106370"/>
            <a:ext cx="2104094" cy="67972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9F3F380-D96C-C31C-522C-5FCAD7ED07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8456" y="4195704"/>
            <a:ext cx="1848177" cy="501061"/>
          </a:xfrm>
          <a:prstGeom prst="rect">
            <a:avLst/>
          </a:prstGeom>
        </p:spPr>
      </p:pic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4A065580-5BAA-11BD-0319-9D1F23F3E3CB}"/>
              </a:ext>
            </a:extLst>
          </p:cNvPr>
          <p:cNvSpPr/>
          <p:nvPr/>
        </p:nvSpPr>
        <p:spPr>
          <a:xfrm>
            <a:off x="6653296" y="2782116"/>
            <a:ext cx="1745992" cy="693521"/>
          </a:xfrm>
          <a:prstGeom prst="roundRect">
            <a:avLst>
              <a:gd name="adj" fmla="val 8725"/>
            </a:avLst>
          </a:prstGeom>
          <a:solidFill>
            <a:srgbClr val="EF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s-PE" sz="1050" b="1" dirty="0"/>
              <a:t>Es la que utilizaremos en el curso. La herramienta Desktop es gratuita.</a:t>
            </a:r>
          </a:p>
        </p:txBody>
      </p:sp>
      <p:sp>
        <p:nvSpPr>
          <p:cNvPr id="38" name="28 Flecha derecha">
            <a:extLst>
              <a:ext uri="{FF2B5EF4-FFF2-40B4-BE49-F238E27FC236}">
                <a16:creationId xmlns:a16="http://schemas.microsoft.com/office/drawing/2014/main" id="{5DB121A3-3CF2-D846-D88F-6706C28885BD}"/>
              </a:ext>
            </a:extLst>
          </p:cNvPr>
          <p:cNvSpPr/>
          <p:nvPr/>
        </p:nvSpPr>
        <p:spPr>
          <a:xfrm rot="16200000">
            <a:off x="7353548" y="2392090"/>
            <a:ext cx="345488" cy="340338"/>
          </a:xfrm>
          <a:prstGeom prst="rightArrow">
            <a:avLst/>
          </a:prstGeom>
          <a:solidFill>
            <a:srgbClr val="EF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PE" sz="1600" dirty="0">
              <a:latin typeface="Calibri" panose="020F0502020204030204" pitchFamily="34" charset="0"/>
            </a:endParaRP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703222EC-6A2A-F40B-3D1F-7E10BAA481F0}"/>
              </a:ext>
            </a:extLst>
          </p:cNvPr>
          <p:cNvSpPr/>
          <p:nvPr/>
        </p:nvSpPr>
        <p:spPr>
          <a:xfrm>
            <a:off x="503238" y="376836"/>
            <a:ext cx="4408828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HERRAMIENTAS DE AUTOSERVICIO DE INTELIGENCIA DE NEGOCIOS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803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6451070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</a:rPr>
              <a:t>POWER BI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8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3238" y="912812"/>
            <a:ext cx="8172450" cy="1077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b="1" spc="-10" dirty="0">
                <a:cs typeface="Source Sans Pro"/>
              </a:rPr>
              <a:t>¿QUÉ ES POWER BI?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ES_tradnl" sz="1400" spc="-10" dirty="0">
                <a:cs typeface="Source Sans Pro"/>
              </a:rPr>
              <a:t>Servicio de visualización y análisis de datos que mediante la integración de objetos visuales brinda soporte a la toma de decisiones.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ES_tradnl" sz="1400" spc="-10" dirty="0">
                <a:cs typeface="Source Sans Pro"/>
              </a:rPr>
              <a:t>Integra datos de distintas fuentes incluyendo la nube y permite compartirlos con otros miembros de la organización a través de paneles en portales web.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E7FBDD2-0E90-AB8C-D5ED-7E5B1D96A0B5}"/>
              </a:ext>
            </a:extLst>
          </p:cNvPr>
          <p:cNvSpPr txBox="1"/>
          <p:nvPr/>
        </p:nvSpPr>
        <p:spPr>
          <a:xfrm>
            <a:off x="802371" y="5068403"/>
            <a:ext cx="760859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Imagen tomada de la documentación del producto </a:t>
            </a: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https://powerplatform.microsoft.com/en-us/</a:t>
            </a:r>
            <a:endParaRPr lang="es-PE" sz="10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62E0DA4-8E3D-CB3A-0FD1-DC335C76D23D}"/>
              </a:ext>
            </a:extLst>
          </p:cNvPr>
          <p:cNvGrpSpPr/>
          <p:nvPr/>
        </p:nvGrpSpPr>
        <p:grpSpPr>
          <a:xfrm>
            <a:off x="503239" y="5025182"/>
            <a:ext cx="220662" cy="215445"/>
            <a:chOff x="503239" y="4891031"/>
            <a:chExt cx="220662" cy="215445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B6BC7E6B-9618-A297-EE1B-B1B0C572FF8F}"/>
                </a:ext>
              </a:extLst>
            </p:cNvPr>
            <p:cNvSpPr/>
            <p:nvPr/>
          </p:nvSpPr>
          <p:spPr>
            <a:xfrm>
              <a:off x="503239" y="4891031"/>
              <a:ext cx="220662" cy="215445"/>
            </a:xfrm>
            <a:prstGeom prst="ellipse">
              <a:avLst/>
            </a:prstGeom>
            <a:solidFill>
              <a:srgbClr val="808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EE560BEC-90D2-6FFB-5460-3277F0529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367991">
              <a:off x="564417" y="4929371"/>
              <a:ext cx="85606" cy="126065"/>
            </a:xfrm>
            <a:prstGeom prst="rect">
              <a:avLst/>
            </a:prstGeom>
          </p:spPr>
        </p:pic>
      </p:grpSp>
      <p:sp>
        <p:nvSpPr>
          <p:cNvPr id="10" name="Rectangle 5">
            <a:extLst>
              <a:ext uri="{FF2B5EF4-FFF2-40B4-BE49-F238E27FC236}">
                <a16:creationId xmlns:a16="http://schemas.microsoft.com/office/drawing/2014/main" id="{7A294800-9244-C619-E583-193A0F3A3333}"/>
              </a:ext>
            </a:extLst>
          </p:cNvPr>
          <p:cNvSpPr/>
          <p:nvPr/>
        </p:nvSpPr>
        <p:spPr>
          <a:xfrm>
            <a:off x="503238" y="376836"/>
            <a:ext cx="4408828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POWER BI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87EEA84-068C-5E8E-C16F-330A3B5ED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254" y="2147459"/>
            <a:ext cx="4239492" cy="265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62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3238" y="912813"/>
            <a:ext cx="817245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ES_tradnl" sz="1600" b="1" dirty="0"/>
              <a:t>COMPONENTES DE POWER BI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24A886-6854-5596-06F7-08E9BEFAD0FD}"/>
              </a:ext>
            </a:extLst>
          </p:cNvPr>
          <p:cNvSpPr/>
          <p:nvPr/>
        </p:nvSpPr>
        <p:spPr>
          <a:xfrm>
            <a:off x="503238" y="376836"/>
            <a:ext cx="4408828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POWER BI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6538F8D-D1EA-890D-C916-2B8E522C8C2C}"/>
              </a:ext>
            </a:extLst>
          </p:cNvPr>
          <p:cNvSpPr/>
          <p:nvPr/>
        </p:nvSpPr>
        <p:spPr>
          <a:xfrm>
            <a:off x="936447" y="1429449"/>
            <a:ext cx="5932888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b="1" spc="-10" dirty="0" err="1">
                <a:solidFill>
                  <a:srgbClr val="01B1C2"/>
                </a:solidFill>
                <a:cs typeface="Source Sans Pro"/>
              </a:rPr>
              <a:t>Power</a:t>
            </a:r>
            <a:r>
              <a:rPr lang="es-ES_tradnl" sz="1400" b="1" spc="-10" dirty="0">
                <a:solidFill>
                  <a:srgbClr val="01B1C2"/>
                </a:solidFill>
                <a:cs typeface="Source Sans Pro"/>
              </a:rPr>
              <a:t> BI Desktop 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cs typeface="Source Sans Pro"/>
              </a:rPr>
              <a:t>La aplicación de escritorio que le permite crear informes visuales interactivos.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3FE7225-AA09-3BC8-B64E-5ECAEACBEDC4}"/>
              </a:ext>
            </a:extLst>
          </p:cNvPr>
          <p:cNvCxnSpPr>
            <a:cxnSpLocks/>
          </p:cNvCxnSpPr>
          <p:nvPr/>
        </p:nvCxnSpPr>
        <p:spPr>
          <a:xfrm>
            <a:off x="722046" y="1616444"/>
            <a:ext cx="0" cy="511246"/>
          </a:xfrm>
          <a:prstGeom prst="line">
            <a:avLst/>
          </a:prstGeom>
          <a:ln>
            <a:solidFill>
              <a:srgbClr val="01B1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ás 7">
            <a:extLst>
              <a:ext uri="{FF2B5EF4-FFF2-40B4-BE49-F238E27FC236}">
                <a16:creationId xmlns:a16="http://schemas.microsoft.com/office/drawing/2014/main" id="{D621C706-4E5A-7988-0B52-A6FED8BF094B}"/>
              </a:ext>
            </a:extLst>
          </p:cNvPr>
          <p:cNvSpPr/>
          <p:nvPr/>
        </p:nvSpPr>
        <p:spPr>
          <a:xfrm>
            <a:off x="645704" y="1439221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01B1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F4A94EE-196B-9B77-C8E3-E78AC8033803}"/>
              </a:ext>
            </a:extLst>
          </p:cNvPr>
          <p:cNvSpPr/>
          <p:nvPr/>
        </p:nvSpPr>
        <p:spPr>
          <a:xfrm>
            <a:off x="936447" y="2143565"/>
            <a:ext cx="5932888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b="1" spc="-10" dirty="0" err="1">
                <a:solidFill>
                  <a:srgbClr val="01B1C2"/>
                </a:solidFill>
                <a:cs typeface="Source Sans Pro"/>
              </a:rPr>
              <a:t>Power</a:t>
            </a:r>
            <a:r>
              <a:rPr lang="es-ES_tradnl" sz="1400" b="1" spc="-10" dirty="0">
                <a:solidFill>
                  <a:srgbClr val="01B1C2"/>
                </a:solidFill>
                <a:cs typeface="Source Sans Pro"/>
              </a:rPr>
              <a:t> BI </a:t>
            </a:r>
            <a:r>
              <a:rPr lang="es-ES_tradnl" sz="1400" b="1" spc="-10" dirty="0" err="1">
                <a:solidFill>
                  <a:srgbClr val="01B1C2"/>
                </a:solidFill>
                <a:cs typeface="Source Sans Pro"/>
              </a:rPr>
              <a:t>Service</a:t>
            </a:r>
            <a:endParaRPr lang="es-ES_tradnl" sz="1400" b="1" spc="-10" dirty="0">
              <a:solidFill>
                <a:srgbClr val="01B1C2"/>
              </a:solidFill>
              <a:cs typeface="Source Sans Pro"/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solidFill>
                  <a:srgbClr val="262626"/>
                </a:solidFill>
                <a:cs typeface="Source Sans Pro"/>
              </a:rPr>
              <a:t>Servicio en línea que permite el acceso desde cualquier dispositivo a los informes creados con </a:t>
            </a:r>
            <a:r>
              <a:rPr lang="es-ES_tradnl" sz="1400" spc="-10" dirty="0" err="1">
                <a:solidFill>
                  <a:srgbClr val="262626"/>
                </a:solidFill>
                <a:cs typeface="Source Sans Pro"/>
              </a:rPr>
              <a:t>Power</a:t>
            </a:r>
            <a:r>
              <a:rPr lang="es-ES_tradnl" sz="1400" spc="-10" dirty="0">
                <a:solidFill>
                  <a:srgbClr val="262626"/>
                </a:solidFill>
                <a:cs typeface="Source Sans Pro"/>
              </a:rPr>
              <a:t> BI Desktop.</a:t>
            </a:r>
          </a:p>
        </p:txBody>
      </p:sp>
      <p:sp>
        <p:nvSpPr>
          <p:cNvPr id="10" name="Más 9">
            <a:extLst>
              <a:ext uri="{FF2B5EF4-FFF2-40B4-BE49-F238E27FC236}">
                <a16:creationId xmlns:a16="http://schemas.microsoft.com/office/drawing/2014/main" id="{A39A92AA-6C84-EC41-3B06-ED2F381B4ADB}"/>
              </a:ext>
            </a:extLst>
          </p:cNvPr>
          <p:cNvSpPr/>
          <p:nvPr/>
        </p:nvSpPr>
        <p:spPr>
          <a:xfrm>
            <a:off x="645704" y="2149581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01B1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882E2AB-42DB-95A6-21BF-20A378353A35}"/>
              </a:ext>
            </a:extLst>
          </p:cNvPr>
          <p:cNvSpPr/>
          <p:nvPr/>
        </p:nvSpPr>
        <p:spPr>
          <a:xfrm>
            <a:off x="936447" y="3073125"/>
            <a:ext cx="5932888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b="1" spc="-10" dirty="0" err="1">
                <a:solidFill>
                  <a:srgbClr val="01B1C2"/>
                </a:solidFill>
                <a:cs typeface="Source Sans Pro"/>
              </a:rPr>
              <a:t>Power</a:t>
            </a:r>
            <a:r>
              <a:rPr lang="es-ES_tradnl" sz="1400" b="1" spc="-10" dirty="0">
                <a:solidFill>
                  <a:srgbClr val="01B1C2"/>
                </a:solidFill>
                <a:cs typeface="Source Sans Pro"/>
              </a:rPr>
              <a:t> BI Mobile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cs typeface="Source Sans Pro"/>
              </a:rPr>
              <a:t>Aplicación móvil para dispositivos Windows, iOS y Android.</a:t>
            </a:r>
          </a:p>
        </p:txBody>
      </p:sp>
      <p:sp>
        <p:nvSpPr>
          <p:cNvPr id="12" name="Más 11">
            <a:extLst>
              <a:ext uri="{FF2B5EF4-FFF2-40B4-BE49-F238E27FC236}">
                <a16:creationId xmlns:a16="http://schemas.microsoft.com/office/drawing/2014/main" id="{527971EC-1ED9-9C60-AEF3-AC015DFEDE4D}"/>
              </a:ext>
            </a:extLst>
          </p:cNvPr>
          <p:cNvSpPr/>
          <p:nvPr/>
        </p:nvSpPr>
        <p:spPr>
          <a:xfrm>
            <a:off x="645704" y="3101766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01B1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E62D883-C5B5-AFF2-C204-9754C95D3DD8}"/>
              </a:ext>
            </a:extLst>
          </p:cNvPr>
          <p:cNvSpPr/>
          <p:nvPr/>
        </p:nvSpPr>
        <p:spPr>
          <a:xfrm>
            <a:off x="936447" y="3787241"/>
            <a:ext cx="5932888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b="1" spc="-10" dirty="0" err="1">
                <a:solidFill>
                  <a:srgbClr val="01B1C2"/>
                </a:solidFill>
                <a:cs typeface="Source Sans Pro"/>
              </a:rPr>
              <a:t>Power</a:t>
            </a:r>
            <a:r>
              <a:rPr lang="es-ES_tradnl" sz="1400" b="1" spc="-10" dirty="0">
                <a:solidFill>
                  <a:srgbClr val="01B1C2"/>
                </a:solidFill>
                <a:cs typeface="Source Sans Pro"/>
              </a:rPr>
              <a:t> BI Mobile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cs typeface="Source Sans Pro"/>
              </a:rPr>
              <a:t>Aplicación móvil para dispositivos Windows, iOS y Android.</a:t>
            </a:r>
          </a:p>
        </p:txBody>
      </p:sp>
      <p:sp>
        <p:nvSpPr>
          <p:cNvPr id="14" name="Más 13">
            <a:extLst>
              <a:ext uri="{FF2B5EF4-FFF2-40B4-BE49-F238E27FC236}">
                <a16:creationId xmlns:a16="http://schemas.microsoft.com/office/drawing/2014/main" id="{CA4CE79A-2F21-3B29-AC93-2A15D8CDE9AF}"/>
              </a:ext>
            </a:extLst>
          </p:cNvPr>
          <p:cNvSpPr/>
          <p:nvPr/>
        </p:nvSpPr>
        <p:spPr>
          <a:xfrm>
            <a:off x="645704" y="3825588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01B1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E5693E4-7066-1FDA-8F6E-394E3A4F6DE6}"/>
              </a:ext>
            </a:extLst>
          </p:cNvPr>
          <p:cNvCxnSpPr>
            <a:cxnSpLocks/>
          </p:cNvCxnSpPr>
          <p:nvPr/>
        </p:nvCxnSpPr>
        <p:spPr>
          <a:xfrm>
            <a:off x="722046" y="2318119"/>
            <a:ext cx="0" cy="755006"/>
          </a:xfrm>
          <a:prstGeom prst="line">
            <a:avLst/>
          </a:prstGeom>
          <a:ln>
            <a:solidFill>
              <a:srgbClr val="01B1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3487BF3-C0AB-6358-2ACF-0511D25FE010}"/>
              </a:ext>
            </a:extLst>
          </p:cNvPr>
          <p:cNvCxnSpPr>
            <a:cxnSpLocks/>
          </p:cNvCxnSpPr>
          <p:nvPr/>
        </p:nvCxnSpPr>
        <p:spPr>
          <a:xfrm>
            <a:off x="722046" y="3280144"/>
            <a:ext cx="0" cy="519797"/>
          </a:xfrm>
          <a:prstGeom prst="line">
            <a:avLst/>
          </a:prstGeom>
          <a:ln>
            <a:solidFill>
              <a:srgbClr val="01B1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03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4CA29772-5A9E-4F3D-9295-A4E00B2EABAC}"/>
              </a:ext>
            </a:extLst>
          </p:cNvPr>
          <p:cNvSpPr/>
          <p:nvPr/>
        </p:nvSpPr>
        <p:spPr>
          <a:xfrm>
            <a:off x="503238" y="912813"/>
            <a:ext cx="2525178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600" b="1" dirty="0"/>
              <a:t>COMPONENTES DE POWER BI</a:t>
            </a:r>
            <a:endParaRPr lang="es-PE" sz="1600" b="1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770929C-FE35-648F-EE66-7C0DC1C524CE}"/>
              </a:ext>
            </a:extLst>
          </p:cNvPr>
          <p:cNvSpPr/>
          <p:nvPr/>
        </p:nvSpPr>
        <p:spPr>
          <a:xfrm>
            <a:off x="503238" y="376836"/>
            <a:ext cx="4408828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POWER BI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44D389F-7E8B-9156-69BB-CC76FA7E04C7}"/>
              </a:ext>
            </a:extLst>
          </p:cNvPr>
          <p:cNvSpPr txBox="1"/>
          <p:nvPr/>
        </p:nvSpPr>
        <p:spPr>
          <a:xfrm>
            <a:off x="802371" y="5002645"/>
            <a:ext cx="760859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Imágenes tomadas de la documentación del producto </a:t>
            </a: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https://docs.microsoft.com/es-es/power-bi/power-bi-overview</a:t>
            </a:r>
            <a:endParaRPr lang="es-PE" sz="10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F87DE100-D7C6-5486-713E-C9D03F1E8758}"/>
              </a:ext>
            </a:extLst>
          </p:cNvPr>
          <p:cNvGrpSpPr/>
          <p:nvPr/>
        </p:nvGrpSpPr>
        <p:grpSpPr>
          <a:xfrm>
            <a:off x="503239" y="4959424"/>
            <a:ext cx="220662" cy="215445"/>
            <a:chOff x="503239" y="4891031"/>
            <a:chExt cx="220662" cy="215445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78A9F381-D116-DE2A-0891-5CA112EA9611}"/>
                </a:ext>
              </a:extLst>
            </p:cNvPr>
            <p:cNvSpPr/>
            <p:nvPr/>
          </p:nvSpPr>
          <p:spPr>
            <a:xfrm>
              <a:off x="503239" y="4891031"/>
              <a:ext cx="220662" cy="215445"/>
            </a:xfrm>
            <a:prstGeom prst="ellipse">
              <a:avLst/>
            </a:prstGeom>
            <a:solidFill>
              <a:srgbClr val="808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1582EEDB-B421-09C8-2F25-BD49F00B8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367991">
              <a:off x="564417" y="4929371"/>
              <a:ext cx="85606" cy="126065"/>
            </a:xfrm>
            <a:prstGeom prst="rect">
              <a:avLst/>
            </a:prstGeom>
          </p:spPr>
        </p:pic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ECC26C52-A833-8F97-1C37-4225F48304D2}"/>
              </a:ext>
            </a:extLst>
          </p:cNvPr>
          <p:cNvGrpSpPr/>
          <p:nvPr/>
        </p:nvGrpSpPr>
        <p:grpSpPr>
          <a:xfrm>
            <a:off x="929028" y="1183813"/>
            <a:ext cx="7285943" cy="3650043"/>
            <a:chOff x="685843" y="994300"/>
            <a:chExt cx="7865606" cy="3940437"/>
          </a:xfrm>
        </p:grpSpPr>
        <p:sp>
          <p:nvSpPr>
            <p:cNvPr id="9" name="CuadroTexto 8"/>
            <p:cNvSpPr txBox="1"/>
            <p:nvPr/>
          </p:nvSpPr>
          <p:spPr>
            <a:xfrm>
              <a:off x="1021476" y="2196268"/>
              <a:ext cx="1133452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s-ES_tradnl" sz="1200" b="1" dirty="0" err="1"/>
                <a:t>Power</a:t>
              </a:r>
              <a:r>
                <a:rPr lang="es-ES_tradnl" sz="1200" b="1" dirty="0"/>
                <a:t> BI Desktop</a:t>
              </a:r>
            </a:p>
          </p:txBody>
        </p:sp>
        <p:sp>
          <p:nvSpPr>
            <p:cNvPr id="10" name="CuadroTexto 9"/>
            <p:cNvSpPr txBox="1"/>
            <p:nvPr/>
          </p:nvSpPr>
          <p:spPr>
            <a:xfrm>
              <a:off x="4153044" y="994300"/>
              <a:ext cx="106330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s-ES_tradnl" sz="1200" b="1" dirty="0" err="1"/>
                <a:t>Power</a:t>
              </a:r>
              <a:r>
                <a:rPr lang="es-ES_tradnl" sz="1200" b="1" dirty="0"/>
                <a:t> BI </a:t>
              </a:r>
              <a:r>
                <a:rPr lang="es-ES_tradnl" sz="1200" b="1" dirty="0" err="1"/>
                <a:t>Service</a:t>
              </a:r>
              <a:endParaRPr lang="es-ES_tradnl" sz="1200" b="1" dirty="0"/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3942474" y="3225998"/>
              <a:ext cx="1484445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s-ES_tradnl" sz="1200" b="1" dirty="0" err="1"/>
                <a:t>Power</a:t>
              </a:r>
              <a:r>
                <a:rPr lang="es-ES_tradnl" sz="1200" b="1" dirty="0"/>
                <a:t> BI </a:t>
              </a:r>
              <a:r>
                <a:rPr lang="es-ES_tradnl" sz="1200" b="1" dirty="0" err="1"/>
                <a:t>Report</a:t>
              </a:r>
              <a:r>
                <a:rPr lang="es-ES_tradnl" sz="1200" b="1" dirty="0"/>
                <a:t> Server</a:t>
              </a:r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6778132" y="2196268"/>
              <a:ext cx="106195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s-ES_tradnl" sz="1200" b="1" dirty="0" err="1"/>
                <a:t>Power</a:t>
              </a:r>
              <a:r>
                <a:rPr lang="es-ES_tradnl" sz="1200" b="1" dirty="0"/>
                <a:t> BI Mobile</a:t>
              </a: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AB77130-D437-F3CF-478C-11FE2ECEF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843" y="2445673"/>
              <a:ext cx="1965685" cy="1189463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6836DBF4-ABFD-2249-CEB3-3E3F85E1BF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rcRect l="47634" t="20849" r="1561" b="13700"/>
            <a:stretch/>
          </p:blipFill>
          <p:spPr>
            <a:xfrm>
              <a:off x="3521608" y="1250027"/>
              <a:ext cx="2117748" cy="1364149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46394A2-39C3-193B-743C-A8FCE3441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521608" y="3526107"/>
              <a:ext cx="2326177" cy="140863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088F2BA8-9CF0-CADA-A3EC-1AB0AAB02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63637" y="2546454"/>
              <a:ext cx="2287812" cy="1088683"/>
            </a:xfrm>
            <a:prstGeom prst="rect">
              <a:avLst/>
            </a:prstGeom>
          </p:spPr>
        </p:pic>
        <p:sp>
          <p:nvSpPr>
            <p:cNvPr id="28" name="28 Flecha derecha">
              <a:extLst>
                <a:ext uri="{FF2B5EF4-FFF2-40B4-BE49-F238E27FC236}">
                  <a16:creationId xmlns:a16="http://schemas.microsoft.com/office/drawing/2014/main" id="{C4008909-27CC-2DA5-41FA-DDA38CFD4603}"/>
                </a:ext>
              </a:extLst>
            </p:cNvPr>
            <p:cNvSpPr/>
            <p:nvPr/>
          </p:nvSpPr>
          <p:spPr>
            <a:xfrm rot="20700000">
              <a:off x="2330674" y="1661916"/>
              <a:ext cx="641707" cy="246734"/>
            </a:xfrm>
            <a:prstGeom prst="rightArrow">
              <a:avLst/>
            </a:prstGeom>
            <a:solidFill>
              <a:srgbClr val="EF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PE" sz="1600" dirty="0">
                <a:latin typeface="Calibri" panose="020F0502020204030204" pitchFamily="34" charset="0"/>
              </a:endParaRPr>
            </a:p>
          </p:txBody>
        </p:sp>
        <p:sp>
          <p:nvSpPr>
            <p:cNvPr id="29" name="28 Flecha derecha">
              <a:extLst>
                <a:ext uri="{FF2B5EF4-FFF2-40B4-BE49-F238E27FC236}">
                  <a16:creationId xmlns:a16="http://schemas.microsoft.com/office/drawing/2014/main" id="{5324B15F-B8EE-D9BE-C7CB-A8EC99687BB2}"/>
                </a:ext>
              </a:extLst>
            </p:cNvPr>
            <p:cNvSpPr/>
            <p:nvPr/>
          </p:nvSpPr>
          <p:spPr>
            <a:xfrm rot="1800000">
              <a:off x="6094071" y="1726975"/>
              <a:ext cx="641707" cy="246734"/>
            </a:xfrm>
            <a:prstGeom prst="rightArrow">
              <a:avLst/>
            </a:prstGeom>
            <a:solidFill>
              <a:srgbClr val="EF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PE" sz="1600" dirty="0">
                <a:latin typeface="Calibri" panose="020F0502020204030204" pitchFamily="34" charset="0"/>
              </a:endParaRPr>
            </a:p>
          </p:txBody>
        </p:sp>
        <p:sp>
          <p:nvSpPr>
            <p:cNvPr id="30" name="28 Flecha derecha">
              <a:extLst>
                <a:ext uri="{FF2B5EF4-FFF2-40B4-BE49-F238E27FC236}">
                  <a16:creationId xmlns:a16="http://schemas.microsoft.com/office/drawing/2014/main" id="{5CC0536F-18C9-0259-9774-4CCA2C1C61BB}"/>
                </a:ext>
              </a:extLst>
            </p:cNvPr>
            <p:cNvSpPr/>
            <p:nvPr/>
          </p:nvSpPr>
          <p:spPr>
            <a:xfrm rot="900000">
              <a:off x="2330674" y="4039824"/>
              <a:ext cx="641707" cy="246734"/>
            </a:xfrm>
            <a:prstGeom prst="rightArrow">
              <a:avLst/>
            </a:prstGeom>
            <a:solidFill>
              <a:srgbClr val="EF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PE" sz="1600" dirty="0">
                <a:latin typeface="Calibri" panose="020F0502020204030204" pitchFamily="34" charset="0"/>
              </a:endParaRPr>
            </a:p>
          </p:txBody>
        </p:sp>
        <p:sp>
          <p:nvSpPr>
            <p:cNvPr id="31" name="28 Flecha derecha">
              <a:extLst>
                <a:ext uri="{FF2B5EF4-FFF2-40B4-BE49-F238E27FC236}">
                  <a16:creationId xmlns:a16="http://schemas.microsoft.com/office/drawing/2014/main" id="{B1B2D7B7-EBF3-3920-E007-E25E57CBB10E}"/>
                </a:ext>
              </a:extLst>
            </p:cNvPr>
            <p:cNvSpPr/>
            <p:nvPr/>
          </p:nvSpPr>
          <p:spPr>
            <a:xfrm rot="20129186">
              <a:off x="6094071" y="4104883"/>
              <a:ext cx="641707" cy="246734"/>
            </a:xfrm>
            <a:prstGeom prst="rightArrow">
              <a:avLst/>
            </a:prstGeom>
            <a:solidFill>
              <a:srgbClr val="EF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PE" sz="16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098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7"/>
          <p:cNvSpPr txBox="1"/>
          <p:nvPr/>
        </p:nvSpPr>
        <p:spPr>
          <a:xfrm>
            <a:off x="503238" y="1273325"/>
            <a:ext cx="2267744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b="1" spc="-10" dirty="0">
                <a:solidFill>
                  <a:srgbClr val="262626"/>
                </a:solidFill>
                <a:cs typeface="Source Sans Pro"/>
              </a:rPr>
              <a:t>Ventana de inicio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B31BB7-029E-6A75-3B36-6C28E2ADD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85" y="1688127"/>
            <a:ext cx="6095829" cy="323840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5320A5C-2B60-4C67-9085-37B470E0B5F4}"/>
              </a:ext>
            </a:extLst>
          </p:cNvPr>
          <p:cNvSpPr/>
          <p:nvPr/>
        </p:nvSpPr>
        <p:spPr>
          <a:xfrm>
            <a:off x="503238" y="912813"/>
            <a:ext cx="2254143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600" b="1" dirty="0"/>
              <a:t>LA INTERFAZ DE POWER BI</a:t>
            </a:r>
            <a:endParaRPr lang="es-PE" sz="1600" b="1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291EAD0-C1CC-D5E0-BF57-5BD4013CFD76}"/>
              </a:ext>
            </a:extLst>
          </p:cNvPr>
          <p:cNvSpPr/>
          <p:nvPr/>
        </p:nvSpPr>
        <p:spPr>
          <a:xfrm>
            <a:off x="503238" y="376836"/>
            <a:ext cx="4408828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POWER BI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85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774802F-B51C-150B-C332-FF4722BFCEDF}"/>
              </a:ext>
            </a:extLst>
          </p:cNvPr>
          <p:cNvGrpSpPr/>
          <p:nvPr/>
        </p:nvGrpSpPr>
        <p:grpSpPr>
          <a:xfrm>
            <a:off x="1458256" y="1915093"/>
            <a:ext cx="6227488" cy="3318895"/>
            <a:chOff x="1095269" y="1529454"/>
            <a:chExt cx="6837151" cy="3643811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D91939F3-4505-3FB6-46CE-143E1F23BD4E}"/>
                </a:ext>
              </a:extLst>
            </p:cNvPr>
            <p:cNvGrpSpPr/>
            <p:nvPr/>
          </p:nvGrpSpPr>
          <p:grpSpPr>
            <a:xfrm>
              <a:off x="1095269" y="1529454"/>
              <a:ext cx="6837151" cy="3643811"/>
              <a:chOff x="1095269" y="1529454"/>
              <a:chExt cx="6837151" cy="3643811"/>
            </a:xfrm>
          </p:grpSpPr>
          <p:pic>
            <p:nvPicPr>
              <p:cNvPr id="3" name="Imagen 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5269" y="1529454"/>
                <a:ext cx="6837151" cy="3643811"/>
              </a:xfrm>
              <a:prstGeom prst="rect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</p:pic>
          <p:sp>
            <p:nvSpPr>
              <p:cNvPr id="6" name="Rectángulo 5"/>
              <p:cNvSpPr/>
              <p:nvPr/>
            </p:nvSpPr>
            <p:spPr>
              <a:xfrm>
                <a:off x="6106076" y="2205990"/>
                <a:ext cx="934804" cy="1200150"/>
              </a:xfrm>
              <a:prstGeom prst="rect">
                <a:avLst/>
              </a:prstGeom>
              <a:noFill/>
              <a:ln w="31750">
                <a:solidFill>
                  <a:srgbClr val="EF463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4" name="Rectángulo 3"/>
            <p:cNvSpPr/>
            <p:nvPr/>
          </p:nvSpPr>
          <p:spPr>
            <a:xfrm>
              <a:off x="1095269" y="2205990"/>
              <a:ext cx="219181" cy="217170"/>
            </a:xfrm>
            <a:prstGeom prst="rect">
              <a:avLst/>
            </a:prstGeom>
            <a:noFill/>
            <a:ln w="31750">
              <a:solidFill>
                <a:srgbClr val="EF463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0A7FB4F3-A768-4DCE-8171-14D7DF28A2DE}"/>
              </a:ext>
            </a:extLst>
          </p:cNvPr>
          <p:cNvSpPr/>
          <p:nvPr/>
        </p:nvSpPr>
        <p:spPr>
          <a:xfrm>
            <a:off x="503238" y="920616"/>
            <a:ext cx="7131311" cy="80021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/>
              <a:t>LA INTERFAZ DE POWER BI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600" b="1" spc="-10" dirty="0">
                <a:solidFill>
                  <a:srgbClr val="262626"/>
                </a:solidFill>
                <a:cs typeface="Source Sans Pro"/>
              </a:rPr>
              <a:t>Vista Informe</a:t>
            </a:r>
          </a:p>
          <a:p>
            <a:pPr marL="182563" indent="-1714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_tradnl" sz="1500" spc="-10" dirty="0">
                <a:solidFill>
                  <a:srgbClr val="262626"/>
                </a:solidFill>
                <a:cs typeface="Source Sans Pro"/>
              </a:rPr>
              <a:t>Muestra el panel de diseño de informes y los objetos visuales (visualizaciones) disponibles.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64F4D04D-1358-7FCE-43A8-C7370465ED6A}"/>
              </a:ext>
            </a:extLst>
          </p:cNvPr>
          <p:cNvSpPr/>
          <p:nvPr/>
        </p:nvSpPr>
        <p:spPr>
          <a:xfrm>
            <a:off x="503238" y="376836"/>
            <a:ext cx="4408828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POWER BI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550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239" y="2499946"/>
            <a:ext cx="1187654" cy="2427171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1C3BB3BE-489F-D2C6-A559-C9940E3B97EC}"/>
              </a:ext>
            </a:extLst>
          </p:cNvPr>
          <p:cNvGrpSpPr/>
          <p:nvPr/>
        </p:nvGrpSpPr>
        <p:grpSpPr>
          <a:xfrm>
            <a:off x="1605369" y="2071898"/>
            <a:ext cx="5933262" cy="3162090"/>
            <a:chOff x="1400529" y="1855668"/>
            <a:chExt cx="6407500" cy="3414832"/>
          </a:xfrm>
        </p:grpSpPr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00529" y="1855668"/>
              <a:ext cx="6407500" cy="3414832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7" name="Rectángulo 6"/>
            <p:cNvSpPr/>
            <p:nvPr/>
          </p:nvSpPr>
          <p:spPr>
            <a:xfrm>
              <a:off x="2110154" y="2051538"/>
              <a:ext cx="316523" cy="448408"/>
            </a:xfrm>
            <a:prstGeom prst="rect">
              <a:avLst/>
            </a:prstGeom>
            <a:noFill/>
            <a:ln w="31750">
              <a:solidFill>
                <a:srgbClr val="EF463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/>
            <p:cNvSpPr/>
            <p:nvPr/>
          </p:nvSpPr>
          <p:spPr>
            <a:xfrm>
              <a:off x="2669239" y="2499946"/>
              <a:ext cx="1187654" cy="2427171"/>
            </a:xfrm>
            <a:prstGeom prst="rect">
              <a:avLst/>
            </a:prstGeom>
            <a:noFill/>
            <a:ln w="31750">
              <a:solidFill>
                <a:srgbClr val="EF463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9E5B0E60-BDFC-4CD7-B156-A1734EB4F478}"/>
              </a:ext>
            </a:extLst>
          </p:cNvPr>
          <p:cNvSpPr/>
          <p:nvPr/>
        </p:nvSpPr>
        <p:spPr>
          <a:xfrm>
            <a:off x="503238" y="912813"/>
            <a:ext cx="817245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_tradnl" sz="1500" b="1" dirty="0"/>
              <a:t>LA INTERFAZ DE POWER BI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500" b="1" spc="-10" dirty="0">
                <a:cs typeface="Source Sans Pro"/>
              </a:rPr>
              <a:t>Obtención de los datos</a:t>
            </a:r>
          </a:p>
          <a:p>
            <a:pPr marL="182563" indent="-1714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_tradnl" sz="1500" spc="-10" dirty="0">
                <a:cs typeface="Source Sans Pro"/>
              </a:rPr>
              <a:t>El informe puede mostrar datos de distintas fuentes como Excel, archivos de texto, JSON, bases de datos de Microsoft, IBM, Oracle, etc.</a:t>
            </a:r>
          </a:p>
          <a:p>
            <a:endParaRPr lang="es-ES_tradnl" sz="1500" b="1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B9A80A9-8D02-F115-0041-381939C97124}"/>
              </a:ext>
            </a:extLst>
          </p:cNvPr>
          <p:cNvSpPr/>
          <p:nvPr/>
        </p:nvSpPr>
        <p:spPr>
          <a:xfrm>
            <a:off x="503238" y="376836"/>
            <a:ext cx="4408828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POWER BI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513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2F9FFC99-9AA3-D217-B894-0DB788BCFDF3}"/>
              </a:ext>
            </a:extLst>
          </p:cNvPr>
          <p:cNvGrpSpPr/>
          <p:nvPr/>
        </p:nvGrpSpPr>
        <p:grpSpPr>
          <a:xfrm>
            <a:off x="1904596" y="2127550"/>
            <a:ext cx="5334808" cy="2999366"/>
            <a:chOff x="1526971" y="1810218"/>
            <a:chExt cx="6154615" cy="3460282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6971" y="1810218"/>
              <a:ext cx="6154615" cy="3460282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4" name="Rectángulo 3"/>
            <p:cNvSpPr/>
            <p:nvPr/>
          </p:nvSpPr>
          <p:spPr>
            <a:xfrm>
              <a:off x="2239108" y="2004646"/>
              <a:ext cx="269630" cy="375139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Rectángulo 5"/>
            <p:cNvSpPr/>
            <p:nvPr/>
          </p:nvSpPr>
          <p:spPr>
            <a:xfrm>
              <a:off x="5263662" y="4783015"/>
              <a:ext cx="855784" cy="199293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D0D9236-19E3-46EA-A051-295A22DBC11C}"/>
              </a:ext>
            </a:extLst>
          </p:cNvPr>
          <p:cNvSpPr/>
          <p:nvPr/>
        </p:nvSpPr>
        <p:spPr>
          <a:xfrm>
            <a:off x="503238" y="912813"/>
            <a:ext cx="8172450" cy="10002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_tradnl" sz="1500" b="1" dirty="0"/>
              <a:t>LA INTERFAZ DE POWER BI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500" b="1" spc="-10" dirty="0">
                <a:solidFill>
                  <a:srgbClr val="262626"/>
                </a:solidFill>
                <a:cs typeface="Source Sans Pro"/>
              </a:rPr>
              <a:t>Limpieza y transformación de los datos</a:t>
            </a:r>
          </a:p>
          <a:p>
            <a:pPr marL="182563" indent="-1714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_tradnl" sz="1500" spc="-10" dirty="0">
                <a:solidFill>
                  <a:srgbClr val="262626"/>
                </a:solidFill>
                <a:cs typeface="Source Sans Pro"/>
              </a:rPr>
              <a:t>Si la data proviene de fuentes heterogéneas puede ser necesario efectuar una limpieza y estandarización de los datos para poder integrarlos en un modelo de datos.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906C874-2ADE-810F-7CFF-CDDA08BBC231}"/>
              </a:ext>
            </a:extLst>
          </p:cNvPr>
          <p:cNvSpPr/>
          <p:nvPr/>
        </p:nvSpPr>
        <p:spPr>
          <a:xfrm>
            <a:off x="503238" y="376836"/>
            <a:ext cx="4408828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POWER BI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30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D409B60C-A6B9-B52F-511F-36EFAA20971F}"/>
              </a:ext>
            </a:extLst>
          </p:cNvPr>
          <p:cNvGrpSpPr/>
          <p:nvPr/>
        </p:nvGrpSpPr>
        <p:grpSpPr>
          <a:xfrm>
            <a:off x="1914273" y="2051634"/>
            <a:ext cx="5350377" cy="3008118"/>
            <a:chOff x="1514322" y="1785606"/>
            <a:chExt cx="6179914" cy="3474505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514322" y="1785606"/>
              <a:ext cx="6179914" cy="3474505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7" name="Rectángulo 6"/>
            <p:cNvSpPr/>
            <p:nvPr/>
          </p:nvSpPr>
          <p:spPr>
            <a:xfrm>
              <a:off x="6206490" y="1965960"/>
              <a:ext cx="388620" cy="434340"/>
            </a:xfrm>
            <a:prstGeom prst="rect">
              <a:avLst/>
            </a:prstGeom>
            <a:noFill/>
            <a:ln w="31750">
              <a:solidFill>
                <a:srgbClr val="EF463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Rectángulo 7"/>
            <p:cNvSpPr/>
            <p:nvPr/>
          </p:nvSpPr>
          <p:spPr>
            <a:xfrm>
              <a:off x="3360420" y="2491740"/>
              <a:ext cx="3337560" cy="891540"/>
            </a:xfrm>
            <a:prstGeom prst="rect">
              <a:avLst/>
            </a:prstGeom>
            <a:noFill/>
            <a:ln w="31750">
              <a:solidFill>
                <a:srgbClr val="EF463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Rectángulo 8"/>
            <p:cNvSpPr/>
            <p:nvPr/>
          </p:nvSpPr>
          <p:spPr>
            <a:xfrm>
              <a:off x="6835140" y="2446020"/>
              <a:ext cx="859096" cy="937260"/>
            </a:xfrm>
            <a:prstGeom prst="rect">
              <a:avLst/>
            </a:prstGeom>
            <a:noFill/>
            <a:ln w="31750">
              <a:solidFill>
                <a:srgbClr val="EF463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Rectángulo 9"/>
            <p:cNvSpPr/>
            <p:nvPr/>
          </p:nvSpPr>
          <p:spPr>
            <a:xfrm>
              <a:off x="1714500" y="2400300"/>
              <a:ext cx="1565910" cy="2228850"/>
            </a:xfrm>
            <a:prstGeom prst="rect">
              <a:avLst/>
            </a:prstGeom>
            <a:noFill/>
            <a:ln w="31750">
              <a:solidFill>
                <a:srgbClr val="EF463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2299F53B-5297-4D14-BBFB-4650CA3A583B}"/>
              </a:ext>
            </a:extLst>
          </p:cNvPr>
          <p:cNvSpPr/>
          <p:nvPr/>
        </p:nvSpPr>
        <p:spPr>
          <a:xfrm>
            <a:off x="503238" y="912813"/>
            <a:ext cx="8172449" cy="1246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_tradnl" sz="1400" b="1" dirty="0"/>
              <a:t>LA INTERFAZ DE POWER BI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s-ES_tradnl" sz="1600" b="1" spc="-10" dirty="0">
                <a:solidFill>
                  <a:srgbClr val="262626"/>
                </a:solidFill>
                <a:cs typeface="Source Sans Pro"/>
              </a:rPr>
              <a:t>Modelado de datos</a:t>
            </a:r>
          </a:p>
          <a:p>
            <a:pPr marL="182563" indent="-1714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_tradnl" sz="1500" spc="-10" dirty="0">
                <a:solidFill>
                  <a:srgbClr val="262626"/>
                </a:solidFill>
                <a:cs typeface="Source Sans Pro"/>
              </a:rPr>
              <a:t>Tiene como objetivo integrar los datos que provienen de distintas fuentes a través de las relaciones que existen entre ellas.</a:t>
            </a:r>
          </a:p>
          <a:p>
            <a:endParaRPr lang="es-ES_tradnl" sz="1400" b="1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AE9106C-0787-8A32-7C64-B467B0261A37}"/>
              </a:ext>
            </a:extLst>
          </p:cNvPr>
          <p:cNvSpPr/>
          <p:nvPr/>
        </p:nvSpPr>
        <p:spPr>
          <a:xfrm>
            <a:off x="503238" y="376836"/>
            <a:ext cx="4408828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POWER BI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294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object 7"/>
          <p:cNvSpPr txBox="1"/>
          <p:nvPr/>
        </p:nvSpPr>
        <p:spPr>
          <a:xfrm>
            <a:off x="1279545" y="912813"/>
            <a:ext cx="5189268" cy="301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PE" sz="1400" dirty="0"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Es muy fácil construir tablas y gráficos, por ejemplo en Excel, pero para que aquellos sean realmente útiles en el análisis de la información y la toma de decisiones se necesita que la visualización de datos cuente la historia que hay detrás de ellos.</a:t>
            </a:r>
          </a:p>
          <a:p>
            <a:endParaRPr lang="es-PE" sz="1400" dirty="0"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r>
              <a:rPr lang="es-ES" sz="1400" dirty="0"/>
              <a:t>La mayoría de las organizaciones toman decisiones de manera intuitiva, pero sólo con el uso de los datos, visualización y data </a:t>
            </a:r>
            <a:r>
              <a:rPr lang="es-ES" sz="1400" dirty="0" err="1"/>
              <a:t>storytelling</a:t>
            </a:r>
            <a:r>
              <a:rPr lang="es-ES" sz="1400" dirty="0"/>
              <a:t>, les asegura una ventaja competitiva, ya que, al comprender el mensaje oculto de los datos, les genera valor agregado a las organizaciones. </a:t>
            </a:r>
          </a:p>
          <a:p>
            <a:endParaRPr lang="es-ES" sz="1400" dirty="0"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r>
              <a:rPr lang="es-ES" sz="1400" dirty="0"/>
              <a:t>El Data </a:t>
            </a:r>
            <a:r>
              <a:rPr lang="es-ES" sz="1400" dirty="0" err="1"/>
              <a:t>Storytelling</a:t>
            </a:r>
            <a:r>
              <a:rPr lang="es-ES" sz="1400" dirty="0"/>
              <a:t> también te permite organizar y efectuar un correcto análisis de la data interna y externa para una correcta toma de decisiones y que nos permita conocer: las tendencias de comportamiento, posibilidades de mejora y oportunidades de negocio.</a:t>
            </a:r>
            <a:endParaRPr lang="es-ES" sz="1400" dirty="0"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028313"/>
            <a:ext cx="114138" cy="11754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790F03-FDB2-2FE0-C5B1-9F468228F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101410"/>
            <a:ext cx="114138" cy="1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" name="object 7"/>
          <p:cNvSpPr txBox="1"/>
          <p:nvPr/>
        </p:nvSpPr>
        <p:spPr>
          <a:xfrm>
            <a:off x="1279008" y="917823"/>
            <a:ext cx="5032569" cy="258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419" sz="1400" dirty="0"/>
              <a:t>Nussbaumer Knaflic, C. (2017). Storytelling con datos – Visualización de datos para profesionales. Madrid, España: Anaya Multimedia.</a:t>
            </a:r>
          </a:p>
          <a:p>
            <a:r>
              <a:rPr lang="es-419" sz="1400" dirty="0"/>
              <a:t> </a:t>
            </a:r>
          </a:p>
          <a:p>
            <a:r>
              <a:rPr lang="es-419" sz="1400" dirty="0"/>
              <a:t>HubSpot (2023). Data storytelling: qué es y 10 ejemplos inspiradores. Recuperado de https://blog.hubspot.es/marketing/ejemplos-data-storytelling.</a:t>
            </a:r>
          </a:p>
          <a:p>
            <a:r>
              <a:rPr lang="es-419" sz="1400" dirty="0"/>
              <a:t> </a:t>
            </a:r>
          </a:p>
          <a:p>
            <a:r>
              <a:rPr lang="es-419" sz="1400" dirty="0"/>
              <a:t>Microsoft Learn (2023). Introducción a Power BI Desktop. Recuperado de https://learn.microsoft.com/es-es/power-bi/fundamentals/desktop-getting-started.</a:t>
            </a:r>
          </a:p>
          <a:p>
            <a:pPr marL="179998" marR="0" lvl="0" indent="-6667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419" sz="1400" dirty="0">
              <a:latin typeface="Calibri"/>
              <a:ea typeface="Calibri"/>
              <a:cs typeface="Calibri"/>
              <a:sym typeface="Calibri"/>
            </a:endParaRPr>
          </a:p>
          <a:p>
            <a:pPr marL="11724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419" sz="1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0016DFD-D096-A245-9591-9C15FD67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620119"/>
            <a:ext cx="103867" cy="106967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E49DBC-E4BE-15F9-8300-75307CB91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466505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4275</TotalTime>
  <Words>857</Words>
  <Application>Microsoft Macintosh PowerPoint</Application>
  <PresentationFormat>Presentación en pantalla (16:10)</PresentationFormat>
  <Paragraphs>102</Paragraphs>
  <Slides>23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Arial</vt:lpstr>
      <vt:lpstr>Calibri</vt:lpstr>
      <vt:lpstr>Graphik Bold</vt:lpstr>
      <vt:lpstr>Graphik Regular</vt:lpstr>
      <vt:lpstr>Graphik-Medium</vt:lpstr>
      <vt:lpstr>Graphik-MediumItalic</vt:lpstr>
      <vt:lpstr>Source Sans Pro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Mary Gabriela Romero Martinez </cp:lastModifiedBy>
  <cp:revision>409</cp:revision>
  <cp:lastPrinted>2018-01-16T21:42:59Z</cp:lastPrinted>
  <dcterms:created xsi:type="dcterms:W3CDTF">2016-10-06T14:52:02Z</dcterms:created>
  <dcterms:modified xsi:type="dcterms:W3CDTF">2024-08-20T19:34:47Z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