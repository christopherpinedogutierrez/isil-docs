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tags/tag16.xml" ContentType="application/vnd.openxmlformats-officedocument.presentationml.tags+xml"/>
  <Override PartName="/ppt/notesSlides/notesSlide18.xml" ContentType="application/vnd.openxmlformats-officedocument.presentationml.notesSlide+xml"/>
  <Override PartName="/ppt/tags/tag17.xml" ContentType="application/vnd.openxmlformats-officedocument.presentationml.tags+xml"/>
  <Override PartName="/ppt/notesSlides/notesSlide19.xml" ContentType="application/vnd.openxmlformats-officedocument.presentationml.notesSlide+xml"/>
  <Override PartName="/ppt/tags/tag1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9.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handoutMasterIdLst>
    <p:handoutMasterId r:id="rId31"/>
  </p:handoutMasterIdLst>
  <p:sldIdLst>
    <p:sldId id="662" r:id="rId2"/>
    <p:sldId id="627" r:id="rId3"/>
    <p:sldId id="628" r:id="rId4"/>
    <p:sldId id="629" r:id="rId5"/>
    <p:sldId id="431" r:id="rId6"/>
    <p:sldId id="432" r:id="rId7"/>
    <p:sldId id="433" r:id="rId8"/>
    <p:sldId id="434" r:id="rId9"/>
    <p:sldId id="435" r:id="rId10"/>
    <p:sldId id="436" r:id="rId11"/>
    <p:sldId id="732" r:id="rId12"/>
    <p:sldId id="411" r:id="rId13"/>
    <p:sldId id="419" r:id="rId14"/>
    <p:sldId id="420" r:id="rId15"/>
    <p:sldId id="421" r:id="rId16"/>
    <p:sldId id="422" r:id="rId17"/>
    <p:sldId id="423" r:id="rId18"/>
    <p:sldId id="424" r:id="rId19"/>
    <p:sldId id="425" r:id="rId20"/>
    <p:sldId id="438" r:id="rId21"/>
    <p:sldId id="426" r:id="rId22"/>
    <p:sldId id="733" r:id="rId23"/>
    <p:sldId id="437" r:id="rId24"/>
    <p:sldId id="588" r:id="rId25"/>
    <p:sldId id="589" r:id="rId26"/>
    <p:sldId id="590" r:id="rId27"/>
    <p:sldId id="591" r:id="rId28"/>
    <p:sldId id="731" r:id="rId29"/>
  </p:sldIdLst>
  <p:sldSz cx="9144000" cy="5715000" type="screen16x10"/>
  <p:notesSz cx="6858000" cy="9144000"/>
  <p:custDataLst>
    <p:tags r:id="rId3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5" pos="431" userDrawn="1">
          <p15:clr>
            <a:srgbClr val="A4A3A4"/>
          </p15:clr>
        </p15:guide>
        <p15:guide id="17" pos="2562" userDrawn="1">
          <p15:clr>
            <a:srgbClr val="A4A3A4"/>
          </p15:clr>
        </p15:guide>
        <p15:guide id="18" orient="horz" pos="10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1C2"/>
    <a:srgbClr val="FE7828"/>
    <a:srgbClr val="FDC212"/>
    <a:srgbClr val="EE4639"/>
    <a:srgbClr val="808799"/>
    <a:srgbClr val="D1EFF4"/>
    <a:srgbClr val="714EA0"/>
    <a:srgbClr val="92C14E"/>
    <a:srgbClr val="E3DCED"/>
    <a:srgbClr val="E1409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85" autoAdjust="0"/>
    <p:restoredTop sz="91878" autoAdjust="0"/>
  </p:normalViewPr>
  <p:slideViewPr>
    <p:cSldViewPr snapToGrid="0" snapToObjects="1" showGuides="1">
      <p:cViewPr varScale="1">
        <p:scale>
          <a:sx n="137" d="100"/>
          <a:sy n="137" d="100"/>
        </p:scale>
        <p:origin x="192" y="640"/>
      </p:cViewPr>
      <p:guideLst>
        <p:guide pos="431"/>
        <p:guide pos="2562"/>
        <p:guide orient="horz" pos="1006"/>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13/6/24</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13/06/24</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a:t>
            </a:fld>
            <a:endParaRPr lang="es-ES"/>
          </a:p>
        </p:txBody>
      </p:sp>
    </p:spTree>
    <p:extLst>
      <p:ext uri="{BB962C8B-B14F-4D97-AF65-F5344CB8AC3E}">
        <p14:creationId xmlns:p14="http://schemas.microsoft.com/office/powerpoint/2010/main" val="174329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a:t>
            </a:fld>
            <a:endParaRPr lang="es-ES" dirty="0"/>
          </a:p>
        </p:txBody>
      </p:sp>
    </p:spTree>
    <p:extLst>
      <p:ext uri="{BB962C8B-B14F-4D97-AF65-F5344CB8AC3E}">
        <p14:creationId xmlns:p14="http://schemas.microsoft.com/office/powerpoint/2010/main" val="1986432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a:t>
            </a:fld>
            <a:endParaRPr lang="es-ES" dirty="0"/>
          </a:p>
        </p:txBody>
      </p:sp>
    </p:spTree>
    <p:extLst>
      <p:ext uri="{BB962C8B-B14F-4D97-AF65-F5344CB8AC3E}">
        <p14:creationId xmlns:p14="http://schemas.microsoft.com/office/powerpoint/2010/main" val="835700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4973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1118175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526576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761768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2375899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2047611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11</a:t>
            </a:fld>
            <a:endParaRPr lang="es-ES" dirty="0"/>
          </a:p>
        </p:txBody>
      </p:sp>
    </p:spTree>
    <p:extLst>
      <p:ext uri="{BB962C8B-B14F-4D97-AF65-F5344CB8AC3E}">
        <p14:creationId xmlns:p14="http://schemas.microsoft.com/office/powerpoint/2010/main" val="1698327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3787981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708524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558898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2478337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269832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2494262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1367587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3108020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17709102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122131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22</a:t>
            </a:fld>
            <a:endParaRPr lang="es-ES" dirty="0"/>
          </a:p>
        </p:txBody>
      </p:sp>
    </p:spTree>
    <p:extLst>
      <p:ext uri="{BB962C8B-B14F-4D97-AF65-F5344CB8AC3E}">
        <p14:creationId xmlns:p14="http://schemas.microsoft.com/office/powerpoint/2010/main" val="28771084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28498202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25</a:t>
            </a:fld>
            <a:endParaRPr lang="es-ES" dirty="0"/>
          </a:p>
        </p:txBody>
      </p:sp>
    </p:spTree>
    <p:extLst>
      <p:ext uri="{BB962C8B-B14F-4D97-AF65-F5344CB8AC3E}">
        <p14:creationId xmlns:p14="http://schemas.microsoft.com/office/powerpoint/2010/main" val="278263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2" pos="2880" userDrawn="1">
          <p15:clr>
            <a:srgbClr val="FBAE40"/>
          </p15:clr>
        </p15:guide>
        <p15:guide id="3" orient="horz" pos="1900" userDrawn="1">
          <p15:clr>
            <a:srgbClr val="FBAE40"/>
          </p15:clr>
        </p15:guide>
        <p15:guide id="4" pos="544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ítulo y objetos">
    <p:spTree>
      <p:nvGrpSpPr>
        <p:cNvPr id="1" name=""/>
        <p:cNvGrpSpPr/>
        <p:nvPr/>
      </p:nvGrpSpPr>
      <p:grpSpPr>
        <a:xfrm>
          <a:off x="0" y="0"/>
          <a:ext cx="0" cy="0"/>
          <a:chOff x="0" y="0"/>
          <a:chExt cx="0" cy="0"/>
        </a:xfrm>
      </p:grpSpPr>
      <p:grpSp>
        <p:nvGrpSpPr>
          <p:cNvPr id="2" name="Agrupar 13">
            <a:extLst>
              <a:ext uri="{FF2B5EF4-FFF2-40B4-BE49-F238E27FC236}">
                <a16:creationId xmlns:a16="http://schemas.microsoft.com/office/drawing/2014/main" id="{EE396788-5A79-8D39-BC8E-86ECEB650A77}"/>
              </a:ext>
            </a:extLst>
          </p:cNvPr>
          <p:cNvGrpSpPr/>
          <p:nvPr userDrawn="1"/>
        </p:nvGrpSpPr>
        <p:grpSpPr>
          <a:xfrm>
            <a:off x="944054" y="5343295"/>
            <a:ext cx="7804380" cy="215444"/>
            <a:chOff x="944054" y="5343295"/>
            <a:chExt cx="7804380" cy="215444"/>
          </a:xfrm>
        </p:grpSpPr>
        <p:sp>
          <p:nvSpPr>
            <p:cNvPr id="3" name="TextBox 7">
              <a:extLst>
                <a:ext uri="{FF2B5EF4-FFF2-40B4-BE49-F238E27FC236}">
                  <a16:creationId xmlns:a16="http://schemas.microsoft.com/office/drawing/2014/main" id="{C9FEC313-CD23-47F0-A828-849E12E5E3CC}"/>
                </a:ext>
              </a:extLst>
            </p:cNvPr>
            <p:cNvSpPr txBox="1"/>
            <p:nvPr userDrawn="1"/>
          </p:nvSpPr>
          <p:spPr>
            <a:xfrm>
              <a:off x="944054" y="5343295"/>
              <a:ext cx="2467342"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ANALÍTICA DE SISTEMAS EMPRESARIALES</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07</a:t>
              </a:r>
              <a:endParaRPr lang="en-US" sz="800" dirty="0">
                <a:solidFill>
                  <a:schemeClr val="bg1">
                    <a:lumMod val="50000"/>
                  </a:schemeClr>
                </a:solidFill>
                <a:latin typeface="Calibri"/>
                <a:cs typeface="Calibri"/>
              </a:endParaRPr>
            </a:p>
          </p:txBody>
        </p:sp>
        <p:sp>
          <p:nvSpPr>
            <p:cNvPr id="4" name="Rectangle 3">
              <a:extLst>
                <a:ext uri="{FF2B5EF4-FFF2-40B4-BE49-F238E27FC236}">
                  <a16:creationId xmlns:a16="http://schemas.microsoft.com/office/drawing/2014/main" id="{8A55EED3-D33C-5537-ACE4-B21B34047BA4}"/>
                </a:ext>
              </a:extLst>
            </p:cNvPr>
            <p:cNvSpPr/>
            <p:nvPr userDrawn="1"/>
          </p:nvSpPr>
          <p:spPr>
            <a:xfrm>
              <a:off x="7379148" y="5371562"/>
              <a:ext cx="1369286"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grpSp>
      <p:pic>
        <p:nvPicPr>
          <p:cNvPr id="7" name="Imagen 6">
            <a:extLst>
              <a:ext uri="{FF2B5EF4-FFF2-40B4-BE49-F238E27FC236}">
                <a16:creationId xmlns:a16="http://schemas.microsoft.com/office/drawing/2014/main" id="{629383BC-861E-A43F-194A-81F1472DC99A}"/>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163728651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Agrupar 13"/>
          <p:cNvGrpSpPr/>
          <p:nvPr userDrawn="1"/>
        </p:nvGrpSpPr>
        <p:grpSpPr>
          <a:xfrm>
            <a:off x="944054" y="5343295"/>
            <a:ext cx="7804380" cy="215444"/>
            <a:chOff x="944054" y="5343295"/>
            <a:chExt cx="7804380" cy="215444"/>
          </a:xfrm>
        </p:grpSpPr>
        <p:sp>
          <p:nvSpPr>
            <p:cNvPr id="7" name="TextBox 7"/>
            <p:cNvSpPr txBox="1"/>
            <p:nvPr userDrawn="1"/>
          </p:nvSpPr>
          <p:spPr>
            <a:xfrm>
              <a:off x="944054" y="5343295"/>
              <a:ext cx="2467342"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ANALÍTICA DE SISTEMAS EMPRESARIALES</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07</a:t>
              </a:r>
              <a:endParaRPr lang="en-US" sz="800" dirty="0">
                <a:solidFill>
                  <a:schemeClr val="bg1">
                    <a:lumMod val="50000"/>
                  </a:schemeClr>
                </a:solidFill>
                <a:latin typeface="Calibri"/>
                <a:cs typeface="Calibri"/>
              </a:endParaRPr>
            </a:p>
          </p:txBody>
        </p:sp>
        <p:sp>
          <p:nvSpPr>
            <p:cNvPr id="8" name="Rectangle 3"/>
            <p:cNvSpPr/>
            <p:nvPr userDrawn="1"/>
          </p:nvSpPr>
          <p:spPr>
            <a:xfrm>
              <a:off x="7379148" y="5371562"/>
              <a:ext cx="1369286"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grpSp>
      <p:pic>
        <p:nvPicPr>
          <p:cNvPr id="9" name="Imagen 8"/>
          <p:cNvPicPr>
            <a:picLocks noChangeAspect="1"/>
          </p:cNvPicPr>
          <p:nvPr userDrawn="1"/>
        </p:nvPicPr>
        <p:blipFill>
          <a:blip r:embed="rId5"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pos="2767" userDrawn="1">
          <p15:clr>
            <a:srgbClr val="F26B43"/>
          </p15:clr>
        </p15:guide>
        <p15:guide id="3" pos="317" userDrawn="1">
          <p15:clr>
            <a:srgbClr val="F26B43"/>
          </p15:clr>
        </p15:guide>
        <p15:guide id="4" orient="horz" pos="575" userDrawn="1">
          <p15:clr>
            <a:srgbClr val="F26B43"/>
          </p15:clr>
        </p15:guide>
        <p15:guide id="5" orient="horz" pos="303" userDrawn="1">
          <p15:clr>
            <a:srgbClr val="F26B43"/>
          </p15:clr>
        </p15:guide>
        <p15:guide id="6" pos="5443" userDrawn="1">
          <p15:clr>
            <a:srgbClr val="F26B43"/>
          </p15:clr>
        </p15:guide>
        <p15:guide id="7" orient="horz" pos="3297" userDrawn="1">
          <p15:clr>
            <a:srgbClr val="F26B43"/>
          </p15:clr>
        </p15:guide>
        <p15:guide id="8" pos="299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CuadroTexto 22">
            <a:extLst>
              <a:ext uri="{FF2B5EF4-FFF2-40B4-BE49-F238E27FC236}">
                <a16:creationId xmlns:a16="http://schemas.microsoft.com/office/drawing/2014/main" id="{00376003-8003-B944-8B01-9A232A7A385C}"/>
              </a:ext>
            </a:extLst>
          </p:cNvPr>
          <p:cNvSpPr txBox="1"/>
          <p:nvPr/>
        </p:nvSpPr>
        <p:spPr>
          <a:xfrm>
            <a:off x="503238" y="808689"/>
            <a:ext cx="3104743" cy="138499"/>
          </a:xfrm>
          <a:prstGeom prst="rect">
            <a:avLst/>
          </a:prstGeom>
          <a:noFill/>
        </p:spPr>
        <p:txBody>
          <a:bodyPr wrap="square" lIns="0" tIns="0" rIns="0" bIns="0" rtlCol="0">
            <a:spAutoFit/>
          </a:bodyPr>
          <a:lstStyle/>
          <a:p>
            <a:r>
              <a:rPr lang="en-US" sz="900" b="1" dirty="0">
                <a:solidFill>
                  <a:srgbClr val="6C6D6C"/>
                </a:solidFill>
                <a:latin typeface="Calibri" charset="0"/>
                <a:cs typeface="Calibri" charset="0"/>
                <a:sym typeface="Wingdings"/>
              </a:rPr>
              <a:t>ANALÍTICA DE SISTEMAS EMPRESARIALES </a:t>
            </a:r>
            <a:endParaRPr lang="es-ES_tradnl" sz="900" b="1" dirty="0">
              <a:solidFill>
                <a:srgbClr val="6C6D6C"/>
              </a:solidFill>
              <a:latin typeface="Calibri" charset="0"/>
              <a:cs typeface="Calibri" charset="0"/>
            </a:endParaRPr>
          </a:p>
        </p:txBody>
      </p:sp>
      <p:pic>
        <p:nvPicPr>
          <p:cNvPr id="4" name="Imagen 3">
            <a:extLst>
              <a:ext uri="{FF2B5EF4-FFF2-40B4-BE49-F238E27FC236}">
                <a16:creationId xmlns:a16="http://schemas.microsoft.com/office/drawing/2014/main" id="{5F6F030B-C752-AD44-958B-E73463C78685}"/>
              </a:ext>
            </a:extLst>
          </p:cNvPr>
          <p:cNvPicPr>
            <a:picLocks noChangeAspect="1"/>
          </p:cNvPicPr>
          <p:nvPr/>
        </p:nvPicPr>
        <p:blipFill>
          <a:blip r:embed="rId3"/>
          <a:stretch>
            <a:fillRect/>
          </a:stretch>
        </p:blipFill>
        <p:spPr>
          <a:xfrm>
            <a:off x="3752849" y="-7542"/>
            <a:ext cx="5391150" cy="5722541"/>
          </a:xfrm>
          <a:prstGeom prst="rect">
            <a:avLst/>
          </a:prstGeom>
        </p:spPr>
      </p:pic>
      <p:sp>
        <p:nvSpPr>
          <p:cNvPr id="2" name="Rectángulo 1">
            <a:extLst>
              <a:ext uri="{FF2B5EF4-FFF2-40B4-BE49-F238E27FC236}">
                <a16:creationId xmlns:a16="http://schemas.microsoft.com/office/drawing/2014/main" id="{AC56C332-AC9C-5CDE-E4A7-D1AD9C720B6F}"/>
              </a:ext>
            </a:extLst>
          </p:cNvPr>
          <p:cNvSpPr/>
          <p:nvPr/>
        </p:nvSpPr>
        <p:spPr>
          <a:xfrm>
            <a:off x="503239" y="2177570"/>
            <a:ext cx="2223183" cy="997196"/>
          </a:xfrm>
          <a:prstGeom prst="rect">
            <a:avLst/>
          </a:prstGeom>
        </p:spPr>
        <p:txBody>
          <a:bodyPr wrap="square" lIns="0" tIns="0" rIns="0" bIns="0">
            <a:spAutoFit/>
          </a:bodyPr>
          <a:lstStyle/>
          <a:p>
            <a:pPr>
              <a:lnSpc>
                <a:spcPct val="90000"/>
              </a:lnSpc>
            </a:pPr>
            <a:r>
              <a:rPr lang="es-ES" sz="2400" dirty="0">
                <a:latin typeface="Graphik Medium" panose="020B0503030202060203" pitchFamily="34" charset="77"/>
              </a:rPr>
              <a:t>CREACIÓN DE </a:t>
            </a:r>
            <a:r>
              <a:rPr lang="es-ES" sz="2400" b="1" dirty="0">
                <a:latin typeface="Graphik Bold" panose="020B0503030202060203" pitchFamily="34" charset="77"/>
              </a:rPr>
              <a:t>CUBOS OLAP – Parte 2</a:t>
            </a:r>
          </a:p>
        </p:txBody>
      </p:sp>
      <p:sp>
        <p:nvSpPr>
          <p:cNvPr id="3" name="Rectángulo 2">
            <a:extLst>
              <a:ext uri="{FF2B5EF4-FFF2-40B4-BE49-F238E27FC236}">
                <a16:creationId xmlns:a16="http://schemas.microsoft.com/office/drawing/2014/main" id="{1D1189B2-41AF-6D82-F5E0-ACAECF805B82}"/>
              </a:ext>
            </a:extLst>
          </p:cNvPr>
          <p:cNvSpPr/>
          <p:nvPr/>
        </p:nvSpPr>
        <p:spPr>
          <a:xfrm>
            <a:off x="503237" y="3457215"/>
            <a:ext cx="3012961" cy="864019"/>
          </a:xfrm>
          <a:prstGeom prst="rect">
            <a:avLst/>
          </a:prstGeom>
        </p:spPr>
        <p:txBody>
          <a:bodyPr wrap="square" lIns="0" tIns="0" rIns="0" bIns="0">
            <a:spAutoFit/>
          </a:bodyPr>
          <a:lstStyle/>
          <a:p>
            <a:pPr marL="177798" indent="-177798">
              <a:lnSpc>
                <a:spcPct val="120000"/>
              </a:lnSpc>
              <a:buClr>
                <a:srgbClr val="E14098"/>
              </a:buClr>
              <a:buSzPct val="100000"/>
              <a:buFont typeface="Arial"/>
              <a:buChar char="•"/>
            </a:pPr>
            <a:r>
              <a:rPr lang="es-ES" sz="1200" dirty="0">
                <a:latin typeface="Graphik Medium" panose="020B0503030202060203" pitchFamily="34" charset="77"/>
              </a:rPr>
              <a:t>Personalización del cubo y </a:t>
            </a:r>
            <a:br>
              <a:rPr lang="es-ES" sz="1200" dirty="0">
                <a:latin typeface="Graphik Medium" panose="020B0503030202060203" pitchFamily="34" charset="77"/>
              </a:rPr>
            </a:br>
            <a:r>
              <a:rPr lang="es-ES" sz="1200" dirty="0">
                <a:latin typeface="Graphik Medium" panose="020B0503030202060203" pitchFamily="34" charset="77"/>
              </a:rPr>
              <a:t>sus dimensiones</a:t>
            </a:r>
          </a:p>
          <a:p>
            <a:pPr marL="177798" indent="-177798">
              <a:lnSpc>
                <a:spcPct val="120000"/>
              </a:lnSpc>
              <a:buClr>
                <a:srgbClr val="E14098"/>
              </a:buClr>
              <a:buSzPct val="100000"/>
              <a:buFont typeface="Arial"/>
              <a:buChar char="•"/>
            </a:pPr>
            <a:r>
              <a:rPr lang="es-ES" sz="1200" dirty="0">
                <a:latin typeface="Graphik Medium" panose="020B0503030202060203" pitchFamily="34" charset="77"/>
              </a:rPr>
              <a:t>Opciones de procesamiento del cubo</a:t>
            </a:r>
          </a:p>
          <a:p>
            <a:pPr marL="177798" indent="-177798">
              <a:lnSpc>
                <a:spcPct val="120000"/>
              </a:lnSpc>
              <a:buClr>
                <a:srgbClr val="E14098"/>
              </a:buClr>
              <a:buSzPct val="100000"/>
              <a:buFont typeface="Arial"/>
              <a:buChar char="•"/>
            </a:pPr>
            <a:r>
              <a:rPr lang="es-ES" sz="1200" dirty="0">
                <a:latin typeface="Graphik Medium" panose="020B0503030202060203" pitchFamily="34" charset="77"/>
              </a:rPr>
              <a:t>Exploración del cubo</a:t>
            </a:r>
          </a:p>
        </p:txBody>
      </p:sp>
      <p:sp>
        <p:nvSpPr>
          <p:cNvPr id="5" name="CuadroTexto 4">
            <a:extLst>
              <a:ext uri="{FF2B5EF4-FFF2-40B4-BE49-F238E27FC236}">
                <a16:creationId xmlns:a16="http://schemas.microsoft.com/office/drawing/2014/main" id="{8F0C791E-55A4-CF62-B567-CC3C65452046}"/>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E14098"/>
                </a:solidFill>
                <a:latin typeface="Calibri" charset="0"/>
                <a:ea typeface="Calibri" charset="0"/>
                <a:cs typeface="Calibri" charset="0"/>
              </a:rPr>
              <a:t>SESIÓN 07</a:t>
            </a:r>
          </a:p>
        </p:txBody>
      </p:sp>
      <p:pic>
        <p:nvPicPr>
          <p:cNvPr id="6" name="Imagen 5">
            <a:extLst>
              <a:ext uri="{FF2B5EF4-FFF2-40B4-BE49-F238E27FC236}">
                <a16:creationId xmlns:a16="http://schemas.microsoft.com/office/drawing/2014/main" id="{474548A7-011E-0B5D-1381-0BA486642CE8}"/>
              </a:ext>
            </a:extLst>
          </p:cNvPr>
          <p:cNvPicPr>
            <a:picLocks noChangeAspect="1"/>
          </p:cNvPicPr>
          <p:nvPr/>
        </p:nvPicPr>
        <p:blipFill>
          <a:blip r:embed="rId4"/>
          <a:stretch>
            <a:fillRect/>
          </a:stretch>
        </p:blipFill>
        <p:spPr>
          <a:xfrm>
            <a:off x="507464" y="1883411"/>
            <a:ext cx="166865" cy="170453"/>
          </a:xfrm>
          <a:prstGeom prst="rect">
            <a:avLst/>
          </a:prstGeom>
        </p:spPr>
      </p:pic>
    </p:spTree>
    <p:extLst>
      <p:ext uri="{BB962C8B-B14F-4D97-AF65-F5344CB8AC3E}">
        <p14:creationId xmlns:p14="http://schemas.microsoft.com/office/powerpoint/2010/main" val="909209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6" name="Rectángulo 5"/>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CuadroTexto 3"/>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3" name="Imagen 2"/>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9" name="Imagen 8">
            <a:extLst>
              <a:ext uri="{FF2B5EF4-FFF2-40B4-BE49-F238E27FC236}">
                <a16:creationId xmlns:a16="http://schemas.microsoft.com/office/drawing/2014/main" id="{2CD7628C-6304-5D4B-BA7D-591238143DE2}"/>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194155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object 7"/>
          <p:cNvSpPr txBox="1"/>
          <p:nvPr/>
        </p:nvSpPr>
        <p:spPr>
          <a:xfrm>
            <a:off x="1282298" y="2414327"/>
            <a:ext cx="5448440" cy="861774"/>
          </a:xfrm>
          <a:prstGeom prst="rect">
            <a:avLst/>
          </a:prstGeom>
        </p:spPr>
        <p:txBody>
          <a:bodyPr vert="horz" wrap="square" lIns="0" tIns="0" rIns="0" bIns="0" rtlCol="0">
            <a:spAutoFit/>
          </a:bodyPr>
          <a:lstStyle/>
          <a:p>
            <a:pPr marL="11724">
              <a:buSzPct val="100000"/>
              <a:tabLst>
                <a:tab pos="121284" algn="l"/>
              </a:tabLst>
            </a:pPr>
            <a:r>
              <a:rPr lang="es-ES_tradnl" sz="1400" spc="-10" dirty="0">
                <a:solidFill>
                  <a:srgbClr val="262626"/>
                </a:solidFill>
                <a:cs typeface="Source Sans Pro"/>
              </a:rPr>
              <a:t>En esta sesión aprenderás sobre cómo optimizar el rendimiento del cubo seleccionando, elegir el modo de almacenamiento más adecuado a tus necesidades y recursos, y particionando el cubo según la frecuencia de uso de cada tipo de información almacenada en él.</a:t>
            </a:r>
          </a:p>
        </p:txBody>
      </p:sp>
      <p:pic>
        <p:nvPicPr>
          <p:cNvPr id="6" name="Imagen 5"/>
          <p:cNvPicPr>
            <a:picLocks noChangeAspect="1"/>
          </p:cNvPicPr>
          <p:nvPr/>
        </p:nvPicPr>
        <p:blipFill>
          <a:blip r:embed="rId3"/>
          <a:stretch>
            <a:fillRect/>
          </a:stretch>
        </p:blipFill>
        <p:spPr>
          <a:xfrm>
            <a:off x="1010839" y="2450840"/>
            <a:ext cx="117851" cy="121369"/>
          </a:xfrm>
          <a:prstGeom prst="rect">
            <a:avLst/>
          </a:prstGeom>
        </p:spPr>
      </p:pic>
      <p:sp>
        <p:nvSpPr>
          <p:cNvPr id="2" name="Rectángulo 1"/>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7" name="Imagen 16"/>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sp>
        <p:nvSpPr>
          <p:cNvPr id="9" name="Rectángulo 8"/>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spTree>
    <p:extLst>
      <p:ext uri="{BB962C8B-B14F-4D97-AF65-F5344CB8AC3E}">
        <p14:creationId xmlns:p14="http://schemas.microsoft.com/office/powerpoint/2010/main" val="783239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1291636"/>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panose="020B0503030202060203" pitchFamily="34" charset="77"/>
              </a:rPr>
              <a:t>PERSONALIZACIÓN DEL </a:t>
            </a:r>
            <a:r>
              <a:rPr lang="es-PE" sz="2800" b="1" dirty="0">
                <a:solidFill>
                  <a:schemeClr val="bg1"/>
                </a:solidFill>
                <a:latin typeface="Graphik Bold" panose="020B0503030202060203" pitchFamily="34" charset="77"/>
              </a:rPr>
              <a:t>CUBO Y SUS DIMENSIONES</a:t>
            </a:r>
          </a:p>
          <a:p>
            <a:pPr>
              <a:lnSpc>
                <a:spcPct val="90000"/>
              </a:lnSpc>
              <a:spcBef>
                <a:spcPts val="1000"/>
              </a:spcBef>
              <a:defRPr/>
            </a:pP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400363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3242990" y="1542781"/>
            <a:ext cx="4984707" cy="3200876"/>
          </a:xfrm>
          <a:prstGeom prst="rect">
            <a:avLst/>
          </a:prstGeom>
          <a:noFill/>
        </p:spPr>
        <p:txBody>
          <a:bodyPr wrap="square" lIns="0" tIns="0" rIns="0" bIns="0" rtlCol="0">
            <a:spAutoFit/>
          </a:bodyPr>
          <a:lstStyle/>
          <a:p>
            <a:pPr marL="177800" indent="-177800">
              <a:buFont typeface="Arial" panose="020B0604020202020204" pitchFamily="34" charset="0"/>
              <a:buChar char="•"/>
            </a:pPr>
            <a:r>
              <a:rPr lang="es-PE" sz="1600" dirty="0"/>
              <a:t>El </a:t>
            </a:r>
            <a:r>
              <a:rPr lang="es-PE" sz="1600" b="1" dirty="0"/>
              <a:t>Asistente para cubos </a:t>
            </a:r>
            <a:r>
              <a:rPr lang="es-PE" sz="1600" dirty="0"/>
              <a:t>de SSAS implementa las dimensiones tomando solo en cuenta al </a:t>
            </a:r>
            <a:r>
              <a:rPr lang="es-PE" sz="1600" b="1" dirty="0"/>
              <a:t>atributo clave </a:t>
            </a:r>
            <a:r>
              <a:rPr lang="es-PE" sz="1600" dirty="0"/>
              <a:t>de la dimensión, lo que hace que el cubo sea poco amigable con el usuario.</a:t>
            </a:r>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r>
              <a:rPr lang="es-PE" sz="1600" dirty="0"/>
              <a:t>La dimensión debe contemplar los </a:t>
            </a:r>
            <a:r>
              <a:rPr lang="es-PE" sz="1600" b="1" dirty="0"/>
              <a:t>atributos descriptores</a:t>
            </a:r>
            <a:r>
              <a:rPr lang="es-PE" sz="1600" dirty="0"/>
              <a:t> necesarios para que los usuarios de negocio obtengan con facilidad la información que requieren.</a:t>
            </a:r>
          </a:p>
        </p:txBody>
      </p:sp>
      <p:pic>
        <p:nvPicPr>
          <p:cNvPr id="8" name="Imagen 7">
            <a:extLst>
              <a:ext uri="{FF2B5EF4-FFF2-40B4-BE49-F238E27FC236}">
                <a16:creationId xmlns:a16="http://schemas.microsoft.com/office/drawing/2014/main" id="{5B8AC908-577D-D402-550F-43252A6B5D1C}"/>
              </a:ext>
            </a:extLst>
          </p:cNvPr>
          <p:cNvPicPr>
            <a:picLocks noChangeAspect="1"/>
          </p:cNvPicPr>
          <p:nvPr/>
        </p:nvPicPr>
        <p:blipFill>
          <a:blip r:embed="rId4"/>
          <a:stretch>
            <a:fillRect/>
          </a:stretch>
        </p:blipFill>
        <p:spPr>
          <a:xfrm>
            <a:off x="935206" y="1357304"/>
            <a:ext cx="1921574" cy="1569530"/>
          </a:xfrm>
          <a:prstGeom prst="rect">
            <a:avLst/>
          </a:prstGeom>
        </p:spPr>
      </p:pic>
      <p:sp>
        <p:nvSpPr>
          <p:cNvPr id="9" name="CuadroTexto 8">
            <a:extLst>
              <a:ext uri="{FF2B5EF4-FFF2-40B4-BE49-F238E27FC236}">
                <a16:creationId xmlns:a16="http://schemas.microsoft.com/office/drawing/2014/main" id="{E643651C-E450-E5D4-48A4-1CC0FC924CD1}"/>
              </a:ext>
            </a:extLst>
          </p:cNvPr>
          <p:cNvSpPr txBox="1"/>
          <p:nvPr/>
        </p:nvSpPr>
        <p:spPr>
          <a:xfrm>
            <a:off x="503237" y="912813"/>
            <a:ext cx="2267095" cy="246221"/>
          </a:xfrm>
          <a:prstGeom prst="rect">
            <a:avLst/>
          </a:prstGeom>
          <a:noFill/>
        </p:spPr>
        <p:txBody>
          <a:bodyPr wrap="none" lIns="0" tIns="0" rIns="0" bIns="0" rtlCol="0">
            <a:spAutoFit/>
          </a:bodyPr>
          <a:lstStyle/>
          <a:p>
            <a:r>
              <a:rPr lang="es-419" sz="1600" b="1" dirty="0"/>
              <a:t>ATRIBUTOS DESCRIPTORES</a:t>
            </a:r>
            <a:endParaRPr lang="es-ES" sz="1600" b="1" dirty="0"/>
          </a:p>
        </p:txBody>
      </p:sp>
      <p:pic>
        <p:nvPicPr>
          <p:cNvPr id="11" name="Imagen 10">
            <a:extLst>
              <a:ext uri="{FF2B5EF4-FFF2-40B4-BE49-F238E27FC236}">
                <a16:creationId xmlns:a16="http://schemas.microsoft.com/office/drawing/2014/main" id="{20ABDD6F-4AC4-711F-403C-56320293D25C}"/>
              </a:ext>
            </a:extLst>
          </p:cNvPr>
          <p:cNvPicPr>
            <a:picLocks noChangeAspect="1"/>
          </p:cNvPicPr>
          <p:nvPr/>
        </p:nvPicPr>
        <p:blipFill>
          <a:blip r:embed="rId5"/>
          <a:stretch>
            <a:fillRect/>
          </a:stretch>
        </p:blipFill>
        <p:spPr>
          <a:xfrm>
            <a:off x="916303" y="3315379"/>
            <a:ext cx="1936242" cy="1752886"/>
          </a:xfrm>
          <a:prstGeom prst="rect">
            <a:avLst/>
          </a:prstGeom>
        </p:spPr>
      </p:pic>
      <p:sp>
        <p:nvSpPr>
          <p:cNvPr id="2" name="Rectangle 5">
            <a:extLst>
              <a:ext uri="{FF2B5EF4-FFF2-40B4-BE49-F238E27FC236}">
                <a16:creationId xmlns:a16="http://schemas.microsoft.com/office/drawing/2014/main" id="{AABDB66F-6893-DB35-BDC5-61EE8991B1D6}"/>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PERSONALIZACIÓN DEL CUBO Y SUS DIMENSIONES</a:t>
            </a:r>
            <a:r>
              <a:rPr lang="es-PE" sz="1000" dirty="0">
                <a:solidFill>
                  <a:schemeClr val="bg1">
                    <a:lumMod val="65000"/>
                  </a:schemeClr>
                </a:solidFill>
                <a:latin typeface="Calibri" charset="0"/>
                <a:cs typeface="Calibri" charset="0"/>
              </a:rPr>
              <a:t> </a:t>
            </a:r>
          </a:p>
        </p:txBody>
      </p:sp>
    </p:spTree>
    <p:custDataLst>
      <p:tags r:id="rId1"/>
    </p:custDataLst>
    <p:extLst>
      <p:ext uri="{BB962C8B-B14F-4D97-AF65-F5344CB8AC3E}">
        <p14:creationId xmlns:p14="http://schemas.microsoft.com/office/powerpoint/2010/main" val="2036579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4751388" y="1457116"/>
            <a:ext cx="3889375" cy="2800767"/>
          </a:xfrm>
          <a:prstGeom prst="rect">
            <a:avLst/>
          </a:prstGeom>
          <a:noFill/>
        </p:spPr>
        <p:txBody>
          <a:bodyPr wrap="square" lIns="0" tIns="0" rIns="0" bIns="0" rtlCol="0">
            <a:spAutoFit/>
          </a:bodyPr>
          <a:lstStyle/>
          <a:p>
            <a:pPr marL="225425" indent="-225425">
              <a:buFont typeface="Arial" panose="020B0604020202020204" pitchFamily="34" charset="0"/>
              <a:buChar char="•"/>
            </a:pPr>
            <a:r>
              <a:rPr lang="es-PE" sz="1600" dirty="0"/>
              <a:t>Algunas dimensiones pueden tener atributos que definen </a:t>
            </a:r>
            <a:r>
              <a:rPr lang="es-PE" sz="1600" b="1" dirty="0"/>
              <a:t>niveles</a:t>
            </a:r>
            <a:r>
              <a:rPr lang="es-PE" sz="1600" dirty="0"/>
              <a:t>. Por ejemplo en la dimensión Producto tenemos los niveles: Categoría y Producto (1 categoría contiene productos).</a:t>
            </a:r>
          </a:p>
          <a:p>
            <a:pPr marL="225425" indent="-225425">
              <a:buFont typeface="Arial" panose="020B0604020202020204" pitchFamily="34" charset="0"/>
              <a:buChar char="•"/>
            </a:pPr>
            <a:endParaRPr lang="es-PE" sz="1600" dirty="0"/>
          </a:p>
          <a:p>
            <a:pPr marL="225425" indent="-225425">
              <a:buFont typeface="Arial" panose="020B0604020202020204" pitchFamily="34" charset="0"/>
              <a:buChar char="•"/>
            </a:pPr>
            <a:r>
              <a:rPr lang="es-PE" sz="1600" dirty="0"/>
              <a:t>Los </a:t>
            </a:r>
            <a:r>
              <a:rPr lang="es-PE" sz="1600" b="1" dirty="0"/>
              <a:t>niveles</a:t>
            </a:r>
            <a:r>
              <a:rPr lang="es-PE" sz="1600" dirty="0"/>
              <a:t> permiten definir una </a:t>
            </a:r>
            <a:r>
              <a:rPr lang="es-PE" sz="1600" b="1" dirty="0"/>
              <a:t>jerarquía</a:t>
            </a:r>
            <a:r>
              <a:rPr lang="es-PE" sz="1600" dirty="0"/>
              <a:t> para los miembros de una dimensión.</a:t>
            </a:r>
          </a:p>
          <a:p>
            <a:pPr marL="225425" indent="-225425">
              <a:buFont typeface="Arial" panose="020B0604020202020204" pitchFamily="34" charset="0"/>
              <a:buChar char="•"/>
            </a:pPr>
            <a:endParaRPr lang="es-PE" sz="1600" dirty="0"/>
          </a:p>
          <a:p>
            <a:pPr marL="225425" indent="-225425">
              <a:buFont typeface="Arial" panose="020B0604020202020204" pitchFamily="34" charset="0"/>
              <a:buChar char="•"/>
            </a:pPr>
            <a:r>
              <a:rPr lang="es-PE" sz="1600" dirty="0"/>
              <a:t>Una </a:t>
            </a:r>
            <a:r>
              <a:rPr lang="es-PE" sz="1600" b="1" dirty="0"/>
              <a:t>jerarquía</a:t>
            </a:r>
            <a:r>
              <a:rPr lang="es-PE" sz="1600" dirty="0"/>
              <a:t> facilita la navegación a través de los miembros de la dimensión.</a:t>
            </a:r>
          </a:p>
        </p:txBody>
      </p:sp>
      <p:sp>
        <p:nvSpPr>
          <p:cNvPr id="9" name="CuadroTexto 8">
            <a:extLst>
              <a:ext uri="{FF2B5EF4-FFF2-40B4-BE49-F238E27FC236}">
                <a16:creationId xmlns:a16="http://schemas.microsoft.com/office/drawing/2014/main" id="{E643651C-E450-E5D4-48A4-1CC0FC924CD1}"/>
              </a:ext>
            </a:extLst>
          </p:cNvPr>
          <p:cNvSpPr txBox="1"/>
          <p:nvPr/>
        </p:nvSpPr>
        <p:spPr>
          <a:xfrm>
            <a:off x="499112" y="923405"/>
            <a:ext cx="1966116" cy="246221"/>
          </a:xfrm>
          <a:prstGeom prst="rect">
            <a:avLst/>
          </a:prstGeom>
          <a:noFill/>
        </p:spPr>
        <p:txBody>
          <a:bodyPr wrap="none" lIns="0" tIns="0" rIns="0" bIns="0" rtlCol="0">
            <a:spAutoFit/>
          </a:bodyPr>
          <a:lstStyle/>
          <a:p>
            <a:r>
              <a:rPr lang="es-419" sz="1600" b="1" dirty="0"/>
              <a:t>NIVELES Y JERARQUÍAS</a:t>
            </a:r>
            <a:endParaRPr lang="es-ES" sz="1600" b="1" dirty="0"/>
          </a:p>
        </p:txBody>
      </p:sp>
      <p:pic>
        <p:nvPicPr>
          <p:cNvPr id="3" name="Imagen 2">
            <a:extLst>
              <a:ext uri="{FF2B5EF4-FFF2-40B4-BE49-F238E27FC236}">
                <a16:creationId xmlns:a16="http://schemas.microsoft.com/office/drawing/2014/main" id="{28AC1F42-0455-E882-F273-B9A5DB529FE9}"/>
              </a:ext>
            </a:extLst>
          </p:cNvPr>
          <p:cNvPicPr>
            <a:picLocks noChangeAspect="1"/>
          </p:cNvPicPr>
          <p:nvPr/>
        </p:nvPicPr>
        <p:blipFill>
          <a:blip r:embed="rId4"/>
          <a:stretch>
            <a:fillRect/>
          </a:stretch>
        </p:blipFill>
        <p:spPr>
          <a:xfrm>
            <a:off x="645953" y="1457116"/>
            <a:ext cx="3638550" cy="1352550"/>
          </a:xfrm>
          <a:prstGeom prst="rect">
            <a:avLst/>
          </a:prstGeom>
        </p:spPr>
      </p:pic>
      <p:pic>
        <p:nvPicPr>
          <p:cNvPr id="6" name="Imagen 5">
            <a:extLst>
              <a:ext uri="{FF2B5EF4-FFF2-40B4-BE49-F238E27FC236}">
                <a16:creationId xmlns:a16="http://schemas.microsoft.com/office/drawing/2014/main" id="{B312776A-1E16-0CAF-A969-0640E5DABE86}"/>
              </a:ext>
            </a:extLst>
          </p:cNvPr>
          <p:cNvPicPr>
            <a:picLocks noChangeAspect="1"/>
          </p:cNvPicPr>
          <p:nvPr/>
        </p:nvPicPr>
        <p:blipFill>
          <a:blip r:embed="rId5"/>
          <a:stretch>
            <a:fillRect/>
          </a:stretch>
        </p:blipFill>
        <p:spPr>
          <a:xfrm>
            <a:off x="1287072" y="2942176"/>
            <a:ext cx="2543175" cy="1790700"/>
          </a:xfrm>
          <a:prstGeom prst="rect">
            <a:avLst/>
          </a:prstGeom>
        </p:spPr>
      </p:pic>
      <p:sp>
        <p:nvSpPr>
          <p:cNvPr id="2" name="Rectangle 5">
            <a:extLst>
              <a:ext uri="{FF2B5EF4-FFF2-40B4-BE49-F238E27FC236}">
                <a16:creationId xmlns:a16="http://schemas.microsoft.com/office/drawing/2014/main" id="{B7AA1C77-BF30-8BEE-6B31-2AF446B11B39}"/>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PERSONALIZACIÓN DEL CUBO Y SUS DIMENSIONES</a:t>
            </a:r>
            <a:r>
              <a:rPr lang="es-PE" sz="1000" dirty="0">
                <a:solidFill>
                  <a:schemeClr val="bg1">
                    <a:lumMod val="65000"/>
                  </a:schemeClr>
                </a:solidFill>
                <a:latin typeface="Calibri" charset="0"/>
                <a:cs typeface="Calibri" charset="0"/>
              </a:rPr>
              <a:t> </a:t>
            </a:r>
          </a:p>
        </p:txBody>
      </p:sp>
    </p:spTree>
    <p:custDataLst>
      <p:tags r:id="rId1"/>
    </p:custDataLst>
    <p:extLst>
      <p:ext uri="{BB962C8B-B14F-4D97-AF65-F5344CB8AC3E}">
        <p14:creationId xmlns:p14="http://schemas.microsoft.com/office/powerpoint/2010/main" val="617990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4067175" y="1943586"/>
            <a:ext cx="4573588" cy="2154436"/>
          </a:xfrm>
          <a:prstGeom prst="rect">
            <a:avLst/>
          </a:prstGeom>
          <a:noFill/>
        </p:spPr>
        <p:txBody>
          <a:bodyPr wrap="square" lIns="0" tIns="0" rIns="0" bIns="0" rtlCol="0">
            <a:spAutoFit/>
          </a:bodyPr>
          <a:lstStyle/>
          <a:p>
            <a:pPr marL="177800" indent="-177800" algn="just">
              <a:buFont typeface="Arial" panose="020B0604020202020204" pitchFamily="34" charset="0"/>
              <a:buChar char="•"/>
            </a:pPr>
            <a:r>
              <a:rPr lang="es-PE" sz="1600" dirty="0"/>
              <a:t>Usamos la vista del origen de datos.</a:t>
            </a:r>
          </a:p>
          <a:p>
            <a:pPr marL="177800" indent="-177800" algn="just"/>
            <a:endParaRPr lang="es-PE" sz="1600" dirty="0"/>
          </a:p>
          <a:p>
            <a:pPr marL="177800" indent="-177800" algn="just">
              <a:buFont typeface="Arial" panose="020B0604020202020204" pitchFamily="34" charset="0"/>
              <a:buChar char="•"/>
            </a:pPr>
            <a:r>
              <a:rPr lang="es-PE" sz="1600" dirty="0"/>
              <a:t>Columna calculada </a:t>
            </a:r>
            <a:r>
              <a:rPr lang="es-PE" sz="1600" b="1" dirty="0" err="1"/>
              <a:t>fechaCadena</a:t>
            </a:r>
            <a:r>
              <a:rPr lang="es-PE" sz="1600" dirty="0"/>
              <a:t>:</a:t>
            </a:r>
          </a:p>
          <a:p>
            <a:pPr marL="285750" indent="-285750" algn="just">
              <a:buFont typeface="Arial" panose="020B0604020202020204" pitchFamily="34" charset="0"/>
              <a:buChar char="•"/>
            </a:pPr>
            <a:endParaRPr lang="es-PE" dirty="0"/>
          </a:p>
          <a:p>
            <a:pPr lvl="1" algn="just"/>
            <a:r>
              <a:rPr lang="es-PE" sz="1400" dirty="0">
                <a:latin typeface="Consolas" panose="020B0609020204030204" pitchFamily="49" charset="0"/>
              </a:rPr>
              <a:t>DATENAME(</a:t>
            </a:r>
            <a:r>
              <a:rPr lang="es-PE" sz="1400" dirty="0" err="1">
                <a:latin typeface="Consolas" panose="020B0609020204030204" pitchFamily="49" charset="0"/>
              </a:rPr>
              <a:t>dw</a:t>
            </a:r>
            <a:r>
              <a:rPr lang="es-PE" sz="1400" dirty="0">
                <a:latin typeface="Consolas" panose="020B0609020204030204" pitchFamily="49" charset="0"/>
              </a:rPr>
              <a:t>, fecha) + ' ' +</a:t>
            </a:r>
          </a:p>
          <a:p>
            <a:pPr lvl="1" algn="just"/>
            <a:r>
              <a:rPr lang="es-PE" sz="1400" dirty="0">
                <a:latin typeface="Consolas" panose="020B0609020204030204" pitchFamily="49" charset="0"/>
              </a:rPr>
              <a:t>DATENAME(</a:t>
            </a:r>
            <a:r>
              <a:rPr lang="es-PE" sz="1400" dirty="0" err="1">
                <a:latin typeface="Consolas" panose="020B0609020204030204" pitchFamily="49" charset="0"/>
              </a:rPr>
              <a:t>yy</a:t>
            </a:r>
            <a:r>
              <a:rPr lang="es-PE" sz="1400" dirty="0">
                <a:latin typeface="Consolas" panose="020B0609020204030204" pitchFamily="49" charset="0"/>
              </a:rPr>
              <a:t>, fecha) + ' ' +  </a:t>
            </a:r>
          </a:p>
          <a:p>
            <a:pPr lvl="1" algn="just"/>
            <a:r>
              <a:rPr lang="es-PE" sz="1400" dirty="0">
                <a:latin typeface="Consolas" panose="020B0609020204030204" pitchFamily="49" charset="0"/>
              </a:rPr>
              <a:t>DATENAME(mm, fecha) + '  ' +  </a:t>
            </a:r>
          </a:p>
          <a:p>
            <a:pPr lvl="1" algn="just"/>
            <a:r>
              <a:rPr lang="es-PE" sz="1400" dirty="0">
                <a:latin typeface="Consolas" panose="020B0609020204030204" pitchFamily="49" charset="0"/>
              </a:rPr>
              <a:t>DATENAME(</a:t>
            </a:r>
            <a:r>
              <a:rPr lang="es-PE" sz="1400" dirty="0" err="1">
                <a:latin typeface="Consolas" panose="020B0609020204030204" pitchFamily="49" charset="0"/>
              </a:rPr>
              <a:t>dd</a:t>
            </a:r>
            <a:r>
              <a:rPr lang="es-PE" sz="1400" dirty="0">
                <a:latin typeface="Consolas" panose="020B0609020204030204" pitchFamily="49" charset="0"/>
              </a:rPr>
              <a:t>, fecha)</a:t>
            </a:r>
          </a:p>
          <a:p>
            <a:pPr algn="just"/>
            <a:endParaRPr lang="es-PE" dirty="0"/>
          </a:p>
        </p:txBody>
      </p:sp>
      <p:sp>
        <p:nvSpPr>
          <p:cNvPr id="9" name="CuadroTexto 8">
            <a:extLst>
              <a:ext uri="{FF2B5EF4-FFF2-40B4-BE49-F238E27FC236}">
                <a16:creationId xmlns:a16="http://schemas.microsoft.com/office/drawing/2014/main" id="{E643651C-E450-E5D4-48A4-1CC0FC924CD1}"/>
              </a:ext>
            </a:extLst>
          </p:cNvPr>
          <p:cNvSpPr txBox="1"/>
          <p:nvPr/>
        </p:nvSpPr>
        <p:spPr>
          <a:xfrm>
            <a:off x="503238" y="919301"/>
            <a:ext cx="4722896" cy="246221"/>
          </a:xfrm>
          <a:prstGeom prst="rect">
            <a:avLst/>
          </a:prstGeom>
          <a:noFill/>
        </p:spPr>
        <p:txBody>
          <a:bodyPr wrap="none" lIns="0" tIns="0" rIns="0" bIns="0" rtlCol="0">
            <a:spAutoFit/>
          </a:bodyPr>
          <a:lstStyle/>
          <a:p>
            <a:r>
              <a:rPr lang="es-419" sz="1600" b="1" dirty="0"/>
              <a:t>DIMENSIÓN TIEMPO – AÑADIR CÁLCULO CON NOMBRE</a:t>
            </a:r>
            <a:endParaRPr lang="es-ES" sz="1600" b="1" dirty="0"/>
          </a:p>
        </p:txBody>
      </p:sp>
      <p:pic>
        <p:nvPicPr>
          <p:cNvPr id="4" name="Imagen 3">
            <a:extLst>
              <a:ext uri="{FF2B5EF4-FFF2-40B4-BE49-F238E27FC236}">
                <a16:creationId xmlns:a16="http://schemas.microsoft.com/office/drawing/2014/main" id="{54B05D1E-DBB4-6218-9306-4DA76C25DAFA}"/>
              </a:ext>
            </a:extLst>
          </p:cNvPr>
          <p:cNvPicPr>
            <a:picLocks noChangeAspect="1"/>
          </p:cNvPicPr>
          <p:nvPr/>
        </p:nvPicPr>
        <p:blipFill>
          <a:blip r:embed="rId4"/>
          <a:stretch>
            <a:fillRect/>
          </a:stretch>
        </p:blipFill>
        <p:spPr>
          <a:xfrm>
            <a:off x="1561269" y="1465190"/>
            <a:ext cx="1743075" cy="3371850"/>
          </a:xfrm>
          <a:prstGeom prst="rect">
            <a:avLst/>
          </a:prstGeom>
        </p:spPr>
      </p:pic>
      <p:sp>
        <p:nvSpPr>
          <p:cNvPr id="8" name="Rectángulo 7">
            <a:extLst>
              <a:ext uri="{FF2B5EF4-FFF2-40B4-BE49-F238E27FC236}">
                <a16:creationId xmlns:a16="http://schemas.microsoft.com/office/drawing/2014/main" id="{DB068E7C-826B-D344-B58B-341E2302F0AE}"/>
              </a:ext>
            </a:extLst>
          </p:cNvPr>
          <p:cNvSpPr/>
          <p:nvPr/>
        </p:nvSpPr>
        <p:spPr>
          <a:xfrm>
            <a:off x="1879134" y="3984771"/>
            <a:ext cx="1132514" cy="226502"/>
          </a:xfrm>
          <a:prstGeom prst="rect">
            <a:avLst/>
          </a:prstGeom>
          <a:noFill/>
          <a:ln w="31750">
            <a:solidFill>
              <a:srgbClr val="EE46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Rectangle 5">
            <a:extLst>
              <a:ext uri="{FF2B5EF4-FFF2-40B4-BE49-F238E27FC236}">
                <a16:creationId xmlns:a16="http://schemas.microsoft.com/office/drawing/2014/main" id="{DAF1E680-D565-87AB-6C79-79646D2E4294}"/>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PERSONALIZACIÓN DEL CUBO Y SUS DIMENSIONES</a:t>
            </a:r>
            <a:r>
              <a:rPr lang="es-PE" sz="1000" dirty="0">
                <a:solidFill>
                  <a:schemeClr val="bg1">
                    <a:lumMod val="65000"/>
                  </a:schemeClr>
                </a:solidFill>
                <a:latin typeface="Calibri" charset="0"/>
                <a:cs typeface="Calibri" charset="0"/>
              </a:rPr>
              <a:t> </a:t>
            </a:r>
          </a:p>
        </p:txBody>
      </p:sp>
    </p:spTree>
    <p:custDataLst>
      <p:tags r:id="rId1"/>
    </p:custDataLst>
    <p:extLst>
      <p:ext uri="{BB962C8B-B14F-4D97-AF65-F5344CB8AC3E}">
        <p14:creationId xmlns:p14="http://schemas.microsoft.com/office/powerpoint/2010/main" val="4215856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4073607" y="2058194"/>
            <a:ext cx="4567155" cy="2000548"/>
          </a:xfrm>
          <a:prstGeom prst="rect">
            <a:avLst/>
          </a:prstGeom>
          <a:noFill/>
        </p:spPr>
        <p:txBody>
          <a:bodyPr wrap="square" lIns="0" tIns="0" rIns="0" bIns="0" rtlCol="0">
            <a:spAutoFit/>
          </a:bodyPr>
          <a:lstStyle/>
          <a:p>
            <a:pPr marL="177800" indent="-177800">
              <a:buFont typeface="Arial" panose="020B0604020202020204" pitchFamily="34" charset="0"/>
              <a:buChar char="•"/>
            </a:pPr>
            <a:r>
              <a:rPr lang="es-PE" sz="1600" dirty="0"/>
              <a:t>Por defecto, una dimensión es de tipo </a:t>
            </a:r>
            <a:r>
              <a:rPr lang="es-PE" sz="1600" b="1" dirty="0"/>
              <a:t>Regular</a:t>
            </a:r>
            <a:r>
              <a:rPr lang="es-PE" sz="1600" dirty="0"/>
              <a:t>.</a:t>
            </a:r>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r>
              <a:rPr lang="es-PE" sz="1600" dirty="0"/>
              <a:t>La propiedad </a:t>
            </a:r>
            <a:r>
              <a:rPr lang="es-PE" sz="1600" b="1" dirty="0" err="1"/>
              <a:t>Type</a:t>
            </a:r>
            <a:r>
              <a:rPr lang="es-PE" sz="1600" dirty="0"/>
              <a:t> de la dimensión especifica el tipo de información que contiene.</a:t>
            </a:r>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r>
              <a:rPr lang="es-PE" sz="1600" dirty="0"/>
              <a:t>Establecer la propiedad </a:t>
            </a:r>
            <a:r>
              <a:rPr lang="es-PE" sz="1600" b="1" dirty="0" err="1"/>
              <a:t>Type</a:t>
            </a:r>
            <a:r>
              <a:rPr lang="es-PE" sz="1600" dirty="0"/>
              <a:t> de la dimensión Tiempo en el valor </a:t>
            </a:r>
            <a:r>
              <a:rPr lang="es-PE" sz="1600" b="1" dirty="0"/>
              <a:t>Time</a:t>
            </a:r>
            <a:r>
              <a:rPr lang="es-PE" sz="1600" dirty="0"/>
              <a:t>.</a:t>
            </a:r>
          </a:p>
          <a:p>
            <a:endParaRPr lang="es-PE" dirty="0"/>
          </a:p>
        </p:txBody>
      </p:sp>
      <p:sp>
        <p:nvSpPr>
          <p:cNvPr id="9" name="CuadroTexto 8">
            <a:extLst>
              <a:ext uri="{FF2B5EF4-FFF2-40B4-BE49-F238E27FC236}">
                <a16:creationId xmlns:a16="http://schemas.microsoft.com/office/drawing/2014/main" id="{E643651C-E450-E5D4-48A4-1CC0FC924CD1}"/>
              </a:ext>
            </a:extLst>
          </p:cNvPr>
          <p:cNvSpPr txBox="1"/>
          <p:nvPr/>
        </p:nvSpPr>
        <p:spPr>
          <a:xfrm>
            <a:off x="503238" y="918902"/>
            <a:ext cx="3699731" cy="246221"/>
          </a:xfrm>
          <a:prstGeom prst="rect">
            <a:avLst/>
          </a:prstGeom>
          <a:noFill/>
        </p:spPr>
        <p:txBody>
          <a:bodyPr wrap="none" lIns="0" tIns="0" rIns="0" bIns="0" rtlCol="0">
            <a:spAutoFit/>
          </a:bodyPr>
          <a:lstStyle/>
          <a:p>
            <a:r>
              <a:rPr lang="es-419" sz="1600" b="1" dirty="0"/>
              <a:t>DIMENSIÓN TIEMPO – TIPO DE DIMENSIÓN</a:t>
            </a:r>
            <a:endParaRPr lang="es-ES" sz="1600" b="1" dirty="0"/>
          </a:p>
        </p:txBody>
      </p:sp>
      <p:pic>
        <p:nvPicPr>
          <p:cNvPr id="3" name="Imagen 2">
            <a:extLst>
              <a:ext uri="{FF2B5EF4-FFF2-40B4-BE49-F238E27FC236}">
                <a16:creationId xmlns:a16="http://schemas.microsoft.com/office/drawing/2014/main" id="{9286117D-8B70-8AFF-67D6-79C3AB67B38D}"/>
              </a:ext>
            </a:extLst>
          </p:cNvPr>
          <p:cNvPicPr>
            <a:picLocks noChangeAspect="1"/>
          </p:cNvPicPr>
          <p:nvPr/>
        </p:nvPicPr>
        <p:blipFill>
          <a:blip r:embed="rId4"/>
          <a:stretch>
            <a:fillRect/>
          </a:stretch>
        </p:blipFill>
        <p:spPr>
          <a:xfrm>
            <a:off x="1235586" y="1582019"/>
            <a:ext cx="2261759" cy="3214079"/>
          </a:xfrm>
          <a:prstGeom prst="rect">
            <a:avLst/>
          </a:prstGeom>
        </p:spPr>
      </p:pic>
      <p:sp>
        <p:nvSpPr>
          <p:cNvPr id="2" name="Rectangle 5">
            <a:extLst>
              <a:ext uri="{FF2B5EF4-FFF2-40B4-BE49-F238E27FC236}">
                <a16:creationId xmlns:a16="http://schemas.microsoft.com/office/drawing/2014/main" id="{E08849B6-A075-5436-F2C9-174EDAC4E63C}"/>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PERSONALIZACIÓN DEL CUBO Y SUS DIMENSIONES</a:t>
            </a:r>
            <a:r>
              <a:rPr lang="es-PE" sz="1000" dirty="0">
                <a:solidFill>
                  <a:schemeClr val="bg1">
                    <a:lumMod val="65000"/>
                  </a:schemeClr>
                </a:solidFill>
                <a:latin typeface="Calibri" charset="0"/>
                <a:cs typeface="Calibri" charset="0"/>
              </a:rPr>
              <a:t> </a:t>
            </a:r>
          </a:p>
        </p:txBody>
      </p:sp>
    </p:spTree>
    <p:custDataLst>
      <p:tags r:id="rId1"/>
    </p:custDataLst>
    <p:extLst>
      <p:ext uri="{BB962C8B-B14F-4D97-AF65-F5344CB8AC3E}">
        <p14:creationId xmlns:p14="http://schemas.microsoft.com/office/powerpoint/2010/main" val="4259080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4067175" y="1556512"/>
            <a:ext cx="4388668" cy="3447098"/>
          </a:xfrm>
          <a:prstGeom prst="rect">
            <a:avLst/>
          </a:prstGeom>
          <a:noFill/>
        </p:spPr>
        <p:txBody>
          <a:bodyPr wrap="square" lIns="0" tIns="0" rIns="0" bIns="0" rtlCol="0">
            <a:spAutoFit/>
          </a:bodyPr>
          <a:lstStyle/>
          <a:p>
            <a:pPr marL="177800" indent="-177800">
              <a:buFont typeface="Arial" panose="020B0604020202020204" pitchFamily="34" charset="0"/>
              <a:buChar char="•"/>
            </a:pPr>
            <a:r>
              <a:rPr lang="es-PE" sz="1600" dirty="0">
                <a:latin typeface="Calibri" panose="020F0502020204030204" pitchFamily="34" charset="0"/>
                <a:cs typeface="Calibri" panose="020F0502020204030204" pitchFamily="34" charset="0"/>
              </a:rPr>
              <a:t>Por defecto, el tipo de atributo de una dimensión es </a:t>
            </a:r>
            <a:r>
              <a:rPr lang="es-PE" sz="1600" b="1" dirty="0">
                <a:latin typeface="Calibri" panose="020F0502020204030204" pitchFamily="34" charset="0"/>
                <a:cs typeface="Calibri" panose="020F0502020204030204" pitchFamily="34" charset="0"/>
              </a:rPr>
              <a:t>Regular</a:t>
            </a:r>
            <a:r>
              <a:rPr lang="es-PE" sz="1600" dirty="0">
                <a:latin typeface="Calibri" panose="020F0502020204030204" pitchFamily="34" charset="0"/>
                <a:cs typeface="Calibri" panose="020F0502020204030204" pitchFamily="34" charset="0"/>
              </a:rPr>
              <a:t>.</a:t>
            </a:r>
          </a:p>
          <a:p>
            <a:pPr marL="177800" indent="-177800">
              <a:buFont typeface="Arial" panose="020B0604020202020204" pitchFamily="34" charset="0"/>
              <a:buChar char="•"/>
            </a:pPr>
            <a:endParaRPr lang="es-PE" sz="1600" dirty="0">
              <a:latin typeface="Calibri" panose="020F0502020204030204" pitchFamily="34" charset="0"/>
              <a:cs typeface="Calibri" panose="020F0502020204030204" pitchFamily="34" charset="0"/>
            </a:endParaRPr>
          </a:p>
          <a:p>
            <a:pPr marL="177800" indent="-177800">
              <a:buFont typeface="Arial" panose="020B0604020202020204" pitchFamily="34" charset="0"/>
              <a:buChar char="•"/>
            </a:pPr>
            <a:r>
              <a:rPr lang="es-PE" sz="1600" dirty="0">
                <a:latin typeface="Calibri" panose="020F0502020204030204" pitchFamily="34" charset="0"/>
                <a:cs typeface="Calibri" panose="020F0502020204030204" pitchFamily="34" charset="0"/>
              </a:rPr>
              <a:t>La propiedad </a:t>
            </a:r>
            <a:r>
              <a:rPr lang="es-PE" sz="1600" b="1" dirty="0" err="1">
                <a:latin typeface="Calibri" panose="020F0502020204030204" pitchFamily="34" charset="0"/>
                <a:cs typeface="Calibri" panose="020F0502020204030204" pitchFamily="34" charset="0"/>
              </a:rPr>
              <a:t>Type</a:t>
            </a:r>
            <a:r>
              <a:rPr lang="es-PE" sz="1600" dirty="0">
                <a:latin typeface="Calibri" panose="020F0502020204030204" pitchFamily="34" charset="0"/>
                <a:cs typeface="Calibri" panose="020F0502020204030204" pitchFamily="34" charset="0"/>
              </a:rPr>
              <a:t> del atributo  especifica el tipo de información que contiene.</a:t>
            </a:r>
          </a:p>
          <a:p>
            <a:pPr marL="177800" indent="-177800">
              <a:buFont typeface="Arial" panose="020B0604020202020204" pitchFamily="34" charset="0"/>
              <a:buChar char="•"/>
            </a:pPr>
            <a:endParaRPr lang="es-PE" sz="1600" dirty="0">
              <a:latin typeface="Calibri" panose="020F0502020204030204" pitchFamily="34" charset="0"/>
              <a:cs typeface="Calibri" panose="020F0502020204030204" pitchFamily="34" charset="0"/>
            </a:endParaRPr>
          </a:p>
          <a:p>
            <a:pPr marL="177800" indent="-177800">
              <a:buFont typeface="Arial" panose="020B0604020202020204" pitchFamily="34" charset="0"/>
              <a:buChar char="•"/>
            </a:pPr>
            <a:r>
              <a:rPr lang="es-PE" sz="1600" dirty="0">
                <a:latin typeface="Calibri" panose="020F0502020204030204" pitchFamily="34" charset="0"/>
                <a:cs typeface="Calibri" panose="020F0502020204030204" pitchFamily="34" charset="0"/>
              </a:rPr>
              <a:t>Establecer la propiedad </a:t>
            </a:r>
            <a:r>
              <a:rPr lang="es-PE" sz="1600" b="1" dirty="0" err="1">
                <a:latin typeface="Calibri" panose="020F0502020204030204" pitchFamily="34" charset="0"/>
                <a:cs typeface="Calibri" panose="020F0502020204030204" pitchFamily="34" charset="0"/>
              </a:rPr>
              <a:t>Type</a:t>
            </a:r>
            <a:r>
              <a:rPr lang="es-PE" sz="1600" dirty="0">
                <a:latin typeface="Calibri" panose="020F0502020204030204" pitchFamily="34" charset="0"/>
                <a:cs typeface="Calibri" panose="020F0502020204030204" pitchFamily="34" charset="0"/>
              </a:rPr>
              <a:t> del atributo en un valor que represente su contenido. Por ejemplo:</a:t>
            </a:r>
          </a:p>
          <a:p>
            <a:pPr marL="285750" indent="-285750">
              <a:buFont typeface="Arial" panose="020B0604020202020204" pitchFamily="34" charset="0"/>
              <a:buChar char="•"/>
            </a:pPr>
            <a:endParaRPr lang="es-PE" sz="1600" dirty="0">
              <a:latin typeface="Calibri" panose="020F0502020204030204" pitchFamily="34" charset="0"/>
              <a:cs typeface="Calibri" panose="020F0502020204030204" pitchFamily="34" charset="0"/>
            </a:endParaRPr>
          </a:p>
          <a:p>
            <a:pPr lvl="1"/>
            <a:r>
              <a:rPr lang="es-PE" sz="1400" dirty="0">
                <a:latin typeface="Calibri" panose="020F0502020204030204" pitchFamily="34" charset="0"/>
                <a:cs typeface="Calibri" panose="020F0502020204030204" pitchFamily="34" charset="0"/>
              </a:rPr>
              <a:t>Año </a:t>
            </a:r>
            <a:r>
              <a:rPr lang="es-PE" sz="1600" dirty="0">
                <a:latin typeface="Calibri" panose="020F0502020204030204" pitchFamily="34" charset="0"/>
                <a:cs typeface="Calibri" panose="020F0502020204030204" pitchFamily="34" charset="0"/>
              </a:rPr>
              <a:t>representa</a:t>
            </a:r>
            <a:r>
              <a:rPr lang="es-PE" sz="1400" dirty="0">
                <a:latin typeface="Calibri" panose="020F0502020204030204" pitchFamily="34" charset="0"/>
                <a:cs typeface="Calibri" panose="020F0502020204030204" pitchFamily="34" charset="0"/>
              </a:rPr>
              <a:t> </a:t>
            </a:r>
            <a:r>
              <a:rPr lang="es-PE" sz="1400" dirty="0" err="1">
                <a:latin typeface="Calibri" panose="020F0502020204030204" pitchFamily="34" charset="0"/>
                <a:cs typeface="Calibri" panose="020F0502020204030204" pitchFamily="34" charset="0"/>
              </a:rPr>
              <a:t>Years</a:t>
            </a:r>
            <a:endParaRPr lang="es-PE" sz="1400" dirty="0">
              <a:latin typeface="Calibri" panose="020F0502020204030204" pitchFamily="34" charset="0"/>
              <a:cs typeface="Calibri" panose="020F0502020204030204" pitchFamily="34" charset="0"/>
            </a:endParaRPr>
          </a:p>
          <a:p>
            <a:pPr lvl="1"/>
            <a:r>
              <a:rPr lang="es-PE" sz="1400" dirty="0">
                <a:latin typeface="Calibri" panose="020F0502020204030204" pitchFamily="34" charset="0"/>
                <a:cs typeface="Calibri" panose="020F0502020204030204" pitchFamily="34" charset="0"/>
              </a:rPr>
              <a:t>Dia </a:t>
            </a:r>
            <a:r>
              <a:rPr lang="es-PE" sz="1600" dirty="0">
                <a:latin typeface="Calibri" panose="020F0502020204030204" pitchFamily="34" charset="0"/>
                <a:cs typeface="Calibri" panose="020F0502020204030204" pitchFamily="34" charset="0"/>
              </a:rPr>
              <a:t>representa</a:t>
            </a:r>
            <a:r>
              <a:rPr lang="es-PE" sz="1400" dirty="0">
                <a:latin typeface="Calibri" panose="020F0502020204030204" pitchFamily="34" charset="0"/>
                <a:cs typeface="Calibri" panose="020F0502020204030204" pitchFamily="34" charset="0"/>
              </a:rPr>
              <a:t> </a:t>
            </a:r>
            <a:r>
              <a:rPr lang="es-PE" sz="1400" dirty="0" err="1">
                <a:latin typeface="Calibri" panose="020F0502020204030204" pitchFamily="34" charset="0"/>
                <a:cs typeface="Calibri" panose="020F0502020204030204" pitchFamily="34" charset="0"/>
              </a:rPr>
              <a:t>DayOfMonth</a:t>
            </a:r>
            <a:endParaRPr lang="es-PE" sz="1400" dirty="0">
              <a:latin typeface="Calibri" panose="020F0502020204030204" pitchFamily="34" charset="0"/>
              <a:cs typeface="Calibri" panose="020F0502020204030204" pitchFamily="34" charset="0"/>
            </a:endParaRPr>
          </a:p>
          <a:p>
            <a:pPr lvl="1"/>
            <a:r>
              <a:rPr lang="es-PE" sz="1400" dirty="0">
                <a:latin typeface="Calibri" panose="020F0502020204030204" pitchFamily="34" charset="0"/>
                <a:cs typeface="Calibri" panose="020F0502020204030204" pitchFamily="34" charset="0"/>
              </a:rPr>
              <a:t>Fecha </a:t>
            </a:r>
            <a:r>
              <a:rPr lang="es-PE" sz="1600" dirty="0">
                <a:latin typeface="Calibri" panose="020F0502020204030204" pitchFamily="34" charset="0"/>
                <a:cs typeface="Calibri" panose="020F0502020204030204" pitchFamily="34" charset="0"/>
              </a:rPr>
              <a:t>representa</a:t>
            </a:r>
            <a:r>
              <a:rPr lang="es-PE" sz="1400" dirty="0">
                <a:latin typeface="Calibri" panose="020F0502020204030204" pitchFamily="34" charset="0"/>
                <a:cs typeface="Calibri" panose="020F0502020204030204" pitchFamily="34" charset="0"/>
              </a:rPr>
              <a:t> Date</a:t>
            </a:r>
          </a:p>
          <a:p>
            <a:pPr lvl="1"/>
            <a:r>
              <a:rPr lang="es-PE" sz="1400" dirty="0" err="1">
                <a:latin typeface="Calibri" panose="020F0502020204030204" pitchFamily="34" charset="0"/>
                <a:cs typeface="Calibri" panose="020F0502020204030204" pitchFamily="34" charset="0"/>
              </a:rPr>
              <a:t>FechaCadena</a:t>
            </a:r>
            <a:r>
              <a:rPr lang="es-PE" sz="1400" dirty="0">
                <a:latin typeface="Calibri" panose="020F0502020204030204" pitchFamily="34" charset="0"/>
                <a:cs typeface="Calibri" panose="020F0502020204030204" pitchFamily="34" charset="0"/>
              </a:rPr>
              <a:t> </a:t>
            </a:r>
            <a:r>
              <a:rPr lang="es-PE" sz="1600" dirty="0">
                <a:latin typeface="Calibri" panose="020F0502020204030204" pitchFamily="34" charset="0"/>
                <a:cs typeface="Calibri" panose="020F0502020204030204" pitchFamily="34" charset="0"/>
              </a:rPr>
              <a:t>representa</a:t>
            </a:r>
            <a:r>
              <a:rPr lang="es-PE" sz="1400" dirty="0">
                <a:latin typeface="Calibri" panose="020F0502020204030204" pitchFamily="34" charset="0"/>
                <a:cs typeface="Calibri" panose="020F0502020204030204" pitchFamily="34" charset="0"/>
              </a:rPr>
              <a:t> Date</a:t>
            </a:r>
          </a:p>
          <a:p>
            <a:pPr lvl="1"/>
            <a:r>
              <a:rPr lang="es-PE" sz="1400" dirty="0">
                <a:latin typeface="Calibri" panose="020F0502020204030204" pitchFamily="34" charset="0"/>
                <a:cs typeface="Calibri" panose="020F0502020204030204" pitchFamily="34" charset="0"/>
              </a:rPr>
              <a:t>Mes </a:t>
            </a:r>
            <a:r>
              <a:rPr lang="es-PE" sz="1600" dirty="0">
                <a:latin typeface="Calibri" panose="020F0502020204030204" pitchFamily="34" charset="0"/>
                <a:cs typeface="Calibri" panose="020F0502020204030204" pitchFamily="34" charset="0"/>
              </a:rPr>
              <a:t>representa</a:t>
            </a:r>
            <a:r>
              <a:rPr lang="es-PE" sz="1400" dirty="0">
                <a:latin typeface="Calibri" panose="020F0502020204030204" pitchFamily="34" charset="0"/>
                <a:cs typeface="Calibri" panose="020F0502020204030204" pitchFamily="34" charset="0"/>
              </a:rPr>
              <a:t> </a:t>
            </a:r>
            <a:r>
              <a:rPr lang="es-PE" sz="1400" dirty="0" err="1">
                <a:latin typeface="Calibri" panose="020F0502020204030204" pitchFamily="34" charset="0"/>
                <a:cs typeface="Calibri" panose="020F0502020204030204" pitchFamily="34" charset="0"/>
              </a:rPr>
              <a:t>MonthOfYear</a:t>
            </a:r>
            <a:endParaRPr lang="es-PE" sz="1400" dirty="0">
              <a:latin typeface="Calibri" panose="020F0502020204030204" pitchFamily="34" charset="0"/>
              <a:cs typeface="Calibri" panose="020F0502020204030204" pitchFamily="34" charset="0"/>
            </a:endParaRPr>
          </a:p>
        </p:txBody>
      </p:sp>
      <p:sp>
        <p:nvSpPr>
          <p:cNvPr id="9" name="CuadroTexto 8">
            <a:extLst>
              <a:ext uri="{FF2B5EF4-FFF2-40B4-BE49-F238E27FC236}">
                <a16:creationId xmlns:a16="http://schemas.microsoft.com/office/drawing/2014/main" id="{E643651C-E450-E5D4-48A4-1CC0FC924CD1}"/>
              </a:ext>
            </a:extLst>
          </p:cNvPr>
          <p:cNvSpPr txBox="1"/>
          <p:nvPr/>
        </p:nvSpPr>
        <p:spPr>
          <a:xfrm>
            <a:off x="503238" y="912813"/>
            <a:ext cx="3735895" cy="246221"/>
          </a:xfrm>
          <a:prstGeom prst="rect">
            <a:avLst/>
          </a:prstGeom>
          <a:noFill/>
        </p:spPr>
        <p:txBody>
          <a:bodyPr wrap="none" lIns="0" tIns="0" rIns="0" bIns="0" rtlCol="0">
            <a:spAutoFit/>
          </a:bodyPr>
          <a:lstStyle/>
          <a:p>
            <a:r>
              <a:rPr lang="es-419" sz="1600" b="1" dirty="0">
                <a:latin typeface="Calibri" panose="020F0502020204030204" pitchFamily="34" charset="0"/>
                <a:cs typeface="Calibri" panose="020F0502020204030204" pitchFamily="34" charset="0"/>
              </a:rPr>
              <a:t>DIMENSIÓN TIEMPO – TIPOS DE ATRIBUTOS</a:t>
            </a:r>
            <a:endParaRPr lang="es-ES" sz="1600" b="1" dirty="0">
              <a:latin typeface="Calibri" panose="020F0502020204030204" pitchFamily="34" charset="0"/>
              <a:cs typeface="Calibri" panose="020F0502020204030204" pitchFamily="34" charset="0"/>
            </a:endParaRPr>
          </a:p>
        </p:txBody>
      </p:sp>
      <p:pic>
        <p:nvPicPr>
          <p:cNvPr id="4" name="Imagen 3">
            <a:extLst>
              <a:ext uri="{FF2B5EF4-FFF2-40B4-BE49-F238E27FC236}">
                <a16:creationId xmlns:a16="http://schemas.microsoft.com/office/drawing/2014/main" id="{42D7ECC4-BB3E-84BE-14AE-CF3C9E7284E8}"/>
              </a:ext>
            </a:extLst>
          </p:cNvPr>
          <p:cNvPicPr>
            <a:picLocks noChangeAspect="1"/>
          </p:cNvPicPr>
          <p:nvPr/>
        </p:nvPicPr>
        <p:blipFill>
          <a:blip r:embed="rId4"/>
          <a:stretch>
            <a:fillRect/>
          </a:stretch>
        </p:blipFill>
        <p:spPr>
          <a:xfrm>
            <a:off x="1264110" y="1556512"/>
            <a:ext cx="2091832" cy="3073972"/>
          </a:xfrm>
          <a:prstGeom prst="rect">
            <a:avLst/>
          </a:prstGeom>
        </p:spPr>
      </p:pic>
      <p:sp>
        <p:nvSpPr>
          <p:cNvPr id="2" name="Rectangle 5">
            <a:extLst>
              <a:ext uri="{FF2B5EF4-FFF2-40B4-BE49-F238E27FC236}">
                <a16:creationId xmlns:a16="http://schemas.microsoft.com/office/drawing/2014/main" id="{41401865-F149-84B2-394A-D701216D973C}"/>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PERSONALIZACIÓN DEL CUBO Y SUS DIMENSIONES</a:t>
            </a:r>
            <a:r>
              <a:rPr lang="es-PE" sz="1000" dirty="0">
                <a:solidFill>
                  <a:schemeClr val="bg1">
                    <a:lumMod val="65000"/>
                  </a:schemeClr>
                </a:solidFill>
                <a:latin typeface="Calibri" charset="0"/>
                <a:cs typeface="Calibri" charset="0"/>
              </a:rPr>
              <a:t> </a:t>
            </a:r>
          </a:p>
        </p:txBody>
      </p:sp>
    </p:spTree>
    <p:custDataLst>
      <p:tags r:id="rId1"/>
    </p:custDataLst>
    <p:extLst>
      <p:ext uri="{BB962C8B-B14F-4D97-AF65-F5344CB8AC3E}">
        <p14:creationId xmlns:p14="http://schemas.microsoft.com/office/powerpoint/2010/main" val="1081129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4076925" y="1597025"/>
            <a:ext cx="4573588" cy="3514227"/>
          </a:xfrm>
          <a:prstGeom prst="rect">
            <a:avLst/>
          </a:prstGeom>
          <a:noFill/>
        </p:spPr>
        <p:txBody>
          <a:bodyPr wrap="square" lIns="0" tIns="0" rIns="0" bIns="0" rtlCol="0">
            <a:spAutoFit/>
          </a:bodyPr>
          <a:lstStyle/>
          <a:p>
            <a:pPr marL="177800" indent="-177800">
              <a:buFont typeface="Arial" panose="020B0604020202020204" pitchFamily="34" charset="0"/>
              <a:buChar char="•"/>
            </a:pPr>
            <a:r>
              <a:rPr lang="es-PE" sz="1600" dirty="0"/>
              <a:t>En la jerarquía el nivel </a:t>
            </a:r>
            <a:r>
              <a:rPr lang="es-PE" sz="1600" b="1" dirty="0" err="1"/>
              <a:t>NomMes</a:t>
            </a:r>
            <a:r>
              <a:rPr lang="es-PE" sz="1600" dirty="0"/>
              <a:t>, de modo predeterminado se muestra ordenado alfabéticamente por su codificación UNICODE.</a:t>
            </a:r>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r>
              <a:rPr lang="es-PE" sz="1600" dirty="0"/>
              <a:t>La dimensión tiene el atributo </a:t>
            </a:r>
            <a:r>
              <a:rPr lang="es-PE" sz="1600" b="1" dirty="0"/>
              <a:t>Mes</a:t>
            </a:r>
            <a:r>
              <a:rPr lang="es-PE" sz="1600" dirty="0"/>
              <a:t> que contiene el número del mes dentro del año. Configuramos la dimensión para que </a:t>
            </a:r>
            <a:r>
              <a:rPr lang="es-PE" sz="1600" b="1" dirty="0" err="1"/>
              <a:t>NomMes</a:t>
            </a:r>
            <a:r>
              <a:rPr lang="es-PE" sz="1600" dirty="0"/>
              <a:t> se muestre ordenado en base al valor del atributo </a:t>
            </a:r>
            <a:r>
              <a:rPr lang="es-PE" sz="1600" b="1" dirty="0"/>
              <a:t>Mes</a:t>
            </a:r>
            <a:r>
              <a:rPr lang="es-PE" sz="1600" dirty="0"/>
              <a:t>.</a:t>
            </a:r>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r>
              <a:rPr lang="es-PE" sz="1600" dirty="0"/>
              <a:t>Atributo </a:t>
            </a:r>
            <a:r>
              <a:rPr lang="es-PE" sz="1400" b="1" dirty="0" err="1">
                <a:latin typeface="Consolas" panose="020B0609020204030204" pitchFamily="49" charset="0"/>
              </a:rPr>
              <a:t>NomMes</a:t>
            </a:r>
            <a:endParaRPr lang="es-PE" sz="1400" b="1" dirty="0">
              <a:latin typeface="Consolas" panose="020B0609020204030204" pitchFamily="49" charset="0"/>
            </a:endParaRPr>
          </a:p>
          <a:p>
            <a:pPr marL="177800" indent="-177800">
              <a:buFont typeface="Arial" panose="020B0604020202020204" pitchFamily="34" charset="0"/>
              <a:buChar char="•"/>
            </a:pPr>
            <a:r>
              <a:rPr lang="es-PE" sz="1600" dirty="0"/>
              <a:t>Relaciones de atributo: </a:t>
            </a:r>
            <a:r>
              <a:rPr lang="es-PE" sz="1400" b="1" dirty="0" err="1">
                <a:latin typeface="Consolas" panose="020B0609020204030204" pitchFamily="49" charset="0"/>
              </a:rPr>
              <a:t>NomMes</a:t>
            </a:r>
            <a:r>
              <a:rPr lang="es-PE" sz="1600" dirty="0"/>
              <a:t> apunta a </a:t>
            </a:r>
            <a:r>
              <a:rPr lang="es-PE" sz="1400" b="1" dirty="0">
                <a:latin typeface="Consolas" panose="020B0609020204030204" pitchFamily="49" charset="0"/>
              </a:rPr>
              <a:t>Mes</a:t>
            </a:r>
          </a:p>
          <a:p>
            <a:pPr marL="177800" indent="-177800">
              <a:buFont typeface="Arial" panose="020B0604020202020204" pitchFamily="34" charset="0"/>
              <a:buChar char="•"/>
            </a:pPr>
            <a:r>
              <a:rPr lang="es-PE" sz="1600" dirty="0"/>
              <a:t>Propiedad </a:t>
            </a:r>
            <a:r>
              <a:rPr lang="es-PE" sz="1400" b="1" dirty="0" err="1">
                <a:latin typeface="Consolas" panose="020B0609020204030204" pitchFamily="49" charset="0"/>
              </a:rPr>
              <a:t>OrderBy</a:t>
            </a:r>
            <a:r>
              <a:rPr lang="es-PE" sz="1600" dirty="0"/>
              <a:t>: </a:t>
            </a:r>
            <a:r>
              <a:rPr lang="es-PE" sz="1400" b="1" dirty="0" err="1">
                <a:latin typeface="Consolas" panose="020B0609020204030204" pitchFamily="49" charset="0"/>
              </a:rPr>
              <a:t>AttributeKey</a:t>
            </a:r>
            <a:endParaRPr lang="es-PE" sz="1400" b="1" dirty="0">
              <a:latin typeface="Consolas" panose="020B0609020204030204" pitchFamily="49" charset="0"/>
            </a:endParaRPr>
          </a:p>
          <a:p>
            <a:pPr marL="177800" indent="-177800">
              <a:buFont typeface="Arial" panose="020B0604020202020204" pitchFamily="34" charset="0"/>
              <a:buChar char="•"/>
            </a:pPr>
            <a:r>
              <a:rPr lang="es-PE" sz="1600" dirty="0"/>
              <a:t>Propiedad </a:t>
            </a:r>
            <a:r>
              <a:rPr lang="es-PE" sz="1400" b="1" dirty="0" err="1">
                <a:latin typeface="Consolas" panose="020B0609020204030204" pitchFamily="49" charset="0"/>
              </a:rPr>
              <a:t>OrderByAttribute</a:t>
            </a:r>
            <a:r>
              <a:rPr lang="es-PE" sz="1600" dirty="0"/>
              <a:t>: </a:t>
            </a:r>
            <a:r>
              <a:rPr lang="es-PE" sz="1400" b="1" dirty="0">
                <a:latin typeface="Consolas" panose="020B0609020204030204" pitchFamily="49" charset="0"/>
              </a:rPr>
              <a:t>Mes</a:t>
            </a:r>
          </a:p>
          <a:p>
            <a:endParaRPr lang="es-PE" dirty="0"/>
          </a:p>
        </p:txBody>
      </p:sp>
      <p:sp>
        <p:nvSpPr>
          <p:cNvPr id="9" name="CuadroTexto 8">
            <a:extLst>
              <a:ext uri="{FF2B5EF4-FFF2-40B4-BE49-F238E27FC236}">
                <a16:creationId xmlns:a16="http://schemas.microsoft.com/office/drawing/2014/main" id="{E643651C-E450-E5D4-48A4-1CC0FC924CD1}"/>
              </a:ext>
            </a:extLst>
          </p:cNvPr>
          <p:cNvSpPr txBox="1"/>
          <p:nvPr/>
        </p:nvSpPr>
        <p:spPr>
          <a:xfrm>
            <a:off x="503238" y="911263"/>
            <a:ext cx="2925096" cy="246221"/>
          </a:xfrm>
          <a:prstGeom prst="rect">
            <a:avLst/>
          </a:prstGeom>
          <a:noFill/>
        </p:spPr>
        <p:txBody>
          <a:bodyPr wrap="none" lIns="0" tIns="0" rIns="0" bIns="0" rtlCol="0">
            <a:spAutoFit/>
          </a:bodyPr>
          <a:lstStyle/>
          <a:p>
            <a:r>
              <a:rPr lang="es-419" sz="1600" b="1" dirty="0"/>
              <a:t>DIMENSIÓN TIEMPO – JERARQUÍA</a:t>
            </a:r>
            <a:endParaRPr lang="es-ES" sz="1600" b="1" dirty="0"/>
          </a:p>
        </p:txBody>
      </p:sp>
      <p:pic>
        <p:nvPicPr>
          <p:cNvPr id="3" name="Imagen 2">
            <a:extLst>
              <a:ext uri="{FF2B5EF4-FFF2-40B4-BE49-F238E27FC236}">
                <a16:creationId xmlns:a16="http://schemas.microsoft.com/office/drawing/2014/main" id="{B86BD87C-C26C-8CB4-2AE0-B7A82111DEC0}"/>
              </a:ext>
            </a:extLst>
          </p:cNvPr>
          <p:cNvPicPr>
            <a:picLocks noChangeAspect="1"/>
          </p:cNvPicPr>
          <p:nvPr/>
        </p:nvPicPr>
        <p:blipFill>
          <a:blip r:embed="rId4"/>
          <a:stretch>
            <a:fillRect/>
          </a:stretch>
        </p:blipFill>
        <p:spPr>
          <a:xfrm>
            <a:off x="1291144" y="1403727"/>
            <a:ext cx="1703340" cy="3830261"/>
          </a:xfrm>
          <a:prstGeom prst="rect">
            <a:avLst/>
          </a:prstGeom>
        </p:spPr>
      </p:pic>
      <p:sp>
        <p:nvSpPr>
          <p:cNvPr id="2" name="Rectangle 5">
            <a:extLst>
              <a:ext uri="{FF2B5EF4-FFF2-40B4-BE49-F238E27FC236}">
                <a16:creationId xmlns:a16="http://schemas.microsoft.com/office/drawing/2014/main" id="{38A18019-86A2-4AF8-8190-0222A7747328}"/>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PERSONALIZACIÓN DEL CUBO Y SUS DIMENSIONES</a:t>
            </a:r>
            <a:r>
              <a:rPr lang="es-PE" sz="1000" dirty="0">
                <a:solidFill>
                  <a:schemeClr val="bg1">
                    <a:lumMod val="65000"/>
                  </a:schemeClr>
                </a:solidFill>
                <a:latin typeface="Calibri" charset="0"/>
                <a:cs typeface="Calibri" charset="0"/>
              </a:rPr>
              <a:t> </a:t>
            </a:r>
          </a:p>
        </p:txBody>
      </p:sp>
    </p:spTree>
    <p:custDataLst>
      <p:tags r:id="rId1"/>
    </p:custDataLst>
    <p:extLst>
      <p:ext uri="{BB962C8B-B14F-4D97-AF65-F5344CB8AC3E}">
        <p14:creationId xmlns:p14="http://schemas.microsoft.com/office/powerpoint/2010/main" val="590825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1807674"/>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panose="020B0503030202060203" pitchFamily="34" charset="77"/>
              </a:rPr>
              <a:t>OPCIONES DE </a:t>
            </a:r>
            <a:r>
              <a:rPr lang="es-PE" sz="2800" b="1" dirty="0">
                <a:solidFill>
                  <a:schemeClr val="bg1"/>
                </a:solidFill>
                <a:latin typeface="Graphik Bold" panose="020B0503030202060203" pitchFamily="34" charset="77"/>
              </a:rPr>
              <a:t>PROCESAMIENTO DEL CUBO</a:t>
            </a:r>
          </a:p>
          <a:p>
            <a:pPr>
              <a:lnSpc>
                <a:spcPct val="90000"/>
              </a:lnSpc>
              <a:spcBef>
                <a:spcPts val="1000"/>
              </a:spcBef>
              <a:defRPr/>
            </a:pPr>
            <a:endParaRPr lang="es-PE" sz="2800" b="1" dirty="0">
              <a:solidFill>
                <a:schemeClr val="bg1"/>
              </a:solidFill>
              <a:latin typeface="Graphik Bold" panose="020B0503030202060203" pitchFamily="34" charset="77"/>
            </a:endParaRPr>
          </a:p>
          <a:p>
            <a:pPr>
              <a:lnSpc>
                <a:spcPct val="90000"/>
              </a:lnSpc>
              <a:spcBef>
                <a:spcPts val="1000"/>
              </a:spcBef>
              <a:defRPr/>
            </a:pP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3036514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n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111" y="2509644"/>
            <a:ext cx="831032" cy="831032"/>
          </a:xfrm>
          <a:prstGeom prst="rect">
            <a:avLst/>
          </a:prstGeom>
        </p:spPr>
      </p:pic>
      <p:grpSp>
        <p:nvGrpSpPr>
          <p:cNvPr id="30" name="Group 110"/>
          <p:cNvGrpSpPr>
            <a:grpSpLocks/>
          </p:cNvGrpSpPr>
          <p:nvPr/>
        </p:nvGrpSpPr>
        <p:grpSpPr bwMode="auto">
          <a:xfrm flipH="1">
            <a:off x="1684127" y="2534253"/>
            <a:ext cx="903684" cy="775726"/>
            <a:chOff x="2449" y="2352"/>
            <a:chExt cx="230" cy="240"/>
          </a:xfrm>
          <a:solidFill>
            <a:srgbClr val="FE7828"/>
          </a:solidFill>
        </p:grpSpPr>
        <p:sp>
          <p:nvSpPr>
            <p:cNvPr id="31"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32"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3"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4"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5"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6"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7"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8"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9"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0"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1"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2"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3"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4"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5"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6"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7"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8"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9"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0"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1"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2" name="Flecha derecha 1"/>
          <p:cNvSpPr/>
          <p:nvPr/>
        </p:nvSpPr>
        <p:spPr>
          <a:xfrm>
            <a:off x="1387252" y="2878918"/>
            <a:ext cx="242070" cy="196314"/>
          </a:xfrm>
          <a:prstGeom prst="rightArrow">
            <a:avLst/>
          </a:prstGeom>
          <a:solidFill>
            <a:srgbClr val="00B1C2"/>
          </a:solidFill>
          <a:ln>
            <a:solidFill>
              <a:srgbClr val="00B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pic>
        <p:nvPicPr>
          <p:cNvPr id="54" name="Imagen 5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8796" y="2538922"/>
            <a:ext cx="831032" cy="831032"/>
          </a:xfrm>
          <a:prstGeom prst="rect">
            <a:avLst/>
          </a:prstGeom>
        </p:spPr>
      </p:pic>
      <p:grpSp>
        <p:nvGrpSpPr>
          <p:cNvPr id="55" name="Group 110"/>
          <p:cNvGrpSpPr>
            <a:grpSpLocks/>
          </p:cNvGrpSpPr>
          <p:nvPr/>
        </p:nvGrpSpPr>
        <p:grpSpPr bwMode="auto">
          <a:xfrm flipH="1">
            <a:off x="4634812" y="2563531"/>
            <a:ext cx="903684" cy="775726"/>
            <a:chOff x="2449" y="2352"/>
            <a:chExt cx="230" cy="240"/>
          </a:xfrm>
          <a:solidFill>
            <a:srgbClr val="FDC212"/>
          </a:solidFill>
        </p:grpSpPr>
        <p:sp>
          <p:nvSpPr>
            <p:cNvPr id="56"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57"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8"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9"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0"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1"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2"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3"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4"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5"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6"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7"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8"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9"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0"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1"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2"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3"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4"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5"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6"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77" name="Flecha derecha 76"/>
          <p:cNvSpPr/>
          <p:nvPr/>
        </p:nvSpPr>
        <p:spPr>
          <a:xfrm>
            <a:off x="4337937" y="2908196"/>
            <a:ext cx="242070" cy="196314"/>
          </a:xfrm>
          <a:prstGeom prst="rightArrow">
            <a:avLst/>
          </a:prstGeom>
          <a:solidFill>
            <a:srgbClr val="00B1C2"/>
          </a:solidFill>
          <a:ln>
            <a:solidFill>
              <a:srgbClr val="00B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pic>
        <p:nvPicPr>
          <p:cNvPr id="79" name="Imagen 7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1933" y="2505757"/>
            <a:ext cx="831032" cy="831032"/>
          </a:xfrm>
          <a:prstGeom prst="rect">
            <a:avLst/>
          </a:prstGeom>
        </p:spPr>
      </p:pic>
      <p:grpSp>
        <p:nvGrpSpPr>
          <p:cNvPr id="80" name="Group 110"/>
          <p:cNvGrpSpPr>
            <a:grpSpLocks/>
          </p:cNvGrpSpPr>
          <p:nvPr/>
        </p:nvGrpSpPr>
        <p:grpSpPr bwMode="auto">
          <a:xfrm flipH="1">
            <a:off x="7567949" y="2530366"/>
            <a:ext cx="903684" cy="775726"/>
            <a:chOff x="2449" y="2352"/>
            <a:chExt cx="230" cy="240"/>
          </a:xfrm>
          <a:solidFill>
            <a:srgbClr val="FE7828"/>
          </a:solidFill>
        </p:grpSpPr>
        <p:sp>
          <p:nvSpPr>
            <p:cNvPr id="81"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82"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3"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4"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5"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6"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7"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8"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9"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0"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1"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2"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3"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4"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5"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6"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7"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8"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9"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0"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1"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102" name="Flecha derecha 101"/>
          <p:cNvSpPr/>
          <p:nvPr/>
        </p:nvSpPr>
        <p:spPr>
          <a:xfrm>
            <a:off x="7271074" y="2875031"/>
            <a:ext cx="242070" cy="196314"/>
          </a:xfrm>
          <a:prstGeom prst="rightArrow">
            <a:avLst/>
          </a:prstGeom>
          <a:solidFill>
            <a:srgbClr val="00B1C2"/>
          </a:solidFill>
          <a:ln>
            <a:solidFill>
              <a:srgbClr val="00B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3" name="Trapecio 2"/>
          <p:cNvSpPr/>
          <p:nvPr/>
        </p:nvSpPr>
        <p:spPr>
          <a:xfrm rot="2193950">
            <a:off x="4653345" y="3011600"/>
            <a:ext cx="431048" cy="813100"/>
          </a:xfrm>
          <a:prstGeom prst="trapezoid">
            <a:avLst/>
          </a:prstGeom>
          <a:solidFill>
            <a:schemeClr val="accent1">
              <a:alpha val="23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7937" y="3497633"/>
            <a:ext cx="523019" cy="523019"/>
          </a:xfrm>
          <a:prstGeom prst="rect">
            <a:avLst/>
          </a:prstGeom>
        </p:spPr>
      </p:pic>
      <p:sp>
        <p:nvSpPr>
          <p:cNvPr id="103" name="Trapecio 102"/>
          <p:cNvSpPr/>
          <p:nvPr/>
        </p:nvSpPr>
        <p:spPr>
          <a:xfrm rot="2193950">
            <a:off x="7615310" y="3019660"/>
            <a:ext cx="431048" cy="813100"/>
          </a:xfrm>
          <a:prstGeom prst="trapezoid">
            <a:avLst/>
          </a:prstGeom>
          <a:solidFill>
            <a:schemeClr val="accent1">
              <a:alpha val="23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grpSp>
        <p:nvGrpSpPr>
          <p:cNvPr id="6" name="Group 110"/>
          <p:cNvGrpSpPr>
            <a:grpSpLocks/>
          </p:cNvGrpSpPr>
          <p:nvPr/>
        </p:nvGrpSpPr>
        <p:grpSpPr bwMode="auto">
          <a:xfrm flipH="1">
            <a:off x="7328248" y="3587292"/>
            <a:ext cx="447592" cy="512123"/>
            <a:chOff x="2449" y="2352"/>
            <a:chExt cx="230" cy="240"/>
          </a:xfrm>
          <a:solidFill>
            <a:srgbClr val="FE7828"/>
          </a:solidFill>
        </p:grpSpPr>
        <p:sp>
          <p:nvSpPr>
            <p:cNvPr id="8"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9"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7"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8"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9"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20"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21"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22"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23"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24"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25"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26"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27"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28"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104" name="CuadroTexto 103"/>
          <p:cNvSpPr txBox="1"/>
          <p:nvPr/>
        </p:nvSpPr>
        <p:spPr>
          <a:xfrm>
            <a:off x="1583060" y="3325682"/>
            <a:ext cx="880626" cy="523220"/>
          </a:xfrm>
          <a:prstGeom prst="rect">
            <a:avLst/>
          </a:prstGeom>
          <a:noFill/>
        </p:spPr>
        <p:txBody>
          <a:bodyPr wrap="none" rtlCol="0">
            <a:spAutoFit/>
          </a:bodyPr>
          <a:lstStyle/>
          <a:p>
            <a:pPr algn="ctr"/>
            <a:r>
              <a:rPr lang="es-PE" sz="1400" b="1" dirty="0"/>
              <a:t>Data</a:t>
            </a:r>
            <a:br>
              <a:rPr lang="es-PE" sz="1400" b="1" dirty="0"/>
            </a:br>
            <a:r>
              <a:rPr lang="es-PE" sz="1400" b="1" dirty="0"/>
              <a:t>detallada</a:t>
            </a:r>
          </a:p>
        </p:txBody>
      </p:sp>
      <p:sp>
        <p:nvSpPr>
          <p:cNvPr id="105" name="CuadroTexto 104"/>
          <p:cNvSpPr txBox="1"/>
          <p:nvPr/>
        </p:nvSpPr>
        <p:spPr>
          <a:xfrm>
            <a:off x="1442351" y="3860424"/>
            <a:ext cx="1175066" cy="307777"/>
          </a:xfrm>
          <a:prstGeom prst="rect">
            <a:avLst/>
          </a:prstGeom>
          <a:noFill/>
        </p:spPr>
        <p:txBody>
          <a:bodyPr wrap="none" rtlCol="0">
            <a:spAutoFit/>
          </a:bodyPr>
          <a:lstStyle/>
          <a:p>
            <a:pPr algn="ctr"/>
            <a:r>
              <a:rPr lang="es-PE" sz="1400" b="1" dirty="0"/>
              <a:t>Agregaciones</a:t>
            </a:r>
          </a:p>
        </p:txBody>
      </p:sp>
      <p:sp>
        <p:nvSpPr>
          <p:cNvPr id="106" name="CuadroTexto 105"/>
          <p:cNvSpPr txBox="1"/>
          <p:nvPr/>
        </p:nvSpPr>
        <p:spPr>
          <a:xfrm>
            <a:off x="3497939" y="3334910"/>
            <a:ext cx="880626" cy="523220"/>
          </a:xfrm>
          <a:prstGeom prst="rect">
            <a:avLst/>
          </a:prstGeom>
          <a:noFill/>
        </p:spPr>
        <p:txBody>
          <a:bodyPr wrap="none" rtlCol="0">
            <a:spAutoFit/>
          </a:bodyPr>
          <a:lstStyle/>
          <a:p>
            <a:pPr algn="ctr"/>
            <a:r>
              <a:rPr lang="es-PE" sz="1400" b="1" dirty="0"/>
              <a:t>Data</a:t>
            </a:r>
            <a:br>
              <a:rPr lang="es-PE" sz="1400" b="1" dirty="0"/>
            </a:br>
            <a:r>
              <a:rPr lang="es-PE" sz="1400" b="1" dirty="0"/>
              <a:t>detallada</a:t>
            </a:r>
          </a:p>
        </p:txBody>
      </p:sp>
      <p:sp>
        <p:nvSpPr>
          <p:cNvPr id="107" name="CuadroTexto 106"/>
          <p:cNvSpPr txBox="1"/>
          <p:nvPr/>
        </p:nvSpPr>
        <p:spPr>
          <a:xfrm>
            <a:off x="4011913" y="4000757"/>
            <a:ext cx="1175066" cy="307777"/>
          </a:xfrm>
          <a:prstGeom prst="rect">
            <a:avLst/>
          </a:prstGeom>
          <a:noFill/>
        </p:spPr>
        <p:txBody>
          <a:bodyPr wrap="none" rtlCol="0">
            <a:spAutoFit/>
          </a:bodyPr>
          <a:lstStyle/>
          <a:p>
            <a:pPr algn="ctr"/>
            <a:r>
              <a:rPr lang="es-PE" sz="1400" b="1" dirty="0"/>
              <a:t>Agregaciones</a:t>
            </a:r>
          </a:p>
        </p:txBody>
      </p:sp>
      <p:sp>
        <p:nvSpPr>
          <p:cNvPr id="108" name="CuadroTexto 107"/>
          <p:cNvSpPr txBox="1"/>
          <p:nvPr/>
        </p:nvSpPr>
        <p:spPr>
          <a:xfrm>
            <a:off x="6425097" y="3343968"/>
            <a:ext cx="880626" cy="523220"/>
          </a:xfrm>
          <a:prstGeom prst="rect">
            <a:avLst/>
          </a:prstGeom>
          <a:noFill/>
        </p:spPr>
        <p:txBody>
          <a:bodyPr wrap="none" rtlCol="0">
            <a:spAutoFit/>
          </a:bodyPr>
          <a:lstStyle/>
          <a:p>
            <a:pPr algn="ctr"/>
            <a:r>
              <a:rPr lang="es-PE" sz="1400" b="1" dirty="0"/>
              <a:t>Data</a:t>
            </a:r>
            <a:br>
              <a:rPr lang="es-PE" sz="1400" b="1" dirty="0"/>
            </a:br>
            <a:r>
              <a:rPr lang="es-PE" sz="1400" b="1" dirty="0"/>
              <a:t>detallada</a:t>
            </a:r>
          </a:p>
        </p:txBody>
      </p:sp>
      <p:sp>
        <p:nvSpPr>
          <p:cNvPr id="109" name="CuadroTexto 108"/>
          <p:cNvSpPr txBox="1"/>
          <p:nvPr/>
        </p:nvSpPr>
        <p:spPr>
          <a:xfrm>
            <a:off x="6944077" y="4110086"/>
            <a:ext cx="1175066" cy="307777"/>
          </a:xfrm>
          <a:prstGeom prst="rect">
            <a:avLst/>
          </a:prstGeom>
          <a:noFill/>
        </p:spPr>
        <p:txBody>
          <a:bodyPr wrap="none" rtlCol="0">
            <a:spAutoFit/>
          </a:bodyPr>
          <a:lstStyle/>
          <a:p>
            <a:pPr algn="ctr"/>
            <a:r>
              <a:rPr lang="es-PE" sz="1400" b="1" dirty="0"/>
              <a:t>Agregaciones</a:t>
            </a:r>
          </a:p>
        </p:txBody>
      </p:sp>
      <p:cxnSp>
        <p:nvCxnSpPr>
          <p:cNvPr id="111" name="Conector recto 110"/>
          <p:cNvCxnSpPr>
            <a:cxnSpLocks/>
          </p:cNvCxnSpPr>
          <p:nvPr/>
        </p:nvCxnSpPr>
        <p:spPr>
          <a:xfrm>
            <a:off x="3128790" y="1495060"/>
            <a:ext cx="33050" cy="3216925"/>
          </a:xfrm>
          <a:prstGeom prst="line">
            <a:avLst/>
          </a:prstGeom>
          <a:ln>
            <a:solidFill>
              <a:srgbClr val="00B1C2"/>
            </a:solidFill>
          </a:ln>
          <a:effectLst/>
        </p:spPr>
        <p:style>
          <a:lnRef idx="2">
            <a:schemeClr val="accent1"/>
          </a:lnRef>
          <a:fillRef idx="0">
            <a:schemeClr val="accent1"/>
          </a:fillRef>
          <a:effectRef idx="1">
            <a:schemeClr val="accent1"/>
          </a:effectRef>
          <a:fontRef idx="minor">
            <a:schemeClr val="tx1"/>
          </a:fontRef>
        </p:style>
      </p:cxnSp>
      <p:cxnSp>
        <p:nvCxnSpPr>
          <p:cNvPr id="112" name="Conector recto 111"/>
          <p:cNvCxnSpPr/>
          <p:nvPr/>
        </p:nvCxnSpPr>
        <p:spPr>
          <a:xfrm>
            <a:off x="6035452" y="1481072"/>
            <a:ext cx="33050" cy="3216925"/>
          </a:xfrm>
          <a:prstGeom prst="line">
            <a:avLst/>
          </a:prstGeom>
          <a:ln>
            <a:solidFill>
              <a:srgbClr val="00B1C2"/>
            </a:solidFill>
          </a:ln>
          <a:effectLst/>
        </p:spPr>
        <p:style>
          <a:lnRef idx="2">
            <a:schemeClr val="accent1"/>
          </a:lnRef>
          <a:fillRef idx="0">
            <a:schemeClr val="accent1"/>
          </a:fillRef>
          <a:effectRef idx="1">
            <a:schemeClr val="accent1"/>
          </a:effectRef>
          <a:fontRef idx="minor">
            <a:schemeClr val="tx1"/>
          </a:fontRef>
        </p:style>
      </p:cxnSp>
      <p:sp>
        <p:nvSpPr>
          <p:cNvPr id="113" name="CuadroTexto 112"/>
          <p:cNvSpPr txBox="1"/>
          <p:nvPr/>
        </p:nvSpPr>
        <p:spPr>
          <a:xfrm>
            <a:off x="547721" y="1678976"/>
            <a:ext cx="2398542" cy="276999"/>
          </a:xfrm>
          <a:prstGeom prst="rect">
            <a:avLst/>
          </a:prstGeom>
          <a:noFill/>
        </p:spPr>
        <p:txBody>
          <a:bodyPr wrap="none" lIns="0" tIns="0" rIns="0" bIns="0" rtlCol="0">
            <a:spAutoFit/>
          </a:bodyPr>
          <a:lstStyle/>
          <a:p>
            <a:r>
              <a:rPr lang="es-PE" b="1" dirty="0"/>
              <a:t>Almacenamiento MOLAP</a:t>
            </a:r>
          </a:p>
        </p:txBody>
      </p:sp>
      <p:sp>
        <p:nvSpPr>
          <p:cNvPr id="114" name="CuadroTexto 113"/>
          <p:cNvSpPr txBox="1"/>
          <p:nvPr/>
        </p:nvSpPr>
        <p:spPr>
          <a:xfrm>
            <a:off x="3354695" y="1667726"/>
            <a:ext cx="2324162" cy="276999"/>
          </a:xfrm>
          <a:prstGeom prst="rect">
            <a:avLst/>
          </a:prstGeom>
          <a:noFill/>
        </p:spPr>
        <p:txBody>
          <a:bodyPr wrap="none" lIns="0" tIns="0" rIns="0" bIns="0" rtlCol="0">
            <a:spAutoFit/>
          </a:bodyPr>
          <a:lstStyle/>
          <a:p>
            <a:r>
              <a:rPr lang="es-PE" b="1" dirty="0"/>
              <a:t>Almacenamiento ROLAP</a:t>
            </a:r>
          </a:p>
        </p:txBody>
      </p:sp>
      <p:sp>
        <p:nvSpPr>
          <p:cNvPr id="115" name="CuadroTexto 114"/>
          <p:cNvSpPr txBox="1"/>
          <p:nvPr/>
        </p:nvSpPr>
        <p:spPr>
          <a:xfrm>
            <a:off x="6156326" y="1670347"/>
            <a:ext cx="2342436" cy="276999"/>
          </a:xfrm>
          <a:prstGeom prst="rect">
            <a:avLst/>
          </a:prstGeom>
          <a:noFill/>
        </p:spPr>
        <p:txBody>
          <a:bodyPr wrap="none" lIns="0" tIns="0" rIns="0" bIns="0" rtlCol="0">
            <a:spAutoFit/>
          </a:bodyPr>
          <a:lstStyle/>
          <a:p>
            <a:r>
              <a:rPr lang="es-PE" b="1" dirty="0"/>
              <a:t>Almacenamiento HOLAP</a:t>
            </a:r>
          </a:p>
        </p:txBody>
      </p:sp>
      <p:sp>
        <p:nvSpPr>
          <p:cNvPr id="7" name="CuadroTexto 6">
            <a:extLst>
              <a:ext uri="{FF2B5EF4-FFF2-40B4-BE49-F238E27FC236}">
                <a16:creationId xmlns:a16="http://schemas.microsoft.com/office/drawing/2014/main" id="{AB47C55E-BCD4-B381-4168-E7CA669113F3}"/>
              </a:ext>
            </a:extLst>
          </p:cNvPr>
          <p:cNvSpPr txBox="1"/>
          <p:nvPr/>
        </p:nvSpPr>
        <p:spPr>
          <a:xfrm>
            <a:off x="503238" y="916623"/>
            <a:ext cx="2592120" cy="246221"/>
          </a:xfrm>
          <a:prstGeom prst="rect">
            <a:avLst/>
          </a:prstGeom>
          <a:noFill/>
        </p:spPr>
        <p:txBody>
          <a:bodyPr wrap="none" lIns="0" tIns="0" rIns="0" bIns="0" rtlCol="0">
            <a:spAutoFit/>
          </a:bodyPr>
          <a:lstStyle/>
          <a:p>
            <a:r>
              <a:rPr lang="es-419" sz="1600" b="1"/>
              <a:t>ALMACENAMIENTO DEL CUBO</a:t>
            </a:r>
            <a:endParaRPr lang="es-ES" sz="1600" b="1"/>
          </a:p>
        </p:txBody>
      </p:sp>
      <p:sp>
        <p:nvSpPr>
          <p:cNvPr id="52" name="Rectangle 5">
            <a:extLst>
              <a:ext uri="{FF2B5EF4-FFF2-40B4-BE49-F238E27FC236}">
                <a16:creationId xmlns:a16="http://schemas.microsoft.com/office/drawing/2014/main" id="{A75F41DE-EF8D-0937-7680-28839809579C}"/>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592175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n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0336" y="2358642"/>
            <a:ext cx="831032" cy="831032"/>
          </a:xfrm>
          <a:prstGeom prst="rect">
            <a:avLst/>
          </a:prstGeom>
        </p:spPr>
      </p:pic>
      <p:grpSp>
        <p:nvGrpSpPr>
          <p:cNvPr id="30" name="Group 110"/>
          <p:cNvGrpSpPr>
            <a:grpSpLocks/>
          </p:cNvGrpSpPr>
          <p:nvPr/>
        </p:nvGrpSpPr>
        <p:grpSpPr bwMode="auto">
          <a:xfrm flipH="1">
            <a:off x="1966352" y="2383251"/>
            <a:ext cx="903684" cy="775726"/>
            <a:chOff x="2449" y="2352"/>
            <a:chExt cx="230" cy="240"/>
          </a:xfrm>
          <a:solidFill>
            <a:srgbClr val="FE7828"/>
          </a:solidFill>
        </p:grpSpPr>
        <p:sp>
          <p:nvSpPr>
            <p:cNvPr id="31"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32"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3"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4"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5"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6"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7"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8"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9"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0"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1"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2"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3"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4"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5"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6"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7"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8"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9"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0"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1"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2" name="Flecha derecha 1"/>
          <p:cNvSpPr/>
          <p:nvPr/>
        </p:nvSpPr>
        <p:spPr>
          <a:xfrm>
            <a:off x="1669477" y="2727916"/>
            <a:ext cx="242070" cy="196314"/>
          </a:xfrm>
          <a:prstGeom prst="rightArrow">
            <a:avLst/>
          </a:prstGeom>
          <a:solidFill>
            <a:srgbClr val="00B1C2"/>
          </a:solidFill>
          <a:ln>
            <a:solidFill>
              <a:srgbClr val="00B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104" name="CuadroTexto 103"/>
          <p:cNvSpPr txBox="1"/>
          <p:nvPr/>
        </p:nvSpPr>
        <p:spPr>
          <a:xfrm>
            <a:off x="1865285" y="3174680"/>
            <a:ext cx="880626" cy="523220"/>
          </a:xfrm>
          <a:prstGeom prst="rect">
            <a:avLst/>
          </a:prstGeom>
          <a:noFill/>
        </p:spPr>
        <p:txBody>
          <a:bodyPr wrap="none" rtlCol="0">
            <a:spAutoFit/>
          </a:bodyPr>
          <a:lstStyle/>
          <a:p>
            <a:pPr algn="ctr"/>
            <a:r>
              <a:rPr lang="es-PE" sz="1400" b="1" dirty="0"/>
              <a:t>Data</a:t>
            </a:r>
            <a:br>
              <a:rPr lang="es-PE" sz="1400" b="1" dirty="0"/>
            </a:br>
            <a:r>
              <a:rPr lang="es-PE" sz="1400" b="1" dirty="0"/>
              <a:t>detallada</a:t>
            </a:r>
          </a:p>
        </p:txBody>
      </p:sp>
      <p:sp>
        <p:nvSpPr>
          <p:cNvPr id="105" name="CuadroTexto 104"/>
          <p:cNvSpPr txBox="1"/>
          <p:nvPr/>
        </p:nvSpPr>
        <p:spPr>
          <a:xfrm>
            <a:off x="1724576" y="3709422"/>
            <a:ext cx="1175066" cy="307777"/>
          </a:xfrm>
          <a:prstGeom prst="rect">
            <a:avLst/>
          </a:prstGeom>
          <a:noFill/>
        </p:spPr>
        <p:txBody>
          <a:bodyPr wrap="none" rtlCol="0">
            <a:spAutoFit/>
          </a:bodyPr>
          <a:lstStyle/>
          <a:p>
            <a:pPr algn="ctr"/>
            <a:r>
              <a:rPr lang="es-PE" sz="1400" b="1" dirty="0"/>
              <a:t>Agregaciones</a:t>
            </a:r>
          </a:p>
        </p:txBody>
      </p:sp>
      <p:sp>
        <p:nvSpPr>
          <p:cNvPr id="113" name="CuadroTexto 112"/>
          <p:cNvSpPr txBox="1"/>
          <p:nvPr/>
        </p:nvSpPr>
        <p:spPr>
          <a:xfrm>
            <a:off x="737613" y="1519345"/>
            <a:ext cx="2583208" cy="369332"/>
          </a:xfrm>
          <a:prstGeom prst="rect">
            <a:avLst/>
          </a:prstGeom>
          <a:noFill/>
        </p:spPr>
        <p:txBody>
          <a:bodyPr wrap="none" rtlCol="0">
            <a:spAutoFit/>
          </a:bodyPr>
          <a:lstStyle/>
          <a:p>
            <a:r>
              <a:rPr lang="es-PE" b="1" dirty="0"/>
              <a:t>Almacenamiento MOLAP</a:t>
            </a:r>
          </a:p>
        </p:txBody>
      </p:sp>
      <p:sp>
        <p:nvSpPr>
          <p:cNvPr id="7" name="CuadroTexto 6"/>
          <p:cNvSpPr txBox="1"/>
          <p:nvPr/>
        </p:nvSpPr>
        <p:spPr>
          <a:xfrm>
            <a:off x="4076800" y="1596912"/>
            <a:ext cx="4555799" cy="3046988"/>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s-PE" sz="1600" dirty="0"/>
              <a:t>Guarda en el cubo la data detallada de la tabla de hechos, las agregaciones generadas durante el procesamiento del cubo, y la información de las dimensiones.</a:t>
            </a:r>
          </a:p>
          <a:p>
            <a:pPr marL="180975" indent="-180975">
              <a:buFont typeface="Arial" panose="020B0604020202020204" pitchFamily="34" charset="0"/>
              <a:buChar char="•"/>
            </a:pPr>
            <a:endParaRPr lang="es-PE" sz="1600" dirty="0"/>
          </a:p>
          <a:p>
            <a:pPr marL="180975" indent="-180975">
              <a:buFont typeface="Arial" panose="020B0604020202020204" pitchFamily="34" charset="0"/>
              <a:buChar char="•"/>
            </a:pPr>
            <a:r>
              <a:rPr lang="es-PE" sz="1600" dirty="0"/>
              <a:t>Como todo se guarda en el cubo, una vez procesado el cubo ya no se requiere conexión con la fuente de datos, por lo que no se reciben notificaciones cuando los datos cambian en la fuente.</a:t>
            </a:r>
          </a:p>
          <a:p>
            <a:pPr marL="180975" indent="-180975">
              <a:buFont typeface="Arial" panose="020B0604020202020204" pitchFamily="34" charset="0"/>
              <a:buChar char="•"/>
            </a:pPr>
            <a:endParaRPr lang="es-PE" sz="1600" dirty="0"/>
          </a:p>
          <a:p>
            <a:pPr marL="180975" indent="-180975">
              <a:buFont typeface="Arial" panose="020B0604020202020204" pitchFamily="34" charset="0"/>
              <a:buChar char="•"/>
            </a:pPr>
            <a:r>
              <a:rPr lang="es-PE" sz="1600" dirty="0"/>
              <a:t>Es el modo de almacenamiento que ofrece mejor rendimiento en las consultas.</a:t>
            </a:r>
          </a:p>
        </p:txBody>
      </p:sp>
      <p:sp>
        <p:nvSpPr>
          <p:cNvPr id="3" name="CuadroTexto 2">
            <a:extLst>
              <a:ext uri="{FF2B5EF4-FFF2-40B4-BE49-F238E27FC236}">
                <a16:creationId xmlns:a16="http://schemas.microsoft.com/office/drawing/2014/main" id="{F1B815A5-876A-BCCB-DFBC-78619F409545}"/>
              </a:ext>
            </a:extLst>
          </p:cNvPr>
          <p:cNvSpPr txBox="1"/>
          <p:nvPr/>
        </p:nvSpPr>
        <p:spPr>
          <a:xfrm>
            <a:off x="503337" y="925243"/>
            <a:ext cx="4555799" cy="246221"/>
          </a:xfrm>
          <a:prstGeom prst="rect">
            <a:avLst/>
          </a:prstGeom>
          <a:noFill/>
        </p:spPr>
        <p:txBody>
          <a:bodyPr wrap="none" lIns="0" tIns="0" rIns="0" bIns="0" rtlCol="0">
            <a:spAutoFit/>
          </a:bodyPr>
          <a:lstStyle/>
          <a:p>
            <a:r>
              <a:rPr lang="es-419" sz="1600" b="1"/>
              <a:t>ALMACENAMIENTO MOLAP (OLAP Multidimensional)</a:t>
            </a:r>
            <a:endParaRPr lang="es-ES" sz="1600" b="1"/>
          </a:p>
        </p:txBody>
      </p:sp>
      <p:sp>
        <p:nvSpPr>
          <p:cNvPr id="4" name="Rectangle 5">
            <a:extLst>
              <a:ext uri="{FF2B5EF4-FFF2-40B4-BE49-F238E27FC236}">
                <a16:creationId xmlns:a16="http://schemas.microsoft.com/office/drawing/2014/main" id="{E9799316-0B17-8A87-1B4C-021755CE0988}"/>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376474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4067888" y="1595888"/>
            <a:ext cx="4363843" cy="3539430"/>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s-PE" sz="1600" dirty="0"/>
              <a:t>Todos los datos permanecen en la fuente de datos. El cubo solo almacena la estructura de la data multidimensional.</a:t>
            </a:r>
          </a:p>
          <a:p>
            <a:pPr marL="180975" indent="-180975">
              <a:buFont typeface="Arial" panose="020B0604020202020204" pitchFamily="34" charset="0"/>
              <a:buChar char="•"/>
            </a:pPr>
            <a:endParaRPr lang="es-PE" sz="1600" dirty="0"/>
          </a:p>
          <a:p>
            <a:pPr marL="180975" indent="-180975">
              <a:buFont typeface="Arial" panose="020B0604020202020204" pitchFamily="34" charset="0"/>
              <a:buChar char="•"/>
            </a:pPr>
            <a:r>
              <a:rPr lang="es-PE" sz="1600" dirty="0"/>
              <a:t>Todas las consultas se ejecutan sobre la fuente de datos original, por lo tanto, el servidor OLAP debe permanecer conectado a ella, pero se obtienen resultados en tiempo real.</a:t>
            </a:r>
          </a:p>
          <a:p>
            <a:pPr marL="180975" indent="-180975">
              <a:buFont typeface="Arial" panose="020B0604020202020204" pitchFamily="34" charset="0"/>
              <a:buChar char="•"/>
            </a:pPr>
            <a:endParaRPr lang="es-PE" sz="1600" dirty="0"/>
          </a:p>
          <a:p>
            <a:pPr marL="180975" indent="-180975">
              <a:buFont typeface="Arial" panose="020B0604020202020204" pitchFamily="34" charset="0"/>
              <a:buChar char="•"/>
            </a:pPr>
            <a:r>
              <a:rPr lang="es-PE" sz="1600" dirty="0"/>
              <a:t>El servidor OLAP recibe notificaciones cuando los datos cambian.</a:t>
            </a:r>
          </a:p>
          <a:p>
            <a:pPr marL="180975" indent="-180975">
              <a:buFont typeface="Arial" panose="020B0604020202020204" pitchFamily="34" charset="0"/>
              <a:buChar char="•"/>
            </a:pPr>
            <a:endParaRPr lang="es-PE" sz="1600" dirty="0"/>
          </a:p>
          <a:p>
            <a:pPr marL="180975" indent="-180975">
              <a:buFont typeface="Arial" panose="020B0604020202020204" pitchFamily="34" charset="0"/>
              <a:buChar char="•"/>
            </a:pPr>
            <a:r>
              <a:rPr lang="es-PE" sz="1600" dirty="0"/>
              <a:t>Optimiza el uso de espacio, pero es más lento que MOLAP.</a:t>
            </a:r>
          </a:p>
        </p:txBody>
      </p:sp>
      <p:pic>
        <p:nvPicPr>
          <p:cNvPr id="52" name="Imagen 5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5551" y="2341678"/>
            <a:ext cx="831032" cy="831032"/>
          </a:xfrm>
          <a:prstGeom prst="rect">
            <a:avLst/>
          </a:prstGeom>
        </p:spPr>
      </p:pic>
      <p:grpSp>
        <p:nvGrpSpPr>
          <p:cNvPr id="53" name="Group 110"/>
          <p:cNvGrpSpPr>
            <a:grpSpLocks/>
          </p:cNvGrpSpPr>
          <p:nvPr/>
        </p:nvGrpSpPr>
        <p:grpSpPr bwMode="auto">
          <a:xfrm flipH="1">
            <a:off x="2241567" y="2366287"/>
            <a:ext cx="903684" cy="775726"/>
            <a:chOff x="2449" y="2352"/>
            <a:chExt cx="230" cy="240"/>
          </a:xfrm>
          <a:solidFill>
            <a:srgbClr val="FDC212"/>
          </a:solidFill>
        </p:grpSpPr>
        <p:sp>
          <p:nvSpPr>
            <p:cNvPr id="54"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55"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6"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7"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8"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9"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0"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1"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2"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3"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4"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5"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6"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7"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8"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9"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0"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1"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2"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3"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4"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75" name="Flecha derecha 74"/>
          <p:cNvSpPr/>
          <p:nvPr/>
        </p:nvSpPr>
        <p:spPr>
          <a:xfrm>
            <a:off x="1944692" y="2710952"/>
            <a:ext cx="242070" cy="196314"/>
          </a:xfrm>
          <a:prstGeom prst="rightArrow">
            <a:avLst/>
          </a:prstGeom>
          <a:solidFill>
            <a:srgbClr val="00B1C2"/>
          </a:solidFill>
          <a:ln>
            <a:solidFill>
              <a:srgbClr val="00B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76" name="Trapecio 75"/>
          <p:cNvSpPr/>
          <p:nvPr/>
        </p:nvSpPr>
        <p:spPr>
          <a:xfrm rot="2193950">
            <a:off x="2260100" y="2814356"/>
            <a:ext cx="431048" cy="813100"/>
          </a:xfrm>
          <a:prstGeom prst="trapezoid">
            <a:avLst/>
          </a:prstGeom>
          <a:solidFill>
            <a:srgbClr val="FDC212">
              <a:alpha val="2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pic>
        <p:nvPicPr>
          <p:cNvPr id="77" name="Imagen 7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4692" y="3300389"/>
            <a:ext cx="523019" cy="523019"/>
          </a:xfrm>
          <a:prstGeom prst="rect">
            <a:avLst/>
          </a:prstGeom>
        </p:spPr>
      </p:pic>
      <p:sp>
        <p:nvSpPr>
          <p:cNvPr id="78" name="CuadroTexto 77"/>
          <p:cNvSpPr txBox="1"/>
          <p:nvPr/>
        </p:nvSpPr>
        <p:spPr>
          <a:xfrm>
            <a:off x="1104694" y="3137666"/>
            <a:ext cx="880626" cy="523220"/>
          </a:xfrm>
          <a:prstGeom prst="rect">
            <a:avLst/>
          </a:prstGeom>
          <a:noFill/>
        </p:spPr>
        <p:txBody>
          <a:bodyPr wrap="none" rtlCol="0">
            <a:spAutoFit/>
          </a:bodyPr>
          <a:lstStyle/>
          <a:p>
            <a:pPr algn="ctr"/>
            <a:r>
              <a:rPr lang="es-PE" sz="1400" b="1" dirty="0"/>
              <a:t>Data</a:t>
            </a:r>
            <a:br>
              <a:rPr lang="es-PE" sz="1400" b="1" dirty="0"/>
            </a:br>
            <a:r>
              <a:rPr lang="es-PE" sz="1400" b="1" dirty="0"/>
              <a:t>detallada</a:t>
            </a:r>
          </a:p>
        </p:txBody>
      </p:sp>
      <p:sp>
        <p:nvSpPr>
          <p:cNvPr id="79" name="CuadroTexto 78"/>
          <p:cNvSpPr txBox="1"/>
          <p:nvPr/>
        </p:nvSpPr>
        <p:spPr>
          <a:xfrm>
            <a:off x="1618668" y="3803513"/>
            <a:ext cx="1175066" cy="307777"/>
          </a:xfrm>
          <a:prstGeom prst="rect">
            <a:avLst/>
          </a:prstGeom>
          <a:noFill/>
        </p:spPr>
        <p:txBody>
          <a:bodyPr wrap="none" rtlCol="0">
            <a:spAutoFit/>
          </a:bodyPr>
          <a:lstStyle/>
          <a:p>
            <a:pPr algn="ctr"/>
            <a:r>
              <a:rPr lang="es-PE" sz="1400" b="1" dirty="0"/>
              <a:t>Agregaciones</a:t>
            </a:r>
          </a:p>
        </p:txBody>
      </p:sp>
      <p:sp>
        <p:nvSpPr>
          <p:cNvPr id="81" name="CuadroTexto 80"/>
          <p:cNvSpPr txBox="1"/>
          <p:nvPr/>
        </p:nvSpPr>
        <p:spPr>
          <a:xfrm>
            <a:off x="828140" y="1470482"/>
            <a:ext cx="2508828" cy="369332"/>
          </a:xfrm>
          <a:prstGeom prst="rect">
            <a:avLst/>
          </a:prstGeom>
          <a:noFill/>
        </p:spPr>
        <p:txBody>
          <a:bodyPr wrap="none" rtlCol="0">
            <a:spAutoFit/>
          </a:bodyPr>
          <a:lstStyle/>
          <a:p>
            <a:r>
              <a:rPr lang="es-PE" b="1" dirty="0"/>
              <a:t>Almacenamiento ROLAP</a:t>
            </a:r>
          </a:p>
        </p:txBody>
      </p:sp>
      <p:sp>
        <p:nvSpPr>
          <p:cNvPr id="2" name="CuadroTexto 1">
            <a:extLst>
              <a:ext uri="{FF2B5EF4-FFF2-40B4-BE49-F238E27FC236}">
                <a16:creationId xmlns:a16="http://schemas.microsoft.com/office/drawing/2014/main" id="{0092984F-ED2A-A367-5999-4FD3B88995AB}"/>
              </a:ext>
            </a:extLst>
          </p:cNvPr>
          <p:cNvSpPr txBox="1"/>
          <p:nvPr/>
        </p:nvSpPr>
        <p:spPr>
          <a:xfrm>
            <a:off x="503238" y="912472"/>
            <a:ext cx="3859903" cy="246221"/>
          </a:xfrm>
          <a:prstGeom prst="rect">
            <a:avLst/>
          </a:prstGeom>
          <a:noFill/>
        </p:spPr>
        <p:txBody>
          <a:bodyPr wrap="none" lIns="0" tIns="0" rIns="0" bIns="0" rtlCol="0">
            <a:spAutoFit/>
          </a:bodyPr>
          <a:lstStyle/>
          <a:p>
            <a:r>
              <a:rPr lang="es-419" sz="1600" b="1"/>
              <a:t>ALMACENAMIENTO ROLAP (OLAP Relacional)</a:t>
            </a:r>
            <a:endParaRPr lang="es-ES" sz="1600" b="1"/>
          </a:p>
        </p:txBody>
      </p:sp>
      <p:sp>
        <p:nvSpPr>
          <p:cNvPr id="3" name="Rectangle 5">
            <a:extLst>
              <a:ext uri="{FF2B5EF4-FFF2-40B4-BE49-F238E27FC236}">
                <a16:creationId xmlns:a16="http://schemas.microsoft.com/office/drawing/2014/main" id="{A84CE0F5-16C3-5050-4B2D-2CA29269EAAA}"/>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1602167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4067956" y="1597025"/>
            <a:ext cx="4572807" cy="1969770"/>
          </a:xfrm>
          <a:prstGeom prst="rect">
            <a:avLst/>
          </a:prstGeom>
          <a:noFill/>
        </p:spPr>
        <p:txBody>
          <a:bodyPr wrap="square" lIns="0" tIns="0" rIns="0" bIns="0" rtlCol="0">
            <a:spAutoFit/>
          </a:bodyPr>
          <a:lstStyle/>
          <a:p>
            <a:pPr marL="179388" indent="-179388">
              <a:buFont typeface="Arial" panose="020B0604020202020204" pitchFamily="34" charset="0"/>
              <a:buChar char="•"/>
            </a:pPr>
            <a:r>
              <a:rPr lang="es-PE" sz="1600" dirty="0"/>
              <a:t>La data detallada de la tabla de hechos y la data de las dimensiones permanecen en la fuente de datos.</a:t>
            </a:r>
          </a:p>
          <a:p>
            <a:pPr marL="179388" indent="-179388">
              <a:buFont typeface="Arial" panose="020B0604020202020204" pitchFamily="34" charset="0"/>
              <a:buChar char="•"/>
            </a:pPr>
            <a:endParaRPr lang="es-PE" sz="1600" dirty="0"/>
          </a:p>
          <a:p>
            <a:pPr marL="179388" indent="-179388">
              <a:buFont typeface="Arial" panose="020B0604020202020204" pitchFamily="34" charset="0"/>
              <a:buChar char="•"/>
            </a:pPr>
            <a:r>
              <a:rPr lang="es-PE" sz="1600" dirty="0"/>
              <a:t>Las agregaciones generadas por el procesamiento del cubo se guardan en el cubo.</a:t>
            </a:r>
          </a:p>
          <a:p>
            <a:pPr marL="179388" indent="-179388">
              <a:buFont typeface="Arial" panose="020B0604020202020204" pitchFamily="34" charset="0"/>
              <a:buChar char="•"/>
            </a:pPr>
            <a:endParaRPr lang="es-PE" sz="1600" dirty="0"/>
          </a:p>
          <a:p>
            <a:pPr marL="179388" indent="-179388">
              <a:buFont typeface="Arial" panose="020B0604020202020204" pitchFamily="34" charset="0"/>
              <a:buChar char="•"/>
            </a:pPr>
            <a:r>
              <a:rPr lang="es-PE" sz="1600" dirty="0"/>
              <a:t>El rendimiento de las consultas es menor que en MOLAP, pero mayor que en ROLAP.</a:t>
            </a:r>
          </a:p>
        </p:txBody>
      </p:sp>
      <p:pic>
        <p:nvPicPr>
          <p:cNvPr id="33" name="Imagen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289" y="2307897"/>
            <a:ext cx="831032" cy="831032"/>
          </a:xfrm>
          <a:prstGeom prst="rect">
            <a:avLst/>
          </a:prstGeom>
        </p:spPr>
      </p:pic>
      <p:grpSp>
        <p:nvGrpSpPr>
          <p:cNvPr id="34" name="Group 110"/>
          <p:cNvGrpSpPr>
            <a:grpSpLocks/>
          </p:cNvGrpSpPr>
          <p:nvPr/>
        </p:nvGrpSpPr>
        <p:grpSpPr bwMode="auto">
          <a:xfrm flipH="1">
            <a:off x="2228305" y="2332506"/>
            <a:ext cx="903684" cy="775726"/>
            <a:chOff x="2449" y="2352"/>
            <a:chExt cx="230" cy="240"/>
          </a:xfrm>
          <a:solidFill>
            <a:srgbClr val="FE7828"/>
          </a:solidFill>
        </p:grpSpPr>
        <p:sp>
          <p:nvSpPr>
            <p:cNvPr id="35"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36"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7"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8"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9"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0"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1"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2"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3"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4"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5"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6"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7"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8"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9"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0"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1"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0"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2"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3"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4"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85" name="Flecha derecha 84"/>
          <p:cNvSpPr/>
          <p:nvPr/>
        </p:nvSpPr>
        <p:spPr>
          <a:xfrm>
            <a:off x="1931430" y="2677171"/>
            <a:ext cx="242070" cy="196314"/>
          </a:xfrm>
          <a:prstGeom prst="rightArrow">
            <a:avLst/>
          </a:prstGeom>
          <a:solidFill>
            <a:srgbClr val="00B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86" name="Trapecio 85"/>
          <p:cNvSpPr/>
          <p:nvPr/>
        </p:nvSpPr>
        <p:spPr>
          <a:xfrm rot="2193950">
            <a:off x="2275666" y="2821800"/>
            <a:ext cx="431048" cy="813100"/>
          </a:xfrm>
          <a:prstGeom prst="trapezoid">
            <a:avLst/>
          </a:prstGeom>
          <a:solidFill>
            <a:srgbClr val="FDC212">
              <a:alpha val="2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grpSp>
        <p:nvGrpSpPr>
          <p:cNvPr id="87" name="Group 110"/>
          <p:cNvGrpSpPr>
            <a:grpSpLocks/>
          </p:cNvGrpSpPr>
          <p:nvPr/>
        </p:nvGrpSpPr>
        <p:grpSpPr bwMode="auto">
          <a:xfrm flipH="1">
            <a:off x="1988604" y="3389432"/>
            <a:ext cx="447592" cy="512123"/>
            <a:chOff x="2449" y="2352"/>
            <a:chExt cx="230" cy="240"/>
          </a:xfrm>
          <a:solidFill>
            <a:srgbClr val="FE7828"/>
          </a:solidFill>
        </p:grpSpPr>
        <p:sp>
          <p:nvSpPr>
            <p:cNvPr id="88"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89"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0"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1"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2"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3"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4"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5"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6"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7"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8"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9"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0"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1"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2"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3"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4"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5"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6"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7"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8"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109" name="CuadroTexto 108"/>
          <p:cNvSpPr txBox="1"/>
          <p:nvPr/>
        </p:nvSpPr>
        <p:spPr>
          <a:xfrm>
            <a:off x="1085453" y="3146108"/>
            <a:ext cx="880626" cy="523220"/>
          </a:xfrm>
          <a:prstGeom prst="rect">
            <a:avLst/>
          </a:prstGeom>
          <a:noFill/>
        </p:spPr>
        <p:txBody>
          <a:bodyPr wrap="none" rtlCol="0">
            <a:spAutoFit/>
          </a:bodyPr>
          <a:lstStyle/>
          <a:p>
            <a:pPr algn="ctr"/>
            <a:r>
              <a:rPr lang="es-PE" sz="1400" b="1" dirty="0"/>
              <a:t>Data</a:t>
            </a:r>
            <a:br>
              <a:rPr lang="es-PE" sz="1400" b="1" dirty="0"/>
            </a:br>
            <a:r>
              <a:rPr lang="es-PE" sz="1400" b="1" dirty="0"/>
              <a:t>detallada</a:t>
            </a:r>
          </a:p>
        </p:txBody>
      </p:sp>
      <p:sp>
        <p:nvSpPr>
          <p:cNvPr id="110" name="CuadroTexto 109"/>
          <p:cNvSpPr txBox="1"/>
          <p:nvPr/>
        </p:nvSpPr>
        <p:spPr>
          <a:xfrm>
            <a:off x="1604433" y="3912226"/>
            <a:ext cx="1175066" cy="307777"/>
          </a:xfrm>
          <a:prstGeom prst="rect">
            <a:avLst/>
          </a:prstGeom>
          <a:noFill/>
        </p:spPr>
        <p:txBody>
          <a:bodyPr wrap="none" rtlCol="0">
            <a:spAutoFit/>
          </a:bodyPr>
          <a:lstStyle/>
          <a:p>
            <a:pPr algn="ctr"/>
            <a:r>
              <a:rPr lang="es-PE" sz="1400" b="1" dirty="0"/>
              <a:t>Agregaciones</a:t>
            </a:r>
          </a:p>
        </p:txBody>
      </p:sp>
      <p:sp>
        <p:nvSpPr>
          <p:cNvPr id="112" name="CuadroTexto 111"/>
          <p:cNvSpPr txBox="1"/>
          <p:nvPr/>
        </p:nvSpPr>
        <p:spPr>
          <a:xfrm>
            <a:off x="816682" y="1472487"/>
            <a:ext cx="2527102" cy="369332"/>
          </a:xfrm>
          <a:prstGeom prst="rect">
            <a:avLst/>
          </a:prstGeom>
          <a:noFill/>
        </p:spPr>
        <p:txBody>
          <a:bodyPr wrap="none" rtlCol="0">
            <a:spAutoFit/>
          </a:bodyPr>
          <a:lstStyle/>
          <a:p>
            <a:r>
              <a:rPr lang="es-PE" b="1" dirty="0"/>
              <a:t>Almacenamiento HOLAP</a:t>
            </a:r>
          </a:p>
        </p:txBody>
      </p:sp>
      <p:sp>
        <p:nvSpPr>
          <p:cNvPr id="2" name="CuadroTexto 1">
            <a:extLst>
              <a:ext uri="{FF2B5EF4-FFF2-40B4-BE49-F238E27FC236}">
                <a16:creationId xmlns:a16="http://schemas.microsoft.com/office/drawing/2014/main" id="{C0FF9780-6D24-6F00-2B7F-44B89DF0406A}"/>
              </a:ext>
            </a:extLst>
          </p:cNvPr>
          <p:cNvSpPr txBox="1"/>
          <p:nvPr/>
        </p:nvSpPr>
        <p:spPr>
          <a:xfrm>
            <a:off x="512470" y="915935"/>
            <a:ext cx="3637278" cy="246221"/>
          </a:xfrm>
          <a:prstGeom prst="rect">
            <a:avLst/>
          </a:prstGeom>
          <a:noFill/>
        </p:spPr>
        <p:txBody>
          <a:bodyPr wrap="none" lIns="0" tIns="0" rIns="0" bIns="0" rtlCol="0">
            <a:spAutoFit/>
          </a:bodyPr>
          <a:lstStyle/>
          <a:p>
            <a:r>
              <a:rPr lang="es-419" sz="1600" b="1" dirty="0"/>
              <a:t>ALMACENAMIENTO HOLAP (OLAP Híbrido)</a:t>
            </a:r>
            <a:endParaRPr lang="es-ES" sz="1600" b="1" dirty="0"/>
          </a:p>
        </p:txBody>
      </p:sp>
      <p:sp>
        <p:nvSpPr>
          <p:cNvPr id="3" name="Rectangle 5">
            <a:extLst>
              <a:ext uri="{FF2B5EF4-FFF2-40B4-BE49-F238E27FC236}">
                <a16:creationId xmlns:a16="http://schemas.microsoft.com/office/drawing/2014/main" id="{1467ADF2-2D3D-3801-E593-6F564A100717}"/>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2317882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n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973" y="2797086"/>
            <a:ext cx="831032" cy="831032"/>
          </a:xfrm>
          <a:prstGeom prst="rect">
            <a:avLst/>
          </a:prstGeom>
        </p:spPr>
      </p:pic>
      <p:grpSp>
        <p:nvGrpSpPr>
          <p:cNvPr id="30" name="Group 110"/>
          <p:cNvGrpSpPr>
            <a:grpSpLocks/>
          </p:cNvGrpSpPr>
          <p:nvPr/>
        </p:nvGrpSpPr>
        <p:grpSpPr bwMode="auto">
          <a:xfrm flipH="1">
            <a:off x="1640989" y="2821695"/>
            <a:ext cx="903684" cy="775726"/>
            <a:chOff x="2449" y="2352"/>
            <a:chExt cx="230" cy="240"/>
          </a:xfrm>
          <a:solidFill>
            <a:srgbClr val="FE7828"/>
          </a:solidFill>
        </p:grpSpPr>
        <p:sp>
          <p:nvSpPr>
            <p:cNvPr id="31"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32"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3"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4"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5"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6"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7"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8"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39"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0"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1"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2"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3"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4"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5"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6"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7"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8"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49"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0"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1"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2" name="Flecha derecha 1"/>
          <p:cNvSpPr/>
          <p:nvPr/>
        </p:nvSpPr>
        <p:spPr>
          <a:xfrm>
            <a:off x="1344114" y="3166360"/>
            <a:ext cx="242070" cy="196314"/>
          </a:xfrm>
          <a:prstGeom prst="rightArrow">
            <a:avLst/>
          </a:prstGeom>
          <a:solidFill>
            <a:srgbClr val="00B1C2"/>
          </a:solidFill>
          <a:ln>
            <a:solidFill>
              <a:srgbClr val="00B1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104" name="CuadroTexto 103"/>
          <p:cNvSpPr txBox="1"/>
          <p:nvPr/>
        </p:nvSpPr>
        <p:spPr>
          <a:xfrm>
            <a:off x="1539922" y="3613124"/>
            <a:ext cx="880626" cy="523220"/>
          </a:xfrm>
          <a:prstGeom prst="rect">
            <a:avLst/>
          </a:prstGeom>
          <a:noFill/>
        </p:spPr>
        <p:txBody>
          <a:bodyPr wrap="none" rtlCol="0">
            <a:spAutoFit/>
          </a:bodyPr>
          <a:lstStyle/>
          <a:p>
            <a:pPr algn="ctr"/>
            <a:r>
              <a:rPr lang="es-PE" sz="1400" b="1" dirty="0"/>
              <a:t>Data</a:t>
            </a:r>
            <a:br>
              <a:rPr lang="es-PE" sz="1400" b="1" dirty="0"/>
            </a:br>
            <a:r>
              <a:rPr lang="es-PE" sz="1400" b="1" dirty="0"/>
              <a:t>detallada</a:t>
            </a:r>
          </a:p>
        </p:txBody>
      </p:sp>
      <p:sp>
        <p:nvSpPr>
          <p:cNvPr id="105" name="CuadroTexto 104"/>
          <p:cNvSpPr txBox="1"/>
          <p:nvPr/>
        </p:nvSpPr>
        <p:spPr>
          <a:xfrm>
            <a:off x="1399213" y="4147866"/>
            <a:ext cx="1175066" cy="307777"/>
          </a:xfrm>
          <a:prstGeom prst="rect">
            <a:avLst/>
          </a:prstGeom>
          <a:noFill/>
        </p:spPr>
        <p:txBody>
          <a:bodyPr wrap="none" rtlCol="0">
            <a:spAutoFit/>
          </a:bodyPr>
          <a:lstStyle/>
          <a:p>
            <a:pPr algn="ctr"/>
            <a:r>
              <a:rPr lang="es-PE" sz="1400" b="1" dirty="0"/>
              <a:t>Agregaciones</a:t>
            </a:r>
          </a:p>
        </p:txBody>
      </p:sp>
      <p:sp>
        <p:nvSpPr>
          <p:cNvPr id="7" name="CuadroTexto 6"/>
          <p:cNvSpPr txBox="1"/>
          <p:nvPr/>
        </p:nvSpPr>
        <p:spPr>
          <a:xfrm>
            <a:off x="496098" y="1338582"/>
            <a:ext cx="2747616" cy="738664"/>
          </a:xfrm>
          <a:prstGeom prst="rect">
            <a:avLst/>
          </a:prstGeom>
          <a:noFill/>
        </p:spPr>
        <p:txBody>
          <a:bodyPr wrap="square" lIns="0" tIns="0" rIns="0" bIns="0" rtlCol="0">
            <a:spAutoFit/>
          </a:bodyPr>
          <a:lstStyle/>
          <a:p>
            <a:r>
              <a:rPr lang="es-PE" sz="1600" dirty="0"/>
              <a:t>SQL Server </a:t>
            </a:r>
            <a:r>
              <a:rPr lang="es-PE" sz="1600" dirty="0" err="1"/>
              <a:t>Analysis</a:t>
            </a:r>
            <a:r>
              <a:rPr lang="es-PE" sz="1600" dirty="0"/>
              <a:t> </a:t>
            </a:r>
            <a:r>
              <a:rPr lang="es-PE" sz="1600" dirty="0" err="1"/>
              <a:t>Services</a:t>
            </a:r>
            <a:r>
              <a:rPr lang="es-PE" sz="1600" dirty="0"/>
              <a:t> ofrece opciones intermedias para el almacenamiento MOLAP:</a:t>
            </a:r>
          </a:p>
        </p:txBody>
      </p:sp>
      <p:graphicFrame>
        <p:nvGraphicFramePr>
          <p:cNvPr id="3" name="Tabla 2"/>
          <p:cNvGraphicFramePr>
            <a:graphicFrameLocks noGrp="1"/>
          </p:cNvGraphicFramePr>
          <p:nvPr>
            <p:extLst>
              <p:ext uri="{D42A27DB-BD31-4B8C-83A1-F6EECF244321}">
                <p14:modId xmlns:p14="http://schemas.microsoft.com/office/powerpoint/2010/main" val="2895078149"/>
              </p:ext>
            </p:extLst>
          </p:nvPr>
        </p:nvGraphicFramePr>
        <p:xfrm>
          <a:off x="3547765" y="1172739"/>
          <a:ext cx="5092998" cy="4035850"/>
        </p:xfrm>
        <a:graphic>
          <a:graphicData uri="http://schemas.openxmlformats.org/drawingml/2006/table">
            <a:tbl>
              <a:tblPr firstRow="1" bandRow="1">
                <a:tableStyleId>{9D7B26C5-4107-4FEC-AEDC-1716B250A1EF}</a:tableStyleId>
              </a:tblPr>
              <a:tblGrid>
                <a:gridCol w="1225159">
                  <a:extLst>
                    <a:ext uri="{9D8B030D-6E8A-4147-A177-3AD203B41FA5}">
                      <a16:colId xmlns:a16="http://schemas.microsoft.com/office/drawing/2014/main" val="2572590553"/>
                    </a:ext>
                  </a:extLst>
                </a:gridCol>
                <a:gridCol w="3867839">
                  <a:extLst>
                    <a:ext uri="{9D8B030D-6E8A-4147-A177-3AD203B41FA5}">
                      <a16:colId xmlns:a16="http://schemas.microsoft.com/office/drawing/2014/main" val="786594138"/>
                    </a:ext>
                  </a:extLst>
                </a:gridCol>
              </a:tblGrid>
              <a:tr h="781715">
                <a:tc>
                  <a:txBody>
                    <a:bodyPr/>
                    <a:lstStyle/>
                    <a:p>
                      <a:r>
                        <a:rPr lang="es-PE" sz="1300" b="1" dirty="0">
                          <a:solidFill>
                            <a:schemeClr val="bg1"/>
                          </a:solidFill>
                        </a:rPr>
                        <a:t>MOLAP</a:t>
                      </a:r>
                    </a:p>
                  </a:txBody>
                  <a:tcPr marL="75650" marR="7565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rgbClr val="FE7828"/>
                    </a:solidFill>
                  </a:tcPr>
                </a:tc>
                <a:tc>
                  <a:txBody>
                    <a:bodyPr/>
                    <a:lstStyle/>
                    <a:p>
                      <a:pPr marL="134938" indent="-134938">
                        <a:buFont typeface="Arial" panose="020B0604020202020204" pitchFamily="34" charset="0"/>
                        <a:buChar char="•"/>
                        <a:tabLst/>
                      </a:pPr>
                      <a:r>
                        <a:rPr lang="es-PE" sz="1200" b="0" dirty="0"/>
                        <a:t>El servidor no recibe notificaciones cuando cambian los datos en la fuente.</a:t>
                      </a:r>
                    </a:p>
                    <a:p>
                      <a:pPr marL="134938" indent="-134938">
                        <a:buFont typeface="Arial" panose="020B0604020202020204" pitchFamily="34" charset="0"/>
                        <a:buChar char="•"/>
                        <a:tabLst/>
                      </a:pPr>
                      <a:r>
                        <a:rPr lang="es-PE" sz="1200" b="0" dirty="0"/>
                        <a:t>El procesamiento del</a:t>
                      </a:r>
                      <a:r>
                        <a:rPr lang="es-PE" sz="1200" b="0" baseline="0" dirty="0"/>
                        <a:t> cubo debe programarse o ejecutarse manualmente.</a:t>
                      </a:r>
                    </a:p>
                  </a:txBody>
                  <a:tcPr marL="108000" marR="10800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24582124"/>
                  </a:ext>
                </a:extLst>
              </a:tr>
              <a:tr h="781715">
                <a:tc>
                  <a:txBody>
                    <a:bodyPr/>
                    <a:lstStyle/>
                    <a:p>
                      <a:r>
                        <a:rPr lang="es-PE" sz="1300" b="1" dirty="0">
                          <a:solidFill>
                            <a:schemeClr val="bg1"/>
                          </a:solidFill>
                        </a:rPr>
                        <a:t>MOLAP programado</a:t>
                      </a:r>
                    </a:p>
                  </a:txBody>
                  <a:tcPr marL="75650" marR="7565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rgbClr val="FE7828"/>
                    </a:solidFill>
                  </a:tcPr>
                </a:tc>
                <a:tc>
                  <a:txBody>
                    <a:bodyPr/>
                    <a:lstStyle/>
                    <a:p>
                      <a:pPr marL="134938" indent="-134938">
                        <a:buFont typeface="Arial" panose="020B0604020202020204" pitchFamily="34" charset="0"/>
                        <a:buChar char="•"/>
                        <a:tabLst/>
                      </a:pPr>
                      <a:r>
                        <a:rPr lang="es-PE" sz="1200" b="0" dirty="0"/>
                        <a:t>El servidor no recibe notificaciones cuando cambian los datos en la fuente.</a:t>
                      </a:r>
                    </a:p>
                    <a:p>
                      <a:pPr marL="134938" indent="-134938">
                        <a:buFont typeface="Arial" panose="020B0604020202020204" pitchFamily="34" charset="0"/>
                        <a:buChar char="•"/>
                        <a:tabLst/>
                      </a:pPr>
                      <a:r>
                        <a:rPr lang="es-PE" sz="1200" b="0" dirty="0"/>
                        <a:t>El procesamiento del</a:t>
                      </a:r>
                      <a:r>
                        <a:rPr lang="es-PE" sz="1200" b="0" baseline="0" dirty="0"/>
                        <a:t> cubo se ejecuta automáticamente cada 24 horas.</a:t>
                      </a:r>
                    </a:p>
                  </a:txBody>
                  <a:tcPr marL="108000" marR="10800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97563558"/>
                  </a:ext>
                </a:extLst>
              </a:tr>
              <a:tr h="781715">
                <a:tc>
                  <a:txBody>
                    <a:bodyPr/>
                    <a:lstStyle/>
                    <a:p>
                      <a:r>
                        <a:rPr lang="es-PE" sz="1300" b="1" dirty="0">
                          <a:solidFill>
                            <a:schemeClr val="bg1"/>
                          </a:solidFill>
                        </a:rPr>
                        <a:t>MOLAP automático</a:t>
                      </a:r>
                    </a:p>
                  </a:txBody>
                  <a:tcPr marL="75650" marR="7565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rgbClr val="FE7828"/>
                    </a:solidFill>
                  </a:tcPr>
                </a:tc>
                <a:tc>
                  <a:txBody>
                    <a:bodyPr/>
                    <a:lstStyle/>
                    <a:p>
                      <a:pPr marL="134938" indent="-134938">
                        <a:buFont typeface="Arial" panose="020B0604020202020204" pitchFamily="34" charset="0"/>
                        <a:buChar char="•"/>
                        <a:tabLst/>
                      </a:pPr>
                      <a:r>
                        <a:rPr lang="es-PE" sz="1200" b="0" dirty="0"/>
                        <a:t>El servidor recibe notificaciones cuando cambian los datos en la fuente.</a:t>
                      </a:r>
                    </a:p>
                    <a:p>
                      <a:pPr marL="134938" indent="-134938">
                        <a:buFont typeface="Arial" panose="020B0604020202020204" pitchFamily="34" charset="0"/>
                        <a:buChar char="•"/>
                        <a:tabLst/>
                      </a:pPr>
                      <a:r>
                        <a:rPr lang="es-PE" sz="1200" b="0" dirty="0"/>
                        <a:t>El procesamiento se ejecuta automáticamente sin restricciones de latencia.</a:t>
                      </a:r>
                    </a:p>
                  </a:txBody>
                  <a:tcPr marL="108000" marR="10800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2186537"/>
                  </a:ext>
                </a:extLst>
              </a:tr>
              <a:tr h="781715">
                <a:tc>
                  <a:txBody>
                    <a:bodyPr/>
                    <a:lstStyle/>
                    <a:p>
                      <a:r>
                        <a:rPr lang="es-PE" sz="1300" b="1" dirty="0">
                          <a:solidFill>
                            <a:schemeClr val="bg1"/>
                          </a:solidFill>
                        </a:rPr>
                        <a:t>MOLAP de latencia media</a:t>
                      </a:r>
                    </a:p>
                  </a:txBody>
                  <a:tcPr marL="75650" marR="7565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rgbClr val="FE7828"/>
                    </a:solidFill>
                  </a:tcPr>
                </a:tc>
                <a:tc>
                  <a:txBody>
                    <a:bodyPr/>
                    <a:lstStyle/>
                    <a:p>
                      <a:pPr marL="134938" indent="-134938">
                        <a:buFont typeface="Arial" panose="020B0604020202020204" pitchFamily="34" charset="0"/>
                        <a:buChar char="•"/>
                        <a:tabLst/>
                      </a:pPr>
                      <a:r>
                        <a:rPr lang="es-PE" sz="1200" b="0" dirty="0"/>
                        <a:t>El servidor recibe notificaciones cuando cambian los datos en la fuente.</a:t>
                      </a:r>
                    </a:p>
                    <a:p>
                      <a:pPr marL="134938" indent="-134938">
                        <a:buFont typeface="Arial" panose="020B0604020202020204" pitchFamily="34" charset="0"/>
                        <a:buChar char="•"/>
                        <a:tabLst/>
                      </a:pPr>
                      <a:r>
                        <a:rPr lang="es-PE" sz="1200" b="0" dirty="0"/>
                        <a:t>El procesamiento se ejecuta automáticamente con</a:t>
                      </a:r>
                      <a:r>
                        <a:rPr lang="es-PE" sz="1200" b="0" baseline="0" dirty="0"/>
                        <a:t> una latencia de 4 horas.</a:t>
                      </a:r>
                      <a:endParaRPr lang="es-PE" sz="1200" b="0" dirty="0"/>
                    </a:p>
                  </a:txBody>
                  <a:tcPr marL="108000" marR="10800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00580504"/>
                  </a:ext>
                </a:extLst>
              </a:tr>
              <a:tr h="781715">
                <a:tc>
                  <a:txBody>
                    <a:bodyPr/>
                    <a:lstStyle/>
                    <a:p>
                      <a:r>
                        <a:rPr lang="es-PE" sz="1300" b="1" dirty="0">
                          <a:solidFill>
                            <a:schemeClr val="bg1"/>
                          </a:solidFill>
                        </a:rPr>
                        <a:t>MOLAP de latencia baja</a:t>
                      </a:r>
                    </a:p>
                  </a:txBody>
                  <a:tcPr marL="75650" marR="7565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rgbClr val="FE7828"/>
                    </a:solidFill>
                  </a:tcPr>
                </a:tc>
                <a:tc>
                  <a:txBody>
                    <a:bodyPr/>
                    <a:lstStyle/>
                    <a:p>
                      <a:pPr marL="134938" indent="-134938">
                        <a:buFont typeface="Arial" panose="020B0604020202020204" pitchFamily="34" charset="0"/>
                        <a:buChar char="•"/>
                        <a:tabLst/>
                      </a:pPr>
                      <a:r>
                        <a:rPr lang="es-PE" sz="1200" b="0" dirty="0"/>
                        <a:t>El servidor recibe notificaciones cuando cambian los datos en la fuente.</a:t>
                      </a:r>
                    </a:p>
                    <a:p>
                      <a:pPr marL="134938" indent="-134938">
                        <a:buFont typeface="Arial" panose="020B0604020202020204" pitchFamily="34" charset="0"/>
                        <a:buChar char="•"/>
                        <a:tabLst/>
                      </a:pPr>
                      <a:r>
                        <a:rPr lang="es-PE" sz="1200" b="0" dirty="0"/>
                        <a:t>El procesamiento se ejecuta automáticamente con</a:t>
                      </a:r>
                      <a:r>
                        <a:rPr lang="es-PE" sz="1200" b="0" baseline="0" dirty="0"/>
                        <a:t> una latencia de 30 minutos.</a:t>
                      </a:r>
                      <a:endParaRPr lang="es-PE" sz="1200" b="0" dirty="0"/>
                    </a:p>
                  </a:txBody>
                  <a:tcPr marL="108000" marR="108000" marT="37825" marB="37825" anchor="ctr">
                    <a:lnL w="12700" cap="flat" cmpd="sng" algn="ctr">
                      <a:solidFill>
                        <a:srgbClr val="EC712A"/>
                      </a:solidFill>
                      <a:prstDash val="solid"/>
                      <a:round/>
                      <a:headEnd type="none" w="med" len="med"/>
                      <a:tailEnd type="none" w="med" len="med"/>
                    </a:lnL>
                    <a:lnR w="12700" cap="flat" cmpd="sng" algn="ctr">
                      <a:solidFill>
                        <a:srgbClr val="EC712A"/>
                      </a:solidFill>
                      <a:prstDash val="solid"/>
                      <a:round/>
                      <a:headEnd type="none" w="med" len="med"/>
                      <a:tailEnd type="none" w="med" len="med"/>
                    </a:lnR>
                    <a:lnT w="12700" cap="flat" cmpd="sng" algn="ctr">
                      <a:solidFill>
                        <a:srgbClr val="EC712A"/>
                      </a:solidFill>
                      <a:prstDash val="solid"/>
                      <a:round/>
                      <a:headEnd type="none" w="med" len="med"/>
                      <a:tailEnd type="none" w="med" len="med"/>
                    </a:lnT>
                    <a:lnB w="12700" cap="flat" cmpd="sng" algn="ctr">
                      <a:solidFill>
                        <a:srgbClr val="EC712A"/>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01020754"/>
                  </a:ext>
                </a:extLst>
              </a:tr>
            </a:tbl>
          </a:graphicData>
        </a:graphic>
      </p:graphicFrame>
      <p:sp>
        <p:nvSpPr>
          <p:cNvPr id="4" name="CuadroTexto 3">
            <a:extLst>
              <a:ext uri="{FF2B5EF4-FFF2-40B4-BE49-F238E27FC236}">
                <a16:creationId xmlns:a16="http://schemas.microsoft.com/office/drawing/2014/main" id="{40AB6DB8-ABE1-F1DC-FF91-0B7AF83960C9}"/>
              </a:ext>
            </a:extLst>
          </p:cNvPr>
          <p:cNvSpPr txBox="1"/>
          <p:nvPr/>
        </p:nvSpPr>
        <p:spPr>
          <a:xfrm>
            <a:off x="496098" y="926518"/>
            <a:ext cx="2370905" cy="246221"/>
          </a:xfrm>
          <a:prstGeom prst="rect">
            <a:avLst/>
          </a:prstGeom>
          <a:noFill/>
        </p:spPr>
        <p:txBody>
          <a:bodyPr wrap="none" lIns="0" tIns="0" rIns="0" bIns="0" rtlCol="0">
            <a:spAutoFit/>
          </a:bodyPr>
          <a:lstStyle/>
          <a:p>
            <a:r>
              <a:rPr lang="es-419" sz="1600" b="1" dirty="0"/>
              <a:t>ALMACENAMIENTO MOLAP</a:t>
            </a:r>
            <a:endParaRPr lang="es-ES" sz="1600" b="1" dirty="0"/>
          </a:p>
        </p:txBody>
      </p:sp>
      <p:sp>
        <p:nvSpPr>
          <p:cNvPr id="6" name="Rectangle 5">
            <a:extLst>
              <a:ext uri="{FF2B5EF4-FFF2-40B4-BE49-F238E27FC236}">
                <a16:creationId xmlns:a16="http://schemas.microsoft.com/office/drawing/2014/main" id="{F75425DB-0110-9AD7-4D83-51F3788CB61E}"/>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3140274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503712" y="2861120"/>
            <a:ext cx="7859451" cy="2215991"/>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s-PE" sz="1600" dirty="0"/>
              <a:t>Permite dividir el almacenamiento del cubo mediante la definición de filtros por criterios temporales, geográficos, administrativos, etc.</a:t>
            </a:r>
          </a:p>
          <a:p>
            <a:pPr marL="180975" indent="-180975">
              <a:buFont typeface="Arial" panose="020B0604020202020204" pitchFamily="34" charset="0"/>
              <a:buChar char="•"/>
            </a:pPr>
            <a:endParaRPr lang="es-PE" sz="1600" dirty="0"/>
          </a:p>
          <a:p>
            <a:pPr marL="180975" indent="-180975">
              <a:buFont typeface="Arial" panose="020B0604020202020204" pitchFamily="34" charset="0"/>
              <a:buChar char="•"/>
            </a:pPr>
            <a:r>
              <a:rPr lang="es-PE" sz="1600" dirty="0"/>
              <a:t>Solo se aplica a la tabla de hechos.</a:t>
            </a:r>
          </a:p>
          <a:p>
            <a:pPr marL="180975" indent="-180975">
              <a:buFont typeface="Arial" panose="020B0604020202020204" pitchFamily="34" charset="0"/>
              <a:buChar char="•"/>
            </a:pPr>
            <a:endParaRPr lang="es-PE" sz="1600" dirty="0"/>
          </a:p>
          <a:p>
            <a:pPr marL="180975" indent="-180975">
              <a:buFont typeface="Arial" panose="020B0604020202020204" pitchFamily="34" charset="0"/>
              <a:buChar char="•"/>
            </a:pPr>
            <a:r>
              <a:rPr lang="es-PE" sz="1600" dirty="0"/>
              <a:t>Cada partición se puede manejar como un cubo independiente con su propia fuente de datos y modo de almacenamiento.</a:t>
            </a:r>
          </a:p>
          <a:p>
            <a:pPr marL="180975" indent="-180975">
              <a:buFont typeface="Arial" panose="020B0604020202020204" pitchFamily="34" charset="0"/>
              <a:buChar char="•"/>
            </a:pPr>
            <a:endParaRPr lang="es-PE" sz="1600" dirty="0"/>
          </a:p>
          <a:p>
            <a:pPr marL="180975" indent="-180975">
              <a:buFont typeface="Arial" panose="020B0604020202020204" pitchFamily="34" charset="0"/>
              <a:buChar char="•"/>
            </a:pPr>
            <a:r>
              <a:rPr lang="es-PE" sz="1600" dirty="0"/>
              <a:t>Cada partición puede tener un modo de almacenamiento distinto.</a:t>
            </a:r>
          </a:p>
        </p:txBody>
      </p:sp>
      <p:grpSp>
        <p:nvGrpSpPr>
          <p:cNvPr id="52" name="Group 110"/>
          <p:cNvGrpSpPr>
            <a:grpSpLocks/>
          </p:cNvGrpSpPr>
          <p:nvPr/>
        </p:nvGrpSpPr>
        <p:grpSpPr bwMode="auto">
          <a:xfrm flipH="1">
            <a:off x="4829140" y="1606507"/>
            <a:ext cx="903684" cy="775726"/>
            <a:chOff x="2449" y="2352"/>
            <a:chExt cx="230" cy="240"/>
          </a:xfrm>
          <a:solidFill>
            <a:srgbClr val="FE7828"/>
          </a:solidFill>
        </p:grpSpPr>
        <p:sp>
          <p:nvSpPr>
            <p:cNvPr id="53"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54"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5"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6"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7"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8"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9"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0"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1"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2"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3"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4"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5"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6"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7"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8"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9"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0"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1"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2"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3"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74" name="Group 110"/>
          <p:cNvGrpSpPr>
            <a:grpSpLocks/>
          </p:cNvGrpSpPr>
          <p:nvPr/>
        </p:nvGrpSpPr>
        <p:grpSpPr bwMode="auto">
          <a:xfrm flipH="1">
            <a:off x="2030856" y="1610138"/>
            <a:ext cx="903684" cy="775726"/>
            <a:chOff x="2449" y="2352"/>
            <a:chExt cx="230" cy="240"/>
          </a:xfrm>
          <a:solidFill>
            <a:srgbClr val="FE7828"/>
          </a:solidFill>
        </p:grpSpPr>
        <p:sp>
          <p:nvSpPr>
            <p:cNvPr id="75"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76"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7"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8"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9"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0"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1"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2"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3"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4"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5"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6"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7"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8"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9"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0"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1"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2"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3"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4"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5"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96" name="Group 110"/>
          <p:cNvGrpSpPr>
            <a:grpSpLocks/>
          </p:cNvGrpSpPr>
          <p:nvPr/>
        </p:nvGrpSpPr>
        <p:grpSpPr bwMode="auto">
          <a:xfrm flipH="1">
            <a:off x="7534131" y="1623067"/>
            <a:ext cx="903684" cy="775726"/>
            <a:chOff x="2449" y="2352"/>
            <a:chExt cx="230" cy="240"/>
          </a:xfrm>
          <a:solidFill>
            <a:srgbClr val="FE7828"/>
          </a:solidFill>
        </p:grpSpPr>
        <p:sp>
          <p:nvSpPr>
            <p:cNvPr id="97"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98"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9"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0"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1"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2"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3"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6"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7"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8"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9"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0"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1"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2"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4"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5"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6"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7"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8"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9"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0"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4" name="CuadroTexto 3"/>
          <p:cNvSpPr txBox="1"/>
          <p:nvPr/>
        </p:nvSpPr>
        <p:spPr>
          <a:xfrm>
            <a:off x="806667" y="1807302"/>
            <a:ext cx="1152880" cy="523220"/>
          </a:xfrm>
          <a:prstGeom prst="rect">
            <a:avLst/>
          </a:prstGeom>
          <a:noFill/>
        </p:spPr>
        <p:txBody>
          <a:bodyPr wrap="none" rtlCol="0">
            <a:spAutoFit/>
          </a:bodyPr>
          <a:lstStyle/>
          <a:p>
            <a:pPr algn="ctr"/>
            <a:r>
              <a:rPr lang="es-PE" sz="1400" b="1" dirty="0"/>
              <a:t>Bienio actual</a:t>
            </a:r>
          </a:p>
          <a:p>
            <a:pPr algn="ctr"/>
            <a:r>
              <a:rPr lang="es-PE" sz="1400" b="1" dirty="0"/>
              <a:t>(2018-2019)</a:t>
            </a:r>
          </a:p>
        </p:txBody>
      </p:sp>
      <p:sp>
        <p:nvSpPr>
          <p:cNvPr id="121" name="CuadroTexto 120"/>
          <p:cNvSpPr txBox="1"/>
          <p:nvPr/>
        </p:nvSpPr>
        <p:spPr>
          <a:xfrm>
            <a:off x="3497154" y="1819832"/>
            <a:ext cx="1299716" cy="523220"/>
          </a:xfrm>
          <a:prstGeom prst="rect">
            <a:avLst/>
          </a:prstGeom>
          <a:noFill/>
        </p:spPr>
        <p:txBody>
          <a:bodyPr wrap="none" rtlCol="0">
            <a:spAutoFit/>
          </a:bodyPr>
          <a:lstStyle/>
          <a:p>
            <a:pPr algn="ctr"/>
            <a:r>
              <a:rPr lang="es-PE" sz="1400" b="1" dirty="0"/>
              <a:t>Bienio anterior</a:t>
            </a:r>
          </a:p>
          <a:p>
            <a:pPr algn="ctr"/>
            <a:r>
              <a:rPr lang="es-PE" sz="1400" b="1" dirty="0"/>
              <a:t>(2016-2017)</a:t>
            </a:r>
          </a:p>
        </p:txBody>
      </p:sp>
      <p:sp>
        <p:nvSpPr>
          <p:cNvPr id="122" name="CuadroTexto 121"/>
          <p:cNvSpPr txBox="1"/>
          <p:nvPr/>
        </p:nvSpPr>
        <p:spPr>
          <a:xfrm>
            <a:off x="6214574" y="1796503"/>
            <a:ext cx="1213667" cy="307777"/>
          </a:xfrm>
          <a:prstGeom prst="rect">
            <a:avLst/>
          </a:prstGeom>
          <a:noFill/>
        </p:spPr>
        <p:txBody>
          <a:bodyPr wrap="none" rtlCol="0">
            <a:spAutoFit/>
          </a:bodyPr>
          <a:lstStyle/>
          <a:p>
            <a:pPr algn="ctr"/>
            <a:r>
              <a:rPr lang="es-PE" sz="1400" b="1" dirty="0"/>
              <a:t>Data histórica</a:t>
            </a:r>
          </a:p>
        </p:txBody>
      </p:sp>
      <p:sp>
        <p:nvSpPr>
          <p:cNvPr id="2" name="CuadroTexto 1">
            <a:extLst>
              <a:ext uri="{FF2B5EF4-FFF2-40B4-BE49-F238E27FC236}">
                <a16:creationId xmlns:a16="http://schemas.microsoft.com/office/drawing/2014/main" id="{F90C7421-CFFB-0067-78DF-D550970F9D4E}"/>
              </a:ext>
            </a:extLst>
          </p:cNvPr>
          <p:cNvSpPr txBox="1"/>
          <p:nvPr/>
        </p:nvSpPr>
        <p:spPr>
          <a:xfrm>
            <a:off x="503238" y="921362"/>
            <a:ext cx="3383555" cy="246221"/>
          </a:xfrm>
          <a:prstGeom prst="rect">
            <a:avLst/>
          </a:prstGeom>
          <a:noFill/>
        </p:spPr>
        <p:txBody>
          <a:bodyPr wrap="none" lIns="0" tIns="0" rIns="0" bIns="0" rtlCol="0">
            <a:spAutoFit/>
          </a:bodyPr>
          <a:lstStyle/>
          <a:p>
            <a:r>
              <a:rPr lang="es-419" sz="1600" b="1" dirty="0"/>
              <a:t>CREACIÓN DE PARTICIONES EN EL CUBO</a:t>
            </a:r>
            <a:endParaRPr lang="es-ES" sz="1600" b="1" dirty="0"/>
          </a:p>
        </p:txBody>
      </p:sp>
      <p:sp>
        <p:nvSpPr>
          <p:cNvPr id="3" name="Rectangle 5">
            <a:extLst>
              <a:ext uri="{FF2B5EF4-FFF2-40B4-BE49-F238E27FC236}">
                <a16:creationId xmlns:a16="http://schemas.microsoft.com/office/drawing/2014/main" id="{4F581564-355D-87BF-B88D-6B2C1536B4F1}"/>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957957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110"/>
          <p:cNvGrpSpPr>
            <a:grpSpLocks/>
          </p:cNvGrpSpPr>
          <p:nvPr/>
        </p:nvGrpSpPr>
        <p:grpSpPr bwMode="auto">
          <a:xfrm flipH="1">
            <a:off x="2030856" y="3171528"/>
            <a:ext cx="903684" cy="775726"/>
            <a:chOff x="2449" y="2352"/>
            <a:chExt cx="230" cy="240"/>
          </a:xfrm>
          <a:solidFill>
            <a:srgbClr val="FE7828"/>
          </a:solidFill>
        </p:grpSpPr>
        <p:sp>
          <p:nvSpPr>
            <p:cNvPr id="53"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54"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5"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6"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7"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8"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9"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0"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1"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2"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3"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4"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5"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6"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7"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8"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9"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0"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1"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2"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3"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74" name="Group 110"/>
          <p:cNvGrpSpPr>
            <a:grpSpLocks/>
          </p:cNvGrpSpPr>
          <p:nvPr/>
        </p:nvGrpSpPr>
        <p:grpSpPr bwMode="auto">
          <a:xfrm flipH="1">
            <a:off x="2030856" y="2123559"/>
            <a:ext cx="903684" cy="775726"/>
            <a:chOff x="2449" y="2352"/>
            <a:chExt cx="230" cy="240"/>
          </a:xfrm>
          <a:solidFill>
            <a:srgbClr val="FE7828"/>
          </a:solidFill>
        </p:grpSpPr>
        <p:sp>
          <p:nvSpPr>
            <p:cNvPr id="75"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76"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7"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8"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9"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0"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1"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2"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3"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4"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5"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6"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7"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8"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9"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0"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1"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2"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3"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4"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5"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96" name="Group 110"/>
          <p:cNvGrpSpPr>
            <a:grpSpLocks/>
          </p:cNvGrpSpPr>
          <p:nvPr/>
        </p:nvGrpSpPr>
        <p:grpSpPr bwMode="auto">
          <a:xfrm flipH="1">
            <a:off x="2048852" y="4394759"/>
            <a:ext cx="903684" cy="775726"/>
            <a:chOff x="2449" y="2352"/>
            <a:chExt cx="230" cy="240"/>
          </a:xfrm>
          <a:solidFill>
            <a:srgbClr val="FE7828"/>
          </a:solidFill>
        </p:grpSpPr>
        <p:sp>
          <p:nvSpPr>
            <p:cNvPr id="97"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98"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9"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0"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1"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2"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3"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6"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7"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8"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9"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0"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1"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2"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4"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5"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6"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7"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8"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9"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0"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4" name="CuadroTexto 3"/>
          <p:cNvSpPr txBox="1"/>
          <p:nvPr/>
        </p:nvSpPr>
        <p:spPr>
          <a:xfrm>
            <a:off x="806667" y="2320723"/>
            <a:ext cx="1152880" cy="523220"/>
          </a:xfrm>
          <a:prstGeom prst="rect">
            <a:avLst/>
          </a:prstGeom>
          <a:noFill/>
        </p:spPr>
        <p:txBody>
          <a:bodyPr wrap="none" rtlCol="0">
            <a:spAutoFit/>
          </a:bodyPr>
          <a:lstStyle/>
          <a:p>
            <a:pPr algn="ctr"/>
            <a:r>
              <a:rPr lang="es-PE" sz="1400" b="1" dirty="0"/>
              <a:t>Bienio actual</a:t>
            </a:r>
          </a:p>
          <a:p>
            <a:pPr algn="ctr"/>
            <a:r>
              <a:rPr lang="es-PE" sz="1400" b="1" dirty="0"/>
              <a:t>(2018-2019)</a:t>
            </a:r>
          </a:p>
        </p:txBody>
      </p:sp>
      <p:sp>
        <p:nvSpPr>
          <p:cNvPr id="121" name="CuadroTexto 120"/>
          <p:cNvSpPr txBox="1"/>
          <p:nvPr/>
        </p:nvSpPr>
        <p:spPr>
          <a:xfrm>
            <a:off x="698870" y="3461677"/>
            <a:ext cx="1299716" cy="523220"/>
          </a:xfrm>
          <a:prstGeom prst="rect">
            <a:avLst/>
          </a:prstGeom>
          <a:noFill/>
        </p:spPr>
        <p:txBody>
          <a:bodyPr wrap="none" rtlCol="0">
            <a:spAutoFit/>
          </a:bodyPr>
          <a:lstStyle/>
          <a:p>
            <a:pPr algn="ctr"/>
            <a:r>
              <a:rPr lang="es-PE" sz="1400" b="1" dirty="0"/>
              <a:t>Bienio anterior</a:t>
            </a:r>
          </a:p>
          <a:p>
            <a:pPr algn="ctr"/>
            <a:r>
              <a:rPr lang="es-PE" sz="1400" b="1" dirty="0"/>
              <a:t>(2016-2017)</a:t>
            </a:r>
          </a:p>
        </p:txBody>
      </p:sp>
      <p:sp>
        <p:nvSpPr>
          <p:cNvPr id="122" name="CuadroTexto 121"/>
          <p:cNvSpPr txBox="1"/>
          <p:nvPr/>
        </p:nvSpPr>
        <p:spPr>
          <a:xfrm>
            <a:off x="729295" y="4568195"/>
            <a:ext cx="1213667" cy="307777"/>
          </a:xfrm>
          <a:prstGeom prst="rect">
            <a:avLst/>
          </a:prstGeom>
          <a:noFill/>
        </p:spPr>
        <p:txBody>
          <a:bodyPr wrap="none" rtlCol="0">
            <a:spAutoFit/>
          </a:bodyPr>
          <a:lstStyle/>
          <a:p>
            <a:pPr algn="ctr"/>
            <a:r>
              <a:rPr lang="es-PE" sz="1400" b="1" dirty="0"/>
              <a:t>Data histórica</a:t>
            </a:r>
          </a:p>
        </p:txBody>
      </p:sp>
      <p:sp>
        <p:nvSpPr>
          <p:cNvPr id="2" name="CuadroTexto 1"/>
          <p:cNvSpPr txBox="1"/>
          <p:nvPr/>
        </p:nvSpPr>
        <p:spPr>
          <a:xfrm>
            <a:off x="3315658" y="2333928"/>
            <a:ext cx="5222414" cy="461665"/>
          </a:xfrm>
          <a:prstGeom prst="rect">
            <a:avLst/>
          </a:prstGeom>
          <a:noFill/>
        </p:spPr>
        <p:txBody>
          <a:bodyPr wrap="square" lIns="0" tIns="0" rIns="0" bIns="0" rtlCol="0">
            <a:spAutoFit/>
          </a:bodyPr>
          <a:lstStyle/>
          <a:p>
            <a:r>
              <a:rPr lang="es-PE" sz="1500" dirty="0"/>
              <a:t>Almacenamiento MOLAP con alto porcentaje de agregaciones para una respuesta rápida y frecuencia de procesamiento alta.</a:t>
            </a:r>
          </a:p>
        </p:txBody>
      </p:sp>
      <p:sp>
        <p:nvSpPr>
          <p:cNvPr id="104" name="CuadroTexto 103"/>
          <p:cNvSpPr txBox="1"/>
          <p:nvPr/>
        </p:nvSpPr>
        <p:spPr>
          <a:xfrm>
            <a:off x="3315658" y="3275291"/>
            <a:ext cx="5222414" cy="692497"/>
          </a:xfrm>
          <a:prstGeom prst="rect">
            <a:avLst/>
          </a:prstGeom>
          <a:noFill/>
        </p:spPr>
        <p:txBody>
          <a:bodyPr wrap="square" lIns="0" tIns="0" rIns="0" bIns="0" rtlCol="0">
            <a:spAutoFit/>
          </a:bodyPr>
          <a:lstStyle/>
          <a:p>
            <a:r>
              <a:rPr lang="es-PE" sz="1500" dirty="0"/>
              <a:t>Almacenamiento HOLAP con bajo porcentaje de agregaciones para una tiempo de respuesta adecuado a consultas de resumen y procesamiento ocasional.</a:t>
            </a:r>
          </a:p>
        </p:txBody>
      </p:sp>
      <p:sp>
        <p:nvSpPr>
          <p:cNvPr id="105" name="CuadroTexto 104"/>
          <p:cNvSpPr txBox="1"/>
          <p:nvPr/>
        </p:nvSpPr>
        <p:spPr>
          <a:xfrm>
            <a:off x="3315658" y="4167908"/>
            <a:ext cx="5222414" cy="923330"/>
          </a:xfrm>
          <a:prstGeom prst="rect">
            <a:avLst/>
          </a:prstGeom>
          <a:noFill/>
        </p:spPr>
        <p:txBody>
          <a:bodyPr wrap="square" lIns="0" tIns="0" rIns="0" bIns="0" rtlCol="0">
            <a:spAutoFit/>
          </a:bodyPr>
          <a:lstStyle/>
          <a:p>
            <a:r>
              <a:rPr lang="es-PE" sz="1500" dirty="0"/>
              <a:t>Almacenamiento ROLAP con cero agregaciones, que permite ahorrar espacio de almacenamiento. El tiempo de respuesta es alto, pero las consultas son ocasionales, y procesamiento solo al momento de crear la partición.</a:t>
            </a:r>
          </a:p>
        </p:txBody>
      </p:sp>
      <p:sp>
        <p:nvSpPr>
          <p:cNvPr id="3" name="CuadroTexto 2"/>
          <p:cNvSpPr txBox="1"/>
          <p:nvPr/>
        </p:nvSpPr>
        <p:spPr>
          <a:xfrm>
            <a:off x="505925" y="915029"/>
            <a:ext cx="8134837" cy="1061829"/>
          </a:xfrm>
          <a:prstGeom prst="rect">
            <a:avLst/>
          </a:prstGeom>
          <a:noFill/>
        </p:spPr>
        <p:txBody>
          <a:bodyPr wrap="square" lIns="0" tIns="0" rIns="0" bIns="0" rtlCol="0">
            <a:spAutoFit/>
          </a:bodyPr>
          <a:lstStyle/>
          <a:p>
            <a:pPr>
              <a:spcAft>
                <a:spcPts val="600"/>
              </a:spcAft>
            </a:pPr>
            <a:r>
              <a:rPr lang="es-419" sz="1600" b="1" dirty="0"/>
              <a:t>CREACIÓN DE PARTICIONES EN EL CUBO</a:t>
            </a:r>
            <a:endParaRPr lang="es-ES" sz="1600" b="1" dirty="0"/>
          </a:p>
          <a:p>
            <a:r>
              <a:rPr lang="es-PE" sz="1600" dirty="0"/>
              <a:t>Se muestra un cubo con 3 particiones: Bienio 2018-2019, Bienio 2016-2017, Data histórica indicando el tipo de almacenamiento recomendado según la frecuencia de consulta de cada partición.</a:t>
            </a:r>
          </a:p>
        </p:txBody>
      </p:sp>
      <p:sp>
        <p:nvSpPr>
          <p:cNvPr id="7" name="Rectangle 5">
            <a:extLst>
              <a:ext uri="{FF2B5EF4-FFF2-40B4-BE49-F238E27FC236}">
                <a16:creationId xmlns:a16="http://schemas.microsoft.com/office/drawing/2014/main" id="{6E345887-BA35-31E1-784F-E82DA824BF56}"/>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1175477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110"/>
          <p:cNvGrpSpPr>
            <a:grpSpLocks/>
          </p:cNvGrpSpPr>
          <p:nvPr/>
        </p:nvGrpSpPr>
        <p:grpSpPr bwMode="auto">
          <a:xfrm flipH="1">
            <a:off x="4616957" y="1289900"/>
            <a:ext cx="903684" cy="775726"/>
            <a:chOff x="2449" y="2352"/>
            <a:chExt cx="230" cy="240"/>
          </a:xfrm>
          <a:solidFill>
            <a:srgbClr val="FE7828"/>
          </a:solidFill>
        </p:grpSpPr>
        <p:sp>
          <p:nvSpPr>
            <p:cNvPr id="53"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54"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5"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6"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7"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8"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9"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0"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1"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2"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3"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4"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5"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6"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7"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8"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9"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0"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1"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2"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3"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74" name="Group 110"/>
          <p:cNvGrpSpPr>
            <a:grpSpLocks/>
          </p:cNvGrpSpPr>
          <p:nvPr/>
        </p:nvGrpSpPr>
        <p:grpSpPr bwMode="auto">
          <a:xfrm flipH="1">
            <a:off x="1733397" y="1280697"/>
            <a:ext cx="903684" cy="775726"/>
            <a:chOff x="2449" y="2352"/>
            <a:chExt cx="230" cy="240"/>
          </a:xfrm>
          <a:solidFill>
            <a:srgbClr val="FE7828"/>
          </a:solidFill>
        </p:grpSpPr>
        <p:sp>
          <p:nvSpPr>
            <p:cNvPr id="75"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76"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7"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8"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9"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0"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1"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2"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3"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4"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5"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6"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7"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8"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9"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0"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1"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2"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3"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4"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5"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96" name="Group 110"/>
          <p:cNvGrpSpPr>
            <a:grpSpLocks/>
          </p:cNvGrpSpPr>
          <p:nvPr/>
        </p:nvGrpSpPr>
        <p:grpSpPr bwMode="auto">
          <a:xfrm flipH="1">
            <a:off x="7612371" y="1263657"/>
            <a:ext cx="903684" cy="775726"/>
            <a:chOff x="2449" y="2352"/>
            <a:chExt cx="230" cy="240"/>
          </a:xfrm>
          <a:solidFill>
            <a:srgbClr val="FE7828"/>
          </a:solidFill>
        </p:grpSpPr>
        <p:sp>
          <p:nvSpPr>
            <p:cNvPr id="97"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98"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9"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0"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1"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2"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3"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6"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7"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8"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9"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0"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1"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2"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4"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5"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6"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7"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8"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9"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0"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4" name="CuadroTexto 3"/>
          <p:cNvSpPr txBox="1"/>
          <p:nvPr/>
        </p:nvSpPr>
        <p:spPr>
          <a:xfrm>
            <a:off x="509208" y="1477861"/>
            <a:ext cx="1152880" cy="523220"/>
          </a:xfrm>
          <a:prstGeom prst="rect">
            <a:avLst/>
          </a:prstGeom>
          <a:noFill/>
        </p:spPr>
        <p:txBody>
          <a:bodyPr wrap="none" rtlCol="0">
            <a:spAutoFit/>
          </a:bodyPr>
          <a:lstStyle/>
          <a:p>
            <a:pPr algn="ctr"/>
            <a:r>
              <a:rPr lang="es-PE" sz="1400" b="1" dirty="0"/>
              <a:t>Bienio actual</a:t>
            </a:r>
          </a:p>
          <a:p>
            <a:pPr algn="ctr"/>
            <a:r>
              <a:rPr lang="es-PE" sz="1400" b="1" dirty="0"/>
              <a:t>(2018-2019)</a:t>
            </a:r>
          </a:p>
        </p:txBody>
      </p:sp>
      <p:sp>
        <p:nvSpPr>
          <p:cNvPr id="121" name="CuadroTexto 120"/>
          <p:cNvSpPr txBox="1"/>
          <p:nvPr/>
        </p:nvSpPr>
        <p:spPr>
          <a:xfrm>
            <a:off x="3284971" y="1503225"/>
            <a:ext cx="1299716" cy="523220"/>
          </a:xfrm>
          <a:prstGeom prst="rect">
            <a:avLst/>
          </a:prstGeom>
          <a:noFill/>
        </p:spPr>
        <p:txBody>
          <a:bodyPr wrap="none" rtlCol="0">
            <a:spAutoFit/>
          </a:bodyPr>
          <a:lstStyle/>
          <a:p>
            <a:pPr algn="ctr"/>
            <a:r>
              <a:rPr lang="es-PE" sz="1400" b="1" dirty="0"/>
              <a:t>Bienio anterior</a:t>
            </a:r>
          </a:p>
          <a:p>
            <a:pPr algn="ctr"/>
            <a:r>
              <a:rPr lang="es-PE" sz="1400" b="1" dirty="0"/>
              <a:t>(2016-2017)</a:t>
            </a:r>
          </a:p>
        </p:txBody>
      </p:sp>
      <p:sp>
        <p:nvSpPr>
          <p:cNvPr id="122" name="CuadroTexto 121"/>
          <p:cNvSpPr txBox="1"/>
          <p:nvPr/>
        </p:nvSpPr>
        <p:spPr>
          <a:xfrm>
            <a:off x="6292814" y="1437093"/>
            <a:ext cx="1213667" cy="307777"/>
          </a:xfrm>
          <a:prstGeom prst="rect">
            <a:avLst/>
          </a:prstGeom>
          <a:noFill/>
        </p:spPr>
        <p:txBody>
          <a:bodyPr wrap="none" rtlCol="0">
            <a:spAutoFit/>
          </a:bodyPr>
          <a:lstStyle/>
          <a:p>
            <a:pPr algn="ctr"/>
            <a:r>
              <a:rPr lang="es-PE" sz="1400" b="1" dirty="0"/>
              <a:t>Data histórica</a:t>
            </a:r>
          </a:p>
        </p:txBody>
      </p:sp>
      <p:sp>
        <p:nvSpPr>
          <p:cNvPr id="2" name="CuadroTexto 1"/>
          <p:cNvSpPr txBox="1"/>
          <p:nvPr/>
        </p:nvSpPr>
        <p:spPr>
          <a:xfrm>
            <a:off x="503236" y="2664589"/>
            <a:ext cx="8137521" cy="2554545"/>
          </a:xfrm>
          <a:prstGeom prst="rect">
            <a:avLst/>
          </a:prstGeom>
          <a:noFill/>
        </p:spPr>
        <p:txBody>
          <a:bodyPr wrap="square" lIns="0" tIns="0" rIns="0" bIns="0" rtlCol="0">
            <a:spAutoFit/>
          </a:bodyPr>
          <a:lstStyle/>
          <a:p>
            <a:pPr marL="179388" indent="-179388">
              <a:buFont typeface="Arial" panose="020B0604020202020204" pitchFamily="34" charset="0"/>
              <a:buChar char="•"/>
            </a:pPr>
            <a:r>
              <a:rPr lang="es-PE" sz="1600" dirty="0"/>
              <a:t>Las agregaciones son valores pre calculados que se almacenan en el cubo durante su procesamiento.</a:t>
            </a:r>
          </a:p>
          <a:p>
            <a:pPr marL="179388" indent="-179388">
              <a:buFont typeface="Arial" panose="020B0604020202020204" pitchFamily="34" charset="0"/>
              <a:buChar char="•"/>
            </a:pPr>
            <a:endParaRPr lang="es-PE" sz="1600" dirty="0"/>
          </a:p>
          <a:p>
            <a:pPr marL="179388" indent="-179388">
              <a:buFont typeface="Arial" panose="020B0604020202020204" pitchFamily="34" charset="0"/>
              <a:buChar char="•"/>
            </a:pPr>
            <a:r>
              <a:rPr lang="es-PE" sz="1600" dirty="0"/>
              <a:t>Mejoran los tiempos de respuesta en las consultas de resumen al tener las respuestas antes que se formulen las posibles preguntas. En la figura, las 2 particiones que tienen agregaciones tienen mejor tiempo de respuesta que la que no las tiene.</a:t>
            </a:r>
          </a:p>
          <a:p>
            <a:pPr marL="179388" indent="-179388">
              <a:buFont typeface="Arial" panose="020B0604020202020204" pitchFamily="34" charset="0"/>
              <a:buChar char="•"/>
            </a:pPr>
            <a:endParaRPr lang="es-PE" sz="1600" dirty="0"/>
          </a:p>
          <a:p>
            <a:pPr marL="179388" indent="-179388">
              <a:buFont typeface="Arial" panose="020B0604020202020204" pitchFamily="34" charset="0"/>
              <a:buChar char="•"/>
            </a:pPr>
            <a:r>
              <a:rPr lang="es-PE" sz="1600" dirty="0"/>
              <a:t>La creación de agregaciones requiere bastante tiempo de procesamiento, por lo que calcular todas las respuestas a todas las preguntas posibles puede ser oneroso, además del espacio de almacenamiento requerido.</a:t>
            </a:r>
          </a:p>
        </p:txBody>
      </p:sp>
      <p:grpSp>
        <p:nvGrpSpPr>
          <p:cNvPr id="113" name="Group 110"/>
          <p:cNvGrpSpPr>
            <a:grpSpLocks/>
          </p:cNvGrpSpPr>
          <p:nvPr/>
        </p:nvGrpSpPr>
        <p:grpSpPr bwMode="auto">
          <a:xfrm flipH="1">
            <a:off x="4130236" y="1971357"/>
            <a:ext cx="447592" cy="512123"/>
            <a:chOff x="2449" y="2352"/>
            <a:chExt cx="230" cy="240"/>
          </a:xfrm>
          <a:solidFill>
            <a:srgbClr val="FE7828"/>
          </a:solidFill>
        </p:grpSpPr>
        <p:sp>
          <p:nvSpPr>
            <p:cNvPr id="123"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124"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5"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6"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7"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8"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9"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0"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1"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2"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3"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4"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5"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6"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7"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8"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9"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0"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1"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2"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3"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144" name="Group 110"/>
          <p:cNvGrpSpPr>
            <a:grpSpLocks/>
          </p:cNvGrpSpPr>
          <p:nvPr/>
        </p:nvGrpSpPr>
        <p:grpSpPr bwMode="auto">
          <a:xfrm flipH="1">
            <a:off x="1221471" y="1949761"/>
            <a:ext cx="447592" cy="512123"/>
            <a:chOff x="2449" y="2352"/>
            <a:chExt cx="230" cy="240"/>
          </a:xfrm>
          <a:solidFill>
            <a:srgbClr val="FE7828"/>
          </a:solidFill>
        </p:grpSpPr>
        <p:sp>
          <p:nvSpPr>
            <p:cNvPr id="145"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146"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7"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8"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9"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0"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1"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2"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3"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4"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5"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6"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7"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8"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9"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0"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1"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2"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3"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4"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5"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3" name="CuadroTexto 2"/>
          <p:cNvSpPr txBox="1"/>
          <p:nvPr/>
        </p:nvSpPr>
        <p:spPr>
          <a:xfrm>
            <a:off x="1621280" y="2106450"/>
            <a:ext cx="1175065" cy="307777"/>
          </a:xfrm>
          <a:prstGeom prst="rect">
            <a:avLst/>
          </a:prstGeom>
          <a:noFill/>
        </p:spPr>
        <p:txBody>
          <a:bodyPr wrap="none" rtlCol="0">
            <a:spAutoFit/>
          </a:bodyPr>
          <a:lstStyle/>
          <a:p>
            <a:r>
              <a:rPr lang="es-PE" sz="1400" b="1" dirty="0"/>
              <a:t>Agregaciones</a:t>
            </a:r>
          </a:p>
        </p:txBody>
      </p:sp>
      <p:sp>
        <p:nvSpPr>
          <p:cNvPr id="166" name="CuadroTexto 165"/>
          <p:cNvSpPr txBox="1"/>
          <p:nvPr/>
        </p:nvSpPr>
        <p:spPr>
          <a:xfrm>
            <a:off x="4502929" y="2106727"/>
            <a:ext cx="1175065" cy="307777"/>
          </a:xfrm>
          <a:prstGeom prst="rect">
            <a:avLst/>
          </a:prstGeom>
          <a:noFill/>
        </p:spPr>
        <p:txBody>
          <a:bodyPr wrap="none" rtlCol="0">
            <a:spAutoFit/>
          </a:bodyPr>
          <a:lstStyle/>
          <a:p>
            <a:r>
              <a:rPr lang="es-PE" sz="1400" b="1" dirty="0"/>
              <a:t>Agregaciones</a:t>
            </a:r>
          </a:p>
        </p:txBody>
      </p:sp>
      <p:sp>
        <p:nvSpPr>
          <p:cNvPr id="6" name="CuadroTexto 5">
            <a:extLst>
              <a:ext uri="{FF2B5EF4-FFF2-40B4-BE49-F238E27FC236}">
                <a16:creationId xmlns:a16="http://schemas.microsoft.com/office/drawing/2014/main" id="{76F899DA-34E8-D413-7C27-9D1D818A331D}"/>
              </a:ext>
            </a:extLst>
          </p:cNvPr>
          <p:cNvSpPr txBox="1"/>
          <p:nvPr/>
        </p:nvSpPr>
        <p:spPr>
          <a:xfrm>
            <a:off x="511119" y="918992"/>
            <a:ext cx="3614323" cy="246221"/>
          </a:xfrm>
          <a:prstGeom prst="rect">
            <a:avLst/>
          </a:prstGeom>
          <a:noFill/>
        </p:spPr>
        <p:txBody>
          <a:bodyPr wrap="none" lIns="0" tIns="0" rIns="0" bIns="0" rtlCol="0">
            <a:spAutoFit/>
          </a:bodyPr>
          <a:lstStyle/>
          <a:p>
            <a:r>
              <a:rPr lang="es-419" sz="1600" b="1" dirty="0"/>
              <a:t>CREACIÓN DE AGREGACIONES EN EL CUBO</a:t>
            </a:r>
            <a:endParaRPr lang="es-ES" sz="1600" b="1" dirty="0"/>
          </a:p>
        </p:txBody>
      </p:sp>
      <p:sp>
        <p:nvSpPr>
          <p:cNvPr id="7" name="Rectangle 5">
            <a:extLst>
              <a:ext uri="{FF2B5EF4-FFF2-40B4-BE49-F238E27FC236}">
                <a16:creationId xmlns:a16="http://schemas.microsoft.com/office/drawing/2014/main" id="{8D223C9A-24CF-8FBB-8E43-2FAFCA0D301E}"/>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1473816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110"/>
          <p:cNvGrpSpPr>
            <a:grpSpLocks/>
          </p:cNvGrpSpPr>
          <p:nvPr/>
        </p:nvGrpSpPr>
        <p:grpSpPr bwMode="auto">
          <a:xfrm flipH="1">
            <a:off x="4616957" y="1500199"/>
            <a:ext cx="903684" cy="775726"/>
            <a:chOff x="2449" y="2352"/>
            <a:chExt cx="230" cy="240"/>
          </a:xfrm>
          <a:solidFill>
            <a:srgbClr val="FE7828"/>
          </a:solidFill>
        </p:grpSpPr>
        <p:sp>
          <p:nvSpPr>
            <p:cNvPr id="53"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54"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5"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6"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7"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8"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59"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0"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1"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2"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3"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4"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5"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6"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7"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8"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69"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0"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1"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2"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3"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74" name="Group 110"/>
          <p:cNvGrpSpPr>
            <a:grpSpLocks/>
          </p:cNvGrpSpPr>
          <p:nvPr/>
        </p:nvGrpSpPr>
        <p:grpSpPr bwMode="auto">
          <a:xfrm flipH="1">
            <a:off x="1733397" y="1490996"/>
            <a:ext cx="903684" cy="775726"/>
            <a:chOff x="2449" y="2352"/>
            <a:chExt cx="230" cy="240"/>
          </a:xfrm>
          <a:solidFill>
            <a:srgbClr val="FE7828"/>
          </a:solidFill>
        </p:grpSpPr>
        <p:sp>
          <p:nvSpPr>
            <p:cNvPr id="75"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76"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7"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8"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79"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0"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1"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2"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3"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4"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5"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6"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7"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8"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89"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0"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1"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2"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3"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4"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5"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96" name="Group 110"/>
          <p:cNvGrpSpPr>
            <a:grpSpLocks/>
          </p:cNvGrpSpPr>
          <p:nvPr/>
        </p:nvGrpSpPr>
        <p:grpSpPr bwMode="auto">
          <a:xfrm flipH="1">
            <a:off x="7612371" y="1473956"/>
            <a:ext cx="903684" cy="775726"/>
            <a:chOff x="2449" y="2352"/>
            <a:chExt cx="230" cy="240"/>
          </a:xfrm>
          <a:solidFill>
            <a:srgbClr val="FE7828"/>
          </a:solidFill>
        </p:grpSpPr>
        <p:sp>
          <p:nvSpPr>
            <p:cNvPr id="97"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98"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99"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0"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1"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2"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3"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6"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7"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8"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09"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0"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1"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2"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4"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5"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6"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7"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8"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19"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0"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4" name="CuadroTexto 3"/>
          <p:cNvSpPr txBox="1"/>
          <p:nvPr/>
        </p:nvSpPr>
        <p:spPr>
          <a:xfrm>
            <a:off x="509208" y="1688160"/>
            <a:ext cx="1152880" cy="523220"/>
          </a:xfrm>
          <a:prstGeom prst="rect">
            <a:avLst/>
          </a:prstGeom>
          <a:noFill/>
        </p:spPr>
        <p:txBody>
          <a:bodyPr wrap="none" rtlCol="0">
            <a:spAutoFit/>
          </a:bodyPr>
          <a:lstStyle/>
          <a:p>
            <a:pPr algn="ctr"/>
            <a:r>
              <a:rPr lang="es-PE" sz="1400" b="1" dirty="0"/>
              <a:t>Bienio actual</a:t>
            </a:r>
          </a:p>
          <a:p>
            <a:pPr algn="ctr"/>
            <a:r>
              <a:rPr lang="es-PE" sz="1400" b="1" dirty="0"/>
              <a:t>(2018-2019)</a:t>
            </a:r>
          </a:p>
        </p:txBody>
      </p:sp>
      <p:sp>
        <p:nvSpPr>
          <p:cNvPr id="121" name="CuadroTexto 120"/>
          <p:cNvSpPr txBox="1"/>
          <p:nvPr/>
        </p:nvSpPr>
        <p:spPr>
          <a:xfrm>
            <a:off x="3284971" y="1713524"/>
            <a:ext cx="1299716" cy="523220"/>
          </a:xfrm>
          <a:prstGeom prst="rect">
            <a:avLst/>
          </a:prstGeom>
          <a:noFill/>
        </p:spPr>
        <p:txBody>
          <a:bodyPr wrap="none" rtlCol="0">
            <a:spAutoFit/>
          </a:bodyPr>
          <a:lstStyle/>
          <a:p>
            <a:pPr algn="ctr"/>
            <a:r>
              <a:rPr lang="es-PE" sz="1400" b="1" dirty="0"/>
              <a:t>Bienio anterior</a:t>
            </a:r>
          </a:p>
          <a:p>
            <a:pPr algn="ctr"/>
            <a:r>
              <a:rPr lang="es-PE" sz="1400" b="1" dirty="0"/>
              <a:t>(2016-2017)</a:t>
            </a:r>
          </a:p>
        </p:txBody>
      </p:sp>
      <p:sp>
        <p:nvSpPr>
          <p:cNvPr id="122" name="CuadroTexto 121"/>
          <p:cNvSpPr txBox="1"/>
          <p:nvPr/>
        </p:nvSpPr>
        <p:spPr>
          <a:xfrm>
            <a:off x="6292814" y="1647392"/>
            <a:ext cx="1213667" cy="307777"/>
          </a:xfrm>
          <a:prstGeom prst="rect">
            <a:avLst/>
          </a:prstGeom>
          <a:noFill/>
        </p:spPr>
        <p:txBody>
          <a:bodyPr wrap="none" rtlCol="0">
            <a:spAutoFit/>
          </a:bodyPr>
          <a:lstStyle/>
          <a:p>
            <a:pPr algn="ctr"/>
            <a:r>
              <a:rPr lang="es-PE" sz="1400" b="1" dirty="0"/>
              <a:t>Data histórica</a:t>
            </a:r>
          </a:p>
        </p:txBody>
      </p:sp>
      <p:sp>
        <p:nvSpPr>
          <p:cNvPr id="2" name="CuadroTexto 1"/>
          <p:cNvSpPr txBox="1"/>
          <p:nvPr/>
        </p:nvSpPr>
        <p:spPr>
          <a:xfrm>
            <a:off x="506743" y="3125224"/>
            <a:ext cx="7995060" cy="1267458"/>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s-PE" sz="1600" dirty="0"/>
              <a:t>Debemos buscar equilibrio entre el espacio de almacenamiento requerido y el porcentaje de agregaciones a pre calcular.</a:t>
            </a:r>
          </a:p>
          <a:p>
            <a:pPr marL="180975" indent="-180975">
              <a:buFont typeface="Arial" panose="020B0604020202020204" pitchFamily="34" charset="0"/>
              <a:buChar char="•"/>
            </a:pPr>
            <a:endParaRPr lang="es-PE" sz="1600" dirty="0"/>
          </a:p>
          <a:p>
            <a:pPr marL="180975" indent="-180975">
              <a:buFont typeface="Arial" panose="020B0604020202020204" pitchFamily="34" charset="0"/>
              <a:buChar char="•"/>
            </a:pPr>
            <a:r>
              <a:rPr lang="es-PE" sz="1600" dirty="0"/>
              <a:t>Utilice el </a:t>
            </a:r>
            <a:r>
              <a:rPr lang="es-PE" sz="1600" b="1" dirty="0"/>
              <a:t>Asistente para Diseño de Agregaciones </a:t>
            </a:r>
            <a:r>
              <a:rPr lang="es-PE" sz="1600" dirty="0"/>
              <a:t>de SQL Server </a:t>
            </a:r>
            <a:r>
              <a:rPr lang="es-PE" sz="1600" dirty="0" err="1"/>
              <a:t>Analysis</a:t>
            </a:r>
            <a:r>
              <a:rPr lang="es-PE" sz="1600" dirty="0"/>
              <a:t> </a:t>
            </a:r>
            <a:r>
              <a:rPr lang="es-PE" sz="1600" dirty="0" err="1"/>
              <a:t>Services</a:t>
            </a:r>
            <a:r>
              <a:rPr lang="es-PE" sz="1600" dirty="0"/>
              <a:t> para optimizar el rendimiento de su cubo.</a:t>
            </a:r>
          </a:p>
        </p:txBody>
      </p:sp>
      <p:grpSp>
        <p:nvGrpSpPr>
          <p:cNvPr id="113" name="Group 110"/>
          <p:cNvGrpSpPr>
            <a:grpSpLocks/>
          </p:cNvGrpSpPr>
          <p:nvPr/>
        </p:nvGrpSpPr>
        <p:grpSpPr bwMode="auto">
          <a:xfrm flipH="1">
            <a:off x="4130236" y="2181656"/>
            <a:ext cx="447592" cy="512123"/>
            <a:chOff x="2449" y="2352"/>
            <a:chExt cx="230" cy="240"/>
          </a:xfrm>
          <a:solidFill>
            <a:srgbClr val="FE7828"/>
          </a:solidFill>
        </p:grpSpPr>
        <p:sp>
          <p:nvSpPr>
            <p:cNvPr id="123"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124"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5"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6"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7"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8"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29"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0"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1"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2"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3"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4"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5"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6"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7"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8"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39"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0"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1"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2"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3"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grpSp>
        <p:nvGrpSpPr>
          <p:cNvPr id="144" name="Group 110"/>
          <p:cNvGrpSpPr>
            <a:grpSpLocks/>
          </p:cNvGrpSpPr>
          <p:nvPr/>
        </p:nvGrpSpPr>
        <p:grpSpPr bwMode="auto">
          <a:xfrm flipH="1">
            <a:off x="1221471" y="2160060"/>
            <a:ext cx="447592" cy="512123"/>
            <a:chOff x="2449" y="2352"/>
            <a:chExt cx="230" cy="240"/>
          </a:xfrm>
          <a:solidFill>
            <a:srgbClr val="FE7828"/>
          </a:solidFill>
        </p:grpSpPr>
        <p:sp>
          <p:nvSpPr>
            <p:cNvPr id="145" name="AutoShape 111"/>
            <p:cNvSpPr>
              <a:spLocks noChangeArrowheads="1"/>
            </p:cNvSpPr>
            <p:nvPr/>
          </p:nvSpPr>
          <p:spPr bwMode="auto">
            <a:xfrm flipH="1">
              <a:off x="2452" y="2356"/>
              <a:ext cx="224" cy="231"/>
            </a:xfrm>
            <a:prstGeom prst="cube">
              <a:avLst>
                <a:gd name="adj" fmla="val 24995"/>
              </a:avLst>
            </a:prstGeom>
            <a:grp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sz="2400">
                  <a:solidFill>
                    <a:schemeClr val="tx1"/>
                  </a:solidFill>
                  <a:latin typeface="Times New Roman" panose="02020603050405020304" pitchFamily="18" charset="0"/>
                </a:defRPr>
              </a:lvl1pPr>
              <a:lvl2pPr marL="742950" indent="-285750" algn="r">
                <a:defRPr sz="2400">
                  <a:solidFill>
                    <a:schemeClr val="tx1"/>
                  </a:solidFill>
                  <a:latin typeface="Times New Roman" panose="02020603050405020304" pitchFamily="18" charset="0"/>
                </a:defRPr>
              </a:lvl2pPr>
              <a:lvl3pPr marL="1143000" indent="-228600" algn="r">
                <a:defRPr sz="2400">
                  <a:solidFill>
                    <a:schemeClr val="tx1"/>
                  </a:solidFill>
                  <a:latin typeface="Times New Roman" panose="02020603050405020304" pitchFamily="18" charset="0"/>
                </a:defRPr>
              </a:lvl3pPr>
              <a:lvl4pPr marL="1600200" indent="-228600" algn="r">
                <a:defRPr sz="2400">
                  <a:solidFill>
                    <a:schemeClr val="tx1"/>
                  </a:solidFill>
                  <a:latin typeface="Times New Roman" panose="02020603050405020304" pitchFamily="18" charset="0"/>
                </a:defRPr>
              </a:lvl4pPr>
              <a:lvl5pPr marL="2057400" indent="-228600" algn="r">
                <a:defRPr sz="2400">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a:solidFill>
                    <a:schemeClr val="tx1"/>
                  </a:solidFill>
                  <a:latin typeface="Times New Roman" panose="02020603050405020304" pitchFamily="18" charset="0"/>
                </a:defRPr>
              </a:lvl9pPr>
            </a:lstStyle>
            <a:p>
              <a:endParaRPr lang="es-PE" altLang="es-PE"/>
            </a:p>
          </p:txBody>
        </p:sp>
        <p:sp>
          <p:nvSpPr>
            <p:cNvPr id="146" name="Line 112"/>
            <p:cNvSpPr>
              <a:spLocks noChangeShapeType="1"/>
            </p:cNvSpPr>
            <p:nvPr/>
          </p:nvSpPr>
          <p:spPr bwMode="auto">
            <a:xfrm>
              <a:off x="2644" y="2412"/>
              <a:ext cx="0" cy="177"/>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7" name="Line 113"/>
            <p:cNvSpPr>
              <a:spLocks noChangeShapeType="1"/>
            </p:cNvSpPr>
            <p:nvPr/>
          </p:nvSpPr>
          <p:spPr bwMode="auto">
            <a:xfrm>
              <a:off x="2610" y="241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8" name="Line 114"/>
            <p:cNvSpPr>
              <a:spLocks noChangeShapeType="1"/>
            </p:cNvSpPr>
            <p:nvPr/>
          </p:nvSpPr>
          <p:spPr bwMode="auto">
            <a:xfrm>
              <a:off x="2486" y="2391"/>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49" name="Line 115"/>
            <p:cNvSpPr>
              <a:spLocks noChangeShapeType="1"/>
            </p:cNvSpPr>
            <p:nvPr/>
          </p:nvSpPr>
          <p:spPr bwMode="auto">
            <a:xfrm>
              <a:off x="2468" y="2372"/>
              <a:ext cx="0" cy="17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0" name="Line 116"/>
            <p:cNvSpPr>
              <a:spLocks noChangeShapeType="1"/>
            </p:cNvSpPr>
            <p:nvPr/>
          </p:nvSpPr>
          <p:spPr bwMode="auto">
            <a:xfrm flipH="1">
              <a:off x="2486" y="2394"/>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1" name="Line 117"/>
            <p:cNvSpPr>
              <a:spLocks noChangeShapeType="1"/>
            </p:cNvSpPr>
            <p:nvPr/>
          </p:nvSpPr>
          <p:spPr bwMode="auto">
            <a:xfrm flipH="1">
              <a:off x="2468" y="2372"/>
              <a:ext cx="176"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2" name="Line 118"/>
            <p:cNvSpPr>
              <a:spLocks noChangeShapeType="1"/>
            </p:cNvSpPr>
            <p:nvPr/>
          </p:nvSpPr>
          <p:spPr bwMode="auto">
            <a:xfrm flipH="1">
              <a:off x="2502" y="2448"/>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3" name="Line 119"/>
            <p:cNvSpPr>
              <a:spLocks noChangeShapeType="1"/>
            </p:cNvSpPr>
            <p:nvPr/>
          </p:nvSpPr>
          <p:spPr bwMode="auto">
            <a:xfrm flipH="1">
              <a:off x="2502" y="2485"/>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4" name="Line 120"/>
            <p:cNvSpPr>
              <a:spLocks noChangeShapeType="1"/>
            </p:cNvSpPr>
            <p:nvPr/>
          </p:nvSpPr>
          <p:spPr bwMode="auto">
            <a:xfrm flipH="1">
              <a:off x="2502" y="2522"/>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5" name="Line 121"/>
            <p:cNvSpPr>
              <a:spLocks noChangeShapeType="1"/>
            </p:cNvSpPr>
            <p:nvPr/>
          </p:nvSpPr>
          <p:spPr bwMode="auto">
            <a:xfrm flipH="1">
              <a:off x="2502" y="2559"/>
              <a:ext cx="177" cy="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6" name="Line 122"/>
            <p:cNvSpPr>
              <a:spLocks noChangeShapeType="1"/>
            </p:cNvSpPr>
            <p:nvPr/>
          </p:nvSpPr>
          <p:spPr bwMode="auto">
            <a:xfrm>
              <a:off x="2577" y="2412"/>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7" name="Line 123"/>
            <p:cNvSpPr>
              <a:spLocks noChangeShapeType="1"/>
            </p:cNvSpPr>
            <p:nvPr/>
          </p:nvSpPr>
          <p:spPr bwMode="auto">
            <a:xfrm>
              <a:off x="2544" y="2413"/>
              <a:ext cx="0" cy="17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8" name="Line 124"/>
            <p:cNvSpPr>
              <a:spLocks noChangeShapeType="1"/>
            </p:cNvSpPr>
            <p:nvPr/>
          </p:nvSpPr>
          <p:spPr bwMode="auto">
            <a:xfrm flipH="1" flipV="1">
              <a:off x="2591" y="2352"/>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59" name="Line 125"/>
            <p:cNvSpPr>
              <a:spLocks noChangeShapeType="1"/>
            </p:cNvSpPr>
            <p:nvPr/>
          </p:nvSpPr>
          <p:spPr bwMode="auto">
            <a:xfrm flipH="1" flipV="1">
              <a:off x="2558" y="2355"/>
              <a:ext cx="53"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0" name="Line 126"/>
            <p:cNvSpPr>
              <a:spLocks noChangeShapeType="1"/>
            </p:cNvSpPr>
            <p:nvPr/>
          </p:nvSpPr>
          <p:spPr bwMode="auto">
            <a:xfrm flipH="1" flipV="1">
              <a:off x="2525" y="2353"/>
              <a:ext cx="54"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1" name="Line 127"/>
            <p:cNvSpPr>
              <a:spLocks noChangeShapeType="1"/>
            </p:cNvSpPr>
            <p:nvPr/>
          </p:nvSpPr>
          <p:spPr bwMode="auto">
            <a:xfrm flipH="1" flipV="1">
              <a:off x="2492" y="2355"/>
              <a:ext cx="52" cy="58"/>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2" name="Line 128"/>
            <p:cNvSpPr>
              <a:spLocks noChangeShapeType="1"/>
            </p:cNvSpPr>
            <p:nvPr/>
          </p:nvSpPr>
          <p:spPr bwMode="auto">
            <a:xfrm flipH="1" flipV="1">
              <a:off x="2450" y="2388"/>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3" name="Line 129"/>
            <p:cNvSpPr>
              <a:spLocks noChangeShapeType="1"/>
            </p:cNvSpPr>
            <p:nvPr/>
          </p:nvSpPr>
          <p:spPr bwMode="auto">
            <a:xfrm flipH="1" flipV="1">
              <a:off x="2449" y="2422"/>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4" name="Line 130"/>
            <p:cNvSpPr>
              <a:spLocks noChangeShapeType="1"/>
            </p:cNvSpPr>
            <p:nvPr/>
          </p:nvSpPr>
          <p:spPr bwMode="auto">
            <a:xfrm flipH="1" flipV="1">
              <a:off x="2450" y="2463"/>
              <a:ext cx="53" cy="59"/>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sp>
          <p:nvSpPr>
            <p:cNvPr id="165" name="Line 131"/>
            <p:cNvSpPr>
              <a:spLocks noChangeShapeType="1"/>
            </p:cNvSpPr>
            <p:nvPr/>
          </p:nvSpPr>
          <p:spPr bwMode="auto">
            <a:xfrm flipH="1" flipV="1">
              <a:off x="2449" y="2495"/>
              <a:ext cx="53" cy="60"/>
            </a:xfrm>
            <a:prstGeom prst="line">
              <a:avLst/>
            </a:prstGeom>
            <a:grpFill/>
            <a:ln w="127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PE"/>
            </a:p>
          </p:txBody>
        </p:sp>
      </p:grpSp>
      <p:sp>
        <p:nvSpPr>
          <p:cNvPr id="3" name="CuadroTexto 2"/>
          <p:cNvSpPr txBox="1"/>
          <p:nvPr/>
        </p:nvSpPr>
        <p:spPr>
          <a:xfrm>
            <a:off x="1621280" y="2316749"/>
            <a:ext cx="1175065" cy="307777"/>
          </a:xfrm>
          <a:prstGeom prst="rect">
            <a:avLst/>
          </a:prstGeom>
          <a:noFill/>
        </p:spPr>
        <p:txBody>
          <a:bodyPr wrap="none" rtlCol="0">
            <a:spAutoFit/>
          </a:bodyPr>
          <a:lstStyle/>
          <a:p>
            <a:r>
              <a:rPr lang="es-PE" sz="1400" b="1" dirty="0"/>
              <a:t>Agregaciones</a:t>
            </a:r>
          </a:p>
        </p:txBody>
      </p:sp>
      <p:sp>
        <p:nvSpPr>
          <p:cNvPr id="166" name="CuadroTexto 165"/>
          <p:cNvSpPr txBox="1"/>
          <p:nvPr/>
        </p:nvSpPr>
        <p:spPr>
          <a:xfrm>
            <a:off x="4502929" y="2317026"/>
            <a:ext cx="1175065" cy="307777"/>
          </a:xfrm>
          <a:prstGeom prst="rect">
            <a:avLst/>
          </a:prstGeom>
          <a:noFill/>
        </p:spPr>
        <p:txBody>
          <a:bodyPr wrap="none" rtlCol="0">
            <a:spAutoFit/>
          </a:bodyPr>
          <a:lstStyle/>
          <a:p>
            <a:r>
              <a:rPr lang="es-PE" sz="1400" b="1" dirty="0"/>
              <a:t>Agregaciones</a:t>
            </a:r>
          </a:p>
        </p:txBody>
      </p:sp>
      <p:sp>
        <p:nvSpPr>
          <p:cNvPr id="6" name="CuadroTexto 5">
            <a:extLst>
              <a:ext uri="{FF2B5EF4-FFF2-40B4-BE49-F238E27FC236}">
                <a16:creationId xmlns:a16="http://schemas.microsoft.com/office/drawing/2014/main" id="{76F899DA-34E8-D413-7C27-9D1D818A331D}"/>
              </a:ext>
            </a:extLst>
          </p:cNvPr>
          <p:cNvSpPr txBox="1"/>
          <p:nvPr/>
        </p:nvSpPr>
        <p:spPr>
          <a:xfrm>
            <a:off x="504669" y="916242"/>
            <a:ext cx="3614323" cy="246221"/>
          </a:xfrm>
          <a:prstGeom prst="rect">
            <a:avLst/>
          </a:prstGeom>
          <a:noFill/>
        </p:spPr>
        <p:txBody>
          <a:bodyPr wrap="none" lIns="0" tIns="0" rIns="0" bIns="0" rtlCol="0">
            <a:spAutoFit/>
          </a:bodyPr>
          <a:lstStyle/>
          <a:p>
            <a:r>
              <a:rPr lang="es-419" sz="1600" b="1" dirty="0"/>
              <a:t>CREACIÓN DE AGREGACIONES EN EL CUBO</a:t>
            </a:r>
            <a:endParaRPr lang="es-ES" sz="1600" b="1" dirty="0"/>
          </a:p>
        </p:txBody>
      </p:sp>
      <p:sp>
        <p:nvSpPr>
          <p:cNvPr id="7" name="Rectangle 5">
            <a:extLst>
              <a:ext uri="{FF2B5EF4-FFF2-40B4-BE49-F238E27FC236}">
                <a16:creationId xmlns:a16="http://schemas.microsoft.com/office/drawing/2014/main" id="{1833EB5F-7EEE-4D70-C282-A4D425CD3732}"/>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2432285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4"/>
          <a:stretch>
            <a:fillRect/>
          </a:stretch>
        </p:blipFill>
        <p:spPr>
          <a:xfrm>
            <a:off x="503237" y="1515177"/>
            <a:ext cx="4418471" cy="3545882"/>
          </a:xfrm>
          <a:prstGeom prst="rect">
            <a:avLst/>
          </a:prstGeom>
        </p:spPr>
      </p:pic>
      <p:sp>
        <p:nvSpPr>
          <p:cNvPr id="7" name="CuadroTexto 6"/>
          <p:cNvSpPr txBox="1"/>
          <p:nvPr/>
        </p:nvSpPr>
        <p:spPr>
          <a:xfrm>
            <a:off x="5217246" y="1515177"/>
            <a:ext cx="3423518" cy="2800767"/>
          </a:xfrm>
          <a:prstGeom prst="rect">
            <a:avLst/>
          </a:prstGeom>
          <a:noFill/>
        </p:spPr>
        <p:txBody>
          <a:bodyPr wrap="square" lIns="0" tIns="0" rIns="0" bIns="0" rtlCol="0">
            <a:spAutoFit/>
          </a:bodyPr>
          <a:lstStyle/>
          <a:p>
            <a:pPr marL="179388" indent="-179388">
              <a:buFont typeface="Arial" panose="020B0604020202020204" pitchFamily="34" charset="0"/>
              <a:buChar char="•"/>
            </a:pPr>
            <a:r>
              <a:rPr lang="es-PE" sz="1600" dirty="0"/>
              <a:t>En la figura, se le pide al </a:t>
            </a:r>
            <a:r>
              <a:rPr lang="es-PE" sz="1600" b="1" dirty="0"/>
              <a:t>Asistente para diseñar agregaciones </a:t>
            </a:r>
            <a:r>
              <a:rPr lang="es-PE" sz="1600" dirty="0"/>
              <a:t>que diseñe agregaciones hasta que la </a:t>
            </a:r>
            <a:r>
              <a:rPr lang="es-PE" sz="1600" b="1" dirty="0"/>
              <a:t>ganancia en rendimiento </a:t>
            </a:r>
            <a:r>
              <a:rPr lang="es-PE" sz="1600" dirty="0"/>
              <a:t>sea del 37%. Al ejecutar el asistente, éste ha diseñado 8 agregaciones para una ganancia en rendimiento del 40%.</a:t>
            </a:r>
          </a:p>
          <a:p>
            <a:pPr marL="179388" indent="-179388">
              <a:buFont typeface="Arial" panose="020B0604020202020204" pitchFamily="34" charset="0"/>
              <a:buChar char="•"/>
            </a:pPr>
            <a:endParaRPr lang="es-PE" sz="1600" dirty="0"/>
          </a:p>
          <a:p>
            <a:pPr marL="179388" indent="-179388">
              <a:buFont typeface="Arial" panose="020B0604020202020204" pitchFamily="34" charset="0"/>
              <a:buChar char="•"/>
            </a:pPr>
            <a:r>
              <a:rPr lang="es-PE" sz="1600" dirty="0"/>
              <a:t>La gráfica muestra la ganancia en rendimiento contra el espacio de almacenamiento requerido.</a:t>
            </a:r>
          </a:p>
        </p:txBody>
      </p:sp>
      <p:sp>
        <p:nvSpPr>
          <p:cNvPr id="2" name="CuadroTexto 1">
            <a:extLst>
              <a:ext uri="{FF2B5EF4-FFF2-40B4-BE49-F238E27FC236}">
                <a16:creationId xmlns:a16="http://schemas.microsoft.com/office/drawing/2014/main" id="{EA7A0CCC-E4F8-CC40-83C3-898708820744}"/>
              </a:ext>
            </a:extLst>
          </p:cNvPr>
          <p:cNvSpPr txBox="1"/>
          <p:nvPr/>
        </p:nvSpPr>
        <p:spPr>
          <a:xfrm>
            <a:off x="503238" y="912813"/>
            <a:ext cx="3614323" cy="246221"/>
          </a:xfrm>
          <a:prstGeom prst="rect">
            <a:avLst/>
          </a:prstGeom>
          <a:noFill/>
        </p:spPr>
        <p:txBody>
          <a:bodyPr wrap="none" lIns="0" tIns="0" rIns="0" bIns="0" rtlCol="0">
            <a:spAutoFit/>
          </a:bodyPr>
          <a:lstStyle/>
          <a:p>
            <a:r>
              <a:rPr lang="es-419" sz="1600" b="1" dirty="0"/>
              <a:t>CREACIÓN DE AGREGACIONES EN EL CUBO</a:t>
            </a:r>
            <a:endParaRPr lang="es-ES" sz="1600" b="1" dirty="0"/>
          </a:p>
        </p:txBody>
      </p:sp>
      <p:sp>
        <p:nvSpPr>
          <p:cNvPr id="3" name="Rectangle 5">
            <a:extLst>
              <a:ext uri="{FF2B5EF4-FFF2-40B4-BE49-F238E27FC236}">
                <a16:creationId xmlns:a16="http://schemas.microsoft.com/office/drawing/2014/main" id="{DED285BF-A22C-3C13-8992-60AD0B24DADD}"/>
              </a:ext>
            </a:extLst>
          </p:cNvPr>
          <p:cNvSpPr/>
          <p:nvPr/>
        </p:nvSpPr>
        <p:spPr>
          <a:xfrm>
            <a:off x="503237" y="376836"/>
            <a:ext cx="3475139"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OPCIONES DE PROCESAMIENTO DEL CUBO</a:t>
            </a:r>
            <a:endParaRPr lang="es-PE" sz="1000" dirty="0">
              <a:solidFill>
                <a:schemeClr val="bg1">
                  <a:lumMod val="65000"/>
                </a:schemeClr>
              </a:solidFill>
              <a:latin typeface="Calibri" charset="0"/>
              <a:cs typeface="Calibri" charset="0"/>
            </a:endParaRPr>
          </a:p>
        </p:txBody>
      </p:sp>
    </p:spTree>
    <p:custDataLst>
      <p:tags r:id="rId1"/>
    </p:custDataLst>
    <p:extLst>
      <p:ext uri="{BB962C8B-B14F-4D97-AF65-F5344CB8AC3E}">
        <p14:creationId xmlns:p14="http://schemas.microsoft.com/office/powerpoint/2010/main" val="1976074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387798"/>
          </a:xfrm>
          <a:prstGeom prst="rect">
            <a:avLst/>
          </a:prstGeom>
          <a:noFill/>
        </p:spPr>
        <p:txBody>
          <a:bodyPr wrap="square" lIns="0" tIns="0" rIns="0" bIns="0" rtlCol="0">
            <a:spAutoFit/>
          </a:bodyPr>
          <a:lstStyle/>
          <a:p>
            <a:pPr>
              <a:lnSpc>
                <a:spcPct val="90000"/>
              </a:lnSpc>
              <a:spcBef>
                <a:spcPts val="1000"/>
              </a:spcBef>
              <a:defRPr/>
            </a:pPr>
            <a:r>
              <a:rPr lang="es-PE" sz="2800" b="1" dirty="0">
                <a:solidFill>
                  <a:schemeClr val="bg1"/>
                </a:solidFill>
                <a:latin typeface="Graphik Bold" panose="020B0503030202060203" pitchFamily="34" charset="77"/>
              </a:rPr>
              <a:t>EXPLORACIÓN DEL CUBO</a:t>
            </a: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2576233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5373278" y="1518830"/>
            <a:ext cx="3267485" cy="1969770"/>
          </a:xfrm>
          <a:prstGeom prst="rect">
            <a:avLst/>
          </a:prstGeom>
          <a:noFill/>
        </p:spPr>
        <p:txBody>
          <a:bodyPr wrap="square" lIns="0" tIns="0" rIns="0" bIns="0" rtlCol="0">
            <a:spAutoFit/>
          </a:bodyPr>
          <a:lstStyle/>
          <a:p>
            <a:pPr marL="177800" indent="-177800">
              <a:buFont typeface="Arial" panose="020B0604020202020204" pitchFamily="34" charset="0"/>
              <a:buChar char="•"/>
            </a:pPr>
            <a:r>
              <a:rPr lang="es-PE" sz="1600" dirty="0"/>
              <a:t>Aparte del </a:t>
            </a:r>
            <a:r>
              <a:rPr lang="es-PE" sz="1600" b="1" dirty="0"/>
              <a:t>Explorador</a:t>
            </a:r>
            <a:r>
              <a:rPr lang="es-PE" sz="1600" dirty="0"/>
              <a:t> de cubo de </a:t>
            </a:r>
            <a:r>
              <a:rPr lang="es-PE" sz="1600" b="1" dirty="0" err="1"/>
              <a:t>Analysis</a:t>
            </a:r>
            <a:r>
              <a:rPr lang="es-PE" sz="1600" b="1" dirty="0"/>
              <a:t> </a:t>
            </a:r>
            <a:r>
              <a:rPr lang="es-PE" sz="1600" b="1" dirty="0" err="1"/>
              <a:t>Services</a:t>
            </a:r>
            <a:r>
              <a:rPr lang="es-PE" sz="1600" dirty="0"/>
              <a:t>, una de las herramientas más a la mano para consultar un cubo es la herramienta </a:t>
            </a:r>
            <a:r>
              <a:rPr lang="es-PE" sz="1600" b="1" dirty="0"/>
              <a:t>Obtener datos </a:t>
            </a:r>
            <a:r>
              <a:rPr lang="es-PE" sz="1600" dirty="0"/>
              <a:t>de </a:t>
            </a:r>
            <a:r>
              <a:rPr lang="es-PE" sz="1600" b="1" dirty="0"/>
              <a:t>Microsoft Excel</a:t>
            </a:r>
            <a:r>
              <a:rPr lang="es-PE" sz="1600" dirty="0"/>
              <a:t>.</a:t>
            </a:r>
          </a:p>
          <a:p>
            <a:pPr marL="177800" indent="-177800">
              <a:buFont typeface="Arial" panose="020B0604020202020204" pitchFamily="34" charset="0"/>
              <a:buChar char="•"/>
            </a:pPr>
            <a:endParaRPr lang="es-PE" sz="1600" dirty="0"/>
          </a:p>
          <a:p>
            <a:pPr marL="177800" indent="-177800">
              <a:buFont typeface="Arial" panose="020B0604020202020204" pitchFamily="34" charset="0"/>
              <a:buChar char="•"/>
            </a:pPr>
            <a:r>
              <a:rPr lang="es-PE" sz="1600" dirty="0"/>
              <a:t>La tabla dinámica muestra las ventas anuales a los clientes de </a:t>
            </a:r>
            <a:r>
              <a:rPr lang="es-PE" sz="1600" dirty="0" err="1"/>
              <a:t>Brazil</a:t>
            </a:r>
            <a:r>
              <a:rPr lang="es-PE" sz="1600" dirty="0"/>
              <a:t>.</a:t>
            </a:r>
          </a:p>
        </p:txBody>
      </p:sp>
      <p:sp>
        <p:nvSpPr>
          <p:cNvPr id="2" name="CuadroTexto 1">
            <a:extLst>
              <a:ext uri="{FF2B5EF4-FFF2-40B4-BE49-F238E27FC236}">
                <a16:creationId xmlns:a16="http://schemas.microsoft.com/office/drawing/2014/main" id="{EA7A0CCC-E4F8-CC40-83C3-898708820744}"/>
              </a:ext>
            </a:extLst>
          </p:cNvPr>
          <p:cNvSpPr txBox="1"/>
          <p:nvPr/>
        </p:nvSpPr>
        <p:spPr>
          <a:xfrm>
            <a:off x="503238" y="912813"/>
            <a:ext cx="4026423" cy="246221"/>
          </a:xfrm>
          <a:prstGeom prst="rect">
            <a:avLst/>
          </a:prstGeom>
          <a:noFill/>
        </p:spPr>
        <p:txBody>
          <a:bodyPr wrap="none" lIns="0" tIns="0" rIns="0" bIns="0" rtlCol="0">
            <a:spAutoFit/>
          </a:bodyPr>
          <a:lstStyle/>
          <a:p>
            <a:r>
              <a:rPr lang="es-419" sz="1600" b="1" dirty="0"/>
              <a:t>CONSULTA DEL CUBO DESDE MICROSOFT EXCEL</a:t>
            </a:r>
            <a:endParaRPr lang="es-ES" sz="1600" b="1" dirty="0"/>
          </a:p>
        </p:txBody>
      </p:sp>
      <p:pic>
        <p:nvPicPr>
          <p:cNvPr id="4" name="Imagen 3">
            <a:extLst>
              <a:ext uri="{FF2B5EF4-FFF2-40B4-BE49-F238E27FC236}">
                <a16:creationId xmlns:a16="http://schemas.microsoft.com/office/drawing/2014/main" id="{FA2D6C85-9C78-99E0-F3F6-5379BA62DEAD}"/>
              </a:ext>
            </a:extLst>
          </p:cNvPr>
          <p:cNvPicPr>
            <a:picLocks noChangeAspect="1"/>
          </p:cNvPicPr>
          <p:nvPr/>
        </p:nvPicPr>
        <p:blipFill>
          <a:blip r:embed="rId4"/>
          <a:stretch>
            <a:fillRect/>
          </a:stretch>
        </p:blipFill>
        <p:spPr>
          <a:xfrm>
            <a:off x="543693" y="1518830"/>
            <a:ext cx="4548092" cy="2779794"/>
          </a:xfrm>
          <a:prstGeom prst="rect">
            <a:avLst/>
          </a:prstGeom>
        </p:spPr>
      </p:pic>
      <p:sp>
        <p:nvSpPr>
          <p:cNvPr id="3" name="Rectangle 5">
            <a:extLst>
              <a:ext uri="{FF2B5EF4-FFF2-40B4-BE49-F238E27FC236}">
                <a16:creationId xmlns:a16="http://schemas.microsoft.com/office/drawing/2014/main" id="{A151C3B4-727C-D73D-B010-381AA19FD42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rPr>
              <a:t>EXPLORACIÓN DEL CUBO</a:t>
            </a:r>
            <a:r>
              <a:rPr lang="es-PE" sz="1000" dirty="0">
                <a:solidFill>
                  <a:schemeClr val="bg1">
                    <a:lumMod val="65000"/>
                  </a:schemeClr>
                </a:solidFill>
                <a:latin typeface="Calibri" charset="0"/>
                <a:cs typeface="Calibri" charset="0"/>
              </a:rPr>
              <a:t> </a:t>
            </a:r>
          </a:p>
        </p:txBody>
      </p:sp>
    </p:spTree>
    <p:custDataLst>
      <p:tags r:id="rId1"/>
    </p:custDataLst>
    <p:extLst>
      <p:ext uri="{BB962C8B-B14F-4D97-AF65-F5344CB8AC3E}">
        <p14:creationId xmlns:p14="http://schemas.microsoft.com/office/powerpoint/2010/main" val="3899094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4" name="Grupo 3">
            <a:extLst>
              <a:ext uri="{FF2B5EF4-FFF2-40B4-BE49-F238E27FC236}">
                <a16:creationId xmlns:a16="http://schemas.microsoft.com/office/drawing/2014/main" id="{8A495D6D-73E7-D64C-AD5A-8212D6B1E2F3}"/>
              </a:ext>
            </a:extLst>
          </p:cNvPr>
          <p:cNvGrpSpPr/>
          <p:nvPr/>
        </p:nvGrpSpPr>
        <p:grpSpPr>
          <a:xfrm>
            <a:off x="2506315" y="2194222"/>
            <a:ext cx="4581728" cy="1326557"/>
            <a:chOff x="2403187" y="2211377"/>
            <a:chExt cx="4581728" cy="1326557"/>
          </a:xfrm>
        </p:grpSpPr>
        <p:sp>
          <p:nvSpPr>
            <p:cNvPr id="6" name="CuadroTexto 5">
              <a:extLst>
                <a:ext uri="{FF2B5EF4-FFF2-40B4-BE49-F238E27FC236}">
                  <a16:creationId xmlns:a16="http://schemas.microsoft.com/office/drawing/2014/main" id="{682CC9F8-A9FF-BF41-B987-57AFB7D160FE}"/>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8" name="Imagen 7">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10" name="Image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3161235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object 7"/>
          <p:cNvSpPr txBox="1"/>
          <p:nvPr/>
        </p:nvSpPr>
        <p:spPr>
          <a:xfrm>
            <a:off x="1279544" y="912813"/>
            <a:ext cx="5385143" cy="2369880"/>
          </a:xfrm>
          <a:prstGeom prst="rect">
            <a:avLst/>
          </a:prstGeom>
        </p:spPr>
        <p:txBody>
          <a:bodyPr vert="horz" wrap="square" lIns="0" tIns="0" rIns="0" bIns="0" rtlCol="0">
            <a:spAutoFit/>
          </a:bodyPr>
          <a:lstStyle/>
          <a:p>
            <a:r>
              <a:rPr lang="es-PE" sz="1400" dirty="0">
                <a:latin typeface="+mj-lt"/>
                <a:ea typeface="Calibri" panose="020F0502020204030204" pitchFamily="34" charset="0"/>
                <a:cs typeface="Source Sans Pro" panose="020B0604020202020204" charset="0"/>
              </a:rPr>
              <a:t>Diseñar un cubo implica definir cuáles son los </a:t>
            </a:r>
            <a:r>
              <a:rPr lang="es-PE" sz="1400" b="1" dirty="0">
                <a:latin typeface="+mj-lt"/>
                <a:ea typeface="Calibri" panose="020F0502020204030204" pitchFamily="34" charset="0"/>
                <a:cs typeface="Source Sans Pro" panose="020B0604020202020204" charset="0"/>
              </a:rPr>
              <a:t>atributos</a:t>
            </a:r>
            <a:r>
              <a:rPr lang="es-PE" sz="1400" dirty="0">
                <a:latin typeface="+mj-lt"/>
                <a:ea typeface="Calibri" panose="020F0502020204030204" pitchFamily="34" charset="0"/>
                <a:cs typeface="Source Sans Pro" panose="020B0604020202020204" charset="0"/>
              </a:rPr>
              <a:t> que contribuyen a la generación de los informes requeridos por los usuarios de negocio.</a:t>
            </a:r>
          </a:p>
          <a:p>
            <a:endParaRPr lang="es-PE" sz="1400" dirty="0">
              <a:latin typeface="+mj-lt"/>
              <a:ea typeface="Calibri" panose="020F0502020204030204" pitchFamily="34" charset="0"/>
              <a:cs typeface="Source Sans Pro" panose="020B0604020202020204" charset="0"/>
            </a:endParaRPr>
          </a:p>
          <a:p>
            <a:r>
              <a:rPr lang="es-PE" sz="1400" dirty="0">
                <a:latin typeface="+mj-lt"/>
                <a:ea typeface="Calibri" panose="020F0502020204030204" pitchFamily="34" charset="0"/>
                <a:cs typeface="Source Sans Pro" panose="020B0604020202020204" charset="0"/>
              </a:rPr>
              <a:t>Diseñar un cubo cuyo rendimiento sea el adecuado implica buscar el equilibrio entre los requerimientos de </a:t>
            </a:r>
            <a:r>
              <a:rPr lang="es-PE" sz="1400" b="1" dirty="0">
                <a:latin typeface="+mj-lt"/>
                <a:ea typeface="Calibri" panose="020F0502020204030204" pitchFamily="34" charset="0"/>
                <a:cs typeface="Source Sans Pro" panose="020B0604020202020204" charset="0"/>
              </a:rPr>
              <a:t>almacenamiento</a:t>
            </a:r>
            <a:r>
              <a:rPr lang="es-PE" sz="1400" dirty="0">
                <a:latin typeface="+mj-lt"/>
                <a:ea typeface="Calibri" panose="020F0502020204030204" pitchFamily="34" charset="0"/>
                <a:cs typeface="Source Sans Pro" panose="020B0604020202020204" charset="0"/>
              </a:rPr>
              <a:t> y el porcentaje de </a:t>
            </a:r>
            <a:r>
              <a:rPr lang="es-PE" sz="1400" b="1" dirty="0">
                <a:latin typeface="+mj-lt"/>
                <a:ea typeface="Calibri" panose="020F0502020204030204" pitchFamily="34" charset="0"/>
                <a:cs typeface="Source Sans Pro" panose="020B0604020202020204" charset="0"/>
              </a:rPr>
              <a:t>agregaciones</a:t>
            </a:r>
            <a:r>
              <a:rPr lang="es-PE" sz="1400" dirty="0">
                <a:latin typeface="+mj-lt"/>
                <a:ea typeface="Calibri" panose="020F0502020204030204" pitchFamily="34" charset="0"/>
                <a:cs typeface="Source Sans Pro" panose="020B0604020202020204" charset="0"/>
              </a:rPr>
              <a:t> a crear en el cubo.</a:t>
            </a:r>
          </a:p>
          <a:p>
            <a:endParaRPr lang="es-PE" sz="1400" dirty="0">
              <a:latin typeface="+mj-lt"/>
              <a:ea typeface="Calibri" panose="020F0502020204030204" pitchFamily="34" charset="0"/>
              <a:cs typeface="Source Sans Pro" panose="020B0604020202020204" charset="0"/>
            </a:endParaRPr>
          </a:p>
          <a:p>
            <a:r>
              <a:rPr lang="es-PE" sz="1400" dirty="0">
                <a:latin typeface="+mj-lt"/>
                <a:ea typeface="Calibri" panose="020F0502020204030204" pitchFamily="34" charset="0"/>
                <a:cs typeface="Source Sans Pro" panose="020B0604020202020204" charset="0"/>
              </a:rPr>
              <a:t>Una forma de mejorar el rendimiento es crear </a:t>
            </a:r>
            <a:r>
              <a:rPr lang="es-PE" sz="1400" b="1" dirty="0">
                <a:latin typeface="+mj-lt"/>
                <a:ea typeface="Calibri" panose="020F0502020204030204" pitchFamily="34" charset="0"/>
                <a:cs typeface="Source Sans Pro" panose="020B0604020202020204" charset="0"/>
              </a:rPr>
              <a:t>particiones</a:t>
            </a:r>
            <a:r>
              <a:rPr lang="es-PE" sz="1400" dirty="0">
                <a:latin typeface="+mj-lt"/>
                <a:ea typeface="Calibri" panose="020F0502020204030204" pitchFamily="34" charset="0"/>
                <a:cs typeface="Source Sans Pro" panose="020B0604020202020204" charset="0"/>
              </a:rPr>
              <a:t> en el cubo según la frecuencia de uso de los datos, y definir </a:t>
            </a:r>
            <a:r>
              <a:rPr lang="es-PE" sz="1400" b="1" dirty="0">
                <a:latin typeface="+mj-lt"/>
                <a:ea typeface="Calibri" panose="020F0502020204030204" pitchFamily="34" charset="0"/>
                <a:cs typeface="Source Sans Pro" panose="020B0604020202020204" charset="0"/>
              </a:rPr>
              <a:t>modos de almacenamiento</a:t>
            </a:r>
            <a:r>
              <a:rPr lang="es-PE" sz="1400" dirty="0">
                <a:latin typeface="+mj-lt"/>
                <a:ea typeface="Calibri" panose="020F0502020204030204" pitchFamily="34" charset="0"/>
                <a:cs typeface="Source Sans Pro" panose="020B0604020202020204" charset="0"/>
              </a:rPr>
              <a:t> y </a:t>
            </a:r>
            <a:r>
              <a:rPr lang="es-PE" sz="1400" b="1" dirty="0">
                <a:latin typeface="+mj-lt"/>
                <a:ea typeface="Calibri" panose="020F0502020204030204" pitchFamily="34" charset="0"/>
                <a:cs typeface="Source Sans Pro" panose="020B0604020202020204" charset="0"/>
              </a:rPr>
              <a:t>porcentaje de agregaciones </a:t>
            </a:r>
            <a:r>
              <a:rPr lang="es-PE" sz="1400" dirty="0">
                <a:latin typeface="+mj-lt"/>
                <a:ea typeface="Calibri" panose="020F0502020204030204" pitchFamily="34" charset="0"/>
                <a:cs typeface="Source Sans Pro" panose="020B0604020202020204" charset="0"/>
              </a:rPr>
              <a:t>adecuados a los requerimientos de información de los usuarios.</a:t>
            </a:r>
          </a:p>
        </p:txBody>
      </p:sp>
      <p:pic>
        <p:nvPicPr>
          <p:cNvPr id="8" name="Imagen 7"/>
          <p:cNvPicPr>
            <a:picLocks noChangeAspect="1"/>
          </p:cNvPicPr>
          <p:nvPr/>
        </p:nvPicPr>
        <p:blipFill>
          <a:blip r:embed="rId3"/>
          <a:stretch>
            <a:fillRect/>
          </a:stretch>
        </p:blipFill>
        <p:spPr>
          <a:xfrm>
            <a:off x="1011260" y="954885"/>
            <a:ext cx="114138" cy="117546"/>
          </a:xfrm>
          <a:prstGeom prst="rect">
            <a:avLst/>
          </a:prstGeom>
        </p:spPr>
      </p:pic>
      <p:pic>
        <p:nvPicPr>
          <p:cNvPr id="15" name="Imagen 14"/>
          <p:cNvPicPr>
            <a:picLocks noChangeAspect="1"/>
          </p:cNvPicPr>
          <p:nvPr/>
        </p:nvPicPr>
        <p:blipFill>
          <a:blip r:embed="rId3"/>
          <a:stretch>
            <a:fillRect/>
          </a:stretch>
        </p:blipFill>
        <p:spPr>
          <a:xfrm>
            <a:off x="1011260" y="1578545"/>
            <a:ext cx="114138" cy="117546"/>
          </a:xfrm>
          <a:prstGeom prst="rect">
            <a:avLst/>
          </a:prstGeom>
        </p:spPr>
      </p:pic>
      <p:sp>
        <p:nvSpPr>
          <p:cNvPr id="16" name="Rectángulo 15"/>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 name="Imagen 1"/>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pic>
        <p:nvPicPr>
          <p:cNvPr id="5" name="Imagen 4">
            <a:extLst>
              <a:ext uri="{FF2B5EF4-FFF2-40B4-BE49-F238E27FC236}">
                <a16:creationId xmlns:a16="http://schemas.microsoft.com/office/drawing/2014/main" id="{3A9803F0-9407-85A4-39AF-7A20CD1AE5AB}"/>
              </a:ext>
            </a:extLst>
          </p:cNvPr>
          <p:cNvPicPr>
            <a:picLocks noChangeAspect="1"/>
          </p:cNvPicPr>
          <p:nvPr/>
        </p:nvPicPr>
        <p:blipFill>
          <a:blip r:embed="rId3"/>
          <a:stretch>
            <a:fillRect/>
          </a:stretch>
        </p:blipFill>
        <p:spPr>
          <a:xfrm>
            <a:off x="1011260" y="2436126"/>
            <a:ext cx="114138" cy="117546"/>
          </a:xfrm>
          <a:prstGeom prst="rect">
            <a:avLst/>
          </a:prstGeom>
        </p:spPr>
      </p:pic>
    </p:spTree>
    <p:extLst>
      <p:ext uri="{BB962C8B-B14F-4D97-AF65-F5344CB8AC3E}">
        <p14:creationId xmlns:p14="http://schemas.microsoft.com/office/powerpoint/2010/main" val="4093090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0" y="0"/>
            <a:ext cx="9144000" cy="5715000"/>
          </a:xfrm>
          <a:prstGeom prst="rect">
            <a:avLst/>
          </a:prstGeom>
          <a:solidFill>
            <a:srgbClr val="8DCB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CuadroTexto 6">
            <a:extLst>
              <a:ext uri="{FF2B5EF4-FFF2-40B4-BE49-F238E27FC236}">
                <a16:creationId xmlns:a16="http://schemas.microsoft.com/office/drawing/2014/main" id="{4C9F27E8-E0F0-CF48-B2E7-A2617B9B1DEA}"/>
              </a:ext>
            </a:extLst>
          </p:cNvPr>
          <p:cNvSpPr txBox="1"/>
          <p:nvPr/>
        </p:nvSpPr>
        <p:spPr>
          <a:xfrm>
            <a:off x="2519363"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BIBLIOGRAFÍA</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6" name="Imagen 5">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528619" y="2194222"/>
            <a:ext cx="202176" cy="208211"/>
          </a:xfrm>
          <a:prstGeom prst="rect">
            <a:avLst/>
          </a:prstGeom>
        </p:spPr>
      </p:pic>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6970"/>
            <a:ext cx="2072061" cy="3898064"/>
          </a:xfrm>
          <a:prstGeom prst="rect">
            <a:avLst/>
          </a:prstGeom>
        </p:spPr>
      </p:pic>
    </p:spTree>
    <p:extLst>
      <p:ext uri="{BB962C8B-B14F-4D97-AF65-F5344CB8AC3E}">
        <p14:creationId xmlns:p14="http://schemas.microsoft.com/office/powerpoint/2010/main" val="596676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 name="object 7"/>
          <p:cNvSpPr txBox="1"/>
          <p:nvPr/>
        </p:nvSpPr>
        <p:spPr>
          <a:xfrm>
            <a:off x="1279008" y="917823"/>
            <a:ext cx="5032569" cy="2369880"/>
          </a:xfrm>
          <a:prstGeom prst="rect">
            <a:avLst/>
          </a:prstGeom>
        </p:spPr>
        <p:txBody>
          <a:bodyPr vert="horz" wrap="square" lIns="0" tIns="0" rIns="0" bIns="0" rtlCol="0">
            <a:spAutoFit/>
          </a:bodyPr>
          <a:lstStyle/>
          <a:p>
            <a:pPr marL="11724" marR="0" lvl="0" algn="l" defTabSz="457200" rtl="0" eaLnBrk="1" fontAlgn="auto" latinLnBrk="0" hangingPunct="1">
              <a:lnSpc>
                <a:spcPct val="100000"/>
              </a:lnSpc>
              <a:spcBef>
                <a:spcPts val="0"/>
              </a:spcBef>
              <a:spcAft>
                <a:spcPts val="0"/>
              </a:spcAft>
              <a:buClrTx/>
              <a:buSzPct val="100000"/>
              <a:tabLst>
                <a:tab pos="121284" algn="l"/>
              </a:tabLst>
              <a:defRPr/>
            </a:pP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Qué</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es OLAP?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Recuperado</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de https://www.ibm.com/mx-es/topics/olap.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Fecha</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de consulta: 17 de mayo del 2024</a:t>
            </a:r>
          </a:p>
          <a:p>
            <a:pPr marL="11724" marR="0" lvl="0" algn="l" defTabSz="457200" rtl="0" eaLnBrk="1" fontAlgn="auto" latinLnBrk="0" hangingPunct="1">
              <a:lnSpc>
                <a:spcPct val="100000"/>
              </a:lnSpc>
              <a:spcBef>
                <a:spcPts val="0"/>
              </a:spcBef>
              <a:spcAft>
                <a:spcPts val="0"/>
              </a:spcAft>
              <a:buClrTx/>
              <a:buSzPct val="100000"/>
              <a:tabLst>
                <a:tab pos="121284" algn="l"/>
              </a:tabLst>
              <a:defRPr/>
            </a:pPr>
            <a:endParaRPr kumimoji="0" lang="en-US" sz="1400" b="0" i="0" u="none" strike="noStrike" kern="1200" cap="none" spc="-10" normalizeH="0" baseline="0" noProof="0" dirty="0">
              <a:ln>
                <a:noFill/>
              </a:ln>
              <a:solidFill>
                <a:srgbClr val="262626"/>
              </a:solidFill>
              <a:effectLst/>
              <a:uLnTx/>
              <a:uFillTx/>
              <a:latin typeface="Calibri"/>
              <a:ea typeface="+mn-ea"/>
              <a:cs typeface="Source Sans Pro"/>
            </a:endParaRPr>
          </a:p>
          <a:p>
            <a:pPr marL="11724" marR="0" lvl="0" algn="l" defTabSz="457200" rtl="0" eaLnBrk="1" fontAlgn="auto" latinLnBrk="0" hangingPunct="1">
              <a:lnSpc>
                <a:spcPct val="100000"/>
              </a:lnSpc>
              <a:spcBef>
                <a:spcPts val="0"/>
              </a:spcBef>
              <a:spcAft>
                <a:spcPts val="0"/>
              </a:spcAft>
              <a:buClrTx/>
              <a:buSzPct val="100000"/>
              <a:tabLst>
                <a:tab pos="121284" algn="l"/>
              </a:tabLst>
              <a:defRPr/>
            </a:pP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Qué</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es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el</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procesamiento</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analítico</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en</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linea</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Recuperado</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de https://aws.amazon.com/es/what-is/olap/.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Fecha</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de consulta: 17 de mayo del 2024</a:t>
            </a:r>
          </a:p>
          <a:p>
            <a:pPr marL="11724" marR="0" lvl="0" algn="l" defTabSz="457200" rtl="0" eaLnBrk="1" fontAlgn="auto" latinLnBrk="0" hangingPunct="1">
              <a:lnSpc>
                <a:spcPct val="100000"/>
              </a:lnSpc>
              <a:spcBef>
                <a:spcPts val="0"/>
              </a:spcBef>
              <a:spcAft>
                <a:spcPts val="0"/>
              </a:spcAft>
              <a:buClrTx/>
              <a:buSzPct val="100000"/>
              <a:tabLst>
                <a:tab pos="121284" algn="l"/>
              </a:tabLst>
              <a:defRPr/>
            </a:pPr>
            <a:endParaRPr kumimoji="0" lang="en-US" sz="1400" b="0" i="0" u="none" strike="noStrike" kern="1200" cap="none" spc="-10" normalizeH="0" baseline="0" noProof="0" dirty="0">
              <a:ln>
                <a:noFill/>
              </a:ln>
              <a:solidFill>
                <a:srgbClr val="262626"/>
              </a:solidFill>
              <a:effectLst/>
              <a:uLnTx/>
              <a:uFillTx/>
              <a:latin typeface="Calibri"/>
              <a:ea typeface="+mn-ea"/>
              <a:cs typeface="Source Sans Pro"/>
            </a:endParaRPr>
          </a:p>
          <a:p>
            <a:pPr marL="11724" marR="0" lvl="0" algn="l" defTabSz="457200" rtl="0" eaLnBrk="1" fontAlgn="auto" latinLnBrk="0" hangingPunct="1">
              <a:lnSpc>
                <a:spcPct val="100000"/>
              </a:lnSpc>
              <a:spcBef>
                <a:spcPts val="0"/>
              </a:spcBef>
              <a:spcAft>
                <a:spcPts val="0"/>
              </a:spcAft>
              <a:buClrTx/>
              <a:buSzPct val="100000"/>
              <a:tabLst>
                <a:tab pos="121284" algn="l"/>
              </a:tabLst>
              <a:defRPr/>
            </a:pP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Componentes</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de un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cubo</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OLAP.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Recuperado</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de https://learn.microsoft.com/es-es/system-center/scsm/olap-cubes-overview?view=sc-sm-2022. </a:t>
            </a:r>
            <a:r>
              <a:rPr kumimoji="0" lang="en-US" sz="1400" b="0" i="0" u="none" strike="noStrike" kern="1200" cap="none" spc="-10" normalizeH="0" baseline="0" noProof="0" dirty="0" err="1">
                <a:ln>
                  <a:noFill/>
                </a:ln>
                <a:solidFill>
                  <a:srgbClr val="262626"/>
                </a:solidFill>
                <a:effectLst/>
                <a:uLnTx/>
                <a:uFillTx/>
                <a:latin typeface="Calibri"/>
                <a:ea typeface="+mn-ea"/>
                <a:cs typeface="Source Sans Pro"/>
              </a:rPr>
              <a:t>Fecha</a:t>
            </a:r>
            <a:r>
              <a:rPr kumimoji="0" lang="en-US" sz="1400" b="0" i="0" u="none" strike="noStrike" kern="1200" cap="none" spc="-10" normalizeH="0" baseline="0" noProof="0" dirty="0">
                <a:ln>
                  <a:noFill/>
                </a:ln>
                <a:solidFill>
                  <a:srgbClr val="262626"/>
                </a:solidFill>
                <a:effectLst/>
                <a:uLnTx/>
                <a:uFillTx/>
                <a:latin typeface="Calibri"/>
                <a:ea typeface="+mn-ea"/>
                <a:cs typeface="Source Sans Pro"/>
              </a:rPr>
              <a:t> de consulta: 17 de mayo del 2024</a:t>
            </a:r>
          </a:p>
          <a:p>
            <a:pPr marL="11724" marR="0" lvl="0" algn="l" defTabSz="457200" rtl="0" eaLnBrk="1" fontAlgn="auto" latinLnBrk="0" hangingPunct="1">
              <a:lnSpc>
                <a:spcPct val="100000"/>
              </a:lnSpc>
              <a:spcBef>
                <a:spcPts val="0"/>
              </a:spcBef>
              <a:spcAft>
                <a:spcPts val="0"/>
              </a:spcAft>
              <a:buClrTx/>
              <a:buSzPct val="100000"/>
              <a:tabLst>
                <a:tab pos="121284" algn="l"/>
              </a:tabLst>
              <a:defRPr/>
            </a:pPr>
            <a:endParaRPr kumimoji="0" lang="es-ES_tradnl" sz="1400" b="0" i="0" strike="noStrike" kern="1200" cap="none" spc="-10" normalizeH="0" baseline="0" noProof="0" dirty="0">
              <a:ln>
                <a:noFill/>
              </a:ln>
              <a:effectLst/>
              <a:uLnTx/>
              <a:uFillTx/>
              <a:latin typeface="Calibri"/>
              <a:ea typeface="+mn-ea"/>
              <a:cs typeface="Source Sans Pro"/>
            </a:endParaRPr>
          </a:p>
        </p:txBody>
      </p:sp>
      <p:pic>
        <p:nvPicPr>
          <p:cNvPr id="9" name="Imagen 8"/>
          <p:cNvPicPr>
            <a:picLocks noChangeAspect="1"/>
          </p:cNvPicPr>
          <p:nvPr/>
        </p:nvPicPr>
        <p:blipFill>
          <a:blip r:embed="rId2"/>
          <a:stretch>
            <a:fillRect/>
          </a:stretch>
        </p:blipFill>
        <p:spPr>
          <a:xfrm>
            <a:off x="1008064" y="959114"/>
            <a:ext cx="103867" cy="106967"/>
          </a:xfrm>
          <a:prstGeom prst="rect">
            <a:avLst/>
          </a:prstGeom>
        </p:spPr>
      </p:pic>
      <p:pic>
        <p:nvPicPr>
          <p:cNvPr id="14" name="Imagen 13">
            <a:extLst>
              <a:ext uri="{FF2B5EF4-FFF2-40B4-BE49-F238E27FC236}">
                <a16:creationId xmlns:a16="http://schemas.microsoft.com/office/drawing/2014/main" id="{D0016DFD-D096-A245-9591-9C15FD675265}"/>
              </a:ext>
            </a:extLst>
          </p:cNvPr>
          <p:cNvPicPr>
            <a:picLocks noChangeAspect="1"/>
          </p:cNvPicPr>
          <p:nvPr/>
        </p:nvPicPr>
        <p:blipFill>
          <a:blip r:embed="rId2"/>
          <a:stretch>
            <a:fillRect/>
          </a:stretch>
        </p:blipFill>
        <p:spPr>
          <a:xfrm>
            <a:off x="1008064" y="1620119"/>
            <a:ext cx="103867" cy="106967"/>
          </a:xfrm>
          <a:prstGeom prst="rect">
            <a:avLst/>
          </a:prstGeom>
        </p:spPr>
      </p:pic>
      <p:sp>
        <p:nvSpPr>
          <p:cNvPr id="19" name="Rectángulo 18"/>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3" name="Imagen 2"/>
          <p:cNvPicPr>
            <a:picLocks noChangeAspect="1"/>
          </p:cNvPicPr>
          <p:nvPr/>
        </p:nvPicPr>
        <p:blipFill>
          <a:blip r:embed="rId3">
            <a:alphaModFix amt="42000"/>
            <a:extLst>
              <a:ext uri="{28A0092B-C50C-407E-A947-70E740481C1C}">
                <a14:useLocalDpi xmlns:a14="http://schemas.microsoft.com/office/drawing/2010/main" val="0"/>
              </a:ext>
            </a:extLst>
          </a:blip>
          <a:stretch>
            <a:fillRect/>
          </a:stretch>
        </p:blipFill>
        <p:spPr>
          <a:xfrm>
            <a:off x="6985000" y="3036889"/>
            <a:ext cx="1690688" cy="2197100"/>
          </a:xfrm>
          <a:prstGeom prst="rect">
            <a:avLst/>
          </a:prstGeom>
        </p:spPr>
      </p:pic>
      <p:sp>
        <p:nvSpPr>
          <p:cNvPr id="8"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BIBLIOGRAFÍA</a:t>
            </a:r>
          </a:p>
        </p:txBody>
      </p:sp>
      <p:pic>
        <p:nvPicPr>
          <p:cNvPr id="5" name="Imagen 4">
            <a:extLst>
              <a:ext uri="{FF2B5EF4-FFF2-40B4-BE49-F238E27FC236}">
                <a16:creationId xmlns:a16="http://schemas.microsoft.com/office/drawing/2014/main" id="{DE6355D6-8822-ABE8-01C1-05A8A330E903}"/>
              </a:ext>
            </a:extLst>
          </p:cNvPr>
          <p:cNvPicPr>
            <a:picLocks noChangeAspect="1"/>
          </p:cNvPicPr>
          <p:nvPr/>
        </p:nvPicPr>
        <p:blipFill>
          <a:blip r:embed="rId2"/>
          <a:stretch>
            <a:fillRect/>
          </a:stretch>
        </p:blipFill>
        <p:spPr>
          <a:xfrm>
            <a:off x="1008064" y="2473150"/>
            <a:ext cx="103867" cy="106967"/>
          </a:xfrm>
          <a:prstGeom prst="rect">
            <a:avLst/>
          </a:prstGeom>
        </p:spPr>
      </p:pic>
    </p:spTree>
    <p:extLst>
      <p:ext uri="{BB962C8B-B14F-4D97-AF65-F5344CB8AC3E}">
        <p14:creationId xmlns:p14="http://schemas.microsoft.com/office/powerpoint/2010/main" val="1742401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pic>
        <p:nvPicPr>
          <p:cNvPr id="3" name="Imagen 2"/>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9030956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5609</TotalTime>
  <Words>1676</Words>
  <Application>Microsoft Macintosh PowerPoint</Application>
  <PresentationFormat>Presentación en pantalla (16:10)</PresentationFormat>
  <Paragraphs>231</Paragraphs>
  <Slides>28</Slides>
  <Notes>23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28</vt:i4>
      </vt:variant>
    </vt:vector>
  </HeadingPairs>
  <TitlesOfParts>
    <vt:vector size="36" baseType="lpstr">
      <vt:lpstr>Arial</vt:lpstr>
      <vt:lpstr>Calibri</vt:lpstr>
      <vt:lpstr>Consolas</vt:lpstr>
      <vt:lpstr>Graphik Bold</vt:lpstr>
      <vt:lpstr>Graphik Medium</vt:lpstr>
      <vt:lpstr>Graphik Regular</vt:lpstr>
      <vt:lpstr>Source Sans Pro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Katherine Jesus Vasquez Caycho</cp:lastModifiedBy>
  <cp:revision>413</cp:revision>
  <cp:lastPrinted>2018-01-16T21:42:59Z</cp:lastPrinted>
  <dcterms:created xsi:type="dcterms:W3CDTF">2016-10-06T14:52:02Z</dcterms:created>
  <dcterms:modified xsi:type="dcterms:W3CDTF">2024-06-13T15:32:39Z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