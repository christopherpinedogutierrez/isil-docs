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31">
          <p15:clr>
            <a:srgbClr val="A4A3A4"/>
          </p15:clr>
        </p15:guide>
        <p15:guide id="2" pos="2562">
          <p15:clr>
            <a:srgbClr val="A4A3A4"/>
          </p15:clr>
        </p15:guide>
        <p15:guide id="3" orient="horz" pos="180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tVjux0oW8G6H2ngi9CIPB1DTS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FC4F03-75B0-4C4B-89F7-43FDB0901F38}">
  <a:tblStyle styleId="{C0FC4F03-75B0-4C4B-89F7-43FDB0901F3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1"/>
        <p:guide pos="2562"/>
        <p:guide pos="180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P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  <p15:guide id="2" orient="horz" pos="1900">
          <p15:clr>
            <a:srgbClr val="FBAE40"/>
          </p15:clr>
        </p15:guide>
        <p15:guide id="3" pos="544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>
  <p:cSld name="Título y objeto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24"/>
          <p:cNvGrpSpPr/>
          <p:nvPr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17" name="Google Shape;17;p24"/>
            <p:cNvSpPr txBox="1"/>
            <p:nvPr/>
          </p:nvSpPr>
          <p:spPr>
            <a:xfrm>
              <a:off x="944054" y="5343295"/>
              <a:ext cx="2467342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8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ANALÍTICA DE SISTEMAS EMPRESARIALES</a:t>
              </a:r>
              <a:r>
                <a:rPr lang="es-PE" sz="8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es-PE" sz="8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•  SESIÓN 06</a:t>
              </a:r>
              <a:endParaRPr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4"/>
            <p:cNvSpPr/>
            <p:nvPr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6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© ISIL. Todos los derechos reservados</a:t>
              </a:r>
              <a:endParaRPr/>
            </a:p>
          </p:txBody>
        </p:sp>
      </p:grpSp>
      <p:pic>
        <p:nvPicPr>
          <p:cNvPr id="19" name="Google Shape;19;p24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495300" y="5322472"/>
            <a:ext cx="448573" cy="250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2"/>
          <p:cNvGrpSpPr/>
          <p:nvPr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11" name="Google Shape;11;p22"/>
            <p:cNvSpPr txBox="1"/>
            <p:nvPr/>
          </p:nvSpPr>
          <p:spPr>
            <a:xfrm>
              <a:off x="944054" y="5343295"/>
              <a:ext cx="2467342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PE" sz="8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ANALÍTICA DE SISTEMAS EMPRESARIALES  •  SESIÓN 06</a:t>
              </a:r>
              <a:endParaRPr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2"/>
            <p:cNvSpPr/>
            <p:nvPr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6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© ISIL. Todos los derechos reservados</a:t>
              </a:r>
              <a:endParaRPr/>
            </a:p>
          </p:txBody>
        </p:sp>
      </p:grpSp>
      <p:pic>
        <p:nvPicPr>
          <p:cNvPr id="13" name="Google Shape;13;p22"/>
          <p:cNvPicPr preferRelativeResize="0"/>
          <p:nvPr/>
        </p:nvPicPr>
        <p:blipFill rotWithShape="1">
          <a:blip r:embed="rId1">
            <a:alphaModFix amt="20000"/>
          </a:blip>
          <a:srcRect b="0" l="0" r="0" t="0"/>
          <a:stretch/>
        </p:blipFill>
        <p:spPr>
          <a:xfrm>
            <a:off x="495300" y="5322472"/>
            <a:ext cx="448573" cy="2507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pos="2767">
          <p15:clr>
            <a:srgbClr val="F26B43"/>
          </p15:clr>
        </p15:guide>
        <p15:guide id="3" pos="317">
          <p15:clr>
            <a:srgbClr val="F26B43"/>
          </p15:clr>
        </p15:guide>
        <p15:guide id="4" orient="horz" pos="575">
          <p15:clr>
            <a:srgbClr val="F26B43"/>
          </p15:clr>
        </p15:guide>
        <p15:guide id="5" orient="horz" pos="303">
          <p15:clr>
            <a:srgbClr val="F26B43"/>
          </p15:clr>
        </p15:guide>
        <p15:guide id="6" pos="5443">
          <p15:clr>
            <a:srgbClr val="F26B43"/>
          </p15:clr>
        </p15:guide>
        <p15:guide id="7" orient="horz" pos="3297">
          <p15:clr>
            <a:srgbClr val="F26B43"/>
          </p15:clr>
        </p15:guide>
        <p15:guide id="8" pos="299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27.jpg"/><Relationship Id="rId13" Type="http://schemas.openxmlformats.org/officeDocument/2006/relationships/image" Target="../media/image15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15" Type="http://schemas.openxmlformats.org/officeDocument/2006/relationships/image" Target="../media/image16.png"/><Relationship Id="rId1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oleObject" Target="../embeddings/oleObject1.bin"/><Relationship Id="rId7" Type="http://schemas.openxmlformats.org/officeDocument/2006/relationships/oleObject" Target="../embeddings/oleObject1.bin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900">
                <a:solidFill>
                  <a:srgbClr val="6C6D6C"/>
                </a:solidFill>
                <a:latin typeface="Calibri"/>
                <a:ea typeface="Calibri"/>
                <a:cs typeface="Calibri"/>
                <a:sym typeface="Calibri"/>
              </a:rPr>
              <a:t>ANALÍTICA DE SISTEMAS EMPRESARIALES </a:t>
            </a:r>
            <a:endParaRPr b="1" sz="900">
              <a:solidFill>
                <a:srgbClr val="6C6D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2849" y="-7542"/>
            <a:ext cx="5391150" cy="572254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503239" y="2177570"/>
            <a:ext cx="2223183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CREACIÓN DE </a:t>
            </a:r>
            <a:r>
              <a:rPr b="1" lang="es-PE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CUBOS OLAP – Parte 1</a:t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503237" y="3457215"/>
            <a:ext cx="3104743" cy="871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798" lvl="0" marL="17779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ts val="1200"/>
              <a:buFont typeface="Arial"/>
              <a:buChar char="•"/>
            </a:pPr>
            <a:r>
              <a:rPr lang="es-PE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Arquitectura del cliente OLAP</a:t>
            </a:r>
            <a:endParaRPr/>
          </a:p>
          <a:p>
            <a:pPr indent="-177798" lvl="0" marL="17779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ts val="1200"/>
              <a:buFont typeface="Arial"/>
              <a:buChar char="•"/>
            </a:pPr>
            <a:r>
              <a:rPr lang="es-PE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Definición de cubo de datos</a:t>
            </a:r>
            <a:endParaRPr/>
          </a:p>
          <a:p>
            <a:pPr indent="-177798" lvl="0" marL="17779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ts val="1200"/>
              <a:buFont typeface="Arial"/>
              <a:buChar char="•"/>
            </a:pPr>
            <a:r>
              <a:rPr lang="es-PE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Componentes de un cubo de datos</a:t>
            </a:r>
            <a:endParaRPr/>
          </a:p>
          <a:p>
            <a:pPr indent="-177798" lvl="0" marL="177798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ts val="1200"/>
              <a:buFont typeface="Arial"/>
              <a:buChar char="•"/>
            </a:pPr>
            <a:r>
              <a:rPr lang="es-PE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Creación de un cubo de datos</a:t>
            </a:r>
            <a:endParaRPr/>
          </a:p>
        </p:txBody>
      </p:sp>
      <p:sp>
        <p:nvSpPr>
          <p:cNvPr id="32" name="Google Shape;32;p1"/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000">
                <a:solidFill>
                  <a:srgbClr val="E14098"/>
                </a:solidFill>
                <a:latin typeface="Calibri"/>
                <a:ea typeface="Calibri"/>
                <a:cs typeface="Calibri"/>
                <a:sym typeface="Calibri"/>
              </a:rPr>
              <a:t>SESIÓN 06</a:t>
            </a:r>
            <a:endParaRPr/>
          </a:p>
        </p:txBody>
      </p:sp>
      <p:pic>
        <p:nvPicPr>
          <p:cNvPr id="33" name="Google Shape;3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64" y="1883411"/>
            <a:ext cx="166865" cy="170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946969"/>
            <a:ext cx="2072213" cy="38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LA SESIÓN</a:t>
            </a:r>
            <a:endParaRPr/>
          </a:p>
        </p:txBody>
      </p:sp>
      <p:pic>
        <p:nvPicPr>
          <p:cNvPr id="42" name="Google Shape;42;p2"/>
          <p:cNvPicPr preferRelativeResize="0"/>
          <p:nvPr/>
        </p:nvPicPr>
        <p:blipFill rotWithShape="1">
          <a:blip r:embed="rId4">
            <a:alphaModFix amt="16000"/>
          </a:blip>
          <a:srcRect b="0" l="0" r="0" t="0"/>
          <a:stretch/>
        </p:blipFill>
        <p:spPr>
          <a:xfrm>
            <a:off x="334433" y="3817749"/>
            <a:ext cx="809264" cy="8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1282298" y="2414327"/>
            <a:ext cx="56366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 esta sesión aprenderá sobre el concepto de cubo de datos como una aproximación al análisis de datos dimensionales, definiendo sus componentes y cómo los datos se almacenan en un cubo.</a:t>
            </a:r>
            <a:endParaRPr/>
          </a:p>
        </p:txBody>
      </p:sp>
      <p:pic>
        <p:nvPicPr>
          <p:cNvPr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39" y="2450840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3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1008063" y="3169972"/>
            <a:ext cx="5122394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ARQUITECTURA DEL </a:t>
            </a:r>
            <a:b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CLIENTE OLAP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ARQUITECTURA DEL CLIENTE OLAP </a:t>
            </a:r>
            <a:endParaRPr/>
          </a:p>
        </p:txBody>
      </p:sp>
      <p:grpSp>
        <p:nvGrpSpPr>
          <p:cNvPr id="69" name="Google Shape;69;p5"/>
          <p:cNvGrpSpPr/>
          <p:nvPr/>
        </p:nvGrpSpPr>
        <p:grpSpPr>
          <a:xfrm>
            <a:off x="635741" y="1071890"/>
            <a:ext cx="7761499" cy="4172675"/>
            <a:chOff x="635741" y="918489"/>
            <a:chExt cx="8304811" cy="4464766"/>
          </a:xfrm>
        </p:grpSpPr>
        <p:pic>
          <p:nvPicPr>
            <p:cNvPr id="70" name="Google Shape;70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0710" y="1387116"/>
              <a:ext cx="523019" cy="5230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5"/>
            <p:cNvSpPr txBox="1"/>
            <p:nvPr/>
          </p:nvSpPr>
          <p:spPr>
            <a:xfrm>
              <a:off x="767764" y="918489"/>
              <a:ext cx="638060" cy="3622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FUENTES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 DATOS</a:t>
              </a:r>
              <a:endParaRPr/>
            </a:p>
          </p:txBody>
        </p:sp>
        <p:sp>
          <p:nvSpPr>
            <p:cNvPr id="72" name="Google Shape;72;p5"/>
            <p:cNvSpPr txBox="1"/>
            <p:nvPr/>
          </p:nvSpPr>
          <p:spPr>
            <a:xfrm>
              <a:off x="7658452" y="918489"/>
              <a:ext cx="96129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ANÁLISIS</a:t>
              </a:r>
              <a:endParaRPr/>
            </a:p>
          </p:txBody>
        </p:sp>
        <p:sp>
          <p:nvSpPr>
            <p:cNvPr id="73" name="Google Shape;73;p5"/>
            <p:cNvSpPr txBox="1"/>
            <p:nvPr/>
          </p:nvSpPr>
          <p:spPr>
            <a:xfrm>
              <a:off x="2032024" y="918489"/>
              <a:ext cx="1146724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OPERACIONES ETL</a:t>
              </a:r>
              <a:endParaRPr/>
            </a:p>
          </p:txBody>
        </p:sp>
        <p:sp>
          <p:nvSpPr>
            <p:cNvPr id="74" name="Google Shape;74;p5"/>
            <p:cNvSpPr txBox="1"/>
            <p:nvPr/>
          </p:nvSpPr>
          <p:spPr>
            <a:xfrm>
              <a:off x="3929282" y="918489"/>
              <a:ext cx="12384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ALMACENAMIENTO</a:t>
              </a:r>
              <a:b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DIMENSIONAL</a:t>
              </a:r>
              <a:endParaRPr/>
            </a:p>
          </p:txBody>
        </p:sp>
        <p:sp>
          <p:nvSpPr>
            <p:cNvPr id="75" name="Google Shape;75;p5"/>
            <p:cNvSpPr txBox="1"/>
            <p:nvPr/>
          </p:nvSpPr>
          <p:spPr>
            <a:xfrm>
              <a:off x="635741" y="1910135"/>
              <a:ext cx="91890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operacional</a:t>
              </a:r>
              <a:endParaRPr/>
            </a:p>
          </p:txBody>
        </p:sp>
        <p:pic>
          <p:nvPicPr>
            <p:cNvPr id="76" name="Google Shape;76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85665" y="3489951"/>
              <a:ext cx="612348" cy="2940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5"/>
            <p:cNvSpPr txBox="1"/>
            <p:nvPr/>
          </p:nvSpPr>
          <p:spPr>
            <a:xfrm>
              <a:off x="699775" y="3833429"/>
              <a:ext cx="7761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adquirida</a:t>
              </a:r>
              <a:endParaRPr/>
            </a:p>
          </p:txBody>
        </p:sp>
        <p:graphicFrame>
          <p:nvGraphicFramePr>
            <p:cNvPr id="78" name="Google Shape;78;p5"/>
            <p:cNvGraphicFramePr/>
            <p:nvPr/>
          </p:nvGraphicFramePr>
          <p:xfrm>
            <a:off x="896152" y="2445851"/>
            <a:ext cx="412750" cy="363538"/>
          </p:xfrm>
          <a:graphic>
            <a:graphicData uri="http://schemas.openxmlformats.org/presentationml/2006/ole">
              <mc:AlternateContent>
                <mc:Choice Requires="v">
                  <p:oleObj r:id="rId6" imgH="363538" imgW="412750" progId="MS_ClipArt_Gallery.2" spid="_x0000_s1">
                    <p:embed/>
                  </p:oleObj>
                </mc:Choice>
                <mc:Fallback>
                  <p:oleObj r:id="rId7" imgH="363538" imgW="412750" progId="MS_ClipArt_Gallery.2">
                    <p:embed/>
                    <p:pic>
                      <p:nvPicPr>
                        <p:cNvPr id="78" name="Google Shape;78;p5"/>
                        <p:cNvPicPr preferRelativeResize="0"/>
                        <p:nvPr/>
                      </p:nvPicPr>
                      <p:blipFill rotWithShape="1">
                        <a:blip r:embed="rId8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896152" y="2445851"/>
                          <a:ext cx="412750" cy="363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" name="Google Shape;79;p5"/>
            <p:cNvSpPr txBox="1"/>
            <p:nvPr/>
          </p:nvSpPr>
          <p:spPr>
            <a:xfrm>
              <a:off x="701802" y="2858626"/>
              <a:ext cx="77790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 de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escritorio</a:t>
              </a: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1725879" y="1312791"/>
              <a:ext cx="306145" cy="3957709"/>
            </a:xfrm>
            <a:prstGeom prst="rightArrowCallout">
              <a:avLst>
                <a:gd fmla="val 31474" name="adj1"/>
                <a:gd fmla="val 34044" name="adj2"/>
                <a:gd fmla="val 18226" name="adj3"/>
                <a:gd fmla="val 64977" name="adj4"/>
              </a:avLst>
            </a:prstGeom>
            <a:solidFill>
              <a:srgbClr val="00B1C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" name="Google Shape;81;p5"/>
            <p:cNvGrpSpPr/>
            <p:nvPr/>
          </p:nvGrpSpPr>
          <p:grpSpPr>
            <a:xfrm flipH="1">
              <a:off x="4042996" y="2261846"/>
              <a:ext cx="452957" cy="382588"/>
              <a:chOff x="1488" y="1248"/>
              <a:chExt cx="403" cy="288"/>
            </a:xfrm>
          </p:grpSpPr>
          <p:sp>
            <p:nvSpPr>
              <p:cNvPr id="82" name="Google Shape;82;p5"/>
              <p:cNvSpPr/>
              <p:nvPr/>
            </p:nvSpPr>
            <p:spPr>
              <a:xfrm>
                <a:off x="1492" y="1281"/>
                <a:ext cx="394" cy="208"/>
              </a:xfrm>
              <a:prstGeom prst="rect">
                <a:avLst/>
              </a:prstGeom>
              <a:gradFill>
                <a:gsLst>
                  <a:gs pos="0">
                    <a:srgbClr val="7C7C7C"/>
                  </a:gs>
                  <a:gs pos="50000">
                    <a:srgbClr val="CECECE"/>
                  </a:gs>
                  <a:gs pos="100000">
                    <a:srgbClr val="7C7C7C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1488" y="1449"/>
                <a:ext cx="403" cy="87"/>
              </a:xfrm>
              <a:prstGeom prst="ellipse">
                <a:avLst/>
              </a:prstGeom>
              <a:gradFill>
                <a:gsLst>
                  <a:gs pos="0">
                    <a:srgbClr val="7C7C7C"/>
                  </a:gs>
                  <a:gs pos="50000">
                    <a:srgbClr val="CECECE"/>
                  </a:gs>
                  <a:gs pos="100000">
                    <a:srgbClr val="7C7C7C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1488" y="1248"/>
                <a:ext cx="403" cy="78"/>
              </a:xfrm>
              <a:prstGeom prst="ellipse">
                <a:avLst/>
              </a:prstGeom>
              <a:gradFill>
                <a:gsLst>
                  <a:gs pos="0">
                    <a:srgbClr val="909090"/>
                  </a:gs>
                  <a:gs pos="100000">
                    <a:srgbClr val="CECECE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" name="Google Shape;85;p5"/>
            <p:cNvGrpSpPr/>
            <p:nvPr/>
          </p:nvGrpSpPr>
          <p:grpSpPr>
            <a:xfrm flipH="1">
              <a:off x="4038500" y="2838414"/>
              <a:ext cx="452957" cy="382588"/>
              <a:chOff x="1488" y="1248"/>
              <a:chExt cx="403" cy="288"/>
            </a:xfrm>
          </p:grpSpPr>
          <p:sp>
            <p:nvSpPr>
              <p:cNvPr id="86" name="Google Shape;86;p5"/>
              <p:cNvSpPr/>
              <p:nvPr/>
            </p:nvSpPr>
            <p:spPr>
              <a:xfrm>
                <a:off x="1492" y="1281"/>
                <a:ext cx="394" cy="208"/>
              </a:xfrm>
              <a:prstGeom prst="rect">
                <a:avLst/>
              </a:prstGeom>
              <a:gradFill>
                <a:gsLst>
                  <a:gs pos="0">
                    <a:srgbClr val="7C7C7C"/>
                  </a:gs>
                  <a:gs pos="50000">
                    <a:srgbClr val="CECECE"/>
                  </a:gs>
                  <a:gs pos="100000">
                    <a:srgbClr val="7C7C7C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1488" y="1449"/>
                <a:ext cx="403" cy="87"/>
              </a:xfrm>
              <a:prstGeom prst="ellipse">
                <a:avLst/>
              </a:prstGeom>
              <a:gradFill>
                <a:gsLst>
                  <a:gs pos="0">
                    <a:srgbClr val="7C7C7C"/>
                  </a:gs>
                  <a:gs pos="50000">
                    <a:srgbClr val="CECECE"/>
                  </a:gs>
                  <a:gs pos="100000">
                    <a:srgbClr val="7C7C7C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1488" y="1248"/>
                <a:ext cx="403" cy="78"/>
              </a:xfrm>
              <a:prstGeom prst="ellipse">
                <a:avLst/>
              </a:prstGeom>
              <a:gradFill>
                <a:gsLst>
                  <a:gs pos="0">
                    <a:srgbClr val="909090"/>
                  </a:gs>
                  <a:gs pos="100000">
                    <a:srgbClr val="CECECE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" name="Google Shape;89;p5"/>
            <p:cNvGrpSpPr/>
            <p:nvPr/>
          </p:nvGrpSpPr>
          <p:grpSpPr>
            <a:xfrm flipH="1">
              <a:off x="4042996" y="3413086"/>
              <a:ext cx="452957" cy="382588"/>
              <a:chOff x="1488" y="1248"/>
              <a:chExt cx="403" cy="288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1492" y="1281"/>
                <a:ext cx="394" cy="208"/>
              </a:xfrm>
              <a:prstGeom prst="rect">
                <a:avLst/>
              </a:prstGeom>
              <a:gradFill>
                <a:gsLst>
                  <a:gs pos="0">
                    <a:srgbClr val="7C7C7C"/>
                  </a:gs>
                  <a:gs pos="50000">
                    <a:srgbClr val="CECECE"/>
                  </a:gs>
                  <a:gs pos="100000">
                    <a:srgbClr val="7C7C7C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1488" y="1449"/>
                <a:ext cx="403" cy="87"/>
              </a:xfrm>
              <a:prstGeom prst="ellipse">
                <a:avLst/>
              </a:prstGeom>
              <a:gradFill>
                <a:gsLst>
                  <a:gs pos="0">
                    <a:srgbClr val="7C7C7C"/>
                  </a:gs>
                  <a:gs pos="50000">
                    <a:srgbClr val="CECECE"/>
                  </a:gs>
                  <a:gs pos="100000">
                    <a:srgbClr val="7C7C7C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1488" y="1248"/>
                <a:ext cx="403" cy="78"/>
              </a:xfrm>
              <a:prstGeom prst="ellipse">
                <a:avLst/>
              </a:prstGeom>
              <a:gradFill>
                <a:gsLst>
                  <a:gs pos="0">
                    <a:srgbClr val="909090"/>
                  </a:gs>
                  <a:gs pos="100000">
                    <a:srgbClr val="CECECE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" name="Google Shape;93;p5"/>
            <p:cNvSpPr txBox="1"/>
            <p:nvPr/>
          </p:nvSpPr>
          <p:spPr>
            <a:xfrm>
              <a:off x="4141306" y="1844689"/>
              <a:ext cx="871673" cy="27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 marts</a:t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5"/>
            <p:cNvSpPr txBox="1"/>
            <p:nvPr/>
          </p:nvSpPr>
          <p:spPr>
            <a:xfrm>
              <a:off x="4556138" y="2307821"/>
              <a:ext cx="617821" cy="27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Ventas</a:t>
              </a:r>
              <a:endParaRPr/>
            </a:p>
          </p:txBody>
        </p:sp>
        <p:sp>
          <p:nvSpPr>
            <p:cNvPr id="95" name="Google Shape;95;p5"/>
            <p:cNvSpPr txBox="1"/>
            <p:nvPr/>
          </p:nvSpPr>
          <p:spPr>
            <a:xfrm>
              <a:off x="4556138" y="2882457"/>
              <a:ext cx="720733" cy="27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Finanzas</a:t>
              </a:r>
              <a:endParaRPr/>
            </a:p>
          </p:txBody>
        </p:sp>
        <p:sp>
          <p:nvSpPr>
            <p:cNvPr id="96" name="Google Shape;96;p5"/>
            <p:cNvSpPr txBox="1"/>
            <p:nvPr/>
          </p:nvSpPr>
          <p:spPr>
            <a:xfrm>
              <a:off x="4556138" y="3450052"/>
              <a:ext cx="684714" cy="27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Clientes</a:t>
              </a:r>
              <a:endParaRPr/>
            </a:p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6035182" y="3182001"/>
              <a:ext cx="447592" cy="449580"/>
              <a:chOff x="2449" y="2352"/>
              <a:chExt cx="230" cy="240"/>
            </a:xfrm>
          </p:grpSpPr>
          <p:sp>
            <p:nvSpPr>
              <p:cNvPr id="98" name="Google Shape;98;p5"/>
              <p:cNvSpPr/>
              <p:nvPr/>
            </p:nvSpPr>
            <p:spPr>
              <a:xfrm flipH="1">
                <a:off x="2452" y="2356"/>
                <a:ext cx="224" cy="231"/>
              </a:xfrm>
              <a:prstGeom prst="cube">
                <a:avLst>
                  <a:gd fmla="val 24995" name="adj"/>
                </a:avLst>
              </a:prstGeom>
              <a:solidFill>
                <a:srgbClr val="FF9900"/>
              </a:solidFill>
              <a:ln cap="flat" cmpd="sng" w="12700">
                <a:solidFill>
                  <a:schemeClr val="l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" name="Google Shape;99;p5"/>
              <p:cNvCxnSpPr/>
              <p:nvPr/>
            </p:nvCxnSpPr>
            <p:spPr>
              <a:xfrm>
                <a:off x="2644" y="2412"/>
                <a:ext cx="0" cy="17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2610" y="2412"/>
                <a:ext cx="0" cy="17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2486" y="2391"/>
                <a:ext cx="0" cy="17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2468" y="2372"/>
                <a:ext cx="0" cy="17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" name="Google Shape;103;p5"/>
              <p:cNvCxnSpPr/>
              <p:nvPr/>
            </p:nvCxnSpPr>
            <p:spPr>
              <a:xfrm rot="10800000">
                <a:off x="2486" y="2394"/>
                <a:ext cx="17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5"/>
              <p:cNvCxnSpPr/>
              <p:nvPr/>
            </p:nvCxnSpPr>
            <p:spPr>
              <a:xfrm rot="10800000">
                <a:off x="2468" y="2372"/>
                <a:ext cx="17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5"/>
              <p:cNvCxnSpPr/>
              <p:nvPr/>
            </p:nvCxnSpPr>
            <p:spPr>
              <a:xfrm rot="10800000">
                <a:off x="2502" y="2448"/>
                <a:ext cx="17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5"/>
              <p:cNvCxnSpPr/>
              <p:nvPr/>
            </p:nvCxnSpPr>
            <p:spPr>
              <a:xfrm rot="10800000">
                <a:off x="2502" y="2485"/>
                <a:ext cx="17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5"/>
              <p:cNvCxnSpPr/>
              <p:nvPr/>
            </p:nvCxnSpPr>
            <p:spPr>
              <a:xfrm rot="10800000">
                <a:off x="2502" y="2522"/>
                <a:ext cx="17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8" name="Google Shape;108;p5"/>
              <p:cNvCxnSpPr/>
              <p:nvPr/>
            </p:nvCxnSpPr>
            <p:spPr>
              <a:xfrm rot="10800000">
                <a:off x="2502" y="2559"/>
                <a:ext cx="17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" name="Google Shape;109;p5"/>
              <p:cNvCxnSpPr/>
              <p:nvPr/>
            </p:nvCxnSpPr>
            <p:spPr>
              <a:xfrm>
                <a:off x="2577" y="2412"/>
                <a:ext cx="0" cy="17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0" name="Google Shape;110;p5"/>
              <p:cNvCxnSpPr/>
              <p:nvPr/>
            </p:nvCxnSpPr>
            <p:spPr>
              <a:xfrm>
                <a:off x="2544" y="2413"/>
                <a:ext cx="0" cy="17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5"/>
              <p:cNvCxnSpPr/>
              <p:nvPr/>
            </p:nvCxnSpPr>
            <p:spPr>
              <a:xfrm rot="10800000">
                <a:off x="2591" y="2352"/>
                <a:ext cx="53" cy="5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5"/>
              <p:cNvCxnSpPr/>
              <p:nvPr/>
            </p:nvCxnSpPr>
            <p:spPr>
              <a:xfrm rot="10800000">
                <a:off x="2558" y="2355"/>
                <a:ext cx="53" cy="5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" name="Google Shape;113;p5"/>
              <p:cNvCxnSpPr/>
              <p:nvPr/>
            </p:nvCxnSpPr>
            <p:spPr>
              <a:xfrm rot="10800000">
                <a:off x="2525" y="2353"/>
                <a:ext cx="54" cy="5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" name="Google Shape;114;p5"/>
              <p:cNvCxnSpPr/>
              <p:nvPr/>
            </p:nvCxnSpPr>
            <p:spPr>
              <a:xfrm rot="10800000">
                <a:off x="2492" y="2355"/>
                <a:ext cx="52" cy="5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5"/>
              <p:cNvCxnSpPr/>
              <p:nvPr/>
            </p:nvCxnSpPr>
            <p:spPr>
              <a:xfrm rot="10800000">
                <a:off x="2450" y="2388"/>
                <a:ext cx="53" cy="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5"/>
              <p:cNvCxnSpPr/>
              <p:nvPr/>
            </p:nvCxnSpPr>
            <p:spPr>
              <a:xfrm rot="10800000">
                <a:off x="2449" y="2422"/>
                <a:ext cx="53" cy="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5"/>
              <p:cNvCxnSpPr/>
              <p:nvPr/>
            </p:nvCxnSpPr>
            <p:spPr>
              <a:xfrm rot="10800000">
                <a:off x="2450" y="2463"/>
                <a:ext cx="53" cy="5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5"/>
              <p:cNvCxnSpPr/>
              <p:nvPr/>
            </p:nvCxnSpPr>
            <p:spPr>
              <a:xfrm rot="10800000">
                <a:off x="2449" y="2495"/>
                <a:ext cx="53" cy="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19" name="Google Shape;119;p5"/>
            <p:cNvSpPr txBox="1"/>
            <p:nvPr/>
          </p:nvSpPr>
          <p:spPr>
            <a:xfrm>
              <a:off x="5905813" y="3622215"/>
              <a:ext cx="74571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Análisis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 cubos</a:t>
              </a:r>
              <a:endParaRPr/>
            </a:p>
          </p:txBody>
        </p:sp>
        <p:sp>
          <p:nvSpPr>
            <p:cNvPr id="120" name="Google Shape;120;p5"/>
            <p:cNvSpPr txBox="1"/>
            <p:nvPr/>
          </p:nvSpPr>
          <p:spPr>
            <a:xfrm>
              <a:off x="5756080" y="1907475"/>
              <a:ext cx="106266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Reportes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empresariales</a:t>
              </a:r>
              <a:endParaRPr/>
            </a:p>
          </p:txBody>
        </p:sp>
        <p:sp>
          <p:nvSpPr>
            <p:cNvPr id="121" name="Google Shape;121;p5"/>
            <p:cNvSpPr txBox="1"/>
            <p:nvPr/>
          </p:nvSpPr>
          <p:spPr>
            <a:xfrm>
              <a:off x="5685301" y="5103332"/>
              <a:ext cx="1235298" cy="27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Minería de datos</a:t>
              </a:r>
              <a:endParaRPr/>
            </a:p>
          </p:txBody>
        </p:sp>
        <p:pic>
          <p:nvPicPr>
            <p:cNvPr id="122" name="Google Shape;12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90187" y="2180502"/>
              <a:ext cx="523019" cy="5230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5"/>
            <p:cNvSpPr txBox="1"/>
            <p:nvPr/>
          </p:nvSpPr>
          <p:spPr>
            <a:xfrm>
              <a:off x="2137126" y="2743601"/>
              <a:ext cx="12495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Almacenamiento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intermedio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"Staging </a:t>
              </a:r>
              <a:r>
                <a:rPr lang="es-PE" sz="1100">
                  <a:latin typeface="Calibri"/>
                  <a:ea typeface="Calibri"/>
                  <a:cs typeface="Calibri"/>
                  <a:sym typeface="Calibri"/>
                </a:rPr>
                <a:t>area</a:t>
              </a: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"</a:t>
              </a:r>
              <a:endParaRPr/>
            </a:p>
          </p:txBody>
        </p:sp>
        <p:pic>
          <p:nvPicPr>
            <p:cNvPr descr="j0235044" id="124" name="Google Shape;124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969368" y="2425135"/>
              <a:ext cx="579220" cy="2783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5"/>
            <p:cNvSpPr txBox="1"/>
            <p:nvPr/>
          </p:nvSpPr>
          <p:spPr>
            <a:xfrm>
              <a:off x="5708848" y="2680997"/>
              <a:ext cx="114640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Envío proactivo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 alerta</a:t>
              </a:r>
              <a:endParaRPr/>
            </a:p>
          </p:txBody>
        </p:sp>
        <p:pic>
          <p:nvPicPr>
            <p:cNvPr descr="Image result for tablas de bases de datos" id="126" name="Google Shape;126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926410" y="4085565"/>
              <a:ext cx="665135" cy="3032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5"/>
            <p:cNvSpPr txBox="1"/>
            <p:nvPr/>
          </p:nvSpPr>
          <p:spPr>
            <a:xfrm>
              <a:off x="5730135" y="4437541"/>
              <a:ext cx="1240443" cy="27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Consultas ad-hoc</a:t>
              </a:r>
              <a:endParaRPr/>
            </a:p>
          </p:txBody>
        </p:sp>
        <p:pic>
          <p:nvPicPr>
            <p:cNvPr id="128" name="Google Shape;128;p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745071" y="1290507"/>
              <a:ext cx="235401" cy="3115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5"/>
            <p:cNvSpPr txBox="1"/>
            <p:nvPr/>
          </p:nvSpPr>
          <p:spPr>
            <a:xfrm>
              <a:off x="5729289" y="918489"/>
              <a:ext cx="1238415" cy="181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LOS 5 ESTILOS DE BI</a:t>
              </a: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3536426" y="1299809"/>
              <a:ext cx="306145" cy="3957709"/>
            </a:xfrm>
            <a:prstGeom prst="rightArrowCallout">
              <a:avLst>
                <a:gd fmla="val 31474" name="adj1"/>
                <a:gd fmla="val 34044" name="adj2"/>
                <a:gd fmla="val 18226" name="adj3"/>
                <a:gd fmla="val 64977" name="adj4"/>
              </a:avLst>
            </a:prstGeom>
            <a:solidFill>
              <a:srgbClr val="00B1C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5391880" y="1299809"/>
              <a:ext cx="306145" cy="3957709"/>
            </a:xfrm>
            <a:prstGeom prst="rightArrowCallout">
              <a:avLst>
                <a:gd fmla="val 31474" name="adj1"/>
                <a:gd fmla="val 34044" name="adj2"/>
                <a:gd fmla="val 18226" name="adj3"/>
                <a:gd fmla="val 64977" name="adj4"/>
              </a:avLst>
            </a:prstGeom>
            <a:solidFill>
              <a:srgbClr val="00B1C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132936" y="1303179"/>
              <a:ext cx="306145" cy="3957709"/>
            </a:xfrm>
            <a:prstGeom prst="rightArrowCallout">
              <a:avLst>
                <a:gd fmla="val 31474" name="adj1"/>
                <a:gd fmla="val 34044" name="adj2"/>
                <a:gd fmla="val 18226" name="adj3"/>
                <a:gd fmla="val 64977" name="adj4"/>
              </a:avLst>
            </a:prstGeom>
            <a:solidFill>
              <a:srgbClr val="00B1C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5"/>
            <p:cNvSpPr txBox="1"/>
            <p:nvPr/>
          </p:nvSpPr>
          <p:spPr>
            <a:xfrm>
              <a:off x="7618466" y="1614891"/>
              <a:ext cx="509761" cy="27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Excel</a:t>
              </a:r>
              <a:endParaRPr/>
            </a:p>
          </p:txBody>
        </p:sp>
        <p:sp>
          <p:nvSpPr>
            <p:cNvPr id="134" name="Google Shape;134;p5"/>
            <p:cNvSpPr txBox="1"/>
            <p:nvPr/>
          </p:nvSpPr>
          <p:spPr>
            <a:xfrm>
              <a:off x="7555554" y="2539200"/>
              <a:ext cx="707130" cy="646331"/>
            </a:xfrm>
            <a:prstGeom prst="rect">
              <a:avLst/>
            </a:prstGeom>
            <a:solidFill>
              <a:srgbClr val="714E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Portal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gestión</a:t>
              </a:r>
              <a:endParaRPr/>
            </a:p>
          </p:txBody>
        </p:sp>
        <p:sp>
          <p:nvSpPr>
            <p:cNvPr id="135" name="Google Shape;135;p5"/>
            <p:cNvSpPr txBox="1"/>
            <p:nvPr/>
          </p:nvSpPr>
          <p:spPr>
            <a:xfrm>
              <a:off x="7931618" y="1998479"/>
              <a:ext cx="9049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Usuario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 negocio</a:t>
              </a:r>
              <a:endParaRPr/>
            </a:p>
          </p:txBody>
        </p:sp>
        <p:pic>
          <p:nvPicPr>
            <p:cNvPr descr="Image result for nube" id="136" name="Google Shape;136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268594" y="3028104"/>
              <a:ext cx="671958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pic>
        <p:sp>
          <p:nvSpPr>
            <p:cNvPr id="137" name="Google Shape;137;p5"/>
            <p:cNvSpPr txBox="1"/>
            <p:nvPr/>
          </p:nvSpPr>
          <p:spPr>
            <a:xfrm>
              <a:off x="8273534" y="4071977"/>
              <a:ext cx="485749" cy="27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Web</a:t>
              </a:r>
              <a:endParaRPr/>
            </a:p>
          </p:txBody>
        </p:sp>
        <p:sp>
          <p:nvSpPr>
            <p:cNvPr id="138" name="Google Shape;138;p5"/>
            <p:cNvSpPr txBox="1"/>
            <p:nvPr/>
          </p:nvSpPr>
          <p:spPr>
            <a:xfrm>
              <a:off x="7463697" y="4212237"/>
              <a:ext cx="646979" cy="27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Minero</a:t>
              </a:r>
              <a:endParaRPr/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2202893" y="4098027"/>
              <a:ext cx="1066446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MICROSOFT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SQL SERVER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SQL SERVER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INTEGRATION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SERVICES</a:t>
              </a:r>
              <a:endParaRPr/>
            </a:p>
          </p:txBody>
        </p:sp>
        <p:sp>
          <p:nvSpPr>
            <p:cNvPr id="140" name="Google Shape;140;p5"/>
            <p:cNvSpPr txBox="1"/>
            <p:nvPr/>
          </p:nvSpPr>
          <p:spPr>
            <a:xfrm>
              <a:off x="672595" y="4271018"/>
              <a:ext cx="95583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MICROSOFT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SQL SERVER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OTRAS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FUENTES</a:t>
              </a:r>
              <a:endParaRPr/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4082736" y="4640350"/>
              <a:ext cx="94904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SQL SERVER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ANALYSIS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SERVICES</a:t>
              </a:r>
              <a:endParaRPr/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7493022" y="4635456"/>
              <a:ext cx="111434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APLICACIONES</a:t>
              </a:r>
              <a:b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CLIENTE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PE"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VARIAS</a:t>
              </a:r>
              <a:endParaRPr/>
            </a:p>
          </p:txBody>
        </p:sp>
        <p:pic>
          <p:nvPicPr>
            <p:cNvPr id="143" name="Google Shape;143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926410" y="4563238"/>
              <a:ext cx="636896" cy="6368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566555" y="3764802"/>
              <a:ext cx="472373" cy="4723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049980" y="1427922"/>
              <a:ext cx="507088" cy="5070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566555" y="3261882"/>
              <a:ext cx="472373" cy="4723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244735" y="3620022"/>
              <a:ext cx="472373" cy="4723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172923" y="1518134"/>
              <a:ext cx="472373" cy="4723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/>
        </p:nvSpPr>
        <p:spPr>
          <a:xfrm>
            <a:off x="503237" y="912812"/>
            <a:ext cx="8034371" cy="256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Fuentes de datos: 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data operacional o transaccional puede provenir de fuentes variadas como base de datos de SQL Server, Access, Oracle, archivos planos u hojas de cálculo.</a:t>
            </a:r>
            <a:endParaRPr/>
          </a:p>
          <a:p>
            <a:pPr indent="-777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Operaciones ETL: 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almacenamiento intermedio ("staging área") lo podemos implementar en el motor de base de datos de SQL Server, y las operaciones ETL se programan en los paquetes de SQL Server Integration Services (SSIS).</a:t>
            </a:r>
            <a:endParaRPr/>
          </a:p>
          <a:p>
            <a:pPr indent="-777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Almacenamiento dimensional: 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implementa en SQL Server Analysis Services (SSAS), el motor OLAP de SQL Server mediante la creación de los cubos de datos.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ARQUITECTURA DEL CLIENTE OLAP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/>
        </p:nvSpPr>
        <p:spPr>
          <a:xfrm>
            <a:off x="503238" y="912813"/>
            <a:ext cx="799153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estilos de BI: 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hacen referencia a las diferentes formas de consolidación de la información para su análisis. El estilo depende del objetivo del análisis de información.</a:t>
            </a:r>
            <a:endParaRPr/>
          </a:p>
          <a:p>
            <a:pPr indent="-7937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la información: 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 hacer uso de una herramienta de uso común como Excel, o herramientas más sofisticadas para generación de visualización de información como PowerBI, Tableau.</a:t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ARQUITECTURA DEL CLIENTE OLAP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1008063" y="3169972"/>
            <a:ext cx="5122394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DEFINICIÓN DE </a:t>
            </a:r>
            <a:b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CUBO DE DATOS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38" y="1713296"/>
            <a:ext cx="4112256" cy="271392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 txBox="1"/>
          <p:nvPr/>
        </p:nvSpPr>
        <p:spPr>
          <a:xfrm>
            <a:off x="4751389" y="1533969"/>
            <a:ext cx="3889374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data dimensional que se muestra, se identifican 3 dimensiones: Tiempo (trimestres), Ubicación (ciudades) y Producto (frutas).</a:t>
            </a:r>
            <a:endParaRPr/>
          </a:p>
          <a:p>
            <a:pPr indent="-7937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data está representada en el cubo de datos que se muestra en la siguiente diapositiva.</a:t>
            </a:r>
            <a:endParaRPr/>
          </a:p>
          <a:p>
            <a:pPr indent="-7937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dicho cubo, la celda coloreada de blanco representa la métrica para el trimestre 4, ciudad Cuzco, producto fresas.</a:t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503238" y="912813"/>
            <a:ext cx="3508461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ALMACENAMIENTO MULTIDIMENSIONAL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DEFINICIÓN DE CUBO DE DATOS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Google Shape;182;p10"/>
          <p:cNvGraphicFramePr/>
          <p:nvPr/>
        </p:nvGraphicFramePr>
        <p:xfrm>
          <a:off x="5976811" y="36853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{C0FC4F03-75B0-4C4B-89F7-43FDB0901F38}</a:tableStyleId>
              </a:tblPr>
              <a:tblGrid>
                <a:gridCol w="808150"/>
                <a:gridCol w="808150"/>
                <a:gridCol w="808150"/>
              </a:tblGrid>
              <a:tr h="213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>
                          <a:solidFill>
                            <a:schemeClr val="lt1"/>
                          </a:solidFill>
                        </a:rPr>
                        <a:t>Tiempo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7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>
                          <a:solidFill>
                            <a:schemeClr val="lt1"/>
                          </a:solidFill>
                        </a:rPr>
                        <a:t>Inicio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7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>
                          <a:solidFill>
                            <a:schemeClr val="lt1"/>
                          </a:solidFill>
                        </a:rPr>
                        <a:t>Fin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799"/>
                    </a:solidFill>
                  </a:tcPr>
                </a:tc>
              </a:tr>
              <a:tr h="205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/>
                        <a:t>Trimestre 1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/>
                        <a:t>Enero 1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/>
                        <a:t>Marzo 31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5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 u="none" cap="none" strike="noStrike"/>
                        <a:t>Trimestre 2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/>
                        <a:t>Abril 1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/>
                        <a:t>Junio 30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5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 u="none" cap="none" strike="noStrike"/>
                        <a:t>Trimestre 3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/>
                        <a:t>Julio 1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/>
                        <a:t>Setiembre 30 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5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 u="none" cap="none" strike="noStrike"/>
                        <a:t>Trimestre 4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/>
                        <a:t>Octubre 1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/>
                        <a:t>Diciembre 30</a:t>
                      </a:r>
                      <a:endParaRPr/>
                    </a:p>
                  </a:txBody>
                  <a:tcPr marT="12525" marB="12525" marR="25075" marL="25075" anchor="ctr">
                    <a:lnL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087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10"/>
          <p:cNvSpPr/>
          <p:nvPr/>
        </p:nvSpPr>
        <p:spPr>
          <a:xfrm>
            <a:off x="2868328" y="3761182"/>
            <a:ext cx="2881977" cy="1022574"/>
          </a:xfrm>
          <a:prstGeom prst="rect">
            <a:avLst/>
          </a:prstGeom>
          <a:solidFill>
            <a:srgbClr val="D1EFF4"/>
          </a:solidFill>
          <a:ln>
            <a:noFill/>
          </a:ln>
        </p:spPr>
        <p:txBody>
          <a:bodyPr anchorCtr="0" anchor="b" bIns="144000" lIns="180000" spcFirstLastPara="1" rIns="91425" wrap="square" tIns="10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1739515" y="1087655"/>
            <a:ext cx="2079057" cy="1694046"/>
          </a:xfrm>
          <a:prstGeom prst="rect">
            <a:avLst/>
          </a:prstGeom>
          <a:solidFill>
            <a:srgbClr val="D1EFF4"/>
          </a:solidFill>
          <a:ln>
            <a:noFill/>
          </a:ln>
        </p:spPr>
        <p:txBody>
          <a:bodyPr anchorCtr="0" anchor="t" bIns="45700" lIns="180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rgbClr val="00B1C2"/>
                </a:solidFill>
                <a:latin typeface="Calibri"/>
                <a:ea typeface="Calibri"/>
                <a:cs typeface="Calibri"/>
                <a:sym typeface="Calibri"/>
              </a:rPr>
              <a:t>UBICACIÓN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Cuzco</a:t>
            </a:r>
            <a:endParaRPr/>
          </a:p>
        </p:txBody>
      </p:sp>
      <p:pic>
        <p:nvPicPr>
          <p:cNvPr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025259" y="1193077"/>
            <a:ext cx="2971827" cy="27871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10"/>
          <p:cNvCxnSpPr/>
          <p:nvPr/>
        </p:nvCxnSpPr>
        <p:spPr>
          <a:xfrm>
            <a:off x="4067175" y="2800951"/>
            <a:ext cx="610703" cy="0"/>
          </a:xfrm>
          <a:prstGeom prst="straightConnector1">
            <a:avLst/>
          </a:prstGeom>
          <a:noFill/>
          <a:ln cap="flat" cmpd="sng" w="38100">
            <a:solidFill>
              <a:srgbClr val="EE463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10"/>
          <p:cNvCxnSpPr/>
          <p:nvPr/>
        </p:nvCxnSpPr>
        <p:spPr>
          <a:xfrm>
            <a:off x="1266224" y="1953928"/>
            <a:ext cx="610703" cy="0"/>
          </a:xfrm>
          <a:prstGeom prst="straightConnector1">
            <a:avLst/>
          </a:prstGeom>
          <a:noFill/>
          <a:ln cap="flat" cmpd="sng" w="38100">
            <a:solidFill>
              <a:srgbClr val="EE46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" name="Google Shape;188;p10"/>
          <p:cNvSpPr/>
          <p:nvPr/>
        </p:nvSpPr>
        <p:spPr>
          <a:xfrm>
            <a:off x="6080509" y="1087655"/>
            <a:ext cx="2079057" cy="2011680"/>
          </a:xfrm>
          <a:prstGeom prst="rect">
            <a:avLst/>
          </a:prstGeom>
          <a:solidFill>
            <a:srgbClr val="D1EFF4"/>
          </a:solidFill>
          <a:ln>
            <a:noFill/>
          </a:ln>
        </p:spPr>
        <p:txBody>
          <a:bodyPr anchorCtr="0" anchor="t" bIns="45700" lIns="180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rgbClr val="00B1C2"/>
                </a:solidFill>
                <a:latin typeface="Calibri"/>
                <a:ea typeface="Calibri"/>
                <a:cs typeface="Calibri"/>
                <a:sym typeface="Calibri"/>
              </a:rPr>
              <a:t>PRODUCTOS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Uvas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Fresas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Melones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Manzanas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Peras</a:t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3164559" y="3907857"/>
            <a:ext cx="438741" cy="3646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T1</a:t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3649636" y="3907857"/>
            <a:ext cx="438741" cy="3646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T2</a:t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4194876" y="3907857"/>
            <a:ext cx="438741" cy="3646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T3</a:t>
            </a:r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4688554" y="3907857"/>
            <a:ext cx="438741" cy="3646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T4</a:t>
            </a:r>
            <a:endParaRPr/>
          </a:p>
        </p:txBody>
      </p:sp>
      <p:graphicFrame>
        <p:nvGraphicFramePr>
          <p:cNvPr id="193" name="Google Shape;193;p10"/>
          <p:cNvGraphicFramePr/>
          <p:nvPr/>
        </p:nvGraphicFramePr>
        <p:xfrm>
          <a:off x="1089005" y="3640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{C0FC4F03-75B0-4C4B-89F7-43FDB0901F38}</a:tableStyleId>
              </a:tblPr>
              <a:tblGrid>
                <a:gridCol w="557200"/>
                <a:gridCol w="557200"/>
                <a:gridCol w="557200"/>
              </a:tblGrid>
              <a:tr h="17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>
                          <a:solidFill>
                            <a:schemeClr val="lt1"/>
                          </a:solidFill>
                        </a:rPr>
                        <a:t>DÍA 1</a:t>
                      </a:r>
                      <a:endParaRPr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1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>
                          <a:solidFill>
                            <a:schemeClr val="lt1"/>
                          </a:solidFill>
                        </a:rPr>
                        <a:t>DÍA 2</a:t>
                      </a:r>
                      <a:endParaRPr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1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u="none" cap="none" strike="noStrike">
                          <a:solidFill>
                            <a:schemeClr val="lt1"/>
                          </a:solidFill>
                        </a:rPr>
                        <a:t>…</a:t>
                      </a:r>
                      <a:endParaRPr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1C2"/>
                    </a:solidFill>
                  </a:tcPr>
                </a:tc>
              </a:tr>
              <a:tr h="17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10"/>
          <p:cNvSpPr/>
          <p:nvPr/>
        </p:nvSpPr>
        <p:spPr>
          <a:xfrm>
            <a:off x="3195587" y="2569945"/>
            <a:ext cx="871588" cy="394636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Celda</a:t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503238" y="1722922"/>
            <a:ext cx="1056055" cy="394636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Miembro</a:t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744072" y="2478505"/>
            <a:ext cx="1229309" cy="394636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Dimensión</a:t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5329594" y="4272469"/>
            <a:ext cx="1334984" cy="394636"/>
          </a:xfrm>
          <a:prstGeom prst="roundRect">
            <a:avLst>
              <a:gd fmla="val 16667" name="adj"/>
            </a:avLst>
          </a:prstGeom>
          <a:solidFill>
            <a:srgbClr val="808799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Propiedades</a:t>
            </a:r>
            <a:endParaRPr/>
          </a:p>
        </p:txBody>
      </p:sp>
      <p:graphicFrame>
        <p:nvGraphicFramePr>
          <p:cNvPr id="198" name="Google Shape;198;p10"/>
          <p:cNvGraphicFramePr/>
          <p:nvPr/>
        </p:nvGraphicFramePr>
        <p:xfrm>
          <a:off x="1194883" y="39288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{C0FC4F03-75B0-4C4B-89F7-43FDB0901F38}</a:tableStyleId>
              </a:tblPr>
              <a:tblGrid>
                <a:gridCol w="557200"/>
                <a:gridCol w="557200"/>
                <a:gridCol w="557200"/>
              </a:tblGrid>
              <a:tr h="17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solidFill>
                            <a:schemeClr val="lt1"/>
                          </a:solidFill>
                        </a:rPr>
                        <a:t>Enr</a:t>
                      </a: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1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solidFill>
                            <a:schemeClr val="lt1"/>
                          </a:solidFill>
                        </a:rPr>
                        <a:t>Feb</a:t>
                      </a:r>
                      <a:endParaRPr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1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solidFill>
                            <a:schemeClr val="lt1"/>
                          </a:solidFill>
                        </a:rPr>
                        <a:t>…</a:t>
                      </a:r>
                      <a:endParaRPr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1C2"/>
                    </a:solidFill>
                  </a:tcPr>
                </a:tc>
              </a:tr>
              <a:tr h="17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9" name="Google Shape;199;p10"/>
          <p:cNvGraphicFramePr/>
          <p:nvPr/>
        </p:nvGraphicFramePr>
        <p:xfrm>
          <a:off x="1406638" y="42079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{C0FC4F03-75B0-4C4B-89F7-43FDB0901F38}</a:tableStyleId>
              </a:tblPr>
              <a:tblGrid>
                <a:gridCol w="557200"/>
                <a:gridCol w="557200"/>
                <a:gridCol w="557200"/>
              </a:tblGrid>
              <a:tr h="17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solidFill>
                            <a:schemeClr val="lt1"/>
                          </a:solidFill>
                        </a:rPr>
                        <a:t>2000</a:t>
                      </a:r>
                      <a:endParaRPr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1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solidFill>
                            <a:schemeClr val="lt1"/>
                          </a:solidFill>
                        </a:rPr>
                        <a:t>2001</a:t>
                      </a:r>
                      <a:endParaRPr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1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solidFill>
                            <a:schemeClr val="lt1"/>
                          </a:solidFill>
                        </a:rPr>
                        <a:t>…</a:t>
                      </a:r>
                      <a:endParaRPr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1C2"/>
                    </a:solidFill>
                  </a:tcPr>
                </a:tc>
              </a:tr>
              <a:tr h="17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"/>
                    </a:p>
                  </a:txBody>
                  <a:tcPr marT="12525" marB="12525" marR="25075" marL="25075">
                    <a:lnL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B1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0" name="Google Shape;200;p10"/>
          <p:cNvSpPr/>
          <p:nvPr/>
        </p:nvSpPr>
        <p:spPr>
          <a:xfrm>
            <a:off x="2164388" y="4272469"/>
            <a:ext cx="1229309" cy="394636"/>
          </a:xfrm>
          <a:prstGeom prst="roundRect">
            <a:avLst>
              <a:gd fmla="val 16667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Niveles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DEFINICIÓN DE CUBO DE DATOS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1008063" y="3169972"/>
            <a:ext cx="5122394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COMPONENTES DE </a:t>
            </a:r>
            <a:b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 CUBO DE DATOS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/>
          <p:nvPr/>
        </p:nvSpPr>
        <p:spPr>
          <a:xfrm>
            <a:off x="503237" y="912813"/>
            <a:ext cx="3889375" cy="3877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4" lvl="0" marL="179998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DIMENSIONES: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cada uno de los criterios por los que se analiza el hecho. En el ejemplo se muestra las dimensiones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Ubicación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Productos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66674" lvl="0" marL="17999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4" lvl="0" marL="179998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MIEMBRO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de una dimensión: cada una de las ocurrencias en una dimensión. Por ejemplo, la dimensión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Ubicación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muestra 3 miembros: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Cuzco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Lima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Loreto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66674" lvl="0" marL="17999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4" lvl="0" marL="179998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PROPIEDADES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de una dimensión: cada uno de los atributos de la dimensión. Por ejemplo, para la dimensión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tenemos las propiedades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denominación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fecha de inicio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fecha de fin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92074" lvl="0" marL="17999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COMPONENTES DE UN CUBO DE DATOS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0191" y="1491269"/>
            <a:ext cx="4050362" cy="2167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/>
        </p:nvSpPr>
        <p:spPr>
          <a:xfrm>
            <a:off x="503237" y="912813"/>
            <a:ext cx="3889375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1450" lvl="0" marL="18256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NIVELES 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 una dimensión: jerarquías presentes en una dimensión. En la dimensión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tenemos los niveles: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año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trimestre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mes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día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que nos permiten analizar el hecho por periodos de tiempo.</a:t>
            </a:r>
            <a:endParaRPr/>
          </a:p>
          <a:p>
            <a:pPr indent="-66674" lvl="0" marL="17999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4" lvl="0" marL="179998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CELDA: 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valor de una medida en el cubo. Si el cubo muestra la medida monto de ventas, la celda apuntada registra el monto de ventas del producto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Fresas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, en la ubicación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Cuzco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, para el periodo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T4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224" name="Google Shape;2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0191" y="1491269"/>
            <a:ext cx="4050362" cy="216776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COMPONENTES DE UN CUBO DE DATOS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1008063" y="3169972"/>
            <a:ext cx="5122394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CREACIÓN DE </a:t>
            </a:r>
            <a:br>
              <a:rPr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P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 CUBO DE DATOS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"/>
          <p:cNvSpPr txBox="1"/>
          <p:nvPr/>
        </p:nvSpPr>
        <p:spPr>
          <a:xfrm>
            <a:off x="506290" y="912813"/>
            <a:ext cx="7735824" cy="3508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crear un cubo debemos:</a:t>
            </a:r>
            <a:endParaRPr/>
          </a:p>
          <a:p>
            <a:pPr indent="-66674" lvl="0" marL="17999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7306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la fuente de los datos para las dimensiones, las transacciones y la métrica (medidas) a procesar en el cubo.</a:t>
            </a:r>
            <a:endParaRPr/>
          </a:p>
          <a:p>
            <a:pPr indent="0" lvl="0" marL="37306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7306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la vista de la fuente de los datos que define la data relevante para cubo.</a:t>
            </a:r>
            <a:endParaRPr/>
          </a:p>
          <a:p>
            <a:pPr indent="0" lvl="0" marL="37306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7306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las dimensiones y personalizarlas según los requerimientos de información para análisis.</a:t>
            </a:r>
            <a:endParaRPr/>
          </a:p>
          <a:p>
            <a:pPr indent="0" lvl="0" marL="37306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7306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la tabla de hechos y su métrica.</a:t>
            </a:r>
            <a:endParaRPr/>
          </a:p>
          <a:p>
            <a:pPr indent="0" lvl="0" marL="37306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73062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Procesar el cubo.</a:t>
            </a:r>
            <a:endParaRPr/>
          </a:p>
          <a:p>
            <a:pPr indent="-41274" lvl="0" marL="17999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CREACIÓN DE UN CUBO DE DATOS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15"/>
          <p:cNvCxnSpPr/>
          <p:nvPr/>
        </p:nvCxnSpPr>
        <p:spPr>
          <a:xfrm>
            <a:off x="684213" y="1629327"/>
            <a:ext cx="0" cy="494045"/>
          </a:xfrm>
          <a:prstGeom prst="straightConnector1">
            <a:avLst/>
          </a:prstGeom>
          <a:noFill/>
          <a:ln cap="flat" cmpd="sng" w="9525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15"/>
          <p:cNvSpPr/>
          <p:nvPr/>
        </p:nvSpPr>
        <p:spPr>
          <a:xfrm>
            <a:off x="607871" y="143622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607871" y="217265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607871" y="2663612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15"/>
          <p:cNvCxnSpPr/>
          <p:nvPr/>
        </p:nvCxnSpPr>
        <p:spPr>
          <a:xfrm>
            <a:off x="684213" y="2378030"/>
            <a:ext cx="0" cy="247022"/>
          </a:xfrm>
          <a:prstGeom prst="straightConnector1">
            <a:avLst/>
          </a:prstGeom>
          <a:noFill/>
          <a:ln cap="flat" cmpd="sng" w="9525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5"/>
          <p:cNvSpPr/>
          <p:nvPr/>
        </p:nvSpPr>
        <p:spPr>
          <a:xfrm>
            <a:off x="607871" y="3400042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15"/>
          <p:cNvCxnSpPr/>
          <p:nvPr/>
        </p:nvCxnSpPr>
        <p:spPr>
          <a:xfrm>
            <a:off x="684213" y="2862846"/>
            <a:ext cx="0" cy="481771"/>
          </a:xfrm>
          <a:prstGeom prst="straightConnector1">
            <a:avLst/>
          </a:prstGeom>
          <a:noFill/>
          <a:ln cap="flat" cmpd="sng" w="9525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5"/>
          <p:cNvSpPr/>
          <p:nvPr/>
        </p:nvSpPr>
        <p:spPr>
          <a:xfrm>
            <a:off x="607871" y="3897132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15"/>
          <p:cNvCxnSpPr/>
          <p:nvPr/>
        </p:nvCxnSpPr>
        <p:spPr>
          <a:xfrm>
            <a:off x="684213" y="3599276"/>
            <a:ext cx="0" cy="247022"/>
          </a:xfrm>
          <a:prstGeom prst="straightConnector1">
            <a:avLst/>
          </a:prstGeom>
          <a:noFill/>
          <a:ln cap="flat" cmpd="sng" w="9525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 txBox="1"/>
          <p:nvPr/>
        </p:nvSpPr>
        <p:spPr>
          <a:xfrm>
            <a:off x="501683" y="912813"/>
            <a:ext cx="7781860" cy="3339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PROCESAMIENTO DE UN CUBO DE DATOS</a:t>
            </a:r>
            <a:endParaRPr/>
          </a:p>
          <a:p>
            <a:pPr indent="0" lvl="0" marL="11724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acceder a la información del cubo debemos procesarlo. </a:t>
            </a:r>
            <a:endParaRPr/>
          </a:p>
          <a:p>
            <a:pPr indent="0" lvl="0" marL="11724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procesamiento:</a:t>
            </a:r>
            <a:endParaRPr/>
          </a:p>
          <a:p>
            <a:pPr indent="-66674" lvl="0" marL="17999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5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Conecta el cubo a la fuente de datos para extraer la información.</a:t>
            </a:r>
            <a:endParaRPr/>
          </a:p>
          <a:p>
            <a:pPr indent="-76200" lvl="0" marL="1825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5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 la sumarización de los datos (agregaciones).</a:t>
            </a:r>
            <a:endParaRPr/>
          </a:p>
          <a:p>
            <a:pPr indent="-76200" lvl="0" marL="1825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5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Procesa el cubo y las dimensiones que no hayan sido procesadas.</a:t>
            </a:r>
            <a:endParaRPr/>
          </a:p>
          <a:p>
            <a:pPr indent="-76200" lvl="0" marL="1825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56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Mientras no se procese el cubo solo se tendrá creada su estructura, pero la información no estará disponible.</a:t>
            </a:r>
            <a:endParaRPr/>
          </a:p>
          <a:p>
            <a:pPr indent="-41274" lvl="0" marL="17999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CREACIÓN DE UN CUBO DE DATOS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" name="Google Shape;262;p17"/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263" name="Google Shape;263;p17"/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CONCLUSIONES</a:t>
              </a:r>
              <a:br>
                <a:rPr lang="es-PE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s-PE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MÁS REFERENCIAS</a:t>
              </a:r>
              <a:endParaRPr/>
            </a:p>
          </p:txBody>
        </p:sp>
        <p:pic>
          <p:nvPicPr>
            <p:cNvPr id="264" name="Google Shape;264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5" name="Google Shape;2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53" y="946969"/>
            <a:ext cx="2072214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 txBox="1"/>
          <p:nvPr/>
        </p:nvSpPr>
        <p:spPr>
          <a:xfrm>
            <a:off x="1279544" y="912813"/>
            <a:ext cx="5385143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concepto de cubo permite explicar el porqué del </a:t>
            </a:r>
            <a:r>
              <a:rPr b="1"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modelado de datos multidimensional </a:t>
            </a: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cómo facilita el análisis de datos, ya que partiendo de un elemento en 3 dimensiones, podemos explicar la multidimensionalidad de los cubos de datos.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procesamiento de un cubo permite que la data a la que hace referencia esté disponible para los usuarios de negocios.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procesamiento de un cubo, además de extraer la data que requiere de la fuente de datos, ejecuta todas las </a:t>
            </a:r>
            <a:r>
              <a:rPr b="1"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agregaciones de datos</a:t>
            </a: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(consultas GROUP BY) requeridas para obtener los </a:t>
            </a:r>
            <a:r>
              <a:rPr b="1"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reportes consolidados de forma más rápida</a:t>
            </a: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273" name="Google Shape;2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60" y="954885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60" y="2029359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8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18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6984999" y="3048772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8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pic>
        <p:nvPicPr>
          <p:cNvPr id="278" name="Google Shape;2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60" y="2656486"/>
            <a:ext cx="114138" cy="117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br>
              <a:rPr lang="es-PE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PE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 REFERENCIAS</a:t>
            </a:r>
            <a:endParaRPr/>
          </a:p>
        </p:txBody>
      </p:sp>
      <p:pic>
        <p:nvPicPr>
          <p:cNvPr id="285" name="Google Shape;2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46970"/>
            <a:ext cx="2072061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1279008" y="917823"/>
            <a:ext cx="5032569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OLAP? Recuperado de https://www.ibm.com/mx-es/topics/olap. Fecha de consulta: 17 de mayo del 2024</a:t>
            </a:r>
            <a:endParaRPr/>
          </a:p>
          <a:p>
            <a:pPr indent="0" lvl="0" marL="1172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el procesamiento analítico en linea? Recuperado de https://aws.amazon.com/es/what-is/olap/. Fecha de consulta: 17 de mayo del 2024</a:t>
            </a:r>
            <a:endParaRPr/>
          </a:p>
          <a:p>
            <a:pPr indent="0" lvl="0" marL="1172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de un cubo OLAP. Recuperado de https://learn.microsoft.com/es-es/system-center/scsm/olap-cubes-overview?view=sc-sm-2022. Fecha de consulta: 17 de mayo del 2024</a:t>
            </a:r>
            <a:endParaRPr b="0" i="0" sz="1400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1620119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0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0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0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PE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298" name="Google Shape;2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2473150"/>
            <a:ext cx="103867" cy="106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2016-10-06T14:52:02Z</dcterms:created>
  <dc:creator>ISIL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