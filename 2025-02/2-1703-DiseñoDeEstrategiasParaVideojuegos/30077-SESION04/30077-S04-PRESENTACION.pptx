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7.xml" ContentType="application/vnd.openxmlformats-officedocument.presentationml.notesSlide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306" r:id="rId3"/>
    <p:sldId id="315" r:id="rId4"/>
    <p:sldId id="316" r:id="rId5"/>
    <p:sldId id="324" r:id="rId6"/>
    <p:sldId id="326" r:id="rId7"/>
    <p:sldId id="325" r:id="rId8"/>
    <p:sldId id="309" r:id="rId9"/>
    <p:sldId id="330" r:id="rId10"/>
    <p:sldId id="327" r:id="rId11"/>
    <p:sldId id="328" r:id="rId12"/>
    <p:sldId id="329" r:id="rId13"/>
    <p:sldId id="331" r:id="rId14"/>
    <p:sldId id="332" r:id="rId15"/>
    <p:sldId id="335" r:id="rId16"/>
    <p:sldId id="336" r:id="rId17"/>
    <p:sldId id="338" r:id="rId18"/>
    <p:sldId id="339" r:id="rId19"/>
    <p:sldId id="333" r:id="rId20"/>
    <p:sldId id="340" r:id="rId21"/>
    <p:sldId id="341" r:id="rId22"/>
    <p:sldId id="342" r:id="rId23"/>
    <p:sldId id="343" r:id="rId24"/>
    <p:sldId id="344" r:id="rId25"/>
    <p:sldId id="345" r:id="rId26"/>
    <p:sldId id="304" r:id="rId27"/>
    <p:sldId id="303" r:id="rId28"/>
    <p:sldId id="305" r:id="rId29"/>
  </p:sldIdLst>
  <p:sldSz cx="9144000" cy="5715000" type="screen16x10"/>
  <p:notesSz cx="6858000" cy="91440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">
          <p15:clr>
            <a:srgbClr val="A4A3A4"/>
          </p15:clr>
        </p15:guide>
        <p15:guide id="2" pos="5455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4" orient="horz" pos="689" userDrawn="1">
          <p15:clr>
            <a:srgbClr val="A4A3A4"/>
          </p15:clr>
        </p15:guide>
        <p15:guide id="5" pos="476" userDrawn="1">
          <p15:clr>
            <a:srgbClr val="A4A3A4"/>
          </p15:clr>
        </p15:guide>
        <p15:guide id="6" pos="493">
          <p15:clr>
            <a:srgbClr val="A4A3A4"/>
          </p15:clr>
        </p15:guide>
        <p15:guide id="7" orient="horz" pos="387">
          <p15:clr>
            <a:srgbClr val="A4A3A4"/>
          </p15:clr>
        </p15:guide>
        <p15:guide id="8" orient="horz" pos="542">
          <p15:clr>
            <a:srgbClr val="A4A3A4"/>
          </p15:clr>
        </p15:guide>
        <p15:guide id="9" orient="horz" pos="259">
          <p15:clr>
            <a:srgbClr val="A4A3A4"/>
          </p15:clr>
        </p15:guide>
        <p15:guide id="10" orient="horz" pos="3269">
          <p15:clr>
            <a:srgbClr val="A4A3A4"/>
          </p15:clr>
        </p15:guide>
        <p15:guide id="11" pos="5461">
          <p15:clr>
            <a:srgbClr val="A4A3A4"/>
          </p15:clr>
        </p15:guide>
        <p15:guide id="12" pos="30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va Zoraida Hamada Doshi" initials="EZHD" lastIdx="1" clrIdx="0">
    <p:extLst>
      <p:ext uri="{19B8F6BF-5375-455C-9EA6-DF929625EA0E}">
        <p15:presenceInfo xmlns:p15="http://schemas.microsoft.com/office/powerpoint/2012/main" userId="Elva Zoraida Hamada Dosh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5EF"/>
    <a:srgbClr val="558ED5"/>
    <a:srgbClr val="FFFFFF"/>
    <a:srgbClr val="C00000"/>
    <a:srgbClr val="A6A6A6"/>
    <a:srgbClr val="F2F2F2"/>
    <a:srgbClr val="7F7F7F"/>
    <a:srgbClr val="FFFFFE"/>
    <a:srgbClr val="00B4B0"/>
    <a:srgbClr val="215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67" autoAdjust="0"/>
    <p:restoredTop sz="90000" autoAdjust="0"/>
  </p:normalViewPr>
  <p:slideViewPr>
    <p:cSldViewPr snapToGrid="0" snapToObjects="1" showGuides="1">
      <p:cViewPr varScale="1">
        <p:scale>
          <a:sx n="98" d="100"/>
          <a:sy n="98" d="100"/>
        </p:scale>
        <p:origin x="1470" y="72"/>
      </p:cViewPr>
      <p:guideLst>
        <p:guide orient="horz" pos="217"/>
        <p:guide pos="5455"/>
        <p:guide orient="horz" pos="3274"/>
        <p:guide orient="horz" pos="689"/>
        <p:guide pos="476"/>
        <p:guide pos="493"/>
        <p:guide orient="horz" pos="387"/>
        <p:guide orient="horz" pos="542"/>
        <p:guide orient="horz" pos="259"/>
        <p:guide orient="horz" pos="3269"/>
        <p:guide pos="5461"/>
        <p:guide pos="30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03/11/2020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3/11/2020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10070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80750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8438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8723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9672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64727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49347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2935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9410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25060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876302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7255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6075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24322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312777" y="5260073"/>
            <a:ext cx="8568205" cy="312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488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/>
          <p:cNvSpPr>
            <a:spLocks noGrp="1"/>
          </p:cNvSpPr>
          <p:nvPr>
            <p:ph type="pic" sz="quarter" idx="11"/>
          </p:nvPr>
        </p:nvSpPr>
        <p:spPr>
          <a:xfrm>
            <a:off x="5045075" y="881063"/>
            <a:ext cx="3624263" cy="4308475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/>
          <p:cNvSpPr>
            <a:spLocks noGrp="1"/>
          </p:cNvSpPr>
          <p:nvPr>
            <p:ph type="pic" sz="quarter" idx="10"/>
          </p:nvPr>
        </p:nvSpPr>
        <p:spPr>
          <a:xfrm>
            <a:off x="488950" y="881063"/>
            <a:ext cx="3682835" cy="4308474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/>
          <p:cNvSpPr>
            <a:spLocks noGrp="1"/>
          </p:cNvSpPr>
          <p:nvPr>
            <p:ph type="pic" sz="quarter" idx="10"/>
          </p:nvPr>
        </p:nvSpPr>
        <p:spPr>
          <a:xfrm>
            <a:off x="2260600" y="2295525"/>
            <a:ext cx="4622800" cy="2903538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/>
          <p:cNvSpPr>
            <a:spLocks noGrp="1"/>
          </p:cNvSpPr>
          <p:nvPr>
            <p:ph type="pic" sz="quarter" idx="11"/>
          </p:nvPr>
        </p:nvSpPr>
        <p:spPr>
          <a:xfrm>
            <a:off x="4662488" y="1528763"/>
            <a:ext cx="4006850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  <p:sp>
        <p:nvSpPr>
          <p:cNvPr id="6" name="Marcador de imágenes prediseñadas 5"/>
          <p:cNvSpPr>
            <a:spLocks noGrp="1"/>
          </p:cNvSpPr>
          <p:nvPr>
            <p:ph type="clipArt" sz="quarter" idx="10"/>
          </p:nvPr>
        </p:nvSpPr>
        <p:spPr>
          <a:xfrm>
            <a:off x="503238" y="1528763"/>
            <a:ext cx="4013235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488950" y="860424"/>
            <a:ext cx="8180387" cy="4329113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2184400" y="1360488"/>
            <a:ext cx="4775200" cy="2686050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6388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DISEÑO</a:t>
              </a:r>
              <a:r>
                <a:rPr lang="en-US" sz="800" kern="1200" baseline="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DE ESTRATEGIAS PARA VIDEOJUEGOS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04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379148" y="5384440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60" r:id="rId5"/>
    <p:sldLayoutId id="2147483657" r:id="rId6"/>
    <p:sldLayoutId id="2147483658" r:id="rId7"/>
    <p:sldLayoutId id="2147483661" r:id="rId8"/>
    <p:sldLayoutId id="2147483659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503238" y="1207530"/>
            <a:ext cx="8049072" cy="3421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alibri"/>
                <a:cs typeface="Calibri"/>
              </a:rPr>
              <a:t>SESIÓN /</a:t>
            </a:r>
            <a:r>
              <a:rPr lang="en-US" sz="2800" b="1" dirty="0">
                <a:solidFill>
                  <a:schemeClr val="bg1"/>
                </a:solidFill>
                <a:latin typeface="Calibri"/>
                <a:cs typeface="Calibri"/>
              </a:rPr>
              <a:t>4</a:t>
            </a:r>
          </a:p>
          <a:p>
            <a:pPr algn="ctr">
              <a:lnSpc>
                <a:spcPct val="90000"/>
              </a:lnSpc>
              <a:defRPr/>
            </a:pPr>
            <a:r>
              <a:rPr lang="es-PE" sz="3000" b="1" dirty="0">
                <a:solidFill>
                  <a:schemeClr val="bg1"/>
                </a:solidFill>
                <a:latin typeface="Calibri"/>
                <a:cs typeface="Calibri"/>
              </a:rPr>
              <a:t>STORYTELLING PARA JUEGOS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110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ES" sz="1600" b="1" dirty="0">
                <a:solidFill>
                  <a:schemeClr val="bg1"/>
                </a:solidFill>
                <a:latin typeface="Calibri"/>
                <a:cs typeface="Calibri"/>
              </a:rPr>
              <a:t>CONFLICTO</a:t>
            </a:r>
            <a:br>
              <a:rPr lang="es-ES" sz="16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ES" sz="1600" b="1" dirty="0">
                <a:solidFill>
                  <a:schemeClr val="bg1"/>
                </a:solidFill>
                <a:latin typeface="Calibri"/>
                <a:cs typeface="Calibri"/>
              </a:rPr>
              <a:t>ESTRUCTURA DE 3 ACTOS</a:t>
            </a:r>
            <a:br>
              <a:rPr lang="es-ES" sz="16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n-US" sz="1600" b="1" dirty="0">
                <a:solidFill>
                  <a:schemeClr val="bg1"/>
                </a:solidFill>
                <a:cs typeface="Calibri"/>
              </a:rPr>
              <a:t>/ </a:t>
            </a:r>
            <a:r>
              <a:rPr lang="es-ES" sz="1600" b="1" dirty="0">
                <a:solidFill>
                  <a:schemeClr val="bg1"/>
                </a:solidFill>
                <a:cs typeface="Calibri"/>
              </a:rPr>
              <a:t>TRIÁNGULO DE LA RAREZA</a:t>
            </a:r>
            <a:br>
              <a:rPr lang="es-ES" sz="1600" b="1" dirty="0">
                <a:solidFill>
                  <a:schemeClr val="bg1"/>
                </a:solidFill>
                <a:cs typeface="Calibri"/>
              </a:rPr>
            </a:br>
            <a:r>
              <a:rPr lang="en-US" sz="1600" b="1" dirty="0">
                <a:solidFill>
                  <a:schemeClr val="bg1"/>
                </a:solidFill>
                <a:cs typeface="Calibri"/>
              </a:rPr>
              <a:t>/ INTRODUCCIÓN AL DOCUMENTO DE DISEÑO</a:t>
            </a:r>
            <a:endParaRPr lang="es-ES" sz="1600" dirty="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317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INTRODUCCIÓN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5299" y="810908"/>
            <a:ext cx="8102216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lvl="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Un factor que suma a la experiencia del jugador y ayuda a la inmersión del jugador es la </a:t>
            </a:r>
            <a:r>
              <a:rPr lang="es-PE" sz="1600" spc="-10" dirty="0" smtClean="0">
                <a:solidFill>
                  <a:srgbClr val="262626"/>
                </a:solidFill>
              </a:rPr>
              <a:t>historia. </a:t>
            </a:r>
            <a:r>
              <a:rPr lang="es-PE" sz="1600" spc="-10" dirty="0">
                <a:solidFill>
                  <a:srgbClr val="262626"/>
                </a:solidFill>
              </a:rPr>
              <a:t>E</a:t>
            </a:r>
            <a:r>
              <a:rPr lang="es-PE" sz="1600" spc="-10" dirty="0" smtClean="0">
                <a:solidFill>
                  <a:srgbClr val="262626"/>
                </a:solidFill>
              </a:rPr>
              <a:t>n </a:t>
            </a:r>
            <a:r>
              <a:rPr lang="es-PE" sz="1600" spc="-10" dirty="0">
                <a:solidFill>
                  <a:srgbClr val="262626"/>
                </a:solidFill>
              </a:rPr>
              <a:t>esta </a:t>
            </a:r>
            <a:r>
              <a:rPr lang="es-PE" sz="1600" spc="-10" dirty="0" smtClean="0">
                <a:solidFill>
                  <a:srgbClr val="262626"/>
                </a:solidFill>
              </a:rPr>
              <a:t>sesión </a:t>
            </a:r>
            <a:r>
              <a:rPr lang="es-PE" sz="1600" spc="-10" dirty="0">
                <a:solidFill>
                  <a:srgbClr val="262626"/>
                </a:solidFill>
              </a:rPr>
              <a:t>aprenderemos </a:t>
            </a:r>
            <a:r>
              <a:rPr lang="es-PE" sz="1600" spc="-10" dirty="0" smtClean="0">
                <a:solidFill>
                  <a:srgbClr val="262626"/>
                </a:solidFill>
              </a:rPr>
              <a:t>cómo </a:t>
            </a:r>
            <a:r>
              <a:rPr lang="es-PE" sz="1600" spc="-10" dirty="0">
                <a:solidFill>
                  <a:srgbClr val="262626"/>
                </a:solidFill>
              </a:rPr>
              <a:t>estructurar nuestra historia de juego y algunas técnicas para escribir mejores historias.</a:t>
            </a:r>
          </a:p>
          <a:p>
            <a:pPr marL="180000" lvl="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lvl="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Finalmente comenzaremos a abordar el documento de diseño y la importancia del mismo en el ciclo de vida del desarrollo de un videojuego.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737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CONFLICTO</a:t>
            </a: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Alguien quiere o necesita algo, pero algo o alguien se interpone en el camino.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Una historia debe tener al menos un conflicto principal.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CONFLICTO</a:t>
            </a:r>
          </a:p>
        </p:txBody>
      </p:sp>
      <p:pic>
        <p:nvPicPr>
          <p:cNvPr id="1026" name="Picture 2" descr="Resultado de imagen para shovel knight story">
            <a:extLst>
              <a:ext uri="{FF2B5EF4-FFF2-40B4-BE49-F238E27FC236}">
                <a16:creationId xmlns:a16="http://schemas.microsoft.com/office/drawing/2014/main" id="{6B9129E7-A42B-4706-ABA3-558CE5F50694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4" t="-44236" r="1664" b="-44236"/>
          <a:stretch/>
        </p:blipFill>
        <p:spPr bwMode="auto">
          <a:xfrm>
            <a:off x="5045075" y="881063"/>
            <a:ext cx="3624263" cy="43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905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conflicto es el combustible de la historia y el gameplay.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La diferencia con una película es que en un videojuego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tú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eres el personaje que resuelve los conflictos.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CONFLICTO</a:t>
            </a:r>
          </a:p>
        </p:txBody>
      </p:sp>
      <p:pic>
        <p:nvPicPr>
          <p:cNvPr id="2050" name="Picture 2" descr="Resultado de imagen para fez game story">
            <a:extLst>
              <a:ext uri="{FF2B5EF4-FFF2-40B4-BE49-F238E27FC236}">
                <a16:creationId xmlns:a16="http://schemas.microsoft.com/office/drawing/2014/main" id="{3E798A29-26AA-402E-A929-544A436A350A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r="23713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348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¿Cuál sería el conflicto en el cuento Pinocho?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CONFLICTO</a:t>
            </a:r>
          </a:p>
        </p:txBody>
      </p:sp>
      <p:pic>
        <p:nvPicPr>
          <p:cNvPr id="5122" name="Picture 2" descr="Resultado de imagen para pinocho">
            <a:extLst>
              <a:ext uri="{FF2B5EF4-FFF2-40B4-BE49-F238E27FC236}">
                <a16:creationId xmlns:a16="http://schemas.microsoft.com/office/drawing/2014/main" id="{3F267DB6-28D7-4CC1-875A-1282F4CA508C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1" b="816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195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¿Cuál sería el conflicto en la película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Shreck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I?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CONFLICTO</a:t>
            </a:r>
          </a:p>
        </p:txBody>
      </p:sp>
      <p:pic>
        <p:nvPicPr>
          <p:cNvPr id="4098" name="Picture 2" descr="Resultado de imagen para shrek 1">
            <a:extLst>
              <a:ext uri="{FF2B5EF4-FFF2-40B4-BE49-F238E27FC236}">
                <a16:creationId xmlns:a16="http://schemas.microsoft.com/office/drawing/2014/main" id="{714EB079-1E07-4F66-A23D-7E3DEC5BB018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1" r="522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9433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¿Cuál sería el conflicto en el juego Mario Bros?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CONFLICTO</a:t>
            </a:r>
          </a:p>
        </p:txBody>
      </p:sp>
      <p:pic>
        <p:nvPicPr>
          <p:cNvPr id="3074" name="Picture 2" descr="Resultado de imagen para mario bros peach kidnapping">
            <a:extLst>
              <a:ext uri="{FF2B5EF4-FFF2-40B4-BE49-F238E27FC236}">
                <a16:creationId xmlns:a16="http://schemas.microsoft.com/office/drawing/2014/main" id="{CA9EEFF6-0D5D-4E11-8101-27DA324C60BE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1" r="522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8591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Las historias pueden aumentar significativamente el entretenimiento que ofrece un juego. (Nos da un contexto).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Las historias atraen a un público más amplio.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Las historias ayudan a mantener a los jugadores interesados en juegos largos.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Las historias ayudan a vender el juego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</a:t>
            </a:r>
            <a:r>
              <a:rPr lang="en-US" sz="1700" dirty="0" smtClean="0">
                <a:solidFill>
                  <a:srgbClr val="438AD7"/>
                </a:solidFill>
              </a:rPr>
              <a:t>POR QUÉ </a:t>
            </a:r>
            <a:r>
              <a:rPr lang="en-US" sz="1700" dirty="0">
                <a:solidFill>
                  <a:srgbClr val="438AD7"/>
                </a:solidFill>
              </a:rPr>
              <a:t>PONER HISTORIA EN LOS JUEGOS?</a:t>
            </a:r>
          </a:p>
        </p:txBody>
      </p:sp>
      <p:pic>
        <p:nvPicPr>
          <p:cNvPr id="6146" name="Picture 2" descr="Resultado de imagen para resident evil 3 story">
            <a:extLst>
              <a:ext uri="{FF2B5EF4-FFF2-40B4-BE49-F238E27FC236}">
                <a16:creationId xmlns:a16="http://schemas.microsoft.com/office/drawing/2014/main" id="{2FADACBF-2307-43B3-9806-BC14FF990B7B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71" t="-126" r="-157" b="-126"/>
          <a:stretch/>
        </p:blipFill>
        <p:spPr bwMode="auto">
          <a:xfrm>
            <a:off x="5045075" y="881063"/>
            <a:ext cx="3624263" cy="43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71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ESTRUCTURA DE TRES ACTOS</a:t>
            </a: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122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Aristóteles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“Un todo es todo lo que tiene principio, medio y fin</a:t>
            </a:r>
            <a:r>
              <a:rPr lang="es-PE" sz="1600" spc="-10" dirty="0" smtClean="0">
                <a:solidFill>
                  <a:srgbClr val="262626"/>
                </a:solidFill>
              </a:rPr>
              <a:t>”.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ESTRUCTURA DE TRES ACTOS</a:t>
            </a:r>
          </a:p>
        </p:txBody>
      </p:sp>
      <p:pic>
        <p:nvPicPr>
          <p:cNvPr id="7170" name="Picture 2" descr="Resultado de imagen para teatro romano aristoteles">
            <a:extLst>
              <a:ext uri="{FF2B5EF4-FFF2-40B4-BE49-F238E27FC236}">
                <a16:creationId xmlns:a16="http://schemas.microsoft.com/office/drawing/2014/main" id="{1B44CF5C-A400-4650-9A1F-D6E8A97E853B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930" t="-2353" r="-11930" b="-2353"/>
          <a:stretch/>
        </p:blipFill>
        <p:spPr bwMode="auto">
          <a:xfrm>
            <a:off x="5045075" y="881063"/>
            <a:ext cx="3624263" cy="43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150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Una historia completa contiene tres fases bien marcadas: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inicio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, medio y final.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Estas tres etapas giran en torno al CONFLICTO.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ESTRUCTURA DE TRES ACTOS</a:t>
            </a:r>
          </a:p>
        </p:txBody>
      </p:sp>
      <p:pic>
        <p:nvPicPr>
          <p:cNvPr id="2" name="Marcador de posición de imagen 1">
            <a:extLst>
              <a:ext uri="{FF2B5EF4-FFF2-40B4-BE49-F238E27FC236}">
                <a16:creationId xmlns:a16="http://schemas.microsoft.com/office/drawing/2014/main" id="{56ED178B-5AFF-4DA2-9D7E-712BD19295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436" t="-108765" r="436" b="-108765"/>
          <a:stretch/>
        </p:blipFill>
        <p:spPr>
          <a:xfrm>
            <a:off x="2260600" y="2295525"/>
            <a:ext cx="4622800" cy="29035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45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Incidente detonador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Evento, ocurrencia o acción que introduce al héroe al conflicto principal</a:t>
            </a:r>
            <a:br>
              <a:rPr lang="es-PE" sz="1600" spc="-10" dirty="0">
                <a:solidFill>
                  <a:srgbClr val="262626"/>
                </a:solidFill>
              </a:rPr>
            </a:b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INICIO</a:t>
            </a:r>
          </a:p>
        </p:txBody>
      </p:sp>
      <p:pic>
        <p:nvPicPr>
          <p:cNvPr id="8194" name="Picture 2" descr="Resultado de imagen para super meat boy">
            <a:extLst>
              <a:ext uri="{FF2B5EF4-FFF2-40B4-BE49-F238E27FC236}">
                <a16:creationId xmlns:a16="http://schemas.microsoft.com/office/drawing/2014/main" id="{DABDD21A-D64D-4A93-A164-2ECCE1F70A03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75" t="-7461" r="22475" b="-7461"/>
          <a:stretch/>
        </p:blipFill>
        <p:spPr bwMode="auto">
          <a:xfrm>
            <a:off x="5045075" y="881063"/>
            <a:ext cx="3624263" cy="43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908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03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héroe finalmente se compromete a resolver el conflicto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Comenzar a ver qué tipo de obstáculos enfrentará el protagonista y cómo logrará superarlos.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I</a:t>
            </a:r>
            <a:r>
              <a:rPr lang="es-PE" sz="1600" spc="-10" dirty="0" smtClean="0">
                <a:solidFill>
                  <a:srgbClr val="262626"/>
                </a:solidFill>
              </a:rPr>
              <a:t>ncrementa </a:t>
            </a:r>
            <a:r>
              <a:rPr lang="es-PE" sz="1600" spc="-10" dirty="0">
                <a:solidFill>
                  <a:srgbClr val="262626"/>
                </a:solidFill>
              </a:rPr>
              <a:t>progresivamente la tensión, el drama y las cosas en </a:t>
            </a:r>
            <a:r>
              <a:rPr lang="es-PE" sz="1600" spc="-10" dirty="0" smtClean="0">
                <a:solidFill>
                  <a:srgbClr val="262626"/>
                </a:solidFill>
              </a:rPr>
              <a:t>juego.</a:t>
            </a: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MEDIO</a:t>
            </a:r>
          </a:p>
        </p:txBody>
      </p:sp>
      <p:sp>
        <p:nvSpPr>
          <p:cNvPr id="4" name="Marcador de posición de imagen 3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30409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nivel de tensión que siente el público es una buena medida de conflicto y ritmo, y se puede contar para predecir qué tan atractiva será la historia para el público en un momento dado. A continuación se muestra cómo se ven generalmente los niveles de tensión en una historia estándar de tres actos:</a:t>
            </a: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MAPA DE TENSIÓN</a:t>
            </a:r>
          </a:p>
        </p:txBody>
      </p:sp>
      <p:pic>
        <p:nvPicPr>
          <p:cNvPr id="2" name="Marcador de posición de imagen 1">
            <a:extLst>
              <a:ext uri="{FF2B5EF4-FFF2-40B4-BE49-F238E27FC236}">
                <a16:creationId xmlns:a16="http://schemas.microsoft.com/office/drawing/2014/main" id="{D8A3E38E-2049-4B21-BFFF-A172DA33583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-2152" t="-28530" r="-2152" b="-2853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82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03294"/>
            <a:ext cx="4376446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Baja tensión en el Acto I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Aumento de la tensión en el Acto II, la mayor tensión a medida que cruzamos el Acto III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Un rápido descenso de toda la tensión al final de la historia.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 tensión está estrechamente relacionada con el conflicto.</a:t>
            </a: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MAPA DE TENSIÓN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014E80D6-124F-4566-B535-33FE2DC9A0C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-2152" t="-28530" r="-2152" b="-2853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8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Aplicando el mapa de tensión a un juego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En una película el Acto I puede abarcar el 25% de toda la historia, pero en un videojuego (el jugador tiene toda la predisposición de sentarse y ponerse a jugar)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MAPA DE TENSIÓN</a:t>
            </a:r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ADB2214D-2BE1-4DDF-92FE-32E362E58D8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-3783" t="385" r="-3783" b="385"/>
          <a:stretch/>
        </p:blipFill>
        <p:spPr>
          <a:xfrm>
            <a:off x="2260600" y="2295525"/>
            <a:ext cx="4622800" cy="29035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582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primeros minutos de juego deben ser muy convincentes, para convencer a los jugadores de que van a querer quedarse un rato.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diseñadores y escritores de juegos a menudo se dirigen directamente a la introducción del conflicto principal, ya que no ven un camino directo para crear un juego atractivo sin el conflicto principal para proporcionar interés, motivación y contexto para los jugadores.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MAPA DE TENSIÓN</a:t>
            </a:r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ADB2214D-2BE1-4DDF-92FE-32E362E58D8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-3783" t="385" r="-3783" b="385"/>
          <a:stretch/>
        </p:blipFill>
        <p:spPr>
          <a:xfrm>
            <a:off x="2260600" y="2295525"/>
            <a:ext cx="4622800" cy="29035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60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Este momento es lo que la audiencia ha estado ansiosa por experimentar.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Final triste (arriesgado, puede tener consecuencias negativas)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Final alegre (mucho </a:t>
            </a:r>
            <a:r>
              <a:rPr lang="es-PE" sz="1600" spc="-10" dirty="0" smtClean="0">
                <a:solidFill>
                  <a:srgbClr val="262626"/>
                </a:solidFill>
              </a:rPr>
              <a:t>más </a:t>
            </a:r>
            <a:r>
              <a:rPr lang="es-PE" sz="1600" spc="-10" dirty="0">
                <a:solidFill>
                  <a:srgbClr val="262626"/>
                </a:solidFill>
              </a:rPr>
              <a:t>común)</a:t>
            </a:r>
            <a:br>
              <a:rPr lang="es-PE" sz="1600" spc="-10" dirty="0">
                <a:solidFill>
                  <a:srgbClr val="262626"/>
                </a:solidFill>
              </a:rPr>
            </a:b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FIN</a:t>
            </a:r>
          </a:p>
        </p:txBody>
      </p:sp>
      <p:sp>
        <p:nvSpPr>
          <p:cNvPr id="4" name="Marcador de posición de imagen 3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571668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TRIÁNGULO DE LA RAREZA</a:t>
            </a: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29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¿La creatividad podría jugar en contra?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En el triángulo de la rareza solo se debe escoger una esquina.</a:t>
            </a:r>
          </a:p>
          <a:p>
            <a:pPr marL="11725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TRIÁNGULO DE LA RAREZA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FBE593F3-293A-483A-B1F8-3E5DF58857B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r="1146"/>
          <a:stretch>
            <a:fillRect/>
          </a:stretch>
        </p:blipFill>
        <p:spPr bwMode="auto"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9042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StarWars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Personajes: un joven héroe, una princesa en apuros (NORMAL/NO RARO)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Deseos/Actividades: derrotar villanos, rescatar a la princesa (NORMAL/NO RARO)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Mundo: ¿</a:t>
            </a:r>
            <a:r>
              <a:rPr lang="es-PE" sz="1600" spc="-10" dirty="0" err="1">
                <a:solidFill>
                  <a:srgbClr val="262626"/>
                </a:solidFill>
              </a:rPr>
              <a:t>Jawas</a:t>
            </a:r>
            <a:r>
              <a:rPr lang="es-PE" sz="1600" spc="-10" dirty="0">
                <a:solidFill>
                  <a:srgbClr val="262626"/>
                </a:solidFill>
              </a:rPr>
              <a:t>? ¿</a:t>
            </a:r>
            <a:r>
              <a:rPr lang="es-PE" sz="1600" spc="-10" dirty="0" err="1">
                <a:solidFill>
                  <a:srgbClr val="262626"/>
                </a:solidFill>
              </a:rPr>
              <a:t>Jedis</a:t>
            </a:r>
            <a:r>
              <a:rPr lang="es-PE" sz="1600" spc="-10" dirty="0">
                <a:solidFill>
                  <a:srgbClr val="262626"/>
                </a:solidFill>
              </a:rPr>
              <a:t>? ¿</a:t>
            </a:r>
            <a:r>
              <a:rPr lang="es-PE" sz="1600" spc="-10" dirty="0" err="1">
                <a:solidFill>
                  <a:srgbClr val="262626"/>
                </a:solidFill>
              </a:rPr>
              <a:t>Wookies</a:t>
            </a:r>
            <a:r>
              <a:rPr lang="es-PE" sz="1600" spc="-10" dirty="0">
                <a:solidFill>
                  <a:srgbClr val="262626"/>
                </a:solidFill>
              </a:rPr>
              <a:t>? (</a:t>
            </a:r>
            <a:r>
              <a:rPr lang="es-PE" sz="1600" b="1" i="1" spc="-10" dirty="0">
                <a:solidFill>
                  <a:srgbClr val="FF0000"/>
                </a:solidFill>
              </a:rPr>
              <a:t>RARO</a:t>
            </a:r>
            <a:r>
              <a:rPr lang="es-PE" sz="1600" spc="-10" dirty="0">
                <a:solidFill>
                  <a:srgbClr val="262626"/>
                </a:solidFill>
              </a:rPr>
              <a:t>)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TRIÁNGULO DE LA RAREZA</a:t>
            </a:r>
          </a:p>
        </p:txBody>
      </p:sp>
      <p:pic>
        <p:nvPicPr>
          <p:cNvPr id="11" name="Marcador de posición de imagen 10" descr="Resultado de imagen para star wars">
            <a:extLst>
              <a:ext uri="{FF2B5EF4-FFF2-40B4-BE49-F238E27FC236}">
                <a16:creationId xmlns:a16="http://schemas.microsoft.com/office/drawing/2014/main" id="{A58B4EAE-F7F5-41F3-8778-EDAC6948A03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0" b="3760"/>
          <a:stretch>
            <a:fillRect/>
          </a:stretch>
        </p:blipFill>
        <p:spPr bwMode="auto"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6774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800" b="1" dirty="0">
                <a:solidFill>
                  <a:schemeClr val="bg1"/>
                </a:solidFill>
                <a:cs typeface="Calibri"/>
              </a:rPr>
              <a:t>INTRODUCCIÓN AL DOCUMENTO DE DISEÑO</a:t>
            </a: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23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447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Documento de diseño de videojuegos (</a:t>
            </a:r>
            <a:r>
              <a:rPr lang="es-PE" sz="1600" spc="-10" dirty="0" err="1">
                <a:solidFill>
                  <a:srgbClr val="262626"/>
                </a:solidFill>
              </a:rPr>
              <a:t>game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desing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document</a:t>
            </a:r>
            <a:r>
              <a:rPr lang="es-PE" sz="1600" spc="-10" dirty="0">
                <a:solidFill>
                  <a:srgbClr val="262626"/>
                </a:solidFill>
              </a:rPr>
              <a:t> - GDD)</a:t>
            </a:r>
            <a:br>
              <a:rPr lang="es-PE" sz="1600" spc="-10" dirty="0">
                <a:solidFill>
                  <a:srgbClr val="262626"/>
                </a:solidFill>
              </a:rPr>
            </a:b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Es responsabilidad del </a:t>
            </a:r>
            <a:r>
              <a:rPr lang="es-PE" sz="1600" spc="-10" dirty="0" err="1">
                <a:solidFill>
                  <a:srgbClr val="262626"/>
                </a:solidFill>
              </a:rPr>
              <a:t>game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 smtClean="0">
                <a:solidFill>
                  <a:srgbClr val="262626"/>
                </a:solidFill>
              </a:rPr>
              <a:t>designer</a:t>
            </a:r>
            <a:r>
              <a:rPr lang="es-PE" sz="1600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Define todo lo que involucra tu </a:t>
            </a:r>
            <a:r>
              <a:rPr lang="es-PE" sz="1600" spc="-10" dirty="0" smtClean="0">
                <a:solidFill>
                  <a:srgbClr val="262626"/>
                </a:solidFill>
              </a:rPr>
              <a:t>juego.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tamaño del documento depende de la complejidad del juego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Juego </a:t>
            </a:r>
            <a:r>
              <a:rPr lang="es-PE" sz="1600" spc="-10" dirty="0" err="1">
                <a:solidFill>
                  <a:srgbClr val="262626"/>
                </a:solidFill>
              </a:rPr>
              <a:t>mobile</a:t>
            </a:r>
            <a:r>
              <a:rPr lang="es-PE" sz="1600" spc="-10" dirty="0">
                <a:solidFill>
                  <a:srgbClr val="262626"/>
                </a:solidFill>
              </a:rPr>
              <a:t> : 30 hojas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Juego de consola: 300 hojas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GDD</a:t>
            </a:r>
          </a:p>
        </p:txBody>
      </p:sp>
      <p:pic>
        <p:nvPicPr>
          <p:cNvPr id="9218" name="Picture 2" descr="Resultado de imagen para game design document">
            <a:extLst>
              <a:ext uri="{FF2B5EF4-FFF2-40B4-BE49-F238E27FC236}">
                <a16:creationId xmlns:a16="http://schemas.microsoft.com/office/drawing/2014/main" id="{3C0A5C37-E967-4524-952E-840F0F1ABC32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9" b="675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447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En el documento de diseño </a:t>
            </a:r>
            <a:r>
              <a:rPr lang="es-PE" sz="1600" spc="-10" dirty="0" smtClean="0">
                <a:solidFill>
                  <a:srgbClr val="262626"/>
                </a:solidFill>
              </a:rPr>
              <a:t>se incluye</a:t>
            </a:r>
            <a:r>
              <a:rPr lang="es-PE" sz="1600" spc="-10" dirty="0">
                <a:solidFill>
                  <a:srgbClr val="262626"/>
                </a:solidFill>
              </a:rPr>
              <a:t>: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Las mecánicas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Powerups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Hazards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personajes principales (diseño, características/</a:t>
            </a:r>
            <a:r>
              <a:rPr lang="es-PE" sz="1600" spc="-10" dirty="0" err="1">
                <a:solidFill>
                  <a:srgbClr val="262626"/>
                </a:solidFill>
              </a:rPr>
              <a:t>stats</a:t>
            </a:r>
            <a:r>
              <a:rPr lang="es-PE" sz="1600" spc="-10" dirty="0">
                <a:solidFill>
                  <a:srgbClr val="262626"/>
                </a:solidFill>
              </a:rPr>
              <a:t>)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enemigos (diseño, habilidades, características/</a:t>
            </a:r>
            <a:r>
              <a:rPr lang="es-PE" sz="1600" spc="-10" dirty="0" err="1">
                <a:solidFill>
                  <a:srgbClr val="262626"/>
                </a:solidFill>
              </a:rPr>
              <a:t>stats</a:t>
            </a:r>
            <a:r>
              <a:rPr lang="es-PE" sz="1600" spc="-10" dirty="0">
                <a:solidFill>
                  <a:srgbClr val="262626"/>
                </a:solidFill>
              </a:rPr>
              <a:t>)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mundos, escenarios, niveles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 historia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Flowchart</a:t>
            </a:r>
            <a:r>
              <a:rPr lang="es-PE" sz="1600" spc="-10" dirty="0">
                <a:solidFill>
                  <a:srgbClr val="262626"/>
                </a:solidFill>
              </a:rPr>
              <a:t/>
            </a:r>
            <a:br>
              <a:rPr lang="es-PE" sz="1600" spc="-10" dirty="0">
                <a:solidFill>
                  <a:srgbClr val="262626"/>
                </a:solidFill>
              </a:rPr>
            </a:b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GDD</a:t>
            </a:r>
          </a:p>
        </p:txBody>
      </p:sp>
      <p:pic>
        <p:nvPicPr>
          <p:cNvPr id="10242" name="Picture 2" descr="Resultado de imagen para game design document mario bros">
            <a:extLst>
              <a:ext uri="{FF2B5EF4-FFF2-40B4-BE49-F238E27FC236}">
                <a16:creationId xmlns:a16="http://schemas.microsoft.com/office/drawing/2014/main" id="{39458002-2C57-4A65-BDB9-C16120BF0389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5" b="545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77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88068" y="881063"/>
            <a:ext cx="6871746" cy="428148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832904" y="917413"/>
            <a:ext cx="3402730" cy="235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TÍTULO</a:t>
            </a:r>
            <a:endParaRPr lang="es-PE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Formar equipos de 4 </a:t>
            </a:r>
            <a:r>
              <a:rPr lang="es-PE" sz="1600" dirty="0" smtClean="0">
                <a:solidFill>
                  <a:srgbClr val="000000"/>
                </a:solidFill>
              </a:rPr>
              <a:t>o </a:t>
            </a:r>
            <a:r>
              <a:rPr lang="es-PE" sz="1600" dirty="0">
                <a:solidFill>
                  <a:srgbClr val="000000"/>
                </a:solidFill>
              </a:rPr>
              <a:t>5 integrantes.</a:t>
            </a: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Se </a:t>
            </a:r>
            <a:r>
              <a:rPr lang="es-PE" sz="1600" dirty="0" smtClean="0">
                <a:solidFill>
                  <a:srgbClr val="000000"/>
                </a:solidFill>
              </a:rPr>
              <a:t>sortearán </a:t>
            </a:r>
            <a:r>
              <a:rPr lang="es-PE" sz="1600" dirty="0">
                <a:solidFill>
                  <a:srgbClr val="000000"/>
                </a:solidFill>
              </a:rPr>
              <a:t>3 o 4 temas, según la cantidad de grupos.</a:t>
            </a: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Escribir una pequeña historia con un solo conflicto principal, utilizar la estructura de 3 actos.</a:t>
            </a: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Exposición</a:t>
            </a:r>
          </a:p>
          <a:p>
            <a:pPr marL="285750" indent="-285750" defTabSz="731342">
              <a:lnSpc>
                <a:spcPct val="120000"/>
              </a:lnSpc>
              <a:buFont typeface="Arial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5477544" y="993537"/>
            <a:ext cx="3070939" cy="40173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ACTIVIDAD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823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10"/>
          <p:cNvSpPr/>
          <p:nvPr/>
        </p:nvSpPr>
        <p:spPr>
          <a:xfrm>
            <a:off x="2527711" y="770440"/>
            <a:ext cx="6132101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  <a:latin typeface="+mj-lt"/>
              </a:rPr>
              <a:t>Es recomendable seguir la estructura de tres pasos para escribir historia para un juego, porque nos ayuda a establecer un orden y secuencia. 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  <a:latin typeface="+mj-lt"/>
              </a:rPr>
              <a:t>Otro aspecto importante es ser </a:t>
            </a:r>
            <a:r>
              <a:rPr lang="es-PE" sz="1700" dirty="0" smtClean="0">
                <a:solidFill>
                  <a:srgbClr val="FFFFFF"/>
                </a:solidFill>
                <a:latin typeface="+mj-lt"/>
              </a:rPr>
              <a:t>cuidadosos </a:t>
            </a:r>
            <a:r>
              <a:rPr lang="es-PE" sz="1700" dirty="0">
                <a:solidFill>
                  <a:srgbClr val="FFFFFF"/>
                </a:solidFill>
                <a:latin typeface="+mj-lt"/>
              </a:rPr>
              <a:t>con la elección del alcance de la </a:t>
            </a:r>
            <a:r>
              <a:rPr lang="es-PE" sz="1700" dirty="0" smtClean="0">
                <a:solidFill>
                  <a:srgbClr val="FFFFFF"/>
                </a:solidFill>
                <a:latin typeface="+mj-lt"/>
              </a:rPr>
              <a:t>historia. </a:t>
            </a:r>
            <a:r>
              <a:rPr lang="es-PE" sz="1700" dirty="0">
                <a:solidFill>
                  <a:srgbClr val="FFFFFF"/>
                </a:solidFill>
                <a:latin typeface="+mj-lt"/>
              </a:rPr>
              <a:t>N</a:t>
            </a:r>
            <a:r>
              <a:rPr lang="es-PE" sz="1700" dirty="0" smtClean="0">
                <a:solidFill>
                  <a:srgbClr val="FFFFFF"/>
                </a:solidFill>
                <a:latin typeface="+mj-lt"/>
              </a:rPr>
              <a:t>o </a:t>
            </a:r>
            <a:r>
              <a:rPr lang="es-PE" sz="1700" dirty="0">
                <a:solidFill>
                  <a:srgbClr val="FFFFFF"/>
                </a:solidFill>
                <a:latin typeface="+mj-lt"/>
              </a:rPr>
              <a:t>necesariamente un gran alcance crea mejores historias, es mucho mejor buscar que el usuario cree un vínculo con el personaje. 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  <a:latin typeface="+mj-lt"/>
              </a:rPr>
              <a:t>Finalmente, el documento de </a:t>
            </a:r>
            <a:r>
              <a:rPr lang="es-PE" sz="1700" dirty="0" smtClean="0">
                <a:solidFill>
                  <a:srgbClr val="FFFFFF"/>
                </a:solidFill>
                <a:latin typeface="+mj-lt"/>
              </a:rPr>
              <a:t>diseño </a:t>
            </a:r>
            <a:r>
              <a:rPr lang="es-PE" sz="1700" dirty="0">
                <a:solidFill>
                  <a:srgbClr val="FFFFFF"/>
                </a:solidFill>
                <a:latin typeface="+mj-lt"/>
              </a:rPr>
              <a:t>es fundamental para el desarrollo del videojuego, porque define todas las características y elementos que estamos </a:t>
            </a:r>
            <a:r>
              <a:rPr lang="es-PE" sz="1700" dirty="0" smtClean="0">
                <a:solidFill>
                  <a:srgbClr val="FFFFFF"/>
                </a:solidFill>
                <a:latin typeface="+mj-lt"/>
              </a:rPr>
              <a:t>proponiendo. </a:t>
            </a:r>
            <a:r>
              <a:rPr lang="es-PE" sz="1700" dirty="0">
                <a:solidFill>
                  <a:srgbClr val="FFFFFF"/>
                </a:solidFill>
                <a:latin typeface="+mj-lt"/>
              </a:rPr>
              <a:t>D</a:t>
            </a:r>
            <a:r>
              <a:rPr lang="es-PE" sz="1700" dirty="0" smtClean="0">
                <a:solidFill>
                  <a:srgbClr val="FFFFFF"/>
                </a:solidFill>
                <a:latin typeface="+mj-lt"/>
              </a:rPr>
              <a:t>edicarle </a:t>
            </a:r>
            <a:r>
              <a:rPr lang="es-PE" sz="1700" dirty="0">
                <a:solidFill>
                  <a:srgbClr val="FFFFFF"/>
                </a:solidFill>
                <a:latin typeface="+mj-lt"/>
              </a:rPr>
              <a:t>el tiempo necesario nos </a:t>
            </a:r>
            <a:r>
              <a:rPr lang="es-PE" sz="1700" dirty="0" smtClean="0">
                <a:solidFill>
                  <a:srgbClr val="FFFFFF"/>
                </a:solidFill>
                <a:latin typeface="+mj-lt"/>
              </a:rPr>
              <a:t>evitará </a:t>
            </a:r>
            <a:r>
              <a:rPr lang="es-PE" sz="1700" dirty="0">
                <a:solidFill>
                  <a:srgbClr val="FFFFFF"/>
                </a:solidFill>
                <a:latin typeface="+mj-lt"/>
              </a:rPr>
              <a:t>incurrir en costos innecesarios de programación y arte. 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  <a:cs typeface="Source Sans Pro" panose="020B0604020202020204" charset="0"/>
            </a:endParaRPr>
          </a:p>
          <a:p>
            <a:pPr lvl="1"/>
            <a:endParaRPr lang="es-PE" sz="1700" dirty="0">
              <a:solidFill>
                <a:srgbClr val="FFFFFF"/>
              </a:solidFill>
              <a:latin typeface="Calibri"/>
              <a:ea typeface="Calibri" panose="020F0502020204030204" pitchFamily="34" charset="0"/>
              <a:cs typeface="Source Sans Pro" panose="020B0604020202020204" charset="0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/ CONCLUSIONES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5"/>
          <p:cNvSpPr txBox="1">
            <a:spLocks/>
          </p:cNvSpPr>
          <p:nvPr/>
        </p:nvSpPr>
        <p:spPr>
          <a:xfrm>
            <a:off x="398994" y="724844"/>
            <a:ext cx="7881937" cy="180164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lvl="0" indent="-174625">
              <a:spcBef>
                <a:spcPts val="0"/>
              </a:spcBef>
              <a:buSzPct val="100000"/>
            </a:pPr>
            <a:r>
              <a:rPr lang="en-US" sz="1500" dirty="0">
                <a:latin typeface="Calibri"/>
                <a:cs typeface="Calibri"/>
              </a:rPr>
              <a:t>Scott Rogers. (2014) Level UP! Second Edition. </a:t>
            </a:r>
            <a:endParaRPr lang="es-PE" sz="1500" dirty="0">
              <a:latin typeface="Calibri"/>
              <a:cs typeface="Calibri"/>
            </a:endParaRPr>
          </a:p>
          <a:p>
            <a:pPr marL="174625" indent="-174625">
              <a:spcBef>
                <a:spcPts val="0"/>
              </a:spcBef>
              <a:buSzPct val="100000"/>
            </a:pPr>
            <a:r>
              <a:rPr lang="en-US" sz="1500" dirty="0">
                <a:latin typeface="Calibri"/>
                <a:cs typeface="Calibri"/>
              </a:rPr>
              <a:t>Ernest Adams. (2010) Fundamentals of Game Design Second Edition</a:t>
            </a:r>
            <a:endParaRPr lang="es" sz="1500" dirty="0"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BIBLIOGRAFÍA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054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3366</TotalTime>
  <Words>991</Words>
  <Application>Microsoft Office PowerPoint</Application>
  <PresentationFormat>Presentación en pantalla (16:10)</PresentationFormat>
  <Paragraphs>143</Paragraphs>
  <Slides>28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3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Diego Santamaria Saldaña</cp:lastModifiedBy>
  <cp:revision>333</cp:revision>
  <cp:lastPrinted>2018-01-16T21:42:59Z</cp:lastPrinted>
  <dcterms:created xsi:type="dcterms:W3CDTF">2016-10-06T14:52:02Z</dcterms:created>
  <dcterms:modified xsi:type="dcterms:W3CDTF">2020-11-03T17:21:59Z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