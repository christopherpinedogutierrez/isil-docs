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6.xml" ContentType="application/vnd.openxmlformats-officedocument.presentationml.notes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06" r:id="rId3"/>
    <p:sldId id="315" r:id="rId4"/>
    <p:sldId id="316" r:id="rId5"/>
    <p:sldId id="309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9" r:id="rId14"/>
    <p:sldId id="328" r:id="rId15"/>
    <p:sldId id="330" r:id="rId16"/>
    <p:sldId id="331" r:id="rId17"/>
    <p:sldId id="332" r:id="rId18"/>
    <p:sldId id="304" r:id="rId19"/>
    <p:sldId id="303" r:id="rId20"/>
    <p:sldId id="305" r:id="rId21"/>
  </p:sldIdLst>
  <p:sldSz cx="9144000" cy="5715000" type="screen16x1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4" orient="horz" pos="689" userDrawn="1">
          <p15:clr>
            <a:srgbClr val="A4A3A4"/>
          </p15:clr>
        </p15:guide>
        <p15:guide id="5" pos="476" userDrawn="1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a Zoraida Hamada Doshi" initials="EZHD" lastIdx="1" clrIdx="0">
    <p:extLst>
      <p:ext uri="{19B8F6BF-5375-455C-9EA6-DF929625EA0E}">
        <p15:presenceInfo xmlns:p15="http://schemas.microsoft.com/office/powerpoint/2012/main" userId="Elva Zoraida Hamada Dos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5EF"/>
    <a:srgbClr val="558ED5"/>
    <a:srgbClr val="FFFFFF"/>
    <a:srgbClr val="C00000"/>
    <a:srgbClr val="A6A6A6"/>
    <a:srgbClr val="F2F2F2"/>
    <a:srgbClr val="7F7F7F"/>
    <a:srgbClr val="FFFFFE"/>
    <a:srgbClr val="00B4B0"/>
    <a:srgbClr val="215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7" autoAdjust="0"/>
    <p:restoredTop sz="90000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470" y="72"/>
      </p:cViewPr>
      <p:guideLst>
        <p:guide orient="horz" pos="217"/>
        <p:guide pos="5455"/>
        <p:guide orient="horz" pos="3274"/>
        <p:guide orient="horz" pos="689"/>
        <p:guide pos="476"/>
        <p:guide pos="493"/>
        <p:guide orient="horz" pos="387"/>
        <p:guide orient="horz" pos="542"/>
        <p:guide orient="horz" pos="259"/>
        <p:guide orient="horz" pos="3269"/>
        <p:guide pos="5461"/>
        <p:guide pos="3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03/11/2020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3/11/2020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0070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3447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8592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6247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6677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8121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9421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9883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74215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7336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7658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7502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8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/>
          <p:cNvSpPr>
            <a:spLocks noGrp="1"/>
          </p:cNvSpPr>
          <p:nvPr>
            <p:ph type="pic" sz="quarter" idx="11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/>
          </p:cNvSpPr>
          <p:nvPr>
            <p:ph type="pic" sz="quarter" idx="10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0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/>
          <p:cNvSpPr>
            <a:spLocks noGrp="1"/>
          </p:cNvSpPr>
          <p:nvPr>
            <p:ph type="pic" sz="quarter" idx="11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  <p:sp>
        <p:nvSpPr>
          <p:cNvPr id="6" name="Marcador de imágenes prediseñadas 5"/>
          <p:cNvSpPr>
            <a:spLocks noGrp="1"/>
          </p:cNvSpPr>
          <p:nvPr>
            <p:ph type="clipArt" sz="quarter" idx="10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DISEÑO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ESTRATEGIAS PARA VIDEOJUEGOS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06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0" r:id="rId5"/>
    <p:sldLayoutId id="2147483657" r:id="rId6"/>
    <p:sldLayoutId id="2147483658" r:id="rId7"/>
    <p:sldLayoutId id="2147483661" r:id="rId8"/>
    <p:sldLayoutId id="2147483659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srb.org/ratings/ratings_guide.aspx#rating_categori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503238" y="1207530"/>
            <a:ext cx="8049072" cy="288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SESIÓN /6</a:t>
            </a:r>
            <a:endParaRPr lang="en-US" sz="28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>
              <a:lnSpc>
                <a:spcPct val="90000"/>
              </a:lnSpc>
              <a:defRPr/>
            </a:pPr>
            <a:r>
              <a:rPr lang="es-PE" sz="3000" b="1" dirty="0">
                <a:solidFill>
                  <a:schemeClr val="bg1"/>
                </a:solidFill>
                <a:latin typeface="Calibri"/>
                <a:cs typeface="Calibri"/>
              </a:rPr>
              <a:t>GDD – 10 HOJAS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  <a:t>DOCUMENTO DE DISEÑO  - 10 HOJAS</a:t>
            </a:r>
            <a:b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1600" b="1" dirty="0">
                <a:solidFill>
                  <a:schemeClr val="bg1"/>
                </a:solidFill>
                <a:latin typeface="Calibri"/>
                <a:cs typeface="Calibri"/>
              </a:rPr>
              <a:t>ESTRUCTURA</a:t>
            </a:r>
            <a:endParaRPr lang="es-ES" sz="1600" dirty="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99" y="810908"/>
            <a:ext cx="8102216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</a:t>
            </a:r>
            <a:r>
              <a:rPr lang="es-PE" sz="1600" spc="-10" dirty="0" smtClean="0">
                <a:solidFill>
                  <a:srgbClr val="262626"/>
                </a:solidFill>
              </a:rPr>
              <a:t>a </a:t>
            </a:r>
            <a:r>
              <a:rPr lang="es-PE" sz="1600" spc="-10" dirty="0">
                <a:solidFill>
                  <a:srgbClr val="262626"/>
                </a:solidFill>
              </a:rPr>
              <a:t>clase anterior aprendimos la estructura de un documento de una hoja, que funciona a manera de resumen o documento de alto concepto del juego, dirigido mayormente a los miembros del equipo o potenciales </a:t>
            </a:r>
            <a:r>
              <a:rPr lang="es-PE" sz="1600" i="1" spc="-10" dirty="0" err="1">
                <a:solidFill>
                  <a:srgbClr val="262626"/>
                </a:solidFill>
              </a:rPr>
              <a:t>publishers</a:t>
            </a:r>
            <a:r>
              <a:rPr lang="es-PE" sz="1600" spc="-10" dirty="0">
                <a:solidFill>
                  <a:srgbClr val="262626"/>
                </a:solidFill>
              </a:rPr>
              <a:t>. </a:t>
            </a:r>
          </a:p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la presente sesión abordaremos la estructura del documento de 10 hojas que se diferencia del documento de una hoja en el nivel de detalle que presenta.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DOCUMENTO DE DISEÑO – 10 HOJAS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Establece la columna vertebral de su juego.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</a:rPr>
              <a:t>Su objetivo es que los </a:t>
            </a:r>
            <a:r>
              <a:rPr lang="es-PE" sz="1600" spc="-10" dirty="0">
                <a:solidFill>
                  <a:srgbClr val="262626"/>
                </a:solidFill>
              </a:rPr>
              <a:t>lectores entiendan rápidamente los conceptos básicos del producto final sin entrar en minuciosos detalles.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imagen vale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más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que mil palabras.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legibilidad es la clave.</a:t>
            </a: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DOCUMENTO DE DISEÑO DE 10 HOJAS</a:t>
            </a:r>
          </a:p>
        </p:txBody>
      </p:sp>
      <p:pic>
        <p:nvPicPr>
          <p:cNvPr id="1028" name="Picture 4" descr="Resultado de imagen para fat book">
            <a:extLst>
              <a:ext uri="{FF2B5EF4-FFF2-40B4-BE49-F238E27FC236}">
                <a16:creationId xmlns:a16="http://schemas.microsoft.com/office/drawing/2014/main" id="{D9C9711F-406F-415A-B214-3F2140480182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0" b="542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0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Hay una gran diferencia </a:t>
            </a:r>
            <a:r>
              <a:rPr lang="es-PE" sz="1600" spc="-10" dirty="0" smtClean="0">
                <a:solidFill>
                  <a:srgbClr val="262626"/>
                </a:solidFill>
              </a:rPr>
              <a:t>entre </a:t>
            </a:r>
            <a:r>
              <a:rPr lang="es-PE" sz="1600" spc="-10" dirty="0">
                <a:solidFill>
                  <a:srgbClr val="262626"/>
                </a:solidFill>
              </a:rPr>
              <a:t>el documento que circula por su equipo y uno que será presentado a un departamento de marketing.</a:t>
            </a: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Aquí hay algunos ejemplos de cómo debe sesgar la información para cada tipo de audiencia: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SESGO DE INFORMACIÓN</a:t>
            </a:r>
          </a:p>
        </p:txBody>
      </p:sp>
      <p:pic>
        <p:nvPicPr>
          <p:cNvPr id="2" name="Marcador de posición de imagen 1">
            <a:extLst>
              <a:ext uri="{FF2B5EF4-FFF2-40B4-BE49-F238E27FC236}">
                <a16:creationId xmlns:a16="http://schemas.microsoft.com/office/drawing/2014/main" id="{47FD9345-375B-4782-BA58-C348AD7819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-556" t="-72130" r="-556" b="-72130"/>
          <a:stretch/>
        </p:blipFill>
        <p:spPr>
          <a:xfrm>
            <a:off x="1342346" y="1303350"/>
            <a:ext cx="6389786" cy="40133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591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ESTRUCTURA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83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Título del juego. Se sugiere incluir el logo (PLACEHOLDER) con una tipografía que comunique el género sin imágenes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Plataformas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Público objetivo (edad)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ESRB Rating. </a:t>
            </a: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http://www.esrb.org/ratings/ratings_guide.aspx#rating_categories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Fecha de lanzamiento proyectada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01: TÍTULO DEL JUEGO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336A50F9-4577-43C1-AFCB-EA849F6B311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/>
          <a:srcRect l="-16059" t="-67794" r="-16059" b="-67794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7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93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Resumen de la historia del videojuego (</a:t>
            </a:r>
            <a:r>
              <a:rPr lang="es-PE" sz="1600" spc="-10" dirty="0" err="1" smtClean="0">
                <a:solidFill>
                  <a:srgbClr val="262626"/>
                </a:solidFill>
              </a:rPr>
              <a:t>beginning-middle-end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Game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flow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¿Quién eres? 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tipo de juego es? 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cámara usa? 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¿Dónde se realiza? 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harás?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¿Cuáles son los retos y </a:t>
            </a:r>
            <a:r>
              <a:rPr lang="es-PE" sz="1600" spc="-10" dirty="0" smtClean="0">
                <a:solidFill>
                  <a:srgbClr val="262626"/>
                </a:solidFill>
              </a:rPr>
              <a:t>cómo </a:t>
            </a:r>
            <a:r>
              <a:rPr lang="es-PE" sz="1600" spc="-10" dirty="0">
                <a:solidFill>
                  <a:srgbClr val="262626"/>
                </a:solidFill>
              </a:rPr>
              <a:t>superarlos?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¿Cómo es la progresión - recompensa?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¿Cuál es el lazo entre la historia y el gameplay?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¿Cuál es la condición de victoria?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02: IDEA GENERAL DEL JUEGO</a:t>
            </a:r>
          </a:p>
        </p:txBody>
      </p:sp>
      <p:pic>
        <p:nvPicPr>
          <p:cNvPr id="11266" name="Picture 2" descr="Resultado de imagen para OUTLINE">
            <a:extLst>
              <a:ext uri="{FF2B5EF4-FFF2-40B4-BE49-F238E27FC236}">
                <a16:creationId xmlns:a16="http://schemas.microsoft.com/office/drawing/2014/main" id="{19278B0C-DD04-4A03-A3E0-E69D42748D67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1" t="-28530" r="16971" b="-28530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79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Detallar al personaje en relación con la historia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Edad – Sexo – Estilo – </a:t>
            </a:r>
            <a:r>
              <a:rPr lang="es-PE" sz="1600" spc="-10" dirty="0" err="1">
                <a:solidFill>
                  <a:srgbClr val="262626"/>
                </a:solidFill>
              </a:rPr>
              <a:t>Background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Concept art ¿Cómo quieres que se vea tu personaje?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¿Cuál es su historia de fondo?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Tipo de personalidad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¿Tiene movimientos únicos, habilidades, ataques, armas?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cosas puede realizar adicionalmente (manejar autos, volar)?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Esquema básico de controles del personaje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03: PERSONAJE</a:t>
            </a:r>
          </a:p>
        </p:txBody>
      </p:sp>
      <p:pic>
        <p:nvPicPr>
          <p:cNvPr id="10242" name="Picture 2" descr="Resultado de imagen para kratos">
            <a:extLst>
              <a:ext uri="{FF2B5EF4-FFF2-40B4-BE49-F238E27FC236}">
                <a16:creationId xmlns:a16="http://schemas.microsoft.com/office/drawing/2014/main" id="{35FAFF54-E2D8-4575-9471-B9541B617E09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271" t="-2353" r="-29271" b="-2353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89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Aplicar un género al juego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Detallar </a:t>
            </a:r>
            <a:r>
              <a:rPr lang="es-PE" sz="1600" spc="-10" dirty="0" smtClean="0">
                <a:solidFill>
                  <a:srgbClr val="262626"/>
                </a:solidFill>
              </a:rPr>
              <a:t>cómo </a:t>
            </a:r>
            <a:r>
              <a:rPr lang="es-PE" sz="1600" spc="-10" dirty="0">
                <a:solidFill>
                  <a:srgbClr val="262626"/>
                </a:solidFill>
              </a:rPr>
              <a:t>será presentada la secuencia del juego (capítulos – niveles - rondas)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eventos </a:t>
            </a:r>
            <a:r>
              <a:rPr lang="es-PE" sz="1600" spc="-10" dirty="0" smtClean="0">
                <a:solidFill>
                  <a:srgbClr val="262626"/>
                </a:solidFill>
              </a:rPr>
              <a:t>habrá? </a:t>
            </a:r>
            <a:r>
              <a:rPr lang="es-PE" sz="1600" spc="-10" dirty="0">
                <a:solidFill>
                  <a:srgbClr val="262626"/>
                </a:solidFill>
              </a:rPr>
              <a:t>(ej. Pilotar un ovni mientras huye)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USP – UNIQUE SELLING POINTS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Mostrar cualquier </a:t>
            </a:r>
            <a:r>
              <a:rPr lang="es-PE" sz="1600" spc="-10" dirty="0" err="1">
                <a:solidFill>
                  <a:srgbClr val="262626"/>
                </a:solidFill>
              </a:rPr>
              <a:t>minijuego</a:t>
            </a:r>
            <a:r>
              <a:rPr lang="es-PE" sz="1600" spc="-10" dirty="0">
                <a:solidFill>
                  <a:srgbClr val="262626"/>
                </a:solidFill>
              </a:rPr>
              <a:t>, diagramarlo o ilustrarlo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04: GAMEPLAY</a:t>
            </a:r>
          </a:p>
        </p:txBody>
      </p:sp>
      <p:pic>
        <p:nvPicPr>
          <p:cNvPr id="9218" name="Picture 2" descr="Resultado de imagen para pubg fall">
            <a:extLst>
              <a:ext uri="{FF2B5EF4-FFF2-40B4-BE49-F238E27FC236}">
                <a16:creationId xmlns:a16="http://schemas.microsoft.com/office/drawing/2014/main" id="{BB7ADAF9-E83B-471B-B611-819A8FBBAE54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1" r="2634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02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Presentar imágenes y descripción del mundo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sensación evoca ese lugar? ¿Qué encontrará allí? ¿Qué música?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Lista de todos los escenarios mencionados en la historia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Mapa simple o un diagrama de flujo para saber </a:t>
            </a:r>
            <a:r>
              <a:rPr lang="es-PE" sz="1600" spc="-10" dirty="0" smtClean="0">
                <a:solidFill>
                  <a:srgbClr val="262626"/>
                </a:solidFill>
              </a:rPr>
              <a:t>cómo </a:t>
            </a:r>
            <a:r>
              <a:rPr lang="es-PE" sz="1600" spc="-10" dirty="0">
                <a:solidFill>
                  <a:srgbClr val="262626"/>
                </a:solidFill>
              </a:rPr>
              <a:t>navegarán los jugadores</a:t>
            </a:r>
          </a:p>
          <a:p>
            <a:pPr marL="344488" indent="-231775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05: MUNDO DEL JUEGO</a:t>
            </a:r>
          </a:p>
        </p:txBody>
      </p:sp>
      <p:pic>
        <p:nvPicPr>
          <p:cNvPr id="8194" name="Picture 2" descr="Resultado de imagen para game world super meat boy">
            <a:extLst>
              <a:ext uri="{FF2B5EF4-FFF2-40B4-BE49-F238E27FC236}">
                <a16:creationId xmlns:a16="http://schemas.microsoft.com/office/drawing/2014/main" id="{3831A52F-21EF-4A63-8B0F-4EC524278A02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1" r="2634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19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“GESTALD” el total de la experiencia “el todo”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hacer que el juego se sienta como una experiencia completa ¿qué se necesita?</a:t>
            </a: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Starting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screens</a:t>
            </a:r>
            <a:r>
              <a:rPr lang="es-PE" sz="1600" spc="-10" dirty="0">
                <a:solidFill>
                  <a:srgbClr val="262626"/>
                </a:solidFill>
              </a:rPr>
              <a:t>, </a:t>
            </a:r>
            <a:r>
              <a:rPr lang="es-PE" sz="1600" spc="-10" dirty="0" err="1">
                <a:solidFill>
                  <a:srgbClr val="262626"/>
                </a:solidFill>
              </a:rPr>
              <a:t>cinematics</a:t>
            </a:r>
            <a:r>
              <a:rPr lang="es-PE" sz="1600" spc="-10" dirty="0">
                <a:solidFill>
                  <a:srgbClr val="262626"/>
                </a:solidFill>
              </a:rPr>
              <a:t>, music, </a:t>
            </a:r>
            <a:r>
              <a:rPr lang="es-PE" sz="1600" spc="-10" dirty="0" err="1">
                <a:solidFill>
                  <a:srgbClr val="262626"/>
                </a:solidFill>
              </a:rPr>
              <a:t>sound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design</a:t>
            </a:r>
            <a:r>
              <a:rPr lang="es-PE" sz="1600" spc="-10" dirty="0">
                <a:solidFill>
                  <a:srgbClr val="262626"/>
                </a:solidFill>
              </a:rPr>
              <a:t>, camera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¿Cuál es el GESTALT? Humorístico, hardcore, </a:t>
            </a:r>
            <a:r>
              <a:rPr lang="es-PE" sz="1600" spc="-10" dirty="0" err="1">
                <a:solidFill>
                  <a:srgbClr val="262626"/>
                </a:solidFill>
              </a:rPr>
              <a:t>foreboding</a:t>
            </a:r>
            <a:r>
              <a:rPr lang="es-PE" sz="1600" spc="-10" dirty="0">
                <a:solidFill>
                  <a:srgbClr val="262626"/>
                </a:solidFill>
              </a:rPr>
              <a:t>, sexy, </a:t>
            </a:r>
            <a:r>
              <a:rPr lang="es-PE" sz="1600" spc="-10" dirty="0" err="1">
                <a:solidFill>
                  <a:srgbClr val="262626"/>
                </a:solidFill>
              </a:rPr>
              <a:t>thrilling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344488" indent="-231775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06: EXPERIENCIA DEL JUEGO</a:t>
            </a:r>
          </a:p>
        </p:txBody>
      </p:sp>
      <p:pic>
        <p:nvPicPr>
          <p:cNvPr id="7174" name="Picture 6" descr="Resultado de imagen para call of duty">
            <a:extLst>
              <a:ext uri="{FF2B5EF4-FFF2-40B4-BE49-F238E27FC236}">
                <a16:creationId xmlns:a16="http://schemas.microsoft.com/office/drawing/2014/main" id="{69A4B2C7-BA58-486F-8022-5D3D76920DF0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6" r="2636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43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es lo primero que ve el jugador?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estado de ánimo – emociones debe evocar tu juego?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efecto de la música deseado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¿Cómo el usuario navega la interface?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344488" indent="-231775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06: EXPERIENCIA DEL JUEGO</a:t>
            </a:r>
          </a:p>
        </p:txBody>
      </p:sp>
      <p:pic>
        <p:nvPicPr>
          <p:cNvPr id="5122" name="Picture 2" descr="Resultado de imagen para limbo">
            <a:extLst>
              <a:ext uri="{FF2B5EF4-FFF2-40B4-BE49-F238E27FC236}">
                <a16:creationId xmlns:a16="http://schemas.microsoft.com/office/drawing/2014/main" id="{9C3B2487-8486-43D8-8B83-1D1239B49C32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1" r="2632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36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93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MECHANIC:</a:t>
            </a:r>
            <a:r>
              <a:rPr lang="es-PE" sz="1600" spc="-10" dirty="0">
                <a:solidFill>
                  <a:srgbClr val="262626"/>
                </a:solidFill>
              </a:rPr>
              <a:t> es un elemento o ítem para crear GAMEPLAY (plataformas, puertas que se abre …)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HAZARD: </a:t>
            </a:r>
            <a:r>
              <a:rPr lang="es-PE" sz="1600" spc="-10" dirty="0">
                <a:solidFill>
                  <a:srgbClr val="262626"/>
                </a:solidFill>
              </a:rPr>
              <a:t>es una mecánica que hace daño al jugador pero no tiene inteligencia (</a:t>
            </a:r>
            <a:r>
              <a:rPr lang="es-PE" sz="1600" spc="-10" dirty="0" err="1">
                <a:solidFill>
                  <a:srgbClr val="262626"/>
                </a:solidFill>
              </a:rPr>
              <a:t>spikes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POWER-UP:</a:t>
            </a:r>
            <a:r>
              <a:rPr lang="es-PE" sz="1600" spc="-10" dirty="0">
                <a:solidFill>
                  <a:srgbClr val="262626"/>
                </a:solidFill>
              </a:rPr>
              <a:t> ítem que ayuda en el gameplay al jugador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COLLECTIBLES: </a:t>
            </a:r>
            <a:r>
              <a:rPr lang="es-PE" sz="1600" spc="-10" dirty="0">
                <a:solidFill>
                  <a:srgbClr val="262626"/>
                </a:solidFill>
              </a:rPr>
              <a:t>monedas, partes de un </a:t>
            </a:r>
            <a:r>
              <a:rPr lang="es-PE" sz="1600" spc="-10" dirty="0" err="1" smtClean="0">
                <a:solidFill>
                  <a:srgbClr val="262626"/>
                </a:solidFill>
              </a:rPr>
              <a:t>puzzle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 el juego tiene un sistema </a:t>
            </a:r>
            <a:r>
              <a:rPr lang="es-PE" sz="1600" spc="-10" dirty="0" smtClean="0">
                <a:solidFill>
                  <a:srgbClr val="262626"/>
                </a:solidFill>
              </a:rPr>
              <a:t>económico, </a:t>
            </a:r>
            <a:r>
              <a:rPr lang="es-PE" sz="1600" spc="-10" dirty="0">
                <a:solidFill>
                  <a:srgbClr val="262626"/>
                </a:solidFill>
              </a:rPr>
              <a:t>describirlo brevemente</a:t>
            </a:r>
          </a:p>
          <a:p>
            <a:pPr marL="344488" indent="-231775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07: </a:t>
            </a:r>
            <a:r>
              <a:rPr lang="en-US" sz="1700" dirty="0" smtClean="0">
                <a:solidFill>
                  <a:srgbClr val="438AD7"/>
                </a:solidFill>
              </a:rPr>
              <a:t>MECÁNICAS </a:t>
            </a:r>
            <a:r>
              <a:rPr lang="en-US" sz="1700" dirty="0">
                <a:solidFill>
                  <a:srgbClr val="438AD7"/>
                </a:solidFill>
              </a:rPr>
              <a:t>DE JUEGO</a:t>
            </a:r>
          </a:p>
        </p:txBody>
      </p:sp>
      <p:pic>
        <p:nvPicPr>
          <p:cNvPr id="6146" name="Picture 2" descr="Resultado de imagen para 1001 spikes">
            <a:extLst>
              <a:ext uri="{FF2B5EF4-FFF2-40B4-BE49-F238E27FC236}">
                <a16:creationId xmlns:a16="http://schemas.microsoft.com/office/drawing/2014/main" id="{314C4039-FC42-4C53-9E5F-7A65E3F69AB2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1" r="2634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24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Hazard con AI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enemigos </a:t>
            </a:r>
            <a:r>
              <a:rPr lang="es-PE" sz="1600" spc="-10" dirty="0" smtClean="0">
                <a:solidFill>
                  <a:srgbClr val="262626"/>
                </a:solidFill>
              </a:rPr>
              <a:t>encontraré </a:t>
            </a:r>
            <a:r>
              <a:rPr lang="es-PE" sz="1600" spc="-10" dirty="0">
                <a:solidFill>
                  <a:srgbClr val="262626"/>
                </a:solidFill>
              </a:rPr>
              <a:t>en el mundo?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los hace únicos?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¿Cómo puede el jugador deshacerse de ellos?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Boss (personalidades, </a:t>
            </a:r>
            <a:r>
              <a:rPr lang="es-PE" sz="1600" spc="-10" dirty="0" smtClean="0">
                <a:solidFill>
                  <a:srgbClr val="262626"/>
                </a:solidFill>
              </a:rPr>
              <a:t>¿cómo </a:t>
            </a:r>
            <a:r>
              <a:rPr lang="es-PE" sz="1600" spc="-10" dirty="0">
                <a:solidFill>
                  <a:srgbClr val="262626"/>
                </a:solidFill>
              </a:rPr>
              <a:t>vencerlos?, </a:t>
            </a:r>
            <a:r>
              <a:rPr lang="es-PE" sz="1600" spc="-10" dirty="0" smtClean="0">
                <a:solidFill>
                  <a:srgbClr val="262626"/>
                </a:solidFill>
              </a:rPr>
              <a:t>¿dónde </a:t>
            </a:r>
            <a:r>
              <a:rPr lang="es-PE" sz="1600" spc="-10" dirty="0">
                <a:solidFill>
                  <a:srgbClr val="262626"/>
                </a:solidFill>
              </a:rPr>
              <a:t>aparecen?)</a:t>
            </a:r>
          </a:p>
          <a:p>
            <a:pPr marL="344488" indent="-231775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08: ENEMIGOS</a:t>
            </a:r>
          </a:p>
        </p:txBody>
      </p:sp>
      <p:pic>
        <p:nvPicPr>
          <p:cNvPr id="4100" name="Picture 4" descr="Resultado de imagen para enemy zelda boss">
            <a:extLst>
              <a:ext uri="{FF2B5EF4-FFF2-40B4-BE49-F238E27FC236}">
                <a16:creationId xmlns:a16="http://schemas.microsoft.com/office/drawing/2014/main" id="{27C0D774-9D2B-47E5-B555-3BE50E020CED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1" r="26341"/>
          <a:stretch>
            <a:fillRect/>
          </a:stretch>
        </p:blipFill>
        <p:spPr bwMode="auto">
          <a:xfrm>
            <a:off x="5045075" y="873125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40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Mencionar materiales bonus (</a:t>
            </a:r>
            <a:r>
              <a:rPr lang="es-PE" sz="1600" spc="-10" dirty="0" err="1">
                <a:solidFill>
                  <a:srgbClr val="262626"/>
                </a:solidFill>
              </a:rPr>
              <a:t>unlockables</a:t>
            </a:r>
            <a:r>
              <a:rPr lang="es-PE" sz="1600" spc="-10" dirty="0">
                <a:solidFill>
                  <a:srgbClr val="262626"/>
                </a:solidFill>
              </a:rPr>
              <a:t>, </a:t>
            </a:r>
            <a:r>
              <a:rPr lang="es-PE" sz="1600" spc="-10" dirty="0" err="1">
                <a:solidFill>
                  <a:srgbClr val="262626"/>
                </a:solidFill>
              </a:rPr>
              <a:t>achievements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otros elementos pueden favorecer </a:t>
            </a:r>
            <a:r>
              <a:rPr lang="es-PE" sz="1600" spc="-10" dirty="0" smtClean="0">
                <a:solidFill>
                  <a:srgbClr val="262626"/>
                </a:solidFill>
              </a:rPr>
              <a:t>que </a:t>
            </a:r>
            <a:r>
              <a:rPr lang="es-PE" sz="1600" spc="-10" dirty="0">
                <a:solidFill>
                  <a:srgbClr val="262626"/>
                </a:solidFill>
              </a:rPr>
              <a:t>el usuario vuelva a jugar?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XboxLive</a:t>
            </a:r>
            <a:r>
              <a:rPr lang="es-PE" sz="1600" spc="-10" dirty="0">
                <a:solidFill>
                  <a:srgbClr val="262626"/>
                </a:solidFill>
              </a:rPr>
              <a:t>, </a:t>
            </a:r>
            <a:r>
              <a:rPr lang="es-PE" sz="1600" spc="-10" dirty="0" err="1">
                <a:solidFill>
                  <a:srgbClr val="262626"/>
                </a:solidFill>
              </a:rPr>
              <a:t>GameCenter</a:t>
            </a:r>
            <a:r>
              <a:rPr lang="es-PE" sz="1600" spc="-10" dirty="0">
                <a:solidFill>
                  <a:srgbClr val="262626"/>
                </a:solidFill>
              </a:rPr>
              <a:t>, Google Play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¿Tiene multijugador? ¿Cuántos jugadores?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Detalles del </a:t>
            </a:r>
            <a:r>
              <a:rPr lang="es-PE" sz="1600" spc="-10" dirty="0" err="1">
                <a:solidFill>
                  <a:srgbClr val="262626"/>
                </a:solidFill>
              </a:rPr>
              <a:t>multiplayer</a:t>
            </a:r>
            <a:r>
              <a:rPr lang="es-PE" sz="1600" spc="-10" dirty="0">
                <a:solidFill>
                  <a:srgbClr val="262626"/>
                </a:solidFill>
              </a:rPr>
              <a:t> (gameplay estándar, mapas)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¿Pueden los jugadores crear contenido y </a:t>
            </a:r>
            <a:r>
              <a:rPr lang="es-PE" sz="1600" spc="-10" dirty="0" err="1">
                <a:solidFill>
                  <a:srgbClr val="262626"/>
                </a:solidFill>
              </a:rPr>
              <a:t>compartilo</a:t>
            </a:r>
            <a:r>
              <a:rPr lang="es-PE" sz="1600" spc="-10" dirty="0">
                <a:solidFill>
                  <a:srgbClr val="262626"/>
                </a:solidFill>
              </a:rPr>
              <a:t>?</a:t>
            </a:r>
          </a:p>
          <a:p>
            <a:pPr marL="344488" indent="-231775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09: MULTIPLAYER Y MATERIAL BONUS</a:t>
            </a:r>
          </a:p>
        </p:txBody>
      </p:sp>
      <p:pic>
        <p:nvPicPr>
          <p:cNvPr id="3074" name="Picture 2" descr="Resultado de imagen para tom clancy coop">
            <a:extLst>
              <a:ext uri="{FF2B5EF4-FFF2-40B4-BE49-F238E27FC236}">
                <a16:creationId xmlns:a16="http://schemas.microsoft.com/office/drawing/2014/main" id="{EC7B1575-BA81-46A7-9BED-C217617A4B3E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6" r="37085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92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Free </a:t>
            </a:r>
            <a:r>
              <a:rPr lang="es-PE" sz="1600" spc="-10" dirty="0" err="1">
                <a:solidFill>
                  <a:srgbClr val="262626"/>
                </a:solidFill>
              </a:rPr>
              <a:t>to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play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In </a:t>
            </a:r>
            <a:r>
              <a:rPr lang="es-PE" sz="1600" spc="-10" dirty="0" err="1">
                <a:solidFill>
                  <a:srgbClr val="262626"/>
                </a:solidFill>
              </a:rPr>
              <a:t>game</a:t>
            </a:r>
            <a:r>
              <a:rPr lang="es-PE" sz="1600" spc="-10" dirty="0">
                <a:solidFill>
                  <a:srgbClr val="262626"/>
                </a:solidFill>
              </a:rPr>
              <a:t> store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comprar y </a:t>
            </a:r>
            <a:r>
              <a:rPr lang="es-PE" sz="1600" spc="-10" dirty="0" smtClean="0">
                <a:solidFill>
                  <a:srgbClr val="262626"/>
                </a:solidFill>
              </a:rPr>
              <a:t>cómo </a:t>
            </a:r>
            <a:r>
              <a:rPr lang="es-PE" sz="1600" spc="-10" dirty="0">
                <a:solidFill>
                  <a:srgbClr val="262626"/>
                </a:solidFill>
              </a:rPr>
              <a:t>comprar?</a:t>
            </a:r>
          </a:p>
          <a:p>
            <a:pPr marL="344488" indent="-231775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PÁGINA 10: MONETIZACIÓN</a:t>
            </a:r>
          </a:p>
        </p:txBody>
      </p:sp>
      <p:pic>
        <p:nvPicPr>
          <p:cNvPr id="2050" name="Picture 2" descr="Resultado de imagen para free to play">
            <a:extLst>
              <a:ext uri="{FF2B5EF4-FFF2-40B4-BE49-F238E27FC236}">
                <a16:creationId xmlns:a16="http://schemas.microsoft.com/office/drawing/2014/main" id="{693B5662-5085-4734-9E26-9176C773FF4F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8" r="1799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14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832904" y="917413"/>
            <a:ext cx="3402730" cy="2111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TÍTULO</a:t>
            </a:r>
            <a:endParaRPr lang="es-PE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Formar equipos de 4 </a:t>
            </a:r>
            <a:r>
              <a:rPr lang="es-PE" sz="1600" dirty="0" smtClean="0">
                <a:solidFill>
                  <a:srgbClr val="000000"/>
                </a:solidFill>
              </a:rPr>
              <a:t>o </a:t>
            </a:r>
            <a:r>
              <a:rPr lang="es-PE" sz="1600" dirty="0">
                <a:solidFill>
                  <a:srgbClr val="000000"/>
                </a:solidFill>
              </a:rPr>
              <a:t>5 integrantes.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Avanzar hasta la página 4 del documento de 10 hojas – con el concepto propuesto en la clase anterior.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Exposición</a:t>
            </a:r>
          </a:p>
          <a:p>
            <a:pPr marL="285750" indent="-285750" defTabSz="731342">
              <a:lnSpc>
                <a:spcPct val="120000"/>
              </a:lnSpc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ACTIVIDAD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8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10"/>
          <p:cNvSpPr/>
          <p:nvPr/>
        </p:nvSpPr>
        <p:spPr>
          <a:xfrm>
            <a:off x="2527711" y="770440"/>
            <a:ext cx="6132101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latin typeface="+mj-lt"/>
              </a:rPr>
              <a:t>La sesión de hoy nos muestra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cómo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redactar un documento de diez hojas.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latin typeface="+mj-lt"/>
              </a:rPr>
              <a:t>Seguir la estructura propuesta nos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ayudará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a considerar aspectos que son importantes para los interesados (equipo, </a:t>
            </a:r>
            <a:r>
              <a:rPr lang="es-PE" sz="1700" dirty="0" err="1">
                <a:solidFill>
                  <a:srgbClr val="FFFFFF"/>
                </a:solidFill>
                <a:latin typeface="+mj-lt"/>
              </a:rPr>
              <a:t>publishers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).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latin typeface="+mj-lt"/>
              </a:rPr>
              <a:t>Poner especial atención en las páginas de la experiencia y el gameplay.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cs typeface="Source Sans Pro" panose="020B0604020202020204" charset="0"/>
            </a:endParaRPr>
          </a:p>
          <a:p>
            <a:pPr lvl="1"/>
            <a:endParaRPr lang="es-PE" sz="1700" dirty="0">
              <a:solidFill>
                <a:srgbClr val="FFFFFF"/>
              </a:solidFill>
              <a:latin typeface="Calibri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398994" y="724844"/>
            <a:ext cx="7881937" cy="180164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lvl="0" indent="-174625">
              <a:spcBef>
                <a:spcPts val="0"/>
              </a:spcBef>
              <a:buSzPct val="100000"/>
            </a:pPr>
            <a:r>
              <a:rPr lang="en-US" sz="1500" dirty="0">
                <a:latin typeface="Calibri"/>
                <a:cs typeface="Calibri"/>
              </a:rPr>
              <a:t>Ernest Adams. (2010) Fundamentals of Game Design Second Edition.</a:t>
            </a:r>
            <a:endParaRPr lang="es-PE" sz="1500" dirty="0">
              <a:latin typeface="Calibri"/>
              <a:cs typeface="Calibri"/>
            </a:endParaRPr>
          </a:p>
          <a:p>
            <a:pPr marL="174625" lvl="0" indent="-174625">
              <a:spcBef>
                <a:spcPts val="0"/>
              </a:spcBef>
              <a:buSzPct val="100000"/>
            </a:pPr>
            <a:r>
              <a:rPr lang="en-US" sz="1500" dirty="0">
                <a:latin typeface="Calibri"/>
                <a:cs typeface="Calibri"/>
              </a:rPr>
              <a:t>Scott Rogers. (2014) Level UP! Second Edition. </a:t>
            </a:r>
            <a:endParaRPr lang="es-PE" sz="1500" dirty="0">
              <a:latin typeface="Calibri"/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endParaRPr lang="es" sz="1500" dirty="0">
              <a:solidFill>
                <a:srgbClr val="006621"/>
              </a:solidFill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</TotalTime>
  <Words>915</Words>
  <Application>Microsoft Office PowerPoint</Application>
  <PresentationFormat>Presentación en pantalla (16:10)</PresentationFormat>
  <Paragraphs>154</Paragraphs>
  <Slides>20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Diego Santamaria Saldaña</cp:lastModifiedBy>
  <cp:revision>338</cp:revision>
  <cp:lastPrinted>2018-01-16T21:42:59Z</cp:lastPrinted>
  <dcterms:created xsi:type="dcterms:W3CDTF">2016-10-06T14:52:02Z</dcterms:created>
  <dcterms:modified xsi:type="dcterms:W3CDTF">2020-11-03T17:22:45Z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