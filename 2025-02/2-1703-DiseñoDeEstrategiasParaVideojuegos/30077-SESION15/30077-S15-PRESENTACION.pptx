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7">
          <p15:clr>
            <a:srgbClr val="A4A3A4"/>
          </p15:clr>
        </p15:guide>
        <p15:guide id="2" pos="5455">
          <p15:clr>
            <a:srgbClr val="A4A3A4"/>
          </p15:clr>
        </p15:guide>
        <p15:guide id="3" orient="horz" pos="3274">
          <p15:clr>
            <a:srgbClr val="A4A3A4"/>
          </p15:clr>
        </p15:guide>
        <p15:guide id="4" orient="horz" pos="689">
          <p15:clr>
            <a:srgbClr val="A4A3A4"/>
          </p15:clr>
        </p15:guide>
        <p15:guide id="5" pos="476">
          <p15:clr>
            <a:srgbClr val="A4A3A4"/>
          </p15:clr>
        </p15:guide>
        <p15:guide id="6" pos="493">
          <p15:clr>
            <a:srgbClr val="A4A3A4"/>
          </p15:clr>
        </p15:guide>
        <p15:guide id="7" orient="horz" pos="387">
          <p15:clr>
            <a:srgbClr val="A4A3A4"/>
          </p15:clr>
        </p15:guide>
        <p15:guide id="8" orient="horz" pos="542">
          <p15:clr>
            <a:srgbClr val="A4A3A4"/>
          </p15:clr>
        </p15:guide>
        <p15:guide id="9" orient="horz" pos="259">
          <p15:clr>
            <a:srgbClr val="A4A3A4"/>
          </p15:clr>
        </p15:guide>
        <p15:guide id="10" orient="horz" pos="3269">
          <p15:clr>
            <a:srgbClr val="A4A3A4"/>
          </p15:clr>
        </p15:guide>
        <p15:guide id="11" pos="5461">
          <p15:clr>
            <a:srgbClr val="A4A3A4"/>
          </p15:clr>
        </p15:guide>
        <p15:guide id="12" pos="308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XoPU8bDwe2H/9H98S2pf095ux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7" orient="horz"/>
        <p:guide pos="5455"/>
        <p:guide pos="3274" orient="horz"/>
        <p:guide pos="689" orient="horz"/>
        <p:guide pos="476"/>
        <p:guide pos="493"/>
        <p:guide pos="387" orient="horz"/>
        <p:guide pos="542" orient="horz"/>
        <p:guide pos="259" orient="horz"/>
        <p:guide pos="3269" orient="horz"/>
        <p:guide pos="5461"/>
        <p:guide pos="30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P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7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8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0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P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:notes"/>
          <p:cNvSpPr/>
          <p:nvPr>
            <p:ph idx="2" type="sldImg"/>
          </p:nvPr>
        </p:nvSpPr>
        <p:spPr>
          <a:xfrm>
            <a:off x="960438" y="1143000"/>
            <a:ext cx="49371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A">
  <p:cSld name="Subtema - 1 Imagen A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/>
          <p:nvPr>
            <p:ph idx="2" type="pic"/>
          </p:nvPr>
        </p:nvSpPr>
        <p:spPr>
          <a:xfrm>
            <a:off x="5045075" y="881063"/>
            <a:ext cx="3624263" cy="43084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Centrada">
  <p:cSld name="Subtema - 1 Imagen Centrada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8"/>
          <p:cNvSpPr/>
          <p:nvPr>
            <p:ph idx="2" type="pic"/>
          </p:nvPr>
        </p:nvSpPr>
        <p:spPr>
          <a:xfrm>
            <a:off x="2260600" y="2295525"/>
            <a:ext cx="4622800" cy="290353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9"/>
          <p:cNvSpPr/>
          <p:nvPr/>
        </p:nvSpPr>
        <p:spPr>
          <a:xfrm>
            <a:off x="312777" y="5260073"/>
            <a:ext cx="8568205" cy="3127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B">
  <p:cSld name="Subtema - 1 Imagen B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/>
          <p:nvPr>
            <p:ph idx="2" type="pic"/>
          </p:nvPr>
        </p:nvSpPr>
        <p:spPr>
          <a:xfrm>
            <a:off x="488950" y="881063"/>
            <a:ext cx="3682835" cy="430847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2 Imágenes">
  <p:cSld name="Subtema - 2 Imágene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1"/>
          <p:cNvSpPr/>
          <p:nvPr>
            <p:ph idx="2" type="pic"/>
          </p:nvPr>
        </p:nvSpPr>
        <p:spPr>
          <a:xfrm>
            <a:off x="4662488" y="1528763"/>
            <a:ext cx="4006850" cy="3660775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1"/>
          <p:cNvSpPr/>
          <p:nvPr>
            <p:ph idx="3" type="clipArt"/>
          </p:nvPr>
        </p:nvSpPr>
        <p:spPr>
          <a:xfrm>
            <a:off x="503238" y="1528763"/>
            <a:ext cx="4013235" cy="36607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Imagen Gigante">
  <p:cSld name="Subtema - Imagen Gigant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2"/>
          <p:cNvSpPr/>
          <p:nvPr>
            <p:ph idx="2" type="pic"/>
          </p:nvPr>
        </p:nvSpPr>
        <p:spPr>
          <a:xfrm>
            <a:off x="488950" y="860424"/>
            <a:ext cx="8180387" cy="432911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Video">
  <p:cSld name="Subtema - Video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3"/>
          <p:cNvSpPr/>
          <p:nvPr>
            <p:ph idx="2" type="pic"/>
          </p:nvPr>
        </p:nvSpPr>
        <p:spPr>
          <a:xfrm>
            <a:off x="2184400" y="1360488"/>
            <a:ext cx="4775200" cy="26860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9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4"/>
          <p:cNvGrpSpPr/>
          <p:nvPr/>
        </p:nvGrpSpPr>
        <p:grpSpPr>
          <a:xfrm>
            <a:off x="944054" y="5369051"/>
            <a:ext cx="7804380" cy="215444"/>
            <a:chOff x="944054" y="5369051"/>
            <a:chExt cx="7804380" cy="215444"/>
          </a:xfrm>
        </p:grpSpPr>
        <p:sp>
          <p:nvSpPr>
            <p:cNvPr id="11" name="Google Shape;11;p24"/>
            <p:cNvSpPr txBox="1"/>
            <p:nvPr/>
          </p:nvSpPr>
          <p:spPr>
            <a:xfrm>
              <a:off x="944054" y="5369051"/>
              <a:ext cx="2238113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s-PE" sz="8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PUBLICACIÓN DE JUEGOS – PARTE 2  •  SESIÓN 15</a:t>
              </a:r>
              <a:endParaRPr sz="8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4"/>
            <p:cNvSpPr/>
            <p:nvPr/>
          </p:nvSpPr>
          <p:spPr>
            <a:xfrm>
              <a:off x="7379148" y="5384440"/>
              <a:ext cx="13692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600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© ISIL. Todos los derechos reservados</a:t>
              </a:r>
              <a:endParaRPr/>
            </a:p>
          </p:txBody>
        </p:sp>
      </p:grpSp>
      <p:pic>
        <p:nvPicPr>
          <p:cNvPr id="13" name="Google Shape;13;p24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495300" y="5328911"/>
            <a:ext cx="448573" cy="25075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partners.playstation.net/" TargetMode="External"/><Relationship Id="rId4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register.playstation.net/prerequisite" TargetMode="External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jpg"/><Relationship Id="rId4" Type="http://schemas.openxmlformats.org/officeDocument/2006/relationships/image" Target="../media/image4.png"/><Relationship Id="rId5" Type="http://schemas.openxmlformats.org/officeDocument/2006/relationships/image" Target="../media/image8.jpg"/><Relationship Id="rId6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nintendo.com/" TargetMode="External"/><Relationship Id="rId4" Type="http://schemas.openxmlformats.org/officeDocument/2006/relationships/hyperlink" Target="https://developer.nintendo.com/register" TargetMode="External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itch.io/" TargetMode="External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gamejolt.com/" TargetMode="External"/><Relationship Id="rId4" Type="http://schemas.openxmlformats.org/officeDocument/2006/relationships/image" Target="../media/image18.png"/><Relationship Id="rId5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kongregate.com/" TargetMode="External"/><Relationship Id="rId4" Type="http://schemas.openxmlformats.org/officeDocument/2006/relationships/image" Target="../media/image16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www.xbox.com/en-US/developers" TargetMode="External"/><Relationship Id="rId4" Type="http://schemas.openxmlformats.org/officeDocument/2006/relationships/hyperlink" Target="https://developer.nintendo.com/" TargetMode="External"/><Relationship Id="rId5" Type="http://schemas.openxmlformats.org/officeDocument/2006/relationships/hyperlink" Target="https://partners.playstation.ne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503238" y="1207530"/>
            <a:ext cx="8049072" cy="28838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/</a:t>
            </a: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3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PUBLICACIÓN DE JUEGOS – PARTE 2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PUBLICACIÓN EN CONSOLAS</a:t>
            </a:r>
            <a:endParaRPr/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PUBLICACIÓN EN PLATAFORMAS WEB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INTRODUCCIÓN</a:t>
            </a:r>
            <a:endParaRPr/>
          </a:p>
        </p:txBody>
      </p:sp>
      <p:sp>
        <p:nvSpPr>
          <p:cNvPr id="43" name="Google Shape;43;p2"/>
          <p:cNvSpPr txBox="1"/>
          <p:nvPr/>
        </p:nvSpPr>
        <p:spPr>
          <a:xfrm>
            <a:off x="495299" y="810908"/>
            <a:ext cx="8102216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La clase anterior tuvimos una aproximación al proceso de publicación en las tiendas de aplicaciones móviles y en la plataforma de distribución más grande actualmente Steam. En la presente sesión aprenderemos acerca de los procesos de publicación en otras consolas.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PUBLICACIÓN EN CONSOLAS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495299" y="810908"/>
            <a:ext cx="4376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Para el proceso de publicación en PS4 es necesario registrarse en la siguiente página: </a:t>
            </a:r>
            <a:r>
              <a:rPr lang="es-PE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https://partners.playstation.net/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necesario proveer información de la empresa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Tener un portafolio de proyectos 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PS4</a:t>
            </a:r>
            <a:endParaRPr/>
          </a:p>
        </p:txBody>
      </p:sp>
      <p:pic>
        <p:nvPicPr>
          <p:cNvPr descr="Resultado de imagen para ps4" id="58" name="Google Shape;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5074" y="982958"/>
            <a:ext cx="3624263" cy="4010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 txBox="1"/>
          <p:nvPr/>
        </p:nvSpPr>
        <p:spPr>
          <a:xfrm>
            <a:off x="495299" y="810908"/>
            <a:ext cx="43764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IP estática (si es aceptado será necesaria para poder acceder a las páginas exclusivas para desarrolladores)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necesario tener un correo con dominio que no sea público (Gmail, Hotmail, etc. No son aceptados)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 puede solicitar un préstamo de un DevKit o comprar uno.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Llenar el formato inicial de registro</a:t>
            </a:r>
            <a:endParaRPr/>
          </a:p>
          <a:p>
            <a:pPr indent="0" lvl="1" marL="4689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https://register.playstation.net/prerequisite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PS4</a:t>
            </a:r>
            <a:endParaRPr/>
          </a:p>
        </p:txBody>
      </p:sp>
      <p:pic>
        <p:nvPicPr>
          <p:cNvPr descr="Resultado de imagen para ps4" id="66" name="Google Shape;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5074" y="982958"/>
            <a:ext cx="3624263" cy="4010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"/>
          <p:cNvSpPr txBox="1"/>
          <p:nvPr/>
        </p:nvSpPr>
        <p:spPr>
          <a:xfrm>
            <a:off x="495299" y="810908"/>
            <a:ext cx="4376446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 es aceptado como partner de Sonny, podrá acceder a portales especializados y al flujo de publicación de su videojuego.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proceso de publicación pasa por una revisión de Sonny.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Se obtienen gratuitamente una versión de Unity lista para poder integrarse con PS4, PS3 o Vita</a:t>
            </a:r>
            <a:endParaRPr/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PS4</a:t>
            </a:r>
            <a:endParaRPr/>
          </a:p>
        </p:txBody>
      </p:sp>
      <p:pic>
        <p:nvPicPr>
          <p:cNvPr descr="Resultado de imagen para ps4" id="74" name="Google Shape;7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5074" y="982958"/>
            <a:ext cx="3624263" cy="4010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Game engines soportados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Nintendo Switch</a:t>
            </a:r>
            <a:endParaRPr/>
          </a:p>
        </p:txBody>
      </p:sp>
      <p:pic>
        <p:nvPicPr>
          <p:cNvPr descr="Resultado de imagen para unreal" id="81" name="Google Shape;8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0763" y="2820301"/>
            <a:ext cx="1857243" cy="2146412"/>
          </a:xfrm>
          <a:prstGeom prst="rect">
            <a:avLst/>
          </a:prstGeom>
          <a:noFill/>
          <a:ln>
            <a:noFill/>
          </a:ln>
        </p:spPr>
      </p:pic>
      <p:sp>
        <p:nvSpPr>
          <p:cNvPr descr="Resultado de imagen para unity" id="82" name="Google Shape;82;p7"/>
          <p:cNvSpPr/>
          <p:nvPr/>
        </p:nvSpPr>
        <p:spPr>
          <a:xfrm>
            <a:off x="4419600" y="27051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Resultado de imagen para cryengine" id="83" name="Google Shape;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3181" y="1759655"/>
            <a:ext cx="2645337" cy="13348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unity" id="84" name="Google Shape;84;p7"/>
          <p:cNvPicPr preferRelativeResize="0"/>
          <p:nvPr/>
        </p:nvPicPr>
        <p:blipFill rotWithShape="1">
          <a:blip r:embed="rId5">
            <a:alphaModFix/>
          </a:blip>
          <a:srcRect b="27701" l="22861" r="23202" t="28584"/>
          <a:stretch/>
        </p:blipFill>
        <p:spPr>
          <a:xfrm>
            <a:off x="4379787" y="3411942"/>
            <a:ext cx="3232581" cy="1375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oubor:GameMaker Studio 2 logo.png" id="85" name="Google Shape;8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66423" y="1467812"/>
            <a:ext cx="3842368" cy="1037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/>
        </p:nvSpPr>
        <p:spPr>
          <a:xfrm>
            <a:off x="495299" y="810908"/>
            <a:ext cx="4376446" cy="29546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Visitar la página de desarrolladores del Nintendo. </a:t>
            </a: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https://developer.nintendo.com/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Para registrarse como desarrollador visitar la siguiente página: </a:t>
            </a: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https://developer.nintendo.com/register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Puedes registrarte como desarrollador o como compañía.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Solicitar y comprar un equipo de desarrollo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Nintendo Switch</a:t>
            </a:r>
            <a:endParaRPr/>
          </a:p>
        </p:txBody>
      </p:sp>
      <p:pic>
        <p:nvPicPr>
          <p:cNvPr id="93" name="Google Shape;9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45075" y="2144389"/>
            <a:ext cx="3624263" cy="2291574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  <p:pic>
        <p:nvPicPr>
          <p:cNvPr id="94" name="Google Shape;9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0708" y="988851"/>
            <a:ext cx="1838325" cy="1047750"/>
          </a:xfrm>
          <a:prstGeom prst="rect">
            <a:avLst/>
          </a:prstGeom>
          <a:noFill/>
          <a:ln>
            <a:noFill/>
          </a:ln>
          <a:effectLst>
            <a:outerShdw blurRad="190500" rotWithShape="0" algn="tl">
              <a:srgbClr val="000000">
                <a:alpha val="69803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"/>
          <p:cNvSpPr txBox="1"/>
          <p:nvPr/>
        </p:nvSpPr>
        <p:spPr>
          <a:xfrm>
            <a:off x="495299" y="810908"/>
            <a:ext cx="4057246" cy="3939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Al registrarse se puede descargar gratuitamente el middleware para poder desarrollar con Unity juegos para esta consola.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tema de los costos y fecha de publicación es determinado por el desarrollador.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¿Existe algún indie developer program? No. Nintendo solo ofrece un único plan para desarrolladores independientemente del tamaño del equipo o la experiencia.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El registro es gratuito, el único costo incurre en la compra del DevKit.</a:t>
            </a:r>
            <a:b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9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Nintendo Switch</a:t>
            </a:r>
            <a:endParaRPr/>
          </a:p>
        </p:txBody>
      </p:sp>
      <p:pic>
        <p:nvPicPr>
          <p:cNvPr descr="Resultado de imagen para nintendo switch indies" id="102" name="Google Shape;10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6710" y="917913"/>
            <a:ext cx="3624263" cy="20215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/>
        </p:nvSpPr>
        <p:spPr>
          <a:xfrm>
            <a:off x="495299" y="810908"/>
            <a:ext cx="3959969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Para ser desarrollador en Xbox, las cuentas individuales tienen un costo aproximado de 19 USD y las cuentas de empresa tienen un costo aproximado de 99 USD (las cantidades exactas pueden variar según el país o la región). Se trata de una tarifa de registro única y no necesita renovación.</a:t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Xbox</a:t>
            </a:r>
            <a:endParaRPr/>
          </a:p>
        </p:txBody>
      </p:sp>
      <p:pic>
        <p:nvPicPr>
          <p:cNvPr descr="A TV screen showing Xbox dev mode activation" id="110" name="Google Shape;1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7526" y="674773"/>
            <a:ext cx="3624264" cy="20423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 txBox="1"/>
          <p:nvPr/>
        </p:nvSpPr>
        <p:spPr>
          <a:xfrm>
            <a:off x="495299" y="810908"/>
            <a:ext cx="4376446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Necesitarás iniciar sesión con una cuenta de Microsoft que quieras asociar a la cuenta de desarrollador. 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 todavía no tienes una cuenta de Microsoft, puedes conseguir una al iniciar el proceso de registro. </a:t>
            </a:r>
            <a:endParaRPr/>
          </a:p>
          <a:p>
            <a:pPr indent="-184150" lvl="0" marL="2974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También tendrás que pagar por la cuenta mediante Visa/Mastercard, PayPal o un código de promoción. </a:t>
            </a: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XBOX</a:t>
            </a:r>
            <a:endParaRPr/>
          </a:p>
        </p:txBody>
      </p:sp>
      <p:pic>
        <p:nvPicPr>
          <p:cNvPr descr="Television and laptop screens showing an xbox game being tested" id="118" name="Google Shape;11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5030" y="810908"/>
            <a:ext cx="3556759" cy="20042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Una cuenta de desarrollador te permite enviar aplicaciones y complementos a los Marketplace de Microsoft, incluyendo Microsoft Store, AppSource (antes denominado Tienda Office), Azure Marketplace, Xbox y los que están por llegar. Ten en cuenta que deberás confirmar el pago y la información fiscal para poder cobrar dinero por los productos que publiques.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XBOX</a:t>
            </a:r>
            <a:endParaRPr/>
          </a:p>
        </p:txBody>
      </p:sp>
      <p:pic>
        <p:nvPicPr>
          <p:cNvPr id="125" name="Google Shape;1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91182" y="2493242"/>
            <a:ext cx="6692113" cy="1890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/>
        </p:nvSpPr>
        <p:spPr>
          <a:xfrm>
            <a:off x="495298" y="810908"/>
            <a:ext cx="8083883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0" marL="297475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Game engines soportados para el desarrollo de videojuegos para XBOX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PUBLICACIÓN EN XBOX</a:t>
            </a:r>
            <a:endParaRPr/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7282" y="1512316"/>
            <a:ext cx="7684160" cy="32278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4"/>
          <p:cNvSpPr/>
          <p:nvPr/>
        </p:nvSpPr>
        <p:spPr>
          <a:xfrm>
            <a:off x="424252" y="3703125"/>
            <a:ext cx="7966170" cy="4801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PUBLICACIÓN EN PLATAFORMAS WEB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5"/>
          <p:cNvSpPr txBox="1"/>
          <p:nvPr/>
        </p:nvSpPr>
        <p:spPr>
          <a:xfrm>
            <a:off x="495298" y="810908"/>
            <a:ext cx="8083883" cy="17235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https://itch.io/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un mercado abierto para creadores digitales independientes con un enfoque en videojuegos independientes. 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Es una plataforma que permite a cualquier persona vender el contenido que ha creado. 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Como vendedor,  estás a cargo de cómo se hace: estableces el precio, ejecutas ventas y diseñas sus páginas. 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ITCH.IO</a:t>
            </a:r>
            <a:endParaRPr/>
          </a:p>
        </p:txBody>
      </p:sp>
      <p:pic>
        <p:nvPicPr>
          <p:cNvPr descr="Resultado de imagen para itch io ceo" id="146" name="Google Shape;14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9025" y="2764926"/>
            <a:ext cx="4425950" cy="21963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Gran cantidad de juegos indie.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Modelo de negocio, que permite decidir al desarrollador el porcentaje que va para Itch.IO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Diferentes tipos de modelos para la distribución (donaciones, paga lo que desees, precio fijo, gratis)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ITCH.IO</a:t>
            </a:r>
            <a:endParaRPr/>
          </a:p>
        </p:txBody>
      </p:sp>
      <p:pic>
        <p:nvPicPr>
          <p:cNvPr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7910" y="2288236"/>
            <a:ext cx="3898657" cy="2900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495298" y="810908"/>
            <a:ext cx="8083883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Pueden crearse Dev Logs.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Soporta creación de foros para cada juego publicado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Sistema para creación de sitios de videojuegos altamente intuitivo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ITCH.IO</a:t>
            </a:r>
            <a:endParaRPr/>
          </a:p>
        </p:txBody>
      </p:sp>
      <p:pic>
        <p:nvPicPr>
          <p:cNvPr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60600" y="2288236"/>
            <a:ext cx="4644774" cy="26411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/>
        </p:nvSpPr>
        <p:spPr>
          <a:xfrm>
            <a:off x="495298" y="810908"/>
            <a:ext cx="8083883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https://gamejolt.com/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Apoyo a juegos indie.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Soporte para ventas.</a:t>
            </a:r>
            <a:endParaRPr/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Soporta juegos en browser y clientes descargables.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GAME JOLT</a:t>
            </a:r>
            <a:endParaRPr/>
          </a:p>
        </p:txBody>
      </p:sp>
      <p:pic>
        <p:nvPicPr>
          <p:cNvPr descr="Resultado de imagen para GAME JOLT"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0625" y="1893908"/>
            <a:ext cx="3482748" cy="136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72405" y="2852965"/>
            <a:ext cx="4399189" cy="23388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/>
        </p:nvSpPr>
        <p:spPr>
          <a:xfrm>
            <a:off x="495298" y="810908"/>
            <a:ext cx="8083883" cy="984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 u="sng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https://www.kongregate.com/</a:t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Jim y Emily Greer comenzaron Kongregate hace 10 años con la visión de crear una plataforma abierta para juegos indie con un fuerte enfoque en la participación de la comunidad. </a:t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KONGREGATE</a:t>
            </a:r>
            <a:endParaRPr/>
          </a:p>
        </p:txBody>
      </p:sp>
      <p:pic>
        <p:nvPicPr>
          <p:cNvPr descr="Resultado de imagen para kongregate" id="175" name="Google Shape;1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5676" y="2568430"/>
            <a:ext cx="2143125" cy="234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"/>
          <p:cNvSpPr txBox="1"/>
          <p:nvPr/>
        </p:nvSpPr>
        <p:spPr>
          <a:xfrm>
            <a:off x="495298" y="810908"/>
            <a:ext cx="8083883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Desde su inicio, Kongregate siempre ha priorizado tratar a los socios desarrolladores de manera justa y honesta. Esto significa grandes juegos para nuestros jugadores y una audiencia comprometida para nuestros desarrolladores.</a:t>
            </a:r>
            <a:endParaRPr/>
          </a:p>
          <a:p>
            <a:pPr indent="-66675" lvl="0" marL="1800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8275" lvl="0" marL="180000" marR="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Ahora, una década después de su presentación, Kongregate es un editor líder de juegos para PC y para dispositivos móviles y un portal de juegos web. 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KONGREGATE</a:t>
            </a:r>
            <a:endParaRPr/>
          </a:p>
        </p:txBody>
      </p:sp>
      <p:pic>
        <p:nvPicPr>
          <p:cNvPr descr="Resultado de imagen para kongregate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1733" y="2557215"/>
            <a:ext cx="4291011" cy="24166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1"/>
          <p:cNvSpPr/>
          <p:nvPr/>
        </p:nvSpPr>
        <p:spPr>
          <a:xfrm>
            <a:off x="1788068" y="881063"/>
            <a:ext cx="6871746" cy="4281487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1832904" y="917413"/>
            <a:ext cx="3402730" cy="3096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PE" sz="1600">
                <a:solidFill>
                  <a:srgbClr val="538CD5"/>
                </a:solidFill>
                <a:latin typeface="Calibri"/>
                <a:ea typeface="Calibri"/>
                <a:cs typeface="Calibri"/>
                <a:sym typeface="Calibri"/>
              </a:rPr>
              <a:t>ACTIVIDAD</a:t>
            </a:r>
            <a:endParaRPr sz="1600">
              <a:solidFill>
                <a:srgbClr val="538CD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Creación de una cuenta en Itch.IO y configuración de un primer borrador de página para la publicación de un videojuego.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Creación de una cuenta en Game Jolt y configuración de un primer borrador de página para la publicación de un videojuego.</a:t>
            </a:r>
            <a:endParaRPr/>
          </a:p>
          <a:p>
            <a:pPr indent="-746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5477544" y="993537"/>
            <a:ext cx="3070939" cy="4017347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ACTIVIDAD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2527711" y="770440"/>
            <a:ext cx="6132101" cy="29700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s-PE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Las plataformas de distribución web juegan un rol importante también entre los medios de distribución de juegos, esto debido al gran alcance de usuarios que tienen a diario.</a:t>
            </a:r>
            <a:endParaRPr/>
          </a:p>
          <a:p>
            <a:pPr indent="-7302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0975" lvl="0" marL="180975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Char char="•"/>
            </a:pPr>
            <a:r>
              <a:rPr lang="es-PE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Para primeros prototipos o juegos pequeños se recomienda comenzar utilizando plataformas como Itch.IO, Game Jolt que son muy intuitivas y amigables con el desarrollador.</a:t>
            </a:r>
            <a:endParaRPr/>
          </a:p>
          <a:p>
            <a:pPr indent="-7302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302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3025" lvl="0" marL="1809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/ CONCLUSIONES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3"/>
          <p:cNvSpPr txBox="1"/>
          <p:nvPr/>
        </p:nvSpPr>
        <p:spPr>
          <a:xfrm>
            <a:off x="398994" y="724844"/>
            <a:ext cx="7881937" cy="18016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https://www.xbox.com/en-US/developers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Developing games for Xbox One</a:t>
            </a:r>
            <a:endParaRPr/>
          </a:p>
          <a:p>
            <a:pPr indent="-342900" lvl="0" marL="3429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https://developer.nintendo.com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Nintendo developer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https://partners.playstation.net/</a:t>
            </a: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Playstation Partners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07875" y="320830"/>
            <a:ext cx="7204493" cy="3539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700">
                <a:solidFill>
                  <a:srgbClr val="438AD7"/>
                </a:solidFill>
                <a:latin typeface="Calibri"/>
                <a:ea typeface="Calibri"/>
                <a:cs typeface="Calibri"/>
                <a:sym typeface="Calibri"/>
              </a:rPr>
              <a:t>/ BIBLIOGRAFÍA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2016-10-06T14:52:02Z</dcterms:created>
  <dc:creator>ISIL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