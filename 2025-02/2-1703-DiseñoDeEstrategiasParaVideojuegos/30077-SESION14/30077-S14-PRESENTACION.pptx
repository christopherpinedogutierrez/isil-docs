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6" r:id="rId3"/>
    <p:sldId id="353" r:id="rId4"/>
    <p:sldId id="354" r:id="rId5"/>
    <p:sldId id="355" r:id="rId6"/>
    <p:sldId id="356" r:id="rId7"/>
    <p:sldId id="357" r:id="rId8"/>
    <p:sldId id="358" r:id="rId9"/>
    <p:sldId id="361" r:id="rId10"/>
    <p:sldId id="359" r:id="rId11"/>
    <p:sldId id="362" r:id="rId12"/>
    <p:sldId id="363" r:id="rId13"/>
    <p:sldId id="365" r:id="rId14"/>
    <p:sldId id="366" r:id="rId15"/>
    <p:sldId id="315" r:id="rId16"/>
    <p:sldId id="352" r:id="rId17"/>
    <p:sldId id="368" r:id="rId18"/>
    <p:sldId id="370" r:id="rId19"/>
    <p:sldId id="373" r:id="rId20"/>
    <p:sldId id="374" r:id="rId21"/>
    <p:sldId id="375" r:id="rId22"/>
    <p:sldId id="304" r:id="rId23"/>
    <p:sldId id="303" r:id="rId24"/>
    <p:sldId id="305" r:id="rId25"/>
  </p:sldIdLst>
  <p:sldSz cx="9144000" cy="5715000" type="screen16x1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170" y="108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5975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767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5417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569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3329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4718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9600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2319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3397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9834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220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2576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1117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7685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8761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DESARROLLO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14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lvesoftware.com/es/abou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teamgame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teamgames.com/doc/sd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teamgames.com/doc/sdk/upload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oNH-v6aU9Q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PShS32hc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teamgames.com/doc/featur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apps/publish/signup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pple.com/program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pple.com/design/human-interface-guidelines/ios/overview/themes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5" Type="http://schemas.openxmlformats.org/officeDocument/2006/relationships/image" Target="../media/image17.png"/><Relationship Id="rId4" Type="http://schemas.openxmlformats.org/officeDocument/2006/relationships/hyperlink" Target="https://developer.apple.com/app-store/review/guideline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steamgames.com/steamdirect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hyperlink" Target="https://developer.android.com/studio/publish/?hl=es-4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14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PUBLICACIÓN DE VIDEOJUEGOS – PARTE 1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1600" b="1" dirty="0">
                <a:solidFill>
                  <a:schemeClr val="bg1"/>
                </a:solidFill>
                <a:latin typeface="Calibri"/>
                <a:cs typeface="Calibri"/>
              </a:rPr>
              <a:t>PUBLICACIÓN EN STEAM</a:t>
            </a:r>
          </a:p>
          <a:p>
            <a:pPr>
              <a:lnSpc>
                <a:spcPct val="110000"/>
              </a:lnSpc>
              <a:defRPr/>
            </a:pPr>
            <a:r>
              <a:rPr lang="es-PE" sz="1600" b="1" dirty="0">
                <a:solidFill>
                  <a:schemeClr val="bg1"/>
                </a:solidFill>
                <a:latin typeface="Calibri"/>
                <a:cs typeface="Calibri"/>
              </a:rPr>
              <a:t>/ GOOGLE PLAY Y APPLE STORE</a:t>
            </a:r>
            <a:endParaRPr lang="es-ES" sz="16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clase anterior conocimos más acerca de las redes sociales y su impacto en proceso de marketing de nuestros videojuegos. Ahora aprenderemos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publicar nuestros juegos </a:t>
            </a:r>
            <a:r>
              <a:rPr lang="es-PE" sz="1600" spc="-10" dirty="0" smtClean="0">
                <a:solidFill>
                  <a:srgbClr val="262626"/>
                </a:solidFill>
              </a:rPr>
              <a:t>en las </a:t>
            </a:r>
            <a:r>
              <a:rPr lang="es-PE" sz="1600" spc="-10" dirty="0">
                <a:solidFill>
                  <a:srgbClr val="262626"/>
                </a:solidFill>
              </a:rPr>
              <a:t>diferentes plataformas de distribución disponibles.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STEAM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03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fue creado en el 2013, mucho antes de que existieran las app </a:t>
            </a:r>
            <a:r>
              <a:rPr lang="es-PE" sz="1600" spc="-10" dirty="0" err="1">
                <a:solidFill>
                  <a:srgbClr val="262626"/>
                </a:solidFill>
              </a:rPr>
              <a:t>stores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Sirve como un canal de distribución de contenido digital.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Actualmente es la plataforma donde miles de creadores y editores envían su contenido para establecer relaciones directas con sus clientes/consumidores.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¿QUÉ ES STEAM?</a:t>
            </a:r>
          </a:p>
        </p:txBody>
      </p:sp>
      <p:pic>
        <p:nvPicPr>
          <p:cNvPr id="1028" name="Picture 4" descr="Resultado de imagen para steam">
            <a:extLst>
              <a:ext uri="{FF2B5EF4-FFF2-40B4-BE49-F238E27FC236}">
                <a16:creationId xmlns:a16="http://schemas.microsoft.com/office/drawing/2014/main" id="{FE289F04-1837-4FC9-95BF-B33C88DBE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912030"/>
            <a:ext cx="3624263" cy="204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93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Aprox. 9,863,094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players</a:t>
            </a:r>
            <a:r>
              <a:rPr lang="es-PE" sz="1600" spc="-10" dirty="0">
                <a:solidFill>
                  <a:srgbClr val="262626"/>
                </a:solidFill>
              </a:rPr>
              <a:t> online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i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Aprox</a:t>
            </a:r>
            <a:r>
              <a:rPr lang="es-PE" sz="1600" spc="-10" dirty="0">
                <a:solidFill>
                  <a:srgbClr val="262626"/>
                </a:solidFill>
              </a:rPr>
              <a:t> 2,411,425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players</a:t>
            </a:r>
            <a:r>
              <a:rPr lang="es-PE" sz="1600" spc="-10" dirty="0">
                <a:solidFill>
                  <a:srgbClr val="262626"/>
                </a:solidFill>
              </a:rPr>
              <a:t> are in-</a:t>
            </a: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now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revisar cifras más exactas al momento actual revisar el siguiente link: </a:t>
            </a: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https://www.valvesoftware.com/es/about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¿QUÉ ES STEAM?</a:t>
            </a:r>
          </a:p>
        </p:txBody>
      </p:sp>
      <p:pic>
        <p:nvPicPr>
          <p:cNvPr id="2050" name="Picture 2" descr="Resultado de imagen para steam games">
            <a:extLst>
              <a:ext uri="{FF2B5EF4-FFF2-40B4-BE49-F238E27FC236}">
                <a16:creationId xmlns:a16="http://schemas.microsoft.com/office/drawing/2014/main" id="{8E568415-4D32-418A-B6FC-F1AE962A1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799" y="810908"/>
            <a:ext cx="3624263" cy="203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9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3940514" cy="4185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Crear una cuenta en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primer paso es registrarte para convertirte en un asociado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https://partner.steamgames.com/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/>
            </a:r>
            <a:br>
              <a:rPr lang="es-PE" sz="1600" spc="-10" dirty="0">
                <a:solidFill>
                  <a:srgbClr val="262626"/>
                </a:solidFill>
              </a:rPr>
            </a:br>
            <a:r>
              <a:rPr lang="es-PE" sz="1600" spc="-10" dirty="0">
                <a:solidFill>
                  <a:srgbClr val="262626"/>
                </a:solidFill>
              </a:rPr>
              <a:t>Una vez que tengas configurada tu cuenta y se confirme la información bancaria, fiscal y empresarial, podrás añadir más usuarios y empezar a configurar tu primer producto o aplicación.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2438BF0-365A-478B-9E33-0A3FE1650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980" y="830419"/>
            <a:ext cx="3624263" cy="207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8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2.	Descargar el SDK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Una vez que completes el proceso de incorporación, necesitarás descargar el SDK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r>
              <a:rPr lang="es-PE" sz="1600" spc="-10" dirty="0">
                <a:solidFill>
                  <a:srgbClr val="262626"/>
                </a:solidFill>
              </a:rPr>
              <a:t>, el cual contiene todos los scripts y plantillas para crear y cargar tu producto en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Puedes leer más sobre el SDK en la documentación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r>
              <a:rPr lang="es-PE" sz="1600" spc="-10" dirty="0">
                <a:solidFill>
                  <a:srgbClr val="262626"/>
                </a:solidFill>
              </a:rPr>
              <a:t> SDK.</a:t>
            </a: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https://partner.steamgames.com/doc/sdk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</p:spTree>
    <p:extLst>
      <p:ext uri="{BB962C8B-B14F-4D97-AF65-F5344CB8AC3E}">
        <p14:creationId xmlns:p14="http://schemas.microsoft.com/office/powerpoint/2010/main" val="225939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3.	Crear tus compilaciones y repositorios de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3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poner en marcha tu aplicación en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, debes cargar una compilación y configurar algunos ajustes. Este proceso se describe en detalle en </a:t>
            </a:r>
            <a:r>
              <a:rPr lang="es-PE" sz="1600" spc="-10" dirty="0" err="1">
                <a:solidFill>
                  <a:srgbClr val="262626"/>
                </a:solidFill>
              </a:rPr>
              <a:t>Uploading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to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. Tú decides cuándo quieres compilar y probar tu aplicación.</a:t>
            </a:r>
          </a:p>
          <a:p>
            <a:pPr marL="468925" lvl="3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3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el proceso detallado visitar:</a:t>
            </a:r>
          </a:p>
          <a:p>
            <a:pPr marL="468925" lvl="3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https://partner.steamgames.com/doc/sdk/uploading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3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  <p:pic>
        <p:nvPicPr>
          <p:cNvPr id="6" name="Picture 2" descr="updatedlaunchoptions.png">
            <a:extLst>
              <a:ext uri="{FF2B5EF4-FFF2-40B4-BE49-F238E27FC236}">
                <a16:creationId xmlns:a16="http://schemas.microsoft.com/office/drawing/2014/main" id="{BAF56C51-33F3-4AD5-81E5-B80AECF77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933" y="858619"/>
            <a:ext cx="2054545" cy="435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62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5416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3.	Crear tus compilaciones y repositorios de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SteamPipe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Contet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System</a:t>
            </a:r>
            <a:r>
              <a:rPr lang="es-PE" sz="1600" spc="-10" dirty="0">
                <a:solidFill>
                  <a:srgbClr val="262626"/>
                </a:solidFill>
              </a:rPr>
              <a:t> te permite:</a:t>
            </a: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Envío </a:t>
            </a:r>
            <a:r>
              <a:rPr lang="es-PE" sz="1600" spc="-10" dirty="0">
                <a:solidFill>
                  <a:srgbClr val="262626"/>
                </a:solidFill>
              </a:rPr>
              <a:t>rápido y eficiente de tu contenido.</a:t>
            </a: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Número ilimitado de ramas “beta” </a:t>
            </a:r>
            <a:r>
              <a:rPr lang="es-PE" sz="1600" spc="-10" dirty="0" smtClean="0">
                <a:solidFill>
                  <a:srgbClr val="262626"/>
                </a:solidFill>
              </a:rPr>
              <a:t>públicas </a:t>
            </a:r>
            <a:r>
              <a:rPr lang="es-PE" sz="1600" spc="-10" dirty="0">
                <a:solidFill>
                  <a:srgbClr val="262626"/>
                </a:solidFill>
              </a:rPr>
              <a:t>y privadas, lo cual le permite probar múltiples </a:t>
            </a:r>
            <a:r>
              <a:rPr lang="es-PE" sz="1600" spc="-10" dirty="0" err="1">
                <a:solidFill>
                  <a:srgbClr val="262626"/>
                </a:solidFill>
              </a:rPr>
              <a:t>builds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Administrador web de </a:t>
            </a:r>
            <a:r>
              <a:rPr lang="es-PE" sz="1600" spc="-10" dirty="0" err="1">
                <a:solidFill>
                  <a:srgbClr val="262626"/>
                </a:solidFill>
              </a:rPr>
              <a:t>builds</a:t>
            </a:r>
            <a:r>
              <a:rPr lang="es-PE" sz="1600" spc="-10" dirty="0">
                <a:solidFill>
                  <a:srgbClr val="262626"/>
                </a:solidFill>
              </a:rPr>
              <a:t>, enviar una compilación, volver a una versión anterior con pocos clics.</a:t>
            </a: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mayor detalle revisar los videos de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:</a:t>
            </a: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https://youtu.be/SoNH-v6aU9Q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4"/>
              </a:rPr>
              <a:t>https://youtu.be/PShS32hcing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754675" lvl="2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3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</p:spTree>
    <p:extLst>
      <p:ext uri="{BB962C8B-B14F-4D97-AF65-F5344CB8AC3E}">
        <p14:creationId xmlns:p14="http://schemas.microsoft.com/office/powerpoint/2010/main" val="360151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492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4.	Configurar características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4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Puedes usar tantas características de </a:t>
            </a:r>
            <a:r>
              <a:rPr lang="es-PE" sz="1600" spc="-10" dirty="0" err="1">
                <a:solidFill>
                  <a:srgbClr val="262626"/>
                </a:solidFill>
              </a:rPr>
              <a:t>Steamworks</a:t>
            </a:r>
            <a:r>
              <a:rPr lang="es-PE" sz="1600" spc="-10" dirty="0">
                <a:solidFill>
                  <a:srgbClr val="262626"/>
                </a:solidFill>
              </a:rPr>
              <a:t> como desees.</a:t>
            </a:r>
          </a:p>
          <a:p>
            <a:pPr marL="468925" lvl="4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notifications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Microtransactions</a:t>
            </a:r>
            <a:r>
              <a:rPr lang="es-PE" sz="1600" spc="-10" dirty="0">
                <a:solidFill>
                  <a:srgbClr val="262626"/>
                </a:solidFill>
              </a:rPr>
              <a:t> (In-</a:t>
            </a:r>
            <a:r>
              <a:rPr lang="es-PE" sz="1600" spc="-10" dirty="0" err="1">
                <a:solidFill>
                  <a:srgbClr val="262626"/>
                </a:solidFill>
              </a:rPr>
              <a:t>game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purchases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Multiplayer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Stats</a:t>
            </a:r>
            <a:r>
              <a:rPr lang="es-PE" sz="1600" spc="-10" dirty="0">
                <a:solidFill>
                  <a:srgbClr val="262626"/>
                </a:solidFill>
              </a:rPr>
              <a:t> and </a:t>
            </a:r>
            <a:r>
              <a:rPr lang="es-PE" sz="1600" spc="-10" dirty="0" err="1">
                <a:solidFill>
                  <a:srgbClr val="262626"/>
                </a:solidFill>
              </a:rPr>
              <a:t>achievements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cloud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Input</a:t>
            </a: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poder encontrar la lista completa visitar: </a:t>
            </a: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https://partner.steamgames.com/doc/features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754675" lvl="4" indent="-285750"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9B27C1E-1752-407B-B2EB-84F97B020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075" y="881063"/>
            <a:ext cx="3648683" cy="216154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43BD542-E28B-4A97-98FC-0D6496700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076" y="3336462"/>
            <a:ext cx="3659640" cy="124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5.	Configurar tu página de la tienda y los precios</a:t>
            </a: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4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Mientras trabajas para poner en marcha tu aplicación, también puedes preparar la presencia en la tienda de tu juego o software. Si te surge alguna duda durante el proceso, puedes preguntar o buscar ayuda en los foros de la página de la tienda o de marketing. </a:t>
            </a:r>
          </a:p>
          <a:p>
            <a:pPr marL="468925" lvl="2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825A33-3BF2-4751-876D-C903A860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4" y="881063"/>
            <a:ext cx="3624263" cy="421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7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6.	Preparar el lanzamiento</a:t>
            </a: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4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mayor parte del trabajo de preparar el producto para su lanzamiento en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puedes </a:t>
            </a:r>
            <a:r>
              <a:rPr lang="es-PE" sz="1600" spc="-10" dirty="0" smtClean="0">
                <a:solidFill>
                  <a:srgbClr val="262626"/>
                </a:solidFill>
              </a:rPr>
              <a:t>realizarla </a:t>
            </a:r>
            <a:r>
              <a:rPr lang="es-PE" sz="1600" spc="-10" dirty="0">
                <a:solidFill>
                  <a:srgbClr val="262626"/>
                </a:solidFill>
              </a:rPr>
              <a:t>tú mismo con las herramientas y la documentación. No obstante, al acercarse el lanzamiento, Valve tendrá que revisar tu página de la tienda, el precio propuesto y la compilación del juego.</a:t>
            </a:r>
          </a:p>
          <a:p>
            <a:pPr marL="354625" indent="-342900">
              <a:buSzPct val="100000"/>
              <a:buFont typeface="+mj-lt"/>
              <a:buAutoNum type="arabicPeriod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¿CÓMO PUBLICAR EN STEAM?</a:t>
            </a:r>
          </a:p>
        </p:txBody>
      </p:sp>
      <p:pic>
        <p:nvPicPr>
          <p:cNvPr id="7170" name="Picture 2" descr="Resultado de imagen para steam sales">
            <a:extLst>
              <a:ext uri="{FF2B5EF4-FFF2-40B4-BE49-F238E27FC236}">
                <a16:creationId xmlns:a16="http://schemas.microsoft.com/office/drawing/2014/main" id="{AD6FA062-746C-4111-A2AC-8E1F64826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814" y="951158"/>
            <a:ext cx="3643523" cy="20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23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Información de pago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468925" lvl="1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datos bancarios, como el número de identificación bancaria, el número de cuenta y la dirección del banco, deben ser correctos para que sepamos adónde enviar los pagos de las ventas de tu </a:t>
            </a:r>
            <a:r>
              <a:rPr lang="es-PE" sz="1600" spc="-10" dirty="0" smtClean="0">
                <a:solidFill>
                  <a:srgbClr val="262626"/>
                </a:solidFill>
              </a:rPr>
              <a:t>aplicación.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468925" lvl="1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</a:t>
            </a:r>
            <a:r>
              <a:rPr lang="en-US" sz="1700" dirty="0" smtClean="0">
                <a:solidFill>
                  <a:srgbClr val="438AD7"/>
                </a:solidFill>
              </a:rPr>
              <a:t>QUÉ </a:t>
            </a:r>
            <a:r>
              <a:rPr lang="en-US" sz="1700" dirty="0">
                <a:solidFill>
                  <a:srgbClr val="438AD7"/>
                </a:solidFill>
              </a:rPr>
              <a:t>DEBERÍAS TENER A LA MANO?</a:t>
            </a:r>
          </a:p>
        </p:txBody>
      </p:sp>
      <p:pic>
        <p:nvPicPr>
          <p:cNvPr id="11266" name="Picture 2" descr="Resultado de imagen para credit cards">
            <a:extLst>
              <a:ext uri="{FF2B5EF4-FFF2-40B4-BE49-F238E27FC236}">
                <a16:creationId xmlns:a16="http://schemas.microsoft.com/office/drawing/2014/main" id="{D46F21B6-5859-45A5-B0E0-C3EEB63E3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952299"/>
            <a:ext cx="3624465" cy="259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45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Product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Submission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Fee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1725" lvl="1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		Para poder realizar la instalación completa, 			tendrás que pagar una tarifa de $100.00 USD 		por cada producto que desees vender en 			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. </a:t>
            </a:r>
          </a:p>
          <a:p>
            <a:pPr marL="11725" lvl="1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/>
            </a:r>
            <a:br>
              <a:rPr lang="es-PE" sz="1600" spc="-10" dirty="0">
                <a:solidFill>
                  <a:srgbClr val="262626"/>
                </a:solidFill>
              </a:rPr>
            </a:br>
            <a:r>
              <a:rPr lang="es-PE" sz="1600" spc="-10" dirty="0">
                <a:solidFill>
                  <a:srgbClr val="262626"/>
                </a:solidFill>
              </a:rPr>
              <a:t>		Este pago no es reembolsable, pero se podrá 		recuperar en el pago efectuado después de que 		tu producto tenga un ajuste de ingresos brutos 		de $1,000.00 USD en la tienda de </a:t>
            </a:r>
            <a:r>
              <a:rPr lang="es-PE" sz="1600" spc="-10" dirty="0" err="1">
                <a:solidFill>
                  <a:srgbClr val="262626"/>
                </a:solidFill>
              </a:rPr>
              <a:t>Steam</a:t>
            </a:r>
            <a:r>
              <a:rPr lang="es-PE" sz="1600" spc="-10" dirty="0">
                <a:solidFill>
                  <a:srgbClr val="262626"/>
                </a:solidFill>
              </a:rPr>
              <a:t> y en 		compras dentro de la app. 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</a:t>
            </a:r>
            <a:r>
              <a:rPr lang="en-US" sz="1700" dirty="0" smtClean="0">
                <a:solidFill>
                  <a:srgbClr val="438AD7"/>
                </a:solidFill>
              </a:rPr>
              <a:t>QUÉ </a:t>
            </a:r>
            <a:r>
              <a:rPr lang="en-US" sz="1700" dirty="0">
                <a:solidFill>
                  <a:srgbClr val="438AD7"/>
                </a:solidFill>
              </a:rPr>
              <a:t>DEBERÍAS TENER A LA MANO?</a:t>
            </a:r>
          </a:p>
        </p:txBody>
      </p:sp>
      <p:pic>
        <p:nvPicPr>
          <p:cNvPr id="10242" name="Picture 2" descr="Resultado de imagen para submission fee steam">
            <a:extLst>
              <a:ext uri="{FF2B5EF4-FFF2-40B4-BE49-F238E27FC236}">
                <a16:creationId xmlns:a16="http://schemas.microsoft.com/office/drawing/2014/main" id="{CA0C0FB2-AF23-4165-BA0E-B3019801E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1316067"/>
            <a:ext cx="3638944" cy="204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11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GOOGLE PLAY Y APPLE STORE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primer paso a seguir es crearse una cuenta en Google Play. </a:t>
            </a: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https://play.google.com/apps/publish/signup/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poder ser desarrollador necesitas pagar un pequeño </a:t>
            </a:r>
            <a:r>
              <a:rPr lang="es-PE" sz="1600" spc="-10" dirty="0" err="1">
                <a:solidFill>
                  <a:srgbClr val="262626"/>
                </a:solidFill>
              </a:rPr>
              <a:t>fee</a:t>
            </a:r>
            <a:r>
              <a:rPr lang="es-PE" sz="1600" spc="-10" dirty="0">
                <a:solidFill>
                  <a:srgbClr val="262626"/>
                </a:solidFill>
              </a:rPr>
              <a:t> (25$), que dura para toda la vida.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GOOGLE PLAY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6F1E49D-861F-48F8-BE83-3FC9CC52F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1976951"/>
            <a:ext cx="4613810" cy="2769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014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tamaño del </a:t>
            </a:r>
            <a:r>
              <a:rPr lang="es-PE" sz="1600" spc="-10" dirty="0" smtClean="0">
                <a:solidFill>
                  <a:srgbClr val="262626"/>
                </a:solidFill>
              </a:rPr>
              <a:t>APK </a:t>
            </a:r>
            <a:r>
              <a:rPr lang="es-PE" sz="1600" spc="-10" dirty="0">
                <a:solidFill>
                  <a:srgbClr val="262626"/>
                </a:solidFill>
              </a:rPr>
              <a:t>debe ser como máximo 50MB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Recuerda que los </a:t>
            </a:r>
            <a:r>
              <a:rPr lang="es-PE" sz="1600" b="1" spc="-10" dirty="0" err="1">
                <a:solidFill>
                  <a:srgbClr val="262626"/>
                </a:solidFill>
              </a:rPr>
              <a:t>package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names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spc="-10" dirty="0">
                <a:solidFill>
                  <a:srgbClr val="262626"/>
                </a:solidFill>
              </a:rPr>
              <a:t>de las apps son </a:t>
            </a:r>
            <a:r>
              <a:rPr lang="es-PE" sz="1600" spc="-10" dirty="0" smtClean="0">
                <a:solidFill>
                  <a:srgbClr val="262626"/>
                </a:solidFill>
              </a:rPr>
              <a:t>únicos </a:t>
            </a:r>
            <a:r>
              <a:rPr lang="es-PE" sz="1600" spc="-10" dirty="0">
                <a:solidFill>
                  <a:srgbClr val="262626"/>
                </a:solidFill>
              </a:rPr>
              <a:t>y </a:t>
            </a:r>
            <a:r>
              <a:rPr lang="es-PE" sz="1600" spc="-10" dirty="0" smtClean="0">
                <a:solidFill>
                  <a:srgbClr val="262626"/>
                </a:solidFill>
              </a:rPr>
              <a:t>permanentes. </a:t>
            </a:r>
            <a:r>
              <a:rPr lang="es-PE" sz="1600" spc="-10" dirty="0">
                <a:solidFill>
                  <a:srgbClr val="262626"/>
                </a:solidFill>
              </a:rPr>
              <a:t>E</a:t>
            </a:r>
            <a:r>
              <a:rPr lang="es-PE" sz="1600" spc="-10" dirty="0" smtClean="0">
                <a:solidFill>
                  <a:srgbClr val="262626"/>
                </a:solidFill>
              </a:rPr>
              <a:t>stos </a:t>
            </a:r>
            <a:r>
              <a:rPr lang="es-PE" sz="1600" spc="-10" dirty="0">
                <a:solidFill>
                  <a:srgbClr val="262626"/>
                </a:solidFill>
              </a:rPr>
              <a:t>nombres no pueden ser borrados ni reutilizados en el futuro.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Cuidado con perder los </a:t>
            </a:r>
            <a:r>
              <a:rPr lang="es-PE" sz="1600" spc="-10" dirty="0" err="1" smtClean="0">
                <a:solidFill>
                  <a:srgbClr val="262626"/>
                </a:solidFill>
              </a:rPr>
              <a:t>keystore</a:t>
            </a:r>
            <a:r>
              <a:rPr lang="es-PE" sz="1600" spc="-10" dirty="0">
                <a:solidFill>
                  <a:srgbClr val="262626"/>
                </a:solidFill>
              </a:rPr>
              <a:t>:</a:t>
            </a:r>
            <a:r>
              <a:rPr lang="es-PE" sz="1600" spc="-10" dirty="0" smtClean="0">
                <a:solidFill>
                  <a:srgbClr val="262626"/>
                </a:solidFill>
              </a:rPr>
              <a:t> </a:t>
            </a:r>
            <a:r>
              <a:rPr lang="es-PE" sz="1600" spc="-10" dirty="0">
                <a:solidFill>
                  <a:srgbClr val="262626"/>
                </a:solidFill>
              </a:rPr>
              <a:t>esto significaría volver publicar la app con un nuevo </a:t>
            </a:r>
            <a:r>
              <a:rPr lang="es-PE" sz="1600" spc="-10" dirty="0" err="1">
                <a:solidFill>
                  <a:srgbClr val="262626"/>
                </a:solidFill>
              </a:rPr>
              <a:t>package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name</a:t>
            </a:r>
            <a:r>
              <a:rPr lang="es-PE" sz="1600" spc="-10" dirty="0">
                <a:solidFill>
                  <a:srgbClr val="262626"/>
                </a:solidFill>
              </a:rPr>
              <a:t> y una nueva </a:t>
            </a:r>
            <a:r>
              <a:rPr lang="es-PE" sz="1600" spc="-10" dirty="0" err="1">
                <a:solidFill>
                  <a:srgbClr val="262626"/>
                </a:solidFill>
              </a:rPr>
              <a:t>key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CONSIDERACIONES</a:t>
            </a:r>
          </a:p>
        </p:txBody>
      </p:sp>
      <p:pic>
        <p:nvPicPr>
          <p:cNvPr id="12290" name="Picture 2" descr="Resultado de imagen para android package">
            <a:extLst>
              <a:ext uri="{FF2B5EF4-FFF2-40B4-BE49-F238E27FC236}">
                <a16:creationId xmlns:a16="http://schemas.microsoft.com/office/drawing/2014/main" id="{3A8FE2CD-99C4-4AE3-8E97-1FB3EA334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8575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649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Tenga en cuenta que muchas personas navegarán por la tienda y leerán </a:t>
            </a:r>
            <a:r>
              <a:rPr lang="es-PE" sz="1600" spc="-10" dirty="0" smtClean="0">
                <a:solidFill>
                  <a:srgbClr val="262626"/>
                </a:solidFill>
              </a:rPr>
              <a:t>su </a:t>
            </a:r>
            <a:r>
              <a:rPr lang="es-PE" sz="1600" spc="-10" dirty="0">
                <a:solidFill>
                  <a:srgbClr val="262626"/>
                </a:solidFill>
              </a:rPr>
              <a:t>descripción desde su teléfono o tableta, por lo que es una buena idea mantenerla breve y altamente escalable. 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Describe brevemente qué hace tu aplicación en las primeras dos líneas.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Evita </a:t>
            </a:r>
            <a:r>
              <a:rPr lang="es-PE" sz="1600" spc="-10" dirty="0">
                <a:solidFill>
                  <a:srgbClr val="262626"/>
                </a:solidFill>
              </a:rPr>
              <a:t>bloques extensos de texto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Lista de características clave (USP)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Incluye críticas de usuarios y revisiones de expertos una vez disponibles</a:t>
            </a: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Enfatiza </a:t>
            </a:r>
            <a:r>
              <a:rPr lang="es-PE" sz="1600" spc="-10" dirty="0">
                <a:solidFill>
                  <a:srgbClr val="262626"/>
                </a:solidFill>
              </a:rPr>
              <a:t>la simplicidad y facilidad de uso de la aplicación</a:t>
            </a: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CONSIDERACIONES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59F69F0-2868-4554-B12D-042E54160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810908"/>
            <a:ext cx="3666261" cy="36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9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076701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primer paso a seguir es crearse una cuenta en el programa para desarrolladores de </a:t>
            </a:r>
            <a:r>
              <a:rPr lang="es-PE" sz="1600" spc="-10" dirty="0" err="1">
                <a:solidFill>
                  <a:srgbClr val="262626"/>
                </a:solidFill>
              </a:rPr>
              <a:t>IOs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hlinkClick r:id="rId3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https://developer.apple.com/programs/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s-PE" sz="1600" spc="-10" dirty="0">
                <a:solidFill>
                  <a:srgbClr val="262626"/>
                </a:solidFill>
              </a:rPr>
              <a:t>Los desarrolladores inscritos como individuos venderán aplicaciones en la App Store utilizando su nombre personal. </a:t>
            </a:r>
            <a:r>
              <a:rPr lang="es-PE" sz="1600" b="1" spc="-10" dirty="0">
                <a:solidFill>
                  <a:srgbClr val="262626"/>
                </a:solidFill>
              </a:rPr>
              <a:t>99 USD por año </a:t>
            </a:r>
            <a:r>
              <a:rPr lang="es-PE" sz="1600" spc="-10" dirty="0">
                <a:solidFill>
                  <a:srgbClr val="262626"/>
                </a:solidFill>
              </a:rPr>
              <a:t>de </a:t>
            </a:r>
            <a:r>
              <a:rPr lang="es-PE" sz="1600" spc="-10" dirty="0" smtClean="0">
                <a:solidFill>
                  <a:srgbClr val="262626"/>
                </a:solidFill>
              </a:rPr>
              <a:t>membresía.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APP STORE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659DBB-3951-4E64-8934-2FD98B766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407" y="674773"/>
            <a:ext cx="3700931" cy="421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2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proceso de revisión de Apple no es hermético, pero es muy capaz de identificar problemas que podrían afectar la experiencia de usuario de su aplicación.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su aplicación falla de vez en cuando o se vuelve lenta después de diez minutos de uso, entonces tiene algo de trabajo que hacer antes de enviarla a la App Store. 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APP STORE</a:t>
            </a:r>
          </a:p>
        </p:txBody>
      </p:sp>
      <p:pic>
        <p:nvPicPr>
          <p:cNvPr id="13314" name="Picture 2" descr="Resultado de imagen para APP STORE GAMES">
            <a:extLst>
              <a:ext uri="{FF2B5EF4-FFF2-40B4-BE49-F238E27FC236}">
                <a16:creationId xmlns:a16="http://schemas.microsoft.com/office/drawing/2014/main" id="{4C1C275B-8C47-4332-B140-086F6171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193" y="2288236"/>
            <a:ext cx="4448091" cy="271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207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Revisar las reglas y pautas que da Apple.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https://developer.apple.com/design/human-interface-guidelines/ios/overview/themes/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4"/>
              </a:rPr>
              <a:t>https://developer.apple.com/app-store/review/guidelines/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APP STORE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CD5D36-A662-4B41-B32D-60F1807B3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0601" y="2339995"/>
            <a:ext cx="4663278" cy="26770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343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RESUMEN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Hacer un documento que contenga todos los lineamientos gráficos requeridos para publicar una aplicación en Android (tamaños de banners, iconos)</a:t>
            </a:r>
          </a:p>
          <a:p>
            <a:pPr marL="176213" indent="-176213" defTabSz="731342"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Hacer un documento con los principales lineamientos para una publicación en </a:t>
            </a:r>
            <a:r>
              <a:rPr lang="es-PE" sz="1600" dirty="0" err="1">
                <a:solidFill>
                  <a:srgbClr val="000000"/>
                </a:solidFill>
              </a:rPr>
              <a:t>IOs</a:t>
            </a:r>
            <a:endParaRPr lang="es-PE" sz="1600" dirty="0">
              <a:solidFill>
                <a:srgbClr val="000000"/>
              </a:solidFill>
            </a:endParaRP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 err="1">
                <a:solidFill>
                  <a:srgbClr val="FFFFFF"/>
                </a:solidFill>
              </a:rPr>
              <a:t>Steam</a:t>
            </a:r>
            <a:r>
              <a:rPr lang="es-PE" sz="1700" dirty="0">
                <a:solidFill>
                  <a:srgbClr val="FFFFFF"/>
                </a:solidFill>
              </a:rPr>
              <a:t> es una de las plataformas de distribución con mayor alcance actualmente.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</a:rPr>
              <a:t>Las aplicaciones móviles tienen un gran </a:t>
            </a:r>
            <a:r>
              <a:rPr lang="es-PE" sz="1700" dirty="0" smtClean="0">
                <a:solidFill>
                  <a:srgbClr val="FFFFFF"/>
                </a:solidFill>
              </a:rPr>
              <a:t>apogeo. </a:t>
            </a:r>
            <a:r>
              <a:rPr lang="es-PE" sz="1700" dirty="0">
                <a:solidFill>
                  <a:srgbClr val="FFFFFF"/>
                </a:solidFill>
              </a:rPr>
              <a:t>E</a:t>
            </a:r>
            <a:r>
              <a:rPr lang="es-PE" sz="1700" dirty="0" smtClean="0">
                <a:solidFill>
                  <a:srgbClr val="FFFFFF"/>
                </a:solidFill>
              </a:rPr>
              <a:t>s </a:t>
            </a:r>
            <a:r>
              <a:rPr lang="es-PE" sz="1700" dirty="0">
                <a:solidFill>
                  <a:srgbClr val="FFFFFF"/>
                </a:solidFill>
              </a:rPr>
              <a:t>importante tener presencia tanto en IOS como en Android para incrementar el alcance de nuestra audiencia.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</a:rPr>
              <a:t>Es muy importante probar cuidadosamente nuestros juegos antes de </a:t>
            </a:r>
            <a:r>
              <a:rPr lang="es-PE" sz="1700" dirty="0" smtClean="0">
                <a:solidFill>
                  <a:srgbClr val="FFFFFF"/>
                </a:solidFill>
              </a:rPr>
              <a:t>publicarlos. Recuerda </a:t>
            </a:r>
            <a:r>
              <a:rPr lang="es-PE" sz="1700" dirty="0">
                <a:solidFill>
                  <a:srgbClr val="FFFFFF"/>
                </a:solidFill>
              </a:rPr>
              <a:t>que una mala experiencia del lado del usuario puede causar el abandono de la aplicación.</a:t>
            </a:r>
          </a:p>
          <a:p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>
                <a:cs typeface="Calibri"/>
                <a:hlinkClick r:id="rId3"/>
              </a:rPr>
              <a:t>https://partner.steamgames.com/steamdirect</a:t>
            </a:r>
            <a:r>
              <a:rPr lang="es-PE" sz="1600" dirty="0">
                <a:cs typeface="Calibri"/>
              </a:rPr>
              <a:t> - </a:t>
            </a:r>
            <a:r>
              <a:rPr lang="es-PE" sz="1800" dirty="0" err="1"/>
              <a:t>Steam</a:t>
            </a:r>
            <a:endParaRPr lang="es" sz="1600" dirty="0">
              <a:solidFill>
                <a:srgbClr val="006621"/>
              </a:solidFill>
              <a:cs typeface="Calibri"/>
            </a:endParaRPr>
          </a:p>
          <a:p>
            <a:pPr lvl="0"/>
            <a:r>
              <a:rPr lang="es-PE" sz="1600" dirty="0">
                <a:hlinkClick r:id="rId4"/>
              </a:rPr>
              <a:t>https://developer.android.com/studio/publish/?hl=es-419</a:t>
            </a:r>
            <a:r>
              <a:rPr lang="es-PE" sz="1600" dirty="0"/>
              <a:t> – Android </a:t>
            </a:r>
            <a:r>
              <a:rPr lang="es-PE" sz="1600" dirty="0" err="1"/>
              <a:t>Developers</a:t>
            </a:r>
            <a:endParaRPr lang="es-PE" sz="1600" dirty="0"/>
          </a:p>
          <a:p>
            <a:pPr lvl="0"/>
            <a:endParaRPr lang="es-PE" sz="1600" dirty="0"/>
          </a:p>
          <a:p>
            <a:pPr lvl="0"/>
            <a:endParaRPr lang="es-PE" sz="1600" dirty="0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1220</Words>
  <Application>Microsoft Office PowerPoint</Application>
  <PresentationFormat>Presentación en pantalla (16:10)</PresentationFormat>
  <Paragraphs>183</Paragraphs>
  <Slides>24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373</cp:revision>
  <cp:lastPrinted>2018-01-16T21:42:59Z</cp:lastPrinted>
  <dcterms:created xsi:type="dcterms:W3CDTF">2016-10-06T14:52:02Z</dcterms:created>
  <dcterms:modified xsi:type="dcterms:W3CDTF">2020-11-03T17:27:07Z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