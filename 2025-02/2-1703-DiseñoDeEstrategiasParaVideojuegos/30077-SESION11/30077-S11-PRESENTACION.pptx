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7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15.xml" ContentType="application/vnd.openxmlformats-officedocument.presentationml.tags+xml"/>
  <Override PartName="/ppt/notesSlides/notesSlide10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6.xml" ContentType="application/vnd.openxmlformats-officedocument.presentationml.notesSlide+xml"/>
  <Override PartName="/ppt/tags/tag3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256" r:id="rId2"/>
    <p:sldId id="306" r:id="rId3"/>
    <p:sldId id="353" r:id="rId4"/>
    <p:sldId id="354" r:id="rId5"/>
    <p:sldId id="355" r:id="rId6"/>
    <p:sldId id="356" r:id="rId7"/>
    <p:sldId id="357" r:id="rId8"/>
    <p:sldId id="358" r:id="rId9"/>
    <p:sldId id="359" r:id="rId10"/>
    <p:sldId id="360" r:id="rId11"/>
    <p:sldId id="361" r:id="rId12"/>
    <p:sldId id="362" r:id="rId13"/>
    <p:sldId id="363" r:id="rId14"/>
    <p:sldId id="364" r:id="rId15"/>
    <p:sldId id="365" r:id="rId16"/>
    <p:sldId id="366" r:id="rId17"/>
    <p:sldId id="367" r:id="rId18"/>
    <p:sldId id="368" r:id="rId19"/>
    <p:sldId id="370" r:id="rId20"/>
    <p:sldId id="369" r:id="rId21"/>
    <p:sldId id="371" r:id="rId22"/>
    <p:sldId id="372" r:id="rId23"/>
    <p:sldId id="373" r:id="rId24"/>
    <p:sldId id="374" r:id="rId25"/>
    <p:sldId id="375" r:id="rId26"/>
    <p:sldId id="315" r:id="rId27"/>
    <p:sldId id="316" r:id="rId28"/>
    <p:sldId id="345" r:id="rId29"/>
    <p:sldId id="343" r:id="rId30"/>
    <p:sldId id="344" r:id="rId31"/>
    <p:sldId id="309" r:id="rId32"/>
    <p:sldId id="346" r:id="rId33"/>
    <p:sldId id="347" r:id="rId34"/>
    <p:sldId id="348" r:id="rId35"/>
    <p:sldId id="349" r:id="rId36"/>
    <p:sldId id="350" r:id="rId37"/>
    <p:sldId id="351" r:id="rId38"/>
    <p:sldId id="352" r:id="rId39"/>
    <p:sldId id="304" r:id="rId40"/>
    <p:sldId id="303" r:id="rId41"/>
    <p:sldId id="305" r:id="rId42"/>
  </p:sldIdLst>
  <p:sldSz cx="9144000" cy="5715000" type="screen16x10"/>
  <p:notesSz cx="6858000" cy="9144000"/>
  <p:custDataLst>
    <p:tags r:id="rId4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">
          <p15:clr>
            <a:srgbClr val="A4A3A4"/>
          </p15:clr>
        </p15:guide>
        <p15:guide id="2" pos="5455">
          <p15:clr>
            <a:srgbClr val="A4A3A4"/>
          </p15:clr>
        </p15:guide>
        <p15:guide id="3" orient="horz" pos="3274" userDrawn="1">
          <p15:clr>
            <a:srgbClr val="A4A3A4"/>
          </p15:clr>
        </p15:guide>
        <p15:guide id="4" orient="horz" pos="689" userDrawn="1">
          <p15:clr>
            <a:srgbClr val="A4A3A4"/>
          </p15:clr>
        </p15:guide>
        <p15:guide id="5" pos="476" userDrawn="1">
          <p15:clr>
            <a:srgbClr val="A4A3A4"/>
          </p15:clr>
        </p15:guide>
        <p15:guide id="6" pos="493">
          <p15:clr>
            <a:srgbClr val="A4A3A4"/>
          </p15:clr>
        </p15:guide>
        <p15:guide id="7" orient="horz" pos="387">
          <p15:clr>
            <a:srgbClr val="A4A3A4"/>
          </p15:clr>
        </p15:guide>
        <p15:guide id="8" orient="horz" pos="542">
          <p15:clr>
            <a:srgbClr val="A4A3A4"/>
          </p15:clr>
        </p15:guide>
        <p15:guide id="9" orient="horz" pos="259">
          <p15:clr>
            <a:srgbClr val="A4A3A4"/>
          </p15:clr>
        </p15:guide>
        <p15:guide id="10" orient="horz" pos="3269">
          <p15:clr>
            <a:srgbClr val="A4A3A4"/>
          </p15:clr>
        </p15:guide>
        <p15:guide id="11" pos="5461">
          <p15:clr>
            <a:srgbClr val="A4A3A4"/>
          </p15:clr>
        </p15:guide>
        <p15:guide id="12" pos="30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lva Zoraida Hamada Doshi" initials="EZHD" lastIdx="1" clrIdx="0">
    <p:extLst>
      <p:ext uri="{19B8F6BF-5375-455C-9EA6-DF929625EA0E}">
        <p15:presenceInfo xmlns:p15="http://schemas.microsoft.com/office/powerpoint/2012/main" userId="Elva Zoraida Hamada Dosh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D5EF"/>
    <a:srgbClr val="558ED5"/>
    <a:srgbClr val="FFFFFF"/>
    <a:srgbClr val="C00000"/>
    <a:srgbClr val="A6A6A6"/>
    <a:srgbClr val="F2F2F2"/>
    <a:srgbClr val="7F7F7F"/>
    <a:srgbClr val="FFFFFE"/>
    <a:srgbClr val="00B4B0"/>
    <a:srgbClr val="215B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67" autoAdjust="0"/>
    <p:restoredTop sz="90000" autoAdjust="0"/>
  </p:normalViewPr>
  <p:slideViewPr>
    <p:cSldViewPr snapToGrid="0" snapToObjects="1" showGuides="1">
      <p:cViewPr varScale="1">
        <p:scale>
          <a:sx n="98" d="100"/>
          <a:sy n="98" d="100"/>
        </p:scale>
        <p:origin x="1470" y="72"/>
      </p:cViewPr>
      <p:guideLst>
        <p:guide orient="horz" pos="217"/>
        <p:guide pos="5455"/>
        <p:guide orient="horz" pos="3274"/>
        <p:guide orient="horz" pos="689"/>
        <p:guide pos="476"/>
        <p:guide pos="493"/>
        <p:guide orient="horz" pos="387"/>
        <p:guide orient="horz" pos="542"/>
        <p:guide orient="horz" pos="259"/>
        <p:guide orient="horz" pos="3269"/>
        <p:guide pos="5461"/>
        <p:guide pos="30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932DC7-834F-6148-86AF-F72164F7FFC1}" type="datetimeFigureOut">
              <a:rPr lang="es-ES" smtClean="0"/>
              <a:t>03/11/2020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A6FD5-E31A-6D44-BE80-5A94AC694F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65184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F1720-AE80-4069-8D89-2C76E8AFD874}" type="datetimeFigureOut">
              <a:rPr lang="es-PE" smtClean="0"/>
              <a:t>3/11/2020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700CA-E45F-416D-B659-25554F846B4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48527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859758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676761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771466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478681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908834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866664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215223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383688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367559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100703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521669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264221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325863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08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943131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 userDrawn="1"/>
        </p:nvSpPr>
        <p:spPr>
          <a:xfrm>
            <a:off x="312777" y="5260073"/>
            <a:ext cx="8568205" cy="3127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4882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posición de imagen 17"/>
          <p:cNvSpPr>
            <a:spLocks noGrp="1"/>
          </p:cNvSpPr>
          <p:nvPr>
            <p:ph type="pic" sz="quarter" idx="11"/>
          </p:nvPr>
        </p:nvSpPr>
        <p:spPr>
          <a:xfrm>
            <a:off x="5045075" y="881063"/>
            <a:ext cx="3624263" cy="4308475"/>
          </a:xfrm>
          <a:prstGeom prst="rect">
            <a:avLst/>
          </a:prstGeom>
        </p:spPr>
        <p:txBody>
          <a:bodyPr vert="horz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1824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6"/>
          <p:cNvSpPr>
            <a:spLocks noGrp="1"/>
          </p:cNvSpPr>
          <p:nvPr>
            <p:ph type="pic" sz="quarter" idx="10"/>
          </p:nvPr>
        </p:nvSpPr>
        <p:spPr>
          <a:xfrm>
            <a:off x="488950" y="881063"/>
            <a:ext cx="3682835" cy="4308474"/>
          </a:xfrm>
          <a:prstGeom prst="rect">
            <a:avLst/>
          </a:prstGeom>
        </p:spPr>
        <p:txBody>
          <a:bodyPr vert="horz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2226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Centr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posición de imagen 8"/>
          <p:cNvSpPr>
            <a:spLocks noGrp="1"/>
          </p:cNvSpPr>
          <p:nvPr>
            <p:ph type="pic" sz="quarter" idx="10"/>
          </p:nvPr>
        </p:nvSpPr>
        <p:spPr>
          <a:xfrm>
            <a:off x="2260600" y="2295525"/>
            <a:ext cx="4622800" cy="2903538"/>
          </a:xfrm>
          <a:prstGeom prst="rect">
            <a:avLst/>
          </a:prstGeom>
        </p:spPr>
        <p:txBody>
          <a:bodyPr vert="horz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5508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2 Imáge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ción de imagen 7"/>
          <p:cNvSpPr>
            <a:spLocks noGrp="1"/>
          </p:cNvSpPr>
          <p:nvPr>
            <p:ph type="pic" sz="quarter" idx="11"/>
          </p:nvPr>
        </p:nvSpPr>
        <p:spPr>
          <a:xfrm>
            <a:off x="4662488" y="1528763"/>
            <a:ext cx="4006850" cy="3660775"/>
          </a:xfrm>
          <a:prstGeom prst="rect">
            <a:avLst/>
          </a:prstGeom>
        </p:spPr>
        <p:txBody>
          <a:bodyPr vert="horz"/>
          <a:lstStyle/>
          <a:p>
            <a:endParaRPr lang="es-ES" dirty="0"/>
          </a:p>
        </p:txBody>
      </p:sp>
      <p:sp>
        <p:nvSpPr>
          <p:cNvPr id="6" name="Marcador de imágenes prediseñadas 5"/>
          <p:cNvSpPr>
            <a:spLocks noGrp="1"/>
          </p:cNvSpPr>
          <p:nvPr>
            <p:ph type="clipArt" sz="quarter" idx="10"/>
          </p:nvPr>
        </p:nvSpPr>
        <p:spPr>
          <a:xfrm>
            <a:off x="503238" y="1528763"/>
            <a:ext cx="4013235" cy="3660775"/>
          </a:xfrm>
          <a:prstGeom prst="rect">
            <a:avLst/>
          </a:prstGeom>
        </p:spPr>
        <p:txBody>
          <a:bodyPr vert="horz"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64691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Imagen Gig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4"/>
          <p:cNvSpPr>
            <a:spLocks noGrp="1"/>
          </p:cNvSpPr>
          <p:nvPr>
            <p:ph type="pic" sz="quarter" idx="10"/>
          </p:nvPr>
        </p:nvSpPr>
        <p:spPr>
          <a:xfrm>
            <a:off x="488950" y="860424"/>
            <a:ext cx="8180387" cy="4329113"/>
          </a:xfrm>
          <a:prstGeom prst="rect">
            <a:avLst/>
          </a:prstGeom>
        </p:spPr>
        <p:txBody>
          <a:bodyPr vert="horz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6956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4"/>
          <p:cNvSpPr>
            <a:spLocks noGrp="1"/>
          </p:cNvSpPr>
          <p:nvPr>
            <p:ph type="pic" sz="quarter" idx="10"/>
          </p:nvPr>
        </p:nvSpPr>
        <p:spPr>
          <a:xfrm>
            <a:off x="2184400" y="1360488"/>
            <a:ext cx="4775200" cy="2686050"/>
          </a:xfrm>
          <a:prstGeom prst="rect">
            <a:avLst/>
          </a:prstGeom>
        </p:spPr>
        <p:txBody>
          <a:bodyPr vert="horz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5261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/>
          <p:cNvGrpSpPr/>
          <p:nvPr userDrawn="1"/>
        </p:nvGrpSpPr>
        <p:grpSpPr>
          <a:xfrm>
            <a:off x="944054" y="5369051"/>
            <a:ext cx="7804380" cy="215444"/>
            <a:chOff x="944054" y="5369051"/>
            <a:chExt cx="7804380" cy="215444"/>
          </a:xfrm>
        </p:grpSpPr>
        <p:sp>
          <p:nvSpPr>
            <p:cNvPr id="16" name="TextBox 7"/>
            <p:cNvSpPr txBox="1"/>
            <p:nvPr userDrawn="1"/>
          </p:nvSpPr>
          <p:spPr>
            <a:xfrm>
              <a:off x="944054" y="5369051"/>
              <a:ext cx="263886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DISEÑO</a:t>
              </a:r>
              <a:r>
                <a:rPr lang="en-US" sz="800" kern="1200" baseline="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DE ESTRATEGIAS PARA VIDEOJUEGOS</a:t>
              </a:r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 </a:t>
              </a:r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Wingdings"/>
                  <a:cs typeface="Calibri"/>
                  <a:sym typeface="Wingdings"/>
                </a:rPr>
                <a:t></a:t>
              </a:r>
              <a:r>
                <a:rPr lang="en-US" sz="800" kern="12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 SESIÓN </a:t>
              </a:r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11</a:t>
              </a:r>
              <a:endParaRPr lang="en-US" sz="800" dirty="0">
                <a:solidFill>
                  <a:schemeClr val="bg1">
                    <a:lumMod val="50000"/>
                  </a:schemeClr>
                </a:solidFill>
                <a:latin typeface="Calibri"/>
                <a:cs typeface="Calibri"/>
              </a:endParaRPr>
            </a:p>
          </p:txBody>
        </p:sp>
        <p:sp>
          <p:nvSpPr>
            <p:cNvPr id="18" name="Rectangle 3"/>
            <p:cNvSpPr/>
            <p:nvPr userDrawn="1"/>
          </p:nvSpPr>
          <p:spPr>
            <a:xfrm>
              <a:off x="7379148" y="5384440"/>
              <a:ext cx="1369286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s-ES_tradnl" sz="600" dirty="0">
                  <a:solidFill>
                    <a:schemeClr val="bg1">
                      <a:lumMod val="50000"/>
                    </a:schemeClr>
                  </a:solidFill>
                </a:rPr>
                <a:t>© </a:t>
              </a:r>
              <a:r>
                <a:rPr lang="es-ES_tradnl" sz="600" dirty="0" smtClean="0">
                  <a:solidFill>
                    <a:schemeClr val="bg1">
                      <a:lumMod val="50000"/>
                    </a:schemeClr>
                  </a:solidFill>
                </a:rPr>
                <a:t>ISIL</a:t>
              </a:r>
              <a:r>
                <a:rPr lang="es-ES_tradnl" sz="600" dirty="0">
                  <a:solidFill>
                    <a:schemeClr val="bg1">
                      <a:lumMod val="50000"/>
                    </a:schemeClr>
                  </a:solidFill>
                </a:rPr>
                <a:t>. Todos los derechos reservados</a:t>
              </a:r>
            </a:p>
          </p:txBody>
        </p:sp>
      </p:grpSp>
      <p:pic>
        <p:nvPicPr>
          <p:cNvPr id="3" name="Imagen 2"/>
          <p:cNvPicPr>
            <a:picLocks noChangeAspect="1"/>
          </p:cNvPicPr>
          <p:nvPr userDrawn="1"/>
        </p:nvPicPr>
        <p:blipFill>
          <a:blip r:embed="rId11">
            <a:alphaModFix amt="20000"/>
          </a:blip>
          <a:stretch>
            <a:fillRect/>
          </a:stretch>
        </p:blipFill>
        <p:spPr>
          <a:xfrm>
            <a:off x="495300" y="5328911"/>
            <a:ext cx="448573" cy="25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93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6" r:id="rId4"/>
    <p:sldLayoutId id="2147483660" r:id="rId5"/>
    <p:sldLayoutId id="2147483657" r:id="rId6"/>
    <p:sldLayoutId id="2147483658" r:id="rId7"/>
    <p:sldLayoutId id="2147483661" r:id="rId8"/>
    <p:sldLayoutId id="2147483659" r:id="rId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.xml"/><Relationship Id="rId5" Type="http://schemas.openxmlformats.org/officeDocument/2006/relationships/image" Target="../media/image7.gif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9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3.xml"/><Relationship Id="rId4" Type="http://schemas.openxmlformats.org/officeDocument/2006/relationships/image" Target="../media/image28.gi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gif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5.xml"/><Relationship Id="rId4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6.xml"/><Relationship Id="rId4" Type="http://schemas.openxmlformats.org/officeDocument/2006/relationships/image" Target="../media/image3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2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rra.com/manual/1/construct-2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angle 3"/>
          <p:cNvSpPr/>
          <p:nvPr/>
        </p:nvSpPr>
        <p:spPr>
          <a:xfrm>
            <a:off x="503238" y="1207530"/>
            <a:ext cx="8049072" cy="288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Calibri"/>
                <a:cs typeface="Calibri"/>
              </a:rPr>
              <a:t>SESIÓN /</a:t>
            </a:r>
            <a:r>
              <a:rPr lang="en-US" sz="2800" b="1" dirty="0">
                <a:solidFill>
                  <a:schemeClr val="bg1"/>
                </a:solidFill>
                <a:latin typeface="Calibri"/>
                <a:cs typeface="Calibri"/>
              </a:rPr>
              <a:t>11</a:t>
            </a:r>
          </a:p>
          <a:p>
            <a:pPr algn="ctr">
              <a:lnSpc>
                <a:spcPct val="90000"/>
              </a:lnSpc>
              <a:defRPr/>
            </a:pPr>
            <a:r>
              <a:rPr lang="es-PE" sz="3000" b="1" dirty="0">
                <a:solidFill>
                  <a:schemeClr val="bg1"/>
                </a:solidFill>
                <a:latin typeface="Calibri"/>
                <a:cs typeface="Calibri"/>
              </a:rPr>
              <a:t>UI PARA VIDEOJUEGOS EN CONSTRUCT 2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en-US" b="1" dirty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en-US" b="1" dirty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en-US" b="1" dirty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lnSpc>
                <a:spcPct val="110000"/>
              </a:lnSpc>
              <a:defRPr/>
            </a:pPr>
            <a:r>
              <a:rPr lang="en-US" sz="1600" b="1" dirty="0">
                <a:solidFill>
                  <a:schemeClr val="bg1"/>
                </a:solidFill>
                <a:latin typeface="Calibri"/>
                <a:cs typeface="Calibri"/>
              </a:rPr>
              <a:t>/ FUNCIONALIDAD DEL JUEGO</a:t>
            </a:r>
          </a:p>
          <a:p>
            <a:pPr>
              <a:lnSpc>
                <a:spcPct val="110000"/>
              </a:lnSpc>
              <a:defRPr/>
            </a:pPr>
            <a:r>
              <a:rPr lang="en-US" sz="1600" b="1" dirty="0">
                <a:solidFill>
                  <a:schemeClr val="bg1"/>
                </a:solidFill>
                <a:latin typeface="Calibri"/>
                <a:cs typeface="Calibri"/>
              </a:rPr>
              <a:t>/ </a:t>
            </a:r>
            <a:r>
              <a:rPr lang="es-ES" sz="1600" b="1" dirty="0">
                <a:solidFill>
                  <a:schemeClr val="bg1"/>
                </a:solidFill>
                <a:latin typeface="Calibri"/>
                <a:cs typeface="Calibri"/>
              </a:rPr>
              <a:t>HUD</a:t>
            </a:r>
          </a:p>
          <a:p>
            <a:pPr>
              <a:lnSpc>
                <a:spcPct val="110000"/>
              </a:lnSpc>
              <a:defRPr/>
            </a:pPr>
            <a:endParaRPr lang="es-ES" sz="1600" dirty="0">
              <a:solidFill>
                <a:schemeClr val="bg1"/>
              </a:solidFill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33172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INTRODUCCIÓN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95299" y="810908"/>
            <a:ext cx="8102216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 err="1">
                <a:solidFill>
                  <a:srgbClr val="262626"/>
                </a:solidFill>
                <a:cs typeface="Source Sans Pro"/>
              </a:rPr>
              <a:t>Construct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 2 es muy intuitivo a la hora de crear las reglas y funcionalidad de nuestros juegos a través de su sistema de eventos y acciones.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En la presente sesión aprenderemos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cómo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crear interfaces de usuario utilizando las herramientas que nos ofrece </a:t>
            </a:r>
            <a:r>
              <a:rPr lang="es-PE" sz="1600" spc="-10" dirty="0" err="1">
                <a:solidFill>
                  <a:srgbClr val="262626"/>
                </a:solidFill>
                <a:cs typeface="Source Sans Pro"/>
              </a:rPr>
              <a:t>Construct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 2 y apoyándonos de su sistema de eventos y acciones.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9734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ES" sz="2800" b="1" dirty="0">
                <a:solidFill>
                  <a:schemeClr val="bg1"/>
                </a:solidFill>
                <a:cs typeface="Calibri"/>
              </a:rPr>
              <a:t>FUNCIONALIDAD DEL JUEGO</a:t>
            </a:r>
            <a:endParaRPr lang="es-ES" sz="1600" dirty="0">
              <a:solidFill>
                <a:schemeClr val="bg1"/>
              </a:solidFill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09030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3939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 err="1">
                <a:solidFill>
                  <a:srgbClr val="262626"/>
                </a:solidFill>
              </a:rPr>
              <a:t>Resumen</a:t>
            </a:r>
            <a:r>
              <a:rPr lang="en-US" sz="1600" spc="-10" dirty="0">
                <a:solidFill>
                  <a:srgbClr val="262626"/>
                </a:solidFill>
              </a:rPr>
              <a:t> para </a:t>
            </a:r>
            <a:r>
              <a:rPr lang="en-US" sz="1600" spc="-10" dirty="0" err="1">
                <a:solidFill>
                  <a:srgbClr val="262626"/>
                </a:solidFill>
              </a:rPr>
              <a:t>agregar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una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condición</a:t>
            </a:r>
            <a:r>
              <a:rPr lang="en-US" sz="1600" spc="-10" dirty="0">
                <a:solidFill>
                  <a:srgbClr val="262626"/>
                </a:solidFill>
              </a:rPr>
              <a:t> o </a:t>
            </a:r>
            <a:r>
              <a:rPr lang="en-US" sz="1600" spc="-10" dirty="0" err="1">
                <a:solidFill>
                  <a:srgbClr val="262626"/>
                </a:solidFill>
              </a:rPr>
              <a:t>acción</a:t>
            </a:r>
            <a:r>
              <a:rPr lang="en-US" sz="1600" spc="-10" dirty="0">
                <a:solidFill>
                  <a:srgbClr val="262626"/>
                </a:solidFill>
              </a:rPr>
              <a:t>: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n-US" sz="1600" spc="-10" dirty="0">
              <a:solidFill>
                <a:srgbClr val="262626"/>
              </a:solidFill>
            </a:endParaRPr>
          </a:p>
          <a:p>
            <a:pPr marL="637200" lvl="2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 err="1">
                <a:solidFill>
                  <a:srgbClr val="262626"/>
                </a:solidFill>
              </a:rPr>
              <a:t>En</a:t>
            </a:r>
            <a:r>
              <a:rPr lang="en-US" sz="1600" spc="-10" dirty="0">
                <a:solidFill>
                  <a:srgbClr val="262626"/>
                </a:solidFill>
              </a:rPr>
              <a:t> la </a:t>
            </a:r>
            <a:r>
              <a:rPr lang="en-US" sz="1600" spc="-10" dirty="0" err="1">
                <a:solidFill>
                  <a:srgbClr val="262626"/>
                </a:solidFill>
              </a:rPr>
              <a:t>pestaña</a:t>
            </a:r>
            <a:r>
              <a:rPr lang="en-US" sz="1600" spc="-10" dirty="0">
                <a:solidFill>
                  <a:srgbClr val="262626"/>
                </a:solidFill>
              </a:rPr>
              <a:t> de </a:t>
            </a:r>
            <a:r>
              <a:rPr lang="en-US" sz="1600" spc="-10" dirty="0" err="1">
                <a:solidFill>
                  <a:srgbClr val="262626"/>
                </a:solidFill>
              </a:rPr>
              <a:t>eventos</a:t>
            </a:r>
            <a:r>
              <a:rPr lang="en-US" sz="1600" spc="-10" dirty="0">
                <a:solidFill>
                  <a:srgbClr val="262626"/>
                </a:solidFill>
              </a:rPr>
              <a:t>, </a:t>
            </a:r>
            <a:r>
              <a:rPr lang="en-US" sz="1600" spc="-10" dirty="0" err="1">
                <a:solidFill>
                  <a:srgbClr val="262626"/>
                </a:solidFill>
              </a:rPr>
              <a:t>doble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clic</a:t>
            </a:r>
            <a:r>
              <a:rPr lang="en-US" sz="1600" spc="-10" dirty="0">
                <a:solidFill>
                  <a:srgbClr val="262626"/>
                </a:solidFill>
              </a:rPr>
              <a:t> para </a:t>
            </a:r>
            <a:r>
              <a:rPr lang="en-US" sz="1600" spc="-10" dirty="0" err="1">
                <a:solidFill>
                  <a:srgbClr val="262626"/>
                </a:solidFill>
              </a:rPr>
              <a:t>insertar</a:t>
            </a:r>
            <a:r>
              <a:rPr lang="en-US" sz="1600" spc="-10" dirty="0">
                <a:solidFill>
                  <a:srgbClr val="262626"/>
                </a:solidFill>
              </a:rPr>
              <a:t> un nuevo </a:t>
            </a:r>
            <a:r>
              <a:rPr lang="en-US" sz="1600" spc="-10" dirty="0" err="1">
                <a:solidFill>
                  <a:srgbClr val="262626"/>
                </a:solidFill>
              </a:rPr>
              <a:t>evento</a:t>
            </a:r>
            <a:r>
              <a:rPr lang="en-US" sz="1600" spc="-10" dirty="0">
                <a:solidFill>
                  <a:srgbClr val="262626"/>
                </a:solidFill>
              </a:rPr>
              <a:t> o </a:t>
            </a:r>
            <a:r>
              <a:rPr lang="en-US" sz="1600" spc="-10" dirty="0" err="1">
                <a:solidFill>
                  <a:srgbClr val="262626"/>
                </a:solidFill>
              </a:rPr>
              <a:t>clic</a:t>
            </a:r>
            <a:r>
              <a:rPr lang="en-US" sz="1600" spc="-10" dirty="0">
                <a:solidFill>
                  <a:srgbClr val="262626"/>
                </a:solidFill>
              </a:rPr>
              <a:t> a “add action” para </a:t>
            </a:r>
            <a:r>
              <a:rPr lang="en-US" sz="1600" spc="-10" dirty="0" err="1">
                <a:solidFill>
                  <a:srgbClr val="262626"/>
                </a:solidFill>
              </a:rPr>
              <a:t>añadir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una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acción</a:t>
            </a:r>
            <a:r>
              <a:rPr lang="en-US" sz="1600" spc="-10" dirty="0">
                <a:solidFill>
                  <a:srgbClr val="262626"/>
                </a:solidFill>
              </a:rPr>
              <a:t>.  </a:t>
            </a:r>
          </a:p>
          <a:p>
            <a:pPr marL="637200" lvl="2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n-US" sz="1600" spc="-10" dirty="0">
              <a:solidFill>
                <a:srgbClr val="262626"/>
              </a:solidFill>
            </a:endParaRPr>
          </a:p>
          <a:p>
            <a:pPr marL="637200" lvl="2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</a:rPr>
              <a:t>D</a:t>
            </a:r>
            <a:r>
              <a:rPr lang="es-PE" sz="1600" spc="-10" dirty="0" err="1">
                <a:solidFill>
                  <a:srgbClr val="262626"/>
                </a:solidFill>
              </a:rPr>
              <a:t>oble</a:t>
            </a:r>
            <a:r>
              <a:rPr lang="es-PE" sz="1600" spc="-10" dirty="0">
                <a:solidFill>
                  <a:srgbClr val="262626"/>
                </a:solidFill>
              </a:rPr>
              <a:t> clic en el objeto de la condición / acción en él. </a:t>
            </a:r>
          </a:p>
          <a:p>
            <a:pPr marL="637200" lvl="2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637200" lvl="2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 smtClean="0">
                <a:solidFill>
                  <a:srgbClr val="262626"/>
                </a:solidFill>
              </a:rPr>
              <a:t>Hagan </a:t>
            </a:r>
            <a:r>
              <a:rPr lang="es-PE" sz="1600" spc="-10" dirty="0">
                <a:solidFill>
                  <a:srgbClr val="262626"/>
                </a:solidFill>
              </a:rPr>
              <a:t>doble clic en la condición / acción que quieran implementar</a:t>
            </a:r>
            <a:r>
              <a:rPr lang="en-US" sz="1600" spc="-10" dirty="0">
                <a:solidFill>
                  <a:srgbClr val="262626"/>
                </a:solidFill>
              </a:rPr>
              <a:t>.</a:t>
            </a:r>
          </a:p>
          <a:p>
            <a:pPr marL="637200" lvl="2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n-US" sz="1600" spc="-10" dirty="0">
              <a:solidFill>
                <a:srgbClr val="262626"/>
              </a:solidFill>
            </a:endParaRPr>
          </a:p>
          <a:p>
            <a:pPr marL="637200" lvl="2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 err="1">
                <a:solidFill>
                  <a:srgbClr val="262626"/>
                </a:solidFill>
              </a:rPr>
              <a:t>Ingresen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parámetros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adicionales</a:t>
            </a:r>
            <a:r>
              <a:rPr lang="en-US" sz="1600" spc="-10" dirty="0">
                <a:solidFill>
                  <a:srgbClr val="262626"/>
                </a:solidFill>
              </a:rPr>
              <a:t>, </a:t>
            </a:r>
            <a:r>
              <a:rPr lang="en-US" sz="1600" spc="-10" dirty="0" err="1">
                <a:solidFill>
                  <a:srgbClr val="262626"/>
                </a:solidFill>
              </a:rPr>
              <a:t>en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caso</a:t>
            </a:r>
            <a:r>
              <a:rPr lang="en-US" sz="1600" spc="-10" dirty="0">
                <a:solidFill>
                  <a:srgbClr val="262626"/>
                </a:solidFill>
              </a:rPr>
              <a:t> se </a:t>
            </a:r>
            <a:r>
              <a:rPr lang="en-US" sz="1600" spc="-10" dirty="0" err="1">
                <a:solidFill>
                  <a:srgbClr val="262626"/>
                </a:solidFill>
              </a:rPr>
              <a:t>necesiten</a:t>
            </a:r>
            <a:r>
              <a:rPr lang="en-US" sz="1600" spc="-10" dirty="0">
                <a:solidFill>
                  <a:srgbClr val="262626"/>
                </a:solidFill>
              </a:rPr>
              <a:t>.</a:t>
            </a:r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n-US" sz="1600" spc="-10" dirty="0">
                <a:solidFill>
                  <a:srgbClr val="262626"/>
                </a:solidFill>
                <a:cs typeface="Source Sans Pro"/>
              </a:rPr>
            </a:br>
            <a:endParaRPr lang="en-US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AGREGANDO FUNCIONALIDAD DE JUEGO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1EC005A-9127-4916-BCFB-E612994786E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3352"/>
          <a:stretch/>
        </p:blipFill>
        <p:spPr>
          <a:xfrm>
            <a:off x="5031659" y="2651205"/>
            <a:ext cx="3637679" cy="396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931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24622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De ahora en adelante, los eventos serán descritos como el objeto, seguido por la condición / acción, seguido de los parámetros. Por ejemplo, el evento que acabamos de insertar, podría ser escrito así: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Añadir condición de Sistema -&gt; </a:t>
            </a:r>
            <a:r>
              <a:rPr lang="es-PE" sz="1600" spc="-10" dirty="0" err="1">
                <a:solidFill>
                  <a:srgbClr val="262626"/>
                </a:solidFill>
              </a:rPr>
              <a:t>Every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  <a:r>
              <a:rPr lang="es-PE" sz="1600" spc="-10" dirty="0" err="1">
                <a:solidFill>
                  <a:srgbClr val="262626"/>
                </a:solidFill>
              </a:rPr>
              <a:t>tick</a:t>
            </a:r>
            <a:r>
              <a:rPr lang="es-PE" sz="1600" spc="-10" dirty="0">
                <a:solidFill>
                  <a:srgbClr val="262626"/>
                </a:solidFill>
              </a:rPr>
              <a:t> </a:t>
            </a:r>
            <a:br>
              <a:rPr lang="es-PE" sz="1600" spc="-10" dirty="0">
                <a:solidFill>
                  <a:srgbClr val="262626"/>
                </a:solidFill>
              </a:rPr>
            </a:br>
            <a:r>
              <a:rPr lang="es-PE" sz="1600" spc="-10" dirty="0">
                <a:solidFill>
                  <a:srgbClr val="262626"/>
                </a:solidFill>
              </a:rPr>
              <a:t>Añadir acción Personaje Principal -&gt; Set </a:t>
            </a:r>
            <a:r>
              <a:rPr lang="es-PE" sz="1600" spc="-10" dirty="0" err="1">
                <a:solidFill>
                  <a:srgbClr val="262626"/>
                </a:solidFill>
              </a:rPr>
              <a:t>angle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  <a:r>
              <a:rPr lang="es-PE" sz="1600" spc="-10" dirty="0" err="1">
                <a:solidFill>
                  <a:srgbClr val="262626"/>
                </a:solidFill>
              </a:rPr>
              <a:t>towards</a:t>
            </a:r>
            <a:r>
              <a:rPr lang="es-PE" sz="1600" spc="-10" dirty="0">
                <a:solidFill>
                  <a:srgbClr val="262626"/>
                </a:solidFill>
              </a:rPr>
              <a:t> position -&gt; X: </a:t>
            </a:r>
            <a:r>
              <a:rPr lang="es-PE" sz="1600" spc="-10" dirty="0" err="1">
                <a:solidFill>
                  <a:srgbClr val="262626"/>
                </a:solidFill>
              </a:rPr>
              <a:t>Mouse.X</a:t>
            </a:r>
            <a:r>
              <a:rPr lang="es-PE" sz="1600" spc="-10" dirty="0">
                <a:solidFill>
                  <a:srgbClr val="262626"/>
                </a:solidFill>
              </a:rPr>
              <a:t> , Y: </a:t>
            </a:r>
            <a:r>
              <a:rPr lang="es-PE" sz="1600" spc="-10" dirty="0" err="1">
                <a:solidFill>
                  <a:srgbClr val="262626"/>
                </a:solidFill>
              </a:rPr>
              <a:t>Mouse.Y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n-US" sz="1600" spc="-10" dirty="0">
                <a:solidFill>
                  <a:srgbClr val="262626"/>
                </a:solidFill>
                <a:cs typeface="Source Sans Pro"/>
              </a:rPr>
            </a:br>
            <a:endParaRPr lang="en-US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AGREGANDO FUNCIONALIDAD DE JUEGO</a:t>
            </a:r>
          </a:p>
        </p:txBody>
      </p:sp>
      <p:pic>
        <p:nvPicPr>
          <p:cNvPr id="1026" name="Picture 2" descr="Resultado de imagen para CLOCK">
            <a:extLst>
              <a:ext uri="{FF2B5EF4-FFF2-40B4-BE49-F238E27FC236}">
                <a16:creationId xmlns:a16="http://schemas.microsoft.com/office/drawing/2014/main" id="{65061266-BC5E-4D95-A2B9-9FD4CBD19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6577" y="1497026"/>
            <a:ext cx="2835415" cy="2835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7468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24622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 err="1">
                <a:solidFill>
                  <a:srgbClr val="262626"/>
                </a:solidFill>
              </a:rPr>
              <a:t>Queremos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smtClean="0">
                <a:solidFill>
                  <a:srgbClr val="262626"/>
                </a:solidFill>
              </a:rPr>
              <a:t>que, </a:t>
            </a:r>
            <a:r>
              <a:rPr lang="en-US" sz="1600" spc="-10" dirty="0" err="1">
                <a:solidFill>
                  <a:srgbClr val="262626"/>
                </a:solidFill>
              </a:rPr>
              <a:t>cuando</a:t>
            </a:r>
            <a:r>
              <a:rPr lang="en-US" sz="1600" spc="-10" dirty="0">
                <a:solidFill>
                  <a:srgbClr val="262626"/>
                </a:solidFill>
              </a:rPr>
              <a:t> el </a:t>
            </a:r>
            <a:r>
              <a:rPr lang="en-US" sz="1600" spc="-10" dirty="0" err="1">
                <a:solidFill>
                  <a:srgbClr val="262626"/>
                </a:solidFill>
              </a:rPr>
              <a:t>jugador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haga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clic</a:t>
            </a:r>
            <a:r>
              <a:rPr lang="en-US" sz="1600" spc="-10" dirty="0">
                <a:solidFill>
                  <a:srgbClr val="262626"/>
                </a:solidFill>
              </a:rPr>
              <a:t>, el </a:t>
            </a:r>
            <a:r>
              <a:rPr lang="en-US" sz="1600" spc="-10" dirty="0" err="1">
                <a:solidFill>
                  <a:srgbClr val="262626"/>
                </a:solidFill>
              </a:rPr>
              <a:t>personaje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dispare</a:t>
            </a:r>
            <a:r>
              <a:rPr lang="en-US" sz="1600" spc="-10" dirty="0">
                <a:solidFill>
                  <a:srgbClr val="262626"/>
                </a:solidFill>
              </a:rPr>
              <a:t>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n-US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 err="1">
                <a:solidFill>
                  <a:srgbClr val="262626"/>
                </a:solidFill>
              </a:rPr>
              <a:t>Esto</a:t>
            </a:r>
            <a:r>
              <a:rPr lang="en-US" sz="1600" spc="-10" dirty="0">
                <a:solidFill>
                  <a:srgbClr val="262626"/>
                </a:solidFill>
              </a:rPr>
              <a:t> se </a:t>
            </a:r>
            <a:r>
              <a:rPr lang="en-US" sz="1600" spc="-10" dirty="0" err="1">
                <a:solidFill>
                  <a:srgbClr val="262626"/>
                </a:solidFill>
              </a:rPr>
              <a:t>hace</a:t>
            </a:r>
            <a:r>
              <a:rPr lang="en-US" sz="1600" spc="-10" dirty="0">
                <a:solidFill>
                  <a:srgbClr val="262626"/>
                </a:solidFill>
              </a:rPr>
              <a:t> con la </a:t>
            </a:r>
            <a:r>
              <a:rPr lang="en-US" sz="1600" spc="-10" dirty="0" err="1">
                <a:solidFill>
                  <a:srgbClr val="262626"/>
                </a:solidFill>
              </a:rPr>
              <a:t>acción</a:t>
            </a:r>
            <a:r>
              <a:rPr lang="en-US" sz="1600" spc="-10" dirty="0">
                <a:solidFill>
                  <a:srgbClr val="262626"/>
                </a:solidFill>
              </a:rPr>
              <a:t> “spawn an object” (</a:t>
            </a:r>
            <a:r>
              <a:rPr lang="en-US" sz="1600" spc="-10" dirty="0" err="1">
                <a:solidFill>
                  <a:srgbClr val="262626"/>
                </a:solidFill>
              </a:rPr>
              <a:t>aparecer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objeto</a:t>
            </a:r>
            <a:r>
              <a:rPr lang="en-US" sz="1600" spc="-10" dirty="0">
                <a:solidFill>
                  <a:srgbClr val="262626"/>
                </a:solidFill>
              </a:rPr>
              <a:t>) </a:t>
            </a:r>
            <a:r>
              <a:rPr lang="en-US" sz="1600" spc="-10" dirty="0" err="1">
                <a:solidFill>
                  <a:srgbClr val="262626"/>
                </a:solidFill>
              </a:rPr>
              <a:t>en</a:t>
            </a:r>
            <a:r>
              <a:rPr lang="en-US" sz="1600" spc="-10" dirty="0">
                <a:solidFill>
                  <a:srgbClr val="262626"/>
                </a:solidFill>
              </a:rPr>
              <a:t> el </a:t>
            </a:r>
            <a:r>
              <a:rPr lang="en-US" sz="1600" spc="-10" dirty="0" err="1">
                <a:solidFill>
                  <a:srgbClr val="262626"/>
                </a:solidFill>
              </a:rPr>
              <a:t>Personaje</a:t>
            </a:r>
            <a:r>
              <a:rPr lang="en-US" sz="1600" spc="-10" dirty="0">
                <a:solidFill>
                  <a:srgbClr val="262626"/>
                </a:solidFill>
              </a:rPr>
              <a:t> Principal.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n-US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 err="1">
                <a:solidFill>
                  <a:srgbClr val="262626"/>
                </a:solidFill>
              </a:rPr>
              <a:t>Ya</a:t>
            </a:r>
            <a:r>
              <a:rPr lang="en-US" sz="1600" spc="-10" dirty="0">
                <a:solidFill>
                  <a:srgbClr val="262626"/>
                </a:solidFill>
              </a:rPr>
              <a:t> le </a:t>
            </a:r>
            <a:r>
              <a:rPr lang="en-US" sz="1600" spc="-10" dirty="0" err="1">
                <a:solidFill>
                  <a:srgbClr val="262626"/>
                </a:solidFill>
              </a:rPr>
              <a:t>hemos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agregado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 smtClean="0">
                <a:solidFill>
                  <a:srgbClr val="262626"/>
                </a:solidFill>
              </a:rPr>
              <a:t>movimiento</a:t>
            </a:r>
            <a:r>
              <a:rPr lang="en-US" sz="1600" spc="-10" dirty="0" smtClean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tipo</a:t>
            </a:r>
            <a:r>
              <a:rPr lang="en-US" sz="1600" spc="-10" dirty="0">
                <a:solidFill>
                  <a:srgbClr val="262626"/>
                </a:solidFill>
              </a:rPr>
              <a:t> “bullet”, </a:t>
            </a:r>
            <a:r>
              <a:rPr lang="en-US" sz="1600" spc="-10" dirty="0" err="1">
                <a:solidFill>
                  <a:srgbClr val="262626"/>
                </a:solidFill>
              </a:rPr>
              <a:t>así</a:t>
            </a:r>
            <a:r>
              <a:rPr lang="en-US" sz="1600" spc="-10" dirty="0">
                <a:solidFill>
                  <a:srgbClr val="262626"/>
                </a:solidFill>
              </a:rPr>
              <a:t> que </a:t>
            </a:r>
            <a:r>
              <a:rPr lang="en-US" sz="1600" spc="-10" dirty="0" err="1">
                <a:solidFill>
                  <a:srgbClr val="262626"/>
                </a:solidFill>
              </a:rPr>
              <a:t>esto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 smtClean="0">
                <a:solidFill>
                  <a:srgbClr val="262626"/>
                </a:solidFill>
              </a:rPr>
              <a:t>hará</a:t>
            </a:r>
            <a:r>
              <a:rPr lang="en-US" sz="1600" spc="-10" dirty="0" smtClean="0">
                <a:solidFill>
                  <a:srgbClr val="262626"/>
                </a:solidFill>
              </a:rPr>
              <a:t> </a:t>
            </a:r>
            <a:r>
              <a:rPr lang="en-US" sz="1600" spc="-10" dirty="0">
                <a:solidFill>
                  <a:srgbClr val="262626"/>
                </a:solidFill>
              </a:rPr>
              <a:t>que se </a:t>
            </a:r>
            <a:r>
              <a:rPr lang="en-US" sz="1600" spc="-10" dirty="0" err="1">
                <a:solidFill>
                  <a:srgbClr val="262626"/>
                </a:solidFill>
              </a:rPr>
              <a:t>propulse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hacia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adelante</a:t>
            </a:r>
            <a:r>
              <a:rPr lang="en-US" sz="1600" spc="-10" dirty="0">
                <a:solidFill>
                  <a:srgbClr val="262626"/>
                </a:solidFill>
              </a:rPr>
              <a:t>.</a:t>
            </a:r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n-US" sz="1600" spc="-10" dirty="0">
                <a:solidFill>
                  <a:srgbClr val="262626"/>
                </a:solidFill>
                <a:cs typeface="Source Sans Pro"/>
              </a:rPr>
            </a:br>
            <a:endParaRPr lang="en-US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HAGAMOS QUE EL PERSONAJE DISPARE</a:t>
            </a:r>
          </a:p>
        </p:txBody>
      </p:sp>
      <p:pic>
        <p:nvPicPr>
          <p:cNvPr id="6" name="Picture 6" descr="C:\Users\Mauricio\Desktop\diseño de estrategia de videojuegos\construct\player.png">
            <a:extLst>
              <a:ext uri="{FF2B5EF4-FFF2-40B4-BE49-F238E27FC236}">
                <a16:creationId xmlns:a16="http://schemas.microsoft.com/office/drawing/2014/main" id="{AB1F54D0-0B33-4F8C-B42B-9AAE2AF547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64272" y="2163409"/>
            <a:ext cx="1800200" cy="1719162"/>
          </a:xfrm>
          <a:prstGeom prst="rect">
            <a:avLst/>
          </a:prstGeom>
          <a:noFill/>
        </p:spPr>
      </p:pic>
      <p:sp>
        <p:nvSpPr>
          <p:cNvPr id="7" name="Flecha: hacia abajo 6">
            <a:extLst>
              <a:ext uri="{FF2B5EF4-FFF2-40B4-BE49-F238E27FC236}">
                <a16:creationId xmlns:a16="http://schemas.microsoft.com/office/drawing/2014/main" id="{14611A3C-FD60-415E-9C2E-4F9A86AF78E7}"/>
              </a:ext>
            </a:extLst>
          </p:cNvPr>
          <p:cNvSpPr/>
          <p:nvPr/>
        </p:nvSpPr>
        <p:spPr>
          <a:xfrm>
            <a:off x="7304870" y="2163409"/>
            <a:ext cx="614995" cy="744468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47645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270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 err="1">
                <a:solidFill>
                  <a:srgbClr val="262626"/>
                </a:solidFill>
              </a:rPr>
              <a:t>Creen</a:t>
            </a:r>
            <a:r>
              <a:rPr lang="en-US" sz="1600" spc="-10" dirty="0">
                <a:solidFill>
                  <a:srgbClr val="262626"/>
                </a:solidFill>
              </a:rPr>
              <a:t> el </a:t>
            </a:r>
            <a:r>
              <a:rPr lang="en-US" sz="1600" spc="-10" dirty="0" err="1">
                <a:solidFill>
                  <a:srgbClr val="262626"/>
                </a:solidFill>
              </a:rPr>
              <a:t>siguiente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evento</a:t>
            </a:r>
            <a:r>
              <a:rPr lang="en-US" sz="1600" spc="-10" dirty="0">
                <a:solidFill>
                  <a:srgbClr val="262626"/>
                </a:solidFill>
              </a:rPr>
              <a:t>: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n-US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Condiciones: Mouse -&gt; </a:t>
            </a:r>
            <a:r>
              <a:rPr lang="es-PE" sz="1600" spc="-10" dirty="0" err="1">
                <a:solidFill>
                  <a:srgbClr val="262626"/>
                </a:solidFill>
              </a:rPr>
              <a:t>On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  <a:r>
              <a:rPr lang="es-PE" sz="1600" spc="-10" dirty="0" err="1">
                <a:solidFill>
                  <a:srgbClr val="262626"/>
                </a:solidFill>
              </a:rPr>
              <a:t>click</a:t>
            </a:r>
            <a:r>
              <a:rPr lang="es-PE" sz="1600" spc="-10" dirty="0">
                <a:solidFill>
                  <a:srgbClr val="262626"/>
                </a:solidFill>
              </a:rPr>
              <a:t> -&gt; </a:t>
            </a:r>
            <a:r>
              <a:rPr lang="es-PE" sz="1600" spc="-10" dirty="0" err="1">
                <a:solidFill>
                  <a:srgbClr val="262626"/>
                </a:solidFill>
              </a:rPr>
              <a:t>Left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  <a:r>
              <a:rPr lang="es-PE" sz="1600" spc="-10" dirty="0" err="1">
                <a:solidFill>
                  <a:srgbClr val="262626"/>
                </a:solidFill>
              </a:rPr>
              <a:t>clicked</a:t>
            </a:r>
            <a:r>
              <a:rPr lang="es-PE" sz="1600" spc="-10" dirty="0">
                <a:solidFill>
                  <a:srgbClr val="262626"/>
                </a:solidFill>
              </a:rPr>
              <a:t> (siempre tiene ese valor por defecto)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 err="1">
                <a:solidFill>
                  <a:srgbClr val="262626"/>
                </a:solidFill>
              </a:rPr>
              <a:t>Add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  <a:r>
              <a:rPr lang="es-PE" sz="1600" spc="-10" dirty="0" err="1">
                <a:solidFill>
                  <a:srgbClr val="262626"/>
                </a:solidFill>
              </a:rPr>
              <a:t>Action</a:t>
            </a:r>
            <a:r>
              <a:rPr lang="es-PE" sz="1600" spc="-10" dirty="0">
                <a:solidFill>
                  <a:srgbClr val="262626"/>
                </a:solidFill>
              </a:rPr>
              <a:t>: Personaje Principal -&gt;</a:t>
            </a:r>
            <a:r>
              <a:rPr lang="es-PE" sz="1600" spc="-10" dirty="0" err="1">
                <a:solidFill>
                  <a:srgbClr val="262626"/>
                </a:solidFill>
              </a:rPr>
              <a:t>Spawn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  <a:r>
              <a:rPr lang="es-PE" sz="1600" spc="-10" dirty="0" err="1">
                <a:solidFill>
                  <a:srgbClr val="262626"/>
                </a:solidFill>
              </a:rPr>
              <a:t>another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  <a:r>
              <a:rPr lang="es-PE" sz="1600" spc="-10" dirty="0" err="1">
                <a:solidFill>
                  <a:srgbClr val="262626"/>
                </a:solidFill>
              </a:rPr>
              <a:t>object</a:t>
            </a:r>
            <a:r>
              <a:rPr lang="es-PE" sz="1600" spc="-10" dirty="0">
                <a:solidFill>
                  <a:srgbClr val="262626"/>
                </a:solidFill>
              </a:rPr>
              <a:t>-&gt; Para Objeto elija el objeto </a:t>
            </a:r>
            <a:r>
              <a:rPr lang="es-PE" sz="1600" spc="-10" dirty="0" err="1">
                <a:solidFill>
                  <a:srgbClr val="262626"/>
                </a:solidFill>
              </a:rPr>
              <a:t>Bullet</a:t>
            </a:r>
            <a:r>
              <a:rPr lang="es-PE" sz="1600" spc="-10" dirty="0">
                <a:solidFill>
                  <a:srgbClr val="262626"/>
                </a:solidFill>
              </a:rPr>
              <a:t>. Para la capa, poner 1 (“Principal" es la capa 1 - recuerde </a:t>
            </a:r>
            <a:r>
              <a:rPr lang="es-PE" sz="1600" spc="-10" dirty="0" err="1">
                <a:solidFill>
                  <a:srgbClr val="262626"/>
                </a:solidFill>
              </a:rPr>
              <a:t>Construct</a:t>
            </a:r>
            <a:r>
              <a:rPr lang="es-PE" sz="1600" spc="-10" dirty="0">
                <a:solidFill>
                  <a:srgbClr val="262626"/>
                </a:solidFill>
              </a:rPr>
              <a:t> 2 cuenta desde cero). 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Dejar </a:t>
            </a:r>
            <a:r>
              <a:rPr lang="es-PE" sz="1600" spc="-10" dirty="0" err="1">
                <a:solidFill>
                  <a:srgbClr val="262626"/>
                </a:solidFill>
              </a:rPr>
              <a:t>image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  <a:r>
              <a:rPr lang="es-PE" sz="1600" spc="-10" dirty="0" err="1">
                <a:solidFill>
                  <a:srgbClr val="262626"/>
                </a:solidFill>
              </a:rPr>
              <a:t>point</a:t>
            </a:r>
            <a:r>
              <a:rPr lang="es-PE" sz="1600" spc="-10" dirty="0">
                <a:solidFill>
                  <a:srgbClr val="262626"/>
                </a:solidFill>
              </a:rPr>
              <a:t> en 0.</a:t>
            </a:r>
            <a:endParaRPr lang="en-US" sz="1600" spc="-10" dirty="0">
              <a:solidFill>
                <a:srgbClr val="262626"/>
              </a:solidFill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HAGAMOS QUE EL PERSONAJE DISPARE</a:t>
            </a:r>
          </a:p>
        </p:txBody>
      </p:sp>
      <p:pic>
        <p:nvPicPr>
          <p:cNvPr id="6" name="Picture 2" descr="Ghost shooter event 2.">
            <a:extLst>
              <a:ext uri="{FF2B5EF4-FFF2-40B4-BE49-F238E27FC236}">
                <a16:creationId xmlns:a16="http://schemas.microsoft.com/office/drawing/2014/main" id="{BDDFFFE4-4F98-477D-8496-507DEEE6F5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688" y="4326882"/>
            <a:ext cx="8364650" cy="64807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94018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Probemos cómo va nuestro juego hasta ahora.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La bala dispara desde la mitad del cuerpo del personaje.</a:t>
            </a:r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n-US" sz="1600" spc="-10" dirty="0">
                <a:solidFill>
                  <a:srgbClr val="262626"/>
                </a:solidFill>
                <a:cs typeface="Source Sans Pro"/>
              </a:rPr>
            </a:br>
            <a:endParaRPr lang="en-US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HAGAMOS QUE EL PERSONAJE DISPARE</a:t>
            </a:r>
          </a:p>
        </p:txBody>
      </p:sp>
      <p:pic>
        <p:nvPicPr>
          <p:cNvPr id="14" name="Picture 6" descr="C:\Users\Mauricio\Desktop\diseño de estrategia de videojuegos\construct\player.png">
            <a:extLst>
              <a:ext uri="{FF2B5EF4-FFF2-40B4-BE49-F238E27FC236}">
                <a16:creationId xmlns:a16="http://schemas.microsoft.com/office/drawing/2014/main" id="{58A4C61A-4523-44E9-87C4-B6AB73364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31542" y="2794588"/>
            <a:ext cx="1800200" cy="1719162"/>
          </a:xfrm>
          <a:prstGeom prst="rect">
            <a:avLst/>
          </a:prstGeom>
          <a:noFill/>
        </p:spPr>
      </p:pic>
      <p:pic>
        <p:nvPicPr>
          <p:cNvPr id="15" name="Picture 3" descr="C:\Users\Mauricio\Desktop\diseño de estrategia de videojuegos\construct\bullet.png">
            <a:extLst>
              <a:ext uri="{FF2B5EF4-FFF2-40B4-BE49-F238E27FC236}">
                <a16:creationId xmlns:a16="http://schemas.microsoft.com/office/drawing/2014/main" id="{4F1DB2C4-3D6A-4819-B9F8-F3AE1563D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95638" y="3480664"/>
            <a:ext cx="504056" cy="322036"/>
          </a:xfrm>
          <a:prstGeom prst="rect">
            <a:avLst/>
          </a:prstGeom>
          <a:noFill/>
        </p:spPr>
      </p:pic>
      <p:pic>
        <p:nvPicPr>
          <p:cNvPr id="16" name="Picture 3" descr="C:\Users\Mauricio\Desktop\diseño de estrategia de videojuegos\construct\bullet.png">
            <a:extLst>
              <a:ext uri="{FF2B5EF4-FFF2-40B4-BE49-F238E27FC236}">
                <a16:creationId xmlns:a16="http://schemas.microsoft.com/office/drawing/2014/main" id="{B20D7DC1-47E9-4249-84F8-9E6F53DAF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171702" y="3480664"/>
            <a:ext cx="504056" cy="322036"/>
          </a:xfrm>
          <a:prstGeom prst="rect">
            <a:avLst/>
          </a:prstGeom>
          <a:noFill/>
        </p:spPr>
      </p:pic>
      <p:pic>
        <p:nvPicPr>
          <p:cNvPr id="17" name="Picture 3" descr="C:\Users\Mauricio\Desktop\diseño de estrategia de videojuegos\construct\bullet.png">
            <a:extLst>
              <a:ext uri="{FF2B5EF4-FFF2-40B4-BE49-F238E27FC236}">
                <a16:creationId xmlns:a16="http://schemas.microsoft.com/office/drawing/2014/main" id="{D37E5062-35E4-48DD-A469-5ABF6FF3D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19774" y="3480664"/>
            <a:ext cx="504056" cy="322036"/>
          </a:xfrm>
          <a:prstGeom prst="rect">
            <a:avLst/>
          </a:prstGeom>
          <a:noFill/>
        </p:spPr>
      </p:pic>
      <p:pic>
        <p:nvPicPr>
          <p:cNvPr id="18" name="Picture 3" descr="C:\Users\Mauricio\Desktop\diseño de estrategia de videojuegos\construct\bullet.png">
            <a:extLst>
              <a:ext uri="{FF2B5EF4-FFF2-40B4-BE49-F238E27FC236}">
                <a16:creationId xmlns:a16="http://schemas.microsoft.com/office/drawing/2014/main" id="{CE0CF367-1035-451E-83C7-C01FAE0D0A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67846" y="3480664"/>
            <a:ext cx="504056" cy="322036"/>
          </a:xfrm>
          <a:prstGeom prst="rect">
            <a:avLst/>
          </a:prstGeom>
          <a:noFill/>
        </p:spPr>
      </p:pic>
      <p:sp>
        <p:nvSpPr>
          <p:cNvPr id="19" name="Cross 9">
            <a:extLst>
              <a:ext uri="{FF2B5EF4-FFF2-40B4-BE49-F238E27FC236}">
                <a16:creationId xmlns:a16="http://schemas.microsoft.com/office/drawing/2014/main" id="{6638773D-9196-4BE9-9C23-D479D7274113}"/>
              </a:ext>
            </a:extLst>
          </p:cNvPr>
          <p:cNvSpPr/>
          <p:nvPr/>
        </p:nvSpPr>
        <p:spPr>
          <a:xfrm rot="2700000">
            <a:off x="5727366" y="2806139"/>
            <a:ext cx="1561587" cy="1561587"/>
          </a:xfrm>
          <a:prstGeom prst="plus">
            <a:avLst>
              <a:gd name="adj" fmla="val 42152"/>
            </a:avLst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6" name="Flecha: hacia abajo 25">
            <a:extLst>
              <a:ext uri="{FF2B5EF4-FFF2-40B4-BE49-F238E27FC236}">
                <a16:creationId xmlns:a16="http://schemas.microsoft.com/office/drawing/2014/main" id="{CEA8767D-2A82-43CA-8842-EB932B9A5034}"/>
              </a:ext>
            </a:extLst>
          </p:cNvPr>
          <p:cNvSpPr/>
          <p:nvPr/>
        </p:nvSpPr>
        <p:spPr>
          <a:xfrm>
            <a:off x="2324144" y="2609441"/>
            <a:ext cx="614995" cy="744468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31895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3.33333E-6 L 0.39097 3.33333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3.33333E-6 L 0.39097 3.33333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3.33333E-6 L 0.39097 3.33333E-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3.33333E-6 L 0.39097 3.33333E-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Esto lo arreglamos agregando un </a:t>
            </a:r>
            <a:r>
              <a:rPr lang="es-PE" sz="1600" spc="-10" dirty="0" err="1">
                <a:solidFill>
                  <a:srgbClr val="262626"/>
                </a:solidFill>
              </a:rPr>
              <a:t>image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  <a:r>
              <a:rPr lang="es-PE" sz="1600" spc="-10" dirty="0" err="1">
                <a:solidFill>
                  <a:srgbClr val="262626"/>
                </a:solidFill>
              </a:rPr>
              <a:t>point</a:t>
            </a:r>
            <a:r>
              <a:rPr lang="es-PE" sz="1600" spc="-10" dirty="0">
                <a:solidFill>
                  <a:srgbClr val="262626"/>
                </a:solidFill>
              </a:rPr>
              <a:t>. 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Un </a:t>
            </a:r>
            <a:r>
              <a:rPr lang="es-PE" sz="1600" spc="-10" dirty="0" err="1">
                <a:solidFill>
                  <a:srgbClr val="262626"/>
                </a:solidFill>
              </a:rPr>
              <a:t>image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  <a:r>
              <a:rPr lang="es-PE" sz="1600" spc="-10" dirty="0" err="1">
                <a:solidFill>
                  <a:srgbClr val="262626"/>
                </a:solidFill>
              </a:rPr>
              <a:t>point</a:t>
            </a:r>
            <a:r>
              <a:rPr lang="es-PE" sz="1600" spc="-10" dirty="0">
                <a:solidFill>
                  <a:srgbClr val="262626"/>
                </a:solidFill>
              </a:rPr>
              <a:t> es un marcador de posición sobre una imagen que permite “</a:t>
            </a:r>
            <a:r>
              <a:rPr lang="es-PE" sz="1600" spc="-10" dirty="0" err="1">
                <a:solidFill>
                  <a:srgbClr val="262626"/>
                </a:solidFill>
              </a:rPr>
              <a:t>spawnear</a:t>
            </a:r>
            <a:r>
              <a:rPr lang="es-PE" sz="1600" spc="-10" dirty="0">
                <a:solidFill>
                  <a:srgbClr val="262626"/>
                </a:solidFill>
              </a:rPr>
              <a:t>” objetos desde dicha posición. </a:t>
            </a: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HAGAMOS QUE EL PERSONAJE DISPARE</a:t>
            </a:r>
          </a:p>
        </p:txBody>
      </p:sp>
      <p:pic>
        <p:nvPicPr>
          <p:cNvPr id="14" name="Picture 6" descr="C:\Users\Mauricio\Desktop\diseño de estrategia de videojuegos\construct\player.png">
            <a:extLst>
              <a:ext uri="{FF2B5EF4-FFF2-40B4-BE49-F238E27FC236}">
                <a16:creationId xmlns:a16="http://schemas.microsoft.com/office/drawing/2014/main" id="{58A4C61A-4523-44E9-87C4-B6AB73364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31542" y="2794588"/>
            <a:ext cx="1800200" cy="1719162"/>
          </a:xfrm>
          <a:prstGeom prst="rect">
            <a:avLst/>
          </a:prstGeom>
          <a:noFill/>
        </p:spPr>
      </p:pic>
      <p:pic>
        <p:nvPicPr>
          <p:cNvPr id="15" name="Picture 3" descr="C:\Users\Mauricio\Desktop\diseño de estrategia de videojuegos\construct\bullet.png">
            <a:extLst>
              <a:ext uri="{FF2B5EF4-FFF2-40B4-BE49-F238E27FC236}">
                <a16:creationId xmlns:a16="http://schemas.microsoft.com/office/drawing/2014/main" id="{4F1DB2C4-3D6A-4819-B9F8-F3AE1563D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31742" y="3480664"/>
            <a:ext cx="504056" cy="322036"/>
          </a:xfrm>
          <a:prstGeom prst="rect">
            <a:avLst/>
          </a:prstGeom>
          <a:noFill/>
        </p:spPr>
      </p:pic>
      <p:pic>
        <p:nvPicPr>
          <p:cNvPr id="16" name="Picture 3" descr="C:\Users\Mauricio\Desktop\diseño de estrategia de videojuegos\construct\bullet.png">
            <a:extLst>
              <a:ext uri="{FF2B5EF4-FFF2-40B4-BE49-F238E27FC236}">
                <a16:creationId xmlns:a16="http://schemas.microsoft.com/office/drawing/2014/main" id="{B20D7DC1-47E9-4249-84F8-9E6F53DAF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07806" y="3480664"/>
            <a:ext cx="504056" cy="322036"/>
          </a:xfrm>
          <a:prstGeom prst="rect">
            <a:avLst/>
          </a:prstGeom>
          <a:noFill/>
        </p:spPr>
      </p:pic>
      <p:pic>
        <p:nvPicPr>
          <p:cNvPr id="17" name="Picture 3" descr="C:\Users\Mauricio\Desktop\diseño de estrategia de videojuegos\construct\bullet.png">
            <a:extLst>
              <a:ext uri="{FF2B5EF4-FFF2-40B4-BE49-F238E27FC236}">
                <a16:creationId xmlns:a16="http://schemas.microsoft.com/office/drawing/2014/main" id="{D37E5062-35E4-48DD-A469-5ABF6FF3D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55878" y="3480664"/>
            <a:ext cx="504056" cy="322036"/>
          </a:xfrm>
          <a:prstGeom prst="rect">
            <a:avLst/>
          </a:prstGeom>
          <a:noFill/>
        </p:spPr>
      </p:pic>
      <p:pic>
        <p:nvPicPr>
          <p:cNvPr id="18" name="Picture 3" descr="C:\Users\Mauricio\Desktop\diseño de estrategia de videojuegos\construct\bullet.png">
            <a:extLst>
              <a:ext uri="{FF2B5EF4-FFF2-40B4-BE49-F238E27FC236}">
                <a16:creationId xmlns:a16="http://schemas.microsoft.com/office/drawing/2014/main" id="{CE0CF367-1035-451E-83C7-C01FAE0D0A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03950" y="3480664"/>
            <a:ext cx="504056" cy="322036"/>
          </a:xfrm>
          <a:prstGeom prst="rect">
            <a:avLst/>
          </a:prstGeom>
          <a:noFill/>
        </p:spPr>
      </p:pic>
      <p:pic>
        <p:nvPicPr>
          <p:cNvPr id="11" name="Picture 10" descr="http://www.m33t.ca/check-mark-3-512.gif">
            <a:extLst>
              <a:ext uri="{FF2B5EF4-FFF2-40B4-BE49-F238E27FC236}">
                <a16:creationId xmlns:a16="http://schemas.microsoft.com/office/drawing/2014/main" id="{5A8FD2D1-66D3-42C4-A714-5DB48781A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105505" y="2785558"/>
            <a:ext cx="1728192" cy="1728192"/>
          </a:xfrm>
          <a:prstGeom prst="rect">
            <a:avLst/>
          </a:prstGeom>
          <a:noFill/>
        </p:spPr>
      </p:pic>
      <p:sp>
        <p:nvSpPr>
          <p:cNvPr id="4" name="Flecha: hacia abajo 3">
            <a:extLst>
              <a:ext uri="{FF2B5EF4-FFF2-40B4-BE49-F238E27FC236}">
                <a16:creationId xmlns:a16="http://schemas.microsoft.com/office/drawing/2014/main" id="{E63D2614-7DF0-412E-9FA4-5D0497490510}"/>
              </a:ext>
            </a:extLst>
          </p:cNvPr>
          <p:cNvSpPr/>
          <p:nvPr/>
        </p:nvSpPr>
        <p:spPr>
          <a:xfrm>
            <a:off x="3161499" y="2765392"/>
            <a:ext cx="614995" cy="744468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90962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3.33333E-6 L 0.39097 3.33333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3.33333E-6 L 0.39097 3.33333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3.33333E-6 L 0.39097 3.33333E-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3.33333E-6 L 0.39097 3.33333E-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Clic derecho en el Personaje Principal (desde la pestaña de objetos o el </a:t>
            </a:r>
            <a:r>
              <a:rPr lang="es-PE" sz="1600" spc="-10" dirty="0" err="1">
                <a:solidFill>
                  <a:srgbClr val="262626"/>
                </a:solidFill>
              </a:rPr>
              <a:t>layout</a:t>
            </a:r>
            <a:r>
              <a:rPr lang="es-PE" sz="1600" spc="-10" dirty="0">
                <a:solidFill>
                  <a:srgbClr val="262626"/>
                </a:solidFill>
              </a:rPr>
              <a:t>).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Seleccionar “</a:t>
            </a:r>
            <a:r>
              <a:rPr lang="es-PE" sz="1600" spc="-10" dirty="0" err="1">
                <a:solidFill>
                  <a:srgbClr val="262626"/>
                </a:solidFill>
              </a:rPr>
              <a:t>edit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  <a:r>
              <a:rPr lang="es-PE" sz="1600" spc="-10" dirty="0" err="1">
                <a:solidFill>
                  <a:srgbClr val="262626"/>
                </a:solidFill>
              </a:rPr>
              <a:t>animations</a:t>
            </a:r>
            <a:r>
              <a:rPr lang="es-PE" sz="1600" spc="-10" dirty="0">
                <a:solidFill>
                  <a:srgbClr val="262626"/>
                </a:solidFill>
              </a:rPr>
              <a:t>”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HAGAMOS QUE EL PERSONAJE DISPARE</a:t>
            </a:r>
          </a:p>
        </p:txBody>
      </p:sp>
      <p:pic>
        <p:nvPicPr>
          <p:cNvPr id="12" name="Picture 2" descr="Editing the player's animations.">
            <a:extLst>
              <a:ext uri="{FF2B5EF4-FFF2-40B4-BE49-F238E27FC236}">
                <a16:creationId xmlns:a16="http://schemas.microsoft.com/office/drawing/2014/main" id="{0AC7934C-71C7-4350-ADA4-CC93176A07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65676" y="2668349"/>
            <a:ext cx="2143125" cy="1952625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17915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Se abrirá el editor de imagen. 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Clic en la herramienta de “</a:t>
            </a:r>
            <a:r>
              <a:rPr lang="es-PE" sz="1600" spc="-10" dirty="0" err="1">
                <a:solidFill>
                  <a:srgbClr val="262626"/>
                </a:solidFill>
              </a:rPr>
              <a:t>origin</a:t>
            </a:r>
            <a:r>
              <a:rPr lang="es-PE" sz="1600" spc="-10" dirty="0">
                <a:solidFill>
                  <a:srgbClr val="262626"/>
                </a:solidFill>
              </a:rPr>
              <a:t> and </a:t>
            </a:r>
            <a:r>
              <a:rPr lang="es-PE" sz="1600" spc="-10" dirty="0" err="1">
                <a:solidFill>
                  <a:srgbClr val="262626"/>
                </a:solidFill>
              </a:rPr>
              <a:t>image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  <a:r>
              <a:rPr lang="es-PE" sz="1600" spc="-10" dirty="0" err="1">
                <a:solidFill>
                  <a:srgbClr val="262626"/>
                </a:solidFill>
              </a:rPr>
              <a:t>points</a:t>
            </a:r>
            <a:r>
              <a:rPr lang="es-PE" sz="1600" spc="-10" dirty="0">
                <a:solidFill>
                  <a:srgbClr val="262626"/>
                </a:solidFill>
              </a:rPr>
              <a:t>”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HAGAMOS QUE EL PERSONAJE DISPARE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1052AC7-253B-4A84-92F8-3D4EBB09B59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F256465-F073-4758-9822-22B8059DE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31890" t="20763" r="28893" b="23856"/>
          <a:stretch>
            <a:fillRect/>
          </a:stretch>
        </p:blipFill>
        <p:spPr bwMode="auto">
          <a:xfrm>
            <a:off x="2260600" y="1703023"/>
            <a:ext cx="4680520" cy="3552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44539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1969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Se abrirá el editor de puntos de imagen.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Agregamos un punto nuevo con “+”.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Posicionamos ese punto en la punta de la pistola del personaje.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Cierren el editor.</a:t>
            </a: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HAGAMOS QUE EL PERSONAJE DISPARE</a:t>
            </a:r>
          </a:p>
        </p:txBody>
      </p:sp>
      <p:pic>
        <p:nvPicPr>
          <p:cNvPr id="7" name="Picture 2" descr="The image points dialog.">
            <a:extLst>
              <a:ext uri="{FF2B5EF4-FFF2-40B4-BE49-F238E27FC236}">
                <a16:creationId xmlns:a16="http://schemas.microsoft.com/office/drawing/2014/main" id="{73497DFB-E640-45EA-AF84-3819433D7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99956" y="949324"/>
            <a:ext cx="1714500" cy="20859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20690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1969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Volvamos a la pestaña de eventos.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Doble clic en la acción de “</a:t>
            </a:r>
            <a:r>
              <a:rPr lang="es-PE" sz="1600" spc="-10" dirty="0" err="1">
                <a:solidFill>
                  <a:srgbClr val="262626"/>
                </a:solidFill>
              </a:rPr>
              <a:t>spawn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  <a:r>
              <a:rPr lang="es-PE" sz="1600" spc="-10" dirty="0" err="1">
                <a:solidFill>
                  <a:srgbClr val="262626"/>
                </a:solidFill>
              </a:rPr>
              <a:t>an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  <a:r>
              <a:rPr lang="es-PE" sz="1600" spc="-10" dirty="0" err="1">
                <a:solidFill>
                  <a:srgbClr val="262626"/>
                </a:solidFill>
              </a:rPr>
              <a:t>object</a:t>
            </a:r>
            <a:r>
              <a:rPr lang="es-PE" sz="1600" spc="-10" dirty="0">
                <a:solidFill>
                  <a:srgbClr val="262626"/>
                </a:solidFill>
              </a:rPr>
              <a:t>”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Cambien el </a:t>
            </a:r>
            <a:r>
              <a:rPr lang="es-PE" sz="1600" spc="-10" dirty="0" err="1">
                <a:solidFill>
                  <a:srgbClr val="262626"/>
                </a:solidFill>
              </a:rPr>
              <a:t>image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  <a:r>
              <a:rPr lang="es-PE" sz="1600" spc="-10" dirty="0" err="1">
                <a:solidFill>
                  <a:srgbClr val="262626"/>
                </a:solidFill>
              </a:rPr>
              <a:t>point</a:t>
            </a:r>
            <a:r>
              <a:rPr lang="es-PE" sz="1600" spc="-10" dirty="0">
                <a:solidFill>
                  <a:srgbClr val="262626"/>
                </a:solidFill>
              </a:rPr>
              <a:t> de 0 a 1.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¿Qué es lo que hemos logrado con eso?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HAGAMOS QUE EL PERSONAJE DISPARE</a:t>
            </a:r>
          </a:p>
        </p:txBody>
      </p:sp>
      <p:pic>
        <p:nvPicPr>
          <p:cNvPr id="6" name="Picture 2" descr="The edited event.">
            <a:extLst>
              <a:ext uri="{FF2B5EF4-FFF2-40B4-BE49-F238E27FC236}">
                <a16:creationId xmlns:a16="http://schemas.microsoft.com/office/drawing/2014/main" id="{09FF6435-F586-4119-86B1-FF0226260A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3" y="3747294"/>
            <a:ext cx="8712967" cy="689517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1112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</a:rPr>
              <a:t>Condition: Bullet -&gt; On collision with another object -&gt; pick Monster.</a:t>
            </a:r>
            <a:br>
              <a:rPr lang="en-US" sz="1600" spc="-10" dirty="0">
                <a:solidFill>
                  <a:srgbClr val="262626"/>
                </a:solidFill>
              </a:rPr>
            </a:br>
            <a:r>
              <a:rPr lang="en-US" sz="1600" spc="-10" dirty="0" err="1">
                <a:solidFill>
                  <a:srgbClr val="262626"/>
                </a:solidFill>
              </a:rPr>
              <a:t>Acción</a:t>
            </a:r>
            <a:r>
              <a:rPr lang="en-US" sz="1600" spc="-10" dirty="0">
                <a:solidFill>
                  <a:srgbClr val="262626"/>
                </a:solidFill>
              </a:rPr>
              <a:t>: Enemigo01 -&gt; Destroy</a:t>
            </a:r>
            <a:br>
              <a:rPr lang="en-US" sz="1600" spc="-10" dirty="0">
                <a:solidFill>
                  <a:srgbClr val="262626"/>
                </a:solidFill>
              </a:rPr>
            </a:br>
            <a:r>
              <a:rPr lang="en-US" sz="1600" spc="-10" dirty="0" err="1">
                <a:solidFill>
                  <a:srgbClr val="262626"/>
                </a:solidFill>
              </a:rPr>
              <a:t>Acción</a:t>
            </a:r>
            <a:r>
              <a:rPr lang="en-US" sz="1600" spc="-10" dirty="0">
                <a:solidFill>
                  <a:srgbClr val="262626"/>
                </a:solidFill>
              </a:rPr>
              <a:t> : </a:t>
            </a:r>
            <a:r>
              <a:rPr lang="en-US" sz="1600" spc="-10" dirty="0" err="1">
                <a:solidFill>
                  <a:srgbClr val="262626"/>
                </a:solidFill>
              </a:rPr>
              <a:t>Bala</a:t>
            </a:r>
            <a:r>
              <a:rPr lang="en-US" sz="1600" spc="-10" dirty="0">
                <a:solidFill>
                  <a:srgbClr val="262626"/>
                </a:solidFill>
              </a:rPr>
              <a:t> -&gt; Spawn another object -&gt; Explosion, layer 1</a:t>
            </a:r>
            <a:br>
              <a:rPr lang="en-US" sz="1600" spc="-10" dirty="0">
                <a:solidFill>
                  <a:srgbClr val="262626"/>
                </a:solidFill>
              </a:rPr>
            </a:br>
            <a:r>
              <a:rPr lang="en-US" sz="1600" spc="-10" dirty="0" err="1">
                <a:solidFill>
                  <a:srgbClr val="262626"/>
                </a:solidFill>
              </a:rPr>
              <a:t>Acción</a:t>
            </a:r>
            <a:r>
              <a:rPr lang="en-US" sz="1600" spc="-10" dirty="0">
                <a:solidFill>
                  <a:srgbClr val="262626"/>
                </a:solidFill>
              </a:rPr>
              <a:t> : </a:t>
            </a:r>
            <a:r>
              <a:rPr lang="en-US" sz="1600" spc="-10" dirty="0" err="1">
                <a:solidFill>
                  <a:srgbClr val="262626"/>
                </a:solidFill>
              </a:rPr>
              <a:t>Bala</a:t>
            </a:r>
            <a:r>
              <a:rPr lang="en-US" sz="1600" spc="-10" dirty="0">
                <a:solidFill>
                  <a:srgbClr val="262626"/>
                </a:solidFill>
              </a:rPr>
              <a:t> -&gt; Destroy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HAGAMOS QUE EL PERSONAJE DISPARE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81FEA22-0DFF-41C0-B83B-957A25D19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17619" t="20199" r="44381" b="66512"/>
          <a:stretch>
            <a:fillRect/>
          </a:stretch>
        </p:blipFill>
        <p:spPr bwMode="auto">
          <a:xfrm>
            <a:off x="549631" y="3284115"/>
            <a:ext cx="8044737" cy="1512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4399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Seleccionen la explosión.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Cambien el </a:t>
            </a:r>
            <a:r>
              <a:rPr lang="es-PE" sz="1600" spc="-10" dirty="0" err="1">
                <a:solidFill>
                  <a:srgbClr val="262626"/>
                </a:solidFill>
              </a:rPr>
              <a:t>Blend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  <a:r>
              <a:rPr lang="es-PE" sz="1600" spc="-10" dirty="0" err="1">
                <a:solidFill>
                  <a:srgbClr val="262626"/>
                </a:solidFill>
              </a:rPr>
              <a:t>Mode</a:t>
            </a:r>
            <a:r>
              <a:rPr lang="es-PE" sz="1600" spc="-10" dirty="0">
                <a:solidFill>
                  <a:srgbClr val="262626"/>
                </a:solidFill>
              </a:rPr>
              <a:t> a </a:t>
            </a:r>
            <a:r>
              <a:rPr lang="es-PE" sz="1600" spc="-10" dirty="0" err="1">
                <a:solidFill>
                  <a:srgbClr val="262626"/>
                </a:solidFill>
              </a:rPr>
              <a:t>Additive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HAGAMOS QUE EL PERSONAJE DISPARE</a:t>
            </a:r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4B5C4A0B-8CE4-481B-886F-5E766BA0B6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t="56804" r="83702"/>
          <a:stretch>
            <a:fillRect/>
          </a:stretch>
        </p:blipFill>
        <p:spPr bwMode="auto">
          <a:xfrm>
            <a:off x="3412601" y="1685707"/>
            <a:ext cx="2483768" cy="3538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32717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1969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Hay que darles un ángulo aleatorio de posición inicial. 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 err="1">
                <a:solidFill>
                  <a:srgbClr val="262626"/>
                </a:solidFill>
              </a:rPr>
              <a:t>Condición</a:t>
            </a:r>
            <a:r>
              <a:rPr lang="en-US" sz="1600" spc="-10" dirty="0">
                <a:solidFill>
                  <a:srgbClr val="262626"/>
                </a:solidFill>
              </a:rPr>
              <a:t>: System -&gt; On start of Layout</a:t>
            </a:r>
            <a:br>
              <a:rPr lang="en-US" sz="1600" spc="-10" dirty="0">
                <a:solidFill>
                  <a:srgbClr val="262626"/>
                </a:solidFill>
              </a:rPr>
            </a:br>
            <a:r>
              <a:rPr lang="en-US" sz="1600" spc="-10" dirty="0" err="1">
                <a:solidFill>
                  <a:srgbClr val="262626"/>
                </a:solidFill>
              </a:rPr>
              <a:t>Acción</a:t>
            </a:r>
            <a:r>
              <a:rPr lang="en-US" sz="1600" spc="-10" dirty="0">
                <a:solidFill>
                  <a:srgbClr val="262626"/>
                </a:solidFill>
              </a:rPr>
              <a:t>: </a:t>
            </a:r>
            <a:r>
              <a:rPr lang="en-US" sz="1600" spc="-10" dirty="0" err="1">
                <a:solidFill>
                  <a:srgbClr val="262626"/>
                </a:solidFill>
              </a:rPr>
              <a:t>Enemigo</a:t>
            </a:r>
            <a:r>
              <a:rPr lang="en-US" sz="1600" spc="-10" dirty="0">
                <a:solidFill>
                  <a:srgbClr val="262626"/>
                </a:solidFill>
              </a:rPr>
              <a:t> -&gt; Set angle -&gt; random(360)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n-US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 err="1">
                <a:solidFill>
                  <a:srgbClr val="262626"/>
                </a:solidFill>
              </a:rPr>
              <a:t>Prueben</a:t>
            </a:r>
            <a:r>
              <a:rPr lang="en-US" sz="1600" spc="-10" dirty="0">
                <a:solidFill>
                  <a:srgbClr val="262626"/>
                </a:solidFill>
              </a:rPr>
              <a:t>. Si </a:t>
            </a:r>
            <a:r>
              <a:rPr lang="en-US" sz="1600" spc="-10" dirty="0" err="1">
                <a:solidFill>
                  <a:srgbClr val="262626"/>
                </a:solidFill>
              </a:rPr>
              <a:t>presionan</a:t>
            </a:r>
            <a:r>
              <a:rPr lang="en-US" sz="1600" spc="-10" dirty="0">
                <a:solidFill>
                  <a:srgbClr val="262626"/>
                </a:solidFill>
              </a:rPr>
              <a:t> f5, se </a:t>
            </a:r>
            <a:r>
              <a:rPr lang="en-US" sz="1600" spc="-10" dirty="0" err="1">
                <a:solidFill>
                  <a:srgbClr val="262626"/>
                </a:solidFill>
              </a:rPr>
              <a:t>darán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cuenta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smtClean="0">
                <a:solidFill>
                  <a:srgbClr val="262626"/>
                </a:solidFill>
              </a:rPr>
              <a:t>de que </a:t>
            </a:r>
            <a:r>
              <a:rPr lang="en-US" sz="1600" spc="-10" dirty="0" err="1">
                <a:solidFill>
                  <a:srgbClr val="262626"/>
                </a:solidFill>
              </a:rPr>
              <a:t>cada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vez</a:t>
            </a:r>
            <a:r>
              <a:rPr lang="en-US" sz="1600" spc="-10" dirty="0">
                <a:solidFill>
                  <a:srgbClr val="262626"/>
                </a:solidFill>
              </a:rPr>
              <a:t> que el </a:t>
            </a:r>
            <a:r>
              <a:rPr lang="en-US" sz="1600" spc="-10" dirty="0" err="1">
                <a:solidFill>
                  <a:srgbClr val="262626"/>
                </a:solidFill>
              </a:rPr>
              <a:t>juego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carga</a:t>
            </a:r>
            <a:r>
              <a:rPr lang="en-US" sz="1600" spc="-10" dirty="0">
                <a:solidFill>
                  <a:srgbClr val="262626"/>
                </a:solidFill>
              </a:rPr>
              <a:t>, </a:t>
            </a:r>
            <a:r>
              <a:rPr lang="en-US" sz="1600" spc="-10" dirty="0" err="1">
                <a:solidFill>
                  <a:srgbClr val="262626"/>
                </a:solidFill>
              </a:rPr>
              <a:t>los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enemigos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inician</a:t>
            </a:r>
            <a:r>
              <a:rPr lang="en-US" sz="1600" spc="-10" dirty="0">
                <a:solidFill>
                  <a:srgbClr val="262626"/>
                </a:solidFill>
              </a:rPr>
              <a:t> con un </a:t>
            </a:r>
            <a:r>
              <a:rPr lang="en-US" sz="1600" spc="-10" dirty="0" err="1">
                <a:solidFill>
                  <a:srgbClr val="262626"/>
                </a:solidFill>
              </a:rPr>
              <a:t>ángulo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distinto</a:t>
            </a:r>
            <a:r>
              <a:rPr lang="en-US" sz="1600" spc="-10" dirty="0">
                <a:solidFill>
                  <a:srgbClr val="262626"/>
                </a:solidFill>
              </a:rPr>
              <a:t>.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AGREGANDO COMPORTAMIENTOS A LOS ENEMIGOS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B009B90E-7D10-4E89-9CCE-3F6EB9B462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17238" t="30653" r="48857" b="61019"/>
          <a:stretch>
            <a:fillRect/>
          </a:stretch>
        </p:blipFill>
        <p:spPr bwMode="auto">
          <a:xfrm>
            <a:off x="754047" y="3561642"/>
            <a:ext cx="7635905" cy="100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28339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270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Los enemigos tienen un ángulo de inicio aleatorio que se complementa con el movimiento BULLET que les dimos anteriormente.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Cada vez que inicien el juego, tendrán un recorrido diferente.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Problema: se salen de la zona de juego y se pierden para siempre, consumiendo recursos.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¿Soluciones?</a:t>
            </a: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HAGAMOS QUE EL PERSONAJE DISPARE</a:t>
            </a:r>
          </a:p>
        </p:txBody>
      </p:sp>
      <p:sp>
        <p:nvSpPr>
          <p:cNvPr id="4" name="Marcador de posición de imagen 3"/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2287733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1969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Debemos hacer que busquen la posición del jugador a través de X e Y.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Así haremos que siempre se mantengan dentro del </a:t>
            </a:r>
            <a:r>
              <a:rPr lang="es-PE" sz="1600" spc="-10" dirty="0" err="1">
                <a:solidFill>
                  <a:srgbClr val="262626"/>
                </a:solidFill>
              </a:rPr>
              <a:t>layout</a:t>
            </a:r>
            <a:r>
              <a:rPr lang="es-PE" sz="1600" spc="-10" dirty="0">
                <a:solidFill>
                  <a:srgbClr val="262626"/>
                </a:solidFill>
              </a:rPr>
              <a:t> (porque el jugador siempre debe estar dentro) y además logramos que si el jugador se queda detenido, los enemigos vayan hacia él, generando cierta tensión en el jugador.</a:t>
            </a: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HAGAMOS QUE EL PERSONAJE DISPARE</a:t>
            </a:r>
          </a:p>
        </p:txBody>
      </p:sp>
      <p:sp>
        <p:nvSpPr>
          <p:cNvPr id="4" name="Marcador de posición de imagen 3"/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4103946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 err="1">
                <a:solidFill>
                  <a:srgbClr val="262626"/>
                </a:solidFill>
              </a:rPr>
              <a:t>Condición</a:t>
            </a:r>
            <a:r>
              <a:rPr lang="en-US" sz="1600" spc="-10" dirty="0">
                <a:solidFill>
                  <a:srgbClr val="262626"/>
                </a:solidFill>
              </a:rPr>
              <a:t>: Enemigo01 -&gt; Is outside layout</a:t>
            </a:r>
            <a:br>
              <a:rPr lang="en-US" sz="1600" spc="-10" dirty="0">
                <a:solidFill>
                  <a:srgbClr val="262626"/>
                </a:solidFill>
              </a:rPr>
            </a:br>
            <a:r>
              <a:rPr lang="en-US" sz="1600" spc="-10" dirty="0" err="1">
                <a:solidFill>
                  <a:srgbClr val="262626"/>
                </a:solidFill>
              </a:rPr>
              <a:t>Acción</a:t>
            </a:r>
            <a:r>
              <a:rPr lang="en-US" sz="1600" spc="-10" dirty="0">
                <a:solidFill>
                  <a:srgbClr val="262626"/>
                </a:solidFill>
              </a:rPr>
              <a:t>: Enemigo01 -&gt; Set angle toward position -&gt; </a:t>
            </a:r>
            <a:r>
              <a:rPr lang="en-US" sz="1600" spc="-10" dirty="0" err="1">
                <a:solidFill>
                  <a:srgbClr val="262626"/>
                </a:solidFill>
              </a:rPr>
              <a:t>en</a:t>
            </a:r>
            <a:r>
              <a:rPr lang="en-US" sz="1600" spc="-10" dirty="0">
                <a:solidFill>
                  <a:srgbClr val="262626"/>
                </a:solidFill>
              </a:rPr>
              <a:t> X, </a:t>
            </a:r>
            <a:r>
              <a:rPr lang="en-US" sz="1600" spc="-10" dirty="0" err="1">
                <a:solidFill>
                  <a:srgbClr val="262626"/>
                </a:solidFill>
              </a:rPr>
              <a:t>Personaje.X</a:t>
            </a:r>
            <a:r>
              <a:rPr lang="en-US" sz="1600" spc="-10" dirty="0">
                <a:solidFill>
                  <a:srgbClr val="262626"/>
                </a:solidFill>
              </a:rPr>
              <a:t> - </a:t>
            </a:r>
            <a:r>
              <a:rPr lang="en-US" sz="1600" spc="-10" dirty="0" err="1">
                <a:solidFill>
                  <a:srgbClr val="262626"/>
                </a:solidFill>
              </a:rPr>
              <a:t>enY</a:t>
            </a:r>
            <a:r>
              <a:rPr lang="en-US" sz="1600" spc="-10" dirty="0">
                <a:solidFill>
                  <a:srgbClr val="262626"/>
                </a:solidFill>
              </a:rPr>
              <a:t>, </a:t>
            </a:r>
            <a:r>
              <a:rPr lang="en-US" sz="1600" spc="-10" dirty="0" err="1">
                <a:solidFill>
                  <a:srgbClr val="262626"/>
                </a:solidFill>
              </a:rPr>
              <a:t>Personaje.Y</a:t>
            </a:r>
            <a:endParaRPr lang="en-US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n-US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 err="1">
                <a:solidFill>
                  <a:srgbClr val="262626"/>
                </a:solidFill>
              </a:rPr>
              <a:t>Prueben</a:t>
            </a:r>
            <a:r>
              <a:rPr lang="en-US" sz="1600" spc="-10" dirty="0">
                <a:solidFill>
                  <a:srgbClr val="262626"/>
                </a:solidFill>
              </a:rPr>
              <a:t> el </a:t>
            </a:r>
            <a:r>
              <a:rPr lang="en-US" sz="1600" spc="-10" dirty="0" err="1">
                <a:solidFill>
                  <a:srgbClr val="262626"/>
                </a:solidFill>
              </a:rPr>
              <a:t>juego</a:t>
            </a:r>
            <a:r>
              <a:rPr lang="en-US" sz="1600" spc="-10" dirty="0">
                <a:solidFill>
                  <a:srgbClr val="262626"/>
                </a:solidFill>
              </a:rPr>
              <a:t>. ¿</a:t>
            </a:r>
            <a:r>
              <a:rPr lang="en-US" sz="1600" spc="-10" dirty="0" err="1">
                <a:solidFill>
                  <a:srgbClr val="262626"/>
                </a:solidFill>
              </a:rPr>
              <a:t>Qué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sucede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ahora</a:t>
            </a:r>
            <a:r>
              <a:rPr lang="en-US" sz="1600" spc="-10" dirty="0">
                <a:solidFill>
                  <a:srgbClr val="262626"/>
                </a:solidFill>
              </a:rPr>
              <a:t>?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AGREGANDO COMPORTAMIENTOS A LOS ENEMIGOS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54B4A48-A43F-4B2D-BC54-85B512E0A9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l="17715" t="36586" r="45881" b="55502"/>
          <a:stretch/>
        </p:blipFill>
        <p:spPr bwMode="auto">
          <a:xfrm>
            <a:off x="1016119" y="3315246"/>
            <a:ext cx="7397360" cy="86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37867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22159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 err="1">
                <a:solidFill>
                  <a:srgbClr val="262626"/>
                </a:solidFill>
              </a:rPr>
              <a:t>Queremos</a:t>
            </a:r>
            <a:r>
              <a:rPr lang="en-US" sz="1600" spc="-10" dirty="0">
                <a:solidFill>
                  <a:srgbClr val="262626"/>
                </a:solidFill>
              </a:rPr>
              <a:t> que </a:t>
            </a:r>
            <a:r>
              <a:rPr lang="en-US" sz="1600" spc="-10" dirty="0" err="1">
                <a:solidFill>
                  <a:srgbClr val="262626"/>
                </a:solidFill>
              </a:rPr>
              <a:t>los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enemigos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soporten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más</a:t>
            </a:r>
            <a:r>
              <a:rPr lang="en-US" sz="1600" spc="-10" dirty="0">
                <a:solidFill>
                  <a:srgbClr val="262626"/>
                </a:solidFill>
              </a:rPr>
              <a:t> de un </a:t>
            </a:r>
            <a:r>
              <a:rPr lang="en-US" sz="1600" spc="-10" dirty="0" err="1">
                <a:solidFill>
                  <a:srgbClr val="262626"/>
                </a:solidFill>
              </a:rPr>
              <a:t>disparo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por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parte</a:t>
            </a:r>
            <a:r>
              <a:rPr lang="en-US" sz="1600" spc="-10" dirty="0">
                <a:solidFill>
                  <a:srgbClr val="262626"/>
                </a:solidFill>
              </a:rPr>
              <a:t> del </a:t>
            </a:r>
            <a:r>
              <a:rPr lang="en-US" sz="1600" spc="-10" dirty="0" err="1">
                <a:solidFill>
                  <a:srgbClr val="262626"/>
                </a:solidFill>
              </a:rPr>
              <a:t>jugador</a:t>
            </a:r>
            <a:r>
              <a:rPr lang="en-US" sz="1600" spc="-10" dirty="0">
                <a:solidFill>
                  <a:srgbClr val="262626"/>
                </a:solidFill>
              </a:rPr>
              <a:t>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n-US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 smtClean="0">
                <a:solidFill>
                  <a:srgbClr val="262626"/>
                </a:solidFill>
              </a:rPr>
              <a:t>¿</a:t>
            </a:r>
            <a:r>
              <a:rPr lang="en-US" sz="1600" spc="-10" dirty="0" err="1" smtClean="0">
                <a:solidFill>
                  <a:srgbClr val="262626"/>
                </a:solidFill>
              </a:rPr>
              <a:t>Qué</a:t>
            </a:r>
            <a:r>
              <a:rPr lang="en-US" sz="1600" spc="-10" dirty="0" smtClean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pasaría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si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agregamos</a:t>
            </a:r>
            <a:r>
              <a:rPr lang="en-US" sz="1600" spc="-10" dirty="0">
                <a:solidFill>
                  <a:srgbClr val="262626"/>
                </a:solidFill>
              </a:rPr>
              <a:t> un </a:t>
            </a:r>
            <a:r>
              <a:rPr lang="en-US" sz="1600" spc="-10" dirty="0" err="1">
                <a:solidFill>
                  <a:srgbClr val="262626"/>
                </a:solidFill>
              </a:rPr>
              <a:t>contador</a:t>
            </a:r>
            <a:r>
              <a:rPr lang="en-US" sz="1600" spc="-10" dirty="0">
                <a:solidFill>
                  <a:srgbClr val="262626"/>
                </a:solidFill>
              </a:rPr>
              <a:t> de </a:t>
            </a:r>
            <a:r>
              <a:rPr lang="en-US" sz="1600" spc="-10" dirty="0" err="1">
                <a:solidFill>
                  <a:srgbClr val="262626"/>
                </a:solidFill>
              </a:rPr>
              <a:t>salud</a:t>
            </a:r>
            <a:r>
              <a:rPr lang="en-US" sz="1600" spc="-10" dirty="0">
                <a:solidFill>
                  <a:srgbClr val="262626"/>
                </a:solidFill>
              </a:rPr>
              <a:t> a la </a:t>
            </a:r>
            <a:r>
              <a:rPr lang="en-US" sz="1600" spc="-10" dirty="0" err="1">
                <a:solidFill>
                  <a:srgbClr val="262626"/>
                </a:solidFill>
              </a:rPr>
              <a:t>clase</a:t>
            </a:r>
            <a:r>
              <a:rPr lang="en-US" sz="1600" spc="-10" dirty="0">
                <a:solidFill>
                  <a:srgbClr val="262626"/>
                </a:solidFill>
              </a:rPr>
              <a:t> de “</a:t>
            </a:r>
            <a:r>
              <a:rPr lang="en-US" sz="1600" spc="-10" dirty="0" err="1">
                <a:solidFill>
                  <a:srgbClr val="262626"/>
                </a:solidFill>
              </a:rPr>
              <a:t>enemigo</a:t>
            </a:r>
            <a:r>
              <a:rPr lang="en-US" sz="1600" spc="-10" dirty="0">
                <a:solidFill>
                  <a:srgbClr val="262626"/>
                </a:solidFill>
              </a:rPr>
              <a:t>” </a:t>
            </a:r>
            <a:r>
              <a:rPr lang="en-US" sz="1600" spc="-10" dirty="0" err="1">
                <a:solidFill>
                  <a:srgbClr val="262626"/>
                </a:solidFill>
              </a:rPr>
              <a:t>directamente</a:t>
            </a:r>
            <a:r>
              <a:rPr lang="en-US" sz="1600" spc="-10" dirty="0">
                <a:solidFill>
                  <a:srgbClr val="262626"/>
                </a:solidFill>
              </a:rPr>
              <a:t>?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n-US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 err="1">
                <a:solidFill>
                  <a:srgbClr val="262626"/>
                </a:solidFill>
              </a:rPr>
              <a:t>Necesitamos</a:t>
            </a:r>
            <a:r>
              <a:rPr lang="en-US" sz="1600" spc="-10" dirty="0">
                <a:solidFill>
                  <a:srgbClr val="262626"/>
                </a:solidFill>
              </a:rPr>
              <a:t> un </a:t>
            </a:r>
            <a:r>
              <a:rPr lang="en-US" sz="1600" spc="-10" dirty="0" err="1">
                <a:solidFill>
                  <a:srgbClr val="262626"/>
                </a:solidFill>
              </a:rPr>
              <a:t>contador</a:t>
            </a:r>
            <a:r>
              <a:rPr lang="en-US" sz="1600" spc="-10" dirty="0">
                <a:solidFill>
                  <a:srgbClr val="262626"/>
                </a:solidFill>
              </a:rPr>
              <a:t> de </a:t>
            </a:r>
            <a:r>
              <a:rPr lang="en-US" sz="1600" spc="-10" dirty="0" err="1">
                <a:solidFill>
                  <a:srgbClr val="262626"/>
                </a:solidFill>
              </a:rPr>
              <a:t>salud</a:t>
            </a:r>
            <a:r>
              <a:rPr lang="en-US" sz="1600" spc="-10" dirty="0">
                <a:solidFill>
                  <a:srgbClr val="262626"/>
                </a:solidFill>
              </a:rPr>
              <a:t> individual para </a:t>
            </a:r>
            <a:r>
              <a:rPr lang="en-US" sz="1600" spc="-10" dirty="0" err="1">
                <a:solidFill>
                  <a:srgbClr val="262626"/>
                </a:solidFill>
              </a:rPr>
              <a:t>cada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enemigo</a:t>
            </a:r>
            <a:r>
              <a:rPr lang="en-US" sz="1600" spc="-10" dirty="0">
                <a:solidFill>
                  <a:srgbClr val="262626"/>
                </a:solidFill>
              </a:rPr>
              <a:t>. </a:t>
            </a:r>
            <a:r>
              <a:rPr lang="en-US" sz="1600" spc="-10" dirty="0" err="1">
                <a:solidFill>
                  <a:srgbClr val="262626"/>
                </a:solidFill>
              </a:rPr>
              <a:t>Esto</a:t>
            </a:r>
            <a:r>
              <a:rPr lang="en-US" sz="1600" spc="-10" dirty="0">
                <a:solidFill>
                  <a:srgbClr val="262626"/>
                </a:solidFill>
              </a:rPr>
              <a:t> lo </a:t>
            </a:r>
            <a:r>
              <a:rPr lang="en-US" sz="1600" spc="-10" dirty="0" err="1">
                <a:solidFill>
                  <a:srgbClr val="262626"/>
                </a:solidFill>
              </a:rPr>
              <a:t>podemos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hacer</a:t>
            </a:r>
            <a:r>
              <a:rPr lang="en-US" sz="1600" spc="-10" dirty="0">
                <a:solidFill>
                  <a:srgbClr val="262626"/>
                </a:solidFill>
              </a:rPr>
              <a:t> con Variables de </a:t>
            </a:r>
            <a:r>
              <a:rPr lang="en-US" sz="1600" spc="-10" dirty="0" err="1">
                <a:solidFill>
                  <a:srgbClr val="262626"/>
                </a:solidFill>
              </a:rPr>
              <a:t>Instancia</a:t>
            </a:r>
            <a:r>
              <a:rPr lang="en-US" sz="1600" spc="-10" dirty="0">
                <a:solidFill>
                  <a:srgbClr val="262626"/>
                </a:solidFill>
              </a:rPr>
              <a:t>.</a:t>
            </a:r>
            <a:endParaRPr lang="es-PE" sz="1600" spc="-10" dirty="0">
              <a:solidFill>
                <a:srgbClr val="262626"/>
              </a:solidFill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HAGAMOS QUE EL PERSONAJE DISPARE</a:t>
            </a:r>
          </a:p>
        </p:txBody>
      </p:sp>
      <p:sp>
        <p:nvSpPr>
          <p:cNvPr id="4" name="Marcador de posición de imagen 3"/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2337219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 err="1">
                <a:solidFill>
                  <a:srgbClr val="262626"/>
                </a:solidFill>
              </a:rPr>
              <a:t>Permiten</a:t>
            </a:r>
            <a:r>
              <a:rPr lang="en-US" sz="1600" spc="-10" dirty="0">
                <a:solidFill>
                  <a:srgbClr val="262626"/>
                </a:solidFill>
              </a:rPr>
              <a:t> a </a:t>
            </a:r>
            <a:r>
              <a:rPr lang="en-US" sz="1600" spc="-10" dirty="0" err="1">
                <a:solidFill>
                  <a:srgbClr val="262626"/>
                </a:solidFill>
              </a:rPr>
              <a:t>cada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instancia</a:t>
            </a:r>
            <a:r>
              <a:rPr lang="en-US" sz="1600" spc="-10" dirty="0">
                <a:solidFill>
                  <a:srgbClr val="262626"/>
                </a:solidFill>
              </a:rPr>
              <a:t> del </a:t>
            </a:r>
            <a:r>
              <a:rPr lang="en-US" sz="1600" spc="-10" dirty="0" err="1">
                <a:solidFill>
                  <a:srgbClr val="262626"/>
                </a:solidFill>
              </a:rPr>
              <a:t>objeto</a:t>
            </a:r>
            <a:r>
              <a:rPr lang="en-US" sz="1600" spc="-10" dirty="0">
                <a:solidFill>
                  <a:srgbClr val="262626"/>
                </a:solidFill>
              </a:rPr>
              <a:t> (</a:t>
            </a:r>
            <a:r>
              <a:rPr lang="en-US" sz="1600" spc="-10" dirty="0" err="1">
                <a:solidFill>
                  <a:srgbClr val="262626"/>
                </a:solidFill>
              </a:rPr>
              <a:t>en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este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caso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los</a:t>
            </a:r>
            <a:r>
              <a:rPr lang="en-US" sz="1600" spc="-10" dirty="0">
                <a:solidFill>
                  <a:srgbClr val="262626"/>
                </a:solidFill>
              </a:rPr>
              <a:t> enemigo01) </a:t>
            </a:r>
            <a:r>
              <a:rPr lang="en-US" sz="1600" spc="-10" dirty="0" err="1">
                <a:solidFill>
                  <a:srgbClr val="262626"/>
                </a:solidFill>
              </a:rPr>
              <a:t>guardar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valores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independientes</a:t>
            </a:r>
            <a:r>
              <a:rPr lang="en-US" sz="1600" spc="-10" dirty="0">
                <a:solidFill>
                  <a:srgbClr val="262626"/>
                </a:solidFill>
              </a:rPr>
              <a:t>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n-US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Agreguemos una variable de instancia de salud para el enemigo01. 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Seleccionen al enemigo01.</a:t>
            </a: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AGREGANDO COMPORTAMIENTOS A LOS ENEMIGOS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A775173-31D6-48FB-8800-050AA83F1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9276" y="2774135"/>
            <a:ext cx="5495925" cy="20764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21736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Asignen los valores como en el siguiente cuadro: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 err="1">
                <a:solidFill>
                  <a:srgbClr val="262626"/>
                </a:solidFill>
              </a:rPr>
              <a:t>Esto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hará</a:t>
            </a:r>
            <a:r>
              <a:rPr lang="en-US" sz="1600" spc="-10" dirty="0">
                <a:solidFill>
                  <a:srgbClr val="262626"/>
                </a:solidFill>
              </a:rPr>
              <a:t> que </a:t>
            </a:r>
            <a:r>
              <a:rPr lang="en-US" sz="1600" spc="-10" dirty="0" err="1">
                <a:solidFill>
                  <a:srgbClr val="262626"/>
                </a:solidFill>
              </a:rPr>
              <a:t>cada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enemigo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empiece</a:t>
            </a:r>
            <a:r>
              <a:rPr lang="en-US" sz="1600" spc="-10" dirty="0">
                <a:solidFill>
                  <a:srgbClr val="262626"/>
                </a:solidFill>
              </a:rPr>
              <a:t> con 5 hit points (</a:t>
            </a:r>
            <a:r>
              <a:rPr lang="en-US" sz="1600" spc="-10" dirty="0" err="1">
                <a:solidFill>
                  <a:srgbClr val="262626"/>
                </a:solidFill>
              </a:rPr>
              <a:t>hp</a:t>
            </a:r>
            <a:r>
              <a:rPr lang="en-US" sz="1600" spc="-10" dirty="0">
                <a:solidFill>
                  <a:srgbClr val="262626"/>
                </a:solidFill>
              </a:rPr>
              <a:t>). </a:t>
            </a:r>
            <a:r>
              <a:rPr lang="en-US" sz="1600" spc="-10" dirty="0" err="1">
                <a:solidFill>
                  <a:srgbClr val="262626"/>
                </a:solidFill>
              </a:rPr>
              <a:t>Cuando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sean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impactados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por</a:t>
            </a:r>
            <a:r>
              <a:rPr lang="en-US" sz="1600" spc="-10" dirty="0">
                <a:solidFill>
                  <a:srgbClr val="262626"/>
                </a:solidFill>
              </a:rPr>
              <a:t> la </a:t>
            </a:r>
            <a:r>
              <a:rPr lang="en-US" sz="1600" spc="-10" dirty="0" err="1">
                <a:solidFill>
                  <a:srgbClr val="262626"/>
                </a:solidFill>
              </a:rPr>
              <a:t>bala</a:t>
            </a:r>
            <a:r>
              <a:rPr lang="en-US" sz="1600" spc="-10" dirty="0">
                <a:solidFill>
                  <a:srgbClr val="262626"/>
                </a:solidFill>
              </a:rPr>
              <a:t>, se le </a:t>
            </a:r>
            <a:r>
              <a:rPr lang="en-US" sz="1600" spc="-10" dirty="0" err="1">
                <a:solidFill>
                  <a:srgbClr val="262626"/>
                </a:solidFill>
              </a:rPr>
              <a:t>restará</a:t>
            </a:r>
            <a:r>
              <a:rPr lang="en-US" sz="1600" spc="-10" dirty="0">
                <a:solidFill>
                  <a:srgbClr val="262626"/>
                </a:solidFill>
              </a:rPr>
              <a:t> 1 hp. </a:t>
            </a:r>
            <a:r>
              <a:rPr lang="en-US" sz="1600" spc="-10" dirty="0" err="1">
                <a:solidFill>
                  <a:srgbClr val="262626"/>
                </a:solidFill>
              </a:rPr>
              <a:t>Cuando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su</a:t>
            </a:r>
            <a:r>
              <a:rPr lang="en-US" sz="1600" spc="-10" dirty="0">
                <a:solidFill>
                  <a:srgbClr val="262626"/>
                </a:solidFill>
              </a:rPr>
              <a:t> HP </a:t>
            </a:r>
            <a:r>
              <a:rPr lang="en-US" sz="1600" spc="-10" dirty="0" err="1">
                <a:solidFill>
                  <a:srgbClr val="262626"/>
                </a:solidFill>
              </a:rPr>
              <a:t>llegue</a:t>
            </a:r>
            <a:r>
              <a:rPr lang="en-US" sz="1600" spc="-10" dirty="0">
                <a:solidFill>
                  <a:srgbClr val="262626"/>
                </a:solidFill>
              </a:rPr>
              <a:t> a 0, </a:t>
            </a:r>
            <a:r>
              <a:rPr lang="en-US" sz="1600" spc="-10" dirty="0" err="1">
                <a:solidFill>
                  <a:srgbClr val="262626"/>
                </a:solidFill>
              </a:rPr>
              <a:t>serán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eliminados</a:t>
            </a:r>
            <a:r>
              <a:rPr lang="en-US" sz="1600" spc="-10" dirty="0">
                <a:solidFill>
                  <a:srgbClr val="262626"/>
                </a:solidFill>
              </a:rPr>
              <a:t>…con </a:t>
            </a:r>
            <a:r>
              <a:rPr lang="en-US" sz="1600" spc="-10" dirty="0" err="1">
                <a:solidFill>
                  <a:srgbClr val="262626"/>
                </a:solidFill>
              </a:rPr>
              <a:t>algunos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cambios</a:t>
            </a:r>
            <a:r>
              <a:rPr lang="en-US" sz="1600" spc="-10" dirty="0">
                <a:solidFill>
                  <a:srgbClr val="262626"/>
                </a:solidFill>
              </a:rPr>
              <a:t> que </a:t>
            </a:r>
            <a:r>
              <a:rPr lang="en-US" sz="1600" spc="-10" dirty="0" err="1">
                <a:solidFill>
                  <a:srgbClr val="262626"/>
                </a:solidFill>
              </a:rPr>
              <a:t>debemos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hacer</a:t>
            </a:r>
            <a:r>
              <a:rPr lang="en-US" sz="1600" spc="-10" dirty="0">
                <a:solidFill>
                  <a:srgbClr val="262626"/>
                </a:solidFill>
              </a:rPr>
              <a:t> a </a:t>
            </a:r>
            <a:r>
              <a:rPr lang="en-US" sz="1600" spc="-10" dirty="0" err="1">
                <a:solidFill>
                  <a:srgbClr val="262626"/>
                </a:solidFill>
              </a:rPr>
              <a:t>continuación</a:t>
            </a:r>
            <a:r>
              <a:rPr lang="en-US" sz="1600" spc="-10" dirty="0">
                <a:solidFill>
                  <a:srgbClr val="262626"/>
                </a:solidFill>
              </a:rPr>
              <a:t>.</a:t>
            </a:r>
            <a:endParaRPr lang="es-PE" sz="1600" spc="-10" dirty="0">
              <a:solidFill>
                <a:srgbClr val="262626"/>
              </a:solidFill>
            </a:endParaRP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VARIABLES DE INSTANCIA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AEE0458-8801-4351-A0D2-76446C267A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24187" y="2448445"/>
            <a:ext cx="3095625" cy="229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78260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Hemos creado la variable de instancia “salud”, pero falta agregarla a la condición de colisión de la bala con enemigo01.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Modifiquemos la acción resultante de la colisión del enemigo01 con la bala.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En la pestaña de eventos, clic derecho a la acción y luego “</a:t>
            </a:r>
            <a:r>
              <a:rPr lang="es-PE" sz="1600" spc="-10" dirty="0" err="1">
                <a:solidFill>
                  <a:srgbClr val="262626"/>
                </a:solidFill>
              </a:rPr>
              <a:t>replace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  <a:r>
              <a:rPr lang="es-PE" sz="1600" spc="-10" dirty="0" err="1">
                <a:solidFill>
                  <a:srgbClr val="262626"/>
                </a:solidFill>
              </a:rPr>
              <a:t>action</a:t>
            </a:r>
            <a:r>
              <a:rPr lang="es-PE" sz="1600" spc="-10" dirty="0">
                <a:solidFill>
                  <a:srgbClr val="262626"/>
                </a:solidFill>
              </a:rPr>
              <a:t>”</a:t>
            </a: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MODIFICANDO EVENTOS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83119717-54E8-4A00-A943-21A35A89C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16770" t="5560" r="46848" b="48240"/>
          <a:stretch>
            <a:fillRect/>
          </a:stretch>
        </p:blipFill>
        <p:spPr bwMode="auto">
          <a:xfrm>
            <a:off x="2627784" y="2428901"/>
            <a:ext cx="3888432" cy="2777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41171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Elegimos al Enemigo01 y en “</a:t>
            </a:r>
            <a:r>
              <a:rPr lang="es-PE" sz="1600" spc="-10" dirty="0" err="1">
                <a:solidFill>
                  <a:srgbClr val="262626"/>
                </a:solidFill>
              </a:rPr>
              <a:t>instance</a:t>
            </a:r>
            <a:r>
              <a:rPr lang="es-PE" sz="1600" spc="-10" dirty="0">
                <a:solidFill>
                  <a:srgbClr val="262626"/>
                </a:solidFill>
              </a:rPr>
              <a:t> variables”, elegimos </a:t>
            </a:r>
            <a:r>
              <a:rPr lang="es-PE" sz="1600" spc="-10" dirty="0" err="1">
                <a:solidFill>
                  <a:srgbClr val="262626"/>
                </a:solidFill>
              </a:rPr>
              <a:t>subtract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  <a:r>
              <a:rPr lang="es-PE" sz="1600" spc="-10" dirty="0" err="1">
                <a:solidFill>
                  <a:srgbClr val="262626"/>
                </a:solidFill>
              </a:rPr>
              <a:t>from</a:t>
            </a:r>
            <a:r>
              <a:rPr lang="es-PE" sz="1600" spc="-10" dirty="0">
                <a:solidFill>
                  <a:srgbClr val="262626"/>
                </a:solidFill>
              </a:rPr>
              <a:t> (sustraer de). En </a:t>
            </a:r>
            <a:r>
              <a:rPr lang="es-PE" sz="1600" spc="-10" dirty="0" err="1">
                <a:solidFill>
                  <a:srgbClr val="262626"/>
                </a:solidFill>
              </a:rPr>
              <a:t>value</a:t>
            </a:r>
            <a:r>
              <a:rPr lang="es-PE" sz="1600" spc="-10" dirty="0">
                <a:solidFill>
                  <a:srgbClr val="262626"/>
                </a:solidFill>
              </a:rPr>
              <a:t>, escribimos el número 1. Esto hará que reste una unidad especificada del valor de la instancia que hemos creado.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Prueben el juego. </a:t>
            </a:r>
            <a:r>
              <a:rPr lang="es-PE" sz="1600" spc="-10" dirty="0" smtClean="0">
                <a:solidFill>
                  <a:srgbClr val="262626"/>
                </a:solidFill>
              </a:rPr>
              <a:t>¿Qué </a:t>
            </a:r>
            <a:r>
              <a:rPr lang="es-PE" sz="1600" spc="-10" dirty="0">
                <a:solidFill>
                  <a:srgbClr val="262626"/>
                </a:solidFill>
              </a:rPr>
              <a:t>notan? </a:t>
            </a: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MODIFICANDO EVENTOS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767E517F-068D-49CE-AB60-8A441EE00E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27124" y="2306524"/>
            <a:ext cx="4257675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6FAEA994-13C9-4BBE-94ED-DA84C93870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 l="33619" t="21074" r="53048" b="76800"/>
          <a:stretch>
            <a:fillRect/>
          </a:stretch>
        </p:blipFill>
        <p:spPr bwMode="auto">
          <a:xfrm>
            <a:off x="2890574" y="4682788"/>
            <a:ext cx="3280966" cy="28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47145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Los enemigos SÍ están perdiendo una unidad de HP por cada disparo que reciben, pero hay un evento que nos falta agregar. </a:t>
            </a:r>
            <a:r>
              <a:rPr lang="es-PE" sz="1600" spc="-10" dirty="0" smtClean="0">
                <a:solidFill>
                  <a:srgbClr val="262626"/>
                </a:solidFill>
              </a:rPr>
              <a:t>¿Cuál </a:t>
            </a:r>
            <a:r>
              <a:rPr lang="es-PE" sz="1600" spc="-10" dirty="0">
                <a:solidFill>
                  <a:srgbClr val="262626"/>
                </a:solidFill>
              </a:rPr>
              <a:t>es?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Debemos agregar el evento que elimina a los enemigos cuando su HP llega a cero: </a:t>
            </a:r>
          </a:p>
          <a:p>
            <a:pPr marL="468925" lvl="1">
              <a:buSzPct val="100000"/>
              <a:tabLst>
                <a:tab pos="121285" algn="l"/>
              </a:tabLst>
            </a:pPr>
            <a:r>
              <a:rPr lang="en-US" sz="1600" spc="-10" dirty="0" err="1">
                <a:solidFill>
                  <a:srgbClr val="262626"/>
                </a:solidFill>
              </a:rPr>
              <a:t>Condición</a:t>
            </a:r>
            <a:r>
              <a:rPr lang="en-US" sz="1600" spc="-10" dirty="0">
                <a:solidFill>
                  <a:srgbClr val="262626"/>
                </a:solidFill>
              </a:rPr>
              <a:t>: Enemigo01-&gt; Compare instance variable -&gt; Health, Less or equal, 0</a:t>
            </a:r>
            <a:br>
              <a:rPr lang="en-US" sz="1600" spc="-10" dirty="0">
                <a:solidFill>
                  <a:srgbClr val="262626"/>
                </a:solidFill>
              </a:rPr>
            </a:br>
            <a:r>
              <a:rPr lang="en-US" sz="1600" spc="-10" dirty="0" err="1">
                <a:solidFill>
                  <a:srgbClr val="262626"/>
                </a:solidFill>
              </a:rPr>
              <a:t>Acción</a:t>
            </a:r>
            <a:r>
              <a:rPr lang="en-US" sz="1600" spc="-10" dirty="0">
                <a:solidFill>
                  <a:srgbClr val="262626"/>
                </a:solidFill>
              </a:rPr>
              <a:t>:  Enemigo01- &gt; Spawn another object -&gt; Explosion, layer 1</a:t>
            </a:r>
            <a:br>
              <a:rPr lang="en-US" sz="1600" spc="-10" dirty="0">
                <a:solidFill>
                  <a:srgbClr val="262626"/>
                </a:solidFill>
              </a:rPr>
            </a:b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Acción</a:t>
            </a:r>
            <a:r>
              <a:rPr lang="en-US" sz="1600" spc="-10" dirty="0">
                <a:solidFill>
                  <a:srgbClr val="262626"/>
                </a:solidFill>
              </a:rPr>
              <a:t> :  Enemigo01 -&gt; Destroy</a:t>
            </a: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MODIFICANDO EVENTOS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DED2BAD-B26D-457B-B6C7-00724B79F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17524" t="41462" r="44667" b="50387"/>
          <a:stretch>
            <a:fillRect/>
          </a:stretch>
        </p:blipFill>
        <p:spPr bwMode="auto">
          <a:xfrm>
            <a:off x="1690914" y="3523421"/>
            <a:ext cx="5762171" cy="667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76412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ES" sz="2800" b="1" dirty="0">
                <a:solidFill>
                  <a:schemeClr val="bg1"/>
                </a:solidFill>
                <a:cs typeface="Calibri"/>
              </a:rPr>
              <a:t>HUD</a:t>
            </a:r>
            <a:endParaRPr lang="es-ES" sz="1600" dirty="0">
              <a:solidFill>
                <a:schemeClr val="bg1"/>
              </a:solidFill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9433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22159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</a:rPr>
              <a:t>Sin </a:t>
            </a:r>
            <a:r>
              <a:rPr lang="en-US" sz="1600" spc="-10" dirty="0" err="1">
                <a:solidFill>
                  <a:srgbClr val="262626"/>
                </a:solidFill>
              </a:rPr>
              <a:t>puntaje</a:t>
            </a:r>
            <a:r>
              <a:rPr lang="en-US" sz="1600" spc="-10" dirty="0">
                <a:solidFill>
                  <a:srgbClr val="262626"/>
                </a:solidFill>
              </a:rPr>
              <a:t>, el </a:t>
            </a:r>
            <a:r>
              <a:rPr lang="en-US" sz="1600" spc="-10" dirty="0" err="1">
                <a:solidFill>
                  <a:srgbClr val="262626"/>
                </a:solidFill>
              </a:rPr>
              <a:t>jugador</a:t>
            </a:r>
            <a:r>
              <a:rPr lang="en-US" sz="1600" spc="-10" dirty="0">
                <a:solidFill>
                  <a:srgbClr val="262626"/>
                </a:solidFill>
              </a:rPr>
              <a:t> no </a:t>
            </a:r>
            <a:r>
              <a:rPr lang="en-US" sz="1600" spc="-10" dirty="0" err="1">
                <a:solidFill>
                  <a:srgbClr val="262626"/>
                </a:solidFill>
              </a:rPr>
              <a:t>tiene</a:t>
            </a:r>
            <a:r>
              <a:rPr lang="en-US" sz="1600" spc="-10" dirty="0">
                <a:solidFill>
                  <a:srgbClr val="262626"/>
                </a:solidFill>
              </a:rPr>
              <a:t> feedback </a:t>
            </a:r>
            <a:r>
              <a:rPr lang="en-US" sz="1600" spc="-10" dirty="0" err="1">
                <a:solidFill>
                  <a:srgbClr val="262626"/>
                </a:solidFill>
              </a:rPr>
              <a:t>sobre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su</a:t>
            </a:r>
            <a:r>
              <a:rPr lang="en-US" sz="1600" spc="-10" dirty="0">
                <a:solidFill>
                  <a:srgbClr val="262626"/>
                </a:solidFill>
              </a:rPr>
              <a:t> performance. 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</a:rPr>
              <a:t>¿</a:t>
            </a:r>
            <a:r>
              <a:rPr lang="en-US" sz="1600" spc="-10" dirty="0" err="1">
                <a:solidFill>
                  <a:srgbClr val="262626"/>
                </a:solidFill>
              </a:rPr>
              <a:t>Dónde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deberíamos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incluir</a:t>
            </a:r>
            <a:r>
              <a:rPr lang="en-US" sz="1600" spc="-10" dirty="0">
                <a:solidFill>
                  <a:srgbClr val="262626"/>
                </a:solidFill>
              </a:rPr>
              <a:t> la variable de </a:t>
            </a:r>
            <a:r>
              <a:rPr lang="en-US" sz="1600" spc="-10" dirty="0" err="1">
                <a:solidFill>
                  <a:srgbClr val="262626"/>
                </a:solidFill>
              </a:rPr>
              <a:t>puntaje</a:t>
            </a:r>
            <a:r>
              <a:rPr lang="en-US" sz="1600" spc="-10" dirty="0">
                <a:solidFill>
                  <a:srgbClr val="262626"/>
                </a:solidFill>
              </a:rPr>
              <a:t>?</a:t>
            </a:r>
          </a:p>
          <a:p>
            <a:pPr marL="637200" lvl="2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 err="1">
                <a:solidFill>
                  <a:srgbClr val="262626"/>
                </a:solidFill>
              </a:rPr>
              <a:t>En</a:t>
            </a:r>
            <a:r>
              <a:rPr lang="en-US" sz="1600" spc="-10" dirty="0">
                <a:solidFill>
                  <a:srgbClr val="262626"/>
                </a:solidFill>
              </a:rPr>
              <a:t> el </a:t>
            </a:r>
            <a:r>
              <a:rPr lang="en-US" sz="1600" spc="-10" dirty="0" err="1">
                <a:solidFill>
                  <a:srgbClr val="262626"/>
                </a:solidFill>
              </a:rPr>
              <a:t>jugador</a:t>
            </a:r>
            <a:endParaRPr lang="en-US" sz="1600" spc="-10" dirty="0">
              <a:solidFill>
                <a:srgbClr val="262626"/>
              </a:solidFill>
            </a:endParaRPr>
          </a:p>
          <a:p>
            <a:pPr marL="637200" lvl="2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 err="1">
                <a:solidFill>
                  <a:srgbClr val="262626"/>
                </a:solidFill>
              </a:rPr>
              <a:t>En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los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enemigos</a:t>
            </a:r>
            <a:endParaRPr lang="en-US" sz="1600" spc="-10" dirty="0">
              <a:solidFill>
                <a:srgbClr val="262626"/>
              </a:solidFill>
            </a:endParaRPr>
          </a:p>
          <a:p>
            <a:pPr marL="637200" lvl="2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 err="1">
                <a:solidFill>
                  <a:srgbClr val="262626"/>
                </a:solidFill>
              </a:rPr>
              <a:t>En</a:t>
            </a:r>
            <a:r>
              <a:rPr lang="en-US" sz="1600" spc="-10" dirty="0">
                <a:solidFill>
                  <a:srgbClr val="262626"/>
                </a:solidFill>
              </a:rPr>
              <a:t> las </a:t>
            </a:r>
            <a:r>
              <a:rPr lang="en-US" sz="1600" spc="-10" dirty="0" err="1">
                <a:solidFill>
                  <a:srgbClr val="262626"/>
                </a:solidFill>
              </a:rPr>
              <a:t>balas</a:t>
            </a:r>
            <a:endParaRPr lang="en-US" sz="1600" spc="-10" dirty="0">
              <a:solidFill>
                <a:srgbClr val="262626"/>
              </a:solidFill>
            </a:endParaRPr>
          </a:p>
          <a:p>
            <a:pPr marL="637200" lvl="2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 err="1">
                <a:solidFill>
                  <a:srgbClr val="262626"/>
                </a:solidFill>
              </a:rPr>
              <a:t>Ninguna</a:t>
            </a:r>
            <a:r>
              <a:rPr lang="en-US" sz="1600" spc="-10" dirty="0">
                <a:solidFill>
                  <a:srgbClr val="262626"/>
                </a:solidFill>
              </a:rPr>
              <a:t> de las </a:t>
            </a:r>
            <a:r>
              <a:rPr lang="en-US" sz="1600" spc="-10" dirty="0" err="1">
                <a:solidFill>
                  <a:srgbClr val="262626"/>
                </a:solidFill>
              </a:rPr>
              <a:t>anteriores</a:t>
            </a:r>
            <a:endParaRPr lang="en-US" sz="1600" spc="-10" dirty="0">
              <a:solidFill>
                <a:srgbClr val="262626"/>
              </a:solidFill>
            </a:endParaRPr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n-US" sz="1600" spc="-10" dirty="0">
                <a:solidFill>
                  <a:srgbClr val="262626"/>
                </a:solidFill>
                <a:cs typeface="Source Sans Pro"/>
              </a:rPr>
            </a:br>
            <a:endParaRPr lang="en-US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AGREGANDO PUNTAJE</a:t>
            </a:r>
          </a:p>
        </p:txBody>
      </p:sp>
      <p:sp>
        <p:nvSpPr>
          <p:cNvPr id="4" name="Marcador de posición de imagen 3"/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3479054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1969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 err="1">
                <a:solidFill>
                  <a:srgbClr val="262626"/>
                </a:solidFill>
              </a:rPr>
              <a:t>Necesitamos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una</a:t>
            </a:r>
            <a:r>
              <a:rPr lang="en-US" sz="1600" spc="-10" dirty="0">
                <a:solidFill>
                  <a:srgbClr val="262626"/>
                </a:solidFill>
              </a:rPr>
              <a:t> variable global.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n-US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</a:rPr>
              <a:t>Una variable global, al </a:t>
            </a:r>
            <a:r>
              <a:rPr lang="en-US" sz="1600" spc="-10" dirty="0" err="1">
                <a:solidFill>
                  <a:srgbClr val="262626"/>
                </a:solidFill>
              </a:rPr>
              <a:t>igual</a:t>
            </a:r>
            <a:r>
              <a:rPr lang="en-US" sz="1600" spc="-10" dirty="0">
                <a:solidFill>
                  <a:srgbClr val="262626"/>
                </a:solidFill>
              </a:rPr>
              <a:t> que </a:t>
            </a:r>
            <a:r>
              <a:rPr lang="en-US" sz="1600" spc="-10" dirty="0" err="1">
                <a:solidFill>
                  <a:srgbClr val="262626"/>
                </a:solidFill>
              </a:rPr>
              <a:t>una</a:t>
            </a:r>
            <a:r>
              <a:rPr lang="en-US" sz="1600" spc="-10" dirty="0">
                <a:solidFill>
                  <a:srgbClr val="262626"/>
                </a:solidFill>
              </a:rPr>
              <a:t> variable de </a:t>
            </a:r>
            <a:r>
              <a:rPr lang="en-US" sz="1600" spc="-10" dirty="0" err="1">
                <a:solidFill>
                  <a:srgbClr val="262626"/>
                </a:solidFill>
              </a:rPr>
              <a:t>instancia</a:t>
            </a:r>
            <a:r>
              <a:rPr lang="en-US" sz="1600" spc="-10" dirty="0">
                <a:solidFill>
                  <a:srgbClr val="262626"/>
                </a:solidFill>
              </a:rPr>
              <a:t>, </a:t>
            </a:r>
            <a:r>
              <a:rPr lang="en-US" sz="1600" spc="-10" dirty="0" err="1">
                <a:solidFill>
                  <a:srgbClr val="262626"/>
                </a:solidFill>
              </a:rPr>
              <a:t>puede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guardar</a:t>
            </a:r>
            <a:r>
              <a:rPr lang="en-US" sz="1600" spc="-10" dirty="0">
                <a:solidFill>
                  <a:srgbClr val="262626"/>
                </a:solidFill>
              </a:rPr>
              <a:t> un </a:t>
            </a:r>
            <a:r>
              <a:rPr lang="en-US" sz="1600" spc="-10" dirty="0" err="1">
                <a:solidFill>
                  <a:srgbClr val="262626"/>
                </a:solidFill>
              </a:rPr>
              <a:t>texto</a:t>
            </a:r>
            <a:r>
              <a:rPr lang="en-US" sz="1600" spc="-10" dirty="0">
                <a:solidFill>
                  <a:srgbClr val="262626"/>
                </a:solidFill>
              </a:rPr>
              <a:t> o un valor </a:t>
            </a:r>
            <a:r>
              <a:rPr lang="en-US" sz="1600" spc="-10" dirty="0" err="1">
                <a:solidFill>
                  <a:srgbClr val="262626"/>
                </a:solidFill>
              </a:rPr>
              <a:t>numérico</a:t>
            </a:r>
            <a:r>
              <a:rPr lang="en-US" sz="1600" spc="-10" dirty="0">
                <a:solidFill>
                  <a:srgbClr val="262626"/>
                </a:solidFill>
              </a:rPr>
              <a:t>, </a:t>
            </a:r>
            <a:r>
              <a:rPr lang="en-US" sz="1600" spc="-10" dirty="0" err="1">
                <a:solidFill>
                  <a:srgbClr val="262626"/>
                </a:solidFill>
              </a:rPr>
              <a:t>pero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e</a:t>
            </a:r>
            <a:r>
              <a:rPr lang="en-US" sz="1600" spc="-10" dirty="0" err="1" smtClean="0">
                <a:solidFill>
                  <a:srgbClr val="262626"/>
                </a:solidFill>
              </a:rPr>
              <a:t>stas</a:t>
            </a:r>
            <a:r>
              <a:rPr lang="en-US" sz="1600" spc="-10" dirty="0" smtClean="0">
                <a:solidFill>
                  <a:srgbClr val="262626"/>
                </a:solidFill>
              </a:rPr>
              <a:t> </a:t>
            </a:r>
            <a:r>
              <a:rPr lang="en-US" sz="1600" spc="-10" dirty="0">
                <a:solidFill>
                  <a:srgbClr val="262626"/>
                </a:solidFill>
              </a:rPr>
              <a:t>se </a:t>
            </a:r>
            <a:r>
              <a:rPr lang="en-US" sz="1600" spc="-10" dirty="0" err="1">
                <a:solidFill>
                  <a:srgbClr val="262626"/>
                </a:solidFill>
              </a:rPr>
              <a:t>aplican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b="1" spc="-10" dirty="0">
                <a:solidFill>
                  <a:srgbClr val="262626"/>
                </a:solidFill>
              </a:rPr>
              <a:t>a </a:t>
            </a:r>
            <a:r>
              <a:rPr lang="en-US" sz="1600" b="1" spc="-10" dirty="0" err="1">
                <a:solidFill>
                  <a:srgbClr val="262626"/>
                </a:solidFill>
              </a:rPr>
              <a:t>todo</a:t>
            </a:r>
            <a:r>
              <a:rPr lang="en-US" sz="1600" b="1" spc="-10" dirty="0">
                <a:solidFill>
                  <a:srgbClr val="262626"/>
                </a:solidFill>
              </a:rPr>
              <a:t> el layout </a:t>
            </a:r>
            <a:r>
              <a:rPr lang="en-US" sz="1600" spc="-10" dirty="0">
                <a:solidFill>
                  <a:srgbClr val="262626"/>
                </a:solidFill>
              </a:rPr>
              <a:t>y </a:t>
            </a:r>
            <a:r>
              <a:rPr lang="en-US" sz="1600" spc="-10" dirty="0" err="1">
                <a:solidFill>
                  <a:srgbClr val="262626"/>
                </a:solidFill>
              </a:rPr>
              <a:t>sus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capas</a:t>
            </a:r>
            <a:r>
              <a:rPr lang="en-US" sz="1600" spc="-10" dirty="0">
                <a:solidFill>
                  <a:srgbClr val="262626"/>
                </a:solidFill>
              </a:rPr>
              <a:t>.</a:t>
            </a:r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n-US" sz="1600" spc="-10" dirty="0">
                <a:solidFill>
                  <a:srgbClr val="262626"/>
                </a:solidFill>
                <a:cs typeface="Source Sans Pro"/>
              </a:rPr>
            </a:br>
            <a:endParaRPr lang="en-US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AGREGANDO PUNTAJE</a:t>
            </a:r>
          </a:p>
        </p:txBody>
      </p:sp>
      <p:sp>
        <p:nvSpPr>
          <p:cNvPr id="4" name="Marcador de posición de imagen 3"/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1403577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1969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 err="1">
                <a:solidFill>
                  <a:srgbClr val="262626"/>
                </a:solidFill>
              </a:rPr>
              <a:t>Clic</a:t>
            </a:r>
            <a:r>
              <a:rPr lang="en-US" sz="1600" spc="-10" dirty="0">
                <a:solidFill>
                  <a:srgbClr val="262626"/>
                </a:solidFill>
              </a:rPr>
              <a:t> derecho a la </a:t>
            </a:r>
            <a:r>
              <a:rPr lang="en-US" sz="1600" spc="-10" dirty="0" err="1">
                <a:solidFill>
                  <a:srgbClr val="262626"/>
                </a:solidFill>
              </a:rPr>
              <a:t>hoja</a:t>
            </a:r>
            <a:r>
              <a:rPr lang="en-US" sz="1600" spc="-10" dirty="0">
                <a:solidFill>
                  <a:srgbClr val="262626"/>
                </a:solidFill>
              </a:rPr>
              <a:t> de </a:t>
            </a:r>
            <a:r>
              <a:rPr lang="en-US" sz="1600" spc="-10" dirty="0" err="1">
                <a:solidFill>
                  <a:srgbClr val="262626"/>
                </a:solidFill>
              </a:rPr>
              <a:t>eventos</a:t>
            </a:r>
            <a:r>
              <a:rPr lang="en-US" sz="1600" spc="-10" dirty="0">
                <a:solidFill>
                  <a:srgbClr val="262626"/>
                </a:solidFill>
              </a:rPr>
              <a:t>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n-US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</a:rPr>
              <a:t>La variable global </a:t>
            </a:r>
            <a:r>
              <a:rPr lang="en-US" sz="1600" spc="-10" dirty="0" err="1">
                <a:solidFill>
                  <a:srgbClr val="262626"/>
                </a:solidFill>
              </a:rPr>
              <a:t>estará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presente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en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b="1" spc="-10" dirty="0">
                <a:solidFill>
                  <a:srgbClr val="262626"/>
                </a:solidFill>
              </a:rPr>
              <a:t>TODAS</a:t>
            </a:r>
            <a:r>
              <a:rPr lang="en-US" sz="1600" spc="-10" dirty="0">
                <a:solidFill>
                  <a:srgbClr val="262626"/>
                </a:solidFill>
              </a:rPr>
              <a:t> las </a:t>
            </a:r>
            <a:r>
              <a:rPr lang="en-US" sz="1600" spc="-10" dirty="0" err="1">
                <a:solidFill>
                  <a:srgbClr val="262626"/>
                </a:solidFill>
              </a:rPr>
              <a:t>hojas</a:t>
            </a:r>
            <a:r>
              <a:rPr lang="en-US" sz="1600" spc="-10" dirty="0">
                <a:solidFill>
                  <a:srgbClr val="262626"/>
                </a:solidFill>
              </a:rPr>
              <a:t> de </a:t>
            </a:r>
            <a:r>
              <a:rPr lang="en-US" sz="1600" spc="-10" dirty="0" err="1">
                <a:solidFill>
                  <a:srgbClr val="262626"/>
                </a:solidFill>
              </a:rPr>
              <a:t>eventos</a:t>
            </a:r>
            <a:r>
              <a:rPr lang="en-US" sz="1600" spc="-10" dirty="0">
                <a:solidFill>
                  <a:srgbClr val="262626"/>
                </a:solidFill>
              </a:rPr>
              <a:t> y </a:t>
            </a:r>
            <a:r>
              <a:rPr lang="en-US" sz="1600" spc="-10" dirty="0" err="1">
                <a:solidFill>
                  <a:srgbClr val="262626"/>
                </a:solidFill>
              </a:rPr>
              <a:t>siempre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en</a:t>
            </a:r>
            <a:r>
              <a:rPr lang="en-US" sz="1600" spc="-10" dirty="0">
                <a:solidFill>
                  <a:srgbClr val="262626"/>
                </a:solidFill>
              </a:rPr>
              <a:t> la </a:t>
            </a:r>
            <a:r>
              <a:rPr lang="en-US" sz="1600" spc="-10" dirty="0" err="1">
                <a:solidFill>
                  <a:srgbClr val="262626"/>
                </a:solidFill>
              </a:rPr>
              <a:t>parte</a:t>
            </a:r>
            <a:r>
              <a:rPr lang="en-US" sz="1600" spc="-10" dirty="0">
                <a:solidFill>
                  <a:srgbClr val="262626"/>
                </a:solidFill>
              </a:rPr>
              <a:t> de </a:t>
            </a:r>
            <a:r>
              <a:rPr lang="en-US" sz="1600" spc="-10" dirty="0" err="1">
                <a:solidFill>
                  <a:srgbClr val="262626"/>
                </a:solidFill>
              </a:rPr>
              <a:t>arriba</a:t>
            </a:r>
            <a:r>
              <a:rPr lang="en-US" sz="1600" spc="-10" dirty="0">
                <a:solidFill>
                  <a:srgbClr val="262626"/>
                </a:solidFill>
              </a:rPr>
              <a:t> de la </a:t>
            </a:r>
            <a:r>
              <a:rPr lang="en-US" sz="1600" spc="-10" dirty="0" err="1">
                <a:solidFill>
                  <a:srgbClr val="262626"/>
                </a:solidFill>
              </a:rPr>
              <a:t>pestaña</a:t>
            </a:r>
            <a:r>
              <a:rPr lang="en-US" sz="1600" spc="-10" dirty="0">
                <a:solidFill>
                  <a:srgbClr val="262626"/>
                </a:solidFill>
              </a:rPr>
              <a:t>. </a:t>
            </a:r>
          </a:p>
          <a:p>
            <a:endParaRPr lang="en-US" sz="1600" dirty="0"/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n-US" sz="1600" spc="-10" dirty="0">
                <a:solidFill>
                  <a:srgbClr val="262626"/>
                </a:solidFill>
                <a:cs typeface="Source Sans Pro"/>
              </a:rPr>
            </a:br>
            <a:endParaRPr lang="en-US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AGREGANDO PUNTAJE</a:t>
            </a:r>
          </a:p>
        </p:txBody>
      </p:sp>
      <p:pic>
        <p:nvPicPr>
          <p:cNvPr id="6" name="Picture 2" descr="Add a global variable.">
            <a:extLst>
              <a:ext uri="{FF2B5EF4-FFF2-40B4-BE49-F238E27FC236}">
                <a16:creationId xmlns:a16="http://schemas.microsoft.com/office/drawing/2014/main" id="{4A6D8155-3212-4E4E-8C75-87F331715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45075" y="845167"/>
            <a:ext cx="2232248" cy="1778637"/>
          </a:xfrm>
          <a:prstGeom prst="rect">
            <a:avLst/>
          </a:prstGeom>
          <a:noFill/>
        </p:spPr>
      </p:pic>
      <p:pic>
        <p:nvPicPr>
          <p:cNvPr id="7" name="Picture 4" descr="Adding the Score global.">
            <a:extLst>
              <a:ext uri="{FF2B5EF4-FFF2-40B4-BE49-F238E27FC236}">
                <a16:creationId xmlns:a16="http://schemas.microsoft.com/office/drawing/2014/main" id="{98371833-90D7-4393-9E8F-53F9600E3A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45075" y="2659700"/>
            <a:ext cx="2657475" cy="1724025"/>
          </a:xfrm>
          <a:prstGeom prst="rect">
            <a:avLst/>
          </a:prstGeom>
          <a:noFill/>
        </p:spPr>
      </p:pic>
      <p:pic>
        <p:nvPicPr>
          <p:cNvPr id="8" name="Picture 6" descr="The Score global variable.">
            <a:extLst>
              <a:ext uri="{FF2B5EF4-FFF2-40B4-BE49-F238E27FC236}">
                <a16:creationId xmlns:a16="http://schemas.microsoft.com/office/drawing/2014/main" id="{192A49EA-7383-4215-BAD5-2C428F8350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/>
          <a:srcRect r="6774"/>
          <a:stretch/>
        </p:blipFill>
        <p:spPr bwMode="auto">
          <a:xfrm>
            <a:off x="5045075" y="4498599"/>
            <a:ext cx="3624262" cy="28803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22601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34470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 err="1">
                <a:solidFill>
                  <a:srgbClr val="262626"/>
                </a:solidFill>
              </a:rPr>
              <a:t>Vamos</a:t>
            </a:r>
            <a:r>
              <a:rPr lang="en-US" sz="1600" spc="-10" dirty="0">
                <a:solidFill>
                  <a:srgbClr val="262626"/>
                </a:solidFill>
              </a:rPr>
              <a:t> a </a:t>
            </a:r>
            <a:r>
              <a:rPr lang="en-US" sz="1600" spc="-10" dirty="0" err="1">
                <a:solidFill>
                  <a:srgbClr val="262626"/>
                </a:solidFill>
              </a:rPr>
              <a:t>darle</a:t>
            </a:r>
            <a:r>
              <a:rPr lang="en-US" sz="1600" spc="-10" dirty="0">
                <a:solidFill>
                  <a:srgbClr val="262626"/>
                </a:solidFill>
              </a:rPr>
              <a:t> un </a:t>
            </a:r>
            <a:r>
              <a:rPr lang="en-US" sz="1600" spc="-10" dirty="0" err="1">
                <a:solidFill>
                  <a:srgbClr val="262626"/>
                </a:solidFill>
              </a:rPr>
              <a:t>punto</a:t>
            </a:r>
            <a:r>
              <a:rPr lang="en-US" sz="1600" spc="-10" dirty="0">
                <a:solidFill>
                  <a:srgbClr val="262626"/>
                </a:solidFill>
              </a:rPr>
              <a:t> al </a:t>
            </a:r>
            <a:r>
              <a:rPr lang="en-US" sz="1600" spc="-10" dirty="0" err="1">
                <a:solidFill>
                  <a:srgbClr val="262626"/>
                </a:solidFill>
              </a:rPr>
              <a:t>jugador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por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cada</a:t>
            </a:r>
            <a:r>
              <a:rPr lang="en-US" sz="1600" spc="-10" dirty="0">
                <a:solidFill>
                  <a:srgbClr val="262626"/>
                </a:solidFill>
              </a:rPr>
              <a:t> Enemigo01 que </a:t>
            </a:r>
            <a:r>
              <a:rPr lang="en-US" sz="1600" spc="-10" dirty="0" err="1">
                <a:solidFill>
                  <a:srgbClr val="262626"/>
                </a:solidFill>
              </a:rPr>
              <a:t>elimina</a:t>
            </a:r>
            <a:r>
              <a:rPr lang="en-US" sz="1600" spc="-10" dirty="0">
                <a:solidFill>
                  <a:srgbClr val="262626"/>
                </a:solidFill>
              </a:rPr>
              <a:t>. </a:t>
            </a:r>
            <a:r>
              <a:rPr lang="en-US" sz="1600" spc="-10" dirty="0" err="1">
                <a:solidFill>
                  <a:srgbClr val="262626"/>
                </a:solidFill>
              </a:rPr>
              <a:t>En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nuestro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evento</a:t>
            </a:r>
            <a:r>
              <a:rPr lang="en-US" sz="1600" spc="-10" dirty="0">
                <a:solidFill>
                  <a:srgbClr val="262626"/>
                </a:solidFill>
              </a:rPr>
              <a:t> de “Enemigo01: health less or equal 0“ (</a:t>
            </a:r>
            <a:r>
              <a:rPr lang="en-US" sz="1600" spc="-10" dirty="0" err="1">
                <a:solidFill>
                  <a:srgbClr val="262626"/>
                </a:solidFill>
              </a:rPr>
              <a:t>cuando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muere</a:t>
            </a:r>
            <a:r>
              <a:rPr lang="en-US" sz="1600" spc="-10" dirty="0">
                <a:solidFill>
                  <a:srgbClr val="262626"/>
                </a:solidFill>
              </a:rPr>
              <a:t> el </a:t>
            </a:r>
            <a:r>
              <a:rPr lang="en-US" sz="1600" spc="-10" dirty="0" err="1">
                <a:solidFill>
                  <a:srgbClr val="262626"/>
                </a:solidFill>
              </a:rPr>
              <a:t>enemigo</a:t>
            </a:r>
            <a:r>
              <a:rPr lang="en-US" sz="1600" spc="-10" dirty="0">
                <a:solidFill>
                  <a:srgbClr val="262626"/>
                </a:solidFill>
              </a:rPr>
              <a:t>), </a:t>
            </a:r>
            <a:r>
              <a:rPr lang="en-US" sz="1600" spc="-10" dirty="0" err="1">
                <a:solidFill>
                  <a:srgbClr val="262626"/>
                </a:solidFill>
              </a:rPr>
              <a:t>clic</a:t>
            </a:r>
            <a:r>
              <a:rPr lang="en-US" sz="1600" spc="-10" dirty="0">
                <a:solidFill>
                  <a:srgbClr val="262626"/>
                </a:solidFill>
              </a:rPr>
              <a:t> a </a:t>
            </a:r>
            <a:r>
              <a:rPr lang="en-US" sz="1600" b="1" spc="-10" dirty="0">
                <a:solidFill>
                  <a:srgbClr val="262626"/>
                </a:solidFill>
              </a:rPr>
              <a:t>Add action </a:t>
            </a:r>
            <a:r>
              <a:rPr lang="en-US" sz="1600" spc="-10" dirty="0">
                <a:solidFill>
                  <a:srgbClr val="262626"/>
                </a:solidFill>
              </a:rPr>
              <a:t>y </a:t>
            </a:r>
            <a:r>
              <a:rPr lang="en-US" sz="1600" spc="-10" dirty="0" err="1">
                <a:solidFill>
                  <a:srgbClr val="262626"/>
                </a:solidFill>
              </a:rPr>
              <a:t>seleccionen</a:t>
            </a:r>
            <a:r>
              <a:rPr lang="en-US" sz="1600" spc="-10" dirty="0">
                <a:solidFill>
                  <a:srgbClr val="262626"/>
                </a:solidFill>
              </a:rPr>
              <a:t> System -&gt; Add to (</a:t>
            </a:r>
            <a:r>
              <a:rPr lang="en-US" sz="1600" spc="-10" dirty="0" err="1">
                <a:solidFill>
                  <a:srgbClr val="262626"/>
                </a:solidFill>
              </a:rPr>
              <a:t>en</a:t>
            </a:r>
            <a:r>
              <a:rPr lang="en-US" sz="1600" spc="-10" dirty="0">
                <a:solidFill>
                  <a:srgbClr val="262626"/>
                </a:solidFill>
              </a:rPr>
              <a:t> Global &amp; local variables) -&gt; </a:t>
            </a:r>
            <a:r>
              <a:rPr lang="en-US" sz="1600" b="1" spc="-10" dirty="0">
                <a:solidFill>
                  <a:srgbClr val="262626"/>
                </a:solidFill>
              </a:rPr>
              <a:t>Score</a:t>
            </a:r>
            <a:r>
              <a:rPr lang="en-US" sz="1600" spc="-10" dirty="0">
                <a:solidFill>
                  <a:srgbClr val="262626"/>
                </a:solidFill>
              </a:rPr>
              <a:t>, value 1. </a:t>
            </a:r>
            <a:r>
              <a:rPr lang="en-US" sz="1600" spc="-10" dirty="0" err="1">
                <a:solidFill>
                  <a:srgbClr val="262626"/>
                </a:solidFill>
              </a:rPr>
              <a:t>Debería</a:t>
            </a:r>
            <a:r>
              <a:rPr lang="en-US" sz="1600" spc="-10" dirty="0">
                <a:solidFill>
                  <a:srgbClr val="262626"/>
                </a:solidFill>
              </a:rPr>
              <a:t> verse </a:t>
            </a:r>
            <a:r>
              <a:rPr lang="en-US" sz="1600" spc="-10" dirty="0" err="1" smtClean="0">
                <a:solidFill>
                  <a:srgbClr val="262626"/>
                </a:solidFill>
              </a:rPr>
              <a:t>así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 smtClean="0">
                <a:solidFill>
                  <a:srgbClr val="262626"/>
                </a:solidFill>
              </a:rPr>
              <a:t>como</a:t>
            </a:r>
            <a:r>
              <a:rPr lang="en-US" sz="1600" spc="-10" dirty="0" smtClean="0">
                <a:solidFill>
                  <a:srgbClr val="262626"/>
                </a:solidFill>
              </a:rPr>
              <a:t> </a:t>
            </a:r>
            <a:r>
              <a:rPr lang="en-US" sz="1600" spc="-10" dirty="0" err="1" smtClean="0">
                <a:solidFill>
                  <a:srgbClr val="262626"/>
                </a:solidFill>
              </a:rPr>
              <a:t>en</a:t>
            </a:r>
            <a:r>
              <a:rPr lang="en-US" sz="1600" spc="-10" dirty="0" smtClean="0">
                <a:solidFill>
                  <a:srgbClr val="262626"/>
                </a:solidFill>
              </a:rPr>
              <a:t> la </a:t>
            </a:r>
            <a:r>
              <a:rPr lang="en-US" sz="1600" spc="-10" dirty="0" err="1" smtClean="0">
                <a:solidFill>
                  <a:srgbClr val="262626"/>
                </a:solidFill>
              </a:rPr>
              <a:t>imagen</a:t>
            </a:r>
            <a:r>
              <a:rPr lang="en-US" sz="1600" spc="-10" dirty="0" smtClean="0">
                <a:solidFill>
                  <a:srgbClr val="262626"/>
                </a:solidFill>
              </a:rPr>
              <a:t>.</a:t>
            </a:r>
            <a:endParaRPr lang="en-US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n-US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 err="1">
                <a:solidFill>
                  <a:srgbClr val="262626"/>
                </a:solidFill>
              </a:rPr>
              <a:t>Ya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estamos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sumando</a:t>
            </a:r>
            <a:r>
              <a:rPr lang="en-US" sz="1600" spc="-10" dirty="0">
                <a:solidFill>
                  <a:srgbClr val="262626"/>
                </a:solidFill>
              </a:rPr>
              <a:t> un </a:t>
            </a:r>
            <a:r>
              <a:rPr lang="en-US" sz="1600" spc="-10" dirty="0" err="1">
                <a:solidFill>
                  <a:srgbClr val="262626"/>
                </a:solidFill>
              </a:rPr>
              <a:t>punto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por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cada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enemigo</a:t>
            </a:r>
            <a:r>
              <a:rPr lang="en-US" sz="1600" spc="-10" dirty="0">
                <a:solidFill>
                  <a:srgbClr val="262626"/>
                </a:solidFill>
              </a:rPr>
              <a:t> que </a:t>
            </a:r>
            <a:r>
              <a:rPr lang="en-US" sz="1600" spc="-10" dirty="0" err="1">
                <a:solidFill>
                  <a:srgbClr val="262626"/>
                </a:solidFill>
              </a:rPr>
              <a:t>eliminamos</a:t>
            </a:r>
            <a:r>
              <a:rPr lang="en-US" sz="1600" spc="-10" dirty="0">
                <a:solidFill>
                  <a:srgbClr val="262626"/>
                </a:solidFill>
              </a:rPr>
              <a:t>, </a:t>
            </a:r>
            <a:r>
              <a:rPr lang="en-US" sz="1600" spc="-10" dirty="0" err="1">
                <a:solidFill>
                  <a:srgbClr val="262626"/>
                </a:solidFill>
              </a:rPr>
              <a:t>pero</a:t>
            </a:r>
            <a:r>
              <a:rPr lang="en-US" sz="1600" spc="-10" dirty="0">
                <a:solidFill>
                  <a:srgbClr val="262626"/>
                </a:solidFill>
              </a:rPr>
              <a:t> no </a:t>
            </a:r>
            <a:r>
              <a:rPr lang="en-US" sz="1600" spc="-10" dirty="0" err="1">
                <a:solidFill>
                  <a:srgbClr val="262626"/>
                </a:solidFill>
              </a:rPr>
              <a:t>podemos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verlo</a:t>
            </a:r>
            <a:r>
              <a:rPr lang="en-US" sz="1600" spc="-10" dirty="0">
                <a:solidFill>
                  <a:srgbClr val="262626"/>
                </a:solidFill>
              </a:rPr>
              <a:t>. Hay que </a:t>
            </a:r>
            <a:r>
              <a:rPr lang="en-US" sz="1600" spc="-10" dirty="0" err="1">
                <a:solidFill>
                  <a:srgbClr val="262626"/>
                </a:solidFill>
              </a:rPr>
              <a:t>agregar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una</a:t>
            </a:r>
            <a:r>
              <a:rPr lang="en-US" sz="1600" spc="-10" dirty="0">
                <a:solidFill>
                  <a:srgbClr val="262626"/>
                </a:solidFill>
              </a:rPr>
              <a:t> interface de </a:t>
            </a:r>
            <a:r>
              <a:rPr lang="en-US" sz="1600" spc="-10" dirty="0" err="1">
                <a:solidFill>
                  <a:srgbClr val="262626"/>
                </a:solidFill>
              </a:rPr>
              <a:t>juego</a:t>
            </a:r>
            <a:r>
              <a:rPr lang="en-US" sz="1600" spc="-10" dirty="0">
                <a:solidFill>
                  <a:srgbClr val="262626"/>
                </a:solidFill>
              </a:rPr>
              <a:t>.</a:t>
            </a:r>
          </a:p>
          <a:p>
            <a:endParaRPr lang="en-US" sz="1600" dirty="0"/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n-US" sz="1600" spc="-10" dirty="0">
                <a:solidFill>
                  <a:srgbClr val="262626"/>
                </a:solidFill>
                <a:cs typeface="Source Sans Pro"/>
              </a:rPr>
            </a:br>
            <a:endParaRPr lang="en-US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AGREGANDO PUNTAJE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B9C85625-1DFD-4D04-AF41-B995824E6D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17639" t="43534" r="46075" b="46012"/>
          <a:stretch>
            <a:fillRect/>
          </a:stretch>
        </p:blipFill>
        <p:spPr bwMode="auto">
          <a:xfrm>
            <a:off x="1164987" y="3860434"/>
            <a:ext cx="6975019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07900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17235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</a:rPr>
              <a:t>El Heads Up Display (HUD) </a:t>
            </a:r>
            <a:r>
              <a:rPr lang="en-US" sz="1600" spc="-10" dirty="0" err="1">
                <a:solidFill>
                  <a:srgbClr val="262626"/>
                </a:solidFill>
              </a:rPr>
              <a:t>es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una</a:t>
            </a:r>
            <a:r>
              <a:rPr lang="en-US" sz="1600" spc="-10" dirty="0">
                <a:solidFill>
                  <a:srgbClr val="262626"/>
                </a:solidFill>
              </a:rPr>
              <a:t> interface </a:t>
            </a:r>
            <a:r>
              <a:rPr lang="en-US" sz="1600" spc="-10" dirty="0" err="1">
                <a:solidFill>
                  <a:srgbClr val="262626"/>
                </a:solidFill>
              </a:rPr>
              <a:t>gráfica</a:t>
            </a:r>
            <a:r>
              <a:rPr lang="en-US" sz="1600" spc="-10" dirty="0">
                <a:solidFill>
                  <a:srgbClr val="262626"/>
                </a:solidFill>
              </a:rPr>
              <a:t> que le </a:t>
            </a:r>
            <a:r>
              <a:rPr lang="en-US" sz="1600" spc="-10" dirty="0" err="1">
                <a:solidFill>
                  <a:srgbClr val="262626"/>
                </a:solidFill>
              </a:rPr>
              <a:t>muestra</a:t>
            </a:r>
            <a:r>
              <a:rPr lang="en-US" sz="1600" spc="-10" dirty="0">
                <a:solidFill>
                  <a:srgbClr val="262626"/>
                </a:solidFill>
              </a:rPr>
              <a:t> al </a:t>
            </a:r>
            <a:r>
              <a:rPr lang="en-US" sz="1600" spc="-10" dirty="0" err="1">
                <a:solidFill>
                  <a:srgbClr val="262626"/>
                </a:solidFill>
              </a:rPr>
              <a:t>jugador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datos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importantes</a:t>
            </a:r>
            <a:r>
              <a:rPr lang="en-US" sz="1600" spc="-10" dirty="0">
                <a:solidFill>
                  <a:srgbClr val="262626"/>
                </a:solidFill>
              </a:rPr>
              <a:t> del </a:t>
            </a:r>
            <a:r>
              <a:rPr lang="en-US" sz="1600" spc="-10" dirty="0" err="1">
                <a:solidFill>
                  <a:srgbClr val="262626"/>
                </a:solidFill>
              </a:rPr>
              <a:t>juego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como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su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salud</a:t>
            </a:r>
            <a:r>
              <a:rPr lang="en-US" sz="1600" spc="-10" dirty="0">
                <a:solidFill>
                  <a:srgbClr val="262626"/>
                </a:solidFill>
              </a:rPr>
              <a:t>, </a:t>
            </a:r>
            <a:r>
              <a:rPr lang="en-US" sz="1600" spc="-10" dirty="0" err="1">
                <a:solidFill>
                  <a:srgbClr val="262626"/>
                </a:solidFill>
              </a:rPr>
              <a:t>puntaje</a:t>
            </a:r>
            <a:r>
              <a:rPr lang="en-US" sz="1600" spc="-10" dirty="0">
                <a:solidFill>
                  <a:srgbClr val="262626"/>
                </a:solidFill>
              </a:rPr>
              <a:t>, </a:t>
            </a:r>
            <a:r>
              <a:rPr lang="en-US" sz="1600" spc="-10" dirty="0" err="1">
                <a:solidFill>
                  <a:srgbClr val="262626"/>
                </a:solidFill>
              </a:rPr>
              <a:t>vidas</a:t>
            </a:r>
            <a:r>
              <a:rPr lang="en-US" sz="1600" spc="-10" dirty="0">
                <a:solidFill>
                  <a:srgbClr val="262626"/>
                </a:solidFill>
              </a:rPr>
              <a:t>, </a:t>
            </a:r>
            <a:r>
              <a:rPr lang="en-US" sz="1600" spc="-10" dirty="0" err="1">
                <a:solidFill>
                  <a:srgbClr val="262626"/>
                </a:solidFill>
              </a:rPr>
              <a:t>munición</a:t>
            </a:r>
            <a:r>
              <a:rPr lang="en-US" sz="1600" spc="-10" dirty="0">
                <a:solidFill>
                  <a:srgbClr val="262626"/>
                </a:solidFill>
              </a:rPr>
              <a:t>, etc.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n-US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</a:rPr>
              <a:t>El HUD </a:t>
            </a:r>
            <a:r>
              <a:rPr lang="en-US" sz="1600" spc="-10" dirty="0" err="1">
                <a:solidFill>
                  <a:srgbClr val="262626"/>
                </a:solidFill>
              </a:rPr>
              <a:t>debe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tener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una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posición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fija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en</a:t>
            </a:r>
            <a:r>
              <a:rPr lang="en-US" sz="1600" spc="-10" dirty="0">
                <a:solidFill>
                  <a:srgbClr val="262626"/>
                </a:solidFill>
              </a:rPr>
              <a:t> la </a:t>
            </a:r>
            <a:r>
              <a:rPr lang="en-US" sz="1600" spc="-10" dirty="0" err="1">
                <a:solidFill>
                  <a:srgbClr val="262626"/>
                </a:solidFill>
              </a:rPr>
              <a:t>pantalla</a:t>
            </a:r>
            <a:r>
              <a:rPr lang="en-US" sz="1600" spc="-10" dirty="0">
                <a:solidFill>
                  <a:srgbClr val="262626"/>
                </a:solidFill>
              </a:rPr>
              <a:t>, no </a:t>
            </a:r>
            <a:r>
              <a:rPr lang="en-US" sz="1600" spc="-10" dirty="0" err="1">
                <a:solidFill>
                  <a:srgbClr val="262626"/>
                </a:solidFill>
              </a:rPr>
              <a:t>queremos</a:t>
            </a:r>
            <a:r>
              <a:rPr lang="en-US" sz="1600" spc="-10" dirty="0">
                <a:solidFill>
                  <a:srgbClr val="262626"/>
                </a:solidFill>
              </a:rPr>
              <a:t> que se </a:t>
            </a:r>
            <a:r>
              <a:rPr lang="en-US" sz="1600" spc="-10" dirty="0" err="1">
                <a:solidFill>
                  <a:srgbClr val="262626"/>
                </a:solidFill>
              </a:rPr>
              <a:t>vea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afectado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por</a:t>
            </a:r>
            <a:r>
              <a:rPr lang="en-US" sz="1600" spc="-10" dirty="0">
                <a:solidFill>
                  <a:srgbClr val="262626"/>
                </a:solidFill>
              </a:rPr>
              <a:t> el scroll o </a:t>
            </a:r>
            <a:r>
              <a:rPr lang="en-US" sz="1600" spc="-10" dirty="0" err="1">
                <a:solidFill>
                  <a:srgbClr val="262626"/>
                </a:solidFill>
              </a:rPr>
              <a:t>movimientos</a:t>
            </a:r>
            <a:r>
              <a:rPr lang="en-US" sz="1600" spc="-10" dirty="0">
                <a:solidFill>
                  <a:srgbClr val="262626"/>
                </a:solidFill>
              </a:rPr>
              <a:t> de </a:t>
            </a:r>
            <a:r>
              <a:rPr lang="en-US" sz="1600" spc="-10" dirty="0" err="1">
                <a:solidFill>
                  <a:srgbClr val="262626"/>
                </a:solidFill>
              </a:rPr>
              <a:t>cámara</a:t>
            </a:r>
            <a:r>
              <a:rPr lang="en-US" sz="1600" spc="-10" dirty="0">
                <a:solidFill>
                  <a:srgbClr val="262626"/>
                </a:solidFill>
              </a:rPr>
              <a:t>. </a:t>
            </a:r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n-US" sz="1600" spc="-10" dirty="0">
                <a:solidFill>
                  <a:srgbClr val="262626"/>
                </a:solidFill>
                <a:cs typeface="Source Sans Pro"/>
              </a:rPr>
            </a:br>
            <a:endParaRPr lang="en-US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CREANDO EL HUD</a:t>
            </a:r>
          </a:p>
        </p:txBody>
      </p:sp>
      <p:pic>
        <p:nvPicPr>
          <p:cNvPr id="7" name="Picture 2" descr="http://i21.photobucket.com/albums/b295/flashn00b/doomhud.png">
            <a:extLst>
              <a:ext uri="{FF2B5EF4-FFF2-40B4-BE49-F238E27FC236}">
                <a16:creationId xmlns:a16="http://schemas.microsoft.com/office/drawing/2014/main" id="{2B95BA64-2700-4779-AE95-6743F8A8B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75656" y="3275849"/>
            <a:ext cx="6096000" cy="1685926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85912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</a:rPr>
              <a:t>Por </a:t>
            </a:r>
            <a:r>
              <a:rPr lang="en-US" sz="1600" spc="-10" dirty="0" err="1">
                <a:solidFill>
                  <a:srgbClr val="262626"/>
                </a:solidFill>
              </a:rPr>
              <a:t>defecto</a:t>
            </a:r>
            <a:r>
              <a:rPr lang="en-US" sz="1600" spc="-10" dirty="0">
                <a:solidFill>
                  <a:srgbClr val="262626"/>
                </a:solidFill>
              </a:rPr>
              <a:t>, las </a:t>
            </a:r>
            <a:r>
              <a:rPr lang="en-US" sz="1600" spc="-10" dirty="0" err="1">
                <a:solidFill>
                  <a:srgbClr val="262626"/>
                </a:solidFill>
              </a:rPr>
              <a:t>capas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tienen</a:t>
            </a:r>
            <a:r>
              <a:rPr lang="en-US" sz="1600" spc="-10" dirty="0">
                <a:solidFill>
                  <a:srgbClr val="262626"/>
                </a:solidFill>
              </a:rPr>
              <a:t> la </a:t>
            </a:r>
            <a:r>
              <a:rPr lang="en-US" sz="1600" spc="-10" dirty="0" err="1">
                <a:solidFill>
                  <a:srgbClr val="262626"/>
                </a:solidFill>
              </a:rPr>
              <a:t>posibilidad</a:t>
            </a:r>
            <a:r>
              <a:rPr lang="en-US" sz="1600" spc="-10" dirty="0">
                <a:solidFill>
                  <a:srgbClr val="262626"/>
                </a:solidFill>
              </a:rPr>
              <a:t> de </a:t>
            </a:r>
            <a:r>
              <a:rPr lang="en-US" sz="1600" spc="-10" dirty="0" err="1">
                <a:solidFill>
                  <a:srgbClr val="262626"/>
                </a:solidFill>
              </a:rPr>
              <a:t>asignarles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movimiento</a:t>
            </a:r>
            <a:r>
              <a:rPr lang="en-US" sz="1600" spc="-10" dirty="0">
                <a:solidFill>
                  <a:srgbClr val="262626"/>
                </a:solidFill>
              </a:rPr>
              <a:t>. Para </a:t>
            </a:r>
            <a:r>
              <a:rPr lang="en-US" sz="1600" spc="-10" dirty="0" err="1">
                <a:solidFill>
                  <a:srgbClr val="262626"/>
                </a:solidFill>
              </a:rPr>
              <a:t>mantener</a:t>
            </a:r>
            <a:r>
              <a:rPr lang="en-US" sz="1600" spc="-10" dirty="0">
                <a:solidFill>
                  <a:srgbClr val="262626"/>
                </a:solidFill>
              </a:rPr>
              <a:t> el HUD </a:t>
            </a:r>
            <a:r>
              <a:rPr lang="en-US" sz="1600" spc="-10" dirty="0" err="1">
                <a:solidFill>
                  <a:srgbClr val="262626"/>
                </a:solidFill>
              </a:rPr>
              <a:t>en</a:t>
            </a:r>
            <a:r>
              <a:rPr lang="en-US" sz="1600" spc="-10" dirty="0">
                <a:solidFill>
                  <a:srgbClr val="262626"/>
                </a:solidFill>
              </a:rPr>
              <a:t> la </a:t>
            </a:r>
            <a:r>
              <a:rPr lang="en-US" sz="1600" spc="-10" dirty="0" err="1">
                <a:solidFill>
                  <a:srgbClr val="262626"/>
                </a:solidFill>
              </a:rPr>
              <a:t>pantalla</a:t>
            </a:r>
            <a:r>
              <a:rPr lang="en-US" sz="1600" spc="-10" dirty="0">
                <a:solidFill>
                  <a:srgbClr val="262626"/>
                </a:solidFill>
              </a:rPr>
              <a:t> y </a:t>
            </a:r>
            <a:r>
              <a:rPr lang="en-US" sz="1600" spc="-10" dirty="0" err="1">
                <a:solidFill>
                  <a:srgbClr val="262626"/>
                </a:solidFill>
              </a:rPr>
              <a:t>en</a:t>
            </a:r>
            <a:r>
              <a:rPr lang="en-US" sz="1600" spc="-10" dirty="0">
                <a:solidFill>
                  <a:srgbClr val="262626"/>
                </a:solidFill>
              </a:rPr>
              <a:t> la </a:t>
            </a:r>
            <a:r>
              <a:rPr lang="en-US" sz="1600" spc="-10" dirty="0" err="1">
                <a:solidFill>
                  <a:srgbClr val="262626"/>
                </a:solidFill>
              </a:rPr>
              <a:t>misma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posición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siempre</a:t>
            </a:r>
            <a:r>
              <a:rPr lang="en-US" sz="1600" spc="-10" dirty="0">
                <a:solidFill>
                  <a:srgbClr val="262626"/>
                </a:solidFill>
              </a:rPr>
              <a:t>, </a:t>
            </a:r>
            <a:r>
              <a:rPr lang="en-US" sz="1600" spc="-10" dirty="0" err="1">
                <a:solidFill>
                  <a:srgbClr val="262626"/>
                </a:solidFill>
              </a:rPr>
              <a:t>podemos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recurrir</a:t>
            </a:r>
            <a:r>
              <a:rPr lang="en-US" sz="1600" spc="-10" dirty="0">
                <a:solidFill>
                  <a:srgbClr val="262626"/>
                </a:solidFill>
              </a:rPr>
              <a:t> a la </a:t>
            </a:r>
            <a:r>
              <a:rPr lang="en-US" sz="1600" spc="-10" dirty="0" err="1">
                <a:solidFill>
                  <a:srgbClr val="262626"/>
                </a:solidFill>
              </a:rPr>
              <a:t>configuración</a:t>
            </a:r>
            <a:r>
              <a:rPr lang="en-US" sz="1600" spc="-10" dirty="0">
                <a:solidFill>
                  <a:srgbClr val="262626"/>
                </a:solidFill>
              </a:rPr>
              <a:t> del parallax.</a:t>
            </a:r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n-US" sz="1600" spc="-10" dirty="0">
                <a:solidFill>
                  <a:srgbClr val="262626"/>
                </a:solidFill>
                <a:cs typeface="Source Sans Pro"/>
              </a:rPr>
            </a:br>
            <a:endParaRPr lang="en-US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CREANDO EL HUD</a:t>
            </a:r>
          </a:p>
        </p:txBody>
      </p:sp>
      <p:pic>
        <p:nvPicPr>
          <p:cNvPr id="6" name="Picture 2" descr="http://upload.wikimedia.org/wikipedia/commons/9/92/Parallax-scroll-example-2.png">
            <a:extLst>
              <a:ext uri="{FF2B5EF4-FFF2-40B4-BE49-F238E27FC236}">
                <a16:creationId xmlns:a16="http://schemas.microsoft.com/office/drawing/2014/main" id="{D5971B4F-2C8D-4B94-AA79-BE19210AE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6256" y="2295525"/>
            <a:ext cx="4708953" cy="2393850"/>
          </a:xfrm>
          <a:prstGeom prst="rect">
            <a:avLst/>
          </a:prstGeom>
          <a:noFill/>
        </p:spPr>
      </p:pic>
      <p:pic>
        <p:nvPicPr>
          <p:cNvPr id="8" name="Picture 4" descr="http://upload.wikimedia.org/wikipedia/commons/1/16/Parallax-scroll-example.gif">
            <a:extLst>
              <a:ext uri="{FF2B5EF4-FFF2-40B4-BE49-F238E27FC236}">
                <a16:creationId xmlns:a16="http://schemas.microsoft.com/office/drawing/2014/main" id="{926A3FED-ECCF-4267-A6A0-5A341D889D0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89136" y="2369837"/>
            <a:ext cx="3624064" cy="2265040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24937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</a:rPr>
              <a:t>El parallax </a:t>
            </a:r>
            <a:r>
              <a:rPr lang="en-US" sz="1600" spc="-10" dirty="0" err="1">
                <a:solidFill>
                  <a:srgbClr val="262626"/>
                </a:solidFill>
              </a:rPr>
              <a:t>permite</a:t>
            </a:r>
            <a:r>
              <a:rPr lang="en-US" sz="1600" spc="-10" dirty="0">
                <a:solidFill>
                  <a:srgbClr val="262626"/>
                </a:solidFill>
              </a:rPr>
              <a:t> que las </a:t>
            </a:r>
            <a:r>
              <a:rPr lang="en-US" sz="1600" spc="-10" dirty="0" err="1">
                <a:solidFill>
                  <a:srgbClr val="262626"/>
                </a:solidFill>
              </a:rPr>
              <a:t>capas</a:t>
            </a:r>
            <a:r>
              <a:rPr lang="en-US" sz="1600" spc="-10" dirty="0">
                <a:solidFill>
                  <a:srgbClr val="262626"/>
                </a:solidFill>
              </a:rPr>
              <a:t> se </a:t>
            </a:r>
            <a:r>
              <a:rPr lang="en-US" sz="1600" spc="-10" dirty="0" err="1">
                <a:solidFill>
                  <a:srgbClr val="262626"/>
                </a:solidFill>
              </a:rPr>
              <a:t>muevan</a:t>
            </a:r>
            <a:r>
              <a:rPr lang="en-US" sz="1600" spc="-10" dirty="0">
                <a:solidFill>
                  <a:srgbClr val="262626"/>
                </a:solidFill>
              </a:rPr>
              <a:t> a </a:t>
            </a:r>
            <a:r>
              <a:rPr lang="en-US" sz="1600" spc="-10" dirty="0" err="1">
                <a:solidFill>
                  <a:srgbClr val="262626"/>
                </a:solidFill>
              </a:rPr>
              <a:t>diferente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velocidad</a:t>
            </a:r>
            <a:r>
              <a:rPr lang="en-US" sz="1600" spc="-10" dirty="0">
                <a:solidFill>
                  <a:srgbClr val="262626"/>
                </a:solidFill>
              </a:rPr>
              <a:t> de </a:t>
            </a:r>
            <a:r>
              <a:rPr lang="en-US" sz="1600" spc="-10" dirty="0" err="1">
                <a:solidFill>
                  <a:srgbClr val="262626"/>
                </a:solidFill>
              </a:rPr>
              <a:t>acuerdo</a:t>
            </a:r>
            <a:r>
              <a:rPr lang="en-US" sz="1600" spc="-10" dirty="0">
                <a:solidFill>
                  <a:srgbClr val="262626"/>
                </a:solidFill>
              </a:rPr>
              <a:t> a </a:t>
            </a:r>
            <a:r>
              <a:rPr lang="en-US" sz="1600" spc="-10" dirty="0" err="1">
                <a:solidFill>
                  <a:srgbClr val="262626"/>
                </a:solidFill>
              </a:rPr>
              <a:t>su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distancia</a:t>
            </a:r>
            <a:r>
              <a:rPr lang="en-US" sz="1600" spc="-10" dirty="0">
                <a:solidFill>
                  <a:srgbClr val="262626"/>
                </a:solidFill>
              </a:rPr>
              <a:t> de la </a:t>
            </a:r>
            <a:r>
              <a:rPr lang="en-US" sz="1600" spc="-10" dirty="0" err="1">
                <a:solidFill>
                  <a:srgbClr val="262626"/>
                </a:solidFill>
              </a:rPr>
              <a:t>cámara</a:t>
            </a:r>
            <a:r>
              <a:rPr lang="en-US" sz="1600" spc="-10" dirty="0">
                <a:solidFill>
                  <a:srgbClr val="262626"/>
                </a:solidFill>
              </a:rPr>
              <a:t>, </a:t>
            </a:r>
            <a:r>
              <a:rPr lang="en-US" sz="1600" spc="-10" dirty="0" err="1">
                <a:solidFill>
                  <a:srgbClr val="262626"/>
                </a:solidFill>
              </a:rPr>
              <a:t>dando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una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especie</a:t>
            </a:r>
            <a:r>
              <a:rPr lang="en-US" sz="1600" spc="-10" dirty="0">
                <a:solidFill>
                  <a:srgbClr val="262626"/>
                </a:solidFill>
              </a:rPr>
              <a:t> de </a:t>
            </a:r>
            <a:r>
              <a:rPr lang="en-US" sz="1600" spc="-10" dirty="0" err="1">
                <a:solidFill>
                  <a:srgbClr val="262626"/>
                </a:solidFill>
              </a:rPr>
              <a:t>efecto</a:t>
            </a:r>
            <a:r>
              <a:rPr lang="en-US" sz="1600" spc="-10" dirty="0">
                <a:solidFill>
                  <a:srgbClr val="262626"/>
                </a:solidFill>
              </a:rPr>
              <a:t> 3D. 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n-US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</a:rPr>
              <a:t>Si </a:t>
            </a:r>
            <a:r>
              <a:rPr lang="en-US" sz="1600" spc="-10" dirty="0" err="1">
                <a:solidFill>
                  <a:srgbClr val="262626"/>
                </a:solidFill>
              </a:rPr>
              <a:t>ponemos</a:t>
            </a:r>
            <a:r>
              <a:rPr lang="en-US" sz="1600" spc="-10" dirty="0">
                <a:solidFill>
                  <a:srgbClr val="262626"/>
                </a:solidFill>
              </a:rPr>
              <a:t> el valor de parallax a cero, la </a:t>
            </a:r>
            <a:r>
              <a:rPr lang="en-US" sz="1600" spc="-10" dirty="0" err="1">
                <a:solidFill>
                  <a:srgbClr val="262626"/>
                </a:solidFill>
              </a:rPr>
              <a:t>capa</a:t>
            </a:r>
            <a:r>
              <a:rPr lang="en-US" sz="1600" spc="-10" dirty="0">
                <a:solidFill>
                  <a:srgbClr val="262626"/>
                </a:solidFill>
              </a:rPr>
              <a:t> no se </a:t>
            </a:r>
            <a:r>
              <a:rPr lang="en-US" sz="1600" spc="-10" dirty="0" err="1">
                <a:solidFill>
                  <a:srgbClr val="262626"/>
                </a:solidFill>
              </a:rPr>
              <a:t>moverá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en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absoluto</a:t>
            </a:r>
            <a:r>
              <a:rPr lang="en-US" sz="1600" spc="-10" dirty="0">
                <a:solidFill>
                  <a:srgbClr val="262626"/>
                </a:solidFill>
              </a:rPr>
              <a:t>. Ideal para </a:t>
            </a:r>
            <a:r>
              <a:rPr lang="en-US" sz="1600" spc="-10" dirty="0" err="1">
                <a:solidFill>
                  <a:srgbClr val="262626"/>
                </a:solidFill>
              </a:rPr>
              <a:t>nuestro</a:t>
            </a:r>
            <a:r>
              <a:rPr lang="en-US" sz="1600" spc="-10" dirty="0">
                <a:solidFill>
                  <a:srgbClr val="262626"/>
                </a:solidFill>
              </a:rPr>
              <a:t> HUD.</a:t>
            </a:r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n-US" sz="1600" spc="-10" dirty="0">
                <a:solidFill>
                  <a:srgbClr val="262626"/>
                </a:solidFill>
                <a:cs typeface="Source Sans Pro"/>
              </a:rPr>
            </a:br>
            <a:endParaRPr lang="en-US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CREANDO EL HUD</a:t>
            </a:r>
          </a:p>
        </p:txBody>
      </p:sp>
      <p:pic>
        <p:nvPicPr>
          <p:cNvPr id="7" name="Picture 2" descr="http://upload.wikimedia.org/wikipedia/commons/3/34/Parallax_scrolling_example_scene.gif">
            <a:extLst>
              <a:ext uri="{FF2B5EF4-FFF2-40B4-BE49-F238E27FC236}">
                <a16:creationId xmlns:a16="http://schemas.microsoft.com/office/drawing/2014/main" id="{BFBFB319-CDC4-4BD5-BBA6-C9D518C4975D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61456" y="2288236"/>
            <a:ext cx="4221088" cy="2814060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56352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 err="1">
                <a:solidFill>
                  <a:srgbClr val="262626"/>
                </a:solidFill>
              </a:rPr>
              <a:t>Creemos</a:t>
            </a:r>
            <a:r>
              <a:rPr lang="en-US" sz="1600" spc="-10" dirty="0">
                <a:solidFill>
                  <a:srgbClr val="262626"/>
                </a:solidFill>
              </a:rPr>
              <a:t> un layer nuevo </a:t>
            </a:r>
            <a:r>
              <a:rPr lang="en-US" sz="1600" spc="-10" dirty="0" err="1">
                <a:solidFill>
                  <a:srgbClr val="262626"/>
                </a:solidFill>
              </a:rPr>
              <a:t>llamado</a:t>
            </a:r>
            <a:r>
              <a:rPr lang="en-US" sz="1600" spc="-10" dirty="0">
                <a:solidFill>
                  <a:srgbClr val="262626"/>
                </a:solidFill>
              </a:rPr>
              <a:t> HUD que </a:t>
            </a:r>
            <a:r>
              <a:rPr lang="en-US" sz="1600" spc="-10" dirty="0" err="1">
                <a:solidFill>
                  <a:srgbClr val="262626"/>
                </a:solidFill>
              </a:rPr>
              <a:t>esté</a:t>
            </a:r>
            <a:r>
              <a:rPr lang="en-US" sz="1600" spc="-10" dirty="0">
                <a:solidFill>
                  <a:srgbClr val="262626"/>
                </a:solidFill>
              </a:rPr>
              <a:t> ENCIMA de las </a:t>
            </a:r>
            <a:r>
              <a:rPr lang="en-US" sz="1600" spc="-10" dirty="0" err="1">
                <a:solidFill>
                  <a:srgbClr val="262626"/>
                </a:solidFill>
              </a:rPr>
              <a:t>otras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capas</a:t>
            </a:r>
            <a:r>
              <a:rPr lang="en-US" sz="1600" spc="-10" dirty="0">
                <a:solidFill>
                  <a:srgbClr val="262626"/>
                </a:solidFill>
              </a:rPr>
              <a:t>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n-US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 err="1">
                <a:solidFill>
                  <a:srgbClr val="262626"/>
                </a:solidFill>
              </a:rPr>
              <a:t>Seleccionen</a:t>
            </a:r>
            <a:r>
              <a:rPr lang="en-US" sz="1600" spc="-10" dirty="0">
                <a:solidFill>
                  <a:srgbClr val="262626"/>
                </a:solidFill>
              </a:rPr>
              <a:t> la </a:t>
            </a:r>
            <a:r>
              <a:rPr lang="en-US" sz="1600" spc="-10" dirty="0" err="1">
                <a:solidFill>
                  <a:srgbClr val="262626"/>
                </a:solidFill>
              </a:rPr>
              <a:t>capa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smtClean="0">
                <a:solidFill>
                  <a:srgbClr val="262626"/>
                </a:solidFill>
              </a:rPr>
              <a:t>y, </a:t>
            </a:r>
            <a:r>
              <a:rPr lang="en-US" sz="1600" spc="-10" dirty="0" err="1">
                <a:solidFill>
                  <a:srgbClr val="262626"/>
                </a:solidFill>
              </a:rPr>
              <a:t>en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propiedades</a:t>
            </a:r>
            <a:r>
              <a:rPr lang="en-US" sz="1600" spc="-10" dirty="0">
                <a:solidFill>
                  <a:srgbClr val="262626"/>
                </a:solidFill>
              </a:rPr>
              <a:t>, </a:t>
            </a:r>
            <a:r>
              <a:rPr lang="en-US" sz="1600" spc="-10" dirty="0" err="1">
                <a:solidFill>
                  <a:srgbClr val="262626"/>
                </a:solidFill>
              </a:rPr>
              <a:t>establezcan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los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valores</a:t>
            </a:r>
            <a:r>
              <a:rPr lang="en-US" sz="1600" spc="-10" dirty="0">
                <a:solidFill>
                  <a:srgbClr val="262626"/>
                </a:solidFill>
              </a:rPr>
              <a:t> de parallax a 0,0.</a:t>
            </a: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CREANDO EL HUD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D8C028C8-990C-4C5A-AA64-FBC636C525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t="11428" r="83935" b="64838"/>
          <a:stretch>
            <a:fillRect/>
          </a:stretch>
        </p:blipFill>
        <p:spPr bwMode="auto">
          <a:xfrm>
            <a:off x="5216790" y="2359211"/>
            <a:ext cx="2901656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77D5BEE4-F6B2-4CFF-80D7-C31B067F3D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 l="82412" t="6066" b="81885"/>
          <a:stretch>
            <a:fillRect/>
          </a:stretch>
        </p:blipFill>
        <p:spPr bwMode="auto">
          <a:xfrm>
            <a:off x="1025554" y="2863267"/>
            <a:ext cx="3324555" cy="1224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08625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 err="1">
                <a:solidFill>
                  <a:srgbClr val="262626"/>
                </a:solidFill>
              </a:rPr>
              <a:t>Doble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clic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en</a:t>
            </a:r>
            <a:r>
              <a:rPr lang="en-US" sz="1600" spc="-10" dirty="0">
                <a:solidFill>
                  <a:srgbClr val="262626"/>
                </a:solidFill>
              </a:rPr>
              <a:t> el layout para </a:t>
            </a:r>
            <a:r>
              <a:rPr lang="en-US" sz="1600" spc="-10" dirty="0" err="1">
                <a:solidFill>
                  <a:srgbClr val="262626"/>
                </a:solidFill>
              </a:rPr>
              <a:t>insertar</a:t>
            </a:r>
            <a:r>
              <a:rPr lang="en-US" sz="1600" spc="-10" dirty="0">
                <a:solidFill>
                  <a:srgbClr val="262626"/>
                </a:solidFill>
              </a:rPr>
              <a:t> un </a:t>
            </a:r>
            <a:r>
              <a:rPr lang="en-US" sz="1600" spc="-10" dirty="0" err="1">
                <a:solidFill>
                  <a:srgbClr val="262626"/>
                </a:solidFill>
              </a:rPr>
              <a:t>objeto</a:t>
            </a:r>
            <a:r>
              <a:rPr lang="en-US" sz="1600" spc="-10" dirty="0">
                <a:solidFill>
                  <a:srgbClr val="262626"/>
                </a:solidFill>
              </a:rPr>
              <a:t> nuevo. </a:t>
            </a:r>
            <a:r>
              <a:rPr lang="en-US" sz="1600" spc="-10" dirty="0" err="1">
                <a:solidFill>
                  <a:srgbClr val="262626"/>
                </a:solidFill>
              </a:rPr>
              <a:t>Seleccionen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texto</a:t>
            </a:r>
            <a:r>
              <a:rPr lang="en-US" sz="1600" spc="-10" dirty="0">
                <a:solidFill>
                  <a:srgbClr val="262626"/>
                </a:solidFill>
              </a:rPr>
              <a:t>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n-US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 err="1">
                <a:solidFill>
                  <a:srgbClr val="262626"/>
                </a:solidFill>
              </a:rPr>
              <a:t>Modifiquen</a:t>
            </a:r>
            <a:r>
              <a:rPr lang="en-US" sz="1600" spc="-10" dirty="0">
                <a:solidFill>
                  <a:srgbClr val="262626"/>
                </a:solidFill>
              </a:rPr>
              <a:t> las </a:t>
            </a:r>
            <a:r>
              <a:rPr lang="en-US" sz="1600" spc="-10" dirty="0" err="1">
                <a:solidFill>
                  <a:srgbClr val="262626"/>
                </a:solidFill>
              </a:rPr>
              <a:t>propiedades</a:t>
            </a:r>
            <a:r>
              <a:rPr lang="en-US" sz="1600" spc="-10" dirty="0">
                <a:solidFill>
                  <a:srgbClr val="262626"/>
                </a:solidFill>
              </a:rPr>
              <a:t> del </a:t>
            </a:r>
            <a:r>
              <a:rPr lang="en-US" sz="1600" spc="-10" dirty="0" err="1">
                <a:solidFill>
                  <a:srgbClr val="262626"/>
                </a:solidFill>
              </a:rPr>
              <a:t>texto</a:t>
            </a:r>
            <a:r>
              <a:rPr lang="en-US" sz="1600" spc="-10" dirty="0">
                <a:solidFill>
                  <a:srgbClr val="262626"/>
                </a:solidFill>
              </a:rPr>
              <a:t> para que sea lo </a:t>
            </a:r>
            <a:r>
              <a:rPr lang="en-US" sz="1600" spc="-10" dirty="0" err="1">
                <a:solidFill>
                  <a:srgbClr val="262626"/>
                </a:solidFill>
              </a:rPr>
              <a:t>más</a:t>
            </a:r>
            <a:r>
              <a:rPr lang="en-US" sz="1600" spc="-10" dirty="0">
                <a:solidFill>
                  <a:srgbClr val="262626"/>
                </a:solidFill>
              </a:rPr>
              <a:t> visible </a:t>
            </a:r>
            <a:r>
              <a:rPr lang="en-US" sz="1600" spc="-10" dirty="0" err="1">
                <a:solidFill>
                  <a:srgbClr val="262626"/>
                </a:solidFill>
              </a:rPr>
              <a:t>posible</a:t>
            </a:r>
            <a:r>
              <a:rPr lang="en-US" sz="1600" spc="-10" dirty="0">
                <a:solidFill>
                  <a:srgbClr val="262626"/>
                </a:solidFill>
              </a:rPr>
              <a:t> (</a:t>
            </a:r>
            <a:r>
              <a:rPr lang="en-US" sz="1600" spc="-10" dirty="0" err="1">
                <a:solidFill>
                  <a:srgbClr val="262626"/>
                </a:solidFill>
              </a:rPr>
              <a:t>negrita</a:t>
            </a:r>
            <a:r>
              <a:rPr lang="en-US" sz="1600" spc="-10" dirty="0">
                <a:solidFill>
                  <a:srgbClr val="262626"/>
                </a:solidFill>
              </a:rPr>
              <a:t>, </a:t>
            </a:r>
            <a:r>
              <a:rPr lang="en-US" sz="1600" spc="-10" dirty="0" err="1">
                <a:solidFill>
                  <a:srgbClr val="262626"/>
                </a:solidFill>
              </a:rPr>
              <a:t>agrandar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tamaño</a:t>
            </a:r>
            <a:r>
              <a:rPr lang="en-US" sz="1600" spc="-10" dirty="0">
                <a:solidFill>
                  <a:srgbClr val="262626"/>
                </a:solidFill>
              </a:rPr>
              <a:t> de </a:t>
            </a:r>
            <a:r>
              <a:rPr lang="en-US" sz="1600" spc="-10" dirty="0" err="1">
                <a:solidFill>
                  <a:srgbClr val="262626"/>
                </a:solidFill>
              </a:rPr>
              <a:t>letra</a:t>
            </a:r>
            <a:r>
              <a:rPr lang="en-US" sz="1600" spc="-10" dirty="0">
                <a:solidFill>
                  <a:srgbClr val="262626"/>
                </a:solidFill>
              </a:rPr>
              <a:t>, amarilla, </a:t>
            </a:r>
            <a:r>
              <a:rPr lang="en-US" sz="1600" spc="-10" dirty="0" err="1">
                <a:solidFill>
                  <a:srgbClr val="262626"/>
                </a:solidFill>
              </a:rPr>
              <a:t>etc</a:t>
            </a:r>
            <a:r>
              <a:rPr lang="en-US" sz="1600" spc="-10" dirty="0">
                <a:solidFill>
                  <a:srgbClr val="262626"/>
                </a:solidFill>
              </a:rPr>
              <a:t>).</a:t>
            </a: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CREANDO EL HUD</a:t>
            </a:r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F0F0CC47-120C-41D0-8025-E793640958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t="55046" r="83702" b="19461"/>
          <a:stretch>
            <a:fillRect/>
          </a:stretch>
        </p:blipFill>
        <p:spPr bwMode="auto">
          <a:xfrm>
            <a:off x="1299273" y="2492076"/>
            <a:ext cx="2912004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2" descr="https://www.scirra.com/images/articles/textinlayout_2.png">
            <a:extLst>
              <a:ext uri="{FF2B5EF4-FFF2-40B4-BE49-F238E27FC236}">
                <a16:creationId xmlns:a16="http://schemas.microsoft.com/office/drawing/2014/main" id="{18D541FA-BC93-46AD-875C-97E04949F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 r="62612"/>
          <a:stretch>
            <a:fillRect/>
          </a:stretch>
        </p:blipFill>
        <p:spPr bwMode="auto">
          <a:xfrm>
            <a:off x="5115697" y="2492076"/>
            <a:ext cx="2304256" cy="792088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12448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 err="1">
                <a:solidFill>
                  <a:srgbClr val="262626"/>
                </a:solidFill>
              </a:rPr>
              <a:t>Vuelvan</a:t>
            </a:r>
            <a:r>
              <a:rPr lang="en-US" sz="1600" spc="-10" dirty="0">
                <a:solidFill>
                  <a:srgbClr val="262626"/>
                </a:solidFill>
              </a:rPr>
              <a:t> a la </a:t>
            </a:r>
            <a:r>
              <a:rPr lang="en-US" sz="1600" spc="-10" dirty="0" err="1">
                <a:solidFill>
                  <a:srgbClr val="262626"/>
                </a:solidFill>
              </a:rPr>
              <a:t>pestaña</a:t>
            </a:r>
            <a:r>
              <a:rPr lang="en-US" sz="1600" spc="-10" dirty="0">
                <a:solidFill>
                  <a:srgbClr val="262626"/>
                </a:solidFill>
              </a:rPr>
              <a:t> de </a:t>
            </a:r>
            <a:r>
              <a:rPr lang="en-US" sz="1600" spc="-10" dirty="0" err="1">
                <a:solidFill>
                  <a:srgbClr val="262626"/>
                </a:solidFill>
              </a:rPr>
              <a:t>eventos</a:t>
            </a:r>
            <a:r>
              <a:rPr lang="en-US" sz="1600" spc="-10" dirty="0">
                <a:solidFill>
                  <a:srgbClr val="262626"/>
                </a:solidFill>
              </a:rPr>
              <a:t>. </a:t>
            </a:r>
            <a:r>
              <a:rPr lang="en-US" sz="1600" spc="-10" dirty="0" err="1">
                <a:solidFill>
                  <a:srgbClr val="262626"/>
                </a:solidFill>
              </a:rPr>
              <a:t>Vamos</a:t>
            </a:r>
            <a:r>
              <a:rPr lang="en-US" sz="1600" spc="-10" dirty="0">
                <a:solidFill>
                  <a:srgbClr val="262626"/>
                </a:solidFill>
              </a:rPr>
              <a:t> a </a:t>
            </a:r>
            <a:r>
              <a:rPr lang="en-US" sz="1600" spc="-10" dirty="0" err="1">
                <a:solidFill>
                  <a:srgbClr val="262626"/>
                </a:solidFill>
              </a:rPr>
              <a:t>hacer</a:t>
            </a:r>
            <a:r>
              <a:rPr lang="en-US" sz="1600" spc="-10" dirty="0">
                <a:solidFill>
                  <a:srgbClr val="262626"/>
                </a:solidFill>
              </a:rPr>
              <a:t> que el </a:t>
            </a:r>
            <a:r>
              <a:rPr lang="en-US" sz="1600" spc="-10" dirty="0" err="1">
                <a:solidFill>
                  <a:srgbClr val="262626"/>
                </a:solidFill>
              </a:rPr>
              <a:t>texto</a:t>
            </a:r>
            <a:r>
              <a:rPr lang="en-US" sz="1600" spc="-10" dirty="0">
                <a:solidFill>
                  <a:srgbClr val="262626"/>
                </a:solidFill>
              </a:rPr>
              <a:t> se </a:t>
            </a:r>
            <a:r>
              <a:rPr lang="en-US" sz="1600" spc="-10" dirty="0" err="1">
                <a:solidFill>
                  <a:srgbClr val="262626"/>
                </a:solidFill>
              </a:rPr>
              <a:t>actualice</a:t>
            </a:r>
            <a:r>
              <a:rPr lang="en-US" sz="1600" spc="-10" dirty="0">
                <a:solidFill>
                  <a:srgbClr val="262626"/>
                </a:solidFill>
              </a:rPr>
              <a:t> con el </a:t>
            </a:r>
            <a:r>
              <a:rPr lang="en-US" sz="1600" spc="-10" dirty="0" err="1">
                <a:solidFill>
                  <a:srgbClr val="262626"/>
                </a:solidFill>
              </a:rPr>
              <a:t>puntaje</a:t>
            </a:r>
            <a:r>
              <a:rPr lang="en-US" sz="1600" spc="-10" dirty="0">
                <a:solidFill>
                  <a:srgbClr val="262626"/>
                </a:solidFill>
              </a:rPr>
              <a:t> del </a:t>
            </a:r>
            <a:r>
              <a:rPr lang="en-US" sz="1600" spc="-10" dirty="0" err="1">
                <a:solidFill>
                  <a:srgbClr val="262626"/>
                </a:solidFill>
              </a:rPr>
              <a:t>jugador</a:t>
            </a:r>
            <a:r>
              <a:rPr lang="en-US" sz="1600" spc="-10" dirty="0">
                <a:solidFill>
                  <a:srgbClr val="262626"/>
                </a:solidFill>
              </a:rPr>
              <a:t>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n-US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 err="1">
                <a:solidFill>
                  <a:srgbClr val="262626"/>
                </a:solidFill>
              </a:rPr>
              <a:t>En</a:t>
            </a:r>
            <a:r>
              <a:rPr lang="en-US" sz="1600" spc="-10" dirty="0">
                <a:solidFill>
                  <a:srgbClr val="262626"/>
                </a:solidFill>
              </a:rPr>
              <a:t> el primer </a:t>
            </a:r>
            <a:r>
              <a:rPr lang="en-US" sz="1600" spc="-10" dirty="0" err="1">
                <a:solidFill>
                  <a:srgbClr val="262626"/>
                </a:solidFill>
              </a:rPr>
              <a:t>evento</a:t>
            </a:r>
            <a:r>
              <a:rPr lang="en-US" sz="1600" spc="-10" dirty="0">
                <a:solidFill>
                  <a:srgbClr val="262626"/>
                </a:solidFill>
              </a:rPr>
              <a:t> que </a:t>
            </a:r>
            <a:r>
              <a:rPr lang="en-US" sz="1600" spc="-10" dirty="0" err="1">
                <a:solidFill>
                  <a:srgbClr val="262626"/>
                </a:solidFill>
              </a:rPr>
              <a:t>creamos</a:t>
            </a:r>
            <a:r>
              <a:rPr lang="en-US" sz="1600" spc="-10" dirty="0">
                <a:solidFill>
                  <a:srgbClr val="262626"/>
                </a:solidFill>
              </a:rPr>
              <a:t> (every tick), </a:t>
            </a:r>
            <a:r>
              <a:rPr lang="en-US" sz="1600" spc="-10" dirty="0" err="1">
                <a:solidFill>
                  <a:srgbClr val="262626"/>
                </a:solidFill>
              </a:rPr>
              <a:t>vamos</a:t>
            </a:r>
            <a:r>
              <a:rPr lang="en-US" sz="1600" spc="-10" dirty="0">
                <a:solidFill>
                  <a:srgbClr val="262626"/>
                </a:solidFill>
              </a:rPr>
              <a:t> a </a:t>
            </a:r>
            <a:r>
              <a:rPr lang="en-US" sz="1600" spc="-10" dirty="0" err="1">
                <a:solidFill>
                  <a:srgbClr val="262626"/>
                </a:solidFill>
              </a:rPr>
              <a:t>agregar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una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acción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nueva</a:t>
            </a:r>
            <a:r>
              <a:rPr lang="en-US" sz="1600" spc="-10" dirty="0">
                <a:solidFill>
                  <a:srgbClr val="262626"/>
                </a:solidFill>
              </a:rPr>
              <a:t>: Text -&gt; Set text.</a:t>
            </a: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CREANDO EL HUD</a:t>
            </a:r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3A16EB05-AB97-4719-B1F6-A9D945BAF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17714" t="9745" r="46857" b="80332"/>
          <a:stretch>
            <a:fillRect/>
          </a:stretch>
        </p:blipFill>
        <p:spPr bwMode="auto">
          <a:xfrm>
            <a:off x="984459" y="2901266"/>
            <a:ext cx="7175082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41531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 err="1">
                <a:solidFill>
                  <a:srgbClr val="262626"/>
                </a:solidFill>
              </a:rPr>
              <a:t>Usando</a:t>
            </a:r>
            <a:r>
              <a:rPr lang="en-US" sz="1600" spc="-10" dirty="0">
                <a:solidFill>
                  <a:srgbClr val="262626"/>
                </a:solidFill>
              </a:rPr>
              <a:t> el </a:t>
            </a:r>
            <a:r>
              <a:rPr lang="en-US" sz="1600" spc="-10" dirty="0" err="1">
                <a:solidFill>
                  <a:srgbClr val="262626"/>
                </a:solidFill>
              </a:rPr>
              <a:t>caracter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b="1" spc="-10" dirty="0">
                <a:solidFill>
                  <a:srgbClr val="262626"/>
                </a:solidFill>
              </a:rPr>
              <a:t>“&amp;”</a:t>
            </a:r>
            <a:r>
              <a:rPr lang="en-US" sz="1600" spc="-10" dirty="0">
                <a:solidFill>
                  <a:srgbClr val="262626"/>
                </a:solidFill>
              </a:rPr>
              <a:t>, </a:t>
            </a:r>
            <a:r>
              <a:rPr lang="en-US" sz="1600" spc="-10" dirty="0" err="1">
                <a:solidFill>
                  <a:srgbClr val="262626"/>
                </a:solidFill>
              </a:rPr>
              <a:t>podemos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convertir</a:t>
            </a:r>
            <a:r>
              <a:rPr lang="en-US" sz="1600" spc="-10" dirty="0">
                <a:solidFill>
                  <a:srgbClr val="262626"/>
                </a:solidFill>
              </a:rPr>
              <a:t> un </a:t>
            </a:r>
            <a:r>
              <a:rPr lang="en-US" sz="1600" spc="-10" dirty="0" err="1">
                <a:solidFill>
                  <a:srgbClr val="262626"/>
                </a:solidFill>
              </a:rPr>
              <a:t>número</a:t>
            </a:r>
            <a:r>
              <a:rPr lang="en-US" sz="1600" spc="-10" dirty="0">
                <a:solidFill>
                  <a:srgbClr val="262626"/>
                </a:solidFill>
              </a:rPr>
              <a:t> a </a:t>
            </a:r>
            <a:r>
              <a:rPr lang="en-US" sz="1600" spc="-10" dirty="0" err="1">
                <a:solidFill>
                  <a:srgbClr val="262626"/>
                </a:solidFill>
              </a:rPr>
              <a:t>texto</a:t>
            </a:r>
            <a:r>
              <a:rPr lang="en-US" sz="1600" spc="-10" dirty="0">
                <a:solidFill>
                  <a:srgbClr val="262626"/>
                </a:solidFill>
              </a:rPr>
              <a:t> y </a:t>
            </a:r>
            <a:r>
              <a:rPr lang="en-US" sz="1600" spc="-10" dirty="0" err="1">
                <a:solidFill>
                  <a:srgbClr val="262626"/>
                </a:solidFill>
              </a:rPr>
              <a:t>juntarlo</a:t>
            </a:r>
            <a:r>
              <a:rPr lang="en-US" sz="1600" spc="-10" dirty="0">
                <a:solidFill>
                  <a:srgbClr val="262626"/>
                </a:solidFill>
              </a:rPr>
              <a:t> con </a:t>
            </a:r>
            <a:r>
              <a:rPr lang="en-US" sz="1600" spc="-10" dirty="0" err="1">
                <a:solidFill>
                  <a:srgbClr val="262626"/>
                </a:solidFill>
              </a:rPr>
              <a:t>otro</a:t>
            </a:r>
            <a:r>
              <a:rPr lang="en-US" sz="1600" spc="-10" dirty="0">
                <a:solidFill>
                  <a:srgbClr val="262626"/>
                </a:solidFill>
              </a:rPr>
              <a:t> valor. Para el </a:t>
            </a:r>
            <a:r>
              <a:rPr lang="en-US" sz="1600" spc="-10" dirty="0" err="1">
                <a:solidFill>
                  <a:srgbClr val="262626"/>
                </a:solidFill>
              </a:rPr>
              <a:t>texto</a:t>
            </a:r>
            <a:r>
              <a:rPr lang="en-US" sz="1600" spc="-10" dirty="0">
                <a:solidFill>
                  <a:srgbClr val="262626"/>
                </a:solidFill>
              </a:rPr>
              <a:t>, </a:t>
            </a:r>
            <a:r>
              <a:rPr lang="en-US" sz="1600" spc="-10" dirty="0" err="1">
                <a:solidFill>
                  <a:srgbClr val="262626"/>
                </a:solidFill>
              </a:rPr>
              <a:t>pongan</a:t>
            </a:r>
            <a:r>
              <a:rPr lang="en-US" sz="1600" spc="-10" dirty="0">
                <a:solidFill>
                  <a:srgbClr val="262626"/>
                </a:solidFill>
              </a:rPr>
              <a:t>: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n-US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b="1" spc="-10" dirty="0">
                <a:solidFill>
                  <a:srgbClr val="262626"/>
                </a:solidFill>
              </a:rPr>
              <a:t>“</a:t>
            </a:r>
            <a:r>
              <a:rPr lang="en-US" sz="1600" b="1" spc="-10" dirty="0" err="1">
                <a:solidFill>
                  <a:srgbClr val="262626"/>
                </a:solidFill>
              </a:rPr>
              <a:t>Puntaje</a:t>
            </a:r>
            <a:r>
              <a:rPr lang="en-US" sz="1600" b="1" spc="-10" dirty="0">
                <a:solidFill>
                  <a:srgbClr val="262626"/>
                </a:solidFill>
              </a:rPr>
              <a:t>: ” &amp; Score</a:t>
            </a: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CREANDO EL HUD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F5B32C2-49F0-46E0-B7FD-6937544CB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42002" y="2384308"/>
            <a:ext cx="5590474" cy="2376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90679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</a:rPr>
              <a:t>La </a:t>
            </a:r>
            <a:r>
              <a:rPr lang="en-US" sz="1600" spc="-10" dirty="0" err="1">
                <a:solidFill>
                  <a:srgbClr val="262626"/>
                </a:solidFill>
              </a:rPr>
              <a:t>primera</a:t>
            </a:r>
            <a:r>
              <a:rPr lang="en-US" sz="1600" spc="-10" dirty="0">
                <a:solidFill>
                  <a:srgbClr val="262626"/>
                </a:solidFill>
              </a:rPr>
              <a:t> parte “</a:t>
            </a:r>
            <a:r>
              <a:rPr lang="en-US" sz="1600" spc="-10" dirty="0" err="1">
                <a:solidFill>
                  <a:srgbClr val="262626"/>
                </a:solidFill>
              </a:rPr>
              <a:t>Puntaje</a:t>
            </a:r>
            <a:r>
              <a:rPr lang="en-US" sz="1600" spc="-10" dirty="0">
                <a:solidFill>
                  <a:srgbClr val="262626"/>
                </a:solidFill>
              </a:rPr>
              <a:t>: ” </a:t>
            </a:r>
            <a:r>
              <a:rPr lang="en-US" sz="1600" spc="-10" dirty="0" err="1">
                <a:solidFill>
                  <a:srgbClr val="262626"/>
                </a:solidFill>
              </a:rPr>
              <a:t>significa</a:t>
            </a:r>
            <a:r>
              <a:rPr lang="en-US" sz="1600" spc="-10" dirty="0">
                <a:solidFill>
                  <a:srgbClr val="262626"/>
                </a:solidFill>
              </a:rPr>
              <a:t> que el </a:t>
            </a:r>
            <a:r>
              <a:rPr lang="en-US" sz="1600" spc="-10" dirty="0" err="1">
                <a:solidFill>
                  <a:srgbClr val="262626"/>
                </a:solidFill>
              </a:rPr>
              <a:t>texto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siempre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va</a:t>
            </a:r>
            <a:r>
              <a:rPr lang="en-US" sz="1600" spc="-10" dirty="0">
                <a:solidFill>
                  <a:srgbClr val="262626"/>
                </a:solidFill>
              </a:rPr>
              <a:t> a </a:t>
            </a:r>
            <a:r>
              <a:rPr lang="en-US" sz="1600" spc="-10" dirty="0" err="1">
                <a:solidFill>
                  <a:srgbClr val="262626"/>
                </a:solidFill>
              </a:rPr>
              <a:t>empezar</a:t>
            </a:r>
            <a:r>
              <a:rPr lang="en-US" sz="1600" spc="-10" dirty="0">
                <a:solidFill>
                  <a:srgbClr val="262626"/>
                </a:solidFill>
              </a:rPr>
              <a:t> con la </a:t>
            </a:r>
            <a:r>
              <a:rPr lang="en-US" sz="1600" spc="-10" dirty="0" err="1">
                <a:solidFill>
                  <a:srgbClr val="262626"/>
                </a:solidFill>
              </a:rPr>
              <a:t>frase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Puntaje</a:t>
            </a:r>
            <a:r>
              <a:rPr lang="en-US" sz="1600" spc="-10" dirty="0">
                <a:solidFill>
                  <a:srgbClr val="262626"/>
                </a:solidFill>
              </a:rPr>
              <a:t>: . </a:t>
            </a:r>
            <a:endParaRPr lang="en-US" sz="1600" spc="-10" dirty="0" smtClean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 smtClean="0">
                <a:solidFill>
                  <a:srgbClr val="262626"/>
                </a:solidFill>
              </a:rPr>
              <a:t>La </a:t>
            </a:r>
            <a:r>
              <a:rPr lang="en-US" sz="1600" spc="-10" dirty="0" err="1">
                <a:solidFill>
                  <a:srgbClr val="262626"/>
                </a:solidFill>
              </a:rPr>
              <a:t>segunda</a:t>
            </a:r>
            <a:r>
              <a:rPr lang="en-US" sz="1600" spc="-10" dirty="0">
                <a:solidFill>
                  <a:srgbClr val="262626"/>
                </a:solidFill>
              </a:rPr>
              <a:t> parte (Score) </a:t>
            </a:r>
            <a:r>
              <a:rPr lang="en-US" sz="1600" spc="-10" dirty="0" err="1">
                <a:solidFill>
                  <a:srgbClr val="262626"/>
                </a:solidFill>
              </a:rPr>
              <a:t>es</a:t>
            </a:r>
            <a:r>
              <a:rPr lang="en-US" sz="1600" spc="-10" dirty="0">
                <a:solidFill>
                  <a:srgbClr val="262626"/>
                </a:solidFill>
              </a:rPr>
              <a:t> el valor de la variable global que </a:t>
            </a:r>
            <a:r>
              <a:rPr lang="en-US" sz="1600" spc="-10" dirty="0" err="1">
                <a:solidFill>
                  <a:srgbClr val="262626"/>
                </a:solidFill>
              </a:rPr>
              <a:t>establecimos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como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puntaje</a:t>
            </a:r>
            <a:r>
              <a:rPr lang="en-US" sz="1600" spc="-10" dirty="0">
                <a:solidFill>
                  <a:srgbClr val="262626"/>
                </a:solidFill>
              </a:rPr>
              <a:t>. 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n-US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</a:rPr>
              <a:t>El </a:t>
            </a:r>
            <a:r>
              <a:rPr lang="en-US" sz="1600" spc="-10" dirty="0" err="1">
                <a:solidFill>
                  <a:srgbClr val="262626"/>
                </a:solidFill>
              </a:rPr>
              <a:t>caracter</a:t>
            </a:r>
            <a:r>
              <a:rPr lang="en-US" sz="1600" spc="-10" dirty="0">
                <a:solidFill>
                  <a:srgbClr val="262626"/>
                </a:solidFill>
              </a:rPr>
              <a:t> “&amp;” </a:t>
            </a:r>
            <a:r>
              <a:rPr lang="en-US" sz="1600" spc="-10" dirty="0" err="1">
                <a:solidFill>
                  <a:srgbClr val="262626"/>
                </a:solidFill>
              </a:rPr>
              <a:t>los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une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en</a:t>
            </a:r>
            <a:r>
              <a:rPr lang="en-US" sz="1600" spc="-10" dirty="0">
                <a:solidFill>
                  <a:srgbClr val="262626"/>
                </a:solidFill>
              </a:rPr>
              <a:t> un solo </a:t>
            </a:r>
            <a:r>
              <a:rPr lang="en-US" sz="1600" spc="-10" dirty="0" err="1">
                <a:solidFill>
                  <a:srgbClr val="262626"/>
                </a:solidFill>
              </a:rPr>
              <a:t>pedazo</a:t>
            </a:r>
            <a:r>
              <a:rPr lang="en-US" sz="1600" spc="-10" dirty="0">
                <a:solidFill>
                  <a:srgbClr val="262626"/>
                </a:solidFill>
              </a:rPr>
              <a:t> de </a:t>
            </a:r>
            <a:r>
              <a:rPr lang="en-US" sz="1600" spc="-10" dirty="0" err="1">
                <a:solidFill>
                  <a:srgbClr val="262626"/>
                </a:solidFill>
              </a:rPr>
              <a:t>texto</a:t>
            </a:r>
            <a:r>
              <a:rPr lang="en-US" sz="1600" spc="-10" dirty="0">
                <a:solidFill>
                  <a:srgbClr val="262626"/>
                </a:solidFill>
              </a:rPr>
              <a:t>. 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n-US" sz="1600" spc="-10" dirty="0" err="1">
                <a:solidFill>
                  <a:srgbClr val="262626"/>
                </a:solidFill>
              </a:rPr>
              <a:t>Corran</a:t>
            </a:r>
            <a:r>
              <a:rPr lang="en-US" sz="1600" spc="-10" dirty="0">
                <a:solidFill>
                  <a:srgbClr val="262626"/>
                </a:solidFill>
              </a:rPr>
              <a:t> el </a:t>
            </a:r>
            <a:r>
              <a:rPr lang="en-US" sz="1600" spc="-10" dirty="0" err="1">
                <a:solidFill>
                  <a:srgbClr val="262626"/>
                </a:solidFill>
              </a:rPr>
              <a:t>juego</a:t>
            </a:r>
            <a:r>
              <a:rPr lang="en-US" sz="1600" spc="-10" dirty="0">
                <a:solidFill>
                  <a:srgbClr val="262626"/>
                </a:solidFill>
              </a:rPr>
              <a:t>. </a:t>
            </a:r>
            <a:r>
              <a:rPr lang="en-US" sz="1600" spc="-10" dirty="0" err="1">
                <a:solidFill>
                  <a:srgbClr val="262626"/>
                </a:solidFill>
              </a:rPr>
              <a:t>Tendrán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puntaje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registrado</a:t>
            </a:r>
            <a:r>
              <a:rPr lang="en-US" sz="1600" spc="-10" dirty="0">
                <a:solidFill>
                  <a:srgbClr val="262626"/>
                </a:solidFill>
              </a:rPr>
              <a:t> y el HUD se </a:t>
            </a:r>
            <a:r>
              <a:rPr lang="en-US" sz="1600" spc="-10" dirty="0" err="1">
                <a:solidFill>
                  <a:srgbClr val="262626"/>
                </a:solidFill>
              </a:rPr>
              <a:t>queda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en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su</a:t>
            </a:r>
            <a:r>
              <a:rPr lang="en-US" sz="1600" spc="-10" dirty="0">
                <a:solidFill>
                  <a:srgbClr val="262626"/>
                </a:solidFill>
              </a:rPr>
              <a:t> </a:t>
            </a:r>
            <a:r>
              <a:rPr lang="en-US" sz="1600" spc="-10" dirty="0" err="1">
                <a:solidFill>
                  <a:srgbClr val="262626"/>
                </a:solidFill>
              </a:rPr>
              <a:t>mismo</a:t>
            </a:r>
            <a:r>
              <a:rPr lang="en-US" sz="1600" spc="-10" dirty="0">
                <a:solidFill>
                  <a:srgbClr val="262626"/>
                </a:solidFill>
              </a:rPr>
              <a:t> sitio.</a:t>
            </a: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CREANDO EL HUD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10141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788068" y="881063"/>
            <a:ext cx="6871746" cy="4281487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10"/>
          <p:cNvSpPr/>
          <p:nvPr/>
        </p:nvSpPr>
        <p:spPr>
          <a:xfrm>
            <a:off x="1832904" y="917413"/>
            <a:ext cx="3402730" cy="2603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31342"/>
            <a:r>
              <a:rPr lang="es-PE" sz="1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REPASO</a:t>
            </a:r>
            <a:endParaRPr lang="es-PE" sz="1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176213" indent="-176213" defTabSz="731342">
              <a:buFont typeface="Arial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Crear un menú con las siguientes opciones: Jugar, Opciones y Salir.</a:t>
            </a:r>
          </a:p>
          <a:p>
            <a:pPr marL="176213" indent="-176213" defTabSz="731342">
              <a:buFont typeface="Arial"/>
              <a:buChar char="•"/>
            </a:pPr>
            <a:endParaRPr lang="es-PE" sz="1600" dirty="0">
              <a:solidFill>
                <a:srgbClr val="000000"/>
              </a:solidFill>
            </a:endParaRPr>
          </a:p>
          <a:p>
            <a:pPr marL="176213" indent="-176213" defTabSz="731342">
              <a:buFont typeface="Arial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Crear un HUD que muestre la siguiente información: Número de vidas, número de monedas y dos slots para </a:t>
            </a:r>
            <a:r>
              <a:rPr lang="es-PE" sz="1600" dirty="0" err="1">
                <a:solidFill>
                  <a:srgbClr val="000000"/>
                </a:solidFill>
              </a:rPr>
              <a:t>items</a:t>
            </a:r>
            <a:r>
              <a:rPr lang="es-PE" sz="1600" dirty="0">
                <a:solidFill>
                  <a:srgbClr val="000000"/>
                </a:solidFill>
              </a:rPr>
              <a:t>. (Referencia: Mario </a:t>
            </a:r>
            <a:r>
              <a:rPr lang="es-PE" sz="1600" dirty="0" err="1">
                <a:solidFill>
                  <a:srgbClr val="000000"/>
                </a:solidFill>
              </a:rPr>
              <a:t>World</a:t>
            </a:r>
            <a:r>
              <a:rPr lang="es-PE" sz="1600" dirty="0">
                <a:solidFill>
                  <a:srgbClr val="000000"/>
                </a:solidFill>
              </a:rPr>
              <a:t>)</a:t>
            </a:r>
          </a:p>
          <a:p>
            <a:pPr marL="285750" indent="-285750" defTabSz="731342">
              <a:lnSpc>
                <a:spcPct val="120000"/>
              </a:lnSpc>
              <a:buFont typeface="Arial"/>
              <a:buChar char="•"/>
            </a:pPr>
            <a:endParaRPr lang="es-PE" sz="1600" dirty="0">
              <a:solidFill>
                <a:srgbClr val="000000"/>
              </a:solidFill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5477544" y="993537"/>
            <a:ext cx="3070939" cy="40173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ACTIVIDAD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48238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10"/>
          <p:cNvSpPr/>
          <p:nvPr/>
        </p:nvSpPr>
        <p:spPr>
          <a:xfrm>
            <a:off x="2527711" y="770440"/>
            <a:ext cx="6132101" cy="2970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s-PE" sz="1700" dirty="0" err="1">
                <a:solidFill>
                  <a:srgbClr val="FFFFFF"/>
                </a:solidFill>
                <a:ea typeface="Calibri" panose="020F0502020204030204" pitchFamily="34" charset="0"/>
                <a:cs typeface="Source Sans Pro" panose="020B0604020202020204" charset="0"/>
              </a:rPr>
              <a:t>Construct</a:t>
            </a:r>
            <a:r>
              <a:rPr lang="es-PE" sz="1700" dirty="0">
                <a:solidFill>
                  <a:srgbClr val="FFFFFF"/>
                </a:solidFill>
                <a:ea typeface="Calibri" panose="020F0502020204030204" pitchFamily="34" charset="0"/>
                <a:cs typeface="Source Sans Pro" panose="020B0604020202020204" charset="0"/>
              </a:rPr>
              <a:t> 2 nos permite agregar interfaz de usuario de manera rápida con las herramientas que nos proporciona</a:t>
            </a:r>
            <a:r>
              <a:rPr lang="es-PE" sz="1700" dirty="0">
                <a:solidFill>
                  <a:srgbClr val="FFFFFF"/>
                </a:solidFill>
                <a:cs typeface="Source Sans Pro" panose="020B0604020202020204" charset="0"/>
              </a:rPr>
              <a:t>.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endParaRPr lang="es-PE" sz="1700" dirty="0">
              <a:solidFill>
                <a:srgbClr val="FFFFFF"/>
              </a:solidFill>
              <a:cs typeface="Source Sans Pro" panose="020B0604020202020204" charset="0"/>
            </a:endParaRP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s-PE" sz="1700" dirty="0">
                <a:solidFill>
                  <a:srgbClr val="FFFFFF"/>
                </a:solidFill>
                <a:cs typeface="Source Sans Pro" panose="020B0604020202020204" charset="0"/>
              </a:rPr>
              <a:t>La UI es muy importante para comunicar progresión, estatus, ítems al jugador.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endParaRPr lang="es-PE" sz="1700" dirty="0">
              <a:solidFill>
                <a:srgbClr val="FFFFFF"/>
              </a:solidFill>
              <a:cs typeface="Source Sans Pro" panose="020B0604020202020204" charset="0"/>
            </a:endParaRP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s-PE" sz="1700" dirty="0">
                <a:solidFill>
                  <a:srgbClr val="FFFFFF"/>
                </a:solidFill>
                <a:cs typeface="Source Sans Pro" panose="020B0604020202020204" charset="0"/>
              </a:rPr>
              <a:t>La posición de los HUD debe ser muy bien pensada para no obstruir el gameplay.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endParaRPr lang="es-PE" sz="1700" dirty="0">
              <a:solidFill>
                <a:srgbClr val="FFFFFF"/>
              </a:solidFill>
              <a:latin typeface="+mj-lt"/>
              <a:ea typeface="Calibri" panose="020F0502020204030204" pitchFamily="34" charset="0"/>
              <a:cs typeface="Source Sans Pro" panose="020B0604020202020204" charset="0"/>
            </a:endParaRPr>
          </a:p>
          <a:p>
            <a:pPr marL="180975" indent="-180975">
              <a:buFont typeface="Arial" panose="020B0604020202020204" pitchFamily="34" charset="0"/>
              <a:buChar char="•"/>
            </a:pPr>
            <a:endParaRPr lang="es-PE" sz="1700" dirty="0">
              <a:solidFill>
                <a:srgbClr val="FFFFFF"/>
              </a:solidFill>
              <a:latin typeface="+mj-lt"/>
              <a:cs typeface="Source Sans Pro" panose="020B0604020202020204" charset="0"/>
            </a:endParaRPr>
          </a:p>
          <a:p>
            <a:pPr lvl="1"/>
            <a:endParaRPr lang="es-PE" sz="1700" dirty="0">
              <a:solidFill>
                <a:srgbClr val="FFFFFF"/>
              </a:solidFill>
              <a:latin typeface="Calibri"/>
              <a:ea typeface="Calibri" panose="020F0502020204030204" pitchFamily="34" charset="0"/>
              <a:cs typeface="Source Sans Pro" panose="020B0604020202020204" charset="0"/>
            </a:endParaRPr>
          </a:p>
        </p:txBody>
      </p:sp>
      <p:sp>
        <p:nvSpPr>
          <p:cNvPr id="9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chemeClr val="bg1"/>
                </a:solidFill>
              </a:rPr>
              <a:t>/ CONCLUSIONES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5447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25"/>
          <p:cNvSpPr txBox="1">
            <a:spLocks/>
          </p:cNvSpPr>
          <p:nvPr/>
        </p:nvSpPr>
        <p:spPr>
          <a:xfrm>
            <a:off x="398994" y="724844"/>
            <a:ext cx="7881937" cy="180164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4625" indent="-174625">
              <a:spcBef>
                <a:spcPts val="0"/>
              </a:spcBef>
              <a:buSzPct val="100000"/>
            </a:pPr>
            <a:r>
              <a:rPr lang="es-PE" sz="1500" dirty="0">
                <a:cs typeface="Calibri"/>
                <a:hlinkClick r:id="rId3"/>
              </a:rPr>
              <a:t>https://www.scirra.com/manual/1/construct-2</a:t>
            </a:r>
            <a:r>
              <a:rPr lang="es-PE" sz="1500" dirty="0">
                <a:cs typeface="Calibri"/>
              </a:rPr>
              <a:t> - </a:t>
            </a:r>
            <a:r>
              <a:rPr lang="es-PE" sz="1600" dirty="0" err="1"/>
              <a:t>Scirra</a:t>
            </a:r>
            <a:r>
              <a:rPr lang="es-PE" sz="1600" dirty="0"/>
              <a:t> </a:t>
            </a:r>
            <a:r>
              <a:rPr lang="es-PE" sz="1600" dirty="0" err="1"/>
              <a:t>Ltd</a:t>
            </a:r>
            <a:endParaRPr lang="es" sz="1500" dirty="0">
              <a:solidFill>
                <a:srgbClr val="006621"/>
              </a:solidFill>
              <a:latin typeface="Calibri"/>
              <a:cs typeface="Calibri"/>
            </a:endParaRPr>
          </a:p>
        </p:txBody>
      </p:sp>
      <p:sp>
        <p:nvSpPr>
          <p:cNvPr id="9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BIBLIOGRAFÍA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0541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DESIGN_ID_OFFICE THEME" val="Yge96mEv"/>
  <p:tag name="ARTICULATE_SLIDE_COUNT" val="1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3332</TotalTime>
  <Words>1945</Words>
  <Application>Microsoft Office PowerPoint</Application>
  <PresentationFormat>Presentación en pantalla (16:10)</PresentationFormat>
  <Paragraphs>223</Paragraphs>
  <Slides>41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41</vt:i4>
      </vt:variant>
    </vt:vector>
  </HeadingPairs>
  <TitlesOfParts>
    <vt:vector size="46" baseType="lpstr">
      <vt:lpstr>Arial</vt:lpstr>
      <vt:lpstr>Calibri</vt:lpstr>
      <vt:lpstr>Source Sans Pro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ISIL</dc:creator>
  <cp:lastModifiedBy>Diego Santamaria Saldaña</cp:lastModifiedBy>
  <cp:revision>342</cp:revision>
  <cp:lastPrinted>2018-01-16T21:42:59Z</cp:lastPrinted>
  <dcterms:created xsi:type="dcterms:W3CDTF">2016-10-06T14:52:02Z</dcterms:created>
  <dcterms:modified xsi:type="dcterms:W3CDTF">2020-11-03T17:25:46Z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