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5.xml" ContentType="application/vnd.openxmlformats-officedocument.presentationml.tags+xml"/>
  <Override PartName="/ppt/notesSlides/notesSlide18.xml" ContentType="application/vnd.openxmlformats-officedocument.presentationml.notesSlide+xml"/>
  <Override PartName="/ppt/tags/tag16.xml" ContentType="application/vnd.openxmlformats-officedocument.presentationml.tags+xml"/>
  <Override PartName="/ppt/notesSlides/notesSlide19.xml" ContentType="application/vnd.openxmlformats-officedocument.presentationml.notesSlide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332" r:id="rId3"/>
    <p:sldId id="321" r:id="rId4"/>
    <p:sldId id="340" r:id="rId5"/>
    <p:sldId id="342" r:id="rId6"/>
    <p:sldId id="341" r:id="rId7"/>
    <p:sldId id="343" r:id="rId8"/>
    <p:sldId id="344" r:id="rId9"/>
    <p:sldId id="316" r:id="rId10"/>
    <p:sldId id="345" r:id="rId11"/>
    <p:sldId id="315" r:id="rId12"/>
    <p:sldId id="309" r:id="rId13"/>
    <p:sldId id="349" r:id="rId14"/>
    <p:sldId id="331" r:id="rId15"/>
    <p:sldId id="351" r:id="rId16"/>
    <p:sldId id="352" r:id="rId17"/>
    <p:sldId id="348" r:id="rId18"/>
    <p:sldId id="350" r:id="rId19"/>
    <p:sldId id="304" r:id="rId20"/>
    <p:sldId id="303" r:id="rId21"/>
    <p:sldId id="305" r:id="rId22"/>
  </p:sldIdLst>
  <p:sldSz cx="9144000" cy="5715000" type="screen16x10"/>
  <p:notesSz cx="6858000" cy="9144000"/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">
          <p15:clr>
            <a:srgbClr val="A4A3A4"/>
          </p15:clr>
        </p15:guide>
        <p15:guide id="2" pos="5455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4" orient="horz" pos="689" userDrawn="1">
          <p15:clr>
            <a:srgbClr val="A4A3A4"/>
          </p15:clr>
        </p15:guide>
        <p15:guide id="5" pos="476" userDrawn="1">
          <p15:clr>
            <a:srgbClr val="A4A3A4"/>
          </p15:clr>
        </p15:guide>
        <p15:guide id="6" pos="493">
          <p15:clr>
            <a:srgbClr val="A4A3A4"/>
          </p15:clr>
        </p15:guide>
        <p15:guide id="7" orient="horz" pos="387">
          <p15:clr>
            <a:srgbClr val="A4A3A4"/>
          </p15:clr>
        </p15:guide>
        <p15:guide id="8" orient="horz" pos="542">
          <p15:clr>
            <a:srgbClr val="A4A3A4"/>
          </p15:clr>
        </p15:guide>
        <p15:guide id="9" orient="horz" pos="259">
          <p15:clr>
            <a:srgbClr val="A4A3A4"/>
          </p15:clr>
        </p15:guide>
        <p15:guide id="10" orient="horz" pos="3269">
          <p15:clr>
            <a:srgbClr val="A4A3A4"/>
          </p15:clr>
        </p15:guide>
        <p15:guide id="11" pos="5461">
          <p15:clr>
            <a:srgbClr val="A4A3A4"/>
          </p15:clr>
        </p15:guide>
        <p15:guide id="12" pos="30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va Zoraida Hamada Doshi" initials="EZHD" lastIdx="1" clrIdx="0">
    <p:extLst>
      <p:ext uri="{19B8F6BF-5375-455C-9EA6-DF929625EA0E}">
        <p15:presenceInfo xmlns:p15="http://schemas.microsoft.com/office/powerpoint/2012/main" userId="Elva Zoraida Hamada Dosh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5EF"/>
    <a:srgbClr val="558ED5"/>
    <a:srgbClr val="FFFFFF"/>
    <a:srgbClr val="C00000"/>
    <a:srgbClr val="A6A6A6"/>
    <a:srgbClr val="F2F2F2"/>
    <a:srgbClr val="7F7F7F"/>
    <a:srgbClr val="FFFFFE"/>
    <a:srgbClr val="00B4B0"/>
    <a:srgbClr val="215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9267" autoAdjust="0"/>
    <p:restoredTop sz="90000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1170" y="108"/>
      </p:cViewPr>
      <p:guideLst>
        <p:guide orient="horz" pos="217"/>
        <p:guide pos="5455"/>
        <p:guide orient="horz" pos="3274"/>
        <p:guide orient="horz" pos="689"/>
        <p:guide pos="476"/>
        <p:guide pos="493"/>
        <p:guide orient="horz" pos="387"/>
        <p:guide orient="horz" pos="542"/>
        <p:guide orient="horz" pos="259"/>
        <p:guide orient="horz" pos="3269"/>
        <p:guide pos="5461"/>
        <p:guide pos="30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03/11/2020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3/11/2020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smtClean="0"/>
              <a:t>En el libro Fundamentals of </a:t>
            </a:r>
            <a:r>
              <a:rPr lang="es-PE" dirty="0" err="1" smtClean="0"/>
              <a:t>Game</a:t>
            </a:r>
            <a:r>
              <a:rPr lang="es-PE" dirty="0" smtClean="0"/>
              <a:t> </a:t>
            </a:r>
            <a:r>
              <a:rPr lang="es-PE" dirty="0" err="1" smtClean="0"/>
              <a:t>Design</a:t>
            </a:r>
            <a:r>
              <a:rPr lang="es-PE" dirty="0" smtClean="0"/>
              <a:t> de </a:t>
            </a:r>
            <a:r>
              <a:rPr lang="es-PE" dirty="0" err="1" smtClean="0"/>
              <a:t>Ernest</a:t>
            </a:r>
            <a:r>
              <a:rPr lang="es-PE" dirty="0" smtClean="0"/>
              <a:t> Adams definen el </a:t>
            </a:r>
            <a:r>
              <a:rPr lang="es-PE" dirty="0" err="1" smtClean="0"/>
              <a:t>gameplay</a:t>
            </a:r>
            <a:r>
              <a:rPr lang="es-PE" dirty="0" smtClean="0"/>
              <a:t> en función de dos conceptos: desafíos y acciones.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err="1"/>
              <a:t>Level</a:t>
            </a:r>
            <a:r>
              <a:rPr lang="es-PE" dirty="0"/>
              <a:t> Up! 2da edición – </a:t>
            </a:r>
            <a:r>
              <a:rPr lang="es-PE" dirty="0" err="1"/>
              <a:t>pag</a:t>
            </a:r>
            <a:r>
              <a:rPr lang="es-PE" dirty="0"/>
              <a:t>. 78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err="1"/>
              <a:t>Game</a:t>
            </a:r>
            <a:r>
              <a:rPr lang="es-PE" dirty="0"/>
              <a:t> </a:t>
            </a:r>
            <a:r>
              <a:rPr lang="es-PE" dirty="0" err="1"/>
              <a:t>desing</a:t>
            </a:r>
            <a:r>
              <a:rPr lang="es-PE" dirty="0"/>
              <a:t> </a:t>
            </a:r>
            <a:r>
              <a:rPr lang="es-PE" dirty="0" err="1"/>
              <a:t>theory</a:t>
            </a:r>
            <a:r>
              <a:rPr lang="es-PE" dirty="0"/>
              <a:t> and </a:t>
            </a:r>
            <a:r>
              <a:rPr lang="es-PE" dirty="0" err="1"/>
              <a:t>practice</a:t>
            </a:r>
            <a:r>
              <a:rPr lang="es-PE" dirty="0"/>
              <a:t> – </a:t>
            </a:r>
            <a:r>
              <a:rPr lang="es-PE" dirty="0" err="1"/>
              <a:t>pag</a:t>
            </a:r>
            <a:r>
              <a:rPr lang="es-PE" dirty="0"/>
              <a:t>. 361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2893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err="1"/>
              <a:t>Level</a:t>
            </a:r>
            <a:r>
              <a:rPr lang="es-PE" dirty="0"/>
              <a:t> Up! 2da edición – </a:t>
            </a:r>
            <a:r>
              <a:rPr lang="es-PE" dirty="0" err="1"/>
              <a:t>pag</a:t>
            </a:r>
            <a:r>
              <a:rPr lang="es-PE" dirty="0"/>
              <a:t>. 78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err="1"/>
              <a:t>Game</a:t>
            </a:r>
            <a:r>
              <a:rPr lang="es-PE" dirty="0"/>
              <a:t> </a:t>
            </a:r>
            <a:r>
              <a:rPr lang="es-PE" dirty="0" err="1"/>
              <a:t>desing</a:t>
            </a:r>
            <a:r>
              <a:rPr lang="es-PE" dirty="0"/>
              <a:t> </a:t>
            </a:r>
            <a:r>
              <a:rPr lang="es-PE" dirty="0" err="1"/>
              <a:t>theory</a:t>
            </a:r>
            <a:r>
              <a:rPr lang="es-PE" dirty="0"/>
              <a:t> and </a:t>
            </a:r>
            <a:r>
              <a:rPr lang="es-PE" dirty="0" err="1"/>
              <a:t>practice</a:t>
            </a:r>
            <a:r>
              <a:rPr lang="es-PE" dirty="0"/>
              <a:t> – </a:t>
            </a:r>
            <a:r>
              <a:rPr lang="es-PE" dirty="0" err="1"/>
              <a:t>pag</a:t>
            </a:r>
            <a:r>
              <a:rPr lang="es-PE" dirty="0"/>
              <a:t>. 361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06807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err="1"/>
              <a:t>Level</a:t>
            </a:r>
            <a:r>
              <a:rPr lang="es-PE" dirty="0"/>
              <a:t> Up! 2da edición – </a:t>
            </a:r>
            <a:r>
              <a:rPr lang="es-PE" dirty="0" err="1"/>
              <a:t>pag</a:t>
            </a:r>
            <a:r>
              <a:rPr lang="es-PE" dirty="0"/>
              <a:t>. 78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err="1"/>
              <a:t>Game</a:t>
            </a:r>
            <a:r>
              <a:rPr lang="es-PE" dirty="0"/>
              <a:t> </a:t>
            </a:r>
            <a:r>
              <a:rPr lang="es-PE" dirty="0" err="1"/>
              <a:t>desing</a:t>
            </a:r>
            <a:r>
              <a:rPr lang="es-PE" dirty="0"/>
              <a:t> </a:t>
            </a:r>
            <a:r>
              <a:rPr lang="es-PE" dirty="0" err="1"/>
              <a:t>theory</a:t>
            </a:r>
            <a:r>
              <a:rPr lang="es-PE" dirty="0"/>
              <a:t> and </a:t>
            </a:r>
            <a:r>
              <a:rPr lang="es-PE" dirty="0" err="1"/>
              <a:t>practice</a:t>
            </a:r>
            <a:r>
              <a:rPr lang="es-PE" dirty="0"/>
              <a:t> – </a:t>
            </a:r>
            <a:r>
              <a:rPr lang="es-PE" dirty="0" err="1"/>
              <a:t>pag</a:t>
            </a:r>
            <a:r>
              <a:rPr lang="es-PE" dirty="0"/>
              <a:t>. 361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54745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err="1"/>
              <a:t>Level</a:t>
            </a:r>
            <a:r>
              <a:rPr lang="es-PE" dirty="0"/>
              <a:t> Up! 2da edición – </a:t>
            </a:r>
            <a:r>
              <a:rPr lang="es-PE" dirty="0" err="1"/>
              <a:t>pag</a:t>
            </a:r>
            <a:r>
              <a:rPr lang="es-PE" dirty="0"/>
              <a:t>. 78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err="1"/>
              <a:t>Game</a:t>
            </a:r>
            <a:r>
              <a:rPr lang="es-PE" dirty="0"/>
              <a:t> </a:t>
            </a:r>
            <a:r>
              <a:rPr lang="es-PE" dirty="0" err="1"/>
              <a:t>desing</a:t>
            </a:r>
            <a:r>
              <a:rPr lang="es-PE" dirty="0"/>
              <a:t> </a:t>
            </a:r>
            <a:r>
              <a:rPr lang="es-PE" dirty="0" err="1"/>
              <a:t>theory</a:t>
            </a:r>
            <a:r>
              <a:rPr lang="es-PE" dirty="0"/>
              <a:t> and </a:t>
            </a:r>
            <a:r>
              <a:rPr lang="es-PE" dirty="0" err="1"/>
              <a:t>practice</a:t>
            </a:r>
            <a:r>
              <a:rPr lang="es-PE" dirty="0"/>
              <a:t> – </a:t>
            </a:r>
            <a:r>
              <a:rPr lang="es-PE" dirty="0" err="1"/>
              <a:t>pag</a:t>
            </a:r>
            <a:r>
              <a:rPr lang="es-PE" dirty="0"/>
              <a:t>. 361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49946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err="1"/>
              <a:t>Level</a:t>
            </a:r>
            <a:r>
              <a:rPr lang="es-PE" dirty="0"/>
              <a:t> Up! 2da edición – </a:t>
            </a:r>
            <a:r>
              <a:rPr lang="es-PE" dirty="0" err="1"/>
              <a:t>pag</a:t>
            </a:r>
            <a:r>
              <a:rPr lang="es-PE" dirty="0"/>
              <a:t>. 78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err="1"/>
              <a:t>Game</a:t>
            </a:r>
            <a:r>
              <a:rPr lang="es-PE" dirty="0"/>
              <a:t> </a:t>
            </a:r>
            <a:r>
              <a:rPr lang="es-PE" dirty="0" err="1"/>
              <a:t>desing</a:t>
            </a:r>
            <a:r>
              <a:rPr lang="es-PE" dirty="0"/>
              <a:t> </a:t>
            </a:r>
            <a:r>
              <a:rPr lang="es-PE" dirty="0" err="1"/>
              <a:t>theory</a:t>
            </a:r>
            <a:r>
              <a:rPr lang="es-PE" dirty="0"/>
              <a:t> and </a:t>
            </a:r>
            <a:r>
              <a:rPr lang="es-PE" dirty="0" err="1"/>
              <a:t>practice</a:t>
            </a:r>
            <a:r>
              <a:rPr lang="es-PE" dirty="0"/>
              <a:t> – </a:t>
            </a:r>
            <a:r>
              <a:rPr lang="es-PE" dirty="0" err="1"/>
              <a:t>pag</a:t>
            </a:r>
            <a:r>
              <a:rPr lang="es-PE" dirty="0"/>
              <a:t>. 361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73410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err="1"/>
              <a:t>Game</a:t>
            </a:r>
            <a:r>
              <a:rPr lang="es-PE" dirty="0"/>
              <a:t> </a:t>
            </a:r>
            <a:r>
              <a:rPr lang="es-PE" dirty="0" err="1"/>
              <a:t>design</a:t>
            </a:r>
            <a:r>
              <a:rPr lang="es-PE" dirty="0"/>
              <a:t> </a:t>
            </a:r>
            <a:r>
              <a:rPr lang="es-PE" dirty="0" err="1"/>
              <a:t>theory</a:t>
            </a:r>
            <a:r>
              <a:rPr lang="es-PE" dirty="0"/>
              <a:t> and </a:t>
            </a:r>
            <a:r>
              <a:rPr lang="es-PE" dirty="0" err="1"/>
              <a:t>practice</a:t>
            </a:r>
            <a:r>
              <a:rPr lang="es-PE" dirty="0"/>
              <a:t> – </a:t>
            </a:r>
            <a:r>
              <a:rPr lang="es-PE" dirty="0" err="1"/>
              <a:t>pag</a:t>
            </a:r>
            <a:r>
              <a:rPr lang="es-PE" dirty="0"/>
              <a:t>. 42</a:t>
            </a:r>
          </a:p>
          <a:p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10070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err="1"/>
              <a:t>Game</a:t>
            </a:r>
            <a:r>
              <a:rPr lang="es-PE" dirty="0"/>
              <a:t> </a:t>
            </a:r>
            <a:r>
              <a:rPr lang="es-PE" dirty="0" err="1"/>
              <a:t>design</a:t>
            </a:r>
            <a:r>
              <a:rPr lang="es-PE" dirty="0"/>
              <a:t> </a:t>
            </a:r>
            <a:r>
              <a:rPr lang="es-PE" dirty="0" err="1"/>
              <a:t>theory</a:t>
            </a:r>
            <a:r>
              <a:rPr lang="es-PE" dirty="0"/>
              <a:t> and </a:t>
            </a:r>
            <a:r>
              <a:rPr lang="es-PE" dirty="0" err="1"/>
              <a:t>practice</a:t>
            </a:r>
            <a:r>
              <a:rPr lang="es-PE" dirty="0"/>
              <a:t> – </a:t>
            </a:r>
            <a:r>
              <a:rPr lang="es-PE" dirty="0" err="1"/>
              <a:t>pag</a:t>
            </a:r>
            <a:r>
              <a:rPr lang="es-PE" dirty="0"/>
              <a:t>. 42</a:t>
            </a:r>
          </a:p>
          <a:p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10681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/>
              <a:t>Fundamentals </a:t>
            </a:r>
            <a:r>
              <a:rPr lang="es-PE" dirty="0" err="1"/>
              <a:t>of</a:t>
            </a:r>
            <a:r>
              <a:rPr lang="es-PE" dirty="0"/>
              <a:t> </a:t>
            </a:r>
            <a:r>
              <a:rPr lang="es-PE" dirty="0" err="1"/>
              <a:t>game</a:t>
            </a:r>
            <a:r>
              <a:rPr lang="es-PE" dirty="0"/>
              <a:t> </a:t>
            </a:r>
            <a:r>
              <a:rPr lang="es-PE" dirty="0" err="1"/>
              <a:t>design</a:t>
            </a:r>
            <a:r>
              <a:rPr lang="es-PE" dirty="0"/>
              <a:t>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30336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err="1"/>
              <a:t>Level</a:t>
            </a:r>
            <a:r>
              <a:rPr lang="es-PE" dirty="0"/>
              <a:t> Up! 2da edición – </a:t>
            </a:r>
            <a:r>
              <a:rPr lang="es-PE" dirty="0" err="1"/>
              <a:t>pag</a:t>
            </a:r>
            <a:r>
              <a:rPr lang="es-PE" dirty="0"/>
              <a:t>. 78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 err="1"/>
              <a:t>Game</a:t>
            </a:r>
            <a:r>
              <a:rPr lang="es-PE" dirty="0"/>
              <a:t> </a:t>
            </a:r>
            <a:r>
              <a:rPr lang="es-PE" dirty="0" err="1"/>
              <a:t>desing</a:t>
            </a:r>
            <a:r>
              <a:rPr lang="es-PE" dirty="0"/>
              <a:t> </a:t>
            </a:r>
            <a:r>
              <a:rPr lang="es-PE" dirty="0" err="1"/>
              <a:t>theory</a:t>
            </a:r>
            <a:r>
              <a:rPr lang="es-PE" dirty="0"/>
              <a:t> and </a:t>
            </a:r>
            <a:r>
              <a:rPr lang="es-PE" dirty="0" err="1"/>
              <a:t>practice</a:t>
            </a:r>
            <a:r>
              <a:rPr lang="es-PE" dirty="0"/>
              <a:t> – </a:t>
            </a:r>
            <a:r>
              <a:rPr lang="es-PE" dirty="0" err="1"/>
              <a:t>pag</a:t>
            </a:r>
            <a:r>
              <a:rPr lang="es-PE" dirty="0"/>
              <a:t>. 361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280721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184112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9482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88956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42113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03954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dirty="0"/>
              <a:t>Juegos a analizar:  </a:t>
            </a:r>
            <a:r>
              <a:rPr lang="es-PE" dirty="0" err="1"/>
              <a:t>Donkey</a:t>
            </a:r>
            <a:r>
              <a:rPr lang="es-PE" dirty="0"/>
              <a:t> Kong Country, </a:t>
            </a:r>
            <a:r>
              <a:rPr lang="es-PE" dirty="0" err="1"/>
              <a:t>Aladdin</a:t>
            </a:r>
            <a:r>
              <a:rPr lang="es-PE" dirty="0"/>
              <a:t>,   </a:t>
            </a:r>
            <a:r>
              <a:rPr lang="es-PE" dirty="0" err="1"/>
              <a:t>Shovel</a:t>
            </a:r>
            <a:r>
              <a:rPr lang="es-PE" dirty="0"/>
              <a:t> </a:t>
            </a:r>
            <a:r>
              <a:rPr lang="es-PE" dirty="0" err="1"/>
              <a:t>Knight</a:t>
            </a:r>
            <a:r>
              <a:rPr lang="es-PE" dirty="0"/>
              <a:t>, </a:t>
            </a:r>
            <a:r>
              <a:rPr lang="es-PE" dirty="0" err="1"/>
              <a:t>Overcooked</a:t>
            </a:r>
            <a:r>
              <a:rPr lang="es-PE" dirty="0"/>
              <a:t>, </a:t>
            </a:r>
            <a:r>
              <a:rPr lang="es-PE" dirty="0" err="1"/>
              <a:t>Broforce</a:t>
            </a:r>
            <a:r>
              <a:rPr lang="es-PE" dirty="0"/>
              <a:t>, FEZ, </a:t>
            </a:r>
            <a:r>
              <a:rPr lang="es-PE" dirty="0" err="1"/>
              <a:t>Shank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859393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312777" y="5260073"/>
            <a:ext cx="8568205" cy="312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88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/>
          <p:cNvSpPr>
            <a:spLocks noGrp="1"/>
          </p:cNvSpPr>
          <p:nvPr>
            <p:ph type="pic" sz="quarter" idx="11"/>
          </p:nvPr>
        </p:nvSpPr>
        <p:spPr>
          <a:xfrm>
            <a:off x="5045075" y="881063"/>
            <a:ext cx="3624263" cy="4308475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/>
          <p:cNvSpPr>
            <a:spLocks noGrp="1"/>
          </p:cNvSpPr>
          <p:nvPr>
            <p:ph type="pic" sz="quarter" idx="10"/>
          </p:nvPr>
        </p:nvSpPr>
        <p:spPr>
          <a:xfrm>
            <a:off x="488950" y="881063"/>
            <a:ext cx="3682835" cy="4308474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/>
          <p:cNvSpPr>
            <a:spLocks noGrp="1"/>
          </p:cNvSpPr>
          <p:nvPr>
            <p:ph type="pic" sz="quarter" idx="10"/>
          </p:nvPr>
        </p:nvSpPr>
        <p:spPr>
          <a:xfrm>
            <a:off x="2260600" y="2295525"/>
            <a:ext cx="4622800" cy="2903538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/>
          <p:cNvSpPr>
            <a:spLocks noGrp="1"/>
          </p:cNvSpPr>
          <p:nvPr>
            <p:ph type="pic" sz="quarter" idx="11"/>
          </p:nvPr>
        </p:nvSpPr>
        <p:spPr>
          <a:xfrm>
            <a:off x="4662488" y="1528763"/>
            <a:ext cx="4006850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  <p:sp>
        <p:nvSpPr>
          <p:cNvPr id="6" name="Marcador de imágenes prediseñadas 5"/>
          <p:cNvSpPr>
            <a:spLocks noGrp="1"/>
          </p:cNvSpPr>
          <p:nvPr>
            <p:ph type="clipArt" sz="quarter" idx="10"/>
          </p:nvPr>
        </p:nvSpPr>
        <p:spPr>
          <a:xfrm>
            <a:off x="503238" y="1528763"/>
            <a:ext cx="4013235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488950" y="860424"/>
            <a:ext cx="8180387" cy="4329113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2184400" y="1360488"/>
            <a:ext cx="4775200" cy="2686050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6388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DISEÑO</a:t>
              </a:r>
              <a:r>
                <a:rPr lang="en-US" sz="800" kern="1200" baseline="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ESTRATEGIAS PARA VIDEOJUEGOS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01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79148" y="5384440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60" r:id="rId5"/>
    <p:sldLayoutId id="2147483657" r:id="rId6"/>
    <p:sldLayoutId id="2147483658" r:id="rId7"/>
    <p:sldLayoutId id="2147483661" r:id="rId8"/>
    <p:sldLayoutId id="2147483659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4" Type="http://schemas.openxmlformats.org/officeDocument/2006/relationships/image" Target="../media/image9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iofYDsA2yq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mdIRvuyzUE?t=91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503238" y="1207530"/>
            <a:ext cx="8049072" cy="342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SESIÓN /</a:t>
            </a:r>
            <a:r>
              <a:rPr lang="en-US" sz="2800" b="1" dirty="0">
                <a:solidFill>
                  <a:schemeClr val="bg1"/>
                </a:solidFill>
                <a:latin typeface="Calibri"/>
                <a:cs typeface="Calibri"/>
              </a:rPr>
              <a:t>1</a:t>
            </a:r>
          </a:p>
          <a:p>
            <a:pPr algn="ctr">
              <a:lnSpc>
                <a:spcPct val="90000"/>
              </a:lnSpc>
              <a:defRPr/>
            </a:pPr>
            <a:r>
              <a:rPr lang="es-PE" sz="3000" b="1" dirty="0" err="1">
                <a:solidFill>
                  <a:schemeClr val="bg1"/>
                </a:solidFill>
                <a:cs typeface="Calibri"/>
              </a:rPr>
              <a:t>Gameplay</a:t>
            </a:r>
            <a:r>
              <a:rPr lang="es-PE" sz="3000" b="1" dirty="0">
                <a:solidFill>
                  <a:schemeClr val="bg1"/>
                </a:solidFill>
                <a:cs typeface="Calibri"/>
              </a:rPr>
              <a:t> y </a:t>
            </a:r>
            <a:r>
              <a:rPr lang="es-PE" sz="3000" b="1" dirty="0" smtClean="0">
                <a:solidFill>
                  <a:schemeClr val="bg1"/>
                </a:solidFill>
                <a:cs typeface="Calibri"/>
              </a:rPr>
              <a:t>Mecánicas de juego</a:t>
            </a:r>
            <a:endParaRPr lang="es-PE" sz="30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10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n-US" sz="1600" b="1" dirty="0" smtClean="0">
                <a:solidFill>
                  <a:schemeClr val="bg1"/>
                </a:solidFill>
                <a:latin typeface="Calibri"/>
                <a:cs typeface="Calibri"/>
              </a:rPr>
              <a:t>Gameplay</a:t>
            </a:r>
          </a:p>
          <a:p>
            <a:pPr>
              <a:lnSpc>
                <a:spcPct val="110000"/>
              </a:lnSpc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ES" sz="1600" b="1" dirty="0" smtClean="0">
                <a:solidFill>
                  <a:schemeClr val="bg1"/>
                </a:solidFill>
                <a:latin typeface="Calibri"/>
                <a:cs typeface="Calibri"/>
              </a:rPr>
              <a:t>Mecánicas de juego</a:t>
            </a:r>
            <a:r>
              <a:rPr lang="es-ES" sz="1600" b="1" dirty="0">
                <a:solidFill>
                  <a:schemeClr val="bg1"/>
                </a:solidFill>
                <a:latin typeface="Calibri"/>
                <a:cs typeface="Calibri"/>
              </a:rPr>
              <a:t/>
            </a:r>
            <a:br>
              <a:rPr lang="es-ES" sz="1600" b="1" dirty="0">
                <a:solidFill>
                  <a:schemeClr val="bg1"/>
                </a:solidFill>
                <a:latin typeface="Calibri"/>
                <a:cs typeface="Calibri"/>
              </a:rPr>
            </a:br>
            <a:r>
              <a:rPr lang="es-ES" sz="1600" b="1" dirty="0">
                <a:solidFill>
                  <a:schemeClr val="bg1"/>
                </a:solidFill>
                <a:cs typeface="Calibri"/>
              </a:rPr>
              <a:t/>
            </a:r>
            <a:br>
              <a:rPr lang="es-ES" sz="1600" b="1" dirty="0">
                <a:solidFill>
                  <a:schemeClr val="bg1"/>
                </a:solidFill>
                <a:cs typeface="Calibri"/>
              </a:rPr>
            </a:br>
            <a:endParaRPr lang="es-ES" sz="1600" dirty="0">
              <a:solidFill>
                <a:schemeClr val="bg1"/>
              </a:solidFill>
              <a:cs typeface="Calibri"/>
            </a:endParaRP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317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5299" y="810908"/>
            <a:ext cx="8102216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El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gameplay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y las mecánicas son dos elementos que siempre están presentes en un juego.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En la presente sesión aprenderemos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qué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 una mecánica de juego, cuál es su relación con el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gameplay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y cómo ambas nos ayudan a definir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un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juego.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689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737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err="1">
                <a:solidFill>
                  <a:schemeClr val="bg1"/>
                </a:solidFill>
                <a:latin typeface="Calibri"/>
                <a:cs typeface="Calibri"/>
              </a:rPr>
              <a:t>Gameplay</a:t>
            </a:r>
            <a:endParaRPr lang="es-PE" sz="2800" b="1" dirty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883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Tarea establecida a un jugador.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Debe requerir esfuerzo mental o físico.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Puede ser únicos, recurrentes o continuos.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DESAFÍOS</a:t>
            </a:r>
          </a:p>
        </p:txBody>
      </p:sp>
      <p:pic>
        <p:nvPicPr>
          <p:cNvPr id="2058" name="Picture 10" descr="Resultado de imagen para cloud berry kingdom">
            <a:extLst>
              <a:ext uri="{FF2B5EF4-FFF2-40B4-BE49-F238E27FC236}">
                <a16:creationId xmlns:a16="http://schemas.microsoft.com/office/drawing/2014/main" id="{931A4911-3798-47B9-A1C2-D9F2095D9A26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2" r="5182"/>
          <a:stretch>
            <a:fillRect/>
          </a:stretch>
        </p:blipFill>
        <p:spPr bwMode="auto">
          <a:xfrm>
            <a:off x="2260600" y="2295525"/>
            <a:ext cx="4622800" cy="290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150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Si analizamos el juego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Banshee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(1994), un ejemplo de desafío único es una batalla con un jefe.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DESAFÍO ÚNICO</a:t>
            </a:r>
          </a:p>
        </p:txBody>
      </p:sp>
      <p:pic>
        <p:nvPicPr>
          <p:cNvPr id="6146" name="Picture 2" descr="Resultado de imagen para banshee game amiga">
            <a:extLst>
              <a:ext uri="{FF2B5EF4-FFF2-40B4-BE49-F238E27FC236}">
                <a16:creationId xmlns:a16="http://schemas.microsoft.com/office/drawing/2014/main" id="{6D26F6F9-3562-47CE-ABFB-0549E61E1919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4" b="-4260"/>
          <a:stretch/>
        </p:blipFill>
        <p:spPr bwMode="auto">
          <a:xfrm>
            <a:off x="2260600" y="2295525"/>
            <a:ext cx="4622800" cy="290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658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Si analizamos el juego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Banshee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(1994), un ejemplo de desafío recurrente es derribar a las naves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enemigas.</a:t>
            </a: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DESAFÍO RECURRENTE</a:t>
            </a:r>
          </a:p>
        </p:txBody>
      </p:sp>
      <p:pic>
        <p:nvPicPr>
          <p:cNvPr id="11" name="Picture 6" descr="Resultado de imagen para banshee game">
            <a:extLst>
              <a:ext uri="{FF2B5EF4-FFF2-40B4-BE49-F238E27FC236}">
                <a16:creationId xmlns:a16="http://schemas.microsoft.com/office/drawing/2014/main" id="{56B88DB5-D73B-45AA-A0A5-F7DD58F74F80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7" b="812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990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Si analizamos el juego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Banshee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(1994), un ejemplo de desafío continuo es evitar se golpeado por los enemigos y sus proyectiles.</a:t>
            </a:r>
          </a:p>
          <a:p>
            <a:pPr marL="11725">
              <a:buSzPct val="100000"/>
              <a:tabLst>
                <a:tab pos="121285" algn="l"/>
              </a:tabLst>
            </a:pP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DESAFÍO CONTINUO</a:t>
            </a:r>
          </a:p>
        </p:txBody>
      </p:sp>
      <p:pic>
        <p:nvPicPr>
          <p:cNvPr id="5124" name="Picture 4" descr="Resultado de imagen para banshee game amiga">
            <a:extLst>
              <a:ext uri="{FF2B5EF4-FFF2-40B4-BE49-F238E27FC236}">
                <a16:creationId xmlns:a16="http://schemas.microsoft.com/office/drawing/2014/main" id="{50E18E8D-65BB-4CF1-A599-B7FE316EE8B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1" b="3325"/>
          <a:stretch/>
        </p:blipFill>
        <p:spPr bwMode="auto">
          <a:xfrm>
            <a:off x="2260600" y="2295525"/>
            <a:ext cx="4622800" cy="290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797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419" sz="1600" spc="-10" dirty="0">
                <a:solidFill>
                  <a:srgbClr val="262626"/>
                </a:solidFill>
              </a:rPr>
              <a:t>Las reglas especifican qué acciones pueden tomar los jugadores para superar los desafíos.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419" sz="1600" spc="-10" dirty="0">
                <a:solidFill>
                  <a:srgbClr val="262626"/>
                </a:solidFill>
              </a:rPr>
              <a:t>Las reglas también definen acciones que están prohibidas.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419" sz="1600" spc="-10" dirty="0">
                <a:solidFill>
                  <a:srgbClr val="262626"/>
                </a:solidFill>
              </a:rPr>
              <a:t>La reglas definen </a:t>
            </a:r>
            <a:r>
              <a:rPr lang="es-419" sz="1600" spc="-10" dirty="0" smtClean="0">
                <a:solidFill>
                  <a:srgbClr val="262626"/>
                </a:solidFill>
              </a:rPr>
              <a:t>qué </a:t>
            </a:r>
            <a:r>
              <a:rPr lang="es-419" sz="1600" spc="-10" dirty="0">
                <a:solidFill>
                  <a:srgbClr val="262626"/>
                </a:solidFill>
              </a:rPr>
              <a:t>acciones son requeridas y bajo qué circunstancias.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419" sz="1600" spc="-10" dirty="0">
                <a:solidFill>
                  <a:srgbClr val="262626"/>
                </a:solidFill>
              </a:rPr>
              <a:t>Los juegos también permiten acciones opcionales que no son necesarias para superar un desafío pero que se suman al disfrute del jugador de otras maneras.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ACCIONES</a:t>
            </a:r>
          </a:p>
        </p:txBody>
      </p:sp>
      <p:pic>
        <p:nvPicPr>
          <p:cNvPr id="7174" name="Picture 6" descr="Resultado de imagen para bomberman r">
            <a:extLst>
              <a:ext uri="{FF2B5EF4-FFF2-40B4-BE49-F238E27FC236}">
                <a16:creationId xmlns:a16="http://schemas.microsoft.com/office/drawing/2014/main" id="{1EA1BE23-A12C-4326-AD48-5EA338829400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3" b="2893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5686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Acciones + desafíos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419" sz="1600" spc="-10" dirty="0">
                <a:solidFill>
                  <a:srgbClr val="262626"/>
                </a:solidFill>
              </a:rPr>
              <a:t>El gameplay consiste en desafíos que un jugador debe enfrentar para llegar al objetivo del juego y las acciones que el jugador puede tomar para enfrentar esos desafíos.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GAMEPLAY</a:t>
            </a:r>
          </a:p>
        </p:txBody>
      </p:sp>
      <p:pic>
        <p:nvPicPr>
          <p:cNvPr id="8196" name="Picture 4" descr="Resultado de imagen para overcooked">
            <a:extLst>
              <a:ext uri="{FF2B5EF4-FFF2-40B4-BE49-F238E27FC236}">
                <a16:creationId xmlns:a16="http://schemas.microsoft.com/office/drawing/2014/main" id="{D4BB6BE0-5A22-4B8F-9691-5E513C229266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3" r="28728"/>
          <a:stretch/>
        </p:blipFill>
        <p:spPr bwMode="auto">
          <a:xfrm>
            <a:off x="5045075" y="881063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905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41857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Iniciar con el </a:t>
            </a: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gameplay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es el punto de partida común para el desarrollo de un juego.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Pensar en el estilo de </a:t>
            </a: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gameplay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ayuda a tener una base sobre la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cual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apoyarnos antes de comenzar, especialmente si el </a:t>
            </a: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gameplay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es similar a uno existente.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“Es un juego de carreras”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“Es un simulador de vuelos”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“Es un juego de acción/aventura en 3D como Super Mario 64”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“Es un juego en primera persona como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Counter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Strike”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1725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GAMEPLAY</a:t>
            </a:r>
          </a:p>
        </p:txBody>
      </p:sp>
      <p:pic>
        <p:nvPicPr>
          <p:cNvPr id="9226" name="Picture 10" descr="Resultado de imagen para plants vs zombies">
            <a:extLst>
              <a:ext uri="{FF2B5EF4-FFF2-40B4-BE49-F238E27FC236}">
                <a16:creationId xmlns:a16="http://schemas.microsoft.com/office/drawing/2014/main" id="{08866AA7-500D-46BF-95FD-2A82A108B06D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65" r="946"/>
          <a:stretch/>
        </p:blipFill>
        <p:spPr bwMode="auto">
          <a:xfrm>
            <a:off x="5045075" y="881063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963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737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Mecánicas de juegos</a:t>
            </a: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419" sz="1600" spc="-10" dirty="0">
                <a:solidFill>
                  <a:srgbClr val="262626"/>
                </a:solidFill>
              </a:rPr>
              <a:t>Las mecánicas documentan cómo se comporta el mundo del juego y todo lo que hay en él.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419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419" sz="1600" spc="-10" dirty="0">
                <a:solidFill>
                  <a:srgbClr val="262626"/>
                </a:solidFill>
              </a:rPr>
              <a:t>Las mecánicas describen las reglas generales del juego, pero también el comportamiento de entidades particulares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419" sz="1600" spc="-10" dirty="0">
                <a:solidFill>
                  <a:srgbClr val="262626"/>
                </a:solidFill>
              </a:rPr>
              <a:t>Una mecánica que opera durante todo el juego se llama mecánica global.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¿QUÉ ES UNA MECÁNICA DE JUEGO?</a:t>
            </a:r>
          </a:p>
        </p:txBody>
      </p:sp>
      <p:pic>
        <p:nvPicPr>
          <p:cNvPr id="13" name="Marcador de posición de imagen 12" descr="Imagen que contiene edificio&#10;&#10;Descripción generada con confianza alta">
            <a:extLst>
              <a:ext uri="{FF2B5EF4-FFF2-40B4-BE49-F238E27FC236}">
                <a16:creationId xmlns:a16="http://schemas.microsoft.com/office/drawing/2014/main" id="{10F4E996-394A-4DC6-82EE-19D949DC301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>
            <a:fillRect/>
          </a:stretch>
        </p:blipFill>
        <p:spPr>
          <a:xfrm>
            <a:off x="2139077" y="2534457"/>
            <a:ext cx="4865846" cy="2631281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8591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 un elemento con el que los jugadores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INTERACTÚAN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para CREAR GAMEPLAY.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Describe lo que el jugador puede hacer en el juego y cómo se juega.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El conjunto de mecánicas definen al juego en sí.</a:t>
            </a:r>
            <a:r>
              <a:rPr lang="en-US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n-US" sz="1600" spc="-10" dirty="0">
                <a:solidFill>
                  <a:srgbClr val="262626"/>
                </a:solidFill>
                <a:cs typeface="Source Sans Pro"/>
              </a:rPr>
            </a:br>
            <a:endParaRPr lang="en-US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¿QUÉ ES UNA MECÁNICA DE JUEGO?</a:t>
            </a:r>
          </a:p>
        </p:txBody>
      </p:sp>
      <p:pic>
        <p:nvPicPr>
          <p:cNvPr id="5122" name="Picture 2" descr="Resultado de imagen para papers please">
            <a:extLst>
              <a:ext uri="{FF2B5EF4-FFF2-40B4-BE49-F238E27FC236}">
                <a16:creationId xmlns:a16="http://schemas.microsoft.com/office/drawing/2014/main" id="{9204A995-E7AB-494D-9311-5109CA509F8F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1" r="522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3277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El jugador debe entender claramente cómo funcionan las mecánicas en el juego o no entenderá cómo jugarlo.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Las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mecánicas,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en conjunto con el entorno y recursos, permiten el balance del juego.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¿QUÉ ES UNA MECÁNICA DE JUEGO?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61593224-2916-46B7-89C8-6313B97359A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tretch>
            <a:fillRect/>
          </a:stretch>
        </p:blipFill>
        <p:spPr>
          <a:xfrm>
            <a:off x="5705474" y="714375"/>
            <a:ext cx="2571750" cy="4286250"/>
          </a:xfrm>
        </p:spPr>
      </p:pic>
    </p:spTree>
    <p:extLst>
      <p:ext uri="{BB962C8B-B14F-4D97-AF65-F5344CB8AC3E}">
        <p14:creationId xmlns:p14="http://schemas.microsoft.com/office/powerpoint/2010/main" val="267581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70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 una mecánica que puede lastimar o eliminar al jugador pero que no posee inteligencia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artificial.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1725">
              <a:buSzPct val="100000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Ejemplos de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hazards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: 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Espinas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Plataformas electrificadas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Espadas guillotina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Lanzadores de fuego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Plataformas que se desprenden del techo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Sierras circulares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HAZARD</a:t>
            </a:r>
          </a:p>
        </p:txBody>
      </p:sp>
      <p:pic>
        <p:nvPicPr>
          <p:cNvPr id="6146" name="Picture 2" descr="Resultado de imagen para super meat boy">
            <a:extLst>
              <a:ext uri="{FF2B5EF4-FFF2-40B4-BE49-F238E27FC236}">
                <a16:creationId xmlns:a16="http://schemas.microsoft.com/office/drawing/2014/main" id="{98D47C1E-DD19-40D3-9A10-8C112C11C867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1" r="26341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 una mecánica que instantáneamente beneficia o agrega habilidades adicionales al jugador.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Ejemplos de </a:t>
            </a:r>
            <a:r>
              <a:rPr lang="es-PE" sz="1600" spc="-10" dirty="0" err="1">
                <a:solidFill>
                  <a:srgbClr val="262626"/>
                </a:solidFill>
                <a:cs typeface="Source Sans Pro"/>
              </a:rPr>
              <a:t>powerups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: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Vidas extra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Capacidad de disparar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Invulnerabilidad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Volar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POWERUP</a:t>
            </a:r>
          </a:p>
        </p:txBody>
      </p:sp>
      <p:pic>
        <p:nvPicPr>
          <p:cNvPr id="7172" name="Picture 4" descr="Resultado de imagen para mario bros powerup">
            <a:extLst>
              <a:ext uri="{FF2B5EF4-FFF2-40B4-BE49-F238E27FC236}">
                <a16:creationId xmlns:a16="http://schemas.microsoft.com/office/drawing/2014/main" id="{F39150F1-0A32-4F66-B4AF-AB4591B64B21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58" r="-4198"/>
          <a:stretch/>
        </p:blipFill>
        <p:spPr bwMode="auto">
          <a:xfrm>
            <a:off x="5045075" y="881063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607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939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Celeste (2018) – Matt </a:t>
            </a:r>
            <a:r>
              <a:rPr lang="es-PE" sz="1600" spc="-10" dirty="0" err="1">
                <a:solidFill>
                  <a:srgbClr val="262626"/>
                </a:solidFill>
              </a:rPr>
              <a:t>Makes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Games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https://youtu.be/iofYDsA2yqg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</a:rPr>
              <a:t>Mecánicas globales:  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Movimiento horizontal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Salto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Dash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Escalar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</a:rPr>
              <a:t>Mecánicas: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Bloques que al pisarlos se infectan al cabo de algunos segundos y hacen daño al jugador.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Gelatinas que pueden ser atravesadas con un </a:t>
            </a:r>
            <a:r>
              <a:rPr lang="es-PE" sz="1600" spc="-10" dirty="0" err="1">
                <a:solidFill>
                  <a:srgbClr val="262626"/>
                </a:solidFill>
              </a:rPr>
              <a:t>dash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 Bloques de plataformas que se desprenden y pueden a aplastar al jugador.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Gemas verdes que permiten al jugador realizar un </a:t>
            </a:r>
            <a:r>
              <a:rPr lang="es-PE" sz="1600" spc="-10" dirty="0" err="1">
                <a:solidFill>
                  <a:srgbClr val="262626"/>
                </a:solidFill>
              </a:rPr>
              <a:t>dash</a:t>
            </a:r>
            <a:r>
              <a:rPr lang="es-PE" sz="1600" spc="-10" dirty="0">
                <a:solidFill>
                  <a:srgbClr val="262626"/>
                </a:solidFill>
              </a:rPr>
              <a:t> adicional en el aire.</a:t>
            </a: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EJEMPLOS DE MECÁNICA</a:t>
            </a:r>
          </a:p>
        </p:txBody>
      </p:sp>
      <p:pic>
        <p:nvPicPr>
          <p:cNvPr id="3074" name="Picture 2" descr="Resultado de imagen para celeste game climb">
            <a:extLst>
              <a:ext uri="{FF2B5EF4-FFF2-40B4-BE49-F238E27FC236}">
                <a16:creationId xmlns:a16="http://schemas.microsoft.com/office/drawing/2014/main" id="{69DF2867-B6A9-4D6F-B4D7-18D089375A29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1" r="47830"/>
          <a:stretch/>
        </p:blipFill>
        <p:spPr bwMode="auto">
          <a:xfrm>
            <a:off x="5045075" y="881063"/>
            <a:ext cx="3624263" cy="43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60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693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Bomberman</a:t>
            </a:r>
            <a:r>
              <a:rPr lang="es-PE" sz="1600" spc="-10" dirty="0">
                <a:solidFill>
                  <a:srgbClr val="262626"/>
                </a:solidFill>
              </a:rPr>
              <a:t> 4 (1996) – Hudson </a:t>
            </a:r>
            <a:r>
              <a:rPr lang="es-PE" sz="1600" spc="-10" dirty="0" err="1">
                <a:solidFill>
                  <a:srgbClr val="262626"/>
                </a:solidFill>
              </a:rPr>
              <a:t>Soft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hlinkClick r:id="rId3"/>
              </a:rPr>
              <a:t>https://youtu.be/AmdIRvuyzUE?t=91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</a:rPr>
              <a:t>Mecánicas globales:  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Movimiento horizontal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Movimiento vertical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Dejar bombas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</a:rPr>
              <a:t>Mecánicas: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Powerup</a:t>
            </a:r>
            <a:r>
              <a:rPr lang="es-PE" sz="1600" spc="-10" dirty="0">
                <a:solidFill>
                  <a:srgbClr val="262626"/>
                </a:solidFill>
              </a:rPr>
              <a:t> que permite incrementar el alcance de la explosión de las bombas.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Cada nivel tiene una duración de 3 minutos.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Si el tiempo se agota antes de eliminar a todos los enemigos, se pierde la partida.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jugador tiene tres vidas.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En algunos niveles aparecen portales azules que habilitan zonas bonus del juego. </a:t>
            </a: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EJEMPLOS DE MECÁNICA</a:t>
            </a:r>
          </a:p>
        </p:txBody>
      </p:sp>
      <p:pic>
        <p:nvPicPr>
          <p:cNvPr id="4100" name="Picture 4" descr="Resultado de imagen para bomberman 4">
            <a:extLst>
              <a:ext uri="{FF2B5EF4-FFF2-40B4-BE49-F238E27FC236}">
                <a16:creationId xmlns:a16="http://schemas.microsoft.com/office/drawing/2014/main" id="{95C44C9F-E0DC-45F2-BE08-84B9A60B490B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98" r="1319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26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88068" y="881063"/>
            <a:ext cx="6871746" cy="428148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832904" y="917413"/>
            <a:ext cx="3402730" cy="40811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ANÁLISIS DE MECÁNICAS DE UN JUEGO</a:t>
            </a:r>
            <a:endParaRPr lang="es-PE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Formar equipos de 4 ó 5 integrantes.</a:t>
            </a: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Se realizará un pequeño sorteo para definir que juego corresponderá a cada grupo.</a:t>
            </a: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En un documento, redactar 10 mecánicas del juego que se le asigno. Destacar las mecánicas </a:t>
            </a:r>
            <a:r>
              <a:rPr lang="es-PE" sz="1600" dirty="0" err="1">
                <a:solidFill>
                  <a:srgbClr val="000000"/>
                </a:solidFill>
              </a:rPr>
              <a:t>core</a:t>
            </a:r>
            <a:r>
              <a:rPr lang="es-PE" sz="1600" dirty="0">
                <a:solidFill>
                  <a:srgbClr val="000000"/>
                </a:solidFill>
              </a:rPr>
              <a:t>. (Se puede utilizar un emulador online o videos de gameplay para obtener las mecánicas)</a:t>
            </a: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Exposición de 7 minutos como máximo de las mecánicas mas resaltantes.</a:t>
            </a:r>
          </a:p>
          <a:p>
            <a:pPr marL="285750" indent="-285750" defTabSz="731342">
              <a:lnSpc>
                <a:spcPct val="120000"/>
              </a:lnSpc>
              <a:buFont typeface="Arial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5477544" y="993537"/>
            <a:ext cx="3070939" cy="4017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ACTIVIDAD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823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10"/>
          <p:cNvSpPr/>
          <p:nvPr/>
        </p:nvSpPr>
        <p:spPr>
          <a:xfrm>
            <a:off x="2527711" y="770440"/>
            <a:ext cx="6132101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s-419" sz="1700" dirty="0">
                <a:solidFill>
                  <a:srgbClr val="FFFFFF"/>
                </a:solidFill>
                <a:latin typeface="+mj-lt"/>
              </a:rPr>
              <a:t>Definimos gameplay en función de dos conceptos, </a:t>
            </a:r>
            <a:r>
              <a:rPr lang="es-419" sz="1700" b="1" dirty="0">
                <a:solidFill>
                  <a:srgbClr val="FFFFFF"/>
                </a:solidFill>
                <a:latin typeface="+mj-lt"/>
              </a:rPr>
              <a:t>los desafíos </a:t>
            </a:r>
            <a:r>
              <a:rPr lang="es-419" sz="1700" dirty="0">
                <a:solidFill>
                  <a:srgbClr val="FFFFFF"/>
                </a:solidFill>
                <a:latin typeface="+mj-lt"/>
              </a:rPr>
              <a:t>que un jugador debe enfrentar para llegar al objetivo del juego y </a:t>
            </a:r>
            <a:r>
              <a:rPr lang="es-419" sz="1700" b="1" dirty="0">
                <a:solidFill>
                  <a:srgbClr val="FFFFFF"/>
                </a:solidFill>
                <a:latin typeface="+mj-lt"/>
              </a:rPr>
              <a:t>las acciones </a:t>
            </a:r>
            <a:r>
              <a:rPr lang="es-419" sz="1700" dirty="0">
                <a:solidFill>
                  <a:srgbClr val="FFFFFF"/>
                </a:solidFill>
                <a:latin typeface="+mj-lt"/>
              </a:rPr>
              <a:t>que el jugador puede tomar para enfrentar esos desafíos.</a:t>
            </a:r>
            <a:endParaRPr lang="es-PE" sz="1700" dirty="0">
              <a:solidFill>
                <a:srgbClr val="FFFFFF"/>
              </a:solidFill>
              <a:latin typeface="+mj-lt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419" sz="1700" dirty="0">
                <a:solidFill>
                  <a:srgbClr val="FFFFFF"/>
                </a:solidFill>
                <a:latin typeface="+mj-lt"/>
              </a:rPr>
              <a:t>La relación de las mecánicas y el gameplay radica en que las mecánicas de juego nos ayudan a crear gameplay.</a:t>
            </a:r>
            <a:endParaRPr lang="es-PE" sz="1700" dirty="0">
              <a:solidFill>
                <a:srgbClr val="FFFFFF"/>
              </a:solidFill>
              <a:latin typeface="+mj-lt"/>
            </a:endParaRPr>
          </a:p>
          <a:p>
            <a:pPr lvl="1"/>
            <a:endParaRPr lang="es-PE" sz="1700" dirty="0">
              <a:solidFill>
                <a:srgbClr val="FFFFFF"/>
              </a:solidFill>
              <a:latin typeface="Calibri"/>
              <a:ea typeface="Calibri" panose="020F0502020204030204" pitchFamily="34" charset="0"/>
              <a:cs typeface="Source Sans Pro" panose="020B0604020202020204" charset="0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/ CONCLUSIONES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398994" y="724844"/>
            <a:ext cx="7881937" cy="180164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lvl="0" indent="-174625">
              <a:spcBef>
                <a:spcPts val="0"/>
              </a:spcBef>
              <a:buSzPct val="100000"/>
            </a:pPr>
            <a:r>
              <a:rPr lang="en-US" sz="1500" dirty="0">
                <a:latin typeface="Calibri"/>
                <a:cs typeface="Calibri"/>
              </a:rPr>
              <a:t>Ernest Adams. (2010) Fundamentals of Game Design Second Edition.</a:t>
            </a:r>
            <a:endParaRPr lang="es-PE" sz="1500" dirty="0">
              <a:latin typeface="Calibri"/>
              <a:cs typeface="Calibri"/>
            </a:endParaRPr>
          </a:p>
          <a:p>
            <a:pPr marL="174625" lvl="0" indent="-174625">
              <a:spcBef>
                <a:spcPts val="0"/>
              </a:spcBef>
              <a:buSzPct val="100000"/>
            </a:pPr>
            <a:r>
              <a:rPr lang="es-419" sz="1500" dirty="0">
                <a:latin typeface="Calibri"/>
                <a:cs typeface="Calibri"/>
              </a:rPr>
              <a:t>Scott Rogers. (2014) </a:t>
            </a:r>
            <a:r>
              <a:rPr lang="es-419" sz="1500" dirty="0" err="1">
                <a:latin typeface="Calibri"/>
                <a:cs typeface="Calibri"/>
              </a:rPr>
              <a:t>Level</a:t>
            </a:r>
            <a:r>
              <a:rPr lang="es-419" sz="1500" dirty="0">
                <a:latin typeface="Calibri"/>
                <a:cs typeface="Calibri"/>
              </a:rPr>
              <a:t> UP! </a:t>
            </a:r>
            <a:r>
              <a:rPr lang="es-419" sz="1500" dirty="0" err="1">
                <a:latin typeface="Calibri"/>
                <a:cs typeface="Calibri"/>
              </a:rPr>
              <a:t>Second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Edition</a:t>
            </a:r>
            <a:r>
              <a:rPr lang="es-419" sz="1500" dirty="0">
                <a:latin typeface="Calibri"/>
                <a:cs typeface="Calibri"/>
              </a:rPr>
              <a:t>. </a:t>
            </a:r>
            <a:endParaRPr lang="es-PE" sz="1500" dirty="0">
              <a:latin typeface="Calibri"/>
              <a:cs typeface="Calibri"/>
            </a:endParaRPr>
          </a:p>
          <a:p>
            <a:pPr marL="174625" lvl="0" indent="-174625">
              <a:spcBef>
                <a:spcPts val="0"/>
              </a:spcBef>
              <a:buSzPct val="100000"/>
            </a:pPr>
            <a:r>
              <a:rPr lang="es-419" sz="1500" dirty="0">
                <a:latin typeface="Calibri"/>
                <a:cs typeface="Calibri"/>
              </a:rPr>
              <a:t>Richard </a:t>
            </a:r>
            <a:r>
              <a:rPr lang="es-419" sz="1500" dirty="0" err="1">
                <a:latin typeface="Calibri"/>
                <a:cs typeface="Calibri"/>
              </a:rPr>
              <a:t>Rouse</a:t>
            </a:r>
            <a:r>
              <a:rPr lang="es-419" sz="1500" dirty="0">
                <a:latin typeface="Calibri"/>
                <a:cs typeface="Calibri"/>
              </a:rPr>
              <a:t> III. (2005) </a:t>
            </a:r>
            <a:r>
              <a:rPr lang="es-419" sz="1500" dirty="0" err="1">
                <a:latin typeface="Calibri"/>
                <a:cs typeface="Calibri"/>
              </a:rPr>
              <a:t>Game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Design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Theory</a:t>
            </a:r>
            <a:r>
              <a:rPr lang="es-419" sz="1500" dirty="0">
                <a:latin typeface="Calibri"/>
                <a:cs typeface="Calibri"/>
              </a:rPr>
              <a:t> and </a:t>
            </a:r>
            <a:r>
              <a:rPr lang="es-419" sz="1500" dirty="0" err="1">
                <a:latin typeface="Calibri"/>
                <a:cs typeface="Calibri"/>
              </a:rPr>
              <a:t>Practice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Second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Edition</a:t>
            </a:r>
            <a:r>
              <a:rPr lang="es-419" sz="1500" dirty="0">
                <a:latin typeface="Calibri"/>
                <a:cs typeface="Calibri"/>
              </a:rPr>
              <a:t>.</a:t>
            </a:r>
            <a:endParaRPr lang="es-PE" sz="1500" dirty="0">
              <a:latin typeface="Calibri"/>
              <a:cs typeface="Calibri"/>
            </a:endParaRPr>
          </a:p>
          <a:p>
            <a:pPr marL="174625" lvl="0" indent="-174625">
              <a:spcBef>
                <a:spcPts val="0"/>
              </a:spcBef>
              <a:buSzPct val="100000"/>
            </a:pPr>
            <a:r>
              <a:rPr lang="es-419" sz="1500" dirty="0" err="1">
                <a:latin typeface="Calibri"/>
                <a:cs typeface="Calibri"/>
              </a:rPr>
              <a:t>Raph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Koster</a:t>
            </a:r>
            <a:r>
              <a:rPr lang="es-419" sz="1500" dirty="0">
                <a:latin typeface="Calibri"/>
                <a:cs typeface="Calibri"/>
              </a:rPr>
              <a:t>. (2014) A </a:t>
            </a:r>
            <a:r>
              <a:rPr lang="es-419" sz="1500" dirty="0" err="1">
                <a:latin typeface="Calibri"/>
                <a:cs typeface="Calibri"/>
              </a:rPr>
              <a:t>theory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of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Fun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for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Game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Design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Second</a:t>
            </a:r>
            <a:r>
              <a:rPr lang="es-419" sz="1500" dirty="0">
                <a:latin typeface="Calibri"/>
                <a:cs typeface="Calibri"/>
              </a:rPr>
              <a:t> </a:t>
            </a:r>
            <a:r>
              <a:rPr lang="es-419" sz="1500" dirty="0" err="1">
                <a:latin typeface="Calibri"/>
                <a:cs typeface="Calibri"/>
              </a:rPr>
              <a:t>Edition</a:t>
            </a:r>
            <a:r>
              <a:rPr lang="es-419" sz="1500" dirty="0">
                <a:latin typeface="Calibri"/>
                <a:cs typeface="Calibri"/>
              </a:rPr>
              <a:t>.</a:t>
            </a:r>
            <a:endParaRPr lang="es-PE" sz="1500" dirty="0">
              <a:latin typeface="Calibri"/>
              <a:cs typeface="Calibri"/>
            </a:endParaRPr>
          </a:p>
          <a:p>
            <a:pPr marL="174625" indent="-174625">
              <a:spcBef>
                <a:spcPts val="0"/>
              </a:spcBef>
              <a:buSzPct val="100000"/>
            </a:pPr>
            <a:endParaRPr lang="es" sz="1500" dirty="0">
              <a:latin typeface="Calibri"/>
              <a:cs typeface="Calibri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54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3745</TotalTime>
  <Words>1117</Words>
  <Application>Microsoft Office PowerPoint</Application>
  <PresentationFormat>Presentación en pantalla (16:10)</PresentationFormat>
  <Paragraphs>157</Paragraphs>
  <Slides>21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Diego Santamaria Saldaña</cp:lastModifiedBy>
  <cp:revision>361</cp:revision>
  <cp:lastPrinted>2018-01-16T21:42:59Z</cp:lastPrinted>
  <dcterms:created xsi:type="dcterms:W3CDTF">2016-10-06T14:52:02Z</dcterms:created>
  <dcterms:modified xsi:type="dcterms:W3CDTF">2020-11-03T17:20:15Z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