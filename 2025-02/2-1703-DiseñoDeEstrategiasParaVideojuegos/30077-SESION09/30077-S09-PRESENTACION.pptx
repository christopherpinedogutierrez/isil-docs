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notesSlides/notesSlide10.xml" ContentType="application/vnd.openxmlformats-officedocument.presentationml.notesSlide+xml"/>
  <Override PartName="/ppt/tags/tag19.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0.xml" ContentType="application/vnd.openxmlformats-officedocument.presentationml.tags+xml"/>
  <Override PartName="/ppt/notesSlides/notesSlide15.xml" ContentType="application/vnd.openxmlformats-officedocument.presentationml.notesSlide+xml"/>
  <Override PartName="/ppt/tags/tag2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9.xml" ContentType="application/vnd.openxmlformats-officedocument.presentationml.notesSlide+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handoutMasterIdLst>
    <p:handoutMasterId r:id="rId34"/>
  </p:handoutMasterIdLst>
  <p:sldIdLst>
    <p:sldId id="256" r:id="rId2"/>
    <p:sldId id="306" r:id="rId3"/>
    <p:sldId id="315" r:id="rId4"/>
    <p:sldId id="343" r:id="rId5"/>
    <p:sldId id="309" r:id="rId6"/>
    <p:sldId id="316" r:id="rId7"/>
    <p:sldId id="325" r:id="rId8"/>
    <p:sldId id="345" r:id="rId9"/>
    <p:sldId id="346" r:id="rId10"/>
    <p:sldId id="347" r:id="rId11"/>
    <p:sldId id="326" r:id="rId12"/>
    <p:sldId id="321" r:id="rId13"/>
    <p:sldId id="327" r:id="rId14"/>
    <p:sldId id="323" r:id="rId15"/>
    <p:sldId id="328" r:id="rId16"/>
    <p:sldId id="329" r:id="rId17"/>
    <p:sldId id="330" r:id="rId18"/>
    <p:sldId id="331" r:id="rId19"/>
    <p:sldId id="332" r:id="rId20"/>
    <p:sldId id="333" r:id="rId21"/>
    <p:sldId id="334" r:id="rId22"/>
    <p:sldId id="335" r:id="rId23"/>
    <p:sldId id="336" r:id="rId24"/>
    <p:sldId id="337" r:id="rId25"/>
    <p:sldId id="338" r:id="rId26"/>
    <p:sldId id="340" r:id="rId27"/>
    <p:sldId id="341" r:id="rId28"/>
    <p:sldId id="342" r:id="rId29"/>
    <p:sldId id="304" r:id="rId30"/>
    <p:sldId id="303" r:id="rId31"/>
    <p:sldId id="305" r:id="rId32"/>
  </p:sldIdLst>
  <p:sldSz cx="9144000" cy="5715000" type="screen16x10"/>
  <p:notesSz cx="6858000" cy="9144000"/>
  <p:custDataLst>
    <p:tags r:id="rId3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
          <p15:clr>
            <a:srgbClr val="A4A3A4"/>
          </p15:clr>
        </p15:guide>
        <p15:guide id="2" pos="5455">
          <p15:clr>
            <a:srgbClr val="A4A3A4"/>
          </p15:clr>
        </p15:guide>
        <p15:guide id="3" orient="horz" pos="3274" userDrawn="1">
          <p15:clr>
            <a:srgbClr val="A4A3A4"/>
          </p15:clr>
        </p15:guide>
        <p15:guide id="4" orient="horz" pos="689" userDrawn="1">
          <p15:clr>
            <a:srgbClr val="A4A3A4"/>
          </p15:clr>
        </p15:guide>
        <p15:guide id="5" pos="476" userDrawn="1">
          <p15:clr>
            <a:srgbClr val="A4A3A4"/>
          </p15:clr>
        </p15:guide>
        <p15:guide id="6" pos="493">
          <p15:clr>
            <a:srgbClr val="A4A3A4"/>
          </p15:clr>
        </p15:guide>
        <p15:guide id="7" orient="horz" pos="387">
          <p15:clr>
            <a:srgbClr val="A4A3A4"/>
          </p15:clr>
        </p15:guide>
        <p15:guide id="8" orient="horz" pos="542">
          <p15:clr>
            <a:srgbClr val="A4A3A4"/>
          </p15:clr>
        </p15:guide>
        <p15:guide id="9" orient="horz" pos="259">
          <p15:clr>
            <a:srgbClr val="A4A3A4"/>
          </p15:clr>
        </p15:guide>
        <p15:guide id="10" orient="horz" pos="3269">
          <p15:clr>
            <a:srgbClr val="A4A3A4"/>
          </p15:clr>
        </p15:guide>
        <p15:guide id="11" pos="5461">
          <p15:clr>
            <a:srgbClr val="A4A3A4"/>
          </p15:clr>
        </p15:guide>
        <p15:guide id="12" pos="30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va Zoraida Hamada Doshi" initials="EZHD" lastIdx="1" clrIdx="0">
    <p:extLst>
      <p:ext uri="{19B8F6BF-5375-455C-9EA6-DF929625EA0E}">
        <p15:presenceInfo xmlns:p15="http://schemas.microsoft.com/office/powerpoint/2012/main" userId="Elva Zoraida Hamada Doshi" providerId="None"/>
      </p:ext>
    </p:extLst>
  </p:cmAuthor>
  <p:cmAuthor id="2" name="Rosa Maria Muñoz Mendo" initials="RMMM" lastIdx="2" clrIdx="1">
    <p:extLst>
      <p:ext uri="{19B8F6BF-5375-455C-9EA6-DF929625EA0E}">
        <p15:presenceInfo xmlns:p15="http://schemas.microsoft.com/office/powerpoint/2012/main" userId="Rosa Maria Muñoz Mend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D5EF"/>
    <a:srgbClr val="558ED5"/>
    <a:srgbClr val="FFFFFF"/>
    <a:srgbClr val="C00000"/>
    <a:srgbClr val="A6A6A6"/>
    <a:srgbClr val="F2F2F2"/>
    <a:srgbClr val="7F7F7F"/>
    <a:srgbClr val="FFFFFE"/>
    <a:srgbClr val="00B4B0"/>
    <a:srgbClr val="215B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9267" autoAdjust="0"/>
    <p:restoredTop sz="75995" autoAdjust="0"/>
  </p:normalViewPr>
  <p:slideViewPr>
    <p:cSldViewPr snapToGrid="0" snapToObjects="1" showGuides="1">
      <p:cViewPr varScale="1">
        <p:scale>
          <a:sx n="109" d="100"/>
          <a:sy n="109" d="100"/>
        </p:scale>
        <p:origin x="1170" y="108"/>
      </p:cViewPr>
      <p:guideLst>
        <p:guide orient="horz" pos="217"/>
        <p:guide pos="5455"/>
        <p:guide orient="horz" pos="3274"/>
        <p:guide orient="horz" pos="689"/>
        <p:guide pos="476"/>
        <p:guide pos="493"/>
        <p:guide orient="horz" pos="387"/>
        <p:guide orient="horz" pos="542"/>
        <p:guide orient="horz" pos="259"/>
        <p:guide orient="horz" pos="3269"/>
        <p:guide pos="5461"/>
        <p:guide pos="308"/>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03/11/2020</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3/11/2020</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3510070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 El primer juego </a:t>
            </a:r>
            <a:r>
              <a:rPr lang="es-PE" dirty="0" err="1"/>
              <a:t>Hotline</a:t>
            </a:r>
            <a:r>
              <a:rPr lang="es-PE" dirty="0"/>
              <a:t> Miami, fue desarrollado por DENNATON utilizando </a:t>
            </a:r>
            <a:r>
              <a:rPr lang="es-PE" dirty="0" err="1"/>
              <a:t>Gamemaker</a:t>
            </a:r>
            <a:r>
              <a:rPr lang="es-PE" dirty="0"/>
              <a:t> y es un top-</a:t>
            </a:r>
            <a:r>
              <a:rPr lang="es-PE" dirty="0" err="1"/>
              <a:t>down</a:t>
            </a:r>
            <a:r>
              <a:rPr lang="es-PE" dirty="0"/>
              <a:t> </a:t>
            </a:r>
            <a:r>
              <a:rPr lang="es-PE" dirty="0" err="1"/>
              <a:t>shooter</a:t>
            </a:r>
            <a:r>
              <a:rPr lang="es-PE" dirty="0"/>
              <a:t> que fue muy premiado (Revisar su página web: http://hotlinemiami.com/) y apareció en muchas revistas importantes del medio.</a:t>
            </a:r>
          </a:p>
          <a:p>
            <a:r>
              <a:rPr lang="es-PE" dirty="0"/>
              <a:t> - </a:t>
            </a:r>
            <a:r>
              <a:rPr lang="es-PE" dirty="0" err="1"/>
              <a:t>Enter</a:t>
            </a:r>
            <a:r>
              <a:rPr lang="es-PE" dirty="0"/>
              <a:t> </a:t>
            </a:r>
            <a:r>
              <a:rPr lang="es-PE" dirty="0" err="1"/>
              <a:t>the</a:t>
            </a:r>
            <a:r>
              <a:rPr lang="es-PE" dirty="0"/>
              <a:t> </a:t>
            </a:r>
            <a:r>
              <a:rPr lang="es-PE" dirty="0" err="1"/>
              <a:t>Gungeon</a:t>
            </a:r>
            <a:r>
              <a:rPr lang="es-PE" dirty="0"/>
              <a:t>, fue desarrollado por </a:t>
            </a:r>
            <a:r>
              <a:rPr lang="es-PE" dirty="0" err="1"/>
              <a:t>DodgeRollGames</a:t>
            </a:r>
            <a:r>
              <a:rPr lang="es-PE" dirty="0"/>
              <a:t> y publicado por </a:t>
            </a:r>
            <a:r>
              <a:rPr lang="es-PE" dirty="0" err="1"/>
              <a:t>DevolverDigital</a:t>
            </a:r>
            <a:r>
              <a:rPr lang="es-PE" dirty="0"/>
              <a:t>, es un juego realizado con Unity, y su </a:t>
            </a:r>
            <a:r>
              <a:rPr lang="es-PE" dirty="0" err="1"/>
              <a:t>lock</a:t>
            </a:r>
            <a:r>
              <a:rPr lang="es-PE" dirty="0"/>
              <a:t> and </a:t>
            </a:r>
            <a:r>
              <a:rPr lang="es-PE" dirty="0" err="1"/>
              <a:t>feel</a:t>
            </a:r>
            <a:r>
              <a:rPr lang="es-PE" dirty="0"/>
              <a:t> retro y excelente dirección artística </a:t>
            </a:r>
            <a:r>
              <a:rPr lang="es-PE" dirty="0" err="1"/>
              <a:t>cón</a:t>
            </a:r>
            <a:r>
              <a:rPr lang="es-PE" dirty="0"/>
              <a:t> pixel art lo convierten en un gran referente de los juegos top-</a:t>
            </a:r>
            <a:r>
              <a:rPr lang="es-PE" dirty="0" err="1"/>
              <a:t>down</a:t>
            </a:r>
            <a:r>
              <a:rPr lang="es-PE" dirty="0"/>
              <a:t> </a:t>
            </a:r>
            <a:r>
              <a:rPr lang="es-PE" dirty="0" err="1"/>
              <a:t>shooter</a:t>
            </a:r>
            <a:r>
              <a:rPr lang="es-PE"/>
              <a:t> contemporáneos.</a:t>
            </a:r>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819882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295037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82304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188258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3307787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595743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686350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894527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5656616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1392667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40442615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936331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990109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3922104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113445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Rectángulo 3"/>
          <p:cNvSpPr/>
          <p:nvPr userDrawn="1"/>
        </p:nvSpPr>
        <p:spPr>
          <a:xfrm>
            <a:off x="312777" y="5260073"/>
            <a:ext cx="8568205" cy="31276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custDataLst>
      <p:tags r:id="rId1"/>
    </p:custDataLst>
    <p:extLst>
      <p:ext uri="{BB962C8B-B14F-4D97-AF65-F5344CB8AC3E}">
        <p14:creationId xmlns:p14="http://schemas.microsoft.com/office/powerpoint/2010/main" val="3124882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
        <p:nvSpPr>
          <p:cNvPr id="18" name="Marcador de posición de imagen 17"/>
          <p:cNvSpPr>
            <a:spLocks noGrp="1"/>
          </p:cNvSpPr>
          <p:nvPr>
            <p:ph type="pic" sz="quarter" idx="11"/>
          </p:nvPr>
        </p:nvSpPr>
        <p:spPr>
          <a:xfrm>
            <a:off x="5045075" y="881063"/>
            <a:ext cx="3624263" cy="4308475"/>
          </a:xfrm>
          <a:prstGeom prst="rect">
            <a:avLst/>
          </a:prstGeom>
        </p:spPr>
        <p:txBody>
          <a:bodyPr vert="horz"/>
          <a:lstStyle/>
          <a:p>
            <a:endParaRPr lang="es-ES"/>
          </a:p>
        </p:txBody>
      </p:sp>
    </p:spTree>
    <p:extLst>
      <p:ext uri="{BB962C8B-B14F-4D97-AF65-F5344CB8AC3E}">
        <p14:creationId xmlns:p14="http://schemas.microsoft.com/office/powerpoint/2010/main" val="611824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
        <p:nvSpPr>
          <p:cNvPr id="7" name="Marcador de posición de imagen 6"/>
          <p:cNvSpPr>
            <a:spLocks noGrp="1"/>
          </p:cNvSpPr>
          <p:nvPr>
            <p:ph type="pic" sz="quarter" idx="10"/>
          </p:nvPr>
        </p:nvSpPr>
        <p:spPr>
          <a:xfrm>
            <a:off x="488950" y="881063"/>
            <a:ext cx="3682835" cy="4308474"/>
          </a:xfrm>
          <a:prstGeom prst="rect">
            <a:avLst/>
          </a:prstGeom>
        </p:spPr>
        <p:txBody>
          <a:bodyPr vert="horz"/>
          <a:lstStyle/>
          <a:p>
            <a:endParaRPr lang="es-ES"/>
          </a:p>
        </p:txBody>
      </p:sp>
    </p:spTree>
    <p:extLst>
      <p:ext uri="{BB962C8B-B14F-4D97-AF65-F5344CB8AC3E}">
        <p14:creationId xmlns:p14="http://schemas.microsoft.com/office/powerpoint/2010/main" val="263222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9" name="Marcador de posición de imagen 8"/>
          <p:cNvSpPr>
            <a:spLocks noGrp="1"/>
          </p:cNvSpPr>
          <p:nvPr>
            <p:ph type="pic" sz="quarter" idx="10"/>
          </p:nvPr>
        </p:nvSpPr>
        <p:spPr>
          <a:xfrm>
            <a:off x="2260600" y="2295525"/>
            <a:ext cx="4622800" cy="2903538"/>
          </a:xfrm>
          <a:prstGeom prst="rect">
            <a:avLst/>
          </a:prstGeom>
        </p:spPr>
        <p:txBody>
          <a:bodyPr vert="horz"/>
          <a:lstStyle/>
          <a:p>
            <a:endParaRPr lang="es-ES"/>
          </a:p>
        </p:txBody>
      </p:sp>
    </p:spTree>
    <p:extLst>
      <p:ext uri="{BB962C8B-B14F-4D97-AF65-F5344CB8AC3E}">
        <p14:creationId xmlns:p14="http://schemas.microsoft.com/office/powerpoint/2010/main" val="1935508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
        <p:nvSpPr>
          <p:cNvPr id="8" name="Marcador de posición de imagen 7"/>
          <p:cNvSpPr>
            <a:spLocks noGrp="1"/>
          </p:cNvSpPr>
          <p:nvPr>
            <p:ph type="pic" sz="quarter" idx="11"/>
          </p:nvPr>
        </p:nvSpPr>
        <p:spPr>
          <a:xfrm>
            <a:off x="4662488" y="1528763"/>
            <a:ext cx="4006850" cy="3660775"/>
          </a:xfrm>
          <a:prstGeom prst="rect">
            <a:avLst/>
          </a:prstGeom>
        </p:spPr>
        <p:txBody>
          <a:bodyPr vert="horz"/>
          <a:lstStyle/>
          <a:p>
            <a:endParaRPr lang="es-ES" dirty="0"/>
          </a:p>
        </p:txBody>
      </p:sp>
      <p:sp>
        <p:nvSpPr>
          <p:cNvPr id="6" name="Marcador de imágenes prediseñadas 5"/>
          <p:cNvSpPr>
            <a:spLocks noGrp="1"/>
          </p:cNvSpPr>
          <p:nvPr>
            <p:ph type="clipArt" sz="quarter" idx="10"/>
          </p:nvPr>
        </p:nvSpPr>
        <p:spPr>
          <a:xfrm>
            <a:off x="503238" y="1528763"/>
            <a:ext cx="4013235" cy="3660775"/>
          </a:xfrm>
          <a:prstGeom prst="rect">
            <a:avLst/>
          </a:prstGeom>
        </p:spPr>
        <p:txBody>
          <a:bodyPr vert="horz"/>
          <a:lstStyle/>
          <a:p>
            <a:endParaRPr lang="es-ES" dirty="0"/>
          </a:p>
        </p:txBody>
      </p:sp>
    </p:spTree>
    <p:extLst>
      <p:ext uri="{BB962C8B-B14F-4D97-AF65-F5344CB8AC3E}">
        <p14:creationId xmlns:p14="http://schemas.microsoft.com/office/powerpoint/2010/main" val="964691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
        <p:nvSpPr>
          <p:cNvPr id="5" name="Marcador de posición de imagen 4"/>
          <p:cNvSpPr>
            <a:spLocks noGrp="1"/>
          </p:cNvSpPr>
          <p:nvPr>
            <p:ph type="pic" sz="quarter" idx="10"/>
          </p:nvPr>
        </p:nvSpPr>
        <p:spPr>
          <a:xfrm>
            <a:off x="488950" y="860424"/>
            <a:ext cx="8180387" cy="4329113"/>
          </a:xfrm>
          <a:prstGeom prst="rect">
            <a:avLst/>
          </a:prstGeom>
        </p:spPr>
        <p:txBody>
          <a:bodyPr vert="horz"/>
          <a:lstStyle/>
          <a:p>
            <a:endParaRPr lang="es-ES"/>
          </a:p>
        </p:txBody>
      </p:sp>
    </p:spTree>
    <p:extLst>
      <p:ext uri="{BB962C8B-B14F-4D97-AF65-F5344CB8AC3E}">
        <p14:creationId xmlns:p14="http://schemas.microsoft.com/office/powerpoint/2010/main" val="4226956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
        <p:nvSpPr>
          <p:cNvPr id="5" name="Marcador de posición de imagen 4"/>
          <p:cNvSpPr>
            <a:spLocks noGrp="1"/>
          </p:cNvSpPr>
          <p:nvPr>
            <p:ph type="pic" sz="quarter" idx="10"/>
          </p:nvPr>
        </p:nvSpPr>
        <p:spPr>
          <a:xfrm>
            <a:off x="2184400" y="1360488"/>
            <a:ext cx="4775200" cy="2686050"/>
          </a:xfrm>
          <a:prstGeom prst="rect">
            <a:avLst/>
          </a:prstGeom>
        </p:spPr>
        <p:txBody>
          <a:bodyPr vert="horz"/>
          <a:lstStyle/>
          <a:p>
            <a:endParaRPr lang="es-ES"/>
          </a:p>
        </p:txBody>
      </p:sp>
    </p:spTree>
    <p:extLst>
      <p:ext uri="{BB962C8B-B14F-4D97-AF65-F5344CB8AC3E}">
        <p14:creationId xmlns:p14="http://schemas.microsoft.com/office/powerpoint/2010/main" val="1735261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638864" cy="215444"/>
            </a:xfrm>
            <a:prstGeom prst="rect">
              <a:avLst/>
            </a:prstGeom>
            <a:noFill/>
          </p:spPr>
          <p:txBody>
            <a:bodyPr wrap="none" rtlCol="0">
              <a:spAutoFit/>
            </a:bodyPr>
            <a:lstStyle/>
            <a:p>
              <a:r>
                <a:rPr lang="en-US" sz="800" kern="1200" dirty="0" smtClean="0">
                  <a:solidFill>
                    <a:schemeClr val="bg1">
                      <a:lumMod val="50000"/>
                    </a:schemeClr>
                  </a:solidFill>
                  <a:latin typeface="Calibri"/>
                  <a:ea typeface="+mn-ea"/>
                  <a:cs typeface="Calibri"/>
                  <a:sym typeface="Wingdings"/>
                </a:rPr>
                <a:t>DISEÑO</a:t>
              </a:r>
              <a:r>
                <a:rPr lang="en-US" sz="800" kern="1200" baseline="0" dirty="0" smtClean="0">
                  <a:solidFill>
                    <a:schemeClr val="bg1">
                      <a:lumMod val="50000"/>
                    </a:schemeClr>
                  </a:solidFill>
                  <a:latin typeface="Calibri"/>
                  <a:ea typeface="+mn-ea"/>
                  <a:cs typeface="Calibri"/>
                  <a:sym typeface="Wingdings"/>
                </a:rPr>
                <a:t> DE ESTRATEGIAS  PARA VIDEOJUEGOS</a:t>
              </a:r>
              <a:r>
                <a:rPr lang="en-US" sz="800" kern="1200" dirty="0" smtClean="0">
                  <a:solidFill>
                    <a:schemeClr val="bg1">
                      <a:lumMod val="50000"/>
                    </a:schemeClr>
                  </a:solidFill>
                  <a:latin typeface="Calibri"/>
                  <a:ea typeface="+mn-ea"/>
                  <a:cs typeface="Calibri"/>
                  <a:sym typeface="Wingdings"/>
                </a:rPr>
                <a:t>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a:t>
              </a:r>
              <a:r>
                <a:rPr lang="en-US" sz="800" kern="1200" dirty="0" smtClean="0">
                  <a:solidFill>
                    <a:schemeClr val="bg1">
                      <a:lumMod val="50000"/>
                    </a:schemeClr>
                  </a:solidFill>
                  <a:latin typeface="Calibri"/>
                  <a:ea typeface="+mn-ea"/>
                  <a:cs typeface="Calibri"/>
                  <a:sym typeface="Wingdings"/>
                </a:rPr>
                <a:t>09</a:t>
              </a:r>
              <a:endParaRPr lang="en-US" sz="800" dirty="0">
                <a:solidFill>
                  <a:schemeClr val="bg1">
                    <a:lumMod val="50000"/>
                  </a:schemeClr>
                </a:solidFill>
                <a:latin typeface="Calibri"/>
                <a:cs typeface="Calibri"/>
              </a:endParaRPr>
            </a:p>
          </p:txBody>
        </p:sp>
        <p:sp>
          <p:nvSpPr>
            <p:cNvPr id="18" name="Rectangle 3"/>
            <p:cNvSpPr/>
            <p:nvPr userDrawn="1"/>
          </p:nvSpPr>
          <p:spPr>
            <a:xfrm>
              <a:off x="7379148" y="5384440"/>
              <a:ext cx="1369286" cy="184666"/>
            </a:xfrm>
            <a:prstGeom prst="rect">
              <a:avLst/>
            </a:prstGeom>
          </p:spPr>
          <p:txBody>
            <a:bodyPr wrap="none">
              <a:spAutoFit/>
            </a:bodyPr>
            <a:lstStyle/>
            <a:p>
              <a:pPr algn="r"/>
              <a:r>
                <a:rPr lang="es-ES_tradnl" sz="600" dirty="0">
                  <a:solidFill>
                    <a:schemeClr val="bg1">
                      <a:lumMod val="50000"/>
                    </a:schemeClr>
                  </a:solidFill>
                </a:rPr>
                <a:t>© </a:t>
              </a:r>
              <a:r>
                <a:rPr lang="es-ES_tradnl" sz="600" dirty="0" smtClean="0">
                  <a:solidFill>
                    <a:schemeClr val="bg1">
                      <a:lumMod val="50000"/>
                    </a:schemeClr>
                  </a:solidFill>
                </a:rPr>
                <a:t>ISIL</a:t>
              </a:r>
              <a:r>
                <a:rPr lang="es-ES_tradnl" sz="600" dirty="0">
                  <a:solidFill>
                    <a:schemeClr val="bg1">
                      <a:lumMod val="50000"/>
                    </a:schemeClr>
                  </a:solidFill>
                </a:rPr>
                <a:t>.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60" r:id="rId5"/>
    <p:sldLayoutId id="2147483657" r:id="rId6"/>
    <p:sldLayoutId id="2147483658" r:id="rId7"/>
    <p:sldLayoutId id="2147483661" r:id="rId8"/>
    <p:sldLayoutId id="2147483659"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13.xml"/><Relationship Id="rId6" Type="http://schemas.openxmlformats.org/officeDocument/2006/relationships/image" Target="../media/image7.jpeg"/><Relationship Id="rId5" Type="http://schemas.openxmlformats.org/officeDocument/2006/relationships/hyperlink" Target="https://youtu.be/hXx-ZY60fN4" TargetMode="External"/><Relationship Id="rId4" Type="http://schemas.openxmlformats.org/officeDocument/2006/relationships/hyperlink" Target="https://youtu.be/nZjoTVpT5UQ"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15.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1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17.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19.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tags" Target="../tags/tag21.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3" Type="http://schemas.openxmlformats.org/officeDocument/2006/relationships/hyperlink" Target="https://www.scirra.com/manual/1/construct-2" TargetMode="External"/><Relationship Id="rId2" Type="http://schemas.openxmlformats.org/officeDocument/2006/relationships/slideLayout" Target="../slideLayouts/slideLayout2.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503238" y="1207530"/>
            <a:ext cx="8049072" cy="3425553"/>
          </a:xfrm>
          <a:prstGeom prst="rect">
            <a:avLst/>
          </a:prstGeom>
        </p:spPr>
        <p:txBody>
          <a:bodyPr wrap="square">
            <a:spAutoFit/>
          </a:bodyPr>
          <a:lstStyle/>
          <a:p>
            <a:pPr algn="ctr"/>
            <a:r>
              <a:rPr lang="en-US" sz="2800" dirty="0">
                <a:solidFill>
                  <a:schemeClr val="bg1"/>
                </a:solidFill>
                <a:latin typeface="Calibri"/>
                <a:cs typeface="Calibri"/>
              </a:rPr>
              <a:t>SESIÓN /</a:t>
            </a:r>
            <a:r>
              <a:rPr lang="en-US" sz="2800" b="1" dirty="0">
                <a:solidFill>
                  <a:schemeClr val="bg1"/>
                </a:solidFill>
                <a:latin typeface="Calibri"/>
                <a:cs typeface="Calibri"/>
              </a:rPr>
              <a:t>9</a:t>
            </a:r>
          </a:p>
          <a:p>
            <a:pPr algn="ctr">
              <a:lnSpc>
                <a:spcPct val="90000"/>
              </a:lnSpc>
              <a:defRPr/>
            </a:pPr>
            <a:r>
              <a:rPr lang="es-PE" sz="3000" b="1" dirty="0">
                <a:solidFill>
                  <a:schemeClr val="bg1"/>
                </a:solidFill>
                <a:latin typeface="Calibri"/>
                <a:cs typeface="Calibri"/>
              </a:rPr>
              <a:t>INTRODUCCIÓN A CONSTRUCT 2</a:t>
            </a:r>
          </a:p>
          <a:p>
            <a:pPr>
              <a:lnSpc>
                <a:spcPct val="90000"/>
              </a:lnSpc>
              <a:spcBef>
                <a:spcPts val="1000"/>
              </a:spcBef>
              <a:defRPr/>
            </a:pPr>
            <a:endParaRPr lang="en-US" b="1" dirty="0">
              <a:solidFill>
                <a:srgbClr val="000000"/>
              </a:solidFill>
              <a:latin typeface="Calibri"/>
              <a:cs typeface="Calibri"/>
            </a:endParaRPr>
          </a:p>
          <a:p>
            <a:pPr>
              <a:lnSpc>
                <a:spcPct val="90000"/>
              </a:lnSpc>
              <a:spcBef>
                <a:spcPts val="1000"/>
              </a:spcBef>
              <a:defRPr/>
            </a:pPr>
            <a:endParaRPr lang="en-US" b="1" dirty="0">
              <a:solidFill>
                <a:srgbClr val="000000"/>
              </a:solidFill>
              <a:latin typeface="Calibri"/>
              <a:cs typeface="Calibri"/>
            </a:endParaRPr>
          </a:p>
          <a:p>
            <a:pPr>
              <a:lnSpc>
                <a:spcPct val="90000"/>
              </a:lnSpc>
              <a:spcBef>
                <a:spcPts val="1000"/>
              </a:spcBef>
              <a:defRPr/>
            </a:pPr>
            <a:endParaRPr lang="en-US" b="1" dirty="0">
              <a:solidFill>
                <a:srgbClr val="000000"/>
              </a:solidFill>
              <a:latin typeface="Calibri"/>
              <a:cs typeface="Calibri"/>
            </a:endParaRPr>
          </a:p>
          <a:p>
            <a:pPr>
              <a:lnSpc>
                <a:spcPct val="110000"/>
              </a:lnSpc>
              <a:defRPr/>
            </a:pPr>
            <a:r>
              <a:rPr lang="en-US" sz="1600" b="1" dirty="0">
                <a:solidFill>
                  <a:schemeClr val="bg1"/>
                </a:solidFill>
                <a:latin typeface="Calibri"/>
                <a:cs typeface="Calibri"/>
              </a:rPr>
              <a:t>/ </a:t>
            </a:r>
            <a:r>
              <a:rPr lang="es-ES" sz="1600" b="1" dirty="0" err="1">
                <a:solidFill>
                  <a:schemeClr val="bg1"/>
                </a:solidFill>
                <a:latin typeface="Calibri"/>
                <a:cs typeface="Calibri"/>
              </a:rPr>
              <a:t>Construct</a:t>
            </a:r>
            <a:r>
              <a:rPr lang="es-ES" sz="1600" b="1" dirty="0">
                <a:solidFill>
                  <a:schemeClr val="bg1"/>
                </a:solidFill>
                <a:latin typeface="Calibri"/>
                <a:cs typeface="Calibri"/>
              </a:rPr>
              <a:t> 2</a:t>
            </a:r>
          </a:p>
          <a:p>
            <a:pPr>
              <a:lnSpc>
                <a:spcPct val="110000"/>
              </a:lnSpc>
              <a:defRPr/>
            </a:pPr>
            <a:r>
              <a:rPr lang="en-US" sz="1600" b="1" dirty="0">
                <a:solidFill>
                  <a:schemeClr val="bg1"/>
                </a:solidFill>
                <a:cs typeface="Calibri"/>
              </a:rPr>
              <a:t>/ UI y l</a:t>
            </a:r>
            <a:r>
              <a:rPr lang="es-ES" sz="1600" b="1" dirty="0" err="1">
                <a:solidFill>
                  <a:schemeClr val="bg1"/>
                </a:solidFill>
                <a:cs typeface="Calibri"/>
              </a:rPr>
              <a:t>ayouts</a:t>
            </a:r>
            <a:r>
              <a:rPr lang="es-ES" sz="1600" b="1" dirty="0">
                <a:solidFill>
                  <a:schemeClr val="bg1"/>
                </a:solidFill>
                <a:latin typeface="Calibri"/>
                <a:cs typeface="Calibri"/>
              </a:rPr>
              <a:t/>
            </a:r>
            <a:br>
              <a:rPr lang="es-ES" sz="1600" b="1" dirty="0">
                <a:solidFill>
                  <a:schemeClr val="bg1"/>
                </a:solidFill>
                <a:latin typeface="Calibri"/>
                <a:cs typeface="Calibri"/>
              </a:rPr>
            </a:br>
            <a:r>
              <a:rPr lang="en-US" sz="1600" b="1" dirty="0">
                <a:solidFill>
                  <a:schemeClr val="bg1"/>
                </a:solidFill>
                <a:latin typeface="Calibri"/>
                <a:cs typeface="Calibri"/>
              </a:rPr>
              <a:t>/ Layers</a:t>
            </a:r>
            <a:r>
              <a:rPr lang="es-ES" sz="1600" b="1" dirty="0">
                <a:solidFill>
                  <a:schemeClr val="bg1"/>
                </a:solidFill>
                <a:latin typeface="Calibri"/>
                <a:cs typeface="Calibri"/>
              </a:rPr>
              <a:t/>
            </a:r>
            <a:br>
              <a:rPr lang="es-ES" sz="1600" b="1" dirty="0">
                <a:solidFill>
                  <a:schemeClr val="bg1"/>
                </a:solidFill>
                <a:latin typeface="Calibri"/>
                <a:cs typeface="Calibri"/>
              </a:rPr>
            </a:br>
            <a:r>
              <a:rPr lang="en-US" sz="1600" b="1" dirty="0">
                <a:solidFill>
                  <a:schemeClr val="bg1"/>
                </a:solidFill>
                <a:cs typeface="Calibri"/>
              </a:rPr>
              <a:t>/ Sprites y </a:t>
            </a:r>
            <a:r>
              <a:rPr lang="en-US" sz="1600" b="1" dirty="0" err="1">
                <a:solidFill>
                  <a:schemeClr val="bg1"/>
                </a:solidFill>
                <a:cs typeface="Calibri"/>
              </a:rPr>
              <a:t>animaciones</a:t>
            </a:r>
            <a:endParaRPr lang="es-ES" sz="1600" dirty="0">
              <a:solidFill>
                <a:schemeClr val="bg1"/>
              </a:solidFill>
              <a:cs typeface="Calibri"/>
            </a:endParaRPr>
          </a:p>
          <a:p>
            <a:pPr>
              <a:lnSpc>
                <a:spcPct val="110000"/>
              </a:lnSpc>
              <a:defRPr/>
            </a:pP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1733172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INTRODUCCIÓN</a:t>
            </a:r>
          </a:p>
        </p:txBody>
      </p:sp>
      <p:sp>
        <p:nvSpPr>
          <p:cNvPr id="7" name="object 7"/>
          <p:cNvSpPr txBox="1"/>
          <p:nvPr/>
        </p:nvSpPr>
        <p:spPr>
          <a:xfrm>
            <a:off x="495299" y="810908"/>
            <a:ext cx="8102216" cy="1723549"/>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La sesión anterior reconocimos la estructura de un documento de diseño de videojuegos, con lo cual se concluye la fase de preproducción de un videojuego. Ahora comenzaremos con la fase de producción de un </a:t>
            </a:r>
            <a:r>
              <a:rPr lang="es-PE" sz="1600" spc="-10" dirty="0" smtClean="0">
                <a:solidFill>
                  <a:srgbClr val="262626"/>
                </a:solidFill>
                <a:cs typeface="Source Sans Pro"/>
              </a:rPr>
              <a:t>videojuego; </a:t>
            </a:r>
            <a:r>
              <a:rPr lang="es-PE" sz="1600" spc="-10" dirty="0">
                <a:solidFill>
                  <a:srgbClr val="262626"/>
                </a:solidFill>
                <a:cs typeface="Source Sans Pro"/>
              </a:rPr>
              <a:t>para esto utilizaremos la herramienta </a:t>
            </a:r>
            <a:r>
              <a:rPr lang="es-PE" sz="1600" spc="-10" dirty="0" err="1">
                <a:solidFill>
                  <a:srgbClr val="262626"/>
                </a:solidFill>
                <a:cs typeface="Source Sans Pro"/>
              </a:rPr>
              <a:t>Construct</a:t>
            </a:r>
            <a:r>
              <a:rPr lang="es-PE" sz="1600" spc="-10" dirty="0">
                <a:solidFill>
                  <a:srgbClr val="262626"/>
                </a:solidFill>
                <a:cs typeface="Source Sans Pro"/>
              </a:rPr>
              <a:t> 2.</a:t>
            </a:r>
          </a:p>
          <a:p>
            <a:pPr marL="11725">
              <a:buSzPct val="100000"/>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err="1">
                <a:solidFill>
                  <a:srgbClr val="262626"/>
                </a:solidFill>
                <a:cs typeface="Source Sans Pro"/>
              </a:rPr>
              <a:t>Construct</a:t>
            </a:r>
            <a:r>
              <a:rPr lang="es-PE" sz="1600" spc="-10" dirty="0">
                <a:solidFill>
                  <a:srgbClr val="262626"/>
                </a:solidFill>
                <a:cs typeface="Source Sans Pro"/>
              </a:rPr>
              <a:t> 2 es un </a:t>
            </a:r>
            <a:r>
              <a:rPr lang="es-PE" sz="1600" spc="-10" dirty="0" err="1">
                <a:solidFill>
                  <a:srgbClr val="262626"/>
                </a:solidFill>
                <a:cs typeface="Source Sans Pro"/>
              </a:rPr>
              <a:t>game</a:t>
            </a:r>
            <a:r>
              <a:rPr lang="es-PE" sz="1600" spc="-10" dirty="0">
                <a:solidFill>
                  <a:srgbClr val="262626"/>
                </a:solidFill>
                <a:cs typeface="Source Sans Pro"/>
              </a:rPr>
              <a:t> </a:t>
            </a:r>
            <a:r>
              <a:rPr lang="es-PE" sz="1600" spc="-10" dirty="0" err="1">
                <a:solidFill>
                  <a:srgbClr val="262626"/>
                </a:solidFill>
                <a:cs typeface="Source Sans Pro"/>
              </a:rPr>
              <a:t>engine</a:t>
            </a:r>
            <a:r>
              <a:rPr lang="es-PE" sz="1600" spc="-10" dirty="0">
                <a:solidFill>
                  <a:srgbClr val="262626"/>
                </a:solidFill>
                <a:cs typeface="Source Sans Pro"/>
              </a:rPr>
              <a:t> que nos permite crear videojuegos en 2D de cualquier estilo gráfico, incluso permite configurar rápidamente un juego que quiera mantener el estilo retro (Pixel art).</a:t>
            </a:r>
          </a:p>
        </p:txBody>
      </p:sp>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480131"/>
          </a:xfrm>
          <a:prstGeom prst="rect">
            <a:avLst/>
          </a:prstGeom>
        </p:spPr>
        <p:txBody>
          <a:bodyPr wrap="square">
            <a:spAutoFit/>
          </a:bodyPr>
          <a:lstStyle/>
          <a:p>
            <a:pPr>
              <a:lnSpc>
                <a:spcPct val="90000"/>
              </a:lnSpc>
              <a:spcBef>
                <a:spcPts val="1000"/>
              </a:spcBef>
              <a:defRPr/>
            </a:pPr>
            <a:r>
              <a:rPr lang="es-ES" sz="2800" b="1" dirty="0" err="1">
                <a:solidFill>
                  <a:schemeClr val="bg1"/>
                </a:solidFill>
                <a:cs typeface="Calibri"/>
              </a:rPr>
              <a:t>Construct</a:t>
            </a:r>
            <a:r>
              <a:rPr lang="es-ES" sz="2800" b="1" dirty="0">
                <a:solidFill>
                  <a:schemeClr val="bg1"/>
                </a:solidFill>
                <a:cs typeface="Calibri"/>
              </a:rPr>
              <a:t> 2</a:t>
            </a: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95299" y="810908"/>
            <a:ext cx="8102216" cy="73866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err="1">
                <a:solidFill>
                  <a:srgbClr val="262626"/>
                </a:solidFill>
                <a:cs typeface="Source Sans Pro"/>
              </a:rPr>
              <a:t>Construct</a:t>
            </a:r>
            <a:r>
              <a:rPr lang="es-PE" sz="1600" spc="-10" dirty="0">
                <a:solidFill>
                  <a:srgbClr val="262626"/>
                </a:solidFill>
                <a:cs typeface="Source Sans Pro"/>
              </a:rPr>
              <a:t> 2 es un </a:t>
            </a:r>
            <a:r>
              <a:rPr lang="es-PE" sz="1600" spc="-10" dirty="0" err="1">
                <a:solidFill>
                  <a:srgbClr val="262626"/>
                </a:solidFill>
                <a:cs typeface="Source Sans Pro"/>
              </a:rPr>
              <a:t>game</a:t>
            </a:r>
            <a:r>
              <a:rPr lang="es-PE" sz="1600" spc="-10" dirty="0">
                <a:solidFill>
                  <a:srgbClr val="262626"/>
                </a:solidFill>
                <a:cs typeface="Source Sans Pro"/>
              </a:rPr>
              <a:t> </a:t>
            </a:r>
            <a:r>
              <a:rPr lang="es-PE" sz="1600" spc="-10" dirty="0" err="1">
                <a:solidFill>
                  <a:srgbClr val="262626"/>
                </a:solidFill>
                <a:cs typeface="Source Sans Pro"/>
              </a:rPr>
              <a:t>engine</a:t>
            </a:r>
            <a:r>
              <a:rPr lang="es-PE" sz="1600" spc="-10" dirty="0">
                <a:solidFill>
                  <a:srgbClr val="262626"/>
                </a:solidFill>
                <a:cs typeface="Source Sans Pro"/>
              </a:rPr>
              <a:t> que nos ayuda en la producción de videojuegos 2D.</a:t>
            </a:r>
          </a:p>
          <a:p>
            <a:pPr marL="180000" indent="-168275">
              <a:buSzPct val="100000"/>
              <a:buFont typeface="Arial"/>
              <a:buChar char="•"/>
              <a:tabLst>
                <a:tab pos="121285" algn="l"/>
              </a:tabLst>
            </a:pPr>
            <a:r>
              <a:rPr lang="es-PE" sz="1600" spc="-10" dirty="0" err="1">
                <a:solidFill>
                  <a:srgbClr val="262626"/>
                </a:solidFill>
                <a:cs typeface="Source Sans Pro"/>
              </a:rPr>
              <a:t>Construct</a:t>
            </a:r>
            <a:r>
              <a:rPr lang="es-PE" sz="1600" spc="-10" dirty="0">
                <a:solidFill>
                  <a:srgbClr val="262626"/>
                </a:solidFill>
                <a:cs typeface="Source Sans Pro"/>
              </a:rPr>
              <a:t> 2 puede ser utilizado son conocimientos previos de programación, motivo por el cual es ideal para introducirse en el desarrollo de videojuegos.</a:t>
            </a:r>
          </a:p>
        </p:txBody>
      </p:sp>
      <p:sp>
        <p:nvSpPr>
          <p:cNvPr id="4"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CONSTRUCT 2</a:t>
            </a:r>
          </a:p>
        </p:txBody>
      </p:sp>
    </p:spTree>
    <p:custDataLst>
      <p:tags r:id="rId1"/>
    </p:custDataLst>
    <p:extLst>
      <p:ext uri="{BB962C8B-B14F-4D97-AF65-F5344CB8AC3E}">
        <p14:creationId xmlns:p14="http://schemas.microsoft.com/office/powerpoint/2010/main" val="100864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98488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Ok, hagamos juegos… ¿pero qué es </a:t>
            </a:r>
            <a:r>
              <a:rPr lang="es-PE" sz="1600" spc="-10" dirty="0" err="1">
                <a:solidFill>
                  <a:srgbClr val="262626"/>
                </a:solidFill>
                <a:cs typeface="Source Sans Pro"/>
              </a:rPr>
              <a:t>Construct</a:t>
            </a:r>
            <a:r>
              <a:rPr lang="es-PE" sz="1600" spc="-10" dirty="0">
                <a:solidFill>
                  <a:srgbClr val="262626"/>
                </a:solidFill>
                <a:cs typeface="Source Sans Pro"/>
              </a:rPr>
              <a:t> 2 y para qué sirve?</a:t>
            </a:r>
          </a:p>
          <a:p>
            <a:pPr marL="180000" indent="-168275">
              <a:buSzPct val="100000"/>
              <a:buFont typeface="Arial"/>
              <a:buChar char="•"/>
              <a:tabLst>
                <a:tab pos="121285" algn="l"/>
              </a:tabLst>
            </a:pPr>
            <a:r>
              <a:rPr lang="es-PE" sz="1600" spc="-10" dirty="0">
                <a:solidFill>
                  <a:srgbClr val="262626"/>
                </a:solidFill>
                <a:cs typeface="Source Sans Pro"/>
              </a:rPr>
              <a:t>¿Qué es un </a:t>
            </a:r>
            <a:r>
              <a:rPr lang="es-PE" sz="1600" spc="-10" dirty="0" err="1">
                <a:solidFill>
                  <a:srgbClr val="262626"/>
                </a:solidFill>
                <a:cs typeface="Source Sans Pro"/>
              </a:rPr>
              <a:t>game</a:t>
            </a:r>
            <a:r>
              <a:rPr lang="es-PE" sz="1600" spc="-10" dirty="0">
                <a:solidFill>
                  <a:srgbClr val="262626"/>
                </a:solidFill>
                <a:cs typeface="Source Sans Pro"/>
              </a:rPr>
              <a:t> </a:t>
            </a:r>
            <a:r>
              <a:rPr lang="es-PE" sz="1600" spc="-10" dirty="0" err="1">
                <a:solidFill>
                  <a:srgbClr val="262626"/>
                </a:solidFill>
                <a:cs typeface="Source Sans Pro"/>
              </a:rPr>
              <a:t>engine</a:t>
            </a:r>
            <a:r>
              <a:rPr lang="es-PE" sz="1600" spc="-10" dirty="0">
                <a:solidFill>
                  <a:srgbClr val="262626"/>
                </a:solidFill>
                <a:cs typeface="Source Sans Pro"/>
              </a:rPr>
              <a:t>?</a:t>
            </a: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CONSTRUCT 2</a:t>
            </a:r>
          </a:p>
        </p:txBody>
      </p:sp>
      <p:pic>
        <p:nvPicPr>
          <p:cNvPr id="5" name="Picture 2" descr="https://static1.scirra.net/images/fresh/c2/gallery/fullsize/jpg/behaviors-panels-01.jpg"/>
          <p:cNvPicPr>
            <a:picLocks noGrp="1" noChangeAspect="1" noChangeArrowheads="1"/>
          </p:cNvPicPr>
          <p:nvPr>
            <p:ph type="pic" sz="quarter" idx="10"/>
          </p:nvPr>
        </p:nvPicPr>
        <p:blipFill>
          <a:blip r:embed="rId3" cstate="print"/>
          <a:srcRect l="1595" r="1595"/>
          <a:stretch>
            <a:fillRect/>
          </a:stretch>
        </p:blipFill>
        <p:spPr bwMode="auto">
          <a:prstGeom prst="rect">
            <a:avLst/>
          </a:prstGeom>
          <a:noFill/>
        </p:spPr>
      </p:pic>
    </p:spTree>
    <p:custDataLst>
      <p:tags r:id="rId1"/>
    </p:custDataLst>
    <p:extLst>
      <p:ext uri="{BB962C8B-B14F-4D97-AF65-F5344CB8AC3E}">
        <p14:creationId xmlns:p14="http://schemas.microsoft.com/office/powerpoint/2010/main" val="2885912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295465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err="1">
                <a:solidFill>
                  <a:srgbClr val="262626"/>
                </a:solidFill>
                <a:cs typeface="Source Sans Pro"/>
              </a:rPr>
              <a:t>Construct</a:t>
            </a:r>
            <a:r>
              <a:rPr lang="es-PE" sz="1600" spc="-10" dirty="0">
                <a:solidFill>
                  <a:srgbClr val="262626"/>
                </a:solidFill>
                <a:cs typeface="Source Sans Pro"/>
              </a:rPr>
              <a:t> es un editor multiplataforma de juegos basado en HTML5.</a:t>
            </a:r>
          </a:p>
          <a:p>
            <a:pPr marL="180000" indent="-168275">
              <a:buSzPct val="100000"/>
              <a:buFont typeface="Arial"/>
              <a:buChar char="•"/>
              <a:tabLst>
                <a:tab pos="121285" algn="l"/>
              </a:tabLst>
            </a:pPr>
            <a:endParaRPr lang="en-US"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Está orientado principalmente para “no programadores” (no necesitan saber programar, </a:t>
            </a:r>
            <a:r>
              <a:rPr lang="es-PE" sz="1600" spc="-10" dirty="0" err="1">
                <a:solidFill>
                  <a:srgbClr val="262626"/>
                </a:solidFill>
                <a:cs typeface="Source Sans Pro"/>
              </a:rPr>
              <a:t>yey</a:t>
            </a:r>
            <a:r>
              <a:rPr lang="es-PE" sz="1600" spc="-10" dirty="0">
                <a:solidFill>
                  <a:srgbClr val="262626"/>
                </a:solidFill>
                <a:cs typeface="Source Sans Pro"/>
              </a:rPr>
              <a:t>!). </a:t>
            </a:r>
          </a:p>
          <a:p>
            <a:pPr marL="180000" indent="-168275">
              <a:buSzPct val="100000"/>
              <a:buFont typeface="Arial"/>
              <a:buChar char="•"/>
              <a:tabLst>
                <a:tab pos="121285" algn="l"/>
              </a:tabLst>
            </a:pPr>
            <a:endParaRPr lang="en-US" sz="1600" spc="-10" dirty="0">
              <a:solidFill>
                <a:srgbClr val="262626"/>
              </a:solidFill>
              <a:cs typeface="Source Sans Pro"/>
            </a:endParaRPr>
          </a:p>
          <a:p>
            <a:pPr marL="180000" indent="-168275">
              <a:buSzPct val="100000"/>
              <a:buFont typeface="Arial"/>
              <a:buChar char="•"/>
              <a:tabLst>
                <a:tab pos="121285" algn="l"/>
              </a:tabLst>
            </a:pPr>
            <a:r>
              <a:rPr lang="en-US" sz="1600" spc="-10" dirty="0">
                <a:solidFill>
                  <a:srgbClr val="262626"/>
                </a:solidFill>
                <a:cs typeface="Source Sans Pro"/>
              </a:rPr>
              <a:t>Per</a:t>
            </a:r>
            <a:r>
              <a:rPr lang="es-PE" sz="1600" spc="-10" dirty="0">
                <a:solidFill>
                  <a:srgbClr val="262626"/>
                </a:solidFill>
                <a:cs typeface="Source Sans Pro"/>
              </a:rPr>
              <a:t>mite la creación rápida de juegos con interfaces intuitivas y la utilización de herramientas visuales fáciles de entender</a:t>
            </a:r>
            <a:r>
              <a:rPr lang="en-US" sz="1600" spc="-10" dirty="0">
                <a:solidFill>
                  <a:srgbClr val="262626"/>
                </a:solidFill>
                <a:cs typeface="Source Sans Pro"/>
              </a:rPr>
              <a:t>.</a:t>
            </a: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CONSTRUCT 2</a:t>
            </a:r>
          </a:p>
        </p:txBody>
      </p:sp>
      <p:sp>
        <p:nvSpPr>
          <p:cNvPr id="4" name="Marcador de posición de imagen 3"/>
          <p:cNvSpPr>
            <a:spLocks noGrp="1"/>
          </p:cNvSpPr>
          <p:nvPr>
            <p:ph type="pic" sz="quarter" idx="11"/>
          </p:nvPr>
        </p:nvSpPr>
        <p:spPr/>
      </p:sp>
    </p:spTree>
    <p:extLst>
      <p:ext uri="{BB962C8B-B14F-4D97-AF65-F5344CB8AC3E}">
        <p14:creationId xmlns:p14="http://schemas.microsoft.com/office/powerpoint/2010/main" val="3479054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98488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Hoy crearemos un juego del género </a:t>
            </a:r>
            <a:r>
              <a:rPr lang="es-PE" sz="1600" dirty="0"/>
              <a:t>Top </a:t>
            </a:r>
            <a:r>
              <a:rPr lang="es-PE" sz="1600" dirty="0" err="1"/>
              <a:t>down</a:t>
            </a:r>
            <a:r>
              <a:rPr lang="es-PE" sz="1600" dirty="0"/>
              <a:t> </a:t>
            </a:r>
            <a:r>
              <a:rPr lang="es-PE" sz="1600" dirty="0" err="1"/>
              <a:t>shooter</a:t>
            </a:r>
            <a:r>
              <a:rPr lang="es-PE" sz="1600" dirty="0"/>
              <a:t>  en </a:t>
            </a:r>
            <a:r>
              <a:rPr lang="es-PE" sz="1600" dirty="0" err="1"/>
              <a:t>Construct</a:t>
            </a:r>
            <a:r>
              <a:rPr lang="es-PE" sz="1600" dirty="0"/>
              <a:t> 2.</a:t>
            </a:r>
          </a:p>
          <a:p>
            <a:pPr marL="180000" indent="-168275">
              <a:buSzPct val="100000"/>
              <a:buFont typeface="Arial"/>
              <a:buChar char="•"/>
              <a:tabLst>
                <a:tab pos="121285" algn="l"/>
              </a:tabLst>
            </a:pPr>
            <a:r>
              <a:rPr lang="es-PE" sz="1600" dirty="0"/>
              <a:t>¿Cuáles son las principales características de un Top – Down - </a:t>
            </a:r>
            <a:r>
              <a:rPr lang="es-PE" sz="1600" dirty="0" err="1"/>
              <a:t>Shooter</a:t>
            </a:r>
            <a:r>
              <a:rPr lang="es-PE" sz="1600" dirty="0"/>
              <a:t>?</a:t>
            </a: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CONSTRUCT 2</a:t>
            </a:r>
          </a:p>
        </p:txBody>
      </p:sp>
      <p:pic>
        <p:nvPicPr>
          <p:cNvPr id="1026" name="Picture 2" descr="Image result for top down shooter construct 2"/>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2893" b="289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63048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477328"/>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La perspectiva top-</a:t>
            </a:r>
            <a:r>
              <a:rPr lang="es-PE" sz="1600" spc="-10" dirty="0" err="1">
                <a:solidFill>
                  <a:srgbClr val="262626"/>
                </a:solidFill>
              </a:rPr>
              <a:t>down</a:t>
            </a:r>
            <a:r>
              <a:rPr lang="es-PE" sz="1600" spc="-10" dirty="0">
                <a:solidFill>
                  <a:srgbClr val="262626"/>
                </a:solidFill>
              </a:rPr>
              <a:t> muestra el mundo del juego desde arriba directamente con la cámara apuntando hacia abajo. A este respecto, se asemeja a un mapa, por lo que los jugadores encuentran la pantalla familiar. </a:t>
            </a:r>
          </a:p>
          <a:p>
            <a:pPr marL="180000" indent="-168275">
              <a:buSzPct val="100000"/>
              <a:buFont typeface="Arial"/>
              <a:buChar char="•"/>
              <a:tabLst>
                <a:tab pos="121285" algn="l"/>
              </a:tabLst>
            </a:pPr>
            <a:r>
              <a:rPr lang="es-PE" sz="1600" spc="-10" dirty="0">
                <a:solidFill>
                  <a:srgbClr val="262626"/>
                </a:solidFill>
              </a:rPr>
              <a:t>Es fácil de implementar usando gráficos 2D, lo que hace que su uso sea común en dispositivos más pequeños.</a:t>
            </a: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TOP DOWN - SHOOTER</a:t>
            </a:r>
          </a:p>
        </p:txBody>
      </p:sp>
      <p:sp>
        <p:nvSpPr>
          <p:cNvPr id="6" name="Marcador de posición de imagen 5">
            <a:extLst>
              <a:ext uri="{FF2B5EF4-FFF2-40B4-BE49-F238E27FC236}">
                <a16:creationId xmlns:a16="http://schemas.microsoft.com/office/drawing/2014/main" id="{4732FBD9-3158-4BC8-8AFA-13F2FA128527}"/>
              </a:ext>
            </a:extLst>
          </p:cNvPr>
          <p:cNvSpPr>
            <a:spLocks noGrp="1"/>
          </p:cNvSpPr>
          <p:nvPr>
            <p:ph type="pic" sz="quarter" idx="10"/>
          </p:nvPr>
        </p:nvSpPr>
        <p:spPr/>
      </p:sp>
      <p:pic>
        <p:nvPicPr>
          <p:cNvPr id="1030" name="Picture 6" descr="Resultado de imagen para top down camera">
            <a:extLst>
              <a:ext uri="{FF2B5EF4-FFF2-40B4-BE49-F238E27FC236}">
                <a16:creationId xmlns:a16="http://schemas.microsoft.com/office/drawing/2014/main" id="{C326C6E6-12DB-4292-AD1E-D1DB8C8C64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409031"/>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5386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98488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Por un lado, esta perspectiva permite al jugador ver solo los techos de los edificios y las partes superiores de las cabezas de las personas. Para dar una idea un poco mejor de cómo se ve un edificio, los artistas a menudo los dibujan engañados, es decir, en un ligero ángulo, aunque así no es como los edificios aparecen directamente desde </a:t>
            </a:r>
            <a:r>
              <a:rPr lang="es-PE" sz="1600" spc="-10" dirty="0" smtClean="0">
                <a:solidFill>
                  <a:srgbClr val="262626"/>
                </a:solidFill>
              </a:rPr>
              <a:t>arriba.</a:t>
            </a: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TOP DOWN - SHOOTER</a:t>
            </a:r>
          </a:p>
        </p:txBody>
      </p:sp>
      <p:pic>
        <p:nvPicPr>
          <p:cNvPr id="4" name="Picture 2" descr="Resultado de imagen para top down camera">
            <a:extLst>
              <a:ext uri="{FF2B5EF4-FFF2-40B4-BE49-F238E27FC236}">
                <a16:creationId xmlns:a16="http://schemas.microsoft.com/office/drawing/2014/main" id="{795C7708-F5C4-467A-B940-397E87B7162E}"/>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2236" r="2236"/>
          <a:stretch>
            <a:fillRect/>
          </a:stretch>
        </p:blipFill>
        <p:spPr bwMode="auto">
          <a:xfrm>
            <a:off x="2260600" y="2295525"/>
            <a:ext cx="4622800" cy="290353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3129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73866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rPr>
              <a:t>En una perspectiva descendente en la que el jugador ve el avatar desde </a:t>
            </a:r>
            <a:r>
              <a:rPr lang="es-PE" sz="1600" spc="-10" dirty="0" smtClean="0">
                <a:solidFill>
                  <a:srgbClr val="262626"/>
                </a:solidFill>
              </a:rPr>
              <a:t>arriba. </a:t>
            </a:r>
            <a:r>
              <a:rPr lang="es-PE" sz="1600" spc="-10" dirty="0">
                <a:solidFill>
                  <a:srgbClr val="262626"/>
                </a:solidFill>
              </a:rPr>
              <a:t>M</a:t>
            </a:r>
            <a:r>
              <a:rPr lang="es-PE" sz="1600" spc="-10" dirty="0" smtClean="0">
                <a:solidFill>
                  <a:srgbClr val="262626"/>
                </a:solidFill>
              </a:rPr>
              <a:t>over </a:t>
            </a:r>
            <a:r>
              <a:rPr lang="es-PE" sz="1600" spc="-10" dirty="0">
                <a:solidFill>
                  <a:srgbClr val="262626"/>
                </a:solidFill>
              </a:rPr>
              <a:t>el joystick hacia arriba, abajo, izquierda o derecha hace que el avatar gire instantáneamente y mire hacia el borde correspondiente de la pantalla, y luego se mueva en esa </a:t>
            </a:r>
            <a:r>
              <a:rPr lang="es-PE" sz="1600" spc="-10" dirty="0" smtClean="0">
                <a:solidFill>
                  <a:srgbClr val="262626"/>
                </a:solidFill>
              </a:rPr>
              <a:t>dirección. </a:t>
            </a: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TOP DOWN - SHOOTER</a:t>
            </a:r>
          </a:p>
        </p:txBody>
      </p:sp>
      <p:sp>
        <p:nvSpPr>
          <p:cNvPr id="3" name="Marcador de posición de imagen 2">
            <a:extLst>
              <a:ext uri="{FF2B5EF4-FFF2-40B4-BE49-F238E27FC236}">
                <a16:creationId xmlns:a16="http://schemas.microsoft.com/office/drawing/2014/main" id="{0FA2ECAC-7070-4B21-91FB-3123E8AE32BA}"/>
              </a:ext>
            </a:extLst>
          </p:cNvPr>
          <p:cNvSpPr>
            <a:spLocks noGrp="1"/>
          </p:cNvSpPr>
          <p:nvPr>
            <p:ph type="pic" sz="quarter" idx="10"/>
          </p:nvPr>
        </p:nvSpPr>
        <p:spPr/>
      </p:sp>
      <p:pic>
        <p:nvPicPr>
          <p:cNvPr id="3074" name="Picture 2" descr="Resultado de imagen para top down bomberman">
            <a:extLst>
              <a:ext uri="{FF2B5EF4-FFF2-40B4-BE49-F238E27FC236}">
                <a16:creationId xmlns:a16="http://schemas.microsoft.com/office/drawing/2014/main" id="{EA712986-AC34-4193-A533-EE59BC3C45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6370" y="2362873"/>
            <a:ext cx="4391260" cy="24721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4883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723549"/>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Benchmarking</a:t>
            </a:r>
          </a:p>
          <a:p>
            <a:pPr marL="180000" indent="-168275">
              <a:buSzPct val="100000"/>
              <a:buFont typeface="Arial"/>
              <a:buChar char="•"/>
              <a:tabLst>
                <a:tab pos="121285" algn="l"/>
              </a:tabLst>
            </a:pPr>
            <a:r>
              <a:rPr lang="es-PE" sz="1600" spc="-10" dirty="0" err="1">
                <a:solidFill>
                  <a:srgbClr val="262626"/>
                </a:solidFill>
              </a:rPr>
              <a:t>Hotline</a:t>
            </a:r>
            <a:r>
              <a:rPr lang="es-PE" sz="1600" spc="-10" dirty="0">
                <a:solidFill>
                  <a:srgbClr val="262626"/>
                </a:solidFill>
              </a:rPr>
              <a:t> Miami: 		</a:t>
            </a:r>
            <a:r>
              <a:rPr lang="es-PE" sz="1600" spc="-10" dirty="0">
                <a:solidFill>
                  <a:srgbClr val="262626"/>
                </a:solidFill>
                <a:hlinkClick r:id="rId4"/>
              </a:rPr>
              <a:t>https://youtu.be/nZjoTVpT5UQ</a:t>
            </a:r>
            <a:endParaRPr lang="es-PE" sz="1600" spc="-10" dirty="0">
              <a:solidFill>
                <a:srgbClr val="262626"/>
              </a:solidFill>
            </a:endParaRPr>
          </a:p>
          <a:p>
            <a:pPr marL="180000" indent="-168275">
              <a:buSzPct val="100000"/>
              <a:buFont typeface="Arial"/>
              <a:buChar char="•"/>
              <a:tabLst>
                <a:tab pos="121285" algn="l"/>
              </a:tabLst>
            </a:pPr>
            <a:r>
              <a:rPr lang="es-PE" sz="1600" spc="-10" dirty="0" err="1">
                <a:solidFill>
                  <a:srgbClr val="262626"/>
                </a:solidFill>
              </a:rPr>
              <a:t>Enter</a:t>
            </a:r>
            <a:r>
              <a:rPr lang="es-PE" sz="1600" spc="-10" dirty="0">
                <a:solidFill>
                  <a:srgbClr val="262626"/>
                </a:solidFill>
              </a:rPr>
              <a:t> </a:t>
            </a:r>
            <a:r>
              <a:rPr lang="es-PE" sz="1600" spc="-10" dirty="0" err="1">
                <a:solidFill>
                  <a:srgbClr val="262626"/>
                </a:solidFill>
              </a:rPr>
              <a:t>to</a:t>
            </a:r>
            <a:r>
              <a:rPr lang="es-PE" sz="1600" spc="-10" dirty="0">
                <a:solidFill>
                  <a:srgbClr val="262626"/>
                </a:solidFill>
              </a:rPr>
              <a:t> </a:t>
            </a:r>
            <a:r>
              <a:rPr lang="es-PE" sz="1600" spc="-10" dirty="0" err="1">
                <a:solidFill>
                  <a:srgbClr val="262626"/>
                </a:solidFill>
              </a:rPr>
              <a:t>the</a:t>
            </a:r>
            <a:r>
              <a:rPr lang="es-PE" sz="1600" spc="-10" dirty="0">
                <a:solidFill>
                  <a:srgbClr val="262626"/>
                </a:solidFill>
              </a:rPr>
              <a:t> </a:t>
            </a:r>
            <a:r>
              <a:rPr lang="es-PE" sz="1600" spc="-10" dirty="0" err="1">
                <a:solidFill>
                  <a:srgbClr val="262626"/>
                </a:solidFill>
              </a:rPr>
              <a:t>gungeon</a:t>
            </a:r>
            <a:r>
              <a:rPr lang="es-PE" sz="1600" spc="-10" dirty="0">
                <a:solidFill>
                  <a:srgbClr val="262626"/>
                </a:solidFill>
              </a:rPr>
              <a:t>:	</a:t>
            </a:r>
            <a:r>
              <a:rPr lang="es-PE" sz="1600" spc="-10" dirty="0">
                <a:solidFill>
                  <a:srgbClr val="262626"/>
                </a:solidFill>
                <a:hlinkClick r:id="rId5"/>
              </a:rPr>
              <a:t>https://youtu.be/hXx-ZY60fN4</a:t>
            </a:r>
            <a:endParaRPr lang="es-PE" sz="1600" spc="-10" dirty="0">
              <a:solidFill>
                <a:srgbClr val="262626"/>
              </a:solidFill>
            </a:endParaRP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CONSTRUCT 2</a:t>
            </a:r>
          </a:p>
        </p:txBody>
      </p:sp>
      <p:pic>
        <p:nvPicPr>
          <p:cNvPr id="2052" name="Picture 4" descr="Image result for enter to the gungeon"/>
          <p:cNvPicPr>
            <a:picLocks noGrp="1" noChangeAspect="1" noChangeArrowheads="1"/>
          </p:cNvPicPr>
          <p:nvPr>
            <p:ph type="pic" sz="quarter" idx="10"/>
          </p:nvPr>
        </p:nvPicPr>
        <p:blipFill>
          <a:blip r:embed="rId6">
            <a:extLst>
              <a:ext uri="{28A0092B-C50C-407E-A947-70E740481C1C}">
                <a14:useLocalDpi xmlns:a14="http://schemas.microsoft.com/office/drawing/2010/main" val="0"/>
              </a:ext>
            </a:extLst>
          </a:blip>
          <a:srcRect l="5245" r="524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67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77457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UI Y LAYOUTS</a:t>
            </a:r>
          </a:p>
          <a:p>
            <a:pPr>
              <a:lnSpc>
                <a:spcPct val="110000"/>
              </a:lnSpc>
              <a:defRPr/>
            </a:pP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267883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2462213"/>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Empecemos con un nuevo proyecto: </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File: New</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lvl="1" indent="-168275">
              <a:buSzPct val="100000"/>
              <a:buFont typeface="Arial"/>
              <a:buChar char="•"/>
              <a:tabLst>
                <a:tab pos="121285" algn="l"/>
              </a:tabLst>
            </a:pPr>
            <a:r>
              <a:rPr lang="es-PE" sz="1600" spc="-10" dirty="0">
                <a:solidFill>
                  <a:srgbClr val="262626"/>
                </a:solidFill>
                <a:cs typeface="Source Sans Pro"/>
              </a:rPr>
              <a:t>Esto abrirá un nuevo </a:t>
            </a:r>
            <a:r>
              <a:rPr lang="es-PE" sz="1600" spc="-10" dirty="0" err="1">
                <a:solidFill>
                  <a:srgbClr val="262626"/>
                </a:solidFill>
                <a:cs typeface="Source Sans Pro"/>
              </a:rPr>
              <a:t>layout</a:t>
            </a:r>
            <a:r>
              <a:rPr lang="es-PE" sz="1600" spc="-10" dirty="0">
                <a:solidFill>
                  <a:srgbClr val="262626"/>
                </a:solidFill>
                <a:cs typeface="Source Sans Pro"/>
              </a:rPr>
              <a:t>. Piensen en el </a:t>
            </a:r>
            <a:r>
              <a:rPr lang="es-PE" sz="1600" spc="-10" dirty="0" err="1">
                <a:solidFill>
                  <a:srgbClr val="262626"/>
                </a:solidFill>
                <a:cs typeface="Source Sans Pro"/>
              </a:rPr>
              <a:t>layout</a:t>
            </a:r>
            <a:r>
              <a:rPr lang="es-PE" sz="1600" spc="-10" dirty="0">
                <a:solidFill>
                  <a:srgbClr val="262626"/>
                </a:solidFill>
                <a:cs typeface="Source Sans Pro"/>
              </a:rPr>
              <a:t> como un nivel del juego que crearán o como una pantalla de menú.</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CREANDO NUEVO PROYECTO</a:t>
            </a:r>
          </a:p>
        </p:txBody>
      </p:sp>
      <p:pic>
        <p:nvPicPr>
          <p:cNvPr id="6" name="Picture 2" descr="The File menu 'New' button."/>
          <p:cNvPicPr>
            <a:picLocks noGrp="1" noChangeAspect="1" noChangeArrowheads="1"/>
          </p:cNvPicPr>
          <p:nvPr>
            <p:ph type="pic" sz="quarter" idx="11"/>
          </p:nvPr>
        </p:nvPicPr>
        <p:blipFill rotWithShape="1">
          <a:blip r:embed="rId3" cstate="print"/>
          <a:srcRect l="650" t="-17236" r="650" b="-17236"/>
          <a:stretch/>
        </p:blipFill>
        <p:spPr bwMode="auto">
          <a:prstGeom prst="rect">
            <a:avLst/>
          </a:prstGeom>
          <a:noFill/>
        </p:spPr>
      </p:pic>
    </p:spTree>
    <p:extLst>
      <p:ext uri="{BB962C8B-B14F-4D97-AF65-F5344CB8AC3E}">
        <p14:creationId xmlns:p14="http://schemas.microsoft.com/office/powerpoint/2010/main" val="158563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CONOCIENDO CONSTRUCT 2</a:t>
            </a:r>
          </a:p>
        </p:txBody>
      </p:sp>
      <p:pic>
        <p:nvPicPr>
          <p:cNvPr id="3" name="Marcador de posición de imagen 2"/>
          <p:cNvPicPr>
            <a:picLocks noGrp="1" noChangeAspect="1"/>
          </p:cNvPicPr>
          <p:nvPr>
            <p:ph type="pic" sz="quarter" idx="10"/>
          </p:nvPr>
        </p:nvPicPr>
        <p:blipFill rotWithShape="1">
          <a:blip r:embed="rId2"/>
          <a:srcRect l="-2118" t="-526" r="-2118" b="-526"/>
          <a:stretch/>
        </p:blipFill>
        <p:spPr>
          <a:prstGeom prst="rect">
            <a:avLst/>
          </a:prstGeom>
        </p:spPr>
      </p:pic>
    </p:spTree>
    <p:extLst>
      <p:ext uri="{BB962C8B-B14F-4D97-AF65-F5344CB8AC3E}">
        <p14:creationId xmlns:p14="http://schemas.microsoft.com/office/powerpoint/2010/main" val="2862393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969770"/>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Doble clic en el </a:t>
            </a:r>
            <a:r>
              <a:rPr lang="es-PE" sz="1600" spc="-10" dirty="0" err="1">
                <a:solidFill>
                  <a:srgbClr val="262626"/>
                </a:solidFill>
                <a:cs typeface="Source Sans Pro"/>
              </a:rPr>
              <a:t>layout</a:t>
            </a:r>
            <a:r>
              <a:rPr lang="es-PE" sz="1600" spc="-10" dirty="0">
                <a:solidFill>
                  <a:srgbClr val="262626"/>
                </a:solidFill>
                <a:cs typeface="Source Sans Pro"/>
              </a:rPr>
              <a:t>.</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Seleccionen la opción “</a:t>
            </a:r>
            <a:r>
              <a:rPr lang="es-PE" sz="1600" spc="-10" dirty="0" err="1">
                <a:solidFill>
                  <a:srgbClr val="262626"/>
                </a:solidFill>
                <a:cs typeface="Source Sans Pro"/>
              </a:rPr>
              <a:t>tiled</a:t>
            </a:r>
            <a:r>
              <a:rPr lang="es-PE" sz="1600" spc="-10" dirty="0">
                <a:solidFill>
                  <a:srgbClr val="262626"/>
                </a:solidFill>
                <a:cs typeface="Source Sans Pro"/>
              </a:rPr>
              <a:t> </a:t>
            </a:r>
            <a:r>
              <a:rPr lang="es-PE" sz="1600" spc="-10" dirty="0" err="1">
                <a:solidFill>
                  <a:srgbClr val="262626"/>
                </a:solidFill>
                <a:cs typeface="Source Sans Pro"/>
              </a:rPr>
              <a:t>background</a:t>
            </a:r>
            <a:r>
              <a:rPr lang="es-PE" sz="1600" spc="-10" dirty="0">
                <a:solidFill>
                  <a:srgbClr val="262626"/>
                </a:solidFill>
                <a:cs typeface="Source Sans Pro"/>
              </a:rPr>
              <a:t>”, pues queremos tener uno tipo “mosaico”, que se duplique infinitamente para cubrir nuestro </a:t>
            </a:r>
            <a:r>
              <a:rPr lang="es-PE" sz="1600" spc="-10" dirty="0" err="1">
                <a:solidFill>
                  <a:srgbClr val="262626"/>
                </a:solidFill>
                <a:cs typeface="Source Sans Pro"/>
              </a:rPr>
              <a:t>layout</a:t>
            </a:r>
            <a:r>
              <a:rPr lang="es-PE" sz="1600" spc="-10" dirty="0">
                <a:solidFill>
                  <a:srgbClr val="262626"/>
                </a:solidFill>
                <a:cs typeface="Source Sans Pro"/>
              </a:rPr>
              <a:t>.</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OBJETOS</a:t>
            </a:r>
          </a:p>
        </p:txBody>
      </p:sp>
      <p:pic>
        <p:nvPicPr>
          <p:cNvPr id="8" name="Picture 3"/>
          <p:cNvPicPr>
            <a:picLocks noGrp="1" noChangeAspect="1" noChangeArrowheads="1"/>
          </p:cNvPicPr>
          <p:nvPr>
            <p:ph type="pic" sz="quarter" idx="10"/>
          </p:nvPr>
        </p:nvPicPr>
        <p:blipFill rotWithShape="1">
          <a:blip r:embed="rId4" cstate="print"/>
          <a:srcRect l="-16191" t="-2372" r="-16191" b="-2372"/>
          <a:stretch/>
        </p:blipFill>
        <p:spPr bwMode="auto">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37209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215991"/>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Esto hará que aparezca un cursor en forma de cruz para que puedan elegir en qué parte del </a:t>
            </a:r>
            <a:r>
              <a:rPr lang="es-PE" sz="1600" spc="-10" dirty="0" err="1">
                <a:solidFill>
                  <a:srgbClr val="262626"/>
                </a:solidFill>
                <a:cs typeface="Source Sans Pro"/>
              </a:rPr>
              <a:t>layout</a:t>
            </a:r>
            <a:r>
              <a:rPr lang="es-PE" sz="1600" spc="-10" dirty="0">
                <a:solidFill>
                  <a:srgbClr val="262626"/>
                </a:solidFill>
                <a:cs typeface="Source Sans Pro"/>
              </a:rPr>
              <a:t> insertar el tile.</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Cuando hayamos elegido dónde colocar el tile, se abrirá la ventana del “editor de textura”. Carguen el tile que descargaron usando el ícono de “abrir” y luego cierren el editor de textura.</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OBJETOS</a:t>
            </a:r>
          </a:p>
        </p:txBody>
      </p:sp>
      <p:pic>
        <p:nvPicPr>
          <p:cNvPr id="7" name="Picture 2"/>
          <p:cNvPicPr>
            <a:picLocks noGrp="1" noChangeAspect="1" noChangeArrowheads="1"/>
          </p:cNvPicPr>
          <p:nvPr>
            <p:ph type="pic" sz="quarter" idx="10"/>
          </p:nvPr>
        </p:nvPicPr>
        <p:blipFill rotWithShape="1">
          <a:blip r:embed="rId4" cstate="print"/>
          <a:srcRect l="25771" t="20988" r="25771" b="20988"/>
          <a:stretch/>
        </p:blipFill>
        <p:spPr bwMode="auto">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29629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2215991"/>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El tile que elegimos aparecerá en el </a:t>
            </a:r>
            <a:r>
              <a:rPr lang="es-PE" sz="1600" spc="-10" dirty="0" err="1">
                <a:solidFill>
                  <a:srgbClr val="262626"/>
                </a:solidFill>
                <a:cs typeface="Source Sans Pro"/>
              </a:rPr>
              <a:t>layout</a:t>
            </a:r>
            <a:r>
              <a:rPr lang="es-PE" sz="1600" spc="-10" dirty="0">
                <a:solidFill>
                  <a:srgbClr val="262626"/>
                </a:solidFill>
                <a:cs typeface="Source Sans Pro"/>
              </a:rPr>
              <a:t>, pero es posible que no tenga el tamaño que queremos ni esté en la posición que debe. </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Seleccionamos el tile y en la barra de propiedades (a la izquierda) establecemos su posición a 0,0 y su tamaño a 1280,1024.</a:t>
            </a:r>
          </a:p>
          <a:p>
            <a:pPr marL="180000" indent="-168275">
              <a:buSzPct val="100000"/>
              <a:buFont typeface="Arial"/>
              <a:buChar char="•"/>
              <a:tabLst>
                <a:tab pos="121285" algn="l"/>
              </a:tabLst>
            </a:pPr>
            <a:endParaRPr lang="es-PE" sz="1600" spc="-10" dirty="0">
              <a:solidFill>
                <a:srgbClr val="262626"/>
              </a:solidFill>
            </a:endParaRP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OBJETOS</a:t>
            </a:r>
          </a:p>
        </p:txBody>
      </p:sp>
      <p:pic>
        <p:nvPicPr>
          <p:cNvPr id="6" name="Picture 4" descr="Tiled Background properties"/>
          <p:cNvPicPr>
            <a:picLocks noGrp="1" noChangeAspect="1" noChangeArrowheads="1"/>
          </p:cNvPicPr>
          <p:nvPr>
            <p:ph type="pic" sz="quarter" idx="10"/>
          </p:nvPr>
        </p:nvPicPr>
        <p:blipFill rotWithShape="1">
          <a:blip r:embed="rId4" cstate="print"/>
          <a:srcRect l="-24658" t="-4496" r="-24658" b="-4496"/>
          <a:stretch/>
        </p:blipFill>
        <p:spPr bwMode="auto">
          <a:prstGeom prst="rect">
            <a:avLst/>
          </a:prstGeom>
          <a:noFill/>
        </p:spPr>
      </p:pic>
    </p:spTree>
    <p:custDataLst>
      <p:tags r:id="rId1"/>
    </p:custDataLst>
    <p:extLst>
      <p:ext uri="{BB962C8B-B14F-4D97-AF65-F5344CB8AC3E}">
        <p14:creationId xmlns:p14="http://schemas.microsoft.com/office/powerpoint/2010/main" val="1339333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77457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LAYERS</a:t>
            </a:r>
          </a:p>
          <a:p>
            <a:pPr>
              <a:lnSpc>
                <a:spcPct val="110000"/>
              </a:lnSpc>
              <a:defRPr/>
            </a:pP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361186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499471" y="810908"/>
            <a:ext cx="4169867" cy="467820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Los </a:t>
            </a:r>
            <a:r>
              <a:rPr lang="es-PE" sz="1600" spc="-10" dirty="0" err="1">
                <a:solidFill>
                  <a:srgbClr val="262626"/>
                </a:solidFill>
                <a:cs typeface="Source Sans Pro"/>
              </a:rPr>
              <a:t>layouts</a:t>
            </a:r>
            <a:r>
              <a:rPr lang="es-PE" sz="1600" spc="-10" dirty="0">
                <a:solidFill>
                  <a:srgbClr val="262626"/>
                </a:solidFill>
                <a:cs typeface="Source Sans Pro"/>
              </a:rPr>
              <a:t> están formados de varios </a:t>
            </a:r>
            <a:r>
              <a:rPr lang="es-PE" sz="1600" spc="-10" dirty="0" err="1">
                <a:solidFill>
                  <a:srgbClr val="262626"/>
                </a:solidFill>
                <a:cs typeface="Source Sans Pro"/>
              </a:rPr>
              <a:t>layers</a:t>
            </a:r>
            <a:r>
              <a:rPr lang="es-PE" sz="1600" spc="-10" dirty="0">
                <a:solidFill>
                  <a:srgbClr val="262626"/>
                </a:solidFill>
                <a:cs typeface="Source Sans Pro"/>
              </a:rPr>
              <a:t> (capas), las cuales pueden (y deben) ser usadas para agrupar objetos.</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Así como en otros programas como Photoshop, es mejor utilizar </a:t>
            </a:r>
            <a:r>
              <a:rPr lang="es-PE" sz="1600" spc="-10" dirty="0" err="1">
                <a:solidFill>
                  <a:srgbClr val="262626"/>
                </a:solidFill>
                <a:cs typeface="Source Sans Pro"/>
              </a:rPr>
              <a:t>layers</a:t>
            </a:r>
            <a:r>
              <a:rPr lang="es-PE" sz="1600" spc="-10" dirty="0">
                <a:solidFill>
                  <a:srgbClr val="262626"/>
                </a:solidFill>
                <a:cs typeface="Source Sans Pro"/>
              </a:rPr>
              <a:t> para ordenar los objetos y sus posiciones con respecto a los demás objetos (qué cosas salen encima de otras y que cosas salen detrás). </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Más adelante aprenderemos que el uso de capas nos permitirá esconder o mostrar grupos completos de objetos, bloquearlos, aplicarles efectos de </a:t>
            </a:r>
            <a:r>
              <a:rPr lang="es-PE" sz="1600" spc="-10" dirty="0" err="1">
                <a:solidFill>
                  <a:srgbClr val="262626"/>
                </a:solidFill>
                <a:cs typeface="Source Sans Pro"/>
              </a:rPr>
              <a:t>parallax</a:t>
            </a:r>
            <a:r>
              <a:rPr lang="es-PE" sz="1600" spc="-10" dirty="0">
                <a:solidFill>
                  <a:srgbClr val="262626"/>
                </a:solidFill>
                <a:cs typeface="Source Sans Pro"/>
              </a:rPr>
              <a:t>, etc.</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Para el ejemplo que estamos creando, queremos que todo lo que coloquemos esté delante del tile de fondo.</a:t>
            </a: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CAPAS</a:t>
            </a:r>
          </a:p>
        </p:txBody>
      </p:sp>
      <p:pic>
        <p:nvPicPr>
          <p:cNvPr id="3074" name="Picture 2" descr="Image result for parallax layer"/>
          <p:cNvPicPr>
            <a:picLocks noGrp="1" noChangeAspect="1" noChangeArrowheads="1"/>
          </p:cNvPicPr>
          <p:nvPr>
            <p:ph type="pic" sz="quarter" idx="10"/>
          </p:nvPr>
        </p:nvPicPr>
        <p:blipFill rotWithShape="1">
          <a:blip r:embed="rId2">
            <a:extLst>
              <a:ext uri="{28A0092B-C50C-407E-A947-70E740481C1C}">
                <a14:useLocalDpi xmlns:a14="http://schemas.microsoft.com/office/drawing/2010/main" val="0"/>
              </a:ext>
            </a:extLst>
          </a:blip>
          <a:srcRect l="12933" t="-19111" r="12933" b="-19111"/>
          <a:stretch/>
        </p:blipFill>
        <p:spPr bwMode="auto">
          <a:xfrm>
            <a:off x="488950" y="860425"/>
            <a:ext cx="3683000" cy="4329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314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969770"/>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Para manejar las capas, debemos ir a la pestaña de “</a:t>
            </a:r>
            <a:r>
              <a:rPr lang="es-PE" sz="1600" spc="-10" dirty="0" err="1">
                <a:solidFill>
                  <a:srgbClr val="262626"/>
                </a:solidFill>
                <a:cs typeface="Source Sans Pro"/>
              </a:rPr>
              <a:t>Layers</a:t>
            </a:r>
            <a:r>
              <a:rPr lang="es-PE" sz="1600" spc="-10" dirty="0">
                <a:solidFill>
                  <a:srgbClr val="262626"/>
                </a:solidFill>
                <a:cs typeface="Source Sans Pro"/>
              </a:rPr>
              <a:t>” que se encuentra al lado de la pestaña de “</a:t>
            </a:r>
            <a:r>
              <a:rPr lang="es-PE" sz="1600" spc="-10" dirty="0" err="1">
                <a:solidFill>
                  <a:srgbClr val="262626"/>
                </a:solidFill>
                <a:cs typeface="Source Sans Pro"/>
              </a:rPr>
              <a:t>Projects</a:t>
            </a:r>
            <a:r>
              <a:rPr lang="es-PE" sz="1600" spc="-10" dirty="0">
                <a:solidFill>
                  <a:srgbClr val="262626"/>
                </a:solidFill>
                <a:cs typeface="Source Sans Pro"/>
              </a:rPr>
              <a:t>”.</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Es recomendable bloquear siempre la capa del fondo para evitar seleccionarla accidentalmente y moverla mientras  estemos trabajando.</a:t>
            </a: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CAPAS</a:t>
            </a:r>
          </a:p>
        </p:txBody>
      </p:sp>
      <p:pic>
        <p:nvPicPr>
          <p:cNvPr id="4" name="Marcador de posición de imagen 3"/>
          <p:cNvPicPr>
            <a:picLocks noGrp="1" noChangeAspect="1"/>
          </p:cNvPicPr>
          <p:nvPr>
            <p:ph type="pic" sz="quarter" idx="10"/>
          </p:nvPr>
        </p:nvPicPr>
        <p:blipFill rotWithShape="1">
          <a:blip r:embed="rId4"/>
          <a:srcRect l="-45830" t="-4496" r="-45830" b="-4496"/>
          <a:stretch/>
        </p:blipFill>
        <p:spPr>
          <a:prstGeom prst="rect">
            <a:avLst/>
          </a:prstGeom>
        </p:spPr>
      </p:pic>
    </p:spTree>
    <p:custDataLst>
      <p:tags r:id="rId1"/>
    </p:custDataLst>
    <p:extLst>
      <p:ext uri="{BB962C8B-B14F-4D97-AF65-F5344CB8AC3E}">
        <p14:creationId xmlns:p14="http://schemas.microsoft.com/office/powerpoint/2010/main" val="765209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270843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Tomemos la capa 0 (</a:t>
            </a:r>
            <a:r>
              <a:rPr lang="es-PE" sz="1600" spc="-10" dirty="0" err="1">
                <a:solidFill>
                  <a:srgbClr val="262626"/>
                </a:solidFill>
                <a:cs typeface="Source Sans Pro"/>
              </a:rPr>
              <a:t>layer</a:t>
            </a:r>
            <a:r>
              <a:rPr lang="es-PE" sz="1600" spc="-10" dirty="0">
                <a:solidFill>
                  <a:srgbClr val="262626"/>
                </a:solidFill>
                <a:cs typeface="Source Sans Pro"/>
              </a:rPr>
              <a:t> 0) y cambiémosla de nombre a “Fondo”. Para hacer esto, se selecciona la capa y con la herramienta “lápiz” (o con F2)  podemos escribir el nuevo nombre de la capa. </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Luego hacemos clic en el ícono del candado y lo dejamos en la posición de cerrado.</a:t>
            </a:r>
          </a:p>
          <a:p>
            <a:pPr marL="11725">
              <a:buSzPct val="100000"/>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CAPAS</a:t>
            </a:r>
          </a:p>
        </p:txBody>
      </p:sp>
      <p:pic>
        <p:nvPicPr>
          <p:cNvPr id="18" name="Marcador de posición de imagen 17"/>
          <p:cNvPicPr>
            <a:picLocks noGrp="1" noChangeAspect="1"/>
          </p:cNvPicPr>
          <p:nvPr>
            <p:ph type="pic" sz="quarter" idx="11"/>
          </p:nvPr>
        </p:nvPicPr>
        <p:blipFill rotWithShape="1">
          <a:blip r:embed="rId3"/>
          <a:srcRect l="-5930" t="-234949" r="-5930" b="-234949"/>
          <a:stretch/>
        </p:blipFill>
        <p:spPr>
          <a:prstGeom prst="rect">
            <a:avLst/>
          </a:prstGeom>
        </p:spPr>
      </p:pic>
    </p:spTree>
    <p:extLst>
      <p:ext uri="{BB962C8B-B14F-4D97-AF65-F5344CB8AC3E}">
        <p14:creationId xmlns:p14="http://schemas.microsoft.com/office/powerpoint/2010/main" val="2737496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20087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Insertamos una nueva capa encima de la que hemos establecido como fondo y asignamos el nombre “Principal”. Para esto, hacemos clic en el ícono de “+”.</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Asegúrense de que la capa seleccionada para trabajar es la “Principal”, pues la capa seleccionada siempre será la capa activa. Esto quiere decir que todo lo que insertemos, modifiquemos, eliminemos, </a:t>
            </a:r>
            <a:r>
              <a:rPr lang="es-PE" sz="1600" spc="-10" dirty="0" err="1">
                <a:solidFill>
                  <a:srgbClr val="262626"/>
                </a:solidFill>
                <a:cs typeface="Source Sans Pro"/>
              </a:rPr>
              <a:t>etc</a:t>
            </a:r>
            <a:r>
              <a:rPr lang="es-PE" sz="1600" spc="-10" dirty="0">
                <a:solidFill>
                  <a:srgbClr val="262626"/>
                </a:solidFill>
                <a:cs typeface="Source Sans Pro"/>
              </a:rPr>
              <a:t>, se verá reflejado en ESA capa.</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CAPAS</a:t>
            </a:r>
          </a:p>
        </p:txBody>
      </p:sp>
      <p:pic>
        <p:nvPicPr>
          <p:cNvPr id="15" name="Marcador de posición de imagen 14"/>
          <p:cNvPicPr>
            <a:picLocks noGrp="1" noChangeAspect="1"/>
          </p:cNvPicPr>
          <p:nvPr>
            <p:ph type="pic" sz="quarter" idx="11"/>
          </p:nvPr>
        </p:nvPicPr>
        <p:blipFill rotWithShape="1">
          <a:blip r:embed="rId3"/>
          <a:srcRect l="-5930" t="-143035" r="-5930" b="-143035"/>
          <a:stretch/>
        </p:blipFill>
        <p:spPr>
          <a:prstGeom prst="rect">
            <a:avLst/>
          </a:prstGeom>
        </p:spPr>
      </p:pic>
    </p:spTree>
    <p:extLst>
      <p:ext uri="{BB962C8B-B14F-4D97-AF65-F5344CB8AC3E}">
        <p14:creationId xmlns:p14="http://schemas.microsoft.com/office/powerpoint/2010/main" val="328799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20087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Volvamos al </a:t>
            </a:r>
            <a:r>
              <a:rPr lang="es-PE" sz="1600" spc="-10" dirty="0" err="1">
                <a:solidFill>
                  <a:srgbClr val="262626"/>
                </a:solidFill>
                <a:cs typeface="Source Sans Pro"/>
              </a:rPr>
              <a:t>layout</a:t>
            </a:r>
            <a:r>
              <a:rPr lang="es-PE" sz="1600" spc="-10" dirty="0">
                <a:solidFill>
                  <a:srgbClr val="262626"/>
                </a:solidFill>
                <a:cs typeface="Source Sans Pro"/>
              </a:rPr>
              <a:t>. Hacemos doble clic para insertar un nuevo objeto. Esta vez los “input” o dispositivos de control necesarios para controlar el juego. Seleccionamos teclado y mouse.</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Estos objetos no necesitan ser colocados en una capa específica. Se encontrarán escondidos y funcionarán para todo el proyecto. Al haberlos implementado, todas nuestras capas aceptarán controles de teclado y mouse. </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CONTROLES</a:t>
            </a:r>
          </a:p>
        </p:txBody>
      </p:sp>
      <p:pic>
        <p:nvPicPr>
          <p:cNvPr id="4" name="Marcador de posición de imagen 3"/>
          <p:cNvPicPr>
            <a:picLocks noGrp="1" noChangeAspect="1"/>
          </p:cNvPicPr>
          <p:nvPr>
            <p:ph type="pic" sz="quarter" idx="11"/>
          </p:nvPr>
        </p:nvPicPr>
        <p:blipFill rotWithShape="1">
          <a:blip r:embed="rId3"/>
          <a:srcRect l="-5930" t="-171631" r="-5930" b="-171631"/>
          <a:stretch/>
        </p:blipFill>
        <p:spPr>
          <a:prstGeom prst="rect">
            <a:avLst/>
          </a:prstGeom>
        </p:spPr>
      </p:pic>
    </p:spTree>
    <p:extLst>
      <p:ext uri="{BB962C8B-B14F-4D97-AF65-F5344CB8AC3E}">
        <p14:creationId xmlns:p14="http://schemas.microsoft.com/office/powerpoint/2010/main" val="1653557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angle 3"/>
          <p:cNvSpPr/>
          <p:nvPr/>
        </p:nvSpPr>
        <p:spPr>
          <a:xfrm>
            <a:off x="424252" y="3703125"/>
            <a:ext cx="7966170" cy="774571"/>
          </a:xfrm>
          <a:prstGeom prst="rect">
            <a:avLst/>
          </a:prstGeom>
        </p:spPr>
        <p:txBody>
          <a:bodyPr wrap="square">
            <a:spAutoFit/>
          </a:bodyPr>
          <a:lstStyle/>
          <a:p>
            <a:pPr>
              <a:lnSpc>
                <a:spcPct val="90000"/>
              </a:lnSpc>
              <a:spcBef>
                <a:spcPts val="1000"/>
              </a:spcBef>
              <a:defRPr/>
            </a:pPr>
            <a:r>
              <a:rPr lang="es-PE" sz="2800" b="1" dirty="0">
                <a:solidFill>
                  <a:schemeClr val="bg1"/>
                </a:solidFill>
                <a:latin typeface="Calibri"/>
                <a:cs typeface="Calibri"/>
              </a:rPr>
              <a:t>SPRITES Y ANIMACIONES</a:t>
            </a:r>
          </a:p>
          <a:p>
            <a:pPr>
              <a:lnSpc>
                <a:spcPct val="110000"/>
              </a:lnSpc>
              <a:defRPr/>
            </a:pPr>
            <a:endParaRPr lang="es-ES" sz="1600" dirty="0">
              <a:solidFill>
                <a:schemeClr val="bg1"/>
              </a:solidFill>
              <a:cs typeface="Calibri"/>
            </a:endParaRPr>
          </a:p>
        </p:txBody>
      </p:sp>
    </p:spTree>
    <p:custDataLst>
      <p:tags r:id="rId1"/>
    </p:custDataLst>
    <p:extLst>
      <p:ext uri="{BB962C8B-B14F-4D97-AF65-F5344CB8AC3E}">
        <p14:creationId xmlns:p14="http://schemas.microsoft.com/office/powerpoint/2010/main" val="10670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5298" y="810908"/>
            <a:ext cx="8083883" cy="123110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Es momento de insertar nuestros objetos de juego. No olviden desempaquetar el archivo (.</a:t>
            </a:r>
            <a:r>
              <a:rPr lang="es-PE" sz="1600" spc="-10" dirty="0" err="1">
                <a:solidFill>
                  <a:srgbClr val="262626"/>
                </a:solidFill>
                <a:cs typeface="Source Sans Pro"/>
              </a:rPr>
              <a:t>rar</a:t>
            </a:r>
            <a:r>
              <a:rPr lang="es-PE" sz="1600" spc="-10" dirty="0">
                <a:solidFill>
                  <a:srgbClr val="262626"/>
                </a:solidFill>
                <a:cs typeface="Source Sans Pro"/>
              </a:rPr>
              <a:t>) antes! </a:t>
            </a:r>
          </a:p>
          <a:p>
            <a:pPr marL="180000" indent="-168275">
              <a:buSzPct val="100000"/>
              <a:buFont typeface="Arial"/>
              <a:buChar char="•"/>
              <a:tabLst>
                <a:tab pos="121285" algn="l"/>
              </a:tabLst>
            </a:pPr>
            <a:endParaRPr lang="es-PE" sz="1600" dirty="0"/>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10"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SPRITES</a:t>
            </a:r>
          </a:p>
        </p:txBody>
      </p:sp>
      <p:pic>
        <p:nvPicPr>
          <p:cNvPr id="3" name="Marcador de posición de imagen 2"/>
          <p:cNvPicPr>
            <a:picLocks noGrp="1" noChangeAspect="1"/>
          </p:cNvPicPr>
          <p:nvPr>
            <p:ph type="pic" sz="quarter" idx="10"/>
          </p:nvPr>
        </p:nvPicPr>
        <p:blipFill>
          <a:blip r:embed="rId4"/>
          <a:srcRect t="2448" b="2448"/>
          <a:stretch>
            <a:fillRect/>
          </a:stretch>
        </p:blipFill>
        <p:spPr>
          <a:prstGeom prst="rect">
            <a:avLst/>
          </a:prstGeom>
        </p:spPr>
      </p:pic>
    </p:spTree>
    <p:custDataLst>
      <p:tags r:id="rId1"/>
    </p:custDataLst>
    <p:extLst>
      <p:ext uri="{BB962C8B-B14F-4D97-AF65-F5344CB8AC3E}">
        <p14:creationId xmlns:p14="http://schemas.microsoft.com/office/powerpoint/2010/main" val="164980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4185761"/>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Los cuatro elementos deben ser insertados del mismo método que el tile de fondo y los controles, pero esta vez debemos elegir  “insertar un </a:t>
            </a:r>
            <a:r>
              <a:rPr lang="es-PE" sz="1600" spc="-10" dirty="0" err="1">
                <a:solidFill>
                  <a:srgbClr val="262626"/>
                </a:solidFill>
                <a:cs typeface="Source Sans Pro"/>
              </a:rPr>
              <a:t>sprite</a:t>
            </a:r>
            <a:r>
              <a:rPr lang="es-PE" sz="1600" spc="-10" dirty="0">
                <a:solidFill>
                  <a:srgbClr val="262626"/>
                </a:solidFill>
                <a:cs typeface="Source Sans Pro"/>
              </a:rPr>
              <a:t>”.</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lvl="1" indent="-168275">
              <a:buSzPct val="100000"/>
              <a:buFont typeface="Arial"/>
              <a:buChar char="•"/>
              <a:tabLst>
                <a:tab pos="121285" algn="l"/>
              </a:tabLst>
            </a:pPr>
            <a:r>
              <a:rPr lang="es-PE" sz="1600" b="1" spc="-10" dirty="0">
                <a:solidFill>
                  <a:srgbClr val="262626"/>
                </a:solidFill>
                <a:cs typeface="Source Sans Pro"/>
              </a:rPr>
              <a:t>Pro </a:t>
            </a:r>
            <a:r>
              <a:rPr lang="es-PE" sz="1600" b="1" spc="-10" dirty="0" err="1">
                <a:solidFill>
                  <a:srgbClr val="262626"/>
                </a:solidFill>
                <a:cs typeface="Source Sans Pro"/>
              </a:rPr>
              <a:t>tip</a:t>
            </a:r>
            <a:r>
              <a:rPr lang="es-PE" sz="1600" b="1" spc="-10" dirty="0">
                <a:solidFill>
                  <a:srgbClr val="262626"/>
                </a:solidFill>
                <a:cs typeface="Source Sans Pro"/>
              </a:rPr>
              <a:t> 1: </a:t>
            </a:r>
            <a:r>
              <a:rPr lang="es-PE" sz="1600" spc="-10" dirty="0">
                <a:solidFill>
                  <a:srgbClr val="262626"/>
                </a:solidFill>
                <a:cs typeface="Source Sans Pro"/>
              </a:rPr>
              <a:t>el cursor siempre tendrá un </a:t>
            </a:r>
            <a:r>
              <a:rPr lang="es-PE" sz="1600" spc="-10" dirty="0" err="1">
                <a:solidFill>
                  <a:srgbClr val="262626"/>
                </a:solidFill>
                <a:cs typeface="Source Sans Pro"/>
              </a:rPr>
              <a:t>tooltip</a:t>
            </a:r>
            <a:r>
              <a:rPr lang="es-PE" sz="1600" spc="-10" dirty="0">
                <a:solidFill>
                  <a:srgbClr val="262626"/>
                </a:solidFill>
                <a:cs typeface="Source Sans Pro"/>
              </a:rPr>
              <a:t> que indique la capa en la que estamos colocando los objetos. Asegúrense de que sea la capa que marcamos como “principal”.</a:t>
            </a:r>
          </a:p>
          <a:p>
            <a:pPr marL="180000" lvl="1" indent="-168275">
              <a:buSzPct val="100000"/>
              <a:buFont typeface="Arial"/>
              <a:buChar char="•"/>
              <a:tabLst>
                <a:tab pos="121285" algn="l"/>
              </a:tabLst>
            </a:pPr>
            <a:endParaRPr lang="es-PE" sz="1600" spc="-10" dirty="0">
              <a:solidFill>
                <a:srgbClr val="262626"/>
              </a:solidFill>
              <a:cs typeface="Source Sans Pro"/>
            </a:endParaRPr>
          </a:p>
          <a:p>
            <a:pPr marL="180000" lvl="1" indent="-168275">
              <a:buSzPct val="100000"/>
              <a:buFont typeface="Arial"/>
              <a:buChar char="•"/>
              <a:tabLst>
                <a:tab pos="121285" algn="l"/>
              </a:tabLst>
            </a:pPr>
            <a:r>
              <a:rPr lang="es-PE" sz="1600" b="1" spc="-10" dirty="0">
                <a:solidFill>
                  <a:srgbClr val="262626"/>
                </a:solidFill>
                <a:cs typeface="Source Sans Pro"/>
              </a:rPr>
              <a:t>Pro </a:t>
            </a:r>
            <a:r>
              <a:rPr lang="es-PE" sz="1600" b="1" spc="-10" dirty="0" err="1">
                <a:solidFill>
                  <a:srgbClr val="262626"/>
                </a:solidFill>
                <a:cs typeface="Source Sans Pro"/>
              </a:rPr>
              <a:t>tip</a:t>
            </a:r>
            <a:r>
              <a:rPr lang="es-PE" sz="1600" b="1" spc="-10" dirty="0">
                <a:solidFill>
                  <a:srgbClr val="262626"/>
                </a:solidFill>
                <a:cs typeface="Source Sans Pro"/>
              </a:rPr>
              <a:t> 2:</a:t>
            </a:r>
            <a:r>
              <a:rPr lang="es-PE" sz="1600" spc="-10" dirty="0">
                <a:solidFill>
                  <a:srgbClr val="262626"/>
                </a:solidFill>
                <a:cs typeface="Source Sans Pro"/>
              </a:rPr>
              <a:t> pueden hacer </a:t>
            </a:r>
            <a:r>
              <a:rPr lang="es-PE" sz="1600" spc="-10" dirty="0" err="1">
                <a:solidFill>
                  <a:srgbClr val="262626"/>
                </a:solidFill>
                <a:cs typeface="Source Sans Pro"/>
              </a:rPr>
              <a:t>drag</a:t>
            </a:r>
            <a:r>
              <a:rPr lang="es-PE" sz="1600" spc="-10" dirty="0">
                <a:solidFill>
                  <a:srgbClr val="262626"/>
                </a:solidFill>
                <a:cs typeface="Source Sans Pro"/>
              </a:rPr>
              <a:t> and </a:t>
            </a:r>
            <a:r>
              <a:rPr lang="es-PE" sz="1600" spc="-10" dirty="0" err="1">
                <a:solidFill>
                  <a:srgbClr val="262626"/>
                </a:solidFill>
                <a:cs typeface="Source Sans Pro"/>
              </a:rPr>
              <a:t>drop</a:t>
            </a:r>
            <a:r>
              <a:rPr lang="es-PE" sz="1600" spc="-10" dirty="0">
                <a:solidFill>
                  <a:srgbClr val="262626"/>
                </a:solidFill>
                <a:cs typeface="Source Sans Pro"/>
              </a:rPr>
              <a:t> de las imágenes a la capa “principal”. </a:t>
            </a:r>
            <a:r>
              <a:rPr lang="es-PE" sz="1600" spc="-10" dirty="0" err="1">
                <a:solidFill>
                  <a:srgbClr val="262626"/>
                </a:solidFill>
                <a:cs typeface="Source Sans Pro"/>
              </a:rPr>
              <a:t>Construct</a:t>
            </a:r>
            <a:r>
              <a:rPr lang="es-PE" sz="1600" spc="-10" dirty="0">
                <a:solidFill>
                  <a:srgbClr val="262626"/>
                </a:solidFill>
                <a:cs typeface="Source Sans Pro"/>
              </a:rPr>
              <a:t> convertirá automáticamente cada imagen en </a:t>
            </a:r>
            <a:r>
              <a:rPr lang="es-PE" sz="1600" spc="-10" dirty="0" err="1">
                <a:solidFill>
                  <a:srgbClr val="262626"/>
                </a:solidFill>
                <a:cs typeface="Source Sans Pro"/>
              </a:rPr>
              <a:t>sprite</a:t>
            </a:r>
            <a:r>
              <a:rPr lang="es-PE" sz="1600" spc="-10" dirty="0">
                <a:solidFill>
                  <a:srgbClr val="262626"/>
                </a:solidFill>
                <a:cs typeface="Source Sans Pro"/>
              </a:rPr>
              <a:t>.  Ojo, mover las imágenes de una en una o se generará un </a:t>
            </a:r>
            <a:r>
              <a:rPr lang="es-PE" sz="1600" spc="-10" dirty="0" err="1">
                <a:solidFill>
                  <a:srgbClr val="262626"/>
                </a:solidFill>
                <a:cs typeface="Source Sans Pro"/>
              </a:rPr>
              <a:t>sprite</a:t>
            </a:r>
            <a:r>
              <a:rPr lang="es-PE" sz="1600" spc="-10" dirty="0">
                <a:solidFill>
                  <a:srgbClr val="262626"/>
                </a:solidFill>
                <a:cs typeface="Source Sans Pro"/>
              </a:rPr>
              <a:t> Frankenstein. </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SPRITES</a:t>
            </a:r>
          </a:p>
        </p:txBody>
      </p:sp>
      <p:pic>
        <p:nvPicPr>
          <p:cNvPr id="7" name="Picture 2"/>
          <p:cNvPicPr>
            <a:picLocks noGrp="1" noChangeAspect="1" noChangeArrowheads="1"/>
          </p:cNvPicPr>
          <p:nvPr>
            <p:ph type="pic" sz="quarter" idx="11"/>
          </p:nvPr>
        </p:nvPicPr>
        <p:blipFill rotWithShape="1">
          <a:blip r:embed="rId3" cstate="print"/>
          <a:srcRect l="-5930" t="-35486" r="-5930" b="-35486"/>
          <a:stretch/>
        </p:blipFill>
        <p:spPr bwMode="auto">
          <a:prstGeom prst="rect">
            <a:avLst/>
          </a:prstGeom>
          <a:noFill/>
          <a:ln w="9525">
            <a:noFill/>
            <a:miter lim="800000"/>
            <a:headEnd/>
            <a:tailEnd/>
          </a:ln>
        </p:spPr>
      </p:pic>
    </p:spTree>
    <p:extLst>
      <p:ext uri="{BB962C8B-B14F-4D97-AF65-F5344CB8AC3E}">
        <p14:creationId xmlns:p14="http://schemas.microsoft.com/office/powerpoint/2010/main" val="3943750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7"/>
          <p:cNvSpPr txBox="1"/>
          <p:nvPr/>
        </p:nvSpPr>
        <p:spPr>
          <a:xfrm>
            <a:off x="495299" y="810908"/>
            <a:ext cx="4376446" cy="3200876"/>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PE" sz="1600" spc="-10" dirty="0">
                <a:solidFill>
                  <a:srgbClr val="262626"/>
                </a:solidFill>
                <a:cs typeface="Source Sans Pro"/>
              </a:rPr>
              <a:t>Cambien de nombre a cada </a:t>
            </a:r>
            <a:r>
              <a:rPr lang="es-PE" sz="1600" spc="-10" dirty="0" err="1">
                <a:solidFill>
                  <a:srgbClr val="262626"/>
                </a:solidFill>
                <a:cs typeface="Source Sans Pro"/>
              </a:rPr>
              <a:t>sprite</a:t>
            </a:r>
            <a:r>
              <a:rPr lang="es-PE" sz="1600" spc="-10" dirty="0">
                <a:solidFill>
                  <a:srgbClr val="262626"/>
                </a:solidFill>
                <a:cs typeface="Source Sans Pro"/>
              </a:rPr>
              <a:t>. Hagan esto pensando que en algún momento manejarán muchos a la vez y necesitarán ubicarlos rápidamente.  Usen nombres que los ayuden a trabajar.</a:t>
            </a:r>
          </a:p>
          <a:p>
            <a:pPr marL="180000" indent="-168275">
              <a:buSzPct val="100000"/>
              <a:buFont typeface="Arial"/>
              <a:buChar char="•"/>
              <a:tabLst>
                <a:tab pos="121285" algn="l"/>
              </a:tabLst>
            </a:pPr>
            <a:endParaRPr lang="es-PE" sz="1600" spc="-10" dirty="0">
              <a:solidFill>
                <a:srgbClr val="262626"/>
              </a:solidFill>
              <a:cs typeface="Source Sans Pro"/>
            </a:endParaRPr>
          </a:p>
          <a:p>
            <a:pPr marL="180000" indent="-168275">
              <a:buSzPct val="100000"/>
              <a:buFont typeface="Arial"/>
              <a:buChar char="•"/>
              <a:tabLst>
                <a:tab pos="121285" algn="l"/>
              </a:tabLst>
            </a:pPr>
            <a:r>
              <a:rPr lang="es-PE" sz="1600" spc="-10" dirty="0">
                <a:solidFill>
                  <a:srgbClr val="262626"/>
                </a:solidFill>
                <a:cs typeface="Source Sans Pro"/>
              </a:rPr>
              <a:t>Tengan en el encuadre central, solo los objetos que van a utilizar al inicio. Muevan a un lado la bala y la explosión para que no aparezcan en la composición inicial. </a:t>
            </a:r>
          </a:p>
          <a:p>
            <a:pPr marL="180000" indent="-168275">
              <a:buSzPct val="100000"/>
              <a:buFont typeface="Arial"/>
              <a:buChar char="•"/>
              <a:tabLst>
                <a:tab pos="121285" algn="l"/>
              </a:tabLst>
            </a:pPr>
            <a:endParaRPr lang="es-PE" sz="1600" spc="-10" dirty="0">
              <a:solidFill>
                <a:srgbClr val="262626"/>
              </a:solidFill>
              <a:cs typeface="Source Sans Pro"/>
            </a:endParaRPr>
          </a:p>
          <a:p>
            <a:pPr marL="11725">
              <a:buSzPct val="100000"/>
              <a:tabLst>
                <a:tab pos="121285" algn="l"/>
              </a:tabLst>
            </a:pPr>
            <a:r>
              <a:rPr lang="en-US" sz="1600" spc="-10" dirty="0">
                <a:solidFill>
                  <a:srgbClr val="262626"/>
                </a:solidFill>
                <a:cs typeface="Source Sans Pro"/>
              </a:rPr>
              <a:t/>
            </a:r>
            <a:br>
              <a:rPr lang="en-US" sz="1600" spc="-10" dirty="0">
                <a:solidFill>
                  <a:srgbClr val="262626"/>
                </a:solidFill>
                <a:cs typeface="Source Sans Pro"/>
              </a:rPr>
            </a:br>
            <a:endParaRPr lang="en-US" sz="1600" spc="-10" dirty="0">
              <a:solidFill>
                <a:srgbClr val="262626"/>
              </a:solidFill>
              <a:cs typeface="Source Sans Pro"/>
            </a:endParaRPr>
          </a:p>
        </p:txBody>
      </p:sp>
      <p:sp>
        <p:nvSpPr>
          <p:cNvPr id="5"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INSERTANDO SPRITES</a:t>
            </a:r>
          </a:p>
        </p:txBody>
      </p:sp>
      <p:pic>
        <p:nvPicPr>
          <p:cNvPr id="8194" name="Picture 2" descr="Image result for TESIS FINAL FINAL"/>
          <p:cNvPicPr>
            <a:picLocks noGrp="1" noChangeAspect="1" noChangeArrowheads="1"/>
          </p:cNvPicPr>
          <p:nvPr>
            <p:ph type="pic" sz="quarter" idx="11"/>
          </p:nvPr>
        </p:nvPicPr>
        <p:blipFill>
          <a:blip r:embed="rId3">
            <a:extLst>
              <a:ext uri="{28A0092B-C50C-407E-A947-70E740481C1C}">
                <a14:useLocalDpi xmlns:a14="http://schemas.microsoft.com/office/drawing/2010/main" val="0"/>
              </a:ext>
            </a:extLst>
          </a:blip>
          <a:srcRect l="7940" r="7940"/>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4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p:nvPr/>
        </p:nvSpPr>
        <p:spPr>
          <a:xfrm>
            <a:off x="407875" y="320830"/>
            <a:ext cx="7204493" cy="353943"/>
          </a:xfrm>
          <a:prstGeom prst="rect">
            <a:avLst/>
          </a:prstGeom>
        </p:spPr>
        <p:txBody>
          <a:bodyPr wrap="square">
            <a:spAutoFit/>
          </a:bodyPr>
          <a:lstStyle/>
          <a:p>
            <a:r>
              <a:rPr lang="es-PE" sz="1700" dirty="0">
                <a:solidFill>
                  <a:srgbClr val="438AD7"/>
                </a:solidFill>
              </a:rPr>
              <a:t>/ INSERTANDO SPRITES</a:t>
            </a:r>
          </a:p>
        </p:txBody>
      </p:sp>
      <p:pic>
        <p:nvPicPr>
          <p:cNvPr id="12290" name="Picture 2" descr="Image result for CONTINUARA"/>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2989" b="298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94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788068" y="881063"/>
            <a:ext cx="6871746" cy="4281487"/>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5" name="Rectángulo 10"/>
          <p:cNvSpPr/>
          <p:nvPr/>
        </p:nvSpPr>
        <p:spPr>
          <a:xfrm>
            <a:off x="1832904" y="917413"/>
            <a:ext cx="3402730" cy="880241"/>
          </a:xfrm>
          <a:prstGeom prst="rect">
            <a:avLst/>
          </a:prstGeom>
        </p:spPr>
        <p:txBody>
          <a:bodyPr wrap="square">
            <a:spAutoFit/>
          </a:bodyPr>
          <a:lstStyle/>
          <a:p>
            <a:pPr defTabSz="731342"/>
            <a:r>
              <a:rPr lang="es-PE" sz="1600" b="1" dirty="0">
                <a:solidFill>
                  <a:schemeClr val="tx2">
                    <a:lumMod val="60000"/>
                    <a:lumOff val="40000"/>
                  </a:schemeClr>
                </a:solidFill>
              </a:rPr>
              <a:t>REPASO</a:t>
            </a:r>
            <a:endParaRPr lang="es-PE" sz="1600" dirty="0">
              <a:solidFill>
                <a:schemeClr val="tx2">
                  <a:lumMod val="60000"/>
                  <a:lumOff val="40000"/>
                </a:schemeClr>
              </a:solidFill>
            </a:endParaRPr>
          </a:p>
          <a:p>
            <a:pPr marL="176213" indent="-176213" defTabSz="731342">
              <a:buFont typeface="Arial"/>
              <a:buChar char="•"/>
            </a:pPr>
            <a:r>
              <a:rPr lang="es-PE" sz="1600" dirty="0">
                <a:solidFill>
                  <a:srgbClr val="000000"/>
                </a:solidFill>
              </a:rPr>
              <a:t>Repasar la importación de </a:t>
            </a:r>
            <a:r>
              <a:rPr lang="es-PE" sz="1600" dirty="0" err="1">
                <a:solidFill>
                  <a:srgbClr val="000000"/>
                </a:solidFill>
              </a:rPr>
              <a:t>sprites</a:t>
            </a:r>
            <a:r>
              <a:rPr lang="es-PE" sz="1600" dirty="0">
                <a:solidFill>
                  <a:srgbClr val="000000"/>
                </a:solidFill>
              </a:rPr>
              <a:t>.</a:t>
            </a:r>
          </a:p>
          <a:p>
            <a:pPr marL="285750" indent="-285750" defTabSz="731342">
              <a:lnSpc>
                <a:spcPct val="120000"/>
              </a:lnSpc>
              <a:buFont typeface="Arial"/>
              <a:buChar char="•"/>
            </a:pPr>
            <a:endParaRPr lang="es-PE" sz="1600" dirty="0">
              <a:solidFill>
                <a:srgbClr val="000000"/>
              </a:solidFill>
            </a:endParaRPr>
          </a:p>
        </p:txBody>
      </p:sp>
      <p:sp>
        <p:nvSpPr>
          <p:cNvPr id="2" name="Rectángulo 1"/>
          <p:cNvSpPr/>
          <p:nvPr/>
        </p:nvSpPr>
        <p:spPr>
          <a:xfrm>
            <a:off x="5477544" y="993537"/>
            <a:ext cx="3070939" cy="401734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ACTIVIDAD</a:t>
            </a:r>
          </a:p>
        </p:txBody>
      </p:sp>
    </p:spTree>
    <p:custDataLst>
      <p:tags r:id="rId1"/>
    </p:custDataLst>
    <p:extLst>
      <p:ext uri="{BB962C8B-B14F-4D97-AF65-F5344CB8AC3E}">
        <p14:creationId xmlns:p14="http://schemas.microsoft.com/office/powerpoint/2010/main" val="274823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9144000" cy="5715000"/>
          </a:xfrm>
          <a:prstGeom prst="rect">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10"/>
          <p:cNvSpPr/>
          <p:nvPr/>
        </p:nvSpPr>
        <p:spPr>
          <a:xfrm>
            <a:off x="2527711" y="770440"/>
            <a:ext cx="6132101" cy="2446824"/>
          </a:xfrm>
          <a:prstGeom prst="rect">
            <a:avLst/>
          </a:prstGeom>
        </p:spPr>
        <p:txBody>
          <a:bodyPr wrap="square">
            <a:spAutoFit/>
          </a:bodyPr>
          <a:lstStyle/>
          <a:p>
            <a:pPr marL="180975" indent="-180975">
              <a:buFont typeface="Arial" panose="020B0604020202020204" pitchFamily="34" charset="0"/>
              <a:buChar char="•"/>
            </a:pPr>
            <a:r>
              <a:rPr lang="es-PE" sz="1700" dirty="0" err="1">
                <a:solidFill>
                  <a:srgbClr val="FFFFFF"/>
                </a:solidFill>
                <a:latin typeface="+mj-lt"/>
                <a:ea typeface="Calibri" panose="020F0502020204030204" pitchFamily="34" charset="0"/>
                <a:cs typeface="Source Sans Pro" panose="020B0604020202020204" charset="0"/>
              </a:rPr>
              <a:t>Construct</a:t>
            </a:r>
            <a:r>
              <a:rPr lang="es-PE" sz="1700" dirty="0">
                <a:solidFill>
                  <a:srgbClr val="FFFFFF"/>
                </a:solidFill>
                <a:latin typeface="+mj-lt"/>
                <a:ea typeface="Calibri" panose="020F0502020204030204" pitchFamily="34" charset="0"/>
                <a:cs typeface="Source Sans Pro" panose="020B0604020202020204" charset="0"/>
              </a:rPr>
              <a:t> 2 es una herramienta que nos ayuda en la producción de videojuegos que </a:t>
            </a:r>
            <a:r>
              <a:rPr lang="es-PE" sz="1700">
                <a:solidFill>
                  <a:srgbClr val="FFFFFF"/>
                </a:solidFill>
                <a:latin typeface="+mj-lt"/>
                <a:ea typeface="Calibri" panose="020F0502020204030204" pitchFamily="34" charset="0"/>
                <a:cs typeface="Source Sans Pro" panose="020B0604020202020204" charset="0"/>
              </a:rPr>
              <a:t>utilicen gráfica </a:t>
            </a:r>
            <a:r>
              <a:rPr lang="es-PE" sz="1700" dirty="0">
                <a:solidFill>
                  <a:srgbClr val="FFFFFF"/>
                </a:solidFill>
                <a:latin typeface="+mj-lt"/>
                <a:ea typeface="Calibri" panose="020F0502020204030204" pitchFamily="34" charset="0"/>
                <a:cs typeface="Source Sans Pro" panose="020B0604020202020204" charset="0"/>
              </a:rPr>
              <a:t>2D. </a:t>
            </a:r>
          </a:p>
          <a:p>
            <a:pPr marL="180975" indent="-180975">
              <a:buFont typeface="Arial" panose="020B0604020202020204" pitchFamily="34" charset="0"/>
              <a:buChar char="•"/>
            </a:pPr>
            <a:endParaRPr lang="es-PE" sz="17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700" dirty="0">
                <a:solidFill>
                  <a:srgbClr val="FFFFFF"/>
                </a:solidFill>
                <a:latin typeface="+mj-lt"/>
                <a:ea typeface="Calibri" panose="020F0502020204030204" pitchFamily="34" charset="0"/>
                <a:cs typeface="Source Sans Pro" panose="020B0604020202020204" charset="0"/>
              </a:rPr>
              <a:t>Se pueden realizar juegos con cualquier estilo gráfico en 2D (pixel art, </a:t>
            </a:r>
            <a:r>
              <a:rPr lang="es-PE" sz="1700" dirty="0" err="1">
                <a:solidFill>
                  <a:srgbClr val="FFFFFF"/>
                </a:solidFill>
                <a:latin typeface="+mj-lt"/>
                <a:ea typeface="Calibri" panose="020F0502020204030204" pitchFamily="34" charset="0"/>
                <a:cs typeface="Source Sans Pro" panose="020B0604020202020204" charset="0"/>
              </a:rPr>
              <a:t>cartoon</a:t>
            </a:r>
            <a:r>
              <a:rPr lang="es-PE" sz="1700" dirty="0">
                <a:solidFill>
                  <a:srgbClr val="FFFFFF"/>
                </a:solidFill>
                <a:latin typeface="+mj-lt"/>
                <a:ea typeface="Calibri" panose="020F0502020204030204" pitchFamily="34" charset="0"/>
                <a:cs typeface="Source Sans Pro" panose="020B0604020202020204" charset="0"/>
              </a:rPr>
              <a:t>, manga)</a:t>
            </a:r>
          </a:p>
          <a:p>
            <a:pPr marL="180975" indent="-180975">
              <a:buFont typeface="Arial" panose="020B0604020202020204" pitchFamily="34" charset="0"/>
              <a:buChar char="•"/>
            </a:pPr>
            <a:endParaRPr lang="es-PE" sz="1700" dirty="0">
              <a:solidFill>
                <a:srgbClr val="FFFFFF"/>
              </a:solidFill>
              <a:latin typeface="+mj-lt"/>
              <a:ea typeface="Calibri" panose="020F0502020204030204" pitchFamily="34" charset="0"/>
              <a:cs typeface="Source Sans Pro" panose="020B0604020202020204" charset="0"/>
            </a:endParaRPr>
          </a:p>
          <a:p>
            <a:pPr marL="180975" indent="-180975">
              <a:buFont typeface="Arial" panose="020B0604020202020204" pitchFamily="34" charset="0"/>
              <a:buChar char="•"/>
            </a:pPr>
            <a:r>
              <a:rPr lang="es-PE" sz="1700" dirty="0">
                <a:solidFill>
                  <a:srgbClr val="FFFFFF"/>
                </a:solidFill>
                <a:latin typeface="+mj-lt"/>
                <a:ea typeface="Calibri" panose="020F0502020204030204" pitchFamily="34" charset="0"/>
                <a:cs typeface="Source Sans Pro" panose="020B0604020202020204" charset="0"/>
              </a:rPr>
              <a:t>Es una herramienta ideal para no programadores.</a:t>
            </a:r>
          </a:p>
          <a:p>
            <a:pPr marL="180975" indent="-180975">
              <a:buFont typeface="Arial" panose="020B0604020202020204" pitchFamily="34" charset="0"/>
              <a:buChar char="•"/>
            </a:pPr>
            <a:endParaRPr lang="es-PE" sz="1700" dirty="0">
              <a:solidFill>
                <a:srgbClr val="FFFFFF"/>
              </a:solidFill>
              <a:latin typeface="+mj-lt"/>
              <a:cs typeface="Source Sans Pro" panose="020B0604020202020204" charset="0"/>
            </a:endParaRPr>
          </a:p>
          <a:p>
            <a:pPr lvl="1"/>
            <a:endParaRPr lang="es-PE" sz="1700" dirty="0">
              <a:solidFill>
                <a:srgbClr val="FFFFFF"/>
              </a:solidFill>
              <a:latin typeface="Calibri"/>
              <a:ea typeface="Calibri" panose="020F0502020204030204" pitchFamily="34" charset="0"/>
              <a:cs typeface="Source Sans Pro" panose="020B0604020202020204" charset="0"/>
            </a:endParaRPr>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chemeClr val="bg1"/>
                </a:solidFill>
              </a:rPr>
              <a:t>/ CONCLUSIONES</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25"/>
          <p:cNvSpPr txBox="1">
            <a:spLocks/>
          </p:cNvSpPr>
          <p:nvPr/>
        </p:nvSpPr>
        <p:spPr>
          <a:xfrm>
            <a:off x="398994" y="724844"/>
            <a:ext cx="7881937" cy="1801640"/>
          </a:xfrm>
          <a:prstGeom prst="rect">
            <a:avLst/>
          </a:prstGeom>
        </p:spPr>
        <p:txBody>
          <a:bodyPr lIns="91425" tIns="91425" rIns="91425" bIns="91425" anchor="t" anchorCtr="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4625" indent="-174625">
              <a:spcBef>
                <a:spcPts val="0"/>
              </a:spcBef>
              <a:buSzPct val="100000"/>
            </a:pPr>
            <a:r>
              <a:rPr lang="es-PE" sz="1500" dirty="0">
                <a:cs typeface="Calibri"/>
                <a:hlinkClick r:id="rId3"/>
              </a:rPr>
              <a:t>https://www.scirra.com/manual/1/construct-2</a:t>
            </a:r>
            <a:r>
              <a:rPr lang="es-PE" sz="1500" dirty="0">
                <a:cs typeface="Calibri"/>
              </a:rPr>
              <a:t> - </a:t>
            </a:r>
            <a:r>
              <a:rPr lang="es-PE" sz="1600" dirty="0" err="1"/>
              <a:t>Scirra</a:t>
            </a:r>
            <a:r>
              <a:rPr lang="es-PE" sz="1600" dirty="0"/>
              <a:t> </a:t>
            </a:r>
            <a:r>
              <a:rPr lang="es-PE" sz="1600" dirty="0" err="1"/>
              <a:t>Ltd</a:t>
            </a:r>
            <a:endParaRPr lang="es" sz="1500" dirty="0">
              <a:solidFill>
                <a:srgbClr val="006621"/>
              </a:solidFill>
              <a:latin typeface="Calibri"/>
              <a:cs typeface="Calibri"/>
            </a:endParaRPr>
          </a:p>
        </p:txBody>
      </p:sp>
      <p:sp>
        <p:nvSpPr>
          <p:cNvPr id="9" name="Rectangle 5"/>
          <p:cNvSpPr/>
          <p:nvPr/>
        </p:nvSpPr>
        <p:spPr>
          <a:xfrm>
            <a:off x="407875" y="320830"/>
            <a:ext cx="7204493" cy="353943"/>
          </a:xfrm>
          <a:prstGeom prst="rect">
            <a:avLst/>
          </a:prstGeom>
        </p:spPr>
        <p:txBody>
          <a:bodyPr wrap="square">
            <a:spAutoFit/>
          </a:bodyPr>
          <a:lstStyle/>
          <a:p>
            <a:r>
              <a:rPr lang="en-US" sz="1700" dirty="0">
                <a:solidFill>
                  <a:srgbClr val="438AD7"/>
                </a:solidFill>
              </a:rPr>
              <a:t>/ BIBLIOGRAFÍA</a:t>
            </a:r>
          </a:p>
        </p:txBody>
      </p:sp>
    </p:spTree>
    <p:custDataLst>
      <p:tags r:id="rId1"/>
    </p:custDataLst>
    <p:extLst>
      <p:ext uri="{BB962C8B-B14F-4D97-AF65-F5344CB8AC3E}">
        <p14:creationId xmlns:p14="http://schemas.microsoft.com/office/powerpoint/2010/main" val="14805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3263</TotalTime>
  <Words>1433</Words>
  <Application>Microsoft Office PowerPoint</Application>
  <PresentationFormat>Presentación en pantalla (16:10)</PresentationFormat>
  <Paragraphs>161</Paragraphs>
  <Slides>31</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Arial</vt:lpstr>
      <vt:lpstr>Calibri</vt:lpstr>
      <vt:lpstr>Source Sans Pro</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Diego Santamaria Saldaña</cp:lastModifiedBy>
  <cp:revision>340</cp:revision>
  <cp:lastPrinted>2018-01-16T21:42:59Z</cp:lastPrinted>
  <dcterms:created xsi:type="dcterms:W3CDTF">2016-10-06T14:52:02Z</dcterms:created>
  <dcterms:modified xsi:type="dcterms:W3CDTF">2020-11-03T17:23:24Z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