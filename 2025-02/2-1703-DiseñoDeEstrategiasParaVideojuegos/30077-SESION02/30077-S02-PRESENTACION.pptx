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715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7">
          <p15:clr>
            <a:srgbClr val="A4A3A4"/>
          </p15:clr>
        </p15:guide>
        <p15:guide id="2" pos="5455">
          <p15:clr>
            <a:srgbClr val="A4A3A4"/>
          </p15:clr>
        </p15:guide>
        <p15:guide id="3" orient="horz" pos="3274">
          <p15:clr>
            <a:srgbClr val="A4A3A4"/>
          </p15:clr>
        </p15:guide>
        <p15:guide id="4" orient="horz" pos="689">
          <p15:clr>
            <a:srgbClr val="A4A3A4"/>
          </p15:clr>
        </p15:guide>
        <p15:guide id="5" pos="476">
          <p15:clr>
            <a:srgbClr val="A4A3A4"/>
          </p15:clr>
        </p15:guide>
        <p15:guide id="6" pos="493">
          <p15:clr>
            <a:srgbClr val="A4A3A4"/>
          </p15:clr>
        </p15:guide>
        <p15:guide id="7" orient="horz" pos="387">
          <p15:clr>
            <a:srgbClr val="A4A3A4"/>
          </p15:clr>
        </p15:guide>
        <p15:guide id="8" orient="horz" pos="542">
          <p15:clr>
            <a:srgbClr val="A4A3A4"/>
          </p15:clr>
        </p15:guide>
        <p15:guide id="9" orient="horz" pos="259">
          <p15:clr>
            <a:srgbClr val="A4A3A4"/>
          </p15:clr>
        </p15:guide>
        <p15:guide id="10" orient="horz" pos="3269">
          <p15:clr>
            <a:srgbClr val="A4A3A4"/>
          </p15:clr>
        </p15:guide>
        <p15:guide id="11" pos="5461">
          <p15:clr>
            <a:srgbClr val="A4A3A4"/>
          </p15:clr>
        </p15:guide>
        <p15:guide id="12" pos="308">
          <p15:clr>
            <a:srgbClr val="A4A3A4"/>
          </p15:clr>
        </p15:guide>
      </p15:sldGuideLst>
    </p:ext>
    <p:ext uri="GoogleSlidesCustomDataVersion2">
      <go:slidesCustomData xmlns:go="http://customooxmlschemas.google.com/" r:id="rId33" roundtripDataSignature="AMtx7miBDzvXwzvpYoVeL6Ty2g0tLP0t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7" orient="horz"/>
        <p:guide pos="5455"/>
        <p:guide pos="3274" orient="horz"/>
        <p:guide pos="689" orient="horz"/>
        <p:guide pos="476"/>
        <p:guide pos="493"/>
        <p:guide pos="387" orient="horz"/>
        <p:guide pos="542" orient="horz"/>
        <p:guide pos="259" orient="horz"/>
        <p:guide pos="3269" orient="horz"/>
        <p:guide pos="5461"/>
        <p:guide pos="30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PE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s-PE"/>
              <a:t>Revisar Capítulo 7 – The elements of gameplay – Game Desing Theory and Practice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Explicar el ejemplo de las placas de presión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Caso desarrollado en el folleto.</a:t>
            </a:r>
            <a:endParaRPr/>
          </a:p>
        </p:txBody>
      </p:sp>
      <p:sp>
        <p:nvSpPr>
          <p:cNvPr id="55" name="Google Shape;5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Explicar el ejemplo de las placas de presión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Caso desarrollado en el folleto.</a:t>
            </a:r>
            <a:endParaRPr/>
          </a:p>
        </p:txBody>
      </p:sp>
      <p:sp>
        <p:nvSpPr>
          <p:cNvPr id="63" name="Google Shape;6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Explicar el ejemplo de las placas de presión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Caso desarrollado en el folleto.</a:t>
            </a:r>
            <a:endParaRPr/>
          </a:p>
        </p:txBody>
      </p:sp>
      <p:sp>
        <p:nvSpPr>
          <p:cNvPr id="79" name="Google Shape;7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s-PE"/>
              <a:t>Revisar Capítulo 7 – The elements of gameplay – Game Desing Theory and Practice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Storytelling: la historia puede tener toma de decisiones que alteren el curso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Soluciones múltiples: el jugador puede resolver un problema de diferentes maneras. Múltiples formas de llegar de un punto A a un punto 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Orden: los jugadores deben poder elegir el orden en el que enfrentan los desafíos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Selección: permitir al jugador que seleccionar y escoger desafíos quiere enfrentar.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2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5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Comentar sobre el juego de la derecha: Cloud Berry Kingdom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https://youtu.be/OIRYHb0Qh_w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The art of the game design – a book of lenses - pag. 118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https://www.youtube.com/watch?v=sGXIR2dlktc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🡪 grafico: http://whats-in-a-game.com/blog/controlling-flow/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1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The art of the game design – a book of lenses - pag. 118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https://www.youtube.com/watch?v=sGXIR2dlktc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🡪 grafico: http://whats-in-a-game.com/blog/controlling-flow/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3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4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Juegos propuestos: Candy crush, </a:t>
            </a:r>
            <a:endParaRPr/>
          </a:p>
        </p:txBody>
      </p:sp>
      <p:sp>
        <p:nvSpPr>
          <p:cNvPr id="215" name="Google Shape;215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7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/>
          <p:nvPr>
            <p:ph idx="1" type="body"/>
          </p:nvPr>
        </p:nvSpPr>
        <p:spPr>
          <a:xfrm>
            <a:off x="1838325" y="5503863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ema - 1 Imagen Centrada">
  <p:cSld name="Subtema - 1 Imagen Centrada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1"/>
          <p:cNvSpPr/>
          <p:nvPr>
            <p:ph idx="2" type="pic"/>
          </p:nvPr>
        </p:nvSpPr>
        <p:spPr>
          <a:xfrm>
            <a:off x="2260600" y="2295525"/>
            <a:ext cx="4622800" cy="290353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ema - 1 Imagen A">
  <p:cSld name="Subtema - 1 Imagen A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2"/>
          <p:cNvSpPr/>
          <p:nvPr>
            <p:ph idx="2" type="pic"/>
          </p:nvPr>
        </p:nvSpPr>
        <p:spPr>
          <a:xfrm>
            <a:off x="5045075" y="881063"/>
            <a:ext cx="3624263" cy="430847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ema - 1 Imagen B">
  <p:cSld name="Subtema - 1 Imagen B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3"/>
          <p:cNvSpPr/>
          <p:nvPr>
            <p:ph idx="2" type="pic"/>
          </p:nvPr>
        </p:nvSpPr>
        <p:spPr>
          <a:xfrm>
            <a:off x="488950" y="881063"/>
            <a:ext cx="3682835" cy="430847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ema - 2 Imágenes">
  <p:cSld name="Subtema - 2 Imágene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4"/>
          <p:cNvSpPr/>
          <p:nvPr>
            <p:ph idx="2" type="pic"/>
          </p:nvPr>
        </p:nvSpPr>
        <p:spPr>
          <a:xfrm>
            <a:off x="4662488" y="1528763"/>
            <a:ext cx="4006850" cy="3660775"/>
          </a:xfrm>
          <a:prstGeom prst="rect">
            <a:avLst/>
          </a:prstGeom>
          <a:noFill/>
          <a:ln>
            <a:noFill/>
          </a:ln>
        </p:spPr>
      </p:sp>
      <p:sp>
        <p:nvSpPr>
          <p:cNvPr id="25" name="Google Shape;25;p34"/>
          <p:cNvSpPr/>
          <p:nvPr>
            <p:ph idx="3" type="clipArt"/>
          </p:nvPr>
        </p:nvSpPr>
        <p:spPr>
          <a:xfrm>
            <a:off x="503238" y="1528763"/>
            <a:ext cx="4013235" cy="366077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5"/>
          <p:cNvSpPr/>
          <p:nvPr/>
        </p:nvSpPr>
        <p:spPr>
          <a:xfrm>
            <a:off x="312777" y="5260073"/>
            <a:ext cx="8568205" cy="3127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ema - Imagen Gigante">
  <p:cSld name="Subtema - Imagen Gigant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6"/>
          <p:cNvSpPr/>
          <p:nvPr>
            <p:ph idx="2" type="pic"/>
          </p:nvPr>
        </p:nvSpPr>
        <p:spPr>
          <a:xfrm>
            <a:off x="488950" y="860424"/>
            <a:ext cx="8180387" cy="432911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ema - Video">
  <p:cSld name="Subtema - Video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7"/>
          <p:cNvSpPr/>
          <p:nvPr>
            <p:ph idx="2" type="pic"/>
          </p:nvPr>
        </p:nvSpPr>
        <p:spPr>
          <a:xfrm>
            <a:off x="2184400" y="1360488"/>
            <a:ext cx="4775200" cy="26860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8"/>
          <p:cNvGrpSpPr/>
          <p:nvPr/>
        </p:nvGrpSpPr>
        <p:grpSpPr>
          <a:xfrm>
            <a:off x="944054" y="5369051"/>
            <a:ext cx="7804380" cy="215444"/>
            <a:chOff x="944054" y="5369051"/>
            <a:chExt cx="7804380" cy="215444"/>
          </a:xfrm>
        </p:grpSpPr>
        <p:sp>
          <p:nvSpPr>
            <p:cNvPr id="11" name="Google Shape;11;p28"/>
            <p:cNvSpPr txBox="1"/>
            <p:nvPr/>
          </p:nvSpPr>
          <p:spPr>
            <a:xfrm>
              <a:off x="944054" y="5369051"/>
              <a:ext cx="2638864" cy="215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PE" sz="8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DISEÑO DE ESTRATEGIAS PARA VIDEOJUEGOS  •  SESIÓN 02</a:t>
              </a:r>
              <a:endParaRPr sz="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8"/>
            <p:cNvSpPr/>
            <p:nvPr/>
          </p:nvSpPr>
          <p:spPr>
            <a:xfrm>
              <a:off x="7379148" y="5384440"/>
              <a:ext cx="1369286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6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© ISIL. Todos los derechos reservados</a:t>
              </a:r>
              <a:endParaRPr/>
            </a:p>
          </p:txBody>
        </p:sp>
      </p:grpSp>
      <p:pic>
        <p:nvPicPr>
          <p:cNvPr id="13" name="Google Shape;13;p28"/>
          <p:cNvPicPr preferRelativeResize="0"/>
          <p:nvPr/>
        </p:nvPicPr>
        <p:blipFill rotWithShape="1">
          <a:blip r:embed="rId1">
            <a:alphaModFix amt="20000"/>
          </a:blip>
          <a:srcRect b="0" l="0" r="0" t="0"/>
          <a:stretch/>
        </p:blipFill>
        <p:spPr>
          <a:xfrm>
            <a:off x="495300" y="5328911"/>
            <a:ext cx="448573" cy="25075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youtu.be/9phmXhewCuw?t=101" TargetMode="External"/><Relationship Id="rId4" Type="http://schemas.openxmlformats.org/officeDocument/2006/relationships/hyperlink" Target="https://youtu.be/9phmXhewCuw?t=202" TargetMode="External"/><Relationship Id="rId5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heterogenoustasks.wordpress.com/2015/01/26/standard-patterns-in-choice-based-games/" TargetMode="External"/><Relationship Id="rId4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youtu.be/oIG5TZrNMOQ" TargetMode="External"/><Relationship Id="rId4" Type="http://schemas.openxmlformats.org/officeDocument/2006/relationships/image" Target="../media/image1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jpg"/><Relationship Id="rId4" Type="http://schemas.openxmlformats.org/officeDocument/2006/relationships/image" Target="../media/image10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503238" y="1207530"/>
            <a:ext cx="8049072" cy="33188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SESIÓN /2</a:t>
            </a:r>
            <a:endParaRPr b="1"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ELEMENTOS DEL GAMEPLAY</a:t>
            </a:r>
            <a:endParaRPr b="1"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 SOLUCIONES ÚNICAS</a:t>
            </a:r>
            <a:br>
              <a:rPr b="1" lang="es-PE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s-PE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 NO LINEALIDAD</a:t>
            </a:r>
            <a:br>
              <a:rPr b="1" lang="es-PE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s-PE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 MODELANDO LA REALIDAD</a:t>
            </a:r>
            <a:br>
              <a:rPr b="1" lang="es-PE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s-PE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 ENSEÑANDO AL JUGADOR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 PACING Y GAMEFLOW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INTRODUCCIÓN</a:t>
            </a:r>
            <a:endParaRPr/>
          </a:p>
        </p:txBody>
      </p:sp>
      <p:sp>
        <p:nvSpPr>
          <p:cNvPr id="44" name="Google Shape;44;p2"/>
          <p:cNvSpPr txBox="1"/>
          <p:nvPr/>
        </p:nvSpPr>
        <p:spPr>
          <a:xfrm>
            <a:off x="495299" y="810908"/>
            <a:ext cx="8102216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En la presente sesión, conoceremos cuatro elementos para un buen gameplay: las soluciones únicas, la no linealidad, el modelado de la realidad y cómo ayudar a los jugadores en el aprendizaje del juego.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Estos elementos son solo algunos de los muchos que a lo largo de su formación irán construyendo y descubriendo para mejorar el diseño y desarrollo de sus juegos.</a:t>
            </a:r>
            <a:endParaRPr/>
          </a:p>
          <a:p>
            <a:pPr indent="-66675" lvl="0" marL="18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424252" y="3703125"/>
            <a:ext cx="7966170" cy="774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SOLUCIONES ÚNICAS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 txBox="1"/>
          <p:nvPr/>
        </p:nvSpPr>
        <p:spPr>
          <a:xfrm>
            <a:off x="495298" y="810908"/>
            <a:ext cx="8083883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Los diseñadores de juegos buscan predecir lo que los jugadores intentarán y asegurarse de que su juego responda bien a esas acciones.</a:t>
            </a:r>
            <a:endParaRPr/>
          </a:p>
          <a:p>
            <a:pPr indent="-66675" lvl="0" marL="18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Caso: Placas de presión.</a:t>
            </a:r>
            <a:b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ANTICIPACIÓN VS. SISTEMAS COMPLEJOS</a:t>
            </a:r>
            <a:endParaRPr/>
          </a:p>
        </p:txBody>
      </p:sp>
      <p:pic>
        <p:nvPicPr>
          <p:cNvPr descr="Resultado de imagen para legend zelda push blocks" id="59" name="Google Shape;59;p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5221" r="5220" t="0"/>
          <a:stretch/>
        </p:blipFill>
        <p:spPr>
          <a:xfrm>
            <a:off x="2260600" y="2295525"/>
            <a:ext cx="4622800" cy="2903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 txBox="1"/>
          <p:nvPr/>
        </p:nvSpPr>
        <p:spPr>
          <a:xfrm>
            <a:off x="495298" y="810908"/>
            <a:ext cx="8083883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¿Si lo jugadores colocan sus armas en las placas de presión?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¿Si el jugador convoca unos monstruos sobre las placas?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¿Si el jugador crea una tormenta de nieve sobre las placas?, ¿el peso acumulado debería poder accionar las placas?</a:t>
            </a:r>
            <a:b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CASO: PLACAS DE PRESIÓN</a:t>
            </a:r>
            <a:endParaRPr/>
          </a:p>
        </p:txBody>
      </p:sp>
      <p:pic>
        <p:nvPicPr>
          <p:cNvPr descr="Resultado de imagen para push blocks game" id="67" name="Google Shape;67;p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5268" r="5268" t="0"/>
          <a:stretch/>
        </p:blipFill>
        <p:spPr>
          <a:xfrm>
            <a:off x="2260600" y="2295525"/>
            <a:ext cx="4622800" cy="2903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 txBox="1"/>
          <p:nvPr/>
        </p:nvSpPr>
        <p:spPr>
          <a:xfrm>
            <a:off x="495299" y="810908"/>
            <a:ext cx="4376446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1"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"el rompecabezas se resuelve si los jugadores usan rocas, armas o monstruos para desplazar las placas"</a:t>
            </a: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, la regla es que </a:t>
            </a:r>
            <a:r>
              <a:rPr b="1" i="1"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r>
              <a:rPr b="1" i="1" lang="es-PE" sz="1600" u="sng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el rompecabezas se resuelve cuando las placas se compensan con el peso correcto que se coloca sobre ellas</a:t>
            </a:r>
            <a:r>
              <a:rPr b="1" i="1"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1" i="1"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6675" lvl="0" marL="18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1"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Este último método es menos una técnica anticipatoria de diseño de juegos, </a:t>
            </a:r>
            <a:r>
              <a:rPr b="1"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es más holístico y basado en sistemas en su enfoque</a:t>
            </a: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b="1" i="1"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1"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ANTICIPACIÓN VS. SISTEMAS COMPLEJOS</a:t>
            </a:r>
            <a:endParaRPr/>
          </a:p>
        </p:txBody>
      </p:sp>
      <p:pic>
        <p:nvPicPr>
          <p:cNvPr descr="Resultado de imagen para redbros game" id="75" name="Google Shape;75;p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41181" r="-1266" t="0"/>
          <a:stretch/>
        </p:blipFill>
        <p:spPr>
          <a:xfrm>
            <a:off x="5045075" y="881063"/>
            <a:ext cx="3624263" cy="430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"/>
          <p:cNvSpPr txBox="1"/>
          <p:nvPr/>
        </p:nvSpPr>
        <p:spPr>
          <a:xfrm>
            <a:off x="495298" y="810908"/>
            <a:ext cx="8083883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Activar placas de presión con invocaciones  </a:t>
            </a:r>
            <a:r>
              <a:rPr lang="es-PE" sz="1600" u="sng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https://youtu.be/9phmXhewCuw?t=101</a:t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Activar placas de presión con héroes </a:t>
            </a:r>
            <a:r>
              <a:rPr lang="es-PE" sz="1600" u="sng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https://youtu.be/9phmXhewCuw?t=202</a:t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CASO: REDBROS</a:t>
            </a:r>
            <a:endParaRPr/>
          </a:p>
        </p:txBody>
      </p:sp>
      <p:pic>
        <p:nvPicPr>
          <p:cNvPr descr="Resultado de imagen para redbros game" id="83" name="Google Shape;83;p7"/>
          <p:cNvPicPr preferRelativeResize="0"/>
          <p:nvPr>
            <p:ph idx="2" type="pic"/>
          </p:nvPr>
        </p:nvPicPr>
        <p:blipFill rotWithShape="1">
          <a:blip r:embed="rId5">
            <a:alphaModFix/>
          </a:blip>
          <a:srcRect b="0" l="1297" r="11631" t="0"/>
          <a:stretch/>
        </p:blipFill>
        <p:spPr>
          <a:xfrm>
            <a:off x="2260600" y="2295525"/>
            <a:ext cx="4622800" cy="2903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424252" y="3703125"/>
            <a:ext cx="7966170" cy="774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LINEALIDAD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 txBox="1"/>
          <p:nvPr/>
        </p:nvSpPr>
        <p:spPr>
          <a:xfrm>
            <a:off x="495299" y="810908"/>
            <a:ext cx="4376446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Múltiples formas de ganar.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Favorece la Re-jugabilidad.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Costoso de implementar, incrementa los tiempos de desarrollo.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Motivación principal para incluirlo en el diseño: Sensación de libertad y capacidad de elección en el usuario.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Ejemplos: </a:t>
            </a:r>
            <a:endParaRPr/>
          </a:p>
          <a:p>
            <a:pPr indent="-168275" lvl="1" marL="63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Juego de ajedrez</a:t>
            </a:r>
            <a:endParaRPr/>
          </a:p>
          <a:p>
            <a:pPr indent="-168275" lvl="1" marL="63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Visual novels</a:t>
            </a:r>
            <a:endParaRPr b="0" i="0" sz="16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1" marL="63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Multi-aventura</a:t>
            </a:r>
            <a:endParaRPr/>
          </a:p>
          <a:p>
            <a:pPr indent="-168275" lvl="1" marL="63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RPG</a:t>
            </a:r>
            <a:endParaRPr/>
          </a:p>
          <a:p>
            <a:pPr indent="-168275" lvl="1" marL="63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Sandbox </a:t>
            </a:r>
            <a:endParaRPr/>
          </a:p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NO LINEALIDAD</a:t>
            </a:r>
            <a:endParaRPr/>
          </a:p>
        </p:txBody>
      </p:sp>
      <p:pic>
        <p:nvPicPr>
          <p:cNvPr descr="Resultado de imagen para libros multiaventura" id="98" name="Google Shape;98;p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5419" l="0" r="0" t="5420"/>
          <a:stretch/>
        </p:blipFill>
        <p:spPr>
          <a:xfrm>
            <a:off x="5045075" y="881063"/>
            <a:ext cx="3624263" cy="430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 txBox="1"/>
          <p:nvPr/>
        </p:nvSpPr>
        <p:spPr>
          <a:xfrm>
            <a:off x="495299" y="810908"/>
            <a:ext cx="4376446" cy="2215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Storytelling</a:t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1" marL="63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Revisar: </a:t>
            </a:r>
            <a:r>
              <a:rPr b="0" i="0" lang="es-PE" sz="1600" u="sng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https://heterogenoustasks.wordpress.com/2015/01/26/standard-patterns-in-choice-based-games/</a:t>
            </a:r>
            <a:endParaRPr b="0" i="0" sz="16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Soluciones múltiples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Orden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Selección</a:t>
            </a:r>
            <a:b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0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TIPOS DE NO LINEALIDAD</a:t>
            </a:r>
            <a:endParaRPr/>
          </a:p>
        </p:txBody>
      </p:sp>
      <p:pic>
        <p:nvPicPr>
          <p:cNvPr descr="Resultado de imagen para castlevania game" id="106" name="Google Shape;106;p10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0" l="-644" r="37556" t="0"/>
          <a:stretch/>
        </p:blipFill>
        <p:spPr>
          <a:xfrm>
            <a:off x="5045075" y="881063"/>
            <a:ext cx="3624263" cy="430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1"/>
          <p:cNvSpPr/>
          <p:nvPr/>
        </p:nvSpPr>
        <p:spPr>
          <a:xfrm>
            <a:off x="424252" y="3703125"/>
            <a:ext cx="7966170" cy="774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MODELANDO LA REALIDAD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"/>
          <p:cNvSpPr txBox="1"/>
          <p:nvPr/>
        </p:nvSpPr>
        <p:spPr>
          <a:xfrm>
            <a:off x="495298" y="810908"/>
            <a:ext cx="8083883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Modelar la realidad ha impulsado el desarrollo de juegos por muchos años.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Cuanto más realista sea el juego será mucho más inmersivo.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Fácil de entender para el usuario</a:t>
            </a:r>
            <a:b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2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VENTAJAS DEL REALISMO</a:t>
            </a:r>
            <a:endParaRPr/>
          </a:p>
        </p:txBody>
      </p:sp>
      <p:pic>
        <p:nvPicPr>
          <p:cNvPr descr="Resultado de imagen para realism game" id="120" name="Google Shape;120;p1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46" r="245" t="0"/>
          <a:stretch/>
        </p:blipFill>
        <p:spPr>
          <a:xfrm>
            <a:off x="2260600" y="2295525"/>
            <a:ext cx="4622800" cy="2903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 txBox="1"/>
          <p:nvPr/>
        </p:nvSpPr>
        <p:spPr>
          <a:xfrm>
            <a:off x="495299" y="810908"/>
            <a:ext cx="4376446" cy="2215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Agregar mayor realismo al juego Tetris no lo volverá más inmersivo.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¿Age of Empires con un modelo económico realista?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Alfred Hitchcock describe las películas como “Life with the dull bits cut out”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1"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Buscar un equilibrio entre la realidad y la abstracción</a:t>
            </a: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ABSTRACTO VS. REALISTA</a:t>
            </a:r>
            <a:endParaRPr/>
          </a:p>
        </p:txBody>
      </p:sp>
      <p:pic>
        <p:nvPicPr>
          <p:cNvPr descr="Resultado de imagen para simulacion de vuelo" id="128" name="Google Shape;128;p1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6341" r="26341" t="0"/>
          <a:stretch/>
        </p:blipFill>
        <p:spPr>
          <a:xfrm>
            <a:off x="5045075" y="881063"/>
            <a:ext cx="3624263" cy="430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424252" y="3703125"/>
            <a:ext cx="7966170" cy="774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ENSEÑANDO AL JUGADOR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/>
        </p:nvSpPr>
        <p:spPr>
          <a:xfrm>
            <a:off x="4499471" y="810908"/>
            <a:ext cx="4169867" cy="2215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Modelar la realidad facilita que el jugador relacione sus experiencias con lo que espera del juego.</a:t>
            </a:r>
            <a:endParaRPr/>
          </a:p>
          <a:p>
            <a:pPr indent="-66675" lvl="0" marL="18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Los primer minutos de interacción del jugador con el juego son cruciales.</a:t>
            </a:r>
            <a:endParaRPr/>
          </a:p>
          <a:p>
            <a:pPr indent="-66675" lvl="0" marL="18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Introducir gradualmente la complejidad.</a:t>
            </a:r>
            <a:b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MANEJANDO LA COMPLEJIDAD</a:t>
            </a:r>
            <a:endParaRPr/>
          </a:p>
        </p:txBody>
      </p:sp>
      <p:pic>
        <p:nvPicPr>
          <p:cNvPr descr="Resultado de imagen para trine" id="142" name="Google Shape;142;p1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7104" r="57005" t="0"/>
          <a:stretch/>
        </p:blipFill>
        <p:spPr>
          <a:xfrm>
            <a:off x="488950" y="860425"/>
            <a:ext cx="3683000" cy="4329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/>
          <p:nvPr/>
        </p:nvSpPr>
        <p:spPr>
          <a:xfrm>
            <a:off x="495299" y="810908"/>
            <a:ext cx="4376446" cy="2708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 u="sng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https://youtu.be/oIG5TZrNMOQ</a:t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Primero te muestra los movimientos básicos de los personajes.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Luego te enseña algunas habilidades especiales de cada personaje.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Plantea situaciones simples en las que es necesario utilizar su mecánica core (intercambio de personajes)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Después te plantea combates simples para aprender a utilizar las armas.</a:t>
            </a:r>
            <a:b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CASO: TRINE</a:t>
            </a:r>
            <a:endParaRPr/>
          </a:p>
        </p:txBody>
      </p:sp>
      <p:pic>
        <p:nvPicPr>
          <p:cNvPr descr="Resultado de imagen para trine mago" id="150" name="Google Shape;150;p16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0" l="26341" r="26341" t="0"/>
          <a:stretch/>
        </p:blipFill>
        <p:spPr>
          <a:xfrm>
            <a:off x="5045075" y="881063"/>
            <a:ext cx="3624263" cy="430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424252" y="3703125"/>
            <a:ext cx="7966170" cy="750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PACING Y GAMEFLOW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/>
        </p:nvSpPr>
        <p:spPr>
          <a:xfrm>
            <a:off x="495298" y="810908"/>
            <a:ext cx="8083883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En un juego convencional, por ejemplo el fútbol, un árbitro fija el ritmo (pace) del juego, la velocidad a la que los eventos requeridos por las reglas toman efecto.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En los videojuegos, la computadora marca el ritmo (pace), la computadora mantiene el juego avanzando al ritmo que el diseñador haya establecido.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PACING</a:t>
            </a:r>
            <a:endParaRPr/>
          </a:p>
        </p:txBody>
      </p:sp>
      <p:pic>
        <p:nvPicPr>
          <p:cNvPr descr="Resultado de imagen para partido de futbol peruano" id="165" name="Google Shape;165;p18"/>
          <p:cNvPicPr preferRelativeResize="0"/>
          <p:nvPr>
            <p:ph idx="3" type="clipArt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238" y="2229607"/>
            <a:ext cx="4013200" cy="22590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cloudberry kingdom" id="166" name="Google Shape;166;p18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26269" l="3593" r="34530" t="11283"/>
          <a:stretch/>
        </p:blipFill>
        <p:spPr>
          <a:xfrm>
            <a:off x="4662488" y="2229606"/>
            <a:ext cx="4023360" cy="2250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/>
        </p:nvSpPr>
        <p:spPr>
          <a:xfrm>
            <a:off x="495299" y="810908"/>
            <a:ext cx="4376446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La velocidad a la que el jugador está obligado a interactuar con el juego.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La velocidad a la cual el juego plantea los </a:t>
            </a:r>
            <a:r>
              <a:rPr b="1"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desafíos</a:t>
            </a: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PACING</a:t>
            </a:r>
            <a:endParaRPr/>
          </a:p>
        </p:txBody>
      </p:sp>
      <p:pic>
        <p:nvPicPr>
          <p:cNvPr descr="Resultado de imagen para devil may cry 3" id="174" name="Google Shape;174;p1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3713" r="23713" t="0"/>
          <a:stretch/>
        </p:blipFill>
        <p:spPr>
          <a:xfrm>
            <a:off x="5045075" y="881063"/>
            <a:ext cx="3624263" cy="430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/>
          <p:nvPr/>
        </p:nvSpPr>
        <p:spPr>
          <a:xfrm>
            <a:off x="495298" y="810908"/>
            <a:ext cx="8083883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El “pacing” en la Star Wars. La intensidad es una ola creciente de picos y caídas. 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Cada pico y pendiente pueden estar asociados con alguna ocurrencia significativa. 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Hay ocho picos en esta imagen.</a:t>
            </a:r>
            <a:b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PACING</a:t>
            </a:r>
            <a:endParaRPr/>
          </a:p>
        </p:txBody>
      </p:sp>
      <p:pic>
        <p:nvPicPr>
          <p:cNvPr descr="http://www.gamasutra.com/db_area/images/feature/4032/pacing_01_star_wars.gif" id="182" name="Google Shape;182;p2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84" l="2306" r="2306" t="385"/>
          <a:stretch/>
        </p:blipFill>
        <p:spPr>
          <a:xfrm>
            <a:off x="2260600" y="2295525"/>
            <a:ext cx="4622800" cy="2903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/>
          <p:nvPr/>
        </p:nvSpPr>
        <p:spPr>
          <a:xfrm>
            <a:off x="4499471" y="810908"/>
            <a:ext cx="4169867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Cadena de eventos que componen la jugabilidad de un juego determinado.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Un juego fluye entre sus componentes de acción, exploración, resolución de acertijos y narración de historias.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La cantidad proporcional de tiempo invertido en cada uno de estos componentes y el ritmo al que se desarrolla el juego contribuyen a su flujo general.</a:t>
            </a:r>
            <a:b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GAME FLOW</a:t>
            </a:r>
            <a:endParaRPr/>
          </a:p>
        </p:txBody>
      </p:sp>
      <p:pic>
        <p:nvPicPr>
          <p:cNvPr descr="Resultado de imagen para flow" id="189" name="Google Shape;189;p2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8912" r="8912" t="0"/>
          <a:stretch/>
        </p:blipFill>
        <p:spPr>
          <a:xfrm>
            <a:off x="488950" y="881063"/>
            <a:ext cx="3682835" cy="4308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 txBox="1"/>
          <p:nvPr/>
        </p:nvSpPr>
        <p:spPr>
          <a:xfrm>
            <a:off x="495298" y="810908"/>
            <a:ext cx="8083883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Metas claras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No distracciones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Feedback directo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Continuamente desafiante</a:t>
            </a:r>
            <a:b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FOCUS</a:t>
            </a:r>
            <a:endParaRPr/>
          </a:p>
        </p:txBody>
      </p:sp>
      <p:pic>
        <p:nvPicPr>
          <p:cNvPr descr="https://i0.wp.com/whats-in-a-game.com/blog/wp-content/uploads/2017/10/fractalFlow.png?resize=704%2C345" id="197" name="Google Shape;197;p2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6702" l="-555" r="-556" t="-6702"/>
          <a:stretch/>
        </p:blipFill>
        <p:spPr>
          <a:xfrm>
            <a:off x="2260600" y="2295525"/>
            <a:ext cx="4622800" cy="2903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 txBox="1"/>
          <p:nvPr/>
        </p:nvSpPr>
        <p:spPr>
          <a:xfrm>
            <a:off x="4499471" y="810908"/>
            <a:ext cx="4169867" cy="2954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¿Tiene mi juego las objetivos claros? Si no, ¿cómo puedo solucionarlo?</a:t>
            </a:r>
            <a:endParaRPr/>
          </a:p>
          <a:p>
            <a:pPr indent="-66675" lvl="0" marL="18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¿Los objetivos del jugador son los mismos que yo pretendía?</a:t>
            </a:r>
            <a:endParaRPr/>
          </a:p>
          <a:p>
            <a:pPr indent="-66675" lvl="0" marL="18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¿Hay partes del juego que distraen a los jugadores hasta el punto en que olvidan su objetivo? Si es así, ¿pueden estas distracciones ser reducidas o estar ligadas a los objetivos del juego?</a:t>
            </a:r>
            <a:b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GAME FLOW</a:t>
            </a:r>
            <a:endParaRPr/>
          </a:p>
        </p:txBody>
      </p:sp>
      <p:pic>
        <p:nvPicPr>
          <p:cNvPr descr="Resultado de imagen para distraction homer monkey" id="204" name="Google Shape;204;p2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6352" r="6352" t="0"/>
          <a:stretch/>
        </p:blipFill>
        <p:spPr>
          <a:xfrm>
            <a:off x="488950" y="881063"/>
            <a:ext cx="3682835" cy="4308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"/>
          <p:cNvSpPr txBox="1"/>
          <p:nvPr/>
        </p:nvSpPr>
        <p:spPr>
          <a:xfrm>
            <a:off x="4499471" y="810908"/>
            <a:ext cx="4169867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¿Proporciona mi juego un flujo constante de desafíos no demasiado fáciles, no demasiado difíciles, teniendo en cuenta el hecho de que las habilidades del jugador pueden mejorar gradualmente?</a:t>
            </a:r>
            <a:endParaRPr/>
          </a:p>
          <a:p>
            <a:pPr indent="-66675" lvl="0" marL="18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¿Están mejorando las habilidades del jugador al ritmo que yo esperaba? Si no, ¿cómo puedo cambiar eso?</a:t>
            </a:r>
            <a:b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4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GAME FLOW</a:t>
            </a:r>
            <a:endParaRPr/>
          </a:p>
        </p:txBody>
      </p:sp>
      <p:pic>
        <p:nvPicPr>
          <p:cNvPr descr="Resultado de imagen para frustration gamer" id="211" name="Google Shape;211;p2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6448" r="16447" t="0"/>
          <a:stretch/>
        </p:blipFill>
        <p:spPr>
          <a:xfrm>
            <a:off x="488950" y="881063"/>
            <a:ext cx="3682835" cy="4308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5"/>
          <p:cNvSpPr/>
          <p:nvPr/>
        </p:nvSpPr>
        <p:spPr>
          <a:xfrm>
            <a:off x="1788068" y="881063"/>
            <a:ext cx="6871746" cy="428148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5"/>
          <p:cNvSpPr/>
          <p:nvPr/>
        </p:nvSpPr>
        <p:spPr>
          <a:xfrm>
            <a:off x="1832904" y="917413"/>
            <a:ext cx="3402730" cy="2357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rgbClr val="538CD5"/>
                </a:solidFill>
                <a:latin typeface="Calibri"/>
                <a:ea typeface="Calibri"/>
                <a:cs typeface="Calibri"/>
                <a:sym typeface="Calibri"/>
              </a:rPr>
              <a:t>TÍTULO</a:t>
            </a:r>
            <a:endParaRPr sz="1600">
              <a:solidFill>
                <a:srgbClr val="538CD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Formar equipos de 4 ó 5 integrantes.</a:t>
            </a:r>
            <a:endParaRPr/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Analizar alguno de los juegos propuestos en función de los cuatro elementos vistos en clase. </a:t>
            </a:r>
            <a:endParaRPr/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Documentar los resultados obtenidos.</a:t>
            </a:r>
            <a:endParaRPr/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Exposición no mayor a 7 minutos.</a:t>
            </a:r>
            <a:endParaRPr/>
          </a:p>
          <a:p>
            <a:pPr indent="-1841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5"/>
          <p:cNvSpPr/>
          <p:nvPr/>
        </p:nvSpPr>
        <p:spPr>
          <a:xfrm>
            <a:off x="5477544" y="993537"/>
            <a:ext cx="3070939" cy="401734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ACTIVIDAD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6"/>
          <p:cNvSpPr/>
          <p:nvPr/>
        </p:nvSpPr>
        <p:spPr>
          <a:xfrm>
            <a:off x="2527711" y="770440"/>
            <a:ext cx="6132101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975" lvl="0" marL="180975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Char char="•"/>
            </a:pPr>
            <a:r>
              <a:rPr lang="es-PE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Las reglas deben ser claras y estar preparadas para eventualidades que puedan presentarse, considerar la no linealidad en el diseño, pero teniendo en cuenta que incrementa más costos de desarrollo, un balance entre la realidad y la abstracción y finalmente el cómo debemos presentar a nuestros usuarios la complejidad de forma gradual.</a:t>
            </a:r>
            <a:endParaRPr sz="1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6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 CONCLUSIONES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/>
          <p:nvPr/>
        </p:nvSpPr>
        <p:spPr>
          <a:xfrm>
            <a:off x="398994" y="724844"/>
            <a:ext cx="7881937" cy="1801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4625" lvl="0" marL="17462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s-PE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Richard Rouse III. (2005) Game Design Theory and Practice Second Edition.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s-PE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Scott Rogers. (2014) Level UP! Second Edition.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7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BIBLIOGRAFÍA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2016-10-06T14:52:02Z</dcterms:created>
  <dc:creator>ISIL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