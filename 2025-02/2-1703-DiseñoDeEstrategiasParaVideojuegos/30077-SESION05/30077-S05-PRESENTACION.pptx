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306" r:id="rId3"/>
    <p:sldId id="315" r:id="rId4"/>
    <p:sldId id="316" r:id="rId5"/>
    <p:sldId id="321" r:id="rId6"/>
    <p:sldId id="322" r:id="rId7"/>
    <p:sldId id="327" r:id="rId8"/>
    <p:sldId id="325" r:id="rId9"/>
    <p:sldId id="328" r:id="rId10"/>
    <p:sldId id="326" r:id="rId11"/>
    <p:sldId id="331" r:id="rId12"/>
    <p:sldId id="329" r:id="rId13"/>
    <p:sldId id="332" r:id="rId14"/>
    <p:sldId id="330" r:id="rId15"/>
    <p:sldId id="304" r:id="rId16"/>
    <p:sldId id="303" r:id="rId17"/>
    <p:sldId id="305" r:id="rId18"/>
  </p:sldIdLst>
  <p:sldSz cx="9144000" cy="5715000" type="screen16x10"/>
  <p:notesSz cx="6858000" cy="91440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">
          <p15:clr>
            <a:srgbClr val="A4A3A4"/>
          </p15:clr>
        </p15:guide>
        <p15:guide id="2" pos="5455">
          <p15:clr>
            <a:srgbClr val="A4A3A4"/>
          </p15:clr>
        </p15:guide>
        <p15:guide id="3" orient="horz" pos="3274" userDrawn="1">
          <p15:clr>
            <a:srgbClr val="A4A3A4"/>
          </p15:clr>
        </p15:guide>
        <p15:guide id="4" orient="horz" pos="689" userDrawn="1">
          <p15:clr>
            <a:srgbClr val="A4A3A4"/>
          </p15:clr>
        </p15:guide>
        <p15:guide id="5" pos="476" userDrawn="1">
          <p15:clr>
            <a:srgbClr val="A4A3A4"/>
          </p15:clr>
        </p15:guide>
        <p15:guide id="6" pos="493">
          <p15:clr>
            <a:srgbClr val="A4A3A4"/>
          </p15:clr>
        </p15:guide>
        <p15:guide id="7" orient="horz" pos="387">
          <p15:clr>
            <a:srgbClr val="A4A3A4"/>
          </p15:clr>
        </p15:guide>
        <p15:guide id="8" orient="horz" pos="542">
          <p15:clr>
            <a:srgbClr val="A4A3A4"/>
          </p15:clr>
        </p15:guide>
        <p15:guide id="9" orient="horz" pos="259">
          <p15:clr>
            <a:srgbClr val="A4A3A4"/>
          </p15:clr>
        </p15:guide>
        <p15:guide id="10" orient="horz" pos="3269">
          <p15:clr>
            <a:srgbClr val="A4A3A4"/>
          </p15:clr>
        </p15:guide>
        <p15:guide id="11" pos="5461">
          <p15:clr>
            <a:srgbClr val="A4A3A4"/>
          </p15:clr>
        </p15:guide>
        <p15:guide id="12" pos="30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va Zoraida Hamada Doshi" initials="EZHD" lastIdx="1" clrIdx="0">
    <p:extLst>
      <p:ext uri="{19B8F6BF-5375-455C-9EA6-DF929625EA0E}">
        <p15:presenceInfo xmlns:p15="http://schemas.microsoft.com/office/powerpoint/2012/main" userId="Elva Zoraida Hamada Dosh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D5EF"/>
    <a:srgbClr val="558ED5"/>
    <a:srgbClr val="FFFFFF"/>
    <a:srgbClr val="C00000"/>
    <a:srgbClr val="A6A6A6"/>
    <a:srgbClr val="F2F2F2"/>
    <a:srgbClr val="7F7F7F"/>
    <a:srgbClr val="FFFFFE"/>
    <a:srgbClr val="00B4B0"/>
    <a:srgbClr val="215B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67" autoAdjust="0"/>
    <p:restoredTop sz="90000" autoAdjust="0"/>
  </p:normalViewPr>
  <p:slideViewPr>
    <p:cSldViewPr snapToGrid="0" snapToObjects="1" showGuides="1">
      <p:cViewPr varScale="1">
        <p:scale>
          <a:sx n="98" d="100"/>
          <a:sy n="98" d="100"/>
        </p:scale>
        <p:origin x="1470" y="72"/>
      </p:cViewPr>
      <p:guideLst>
        <p:guide orient="horz" pos="217"/>
        <p:guide pos="5455"/>
        <p:guide orient="horz" pos="3274"/>
        <p:guide orient="horz" pos="689"/>
        <p:guide pos="476"/>
        <p:guide pos="493"/>
        <p:guide orient="horz" pos="387"/>
        <p:guide orient="horz" pos="542"/>
        <p:guide orient="horz" pos="259"/>
        <p:guide orient="horz" pos="3269"/>
        <p:guide pos="5461"/>
        <p:guide pos="30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03/11/2020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3/11/2020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10070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50873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927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47269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312777" y="5260073"/>
            <a:ext cx="8568205" cy="3127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4882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posición de imagen 17"/>
          <p:cNvSpPr>
            <a:spLocks noGrp="1"/>
          </p:cNvSpPr>
          <p:nvPr>
            <p:ph type="pic" sz="quarter" idx="11"/>
          </p:nvPr>
        </p:nvSpPr>
        <p:spPr>
          <a:xfrm>
            <a:off x="5045075" y="881063"/>
            <a:ext cx="3624263" cy="4308475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/>
          <p:cNvSpPr>
            <a:spLocks noGrp="1"/>
          </p:cNvSpPr>
          <p:nvPr>
            <p:ph type="pic" sz="quarter" idx="10"/>
          </p:nvPr>
        </p:nvSpPr>
        <p:spPr>
          <a:xfrm>
            <a:off x="488950" y="881063"/>
            <a:ext cx="3682835" cy="4308474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2226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/>
          <p:cNvSpPr>
            <a:spLocks noGrp="1"/>
          </p:cNvSpPr>
          <p:nvPr>
            <p:ph type="pic" sz="quarter" idx="10"/>
          </p:nvPr>
        </p:nvSpPr>
        <p:spPr>
          <a:xfrm>
            <a:off x="2260600" y="2295525"/>
            <a:ext cx="4622800" cy="2903538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2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/>
          <p:cNvSpPr>
            <a:spLocks noGrp="1"/>
          </p:cNvSpPr>
          <p:nvPr>
            <p:ph type="pic" sz="quarter" idx="11"/>
          </p:nvPr>
        </p:nvSpPr>
        <p:spPr>
          <a:xfrm>
            <a:off x="4662488" y="1528763"/>
            <a:ext cx="4006850" cy="3660775"/>
          </a:xfrm>
          <a:prstGeom prst="rect">
            <a:avLst/>
          </a:prstGeom>
        </p:spPr>
        <p:txBody>
          <a:bodyPr vert="horz"/>
          <a:lstStyle/>
          <a:p>
            <a:endParaRPr lang="es-ES" dirty="0"/>
          </a:p>
        </p:txBody>
      </p:sp>
      <p:sp>
        <p:nvSpPr>
          <p:cNvPr id="6" name="Marcador de imágenes prediseñadas 5"/>
          <p:cNvSpPr>
            <a:spLocks noGrp="1"/>
          </p:cNvSpPr>
          <p:nvPr>
            <p:ph type="clipArt" sz="quarter" idx="10"/>
          </p:nvPr>
        </p:nvSpPr>
        <p:spPr>
          <a:xfrm>
            <a:off x="503238" y="1528763"/>
            <a:ext cx="4013235" cy="3660775"/>
          </a:xfrm>
          <a:prstGeom prst="rect">
            <a:avLst/>
          </a:prstGeom>
        </p:spPr>
        <p:txBody>
          <a:bodyPr vert="horz"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64691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Imagen Gig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>
          <a:xfrm>
            <a:off x="488950" y="860424"/>
            <a:ext cx="8180387" cy="4329113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695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>
          <a:xfrm>
            <a:off x="2184400" y="1360488"/>
            <a:ext cx="4775200" cy="2686050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944054" y="5369051"/>
              <a:ext cx="263886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DISEÑO</a:t>
              </a:r>
              <a:r>
                <a:rPr lang="en-US" sz="800" kern="1200" baseline="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DE ESTRATEGIAS PARA VIDEOJUEGOS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SESIÓN 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05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379148" y="5384440"/>
              <a:ext cx="1369286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ISIL</a:t>
              </a:r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495300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60" r:id="rId5"/>
    <p:sldLayoutId id="2147483657" r:id="rId6"/>
    <p:sldLayoutId id="2147483658" r:id="rId7"/>
    <p:sldLayoutId id="2147483661" r:id="rId8"/>
    <p:sldLayoutId id="2147483659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es.slideshare.net/gwertzman/the-making-of-popcaps-plants-vs-zombies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srb.org/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3"/>
          <p:cNvSpPr/>
          <p:nvPr/>
        </p:nvSpPr>
        <p:spPr>
          <a:xfrm>
            <a:off x="503238" y="1207530"/>
            <a:ext cx="8049072" cy="288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alibri"/>
                <a:cs typeface="Calibri"/>
              </a:rPr>
              <a:t>SESIÓN /</a:t>
            </a:r>
            <a:r>
              <a:rPr lang="en-US" sz="2800" b="1" dirty="0">
                <a:solidFill>
                  <a:schemeClr val="bg1"/>
                </a:solidFill>
                <a:latin typeface="Calibri"/>
                <a:cs typeface="Calibri"/>
              </a:rPr>
              <a:t>5</a:t>
            </a:r>
          </a:p>
          <a:p>
            <a:pPr algn="ctr">
              <a:lnSpc>
                <a:spcPct val="90000"/>
              </a:lnSpc>
              <a:defRPr/>
            </a:pPr>
            <a:r>
              <a:rPr lang="es-PE" sz="3000" b="1" dirty="0">
                <a:solidFill>
                  <a:schemeClr val="bg1"/>
                </a:solidFill>
                <a:latin typeface="Calibri"/>
                <a:cs typeface="Calibri"/>
              </a:rPr>
              <a:t>GDD – 1 HOJA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110000"/>
              </a:lnSpc>
              <a:defRPr/>
            </a:pPr>
            <a:r>
              <a:rPr lang="en-US" sz="1600" b="1" dirty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1600" b="1" dirty="0">
                <a:solidFill>
                  <a:schemeClr val="bg1"/>
                </a:solidFill>
                <a:latin typeface="Calibri"/>
                <a:cs typeface="Calibri"/>
              </a:rPr>
              <a:t>DOCUMENTO DE DISEÑO – 1 HOJA</a:t>
            </a:r>
          </a:p>
          <a:p>
            <a:pPr>
              <a:lnSpc>
                <a:spcPct val="110000"/>
              </a:lnSpc>
              <a:defRPr/>
            </a:pPr>
            <a:r>
              <a:rPr lang="es-PE" sz="1600" b="1" dirty="0">
                <a:solidFill>
                  <a:schemeClr val="bg1"/>
                </a:solidFill>
                <a:latin typeface="Calibri"/>
                <a:cs typeface="Calibri"/>
              </a:rPr>
              <a:t>/ ESTRUCTURA</a:t>
            </a:r>
            <a:endParaRPr lang="es-ES" sz="1600" dirty="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10000"/>
              </a:lnSpc>
              <a:defRPr/>
            </a:pP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317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INTRODUCCIÓN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95299" y="810908"/>
            <a:ext cx="8102216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lvl="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En la presente sesión, profundizaremos en el desarrollo de un documento de diseño comenzando con la producción de un documento en el formato de una hoja.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73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774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DOCUMENTO DE DISEÑO – 1 HOJA</a:t>
            </a:r>
          </a:p>
          <a:p>
            <a:pPr>
              <a:lnSpc>
                <a:spcPct val="110000"/>
              </a:lnSpc>
              <a:defRPr/>
            </a:pP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7699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Este documento es una descripción simple del juego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También es conocido como </a:t>
            </a:r>
            <a:r>
              <a:rPr lang="es-PE" sz="1600" spc="-10" dirty="0" err="1">
                <a:solidFill>
                  <a:srgbClr val="262626"/>
                </a:solidFill>
              </a:rPr>
              <a:t>high</a:t>
            </a:r>
            <a:r>
              <a:rPr lang="es-PE" sz="1600" spc="-10" dirty="0">
                <a:solidFill>
                  <a:srgbClr val="262626"/>
                </a:solidFill>
              </a:rPr>
              <a:t> concept </a:t>
            </a:r>
            <a:r>
              <a:rPr lang="es-PE" sz="1600" spc="-10" dirty="0" err="1">
                <a:solidFill>
                  <a:srgbClr val="262626"/>
                </a:solidFill>
              </a:rPr>
              <a:t>document</a:t>
            </a:r>
            <a:r>
              <a:rPr lang="es-PE" sz="1600" spc="-10" dirty="0">
                <a:solidFill>
                  <a:srgbClr val="262626"/>
                </a:solidFill>
              </a:rPr>
              <a:t>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Se deben considerar las ideas clave de tal manera que se </a:t>
            </a:r>
            <a:r>
              <a:rPr lang="es-PE" sz="1600" spc="-10" dirty="0" smtClean="0">
                <a:solidFill>
                  <a:srgbClr val="262626"/>
                </a:solidFill>
              </a:rPr>
              <a:t>pueda </a:t>
            </a:r>
            <a:r>
              <a:rPr lang="es-PE" sz="1600" spc="-10" dirty="0">
                <a:solidFill>
                  <a:srgbClr val="262626"/>
                </a:solidFill>
              </a:rPr>
              <a:t>leer en unos minutos. </a:t>
            </a: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Interesante, informativo </a:t>
            </a:r>
            <a:r>
              <a:rPr lang="es-PE" sz="1600" spc="-10" dirty="0" smtClean="0">
                <a:solidFill>
                  <a:srgbClr val="262626"/>
                </a:solidFill>
              </a:rPr>
              <a:t>y, </a:t>
            </a:r>
            <a:r>
              <a:rPr lang="es-PE" sz="1600" spc="-10" dirty="0">
                <a:solidFill>
                  <a:srgbClr val="262626"/>
                </a:solidFill>
              </a:rPr>
              <a:t>lo que es más </a:t>
            </a:r>
            <a:r>
              <a:rPr lang="es-PE" sz="1600" spc="-10" dirty="0" smtClean="0">
                <a:solidFill>
                  <a:srgbClr val="262626"/>
                </a:solidFill>
              </a:rPr>
              <a:t>importante, </a:t>
            </a:r>
            <a:r>
              <a:rPr lang="es-PE" sz="1600" spc="-10" dirty="0">
                <a:solidFill>
                  <a:srgbClr val="262626"/>
                </a:solidFill>
              </a:rPr>
              <a:t>breve. </a:t>
            </a: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DOCUMENTO DE 1 HOJA</a:t>
            </a:r>
          </a:p>
        </p:txBody>
      </p:sp>
      <p:sp>
        <p:nvSpPr>
          <p:cNvPr id="4" name="Marcador de posición de imagen 3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347905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774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ESTRUCTURA</a:t>
            </a:r>
          </a:p>
          <a:p>
            <a:pPr>
              <a:lnSpc>
                <a:spcPct val="110000"/>
              </a:lnSpc>
              <a:defRPr/>
            </a:pP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883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499471" y="810908"/>
            <a:ext cx="4169867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Título tentativo del juego</a:t>
            </a:r>
            <a:r>
              <a:rPr lang="en-US" sz="1600" spc="-10" dirty="0">
                <a:solidFill>
                  <a:srgbClr val="262626"/>
                </a:solidFill>
              </a:rPr>
              <a:t>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Los títulos pueden cambiar durante el </a:t>
            </a:r>
            <a:r>
              <a:rPr lang="es-PE" sz="1600" spc="-10" dirty="0" smtClean="0">
                <a:solidFill>
                  <a:srgbClr val="262626"/>
                </a:solidFill>
              </a:rPr>
              <a:t>proceso.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Revisar: </a:t>
            </a:r>
            <a:r>
              <a:rPr lang="es-PE" sz="1600" spc="-10" dirty="0" err="1">
                <a:solidFill>
                  <a:srgbClr val="262626"/>
                </a:solidFill>
              </a:rPr>
              <a:t>Postmortem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Plants</a:t>
            </a:r>
            <a:r>
              <a:rPr lang="es-PE" sz="1600" spc="-10" dirty="0">
                <a:solidFill>
                  <a:srgbClr val="262626"/>
                </a:solidFill>
              </a:rPr>
              <a:t> vs </a:t>
            </a:r>
            <a:r>
              <a:rPr lang="es-PE" sz="1600" spc="-10" dirty="0" err="1">
                <a:solidFill>
                  <a:srgbClr val="262626"/>
                </a:solidFill>
              </a:rPr>
              <a:t>Zombies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hlinkClick r:id="rId2"/>
              </a:rPr>
              <a:t>https://es.slideshare.net/gwertzman/the-making-of-popcaps-plants-vs-zombies</a:t>
            </a:r>
            <a:endParaRPr lang="en-US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/>
            </a:r>
            <a:br>
              <a:rPr lang="en-US" sz="1600" spc="-10" dirty="0">
                <a:solidFill>
                  <a:srgbClr val="262626"/>
                </a:solidFill>
              </a:rPr>
            </a:b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TÍTULO DEL JUEGO</a:t>
            </a:r>
          </a:p>
        </p:txBody>
      </p:sp>
      <p:pic>
        <p:nvPicPr>
          <p:cNvPr id="1028" name="Picture 4" descr="Resultado de imagen para game logos">
            <a:extLst>
              <a:ext uri="{FF2B5EF4-FFF2-40B4-BE49-F238E27FC236}">
                <a16:creationId xmlns:a16="http://schemas.microsoft.com/office/drawing/2014/main" id="{F323F1FA-AA8B-4480-A43D-214E1C64A9AB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47" t="-28907" r="-347" b="-28907"/>
          <a:stretch/>
        </p:blipFill>
        <p:spPr bwMode="auto">
          <a:xfrm>
            <a:off x="488950" y="860425"/>
            <a:ext cx="3683000" cy="4329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651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¿En que plataformas estará disponible el juego?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 Se publicará en </a:t>
            </a:r>
            <a:r>
              <a:rPr lang="es-PE" sz="1600" spc="-10" dirty="0" err="1">
                <a:solidFill>
                  <a:srgbClr val="262626"/>
                </a:solidFill>
                <a:cs typeface="Source Sans Pro"/>
              </a:rPr>
              <a:t>Steam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, </a:t>
            </a:r>
            <a:r>
              <a:rPr lang="es-PE" sz="1600" spc="-10" dirty="0" err="1">
                <a:solidFill>
                  <a:srgbClr val="262626"/>
                </a:solidFill>
                <a:cs typeface="Source Sans Pro"/>
              </a:rPr>
              <a:t>Itch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IO ?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¿Se publicará en </a:t>
            </a:r>
            <a:r>
              <a:rPr lang="es-PE" sz="1600" spc="-10" dirty="0" err="1">
                <a:solidFill>
                  <a:srgbClr val="262626"/>
                </a:solidFill>
                <a:cs typeface="Source Sans Pro"/>
              </a:rPr>
              <a:t>Playstation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, Xbox, Nintendo </a:t>
            </a:r>
            <a:r>
              <a:rPr lang="es-PE" sz="1600" spc="-10" dirty="0" err="1">
                <a:solidFill>
                  <a:srgbClr val="262626"/>
                </a:solidFill>
                <a:cs typeface="Source Sans Pro"/>
              </a:rPr>
              <a:t>Switch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?</a:t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endParaRPr lang="es-PE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PLATAFORMAS DE DISTRIBUCIÓN</a:t>
            </a:r>
          </a:p>
        </p:txBody>
      </p:sp>
      <p:pic>
        <p:nvPicPr>
          <p:cNvPr id="2050" name="Picture 2" descr="Resultado de imagen para itchio logo">
            <a:extLst>
              <a:ext uri="{FF2B5EF4-FFF2-40B4-BE49-F238E27FC236}">
                <a16:creationId xmlns:a16="http://schemas.microsoft.com/office/drawing/2014/main" id="{A96D76A2-4259-44FB-8283-EC848CE47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151" y="2146765"/>
            <a:ext cx="1944468" cy="109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n para steam logo">
            <a:extLst>
              <a:ext uri="{FF2B5EF4-FFF2-40B4-BE49-F238E27FC236}">
                <a16:creationId xmlns:a16="http://schemas.microsoft.com/office/drawing/2014/main" id="{0ADE3EC9-1F36-49EC-B380-3F504A530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95525"/>
            <a:ext cx="1051965" cy="1051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esultado de imagen para xbox logo">
            <a:extLst>
              <a:ext uri="{FF2B5EF4-FFF2-40B4-BE49-F238E27FC236}">
                <a16:creationId xmlns:a16="http://schemas.microsoft.com/office/drawing/2014/main" id="{F05BBF82-ADFB-4D14-B4A9-E94859D05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150" y="3322533"/>
            <a:ext cx="1944468" cy="58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esultado de imagen para ps4 logo">
            <a:extLst>
              <a:ext uri="{FF2B5EF4-FFF2-40B4-BE49-F238E27FC236}">
                <a16:creationId xmlns:a16="http://schemas.microsoft.com/office/drawing/2014/main" id="{0CD92E62-966B-4209-9BD2-A37956726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8966" y="2307625"/>
            <a:ext cx="1254434" cy="1149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Resultado de imagen para nintendo switch logo">
            <a:extLst>
              <a:ext uri="{FF2B5EF4-FFF2-40B4-BE49-F238E27FC236}">
                <a16:creationId xmlns:a16="http://schemas.microsoft.com/office/drawing/2014/main" id="{DC0CBB36-D701-4ED6-8C94-217983DC0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619" y="3344784"/>
            <a:ext cx="1516605" cy="1102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85912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499471" y="810908"/>
            <a:ext cx="4169867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Definir las edades del público al que va dirigido el </a:t>
            </a:r>
            <a:r>
              <a:rPr lang="es-PE" sz="1600" spc="-10" dirty="0" smtClean="0">
                <a:solidFill>
                  <a:srgbClr val="262626"/>
                </a:solidFill>
              </a:rPr>
              <a:t>juego. </a:t>
            </a:r>
            <a:r>
              <a:rPr lang="es-PE" sz="1600" spc="-10" dirty="0">
                <a:solidFill>
                  <a:srgbClr val="262626"/>
                </a:solidFill>
              </a:rPr>
              <a:t>A</a:t>
            </a:r>
            <a:r>
              <a:rPr lang="es-PE" sz="1600" spc="-10" dirty="0" smtClean="0">
                <a:solidFill>
                  <a:srgbClr val="262626"/>
                </a:solidFill>
              </a:rPr>
              <a:t>yudarse </a:t>
            </a:r>
            <a:r>
              <a:rPr lang="es-PE" sz="1600" spc="-10" dirty="0">
                <a:solidFill>
                  <a:srgbClr val="262626"/>
                </a:solidFill>
              </a:rPr>
              <a:t>del ESRB Rating para poder definir el rango.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EDADES DEL PÚBLICO OBJETIVO</a:t>
            </a:r>
          </a:p>
        </p:txBody>
      </p:sp>
      <p:pic>
        <p:nvPicPr>
          <p:cNvPr id="3074" name="Picture 2" descr="Resultado de imagen para kids playing video games">
            <a:extLst>
              <a:ext uri="{FF2B5EF4-FFF2-40B4-BE49-F238E27FC236}">
                <a16:creationId xmlns:a16="http://schemas.microsoft.com/office/drawing/2014/main" id="{45047573-7A13-4515-B44C-0645003A7C5B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42" r="21642"/>
          <a:stretch>
            <a:fillRect/>
          </a:stretch>
        </p:blipFill>
        <p:spPr bwMode="auto">
          <a:xfrm>
            <a:off x="488950" y="860425"/>
            <a:ext cx="3683000" cy="4329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8448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La ESRB es una organización autorreguladora que aplica un sistema de clasificación.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Los juegos se revisan y se les asigna una calificación de letra según el contenido. Para más información puede visitar el siguiente enlace: </a:t>
            </a:r>
            <a:r>
              <a:rPr lang="es-PE" sz="1600" spc="-10" dirty="0">
                <a:solidFill>
                  <a:srgbClr val="262626"/>
                </a:solidFill>
                <a:hlinkClick r:id="rId3"/>
              </a:rPr>
              <a:t>http://www.esrb.org/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ESRB</a:t>
            </a:r>
          </a:p>
        </p:txBody>
      </p:sp>
      <p:pic>
        <p:nvPicPr>
          <p:cNvPr id="4100" name="Picture 4" descr="Resultado de imagen para esrb games">
            <a:extLst>
              <a:ext uri="{FF2B5EF4-FFF2-40B4-BE49-F238E27FC236}">
                <a16:creationId xmlns:a16="http://schemas.microsoft.com/office/drawing/2014/main" id="{EB16D6BB-F39C-4659-8D83-9E9A36EE27D6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3" b="3793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4451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Resumen de la historia. (Inicio - medio - final)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Enfocándose en su relación con el gameplay.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¿Cómo justifica el gameplay la historia propuesta?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</a:t>
            </a:r>
            <a:r>
              <a:rPr lang="es-PE" sz="1700" dirty="0" smtClean="0">
                <a:solidFill>
                  <a:srgbClr val="438AD7"/>
                </a:solidFill>
              </a:rPr>
              <a:t>RESUMEN</a:t>
            </a:r>
            <a:r>
              <a:rPr lang="en-US" sz="1700" dirty="0" smtClean="0">
                <a:solidFill>
                  <a:srgbClr val="438AD7"/>
                </a:solidFill>
              </a:rPr>
              <a:t> DE LA </a:t>
            </a:r>
            <a:r>
              <a:rPr lang="es-PE" sz="1700" dirty="0" smtClean="0">
                <a:solidFill>
                  <a:srgbClr val="438AD7"/>
                </a:solidFill>
              </a:rPr>
              <a:t>HISTORIA</a:t>
            </a:r>
            <a:endParaRPr lang="es-PE" sz="1700" dirty="0">
              <a:solidFill>
                <a:srgbClr val="438AD7"/>
              </a:solidFill>
            </a:endParaRPr>
          </a:p>
        </p:txBody>
      </p:sp>
      <p:pic>
        <p:nvPicPr>
          <p:cNvPr id="5122" name="Picture 2" descr="Resultado de imagen para another castle">
            <a:extLst>
              <a:ext uri="{FF2B5EF4-FFF2-40B4-BE49-F238E27FC236}">
                <a16:creationId xmlns:a16="http://schemas.microsoft.com/office/drawing/2014/main" id="{0F89A37B-DFE3-42DE-9ACF-B6BF5D638660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" t="-28530" r="456" b="-28530"/>
          <a:stretch/>
        </p:blipFill>
        <p:spPr bwMode="auto">
          <a:xfrm>
            <a:off x="5045075" y="881063"/>
            <a:ext cx="3624263" cy="430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41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Si el juego tendrá múltiples modos de juego, </a:t>
            </a:r>
            <a:r>
              <a:rPr lang="es-PE" sz="1600" spc="-10" dirty="0" smtClean="0">
                <a:solidFill>
                  <a:srgbClr val="262626"/>
                </a:solidFill>
              </a:rPr>
              <a:t>hay que mencionarlos </a:t>
            </a:r>
            <a:r>
              <a:rPr lang="es-PE" sz="1600" spc="-10" dirty="0">
                <a:solidFill>
                  <a:srgbClr val="262626"/>
                </a:solidFill>
              </a:rPr>
              <a:t>en esta sección </a:t>
            </a:r>
            <a:r>
              <a:rPr lang="es-PE" sz="1600" spc="-10" dirty="0" smtClean="0">
                <a:solidFill>
                  <a:srgbClr val="262626"/>
                </a:solidFill>
              </a:rPr>
              <a:t>brevemente; </a:t>
            </a:r>
            <a:r>
              <a:rPr lang="es-PE" sz="1600" spc="-10" dirty="0">
                <a:solidFill>
                  <a:srgbClr val="262626"/>
                </a:solidFill>
              </a:rPr>
              <a:t>no es necesario ahondar en una profunda explicación.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Posibles modos: Último hombre el pie, Modo cooperativo, Modo time run, Modo </a:t>
            </a:r>
            <a:r>
              <a:rPr lang="es-PE" sz="1600" spc="-10" dirty="0" err="1">
                <a:solidFill>
                  <a:srgbClr val="262626"/>
                </a:solidFill>
              </a:rPr>
              <a:t>battle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royale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ESRB</a:t>
            </a:r>
          </a:p>
        </p:txBody>
      </p:sp>
      <p:pic>
        <p:nvPicPr>
          <p:cNvPr id="6146" name="Picture 2" descr="Resultado de imagen para game modes">
            <a:extLst>
              <a:ext uri="{FF2B5EF4-FFF2-40B4-BE49-F238E27FC236}">
                <a16:creationId xmlns:a16="http://schemas.microsoft.com/office/drawing/2014/main" id="{15F9C1C1-91EE-486C-8A97-38A2FF279E47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56" t="-2922" r="-556" b="-2922"/>
          <a:stretch/>
        </p:blipFill>
        <p:spPr bwMode="auto">
          <a:xfrm>
            <a:off x="2260600" y="2295525"/>
            <a:ext cx="4622800" cy="2903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9518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Son las características que hacen único a tu </a:t>
            </a:r>
            <a:r>
              <a:rPr lang="es-PE" sz="1600" spc="-10" dirty="0" smtClean="0">
                <a:solidFill>
                  <a:srgbClr val="262626"/>
                </a:solidFill>
              </a:rPr>
              <a:t>juego.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Aspectos que harían que un jugador se anime a comprar el juego.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Los USP deben ser las características únicas que hacen que su juego se destaque entre la multitud. </a:t>
            </a:r>
            <a:r>
              <a:rPr lang="en-US" sz="1600" spc="-10" dirty="0">
                <a:solidFill>
                  <a:srgbClr val="262626"/>
                </a:solidFill>
              </a:rPr>
              <a:t/>
            </a:r>
            <a:br>
              <a:rPr lang="en-US" sz="1600" spc="-10" dirty="0">
                <a:solidFill>
                  <a:srgbClr val="262626"/>
                </a:solidFill>
              </a:rPr>
            </a:b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</a:t>
            </a:r>
            <a:r>
              <a:rPr lang="es-PE" sz="1700" dirty="0" smtClean="0">
                <a:solidFill>
                  <a:srgbClr val="438AD7"/>
                </a:solidFill>
              </a:rPr>
              <a:t>UNIQUE SELLING POINTS</a:t>
            </a:r>
            <a:endParaRPr lang="es-PE" sz="1700" dirty="0">
              <a:solidFill>
                <a:srgbClr val="438AD7"/>
              </a:solidFill>
            </a:endParaRPr>
          </a:p>
        </p:txBody>
      </p:sp>
      <p:pic>
        <p:nvPicPr>
          <p:cNvPr id="2" name="Marcador de posición de imagen 1">
            <a:extLst>
              <a:ext uri="{FF2B5EF4-FFF2-40B4-BE49-F238E27FC236}">
                <a16:creationId xmlns:a16="http://schemas.microsoft.com/office/drawing/2014/main" id="{79AE5BDD-952B-477E-9679-6B01B13032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l="456" t="-1863" r="456" b="-55197"/>
          <a:stretch/>
        </p:blipFill>
        <p:spPr>
          <a:xfrm>
            <a:off x="5045075" y="881063"/>
            <a:ext cx="3624263" cy="4308475"/>
          </a:xfrm>
          <a:prstGeom prst="rect">
            <a:avLst/>
          </a:prstGeom>
        </p:spPr>
      </p:pic>
      <p:pic>
        <p:nvPicPr>
          <p:cNvPr id="9218" name="Picture 2" descr="Resultado de imagen para shovel knight">
            <a:extLst>
              <a:ext uri="{FF2B5EF4-FFF2-40B4-BE49-F238E27FC236}">
                <a16:creationId xmlns:a16="http://schemas.microsoft.com/office/drawing/2014/main" id="{CA4DCB67-84A1-4BB2-BB70-BA5DD50DB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477" y="3269182"/>
            <a:ext cx="1228543" cy="158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9808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</a:t>
            </a:r>
            <a:r>
              <a:rPr lang="es-PE" sz="1700" dirty="0" smtClean="0">
                <a:solidFill>
                  <a:srgbClr val="438AD7"/>
                </a:solidFill>
              </a:rPr>
              <a:t>UNIQUE SELLING POINTS</a:t>
            </a:r>
            <a:endParaRPr lang="es-PE" sz="1700" dirty="0">
              <a:solidFill>
                <a:srgbClr val="438AD7"/>
              </a:solidFill>
            </a:endParaRPr>
          </a:p>
        </p:txBody>
      </p:sp>
      <p:pic>
        <p:nvPicPr>
          <p:cNvPr id="8194" name="Picture 2" descr="http://cover.dlfox.com/InterPhoto.image.php?file=MjAxN18wOS80MjcvMzZmMTNmNzY5M2Y2MGFmYzIzZWNmMDQ3ZGJlM2RlMTAuanBn">
            <a:extLst>
              <a:ext uri="{FF2B5EF4-FFF2-40B4-BE49-F238E27FC236}">
                <a16:creationId xmlns:a16="http://schemas.microsoft.com/office/drawing/2014/main" id="{A4C92B37-3306-4FFE-838C-791D377D1987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57" b="10257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2393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3200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Son juegos que son similares </a:t>
            </a:r>
            <a:r>
              <a:rPr lang="es-PE" sz="1600" spc="-10" dirty="0" smtClean="0">
                <a:solidFill>
                  <a:srgbClr val="262626"/>
                </a:solidFill>
              </a:rPr>
              <a:t>en </a:t>
            </a:r>
            <a:r>
              <a:rPr lang="es-PE" sz="1600" spc="-10" dirty="0">
                <a:solidFill>
                  <a:srgbClr val="262626"/>
                </a:solidFill>
              </a:rPr>
              <a:t>su idea de diseño a</a:t>
            </a:r>
            <a:r>
              <a:rPr lang="es-PE" sz="1600" spc="-10" dirty="0" smtClean="0">
                <a:solidFill>
                  <a:srgbClr val="262626"/>
                </a:solidFill>
              </a:rPr>
              <a:t> juegos </a:t>
            </a:r>
            <a:r>
              <a:rPr lang="es-PE" sz="1600" spc="-10" dirty="0">
                <a:solidFill>
                  <a:srgbClr val="262626"/>
                </a:solidFill>
              </a:rPr>
              <a:t>que ya han sido </a:t>
            </a:r>
            <a:r>
              <a:rPr lang="es-PE" sz="1600" spc="-10" dirty="0" smtClean="0">
                <a:solidFill>
                  <a:srgbClr val="262626"/>
                </a:solidFill>
              </a:rPr>
              <a:t>lanzados.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Ayuda a los lectores a comprender de qué se tratará su juego. (</a:t>
            </a:r>
            <a:r>
              <a:rPr lang="es-PE" sz="1600" b="1" spc="-10" dirty="0">
                <a:solidFill>
                  <a:srgbClr val="262626"/>
                </a:solidFill>
              </a:rPr>
              <a:t>Es algo </a:t>
            </a:r>
            <a:r>
              <a:rPr lang="es-PE" sz="1600" spc="-10" dirty="0" smtClean="0">
                <a:solidFill>
                  <a:srgbClr val="262626"/>
                </a:solidFill>
              </a:rPr>
              <a:t>como: </a:t>
            </a:r>
            <a:r>
              <a:rPr lang="es-PE" sz="1600" spc="-10" dirty="0" err="1">
                <a:solidFill>
                  <a:srgbClr val="262626"/>
                </a:solidFill>
              </a:rPr>
              <a:t>P</a:t>
            </a:r>
            <a:r>
              <a:rPr lang="es-PE" sz="1600" spc="-10" dirty="0" err="1" smtClean="0">
                <a:solidFill>
                  <a:srgbClr val="262626"/>
                </a:solidFill>
              </a:rPr>
              <a:t>lants</a:t>
            </a:r>
            <a:r>
              <a:rPr lang="es-PE" sz="1600" spc="-10" dirty="0" smtClean="0">
                <a:solidFill>
                  <a:srgbClr val="262626"/>
                </a:solidFill>
              </a:rPr>
              <a:t> vs. </a:t>
            </a:r>
            <a:r>
              <a:rPr lang="es-PE" sz="1600" spc="-10" dirty="0" err="1">
                <a:solidFill>
                  <a:srgbClr val="262626"/>
                </a:solidFill>
              </a:rPr>
              <a:t>zombies</a:t>
            </a:r>
            <a:r>
              <a:rPr lang="es-PE" sz="1600" spc="-10" dirty="0">
                <a:solidFill>
                  <a:srgbClr val="262626"/>
                </a:solidFill>
              </a:rPr>
              <a:t>, </a:t>
            </a:r>
            <a:r>
              <a:rPr lang="es-PE" sz="1600" b="1" spc="-10" dirty="0">
                <a:solidFill>
                  <a:srgbClr val="262626"/>
                </a:solidFill>
              </a:rPr>
              <a:t>es como</a:t>
            </a:r>
            <a:r>
              <a:rPr lang="es-PE" sz="1600" spc="-10" dirty="0">
                <a:solidFill>
                  <a:srgbClr val="262626"/>
                </a:solidFill>
              </a:rPr>
              <a:t> samuray </a:t>
            </a:r>
            <a:r>
              <a:rPr lang="es-PE" sz="1600" spc="-10" dirty="0" err="1">
                <a:solidFill>
                  <a:srgbClr val="262626"/>
                </a:solidFill>
              </a:rPr>
              <a:t>gun</a:t>
            </a:r>
            <a:r>
              <a:rPr lang="es-PE" sz="1600" spc="-10" dirty="0">
                <a:solidFill>
                  <a:srgbClr val="262626"/>
                </a:solidFill>
              </a:rPr>
              <a:t>)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Si eliges un juego que tuvo problemas, un editor potencial (</a:t>
            </a:r>
            <a:r>
              <a:rPr lang="es-PE" sz="1600" spc="-10" dirty="0" err="1">
                <a:solidFill>
                  <a:srgbClr val="262626"/>
                </a:solidFill>
              </a:rPr>
              <a:t>publisher</a:t>
            </a:r>
            <a:r>
              <a:rPr lang="es-PE" sz="1600" spc="-10" dirty="0">
                <a:solidFill>
                  <a:srgbClr val="262626"/>
                </a:solidFill>
              </a:rPr>
              <a:t>) puede atemorizarse.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Ejemplo: Es como Clash </a:t>
            </a:r>
            <a:r>
              <a:rPr lang="es-PE" sz="1600" spc="-10" dirty="0" err="1">
                <a:solidFill>
                  <a:srgbClr val="262626"/>
                </a:solidFill>
              </a:rPr>
              <a:t>of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Clans</a:t>
            </a:r>
            <a:r>
              <a:rPr lang="es-PE" sz="1600" spc="-10" dirty="0">
                <a:solidFill>
                  <a:srgbClr val="262626"/>
                </a:solidFill>
              </a:rPr>
              <a:t> con piratas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</a:t>
            </a:r>
            <a:r>
              <a:rPr lang="es-PE" sz="1700" dirty="0" smtClean="0">
                <a:solidFill>
                  <a:srgbClr val="438AD7"/>
                </a:solidFill>
              </a:rPr>
              <a:t>PRODUCTOS COMPETITIVOS</a:t>
            </a:r>
            <a:endParaRPr lang="es-PE" sz="1700" dirty="0">
              <a:solidFill>
                <a:srgbClr val="438AD7"/>
              </a:solidFill>
            </a:endParaRPr>
          </a:p>
        </p:txBody>
      </p:sp>
      <p:sp>
        <p:nvSpPr>
          <p:cNvPr id="4" name="Marcador de posición de imagen 3"/>
          <p:cNvSpPr>
            <a:spLocks noGrp="1"/>
          </p:cNvSpPr>
          <p:nvPr>
            <p:ph type="pic" sz="quarter" idx="11"/>
          </p:nvPr>
        </p:nvSpPr>
        <p:spPr/>
      </p:sp>
      <p:pic>
        <p:nvPicPr>
          <p:cNvPr id="10242" name="Picture 2" descr="Resultado de imagen para clash of clans">
            <a:extLst>
              <a:ext uri="{FF2B5EF4-FFF2-40B4-BE49-F238E27FC236}">
                <a16:creationId xmlns:a16="http://schemas.microsoft.com/office/drawing/2014/main" id="{96A39C62-2748-43F4-A8EA-DB2BABB8F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074" y="881063"/>
            <a:ext cx="3626955" cy="2040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Resultado de imagen para like clash of clans pirates">
            <a:extLst>
              <a:ext uri="{FF2B5EF4-FFF2-40B4-BE49-F238E27FC236}">
                <a16:creationId xmlns:a16="http://schemas.microsoft.com/office/drawing/2014/main" id="{0EDE4723-1D78-46FA-A4AB-BA5984113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6554" y="3015272"/>
            <a:ext cx="2901304" cy="2172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768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88068" y="881063"/>
            <a:ext cx="6871746" cy="428148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832904" y="917413"/>
            <a:ext cx="3402730" cy="2111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TÍTULO</a:t>
            </a:r>
            <a:endParaRPr lang="es-PE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176213" indent="-176213" defTabSz="731342">
              <a:buFont typeface="Arial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Formar equipos de 4 </a:t>
            </a:r>
            <a:r>
              <a:rPr lang="es-PE" sz="1600" dirty="0" smtClean="0">
                <a:solidFill>
                  <a:srgbClr val="000000"/>
                </a:solidFill>
              </a:rPr>
              <a:t>o </a:t>
            </a:r>
            <a:r>
              <a:rPr lang="es-PE" sz="1600" dirty="0">
                <a:solidFill>
                  <a:srgbClr val="000000"/>
                </a:solidFill>
              </a:rPr>
              <a:t>5 integrantes.</a:t>
            </a:r>
          </a:p>
          <a:p>
            <a:pPr marL="176213" indent="-176213" defTabSz="731342">
              <a:buFont typeface="Arial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Con el tema propuesto (“color”) plantear una idea de juego que tenga como máximo dos mecánicas </a:t>
            </a:r>
            <a:r>
              <a:rPr lang="es-PE" sz="1600" dirty="0" err="1">
                <a:solidFill>
                  <a:srgbClr val="000000"/>
                </a:solidFill>
              </a:rPr>
              <a:t>core</a:t>
            </a:r>
            <a:r>
              <a:rPr lang="es-PE" sz="1600" dirty="0">
                <a:solidFill>
                  <a:srgbClr val="000000"/>
                </a:solidFill>
              </a:rPr>
              <a:t> y adaptarla al documento de una hoja.</a:t>
            </a:r>
          </a:p>
          <a:p>
            <a:pPr marL="285750" indent="-285750" defTabSz="731342">
              <a:lnSpc>
                <a:spcPct val="120000"/>
              </a:lnSpc>
              <a:buFont typeface="Arial"/>
              <a:buChar char="•"/>
            </a:pPr>
            <a:endParaRPr lang="es-PE" sz="1600" dirty="0">
              <a:solidFill>
                <a:srgbClr val="000000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5477544" y="993537"/>
            <a:ext cx="3070939" cy="40173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ACTIVIDAD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823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10"/>
          <p:cNvSpPr/>
          <p:nvPr/>
        </p:nvSpPr>
        <p:spPr>
          <a:xfrm>
            <a:off x="2527711" y="770440"/>
            <a:ext cx="6132101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700" dirty="0">
                <a:solidFill>
                  <a:srgbClr val="FFFFFF"/>
                </a:solidFill>
                <a:latin typeface="+mj-lt"/>
              </a:rPr>
              <a:t>La sesión de hoy nos muestra </a:t>
            </a:r>
            <a:r>
              <a:rPr lang="es-PE" sz="1700" dirty="0" smtClean="0">
                <a:solidFill>
                  <a:srgbClr val="FFFFFF"/>
                </a:solidFill>
                <a:latin typeface="+mj-lt"/>
              </a:rPr>
              <a:t>cómo </a:t>
            </a:r>
            <a:r>
              <a:rPr lang="es-PE" sz="1700" dirty="0">
                <a:solidFill>
                  <a:srgbClr val="FFFFFF"/>
                </a:solidFill>
                <a:latin typeface="+mj-lt"/>
              </a:rPr>
              <a:t>redactar un documento de una hoja, que sirve para comunicar nuestra idea de juego a los miembros del equipo o a potenciales </a:t>
            </a:r>
            <a:r>
              <a:rPr lang="es-PE" sz="1700" dirty="0" err="1">
                <a:solidFill>
                  <a:srgbClr val="FFFFFF"/>
                </a:solidFill>
                <a:latin typeface="+mj-lt"/>
              </a:rPr>
              <a:t>publishers</a:t>
            </a:r>
            <a:r>
              <a:rPr lang="es-PE" sz="1700" dirty="0">
                <a:solidFill>
                  <a:srgbClr val="FFFFFF"/>
                </a:solidFill>
                <a:latin typeface="+mj-lt"/>
              </a:rPr>
              <a:t>.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700" dirty="0">
                <a:solidFill>
                  <a:srgbClr val="FFFFFF"/>
                </a:solidFill>
                <a:latin typeface="+mj-lt"/>
              </a:rPr>
              <a:t>Es importante </a:t>
            </a:r>
            <a:r>
              <a:rPr lang="es-PE" sz="1700" dirty="0" smtClean="0">
                <a:solidFill>
                  <a:srgbClr val="FFFFFF"/>
                </a:solidFill>
                <a:latin typeface="+mj-lt"/>
              </a:rPr>
              <a:t>que este </a:t>
            </a:r>
            <a:r>
              <a:rPr lang="es-PE" sz="1700" dirty="0">
                <a:solidFill>
                  <a:srgbClr val="FFFFFF"/>
                </a:solidFill>
                <a:latin typeface="+mj-lt"/>
              </a:rPr>
              <a:t>documento </a:t>
            </a:r>
            <a:r>
              <a:rPr lang="es-PE" sz="1700" dirty="0" smtClean="0">
                <a:solidFill>
                  <a:srgbClr val="FFFFFF"/>
                </a:solidFill>
                <a:latin typeface="+mj-lt"/>
              </a:rPr>
              <a:t>sea breve y </a:t>
            </a:r>
            <a:r>
              <a:rPr lang="es-PE" sz="1700" dirty="0">
                <a:solidFill>
                  <a:srgbClr val="FFFFFF"/>
                </a:solidFill>
                <a:latin typeface="+mj-lt"/>
              </a:rPr>
              <a:t>enfocarnos en que sea lo más informativo posible.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  <a:latin typeface="+mj-lt"/>
              <a:cs typeface="Source Sans Pro" panose="020B0604020202020204" charset="0"/>
            </a:endParaRPr>
          </a:p>
          <a:p>
            <a:pPr lvl="1"/>
            <a:endParaRPr lang="es-PE" sz="1700" dirty="0">
              <a:solidFill>
                <a:srgbClr val="FFFFFF"/>
              </a:solidFill>
              <a:latin typeface="Calibri"/>
              <a:ea typeface="Calibri" panose="020F0502020204030204" pitchFamily="34" charset="0"/>
              <a:cs typeface="Source Sans Pro" panose="020B0604020202020204" charset="0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/ CONCLUSIONES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544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5"/>
          <p:cNvSpPr txBox="1">
            <a:spLocks/>
          </p:cNvSpPr>
          <p:nvPr/>
        </p:nvSpPr>
        <p:spPr>
          <a:xfrm>
            <a:off x="398994" y="724844"/>
            <a:ext cx="7881937" cy="180164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lvl="0" indent="-174625">
              <a:spcBef>
                <a:spcPts val="0"/>
              </a:spcBef>
              <a:buSzPct val="100000"/>
            </a:pPr>
            <a:r>
              <a:rPr lang="en-US" sz="1500" dirty="0">
                <a:latin typeface="Calibri"/>
                <a:cs typeface="Calibri"/>
              </a:rPr>
              <a:t>Ernest Adams. (2010) Fundamentals of Game Design Second Edition.</a:t>
            </a:r>
            <a:endParaRPr lang="es-PE" sz="1500" dirty="0">
              <a:latin typeface="Calibri"/>
              <a:cs typeface="Calibri"/>
            </a:endParaRPr>
          </a:p>
          <a:p>
            <a:pPr marL="174625" lvl="0" indent="-174625">
              <a:spcBef>
                <a:spcPts val="0"/>
              </a:spcBef>
              <a:buSzPct val="100000"/>
            </a:pPr>
            <a:r>
              <a:rPr lang="en-US" sz="1500" dirty="0">
                <a:latin typeface="Calibri"/>
                <a:cs typeface="Calibri"/>
              </a:rPr>
              <a:t>Scott Rogers. (2014) Level UP! Second Edition. </a:t>
            </a:r>
            <a:endParaRPr lang="es-PE" sz="1500" dirty="0">
              <a:latin typeface="Calibri"/>
              <a:cs typeface="Calibri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BIBLIOGRAFÍA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054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3228</TotalTime>
  <Words>571</Words>
  <Application>Microsoft Office PowerPoint</Application>
  <PresentationFormat>Presentación en pantalla (16:10)</PresentationFormat>
  <Paragraphs>86</Paragraphs>
  <Slides>17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Source Sans Pro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Diego Santamaria Saldaña</cp:lastModifiedBy>
  <cp:revision>332</cp:revision>
  <cp:lastPrinted>2018-01-16T21:42:59Z</cp:lastPrinted>
  <dcterms:created xsi:type="dcterms:W3CDTF">2016-10-06T14:52:02Z</dcterms:created>
  <dcterms:modified xsi:type="dcterms:W3CDTF">2020-11-03T17:22:25Z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