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tags/tag7.xml" ContentType="application/vnd.openxmlformats-officedocument.presentationml.tags+xml"/>
  <Override PartName="/ppt/notesSlides/notesSlide10.xml" ContentType="application/vnd.openxmlformats-officedocument.presentationml.notesSlid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notesSlides/notesSlide17.xml" ContentType="application/vnd.openxmlformats-officedocument.presentationml.notesSlide+xml"/>
  <Override PartName="/ppt/tags/tag1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handoutMasterIdLst>
    <p:handoutMasterId r:id="rId25"/>
  </p:handoutMasterIdLst>
  <p:sldIdLst>
    <p:sldId id="256" r:id="rId2"/>
    <p:sldId id="306" r:id="rId3"/>
    <p:sldId id="353" r:id="rId4"/>
    <p:sldId id="354" r:id="rId5"/>
    <p:sldId id="355" r:id="rId6"/>
    <p:sldId id="356" r:id="rId7"/>
    <p:sldId id="357" r:id="rId8"/>
    <p:sldId id="358" r:id="rId9"/>
    <p:sldId id="359" r:id="rId10"/>
    <p:sldId id="360" r:id="rId11"/>
    <p:sldId id="315" r:id="rId12"/>
    <p:sldId id="352" r:id="rId13"/>
    <p:sldId id="361" r:id="rId14"/>
    <p:sldId id="362" r:id="rId15"/>
    <p:sldId id="363" r:id="rId16"/>
    <p:sldId id="364" r:id="rId17"/>
    <p:sldId id="365" r:id="rId18"/>
    <p:sldId id="366" r:id="rId19"/>
    <p:sldId id="367" r:id="rId20"/>
    <p:sldId id="304" r:id="rId21"/>
    <p:sldId id="303" r:id="rId22"/>
    <p:sldId id="305" r:id="rId23"/>
  </p:sldIdLst>
  <p:sldSz cx="9144000" cy="5715000" type="screen16x10"/>
  <p:notesSz cx="6858000" cy="9144000"/>
  <p:custDataLst>
    <p:tags r:id="rId26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">
          <p15:clr>
            <a:srgbClr val="A4A3A4"/>
          </p15:clr>
        </p15:guide>
        <p15:guide id="2" pos="5455">
          <p15:clr>
            <a:srgbClr val="A4A3A4"/>
          </p15:clr>
        </p15:guide>
        <p15:guide id="3" orient="horz" pos="3274" userDrawn="1">
          <p15:clr>
            <a:srgbClr val="A4A3A4"/>
          </p15:clr>
        </p15:guide>
        <p15:guide id="4" orient="horz" pos="689" userDrawn="1">
          <p15:clr>
            <a:srgbClr val="A4A3A4"/>
          </p15:clr>
        </p15:guide>
        <p15:guide id="5" pos="476" userDrawn="1">
          <p15:clr>
            <a:srgbClr val="A4A3A4"/>
          </p15:clr>
        </p15:guide>
        <p15:guide id="6" pos="493">
          <p15:clr>
            <a:srgbClr val="A4A3A4"/>
          </p15:clr>
        </p15:guide>
        <p15:guide id="7" orient="horz" pos="387">
          <p15:clr>
            <a:srgbClr val="A4A3A4"/>
          </p15:clr>
        </p15:guide>
        <p15:guide id="8" orient="horz" pos="542">
          <p15:clr>
            <a:srgbClr val="A4A3A4"/>
          </p15:clr>
        </p15:guide>
        <p15:guide id="9" orient="horz" pos="259">
          <p15:clr>
            <a:srgbClr val="A4A3A4"/>
          </p15:clr>
        </p15:guide>
        <p15:guide id="10" orient="horz" pos="3269">
          <p15:clr>
            <a:srgbClr val="A4A3A4"/>
          </p15:clr>
        </p15:guide>
        <p15:guide id="11" pos="5461">
          <p15:clr>
            <a:srgbClr val="A4A3A4"/>
          </p15:clr>
        </p15:guide>
        <p15:guide id="12" pos="308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lva Zoraida Hamada Doshi" initials="EZHD" lastIdx="1" clrIdx="0">
    <p:extLst>
      <p:ext uri="{19B8F6BF-5375-455C-9EA6-DF929625EA0E}">
        <p15:presenceInfo xmlns:p15="http://schemas.microsoft.com/office/powerpoint/2012/main" userId="Elva Zoraida Hamada Doshi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FD5EF"/>
    <a:srgbClr val="558ED5"/>
    <a:srgbClr val="FFFFFF"/>
    <a:srgbClr val="C00000"/>
    <a:srgbClr val="A6A6A6"/>
    <a:srgbClr val="F2F2F2"/>
    <a:srgbClr val="7F7F7F"/>
    <a:srgbClr val="FFFFFE"/>
    <a:srgbClr val="00B4B0"/>
    <a:srgbClr val="215BD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9267" autoAdjust="0"/>
    <p:restoredTop sz="90000" autoAdjust="0"/>
  </p:normalViewPr>
  <p:slideViewPr>
    <p:cSldViewPr snapToGrid="0" snapToObjects="1" showGuides="1">
      <p:cViewPr varScale="1">
        <p:scale>
          <a:sx n="109" d="100"/>
          <a:sy n="109" d="100"/>
        </p:scale>
        <p:origin x="1170" y="108"/>
      </p:cViewPr>
      <p:guideLst>
        <p:guide orient="horz" pos="217"/>
        <p:guide pos="5455"/>
        <p:guide orient="horz" pos="3274"/>
        <p:guide orient="horz" pos="689"/>
        <p:guide pos="476"/>
        <p:guide pos="493"/>
        <p:guide orient="horz" pos="387"/>
        <p:guide orient="horz" pos="542"/>
        <p:guide orient="horz" pos="259"/>
        <p:guide orient="horz" pos="3269"/>
        <p:guide pos="5461"/>
        <p:guide pos="308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gs" Target="tags/tag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932DC7-834F-6148-86AF-F72164F7FFC1}" type="datetimeFigureOut">
              <a:rPr lang="es-ES" smtClean="0"/>
              <a:t>03/11/2020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EA6FD5-E31A-6D44-BE80-5A94AC694FC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265184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DF1720-AE80-4069-8D89-2C76E8AFD874}" type="datetimeFigureOut">
              <a:rPr lang="es-PE" smtClean="0"/>
              <a:t>3/11/2020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6700CA-E45F-416D-B659-25554F846B4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48527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960438" y="1143000"/>
            <a:ext cx="4937125" cy="30861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344541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960438" y="1143000"/>
            <a:ext cx="4937125" cy="30861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3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2859758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4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676761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5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7901063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6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3114291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7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7937118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8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6353668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9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9237626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10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2359584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960438" y="1143000"/>
            <a:ext cx="4937125" cy="30861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11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3445410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PE" dirty="0"/>
              <a:t>Ranking de visitas a los sitios web por https://www.alexa.com/topsites/countries/US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14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8056993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15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58378543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16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88890693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17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62990771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18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84255996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19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3007404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960438" y="1143000"/>
            <a:ext cx="4937125" cy="30861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21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344541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30851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29431317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 userDrawn="1"/>
        </p:nvSpPr>
        <p:spPr>
          <a:xfrm>
            <a:off x="312777" y="5260073"/>
            <a:ext cx="8568205" cy="31276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248823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ema - 1 Imagen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Marcador de posición de imagen 17"/>
          <p:cNvSpPr>
            <a:spLocks noGrp="1"/>
          </p:cNvSpPr>
          <p:nvPr>
            <p:ph type="pic" sz="quarter" idx="11"/>
          </p:nvPr>
        </p:nvSpPr>
        <p:spPr>
          <a:xfrm>
            <a:off x="5045075" y="881063"/>
            <a:ext cx="3624263" cy="4308475"/>
          </a:xfrm>
          <a:prstGeom prst="rect">
            <a:avLst/>
          </a:prstGeom>
        </p:spPr>
        <p:txBody>
          <a:bodyPr vert="horz"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118249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ema - 1 Imagen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posición de imagen 6"/>
          <p:cNvSpPr>
            <a:spLocks noGrp="1"/>
          </p:cNvSpPr>
          <p:nvPr>
            <p:ph type="pic" sz="quarter" idx="10"/>
          </p:nvPr>
        </p:nvSpPr>
        <p:spPr>
          <a:xfrm>
            <a:off x="488950" y="881063"/>
            <a:ext cx="3682835" cy="4308474"/>
          </a:xfrm>
          <a:prstGeom prst="rect">
            <a:avLst/>
          </a:prstGeom>
        </p:spPr>
        <p:txBody>
          <a:bodyPr vert="horz"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322261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ema - 1 Imagen Centra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arcador de posición de imagen 8"/>
          <p:cNvSpPr>
            <a:spLocks noGrp="1"/>
          </p:cNvSpPr>
          <p:nvPr>
            <p:ph type="pic" sz="quarter" idx="10"/>
          </p:nvPr>
        </p:nvSpPr>
        <p:spPr>
          <a:xfrm>
            <a:off x="2260600" y="2295525"/>
            <a:ext cx="4622800" cy="2903538"/>
          </a:xfrm>
          <a:prstGeom prst="rect">
            <a:avLst/>
          </a:prstGeom>
        </p:spPr>
        <p:txBody>
          <a:bodyPr vert="horz"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355087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ema - 2 Imáge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arcador de posición de imagen 7"/>
          <p:cNvSpPr>
            <a:spLocks noGrp="1"/>
          </p:cNvSpPr>
          <p:nvPr>
            <p:ph type="pic" sz="quarter" idx="11"/>
          </p:nvPr>
        </p:nvSpPr>
        <p:spPr>
          <a:xfrm>
            <a:off x="4662488" y="1528763"/>
            <a:ext cx="4006850" cy="3660775"/>
          </a:xfrm>
          <a:prstGeom prst="rect">
            <a:avLst/>
          </a:prstGeom>
        </p:spPr>
        <p:txBody>
          <a:bodyPr vert="horz"/>
          <a:lstStyle/>
          <a:p>
            <a:endParaRPr lang="es-ES" dirty="0"/>
          </a:p>
        </p:txBody>
      </p:sp>
      <p:sp>
        <p:nvSpPr>
          <p:cNvPr id="6" name="Marcador de imágenes prediseñadas 5"/>
          <p:cNvSpPr>
            <a:spLocks noGrp="1"/>
          </p:cNvSpPr>
          <p:nvPr>
            <p:ph type="clipArt" sz="quarter" idx="10"/>
          </p:nvPr>
        </p:nvSpPr>
        <p:spPr>
          <a:xfrm>
            <a:off x="503238" y="1528763"/>
            <a:ext cx="4013235" cy="3660775"/>
          </a:xfrm>
          <a:prstGeom prst="rect">
            <a:avLst/>
          </a:prstGeom>
        </p:spPr>
        <p:txBody>
          <a:bodyPr vert="horz"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9646913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ema - Imagen Gigan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posición de imagen 4"/>
          <p:cNvSpPr>
            <a:spLocks noGrp="1"/>
          </p:cNvSpPr>
          <p:nvPr>
            <p:ph type="pic" sz="quarter" idx="10"/>
          </p:nvPr>
        </p:nvSpPr>
        <p:spPr>
          <a:xfrm>
            <a:off x="488950" y="860424"/>
            <a:ext cx="8180387" cy="4329113"/>
          </a:xfrm>
          <a:prstGeom prst="rect">
            <a:avLst/>
          </a:prstGeom>
        </p:spPr>
        <p:txBody>
          <a:bodyPr vert="horz"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269565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ema - 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posición de imagen 4"/>
          <p:cNvSpPr>
            <a:spLocks noGrp="1"/>
          </p:cNvSpPr>
          <p:nvPr>
            <p:ph type="pic" sz="quarter" idx="10"/>
          </p:nvPr>
        </p:nvSpPr>
        <p:spPr>
          <a:xfrm>
            <a:off x="2184400" y="1360488"/>
            <a:ext cx="4775200" cy="2686050"/>
          </a:xfrm>
          <a:prstGeom prst="rect">
            <a:avLst/>
          </a:prstGeom>
        </p:spPr>
        <p:txBody>
          <a:bodyPr vert="horz"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352614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emf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Agrupar 13"/>
          <p:cNvGrpSpPr/>
          <p:nvPr userDrawn="1"/>
        </p:nvGrpSpPr>
        <p:grpSpPr>
          <a:xfrm>
            <a:off x="944054" y="5369051"/>
            <a:ext cx="7804380" cy="215444"/>
            <a:chOff x="944054" y="5369051"/>
            <a:chExt cx="7804380" cy="215444"/>
          </a:xfrm>
        </p:grpSpPr>
        <p:sp>
          <p:nvSpPr>
            <p:cNvPr id="16" name="TextBox 7"/>
            <p:cNvSpPr txBox="1"/>
            <p:nvPr userDrawn="1"/>
          </p:nvSpPr>
          <p:spPr>
            <a:xfrm>
              <a:off x="944054" y="5369051"/>
              <a:ext cx="2638864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kern="1200" dirty="0" smtClean="0">
                  <a:solidFill>
                    <a:schemeClr val="bg1">
                      <a:lumMod val="50000"/>
                    </a:schemeClr>
                  </a:solidFill>
                  <a:latin typeface="Calibri"/>
                  <a:ea typeface="+mn-ea"/>
                  <a:cs typeface="Calibri"/>
                  <a:sym typeface="Wingdings"/>
                </a:rPr>
                <a:t>DISEÑO</a:t>
              </a:r>
              <a:r>
                <a:rPr lang="en-US" sz="800" kern="1200" baseline="0" dirty="0" smtClean="0">
                  <a:solidFill>
                    <a:schemeClr val="bg1">
                      <a:lumMod val="50000"/>
                    </a:schemeClr>
                  </a:solidFill>
                  <a:latin typeface="Calibri"/>
                  <a:ea typeface="+mn-ea"/>
                  <a:cs typeface="Calibri"/>
                  <a:sym typeface="Wingdings"/>
                </a:rPr>
                <a:t> DE ESTRATEGIAS PARA VIDEOJUEGOS</a:t>
              </a:r>
              <a:r>
                <a:rPr lang="en-US" sz="800" kern="1200" dirty="0" smtClean="0">
                  <a:solidFill>
                    <a:schemeClr val="bg1">
                      <a:lumMod val="50000"/>
                    </a:schemeClr>
                  </a:solidFill>
                  <a:latin typeface="Calibri"/>
                  <a:ea typeface="+mn-ea"/>
                  <a:cs typeface="Calibri"/>
                  <a:sym typeface="Wingdings"/>
                </a:rPr>
                <a:t>  </a:t>
              </a:r>
              <a:r>
                <a:rPr lang="en-US" sz="800" dirty="0">
                  <a:solidFill>
                    <a:schemeClr val="bg1">
                      <a:lumMod val="50000"/>
                    </a:schemeClr>
                  </a:solidFill>
                  <a:latin typeface="Calibri"/>
                  <a:ea typeface="Wingdings"/>
                  <a:cs typeface="Calibri"/>
                  <a:sym typeface="Wingdings"/>
                </a:rPr>
                <a:t></a:t>
              </a:r>
              <a:r>
                <a:rPr lang="en-US" sz="800" kern="1200" dirty="0">
                  <a:solidFill>
                    <a:schemeClr val="bg1">
                      <a:lumMod val="50000"/>
                    </a:schemeClr>
                  </a:solidFill>
                  <a:latin typeface="Calibri"/>
                  <a:ea typeface="+mn-ea"/>
                  <a:cs typeface="Calibri"/>
                  <a:sym typeface="Wingdings"/>
                </a:rPr>
                <a:t>  SESIÓN </a:t>
              </a:r>
              <a:r>
                <a:rPr lang="en-US" sz="800" kern="1200" dirty="0" smtClean="0">
                  <a:solidFill>
                    <a:schemeClr val="bg1">
                      <a:lumMod val="50000"/>
                    </a:schemeClr>
                  </a:solidFill>
                  <a:latin typeface="Calibri"/>
                  <a:ea typeface="+mn-ea"/>
                  <a:cs typeface="Calibri"/>
                  <a:sym typeface="Wingdings"/>
                </a:rPr>
                <a:t>13</a:t>
              </a:r>
              <a:endParaRPr lang="en-US" sz="800" dirty="0">
                <a:solidFill>
                  <a:schemeClr val="bg1">
                    <a:lumMod val="50000"/>
                  </a:schemeClr>
                </a:solidFill>
                <a:latin typeface="Calibri"/>
                <a:cs typeface="Calibri"/>
              </a:endParaRPr>
            </a:p>
          </p:txBody>
        </p:sp>
        <p:sp>
          <p:nvSpPr>
            <p:cNvPr id="18" name="Rectangle 3"/>
            <p:cNvSpPr/>
            <p:nvPr userDrawn="1"/>
          </p:nvSpPr>
          <p:spPr>
            <a:xfrm>
              <a:off x="7379148" y="5384440"/>
              <a:ext cx="1369286" cy="18466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/>
              <a:r>
                <a:rPr lang="es-ES_tradnl" sz="600" dirty="0">
                  <a:solidFill>
                    <a:schemeClr val="bg1">
                      <a:lumMod val="50000"/>
                    </a:schemeClr>
                  </a:solidFill>
                </a:rPr>
                <a:t>© </a:t>
              </a:r>
              <a:r>
                <a:rPr lang="es-ES_tradnl" sz="600" dirty="0" smtClean="0">
                  <a:solidFill>
                    <a:schemeClr val="bg1">
                      <a:lumMod val="50000"/>
                    </a:schemeClr>
                  </a:solidFill>
                </a:rPr>
                <a:t>ISIL</a:t>
              </a:r>
              <a:r>
                <a:rPr lang="es-ES_tradnl" sz="600" dirty="0">
                  <a:solidFill>
                    <a:schemeClr val="bg1">
                      <a:lumMod val="50000"/>
                    </a:schemeClr>
                  </a:solidFill>
                </a:rPr>
                <a:t>. Todos los derechos reservados</a:t>
              </a:r>
            </a:p>
          </p:txBody>
        </p:sp>
      </p:grpSp>
      <p:pic>
        <p:nvPicPr>
          <p:cNvPr id="3" name="Imagen 2"/>
          <p:cNvPicPr>
            <a:picLocks noChangeAspect="1"/>
          </p:cNvPicPr>
          <p:nvPr userDrawn="1"/>
        </p:nvPicPr>
        <p:blipFill>
          <a:blip r:embed="rId11">
            <a:alphaModFix amt="20000"/>
          </a:blip>
          <a:stretch>
            <a:fillRect/>
          </a:stretch>
        </p:blipFill>
        <p:spPr>
          <a:xfrm>
            <a:off x="495300" y="5328911"/>
            <a:ext cx="448573" cy="250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9323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5" r:id="rId3"/>
    <p:sldLayoutId id="2147483656" r:id="rId4"/>
    <p:sldLayoutId id="2147483660" r:id="rId5"/>
    <p:sldLayoutId id="2147483657" r:id="rId6"/>
    <p:sldLayoutId id="2147483658" r:id="rId7"/>
    <p:sldLayoutId id="2147483661" r:id="rId8"/>
    <p:sldLayoutId id="2147483659" r:id="rId9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0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6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0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558E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Rectangle 3"/>
          <p:cNvSpPr/>
          <p:nvPr/>
        </p:nvSpPr>
        <p:spPr>
          <a:xfrm>
            <a:off x="503238" y="1207530"/>
            <a:ext cx="8049072" cy="28838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Calibri"/>
                <a:cs typeface="Calibri"/>
              </a:rPr>
              <a:t>SESIÓN /</a:t>
            </a:r>
            <a:r>
              <a:rPr lang="en-US" sz="2800" b="1" dirty="0">
                <a:solidFill>
                  <a:schemeClr val="bg1"/>
                </a:solidFill>
                <a:latin typeface="Calibri"/>
                <a:cs typeface="Calibri"/>
              </a:rPr>
              <a:t>13</a:t>
            </a:r>
          </a:p>
          <a:p>
            <a:pPr algn="ctr">
              <a:lnSpc>
                <a:spcPct val="90000"/>
              </a:lnSpc>
              <a:defRPr/>
            </a:pPr>
            <a:r>
              <a:rPr lang="es-PE" sz="3000" b="1" dirty="0">
                <a:solidFill>
                  <a:schemeClr val="bg1"/>
                </a:solidFill>
                <a:latin typeface="Calibri"/>
                <a:cs typeface="Calibri"/>
              </a:rPr>
              <a:t>PROMOCIÓN DE VIDEOJUEGOS</a:t>
            </a:r>
          </a:p>
          <a:p>
            <a:pPr>
              <a:lnSpc>
                <a:spcPct val="90000"/>
              </a:lnSpc>
              <a:spcBef>
                <a:spcPts val="1000"/>
              </a:spcBef>
              <a:defRPr/>
            </a:pPr>
            <a:endParaRPr lang="en-US" b="1" dirty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lnSpc>
                <a:spcPct val="90000"/>
              </a:lnSpc>
              <a:spcBef>
                <a:spcPts val="1000"/>
              </a:spcBef>
              <a:defRPr/>
            </a:pPr>
            <a:endParaRPr lang="en-US" b="1" dirty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lnSpc>
                <a:spcPct val="90000"/>
              </a:lnSpc>
              <a:spcBef>
                <a:spcPts val="1000"/>
              </a:spcBef>
              <a:defRPr/>
            </a:pPr>
            <a:endParaRPr lang="en-US" b="1" dirty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lnSpc>
                <a:spcPct val="110000"/>
              </a:lnSpc>
              <a:defRPr/>
            </a:pPr>
            <a:r>
              <a:rPr lang="en-US" sz="1600" b="1" dirty="0">
                <a:solidFill>
                  <a:schemeClr val="bg1"/>
                </a:solidFill>
                <a:latin typeface="Calibri"/>
                <a:cs typeface="Calibri"/>
              </a:rPr>
              <a:t>/ TIPS DE MARKETING</a:t>
            </a:r>
          </a:p>
          <a:p>
            <a:pPr>
              <a:lnSpc>
                <a:spcPct val="110000"/>
              </a:lnSpc>
              <a:defRPr/>
            </a:pPr>
            <a:r>
              <a:rPr lang="en-US" sz="1600" b="1" dirty="0">
                <a:solidFill>
                  <a:schemeClr val="bg1"/>
                </a:solidFill>
                <a:latin typeface="Calibri"/>
                <a:cs typeface="Calibri"/>
              </a:rPr>
              <a:t>/ </a:t>
            </a:r>
            <a:r>
              <a:rPr lang="es-ES" sz="1600" b="1" dirty="0">
                <a:solidFill>
                  <a:schemeClr val="bg1"/>
                </a:solidFill>
                <a:latin typeface="Calibri"/>
                <a:cs typeface="Calibri"/>
              </a:rPr>
              <a:t>REDES SOCIALES Y ANALÍTICAS</a:t>
            </a:r>
          </a:p>
          <a:p>
            <a:pPr>
              <a:lnSpc>
                <a:spcPct val="110000"/>
              </a:lnSpc>
              <a:defRPr/>
            </a:pPr>
            <a:endParaRPr lang="es-ES" sz="1600" dirty="0">
              <a:solidFill>
                <a:schemeClr val="bg1"/>
              </a:solidFill>
              <a:cs typeface="Calibri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331729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dirty="0">
                <a:solidFill>
                  <a:srgbClr val="438AD7"/>
                </a:solidFill>
              </a:rPr>
              <a:t>/ INTRODUCCIÓN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95299" y="810908"/>
            <a:ext cx="8102216" cy="7386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0000" lvl="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La clase anterior terminamos de cubrir las principales herramientas de </a:t>
            </a:r>
            <a:r>
              <a:rPr lang="es-PE" sz="1600" spc="-10" dirty="0" err="1">
                <a:solidFill>
                  <a:srgbClr val="262626"/>
                </a:solidFill>
              </a:rPr>
              <a:t>Construct</a:t>
            </a:r>
            <a:r>
              <a:rPr lang="es-PE" sz="1600" spc="-10" dirty="0">
                <a:solidFill>
                  <a:srgbClr val="262626"/>
                </a:solidFill>
              </a:rPr>
              <a:t> 2. Ahora que ya tenemos </a:t>
            </a:r>
            <a:r>
              <a:rPr lang="es-PE" sz="1600" spc="-10" dirty="0" smtClean="0">
                <a:solidFill>
                  <a:srgbClr val="262626"/>
                </a:solidFill>
              </a:rPr>
              <a:t>creados </a:t>
            </a:r>
            <a:r>
              <a:rPr lang="es-PE" sz="1600" spc="-10" dirty="0">
                <a:solidFill>
                  <a:srgbClr val="262626"/>
                </a:solidFill>
              </a:rPr>
              <a:t>nuestros propios juegos, es momento de aprender </a:t>
            </a:r>
            <a:r>
              <a:rPr lang="es-PE" sz="1600" spc="-10" dirty="0" smtClean="0">
                <a:solidFill>
                  <a:srgbClr val="262626"/>
                </a:solidFill>
              </a:rPr>
              <a:t>cómo </a:t>
            </a:r>
            <a:r>
              <a:rPr lang="es-PE" sz="1600" spc="-10" dirty="0">
                <a:solidFill>
                  <a:srgbClr val="262626"/>
                </a:solidFill>
              </a:rPr>
              <a:t>monetizar con ellos para poder generar utilidades.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897346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558E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Rectangle 3"/>
          <p:cNvSpPr/>
          <p:nvPr/>
        </p:nvSpPr>
        <p:spPr>
          <a:xfrm>
            <a:off x="424252" y="3703125"/>
            <a:ext cx="7966170" cy="480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ES" sz="2800" b="1" dirty="0">
                <a:solidFill>
                  <a:schemeClr val="bg1"/>
                </a:solidFill>
                <a:cs typeface="Calibri"/>
              </a:rPr>
              <a:t>TIPS DE MARKETING</a:t>
            </a:r>
            <a:endParaRPr lang="es-ES" sz="1600" dirty="0">
              <a:solidFill>
                <a:schemeClr val="bg1"/>
              </a:solidFill>
              <a:cs typeface="Calibri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090301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7"/>
          <p:cNvSpPr txBox="1"/>
          <p:nvPr/>
        </p:nvSpPr>
        <p:spPr>
          <a:xfrm>
            <a:off x="495299" y="810908"/>
            <a:ext cx="4376446" cy="29546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Vender copias de tu juego y dar a conocer el juego.</a:t>
            </a: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endParaRPr lang="es-PE" sz="1600" spc="-10" dirty="0">
              <a:solidFill>
                <a:srgbClr val="262626"/>
              </a:solidFill>
            </a:endParaRP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El marketing es, sin duda, uno de los mayores desafíos que enfrentan los desarrolladores de juegos independientes.</a:t>
            </a: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endParaRPr lang="es-PE" sz="1600" spc="-10" dirty="0">
              <a:solidFill>
                <a:srgbClr val="262626"/>
              </a:solidFill>
            </a:endParaRP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Redes sociales, comunicados de prensa, ferias comerciales, reuniones, personas influyentes ... la lista de tareas para un desarrollador individual o un equipo pequeño es muy larga y, a menudo, muy intimidante. </a:t>
            </a:r>
            <a:r>
              <a:rPr lang="en-US" sz="1600" spc="-10" dirty="0">
                <a:solidFill>
                  <a:srgbClr val="262626"/>
                </a:solidFill>
              </a:rPr>
              <a:t/>
            </a:r>
            <a:br>
              <a:rPr lang="en-US" sz="1600" spc="-10" dirty="0">
                <a:solidFill>
                  <a:srgbClr val="262626"/>
                </a:solidFill>
              </a:rPr>
            </a:br>
            <a:endParaRPr lang="en-US" sz="1600" spc="-10" dirty="0">
              <a:solidFill>
                <a:srgbClr val="262626"/>
              </a:solidFill>
            </a:endParaRPr>
          </a:p>
        </p:txBody>
      </p:sp>
      <p:sp>
        <p:nvSpPr>
          <p:cNvPr id="5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dirty="0">
                <a:solidFill>
                  <a:srgbClr val="438AD7"/>
                </a:solidFill>
              </a:rPr>
              <a:t>/ TIPS DE MARKETING</a:t>
            </a:r>
          </a:p>
        </p:txBody>
      </p:sp>
      <p:pic>
        <p:nvPicPr>
          <p:cNvPr id="1026" name="Picture 2" descr="Resultado de imagen para marketing games">
            <a:extLst>
              <a:ext uri="{FF2B5EF4-FFF2-40B4-BE49-F238E27FC236}">
                <a16:creationId xmlns:a16="http://schemas.microsoft.com/office/drawing/2014/main" id="{A9A261F0-2DD9-4A8F-8D8E-6A03FFE81D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5075" y="1879608"/>
            <a:ext cx="3624263" cy="20459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79931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7"/>
          <p:cNvSpPr txBox="1"/>
          <p:nvPr/>
        </p:nvSpPr>
        <p:spPr>
          <a:xfrm>
            <a:off x="495299" y="810908"/>
            <a:ext cx="4376446" cy="1969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El marketing se trata de experimentar. </a:t>
            </a: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endParaRPr lang="es-PE" sz="1600" spc="-10" dirty="0">
              <a:solidFill>
                <a:srgbClr val="262626"/>
              </a:solidFill>
            </a:endParaRP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Lo que funciona para un juego puede no funcionar para otro.</a:t>
            </a: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endParaRPr lang="es-PE" sz="1600" spc="-10" dirty="0">
              <a:solidFill>
                <a:srgbClr val="262626"/>
              </a:solidFill>
            </a:endParaRP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Cada juego tiene sus propias cualidades únicas y su propio nicho de jugadores que quieren saber de él. </a:t>
            </a: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endParaRPr lang="en-US" sz="1600" spc="-10" dirty="0">
              <a:solidFill>
                <a:srgbClr val="262626"/>
              </a:solidFill>
            </a:endParaRPr>
          </a:p>
        </p:txBody>
      </p:sp>
      <p:sp>
        <p:nvSpPr>
          <p:cNvPr id="5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dirty="0">
                <a:solidFill>
                  <a:srgbClr val="438AD7"/>
                </a:solidFill>
              </a:rPr>
              <a:t>/ TIPS DE MARKETING</a:t>
            </a:r>
          </a:p>
        </p:txBody>
      </p:sp>
      <p:pic>
        <p:nvPicPr>
          <p:cNvPr id="2052" name="Picture 4" descr="Resultado de imagen para marketing games">
            <a:extLst>
              <a:ext uri="{FF2B5EF4-FFF2-40B4-BE49-F238E27FC236}">
                <a16:creationId xmlns:a16="http://schemas.microsoft.com/office/drawing/2014/main" id="{44430D4E-4353-4F4E-AAAE-E70C706EAD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4823265" y="1745285"/>
            <a:ext cx="4288564" cy="2599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48524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7"/>
          <p:cNvSpPr txBox="1"/>
          <p:nvPr/>
        </p:nvSpPr>
        <p:spPr>
          <a:xfrm>
            <a:off x="495299" y="810908"/>
            <a:ext cx="4376446" cy="29546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"Si hago un buen juego, ¿no se comercializará solo?“</a:t>
            </a: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endParaRPr lang="en-US" sz="1600" spc="-10" dirty="0">
              <a:solidFill>
                <a:srgbClr val="262626"/>
              </a:solidFill>
            </a:endParaRP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Podrías tener el mejor producto o juego del mundo, pero si nadie lo sabe, no venderás copias.</a:t>
            </a: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endParaRPr lang="en-US" sz="1600" spc="-10" dirty="0">
              <a:solidFill>
                <a:srgbClr val="262626"/>
              </a:solidFill>
            </a:endParaRP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Lanzar tu juego es como comprar un boleto de lotería: tus posibilidades de éxito son escasas. Cada vez que publicas en las redes sociales, envías un comunicado de prensa o compartes contenido a tu lista de correo, estás comprando más y más boletos y tus posibilidades de éxito aumentan.</a:t>
            </a:r>
            <a:endParaRPr lang="en-US" sz="1600" spc="-10" dirty="0">
              <a:solidFill>
                <a:srgbClr val="262626"/>
              </a:solidFill>
            </a:endParaRPr>
          </a:p>
        </p:txBody>
      </p:sp>
      <p:sp>
        <p:nvSpPr>
          <p:cNvPr id="5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dirty="0">
                <a:solidFill>
                  <a:srgbClr val="438AD7"/>
                </a:solidFill>
              </a:rPr>
              <a:t>/ TIPS DE MARKETING</a:t>
            </a:r>
          </a:p>
        </p:txBody>
      </p:sp>
      <p:pic>
        <p:nvPicPr>
          <p:cNvPr id="3074" name="Picture 2" descr="Resultado de imagen para loteria meme">
            <a:extLst>
              <a:ext uri="{FF2B5EF4-FFF2-40B4-BE49-F238E27FC236}">
                <a16:creationId xmlns:a16="http://schemas.microsoft.com/office/drawing/2014/main" id="{8DDCEBA2-16F8-40E2-ADC4-749377B2D1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7270" y="1198590"/>
            <a:ext cx="2892790" cy="34806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102436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7"/>
          <p:cNvSpPr txBox="1"/>
          <p:nvPr/>
        </p:nvSpPr>
        <p:spPr>
          <a:xfrm>
            <a:off x="495299" y="1674355"/>
            <a:ext cx="4376446" cy="22159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Fuertes historias en el juego definitivamente atrapan jugadores y periodistas por igual. </a:t>
            </a: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endParaRPr lang="en-US" sz="1600" spc="-10" dirty="0">
              <a:solidFill>
                <a:srgbClr val="262626"/>
              </a:solidFill>
            </a:endParaRP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La creación de mundos y entornos ricos permite una inmersión más profunda que puede discutirse en las redes sociales o en los comunicados de prensa.</a:t>
            </a: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endParaRPr lang="en-US" sz="1600" spc="-10" dirty="0">
              <a:solidFill>
                <a:srgbClr val="262626"/>
              </a:solidFill>
            </a:endParaRP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endParaRPr lang="en-US" sz="1600" spc="-10" dirty="0">
              <a:solidFill>
                <a:srgbClr val="262626"/>
              </a:solidFill>
            </a:endParaRPr>
          </a:p>
        </p:txBody>
      </p:sp>
      <p:sp>
        <p:nvSpPr>
          <p:cNvPr id="5" name="Rectangle 5"/>
          <p:cNvSpPr/>
          <p:nvPr/>
        </p:nvSpPr>
        <p:spPr>
          <a:xfrm>
            <a:off x="495299" y="963471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dirty="0">
                <a:solidFill>
                  <a:srgbClr val="438AD7"/>
                </a:solidFill>
              </a:rPr>
              <a:t> </a:t>
            </a: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1. PUNTO 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 VISTA </a:t>
            </a: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ÚNICO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5124" name="Picture 4" descr="Resultado de imagen para nier automata">
            <a:extLst>
              <a:ext uri="{FF2B5EF4-FFF2-40B4-BE49-F238E27FC236}">
                <a16:creationId xmlns:a16="http://schemas.microsoft.com/office/drawing/2014/main" id="{F0B67823-66BB-4A4B-9347-236E97FB5E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3107" y="1140443"/>
            <a:ext cx="3408197" cy="3772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>
            <a:off x="560275" y="4732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dirty="0">
                <a:solidFill>
                  <a:srgbClr val="438AD7"/>
                </a:solidFill>
              </a:rPr>
              <a:t>/ TIPS DE MARKETING</a:t>
            </a:r>
          </a:p>
        </p:txBody>
      </p:sp>
    </p:spTree>
    <p:extLst>
      <p:ext uri="{BB962C8B-B14F-4D97-AF65-F5344CB8AC3E}">
        <p14:creationId xmlns:p14="http://schemas.microsoft.com/office/powerpoint/2010/main" val="30479538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7"/>
          <p:cNvSpPr txBox="1"/>
          <p:nvPr/>
        </p:nvSpPr>
        <p:spPr>
          <a:xfrm>
            <a:off x="495299" y="1664438"/>
            <a:ext cx="4376446" cy="12311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¿Cómo se te ocurrió la idea del juego? </a:t>
            </a: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¿Qué te inspiró? </a:t>
            </a: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¿Cómo conociste a tu equipo? </a:t>
            </a: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¿Qué desafíos enfrentaste? </a:t>
            </a:r>
            <a:endParaRPr lang="en-US" sz="1600" spc="-10" dirty="0">
              <a:solidFill>
                <a:srgbClr val="262626"/>
              </a:solidFill>
            </a:endParaRP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endParaRPr lang="en-US" sz="1600" spc="-10" dirty="0">
              <a:solidFill>
                <a:srgbClr val="262626"/>
              </a:solidFill>
            </a:endParaRPr>
          </a:p>
        </p:txBody>
      </p:sp>
      <p:pic>
        <p:nvPicPr>
          <p:cNvPr id="4098" name="Picture 2" descr="http://web-vassets.ea.com/Assets/Resources/Others/PvZ2TeamPhoto_PR1.jpg">
            <a:extLst>
              <a:ext uri="{FF2B5EF4-FFF2-40B4-BE49-F238E27FC236}">
                <a16:creationId xmlns:a16="http://schemas.microsoft.com/office/drawing/2014/main" id="{EA0AC583-5147-4C3B-BC0A-873E70E733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5074" y="1664438"/>
            <a:ext cx="3624263" cy="27181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>
            <a:off x="495299" y="963471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dirty="0">
                <a:solidFill>
                  <a:srgbClr val="438AD7"/>
                </a:solidFill>
              </a:rPr>
              <a:t> </a:t>
            </a: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1. PUNTO 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 VISTA </a:t>
            </a: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ÚNICO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Rectangle 5"/>
          <p:cNvSpPr/>
          <p:nvPr/>
        </p:nvSpPr>
        <p:spPr>
          <a:xfrm>
            <a:off x="560275" y="4732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dirty="0">
                <a:solidFill>
                  <a:srgbClr val="438AD7"/>
                </a:solidFill>
              </a:rPr>
              <a:t>/ TIPS DE MARKETING</a:t>
            </a:r>
          </a:p>
        </p:txBody>
      </p:sp>
    </p:spTree>
    <p:extLst>
      <p:ext uri="{BB962C8B-B14F-4D97-AF65-F5344CB8AC3E}">
        <p14:creationId xmlns:p14="http://schemas.microsoft.com/office/powerpoint/2010/main" val="1364939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7"/>
          <p:cNvSpPr txBox="1"/>
          <p:nvPr/>
        </p:nvSpPr>
        <p:spPr>
          <a:xfrm>
            <a:off x="495299" y="1576452"/>
            <a:ext cx="4376446" cy="19697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Investigación de mercado</a:t>
            </a: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endParaRPr lang="es-PE" sz="1600" spc="-10" dirty="0">
              <a:solidFill>
                <a:srgbClr val="262626"/>
              </a:solidFill>
            </a:endParaRP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Para poder comercializar de manera efectiva, necesitas saber quién compra juegos en tu género.</a:t>
            </a: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endParaRPr lang="es-PE" sz="1600" spc="-10" dirty="0">
              <a:solidFill>
                <a:srgbClr val="262626"/>
              </a:solidFill>
            </a:endParaRP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No se puede comercializar un juego para "jugadores" en general, porque todos tienen preferencias. </a:t>
            </a:r>
            <a:endParaRPr lang="en-US" sz="1600" spc="-10" dirty="0">
              <a:solidFill>
                <a:srgbClr val="262626"/>
              </a:solidFill>
            </a:endParaRPr>
          </a:p>
        </p:txBody>
      </p:sp>
      <p:sp>
        <p:nvSpPr>
          <p:cNvPr id="5" name="Rectangle 5"/>
          <p:cNvSpPr/>
          <p:nvPr/>
        </p:nvSpPr>
        <p:spPr>
          <a:xfrm>
            <a:off x="407875" y="841826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dirty="0" smtClean="0">
                <a:solidFill>
                  <a:srgbClr val="438AD7"/>
                </a:solidFill>
              </a:rPr>
              <a:t>   </a:t>
            </a: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2. ENCUENTRA 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 LA AUDIENCIA PERFECTA</a:t>
            </a:r>
          </a:p>
        </p:txBody>
      </p:sp>
      <p:pic>
        <p:nvPicPr>
          <p:cNvPr id="6156" name="Picture 12" descr="Resultado de imagen para kind of gamers">
            <a:extLst>
              <a:ext uri="{FF2B5EF4-FFF2-40B4-BE49-F238E27FC236}">
                <a16:creationId xmlns:a16="http://schemas.microsoft.com/office/drawing/2014/main" id="{66F3F417-3FEE-4689-A980-C034751690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4970" y="714557"/>
            <a:ext cx="3224472" cy="44749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>
            <a:off x="560275" y="4732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dirty="0">
                <a:solidFill>
                  <a:srgbClr val="438AD7"/>
                </a:solidFill>
              </a:rPr>
              <a:t>/ TIPS DE MARKETING</a:t>
            </a:r>
          </a:p>
        </p:txBody>
      </p:sp>
    </p:spTree>
    <p:extLst>
      <p:ext uri="{BB962C8B-B14F-4D97-AF65-F5344CB8AC3E}">
        <p14:creationId xmlns:p14="http://schemas.microsoft.com/office/powerpoint/2010/main" val="1619806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7"/>
          <p:cNvSpPr txBox="1"/>
          <p:nvPr/>
        </p:nvSpPr>
        <p:spPr>
          <a:xfrm>
            <a:off x="495299" y="1479920"/>
            <a:ext cx="4376446" cy="280076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 smtClean="0">
                <a:solidFill>
                  <a:srgbClr val="262626"/>
                </a:solidFill>
              </a:rPr>
              <a:t>Asegúrate </a:t>
            </a:r>
            <a:r>
              <a:rPr lang="es-PE" sz="1600" spc="-10" dirty="0">
                <a:solidFill>
                  <a:srgbClr val="262626"/>
                </a:solidFill>
              </a:rPr>
              <a:t>de que </a:t>
            </a:r>
            <a:r>
              <a:rPr lang="es-PE" sz="1600" spc="-10" dirty="0" smtClean="0">
                <a:solidFill>
                  <a:srgbClr val="262626"/>
                </a:solidFill>
              </a:rPr>
              <a:t>tu </a:t>
            </a:r>
            <a:r>
              <a:rPr lang="es-PE" sz="1600" spc="-10" dirty="0">
                <a:solidFill>
                  <a:srgbClr val="262626"/>
                </a:solidFill>
              </a:rPr>
              <a:t>marca esté claramente representada en todos </a:t>
            </a:r>
            <a:r>
              <a:rPr lang="es-PE" sz="1600" spc="-10" dirty="0" smtClean="0">
                <a:solidFill>
                  <a:srgbClr val="262626"/>
                </a:solidFill>
              </a:rPr>
              <a:t>tus </a:t>
            </a:r>
            <a:r>
              <a:rPr lang="es-PE" sz="1600" spc="-10" dirty="0">
                <a:solidFill>
                  <a:srgbClr val="262626"/>
                </a:solidFill>
              </a:rPr>
              <a:t>perfiles en línea, con enlaces de sitios web relevantes e información de contacto adecuada. </a:t>
            </a: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endParaRPr lang="en-US" sz="1600" spc="-10" dirty="0">
              <a:solidFill>
                <a:srgbClr val="262626"/>
              </a:solidFill>
            </a:endParaRP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Si alguien no puede ponerse en contacto </a:t>
            </a:r>
            <a:r>
              <a:rPr lang="es-PE" sz="1600" spc="-10" dirty="0" smtClean="0">
                <a:solidFill>
                  <a:srgbClr val="262626"/>
                </a:solidFill>
              </a:rPr>
              <a:t>contigo, </a:t>
            </a:r>
            <a:r>
              <a:rPr lang="es-PE" sz="1600" spc="-10" dirty="0">
                <a:solidFill>
                  <a:srgbClr val="262626"/>
                </a:solidFill>
              </a:rPr>
              <a:t>¡</a:t>
            </a:r>
            <a:r>
              <a:rPr lang="es-PE" sz="1600" spc="-10" dirty="0" smtClean="0">
                <a:solidFill>
                  <a:srgbClr val="262626"/>
                </a:solidFill>
              </a:rPr>
              <a:t>puedes </a:t>
            </a:r>
            <a:r>
              <a:rPr lang="es-PE" sz="1600" spc="-10" dirty="0">
                <a:solidFill>
                  <a:srgbClr val="262626"/>
                </a:solidFill>
              </a:rPr>
              <a:t>estar perdiendo oportunidades! </a:t>
            </a: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endParaRPr lang="en-US" sz="1600" spc="-10" dirty="0">
              <a:solidFill>
                <a:srgbClr val="262626"/>
              </a:solidFill>
            </a:endParaRP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A nadie le gusta una página "muerta" que no se haya tocado en mucho tiempo. </a:t>
            </a:r>
            <a:r>
              <a:rPr lang="es-PE" sz="1600" spc="-10" dirty="0" smtClean="0">
                <a:solidFill>
                  <a:srgbClr val="262626"/>
                </a:solidFill>
              </a:rPr>
              <a:t>Haz </a:t>
            </a:r>
            <a:r>
              <a:rPr lang="es-PE" sz="1600" spc="-10" dirty="0">
                <a:solidFill>
                  <a:srgbClr val="262626"/>
                </a:solidFill>
              </a:rPr>
              <a:t>que </a:t>
            </a:r>
            <a:r>
              <a:rPr lang="es-PE" sz="1600" spc="-10" dirty="0" smtClean="0">
                <a:solidFill>
                  <a:srgbClr val="262626"/>
                </a:solidFill>
              </a:rPr>
              <a:t>tu </a:t>
            </a:r>
            <a:r>
              <a:rPr lang="es-PE" sz="1600" spc="-10" dirty="0">
                <a:solidFill>
                  <a:srgbClr val="262626"/>
                </a:solidFill>
              </a:rPr>
              <a:t>página se vea actualizada </a:t>
            </a:r>
            <a:endParaRPr lang="en-US" sz="1600" spc="-10" dirty="0">
              <a:solidFill>
                <a:srgbClr val="262626"/>
              </a:solidFill>
            </a:endParaRPr>
          </a:p>
        </p:txBody>
      </p:sp>
      <p:pic>
        <p:nvPicPr>
          <p:cNvPr id="7170" name="Picture 2" descr="Resultado de imagen para social network games">
            <a:extLst>
              <a:ext uri="{FF2B5EF4-FFF2-40B4-BE49-F238E27FC236}">
                <a16:creationId xmlns:a16="http://schemas.microsoft.com/office/drawing/2014/main" id="{4FF293CA-25BA-4572-A310-44CD41D793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5076" y="1552940"/>
            <a:ext cx="3636996" cy="27277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>
            <a:off x="560275" y="467995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dirty="0">
                <a:solidFill>
                  <a:srgbClr val="438AD7"/>
                </a:solidFill>
              </a:rPr>
              <a:t>/ TIPS DE MARKETING</a:t>
            </a:r>
          </a:p>
        </p:txBody>
      </p:sp>
      <p:sp>
        <p:nvSpPr>
          <p:cNvPr id="7" name="Rectangle 5"/>
          <p:cNvSpPr/>
          <p:nvPr/>
        </p:nvSpPr>
        <p:spPr>
          <a:xfrm>
            <a:off x="407875" y="841826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dirty="0" smtClean="0">
                <a:solidFill>
                  <a:srgbClr val="438AD7"/>
                </a:solidFill>
              </a:rPr>
              <a:t>   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3</a:t>
            </a:r>
            <a:r>
              <a:rPr 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. MANTENTE ACTIVO EN LÍNEA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0059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558E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Rectangle 3"/>
          <p:cNvSpPr/>
          <p:nvPr/>
        </p:nvSpPr>
        <p:spPr>
          <a:xfrm>
            <a:off x="424252" y="3703125"/>
            <a:ext cx="7966170" cy="480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ES" sz="2800" b="1" dirty="0">
                <a:solidFill>
                  <a:schemeClr val="bg1"/>
                </a:solidFill>
                <a:cs typeface="Calibri"/>
              </a:rPr>
              <a:t>REDES SOCIALES Y ANALÍTICAS</a:t>
            </a:r>
            <a:endParaRPr lang="es-ES" sz="1600" dirty="0">
              <a:solidFill>
                <a:schemeClr val="bg1"/>
              </a:solidFill>
              <a:cs typeface="Calibri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09433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7"/>
          <p:cNvSpPr txBox="1"/>
          <p:nvPr/>
        </p:nvSpPr>
        <p:spPr>
          <a:xfrm>
            <a:off x="495298" y="810908"/>
            <a:ext cx="8083883" cy="14773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No fue hace tanto tiempo que había pocas maneras de hacer marketing: televisión, radio y anuncios impresos. El acceso a la información era bastante limitado.</a:t>
            </a: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Hoy en día, los consumidores son bombardeados constantemente por información.</a:t>
            </a: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Al no participar en el marketing de redes sociales, estarás en </a:t>
            </a:r>
            <a:r>
              <a:rPr lang="es-PE" sz="1600" spc="-10" dirty="0" smtClean="0">
                <a:solidFill>
                  <a:srgbClr val="262626"/>
                </a:solidFill>
              </a:rPr>
              <a:t>desventaja en relación con </a:t>
            </a:r>
            <a:r>
              <a:rPr lang="es-PE" sz="1600" spc="-10" dirty="0">
                <a:solidFill>
                  <a:srgbClr val="262626"/>
                </a:solidFill>
              </a:rPr>
              <a:t>tus competidores. </a:t>
            </a: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endParaRPr lang="en-US" sz="1600" spc="-10" dirty="0">
              <a:solidFill>
                <a:srgbClr val="262626"/>
              </a:solidFill>
            </a:endParaRPr>
          </a:p>
        </p:txBody>
      </p:sp>
      <p:sp>
        <p:nvSpPr>
          <p:cNvPr id="10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dirty="0">
                <a:solidFill>
                  <a:srgbClr val="438AD7"/>
                </a:solidFill>
              </a:rPr>
              <a:t>/ REDES SOCIALES</a:t>
            </a:r>
          </a:p>
        </p:txBody>
      </p:sp>
      <p:pic>
        <p:nvPicPr>
          <p:cNvPr id="1032" name="Picture 8" descr="Imagen relacionada">
            <a:extLst>
              <a:ext uri="{FF2B5EF4-FFF2-40B4-BE49-F238E27FC236}">
                <a16:creationId xmlns:a16="http://schemas.microsoft.com/office/drawing/2014/main" id="{6390D614-DDD8-4F87-A704-BA89154E9C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3483" y="2363344"/>
            <a:ext cx="4127512" cy="27533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810141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7"/>
          <p:cNvSpPr txBox="1"/>
          <p:nvPr/>
        </p:nvSpPr>
        <p:spPr>
          <a:xfrm>
            <a:off x="495298" y="810908"/>
            <a:ext cx="8083883" cy="14773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Lo que recomendamos es participar en tantas redes sociales como </a:t>
            </a:r>
            <a:r>
              <a:rPr lang="es-PE" sz="1600" spc="-10" dirty="0" smtClean="0">
                <a:solidFill>
                  <a:srgbClr val="262626"/>
                </a:solidFill>
              </a:rPr>
              <a:t>puedas </a:t>
            </a:r>
            <a:r>
              <a:rPr lang="es-PE" sz="1600" spc="-10" dirty="0">
                <a:solidFill>
                  <a:srgbClr val="262626"/>
                </a:solidFill>
              </a:rPr>
              <a:t>razonablemente mantener. </a:t>
            </a: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Si </a:t>
            </a:r>
            <a:r>
              <a:rPr lang="es-PE" sz="1600" spc="-10" dirty="0" smtClean="0">
                <a:solidFill>
                  <a:srgbClr val="262626"/>
                </a:solidFill>
              </a:rPr>
              <a:t>puedes </a:t>
            </a:r>
            <a:r>
              <a:rPr lang="es-PE" sz="1600" spc="-10" dirty="0">
                <a:solidFill>
                  <a:srgbClr val="262626"/>
                </a:solidFill>
              </a:rPr>
              <a:t>publicar fácilmente varias veces al día en Facebook, Twitter y Tumblr, esas son las plataformas </a:t>
            </a:r>
            <a:r>
              <a:rPr lang="es-PE" sz="1600" spc="-10" dirty="0" smtClean="0">
                <a:solidFill>
                  <a:srgbClr val="262626"/>
                </a:solidFill>
              </a:rPr>
              <a:t>para ti. </a:t>
            </a:r>
            <a:endParaRPr lang="es-PE" sz="1600" spc="-10" dirty="0">
              <a:solidFill>
                <a:srgbClr val="262626"/>
              </a:solidFill>
            </a:endParaRP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Hasta la fecha, los cuatro principales sitios de redes sociales basados ​​en visitas son Facebook, YouTube, Reddit y Twitter. </a:t>
            </a:r>
            <a:endParaRPr lang="en-US" sz="1600" spc="-10" dirty="0">
              <a:solidFill>
                <a:srgbClr val="262626"/>
              </a:solidFill>
            </a:endParaRPr>
          </a:p>
        </p:txBody>
      </p:sp>
      <p:sp>
        <p:nvSpPr>
          <p:cNvPr id="10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dirty="0">
                <a:solidFill>
                  <a:srgbClr val="438AD7"/>
                </a:solidFill>
              </a:rPr>
              <a:t>/ REDES SOCIALES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36967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dirty="0">
                <a:solidFill>
                  <a:srgbClr val="438AD7"/>
                </a:solidFill>
              </a:rPr>
              <a:t>/ REDES SOCIALES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D1052AC7-253B-4A84-92F8-3D4EBB09B59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260600" y="2288236"/>
            <a:ext cx="4622800" cy="2903538"/>
          </a:xfrm>
        </p:spPr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5AD37E84-44A0-4249-9E2C-96CBA5EA14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3725" y="870862"/>
            <a:ext cx="6116549" cy="4320912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499919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7"/>
          <p:cNvSpPr txBox="1"/>
          <p:nvPr/>
        </p:nvSpPr>
        <p:spPr>
          <a:xfrm>
            <a:off x="495299" y="810908"/>
            <a:ext cx="4376446" cy="22159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Ideas de contenido:</a:t>
            </a:r>
          </a:p>
          <a:p>
            <a:pPr marL="637200" lvl="1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Diarios de desarrollo (</a:t>
            </a:r>
            <a:r>
              <a:rPr lang="es-PE" sz="1600" spc="-10" dirty="0" err="1">
                <a:solidFill>
                  <a:srgbClr val="262626"/>
                </a:solidFill>
              </a:rPr>
              <a:t>devlog</a:t>
            </a:r>
            <a:r>
              <a:rPr lang="es-PE" sz="1600" spc="-10" dirty="0">
                <a:solidFill>
                  <a:srgbClr val="262626"/>
                </a:solidFill>
              </a:rPr>
              <a:t>)</a:t>
            </a:r>
          </a:p>
          <a:p>
            <a:pPr marL="637200" lvl="1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Videos “detrás de escena” de tu equipo</a:t>
            </a:r>
          </a:p>
          <a:p>
            <a:pPr marL="637200" lvl="1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 smtClean="0">
                <a:solidFill>
                  <a:srgbClr val="262626"/>
                </a:solidFill>
              </a:rPr>
              <a:t>Entrevistas </a:t>
            </a:r>
            <a:endParaRPr lang="es-PE" sz="1600" spc="-10" dirty="0">
              <a:solidFill>
                <a:srgbClr val="262626"/>
              </a:solidFill>
            </a:endParaRPr>
          </a:p>
          <a:p>
            <a:pPr marL="637200" lvl="1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Filmaciones del juego</a:t>
            </a:r>
          </a:p>
          <a:p>
            <a:pPr marL="637200" lvl="1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Reseñas sobre nuevas funciones o desafíos </a:t>
            </a:r>
          </a:p>
          <a:p>
            <a:pPr marL="637200" lvl="1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“</a:t>
            </a:r>
            <a:r>
              <a:rPr lang="es-PE" sz="1600" spc="-10" dirty="0" err="1">
                <a:solidFill>
                  <a:srgbClr val="262626"/>
                </a:solidFill>
              </a:rPr>
              <a:t>spotlights</a:t>
            </a:r>
            <a:r>
              <a:rPr lang="es-PE" sz="1600" spc="-10" dirty="0">
                <a:solidFill>
                  <a:srgbClr val="262626"/>
                </a:solidFill>
              </a:rPr>
              <a:t>" que presentan a miembros del equipo</a:t>
            </a:r>
          </a:p>
          <a:p>
            <a:pPr marL="637200" lvl="1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Memes u otro contenido humorístico.</a:t>
            </a:r>
            <a:endParaRPr lang="en-US" sz="1600" spc="-10" dirty="0">
              <a:solidFill>
                <a:srgbClr val="262626"/>
              </a:solidFill>
            </a:endParaRPr>
          </a:p>
        </p:txBody>
      </p:sp>
      <p:sp>
        <p:nvSpPr>
          <p:cNvPr id="5" name="Rectangle 5"/>
          <p:cNvSpPr/>
          <p:nvPr/>
        </p:nvSpPr>
        <p:spPr>
          <a:xfrm>
            <a:off x="407875" y="320830"/>
            <a:ext cx="3557222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dirty="0">
                <a:solidFill>
                  <a:srgbClr val="438AD7"/>
                </a:solidFill>
              </a:rPr>
              <a:t>/ FACEBOOK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632B60C6-0631-40B8-BE3E-23A5160D0D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3753" y="1949485"/>
            <a:ext cx="3446906" cy="2607026"/>
          </a:xfrm>
          <a:prstGeom prst="rect">
            <a:avLst/>
          </a:prstGeom>
        </p:spPr>
      </p:pic>
      <p:pic>
        <p:nvPicPr>
          <p:cNvPr id="8198" name="Picture 6" descr="Resultado de imagen para facebook">
            <a:extLst>
              <a:ext uri="{FF2B5EF4-FFF2-40B4-BE49-F238E27FC236}">
                <a16:creationId xmlns:a16="http://schemas.microsoft.com/office/drawing/2014/main" id="{0DC01D8C-BE0A-4255-9085-690F97C702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9585" y="1048774"/>
            <a:ext cx="2395242" cy="9007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358255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7"/>
          <p:cNvSpPr txBox="1"/>
          <p:nvPr/>
        </p:nvSpPr>
        <p:spPr>
          <a:xfrm>
            <a:off x="495299" y="810908"/>
            <a:ext cx="4376446" cy="320087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Ideas de contenido:</a:t>
            </a:r>
          </a:p>
          <a:p>
            <a:pPr marL="637200" lvl="1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Diarios de desarrollo (</a:t>
            </a:r>
            <a:r>
              <a:rPr lang="es-PE" sz="1600" spc="-10" dirty="0" err="1">
                <a:solidFill>
                  <a:srgbClr val="262626"/>
                </a:solidFill>
              </a:rPr>
              <a:t>devlog</a:t>
            </a:r>
            <a:r>
              <a:rPr lang="es-PE" sz="1600" spc="-10" dirty="0">
                <a:solidFill>
                  <a:srgbClr val="262626"/>
                </a:solidFill>
              </a:rPr>
              <a:t>)</a:t>
            </a:r>
          </a:p>
          <a:p>
            <a:pPr marL="637200" lvl="1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Videos detrás de cámaras de tu equipo</a:t>
            </a:r>
          </a:p>
          <a:p>
            <a:pPr marL="637200" lvl="1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Entrevistas</a:t>
            </a:r>
          </a:p>
          <a:p>
            <a:pPr marL="637200" lvl="1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Filmaciones de juegos</a:t>
            </a:r>
          </a:p>
          <a:p>
            <a:pPr marL="637200" lvl="1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Videos de actualización sobre nuevas funciones</a:t>
            </a:r>
          </a:p>
          <a:p>
            <a:pPr marL="637200" lvl="1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Errores graciosos</a:t>
            </a:r>
          </a:p>
          <a:p>
            <a:pPr marL="637200" lvl="1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Imágenes de convenciones y eventos, </a:t>
            </a:r>
          </a:p>
          <a:p>
            <a:pPr marL="637200" lvl="1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 err="1">
                <a:solidFill>
                  <a:srgbClr val="262626"/>
                </a:solidFill>
              </a:rPr>
              <a:t>Teaser</a:t>
            </a:r>
            <a:r>
              <a:rPr lang="es-PE" sz="1600" spc="-10" dirty="0">
                <a:solidFill>
                  <a:srgbClr val="262626"/>
                </a:solidFill>
              </a:rPr>
              <a:t> </a:t>
            </a:r>
            <a:r>
              <a:rPr lang="es-PE" sz="1600" spc="-10" dirty="0" err="1">
                <a:solidFill>
                  <a:srgbClr val="262626"/>
                </a:solidFill>
              </a:rPr>
              <a:t>trailers</a:t>
            </a:r>
            <a:r>
              <a:rPr lang="es-PE" sz="1600" spc="-10" dirty="0">
                <a:solidFill>
                  <a:srgbClr val="262626"/>
                </a:solidFill>
              </a:rPr>
              <a:t> </a:t>
            </a:r>
          </a:p>
          <a:p>
            <a:pPr marL="637200" lvl="1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Gameplay </a:t>
            </a:r>
            <a:r>
              <a:rPr lang="es-PE" sz="1600" spc="-10" dirty="0" err="1">
                <a:solidFill>
                  <a:srgbClr val="262626"/>
                </a:solidFill>
              </a:rPr>
              <a:t>trailer</a:t>
            </a:r>
            <a:endParaRPr lang="es-PE" sz="1600" spc="-10" dirty="0">
              <a:solidFill>
                <a:srgbClr val="262626"/>
              </a:solidFill>
            </a:endParaRPr>
          </a:p>
          <a:p>
            <a:pPr marL="637200" lvl="1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 err="1">
                <a:solidFill>
                  <a:srgbClr val="262626"/>
                </a:solidFill>
              </a:rPr>
              <a:t>Trailers</a:t>
            </a:r>
            <a:r>
              <a:rPr lang="es-PE" sz="1600" spc="-10" dirty="0">
                <a:solidFill>
                  <a:srgbClr val="262626"/>
                </a:solidFill>
              </a:rPr>
              <a:t> cinemáticos, </a:t>
            </a:r>
          </a:p>
          <a:p>
            <a:pPr marL="637200" lvl="1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 err="1">
                <a:solidFill>
                  <a:srgbClr val="262626"/>
                </a:solidFill>
              </a:rPr>
              <a:t>Speedruns</a:t>
            </a:r>
            <a:r>
              <a:rPr lang="es-PE" sz="1600" spc="-10" dirty="0">
                <a:solidFill>
                  <a:srgbClr val="262626"/>
                </a:solidFill>
              </a:rPr>
              <a:t>.</a:t>
            </a:r>
            <a:endParaRPr lang="en-US" sz="1600" spc="-10" dirty="0">
              <a:solidFill>
                <a:srgbClr val="262626"/>
              </a:solidFill>
            </a:endParaRPr>
          </a:p>
        </p:txBody>
      </p:sp>
      <p:sp>
        <p:nvSpPr>
          <p:cNvPr id="5" name="Rectangle 5"/>
          <p:cNvSpPr/>
          <p:nvPr/>
        </p:nvSpPr>
        <p:spPr>
          <a:xfrm>
            <a:off x="407875" y="320830"/>
            <a:ext cx="3557222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dirty="0">
                <a:solidFill>
                  <a:srgbClr val="438AD7"/>
                </a:solidFill>
              </a:rPr>
              <a:t>/ YOUTUBE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71D78A96-3715-4694-9ABC-84415560F6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5075" y="1766293"/>
            <a:ext cx="3624263" cy="2686124"/>
          </a:xfrm>
          <a:prstGeom prst="rect">
            <a:avLst/>
          </a:prstGeom>
        </p:spPr>
      </p:pic>
      <p:pic>
        <p:nvPicPr>
          <p:cNvPr id="6" name="Picture 2" descr="Resultado de imagen para youtube">
            <a:extLst>
              <a:ext uri="{FF2B5EF4-FFF2-40B4-BE49-F238E27FC236}">
                <a16:creationId xmlns:a16="http://schemas.microsoft.com/office/drawing/2014/main" id="{57CE2A37-0EF1-46D7-ADED-7CC63F4E446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266" b="33876"/>
          <a:stretch/>
        </p:blipFill>
        <p:spPr bwMode="auto">
          <a:xfrm>
            <a:off x="5687401" y="1020930"/>
            <a:ext cx="2339610" cy="745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040491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7"/>
          <p:cNvSpPr txBox="1"/>
          <p:nvPr/>
        </p:nvSpPr>
        <p:spPr>
          <a:xfrm>
            <a:off x="495299" y="810908"/>
            <a:ext cx="4376446" cy="24622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Ideas de contenido:</a:t>
            </a:r>
          </a:p>
          <a:p>
            <a:pPr marL="637200" lvl="1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Discusiones significativas, debates</a:t>
            </a:r>
          </a:p>
          <a:p>
            <a:pPr marL="637200" lvl="1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Artículos relevantes</a:t>
            </a:r>
          </a:p>
          <a:p>
            <a:pPr marL="637200" lvl="1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Tutoriales</a:t>
            </a:r>
          </a:p>
          <a:p>
            <a:pPr marL="637200" lvl="1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Sesiones de preguntas y respuestas (llamadas AMA - Ask Me </a:t>
            </a:r>
            <a:r>
              <a:rPr lang="es-PE" sz="1600" spc="-10" dirty="0" err="1">
                <a:solidFill>
                  <a:srgbClr val="262626"/>
                </a:solidFill>
              </a:rPr>
              <a:t>Anything</a:t>
            </a:r>
            <a:r>
              <a:rPr lang="es-PE" sz="1600" spc="-10" dirty="0">
                <a:solidFill>
                  <a:srgbClr val="262626"/>
                </a:solidFill>
              </a:rPr>
              <a:t>), </a:t>
            </a:r>
          </a:p>
          <a:p>
            <a:pPr marL="637200" lvl="1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Creación de un nuevo </a:t>
            </a:r>
            <a:r>
              <a:rPr lang="es-PE" sz="1600" spc="-10" dirty="0" err="1">
                <a:solidFill>
                  <a:srgbClr val="262626"/>
                </a:solidFill>
              </a:rPr>
              <a:t>subreddit</a:t>
            </a:r>
            <a:r>
              <a:rPr lang="es-PE" sz="1600" spc="-10" dirty="0">
                <a:solidFill>
                  <a:srgbClr val="262626"/>
                </a:solidFill>
              </a:rPr>
              <a:t> para la comunidad de </a:t>
            </a:r>
            <a:r>
              <a:rPr lang="es-PE" sz="1600" spc="-10" dirty="0" smtClean="0">
                <a:solidFill>
                  <a:srgbClr val="262626"/>
                </a:solidFill>
              </a:rPr>
              <a:t>tu </a:t>
            </a:r>
            <a:r>
              <a:rPr lang="es-PE" sz="1600" spc="-10" dirty="0">
                <a:solidFill>
                  <a:srgbClr val="262626"/>
                </a:solidFill>
              </a:rPr>
              <a:t>juego</a:t>
            </a:r>
          </a:p>
          <a:p>
            <a:pPr marL="637200" lvl="1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Creación de redes</a:t>
            </a:r>
          </a:p>
          <a:p>
            <a:pPr marL="637200" lvl="1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Búsqueda de artistas independientes.</a:t>
            </a:r>
            <a:endParaRPr lang="en-US" sz="1600" spc="-10" dirty="0">
              <a:solidFill>
                <a:srgbClr val="262626"/>
              </a:solidFill>
            </a:endParaRPr>
          </a:p>
        </p:txBody>
      </p:sp>
      <p:sp>
        <p:nvSpPr>
          <p:cNvPr id="5" name="Rectangle 5"/>
          <p:cNvSpPr/>
          <p:nvPr/>
        </p:nvSpPr>
        <p:spPr>
          <a:xfrm>
            <a:off x="407875" y="320830"/>
            <a:ext cx="3557222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dirty="0">
                <a:solidFill>
                  <a:srgbClr val="438AD7"/>
                </a:solidFill>
              </a:rPr>
              <a:t>/ REDDIT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F619C181-29C3-448C-BCEC-56186BF9D4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8350" y="1845943"/>
            <a:ext cx="3737712" cy="2696671"/>
          </a:xfrm>
          <a:prstGeom prst="rect">
            <a:avLst/>
          </a:prstGeom>
        </p:spPr>
      </p:pic>
      <p:pic>
        <p:nvPicPr>
          <p:cNvPr id="6146" name="Picture 2" descr="Resultado de imagen para reddit">
            <a:extLst>
              <a:ext uri="{FF2B5EF4-FFF2-40B4-BE49-F238E27FC236}">
                <a16:creationId xmlns:a16="http://schemas.microsoft.com/office/drawing/2014/main" id="{E15506AC-1CAC-4385-8A60-4E46977767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2802" y="1115123"/>
            <a:ext cx="1408808" cy="7308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54060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7"/>
          <p:cNvSpPr txBox="1"/>
          <p:nvPr/>
        </p:nvSpPr>
        <p:spPr>
          <a:xfrm>
            <a:off x="495299" y="810908"/>
            <a:ext cx="4376446" cy="2523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Ideas de contenido:</a:t>
            </a:r>
          </a:p>
          <a:p>
            <a:pPr marL="637200" lvl="1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Capturas de pantalla (usando </a:t>
            </a:r>
            <a:r>
              <a:rPr lang="es-PE" sz="2000" b="1" spc="-10" dirty="0">
                <a:solidFill>
                  <a:schemeClr val="accent2">
                    <a:lumMod val="75000"/>
                  </a:schemeClr>
                </a:solidFill>
              </a:rPr>
              <a:t>#</a:t>
            </a:r>
            <a:r>
              <a:rPr lang="es-PE" sz="2000" b="1" spc="-10" dirty="0" err="1">
                <a:solidFill>
                  <a:schemeClr val="accent2">
                    <a:lumMod val="75000"/>
                  </a:schemeClr>
                </a:solidFill>
              </a:rPr>
              <a:t>screenshotsaturday</a:t>
            </a:r>
            <a:r>
              <a:rPr lang="es-PE" sz="2000" b="1" spc="-1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s-PE" sz="1600" spc="-10" dirty="0">
                <a:solidFill>
                  <a:srgbClr val="262626"/>
                </a:solidFill>
              </a:rPr>
              <a:t>como impulso de la señal)</a:t>
            </a:r>
          </a:p>
          <a:p>
            <a:pPr marL="637200" lvl="1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Blogs de desarrolladores</a:t>
            </a:r>
          </a:p>
          <a:p>
            <a:pPr marL="637200" lvl="1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Enlaces a contenido </a:t>
            </a:r>
            <a:r>
              <a:rPr lang="es-PE" sz="1600" spc="-10" dirty="0" smtClean="0">
                <a:solidFill>
                  <a:srgbClr val="262626"/>
                </a:solidFill>
              </a:rPr>
              <a:t>interesante</a:t>
            </a:r>
            <a:endParaRPr lang="es-PE" sz="1600" spc="-10" dirty="0">
              <a:solidFill>
                <a:srgbClr val="262626"/>
              </a:solidFill>
            </a:endParaRPr>
          </a:p>
          <a:p>
            <a:pPr marL="637200" lvl="1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Respondiendo directamente a las personas</a:t>
            </a:r>
          </a:p>
          <a:p>
            <a:pPr marL="637200" lvl="1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 err="1">
                <a:solidFill>
                  <a:srgbClr val="262626"/>
                </a:solidFill>
              </a:rPr>
              <a:t>Tweeting</a:t>
            </a:r>
            <a:r>
              <a:rPr lang="es-PE" sz="1600" spc="-10" dirty="0">
                <a:solidFill>
                  <a:srgbClr val="262626"/>
                </a:solidFill>
              </a:rPr>
              <a:t> a creadores populares o influyentes</a:t>
            </a:r>
          </a:p>
          <a:p>
            <a:pPr marL="637200" lvl="1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 err="1">
                <a:solidFill>
                  <a:srgbClr val="262626"/>
                </a:solidFill>
              </a:rPr>
              <a:t>Retweeting</a:t>
            </a:r>
            <a:r>
              <a:rPr lang="es-PE" sz="1600" spc="-10" dirty="0">
                <a:solidFill>
                  <a:srgbClr val="262626"/>
                </a:solidFill>
              </a:rPr>
              <a:t> contenido relevante </a:t>
            </a:r>
          </a:p>
          <a:p>
            <a:pPr marL="637200" lvl="1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Participando en hashtags de tendencia.</a:t>
            </a:r>
            <a:endParaRPr lang="en-US" sz="1600" spc="-10" dirty="0">
              <a:solidFill>
                <a:srgbClr val="262626"/>
              </a:solidFill>
            </a:endParaRPr>
          </a:p>
        </p:txBody>
      </p:sp>
      <p:sp>
        <p:nvSpPr>
          <p:cNvPr id="5" name="Rectangle 5"/>
          <p:cNvSpPr/>
          <p:nvPr/>
        </p:nvSpPr>
        <p:spPr>
          <a:xfrm>
            <a:off x="407875" y="320830"/>
            <a:ext cx="3557222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dirty="0">
                <a:solidFill>
                  <a:srgbClr val="438AD7"/>
                </a:solidFill>
              </a:rPr>
              <a:t>/ TWITTER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AF84BA16-07DD-4185-A9D2-CF36498CAD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5075" y="1269925"/>
            <a:ext cx="3624263" cy="3231270"/>
          </a:xfrm>
          <a:prstGeom prst="rect">
            <a:avLst/>
          </a:prstGeom>
        </p:spPr>
      </p:pic>
      <p:pic>
        <p:nvPicPr>
          <p:cNvPr id="5122" name="Picture 2" descr="Resultado de imagen para twitter">
            <a:extLst>
              <a:ext uri="{FF2B5EF4-FFF2-40B4-BE49-F238E27FC236}">
                <a16:creationId xmlns:a16="http://schemas.microsoft.com/office/drawing/2014/main" id="{B5428994-A63A-4751-A36E-3CB1579F2F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8578" y="645858"/>
            <a:ext cx="1536938" cy="12481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177109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7"/>
          <p:cNvSpPr txBox="1"/>
          <p:nvPr/>
        </p:nvSpPr>
        <p:spPr>
          <a:xfrm>
            <a:off x="495299" y="810908"/>
            <a:ext cx="4376446" cy="39395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b="1" spc="-10" dirty="0">
                <a:solidFill>
                  <a:srgbClr val="262626"/>
                </a:solidFill>
              </a:rPr>
              <a:t>Instagram: </a:t>
            </a:r>
          </a:p>
          <a:p>
            <a:pPr marL="468925" lvl="1">
              <a:buSzPct val="100000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Centrado en fotos y videos. No es genial para la promoción, ya que no puede hacer clic en las URL, pero es bueno para la conciencia. Funciona si tienes un juego muy bonito con visuales accesibles.</a:t>
            </a: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endParaRPr lang="es-PE" sz="1600" spc="-10" dirty="0">
              <a:solidFill>
                <a:srgbClr val="262626"/>
              </a:solidFill>
            </a:endParaRPr>
          </a:p>
          <a:p>
            <a:pPr marL="180000" indent="-168275">
              <a:buSzPct val="100000"/>
              <a:buFont typeface="Arial"/>
              <a:buChar char="•"/>
              <a:tabLst>
                <a:tab pos="121285" algn="l"/>
              </a:tabLst>
            </a:pPr>
            <a:r>
              <a:rPr lang="es-PE" sz="1600" b="1" spc="-10" dirty="0" err="1">
                <a:solidFill>
                  <a:srgbClr val="262626"/>
                </a:solidFill>
              </a:rPr>
              <a:t>Twitch</a:t>
            </a:r>
            <a:r>
              <a:rPr lang="es-PE" sz="1600" b="1" spc="-10" dirty="0">
                <a:solidFill>
                  <a:srgbClr val="262626"/>
                </a:solidFill>
              </a:rPr>
              <a:t>: </a:t>
            </a:r>
          </a:p>
          <a:p>
            <a:pPr marL="468925" lvl="1">
              <a:buSzPct val="100000"/>
              <a:tabLst>
                <a:tab pos="121285" algn="l"/>
              </a:tabLst>
            </a:pPr>
            <a:r>
              <a:rPr lang="es-PE" sz="1600" spc="-10" dirty="0">
                <a:solidFill>
                  <a:srgbClr val="262626"/>
                </a:solidFill>
              </a:rPr>
              <a:t>Transmisión en vivo. Es bueno si </a:t>
            </a:r>
            <a:r>
              <a:rPr lang="es-PE" sz="1600" spc="-10" dirty="0" smtClean="0">
                <a:solidFill>
                  <a:srgbClr val="262626"/>
                </a:solidFill>
              </a:rPr>
              <a:t>puedes transmitir </a:t>
            </a:r>
            <a:r>
              <a:rPr lang="es-PE" sz="1600" spc="-10" dirty="0">
                <a:solidFill>
                  <a:srgbClr val="262626"/>
                </a:solidFill>
              </a:rPr>
              <a:t>de manera continua desarrollo, entrevistas, preguntas y respuestas, jugabilidad u otro contenido relevante. Difícil de llamar la atención ya que es muy dirigido por la comunidad y hay muchos canales pequeños. Es bueno para llegar a otros </a:t>
            </a:r>
            <a:r>
              <a:rPr lang="es-PE" sz="1600" spc="-10" dirty="0" err="1">
                <a:solidFill>
                  <a:srgbClr val="262626"/>
                </a:solidFill>
              </a:rPr>
              <a:t>streamers</a:t>
            </a:r>
            <a:r>
              <a:rPr lang="es-PE" sz="1600" spc="-10" dirty="0">
                <a:solidFill>
                  <a:srgbClr val="262626"/>
                </a:solidFill>
              </a:rPr>
              <a:t> relevantes para la promoción cruzada.</a:t>
            </a:r>
            <a:endParaRPr lang="en-US" sz="1600" spc="-10" dirty="0">
              <a:solidFill>
                <a:srgbClr val="262626"/>
              </a:solidFill>
            </a:endParaRPr>
          </a:p>
        </p:txBody>
      </p:sp>
      <p:sp>
        <p:nvSpPr>
          <p:cNvPr id="5" name="Rectangle 5"/>
          <p:cNvSpPr/>
          <p:nvPr/>
        </p:nvSpPr>
        <p:spPr>
          <a:xfrm>
            <a:off x="407875" y="320830"/>
            <a:ext cx="3557222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dirty="0">
                <a:solidFill>
                  <a:srgbClr val="438AD7"/>
                </a:solidFill>
              </a:rPr>
              <a:t>/ OTRAS PLATAFORMAS</a:t>
            </a:r>
          </a:p>
        </p:txBody>
      </p:sp>
      <p:pic>
        <p:nvPicPr>
          <p:cNvPr id="2054" name="Picture 6" descr="Resultado de imagen para instagram">
            <a:extLst>
              <a:ext uri="{FF2B5EF4-FFF2-40B4-BE49-F238E27FC236}">
                <a16:creationId xmlns:a16="http://schemas.microsoft.com/office/drawing/2014/main" id="{568BC233-6117-4660-B1E1-EC32C758B5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3242" y="945799"/>
            <a:ext cx="1667928" cy="16679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Resultado de imagen para twitch">
            <a:extLst>
              <a:ext uri="{FF2B5EF4-FFF2-40B4-BE49-F238E27FC236}">
                <a16:creationId xmlns:a16="http://schemas.microsoft.com/office/drawing/2014/main" id="{3D0387B1-CA5D-43C4-828C-A5C0E51050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0016" y="3125155"/>
            <a:ext cx="3374379" cy="11189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95058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1788068" y="881063"/>
            <a:ext cx="6871746" cy="4281487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5" name="Rectángulo 10"/>
          <p:cNvSpPr/>
          <p:nvPr/>
        </p:nvSpPr>
        <p:spPr>
          <a:xfrm>
            <a:off x="1832904" y="917413"/>
            <a:ext cx="3402730" cy="28500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731342"/>
            <a:r>
              <a:rPr lang="es-PE" sz="16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REPASO</a:t>
            </a:r>
            <a:endParaRPr lang="es-PE" sz="16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marL="176213" indent="-176213" defTabSz="731342">
              <a:buFont typeface="Arial"/>
              <a:buChar char="•"/>
            </a:pPr>
            <a:r>
              <a:rPr lang="es-PE" sz="1600" dirty="0">
                <a:solidFill>
                  <a:srgbClr val="000000"/>
                </a:solidFill>
              </a:rPr>
              <a:t>Crear una cuenta en Twitter y hacer un post relacionado con videojuegos.</a:t>
            </a:r>
          </a:p>
          <a:p>
            <a:pPr marL="176213" indent="-176213" defTabSz="731342">
              <a:buFont typeface="Arial"/>
              <a:buChar char="•"/>
            </a:pPr>
            <a:endParaRPr lang="es-PE" sz="1600" dirty="0">
              <a:solidFill>
                <a:srgbClr val="000000"/>
              </a:solidFill>
            </a:endParaRPr>
          </a:p>
          <a:p>
            <a:pPr marL="176213" indent="-176213" defTabSz="731342">
              <a:buFont typeface="Arial"/>
              <a:buChar char="•"/>
            </a:pPr>
            <a:r>
              <a:rPr lang="es-PE" sz="1600" dirty="0">
                <a:solidFill>
                  <a:srgbClr val="000000"/>
                </a:solidFill>
              </a:rPr>
              <a:t>Crear una cuenta en Reddit y </a:t>
            </a:r>
            <a:r>
              <a:rPr lang="es-PE" sz="1600" dirty="0" smtClean="0">
                <a:solidFill>
                  <a:srgbClr val="000000"/>
                </a:solidFill>
              </a:rPr>
              <a:t>suscribirse </a:t>
            </a:r>
            <a:r>
              <a:rPr lang="es-PE" sz="1600" dirty="0">
                <a:solidFill>
                  <a:srgbClr val="000000"/>
                </a:solidFill>
              </a:rPr>
              <a:t>a 5 </a:t>
            </a:r>
            <a:r>
              <a:rPr lang="es-PE" sz="1600" dirty="0" err="1">
                <a:solidFill>
                  <a:srgbClr val="000000"/>
                </a:solidFill>
              </a:rPr>
              <a:t>subreddits</a:t>
            </a:r>
            <a:r>
              <a:rPr lang="es-PE" sz="1600" dirty="0">
                <a:solidFill>
                  <a:srgbClr val="000000"/>
                </a:solidFill>
              </a:rPr>
              <a:t> relacionados con videojuegos. (r/</a:t>
            </a:r>
            <a:r>
              <a:rPr lang="es-PE" sz="1600" dirty="0" err="1">
                <a:solidFill>
                  <a:srgbClr val="000000"/>
                </a:solidFill>
              </a:rPr>
              <a:t>gaming</a:t>
            </a:r>
            <a:r>
              <a:rPr lang="es-PE" sz="1600" dirty="0">
                <a:solidFill>
                  <a:srgbClr val="000000"/>
                </a:solidFill>
              </a:rPr>
              <a:t>, r/</a:t>
            </a:r>
            <a:r>
              <a:rPr lang="es-PE" sz="1600" dirty="0" err="1">
                <a:solidFill>
                  <a:srgbClr val="000000"/>
                </a:solidFill>
              </a:rPr>
              <a:t>indiedev</a:t>
            </a:r>
            <a:r>
              <a:rPr lang="es-PE" sz="1600" dirty="0">
                <a:solidFill>
                  <a:srgbClr val="000000"/>
                </a:solidFill>
              </a:rPr>
              <a:t>, r/</a:t>
            </a:r>
            <a:r>
              <a:rPr lang="es-PE" sz="1600" dirty="0" err="1">
                <a:solidFill>
                  <a:srgbClr val="000000"/>
                </a:solidFill>
              </a:rPr>
              <a:t>indiegames</a:t>
            </a:r>
            <a:r>
              <a:rPr lang="es-PE" sz="1600" dirty="0">
                <a:solidFill>
                  <a:srgbClr val="000000"/>
                </a:solidFill>
              </a:rPr>
              <a:t>, r/</a:t>
            </a:r>
            <a:r>
              <a:rPr lang="es-PE" sz="1600" dirty="0" err="1">
                <a:solidFill>
                  <a:srgbClr val="000000"/>
                </a:solidFill>
              </a:rPr>
              <a:t>IndieGaming</a:t>
            </a:r>
            <a:r>
              <a:rPr lang="es-PE" sz="1600" dirty="0">
                <a:solidFill>
                  <a:srgbClr val="000000"/>
                </a:solidFill>
              </a:rPr>
              <a:t>, r/</a:t>
            </a:r>
            <a:r>
              <a:rPr lang="es-PE" sz="1600" dirty="0" err="1">
                <a:solidFill>
                  <a:srgbClr val="000000"/>
                </a:solidFill>
              </a:rPr>
              <a:t>gamedevscreens</a:t>
            </a:r>
            <a:r>
              <a:rPr lang="es-PE" sz="1600" dirty="0">
                <a:solidFill>
                  <a:srgbClr val="000000"/>
                </a:solidFill>
              </a:rPr>
              <a:t>)</a:t>
            </a:r>
          </a:p>
          <a:p>
            <a:pPr marL="285750" indent="-285750" defTabSz="731342">
              <a:lnSpc>
                <a:spcPct val="120000"/>
              </a:lnSpc>
              <a:buFont typeface="Arial"/>
              <a:buChar char="•"/>
            </a:pPr>
            <a:endParaRPr lang="es-PE" sz="1600" dirty="0">
              <a:solidFill>
                <a:srgbClr val="000000"/>
              </a:solidFill>
            </a:endParaRPr>
          </a:p>
        </p:txBody>
      </p:sp>
      <p:sp>
        <p:nvSpPr>
          <p:cNvPr id="2" name="Rectángulo 1"/>
          <p:cNvSpPr/>
          <p:nvPr/>
        </p:nvSpPr>
        <p:spPr>
          <a:xfrm>
            <a:off x="5477544" y="993537"/>
            <a:ext cx="3070939" cy="401734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9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dirty="0">
                <a:solidFill>
                  <a:srgbClr val="438AD7"/>
                </a:solidFill>
              </a:rPr>
              <a:t>/ ACTIVIDAD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482384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558E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Rectángulo 10"/>
          <p:cNvSpPr/>
          <p:nvPr/>
        </p:nvSpPr>
        <p:spPr>
          <a:xfrm>
            <a:off x="2527711" y="770440"/>
            <a:ext cx="6132101" cy="42780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0975" indent="-180975">
              <a:buFont typeface="Arial" panose="020B0604020202020204" pitchFamily="34" charset="0"/>
              <a:buChar char="•"/>
            </a:pPr>
            <a:r>
              <a:rPr lang="es-PE" sz="1700" dirty="0">
                <a:solidFill>
                  <a:srgbClr val="FFFFFF"/>
                </a:solidFill>
              </a:rPr>
              <a:t>Es muy importante considerar aspectos de marketing en el proceso de desarrollo de videojuegos para poder generar utilidades de nuestros proyectos. </a:t>
            </a:r>
          </a:p>
          <a:p>
            <a:pPr marL="180975" indent="-180975">
              <a:buFont typeface="Arial" panose="020B0604020202020204" pitchFamily="34" charset="0"/>
              <a:buChar char="•"/>
            </a:pPr>
            <a:endParaRPr lang="es-PE" sz="1700" dirty="0">
              <a:solidFill>
                <a:srgbClr val="FFFFFF"/>
              </a:solidFill>
            </a:endParaRPr>
          </a:p>
          <a:p>
            <a:pPr marL="180975" indent="-180975">
              <a:buFont typeface="Arial" panose="020B0604020202020204" pitchFamily="34" charset="0"/>
              <a:buChar char="•"/>
            </a:pPr>
            <a:r>
              <a:rPr lang="es-PE" sz="1700" dirty="0">
                <a:solidFill>
                  <a:srgbClr val="FFFFFF"/>
                </a:solidFill>
              </a:rPr>
              <a:t>Las redes sociales que no deberían faltar en una estrategia de marketing son Twitter en primer lugar, seguido por Facebook y Reddit. </a:t>
            </a:r>
          </a:p>
          <a:p>
            <a:pPr marL="180975" indent="-180975">
              <a:buFont typeface="Arial" panose="020B0604020202020204" pitchFamily="34" charset="0"/>
              <a:buChar char="•"/>
            </a:pPr>
            <a:endParaRPr lang="es-PE" sz="1700" dirty="0">
              <a:solidFill>
                <a:srgbClr val="FFFFFF"/>
              </a:solidFill>
            </a:endParaRPr>
          </a:p>
          <a:p>
            <a:pPr marL="180975" indent="-180975">
              <a:buFont typeface="Arial" panose="020B0604020202020204" pitchFamily="34" charset="0"/>
              <a:buChar char="•"/>
            </a:pPr>
            <a:r>
              <a:rPr lang="es-PE" sz="1700" dirty="0">
                <a:solidFill>
                  <a:srgbClr val="FFFFFF"/>
                </a:solidFill>
              </a:rPr>
              <a:t>Las redes sociales cuentan con un sistema de </a:t>
            </a:r>
            <a:r>
              <a:rPr lang="es-PE" sz="1700" dirty="0" smtClean="0">
                <a:solidFill>
                  <a:srgbClr val="FFFFFF"/>
                </a:solidFill>
              </a:rPr>
              <a:t>analíticas. </a:t>
            </a:r>
            <a:r>
              <a:rPr lang="es-PE" sz="1700" dirty="0">
                <a:solidFill>
                  <a:srgbClr val="FFFFFF"/>
                </a:solidFill>
              </a:rPr>
              <a:t>D</a:t>
            </a:r>
            <a:r>
              <a:rPr lang="es-PE" sz="1700" dirty="0" smtClean="0">
                <a:solidFill>
                  <a:srgbClr val="FFFFFF"/>
                </a:solidFill>
              </a:rPr>
              <a:t>ebemos </a:t>
            </a:r>
            <a:r>
              <a:rPr lang="es-PE" sz="1700" dirty="0">
                <a:solidFill>
                  <a:srgbClr val="FFFFFF"/>
                </a:solidFill>
              </a:rPr>
              <a:t>utilizarlas para ver </a:t>
            </a:r>
            <a:r>
              <a:rPr lang="es-PE" sz="1700" dirty="0" smtClean="0">
                <a:solidFill>
                  <a:srgbClr val="FFFFFF"/>
                </a:solidFill>
              </a:rPr>
              <a:t>cómo </a:t>
            </a:r>
            <a:r>
              <a:rPr lang="es-PE" sz="1700" dirty="0">
                <a:solidFill>
                  <a:srgbClr val="FFFFFF"/>
                </a:solidFill>
              </a:rPr>
              <a:t>está creciendo nuestra comunidad, o el público que espera el lanzamiento de nuestro juego, así como también tomar decisiones respecto a la promoción del mismo.</a:t>
            </a:r>
          </a:p>
          <a:p>
            <a:pPr marL="180975" indent="-180975">
              <a:buFont typeface="Arial" panose="020B0604020202020204" pitchFamily="34" charset="0"/>
              <a:buChar char="•"/>
            </a:pPr>
            <a:endParaRPr lang="es-PE" sz="1700" dirty="0">
              <a:solidFill>
                <a:srgbClr val="FFFFFF"/>
              </a:solidFill>
              <a:cs typeface="Source Sans Pro" panose="020B0604020202020204" charset="0"/>
            </a:endParaRPr>
          </a:p>
          <a:p>
            <a:pPr marL="180975" indent="-180975">
              <a:buFont typeface="Arial" panose="020B0604020202020204" pitchFamily="34" charset="0"/>
              <a:buChar char="•"/>
            </a:pPr>
            <a:endParaRPr lang="es-PE" sz="1700" dirty="0">
              <a:solidFill>
                <a:srgbClr val="FFFFFF"/>
              </a:solidFill>
              <a:latin typeface="+mj-lt"/>
              <a:ea typeface="Calibri" panose="020F0502020204030204" pitchFamily="34" charset="0"/>
              <a:cs typeface="Source Sans Pro" panose="020B0604020202020204" charset="0"/>
            </a:endParaRPr>
          </a:p>
          <a:p>
            <a:pPr marL="180975" indent="-180975">
              <a:buFont typeface="Arial" panose="020B0604020202020204" pitchFamily="34" charset="0"/>
              <a:buChar char="•"/>
            </a:pPr>
            <a:endParaRPr lang="es-PE" sz="1700" dirty="0">
              <a:solidFill>
                <a:srgbClr val="FFFFFF"/>
              </a:solidFill>
              <a:latin typeface="+mj-lt"/>
              <a:cs typeface="Source Sans Pro" panose="020B0604020202020204" charset="0"/>
            </a:endParaRPr>
          </a:p>
          <a:p>
            <a:pPr lvl="1"/>
            <a:endParaRPr lang="es-PE" sz="1700" dirty="0">
              <a:solidFill>
                <a:srgbClr val="FFFFFF"/>
              </a:solidFill>
              <a:latin typeface="Calibri"/>
              <a:ea typeface="Calibri" panose="020F0502020204030204" pitchFamily="34" charset="0"/>
              <a:cs typeface="Source Sans Pro" panose="020B0604020202020204" charset="0"/>
            </a:endParaRPr>
          </a:p>
        </p:txBody>
      </p:sp>
      <p:sp>
        <p:nvSpPr>
          <p:cNvPr id="9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dirty="0">
                <a:solidFill>
                  <a:schemeClr val="bg1"/>
                </a:solidFill>
              </a:rPr>
              <a:t>/ CONCLUSIONES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15447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25"/>
          <p:cNvSpPr txBox="1">
            <a:spLocks/>
          </p:cNvSpPr>
          <p:nvPr/>
        </p:nvSpPr>
        <p:spPr>
          <a:xfrm>
            <a:off x="398994" y="724844"/>
            <a:ext cx="7881937" cy="180164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sz="1600" dirty="0"/>
              <a:t>Raghav </a:t>
            </a:r>
            <a:r>
              <a:rPr lang="en-US" sz="1600" dirty="0" err="1"/>
              <a:t>Matheur</a:t>
            </a:r>
            <a:r>
              <a:rPr lang="en-US" sz="1600" dirty="0"/>
              <a:t>, Daniel Doan and Raquel </a:t>
            </a:r>
            <a:r>
              <a:rPr lang="en-US" sz="1600" dirty="0" err="1"/>
              <a:t>Hayner</a:t>
            </a:r>
            <a:r>
              <a:rPr lang="en-US" sz="1600" dirty="0"/>
              <a:t>(2016) Indie game marketing secrets. </a:t>
            </a:r>
            <a:endParaRPr lang="es-PE" sz="1600" dirty="0"/>
          </a:p>
        </p:txBody>
      </p:sp>
      <p:sp>
        <p:nvSpPr>
          <p:cNvPr id="9" name="Rectangle 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700" dirty="0">
                <a:solidFill>
                  <a:srgbClr val="438AD7"/>
                </a:solidFill>
              </a:rPr>
              <a:t>/ BIBLIOGRAFÍA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80541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  <p:tag name="ARTICULATE_DESIGN_ID_OFFICE THEME" val="Yge96mEv"/>
  <p:tag name="ARTICULATE_SLIDE_COUNT" val="11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3775</TotalTime>
  <Words>1076</Words>
  <Application>Microsoft Office PowerPoint</Application>
  <PresentationFormat>Presentación en pantalla (16:10)</PresentationFormat>
  <Paragraphs>142</Paragraphs>
  <Slides>22</Slides>
  <Notes>17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22</vt:i4>
      </vt:variant>
    </vt:vector>
  </HeadingPairs>
  <TitlesOfParts>
    <vt:vector size="27" baseType="lpstr">
      <vt:lpstr>Arial</vt:lpstr>
      <vt:lpstr>Calibri</vt:lpstr>
      <vt:lpstr>Source Sans Pro</vt:lpstr>
      <vt:lpstr>Wingdings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ISIL</dc:creator>
  <cp:lastModifiedBy>Diego Santamaria Saldaña</cp:lastModifiedBy>
  <cp:revision>361</cp:revision>
  <cp:lastPrinted>2018-01-16T21:42:59Z</cp:lastPrinted>
  <dcterms:created xsi:type="dcterms:W3CDTF">2016-10-06T14:52:02Z</dcterms:created>
  <dcterms:modified xsi:type="dcterms:W3CDTF">2020-11-03T17:26:34Z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5400A83D-B4FE-497C-9E2F-ACF3BA8DEF15</vt:lpwstr>
  </property>
  <property fmtid="{D5CDD505-2E9C-101B-9397-08002B2CF9AE}" pid="3" name="ArticulatePath">
    <vt:lpwstr>plantilla_cursos_presenciales-v3.1.6</vt:lpwstr>
  </property>
</Properties>
</file>