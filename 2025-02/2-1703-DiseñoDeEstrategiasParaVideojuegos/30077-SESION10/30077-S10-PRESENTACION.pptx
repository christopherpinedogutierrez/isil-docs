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6.xml" ContentType="application/vnd.openxmlformats-officedocument.presentationml.tags+xml"/>
  <Override PartName="/ppt/notesSlides/notesSlide14.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15.xml" ContentType="application/vnd.openxmlformats-officedocument.presentationml.notesSlide+xml"/>
  <Override PartName="/ppt/tags/tag2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handoutMasterIdLst>
    <p:handoutMasterId r:id="rId33"/>
  </p:handoutMasterIdLst>
  <p:sldIdLst>
    <p:sldId id="256" r:id="rId2"/>
    <p:sldId id="306" r:id="rId3"/>
    <p:sldId id="315" r:id="rId4"/>
    <p:sldId id="316" r:id="rId5"/>
    <p:sldId id="366" r:id="rId6"/>
    <p:sldId id="343" r:id="rId7"/>
    <p:sldId id="309" r:id="rId8"/>
    <p:sldId id="344" r:id="rId9"/>
    <p:sldId id="348" r:id="rId10"/>
    <p:sldId id="347" r:id="rId11"/>
    <p:sldId id="350" r:id="rId12"/>
    <p:sldId id="351" r:id="rId13"/>
    <p:sldId id="349" r:id="rId14"/>
    <p:sldId id="352" r:id="rId15"/>
    <p:sldId id="353" r:id="rId16"/>
    <p:sldId id="355" r:id="rId17"/>
    <p:sldId id="354" r:id="rId18"/>
    <p:sldId id="356" r:id="rId19"/>
    <p:sldId id="365" r:id="rId20"/>
    <p:sldId id="357" r:id="rId21"/>
    <p:sldId id="358" r:id="rId22"/>
    <p:sldId id="359" r:id="rId23"/>
    <p:sldId id="360" r:id="rId24"/>
    <p:sldId id="361" r:id="rId25"/>
    <p:sldId id="362" r:id="rId26"/>
    <p:sldId id="363" r:id="rId27"/>
    <p:sldId id="364" r:id="rId28"/>
    <p:sldId id="304" r:id="rId29"/>
    <p:sldId id="303" r:id="rId30"/>
    <p:sldId id="305" r:id="rId31"/>
  </p:sldIdLst>
  <p:sldSz cx="9144000" cy="5715000" type="screen16x10"/>
  <p:notesSz cx="6858000" cy="9144000"/>
  <p:custDataLst>
    <p:tags r:id="rId3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
          <p15:clr>
            <a:srgbClr val="A4A3A4"/>
          </p15:clr>
        </p15:guide>
        <p15:guide id="2" pos="5455">
          <p15:clr>
            <a:srgbClr val="A4A3A4"/>
          </p15:clr>
        </p15:guide>
        <p15:guide id="3" orient="horz" pos="3274" userDrawn="1">
          <p15:clr>
            <a:srgbClr val="A4A3A4"/>
          </p15:clr>
        </p15:guide>
        <p15:guide id="4" orient="horz" pos="689" userDrawn="1">
          <p15:clr>
            <a:srgbClr val="A4A3A4"/>
          </p15:clr>
        </p15:guide>
        <p15:guide id="5" pos="476" userDrawn="1">
          <p15:clr>
            <a:srgbClr val="A4A3A4"/>
          </p15:clr>
        </p15:guide>
        <p15:guide id="6" pos="493">
          <p15:clr>
            <a:srgbClr val="A4A3A4"/>
          </p15:clr>
        </p15:guide>
        <p15:guide id="7" orient="horz" pos="387">
          <p15:clr>
            <a:srgbClr val="A4A3A4"/>
          </p15:clr>
        </p15:guide>
        <p15:guide id="8" orient="horz" pos="542">
          <p15:clr>
            <a:srgbClr val="A4A3A4"/>
          </p15:clr>
        </p15:guide>
        <p15:guide id="9" orient="horz" pos="259">
          <p15:clr>
            <a:srgbClr val="A4A3A4"/>
          </p15:clr>
        </p15:guide>
        <p15:guide id="10" orient="horz" pos="3269">
          <p15:clr>
            <a:srgbClr val="A4A3A4"/>
          </p15:clr>
        </p15:guide>
        <p15:guide id="11" pos="5461">
          <p15:clr>
            <a:srgbClr val="A4A3A4"/>
          </p15:clr>
        </p15:guide>
        <p15:guide id="12" pos="308">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lva Zoraida Hamada Doshi" initials="EZHD" lastIdx="1" clrIdx="0">
    <p:extLst>
      <p:ext uri="{19B8F6BF-5375-455C-9EA6-DF929625EA0E}">
        <p15:presenceInfo xmlns:p15="http://schemas.microsoft.com/office/powerpoint/2012/main" userId="Elva Zoraida Hamada Dosh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D5EF"/>
    <a:srgbClr val="558ED5"/>
    <a:srgbClr val="FFFFFF"/>
    <a:srgbClr val="C00000"/>
    <a:srgbClr val="A6A6A6"/>
    <a:srgbClr val="F2F2F2"/>
    <a:srgbClr val="7F7F7F"/>
    <a:srgbClr val="FFFFFE"/>
    <a:srgbClr val="00B4B0"/>
    <a:srgbClr val="215BD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67" autoAdjust="0"/>
    <p:restoredTop sz="90000" autoAdjust="0"/>
  </p:normalViewPr>
  <p:slideViewPr>
    <p:cSldViewPr snapToGrid="0" snapToObjects="1" showGuides="1">
      <p:cViewPr varScale="1">
        <p:scale>
          <a:sx n="98" d="100"/>
          <a:sy n="98" d="100"/>
        </p:scale>
        <p:origin x="1470" y="72"/>
      </p:cViewPr>
      <p:guideLst>
        <p:guide orient="horz" pos="217"/>
        <p:guide pos="5455"/>
        <p:guide orient="horz" pos="3274"/>
        <p:guide orient="horz" pos="689"/>
        <p:guide pos="476"/>
        <p:guide pos="493"/>
        <p:guide orient="horz" pos="387"/>
        <p:guide orient="horz" pos="542"/>
        <p:guide orient="horz" pos="259"/>
        <p:guide orient="horz" pos="3269"/>
        <p:guide pos="5461"/>
        <p:guide pos="308"/>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1932DC7-834F-6148-86AF-F72164F7FFC1}" type="datetimeFigureOut">
              <a:rPr lang="es-ES" smtClean="0"/>
              <a:t>03/11/2020</a:t>
            </a:fld>
            <a:endParaRPr lang="es-ES"/>
          </a:p>
        </p:txBody>
      </p:sp>
      <p:sp>
        <p:nvSpPr>
          <p:cNvPr id="4" name="Marcador de pie de pá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DF1720-AE80-4069-8D89-2C76E8AFD874}" type="datetimeFigureOut">
              <a:rPr lang="es-PE" smtClean="0"/>
              <a:t>3/11/2020</a:t>
            </a:fld>
            <a:endParaRPr lang="es-PE"/>
          </a:p>
        </p:txBody>
      </p:sp>
      <p:sp>
        <p:nvSpPr>
          <p:cNvPr id="4" name="Marcador de imagen de diapositiva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a:t>
            </a:fld>
            <a:endParaRPr lang="es-PE"/>
          </a:p>
        </p:txBody>
      </p:sp>
    </p:spTree>
    <p:extLst>
      <p:ext uri="{BB962C8B-B14F-4D97-AF65-F5344CB8AC3E}">
        <p14:creationId xmlns:p14="http://schemas.microsoft.com/office/powerpoint/2010/main" val="35100703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a:t>
            </a:fld>
            <a:endParaRPr lang="es-PE"/>
          </a:p>
        </p:txBody>
      </p:sp>
    </p:spTree>
    <p:extLst>
      <p:ext uri="{BB962C8B-B14F-4D97-AF65-F5344CB8AC3E}">
        <p14:creationId xmlns:p14="http://schemas.microsoft.com/office/powerpoint/2010/main" val="19863331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a:t>
            </a:fld>
            <a:endParaRPr lang="es-PE"/>
          </a:p>
        </p:txBody>
      </p:sp>
    </p:spTree>
    <p:extLst>
      <p:ext uri="{BB962C8B-B14F-4D97-AF65-F5344CB8AC3E}">
        <p14:creationId xmlns:p14="http://schemas.microsoft.com/office/powerpoint/2010/main" val="20894422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10</a:t>
            </a:fld>
            <a:endParaRPr lang="es-PE"/>
          </a:p>
        </p:txBody>
      </p:sp>
    </p:spTree>
    <p:extLst>
      <p:ext uri="{BB962C8B-B14F-4D97-AF65-F5344CB8AC3E}">
        <p14:creationId xmlns:p14="http://schemas.microsoft.com/office/powerpoint/2010/main" val="41723868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20395651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14</a:t>
            </a:fld>
            <a:endParaRPr lang="es-PE"/>
          </a:p>
        </p:txBody>
      </p:sp>
    </p:spTree>
    <p:extLst>
      <p:ext uri="{BB962C8B-B14F-4D97-AF65-F5344CB8AC3E}">
        <p14:creationId xmlns:p14="http://schemas.microsoft.com/office/powerpoint/2010/main" val="5462837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15</a:t>
            </a:fld>
            <a:endParaRPr lang="es-PE"/>
          </a:p>
        </p:txBody>
      </p:sp>
    </p:spTree>
    <p:extLst>
      <p:ext uri="{BB962C8B-B14F-4D97-AF65-F5344CB8AC3E}">
        <p14:creationId xmlns:p14="http://schemas.microsoft.com/office/powerpoint/2010/main" val="1726081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17</a:t>
            </a:fld>
            <a:endParaRPr lang="es-PE"/>
          </a:p>
        </p:txBody>
      </p:sp>
    </p:spTree>
    <p:extLst>
      <p:ext uri="{BB962C8B-B14F-4D97-AF65-F5344CB8AC3E}">
        <p14:creationId xmlns:p14="http://schemas.microsoft.com/office/powerpoint/2010/main" val="28704131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19</a:t>
            </a:fld>
            <a:endParaRPr lang="es-PE"/>
          </a:p>
        </p:txBody>
      </p:sp>
    </p:spTree>
    <p:extLst>
      <p:ext uri="{BB962C8B-B14F-4D97-AF65-F5344CB8AC3E}">
        <p14:creationId xmlns:p14="http://schemas.microsoft.com/office/powerpoint/2010/main" val="19735649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20</a:t>
            </a:fld>
            <a:endParaRPr lang="es-PE"/>
          </a:p>
        </p:txBody>
      </p:sp>
    </p:spTree>
    <p:extLst>
      <p:ext uri="{BB962C8B-B14F-4D97-AF65-F5344CB8AC3E}">
        <p14:creationId xmlns:p14="http://schemas.microsoft.com/office/powerpoint/2010/main" val="12361388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21</a:t>
            </a:fld>
            <a:endParaRPr lang="es-PE"/>
          </a:p>
        </p:txBody>
      </p:sp>
    </p:spTree>
    <p:extLst>
      <p:ext uri="{BB962C8B-B14F-4D97-AF65-F5344CB8AC3E}">
        <p14:creationId xmlns:p14="http://schemas.microsoft.com/office/powerpoint/2010/main" val="36900055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23</a:t>
            </a:fld>
            <a:endParaRPr lang="es-PE"/>
          </a:p>
        </p:txBody>
      </p:sp>
    </p:spTree>
    <p:extLst>
      <p:ext uri="{BB962C8B-B14F-4D97-AF65-F5344CB8AC3E}">
        <p14:creationId xmlns:p14="http://schemas.microsoft.com/office/powerpoint/2010/main" val="22221171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29</a:t>
            </a:fld>
            <a:endParaRPr lang="es-PE"/>
          </a:p>
        </p:txBody>
      </p:sp>
    </p:spTree>
    <p:extLst>
      <p:ext uri="{BB962C8B-B14F-4D97-AF65-F5344CB8AC3E}">
        <p14:creationId xmlns:p14="http://schemas.microsoft.com/office/powerpoint/2010/main" val="1134454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08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943131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Rectángulo 3"/>
          <p:cNvSpPr/>
          <p:nvPr userDrawn="1"/>
        </p:nvSpPr>
        <p:spPr>
          <a:xfrm>
            <a:off x="312777" y="5260073"/>
            <a:ext cx="8568205" cy="31276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Tree>
    <p:custDataLst>
      <p:tags r:id="rId1"/>
    </p:custDataLst>
    <p:extLst>
      <p:ext uri="{BB962C8B-B14F-4D97-AF65-F5344CB8AC3E}">
        <p14:creationId xmlns:p14="http://schemas.microsoft.com/office/powerpoint/2010/main" val="3124882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tema - 1 Imagen A">
    <p:spTree>
      <p:nvGrpSpPr>
        <p:cNvPr id="1" name=""/>
        <p:cNvGrpSpPr/>
        <p:nvPr/>
      </p:nvGrpSpPr>
      <p:grpSpPr>
        <a:xfrm>
          <a:off x="0" y="0"/>
          <a:ext cx="0" cy="0"/>
          <a:chOff x="0" y="0"/>
          <a:chExt cx="0" cy="0"/>
        </a:xfrm>
      </p:grpSpPr>
      <p:sp>
        <p:nvSpPr>
          <p:cNvPr id="18" name="Marcador de posición de imagen 17"/>
          <p:cNvSpPr>
            <a:spLocks noGrp="1"/>
          </p:cNvSpPr>
          <p:nvPr>
            <p:ph type="pic" sz="quarter" idx="11"/>
          </p:nvPr>
        </p:nvSpPr>
        <p:spPr>
          <a:xfrm>
            <a:off x="5045075" y="881063"/>
            <a:ext cx="3624263" cy="4308475"/>
          </a:xfrm>
          <a:prstGeom prst="rect">
            <a:avLst/>
          </a:prstGeom>
        </p:spPr>
        <p:txBody>
          <a:bodyPr vert="horz"/>
          <a:lstStyle/>
          <a:p>
            <a:endParaRPr lang="es-ES"/>
          </a:p>
        </p:txBody>
      </p:sp>
    </p:spTree>
    <p:extLst>
      <p:ext uri="{BB962C8B-B14F-4D97-AF65-F5344CB8AC3E}">
        <p14:creationId xmlns:p14="http://schemas.microsoft.com/office/powerpoint/2010/main" val="611824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tema - 1 Imagen B">
    <p:spTree>
      <p:nvGrpSpPr>
        <p:cNvPr id="1" name=""/>
        <p:cNvGrpSpPr/>
        <p:nvPr/>
      </p:nvGrpSpPr>
      <p:grpSpPr>
        <a:xfrm>
          <a:off x="0" y="0"/>
          <a:ext cx="0" cy="0"/>
          <a:chOff x="0" y="0"/>
          <a:chExt cx="0" cy="0"/>
        </a:xfrm>
      </p:grpSpPr>
      <p:sp>
        <p:nvSpPr>
          <p:cNvPr id="7" name="Marcador de posición de imagen 6"/>
          <p:cNvSpPr>
            <a:spLocks noGrp="1"/>
          </p:cNvSpPr>
          <p:nvPr>
            <p:ph type="pic" sz="quarter" idx="10"/>
          </p:nvPr>
        </p:nvSpPr>
        <p:spPr>
          <a:xfrm>
            <a:off x="488950" y="881063"/>
            <a:ext cx="3682835" cy="4308474"/>
          </a:xfrm>
          <a:prstGeom prst="rect">
            <a:avLst/>
          </a:prstGeom>
        </p:spPr>
        <p:txBody>
          <a:bodyPr vert="horz"/>
          <a:lstStyle/>
          <a:p>
            <a:endParaRPr lang="es-ES"/>
          </a:p>
        </p:txBody>
      </p:sp>
    </p:spTree>
    <p:extLst>
      <p:ext uri="{BB962C8B-B14F-4D97-AF65-F5344CB8AC3E}">
        <p14:creationId xmlns:p14="http://schemas.microsoft.com/office/powerpoint/2010/main" val="2632226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tema - 1 Imagen Centrada">
    <p:spTree>
      <p:nvGrpSpPr>
        <p:cNvPr id="1" name=""/>
        <p:cNvGrpSpPr/>
        <p:nvPr/>
      </p:nvGrpSpPr>
      <p:grpSpPr>
        <a:xfrm>
          <a:off x="0" y="0"/>
          <a:ext cx="0" cy="0"/>
          <a:chOff x="0" y="0"/>
          <a:chExt cx="0" cy="0"/>
        </a:xfrm>
      </p:grpSpPr>
      <p:sp>
        <p:nvSpPr>
          <p:cNvPr id="9" name="Marcador de posición de imagen 8"/>
          <p:cNvSpPr>
            <a:spLocks noGrp="1"/>
          </p:cNvSpPr>
          <p:nvPr>
            <p:ph type="pic" sz="quarter" idx="10"/>
          </p:nvPr>
        </p:nvSpPr>
        <p:spPr>
          <a:xfrm>
            <a:off x="2260600" y="2295525"/>
            <a:ext cx="4622800" cy="2903538"/>
          </a:xfrm>
          <a:prstGeom prst="rect">
            <a:avLst/>
          </a:prstGeom>
        </p:spPr>
        <p:txBody>
          <a:bodyPr vert="horz"/>
          <a:lstStyle/>
          <a:p>
            <a:endParaRPr lang="es-ES"/>
          </a:p>
        </p:txBody>
      </p:sp>
    </p:spTree>
    <p:extLst>
      <p:ext uri="{BB962C8B-B14F-4D97-AF65-F5344CB8AC3E}">
        <p14:creationId xmlns:p14="http://schemas.microsoft.com/office/powerpoint/2010/main" val="1935508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btema - 2 Imágenes">
    <p:spTree>
      <p:nvGrpSpPr>
        <p:cNvPr id="1" name=""/>
        <p:cNvGrpSpPr/>
        <p:nvPr/>
      </p:nvGrpSpPr>
      <p:grpSpPr>
        <a:xfrm>
          <a:off x="0" y="0"/>
          <a:ext cx="0" cy="0"/>
          <a:chOff x="0" y="0"/>
          <a:chExt cx="0" cy="0"/>
        </a:xfrm>
      </p:grpSpPr>
      <p:sp>
        <p:nvSpPr>
          <p:cNvPr id="8" name="Marcador de posición de imagen 7"/>
          <p:cNvSpPr>
            <a:spLocks noGrp="1"/>
          </p:cNvSpPr>
          <p:nvPr>
            <p:ph type="pic" sz="quarter" idx="11"/>
          </p:nvPr>
        </p:nvSpPr>
        <p:spPr>
          <a:xfrm>
            <a:off x="4662488" y="1528763"/>
            <a:ext cx="4006850" cy="3660775"/>
          </a:xfrm>
          <a:prstGeom prst="rect">
            <a:avLst/>
          </a:prstGeom>
        </p:spPr>
        <p:txBody>
          <a:bodyPr vert="horz"/>
          <a:lstStyle/>
          <a:p>
            <a:endParaRPr lang="es-ES" dirty="0"/>
          </a:p>
        </p:txBody>
      </p:sp>
      <p:sp>
        <p:nvSpPr>
          <p:cNvPr id="6" name="Marcador de imágenes prediseñadas 5"/>
          <p:cNvSpPr>
            <a:spLocks noGrp="1"/>
          </p:cNvSpPr>
          <p:nvPr>
            <p:ph type="clipArt" sz="quarter" idx="10"/>
          </p:nvPr>
        </p:nvSpPr>
        <p:spPr>
          <a:xfrm>
            <a:off x="503238" y="1528763"/>
            <a:ext cx="4013235" cy="3660775"/>
          </a:xfrm>
          <a:prstGeom prst="rect">
            <a:avLst/>
          </a:prstGeom>
        </p:spPr>
        <p:txBody>
          <a:bodyPr vert="horz"/>
          <a:lstStyle/>
          <a:p>
            <a:endParaRPr lang="es-ES" dirty="0"/>
          </a:p>
        </p:txBody>
      </p:sp>
    </p:spTree>
    <p:extLst>
      <p:ext uri="{BB962C8B-B14F-4D97-AF65-F5344CB8AC3E}">
        <p14:creationId xmlns:p14="http://schemas.microsoft.com/office/powerpoint/2010/main" val="964691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ubtema - Imagen Gigante">
    <p:spTree>
      <p:nvGrpSpPr>
        <p:cNvPr id="1" name=""/>
        <p:cNvGrpSpPr/>
        <p:nvPr/>
      </p:nvGrpSpPr>
      <p:grpSpPr>
        <a:xfrm>
          <a:off x="0" y="0"/>
          <a:ext cx="0" cy="0"/>
          <a:chOff x="0" y="0"/>
          <a:chExt cx="0" cy="0"/>
        </a:xfrm>
      </p:grpSpPr>
      <p:sp>
        <p:nvSpPr>
          <p:cNvPr id="5" name="Marcador de posición de imagen 4"/>
          <p:cNvSpPr>
            <a:spLocks noGrp="1"/>
          </p:cNvSpPr>
          <p:nvPr>
            <p:ph type="pic" sz="quarter" idx="10"/>
          </p:nvPr>
        </p:nvSpPr>
        <p:spPr>
          <a:xfrm>
            <a:off x="488950" y="860424"/>
            <a:ext cx="8180387" cy="4329113"/>
          </a:xfrm>
          <a:prstGeom prst="rect">
            <a:avLst/>
          </a:prstGeom>
        </p:spPr>
        <p:txBody>
          <a:bodyPr vert="horz"/>
          <a:lstStyle/>
          <a:p>
            <a:endParaRPr lang="es-ES"/>
          </a:p>
        </p:txBody>
      </p:sp>
    </p:spTree>
    <p:extLst>
      <p:ext uri="{BB962C8B-B14F-4D97-AF65-F5344CB8AC3E}">
        <p14:creationId xmlns:p14="http://schemas.microsoft.com/office/powerpoint/2010/main" val="4226956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btema - Video">
    <p:spTree>
      <p:nvGrpSpPr>
        <p:cNvPr id="1" name=""/>
        <p:cNvGrpSpPr/>
        <p:nvPr/>
      </p:nvGrpSpPr>
      <p:grpSpPr>
        <a:xfrm>
          <a:off x="0" y="0"/>
          <a:ext cx="0" cy="0"/>
          <a:chOff x="0" y="0"/>
          <a:chExt cx="0" cy="0"/>
        </a:xfrm>
      </p:grpSpPr>
      <p:sp>
        <p:nvSpPr>
          <p:cNvPr id="5" name="Marcador de posición de imagen 4"/>
          <p:cNvSpPr>
            <a:spLocks noGrp="1"/>
          </p:cNvSpPr>
          <p:nvPr>
            <p:ph type="pic" sz="quarter" idx="10"/>
          </p:nvPr>
        </p:nvSpPr>
        <p:spPr>
          <a:xfrm>
            <a:off x="2184400" y="1360488"/>
            <a:ext cx="4775200" cy="2686050"/>
          </a:xfrm>
          <a:prstGeom prst="rect">
            <a:avLst/>
          </a:prstGeom>
        </p:spPr>
        <p:txBody>
          <a:bodyPr vert="horz"/>
          <a:lstStyle/>
          <a:p>
            <a:endParaRPr lang="es-ES"/>
          </a:p>
        </p:txBody>
      </p:sp>
    </p:spTree>
    <p:extLst>
      <p:ext uri="{BB962C8B-B14F-4D97-AF65-F5344CB8AC3E}">
        <p14:creationId xmlns:p14="http://schemas.microsoft.com/office/powerpoint/2010/main" val="1735261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Agrupar 13"/>
          <p:cNvGrpSpPr/>
          <p:nvPr userDrawn="1"/>
        </p:nvGrpSpPr>
        <p:grpSpPr>
          <a:xfrm>
            <a:off x="944054" y="5369051"/>
            <a:ext cx="7804380" cy="215444"/>
            <a:chOff x="944054" y="5369051"/>
            <a:chExt cx="7804380" cy="215444"/>
          </a:xfrm>
        </p:grpSpPr>
        <p:sp>
          <p:nvSpPr>
            <p:cNvPr id="16" name="TextBox 7"/>
            <p:cNvSpPr txBox="1"/>
            <p:nvPr userDrawn="1"/>
          </p:nvSpPr>
          <p:spPr>
            <a:xfrm>
              <a:off x="944054" y="5369051"/>
              <a:ext cx="2638864" cy="215444"/>
            </a:xfrm>
            <a:prstGeom prst="rect">
              <a:avLst/>
            </a:prstGeom>
            <a:noFill/>
          </p:spPr>
          <p:txBody>
            <a:bodyPr wrap="none" rtlCol="0">
              <a:spAutoFit/>
            </a:bodyPr>
            <a:lstStyle/>
            <a:p>
              <a:r>
                <a:rPr lang="en-US" sz="800" kern="1200" dirty="0" smtClean="0">
                  <a:solidFill>
                    <a:schemeClr val="bg1">
                      <a:lumMod val="50000"/>
                    </a:schemeClr>
                  </a:solidFill>
                  <a:latin typeface="Calibri"/>
                  <a:ea typeface="+mn-ea"/>
                  <a:cs typeface="Calibri"/>
                  <a:sym typeface="Wingdings"/>
                </a:rPr>
                <a:t>DISEÑO</a:t>
              </a:r>
              <a:r>
                <a:rPr lang="en-US" sz="800" kern="1200" baseline="0" dirty="0" smtClean="0">
                  <a:solidFill>
                    <a:schemeClr val="bg1">
                      <a:lumMod val="50000"/>
                    </a:schemeClr>
                  </a:solidFill>
                  <a:latin typeface="Calibri"/>
                  <a:ea typeface="+mn-ea"/>
                  <a:cs typeface="Calibri"/>
                  <a:sym typeface="Wingdings"/>
                </a:rPr>
                <a:t> DE ESTRATEGIAS PARA VIDEOJUEGOS</a:t>
              </a:r>
              <a:r>
                <a:rPr lang="en-US" sz="800" kern="1200" dirty="0" smtClean="0">
                  <a:solidFill>
                    <a:schemeClr val="bg1">
                      <a:lumMod val="50000"/>
                    </a:schemeClr>
                  </a:solidFill>
                  <a:latin typeface="Calibri"/>
                  <a:ea typeface="+mn-ea"/>
                  <a:cs typeface="Calibri"/>
                  <a:sym typeface="Wingdings"/>
                </a:rPr>
                <a:t>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a:t>
              </a:r>
              <a:r>
                <a:rPr lang="en-US" sz="800" kern="1200" dirty="0" smtClean="0">
                  <a:solidFill>
                    <a:schemeClr val="bg1">
                      <a:lumMod val="50000"/>
                    </a:schemeClr>
                  </a:solidFill>
                  <a:latin typeface="Calibri"/>
                  <a:ea typeface="+mn-ea"/>
                  <a:cs typeface="Calibri"/>
                  <a:sym typeface="Wingdings"/>
                </a:rPr>
                <a:t>10</a:t>
              </a:r>
              <a:endParaRPr lang="en-US" sz="800" dirty="0">
                <a:solidFill>
                  <a:schemeClr val="bg1">
                    <a:lumMod val="50000"/>
                  </a:schemeClr>
                </a:solidFill>
                <a:latin typeface="Calibri"/>
                <a:cs typeface="Calibri"/>
              </a:endParaRPr>
            </a:p>
          </p:txBody>
        </p:sp>
        <p:sp>
          <p:nvSpPr>
            <p:cNvPr id="18" name="Rectangle 3"/>
            <p:cNvSpPr/>
            <p:nvPr userDrawn="1"/>
          </p:nvSpPr>
          <p:spPr>
            <a:xfrm>
              <a:off x="7379148" y="5384440"/>
              <a:ext cx="1369286" cy="184666"/>
            </a:xfrm>
            <a:prstGeom prst="rect">
              <a:avLst/>
            </a:prstGeom>
          </p:spPr>
          <p:txBody>
            <a:bodyPr wrap="none">
              <a:spAutoFit/>
            </a:bodyPr>
            <a:lstStyle/>
            <a:p>
              <a:pPr algn="r"/>
              <a:r>
                <a:rPr lang="es-ES_tradnl" sz="600" dirty="0">
                  <a:solidFill>
                    <a:schemeClr val="bg1">
                      <a:lumMod val="50000"/>
                    </a:schemeClr>
                  </a:solidFill>
                </a:rPr>
                <a:t>© </a:t>
              </a:r>
              <a:r>
                <a:rPr lang="es-ES_tradnl" sz="600" dirty="0" smtClean="0">
                  <a:solidFill>
                    <a:schemeClr val="bg1">
                      <a:lumMod val="50000"/>
                    </a:schemeClr>
                  </a:solidFill>
                </a:rPr>
                <a:t>ISIL</a:t>
              </a:r>
              <a:r>
                <a:rPr lang="es-ES_tradnl" sz="600" dirty="0">
                  <a:solidFill>
                    <a:schemeClr val="bg1">
                      <a:lumMod val="50000"/>
                    </a:schemeClr>
                  </a:solidFill>
                </a:rPr>
                <a:t>. Todos los derechos reservados</a:t>
              </a:r>
            </a:p>
          </p:txBody>
        </p:sp>
      </p:grpSp>
      <p:pic>
        <p:nvPicPr>
          <p:cNvPr id="3" name="Imagen 2"/>
          <p:cNvPicPr>
            <a:picLocks noChangeAspect="1"/>
          </p:cNvPicPr>
          <p:nvPr userDrawn="1"/>
        </p:nvPicPr>
        <p:blipFill>
          <a:blip r:embed="rId11">
            <a:alphaModFix amt="20000"/>
          </a:blip>
          <a:stretch>
            <a:fillRect/>
          </a:stretch>
        </p:blipFill>
        <p:spPr>
          <a:xfrm>
            <a:off x="495300" y="5328911"/>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 id="2147483656" r:id="rId4"/>
    <p:sldLayoutId id="2147483660" r:id="rId5"/>
    <p:sldLayoutId id="2147483657" r:id="rId6"/>
    <p:sldLayoutId id="2147483658" r:id="rId7"/>
    <p:sldLayoutId id="2147483661" r:id="rId8"/>
    <p:sldLayoutId id="2147483659"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6.xml"/><Relationship Id="rId1" Type="http://schemas.openxmlformats.org/officeDocument/2006/relationships/tags" Target="../tags/tag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6.xml"/><Relationship Id="rId1" Type="http://schemas.openxmlformats.org/officeDocument/2006/relationships/tags" Target="../tags/tag8.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6.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6.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6.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6.xml"/><Relationship Id="rId1" Type="http://schemas.openxmlformats.org/officeDocument/2006/relationships/tags" Target="../tags/tag1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6.xml"/><Relationship Id="rId1" Type="http://schemas.openxmlformats.org/officeDocument/2006/relationships/tags" Target="../tags/tag1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6.xml"/><Relationship Id="rId1" Type="http://schemas.openxmlformats.org/officeDocument/2006/relationships/tags" Target="../tags/tag16.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6.xml"/><Relationship Id="rId1" Type="http://schemas.openxmlformats.org/officeDocument/2006/relationships/tags" Target="../tags/tag17.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6.xml"/><Relationship Id="rId1" Type="http://schemas.openxmlformats.org/officeDocument/2006/relationships/tags" Target="../tags/tag18.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6.xml"/><Relationship Id="rId1" Type="http://schemas.openxmlformats.org/officeDocument/2006/relationships/tags" Target="../tags/tag19.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6.xml"/><Relationship Id="rId1" Type="http://schemas.openxmlformats.org/officeDocument/2006/relationships/tags" Target="../tags/tag20.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22.xml"/></Relationships>
</file>

<file path=ppt/slides/_rels/slide30.xml.rels><?xml version="1.0" encoding="UTF-8" standalone="yes"?>
<Relationships xmlns="http://schemas.openxmlformats.org/package/2006/relationships"><Relationship Id="rId3" Type="http://schemas.openxmlformats.org/officeDocument/2006/relationships/hyperlink" Target="https://www.scirra.com/manual/1/construct-2" TargetMode="External"/><Relationship Id="rId2" Type="http://schemas.openxmlformats.org/officeDocument/2006/relationships/slideLayout" Target="../slideLayouts/slideLayout2.xml"/><Relationship Id="rId1" Type="http://schemas.openxmlformats.org/officeDocument/2006/relationships/tags" Target="../tags/tag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9144000" cy="5715000"/>
          </a:xfrm>
          <a:prstGeom prst="rect">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angle 3"/>
          <p:cNvSpPr/>
          <p:nvPr/>
        </p:nvSpPr>
        <p:spPr>
          <a:xfrm>
            <a:off x="503238" y="1207530"/>
            <a:ext cx="8049072" cy="2883866"/>
          </a:xfrm>
          <a:prstGeom prst="rect">
            <a:avLst/>
          </a:prstGeom>
        </p:spPr>
        <p:txBody>
          <a:bodyPr wrap="square">
            <a:spAutoFit/>
          </a:bodyPr>
          <a:lstStyle/>
          <a:p>
            <a:pPr algn="ctr"/>
            <a:r>
              <a:rPr lang="en-US" sz="2800" dirty="0">
                <a:solidFill>
                  <a:schemeClr val="bg1"/>
                </a:solidFill>
                <a:latin typeface="Calibri"/>
                <a:cs typeface="Calibri"/>
              </a:rPr>
              <a:t>SESIÓN /</a:t>
            </a:r>
            <a:r>
              <a:rPr lang="en-US" sz="2800" b="1" dirty="0">
                <a:solidFill>
                  <a:schemeClr val="bg1"/>
                </a:solidFill>
                <a:latin typeface="Calibri"/>
                <a:cs typeface="Calibri"/>
              </a:rPr>
              <a:t>10</a:t>
            </a:r>
          </a:p>
          <a:p>
            <a:pPr algn="ctr">
              <a:lnSpc>
                <a:spcPct val="90000"/>
              </a:lnSpc>
              <a:defRPr/>
            </a:pPr>
            <a:r>
              <a:rPr lang="es-PE" sz="3000" b="1" dirty="0">
                <a:solidFill>
                  <a:schemeClr val="bg1"/>
                </a:solidFill>
                <a:latin typeface="Calibri"/>
                <a:cs typeface="Calibri"/>
              </a:rPr>
              <a:t>PROGRAMANDO EN CONSTRUCT 2</a:t>
            </a:r>
          </a:p>
          <a:p>
            <a:pPr>
              <a:lnSpc>
                <a:spcPct val="90000"/>
              </a:lnSpc>
              <a:spcBef>
                <a:spcPts val="1000"/>
              </a:spcBef>
              <a:defRPr/>
            </a:pPr>
            <a:endParaRPr lang="en-US" b="1" dirty="0">
              <a:solidFill>
                <a:srgbClr val="000000"/>
              </a:solidFill>
              <a:latin typeface="Calibri"/>
              <a:cs typeface="Calibri"/>
            </a:endParaRPr>
          </a:p>
          <a:p>
            <a:pPr>
              <a:lnSpc>
                <a:spcPct val="90000"/>
              </a:lnSpc>
              <a:spcBef>
                <a:spcPts val="1000"/>
              </a:spcBef>
              <a:defRPr/>
            </a:pPr>
            <a:endParaRPr lang="en-US" b="1" dirty="0">
              <a:solidFill>
                <a:srgbClr val="000000"/>
              </a:solidFill>
              <a:latin typeface="Calibri"/>
              <a:cs typeface="Calibri"/>
            </a:endParaRPr>
          </a:p>
          <a:p>
            <a:pPr>
              <a:lnSpc>
                <a:spcPct val="90000"/>
              </a:lnSpc>
              <a:spcBef>
                <a:spcPts val="1000"/>
              </a:spcBef>
              <a:defRPr/>
            </a:pPr>
            <a:endParaRPr lang="en-US" b="1" dirty="0">
              <a:solidFill>
                <a:srgbClr val="000000"/>
              </a:solidFill>
              <a:latin typeface="Calibri"/>
              <a:cs typeface="Calibri"/>
            </a:endParaRPr>
          </a:p>
          <a:p>
            <a:pPr>
              <a:lnSpc>
                <a:spcPct val="110000"/>
              </a:lnSpc>
              <a:defRPr/>
            </a:pPr>
            <a:r>
              <a:rPr lang="en-US" sz="1600" b="1" dirty="0">
                <a:solidFill>
                  <a:schemeClr val="bg1"/>
                </a:solidFill>
                <a:latin typeface="Calibri"/>
                <a:cs typeface="Calibri"/>
              </a:rPr>
              <a:t>/ </a:t>
            </a:r>
            <a:r>
              <a:rPr lang="es-ES" sz="1600" b="1" dirty="0">
                <a:solidFill>
                  <a:schemeClr val="bg1"/>
                </a:solidFill>
                <a:latin typeface="Calibri"/>
                <a:cs typeface="Calibri"/>
              </a:rPr>
              <a:t>Comportamientos</a:t>
            </a:r>
          </a:p>
          <a:p>
            <a:pPr>
              <a:lnSpc>
                <a:spcPct val="110000"/>
              </a:lnSpc>
              <a:defRPr/>
            </a:pPr>
            <a:r>
              <a:rPr lang="en-US" sz="1600" b="1" dirty="0">
                <a:solidFill>
                  <a:schemeClr val="bg1"/>
                </a:solidFill>
                <a:cs typeface="Calibri"/>
              </a:rPr>
              <a:t>/ </a:t>
            </a:r>
            <a:r>
              <a:rPr lang="en-US" sz="1600" b="1" dirty="0" err="1">
                <a:solidFill>
                  <a:schemeClr val="bg1"/>
                </a:solidFill>
                <a:cs typeface="Calibri"/>
              </a:rPr>
              <a:t>Eventos</a:t>
            </a:r>
            <a:endParaRPr lang="en-US" sz="1600" b="1" dirty="0">
              <a:solidFill>
                <a:schemeClr val="bg1"/>
              </a:solidFill>
              <a:cs typeface="Calibri"/>
            </a:endParaRPr>
          </a:p>
          <a:p>
            <a:pPr>
              <a:lnSpc>
                <a:spcPct val="110000"/>
              </a:lnSpc>
              <a:defRPr/>
            </a:pPr>
            <a:r>
              <a:rPr lang="en-US" sz="1600" b="1" dirty="0">
                <a:solidFill>
                  <a:schemeClr val="bg1"/>
                </a:solidFill>
                <a:cs typeface="Calibri"/>
              </a:rPr>
              <a:t>/ </a:t>
            </a:r>
            <a:r>
              <a:rPr lang="en-US" sz="1600" b="1" dirty="0" err="1">
                <a:solidFill>
                  <a:schemeClr val="bg1"/>
                </a:solidFill>
                <a:cs typeface="Calibri"/>
              </a:rPr>
              <a:t>Condiciones</a:t>
            </a:r>
            <a:r>
              <a:rPr lang="en-US" sz="1600" b="1" dirty="0">
                <a:solidFill>
                  <a:schemeClr val="bg1"/>
                </a:solidFill>
                <a:cs typeface="Calibri"/>
              </a:rPr>
              <a:t>, </a:t>
            </a:r>
            <a:r>
              <a:rPr lang="en-US" sz="1600" b="1" dirty="0" err="1">
                <a:solidFill>
                  <a:schemeClr val="bg1"/>
                </a:solidFill>
                <a:cs typeface="Calibri"/>
              </a:rPr>
              <a:t>acciones</a:t>
            </a:r>
            <a:r>
              <a:rPr lang="en-US" sz="1600" b="1" dirty="0">
                <a:solidFill>
                  <a:schemeClr val="bg1"/>
                </a:solidFill>
                <a:cs typeface="Calibri"/>
              </a:rPr>
              <a:t> y </a:t>
            </a:r>
            <a:r>
              <a:rPr lang="en-US" sz="1600" b="1" dirty="0" err="1" smtClean="0">
                <a:solidFill>
                  <a:schemeClr val="bg1"/>
                </a:solidFill>
                <a:cs typeface="Calibri"/>
              </a:rPr>
              <a:t>subeventos</a:t>
            </a:r>
            <a:endParaRPr lang="es-ES" sz="1600" dirty="0">
              <a:solidFill>
                <a:schemeClr val="bg1"/>
              </a:solidFill>
              <a:cs typeface="Calibri"/>
            </a:endParaRPr>
          </a:p>
        </p:txBody>
      </p:sp>
    </p:spTree>
    <p:custDataLst>
      <p:tags r:id="rId1"/>
    </p:custDataLst>
    <p:extLst>
      <p:ext uri="{BB962C8B-B14F-4D97-AF65-F5344CB8AC3E}">
        <p14:creationId xmlns:p14="http://schemas.microsoft.com/office/powerpoint/2010/main" val="1733172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INTRODUCCIÓN</a:t>
            </a:r>
          </a:p>
        </p:txBody>
      </p:sp>
      <p:sp>
        <p:nvSpPr>
          <p:cNvPr id="7" name="object 7"/>
          <p:cNvSpPr txBox="1"/>
          <p:nvPr/>
        </p:nvSpPr>
        <p:spPr>
          <a:xfrm>
            <a:off x="495299" y="810908"/>
            <a:ext cx="8102216" cy="1969770"/>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smtClean="0">
                <a:solidFill>
                  <a:srgbClr val="262626"/>
                </a:solidFill>
                <a:cs typeface="Source Sans Pro"/>
              </a:rPr>
              <a:t>La </a:t>
            </a:r>
            <a:r>
              <a:rPr lang="es-PE" sz="1600" spc="-10" dirty="0">
                <a:solidFill>
                  <a:srgbClr val="262626"/>
                </a:solidFill>
                <a:cs typeface="Source Sans Pro"/>
              </a:rPr>
              <a:t>sesión anterior tuvimos un primer acercamiento a </a:t>
            </a:r>
            <a:r>
              <a:rPr lang="es-PE" sz="1600" spc="-10" dirty="0" err="1">
                <a:solidFill>
                  <a:srgbClr val="262626"/>
                </a:solidFill>
                <a:cs typeface="Source Sans Pro"/>
              </a:rPr>
              <a:t>Construct</a:t>
            </a:r>
            <a:r>
              <a:rPr lang="es-PE" sz="1600" spc="-10" dirty="0">
                <a:solidFill>
                  <a:srgbClr val="262626"/>
                </a:solidFill>
                <a:cs typeface="Source Sans Pro"/>
              </a:rPr>
              <a:t> 2, creando </a:t>
            </a:r>
            <a:r>
              <a:rPr lang="es-PE" sz="1600" spc="-10" dirty="0" err="1">
                <a:solidFill>
                  <a:srgbClr val="262626"/>
                </a:solidFill>
                <a:cs typeface="Source Sans Pro"/>
              </a:rPr>
              <a:t>sprites</a:t>
            </a:r>
            <a:r>
              <a:rPr lang="es-PE" sz="1600" spc="-10" dirty="0">
                <a:solidFill>
                  <a:srgbClr val="262626"/>
                </a:solidFill>
                <a:cs typeface="Source Sans Pro"/>
              </a:rPr>
              <a:t> y agregando </a:t>
            </a:r>
            <a:r>
              <a:rPr lang="es-PE" sz="1600" spc="-10" dirty="0" smtClean="0">
                <a:solidFill>
                  <a:srgbClr val="262626"/>
                </a:solidFill>
                <a:cs typeface="Source Sans Pro"/>
              </a:rPr>
              <a:t>animaciones. </a:t>
            </a:r>
            <a:r>
              <a:rPr lang="es-PE" sz="1600" spc="-10" dirty="0">
                <a:solidFill>
                  <a:srgbClr val="262626"/>
                </a:solidFill>
                <a:cs typeface="Source Sans Pro"/>
              </a:rPr>
              <a:t>E</a:t>
            </a:r>
            <a:r>
              <a:rPr lang="es-PE" sz="1600" spc="-10" dirty="0" smtClean="0">
                <a:solidFill>
                  <a:srgbClr val="262626"/>
                </a:solidFill>
                <a:cs typeface="Source Sans Pro"/>
              </a:rPr>
              <a:t>n </a:t>
            </a:r>
            <a:r>
              <a:rPr lang="es-PE" sz="1600" spc="-10" dirty="0">
                <a:solidFill>
                  <a:srgbClr val="262626"/>
                </a:solidFill>
                <a:cs typeface="Source Sans Pro"/>
              </a:rPr>
              <a:t>la presente sesión aprenderemos a darle vida a nuestros juegos a través de los eventos, comportamientos y acciones.</a:t>
            </a:r>
            <a:endParaRPr lang="es-PE" sz="1600" spc="-10" dirty="0" smtClean="0">
              <a:solidFill>
                <a:srgbClr val="262626"/>
              </a:solidFill>
              <a:cs typeface="Source Sans Pro"/>
            </a:endParaRPr>
          </a:p>
          <a:p>
            <a:pPr marL="180000" indent="-168275">
              <a:buSzPct val="100000"/>
              <a:buFont typeface="Arial"/>
              <a:buChar char="•"/>
              <a:tabLst>
                <a:tab pos="121285" algn="l"/>
              </a:tabLst>
            </a:pPr>
            <a:r>
              <a:rPr lang="es-PE" sz="1600" spc="-10" dirty="0" err="1" smtClean="0">
                <a:solidFill>
                  <a:srgbClr val="262626"/>
                </a:solidFill>
                <a:cs typeface="Source Sans Pro"/>
              </a:rPr>
              <a:t>Construct</a:t>
            </a:r>
            <a:r>
              <a:rPr lang="es-PE" sz="1600" spc="-10" dirty="0" smtClean="0">
                <a:solidFill>
                  <a:srgbClr val="262626"/>
                </a:solidFill>
                <a:cs typeface="Source Sans Pro"/>
              </a:rPr>
              <a:t> </a:t>
            </a:r>
            <a:r>
              <a:rPr lang="es-PE" sz="1600" spc="-10" dirty="0">
                <a:solidFill>
                  <a:srgbClr val="262626"/>
                </a:solidFill>
                <a:cs typeface="Source Sans Pro"/>
              </a:rPr>
              <a:t>2 tiene muchos elementos </a:t>
            </a:r>
            <a:r>
              <a:rPr lang="es-PE" sz="1600" spc="-10" dirty="0" err="1" smtClean="0">
                <a:solidFill>
                  <a:srgbClr val="262626"/>
                </a:solidFill>
                <a:cs typeface="Source Sans Pro"/>
              </a:rPr>
              <a:t>preconstruidos</a:t>
            </a:r>
            <a:r>
              <a:rPr lang="es-PE" sz="1600" spc="-10" dirty="0" smtClean="0">
                <a:solidFill>
                  <a:srgbClr val="262626"/>
                </a:solidFill>
                <a:cs typeface="Source Sans Pro"/>
              </a:rPr>
              <a:t> </a:t>
            </a:r>
            <a:r>
              <a:rPr lang="es-PE" sz="1600" spc="-10" dirty="0">
                <a:solidFill>
                  <a:srgbClr val="262626"/>
                </a:solidFill>
                <a:cs typeface="Source Sans Pro"/>
              </a:rPr>
              <a:t>que nos facilitan la creación de un videojuego de manera fácil y con pocas configuraciones.</a:t>
            </a:r>
          </a:p>
          <a:p>
            <a:pPr marL="180000" indent="-168275">
              <a:buSzPct val="100000"/>
              <a:buFont typeface="Arial"/>
              <a:buChar char="•"/>
              <a:tabLst>
                <a:tab pos="121285" algn="l"/>
              </a:tabLst>
            </a:pPr>
            <a:r>
              <a:rPr lang="es-PE" sz="1600" spc="-10" dirty="0">
                <a:solidFill>
                  <a:srgbClr val="262626"/>
                </a:solidFill>
                <a:cs typeface="Source Sans Pro"/>
              </a:rPr>
              <a:t>En </a:t>
            </a:r>
            <a:r>
              <a:rPr lang="es-PE" sz="1600" spc="-10" dirty="0" err="1">
                <a:solidFill>
                  <a:srgbClr val="262626"/>
                </a:solidFill>
                <a:cs typeface="Source Sans Pro"/>
              </a:rPr>
              <a:t>Construct</a:t>
            </a:r>
            <a:r>
              <a:rPr lang="es-PE" sz="1600" spc="-10" dirty="0">
                <a:solidFill>
                  <a:srgbClr val="262626"/>
                </a:solidFill>
                <a:cs typeface="Source Sans Pro"/>
              </a:rPr>
              <a:t> 2 utilizamos </a:t>
            </a:r>
            <a:r>
              <a:rPr lang="es-PE" sz="1600" spc="-10" dirty="0" err="1">
                <a:solidFill>
                  <a:srgbClr val="262626"/>
                </a:solidFill>
                <a:cs typeface="Source Sans Pro"/>
              </a:rPr>
              <a:t>Behaviours</a:t>
            </a:r>
            <a:r>
              <a:rPr lang="es-PE" sz="1600" spc="-10" dirty="0">
                <a:solidFill>
                  <a:srgbClr val="262626"/>
                </a:solidFill>
                <a:cs typeface="Source Sans Pro"/>
              </a:rPr>
              <a:t> para agregar funcionalidades </a:t>
            </a:r>
            <a:r>
              <a:rPr lang="es-PE" sz="1600" spc="-10" dirty="0" smtClean="0">
                <a:solidFill>
                  <a:srgbClr val="262626"/>
                </a:solidFill>
                <a:cs typeface="Source Sans Pro"/>
              </a:rPr>
              <a:t>específicas </a:t>
            </a:r>
            <a:r>
              <a:rPr lang="es-PE" sz="1600" spc="-10" dirty="0">
                <a:solidFill>
                  <a:srgbClr val="262626"/>
                </a:solidFill>
                <a:cs typeface="Source Sans Pro"/>
              </a:rPr>
              <a:t>a nuestros videojuegos tales como: convertir una imagen en un personaje de plataformas, o crear el movimiento y controles para un auto de carreras, balas y muchos más.</a:t>
            </a:r>
          </a:p>
        </p:txBody>
      </p:sp>
    </p:spTree>
    <p:custDataLst>
      <p:tags r:id="rId1"/>
    </p:custDataLst>
    <p:extLst>
      <p:ext uri="{BB962C8B-B14F-4D97-AF65-F5344CB8AC3E}">
        <p14:creationId xmlns:p14="http://schemas.microsoft.com/office/powerpoint/2010/main" val="3789734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9144000" cy="5715000"/>
          </a:xfrm>
          <a:prstGeom prst="rect">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ES" sz="2800" b="1" dirty="0">
                <a:solidFill>
                  <a:schemeClr val="bg1"/>
                </a:solidFill>
                <a:cs typeface="Calibri"/>
              </a:rPr>
              <a:t>COMPORTAMIENTOS</a:t>
            </a:r>
            <a:endParaRPr lang="es-ES" sz="1600" dirty="0">
              <a:solidFill>
                <a:schemeClr val="bg1"/>
              </a:solidFill>
              <a:cs typeface="Calibri"/>
            </a:endParaRPr>
          </a:p>
        </p:txBody>
      </p:sp>
    </p:spTree>
    <p:custDataLst>
      <p:tags r:id="rId1"/>
    </p:custDataLst>
    <p:extLst>
      <p:ext uri="{BB962C8B-B14F-4D97-AF65-F5344CB8AC3E}">
        <p14:creationId xmlns:p14="http://schemas.microsoft.com/office/powerpoint/2010/main" val="3109433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407874" y="1520708"/>
            <a:ext cx="4376446" cy="2954655"/>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err="1">
                <a:solidFill>
                  <a:srgbClr val="262626"/>
                </a:solidFill>
              </a:rPr>
              <a:t>Construct</a:t>
            </a:r>
            <a:r>
              <a:rPr lang="es-PE" sz="1600" spc="-10" dirty="0">
                <a:solidFill>
                  <a:srgbClr val="262626"/>
                </a:solidFill>
              </a:rPr>
              <a:t> 2 viene con algunos comportamientos </a:t>
            </a:r>
            <a:r>
              <a:rPr lang="es-PE" sz="1600" spc="-10" dirty="0" smtClean="0">
                <a:solidFill>
                  <a:srgbClr val="262626"/>
                </a:solidFill>
              </a:rPr>
              <a:t>predefinidos </a:t>
            </a:r>
            <a:r>
              <a:rPr lang="es-PE" sz="1600" spc="-10" dirty="0">
                <a:solidFill>
                  <a:srgbClr val="262626"/>
                </a:solidFill>
              </a:rPr>
              <a:t>para ser implementados </a:t>
            </a:r>
            <a:r>
              <a:rPr lang="es-PE" sz="1600" spc="-10" dirty="0" smtClean="0">
                <a:solidFill>
                  <a:srgbClr val="262626"/>
                </a:solidFill>
              </a:rPr>
              <a:t>rápidamente </a:t>
            </a:r>
            <a:r>
              <a:rPr lang="es-PE" sz="1600" spc="-10" dirty="0">
                <a:solidFill>
                  <a:srgbClr val="262626"/>
                </a:solidFill>
              </a:rPr>
              <a:t>a los objetos:</a:t>
            </a:r>
          </a:p>
          <a:p>
            <a:pPr marL="180000" indent="-168275">
              <a:buSzPct val="100000"/>
              <a:buFont typeface="Arial"/>
              <a:buChar char="•"/>
              <a:tabLst>
                <a:tab pos="121285" algn="l"/>
              </a:tabLst>
            </a:pPr>
            <a:endParaRPr lang="es-PE" sz="1600" spc="-10" dirty="0">
              <a:solidFill>
                <a:srgbClr val="262626"/>
              </a:solidFill>
            </a:endParaRPr>
          </a:p>
          <a:p>
            <a:pPr marL="180000" lvl="1" indent="-168275">
              <a:buSzPct val="100000"/>
              <a:buFont typeface="Arial"/>
              <a:buChar char="•"/>
              <a:tabLst>
                <a:tab pos="121285" algn="l"/>
              </a:tabLst>
            </a:pPr>
            <a:r>
              <a:rPr lang="es-PE" sz="1600" b="1" spc="-10" dirty="0">
                <a:solidFill>
                  <a:srgbClr val="262626"/>
                </a:solidFill>
              </a:rPr>
              <a:t>8 </a:t>
            </a:r>
            <a:r>
              <a:rPr lang="es-PE" sz="1600" b="1" spc="-10" dirty="0" err="1">
                <a:solidFill>
                  <a:srgbClr val="262626"/>
                </a:solidFill>
              </a:rPr>
              <a:t>direction</a:t>
            </a:r>
            <a:r>
              <a:rPr lang="es-PE" sz="1600" b="1" spc="-10" dirty="0">
                <a:solidFill>
                  <a:srgbClr val="262626"/>
                </a:solidFill>
              </a:rPr>
              <a:t> </a:t>
            </a:r>
            <a:r>
              <a:rPr lang="es-PE" sz="1600" b="1" spc="-10" dirty="0" err="1">
                <a:solidFill>
                  <a:srgbClr val="262626"/>
                </a:solidFill>
              </a:rPr>
              <a:t>movement</a:t>
            </a:r>
            <a:r>
              <a:rPr lang="es-PE" sz="1600" spc="-10" dirty="0">
                <a:solidFill>
                  <a:srgbClr val="262626"/>
                </a:solidFill>
              </a:rPr>
              <a:t> 	</a:t>
            </a:r>
          </a:p>
          <a:p>
            <a:pPr marL="180000" lvl="1" indent="-168275">
              <a:buSzPct val="100000"/>
              <a:buFont typeface="Arial"/>
              <a:buChar char="•"/>
              <a:tabLst>
                <a:tab pos="121285" algn="l"/>
              </a:tabLst>
            </a:pPr>
            <a:r>
              <a:rPr lang="es-PE" sz="1600" b="1" spc="-10" dirty="0" err="1">
                <a:solidFill>
                  <a:srgbClr val="262626"/>
                </a:solidFill>
              </a:rPr>
              <a:t>Bullet</a:t>
            </a:r>
            <a:r>
              <a:rPr lang="es-PE" sz="1600" b="1" spc="-10" dirty="0">
                <a:solidFill>
                  <a:srgbClr val="262626"/>
                </a:solidFill>
              </a:rPr>
              <a:t> </a:t>
            </a:r>
            <a:r>
              <a:rPr lang="es-PE" sz="1600" b="1" spc="-10" dirty="0" err="1">
                <a:solidFill>
                  <a:srgbClr val="262626"/>
                </a:solidFill>
              </a:rPr>
              <a:t>movement</a:t>
            </a:r>
            <a:r>
              <a:rPr lang="es-PE" sz="1600" b="1" spc="-10" dirty="0">
                <a:solidFill>
                  <a:srgbClr val="262626"/>
                </a:solidFill>
              </a:rPr>
              <a:t> </a:t>
            </a:r>
            <a:r>
              <a:rPr lang="es-PE" sz="1600" spc="-10" dirty="0" smtClean="0">
                <a:solidFill>
                  <a:srgbClr val="262626"/>
                </a:solidFill>
              </a:rPr>
              <a:t>	</a:t>
            </a:r>
          </a:p>
          <a:p>
            <a:pPr marL="180000" lvl="1" indent="-168275">
              <a:buSzPct val="100000"/>
              <a:buFont typeface="Arial"/>
              <a:buChar char="•"/>
              <a:tabLst>
                <a:tab pos="121285" algn="l"/>
              </a:tabLst>
            </a:pPr>
            <a:r>
              <a:rPr lang="es-PE" sz="1600" b="1" spc="-10" dirty="0" err="1" smtClean="0">
                <a:solidFill>
                  <a:srgbClr val="262626"/>
                </a:solidFill>
              </a:rPr>
              <a:t>Scroll</a:t>
            </a:r>
            <a:r>
              <a:rPr lang="es-PE" sz="1600" b="1" spc="-10" dirty="0" smtClean="0">
                <a:solidFill>
                  <a:srgbClr val="262626"/>
                </a:solidFill>
              </a:rPr>
              <a:t> to</a:t>
            </a:r>
          </a:p>
          <a:p>
            <a:pPr marL="180000" lvl="1" indent="-168275">
              <a:buSzPct val="100000"/>
              <a:buFont typeface="Arial"/>
              <a:buChar char="•"/>
              <a:tabLst>
                <a:tab pos="121285" algn="l"/>
              </a:tabLst>
            </a:pPr>
            <a:r>
              <a:rPr lang="en-US" sz="1600" b="1" spc="-10" dirty="0">
                <a:solidFill>
                  <a:srgbClr val="262626"/>
                </a:solidFill>
              </a:rPr>
              <a:t>Bound to layout</a:t>
            </a:r>
            <a:r>
              <a:rPr lang="en-US" sz="1600" spc="-10" dirty="0">
                <a:solidFill>
                  <a:srgbClr val="262626"/>
                </a:solidFill>
              </a:rPr>
              <a:t> </a:t>
            </a:r>
            <a:endParaRPr lang="en-US" sz="1600" spc="-10" dirty="0" smtClean="0">
              <a:solidFill>
                <a:srgbClr val="262626"/>
              </a:solidFill>
            </a:endParaRPr>
          </a:p>
          <a:p>
            <a:pPr marL="180000" lvl="1" indent="-168275">
              <a:buSzPct val="100000"/>
              <a:buFont typeface="Arial"/>
              <a:buChar char="•"/>
              <a:tabLst>
                <a:tab pos="121285" algn="l"/>
              </a:tabLst>
            </a:pPr>
            <a:r>
              <a:rPr lang="en-US" sz="1600" b="1" spc="-10" dirty="0">
                <a:solidFill>
                  <a:srgbClr val="262626"/>
                </a:solidFill>
              </a:rPr>
              <a:t>Destroy outside </a:t>
            </a:r>
            <a:r>
              <a:rPr lang="en-US" sz="1600" b="1" spc="-10" dirty="0" smtClean="0">
                <a:solidFill>
                  <a:srgbClr val="262626"/>
                </a:solidFill>
              </a:rPr>
              <a:t>layout</a:t>
            </a:r>
          </a:p>
          <a:p>
            <a:pPr marL="180000" lvl="1" indent="-168275">
              <a:buSzPct val="100000"/>
              <a:buFont typeface="Arial"/>
              <a:buChar char="•"/>
              <a:tabLst>
                <a:tab pos="121285" algn="l"/>
              </a:tabLst>
            </a:pPr>
            <a:r>
              <a:rPr lang="en-US" sz="1600" b="1" spc="-10" dirty="0">
                <a:solidFill>
                  <a:srgbClr val="262626"/>
                </a:solidFill>
              </a:rPr>
              <a:t>Fade</a:t>
            </a:r>
            <a:endParaRPr lang="en-US" sz="1600" spc="-10" dirty="0">
              <a:solidFill>
                <a:srgbClr val="262626"/>
              </a:solidFill>
            </a:endParaRPr>
          </a:p>
          <a:p>
            <a:pPr marL="180000" lvl="1" indent="-168275">
              <a:buSzPct val="100000"/>
              <a:buFont typeface="Arial"/>
              <a:buChar char="•"/>
              <a:tabLst>
                <a:tab pos="121285" algn="l"/>
              </a:tabLst>
            </a:pPr>
            <a:endParaRPr lang="en-US" sz="1600" spc="-10" dirty="0">
              <a:solidFill>
                <a:srgbClr val="262626"/>
              </a:solidFill>
            </a:endParaRPr>
          </a:p>
          <a:p>
            <a:pPr marL="180000" lvl="1" indent="-168275">
              <a:buSzPct val="100000"/>
              <a:buFont typeface="Arial"/>
              <a:buChar char="•"/>
              <a:tabLst>
                <a:tab pos="121285" algn="l"/>
              </a:tabLst>
            </a:pPr>
            <a:endParaRPr lang="en-US" sz="1600" spc="-10" dirty="0">
              <a:solidFill>
                <a:srgbClr val="262626"/>
              </a:solidFill>
            </a:endParaRPr>
          </a:p>
        </p:txBody>
      </p:sp>
      <p:sp>
        <p:nvSpPr>
          <p:cNvPr id="5"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a:t>
            </a:r>
            <a:r>
              <a:rPr lang="en-US" sz="1700" dirty="0" smtClean="0">
                <a:solidFill>
                  <a:srgbClr val="438AD7"/>
                </a:solidFill>
              </a:rPr>
              <a:t>COMPORTAMIENTOS</a:t>
            </a:r>
            <a:endParaRPr lang="en-US" sz="1700" dirty="0">
              <a:solidFill>
                <a:srgbClr val="438AD7"/>
              </a:solidFill>
            </a:endParaRPr>
          </a:p>
        </p:txBody>
      </p:sp>
      <p:pic>
        <p:nvPicPr>
          <p:cNvPr id="6" name="Picture 1">
            <a:extLst>
              <a:ext uri="{FF2B5EF4-FFF2-40B4-BE49-F238E27FC236}">
                <a16:creationId xmlns:a16="http://schemas.microsoft.com/office/drawing/2014/main" id="{CBAE2410-2942-4B8F-9ECE-7F55FD165AB9}"/>
              </a:ext>
            </a:extLst>
          </p:cNvPr>
          <p:cNvPicPr>
            <a:picLocks noChangeAspect="1" noChangeArrowheads="1"/>
          </p:cNvPicPr>
          <p:nvPr/>
        </p:nvPicPr>
        <p:blipFill>
          <a:blip r:embed="rId3" cstate="print"/>
          <a:srcRect l="5901" t="43932" r="82851" b="42819"/>
          <a:stretch>
            <a:fillRect/>
          </a:stretch>
        </p:blipFill>
        <p:spPr bwMode="auto">
          <a:xfrm>
            <a:off x="6304080" y="1606311"/>
            <a:ext cx="864096" cy="895067"/>
          </a:xfrm>
          <a:prstGeom prst="rect">
            <a:avLst/>
          </a:prstGeom>
          <a:noFill/>
          <a:ln w="9525">
            <a:noFill/>
            <a:miter lim="800000"/>
            <a:headEnd/>
            <a:tailEnd/>
          </a:ln>
        </p:spPr>
      </p:pic>
      <p:pic>
        <p:nvPicPr>
          <p:cNvPr id="7" name="Picture 1">
            <a:extLst>
              <a:ext uri="{FF2B5EF4-FFF2-40B4-BE49-F238E27FC236}">
                <a16:creationId xmlns:a16="http://schemas.microsoft.com/office/drawing/2014/main" id="{B8F2343E-5DB7-45FD-9762-871210FC1EAA}"/>
              </a:ext>
            </a:extLst>
          </p:cNvPr>
          <p:cNvPicPr>
            <a:picLocks noChangeAspect="1" noChangeArrowheads="1"/>
          </p:cNvPicPr>
          <p:nvPr/>
        </p:nvPicPr>
        <p:blipFill>
          <a:blip r:embed="rId3" cstate="print"/>
          <a:srcRect l="20098" t="43953" r="67534" b="42819"/>
          <a:stretch>
            <a:fillRect/>
          </a:stretch>
        </p:blipFill>
        <p:spPr bwMode="auto">
          <a:xfrm>
            <a:off x="6304080" y="2707668"/>
            <a:ext cx="940660" cy="884684"/>
          </a:xfrm>
          <a:prstGeom prst="rect">
            <a:avLst/>
          </a:prstGeom>
          <a:noFill/>
          <a:ln w="9525">
            <a:noFill/>
            <a:miter lim="800000"/>
            <a:headEnd/>
            <a:tailEnd/>
          </a:ln>
        </p:spPr>
      </p:pic>
      <p:pic>
        <p:nvPicPr>
          <p:cNvPr id="8" name="Picture 6">
            <a:extLst>
              <a:ext uri="{FF2B5EF4-FFF2-40B4-BE49-F238E27FC236}">
                <a16:creationId xmlns:a16="http://schemas.microsoft.com/office/drawing/2014/main" id="{15C2FF1F-EB80-4E33-A985-FAB5BD205426}"/>
              </a:ext>
            </a:extLst>
          </p:cNvPr>
          <p:cNvPicPr>
            <a:picLocks noChangeAspect="1" noChangeArrowheads="1"/>
          </p:cNvPicPr>
          <p:nvPr/>
        </p:nvPicPr>
        <p:blipFill>
          <a:blip r:embed="rId4" cstate="print"/>
          <a:srcRect l="53092" t="60549" r="37632" b="25386"/>
          <a:stretch>
            <a:fillRect/>
          </a:stretch>
        </p:blipFill>
        <p:spPr bwMode="auto">
          <a:xfrm>
            <a:off x="6450374" y="3941857"/>
            <a:ext cx="648072" cy="864096"/>
          </a:xfrm>
          <a:prstGeom prst="rect">
            <a:avLst/>
          </a:prstGeom>
          <a:noFill/>
          <a:ln w="9525">
            <a:noFill/>
            <a:miter lim="800000"/>
            <a:headEnd/>
            <a:tailEnd/>
          </a:ln>
        </p:spPr>
      </p:pic>
      <p:sp>
        <p:nvSpPr>
          <p:cNvPr id="9" name="Rectangle 5"/>
          <p:cNvSpPr/>
          <p:nvPr/>
        </p:nvSpPr>
        <p:spPr>
          <a:xfrm>
            <a:off x="407874" y="723152"/>
            <a:ext cx="7204493" cy="353943"/>
          </a:xfrm>
          <a:prstGeom prst="rect">
            <a:avLst/>
          </a:prstGeom>
        </p:spPr>
        <p:txBody>
          <a:bodyPr wrap="square">
            <a:spAutoFit/>
          </a:bodyPr>
          <a:lstStyle/>
          <a:p>
            <a:r>
              <a:rPr lang="en-US" sz="1700" dirty="0">
                <a:solidFill>
                  <a:srgbClr val="438AD7"/>
                </a:solidFill>
              </a:rPr>
              <a:t> </a:t>
            </a:r>
            <a:r>
              <a:rPr lang="en-US" sz="1700" dirty="0" smtClean="0">
                <a:solidFill>
                  <a:srgbClr val="438AD7"/>
                </a:solidFill>
              </a:rPr>
              <a:t> </a:t>
            </a:r>
            <a:r>
              <a:rPr lang="en-US" sz="1600" dirty="0" smtClean="0">
                <a:solidFill>
                  <a:schemeClr val="tx1">
                    <a:lumMod val="75000"/>
                    <a:lumOff val="25000"/>
                  </a:schemeClr>
                </a:solidFill>
              </a:rPr>
              <a:t>AGREGANDO COMPORTAMIENTOS</a:t>
            </a:r>
            <a:endParaRPr lang="en-US" sz="1700" dirty="0">
              <a:solidFill>
                <a:schemeClr val="tx1">
                  <a:lumMod val="75000"/>
                  <a:lumOff val="25000"/>
                </a:schemeClr>
              </a:solidFill>
            </a:endParaRPr>
          </a:p>
        </p:txBody>
      </p:sp>
    </p:spTree>
    <p:extLst>
      <p:ext uri="{BB962C8B-B14F-4D97-AF65-F5344CB8AC3E}">
        <p14:creationId xmlns:p14="http://schemas.microsoft.com/office/powerpoint/2010/main" val="3479054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407875" y="1180240"/>
            <a:ext cx="4376446" cy="3200876"/>
          </a:xfrm>
          <a:prstGeom prst="rect">
            <a:avLst/>
          </a:prstGeom>
        </p:spPr>
        <p:txBody>
          <a:bodyPr vert="horz" wrap="square" lIns="0" tIns="0" rIns="0" bIns="0" rtlCol="0">
            <a:spAutoFit/>
          </a:bodyPr>
          <a:lstStyle/>
          <a:p>
            <a:pPr marL="11725">
              <a:buSzPct val="100000"/>
              <a:tabLst>
                <a:tab pos="121285" algn="l"/>
              </a:tabLst>
            </a:pPr>
            <a:endParaRPr lang="es-PE" sz="1600" spc="-10" dirty="0">
              <a:solidFill>
                <a:srgbClr val="262626"/>
              </a:solidFill>
            </a:endParaRPr>
          </a:p>
          <a:p>
            <a:pPr marL="180000" lvl="1" indent="-168275">
              <a:buSzPct val="100000"/>
              <a:buFont typeface="Arial"/>
              <a:buChar char="•"/>
              <a:tabLst>
                <a:tab pos="121285" algn="l"/>
              </a:tabLst>
            </a:pPr>
            <a:r>
              <a:rPr lang="es-PE" sz="1600" b="1" spc="-10" dirty="0">
                <a:solidFill>
                  <a:srgbClr val="262626"/>
                </a:solidFill>
              </a:rPr>
              <a:t>8 </a:t>
            </a:r>
            <a:r>
              <a:rPr lang="es-PE" sz="1600" b="1" spc="-10" dirty="0" err="1">
                <a:solidFill>
                  <a:srgbClr val="262626"/>
                </a:solidFill>
              </a:rPr>
              <a:t>direction</a:t>
            </a:r>
            <a:r>
              <a:rPr lang="es-PE" sz="1600" b="1" spc="-10" dirty="0">
                <a:solidFill>
                  <a:srgbClr val="262626"/>
                </a:solidFill>
              </a:rPr>
              <a:t> </a:t>
            </a:r>
            <a:r>
              <a:rPr lang="es-PE" sz="1600" b="1" spc="-10" dirty="0" err="1">
                <a:solidFill>
                  <a:srgbClr val="262626"/>
                </a:solidFill>
              </a:rPr>
              <a:t>movement</a:t>
            </a:r>
            <a:r>
              <a:rPr lang="es-PE" sz="1600" spc="-10" dirty="0">
                <a:solidFill>
                  <a:srgbClr val="262626"/>
                </a:solidFill>
              </a:rPr>
              <a:t> (movimiento en 8 direcciones): permite movimiento libre del objeto con las flechas direccionales. </a:t>
            </a:r>
          </a:p>
          <a:p>
            <a:pPr marL="11725" lvl="1">
              <a:buSzPct val="100000"/>
              <a:tabLst>
                <a:tab pos="121285" algn="l"/>
              </a:tabLst>
            </a:pPr>
            <a:r>
              <a:rPr lang="es-PE" sz="1600" spc="-10" dirty="0">
                <a:solidFill>
                  <a:srgbClr val="262626"/>
                </a:solidFill>
              </a:rPr>
              <a:t>	</a:t>
            </a:r>
          </a:p>
          <a:p>
            <a:pPr marL="180000" lvl="1" indent="-168275">
              <a:buSzPct val="100000"/>
              <a:buFont typeface="Arial"/>
              <a:buChar char="•"/>
              <a:tabLst>
                <a:tab pos="121285" algn="l"/>
              </a:tabLst>
            </a:pPr>
            <a:r>
              <a:rPr lang="es-PE" sz="1600" b="1" spc="-10" dirty="0" err="1">
                <a:solidFill>
                  <a:srgbClr val="262626"/>
                </a:solidFill>
              </a:rPr>
              <a:t>Bullet</a:t>
            </a:r>
            <a:r>
              <a:rPr lang="es-PE" sz="1600" b="1" spc="-10" dirty="0">
                <a:solidFill>
                  <a:srgbClr val="262626"/>
                </a:solidFill>
              </a:rPr>
              <a:t> </a:t>
            </a:r>
            <a:r>
              <a:rPr lang="es-PE" sz="1600" b="1" spc="-10" dirty="0" err="1">
                <a:solidFill>
                  <a:srgbClr val="262626"/>
                </a:solidFill>
              </a:rPr>
              <a:t>movement</a:t>
            </a:r>
            <a:r>
              <a:rPr lang="es-PE" sz="1600" b="1" spc="-10" dirty="0">
                <a:solidFill>
                  <a:srgbClr val="262626"/>
                </a:solidFill>
              </a:rPr>
              <a:t> </a:t>
            </a:r>
            <a:r>
              <a:rPr lang="es-PE" sz="1600" spc="-10" dirty="0">
                <a:solidFill>
                  <a:srgbClr val="262626"/>
                </a:solidFill>
              </a:rPr>
              <a:t>(movimiento </a:t>
            </a:r>
            <a:r>
              <a:rPr lang="es-PE" sz="1600" spc="-10" dirty="0" smtClean="0">
                <a:solidFill>
                  <a:srgbClr val="262626"/>
                </a:solidFill>
              </a:rPr>
              <a:t>proyectil</a:t>
            </a:r>
            <a:r>
              <a:rPr lang="es-PE" sz="1600" spc="-10" dirty="0">
                <a:solidFill>
                  <a:srgbClr val="262626"/>
                </a:solidFill>
              </a:rPr>
              <a:t>): mueve a un objeto hacia adelante en el ángulo actual. Puede servir para las balas del personaje, pero también para los enemigos. </a:t>
            </a:r>
          </a:p>
          <a:p>
            <a:pPr marL="11725" lvl="1">
              <a:buSzPct val="100000"/>
              <a:tabLst>
                <a:tab pos="121285" algn="l"/>
              </a:tabLst>
            </a:pPr>
            <a:r>
              <a:rPr lang="es-PE" sz="1600" spc="-10" dirty="0">
                <a:solidFill>
                  <a:srgbClr val="262626"/>
                </a:solidFill>
              </a:rPr>
              <a:t>	</a:t>
            </a:r>
          </a:p>
          <a:p>
            <a:pPr marL="180000" lvl="1" indent="-168275">
              <a:buSzPct val="100000"/>
              <a:buFont typeface="Arial"/>
              <a:buChar char="•"/>
              <a:tabLst>
                <a:tab pos="121285" algn="l"/>
              </a:tabLst>
            </a:pPr>
            <a:r>
              <a:rPr lang="es-PE" sz="1600" b="1" spc="-10" dirty="0" err="1">
                <a:solidFill>
                  <a:srgbClr val="262626"/>
                </a:solidFill>
              </a:rPr>
              <a:t>Scroll</a:t>
            </a:r>
            <a:r>
              <a:rPr lang="es-PE" sz="1600" b="1" spc="-10" dirty="0">
                <a:solidFill>
                  <a:srgbClr val="262626"/>
                </a:solidFill>
              </a:rPr>
              <a:t> to </a:t>
            </a:r>
            <a:r>
              <a:rPr lang="es-PE" sz="1600" spc="-10" dirty="0">
                <a:solidFill>
                  <a:srgbClr val="262626"/>
                </a:solidFill>
              </a:rPr>
              <a:t>(hacer </a:t>
            </a:r>
            <a:r>
              <a:rPr lang="es-PE" sz="1600" spc="-10" dirty="0" err="1">
                <a:solidFill>
                  <a:srgbClr val="262626"/>
                </a:solidFill>
              </a:rPr>
              <a:t>scroll</a:t>
            </a:r>
            <a:r>
              <a:rPr lang="es-PE" sz="1600" spc="-10" dirty="0">
                <a:solidFill>
                  <a:srgbClr val="262626"/>
                </a:solidFill>
              </a:rPr>
              <a:t> hacia un punto): hace que la pantalla siga a un objeto mientras se mueve (mientras hace </a:t>
            </a:r>
            <a:r>
              <a:rPr lang="es-PE" sz="1600" spc="-10" dirty="0" err="1">
                <a:solidFill>
                  <a:srgbClr val="262626"/>
                </a:solidFill>
              </a:rPr>
              <a:t>scroll</a:t>
            </a:r>
            <a:r>
              <a:rPr lang="es-PE" sz="1600" spc="-10" dirty="0">
                <a:solidFill>
                  <a:srgbClr val="262626"/>
                </a:solidFill>
              </a:rPr>
              <a:t>). </a:t>
            </a:r>
          </a:p>
        </p:txBody>
      </p:sp>
      <p:sp>
        <p:nvSpPr>
          <p:cNvPr id="5"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a:t>
            </a:r>
            <a:r>
              <a:rPr lang="en-US" sz="1700" dirty="0" smtClean="0">
                <a:solidFill>
                  <a:srgbClr val="438AD7"/>
                </a:solidFill>
              </a:rPr>
              <a:t>COMPORTAMIENTOS</a:t>
            </a:r>
            <a:endParaRPr lang="en-US" sz="1700" dirty="0">
              <a:solidFill>
                <a:srgbClr val="438AD7"/>
              </a:solidFill>
            </a:endParaRPr>
          </a:p>
        </p:txBody>
      </p:sp>
      <p:pic>
        <p:nvPicPr>
          <p:cNvPr id="6" name="Picture 1">
            <a:extLst>
              <a:ext uri="{FF2B5EF4-FFF2-40B4-BE49-F238E27FC236}">
                <a16:creationId xmlns:a16="http://schemas.microsoft.com/office/drawing/2014/main" id="{CBAE2410-2942-4B8F-9ECE-7F55FD165AB9}"/>
              </a:ext>
            </a:extLst>
          </p:cNvPr>
          <p:cNvPicPr>
            <a:picLocks noChangeAspect="1" noChangeArrowheads="1"/>
          </p:cNvPicPr>
          <p:nvPr/>
        </p:nvPicPr>
        <p:blipFill>
          <a:blip r:embed="rId3" cstate="print"/>
          <a:srcRect l="5901" t="43932" r="82851" b="42819"/>
          <a:stretch>
            <a:fillRect/>
          </a:stretch>
        </p:blipFill>
        <p:spPr bwMode="auto">
          <a:xfrm>
            <a:off x="6304080" y="1606311"/>
            <a:ext cx="864096" cy="895067"/>
          </a:xfrm>
          <a:prstGeom prst="rect">
            <a:avLst/>
          </a:prstGeom>
          <a:noFill/>
          <a:ln w="9525">
            <a:noFill/>
            <a:miter lim="800000"/>
            <a:headEnd/>
            <a:tailEnd/>
          </a:ln>
        </p:spPr>
      </p:pic>
      <p:pic>
        <p:nvPicPr>
          <p:cNvPr id="7" name="Picture 1">
            <a:extLst>
              <a:ext uri="{FF2B5EF4-FFF2-40B4-BE49-F238E27FC236}">
                <a16:creationId xmlns:a16="http://schemas.microsoft.com/office/drawing/2014/main" id="{B8F2343E-5DB7-45FD-9762-871210FC1EAA}"/>
              </a:ext>
            </a:extLst>
          </p:cNvPr>
          <p:cNvPicPr>
            <a:picLocks noChangeAspect="1" noChangeArrowheads="1"/>
          </p:cNvPicPr>
          <p:nvPr/>
        </p:nvPicPr>
        <p:blipFill>
          <a:blip r:embed="rId3" cstate="print"/>
          <a:srcRect l="20098" t="43953" r="67534" b="42819"/>
          <a:stretch>
            <a:fillRect/>
          </a:stretch>
        </p:blipFill>
        <p:spPr bwMode="auto">
          <a:xfrm>
            <a:off x="6304080" y="2707668"/>
            <a:ext cx="940660" cy="884684"/>
          </a:xfrm>
          <a:prstGeom prst="rect">
            <a:avLst/>
          </a:prstGeom>
          <a:noFill/>
          <a:ln w="9525">
            <a:noFill/>
            <a:miter lim="800000"/>
            <a:headEnd/>
            <a:tailEnd/>
          </a:ln>
        </p:spPr>
      </p:pic>
      <p:pic>
        <p:nvPicPr>
          <p:cNvPr id="8" name="Picture 6">
            <a:extLst>
              <a:ext uri="{FF2B5EF4-FFF2-40B4-BE49-F238E27FC236}">
                <a16:creationId xmlns:a16="http://schemas.microsoft.com/office/drawing/2014/main" id="{15C2FF1F-EB80-4E33-A985-FAB5BD205426}"/>
              </a:ext>
            </a:extLst>
          </p:cNvPr>
          <p:cNvPicPr>
            <a:picLocks noChangeAspect="1" noChangeArrowheads="1"/>
          </p:cNvPicPr>
          <p:nvPr/>
        </p:nvPicPr>
        <p:blipFill>
          <a:blip r:embed="rId4" cstate="print"/>
          <a:srcRect l="53092" t="60549" r="37632" b="25386"/>
          <a:stretch>
            <a:fillRect/>
          </a:stretch>
        </p:blipFill>
        <p:spPr bwMode="auto">
          <a:xfrm>
            <a:off x="6450374" y="3941857"/>
            <a:ext cx="648072" cy="864096"/>
          </a:xfrm>
          <a:prstGeom prst="rect">
            <a:avLst/>
          </a:prstGeom>
          <a:noFill/>
          <a:ln w="9525">
            <a:noFill/>
            <a:miter lim="800000"/>
            <a:headEnd/>
            <a:tailEnd/>
          </a:ln>
        </p:spPr>
      </p:pic>
      <p:sp>
        <p:nvSpPr>
          <p:cNvPr id="9" name="Rectangle 5"/>
          <p:cNvSpPr/>
          <p:nvPr/>
        </p:nvSpPr>
        <p:spPr>
          <a:xfrm>
            <a:off x="407874" y="723152"/>
            <a:ext cx="7204493" cy="353943"/>
          </a:xfrm>
          <a:prstGeom prst="rect">
            <a:avLst/>
          </a:prstGeom>
        </p:spPr>
        <p:txBody>
          <a:bodyPr wrap="square">
            <a:spAutoFit/>
          </a:bodyPr>
          <a:lstStyle/>
          <a:p>
            <a:r>
              <a:rPr lang="en-US" sz="1700" dirty="0">
                <a:solidFill>
                  <a:srgbClr val="438AD7"/>
                </a:solidFill>
              </a:rPr>
              <a:t> </a:t>
            </a:r>
            <a:r>
              <a:rPr lang="en-US" sz="1700" dirty="0" smtClean="0">
                <a:solidFill>
                  <a:srgbClr val="438AD7"/>
                </a:solidFill>
              </a:rPr>
              <a:t> </a:t>
            </a:r>
            <a:r>
              <a:rPr lang="en-US" sz="1600" dirty="0" smtClean="0">
                <a:solidFill>
                  <a:schemeClr val="tx1">
                    <a:lumMod val="75000"/>
                    <a:lumOff val="25000"/>
                  </a:schemeClr>
                </a:solidFill>
              </a:rPr>
              <a:t>AGREGANDO COMPORTAMIENTOS</a:t>
            </a:r>
            <a:endParaRPr lang="en-US" sz="1700" dirty="0">
              <a:solidFill>
                <a:schemeClr val="tx1">
                  <a:lumMod val="75000"/>
                  <a:lumOff val="25000"/>
                </a:schemeClr>
              </a:solidFill>
            </a:endParaRPr>
          </a:p>
        </p:txBody>
      </p:sp>
    </p:spTree>
    <p:extLst>
      <p:ext uri="{BB962C8B-B14F-4D97-AF65-F5344CB8AC3E}">
        <p14:creationId xmlns:p14="http://schemas.microsoft.com/office/powerpoint/2010/main" val="107221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495299" y="1238920"/>
            <a:ext cx="4376446" cy="3939540"/>
          </a:xfrm>
          <a:prstGeom prst="rect">
            <a:avLst/>
          </a:prstGeom>
        </p:spPr>
        <p:txBody>
          <a:bodyPr vert="horz" wrap="square" lIns="0" tIns="0" rIns="0" bIns="0" rtlCol="0">
            <a:spAutoFit/>
          </a:bodyPr>
          <a:lstStyle/>
          <a:p>
            <a:pPr marL="11725">
              <a:buSzPct val="100000"/>
              <a:tabLst>
                <a:tab pos="121285" algn="l"/>
              </a:tabLst>
            </a:pPr>
            <a:endParaRPr lang="en-US" sz="1600" spc="-10" dirty="0">
              <a:solidFill>
                <a:srgbClr val="262626"/>
              </a:solidFill>
            </a:endParaRPr>
          </a:p>
          <a:p>
            <a:pPr marL="180000" lvl="1" indent="-168275">
              <a:buSzPct val="100000"/>
              <a:buFont typeface="Arial"/>
              <a:buChar char="•"/>
              <a:tabLst>
                <a:tab pos="121285" algn="l"/>
              </a:tabLst>
            </a:pPr>
            <a:r>
              <a:rPr lang="en-US" sz="1600" b="1" spc="-10" dirty="0">
                <a:solidFill>
                  <a:srgbClr val="262626"/>
                </a:solidFill>
              </a:rPr>
              <a:t>Bound to layout</a:t>
            </a:r>
            <a:r>
              <a:rPr lang="en-US" sz="1600" spc="-10" dirty="0">
                <a:solidFill>
                  <a:srgbClr val="262626"/>
                </a:solidFill>
              </a:rPr>
              <a:t> (</a:t>
            </a:r>
            <a:r>
              <a:rPr lang="en-US" sz="1600" spc="-10" dirty="0" err="1">
                <a:solidFill>
                  <a:srgbClr val="262626"/>
                </a:solidFill>
              </a:rPr>
              <a:t>limitar</a:t>
            </a:r>
            <a:r>
              <a:rPr lang="en-US" sz="1600" spc="-10" dirty="0">
                <a:solidFill>
                  <a:srgbClr val="262626"/>
                </a:solidFill>
              </a:rPr>
              <a:t> al layout): </a:t>
            </a:r>
            <a:r>
              <a:rPr lang="en-US" sz="1600" spc="-10" dirty="0" err="1">
                <a:solidFill>
                  <a:srgbClr val="262626"/>
                </a:solidFill>
              </a:rPr>
              <a:t>esto</a:t>
            </a:r>
            <a:r>
              <a:rPr lang="en-US" sz="1600" spc="-10" dirty="0">
                <a:solidFill>
                  <a:srgbClr val="262626"/>
                </a:solidFill>
              </a:rPr>
              <a:t> </a:t>
            </a:r>
            <a:r>
              <a:rPr lang="en-US" sz="1600" spc="-10" dirty="0" err="1">
                <a:solidFill>
                  <a:srgbClr val="262626"/>
                </a:solidFill>
              </a:rPr>
              <a:t>hará</a:t>
            </a:r>
            <a:r>
              <a:rPr lang="en-US" sz="1600" spc="-10" dirty="0">
                <a:solidFill>
                  <a:srgbClr val="262626"/>
                </a:solidFill>
              </a:rPr>
              <a:t> que el </a:t>
            </a:r>
            <a:r>
              <a:rPr lang="en-US" sz="1600" spc="-10" dirty="0" err="1">
                <a:solidFill>
                  <a:srgbClr val="262626"/>
                </a:solidFill>
              </a:rPr>
              <a:t>objeto</a:t>
            </a:r>
            <a:r>
              <a:rPr lang="en-US" sz="1600" spc="-10" dirty="0">
                <a:solidFill>
                  <a:srgbClr val="262626"/>
                </a:solidFill>
              </a:rPr>
              <a:t> no </a:t>
            </a:r>
            <a:r>
              <a:rPr lang="en-US" sz="1600" spc="-10" dirty="0" err="1">
                <a:solidFill>
                  <a:srgbClr val="262626"/>
                </a:solidFill>
              </a:rPr>
              <a:t>pueda</a:t>
            </a:r>
            <a:r>
              <a:rPr lang="en-US" sz="1600" spc="-10" dirty="0">
                <a:solidFill>
                  <a:srgbClr val="262626"/>
                </a:solidFill>
              </a:rPr>
              <a:t> </a:t>
            </a:r>
            <a:r>
              <a:rPr lang="en-US" sz="1600" spc="-10" dirty="0" err="1">
                <a:solidFill>
                  <a:srgbClr val="262626"/>
                </a:solidFill>
              </a:rPr>
              <a:t>salir</a:t>
            </a:r>
            <a:r>
              <a:rPr lang="en-US" sz="1600" spc="-10" dirty="0">
                <a:solidFill>
                  <a:srgbClr val="262626"/>
                </a:solidFill>
              </a:rPr>
              <a:t> del </a:t>
            </a:r>
            <a:r>
              <a:rPr lang="en-US" sz="1600" spc="-10" dirty="0" err="1">
                <a:solidFill>
                  <a:srgbClr val="262626"/>
                </a:solidFill>
              </a:rPr>
              <a:t>área</a:t>
            </a:r>
            <a:r>
              <a:rPr lang="en-US" sz="1600" spc="-10" dirty="0">
                <a:solidFill>
                  <a:srgbClr val="262626"/>
                </a:solidFill>
              </a:rPr>
              <a:t> de layout. </a:t>
            </a:r>
          </a:p>
          <a:p>
            <a:pPr marL="180000" lvl="1" indent="-168275">
              <a:buSzPct val="100000"/>
              <a:buFont typeface="Arial"/>
              <a:buChar char="•"/>
              <a:tabLst>
                <a:tab pos="121285" algn="l"/>
              </a:tabLst>
            </a:pPr>
            <a:endParaRPr lang="en-US" sz="1600" spc="-10" dirty="0">
              <a:solidFill>
                <a:srgbClr val="262626"/>
              </a:solidFill>
            </a:endParaRPr>
          </a:p>
          <a:p>
            <a:pPr marL="180000" lvl="1" indent="-168275">
              <a:buSzPct val="100000"/>
              <a:buFont typeface="Arial"/>
              <a:buChar char="•"/>
              <a:tabLst>
                <a:tab pos="121285" algn="l"/>
              </a:tabLst>
            </a:pPr>
            <a:r>
              <a:rPr lang="en-US" sz="1600" b="1" spc="-10" dirty="0">
                <a:solidFill>
                  <a:srgbClr val="262626"/>
                </a:solidFill>
              </a:rPr>
              <a:t>Destroy outside layout</a:t>
            </a:r>
            <a:r>
              <a:rPr lang="en-US" sz="1600" spc="-10" dirty="0">
                <a:solidFill>
                  <a:srgbClr val="262626"/>
                </a:solidFill>
              </a:rPr>
              <a:t> (</a:t>
            </a:r>
            <a:r>
              <a:rPr lang="en-US" sz="1600" spc="-10" dirty="0" err="1">
                <a:solidFill>
                  <a:srgbClr val="262626"/>
                </a:solidFill>
              </a:rPr>
              <a:t>destruir</a:t>
            </a:r>
            <a:r>
              <a:rPr lang="en-US" sz="1600" spc="-10" dirty="0">
                <a:solidFill>
                  <a:srgbClr val="262626"/>
                </a:solidFill>
              </a:rPr>
              <a:t> </a:t>
            </a:r>
            <a:r>
              <a:rPr lang="en-US" sz="1600" spc="-10" dirty="0" err="1">
                <a:solidFill>
                  <a:srgbClr val="262626"/>
                </a:solidFill>
              </a:rPr>
              <a:t>si</a:t>
            </a:r>
            <a:r>
              <a:rPr lang="en-US" sz="1600" spc="-10" dirty="0">
                <a:solidFill>
                  <a:srgbClr val="262626"/>
                </a:solidFill>
              </a:rPr>
              <a:t> sale del layout): </a:t>
            </a:r>
            <a:r>
              <a:rPr lang="en-US" sz="1600" spc="-10" dirty="0" err="1">
                <a:solidFill>
                  <a:srgbClr val="262626"/>
                </a:solidFill>
              </a:rPr>
              <a:t>en</a:t>
            </a:r>
            <a:r>
              <a:rPr lang="en-US" sz="1600" spc="-10" dirty="0">
                <a:solidFill>
                  <a:srgbClr val="262626"/>
                </a:solidFill>
              </a:rPr>
              <a:t> </a:t>
            </a:r>
            <a:r>
              <a:rPr lang="en-US" sz="1600" spc="-10" dirty="0" err="1">
                <a:solidFill>
                  <a:srgbClr val="262626"/>
                </a:solidFill>
              </a:rPr>
              <a:t>vez</a:t>
            </a:r>
            <a:r>
              <a:rPr lang="en-US" sz="1600" spc="-10" dirty="0">
                <a:solidFill>
                  <a:srgbClr val="262626"/>
                </a:solidFill>
              </a:rPr>
              <a:t> de </a:t>
            </a:r>
            <a:r>
              <a:rPr lang="en-US" sz="1600" spc="-10" dirty="0" err="1">
                <a:solidFill>
                  <a:srgbClr val="262626"/>
                </a:solidFill>
              </a:rPr>
              <a:t>impedir</a:t>
            </a:r>
            <a:r>
              <a:rPr lang="en-US" sz="1600" spc="-10" dirty="0">
                <a:solidFill>
                  <a:srgbClr val="262626"/>
                </a:solidFill>
              </a:rPr>
              <a:t> la </a:t>
            </a:r>
            <a:r>
              <a:rPr lang="en-US" sz="1600" spc="-10" dirty="0" err="1">
                <a:solidFill>
                  <a:srgbClr val="262626"/>
                </a:solidFill>
              </a:rPr>
              <a:t>salida</a:t>
            </a:r>
            <a:r>
              <a:rPr lang="en-US" sz="1600" spc="-10" dirty="0">
                <a:solidFill>
                  <a:srgbClr val="262626"/>
                </a:solidFill>
              </a:rPr>
              <a:t> del </a:t>
            </a:r>
            <a:r>
              <a:rPr lang="en-US" sz="1600" spc="-10" dirty="0" err="1">
                <a:solidFill>
                  <a:srgbClr val="262626"/>
                </a:solidFill>
              </a:rPr>
              <a:t>objeto</a:t>
            </a:r>
            <a:r>
              <a:rPr lang="en-US" sz="1600" spc="-10" dirty="0">
                <a:solidFill>
                  <a:srgbClr val="262626"/>
                </a:solidFill>
              </a:rPr>
              <a:t> del layout, lo </a:t>
            </a:r>
            <a:r>
              <a:rPr lang="en-US" sz="1600" spc="-10" dirty="0" err="1">
                <a:solidFill>
                  <a:srgbClr val="262626"/>
                </a:solidFill>
              </a:rPr>
              <a:t>destruye</a:t>
            </a:r>
            <a:r>
              <a:rPr lang="en-US" sz="1600" spc="-10" dirty="0">
                <a:solidFill>
                  <a:srgbClr val="262626"/>
                </a:solidFill>
              </a:rPr>
              <a:t> </a:t>
            </a:r>
            <a:r>
              <a:rPr lang="en-US" sz="1600" spc="-10" dirty="0" err="1">
                <a:solidFill>
                  <a:srgbClr val="262626"/>
                </a:solidFill>
              </a:rPr>
              <a:t>si</a:t>
            </a:r>
            <a:r>
              <a:rPr lang="en-US" sz="1600" spc="-10" dirty="0">
                <a:solidFill>
                  <a:srgbClr val="262626"/>
                </a:solidFill>
              </a:rPr>
              <a:t> </a:t>
            </a:r>
            <a:r>
              <a:rPr lang="en-US" sz="1600" spc="-10" dirty="0" err="1">
                <a:solidFill>
                  <a:srgbClr val="262626"/>
                </a:solidFill>
              </a:rPr>
              <a:t>cruza</a:t>
            </a:r>
            <a:r>
              <a:rPr lang="en-US" sz="1600" spc="-10" dirty="0">
                <a:solidFill>
                  <a:srgbClr val="262626"/>
                </a:solidFill>
              </a:rPr>
              <a:t> </a:t>
            </a:r>
            <a:r>
              <a:rPr lang="en-US" sz="1600" spc="-10" dirty="0" err="1">
                <a:solidFill>
                  <a:srgbClr val="262626"/>
                </a:solidFill>
              </a:rPr>
              <a:t>los</a:t>
            </a:r>
            <a:r>
              <a:rPr lang="en-US" sz="1600" spc="-10" dirty="0">
                <a:solidFill>
                  <a:srgbClr val="262626"/>
                </a:solidFill>
              </a:rPr>
              <a:t> </a:t>
            </a:r>
            <a:r>
              <a:rPr lang="en-US" sz="1600" spc="-10" dirty="0" err="1">
                <a:solidFill>
                  <a:srgbClr val="262626"/>
                </a:solidFill>
              </a:rPr>
              <a:t>límites</a:t>
            </a:r>
            <a:r>
              <a:rPr lang="en-US" sz="1600" spc="-10" dirty="0">
                <a:solidFill>
                  <a:srgbClr val="262626"/>
                </a:solidFill>
              </a:rPr>
              <a:t> del </a:t>
            </a:r>
            <a:r>
              <a:rPr lang="en-US" sz="1600" spc="-10" dirty="0" err="1">
                <a:solidFill>
                  <a:srgbClr val="262626"/>
                </a:solidFill>
              </a:rPr>
              <a:t>mismo</a:t>
            </a:r>
            <a:r>
              <a:rPr lang="en-US" sz="1600" spc="-10" dirty="0">
                <a:solidFill>
                  <a:srgbClr val="262626"/>
                </a:solidFill>
              </a:rPr>
              <a:t>. </a:t>
            </a:r>
            <a:r>
              <a:rPr lang="en-US" sz="1600" spc="-10" dirty="0" err="1">
                <a:solidFill>
                  <a:srgbClr val="262626"/>
                </a:solidFill>
              </a:rPr>
              <a:t>Es</a:t>
            </a:r>
            <a:r>
              <a:rPr lang="en-US" sz="1600" spc="-10" dirty="0">
                <a:solidFill>
                  <a:srgbClr val="262626"/>
                </a:solidFill>
              </a:rPr>
              <a:t> </a:t>
            </a:r>
            <a:r>
              <a:rPr lang="en-US" sz="1600" spc="-10" dirty="0" err="1">
                <a:solidFill>
                  <a:srgbClr val="262626"/>
                </a:solidFill>
              </a:rPr>
              <a:t>muy</a:t>
            </a:r>
            <a:r>
              <a:rPr lang="en-US" sz="1600" spc="-10" dirty="0">
                <a:solidFill>
                  <a:srgbClr val="262626"/>
                </a:solidFill>
              </a:rPr>
              <a:t> </a:t>
            </a:r>
            <a:r>
              <a:rPr lang="en-US" sz="1600" spc="-10" dirty="0" err="1">
                <a:solidFill>
                  <a:srgbClr val="262626"/>
                </a:solidFill>
              </a:rPr>
              <a:t>útil</a:t>
            </a:r>
            <a:r>
              <a:rPr lang="en-US" sz="1600" spc="-10" dirty="0">
                <a:solidFill>
                  <a:srgbClr val="262626"/>
                </a:solidFill>
              </a:rPr>
              <a:t> para las </a:t>
            </a:r>
            <a:r>
              <a:rPr lang="en-US" sz="1600" spc="-10" dirty="0" err="1">
                <a:solidFill>
                  <a:srgbClr val="262626"/>
                </a:solidFill>
              </a:rPr>
              <a:t>balas</a:t>
            </a:r>
            <a:r>
              <a:rPr lang="en-US" sz="1600" spc="-10" dirty="0">
                <a:solidFill>
                  <a:srgbClr val="262626"/>
                </a:solidFill>
              </a:rPr>
              <a:t>, </a:t>
            </a:r>
            <a:r>
              <a:rPr lang="en-US" sz="1600" spc="-10" dirty="0" err="1">
                <a:solidFill>
                  <a:srgbClr val="262626"/>
                </a:solidFill>
              </a:rPr>
              <a:t>por</a:t>
            </a:r>
            <a:r>
              <a:rPr lang="en-US" sz="1600" spc="-10" dirty="0">
                <a:solidFill>
                  <a:srgbClr val="262626"/>
                </a:solidFill>
              </a:rPr>
              <a:t> </a:t>
            </a:r>
            <a:r>
              <a:rPr lang="en-US" sz="1600" spc="-10" dirty="0" err="1">
                <a:solidFill>
                  <a:srgbClr val="262626"/>
                </a:solidFill>
              </a:rPr>
              <a:t>ejemplo</a:t>
            </a:r>
            <a:r>
              <a:rPr lang="en-US" sz="1600" spc="-10" dirty="0">
                <a:solidFill>
                  <a:srgbClr val="262626"/>
                </a:solidFill>
              </a:rPr>
              <a:t>, que </a:t>
            </a:r>
            <a:r>
              <a:rPr lang="en-US" sz="1600" spc="-10" dirty="0" err="1" smtClean="0">
                <a:solidFill>
                  <a:srgbClr val="262626"/>
                </a:solidFill>
              </a:rPr>
              <a:t>si</a:t>
            </a:r>
            <a:r>
              <a:rPr lang="en-US" sz="1600" spc="-10" dirty="0" smtClean="0">
                <a:solidFill>
                  <a:srgbClr val="262626"/>
                </a:solidFill>
              </a:rPr>
              <a:t> no </a:t>
            </a:r>
            <a:r>
              <a:rPr lang="en-US" sz="1600" spc="-10" dirty="0">
                <a:solidFill>
                  <a:srgbClr val="262626"/>
                </a:solidFill>
              </a:rPr>
              <a:t>se </a:t>
            </a:r>
            <a:r>
              <a:rPr lang="en-US" sz="1600" spc="-10" dirty="0" err="1">
                <a:solidFill>
                  <a:srgbClr val="262626"/>
                </a:solidFill>
              </a:rPr>
              <a:t>quedarían</a:t>
            </a:r>
            <a:r>
              <a:rPr lang="en-US" sz="1600" spc="-10" dirty="0">
                <a:solidFill>
                  <a:srgbClr val="262626"/>
                </a:solidFill>
              </a:rPr>
              <a:t> </a:t>
            </a:r>
            <a:r>
              <a:rPr lang="en-US" sz="1600" spc="-10" dirty="0" err="1">
                <a:solidFill>
                  <a:srgbClr val="262626"/>
                </a:solidFill>
              </a:rPr>
              <a:t>flotando</a:t>
            </a:r>
            <a:r>
              <a:rPr lang="en-US" sz="1600" spc="-10" dirty="0">
                <a:solidFill>
                  <a:srgbClr val="262626"/>
                </a:solidFill>
              </a:rPr>
              <a:t> para </a:t>
            </a:r>
            <a:r>
              <a:rPr lang="en-US" sz="1600" spc="-10" dirty="0" err="1">
                <a:solidFill>
                  <a:srgbClr val="262626"/>
                </a:solidFill>
              </a:rPr>
              <a:t>siempre</a:t>
            </a:r>
            <a:r>
              <a:rPr lang="en-US" sz="1600" spc="-10" dirty="0">
                <a:solidFill>
                  <a:srgbClr val="262626"/>
                </a:solidFill>
              </a:rPr>
              <a:t> </a:t>
            </a:r>
            <a:r>
              <a:rPr lang="en-US" sz="1600" spc="-10" dirty="0" err="1">
                <a:solidFill>
                  <a:srgbClr val="262626"/>
                </a:solidFill>
              </a:rPr>
              <a:t>fuera</a:t>
            </a:r>
            <a:r>
              <a:rPr lang="en-US" sz="1600" spc="-10" dirty="0">
                <a:solidFill>
                  <a:srgbClr val="262626"/>
                </a:solidFill>
              </a:rPr>
              <a:t> del </a:t>
            </a:r>
            <a:r>
              <a:rPr lang="en-US" sz="1600" spc="-10" dirty="0" err="1">
                <a:solidFill>
                  <a:srgbClr val="262626"/>
                </a:solidFill>
              </a:rPr>
              <a:t>área</a:t>
            </a:r>
            <a:r>
              <a:rPr lang="en-US" sz="1600" spc="-10" dirty="0">
                <a:solidFill>
                  <a:srgbClr val="262626"/>
                </a:solidFill>
              </a:rPr>
              <a:t> de </a:t>
            </a:r>
            <a:r>
              <a:rPr lang="en-US" sz="1600" spc="-10" dirty="0" err="1">
                <a:solidFill>
                  <a:srgbClr val="262626"/>
                </a:solidFill>
              </a:rPr>
              <a:t>juego</a:t>
            </a:r>
            <a:r>
              <a:rPr lang="en-US" sz="1600" spc="-10" dirty="0">
                <a:solidFill>
                  <a:srgbClr val="262626"/>
                </a:solidFill>
              </a:rPr>
              <a:t>, </a:t>
            </a:r>
            <a:r>
              <a:rPr lang="en-US" sz="1600" spc="-10" dirty="0" err="1">
                <a:solidFill>
                  <a:srgbClr val="262626"/>
                </a:solidFill>
              </a:rPr>
              <a:t>consumiendo</a:t>
            </a:r>
            <a:r>
              <a:rPr lang="en-US" sz="1600" spc="-10" dirty="0">
                <a:solidFill>
                  <a:srgbClr val="262626"/>
                </a:solidFill>
              </a:rPr>
              <a:t> </a:t>
            </a:r>
            <a:r>
              <a:rPr lang="en-US" sz="1600" spc="-10" dirty="0" err="1">
                <a:solidFill>
                  <a:srgbClr val="262626"/>
                </a:solidFill>
              </a:rPr>
              <a:t>recursos</a:t>
            </a:r>
            <a:r>
              <a:rPr lang="en-US" sz="1600" spc="-10" dirty="0">
                <a:solidFill>
                  <a:srgbClr val="262626"/>
                </a:solidFill>
              </a:rPr>
              <a:t>.</a:t>
            </a:r>
          </a:p>
          <a:p>
            <a:pPr marL="180000" lvl="1" indent="-168275">
              <a:buSzPct val="100000"/>
              <a:buFont typeface="Arial"/>
              <a:buChar char="•"/>
              <a:tabLst>
                <a:tab pos="121285" algn="l"/>
              </a:tabLst>
            </a:pPr>
            <a:endParaRPr lang="en-US" sz="1600" spc="-10" dirty="0">
              <a:solidFill>
                <a:srgbClr val="262626"/>
              </a:solidFill>
            </a:endParaRPr>
          </a:p>
          <a:p>
            <a:pPr marL="180000" lvl="1" indent="-168275">
              <a:buSzPct val="100000"/>
              <a:buFont typeface="Arial"/>
              <a:buChar char="•"/>
              <a:tabLst>
                <a:tab pos="121285" algn="l"/>
              </a:tabLst>
            </a:pPr>
            <a:r>
              <a:rPr lang="en-US" sz="1600" b="1" spc="-10" dirty="0">
                <a:solidFill>
                  <a:srgbClr val="262626"/>
                </a:solidFill>
              </a:rPr>
              <a:t>Fade</a:t>
            </a:r>
            <a:r>
              <a:rPr lang="en-US" sz="1600" spc="-10" dirty="0">
                <a:solidFill>
                  <a:srgbClr val="262626"/>
                </a:solidFill>
              </a:rPr>
              <a:t> (</a:t>
            </a:r>
            <a:r>
              <a:rPr lang="en-US" sz="1600" spc="-10" dirty="0" err="1">
                <a:solidFill>
                  <a:srgbClr val="262626"/>
                </a:solidFill>
              </a:rPr>
              <a:t>desvancer</a:t>
            </a:r>
            <a:r>
              <a:rPr lang="en-US" sz="1600" spc="-10" dirty="0">
                <a:solidFill>
                  <a:srgbClr val="262626"/>
                </a:solidFill>
              </a:rPr>
              <a:t>): </a:t>
            </a:r>
            <a:r>
              <a:rPr lang="en-US" sz="1600" spc="-10" dirty="0" err="1">
                <a:solidFill>
                  <a:srgbClr val="262626"/>
                </a:solidFill>
              </a:rPr>
              <a:t>esto</a:t>
            </a:r>
            <a:r>
              <a:rPr lang="en-US" sz="1600" spc="-10" dirty="0">
                <a:solidFill>
                  <a:srgbClr val="262626"/>
                </a:solidFill>
              </a:rPr>
              <a:t> </a:t>
            </a:r>
            <a:r>
              <a:rPr lang="en-US" sz="1600" spc="-10" dirty="0" err="1">
                <a:solidFill>
                  <a:srgbClr val="262626"/>
                </a:solidFill>
              </a:rPr>
              <a:t>hace</a:t>
            </a:r>
            <a:r>
              <a:rPr lang="en-US" sz="1600" spc="-10" dirty="0">
                <a:solidFill>
                  <a:srgbClr val="262626"/>
                </a:solidFill>
              </a:rPr>
              <a:t> que el </a:t>
            </a:r>
            <a:r>
              <a:rPr lang="en-US" sz="1600" spc="-10" dirty="0" err="1">
                <a:solidFill>
                  <a:srgbClr val="262626"/>
                </a:solidFill>
              </a:rPr>
              <a:t>objeto</a:t>
            </a:r>
            <a:r>
              <a:rPr lang="en-US" sz="1600" spc="-10" dirty="0">
                <a:solidFill>
                  <a:srgbClr val="262626"/>
                </a:solidFill>
              </a:rPr>
              <a:t> </a:t>
            </a:r>
            <a:r>
              <a:rPr lang="en-US" sz="1600" spc="-10" dirty="0" err="1">
                <a:solidFill>
                  <a:srgbClr val="262626"/>
                </a:solidFill>
              </a:rPr>
              <a:t>desaparezca</a:t>
            </a:r>
            <a:r>
              <a:rPr lang="en-US" sz="1600" spc="-10" dirty="0">
                <a:solidFill>
                  <a:srgbClr val="262626"/>
                </a:solidFill>
              </a:rPr>
              <a:t> </a:t>
            </a:r>
            <a:r>
              <a:rPr lang="en-US" sz="1600" spc="-10" dirty="0" err="1">
                <a:solidFill>
                  <a:srgbClr val="262626"/>
                </a:solidFill>
              </a:rPr>
              <a:t>gradualmente</a:t>
            </a:r>
            <a:r>
              <a:rPr lang="en-US" sz="1600" spc="-10" dirty="0">
                <a:solidFill>
                  <a:srgbClr val="262626"/>
                </a:solidFill>
              </a:rPr>
              <a:t>.  </a:t>
            </a:r>
            <a:endParaRPr lang="es-PE" sz="1600" spc="-10" dirty="0">
              <a:solidFill>
                <a:srgbClr val="262626"/>
              </a:solidFill>
            </a:endParaRPr>
          </a:p>
          <a:p>
            <a:pPr marL="180000" indent="-168275">
              <a:buSzPct val="100000"/>
              <a:buFont typeface="Arial"/>
              <a:buChar char="•"/>
              <a:tabLst>
                <a:tab pos="121285" algn="l"/>
              </a:tabLst>
            </a:pPr>
            <a:endParaRPr lang="es-PE" sz="1600" spc="-10" dirty="0">
              <a:solidFill>
                <a:srgbClr val="262626"/>
              </a:solidFill>
            </a:endParaRPr>
          </a:p>
          <a:p>
            <a:pPr marL="11725">
              <a:buSzPct val="100000"/>
              <a:tabLst>
                <a:tab pos="121285" algn="l"/>
              </a:tabLst>
            </a:pPr>
            <a:r>
              <a:rPr lang="en-US" sz="1600" spc="-10" dirty="0">
                <a:solidFill>
                  <a:srgbClr val="262626"/>
                </a:solidFill>
              </a:rPr>
              <a:t/>
            </a:r>
            <a:br>
              <a:rPr lang="en-US" sz="1600" spc="-10" dirty="0">
                <a:solidFill>
                  <a:srgbClr val="262626"/>
                </a:solidFill>
              </a:rPr>
            </a:br>
            <a:endParaRPr lang="en-US" sz="1600" spc="-10" dirty="0">
              <a:solidFill>
                <a:srgbClr val="262626"/>
              </a:solidFill>
            </a:endParaRPr>
          </a:p>
        </p:txBody>
      </p:sp>
      <p:sp>
        <p:nvSpPr>
          <p:cNvPr id="5"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a:t>
            </a:r>
            <a:r>
              <a:rPr lang="en-US" sz="1700" dirty="0" smtClean="0">
                <a:solidFill>
                  <a:srgbClr val="438AD7"/>
                </a:solidFill>
              </a:rPr>
              <a:t>COMPORTAMIENTOS</a:t>
            </a:r>
            <a:endParaRPr lang="en-US" sz="1700" dirty="0">
              <a:solidFill>
                <a:srgbClr val="438AD7"/>
              </a:solidFill>
            </a:endParaRPr>
          </a:p>
        </p:txBody>
      </p:sp>
      <p:pic>
        <p:nvPicPr>
          <p:cNvPr id="9" name="Picture 2">
            <a:extLst>
              <a:ext uri="{FF2B5EF4-FFF2-40B4-BE49-F238E27FC236}">
                <a16:creationId xmlns:a16="http://schemas.microsoft.com/office/drawing/2014/main" id="{5CE29E65-8154-43ED-B3A6-C74AA441923B}"/>
              </a:ext>
            </a:extLst>
          </p:cNvPr>
          <p:cNvPicPr>
            <a:picLocks noChangeAspect="1" noChangeArrowheads="1"/>
          </p:cNvPicPr>
          <p:nvPr/>
        </p:nvPicPr>
        <p:blipFill>
          <a:blip r:embed="rId3" cstate="print"/>
          <a:srcRect l="18552" t="42195" r="64981" b="40224"/>
          <a:stretch>
            <a:fillRect/>
          </a:stretch>
        </p:blipFill>
        <p:spPr bwMode="auto">
          <a:xfrm>
            <a:off x="6085312" y="2684996"/>
            <a:ext cx="1115616" cy="1047389"/>
          </a:xfrm>
          <a:prstGeom prst="rect">
            <a:avLst/>
          </a:prstGeom>
          <a:noFill/>
          <a:ln w="9525">
            <a:noFill/>
            <a:miter lim="800000"/>
            <a:headEnd/>
            <a:tailEnd/>
          </a:ln>
        </p:spPr>
      </p:pic>
      <p:pic>
        <p:nvPicPr>
          <p:cNvPr id="10" name="Picture 3">
            <a:extLst>
              <a:ext uri="{FF2B5EF4-FFF2-40B4-BE49-F238E27FC236}">
                <a16:creationId xmlns:a16="http://schemas.microsoft.com/office/drawing/2014/main" id="{399632EF-07C3-4573-ACB7-E69ABDA92A0C}"/>
              </a:ext>
            </a:extLst>
          </p:cNvPr>
          <p:cNvPicPr>
            <a:picLocks noChangeAspect="1" noChangeArrowheads="1"/>
          </p:cNvPicPr>
          <p:nvPr/>
        </p:nvPicPr>
        <p:blipFill>
          <a:blip r:embed="rId3" cstate="print"/>
          <a:srcRect l="53092" t="42968" r="37632" b="42967"/>
          <a:stretch>
            <a:fillRect/>
          </a:stretch>
        </p:blipFill>
        <p:spPr bwMode="auto">
          <a:xfrm>
            <a:off x="6265078" y="3905210"/>
            <a:ext cx="756084" cy="1008112"/>
          </a:xfrm>
          <a:prstGeom prst="rect">
            <a:avLst/>
          </a:prstGeom>
          <a:noFill/>
          <a:ln w="9525">
            <a:noFill/>
            <a:miter lim="800000"/>
            <a:headEnd/>
            <a:tailEnd/>
          </a:ln>
        </p:spPr>
      </p:pic>
      <p:pic>
        <p:nvPicPr>
          <p:cNvPr id="11" name="Picture 6">
            <a:extLst>
              <a:ext uri="{FF2B5EF4-FFF2-40B4-BE49-F238E27FC236}">
                <a16:creationId xmlns:a16="http://schemas.microsoft.com/office/drawing/2014/main" id="{76CDEF78-E92B-444D-8CDB-458715563D0B}"/>
              </a:ext>
            </a:extLst>
          </p:cNvPr>
          <p:cNvPicPr>
            <a:picLocks noChangeAspect="1" noChangeArrowheads="1"/>
          </p:cNvPicPr>
          <p:nvPr/>
        </p:nvPicPr>
        <p:blipFill>
          <a:blip r:embed="rId4" cstate="print"/>
          <a:srcRect l="21644" t="42968" r="68462" b="41209"/>
          <a:stretch>
            <a:fillRect/>
          </a:stretch>
        </p:blipFill>
        <p:spPr bwMode="auto">
          <a:xfrm>
            <a:off x="6283080" y="1466093"/>
            <a:ext cx="720080" cy="1012613"/>
          </a:xfrm>
          <a:prstGeom prst="rect">
            <a:avLst/>
          </a:prstGeom>
          <a:noFill/>
          <a:ln w="9525">
            <a:noFill/>
            <a:miter lim="800000"/>
            <a:headEnd/>
            <a:tailEnd/>
          </a:ln>
        </p:spPr>
      </p:pic>
      <p:sp>
        <p:nvSpPr>
          <p:cNvPr id="7" name="Rectangle 5"/>
          <p:cNvSpPr/>
          <p:nvPr/>
        </p:nvSpPr>
        <p:spPr>
          <a:xfrm>
            <a:off x="407874" y="723152"/>
            <a:ext cx="7204493" cy="353943"/>
          </a:xfrm>
          <a:prstGeom prst="rect">
            <a:avLst/>
          </a:prstGeom>
        </p:spPr>
        <p:txBody>
          <a:bodyPr wrap="square">
            <a:spAutoFit/>
          </a:bodyPr>
          <a:lstStyle/>
          <a:p>
            <a:r>
              <a:rPr lang="en-US" sz="1700" dirty="0">
                <a:solidFill>
                  <a:srgbClr val="438AD7"/>
                </a:solidFill>
              </a:rPr>
              <a:t> </a:t>
            </a:r>
            <a:r>
              <a:rPr lang="en-US" sz="1700" dirty="0" smtClean="0">
                <a:solidFill>
                  <a:srgbClr val="438AD7"/>
                </a:solidFill>
              </a:rPr>
              <a:t> </a:t>
            </a:r>
            <a:r>
              <a:rPr lang="en-US" sz="1600" dirty="0" smtClean="0">
                <a:solidFill>
                  <a:schemeClr val="tx1">
                    <a:lumMod val="75000"/>
                    <a:lumOff val="25000"/>
                  </a:schemeClr>
                </a:solidFill>
              </a:rPr>
              <a:t>AGREGANDO COMPORTAMIENTOS</a:t>
            </a:r>
            <a:endParaRPr lang="en-US" sz="1700" dirty="0">
              <a:solidFill>
                <a:schemeClr val="tx1">
                  <a:lumMod val="75000"/>
                  <a:lumOff val="25000"/>
                </a:schemeClr>
              </a:solidFill>
            </a:endParaRPr>
          </a:p>
        </p:txBody>
      </p:sp>
    </p:spTree>
    <p:extLst>
      <p:ext uri="{BB962C8B-B14F-4D97-AF65-F5344CB8AC3E}">
        <p14:creationId xmlns:p14="http://schemas.microsoft.com/office/powerpoint/2010/main" val="2330455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7"/>
          <p:cNvSpPr txBox="1"/>
          <p:nvPr/>
        </p:nvSpPr>
        <p:spPr>
          <a:xfrm>
            <a:off x="495298" y="810908"/>
            <a:ext cx="8083883" cy="1969770"/>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smtClean="0">
                <a:solidFill>
                  <a:srgbClr val="262626"/>
                </a:solidFill>
              </a:rPr>
              <a:t>¿Cómo </a:t>
            </a:r>
            <a:r>
              <a:rPr lang="es-PE" sz="1600" spc="-10" dirty="0">
                <a:solidFill>
                  <a:srgbClr val="262626"/>
                </a:solidFill>
              </a:rPr>
              <a:t>agregar un comportamiento? Agreguemos movimiento en 8 direcciones para el personaje  principal:</a:t>
            </a:r>
          </a:p>
          <a:p>
            <a:pPr marL="637200" lvl="2" indent="-168275">
              <a:buSzPct val="100000"/>
              <a:buFont typeface="Arial"/>
              <a:buChar char="•"/>
              <a:tabLst>
                <a:tab pos="121285" algn="l"/>
              </a:tabLst>
            </a:pPr>
            <a:r>
              <a:rPr lang="es-PE" sz="1600" spc="-10" dirty="0">
                <a:solidFill>
                  <a:srgbClr val="262626"/>
                </a:solidFill>
              </a:rPr>
              <a:t>Seleccionamos al personaje principal</a:t>
            </a:r>
          </a:p>
          <a:p>
            <a:pPr marL="637200" lvl="2" indent="-168275">
              <a:buSzPct val="100000"/>
              <a:buFont typeface="Arial"/>
              <a:buChar char="•"/>
              <a:tabLst>
                <a:tab pos="121285" algn="l"/>
              </a:tabLst>
            </a:pPr>
            <a:r>
              <a:rPr lang="es-PE" sz="1600" spc="-10" dirty="0">
                <a:solidFill>
                  <a:srgbClr val="262626"/>
                </a:solidFill>
              </a:rPr>
              <a:t>Dentro de la barra de propiedades, en </a:t>
            </a:r>
            <a:r>
              <a:rPr lang="es-PE" sz="1600" spc="-10" dirty="0" err="1">
                <a:solidFill>
                  <a:srgbClr val="262626"/>
                </a:solidFill>
              </a:rPr>
              <a:t>Edit</a:t>
            </a:r>
            <a:r>
              <a:rPr lang="es-PE" sz="1600" spc="-10" dirty="0">
                <a:solidFill>
                  <a:srgbClr val="262626"/>
                </a:solidFill>
              </a:rPr>
              <a:t> </a:t>
            </a:r>
            <a:r>
              <a:rPr lang="es-PE" sz="1600" spc="-10" dirty="0" err="1">
                <a:solidFill>
                  <a:srgbClr val="262626"/>
                </a:solidFill>
              </a:rPr>
              <a:t>Behaviors</a:t>
            </a:r>
            <a:r>
              <a:rPr lang="es-PE" sz="1600" spc="-10" dirty="0">
                <a:solidFill>
                  <a:srgbClr val="262626"/>
                </a:solidFill>
              </a:rPr>
              <a:t>, seleccionar </a:t>
            </a:r>
            <a:r>
              <a:rPr lang="es-PE" sz="1600" spc="-10" dirty="0" err="1">
                <a:solidFill>
                  <a:srgbClr val="262626"/>
                </a:solidFill>
              </a:rPr>
              <a:t>Add</a:t>
            </a:r>
            <a:r>
              <a:rPr lang="es-PE" sz="1600" spc="-10" dirty="0">
                <a:solidFill>
                  <a:srgbClr val="262626"/>
                </a:solidFill>
              </a:rPr>
              <a:t>/Edit. </a:t>
            </a:r>
          </a:p>
          <a:p>
            <a:pPr marL="637200" lvl="2" indent="-168275">
              <a:buSzPct val="100000"/>
              <a:buFont typeface="Arial"/>
              <a:buChar char="•"/>
              <a:tabLst>
                <a:tab pos="121285" algn="l"/>
              </a:tabLst>
            </a:pPr>
            <a:r>
              <a:rPr lang="es-PE" sz="1600" spc="-10" dirty="0">
                <a:solidFill>
                  <a:srgbClr val="262626"/>
                </a:solidFill>
              </a:rPr>
              <a:t>Cliquear en el símbolo de “+”</a:t>
            </a:r>
          </a:p>
          <a:p>
            <a:pPr marL="637200" lvl="2" indent="-168275">
              <a:buSzPct val="100000"/>
              <a:buFont typeface="Arial"/>
              <a:buChar char="•"/>
              <a:tabLst>
                <a:tab pos="121285" algn="l"/>
              </a:tabLst>
            </a:pPr>
            <a:r>
              <a:rPr lang="es-PE" sz="1600" spc="-10" dirty="0">
                <a:solidFill>
                  <a:srgbClr val="262626"/>
                </a:solidFill>
              </a:rPr>
              <a:t>Seleccionar “8 </a:t>
            </a:r>
            <a:r>
              <a:rPr lang="es-PE" sz="1600" spc="-10" dirty="0" err="1">
                <a:solidFill>
                  <a:srgbClr val="262626"/>
                </a:solidFill>
              </a:rPr>
              <a:t>direction</a:t>
            </a:r>
            <a:r>
              <a:rPr lang="es-PE" sz="1600" spc="-10" dirty="0">
                <a:solidFill>
                  <a:srgbClr val="262626"/>
                </a:solidFill>
              </a:rPr>
              <a:t>”.</a:t>
            </a:r>
          </a:p>
          <a:p>
            <a:pPr marL="11725">
              <a:buSzPct val="100000"/>
              <a:tabLst>
                <a:tab pos="121285" algn="l"/>
              </a:tabLst>
            </a:pPr>
            <a:r>
              <a:rPr lang="en-US" sz="1600" spc="-10" dirty="0">
                <a:solidFill>
                  <a:srgbClr val="262626"/>
                </a:solidFill>
                <a:cs typeface="Source Sans Pro"/>
              </a:rPr>
              <a:t/>
            </a:r>
            <a:br>
              <a:rPr lang="en-US" sz="1600" spc="-10" dirty="0">
                <a:solidFill>
                  <a:srgbClr val="262626"/>
                </a:solidFill>
                <a:cs typeface="Source Sans Pro"/>
              </a:rPr>
            </a:br>
            <a:endParaRPr lang="en-US" sz="1600" spc="-10" dirty="0">
              <a:solidFill>
                <a:srgbClr val="262626"/>
              </a:solidFill>
              <a:cs typeface="Source Sans Pro"/>
            </a:endParaRPr>
          </a:p>
        </p:txBody>
      </p:sp>
      <p:sp>
        <p:nvSpPr>
          <p:cNvPr id="10"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a:t>
            </a:r>
            <a:r>
              <a:rPr lang="en-US" sz="1700" dirty="0" smtClean="0">
                <a:solidFill>
                  <a:srgbClr val="438AD7"/>
                </a:solidFill>
              </a:rPr>
              <a:t>COMPORTAMIENTOS</a:t>
            </a:r>
            <a:endParaRPr lang="en-US" sz="1700" dirty="0">
              <a:solidFill>
                <a:srgbClr val="438AD7"/>
              </a:solidFill>
            </a:endParaRPr>
          </a:p>
        </p:txBody>
      </p:sp>
      <p:pic>
        <p:nvPicPr>
          <p:cNvPr id="7" name="Picture 2" descr="Opening the Behaviors dialog.">
            <a:extLst>
              <a:ext uri="{FF2B5EF4-FFF2-40B4-BE49-F238E27FC236}">
                <a16:creationId xmlns:a16="http://schemas.microsoft.com/office/drawing/2014/main" id="{D7C0F721-7AEA-4145-A675-BAEAFB2CF8DA}"/>
              </a:ext>
            </a:extLst>
          </p:cNvPr>
          <p:cNvPicPr>
            <a:picLocks noChangeAspect="1" noChangeArrowheads="1"/>
          </p:cNvPicPr>
          <p:nvPr/>
        </p:nvPicPr>
        <p:blipFill>
          <a:blip r:embed="rId3" cstate="print"/>
          <a:srcRect/>
          <a:stretch>
            <a:fillRect/>
          </a:stretch>
        </p:blipFill>
        <p:spPr bwMode="auto">
          <a:xfrm>
            <a:off x="1571600" y="2542046"/>
            <a:ext cx="4800600" cy="2371726"/>
          </a:xfrm>
          <a:prstGeom prst="rect">
            <a:avLst/>
          </a:prstGeom>
          <a:noFill/>
        </p:spPr>
      </p:pic>
      <p:pic>
        <p:nvPicPr>
          <p:cNvPr id="8" name="Picture 3">
            <a:extLst>
              <a:ext uri="{FF2B5EF4-FFF2-40B4-BE49-F238E27FC236}">
                <a16:creationId xmlns:a16="http://schemas.microsoft.com/office/drawing/2014/main" id="{23E39101-6AC7-4EE4-91D1-F18EA716DAB4}"/>
              </a:ext>
            </a:extLst>
          </p:cNvPr>
          <p:cNvPicPr>
            <a:picLocks noChangeAspect="1" noChangeArrowheads="1"/>
          </p:cNvPicPr>
          <p:nvPr/>
        </p:nvPicPr>
        <p:blipFill>
          <a:blip r:embed="rId4" cstate="print"/>
          <a:srcRect l="3620" t="39451" r="77828" b="41210"/>
          <a:stretch>
            <a:fillRect/>
          </a:stretch>
        </p:blipFill>
        <p:spPr bwMode="auto">
          <a:xfrm>
            <a:off x="6900192" y="3118110"/>
            <a:ext cx="1080120" cy="99011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885912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7"/>
          <p:cNvSpPr txBox="1"/>
          <p:nvPr/>
        </p:nvSpPr>
        <p:spPr>
          <a:xfrm>
            <a:off x="495298" y="810908"/>
            <a:ext cx="8083883" cy="1231106"/>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rPr>
              <a:t>Agreguemos dos comportamientos adicionales muy importantes para el personaje principal:</a:t>
            </a:r>
          </a:p>
          <a:p>
            <a:pPr marL="637200" lvl="2" indent="-168275">
              <a:buSzPct val="100000"/>
              <a:buFont typeface="Arial"/>
              <a:buChar char="•"/>
              <a:tabLst>
                <a:tab pos="121285" algn="l"/>
              </a:tabLst>
            </a:pPr>
            <a:r>
              <a:rPr lang="es-PE" sz="1600" spc="-10" dirty="0" err="1">
                <a:solidFill>
                  <a:srgbClr val="262626"/>
                </a:solidFill>
              </a:rPr>
              <a:t>Scroll</a:t>
            </a:r>
            <a:r>
              <a:rPr lang="es-PE" sz="1600" spc="-10" dirty="0">
                <a:solidFill>
                  <a:srgbClr val="262626"/>
                </a:solidFill>
              </a:rPr>
              <a:t> </a:t>
            </a:r>
            <a:r>
              <a:rPr lang="es-PE" sz="1600" spc="-10" dirty="0" err="1">
                <a:solidFill>
                  <a:srgbClr val="262626"/>
                </a:solidFill>
              </a:rPr>
              <a:t>to</a:t>
            </a:r>
            <a:endParaRPr lang="es-PE" sz="1600" spc="-10" dirty="0">
              <a:solidFill>
                <a:srgbClr val="262626"/>
              </a:solidFill>
            </a:endParaRPr>
          </a:p>
          <a:p>
            <a:pPr marL="637200" lvl="2" indent="-168275">
              <a:buSzPct val="100000"/>
              <a:buFont typeface="Arial"/>
              <a:buChar char="•"/>
              <a:tabLst>
                <a:tab pos="121285" algn="l"/>
              </a:tabLst>
            </a:pPr>
            <a:r>
              <a:rPr lang="es-PE" sz="1600" spc="-10" dirty="0" err="1">
                <a:solidFill>
                  <a:srgbClr val="262626"/>
                </a:solidFill>
              </a:rPr>
              <a:t>Bound</a:t>
            </a:r>
            <a:r>
              <a:rPr lang="es-PE" sz="1600" spc="-10" dirty="0">
                <a:solidFill>
                  <a:srgbClr val="262626"/>
                </a:solidFill>
              </a:rPr>
              <a:t> </a:t>
            </a:r>
            <a:r>
              <a:rPr lang="es-PE" sz="1600" spc="-10" dirty="0" err="1">
                <a:solidFill>
                  <a:srgbClr val="262626"/>
                </a:solidFill>
              </a:rPr>
              <a:t>to</a:t>
            </a:r>
            <a:r>
              <a:rPr lang="es-PE" sz="1600" spc="-10" dirty="0">
                <a:solidFill>
                  <a:srgbClr val="262626"/>
                </a:solidFill>
              </a:rPr>
              <a:t> </a:t>
            </a:r>
            <a:r>
              <a:rPr lang="es-PE" sz="1600" spc="-10" dirty="0" err="1">
                <a:solidFill>
                  <a:srgbClr val="262626"/>
                </a:solidFill>
              </a:rPr>
              <a:t>layout</a:t>
            </a:r>
            <a:endParaRPr lang="es-PE" sz="1600" spc="-10" dirty="0">
              <a:solidFill>
                <a:srgbClr val="262626"/>
              </a:solidFill>
            </a:endParaRPr>
          </a:p>
          <a:p>
            <a:pPr marL="637200" lvl="2" indent="-168275">
              <a:buSzPct val="100000"/>
              <a:buFont typeface="Arial"/>
              <a:buChar char="•"/>
              <a:tabLst>
                <a:tab pos="121285" algn="l"/>
              </a:tabLst>
            </a:pPr>
            <a:r>
              <a:rPr lang="es-PE" sz="1600" spc="-10" dirty="0">
                <a:solidFill>
                  <a:srgbClr val="262626"/>
                </a:solidFill>
              </a:rPr>
              <a:t>¿Para qué nos sirven esos dos últimos comportamientos que agregamos al </a:t>
            </a:r>
            <a:r>
              <a:rPr lang="es-PE" sz="1600" spc="-10" dirty="0" err="1">
                <a:solidFill>
                  <a:srgbClr val="262626"/>
                </a:solidFill>
              </a:rPr>
              <a:t>player</a:t>
            </a:r>
            <a:r>
              <a:rPr lang="es-PE" sz="1600" spc="-10" dirty="0">
                <a:solidFill>
                  <a:srgbClr val="262626"/>
                </a:solidFill>
              </a:rPr>
              <a:t>?</a:t>
            </a:r>
            <a:r>
              <a:rPr lang="en-US" sz="1600" spc="-10" dirty="0">
                <a:solidFill>
                  <a:srgbClr val="262626"/>
                </a:solidFill>
                <a:cs typeface="Source Sans Pro"/>
              </a:rPr>
              <a:t/>
            </a:r>
            <a:br>
              <a:rPr lang="en-US" sz="1600" spc="-10" dirty="0">
                <a:solidFill>
                  <a:srgbClr val="262626"/>
                </a:solidFill>
                <a:cs typeface="Source Sans Pro"/>
              </a:rPr>
            </a:br>
            <a:endParaRPr lang="en-US" sz="1600" spc="-10" dirty="0">
              <a:solidFill>
                <a:srgbClr val="262626"/>
              </a:solidFill>
              <a:cs typeface="Source Sans Pro"/>
            </a:endParaRPr>
          </a:p>
        </p:txBody>
      </p:sp>
      <p:sp>
        <p:nvSpPr>
          <p:cNvPr id="10"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a:t>
            </a:r>
            <a:r>
              <a:rPr lang="en-US" sz="1700" dirty="0" smtClean="0">
                <a:solidFill>
                  <a:srgbClr val="438AD7"/>
                </a:solidFill>
              </a:rPr>
              <a:t>COMPORTAMIENTOS</a:t>
            </a:r>
            <a:endParaRPr lang="en-US" sz="1700" dirty="0">
              <a:solidFill>
                <a:srgbClr val="438AD7"/>
              </a:solidFill>
            </a:endParaRPr>
          </a:p>
        </p:txBody>
      </p:sp>
      <p:pic>
        <p:nvPicPr>
          <p:cNvPr id="11" name="Picture 2" descr="The Player with all three behaviors added.">
            <a:extLst>
              <a:ext uri="{FF2B5EF4-FFF2-40B4-BE49-F238E27FC236}">
                <a16:creationId xmlns:a16="http://schemas.microsoft.com/office/drawing/2014/main" id="{4EF649F3-84A3-48B9-BE4A-C4564B9303BD}"/>
              </a:ext>
            </a:extLst>
          </p:cNvPr>
          <p:cNvPicPr>
            <a:picLocks noChangeAspect="1" noChangeArrowheads="1"/>
          </p:cNvPicPr>
          <p:nvPr/>
        </p:nvPicPr>
        <p:blipFill>
          <a:blip r:embed="rId3" cstate="print"/>
          <a:srcRect/>
          <a:stretch>
            <a:fillRect/>
          </a:stretch>
        </p:blipFill>
        <p:spPr bwMode="auto">
          <a:xfrm>
            <a:off x="4054475" y="2571355"/>
            <a:ext cx="2828925" cy="1809751"/>
          </a:xfrm>
          <a:prstGeom prst="rect">
            <a:avLst/>
          </a:prstGeom>
          <a:noFill/>
        </p:spPr>
      </p:pic>
      <p:pic>
        <p:nvPicPr>
          <p:cNvPr id="12" name="Picture 6">
            <a:extLst>
              <a:ext uri="{FF2B5EF4-FFF2-40B4-BE49-F238E27FC236}">
                <a16:creationId xmlns:a16="http://schemas.microsoft.com/office/drawing/2014/main" id="{DDBEFFF2-86B8-444C-9948-34922AF84732}"/>
              </a:ext>
            </a:extLst>
          </p:cNvPr>
          <p:cNvPicPr>
            <a:picLocks noChangeAspect="1" noChangeArrowheads="1"/>
          </p:cNvPicPr>
          <p:nvPr/>
        </p:nvPicPr>
        <p:blipFill>
          <a:blip r:embed="rId4" cstate="print"/>
          <a:srcRect l="53092" t="60549" r="37632" b="25386"/>
          <a:stretch>
            <a:fillRect/>
          </a:stretch>
        </p:blipFill>
        <p:spPr bwMode="auto">
          <a:xfrm>
            <a:off x="1822227" y="2715371"/>
            <a:ext cx="648072" cy="864096"/>
          </a:xfrm>
          <a:prstGeom prst="rect">
            <a:avLst/>
          </a:prstGeom>
          <a:noFill/>
          <a:ln w="9525">
            <a:noFill/>
            <a:miter lim="800000"/>
            <a:headEnd/>
            <a:tailEnd/>
          </a:ln>
        </p:spPr>
      </p:pic>
      <p:pic>
        <p:nvPicPr>
          <p:cNvPr id="13" name="Picture 6">
            <a:extLst>
              <a:ext uri="{FF2B5EF4-FFF2-40B4-BE49-F238E27FC236}">
                <a16:creationId xmlns:a16="http://schemas.microsoft.com/office/drawing/2014/main" id="{66ABFF9A-BD79-42AF-B761-339BA5985151}"/>
              </a:ext>
            </a:extLst>
          </p:cNvPr>
          <p:cNvPicPr>
            <a:picLocks noChangeAspect="1" noChangeArrowheads="1"/>
          </p:cNvPicPr>
          <p:nvPr/>
        </p:nvPicPr>
        <p:blipFill>
          <a:blip r:embed="rId4" cstate="print"/>
          <a:srcRect l="21644" t="42968" r="68462" b="41209"/>
          <a:stretch>
            <a:fillRect/>
          </a:stretch>
        </p:blipFill>
        <p:spPr bwMode="auto">
          <a:xfrm>
            <a:off x="2539355" y="2696665"/>
            <a:ext cx="720080" cy="1012613"/>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490509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7"/>
          <p:cNvSpPr txBox="1"/>
          <p:nvPr/>
        </p:nvSpPr>
        <p:spPr>
          <a:xfrm>
            <a:off x="495298" y="810908"/>
            <a:ext cx="8083883" cy="2215991"/>
          </a:xfrm>
          <a:prstGeom prst="rect">
            <a:avLst/>
          </a:prstGeom>
        </p:spPr>
        <p:txBody>
          <a:bodyPr vert="horz" wrap="square" lIns="0" tIns="0" rIns="0" bIns="0" rtlCol="0">
            <a:spAutoFit/>
          </a:bodyPr>
          <a:lstStyle/>
          <a:p>
            <a:pPr marL="180000" lvl="1" indent="-168275">
              <a:buSzPct val="100000"/>
              <a:buFont typeface="Arial"/>
              <a:buChar char="•"/>
              <a:tabLst>
                <a:tab pos="121285" algn="l"/>
              </a:tabLst>
            </a:pPr>
            <a:r>
              <a:rPr lang="es-PE" sz="1600" spc="-10" dirty="0">
                <a:solidFill>
                  <a:srgbClr val="262626"/>
                </a:solidFill>
              </a:rPr>
              <a:t>Probemos los comportamientos que acabamos de crear:</a:t>
            </a:r>
          </a:p>
          <a:p>
            <a:pPr marL="637200" lvl="3" indent="-168275">
              <a:buSzPct val="100000"/>
              <a:buFont typeface="Arial"/>
              <a:buChar char="•"/>
              <a:tabLst>
                <a:tab pos="121285" algn="l"/>
              </a:tabLst>
            </a:pPr>
            <a:r>
              <a:rPr lang="es-PE" sz="1600" spc="-10" dirty="0">
                <a:solidFill>
                  <a:srgbClr val="262626"/>
                </a:solidFill>
              </a:rPr>
              <a:t>Pónganse a una distancia segura de la PC.</a:t>
            </a:r>
          </a:p>
          <a:p>
            <a:pPr marL="637200" lvl="3" indent="-168275">
              <a:buSzPct val="100000"/>
              <a:buFont typeface="Arial"/>
              <a:buChar char="•"/>
              <a:tabLst>
                <a:tab pos="121285" algn="l"/>
              </a:tabLst>
            </a:pPr>
            <a:r>
              <a:rPr lang="es-PE" sz="1600" spc="-10" dirty="0">
                <a:solidFill>
                  <a:srgbClr val="262626"/>
                </a:solidFill>
              </a:rPr>
              <a:t>Cúbranse.</a:t>
            </a:r>
          </a:p>
          <a:p>
            <a:pPr marL="637200" lvl="3" indent="-168275">
              <a:buSzPct val="100000"/>
              <a:buFont typeface="Arial"/>
              <a:buChar char="•"/>
              <a:tabLst>
                <a:tab pos="121285" algn="l"/>
              </a:tabLst>
            </a:pPr>
            <a:r>
              <a:rPr lang="es-PE" sz="1600" spc="-10" dirty="0">
                <a:solidFill>
                  <a:srgbClr val="262626"/>
                </a:solidFill>
              </a:rPr>
              <a:t>Clic al botón RUN.</a:t>
            </a:r>
          </a:p>
          <a:p>
            <a:pPr marL="637200" lvl="3" indent="-168275">
              <a:buSzPct val="100000"/>
              <a:buFont typeface="Arial"/>
              <a:buChar char="•"/>
              <a:tabLst>
                <a:tab pos="121285" algn="l"/>
              </a:tabLst>
            </a:pPr>
            <a:r>
              <a:rPr lang="es-PE" sz="1600" spc="-10" dirty="0">
                <a:solidFill>
                  <a:srgbClr val="262626"/>
                </a:solidFill>
              </a:rPr>
              <a:t>Corran y busquen refugio inmediato.</a:t>
            </a:r>
          </a:p>
          <a:p>
            <a:pPr marL="637200" lvl="3" indent="-168275">
              <a:buSzPct val="100000"/>
              <a:buFont typeface="Arial"/>
              <a:buChar char="•"/>
              <a:tabLst>
                <a:tab pos="121285" algn="l"/>
              </a:tabLst>
            </a:pPr>
            <a:r>
              <a:rPr lang="es-PE" sz="1600" spc="-10" dirty="0">
                <a:solidFill>
                  <a:srgbClr val="262626"/>
                </a:solidFill>
              </a:rPr>
              <a:t>Regresen para tomarse unos segundos mientras salen del asombro de lo que acaban de crear. </a:t>
            </a:r>
          </a:p>
          <a:p>
            <a:pPr marL="468925" lvl="2">
              <a:buSzPct val="100000"/>
              <a:tabLst>
                <a:tab pos="121285" algn="l"/>
              </a:tabLst>
            </a:pPr>
            <a:r>
              <a:rPr lang="en-US" sz="1600" spc="-10" dirty="0">
                <a:solidFill>
                  <a:srgbClr val="262626"/>
                </a:solidFill>
                <a:cs typeface="Source Sans Pro"/>
              </a:rPr>
              <a:t/>
            </a:r>
            <a:br>
              <a:rPr lang="en-US" sz="1600" spc="-10" dirty="0">
                <a:solidFill>
                  <a:srgbClr val="262626"/>
                </a:solidFill>
                <a:cs typeface="Source Sans Pro"/>
              </a:rPr>
            </a:br>
            <a:endParaRPr lang="en-US" sz="1600" spc="-10" dirty="0">
              <a:solidFill>
                <a:srgbClr val="262626"/>
              </a:solidFill>
              <a:cs typeface="Source Sans Pro"/>
            </a:endParaRPr>
          </a:p>
        </p:txBody>
      </p:sp>
      <p:sp>
        <p:nvSpPr>
          <p:cNvPr id="10"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a:t>
            </a:r>
            <a:r>
              <a:rPr lang="en-US" sz="1700" dirty="0" smtClean="0">
                <a:solidFill>
                  <a:srgbClr val="438AD7"/>
                </a:solidFill>
              </a:rPr>
              <a:t>COMPORTAMIENTOS</a:t>
            </a:r>
            <a:endParaRPr lang="en-US" sz="1700" dirty="0">
              <a:solidFill>
                <a:srgbClr val="438AD7"/>
              </a:solidFill>
            </a:endParaRPr>
          </a:p>
        </p:txBody>
      </p:sp>
      <p:grpSp>
        <p:nvGrpSpPr>
          <p:cNvPr id="8" name="Group 6">
            <a:extLst>
              <a:ext uri="{FF2B5EF4-FFF2-40B4-BE49-F238E27FC236}">
                <a16:creationId xmlns:a16="http://schemas.microsoft.com/office/drawing/2014/main" id="{84F4CA81-0D20-4B82-AA85-D650B4F6FB05}"/>
              </a:ext>
            </a:extLst>
          </p:cNvPr>
          <p:cNvGrpSpPr/>
          <p:nvPr/>
        </p:nvGrpSpPr>
        <p:grpSpPr>
          <a:xfrm>
            <a:off x="3383868" y="3163034"/>
            <a:ext cx="2376264" cy="740172"/>
            <a:chOff x="4474592" y="3108176"/>
            <a:chExt cx="2376264" cy="740172"/>
          </a:xfrm>
        </p:grpSpPr>
        <p:pic>
          <p:nvPicPr>
            <p:cNvPr id="14" name="Picture 1">
              <a:extLst>
                <a:ext uri="{FF2B5EF4-FFF2-40B4-BE49-F238E27FC236}">
                  <a16:creationId xmlns:a16="http://schemas.microsoft.com/office/drawing/2014/main" id="{00AD20C9-17CA-4C97-965F-B9EB30D754C7}"/>
                </a:ext>
              </a:extLst>
            </p:cNvPr>
            <p:cNvPicPr>
              <a:picLocks noChangeAspect="1" noChangeArrowheads="1"/>
            </p:cNvPicPr>
            <p:nvPr/>
          </p:nvPicPr>
          <p:blipFill>
            <a:blip r:embed="rId3" cstate="print"/>
            <a:srcRect r="89605" b="94725"/>
            <a:stretch>
              <a:fillRect/>
            </a:stretch>
          </p:blipFill>
          <p:spPr bwMode="auto">
            <a:xfrm>
              <a:off x="4474592" y="3200276"/>
              <a:ext cx="2376264" cy="648072"/>
            </a:xfrm>
            <a:prstGeom prst="rect">
              <a:avLst/>
            </a:prstGeom>
            <a:noFill/>
            <a:ln w="9525">
              <a:noFill/>
              <a:miter lim="800000"/>
              <a:headEnd/>
              <a:tailEnd/>
            </a:ln>
          </p:spPr>
        </p:pic>
        <p:sp>
          <p:nvSpPr>
            <p:cNvPr id="15" name="Oval 5">
              <a:extLst>
                <a:ext uri="{FF2B5EF4-FFF2-40B4-BE49-F238E27FC236}">
                  <a16:creationId xmlns:a16="http://schemas.microsoft.com/office/drawing/2014/main" id="{3EB5BCC2-D380-4268-A69D-AA451BE8D15B}"/>
                </a:ext>
              </a:extLst>
            </p:cNvPr>
            <p:cNvSpPr/>
            <p:nvPr/>
          </p:nvSpPr>
          <p:spPr>
            <a:xfrm>
              <a:off x="6050260" y="3108176"/>
              <a:ext cx="426740" cy="426740"/>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spTree>
    <p:custDataLst>
      <p:tags r:id="rId1"/>
    </p:custDataLst>
    <p:extLst>
      <p:ext uri="{BB962C8B-B14F-4D97-AF65-F5344CB8AC3E}">
        <p14:creationId xmlns:p14="http://schemas.microsoft.com/office/powerpoint/2010/main" val="2551123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495299" y="810908"/>
            <a:ext cx="4376446" cy="3693319"/>
          </a:xfrm>
          <a:prstGeom prst="rect">
            <a:avLst/>
          </a:prstGeom>
        </p:spPr>
        <p:txBody>
          <a:bodyPr vert="horz" wrap="square" lIns="0" tIns="0" rIns="0" bIns="0" rtlCol="0">
            <a:spAutoFit/>
          </a:bodyPr>
          <a:lstStyle/>
          <a:p>
            <a:pPr marL="180000" lvl="1" indent="-168275">
              <a:buSzPct val="100000"/>
              <a:buFont typeface="Arial"/>
              <a:buChar char="•"/>
              <a:tabLst>
                <a:tab pos="121285" algn="l"/>
              </a:tabLst>
            </a:pPr>
            <a:r>
              <a:rPr lang="es-PE" sz="1600" spc="-10" dirty="0">
                <a:solidFill>
                  <a:srgbClr val="262626"/>
                </a:solidFill>
              </a:rPr>
              <a:t>Agreguemos los comportamientos restantes a los otros </a:t>
            </a:r>
            <a:r>
              <a:rPr lang="es-PE" sz="1600" spc="-10" dirty="0" err="1">
                <a:solidFill>
                  <a:srgbClr val="262626"/>
                </a:solidFill>
              </a:rPr>
              <a:t>sprites</a:t>
            </a:r>
            <a:r>
              <a:rPr lang="es-PE" sz="1600" spc="-10" dirty="0">
                <a:solidFill>
                  <a:srgbClr val="262626"/>
                </a:solidFill>
              </a:rPr>
              <a:t>:</a:t>
            </a:r>
          </a:p>
          <a:p>
            <a:pPr marL="180000" lvl="1" indent="-168275">
              <a:buSzPct val="100000"/>
              <a:buFont typeface="Arial"/>
              <a:buChar char="•"/>
              <a:tabLst>
                <a:tab pos="121285" algn="l"/>
              </a:tabLst>
            </a:pPr>
            <a:endParaRPr lang="es-PE" sz="1600" spc="-10" dirty="0">
              <a:solidFill>
                <a:srgbClr val="262626"/>
              </a:solidFill>
            </a:endParaRPr>
          </a:p>
          <a:p>
            <a:pPr marL="637200" lvl="3" indent="-168275">
              <a:buSzPct val="100000"/>
              <a:buFont typeface="Arial"/>
              <a:buChar char="•"/>
              <a:tabLst>
                <a:tab pos="121285" algn="l"/>
              </a:tabLst>
            </a:pPr>
            <a:r>
              <a:rPr lang="es-PE" sz="1600" b="1" spc="-10" dirty="0" err="1">
                <a:solidFill>
                  <a:srgbClr val="262626"/>
                </a:solidFill>
              </a:rPr>
              <a:t>Bullet</a:t>
            </a:r>
            <a:r>
              <a:rPr lang="es-PE" sz="1600" b="1" spc="-10" dirty="0">
                <a:solidFill>
                  <a:srgbClr val="262626"/>
                </a:solidFill>
              </a:rPr>
              <a:t> </a:t>
            </a:r>
            <a:r>
              <a:rPr lang="es-PE" sz="1600" b="1" spc="-10" dirty="0" err="1">
                <a:solidFill>
                  <a:srgbClr val="262626"/>
                </a:solidFill>
              </a:rPr>
              <a:t>movement</a:t>
            </a:r>
            <a:r>
              <a:rPr lang="es-PE" sz="1600" b="1" spc="-10" dirty="0">
                <a:solidFill>
                  <a:srgbClr val="262626"/>
                </a:solidFill>
              </a:rPr>
              <a:t> </a:t>
            </a:r>
            <a:r>
              <a:rPr lang="es-PE" sz="1600" spc="-10" dirty="0">
                <a:solidFill>
                  <a:srgbClr val="262626"/>
                </a:solidFill>
              </a:rPr>
              <a:t>y </a:t>
            </a:r>
            <a:r>
              <a:rPr lang="es-PE" sz="1600" b="1" spc="-10" dirty="0" err="1">
                <a:solidFill>
                  <a:srgbClr val="262626"/>
                </a:solidFill>
              </a:rPr>
              <a:t>Destroy</a:t>
            </a:r>
            <a:r>
              <a:rPr lang="es-PE" sz="1600" b="1" spc="-10" dirty="0">
                <a:solidFill>
                  <a:srgbClr val="262626"/>
                </a:solidFill>
              </a:rPr>
              <a:t> </a:t>
            </a:r>
            <a:r>
              <a:rPr lang="es-PE" sz="1600" b="1" spc="-10" dirty="0" err="1">
                <a:solidFill>
                  <a:srgbClr val="262626"/>
                </a:solidFill>
              </a:rPr>
              <a:t>outside</a:t>
            </a:r>
            <a:r>
              <a:rPr lang="es-PE" sz="1600" b="1" spc="-10" dirty="0">
                <a:solidFill>
                  <a:srgbClr val="262626"/>
                </a:solidFill>
              </a:rPr>
              <a:t> </a:t>
            </a:r>
            <a:r>
              <a:rPr lang="es-PE" sz="1600" b="1" spc="-10" dirty="0" err="1">
                <a:solidFill>
                  <a:srgbClr val="262626"/>
                </a:solidFill>
              </a:rPr>
              <a:t>layout</a:t>
            </a:r>
            <a:r>
              <a:rPr lang="es-PE" sz="1600" b="1" spc="-10" dirty="0">
                <a:solidFill>
                  <a:srgbClr val="262626"/>
                </a:solidFill>
              </a:rPr>
              <a:t> </a:t>
            </a:r>
            <a:r>
              <a:rPr lang="es-PE" sz="1600" spc="-10" dirty="0">
                <a:solidFill>
                  <a:srgbClr val="262626"/>
                </a:solidFill>
              </a:rPr>
              <a:t>para las balas.</a:t>
            </a:r>
          </a:p>
          <a:p>
            <a:pPr marL="637200" lvl="3" indent="-168275">
              <a:buSzPct val="100000"/>
              <a:buFont typeface="Arial"/>
              <a:buChar char="•"/>
              <a:tabLst>
                <a:tab pos="121285" algn="l"/>
              </a:tabLst>
            </a:pPr>
            <a:endParaRPr lang="es-PE" sz="1600" spc="-10" dirty="0">
              <a:solidFill>
                <a:srgbClr val="262626"/>
              </a:solidFill>
            </a:endParaRPr>
          </a:p>
          <a:p>
            <a:pPr marL="637200" lvl="3" indent="-168275">
              <a:buSzPct val="100000"/>
              <a:buFont typeface="Arial"/>
              <a:buChar char="•"/>
              <a:tabLst>
                <a:tab pos="121285" algn="l"/>
              </a:tabLst>
            </a:pPr>
            <a:r>
              <a:rPr lang="es-PE" sz="1600" b="1" spc="-10" dirty="0" err="1">
                <a:solidFill>
                  <a:srgbClr val="262626"/>
                </a:solidFill>
              </a:rPr>
              <a:t>Bullet</a:t>
            </a:r>
            <a:r>
              <a:rPr lang="es-PE" sz="1600" b="1" spc="-10" dirty="0">
                <a:solidFill>
                  <a:srgbClr val="262626"/>
                </a:solidFill>
              </a:rPr>
              <a:t> </a:t>
            </a:r>
            <a:r>
              <a:rPr lang="es-PE" sz="1600" b="1" spc="-10" dirty="0" err="1">
                <a:solidFill>
                  <a:srgbClr val="262626"/>
                </a:solidFill>
              </a:rPr>
              <a:t>movement</a:t>
            </a:r>
            <a:r>
              <a:rPr lang="es-PE" sz="1600" spc="-10" dirty="0">
                <a:solidFill>
                  <a:srgbClr val="262626"/>
                </a:solidFill>
              </a:rPr>
              <a:t> a los enemigos.</a:t>
            </a:r>
          </a:p>
          <a:p>
            <a:pPr marL="637200" lvl="3" indent="-168275">
              <a:buSzPct val="100000"/>
              <a:buFont typeface="Arial"/>
              <a:buChar char="•"/>
              <a:tabLst>
                <a:tab pos="121285" algn="l"/>
              </a:tabLst>
            </a:pPr>
            <a:endParaRPr lang="es-PE" sz="1600" spc="-10" dirty="0">
              <a:solidFill>
                <a:srgbClr val="262626"/>
              </a:solidFill>
            </a:endParaRPr>
          </a:p>
          <a:p>
            <a:pPr marL="637200" lvl="3" indent="-168275">
              <a:buSzPct val="100000"/>
              <a:buFont typeface="Arial"/>
              <a:buChar char="•"/>
              <a:tabLst>
                <a:tab pos="121285" algn="l"/>
              </a:tabLst>
            </a:pPr>
            <a:r>
              <a:rPr lang="es-PE" sz="1600" b="1" spc="-10" dirty="0" err="1">
                <a:solidFill>
                  <a:srgbClr val="262626"/>
                </a:solidFill>
              </a:rPr>
              <a:t>Fade</a:t>
            </a:r>
            <a:r>
              <a:rPr lang="es-PE" sz="1600" spc="-10" dirty="0">
                <a:solidFill>
                  <a:srgbClr val="262626"/>
                </a:solidFill>
              </a:rPr>
              <a:t> a la explosión. Cuando el </a:t>
            </a:r>
            <a:r>
              <a:rPr lang="es-PE" sz="1600" spc="-10" dirty="0" err="1">
                <a:solidFill>
                  <a:srgbClr val="262626"/>
                </a:solidFill>
              </a:rPr>
              <a:t>fade</a:t>
            </a:r>
            <a:r>
              <a:rPr lang="es-PE" sz="1600" spc="-10" dirty="0">
                <a:solidFill>
                  <a:srgbClr val="262626"/>
                </a:solidFill>
              </a:rPr>
              <a:t> termina, también destruye el objeto, así no hay problema con tener explosiones invisibles flotando por el nivel.</a:t>
            </a:r>
          </a:p>
          <a:p>
            <a:pPr marL="180000" indent="-168275">
              <a:buSzPct val="100000"/>
              <a:buFont typeface="Arial"/>
              <a:buChar char="•"/>
              <a:tabLst>
                <a:tab pos="121285" algn="l"/>
              </a:tabLst>
            </a:pPr>
            <a:endParaRPr lang="es-PE" sz="1600" spc="-10" dirty="0">
              <a:solidFill>
                <a:srgbClr val="262626"/>
              </a:solidFill>
            </a:endParaRPr>
          </a:p>
          <a:p>
            <a:pPr marL="11725">
              <a:buSzPct val="100000"/>
              <a:tabLst>
                <a:tab pos="121285" algn="l"/>
              </a:tabLst>
            </a:pPr>
            <a:r>
              <a:rPr lang="en-US" sz="1600" spc="-10" dirty="0">
                <a:solidFill>
                  <a:srgbClr val="262626"/>
                </a:solidFill>
              </a:rPr>
              <a:t/>
            </a:r>
            <a:br>
              <a:rPr lang="en-US" sz="1600" spc="-10" dirty="0">
                <a:solidFill>
                  <a:srgbClr val="262626"/>
                </a:solidFill>
              </a:rPr>
            </a:br>
            <a:endParaRPr lang="en-US" sz="1600" spc="-10" dirty="0">
              <a:solidFill>
                <a:srgbClr val="262626"/>
              </a:solidFill>
            </a:endParaRPr>
          </a:p>
        </p:txBody>
      </p:sp>
      <p:sp>
        <p:nvSpPr>
          <p:cNvPr id="5"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a:t>
            </a:r>
            <a:r>
              <a:rPr lang="en-US" sz="1700" dirty="0" smtClean="0">
                <a:solidFill>
                  <a:srgbClr val="438AD7"/>
                </a:solidFill>
              </a:rPr>
              <a:t>COMPORTAMIENTOS</a:t>
            </a:r>
            <a:endParaRPr lang="en-US" sz="1700" dirty="0">
              <a:solidFill>
                <a:srgbClr val="438AD7"/>
              </a:solidFill>
            </a:endParaRPr>
          </a:p>
        </p:txBody>
      </p:sp>
      <p:pic>
        <p:nvPicPr>
          <p:cNvPr id="14" name="Picture 1">
            <a:extLst>
              <a:ext uri="{FF2B5EF4-FFF2-40B4-BE49-F238E27FC236}">
                <a16:creationId xmlns:a16="http://schemas.microsoft.com/office/drawing/2014/main" id="{607ACE1F-50C1-4946-8777-357FBC11B677}"/>
              </a:ext>
            </a:extLst>
          </p:cNvPr>
          <p:cNvPicPr>
            <a:picLocks noChangeAspect="1" noChangeArrowheads="1"/>
          </p:cNvPicPr>
          <p:nvPr/>
        </p:nvPicPr>
        <p:blipFill>
          <a:blip r:embed="rId3" cstate="print"/>
          <a:srcRect l="20098" t="43953" r="67534" b="42819"/>
          <a:stretch>
            <a:fillRect/>
          </a:stretch>
        </p:blipFill>
        <p:spPr bwMode="auto">
          <a:xfrm>
            <a:off x="6675707" y="1405732"/>
            <a:ext cx="576064" cy="541784"/>
          </a:xfrm>
          <a:prstGeom prst="rect">
            <a:avLst/>
          </a:prstGeom>
          <a:noFill/>
          <a:ln w="9525">
            <a:noFill/>
            <a:miter lim="800000"/>
            <a:headEnd/>
            <a:tailEnd/>
          </a:ln>
        </p:spPr>
      </p:pic>
      <p:pic>
        <p:nvPicPr>
          <p:cNvPr id="15" name="Picture 2">
            <a:extLst>
              <a:ext uri="{FF2B5EF4-FFF2-40B4-BE49-F238E27FC236}">
                <a16:creationId xmlns:a16="http://schemas.microsoft.com/office/drawing/2014/main" id="{199BE4D4-8AB9-4956-8078-939EB85F569E}"/>
              </a:ext>
            </a:extLst>
          </p:cNvPr>
          <p:cNvPicPr>
            <a:picLocks noChangeAspect="1" noChangeArrowheads="1"/>
          </p:cNvPicPr>
          <p:nvPr/>
        </p:nvPicPr>
        <p:blipFill>
          <a:blip r:embed="rId4" cstate="print"/>
          <a:srcRect l="18552" t="44063" r="64981" b="40224"/>
          <a:stretch>
            <a:fillRect/>
          </a:stretch>
        </p:blipFill>
        <p:spPr bwMode="auto">
          <a:xfrm>
            <a:off x="6132931" y="1460724"/>
            <a:ext cx="600716" cy="504056"/>
          </a:xfrm>
          <a:prstGeom prst="rect">
            <a:avLst/>
          </a:prstGeom>
          <a:noFill/>
          <a:ln w="9525">
            <a:noFill/>
            <a:miter lim="800000"/>
            <a:headEnd/>
            <a:tailEnd/>
          </a:ln>
        </p:spPr>
      </p:pic>
      <p:pic>
        <p:nvPicPr>
          <p:cNvPr id="16" name="Picture 3">
            <a:extLst>
              <a:ext uri="{FF2B5EF4-FFF2-40B4-BE49-F238E27FC236}">
                <a16:creationId xmlns:a16="http://schemas.microsoft.com/office/drawing/2014/main" id="{0D760067-05B3-489A-BF4A-69651051DDF1}"/>
              </a:ext>
            </a:extLst>
          </p:cNvPr>
          <p:cNvPicPr>
            <a:picLocks noChangeAspect="1" noChangeArrowheads="1"/>
          </p:cNvPicPr>
          <p:nvPr/>
        </p:nvPicPr>
        <p:blipFill>
          <a:blip r:embed="rId4" cstate="print"/>
          <a:srcRect l="53092" t="42968" r="37632" b="42967"/>
          <a:stretch>
            <a:fillRect/>
          </a:stretch>
        </p:blipFill>
        <p:spPr bwMode="auto">
          <a:xfrm>
            <a:off x="6423679" y="2891487"/>
            <a:ext cx="540060" cy="720080"/>
          </a:xfrm>
          <a:prstGeom prst="rect">
            <a:avLst/>
          </a:prstGeom>
          <a:noFill/>
          <a:ln w="9525">
            <a:noFill/>
            <a:miter lim="800000"/>
            <a:headEnd/>
            <a:tailEnd/>
          </a:ln>
        </p:spPr>
      </p:pic>
      <p:pic>
        <p:nvPicPr>
          <p:cNvPr id="17" name="Picture 1">
            <a:extLst>
              <a:ext uri="{FF2B5EF4-FFF2-40B4-BE49-F238E27FC236}">
                <a16:creationId xmlns:a16="http://schemas.microsoft.com/office/drawing/2014/main" id="{27EF964A-C610-4A4B-ABCC-9189A5183608}"/>
              </a:ext>
            </a:extLst>
          </p:cNvPr>
          <p:cNvPicPr>
            <a:picLocks noChangeAspect="1" noChangeArrowheads="1"/>
          </p:cNvPicPr>
          <p:nvPr/>
        </p:nvPicPr>
        <p:blipFill>
          <a:blip r:embed="rId3" cstate="print"/>
          <a:srcRect l="20098" t="43953" r="67534" b="42819"/>
          <a:stretch>
            <a:fillRect/>
          </a:stretch>
        </p:blipFill>
        <p:spPr bwMode="auto">
          <a:xfrm>
            <a:off x="6431387" y="2115783"/>
            <a:ext cx="576064" cy="541784"/>
          </a:xfrm>
          <a:prstGeom prst="rect">
            <a:avLst/>
          </a:prstGeom>
          <a:noFill/>
          <a:ln w="9525">
            <a:noFill/>
            <a:miter lim="800000"/>
            <a:headEnd/>
            <a:tailEnd/>
          </a:ln>
        </p:spPr>
      </p:pic>
    </p:spTree>
    <p:extLst>
      <p:ext uri="{BB962C8B-B14F-4D97-AF65-F5344CB8AC3E}">
        <p14:creationId xmlns:p14="http://schemas.microsoft.com/office/powerpoint/2010/main" val="276922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7"/>
          <p:cNvSpPr txBox="1"/>
          <p:nvPr/>
        </p:nvSpPr>
        <p:spPr>
          <a:xfrm>
            <a:off x="495298" y="810908"/>
            <a:ext cx="8083883" cy="1723549"/>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rPr>
              <a:t>Creemos más enemigos. Manteniendo presionada la tecla de “</a:t>
            </a:r>
            <a:r>
              <a:rPr lang="es-PE" sz="1600" spc="-10" dirty="0" err="1">
                <a:solidFill>
                  <a:srgbClr val="262626"/>
                </a:solidFill>
              </a:rPr>
              <a:t>ctrl</a:t>
            </a:r>
            <a:r>
              <a:rPr lang="es-PE" sz="1600" spc="-10" dirty="0">
                <a:solidFill>
                  <a:srgbClr val="262626"/>
                </a:solidFill>
              </a:rPr>
              <a:t>”, hagamos clic en el enemigo y arrastremos a un lado. Se creará otra instancia, que es simplemente otro objeto de tipo “enemigo”. </a:t>
            </a:r>
          </a:p>
          <a:p>
            <a:pPr marL="180000" indent="-168275">
              <a:buSzPct val="100000"/>
              <a:buFont typeface="Arial"/>
              <a:buChar char="•"/>
              <a:tabLst>
                <a:tab pos="121285" algn="l"/>
              </a:tabLst>
            </a:pPr>
            <a:endParaRPr lang="es-PE" sz="1600" spc="-10" dirty="0">
              <a:solidFill>
                <a:srgbClr val="262626"/>
              </a:solidFill>
            </a:endParaRPr>
          </a:p>
          <a:p>
            <a:pPr marL="180000" indent="-168275">
              <a:buSzPct val="100000"/>
              <a:buFont typeface="Arial"/>
              <a:buChar char="•"/>
              <a:tabLst>
                <a:tab pos="121285" algn="l"/>
              </a:tabLst>
            </a:pPr>
            <a:r>
              <a:rPr lang="es-PE" sz="1600" spc="-10" dirty="0">
                <a:solidFill>
                  <a:srgbClr val="262626"/>
                </a:solidFill>
              </a:rPr>
              <a:t>Estos tipos de objetos son esencialmente “clases”. </a:t>
            </a:r>
          </a:p>
          <a:p>
            <a:pPr marL="468925" lvl="2">
              <a:buSzPct val="100000"/>
              <a:tabLst>
                <a:tab pos="121285" algn="l"/>
              </a:tabLst>
            </a:pPr>
            <a:r>
              <a:rPr lang="en-US" sz="1600" spc="-10" dirty="0">
                <a:solidFill>
                  <a:srgbClr val="262626"/>
                </a:solidFill>
                <a:cs typeface="Source Sans Pro"/>
              </a:rPr>
              <a:t/>
            </a:r>
            <a:br>
              <a:rPr lang="en-US" sz="1600" spc="-10" dirty="0">
                <a:solidFill>
                  <a:srgbClr val="262626"/>
                </a:solidFill>
                <a:cs typeface="Source Sans Pro"/>
              </a:rPr>
            </a:br>
            <a:endParaRPr lang="en-US" sz="1600" spc="-10" dirty="0">
              <a:solidFill>
                <a:srgbClr val="262626"/>
              </a:solidFill>
              <a:cs typeface="Source Sans Pro"/>
            </a:endParaRPr>
          </a:p>
        </p:txBody>
      </p:sp>
      <p:sp>
        <p:nvSpPr>
          <p:cNvPr id="10"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DUPLICANDO OBJETOS</a:t>
            </a:r>
          </a:p>
        </p:txBody>
      </p:sp>
      <p:pic>
        <p:nvPicPr>
          <p:cNvPr id="8" name="Picture 2" descr="Resultado de imagen para MELLIZOS">
            <a:extLst>
              <a:ext uri="{FF2B5EF4-FFF2-40B4-BE49-F238E27FC236}">
                <a16:creationId xmlns:a16="http://schemas.microsoft.com/office/drawing/2014/main" id="{D353FAA4-D26C-4917-A5E0-1DEE98FF4F95}"/>
              </a:ext>
            </a:extLst>
          </p:cNvPr>
          <p:cNvPicPr>
            <a:picLocks noGrp="1" noChangeAspect="1" noChangeArrowheads="1"/>
          </p:cNvPicPr>
          <p:nvPr>
            <p:ph type="pic" sz="quarter" idx="10"/>
          </p:nvPr>
        </p:nvPicPr>
        <p:blipFill rotWithShape="1">
          <a:blip r:embed="rId3">
            <a:extLst>
              <a:ext uri="{28A0092B-C50C-407E-A947-70E740481C1C}">
                <a14:useLocalDpi xmlns:a14="http://schemas.microsoft.com/office/drawing/2010/main" val="0"/>
              </a:ext>
            </a:extLst>
          </a:blip>
          <a:srcRect l="5313" r="5313"/>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790019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7"/>
          <p:cNvSpPr txBox="1"/>
          <p:nvPr/>
        </p:nvSpPr>
        <p:spPr>
          <a:xfrm>
            <a:off x="495298" y="810908"/>
            <a:ext cx="8083883" cy="246221"/>
          </a:xfrm>
          <a:prstGeom prst="rect">
            <a:avLst/>
          </a:prstGeom>
        </p:spPr>
        <p:txBody>
          <a:bodyPr vert="horz" wrap="square" lIns="0" tIns="0" rIns="0" bIns="0" rtlCol="0">
            <a:spAutoFit/>
          </a:bodyPr>
          <a:lstStyle/>
          <a:p>
            <a:pPr marL="180000" lvl="1" indent="-168275">
              <a:buSzPct val="100000"/>
              <a:buFont typeface="Arial"/>
              <a:buChar char="•"/>
              <a:tabLst>
                <a:tab pos="121285" algn="l"/>
              </a:tabLst>
            </a:pPr>
            <a:r>
              <a:rPr lang="es-PE" sz="1600" spc="-10" dirty="0">
                <a:solidFill>
                  <a:srgbClr val="262626"/>
                </a:solidFill>
              </a:rPr>
              <a:t>Afinemos los valores de los comportamientos que hemos asignado:</a:t>
            </a:r>
          </a:p>
        </p:txBody>
      </p:sp>
      <p:sp>
        <p:nvSpPr>
          <p:cNvPr id="10"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a:t>
            </a:r>
            <a:r>
              <a:rPr lang="en-US" sz="1700" dirty="0" smtClean="0">
                <a:solidFill>
                  <a:srgbClr val="438AD7"/>
                </a:solidFill>
              </a:rPr>
              <a:t>COMPORTAMIENTOS</a:t>
            </a:r>
            <a:endParaRPr lang="en-US" sz="1700" dirty="0">
              <a:solidFill>
                <a:srgbClr val="438AD7"/>
              </a:solidFill>
            </a:endParaRPr>
          </a:p>
        </p:txBody>
      </p:sp>
      <p:sp>
        <p:nvSpPr>
          <p:cNvPr id="12" name="Marcador de posición de imagen 11">
            <a:extLst>
              <a:ext uri="{FF2B5EF4-FFF2-40B4-BE49-F238E27FC236}">
                <a16:creationId xmlns:a16="http://schemas.microsoft.com/office/drawing/2014/main" id="{84B7A0D7-BED7-440C-AB17-3857EB972500}"/>
              </a:ext>
            </a:extLst>
          </p:cNvPr>
          <p:cNvSpPr>
            <a:spLocks noGrp="1"/>
          </p:cNvSpPr>
          <p:nvPr>
            <p:ph type="pic" sz="quarter" idx="10"/>
          </p:nvPr>
        </p:nvSpPr>
        <p:spPr/>
      </p:sp>
      <p:pic>
        <p:nvPicPr>
          <p:cNvPr id="13" name="Imagen 12">
            <a:extLst>
              <a:ext uri="{FF2B5EF4-FFF2-40B4-BE49-F238E27FC236}">
                <a16:creationId xmlns:a16="http://schemas.microsoft.com/office/drawing/2014/main" id="{11B39407-09FB-4A15-A3B6-04B6330035AD}"/>
              </a:ext>
            </a:extLst>
          </p:cNvPr>
          <p:cNvPicPr>
            <a:picLocks noChangeAspect="1"/>
          </p:cNvPicPr>
          <p:nvPr/>
        </p:nvPicPr>
        <p:blipFill>
          <a:blip r:embed="rId3"/>
          <a:stretch>
            <a:fillRect/>
          </a:stretch>
        </p:blipFill>
        <p:spPr>
          <a:xfrm>
            <a:off x="1121746" y="1723362"/>
            <a:ext cx="6830985" cy="3396747"/>
          </a:xfrm>
          <a:prstGeom prst="rect">
            <a:avLst/>
          </a:prstGeom>
        </p:spPr>
      </p:pic>
    </p:spTree>
    <p:custDataLst>
      <p:tags r:id="rId1"/>
    </p:custDataLst>
    <p:extLst>
      <p:ext uri="{BB962C8B-B14F-4D97-AF65-F5344CB8AC3E}">
        <p14:creationId xmlns:p14="http://schemas.microsoft.com/office/powerpoint/2010/main" val="1770173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495299" y="810908"/>
            <a:ext cx="4376446" cy="2954655"/>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err="1">
                <a:solidFill>
                  <a:srgbClr val="262626"/>
                </a:solidFill>
              </a:rPr>
              <a:t>Construct</a:t>
            </a:r>
            <a:r>
              <a:rPr lang="es-PE" sz="1600" spc="-10" dirty="0">
                <a:solidFill>
                  <a:srgbClr val="262626"/>
                </a:solidFill>
              </a:rPr>
              <a:t> 2 utiliza un sistema de eventos para interactuar principalmente con </a:t>
            </a:r>
            <a:r>
              <a:rPr lang="es-PE" sz="1600" spc="-10" dirty="0" smtClean="0">
                <a:solidFill>
                  <a:srgbClr val="262626"/>
                </a:solidFill>
              </a:rPr>
              <a:t>estos </a:t>
            </a:r>
            <a:r>
              <a:rPr lang="es-PE" sz="1600" spc="-10" dirty="0">
                <a:solidFill>
                  <a:srgbClr val="262626"/>
                </a:solidFill>
              </a:rPr>
              <a:t>objetos.</a:t>
            </a:r>
          </a:p>
          <a:p>
            <a:pPr marL="180000" indent="-168275">
              <a:buSzPct val="100000"/>
              <a:buFont typeface="Arial"/>
              <a:buChar char="•"/>
              <a:tabLst>
                <a:tab pos="121285" algn="l"/>
              </a:tabLst>
            </a:pPr>
            <a:endParaRPr lang="es-PE" sz="1600" spc="-10" dirty="0">
              <a:solidFill>
                <a:srgbClr val="262626"/>
              </a:solidFill>
            </a:endParaRPr>
          </a:p>
          <a:p>
            <a:pPr marL="180000" indent="-168275">
              <a:buSzPct val="100000"/>
              <a:buFont typeface="Arial"/>
              <a:buChar char="•"/>
              <a:tabLst>
                <a:tab pos="121285" algn="l"/>
              </a:tabLst>
            </a:pPr>
            <a:r>
              <a:rPr lang="es-PE" sz="1600" spc="-10" dirty="0">
                <a:solidFill>
                  <a:srgbClr val="262626"/>
                </a:solidFill>
              </a:rPr>
              <a:t>Por ejemplo, es posible hacer un evento que dice “Bala choca con Enemigo01". Esto en realidad significa " Cualquier instancia del objeto Bala colisiona con cualquier instancia del objeto Enemigo01“, en lugar de tener que realizar un evento separado para cada monstruo.</a:t>
            </a:r>
          </a:p>
          <a:p>
            <a:pPr marL="180000" indent="-168275">
              <a:buSzPct val="100000"/>
              <a:buFont typeface="Arial"/>
              <a:buChar char="•"/>
              <a:tabLst>
                <a:tab pos="121285" algn="l"/>
              </a:tabLst>
            </a:pPr>
            <a:endParaRPr lang="es-PE" sz="1600" spc="-10" dirty="0">
              <a:solidFill>
                <a:srgbClr val="262626"/>
              </a:solidFill>
            </a:endParaRPr>
          </a:p>
          <a:p>
            <a:pPr marL="11725">
              <a:buSzPct val="100000"/>
              <a:tabLst>
                <a:tab pos="121285" algn="l"/>
              </a:tabLst>
            </a:pPr>
            <a:r>
              <a:rPr lang="en-US" sz="1600" spc="-10" dirty="0">
                <a:solidFill>
                  <a:srgbClr val="262626"/>
                </a:solidFill>
              </a:rPr>
              <a:t/>
            </a:r>
            <a:br>
              <a:rPr lang="en-US" sz="1600" spc="-10" dirty="0">
                <a:solidFill>
                  <a:srgbClr val="262626"/>
                </a:solidFill>
              </a:rPr>
            </a:br>
            <a:endParaRPr lang="en-US" sz="1600" spc="-10" dirty="0">
              <a:solidFill>
                <a:srgbClr val="262626"/>
              </a:solidFill>
            </a:endParaRPr>
          </a:p>
        </p:txBody>
      </p:sp>
      <p:sp>
        <p:nvSpPr>
          <p:cNvPr id="5"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DUPLICANDO OBJETOS</a:t>
            </a:r>
          </a:p>
        </p:txBody>
      </p:sp>
      <p:pic>
        <p:nvPicPr>
          <p:cNvPr id="12" name="Picture 6" descr="C:\Users\Mauricio\Desktop\diseño de estrategia de videojuegos\construct\player.png">
            <a:extLst>
              <a:ext uri="{FF2B5EF4-FFF2-40B4-BE49-F238E27FC236}">
                <a16:creationId xmlns:a16="http://schemas.microsoft.com/office/drawing/2014/main" id="{3F12B499-8B3B-4579-AC36-9D9BC3B348A2}"/>
              </a:ext>
            </a:extLst>
          </p:cNvPr>
          <p:cNvPicPr>
            <a:picLocks noChangeAspect="1" noChangeArrowheads="1"/>
          </p:cNvPicPr>
          <p:nvPr/>
        </p:nvPicPr>
        <p:blipFill>
          <a:blip r:embed="rId3" cstate="print"/>
          <a:srcRect/>
          <a:stretch>
            <a:fillRect/>
          </a:stretch>
        </p:blipFill>
        <p:spPr bwMode="auto">
          <a:xfrm rot="2435228">
            <a:off x="5222448" y="1084416"/>
            <a:ext cx="1299785" cy="1241274"/>
          </a:xfrm>
          <a:prstGeom prst="rect">
            <a:avLst/>
          </a:prstGeom>
          <a:noFill/>
        </p:spPr>
      </p:pic>
      <p:pic>
        <p:nvPicPr>
          <p:cNvPr id="13" name="Picture 5" descr="C:\Users\Mauricio\Desktop\diseño de estrategia de videojuegos\construct\monster.png">
            <a:extLst>
              <a:ext uri="{FF2B5EF4-FFF2-40B4-BE49-F238E27FC236}">
                <a16:creationId xmlns:a16="http://schemas.microsoft.com/office/drawing/2014/main" id="{9C0A9403-ECC0-4118-9F0D-FD821CB4D43F}"/>
              </a:ext>
            </a:extLst>
          </p:cNvPr>
          <p:cNvPicPr>
            <a:picLocks noChangeAspect="1" noChangeArrowheads="1"/>
          </p:cNvPicPr>
          <p:nvPr/>
        </p:nvPicPr>
        <p:blipFill>
          <a:blip r:embed="rId4" cstate="print"/>
          <a:srcRect/>
          <a:stretch>
            <a:fillRect/>
          </a:stretch>
        </p:blipFill>
        <p:spPr bwMode="auto">
          <a:xfrm rot="13572438">
            <a:off x="7231584" y="3540685"/>
            <a:ext cx="1746977" cy="1203659"/>
          </a:xfrm>
          <a:prstGeom prst="rect">
            <a:avLst/>
          </a:prstGeom>
          <a:noFill/>
        </p:spPr>
      </p:pic>
      <p:pic>
        <p:nvPicPr>
          <p:cNvPr id="18" name="Picture 3" descr="C:\Users\Mauricio\Desktop\diseño de estrategia de videojuegos\construct\bullet.png">
            <a:extLst>
              <a:ext uri="{FF2B5EF4-FFF2-40B4-BE49-F238E27FC236}">
                <a16:creationId xmlns:a16="http://schemas.microsoft.com/office/drawing/2014/main" id="{A6BE0533-437E-4343-999C-7D7381D1C179}"/>
              </a:ext>
            </a:extLst>
          </p:cNvPr>
          <p:cNvPicPr>
            <a:picLocks noChangeAspect="1" noChangeArrowheads="1"/>
          </p:cNvPicPr>
          <p:nvPr/>
        </p:nvPicPr>
        <p:blipFill>
          <a:blip r:embed="rId5" cstate="print"/>
          <a:srcRect/>
          <a:stretch>
            <a:fillRect/>
          </a:stretch>
        </p:blipFill>
        <p:spPr bwMode="auto">
          <a:xfrm rot="2830427">
            <a:off x="6468383" y="2434530"/>
            <a:ext cx="338125" cy="216024"/>
          </a:xfrm>
          <a:prstGeom prst="rect">
            <a:avLst/>
          </a:prstGeom>
          <a:noFill/>
        </p:spPr>
      </p:pic>
      <p:pic>
        <p:nvPicPr>
          <p:cNvPr id="19" name="Picture 3" descr="C:\Users\Mauricio\Desktop\diseño de estrategia de videojuegos\construct\bullet.png">
            <a:extLst>
              <a:ext uri="{FF2B5EF4-FFF2-40B4-BE49-F238E27FC236}">
                <a16:creationId xmlns:a16="http://schemas.microsoft.com/office/drawing/2014/main" id="{14BB9683-A4E9-491F-84E6-EFD78BDAFEC4}"/>
              </a:ext>
            </a:extLst>
          </p:cNvPr>
          <p:cNvPicPr>
            <a:picLocks noChangeAspect="1" noChangeArrowheads="1"/>
          </p:cNvPicPr>
          <p:nvPr/>
        </p:nvPicPr>
        <p:blipFill>
          <a:blip r:embed="rId5" cstate="print"/>
          <a:srcRect/>
          <a:stretch>
            <a:fillRect/>
          </a:stretch>
        </p:blipFill>
        <p:spPr bwMode="auto">
          <a:xfrm rot="2830427">
            <a:off x="7009069" y="3036506"/>
            <a:ext cx="338125" cy="216024"/>
          </a:xfrm>
          <a:prstGeom prst="rect">
            <a:avLst/>
          </a:prstGeom>
          <a:noFill/>
        </p:spPr>
      </p:pic>
    </p:spTree>
    <p:extLst>
      <p:ext uri="{BB962C8B-B14F-4D97-AF65-F5344CB8AC3E}">
        <p14:creationId xmlns:p14="http://schemas.microsoft.com/office/powerpoint/2010/main" val="752497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3.61111E-6 1.48148E-6 L -0.59861 1.48148E-6 " pathEditMode="relative" rAng="0" ptsTypes="AA">
                                      <p:cBhvr>
                                        <p:cTn id="6" dur="2000" fill="hold"/>
                                        <p:tgtEl>
                                          <p:spTgt spid="13"/>
                                        </p:tgtEl>
                                        <p:attrNameLst>
                                          <p:attrName>ppt_x</p:attrName>
                                          <p:attrName>ppt_y</p:attrName>
                                        </p:attrNameLst>
                                      </p:cBhvr>
                                      <p:rCtr x="-299" y="0"/>
                                    </p:animMotion>
                                  </p:childTnLst>
                                </p:cTn>
                              </p:par>
                              <p:par>
                                <p:cTn id="7" presetID="63" presetClass="path" presetSubtype="0" accel="50000" decel="50000" fill="hold" nodeType="withEffect">
                                  <p:stCondLst>
                                    <p:cond delay="0"/>
                                  </p:stCondLst>
                                  <p:childTnLst>
                                    <p:animMotion origin="layout" path="M -2.22222E-6 3.33333E-6 L 0.39097 3.33333E-6 " pathEditMode="relative" rAng="0" ptsTypes="AA">
                                      <p:cBhvr>
                                        <p:cTn id="8" dur="2000" fill="hold"/>
                                        <p:tgtEl>
                                          <p:spTgt spid="18"/>
                                        </p:tgtEl>
                                        <p:attrNameLst>
                                          <p:attrName>ppt_x</p:attrName>
                                          <p:attrName>ppt_y</p:attrName>
                                        </p:attrNameLst>
                                      </p:cBhvr>
                                      <p:rCtr x="195" y="0"/>
                                    </p:animMotion>
                                  </p:childTnLst>
                                </p:cTn>
                              </p:par>
                              <p:par>
                                <p:cTn id="9" presetID="63" presetClass="path" presetSubtype="0" accel="50000" decel="50000" fill="hold" nodeType="withEffect">
                                  <p:stCondLst>
                                    <p:cond delay="0"/>
                                  </p:stCondLst>
                                  <p:childTnLst>
                                    <p:animMotion origin="layout" path="M -2.22222E-6 3.33333E-6 L 0.39097 3.33333E-6 " pathEditMode="relative" rAng="0" ptsTypes="AA">
                                      <p:cBhvr>
                                        <p:cTn id="10" dur="2000" fill="hold"/>
                                        <p:tgtEl>
                                          <p:spTgt spid="19"/>
                                        </p:tgtEl>
                                        <p:attrNameLst>
                                          <p:attrName>ppt_x</p:attrName>
                                          <p:attrName>ppt_y</p:attrName>
                                        </p:attrNameLst>
                                      </p:cBhvr>
                                      <p:rCtr x="19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495299" y="810908"/>
            <a:ext cx="4376446" cy="3939540"/>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rPr>
              <a:t>Usando </a:t>
            </a:r>
            <a:r>
              <a:rPr lang="es-PE" sz="1600" spc="-10" dirty="0" err="1">
                <a:solidFill>
                  <a:srgbClr val="262626"/>
                </a:solidFill>
              </a:rPr>
              <a:t>Sprites</a:t>
            </a:r>
            <a:r>
              <a:rPr lang="es-PE" sz="1600" spc="-10" dirty="0">
                <a:solidFill>
                  <a:srgbClr val="262626"/>
                </a:solidFill>
              </a:rPr>
              <a:t>, todas las instancias de un tipo de objeto también comparten la misma textura. Esto es muy bueno para la </a:t>
            </a:r>
            <a:r>
              <a:rPr lang="es-PE" sz="1600" spc="-10" dirty="0" smtClean="0">
                <a:solidFill>
                  <a:srgbClr val="262626"/>
                </a:solidFill>
              </a:rPr>
              <a:t>optimización; en </a:t>
            </a:r>
            <a:r>
              <a:rPr lang="es-PE" sz="1600" spc="-10" dirty="0">
                <a:solidFill>
                  <a:srgbClr val="262626"/>
                </a:solidFill>
              </a:rPr>
              <a:t>lugar de tener que descargar 8 texturas monstruo de 8 monstruos, solo se necesita descargar una textura monstruo y </a:t>
            </a:r>
            <a:r>
              <a:rPr lang="es-PE" sz="1600" spc="-10" dirty="0" err="1">
                <a:solidFill>
                  <a:srgbClr val="262626"/>
                </a:solidFill>
              </a:rPr>
              <a:t>Construct</a:t>
            </a:r>
            <a:r>
              <a:rPr lang="es-PE" sz="1600" spc="-10" dirty="0">
                <a:solidFill>
                  <a:srgbClr val="262626"/>
                </a:solidFill>
              </a:rPr>
              <a:t> 2 la repetirá 8 veces.</a:t>
            </a:r>
          </a:p>
          <a:p>
            <a:pPr marL="180000" indent="-168275">
              <a:buSzPct val="100000"/>
              <a:buFont typeface="Arial"/>
              <a:buChar char="•"/>
              <a:tabLst>
                <a:tab pos="121285" algn="l"/>
              </a:tabLst>
            </a:pPr>
            <a:endParaRPr lang="es-PE" sz="1600" spc="-10" dirty="0">
              <a:solidFill>
                <a:srgbClr val="262626"/>
              </a:solidFill>
            </a:endParaRPr>
          </a:p>
          <a:p>
            <a:pPr marL="180000" indent="-168275">
              <a:buSzPct val="100000"/>
              <a:buFont typeface="Arial"/>
              <a:buChar char="•"/>
              <a:tabLst>
                <a:tab pos="121285" algn="l"/>
              </a:tabLst>
            </a:pPr>
            <a:r>
              <a:rPr lang="es-PE" sz="1600" spc="-10" dirty="0">
                <a:solidFill>
                  <a:srgbClr val="262626"/>
                </a:solidFill>
              </a:rPr>
              <a:t>Todos los comportamientos asignados a una clase, afectarán a todos los objetos. Así todos los objetos dentro de la clase “enemigo”, tendrán las mismas características.</a:t>
            </a:r>
          </a:p>
          <a:p>
            <a:pPr marL="180000" indent="-168275">
              <a:buSzPct val="100000"/>
              <a:buFont typeface="Arial"/>
              <a:buChar char="•"/>
              <a:tabLst>
                <a:tab pos="121285" algn="l"/>
              </a:tabLst>
            </a:pPr>
            <a:endParaRPr lang="es-PE" sz="1600" spc="-10" dirty="0">
              <a:solidFill>
                <a:srgbClr val="262626"/>
              </a:solidFill>
            </a:endParaRPr>
          </a:p>
          <a:p>
            <a:pPr marL="180000" indent="-168275">
              <a:buSzPct val="100000"/>
              <a:buFont typeface="Arial"/>
              <a:buChar char="•"/>
              <a:tabLst>
                <a:tab pos="121285" algn="l"/>
              </a:tabLst>
            </a:pPr>
            <a:r>
              <a:rPr lang="es-PE" sz="1600" spc="-10" dirty="0">
                <a:solidFill>
                  <a:srgbClr val="262626"/>
                </a:solidFill>
              </a:rPr>
              <a:t>Creemos unos 7-10 monstruos adicionales.</a:t>
            </a:r>
          </a:p>
          <a:p>
            <a:pPr marL="180000" indent="-168275">
              <a:buSzPct val="100000"/>
              <a:buFont typeface="Arial"/>
              <a:buChar char="•"/>
              <a:tabLst>
                <a:tab pos="121285" algn="l"/>
              </a:tabLst>
            </a:pPr>
            <a:endParaRPr lang="es-PE" sz="1600" spc="-10" dirty="0">
              <a:solidFill>
                <a:srgbClr val="262626"/>
              </a:solidFill>
            </a:endParaRPr>
          </a:p>
          <a:p>
            <a:pPr marL="11725">
              <a:buSzPct val="100000"/>
              <a:tabLst>
                <a:tab pos="121285" algn="l"/>
              </a:tabLst>
            </a:pPr>
            <a:r>
              <a:rPr lang="en-US" sz="1600" spc="-10" dirty="0">
                <a:solidFill>
                  <a:srgbClr val="262626"/>
                </a:solidFill>
              </a:rPr>
              <a:t/>
            </a:r>
            <a:br>
              <a:rPr lang="en-US" sz="1600" spc="-10" dirty="0">
                <a:solidFill>
                  <a:srgbClr val="262626"/>
                </a:solidFill>
              </a:rPr>
            </a:br>
            <a:endParaRPr lang="en-US" sz="1600" spc="-10" dirty="0">
              <a:solidFill>
                <a:srgbClr val="262626"/>
              </a:solidFill>
            </a:endParaRPr>
          </a:p>
        </p:txBody>
      </p:sp>
      <p:sp>
        <p:nvSpPr>
          <p:cNvPr id="5"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DUPLICANDO OBJETOS</a:t>
            </a:r>
          </a:p>
        </p:txBody>
      </p:sp>
      <p:pic>
        <p:nvPicPr>
          <p:cNvPr id="10" name="Picture 7" descr="C:\Users\Mauricio\Desktop\diseño de estrategia de videojuegos\construct\monster.png">
            <a:extLst>
              <a:ext uri="{FF2B5EF4-FFF2-40B4-BE49-F238E27FC236}">
                <a16:creationId xmlns:a16="http://schemas.microsoft.com/office/drawing/2014/main" id="{3D575B5A-75E3-4643-82CA-FDEA515A502A}"/>
              </a:ext>
            </a:extLst>
          </p:cNvPr>
          <p:cNvPicPr>
            <a:picLocks noChangeAspect="1" noChangeArrowheads="1"/>
          </p:cNvPicPr>
          <p:nvPr/>
        </p:nvPicPr>
        <p:blipFill>
          <a:blip r:embed="rId3" cstate="print"/>
          <a:srcRect/>
          <a:stretch>
            <a:fillRect/>
          </a:stretch>
        </p:blipFill>
        <p:spPr bwMode="auto">
          <a:xfrm rot="20285383">
            <a:off x="5085047" y="1062146"/>
            <a:ext cx="1119907" cy="771611"/>
          </a:xfrm>
          <a:prstGeom prst="rect">
            <a:avLst/>
          </a:prstGeom>
          <a:noFill/>
        </p:spPr>
      </p:pic>
      <p:pic>
        <p:nvPicPr>
          <p:cNvPr id="11" name="Picture 7" descr="C:\Users\Mauricio\Desktop\diseño de estrategia de videojuegos\construct\monster.png">
            <a:extLst>
              <a:ext uri="{FF2B5EF4-FFF2-40B4-BE49-F238E27FC236}">
                <a16:creationId xmlns:a16="http://schemas.microsoft.com/office/drawing/2014/main" id="{77F35FCD-ACCE-4311-BB30-6D9C0791B95C}"/>
              </a:ext>
            </a:extLst>
          </p:cNvPr>
          <p:cNvPicPr>
            <a:picLocks noChangeAspect="1" noChangeArrowheads="1"/>
          </p:cNvPicPr>
          <p:nvPr/>
        </p:nvPicPr>
        <p:blipFill>
          <a:blip r:embed="rId3" cstate="print"/>
          <a:srcRect/>
          <a:stretch>
            <a:fillRect/>
          </a:stretch>
        </p:blipFill>
        <p:spPr bwMode="auto">
          <a:xfrm rot="2562793">
            <a:off x="6430003" y="1071429"/>
            <a:ext cx="1543062" cy="1063163"/>
          </a:xfrm>
          <a:prstGeom prst="rect">
            <a:avLst/>
          </a:prstGeom>
          <a:noFill/>
        </p:spPr>
      </p:pic>
      <p:pic>
        <p:nvPicPr>
          <p:cNvPr id="12" name="Picture 7" descr="C:\Users\Mauricio\Desktop\diseño de estrategia de videojuegos\construct\monster.png">
            <a:extLst>
              <a:ext uri="{FF2B5EF4-FFF2-40B4-BE49-F238E27FC236}">
                <a16:creationId xmlns:a16="http://schemas.microsoft.com/office/drawing/2014/main" id="{BF231B36-EE87-42E5-85D3-7CE27DA4C595}"/>
              </a:ext>
            </a:extLst>
          </p:cNvPr>
          <p:cNvPicPr>
            <a:picLocks noChangeAspect="1" noChangeArrowheads="1"/>
          </p:cNvPicPr>
          <p:nvPr/>
        </p:nvPicPr>
        <p:blipFill>
          <a:blip r:embed="rId3" cstate="print"/>
          <a:srcRect/>
          <a:stretch>
            <a:fillRect/>
          </a:stretch>
        </p:blipFill>
        <p:spPr bwMode="auto">
          <a:xfrm rot="20475640">
            <a:off x="5351711" y="2470209"/>
            <a:ext cx="1119907" cy="771611"/>
          </a:xfrm>
          <a:prstGeom prst="rect">
            <a:avLst/>
          </a:prstGeom>
          <a:noFill/>
        </p:spPr>
      </p:pic>
      <p:pic>
        <p:nvPicPr>
          <p:cNvPr id="13" name="Picture 7" descr="C:\Users\Mauricio\Desktop\diseño de estrategia de videojuegos\construct\monster.png">
            <a:extLst>
              <a:ext uri="{FF2B5EF4-FFF2-40B4-BE49-F238E27FC236}">
                <a16:creationId xmlns:a16="http://schemas.microsoft.com/office/drawing/2014/main" id="{9F406281-EA82-496B-9D9F-4BC2A884538F}"/>
              </a:ext>
            </a:extLst>
          </p:cNvPr>
          <p:cNvPicPr>
            <a:picLocks noChangeAspect="1" noChangeArrowheads="1"/>
          </p:cNvPicPr>
          <p:nvPr/>
        </p:nvPicPr>
        <p:blipFill>
          <a:blip r:embed="rId3" cstate="print"/>
          <a:srcRect/>
          <a:stretch>
            <a:fillRect/>
          </a:stretch>
        </p:blipFill>
        <p:spPr bwMode="auto">
          <a:xfrm rot="18860931">
            <a:off x="6961521" y="2568696"/>
            <a:ext cx="1513021" cy="1042465"/>
          </a:xfrm>
          <a:prstGeom prst="rect">
            <a:avLst/>
          </a:prstGeom>
          <a:noFill/>
        </p:spPr>
      </p:pic>
      <p:pic>
        <p:nvPicPr>
          <p:cNvPr id="18" name="Picture 7" descr="C:\Users\Mauricio\Desktop\diseño de estrategia de videojuegos\construct\monster.png">
            <a:extLst>
              <a:ext uri="{FF2B5EF4-FFF2-40B4-BE49-F238E27FC236}">
                <a16:creationId xmlns:a16="http://schemas.microsoft.com/office/drawing/2014/main" id="{FD1D1CF8-5EA0-4B41-8A2C-0141D8544EB6}"/>
              </a:ext>
            </a:extLst>
          </p:cNvPr>
          <p:cNvPicPr>
            <a:picLocks noChangeAspect="1" noChangeArrowheads="1"/>
          </p:cNvPicPr>
          <p:nvPr/>
        </p:nvPicPr>
        <p:blipFill>
          <a:blip r:embed="rId3" cstate="print"/>
          <a:srcRect/>
          <a:stretch>
            <a:fillRect/>
          </a:stretch>
        </p:blipFill>
        <p:spPr bwMode="auto">
          <a:xfrm rot="6414233">
            <a:off x="5522614" y="3838677"/>
            <a:ext cx="1428092" cy="983949"/>
          </a:xfrm>
          <a:prstGeom prst="rect">
            <a:avLst/>
          </a:prstGeom>
          <a:noFill/>
        </p:spPr>
      </p:pic>
      <p:pic>
        <p:nvPicPr>
          <p:cNvPr id="19" name="Picture 7" descr="C:\Users\Mauricio\Desktop\diseño de estrategia de videojuegos\construct\monster.png">
            <a:extLst>
              <a:ext uri="{FF2B5EF4-FFF2-40B4-BE49-F238E27FC236}">
                <a16:creationId xmlns:a16="http://schemas.microsoft.com/office/drawing/2014/main" id="{DFB8C641-D6F8-43FD-BF45-10E7A1C4C2C8}"/>
              </a:ext>
            </a:extLst>
          </p:cNvPr>
          <p:cNvPicPr>
            <a:picLocks noChangeAspect="1" noChangeArrowheads="1"/>
          </p:cNvPicPr>
          <p:nvPr/>
        </p:nvPicPr>
        <p:blipFill>
          <a:blip r:embed="rId3" cstate="print"/>
          <a:srcRect/>
          <a:stretch>
            <a:fillRect/>
          </a:stretch>
        </p:blipFill>
        <p:spPr bwMode="auto">
          <a:xfrm rot="1112371">
            <a:off x="6959615" y="4180175"/>
            <a:ext cx="890635" cy="613644"/>
          </a:xfrm>
          <a:prstGeom prst="rect">
            <a:avLst/>
          </a:prstGeom>
          <a:noFill/>
        </p:spPr>
      </p:pic>
    </p:spTree>
    <p:extLst>
      <p:ext uri="{BB962C8B-B14F-4D97-AF65-F5344CB8AC3E}">
        <p14:creationId xmlns:p14="http://schemas.microsoft.com/office/powerpoint/2010/main" val="1827919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9144000" cy="5715000"/>
          </a:xfrm>
          <a:prstGeom prst="rect">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ES" sz="2800" b="1" dirty="0">
                <a:solidFill>
                  <a:schemeClr val="bg1"/>
                </a:solidFill>
                <a:cs typeface="Calibri"/>
              </a:rPr>
              <a:t>EVENTOS</a:t>
            </a:r>
            <a:endParaRPr lang="es-ES" sz="1600" dirty="0">
              <a:solidFill>
                <a:schemeClr val="bg1"/>
              </a:solidFill>
              <a:cs typeface="Calibri"/>
            </a:endParaRPr>
          </a:p>
        </p:txBody>
      </p:sp>
    </p:spTree>
    <p:custDataLst>
      <p:tags r:id="rId1"/>
    </p:custDataLst>
    <p:extLst>
      <p:ext uri="{BB962C8B-B14F-4D97-AF65-F5344CB8AC3E}">
        <p14:creationId xmlns:p14="http://schemas.microsoft.com/office/powerpoint/2010/main" val="1231455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7"/>
          <p:cNvSpPr txBox="1"/>
          <p:nvPr/>
        </p:nvSpPr>
        <p:spPr>
          <a:xfrm>
            <a:off x="495298" y="1589121"/>
            <a:ext cx="8083883" cy="1231106"/>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rPr>
              <a:t>Hagan clic en la pestaña de “</a:t>
            </a:r>
            <a:r>
              <a:rPr lang="es-PE" sz="1600" spc="-10" dirty="0" err="1">
                <a:solidFill>
                  <a:srgbClr val="262626"/>
                </a:solidFill>
              </a:rPr>
              <a:t>event</a:t>
            </a:r>
            <a:r>
              <a:rPr lang="es-PE" sz="1600" spc="-10" dirty="0">
                <a:solidFill>
                  <a:srgbClr val="262626"/>
                </a:solidFill>
              </a:rPr>
              <a:t> </a:t>
            </a:r>
            <a:r>
              <a:rPr lang="es-PE" sz="1600" spc="-10" dirty="0" err="1">
                <a:solidFill>
                  <a:srgbClr val="262626"/>
                </a:solidFill>
              </a:rPr>
              <a:t>sheet</a:t>
            </a:r>
            <a:r>
              <a:rPr lang="es-PE" sz="1600" spc="-10" dirty="0">
                <a:solidFill>
                  <a:srgbClr val="262626"/>
                </a:solidFill>
              </a:rPr>
              <a:t> 1”.</a:t>
            </a:r>
          </a:p>
          <a:p>
            <a:pPr marL="180000" indent="-168275">
              <a:buSzPct val="100000"/>
              <a:buFont typeface="Arial"/>
              <a:buChar char="•"/>
              <a:tabLst>
                <a:tab pos="121285" algn="l"/>
              </a:tabLst>
            </a:pPr>
            <a:endParaRPr lang="es-PE" sz="1600" spc="-10" dirty="0">
              <a:solidFill>
                <a:srgbClr val="262626"/>
              </a:solidFill>
            </a:endParaRPr>
          </a:p>
          <a:p>
            <a:pPr marL="180000" indent="-168275">
              <a:buSzPct val="100000"/>
              <a:buFont typeface="Arial"/>
              <a:buChar char="•"/>
              <a:tabLst>
                <a:tab pos="121285" algn="l"/>
              </a:tabLst>
            </a:pPr>
            <a:r>
              <a:rPr lang="es-PE" sz="1600" spc="-10" dirty="0">
                <a:solidFill>
                  <a:srgbClr val="262626"/>
                </a:solidFill>
              </a:rPr>
              <a:t>Esto nos lleva al “editor de eventos”. Una lista de eventos es llamada “</a:t>
            </a:r>
            <a:r>
              <a:rPr lang="es-PE" sz="1600" spc="-10" dirty="0" err="1">
                <a:solidFill>
                  <a:srgbClr val="262626"/>
                </a:solidFill>
              </a:rPr>
              <a:t>event</a:t>
            </a:r>
            <a:r>
              <a:rPr lang="es-PE" sz="1600" spc="-10" dirty="0">
                <a:solidFill>
                  <a:srgbClr val="262626"/>
                </a:solidFill>
              </a:rPr>
              <a:t> </a:t>
            </a:r>
            <a:r>
              <a:rPr lang="es-PE" sz="1600" spc="-10" dirty="0" err="1">
                <a:solidFill>
                  <a:srgbClr val="262626"/>
                </a:solidFill>
              </a:rPr>
              <a:t>sheet</a:t>
            </a:r>
            <a:r>
              <a:rPr lang="es-PE" sz="1600" spc="-10" dirty="0">
                <a:solidFill>
                  <a:srgbClr val="262626"/>
                </a:solidFill>
              </a:rPr>
              <a:t>” (hoja de eventos) y pueden tener diferentes </a:t>
            </a:r>
            <a:r>
              <a:rPr lang="es-PE" sz="1600" spc="-10" dirty="0" err="1">
                <a:solidFill>
                  <a:srgbClr val="262626"/>
                </a:solidFill>
              </a:rPr>
              <a:t>event</a:t>
            </a:r>
            <a:r>
              <a:rPr lang="es-PE" sz="1600" spc="-10" dirty="0">
                <a:solidFill>
                  <a:srgbClr val="262626"/>
                </a:solidFill>
              </a:rPr>
              <a:t> </a:t>
            </a:r>
            <a:r>
              <a:rPr lang="es-PE" sz="1600" spc="-10" dirty="0" err="1">
                <a:solidFill>
                  <a:srgbClr val="262626"/>
                </a:solidFill>
              </a:rPr>
              <a:t>sheets</a:t>
            </a:r>
            <a:r>
              <a:rPr lang="es-PE" sz="1600" spc="-10" dirty="0">
                <a:solidFill>
                  <a:srgbClr val="262626"/>
                </a:solidFill>
              </a:rPr>
              <a:t> para diferentes partes de su juego o para organizarse mejor. </a:t>
            </a:r>
          </a:p>
        </p:txBody>
      </p:sp>
      <p:sp>
        <p:nvSpPr>
          <p:cNvPr id="10" name="Rectangle 5"/>
          <p:cNvSpPr/>
          <p:nvPr/>
        </p:nvSpPr>
        <p:spPr>
          <a:xfrm>
            <a:off x="407875" y="320830"/>
            <a:ext cx="7204493" cy="353943"/>
          </a:xfrm>
          <a:prstGeom prst="rect">
            <a:avLst/>
          </a:prstGeom>
        </p:spPr>
        <p:txBody>
          <a:bodyPr wrap="square">
            <a:spAutoFit/>
          </a:bodyPr>
          <a:lstStyle/>
          <a:p>
            <a:r>
              <a:rPr lang="es-PE" sz="1700" dirty="0" smtClean="0">
                <a:solidFill>
                  <a:srgbClr val="438AD7"/>
                </a:solidFill>
              </a:rPr>
              <a:t>/ EVENTOS</a:t>
            </a:r>
            <a:endParaRPr lang="es-PE" sz="1700" dirty="0">
              <a:solidFill>
                <a:srgbClr val="438AD7"/>
              </a:solidFill>
            </a:endParaRPr>
          </a:p>
        </p:txBody>
      </p:sp>
      <p:pic>
        <p:nvPicPr>
          <p:cNvPr id="7" name="Picture 2" descr="The Event Sheet tab.">
            <a:extLst>
              <a:ext uri="{FF2B5EF4-FFF2-40B4-BE49-F238E27FC236}">
                <a16:creationId xmlns:a16="http://schemas.microsoft.com/office/drawing/2014/main" id="{7ECAD614-5E18-4EE0-8B8A-A07899A58D6D}"/>
              </a:ext>
            </a:extLst>
          </p:cNvPr>
          <p:cNvPicPr>
            <a:picLocks noChangeAspect="1" noChangeArrowheads="1"/>
          </p:cNvPicPr>
          <p:nvPr/>
        </p:nvPicPr>
        <p:blipFill>
          <a:blip r:embed="rId3" cstate="print"/>
          <a:srcRect/>
          <a:stretch>
            <a:fillRect/>
          </a:stretch>
        </p:blipFill>
        <p:spPr bwMode="auto">
          <a:xfrm>
            <a:off x="2956089" y="3508588"/>
            <a:ext cx="3162300" cy="523875"/>
          </a:xfrm>
          <a:prstGeom prst="rect">
            <a:avLst/>
          </a:prstGeom>
          <a:noFill/>
        </p:spPr>
      </p:pic>
      <p:sp>
        <p:nvSpPr>
          <p:cNvPr id="5" name="Rectangle 5"/>
          <p:cNvSpPr/>
          <p:nvPr/>
        </p:nvSpPr>
        <p:spPr>
          <a:xfrm>
            <a:off x="407874" y="723152"/>
            <a:ext cx="7204493" cy="353943"/>
          </a:xfrm>
          <a:prstGeom prst="rect">
            <a:avLst/>
          </a:prstGeom>
        </p:spPr>
        <p:txBody>
          <a:bodyPr wrap="square">
            <a:spAutoFit/>
          </a:bodyPr>
          <a:lstStyle/>
          <a:p>
            <a:r>
              <a:rPr lang="en-US" sz="1700" dirty="0">
                <a:solidFill>
                  <a:schemeClr val="tx1">
                    <a:lumMod val="75000"/>
                    <a:lumOff val="25000"/>
                  </a:schemeClr>
                </a:solidFill>
              </a:rPr>
              <a:t> </a:t>
            </a:r>
            <a:r>
              <a:rPr lang="en-US" sz="1700" dirty="0" smtClean="0">
                <a:solidFill>
                  <a:schemeClr val="tx1">
                    <a:lumMod val="75000"/>
                    <a:lumOff val="25000"/>
                  </a:schemeClr>
                </a:solidFill>
              </a:rPr>
              <a:t> </a:t>
            </a:r>
            <a:r>
              <a:rPr lang="en-US" sz="1600" dirty="0" smtClean="0">
                <a:solidFill>
                  <a:schemeClr val="tx1">
                    <a:lumMod val="75000"/>
                    <a:lumOff val="25000"/>
                  </a:schemeClr>
                </a:solidFill>
              </a:rPr>
              <a:t>MANEJANDO EVENTOS</a:t>
            </a:r>
            <a:endParaRPr lang="en-US" sz="1700" dirty="0">
              <a:solidFill>
                <a:schemeClr val="tx1">
                  <a:lumMod val="75000"/>
                  <a:lumOff val="25000"/>
                </a:schemeClr>
              </a:solidFill>
            </a:endParaRPr>
          </a:p>
        </p:txBody>
      </p:sp>
    </p:spTree>
    <p:custDataLst>
      <p:tags r:id="rId1"/>
    </p:custDataLst>
    <p:extLst>
      <p:ext uri="{BB962C8B-B14F-4D97-AF65-F5344CB8AC3E}">
        <p14:creationId xmlns:p14="http://schemas.microsoft.com/office/powerpoint/2010/main" val="2174828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407875" y="1496219"/>
            <a:ext cx="4376446" cy="3693319"/>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err="1">
                <a:solidFill>
                  <a:srgbClr val="262626"/>
                </a:solidFill>
              </a:rPr>
              <a:t>Construct</a:t>
            </a:r>
            <a:r>
              <a:rPr lang="es-PE" sz="1600" spc="-10" dirty="0">
                <a:solidFill>
                  <a:srgbClr val="262626"/>
                </a:solidFill>
              </a:rPr>
              <a:t> 2 correrá todo en la hoja de eventos una vez cada “</a:t>
            </a:r>
            <a:r>
              <a:rPr lang="es-PE" sz="1600" spc="-10" dirty="0" err="1">
                <a:solidFill>
                  <a:srgbClr val="262626"/>
                </a:solidFill>
              </a:rPr>
              <a:t>tick</a:t>
            </a:r>
            <a:r>
              <a:rPr lang="es-PE" sz="1600" spc="-10" dirty="0">
                <a:solidFill>
                  <a:srgbClr val="262626"/>
                </a:solidFill>
              </a:rPr>
              <a:t>”. </a:t>
            </a:r>
          </a:p>
          <a:p>
            <a:pPr marL="180000" indent="-168275">
              <a:buSzPct val="100000"/>
              <a:buFont typeface="Arial"/>
              <a:buChar char="•"/>
              <a:tabLst>
                <a:tab pos="121285" algn="l"/>
              </a:tabLst>
            </a:pPr>
            <a:endParaRPr lang="es-PE" sz="1600" spc="-10" dirty="0">
              <a:solidFill>
                <a:srgbClr val="262626"/>
              </a:solidFill>
            </a:endParaRPr>
          </a:p>
          <a:p>
            <a:pPr marL="180000" indent="-168275">
              <a:buSzPct val="100000"/>
              <a:buFont typeface="Arial"/>
              <a:buChar char="•"/>
              <a:tabLst>
                <a:tab pos="121285" algn="l"/>
              </a:tabLst>
            </a:pPr>
            <a:r>
              <a:rPr lang="es-PE" sz="1600" spc="-10" dirty="0">
                <a:solidFill>
                  <a:srgbClr val="262626"/>
                </a:solidFill>
              </a:rPr>
              <a:t>La mayoría de los monitores actualiza su pantalla 60 veces por segundo (60 </a:t>
            </a:r>
            <a:r>
              <a:rPr lang="es-PE" sz="1600" spc="-10" dirty="0" err="1">
                <a:solidFill>
                  <a:srgbClr val="262626"/>
                </a:solidFill>
              </a:rPr>
              <a:t>frames</a:t>
            </a:r>
            <a:r>
              <a:rPr lang="es-PE" sz="1600" spc="-10" dirty="0">
                <a:solidFill>
                  <a:srgbClr val="262626"/>
                </a:solidFill>
              </a:rPr>
              <a:t> por segundo), por lo que </a:t>
            </a:r>
            <a:r>
              <a:rPr lang="es-PE" sz="1600" spc="-10" dirty="0" err="1">
                <a:solidFill>
                  <a:srgbClr val="262626"/>
                </a:solidFill>
              </a:rPr>
              <a:t>Construct</a:t>
            </a:r>
            <a:r>
              <a:rPr lang="es-PE" sz="1600" spc="-10" dirty="0">
                <a:solidFill>
                  <a:srgbClr val="262626"/>
                </a:solidFill>
              </a:rPr>
              <a:t> 2 tratará de igualar ese </a:t>
            </a:r>
            <a:r>
              <a:rPr lang="es-PE" sz="1600" spc="-10" dirty="0" err="1">
                <a:solidFill>
                  <a:srgbClr val="262626"/>
                </a:solidFill>
              </a:rPr>
              <a:t>fps</a:t>
            </a:r>
            <a:r>
              <a:rPr lang="es-PE" sz="1600" spc="-10" dirty="0">
                <a:solidFill>
                  <a:srgbClr val="262626"/>
                </a:solidFill>
              </a:rPr>
              <a:t> para dar la visualización más fluida posible. Esto significa que el </a:t>
            </a:r>
            <a:r>
              <a:rPr lang="es-PE" sz="1600" spc="-10" dirty="0" err="1">
                <a:solidFill>
                  <a:srgbClr val="262626"/>
                </a:solidFill>
              </a:rPr>
              <a:t>event</a:t>
            </a:r>
            <a:r>
              <a:rPr lang="es-PE" sz="1600" spc="-10" dirty="0">
                <a:solidFill>
                  <a:srgbClr val="262626"/>
                </a:solidFill>
              </a:rPr>
              <a:t> </a:t>
            </a:r>
            <a:r>
              <a:rPr lang="es-PE" sz="1600" spc="-10" dirty="0" err="1">
                <a:solidFill>
                  <a:srgbClr val="262626"/>
                </a:solidFill>
              </a:rPr>
              <a:t>sheet</a:t>
            </a:r>
            <a:r>
              <a:rPr lang="es-PE" sz="1600" spc="-10" dirty="0">
                <a:solidFill>
                  <a:srgbClr val="262626"/>
                </a:solidFill>
              </a:rPr>
              <a:t> se ejecuta normalmente 60 veces por cada segundo, seguido de un </a:t>
            </a:r>
            <a:r>
              <a:rPr lang="es-PE" sz="1600" spc="-10" dirty="0" smtClean="0">
                <a:solidFill>
                  <a:srgbClr val="262626"/>
                </a:solidFill>
              </a:rPr>
              <a:t>redibujado </a:t>
            </a:r>
            <a:r>
              <a:rPr lang="es-PE" sz="1600" spc="-10" dirty="0">
                <a:solidFill>
                  <a:srgbClr val="262626"/>
                </a:solidFill>
              </a:rPr>
              <a:t>de la pantalla. Eso es lo que un </a:t>
            </a:r>
            <a:r>
              <a:rPr lang="es-PE" sz="1600" spc="-10" dirty="0" err="1">
                <a:solidFill>
                  <a:srgbClr val="262626"/>
                </a:solidFill>
              </a:rPr>
              <a:t>tick</a:t>
            </a:r>
            <a:r>
              <a:rPr lang="es-PE" sz="1600" spc="-10" dirty="0">
                <a:solidFill>
                  <a:srgbClr val="262626"/>
                </a:solidFill>
              </a:rPr>
              <a:t> </a:t>
            </a:r>
            <a:r>
              <a:rPr lang="es-PE" sz="1600" spc="-10" dirty="0" smtClean="0">
                <a:solidFill>
                  <a:srgbClr val="262626"/>
                </a:solidFill>
              </a:rPr>
              <a:t>significa: una </a:t>
            </a:r>
            <a:r>
              <a:rPr lang="es-PE" sz="1600" spc="-10" dirty="0">
                <a:solidFill>
                  <a:srgbClr val="262626"/>
                </a:solidFill>
              </a:rPr>
              <a:t>unidad de "ejecute los eventos y entonces dibuje la pantalla”. </a:t>
            </a:r>
          </a:p>
          <a:p>
            <a:pPr marL="180000" indent="-168275">
              <a:buSzPct val="100000"/>
              <a:buFont typeface="Arial"/>
              <a:buChar char="•"/>
              <a:tabLst>
                <a:tab pos="121285" algn="l"/>
              </a:tabLst>
            </a:pPr>
            <a:endParaRPr lang="es-PE" sz="1600" spc="-10" dirty="0">
              <a:solidFill>
                <a:srgbClr val="262626"/>
              </a:solidFill>
              <a:cs typeface="Source Sans Pro"/>
            </a:endParaRPr>
          </a:p>
          <a:p>
            <a:pPr marL="11725">
              <a:buSzPct val="100000"/>
              <a:tabLst>
                <a:tab pos="121285" algn="l"/>
              </a:tabLst>
            </a:pPr>
            <a:r>
              <a:rPr lang="en-US" sz="1600" spc="-10" dirty="0">
                <a:solidFill>
                  <a:srgbClr val="262626"/>
                </a:solidFill>
                <a:cs typeface="Source Sans Pro"/>
              </a:rPr>
              <a:t/>
            </a:r>
            <a:br>
              <a:rPr lang="en-US" sz="1600" spc="-10" dirty="0">
                <a:solidFill>
                  <a:srgbClr val="262626"/>
                </a:solidFill>
                <a:cs typeface="Source Sans Pro"/>
              </a:rPr>
            </a:br>
            <a:endParaRPr lang="en-US" sz="1600" spc="-10" dirty="0">
              <a:solidFill>
                <a:srgbClr val="262626"/>
              </a:solidFill>
              <a:cs typeface="Source Sans Pro"/>
            </a:endParaRPr>
          </a:p>
        </p:txBody>
      </p:sp>
      <p:sp>
        <p:nvSpPr>
          <p:cNvPr id="5" name="Rectangle 5"/>
          <p:cNvSpPr/>
          <p:nvPr/>
        </p:nvSpPr>
        <p:spPr>
          <a:xfrm>
            <a:off x="407875" y="320830"/>
            <a:ext cx="7204493" cy="353943"/>
          </a:xfrm>
          <a:prstGeom prst="rect">
            <a:avLst/>
          </a:prstGeom>
        </p:spPr>
        <p:txBody>
          <a:bodyPr wrap="square">
            <a:spAutoFit/>
          </a:bodyPr>
          <a:lstStyle/>
          <a:p>
            <a:r>
              <a:rPr lang="es-PE" sz="1700" dirty="0">
                <a:solidFill>
                  <a:srgbClr val="438AD7"/>
                </a:solidFill>
              </a:rPr>
              <a:t>/ </a:t>
            </a:r>
            <a:r>
              <a:rPr lang="es-PE" sz="1700" dirty="0" smtClean="0">
                <a:solidFill>
                  <a:srgbClr val="438AD7"/>
                </a:solidFill>
              </a:rPr>
              <a:t>EVENTOS</a:t>
            </a:r>
            <a:endParaRPr lang="es-PE" sz="1700" dirty="0">
              <a:solidFill>
                <a:srgbClr val="438AD7"/>
              </a:solidFill>
            </a:endParaRPr>
          </a:p>
        </p:txBody>
      </p:sp>
      <p:pic>
        <p:nvPicPr>
          <p:cNvPr id="2050" name="Picture 2" descr="Resultado de imagen para eventos construct 2">
            <a:extLst>
              <a:ext uri="{FF2B5EF4-FFF2-40B4-BE49-F238E27FC236}">
                <a16:creationId xmlns:a16="http://schemas.microsoft.com/office/drawing/2014/main" id="{82BF4F94-9164-4BAC-BB71-8134BD8A30E6}"/>
              </a:ext>
            </a:extLst>
          </p:cNvPr>
          <p:cNvPicPr>
            <a:picLocks noGrp="1" noChangeAspect="1" noChangeArrowheads="1"/>
          </p:cNvPicPr>
          <p:nvPr>
            <p:ph type="pic" sz="quarter" idx="11"/>
          </p:nvPr>
        </p:nvPicPr>
        <p:blipFill>
          <a:blip r:embed="rId3">
            <a:extLst>
              <a:ext uri="{28A0092B-C50C-407E-A947-70E740481C1C}">
                <a14:useLocalDpi xmlns:a14="http://schemas.microsoft.com/office/drawing/2010/main" val="0"/>
              </a:ext>
            </a:extLst>
          </a:blip>
          <a:srcRect l="17163" r="17163"/>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
        <p:nvSpPr>
          <p:cNvPr id="7" name="Rectangle 5"/>
          <p:cNvSpPr/>
          <p:nvPr/>
        </p:nvSpPr>
        <p:spPr>
          <a:xfrm>
            <a:off x="407874" y="723152"/>
            <a:ext cx="7204493" cy="353943"/>
          </a:xfrm>
          <a:prstGeom prst="rect">
            <a:avLst/>
          </a:prstGeom>
        </p:spPr>
        <p:txBody>
          <a:bodyPr wrap="square">
            <a:spAutoFit/>
          </a:bodyPr>
          <a:lstStyle/>
          <a:p>
            <a:r>
              <a:rPr lang="en-US" sz="1700" dirty="0">
                <a:solidFill>
                  <a:schemeClr val="tx1">
                    <a:lumMod val="75000"/>
                    <a:lumOff val="25000"/>
                  </a:schemeClr>
                </a:solidFill>
              </a:rPr>
              <a:t> </a:t>
            </a:r>
            <a:r>
              <a:rPr lang="en-US" sz="1700" dirty="0" smtClean="0">
                <a:solidFill>
                  <a:schemeClr val="tx1">
                    <a:lumMod val="75000"/>
                    <a:lumOff val="25000"/>
                  </a:schemeClr>
                </a:solidFill>
              </a:rPr>
              <a:t> </a:t>
            </a:r>
            <a:r>
              <a:rPr lang="en-US" sz="1600" dirty="0" smtClean="0">
                <a:solidFill>
                  <a:schemeClr val="tx1">
                    <a:lumMod val="75000"/>
                    <a:lumOff val="25000"/>
                  </a:schemeClr>
                </a:solidFill>
              </a:rPr>
              <a:t>ACERCA DE LOS EVENTOS</a:t>
            </a:r>
            <a:endParaRPr lang="en-US" sz="1700" dirty="0">
              <a:solidFill>
                <a:schemeClr val="tx1">
                  <a:lumMod val="75000"/>
                  <a:lumOff val="25000"/>
                </a:schemeClr>
              </a:solidFill>
            </a:endParaRPr>
          </a:p>
        </p:txBody>
      </p:sp>
    </p:spTree>
    <p:extLst>
      <p:ext uri="{BB962C8B-B14F-4D97-AF65-F5344CB8AC3E}">
        <p14:creationId xmlns:p14="http://schemas.microsoft.com/office/powerpoint/2010/main" val="3211070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7"/>
          <p:cNvSpPr txBox="1"/>
          <p:nvPr/>
        </p:nvSpPr>
        <p:spPr>
          <a:xfrm>
            <a:off x="495298" y="1171252"/>
            <a:ext cx="8083883" cy="492443"/>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rPr>
              <a:t>Los eventos correrán de arriba hacia abajo, así que los que estén primero, correrán primero.</a:t>
            </a:r>
          </a:p>
          <a:p>
            <a:pPr marL="180000" indent="-168275">
              <a:buSzPct val="100000"/>
              <a:buFont typeface="Arial"/>
              <a:buChar char="•"/>
              <a:tabLst>
                <a:tab pos="121285" algn="l"/>
              </a:tabLst>
            </a:pPr>
            <a:endParaRPr lang="es-PE" sz="1600" spc="-10" dirty="0">
              <a:solidFill>
                <a:srgbClr val="262626"/>
              </a:solidFill>
            </a:endParaRPr>
          </a:p>
        </p:txBody>
      </p:sp>
      <p:sp>
        <p:nvSpPr>
          <p:cNvPr id="10" name="Rectangle 5"/>
          <p:cNvSpPr/>
          <p:nvPr/>
        </p:nvSpPr>
        <p:spPr>
          <a:xfrm>
            <a:off x="407875" y="320830"/>
            <a:ext cx="7204493" cy="353943"/>
          </a:xfrm>
          <a:prstGeom prst="rect">
            <a:avLst/>
          </a:prstGeom>
        </p:spPr>
        <p:txBody>
          <a:bodyPr wrap="square">
            <a:spAutoFit/>
          </a:bodyPr>
          <a:lstStyle/>
          <a:p>
            <a:r>
              <a:rPr lang="es-PE" sz="1700" dirty="0">
                <a:solidFill>
                  <a:srgbClr val="438AD7"/>
                </a:solidFill>
              </a:rPr>
              <a:t>/ </a:t>
            </a:r>
            <a:r>
              <a:rPr lang="es-PE" sz="1700" dirty="0" smtClean="0">
                <a:solidFill>
                  <a:srgbClr val="438AD7"/>
                </a:solidFill>
              </a:rPr>
              <a:t>EVENTOS</a:t>
            </a:r>
            <a:endParaRPr lang="es-PE" sz="1700" dirty="0">
              <a:solidFill>
                <a:srgbClr val="438AD7"/>
              </a:solidFill>
            </a:endParaRPr>
          </a:p>
        </p:txBody>
      </p:sp>
      <p:pic>
        <p:nvPicPr>
          <p:cNvPr id="6" name="Picture 2">
            <a:extLst>
              <a:ext uri="{FF2B5EF4-FFF2-40B4-BE49-F238E27FC236}">
                <a16:creationId xmlns:a16="http://schemas.microsoft.com/office/drawing/2014/main" id="{679D9431-E468-46AD-AD2F-5350970B946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9853" t="23557" r="20305" b="5590"/>
          <a:stretch/>
        </p:blipFill>
        <p:spPr bwMode="auto">
          <a:xfrm>
            <a:off x="2731007" y="1573574"/>
            <a:ext cx="3681986" cy="36915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5"/>
          <p:cNvSpPr/>
          <p:nvPr/>
        </p:nvSpPr>
        <p:spPr>
          <a:xfrm>
            <a:off x="407874" y="723152"/>
            <a:ext cx="7204493" cy="353943"/>
          </a:xfrm>
          <a:prstGeom prst="rect">
            <a:avLst/>
          </a:prstGeom>
        </p:spPr>
        <p:txBody>
          <a:bodyPr wrap="square">
            <a:spAutoFit/>
          </a:bodyPr>
          <a:lstStyle/>
          <a:p>
            <a:r>
              <a:rPr lang="en-US" sz="1700" dirty="0">
                <a:solidFill>
                  <a:schemeClr val="tx1">
                    <a:lumMod val="75000"/>
                    <a:lumOff val="25000"/>
                  </a:schemeClr>
                </a:solidFill>
              </a:rPr>
              <a:t> </a:t>
            </a:r>
            <a:r>
              <a:rPr lang="en-US" sz="1700" dirty="0" smtClean="0">
                <a:solidFill>
                  <a:schemeClr val="tx1">
                    <a:lumMod val="75000"/>
                    <a:lumOff val="25000"/>
                  </a:schemeClr>
                </a:solidFill>
              </a:rPr>
              <a:t> </a:t>
            </a:r>
            <a:r>
              <a:rPr lang="en-US" sz="1600" dirty="0" smtClean="0">
                <a:solidFill>
                  <a:schemeClr val="tx1">
                    <a:lumMod val="75000"/>
                    <a:lumOff val="25000"/>
                  </a:schemeClr>
                </a:solidFill>
              </a:rPr>
              <a:t>MANEJANDO EVENTOS</a:t>
            </a:r>
            <a:endParaRPr lang="en-US" sz="1700" dirty="0">
              <a:solidFill>
                <a:schemeClr val="tx1">
                  <a:lumMod val="75000"/>
                  <a:lumOff val="25000"/>
                </a:schemeClr>
              </a:solidFill>
            </a:endParaRPr>
          </a:p>
        </p:txBody>
      </p:sp>
    </p:spTree>
    <p:custDataLst>
      <p:tags r:id="rId1"/>
    </p:custDataLst>
    <p:extLst>
      <p:ext uri="{BB962C8B-B14F-4D97-AF65-F5344CB8AC3E}">
        <p14:creationId xmlns:p14="http://schemas.microsoft.com/office/powerpoint/2010/main" val="1794637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9144000" cy="5715000"/>
          </a:xfrm>
          <a:prstGeom prst="rect">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ES" sz="2800" b="1" dirty="0">
                <a:solidFill>
                  <a:schemeClr val="bg1"/>
                </a:solidFill>
                <a:cs typeface="Calibri"/>
              </a:rPr>
              <a:t>CONDICIONES, ACCIONES Y </a:t>
            </a:r>
            <a:r>
              <a:rPr lang="es-ES" sz="2800" b="1" dirty="0" smtClean="0">
                <a:solidFill>
                  <a:schemeClr val="bg1"/>
                </a:solidFill>
                <a:cs typeface="Calibri"/>
              </a:rPr>
              <a:t>SUBEVENTOS</a:t>
            </a:r>
            <a:endParaRPr lang="es-ES" sz="1600" dirty="0">
              <a:solidFill>
                <a:schemeClr val="bg1"/>
              </a:solidFill>
              <a:cs typeface="Calibri"/>
            </a:endParaRPr>
          </a:p>
        </p:txBody>
      </p:sp>
    </p:spTree>
    <p:custDataLst>
      <p:tags r:id="rId1"/>
    </p:custDataLst>
    <p:extLst>
      <p:ext uri="{BB962C8B-B14F-4D97-AF65-F5344CB8AC3E}">
        <p14:creationId xmlns:p14="http://schemas.microsoft.com/office/powerpoint/2010/main" val="2534439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495299" y="810908"/>
            <a:ext cx="4376446" cy="3693319"/>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rPr>
              <a:t>Los eventos consisten </a:t>
            </a:r>
            <a:r>
              <a:rPr lang="es-PE" sz="1600" spc="-10" dirty="0" smtClean="0">
                <a:solidFill>
                  <a:srgbClr val="262626"/>
                </a:solidFill>
              </a:rPr>
              <a:t>en </a:t>
            </a:r>
            <a:r>
              <a:rPr lang="es-PE" sz="1600" b="1" spc="-10" dirty="0">
                <a:solidFill>
                  <a:srgbClr val="262626"/>
                </a:solidFill>
              </a:rPr>
              <a:t>condiciones</a:t>
            </a:r>
            <a:r>
              <a:rPr lang="es-PE" sz="1600" spc="-10" dirty="0">
                <a:solidFill>
                  <a:srgbClr val="262626"/>
                </a:solidFill>
              </a:rPr>
              <a:t>, las cuales prueban si ciertos criterios se cumplen (</a:t>
            </a:r>
            <a:r>
              <a:rPr lang="es-PE" sz="1600" spc="-10" dirty="0" err="1">
                <a:solidFill>
                  <a:srgbClr val="262626"/>
                </a:solidFill>
              </a:rPr>
              <a:t>ej</a:t>
            </a:r>
            <a:r>
              <a:rPr lang="es-PE" sz="1600" spc="-10" dirty="0">
                <a:solidFill>
                  <a:srgbClr val="262626"/>
                </a:solidFill>
              </a:rPr>
              <a:t>: </a:t>
            </a:r>
            <a:r>
              <a:rPr lang="es-PE" sz="1600" spc="-10" dirty="0" smtClean="0">
                <a:solidFill>
                  <a:srgbClr val="262626"/>
                </a:solidFill>
              </a:rPr>
              <a:t>“¿está </a:t>
            </a:r>
            <a:r>
              <a:rPr lang="es-PE" sz="1600" spc="-10" dirty="0">
                <a:solidFill>
                  <a:srgbClr val="262626"/>
                </a:solidFill>
              </a:rPr>
              <a:t>la barra de espacio presionada</a:t>
            </a:r>
            <a:r>
              <a:rPr lang="es-PE" sz="1600" spc="-10" dirty="0" smtClean="0">
                <a:solidFill>
                  <a:srgbClr val="262626"/>
                </a:solidFill>
              </a:rPr>
              <a:t>?”). </a:t>
            </a:r>
            <a:r>
              <a:rPr lang="es-PE" sz="1600" spc="-10" dirty="0">
                <a:solidFill>
                  <a:srgbClr val="262626"/>
                </a:solidFill>
              </a:rPr>
              <a:t>Si todas estas condiciones se cumplen, todas las </a:t>
            </a:r>
            <a:r>
              <a:rPr lang="es-PE" sz="1600" b="1" spc="-10" dirty="0">
                <a:solidFill>
                  <a:srgbClr val="262626"/>
                </a:solidFill>
              </a:rPr>
              <a:t>acciones</a:t>
            </a:r>
            <a:r>
              <a:rPr lang="es-PE" sz="1600" spc="-10" dirty="0">
                <a:solidFill>
                  <a:srgbClr val="262626"/>
                </a:solidFill>
              </a:rPr>
              <a:t> del evento se ejecutan (</a:t>
            </a:r>
            <a:r>
              <a:rPr lang="es-PE" sz="1600" spc="-10" dirty="0" err="1">
                <a:solidFill>
                  <a:srgbClr val="262626"/>
                </a:solidFill>
              </a:rPr>
              <a:t>ej</a:t>
            </a:r>
            <a:r>
              <a:rPr lang="es-PE" sz="1600" spc="-10" dirty="0">
                <a:solidFill>
                  <a:srgbClr val="262626"/>
                </a:solidFill>
              </a:rPr>
              <a:t>: “crear un objeto bala” o “disparar una bala al presionar la barra espaciadora”). </a:t>
            </a:r>
          </a:p>
          <a:p>
            <a:pPr marL="180000" indent="-168275">
              <a:buSzPct val="100000"/>
              <a:buFont typeface="Arial"/>
              <a:buChar char="•"/>
              <a:tabLst>
                <a:tab pos="121285" algn="l"/>
              </a:tabLst>
            </a:pPr>
            <a:endParaRPr lang="es-PE" sz="1600" spc="-10" dirty="0">
              <a:solidFill>
                <a:srgbClr val="262626"/>
              </a:solidFill>
            </a:endParaRPr>
          </a:p>
          <a:p>
            <a:pPr marL="180000" indent="-168275">
              <a:buSzPct val="100000"/>
              <a:buFont typeface="Arial"/>
              <a:buChar char="•"/>
              <a:tabLst>
                <a:tab pos="121285" algn="l"/>
              </a:tabLst>
            </a:pPr>
            <a:r>
              <a:rPr lang="es-PE" sz="1600" spc="-10" dirty="0">
                <a:solidFill>
                  <a:srgbClr val="262626"/>
                </a:solidFill>
              </a:rPr>
              <a:t>Luego de que las </a:t>
            </a:r>
            <a:r>
              <a:rPr lang="es-PE" sz="1600" b="1" spc="-10" dirty="0">
                <a:solidFill>
                  <a:srgbClr val="262626"/>
                </a:solidFill>
              </a:rPr>
              <a:t>acciones</a:t>
            </a:r>
            <a:r>
              <a:rPr lang="es-PE" sz="1600" spc="-10" dirty="0">
                <a:solidFill>
                  <a:srgbClr val="262626"/>
                </a:solidFill>
              </a:rPr>
              <a:t> se ejecuten, es el turno de ejecutar los </a:t>
            </a:r>
            <a:r>
              <a:rPr lang="es-PE" sz="1600" b="1" spc="-10" dirty="0" err="1" smtClean="0">
                <a:solidFill>
                  <a:srgbClr val="262626"/>
                </a:solidFill>
              </a:rPr>
              <a:t>subeventos</a:t>
            </a:r>
            <a:r>
              <a:rPr lang="es-PE" sz="1600" spc="-10" dirty="0">
                <a:solidFill>
                  <a:srgbClr val="262626"/>
                </a:solidFill>
              </a:rPr>
              <a:t>, los cuales prueban más </a:t>
            </a:r>
            <a:r>
              <a:rPr lang="es-PE" sz="1600" b="1" spc="-10" dirty="0">
                <a:solidFill>
                  <a:srgbClr val="262626"/>
                </a:solidFill>
              </a:rPr>
              <a:t>condiciones</a:t>
            </a:r>
            <a:r>
              <a:rPr lang="es-PE" sz="1600" spc="-10" dirty="0">
                <a:solidFill>
                  <a:srgbClr val="262626"/>
                </a:solidFill>
              </a:rPr>
              <a:t>, luego ejecutan más </a:t>
            </a:r>
            <a:r>
              <a:rPr lang="es-PE" sz="1600" b="1" spc="-10" dirty="0">
                <a:solidFill>
                  <a:srgbClr val="262626"/>
                </a:solidFill>
              </a:rPr>
              <a:t>acciones</a:t>
            </a:r>
            <a:r>
              <a:rPr lang="es-PE" sz="1600" spc="-10" dirty="0">
                <a:solidFill>
                  <a:srgbClr val="262626"/>
                </a:solidFill>
              </a:rPr>
              <a:t>, luego más </a:t>
            </a:r>
            <a:r>
              <a:rPr lang="es-PE" sz="1600" b="1" spc="-10" dirty="0" err="1" smtClean="0">
                <a:solidFill>
                  <a:srgbClr val="262626"/>
                </a:solidFill>
              </a:rPr>
              <a:t>subeventos</a:t>
            </a:r>
            <a:r>
              <a:rPr lang="es-PE" sz="1600" b="1" spc="-10" dirty="0" smtClean="0">
                <a:solidFill>
                  <a:srgbClr val="262626"/>
                </a:solidFill>
              </a:rPr>
              <a:t> </a:t>
            </a:r>
            <a:r>
              <a:rPr lang="es-PE" sz="1600" spc="-10" dirty="0">
                <a:solidFill>
                  <a:srgbClr val="262626"/>
                </a:solidFill>
              </a:rPr>
              <a:t>y así sucesivamente.  </a:t>
            </a:r>
          </a:p>
          <a:p>
            <a:pPr marL="180000" indent="-168275">
              <a:buSzPct val="100000"/>
              <a:buFont typeface="Arial"/>
              <a:buChar char="•"/>
              <a:tabLst>
                <a:tab pos="121285" algn="l"/>
              </a:tabLst>
            </a:pPr>
            <a:endParaRPr lang="es-PE" sz="1600" spc="-10" dirty="0">
              <a:solidFill>
                <a:srgbClr val="262626"/>
              </a:solidFill>
              <a:cs typeface="Source Sans Pro"/>
            </a:endParaRPr>
          </a:p>
          <a:p>
            <a:pPr marL="11725">
              <a:buSzPct val="100000"/>
              <a:tabLst>
                <a:tab pos="121285" algn="l"/>
              </a:tabLst>
            </a:pPr>
            <a:r>
              <a:rPr lang="en-US" sz="1600" spc="-10" dirty="0">
                <a:solidFill>
                  <a:srgbClr val="262626"/>
                </a:solidFill>
                <a:cs typeface="Source Sans Pro"/>
              </a:rPr>
              <a:t/>
            </a:r>
            <a:br>
              <a:rPr lang="en-US" sz="1600" spc="-10" dirty="0">
                <a:solidFill>
                  <a:srgbClr val="262626"/>
                </a:solidFill>
                <a:cs typeface="Source Sans Pro"/>
              </a:rPr>
            </a:br>
            <a:endParaRPr lang="en-US" sz="1600" spc="-10" dirty="0">
              <a:solidFill>
                <a:srgbClr val="262626"/>
              </a:solidFill>
              <a:cs typeface="Source Sans Pro"/>
            </a:endParaRPr>
          </a:p>
        </p:txBody>
      </p:sp>
      <p:sp>
        <p:nvSpPr>
          <p:cNvPr id="5" name="Rectangle 5"/>
          <p:cNvSpPr/>
          <p:nvPr/>
        </p:nvSpPr>
        <p:spPr>
          <a:xfrm>
            <a:off x="407875" y="320830"/>
            <a:ext cx="7204493" cy="353943"/>
          </a:xfrm>
          <a:prstGeom prst="rect">
            <a:avLst/>
          </a:prstGeom>
        </p:spPr>
        <p:txBody>
          <a:bodyPr wrap="square">
            <a:spAutoFit/>
          </a:bodyPr>
          <a:lstStyle/>
          <a:p>
            <a:r>
              <a:rPr lang="es-PE" sz="1700" dirty="0">
                <a:solidFill>
                  <a:srgbClr val="438AD7"/>
                </a:solidFill>
              </a:rPr>
              <a:t>/ CONDICIONES, ACCIONES Y </a:t>
            </a:r>
            <a:r>
              <a:rPr lang="es-PE" sz="1700" dirty="0" smtClean="0">
                <a:solidFill>
                  <a:srgbClr val="438AD7"/>
                </a:solidFill>
              </a:rPr>
              <a:t>SUBEVENTOS</a:t>
            </a:r>
            <a:endParaRPr lang="es-PE" sz="1700" dirty="0">
              <a:solidFill>
                <a:srgbClr val="438AD7"/>
              </a:solidFill>
            </a:endParaRPr>
          </a:p>
        </p:txBody>
      </p:sp>
      <p:pic>
        <p:nvPicPr>
          <p:cNvPr id="4104" name="Picture 8" descr="Resultado de imagen para SUBEVENT construct 2">
            <a:extLst>
              <a:ext uri="{FF2B5EF4-FFF2-40B4-BE49-F238E27FC236}">
                <a16:creationId xmlns:a16="http://schemas.microsoft.com/office/drawing/2014/main" id="{BCF915D6-F30F-47D6-94F4-A3D2DBE63D49}"/>
              </a:ext>
            </a:extLst>
          </p:cNvPr>
          <p:cNvPicPr>
            <a:picLocks noGrp="1" noChangeAspect="1" noChangeArrowheads="1"/>
          </p:cNvPicPr>
          <p:nvPr>
            <p:ph type="pic" sz="quarter" idx="11"/>
          </p:nvPr>
        </p:nvPicPr>
        <p:blipFill rotWithShape="1">
          <a:blip r:embed="rId3">
            <a:extLst>
              <a:ext uri="{28A0092B-C50C-407E-A947-70E740481C1C}">
                <a14:useLocalDpi xmlns:a14="http://schemas.microsoft.com/office/drawing/2010/main" val="0"/>
              </a:ext>
            </a:extLst>
          </a:blip>
          <a:srcRect l="3912" t="-17311" r="3912" b="-17311"/>
          <a:stretch/>
        </p:blipFill>
        <p:spPr bwMode="auto">
          <a:xfrm>
            <a:off x="5045075" y="881063"/>
            <a:ext cx="3624263" cy="4308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1078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495299" y="810908"/>
            <a:ext cx="4376446" cy="3447098"/>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rPr>
              <a:t>En resumen, un evento funciona básicamente así:</a:t>
            </a:r>
          </a:p>
          <a:p>
            <a:pPr marL="180000" indent="-168275">
              <a:buSzPct val="100000"/>
              <a:buFont typeface="Arial"/>
              <a:buChar char="•"/>
              <a:tabLst>
                <a:tab pos="121285" algn="l"/>
              </a:tabLst>
            </a:pPr>
            <a:endParaRPr lang="es-PE" sz="1600" spc="-10" dirty="0">
              <a:solidFill>
                <a:srgbClr val="262626"/>
              </a:solidFill>
            </a:endParaRPr>
          </a:p>
          <a:p>
            <a:pPr marL="180000" lvl="1" indent="-168275">
              <a:buSzPct val="100000"/>
              <a:buFont typeface="Arial"/>
              <a:buChar char="•"/>
              <a:tabLst>
                <a:tab pos="121285" algn="l"/>
              </a:tabLst>
            </a:pPr>
            <a:r>
              <a:rPr lang="es-PE" sz="1600" spc="-10" dirty="0">
                <a:solidFill>
                  <a:srgbClr val="262626"/>
                </a:solidFill>
              </a:rPr>
              <a:t>¿Todas las condiciones se cumplen? </a:t>
            </a:r>
            <a:br>
              <a:rPr lang="es-PE" sz="1600" spc="-10" dirty="0">
                <a:solidFill>
                  <a:srgbClr val="262626"/>
                </a:solidFill>
              </a:rPr>
            </a:br>
            <a:r>
              <a:rPr lang="es-PE" sz="1600" spc="-10" dirty="0">
                <a:solidFill>
                  <a:srgbClr val="262626"/>
                </a:solidFill>
              </a:rPr>
              <a:t>---&gt; </a:t>
            </a:r>
            <a:r>
              <a:rPr lang="es-PE" sz="1600" b="1" spc="-10" dirty="0">
                <a:solidFill>
                  <a:srgbClr val="262626"/>
                </a:solidFill>
              </a:rPr>
              <a:t>Sí </a:t>
            </a:r>
            <a:r>
              <a:rPr lang="es-PE" sz="1600" spc="-10" dirty="0">
                <a:solidFill>
                  <a:srgbClr val="262626"/>
                </a:solidFill>
              </a:rPr>
              <a:t>: ejecutar todas las acciones del evento.</a:t>
            </a:r>
            <a:br>
              <a:rPr lang="es-PE" sz="1600" spc="-10" dirty="0">
                <a:solidFill>
                  <a:srgbClr val="262626"/>
                </a:solidFill>
              </a:rPr>
            </a:br>
            <a:r>
              <a:rPr lang="es-PE" sz="1600" spc="-10" dirty="0">
                <a:solidFill>
                  <a:srgbClr val="262626"/>
                </a:solidFill>
              </a:rPr>
              <a:t>---&gt; </a:t>
            </a:r>
            <a:r>
              <a:rPr lang="es-PE" sz="1600" b="1" spc="-10" dirty="0">
                <a:solidFill>
                  <a:srgbClr val="262626"/>
                </a:solidFill>
              </a:rPr>
              <a:t>No</a:t>
            </a:r>
            <a:r>
              <a:rPr lang="es-PE" sz="1600" spc="-10" dirty="0">
                <a:solidFill>
                  <a:srgbClr val="262626"/>
                </a:solidFill>
              </a:rPr>
              <a:t> : ir al siguiente evento (sin incluir los </a:t>
            </a:r>
            <a:r>
              <a:rPr lang="es-PE" sz="1600" spc="-10" dirty="0" err="1" smtClean="0">
                <a:solidFill>
                  <a:srgbClr val="262626"/>
                </a:solidFill>
              </a:rPr>
              <a:t>subeventos</a:t>
            </a:r>
            <a:r>
              <a:rPr lang="es-PE" sz="1600" spc="-10" dirty="0">
                <a:solidFill>
                  <a:srgbClr val="262626"/>
                </a:solidFill>
              </a:rPr>
              <a:t>). </a:t>
            </a:r>
          </a:p>
          <a:p>
            <a:pPr marL="180000" lvl="1" indent="-168275">
              <a:buSzPct val="100000"/>
              <a:buFont typeface="Arial"/>
              <a:buChar char="•"/>
              <a:tabLst>
                <a:tab pos="121285" algn="l"/>
              </a:tabLst>
            </a:pPr>
            <a:endParaRPr lang="es-PE" sz="1600" spc="-10" dirty="0">
              <a:solidFill>
                <a:srgbClr val="262626"/>
              </a:solidFill>
            </a:endParaRPr>
          </a:p>
          <a:p>
            <a:pPr marL="180000" indent="-168275">
              <a:buSzPct val="100000"/>
              <a:buFont typeface="Arial"/>
              <a:buChar char="•"/>
              <a:tabLst>
                <a:tab pos="121285" algn="l"/>
              </a:tabLst>
            </a:pPr>
            <a:r>
              <a:rPr lang="es-PE" sz="1600" spc="-10" dirty="0" err="1">
                <a:solidFill>
                  <a:srgbClr val="262626"/>
                </a:solidFill>
              </a:rPr>
              <a:t>Construct</a:t>
            </a:r>
            <a:r>
              <a:rPr lang="es-PE" sz="1600" spc="-10" dirty="0">
                <a:solidFill>
                  <a:srgbClr val="262626"/>
                </a:solidFill>
              </a:rPr>
              <a:t> 2 proporciona muchas funciones de eventos para cubrir muchas cosas diferentes que pueden llegar a necesitar para su juego. Sin embargo, por ahora, </a:t>
            </a:r>
            <a:r>
              <a:rPr lang="es-PE" sz="1600" spc="-10" dirty="0" smtClean="0">
                <a:solidFill>
                  <a:srgbClr val="262626"/>
                </a:solidFill>
              </a:rPr>
              <a:t>esta </a:t>
            </a:r>
            <a:r>
              <a:rPr lang="es-PE" sz="1600" spc="-10" dirty="0">
                <a:solidFill>
                  <a:srgbClr val="262626"/>
                </a:solidFill>
              </a:rPr>
              <a:t>es una buena y sencilla manera de definirlo.</a:t>
            </a:r>
          </a:p>
          <a:p>
            <a:pPr marL="11725">
              <a:buSzPct val="100000"/>
              <a:tabLst>
                <a:tab pos="121285" algn="l"/>
              </a:tabLst>
            </a:pPr>
            <a:r>
              <a:rPr lang="en-US" sz="1600" spc="-10" dirty="0">
                <a:solidFill>
                  <a:srgbClr val="262626"/>
                </a:solidFill>
                <a:cs typeface="Source Sans Pro"/>
              </a:rPr>
              <a:t/>
            </a:r>
            <a:br>
              <a:rPr lang="en-US" sz="1600" spc="-10" dirty="0">
                <a:solidFill>
                  <a:srgbClr val="262626"/>
                </a:solidFill>
                <a:cs typeface="Source Sans Pro"/>
              </a:rPr>
            </a:br>
            <a:endParaRPr lang="en-US" sz="1600" spc="-10" dirty="0">
              <a:solidFill>
                <a:srgbClr val="262626"/>
              </a:solidFill>
              <a:cs typeface="Source Sans Pro"/>
            </a:endParaRPr>
          </a:p>
        </p:txBody>
      </p:sp>
      <p:sp>
        <p:nvSpPr>
          <p:cNvPr id="5" name="Rectangle 5"/>
          <p:cNvSpPr/>
          <p:nvPr/>
        </p:nvSpPr>
        <p:spPr>
          <a:xfrm>
            <a:off x="407875" y="320830"/>
            <a:ext cx="7204493" cy="353943"/>
          </a:xfrm>
          <a:prstGeom prst="rect">
            <a:avLst/>
          </a:prstGeom>
        </p:spPr>
        <p:txBody>
          <a:bodyPr wrap="square">
            <a:spAutoFit/>
          </a:bodyPr>
          <a:lstStyle/>
          <a:p>
            <a:r>
              <a:rPr lang="es-PE" sz="1700" dirty="0">
                <a:solidFill>
                  <a:srgbClr val="438AD7"/>
                </a:solidFill>
              </a:rPr>
              <a:t>/ CONDICIONES, ACCIONES Y </a:t>
            </a:r>
            <a:r>
              <a:rPr lang="es-PE" sz="1700" dirty="0" smtClean="0">
                <a:solidFill>
                  <a:srgbClr val="438AD7"/>
                </a:solidFill>
              </a:rPr>
              <a:t>SUBEVENTOS</a:t>
            </a:r>
            <a:endParaRPr lang="es-PE" sz="1700" dirty="0">
              <a:solidFill>
                <a:srgbClr val="438AD7"/>
              </a:solidFill>
            </a:endParaRPr>
          </a:p>
        </p:txBody>
      </p:sp>
      <p:sp>
        <p:nvSpPr>
          <p:cNvPr id="4" name="Marcador de posición de imagen 3">
            <a:extLst>
              <a:ext uri="{FF2B5EF4-FFF2-40B4-BE49-F238E27FC236}">
                <a16:creationId xmlns:a16="http://schemas.microsoft.com/office/drawing/2014/main" id="{62EF9E79-655D-406B-936B-F11258655495}"/>
              </a:ext>
            </a:extLst>
          </p:cNvPr>
          <p:cNvSpPr>
            <a:spLocks noGrp="1"/>
          </p:cNvSpPr>
          <p:nvPr>
            <p:ph type="pic" sz="quarter" idx="11"/>
          </p:nvPr>
        </p:nvSpPr>
        <p:spPr/>
      </p:sp>
    </p:spTree>
    <p:extLst>
      <p:ext uri="{BB962C8B-B14F-4D97-AF65-F5344CB8AC3E}">
        <p14:creationId xmlns:p14="http://schemas.microsoft.com/office/powerpoint/2010/main" val="62366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7"/>
          <p:cNvSpPr txBox="1"/>
          <p:nvPr/>
        </p:nvSpPr>
        <p:spPr>
          <a:xfrm>
            <a:off x="495298" y="810908"/>
            <a:ext cx="8083883" cy="2462213"/>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rPr>
              <a:t>Queremos que el personaje siempre esté </a:t>
            </a:r>
            <a:r>
              <a:rPr lang="es-PE" sz="1600" spc="-10" dirty="0" smtClean="0">
                <a:solidFill>
                  <a:srgbClr val="262626"/>
                </a:solidFill>
              </a:rPr>
              <a:t>mirando </a:t>
            </a:r>
            <a:r>
              <a:rPr lang="es-PE" sz="1600" spc="-10" dirty="0">
                <a:solidFill>
                  <a:srgbClr val="262626"/>
                </a:solidFill>
              </a:rPr>
              <a:t>hacia donde apunta el mouse. El evento se verá así cuando terminemos</a:t>
            </a:r>
            <a:r>
              <a:rPr lang="es-PE" sz="1600" spc="-10" dirty="0" smtClean="0">
                <a:solidFill>
                  <a:srgbClr val="262626"/>
                </a:solidFill>
              </a:rPr>
              <a:t>:</a:t>
            </a:r>
          </a:p>
          <a:p>
            <a:pPr marL="11725">
              <a:buSzPct val="100000"/>
              <a:tabLst>
                <a:tab pos="121285" algn="l"/>
              </a:tabLst>
            </a:pPr>
            <a:endParaRPr lang="es-PE" sz="1600" spc="-10" dirty="0">
              <a:solidFill>
                <a:srgbClr val="262626"/>
              </a:solidFill>
            </a:endParaRPr>
          </a:p>
          <a:p>
            <a:pPr marL="180000" indent="-168275">
              <a:buSzPct val="100000"/>
              <a:buFont typeface="Arial"/>
              <a:buChar char="•"/>
              <a:tabLst>
                <a:tab pos="121285" algn="l"/>
              </a:tabLst>
            </a:pPr>
            <a:endParaRPr lang="es-PE" sz="1600" spc="-10" dirty="0" smtClean="0">
              <a:solidFill>
                <a:srgbClr val="262626"/>
              </a:solidFill>
            </a:endParaRPr>
          </a:p>
          <a:p>
            <a:pPr marL="180000" indent="-168275">
              <a:buSzPct val="100000"/>
              <a:buFont typeface="Arial"/>
              <a:buChar char="•"/>
              <a:tabLst>
                <a:tab pos="121285" algn="l"/>
              </a:tabLst>
            </a:pPr>
            <a:endParaRPr lang="es-PE" sz="1600" spc="-10" dirty="0">
              <a:solidFill>
                <a:srgbClr val="262626"/>
              </a:solidFill>
            </a:endParaRPr>
          </a:p>
          <a:p>
            <a:pPr marL="11725">
              <a:buSzPct val="100000"/>
              <a:tabLst>
                <a:tab pos="121285" algn="l"/>
              </a:tabLst>
            </a:pPr>
            <a:endParaRPr lang="es-PE" sz="1600" spc="-10" dirty="0" smtClean="0">
              <a:solidFill>
                <a:srgbClr val="262626"/>
              </a:solidFill>
            </a:endParaRPr>
          </a:p>
          <a:p>
            <a:pPr marL="11725">
              <a:buSzPct val="100000"/>
              <a:tabLst>
                <a:tab pos="121285" algn="l"/>
              </a:tabLst>
            </a:pPr>
            <a:endParaRPr lang="es-PE" sz="1600" spc="-10" dirty="0">
              <a:solidFill>
                <a:srgbClr val="262626"/>
              </a:solidFill>
            </a:endParaRPr>
          </a:p>
          <a:p>
            <a:pPr marL="180000" indent="-168275">
              <a:buSzPct val="100000"/>
              <a:buFont typeface="Arial"/>
              <a:buChar char="•"/>
              <a:tabLst>
                <a:tab pos="121285" algn="l"/>
              </a:tabLst>
            </a:pPr>
            <a:r>
              <a:rPr lang="es-PE" sz="1600" spc="-10" dirty="0">
                <a:solidFill>
                  <a:srgbClr val="262626"/>
                </a:solidFill>
              </a:rPr>
              <a:t>Doble clic en la pantalla de eventos. Esto nos lleva a la pantalla de elegir una condición para nuestro nuevo evento. </a:t>
            </a:r>
          </a:p>
          <a:p>
            <a:pPr marL="180000" indent="-168275">
              <a:buSzPct val="100000"/>
              <a:buFont typeface="Arial"/>
              <a:buChar char="•"/>
              <a:tabLst>
                <a:tab pos="121285" algn="l"/>
              </a:tabLst>
            </a:pPr>
            <a:endParaRPr lang="es-PE" sz="1600" spc="-10" dirty="0">
              <a:solidFill>
                <a:srgbClr val="262626"/>
              </a:solidFill>
            </a:endParaRPr>
          </a:p>
        </p:txBody>
      </p:sp>
      <p:sp>
        <p:nvSpPr>
          <p:cNvPr id="10" name="Rectangle 5"/>
          <p:cNvSpPr/>
          <p:nvPr/>
        </p:nvSpPr>
        <p:spPr>
          <a:xfrm>
            <a:off x="407875" y="320830"/>
            <a:ext cx="7204493" cy="353943"/>
          </a:xfrm>
          <a:prstGeom prst="rect">
            <a:avLst/>
          </a:prstGeom>
        </p:spPr>
        <p:txBody>
          <a:bodyPr wrap="square">
            <a:spAutoFit/>
          </a:bodyPr>
          <a:lstStyle/>
          <a:p>
            <a:r>
              <a:rPr lang="es-PE" sz="1700" dirty="0">
                <a:solidFill>
                  <a:srgbClr val="438AD7"/>
                </a:solidFill>
              </a:rPr>
              <a:t>/ CREANDO EL PRIMER EVENTO</a:t>
            </a:r>
          </a:p>
        </p:txBody>
      </p:sp>
      <p:pic>
        <p:nvPicPr>
          <p:cNvPr id="7" name="Picture 7">
            <a:extLst>
              <a:ext uri="{FF2B5EF4-FFF2-40B4-BE49-F238E27FC236}">
                <a16:creationId xmlns:a16="http://schemas.microsoft.com/office/drawing/2014/main" id="{811B0DED-E275-449F-8132-65D8903A88F9}"/>
              </a:ext>
            </a:extLst>
          </p:cNvPr>
          <p:cNvPicPr>
            <a:picLocks noChangeAspect="1" noChangeArrowheads="1"/>
          </p:cNvPicPr>
          <p:nvPr/>
        </p:nvPicPr>
        <p:blipFill>
          <a:blip r:embed="rId3" cstate="print"/>
          <a:srcRect l="17482" t="10414" r="47553" b="85162"/>
          <a:stretch>
            <a:fillRect/>
          </a:stretch>
        </p:blipFill>
        <p:spPr bwMode="auto">
          <a:xfrm>
            <a:off x="730307" y="1414276"/>
            <a:ext cx="7412021" cy="504056"/>
          </a:xfrm>
          <a:prstGeom prst="rect">
            <a:avLst/>
          </a:prstGeom>
          <a:noFill/>
          <a:ln w="9525">
            <a:noFill/>
            <a:miter lim="800000"/>
            <a:headEnd/>
            <a:tailEnd/>
          </a:ln>
        </p:spPr>
      </p:pic>
      <p:pic>
        <p:nvPicPr>
          <p:cNvPr id="8" name="Picture 3">
            <a:extLst>
              <a:ext uri="{FF2B5EF4-FFF2-40B4-BE49-F238E27FC236}">
                <a16:creationId xmlns:a16="http://schemas.microsoft.com/office/drawing/2014/main" id="{53F2E47D-7F14-4627-9E1A-84CB1D65B437}"/>
              </a:ext>
            </a:extLst>
          </p:cNvPr>
          <p:cNvPicPr>
            <a:picLocks noChangeAspect="1" noChangeArrowheads="1"/>
          </p:cNvPicPr>
          <p:nvPr/>
        </p:nvPicPr>
        <p:blipFill>
          <a:blip r:embed="rId4" cstate="print"/>
          <a:srcRect/>
          <a:stretch>
            <a:fillRect/>
          </a:stretch>
        </p:blipFill>
        <p:spPr bwMode="auto">
          <a:xfrm>
            <a:off x="3208186" y="2917010"/>
            <a:ext cx="2727627" cy="2289342"/>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1847385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495299" y="810908"/>
            <a:ext cx="4376446" cy="3200876"/>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rPr>
              <a:t>Información importante antes de seguir avanzando con la creación del evento de sistema:</a:t>
            </a:r>
          </a:p>
          <a:p>
            <a:pPr marL="180000" indent="-168275">
              <a:buSzPct val="100000"/>
              <a:buFont typeface="Arial"/>
              <a:buChar char="•"/>
              <a:tabLst>
                <a:tab pos="121285" algn="l"/>
              </a:tabLst>
            </a:pPr>
            <a:endParaRPr lang="en-US" sz="1600" spc="-10" dirty="0">
              <a:solidFill>
                <a:srgbClr val="262626"/>
              </a:solidFill>
            </a:endParaRPr>
          </a:p>
          <a:p>
            <a:pPr marL="637200" lvl="2" indent="-168275">
              <a:buSzPct val="100000"/>
              <a:buFont typeface="Arial"/>
              <a:buChar char="•"/>
              <a:tabLst>
                <a:tab pos="121285" algn="l"/>
              </a:tabLst>
            </a:pPr>
            <a:r>
              <a:rPr lang="es-PE" sz="1600" spc="-10" dirty="0">
                <a:solidFill>
                  <a:srgbClr val="262626"/>
                </a:solidFill>
              </a:rPr>
              <a:t>Los distintos objetos tienen distintas condiciones y acciones, dependiendo </a:t>
            </a:r>
            <a:r>
              <a:rPr lang="es-PE" sz="1600" spc="-10" dirty="0" smtClean="0">
                <a:solidFill>
                  <a:srgbClr val="262626"/>
                </a:solidFill>
              </a:rPr>
              <a:t>de </a:t>
            </a:r>
            <a:r>
              <a:rPr lang="es-PE" sz="1600" spc="-10" dirty="0">
                <a:solidFill>
                  <a:srgbClr val="262626"/>
                </a:solidFill>
              </a:rPr>
              <a:t>lo que pueden hacer. </a:t>
            </a:r>
          </a:p>
          <a:p>
            <a:pPr marL="637200" lvl="1" indent="-168275">
              <a:buSzPct val="100000"/>
              <a:buFont typeface="Arial"/>
              <a:buChar char="•"/>
              <a:tabLst>
                <a:tab pos="121285" algn="l"/>
              </a:tabLst>
            </a:pPr>
            <a:endParaRPr lang="en-US" sz="1600" spc="-10" dirty="0">
              <a:solidFill>
                <a:srgbClr val="262626"/>
              </a:solidFill>
            </a:endParaRPr>
          </a:p>
          <a:p>
            <a:pPr marL="637200" lvl="2" indent="-168275">
              <a:buSzPct val="100000"/>
              <a:buFont typeface="Arial"/>
              <a:buChar char="•"/>
              <a:tabLst>
                <a:tab pos="121285" algn="l"/>
              </a:tabLst>
            </a:pPr>
            <a:r>
              <a:rPr lang="es-PE" sz="1600" spc="-10" dirty="0">
                <a:solidFill>
                  <a:srgbClr val="262626"/>
                </a:solidFill>
              </a:rPr>
              <a:t>Los objetos “sistema” representan a la funcionalidad del motor </a:t>
            </a:r>
            <a:r>
              <a:rPr lang="es-PE" sz="1600" spc="-10" dirty="0" err="1">
                <a:solidFill>
                  <a:srgbClr val="262626"/>
                </a:solidFill>
              </a:rPr>
              <a:t>Construct</a:t>
            </a:r>
            <a:r>
              <a:rPr lang="es-PE" sz="1600" spc="-10" dirty="0">
                <a:solidFill>
                  <a:srgbClr val="262626"/>
                </a:solidFill>
              </a:rPr>
              <a:t> 2, es decir, las funciones predefinidas del motor de </a:t>
            </a:r>
            <a:r>
              <a:rPr lang="es-PE" sz="1600" spc="-10" dirty="0" err="1">
                <a:solidFill>
                  <a:srgbClr val="262626"/>
                </a:solidFill>
              </a:rPr>
              <a:t>Construct</a:t>
            </a:r>
            <a:r>
              <a:rPr lang="es-PE" sz="1600" spc="-10" dirty="0">
                <a:solidFill>
                  <a:srgbClr val="262626"/>
                </a:solidFill>
              </a:rPr>
              <a:t>.</a:t>
            </a:r>
          </a:p>
          <a:p>
            <a:pPr marL="11725">
              <a:buSzPct val="100000"/>
              <a:tabLst>
                <a:tab pos="121285" algn="l"/>
              </a:tabLst>
            </a:pPr>
            <a:r>
              <a:rPr lang="en-US" sz="1600" spc="-10" dirty="0">
                <a:solidFill>
                  <a:srgbClr val="262626"/>
                </a:solidFill>
                <a:cs typeface="Source Sans Pro"/>
              </a:rPr>
              <a:t/>
            </a:r>
            <a:br>
              <a:rPr lang="en-US" sz="1600" spc="-10" dirty="0">
                <a:solidFill>
                  <a:srgbClr val="262626"/>
                </a:solidFill>
                <a:cs typeface="Source Sans Pro"/>
              </a:rPr>
            </a:br>
            <a:endParaRPr lang="en-US" sz="1600" spc="-10" dirty="0">
              <a:solidFill>
                <a:srgbClr val="262626"/>
              </a:solidFill>
              <a:cs typeface="Source Sans Pro"/>
            </a:endParaRPr>
          </a:p>
        </p:txBody>
      </p:sp>
      <p:sp>
        <p:nvSpPr>
          <p:cNvPr id="5" name="Rectangle 5"/>
          <p:cNvSpPr/>
          <p:nvPr/>
        </p:nvSpPr>
        <p:spPr>
          <a:xfrm>
            <a:off x="407875" y="320830"/>
            <a:ext cx="7204493" cy="353943"/>
          </a:xfrm>
          <a:prstGeom prst="rect">
            <a:avLst/>
          </a:prstGeom>
        </p:spPr>
        <p:txBody>
          <a:bodyPr wrap="square">
            <a:spAutoFit/>
          </a:bodyPr>
          <a:lstStyle/>
          <a:p>
            <a:r>
              <a:rPr lang="es-PE" sz="1700" dirty="0">
                <a:solidFill>
                  <a:srgbClr val="438AD7"/>
                </a:solidFill>
              </a:rPr>
              <a:t>/ CREANDO EL PRIMER EVENTO</a:t>
            </a:r>
          </a:p>
        </p:txBody>
      </p:sp>
      <p:pic>
        <p:nvPicPr>
          <p:cNvPr id="6" name="Picture 3">
            <a:extLst>
              <a:ext uri="{FF2B5EF4-FFF2-40B4-BE49-F238E27FC236}">
                <a16:creationId xmlns:a16="http://schemas.microsoft.com/office/drawing/2014/main" id="{89FA2480-6BE4-4F8F-B9A6-FB9B644D6A4A}"/>
              </a:ext>
            </a:extLst>
          </p:cNvPr>
          <p:cNvPicPr>
            <a:picLocks noChangeAspect="1" noChangeArrowheads="1"/>
          </p:cNvPicPr>
          <p:nvPr/>
        </p:nvPicPr>
        <p:blipFill>
          <a:blip r:embed="rId3" cstate="print"/>
          <a:srcRect l="6522" t="15304" r="86661" b="75113"/>
          <a:stretch>
            <a:fillRect/>
          </a:stretch>
        </p:blipFill>
        <p:spPr bwMode="auto">
          <a:xfrm>
            <a:off x="6320896" y="1366028"/>
            <a:ext cx="1072620" cy="1265518"/>
          </a:xfrm>
          <a:prstGeom prst="rect">
            <a:avLst/>
          </a:prstGeom>
          <a:noFill/>
          <a:ln w="9525">
            <a:noFill/>
            <a:miter lim="800000"/>
            <a:headEnd/>
            <a:tailEnd/>
          </a:ln>
        </p:spPr>
      </p:pic>
    </p:spTree>
    <p:extLst>
      <p:ext uri="{BB962C8B-B14F-4D97-AF65-F5344CB8AC3E}">
        <p14:creationId xmlns:p14="http://schemas.microsoft.com/office/powerpoint/2010/main" val="1448520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7"/>
          <p:cNvSpPr txBox="1"/>
          <p:nvPr/>
        </p:nvSpPr>
        <p:spPr>
          <a:xfrm>
            <a:off x="495298" y="810908"/>
            <a:ext cx="8083883" cy="246221"/>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rPr>
              <a:t>Elegir la condición “</a:t>
            </a:r>
            <a:r>
              <a:rPr lang="es-PE" sz="1600" spc="-10" dirty="0" err="1">
                <a:solidFill>
                  <a:srgbClr val="262626"/>
                </a:solidFill>
              </a:rPr>
              <a:t>every</a:t>
            </a:r>
            <a:r>
              <a:rPr lang="es-PE" sz="1600" spc="-10" dirty="0">
                <a:solidFill>
                  <a:srgbClr val="262626"/>
                </a:solidFill>
              </a:rPr>
              <a:t> </a:t>
            </a:r>
            <a:r>
              <a:rPr lang="es-PE" sz="1600" spc="-10" dirty="0" err="1">
                <a:solidFill>
                  <a:srgbClr val="262626"/>
                </a:solidFill>
              </a:rPr>
              <a:t>tick</a:t>
            </a:r>
            <a:r>
              <a:rPr lang="es-PE" sz="1600" spc="-10" dirty="0">
                <a:solidFill>
                  <a:srgbClr val="262626"/>
                </a:solidFill>
              </a:rPr>
              <a:t>” (es decir, que siempre sucederá).</a:t>
            </a:r>
          </a:p>
        </p:txBody>
      </p:sp>
      <p:sp>
        <p:nvSpPr>
          <p:cNvPr id="10" name="Rectangle 5"/>
          <p:cNvSpPr/>
          <p:nvPr/>
        </p:nvSpPr>
        <p:spPr>
          <a:xfrm>
            <a:off x="407875" y="320830"/>
            <a:ext cx="7204493" cy="353943"/>
          </a:xfrm>
          <a:prstGeom prst="rect">
            <a:avLst/>
          </a:prstGeom>
        </p:spPr>
        <p:txBody>
          <a:bodyPr wrap="square">
            <a:spAutoFit/>
          </a:bodyPr>
          <a:lstStyle/>
          <a:p>
            <a:r>
              <a:rPr lang="es-PE" sz="1700" dirty="0">
                <a:solidFill>
                  <a:srgbClr val="438AD7"/>
                </a:solidFill>
              </a:rPr>
              <a:t>/ CREANDO EL PRIMER EVENTO</a:t>
            </a:r>
          </a:p>
        </p:txBody>
      </p:sp>
      <p:sp>
        <p:nvSpPr>
          <p:cNvPr id="3" name="Marcador de posición de imagen 2">
            <a:extLst>
              <a:ext uri="{FF2B5EF4-FFF2-40B4-BE49-F238E27FC236}">
                <a16:creationId xmlns:a16="http://schemas.microsoft.com/office/drawing/2014/main" id="{A3B395D2-F62C-4E28-BF58-CF299CB3A087}"/>
              </a:ext>
            </a:extLst>
          </p:cNvPr>
          <p:cNvSpPr>
            <a:spLocks noGrp="1"/>
          </p:cNvSpPr>
          <p:nvPr>
            <p:ph type="pic" sz="quarter" idx="10"/>
          </p:nvPr>
        </p:nvSpPr>
        <p:spPr/>
      </p:sp>
      <p:pic>
        <p:nvPicPr>
          <p:cNvPr id="11" name="Picture 4">
            <a:extLst>
              <a:ext uri="{FF2B5EF4-FFF2-40B4-BE49-F238E27FC236}">
                <a16:creationId xmlns:a16="http://schemas.microsoft.com/office/drawing/2014/main" id="{ABC2AA3D-D994-4BD5-9EF8-13BA2D5691F0}"/>
              </a:ext>
            </a:extLst>
          </p:cNvPr>
          <p:cNvPicPr>
            <a:picLocks noChangeAspect="1" noChangeArrowheads="1"/>
          </p:cNvPicPr>
          <p:nvPr/>
        </p:nvPicPr>
        <p:blipFill>
          <a:blip r:embed="rId3" cstate="print"/>
          <a:srcRect/>
          <a:stretch>
            <a:fillRect/>
          </a:stretch>
        </p:blipFill>
        <p:spPr bwMode="auto">
          <a:xfrm>
            <a:off x="2274888" y="1331064"/>
            <a:ext cx="4608512" cy="3867999"/>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122868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7"/>
          <p:cNvSpPr txBox="1"/>
          <p:nvPr/>
        </p:nvSpPr>
        <p:spPr>
          <a:xfrm>
            <a:off x="495298" y="810908"/>
            <a:ext cx="8083883" cy="492443"/>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rPr>
              <a:t>Ahora agreguemos una acción a ese evento. Seleccionemos la opción “</a:t>
            </a:r>
            <a:r>
              <a:rPr lang="es-PE" sz="1600" spc="-10" dirty="0" err="1">
                <a:solidFill>
                  <a:srgbClr val="262626"/>
                </a:solidFill>
              </a:rPr>
              <a:t>add</a:t>
            </a:r>
            <a:r>
              <a:rPr lang="es-PE" sz="1600" spc="-10" dirty="0">
                <a:solidFill>
                  <a:srgbClr val="262626"/>
                </a:solidFill>
              </a:rPr>
              <a:t> </a:t>
            </a:r>
            <a:r>
              <a:rPr lang="es-PE" sz="1600" spc="-10" dirty="0" err="1">
                <a:solidFill>
                  <a:srgbClr val="262626"/>
                </a:solidFill>
              </a:rPr>
              <a:t>action</a:t>
            </a:r>
            <a:r>
              <a:rPr lang="es-PE" sz="1600" spc="-10" dirty="0">
                <a:solidFill>
                  <a:srgbClr val="262626"/>
                </a:solidFill>
              </a:rPr>
              <a:t>” y luego seleccionamos al </a:t>
            </a:r>
            <a:r>
              <a:rPr lang="es-PE" sz="1600" spc="-10" dirty="0" err="1">
                <a:solidFill>
                  <a:srgbClr val="262626"/>
                </a:solidFill>
              </a:rPr>
              <a:t>sprite</a:t>
            </a:r>
            <a:r>
              <a:rPr lang="es-PE" sz="1600" spc="-10" dirty="0">
                <a:solidFill>
                  <a:srgbClr val="262626"/>
                </a:solidFill>
              </a:rPr>
              <a:t> del jugador.</a:t>
            </a:r>
          </a:p>
        </p:txBody>
      </p:sp>
      <p:sp>
        <p:nvSpPr>
          <p:cNvPr id="10" name="Rectangle 5"/>
          <p:cNvSpPr/>
          <p:nvPr/>
        </p:nvSpPr>
        <p:spPr>
          <a:xfrm>
            <a:off x="407875" y="320830"/>
            <a:ext cx="7204493" cy="353943"/>
          </a:xfrm>
          <a:prstGeom prst="rect">
            <a:avLst/>
          </a:prstGeom>
        </p:spPr>
        <p:txBody>
          <a:bodyPr wrap="square">
            <a:spAutoFit/>
          </a:bodyPr>
          <a:lstStyle/>
          <a:p>
            <a:r>
              <a:rPr lang="es-PE" sz="1700" dirty="0">
                <a:solidFill>
                  <a:srgbClr val="438AD7"/>
                </a:solidFill>
              </a:rPr>
              <a:t>/ CREANDO EL PRIMER EVENTO</a:t>
            </a:r>
          </a:p>
        </p:txBody>
      </p:sp>
      <p:pic>
        <p:nvPicPr>
          <p:cNvPr id="2" name="Imagen 1">
            <a:extLst>
              <a:ext uri="{FF2B5EF4-FFF2-40B4-BE49-F238E27FC236}">
                <a16:creationId xmlns:a16="http://schemas.microsoft.com/office/drawing/2014/main" id="{00FC3C7C-D071-47CA-BACD-D8EB06183C10}"/>
              </a:ext>
            </a:extLst>
          </p:cNvPr>
          <p:cNvPicPr>
            <a:picLocks noChangeAspect="1"/>
          </p:cNvPicPr>
          <p:nvPr/>
        </p:nvPicPr>
        <p:blipFill>
          <a:blip r:embed="rId3"/>
          <a:stretch>
            <a:fillRect/>
          </a:stretch>
        </p:blipFill>
        <p:spPr>
          <a:xfrm>
            <a:off x="674851" y="2003748"/>
            <a:ext cx="7724775" cy="2905125"/>
          </a:xfrm>
          <a:prstGeom prst="rect">
            <a:avLst/>
          </a:prstGeom>
        </p:spPr>
      </p:pic>
    </p:spTree>
    <p:custDataLst>
      <p:tags r:id="rId1"/>
    </p:custDataLst>
    <p:extLst>
      <p:ext uri="{BB962C8B-B14F-4D97-AF65-F5344CB8AC3E}">
        <p14:creationId xmlns:p14="http://schemas.microsoft.com/office/powerpoint/2010/main" val="367689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7"/>
          <p:cNvSpPr txBox="1"/>
          <p:nvPr/>
        </p:nvSpPr>
        <p:spPr>
          <a:xfrm>
            <a:off x="495298" y="810908"/>
            <a:ext cx="8083883" cy="492443"/>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rPr>
              <a:t>Al igual que cuando agregamos un evento, se nos mostrará una lista de ítems a elegir, pero esta vez será para agregar una acción.</a:t>
            </a:r>
          </a:p>
        </p:txBody>
      </p:sp>
      <p:sp>
        <p:nvSpPr>
          <p:cNvPr id="10" name="Rectangle 5"/>
          <p:cNvSpPr/>
          <p:nvPr/>
        </p:nvSpPr>
        <p:spPr>
          <a:xfrm>
            <a:off x="407875" y="320830"/>
            <a:ext cx="7204493" cy="353943"/>
          </a:xfrm>
          <a:prstGeom prst="rect">
            <a:avLst/>
          </a:prstGeom>
        </p:spPr>
        <p:txBody>
          <a:bodyPr wrap="square">
            <a:spAutoFit/>
          </a:bodyPr>
          <a:lstStyle/>
          <a:p>
            <a:r>
              <a:rPr lang="es-PE" sz="1700" dirty="0">
                <a:solidFill>
                  <a:srgbClr val="438AD7"/>
                </a:solidFill>
              </a:rPr>
              <a:t>/ CREANDO EL PRIMER EVENTO</a:t>
            </a:r>
          </a:p>
        </p:txBody>
      </p:sp>
      <p:pic>
        <p:nvPicPr>
          <p:cNvPr id="6" name="Picture 5">
            <a:extLst>
              <a:ext uri="{FF2B5EF4-FFF2-40B4-BE49-F238E27FC236}">
                <a16:creationId xmlns:a16="http://schemas.microsoft.com/office/drawing/2014/main" id="{13ACF8D5-686C-4A2C-912F-E8C1D95D5A59}"/>
              </a:ext>
            </a:extLst>
          </p:cNvPr>
          <p:cNvPicPr>
            <a:picLocks noChangeAspect="1" noChangeArrowheads="1"/>
          </p:cNvPicPr>
          <p:nvPr/>
        </p:nvPicPr>
        <p:blipFill>
          <a:blip r:embed="rId3" cstate="print"/>
          <a:srcRect/>
          <a:stretch>
            <a:fillRect/>
          </a:stretch>
        </p:blipFill>
        <p:spPr bwMode="auto">
          <a:xfrm>
            <a:off x="2699792" y="2056313"/>
            <a:ext cx="3744416" cy="314275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286138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7"/>
          <p:cNvSpPr txBox="1"/>
          <p:nvPr/>
        </p:nvSpPr>
        <p:spPr>
          <a:xfrm>
            <a:off x="495298" y="810908"/>
            <a:ext cx="8083883" cy="1477328"/>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rPr>
              <a:t>Aparecerá un cuadro para ingresar las coordenadas. Como ya hemos registrado el mouse como objeto de input, usemos la data que el mismo mouse nos proporciona para lograr el efecto que queremos. Ingresemos </a:t>
            </a:r>
            <a:r>
              <a:rPr lang="es-PE" sz="1600" spc="-10" dirty="0" err="1">
                <a:solidFill>
                  <a:srgbClr val="262626"/>
                </a:solidFill>
              </a:rPr>
              <a:t>Mouse.X</a:t>
            </a:r>
            <a:r>
              <a:rPr lang="es-PE" sz="1600" spc="-10" dirty="0">
                <a:solidFill>
                  <a:srgbClr val="262626"/>
                </a:solidFill>
              </a:rPr>
              <a:t>, para eje X y </a:t>
            </a:r>
            <a:r>
              <a:rPr lang="es-PE" sz="1600" spc="-10" dirty="0" err="1">
                <a:solidFill>
                  <a:srgbClr val="262626"/>
                </a:solidFill>
              </a:rPr>
              <a:t>Mouse.Y</a:t>
            </a:r>
            <a:r>
              <a:rPr lang="es-PE" sz="1600" spc="-10" dirty="0">
                <a:solidFill>
                  <a:srgbClr val="262626"/>
                </a:solidFill>
              </a:rPr>
              <a:t>, para eje Y. </a:t>
            </a:r>
          </a:p>
          <a:p>
            <a:pPr marL="180000" indent="-168275">
              <a:buSzPct val="100000"/>
              <a:buFont typeface="Arial"/>
              <a:buChar char="•"/>
              <a:tabLst>
                <a:tab pos="121285" algn="l"/>
              </a:tabLst>
            </a:pPr>
            <a:endParaRPr lang="es-PE" sz="1600" spc="-10" dirty="0">
              <a:solidFill>
                <a:srgbClr val="262626"/>
              </a:solidFill>
            </a:endParaRPr>
          </a:p>
          <a:p>
            <a:pPr marL="180000" indent="-168275">
              <a:buSzPct val="100000"/>
              <a:buFont typeface="Arial"/>
              <a:buChar char="•"/>
              <a:tabLst>
                <a:tab pos="121285" algn="l"/>
              </a:tabLst>
            </a:pPr>
            <a:r>
              <a:rPr lang="es-PE" sz="1600" spc="-10" dirty="0">
                <a:solidFill>
                  <a:srgbClr val="262626"/>
                </a:solidFill>
              </a:rPr>
              <a:t>Cliqueen “run” y prueben.</a:t>
            </a:r>
          </a:p>
          <a:p>
            <a:pPr marL="180000" indent="-168275">
              <a:buSzPct val="100000"/>
              <a:buFont typeface="Arial"/>
              <a:buChar char="•"/>
              <a:tabLst>
                <a:tab pos="121285" algn="l"/>
              </a:tabLst>
            </a:pPr>
            <a:endParaRPr lang="es-PE" sz="1600" spc="-10" dirty="0">
              <a:solidFill>
                <a:srgbClr val="262626"/>
              </a:solidFill>
            </a:endParaRPr>
          </a:p>
        </p:txBody>
      </p:sp>
      <p:sp>
        <p:nvSpPr>
          <p:cNvPr id="10" name="Rectangle 5"/>
          <p:cNvSpPr/>
          <p:nvPr/>
        </p:nvSpPr>
        <p:spPr>
          <a:xfrm>
            <a:off x="407875" y="320830"/>
            <a:ext cx="7204493" cy="353943"/>
          </a:xfrm>
          <a:prstGeom prst="rect">
            <a:avLst/>
          </a:prstGeom>
        </p:spPr>
        <p:txBody>
          <a:bodyPr wrap="square">
            <a:spAutoFit/>
          </a:bodyPr>
          <a:lstStyle/>
          <a:p>
            <a:r>
              <a:rPr lang="es-PE" sz="1700" dirty="0">
                <a:solidFill>
                  <a:srgbClr val="438AD7"/>
                </a:solidFill>
              </a:rPr>
              <a:t>/ CREANDO EL PRIMER EVENTO</a:t>
            </a:r>
          </a:p>
        </p:txBody>
      </p:sp>
      <p:pic>
        <p:nvPicPr>
          <p:cNvPr id="8" name="Picture 2" descr="Set angle towards position parameters.">
            <a:extLst>
              <a:ext uri="{FF2B5EF4-FFF2-40B4-BE49-F238E27FC236}">
                <a16:creationId xmlns:a16="http://schemas.microsoft.com/office/drawing/2014/main" id="{6436D568-DEDA-4CF2-93A7-83B6C649275A}"/>
              </a:ext>
            </a:extLst>
          </p:cNvPr>
          <p:cNvPicPr>
            <a:picLocks noChangeAspect="1" noChangeArrowheads="1"/>
          </p:cNvPicPr>
          <p:nvPr/>
        </p:nvPicPr>
        <p:blipFill>
          <a:blip r:embed="rId3" cstate="print"/>
          <a:srcRect/>
          <a:stretch>
            <a:fillRect/>
          </a:stretch>
        </p:blipFill>
        <p:spPr bwMode="auto">
          <a:xfrm>
            <a:off x="2443162" y="2295525"/>
            <a:ext cx="4257675" cy="2095501"/>
          </a:xfrm>
          <a:prstGeom prst="rect">
            <a:avLst/>
          </a:prstGeom>
          <a:noFill/>
        </p:spPr>
      </p:pic>
    </p:spTree>
    <p:custDataLst>
      <p:tags r:id="rId1"/>
    </p:custDataLst>
    <p:extLst>
      <p:ext uri="{BB962C8B-B14F-4D97-AF65-F5344CB8AC3E}">
        <p14:creationId xmlns:p14="http://schemas.microsoft.com/office/powerpoint/2010/main" val="230529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788068" y="881063"/>
            <a:ext cx="6871746" cy="4281487"/>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5" name="Rectángulo 10"/>
          <p:cNvSpPr/>
          <p:nvPr/>
        </p:nvSpPr>
        <p:spPr>
          <a:xfrm>
            <a:off x="1832904" y="917413"/>
            <a:ext cx="3402730" cy="1126462"/>
          </a:xfrm>
          <a:prstGeom prst="rect">
            <a:avLst/>
          </a:prstGeom>
        </p:spPr>
        <p:txBody>
          <a:bodyPr wrap="square">
            <a:spAutoFit/>
          </a:bodyPr>
          <a:lstStyle/>
          <a:p>
            <a:pPr defTabSz="731342"/>
            <a:r>
              <a:rPr lang="es-PE" sz="1600" b="1" dirty="0">
                <a:solidFill>
                  <a:schemeClr val="tx2">
                    <a:lumMod val="60000"/>
                    <a:lumOff val="40000"/>
                  </a:schemeClr>
                </a:solidFill>
              </a:rPr>
              <a:t>REPASO</a:t>
            </a:r>
            <a:endParaRPr lang="es-PE" sz="1600" dirty="0">
              <a:solidFill>
                <a:schemeClr val="tx2">
                  <a:lumMod val="60000"/>
                  <a:lumOff val="40000"/>
                </a:schemeClr>
              </a:solidFill>
            </a:endParaRPr>
          </a:p>
          <a:p>
            <a:pPr marL="176213" indent="-176213" defTabSz="731342">
              <a:buFont typeface="Arial"/>
              <a:buChar char="•"/>
            </a:pPr>
            <a:r>
              <a:rPr lang="es-PE" sz="1600" dirty="0">
                <a:solidFill>
                  <a:srgbClr val="000000"/>
                </a:solidFill>
              </a:rPr>
              <a:t>Repasar la creación de eventos y acciones en </a:t>
            </a:r>
            <a:r>
              <a:rPr lang="es-PE" sz="1600" dirty="0" err="1">
                <a:solidFill>
                  <a:srgbClr val="000000"/>
                </a:solidFill>
              </a:rPr>
              <a:t>Construct</a:t>
            </a:r>
            <a:r>
              <a:rPr lang="es-PE" sz="1600" dirty="0">
                <a:solidFill>
                  <a:srgbClr val="000000"/>
                </a:solidFill>
              </a:rPr>
              <a:t> 2.</a:t>
            </a:r>
          </a:p>
          <a:p>
            <a:pPr marL="285750" indent="-285750" defTabSz="731342">
              <a:lnSpc>
                <a:spcPct val="120000"/>
              </a:lnSpc>
              <a:buFont typeface="Arial"/>
              <a:buChar char="•"/>
            </a:pPr>
            <a:endParaRPr lang="es-PE" sz="1600" dirty="0">
              <a:solidFill>
                <a:srgbClr val="000000"/>
              </a:solidFill>
            </a:endParaRPr>
          </a:p>
        </p:txBody>
      </p:sp>
      <p:sp>
        <p:nvSpPr>
          <p:cNvPr id="2" name="Rectángulo 1"/>
          <p:cNvSpPr/>
          <p:nvPr/>
        </p:nvSpPr>
        <p:spPr>
          <a:xfrm>
            <a:off x="5477544" y="993537"/>
            <a:ext cx="3070939" cy="4017347"/>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9"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ACTIVIDAD</a:t>
            </a:r>
          </a:p>
        </p:txBody>
      </p:sp>
    </p:spTree>
    <p:custDataLst>
      <p:tags r:id="rId1"/>
    </p:custDataLst>
    <p:extLst>
      <p:ext uri="{BB962C8B-B14F-4D97-AF65-F5344CB8AC3E}">
        <p14:creationId xmlns:p14="http://schemas.microsoft.com/office/powerpoint/2010/main" val="2748238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9144000" cy="5715000"/>
          </a:xfrm>
          <a:prstGeom prst="rect">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10"/>
          <p:cNvSpPr/>
          <p:nvPr/>
        </p:nvSpPr>
        <p:spPr>
          <a:xfrm>
            <a:off x="2527711" y="770440"/>
            <a:ext cx="6132101" cy="1923604"/>
          </a:xfrm>
          <a:prstGeom prst="rect">
            <a:avLst/>
          </a:prstGeom>
        </p:spPr>
        <p:txBody>
          <a:bodyPr wrap="square">
            <a:spAutoFit/>
          </a:bodyPr>
          <a:lstStyle/>
          <a:p>
            <a:pPr marL="180975" indent="-180975">
              <a:buFont typeface="Arial" panose="020B0604020202020204" pitchFamily="34" charset="0"/>
              <a:buChar char="•"/>
            </a:pPr>
            <a:r>
              <a:rPr lang="es-PE" sz="1700" dirty="0" err="1">
                <a:solidFill>
                  <a:srgbClr val="FFFFFF"/>
                </a:solidFill>
                <a:ea typeface="Calibri" panose="020F0502020204030204" pitchFamily="34" charset="0"/>
                <a:cs typeface="Source Sans Pro" panose="020B0604020202020204" charset="0"/>
              </a:rPr>
              <a:t>Construct</a:t>
            </a:r>
            <a:r>
              <a:rPr lang="es-PE" sz="1700" dirty="0">
                <a:solidFill>
                  <a:srgbClr val="FFFFFF"/>
                </a:solidFill>
                <a:ea typeface="Calibri" panose="020F0502020204030204" pitchFamily="34" charset="0"/>
                <a:cs typeface="Source Sans Pro" panose="020B0604020202020204" charset="0"/>
              </a:rPr>
              <a:t> 2 nos permite programar sin saber programar a través de sus eventos, condiciones, </a:t>
            </a:r>
            <a:r>
              <a:rPr lang="es-PE" sz="1700" dirty="0" err="1" smtClean="0">
                <a:solidFill>
                  <a:srgbClr val="FFFFFF"/>
                </a:solidFill>
                <a:ea typeface="Calibri" panose="020F0502020204030204" pitchFamily="34" charset="0"/>
                <a:cs typeface="Source Sans Pro" panose="020B0604020202020204" charset="0"/>
              </a:rPr>
              <a:t>subeventos</a:t>
            </a:r>
            <a:r>
              <a:rPr lang="es-PE" sz="1700" dirty="0" smtClean="0">
                <a:solidFill>
                  <a:srgbClr val="FFFFFF"/>
                </a:solidFill>
                <a:ea typeface="Calibri" panose="020F0502020204030204" pitchFamily="34" charset="0"/>
                <a:cs typeface="Source Sans Pro" panose="020B0604020202020204" charset="0"/>
              </a:rPr>
              <a:t> </a:t>
            </a:r>
            <a:r>
              <a:rPr lang="es-PE" sz="1700" dirty="0">
                <a:solidFill>
                  <a:srgbClr val="FFFFFF"/>
                </a:solidFill>
                <a:ea typeface="Calibri" panose="020F0502020204030204" pitchFamily="34" charset="0"/>
                <a:cs typeface="Source Sans Pro" panose="020B0604020202020204" charset="0"/>
              </a:rPr>
              <a:t>y acciones.</a:t>
            </a:r>
          </a:p>
          <a:p>
            <a:pPr marL="180975" indent="-180975">
              <a:buFont typeface="Arial" panose="020B0604020202020204" pitchFamily="34" charset="0"/>
              <a:buChar char="•"/>
            </a:pPr>
            <a:endParaRPr lang="es-PE" sz="1700" dirty="0">
              <a:solidFill>
                <a:srgbClr val="FFFFFF"/>
              </a:solidFill>
              <a:ea typeface="Calibri" panose="020F0502020204030204" pitchFamily="34" charset="0"/>
              <a:cs typeface="Source Sans Pro" panose="020B0604020202020204" charset="0"/>
            </a:endParaRPr>
          </a:p>
          <a:p>
            <a:pPr marL="180975" indent="-180975">
              <a:buFont typeface="Arial" panose="020B0604020202020204" pitchFamily="34" charset="0"/>
              <a:buChar char="•"/>
            </a:pPr>
            <a:r>
              <a:rPr lang="es-PE" sz="1700" dirty="0">
                <a:solidFill>
                  <a:srgbClr val="FFFFFF"/>
                </a:solidFill>
                <a:ea typeface="Calibri" panose="020F0502020204030204" pitchFamily="34" charset="0"/>
                <a:cs typeface="Source Sans Pro" panose="020B0604020202020204" charset="0"/>
              </a:rPr>
              <a:t>La hoja de eventos de </a:t>
            </a:r>
            <a:r>
              <a:rPr lang="es-PE" sz="1700" dirty="0" err="1">
                <a:solidFill>
                  <a:srgbClr val="FFFFFF"/>
                </a:solidFill>
                <a:ea typeface="Calibri" panose="020F0502020204030204" pitchFamily="34" charset="0"/>
                <a:cs typeface="Source Sans Pro" panose="020B0604020202020204" charset="0"/>
              </a:rPr>
              <a:t>Construct</a:t>
            </a:r>
            <a:r>
              <a:rPr lang="es-PE" sz="1700" dirty="0">
                <a:solidFill>
                  <a:srgbClr val="FFFFFF"/>
                </a:solidFill>
                <a:ea typeface="Calibri" panose="020F0502020204030204" pitchFamily="34" charset="0"/>
                <a:cs typeface="Source Sans Pro" panose="020B0604020202020204" charset="0"/>
              </a:rPr>
              <a:t> 2 es el motor de nuestros juegos. Allí van definidos todos los mecanismos para crear el gameplay que estamos proponiendo.</a:t>
            </a:r>
          </a:p>
          <a:p>
            <a:pPr lvl="1"/>
            <a:endParaRPr lang="es-PE" sz="1700" dirty="0">
              <a:solidFill>
                <a:srgbClr val="FFFFFF"/>
              </a:solidFill>
              <a:latin typeface="Calibri"/>
              <a:ea typeface="Calibri" panose="020F0502020204030204" pitchFamily="34" charset="0"/>
              <a:cs typeface="Source Sans Pro" panose="020B0604020202020204" charset="0"/>
            </a:endParaRPr>
          </a:p>
        </p:txBody>
      </p:sp>
      <p:sp>
        <p:nvSpPr>
          <p:cNvPr id="9" name="Rectangle 5"/>
          <p:cNvSpPr/>
          <p:nvPr/>
        </p:nvSpPr>
        <p:spPr>
          <a:xfrm>
            <a:off x="407875" y="320830"/>
            <a:ext cx="7204493" cy="353943"/>
          </a:xfrm>
          <a:prstGeom prst="rect">
            <a:avLst/>
          </a:prstGeom>
        </p:spPr>
        <p:txBody>
          <a:bodyPr wrap="square">
            <a:spAutoFit/>
          </a:bodyPr>
          <a:lstStyle/>
          <a:p>
            <a:r>
              <a:rPr lang="en-US" sz="1700" dirty="0">
                <a:solidFill>
                  <a:schemeClr val="bg1"/>
                </a:solidFill>
              </a:rPr>
              <a:t>/ CONCLUSIONES</a:t>
            </a:r>
          </a:p>
        </p:txBody>
      </p:sp>
    </p:spTree>
    <p:custDataLst>
      <p:tags r:id="rId1"/>
    </p:custDataLst>
    <p:extLst>
      <p:ext uri="{BB962C8B-B14F-4D97-AF65-F5344CB8AC3E}">
        <p14:creationId xmlns:p14="http://schemas.microsoft.com/office/powerpoint/2010/main" val="4015447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25"/>
          <p:cNvSpPr txBox="1">
            <a:spLocks/>
          </p:cNvSpPr>
          <p:nvPr/>
        </p:nvSpPr>
        <p:spPr>
          <a:xfrm>
            <a:off x="398994" y="724844"/>
            <a:ext cx="7881937" cy="1801640"/>
          </a:xfrm>
          <a:prstGeom prst="rect">
            <a:avLst/>
          </a:prstGeom>
        </p:spPr>
        <p:txBody>
          <a:bodyPr lIns="91425" tIns="91425" rIns="91425" bIns="91425" anchor="t" anchorCtr="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4625" indent="-174625">
              <a:spcBef>
                <a:spcPts val="0"/>
              </a:spcBef>
              <a:buSzPct val="100000"/>
            </a:pPr>
            <a:r>
              <a:rPr lang="es-PE" sz="1500" dirty="0">
                <a:cs typeface="Calibri"/>
                <a:hlinkClick r:id="rId3"/>
              </a:rPr>
              <a:t>https://www.scirra.com/manual/1/construct-2</a:t>
            </a:r>
            <a:r>
              <a:rPr lang="es-PE" sz="1500" dirty="0">
                <a:cs typeface="Calibri"/>
              </a:rPr>
              <a:t> - </a:t>
            </a:r>
            <a:r>
              <a:rPr lang="es-PE" sz="1600" dirty="0" err="1"/>
              <a:t>Scirra</a:t>
            </a:r>
            <a:r>
              <a:rPr lang="es-PE" sz="1600" dirty="0"/>
              <a:t> </a:t>
            </a:r>
            <a:r>
              <a:rPr lang="es-PE" sz="1600" dirty="0" err="1"/>
              <a:t>Ltd</a:t>
            </a:r>
            <a:endParaRPr lang="es" sz="1500" dirty="0">
              <a:solidFill>
                <a:srgbClr val="006621"/>
              </a:solidFill>
              <a:latin typeface="Calibri"/>
              <a:cs typeface="Calibri"/>
            </a:endParaRPr>
          </a:p>
        </p:txBody>
      </p:sp>
      <p:sp>
        <p:nvSpPr>
          <p:cNvPr id="9"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BIBLIOGRAFÍA</a:t>
            </a:r>
          </a:p>
        </p:txBody>
      </p:sp>
    </p:spTree>
    <p:custDataLst>
      <p:tags r:id="rId1"/>
    </p:custDataLst>
    <p:extLst>
      <p:ext uri="{BB962C8B-B14F-4D97-AF65-F5344CB8AC3E}">
        <p14:creationId xmlns:p14="http://schemas.microsoft.com/office/powerpoint/2010/main" val="1480541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3481</TotalTime>
  <Words>1462</Words>
  <Application>Microsoft Office PowerPoint</Application>
  <PresentationFormat>Presentación en pantalla (16:10)</PresentationFormat>
  <Paragraphs>171</Paragraphs>
  <Slides>30</Slides>
  <Notes>15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30</vt:i4>
      </vt:variant>
    </vt:vector>
  </HeadingPairs>
  <TitlesOfParts>
    <vt:vector size="35" baseType="lpstr">
      <vt:lpstr>Arial</vt:lpstr>
      <vt:lpstr>Calibri</vt:lpstr>
      <vt:lpstr>Source Sans Pro</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lastModifiedBy>Diego Santamaria Saldaña</cp:lastModifiedBy>
  <cp:revision>356</cp:revision>
  <cp:lastPrinted>2018-01-16T21:42:59Z</cp:lastPrinted>
  <dcterms:created xsi:type="dcterms:W3CDTF">2016-10-06T14:52:02Z</dcterms:created>
  <dcterms:modified xsi:type="dcterms:W3CDTF">2020-11-03T17:24:31Z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