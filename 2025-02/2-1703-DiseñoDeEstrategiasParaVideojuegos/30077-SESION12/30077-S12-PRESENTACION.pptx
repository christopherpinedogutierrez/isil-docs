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12.xml" ContentType="application/vnd.openxmlformats-officedocument.presentationml.notesSlide+xml"/>
  <Override PartName="/ppt/tags/tag2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306" r:id="rId3"/>
    <p:sldId id="353" r:id="rId4"/>
    <p:sldId id="379" r:id="rId5"/>
    <p:sldId id="378" r:id="rId6"/>
    <p:sldId id="376" r:id="rId7"/>
    <p:sldId id="377" r:id="rId8"/>
    <p:sldId id="380" r:id="rId9"/>
    <p:sldId id="381" r:id="rId10"/>
    <p:sldId id="382" r:id="rId11"/>
    <p:sldId id="383" r:id="rId12"/>
    <p:sldId id="384" r:id="rId13"/>
    <p:sldId id="386" r:id="rId14"/>
    <p:sldId id="359" r:id="rId15"/>
    <p:sldId id="387" r:id="rId16"/>
    <p:sldId id="385" r:id="rId17"/>
    <p:sldId id="360" r:id="rId18"/>
    <p:sldId id="315" r:id="rId19"/>
    <p:sldId id="388" r:id="rId20"/>
    <p:sldId id="392" r:id="rId21"/>
    <p:sldId id="393" r:id="rId22"/>
    <p:sldId id="395" r:id="rId23"/>
    <p:sldId id="389" r:id="rId24"/>
    <p:sldId id="390" r:id="rId25"/>
    <p:sldId id="391" r:id="rId26"/>
    <p:sldId id="304" r:id="rId27"/>
    <p:sldId id="303" r:id="rId28"/>
    <p:sldId id="305" r:id="rId29"/>
  </p:sldIdLst>
  <p:sldSz cx="9144000" cy="5715000" type="screen16x10"/>
  <p:notesSz cx="6858000" cy="9144000"/>
  <p:custDataLst>
    <p:tags r:id="rId3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">
          <p15:clr>
            <a:srgbClr val="A4A3A4"/>
          </p15:clr>
        </p15:guide>
        <p15:guide id="2" pos="5455">
          <p15:clr>
            <a:srgbClr val="A4A3A4"/>
          </p15:clr>
        </p15:guide>
        <p15:guide id="3" orient="horz" pos="3274" userDrawn="1">
          <p15:clr>
            <a:srgbClr val="A4A3A4"/>
          </p15:clr>
        </p15:guide>
        <p15:guide id="4" orient="horz" pos="689" userDrawn="1">
          <p15:clr>
            <a:srgbClr val="A4A3A4"/>
          </p15:clr>
        </p15:guide>
        <p15:guide id="5" pos="476" userDrawn="1">
          <p15:clr>
            <a:srgbClr val="A4A3A4"/>
          </p15:clr>
        </p15:guide>
        <p15:guide id="6" pos="493">
          <p15:clr>
            <a:srgbClr val="A4A3A4"/>
          </p15:clr>
        </p15:guide>
        <p15:guide id="7" orient="horz" pos="387">
          <p15:clr>
            <a:srgbClr val="A4A3A4"/>
          </p15:clr>
        </p15:guide>
        <p15:guide id="8" orient="horz" pos="542">
          <p15:clr>
            <a:srgbClr val="A4A3A4"/>
          </p15:clr>
        </p15:guide>
        <p15:guide id="9" orient="horz" pos="259">
          <p15:clr>
            <a:srgbClr val="A4A3A4"/>
          </p15:clr>
        </p15:guide>
        <p15:guide id="10" orient="horz" pos="3269">
          <p15:clr>
            <a:srgbClr val="A4A3A4"/>
          </p15:clr>
        </p15:guide>
        <p15:guide id="11" pos="5461">
          <p15:clr>
            <a:srgbClr val="A4A3A4"/>
          </p15:clr>
        </p15:guide>
        <p15:guide id="12" pos="30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va Zoraida Hamada Doshi" initials="EZHD" lastIdx="1" clrIdx="0">
    <p:extLst>
      <p:ext uri="{19B8F6BF-5375-455C-9EA6-DF929625EA0E}">
        <p15:presenceInfo xmlns:p15="http://schemas.microsoft.com/office/powerpoint/2012/main" userId="Elva Zoraida Hamada Dosh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BFD5EF"/>
    <a:srgbClr val="558ED5"/>
    <a:srgbClr val="FFFFFF"/>
    <a:srgbClr val="A6A6A6"/>
    <a:srgbClr val="F2F2F2"/>
    <a:srgbClr val="7F7F7F"/>
    <a:srgbClr val="FFFFFE"/>
    <a:srgbClr val="00B4B0"/>
    <a:srgbClr val="215B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67" autoAdjust="0"/>
    <p:restoredTop sz="90000" autoAdjust="0"/>
  </p:normalViewPr>
  <p:slideViewPr>
    <p:cSldViewPr snapToGrid="0" snapToObjects="1" showGuides="1">
      <p:cViewPr varScale="1">
        <p:scale>
          <a:sx n="98" d="100"/>
          <a:sy n="98" d="100"/>
        </p:scale>
        <p:origin x="1470" y="72"/>
      </p:cViewPr>
      <p:guideLst>
        <p:guide orient="horz" pos="217"/>
        <p:guide pos="5455"/>
        <p:guide orient="horz" pos="3274"/>
        <p:guide orient="horz" pos="689"/>
        <p:guide pos="476"/>
        <p:guide pos="493"/>
        <p:guide orient="horz" pos="387"/>
        <p:guide orient="horz" pos="542"/>
        <p:guide orient="horz" pos="259"/>
        <p:guide orient="horz" pos="3269"/>
        <p:guide pos="5461"/>
        <p:guide pos="30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2DC7-834F-6148-86AF-F72164F7FFC1}" type="datetimeFigureOut">
              <a:rPr lang="es-ES" smtClean="0"/>
              <a:t>03/11/2020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FD5-E31A-6D44-BE80-5A94AC694F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51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720-AE80-4069-8D89-2C76E8AFD874}" type="datetimeFigureOut">
              <a:rPr lang="es-PE" smtClean="0"/>
              <a:t>3/11/2020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00CA-E45F-416D-B659-25554F846B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85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85975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79607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90517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74772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696383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70337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27863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353655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88055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08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4313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 userDrawn="1"/>
        </p:nvSpPr>
        <p:spPr>
          <a:xfrm>
            <a:off x="312777" y="5260073"/>
            <a:ext cx="8568205" cy="3127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4882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posición de imagen 17"/>
          <p:cNvSpPr>
            <a:spLocks noGrp="1"/>
          </p:cNvSpPr>
          <p:nvPr>
            <p:ph type="pic" sz="quarter" idx="11"/>
          </p:nvPr>
        </p:nvSpPr>
        <p:spPr>
          <a:xfrm>
            <a:off x="5045075" y="881063"/>
            <a:ext cx="3624263" cy="4308475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1824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/>
          <p:cNvSpPr>
            <a:spLocks noGrp="1"/>
          </p:cNvSpPr>
          <p:nvPr>
            <p:ph type="pic" sz="quarter" idx="10"/>
          </p:nvPr>
        </p:nvSpPr>
        <p:spPr>
          <a:xfrm>
            <a:off x="488950" y="881063"/>
            <a:ext cx="3682835" cy="4308474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2226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Cen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ción de imagen 8"/>
          <p:cNvSpPr>
            <a:spLocks noGrp="1"/>
          </p:cNvSpPr>
          <p:nvPr>
            <p:ph type="pic" sz="quarter" idx="10"/>
          </p:nvPr>
        </p:nvSpPr>
        <p:spPr>
          <a:xfrm>
            <a:off x="2260600" y="2295525"/>
            <a:ext cx="4622800" cy="2903538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5508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2 Imá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/>
          <p:cNvSpPr>
            <a:spLocks noGrp="1"/>
          </p:cNvSpPr>
          <p:nvPr>
            <p:ph type="pic" sz="quarter" idx="11"/>
          </p:nvPr>
        </p:nvSpPr>
        <p:spPr>
          <a:xfrm>
            <a:off x="4662488" y="1528763"/>
            <a:ext cx="4006850" cy="3660775"/>
          </a:xfrm>
          <a:prstGeom prst="rect">
            <a:avLst/>
          </a:prstGeom>
        </p:spPr>
        <p:txBody>
          <a:bodyPr vert="horz"/>
          <a:lstStyle/>
          <a:p>
            <a:endParaRPr lang="es-ES" dirty="0"/>
          </a:p>
        </p:txBody>
      </p:sp>
      <p:sp>
        <p:nvSpPr>
          <p:cNvPr id="6" name="Marcador de imágenes prediseñadas 5"/>
          <p:cNvSpPr>
            <a:spLocks noGrp="1"/>
          </p:cNvSpPr>
          <p:nvPr>
            <p:ph type="clipArt" sz="quarter" idx="10"/>
          </p:nvPr>
        </p:nvSpPr>
        <p:spPr>
          <a:xfrm>
            <a:off x="503238" y="1528763"/>
            <a:ext cx="4013235" cy="3660775"/>
          </a:xfrm>
          <a:prstGeom prst="rect">
            <a:avLst/>
          </a:prstGeom>
        </p:spPr>
        <p:txBody>
          <a:bodyPr vert="horz"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64691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Imagen Gig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/>
          <p:cNvSpPr>
            <a:spLocks noGrp="1"/>
          </p:cNvSpPr>
          <p:nvPr>
            <p:ph type="pic" sz="quarter" idx="10"/>
          </p:nvPr>
        </p:nvSpPr>
        <p:spPr>
          <a:xfrm>
            <a:off x="488950" y="860424"/>
            <a:ext cx="8180387" cy="4329113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695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/>
          <p:cNvSpPr>
            <a:spLocks noGrp="1"/>
          </p:cNvSpPr>
          <p:nvPr>
            <p:ph type="pic" sz="quarter" idx="10"/>
          </p:nvPr>
        </p:nvSpPr>
        <p:spPr>
          <a:xfrm>
            <a:off x="2184400" y="1360488"/>
            <a:ext cx="4775200" cy="2686050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5261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/>
          <p:cNvGrpSpPr/>
          <p:nvPr userDrawn="1"/>
        </p:nvGrpSpPr>
        <p:grpSpPr>
          <a:xfrm>
            <a:off x="944054" y="5369051"/>
            <a:ext cx="7804380" cy="215444"/>
            <a:chOff x="944054" y="5369051"/>
            <a:chExt cx="7804380" cy="215444"/>
          </a:xfrm>
        </p:grpSpPr>
        <p:sp>
          <p:nvSpPr>
            <p:cNvPr id="16" name="TextBox 7"/>
            <p:cNvSpPr txBox="1"/>
            <p:nvPr userDrawn="1"/>
          </p:nvSpPr>
          <p:spPr>
            <a:xfrm>
              <a:off x="944054" y="5369051"/>
              <a:ext cx="263886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DISEÑO</a:t>
              </a:r>
              <a:r>
                <a:rPr lang="en-US" sz="800" kern="1200" baseline="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DE ESTRATEGIAS PARA VIDEOJUEGOS</a:t>
              </a:r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</a:t>
              </a: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SESIÓN </a:t>
              </a:r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12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endParaRPr>
            </a:p>
          </p:txBody>
        </p:sp>
        <p:sp>
          <p:nvSpPr>
            <p:cNvPr id="18" name="Rectangle 3"/>
            <p:cNvSpPr/>
            <p:nvPr userDrawn="1"/>
          </p:nvSpPr>
          <p:spPr>
            <a:xfrm>
              <a:off x="7379148" y="5384440"/>
              <a:ext cx="1369286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© </a:t>
              </a:r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ISIL</a:t>
              </a:r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. Todos los derechos reservados</a:t>
              </a:r>
            </a:p>
          </p:txBody>
        </p:sp>
      </p:grp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11">
            <a:alphaModFix amt="20000"/>
          </a:blip>
          <a:stretch>
            <a:fillRect/>
          </a:stretch>
        </p:blipFill>
        <p:spPr>
          <a:xfrm>
            <a:off x="495300" y="5328911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60" r:id="rId5"/>
    <p:sldLayoutId id="2147483657" r:id="rId6"/>
    <p:sldLayoutId id="2147483658" r:id="rId7"/>
    <p:sldLayoutId id="2147483661" r:id="rId8"/>
    <p:sldLayoutId id="2147483659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8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rra.com/manual/1/construct-2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3"/>
          <p:cNvSpPr/>
          <p:nvPr/>
        </p:nvSpPr>
        <p:spPr>
          <a:xfrm>
            <a:off x="503238" y="1207530"/>
            <a:ext cx="8049072" cy="36963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Calibri"/>
                <a:cs typeface="Calibri"/>
              </a:rPr>
              <a:t>SESIÓN /</a:t>
            </a:r>
            <a:r>
              <a:rPr lang="en-US" sz="2800" b="1" dirty="0">
                <a:solidFill>
                  <a:schemeClr val="bg1"/>
                </a:solidFill>
                <a:latin typeface="Calibri"/>
                <a:cs typeface="Calibri"/>
              </a:rPr>
              <a:t>12</a:t>
            </a:r>
          </a:p>
          <a:p>
            <a:pPr algn="ctr">
              <a:lnSpc>
                <a:spcPct val="90000"/>
              </a:lnSpc>
              <a:defRPr/>
            </a:pPr>
            <a:r>
              <a:rPr lang="es-PE" sz="3000" b="1" dirty="0">
                <a:solidFill>
                  <a:schemeClr val="bg1"/>
                </a:solidFill>
                <a:latin typeface="Calibri"/>
                <a:cs typeface="Calibri"/>
              </a:rPr>
              <a:t>EFECTOS ESPECIALES EN CONSTRUCT 2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en-US" b="1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en-US" b="1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en-US" b="1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lnSpc>
                <a:spcPct val="110000"/>
              </a:lnSpc>
              <a:defRPr/>
            </a:pPr>
            <a:r>
              <a:rPr lang="en-US" sz="1600" b="1" dirty="0">
                <a:solidFill>
                  <a:schemeClr val="bg1"/>
                </a:solidFill>
                <a:latin typeface="Calibri"/>
                <a:cs typeface="Calibri"/>
              </a:rPr>
              <a:t>/ PLATFORMER GAME</a:t>
            </a:r>
          </a:p>
          <a:p>
            <a:pPr>
              <a:lnSpc>
                <a:spcPct val="110000"/>
              </a:lnSpc>
              <a:defRPr/>
            </a:pPr>
            <a:r>
              <a:rPr lang="en-US" sz="1600" b="1" dirty="0">
                <a:solidFill>
                  <a:schemeClr val="bg1"/>
                </a:solidFill>
                <a:latin typeface="Calibri"/>
                <a:cs typeface="Calibri"/>
              </a:rPr>
              <a:t>/ SISTEMAS DE PARTÍCULAS</a:t>
            </a:r>
          </a:p>
          <a:p>
            <a:pPr>
              <a:lnSpc>
                <a:spcPct val="110000"/>
              </a:lnSpc>
              <a:defRPr/>
            </a:pPr>
            <a:r>
              <a:rPr lang="en-US" sz="1600" b="1" dirty="0">
                <a:solidFill>
                  <a:schemeClr val="bg1"/>
                </a:solidFill>
                <a:latin typeface="Calibri"/>
                <a:cs typeface="Calibri"/>
              </a:rPr>
              <a:t>/ EFFECTS Y </a:t>
            </a:r>
            <a:r>
              <a:rPr lang="es-ES" sz="1600" b="1" dirty="0">
                <a:solidFill>
                  <a:schemeClr val="bg1"/>
                </a:solidFill>
                <a:latin typeface="Calibri"/>
                <a:cs typeface="Calibri"/>
              </a:rPr>
              <a:t>BLEND MODES</a:t>
            </a:r>
          </a:p>
          <a:p>
            <a:pPr>
              <a:lnSpc>
                <a:spcPct val="110000"/>
              </a:lnSpc>
              <a:defRPr/>
            </a:pPr>
            <a:endParaRPr lang="es-ES" sz="1600" b="1" dirty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ct val="110000"/>
              </a:lnSpc>
              <a:defRPr/>
            </a:pPr>
            <a:endParaRPr lang="es-ES" sz="1600" b="1" dirty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ct val="110000"/>
              </a:lnSpc>
              <a:defRPr/>
            </a:pPr>
            <a:endParaRPr lang="es-ES" sz="1600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3172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INTRODUCCIÓN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95299" y="810908"/>
            <a:ext cx="8102216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 err="1">
                <a:solidFill>
                  <a:srgbClr val="262626"/>
                </a:solidFill>
                <a:cs typeface="Source Sans Pro"/>
              </a:rPr>
              <a:t>Construct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 2 nos permite agregar efectos que ayudan a mejorar la experiencia del usuario y agregarle más </a:t>
            </a:r>
            <a:r>
              <a:rPr lang="es-PE" sz="1600" spc="-10" dirty="0" err="1">
                <a:solidFill>
                  <a:srgbClr val="262626"/>
                </a:solidFill>
                <a:cs typeface="Source Sans Pro"/>
              </a:rPr>
              <a:t>Juicy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 a nuestros juegos.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Los sistemas de partículas y los </a:t>
            </a:r>
            <a:r>
              <a:rPr lang="es-PE" sz="1600" spc="-10" dirty="0" err="1">
                <a:solidFill>
                  <a:srgbClr val="262626"/>
                </a:solidFill>
                <a:cs typeface="Source Sans Pro"/>
              </a:rPr>
              <a:t>blend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  <a:cs typeface="Source Sans Pro"/>
              </a:rPr>
              <a:t>modes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 son recursos muy </a:t>
            </a:r>
            <a:r>
              <a:rPr lang="es-PE" sz="1600" spc="-10" dirty="0" err="1" smtClean="0">
                <a:solidFill>
                  <a:srgbClr val="262626"/>
                </a:solidFill>
                <a:cs typeface="Source Sans Pro"/>
              </a:rPr>
              <a:t>utilizadoS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en los videojuegos, para mejorar el </a:t>
            </a:r>
            <a:r>
              <a:rPr lang="es-PE" sz="1600" spc="-10" dirty="0" err="1">
                <a:solidFill>
                  <a:srgbClr val="262626"/>
                </a:solidFill>
                <a:cs typeface="Source Sans Pro"/>
              </a:rPr>
              <a:t>feedback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 que recibe el usuario cuando realiza una acción.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9734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ES" sz="2800" b="1" dirty="0">
                <a:solidFill>
                  <a:schemeClr val="bg1"/>
                </a:solidFill>
                <a:cs typeface="Calibri"/>
              </a:rPr>
              <a:t>PLATFORMER GAME</a:t>
            </a:r>
            <a:endParaRPr lang="es-ES" sz="1600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9030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En la siguiente sesión crearemos un juego de plataformas con </a:t>
            </a:r>
            <a:r>
              <a:rPr lang="es-PE" sz="1600" spc="-10" dirty="0" err="1">
                <a:solidFill>
                  <a:srgbClr val="262626"/>
                </a:solidFill>
              </a:rPr>
              <a:t>Construct</a:t>
            </a:r>
            <a:r>
              <a:rPr lang="es-PE" sz="1600" spc="-10" dirty="0">
                <a:solidFill>
                  <a:srgbClr val="262626"/>
                </a:solidFill>
              </a:rPr>
              <a:t> 2 y utilizaremos sistemas de partículas y </a:t>
            </a:r>
            <a:r>
              <a:rPr lang="es-PE" sz="1600" spc="-10" dirty="0" err="1">
                <a:solidFill>
                  <a:srgbClr val="262626"/>
                </a:solidFill>
              </a:rPr>
              <a:t>blend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modes</a:t>
            </a:r>
            <a:r>
              <a:rPr lang="es-PE" sz="1600" spc="-10" dirty="0">
                <a:solidFill>
                  <a:srgbClr val="262626"/>
                </a:solidFill>
              </a:rPr>
              <a:t> para mejorar la experiencia del usuario.</a:t>
            </a: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PLATORMER GAME</a:t>
            </a:r>
          </a:p>
        </p:txBody>
      </p:sp>
      <p:pic>
        <p:nvPicPr>
          <p:cNvPr id="6" name="Picture 2" descr="Resultado de imagen para kenney asset platformer">
            <a:extLst>
              <a:ext uri="{FF2B5EF4-FFF2-40B4-BE49-F238E27FC236}">
                <a16:creationId xmlns:a16="http://schemas.microsoft.com/office/drawing/2014/main" id="{17E2927D-2E80-49EA-A4F5-E604DFBD4F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0600" y="2295526"/>
            <a:ext cx="4550572" cy="2559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90004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9000"/>
            <a:ext cx="4376446" cy="2215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Crear un nuevo proyecto (</a:t>
            </a:r>
            <a:r>
              <a:rPr lang="es-PE" sz="1600" b="1" spc="-10" dirty="0">
                <a:solidFill>
                  <a:srgbClr val="262626"/>
                </a:solidFill>
              </a:rPr>
              <a:t>New </a:t>
            </a:r>
            <a:r>
              <a:rPr lang="es-PE" sz="1600" b="1" spc="-10" dirty="0" err="1">
                <a:solidFill>
                  <a:srgbClr val="262626"/>
                </a:solidFill>
              </a:rPr>
              <a:t>empty</a:t>
            </a:r>
            <a:r>
              <a:rPr lang="es-PE" sz="1600" b="1" spc="-10" dirty="0">
                <a:solidFill>
                  <a:srgbClr val="262626"/>
                </a:solidFill>
              </a:rPr>
              <a:t> </a:t>
            </a:r>
            <a:r>
              <a:rPr lang="es-PE" sz="1600" b="1" spc="-10" dirty="0" err="1">
                <a:solidFill>
                  <a:srgbClr val="262626"/>
                </a:solidFill>
              </a:rPr>
              <a:t>project</a:t>
            </a:r>
            <a:r>
              <a:rPr lang="es-PE" sz="1600" spc="-10" dirty="0">
                <a:solidFill>
                  <a:srgbClr val="262626"/>
                </a:solidFill>
              </a:rPr>
              <a:t>) con los siguientes parámetros: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</a:rPr>
              <a:t>Name: Alien Quest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</a:rPr>
              <a:t>Window Size: 512, 512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 err="1">
                <a:solidFill>
                  <a:srgbClr val="262626"/>
                </a:solidFill>
              </a:rPr>
              <a:t>Es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 smtClean="0">
                <a:solidFill>
                  <a:srgbClr val="262626"/>
                </a:solidFill>
              </a:rPr>
              <a:t>recomendable</a:t>
            </a:r>
            <a:r>
              <a:rPr lang="en-US" sz="1600" spc="-10" dirty="0" smtClean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completar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correctamente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los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campos</a:t>
            </a:r>
            <a:r>
              <a:rPr lang="en-US" sz="1600" spc="-10" dirty="0">
                <a:solidFill>
                  <a:srgbClr val="262626"/>
                </a:solidFill>
              </a:rPr>
              <a:t> ID, </a:t>
            </a:r>
            <a:r>
              <a:rPr lang="en-US" sz="1600" spc="-10" dirty="0" err="1">
                <a:solidFill>
                  <a:srgbClr val="262626"/>
                </a:solidFill>
              </a:rPr>
              <a:t>Autho</a:t>
            </a:r>
            <a:r>
              <a:rPr lang="en-US" sz="1600" spc="-10" dirty="0">
                <a:solidFill>
                  <a:srgbClr val="262626"/>
                </a:solidFill>
              </a:rPr>
              <a:t>, Email y Website</a:t>
            </a: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CONFIGURANDO EL PROYECTO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3883CC2-21A7-46D0-99CF-29F9E12D3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885" y="876527"/>
            <a:ext cx="2417350" cy="426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739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9000"/>
            <a:ext cx="4376446" cy="246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Realizar las siguientes configuraciones al </a:t>
            </a:r>
            <a:r>
              <a:rPr lang="es-PE" sz="1600" spc="-10" dirty="0" err="1">
                <a:solidFill>
                  <a:srgbClr val="262626"/>
                </a:solidFill>
              </a:rPr>
              <a:t>layout</a:t>
            </a:r>
            <a:r>
              <a:rPr lang="es-PE" sz="1600" spc="-10" dirty="0">
                <a:solidFill>
                  <a:srgbClr val="262626"/>
                </a:solidFill>
              </a:rPr>
              <a:t>: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 err="1">
                <a:solidFill>
                  <a:srgbClr val="262626"/>
                </a:solidFill>
              </a:rPr>
              <a:t>Name</a:t>
            </a:r>
            <a:r>
              <a:rPr lang="es-PE" sz="1600" spc="-10" dirty="0">
                <a:solidFill>
                  <a:srgbClr val="262626"/>
                </a:solidFill>
              </a:rPr>
              <a:t>: </a:t>
            </a:r>
            <a:r>
              <a:rPr lang="es-PE" sz="1600" spc="-10" dirty="0" err="1">
                <a:solidFill>
                  <a:srgbClr val="262626"/>
                </a:solidFill>
              </a:rPr>
              <a:t>Level</a:t>
            </a:r>
            <a:r>
              <a:rPr lang="es-PE" sz="1600" spc="-10" dirty="0">
                <a:solidFill>
                  <a:srgbClr val="262626"/>
                </a:solidFill>
              </a:rPr>
              <a:t> 1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 err="1">
                <a:solidFill>
                  <a:srgbClr val="262626"/>
                </a:solidFill>
              </a:rPr>
              <a:t>Layout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Size</a:t>
            </a:r>
            <a:r>
              <a:rPr lang="es-PE" sz="1600" spc="-10" dirty="0">
                <a:solidFill>
                  <a:srgbClr val="262626"/>
                </a:solidFill>
              </a:rPr>
              <a:t>: 2048, 560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Descargar la carpeta platform_game.zip y descomprimir.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CONFIGURANDO EL LAYOUT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599FE6C-7FB1-4974-90AE-5FB82BD3E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531" y="1476417"/>
            <a:ext cx="3181350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139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9000"/>
            <a:ext cx="4376446" cy="270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Los mapas de tiles son una técnica ampliamente utilizada para la construcción de niveles. 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Muchos de los niveles de los juegos que conocemos (</a:t>
            </a:r>
            <a:r>
              <a:rPr lang="es-PE" sz="1600" spc="-10" dirty="0" err="1">
                <a:solidFill>
                  <a:srgbClr val="262626"/>
                </a:solidFill>
              </a:rPr>
              <a:t>Megaman</a:t>
            </a:r>
            <a:r>
              <a:rPr lang="es-PE" sz="1600" spc="-10" dirty="0">
                <a:solidFill>
                  <a:srgbClr val="262626"/>
                </a:solidFill>
              </a:rPr>
              <a:t>, Mario Bros, </a:t>
            </a:r>
            <a:r>
              <a:rPr lang="es-PE" sz="1600" spc="-10" dirty="0" err="1">
                <a:solidFill>
                  <a:srgbClr val="262626"/>
                </a:solidFill>
              </a:rPr>
              <a:t>Bomberman</a:t>
            </a:r>
            <a:r>
              <a:rPr lang="es-PE" sz="1600" spc="-10" dirty="0">
                <a:solidFill>
                  <a:srgbClr val="262626"/>
                </a:solidFill>
              </a:rPr>
              <a:t>) están construidos con tiles.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b="1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b="1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¿TILEMAP?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A8F74EE-7211-477F-B761-691E58D73226}"/>
              </a:ext>
            </a:extLst>
          </p:cNvPr>
          <p:cNvSpPr/>
          <p:nvPr/>
        </p:nvSpPr>
        <p:spPr>
          <a:xfrm>
            <a:off x="5737253" y="2977869"/>
            <a:ext cx="477430" cy="339866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050" name="Picture 2" descr="Resultado de imagen para tilemap megaman">
            <a:extLst>
              <a:ext uri="{FF2B5EF4-FFF2-40B4-BE49-F238E27FC236}">
                <a16:creationId xmlns:a16="http://schemas.microsoft.com/office/drawing/2014/main" id="{538ACC26-449B-4DD6-9CBD-D0DF8B899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543" y="1427021"/>
            <a:ext cx="3544795" cy="3101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2471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9000"/>
            <a:ext cx="4376446" cy="2215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Ahora que ya tenemos nuestros </a:t>
            </a:r>
            <a:r>
              <a:rPr lang="es-PE" sz="1600" spc="-10" dirty="0" err="1">
                <a:solidFill>
                  <a:srgbClr val="262626"/>
                </a:solidFill>
              </a:rPr>
              <a:t>Sprites</a:t>
            </a:r>
            <a:r>
              <a:rPr lang="es-PE" sz="1600" spc="-10" dirty="0">
                <a:solidFill>
                  <a:srgbClr val="262626"/>
                </a:solidFill>
              </a:rPr>
              <a:t> listos, es momento de crear un nivel para nuestro juego, para eso utilizaremos la herramienta </a:t>
            </a:r>
            <a:r>
              <a:rPr lang="es-PE" sz="1600" b="1" spc="-10" dirty="0" err="1">
                <a:solidFill>
                  <a:srgbClr val="262626"/>
                </a:solidFill>
              </a:rPr>
              <a:t>Tilemap</a:t>
            </a:r>
            <a:r>
              <a:rPr lang="es-PE" sz="1600" b="1" spc="-10" dirty="0">
                <a:solidFill>
                  <a:srgbClr val="262626"/>
                </a:solidFill>
              </a:rPr>
              <a:t>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b="1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b="1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TILEMAP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5EA2680-D022-456A-8F03-F0D1FEED0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741" y="1672550"/>
            <a:ext cx="3126929" cy="2725499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AA8F74EE-7211-477F-B761-691E58D73226}"/>
              </a:ext>
            </a:extLst>
          </p:cNvPr>
          <p:cNvSpPr/>
          <p:nvPr/>
        </p:nvSpPr>
        <p:spPr>
          <a:xfrm>
            <a:off x="5737253" y="2977869"/>
            <a:ext cx="477430" cy="339866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04584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9000"/>
            <a:ext cx="4376446" cy="295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En la ventana que aparecerá, </a:t>
            </a:r>
            <a:r>
              <a:rPr lang="es-PE" sz="1600" spc="-10" dirty="0" smtClean="0">
                <a:solidFill>
                  <a:srgbClr val="262626"/>
                </a:solidFill>
              </a:rPr>
              <a:t>hacemos clic </a:t>
            </a:r>
            <a:r>
              <a:rPr lang="es-PE" sz="1600" spc="-10" dirty="0">
                <a:solidFill>
                  <a:srgbClr val="262626"/>
                </a:solidFill>
              </a:rPr>
              <a:t>en el botón “</a:t>
            </a:r>
            <a:r>
              <a:rPr lang="es-PE" sz="1600" b="1" spc="-10" dirty="0">
                <a:solidFill>
                  <a:srgbClr val="262626"/>
                </a:solidFill>
              </a:rPr>
              <a:t>load </a:t>
            </a:r>
            <a:r>
              <a:rPr lang="es-PE" sz="1600" b="1" spc="-10" dirty="0" err="1">
                <a:solidFill>
                  <a:srgbClr val="262626"/>
                </a:solidFill>
              </a:rPr>
              <a:t>an</a:t>
            </a:r>
            <a:r>
              <a:rPr lang="es-PE" sz="1600" b="1" spc="-10" dirty="0">
                <a:solidFill>
                  <a:srgbClr val="262626"/>
                </a:solidFill>
              </a:rPr>
              <a:t> </a:t>
            </a:r>
            <a:r>
              <a:rPr lang="es-PE" sz="1600" b="1" spc="-10" dirty="0" err="1">
                <a:solidFill>
                  <a:srgbClr val="262626"/>
                </a:solidFill>
              </a:rPr>
              <a:t>image</a:t>
            </a:r>
            <a:r>
              <a:rPr lang="es-PE" sz="1600" b="1" spc="-10" dirty="0">
                <a:solidFill>
                  <a:srgbClr val="262626"/>
                </a:solidFill>
              </a:rPr>
              <a:t> </a:t>
            </a:r>
            <a:r>
              <a:rPr lang="es-PE" sz="1600" b="1" spc="-10" dirty="0" err="1">
                <a:solidFill>
                  <a:srgbClr val="262626"/>
                </a:solidFill>
              </a:rPr>
              <a:t>from</a:t>
            </a:r>
            <a:r>
              <a:rPr lang="es-PE" sz="1600" b="1" spc="-10" dirty="0">
                <a:solidFill>
                  <a:srgbClr val="262626"/>
                </a:solidFill>
              </a:rPr>
              <a:t> a file</a:t>
            </a:r>
            <a:r>
              <a:rPr lang="es-PE" sz="1600" spc="-10" dirty="0">
                <a:solidFill>
                  <a:srgbClr val="262626"/>
                </a:solidFill>
              </a:rPr>
              <a:t>”       buscamos el archivo </a:t>
            </a:r>
            <a:r>
              <a:rPr lang="es-PE" sz="1600" b="1" spc="-10" dirty="0">
                <a:solidFill>
                  <a:srgbClr val="262626"/>
                </a:solidFill>
              </a:rPr>
              <a:t>tiles_spritesheet.png </a:t>
            </a:r>
            <a:r>
              <a:rPr lang="es-PE" sz="1600" spc="-10" dirty="0">
                <a:solidFill>
                  <a:srgbClr val="262626"/>
                </a:solidFill>
              </a:rPr>
              <a:t>de la carpeta que descargamos.</a:t>
            </a:r>
            <a:endParaRPr lang="es-PE" sz="1600" b="1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b="1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Una vez cargado el archivo cerramos la ventana.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b="1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b="1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TILEMAP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A8F74EE-7211-477F-B761-691E58D73226}"/>
              </a:ext>
            </a:extLst>
          </p:cNvPr>
          <p:cNvSpPr/>
          <p:nvPr/>
        </p:nvSpPr>
        <p:spPr>
          <a:xfrm>
            <a:off x="5737253" y="2977869"/>
            <a:ext cx="477430" cy="339866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CB298A6-80BA-4EEB-B89E-7B3A42AC8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075" y="881063"/>
            <a:ext cx="3451562" cy="279648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60A1127-48AC-42BD-B05F-C3A299E24F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1613" y="3766791"/>
            <a:ext cx="1066800" cy="1333500"/>
          </a:xfrm>
          <a:prstGeom prst="rect">
            <a:avLst/>
          </a:prstGeom>
        </p:spPr>
      </p:pic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321D7B03-E957-48DA-A58B-4F310ABBF0DE}"/>
              </a:ext>
            </a:extLst>
          </p:cNvPr>
          <p:cNvCxnSpPr>
            <a:cxnSpLocks/>
          </p:cNvCxnSpPr>
          <p:nvPr/>
        </p:nvCxnSpPr>
        <p:spPr>
          <a:xfrm>
            <a:off x="5289954" y="1197621"/>
            <a:ext cx="1480902" cy="3010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1" name="Imagen 10">
            <a:extLst>
              <a:ext uri="{FF2B5EF4-FFF2-40B4-BE49-F238E27FC236}">
                <a16:creationId xmlns:a16="http://schemas.microsoft.com/office/drawing/2014/main" id="{2CA368DF-6B69-4F07-B4A1-30843B030E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5008" y="1102371"/>
            <a:ext cx="257175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743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9000"/>
            <a:ext cx="4376446" cy="4678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Seleccionamos el </a:t>
            </a:r>
            <a:r>
              <a:rPr lang="es-PE" sz="1600" spc="-10" dirty="0" err="1">
                <a:solidFill>
                  <a:srgbClr val="262626"/>
                </a:solidFill>
              </a:rPr>
              <a:t>Tilemap</a:t>
            </a:r>
            <a:r>
              <a:rPr lang="es-PE" sz="1600" spc="-10" dirty="0">
                <a:solidFill>
                  <a:srgbClr val="262626"/>
                </a:solidFill>
              </a:rPr>
              <a:t> que acabamos de crear y hacemos las siguientes configuraciones: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Tile </a:t>
            </a:r>
            <a:r>
              <a:rPr lang="es-PE" sz="1600" spc="-10" dirty="0" err="1">
                <a:solidFill>
                  <a:srgbClr val="262626"/>
                </a:solidFill>
              </a:rPr>
              <a:t>width</a:t>
            </a:r>
            <a:r>
              <a:rPr lang="es-PE" sz="1600" spc="-10" dirty="0">
                <a:solidFill>
                  <a:srgbClr val="262626"/>
                </a:solidFill>
              </a:rPr>
              <a:t> : 70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Tile </a:t>
            </a:r>
            <a:r>
              <a:rPr lang="es-PE" sz="1600" spc="-10" dirty="0" err="1">
                <a:solidFill>
                  <a:srgbClr val="262626"/>
                </a:solidFill>
              </a:rPr>
              <a:t>height</a:t>
            </a:r>
            <a:r>
              <a:rPr lang="es-PE" sz="1600" spc="-10" dirty="0">
                <a:solidFill>
                  <a:srgbClr val="262626"/>
                </a:solidFill>
              </a:rPr>
              <a:t>: 70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Tile X offset : 4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Tile Y offset : 4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Tile X </a:t>
            </a:r>
            <a:r>
              <a:rPr lang="es-PE" sz="1600" spc="-10" dirty="0" err="1">
                <a:solidFill>
                  <a:srgbClr val="262626"/>
                </a:solidFill>
              </a:rPr>
              <a:t>spacing</a:t>
            </a:r>
            <a:r>
              <a:rPr lang="es-PE" sz="1600" spc="-10" dirty="0">
                <a:solidFill>
                  <a:srgbClr val="262626"/>
                </a:solidFill>
              </a:rPr>
              <a:t> : 4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Tile Y </a:t>
            </a:r>
            <a:r>
              <a:rPr lang="es-PE" sz="1600" spc="-10" dirty="0" err="1">
                <a:solidFill>
                  <a:srgbClr val="262626"/>
                </a:solidFill>
              </a:rPr>
              <a:t>spacing</a:t>
            </a:r>
            <a:r>
              <a:rPr lang="es-PE" sz="1600" spc="-10" dirty="0">
                <a:solidFill>
                  <a:srgbClr val="262626"/>
                </a:solidFill>
              </a:rPr>
              <a:t> : 4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b="1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b="1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TILEMAP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D442CEF-475A-4137-AA49-B139E751E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9188" y="881063"/>
            <a:ext cx="2356035" cy="434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954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9000"/>
            <a:ext cx="4376446" cy="4678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Utilizando la herramienta lápiz comenzamos a dibujar nuestro nivel.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Podemos borrar los tiles con la herramienta borrador.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Cuando terminamos de editar seleccionamos la flecha para dejar </a:t>
            </a:r>
            <a:r>
              <a:rPr lang="es-PE" sz="1600" spc="-10" dirty="0" smtClean="0">
                <a:solidFill>
                  <a:srgbClr val="262626"/>
                </a:solidFill>
              </a:rPr>
              <a:t>de editar</a:t>
            </a:r>
            <a:r>
              <a:rPr lang="es-PE" sz="1600" spc="-10" dirty="0">
                <a:solidFill>
                  <a:srgbClr val="262626"/>
                </a:solidFill>
              </a:rPr>
              <a:t>.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b="1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b="1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TILEMAP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A13C2B3-32C0-4964-B6B8-25FC07F0C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415" y="1049337"/>
            <a:ext cx="3705225" cy="397192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68CBB27-DF68-4B4E-A1EC-E303F62F3D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8570" y="1049337"/>
            <a:ext cx="933450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360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Crear dos </a:t>
            </a:r>
            <a:r>
              <a:rPr lang="es-PE" sz="1600" spc="-10" dirty="0" err="1">
                <a:solidFill>
                  <a:srgbClr val="262626"/>
                </a:solidFill>
              </a:rPr>
              <a:t>layers</a:t>
            </a:r>
            <a:r>
              <a:rPr lang="es-PE" sz="1600" spc="-10" dirty="0">
                <a:solidFill>
                  <a:srgbClr val="262626"/>
                </a:solidFill>
              </a:rPr>
              <a:t>: </a:t>
            </a:r>
            <a:r>
              <a:rPr lang="es-PE" sz="1600" spc="-10" dirty="0" err="1">
                <a:solidFill>
                  <a:srgbClr val="262626"/>
                </a:solidFill>
              </a:rPr>
              <a:t>Background</a:t>
            </a:r>
            <a:r>
              <a:rPr lang="es-PE" sz="1600" spc="-10" dirty="0">
                <a:solidFill>
                  <a:srgbClr val="262626"/>
                </a:solidFill>
              </a:rPr>
              <a:t> y </a:t>
            </a:r>
            <a:r>
              <a:rPr lang="es-PE" sz="1600" spc="-10" dirty="0" err="1">
                <a:solidFill>
                  <a:srgbClr val="262626"/>
                </a:solidFill>
              </a:rPr>
              <a:t>Foreground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Asignar el set de tiles al </a:t>
            </a:r>
            <a:r>
              <a:rPr lang="es-PE" sz="1600" spc="-10" dirty="0" err="1">
                <a:solidFill>
                  <a:srgbClr val="262626"/>
                </a:solidFill>
              </a:rPr>
              <a:t>layer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Foreground</a:t>
            </a:r>
            <a:r>
              <a:rPr lang="es-PE" sz="1600" spc="-10" dirty="0">
                <a:solidFill>
                  <a:srgbClr val="262626"/>
                </a:solidFill>
              </a:rPr>
              <a:t>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Cuando terminemos de crear nuestro nivel, creamos un Sprite con el fondo </a:t>
            </a:r>
            <a:r>
              <a:rPr lang="es-PE" sz="1600" b="1" spc="-10" dirty="0">
                <a:solidFill>
                  <a:srgbClr val="262626"/>
                </a:solidFill>
              </a:rPr>
              <a:t>bg.png </a:t>
            </a:r>
            <a:r>
              <a:rPr lang="es-PE" sz="1600" spc="-10" dirty="0">
                <a:solidFill>
                  <a:srgbClr val="262626"/>
                </a:solidFill>
              </a:rPr>
              <a:t>y </a:t>
            </a:r>
            <a:r>
              <a:rPr lang="es-PE" sz="1600" spc="-10" dirty="0" smtClean="0">
                <a:solidFill>
                  <a:srgbClr val="262626"/>
                </a:solidFill>
              </a:rPr>
              <a:t>lo agregamos </a:t>
            </a:r>
            <a:r>
              <a:rPr lang="es-PE" sz="1600" spc="-10" dirty="0">
                <a:solidFill>
                  <a:srgbClr val="262626"/>
                </a:solidFill>
              </a:rPr>
              <a:t>al </a:t>
            </a:r>
            <a:r>
              <a:rPr lang="es-PE" sz="1600" spc="-10" dirty="0" err="1">
                <a:solidFill>
                  <a:srgbClr val="262626"/>
                </a:solidFill>
              </a:rPr>
              <a:t>layer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Background</a:t>
            </a:r>
            <a:r>
              <a:rPr lang="es-PE" sz="1600" spc="-10" dirty="0">
                <a:solidFill>
                  <a:srgbClr val="262626"/>
                </a:solidFill>
              </a:rPr>
              <a:t>.</a:t>
            </a:r>
            <a:r>
              <a:rPr lang="es-PE" sz="1600" b="1" spc="-10" dirty="0">
                <a:solidFill>
                  <a:srgbClr val="262626"/>
                </a:solidFill>
              </a:rPr>
              <a:t> </a:t>
            </a: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TILEMAP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EFD44A4-66D2-4751-A0A2-DA38F2FB1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958" y="2625290"/>
            <a:ext cx="2052890" cy="257377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6BD626A-9137-4B8D-B92A-C5243EBA2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424" y="2000250"/>
            <a:ext cx="2661424" cy="564925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2FEAF5A2-6870-4F9A-B4CC-558496BAC227}"/>
              </a:ext>
            </a:extLst>
          </p:cNvPr>
          <p:cNvCxnSpPr/>
          <p:nvPr/>
        </p:nvCxnSpPr>
        <p:spPr>
          <a:xfrm>
            <a:off x="1367554" y="2295525"/>
            <a:ext cx="541582" cy="5447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657661DD-3BB6-410A-9EA4-9823B3F382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1650" y="2427611"/>
            <a:ext cx="4191674" cy="22601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07273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Cuando se termine de editar el nivel con la herramienta </a:t>
            </a:r>
            <a:r>
              <a:rPr lang="es-PE" sz="1600" spc="-10" dirty="0" err="1">
                <a:solidFill>
                  <a:srgbClr val="262626"/>
                </a:solidFill>
              </a:rPr>
              <a:t>Tilemap</a:t>
            </a:r>
            <a:r>
              <a:rPr lang="es-PE" sz="1600" spc="-10" dirty="0">
                <a:solidFill>
                  <a:srgbClr val="262626"/>
                </a:solidFill>
              </a:rPr>
              <a:t> agregar el </a:t>
            </a:r>
            <a:r>
              <a:rPr lang="es-PE" sz="1600" b="1" spc="-10" dirty="0" err="1">
                <a:solidFill>
                  <a:srgbClr val="262626"/>
                </a:solidFill>
              </a:rPr>
              <a:t>behavior</a:t>
            </a:r>
            <a:r>
              <a:rPr lang="es-PE" sz="1600" b="1" spc="-10" dirty="0">
                <a:solidFill>
                  <a:srgbClr val="262626"/>
                </a:solidFill>
              </a:rPr>
              <a:t> Solid.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Este </a:t>
            </a:r>
            <a:r>
              <a:rPr lang="es-PE" sz="1600" spc="-10" dirty="0" err="1">
                <a:solidFill>
                  <a:srgbClr val="262626"/>
                </a:solidFill>
              </a:rPr>
              <a:t>behavior</a:t>
            </a:r>
            <a:r>
              <a:rPr lang="es-PE" sz="1600" spc="-10" dirty="0">
                <a:solidFill>
                  <a:srgbClr val="262626"/>
                </a:solidFill>
              </a:rPr>
              <a:t> nos permitirá detectar colisiones y </a:t>
            </a:r>
            <a:r>
              <a:rPr lang="es-PE" sz="1600" spc="-10" dirty="0" smtClean="0">
                <a:solidFill>
                  <a:srgbClr val="262626"/>
                </a:solidFill>
              </a:rPr>
              <a:t>que el </a:t>
            </a:r>
            <a:r>
              <a:rPr lang="es-PE" sz="1600" spc="-10" dirty="0">
                <a:solidFill>
                  <a:srgbClr val="262626"/>
                </a:solidFill>
              </a:rPr>
              <a:t>personaje pueda navegar por el nivel.</a:t>
            </a: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TILEMAP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613209F-89F5-43F5-98AB-C60C68CDA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414" y="2081649"/>
            <a:ext cx="3138803" cy="311741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82791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Creamos un Sprite y creamos las siguientes animaciones: idle, </a:t>
            </a:r>
            <a:r>
              <a:rPr lang="es-PE" sz="1600" spc="-10" dirty="0" err="1">
                <a:solidFill>
                  <a:srgbClr val="262626"/>
                </a:solidFill>
              </a:rPr>
              <a:t>walk</a:t>
            </a:r>
            <a:r>
              <a:rPr lang="es-PE" sz="1600" spc="-10" dirty="0">
                <a:solidFill>
                  <a:srgbClr val="262626"/>
                </a:solidFill>
              </a:rPr>
              <a:t> y </a:t>
            </a:r>
            <a:r>
              <a:rPr lang="es-PE" sz="1600" spc="-10" dirty="0" err="1">
                <a:solidFill>
                  <a:srgbClr val="262626"/>
                </a:solidFill>
              </a:rPr>
              <a:t>jump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Para crear la animación </a:t>
            </a:r>
            <a:r>
              <a:rPr lang="es-PE" sz="1600" b="1" spc="-10" dirty="0" err="1" smtClean="0">
                <a:solidFill>
                  <a:srgbClr val="262626"/>
                </a:solidFill>
              </a:rPr>
              <a:t>walk</a:t>
            </a:r>
            <a:r>
              <a:rPr lang="es-PE" sz="1600" b="1" spc="-10" dirty="0" smtClean="0">
                <a:solidFill>
                  <a:srgbClr val="262626"/>
                </a:solidFill>
              </a:rPr>
              <a:t>, </a:t>
            </a:r>
            <a:r>
              <a:rPr lang="es-PE" sz="1600" spc="-10" dirty="0" smtClean="0">
                <a:solidFill>
                  <a:srgbClr val="262626"/>
                </a:solidFill>
              </a:rPr>
              <a:t>hacer clic </a:t>
            </a:r>
            <a:r>
              <a:rPr lang="es-PE" sz="1600" spc="-10" dirty="0">
                <a:solidFill>
                  <a:srgbClr val="262626"/>
                </a:solidFill>
              </a:rPr>
              <a:t>derecho sobre </a:t>
            </a:r>
            <a:r>
              <a:rPr lang="es-PE" sz="1600" spc="-10" dirty="0" err="1">
                <a:solidFill>
                  <a:srgbClr val="262626"/>
                </a:solidFill>
              </a:rPr>
              <a:t>Animation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frames</a:t>
            </a:r>
            <a:r>
              <a:rPr lang="es-PE" sz="1600" spc="-10" dirty="0">
                <a:solidFill>
                  <a:srgbClr val="262626"/>
                </a:solidFill>
              </a:rPr>
              <a:t>/</a:t>
            </a:r>
            <a:r>
              <a:rPr lang="es-PE" sz="1600" spc="-10" dirty="0" err="1">
                <a:solidFill>
                  <a:srgbClr val="262626"/>
                </a:solidFill>
              </a:rPr>
              <a:t>From</a:t>
            </a:r>
            <a:r>
              <a:rPr lang="es-PE" sz="1600" spc="-10" dirty="0">
                <a:solidFill>
                  <a:srgbClr val="262626"/>
                </a:solidFill>
              </a:rPr>
              <a:t> Sprite </a:t>
            </a:r>
            <a:r>
              <a:rPr lang="es-PE" sz="1600" spc="-10" dirty="0" err="1">
                <a:solidFill>
                  <a:srgbClr val="262626"/>
                </a:solidFill>
              </a:rPr>
              <a:t>strip</a:t>
            </a:r>
            <a:r>
              <a:rPr lang="es-PE" sz="1600" spc="-10" dirty="0">
                <a:solidFill>
                  <a:srgbClr val="262626"/>
                </a:solidFill>
              </a:rPr>
              <a:t>…</a:t>
            </a:r>
            <a:endParaRPr lang="es-PE" sz="1600" b="1" spc="-10" dirty="0">
              <a:solidFill>
                <a:srgbClr val="262626"/>
              </a:solidFill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CREANDO EL PERSONAJE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EFDA1C8-AE0D-45F2-B472-027E1B010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32" y="1634271"/>
            <a:ext cx="4078438" cy="356479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51611A7-8FA9-4D63-BA25-894E8518711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828" t="24189" b="27465"/>
          <a:stretch/>
        </p:blipFill>
        <p:spPr>
          <a:xfrm>
            <a:off x="6522181" y="1666947"/>
            <a:ext cx="1435114" cy="1321615"/>
          </a:xfrm>
          <a:prstGeom prst="rect">
            <a:avLst/>
          </a:prstGeom>
        </p:spPr>
      </p:pic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0C01FE55-E89C-406C-BAB3-3AC9D3F34843}"/>
              </a:ext>
            </a:extLst>
          </p:cNvPr>
          <p:cNvCxnSpPr>
            <a:cxnSpLocks/>
          </p:cNvCxnSpPr>
          <p:nvPr/>
        </p:nvCxnSpPr>
        <p:spPr>
          <a:xfrm flipV="1">
            <a:off x="4402067" y="2500439"/>
            <a:ext cx="2063469" cy="1942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0" name="Imagen 19">
            <a:extLst>
              <a:ext uri="{FF2B5EF4-FFF2-40B4-BE49-F238E27FC236}">
                <a16:creationId xmlns:a16="http://schemas.microsoft.com/office/drawing/2014/main" id="{082C7D1D-EC03-459C-89C9-A2C7D08F97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0070" y="3475038"/>
            <a:ext cx="3162300" cy="17240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90962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Cuando ya </a:t>
            </a:r>
            <a:r>
              <a:rPr lang="es-PE" sz="1600" spc="-10" dirty="0" smtClean="0">
                <a:solidFill>
                  <a:srgbClr val="262626"/>
                </a:solidFill>
              </a:rPr>
              <a:t>estén </a:t>
            </a:r>
            <a:r>
              <a:rPr lang="es-PE" sz="1600" spc="-10" dirty="0">
                <a:solidFill>
                  <a:srgbClr val="262626"/>
                </a:solidFill>
              </a:rPr>
              <a:t>listas las animaciones configurar las áreas de colisión para cada animación.</a:t>
            </a:r>
            <a:endParaRPr lang="es-PE" sz="1600" b="1" spc="-10" dirty="0">
              <a:solidFill>
                <a:srgbClr val="262626"/>
              </a:solidFill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CREANDO EL PERSONAJE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CAC4F99-AE0C-41D3-A58A-7ECC9AE3A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803" y="1641103"/>
            <a:ext cx="4444394" cy="355796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D471CDB1-DC6A-46C7-B7EA-55393B54AE47}"/>
              </a:ext>
            </a:extLst>
          </p:cNvPr>
          <p:cNvSpPr/>
          <p:nvPr/>
        </p:nvSpPr>
        <p:spPr>
          <a:xfrm>
            <a:off x="2260600" y="3592864"/>
            <a:ext cx="377404" cy="2589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35676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Cuando ya tengamos el personaje en el escenario, le agregaremos el </a:t>
            </a:r>
            <a:r>
              <a:rPr lang="es-PE" sz="1600" b="1" spc="-10" dirty="0" err="1">
                <a:solidFill>
                  <a:srgbClr val="262626"/>
                </a:solidFill>
              </a:rPr>
              <a:t>behavior</a:t>
            </a:r>
            <a:r>
              <a:rPr lang="es-PE" sz="1600" b="1" spc="-10" dirty="0">
                <a:solidFill>
                  <a:srgbClr val="262626"/>
                </a:solidFill>
              </a:rPr>
              <a:t> </a:t>
            </a:r>
            <a:r>
              <a:rPr lang="es-PE" sz="1600" b="1" spc="-10" dirty="0" err="1">
                <a:solidFill>
                  <a:srgbClr val="262626"/>
                </a:solidFill>
              </a:rPr>
              <a:t>Platform</a:t>
            </a:r>
            <a:r>
              <a:rPr lang="es-PE" sz="1600" b="1" spc="-10" dirty="0">
                <a:solidFill>
                  <a:srgbClr val="262626"/>
                </a:solidFill>
              </a:rPr>
              <a:t> y el </a:t>
            </a:r>
            <a:r>
              <a:rPr lang="es-PE" sz="1600" b="1" spc="-10" dirty="0" err="1">
                <a:solidFill>
                  <a:srgbClr val="262626"/>
                </a:solidFill>
              </a:rPr>
              <a:t>behavior</a:t>
            </a:r>
            <a:r>
              <a:rPr lang="es-PE" sz="1600" b="1" spc="-10" dirty="0">
                <a:solidFill>
                  <a:srgbClr val="262626"/>
                </a:solidFill>
              </a:rPr>
              <a:t> </a:t>
            </a:r>
            <a:r>
              <a:rPr lang="es-PE" sz="1600" b="1" spc="-10" dirty="0" err="1">
                <a:solidFill>
                  <a:srgbClr val="262626"/>
                </a:solidFill>
              </a:rPr>
              <a:t>Scroll</a:t>
            </a:r>
            <a:r>
              <a:rPr lang="es-PE" sz="1600" b="1" spc="-10" dirty="0">
                <a:solidFill>
                  <a:srgbClr val="262626"/>
                </a:solidFill>
              </a:rPr>
              <a:t> </a:t>
            </a:r>
            <a:r>
              <a:rPr lang="es-PE" sz="1600" b="1" spc="-10" dirty="0" err="1">
                <a:solidFill>
                  <a:srgbClr val="262626"/>
                </a:solidFill>
              </a:rPr>
              <a:t>to</a:t>
            </a:r>
            <a:r>
              <a:rPr lang="es-PE" sz="1600" b="1" spc="-10" dirty="0">
                <a:solidFill>
                  <a:srgbClr val="262626"/>
                </a:solidFill>
              </a:rPr>
              <a:t>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Asignarle los siguientes parámetros al </a:t>
            </a:r>
            <a:r>
              <a:rPr lang="es-PE" sz="1600" spc="-10" dirty="0" err="1">
                <a:solidFill>
                  <a:srgbClr val="262626"/>
                </a:solidFill>
              </a:rPr>
              <a:t>behavior</a:t>
            </a:r>
            <a:r>
              <a:rPr lang="es-PE" sz="1600" spc="-10" dirty="0">
                <a:solidFill>
                  <a:srgbClr val="262626"/>
                </a:solidFill>
              </a:rPr>
              <a:t>.</a:t>
            </a: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CREANDO EL PERSONAJE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E7656DE-9DCA-4323-ABAB-52C3EF751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37" y="1747978"/>
            <a:ext cx="3486786" cy="345108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4017CCF-51E4-4026-B543-557EB7FC9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1196" y="2295525"/>
            <a:ext cx="2886075" cy="2514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96075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Agregar los siguientes eventos y acciones para ejecutar las animaciones del personaje correctamente.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HAGAMOS QUE EL PERSONAJE DISPARE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53AF2D3-3046-4D2B-8B33-33773C6B9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326" y="2027518"/>
            <a:ext cx="6219825" cy="30194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17915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ES" sz="2800" b="1" dirty="0">
                <a:solidFill>
                  <a:schemeClr val="bg1"/>
                </a:solidFill>
                <a:cs typeface="Calibri"/>
              </a:rPr>
              <a:t>SISTEMA DE PARTÍCULAS</a:t>
            </a:r>
            <a:endParaRPr lang="es-ES" sz="1600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943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El objeto </a:t>
            </a:r>
            <a:r>
              <a:rPr lang="es-PE" sz="1600" spc="-10" dirty="0" err="1">
                <a:solidFill>
                  <a:srgbClr val="262626"/>
                </a:solidFill>
              </a:rPr>
              <a:t>Particles</a:t>
            </a:r>
            <a:r>
              <a:rPr lang="es-PE" sz="1600" spc="-10" dirty="0">
                <a:solidFill>
                  <a:srgbClr val="262626"/>
                </a:solidFill>
              </a:rPr>
              <a:t> puede crear rápidamente efectos visuales creando y moviendo muchas imágenes pequeñas de forma independiente. 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Es un objeto versátil capaz de muchos tipos diferentes de efectos visuales. </a:t>
            </a: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CREANDO UN SISTEMA DE PARTICULAS</a:t>
            </a:r>
          </a:p>
        </p:txBody>
      </p:sp>
      <p:pic>
        <p:nvPicPr>
          <p:cNvPr id="6146" name="Picture 2" descr="Demo of the Particles object">
            <a:extLst>
              <a:ext uri="{FF2B5EF4-FFF2-40B4-BE49-F238E27FC236}">
                <a16:creationId xmlns:a16="http://schemas.microsoft.com/office/drawing/2014/main" id="{93612937-4BE1-480C-9BC8-B61438D99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532" y="1966126"/>
            <a:ext cx="4195414" cy="3232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29713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El objeto Partículas se representa en la Vista de diseño mediante dos líneas rojas que representan el cono de emisión (el ángulo a través del cual se disparan las partículas), con la textura de la partícula en el centro. </a:t>
            </a: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CREANDO UN SISTEMA DE PARTICULAS</a:t>
            </a:r>
          </a:p>
        </p:txBody>
      </p:sp>
      <p:pic>
        <p:nvPicPr>
          <p:cNvPr id="7170" name="Picture 2" descr="Particles in the Layout View">
            <a:extLst>
              <a:ext uri="{FF2B5EF4-FFF2-40B4-BE49-F238E27FC236}">
                <a16:creationId xmlns:a16="http://schemas.microsoft.com/office/drawing/2014/main" id="{2AAABA45-C35F-4E9D-A71E-76069814D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6451" y="2295525"/>
            <a:ext cx="4981575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48767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Para crear un sistema </a:t>
            </a:r>
            <a:r>
              <a:rPr lang="es-PE" sz="1600" spc="-10" dirty="0" smtClean="0">
                <a:solidFill>
                  <a:srgbClr val="262626"/>
                </a:solidFill>
              </a:rPr>
              <a:t>clic </a:t>
            </a:r>
            <a:r>
              <a:rPr lang="es-PE" sz="1600" spc="-10" dirty="0">
                <a:solidFill>
                  <a:srgbClr val="262626"/>
                </a:solidFill>
              </a:rPr>
              <a:t>derecho sobre el </a:t>
            </a:r>
            <a:r>
              <a:rPr lang="es-PE" sz="1600" spc="-10" dirty="0" err="1">
                <a:solidFill>
                  <a:srgbClr val="262626"/>
                </a:solidFill>
              </a:rPr>
              <a:t>layout</a:t>
            </a:r>
            <a:r>
              <a:rPr lang="es-PE" sz="1600" spc="-10" dirty="0">
                <a:solidFill>
                  <a:srgbClr val="262626"/>
                </a:solidFill>
              </a:rPr>
              <a:t> – </a:t>
            </a:r>
            <a:r>
              <a:rPr lang="es-PE" sz="1600" spc="-10" dirty="0" err="1">
                <a:solidFill>
                  <a:srgbClr val="262626"/>
                </a:solidFill>
              </a:rPr>
              <a:t>Insert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object</a:t>
            </a:r>
            <a:r>
              <a:rPr lang="es-PE" sz="1600" spc="-10" dirty="0">
                <a:solidFill>
                  <a:srgbClr val="262626"/>
                </a:solidFill>
              </a:rPr>
              <a:t> - </a:t>
            </a:r>
            <a:r>
              <a:rPr lang="es-PE" sz="1600" spc="-10" dirty="0" err="1">
                <a:solidFill>
                  <a:srgbClr val="262626"/>
                </a:solidFill>
              </a:rPr>
              <a:t>Particles</a:t>
            </a:r>
            <a:endParaRPr lang="es-PE" sz="1600" spc="-10" dirty="0">
              <a:solidFill>
                <a:srgbClr val="262626"/>
              </a:solidFill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CREANDO UN SISTEMA DE PARTICULAS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51CE460-18F4-4C8E-99CB-1DAA8B066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9699" y="1407818"/>
            <a:ext cx="4344602" cy="379124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94394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Agregarle las siguientes configuraciones al sistema de partículas.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Agregar el siguiente evento para crear un sistema de partículas cada vez que se presione la tecla “C”</a:t>
            </a: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CREANDO UN SISTEMA DE PARTICULAS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2B0A8B6-E32B-479D-815D-5EE9C4D42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300" y="1596498"/>
            <a:ext cx="3364915" cy="360256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A605021-3313-442F-94CF-FC48CB7223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0584" y="4222020"/>
            <a:ext cx="5189861" cy="4840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75036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ES" sz="2800" b="1" dirty="0">
                <a:solidFill>
                  <a:schemeClr val="bg1"/>
                </a:solidFill>
                <a:cs typeface="Calibri"/>
              </a:rPr>
              <a:t>EFFECTS Y BLEND MODES</a:t>
            </a:r>
            <a:endParaRPr lang="es-ES" sz="1600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026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Los efectos cambian la apariencia visual de los objetos. 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Se pueden agregar con el cuadro de diálogo Efectos. 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Los efectos también se pueden agregar a capas y diseños, aunque los efectos que se mezclan con el fondo no se pueden usar en diseños. 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Los efectos también se denominan </a:t>
            </a:r>
            <a:r>
              <a:rPr lang="es-PE" sz="1600" spc="-10" dirty="0" err="1">
                <a:solidFill>
                  <a:srgbClr val="262626"/>
                </a:solidFill>
              </a:rPr>
              <a:t>shaders</a:t>
            </a:r>
            <a:r>
              <a:rPr lang="es-PE" sz="1600" spc="-10" dirty="0">
                <a:solidFill>
                  <a:srgbClr val="262626"/>
                </a:solidFill>
              </a:rPr>
              <a:t>, ya que esto se refiere a la tecnología subyacente que posibilita los efectos. </a:t>
            </a: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EFECTOS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14B7A32-5FA9-45AD-9DC9-F2673B7CD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580" y="2390559"/>
            <a:ext cx="4872839" cy="281579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62879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 Proporciona un conjunto simple de formas predefinidas para combinar el objeto con el fondo.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Si se usan múltiples efectos, el modo de fusión se aplica solo al último efecto. Por ejemplo, con tres efectos, la cadena de efectos se procesa normalmente, y el modo de fusión solo se usa para combinar el resultado del tercer efecto con el fondo.</a:t>
            </a: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BLEND MODES</a:t>
            </a:r>
          </a:p>
        </p:txBody>
      </p:sp>
      <p:pic>
        <p:nvPicPr>
          <p:cNvPr id="5122" name="Picture 2" descr="Various blend modes available in Construct 2.">
            <a:extLst>
              <a:ext uri="{FF2B5EF4-FFF2-40B4-BE49-F238E27FC236}">
                <a16:creationId xmlns:a16="http://schemas.microsoft.com/office/drawing/2014/main" id="{D5C2C1C6-F6B7-4051-816A-10D30C335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194" y="2295525"/>
            <a:ext cx="3817703" cy="2805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39115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88068" y="881063"/>
            <a:ext cx="6871746" cy="4281487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832904" y="917413"/>
            <a:ext cx="3402730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REPASO</a:t>
            </a:r>
            <a:endParaRPr lang="es-PE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176213" indent="-176213" defTabSz="731342">
              <a:buFont typeface="Arial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Crear un sistema de partículas para representar fuego.</a:t>
            </a:r>
          </a:p>
          <a:p>
            <a:pPr marL="176213" indent="-176213" defTabSz="731342">
              <a:buFont typeface="Arial"/>
              <a:buChar char="•"/>
            </a:pPr>
            <a:endParaRPr lang="es-PE" sz="1600" dirty="0">
              <a:solidFill>
                <a:srgbClr val="000000"/>
              </a:solidFill>
            </a:endParaRPr>
          </a:p>
          <a:p>
            <a:pPr marL="176213" indent="-176213" defTabSz="731342">
              <a:buFont typeface="Arial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Crear un sistema de partículas para representar un efecto de lluvia.</a:t>
            </a:r>
          </a:p>
          <a:p>
            <a:pPr marL="285750" indent="-285750" defTabSz="731342">
              <a:lnSpc>
                <a:spcPct val="120000"/>
              </a:lnSpc>
              <a:buFont typeface="Arial"/>
              <a:buChar char="•"/>
            </a:pPr>
            <a:endParaRPr lang="es-PE" sz="1600" dirty="0">
              <a:solidFill>
                <a:srgbClr val="000000"/>
              </a:solidFill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5477544" y="993537"/>
            <a:ext cx="3070939" cy="40173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ACTIVIDAD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8238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10"/>
          <p:cNvSpPr/>
          <p:nvPr/>
        </p:nvSpPr>
        <p:spPr>
          <a:xfrm>
            <a:off x="2527711" y="770440"/>
            <a:ext cx="6132101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s-PE" sz="1700" dirty="0" err="1">
                <a:solidFill>
                  <a:srgbClr val="FFFFFF"/>
                </a:solidFill>
                <a:ea typeface="Calibri" panose="020F0502020204030204" pitchFamily="34" charset="0"/>
                <a:cs typeface="Source Sans Pro" panose="020B0604020202020204" charset="0"/>
              </a:rPr>
              <a:t>Construct</a:t>
            </a:r>
            <a:r>
              <a:rPr lang="es-PE" sz="1700" dirty="0">
                <a:solidFill>
                  <a:srgbClr val="FFFFFF"/>
                </a:solidFill>
                <a:ea typeface="Calibri" panose="020F0502020204030204" pitchFamily="34" charset="0"/>
                <a:cs typeface="Source Sans Pro" panose="020B0604020202020204" charset="0"/>
              </a:rPr>
              <a:t> 2 nos proporciona una herramienta muy potente para la creación de sistemas de partículas, con la cuales podemos crear representaciones de lluvia, explosiones, fuego y otros.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endParaRPr lang="es-PE" sz="1700" dirty="0">
              <a:solidFill>
                <a:srgbClr val="FFFFFF"/>
              </a:solidFill>
              <a:ea typeface="Calibri" panose="020F0502020204030204" pitchFamily="34" charset="0"/>
              <a:cs typeface="Source Sans Pro" panose="020B0604020202020204" charset="0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s-PE" sz="1700" dirty="0">
                <a:solidFill>
                  <a:srgbClr val="FFFFFF"/>
                </a:solidFill>
                <a:cs typeface="Source Sans Pro" panose="020B0604020202020204" charset="0"/>
              </a:rPr>
              <a:t>Los </a:t>
            </a:r>
            <a:r>
              <a:rPr lang="es-PE" sz="1700" dirty="0" err="1">
                <a:solidFill>
                  <a:srgbClr val="FFFFFF"/>
                </a:solidFill>
                <a:cs typeface="Source Sans Pro" panose="020B0604020202020204" charset="0"/>
              </a:rPr>
              <a:t>blend</a:t>
            </a:r>
            <a:r>
              <a:rPr lang="es-PE" sz="1700" dirty="0">
                <a:solidFill>
                  <a:srgbClr val="FFFFFF"/>
                </a:solidFill>
                <a:cs typeface="Source Sans Pro" panose="020B0604020202020204" charset="0"/>
              </a:rPr>
              <a:t> </a:t>
            </a:r>
            <a:r>
              <a:rPr lang="es-PE" sz="1700" dirty="0" err="1">
                <a:solidFill>
                  <a:srgbClr val="FFFFFF"/>
                </a:solidFill>
                <a:cs typeface="Source Sans Pro" panose="020B0604020202020204" charset="0"/>
              </a:rPr>
              <a:t>modes</a:t>
            </a:r>
            <a:r>
              <a:rPr lang="es-PE" sz="1700" dirty="0">
                <a:solidFill>
                  <a:srgbClr val="FFFFFF"/>
                </a:solidFill>
                <a:cs typeface="Source Sans Pro" panose="020B0604020202020204" charset="0"/>
              </a:rPr>
              <a:t> son muy utilizados en los videojuegos </a:t>
            </a:r>
            <a:r>
              <a:rPr lang="es-PE" sz="1700">
                <a:solidFill>
                  <a:srgbClr val="FFFFFF"/>
                </a:solidFill>
                <a:cs typeface="Source Sans Pro" panose="020B0604020202020204" charset="0"/>
              </a:rPr>
              <a:t>para </a:t>
            </a:r>
            <a:r>
              <a:rPr lang="es-PE" sz="1700" smtClean="0">
                <a:solidFill>
                  <a:srgbClr val="FFFFFF"/>
                </a:solidFill>
                <a:cs typeface="Source Sans Pro" panose="020B0604020202020204" charset="0"/>
              </a:rPr>
              <a:t>diferentes </a:t>
            </a:r>
            <a:r>
              <a:rPr lang="es-PE" sz="1700" dirty="0">
                <a:solidFill>
                  <a:srgbClr val="FFFFFF"/>
                </a:solidFill>
                <a:cs typeface="Source Sans Pro" panose="020B0604020202020204" charset="0"/>
              </a:rPr>
              <a:t>efectos donde se necesiten manipular como se mezclen los colores.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endParaRPr lang="es-PE" sz="1700" dirty="0">
              <a:solidFill>
                <a:srgbClr val="FFFFFF"/>
              </a:solidFill>
              <a:cs typeface="Source Sans Pro" panose="020B0604020202020204" charset="0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endParaRPr lang="es-PE" sz="1700" dirty="0">
              <a:solidFill>
                <a:srgbClr val="FFFFFF"/>
              </a:solidFill>
              <a:cs typeface="Source Sans Pro" panose="020B0604020202020204" charset="0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endParaRPr lang="es-PE" sz="1700" dirty="0">
              <a:solidFill>
                <a:srgbClr val="FFFFFF"/>
              </a:solidFill>
              <a:latin typeface="+mj-lt"/>
              <a:ea typeface="Calibri" panose="020F0502020204030204" pitchFamily="34" charset="0"/>
              <a:cs typeface="Source Sans Pro" panose="020B0604020202020204" charset="0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endParaRPr lang="es-PE" sz="1700" dirty="0">
              <a:solidFill>
                <a:srgbClr val="FFFFFF"/>
              </a:solidFill>
              <a:latin typeface="+mj-lt"/>
              <a:cs typeface="Source Sans Pro" panose="020B0604020202020204" charset="0"/>
            </a:endParaRPr>
          </a:p>
          <a:p>
            <a:pPr lvl="1"/>
            <a:endParaRPr lang="es-PE" sz="1700" dirty="0">
              <a:solidFill>
                <a:srgbClr val="FFFFFF"/>
              </a:solidFill>
              <a:latin typeface="Calibri"/>
              <a:ea typeface="Calibri" panose="020F0502020204030204" pitchFamily="34" charset="0"/>
              <a:cs typeface="Source Sans Pro" panose="020B0604020202020204" charset="0"/>
            </a:endParaRPr>
          </a:p>
        </p:txBody>
      </p:sp>
      <p:sp>
        <p:nvSpPr>
          <p:cNvPr id="9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chemeClr val="bg1"/>
                </a:solidFill>
              </a:rPr>
              <a:t>/ CONCLUSIONES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5447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25"/>
          <p:cNvSpPr txBox="1">
            <a:spLocks/>
          </p:cNvSpPr>
          <p:nvPr/>
        </p:nvSpPr>
        <p:spPr>
          <a:xfrm>
            <a:off x="398994" y="724844"/>
            <a:ext cx="7881937" cy="180164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4625" indent="-174625">
              <a:spcBef>
                <a:spcPts val="0"/>
              </a:spcBef>
              <a:buSzPct val="100000"/>
            </a:pPr>
            <a:r>
              <a:rPr lang="es-PE" sz="1500" dirty="0">
                <a:cs typeface="Calibri"/>
                <a:hlinkClick r:id="rId3"/>
              </a:rPr>
              <a:t>https://www.scirra.com/manual/1/construct-2</a:t>
            </a:r>
            <a:r>
              <a:rPr lang="es-PE" sz="1500" dirty="0">
                <a:cs typeface="Calibri"/>
              </a:rPr>
              <a:t> - </a:t>
            </a:r>
            <a:r>
              <a:rPr lang="es-PE" sz="1600" dirty="0" err="1"/>
              <a:t>Scirra</a:t>
            </a:r>
            <a:r>
              <a:rPr lang="es-PE" sz="1600" dirty="0"/>
              <a:t> </a:t>
            </a:r>
            <a:r>
              <a:rPr lang="es-PE" sz="1600" dirty="0" err="1"/>
              <a:t>Ltd</a:t>
            </a:r>
            <a:endParaRPr lang="es" sz="1500" dirty="0">
              <a:solidFill>
                <a:srgbClr val="006621"/>
              </a:solidFill>
              <a:latin typeface="Calibri"/>
              <a:cs typeface="Calibri"/>
            </a:endParaRPr>
          </a:p>
        </p:txBody>
      </p:sp>
      <p:sp>
        <p:nvSpPr>
          <p:cNvPr id="9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BIBLIOGRAFÍA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054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Yge96mEv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3627</TotalTime>
  <Words>927</Words>
  <Application>Microsoft Office PowerPoint</Application>
  <PresentationFormat>Presentación en pantalla (16:10)</PresentationFormat>
  <Paragraphs>152</Paragraphs>
  <Slides>28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3" baseType="lpstr">
      <vt:lpstr>Arial</vt:lpstr>
      <vt:lpstr>Calibri</vt:lpstr>
      <vt:lpstr>Source Sans Pro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ISIL</dc:creator>
  <cp:lastModifiedBy>Diego Santamaria Saldaña</cp:lastModifiedBy>
  <cp:revision>362</cp:revision>
  <cp:lastPrinted>2018-01-16T21:42:59Z</cp:lastPrinted>
  <dcterms:created xsi:type="dcterms:W3CDTF">2016-10-06T14:52:02Z</dcterms:created>
  <dcterms:modified xsi:type="dcterms:W3CDTF">2020-11-03T17:26:14Z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