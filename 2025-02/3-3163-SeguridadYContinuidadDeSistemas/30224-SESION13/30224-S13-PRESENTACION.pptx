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7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72" r:id="rId2"/>
    <p:sldId id="306" r:id="rId3"/>
    <p:sldId id="432" r:id="rId4"/>
    <p:sldId id="513" r:id="rId5"/>
    <p:sldId id="315" r:id="rId6"/>
    <p:sldId id="400" r:id="rId7"/>
    <p:sldId id="611" r:id="rId8"/>
    <p:sldId id="613" r:id="rId9"/>
    <p:sldId id="614" r:id="rId10"/>
    <p:sldId id="615" r:id="rId11"/>
    <p:sldId id="616" r:id="rId12"/>
    <p:sldId id="617" r:id="rId13"/>
    <p:sldId id="618" r:id="rId14"/>
    <p:sldId id="619" r:id="rId15"/>
    <p:sldId id="620" r:id="rId16"/>
    <p:sldId id="621" r:id="rId17"/>
    <p:sldId id="622" r:id="rId18"/>
    <p:sldId id="597" r:id="rId19"/>
    <p:sldId id="448" r:id="rId20"/>
    <p:sldId id="509" r:id="rId21"/>
    <p:sldId id="511" r:id="rId22"/>
    <p:sldId id="451" r:id="rId23"/>
    <p:sldId id="470" r:id="rId24"/>
    <p:sldId id="471" r:id="rId25"/>
  </p:sldIdLst>
  <p:sldSz cx="9144000" cy="5715000" type="screen16x1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43" userDrawn="1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11" pos="295" userDrawn="1">
          <p15:clr>
            <a:srgbClr val="A4A3A4"/>
          </p15:clr>
        </p15:guide>
        <p15:guide id="12" orient="horz" pos="598" userDrawn="1">
          <p15:clr>
            <a:srgbClr val="A4A3A4"/>
          </p15:clr>
        </p15:guide>
        <p15:guide id="13" orient="horz" pos="258" userDrawn="1">
          <p15:clr>
            <a:srgbClr val="A4A3A4"/>
          </p15:clr>
        </p15:guide>
        <p15:guide id="14" pos="2880" userDrawn="1">
          <p15:clr>
            <a:srgbClr val="A4A3A4"/>
          </p15:clr>
        </p15:guide>
        <p15:guide id="15" pos="3039" userDrawn="1">
          <p15:clr>
            <a:srgbClr val="A4A3A4"/>
          </p15:clr>
        </p15:guide>
        <p15:guide id="17" pos="2721" userDrawn="1">
          <p15:clr>
            <a:srgbClr val="A4A3A4"/>
          </p15:clr>
        </p15:guide>
        <p15:guide id="18" pos="1451" userDrawn="1">
          <p15:clr>
            <a:srgbClr val="A4A3A4"/>
          </p15:clr>
        </p15:guide>
        <p15:guide id="20" pos="4785" userDrawn="1">
          <p15:clr>
            <a:srgbClr val="A4A3A4"/>
          </p15:clr>
        </p15:guide>
        <p15:guide id="23" orient="horz" pos="1006" userDrawn="1">
          <p15:clr>
            <a:srgbClr val="A4A3A4"/>
          </p15:clr>
        </p15:guide>
        <p15:guide id="24" orient="horz" pos="1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7A7"/>
    <a:srgbClr val="DFA635"/>
    <a:srgbClr val="E5584B"/>
    <a:srgbClr val="99C652"/>
    <a:srgbClr val="2EB1B5"/>
    <a:srgbClr val="68529F"/>
    <a:srgbClr val="D2032C"/>
    <a:srgbClr val="F2D164"/>
    <a:srgbClr val="5AB5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75060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488" y="90"/>
      </p:cViewPr>
      <p:guideLst>
        <p:guide pos="5443"/>
        <p:guide orient="horz" pos="3274"/>
        <p:guide pos="295"/>
        <p:guide orient="horz" pos="598"/>
        <p:guide orient="horz" pos="258"/>
        <p:guide pos="2880"/>
        <p:guide pos="3039"/>
        <p:guide pos="2721"/>
        <p:guide pos="1451"/>
        <p:guide pos="4785"/>
        <p:guide orient="horz" pos="1006"/>
        <p:guide orient="horz" pos="18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0197A7"/>
        </a:solidFill>
      </dgm:spPr>
      <dgm:t>
        <a:bodyPr/>
        <a:lstStyle/>
        <a:p>
          <a:r>
            <a:rPr lang="es-PE" sz="1600" dirty="0" smtClean="0"/>
            <a:t>Objetivo</a:t>
          </a:r>
          <a:endParaRPr lang="es-PE" sz="16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A1ECEA29-E2FA-D449-B3AE-E4E46F8ADDD9}">
      <dgm:prSet phldrT="[Texto]" custT="1"/>
      <dgm:spPr>
        <a:solidFill>
          <a:srgbClr val="0197A7"/>
        </a:solidFill>
      </dgm:spPr>
      <dgm:t>
        <a:bodyPr/>
        <a:lstStyle/>
        <a:p>
          <a:r>
            <a:rPr lang="es-PE" sz="1600" dirty="0" smtClean="0"/>
            <a:t>Plan de Recuperación de Desastres</a:t>
          </a:r>
          <a:endParaRPr lang="es-PE" sz="1600" dirty="0"/>
        </a:p>
      </dgm:t>
    </dgm:pt>
    <dgm:pt modelId="{501C18C2-934E-E648-8FCF-756BE560EAB5}" type="parTrans" cxnId="{37FC6B27-FB17-3C4A-9314-77585538EC20}">
      <dgm:prSet/>
      <dgm:spPr/>
      <dgm:t>
        <a:bodyPr/>
        <a:lstStyle/>
        <a:p>
          <a:endParaRPr lang="es-ES_tradnl"/>
        </a:p>
      </dgm:t>
    </dgm:pt>
    <dgm:pt modelId="{91E9D694-3F71-5644-9B83-6C48A0582DCB}" type="sibTrans" cxnId="{37FC6B27-FB17-3C4A-9314-77585538EC20}">
      <dgm:prSet/>
      <dgm:spPr/>
      <dgm:t>
        <a:bodyPr/>
        <a:lstStyle/>
        <a:p>
          <a:endParaRPr lang="es-ES_tradnl"/>
        </a:p>
      </dgm:t>
    </dgm:pt>
    <dgm:pt modelId="{143541F6-B8E7-F749-A764-468282178138}">
      <dgm:prSet phldrT="[Texto]" custT="1"/>
      <dgm:spPr>
        <a:solidFill>
          <a:srgbClr val="0197A7"/>
        </a:solidFill>
      </dgm:spPr>
      <dgm:t>
        <a:bodyPr/>
        <a:lstStyle/>
        <a:p>
          <a:r>
            <a:rPr lang="es-PE" sz="1600" dirty="0" smtClean="0"/>
            <a:t>Recuperación</a:t>
          </a:r>
          <a:endParaRPr lang="es-PE" sz="1600" dirty="0"/>
        </a:p>
      </dgm:t>
    </dgm:pt>
    <dgm:pt modelId="{49AA3A81-F320-AD4D-A26A-B2F95A11D04E}" type="parTrans" cxnId="{A94D2104-77AF-EE40-A453-CBF171DB34C2}">
      <dgm:prSet/>
      <dgm:spPr/>
      <dgm:t>
        <a:bodyPr/>
        <a:lstStyle/>
        <a:p>
          <a:endParaRPr lang="es-ES_tradnl"/>
        </a:p>
      </dgm:t>
    </dgm:pt>
    <dgm:pt modelId="{2A285EF3-D558-334D-B58F-11494E9110A6}" type="sibTrans" cxnId="{A94D2104-77AF-EE40-A453-CBF171DB34C2}">
      <dgm:prSet/>
      <dgm:spPr/>
      <dgm:t>
        <a:bodyPr/>
        <a:lstStyle/>
        <a:p>
          <a:endParaRPr lang="es-ES_tradnl"/>
        </a:p>
      </dgm:t>
    </dgm:pt>
    <dgm:pt modelId="{1A4DED51-CFB2-E449-BF40-7150B6CBB264}">
      <dgm:prSet phldrT="[Texto]" custT="1"/>
      <dgm:spPr>
        <a:solidFill>
          <a:srgbClr val="0197A7"/>
        </a:solidFill>
      </dgm:spPr>
      <dgm:t>
        <a:bodyPr/>
        <a:lstStyle/>
        <a:p>
          <a:r>
            <a:rPr lang="es-PE" sz="1600" dirty="0" smtClean="0"/>
            <a:t>Verificar, revisar y evaluar</a:t>
          </a:r>
          <a:endParaRPr lang="es-PE" sz="1600" dirty="0"/>
        </a:p>
      </dgm:t>
    </dgm:pt>
    <dgm:pt modelId="{F92ECADE-F5B9-C741-B7AB-CF7590C06484}" type="parTrans" cxnId="{126E9669-85AE-5D49-87E4-2CF06FDCD88F}">
      <dgm:prSet/>
      <dgm:spPr/>
      <dgm:t>
        <a:bodyPr/>
        <a:lstStyle/>
        <a:p>
          <a:endParaRPr lang="es-ES_tradnl"/>
        </a:p>
      </dgm:t>
    </dgm:pt>
    <dgm:pt modelId="{65F2DC01-5D12-D44B-A1BD-216DEF0DCB47}" type="sibTrans" cxnId="{126E9669-85AE-5D49-87E4-2CF06FDCD88F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85C42A80-BD66-234F-B8CA-837F638F9AD9}" type="pres">
      <dgm:prSet presAssocID="{A1ECEA29-E2FA-D449-B3AE-E4E46F8ADDD9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1E4644BB-590D-434C-BC80-A112B369FDDE}" type="pres">
      <dgm:prSet presAssocID="{91E9D694-3F71-5644-9B83-6C48A0582DCB}" presName="spacer" presStyleCnt="0"/>
      <dgm:spPr/>
    </dgm:pt>
    <dgm:pt modelId="{52802A08-E5BA-294B-B62B-27462F6F3350}" type="pres">
      <dgm:prSet presAssocID="{143541F6-B8E7-F749-A764-46828217813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3AB61126-40D4-D24A-807D-8BD3A8039CA4}" type="pres">
      <dgm:prSet presAssocID="{2A285EF3-D558-334D-B58F-11494E9110A6}" presName="spacer" presStyleCnt="0"/>
      <dgm:spPr/>
    </dgm:pt>
    <dgm:pt modelId="{79626387-10BD-DB43-AC68-6C66F835607C}" type="pres">
      <dgm:prSet presAssocID="{1A4DED51-CFB2-E449-BF40-7150B6CBB26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62C9C3E1-3387-D74A-B8DE-9736633FCA08}" type="presOf" srcId="{6EC1C1F4-B068-49DD-8085-E83DE5FE91C0}" destId="{1C1067FD-E418-4B60-B9E3-ACF1A4CBDC81}" srcOrd="0" destOrd="0" presId="urn:microsoft.com/office/officeart/2005/8/layout/vList2"/>
    <dgm:cxn modelId="{126E9669-85AE-5D49-87E4-2CF06FDCD88F}" srcId="{6EC1C1F4-B068-49DD-8085-E83DE5FE91C0}" destId="{1A4DED51-CFB2-E449-BF40-7150B6CBB264}" srcOrd="3" destOrd="0" parTransId="{F92ECADE-F5B9-C741-B7AB-CF7590C06484}" sibTransId="{65F2DC01-5D12-D44B-A1BD-216DEF0DCB47}"/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37FC6B27-FB17-3C4A-9314-77585538EC20}" srcId="{6EC1C1F4-B068-49DD-8085-E83DE5FE91C0}" destId="{A1ECEA29-E2FA-D449-B3AE-E4E46F8ADDD9}" srcOrd="1" destOrd="0" parTransId="{501C18C2-934E-E648-8FCF-756BE560EAB5}" sibTransId="{91E9D694-3F71-5644-9B83-6C48A0582DCB}"/>
    <dgm:cxn modelId="{2DFAC897-94D6-5449-A441-8C3CF8BEB2D7}" type="presOf" srcId="{1A4DED51-CFB2-E449-BF40-7150B6CBB264}" destId="{79626387-10BD-DB43-AC68-6C66F835607C}" srcOrd="0" destOrd="0" presId="urn:microsoft.com/office/officeart/2005/8/layout/vList2"/>
    <dgm:cxn modelId="{A94D2104-77AF-EE40-A453-CBF171DB34C2}" srcId="{6EC1C1F4-B068-49DD-8085-E83DE5FE91C0}" destId="{143541F6-B8E7-F749-A764-468282178138}" srcOrd="2" destOrd="0" parTransId="{49AA3A81-F320-AD4D-A26A-B2F95A11D04E}" sibTransId="{2A285EF3-D558-334D-B58F-11494E9110A6}"/>
    <dgm:cxn modelId="{7A3254AA-BE82-BA42-8819-DC9C331F92BD}" type="presOf" srcId="{A1ECEA29-E2FA-D449-B3AE-E4E46F8ADDD9}" destId="{85C42A80-BD66-234F-B8CA-837F638F9AD9}" srcOrd="0" destOrd="0" presId="urn:microsoft.com/office/officeart/2005/8/layout/vList2"/>
    <dgm:cxn modelId="{CCD711C3-8CAB-F84A-BF3E-139BB5F62BC6}" type="presOf" srcId="{F8AC1D50-8DEC-42E2-996D-CF1010A8B2A4}" destId="{3777373B-7A8D-4433-8A8C-4992208C3102}" srcOrd="0" destOrd="0" presId="urn:microsoft.com/office/officeart/2005/8/layout/vList2"/>
    <dgm:cxn modelId="{395F450F-B0F6-C647-963A-305E243A4E19}" type="presOf" srcId="{143541F6-B8E7-F749-A764-468282178138}" destId="{52802A08-E5BA-294B-B62B-27462F6F3350}" srcOrd="0" destOrd="0" presId="urn:microsoft.com/office/officeart/2005/8/layout/vList2"/>
    <dgm:cxn modelId="{8D48F009-7018-D140-B705-7C00932B8A0F}" type="presParOf" srcId="{1C1067FD-E418-4B60-B9E3-ACF1A4CBDC81}" destId="{3777373B-7A8D-4433-8A8C-4992208C3102}" srcOrd="0" destOrd="0" presId="urn:microsoft.com/office/officeart/2005/8/layout/vList2"/>
    <dgm:cxn modelId="{BD40FAE8-3A92-6642-A1C7-AFA5866692F9}" type="presParOf" srcId="{1C1067FD-E418-4B60-B9E3-ACF1A4CBDC81}" destId="{77C821BE-E8B1-43B2-BC83-DA1F290CCBAD}" srcOrd="1" destOrd="0" presId="urn:microsoft.com/office/officeart/2005/8/layout/vList2"/>
    <dgm:cxn modelId="{9456095A-610A-0B4B-833D-E71632D56844}" type="presParOf" srcId="{1C1067FD-E418-4B60-B9E3-ACF1A4CBDC81}" destId="{85C42A80-BD66-234F-B8CA-837F638F9AD9}" srcOrd="2" destOrd="0" presId="urn:microsoft.com/office/officeart/2005/8/layout/vList2"/>
    <dgm:cxn modelId="{A47F28D6-2233-464D-9E5C-551C28FF6786}" type="presParOf" srcId="{1C1067FD-E418-4B60-B9E3-ACF1A4CBDC81}" destId="{1E4644BB-590D-434C-BC80-A112B369FDDE}" srcOrd="3" destOrd="0" presId="urn:microsoft.com/office/officeart/2005/8/layout/vList2"/>
    <dgm:cxn modelId="{41553BE4-860B-0146-9D56-6A8429F88916}" type="presParOf" srcId="{1C1067FD-E418-4B60-B9E3-ACF1A4CBDC81}" destId="{52802A08-E5BA-294B-B62B-27462F6F3350}" srcOrd="4" destOrd="0" presId="urn:microsoft.com/office/officeart/2005/8/layout/vList2"/>
    <dgm:cxn modelId="{C34C1E47-927A-D345-A384-00B766AB33F2}" type="presParOf" srcId="{1C1067FD-E418-4B60-B9E3-ACF1A4CBDC81}" destId="{3AB61126-40D4-D24A-807D-8BD3A8039CA4}" srcOrd="5" destOrd="0" presId="urn:microsoft.com/office/officeart/2005/8/layout/vList2"/>
    <dgm:cxn modelId="{1E490D50-E0DE-964C-88AB-0F1399ED6710}" type="presParOf" srcId="{1C1067FD-E418-4B60-B9E3-ACF1A4CBDC81}" destId="{79626387-10BD-DB43-AC68-6C66F835607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20022"/>
          <a:ext cx="5709228" cy="636480"/>
        </a:xfrm>
        <a:prstGeom prst="roundRect">
          <a:avLst/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Objetivo</a:t>
          </a:r>
          <a:endParaRPr lang="es-PE" sz="1600" kern="1200" dirty="0"/>
        </a:p>
      </dsp:txBody>
      <dsp:txXfrm>
        <a:off x="31070" y="51092"/>
        <a:ext cx="5647088" cy="574340"/>
      </dsp:txXfrm>
    </dsp:sp>
    <dsp:sp modelId="{85C42A80-BD66-234F-B8CA-837F638F9AD9}">
      <dsp:nvSpPr>
        <dsp:cNvPr id="0" name=""/>
        <dsp:cNvSpPr/>
      </dsp:nvSpPr>
      <dsp:spPr>
        <a:xfrm>
          <a:off x="0" y="754422"/>
          <a:ext cx="5709228" cy="636480"/>
        </a:xfrm>
        <a:prstGeom prst="roundRect">
          <a:avLst/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Plan de Recuperación de Desastres</a:t>
          </a:r>
          <a:endParaRPr lang="es-PE" sz="1600" kern="1200" dirty="0"/>
        </a:p>
      </dsp:txBody>
      <dsp:txXfrm>
        <a:off x="31070" y="785492"/>
        <a:ext cx="5647088" cy="574340"/>
      </dsp:txXfrm>
    </dsp:sp>
    <dsp:sp modelId="{52802A08-E5BA-294B-B62B-27462F6F3350}">
      <dsp:nvSpPr>
        <dsp:cNvPr id="0" name=""/>
        <dsp:cNvSpPr/>
      </dsp:nvSpPr>
      <dsp:spPr>
        <a:xfrm>
          <a:off x="0" y="1488822"/>
          <a:ext cx="5709228" cy="636480"/>
        </a:xfrm>
        <a:prstGeom prst="roundRect">
          <a:avLst/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Recuperación</a:t>
          </a:r>
          <a:endParaRPr lang="es-PE" sz="1600" kern="1200" dirty="0"/>
        </a:p>
      </dsp:txBody>
      <dsp:txXfrm>
        <a:off x="31070" y="1519892"/>
        <a:ext cx="5647088" cy="574340"/>
      </dsp:txXfrm>
    </dsp:sp>
    <dsp:sp modelId="{79626387-10BD-DB43-AC68-6C66F835607C}">
      <dsp:nvSpPr>
        <dsp:cNvPr id="0" name=""/>
        <dsp:cNvSpPr/>
      </dsp:nvSpPr>
      <dsp:spPr>
        <a:xfrm>
          <a:off x="0" y="2223222"/>
          <a:ext cx="5709228" cy="636480"/>
        </a:xfrm>
        <a:prstGeom prst="roundRect">
          <a:avLst/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Verificar, revisar y evaluar</a:t>
          </a:r>
          <a:endParaRPr lang="es-PE" sz="1600" kern="1200" dirty="0"/>
        </a:p>
      </dsp:txBody>
      <dsp:txXfrm>
        <a:off x="31070" y="2254292"/>
        <a:ext cx="5647088" cy="5743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21/10/2020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21/10/2020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8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Definiremos la secuencia de recuperación en caso de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desastre.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Evaluaremos la</a:t>
            </a:r>
            <a:r>
              <a:rPr lang="es-PE" sz="1200" baseline="0" dirty="0" smtClean="0"/>
              <a:t> integración que existe entre el procedimiento de Back Up y Restore.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9405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5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518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7164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35190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0568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3950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600" dirty="0" smtClean="0"/>
              <a:t>A continuación se detallan los tipos de sitios y estrategias disponibles para la recuperación en caso de desastre, fuera del sitio.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dirty="0" smtClean="0"/>
              <a:t>Sitio de recuperación gemelo en caso de desastre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dirty="0" smtClean="0"/>
              <a:t>Sitio alternativo en funcionamiento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dirty="0" smtClean="0"/>
              <a:t>Sitio alternativo en funcionamiento conmutable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dirty="0" smtClean="0"/>
              <a:t>Sitio alternativo inactivo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dirty="0" smtClean="0"/>
              <a:t>Reubicación y restauración </a:t>
            </a:r>
            <a:endParaRPr lang="es-PE" sz="900" dirty="0" smtClean="0"/>
          </a:p>
          <a:p>
            <a:endParaRPr lang="es-PE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43694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06629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 smtClean="0"/>
              <a:t>Proporcionar una cobertura importante en el centro de recuperación en caso de desastre. </a:t>
            </a:r>
            <a:endParaRPr lang="es-PE" sz="1200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0846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smtClean="0"/>
              <a:t>Proporcionar una cobertura importante en el centro de recuperación en caso de desastre. </a:t>
            </a:r>
            <a:endParaRPr lang="es-PE" sz="120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994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PE" sz="1400" b="1" dirty="0" smtClean="0"/>
              <a:t>Te ayudará a poner en orden toda tu infraestructura TI</a:t>
            </a:r>
            <a:r>
              <a:rPr lang="es-ES" sz="1400" dirty="0" smtClean="0"/>
              <a:t>. </a:t>
            </a:r>
          </a:p>
          <a:p>
            <a:pPr algn="just"/>
            <a:r>
              <a:rPr lang="es-PE" sz="1400" dirty="0" smtClean="0"/>
              <a:t>Para poder asegurar los datos críticos del negocio, es necesario realizar un análisis previo de su entorno. Es decir, dónde se encuentran, a qué servicios y procesos están vinculados, qué datos y servicios son prioritarios y cuáles no para determinar qué recuperar antes, cuánto tiempo es capaz de esperar hasta conseguir recuperar los datos o sistemas afectados, etc.</a:t>
            </a:r>
          </a:p>
          <a:p>
            <a:pPr fontAlgn="base"/>
            <a:r>
              <a:rPr lang="es-PE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Ahorrarás en costes y podrás generar nuevos ingresos</a:t>
            </a:r>
            <a:endParaRPr lang="es-PE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 </a:t>
            </a:r>
            <a:r>
              <a:rPr lang="es-PE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soluciones de Backup y Disaster Recovery</a:t>
            </a: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actuales se basan en el establecimiento de reglas y la automatización de procesos, lo que no solo permiten alcanzar tiempos de recuperación mínimos, sino que facilitan al máximo la gestión de los datos y las aplicaciones. Esto evita tener que afrontar gastos asociados a parones en el negocio y disminuye la necesidad de contar con especialistas centrados solo en estas tareas.</a:t>
            </a:r>
          </a:p>
          <a:p>
            <a:pPr fontAlgn="base"/>
            <a:r>
              <a:rPr lang="es-PE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Asegurarás el cumplimiento de la Ley</a:t>
            </a:r>
            <a:endParaRPr lang="es-PE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Aparte de conservar los datos críticos que alimentan el negocio y garantizar la alta disponibilidad de los sistemas críticos, un</a:t>
            </a:r>
            <a:r>
              <a:rPr lang="es-PE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plan de recuperación</a:t>
            </a: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 imprescindible para poder cumplir con los distintos requisitos de conservación y retención que establece la Ley, ya sea la legislación española o europea, y que afectan de manera general o sectorial a todas las organizaciones, empezando por la LPDP</a:t>
            </a:r>
          </a:p>
          <a:p>
            <a:pPr fontAlgn="base"/>
            <a:endParaRPr lang="es-PE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/>
            <a:endParaRPr lang="es-PE" sz="14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PE" sz="140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3201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3099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8042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7201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smtClean="0"/>
              <a:t>En ésta sesión conocimos</a:t>
            </a:r>
            <a:r>
              <a:rPr lang="es-PE" baseline="0" dirty="0" smtClean="0"/>
              <a:t> el contenido de un Plan de recuperación de Desastres, analizamos su importancia y como debe ser difundido y probado.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9887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analizamos la importancia de contar con una adecuada copia de respaldo y un procedimiento de restauración de información, el cual en situación de emergencia es vital para la reanudación de las actividades de la entidad.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81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5074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SEGURIDAD Y CONTINUIDAD DE SISTEMAS 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  SESIÓN 13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lt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  <a:endParaRPr lang="es-ES_tradnl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2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175138" y="3008050"/>
            <a:ext cx="5500550" cy="886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Plan de recuperación de sistemas de ti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Avance del proyecto 4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endParaRPr lang="es-ES" sz="1600" dirty="0">
              <a:solidFill>
                <a:srgbClr val="FFFFFF"/>
              </a:solidFill>
            </a:endParaRPr>
          </a:p>
        </p:txBody>
      </p:sp>
      <p:cxnSp>
        <p:nvCxnSpPr>
          <p:cNvPr id="8" name="Conector recto 7"/>
          <p:cNvCxnSpPr/>
          <p:nvPr/>
        </p:nvCxnSpPr>
        <p:spPr>
          <a:xfrm>
            <a:off x="3044504" y="1710303"/>
            <a:ext cx="0" cy="774883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045305" y="1802569"/>
            <a:ext cx="964250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5800" dirty="0" smtClean="0">
                <a:solidFill>
                  <a:srgbClr val="FFFFFF"/>
                </a:solidFill>
              </a:rPr>
              <a:t>13</a:t>
            </a:r>
            <a:endParaRPr lang="es-ES" sz="5800" dirty="0">
              <a:solidFill>
                <a:srgbClr val="FFFFFF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096830" y="1674447"/>
            <a:ext cx="8731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</a:rPr>
              <a:t>SESIÓN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175729" y="1710303"/>
            <a:ext cx="4596087" cy="865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s-ES" sz="2200" b="1" dirty="0" smtClean="0">
                <a:solidFill>
                  <a:srgbClr val="FFFFFF"/>
                </a:solidFill>
              </a:rPr>
              <a:t>PLAN DE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RECUPERACIÓN DE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SISTEMAS DE TI</a:t>
            </a:r>
            <a:endParaRPr lang="es-ES" sz="2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1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5721" y="2611279"/>
            <a:ext cx="7052558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 err="1">
                <a:cs typeface="Source Sans Pro"/>
              </a:rPr>
              <a:t>Elabora</a:t>
            </a:r>
            <a:r>
              <a:rPr lang="en-US" sz="2000" spc="-10" dirty="0">
                <a:cs typeface="Source Sans Pro"/>
              </a:rPr>
              <a:t> un </a:t>
            </a:r>
            <a:r>
              <a:rPr lang="en-US" sz="2000" spc="-10" dirty="0" err="1">
                <a:cs typeface="Source Sans Pro"/>
              </a:rPr>
              <a:t>borrador</a:t>
            </a:r>
            <a:r>
              <a:rPr lang="en-US" sz="2000" spc="-10" dirty="0">
                <a:cs typeface="Source Sans Pro"/>
              </a:rPr>
              <a:t> del plan de </a:t>
            </a:r>
            <a:r>
              <a:rPr lang="en-US" sz="2000" spc="-10" dirty="0" err="1">
                <a:cs typeface="Source Sans Pro"/>
              </a:rPr>
              <a:t>recuperación</a:t>
            </a:r>
            <a:r>
              <a:rPr lang="en-US" sz="2000" spc="-10" dirty="0">
                <a:cs typeface="Source Sans Pro"/>
              </a:rPr>
              <a:t> de </a:t>
            </a:r>
          </a:p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 err="1">
                <a:cs typeface="Source Sans Pro"/>
              </a:rPr>
              <a:t>sistemas</a:t>
            </a:r>
            <a:r>
              <a:rPr lang="en-US" sz="2000" spc="-10" dirty="0">
                <a:cs typeface="Source Sans Pro"/>
              </a:rPr>
              <a:t> de TI ante </a:t>
            </a:r>
            <a:r>
              <a:rPr lang="en-US" sz="2000" spc="-10" dirty="0" err="1">
                <a:cs typeface="Source Sans Pro"/>
              </a:rPr>
              <a:t>desastres</a:t>
            </a:r>
            <a:endParaRPr lang="en-US" sz="2000" spc="-10" dirty="0">
              <a:cs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-308225" y="2404153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pic>
        <p:nvPicPr>
          <p:cNvPr id="9" name="Picture 4" descr="Resultado de imagen para plan de recuperación de desastre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0" r="19647"/>
          <a:stretch/>
        </p:blipFill>
        <p:spPr bwMode="auto">
          <a:xfrm>
            <a:off x="1651084" y="949325"/>
            <a:ext cx="5841833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778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pic>
        <p:nvPicPr>
          <p:cNvPr id="10" name="Picture 4" descr="Resultado de imagen para disaster recover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062" y="959600"/>
            <a:ext cx="4237876" cy="423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262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PLAN DE RECUPERACIÓN DE SISTEMAS DE TI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13" name="Diagrama 12"/>
          <p:cNvGraphicFramePr/>
          <p:nvPr>
            <p:extLst>
              <p:ext uri="{D42A27DB-BD31-4B8C-83A1-F6EECF244321}">
                <p14:modId xmlns:p14="http://schemas.microsoft.com/office/powerpoint/2010/main" val="1769342046"/>
              </p:ext>
            </p:extLst>
          </p:nvPr>
        </p:nvGraphicFramePr>
        <p:xfrm>
          <a:off x="1717386" y="1273175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0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7" y="954483"/>
            <a:ext cx="8133065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PLAN DE RECUPERACIÓN DE DESASTRES - DRP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Las </a:t>
            </a:r>
            <a:r>
              <a:rPr lang="en-US" sz="1600" spc="-10" dirty="0">
                <a:cs typeface="Source Sans Pro"/>
              </a:rPr>
              <a:t>TIs </a:t>
            </a:r>
            <a:r>
              <a:rPr lang="en-US" sz="1600" spc="-10" dirty="0" err="1">
                <a:cs typeface="Source Sans Pro"/>
              </a:rPr>
              <a:t>proporcionan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marco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trabajo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imprescindible</a:t>
            </a:r>
            <a:r>
              <a:rPr lang="en-US" sz="1600" spc="-10" dirty="0">
                <a:cs typeface="Source Sans Pro"/>
              </a:rPr>
              <a:t> para que las </a:t>
            </a:r>
            <a:r>
              <a:rPr lang="en-US" sz="1600" spc="-10" dirty="0" err="1">
                <a:cs typeface="Source Sans Pro"/>
              </a:rPr>
              <a:t>organizaciones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puedan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competitivas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Su </a:t>
            </a:r>
            <a:r>
              <a:rPr lang="en-US" sz="1600" spc="-10" dirty="0">
                <a:cs typeface="Source Sans Pro"/>
              </a:rPr>
              <a:t>peso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empresarial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determinante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lo que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fundamental </a:t>
            </a:r>
            <a:r>
              <a:rPr lang="en-US" sz="1600" spc="-10" dirty="0" err="1">
                <a:cs typeface="Source Sans Pro"/>
              </a:rPr>
              <a:t>contar</a:t>
            </a:r>
            <a:r>
              <a:rPr lang="en-US" sz="1600" spc="-10" dirty="0">
                <a:cs typeface="Source Sans Pro"/>
              </a:rPr>
              <a:t> con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infraestructura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cuidada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actualizada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permita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sacar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máximo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provecho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ellas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Esto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incluye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diseñar</a:t>
            </a:r>
            <a:r>
              <a:rPr lang="en-US" sz="1600" spc="-10" dirty="0">
                <a:cs typeface="Source Sans Pro"/>
              </a:rPr>
              <a:t> un plan de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>
                <a:cs typeface="Source Sans Pro"/>
              </a:rPr>
              <a:t> DRP (Disaster Recovery Plan) ante </a:t>
            </a:r>
            <a:r>
              <a:rPr lang="en-US" sz="1600" spc="-10" dirty="0" err="1">
                <a:cs typeface="Source Sans Pro"/>
              </a:rPr>
              <a:t>cualquier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tipo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incidencia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data center.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2570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pic>
        <p:nvPicPr>
          <p:cNvPr id="7" name="Picture 4" descr="Resultado de imagen para plan de recuperación de desastre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0" r="19647"/>
          <a:stretch/>
        </p:blipFill>
        <p:spPr bwMode="auto">
          <a:xfrm>
            <a:off x="1651084" y="949325"/>
            <a:ext cx="5841833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00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7" y="954483"/>
            <a:ext cx="8133065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BACKUP Y DISASTER RECOVERY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No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vincularse</a:t>
            </a:r>
            <a:r>
              <a:rPr lang="en-US" sz="1600" spc="-10" dirty="0">
                <a:cs typeface="Source Sans Pro"/>
              </a:rPr>
              <a:t> solo a </a:t>
            </a:r>
            <a:r>
              <a:rPr lang="en-US" sz="1600" spc="-10" dirty="0" err="1">
                <a:cs typeface="Source Sans Pro"/>
              </a:rPr>
              <a:t>situaciones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extremas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tipo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incendios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inundaciones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explosiones</a:t>
            </a:r>
            <a:r>
              <a:rPr lang="en-US" sz="1600" spc="-10" dirty="0">
                <a:cs typeface="Source Sans Pro"/>
              </a:rPr>
              <a:t>, entre </a:t>
            </a:r>
            <a:r>
              <a:rPr lang="en-US" sz="1600" spc="-10" dirty="0" err="1">
                <a:cs typeface="Source Sans Pro"/>
              </a:rPr>
              <a:t>otros</a:t>
            </a:r>
            <a:r>
              <a:rPr lang="en-US" sz="1600" spc="-10" dirty="0">
                <a:cs typeface="Source Sans Pro"/>
              </a:rPr>
              <a:t>. La simple </a:t>
            </a:r>
            <a:r>
              <a:rPr lang="en-US" sz="1600" spc="-10" dirty="0" err="1">
                <a:cs typeface="Source Sans Pro"/>
              </a:rPr>
              <a:t>dependencia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eléctrica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supone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sí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constituye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todas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empresas</a:t>
            </a:r>
            <a:r>
              <a:rPr lang="en-US" sz="1600" spc="-10" dirty="0">
                <a:cs typeface="Source Sans Pro"/>
              </a:rPr>
              <a:t>. 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De </a:t>
            </a:r>
            <a:r>
              <a:rPr lang="en-US" sz="1600" spc="-10" dirty="0" err="1">
                <a:cs typeface="Source Sans Pro"/>
              </a:rPr>
              <a:t>hecho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cortes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energía</a:t>
            </a:r>
            <a:r>
              <a:rPr lang="en-US" sz="1600" spc="-10" dirty="0">
                <a:cs typeface="Source Sans Pro"/>
              </a:rPr>
              <a:t> son la principal causa de </a:t>
            </a:r>
            <a:r>
              <a:rPr lang="en-US" sz="1600" spc="-10" dirty="0" err="1">
                <a:cs typeface="Source Sans Pro"/>
              </a:rPr>
              <a:t>fallo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57838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pic>
        <p:nvPicPr>
          <p:cNvPr id="7" name="Picture 4" descr="Resultado de imagen para disaster recove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498" y="1123985"/>
            <a:ext cx="3771004" cy="3771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9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7" y="954483"/>
            <a:ext cx="8133065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BACKUP Y DISASTER RECOVERY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Pero </a:t>
            </a:r>
            <a:r>
              <a:rPr lang="en-US" sz="1600" spc="-10" dirty="0">
                <a:cs typeface="Source Sans Pro"/>
              </a:rPr>
              <a:t>no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única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otras</a:t>
            </a:r>
            <a:r>
              <a:rPr lang="en-US" sz="1600" spc="-10" dirty="0">
                <a:cs typeface="Source Sans Pro"/>
              </a:rPr>
              <a:t> son:</a:t>
            </a: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borrado</a:t>
            </a:r>
            <a:r>
              <a:rPr lang="en-US" sz="1600" spc="-10" dirty="0">
                <a:cs typeface="Source Sans Pro"/>
              </a:rPr>
              <a:t> accidental de </a:t>
            </a:r>
            <a:r>
              <a:rPr lang="en-US" sz="1600" spc="-10" dirty="0" err="1">
                <a:cs typeface="Source Sans Pro"/>
              </a:rPr>
              <a:t>datos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negligencia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empleados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ataque</a:t>
            </a:r>
            <a:r>
              <a:rPr lang="en-US" sz="1600" spc="-10" dirty="0">
                <a:cs typeface="Source Sans Pro"/>
              </a:rPr>
              <a:t> de virus/malware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fallos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aplicaciones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96634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7" y="954483"/>
            <a:ext cx="8133065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RECUPERACIÓN FUERA DEL SITIO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Las </a:t>
            </a:r>
            <a:r>
              <a:rPr lang="en-US" sz="1600" spc="-10" dirty="0" err="1">
                <a:cs typeface="Source Sans Pro"/>
              </a:rPr>
              <a:t>soluciones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fuera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sitio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implican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generalmente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instalación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centro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procesamiento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alternativo</a:t>
            </a:r>
            <a:r>
              <a:rPr lang="en-US" sz="1600" spc="-10" dirty="0">
                <a:cs typeface="Source Sans Pro"/>
              </a:rPr>
              <a:t> a fin de </a:t>
            </a:r>
            <a:r>
              <a:rPr lang="en-US" sz="1600" spc="-10" dirty="0" err="1">
                <a:cs typeface="Source Sans Pro"/>
              </a:rPr>
              <a:t>realizar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operaciones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para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sufra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Actualmente</a:t>
            </a:r>
            <a:r>
              <a:rPr lang="en-US" sz="1600" spc="-10" dirty="0">
                <a:cs typeface="Source Sans Pro"/>
              </a:rPr>
              <a:t>, la </a:t>
            </a:r>
            <a:r>
              <a:rPr lang="en-US" sz="1600" spc="-10" dirty="0" err="1">
                <a:cs typeface="Source Sans Pro"/>
              </a:rPr>
              <a:t>estrategia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más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aceptada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contar</a:t>
            </a:r>
            <a:r>
              <a:rPr lang="en-US" sz="1600" spc="-10" dirty="0">
                <a:cs typeface="Source Sans Pro"/>
              </a:rPr>
              <a:t> con un </a:t>
            </a:r>
            <a:r>
              <a:rPr lang="en-US" sz="1600" spc="-10" dirty="0" err="1">
                <a:cs typeface="Source Sans Pro"/>
              </a:rPr>
              <a:t>lugar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fuera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sitio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5053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7" y="954483"/>
            <a:ext cx="8133065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SOPORTE DEL DRP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Administradores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</a:t>
            </a:r>
            <a:r>
              <a:rPr lang="en-US" sz="1600" spc="-10" dirty="0" err="1">
                <a:cs typeface="Source Sans Pro"/>
              </a:rPr>
              <a:t>redes</a:t>
            </a:r>
            <a:r>
              <a:rPr lang="en-US" sz="1600" spc="-10" dirty="0">
                <a:cs typeface="Source Sans Pro"/>
              </a:rPr>
              <a:t>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Personal de </a:t>
            </a:r>
            <a:r>
              <a:rPr lang="en-US" sz="1600" spc="-10" dirty="0" err="1">
                <a:cs typeface="Source Sans Pro"/>
              </a:rPr>
              <a:t>administración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tecnología</a:t>
            </a:r>
            <a:r>
              <a:rPr lang="en-US" sz="1600" spc="-10" dirty="0">
                <a:cs typeface="Source Sans Pro"/>
              </a:rPr>
              <a:t>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Departamento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recursos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humanos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Departamento</a:t>
            </a:r>
            <a:r>
              <a:rPr lang="en-US" sz="1600" spc="-10" dirty="0">
                <a:cs typeface="Source Sans Pro"/>
              </a:rPr>
              <a:t> legal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Departamento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comunicaciones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corporativas</a:t>
            </a:r>
            <a:r>
              <a:rPr lang="en-US" sz="1600" spc="-10" dirty="0">
                <a:cs typeface="Source Sans Pro"/>
              </a:rPr>
              <a:t>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Departamento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administración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corporativa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87566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7" y="954483"/>
            <a:ext cx="8133065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RECUPERACIÓN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Proporcionar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 y el software </a:t>
            </a:r>
            <a:r>
              <a:rPr lang="en-US" sz="1600" spc="-10" dirty="0" err="1">
                <a:cs typeface="Source Sans Pro"/>
              </a:rPr>
              <a:t>almacenados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sitio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al </a:t>
            </a:r>
            <a:r>
              <a:rPr lang="en-US" sz="1600" spc="-10" dirty="0" err="1">
                <a:cs typeface="Source Sans Pro"/>
              </a:rPr>
              <a:t>centro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Proporcionar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un </a:t>
            </a:r>
            <a:r>
              <a:rPr lang="en-US" sz="1600" spc="-10" dirty="0" err="1">
                <a:cs typeface="Source Sans Pro"/>
              </a:rPr>
              <a:t>espacio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trabajo</a:t>
            </a:r>
            <a:r>
              <a:rPr lang="en-US" sz="1600" spc="-10" dirty="0">
                <a:cs typeface="Source Sans Pro"/>
              </a:rPr>
              <a:t> y el </a:t>
            </a:r>
            <a:r>
              <a:rPr lang="en-US" sz="1600" spc="-10" dirty="0" err="1">
                <a:cs typeface="Source Sans Pro"/>
              </a:rPr>
              <a:t>equipo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necesario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empleados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específicos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Activar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líneas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redes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conecten</a:t>
            </a:r>
            <a:r>
              <a:rPr lang="en-US" sz="1600" spc="-10" dirty="0">
                <a:cs typeface="Source Sans Pro"/>
              </a:rPr>
              <a:t> al </a:t>
            </a:r>
            <a:r>
              <a:rPr lang="en-US" sz="1600" spc="-10" dirty="0" err="1">
                <a:cs typeface="Source Sans Pro"/>
              </a:rPr>
              <a:t>centro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Operar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aplicaciones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importantes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informáticos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centro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1150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7" y="954483"/>
            <a:ext cx="813306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ADMINISTRACIÓN DE DRP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administración</a:t>
            </a:r>
            <a:r>
              <a:rPr lang="en-US" sz="1600" spc="-10" dirty="0">
                <a:cs typeface="Source Sans Pro"/>
              </a:rPr>
              <a:t> de un DRP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proceso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curso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incluye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implementación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mantenimiento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procesos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773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7" y="954483"/>
            <a:ext cx="8133065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VENTAJAS DE IMPLEMENTAR BACKUP Y DRP, ADEMÁS DE PROTEGER TU NEGOCIO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Te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ayudará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poner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orden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toda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infraestructura</a:t>
            </a:r>
            <a:r>
              <a:rPr lang="en-US" sz="1600" spc="-10" dirty="0">
                <a:cs typeface="Source Sans Pro"/>
              </a:rPr>
              <a:t> TI.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Ahorrarás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costes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podrás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generar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nuevos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ingresos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Asegurarás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cumplimiento</a:t>
            </a:r>
            <a:r>
              <a:rPr lang="en-US" sz="1600" spc="-10" dirty="0">
                <a:cs typeface="Source Sans Pro"/>
              </a:rPr>
              <a:t> de la Ley.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92577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AVANCE DEL PROYECTO 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105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AVANCE DEL PROYECTO 4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7" y="954483"/>
            <a:ext cx="8133065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DEFINICIÓN DE CONTROLES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endParaRPr lang="en-US" sz="1600" b="1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activos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trabajados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avance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proyecto</a:t>
            </a:r>
            <a:r>
              <a:rPr lang="en-US" sz="1600" spc="-10" dirty="0">
                <a:cs typeface="Source Sans Pro"/>
              </a:rPr>
              <a:t> 3, </a:t>
            </a:r>
            <a:r>
              <a:rPr lang="en-US" sz="1600" spc="-10" dirty="0" err="1">
                <a:cs typeface="Source Sans Pro"/>
              </a:rPr>
              <a:t>definir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controle</a:t>
            </a:r>
            <a:r>
              <a:rPr lang="en-US" sz="1600" spc="-10" dirty="0">
                <a:cs typeface="Source Sans Pro"/>
              </a:rPr>
              <a:t> “</a:t>
            </a:r>
            <a:r>
              <a:rPr lang="en-US" sz="1600" spc="-10" dirty="0" err="1">
                <a:cs typeface="Source Sans Pro"/>
              </a:rPr>
              <a:t>integrales</a:t>
            </a:r>
            <a:r>
              <a:rPr lang="en-US" sz="1600" spc="-10" dirty="0">
                <a:cs typeface="Source Sans Pro"/>
              </a:rPr>
              <a:t>”, que </a:t>
            </a:r>
            <a:r>
              <a:rPr lang="en-US" sz="1600" spc="-10" dirty="0" err="1">
                <a:cs typeface="Source Sans Pro"/>
              </a:rPr>
              <a:t>permitan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adecuada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nivel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controles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pueden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nuevas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tecnologías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herramientas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soluciones</a:t>
            </a:r>
            <a:r>
              <a:rPr lang="en-US" sz="1600" spc="-10" dirty="0">
                <a:cs typeface="Source Sans Pro"/>
              </a:rPr>
              <a:t> de software, </a:t>
            </a:r>
            <a:r>
              <a:rPr lang="en-US" sz="1600" spc="-10" dirty="0" err="1">
                <a:cs typeface="Source Sans Pro"/>
              </a:rPr>
              <a:t>contratación</a:t>
            </a:r>
            <a:r>
              <a:rPr lang="en-US" sz="1600" spc="-10" dirty="0">
                <a:cs typeface="Source Sans Pro"/>
              </a:rPr>
              <a:t> de personal, re </a:t>
            </a:r>
            <a:r>
              <a:rPr lang="en-US" sz="1600" spc="-10" dirty="0" err="1">
                <a:cs typeface="Source Sans Pro"/>
              </a:rPr>
              <a:t>proceso</a:t>
            </a:r>
            <a:r>
              <a:rPr lang="en-US" sz="1600" spc="-10" dirty="0">
                <a:cs typeface="Source Sans Pro"/>
              </a:rPr>
              <a:t>, entre </a:t>
            </a:r>
            <a:r>
              <a:rPr lang="en-US" sz="1600" spc="-10" dirty="0" err="1">
                <a:cs typeface="Source Sans Pro"/>
              </a:rPr>
              <a:t>otros</a:t>
            </a:r>
            <a:r>
              <a:rPr lang="en-US" sz="1600" spc="-10" dirty="0" smtClean="0">
                <a:cs typeface="Source Sans Pro"/>
              </a:rPr>
              <a:t>.</a:t>
            </a:r>
            <a:endParaRPr lang="en-US" sz="1600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6511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 smtClean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 smtClean="0">
                <a:solidFill>
                  <a:srgbClr val="000000"/>
                </a:solidFill>
              </a:rPr>
              <a:t>Objetivo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Debatir las mejores propuestas de Plan de Recuperación de TI ante Desastres.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33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En grupos de 5 participantes trabajar lo siguiente: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Presentarán su propuesta de Plan de Recuperación de TI ante desastres.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La presentación estará a cargo de solo un miembro del equipo.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24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Instrucciones para la entrega de la tarea.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 smtClean="0">
                <a:solidFill>
                  <a:srgbClr val="000000"/>
                </a:solidFill>
              </a:rPr>
              <a:t>La </a:t>
            </a:r>
            <a:r>
              <a:rPr lang="es-PE" sz="1600" dirty="0">
                <a:solidFill>
                  <a:srgbClr val="000000"/>
                </a:solidFill>
              </a:rPr>
              <a:t>presentación se hará con un Power Point y no debe durar más de 10 minutos por grupo.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PLAN DE RECUPERACIÓN DE SISTEMAS 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RESUMEN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pic>
        <p:nvPicPr>
          <p:cNvPr id="10" name="Picture 4" descr="Resultado de imagen para plan de recuperación de desastre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0" r="19647"/>
          <a:stretch/>
        </p:blipFill>
        <p:spPr bwMode="auto">
          <a:xfrm>
            <a:off x="1651084" y="949325"/>
            <a:ext cx="5841833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55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5866544" y="3513762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pic>
        <p:nvPicPr>
          <p:cNvPr id="16" name="Picture 4" descr="Resultado de imagen para disaster recove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498" y="1123985"/>
            <a:ext cx="3771004" cy="3771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1458930" y="-113016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843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6318</TotalTime>
  <Words>1132</Words>
  <Application>Microsoft Office PowerPoint</Application>
  <PresentationFormat>Presentación en pantalla (16:10)</PresentationFormat>
  <Paragraphs>132</Paragraphs>
  <Slides>24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keywords>SCG</cp:keywords>
  <cp:lastModifiedBy>Christian Santamaria Saldaña</cp:lastModifiedBy>
  <cp:revision>542</cp:revision>
  <cp:lastPrinted>2018-01-16T21:42:59Z</cp:lastPrinted>
  <dcterms:created xsi:type="dcterms:W3CDTF">2016-10-06T14:52:02Z</dcterms:created>
  <dcterms:modified xsi:type="dcterms:W3CDTF">2020-10-21T21:43:48Z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