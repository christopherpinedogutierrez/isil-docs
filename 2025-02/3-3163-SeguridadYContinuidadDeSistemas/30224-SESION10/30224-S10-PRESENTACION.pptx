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72" r:id="rId2"/>
    <p:sldId id="306" r:id="rId3"/>
    <p:sldId id="432" r:id="rId4"/>
    <p:sldId id="513" r:id="rId5"/>
    <p:sldId id="315" r:id="rId6"/>
    <p:sldId id="400" r:id="rId7"/>
    <p:sldId id="538" r:id="rId8"/>
    <p:sldId id="458" r:id="rId9"/>
    <p:sldId id="570" r:id="rId10"/>
    <p:sldId id="571" r:id="rId11"/>
    <p:sldId id="572" r:id="rId12"/>
    <p:sldId id="573" r:id="rId13"/>
    <p:sldId id="574" r:id="rId14"/>
    <p:sldId id="575" r:id="rId15"/>
    <p:sldId id="576" r:id="rId16"/>
    <p:sldId id="577" r:id="rId17"/>
    <p:sldId id="578" r:id="rId18"/>
    <p:sldId id="579" r:id="rId19"/>
    <p:sldId id="580" r:id="rId20"/>
    <p:sldId id="541" r:id="rId21"/>
    <p:sldId id="448" r:id="rId22"/>
    <p:sldId id="509" r:id="rId23"/>
    <p:sldId id="511" r:id="rId24"/>
    <p:sldId id="581" r:id="rId25"/>
    <p:sldId id="451" r:id="rId26"/>
    <p:sldId id="470" r:id="rId27"/>
    <p:sldId id="471" r:id="rId28"/>
  </p:sldIdLst>
  <p:sldSz cx="9144000" cy="5715000" type="screen16x10"/>
  <p:notesSz cx="6858000" cy="9144000"/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915" userDrawn="1">
          <p15:clr>
            <a:srgbClr val="A4A3A4"/>
          </p15:clr>
        </p15:guide>
        <p15:guide id="24" orient="horz" pos="2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1B5"/>
    <a:srgbClr val="E5584B"/>
    <a:srgbClr val="DFA635"/>
    <a:srgbClr val="99C652"/>
    <a:srgbClr val="68529F"/>
    <a:srgbClr val="0197A7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92" autoAdjust="0"/>
    <p:restoredTop sz="7506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518" y="114"/>
      </p:cViewPr>
      <p:guideLst>
        <p:guide pos="5465"/>
        <p:guide orient="horz" pos="3274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915"/>
        <p:guide orient="horz" pos="29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800" dirty="0" smtClean="0"/>
            <a:t>Objetivo</a:t>
          </a:r>
          <a:endParaRPr lang="es-PE" sz="18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C60F1C40-BB46-C44D-996E-E2ADD0D98948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800" dirty="0" smtClean="0"/>
            <a:t>Gestión de vulnerabilidad técnica</a:t>
          </a:r>
          <a:endParaRPr lang="es-PE" sz="1800" dirty="0"/>
        </a:p>
      </dgm:t>
    </dgm:pt>
    <dgm:pt modelId="{49E7F207-6A54-484F-9220-4F44562BBB41}" type="parTrans" cxnId="{7844F679-D847-EF43-B012-856234D44484}">
      <dgm:prSet/>
      <dgm:spPr/>
      <dgm:t>
        <a:bodyPr/>
        <a:lstStyle/>
        <a:p>
          <a:endParaRPr lang="es-ES_tradnl"/>
        </a:p>
      </dgm:t>
    </dgm:pt>
    <dgm:pt modelId="{AFAE4F9E-4FE0-A243-AB7E-6EBBB8163491}" type="sibTrans" cxnId="{7844F679-D847-EF43-B012-856234D44484}">
      <dgm:prSet/>
      <dgm:spPr/>
      <dgm:t>
        <a:bodyPr/>
        <a:lstStyle/>
        <a:p>
          <a:endParaRPr lang="es-ES_tradnl"/>
        </a:p>
      </dgm:t>
    </dgm:pt>
    <dgm:pt modelId="{BE427CC4-CB50-4A4C-AC3E-029656E93888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800" dirty="0" smtClean="0"/>
            <a:t>Restricciones a la instalación de software</a:t>
          </a:r>
          <a:endParaRPr lang="es-PE" sz="1800" dirty="0"/>
        </a:p>
      </dgm:t>
    </dgm:pt>
    <dgm:pt modelId="{74BEE4E6-DC3E-C640-8947-E983F48A3D0B}" type="parTrans" cxnId="{488A4934-9564-E342-873C-6AECD1B94326}">
      <dgm:prSet/>
      <dgm:spPr/>
      <dgm:t>
        <a:bodyPr/>
        <a:lstStyle/>
        <a:p>
          <a:endParaRPr lang="es-ES_tradnl"/>
        </a:p>
      </dgm:t>
    </dgm:pt>
    <dgm:pt modelId="{653DBD28-9D8B-F845-B9A5-2220715F377C}" type="sibTrans" cxnId="{488A4934-9564-E342-873C-6AECD1B94326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BCFFCCEC-2253-0849-B276-4A6D50434B68}" type="pres">
      <dgm:prSet presAssocID="{C60F1C40-BB46-C44D-996E-E2ADD0D9894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8E3DF38D-6AB9-8F46-86B4-DF89481C62E9}" type="pres">
      <dgm:prSet presAssocID="{AFAE4F9E-4FE0-A243-AB7E-6EBBB8163491}" presName="spacer" presStyleCnt="0"/>
      <dgm:spPr/>
    </dgm:pt>
    <dgm:pt modelId="{A5CF0F8B-A0E1-CD4E-8E7B-C44B45256B9C}" type="pres">
      <dgm:prSet presAssocID="{BE427CC4-CB50-4A4C-AC3E-029656E93888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18EBC34D-BF32-D345-93C7-8DBA8D1C00FA}" type="presOf" srcId="{BE427CC4-CB50-4A4C-AC3E-029656E93888}" destId="{A5CF0F8B-A0E1-CD4E-8E7B-C44B45256B9C}" srcOrd="0" destOrd="0" presId="urn:microsoft.com/office/officeart/2005/8/layout/vList2"/>
    <dgm:cxn modelId="{A4FD9724-8A7B-E24F-8A90-58BE8AFFD78A}" type="presOf" srcId="{C60F1C40-BB46-C44D-996E-E2ADD0D98948}" destId="{BCFFCCEC-2253-0849-B276-4A6D50434B68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7844F679-D847-EF43-B012-856234D44484}" srcId="{6EC1C1F4-B068-49DD-8085-E83DE5FE91C0}" destId="{C60F1C40-BB46-C44D-996E-E2ADD0D98948}" srcOrd="1" destOrd="0" parTransId="{49E7F207-6A54-484F-9220-4F44562BBB41}" sibTransId="{AFAE4F9E-4FE0-A243-AB7E-6EBBB8163491}"/>
    <dgm:cxn modelId="{488A4934-9564-E342-873C-6AECD1B94326}" srcId="{6EC1C1F4-B068-49DD-8085-E83DE5FE91C0}" destId="{BE427CC4-CB50-4A4C-AC3E-029656E93888}" srcOrd="2" destOrd="0" parTransId="{74BEE4E6-DC3E-C640-8947-E983F48A3D0B}" sibTransId="{653DBD28-9D8B-F845-B9A5-2220715F377C}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3707EBAC-8221-7847-955D-64B97AB19D45}" type="presParOf" srcId="{1C1067FD-E418-4B60-B9E3-ACF1A4CBDC81}" destId="{BCFFCCEC-2253-0849-B276-4A6D50434B68}" srcOrd="2" destOrd="0" presId="urn:microsoft.com/office/officeart/2005/8/layout/vList2"/>
    <dgm:cxn modelId="{F8E2CC7B-9B8C-4243-AFDA-03B3890D1BA2}" type="presParOf" srcId="{1C1067FD-E418-4B60-B9E3-ACF1A4CBDC81}" destId="{8E3DF38D-6AB9-8F46-86B4-DF89481C62E9}" srcOrd="3" destOrd="0" presId="urn:microsoft.com/office/officeart/2005/8/layout/vList2"/>
    <dgm:cxn modelId="{F8DCAA54-A0EC-9445-83B5-25C8797F9B65}" type="presParOf" srcId="{1C1067FD-E418-4B60-B9E3-ACF1A4CBDC81}" destId="{A5CF0F8B-A0E1-CD4E-8E7B-C44B45256B9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600" dirty="0" smtClean="0"/>
            <a:t>A.12.6 Gestión de la vulnerabilidad técnica</a:t>
          </a:r>
          <a:endParaRPr lang="es-PE" sz="16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A.12.6.1 Gestión</a:t>
          </a:r>
          <a:br>
            <a:rPr lang="es-PE" sz="1600" dirty="0" smtClean="0"/>
          </a:br>
          <a:r>
            <a:rPr lang="es-PE" sz="1600" dirty="0" smtClean="0"/>
            <a:t>de vulnerabilidad técnica</a:t>
          </a:r>
          <a:endParaRPr lang="es-PE" sz="16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5874FD79-EC3C-144C-9F29-86EF3A00684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A.12.6.2 Restricciones a la instalación de software</a:t>
          </a:r>
          <a:endParaRPr lang="es-PE" sz="1600" dirty="0"/>
        </a:p>
      </dgm:t>
    </dgm:pt>
    <dgm:pt modelId="{3B0E2071-7E89-9849-9476-362437E99F9A}" type="sibTrans" cxnId="{6FA9FB1E-06BE-EC44-B215-9D691D593B55}">
      <dgm:prSet/>
      <dgm:spPr/>
      <dgm:t>
        <a:bodyPr/>
        <a:lstStyle/>
        <a:p>
          <a:endParaRPr lang="es-ES_tradnl"/>
        </a:p>
      </dgm:t>
    </dgm:pt>
    <dgm:pt modelId="{EAAADF48-54E6-5E47-9E7D-C2A918253921}" type="parTrans" cxnId="{6FA9FB1E-06BE-EC44-B215-9D691D593B55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2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2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2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BB1F249-C59C-BD4C-BD34-7A8663535155}" type="pres">
      <dgm:prSet presAssocID="{EAAADF48-54E6-5E47-9E7D-C2A918253921}" presName="Name37" presStyleLbl="parChTrans1D2" presStyleIdx="1" presStyleCnt="2"/>
      <dgm:spPr/>
      <dgm:t>
        <a:bodyPr/>
        <a:lstStyle/>
        <a:p>
          <a:endParaRPr lang="es-ES_tradnl"/>
        </a:p>
      </dgm:t>
    </dgm:pt>
    <dgm:pt modelId="{DD849E3E-429E-BE48-9504-295D896C2FFD}" type="pres">
      <dgm:prSet presAssocID="{5874FD79-EC3C-144C-9F29-86EF3A006847}" presName="hierRoot2" presStyleCnt="0">
        <dgm:presLayoutVars>
          <dgm:hierBranch val="init"/>
        </dgm:presLayoutVars>
      </dgm:prSet>
      <dgm:spPr/>
    </dgm:pt>
    <dgm:pt modelId="{2682C10A-B717-8747-BE28-19264218D905}" type="pres">
      <dgm:prSet presAssocID="{5874FD79-EC3C-144C-9F29-86EF3A006847}" presName="rootComposite" presStyleCnt="0"/>
      <dgm:spPr/>
    </dgm:pt>
    <dgm:pt modelId="{77E6C5F0-B4C5-C441-BC2D-A05254452116}" type="pres">
      <dgm:prSet presAssocID="{5874FD79-EC3C-144C-9F29-86EF3A006847}" presName="rootText" presStyleLbl="node2" presStyleIdx="1" presStyleCnt="2" custScaleY="146737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AFB81BFC-C025-9846-B6FE-F84FDBE2F004}" type="pres">
      <dgm:prSet presAssocID="{5874FD79-EC3C-144C-9F29-86EF3A006847}" presName="rootConnector" presStyleLbl="node2" presStyleIdx="1" presStyleCnt="2"/>
      <dgm:spPr/>
      <dgm:t>
        <a:bodyPr/>
        <a:lstStyle/>
        <a:p>
          <a:endParaRPr lang="es-ES_tradnl"/>
        </a:p>
      </dgm:t>
    </dgm:pt>
    <dgm:pt modelId="{BA5189E3-6AC6-A446-AA8E-243CD2B87B64}" type="pres">
      <dgm:prSet presAssocID="{5874FD79-EC3C-144C-9F29-86EF3A006847}" presName="hierChild4" presStyleCnt="0"/>
      <dgm:spPr/>
    </dgm:pt>
    <dgm:pt modelId="{29431873-8067-A043-B4D9-6A7EDA5A54E5}" type="pres">
      <dgm:prSet presAssocID="{5874FD79-EC3C-144C-9F29-86EF3A006847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4C1F3144-1657-A049-9B08-39914D937838}" type="presOf" srcId="{5874FD79-EC3C-144C-9F29-86EF3A006847}" destId="{AFB81BFC-C025-9846-B6FE-F84FDBE2F004}" srcOrd="1" destOrd="0" presId="urn:microsoft.com/office/officeart/2005/8/layout/orgChart1"/>
    <dgm:cxn modelId="{6FA9FB1E-06BE-EC44-B215-9D691D593B55}" srcId="{1CFEDA62-E621-45B6-81B7-7CA0DF19BE0B}" destId="{5874FD79-EC3C-144C-9F29-86EF3A006847}" srcOrd="1" destOrd="0" parTransId="{EAAADF48-54E6-5E47-9E7D-C2A918253921}" sibTransId="{3B0E2071-7E89-9849-9476-362437E99F9A}"/>
    <dgm:cxn modelId="{E5F3428A-F19A-A84F-B13B-F72433DD5821}" type="presOf" srcId="{EAAADF48-54E6-5E47-9E7D-C2A918253921}" destId="{8BB1F249-C59C-BD4C-BD34-7A8663535155}" srcOrd="0" destOrd="0" presId="urn:microsoft.com/office/officeart/2005/8/layout/orgChart1"/>
    <dgm:cxn modelId="{7EC76E5F-7882-0943-9711-007F132093B0}" type="presOf" srcId="{B580A023-5473-4C09-9AD3-6CC4F2BD479E}" destId="{70708133-7F97-45BF-9C10-8090A18B77E8}" srcOrd="0" destOrd="0" presId="urn:microsoft.com/office/officeart/2005/8/layout/orgChart1"/>
    <dgm:cxn modelId="{0D9A7475-875C-1044-B2B3-1F77F2E1681E}" type="presOf" srcId="{B7448275-937C-4470-B239-A762E1132317}" destId="{FC92D772-C01B-4D45-837B-3353756937D4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23649A24-6A29-7A42-960D-93F93E251CFB}" type="presOf" srcId="{1CFEDA62-E621-45B6-81B7-7CA0DF19BE0B}" destId="{5703174A-DFEC-47A6-87E0-B1E4BB26E639}" srcOrd="1" destOrd="0" presId="urn:microsoft.com/office/officeart/2005/8/layout/orgChart1"/>
    <dgm:cxn modelId="{B6665501-9319-DA4F-B86D-C17F4B601240}" type="presOf" srcId="{B7448275-937C-4470-B239-A762E1132317}" destId="{7B388FE9-2F2F-47A2-8064-C147FCA9A3F0}" srcOrd="1" destOrd="0" presId="urn:microsoft.com/office/officeart/2005/8/layout/orgChart1"/>
    <dgm:cxn modelId="{2B9072CA-068A-E54A-8A4F-C355A69490E4}" type="presOf" srcId="{1CFEDA62-E621-45B6-81B7-7CA0DF19BE0B}" destId="{126F27EB-EF2C-423D-B7FD-5E0219D7D588}" srcOrd="0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906C9F7E-D829-9A4C-84B5-254A801E6A14}" type="presOf" srcId="{10422A0E-8626-46F6-B887-21E25845322D}" destId="{C4281DFD-D887-41DA-B6F2-3FBADBA6C710}" srcOrd="0" destOrd="0" presId="urn:microsoft.com/office/officeart/2005/8/layout/orgChart1"/>
    <dgm:cxn modelId="{0080E7A3-E5B0-D346-9317-F6702AFB24AC}" type="presOf" srcId="{5874FD79-EC3C-144C-9F29-86EF3A006847}" destId="{77E6C5F0-B4C5-C441-BC2D-A05254452116}" srcOrd="0" destOrd="0" presId="urn:microsoft.com/office/officeart/2005/8/layout/orgChart1"/>
    <dgm:cxn modelId="{9C47800F-0FF8-7145-8392-93E162641D72}" type="presParOf" srcId="{70708133-7F97-45BF-9C10-8090A18B77E8}" destId="{8174BBFF-F76D-423D-968C-BB20383ABF41}" srcOrd="0" destOrd="0" presId="urn:microsoft.com/office/officeart/2005/8/layout/orgChart1"/>
    <dgm:cxn modelId="{220CF611-C648-B64F-9EBC-DEBB0D048B10}" type="presParOf" srcId="{8174BBFF-F76D-423D-968C-BB20383ABF41}" destId="{1B53207F-2457-4DE1-8E76-DD6FCF0A3A94}" srcOrd="0" destOrd="0" presId="urn:microsoft.com/office/officeart/2005/8/layout/orgChart1"/>
    <dgm:cxn modelId="{C4E33677-EB64-FF46-B07A-177439CD1715}" type="presParOf" srcId="{1B53207F-2457-4DE1-8E76-DD6FCF0A3A94}" destId="{126F27EB-EF2C-423D-B7FD-5E0219D7D588}" srcOrd="0" destOrd="0" presId="urn:microsoft.com/office/officeart/2005/8/layout/orgChart1"/>
    <dgm:cxn modelId="{A13974E9-C72E-CB48-89D5-F4C4F02CCF24}" type="presParOf" srcId="{1B53207F-2457-4DE1-8E76-DD6FCF0A3A94}" destId="{5703174A-DFEC-47A6-87E0-B1E4BB26E639}" srcOrd="1" destOrd="0" presId="urn:microsoft.com/office/officeart/2005/8/layout/orgChart1"/>
    <dgm:cxn modelId="{8BDD0F44-CD35-9149-9BE8-14B2C81CCFC2}" type="presParOf" srcId="{8174BBFF-F76D-423D-968C-BB20383ABF41}" destId="{4E570361-5DD1-40A2-823E-C23403C3FF2E}" srcOrd="1" destOrd="0" presId="urn:microsoft.com/office/officeart/2005/8/layout/orgChart1"/>
    <dgm:cxn modelId="{DE9A3B5A-B4ED-ED4B-95D3-26006E5DC529}" type="presParOf" srcId="{4E570361-5DD1-40A2-823E-C23403C3FF2E}" destId="{C4281DFD-D887-41DA-B6F2-3FBADBA6C710}" srcOrd="0" destOrd="0" presId="urn:microsoft.com/office/officeart/2005/8/layout/orgChart1"/>
    <dgm:cxn modelId="{89E0565A-3E1E-F643-BEA8-35807BF57EB5}" type="presParOf" srcId="{4E570361-5DD1-40A2-823E-C23403C3FF2E}" destId="{0023C08C-1429-4E5B-9FD2-CD840868C8AE}" srcOrd="1" destOrd="0" presId="urn:microsoft.com/office/officeart/2005/8/layout/orgChart1"/>
    <dgm:cxn modelId="{3402036A-0A71-604B-95B7-50F83F0AC730}" type="presParOf" srcId="{0023C08C-1429-4E5B-9FD2-CD840868C8AE}" destId="{134AD17D-44F4-4C93-B854-49FB59ADB2CB}" srcOrd="0" destOrd="0" presId="urn:microsoft.com/office/officeart/2005/8/layout/orgChart1"/>
    <dgm:cxn modelId="{4F016E7E-6007-3E4E-A486-3E4F61616AC5}" type="presParOf" srcId="{134AD17D-44F4-4C93-B854-49FB59ADB2CB}" destId="{FC92D772-C01B-4D45-837B-3353756937D4}" srcOrd="0" destOrd="0" presId="urn:microsoft.com/office/officeart/2005/8/layout/orgChart1"/>
    <dgm:cxn modelId="{09A2B315-D930-B346-9D83-87DBC3FDE4C4}" type="presParOf" srcId="{134AD17D-44F4-4C93-B854-49FB59ADB2CB}" destId="{7B388FE9-2F2F-47A2-8064-C147FCA9A3F0}" srcOrd="1" destOrd="0" presId="urn:microsoft.com/office/officeart/2005/8/layout/orgChart1"/>
    <dgm:cxn modelId="{35FBEEB8-AA3F-534D-99D4-EF21F4A5D640}" type="presParOf" srcId="{0023C08C-1429-4E5B-9FD2-CD840868C8AE}" destId="{933D1101-4290-4C34-B9BE-5575210E76DA}" srcOrd="1" destOrd="0" presId="urn:microsoft.com/office/officeart/2005/8/layout/orgChart1"/>
    <dgm:cxn modelId="{83F70C32-F56A-1B46-A3FB-B2D1F73D8C4E}" type="presParOf" srcId="{0023C08C-1429-4E5B-9FD2-CD840868C8AE}" destId="{AF997B2D-8C71-4B27-92CE-72C259828446}" srcOrd="2" destOrd="0" presId="urn:microsoft.com/office/officeart/2005/8/layout/orgChart1"/>
    <dgm:cxn modelId="{B0CDA9F9-413C-0A49-9B70-858D499FD370}" type="presParOf" srcId="{4E570361-5DD1-40A2-823E-C23403C3FF2E}" destId="{8BB1F249-C59C-BD4C-BD34-7A8663535155}" srcOrd="2" destOrd="0" presId="urn:microsoft.com/office/officeart/2005/8/layout/orgChart1"/>
    <dgm:cxn modelId="{A986474E-9064-BA42-A73F-E65F583BEFDE}" type="presParOf" srcId="{4E570361-5DD1-40A2-823E-C23403C3FF2E}" destId="{DD849E3E-429E-BE48-9504-295D896C2FFD}" srcOrd="3" destOrd="0" presId="urn:microsoft.com/office/officeart/2005/8/layout/orgChart1"/>
    <dgm:cxn modelId="{1030CB16-7121-6546-A9BA-109C14E8AF88}" type="presParOf" srcId="{DD849E3E-429E-BE48-9504-295D896C2FFD}" destId="{2682C10A-B717-8747-BE28-19264218D905}" srcOrd="0" destOrd="0" presId="urn:microsoft.com/office/officeart/2005/8/layout/orgChart1"/>
    <dgm:cxn modelId="{20D71930-1765-E340-91CE-37C724FA267D}" type="presParOf" srcId="{2682C10A-B717-8747-BE28-19264218D905}" destId="{77E6C5F0-B4C5-C441-BC2D-A05254452116}" srcOrd="0" destOrd="0" presId="urn:microsoft.com/office/officeart/2005/8/layout/orgChart1"/>
    <dgm:cxn modelId="{2329F302-C9F0-5546-AC67-3750CCEFC2B5}" type="presParOf" srcId="{2682C10A-B717-8747-BE28-19264218D905}" destId="{AFB81BFC-C025-9846-B6FE-F84FDBE2F004}" srcOrd="1" destOrd="0" presId="urn:microsoft.com/office/officeart/2005/8/layout/orgChart1"/>
    <dgm:cxn modelId="{7518665E-88E2-C046-B85B-74F2A30101EB}" type="presParOf" srcId="{DD849E3E-429E-BE48-9504-295D896C2FFD}" destId="{BA5189E3-6AC6-A446-AA8E-243CD2B87B64}" srcOrd="1" destOrd="0" presId="urn:microsoft.com/office/officeart/2005/8/layout/orgChart1"/>
    <dgm:cxn modelId="{B312CAEF-8D63-CB43-8BCE-1BE9FB41C545}" type="presParOf" srcId="{DD849E3E-429E-BE48-9504-295D896C2FFD}" destId="{29431873-8067-A043-B4D9-6A7EDA5A54E5}" srcOrd="2" destOrd="0" presId="urn:microsoft.com/office/officeart/2005/8/layout/orgChart1"/>
    <dgm:cxn modelId="{300BF092-E5B6-0C4D-9F70-29B83C91C3EC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15702"/>
          <a:ext cx="5709228" cy="86112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Objetivo</a:t>
          </a:r>
          <a:endParaRPr lang="es-PE" sz="1800" kern="1200" dirty="0"/>
        </a:p>
      </dsp:txBody>
      <dsp:txXfrm>
        <a:off x="42036" y="57738"/>
        <a:ext cx="5625156" cy="777048"/>
      </dsp:txXfrm>
    </dsp:sp>
    <dsp:sp modelId="{BCFFCCEC-2253-0849-B276-4A6D50434B68}">
      <dsp:nvSpPr>
        <dsp:cNvPr id="0" name=""/>
        <dsp:cNvSpPr/>
      </dsp:nvSpPr>
      <dsp:spPr>
        <a:xfrm>
          <a:off x="0" y="1009302"/>
          <a:ext cx="5709228" cy="86112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Gestión de vulnerabilidad técnica</a:t>
          </a:r>
          <a:endParaRPr lang="es-PE" sz="1800" kern="1200" dirty="0"/>
        </a:p>
      </dsp:txBody>
      <dsp:txXfrm>
        <a:off x="42036" y="1051338"/>
        <a:ext cx="5625156" cy="777048"/>
      </dsp:txXfrm>
    </dsp:sp>
    <dsp:sp modelId="{A5CF0F8B-A0E1-CD4E-8E7B-C44B45256B9C}">
      <dsp:nvSpPr>
        <dsp:cNvPr id="0" name=""/>
        <dsp:cNvSpPr/>
      </dsp:nvSpPr>
      <dsp:spPr>
        <a:xfrm>
          <a:off x="0" y="2002902"/>
          <a:ext cx="5709228" cy="86112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Restricciones a la instalación de software</a:t>
          </a:r>
          <a:endParaRPr lang="es-PE" sz="1800" kern="1200" dirty="0"/>
        </a:p>
      </dsp:txBody>
      <dsp:txXfrm>
        <a:off x="42036" y="2044938"/>
        <a:ext cx="5625156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1F249-C59C-BD4C-BD34-7A8663535155}">
      <dsp:nvSpPr>
        <dsp:cNvPr id="0" name=""/>
        <dsp:cNvSpPr/>
      </dsp:nvSpPr>
      <dsp:spPr>
        <a:xfrm>
          <a:off x="4103687" y="1293134"/>
          <a:ext cx="1162264" cy="4034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715"/>
              </a:lnTo>
              <a:lnTo>
                <a:pt x="1162264" y="201715"/>
              </a:lnTo>
              <a:lnTo>
                <a:pt x="1162264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2941422" y="1293134"/>
          <a:ext cx="1162264" cy="403430"/>
        </a:xfrm>
        <a:custGeom>
          <a:avLst/>
          <a:gdLst/>
          <a:ahLst/>
          <a:cxnLst/>
          <a:rect l="0" t="0" r="0" b="0"/>
          <a:pathLst>
            <a:path>
              <a:moveTo>
                <a:pt x="1162264" y="0"/>
              </a:moveTo>
              <a:lnTo>
                <a:pt x="1162264" y="201715"/>
              </a:lnTo>
              <a:lnTo>
                <a:pt x="0" y="201715"/>
              </a:lnTo>
              <a:lnTo>
                <a:pt x="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A.12.6 Gestión de la vulnerabilidad técnica</a:t>
          </a:r>
          <a:endParaRPr lang="es-PE" sz="16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1980873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A.12.6.1 Gestión</a:t>
          </a:r>
          <a:br>
            <a:rPr lang="es-PE" sz="1600" kern="1200" dirty="0" smtClean="0"/>
          </a:br>
          <a:r>
            <a:rPr lang="es-PE" sz="1600" kern="1200" dirty="0" smtClean="0"/>
            <a:t>de vulnerabilidad técnica</a:t>
          </a:r>
          <a:endParaRPr lang="es-PE" sz="1600" kern="1200" dirty="0"/>
        </a:p>
      </dsp:txBody>
      <dsp:txXfrm>
        <a:off x="1980873" y="1696565"/>
        <a:ext cx="1921098" cy="1425416"/>
      </dsp:txXfrm>
    </dsp:sp>
    <dsp:sp modelId="{77E6C5F0-B4C5-C441-BC2D-A05254452116}">
      <dsp:nvSpPr>
        <dsp:cNvPr id="0" name=""/>
        <dsp:cNvSpPr/>
      </dsp:nvSpPr>
      <dsp:spPr>
        <a:xfrm>
          <a:off x="4305402" y="1696565"/>
          <a:ext cx="1921098" cy="1409481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A.12.6.2 Restricciones a la instalación de software</a:t>
          </a:r>
          <a:endParaRPr lang="es-PE" sz="1600" kern="1200" dirty="0"/>
        </a:p>
      </dsp:txBody>
      <dsp:txXfrm>
        <a:off x="4305402" y="1696565"/>
        <a:ext cx="1921098" cy="1409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Identificaremos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vulnerabilidades técnicas que existen en un sistema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Estableceremos</a:t>
            </a:r>
            <a:r>
              <a:rPr lang="es-PE" sz="1200" baseline="0" dirty="0" smtClean="0"/>
              <a:t> </a:t>
            </a:r>
            <a:r>
              <a:rPr lang="es-PE" sz="1200" dirty="0" smtClean="0"/>
              <a:t>las normas que rigen la instalación de software por parte de los usuarios</a:t>
            </a:r>
            <a:r>
              <a:rPr lang="es-PE" sz="1200" baseline="0" dirty="0" smtClean="0"/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2847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2475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nombre del </a:t>
            </a:r>
            <a:r>
              <a:rPr lang="es-PE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Ciclo PDCA (o Ciclo PHVA) viene de las siglas Planificar, Hacer, Verificar y Actuar, 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inglés “Plan, Do, Check, Act”. También es conocido como Ciclo de mejora continua o  Círculo de Deming, por ser Edwards Deming su autor. Esta metodología describe los cuatro pasos esenciales que se deben llevar a cabo de forma sistemática para lograr la mejora continua, entendiendo como tal el mejoramiento continuo de la calidad (disminución de fallos, aumento de la eficacia y eficiencia, solución de problemas, previsión y eliminación de riesgos potenciales.)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5435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23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4394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173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1353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403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5631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6364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6075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495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5011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Establecimos que la mejor manera de atacar las vulnerabilidades técnicas es</a:t>
            </a:r>
            <a:r>
              <a:rPr lang="es-PE" baseline="0" dirty="0" smtClean="0"/>
              <a:t> alinear la gestión de tecnologías de información a un proceso de mejora continua donde se identifiquen oportunamente los incidentes y se tomen las acciones de mitigación correspondientes que no generen impacto negativo a las actividades conexas.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concluimos que la prueba de los controles es importante a fin de gestionar el impacto que puedan generar a corto, mediano o largo plazo.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10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Gestión de la vulnerabilidad técnica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Avance del proyecto 3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10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GESTIÓN DE LA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VULNERABILIDAD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TÉCNICA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Entiende</a:t>
            </a:r>
            <a:r>
              <a:rPr lang="en-US" sz="2000" spc="-10" dirty="0">
                <a:cs typeface="Source Sans Pro"/>
              </a:rPr>
              <a:t> las </a:t>
            </a:r>
            <a:r>
              <a:rPr lang="en-US" sz="2000" spc="-10" dirty="0" err="1">
                <a:cs typeface="Source Sans Pro"/>
              </a:rPr>
              <a:t>restricciones</a:t>
            </a:r>
            <a:r>
              <a:rPr lang="en-US" sz="2000" spc="-10" dirty="0">
                <a:cs typeface="Source Sans Pro"/>
              </a:rPr>
              <a:t> que </a:t>
            </a:r>
            <a:r>
              <a:rPr lang="en-US" sz="2000" spc="-10" dirty="0" err="1">
                <a:cs typeface="Source Sans Pro"/>
              </a:rPr>
              <a:t>debe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implementar</a:t>
            </a:r>
            <a:r>
              <a:rPr lang="en-US" sz="2000" spc="-10" dirty="0">
                <a:cs typeface="Source Sans Pro"/>
              </a:rPr>
              <a:t> para </a:t>
            </a:r>
            <a:r>
              <a:rPr lang="en-US" sz="2000" spc="-10" dirty="0" err="1">
                <a:cs typeface="Source Sans Pro"/>
              </a:rPr>
              <a:t>evitar</a:t>
            </a:r>
            <a:r>
              <a:rPr lang="en-US" sz="2000" spc="-10" dirty="0">
                <a:cs typeface="Source Sans Pro"/>
              </a:rPr>
              <a:t> la </a:t>
            </a:r>
            <a:r>
              <a:rPr lang="en-US" sz="2000" spc="-10" dirty="0" err="1">
                <a:cs typeface="Source Sans Pro"/>
              </a:rPr>
              <a:t>explotación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vulnerabilidades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técnicas</a:t>
            </a:r>
            <a:endParaRPr lang="en-US" sz="20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308225" y="2404153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616" y="1592494"/>
            <a:ext cx="5404768" cy="36049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Vulnerabilidad técnica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14773" y="959599"/>
            <a:ext cx="391445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/>
              <a:t>Restricciones de la instalación de software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4" b="11129"/>
          <a:stretch/>
        </p:blipFill>
        <p:spPr>
          <a:xfrm>
            <a:off x="1955622" y="1613042"/>
            <a:ext cx="5232756" cy="35890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GESTIÓN DE LA VULNERABILIDAD TÉCNICA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861294240"/>
              </p:ext>
            </p:extLst>
          </p:nvPr>
        </p:nvGraphicFramePr>
        <p:xfrm>
          <a:off x="1717386" y="1427287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793187929"/>
              </p:ext>
            </p:extLst>
          </p:nvPr>
        </p:nvGraphicFramePr>
        <p:xfrm>
          <a:off x="468313" y="1260917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266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A.12.6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vulnerabilidad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técnica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Evitar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explotación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vulnerabilidades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técnicas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A.12.6.1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Vulnerabilidad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Técnica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obtener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oportuna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acerca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vulnerabilidades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técnicas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están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siendo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utilizados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evaluar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exposición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dichas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vulnerabilidades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adoptar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medidas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adecuadas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afrontar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asociado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100230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solo se </a:t>
            </a:r>
            <a:r>
              <a:rPr lang="en-US" sz="1600" spc="-10" dirty="0" err="1">
                <a:cs typeface="Source Sans Pro"/>
              </a:rPr>
              <a:t>puede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mejorar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mediante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decir</a:t>
            </a:r>
            <a:r>
              <a:rPr lang="en-US" sz="1600" spc="-10" dirty="0">
                <a:cs typeface="Source Sans Pro"/>
              </a:rPr>
              <a:t>, el plan de </a:t>
            </a:r>
            <a:r>
              <a:rPr lang="en-US" sz="1600" spc="-10" dirty="0" err="1">
                <a:cs typeface="Source Sans Pro"/>
              </a:rPr>
              <a:t>actividades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PDCA son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importantes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98"/>
          <a:stretch/>
        </p:blipFill>
        <p:spPr>
          <a:xfrm>
            <a:off x="1261513" y="1953612"/>
            <a:ext cx="6620974" cy="23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5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adecuada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crucial y </a:t>
            </a:r>
            <a:r>
              <a:rPr lang="en-US" sz="1600" spc="-10" dirty="0" err="1">
                <a:cs typeface="Source Sans Pro"/>
              </a:rPr>
              <a:t>probar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realmente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funcionan</a:t>
            </a:r>
            <a:r>
              <a:rPr lang="en-US" sz="1600" spc="-10" dirty="0">
                <a:cs typeface="Source Sans Pro"/>
              </a:rPr>
              <a:t> (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ejemplo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mitigar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)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aún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importante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9" name="Picture 4" descr="Resultado de imagen para testing firewal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3" t="1675" r="6325" b="11831"/>
          <a:stretch/>
        </p:blipFill>
        <p:spPr bwMode="auto">
          <a:xfrm>
            <a:off x="2395990" y="1931541"/>
            <a:ext cx="4352020" cy="326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47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A.12.6.2 </a:t>
            </a:r>
            <a:r>
              <a:rPr lang="en-US" sz="1600" b="1" spc="-10" dirty="0" err="1">
                <a:cs typeface="Source Sans Pro"/>
              </a:rPr>
              <a:t>Restricciones</a:t>
            </a:r>
            <a:r>
              <a:rPr lang="en-US" sz="1600" b="1" spc="-10" dirty="0">
                <a:cs typeface="Source Sans Pro"/>
              </a:rPr>
              <a:t> a la </a:t>
            </a:r>
            <a:r>
              <a:rPr lang="en-US" sz="1600" b="1" spc="-10" dirty="0" err="1">
                <a:cs typeface="Source Sans Pro"/>
              </a:rPr>
              <a:t>instalación</a:t>
            </a:r>
            <a:r>
              <a:rPr lang="en-US" sz="1600" b="1" spc="-10" dirty="0">
                <a:cs typeface="Source Sans Pro"/>
              </a:rPr>
              <a:t> de software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establecidas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aplicadas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normas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rigen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instalación</a:t>
            </a:r>
            <a:r>
              <a:rPr lang="en-US" sz="1600" spc="-10" dirty="0">
                <a:cs typeface="Source Sans Pro"/>
              </a:rPr>
              <a:t> de software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parte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118686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Ejemplo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Controles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Técnicos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12.2.1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contra el malware.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12.4.1 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eventos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13.1.3 </a:t>
            </a:r>
            <a:r>
              <a:rPr lang="en-US" sz="1600" spc="-10" dirty="0" err="1">
                <a:cs typeface="Source Sans Pro"/>
              </a:rPr>
              <a:t>Segregación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11.2.2 </a:t>
            </a:r>
            <a:r>
              <a:rPr lang="en-US" sz="1600" spc="-10" dirty="0" err="1">
                <a:cs typeface="Source Sans Pro"/>
              </a:rPr>
              <a:t>Instalaciones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suministro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10.1.2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claves.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12.6.1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vulnerabilidades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técnicas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20993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12.2.1 </a:t>
            </a:r>
            <a:r>
              <a:rPr lang="en-US" sz="1600" b="1" spc="-10" dirty="0" err="1">
                <a:cs typeface="Source Sans Pro"/>
              </a:rPr>
              <a:t>Controles</a:t>
            </a:r>
            <a:r>
              <a:rPr lang="en-US" sz="1600" b="1" spc="-10" dirty="0">
                <a:cs typeface="Source Sans Pro"/>
              </a:rPr>
              <a:t> contra el malware.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malware se </a:t>
            </a:r>
            <a:r>
              <a:rPr lang="en-US" sz="1600" spc="-10" dirty="0" err="1">
                <a:cs typeface="Source Sans Pro"/>
              </a:rPr>
              <a:t>incrementa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día</a:t>
            </a:r>
            <a:r>
              <a:rPr lang="en-US" sz="1600" spc="-10" dirty="0">
                <a:cs typeface="Source Sans Pro"/>
              </a:rPr>
              <a:t>, software antivirus y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para la </a:t>
            </a:r>
            <a:r>
              <a:rPr lang="en-US" sz="1600" spc="-10" dirty="0" err="1">
                <a:cs typeface="Source Sans Pro"/>
              </a:rPr>
              <a:t>prevención</a:t>
            </a:r>
            <a:r>
              <a:rPr lang="en-US" sz="1600" spc="-10" dirty="0">
                <a:cs typeface="Source Sans Pro"/>
              </a:rPr>
              <a:t> son </a:t>
            </a:r>
            <a:r>
              <a:rPr lang="en-US" sz="1600" spc="-10" dirty="0" err="1">
                <a:cs typeface="Source Sans Pro"/>
              </a:rPr>
              <a:t>obligatorios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5" name="Picture 2" descr="Resultado de imagen para malwa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7" t="10713" r="7349" b="9715"/>
          <a:stretch/>
        </p:blipFill>
        <p:spPr bwMode="auto">
          <a:xfrm>
            <a:off x="2954846" y="1888562"/>
            <a:ext cx="3234308" cy="305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41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12.4.1 </a:t>
            </a:r>
            <a:r>
              <a:rPr lang="en-US" sz="1600" b="1" spc="-10" dirty="0" err="1">
                <a:cs typeface="Source Sans Pro"/>
              </a:rPr>
              <a:t>Registro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eventos</a:t>
            </a:r>
            <a:r>
              <a:rPr lang="en-US" sz="1600" b="1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Especialmente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actividades</a:t>
            </a:r>
            <a:r>
              <a:rPr lang="en-US" sz="1600" spc="-10" dirty="0">
                <a:cs typeface="Source Sans Pro"/>
              </a:rPr>
              <a:t> de alto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registradas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medios</a:t>
            </a:r>
            <a:r>
              <a:rPr lang="en-US" sz="1600" spc="-10" dirty="0">
                <a:cs typeface="Source Sans Pro"/>
              </a:rPr>
              <a:t>. </a:t>
            </a:r>
            <a:r>
              <a:rPr lang="en-US" sz="1600" spc="-10" dirty="0" err="1">
                <a:cs typeface="Source Sans Pro"/>
              </a:rPr>
              <a:t>Esto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facilita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detección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incidente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670" y="1900720"/>
            <a:ext cx="4942660" cy="329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8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13.1.3 </a:t>
            </a:r>
            <a:r>
              <a:rPr lang="en-US" sz="1600" b="1" spc="-10" dirty="0" err="1">
                <a:cs typeface="Source Sans Pro"/>
              </a:rPr>
              <a:t>Segregación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redes</a:t>
            </a:r>
            <a:r>
              <a:rPr lang="en-US" sz="1600" b="1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Un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capas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significa</a:t>
            </a:r>
            <a:r>
              <a:rPr lang="en-US" sz="1600" spc="-10" dirty="0">
                <a:cs typeface="Source Sans Pro"/>
              </a:rPr>
              <a:t> que la red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dividida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zonas, con especial </a:t>
            </a:r>
            <a:r>
              <a:rPr lang="en-US" sz="1600" spc="-10" dirty="0" err="1">
                <a:cs typeface="Source Sans Pro"/>
              </a:rPr>
              <a:t>atención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aquellas</a:t>
            </a:r>
            <a:r>
              <a:rPr lang="en-US" sz="1600" spc="-10" dirty="0">
                <a:cs typeface="Source Sans Pro"/>
              </a:rPr>
              <a:t> zonas que </a:t>
            </a:r>
            <a:r>
              <a:rPr lang="en-US" sz="1600" spc="-10" dirty="0" err="1">
                <a:cs typeface="Source Sans Pro"/>
              </a:rPr>
              <a:t>tienen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conexiones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externas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11.2.2 </a:t>
            </a:r>
            <a:r>
              <a:rPr lang="en-US" sz="1600" b="1" spc="-10" dirty="0" err="1">
                <a:cs typeface="Source Sans Pro"/>
              </a:rPr>
              <a:t>Instalaciones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suministro</a:t>
            </a:r>
            <a:r>
              <a:rPr lang="en-US" sz="1600" b="1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disponibilidad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públicos</a:t>
            </a:r>
            <a:r>
              <a:rPr lang="en-US" sz="1600" spc="-10" dirty="0">
                <a:cs typeface="Source Sans Pro"/>
              </a:rPr>
              <a:t> (</a:t>
            </a:r>
            <a:r>
              <a:rPr lang="en-US" sz="1600" spc="-10" dirty="0" err="1">
                <a:cs typeface="Source Sans Pro"/>
              </a:rPr>
              <a:t>telecomunicaciones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electricidad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agua</a:t>
            </a:r>
            <a:r>
              <a:rPr lang="en-US" sz="1600" spc="-10" dirty="0">
                <a:cs typeface="Source Sans Pro"/>
              </a:rPr>
              <a:t>, etc.)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garantizada</a:t>
            </a:r>
            <a:r>
              <a:rPr lang="en-US" sz="1600" spc="-10" dirty="0">
                <a:cs typeface="Source Sans Pro"/>
              </a:rPr>
              <a:t>. </a:t>
            </a:r>
            <a:r>
              <a:rPr lang="en-US" sz="1600" spc="-10" dirty="0" err="1">
                <a:cs typeface="Source Sans Pro"/>
              </a:rPr>
              <a:t>Esto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requerir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suministros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repuesto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conexiones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redundantes</a:t>
            </a:r>
            <a:r>
              <a:rPr lang="en-US" sz="1600" spc="-10" dirty="0">
                <a:cs typeface="Source Sans Pro"/>
              </a:rPr>
              <a:t>, entre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 smtClean="0">
                <a:cs typeface="Source Sans Pro"/>
              </a:rPr>
              <a:t>.</a:t>
            </a: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57402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10.1.2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claves.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claves y </a:t>
            </a:r>
            <a:r>
              <a:rPr lang="en-US" sz="1600" spc="-10" dirty="0" err="1">
                <a:cs typeface="Source Sans Pro"/>
              </a:rPr>
              <a:t>certificados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electrónicos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controlado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5" name="Picture 2" descr="Resultado de imagen para password manag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64" y="1751936"/>
            <a:ext cx="4691179" cy="278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98" y="1751936"/>
            <a:ext cx="3418589" cy="277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0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12.6.1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vulnerabilidades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técnicas</a:t>
            </a:r>
            <a:r>
              <a:rPr lang="en-US" sz="1600" b="1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Verificar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TI no fallen y que no </a:t>
            </a:r>
            <a:r>
              <a:rPr lang="en-US" sz="1600" spc="-10" dirty="0" err="1">
                <a:cs typeface="Source Sans Pro"/>
              </a:rPr>
              <a:t>contienen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errores</a:t>
            </a:r>
            <a:r>
              <a:rPr lang="en-US" sz="1600" spc="-10" dirty="0">
                <a:cs typeface="Source Sans Pro"/>
              </a:rPr>
              <a:t>. Las </a:t>
            </a:r>
            <a:r>
              <a:rPr lang="en-US" sz="1600" spc="-10" dirty="0" err="1">
                <a:cs typeface="Source Sans Pro"/>
              </a:rPr>
              <a:t>vulnerabilidades</a:t>
            </a:r>
            <a:r>
              <a:rPr lang="en-US" sz="1600" spc="-10" dirty="0">
                <a:cs typeface="Source Sans Pro"/>
              </a:rPr>
              <a:t> no se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conocer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medida</a:t>
            </a:r>
            <a:r>
              <a:rPr lang="en-US" sz="1600" spc="-10" dirty="0">
                <a:cs typeface="Source Sans Pro"/>
              </a:rPr>
              <a:t> de lo </a:t>
            </a:r>
            <a:r>
              <a:rPr lang="en-US" sz="1600" spc="-10" dirty="0" err="1">
                <a:cs typeface="Source Sans Pro"/>
              </a:rPr>
              <a:t>posible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mitigadas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implementado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ejemplo</a:t>
            </a:r>
            <a:r>
              <a:rPr lang="en-US" sz="1600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estricta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parches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penetración</a:t>
            </a:r>
            <a:r>
              <a:rPr lang="en-US" sz="1600" spc="-10" dirty="0">
                <a:cs typeface="Source Sans Pro"/>
              </a:rPr>
              <a:t> etc.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19386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AVANCE DEL PROYECTO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03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ANÁLISIS DE PROBABILIDAD E IMPACTO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 smtClean="0">
                <a:cs typeface="Source Sans Pro"/>
              </a:rPr>
              <a:t>Objetivo</a:t>
            </a:r>
            <a:endParaRPr lang="en-US" sz="1600" b="1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Del </a:t>
            </a:r>
            <a:r>
              <a:rPr lang="en-US" sz="1600" spc="-10" dirty="0" err="1">
                <a:cs typeface="Source Sans Pro"/>
              </a:rPr>
              <a:t>avance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proyecto</a:t>
            </a:r>
            <a:r>
              <a:rPr lang="en-US" sz="1600" spc="-10" dirty="0">
                <a:cs typeface="Source Sans Pro"/>
              </a:rPr>
              <a:t> 2, </a:t>
            </a:r>
            <a:r>
              <a:rPr lang="en-US" sz="1600" spc="-10" dirty="0" err="1">
                <a:cs typeface="Source Sans Pro"/>
              </a:rPr>
              <a:t>seleccionar</a:t>
            </a:r>
            <a:r>
              <a:rPr lang="en-US" sz="1600" spc="-10" dirty="0">
                <a:cs typeface="Source Sans Pro"/>
              </a:rPr>
              <a:t> solo </a:t>
            </a:r>
            <a:r>
              <a:rPr lang="en-US" sz="1600" spc="-10" dirty="0" err="1">
                <a:cs typeface="Source Sans Pro"/>
              </a:rPr>
              <a:t>aquellos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mapa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calor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hayan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obtenido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valores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críticos</a:t>
            </a:r>
            <a:r>
              <a:rPr lang="en-US" sz="1600" spc="-10" dirty="0">
                <a:cs typeface="Source Sans Pro"/>
              </a:rPr>
              <a:t> (</a:t>
            </a:r>
            <a:r>
              <a:rPr lang="en-US" sz="1600" spc="-10" dirty="0" err="1">
                <a:cs typeface="Source Sans Pro"/>
              </a:rPr>
              <a:t>rojo</a:t>
            </a:r>
            <a:r>
              <a:rPr lang="en-US" sz="1600" spc="-10" dirty="0">
                <a:cs typeface="Source Sans Pro"/>
              </a:rPr>
              <a:t> y/o </a:t>
            </a:r>
            <a:r>
              <a:rPr lang="en-US" sz="1600" spc="-10" dirty="0" err="1">
                <a:cs typeface="Source Sans Pro"/>
              </a:rPr>
              <a:t>naranja</a:t>
            </a:r>
            <a:r>
              <a:rPr lang="en-US" sz="1600" spc="-10" dirty="0">
                <a:cs typeface="Source Sans Pro"/>
              </a:rPr>
              <a:t>), </a:t>
            </a:r>
            <a:r>
              <a:rPr lang="en-US" sz="1600" spc="-10" dirty="0" err="1">
                <a:cs typeface="Source Sans Pro"/>
              </a:rPr>
              <a:t>seleccionar</a:t>
            </a:r>
            <a:r>
              <a:rPr lang="en-US" sz="1600" spc="-10" dirty="0">
                <a:cs typeface="Source Sans Pro"/>
              </a:rPr>
              <a:t> solo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10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críticos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Realizar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un </a:t>
            </a:r>
            <a:r>
              <a:rPr lang="en-US" sz="1600" spc="-10" dirty="0" err="1">
                <a:cs typeface="Source Sans Pro"/>
              </a:rPr>
              <a:t>análisis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probabilidad</a:t>
            </a:r>
            <a:r>
              <a:rPr lang="en-US" sz="1600" spc="-10" dirty="0">
                <a:cs typeface="Source Sans Pro"/>
              </a:rPr>
              <a:t> e </a:t>
            </a:r>
            <a:r>
              <a:rPr lang="en-US" sz="1600" spc="-10" dirty="0" err="1">
                <a:cs typeface="Source Sans Pro"/>
              </a:rPr>
              <a:t>impacto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sobre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seleccionados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punto</a:t>
            </a:r>
            <a:r>
              <a:rPr lang="en-US" sz="1600" spc="-10" dirty="0">
                <a:cs typeface="Source Sans Pro"/>
              </a:rPr>
              <a:t> anterior.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AVANCE DEL PROYECTO 3</a:t>
            </a:r>
          </a:p>
        </p:txBody>
      </p:sp>
    </p:spTree>
    <p:extLst>
      <p:ext uri="{BB962C8B-B14F-4D97-AF65-F5344CB8AC3E}">
        <p14:creationId xmlns:p14="http://schemas.microsoft.com/office/powerpoint/2010/main" val="21162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INDIVIDUAL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 smtClean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Analizar y entender el uso e importancia de los Certificados Digitales.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INDIVIDUAL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Reto de Conocimiento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Es necesario que investigues sobre los Certificados Digitales, para ello deberás elaborar una monografía de entre 3 y 5 páginas o 3-5 diapositivas que contesten las siguientes preguntas: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¿Qué es un Certificado Digital?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¿Cuándo se usa?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¿Qué mecanismos de protección brinda? - Ejemplos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¿Qué es una Entidad certificadora?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REGISTRO Y </a:t>
            </a:r>
            <a:r>
              <a:rPr lang="en-US" sz="1300" dirty="0" smtClean="0">
                <a:solidFill>
                  <a:srgbClr val="438AD7"/>
                </a:solidFill>
              </a:rPr>
              <a:t>MONITOREO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INDIVIDUAL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Reto de Conocimiento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 smtClean="0">
                <a:solidFill>
                  <a:srgbClr val="000000"/>
                </a:solidFill>
              </a:rPr>
              <a:t>El </a:t>
            </a:r>
            <a:r>
              <a:rPr lang="es-PE" sz="1600" dirty="0">
                <a:solidFill>
                  <a:srgbClr val="000000"/>
                </a:solidFill>
              </a:rPr>
              <a:t>envío se realizará al correo del instructor del curso o puede presentarse en físico, ambas entregas deben realizarse antes de los 5 días posteriores de haber desarrollado la presente sesión.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REGISTRO Y </a:t>
            </a:r>
            <a:r>
              <a:rPr lang="en-US" sz="1300" dirty="0" smtClean="0">
                <a:solidFill>
                  <a:srgbClr val="438AD7"/>
                </a:solidFill>
              </a:rPr>
              <a:t>MONITOREO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INDIVIDUAL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envío se realizará al correo del instructor del curso o puede presentarse en físico, ambas entregas deben realizarse antes de los 5 días posteriores de haber desarrollado la presente sesión</a:t>
            </a:r>
            <a:r>
              <a:rPr lang="es-PE" sz="1600" dirty="0" smtClean="0">
                <a:solidFill>
                  <a:srgbClr val="000000"/>
                </a:solidFill>
              </a:rPr>
              <a:t>.</a:t>
            </a: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REGISTRO Y </a:t>
            </a:r>
            <a:r>
              <a:rPr lang="en-US" sz="1300" dirty="0" smtClean="0">
                <a:solidFill>
                  <a:srgbClr val="438AD7"/>
                </a:solidFill>
              </a:rPr>
              <a:t>MONITOREO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77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Mejora Continua.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b="12247"/>
          <a:stretch/>
        </p:blipFill>
        <p:spPr>
          <a:xfrm>
            <a:off x="2262182" y="1575853"/>
            <a:ext cx="4619636" cy="362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866544" y="3513762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Prueba de controles.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423" y="1567306"/>
            <a:ext cx="4179155" cy="353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1033</Words>
  <Application>Microsoft Office PowerPoint</Application>
  <PresentationFormat>Presentación en pantalla (16:10)</PresentationFormat>
  <Paragraphs>125</Paragraphs>
  <Slides>27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521</cp:revision>
  <cp:lastPrinted>2018-01-16T21:42:59Z</cp:lastPrinted>
  <dcterms:created xsi:type="dcterms:W3CDTF">2016-10-06T14:52:02Z</dcterms:created>
  <dcterms:modified xsi:type="dcterms:W3CDTF">2020-10-21T21:43:25Z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