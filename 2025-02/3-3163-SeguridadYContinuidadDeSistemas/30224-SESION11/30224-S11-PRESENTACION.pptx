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372" r:id="rId2"/>
    <p:sldId id="306" r:id="rId3"/>
    <p:sldId id="432" r:id="rId4"/>
    <p:sldId id="513" r:id="rId5"/>
    <p:sldId id="582" r:id="rId6"/>
    <p:sldId id="315" r:id="rId7"/>
    <p:sldId id="400" r:id="rId8"/>
    <p:sldId id="538" r:id="rId9"/>
    <p:sldId id="458" r:id="rId10"/>
    <p:sldId id="584" r:id="rId11"/>
    <p:sldId id="585" r:id="rId12"/>
    <p:sldId id="586" r:id="rId13"/>
    <p:sldId id="587" r:id="rId14"/>
    <p:sldId id="588" r:id="rId15"/>
    <p:sldId id="589" r:id="rId16"/>
    <p:sldId id="590" r:id="rId17"/>
    <p:sldId id="595" r:id="rId18"/>
    <p:sldId id="596" r:id="rId19"/>
    <p:sldId id="593" r:id="rId20"/>
    <p:sldId id="592" r:id="rId21"/>
    <p:sldId id="594" r:id="rId22"/>
    <p:sldId id="448" r:id="rId23"/>
    <p:sldId id="509" r:id="rId24"/>
    <p:sldId id="511" r:id="rId25"/>
    <p:sldId id="581" r:id="rId26"/>
    <p:sldId id="451" r:id="rId27"/>
    <p:sldId id="470" r:id="rId28"/>
    <p:sldId id="471" r:id="rId29"/>
  </p:sldIdLst>
  <p:sldSz cx="9144000" cy="5715000" type="screen16x10"/>
  <p:notesSz cx="6858000" cy="9144000"/>
  <p:custDataLst>
    <p:tags r:id="rId3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5465" userDrawn="1">
          <p15:clr>
            <a:srgbClr val="A4A3A4"/>
          </p15:clr>
        </p15:guide>
        <p15:guide id="3" orient="horz" pos="3274" userDrawn="1">
          <p15:clr>
            <a:srgbClr val="A4A3A4"/>
          </p15:clr>
        </p15:guide>
        <p15:guide id="11" pos="295" userDrawn="1">
          <p15:clr>
            <a:srgbClr val="A4A3A4"/>
          </p15:clr>
        </p15:guide>
        <p15:guide id="12" orient="horz" pos="598" userDrawn="1">
          <p15:clr>
            <a:srgbClr val="A4A3A4"/>
          </p15:clr>
        </p15:guide>
        <p15:guide id="13" orient="horz" pos="258" userDrawn="1">
          <p15:clr>
            <a:srgbClr val="A4A3A4"/>
          </p15:clr>
        </p15:guide>
        <p15:guide id="14" pos="2880" userDrawn="1">
          <p15:clr>
            <a:srgbClr val="A4A3A4"/>
          </p15:clr>
        </p15:guide>
        <p15:guide id="15" pos="3039" userDrawn="1">
          <p15:clr>
            <a:srgbClr val="A4A3A4"/>
          </p15:clr>
        </p15:guide>
        <p15:guide id="17" pos="2721" userDrawn="1">
          <p15:clr>
            <a:srgbClr val="A4A3A4"/>
          </p15:clr>
        </p15:guide>
        <p15:guide id="18" pos="1451" userDrawn="1">
          <p15:clr>
            <a:srgbClr val="A4A3A4"/>
          </p15:clr>
        </p15:guide>
        <p15:guide id="20" pos="4785" userDrawn="1">
          <p15:clr>
            <a:srgbClr val="A4A3A4"/>
          </p15:clr>
        </p15:guide>
        <p15:guide id="23" orient="horz" pos="847" userDrawn="1">
          <p15:clr>
            <a:srgbClr val="A4A3A4"/>
          </p15:clr>
        </p15:guide>
        <p15:guide id="24" orient="horz" pos="29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B1B5"/>
    <a:srgbClr val="E5584B"/>
    <a:srgbClr val="DFA635"/>
    <a:srgbClr val="99C652"/>
    <a:srgbClr val="68529F"/>
    <a:srgbClr val="0197A7"/>
    <a:srgbClr val="D2032C"/>
    <a:srgbClr val="F2D164"/>
    <a:srgbClr val="5AB5A3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36" autoAdjust="0"/>
    <p:restoredTop sz="75060" autoAdjust="0"/>
  </p:normalViewPr>
  <p:slideViewPr>
    <p:cSldViewPr snapToGrid="0" snapToObjects="1" showGuides="1">
      <p:cViewPr varScale="1">
        <p:scale>
          <a:sx n="81" d="100"/>
          <a:sy n="81" d="100"/>
        </p:scale>
        <p:origin x="1506" y="90"/>
      </p:cViewPr>
      <p:guideLst>
        <p:guide pos="5465"/>
        <p:guide orient="horz" pos="3274"/>
        <p:guide pos="295"/>
        <p:guide orient="horz" pos="598"/>
        <p:guide orient="horz" pos="258"/>
        <p:guide pos="2880"/>
        <p:guide pos="3039"/>
        <p:guide pos="2721"/>
        <p:guide pos="1451"/>
        <p:guide pos="4785"/>
        <p:guide orient="horz" pos="847"/>
        <p:guide orient="horz" pos="293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5">
  <dgm:title val=""/>
  <dgm:desc val=""/>
  <dgm:catLst>
    <dgm:cat type="accent5" pri="11500"/>
  </dgm:catLst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5">
  <dgm:title val=""/>
  <dgm:desc val=""/>
  <dgm:catLst>
    <dgm:cat type="accent5" pri="11500"/>
  </dgm:catLst>
  <dgm:styleLbl name="node0">
    <dgm:fillClrLst meth="cycle">
      <a:schemeClr val="accent5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alpha val="9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alpha val="90000"/>
      </a:schemeClr>
      <a:schemeClr val="accent5">
        <a:alpha val="5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/>
    <dgm:txEffectClrLst/>
  </dgm:styleLbl>
  <dgm:styleLbl name="lnNode1">
    <dgm:fillClrLst>
      <a:schemeClr val="accent5">
        <a:shade val="90000"/>
      </a:schemeClr>
      <a:schemeClr val="accent5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  <a:alpha val="90000"/>
      </a:schemeClr>
      <a:schemeClr val="accent5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bgSibTrans2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/>
    <dgm:txEffectClrLst/>
  </dgm:styleLbl>
  <dgm:styleLbl name="sibTrans1D1">
    <dgm:fillClrLst>
      <a:schemeClr val="accent5">
        <a:shade val="90000"/>
      </a:schemeClr>
      <a:schemeClr val="accent5">
        <a:tint val="50000"/>
      </a:schemeClr>
    </dgm:fillClrLst>
    <dgm:linClrLst>
      <a:schemeClr val="accent5">
        <a:shade val="90000"/>
      </a:schemeClr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alpha val="90000"/>
      </a:schemeClr>
      <a:schemeClr val="accent5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alpha val="90000"/>
        <a:tint val="40000"/>
      </a:schemeClr>
      <a:schemeClr val="accent5">
        <a:alpha val="5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C1C1F4-B068-49DD-8085-E83DE5FE91C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F8AC1D50-8DEC-42E2-996D-CF1010A8B2A4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600" dirty="0" smtClean="0"/>
            <a:t>Objetivo</a:t>
          </a:r>
          <a:endParaRPr lang="es-PE" sz="1600" dirty="0"/>
        </a:p>
      </dgm:t>
    </dgm:pt>
    <dgm:pt modelId="{786E19C0-B5FB-4042-A047-1BE4F50904A1}" type="parTrans" cxnId="{8F299412-9ED5-4DEE-A8CF-4E0F884EEADC}">
      <dgm:prSet/>
      <dgm:spPr/>
      <dgm:t>
        <a:bodyPr/>
        <a:lstStyle/>
        <a:p>
          <a:endParaRPr lang="es-PE" sz="1600"/>
        </a:p>
      </dgm:t>
    </dgm:pt>
    <dgm:pt modelId="{D92CC6DE-1600-4B15-AB03-51E3F49D26E4}" type="sibTrans" cxnId="{8F299412-9ED5-4DEE-A8CF-4E0F884EEADC}">
      <dgm:prSet/>
      <dgm:spPr/>
      <dgm:t>
        <a:bodyPr/>
        <a:lstStyle/>
        <a:p>
          <a:endParaRPr lang="es-PE" sz="1600"/>
        </a:p>
      </dgm:t>
    </dgm:pt>
    <dgm:pt modelId="{21B248C4-7FA6-9B45-B126-7E150603B286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600" dirty="0" smtClean="0"/>
            <a:t>Continuidad de la Seguridad de la Información</a:t>
          </a:r>
          <a:endParaRPr lang="es-PE" sz="1600" dirty="0"/>
        </a:p>
      </dgm:t>
    </dgm:pt>
    <dgm:pt modelId="{FFA0ADE9-26E1-2C42-9FE8-5282BF86009E}" type="parTrans" cxnId="{B4F1B776-C919-F84D-8F7A-ADF7F5C527B9}">
      <dgm:prSet/>
      <dgm:spPr/>
      <dgm:t>
        <a:bodyPr/>
        <a:lstStyle/>
        <a:p>
          <a:endParaRPr lang="es-ES_tradnl"/>
        </a:p>
      </dgm:t>
    </dgm:pt>
    <dgm:pt modelId="{0030289E-E19E-9D46-9B4F-E36B0126C5FA}" type="sibTrans" cxnId="{B4F1B776-C919-F84D-8F7A-ADF7F5C527B9}">
      <dgm:prSet/>
      <dgm:spPr/>
      <dgm:t>
        <a:bodyPr/>
        <a:lstStyle/>
        <a:p>
          <a:endParaRPr lang="es-ES_tradnl"/>
        </a:p>
      </dgm:t>
    </dgm:pt>
    <dgm:pt modelId="{5219D9E7-AB94-A843-8CBD-92EE6B8FD042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600" dirty="0" smtClean="0"/>
            <a:t>Planificación</a:t>
          </a:r>
          <a:endParaRPr lang="es-PE" sz="1600" dirty="0"/>
        </a:p>
      </dgm:t>
    </dgm:pt>
    <dgm:pt modelId="{59200956-73E2-5F47-858E-C0B76F5F815A}" type="parTrans" cxnId="{ED5273AB-AE0E-4748-95DB-069E6E6213C3}">
      <dgm:prSet/>
      <dgm:spPr/>
      <dgm:t>
        <a:bodyPr/>
        <a:lstStyle/>
        <a:p>
          <a:endParaRPr lang="es-ES_tradnl"/>
        </a:p>
      </dgm:t>
    </dgm:pt>
    <dgm:pt modelId="{0C289206-9A7A-CF44-8299-059370C58364}" type="sibTrans" cxnId="{ED5273AB-AE0E-4748-95DB-069E6E6213C3}">
      <dgm:prSet/>
      <dgm:spPr/>
      <dgm:t>
        <a:bodyPr/>
        <a:lstStyle/>
        <a:p>
          <a:endParaRPr lang="es-ES_tradnl"/>
        </a:p>
      </dgm:t>
    </dgm:pt>
    <dgm:pt modelId="{B9B446A3-21F2-5B4A-88F1-5F219E052919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600" dirty="0" smtClean="0"/>
            <a:t>Aplicación</a:t>
          </a:r>
          <a:endParaRPr lang="es-PE" sz="1600" dirty="0"/>
        </a:p>
      </dgm:t>
    </dgm:pt>
    <dgm:pt modelId="{FBF7C670-A7D5-B642-9866-A3EA585E72B1}" type="parTrans" cxnId="{ECD237DC-7A2D-C246-8A61-07F98778F65D}">
      <dgm:prSet/>
      <dgm:spPr/>
      <dgm:t>
        <a:bodyPr/>
        <a:lstStyle/>
        <a:p>
          <a:endParaRPr lang="es-ES_tradnl"/>
        </a:p>
      </dgm:t>
    </dgm:pt>
    <dgm:pt modelId="{92B95512-948B-8A4A-A2BC-B76F94B57EB4}" type="sibTrans" cxnId="{ECD237DC-7A2D-C246-8A61-07F98778F65D}">
      <dgm:prSet/>
      <dgm:spPr/>
      <dgm:t>
        <a:bodyPr/>
        <a:lstStyle/>
        <a:p>
          <a:endParaRPr lang="es-ES_tradnl"/>
        </a:p>
      </dgm:t>
    </dgm:pt>
    <dgm:pt modelId="{7BA8EF28-0201-2D44-B92D-5FABDE9E3492}">
      <dgm:prSet phldrT="[Texto]" custT="1"/>
      <dgm:spPr>
        <a:solidFill>
          <a:srgbClr val="2EB1B5"/>
        </a:solidFill>
      </dgm:spPr>
      <dgm:t>
        <a:bodyPr/>
        <a:lstStyle/>
        <a:p>
          <a:r>
            <a:rPr lang="es-PE" sz="1600" dirty="0" smtClean="0"/>
            <a:t>Verificar, revisar y evaluar</a:t>
          </a:r>
          <a:endParaRPr lang="es-PE" sz="1600" dirty="0"/>
        </a:p>
      </dgm:t>
    </dgm:pt>
    <dgm:pt modelId="{A3633672-E7D2-C546-BA9A-4BB2DA023D12}" type="parTrans" cxnId="{12EAF0DB-599F-4E4F-9C22-25AF41F486C0}">
      <dgm:prSet/>
      <dgm:spPr/>
      <dgm:t>
        <a:bodyPr/>
        <a:lstStyle/>
        <a:p>
          <a:endParaRPr lang="es-ES_tradnl"/>
        </a:p>
      </dgm:t>
    </dgm:pt>
    <dgm:pt modelId="{41FB532F-3C79-0145-9A69-72F316EC642D}" type="sibTrans" cxnId="{12EAF0DB-599F-4E4F-9C22-25AF41F486C0}">
      <dgm:prSet/>
      <dgm:spPr/>
      <dgm:t>
        <a:bodyPr/>
        <a:lstStyle/>
        <a:p>
          <a:endParaRPr lang="es-ES_tradnl"/>
        </a:p>
      </dgm:t>
    </dgm:pt>
    <dgm:pt modelId="{1C1067FD-E418-4B60-B9E3-ACF1A4CBDC81}" type="pres">
      <dgm:prSet presAssocID="{6EC1C1F4-B068-49DD-8085-E83DE5FE91C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s-PE"/>
        </a:p>
      </dgm:t>
    </dgm:pt>
    <dgm:pt modelId="{3777373B-7A8D-4433-8A8C-4992208C3102}" type="pres">
      <dgm:prSet presAssocID="{F8AC1D50-8DEC-42E2-996D-CF1010A8B2A4}" presName="parentText" presStyleLbl="node1" presStyleIdx="0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s-PE"/>
        </a:p>
      </dgm:t>
    </dgm:pt>
    <dgm:pt modelId="{77C821BE-E8B1-43B2-BC83-DA1F290CCBAD}" type="pres">
      <dgm:prSet presAssocID="{D92CC6DE-1600-4B15-AB03-51E3F49D26E4}" presName="spacer" presStyleCnt="0"/>
      <dgm:spPr/>
    </dgm:pt>
    <dgm:pt modelId="{5BC491F4-2327-5747-89B7-1D3A8521AD48}" type="pres">
      <dgm:prSet presAssocID="{21B248C4-7FA6-9B45-B126-7E150603B286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s-ES_tradnl"/>
        </a:p>
      </dgm:t>
    </dgm:pt>
    <dgm:pt modelId="{A470A47D-0AE8-3349-81A4-98174583DB16}" type="pres">
      <dgm:prSet presAssocID="{0030289E-E19E-9D46-9B4F-E36B0126C5FA}" presName="spacer" presStyleCnt="0"/>
      <dgm:spPr/>
    </dgm:pt>
    <dgm:pt modelId="{43F530C9-D7B9-E04D-A130-FB6213175A41}" type="pres">
      <dgm:prSet presAssocID="{5219D9E7-AB94-A843-8CBD-92EE6B8FD042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s-ES_tradnl"/>
        </a:p>
      </dgm:t>
    </dgm:pt>
    <dgm:pt modelId="{FA1898C8-8DD4-1A4E-9E82-1F7130239A02}" type="pres">
      <dgm:prSet presAssocID="{0C289206-9A7A-CF44-8299-059370C58364}" presName="spacer" presStyleCnt="0"/>
      <dgm:spPr/>
    </dgm:pt>
    <dgm:pt modelId="{BA101040-1FD4-764D-B361-7F5AA509BA60}" type="pres">
      <dgm:prSet presAssocID="{B9B446A3-21F2-5B4A-88F1-5F219E052919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s-ES_tradnl"/>
        </a:p>
      </dgm:t>
    </dgm:pt>
    <dgm:pt modelId="{1ED92822-2B12-B941-87FD-D9B0E1C26CF6}" type="pres">
      <dgm:prSet presAssocID="{92B95512-948B-8A4A-A2BC-B76F94B57EB4}" presName="spacer" presStyleCnt="0"/>
      <dgm:spPr/>
    </dgm:pt>
    <dgm:pt modelId="{6509D1C9-2CCB-754C-A7F4-4F70FB21847A}" type="pres">
      <dgm:prSet presAssocID="{7BA8EF28-0201-2D44-B92D-5FABDE9E3492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s-ES_tradnl"/>
        </a:p>
      </dgm:t>
    </dgm:pt>
  </dgm:ptLst>
  <dgm:cxnLst>
    <dgm:cxn modelId="{ED5273AB-AE0E-4748-95DB-069E6E6213C3}" srcId="{6EC1C1F4-B068-49DD-8085-E83DE5FE91C0}" destId="{5219D9E7-AB94-A843-8CBD-92EE6B8FD042}" srcOrd="2" destOrd="0" parTransId="{59200956-73E2-5F47-858E-C0B76F5F815A}" sibTransId="{0C289206-9A7A-CF44-8299-059370C58364}"/>
    <dgm:cxn modelId="{12EAF0DB-599F-4E4F-9C22-25AF41F486C0}" srcId="{6EC1C1F4-B068-49DD-8085-E83DE5FE91C0}" destId="{7BA8EF28-0201-2D44-B92D-5FABDE9E3492}" srcOrd="4" destOrd="0" parTransId="{A3633672-E7D2-C546-BA9A-4BB2DA023D12}" sibTransId="{41FB532F-3C79-0145-9A69-72F316EC642D}"/>
    <dgm:cxn modelId="{42923F2D-2DDB-5141-B3D2-E62C87FFC8B1}" type="presOf" srcId="{7BA8EF28-0201-2D44-B92D-5FABDE9E3492}" destId="{6509D1C9-2CCB-754C-A7F4-4F70FB21847A}" srcOrd="0" destOrd="0" presId="urn:microsoft.com/office/officeart/2005/8/layout/vList2"/>
    <dgm:cxn modelId="{C41A9D17-9C2A-E246-86BD-4FAC7D9CF611}" type="presOf" srcId="{21B248C4-7FA6-9B45-B126-7E150603B286}" destId="{5BC491F4-2327-5747-89B7-1D3A8521AD48}" srcOrd="0" destOrd="0" presId="urn:microsoft.com/office/officeart/2005/8/layout/vList2"/>
    <dgm:cxn modelId="{FF82919F-E16B-A849-8905-B948E5326BFC}" type="presOf" srcId="{5219D9E7-AB94-A843-8CBD-92EE6B8FD042}" destId="{43F530C9-D7B9-E04D-A130-FB6213175A41}" srcOrd="0" destOrd="0" presId="urn:microsoft.com/office/officeart/2005/8/layout/vList2"/>
    <dgm:cxn modelId="{B4F1B776-C919-F84D-8F7A-ADF7F5C527B9}" srcId="{6EC1C1F4-B068-49DD-8085-E83DE5FE91C0}" destId="{21B248C4-7FA6-9B45-B126-7E150603B286}" srcOrd="1" destOrd="0" parTransId="{FFA0ADE9-26E1-2C42-9FE8-5282BF86009E}" sibTransId="{0030289E-E19E-9D46-9B4F-E36B0126C5FA}"/>
    <dgm:cxn modelId="{ECD237DC-7A2D-C246-8A61-07F98778F65D}" srcId="{6EC1C1F4-B068-49DD-8085-E83DE5FE91C0}" destId="{B9B446A3-21F2-5B4A-88F1-5F219E052919}" srcOrd="3" destOrd="0" parTransId="{FBF7C670-A7D5-B642-9866-A3EA585E72B1}" sibTransId="{92B95512-948B-8A4A-A2BC-B76F94B57EB4}"/>
    <dgm:cxn modelId="{58351E3F-A441-BB46-A9EE-E1BE434B50F2}" type="presOf" srcId="{6EC1C1F4-B068-49DD-8085-E83DE5FE91C0}" destId="{1C1067FD-E418-4B60-B9E3-ACF1A4CBDC81}" srcOrd="0" destOrd="0" presId="urn:microsoft.com/office/officeart/2005/8/layout/vList2"/>
    <dgm:cxn modelId="{40F5B1C5-62B1-6146-A1F0-C1180ECD01C8}" type="presOf" srcId="{F8AC1D50-8DEC-42E2-996D-CF1010A8B2A4}" destId="{3777373B-7A8D-4433-8A8C-4992208C3102}" srcOrd="0" destOrd="0" presId="urn:microsoft.com/office/officeart/2005/8/layout/vList2"/>
    <dgm:cxn modelId="{35ABA588-EF1D-6641-90B0-7A68F980BBAA}" type="presOf" srcId="{B9B446A3-21F2-5B4A-88F1-5F219E052919}" destId="{BA101040-1FD4-764D-B361-7F5AA509BA60}" srcOrd="0" destOrd="0" presId="urn:microsoft.com/office/officeart/2005/8/layout/vList2"/>
    <dgm:cxn modelId="{8F299412-9ED5-4DEE-A8CF-4E0F884EEADC}" srcId="{6EC1C1F4-B068-49DD-8085-E83DE5FE91C0}" destId="{F8AC1D50-8DEC-42E2-996D-CF1010A8B2A4}" srcOrd="0" destOrd="0" parTransId="{786E19C0-B5FB-4042-A047-1BE4F50904A1}" sibTransId="{D92CC6DE-1600-4B15-AB03-51E3F49D26E4}"/>
    <dgm:cxn modelId="{3595A292-1078-F14E-AEB4-1D9DF3A52647}" type="presParOf" srcId="{1C1067FD-E418-4B60-B9E3-ACF1A4CBDC81}" destId="{3777373B-7A8D-4433-8A8C-4992208C3102}" srcOrd="0" destOrd="0" presId="urn:microsoft.com/office/officeart/2005/8/layout/vList2"/>
    <dgm:cxn modelId="{81DA7A5D-440B-AE43-B793-961713979F60}" type="presParOf" srcId="{1C1067FD-E418-4B60-B9E3-ACF1A4CBDC81}" destId="{77C821BE-E8B1-43B2-BC83-DA1F290CCBAD}" srcOrd="1" destOrd="0" presId="urn:microsoft.com/office/officeart/2005/8/layout/vList2"/>
    <dgm:cxn modelId="{6D897B7E-B891-0143-80F1-8FDC7410FA7C}" type="presParOf" srcId="{1C1067FD-E418-4B60-B9E3-ACF1A4CBDC81}" destId="{5BC491F4-2327-5747-89B7-1D3A8521AD48}" srcOrd="2" destOrd="0" presId="urn:microsoft.com/office/officeart/2005/8/layout/vList2"/>
    <dgm:cxn modelId="{63F92044-E3DD-454A-87FB-F6D61A9EE18A}" type="presParOf" srcId="{1C1067FD-E418-4B60-B9E3-ACF1A4CBDC81}" destId="{A470A47D-0AE8-3349-81A4-98174583DB16}" srcOrd="3" destOrd="0" presId="urn:microsoft.com/office/officeart/2005/8/layout/vList2"/>
    <dgm:cxn modelId="{292600B9-49BF-854B-9E02-1FB75FB7C650}" type="presParOf" srcId="{1C1067FD-E418-4B60-B9E3-ACF1A4CBDC81}" destId="{43F530C9-D7B9-E04D-A130-FB6213175A41}" srcOrd="4" destOrd="0" presId="urn:microsoft.com/office/officeart/2005/8/layout/vList2"/>
    <dgm:cxn modelId="{91E7B36E-077E-C449-9DBC-B14D7E5C14A5}" type="presParOf" srcId="{1C1067FD-E418-4B60-B9E3-ACF1A4CBDC81}" destId="{FA1898C8-8DD4-1A4E-9E82-1F7130239A02}" srcOrd="5" destOrd="0" presId="urn:microsoft.com/office/officeart/2005/8/layout/vList2"/>
    <dgm:cxn modelId="{2F0EA479-ADE0-9849-9B76-CCDE2D3B435A}" type="presParOf" srcId="{1C1067FD-E418-4B60-B9E3-ACF1A4CBDC81}" destId="{BA101040-1FD4-764D-B361-7F5AA509BA60}" srcOrd="6" destOrd="0" presId="urn:microsoft.com/office/officeart/2005/8/layout/vList2"/>
    <dgm:cxn modelId="{2978D42A-183D-0749-8E2E-5CA0814A6A17}" type="presParOf" srcId="{1C1067FD-E418-4B60-B9E3-ACF1A4CBDC81}" destId="{1ED92822-2B12-B941-87FD-D9B0E1C26CF6}" srcOrd="7" destOrd="0" presId="urn:microsoft.com/office/officeart/2005/8/layout/vList2"/>
    <dgm:cxn modelId="{B59B253F-83E4-1140-AEA9-3934C442DD87}" type="presParOf" srcId="{1C1067FD-E418-4B60-B9E3-ACF1A4CBDC81}" destId="{6509D1C9-2CCB-754C-A7F4-4F70FB21847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580A023-5473-4C09-9AD3-6CC4F2BD479E}" type="doc">
      <dgm:prSet loTypeId="urn:microsoft.com/office/officeart/2005/8/layout/orgChart1" loCatId="hierarchy" qsTypeId="urn:microsoft.com/office/officeart/2005/8/quickstyle/simple1" qsCatId="simple" csTypeId="urn:microsoft.com/office/officeart/2005/8/colors/accent5_5" csCatId="accent5" phldr="1"/>
      <dgm:spPr/>
      <dgm:t>
        <a:bodyPr/>
        <a:lstStyle/>
        <a:p>
          <a:endParaRPr lang="es-PE"/>
        </a:p>
      </dgm:t>
    </dgm:pt>
    <dgm:pt modelId="{1CFEDA62-E621-45B6-81B7-7CA0DF19BE0B}">
      <dgm:prSet phldrT="[Texto]" custT="1"/>
      <dgm:spPr>
        <a:solidFill>
          <a:srgbClr val="68529F"/>
        </a:solidFill>
      </dgm:spPr>
      <dgm:t>
        <a:bodyPr/>
        <a:lstStyle/>
        <a:p>
          <a:r>
            <a:rPr lang="es-PE" sz="1600" dirty="0" smtClean="0"/>
            <a:t>A.17.1 Continuidad</a:t>
          </a:r>
          <a:br>
            <a:rPr lang="es-PE" sz="1600" dirty="0" smtClean="0"/>
          </a:br>
          <a:r>
            <a:rPr lang="es-PE" sz="1600" dirty="0" smtClean="0"/>
            <a:t>de la Seguridad de</a:t>
          </a:r>
          <a:br>
            <a:rPr lang="es-PE" sz="1600" dirty="0" smtClean="0"/>
          </a:br>
          <a:r>
            <a:rPr lang="es-PE" sz="1600" dirty="0" smtClean="0"/>
            <a:t>la Información</a:t>
          </a:r>
          <a:endParaRPr lang="es-PE" sz="1600" dirty="0"/>
        </a:p>
      </dgm:t>
    </dgm:pt>
    <dgm:pt modelId="{0700C93D-A4CB-4B96-84CE-B49B558F2924}" type="parTrans" cxnId="{962284F4-41E6-448E-B0EA-6DE27CB57514}">
      <dgm:prSet/>
      <dgm:spPr/>
      <dgm:t>
        <a:bodyPr/>
        <a:lstStyle/>
        <a:p>
          <a:endParaRPr lang="es-PE" sz="1100"/>
        </a:p>
      </dgm:t>
    </dgm:pt>
    <dgm:pt modelId="{CC81F1C7-7291-4FD3-9E79-50C95E843145}" type="sibTrans" cxnId="{962284F4-41E6-448E-B0EA-6DE27CB57514}">
      <dgm:prSet/>
      <dgm:spPr/>
      <dgm:t>
        <a:bodyPr/>
        <a:lstStyle/>
        <a:p>
          <a:endParaRPr lang="es-PE" sz="1100"/>
        </a:p>
      </dgm:t>
    </dgm:pt>
    <dgm:pt modelId="{B7448275-937C-4470-B239-A762E1132317}">
      <dgm:prSet phldrT="[Texto]" custT="1"/>
      <dgm:spPr>
        <a:solidFill>
          <a:srgbClr val="2EB1B5"/>
        </a:solidFill>
        <a:ln>
          <a:noFill/>
        </a:ln>
      </dgm:spPr>
      <dgm:t>
        <a:bodyPr/>
        <a:lstStyle/>
        <a:p>
          <a:r>
            <a:rPr lang="es-PE" sz="1600" dirty="0" smtClean="0"/>
            <a:t>A.17.1.1 Planificación de la continuidad de</a:t>
          </a:r>
          <a:br>
            <a:rPr lang="es-PE" sz="1600" dirty="0" smtClean="0"/>
          </a:br>
          <a:r>
            <a:rPr lang="es-PE" sz="1600" dirty="0" smtClean="0"/>
            <a:t>la seguridad de la información</a:t>
          </a:r>
          <a:endParaRPr lang="es-PE" sz="1600" dirty="0"/>
        </a:p>
      </dgm:t>
    </dgm:pt>
    <dgm:pt modelId="{10422A0E-8626-46F6-B887-21E25845322D}" type="parTrans" cxnId="{557D5898-F67E-4653-9DDF-2E1305C2481E}">
      <dgm:prSet/>
      <dgm:spPr>
        <a:ln w="28575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PE" sz="1100"/>
        </a:p>
      </dgm:t>
    </dgm:pt>
    <dgm:pt modelId="{CA607E5C-476B-4007-B45D-E7B821BE4112}" type="sibTrans" cxnId="{557D5898-F67E-4653-9DDF-2E1305C2481E}">
      <dgm:prSet/>
      <dgm:spPr/>
      <dgm:t>
        <a:bodyPr/>
        <a:lstStyle/>
        <a:p>
          <a:endParaRPr lang="es-PE" sz="1100"/>
        </a:p>
      </dgm:t>
    </dgm:pt>
    <dgm:pt modelId="{5874FD79-EC3C-144C-9F29-86EF3A006847}">
      <dgm:prSet phldrT="[Texto]" custT="1"/>
      <dgm:spPr>
        <a:solidFill>
          <a:srgbClr val="2EB1B5"/>
        </a:solidFill>
        <a:ln>
          <a:noFill/>
        </a:ln>
      </dgm:spPr>
      <dgm:t>
        <a:bodyPr/>
        <a:lstStyle/>
        <a:p>
          <a:r>
            <a:rPr lang="es-PE" sz="1600" dirty="0" smtClean="0"/>
            <a:t>A.17.1.2 Aplicación</a:t>
          </a:r>
          <a:br>
            <a:rPr lang="es-PE" sz="1600" dirty="0" smtClean="0"/>
          </a:br>
          <a:r>
            <a:rPr lang="es-PE" sz="1600" dirty="0" smtClean="0"/>
            <a:t>de la continuidad de</a:t>
          </a:r>
          <a:br>
            <a:rPr lang="es-PE" sz="1600" dirty="0" smtClean="0"/>
          </a:br>
          <a:r>
            <a:rPr lang="es-PE" sz="1600" dirty="0" smtClean="0"/>
            <a:t>la seguridad de la información</a:t>
          </a:r>
          <a:endParaRPr lang="es-PE" sz="1600" dirty="0"/>
        </a:p>
      </dgm:t>
    </dgm:pt>
    <dgm:pt modelId="{3B0E2071-7E89-9849-9476-362437E99F9A}" type="sibTrans" cxnId="{6FA9FB1E-06BE-EC44-B215-9D691D593B55}">
      <dgm:prSet/>
      <dgm:spPr/>
      <dgm:t>
        <a:bodyPr/>
        <a:lstStyle/>
        <a:p>
          <a:endParaRPr lang="es-ES_tradnl"/>
        </a:p>
      </dgm:t>
    </dgm:pt>
    <dgm:pt modelId="{EAAADF48-54E6-5E47-9E7D-C2A918253921}" type="parTrans" cxnId="{6FA9FB1E-06BE-EC44-B215-9D691D593B55}">
      <dgm:prSet/>
      <dgm:spPr>
        <a:ln w="28575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ES_tradnl"/>
        </a:p>
      </dgm:t>
    </dgm:pt>
    <dgm:pt modelId="{D4CC930A-EEEC-E341-8B73-714304859508}">
      <dgm:prSet custT="1"/>
      <dgm:spPr>
        <a:solidFill>
          <a:srgbClr val="2EB1B5"/>
        </a:solidFill>
        <a:ln>
          <a:noFill/>
        </a:ln>
      </dgm:spPr>
      <dgm:t>
        <a:bodyPr/>
        <a:lstStyle/>
        <a:p>
          <a:r>
            <a:rPr lang="es-PE" sz="1600" dirty="0" smtClean="0"/>
            <a:t>A.17.1.3 Verificar, revisar y evaluar la continuidad de la seguridad de la información</a:t>
          </a:r>
          <a:endParaRPr lang="es-ES_tradnl" sz="1600" dirty="0"/>
        </a:p>
      </dgm:t>
    </dgm:pt>
    <dgm:pt modelId="{9128C8AE-057F-FE4C-BC17-AE77D2263B8F}" type="parTrans" cxnId="{CF4CE3D7-BBA9-D645-81D8-0E5FDD1DB9C6}">
      <dgm:prSet/>
      <dgm:spPr>
        <a:ln w="28575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ES_tradnl"/>
        </a:p>
      </dgm:t>
    </dgm:pt>
    <dgm:pt modelId="{22C3DA1B-4B52-4F4D-9067-76A2E0B920D0}" type="sibTrans" cxnId="{CF4CE3D7-BBA9-D645-81D8-0E5FDD1DB9C6}">
      <dgm:prSet/>
      <dgm:spPr/>
      <dgm:t>
        <a:bodyPr/>
        <a:lstStyle/>
        <a:p>
          <a:endParaRPr lang="es-ES_tradnl"/>
        </a:p>
      </dgm:t>
    </dgm:pt>
    <dgm:pt modelId="{70708133-7F97-45BF-9C10-8090A18B77E8}" type="pres">
      <dgm:prSet presAssocID="{B580A023-5473-4C09-9AD3-6CC4F2BD479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s-PE"/>
        </a:p>
      </dgm:t>
    </dgm:pt>
    <dgm:pt modelId="{8174BBFF-F76D-423D-968C-BB20383ABF41}" type="pres">
      <dgm:prSet presAssocID="{1CFEDA62-E621-45B6-81B7-7CA0DF19BE0B}" presName="hierRoot1" presStyleCnt="0">
        <dgm:presLayoutVars>
          <dgm:hierBranch val="init"/>
        </dgm:presLayoutVars>
      </dgm:prSet>
      <dgm:spPr/>
    </dgm:pt>
    <dgm:pt modelId="{1B53207F-2457-4DE1-8E76-DD6FCF0A3A94}" type="pres">
      <dgm:prSet presAssocID="{1CFEDA62-E621-45B6-81B7-7CA0DF19BE0B}" presName="rootComposite1" presStyleCnt="0"/>
      <dgm:spPr/>
    </dgm:pt>
    <dgm:pt modelId="{126F27EB-EF2C-423D-B7FD-5E0219D7D588}" type="pres">
      <dgm:prSet presAssocID="{1CFEDA62-E621-45B6-81B7-7CA0DF19BE0B}" presName="rootText1" presStyleLbl="node0" presStyleIdx="0" presStyleCnt="1" custScaleX="124235" custScaleY="134469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5703174A-DFEC-47A6-87E0-B1E4BB26E639}" type="pres">
      <dgm:prSet presAssocID="{1CFEDA62-E621-45B6-81B7-7CA0DF19BE0B}" presName="rootConnector1" presStyleLbl="node1" presStyleIdx="0" presStyleCnt="0"/>
      <dgm:spPr/>
      <dgm:t>
        <a:bodyPr/>
        <a:lstStyle/>
        <a:p>
          <a:endParaRPr lang="es-PE"/>
        </a:p>
      </dgm:t>
    </dgm:pt>
    <dgm:pt modelId="{4E570361-5DD1-40A2-823E-C23403C3FF2E}" type="pres">
      <dgm:prSet presAssocID="{1CFEDA62-E621-45B6-81B7-7CA0DF19BE0B}" presName="hierChild2" presStyleCnt="0"/>
      <dgm:spPr/>
    </dgm:pt>
    <dgm:pt modelId="{C4281DFD-D887-41DA-B6F2-3FBADBA6C710}" type="pres">
      <dgm:prSet presAssocID="{10422A0E-8626-46F6-B887-21E25845322D}" presName="Name37" presStyleLbl="parChTrans1D2" presStyleIdx="0" presStyleCnt="3"/>
      <dgm:spPr/>
      <dgm:t>
        <a:bodyPr/>
        <a:lstStyle/>
        <a:p>
          <a:endParaRPr lang="es-PE"/>
        </a:p>
      </dgm:t>
    </dgm:pt>
    <dgm:pt modelId="{0023C08C-1429-4E5B-9FD2-CD840868C8AE}" type="pres">
      <dgm:prSet presAssocID="{B7448275-937C-4470-B239-A762E1132317}" presName="hierRoot2" presStyleCnt="0">
        <dgm:presLayoutVars>
          <dgm:hierBranch val="init"/>
        </dgm:presLayoutVars>
      </dgm:prSet>
      <dgm:spPr/>
    </dgm:pt>
    <dgm:pt modelId="{134AD17D-44F4-4C93-B854-49FB59ADB2CB}" type="pres">
      <dgm:prSet presAssocID="{B7448275-937C-4470-B239-A762E1132317}" presName="rootComposite" presStyleCnt="0"/>
      <dgm:spPr/>
    </dgm:pt>
    <dgm:pt modelId="{FC92D772-C01B-4D45-837B-3353756937D4}" type="pres">
      <dgm:prSet presAssocID="{B7448275-937C-4470-B239-A762E1132317}" presName="rootText" presStyleLbl="node2" presStyleIdx="0" presStyleCnt="3" custScaleY="148396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7B388FE9-2F2F-47A2-8064-C147FCA9A3F0}" type="pres">
      <dgm:prSet presAssocID="{B7448275-937C-4470-B239-A762E1132317}" presName="rootConnector" presStyleLbl="node2" presStyleIdx="0" presStyleCnt="3"/>
      <dgm:spPr/>
      <dgm:t>
        <a:bodyPr/>
        <a:lstStyle/>
        <a:p>
          <a:endParaRPr lang="es-PE"/>
        </a:p>
      </dgm:t>
    </dgm:pt>
    <dgm:pt modelId="{933D1101-4290-4C34-B9BE-5575210E76DA}" type="pres">
      <dgm:prSet presAssocID="{B7448275-937C-4470-B239-A762E1132317}" presName="hierChild4" presStyleCnt="0"/>
      <dgm:spPr/>
    </dgm:pt>
    <dgm:pt modelId="{AF997B2D-8C71-4B27-92CE-72C259828446}" type="pres">
      <dgm:prSet presAssocID="{B7448275-937C-4470-B239-A762E1132317}" presName="hierChild5" presStyleCnt="0"/>
      <dgm:spPr/>
    </dgm:pt>
    <dgm:pt modelId="{8BB1F249-C59C-BD4C-BD34-7A8663535155}" type="pres">
      <dgm:prSet presAssocID="{EAAADF48-54E6-5E47-9E7D-C2A918253921}" presName="Name37" presStyleLbl="parChTrans1D2" presStyleIdx="1" presStyleCnt="3"/>
      <dgm:spPr/>
      <dgm:t>
        <a:bodyPr/>
        <a:lstStyle/>
        <a:p>
          <a:endParaRPr lang="es-ES_tradnl"/>
        </a:p>
      </dgm:t>
    </dgm:pt>
    <dgm:pt modelId="{DD849E3E-429E-BE48-9504-295D896C2FFD}" type="pres">
      <dgm:prSet presAssocID="{5874FD79-EC3C-144C-9F29-86EF3A006847}" presName="hierRoot2" presStyleCnt="0">
        <dgm:presLayoutVars>
          <dgm:hierBranch val="init"/>
        </dgm:presLayoutVars>
      </dgm:prSet>
      <dgm:spPr/>
    </dgm:pt>
    <dgm:pt modelId="{2682C10A-B717-8747-BE28-19264218D905}" type="pres">
      <dgm:prSet presAssocID="{5874FD79-EC3C-144C-9F29-86EF3A006847}" presName="rootComposite" presStyleCnt="0"/>
      <dgm:spPr/>
    </dgm:pt>
    <dgm:pt modelId="{77E6C5F0-B4C5-C441-BC2D-A05254452116}" type="pres">
      <dgm:prSet presAssocID="{5874FD79-EC3C-144C-9F29-86EF3A006847}" presName="rootText" presStyleLbl="node2" presStyleIdx="1" presStyleCnt="3" custScaleY="146737">
        <dgm:presLayoutVars>
          <dgm:chPref val="3"/>
        </dgm:presLayoutVars>
      </dgm:prSet>
      <dgm:spPr/>
      <dgm:t>
        <a:bodyPr/>
        <a:lstStyle/>
        <a:p>
          <a:endParaRPr lang="es-ES_tradnl"/>
        </a:p>
      </dgm:t>
    </dgm:pt>
    <dgm:pt modelId="{AFB81BFC-C025-9846-B6FE-F84FDBE2F004}" type="pres">
      <dgm:prSet presAssocID="{5874FD79-EC3C-144C-9F29-86EF3A006847}" presName="rootConnector" presStyleLbl="node2" presStyleIdx="1" presStyleCnt="3"/>
      <dgm:spPr/>
      <dgm:t>
        <a:bodyPr/>
        <a:lstStyle/>
        <a:p>
          <a:endParaRPr lang="es-ES_tradnl"/>
        </a:p>
      </dgm:t>
    </dgm:pt>
    <dgm:pt modelId="{BA5189E3-6AC6-A446-AA8E-243CD2B87B64}" type="pres">
      <dgm:prSet presAssocID="{5874FD79-EC3C-144C-9F29-86EF3A006847}" presName="hierChild4" presStyleCnt="0"/>
      <dgm:spPr/>
    </dgm:pt>
    <dgm:pt modelId="{29431873-8067-A043-B4D9-6A7EDA5A54E5}" type="pres">
      <dgm:prSet presAssocID="{5874FD79-EC3C-144C-9F29-86EF3A006847}" presName="hierChild5" presStyleCnt="0"/>
      <dgm:spPr/>
    </dgm:pt>
    <dgm:pt modelId="{3E66DA65-3052-534F-A32D-8A8C77F8B0DA}" type="pres">
      <dgm:prSet presAssocID="{9128C8AE-057F-FE4C-BC17-AE77D2263B8F}" presName="Name37" presStyleLbl="parChTrans1D2" presStyleIdx="2" presStyleCnt="3"/>
      <dgm:spPr/>
      <dgm:t>
        <a:bodyPr/>
        <a:lstStyle/>
        <a:p>
          <a:endParaRPr lang="es-ES_tradnl"/>
        </a:p>
      </dgm:t>
    </dgm:pt>
    <dgm:pt modelId="{AEB651B0-2173-A345-84DA-F9F2B779CF23}" type="pres">
      <dgm:prSet presAssocID="{D4CC930A-EEEC-E341-8B73-714304859508}" presName="hierRoot2" presStyleCnt="0">
        <dgm:presLayoutVars>
          <dgm:hierBranch val="init"/>
        </dgm:presLayoutVars>
      </dgm:prSet>
      <dgm:spPr/>
    </dgm:pt>
    <dgm:pt modelId="{28FD0977-3DCF-7C45-A7E3-861E90B561FB}" type="pres">
      <dgm:prSet presAssocID="{D4CC930A-EEEC-E341-8B73-714304859508}" presName="rootComposite" presStyleCnt="0"/>
      <dgm:spPr/>
    </dgm:pt>
    <dgm:pt modelId="{730BC454-DCF7-904D-A54B-5CAC493FA538}" type="pres">
      <dgm:prSet presAssocID="{D4CC930A-EEEC-E341-8B73-714304859508}" presName="rootText" presStyleLbl="node2" presStyleIdx="2" presStyleCnt="3" custScaleY="146430">
        <dgm:presLayoutVars>
          <dgm:chPref val="3"/>
        </dgm:presLayoutVars>
      </dgm:prSet>
      <dgm:spPr/>
      <dgm:t>
        <a:bodyPr/>
        <a:lstStyle/>
        <a:p>
          <a:endParaRPr lang="es-ES_tradnl"/>
        </a:p>
      </dgm:t>
    </dgm:pt>
    <dgm:pt modelId="{98A591EA-9F19-6443-BEDA-8F1C5358ABEC}" type="pres">
      <dgm:prSet presAssocID="{D4CC930A-EEEC-E341-8B73-714304859508}" presName="rootConnector" presStyleLbl="node2" presStyleIdx="2" presStyleCnt="3"/>
      <dgm:spPr/>
      <dgm:t>
        <a:bodyPr/>
        <a:lstStyle/>
        <a:p>
          <a:endParaRPr lang="es-ES_tradnl"/>
        </a:p>
      </dgm:t>
    </dgm:pt>
    <dgm:pt modelId="{D7F70EFA-1BF7-414A-945A-0D0FA45E73DD}" type="pres">
      <dgm:prSet presAssocID="{D4CC930A-EEEC-E341-8B73-714304859508}" presName="hierChild4" presStyleCnt="0"/>
      <dgm:spPr/>
    </dgm:pt>
    <dgm:pt modelId="{5C9F12ED-8BC1-544E-8522-9C27224453B0}" type="pres">
      <dgm:prSet presAssocID="{D4CC930A-EEEC-E341-8B73-714304859508}" presName="hierChild5" presStyleCnt="0"/>
      <dgm:spPr/>
    </dgm:pt>
    <dgm:pt modelId="{86D82236-6DBA-4A2B-9CCA-9CD93BEC42B5}" type="pres">
      <dgm:prSet presAssocID="{1CFEDA62-E621-45B6-81B7-7CA0DF19BE0B}" presName="hierChild3" presStyleCnt="0"/>
      <dgm:spPr/>
    </dgm:pt>
  </dgm:ptLst>
  <dgm:cxnLst>
    <dgm:cxn modelId="{4C1F3144-1657-A049-9B08-39914D937838}" type="presOf" srcId="{5874FD79-EC3C-144C-9F29-86EF3A006847}" destId="{AFB81BFC-C025-9846-B6FE-F84FDBE2F004}" srcOrd="1" destOrd="0" presId="urn:microsoft.com/office/officeart/2005/8/layout/orgChart1"/>
    <dgm:cxn modelId="{0D9A7475-875C-1044-B2B3-1F77F2E1681E}" type="presOf" srcId="{B7448275-937C-4470-B239-A762E1132317}" destId="{FC92D772-C01B-4D45-837B-3353756937D4}" srcOrd="0" destOrd="0" presId="urn:microsoft.com/office/officeart/2005/8/layout/orgChart1"/>
    <dgm:cxn modelId="{2B9072CA-068A-E54A-8A4F-C355A69490E4}" type="presOf" srcId="{1CFEDA62-E621-45B6-81B7-7CA0DF19BE0B}" destId="{126F27EB-EF2C-423D-B7FD-5E0219D7D588}" srcOrd="0" destOrd="0" presId="urn:microsoft.com/office/officeart/2005/8/layout/orgChart1"/>
    <dgm:cxn modelId="{557D5898-F67E-4653-9DDF-2E1305C2481E}" srcId="{1CFEDA62-E621-45B6-81B7-7CA0DF19BE0B}" destId="{B7448275-937C-4470-B239-A762E1132317}" srcOrd="0" destOrd="0" parTransId="{10422A0E-8626-46F6-B887-21E25845322D}" sibTransId="{CA607E5C-476B-4007-B45D-E7B821BE4112}"/>
    <dgm:cxn modelId="{6FA9FB1E-06BE-EC44-B215-9D691D593B55}" srcId="{1CFEDA62-E621-45B6-81B7-7CA0DF19BE0B}" destId="{5874FD79-EC3C-144C-9F29-86EF3A006847}" srcOrd="1" destOrd="0" parTransId="{EAAADF48-54E6-5E47-9E7D-C2A918253921}" sibTransId="{3B0E2071-7E89-9849-9476-362437E99F9A}"/>
    <dgm:cxn modelId="{E5F3428A-F19A-A84F-B13B-F72433DD5821}" type="presOf" srcId="{EAAADF48-54E6-5E47-9E7D-C2A918253921}" destId="{8BB1F249-C59C-BD4C-BD34-7A8663535155}" srcOrd="0" destOrd="0" presId="urn:microsoft.com/office/officeart/2005/8/layout/orgChart1"/>
    <dgm:cxn modelId="{906C9F7E-D829-9A4C-84B5-254A801E6A14}" type="presOf" srcId="{10422A0E-8626-46F6-B887-21E25845322D}" destId="{C4281DFD-D887-41DA-B6F2-3FBADBA6C710}" srcOrd="0" destOrd="0" presId="urn:microsoft.com/office/officeart/2005/8/layout/orgChart1"/>
    <dgm:cxn modelId="{7EC76E5F-7882-0943-9711-007F132093B0}" type="presOf" srcId="{B580A023-5473-4C09-9AD3-6CC4F2BD479E}" destId="{70708133-7F97-45BF-9C10-8090A18B77E8}" srcOrd="0" destOrd="0" presId="urn:microsoft.com/office/officeart/2005/8/layout/orgChart1"/>
    <dgm:cxn modelId="{962284F4-41E6-448E-B0EA-6DE27CB57514}" srcId="{B580A023-5473-4C09-9AD3-6CC4F2BD479E}" destId="{1CFEDA62-E621-45B6-81B7-7CA0DF19BE0B}" srcOrd="0" destOrd="0" parTransId="{0700C93D-A4CB-4B96-84CE-B49B558F2924}" sibTransId="{CC81F1C7-7291-4FD3-9E79-50C95E843145}"/>
    <dgm:cxn modelId="{B6665501-9319-DA4F-B86D-C17F4B601240}" type="presOf" srcId="{B7448275-937C-4470-B239-A762E1132317}" destId="{7B388FE9-2F2F-47A2-8064-C147FCA9A3F0}" srcOrd="1" destOrd="0" presId="urn:microsoft.com/office/officeart/2005/8/layout/orgChart1"/>
    <dgm:cxn modelId="{23649A24-6A29-7A42-960D-93F93E251CFB}" type="presOf" srcId="{1CFEDA62-E621-45B6-81B7-7CA0DF19BE0B}" destId="{5703174A-DFEC-47A6-87E0-B1E4BB26E639}" srcOrd="1" destOrd="0" presId="urn:microsoft.com/office/officeart/2005/8/layout/orgChart1"/>
    <dgm:cxn modelId="{0080E7A3-E5B0-D346-9317-F6702AFB24AC}" type="presOf" srcId="{5874FD79-EC3C-144C-9F29-86EF3A006847}" destId="{77E6C5F0-B4C5-C441-BC2D-A05254452116}" srcOrd="0" destOrd="0" presId="urn:microsoft.com/office/officeart/2005/8/layout/orgChart1"/>
    <dgm:cxn modelId="{75A310B6-1499-7A4B-A247-6FB617C6B853}" type="presOf" srcId="{D4CC930A-EEEC-E341-8B73-714304859508}" destId="{730BC454-DCF7-904D-A54B-5CAC493FA538}" srcOrd="0" destOrd="0" presId="urn:microsoft.com/office/officeart/2005/8/layout/orgChart1"/>
    <dgm:cxn modelId="{B676C95E-87F7-8741-A61E-7984C29983AF}" type="presOf" srcId="{9128C8AE-057F-FE4C-BC17-AE77D2263B8F}" destId="{3E66DA65-3052-534F-A32D-8A8C77F8B0DA}" srcOrd="0" destOrd="0" presId="urn:microsoft.com/office/officeart/2005/8/layout/orgChart1"/>
    <dgm:cxn modelId="{CF4CE3D7-BBA9-D645-81D8-0E5FDD1DB9C6}" srcId="{1CFEDA62-E621-45B6-81B7-7CA0DF19BE0B}" destId="{D4CC930A-EEEC-E341-8B73-714304859508}" srcOrd="2" destOrd="0" parTransId="{9128C8AE-057F-FE4C-BC17-AE77D2263B8F}" sibTransId="{22C3DA1B-4B52-4F4D-9067-76A2E0B920D0}"/>
    <dgm:cxn modelId="{0482D23E-12EE-9F4B-B7F6-8DF81785BB1A}" type="presOf" srcId="{D4CC930A-EEEC-E341-8B73-714304859508}" destId="{98A591EA-9F19-6443-BEDA-8F1C5358ABEC}" srcOrd="1" destOrd="0" presId="urn:microsoft.com/office/officeart/2005/8/layout/orgChart1"/>
    <dgm:cxn modelId="{9C47800F-0FF8-7145-8392-93E162641D72}" type="presParOf" srcId="{70708133-7F97-45BF-9C10-8090A18B77E8}" destId="{8174BBFF-F76D-423D-968C-BB20383ABF41}" srcOrd="0" destOrd="0" presId="urn:microsoft.com/office/officeart/2005/8/layout/orgChart1"/>
    <dgm:cxn modelId="{220CF611-C648-B64F-9EBC-DEBB0D048B10}" type="presParOf" srcId="{8174BBFF-F76D-423D-968C-BB20383ABF41}" destId="{1B53207F-2457-4DE1-8E76-DD6FCF0A3A94}" srcOrd="0" destOrd="0" presId="urn:microsoft.com/office/officeart/2005/8/layout/orgChart1"/>
    <dgm:cxn modelId="{C4E33677-EB64-FF46-B07A-177439CD1715}" type="presParOf" srcId="{1B53207F-2457-4DE1-8E76-DD6FCF0A3A94}" destId="{126F27EB-EF2C-423D-B7FD-5E0219D7D588}" srcOrd="0" destOrd="0" presId="urn:microsoft.com/office/officeart/2005/8/layout/orgChart1"/>
    <dgm:cxn modelId="{A13974E9-C72E-CB48-89D5-F4C4F02CCF24}" type="presParOf" srcId="{1B53207F-2457-4DE1-8E76-DD6FCF0A3A94}" destId="{5703174A-DFEC-47A6-87E0-B1E4BB26E639}" srcOrd="1" destOrd="0" presId="urn:microsoft.com/office/officeart/2005/8/layout/orgChart1"/>
    <dgm:cxn modelId="{8BDD0F44-CD35-9149-9BE8-14B2C81CCFC2}" type="presParOf" srcId="{8174BBFF-F76D-423D-968C-BB20383ABF41}" destId="{4E570361-5DD1-40A2-823E-C23403C3FF2E}" srcOrd="1" destOrd="0" presId="urn:microsoft.com/office/officeart/2005/8/layout/orgChart1"/>
    <dgm:cxn modelId="{DE9A3B5A-B4ED-ED4B-95D3-26006E5DC529}" type="presParOf" srcId="{4E570361-5DD1-40A2-823E-C23403C3FF2E}" destId="{C4281DFD-D887-41DA-B6F2-3FBADBA6C710}" srcOrd="0" destOrd="0" presId="urn:microsoft.com/office/officeart/2005/8/layout/orgChart1"/>
    <dgm:cxn modelId="{89E0565A-3E1E-F643-BEA8-35807BF57EB5}" type="presParOf" srcId="{4E570361-5DD1-40A2-823E-C23403C3FF2E}" destId="{0023C08C-1429-4E5B-9FD2-CD840868C8AE}" srcOrd="1" destOrd="0" presId="urn:microsoft.com/office/officeart/2005/8/layout/orgChart1"/>
    <dgm:cxn modelId="{3402036A-0A71-604B-95B7-50F83F0AC730}" type="presParOf" srcId="{0023C08C-1429-4E5B-9FD2-CD840868C8AE}" destId="{134AD17D-44F4-4C93-B854-49FB59ADB2CB}" srcOrd="0" destOrd="0" presId="urn:microsoft.com/office/officeart/2005/8/layout/orgChart1"/>
    <dgm:cxn modelId="{4F016E7E-6007-3E4E-A486-3E4F61616AC5}" type="presParOf" srcId="{134AD17D-44F4-4C93-B854-49FB59ADB2CB}" destId="{FC92D772-C01B-4D45-837B-3353756937D4}" srcOrd="0" destOrd="0" presId="urn:microsoft.com/office/officeart/2005/8/layout/orgChart1"/>
    <dgm:cxn modelId="{09A2B315-D930-B346-9D83-87DBC3FDE4C4}" type="presParOf" srcId="{134AD17D-44F4-4C93-B854-49FB59ADB2CB}" destId="{7B388FE9-2F2F-47A2-8064-C147FCA9A3F0}" srcOrd="1" destOrd="0" presId="urn:microsoft.com/office/officeart/2005/8/layout/orgChart1"/>
    <dgm:cxn modelId="{35FBEEB8-AA3F-534D-99D4-EF21F4A5D640}" type="presParOf" srcId="{0023C08C-1429-4E5B-9FD2-CD840868C8AE}" destId="{933D1101-4290-4C34-B9BE-5575210E76DA}" srcOrd="1" destOrd="0" presId="urn:microsoft.com/office/officeart/2005/8/layout/orgChart1"/>
    <dgm:cxn modelId="{83F70C32-F56A-1B46-A3FB-B2D1F73D8C4E}" type="presParOf" srcId="{0023C08C-1429-4E5B-9FD2-CD840868C8AE}" destId="{AF997B2D-8C71-4B27-92CE-72C259828446}" srcOrd="2" destOrd="0" presId="urn:microsoft.com/office/officeart/2005/8/layout/orgChart1"/>
    <dgm:cxn modelId="{B0CDA9F9-413C-0A49-9B70-858D499FD370}" type="presParOf" srcId="{4E570361-5DD1-40A2-823E-C23403C3FF2E}" destId="{8BB1F249-C59C-BD4C-BD34-7A8663535155}" srcOrd="2" destOrd="0" presId="urn:microsoft.com/office/officeart/2005/8/layout/orgChart1"/>
    <dgm:cxn modelId="{A986474E-9064-BA42-A73F-E65F583BEFDE}" type="presParOf" srcId="{4E570361-5DD1-40A2-823E-C23403C3FF2E}" destId="{DD849E3E-429E-BE48-9504-295D896C2FFD}" srcOrd="3" destOrd="0" presId="urn:microsoft.com/office/officeart/2005/8/layout/orgChart1"/>
    <dgm:cxn modelId="{1030CB16-7121-6546-A9BA-109C14E8AF88}" type="presParOf" srcId="{DD849E3E-429E-BE48-9504-295D896C2FFD}" destId="{2682C10A-B717-8747-BE28-19264218D905}" srcOrd="0" destOrd="0" presId="urn:microsoft.com/office/officeart/2005/8/layout/orgChart1"/>
    <dgm:cxn modelId="{20D71930-1765-E340-91CE-37C724FA267D}" type="presParOf" srcId="{2682C10A-B717-8747-BE28-19264218D905}" destId="{77E6C5F0-B4C5-C441-BC2D-A05254452116}" srcOrd="0" destOrd="0" presId="urn:microsoft.com/office/officeart/2005/8/layout/orgChart1"/>
    <dgm:cxn modelId="{2329F302-C9F0-5546-AC67-3750CCEFC2B5}" type="presParOf" srcId="{2682C10A-B717-8747-BE28-19264218D905}" destId="{AFB81BFC-C025-9846-B6FE-F84FDBE2F004}" srcOrd="1" destOrd="0" presId="urn:microsoft.com/office/officeart/2005/8/layout/orgChart1"/>
    <dgm:cxn modelId="{7518665E-88E2-C046-B85B-74F2A30101EB}" type="presParOf" srcId="{DD849E3E-429E-BE48-9504-295D896C2FFD}" destId="{BA5189E3-6AC6-A446-AA8E-243CD2B87B64}" srcOrd="1" destOrd="0" presId="urn:microsoft.com/office/officeart/2005/8/layout/orgChart1"/>
    <dgm:cxn modelId="{B312CAEF-8D63-CB43-8BCE-1BE9FB41C545}" type="presParOf" srcId="{DD849E3E-429E-BE48-9504-295D896C2FFD}" destId="{29431873-8067-A043-B4D9-6A7EDA5A54E5}" srcOrd="2" destOrd="0" presId="urn:microsoft.com/office/officeart/2005/8/layout/orgChart1"/>
    <dgm:cxn modelId="{3BF519EF-3695-EC4F-9743-88A6A4811296}" type="presParOf" srcId="{4E570361-5DD1-40A2-823E-C23403C3FF2E}" destId="{3E66DA65-3052-534F-A32D-8A8C77F8B0DA}" srcOrd="4" destOrd="0" presId="urn:microsoft.com/office/officeart/2005/8/layout/orgChart1"/>
    <dgm:cxn modelId="{9B2E8F6F-E4A1-7D40-BE37-FCC62E601FC4}" type="presParOf" srcId="{4E570361-5DD1-40A2-823E-C23403C3FF2E}" destId="{AEB651B0-2173-A345-84DA-F9F2B779CF23}" srcOrd="5" destOrd="0" presId="urn:microsoft.com/office/officeart/2005/8/layout/orgChart1"/>
    <dgm:cxn modelId="{4C619392-5B18-B744-ACC4-0761FA3B631A}" type="presParOf" srcId="{AEB651B0-2173-A345-84DA-F9F2B779CF23}" destId="{28FD0977-3DCF-7C45-A7E3-861E90B561FB}" srcOrd="0" destOrd="0" presId="urn:microsoft.com/office/officeart/2005/8/layout/orgChart1"/>
    <dgm:cxn modelId="{90A63767-A5C4-5A4B-9D5E-167F9FF4F6F8}" type="presParOf" srcId="{28FD0977-3DCF-7C45-A7E3-861E90B561FB}" destId="{730BC454-DCF7-904D-A54B-5CAC493FA538}" srcOrd="0" destOrd="0" presId="urn:microsoft.com/office/officeart/2005/8/layout/orgChart1"/>
    <dgm:cxn modelId="{3BCAEBCA-831D-4344-9150-AB3F4F9D83DD}" type="presParOf" srcId="{28FD0977-3DCF-7C45-A7E3-861E90B561FB}" destId="{98A591EA-9F19-6443-BEDA-8F1C5358ABEC}" srcOrd="1" destOrd="0" presId="urn:microsoft.com/office/officeart/2005/8/layout/orgChart1"/>
    <dgm:cxn modelId="{4F5AD92B-345B-184F-BE0D-3ECEB8D43CBA}" type="presParOf" srcId="{AEB651B0-2173-A345-84DA-F9F2B779CF23}" destId="{D7F70EFA-1BF7-414A-945A-0D0FA45E73DD}" srcOrd="1" destOrd="0" presId="urn:microsoft.com/office/officeart/2005/8/layout/orgChart1"/>
    <dgm:cxn modelId="{6995DF83-67C6-DE47-8842-DA19D8666BA0}" type="presParOf" srcId="{AEB651B0-2173-A345-84DA-F9F2B779CF23}" destId="{5C9F12ED-8BC1-544E-8522-9C27224453B0}" srcOrd="2" destOrd="0" presId="urn:microsoft.com/office/officeart/2005/8/layout/orgChart1"/>
    <dgm:cxn modelId="{300BF092-E5B6-0C4D-9F70-29B83C91C3EC}" type="presParOf" srcId="{8174BBFF-F76D-423D-968C-BB20383ABF41}" destId="{86D82236-6DBA-4A2B-9CCA-9CD93BEC42B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580A023-5473-4C09-9AD3-6CC4F2BD479E}" type="doc">
      <dgm:prSet loTypeId="urn:microsoft.com/office/officeart/2005/8/layout/orgChart1" loCatId="hierarchy" qsTypeId="urn:microsoft.com/office/officeart/2005/8/quickstyle/simple1" qsCatId="simple" csTypeId="urn:microsoft.com/office/officeart/2005/8/colors/accent5_5" csCatId="accent5" phldr="1"/>
      <dgm:spPr/>
      <dgm:t>
        <a:bodyPr/>
        <a:lstStyle/>
        <a:p>
          <a:endParaRPr lang="es-PE"/>
        </a:p>
      </dgm:t>
    </dgm:pt>
    <dgm:pt modelId="{1CFEDA62-E621-45B6-81B7-7CA0DF19BE0B}">
      <dgm:prSet phldrT="[Texto]" custT="1"/>
      <dgm:spPr>
        <a:solidFill>
          <a:srgbClr val="68529F"/>
        </a:solidFill>
      </dgm:spPr>
      <dgm:t>
        <a:bodyPr/>
        <a:lstStyle/>
        <a:p>
          <a:r>
            <a:rPr lang="es-PE" sz="1600" dirty="0" smtClean="0"/>
            <a:t>A.17.2 Redundancias</a:t>
          </a:r>
          <a:endParaRPr lang="es-PE" sz="1600" dirty="0"/>
        </a:p>
      </dgm:t>
    </dgm:pt>
    <dgm:pt modelId="{0700C93D-A4CB-4B96-84CE-B49B558F2924}" type="parTrans" cxnId="{962284F4-41E6-448E-B0EA-6DE27CB57514}">
      <dgm:prSet/>
      <dgm:spPr/>
      <dgm:t>
        <a:bodyPr/>
        <a:lstStyle/>
        <a:p>
          <a:endParaRPr lang="es-PE" sz="1100"/>
        </a:p>
      </dgm:t>
    </dgm:pt>
    <dgm:pt modelId="{CC81F1C7-7291-4FD3-9E79-50C95E843145}" type="sibTrans" cxnId="{962284F4-41E6-448E-B0EA-6DE27CB57514}">
      <dgm:prSet/>
      <dgm:spPr/>
      <dgm:t>
        <a:bodyPr/>
        <a:lstStyle/>
        <a:p>
          <a:endParaRPr lang="es-PE" sz="1100"/>
        </a:p>
      </dgm:t>
    </dgm:pt>
    <dgm:pt modelId="{B7448275-937C-4470-B239-A762E1132317}">
      <dgm:prSet phldrT="[Texto]" custT="1"/>
      <dgm:spPr>
        <a:solidFill>
          <a:srgbClr val="2EB1B5"/>
        </a:solidFill>
        <a:ln>
          <a:noFill/>
        </a:ln>
      </dgm:spPr>
      <dgm:t>
        <a:bodyPr/>
        <a:lstStyle/>
        <a:p>
          <a:r>
            <a:rPr lang="es-PE" sz="1600" dirty="0" smtClean="0"/>
            <a:t>A.17.2.1 Disponibilidad de instalaciones de procesamiento de la información</a:t>
          </a:r>
          <a:endParaRPr lang="es-PE" sz="1600" dirty="0"/>
        </a:p>
      </dgm:t>
    </dgm:pt>
    <dgm:pt modelId="{10422A0E-8626-46F6-B887-21E25845322D}" type="parTrans" cxnId="{557D5898-F67E-4653-9DDF-2E1305C2481E}">
      <dgm:prSet/>
      <dgm:spPr>
        <a:ln w="28575">
          <a:solidFill>
            <a:schemeClr val="bg1">
              <a:lumMod val="75000"/>
            </a:schemeClr>
          </a:solidFill>
        </a:ln>
      </dgm:spPr>
      <dgm:t>
        <a:bodyPr/>
        <a:lstStyle/>
        <a:p>
          <a:endParaRPr lang="es-PE" sz="1100"/>
        </a:p>
      </dgm:t>
    </dgm:pt>
    <dgm:pt modelId="{CA607E5C-476B-4007-B45D-E7B821BE4112}" type="sibTrans" cxnId="{557D5898-F67E-4653-9DDF-2E1305C2481E}">
      <dgm:prSet/>
      <dgm:spPr/>
      <dgm:t>
        <a:bodyPr/>
        <a:lstStyle/>
        <a:p>
          <a:endParaRPr lang="es-PE" sz="1100"/>
        </a:p>
      </dgm:t>
    </dgm:pt>
    <dgm:pt modelId="{70708133-7F97-45BF-9C10-8090A18B77E8}" type="pres">
      <dgm:prSet presAssocID="{B580A023-5473-4C09-9AD3-6CC4F2BD479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s-PE"/>
        </a:p>
      </dgm:t>
    </dgm:pt>
    <dgm:pt modelId="{8174BBFF-F76D-423D-968C-BB20383ABF41}" type="pres">
      <dgm:prSet presAssocID="{1CFEDA62-E621-45B6-81B7-7CA0DF19BE0B}" presName="hierRoot1" presStyleCnt="0">
        <dgm:presLayoutVars>
          <dgm:hierBranch val="init"/>
        </dgm:presLayoutVars>
      </dgm:prSet>
      <dgm:spPr/>
    </dgm:pt>
    <dgm:pt modelId="{1B53207F-2457-4DE1-8E76-DD6FCF0A3A94}" type="pres">
      <dgm:prSet presAssocID="{1CFEDA62-E621-45B6-81B7-7CA0DF19BE0B}" presName="rootComposite1" presStyleCnt="0"/>
      <dgm:spPr/>
    </dgm:pt>
    <dgm:pt modelId="{126F27EB-EF2C-423D-B7FD-5E0219D7D588}" type="pres">
      <dgm:prSet presAssocID="{1CFEDA62-E621-45B6-81B7-7CA0DF19BE0B}" presName="rootText1" presStyleLbl="node0" presStyleIdx="0" presStyleCnt="1" custScaleX="124235" custScaleY="134469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5703174A-DFEC-47A6-87E0-B1E4BB26E639}" type="pres">
      <dgm:prSet presAssocID="{1CFEDA62-E621-45B6-81B7-7CA0DF19BE0B}" presName="rootConnector1" presStyleLbl="node1" presStyleIdx="0" presStyleCnt="0"/>
      <dgm:spPr/>
      <dgm:t>
        <a:bodyPr/>
        <a:lstStyle/>
        <a:p>
          <a:endParaRPr lang="es-PE"/>
        </a:p>
      </dgm:t>
    </dgm:pt>
    <dgm:pt modelId="{4E570361-5DD1-40A2-823E-C23403C3FF2E}" type="pres">
      <dgm:prSet presAssocID="{1CFEDA62-E621-45B6-81B7-7CA0DF19BE0B}" presName="hierChild2" presStyleCnt="0"/>
      <dgm:spPr/>
    </dgm:pt>
    <dgm:pt modelId="{C4281DFD-D887-41DA-B6F2-3FBADBA6C710}" type="pres">
      <dgm:prSet presAssocID="{10422A0E-8626-46F6-B887-21E25845322D}" presName="Name37" presStyleLbl="parChTrans1D2" presStyleIdx="0" presStyleCnt="1"/>
      <dgm:spPr/>
      <dgm:t>
        <a:bodyPr/>
        <a:lstStyle/>
        <a:p>
          <a:endParaRPr lang="es-PE"/>
        </a:p>
      </dgm:t>
    </dgm:pt>
    <dgm:pt modelId="{0023C08C-1429-4E5B-9FD2-CD840868C8AE}" type="pres">
      <dgm:prSet presAssocID="{B7448275-937C-4470-B239-A762E1132317}" presName="hierRoot2" presStyleCnt="0">
        <dgm:presLayoutVars>
          <dgm:hierBranch val="init"/>
        </dgm:presLayoutVars>
      </dgm:prSet>
      <dgm:spPr/>
    </dgm:pt>
    <dgm:pt modelId="{134AD17D-44F4-4C93-B854-49FB59ADB2CB}" type="pres">
      <dgm:prSet presAssocID="{B7448275-937C-4470-B239-A762E1132317}" presName="rootComposite" presStyleCnt="0"/>
      <dgm:spPr/>
    </dgm:pt>
    <dgm:pt modelId="{FC92D772-C01B-4D45-837B-3353756937D4}" type="pres">
      <dgm:prSet presAssocID="{B7448275-937C-4470-B239-A762E1132317}" presName="rootText" presStyleLbl="node2" presStyleIdx="0" presStyleCnt="1" custScaleY="148396">
        <dgm:presLayoutVars>
          <dgm:chPref val="3"/>
        </dgm:presLayoutVars>
      </dgm:prSet>
      <dgm:spPr/>
      <dgm:t>
        <a:bodyPr/>
        <a:lstStyle/>
        <a:p>
          <a:endParaRPr lang="es-PE"/>
        </a:p>
      </dgm:t>
    </dgm:pt>
    <dgm:pt modelId="{7B388FE9-2F2F-47A2-8064-C147FCA9A3F0}" type="pres">
      <dgm:prSet presAssocID="{B7448275-937C-4470-B239-A762E1132317}" presName="rootConnector" presStyleLbl="node2" presStyleIdx="0" presStyleCnt="1"/>
      <dgm:spPr/>
      <dgm:t>
        <a:bodyPr/>
        <a:lstStyle/>
        <a:p>
          <a:endParaRPr lang="es-PE"/>
        </a:p>
      </dgm:t>
    </dgm:pt>
    <dgm:pt modelId="{933D1101-4290-4C34-B9BE-5575210E76DA}" type="pres">
      <dgm:prSet presAssocID="{B7448275-937C-4470-B239-A762E1132317}" presName="hierChild4" presStyleCnt="0"/>
      <dgm:spPr/>
    </dgm:pt>
    <dgm:pt modelId="{AF997B2D-8C71-4B27-92CE-72C259828446}" type="pres">
      <dgm:prSet presAssocID="{B7448275-937C-4470-B239-A762E1132317}" presName="hierChild5" presStyleCnt="0"/>
      <dgm:spPr/>
    </dgm:pt>
    <dgm:pt modelId="{86D82236-6DBA-4A2B-9CCA-9CD93BEC42B5}" type="pres">
      <dgm:prSet presAssocID="{1CFEDA62-E621-45B6-81B7-7CA0DF19BE0B}" presName="hierChild3" presStyleCnt="0"/>
      <dgm:spPr/>
    </dgm:pt>
  </dgm:ptLst>
  <dgm:cxnLst>
    <dgm:cxn modelId="{71CF4DE6-EF9F-C24B-8943-2B0674A398ED}" type="presOf" srcId="{B580A023-5473-4C09-9AD3-6CC4F2BD479E}" destId="{70708133-7F97-45BF-9C10-8090A18B77E8}" srcOrd="0" destOrd="0" presId="urn:microsoft.com/office/officeart/2005/8/layout/orgChart1"/>
    <dgm:cxn modelId="{488B8ADA-63E7-D041-AC8D-41A59832CA8F}" type="presOf" srcId="{10422A0E-8626-46F6-B887-21E25845322D}" destId="{C4281DFD-D887-41DA-B6F2-3FBADBA6C710}" srcOrd="0" destOrd="0" presId="urn:microsoft.com/office/officeart/2005/8/layout/orgChart1"/>
    <dgm:cxn modelId="{044401F3-5C09-B742-A8AC-5E86B6BDCFBC}" type="presOf" srcId="{1CFEDA62-E621-45B6-81B7-7CA0DF19BE0B}" destId="{126F27EB-EF2C-423D-B7FD-5E0219D7D588}" srcOrd="0" destOrd="0" presId="urn:microsoft.com/office/officeart/2005/8/layout/orgChart1"/>
    <dgm:cxn modelId="{557D5898-F67E-4653-9DDF-2E1305C2481E}" srcId="{1CFEDA62-E621-45B6-81B7-7CA0DF19BE0B}" destId="{B7448275-937C-4470-B239-A762E1132317}" srcOrd="0" destOrd="0" parTransId="{10422A0E-8626-46F6-B887-21E25845322D}" sibTransId="{CA607E5C-476B-4007-B45D-E7B821BE4112}"/>
    <dgm:cxn modelId="{962284F4-41E6-448E-B0EA-6DE27CB57514}" srcId="{B580A023-5473-4C09-9AD3-6CC4F2BD479E}" destId="{1CFEDA62-E621-45B6-81B7-7CA0DF19BE0B}" srcOrd="0" destOrd="0" parTransId="{0700C93D-A4CB-4B96-84CE-B49B558F2924}" sibTransId="{CC81F1C7-7291-4FD3-9E79-50C95E843145}"/>
    <dgm:cxn modelId="{535081FE-E855-B640-A5DB-CE40200FB1A5}" type="presOf" srcId="{1CFEDA62-E621-45B6-81B7-7CA0DF19BE0B}" destId="{5703174A-DFEC-47A6-87E0-B1E4BB26E639}" srcOrd="1" destOrd="0" presId="urn:microsoft.com/office/officeart/2005/8/layout/orgChart1"/>
    <dgm:cxn modelId="{28360CA7-2F7A-A543-A4D6-D9100BC1160B}" type="presOf" srcId="{B7448275-937C-4470-B239-A762E1132317}" destId="{FC92D772-C01B-4D45-837B-3353756937D4}" srcOrd="0" destOrd="0" presId="urn:microsoft.com/office/officeart/2005/8/layout/orgChart1"/>
    <dgm:cxn modelId="{2DA561EC-AAEF-9646-AE19-810DB848E035}" type="presOf" srcId="{B7448275-937C-4470-B239-A762E1132317}" destId="{7B388FE9-2F2F-47A2-8064-C147FCA9A3F0}" srcOrd="1" destOrd="0" presId="urn:microsoft.com/office/officeart/2005/8/layout/orgChart1"/>
    <dgm:cxn modelId="{3594CD4C-DF00-A547-9AAA-D640D460016D}" type="presParOf" srcId="{70708133-7F97-45BF-9C10-8090A18B77E8}" destId="{8174BBFF-F76D-423D-968C-BB20383ABF41}" srcOrd="0" destOrd="0" presId="urn:microsoft.com/office/officeart/2005/8/layout/orgChart1"/>
    <dgm:cxn modelId="{30F4D7E3-7775-A349-857B-6C11A58E317B}" type="presParOf" srcId="{8174BBFF-F76D-423D-968C-BB20383ABF41}" destId="{1B53207F-2457-4DE1-8E76-DD6FCF0A3A94}" srcOrd="0" destOrd="0" presId="urn:microsoft.com/office/officeart/2005/8/layout/orgChart1"/>
    <dgm:cxn modelId="{805376DC-C488-0040-B48F-E753FF328A27}" type="presParOf" srcId="{1B53207F-2457-4DE1-8E76-DD6FCF0A3A94}" destId="{126F27EB-EF2C-423D-B7FD-5E0219D7D588}" srcOrd="0" destOrd="0" presId="urn:microsoft.com/office/officeart/2005/8/layout/orgChart1"/>
    <dgm:cxn modelId="{6A00A9CA-C264-B749-939F-077DA031C78B}" type="presParOf" srcId="{1B53207F-2457-4DE1-8E76-DD6FCF0A3A94}" destId="{5703174A-DFEC-47A6-87E0-B1E4BB26E639}" srcOrd="1" destOrd="0" presId="urn:microsoft.com/office/officeart/2005/8/layout/orgChart1"/>
    <dgm:cxn modelId="{7F2F8D61-CCD4-3A48-BD1F-3A72E0878014}" type="presParOf" srcId="{8174BBFF-F76D-423D-968C-BB20383ABF41}" destId="{4E570361-5DD1-40A2-823E-C23403C3FF2E}" srcOrd="1" destOrd="0" presId="urn:microsoft.com/office/officeart/2005/8/layout/orgChart1"/>
    <dgm:cxn modelId="{859EAE23-30CE-8C47-8039-D3F95E59E0CF}" type="presParOf" srcId="{4E570361-5DD1-40A2-823E-C23403C3FF2E}" destId="{C4281DFD-D887-41DA-B6F2-3FBADBA6C710}" srcOrd="0" destOrd="0" presId="urn:microsoft.com/office/officeart/2005/8/layout/orgChart1"/>
    <dgm:cxn modelId="{55F25BB0-E426-8A45-8597-4D1E525F15E0}" type="presParOf" srcId="{4E570361-5DD1-40A2-823E-C23403C3FF2E}" destId="{0023C08C-1429-4E5B-9FD2-CD840868C8AE}" srcOrd="1" destOrd="0" presId="urn:microsoft.com/office/officeart/2005/8/layout/orgChart1"/>
    <dgm:cxn modelId="{FD828036-D733-674D-8DCF-F85CB8135634}" type="presParOf" srcId="{0023C08C-1429-4E5B-9FD2-CD840868C8AE}" destId="{134AD17D-44F4-4C93-B854-49FB59ADB2CB}" srcOrd="0" destOrd="0" presId="urn:microsoft.com/office/officeart/2005/8/layout/orgChart1"/>
    <dgm:cxn modelId="{61554DAF-B0B2-C44B-BA30-C33BE9FCA444}" type="presParOf" srcId="{134AD17D-44F4-4C93-B854-49FB59ADB2CB}" destId="{FC92D772-C01B-4D45-837B-3353756937D4}" srcOrd="0" destOrd="0" presId="urn:microsoft.com/office/officeart/2005/8/layout/orgChart1"/>
    <dgm:cxn modelId="{AE056327-B44D-0D49-9146-3D58F3CC6700}" type="presParOf" srcId="{134AD17D-44F4-4C93-B854-49FB59ADB2CB}" destId="{7B388FE9-2F2F-47A2-8064-C147FCA9A3F0}" srcOrd="1" destOrd="0" presId="urn:microsoft.com/office/officeart/2005/8/layout/orgChart1"/>
    <dgm:cxn modelId="{36A0EFA5-CE8E-904F-9EDD-41208A399596}" type="presParOf" srcId="{0023C08C-1429-4E5B-9FD2-CD840868C8AE}" destId="{933D1101-4290-4C34-B9BE-5575210E76DA}" srcOrd="1" destOrd="0" presId="urn:microsoft.com/office/officeart/2005/8/layout/orgChart1"/>
    <dgm:cxn modelId="{75D4C2C5-C118-F848-A0A9-63CADD820457}" type="presParOf" srcId="{0023C08C-1429-4E5B-9FD2-CD840868C8AE}" destId="{AF997B2D-8C71-4B27-92CE-72C259828446}" srcOrd="2" destOrd="0" presId="urn:microsoft.com/office/officeart/2005/8/layout/orgChart1"/>
    <dgm:cxn modelId="{3796960D-5C80-DC4A-82A5-322628B0C35B}" type="presParOf" srcId="{8174BBFF-F76D-423D-968C-BB20383ABF41}" destId="{86D82236-6DBA-4A2B-9CCA-9CD93BEC42B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77373B-7A8D-4433-8A8C-4992208C3102}">
      <dsp:nvSpPr>
        <dsp:cNvPr id="0" name=""/>
        <dsp:cNvSpPr/>
      </dsp:nvSpPr>
      <dsp:spPr>
        <a:xfrm>
          <a:off x="0" y="20742"/>
          <a:ext cx="5709228" cy="505440"/>
        </a:xfrm>
        <a:prstGeom prst="round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Objetivo</a:t>
          </a:r>
          <a:endParaRPr lang="es-PE" sz="1600" kern="1200" dirty="0"/>
        </a:p>
      </dsp:txBody>
      <dsp:txXfrm>
        <a:off x="24674" y="45416"/>
        <a:ext cx="5659880" cy="456092"/>
      </dsp:txXfrm>
    </dsp:sp>
    <dsp:sp modelId="{5BC491F4-2327-5747-89B7-1D3A8521AD48}">
      <dsp:nvSpPr>
        <dsp:cNvPr id="0" name=""/>
        <dsp:cNvSpPr/>
      </dsp:nvSpPr>
      <dsp:spPr>
        <a:xfrm>
          <a:off x="0" y="603942"/>
          <a:ext cx="5709228" cy="505440"/>
        </a:xfrm>
        <a:prstGeom prst="round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Continuidad de la Seguridad de la Información</a:t>
          </a:r>
          <a:endParaRPr lang="es-PE" sz="1600" kern="1200" dirty="0"/>
        </a:p>
      </dsp:txBody>
      <dsp:txXfrm>
        <a:off x="24674" y="628616"/>
        <a:ext cx="5659880" cy="456092"/>
      </dsp:txXfrm>
    </dsp:sp>
    <dsp:sp modelId="{43F530C9-D7B9-E04D-A130-FB6213175A41}">
      <dsp:nvSpPr>
        <dsp:cNvPr id="0" name=""/>
        <dsp:cNvSpPr/>
      </dsp:nvSpPr>
      <dsp:spPr>
        <a:xfrm>
          <a:off x="0" y="1187142"/>
          <a:ext cx="5709228" cy="505440"/>
        </a:xfrm>
        <a:prstGeom prst="round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Planificación</a:t>
          </a:r>
          <a:endParaRPr lang="es-PE" sz="1600" kern="1200" dirty="0"/>
        </a:p>
      </dsp:txBody>
      <dsp:txXfrm>
        <a:off x="24674" y="1211816"/>
        <a:ext cx="5659880" cy="456092"/>
      </dsp:txXfrm>
    </dsp:sp>
    <dsp:sp modelId="{BA101040-1FD4-764D-B361-7F5AA509BA60}">
      <dsp:nvSpPr>
        <dsp:cNvPr id="0" name=""/>
        <dsp:cNvSpPr/>
      </dsp:nvSpPr>
      <dsp:spPr>
        <a:xfrm>
          <a:off x="0" y="1770342"/>
          <a:ext cx="5709228" cy="505440"/>
        </a:xfrm>
        <a:prstGeom prst="round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Aplicación</a:t>
          </a:r>
          <a:endParaRPr lang="es-PE" sz="1600" kern="1200" dirty="0"/>
        </a:p>
      </dsp:txBody>
      <dsp:txXfrm>
        <a:off x="24674" y="1795016"/>
        <a:ext cx="5659880" cy="456092"/>
      </dsp:txXfrm>
    </dsp:sp>
    <dsp:sp modelId="{6509D1C9-2CCB-754C-A7F4-4F70FB21847A}">
      <dsp:nvSpPr>
        <dsp:cNvPr id="0" name=""/>
        <dsp:cNvSpPr/>
      </dsp:nvSpPr>
      <dsp:spPr>
        <a:xfrm>
          <a:off x="0" y="2353542"/>
          <a:ext cx="5709228" cy="505440"/>
        </a:xfrm>
        <a:prstGeom prst="roundRect">
          <a:avLst/>
        </a:prstGeom>
        <a:solidFill>
          <a:srgbClr val="2EB1B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Verificar, revisar y evaluar</a:t>
          </a:r>
          <a:endParaRPr lang="es-PE" sz="1600" kern="1200" dirty="0"/>
        </a:p>
      </dsp:txBody>
      <dsp:txXfrm>
        <a:off x="24674" y="2378216"/>
        <a:ext cx="5659880" cy="4560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66DA65-3052-534F-A32D-8A8C77F8B0DA}">
      <dsp:nvSpPr>
        <dsp:cNvPr id="0" name=""/>
        <dsp:cNvSpPr/>
      </dsp:nvSpPr>
      <dsp:spPr>
        <a:xfrm>
          <a:off x="4103687" y="1293134"/>
          <a:ext cx="2324529" cy="4034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1715"/>
              </a:lnTo>
              <a:lnTo>
                <a:pt x="2324529" y="201715"/>
              </a:lnTo>
              <a:lnTo>
                <a:pt x="2324529" y="403430"/>
              </a:lnTo>
            </a:path>
          </a:pathLst>
        </a:custGeom>
        <a:noFill/>
        <a:ln w="28575" cap="flat" cmpd="sng" algn="ctr">
          <a:solidFill>
            <a:schemeClr val="bg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B1F249-C59C-BD4C-BD34-7A8663535155}">
      <dsp:nvSpPr>
        <dsp:cNvPr id="0" name=""/>
        <dsp:cNvSpPr/>
      </dsp:nvSpPr>
      <dsp:spPr>
        <a:xfrm>
          <a:off x="4057967" y="1293134"/>
          <a:ext cx="91440" cy="40343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03430"/>
              </a:lnTo>
            </a:path>
          </a:pathLst>
        </a:custGeom>
        <a:noFill/>
        <a:ln w="28575" cap="flat" cmpd="sng" algn="ctr">
          <a:solidFill>
            <a:schemeClr val="bg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281DFD-D887-41DA-B6F2-3FBADBA6C710}">
      <dsp:nvSpPr>
        <dsp:cNvPr id="0" name=""/>
        <dsp:cNvSpPr/>
      </dsp:nvSpPr>
      <dsp:spPr>
        <a:xfrm>
          <a:off x="1779157" y="1293134"/>
          <a:ext cx="2324529" cy="403430"/>
        </a:xfrm>
        <a:custGeom>
          <a:avLst/>
          <a:gdLst/>
          <a:ahLst/>
          <a:cxnLst/>
          <a:rect l="0" t="0" r="0" b="0"/>
          <a:pathLst>
            <a:path>
              <a:moveTo>
                <a:pt x="2324529" y="0"/>
              </a:moveTo>
              <a:lnTo>
                <a:pt x="2324529" y="201715"/>
              </a:lnTo>
              <a:lnTo>
                <a:pt x="0" y="201715"/>
              </a:lnTo>
              <a:lnTo>
                <a:pt x="0" y="403430"/>
              </a:lnTo>
            </a:path>
          </a:pathLst>
        </a:custGeom>
        <a:noFill/>
        <a:ln w="28575" cap="flat" cmpd="sng" algn="ctr">
          <a:solidFill>
            <a:schemeClr val="bg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6F27EB-EF2C-423D-B7FD-5E0219D7D588}">
      <dsp:nvSpPr>
        <dsp:cNvPr id="0" name=""/>
        <dsp:cNvSpPr/>
      </dsp:nvSpPr>
      <dsp:spPr>
        <a:xfrm>
          <a:off x="2910348" y="1493"/>
          <a:ext cx="2386677" cy="1291641"/>
        </a:xfrm>
        <a:prstGeom prst="rect">
          <a:avLst/>
        </a:prstGeom>
        <a:solidFill>
          <a:srgbClr val="68529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A.17.1 Continuidad</a:t>
          </a:r>
          <a:br>
            <a:rPr lang="es-PE" sz="1600" kern="1200" dirty="0" smtClean="0"/>
          </a:br>
          <a:r>
            <a:rPr lang="es-PE" sz="1600" kern="1200" dirty="0" smtClean="0"/>
            <a:t>de la Seguridad de</a:t>
          </a:r>
          <a:br>
            <a:rPr lang="es-PE" sz="1600" kern="1200" dirty="0" smtClean="0"/>
          </a:br>
          <a:r>
            <a:rPr lang="es-PE" sz="1600" kern="1200" dirty="0" smtClean="0"/>
            <a:t>la Información</a:t>
          </a:r>
          <a:endParaRPr lang="es-PE" sz="1600" kern="1200" dirty="0"/>
        </a:p>
      </dsp:txBody>
      <dsp:txXfrm>
        <a:off x="2910348" y="1493"/>
        <a:ext cx="2386677" cy="1291641"/>
      </dsp:txXfrm>
    </dsp:sp>
    <dsp:sp modelId="{FC92D772-C01B-4D45-837B-3353756937D4}">
      <dsp:nvSpPr>
        <dsp:cNvPr id="0" name=""/>
        <dsp:cNvSpPr/>
      </dsp:nvSpPr>
      <dsp:spPr>
        <a:xfrm>
          <a:off x="818608" y="1696565"/>
          <a:ext cx="1921098" cy="1425416"/>
        </a:xfrm>
        <a:prstGeom prst="rect">
          <a:avLst/>
        </a:prstGeom>
        <a:solidFill>
          <a:srgbClr val="2EB1B5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A.17.1.1 Planificación de la continuidad de</a:t>
          </a:r>
          <a:br>
            <a:rPr lang="es-PE" sz="1600" kern="1200" dirty="0" smtClean="0"/>
          </a:br>
          <a:r>
            <a:rPr lang="es-PE" sz="1600" kern="1200" dirty="0" smtClean="0"/>
            <a:t>la seguridad de la información</a:t>
          </a:r>
          <a:endParaRPr lang="es-PE" sz="1600" kern="1200" dirty="0"/>
        </a:p>
      </dsp:txBody>
      <dsp:txXfrm>
        <a:off x="818608" y="1696565"/>
        <a:ext cx="1921098" cy="1425416"/>
      </dsp:txXfrm>
    </dsp:sp>
    <dsp:sp modelId="{77E6C5F0-B4C5-C441-BC2D-A05254452116}">
      <dsp:nvSpPr>
        <dsp:cNvPr id="0" name=""/>
        <dsp:cNvSpPr/>
      </dsp:nvSpPr>
      <dsp:spPr>
        <a:xfrm>
          <a:off x="3143138" y="1696565"/>
          <a:ext cx="1921098" cy="1409481"/>
        </a:xfrm>
        <a:prstGeom prst="rect">
          <a:avLst/>
        </a:prstGeom>
        <a:solidFill>
          <a:srgbClr val="2EB1B5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A.17.1.2 Aplicación</a:t>
          </a:r>
          <a:br>
            <a:rPr lang="es-PE" sz="1600" kern="1200" dirty="0" smtClean="0"/>
          </a:br>
          <a:r>
            <a:rPr lang="es-PE" sz="1600" kern="1200" dirty="0" smtClean="0"/>
            <a:t>de la continuidad de</a:t>
          </a:r>
          <a:br>
            <a:rPr lang="es-PE" sz="1600" kern="1200" dirty="0" smtClean="0"/>
          </a:br>
          <a:r>
            <a:rPr lang="es-PE" sz="1600" kern="1200" dirty="0" smtClean="0"/>
            <a:t>la seguridad de la información</a:t>
          </a:r>
          <a:endParaRPr lang="es-PE" sz="1600" kern="1200" dirty="0"/>
        </a:p>
      </dsp:txBody>
      <dsp:txXfrm>
        <a:off x="3143138" y="1696565"/>
        <a:ext cx="1921098" cy="1409481"/>
      </dsp:txXfrm>
    </dsp:sp>
    <dsp:sp modelId="{730BC454-DCF7-904D-A54B-5CAC493FA538}">
      <dsp:nvSpPr>
        <dsp:cNvPr id="0" name=""/>
        <dsp:cNvSpPr/>
      </dsp:nvSpPr>
      <dsp:spPr>
        <a:xfrm>
          <a:off x="5467667" y="1696565"/>
          <a:ext cx="1921098" cy="1406532"/>
        </a:xfrm>
        <a:prstGeom prst="rect">
          <a:avLst/>
        </a:prstGeom>
        <a:solidFill>
          <a:srgbClr val="2EB1B5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A.17.1.3 Verificar, revisar y evaluar la continuidad de la seguridad de la información</a:t>
          </a:r>
          <a:endParaRPr lang="es-ES_tradnl" sz="1600" kern="1200" dirty="0"/>
        </a:p>
      </dsp:txBody>
      <dsp:txXfrm>
        <a:off x="5467667" y="1696565"/>
        <a:ext cx="1921098" cy="14065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281DFD-D887-41DA-B6F2-3FBADBA6C710}">
      <dsp:nvSpPr>
        <dsp:cNvPr id="0" name=""/>
        <dsp:cNvSpPr/>
      </dsp:nvSpPr>
      <dsp:spPr>
        <a:xfrm>
          <a:off x="4057967" y="1293134"/>
          <a:ext cx="91440" cy="40343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03430"/>
              </a:lnTo>
            </a:path>
          </a:pathLst>
        </a:custGeom>
        <a:noFill/>
        <a:ln w="28575" cap="flat" cmpd="sng" algn="ctr">
          <a:solidFill>
            <a:schemeClr val="bg1">
              <a:lumMod val="75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6F27EB-EF2C-423D-B7FD-5E0219D7D588}">
      <dsp:nvSpPr>
        <dsp:cNvPr id="0" name=""/>
        <dsp:cNvSpPr/>
      </dsp:nvSpPr>
      <dsp:spPr>
        <a:xfrm>
          <a:off x="2910348" y="1493"/>
          <a:ext cx="2386677" cy="1291641"/>
        </a:xfrm>
        <a:prstGeom prst="rect">
          <a:avLst/>
        </a:prstGeom>
        <a:solidFill>
          <a:srgbClr val="68529F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A.17.2 Redundancias</a:t>
          </a:r>
          <a:endParaRPr lang="es-PE" sz="1600" kern="1200" dirty="0"/>
        </a:p>
      </dsp:txBody>
      <dsp:txXfrm>
        <a:off x="2910348" y="1493"/>
        <a:ext cx="2386677" cy="1291641"/>
      </dsp:txXfrm>
    </dsp:sp>
    <dsp:sp modelId="{FC92D772-C01B-4D45-837B-3353756937D4}">
      <dsp:nvSpPr>
        <dsp:cNvPr id="0" name=""/>
        <dsp:cNvSpPr/>
      </dsp:nvSpPr>
      <dsp:spPr>
        <a:xfrm>
          <a:off x="3143138" y="1696565"/>
          <a:ext cx="1921098" cy="1425416"/>
        </a:xfrm>
        <a:prstGeom prst="rect">
          <a:avLst/>
        </a:prstGeom>
        <a:solidFill>
          <a:srgbClr val="2EB1B5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PE" sz="1600" kern="1200" dirty="0" smtClean="0"/>
            <a:t>A.17.2.1 Disponibilidad de instalaciones de procesamiento de la información</a:t>
          </a:r>
          <a:endParaRPr lang="es-PE" sz="1600" kern="1200" dirty="0"/>
        </a:p>
      </dsp:txBody>
      <dsp:txXfrm>
        <a:off x="3143138" y="1696565"/>
        <a:ext cx="1921098" cy="14254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32DC7-834F-6148-86AF-F72164F7FFC1}" type="datetimeFigureOut">
              <a:rPr lang="es-ES" smtClean="0"/>
              <a:t>21/10/2020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A6FD5-E31A-6D44-BE80-5A94AC694F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6518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F1720-AE80-4069-8D89-2C76E8AFD874}" type="datetimeFigureOut">
              <a:rPr lang="es-PE" smtClean="0"/>
              <a:t>21/10/2020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700CA-E45F-416D-B659-25554F846B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852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nelink.es/servidores-dedicados-32.html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7184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Identificaremos</a:t>
            </a:r>
            <a:r>
              <a:rPr lang="es-PE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los escenarios de riesgo de los procesos core del negocio, donde se deben implementar estrategias de continuidad</a:t>
            </a:r>
            <a:r>
              <a:rPr lang="es-PE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8373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sz="1200" dirty="0" smtClean="0"/>
              <a:t>Identificaremos escenarios críticos, analizando cuando el análisis de costo beneficio es favorable para la aplicación de una estrategia de continuidad de negocio</a:t>
            </a:r>
            <a:r>
              <a:rPr lang="es-PE" sz="1200" baseline="0" dirty="0" smtClean="0"/>
              <a:t>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9405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sz="1200" dirty="0" smtClean="0"/>
              <a:t>Identificaremos</a:t>
            </a:r>
            <a:r>
              <a:rPr lang="es-PE" sz="1200" baseline="0" dirty="0" smtClean="0"/>
              <a:t> la relevancia de la información y definiremos la mejor estrategia para su redundancia.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27408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344541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621571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728478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916224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832065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 smtClean="0"/>
              <a:t>Ejemplo</a:t>
            </a:r>
            <a:r>
              <a:rPr lang="es-PE" baseline="0" dirty="0" smtClean="0"/>
              <a:t> de controles de continuidad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PE" baseline="0" dirty="0" smtClean="0"/>
              <a:t>A.12.3.1 Información de copias de seguridad.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PE" baseline="0" dirty="0" smtClean="0"/>
              <a:t>A.17.1.1 Planificación de la continuidad de la seguridad  de la información.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PE" baseline="0" dirty="0" smtClean="0"/>
              <a:t>A.17.1.2 Aplicación de la continuidad de la seguridad de la información.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PE" dirty="0" smtClean="0"/>
              <a:t>A.17.1.3 Verificar, revisar y evaluar la continuidad de la seguridad de la información.</a:t>
            </a:r>
          </a:p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154265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067467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dirty="0" smtClean="0"/>
              <a:t>BCM (Business </a:t>
            </a:r>
            <a:r>
              <a:rPr lang="es-ES" sz="1200" dirty="0" err="1" smtClean="0"/>
              <a:t>Continuity</a:t>
            </a:r>
            <a:r>
              <a:rPr lang="es-ES" sz="1200" dirty="0" smtClean="0"/>
              <a:t> Management), gestión de la continuidad de</a:t>
            </a:r>
            <a:r>
              <a:rPr lang="es-ES" sz="1200" baseline="0" dirty="0" smtClean="0"/>
              <a:t> negocio.</a:t>
            </a:r>
            <a:endParaRPr lang="es-PE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948383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dirty="0" smtClean="0"/>
              <a:t>BCM (Business </a:t>
            </a:r>
            <a:r>
              <a:rPr lang="es-ES" sz="1200" dirty="0" err="1" smtClean="0"/>
              <a:t>Continuity</a:t>
            </a:r>
            <a:r>
              <a:rPr lang="es-ES" sz="1200" smtClean="0"/>
              <a:t> Management), gestión de la continuidad de</a:t>
            </a:r>
            <a:r>
              <a:rPr lang="es-ES" sz="1200" baseline="0" smtClean="0"/>
              <a:t> negocio.</a:t>
            </a:r>
            <a:endParaRPr lang="es-PE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05920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600" dirty="0" smtClean="0"/>
              <a:t>Identificación de las posibles contingencias adversas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ES" sz="1400" dirty="0" smtClean="0"/>
              <a:t>Es importante estar preparado para un desastre, de manera tal que los procesos empresariales puedan continuar con el menor impacto.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ES" sz="1400" dirty="0" smtClean="0"/>
              <a:t>Es importante contar con una solución integral para garantizar la continuidad empresarial, ya que la mayoría de las operaciones de la organización dependen de TI.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ES" sz="1400" dirty="0" smtClean="0"/>
              <a:t>El equipo de BIA (Análisis</a:t>
            </a:r>
            <a:r>
              <a:rPr lang="es-ES" sz="1400" baseline="0" dirty="0" smtClean="0"/>
              <a:t> de Impacto del Negocio)</a:t>
            </a:r>
            <a:r>
              <a:rPr lang="es-ES" sz="1400" dirty="0" smtClean="0"/>
              <a:t> debe examinar cada potencial desastre del entorno o situación de emergencia que pueda producirse.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ES" sz="1400" dirty="0" smtClean="0"/>
              <a:t>El equipo de BIA debe concentrarse en el nivel de interrupción a consecuencia de tales desastres y emergencias. </a:t>
            </a:r>
            <a:endParaRPr lang="es-PE" sz="100" dirty="0" smtClean="0"/>
          </a:p>
          <a:p>
            <a:endParaRPr lang="es-PE" sz="14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950023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800" dirty="0" smtClean="0"/>
              <a:t>Descripción de la Gestión de la Continuidad del Negocio (Business </a:t>
            </a:r>
            <a:r>
              <a:rPr lang="es-ES" sz="1800" dirty="0" err="1" smtClean="0"/>
              <a:t>Continuity</a:t>
            </a:r>
            <a:r>
              <a:rPr lang="es-ES" sz="1800" dirty="0" smtClean="0"/>
              <a:t> Management-BCM):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ES" sz="1600" dirty="0" smtClean="0"/>
              <a:t>La gestión de la continuidad del negocio está orientada a minimizar las interrupciones y pérdidas financieras durante alteraciones sustantivas o menores en los procesos empresariales de la organización.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ES" sz="1600" dirty="0" smtClean="0"/>
              <a:t>Las ventajas de BCM incluyen la confianza y productividad en aumento para la organización.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ES" sz="1600" dirty="0" smtClean="0"/>
              <a:t>BCM significa garantizar la continuidad y el suministro ininterrumpido de las operaciones y servicios de las organizaciones.</a:t>
            </a:r>
          </a:p>
          <a:p>
            <a:endParaRPr lang="es-PE" sz="16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614066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 sz="2400" dirty="0" smtClean="0"/>
              <a:t>Los siguientes son los costos de posibles desastres :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800" dirty="0" smtClean="0"/>
              <a:t>Pérdida de ingresos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800" dirty="0" smtClean="0"/>
              <a:t>Pérdida y recuperación de la imagen corporativa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800" dirty="0" smtClean="0"/>
              <a:t>Pérdida de valor de las acciones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800" dirty="0" smtClean="0"/>
              <a:t>Pérdida de ingresos para los contratos de servicios provenientes de la incapacidad de ofrecer un servicio o de cumplir con los niveles de servicio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800" dirty="0" smtClean="0"/>
              <a:t>Costo del reemplazo de edificios y planta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800" dirty="0" smtClean="0"/>
              <a:t>Costo del reemplazo del equipo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800" dirty="0" smtClean="0"/>
              <a:t>Costo del reemplazo del software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800" dirty="0" smtClean="0"/>
              <a:t>Reclutamiento de nuevo personal para subsanar la pérdida de aquellos empleados que pudieron haber muerto a causa del desastre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800" dirty="0" smtClean="0"/>
              <a:t>Salarios pagados al personal para recuperarse de la acumulación de trabajo y mantener los plazos que cumplir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800" dirty="0" smtClean="0"/>
              <a:t>Costo de la recuperación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800" dirty="0" smtClean="0"/>
              <a:t>Costo de la recuperación de los datos perdidos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800" dirty="0" smtClean="0"/>
              <a:t>Pérdida del flujo de efectivo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800" dirty="0" smtClean="0"/>
              <a:t>Cláusulas penales por demoras en la entrega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800" dirty="0" smtClean="0"/>
              <a:t>Penalización impuesta por la incapacidad de cumplir con las normas requeridas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800" dirty="0" smtClean="0"/>
              <a:t>Pérdida de clientes y participación en el mercado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800" dirty="0" smtClean="0"/>
              <a:t>Pérdida de ganancias</a:t>
            </a:r>
            <a:endParaRPr lang="es-PE" sz="500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99872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endParaRPr lang="es-PE" sz="500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283156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19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046190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s-PE" sz="500" dirty="0" smtClean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20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525002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s-PE" sz="8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Fuentes redundantes</a:t>
            </a:r>
          </a:p>
          <a:p>
            <a:pPr fontAlgn="base"/>
            <a:r>
              <a:rPr lang="es-PE" sz="8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la infraestructura de centro de datos, todas las fuentes de alimentación se encuentras redundadas para evitar al máximo cualquier corte en la alimentación. </a:t>
            </a:r>
          </a:p>
          <a:p>
            <a:pPr fontAlgn="base"/>
            <a:r>
              <a:rPr lang="es-PE" sz="8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Switches redundados</a:t>
            </a:r>
          </a:p>
          <a:p>
            <a:pPr fontAlgn="base"/>
            <a:r>
              <a:rPr lang="es-PE" sz="8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garantizar al máximo la conectividad de red de los </a:t>
            </a:r>
            <a:r>
              <a:rPr lang="es-PE" sz="800" b="0" i="0" u="sng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Servidores Dedicados"/>
              </a:rPr>
              <a:t>servidores dedicados</a:t>
            </a:r>
            <a:r>
              <a:rPr lang="es-PE" sz="8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todos los switches de la infraestructura se pueden</a:t>
            </a:r>
            <a:r>
              <a:rPr lang="es-PE" sz="8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PE" sz="8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redundadar para evitar cualquier tipo de fallo. De esta forma, se intenta garantizar el máximo de conectividad de red en todo momento. </a:t>
            </a:r>
          </a:p>
          <a:p>
            <a:pPr fontAlgn="base"/>
            <a:endParaRPr lang="es-PE" sz="8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PE" sz="8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21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975414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26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372019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 smtClean="0"/>
              <a:t>En ésta sesión concluimos que el</a:t>
            </a:r>
            <a:r>
              <a:rPr lang="es-PE" baseline="0" dirty="0" smtClean="0"/>
              <a:t> impacto que se genera en una entidad por la para de sus procesos core es muy alto, por tanto es fundamental que se establezcan mecanismos que minimicen el impacto y tiempo de inactividad.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019887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sz="120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Finalmente, se definió la importancia de establecer un arquitectura redundante que permita la salvaguarda de los datos críticos de la entidad.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6700CA-E45F-416D-B659-25554F846B43}" type="slidenum">
              <a:rPr lang="es-PE" smtClean="0"/>
              <a:t>28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8816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08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431317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1824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Centr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5508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261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211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Agrupar 13"/>
          <p:cNvGrpSpPr/>
          <p:nvPr userDrawn="1"/>
        </p:nvGrpSpPr>
        <p:grpSpPr>
          <a:xfrm>
            <a:off x="944054" y="5343295"/>
            <a:ext cx="7804380" cy="215444"/>
            <a:chOff x="944054" y="5343295"/>
            <a:chExt cx="7804380" cy="215444"/>
          </a:xfrm>
        </p:grpSpPr>
        <p:sp>
          <p:nvSpPr>
            <p:cNvPr id="7" name="TextBox 7"/>
            <p:cNvSpPr txBox="1"/>
            <p:nvPr userDrawn="1"/>
          </p:nvSpPr>
          <p:spPr>
            <a:xfrm>
              <a:off x="944054" y="5343295"/>
              <a:ext cx="250741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Calibri"/>
                  <a:sym typeface="Wingdings"/>
                </a:rPr>
                <a:t>SEGURIDAD Y CONTINUIDAD DE SISTEMAS  </a:t>
              </a:r>
              <a:r>
                <a:rPr lang="en-US" sz="800" dirty="0" smtClean="0">
                  <a:solidFill>
                    <a:schemeClr val="bg1">
                      <a:lumMod val="50000"/>
                    </a:schemeClr>
                  </a:solidFill>
                  <a:latin typeface="+mn-lt"/>
                  <a:ea typeface="Wingdings"/>
                  <a:cs typeface="Calibri"/>
                  <a:sym typeface="Wingdings"/>
                </a:rPr>
                <a:t></a:t>
              </a:r>
              <a:r>
                <a:rPr lang="en-US" sz="800" kern="1200" dirty="0" smtClean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Calibri"/>
                  <a:sym typeface="Wingdings"/>
                </a:rPr>
                <a:t>  SESIÓN 11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+mn-lt"/>
                <a:cs typeface="Calibri"/>
              </a:endParaRPr>
            </a:p>
          </p:txBody>
        </p:sp>
        <p:sp>
          <p:nvSpPr>
            <p:cNvPr id="8" name="Rectangle 3"/>
            <p:cNvSpPr/>
            <p:nvPr userDrawn="1"/>
          </p:nvSpPr>
          <p:spPr>
            <a:xfrm>
              <a:off x="7379148" y="5371562"/>
              <a:ext cx="1369286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ES_tradnl" sz="600" dirty="0" smtClean="0">
                  <a:solidFill>
                    <a:schemeClr val="bg1">
                      <a:lumMod val="50000"/>
                    </a:schemeClr>
                  </a:solidFill>
                </a:rPr>
                <a:t>© </a:t>
              </a:r>
              <a:r>
                <a:rPr lang="es-ES_tradnl" sz="600" dirty="0" smtClean="0">
                  <a:solidFill>
                    <a:schemeClr val="bg1">
                      <a:lumMod val="50000"/>
                    </a:schemeClr>
                  </a:solidFill>
                </a:rPr>
                <a:t>ISIL</a:t>
              </a:r>
              <a:r>
                <a:rPr lang="es-ES_tradnl" sz="600" dirty="0" smtClean="0">
                  <a:solidFill>
                    <a:schemeClr val="bg1">
                      <a:lumMod val="50000"/>
                    </a:schemeClr>
                  </a:solidFill>
                </a:rPr>
                <a:t>. Todos los derechos reservados</a:t>
              </a:r>
              <a:endParaRPr lang="es-ES_tradnl" sz="6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8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300" y="5322472"/>
            <a:ext cx="448573" cy="25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3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7" r:id="rId4"/>
    <p:sldLayoutId id="2147483659" r:id="rId5"/>
    <p:sldLayoutId id="2147483662" r:id="rId6"/>
  </p:sldLayoutIdLst>
  <p:timing>
    <p:tnLst>
      <p:par>
        <p:cTn id="1" dur="indefinite" restart="never" nodeType="tmRoot"/>
      </p:par>
    </p:tnLst>
  </p:timing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CuadroTexto 14"/>
          <p:cNvSpPr txBox="1"/>
          <p:nvPr/>
        </p:nvSpPr>
        <p:spPr>
          <a:xfrm>
            <a:off x="3175138" y="3008050"/>
            <a:ext cx="5500550" cy="27571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7800" indent="-177800">
              <a:lnSpc>
                <a:spcPct val="120000"/>
              </a:lnSpc>
              <a:buSzPct val="80000"/>
              <a:buFont typeface="Arial"/>
              <a:buChar char="•"/>
            </a:pPr>
            <a:r>
              <a:rPr lang="es-ES" sz="1600" dirty="0" smtClean="0">
                <a:solidFill>
                  <a:srgbClr val="FFFFFF"/>
                </a:solidFill>
              </a:rPr>
              <a:t>Gestión de la continuidad del negocio</a:t>
            </a:r>
            <a:endParaRPr lang="es-ES" sz="1600" dirty="0">
              <a:solidFill>
                <a:srgbClr val="FFFFFF"/>
              </a:solidFill>
            </a:endParaRPr>
          </a:p>
        </p:txBody>
      </p:sp>
      <p:cxnSp>
        <p:nvCxnSpPr>
          <p:cNvPr id="8" name="Conector recto 7"/>
          <p:cNvCxnSpPr/>
          <p:nvPr/>
        </p:nvCxnSpPr>
        <p:spPr>
          <a:xfrm>
            <a:off x="3044504" y="1710303"/>
            <a:ext cx="0" cy="774883"/>
          </a:xfrm>
          <a:prstGeom prst="line">
            <a:avLst/>
          </a:prstGeom>
          <a:ln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/>
          <p:cNvSpPr txBox="1"/>
          <p:nvPr/>
        </p:nvSpPr>
        <p:spPr>
          <a:xfrm>
            <a:off x="2045305" y="1802569"/>
            <a:ext cx="964250" cy="8925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ES" sz="5800" dirty="0" smtClean="0">
                <a:solidFill>
                  <a:srgbClr val="FFFFFF"/>
                </a:solidFill>
              </a:rPr>
              <a:t>11</a:t>
            </a:r>
            <a:endParaRPr lang="es-ES" sz="5800" dirty="0">
              <a:solidFill>
                <a:srgbClr val="FFFFFF"/>
              </a:solidFill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2096830" y="1674447"/>
            <a:ext cx="87315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ES" dirty="0" smtClean="0">
                <a:solidFill>
                  <a:schemeClr val="bg1"/>
                </a:solidFill>
              </a:rPr>
              <a:t>SESIÓN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175729" y="1710303"/>
            <a:ext cx="4596087" cy="8658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5000"/>
              </a:lnSpc>
            </a:pPr>
            <a:r>
              <a:rPr lang="es-ES" sz="2200" b="1" dirty="0" smtClean="0">
                <a:solidFill>
                  <a:srgbClr val="FFFFFF"/>
                </a:solidFill>
              </a:rPr>
              <a:t>GESTIÓN DE LA</a:t>
            </a:r>
            <a:br>
              <a:rPr lang="es-ES" sz="2200" b="1" dirty="0" smtClean="0">
                <a:solidFill>
                  <a:srgbClr val="FFFFFF"/>
                </a:solidFill>
              </a:rPr>
            </a:br>
            <a:r>
              <a:rPr lang="es-ES" sz="2200" b="1" dirty="0" smtClean="0">
                <a:solidFill>
                  <a:srgbClr val="FFFFFF"/>
                </a:solidFill>
              </a:rPr>
              <a:t>CONTINUIDAD</a:t>
            </a:r>
            <a:br>
              <a:rPr lang="es-ES" sz="2200" b="1" dirty="0" smtClean="0">
                <a:solidFill>
                  <a:srgbClr val="FFFFFF"/>
                </a:solidFill>
              </a:rPr>
            </a:br>
            <a:r>
              <a:rPr lang="es-ES" sz="2200" b="1" dirty="0" smtClean="0">
                <a:solidFill>
                  <a:srgbClr val="FFFFFF"/>
                </a:solidFill>
              </a:rPr>
              <a:t>DEL NEGOCIO</a:t>
            </a:r>
            <a:endParaRPr lang="es-ES" sz="22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7175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1045721" y="2611279"/>
            <a:ext cx="7052558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5" algn="ctr">
              <a:buSzPct val="100000"/>
              <a:tabLst>
                <a:tab pos="121285" algn="l"/>
              </a:tabLst>
            </a:pPr>
            <a:r>
              <a:rPr lang="en-US" sz="2000" spc="-10" dirty="0" err="1">
                <a:cs typeface="Source Sans Pro"/>
              </a:rPr>
              <a:t>Explica</a:t>
            </a:r>
            <a:r>
              <a:rPr lang="en-US" sz="2000" spc="-10" dirty="0">
                <a:cs typeface="Source Sans Pro"/>
              </a:rPr>
              <a:t> el </a:t>
            </a:r>
            <a:r>
              <a:rPr lang="en-US" sz="2000" spc="-10" dirty="0" err="1">
                <a:cs typeface="Source Sans Pro"/>
              </a:rPr>
              <a:t>propósito</a:t>
            </a:r>
            <a:r>
              <a:rPr lang="en-US" sz="2000" spc="-10" dirty="0">
                <a:cs typeface="Source Sans Pro"/>
              </a:rPr>
              <a:t> y el </a:t>
            </a:r>
            <a:r>
              <a:rPr lang="en-US" sz="2000" spc="-10" dirty="0" err="1">
                <a:cs typeface="Source Sans Pro"/>
              </a:rPr>
              <a:t>ciclo</a:t>
            </a:r>
            <a:r>
              <a:rPr lang="en-US" sz="2000" spc="-10" dirty="0">
                <a:cs typeface="Source Sans Pro"/>
              </a:rPr>
              <a:t> de </a:t>
            </a:r>
            <a:r>
              <a:rPr lang="en-US" sz="2000" spc="-10" dirty="0" err="1">
                <a:cs typeface="Source Sans Pro"/>
              </a:rPr>
              <a:t>gestión</a:t>
            </a:r>
            <a:r>
              <a:rPr lang="en-US" sz="2000" spc="-10" dirty="0">
                <a:cs typeface="Source Sans Pro"/>
              </a:rPr>
              <a:t> </a:t>
            </a:r>
          </a:p>
          <a:p>
            <a:pPr marL="11725" algn="ctr">
              <a:buSzPct val="100000"/>
              <a:tabLst>
                <a:tab pos="121285" algn="l"/>
              </a:tabLst>
            </a:pPr>
            <a:r>
              <a:rPr lang="en-US" sz="2000" spc="-10" dirty="0">
                <a:cs typeface="Source Sans Pro"/>
              </a:rPr>
              <a:t>de la </a:t>
            </a:r>
            <a:r>
              <a:rPr lang="en-US" sz="2000" spc="-10" dirty="0" err="1">
                <a:cs typeface="Source Sans Pro"/>
              </a:rPr>
              <a:t>continuidad</a:t>
            </a:r>
            <a:r>
              <a:rPr lang="en-US" sz="2000" spc="-10" dirty="0">
                <a:cs typeface="Source Sans Pro"/>
              </a:rPr>
              <a:t> del </a:t>
            </a:r>
            <a:r>
              <a:rPr lang="en-US" sz="2000" spc="-10" dirty="0" err="1">
                <a:cs typeface="Source Sans Pro"/>
              </a:rPr>
              <a:t>negocio</a:t>
            </a:r>
            <a:endParaRPr lang="en-US" sz="2000" spc="-10" dirty="0">
              <a:cs typeface="Source Sans Pro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-308225" y="2404153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9734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12024" y="331345"/>
            <a:ext cx="194580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</a:t>
            </a:r>
            <a:r>
              <a:rPr lang="en-US" sz="1300" dirty="0">
                <a:solidFill>
                  <a:srgbClr val="438AD7"/>
                </a:solidFill>
              </a:rPr>
              <a:t> </a:t>
            </a:r>
            <a:r>
              <a:rPr lang="en-US" sz="1300" dirty="0" smtClean="0">
                <a:solidFill>
                  <a:srgbClr val="438AD7"/>
                </a:solidFill>
              </a:rPr>
              <a:t>OBJETIVOS DE LA SESIÓN</a:t>
            </a:r>
            <a:endParaRPr lang="en-US" sz="1300" dirty="0">
              <a:solidFill>
                <a:srgbClr val="438AD7"/>
              </a:solidFill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3147738" y="959599"/>
            <a:ext cx="2848524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600" dirty="0"/>
              <a:t>Planificación de la Continuidad</a:t>
            </a:r>
          </a:p>
        </p:txBody>
      </p:sp>
      <p:pic>
        <p:nvPicPr>
          <p:cNvPr id="7" name="Picture 2" descr="Resultado de imagen para crisi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1597025"/>
            <a:ext cx="3600450" cy="360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2778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12024" y="331345"/>
            <a:ext cx="194580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</a:t>
            </a:r>
            <a:r>
              <a:rPr lang="en-US" sz="1300" dirty="0">
                <a:solidFill>
                  <a:srgbClr val="438AD7"/>
                </a:solidFill>
              </a:rPr>
              <a:t> </a:t>
            </a:r>
            <a:r>
              <a:rPr lang="en-US" sz="1300" dirty="0" smtClean="0">
                <a:solidFill>
                  <a:srgbClr val="438AD7"/>
                </a:solidFill>
              </a:rPr>
              <a:t>OBJETIVOS DE LA SESIÓN</a:t>
            </a:r>
            <a:endParaRPr lang="en-US" sz="1300" dirty="0">
              <a:solidFill>
                <a:srgbClr val="438AD7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2614773" y="959599"/>
            <a:ext cx="3914454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600" dirty="0"/>
              <a:t>Aplicación de la continuidad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743" y="1607299"/>
            <a:ext cx="5374515" cy="359017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22620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12024" y="331345"/>
            <a:ext cx="194580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</a:t>
            </a:r>
            <a:r>
              <a:rPr lang="en-US" sz="1300" dirty="0">
                <a:solidFill>
                  <a:srgbClr val="438AD7"/>
                </a:solidFill>
              </a:rPr>
              <a:t> </a:t>
            </a:r>
            <a:r>
              <a:rPr lang="en-US" sz="1300" dirty="0" smtClean="0">
                <a:solidFill>
                  <a:srgbClr val="438AD7"/>
                </a:solidFill>
              </a:rPr>
              <a:t>OBJETIVOS DE LA SESIÓN</a:t>
            </a:r>
            <a:endParaRPr lang="en-US" sz="1300" dirty="0">
              <a:solidFill>
                <a:srgbClr val="438AD7"/>
              </a:solidFill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3675580" y="959599"/>
            <a:ext cx="1792840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600"/>
              <a:t>Redundancia</a:t>
            </a:r>
          </a:p>
        </p:txBody>
      </p:sp>
      <p:pic>
        <p:nvPicPr>
          <p:cNvPr id="8" name="Picture 2" descr="Resultado de imagen para redundancias sistemas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81" b="7018"/>
          <a:stretch/>
        </p:blipFill>
        <p:spPr bwMode="auto">
          <a:xfrm>
            <a:off x="2757720" y="1602769"/>
            <a:ext cx="3628561" cy="3594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20189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 smtClean="0">
                <a:solidFill>
                  <a:schemeClr val="bg1"/>
                </a:solidFill>
                <a:latin typeface="Calibri"/>
                <a:cs typeface="Calibri"/>
              </a:rPr>
              <a:t>/ </a:t>
            </a:r>
            <a:r>
              <a:rPr lang="es-PE" sz="2800" b="1" dirty="0">
                <a:solidFill>
                  <a:schemeClr val="bg1"/>
                </a:solidFill>
                <a:cs typeface="Calibri"/>
              </a:rPr>
              <a:t>GESTIÓN DE LA CONTINUIDAD </a:t>
            </a:r>
            <a:r>
              <a:rPr lang="es-PE" sz="2800" b="1" dirty="0" smtClean="0">
                <a:solidFill>
                  <a:schemeClr val="bg1"/>
                </a:solidFill>
                <a:cs typeface="Calibri"/>
              </a:rPr>
              <a:t>DEL </a:t>
            </a:r>
            <a:r>
              <a:rPr lang="es-PE" sz="2800" b="1" dirty="0">
                <a:solidFill>
                  <a:schemeClr val="bg1"/>
                </a:solidFill>
                <a:cs typeface="Calibri"/>
              </a:rPr>
              <a:t>NEGOCIO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9433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GESTIÓN DE LA CONTINUIDAD DEL NEGOCIO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object 7"/>
          <p:cNvSpPr txBox="1"/>
          <p:nvPr/>
        </p:nvSpPr>
        <p:spPr>
          <a:xfrm>
            <a:off x="507698" y="954483"/>
            <a:ext cx="816799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AGENDA</a:t>
            </a:r>
            <a:endParaRPr lang="en-US" sz="1600" b="1" spc="-10" dirty="0">
              <a:cs typeface="Source Sans Pro"/>
            </a:endParaRPr>
          </a:p>
        </p:txBody>
      </p:sp>
      <p:graphicFrame>
        <p:nvGraphicFramePr>
          <p:cNvPr id="7" name="Diagrama 6"/>
          <p:cNvGraphicFramePr/>
          <p:nvPr>
            <p:extLst>
              <p:ext uri="{D42A27DB-BD31-4B8C-83A1-F6EECF244321}">
                <p14:modId xmlns:p14="http://schemas.microsoft.com/office/powerpoint/2010/main" val="1914736581"/>
              </p:ext>
            </p:extLst>
          </p:nvPr>
        </p:nvGraphicFramePr>
        <p:xfrm>
          <a:off x="1717386" y="1427287"/>
          <a:ext cx="5709228" cy="2879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27027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1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GESTIÓN DE LA CONTINUIDAD DEL NEGOCIO</a:t>
            </a:r>
          </a:p>
        </p:txBody>
      </p:sp>
      <p:graphicFrame>
        <p:nvGraphicFramePr>
          <p:cNvPr id="12" name="Diagrama 11"/>
          <p:cNvGraphicFramePr/>
          <p:nvPr>
            <p:extLst>
              <p:ext uri="{D42A27DB-BD31-4B8C-83A1-F6EECF244321}">
                <p14:modId xmlns:p14="http://schemas.microsoft.com/office/powerpoint/2010/main" val="851343254"/>
              </p:ext>
            </p:extLst>
          </p:nvPr>
        </p:nvGraphicFramePr>
        <p:xfrm>
          <a:off x="468313" y="1425304"/>
          <a:ext cx="8207375" cy="31234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object 7"/>
          <p:cNvSpPr txBox="1"/>
          <p:nvPr/>
        </p:nvSpPr>
        <p:spPr>
          <a:xfrm>
            <a:off x="507698" y="954483"/>
            <a:ext cx="816799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CONTINUIDAD DE LA SEGURIDAD DE LA INFORMACIÓN</a:t>
            </a:r>
            <a:endParaRPr lang="en-US" sz="1600" b="1" spc="-10" dirty="0">
              <a:cs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282662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OBJETIVO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A.17.1 </a:t>
            </a:r>
            <a:r>
              <a:rPr lang="en-US" sz="1600" b="1" spc="-10" dirty="0" err="1">
                <a:cs typeface="Source Sans Pro"/>
              </a:rPr>
              <a:t>Continuidad</a:t>
            </a:r>
            <a:r>
              <a:rPr lang="en-US" sz="1600" b="1" spc="-10" dirty="0">
                <a:cs typeface="Source Sans Pro"/>
              </a:rPr>
              <a:t> de la </a:t>
            </a:r>
            <a:r>
              <a:rPr lang="en-US" sz="1600" b="1" spc="-10" dirty="0" err="1">
                <a:cs typeface="Source Sans Pro"/>
              </a:rPr>
              <a:t>Seguridad</a:t>
            </a:r>
            <a:r>
              <a:rPr lang="en-US" sz="1600" b="1" spc="-10" dirty="0">
                <a:cs typeface="Source Sans Pro"/>
              </a:rPr>
              <a:t> de la </a:t>
            </a:r>
            <a:r>
              <a:rPr lang="en-US" sz="1600" b="1" spc="-10" dirty="0" err="1">
                <a:cs typeface="Source Sans Pro"/>
              </a:rPr>
              <a:t>Información</a:t>
            </a:r>
            <a:endParaRPr lang="en-US" sz="1600" b="1" spc="-10" dirty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err="1">
                <a:cs typeface="Source Sans Pro"/>
              </a:rPr>
              <a:t>Objetivo</a:t>
            </a:r>
            <a:r>
              <a:rPr lang="en-US" sz="1600" b="1" spc="-10" dirty="0">
                <a:cs typeface="Source Sans Pro"/>
              </a:rPr>
              <a:t>: </a:t>
            </a:r>
            <a:r>
              <a:rPr lang="en-US" sz="1600" spc="-10" dirty="0">
                <a:cs typeface="Source Sans Pro"/>
              </a:rPr>
              <a:t>La </a:t>
            </a:r>
            <a:r>
              <a:rPr lang="en-US" sz="1600" spc="-10" dirty="0" err="1">
                <a:cs typeface="Source Sans Pro"/>
              </a:rPr>
              <a:t>continuidad</a:t>
            </a:r>
            <a:r>
              <a:rPr lang="en-US" sz="1600" spc="-10" dirty="0">
                <a:cs typeface="Source Sans Pro"/>
              </a:rPr>
              <a:t> de la </a:t>
            </a:r>
            <a:r>
              <a:rPr lang="en-US" sz="1600" spc="-10" dirty="0" err="1">
                <a:cs typeface="Source Sans Pro"/>
              </a:rPr>
              <a:t>seguridad</a:t>
            </a:r>
            <a:r>
              <a:rPr lang="en-US" sz="1600" spc="-10" dirty="0">
                <a:cs typeface="Source Sans Pro"/>
              </a:rPr>
              <a:t> de la </a:t>
            </a:r>
            <a:r>
              <a:rPr lang="en-US" sz="1600" spc="-10" dirty="0" err="1">
                <a:cs typeface="Source Sans Pro"/>
              </a:rPr>
              <a:t>información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deberá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incorporada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sistemas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gestión</a:t>
            </a:r>
            <a:r>
              <a:rPr lang="en-US" sz="1600" spc="-10" dirty="0">
                <a:cs typeface="Source Sans Pro"/>
              </a:rPr>
              <a:t> de la </a:t>
            </a:r>
            <a:r>
              <a:rPr lang="en-US" sz="1600" spc="-10" dirty="0" err="1">
                <a:cs typeface="Source Sans Pro"/>
              </a:rPr>
              <a:t>continuidad</a:t>
            </a:r>
            <a:r>
              <a:rPr lang="en-US" sz="1600" spc="-10" dirty="0">
                <a:cs typeface="Source Sans Pro"/>
              </a:rPr>
              <a:t> del </a:t>
            </a:r>
            <a:r>
              <a:rPr lang="en-US" sz="1600" spc="-10" dirty="0" err="1">
                <a:cs typeface="Source Sans Pro"/>
              </a:rPr>
              <a:t>negocio</a:t>
            </a:r>
            <a:r>
              <a:rPr lang="en-US" sz="1600" spc="-10" dirty="0">
                <a:cs typeface="Source Sans Pro"/>
              </a:rPr>
              <a:t> de la </a:t>
            </a:r>
            <a:r>
              <a:rPr lang="en-US" sz="1600" spc="-10" dirty="0" err="1">
                <a:cs typeface="Source Sans Pro"/>
              </a:rPr>
              <a:t>organización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GESTIÓN DE LA VULNERABILIDAD TÉCNICA</a:t>
            </a:r>
          </a:p>
        </p:txBody>
      </p:sp>
    </p:spTree>
    <p:extLst>
      <p:ext uri="{BB962C8B-B14F-4D97-AF65-F5344CB8AC3E}">
        <p14:creationId xmlns:p14="http://schemas.microsoft.com/office/powerpoint/2010/main" val="406309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CONTINUIDAD DE LA SEGURIDAD DE LA INFORMACIÓN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A.17.1.1 </a:t>
            </a:r>
            <a:r>
              <a:rPr lang="en-US" sz="1600" b="1" spc="-10" dirty="0" err="1" smtClean="0">
                <a:cs typeface="Source Sans Pro"/>
              </a:rPr>
              <a:t>Planificación</a:t>
            </a:r>
            <a:r>
              <a:rPr lang="en-US" sz="1600" b="1" spc="-10" dirty="0" smtClean="0">
                <a:cs typeface="Source Sans Pro"/>
              </a:rPr>
              <a:t> de la </a:t>
            </a:r>
            <a:r>
              <a:rPr lang="en-US" sz="1600" b="1" spc="-10" dirty="0" err="1" smtClean="0">
                <a:cs typeface="Source Sans Pro"/>
              </a:rPr>
              <a:t>continuidad</a:t>
            </a:r>
            <a:r>
              <a:rPr lang="en-US" sz="1600" b="1" spc="-10" dirty="0" smtClean="0">
                <a:cs typeface="Source Sans Pro"/>
              </a:rPr>
              <a:t> de la </a:t>
            </a:r>
            <a:r>
              <a:rPr lang="en-US" sz="1600" b="1" spc="-10" dirty="0" err="1" smtClean="0">
                <a:cs typeface="Source Sans Pro"/>
              </a:rPr>
              <a:t>seguridad</a:t>
            </a:r>
            <a:r>
              <a:rPr lang="en-US" sz="1600" b="1" spc="-10" dirty="0" smtClean="0">
                <a:cs typeface="Source Sans Pro"/>
              </a:rPr>
              <a:t> de la </a:t>
            </a:r>
            <a:r>
              <a:rPr lang="en-US" sz="1600" b="1" spc="-10" dirty="0" err="1" smtClean="0">
                <a:cs typeface="Source Sans Pro"/>
              </a:rPr>
              <a:t>información</a:t>
            </a:r>
            <a:endParaRPr lang="en-US" sz="1600" b="1" spc="-10" dirty="0" smtClean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 smtClean="0">
                <a:cs typeface="Source Sans Pro"/>
              </a:rPr>
              <a:t>La </a:t>
            </a:r>
            <a:r>
              <a:rPr lang="en-US" sz="1600" spc="-10" dirty="0" err="1">
                <a:cs typeface="Source Sans Pro"/>
              </a:rPr>
              <a:t>organización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deberá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determinar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requisitos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seguridad</a:t>
            </a:r>
            <a:r>
              <a:rPr lang="en-US" sz="1600" spc="-10" dirty="0">
                <a:cs typeface="Source Sans Pro"/>
              </a:rPr>
              <a:t> de la </a:t>
            </a:r>
            <a:r>
              <a:rPr lang="en-US" sz="1600" spc="-10" dirty="0" err="1">
                <a:cs typeface="Source Sans Pro"/>
              </a:rPr>
              <a:t>información</a:t>
            </a:r>
            <a:r>
              <a:rPr lang="en-US" sz="1600" spc="-10" dirty="0">
                <a:cs typeface="Source Sans Pro"/>
              </a:rPr>
              <a:t> y la </a:t>
            </a:r>
            <a:r>
              <a:rPr lang="en-US" sz="1600" spc="-10" dirty="0" err="1">
                <a:cs typeface="Source Sans Pro"/>
              </a:rPr>
              <a:t>continuidad</a:t>
            </a:r>
            <a:r>
              <a:rPr lang="en-US" sz="1600" spc="-10" dirty="0">
                <a:cs typeface="Source Sans Pro"/>
              </a:rPr>
              <a:t> de la </a:t>
            </a:r>
            <a:r>
              <a:rPr lang="en-US" sz="1600" spc="-10" dirty="0" err="1">
                <a:cs typeface="Source Sans Pro"/>
              </a:rPr>
              <a:t>gestión</a:t>
            </a:r>
            <a:r>
              <a:rPr lang="en-US" sz="1600" spc="-10" dirty="0">
                <a:cs typeface="Source Sans Pro"/>
              </a:rPr>
              <a:t> de la </a:t>
            </a:r>
            <a:r>
              <a:rPr lang="en-US" sz="1600" spc="-10" dirty="0" err="1">
                <a:cs typeface="Source Sans Pro"/>
              </a:rPr>
              <a:t>seguridad</a:t>
            </a:r>
            <a:r>
              <a:rPr lang="en-US" sz="1600" spc="-10" dirty="0">
                <a:cs typeface="Source Sans Pro"/>
              </a:rPr>
              <a:t> de la </a:t>
            </a:r>
            <a:r>
              <a:rPr lang="en-US" sz="1600" spc="-10" dirty="0" err="1">
                <a:cs typeface="Source Sans Pro"/>
              </a:rPr>
              <a:t>información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situaciones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adversas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por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ejemplo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durante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una</a:t>
            </a:r>
            <a:r>
              <a:rPr lang="en-US" sz="1600" spc="-10" dirty="0">
                <a:cs typeface="Source Sans Pro"/>
              </a:rPr>
              <a:t> crisis o un </a:t>
            </a:r>
            <a:r>
              <a:rPr lang="en-US" sz="1600" spc="-10" dirty="0" err="1">
                <a:cs typeface="Source Sans Pro"/>
              </a:rPr>
              <a:t>desastre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GESTIÓN DE LA VULNERABILIDAD TÉCNICA</a:t>
            </a:r>
          </a:p>
        </p:txBody>
      </p:sp>
      <p:pic>
        <p:nvPicPr>
          <p:cNvPr id="5" name="Picture 2" descr="Resultado de imagen para crisi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9144" y="2291761"/>
            <a:ext cx="2905713" cy="290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9332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1723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CONTINUIDAD DE LA SEGURIDAD DE LA INFORMACIÓN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El </a:t>
            </a:r>
            <a:r>
              <a:rPr lang="en-US" sz="1600" spc="-10" dirty="0" err="1">
                <a:cs typeface="Source Sans Pro"/>
              </a:rPr>
              <a:t>término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continuidad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deber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interpretado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como</a:t>
            </a:r>
            <a:r>
              <a:rPr lang="en-US" sz="1600" spc="-10" dirty="0">
                <a:cs typeface="Source Sans Pro"/>
              </a:rPr>
              <a:t>: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b="1" spc="-10" dirty="0" err="1">
                <a:cs typeface="Source Sans Pro"/>
              </a:rPr>
              <a:t>Continuidad</a:t>
            </a:r>
            <a:r>
              <a:rPr lang="en-US" sz="1600" b="1" spc="-10" dirty="0">
                <a:cs typeface="Source Sans Pro"/>
              </a:rPr>
              <a:t> de </a:t>
            </a:r>
            <a:r>
              <a:rPr lang="en-US" sz="1600" b="1" spc="-10" dirty="0" err="1">
                <a:cs typeface="Source Sans Pro"/>
              </a:rPr>
              <a:t>seguridad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cuando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una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organización</a:t>
            </a:r>
            <a:r>
              <a:rPr lang="en-US" sz="1600" spc="-10" dirty="0">
                <a:cs typeface="Source Sans Pro"/>
              </a:rPr>
              <a:t> se </a:t>
            </a:r>
            <a:r>
              <a:rPr lang="en-US" sz="1600" spc="-10" dirty="0" err="1">
                <a:cs typeface="Source Sans Pro"/>
              </a:rPr>
              <a:t>enfrenta</a:t>
            </a:r>
            <a:r>
              <a:rPr lang="en-US" sz="1600" spc="-10" dirty="0">
                <a:cs typeface="Source Sans Pro"/>
              </a:rPr>
              <a:t> a un </a:t>
            </a:r>
            <a:r>
              <a:rPr lang="en-US" sz="1600" spc="-10" dirty="0" err="1">
                <a:cs typeface="Source Sans Pro"/>
              </a:rPr>
              <a:t>problema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continuidad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negocio</a:t>
            </a:r>
            <a:r>
              <a:rPr lang="en-US" sz="1600" spc="-10" dirty="0" smtClean="0">
                <a:cs typeface="Source Sans Pro"/>
              </a:rPr>
              <a:t>.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b="1" spc="-10" dirty="0" err="1">
                <a:cs typeface="Source Sans Pro"/>
              </a:rPr>
              <a:t>Disponibilidad</a:t>
            </a:r>
            <a:r>
              <a:rPr lang="en-US" sz="1600" b="1" spc="-10" dirty="0">
                <a:cs typeface="Source Sans Pro"/>
              </a:rPr>
              <a:t> </a:t>
            </a:r>
            <a:r>
              <a:rPr lang="en-US" sz="1600" spc="-10" dirty="0">
                <a:cs typeface="Source Sans Pro"/>
              </a:rPr>
              <a:t>de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sistemas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seguridad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procedimientos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servicios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durante</a:t>
            </a:r>
            <a:r>
              <a:rPr lang="en-US" sz="1600" spc="-10" dirty="0">
                <a:cs typeface="Source Sans Pro"/>
              </a:rPr>
              <a:t> un </a:t>
            </a:r>
            <a:r>
              <a:rPr lang="en-US" sz="1600" spc="-10" dirty="0" err="1">
                <a:cs typeface="Source Sans Pro"/>
              </a:rPr>
              <a:t>funcionamiento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estable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GESTIÓN DE LA VULNERABILIDAD TÉCNICA</a:t>
            </a:r>
          </a:p>
        </p:txBody>
      </p:sp>
    </p:spTree>
    <p:extLst>
      <p:ext uri="{BB962C8B-B14F-4D97-AF65-F5344CB8AC3E}">
        <p14:creationId xmlns:p14="http://schemas.microsoft.com/office/powerpoint/2010/main" val="111872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CONTINUIDAD DE LA SEGURIDAD DE LA INFORMACIÓN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GESTIÓN DE LA VULNERABILIDAD TÉCNICA</a:t>
            </a:r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462703"/>
              </p:ext>
            </p:extLst>
          </p:nvPr>
        </p:nvGraphicFramePr>
        <p:xfrm>
          <a:off x="468313" y="1376735"/>
          <a:ext cx="8207375" cy="363580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281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5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02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07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90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8969">
                <a:tc>
                  <a:txBody>
                    <a:bodyPr/>
                    <a:lstStyle/>
                    <a:p>
                      <a:pPr algn="ctr"/>
                      <a:r>
                        <a:rPr lang="es-PE" sz="1300" dirty="0" smtClean="0"/>
                        <a:t>BCM</a:t>
                      </a:r>
                      <a:endParaRPr lang="es-PE" sz="1300" dirty="0"/>
                    </a:p>
                  </a:txBody>
                  <a:tcPr marL="65314" marR="65314" marT="32657" marB="3265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B1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300" dirty="0" smtClean="0"/>
                        <a:t>Recuperación en caso de desastre</a:t>
                      </a:r>
                    </a:p>
                  </a:txBody>
                  <a:tcPr marL="65314" marR="65314" marT="32657" marB="3265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B1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300" dirty="0" smtClean="0"/>
                        <a:t>Recuperación del Negocio</a:t>
                      </a:r>
                      <a:endParaRPr lang="es-PE" sz="1300" dirty="0"/>
                    </a:p>
                  </a:txBody>
                  <a:tcPr marL="65314" marR="65314" marT="32657" marB="3265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B1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300" dirty="0" smtClean="0"/>
                        <a:t>Reanudación del Negocio</a:t>
                      </a:r>
                    </a:p>
                  </a:txBody>
                  <a:tcPr marL="65314" marR="65314" marT="32657" marB="3265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B1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300" dirty="0" smtClean="0"/>
                        <a:t>Planificación de contingencia</a:t>
                      </a:r>
                    </a:p>
                  </a:txBody>
                  <a:tcPr marL="65314" marR="65314" marT="32657" marB="3265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B1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9451">
                <a:tc>
                  <a:txBody>
                    <a:bodyPr/>
                    <a:lstStyle/>
                    <a:p>
                      <a:r>
                        <a:rPr lang="es-PE" sz="1300" b="1" dirty="0" smtClean="0"/>
                        <a:t>Objetivo</a:t>
                      </a:r>
                    </a:p>
                  </a:txBody>
                  <a:tcPr marL="65314" marR="65314" marT="32657" marB="3265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300" dirty="0" smtClean="0"/>
                        <a:t>Recuperar aplicaciones informáticas importantes</a:t>
                      </a:r>
                      <a:endParaRPr lang="es-PE" sz="1300" dirty="0"/>
                    </a:p>
                  </a:txBody>
                  <a:tcPr marL="65314" marR="65314" marT="32657" marB="3265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300" dirty="0" smtClean="0"/>
                        <a:t>Recuperar los procesos empresariales que dependen de aplicaciones</a:t>
                      </a:r>
                    </a:p>
                  </a:txBody>
                  <a:tcPr marL="65314" marR="65314" marT="32657" marB="3265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300" dirty="0" smtClean="0"/>
                        <a:t>Garantizar el funcionamiento del proceso original</a:t>
                      </a:r>
                      <a:endParaRPr lang="es-ES" sz="1300" dirty="0"/>
                    </a:p>
                  </a:txBody>
                  <a:tcPr marL="65314" marR="65314" marT="32657" marB="3265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300" dirty="0" smtClean="0"/>
                        <a:t>Desarrollar un proceso o una solución alternativos en caso de no contar con el proceso original</a:t>
                      </a:r>
                      <a:endParaRPr lang="es-ES" sz="1300" dirty="0"/>
                    </a:p>
                  </a:txBody>
                  <a:tcPr marL="65314" marR="65314" marT="32657" marB="3265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796">
                <a:tc>
                  <a:txBody>
                    <a:bodyPr/>
                    <a:lstStyle/>
                    <a:p>
                      <a:r>
                        <a:rPr lang="es-PE" sz="1300" b="1" dirty="0" smtClean="0"/>
                        <a:t>Enfoque</a:t>
                      </a:r>
                      <a:endParaRPr lang="es-PE" sz="1300" b="1" dirty="0"/>
                    </a:p>
                  </a:txBody>
                  <a:tcPr marL="65314" marR="65314" marT="32657" marB="3265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300" dirty="0" smtClean="0"/>
                        <a:t>Recuperar datos</a:t>
                      </a:r>
                    </a:p>
                  </a:txBody>
                  <a:tcPr marL="65314" marR="65314" marT="32657" marB="3265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300" dirty="0" smtClean="0"/>
                        <a:t>Recuperar procesos</a:t>
                      </a:r>
                      <a:endParaRPr lang="es-PE" sz="1300" dirty="0"/>
                    </a:p>
                  </a:txBody>
                  <a:tcPr marL="65314" marR="65314" marT="32657" marB="3265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300" dirty="0" smtClean="0"/>
                        <a:t>Restituir las operaciones a su estado normal</a:t>
                      </a:r>
                    </a:p>
                  </a:txBody>
                  <a:tcPr marL="65314" marR="65314" marT="32657" marB="3265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300" dirty="0" smtClean="0"/>
                        <a:t>Subsistir hasta que se reanuden las operaciones originales</a:t>
                      </a:r>
                    </a:p>
                  </a:txBody>
                  <a:tcPr marL="65314" marR="65314" marT="32657" marB="3265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796">
                <a:tc>
                  <a:txBody>
                    <a:bodyPr/>
                    <a:lstStyle/>
                    <a:p>
                      <a:r>
                        <a:rPr lang="es-PE" sz="1300" b="1" dirty="0" smtClean="0"/>
                        <a:t>Ejemplo</a:t>
                      </a:r>
                      <a:endParaRPr lang="es-PE" sz="1300" b="1" dirty="0"/>
                    </a:p>
                  </a:txBody>
                  <a:tcPr marL="65314" marR="65314" marT="32657" marB="3265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300" dirty="0" smtClean="0"/>
                        <a:t>Falla informática</a:t>
                      </a:r>
                      <a:endParaRPr lang="es-PE" sz="1300" dirty="0"/>
                    </a:p>
                  </a:txBody>
                  <a:tcPr marL="65314" marR="65314" marT="32657" marB="3265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300" dirty="0" smtClean="0"/>
                        <a:t>Centro de datos que colapsa debido a un terremoto</a:t>
                      </a:r>
                      <a:endParaRPr lang="es-ES" sz="1300" dirty="0"/>
                    </a:p>
                  </a:txBody>
                  <a:tcPr marL="65314" marR="65314" marT="32657" marB="3265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300" dirty="0" smtClean="0"/>
                        <a:t>Incendio</a:t>
                      </a:r>
                      <a:endParaRPr lang="es-PE" sz="1300" dirty="0"/>
                    </a:p>
                  </a:txBody>
                  <a:tcPr marL="65314" marR="65314" marT="32657" marB="3265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300" dirty="0" smtClean="0"/>
                        <a:t>Falla de un servidor de base de datos</a:t>
                      </a:r>
                      <a:endParaRPr lang="es-ES" sz="1300" dirty="0"/>
                    </a:p>
                  </a:txBody>
                  <a:tcPr marL="65314" marR="65314" marT="32657" marB="3265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796">
                <a:tc>
                  <a:txBody>
                    <a:bodyPr/>
                    <a:lstStyle/>
                    <a:p>
                      <a:r>
                        <a:rPr lang="es-PE" sz="1300" b="1" dirty="0" smtClean="0"/>
                        <a:t>Solución</a:t>
                      </a:r>
                      <a:endParaRPr lang="es-PE" sz="1300" b="1" dirty="0"/>
                    </a:p>
                  </a:txBody>
                  <a:tcPr marL="65314" marR="65314" marT="32657" marB="3265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300" dirty="0" smtClean="0"/>
                        <a:t>Implementar un sistema alternativo</a:t>
                      </a:r>
                    </a:p>
                  </a:txBody>
                  <a:tcPr marL="65314" marR="65314" marT="32657" marB="3265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300" dirty="0" smtClean="0"/>
                        <a:t>Trasladar las operaciones a un sitio alternativo</a:t>
                      </a:r>
                      <a:endParaRPr lang="es-ES" sz="1300" dirty="0"/>
                    </a:p>
                  </a:txBody>
                  <a:tcPr marL="65314" marR="65314" marT="32657" marB="3265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300" dirty="0" smtClean="0"/>
                        <a:t>Trasladar las operaciones a un sitio alternativo</a:t>
                      </a:r>
                    </a:p>
                  </a:txBody>
                  <a:tcPr marL="65314" marR="65314" marT="32657" marB="3265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PE" sz="1300" dirty="0" smtClean="0"/>
                        <a:t>Usar procesos manuales</a:t>
                      </a:r>
                    </a:p>
                  </a:txBody>
                  <a:tcPr marL="65314" marR="65314" marT="32657" marB="3265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0364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CONTINUIDAD DE LA SEGURIDAD DE LA INFORMACIÓN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Los </a:t>
            </a:r>
            <a:r>
              <a:rPr lang="en-US" sz="1600" spc="-10" dirty="0" err="1">
                <a:cs typeface="Source Sans Pro"/>
              </a:rPr>
              <a:t>siguientes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factores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convierten</a:t>
            </a:r>
            <a:r>
              <a:rPr lang="en-US" sz="1600" spc="-10" dirty="0">
                <a:cs typeface="Source Sans Pro"/>
              </a:rPr>
              <a:t> a BCM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una</a:t>
            </a:r>
            <a:r>
              <a:rPr lang="en-US" sz="1600" spc="-10" dirty="0">
                <a:cs typeface="Source Sans Pro"/>
              </a:rPr>
              <a:t> parte </a:t>
            </a:r>
            <a:r>
              <a:rPr lang="en-US" sz="1600" spc="-10" dirty="0" err="1">
                <a:cs typeface="Source Sans Pro"/>
              </a:rPr>
              <a:t>importante</a:t>
            </a:r>
            <a:r>
              <a:rPr lang="en-US" sz="1600" spc="-10" dirty="0">
                <a:cs typeface="Source Sans Pro"/>
              </a:rPr>
              <a:t> para </a:t>
            </a:r>
            <a:r>
              <a:rPr lang="en-US" sz="1600" spc="-10" dirty="0" err="1">
                <a:cs typeface="Source Sans Pro"/>
              </a:rPr>
              <a:t>una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organización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progresista</a:t>
            </a:r>
            <a:r>
              <a:rPr lang="en-US" sz="1600" spc="-10" dirty="0">
                <a:cs typeface="Source Sans Pro"/>
              </a:rPr>
              <a:t>. 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Los </a:t>
            </a:r>
            <a:r>
              <a:rPr lang="en-US" sz="1600" spc="-10" dirty="0" err="1">
                <a:cs typeface="Source Sans Pro"/>
              </a:rPr>
              <a:t>clientes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esperan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continuidad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suministro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todas</a:t>
            </a:r>
            <a:r>
              <a:rPr lang="en-US" sz="1600" spc="-10" dirty="0">
                <a:cs typeface="Source Sans Pro"/>
              </a:rPr>
              <a:t> las </a:t>
            </a:r>
            <a:r>
              <a:rPr lang="en-US" sz="1600" spc="-10" dirty="0" err="1">
                <a:cs typeface="Source Sans Pro"/>
              </a:rPr>
              <a:t>circunstancias</a:t>
            </a:r>
            <a:r>
              <a:rPr lang="en-US" sz="1600" spc="-10" dirty="0">
                <a:cs typeface="Source Sans Pro"/>
              </a:rPr>
              <a:t>. 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Los </a:t>
            </a:r>
            <a:r>
              <a:rPr lang="en-US" sz="1600" spc="-10" dirty="0" err="1">
                <a:cs typeface="Source Sans Pro"/>
              </a:rPr>
              <a:t>accionistas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esperan</a:t>
            </a:r>
            <a:r>
              <a:rPr lang="en-US" sz="1600" spc="-10" dirty="0">
                <a:cs typeface="Source Sans Pro"/>
              </a:rPr>
              <a:t> que la </a:t>
            </a:r>
            <a:r>
              <a:rPr lang="en-US" sz="1600" spc="-10" dirty="0" err="1">
                <a:cs typeface="Source Sans Pro"/>
              </a:rPr>
              <a:t>Dirección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asuma</a:t>
            </a:r>
            <a:r>
              <a:rPr lang="en-US" sz="1600" spc="-10" dirty="0">
                <a:cs typeface="Source Sans Pro"/>
              </a:rPr>
              <a:t> el control total </a:t>
            </a:r>
            <a:r>
              <a:rPr lang="en-US" sz="1600" spc="-10" dirty="0" err="1">
                <a:cs typeface="Source Sans Pro"/>
              </a:rPr>
              <a:t>durante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cualquier</a:t>
            </a:r>
            <a:r>
              <a:rPr lang="en-US" sz="1600" spc="-10" dirty="0">
                <a:cs typeface="Source Sans Pro"/>
              </a:rPr>
              <a:t> crisis.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GESTIÓN DE LA VULNERABILIDAD TÉCNICA</a:t>
            </a:r>
          </a:p>
        </p:txBody>
      </p:sp>
      <p:pic>
        <p:nvPicPr>
          <p:cNvPr id="5" name="Picture 2" descr="Resultado de imagen para accionistas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39" r="17442"/>
          <a:stretch/>
        </p:blipFill>
        <p:spPr bwMode="auto">
          <a:xfrm>
            <a:off x="2802906" y="2321959"/>
            <a:ext cx="3538188" cy="2866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6017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CONTINUIDAD DE LA SEGURIDAD DE LA INFORMACIÓN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Los </a:t>
            </a:r>
            <a:r>
              <a:rPr lang="en-US" sz="1600" spc="-10" dirty="0" err="1">
                <a:cs typeface="Source Sans Pro"/>
              </a:rPr>
              <a:t>siguientes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factores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convierten</a:t>
            </a:r>
            <a:r>
              <a:rPr lang="en-US" sz="1600" spc="-10" dirty="0">
                <a:cs typeface="Source Sans Pro"/>
              </a:rPr>
              <a:t> a GCN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una</a:t>
            </a:r>
            <a:r>
              <a:rPr lang="en-US" sz="1600" spc="-10" dirty="0">
                <a:cs typeface="Source Sans Pro"/>
              </a:rPr>
              <a:t> parte </a:t>
            </a:r>
            <a:r>
              <a:rPr lang="en-US" sz="1600" spc="-10" dirty="0" err="1">
                <a:cs typeface="Source Sans Pro"/>
              </a:rPr>
              <a:t>importante</a:t>
            </a:r>
            <a:r>
              <a:rPr lang="en-US" sz="1600" spc="-10" dirty="0">
                <a:cs typeface="Source Sans Pro"/>
              </a:rPr>
              <a:t> para </a:t>
            </a:r>
            <a:r>
              <a:rPr lang="en-US" sz="1600" spc="-10" dirty="0" err="1">
                <a:cs typeface="Source Sans Pro"/>
              </a:rPr>
              <a:t>una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organización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progresista</a:t>
            </a:r>
            <a:r>
              <a:rPr lang="en-US" sz="1600" spc="-10" dirty="0">
                <a:cs typeface="Source Sans Pro"/>
              </a:rPr>
              <a:t>. 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Los </a:t>
            </a:r>
            <a:r>
              <a:rPr lang="en-US" sz="1600" spc="-10" dirty="0" err="1">
                <a:cs typeface="Source Sans Pro"/>
              </a:rPr>
              <a:t>empleados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proveedores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esperan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protección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su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sustento</a:t>
            </a:r>
            <a:r>
              <a:rPr lang="en-US" sz="1600" spc="-10" dirty="0">
                <a:cs typeface="Source Sans Pro"/>
              </a:rPr>
              <a:t> y de la </a:t>
            </a:r>
            <a:r>
              <a:rPr lang="en-US" sz="1600" spc="-10" dirty="0" err="1">
                <a:cs typeface="Source Sans Pro"/>
              </a:rPr>
              <a:t>reputación</a:t>
            </a:r>
            <a:r>
              <a:rPr lang="en-US" sz="1600" spc="-10" dirty="0">
                <a:cs typeface="Source Sans Pro"/>
              </a:rPr>
              <a:t> de la </a:t>
            </a:r>
            <a:r>
              <a:rPr lang="en-US" sz="1600" spc="-10" dirty="0" err="1">
                <a:cs typeface="Source Sans Pro"/>
              </a:rPr>
              <a:t>organización</a:t>
            </a:r>
            <a:r>
              <a:rPr lang="en-US" sz="1600" spc="-10" dirty="0">
                <a:cs typeface="Source Sans Pro"/>
              </a:rPr>
              <a:t>. </a:t>
            </a:r>
            <a:endParaRPr lang="en-US" sz="1600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endParaRPr lang="en-US" sz="1600" spc="-10" dirty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La </a:t>
            </a:r>
            <a:r>
              <a:rPr lang="en-US" sz="1600" spc="-10" dirty="0" err="1">
                <a:cs typeface="Source Sans Pro"/>
              </a:rPr>
              <a:t>incorporación</a:t>
            </a:r>
            <a:r>
              <a:rPr lang="en-US" sz="1600" spc="-10" dirty="0">
                <a:cs typeface="Source Sans Pro"/>
              </a:rPr>
              <a:t> de BCM </a:t>
            </a:r>
            <a:r>
              <a:rPr lang="en-US" sz="1600" spc="-10" dirty="0" err="1">
                <a:cs typeface="Source Sans Pro"/>
              </a:rPr>
              <a:t>está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implícita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buena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dirección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corporativa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GESTIÓN DE LA VULNERABILIDAD TÉCNICA</a:t>
            </a:r>
          </a:p>
        </p:txBody>
      </p:sp>
      <p:pic>
        <p:nvPicPr>
          <p:cNvPr id="9" name="Picture 2" descr="Resultado de imagen para proveedore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8" r="3253" b="3813"/>
          <a:stretch/>
        </p:blipFill>
        <p:spPr bwMode="auto">
          <a:xfrm>
            <a:off x="2108477" y="2702103"/>
            <a:ext cx="4927047" cy="2454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0393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CONTINUIDAD DE LA SEGURIDAD DE LA INFORMACIÓN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Para </a:t>
            </a:r>
            <a:r>
              <a:rPr lang="en-US" sz="1600" spc="-10" dirty="0" err="1">
                <a:cs typeface="Source Sans Pro"/>
              </a:rPr>
              <a:t>obtener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una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perspectiva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clara</a:t>
            </a:r>
            <a:r>
              <a:rPr lang="en-US" sz="1600" spc="-10" dirty="0">
                <a:cs typeface="Source Sans Pro"/>
              </a:rPr>
              <a:t> del </a:t>
            </a:r>
            <a:r>
              <a:rPr lang="en-US" sz="1600" spc="-10" dirty="0" err="1">
                <a:cs typeface="Source Sans Pro"/>
              </a:rPr>
              <a:t>tipo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actividades</a:t>
            </a:r>
            <a:r>
              <a:rPr lang="en-US" sz="1600" spc="-10" dirty="0">
                <a:cs typeface="Source Sans Pro"/>
              </a:rPr>
              <a:t> de GCN que se </a:t>
            </a:r>
            <a:r>
              <a:rPr lang="en-US" sz="1600" spc="-10" dirty="0" err="1">
                <a:cs typeface="Source Sans Pro"/>
              </a:rPr>
              <a:t>iniciarán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una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organización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debe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concentrarse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cuatro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preguntas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básicas</a:t>
            </a:r>
            <a:r>
              <a:rPr lang="en-US" sz="1600" spc="-10" dirty="0">
                <a:cs typeface="Source Sans Pro"/>
              </a:rPr>
              <a:t> : 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$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GESTIÓN DE LA VULNERABILIDAD TÉCNICA</a:t>
            </a:r>
          </a:p>
        </p:txBody>
      </p:sp>
    </p:spTree>
    <p:extLst>
      <p:ext uri="{BB962C8B-B14F-4D97-AF65-F5344CB8AC3E}">
        <p14:creationId xmlns:p14="http://schemas.microsoft.com/office/powerpoint/2010/main" val="275781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CONTINUIDAD DE LA SEGURIDAD DE LA INFORMACIÓN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A.17.1.2 </a:t>
            </a:r>
            <a:r>
              <a:rPr lang="en-US" sz="1600" b="1" spc="-10" dirty="0" err="1" smtClean="0">
                <a:cs typeface="Source Sans Pro"/>
              </a:rPr>
              <a:t>Aplicación</a:t>
            </a:r>
            <a:r>
              <a:rPr lang="en-US" sz="1600" b="1" spc="-10" dirty="0" smtClean="0">
                <a:cs typeface="Source Sans Pro"/>
              </a:rPr>
              <a:t> de la </a:t>
            </a:r>
            <a:r>
              <a:rPr lang="en-US" sz="1600" b="1" spc="-10" dirty="0" err="1" smtClean="0">
                <a:cs typeface="Source Sans Pro"/>
              </a:rPr>
              <a:t>continuidad</a:t>
            </a:r>
            <a:r>
              <a:rPr lang="en-US" sz="1600" b="1" spc="-10" dirty="0" smtClean="0">
                <a:cs typeface="Source Sans Pro"/>
              </a:rPr>
              <a:t> de la </a:t>
            </a:r>
            <a:r>
              <a:rPr lang="en-US" sz="1600" b="1" spc="-10" dirty="0" err="1" smtClean="0">
                <a:cs typeface="Source Sans Pro"/>
              </a:rPr>
              <a:t>seguridad</a:t>
            </a:r>
            <a:r>
              <a:rPr lang="en-US" sz="1600" b="1" spc="-10" dirty="0" smtClean="0">
                <a:cs typeface="Source Sans Pro"/>
              </a:rPr>
              <a:t> de la </a:t>
            </a:r>
            <a:r>
              <a:rPr lang="en-US" sz="1600" b="1" spc="-10" dirty="0" err="1" smtClean="0">
                <a:cs typeface="Source Sans Pro"/>
              </a:rPr>
              <a:t>información</a:t>
            </a:r>
            <a:endParaRPr lang="en-US" sz="1600" b="1" spc="-10" dirty="0" smtClean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 smtClean="0">
                <a:cs typeface="Source Sans Pro"/>
              </a:rPr>
              <a:t>La </a:t>
            </a:r>
            <a:r>
              <a:rPr lang="en-US" sz="1600" spc="-10" dirty="0" err="1" smtClean="0">
                <a:cs typeface="Source Sans Pro"/>
              </a:rPr>
              <a:t>organización</a:t>
            </a:r>
            <a:r>
              <a:rPr lang="en-US" sz="1600" spc="-10" dirty="0" smtClean="0">
                <a:cs typeface="Source Sans Pro"/>
              </a:rPr>
              <a:t> </a:t>
            </a:r>
            <a:r>
              <a:rPr lang="en-US" sz="1600" spc="-10" dirty="0" err="1" smtClean="0">
                <a:cs typeface="Source Sans Pro"/>
              </a:rPr>
              <a:t>deberá</a:t>
            </a:r>
            <a:r>
              <a:rPr lang="en-US" sz="1600" spc="-10" dirty="0" smtClean="0">
                <a:cs typeface="Source Sans Pro"/>
              </a:rPr>
              <a:t> </a:t>
            </a:r>
            <a:r>
              <a:rPr lang="en-US" sz="1600" spc="-10" dirty="0" err="1" smtClean="0">
                <a:cs typeface="Source Sans Pro"/>
              </a:rPr>
              <a:t>establecer</a:t>
            </a:r>
            <a:r>
              <a:rPr lang="en-US" sz="1600" spc="-10" dirty="0" smtClean="0">
                <a:cs typeface="Source Sans Pro"/>
              </a:rPr>
              <a:t>, </a:t>
            </a:r>
            <a:r>
              <a:rPr lang="en-US" sz="1600" spc="-10" dirty="0" err="1" smtClean="0">
                <a:cs typeface="Source Sans Pro"/>
              </a:rPr>
              <a:t>documentar</a:t>
            </a:r>
            <a:r>
              <a:rPr lang="en-US" sz="1600" spc="-10" dirty="0" smtClean="0">
                <a:cs typeface="Source Sans Pro"/>
              </a:rPr>
              <a:t>, </a:t>
            </a:r>
            <a:r>
              <a:rPr lang="en-US" sz="1600" spc="-10" dirty="0" err="1" smtClean="0">
                <a:cs typeface="Source Sans Pro"/>
              </a:rPr>
              <a:t>implementar</a:t>
            </a:r>
            <a:r>
              <a:rPr lang="en-US" sz="1600" spc="-10" dirty="0" smtClean="0">
                <a:cs typeface="Source Sans Pro"/>
              </a:rPr>
              <a:t> y </a:t>
            </a:r>
            <a:r>
              <a:rPr lang="en-US" sz="1600" spc="-10" dirty="0" err="1" smtClean="0">
                <a:cs typeface="Source Sans Pro"/>
              </a:rPr>
              <a:t>mantener</a:t>
            </a:r>
            <a:r>
              <a:rPr lang="en-US" sz="1600" spc="-10" dirty="0" smtClean="0">
                <a:cs typeface="Source Sans Pro"/>
              </a:rPr>
              <a:t> </a:t>
            </a:r>
            <a:r>
              <a:rPr lang="en-US" sz="1600" spc="-10" dirty="0" err="1" smtClean="0">
                <a:cs typeface="Source Sans Pro"/>
              </a:rPr>
              <a:t>los</a:t>
            </a:r>
            <a:r>
              <a:rPr lang="en-US" sz="1600" spc="-10" dirty="0" smtClean="0">
                <a:cs typeface="Source Sans Pro"/>
              </a:rPr>
              <a:t> </a:t>
            </a:r>
            <a:r>
              <a:rPr lang="en-US" sz="1600" spc="-10" dirty="0" err="1" smtClean="0">
                <a:cs typeface="Source Sans Pro"/>
              </a:rPr>
              <a:t>procesos</a:t>
            </a:r>
            <a:r>
              <a:rPr lang="en-US" sz="1600" spc="-10" dirty="0" smtClean="0">
                <a:cs typeface="Source Sans Pro"/>
              </a:rPr>
              <a:t>, </a:t>
            </a:r>
            <a:r>
              <a:rPr lang="en-US" sz="1600" spc="-10" dirty="0" err="1" smtClean="0">
                <a:cs typeface="Source Sans Pro"/>
              </a:rPr>
              <a:t>procedimientos</a:t>
            </a:r>
            <a:r>
              <a:rPr lang="en-US" sz="1600" spc="-10" dirty="0" smtClean="0">
                <a:cs typeface="Source Sans Pro"/>
              </a:rPr>
              <a:t> y </a:t>
            </a:r>
            <a:r>
              <a:rPr lang="en-US" sz="1600" spc="-10" dirty="0" err="1" smtClean="0">
                <a:cs typeface="Source Sans Pro"/>
              </a:rPr>
              <a:t>controles</a:t>
            </a:r>
            <a:r>
              <a:rPr lang="en-US" sz="1600" spc="-10" dirty="0" smtClean="0">
                <a:cs typeface="Source Sans Pro"/>
              </a:rPr>
              <a:t> para </a:t>
            </a:r>
            <a:r>
              <a:rPr lang="en-US" sz="1600" spc="-10" dirty="0" err="1" smtClean="0">
                <a:cs typeface="Source Sans Pro"/>
              </a:rPr>
              <a:t>garantizar</a:t>
            </a:r>
            <a:r>
              <a:rPr lang="en-US" sz="1600" spc="-10" dirty="0" smtClean="0">
                <a:cs typeface="Source Sans Pro"/>
              </a:rPr>
              <a:t> el </a:t>
            </a:r>
            <a:r>
              <a:rPr lang="en-US" sz="1600" spc="-10" dirty="0" err="1" smtClean="0">
                <a:cs typeface="Source Sans Pro"/>
              </a:rPr>
              <a:t>nivel</a:t>
            </a:r>
            <a:r>
              <a:rPr lang="en-US" sz="1600" spc="-10" dirty="0" smtClean="0">
                <a:cs typeface="Source Sans Pro"/>
              </a:rPr>
              <a:t> </a:t>
            </a:r>
            <a:r>
              <a:rPr lang="en-US" sz="1600" spc="-10" dirty="0" err="1" smtClean="0">
                <a:cs typeface="Source Sans Pro"/>
              </a:rPr>
              <a:t>necesario</a:t>
            </a:r>
            <a:r>
              <a:rPr lang="en-US" sz="1600" spc="-10" dirty="0" smtClean="0">
                <a:cs typeface="Source Sans Pro"/>
              </a:rPr>
              <a:t> de </a:t>
            </a:r>
            <a:r>
              <a:rPr lang="en-US" sz="1600" spc="-10" dirty="0" err="1" smtClean="0">
                <a:cs typeface="Source Sans Pro"/>
              </a:rPr>
              <a:t>continuidad</a:t>
            </a:r>
            <a:r>
              <a:rPr lang="en-US" sz="1600" spc="-10" dirty="0" smtClean="0">
                <a:cs typeface="Source Sans Pro"/>
              </a:rPr>
              <a:t> para la </a:t>
            </a:r>
            <a:r>
              <a:rPr lang="en-US" sz="1600" spc="-10" dirty="0" err="1" smtClean="0">
                <a:cs typeface="Source Sans Pro"/>
              </a:rPr>
              <a:t>seguridad</a:t>
            </a:r>
            <a:r>
              <a:rPr lang="en-US" sz="1600" spc="-10" dirty="0" smtClean="0">
                <a:cs typeface="Source Sans Pro"/>
              </a:rPr>
              <a:t> de la </a:t>
            </a:r>
            <a:r>
              <a:rPr lang="en-US" sz="1600" spc="-10" dirty="0" err="1" smtClean="0">
                <a:cs typeface="Source Sans Pro"/>
              </a:rPr>
              <a:t>información</a:t>
            </a:r>
            <a:r>
              <a:rPr lang="en-US" sz="1600" spc="-10" dirty="0" smtClean="0">
                <a:cs typeface="Source Sans Pro"/>
              </a:rPr>
              <a:t> </a:t>
            </a:r>
            <a:r>
              <a:rPr lang="en-US" sz="1600" spc="-10" dirty="0" err="1" smtClean="0">
                <a:cs typeface="Source Sans Pro"/>
              </a:rPr>
              <a:t>durante</a:t>
            </a:r>
            <a:r>
              <a:rPr lang="en-US" sz="1600" spc="-10" dirty="0" smtClean="0">
                <a:cs typeface="Source Sans Pro"/>
              </a:rPr>
              <a:t> </a:t>
            </a:r>
            <a:r>
              <a:rPr lang="en-US" sz="1600" spc="-10" dirty="0" err="1" smtClean="0">
                <a:cs typeface="Source Sans Pro"/>
              </a:rPr>
              <a:t>una</a:t>
            </a:r>
            <a:r>
              <a:rPr lang="en-US" sz="1600" spc="-10" dirty="0" smtClean="0">
                <a:cs typeface="Source Sans Pro"/>
              </a:rPr>
              <a:t> </a:t>
            </a:r>
            <a:r>
              <a:rPr lang="en-US" sz="1600" spc="-10" dirty="0" err="1" smtClean="0">
                <a:cs typeface="Source Sans Pro"/>
              </a:rPr>
              <a:t>situación</a:t>
            </a:r>
            <a:r>
              <a:rPr lang="en-US" sz="1600" spc="-10" dirty="0" smtClean="0">
                <a:cs typeface="Source Sans Pro"/>
              </a:rPr>
              <a:t> </a:t>
            </a:r>
            <a:r>
              <a:rPr lang="en-US" sz="1600" spc="-10" dirty="0" err="1" smtClean="0">
                <a:cs typeface="Source Sans Pro"/>
              </a:rPr>
              <a:t>desfavorable</a:t>
            </a:r>
            <a:r>
              <a:rPr lang="en-US" sz="1600" spc="-10" dirty="0" smtClean="0">
                <a:cs typeface="Source Sans Pro"/>
              </a:rPr>
              <a:t>.</a:t>
            </a:r>
            <a:endParaRPr lang="en-US" sz="1600" spc="-10" dirty="0">
              <a:cs typeface="Source Sans Pro"/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GESTIÓN DE LA VULNERABILIDAD TÉCNICA</a:t>
            </a:r>
          </a:p>
        </p:txBody>
      </p:sp>
    </p:spTree>
    <p:extLst>
      <p:ext uri="{BB962C8B-B14F-4D97-AF65-F5344CB8AC3E}">
        <p14:creationId xmlns:p14="http://schemas.microsoft.com/office/powerpoint/2010/main" val="3111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14773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CONTINUIDAD DE LA SEGURIDAD DE LA INFORMACIÓN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err="1">
                <a:cs typeface="Source Sans Pro"/>
              </a:rPr>
              <a:t>Identificación</a:t>
            </a:r>
            <a:r>
              <a:rPr lang="en-US" sz="1600" b="1" spc="-10" dirty="0">
                <a:cs typeface="Source Sans Pro"/>
              </a:rPr>
              <a:t> del </a:t>
            </a:r>
            <a:r>
              <a:rPr lang="en-US" sz="1600" b="1" spc="-10" dirty="0" err="1">
                <a:cs typeface="Source Sans Pro"/>
              </a:rPr>
              <a:t>costo</a:t>
            </a:r>
            <a:r>
              <a:rPr lang="en-US" sz="1600" b="1" spc="-10" dirty="0">
                <a:cs typeface="Source Sans Pro"/>
              </a:rPr>
              <a:t> de un </a:t>
            </a:r>
            <a:r>
              <a:rPr lang="en-US" sz="1600" b="1" spc="-10" dirty="0" err="1">
                <a:cs typeface="Source Sans Pro"/>
              </a:rPr>
              <a:t>desastre</a:t>
            </a:r>
            <a:r>
              <a:rPr lang="en-US" sz="1600" b="1" spc="-10" dirty="0">
                <a:cs typeface="Source Sans Pro"/>
              </a:rPr>
              <a:t> </a:t>
            </a: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Las </a:t>
            </a:r>
            <a:r>
              <a:rPr lang="en-US" sz="1600" spc="-10" dirty="0" err="1">
                <a:cs typeface="Source Sans Pro"/>
              </a:rPr>
              <a:t>contingencias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adversas</a:t>
            </a:r>
            <a:r>
              <a:rPr lang="en-US" sz="1600" spc="-10" dirty="0">
                <a:cs typeface="Source Sans Pro"/>
              </a:rPr>
              <a:t> o </a:t>
            </a:r>
            <a:r>
              <a:rPr lang="en-US" sz="1600" spc="-10" dirty="0" err="1">
                <a:cs typeface="Source Sans Pro"/>
              </a:rPr>
              <a:t>desastres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pueden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producir</a:t>
            </a:r>
            <a:r>
              <a:rPr lang="en-US" sz="1600" spc="-10" dirty="0">
                <a:cs typeface="Source Sans Pro"/>
              </a:rPr>
              <a:t> un </a:t>
            </a:r>
            <a:r>
              <a:rPr lang="en-US" sz="1600" spc="-10" dirty="0" err="1">
                <a:cs typeface="Source Sans Pro"/>
              </a:rPr>
              <a:t>impacto</a:t>
            </a:r>
            <a:r>
              <a:rPr lang="en-US" sz="1600" spc="-10" dirty="0">
                <a:cs typeface="Source Sans Pro"/>
              </a:rPr>
              <a:t> que </a:t>
            </a:r>
            <a:r>
              <a:rPr lang="en-US" sz="1600" spc="-10" dirty="0" err="1">
                <a:cs typeface="Source Sans Pro"/>
              </a:rPr>
              <a:t>obstaculice</a:t>
            </a:r>
            <a:r>
              <a:rPr lang="en-US" sz="1600" spc="-10" dirty="0">
                <a:cs typeface="Source Sans Pro"/>
              </a:rPr>
              <a:t> a </a:t>
            </a:r>
            <a:r>
              <a:rPr lang="en-US" sz="1600" spc="-10" dirty="0" err="1">
                <a:cs typeface="Source Sans Pro"/>
              </a:rPr>
              <a:t>una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organización</a:t>
            </a:r>
            <a:r>
              <a:rPr lang="en-US" sz="1600" spc="-10" dirty="0">
                <a:cs typeface="Source Sans Pro"/>
              </a:rPr>
              <a:t>, </a:t>
            </a:r>
            <a:r>
              <a:rPr lang="en-US" sz="1600" spc="-10" dirty="0" err="1">
                <a:cs typeface="Source Sans Pro"/>
              </a:rPr>
              <a:t>si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ésta</a:t>
            </a:r>
            <a:r>
              <a:rPr lang="en-US" sz="1600" spc="-10" dirty="0">
                <a:cs typeface="Source Sans Pro"/>
              </a:rPr>
              <a:t> no </a:t>
            </a:r>
            <a:r>
              <a:rPr lang="en-US" sz="1600" spc="-10" dirty="0" err="1">
                <a:cs typeface="Source Sans Pro"/>
              </a:rPr>
              <a:t>recupera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rápidamente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sus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procesos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empresariales</a:t>
            </a:r>
            <a:r>
              <a:rPr lang="en-US" sz="1600" spc="-10" dirty="0">
                <a:cs typeface="Source Sans Pro"/>
              </a:rPr>
              <a:t>. </a:t>
            </a:r>
            <a:endParaRPr lang="en-US" sz="1600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smtClean="0">
                <a:cs typeface="Source Sans Pro"/>
              </a:rPr>
              <a:t>El </a:t>
            </a:r>
            <a:r>
              <a:rPr lang="en-US" sz="1600" spc="-10" dirty="0" err="1">
                <a:cs typeface="Source Sans Pro"/>
              </a:rPr>
              <a:t>costo</a:t>
            </a:r>
            <a:r>
              <a:rPr lang="en-US" sz="1600" spc="-10" dirty="0">
                <a:cs typeface="Source Sans Pro"/>
              </a:rPr>
              <a:t> de un </a:t>
            </a:r>
            <a:r>
              <a:rPr lang="en-US" sz="1600" spc="-10" dirty="0" err="1">
                <a:cs typeface="Source Sans Pro"/>
              </a:rPr>
              <a:t>desastre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puede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cuantitativo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como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así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también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cualitativo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su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naturaleza</a:t>
            </a:r>
            <a:r>
              <a:rPr lang="en-US" sz="1600" spc="-10" dirty="0">
                <a:cs typeface="Source Sans Pro"/>
              </a:rPr>
              <a:t>. </a:t>
            </a:r>
            <a:endParaRPr lang="en-US" sz="1600" spc="-10" dirty="0" smtClean="0">
              <a:cs typeface="Source Sans Pro"/>
            </a:endParaRPr>
          </a:p>
          <a:p>
            <a:pPr marL="184150" indent="-184150">
              <a:buSzPct val="100000"/>
              <a:buFont typeface="Arial" charset="0"/>
              <a:buChar char="•"/>
              <a:tabLst>
                <a:tab pos="85725" algn="l"/>
              </a:tabLst>
            </a:pPr>
            <a:r>
              <a:rPr lang="en-US" sz="1600" spc="-10" dirty="0" err="1" smtClean="0">
                <a:cs typeface="Source Sans Pro"/>
              </a:rPr>
              <a:t>Es</a:t>
            </a:r>
            <a:r>
              <a:rPr lang="en-US" sz="1600" spc="-10" dirty="0" smtClean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difícil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calcular</a:t>
            </a:r>
            <a:r>
              <a:rPr lang="en-US" sz="1600" spc="-10" dirty="0">
                <a:cs typeface="Source Sans Pro"/>
              </a:rPr>
              <a:t> el </a:t>
            </a:r>
            <a:r>
              <a:rPr lang="en-US" sz="1600" spc="-10" dirty="0" err="1">
                <a:cs typeface="Source Sans Pro"/>
              </a:rPr>
              <a:t>costo</a:t>
            </a:r>
            <a:r>
              <a:rPr lang="en-US" sz="1600" spc="-10" dirty="0">
                <a:cs typeface="Source Sans Pro"/>
              </a:rPr>
              <a:t> de un </a:t>
            </a:r>
            <a:r>
              <a:rPr lang="en-US" sz="1600" spc="-10" dirty="0" err="1">
                <a:cs typeface="Source Sans Pro"/>
              </a:rPr>
              <a:t>potencial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desastre</a:t>
            </a:r>
            <a:r>
              <a:rPr lang="en-US" sz="1600" spc="-10" dirty="0">
                <a:cs typeface="Source Sans Pro"/>
              </a:rPr>
              <a:t>. 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GESTIÓN DE LA VULNERABILIDAD TÉCNICA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0059" y="2616401"/>
            <a:ext cx="3863883" cy="258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035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CONTINUIDAD DE LA SEGURIDAD DE LA INFORMACIÓN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A.17.1.3 </a:t>
            </a:r>
            <a:r>
              <a:rPr lang="en-US" sz="1600" b="1" spc="-10" dirty="0" err="1">
                <a:cs typeface="Source Sans Pro"/>
              </a:rPr>
              <a:t>Verificar</a:t>
            </a:r>
            <a:r>
              <a:rPr lang="en-US" sz="1600" b="1" spc="-10" dirty="0">
                <a:cs typeface="Source Sans Pro"/>
              </a:rPr>
              <a:t>, </a:t>
            </a:r>
            <a:r>
              <a:rPr lang="en-US" sz="1600" b="1" spc="-10" dirty="0" err="1">
                <a:cs typeface="Source Sans Pro"/>
              </a:rPr>
              <a:t>revisar</a:t>
            </a:r>
            <a:r>
              <a:rPr lang="en-US" sz="1600" b="1" spc="-10" dirty="0">
                <a:cs typeface="Source Sans Pro"/>
              </a:rPr>
              <a:t> y </a:t>
            </a:r>
            <a:r>
              <a:rPr lang="en-US" sz="1600" b="1" spc="-10" dirty="0" err="1">
                <a:cs typeface="Source Sans Pro"/>
              </a:rPr>
              <a:t>evaluar</a:t>
            </a:r>
            <a:r>
              <a:rPr lang="en-US" sz="1600" b="1" spc="-10" dirty="0">
                <a:cs typeface="Source Sans Pro"/>
              </a:rPr>
              <a:t> la </a:t>
            </a:r>
            <a:r>
              <a:rPr lang="en-US" sz="1600" b="1" spc="-10" dirty="0" err="1">
                <a:cs typeface="Source Sans Pro"/>
              </a:rPr>
              <a:t>continuidad</a:t>
            </a:r>
            <a:r>
              <a:rPr lang="en-US" sz="1600" b="1" spc="-10" dirty="0">
                <a:cs typeface="Source Sans Pro"/>
              </a:rPr>
              <a:t> de la </a:t>
            </a:r>
            <a:r>
              <a:rPr lang="en-US" sz="1600" b="1" spc="-10" dirty="0" err="1">
                <a:cs typeface="Source Sans Pro"/>
              </a:rPr>
              <a:t>seguridad</a:t>
            </a:r>
            <a:r>
              <a:rPr lang="en-US" sz="1600" b="1" spc="-10" dirty="0">
                <a:cs typeface="Source Sans Pro"/>
              </a:rPr>
              <a:t> de la </a:t>
            </a:r>
            <a:r>
              <a:rPr lang="en-US" sz="1600" b="1" spc="-10" dirty="0" err="1">
                <a:cs typeface="Source Sans Pro"/>
              </a:rPr>
              <a:t>información</a:t>
            </a:r>
            <a:endParaRPr lang="en-US" sz="1600" b="1" spc="-10" dirty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La </a:t>
            </a:r>
            <a:r>
              <a:rPr lang="en-US" sz="1600" spc="-10" dirty="0" err="1">
                <a:cs typeface="Source Sans Pro"/>
              </a:rPr>
              <a:t>organización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deberá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verificar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controles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continuidad</a:t>
            </a:r>
            <a:r>
              <a:rPr lang="en-US" sz="1600" spc="-10" dirty="0">
                <a:cs typeface="Source Sans Pro"/>
              </a:rPr>
              <a:t> de la </a:t>
            </a:r>
            <a:r>
              <a:rPr lang="en-US" sz="1600" spc="-10" dirty="0" err="1">
                <a:cs typeface="Source Sans Pro"/>
              </a:rPr>
              <a:t>seguridad</a:t>
            </a:r>
            <a:r>
              <a:rPr lang="en-US" sz="1600" spc="-10" dirty="0">
                <a:cs typeface="Source Sans Pro"/>
              </a:rPr>
              <a:t> de la </a:t>
            </a:r>
            <a:r>
              <a:rPr lang="en-US" sz="1600" spc="-10" dirty="0" err="1">
                <a:cs typeface="Source Sans Pro"/>
              </a:rPr>
              <a:t>información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establecidos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aplicados</a:t>
            </a:r>
            <a:r>
              <a:rPr lang="en-US" sz="1600" spc="-10" dirty="0">
                <a:cs typeface="Source Sans Pro"/>
              </a:rPr>
              <a:t> a </a:t>
            </a:r>
            <a:r>
              <a:rPr lang="en-US" sz="1600" spc="-10" dirty="0" err="1">
                <a:cs typeface="Source Sans Pro"/>
              </a:rPr>
              <a:t>intervalos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regulares</a:t>
            </a:r>
            <a:r>
              <a:rPr lang="en-US" sz="1600" spc="-10" dirty="0">
                <a:cs typeface="Source Sans Pro"/>
              </a:rPr>
              <a:t> con el fin de </a:t>
            </a:r>
            <a:r>
              <a:rPr lang="en-US" sz="1600" spc="-10" dirty="0" err="1">
                <a:cs typeface="Source Sans Pro"/>
              </a:rPr>
              <a:t>asegurar</a:t>
            </a:r>
            <a:r>
              <a:rPr lang="en-US" sz="1600" spc="-10" dirty="0">
                <a:cs typeface="Source Sans Pro"/>
              </a:rPr>
              <a:t> que son </a:t>
            </a:r>
            <a:r>
              <a:rPr lang="en-US" sz="1600" spc="-10" dirty="0" err="1">
                <a:cs typeface="Source Sans Pro"/>
              </a:rPr>
              <a:t>válidos</a:t>
            </a:r>
            <a:r>
              <a:rPr lang="en-US" sz="1600" spc="-10" dirty="0">
                <a:cs typeface="Source Sans Pro"/>
              </a:rPr>
              <a:t> y </a:t>
            </a:r>
            <a:r>
              <a:rPr lang="en-US" sz="1600" spc="-10" dirty="0" err="1">
                <a:cs typeface="Source Sans Pro"/>
              </a:rPr>
              <a:t>eficaces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en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situaciones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adversas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GESTIÓN DE LA VULNERABILIDAD TÉCNICA</a:t>
            </a:r>
          </a:p>
        </p:txBody>
      </p:sp>
    </p:spTree>
    <p:extLst>
      <p:ext uri="{BB962C8B-B14F-4D97-AF65-F5344CB8AC3E}">
        <p14:creationId xmlns:p14="http://schemas.microsoft.com/office/powerpoint/2010/main" val="1610410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1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GESTIÓN DE LA CONTINUIDAD DEL NEGOCIO</a:t>
            </a:r>
          </a:p>
        </p:txBody>
      </p:sp>
      <p:graphicFrame>
        <p:nvGraphicFramePr>
          <p:cNvPr id="12" name="Diagrama 11"/>
          <p:cNvGraphicFramePr/>
          <p:nvPr>
            <p:extLst>
              <p:ext uri="{D42A27DB-BD31-4B8C-83A1-F6EECF244321}">
                <p14:modId xmlns:p14="http://schemas.microsoft.com/office/powerpoint/2010/main" val="1804791468"/>
              </p:ext>
            </p:extLst>
          </p:nvPr>
        </p:nvGraphicFramePr>
        <p:xfrm>
          <a:off x="468313" y="1425304"/>
          <a:ext cx="8207375" cy="31234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object 7"/>
          <p:cNvSpPr txBox="1"/>
          <p:nvPr/>
        </p:nvSpPr>
        <p:spPr>
          <a:xfrm>
            <a:off x="507698" y="954483"/>
            <a:ext cx="816799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REDUNDANCIAS</a:t>
            </a:r>
            <a:endParaRPr lang="en-US" sz="1600" b="1" spc="-10" dirty="0">
              <a:cs typeface="Source Sans Pro"/>
            </a:endParaRPr>
          </a:p>
        </p:txBody>
      </p:sp>
    </p:spTree>
    <p:extLst>
      <p:ext uri="{BB962C8B-B14F-4D97-AF65-F5344CB8AC3E}">
        <p14:creationId xmlns:p14="http://schemas.microsoft.com/office/powerpoint/2010/main" val="1671606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OBJETIVO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A.17.2 </a:t>
            </a:r>
            <a:r>
              <a:rPr lang="en-US" sz="1600" b="1" spc="-10" dirty="0" err="1">
                <a:cs typeface="Source Sans Pro"/>
              </a:rPr>
              <a:t>Redundancias</a:t>
            </a:r>
            <a:endParaRPr lang="en-US" sz="1600" b="1" spc="-10" dirty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err="1">
                <a:cs typeface="Source Sans Pro"/>
              </a:rPr>
              <a:t>Objetivo</a:t>
            </a:r>
            <a:r>
              <a:rPr lang="en-US" sz="1600" b="1" spc="-10" dirty="0">
                <a:cs typeface="Source Sans Pro"/>
              </a:rPr>
              <a:t>: </a:t>
            </a:r>
            <a:r>
              <a:rPr lang="en-US" sz="1600" spc="-10" dirty="0" err="1">
                <a:cs typeface="Source Sans Pro"/>
              </a:rPr>
              <a:t>Garantizar</a:t>
            </a:r>
            <a:r>
              <a:rPr lang="en-US" sz="1600" spc="-10" dirty="0">
                <a:cs typeface="Source Sans Pro"/>
              </a:rPr>
              <a:t> la </a:t>
            </a:r>
            <a:r>
              <a:rPr lang="en-US" sz="1600" spc="-10" dirty="0" err="1">
                <a:cs typeface="Source Sans Pro"/>
              </a:rPr>
              <a:t>disponibilidad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instalaciones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procesamiento</a:t>
            </a:r>
            <a:r>
              <a:rPr lang="en-US" sz="1600" spc="-10" dirty="0">
                <a:cs typeface="Source Sans Pro"/>
              </a:rPr>
              <a:t> de la </a:t>
            </a:r>
            <a:r>
              <a:rPr lang="en-US" sz="1600" spc="-10" dirty="0" err="1">
                <a:cs typeface="Source Sans Pro"/>
              </a:rPr>
              <a:t>información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GESTIÓN DE LA VULNERABILIDAD TÉCNICA</a:t>
            </a:r>
          </a:p>
        </p:txBody>
      </p:sp>
      <p:pic>
        <p:nvPicPr>
          <p:cNvPr id="9" name="Picture 2" descr="Resultado de imagen para redundancias sistema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30" b="7019"/>
          <a:stretch/>
        </p:blipFill>
        <p:spPr bwMode="auto">
          <a:xfrm>
            <a:off x="3045275" y="1852123"/>
            <a:ext cx="3053451" cy="3263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8910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507698" y="954483"/>
            <a:ext cx="8167990" cy="984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 smtClean="0">
                <a:cs typeface="Source Sans Pro"/>
              </a:rPr>
              <a:t>REDUNDANCIAS</a:t>
            </a:r>
          </a:p>
          <a:p>
            <a:pPr>
              <a:buSzPct val="100000"/>
              <a:tabLst>
                <a:tab pos="85725" algn="l"/>
              </a:tabLst>
            </a:pPr>
            <a:r>
              <a:rPr lang="en-US" sz="1600" b="1" spc="-10" dirty="0">
                <a:cs typeface="Source Sans Pro"/>
              </a:rPr>
              <a:t>A.17.2.1 </a:t>
            </a:r>
            <a:r>
              <a:rPr lang="en-US" sz="1600" b="1" spc="-10" dirty="0" err="1">
                <a:cs typeface="Source Sans Pro"/>
              </a:rPr>
              <a:t>Disponibilidad</a:t>
            </a:r>
            <a:r>
              <a:rPr lang="en-US" sz="1600" b="1" spc="-10" dirty="0">
                <a:cs typeface="Source Sans Pro"/>
              </a:rPr>
              <a:t> de </a:t>
            </a:r>
            <a:r>
              <a:rPr lang="en-US" sz="1600" b="1" spc="-10" dirty="0" err="1">
                <a:cs typeface="Source Sans Pro"/>
              </a:rPr>
              <a:t>instalaciones</a:t>
            </a:r>
            <a:r>
              <a:rPr lang="en-US" sz="1600" b="1" spc="-10" dirty="0">
                <a:cs typeface="Source Sans Pro"/>
              </a:rPr>
              <a:t> de </a:t>
            </a:r>
            <a:r>
              <a:rPr lang="en-US" sz="1600" b="1" spc="-10" dirty="0" err="1">
                <a:cs typeface="Source Sans Pro"/>
              </a:rPr>
              <a:t>procesamiento</a:t>
            </a:r>
            <a:r>
              <a:rPr lang="en-US" sz="1600" b="1" spc="-10" dirty="0">
                <a:cs typeface="Source Sans Pro"/>
              </a:rPr>
              <a:t> de la </a:t>
            </a:r>
            <a:r>
              <a:rPr lang="en-US" sz="1600" b="1" spc="-10" dirty="0" err="1">
                <a:cs typeface="Source Sans Pro"/>
              </a:rPr>
              <a:t>información</a:t>
            </a:r>
            <a:endParaRPr lang="en-US" sz="1600" b="1" spc="-10" dirty="0">
              <a:cs typeface="Source Sans Pro"/>
            </a:endParaRPr>
          </a:p>
          <a:p>
            <a:pPr>
              <a:buSzPct val="100000"/>
              <a:tabLst>
                <a:tab pos="85725" algn="l"/>
              </a:tabLst>
            </a:pPr>
            <a:r>
              <a:rPr lang="en-US" sz="1600" spc="-10" dirty="0">
                <a:cs typeface="Source Sans Pro"/>
              </a:rPr>
              <a:t>Las </a:t>
            </a:r>
            <a:r>
              <a:rPr lang="en-US" sz="1600" spc="-10" dirty="0" err="1">
                <a:cs typeface="Source Sans Pro"/>
              </a:rPr>
              <a:t>instalaciones</a:t>
            </a:r>
            <a:r>
              <a:rPr lang="en-US" sz="1600" spc="-10" dirty="0">
                <a:cs typeface="Source Sans Pro"/>
              </a:rPr>
              <a:t> para </a:t>
            </a:r>
            <a:r>
              <a:rPr lang="en-US" sz="1600" spc="-10" dirty="0" err="1">
                <a:cs typeface="Source Sans Pro"/>
              </a:rPr>
              <a:t>procesamiento</a:t>
            </a:r>
            <a:r>
              <a:rPr lang="en-US" sz="1600" spc="-10" dirty="0">
                <a:cs typeface="Source Sans Pro"/>
              </a:rPr>
              <a:t> de la </a:t>
            </a:r>
            <a:r>
              <a:rPr lang="en-US" sz="1600" spc="-10" dirty="0" err="1">
                <a:cs typeface="Source Sans Pro"/>
              </a:rPr>
              <a:t>información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deberán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llevarse</a:t>
            </a:r>
            <a:r>
              <a:rPr lang="en-US" sz="1600" spc="-10" dirty="0">
                <a:cs typeface="Source Sans Pro"/>
              </a:rPr>
              <a:t> a </a:t>
            </a:r>
            <a:r>
              <a:rPr lang="en-US" sz="1600" spc="-10" dirty="0" err="1">
                <a:cs typeface="Source Sans Pro"/>
              </a:rPr>
              <a:t>cabo</a:t>
            </a:r>
            <a:r>
              <a:rPr lang="en-US" sz="1600" spc="-10" dirty="0">
                <a:cs typeface="Source Sans Pro"/>
              </a:rPr>
              <a:t> con la </a:t>
            </a:r>
            <a:r>
              <a:rPr lang="en-US" sz="1600" spc="-10" dirty="0" err="1">
                <a:cs typeface="Source Sans Pro"/>
              </a:rPr>
              <a:t>redundancia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suficiente</a:t>
            </a:r>
            <a:r>
              <a:rPr lang="en-US" sz="1600" spc="-10" dirty="0">
                <a:cs typeface="Source Sans Pro"/>
              </a:rPr>
              <a:t> para </a:t>
            </a:r>
            <a:r>
              <a:rPr lang="en-US" sz="1600" spc="-10" dirty="0" err="1">
                <a:cs typeface="Source Sans Pro"/>
              </a:rPr>
              <a:t>satisfacer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los</a:t>
            </a:r>
            <a:r>
              <a:rPr lang="en-US" sz="1600" spc="-10" dirty="0">
                <a:cs typeface="Source Sans Pro"/>
              </a:rPr>
              <a:t> </a:t>
            </a:r>
            <a:r>
              <a:rPr lang="en-US" sz="1600" spc="-10" dirty="0" err="1">
                <a:cs typeface="Source Sans Pro"/>
              </a:rPr>
              <a:t>requisitos</a:t>
            </a:r>
            <a:r>
              <a:rPr lang="en-US" sz="1600" spc="-10" dirty="0">
                <a:cs typeface="Source Sans Pro"/>
              </a:rPr>
              <a:t> de </a:t>
            </a:r>
            <a:r>
              <a:rPr lang="en-US" sz="1600" spc="-10" dirty="0" err="1">
                <a:cs typeface="Source Sans Pro"/>
              </a:rPr>
              <a:t>disponibilidad</a:t>
            </a:r>
            <a:r>
              <a:rPr lang="en-US" sz="1600" spc="-10" dirty="0">
                <a:cs typeface="Source Sans Pro"/>
              </a:rPr>
              <a:t>.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GESTIÓN DE LA VULNERABILIDAD TÉCNICA</a:t>
            </a:r>
          </a:p>
        </p:txBody>
      </p:sp>
    </p:spTree>
    <p:extLst>
      <p:ext uri="{BB962C8B-B14F-4D97-AF65-F5344CB8AC3E}">
        <p14:creationId xmlns:p14="http://schemas.microsoft.com/office/powerpoint/2010/main" val="2059950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734671" y="949325"/>
            <a:ext cx="6941016" cy="424814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10"/>
          <p:cNvSpPr/>
          <p:nvPr/>
        </p:nvSpPr>
        <p:spPr>
          <a:xfrm>
            <a:off x="1908269" y="1055146"/>
            <a:ext cx="664721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31342"/>
            <a:r>
              <a:rPr lang="es-PE" sz="1600" b="1" dirty="0" smtClean="0">
                <a:solidFill>
                  <a:srgbClr val="5F9ADA"/>
                </a:solidFill>
              </a:rPr>
              <a:t>TAREA GRUPAL</a:t>
            </a:r>
          </a:p>
          <a:p>
            <a:pPr defTabSz="731342"/>
            <a:endParaRPr lang="es-PE" sz="1600" dirty="0">
              <a:solidFill>
                <a:srgbClr val="558ED5"/>
              </a:solidFill>
            </a:endParaRPr>
          </a:p>
          <a:p>
            <a:pPr defTabSz="731342"/>
            <a:r>
              <a:rPr lang="es-PE" sz="1600" b="1" dirty="0" smtClean="0">
                <a:solidFill>
                  <a:srgbClr val="000000"/>
                </a:solidFill>
              </a:rPr>
              <a:t>Objetivo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Elaborar un Plan de Recuperación de TI ante Desastres.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GESTIÓN DE LA CONTINUIDAD DEL NEGOCIO (TAREA)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43335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734671" y="949325"/>
            <a:ext cx="6941016" cy="424814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10"/>
          <p:cNvSpPr/>
          <p:nvPr/>
        </p:nvSpPr>
        <p:spPr>
          <a:xfrm>
            <a:off x="1908269" y="1055146"/>
            <a:ext cx="6647217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31342"/>
            <a:r>
              <a:rPr lang="es-PE" sz="1600" b="1" dirty="0">
                <a:solidFill>
                  <a:srgbClr val="5F9ADA"/>
                </a:solidFill>
              </a:rPr>
              <a:t>TAREA GRUPAL</a:t>
            </a:r>
          </a:p>
          <a:p>
            <a:pPr defTabSz="731342"/>
            <a:endParaRPr lang="es-PE" sz="1600" dirty="0">
              <a:solidFill>
                <a:srgbClr val="558ED5"/>
              </a:solidFill>
            </a:endParaRPr>
          </a:p>
          <a:p>
            <a:pPr defTabSz="731342"/>
            <a:r>
              <a:rPr lang="es-PE" sz="1600" b="1" dirty="0">
                <a:solidFill>
                  <a:srgbClr val="000000"/>
                </a:solidFill>
              </a:rPr>
              <a:t>En grupos de 5 participantes trabajar lo siguiente: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Los escenarios son: Caída del servidor de Aplicaciones, Caída del servidor de correo, caída del servicio eléctrico, incendio.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Identificar responsables de activar y ejecutar el plan.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Elaborar guías/instructivos.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Establecer tiempos medios de respuesta por cada escenario.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Identificar proveedores claves y registrar su datos de contacto.</a:t>
            </a:r>
          </a:p>
          <a:p>
            <a:pPr marL="185738" indent="-185738" defTabSz="731342">
              <a:buFont typeface="Arial" charset="0"/>
              <a:buChar char="•"/>
            </a:pPr>
            <a:endParaRPr lang="es-PE" sz="1600" dirty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GESTIÓN DE LA CONTINUIDAD DEL NEGOCIO (TAREA)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22240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734671" y="949325"/>
            <a:ext cx="6941016" cy="424814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10"/>
          <p:cNvSpPr/>
          <p:nvPr/>
        </p:nvSpPr>
        <p:spPr>
          <a:xfrm>
            <a:off x="1908269" y="1055146"/>
            <a:ext cx="664721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31342"/>
            <a:r>
              <a:rPr lang="es-PE" sz="1600" b="1" dirty="0">
                <a:solidFill>
                  <a:srgbClr val="5F9ADA"/>
                </a:solidFill>
              </a:rPr>
              <a:t>TAREA GRUPAL</a:t>
            </a:r>
          </a:p>
          <a:p>
            <a:pPr defTabSz="731342"/>
            <a:endParaRPr lang="es-PE" sz="1600" dirty="0">
              <a:solidFill>
                <a:srgbClr val="558ED5"/>
              </a:solidFill>
            </a:endParaRPr>
          </a:p>
          <a:p>
            <a:pPr defTabSz="731342"/>
            <a:r>
              <a:rPr lang="es-PE" sz="1600" b="1" dirty="0">
                <a:solidFill>
                  <a:srgbClr val="000000"/>
                </a:solidFill>
              </a:rPr>
              <a:t>En grupos de 5 participantes trabajar lo siguiente: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En ésta entrega deberá trabajar solo los 3 primeros puntos señalados.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GESTIÓN DE LA CONTINUIDAD DEL NEGOCIO (TAREA)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373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734671" y="949325"/>
            <a:ext cx="6941016" cy="4248149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5" name="Rectángulo 10"/>
          <p:cNvSpPr/>
          <p:nvPr/>
        </p:nvSpPr>
        <p:spPr>
          <a:xfrm>
            <a:off x="1908269" y="1055146"/>
            <a:ext cx="664721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731342"/>
            <a:r>
              <a:rPr lang="es-PE" sz="1600" b="1" dirty="0">
                <a:solidFill>
                  <a:srgbClr val="5F9ADA"/>
                </a:solidFill>
              </a:rPr>
              <a:t>TAREA GRUPAL</a:t>
            </a:r>
          </a:p>
          <a:p>
            <a:pPr defTabSz="731342"/>
            <a:endParaRPr lang="es-PE" sz="1600" dirty="0">
              <a:solidFill>
                <a:srgbClr val="558ED5"/>
              </a:solidFill>
            </a:endParaRPr>
          </a:p>
          <a:p>
            <a:pPr defTabSz="731342"/>
            <a:r>
              <a:rPr lang="es-PE" sz="1600" b="1" dirty="0">
                <a:solidFill>
                  <a:srgbClr val="000000"/>
                </a:solidFill>
              </a:rPr>
              <a:t>Instrucciones para la entrega de la tarea.</a:t>
            </a:r>
          </a:p>
          <a:p>
            <a:pPr marL="185738" indent="-185738" defTabSz="731342">
              <a:buFont typeface="Arial" charset="0"/>
              <a:buChar char="•"/>
            </a:pPr>
            <a:r>
              <a:rPr lang="es-PE" sz="1600" dirty="0">
                <a:solidFill>
                  <a:srgbClr val="000000"/>
                </a:solidFill>
              </a:rPr>
              <a:t>El envío del avance se realizará luego de 5 días de dictada la presente sesión.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24" y="331345"/>
            <a:ext cx="6032614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GESTIÓN DE LA CONTINUIDAD DEL NEGOCIO (TAREA)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6977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1F8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Rectangle 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 smtClean="0">
                <a:solidFill>
                  <a:schemeClr val="bg1"/>
                </a:solidFill>
                <a:latin typeface="Calibri"/>
                <a:cs typeface="Calibri"/>
              </a:rPr>
              <a:t>/ </a:t>
            </a:r>
            <a:r>
              <a:rPr lang="es-PE" sz="2800" b="1" dirty="0" smtClean="0">
                <a:solidFill>
                  <a:schemeClr val="bg1"/>
                </a:solidFill>
                <a:cs typeface="Calibri"/>
              </a:rPr>
              <a:t>RESUMEN</a:t>
            </a:r>
            <a:endParaRPr lang="es-PE" sz="2800" b="1" dirty="0">
              <a:solidFill>
                <a:schemeClr val="bg1"/>
              </a:solidFill>
              <a:cs typeface="Calibri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277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5"/>
          <p:cNvSpPr/>
          <p:nvPr/>
        </p:nvSpPr>
        <p:spPr>
          <a:xfrm>
            <a:off x="512024" y="331345"/>
            <a:ext cx="421398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RESUMEN</a:t>
            </a:r>
          </a:p>
        </p:txBody>
      </p:sp>
      <p:sp>
        <p:nvSpPr>
          <p:cNvPr id="17" name="CuadroTexto 16"/>
          <p:cNvSpPr txBox="1"/>
          <p:nvPr/>
        </p:nvSpPr>
        <p:spPr>
          <a:xfrm>
            <a:off x="3480357" y="959599"/>
            <a:ext cx="2183287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600" dirty="0"/>
              <a:t>Continuidad de </a:t>
            </a:r>
            <a:r>
              <a:rPr lang="es-PE" sz="1600" dirty="0" smtClean="0"/>
              <a:t>Negocio</a:t>
            </a:r>
            <a:endParaRPr lang="es-PE" sz="1600" dirty="0"/>
          </a:p>
        </p:txBody>
      </p:sp>
      <p:pic>
        <p:nvPicPr>
          <p:cNvPr id="7" name="Picture 6" descr="Resultado de imagen para continuidad de negoci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" y="1611741"/>
            <a:ext cx="7810500" cy="315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9551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/>
          <p:cNvSpPr txBox="1"/>
          <p:nvPr/>
        </p:nvSpPr>
        <p:spPr>
          <a:xfrm>
            <a:off x="5804034" y="-163629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1" name="Rectangle 5"/>
          <p:cNvSpPr/>
          <p:nvPr/>
        </p:nvSpPr>
        <p:spPr>
          <a:xfrm>
            <a:off x="512024" y="331345"/>
            <a:ext cx="4213980" cy="2000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1300" dirty="0" smtClean="0">
                <a:solidFill>
                  <a:srgbClr val="438AD7"/>
                </a:solidFill>
              </a:rPr>
              <a:t>/ </a:t>
            </a:r>
            <a:r>
              <a:rPr lang="en-US" sz="1300" dirty="0">
                <a:solidFill>
                  <a:srgbClr val="438AD7"/>
                </a:solidFill>
              </a:rPr>
              <a:t>RESUMEN</a:t>
            </a:r>
          </a:p>
        </p:txBody>
      </p:sp>
      <p:sp>
        <p:nvSpPr>
          <p:cNvPr id="2" name="CuadroTexto 1"/>
          <p:cNvSpPr txBox="1"/>
          <p:nvPr/>
        </p:nvSpPr>
        <p:spPr>
          <a:xfrm>
            <a:off x="5866544" y="3513762"/>
            <a:ext cx="914400" cy="914400"/>
          </a:xfrm>
          <a:prstGeom prst="rect">
            <a:avLst/>
          </a:prstGeom>
        </p:spPr>
        <p:txBody>
          <a:bodyPr wrap="none" lIns="91425" tIns="91425" rIns="91425" bIns="91425" rtlCol="0" anchor="t" anchorCtr="0">
            <a:noAutofit/>
          </a:bodyPr>
          <a:lstStyle/>
          <a:p>
            <a:pPr marL="174625" indent="-174625">
              <a:spcBef>
                <a:spcPts val="0"/>
              </a:spcBef>
              <a:buSzPct val="100000"/>
            </a:pPr>
            <a:endParaRPr lang="es-ES_tradnl" sz="1500" dirty="0" smtClean="0">
              <a:latin typeface="Calibri"/>
              <a:cs typeface="Calibri"/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75580" y="959599"/>
            <a:ext cx="1792840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s-PE" sz="1600"/>
              <a:t>Redundancia</a:t>
            </a:r>
          </a:p>
        </p:txBody>
      </p:sp>
      <p:pic>
        <p:nvPicPr>
          <p:cNvPr id="13" name="Picture 2" descr="Resultado de imagen para redundancias sistema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81" b="7018"/>
          <a:stretch/>
        </p:blipFill>
        <p:spPr bwMode="auto">
          <a:xfrm>
            <a:off x="2757720" y="1602769"/>
            <a:ext cx="3628561" cy="3594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8430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DESIGN_ID_OFFICE THEME" val="Yge96mEv"/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lIns="91425" tIns="91425" rIns="91425" bIns="91425" anchor="t" anchorCtr="0">
        <a:noAutofit/>
      </a:bodyPr>
      <a:lstStyle>
        <a:defPPr marL="174625" indent="-174625">
          <a:spcBef>
            <a:spcPts val="0"/>
          </a:spcBef>
          <a:buSzPct val="100000"/>
          <a:defRPr sz="1500" dirty="0" smtClean="0">
            <a:latin typeface="Calibri"/>
            <a:cs typeface="Calibri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6253</TotalTime>
  <Words>1649</Words>
  <Application>Microsoft Office PowerPoint</Application>
  <PresentationFormat>Presentación en pantalla (16:10)</PresentationFormat>
  <Paragraphs>202</Paragraphs>
  <Slides>28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3" baseType="lpstr">
      <vt:lpstr>Arial</vt:lpstr>
      <vt:lpstr>Calibri</vt:lpstr>
      <vt:lpstr>Source Sans Pro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ISIL</dc:creator>
  <cp:keywords>SCG</cp:keywords>
  <cp:lastModifiedBy>Christian Santamaria Saldaña</cp:lastModifiedBy>
  <cp:revision>529</cp:revision>
  <cp:lastPrinted>2018-01-16T21:42:59Z</cp:lastPrinted>
  <dcterms:created xsi:type="dcterms:W3CDTF">2016-10-06T14:52:02Z</dcterms:created>
  <dcterms:modified xsi:type="dcterms:W3CDTF">2020-10-21T21:45:50Z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