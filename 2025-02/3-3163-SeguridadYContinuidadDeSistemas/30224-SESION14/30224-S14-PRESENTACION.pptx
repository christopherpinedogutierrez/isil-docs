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72" r:id="rId2"/>
    <p:sldId id="306" r:id="rId3"/>
    <p:sldId id="432" r:id="rId4"/>
    <p:sldId id="513" r:id="rId5"/>
    <p:sldId id="315" r:id="rId6"/>
    <p:sldId id="400" r:id="rId7"/>
    <p:sldId id="623" r:id="rId8"/>
    <p:sldId id="625" r:id="rId9"/>
    <p:sldId id="626" r:id="rId10"/>
    <p:sldId id="627" r:id="rId11"/>
    <p:sldId id="628" r:id="rId12"/>
    <p:sldId id="629" r:id="rId13"/>
    <p:sldId id="630" r:id="rId14"/>
    <p:sldId id="631" r:id="rId15"/>
    <p:sldId id="632" r:id="rId16"/>
    <p:sldId id="633" r:id="rId17"/>
    <p:sldId id="634" r:id="rId18"/>
    <p:sldId id="635" r:id="rId19"/>
    <p:sldId id="636" r:id="rId20"/>
    <p:sldId id="637" r:id="rId21"/>
    <p:sldId id="638" r:id="rId22"/>
    <p:sldId id="639" r:id="rId23"/>
    <p:sldId id="640" r:id="rId24"/>
    <p:sldId id="641" r:id="rId25"/>
    <p:sldId id="451" r:id="rId26"/>
    <p:sldId id="470" r:id="rId27"/>
    <p:sldId id="642" r:id="rId28"/>
  </p:sldIdLst>
  <p:sldSz cx="9144000" cy="5715000" type="screen16x10"/>
  <p:notesSz cx="6858000" cy="9144000"/>
  <p:custDataLst>
    <p:tags r:id="rId3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43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51" userDrawn="1">
          <p15:clr>
            <a:srgbClr val="A4A3A4"/>
          </p15:clr>
        </p15:guide>
        <p15:guide id="20" pos="4785" userDrawn="1">
          <p15:clr>
            <a:srgbClr val="A4A3A4"/>
          </p15:clr>
        </p15:guide>
        <p15:guide id="23" orient="horz" pos="1006" userDrawn="1">
          <p15:clr>
            <a:srgbClr val="A4A3A4"/>
          </p15:clr>
        </p15:guide>
        <p15:guide id="24" orient="horz" pos="1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29F"/>
    <a:srgbClr val="0197A7"/>
    <a:srgbClr val="DFA635"/>
    <a:srgbClr val="E5584B"/>
    <a:srgbClr val="99C652"/>
    <a:srgbClr val="2EB1B5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0" autoAdjust="0"/>
    <p:restoredTop sz="75061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488" y="90"/>
      </p:cViewPr>
      <p:guideLst>
        <p:guide pos="5443"/>
        <p:guide orient="horz" pos="3274"/>
        <p:guide pos="295"/>
        <p:guide orient="horz" pos="598"/>
        <p:guide orient="horz" pos="258"/>
        <p:guide pos="2880"/>
        <p:guide pos="3039"/>
        <p:guide pos="2721"/>
        <p:guide pos="1451"/>
        <p:guide pos="4785"/>
        <p:guide orient="horz" pos="1006"/>
        <p:guide orient="horz" pos="18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800" dirty="0" smtClean="0"/>
            <a:t>Objetivo</a:t>
          </a:r>
          <a:endParaRPr lang="es-PE" sz="18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4B92C84F-6216-A042-BDFE-9D3062BCB443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800" dirty="0" smtClean="0"/>
            <a:t>Creación</a:t>
          </a:r>
          <a:endParaRPr lang="es-PE" sz="1800" dirty="0"/>
        </a:p>
      </dgm:t>
    </dgm:pt>
    <dgm:pt modelId="{704A9910-3186-934A-BA36-73383D03733B}" type="parTrans" cxnId="{B7CBEE90-4F3C-C047-80D0-F8F3FA732EC4}">
      <dgm:prSet/>
      <dgm:spPr/>
      <dgm:t>
        <a:bodyPr/>
        <a:lstStyle/>
        <a:p>
          <a:endParaRPr lang="es-ES_tradnl"/>
        </a:p>
      </dgm:t>
    </dgm:pt>
    <dgm:pt modelId="{59155F09-48CB-AD46-8FAB-E732D9E3FC8B}" type="sibTrans" cxnId="{B7CBEE90-4F3C-C047-80D0-F8F3FA732EC4}">
      <dgm:prSet/>
      <dgm:spPr/>
      <dgm:t>
        <a:bodyPr/>
        <a:lstStyle/>
        <a:p>
          <a:endParaRPr lang="es-ES_tradnl"/>
        </a:p>
      </dgm:t>
    </dgm:pt>
    <dgm:pt modelId="{AFF64B0E-17DA-6E41-88CC-8798FB736EE6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800" dirty="0" smtClean="0"/>
            <a:t>Pruebas</a:t>
          </a:r>
          <a:endParaRPr lang="es-PE" sz="1800" dirty="0"/>
        </a:p>
      </dgm:t>
    </dgm:pt>
    <dgm:pt modelId="{A3D418B3-837F-CE47-B823-FBE1830FCD71}" type="parTrans" cxnId="{1F5A1BA4-0B0A-8D4F-A7B0-8628FEC326AE}">
      <dgm:prSet/>
      <dgm:spPr/>
      <dgm:t>
        <a:bodyPr/>
        <a:lstStyle/>
        <a:p>
          <a:endParaRPr lang="es-ES_tradnl"/>
        </a:p>
      </dgm:t>
    </dgm:pt>
    <dgm:pt modelId="{76738824-9929-FB44-8BA5-8F52F8CF9E38}" type="sibTrans" cxnId="{1F5A1BA4-0B0A-8D4F-A7B0-8628FEC326AE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3247F02F-36FC-B440-A4E5-1DD0BBA910E8}" type="pres">
      <dgm:prSet presAssocID="{4B92C84F-6216-A042-BDFE-9D3062BCB443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56FB9681-3961-9A43-9AC6-BC3433029F7C}" type="pres">
      <dgm:prSet presAssocID="{59155F09-48CB-AD46-8FAB-E732D9E3FC8B}" presName="spacer" presStyleCnt="0"/>
      <dgm:spPr/>
    </dgm:pt>
    <dgm:pt modelId="{87AA67CC-BCD7-6543-9871-3D17AB659904}" type="pres">
      <dgm:prSet presAssocID="{AFF64B0E-17DA-6E41-88CC-8798FB736EE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62C9C3E1-3387-D74A-B8DE-9736633FCA08}" type="presOf" srcId="{6EC1C1F4-B068-49DD-8085-E83DE5FE91C0}" destId="{1C1067FD-E418-4B60-B9E3-ACF1A4CBDC81}" srcOrd="0" destOrd="0" presId="urn:microsoft.com/office/officeart/2005/8/layout/vList2"/>
    <dgm:cxn modelId="{79D22199-E3E6-614E-9381-ECB74CCF7407}" type="presOf" srcId="{4B92C84F-6216-A042-BDFE-9D3062BCB443}" destId="{3247F02F-36FC-B440-A4E5-1DD0BBA910E8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B7CBEE90-4F3C-C047-80D0-F8F3FA732EC4}" srcId="{6EC1C1F4-B068-49DD-8085-E83DE5FE91C0}" destId="{4B92C84F-6216-A042-BDFE-9D3062BCB443}" srcOrd="1" destOrd="0" parTransId="{704A9910-3186-934A-BA36-73383D03733B}" sibTransId="{59155F09-48CB-AD46-8FAB-E732D9E3FC8B}"/>
    <dgm:cxn modelId="{F9084856-1F5E-D741-B4B4-404AED8ADFAA}" type="presOf" srcId="{AFF64B0E-17DA-6E41-88CC-8798FB736EE6}" destId="{87AA67CC-BCD7-6543-9871-3D17AB659904}" srcOrd="0" destOrd="0" presId="urn:microsoft.com/office/officeart/2005/8/layout/vList2"/>
    <dgm:cxn modelId="{CCD711C3-8CAB-F84A-BF3E-139BB5F62BC6}" type="presOf" srcId="{F8AC1D50-8DEC-42E2-996D-CF1010A8B2A4}" destId="{3777373B-7A8D-4433-8A8C-4992208C3102}" srcOrd="0" destOrd="0" presId="urn:microsoft.com/office/officeart/2005/8/layout/vList2"/>
    <dgm:cxn modelId="{1F5A1BA4-0B0A-8D4F-A7B0-8628FEC326AE}" srcId="{6EC1C1F4-B068-49DD-8085-E83DE5FE91C0}" destId="{AFF64B0E-17DA-6E41-88CC-8798FB736EE6}" srcOrd="2" destOrd="0" parTransId="{A3D418B3-837F-CE47-B823-FBE1830FCD71}" sibTransId="{76738824-9929-FB44-8BA5-8F52F8CF9E38}"/>
    <dgm:cxn modelId="{8D48F009-7018-D140-B705-7C00932B8A0F}" type="presParOf" srcId="{1C1067FD-E418-4B60-B9E3-ACF1A4CBDC81}" destId="{3777373B-7A8D-4433-8A8C-4992208C3102}" srcOrd="0" destOrd="0" presId="urn:microsoft.com/office/officeart/2005/8/layout/vList2"/>
    <dgm:cxn modelId="{BD40FAE8-3A92-6642-A1C7-AFA5866692F9}" type="presParOf" srcId="{1C1067FD-E418-4B60-B9E3-ACF1A4CBDC81}" destId="{77C821BE-E8B1-43B2-BC83-DA1F290CCBAD}" srcOrd="1" destOrd="0" presId="urn:microsoft.com/office/officeart/2005/8/layout/vList2"/>
    <dgm:cxn modelId="{C3AD79E6-98EE-E84C-BD4A-5A7B926D62AF}" type="presParOf" srcId="{1C1067FD-E418-4B60-B9E3-ACF1A4CBDC81}" destId="{3247F02F-36FC-B440-A4E5-1DD0BBA910E8}" srcOrd="2" destOrd="0" presId="urn:microsoft.com/office/officeart/2005/8/layout/vList2"/>
    <dgm:cxn modelId="{2176F53F-DA0D-2A40-A961-B1E5B57894B2}" type="presParOf" srcId="{1C1067FD-E418-4B60-B9E3-ACF1A4CBDC81}" destId="{56FB9681-3961-9A43-9AC6-BC3433029F7C}" srcOrd="3" destOrd="0" presId="urn:microsoft.com/office/officeart/2005/8/layout/vList2"/>
    <dgm:cxn modelId="{F0E53E53-5107-504E-95AD-2086A3A50F63}" type="presParOf" srcId="{1C1067FD-E418-4B60-B9E3-ACF1A4CBDC81}" destId="{87AA67CC-BCD7-6543-9871-3D17AB65990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0197A7"/>
        </a:solidFill>
      </dgm:spPr>
      <dgm:t>
        <a:bodyPr/>
        <a:lstStyle/>
        <a:p>
          <a:r>
            <a:rPr lang="es-PE" sz="1800" dirty="0" smtClean="0"/>
            <a:t>Tendencias</a:t>
          </a:r>
          <a:endParaRPr lang="es-PE" sz="18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1" custScaleY="53931" custLinFactNeighborY="-7598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7EF151B5-E2D5-C549-9F33-2EEBF16F6DCB}" type="presOf" srcId="{6EC1C1F4-B068-49DD-8085-E83DE5FE91C0}" destId="{1C1067FD-E418-4B60-B9E3-ACF1A4CBDC81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2A39971C-4154-174C-AA77-CFDC80888A5A}" type="presOf" srcId="{F8AC1D50-8DEC-42E2-996D-CF1010A8B2A4}" destId="{3777373B-7A8D-4433-8A8C-4992208C3102}" srcOrd="0" destOrd="0" presId="urn:microsoft.com/office/officeart/2005/8/layout/vList2"/>
    <dgm:cxn modelId="{D0CA0865-1880-434A-9136-301A0EEBF085}" type="presParOf" srcId="{1C1067FD-E418-4B60-B9E3-ACF1A4CBDC81}" destId="{3777373B-7A8D-4433-8A8C-4992208C310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15702"/>
          <a:ext cx="5709228" cy="86112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Objetivo</a:t>
          </a:r>
          <a:endParaRPr lang="es-PE" sz="1800" kern="1200" dirty="0"/>
        </a:p>
      </dsp:txBody>
      <dsp:txXfrm>
        <a:off x="42036" y="57738"/>
        <a:ext cx="5625156" cy="777048"/>
      </dsp:txXfrm>
    </dsp:sp>
    <dsp:sp modelId="{3247F02F-36FC-B440-A4E5-1DD0BBA910E8}">
      <dsp:nvSpPr>
        <dsp:cNvPr id="0" name=""/>
        <dsp:cNvSpPr/>
      </dsp:nvSpPr>
      <dsp:spPr>
        <a:xfrm>
          <a:off x="0" y="1009302"/>
          <a:ext cx="5709228" cy="86112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Creación</a:t>
          </a:r>
          <a:endParaRPr lang="es-PE" sz="1800" kern="1200" dirty="0"/>
        </a:p>
      </dsp:txBody>
      <dsp:txXfrm>
        <a:off x="42036" y="1051338"/>
        <a:ext cx="5625156" cy="777048"/>
      </dsp:txXfrm>
    </dsp:sp>
    <dsp:sp modelId="{87AA67CC-BCD7-6543-9871-3D17AB659904}">
      <dsp:nvSpPr>
        <dsp:cNvPr id="0" name=""/>
        <dsp:cNvSpPr/>
      </dsp:nvSpPr>
      <dsp:spPr>
        <a:xfrm>
          <a:off x="0" y="2002902"/>
          <a:ext cx="5709228" cy="861120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Pruebas</a:t>
          </a:r>
          <a:endParaRPr lang="es-PE" sz="1800" kern="1200" dirty="0"/>
        </a:p>
      </dsp:txBody>
      <dsp:txXfrm>
        <a:off x="42036" y="2044938"/>
        <a:ext cx="5625156" cy="777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1019293"/>
          <a:ext cx="5709228" cy="656232"/>
        </a:xfrm>
        <a:prstGeom prst="roundRect">
          <a:avLst/>
        </a:prstGeom>
        <a:solidFill>
          <a:srgbClr val="0197A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/>
            <a:t>Tendencias</a:t>
          </a:r>
          <a:endParaRPr lang="es-PE" sz="1800" kern="1200" dirty="0"/>
        </a:p>
      </dsp:txBody>
      <dsp:txXfrm>
        <a:off x="32035" y="1051328"/>
        <a:ext cx="5645158" cy="5921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base a las fases de la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continuidad de negocio, identificaremos los hitos para ejecución de pruebas.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 smtClean="0"/>
              <a:t>Identificaremos y</a:t>
            </a:r>
            <a:r>
              <a:rPr lang="es-ES" sz="1200" baseline="0" dirty="0" smtClean="0"/>
              <a:t> construiremos condiciones simuladas que permitan a</a:t>
            </a:r>
            <a:r>
              <a:rPr lang="es-ES" sz="1200" dirty="0" smtClean="0"/>
              <a:t>plicar y probar el plan de implementación en caso de desastre</a:t>
            </a:r>
            <a:r>
              <a:rPr lang="es-PE" sz="1200" baseline="0" dirty="0" smtClean="0"/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9180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2632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741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0916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2533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59064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5053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6160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 smtClean="0"/>
              <a:t>Proporcionar una cobertura importante en el centro de recuperación en caso de desastre. </a:t>
            </a:r>
            <a:endParaRPr lang="es-PE" sz="1200" dirty="0" smtClean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69934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4690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9957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7359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00886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0123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66207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98391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4394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5478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En ésta sesión compartimos experiencias respecto a la ejecución de</a:t>
            </a:r>
            <a:r>
              <a:rPr lang="es-PE" baseline="0" dirty="0" smtClean="0"/>
              <a:t> Programas de Prueba, evidenciando que tales no se suelen llevar a cabo en las organizaciones, además de ello establecimos que los tiempos de respuesta ante un incidente se minimizan si el personal conoce y entiende detalladamente el Plan de Continuidad de Negocio.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entendimos que la simulación de escenarios permite una mejor ejecución del Plan de Pruebas.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476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14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5711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Programa de pruebas</a:t>
            </a:r>
          </a:p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Tendencias tecnológicas para la continuidad de sistemas de ti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14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5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PROGRAMA DE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PRUEBAS Y TENDENCIAS TECNOLÓGICAS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Diseña</a:t>
            </a:r>
            <a:r>
              <a:rPr lang="en-US" sz="2000" spc="-10" dirty="0">
                <a:cs typeface="Source Sans Pro"/>
              </a:rPr>
              <a:t> un </a:t>
            </a:r>
            <a:r>
              <a:rPr lang="en-US" sz="2000" spc="-10" dirty="0" err="1">
                <a:cs typeface="Source Sans Pro"/>
              </a:rPr>
              <a:t>programa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pruebas</a:t>
            </a:r>
            <a:r>
              <a:rPr lang="en-US" sz="2000" spc="-10" dirty="0">
                <a:cs typeface="Source Sans Pro"/>
              </a:rPr>
              <a:t> que </a:t>
            </a:r>
            <a:r>
              <a:rPr lang="en-US" sz="2000" spc="-10" dirty="0" err="1">
                <a:cs typeface="Source Sans Pro"/>
              </a:rPr>
              <a:t>valide</a:t>
            </a:r>
            <a:r>
              <a:rPr lang="en-US" sz="2000" spc="-10" dirty="0">
                <a:cs typeface="Source Sans Pro"/>
              </a:rPr>
              <a:t> la </a:t>
            </a:r>
            <a:r>
              <a:rPr lang="en-US" sz="2000" spc="-10" dirty="0" err="1">
                <a:cs typeface="Source Sans Pro"/>
              </a:rPr>
              <a:t>eficacia</a:t>
            </a:r>
            <a:r>
              <a:rPr lang="en-US" sz="2000" spc="-10" dirty="0">
                <a:cs typeface="Source Sans Pro"/>
              </a:rPr>
              <a:t> </a:t>
            </a:r>
          </a:p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>
                <a:cs typeface="Source Sans Pro"/>
              </a:rPr>
              <a:t>de las </a:t>
            </a:r>
            <a:r>
              <a:rPr lang="en-US" sz="2000" spc="-10" dirty="0" err="1">
                <a:cs typeface="Source Sans Pro"/>
              </a:rPr>
              <a:t>estrategias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continuidad</a:t>
            </a:r>
            <a:r>
              <a:rPr lang="en-US" sz="2000" spc="-10" dirty="0">
                <a:cs typeface="Source Sans Pro"/>
              </a:rPr>
              <a:t> </a:t>
            </a:r>
            <a:r>
              <a:rPr lang="en-US" sz="2000" spc="-10" dirty="0" err="1">
                <a:cs typeface="Source Sans Pro"/>
              </a:rPr>
              <a:t>definidas</a:t>
            </a:r>
            <a:endParaRPr lang="en-US" sz="20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308225" y="2404153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pic>
        <p:nvPicPr>
          <p:cNvPr id="11" name="Picture 2" descr="Resultado de imagen para pruebas de continuidad de negoci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940" y="949326"/>
            <a:ext cx="4440121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978" y="959599"/>
            <a:ext cx="5658045" cy="42378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PROGRAMA DE PRUEBAS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13" name="Diagrama 12"/>
          <p:cNvGraphicFramePr/>
          <p:nvPr>
            <p:extLst>
              <p:ext uri="{D42A27DB-BD31-4B8C-83A1-F6EECF244321}">
                <p14:modId xmlns:p14="http://schemas.microsoft.com/office/powerpoint/2010/main" val="666375808"/>
              </p:ext>
            </p:extLst>
          </p:nvPr>
        </p:nvGraphicFramePr>
        <p:xfrm>
          <a:off x="1717386" y="1273175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Objetivo</a:t>
            </a:r>
            <a:endParaRPr lang="en-US" sz="1600" b="1" spc="-10" dirty="0">
              <a:solidFill>
                <a:srgbClr val="68529F"/>
              </a:solidFill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objetivo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probar</a:t>
            </a:r>
            <a:r>
              <a:rPr lang="en-US" sz="1600" spc="-10" dirty="0">
                <a:cs typeface="Source Sans Pro"/>
              </a:rPr>
              <a:t> un DRP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específicamente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identificar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documentar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planificados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entorno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simulado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65098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Creación</a:t>
            </a:r>
            <a:endParaRPr lang="en-US" sz="1600" b="1" spc="-10" dirty="0">
              <a:solidFill>
                <a:srgbClr val="68529F"/>
              </a:solidFill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DRP </a:t>
            </a:r>
            <a:r>
              <a:rPr lang="en-US" sz="1600" spc="-10" dirty="0" err="1">
                <a:cs typeface="Source Sans Pro"/>
              </a:rPr>
              <a:t>contiene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respuesta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que se </a:t>
            </a:r>
            <a:r>
              <a:rPr lang="en-US" sz="1600" spc="-10" dirty="0" err="1">
                <a:cs typeface="Source Sans Pro"/>
              </a:rPr>
              <a:t>produzcan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contingencias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adversas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desastres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imprevistos</a:t>
            </a:r>
            <a:r>
              <a:rPr lang="en-US" sz="1600" spc="-10" dirty="0">
                <a:cs typeface="Source Sans Pro"/>
              </a:rPr>
              <a:t> 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Creación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grupo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dedicado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administración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riesgos</a:t>
            </a:r>
            <a:r>
              <a:rPr lang="en-US" sz="1600" spc="-10" dirty="0">
                <a:cs typeface="Source Sans Pro"/>
              </a:rPr>
              <a:t>;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Contratación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un </a:t>
            </a:r>
            <a:r>
              <a:rPr lang="en-US" sz="1600" spc="-10" dirty="0" err="1">
                <a:cs typeface="Source Sans Pro"/>
              </a:rPr>
              <a:t>administrador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negocios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encabezar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grupo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administración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riesgos</a:t>
            </a:r>
            <a:r>
              <a:rPr lang="en-US" sz="1600" spc="-10" dirty="0">
                <a:cs typeface="Source Sans Pro"/>
              </a:rPr>
              <a:t>;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División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del BCP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Fase</a:t>
            </a:r>
            <a:r>
              <a:rPr lang="en-US" sz="1600" spc="-10" dirty="0">
                <a:cs typeface="Source Sans Pro"/>
              </a:rPr>
              <a:t> 1 y 2;</a:t>
            </a:r>
          </a:p>
        </p:txBody>
      </p:sp>
    </p:spTree>
    <p:extLst>
      <p:ext uri="{BB962C8B-B14F-4D97-AF65-F5344CB8AC3E}">
        <p14:creationId xmlns:p14="http://schemas.microsoft.com/office/powerpoint/2010/main" val="162561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pic>
        <p:nvPicPr>
          <p:cNvPr id="7" name="Picture 2" descr="Resultado de imagen para pruebas de continuidad de negoci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940" y="949326"/>
            <a:ext cx="4440121" cy="42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4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Creación</a:t>
            </a:r>
            <a:endParaRPr lang="en-US" sz="1600" b="1" spc="-10" dirty="0">
              <a:solidFill>
                <a:srgbClr val="68529F"/>
              </a:solidFill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Instalación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centro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fuera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, a </a:t>
            </a:r>
            <a:r>
              <a:rPr lang="en-US" sz="1600" spc="-10" dirty="0" err="1">
                <a:cs typeface="Source Sans Pro"/>
              </a:rPr>
              <a:t>modo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alternativo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inactivo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Fase</a:t>
            </a:r>
            <a:r>
              <a:rPr lang="en-US" sz="1600" spc="-10" dirty="0">
                <a:cs typeface="Source Sans Pro"/>
              </a:rPr>
              <a:t> 1;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810" y="2137025"/>
            <a:ext cx="4588381" cy="306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0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Creación</a:t>
            </a:r>
            <a:endParaRPr lang="en-US" sz="1600" b="1" spc="-10" dirty="0">
              <a:solidFill>
                <a:srgbClr val="68529F"/>
              </a:solidFill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Conversión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fuera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sitio</a:t>
            </a:r>
            <a:r>
              <a:rPr lang="en-US" sz="1600" spc="-10" dirty="0">
                <a:cs typeface="Source Sans Pro"/>
              </a:rPr>
              <a:t> al </a:t>
            </a:r>
            <a:r>
              <a:rPr lang="en-US" sz="1600" spc="-10" dirty="0" err="1">
                <a:cs typeface="Source Sans Pro"/>
              </a:rPr>
              <a:t>modo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gemelo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Fase</a:t>
            </a:r>
            <a:r>
              <a:rPr lang="en-US" sz="1600" spc="-10" dirty="0">
                <a:cs typeface="Source Sans Pro"/>
              </a:rPr>
              <a:t> 2;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Conformación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equipo</a:t>
            </a:r>
            <a:r>
              <a:rPr lang="en-US" sz="1600" spc="-10" dirty="0">
                <a:cs typeface="Source Sans Pro"/>
              </a:rPr>
              <a:t> para el </a:t>
            </a:r>
            <a:r>
              <a:rPr lang="en-US" sz="1600" spc="-10" dirty="0" err="1">
                <a:cs typeface="Source Sans Pro"/>
              </a:rPr>
              <a:t>manejo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incidentes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maneje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contingencias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menores</a:t>
            </a:r>
            <a:r>
              <a:rPr lang="en-US" sz="1600" spc="-10" dirty="0">
                <a:cs typeface="Source Sans Pro"/>
              </a:rPr>
              <a:t>.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774" y="2609634"/>
            <a:ext cx="3451200" cy="25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1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¿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Porqué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probar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un DRP?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garantizar</a:t>
            </a:r>
            <a:r>
              <a:rPr lang="en-US" sz="1600" spc="-10" dirty="0">
                <a:cs typeface="Source Sans Pro"/>
              </a:rPr>
              <a:t> que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tiene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capacidad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continuar</a:t>
            </a:r>
            <a:r>
              <a:rPr lang="en-US" sz="1600" spc="-10" dirty="0">
                <a:cs typeface="Source Sans Pro"/>
              </a:rPr>
              <a:t> con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empresariales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importantes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que se </a:t>
            </a:r>
            <a:r>
              <a:rPr lang="en-US" sz="1600" spc="-10" dirty="0" err="1">
                <a:cs typeface="Source Sans Pro"/>
              </a:rPr>
              <a:t>produzca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contingencia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adversa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garantizar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recuperación</a:t>
            </a:r>
            <a:r>
              <a:rPr lang="en-US" sz="1600" spc="-10" dirty="0">
                <a:cs typeface="Source Sans Pro"/>
              </a:rPr>
              <a:t> son </a:t>
            </a:r>
            <a:r>
              <a:rPr lang="en-US" sz="1600" spc="-10" dirty="0" err="1">
                <a:cs typeface="Source Sans Pro"/>
              </a:rPr>
              <a:t>ejecutables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precisos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formar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empleados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implicados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ejecución</a:t>
            </a:r>
            <a:r>
              <a:rPr lang="en-US" sz="1600" spc="-10" dirty="0">
                <a:cs typeface="Source Sans Pro"/>
              </a:rPr>
              <a:t> del DRP. </a:t>
            </a:r>
          </a:p>
        </p:txBody>
      </p:sp>
    </p:spTree>
    <p:extLst>
      <p:ext uri="{BB962C8B-B14F-4D97-AF65-F5344CB8AC3E}">
        <p14:creationId xmlns:p14="http://schemas.microsoft.com/office/powerpoint/2010/main" val="200794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¿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Porqué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probar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un DRP?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analizar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problemas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encontrados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actualizar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revisar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de DRP </a:t>
            </a:r>
            <a:r>
              <a:rPr lang="en-US" sz="1600" spc="-10" dirty="0" err="1">
                <a:cs typeface="Source Sans Pro"/>
              </a:rPr>
              <a:t>actuales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según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pruebas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7" name="Picture 2" descr="Resultado de imagen para analizar resultad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956" y="2352059"/>
            <a:ext cx="4172089" cy="285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10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suele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implicar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ejecución</a:t>
            </a:r>
            <a:r>
              <a:rPr lang="en-US" sz="1600" spc="-10" dirty="0">
                <a:cs typeface="Source Sans Pro"/>
              </a:rPr>
              <a:t> del plan de </a:t>
            </a:r>
            <a:r>
              <a:rPr lang="en-US" sz="1600" spc="-10" dirty="0" err="1">
                <a:cs typeface="Source Sans Pro"/>
              </a:rPr>
              <a:t>implementación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condiciones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simuladas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694" y="1854977"/>
            <a:ext cx="4462613" cy="334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PLAN DE RECUPERACIÓN DE 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Etapas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del Plan de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Prueba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Recuperación</a:t>
            </a:r>
            <a:endParaRPr lang="en-US" sz="1600" b="1" spc="-10" dirty="0" smtClean="0">
              <a:solidFill>
                <a:srgbClr val="68529F"/>
              </a:solidFill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Programación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Activación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Identificación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equipos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Coordinación</a:t>
            </a:r>
            <a:r>
              <a:rPr lang="en-US" sz="1600" spc="-10" dirty="0">
                <a:cs typeface="Source Sans Pro"/>
              </a:rPr>
              <a:t> con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equipos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Configuración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períodos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tiempo</a:t>
            </a:r>
            <a:r>
              <a:rPr lang="en-US" sz="1600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Identificación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puntos</a:t>
            </a:r>
            <a:r>
              <a:rPr lang="en-US" sz="1600" spc="-10" dirty="0">
                <a:cs typeface="Source Sans Pro"/>
              </a:rPr>
              <a:t> de control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Creación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registros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>
              <a:buSzPct val="100000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329" y="949324"/>
            <a:ext cx="3811434" cy="286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3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PLAN DE RECUPERACIÓN DE </a:t>
            </a:r>
            <a:r>
              <a:rPr lang="en-US" sz="1600" b="1" spc="-10" dirty="0" smtClean="0">
                <a:cs typeface="Source Sans Pro"/>
              </a:rPr>
              <a:t>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Seguimiento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los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resultados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recuperación</a:t>
            </a:r>
            <a:endParaRPr lang="en-US" sz="1600" b="1" spc="-10" dirty="0" smtClean="0">
              <a:solidFill>
                <a:srgbClr val="68529F"/>
              </a:solidFill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Registrar </a:t>
            </a:r>
            <a:r>
              <a:rPr lang="en-US" sz="1600" spc="-10" dirty="0" err="1">
                <a:cs typeface="Source Sans Pro"/>
              </a:rPr>
              <a:t>todos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obtenidos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implementación</a:t>
            </a:r>
            <a:r>
              <a:rPr lang="en-US" sz="1600" spc="-10" dirty="0">
                <a:cs typeface="Source Sans Pro"/>
              </a:rPr>
              <a:t> de un DRP.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propósito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seguimiento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estos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definir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actividades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necesarias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mantener</a:t>
            </a:r>
            <a:r>
              <a:rPr lang="en-US" sz="1600" spc="-10" dirty="0">
                <a:cs typeface="Source Sans Pro"/>
              </a:rPr>
              <a:t> el DRP de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Se </a:t>
            </a:r>
            <a:r>
              <a:rPr lang="en-US" sz="1600" spc="-10" dirty="0" err="1">
                <a:cs typeface="Source Sans Pro"/>
              </a:rPr>
              <a:t>crea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documento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seguimiento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realizar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seguimiento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de un DRP. </a:t>
            </a:r>
          </a:p>
        </p:txBody>
      </p:sp>
    </p:spTree>
    <p:extLst>
      <p:ext uri="{BB962C8B-B14F-4D97-AF65-F5344CB8AC3E}">
        <p14:creationId xmlns:p14="http://schemas.microsoft.com/office/powerpoint/2010/main" val="1154392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PROGRAMA DE PRUEBAS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3811890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PLAN DE RECUPERACIÓN DE </a:t>
            </a:r>
            <a:r>
              <a:rPr lang="en-US" sz="1600" b="1" spc="-10" dirty="0" smtClean="0">
                <a:cs typeface="Source Sans Pro"/>
              </a:rPr>
              <a:t>SISTEMAS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Seguimiento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los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resultados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recuperación</a:t>
            </a:r>
            <a:endParaRPr lang="en-US" sz="1600" b="1" spc="-10" dirty="0" smtClean="0">
              <a:solidFill>
                <a:srgbClr val="68529F"/>
              </a:solidFill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documento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seguimiento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contener</a:t>
            </a:r>
            <a:r>
              <a:rPr lang="en-US" sz="1600" spc="-10" dirty="0">
                <a:cs typeface="Source Sans Pro"/>
              </a:rPr>
              <a:t>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Resultados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;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Fechas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la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;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Nombres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un </a:t>
            </a:r>
            <a:r>
              <a:rPr lang="en-US" sz="1600" spc="-10" dirty="0" err="1">
                <a:cs typeface="Source Sans Pro"/>
              </a:rPr>
              <a:t>equipo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;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Objetivos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la </a:t>
            </a:r>
            <a:r>
              <a:rPr lang="en-US" sz="1600" spc="-10" dirty="0" err="1">
                <a:cs typeface="Source Sans Pro"/>
              </a:rPr>
              <a:t>prueba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Períodos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tiempo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prueba</a:t>
            </a: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Tareas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planificadas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duración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comienzo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finalización</a:t>
            </a:r>
            <a:r>
              <a:rPr lang="en-US" sz="1600" spc="-10" dirty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Tareas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reales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duración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comienzo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finalización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9"/>
          <a:stretch/>
        </p:blipFill>
        <p:spPr>
          <a:xfrm>
            <a:off x="5146070" y="949325"/>
            <a:ext cx="3232381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4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TENDENCIAS TECNOLÓGICAS PARA </a:t>
            </a:r>
            <a:br>
              <a:rPr lang="es-PE" sz="2800" b="1" dirty="0" smtClean="0">
                <a:solidFill>
                  <a:schemeClr val="bg1"/>
                </a:solidFill>
                <a:cs typeface="Calibri"/>
              </a:rPr>
            </a:b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   LA CONTINUIDAD DE SISTEMAS DE TI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550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TENDENCIAS TECNOLÓGICAS PARA </a:t>
            </a:r>
            <a:r>
              <a:rPr lang="en-US" sz="1300" dirty="0" smtClean="0">
                <a:solidFill>
                  <a:srgbClr val="438AD7"/>
                </a:solidFill>
              </a:rPr>
              <a:t>LA </a:t>
            </a:r>
            <a:r>
              <a:rPr lang="en-US" sz="1300" dirty="0">
                <a:solidFill>
                  <a:srgbClr val="438AD7"/>
                </a:solidFill>
              </a:rPr>
              <a:t>CONTINUIDAD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13" name="Diagrama 12"/>
          <p:cNvGraphicFramePr/>
          <p:nvPr>
            <p:extLst>
              <p:ext uri="{D42A27DB-BD31-4B8C-83A1-F6EECF244321}">
                <p14:modId xmlns:p14="http://schemas.microsoft.com/office/powerpoint/2010/main" val="984293245"/>
              </p:ext>
            </p:extLst>
          </p:nvPr>
        </p:nvGraphicFramePr>
        <p:xfrm>
          <a:off x="1717386" y="1190982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548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TENDENCIAS TECNOLÓGICAS PARA </a:t>
            </a:r>
            <a:r>
              <a:rPr lang="en-US" sz="1300" dirty="0" smtClean="0">
                <a:solidFill>
                  <a:srgbClr val="438AD7"/>
                </a:solidFill>
              </a:rPr>
              <a:t>LA </a:t>
            </a:r>
            <a:r>
              <a:rPr lang="en-US" sz="1300" dirty="0">
                <a:solidFill>
                  <a:srgbClr val="438AD7"/>
                </a:solidFill>
              </a:rPr>
              <a:t>CONTINUIDAD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buSzPct val="100000"/>
              <a:buFont typeface="+mj-lt"/>
              <a:buAutoNum type="arabicPeriod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Gestión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datos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copia</a:t>
            </a:r>
            <a:endParaRPr lang="en-US" sz="1600" b="1" spc="-10" dirty="0">
              <a:solidFill>
                <a:srgbClr val="68529F"/>
              </a:solidFill>
              <a:cs typeface="Source Sans Pro"/>
            </a:endParaRPr>
          </a:p>
          <a:p>
            <a:pPr marL="317500">
              <a:buSzPct val="100000"/>
              <a:tabLst>
                <a:tab pos="85725" algn="l"/>
              </a:tabLst>
            </a:pPr>
            <a:r>
              <a:rPr lang="en-US" sz="1600" spc="-10" dirty="0" err="1">
                <a:cs typeface="Source Sans Pro"/>
              </a:rPr>
              <a:t>Gestionar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numerosas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físicas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mismos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múltiples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herramientas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sigue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siendo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caro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sigue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siendo</a:t>
            </a:r>
            <a:r>
              <a:rPr lang="en-US" sz="1600" spc="-10" dirty="0">
                <a:cs typeface="Source Sans Pro"/>
              </a:rPr>
              <a:t> un dolor de </a:t>
            </a:r>
            <a:r>
              <a:rPr lang="en-US" sz="1600" spc="-10" dirty="0" err="1">
                <a:cs typeface="Source Sans Pro"/>
              </a:rPr>
              <a:t>cabeza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e </a:t>
            </a:r>
            <a:r>
              <a:rPr lang="en-US" sz="1600" spc="-10" dirty="0" err="1">
                <a:cs typeface="Source Sans Pro"/>
              </a:rPr>
              <a:t>incluso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plantea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amenaza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.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eso</a:t>
            </a:r>
            <a:r>
              <a:rPr lang="en-US" sz="1600" spc="-10" dirty="0">
                <a:cs typeface="Source Sans Pro"/>
              </a:rPr>
              <a:t> que la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copia</a:t>
            </a:r>
            <a:r>
              <a:rPr lang="en-US" sz="1600" spc="-10" dirty="0">
                <a:cs typeface="Source Sans Pro"/>
              </a:rPr>
              <a:t> (CDM,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siglas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inglés</a:t>
            </a:r>
            <a:r>
              <a:rPr lang="en-US" sz="1600" spc="-10" dirty="0">
                <a:cs typeface="Source Sans Pro"/>
              </a:rPr>
              <a:t>), que </a:t>
            </a:r>
            <a:r>
              <a:rPr lang="en-US" sz="1600" spc="-10" dirty="0" err="1">
                <a:cs typeface="Source Sans Pro"/>
              </a:rPr>
              <a:t>utiliza</a:t>
            </a:r>
            <a:r>
              <a:rPr lang="en-US" sz="1600" spc="-10" dirty="0">
                <a:cs typeface="Source Sans Pro"/>
              </a:rPr>
              <a:t> un solo </a:t>
            </a:r>
            <a:r>
              <a:rPr lang="en-US" sz="1600" spc="-10" dirty="0" err="1">
                <a:cs typeface="Source Sans Pro"/>
              </a:rPr>
              <a:t>clon</a:t>
            </a:r>
            <a:r>
              <a:rPr lang="en-US" sz="1600" spc="-10" dirty="0">
                <a:cs typeface="Source Sans Pro"/>
              </a:rPr>
              <a:t> vivo para las </a:t>
            </a:r>
            <a:r>
              <a:rPr lang="en-US" sz="1600" spc="-10" dirty="0" err="1">
                <a:cs typeface="Source Sans Pro"/>
              </a:rPr>
              <a:t>copias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archivado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replicación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otros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tendencias</a:t>
            </a:r>
            <a:r>
              <a:rPr lang="en-US" sz="1600" spc="-10" dirty="0">
                <a:cs typeface="Source Sans Pro"/>
              </a:rPr>
              <a:t> de las </a:t>
            </a:r>
            <a:r>
              <a:rPr lang="en-US" sz="1600" spc="-10" dirty="0" err="1">
                <a:cs typeface="Source Sans Pro"/>
              </a:rPr>
              <a:t>tecnologías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representan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adopción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fuerte</a:t>
            </a:r>
            <a:r>
              <a:rPr lang="en-US" sz="1600" spc="-10" dirty="0">
                <a:cs typeface="Source Sans Pro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2231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TENDENCIAS TECNOLÓGICAS PARA </a:t>
            </a:r>
            <a:r>
              <a:rPr lang="en-US" sz="1300" dirty="0" smtClean="0">
                <a:solidFill>
                  <a:srgbClr val="438AD7"/>
                </a:solidFill>
              </a:rPr>
              <a:t>LA </a:t>
            </a:r>
            <a:r>
              <a:rPr lang="en-US" sz="1300" dirty="0">
                <a:solidFill>
                  <a:srgbClr val="438AD7"/>
                </a:solidFill>
              </a:rPr>
              <a:t>CONTINUIDAD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buSzPct val="100000"/>
              <a:buFont typeface="+mj-lt"/>
              <a:buAutoNum type="arabicPeriod" startAt="2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Codificación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borrado</a:t>
            </a:r>
            <a:r>
              <a:rPr lang="en-US" sz="1600" b="1" spc="-10" dirty="0" smtClean="0">
                <a:cs typeface="Source Sans Pro"/>
              </a:rPr>
              <a:t/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codificación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borrado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mecanismo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básico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protección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para el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objetos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basado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nube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debido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capacidad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ampliación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protección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grandes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cantidades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. Hasta </a:t>
            </a:r>
            <a:r>
              <a:rPr lang="en-US" sz="1600" spc="-10" dirty="0" err="1">
                <a:cs typeface="Source Sans Pro"/>
              </a:rPr>
              <a:t>ahora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usuarios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mueven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a la </a:t>
            </a:r>
            <a:r>
              <a:rPr lang="en-US" sz="1600" spc="-10" dirty="0" err="1">
                <a:cs typeface="Source Sans Pro"/>
              </a:rPr>
              <a:t>nube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sobre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casos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uso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específicos</a:t>
            </a:r>
            <a:r>
              <a:rPr lang="en-US" sz="1600" spc="-10" dirty="0">
                <a:cs typeface="Source Sans Pro"/>
              </a:rPr>
              <a:t>, tales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copia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y el </a:t>
            </a:r>
            <a:r>
              <a:rPr lang="en-US" sz="1600" spc="-10" dirty="0" err="1">
                <a:cs typeface="Source Sans Pro"/>
              </a:rPr>
              <a:t>archivo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activo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tendencia</a:t>
            </a:r>
            <a:r>
              <a:rPr lang="en-US" sz="1600" spc="-10" dirty="0">
                <a:cs typeface="Source Sans Pro"/>
              </a:rPr>
              <a:t> que se </a:t>
            </a:r>
            <a:r>
              <a:rPr lang="en-US" sz="1600" spc="-10" dirty="0" err="1">
                <a:cs typeface="Source Sans Pro"/>
              </a:rPr>
              <a:t>espera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aumente</a:t>
            </a:r>
            <a:r>
              <a:rPr lang="en-US" sz="1600" spc="-10" dirty="0">
                <a:cs typeface="Source Sans Pro"/>
              </a:rPr>
              <a:t> de forma continua.</a:t>
            </a:r>
          </a:p>
        </p:txBody>
      </p:sp>
    </p:spTree>
    <p:extLst>
      <p:ext uri="{BB962C8B-B14F-4D97-AF65-F5344CB8AC3E}">
        <p14:creationId xmlns:p14="http://schemas.microsoft.com/office/powerpoint/2010/main" val="17678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TENDENCIAS TECNOLÓGICAS PARA </a:t>
            </a:r>
            <a:r>
              <a:rPr lang="en-US" sz="1300" dirty="0" smtClean="0">
                <a:solidFill>
                  <a:srgbClr val="438AD7"/>
                </a:solidFill>
              </a:rPr>
              <a:t>LA </a:t>
            </a:r>
            <a:r>
              <a:rPr lang="en-US" sz="1300" dirty="0">
                <a:solidFill>
                  <a:srgbClr val="438AD7"/>
                </a:solidFill>
              </a:rPr>
              <a:t>CONTINUIDAD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buSzPct val="100000"/>
              <a:buFont typeface="+mj-lt"/>
              <a:buAutoNum type="arabicPeriod" startAt="3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Redes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almacenamiento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próxima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generación</a:t>
            </a:r>
            <a:r>
              <a:rPr lang="en-US" sz="1600" b="1" spc="-10" dirty="0" smtClean="0">
                <a:cs typeface="Source Sans Pro"/>
              </a:rPr>
              <a:t/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proveedores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redes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reunieron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alrededor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estándares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nuevos</a:t>
            </a:r>
            <a:r>
              <a:rPr lang="en-US" sz="1600" spc="-10" dirty="0">
                <a:cs typeface="Source Sans Pro"/>
              </a:rPr>
              <a:t> switches de un solo pin de 25 </a:t>
            </a:r>
            <a:r>
              <a:rPr lang="en-US" sz="1600" spc="-10" dirty="0" err="1">
                <a:cs typeface="Source Sans Pro"/>
              </a:rPr>
              <a:t>GbE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chips de </a:t>
            </a:r>
            <a:r>
              <a:rPr lang="en-US" sz="1600" spc="-10" dirty="0" err="1">
                <a:cs typeface="Source Sans Pro"/>
              </a:rPr>
              <a:t>adaptadores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respuesta</a:t>
            </a:r>
            <a:r>
              <a:rPr lang="en-US" sz="1600" spc="-10" dirty="0">
                <a:cs typeface="Source Sans Pro"/>
              </a:rPr>
              <a:t> a las </a:t>
            </a:r>
            <a:r>
              <a:rPr lang="en-US" sz="1600" spc="-10" dirty="0" err="1">
                <a:cs typeface="Source Sans Pro"/>
              </a:rPr>
              <a:t>necesidades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proveedores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nube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hiperescala</a:t>
            </a:r>
            <a:r>
              <a:rPr lang="en-US" sz="1600" spc="-10" dirty="0">
                <a:cs typeface="Source Sans Pro"/>
              </a:rPr>
              <a:t>. Los </a:t>
            </a:r>
            <a:r>
              <a:rPr lang="en-US" sz="1600" spc="-10" dirty="0" err="1">
                <a:cs typeface="Source Sans Pro"/>
              </a:rPr>
              <a:t>puertos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nuevos</a:t>
            </a:r>
            <a:r>
              <a:rPr lang="en-US" sz="1600" spc="-10" dirty="0">
                <a:cs typeface="Source Sans Pro"/>
              </a:rPr>
              <a:t> chips de 25 </a:t>
            </a:r>
            <a:r>
              <a:rPr lang="en-US" sz="1600" spc="-10" dirty="0" err="1">
                <a:cs typeface="Source Sans Pro"/>
              </a:rPr>
              <a:t>GbE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utilizan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mismo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número</a:t>
            </a:r>
            <a:r>
              <a:rPr lang="en-US" sz="1600" spc="-10" dirty="0">
                <a:cs typeface="Source Sans Pro"/>
              </a:rPr>
              <a:t> de pines y </a:t>
            </a:r>
            <a:r>
              <a:rPr lang="en-US" sz="1600" spc="-10" dirty="0" err="1">
                <a:cs typeface="Source Sans Pro"/>
              </a:rPr>
              <a:t>carriles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el bus </a:t>
            </a:r>
            <a:r>
              <a:rPr lang="en-US" sz="1600" spc="-10" dirty="0" err="1">
                <a:cs typeface="Source Sans Pro"/>
              </a:rPr>
              <a:t>PCIe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servidor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utilizan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puertos</a:t>
            </a:r>
            <a:r>
              <a:rPr lang="en-US" sz="1600" spc="-10" dirty="0">
                <a:cs typeface="Source Sans Pro"/>
              </a:rPr>
              <a:t> de 10 </a:t>
            </a:r>
            <a:r>
              <a:rPr lang="en-US" sz="1600" spc="-10" dirty="0" err="1">
                <a:cs typeface="Source Sans Pro"/>
              </a:rPr>
              <a:t>GbE</a:t>
            </a:r>
            <a:r>
              <a:rPr lang="en-US" sz="1600" spc="-10" dirty="0">
                <a:cs typeface="Source Sans Pro"/>
              </a:rPr>
              <a:t>. La </a:t>
            </a:r>
            <a:r>
              <a:rPr lang="en-US" sz="1600" spc="-10" dirty="0" err="1">
                <a:cs typeface="Source Sans Pro"/>
              </a:rPr>
              <a:t>hoja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ruta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extiende</a:t>
            </a:r>
            <a:r>
              <a:rPr lang="en-US" sz="1600" spc="-10" dirty="0">
                <a:cs typeface="Source Sans Pro"/>
              </a:rPr>
              <a:t> a 50 </a:t>
            </a:r>
            <a:r>
              <a:rPr lang="en-US" sz="1600" spc="-10" dirty="0" err="1">
                <a:cs typeface="Source Sans Pro"/>
              </a:rPr>
              <a:t>GbE</a:t>
            </a:r>
            <a:r>
              <a:rPr lang="en-US" sz="1600" spc="-10" dirty="0">
                <a:cs typeface="Source Sans Pro"/>
              </a:rPr>
              <a:t> y 100 </a:t>
            </a:r>
            <a:r>
              <a:rPr lang="en-US" sz="1600" spc="-10" dirty="0" err="1">
                <a:cs typeface="Source Sans Pro"/>
              </a:rPr>
              <a:t>GbE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este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último</a:t>
            </a:r>
            <a:r>
              <a:rPr lang="en-US" sz="1600" spc="-10" dirty="0">
                <a:cs typeface="Source Sans Pro"/>
              </a:rPr>
              <a:t> con </a:t>
            </a:r>
            <a:r>
              <a:rPr lang="en-US" sz="1600" spc="-10" dirty="0" err="1">
                <a:cs typeface="Source Sans Pro"/>
              </a:rPr>
              <a:t>cuatro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carriles</a:t>
            </a:r>
            <a:r>
              <a:rPr lang="en-US" sz="1600" spc="-10" dirty="0">
                <a:cs typeface="Source Sans Pro"/>
              </a:rPr>
              <a:t> de 25 </a:t>
            </a:r>
            <a:r>
              <a:rPr lang="en-US" sz="1600" spc="-10" dirty="0" err="1">
                <a:cs typeface="Source Sans Pro"/>
              </a:rPr>
              <a:t>GbE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79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TENDENCIAS TECNOLÓGICAS PARA </a:t>
            </a:r>
            <a:r>
              <a:rPr lang="en-US" sz="1300" dirty="0" smtClean="0">
                <a:solidFill>
                  <a:srgbClr val="438AD7"/>
                </a:solidFill>
              </a:rPr>
              <a:t>LA </a:t>
            </a:r>
            <a:r>
              <a:rPr lang="en-US" sz="1300" dirty="0">
                <a:solidFill>
                  <a:srgbClr val="438AD7"/>
                </a:solidFill>
              </a:rPr>
              <a:t>CONTINUIDAD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buSzPct val="100000"/>
              <a:buFont typeface="+mj-lt"/>
              <a:buAutoNum type="arabicPeriod" startAt="4"/>
              <a:tabLst>
                <a:tab pos="85725" algn="l"/>
              </a:tabLst>
            </a:pP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El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almacenamiento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 smtClean="0">
                <a:solidFill>
                  <a:srgbClr val="68529F"/>
                </a:solidFill>
                <a:cs typeface="Source Sans Pro"/>
              </a:rPr>
              <a:t>objetos</a:t>
            </a:r>
            <a:r>
              <a:rPr lang="en-US" sz="1600" b="1" spc="-10" dirty="0" smtClean="0">
                <a:cs typeface="Source Sans Pro"/>
              </a:rPr>
              <a:t/>
            </a:r>
            <a:br>
              <a:rPr lang="en-US" sz="1600" b="1" spc="-10" dirty="0" smtClean="0"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A </a:t>
            </a:r>
            <a:r>
              <a:rPr lang="en-US" sz="1600" spc="-10" dirty="0" err="1">
                <a:cs typeface="Source Sans Pro"/>
              </a:rPr>
              <a:t>diferencia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objetos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almacenan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espacio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nombres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plano</a:t>
            </a:r>
            <a:r>
              <a:rPr lang="en-US" sz="1600" spc="-10" dirty="0">
                <a:cs typeface="Source Sans Pro"/>
              </a:rPr>
              <a:t> con </a:t>
            </a:r>
            <a:r>
              <a:rPr lang="en-US" sz="1600" spc="-10" dirty="0" err="1">
                <a:cs typeface="Source Sans Pro"/>
              </a:rPr>
              <a:t>identificadores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únicos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permiten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recuperen</a:t>
            </a:r>
            <a:r>
              <a:rPr lang="en-US" sz="1600" spc="-10" dirty="0">
                <a:cs typeface="Source Sans Pro"/>
              </a:rPr>
              <a:t> sin que un </a:t>
            </a:r>
            <a:r>
              <a:rPr lang="en-US" sz="1600" spc="-10" dirty="0" err="1">
                <a:cs typeface="Source Sans Pro"/>
              </a:rPr>
              <a:t>servidor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sepa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dónde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encuentran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datos</a:t>
            </a:r>
            <a:r>
              <a:rPr lang="en-US" sz="1600" spc="-10" dirty="0">
                <a:cs typeface="Source Sans Pro"/>
              </a:rPr>
              <a:t>. El </a:t>
            </a:r>
            <a:r>
              <a:rPr lang="en-US" sz="1600" spc="-10" dirty="0" err="1">
                <a:cs typeface="Source Sans Pro"/>
              </a:rPr>
              <a:t>espacio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nombres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plano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también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permite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cantidad</a:t>
            </a:r>
            <a:r>
              <a:rPr lang="en-US" sz="1600" spc="-10" dirty="0">
                <a:cs typeface="Source Sans Pro"/>
              </a:rPr>
              <a:t> mucho mayor de </a:t>
            </a:r>
            <a:r>
              <a:rPr lang="en-US" sz="1600" spc="-10" dirty="0" err="1">
                <a:cs typeface="Source Sans Pro"/>
              </a:rPr>
              <a:t>metadatos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almacenen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sistema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archivos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típico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haciendo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tareas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automatización</a:t>
            </a:r>
            <a:r>
              <a:rPr lang="en-US" sz="1600" spc="-10" dirty="0">
                <a:cs typeface="Source Sans Pro"/>
              </a:rPr>
              <a:t> y la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más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sencillas</a:t>
            </a:r>
            <a:r>
              <a:rPr lang="en-US" sz="1600" spc="-10" dirty="0">
                <a:cs typeface="Source Sans Pro"/>
              </a:rPr>
              <a:t> para el </a:t>
            </a:r>
            <a:r>
              <a:rPr lang="en-US" sz="1600" spc="-10" dirty="0" err="1">
                <a:cs typeface="Source Sans Pro"/>
              </a:rPr>
              <a:t>administrador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944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TENDENCIAS TECNOLÓGICAS PARA </a:t>
            </a:r>
            <a:r>
              <a:rPr lang="en-US" sz="1300" dirty="0" smtClean="0">
                <a:solidFill>
                  <a:srgbClr val="438AD7"/>
                </a:solidFill>
              </a:rPr>
              <a:t>LA </a:t>
            </a:r>
            <a:r>
              <a:rPr lang="en-US" sz="1300" dirty="0">
                <a:solidFill>
                  <a:srgbClr val="438AD7"/>
                </a:solidFill>
              </a:rPr>
              <a:t>CONTINUIDAD DE SISTEMAS DE TI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buSzPct val="100000"/>
              <a:buFont typeface="+mj-lt"/>
              <a:buAutoNum type="arabicPeriod" startAt="5"/>
              <a:tabLst>
                <a:tab pos="85725" algn="l"/>
              </a:tabLst>
            </a:pP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Dispositivos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de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almacenamiento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definido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err="1">
                <a:solidFill>
                  <a:srgbClr val="68529F"/>
                </a:solidFill>
                <a:cs typeface="Source Sans Pro"/>
              </a:rPr>
              <a:t>por</a:t>
            </a:r>
            <a:r>
              <a:rPr lang="en-US" sz="1600" b="1" spc="-10" dirty="0">
                <a:solidFill>
                  <a:srgbClr val="68529F"/>
                </a:solidFill>
                <a:cs typeface="Source Sans Pro"/>
              </a:rPr>
              <a:t> </a:t>
            </a:r>
            <a:r>
              <a:rPr lang="en-US" sz="1600" b="1" spc="-10" dirty="0" smtClean="0">
                <a:solidFill>
                  <a:srgbClr val="68529F"/>
                </a:solidFill>
                <a:cs typeface="Source Sans Pro"/>
              </a:rPr>
              <a:t>software</a:t>
            </a:r>
            <a:br>
              <a:rPr lang="en-US" sz="1600" b="1" spc="-10" dirty="0" smtClean="0">
                <a:solidFill>
                  <a:srgbClr val="68529F"/>
                </a:solidFill>
                <a:cs typeface="Source Sans Pro"/>
              </a:rPr>
            </a:br>
            <a:r>
              <a:rPr lang="en-US" sz="1600" spc="-10" dirty="0" smtClean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péndulo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comenzó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oscilando</a:t>
            </a:r>
            <a:r>
              <a:rPr lang="en-US" sz="1600" spc="-10" dirty="0">
                <a:cs typeface="Source Sans Pro"/>
              </a:rPr>
              <a:t> al hardware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2015. </a:t>
            </a:r>
            <a:r>
              <a:rPr lang="en-US" sz="1600" spc="-10" dirty="0" err="1">
                <a:cs typeface="Source Sans Pro"/>
              </a:rPr>
              <a:t>Vimos</a:t>
            </a:r>
            <a:r>
              <a:rPr lang="en-US" sz="1600" spc="-10" dirty="0">
                <a:cs typeface="Source Sans Pro"/>
              </a:rPr>
              <a:t> que la startup Savage IO </a:t>
            </a:r>
            <a:r>
              <a:rPr lang="en-US" sz="1600" spc="-10" dirty="0" err="1">
                <a:cs typeface="Source Sans Pro"/>
              </a:rPr>
              <a:t>liberó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variedad</a:t>
            </a:r>
            <a:r>
              <a:rPr lang="en-US" sz="1600" spc="-10" dirty="0">
                <a:cs typeface="Source Sans Pro"/>
              </a:rPr>
              <a:t> de hardware </a:t>
            </a:r>
            <a:r>
              <a:rPr lang="en-US" sz="1600" spc="-10" dirty="0" err="1">
                <a:cs typeface="Source Sans Pro"/>
              </a:rPr>
              <a:t>integrado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ejecutar</a:t>
            </a:r>
            <a:r>
              <a:rPr lang="en-US" sz="1600" spc="-10" dirty="0">
                <a:cs typeface="Source Sans Pro"/>
              </a:rPr>
              <a:t> el software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otro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proveedor</a:t>
            </a:r>
            <a:r>
              <a:rPr lang="en-US" sz="1600" spc="-10" dirty="0">
                <a:cs typeface="Source Sans Pro"/>
              </a:rPr>
              <a:t>. Los </a:t>
            </a:r>
            <a:r>
              <a:rPr lang="en-US" sz="1600" spc="-10" dirty="0" err="1">
                <a:cs typeface="Source Sans Pro"/>
              </a:rPr>
              <a:t>productos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almacenamiento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definidos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software,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ScaleIO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Cloudian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HyperStore</a:t>
            </a:r>
            <a:r>
              <a:rPr lang="en-US" sz="1600" spc="-10" dirty="0">
                <a:cs typeface="Source Sans Pro"/>
              </a:rPr>
              <a:t> de EMC, </a:t>
            </a:r>
            <a:r>
              <a:rPr lang="en-US" sz="1600" spc="-10" dirty="0" err="1">
                <a:cs typeface="Source Sans Pro"/>
              </a:rPr>
              <a:t>fueron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liberados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appliances.</a:t>
            </a:r>
          </a:p>
        </p:txBody>
      </p:sp>
    </p:spTree>
    <p:extLst>
      <p:ext uri="{BB962C8B-B14F-4D97-AF65-F5344CB8AC3E}">
        <p14:creationId xmlns:p14="http://schemas.microsoft.com/office/powerpoint/2010/main" val="165173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3369924" y="949325"/>
            <a:ext cx="240415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PE" sz="1600" dirty="0" smtClean="0"/>
              <a:t>Programa de Pruebas</a:t>
            </a:r>
            <a:endParaRPr lang="es-PE" sz="160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233" y="1583979"/>
            <a:ext cx="5417535" cy="361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5" name="object 7"/>
          <p:cNvSpPr txBox="1"/>
          <p:nvPr/>
        </p:nvSpPr>
        <p:spPr>
          <a:xfrm>
            <a:off x="507698" y="954483"/>
            <a:ext cx="816799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prueba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suele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implicar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ejecución</a:t>
            </a:r>
            <a:r>
              <a:rPr lang="en-US" sz="1600" spc="-10" dirty="0">
                <a:cs typeface="Source Sans Pro"/>
              </a:rPr>
              <a:t> del plan de </a:t>
            </a:r>
            <a:r>
              <a:rPr lang="en-US" sz="1600" spc="-10" dirty="0" err="1">
                <a:cs typeface="Source Sans Pro"/>
              </a:rPr>
              <a:t>implementación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caso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condiciones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simuladas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41" y="1594695"/>
            <a:ext cx="4810119" cy="36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6359</TotalTime>
  <Words>1236</Words>
  <Application>Microsoft Office PowerPoint</Application>
  <PresentationFormat>Presentación en pantalla (16:10)</PresentationFormat>
  <Paragraphs>135</Paragraphs>
  <Slides>27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552</cp:revision>
  <cp:lastPrinted>2018-01-16T21:42:59Z</cp:lastPrinted>
  <dcterms:created xsi:type="dcterms:W3CDTF">2016-10-06T14:52:02Z</dcterms:created>
  <dcterms:modified xsi:type="dcterms:W3CDTF">2020-10-21T21:42:26Z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