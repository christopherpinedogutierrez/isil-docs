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72" r:id="rId2"/>
    <p:sldId id="306" r:id="rId3"/>
    <p:sldId id="432" r:id="rId4"/>
    <p:sldId id="513" r:id="rId5"/>
    <p:sldId id="582" r:id="rId6"/>
    <p:sldId id="315" r:id="rId7"/>
    <p:sldId id="400" r:id="rId8"/>
    <p:sldId id="597" r:id="rId9"/>
    <p:sldId id="458" r:id="rId10"/>
    <p:sldId id="598" r:id="rId11"/>
    <p:sldId id="600" r:id="rId12"/>
    <p:sldId id="601" r:id="rId13"/>
    <p:sldId id="602" r:id="rId14"/>
    <p:sldId id="603" r:id="rId15"/>
    <p:sldId id="604" r:id="rId16"/>
    <p:sldId id="605" r:id="rId17"/>
    <p:sldId id="606" r:id="rId18"/>
    <p:sldId id="607" r:id="rId19"/>
    <p:sldId id="608" r:id="rId20"/>
    <p:sldId id="609" r:id="rId21"/>
    <p:sldId id="610" r:id="rId22"/>
    <p:sldId id="448" r:id="rId23"/>
    <p:sldId id="509" r:id="rId24"/>
    <p:sldId id="511" r:id="rId25"/>
    <p:sldId id="581" r:id="rId26"/>
    <p:sldId id="451" r:id="rId27"/>
    <p:sldId id="470" r:id="rId28"/>
    <p:sldId id="471" r:id="rId29"/>
  </p:sldIdLst>
  <p:sldSz cx="9144000" cy="5715000" type="screen16x10"/>
  <p:notesSz cx="6858000" cy="9144000"/>
  <p:custDataLst>
    <p:tags r:id="rId3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443" userDrawn="1">
          <p15:clr>
            <a:srgbClr val="A4A3A4"/>
          </p15:clr>
        </p15:guide>
        <p15:guide id="3" orient="horz" pos="3274" userDrawn="1">
          <p15:clr>
            <a:srgbClr val="A4A3A4"/>
          </p15:clr>
        </p15:guide>
        <p15:guide id="11" pos="295" userDrawn="1">
          <p15:clr>
            <a:srgbClr val="A4A3A4"/>
          </p15:clr>
        </p15:guide>
        <p15:guide id="12" orient="horz" pos="598" userDrawn="1">
          <p15:clr>
            <a:srgbClr val="A4A3A4"/>
          </p15:clr>
        </p15:guide>
        <p15:guide id="13" orient="horz" pos="258" userDrawn="1">
          <p15:clr>
            <a:srgbClr val="A4A3A4"/>
          </p15:clr>
        </p15:guide>
        <p15:guide id="14" pos="2880" userDrawn="1">
          <p15:clr>
            <a:srgbClr val="A4A3A4"/>
          </p15:clr>
        </p15:guide>
        <p15:guide id="15" pos="3039" userDrawn="1">
          <p15:clr>
            <a:srgbClr val="A4A3A4"/>
          </p15:clr>
        </p15:guide>
        <p15:guide id="17" pos="2721" userDrawn="1">
          <p15:clr>
            <a:srgbClr val="A4A3A4"/>
          </p15:clr>
        </p15:guide>
        <p15:guide id="18" pos="1451" userDrawn="1">
          <p15:clr>
            <a:srgbClr val="A4A3A4"/>
          </p15:clr>
        </p15:guide>
        <p15:guide id="20" pos="4785" userDrawn="1">
          <p15:clr>
            <a:srgbClr val="A4A3A4"/>
          </p15:clr>
        </p15:guide>
        <p15:guide id="23" orient="horz" pos="1006" userDrawn="1">
          <p15:clr>
            <a:srgbClr val="A4A3A4"/>
          </p15:clr>
        </p15:guide>
        <p15:guide id="24" orient="horz" pos="1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97A7"/>
    <a:srgbClr val="DFA635"/>
    <a:srgbClr val="E5584B"/>
    <a:srgbClr val="99C652"/>
    <a:srgbClr val="2EB1B5"/>
    <a:srgbClr val="68529F"/>
    <a:srgbClr val="D2032C"/>
    <a:srgbClr val="F2D164"/>
    <a:srgbClr val="5AB5A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36" autoAdjust="0"/>
    <p:restoredTop sz="75060" autoAdjust="0"/>
  </p:normalViewPr>
  <p:slideViewPr>
    <p:cSldViewPr snapToGrid="0" snapToObjects="1" showGuides="1">
      <p:cViewPr varScale="1">
        <p:scale>
          <a:sx n="81" d="100"/>
          <a:sy n="81" d="100"/>
        </p:scale>
        <p:origin x="1506" y="90"/>
      </p:cViewPr>
      <p:guideLst>
        <p:guide pos="5443"/>
        <p:guide orient="horz" pos="3274"/>
        <p:guide pos="295"/>
        <p:guide orient="horz" pos="598"/>
        <p:guide orient="horz" pos="258"/>
        <p:guide pos="2880"/>
        <p:guide pos="3039"/>
        <p:guide pos="2721"/>
        <p:guide pos="1451"/>
        <p:guide pos="4785"/>
        <p:guide orient="horz" pos="1006"/>
        <p:guide orient="horz" pos="18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C1C1F4-B068-49DD-8085-E83DE5FE91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F8AC1D50-8DEC-42E2-996D-CF1010A8B2A4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Objetivo</a:t>
          </a:r>
          <a:endParaRPr lang="es-PE" sz="1600" dirty="0"/>
        </a:p>
      </dgm:t>
    </dgm:pt>
    <dgm:pt modelId="{786E19C0-B5FB-4042-A047-1BE4F50904A1}" type="parTrans" cxnId="{8F299412-9ED5-4DEE-A8CF-4E0F884EEADC}">
      <dgm:prSet/>
      <dgm:spPr/>
      <dgm:t>
        <a:bodyPr/>
        <a:lstStyle/>
        <a:p>
          <a:endParaRPr lang="es-PE" sz="1600"/>
        </a:p>
      </dgm:t>
    </dgm:pt>
    <dgm:pt modelId="{D92CC6DE-1600-4B15-AB03-51E3F49D26E4}" type="sibTrans" cxnId="{8F299412-9ED5-4DEE-A8CF-4E0F884EEADC}">
      <dgm:prSet/>
      <dgm:spPr/>
      <dgm:t>
        <a:bodyPr/>
        <a:lstStyle/>
        <a:p>
          <a:endParaRPr lang="es-PE" sz="1600"/>
        </a:p>
      </dgm:t>
    </dgm:pt>
    <dgm:pt modelId="{9D39794F-EED4-C94B-8570-AD44643747C3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Riesgos de Continuidad</a:t>
          </a:r>
          <a:endParaRPr lang="es-PE" sz="1600" dirty="0"/>
        </a:p>
      </dgm:t>
    </dgm:pt>
    <dgm:pt modelId="{1EEAE3B4-BFFE-1548-BAC8-06CBEC1D6000}" type="parTrans" cxnId="{BA4208F7-D86F-5449-A30B-2CC12F7FC2C1}">
      <dgm:prSet/>
      <dgm:spPr/>
      <dgm:t>
        <a:bodyPr/>
        <a:lstStyle/>
        <a:p>
          <a:endParaRPr lang="es-ES_tradnl"/>
        </a:p>
      </dgm:t>
    </dgm:pt>
    <dgm:pt modelId="{F023F66B-DF77-2A4D-9CCC-B3B79B89446E}" type="sibTrans" cxnId="{BA4208F7-D86F-5449-A30B-2CC12F7FC2C1}">
      <dgm:prSet/>
      <dgm:spPr/>
      <dgm:t>
        <a:bodyPr/>
        <a:lstStyle/>
        <a:p>
          <a:endParaRPr lang="es-ES_tradnl"/>
        </a:p>
      </dgm:t>
    </dgm:pt>
    <dgm:pt modelId="{7DC2C6EC-0D7D-C94A-BE9D-AC73041F4400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Estrategia de Continuidad</a:t>
          </a:r>
          <a:endParaRPr lang="es-PE" sz="1600" dirty="0"/>
        </a:p>
      </dgm:t>
    </dgm:pt>
    <dgm:pt modelId="{8999C43F-81C8-704C-9691-2E64A8A4D34D}" type="parTrans" cxnId="{A79AFD69-369D-D94A-83BA-9F3628DDF4AD}">
      <dgm:prSet/>
      <dgm:spPr/>
      <dgm:t>
        <a:bodyPr/>
        <a:lstStyle/>
        <a:p>
          <a:endParaRPr lang="es-ES_tradnl"/>
        </a:p>
      </dgm:t>
    </dgm:pt>
    <dgm:pt modelId="{82914DE4-DBFB-934C-A856-2A24347A0F5B}" type="sibTrans" cxnId="{A79AFD69-369D-D94A-83BA-9F3628DDF4AD}">
      <dgm:prSet/>
      <dgm:spPr/>
      <dgm:t>
        <a:bodyPr/>
        <a:lstStyle/>
        <a:p>
          <a:endParaRPr lang="es-ES_tradnl"/>
        </a:p>
      </dgm:t>
    </dgm:pt>
    <dgm:pt modelId="{1D3A4320-C65E-244F-A2E5-ED5415C7993A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Estrategia de Mitigación</a:t>
          </a:r>
          <a:endParaRPr lang="es-PE" sz="1600" dirty="0"/>
        </a:p>
      </dgm:t>
    </dgm:pt>
    <dgm:pt modelId="{E97D28B2-999A-E74B-8E45-9F7D59B4D984}" type="parTrans" cxnId="{E5AAC91B-F1E1-0246-9E79-13ABA676CBB7}">
      <dgm:prSet/>
      <dgm:spPr/>
      <dgm:t>
        <a:bodyPr/>
        <a:lstStyle/>
        <a:p>
          <a:endParaRPr lang="es-ES_tradnl"/>
        </a:p>
      </dgm:t>
    </dgm:pt>
    <dgm:pt modelId="{56A8FA9F-2C7B-5841-843F-7A0AEF8220C4}" type="sibTrans" cxnId="{E5AAC91B-F1E1-0246-9E79-13ABA676CBB7}">
      <dgm:prSet/>
      <dgm:spPr/>
      <dgm:t>
        <a:bodyPr/>
        <a:lstStyle/>
        <a:p>
          <a:endParaRPr lang="es-ES_tradnl"/>
        </a:p>
      </dgm:t>
    </dgm:pt>
    <dgm:pt modelId="{1C1067FD-E418-4B60-B9E3-ACF1A4CBDC81}" type="pres">
      <dgm:prSet presAssocID="{6EC1C1F4-B068-49DD-8085-E83DE5FE91C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PE"/>
        </a:p>
      </dgm:t>
    </dgm:pt>
    <dgm:pt modelId="{3777373B-7A8D-4433-8A8C-4992208C3102}" type="pres">
      <dgm:prSet presAssocID="{F8AC1D50-8DEC-42E2-996D-CF1010A8B2A4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77C821BE-E8B1-43B2-BC83-DA1F290CCBAD}" type="pres">
      <dgm:prSet presAssocID="{D92CC6DE-1600-4B15-AB03-51E3F49D26E4}" presName="spacer" presStyleCnt="0"/>
      <dgm:spPr/>
    </dgm:pt>
    <dgm:pt modelId="{97EA5A2A-25FA-B140-ACB5-C0362BD32A7C}" type="pres">
      <dgm:prSet presAssocID="{9D39794F-EED4-C94B-8570-AD44643747C3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79FC63AC-2135-8B45-B589-9744EBC10BA5}" type="pres">
      <dgm:prSet presAssocID="{F023F66B-DF77-2A4D-9CCC-B3B79B89446E}" presName="spacer" presStyleCnt="0"/>
      <dgm:spPr/>
    </dgm:pt>
    <dgm:pt modelId="{046297E9-D059-6141-9575-632D7065BC71}" type="pres">
      <dgm:prSet presAssocID="{7DC2C6EC-0D7D-C94A-BE9D-AC73041F4400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677DDA8C-C2BF-AC4C-9BA6-33A3B1BF3FF2}" type="pres">
      <dgm:prSet presAssocID="{82914DE4-DBFB-934C-A856-2A24347A0F5B}" presName="spacer" presStyleCnt="0"/>
      <dgm:spPr/>
    </dgm:pt>
    <dgm:pt modelId="{744DD3A8-3164-F841-8C2B-44C48F5F52CA}" type="pres">
      <dgm:prSet presAssocID="{1D3A4320-C65E-244F-A2E5-ED5415C7993A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</dgm:ptLst>
  <dgm:cxnLst>
    <dgm:cxn modelId="{62C9C3E1-3387-D74A-B8DE-9736633FCA08}" type="presOf" srcId="{6EC1C1F4-B068-49DD-8085-E83DE5FE91C0}" destId="{1C1067FD-E418-4B60-B9E3-ACF1A4CBDC81}" srcOrd="0" destOrd="0" presId="urn:microsoft.com/office/officeart/2005/8/layout/vList2"/>
    <dgm:cxn modelId="{8F299412-9ED5-4DEE-A8CF-4E0F884EEADC}" srcId="{6EC1C1F4-B068-49DD-8085-E83DE5FE91C0}" destId="{F8AC1D50-8DEC-42E2-996D-CF1010A8B2A4}" srcOrd="0" destOrd="0" parTransId="{786E19C0-B5FB-4042-A047-1BE4F50904A1}" sibTransId="{D92CC6DE-1600-4B15-AB03-51E3F49D26E4}"/>
    <dgm:cxn modelId="{BA4208F7-D86F-5449-A30B-2CC12F7FC2C1}" srcId="{6EC1C1F4-B068-49DD-8085-E83DE5FE91C0}" destId="{9D39794F-EED4-C94B-8570-AD44643747C3}" srcOrd="1" destOrd="0" parTransId="{1EEAE3B4-BFFE-1548-BAC8-06CBEC1D6000}" sibTransId="{F023F66B-DF77-2A4D-9CCC-B3B79B89446E}"/>
    <dgm:cxn modelId="{CC336526-F52D-0B45-B66C-8006DEF97353}" type="presOf" srcId="{7DC2C6EC-0D7D-C94A-BE9D-AC73041F4400}" destId="{046297E9-D059-6141-9575-632D7065BC71}" srcOrd="0" destOrd="0" presId="urn:microsoft.com/office/officeart/2005/8/layout/vList2"/>
    <dgm:cxn modelId="{28786D63-B50C-2F4F-B75E-4269EB3B2E90}" type="presOf" srcId="{9D39794F-EED4-C94B-8570-AD44643747C3}" destId="{97EA5A2A-25FA-B140-ACB5-C0362BD32A7C}" srcOrd="0" destOrd="0" presId="urn:microsoft.com/office/officeart/2005/8/layout/vList2"/>
    <dgm:cxn modelId="{E5AAC91B-F1E1-0246-9E79-13ABA676CBB7}" srcId="{6EC1C1F4-B068-49DD-8085-E83DE5FE91C0}" destId="{1D3A4320-C65E-244F-A2E5-ED5415C7993A}" srcOrd="3" destOrd="0" parTransId="{E97D28B2-999A-E74B-8E45-9F7D59B4D984}" sibTransId="{56A8FA9F-2C7B-5841-843F-7A0AEF8220C4}"/>
    <dgm:cxn modelId="{54177BEE-296E-B24E-A28E-0EED40B684A0}" type="presOf" srcId="{1D3A4320-C65E-244F-A2E5-ED5415C7993A}" destId="{744DD3A8-3164-F841-8C2B-44C48F5F52CA}" srcOrd="0" destOrd="0" presId="urn:microsoft.com/office/officeart/2005/8/layout/vList2"/>
    <dgm:cxn modelId="{CCD711C3-8CAB-F84A-BF3E-139BB5F62BC6}" type="presOf" srcId="{F8AC1D50-8DEC-42E2-996D-CF1010A8B2A4}" destId="{3777373B-7A8D-4433-8A8C-4992208C3102}" srcOrd="0" destOrd="0" presId="urn:microsoft.com/office/officeart/2005/8/layout/vList2"/>
    <dgm:cxn modelId="{A79AFD69-369D-D94A-83BA-9F3628DDF4AD}" srcId="{6EC1C1F4-B068-49DD-8085-E83DE5FE91C0}" destId="{7DC2C6EC-0D7D-C94A-BE9D-AC73041F4400}" srcOrd="2" destOrd="0" parTransId="{8999C43F-81C8-704C-9691-2E64A8A4D34D}" sibTransId="{82914DE4-DBFB-934C-A856-2A24347A0F5B}"/>
    <dgm:cxn modelId="{8D48F009-7018-D140-B705-7C00932B8A0F}" type="presParOf" srcId="{1C1067FD-E418-4B60-B9E3-ACF1A4CBDC81}" destId="{3777373B-7A8D-4433-8A8C-4992208C3102}" srcOrd="0" destOrd="0" presId="urn:microsoft.com/office/officeart/2005/8/layout/vList2"/>
    <dgm:cxn modelId="{BD40FAE8-3A92-6642-A1C7-AFA5866692F9}" type="presParOf" srcId="{1C1067FD-E418-4B60-B9E3-ACF1A4CBDC81}" destId="{77C821BE-E8B1-43B2-BC83-DA1F290CCBAD}" srcOrd="1" destOrd="0" presId="urn:microsoft.com/office/officeart/2005/8/layout/vList2"/>
    <dgm:cxn modelId="{C86858A8-09F5-3E4F-8E7F-9BCA1C08EDAD}" type="presParOf" srcId="{1C1067FD-E418-4B60-B9E3-ACF1A4CBDC81}" destId="{97EA5A2A-25FA-B140-ACB5-C0362BD32A7C}" srcOrd="2" destOrd="0" presId="urn:microsoft.com/office/officeart/2005/8/layout/vList2"/>
    <dgm:cxn modelId="{34893655-6F77-A246-A173-3404715AEF52}" type="presParOf" srcId="{1C1067FD-E418-4B60-B9E3-ACF1A4CBDC81}" destId="{79FC63AC-2135-8B45-B589-9744EBC10BA5}" srcOrd="3" destOrd="0" presId="urn:microsoft.com/office/officeart/2005/8/layout/vList2"/>
    <dgm:cxn modelId="{18CB98D1-2128-1F4B-AE3E-569B103C1559}" type="presParOf" srcId="{1C1067FD-E418-4B60-B9E3-ACF1A4CBDC81}" destId="{046297E9-D059-6141-9575-632D7065BC71}" srcOrd="4" destOrd="0" presId="urn:microsoft.com/office/officeart/2005/8/layout/vList2"/>
    <dgm:cxn modelId="{81581D9D-BC8D-FA46-AEFF-9D2D2E078BA6}" type="presParOf" srcId="{1C1067FD-E418-4B60-B9E3-ACF1A4CBDC81}" destId="{677DDA8C-C2BF-AC4C-9BA6-33A3B1BF3FF2}" srcOrd="5" destOrd="0" presId="urn:microsoft.com/office/officeart/2005/8/layout/vList2"/>
    <dgm:cxn modelId="{F14DE7C2-2E9C-554A-B077-248F411F3E7B}" type="presParOf" srcId="{1C1067FD-E418-4B60-B9E3-ACF1A4CBDC81}" destId="{744DD3A8-3164-F841-8C2B-44C48F5F52C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FE168F-7024-479B-B89E-225BE56D557E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D4111E31-9C7A-4BFC-9DFC-2E3EB39E3E61}">
      <dgm:prSet phldrT="[Texto]"/>
      <dgm:spPr>
        <a:solidFill>
          <a:srgbClr val="2EB1B5"/>
        </a:solidFill>
      </dgm:spPr>
      <dgm:t>
        <a:bodyPr/>
        <a:lstStyle/>
        <a:p>
          <a:r>
            <a:rPr lang="es-PE" dirty="0" smtClean="0"/>
            <a:t>Identificar amenazas</a:t>
          </a:r>
          <a:endParaRPr lang="es-PE" dirty="0"/>
        </a:p>
      </dgm:t>
    </dgm:pt>
    <dgm:pt modelId="{3CEC2A88-08B0-4965-99E5-4EF64DD71631}" type="parTrans" cxnId="{486FF423-0566-48CF-BEAC-3AB69F33D1A5}">
      <dgm:prSet/>
      <dgm:spPr/>
      <dgm:t>
        <a:bodyPr/>
        <a:lstStyle/>
        <a:p>
          <a:endParaRPr lang="es-PE"/>
        </a:p>
      </dgm:t>
    </dgm:pt>
    <dgm:pt modelId="{2AF5DB71-9927-4DCC-AC40-7FCF266446E7}" type="sibTrans" cxnId="{486FF423-0566-48CF-BEAC-3AB69F33D1A5}">
      <dgm:prSet/>
      <dgm:spPr>
        <a:solidFill>
          <a:srgbClr val="2EB1B5"/>
        </a:solidFill>
      </dgm:spPr>
      <dgm:t>
        <a:bodyPr/>
        <a:lstStyle/>
        <a:p>
          <a:endParaRPr lang="es-PE"/>
        </a:p>
      </dgm:t>
    </dgm:pt>
    <dgm:pt modelId="{09B1B676-01A4-4696-BC14-90E74E680DD4}">
      <dgm:prSet phldrT="[Texto]"/>
      <dgm:spPr>
        <a:solidFill>
          <a:srgbClr val="0197A7"/>
        </a:solidFill>
      </dgm:spPr>
      <dgm:t>
        <a:bodyPr/>
        <a:lstStyle/>
        <a:p>
          <a:r>
            <a:rPr lang="es-PE" dirty="0" smtClean="0"/>
            <a:t>Identificar vulnerabilidades</a:t>
          </a:r>
          <a:endParaRPr lang="es-PE" dirty="0"/>
        </a:p>
      </dgm:t>
    </dgm:pt>
    <dgm:pt modelId="{DFB82D6B-D491-4CB4-BFB8-70AEDEA1C4C3}" type="parTrans" cxnId="{5A48939C-1EAF-4617-95A9-D04A635307FC}">
      <dgm:prSet/>
      <dgm:spPr/>
      <dgm:t>
        <a:bodyPr/>
        <a:lstStyle/>
        <a:p>
          <a:endParaRPr lang="es-PE"/>
        </a:p>
      </dgm:t>
    </dgm:pt>
    <dgm:pt modelId="{5EE1483E-5887-4CCC-81F1-09D9068A4776}" type="sibTrans" cxnId="{5A48939C-1EAF-4617-95A9-D04A635307FC}">
      <dgm:prSet/>
      <dgm:spPr>
        <a:solidFill>
          <a:srgbClr val="0197A7"/>
        </a:solidFill>
      </dgm:spPr>
      <dgm:t>
        <a:bodyPr/>
        <a:lstStyle/>
        <a:p>
          <a:endParaRPr lang="es-PE"/>
        </a:p>
      </dgm:t>
    </dgm:pt>
    <dgm:pt modelId="{BDDFB3AA-129F-415F-BF0E-AD925B9FAEE6}">
      <dgm:prSet phldrT="[Texto]"/>
      <dgm:spPr>
        <a:solidFill>
          <a:srgbClr val="99C652"/>
        </a:solidFill>
      </dgm:spPr>
      <dgm:t>
        <a:bodyPr/>
        <a:lstStyle/>
        <a:p>
          <a:r>
            <a:rPr lang="es-PE" dirty="0" smtClean="0"/>
            <a:t>Valorar el riesgo inherente</a:t>
          </a:r>
          <a:endParaRPr lang="es-PE" dirty="0"/>
        </a:p>
      </dgm:t>
    </dgm:pt>
    <dgm:pt modelId="{92D84C9F-42C3-41A5-8298-291E3652892F}" type="parTrans" cxnId="{E5F5B16D-C09C-418E-88D5-280FB1D9F128}">
      <dgm:prSet/>
      <dgm:spPr/>
      <dgm:t>
        <a:bodyPr/>
        <a:lstStyle/>
        <a:p>
          <a:endParaRPr lang="es-PE"/>
        </a:p>
      </dgm:t>
    </dgm:pt>
    <dgm:pt modelId="{0EF798E6-72B9-44A3-9B2B-99B8BB303E9D}" type="sibTrans" cxnId="{E5F5B16D-C09C-418E-88D5-280FB1D9F128}">
      <dgm:prSet/>
      <dgm:spPr>
        <a:solidFill>
          <a:srgbClr val="99C652"/>
        </a:solidFill>
      </dgm:spPr>
      <dgm:t>
        <a:bodyPr/>
        <a:lstStyle/>
        <a:p>
          <a:endParaRPr lang="es-PE"/>
        </a:p>
      </dgm:t>
    </dgm:pt>
    <dgm:pt modelId="{163F36ED-9D62-4340-ADFF-749C4D924681}">
      <dgm:prSet phldrT="[Texto]"/>
      <dgm:spPr>
        <a:solidFill>
          <a:srgbClr val="E5584B"/>
        </a:solidFill>
      </dgm:spPr>
      <dgm:t>
        <a:bodyPr/>
        <a:lstStyle/>
        <a:p>
          <a:r>
            <a:rPr lang="es-PE" dirty="0" smtClean="0"/>
            <a:t>Identificar controles existentes</a:t>
          </a:r>
          <a:endParaRPr lang="es-PE" dirty="0"/>
        </a:p>
      </dgm:t>
    </dgm:pt>
    <dgm:pt modelId="{30605F2E-24C5-4E70-894B-E007D07634BC}" type="parTrans" cxnId="{29FECAB6-034F-4C4B-BE8C-1413C499E67C}">
      <dgm:prSet/>
      <dgm:spPr/>
      <dgm:t>
        <a:bodyPr/>
        <a:lstStyle/>
        <a:p>
          <a:endParaRPr lang="es-PE"/>
        </a:p>
      </dgm:t>
    </dgm:pt>
    <dgm:pt modelId="{B7E1A0AC-20F9-4343-A4BB-B21BA6ED16AC}" type="sibTrans" cxnId="{29FECAB6-034F-4C4B-BE8C-1413C499E67C}">
      <dgm:prSet/>
      <dgm:spPr>
        <a:solidFill>
          <a:srgbClr val="E5584B"/>
        </a:solidFill>
      </dgm:spPr>
      <dgm:t>
        <a:bodyPr/>
        <a:lstStyle/>
        <a:p>
          <a:endParaRPr lang="es-PE"/>
        </a:p>
      </dgm:t>
    </dgm:pt>
    <dgm:pt modelId="{4B05702D-F2FC-4B38-B4B1-C601C935117B}">
      <dgm:prSet phldrT="[Texto]"/>
      <dgm:spPr>
        <a:solidFill>
          <a:srgbClr val="DFA635"/>
        </a:solidFill>
      </dgm:spPr>
      <dgm:t>
        <a:bodyPr/>
        <a:lstStyle/>
        <a:p>
          <a:r>
            <a:rPr lang="es-PE" dirty="0" smtClean="0"/>
            <a:t>Valorar el riesgo residual</a:t>
          </a:r>
          <a:endParaRPr lang="es-PE" dirty="0"/>
        </a:p>
      </dgm:t>
    </dgm:pt>
    <dgm:pt modelId="{16A9E7AE-C330-498C-A083-F30123348A53}" type="parTrans" cxnId="{EFB86647-9044-49BD-B6FA-E742F069FEA0}">
      <dgm:prSet/>
      <dgm:spPr/>
      <dgm:t>
        <a:bodyPr/>
        <a:lstStyle/>
        <a:p>
          <a:endParaRPr lang="es-PE"/>
        </a:p>
      </dgm:t>
    </dgm:pt>
    <dgm:pt modelId="{B5BD3DB2-3B93-45DF-83A1-36C7588A502C}" type="sibTrans" cxnId="{EFB86647-9044-49BD-B6FA-E742F069FEA0}">
      <dgm:prSet/>
      <dgm:spPr>
        <a:solidFill>
          <a:srgbClr val="DFA635"/>
        </a:solidFill>
      </dgm:spPr>
      <dgm:t>
        <a:bodyPr/>
        <a:lstStyle/>
        <a:p>
          <a:endParaRPr lang="es-PE"/>
        </a:p>
      </dgm:t>
    </dgm:pt>
    <dgm:pt modelId="{D130F4C0-BEC3-4B97-BC18-850AF4EE8A86}">
      <dgm:prSet phldrT="[Texto]"/>
      <dgm:spPr>
        <a:solidFill>
          <a:srgbClr val="D2032C"/>
        </a:solidFill>
      </dgm:spPr>
      <dgm:t>
        <a:bodyPr/>
        <a:lstStyle/>
        <a:p>
          <a:r>
            <a:rPr lang="es-PE" dirty="0" smtClean="0"/>
            <a:t>Recomendar controles</a:t>
          </a:r>
          <a:endParaRPr lang="es-PE" dirty="0"/>
        </a:p>
      </dgm:t>
    </dgm:pt>
    <dgm:pt modelId="{2AC383A1-2982-4804-90D5-29AAA5ADE17A}" type="parTrans" cxnId="{B836386C-7CF9-48E5-A366-7DB0905BBB40}">
      <dgm:prSet/>
      <dgm:spPr/>
      <dgm:t>
        <a:bodyPr/>
        <a:lstStyle/>
        <a:p>
          <a:endParaRPr lang="es-PE"/>
        </a:p>
      </dgm:t>
    </dgm:pt>
    <dgm:pt modelId="{3B77CFC5-6DAB-4641-BFD3-9FA63762D1D5}" type="sibTrans" cxnId="{B836386C-7CF9-48E5-A366-7DB0905BBB40}">
      <dgm:prSet/>
      <dgm:spPr/>
      <dgm:t>
        <a:bodyPr/>
        <a:lstStyle/>
        <a:p>
          <a:endParaRPr lang="es-PE"/>
        </a:p>
      </dgm:t>
    </dgm:pt>
    <dgm:pt modelId="{ED768DAD-0254-47E2-9708-014D1B34B9A9}" type="pres">
      <dgm:prSet presAssocID="{81FE168F-7024-479B-B89E-225BE56D557E}" presName="Name0" presStyleCnt="0">
        <dgm:presLayoutVars>
          <dgm:dir/>
          <dgm:resizeHandles val="exact"/>
        </dgm:presLayoutVars>
      </dgm:prSet>
      <dgm:spPr/>
    </dgm:pt>
    <dgm:pt modelId="{A2620976-8D72-470C-9AD3-699BE070E642}" type="pres">
      <dgm:prSet presAssocID="{D4111E31-9C7A-4BFC-9DFC-2E3EB39E3E61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01AC9035-5954-4AE1-90B5-B43305AE61C8}" type="pres">
      <dgm:prSet presAssocID="{2AF5DB71-9927-4DCC-AC40-7FCF266446E7}" presName="sibTrans" presStyleLbl="sibTrans2D1" presStyleIdx="0" presStyleCnt="5"/>
      <dgm:spPr/>
      <dgm:t>
        <a:bodyPr/>
        <a:lstStyle/>
        <a:p>
          <a:endParaRPr lang="es-PE"/>
        </a:p>
      </dgm:t>
    </dgm:pt>
    <dgm:pt modelId="{8CB5DF09-8D36-4055-AAEC-FEC8521AE748}" type="pres">
      <dgm:prSet presAssocID="{2AF5DB71-9927-4DCC-AC40-7FCF266446E7}" presName="connectorText" presStyleLbl="sibTrans2D1" presStyleIdx="0" presStyleCnt="5"/>
      <dgm:spPr/>
      <dgm:t>
        <a:bodyPr/>
        <a:lstStyle/>
        <a:p>
          <a:endParaRPr lang="es-PE"/>
        </a:p>
      </dgm:t>
    </dgm:pt>
    <dgm:pt modelId="{6B2726FF-7ABC-4CD7-A002-F2054C00E932}" type="pres">
      <dgm:prSet presAssocID="{09B1B676-01A4-4696-BC14-90E74E680DD4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59FBA663-BE2B-4436-9890-3AFA90B70641}" type="pres">
      <dgm:prSet presAssocID="{5EE1483E-5887-4CCC-81F1-09D9068A4776}" presName="sibTrans" presStyleLbl="sibTrans2D1" presStyleIdx="1" presStyleCnt="5"/>
      <dgm:spPr/>
      <dgm:t>
        <a:bodyPr/>
        <a:lstStyle/>
        <a:p>
          <a:endParaRPr lang="es-PE"/>
        </a:p>
      </dgm:t>
    </dgm:pt>
    <dgm:pt modelId="{94A0119B-4344-464E-858D-ED30932D8654}" type="pres">
      <dgm:prSet presAssocID="{5EE1483E-5887-4CCC-81F1-09D9068A4776}" presName="connectorText" presStyleLbl="sibTrans2D1" presStyleIdx="1" presStyleCnt="5"/>
      <dgm:spPr/>
      <dgm:t>
        <a:bodyPr/>
        <a:lstStyle/>
        <a:p>
          <a:endParaRPr lang="es-PE"/>
        </a:p>
      </dgm:t>
    </dgm:pt>
    <dgm:pt modelId="{B6F234AA-B989-409A-B377-24ACA62E4587}" type="pres">
      <dgm:prSet presAssocID="{BDDFB3AA-129F-415F-BF0E-AD925B9FAEE6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EC475F00-6A2C-4DED-9C2E-B807BD9BB250}" type="pres">
      <dgm:prSet presAssocID="{0EF798E6-72B9-44A3-9B2B-99B8BB303E9D}" presName="sibTrans" presStyleLbl="sibTrans2D1" presStyleIdx="2" presStyleCnt="5"/>
      <dgm:spPr/>
      <dgm:t>
        <a:bodyPr/>
        <a:lstStyle/>
        <a:p>
          <a:endParaRPr lang="es-PE"/>
        </a:p>
      </dgm:t>
    </dgm:pt>
    <dgm:pt modelId="{9B30E955-99C7-48A9-B4A5-A4388D9D6930}" type="pres">
      <dgm:prSet presAssocID="{0EF798E6-72B9-44A3-9B2B-99B8BB303E9D}" presName="connectorText" presStyleLbl="sibTrans2D1" presStyleIdx="2" presStyleCnt="5"/>
      <dgm:spPr/>
      <dgm:t>
        <a:bodyPr/>
        <a:lstStyle/>
        <a:p>
          <a:endParaRPr lang="es-PE"/>
        </a:p>
      </dgm:t>
    </dgm:pt>
    <dgm:pt modelId="{D79C6131-DB91-405A-BD70-4169E2E5BFD1}" type="pres">
      <dgm:prSet presAssocID="{163F36ED-9D62-4340-ADFF-749C4D924681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EF753011-2F8D-434D-8138-8F0A05E26A09}" type="pres">
      <dgm:prSet presAssocID="{B7E1A0AC-20F9-4343-A4BB-B21BA6ED16AC}" presName="sibTrans" presStyleLbl="sibTrans2D1" presStyleIdx="3" presStyleCnt="5"/>
      <dgm:spPr/>
      <dgm:t>
        <a:bodyPr/>
        <a:lstStyle/>
        <a:p>
          <a:endParaRPr lang="es-PE"/>
        </a:p>
      </dgm:t>
    </dgm:pt>
    <dgm:pt modelId="{7FF91617-D5EC-4D73-8B10-78A039C74484}" type="pres">
      <dgm:prSet presAssocID="{B7E1A0AC-20F9-4343-A4BB-B21BA6ED16AC}" presName="connectorText" presStyleLbl="sibTrans2D1" presStyleIdx="3" presStyleCnt="5"/>
      <dgm:spPr/>
      <dgm:t>
        <a:bodyPr/>
        <a:lstStyle/>
        <a:p>
          <a:endParaRPr lang="es-PE"/>
        </a:p>
      </dgm:t>
    </dgm:pt>
    <dgm:pt modelId="{CC2C0264-75E5-42A1-98EA-DB79AC372551}" type="pres">
      <dgm:prSet presAssocID="{4B05702D-F2FC-4B38-B4B1-C601C935117B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E10A191E-D75F-4025-8D99-FA1AEE387161}" type="pres">
      <dgm:prSet presAssocID="{B5BD3DB2-3B93-45DF-83A1-36C7588A502C}" presName="sibTrans" presStyleLbl="sibTrans2D1" presStyleIdx="4" presStyleCnt="5"/>
      <dgm:spPr/>
      <dgm:t>
        <a:bodyPr/>
        <a:lstStyle/>
        <a:p>
          <a:endParaRPr lang="es-PE"/>
        </a:p>
      </dgm:t>
    </dgm:pt>
    <dgm:pt modelId="{8FA0BEDC-C634-4D6A-81A0-AF9C0C90748C}" type="pres">
      <dgm:prSet presAssocID="{B5BD3DB2-3B93-45DF-83A1-36C7588A502C}" presName="connectorText" presStyleLbl="sibTrans2D1" presStyleIdx="4" presStyleCnt="5"/>
      <dgm:spPr/>
      <dgm:t>
        <a:bodyPr/>
        <a:lstStyle/>
        <a:p>
          <a:endParaRPr lang="es-PE"/>
        </a:p>
      </dgm:t>
    </dgm:pt>
    <dgm:pt modelId="{D5F71475-984B-4D65-BC6F-A50F465B276C}" type="pres">
      <dgm:prSet presAssocID="{D130F4C0-BEC3-4B97-BC18-850AF4EE8A86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</dgm:ptLst>
  <dgm:cxnLst>
    <dgm:cxn modelId="{C615F84F-9C6D-8F40-AF97-8778342AE3A9}" type="presOf" srcId="{81FE168F-7024-479B-B89E-225BE56D557E}" destId="{ED768DAD-0254-47E2-9708-014D1B34B9A9}" srcOrd="0" destOrd="0" presId="urn:microsoft.com/office/officeart/2005/8/layout/process1"/>
    <dgm:cxn modelId="{1E90924B-1E0F-5C45-BE69-45B71E99954A}" type="presOf" srcId="{B7E1A0AC-20F9-4343-A4BB-B21BA6ED16AC}" destId="{7FF91617-D5EC-4D73-8B10-78A039C74484}" srcOrd="1" destOrd="0" presId="urn:microsoft.com/office/officeart/2005/8/layout/process1"/>
    <dgm:cxn modelId="{5A48939C-1EAF-4617-95A9-D04A635307FC}" srcId="{81FE168F-7024-479B-B89E-225BE56D557E}" destId="{09B1B676-01A4-4696-BC14-90E74E680DD4}" srcOrd="1" destOrd="0" parTransId="{DFB82D6B-D491-4CB4-BFB8-70AEDEA1C4C3}" sibTransId="{5EE1483E-5887-4CCC-81F1-09D9068A4776}"/>
    <dgm:cxn modelId="{21D88834-21C4-B543-BB10-6670EE9D6B8F}" type="presOf" srcId="{5EE1483E-5887-4CCC-81F1-09D9068A4776}" destId="{94A0119B-4344-464E-858D-ED30932D8654}" srcOrd="1" destOrd="0" presId="urn:microsoft.com/office/officeart/2005/8/layout/process1"/>
    <dgm:cxn modelId="{0700ECED-FDC6-B647-940A-2AA4C1D7BCE3}" type="presOf" srcId="{B5BD3DB2-3B93-45DF-83A1-36C7588A502C}" destId="{8FA0BEDC-C634-4D6A-81A0-AF9C0C90748C}" srcOrd="1" destOrd="0" presId="urn:microsoft.com/office/officeart/2005/8/layout/process1"/>
    <dgm:cxn modelId="{ECD7E8D7-E54F-504A-A255-915C3E979315}" type="presOf" srcId="{2AF5DB71-9927-4DCC-AC40-7FCF266446E7}" destId="{01AC9035-5954-4AE1-90B5-B43305AE61C8}" srcOrd="0" destOrd="0" presId="urn:microsoft.com/office/officeart/2005/8/layout/process1"/>
    <dgm:cxn modelId="{B836386C-7CF9-48E5-A366-7DB0905BBB40}" srcId="{81FE168F-7024-479B-B89E-225BE56D557E}" destId="{D130F4C0-BEC3-4B97-BC18-850AF4EE8A86}" srcOrd="5" destOrd="0" parTransId="{2AC383A1-2982-4804-90D5-29AAA5ADE17A}" sibTransId="{3B77CFC5-6DAB-4641-BFD3-9FA63762D1D5}"/>
    <dgm:cxn modelId="{82EBED17-A88C-5144-BB8C-C1F58E3A37B5}" type="presOf" srcId="{0EF798E6-72B9-44A3-9B2B-99B8BB303E9D}" destId="{EC475F00-6A2C-4DED-9C2E-B807BD9BB250}" srcOrd="0" destOrd="0" presId="urn:microsoft.com/office/officeart/2005/8/layout/process1"/>
    <dgm:cxn modelId="{9C6B86AA-AB06-CB4C-B144-B53B0D8468FE}" type="presOf" srcId="{D4111E31-9C7A-4BFC-9DFC-2E3EB39E3E61}" destId="{A2620976-8D72-470C-9AD3-699BE070E642}" srcOrd="0" destOrd="0" presId="urn:microsoft.com/office/officeart/2005/8/layout/process1"/>
    <dgm:cxn modelId="{0CC609E3-0A92-404C-AD8A-2018A5938BEF}" type="presOf" srcId="{D130F4C0-BEC3-4B97-BC18-850AF4EE8A86}" destId="{D5F71475-984B-4D65-BC6F-A50F465B276C}" srcOrd="0" destOrd="0" presId="urn:microsoft.com/office/officeart/2005/8/layout/process1"/>
    <dgm:cxn modelId="{213F3779-17EA-A144-A2F6-9AAF327A500B}" type="presOf" srcId="{BDDFB3AA-129F-415F-BF0E-AD925B9FAEE6}" destId="{B6F234AA-B989-409A-B377-24ACA62E4587}" srcOrd="0" destOrd="0" presId="urn:microsoft.com/office/officeart/2005/8/layout/process1"/>
    <dgm:cxn modelId="{3D8A36F6-3CC2-7B4A-B10E-AE1821B7042A}" type="presOf" srcId="{09B1B676-01A4-4696-BC14-90E74E680DD4}" destId="{6B2726FF-7ABC-4CD7-A002-F2054C00E932}" srcOrd="0" destOrd="0" presId="urn:microsoft.com/office/officeart/2005/8/layout/process1"/>
    <dgm:cxn modelId="{DF8819A2-3A69-404F-B52F-2940A26E764C}" type="presOf" srcId="{5EE1483E-5887-4CCC-81F1-09D9068A4776}" destId="{59FBA663-BE2B-4436-9890-3AFA90B70641}" srcOrd="0" destOrd="0" presId="urn:microsoft.com/office/officeart/2005/8/layout/process1"/>
    <dgm:cxn modelId="{6BB69A07-EE21-E140-BB82-09735B37537A}" type="presOf" srcId="{B5BD3DB2-3B93-45DF-83A1-36C7588A502C}" destId="{E10A191E-D75F-4025-8D99-FA1AEE387161}" srcOrd="0" destOrd="0" presId="urn:microsoft.com/office/officeart/2005/8/layout/process1"/>
    <dgm:cxn modelId="{29FECAB6-034F-4C4B-BE8C-1413C499E67C}" srcId="{81FE168F-7024-479B-B89E-225BE56D557E}" destId="{163F36ED-9D62-4340-ADFF-749C4D924681}" srcOrd="3" destOrd="0" parTransId="{30605F2E-24C5-4E70-894B-E007D07634BC}" sibTransId="{B7E1A0AC-20F9-4343-A4BB-B21BA6ED16AC}"/>
    <dgm:cxn modelId="{31A782E3-4501-6044-96A6-B9E1882D9F1F}" type="presOf" srcId="{0EF798E6-72B9-44A3-9B2B-99B8BB303E9D}" destId="{9B30E955-99C7-48A9-B4A5-A4388D9D6930}" srcOrd="1" destOrd="0" presId="urn:microsoft.com/office/officeart/2005/8/layout/process1"/>
    <dgm:cxn modelId="{50F1754A-BCDF-AB44-90F2-F4AE301427B6}" type="presOf" srcId="{4B05702D-F2FC-4B38-B4B1-C601C935117B}" destId="{CC2C0264-75E5-42A1-98EA-DB79AC372551}" srcOrd="0" destOrd="0" presId="urn:microsoft.com/office/officeart/2005/8/layout/process1"/>
    <dgm:cxn modelId="{486FF423-0566-48CF-BEAC-3AB69F33D1A5}" srcId="{81FE168F-7024-479B-B89E-225BE56D557E}" destId="{D4111E31-9C7A-4BFC-9DFC-2E3EB39E3E61}" srcOrd="0" destOrd="0" parTransId="{3CEC2A88-08B0-4965-99E5-4EF64DD71631}" sibTransId="{2AF5DB71-9927-4DCC-AC40-7FCF266446E7}"/>
    <dgm:cxn modelId="{E5F5B16D-C09C-418E-88D5-280FB1D9F128}" srcId="{81FE168F-7024-479B-B89E-225BE56D557E}" destId="{BDDFB3AA-129F-415F-BF0E-AD925B9FAEE6}" srcOrd="2" destOrd="0" parTransId="{92D84C9F-42C3-41A5-8298-291E3652892F}" sibTransId="{0EF798E6-72B9-44A3-9B2B-99B8BB303E9D}"/>
    <dgm:cxn modelId="{DA25F25F-B471-9E44-BCDD-6FCD16981638}" type="presOf" srcId="{2AF5DB71-9927-4DCC-AC40-7FCF266446E7}" destId="{8CB5DF09-8D36-4055-AAEC-FEC8521AE748}" srcOrd="1" destOrd="0" presId="urn:microsoft.com/office/officeart/2005/8/layout/process1"/>
    <dgm:cxn modelId="{BC9741D2-2658-4241-B0FD-0C2A43662EFC}" type="presOf" srcId="{163F36ED-9D62-4340-ADFF-749C4D924681}" destId="{D79C6131-DB91-405A-BD70-4169E2E5BFD1}" srcOrd="0" destOrd="0" presId="urn:microsoft.com/office/officeart/2005/8/layout/process1"/>
    <dgm:cxn modelId="{EFB86647-9044-49BD-B6FA-E742F069FEA0}" srcId="{81FE168F-7024-479B-B89E-225BE56D557E}" destId="{4B05702D-F2FC-4B38-B4B1-C601C935117B}" srcOrd="4" destOrd="0" parTransId="{16A9E7AE-C330-498C-A083-F30123348A53}" sibTransId="{B5BD3DB2-3B93-45DF-83A1-36C7588A502C}"/>
    <dgm:cxn modelId="{8A557D82-B9A0-BD40-A98A-2586B53E5DFE}" type="presOf" srcId="{B7E1A0AC-20F9-4343-A4BB-B21BA6ED16AC}" destId="{EF753011-2F8D-434D-8138-8F0A05E26A09}" srcOrd="0" destOrd="0" presId="urn:microsoft.com/office/officeart/2005/8/layout/process1"/>
    <dgm:cxn modelId="{A671014A-A929-8943-8BD6-2E53DF65949B}" type="presParOf" srcId="{ED768DAD-0254-47E2-9708-014D1B34B9A9}" destId="{A2620976-8D72-470C-9AD3-699BE070E642}" srcOrd="0" destOrd="0" presId="urn:microsoft.com/office/officeart/2005/8/layout/process1"/>
    <dgm:cxn modelId="{44EA764D-70D0-F047-B516-0DDB66C38AE1}" type="presParOf" srcId="{ED768DAD-0254-47E2-9708-014D1B34B9A9}" destId="{01AC9035-5954-4AE1-90B5-B43305AE61C8}" srcOrd="1" destOrd="0" presId="urn:microsoft.com/office/officeart/2005/8/layout/process1"/>
    <dgm:cxn modelId="{52C3D533-BB3C-F74F-B191-613D1125C75B}" type="presParOf" srcId="{01AC9035-5954-4AE1-90B5-B43305AE61C8}" destId="{8CB5DF09-8D36-4055-AAEC-FEC8521AE748}" srcOrd="0" destOrd="0" presId="urn:microsoft.com/office/officeart/2005/8/layout/process1"/>
    <dgm:cxn modelId="{E192787A-DFC5-6A4C-A826-1C19C003F7FB}" type="presParOf" srcId="{ED768DAD-0254-47E2-9708-014D1B34B9A9}" destId="{6B2726FF-7ABC-4CD7-A002-F2054C00E932}" srcOrd="2" destOrd="0" presId="urn:microsoft.com/office/officeart/2005/8/layout/process1"/>
    <dgm:cxn modelId="{E90DD996-7DF3-1F4D-B357-D25398FB2A24}" type="presParOf" srcId="{ED768DAD-0254-47E2-9708-014D1B34B9A9}" destId="{59FBA663-BE2B-4436-9890-3AFA90B70641}" srcOrd="3" destOrd="0" presId="urn:microsoft.com/office/officeart/2005/8/layout/process1"/>
    <dgm:cxn modelId="{EB53D0E2-F84E-9A47-8843-F01C8BB69080}" type="presParOf" srcId="{59FBA663-BE2B-4436-9890-3AFA90B70641}" destId="{94A0119B-4344-464E-858D-ED30932D8654}" srcOrd="0" destOrd="0" presId="urn:microsoft.com/office/officeart/2005/8/layout/process1"/>
    <dgm:cxn modelId="{A623C40E-AA1D-D54C-82E0-9F06F9A8B757}" type="presParOf" srcId="{ED768DAD-0254-47E2-9708-014D1B34B9A9}" destId="{B6F234AA-B989-409A-B377-24ACA62E4587}" srcOrd="4" destOrd="0" presId="urn:microsoft.com/office/officeart/2005/8/layout/process1"/>
    <dgm:cxn modelId="{C4B4E781-1C7A-8940-8102-7481A30A05F8}" type="presParOf" srcId="{ED768DAD-0254-47E2-9708-014D1B34B9A9}" destId="{EC475F00-6A2C-4DED-9C2E-B807BD9BB250}" srcOrd="5" destOrd="0" presId="urn:microsoft.com/office/officeart/2005/8/layout/process1"/>
    <dgm:cxn modelId="{2748C0ED-D9CD-3D4C-AA2C-33A1A83B3B1C}" type="presParOf" srcId="{EC475F00-6A2C-4DED-9C2E-B807BD9BB250}" destId="{9B30E955-99C7-48A9-B4A5-A4388D9D6930}" srcOrd="0" destOrd="0" presId="urn:microsoft.com/office/officeart/2005/8/layout/process1"/>
    <dgm:cxn modelId="{4B9BAA09-9930-524B-AB9B-CF2AB1910133}" type="presParOf" srcId="{ED768DAD-0254-47E2-9708-014D1B34B9A9}" destId="{D79C6131-DB91-405A-BD70-4169E2E5BFD1}" srcOrd="6" destOrd="0" presId="urn:microsoft.com/office/officeart/2005/8/layout/process1"/>
    <dgm:cxn modelId="{40D5D365-6A56-1B44-A013-34F82787D44E}" type="presParOf" srcId="{ED768DAD-0254-47E2-9708-014D1B34B9A9}" destId="{EF753011-2F8D-434D-8138-8F0A05E26A09}" srcOrd="7" destOrd="0" presId="urn:microsoft.com/office/officeart/2005/8/layout/process1"/>
    <dgm:cxn modelId="{5EEAF99D-2BDB-9143-9631-8DDD43514C36}" type="presParOf" srcId="{EF753011-2F8D-434D-8138-8F0A05E26A09}" destId="{7FF91617-D5EC-4D73-8B10-78A039C74484}" srcOrd="0" destOrd="0" presId="urn:microsoft.com/office/officeart/2005/8/layout/process1"/>
    <dgm:cxn modelId="{7DB93E8A-F8B4-9340-ABFB-852568327A1F}" type="presParOf" srcId="{ED768DAD-0254-47E2-9708-014D1B34B9A9}" destId="{CC2C0264-75E5-42A1-98EA-DB79AC372551}" srcOrd="8" destOrd="0" presId="urn:microsoft.com/office/officeart/2005/8/layout/process1"/>
    <dgm:cxn modelId="{D86E2EA9-48C3-6F49-8CC3-160B80144564}" type="presParOf" srcId="{ED768DAD-0254-47E2-9708-014D1B34B9A9}" destId="{E10A191E-D75F-4025-8D99-FA1AEE387161}" srcOrd="9" destOrd="0" presId="urn:microsoft.com/office/officeart/2005/8/layout/process1"/>
    <dgm:cxn modelId="{3105E3E4-51A9-2D45-ACF4-671129CA7ABF}" type="presParOf" srcId="{E10A191E-D75F-4025-8D99-FA1AEE387161}" destId="{8FA0BEDC-C634-4D6A-81A0-AF9C0C90748C}" srcOrd="0" destOrd="0" presId="urn:microsoft.com/office/officeart/2005/8/layout/process1"/>
    <dgm:cxn modelId="{B40B1ADC-73F9-8C47-A0D3-DA8FCDED3356}" type="presParOf" srcId="{ED768DAD-0254-47E2-9708-014D1B34B9A9}" destId="{D5F71475-984B-4D65-BC6F-A50F465B276C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7C26C6-B347-414D-AA36-0065D343F41C}" type="doc">
      <dgm:prSet loTypeId="urn:microsoft.com/office/officeart/2005/8/layout/cycle2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PE"/>
        </a:p>
      </dgm:t>
    </dgm:pt>
    <dgm:pt modelId="{CBFDB0C3-D640-47DA-BC3B-09D20BCAFB53}">
      <dgm:prSet phldrT="[Texto]" custT="1"/>
      <dgm:spPr>
        <a:solidFill>
          <a:srgbClr val="0197A7"/>
        </a:solidFill>
      </dgm:spPr>
      <dgm:t>
        <a:bodyPr/>
        <a:lstStyle/>
        <a:p>
          <a:r>
            <a:rPr lang="es-PE" sz="1200" dirty="0" smtClean="0"/>
            <a:t>1. Entender el Negocio</a:t>
          </a:r>
          <a:endParaRPr lang="es-PE" sz="1200" dirty="0"/>
        </a:p>
      </dgm:t>
    </dgm:pt>
    <dgm:pt modelId="{016C32F3-256D-4508-81D9-91EED7681E9F}" type="parTrans" cxnId="{975DB728-30AC-45EB-8A3B-7F62E21A96A8}">
      <dgm:prSet/>
      <dgm:spPr/>
      <dgm:t>
        <a:bodyPr/>
        <a:lstStyle/>
        <a:p>
          <a:endParaRPr lang="es-PE"/>
        </a:p>
      </dgm:t>
    </dgm:pt>
    <dgm:pt modelId="{F3DBFC35-CA25-471E-BA1A-16D79484EC86}" type="sibTrans" cxnId="{975DB728-30AC-45EB-8A3B-7F62E21A96A8}">
      <dgm:prSet/>
      <dgm:spPr>
        <a:solidFill>
          <a:srgbClr val="0197A7"/>
        </a:solidFill>
      </dgm:spPr>
      <dgm:t>
        <a:bodyPr/>
        <a:lstStyle/>
        <a:p>
          <a:endParaRPr lang="es-PE"/>
        </a:p>
      </dgm:t>
    </dgm:pt>
    <dgm:pt modelId="{BB88DBE5-043C-4BB3-BE7A-55CDD8F2DDFE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200" dirty="0" smtClean="0"/>
            <a:t>2. Definir Estrategias</a:t>
          </a:r>
          <a:endParaRPr lang="es-PE" sz="1200" dirty="0"/>
        </a:p>
      </dgm:t>
    </dgm:pt>
    <dgm:pt modelId="{13F4A3D2-58BE-45E6-B0E9-178842555E0D}" type="parTrans" cxnId="{F64CD2DE-E1EE-487E-97F1-BFD481B912D3}">
      <dgm:prSet/>
      <dgm:spPr/>
      <dgm:t>
        <a:bodyPr/>
        <a:lstStyle/>
        <a:p>
          <a:endParaRPr lang="es-PE"/>
        </a:p>
      </dgm:t>
    </dgm:pt>
    <dgm:pt modelId="{E473C3A0-E2BC-4176-A203-2C8376FA1D3C}" type="sibTrans" cxnId="{F64CD2DE-E1EE-487E-97F1-BFD481B912D3}">
      <dgm:prSet/>
      <dgm:spPr>
        <a:solidFill>
          <a:srgbClr val="2EB1B5"/>
        </a:solidFill>
      </dgm:spPr>
      <dgm:t>
        <a:bodyPr/>
        <a:lstStyle/>
        <a:p>
          <a:endParaRPr lang="es-PE"/>
        </a:p>
      </dgm:t>
    </dgm:pt>
    <dgm:pt modelId="{C08D7128-1A49-4466-B9C4-88888A3885AD}">
      <dgm:prSet phldrT="[Texto]" custT="1"/>
      <dgm:spPr>
        <a:solidFill>
          <a:srgbClr val="99C652"/>
        </a:solidFill>
      </dgm:spPr>
      <dgm:t>
        <a:bodyPr/>
        <a:lstStyle/>
        <a:p>
          <a:r>
            <a:rPr lang="es-PE" sz="1200" dirty="0" smtClean="0"/>
            <a:t>3. Desarrollar Respuestas</a:t>
          </a:r>
          <a:endParaRPr lang="es-PE" sz="1200" dirty="0"/>
        </a:p>
      </dgm:t>
    </dgm:pt>
    <dgm:pt modelId="{47906C3D-86E6-4C00-B978-73A2848397E7}" type="parTrans" cxnId="{C287A297-996A-4E21-A2AF-AFB063941B2C}">
      <dgm:prSet/>
      <dgm:spPr/>
      <dgm:t>
        <a:bodyPr/>
        <a:lstStyle/>
        <a:p>
          <a:endParaRPr lang="es-PE"/>
        </a:p>
      </dgm:t>
    </dgm:pt>
    <dgm:pt modelId="{0825A727-94E2-4AAE-9DB3-6628B7E320E3}" type="sibTrans" cxnId="{C287A297-996A-4E21-A2AF-AFB063941B2C}">
      <dgm:prSet/>
      <dgm:spPr>
        <a:solidFill>
          <a:srgbClr val="99C652"/>
        </a:solidFill>
      </dgm:spPr>
      <dgm:t>
        <a:bodyPr/>
        <a:lstStyle/>
        <a:p>
          <a:endParaRPr lang="es-PE"/>
        </a:p>
      </dgm:t>
    </dgm:pt>
    <dgm:pt modelId="{12419BDB-EF37-4F2B-9126-F31A3AEE2B3B}">
      <dgm:prSet phldrT="[Texto]" custT="1"/>
      <dgm:spPr>
        <a:solidFill>
          <a:srgbClr val="E5584B"/>
        </a:solidFill>
      </dgm:spPr>
      <dgm:t>
        <a:bodyPr/>
        <a:lstStyle/>
        <a:p>
          <a:r>
            <a:rPr lang="es-PE" sz="1200" dirty="0" smtClean="0"/>
            <a:t>4. Desarrollar Cultura</a:t>
          </a:r>
          <a:endParaRPr lang="es-PE" sz="1200" dirty="0"/>
        </a:p>
      </dgm:t>
    </dgm:pt>
    <dgm:pt modelId="{B3215FAE-E375-4F7F-9F69-4D4F0D8A844C}" type="parTrans" cxnId="{A4D4B795-B353-4068-B1A4-A6E216A538B3}">
      <dgm:prSet/>
      <dgm:spPr/>
      <dgm:t>
        <a:bodyPr/>
        <a:lstStyle/>
        <a:p>
          <a:endParaRPr lang="es-PE"/>
        </a:p>
      </dgm:t>
    </dgm:pt>
    <dgm:pt modelId="{AE84AD06-88EA-4E6A-A62F-629D16C98234}" type="sibTrans" cxnId="{A4D4B795-B353-4068-B1A4-A6E216A538B3}">
      <dgm:prSet/>
      <dgm:spPr>
        <a:solidFill>
          <a:srgbClr val="E5584B"/>
        </a:solidFill>
      </dgm:spPr>
      <dgm:t>
        <a:bodyPr/>
        <a:lstStyle/>
        <a:p>
          <a:endParaRPr lang="es-PE"/>
        </a:p>
      </dgm:t>
    </dgm:pt>
    <dgm:pt modelId="{E8051480-29F4-4122-A088-55B8E056A4EB}">
      <dgm:prSet phldrT="[Texto]" custT="1"/>
      <dgm:spPr>
        <a:solidFill>
          <a:srgbClr val="DFA635"/>
        </a:solidFill>
      </dgm:spPr>
      <dgm:t>
        <a:bodyPr/>
        <a:lstStyle/>
        <a:p>
          <a:r>
            <a:rPr lang="es-PE" sz="1200" dirty="0" smtClean="0"/>
            <a:t>5. Probar, mantener, auditar</a:t>
          </a:r>
          <a:endParaRPr lang="es-PE" sz="1200" dirty="0"/>
        </a:p>
      </dgm:t>
    </dgm:pt>
    <dgm:pt modelId="{5907889C-22B6-433A-9402-81A22064266F}" type="parTrans" cxnId="{47AC9808-DD1B-4E32-B44C-832AE249C8F5}">
      <dgm:prSet/>
      <dgm:spPr/>
      <dgm:t>
        <a:bodyPr/>
        <a:lstStyle/>
        <a:p>
          <a:endParaRPr lang="es-PE"/>
        </a:p>
      </dgm:t>
    </dgm:pt>
    <dgm:pt modelId="{22E9FAD2-CBAE-4485-A227-750BEE298B51}" type="sibTrans" cxnId="{47AC9808-DD1B-4E32-B44C-832AE249C8F5}">
      <dgm:prSet/>
      <dgm:spPr>
        <a:solidFill>
          <a:srgbClr val="DFA635"/>
        </a:solidFill>
      </dgm:spPr>
      <dgm:t>
        <a:bodyPr/>
        <a:lstStyle/>
        <a:p>
          <a:endParaRPr lang="es-PE"/>
        </a:p>
      </dgm:t>
    </dgm:pt>
    <dgm:pt modelId="{50261984-8D88-47E2-B421-148E2B675AC2}" type="pres">
      <dgm:prSet presAssocID="{C07C26C6-B347-414D-AA36-0065D343F41C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PE"/>
        </a:p>
      </dgm:t>
    </dgm:pt>
    <dgm:pt modelId="{F96854C8-4A55-4747-9829-29F52FFC06CE}" type="pres">
      <dgm:prSet presAssocID="{CBFDB0C3-D640-47DA-BC3B-09D20BCAFB53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6D0CEB70-E847-4BBA-AAD6-C01D644B0AF9}" type="pres">
      <dgm:prSet presAssocID="{F3DBFC35-CA25-471E-BA1A-16D79484EC86}" presName="sibTrans" presStyleLbl="sibTrans2D1" presStyleIdx="0" presStyleCnt="5"/>
      <dgm:spPr/>
      <dgm:t>
        <a:bodyPr/>
        <a:lstStyle/>
        <a:p>
          <a:endParaRPr lang="es-PE"/>
        </a:p>
      </dgm:t>
    </dgm:pt>
    <dgm:pt modelId="{C235E59A-FC04-4935-A471-1BFDC4797443}" type="pres">
      <dgm:prSet presAssocID="{F3DBFC35-CA25-471E-BA1A-16D79484EC86}" presName="connectorText" presStyleLbl="sibTrans2D1" presStyleIdx="0" presStyleCnt="5"/>
      <dgm:spPr/>
      <dgm:t>
        <a:bodyPr/>
        <a:lstStyle/>
        <a:p>
          <a:endParaRPr lang="es-PE"/>
        </a:p>
      </dgm:t>
    </dgm:pt>
    <dgm:pt modelId="{A988170D-B875-4EFF-8C65-702ADF872378}" type="pres">
      <dgm:prSet presAssocID="{BB88DBE5-043C-4BB3-BE7A-55CDD8F2DDFE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9BF113CF-C3CC-4896-8A18-8CE4A799F96E}" type="pres">
      <dgm:prSet presAssocID="{E473C3A0-E2BC-4176-A203-2C8376FA1D3C}" presName="sibTrans" presStyleLbl="sibTrans2D1" presStyleIdx="1" presStyleCnt="5"/>
      <dgm:spPr/>
      <dgm:t>
        <a:bodyPr/>
        <a:lstStyle/>
        <a:p>
          <a:endParaRPr lang="es-PE"/>
        </a:p>
      </dgm:t>
    </dgm:pt>
    <dgm:pt modelId="{E85C7C33-75DA-4AAB-8342-38742987C665}" type="pres">
      <dgm:prSet presAssocID="{E473C3A0-E2BC-4176-A203-2C8376FA1D3C}" presName="connectorText" presStyleLbl="sibTrans2D1" presStyleIdx="1" presStyleCnt="5"/>
      <dgm:spPr/>
      <dgm:t>
        <a:bodyPr/>
        <a:lstStyle/>
        <a:p>
          <a:endParaRPr lang="es-PE"/>
        </a:p>
      </dgm:t>
    </dgm:pt>
    <dgm:pt modelId="{D81DE64F-EF81-466E-AB35-B915E70F0722}" type="pres">
      <dgm:prSet presAssocID="{C08D7128-1A49-4466-B9C4-88888A3885AD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FF3FE78D-829F-45DA-83BB-A25D7C2DBBAC}" type="pres">
      <dgm:prSet presAssocID="{0825A727-94E2-4AAE-9DB3-6628B7E320E3}" presName="sibTrans" presStyleLbl="sibTrans2D1" presStyleIdx="2" presStyleCnt="5"/>
      <dgm:spPr/>
      <dgm:t>
        <a:bodyPr/>
        <a:lstStyle/>
        <a:p>
          <a:endParaRPr lang="es-PE"/>
        </a:p>
      </dgm:t>
    </dgm:pt>
    <dgm:pt modelId="{E356F5FB-FD91-447C-A7F4-908A80FF91C9}" type="pres">
      <dgm:prSet presAssocID="{0825A727-94E2-4AAE-9DB3-6628B7E320E3}" presName="connectorText" presStyleLbl="sibTrans2D1" presStyleIdx="2" presStyleCnt="5"/>
      <dgm:spPr/>
      <dgm:t>
        <a:bodyPr/>
        <a:lstStyle/>
        <a:p>
          <a:endParaRPr lang="es-PE"/>
        </a:p>
      </dgm:t>
    </dgm:pt>
    <dgm:pt modelId="{D9D21C8D-275F-4607-B31F-308CAB7ECA6E}" type="pres">
      <dgm:prSet presAssocID="{12419BDB-EF37-4F2B-9126-F31A3AEE2B3B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C498F738-F3F0-4327-84E5-8F9F955E340B}" type="pres">
      <dgm:prSet presAssocID="{AE84AD06-88EA-4E6A-A62F-629D16C98234}" presName="sibTrans" presStyleLbl="sibTrans2D1" presStyleIdx="3" presStyleCnt="5"/>
      <dgm:spPr/>
      <dgm:t>
        <a:bodyPr/>
        <a:lstStyle/>
        <a:p>
          <a:endParaRPr lang="es-PE"/>
        </a:p>
      </dgm:t>
    </dgm:pt>
    <dgm:pt modelId="{DAD5EDA7-84D2-41B5-A9F6-1B3A17F9B1CC}" type="pres">
      <dgm:prSet presAssocID="{AE84AD06-88EA-4E6A-A62F-629D16C98234}" presName="connectorText" presStyleLbl="sibTrans2D1" presStyleIdx="3" presStyleCnt="5"/>
      <dgm:spPr/>
      <dgm:t>
        <a:bodyPr/>
        <a:lstStyle/>
        <a:p>
          <a:endParaRPr lang="es-PE"/>
        </a:p>
      </dgm:t>
    </dgm:pt>
    <dgm:pt modelId="{A28E5AFA-7058-46B0-88F3-FDE9D2FB95F4}" type="pres">
      <dgm:prSet presAssocID="{E8051480-29F4-4122-A088-55B8E056A4EB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C467A0E3-E74E-4DAE-976A-4840AB9B33C1}" type="pres">
      <dgm:prSet presAssocID="{22E9FAD2-CBAE-4485-A227-750BEE298B51}" presName="sibTrans" presStyleLbl="sibTrans2D1" presStyleIdx="4" presStyleCnt="5"/>
      <dgm:spPr/>
      <dgm:t>
        <a:bodyPr/>
        <a:lstStyle/>
        <a:p>
          <a:endParaRPr lang="es-PE"/>
        </a:p>
      </dgm:t>
    </dgm:pt>
    <dgm:pt modelId="{9E5DA849-D199-4228-87C0-2D00122401F2}" type="pres">
      <dgm:prSet presAssocID="{22E9FAD2-CBAE-4485-A227-750BEE298B51}" presName="connectorText" presStyleLbl="sibTrans2D1" presStyleIdx="4" presStyleCnt="5"/>
      <dgm:spPr/>
      <dgm:t>
        <a:bodyPr/>
        <a:lstStyle/>
        <a:p>
          <a:endParaRPr lang="es-PE"/>
        </a:p>
      </dgm:t>
    </dgm:pt>
  </dgm:ptLst>
  <dgm:cxnLst>
    <dgm:cxn modelId="{2C378767-34B0-B94A-ABAB-5B481D153534}" type="presOf" srcId="{AE84AD06-88EA-4E6A-A62F-629D16C98234}" destId="{DAD5EDA7-84D2-41B5-A9F6-1B3A17F9B1CC}" srcOrd="1" destOrd="0" presId="urn:microsoft.com/office/officeart/2005/8/layout/cycle2"/>
    <dgm:cxn modelId="{BE0F552A-9204-204D-B780-2D554DA62B0E}" type="presOf" srcId="{0825A727-94E2-4AAE-9DB3-6628B7E320E3}" destId="{E356F5FB-FD91-447C-A7F4-908A80FF91C9}" srcOrd="1" destOrd="0" presId="urn:microsoft.com/office/officeart/2005/8/layout/cycle2"/>
    <dgm:cxn modelId="{9A34EB25-0228-6047-8EDF-27F1DEA011B8}" type="presOf" srcId="{0825A727-94E2-4AAE-9DB3-6628B7E320E3}" destId="{FF3FE78D-829F-45DA-83BB-A25D7C2DBBAC}" srcOrd="0" destOrd="0" presId="urn:microsoft.com/office/officeart/2005/8/layout/cycle2"/>
    <dgm:cxn modelId="{A4D4B795-B353-4068-B1A4-A6E216A538B3}" srcId="{C07C26C6-B347-414D-AA36-0065D343F41C}" destId="{12419BDB-EF37-4F2B-9126-F31A3AEE2B3B}" srcOrd="3" destOrd="0" parTransId="{B3215FAE-E375-4F7F-9F69-4D4F0D8A844C}" sibTransId="{AE84AD06-88EA-4E6A-A62F-629D16C98234}"/>
    <dgm:cxn modelId="{1F0A32BA-848E-384E-9DA4-92F419A2FB83}" type="presOf" srcId="{BB88DBE5-043C-4BB3-BE7A-55CDD8F2DDFE}" destId="{A988170D-B875-4EFF-8C65-702ADF872378}" srcOrd="0" destOrd="0" presId="urn:microsoft.com/office/officeart/2005/8/layout/cycle2"/>
    <dgm:cxn modelId="{49B23BDA-C770-BC4C-861F-41B29E2A57AB}" type="presOf" srcId="{F3DBFC35-CA25-471E-BA1A-16D79484EC86}" destId="{C235E59A-FC04-4935-A471-1BFDC4797443}" srcOrd="1" destOrd="0" presId="urn:microsoft.com/office/officeart/2005/8/layout/cycle2"/>
    <dgm:cxn modelId="{F7BE0F3B-1C48-C149-95CB-05A9CC18227B}" type="presOf" srcId="{22E9FAD2-CBAE-4485-A227-750BEE298B51}" destId="{9E5DA849-D199-4228-87C0-2D00122401F2}" srcOrd="1" destOrd="0" presId="urn:microsoft.com/office/officeart/2005/8/layout/cycle2"/>
    <dgm:cxn modelId="{4F7E8CFE-AE25-0844-95C8-D0F2C976B55B}" type="presOf" srcId="{22E9FAD2-CBAE-4485-A227-750BEE298B51}" destId="{C467A0E3-E74E-4DAE-976A-4840AB9B33C1}" srcOrd="0" destOrd="0" presId="urn:microsoft.com/office/officeart/2005/8/layout/cycle2"/>
    <dgm:cxn modelId="{C287A297-996A-4E21-A2AF-AFB063941B2C}" srcId="{C07C26C6-B347-414D-AA36-0065D343F41C}" destId="{C08D7128-1A49-4466-B9C4-88888A3885AD}" srcOrd="2" destOrd="0" parTransId="{47906C3D-86E6-4C00-B978-73A2848397E7}" sibTransId="{0825A727-94E2-4AAE-9DB3-6628B7E320E3}"/>
    <dgm:cxn modelId="{B9777A41-859F-D246-981D-BD84A8DEEF5C}" type="presOf" srcId="{E473C3A0-E2BC-4176-A203-2C8376FA1D3C}" destId="{9BF113CF-C3CC-4896-8A18-8CE4A799F96E}" srcOrd="0" destOrd="0" presId="urn:microsoft.com/office/officeart/2005/8/layout/cycle2"/>
    <dgm:cxn modelId="{639EF776-31FC-6244-9FD8-1F0D616BB03E}" type="presOf" srcId="{AE84AD06-88EA-4E6A-A62F-629D16C98234}" destId="{C498F738-F3F0-4327-84E5-8F9F955E340B}" srcOrd="0" destOrd="0" presId="urn:microsoft.com/office/officeart/2005/8/layout/cycle2"/>
    <dgm:cxn modelId="{80A1C269-59AC-A048-94A1-E59C04B1EE3C}" type="presOf" srcId="{E473C3A0-E2BC-4176-A203-2C8376FA1D3C}" destId="{E85C7C33-75DA-4AAB-8342-38742987C665}" srcOrd="1" destOrd="0" presId="urn:microsoft.com/office/officeart/2005/8/layout/cycle2"/>
    <dgm:cxn modelId="{3E3E115D-C710-2948-8FD9-830CD28595EA}" type="presOf" srcId="{F3DBFC35-CA25-471E-BA1A-16D79484EC86}" destId="{6D0CEB70-E847-4BBA-AAD6-C01D644B0AF9}" srcOrd="0" destOrd="0" presId="urn:microsoft.com/office/officeart/2005/8/layout/cycle2"/>
    <dgm:cxn modelId="{B52C3015-DF8E-1F4E-9EE2-F21D0BDB4CE4}" type="presOf" srcId="{CBFDB0C3-D640-47DA-BC3B-09D20BCAFB53}" destId="{F96854C8-4A55-4747-9829-29F52FFC06CE}" srcOrd="0" destOrd="0" presId="urn:microsoft.com/office/officeart/2005/8/layout/cycle2"/>
    <dgm:cxn modelId="{F64CD2DE-E1EE-487E-97F1-BFD481B912D3}" srcId="{C07C26C6-B347-414D-AA36-0065D343F41C}" destId="{BB88DBE5-043C-4BB3-BE7A-55CDD8F2DDFE}" srcOrd="1" destOrd="0" parTransId="{13F4A3D2-58BE-45E6-B0E9-178842555E0D}" sibTransId="{E473C3A0-E2BC-4176-A203-2C8376FA1D3C}"/>
    <dgm:cxn modelId="{61CF385D-3727-DE49-ADB5-7A8568673E37}" type="presOf" srcId="{E8051480-29F4-4122-A088-55B8E056A4EB}" destId="{A28E5AFA-7058-46B0-88F3-FDE9D2FB95F4}" srcOrd="0" destOrd="0" presId="urn:microsoft.com/office/officeart/2005/8/layout/cycle2"/>
    <dgm:cxn modelId="{9B61327F-428B-6640-A872-73895161B58B}" type="presOf" srcId="{12419BDB-EF37-4F2B-9126-F31A3AEE2B3B}" destId="{D9D21C8D-275F-4607-B31F-308CAB7ECA6E}" srcOrd="0" destOrd="0" presId="urn:microsoft.com/office/officeart/2005/8/layout/cycle2"/>
    <dgm:cxn modelId="{703E4DC1-276C-7748-9682-55D676CAD975}" type="presOf" srcId="{C07C26C6-B347-414D-AA36-0065D343F41C}" destId="{50261984-8D88-47E2-B421-148E2B675AC2}" srcOrd="0" destOrd="0" presId="urn:microsoft.com/office/officeart/2005/8/layout/cycle2"/>
    <dgm:cxn modelId="{47AC9808-DD1B-4E32-B44C-832AE249C8F5}" srcId="{C07C26C6-B347-414D-AA36-0065D343F41C}" destId="{E8051480-29F4-4122-A088-55B8E056A4EB}" srcOrd="4" destOrd="0" parTransId="{5907889C-22B6-433A-9402-81A22064266F}" sibTransId="{22E9FAD2-CBAE-4485-A227-750BEE298B51}"/>
    <dgm:cxn modelId="{975DB728-30AC-45EB-8A3B-7F62E21A96A8}" srcId="{C07C26C6-B347-414D-AA36-0065D343F41C}" destId="{CBFDB0C3-D640-47DA-BC3B-09D20BCAFB53}" srcOrd="0" destOrd="0" parTransId="{016C32F3-256D-4508-81D9-91EED7681E9F}" sibTransId="{F3DBFC35-CA25-471E-BA1A-16D79484EC86}"/>
    <dgm:cxn modelId="{212D2012-000F-0F42-B37F-39A1416130B5}" type="presOf" srcId="{C08D7128-1A49-4466-B9C4-88888A3885AD}" destId="{D81DE64F-EF81-466E-AB35-B915E70F0722}" srcOrd="0" destOrd="0" presId="urn:microsoft.com/office/officeart/2005/8/layout/cycle2"/>
    <dgm:cxn modelId="{28D2CAC3-2304-D249-9A54-7572FB9F769C}" type="presParOf" srcId="{50261984-8D88-47E2-B421-148E2B675AC2}" destId="{F96854C8-4A55-4747-9829-29F52FFC06CE}" srcOrd="0" destOrd="0" presId="urn:microsoft.com/office/officeart/2005/8/layout/cycle2"/>
    <dgm:cxn modelId="{2E2DBCC7-DDBD-9644-B906-85EFB202FFEE}" type="presParOf" srcId="{50261984-8D88-47E2-B421-148E2B675AC2}" destId="{6D0CEB70-E847-4BBA-AAD6-C01D644B0AF9}" srcOrd="1" destOrd="0" presId="urn:microsoft.com/office/officeart/2005/8/layout/cycle2"/>
    <dgm:cxn modelId="{A86FF02C-98FB-9E40-85AC-ECE4D8852B21}" type="presParOf" srcId="{6D0CEB70-E847-4BBA-AAD6-C01D644B0AF9}" destId="{C235E59A-FC04-4935-A471-1BFDC4797443}" srcOrd="0" destOrd="0" presId="urn:microsoft.com/office/officeart/2005/8/layout/cycle2"/>
    <dgm:cxn modelId="{5F85ED71-158B-9648-9944-599715F49D76}" type="presParOf" srcId="{50261984-8D88-47E2-B421-148E2B675AC2}" destId="{A988170D-B875-4EFF-8C65-702ADF872378}" srcOrd="2" destOrd="0" presId="urn:microsoft.com/office/officeart/2005/8/layout/cycle2"/>
    <dgm:cxn modelId="{CD3B7BEE-B364-FE4D-B6FE-A1A5B4DAE7A9}" type="presParOf" srcId="{50261984-8D88-47E2-B421-148E2B675AC2}" destId="{9BF113CF-C3CC-4896-8A18-8CE4A799F96E}" srcOrd="3" destOrd="0" presId="urn:microsoft.com/office/officeart/2005/8/layout/cycle2"/>
    <dgm:cxn modelId="{59E8816F-4EC7-2543-92C5-60EF88CD2E3F}" type="presParOf" srcId="{9BF113CF-C3CC-4896-8A18-8CE4A799F96E}" destId="{E85C7C33-75DA-4AAB-8342-38742987C665}" srcOrd="0" destOrd="0" presId="urn:microsoft.com/office/officeart/2005/8/layout/cycle2"/>
    <dgm:cxn modelId="{83A0533D-34F0-1246-A5F6-E84E5E58D807}" type="presParOf" srcId="{50261984-8D88-47E2-B421-148E2B675AC2}" destId="{D81DE64F-EF81-466E-AB35-B915E70F0722}" srcOrd="4" destOrd="0" presId="urn:microsoft.com/office/officeart/2005/8/layout/cycle2"/>
    <dgm:cxn modelId="{028FDA60-26EB-5B4E-B433-E3D17B13E1D7}" type="presParOf" srcId="{50261984-8D88-47E2-B421-148E2B675AC2}" destId="{FF3FE78D-829F-45DA-83BB-A25D7C2DBBAC}" srcOrd="5" destOrd="0" presId="urn:microsoft.com/office/officeart/2005/8/layout/cycle2"/>
    <dgm:cxn modelId="{CF128D6D-20EF-6A46-A7BD-6B79EF0EEF74}" type="presParOf" srcId="{FF3FE78D-829F-45DA-83BB-A25D7C2DBBAC}" destId="{E356F5FB-FD91-447C-A7F4-908A80FF91C9}" srcOrd="0" destOrd="0" presId="urn:microsoft.com/office/officeart/2005/8/layout/cycle2"/>
    <dgm:cxn modelId="{CDD28364-A709-7040-8A9A-F6BFC8034E5D}" type="presParOf" srcId="{50261984-8D88-47E2-B421-148E2B675AC2}" destId="{D9D21C8D-275F-4607-B31F-308CAB7ECA6E}" srcOrd="6" destOrd="0" presId="urn:microsoft.com/office/officeart/2005/8/layout/cycle2"/>
    <dgm:cxn modelId="{9C9BF93D-9E2A-E148-B651-737C9939E0F9}" type="presParOf" srcId="{50261984-8D88-47E2-B421-148E2B675AC2}" destId="{C498F738-F3F0-4327-84E5-8F9F955E340B}" srcOrd="7" destOrd="0" presId="urn:microsoft.com/office/officeart/2005/8/layout/cycle2"/>
    <dgm:cxn modelId="{E0888857-C7A3-AD4E-B0D5-C046A271F2AB}" type="presParOf" srcId="{C498F738-F3F0-4327-84E5-8F9F955E340B}" destId="{DAD5EDA7-84D2-41B5-A9F6-1B3A17F9B1CC}" srcOrd="0" destOrd="0" presId="urn:microsoft.com/office/officeart/2005/8/layout/cycle2"/>
    <dgm:cxn modelId="{87937E9F-3E2A-FD46-AD46-5D56A0841BDE}" type="presParOf" srcId="{50261984-8D88-47E2-B421-148E2B675AC2}" destId="{A28E5AFA-7058-46B0-88F3-FDE9D2FB95F4}" srcOrd="8" destOrd="0" presId="urn:microsoft.com/office/officeart/2005/8/layout/cycle2"/>
    <dgm:cxn modelId="{6534F586-262D-A644-8CFC-9F50C997FE5E}" type="presParOf" srcId="{50261984-8D88-47E2-B421-148E2B675AC2}" destId="{C467A0E3-E74E-4DAE-976A-4840AB9B33C1}" srcOrd="9" destOrd="0" presId="urn:microsoft.com/office/officeart/2005/8/layout/cycle2"/>
    <dgm:cxn modelId="{8D7F3893-6B86-EC4B-85DC-73BB1E72B7F3}" type="presParOf" srcId="{C467A0E3-E74E-4DAE-976A-4840AB9B33C1}" destId="{9E5DA849-D199-4228-87C0-2D00122401F2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77373B-7A8D-4433-8A8C-4992208C3102}">
      <dsp:nvSpPr>
        <dsp:cNvPr id="0" name=""/>
        <dsp:cNvSpPr/>
      </dsp:nvSpPr>
      <dsp:spPr>
        <a:xfrm>
          <a:off x="0" y="20022"/>
          <a:ext cx="5709228" cy="63648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Objetivo</a:t>
          </a:r>
          <a:endParaRPr lang="es-PE" sz="1600" kern="1200" dirty="0"/>
        </a:p>
      </dsp:txBody>
      <dsp:txXfrm>
        <a:off x="31070" y="51092"/>
        <a:ext cx="5647088" cy="574340"/>
      </dsp:txXfrm>
    </dsp:sp>
    <dsp:sp modelId="{97EA5A2A-25FA-B140-ACB5-C0362BD32A7C}">
      <dsp:nvSpPr>
        <dsp:cNvPr id="0" name=""/>
        <dsp:cNvSpPr/>
      </dsp:nvSpPr>
      <dsp:spPr>
        <a:xfrm>
          <a:off x="0" y="754422"/>
          <a:ext cx="5709228" cy="63648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Riesgos de Continuidad</a:t>
          </a:r>
          <a:endParaRPr lang="es-PE" sz="1600" kern="1200" dirty="0"/>
        </a:p>
      </dsp:txBody>
      <dsp:txXfrm>
        <a:off x="31070" y="785492"/>
        <a:ext cx="5647088" cy="574340"/>
      </dsp:txXfrm>
    </dsp:sp>
    <dsp:sp modelId="{046297E9-D059-6141-9575-632D7065BC71}">
      <dsp:nvSpPr>
        <dsp:cNvPr id="0" name=""/>
        <dsp:cNvSpPr/>
      </dsp:nvSpPr>
      <dsp:spPr>
        <a:xfrm>
          <a:off x="0" y="1488822"/>
          <a:ext cx="5709228" cy="63648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Estrategia de Continuidad</a:t>
          </a:r>
          <a:endParaRPr lang="es-PE" sz="1600" kern="1200" dirty="0"/>
        </a:p>
      </dsp:txBody>
      <dsp:txXfrm>
        <a:off x="31070" y="1519892"/>
        <a:ext cx="5647088" cy="574340"/>
      </dsp:txXfrm>
    </dsp:sp>
    <dsp:sp modelId="{744DD3A8-3164-F841-8C2B-44C48F5F52CA}">
      <dsp:nvSpPr>
        <dsp:cNvPr id="0" name=""/>
        <dsp:cNvSpPr/>
      </dsp:nvSpPr>
      <dsp:spPr>
        <a:xfrm>
          <a:off x="0" y="2223222"/>
          <a:ext cx="5709228" cy="63648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Estrategia de Mitigación</a:t>
          </a:r>
          <a:endParaRPr lang="es-PE" sz="1600" kern="1200" dirty="0"/>
        </a:p>
      </dsp:txBody>
      <dsp:txXfrm>
        <a:off x="31070" y="2254292"/>
        <a:ext cx="5647088" cy="5743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620976-8D72-470C-9AD3-699BE070E642}">
      <dsp:nvSpPr>
        <dsp:cNvPr id="0" name=""/>
        <dsp:cNvSpPr/>
      </dsp:nvSpPr>
      <dsp:spPr>
        <a:xfrm>
          <a:off x="0" y="514952"/>
          <a:ext cx="1000191" cy="600115"/>
        </a:xfrm>
        <a:prstGeom prst="roundRect">
          <a:avLst>
            <a:gd name="adj" fmla="val 10000"/>
          </a:avLst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Identificar amenazas</a:t>
          </a:r>
          <a:endParaRPr lang="es-PE" sz="1000" kern="1200" dirty="0"/>
        </a:p>
      </dsp:txBody>
      <dsp:txXfrm>
        <a:off x="17577" y="532529"/>
        <a:ext cx="965037" cy="564961"/>
      </dsp:txXfrm>
    </dsp:sp>
    <dsp:sp modelId="{01AC9035-5954-4AE1-90B5-B43305AE61C8}">
      <dsp:nvSpPr>
        <dsp:cNvPr id="0" name=""/>
        <dsp:cNvSpPr/>
      </dsp:nvSpPr>
      <dsp:spPr>
        <a:xfrm>
          <a:off x="1100211" y="690986"/>
          <a:ext cx="212040" cy="248047"/>
        </a:xfrm>
        <a:prstGeom prst="rightArrow">
          <a:avLst>
            <a:gd name="adj1" fmla="val 60000"/>
            <a:gd name="adj2" fmla="val 50000"/>
          </a:avLst>
        </a:prstGeom>
        <a:solidFill>
          <a:srgbClr val="2EB1B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PE" sz="800" kern="1200"/>
        </a:p>
      </dsp:txBody>
      <dsp:txXfrm>
        <a:off x="1100211" y="740595"/>
        <a:ext cx="148428" cy="148829"/>
      </dsp:txXfrm>
    </dsp:sp>
    <dsp:sp modelId="{6B2726FF-7ABC-4CD7-A002-F2054C00E932}">
      <dsp:nvSpPr>
        <dsp:cNvPr id="0" name=""/>
        <dsp:cNvSpPr/>
      </dsp:nvSpPr>
      <dsp:spPr>
        <a:xfrm>
          <a:off x="1400268" y="514952"/>
          <a:ext cx="1000191" cy="600115"/>
        </a:xfrm>
        <a:prstGeom prst="roundRect">
          <a:avLst>
            <a:gd name="adj" fmla="val 10000"/>
          </a:avLst>
        </a:prstGeom>
        <a:solidFill>
          <a:srgbClr val="0197A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Identificar vulnerabilidades</a:t>
          </a:r>
          <a:endParaRPr lang="es-PE" sz="1000" kern="1200" dirty="0"/>
        </a:p>
      </dsp:txBody>
      <dsp:txXfrm>
        <a:off x="1417845" y="532529"/>
        <a:ext cx="965037" cy="564961"/>
      </dsp:txXfrm>
    </dsp:sp>
    <dsp:sp modelId="{59FBA663-BE2B-4436-9890-3AFA90B70641}">
      <dsp:nvSpPr>
        <dsp:cNvPr id="0" name=""/>
        <dsp:cNvSpPr/>
      </dsp:nvSpPr>
      <dsp:spPr>
        <a:xfrm>
          <a:off x="2500479" y="690986"/>
          <a:ext cx="212040" cy="248047"/>
        </a:xfrm>
        <a:prstGeom prst="rightArrow">
          <a:avLst>
            <a:gd name="adj1" fmla="val 60000"/>
            <a:gd name="adj2" fmla="val 50000"/>
          </a:avLst>
        </a:prstGeom>
        <a:solidFill>
          <a:srgbClr val="0197A7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PE" sz="800" kern="1200"/>
        </a:p>
      </dsp:txBody>
      <dsp:txXfrm>
        <a:off x="2500479" y="740595"/>
        <a:ext cx="148428" cy="148829"/>
      </dsp:txXfrm>
    </dsp:sp>
    <dsp:sp modelId="{B6F234AA-B989-409A-B377-24ACA62E4587}">
      <dsp:nvSpPr>
        <dsp:cNvPr id="0" name=""/>
        <dsp:cNvSpPr/>
      </dsp:nvSpPr>
      <dsp:spPr>
        <a:xfrm>
          <a:off x="2800537" y="514952"/>
          <a:ext cx="1000191" cy="600115"/>
        </a:xfrm>
        <a:prstGeom prst="roundRect">
          <a:avLst>
            <a:gd name="adj" fmla="val 10000"/>
          </a:avLst>
        </a:prstGeom>
        <a:solidFill>
          <a:srgbClr val="99C65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Valorar el riesgo inherente</a:t>
          </a:r>
          <a:endParaRPr lang="es-PE" sz="1000" kern="1200" dirty="0"/>
        </a:p>
      </dsp:txBody>
      <dsp:txXfrm>
        <a:off x="2818114" y="532529"/>
        <a:ext cx="965037" cy="564961"/>
      </dsp:txXfrm>
    </dsp:sp>
    <dsp:sp modelId="{EC475F00-6A2C-4DED-9C2E-B807BD9BB250}">
      <dsp:nvSpPr>
        <dsp:cNvPr id="0" name=""/>
        <dsp:cNvSpPr/>
      </dsp:nvSpPr>
      <dsp:spPr>
        <a:xfrm>
          <a:off x="3900748" y="690986"/>
          <a:ext cx="212040" cy="248047"/>
        </a:xfrm>
        <a:prstGeom prst="rightArrow">
          <a:avLst>
            <a:gd name="adj1" fmla="val 60000"/>
            <a:gd name="adj2" fmla="val 50000"/>
          </a:avLst>
        </a:prstGeom>
        <a:solidFill>
          <a:srgbClr val="99C65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PE" sz="800" kern="1200"/>
        </a:p>
      </dsp:txBody>
      <dsp:txXfrm>
        <a:off x="3900748" y="740595"/>
        <a:ext cx="148428" cy="148829"/>
      </dsp:txXfrm>
    </dsp:sp>
    <dsp:sp modelId="{D79C6131-DB91-405A-BD70-4169E2E5BFD1}">
      <dsp:nvSpPr>
        <dsp:cNvPr id="0" name=""/>
        <dsp:cNvSpPr/>
      </dsp:nvSpPr>
      <dsp:spPr>
        <a:xfrm>
          <a:off x="4200805" y="514952"/>
          <a:ext cx="1000191" cy="600115"/>
        </a:xfrm>
        <a:prstGeom prst="roundRect">
          <a:avLst>
            <a:gd name="adj" fmla="val 10000"/>
          </a:avLst>
        </a:prstGeom>
        <a:solidFill>
          <a:srgbClr val="E5584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Identificar controles existentes</a:t>
          </a:r>
          <a:endParaRPr lang="es-PE" sz="1000" kern="1200" dirty="0"/>
        </a:p>
      </dsp:txBody>
      <dsp:txXfrm>
        <a:off x="4218382" y="532529"/>
        <a:ext cx="965037" cy="564961"/>
      </dsp:txXfrm>
    </dsp:sp>
    <dsp:sp modelId="{EF753011-2F8D-434D-8138-8F0A05E26A09}">
      <dsp:nvSpPr>
        <dsp:cNvPr id="0" name=""/>
        <dsp:cNvSpPr/>
      </dsp:nvSpPr>
      <dsp:spPr>
        <a:xfrm>
          <a:off x="5301016" y="690986"/>
          <a:ext cx="212040" cy="248047"/>
        </a:xfrm>
        <a:prstGeom prst="rightArrow">
          <a:avLst>
            <a:gd name="adj1" fmla="val 60000"/>
            <a:gd name="adj2" fmla="val 50000"/>
          </a:avLst>
        </a:prstGeom>
        <a:solidFill>
          <a:srgbClr val="E5584B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PE" sz="800" kern="1200"/>
        </a:p>
      </dsp:txBody>
      <dsp:txXfrm>
        <a:off x="5301016" y="740595"/>
        <a:ext cx="148428" cy="148829"/>
      </dsp:txXfrm>
    </dsp:sp>
    <dsp:sp modelId="{CC2C0264-75E5-42A1-98EA-DB79AC372551}">
      <dsp:nvSpPr>
        <dsp:cNvPr id="0" name=""/>
        <dsp:cNvSpPr/>
      </dsp:nvSpPr>
      <dsp:spPr>
        <a:xfrm>
          <a:off x="5601074" y="514952"/>
          <a:ext cx="1000191" cy="600115"/>
        </a:xfrm>
        <a:prstGeom prst="roundRect">
          <a:avLst>
            <a:gd name="adj" fmla="val 10000"/>
          </a:avLst>
        </a:prstGeom>
        <a:solidFill>
          <a:srgbClr val="DFA63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Valorar el riesgo residual</a:t>
          </a:r>
          <a:endParaRPr lang="es-PE" sz="1000" kern="1200" dirty="0"/>
        </a:p>
      </dsp:txBody>
      <dsp:txXfrm>
        <a:off x="5618651" y="532529"/>
        <a:ext cx="965037" cy="564961"/>
      </dsp:txXfrm>
    </dsp:sp>
    <dsp:sp modelId="{E10A191E-D75F-4025-8D99-FA1AEE387161}">
      <dsp:nvSpPr>
        <dsp:cNvPr id="0" name=""/>
        <dsp:cNvSpPr/>
      </dsp:nvSpPr>
      <dsp:spPr>
        <a:xfrm>
          <a:off x="6701285" y="690986"/>
          <a:ext cx="212040" cy="248047"/>
        </a:xfrm>
        <a:prstGeom prst="rightArrow">
          <a:avLst>
            <a:gd name="adj1" fmla="val 60000"/>
            <a:gd name="adj2" fmla="val 50000"/>
          </a:avLst>
        </a:prstGeom>
        <a:solidFill>
          <a:srgbClr val="DFA63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PE" sz="800" kern="1200"/>
        </a:p>
      </dsp:txBody>
      <dsp:txXfrm>
        <a:off x="6701285" y="740595"/>
        <a:ext cx="148428" cy="148829"/>
      </dsp:txXfrm>
    </dsp:sp>
    <dsp:sp modelId="{D5F71475-984B-4D65-BC6F-A50F465B276C}">
      <dsp:nvSpPr>
        <dsp:cNvPr id="0" name=""/>
        <dsp:cNvSpPr/>
      </dsp:nvSpPr>
      <dsp:spPr>
        <a:xfrm>
          <a:off x="7001343" y="514952"/>
          <a:ext cx="1000191" cy="600115"/>
        </a:xfrm>
        <a:prstGeom prst="roundRect">
          <a:avLst>
            <a:gd name="adj" fmla="val 10000"/>
          </a:avLst>
        </a:prstGeom>
        <a:solidFill>
          <a:srgbClr val="D2032C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Recomendar controles</a:t>
          </a:r>
          <a:endParaRPr lang="es-PE" sz="1000" kern="1200" dirty="0"/>
        </a:p>
      </dsp:txBody>
      <dsp:txXfrm>
        <a:off x="7018920" y="532529"/>
        <a:ext cx="965037" cy="5649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854C8-4A55-4747-9829-29F52FFC06CE}">
      <dsp:nvSpPr>
        <dsp:cNvPr id="0" name=""/>
        <dsp:cNvSpPr/>
      </dsp:nvSpPr>
      <dsp:spPr>
        <a:xfrm>
          <a:off x="2135016" y="726"/>
          <a:ext cx="1144845" cy="1144845"/>
        </a:xfrm>
        <a:prstGeom prst="ellipse">
          <a:avLst/>
        </a:prstGeom>
        <a:solidFill>
          <a:srgbClr val="0197A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200" kern="1200" dirty="0" smtClean="0"/>
            <a:t>1. Entender el Negocio</a:t>
          </a:r>
          <a:endParaRPr lang="es-PE" sz="1200" kern="1200" dirty="0"/>
        </a:p>
      </dsp:txBody>
      <dsp:txXfrm>
        <a:off x="2302675" y="168385"/>
        <a:ext cx="809527" cy="809527"/>
      </dsp:txXfrm>
    </dsp:sp>
    <dsp:sp modelId="{6D0CEB70-E847-4BBA-AAD6-C01D644B0AF9}">
      <dsp:nvSpPr>
        <dsp:cNvPr id="0" name=""/>
        <dsp:cNvSpPr/>
      </dsp:nvSpPr>
      <dsp:spPr>
        <a:xfrm rot="2160000">
          <a:off x="3243712" y="880189"/>
          <a:ext cx="304476" cy="386385"/>
        </a:xfrm>
        <a:prstGeom prst="rightArrow">
          <a:avLst>
            <a:gd name="adj1" fmla="val 60000"/>
            <a:gd name="adj2" fmla="val 50000"/>
          </a:avLst>
        </a:prstGeom>
        <a:solidFill>
          <a:srgbClr val="0197A7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PE" sz="1600" kern="1200"/>
        </a:p>
      </dsp:txBody>
      <dsp:txXfrm>
        <a:off x="3252434" y="930621"/>
        <a:ext cx="213133" cy="231831"/>
      </dsp:txXfrm>
    </dsp:sp>
    <dsp:sp modelId="{A988170D-B875-4EFF-8C65-702ADF872378}">
      <dsp:nvSpPr>
        <dsp:cNvPr id="0" name=""/>
        <dsp:cNvSpPr/>
      </dsp:nvSpPr>
      <dsp:spPr>
        <a:xfrm>
          <a:off x="3525982" y="1011322"/>
          <a:ext cx="1144845" cy="1144845"/>
        </a:xfrm>
        <a:prstGeom prst="ellipse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200" kern="1200" dirty="0" smtClean="0"/>
            <a:t>2. Definir Estrategias</a:t>
          </a:r>
          <a:endParaRPr lang="es-PE" sz="1200" kern="1200" dirty="0"/>
        </a:p>
      </dsp:txBody>
      <dsp:txXfrm>
        <a:off x="3693641" y="1178981"/>
        <a:ext cx="809527" cy="809527"/>
      </dsp:txXfrm>
    </dsp:sp>
    <dsp:sp modelId="{9BF113CF-C3CC-4896-8A18-8CE4A799F96E}">
      <dsp:nvSpPr>
        <dsp:cNvPr id="0" name=""/>
        <dsp:cNvSpPr/>
      </dsp:nvSpPr>
      <dsp:spPr>
        <a:xfrm rot="6480000">
          <a:off x="3683179" y="2199946"/>
          <a:ext cx="304476" cy="386385"/>
        </a:xfrm>
        <a:prstGeom prst="rightArrow">
          <a:avLst>
            <a:gd name="adj1" fmla="val 60000"/>
            <a:gd name="adj2" fmla="val 50000"/>
          </a:avLst>
        </a:prstGeom>
        <a:solidFill>
          <a:srgbClr val="2EB1B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PE" sz="1600" kern="1200"/>
        </a:p>
      </dsp:txBody>
      <dsp:txXfrm rot="10800000">
        <a:off x="3742964" y="2233787"/>
        <a:ext cx="213133" cy="231831"/>
      </dsp:txXfrm>
    </dsp:sp>
    <dsp:sp modelId="{D81DE64F-EF81-466E-AB35-B915E70F0722}">
      <dsp:nvSpPr>
        <dsp:cNvPr id="0" name=""/>
        <dsp:cNvSpPr/>
      </dsp:nvSpPr>
      <dsp:spPr>
        <a:xfrm>
          <a:off x="2994681" y="2646501"/>
          <a:ext cx="1144845" cy="1144845"/>
        </a:xfrm>
        <a:prstGeom prst="ellipse">
          <a:avLst/>
        </a:prstGeom>
        <a:solidFill>
          <a:srgbClr val="99C65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200" kern="1200" dirty="0" smtClean="0"/>
            <a:t>3. Desarrollar Respuestas</a:t>
          </a:r>
          <a:endParaRPr lang="es-PE" sz="1200" kern="1200" dirty="0"/>
        </a:p>
      </dsp:txBody>
      <dsp:txXfrm>
        <a:off x="3162340" y="2814160"/>
        <a:ext cx="809527" cy="809527"/>
      </dsp:txXfrm>
    </dsp:sp>
    <dsp:sp modelId="{FF3FE78D-829F-45DA-83BB-A25D7C2DBBAC}">
      <dsp:nvSpPr>
        <dsp:cNvPr id="0" name=""/>
        <dsp:cNvSpPr/>
      </dsp:nvSpPr>
      <dsp:spPr>
        <a:xfrm rot="10800000">
          <a:off x="2563818" y="3025730"/>
          <a:ext cx="304476" cy="386385"/>
        </a:xfrm>
        <a:prstGeom prst="rightArrow">
          <a:avLst>
            <a:gd name="adj1" fmla="val 60000"/>
            <a:gd name="adj2" fmla="val 50000"/>
          </a:avLst>
        </a:prstGeom>
        <a:solidFill>
          <a:srgbClr val="99C65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PE" sz="1600" kern="1200"/>
        </a:p>
      </dsp:txBody>
      <dsp:txXfrm rot="10800000">
        <a:off x="2655161" y="3103007"/>
        <a:ext cx="213133" cy="231831"/>
      </dsp:txXfrm>
    </dsp:sp>
    <dsp:sp modelId="{D9D21C8D-275F-4607-B31F-308CAB7ECA6E}">
      <dsp:nvSpPr>
        <dsp:cNvPr id="0" name=""/>
        <dsp:cNvSpPr/>
      </dsp:nvSpPr>
      <dsp:spPr>
        <a:xfrm>
          <a:off x="1275352" y="2646501"/>
          <a:ext cx="1144845" cy="1144845"/>
        </a:xfrm>
        <a:prstGeom prst="ellipse">
          <a:avLst/>
        </a:prstGeom>
        <a:solidFill>
          <a:srgbClr val="E5584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200" kern="1200" dirty="0" smtClean="0"/>
            <a:t>4. Desarrollar Cultura</a:t>
          </a:r>
          <a:endParaRPr lang="es-PE" sz="1200" kern="1200" dirty="0"/>
        </a:p>
      </dsp:txBody>
      <dsp:txXfrm>
        <a:off x="1443011" y="2814160"/>
        <a:ext cx="809527" cy="809527"/>
      </dsp:txXfrm>
    </dsp:sp>
    <dsp:sp modelId="{C498F738-F3F0-4327-84E5-8F9F955E340B}">
      <dsp:nvSpPr>
        <dsp:cNvPr id="0" name=""/>
        <dsp:cNvSpPr/>
      </dsp:nvSpPr>
      <dsp:spPr>
        <a:xfrm rot="15120000">
          <a:off x="1432549" y="2216337"/>
          <a:ext cx="304476" cy="386385"/>
        </a:xfrm>
        <a:prstGeom prst="rightArrow">
          <a:avLst>
            <a:gd name="adj1" fmla="val 60000"/>
            <a:gd name="adj2" fmla="val 50000"/>
          </a:avLst>
        </a:prstGeom>
        <a:solidFill>
          <a:srgbClr val="E5584B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PE" sz="1600" kern="1200"/>
        </a:p>
      </dsp:txBody>
      <dsp:txXfrm rot="10800000">
        <a:off x="1492334" y="2337050"/>
        <a:ext cx="213133" cy="231831"/>
      </dsp:txXfrm>
    </dsp:sp>
    <dsp:sp modelId="{A28E5AFA-7058-46B0-88F3-FDE9D2FB95F4}">
      <dsp:nvSpPr>
        <dsp:cNvPr id="0" name=""/>
        <dsp:cNvSpPr/>
      </dsp:nvSpPr>
      <dsp:spPr>
        <a:xfrm>
          <a:off x="744051" y="1011322"/>
          <a:ext cx="1144845" cy="1144845"/>
        </a:xfrm>
        <a:prstGeom prst="ellipse">
          <a:avLst/>
        </a:prstGeom>
        <a:solidFill>
          <a:srgbClr val="DFA63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200" kern="1200" dirty="0" smtClean="0"/>
            <a:t>5. Probar, mantener, auditar</a:t>
          </a:r>
          <a:endParaRPr lang="es-PE" sz="1200" kern="1200" dirty="0"/>
        </a:p>
      </dsp:txBody>
      <dsp:txXfrm>
        <a:off x="911710" y="1178981"/>
        <a:ext cx="809527" cy="809527"/>
      </dsp:txXfrm>
    </dsp:sp>
    <dsp:sp modelId="{C467A0E3-E74E-4DAE-976A-4840AB9B33C1}">
      <dsp:nvSpPr>
        <dsp:cNvPr id="0" name=""/>
        <dsp:cNvSpPr/>
      </dsp:nvSpPr>
      <dsp:spPr>
        <a:xfrm rot="19440000">
          <a:off x="1852747" y="890319"/>
          <a:ext cx="304476" cy="386385"/>
        </a:xfrm>
        <a:prstGeom prst="rightArrow">
          <a:avLst>
            <a:gd name="adj1" fmla="val 60000"/>
            <a:gd name="adj2" fmla="val 50000"/>
          </a:avLst>
        </a:prstGeom>
        <a:solidFill>
          <a:srgbClr val="DFA63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PE" sz="1600" kern="1200"/>
        </a:p>
      </dsp:txBody>
      <dsp:txXfrm>
        <a:off x="1861469" y="994441"/>
        <a:ext cx="213133" cy="2318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21/10/2020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21/10/2020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7184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Evaluaremos los activos de información y sus riesgos asociados.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8373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dirty="0" smtClean="0"/>
              <a:t>Analizaremos cuando</a:t>
            </a:r>
            <a:r>
              <a:rPr lang="es-PE" sz="1200" baseline="0" dirty="0" smtClean="0"/>
              <a:t> es necesaria implementar una determinada estrategia de continuidad, evaluando los beneficios que genere a la gestión del riesgo.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9405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dirty="0" smtClean="0"/>
              <a:t>Evaluaremos el</a:t>
            </a:r>
            <a:r>
              <a:rPr lang="es-PE" sz="1200" baseline="0" dirty="0" smtClean="0"/>
              <a:t> tipo y estructura que deben ser implementados en relación a los escenarios de prueba preestablecidos.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2740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62157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38042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1622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2603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7735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19154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objetivo de la estrategia de continuidad</a:t>
            </a:r>
            <a:r>
              <a:rPr lang="es-PE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negocio </a:t>
            </a:r>
            <a:r>
              <a:rPr lang="es-PE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 garantizar que se cumplan todas las condiciones para reanudar las actividades comerciales ante el caso de un desastre o de otra interrupción del negocio. Constituye la base para preparar el Plan de continuidad del negocio y los planes de recuperación.</a:t>
            </a:r>
          </a:p>
          <a:p>
            <a:pPr marL="228600" indent="-228600">
              <a:buAutoNum type="arabicPeriod"/>
            </a:pPr>
            <a:r>
              <a:rPr lang="es-PE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Evitar o prevenir el riesgo</a:t>
            </a:r>
            <a:r>
              <a:rPr lang="es-PE" dirty="0" smtClean="0"/>
              <a:t/>
            </a:r>
            <a:br>
              <a:rPr lang="es-PE" dirty="0" smtClean="0"/>
            </a:br>
            <a:r>
              <a:rPr lang="es-PE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Existen muchos riesgos que se pueden evitar casi en un 100% tomando las medidas correctas.</a:t>
            </a:r>
          </a:p>
          <a:p>
            <a:pPr marL="228600" indent="-228600">
              <a:buAutoNum type="arabicPeriod"/>
            </a:pPr>
            <a:r>
              <a:rPr lang="es-PE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Mitigar el riesgo (su ocurrencia y/o su impacto)</a:t>
            </a:r>
            <a:r>
              <a:rPr lang="es-PE" dirty="0" smtClean="0"/>
              <a:t/>
            </a:r>
            <a:br>
              <a:rPr lang="es-PE" dirty="0" smtClean="0"/>
            </a:br>
            <a:r>
              <a:rPr lang="es-PE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Existen muchas formas de reducir la posibilidad de que un riesgo ocurra y además, si es que ocurre, los efectos del accidente sean lo menos dañinos posible.</a:t>
            </a:r>
          </a:p>
          <a:p>
            <a:pPr marL="228600" indent="-228600">
              <a:buAutoNum type="arabicPeriod"/>
            </a:pPr>
            <a:r>
              <a:rPr lang="es-PE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Transferir el riesgo</a:t>
            </a:r>
            <a:r>
              <a:rPr lang="es-PE" dirty="0" smtClean="0"/>
              <a:t/>
            </a:r>
            <a:br>
              <a:rPr lang="es-PE" dirty="0" smtClean="0"/>
            </a:br>
            <a:r>
              <a:rPr lang="es-PE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Ciertos riesgos simplemente no se pueden evitar. La mejor forma de enfrentar el riesgo en estos casos, es transferirlo a otra empresa.</a:t>
            </a:r>
            <a:r>
              <a:rPr lang="es-PE" dirty="0" smtClean="0"/>
              <a:t/>
            </a:r>
            <a:br>
              <a:rPr lang="es-PE" dirty="0" smtClean="0"/>
            </a:br>
            <a:r>
              <a:rPr lang="es-PE" dirty="0" smtClean="0"/>
              <a:t/>
            </a:r>
            <a:br>
              <a:rPr lang="es-PE" dirty="0" smtClean="0"/>
            </a:br>
            <a:endParaRPr lang="es-PE" dirty="0" smtClean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654618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559371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474431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171314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67054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18401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dirty="0" smtClean="0"/>
              <a:t>La gestión de la continuidad de negocios es liderada por</a:t>
            </a:r>
            <a:r>
              <a:rPr lang="es-PE" baseline="0" dirty="0" smtClean="0"/>
              <a:t> la Alta Dirección</a:t>
            </a:r>
            <a:endParaRPr lang="es-PE" dirty="0" smtClean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675029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923320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535857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72019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 smtClean="0"/>
              <a:t>En ésta sesión concluimos que el</a:t>
            </a:r>
            <a:r>
              <a:rPr lang="es-PE" baseline="0" dirty="0" smtClean="0"/>
              <a:t> impacto de los riesgos, asociados a la seguridad de la información, que se generan en una entidad por la para/suspensión de sus procesos core es muy alto, por tanto es fundamental que se establezcan mecanismos que minimicen el impacto y tiempo de inactivida.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019887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Finalmente, se concluyó que el Plan de Tratamiento de Riesgos será implementado considerando el impacto de la materialización de los riesgos y la disponibilidad de los recursos por parte de la entidad.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816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211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grupar 13"/>
          <p:cNvGrpSpPr/>
          <p:nvPr userDrawn="1"/>
        </p:nvGrpSpPr>
        <p:grpSpPr>
          <a:xfrm>
            <a:off x="944054" y="5343295"/>
            <a:ext cx="7804380" cy="215444"/>
            <a:chOff x="944054" y="5343295"/>
            <a:chExt cx="7804380" cy="215444"/>
          </a:xfrm>
        </p:grpSpPr>
        <p:sp>
          <p:nvSpPr>
            <p:cNvPr id="7" name="TextBox 7"/>
            <p:cNvSpPr txBox="1"/>
            <p:nvPr userDrawn="1"/>
          </p:nvSpPr>
          <p:spPr>
            <a:xfrm>
              <a:off x="944054" y="5343295"/>
              <a:ext cx="250741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Calibri"/>
                  <a:sym typeface="Wingdings"/>
                </a:rPr>
                <a:t>SEGURIDAD Y CONTINUIDAD DE SISTEMAS  </a:t>
              </a:r>
              <a:r>
                <a:rPr lang="en-US" sz="8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Calibri"/>
                  <a:sym typeface="Wingdings"/>
                </a:rPr>
                <a:t>  SESIÓN 12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+mn-lt"/>
                <a:cs typeface="Calibri"/>
              </a:endParaRPr>
            </a:p>
          </p:txBody>
        </p:sp>
        <p:sp>
          <p:nvSpPr>
            <p:cNvPr id="8" name="Rectangle 3"/>
            <p:cNvSpPr/>
            <p:nvPr userDrawn="1"/>
          </p:nvSpPr>
          <p:spPr>
            <a:xfrm>
              <a:off x="7379148" y="5371562"/>
              <a:ext cx="1369286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© 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ISIL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. Todos los derechos reservados</a:t>
              </a:r>
              <a:endParaRPr lang="es-ES_tradnl" sz="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8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5322472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7" r:id="rId4"/>
    <p:sldLayoutId id="2147483659" r:id="rId5"/>
    <p:sldLayoutId id="2147483662" r:id="rId6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CuadroTexto 14"/>
          <p:cNvSpPr txBox="1"/>
          <p:nvPr/>
        </p:nvSpPr>
        <p:spPr>
          <a:xfrm>
            <a:off x="3175138" y="3008050"/>
            <a:ext cx="5500550" cy="5711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7800" indent="-177800">
              <a:lnSpc>
                <a:spcPct val="120000"/>
              </a:lnSpc>
              <a:buSzPct val="80000"/>
              <a:buFont typeface="Arial"/>
              <a:buChar char="•"/>
            </a:pPr>
            <a:r>
              <a:rPr lang="es-ES" sz="1600" dirty="0" smtClean="0">
                <a:solidFill>
                  <a:srgbClr val="FFFFFF"/>
                </a:solidFill>
              </a:rPr>
              <a:t>Riesgos y estrategias de continuidad</a:t>
            </a:r>
            <a:br>
              <a:rPr lang="es-ES" sz="1600" dirty="0" smtClean="0">
                <a:solidFill>
                  <a:srgbClr val="FFFFFF"/>
                </a:solidFill>
              </a:rPr>
            </a:br>
            <a:r>
              <a:rPr lang="es-ES" sz="1600" dirty="0" smtClean="0">
                <a:solidFill>
                  <a:srgbClr val="FFFFFF"/>
                </a:solidFill>
              </a:rPr>
              <a:t>de sistemas</a:t>
            </a:r>
            <a:endParaRPr lang="es-ES" sz="1600" dirty="0">
              <a:solidFill>
                <a:srgbClr val="FFFFFF"/>
              </a:solidFill>
            </a:endParaRPr>
          </a:p>
        </p:txBody>
      </p:sp>
      <p:cxnSp>
        <p:nvCxnSpPr>
          <p:cNvPr id="8" name="Conector recto 7"/>
          <p:cNvCxnSpPr/>
          <p:nvPr/>
        </p:nvCxnSpPr>
        <p:spPr>
          <a:xfrm>
            <a:off x="3044504" y="1710303"/>
            <a:ext cx="0" cy="774883"/>
          </a:xfrm>
          <a:prstGeom prst="line">
            <a:avLst/>
          </a:prstGeom>
          <a:ln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2045305" y="1802569"/>
            <a:ext cx="964250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sz="5800" dirty="0" smtClean="0">
                <a:solidFill>
                  <a:srgbClr val="FFFFFF"/>
                </a:solidFill>
              </a:rPr>
              <a:t>12</a:t>
            </a:r>
            <a:endParaRPr lang="es-ES" sz="5800" dirty="0">
              <a:solidFill>
                <a:srgbClr val="FFFFFF"/>
              </a:solidFill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2096830" y="1674447"/>
            <a:ext cx="87315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dirty="0" smtClean="0">
                <a:solidFill>
                  <a:schemeClr val="bg1"/>
                </a:solidFill>
              </a:rPr>
              <a:t>SESIÓN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175729" y="1710303"/>
            <a:ext cx="4596087" cy="865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5000"/>
              </a:lnSpc>
            </a:pPr>
            <a:r>
              <a:rPr lang="es-ES" sz="2200" b="1" dirty="0" smtClean="0">
                <a:solidFill>
                  <a:srgbClr val="FFFFFF"/>
                </a:solidFill>
              </a:rPr>
              <a:t>RIESGOS Y ESTRATEGIAS</a:t>
            </a:r>
            <a:br>
              <a:rPr lang="es-ES" sz="2200" b="1" dirty="0" smtClean="0">
                <a:solidFill>
                  <a:srgbClr val="FFFFFF"/>
                </a:solidFill>
              </a:rPr>
            </a:br>
            <a:r>
              <a:rPr lang="es-ES" sz="2200" b="1" dirty="0" smtClean="0">
                <a:solidFill>
                  <a:srgbClr val="FFFFFF"/>
                </a:solidFill>
              </a:rPr>
              <a:t>DE CONTINUIDAD</a:t>
            </a:r>
            <a:br>
              <a:rPr lang="es-ES" sz="2200" b="1" dirty="0" smtClean="0">
                <a:solidFill>
                  <a:srgbClr val="FFFFFF"/>
                </a:solidFill>
              </a:rPr>
            </a:br>
            <a:r>
              <a:rPr lang="es-ES" sz="2200" b="1" dirty="0" smtClean="0">
                <a:solidFill>
                  <a:srgbClr val="FFFFFF"/>
                </a:solidFill>
              </a:rPr>
              <a:t>DE SISTEMAS</a:t>
            </a:r>
            <a:endParaRPr lang="es-ES" sz="22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17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045721" y="2611279"/>
            <a:ext cx="7052558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 algn="ctr">
              <a:buSzPct val="100000"/>
              <a:tabLst>
                <a:tab pos="121285" algn="l"/>
              </a:tabLst>
            </a:pPr>
            <a:r>
              <a:rPr lang="en-US" sz="2000" spc="-10" dirty="0" err="1">
                <a:cs typeface="Source Sans Pro"/>
              </a:rPr>
              <a:t>Analiza</a:t>
            </a:r>
            <a:r>
              <a:rPr lang="en-US" sz="2000" spc="-10" dirty="0">
                <a:cs typeface="Source Sans Pro"/>
              </a:rPr>
              <a:t> </a:t>
            </a:r>
            <a:r>
              <a:rPr lang="en-US" sz="2000" spc="-10" dirty="0" err="1">
                <a:cs typeface="Source Sans Pro"/>
              </a:rPr>
              <a:t>los</a:t>
            </a:r>
            <a:r>
              <a:rPr lang="en-US" sz="2000" spc="-10" dirty="0">
                <a:cs typeface="Source Sans Pro"/>
              </a:rPr>
              <a:t> </a:t>
            </a:r>
            <a:r>
              <a:rPr lang="en-US" sz="2000" spc="-10" dirty="0" err="1">
                <a:cs typeface="Source Sans Pro"/>
              </a:rPr>
              <a:t>riesgos</a:t>
            </a:r>
            <a:r>
              <a:rPr lang="en-US" sz="2000" spc="-10" dirty="0">
                <a:cs typeface="Source Sans Pro"/>
              </a:rPr>
              <a:t> de </a:t>
            </a:r>
            <a:r>
              <a:rPr lang="en-US" sz="2000" spc="-10" dirty="0" err="1">
                <a:cs typeface="Source Sans Pro"/>
              </a:rPr>
              <a:t>continuidad</a:t>
            </a:r>
            <a:r>
              <a:rPr lang="en-US" sz="2000" spc="-10" dirty="0">
                <a:cs typeface="Source Sans Pro"/>
              </a:rPr>
              <a:t> y propone las </a:t>
            </a:r>
            <a:r>
              <a:rPr lang="en-US" sz="2000" spc="-10" dirty="0" err="1">
                <a:cs typeface="Source Sans Pro"/>
              </a:rPr>
              <a:t>estrategias</a:t>
            </a:r>
            <a:r>
              <a:rPr lang="en-US" sz="2000" spc="-10" dirty="0">
                <a:cs typeface="Source Sans Pro"/>
              </a:rPr>
              <a:t> </a:t>
            </a:r>
          </a:p>
          <a:p>
            <a:pPr marL="11725" algn="ctr">
              <a:buSzPct val="100000"/>
              <a:tabLst>
                <a:tab pos="121285" algn="l"/>
              </a:tabLst>
            </a:pPr>
            <a:r>
              <a:rPr lang="en-US" sz="2000" spc="-10" dirty="0">
                <a:cs typeface="Source Sans Pro"/>
              </a:rPr>
              <a:t>para </a:t>
            </a:r>
            <a:r>
              <a:rPr lang="en-US" sz="2000" spc="-10" dirty="0" err="1">
                <a:cs typeface="Source Sans Pro"/>
              </a:rPr>
              <a:t>mitigarlos</a:t>
            </a:r>
            <a:endParaRPr lang="en-US" sz="2000" spc="-10" dirty="0">
              <a:cs typeface="Source Sans Pro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-308225" y="2404153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973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</a:t>
            </a:r>
            <a:r>
              <a:rPr lang="en-US" sz="1300" dirty="0">
                <a:solidFill>
                  <a:srgbClr val="438AD7"/>
                </a:solidFill>
              </a:rPr>
              <a:t> </a:t>
            </a:r>
            <a:r>
              <a:rPr lang="en-US" sz="1300" dirty="0" smtClean="0">
                <a:solidFill>
                  <a:srgbClr val="438AD7"/>
                </a:solidFill>
              </a:rPr>
              <a:t>OBJETIVOS DE LA SESIÓN</a:t>
            </a:r>
            <a:endParaRPr lang="en-US" sz="1300" dirty="0">
              <a:solidFill>
                <a:srgbClr val="438AD7"/>
              </a:solidFill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3147738" y="959599"/>
            <a:ext cx="2848524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Gestión del riesgo</a:t>
            </a:r>
          </a:p>
        </p:txBody>
      </p:sp>
      <p:pic>
        <p:nvPicPr>
          <p:cNvPr id="8" name="Picture 4" descr="Resultado de imagen para desconfianz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64"/>
          <a:stretch/>
        </p:blipFill>
        <p:spPr bwMode="auto">
          <a:xfrm>
            <a:off x="2102674" y="1607299"/>
            <a:ext cx="4938653" cy="361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2778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</a:t>
            </a:r>
            <a:r>
              <a:rPr lang="en-US" sz="1300" dirty="0">
                <a:solidFill>
                  <a:srgbClr val="438AD7"/>
                </a:solidFill>
              </a:rPr>
              <a:t> </a:t>
            </a:r>
            <a:r>
              <a:rPr lang="en-US" sz="1300" dirty="0" smtClean="0">
                <a:solidFill>
                  <a:srgbClr val="438AD7"/>
                </a:solidFill>
              </a:rPr>
              <a:t>OBJETIVOS DE LA SESIÓN</a:t>
            </a:r>
            <a:endParaRPr lang="en-US" sz="1300" dirty="0">
              <a:solidFill>
                <a:srgbClr val="438AD7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614773" y="959599"/>
            <a:ext cx="3914454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Estrategia de Continuidad </a:t>
            </a:r>
          </a:p>
        </p:txBody>
      </p:sp>
      <p:pic>
        <p:nvPicPr>
          <p:cNvPr id="9" name="Picture 2" descr="Resultado de imagen para estrategias de continuidad de negoci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617" y="1607299"/>
            <a:ext cx="4840766" cy="3365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2620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</a:t>
            </a:r>
            <a:r>
              <a:rPr lang="en-US" sz="1300" dirty="0">
                <a:solidFill>
                  <a:srgbClr val="438AD7"/>
                </a:solidFill>
              </a:rPr>
              <a:t> </a:t>
            </a:r>
            <a:r>
              <a:rPr lang="en-US" sz="1300" dirty="0" smtClean="0">
                <a:solidFill>
                  <a:srgbClr val="438AD7"/>
                </a:solidFill>
              </a:rPr>
              <a:t>OBJETIVOS DE LA SESIÓN</a:t>
            </a:r>
            <a:endParaRPr lang="en-US" sz="1300" dirty="0">
              <a:solidFill>
                <a:srgbClr val="438AD7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060415" y="959599"/>
            <a:ext cx="3023171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/>
              <a:t>Pruebas del Plan de Continuidad</a:t>
            </a:r>
          </a:p>
        </p:txBody>
      </p:sp>
      <p:pic>
        <p:nvPicPr>
          <p:cNvPr id="9" name="Picture 2" descr="Resultado de imagen para plan de continuidad del negoci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780" y="1607299"/>
            <a:ext cx="6560440" cy="342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20189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>
                <a:solidFill>
                  <a:schemeClr val="bg1"/>
                </a:solidFill>
                <a:cs typeface="Calibri"/>
              </a:rPr>
              <a:t>RIESGOS Y ESTRATEGIAS DE </a:t>
            </a:r>
            <a:r>
              <a:rPr lang="es-PE" sz="2800" b="1" dirty="0" smtClean="0">
                <a:solidFill>
                  <a:schemeClr val="bg1"/>
                </a:solidFill>
                <a:cs typeface="Calibri"/>
              </a:rPr>
              <a:t>CONTINUIDAD</a:t>
            </a:r>
            <a:br>
              <a:rPr lang="es-PE" sz="2800" b="1" dirty="0" smtClean="0">
                <a:solidFill>
                  <a:schemeClr val="bg1"/>
                </a:solidFill>
                <a:cs typeface="Calibri"/>
              </a:rPr>
            </a:br>
            <a:r>
              <a:rPr lang="es-PE" sz="2800" b="1" dirty="0" smtClean="0">
                <a:solidFill>
                  <a:schemeClr val="bg1"/>
                </a:solidFill>
                <a:cs typeface="Calibri"/>
              </a:rPr>
              <a:t>   DE </a:t>
            </a:r>
            <a:r>
              <a:rPr lang="es-PE" sz="2800" b="1" dirty="0">
                <a:solidFill>
                  <a:schemeClr val="bg1"/>
                </a:solidFill>
                <a:cs typeface="Calibri"/>
              </a:rPr>
              <a:t>SISTEMAS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RIESGOS Y ESTRATEGIAS DE </a:t>
            </a:r>
            <a:r>
              <a:rPr lang="en-US" sz="1300" dirty="0" smtClean="0">
                <a:solidFill>
                  <a:srgbClr val="438AD7"/>
                </a:solidFill>
              </a:rPr>
              <a:t>CONTINUIDAD DE </a:t>
            </a:r>
            <a:r>
              <a:rPr lang="en-US" sz="1300" dirty="0">
                <a:solidFill>
                  <a:srgbClr val="438AD7"/>
                </a:solidFill>
              </a:rPr>
              <a:t>SISTEMAS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2" name="object 7"/>
          <p:cNvSpPr txBox="1"/>
          <p:nvPr/>
        </p:nvSpPr>
        <p:spPr>
          <a:xfrm>
            <a:off x="507698" y="954483"/>
            <a:ext cx="81679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AGENDA</a:t>
            </a:r>
            <a:endParaRPr lang="en-US" sz="1600" b="1" spc="-10" dirty="0">
              <a:cs typeface="Source Sans Pro"/>
            </a:endParaRPr>
          </a:p>
        </p:txBody>
      </p:sp>
      <p:graphicFrame>
        <p:nvGraphicFramePr>
          <p:cNvPr id="13" name="Diagrama 12"/>
          <p:cNvGraphicFramePr/>
          <p:nvPr>
            <p:extLst>
              <p:ext uri="{D42A27DB-BD31-4B8C-83A1-F6EECF244321}">
                <p14:modId xmlns:p14="http://schemas.microsoft.com/office/powerpoint/2010/main" val="957188786"/>
              </p:ext>
            </p:extLst>
          </p:nvPr>
        </p:nvGraphicFramePr>
        <p:xfrm>
          <a:off x="1717386" y="1273175"/>
          <a:ext cx="5709228" cy="2879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27027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RIESGOS Y ESTRATEGIAS DE </a:t>
            </a:r>
            <a:r>
              <a:rPr lang="en-US" sz="1300" dirty="0" smtClean="0">
                <a:solidFill>
                  <a:srgbClr val="438AD7"/>
                </a:solidFill>
              </a:rPr>
              <a:t>CONTINUIDAD DE </a:t>
            </a:r>
            <a:r>
              <a:rPr lang="en-US" sz="1300" dirty="0">
                <a:solidFill>
                  <a:srgbClr val="438AD7"/>
                </a:solidFill>
              </a:rPr>
              <a:t>SISTEMAS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8" y="954483"/>
            <a:ext cx="3811890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RIESGOS DE CONTINUIDAD DE SISTEMAS</a:t>
            </a:r>
            <a:endParaRPr lang="en-US" sz="1600" spc="-10" dirty="0" smtClean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La </a:t>
            </a:r>
            <a:r>
              <a:rPr lang="en-US" sz="1600" spc="-10" dirty="0" err="1">
                <a:cs typeface="Source Sans Pro"/>
              </a:rPr>
              <a:t>falta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gestión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riesgo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cualquier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entidad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puede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tener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como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consecuencia</a:t>
            </a:r>
            <a:r>
              <a:rPr lang="en-US" sz="1600" spc="-10" dirty="0">
                <a:cs typeface="Source Sans Pro"/>
              </a:rPr>
              <a:t>: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Pérdida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tiempo</a:t>
            </a:r>
            <a:r>
              <a:rPr lang="en-US" sz="1600" spc="-10" dirty="0">
                <a:cs typeface="Source Sans Pro"/>
              </a:rPr>
              <a:t>.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Pérdida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productividad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Pérdida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confidencial</a:t>
            </a:r>
            <a:r>
              <a:rPr lang="en-US" sz="1600" spc="-10" dirty="0">
                <a:cs typeface="Source Sans Pro"/>
              </a:rPr>
              <a:t>.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Pérdida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clientes</a:t>
            </a:r>
            <a:r>
              <a:rPr lang="en-US" sz="1600" spc="-10" dirty="0">
                <a:cs typeface="Source Sans Pro"/>
              </a:rPr>
              <a:t>.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Pérdida</a:t>
            </a:r>
            <a:r>
              <a:rPr lang="en-US" sz="1600" spc="-10" dirty="0">
                <a:cs typeface="Source Sans Pro"/>
              </a:rPr>
              <a:t> de imagen. </a:t>
            </a:r>
          </a:p>
        </p:txBody>
      </p:sp>
      <p:pic>
        <p:nvPicPr>
          <p:cNvPr id="10" name="Picture 2" descr="Resultado de imagen para pérdida de tiemp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413" y="3287751"/>
            <a:ext cx="3851275" cy="190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Resultado de imagen para desconfianz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64"/>
          <a:stretch/>
        </p:blipFill>
        <p:spPr bwMode="auto">
          <a:xfrm>
            <a:off x="4824414" y="949325"/>
            <a:ext cx="3068772" cy="2245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11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RIESGOS DE CONTINUIDAD DE SISTEMAS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La </a:t>
            </a:r>
            <a:r>
              <a:rPr lang="en-US" sz="1600" spc="-10" dirty="0" err="1">
                <a:cs typeface="Source Sans Pro"/>
              </a:rPr>
              <a:t>falta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gestión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riesgo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cualquier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entidad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puede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tener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como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consecuencia</a:t>
            </a:r>
            <a:r>
              <a:rPr lang="en-US" sz="1600" spc="-10" dirty="0">
                <a:cs typeface="Source Sans Pro"/>
              </a:rPr>
              <a:t>: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Pérdida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ingresos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por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beneficios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Pérdida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ingresos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por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ventas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cobros</a:t>
            </a:r>
            <a:r>
              <a:rPr lang="en-US" sz="1600" spc="-10" dirty="0">
                <a:cs typeface="Source Sans Pro"/>
              </a:rPr>
              <a:t>.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Pérdida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ingresos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por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producción</a:t>
            </a:r>
            <a:r>
              <a:rPr lang="en-US" sz="1600" spc="-10" dirty="0">
                <a:cs typeface="Source Sans Pro"/>
              </a:rPr>
              <a:t>.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Pérdida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competitividad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mercado</a:t>
            </a:r>
            <a:r>
              <a:rPr lang="en-US" sz="1600" spc="-10" dirty="0">
                <a:cs typeface="Source Sans Pro"/>
              </a:rPr>
              <a:t>.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Pérdida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credibilidad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el sector.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RIESGOS Y ESTRATEGIAS DE CONTINUIDAD DE SISTEMAS</a:t>
            </a:r>
          </a:p>
        </p:txBody>
      </p:sp>
    </p:spTree>
    <p:extLst>
      <p:ext uri="{BB962C8B-B14F-4D97-AF65-F5344CB8AC3E}">
        <p14:creationId xmlns:p14="http://schemas.microsoft.com/office/powerpoint/2010/main" val="40630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RIESGOS Y ESTRATEGIAS DE CONTINUIDAD DE SISTEMAS</a:t>
            </a:r>
          </a:p>
        </p:txBody>
      </p:sp>
      <p:sp>
        <p:nvSpPr>
          <p:cNvPr id="5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RIESGOS DE CONTINUIDAD DE </a:t>
            </a:r>
            <a:r>
              <a:rPr lang="en-US" sz="1600" b="1" spc="-10" dirty="0" smtClean="0">
                <a:cs typeface="Source Sans Pro"/>
              </a:rPr>
              <a:t>SISTEMAS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>
                <a:cs typeface="Source Sans Pro"/>
              </a:rPr>
              <a:t>Gestión</a:t>
            </a:r>
            <a:r>
              <a:rPr lang="en-US" sz="1600" b="1" spc="-10" dirty="0">
                <a:cs typeface="Source Sans Pro"/>
              </a:rPr>
              <a:t> del </a:t>
            </a:r>
            <a:r>
              <a:rPr lang="en-US" sz="1600" b="1" spc="-10" dirty="0" err="1">
                <a:cs typeface="Source Sans Pro"/>
              </a:rPr>
              <a:t>Riesgo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endParaRPr lang="en-US" sz="1600" b="1" spc="-10" dirty="0">
              <a:cs typeface="Source Sans Pro"/>
            </a:endParaRPr>
          </a:p>
        </p:txBody>
      </p:sp>
      <p:graphicFrame>
        <p:nvGraphicFramePr>
          <p:cNvPr id="9" name="Diagrama 8"/>
          <p:cNvGraphicFramePr/>
          <p:nvPr>
            <p:extLst>
              <p:ext uri="{D42A27DB-BD31-4B8C-83A1-F6EECF244321}">
                <p14:modId xmlns:p14="http://schemas.microsoft.com/office/powerpoint/2010/main" val="1574343616"/>
              </p:ext>
            </p:extLst>
          </p:nvPr>
        </p:nvGraphicFramePr>
        <p:xfrm>
          <a:off x="539394" y="2233582"/>
          <a:ext cx="8001535" cy="16300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Rectángulo 9"/>
          <p:cNvSpPr/>
          <p:nvPr/>
        </p:nvSpPr>
        <p:spPr>
          <a:xfrm>
            <a:off x="959634" y="1685997"/>
            <a:ext cx="1557859" cy="534851"/>
          </a:xfrm>
          <a:prstGeom prst="rect">
            <a:avLst/>
          </a:prstGeom>
          <a:solidFill>
            <a:srgbClr val="685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 smtClean="0"/>
              <a:t>Análisis de Impacto del Negocio</a:t>
            </a:r>
            <a:endParaRPr lang="es-PE" sz="1200" dirty="0"/>
          </a:p>
        </p:txBody>
      </p:sp>
      <p:cxnSp>
        <p:nvCxnSpPr>
          <p:cNvPr id="11" name="Conector angular 10"/>
          <p:cNvCxnSpPr>
            <a:stCxn id="10" idx="2"/>
          </p:cNvCxnSpPr>
          <p:nvPr/>
        </p:nvCxnSpPr>
        <p:spPr>
          <a:xfrm rot="16200000" flipH="1">
            <a:off x="1712141" y="2247270"/>
            <a:ext cx="522119" cy="469273"/>
          </a:xfrm>
          <a:prstGeom prst="bentConnector3">
            <a:avLst>
              <a:gd name="adj1" fmla="val 50000"/>
            </a:avLst>
          </a:prstGeom>
          <a:ln w="28575">
            <a:solidFill>
              <a:srgbClr val="6852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angular 11"/>
          <p:cNvCxnSpPr>
            <a:stCxn id="10" idx="2"/>
          </p:cNvCxnSpPr>
          <p:nvPr/>
        </p:nvCxnSpPr>
        <p:spPr>
          <a:xfrm rot="5400000">
            <a:off x="1242869" y="2247270"/>
            <a:ext cx="522117" cy="469273"/>
          </a:xfrm>
          <a:prstGeom prst="bentConnector3">
            <a:avLst/>
          </a:prstGeom>
          <a:ln w="28575">
            <a:solidFill>
              <a:srgbClr val="6852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/>
          <p:cNvSpPr/>
          <p:nvPr/>
        </p:nvSpPr>
        <p:spPr>
          <a:xfrm>
            <a:off x="7046748" y="3949524"/>
            <a:ext cx="1557859" cy="534851"/>
          </a:xfrm>
          <a:prstGeom prst="rect">
            <a:avLst/>
          </a:prstGeom>
          <a:solidFill>
            <a:srgbClr val="6852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 smtClean="0"/>
              <a:t>Matriz de Riesgos y Controles</a:t>
            </a:r>
            <a:endParaRPr lang="es-PE" sz="1200" dirty="0"/>
          </a:p>
        </p:txBody>
      </p:sp>
      <p:cxnSp>
        <p:nvCxnSpPr>
          <p:cNvPr id="14" name="Conector angular 13"/>
          <p:cNvCxnSpPr/>
          <p:nvPr/>
        </p:nvCxnSpPr>
        <p:spPr>
          <a:xfrm>
            <a:off x="1078489" y="3373322"/>
            <a:ext cx="5968258" cy="843628"/>
          </a:xfrm>
          <a:prstGeom prst="bentConnector3">
            <a:avLst>
              <a:gd name="adj1" fmla="val -142"/>
            </a:avLst>
          </a:prstGeom>
          <a:ln w="28575">
            <a:solidFill>
              <a:srgbClr val="6852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angular 14"/>
          <p:cNvCxnSpPr/>
          <p:nvPr/>
        </p:nvCxnSpPr>
        <p:spPr>
          <a:xfrm>
            <a:off x="2517493" y="3373322"/>
            <a:ext cx="4529255" cy="843628"/>
          </a:xfrm>
          <a:prstGeom prst="bentConnector3">
            <a:avLst>
              <a:gd name="adj1" fmla="val 234"/>
            </a:avLst>
          </a:prstGeom>
          <a:ln w="28575">
            <a:solidFill>
              <a:srgbClr val="6852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angular 15"/>
          <p:cNvCxnSpPr/>
          <p:nvPr/>
        </p:nvCxnSpPr>
        <p:spPr>
          <a:xfrm>
            <a:off x="3854618" y="3373322"/>
            <a:ext cx="3192129" cy="843628"/>
          </a:xfrm>
          <a:prstGeom prst="bentConnector3">
            <a:avLst>
              <a:gd name="adj1" fmla="val -266"/>
            </a:avLst>
          </a:prstGeom>
          <a:ln w="28575">
            <a:solidFill>
              <a:srgbClr val="6852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angular 16"/>
          <p:cNvCxnSpPr/>
          <p:nvPr/>
        </p:nvCxnSpPr>
        <p:spPr>
          <a:xfrm>
            <a:off x="5268152" y="3373322"/>
            <a:ext cx="1778596" cy="843628"/>
          </a:xfrm>
          <a:prstGeom prst="bentConnector3">
            <a:avLst>
              <a:gd name="adj1" fmla="val -835"/>
            </a:avLst>
          </a:prstGeom>
          <a:ln w="28575">
            <a:solidFill>
              <a:srgbClr val="6852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angular 17"/>
          <p:cNvCxnSpPr/>
          <p:nvPr/>
        </p:nvCxnSpPr>
        <p:spPr>
          <a:xfrm rot="16200000" flipH="1">
            <a:off x="6429670" y="3599872"/>
            <a:ext cx="843626" cy="390529"/>
          </a:xfrm>
          <a:prstGeom prst="bentConnector2">
            <a:avLst/>
          </a:prstGeom>
          <a:ln w="28575">
            <a:solidFill>
              <a:srgbClr val="6852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angular 18"/>
          <p:cNvCxnSpPr/>
          <p:nvPr/>
        </p:nvCxnSpPr>
        <p:spPr>
          <a:xfrm rot="5400000">
            <a:off x="7691449" y="3507548"/>
            <a:ext cx="576204" cy="307747"/>
          </a:xfrm>
          <a:prstGeom prst="bentConnector3">
            <a:avLst>
              <a:gd name="adj1" fmla="val 50000"/>
            </a:avLst>
          </a:prstGeom>
          <a:ln w="28575">
            <a:solidFill>
              <a:srgbClr val="6852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191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RIESGOS Y ESTRATEGIAS DE CONTINUIDAD DE SISTEMAS</a:t>
            </a:r>
          </a:p>
        </p:txBody>
      </p:sp>
      <p:pic>
        <p:nvPicPr>
          <p:cNvPr id="20" name="Imagen 19"/>
          <p:cNvPicPr>
            <a:picLocks noChangeAspect="1"/>
          </p:cNvPicPr>
          <p:nvPr/>
        </p:nvPicPr>
        <p:blipFill rotWithShape="1">
          <a:blip r:embed="rId3"/>
          <a:srcRect l="17880" t="20914" r="17113" b="11779"/>
          <a:stretch/>
        </p:blipFill>
        <p:spPr>
          <a:xfrm>
            <a:off x="921216" y="947082"/>
            <a:ext cx="7301569" cy="425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216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RIESGOS Y ESTRATEGIAS DE CONTINUIDAD DE SISTEMAS</a:t>
            </a:r>
          </a:p>
        </p:txBody>
      </p:sp>
      <p:sp>
        <p:nvSpPr>
          <p:cNvPr id="5" name="object 7"/>
          <p:cNvSpPr txBox="1"/>
          <p:nvPr/>
        </p:nvSpPr>
        <p:spPr>
          <a:xfrm>
            <a:off x="507698" y="954483"/>
            <a:ext cx="81679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ESQUEMA</a:t>
            </a:r>
            <a:endParaRPr lang="en-US" sz="1600" b="1" spc="-10" dirty="0">
              <a:cs typeface="Source Sans Pro"/>
            </a:endParaRPr>
          </a:p>
        </p:txBody>
      </p:sp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1067338252"/>
              </p:ext>
            </p:extLst>
          </p:nvPr>
        </p:nvGraphicFramePr>
        <p:xfrm>
          <a:off x="1864561" y="1245548"/>
          <a:ext cx="5414879" cy="3792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8275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RIESGOS Y ESTRATEGIAS DE CONTINUIDAD DE SISTEMAS</a:t>
            </a:r>
          </a:p>
        </p:txBody>
      </p:sp>
      <p:sp>
        <p:nvSpPr>
          <p:cNvPr id="5" name="object 7"/>
          <p:cNvSpPr txBox="1"/>
          <p:nvPr/>
        </p:nvSpPr>
        <p:spPr>
          <a:xfrm>
            <a:off x="507698" y="954483"/>
            <a:ext cx="816799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ESTRATEGIAS DE CONTINUIDAD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Aceptar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>
                <a:cs typeface="Source Sans Pro"/>
              </a:rPr>
              <a:t>o </a:t>
            </a:r>
            <a:r>
              <a:rPr lang="en-US" sz="1600" spc="-10" dirty="0" err="1">
                <a:cs typeface="Source Sans Pro"/>
              </a:rPr>
              <a:t>asumir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riesgo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Evitar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riesgo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Transferir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riesgo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Mitigar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riesgo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Atomizar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riesgo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pic>
        <p:nvPicPr>
          <p:cNvPr id="9" name="Picture 2" descr="Resultado de imagen para estrategias de continuidad de negoci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5284" y="1721445"/>
            <a:ext cx="4600895" cy="3198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3097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RIESGOS Y ESTRATEGIAS DE CONTINUIDAD DE SISTEMAS</a:t>
            </a:r>
          </a:p>
        </p:txBody>
      </p:sp>
      <p:sp>
        <p:nvSpPr>
          <p:cNvPr id="5" name="object 7"/>
          <p:cNvSpPr txBox="1"/>
          <p:nvPr/>
        </p:nvSpPr>
        <p:spPr>
          <a:xfrm>
            <a:off x="507698" y="954483"/>
            <a:ext cx="8167990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ESTRATEGIAS DE MITIGACIÓN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Tecnológicas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Centros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Procesamiento</a:t>
            </a:r>
            <a:endParaRPr lang="en-US" sz="1600" spc="-10" dirty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Servidores</a:t>
            </a:r>
            <a:endParaRPr lang="en-US" sz="1600" spc="-10" dirty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Comunicaciones</a:t>
            </a:r>
            <a:endParaRPr lang="en-US" sz="1600" spc="-10" dirty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Suministro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Eléctrico</a:t>
            </a:r>
            <a:endParaRPr lang="en-US" sz="1600" spc="-10" dirty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Datos</a:t>
            </a:r>
            <a:r>
              <a:rPr lang="en-US" sz="1600" spc="-10" dirty="0">
                <a:cs typeface="Source Sans Pro"/>
              </a:rPr>
              <a:t>, Backups &amp; </a:t>
            </a:r>
            <a:r>
              <a:rPr lang="en-US" sz="1600" spc="-10" dirty="0" err="1">
                <a:cs typeface="Source Sans Pro"/>
              </a:rPr>
              <a:t>Recuperación</a:t>
            </a:r>
            <a:endParaRPr lang="en-US" sz="1600" spc="-10" dirty="0">
              <a:cs typeface="Source Sans Pro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-236306" y="3164440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pic>
        <p:nvPicPr>
          <p:cNvPr id="7" name="Picture 2" descr="Resultado de imagen para estrategias de mitigación tecnológicas del ries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060" y="2847226"/>
            <a:ext cx="4948628" cy="2356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6186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RIESGOS Y ESTRATEGIAS DE CONTINUIDAD DE SISTEMAS</a:t>
            </a:r>
          </a:p>
        </p:txBody>
      </p:sp>
      <p:sp>
        <p:nvSpPr>
          <p:cNvPr id="5" name="object 7"/>
          <p:cNvSpPr txBox="1"/>
          <p:nvPr/>
        </p:nvSpPr>
        <p:spPr>
          <a:xfrm>
            <a:off x="507698" y="954483"/>
            <a:ext cx="8167990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ESTRATEGIAS DE MITIGACIÓN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No </a:t>
            </a:r>
            <a:r>
              <a:rPr lang="en-US" sz="1600" spc="-10" dirty="0" err="1">
                <a:cs typeface="Source Sans Pro"/>
              </a:rPr>
              <a:t>tecnológicas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Equipos</a:t>
            </a:r>
            <a:r>
              <a:rPr lang="en-US" sz="1600" spc="-10" dirty="0">
                <a:cs typeface="Source Sans Pro"/>
              </a:rPr>
              <a:t> y Roles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Procesos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Continuidad</a:t>
            </a:r>
            <a:endParaRPr lang="en-US" sz="1600" spc="-10" dirty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Recurso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Humano</a:t>
            </a:r>
            <a:endParaRPr lang="en-US" sz="1600" spc="-10" dirty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Capacitación</a:t>
            </a:r>
            <a:endParaRPr lang="en-US" sz="1600" spc="-10" dirty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Suministros</a:t>
            </a:r>
            <a:endParaRPr lang="en-US" sz="1600" spc="-10" dirty="0">
              <a:cs typeface="Source Sans Pro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-236306" y="3164440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pic>
        <p:nvPicPr>
          <p:cNvPr id="9" name="Picture 2" descr="Resultado de imagen para capacitació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6525" y="2322718"/>
            <a:ext cx="5109163" cy="2874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5756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RIESGOS Y ESTRATEGIAS DE CONTINUIDAD DE SISTEMAS</a:t>
            </a:r>
          </a:p>
        </p:txBody>
      </p:sp>
      <p:sp>
        <p:nvSpPr>
          <p:cNvPr id="5" name="object 7"/>
          <p:cNvSpPr txBox="1"/>
          <p:nvPr/>
        </p:nvSpPr>
        <p:spPr>
          <a:xfrm>
            <a:off x="507698" y="954483"/>
            <a:ext cx="3811890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b="1" spc="-10" dirty="0" err="1">
                <a:cs typeface="Source Sans Pro"/>
              </a:rPr>
              <a:t>Etapa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smtClean="0">
                <a:cs typeface="Source Sans Pro"/>
              </a:rPr>
              <a:t>1</a:t>
            </a:r>
            <a:br>
              <a:rPr lang="en-US" sz="1600" b="1" spc="-10" dirty="0" smtClean="0">
                <a:cs typeface="Source Sans Pro"/>
              </a:rPr>
            </a:br>
            <a:r>
              <a:rPr lang="en-US" sz="1600" spc="-10" dirty="0" smtClean="0">
                <a:cs typeface="Source Sans Pro"/>
              </a:rPr>
              <a:t>Se </a:t>
            </a:r>
            <a:r>
              <a:rPr lang="en-US" sz="1600" spc="-10" dirty="0" err="1">
                <a:cs typeface="Source Sans Pro"/>
              </a:rPr>
              <a:t>conoce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negocio</a:t>
            </a:r>
            <a:r>
              <a:rPr lang="en-US" sz="1600" spc="-10" dirty="0">
                <a:cs typeface="Source Sans Pro"/>
              </a:rPr>
              <a:t> y se </a:t>
            </a:r>
            <a:r>
              <a:rPr lang="en-US" sz="1600" spc="-10" dirty="0" err="1">
                <a:cs typeface="Source Sans Pro"/>
              </a:rPr>
              <a:t>identifican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procesos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esenciales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asegurar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continuidad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negocio</a:t>
            </a:r>
            <a:r>
              <a:rPr lang="en-US" sz="1600" spc="-10" dirty="0" smtClean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b="1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b="1" spc="-10" dirty="0" err="1" smtClean="0">
                <a:cs typeface="Source Sans Pro"/>
              </a:rPr>
              <a:t>Etapa</a:t>
            </a:r>
            <a:r>
              <a:rPr lang="en-US" sz="1600" b="1" spc="-10" dirty="0" smtClean="0">
                <a:cs typeface="Source Sans Pro"/>
              </a:rPr>
              <a:t> 2</a:t>
            </a:r>
            <a:br>
              <a:rPr lang="en-US" sz="1600" b="1" spc="-10" dirty="0" smtClean="0">
                <a:cs typeface="Source Sans Pro"/>
              </a:rPr>
            </a:br>
            <a:r>
              <a:rPr lang="en-US" sz="1600" spc="-10" dirty="0" smtClean="0">
                <a:cs typeface="Source Sans Pro"/>
              </a:rPr>
              <a:t>Se </a:t>
            </a:r>
            <a:r>
              <a:rPr lang="en-US" sz="1600" spc="-10" dirty="0" err="1">
                <a:cs typeface="Source Sans Pro"/>
              </a:rPr>
              <a:t>determinan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seleccionan</a:t>
            </a:r>
            <a:r>
              <a:rPr lang="en-US" sz="1600" spc="-10" dirty="0">
                <a:cs typeface="Source Sans Pro"/>
              </a:rPr>
              <a:t> las </a:t>
            </a:r>
            <a:r>
              <a:rPr lang="en-US" sz="1600" spc="-10" dirty="0" err="1">
                <a:cs typeface="Source Sans Pro"/>
              </a:rPr>
              <a:t>estrategias</a:t>
            </a:r>
            <a:r>
              <a:rPr lang="en-US" sz="1600" spc="-10" dirty="0">
                <a:cs typeface="Source Sans Pro"/>
              </a:rPr>
              <a:t> para la </a:t>
            </a:r>
            <a:r>
              <a:rPr lang="en-US" sz="1600" spc="-10" dirty="0" err="1">
                <a:cs typeface="Source Sans Pro"/>
              </a:rPr>
              <a:t>gestión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continuidad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negocio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b="1" spc="-10" dirty="0">
              <a:cs typeface="Source Sans Pro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-236306" y="3164440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pic>
        <p:nvPicPr>
          <p:cNvPr id="7" name="Picture 2" descr="Resultado de imagen para conocer el negoci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412" y="949326"/>
            <a:ext cx="3851275" cy="2164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4320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RIESGOS Y ESTRATEGIAS DE CONTINUIDAD DE SISTEMAS</a:t>
            </a:r>
          </a:p>
        </p:txBody>
      </p:sp>
      <p:sp>
        <p:nvSpPr>
          <p:cNvPr id="5" name="object 7"/>
          <p:cNvSpPr txBox="1"/>
          <p:nvPr/>
        </p:nvSpPr>
        <p:spPr>
          <a:xfrm>
            <a:off x="507698" y="954483"/>
            <a:ext cx="3811890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b="1" spc="-10" dirty="0" err="1">
                <a:cs typeface="Source Sans Pro"/>
              </a:rPr>
              <a:t>Etapa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smtClean="0">
                <a:cs typeface="Source Sans Pro"/>
              </a:rPr>
              <a:t>3</a:t>
            </a:r>
            <a:br>
              <a:rPr lang="en-US" sz="1600" b="1" spc="-10" dirty="0" smtClean="0">
                <a:cs typeface="Source Sans Pro"/>
              </a:rPr>
            </a:br>
            <a:r>
              <a:rPr lang="en-US" sz="1600" spc="-10" dirty="0" smtClean="0">
                <a:cs typeface="Source Sans Pro"/>
              </a:rPr>
              <a:t>Se </a:t>
            </a:r>
            <a:r>
              <a:rPr lang="en-US" sz="1600" spc="-10" dirty="0" err="1">
                <a:cs typeface="Source Sans Pro"/>
              </a:rPr>
              <a:t>identifican</a:t>
            </a:r>
            <a:r>
              <a:rPr lang="en-US" sz="1600" spc="-10" dirty="0">
                <a:cs typeface="Source Sans Pro"/>
              </a:rPr>
              <a:t> las </a:t>
            </a:r>
            <a:r>
              <a:rPr lang="en-US" sz="1600" spc="-10" dirty="0" err="1">
                <a:cs typeface="Source Sans Pro"/>
              </a:rPr>
              <a:t>acciones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recursos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necesarios</a:t>
            </a:r>
            <a:r>
              <a:rPr lang="en-US" sz="1600" spc="-10" dirty="0">
                <a:cs typeface="Source Sans Pro"/>
              </a:rPr>
              <a:t> para responder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caso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interrupción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b="1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b="1" spc="-10" dirty="0" err="1">
                <a:cs typeface="Source Sans Pro"/>
              </a:rPr>
              <a:t>Etapa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smtClean="0">
                <a:cs typeface="Source Sans Pro"/>
              </a:rPr>
              <a:t>4</a:t>
            </a:r>
            <a:br>
              <a:rPr lang="en-US" sz="1600" b="1" spc="-10" dirty="0" smtClean="0">
                <a:cs typeface="Source Sans Pro"/>
              </a:rPr>
            </a:br>
            <a:r>
              <a:rPr lang="en-US" sz="1600" spc="-10" dirty="0" err="1" smtClean="0">
                <a:cs typeface="Source Sans Pro"/>
              </a:rPr>
              <a:t>Integración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>
                <a:cs typeface="Source Sans Pro"/>
              </a:rPr>
              <a:t>de la </a:t>
            </a:r>
            <a:r>
              <a:rPr lang="en-US" sz="1600" spc="-10" dirty="0" err="1">
                <a:cs typeface="Source Sans Pro"/>
              </a:rPr>
              <a:t>estrategia</a:t>
            </a:r>
            <a:r>
              <a:rPr lang="en-US" sz="1600" spc="-10" dirty="0">
                <a:cs typeface="Source Sans Pro"/>
              </a:rPr>
              <a:t> al </a:t>
            </a:r>
            <a:r>
              <a:rPr lang="en-US" sz="1600" spc="-10" dirty="0" err="1">
                <a:cs typeface="Source Sans Pro"/>
              </a:rPr>
              <a:t>día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día</a:t>
            </a:r>
            <a:r>
              <a:rPr lang="en-US" sz="1600" spc="-10" dirty="0">
                <a:cs typeface="Source Sans Pro"/>
              </a:rPr>
              <a:t> de las </a:t>
            </a:r>
            <a:r>
              <a:rPr lang="en-US" sz="1600" spc="-10" dirty="0" err="1">
                <a:cs typeface="Source Sans Pro"/>
              </a:rPr>
              <a:t>operaciones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-236306" y="3164440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pic>
        <p:nvPicPr>
          <p:cNvPr id="9" name="Picture 2" descr="Resultado de imagen para identificación de recurs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299" y="949325"/>
            <a:ext cx="1897900" cy="189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841" y="3073256"/>
            <a:ext cx="2828817" cy="212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RIESGOS Y ESTRATEGIAS DE CONTINUIDAD DE SISTEMAS</a:t>
            </a:r>
          </a:p>
        </p:txBody>
      </p:sp>
      <p:sp>
        <p:nvSpPr>
          <p:cNvPr id="5" name="object 7"/>
          <p:cNvSpPr txBox="1"/>
          <p:nvPr/>
        </p:nvSpPr>
        <p:spPr>
          <a:xfrm>
            <a:off x="507697" y="954483"/>
            <a:ext cx="8133065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b="1" spc="-10" dirty="0" err="1">
                <a:cs typeface="Source Sans Pro"/>
              </a:rPr>
              <a:t>Etapa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smtClean="0">
                <a:cs typeface="Source Sans Pro"/>
              </a:rPr>
              <a:t>5</a:t>
            </a:r>
            <a:br>
              <a:rPr lang="en-US" sz="1600" b="1" spc="-10" dirty="0" smtClean="0">
                <a:cs typeface="Source Sans Pro"/>
              </a:rPr>
            </a:br>
            <a:r>
              <a:rPr lang="en-US" sz="1600" spc="-10" dirty="0" smtClean="0">
                <a:cs typeface="Source Sans Pro"/>
              </a:rPr>
              <a:t>La </a:t>
            </a:r>
            <a:r>
              <a:rPr lang="en-US" sz="1600" spc="-10" dirty="0" err="1">
                <a:cs typeface="Source Sans Pro"/>
              </a:rPr>
              <a:t>prueba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certifica</a:t>
            </a:r>
            <a:r>
              <a:rPr lang="en-US" sz="1600" spc="-10" dirty="0">
                <a:cs typeface="Source Sans Pro"/>
              </a:rPr>
              <a:t> que el Plan de </a:t>
            </a:r>
            <a:r>
              <a:rPr lang="en-US" sz="1600" spc="-10" dirty="0" err="1">
                <a:cs typeface="Source Sans Pro"/>
              </a:rPr>
              <a:t>Continuidad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negocio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confiable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cumple</a:t>
            </a:r>
            <a:r>
              <a:rPr lang="en-US" sz="1600" spc="-10" dirty="0">
                <a:cs typeface="Source Sans Pro"/>
              </a:rPr>
              <a:t> con las </a:t>
            </a:r>
            <a:r>
              <a:rPr lang="en-US" sz="1600" spc="-10" dirty="0" err="1">
                <a:cs typeface="Source Sans Pro"/>
              </a:rPr>
              <a:t>expectativas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señaladas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estrategia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pic>
        <p:nvPicPr>
          <p:cNvPr id="10" name="Picture 2" descr="Resultado de imagen para plan de continuidad del negoci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983" y="1931542"/>
            <a:ext cx="6252034" cy="326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8359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RIESGOS Y ESTRATEGIAS DE CONTINUIDAD DE SISTEMAS</a:t>
            </a:r>
          </a:p>
        </p:txBody>
      </p:sp>
      <p:sp>
        <p:nvSpPr>
          <p:cNvPr id="5" name="object 7"/>
          <p:cNvSpPr txBox="1"/>
          <p:nvPr/>
        </p:nvSpPr>
        <p:spPr>
          <a:xfrm>
            <a:off x="507697" y="954483"/>
            <a:ext cx="8133065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ENFOQUE DE APLICACIÓN</a:t>
            </a:r>
            <a:br>
              <a:rPr lang="en-US" sz="1600" b="1" spc="-10" dirty="0" smtClean="0">
                <a:cs typeface="Source Sans Pro"/>
              </a:rPr>
            </a:br>
            <a:r>
              <a:rPr lang="en-US" sz="1600" spc="-10" dirty="0" err="1" smtClean="0">
                <a:cs typeface="Source Sans Pro"/>
              </a:rPr>
              <a:t>Cada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organización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enfoca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su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negocio</a:t>
            </a:r>
            <a:r>
              <a:rPr lang="en-US" sz="1600" spc="-10" dirty="0">
                <a:cs typeface="Source Sans Pro"/>
              </a:rPr>
              <a:t> y opera de </a:t>
            </a:r>
            <a:r>
              <a:rPr lang="en-US" sz="1600" spc="-10" dirty="0" err="1">
                <a:cs typeface="Source Sans Pro"/>
              </a:rPr>
              <a:t>manera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diferente</a:t>
            </a:r>
            <a:r>
              <a:rPr lang="en-US" sz="1600" spc="-10" dirty="0">
                <a:cs typeface="Source Sans Pro"/>
              </a:rPr>
              <a:t>. </a:t>
            </a:r>
            <a:r>
              <a:rPr lang="en-US" sz="1600" spc="-10" dirty="0" err="1">
                <a:cs typeface="Source Sans Pro"/>
              </a:rPr>
              <a:t>Por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ésta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razón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metodología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aplicada</a:t>
            </a:r>
            <a:r>
              <a:rPr lang="en-US" sz="1600" spc="-10" dirty="0">
                <a:cs typeface="Source Sans Pro"/>
              </a:rPr>
              <a:t> no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prescriptiva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acerca</a:t>
            </a:r>
            <a:r>
              <a:rPr lang="en-US" sz="1600" spc="-10" dirty="0">
                <a:cs typeface="Source Sans Pro"/>
              </a:rPr>
              <a:t> de las </a:t>
            </a:r>
            <a:r>
              <a:rPr lang="en-US" sz="1600" spc="-10" dirty="0" err="1">
                <a:cs typeface="Source Sans Pro"/>
              </a:rPr>
              <a:t>soluciones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organización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adoptar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implementar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su</a:t>
            </a:r>
            <a:r>
              <a:rPr lang="en-US" sz="1600" spc="-10" dirty="0">
                <a:cs typeface="Source Sans Pro"/>
              </a:rPr>
              <a:t> plan de </a:t>
            </a:r>
            <a:r>
              <a:rPr lang="en-US" sz="1600" spc="-10" dirty="0" err="1">
                <a:cs typeface="Source Sans Pro"/>
              </a:rPr>
              <a:t>continuidad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77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RIESGOS Y ESTRATEGIAS DE CONTINUIDAD DE SISTEMAS</a:t>
            </a:r>
          </a:p>
        </p:txBody>
      </p:sp>
      <p:sp>
        <p:nvSpPr>
          <p:cNvPr id="5" name="object 7"/>
          <p:cNvSpPr txBox="1"/>
          <p:nvPr/>
        </p:nvSpPr>
        <p:spPr>
          <a:xfrm>
            <a:off x="507697" y="954483"/>
            <a:ext cx="8133065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ENTREGABLES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Estrategia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>
                <a:cs typeface="Source Sans Pro"/>
              </a:rPr>
              <a:t>de </a:t>
            </a:r>
            <a:r>
              <a:rPr lang="en-US" sz="1600" spc="-10" dirty="0" err="1">
                <a:cs typeface="Source Sans Pro"/>
              </a:rPr>
              <a:t>continuidad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alineada</a:t>
            </a:r>
            <a:r>
              <a:rPr lang="en-US" sz="1600" spc="-10" dirty="0">
                <a:cs typeface="Source Sans Pro"/>
              </a:rPr>
              <a:t> al </a:t>
            </a:r>
            <a:r>
              <a:rPr lang="en-US" sz="1600" spc="-10" dirty="0" err="1">
                <a:cs typeface="Source Sans Pro"/>
              </a:rPr>
              <a:t>negocio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Riesgos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identificados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impacto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valoración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Estrategia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recuperación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Plan de </a:t>
            </a:r>
            <a:r>
              <a:rPr lang="en-US" sz="1600" spc="-10" dirty="0" err="1">
                <a:cs typeface="Source Sans Pro"/>
              </a:rPr>
              <a:t>Contingencia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Plan de </a:t>
            </a:r>
            <a:r>
              <a:rPr lang="en-US" sz="1600" spc="-10" dirty="0" err="1">
                <a:cs typeface="Source Sans Pro"/>
              </a:rPr>
              <a:t>difusión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comunicación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concienciación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pic>
        <p:nvPicPr>
          <p:cNvPr id="7" name="Picture 2" descr="Resultado de imagen para concienciación seguridad de la informació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64"/>
          <a:stretch/>
        </p:blipFill>
        <p:spPr bwMode="auto">
          <a:xfrm>
            <a:off x="2243901" y="2681556"/>
            <a:ext cx="4656198" cy="2515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1897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RIESGOS Y ESTRATEGIAS DE CONTINUIDAD DE SISTEMAS</a:t>
            </a:r>
          </a:p>
        </p:txBody>
      </p:sp>
      <p:sp>
        <p:nvSpPr>
          <p:cNvPr id="5" name="object 7"/>
          <p:cNvSpPr txBox="1"/>
          <p:nvPr/>
        </p:nvSpPr>
        <p:spPr>
          <a:xfrm>
            <a:off x="507697" y="954483"/>
            <a:ext cx="8133065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ENTREGABLES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Procedimientos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ejecución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pruebas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Procedimientos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actualización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planes y </a:t>
            </a:r>
            <a:r>
              <a:rPr lang="en-US" sz="1600" spc="-10" dirty="0" err="1">
                <a:cs typeface="Source Sans Pro"/>
              </a:rPr>
              <a:t>procedimientos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Informe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prueba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validación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proceso</a:t>
            </a:r>
            <a:r>
              <a:rPr lang="en-US" sz="1600" spc="-10" dirty="0">
                <a:cs typeface="Source Sans Pro"/>
              </a:rPr>
              <a:t> y planes </a:t>
            </a:r>
            <a:r>
              <a:rPr lang="en-US" sz="1600" spc="-10" dirty="0" err="1">
                <a:cs typeface="Source Sans Pro"/>
              </a:rPr>
              <a:t>determinados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42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 smtClean="0">
                <a:solidFill>
                  <a:srgbClr val="5F9ADA"/>
                </a:solidFill>
              </a:rPr>
              <a:t>TAREA 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 smtClean="0">
                <a:solidFill>
                  <a:srgbClr val="000000"/>
                </a:solidFill>
              </a:rPr>
              <a:t>Objetivo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Elaborar un Plan de Recuperación de TI ante Desastres.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RIESGOS Y ESTRATEGIAS DE CONTINUIDAD </a:t>
            </a:r>
            <a:r>
              <a:rPr lang="en-US" sz="1300" dirty="0" smtClean="0">
                <a:solidFill>
                  <a:srgbClr val="438AD7"/>
                </a:solidFill>
              </a:rPr>
              <a:t>DE SISTEMAS </a:t>
            </a:r>
            <a:r>
              <a:rPr lang="en-US" sz="1300" dirty="0">
                <a:solidFill>
                  <a:srgbClr val="438AD7"/>
                </a:solidFill>
              </a:rPr>
              <a:t>(TAREA)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333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rgbClr val="5F9ADA"/>
                </a:solidFill>
              </a:rPr>
              <a:t>TAREA 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>
                <a:solidFill>
                  <a:srgbClr val="000000"/>
                </a:solidFill>
              </a:rPr>
              <a:t>En grupos de 5 participantes trabajar lo siguiente: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Los escenarios son: Caída del servidor de Aplicaciones, Caída del servidor de correo, caída del servicio eléctrico, incendio.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Identificar responsables de activar y ejecutar el plan.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Elaborar guías/instructivos.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Establecer tiempos medios de respuesta por cada escenario.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Identificar proveedores claves y registrar su datos de contacto</a:t>
            </a:r>
            <a:r>
              <a:rPr lang="es-PE" sz="1600" dirty="0" smtClean="0">
                <a:solidFill>
                  <a:srgbClr val="000000"/>
                </a:solidFill>
              </a:rPr>
              <a:t>.</a:t>
            </a:r>
            <a:endParaRPr lang="es-PE" sz="1600" dirty="0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RIESGOS Y ESTRATEGIAS DE CONTINUIDAD </a:t>
            </a:r>
            <a:r>
              <a:rPr lang="en-US" sz="1300" smtClean="0">
                <a:solidFill>
                  <a:srgbClr val="438AD7"/>
                </a:solidFill>
              </a:rPr>
              <a:t>DE SISTEMAS </a:t>
            </a:r>
            <a:r>
              <a:rPr lang="en-US" sz="1300">
                <a:solidFill>
                  <a:srgbClr val="438AD7"/>
                </a:solidFill>
              </a:rPr>
              <a:t>(TAREA)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224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rgbClr val="5F9ADA"/>
                </a:solidFill>
              </a:rPr>
              <a:t>TAREA 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>
                <a:solidFill>
                  <a:srgbClr val="000000"/>
                </a:solidFill>
              </a:rPr>
              <a:t>En grupos de 5 participantes trabajar lo siguiente: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En ésta entrega deberá trabajar los 2 últimos puntos señalados.</a:t>
            </a:r>
          </a:p>
          <a:p>
            <a:pPr marL="185738" indent="-185738" defTabSz="731342">
              <a:buFont typeface="Arial" charset="0"/>
              <a:buChar char="•"/>
            </a:pPr>
            <a:endParaRPr lang="es-PE" sz="1600" dirty="0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RIESGOS Y ESTRATEGIAS DE CONTINUIDAD </a:t>
            </a:r>
            <a:r>
              <a:rPr lang="en-US" sz="1300" smtClean="0">
                <a:solidFill>
                  <a:srgbClr val="438AD7"/>
                </a:solidFill>
              </a:rPr>
              <a:t>DE SISTEMAS </a:t>
            </a:r>
            <a:r>
              <a:rPr lang="en-US" sz="1300">
                <a:solidFill>
                  <a:srgbClr val="438AD7"/>
                </a:solidFill>
              </a:rPr>
              <a:t>(TAREA)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373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rgbClr val="5F9ADA"/>
                </a:solidFill>
              </a:rPr>
              <a:t>TAREA 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>
                <a:solidFill>
                  <a:srgbClr val="000000"/>
                </a:solidFill>
              </a:rPr>
              <a:t>Instrucciones para la entrega de la tarea.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El envío del avance se realizará luego de 5 días de dictada la presente sesión</a:t>
            </a:r>
            <a:r>
              <a:rPr lang="es-PE" sz="1600" dirty="0" smtClean="0">
                <a:solidFill>
                  <a:srgbClr val="000000"/>
                </a:solidFill>
              </a:rPr>
              <a:t>.</a:t>
            </a:r>
            <a:endParaRPr lang="es-PE" sz="1600" dirty="0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</a:t>
            </a:r>
            <a:r>
              <a:rPr lang="en-US" sz="1300">
                <a:solidFill>
                  <a:srgbClr val="438AD7"/>
                </a:solidFill>
              </a:rPr>
              <a:t>RIESGOS Y ESTRATEGIAS DE CONTINUIDAD </a:t>
            </a:r>
            <a:r>
              <a:rPr lang="en-US" sz="1300" smtClean="0">
                <a:solidFill>
                  <a:srgbClr val="438AD7"/>
                </a:solidFill>
              </a:rPr>
              <a:t>DE SISTEMAS </a:t>
            </a:r>
            <a:r>
              <a:rPr lang="en-US" sz="1300">
                <a:solidFill>
                  <a:srgbClr val="438AD7"/>
                </a:solidFill>
              </a:rPr>
              <a:t>(TAREA)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977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 smtClean="0">
                <a:solidFill>
                  <a:schemeClr val="bg1"/>
                </a:solidFill>
                <a:cs typeface="Calibri"/>
              </a:rPr>
              <a:t>RESUMEN</a:t>
            </a:r>
            <a:endParaRPr lang="es-PE" sz="2800" b="1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27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RESUMEN</a:t>
            </a:r>
          </a:p>
        </p:txBody>
      </p:sp>
      <p:sp>
        <p:nvSpPr>
          <p:cNvPr id="8" name="object 7"/>
          <p:cNvSpPr txBox="1"/>
          <p:nvPr/>
        </p:nvSpPr>
        <p:spPr>
          <a:xfrm>
            <a:off x="507698" y="954483"/>
            <a:ext cx="816799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ESTRATEGIAS DE CONTINUIDAD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Aceptar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>
                <a:cs typeface="Source Sans Pro"/>
              </a:rPr>
              <a:t>o </a:t>
            </a:r>
            <a:r>
              <a:rPr lang="en-US" sz="1600" spc="-10" dirty="0" err="1">
                <a:cs typeface="Source Sans Pro"/>
              </a:rPr>
              <a:t>asumir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riesgo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Evitar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riesgo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Transferir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riesgo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Mitigar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riesgo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Atomizar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riesgo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pic>
        <p:nvPicPr>
          <p:cNvPr id="9" name="Picture 2" descr="Resultado de imagen para estrategias de continuidad de negoci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5284" y="1721445"/>
            <a:ext cx="4600895" cy="3198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955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RESUMEN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5866544" y="3513762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4" name="object 7"/>
          <p:cNvSpPr txBox="1"/>
          <p:nvPr/>
        </p:nvSpPr>
        <p:spPr>
          <a:xfrm>
            <a:off x="507698" y="954483"/>
            <a:ext cx="8133065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Se </a:t>
            </a:r>
            <a:r>
              <a:rPr lang="en-US" sz="1600" spc="-10" dirty="0" err="1">
                <a:cs typeface="Source Sans Pro"/>
              </a:rPr>
              <a:t>identifican</a:t>
            </a:r>
            <a:r>
              <a:rPr lang="en-US" sz="1600" spc="-10" dirty="0">
                <a:cs typeface="Source Sans Pro"/>
              </a:rPr>
              <a:t> las </a:t>
            </a:r>
            <a:r>
              <a:rPr lang="en-US" sz="1600" spc="-10" dirty="0" err="1">
                <a:cs typeface="Source Sans Pro"/>
              </a:rPr>
              <a:t>acciones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recursos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necesarios</a:t>
            </a:r>
            <a:r>
              <a:rPr lang="en-US" sz="1600" spc="-10" dirty="0">
                <a:cs typeface="Source Sans Pro"/>
              </a:rPr>
              <a:t> para responder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caso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interrupción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pic>
        <p:nvPicPr>
          <p:cNvPr id="15" name="Picture 2" descr="Resultado de imagen para identificación de recurs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594" y="1396660"/>
            <a:ext cx="3800813" cy="3800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843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lIns="91425" tIns="91425" rIns="91425" bIns="91425" anchor="t" anchorCtr="0">
        <a:noAutofit/>
      </a:bodyPr>
      <a:lstStyle>
        <a:defPPr marL="174625" indent="-174625">
          <a:spcBef>
            <a:spcPts val="0"/>
          </a:spcBef>
          <a:buSzPct val="100000"/>
          <a:defRPr sz="1500" dirty="0" smtClean="0">
            <a:latin typeface="Calibri"/>
            <a:cs typeface="Calibri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6296</TotalTime>
  <Words>1137</Words>
  <Application>Microsoft Office PowerPoint</Application>
  <PresentationFormat>Presentación en pantalla (16:10)</PresentationFormat>
  <Paragraphs>168</Paragraphs>
  <Slides>28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3" baseType="lpstr">
      <vt:lpstr>Arial</vt:lpstr>
      <vt:lpstr>Calibri</vt:lpstr>
      <vt:lpstr>Source Sans Pro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keywords>SCG</cp:keywords>
  <cp:lastModifiedBy>Christian Santamaria Saldaña</cp:lastModifiedBy>
  <cp:revision>538</cp:revision>
  <cp:lastPrinted>2018-01-16T21:42:59Z</cp:lastPrinted>
  <dcterms:created xsi:type="dcterms:W3CDTF">2016-10-06T14:52:02Z</dcterms:created>
  <dcterms:modified xsi:type="dcterms:W3CDTF">2020-10-21T21:42:53Z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