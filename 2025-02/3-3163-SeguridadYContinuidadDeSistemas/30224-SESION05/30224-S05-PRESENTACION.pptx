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72" r:id="rId2"/>
    <p:sldId id="306" r:id="rId3"/>
    <p:sldId id="432" r:id="rId4"/>
    <p:sldId id="513" r:id="rId5"/>
    <p:sldId id="315" r:id="rId6"/>
    <p:sldId id="400" r:id="rId7"/>
    <p:sldId id="491" r:id="rId8"/>
    <p:sldId id="458" r:id="rId9"/>
    <p:sldId id="514" r:id="rId10"/>
    <p:sldId id="515" r:id="rId11"/>
    <p:sldId id="516" r:id="rId12"/>
    <p:sldId id="517" r:id="rId13"/>
    <p:sldId id="518" r:id="rId14"/>
    <p:sldId id="519" r:id="rId15"/>
    <p:sldId id="520" r:id="rId16"/>
    <p:sldId id="521" r:id="rId17"/>
    <p:sldId id="522" r:id="rId18"/>
    <p:sldId id="523" r:id="rId19"/>
    <p:sldId id="524" r:id="rId20"/>
    <p:sldId id="525" r:id="rId21"/>
    <p:sldId id="448" r:id="rId22"/>
    <p:sldId id="509" r:id="rId23"/>
    <p:sldId id="511" r:id="rId24"/>
    <p:sldId id="451" r:id="rId25"/>
    <p:sldId id="470" r:id="rId26"/>
    <p:sldId id="471" r:id="rId27"/>
  </p:sldIdLst>
  <p:sldSz cx="9144000" cy="5715000" type="screen16x10"/>
  <p:notesSz cx="6858000" cy="9144000"/>
  <p:custDataLst>
    <p:tags r:id="rId3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98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383" userDrawn="1">
          <p15:clr>
            <a:srgbClr val="A4A3A4"/>
          </p15:clr>
        </p15:guide>
        <p15:guide id="20" pos="4309" userDrawn="1">
          <p15:clr>
            <a:srgbClr val="A4A3A4"/>
          </p15:clr>
        </p15:guide>
        <p15:guide id="23" orient="horz" pos="2299" userDrawn="1">
          <p15:clr>
            <a:srgbClr val="A4A3A4"/>
          </p15:clr>
        </p15:guide>
        <p15:guide id="24" orient="horz" pos="24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584B"/>
    <a:srgbClr val="2EB1B5"/>
    <a:srgbClr val="DFA635"/>
    <a:srgbClr val="99C652"/>
    <a:srgbClr val="68529F"/>
    <a:srgbClr val="0197A7"/>
    <a:srgbClr val="D2032C"/>
    <a:srgbClr val="F2D164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7" autoAdjust="0"/>
    <p:restoredTop sz="75000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326" y="90"/>
      </p:cViewPr>
      <p:guideLst>
        <p:guide pos="5465"/>
        <p:guide orient="horz" pos="3274"/>
        <p:guide pos="295"/>
        <p:guide orient="horz" pos="598"/>
        <p:guide orient="horz" pos="258"/>
        <p:guide pos="2880"/>
        <p:guide pos="3039"/>
        <p:guide pos="2721"/>
        <p:guide pos="1383"/>
        <p:guide pos="4309"/>
        <p:guide orient="horz" pos="2299"/>
        <p:guide orient="horz" pos="24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Objetivo</a:t>
          </a:r>
          <a:endParaRPr lang="es-PE" sz="16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89F41E8C-3758-244B-A672-43DDBF7B007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Política</a:t>
          </a:r>
          <a:endParaRPr lang="es-PE" sz="1600" dirty="0"/>
        </a:p>
      </dgm:t>
    </dgm:pt>
    <dgm:pt modelId="{0E3CF91A-2C71-D540-BE01-6329ACFE92F9}" type="parTrans" cxnId="{3D64E716-5A34-C14B-9E5E-603577A58B3D}">
      <dgm:prSet/>
      <dgm:spPr/>
      <dgm:t>
        <a:bodyPr/>
        <a:lstStyle/>
        <a:p>
          <a:endParaRPr lang="es-ES_tradnl"/>
        </a:p>
      </dgm:t>
    </dgm:pt>
    <dgm:pt modelId="{D956C73B-B307-7243-AF52-4C29FEEC1F72}" type="sibTrans" cxnId="{3D64E716-5A34-C14B-9E5E-603577A58B3D}">
      <dgm:prSet/>
      <dgm:spPr/>
      <dgm:t>
        <a:bodyPr/>
        <a:lstStyle/>
        <a:p>
          <a:endParaRPr lang="es-ES_tradnl"/>
        </a:p>
      </dgm:t>
    </dgm:pt>
    <dgm:pt modelId="{81CF8097-5973-BB49-8FC9-532E7DED21CD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Gestión de Claves</a:t>
          </a:r>
          <a:endParaRPr lang="es-PE" sz="1600" dirty="0"/>
        </a:p>
      </dgm:t>
    </dgm:pt>
    <dgm:pt modelId="{C6EED7C0-A959-314D-8CE4-F5E869EA7E24}" type="parTrans" cxnId="{413A458C-21B9-674B-8E8E-7268821FAC46}">
      <dgm:prSet/>
      <dgm:spPr/>
      <dgm:t>
        <a:bodyPr/>
        <a:lstStyle/>
        <a:p>
          <a:endParaRPr lang="es-ES_tradnl"/>
        </a:p>
      </dgm:t>
    </dgm:pt>
    <dgm:pt modelId="{D26EBFBD-37AE-BF46-BD96-207BC0391F80}" type="sibTrans" cxnId="{413A458C-21B9-674B-8E8E-7268821FAC46}">
      <dgm:prSet/>
      <dgm:spPr/>
      <dgm:t>
        <a:bodyPr/>
        <a:lstStyle/>
        <a:p>
          <a:endParaRPr lang="es-ES_tradnl"/>
        </a:p>
      </dgm:t>
    </dgm:pt>
    <dgm:pt modelId="{73E94DD0-A0AD-1741-BBF3-F25859C5B539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Tipos de Claves</a:t>
          </a:r>
          <a:endParaRPr lang="es-PE" sz="1600" dirty="0"/>
        </a:p>
      </dgm:t>
    </dgm:pt>
    <dgm:pt modelId="{E04B4CC2-2857-684B-96CE-620536359320}" type="parTrans" cxnId="{6244D31F-7978-5E45-894B-5370408E0E18}">
      <dgm:prSet/>
      <dgm:spPr/>
      <dgm:t>
        <a:bodyPr/>
        <a:lstStyle/>
        <a:p>
          <a:endParaRPr lang="es-ES_tradnl"/>
        </a:p>
      </dgm:t>
    </dgm:pt>
    <dgm:pt modelId="{9C1D2C59-D69F-1549-9001-931850C00A73}" type="sibTrans" cxnId="{6244D31F-7978-5E45-894B-5370408E0E18}">
      <dgm:prSet/>
      <dgm:spPr/>
      <dgm:t>
        <a:bodyPr/>
        <a:lstStyle/>
        <a:p>
          <a:endParaRPr lang="es-ES_tradnl"/>
        </a:p>
      </dgm:t>
    </dgm:pt>
    <dgm:pt modelId="{CE4489BF-254D-5747-B6AE-7AB35BFD51BB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Firma Digital</a:t>
          </a:r>
          <a:endParaRPr lang="es-PE" sz="1600" dirty="0"/>
        </a:p>
      </dgm:t>
    </dgm:pt>
    <dgm:pt modelId="{7241CF31-9CAB-D546-A08B-2C4DF4C6BFC4}" type="parTrans" cxnId="{C12D5175-D20D-724C-B1D2-91961DF6E573}">
      <dgm:prSet/>
      <dgm:spPr/>
      <dgm:t>
        <a:bodyPr/>
        <a:lstStyle/>
        <a:p>
          <a:endParaRPr lang="es-ES_tradnl"/>
        </a:p>
      </dgm:t>
    </dgm:pt>
    <dgm:pt modelId="{6BBB9E4C-0E0E-4642-98B4-34B776B0BD9C}" type="sibTrans" cxnId="{C12D5175-D20D-724C-B1D2-91961DF6E573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18E5ADBE-5744-6840-BCAA-05578CDF782B}" type="pres">
      <dgm:prSet presAssocID="{89F41E8C-3758-244B-A672-43DDBF7B007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FFBFF153-C422-E54E-8B33-8F74B8A7A1F7}" type="pres">
      <dgm:prSet presAssocID="{D956C73B-B307-7243-AF52-4C29FEEC1F72}" presName="spacer" presStyleCnt="0"/>
      <dgm:spPr/>
    </dgm:pt>
    <dgm:pt modelId="{A12982E2-0CBC-C14F-B22E-FDA2E6DE421C}" type="pres">
      <dgm:prSet presAssocID="{81CF8097-5973-BB49-8FC9-532E7DED21C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D42DBE64-9FD4-634E-A3C1-DE5FBF06CCE7}" type="pres">
      <dgm:prSet presAssocID="{D26EBFBD-37AE-BF46-BD96-207BC0391F80}" presName="spacer" presStyleCnt="0"/>
      <dgm:spPr/>
    </dgm:pt>
    <dgm:pt modelId="{9F3D00ED-957D-1446-AD41-8839BADE1B9B}" type="pres">
      <dgm:prSet presAssocID="{73E94DD0-A0AD-1741-BBF3-F25859C5B539}" presName="parentText" presStyleLbl="node1" presStyleIdx="3" presStyleCnt="5" custLinFactNeighborX="-40542" custLinFactNeighborY="-36306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6AB87A0F-F0F1-FA49-B242-1CF867B406B2}" type="pres">
      <dgm:prSet presAssocID="{9C1D2C59-D69F-1549-9001-931850C00A73}" presName="spacer" presStyleCnt="0"/>
      <dgm:spPr/>
    </dgm:pt>
    <dgm:pt modelId="{2AD44025-6269-D14E-BE2D-30A3ECC334D0}" type="pres">
      <dgm:prSet presAssocID="{CE4489BF-254D-5747-B6AE-7AB35BFD51BB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9BC9CFC1-4FAA-5545-A51D-F2BC20DAB717}" type="presOf" srcId="{81CF8097-5973-BB49-8FC9-532E7DED21CD}" destId="{A12982E2-0CBC-C14F-B22E-FDA2E6DE421C}" srcOrd="0" destOrd="0" presId="urn:microsoft.com/office/officeart/2005/8/layout/vList2"/>
    <dgm:cxn modelId="{118A5026-E1D4-2B42-9239-CBCC52617504}" type="presOf" srcId="{89F41E8C-3758-244B-A672-43DDBF7B0074}" destId="{18E5ADBE-5744-6840-BCAA-05578CDF782B}" srcOrd="0" destOrd="0" presId="urn:microsoft.com/office/officeart/2005/8/layout/vList2"/>
    <dgm:cxn modelId="{3D64E716-5A34-C14B-9E5E-603577A58B3D}" srcId="{6EC1C1F4-B068-49DD-8085-E83DE5FE91C0}" destId="{89F41E8C-3758-244B-A672-43DDBF7B0074}" srcOrd="1" destOrd="0" parTransId="{0E3CF91A-2C71-D540-BE01-6329ACFE92F9}" sibTransId="{D956C73B-B307-7243-AF52-4C29FEEC1F72}"/>
    <dgm:cxn modelId="{58351E3F-A441-BB46-A9EE-E1BE434B50F2}" type="presOf" srcId="{6EC1C1F4-B068-49DD-8085-E83DE5FE91C0}" destId="{1C1067FD-E418-4B60-B9E3-ACF1A4CBDC81}" srcOrd="0" destOrd="0" presId="urn:microsoft.com/office/officeart/2005/8/layout/vList2"/>
    <dgm:cxn modelId="{C0A83114-A909-F944-A7CC-1CCA913AB4A5}" type="presOf" srcId="{CE4489BF-254D-5747-B6AE-7AB35BFD51BB}" destId="{2AD44025-6269-D14E-BE2D-30A3ECC334D0}" srcOrd="0" destOrd="0" presId="urn:microsoft.com/office/officeart/2005/8/layout/vList2"/>
    <dgm:cxn modelId="{40F5B1C5-62B1-6146-A1F0-C1180ECD01C8}" type="presOf" srcId="{F8AC1D50-8DEC-42E2-996D-CF1010A8B2A4}" destId="{3777373B-7A8D-4433-8A8C-4992208C3102}" srcOrd="0" destOrd="0" presId="urn:microsoft.com/office/officeart/2005/8/layout/vList2"/>
    <dgm:cxn modelId="{49388EDA-2F74-004B-9B29-FFC321B08715}" type="presOf" srcId="{73E94DD0-A0AD-1741-BBF3-F25859C5B539}" destId="{9F3D00ED-957D-1446-AD41-8839BADE1B9B}" srcOrd="0" destOrd="0" presId="urn:microsoft.com/office/officeart/2005/8/layout/vList2"/>
    <dgm:cxn modelId="{413A458C-21B9-674B-8E8E-7268821FAC46}" srcId="{6EC1C1F4-B068-49DD-8085-E83DE5FE91C0}" destId="{81CF8097-5973-BB49-8FC9-532E7DED21CD}" srcOrd="2" destOrd="0" parTransId="{C6EED7C0-A959-314D-8CE4-F5E869EA7E24}" sibTransId="{D26EBFBD-37AE-BF46-BD96-207BC0391F80}"/>
    <dgm:cxn modelId="{6244D31F-7978-5E45-894B-5370408E0E18}" srcId="{6EC1C1F4-B068-49DD-8085-E83DE5FE91C0}" destId="{73E94DD0-A0AD-1741-BBF3-F25859C5B539}" srcOrd="3" destOrd="0" parTransId="{E04B4CC2-2857-684B-96CE-620536359320}" sibTransId="{9C1D2C59-D69F-1549-9001-931850C00A73}"/>
    <dgm:cxn modelId="{C12D5175-D20D-724C-B1D2-91961DF6E573}" srcId="{6EC1C1F4-B068-49DD-8085-E83DE5FE91C0}" destId="{CE4489BF-254D-5747-B6AE-7AB35BFD51BB}" srcOrd="4" destOrd="0" parTransId="{7241CF31-9CAB-D546-A08B-2C4DF4C6BFC4}" sibTransId="{6BBB9E4C-0E0E-4642-98B4-34B776B0BD9C}"/>
    <dgm:cxn modelId="{3595A292-1078-F14E-AEB4-1D9DF3A52647}" type="presParOf" srcId="{1C1067FD-E418-4B60-B9E3-ACF1A4CBDC81}" destId="{3777373B-7A8D-4433-8A8C-4992208C3102}" srcOrd="0" destOrd="0" presId="urn:microsoft.com/office/officeart/2005/8/layout/vList2"/>
    <dgm:cxn modelId="{81DA7A5D-440B-AE43-B793-961713979F60}" type="presParOf" srcId="{1C1067FD-E418-4B60-B9E3-ACF1A4CBDC81}" destId="{77C821BE-E8B1-43B2-BC83-DA1F290CCBAD}" srcOrd="1" destOrd="0" presId="urn:microsoft.com/office/officeart/2005/8/layout/vList2"/>
    <dgm:cxn modelId="{664663EF-8EE9-B94C-93A0-72CE9B5A70B3}" type="presParOf" srcId="{1C1067FD-E418-4B60-B9E3-ACF1A4CBDC81}" destId="{18E5ADBE-5744-6840-BCAA-05578CDF782B}" srcOrd="2" destOrd="0" presId="urn:microsoft.com/office/officeart/2005/8/layout/vList2"/>
    <dgm:cxn modelId="{28DF355E-55DD-CE4B-AEF9-BD48D803F64E}" type="presParOf" srcId="{1C1067FD-E418-4B60-B9E3-ACF1A4CBDC81}" destId="{FFBFF153-C422-E54E-8B33-8F74B8A7A1F7}" srcOrd="3" destOrd="0" presId="urn:microsoft.com/office/officeart/2005/8/layout/vList2"/>
    <dgm:cxn modelId="{CACB7DFF-78DC-C244-BA74-0D347D36BD83}" type="presParOf" srcId="{1C1067FD-E418-4B60-B9E3-ACF1A4CBDC81}" destId="{A12982E2-0CBC-C14F-B22E-FDA2E6DE421C}" srcOrd="4" destOrd="0" presId="urn:microsoft.com/office/officeart/2005/8/layout/vList2"/>
    <dgm:cxn modelId="{9FEE29F6-2FF1-5747-96AC-AF1D70C3F175}" type="presParOf" srcId="{1C1067FD-E418-4B60-B9E3-ACF1A4CBDC81}" destId="{D42DBE64-9FD4-634E-A3C1-DE5FBF06CCE7}" srcOrd="5" destOrd="0" presId="urn:microsoft.com/office/officeart/2005/8/layout/vList2"/>
    <dgm:cxn modelId="{5CBFA037-7EC9-184A-B1BB-4D26AF03DCBB}" type="presParOf" srcId="{1C1067FD-E418-4B60-B9E3-ACF1A4CBDC81}" destId="{9F3D00ED-957D-1446-AD41-8839BADE1B9B}" srcOrd="6" destOrd="0" presId="urn:microsoft.com/office/officeart/2005/8/layout/vList2"/>
    <dgm:cxn modelId="{9F6CA9EB-723C-2549-AAAB-6E69B7EB01EE}" type="presParOf" srcId="{1C1067FD-E418-4B60-B9E3-ACF1A4CBDC81}" destId="{6AB87A0F-F0F1-FA49-B242-1CF867B406B2}" srcOrd="7" destOrd="0" presId="urn:microsoft.com/office/officeart/2005/8/layout/vList2"/>
    <dgm:cxn modelId="{3B5F298D-6D83-0B4C-AD46-F0454643B21E}" type="presParOf" srcId="{1C1067FD-E418-4B60-B9E3-ACF1A4CBDC81}" destId="{2AD44025-6269-D14E-BE2D-30A3ECC334D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600" dirty="0" smtClean="0"/>
            <a:t>A.10.1 Controles criptográficos</a:t>
          </a:r>
          <a:endParaRPr lang="es-PE" sz="16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1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100"/>
        </a:p>
      </dgm:t>
    </dgm:pt>
    <dgm:pt modelId="{B7448275-937C-4470-B239-A762E1132317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A.10.1.1 Política de uso de los controles criptográficos</a:t>
          </a:r>
          <a:endParaRPr lang="es-PE" sz="1600" dirty="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100"/>
        </a:p>
      </dgm:t>
    </dgm:pt>
    <dgm:pt modelId="{5874FD79-EC3C-144C-9F29-86EF3A006847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A.10.1.2 Gestión</a:t>
          </a:r>
          <a:br>
            <a:rPr lang="es-PE" sz="1600" dirty="0" smtClean="0"/>
          </a:br>
          <a:r>
            <a:rPr lang="es-PE" sz="1600" dirty="0" smtClean="0"/>
            <a:t>de claves</a:t>
          </a:r>
          <a:endParaRPr lang="es-PE" sz="1600" dirty="0"/>
        </a:p>
      </dgm:t>
    </dgm:pt>
    <dgm:pt modelId="{EAAADF48-54E6-5E47-9E7D-C2A918253921}" type="parTrans" cxnId="{6FA9FB1E-06BE-EC44-B215-9D691D593B55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ES_tradnl"/>
        </a:p>
      </dgm:t>
    </dgm:pt>
    <dgm:pt modelId="{3B0E2071-7E89-9849-9476-362437E99F9A}" type="sibTrans" cxnId="{6FA9FB1E-06BE-EC44-B215-9D691D593B55}">
      <dgm:prSet/>
      <dgm:spPr/>
      <dgm:t>
        <a:bodyPr/>
        <a:lstStyle/>
        <a:p>
          <a:endParaRPr lang="es-ES_tradnl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2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2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2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8BB1F249-C59C-BD4C-BD34-7A8663535155}" type="pres">
      <dgm:prSet presAssocID="{EAAADF48-54E6-5E47-9E7D-C2A918253921}" presName="Name37" presStyleLbl="parChTrans1D2" presStyleIdx="1" presStyleCnt="2"/>
      <dgm:spPr/>
      <dgm:t>
        <a:bodyPr/>
        <a:lstStyle/>
        <a:p>
          <a:endParaRPr lang="es-ES_tradnl"/>
        </a:p>
      </dgm:t>
    </dgm:pt>
    <dgm:pt modelId="{DD849E3E-429E-BE48-9504-295D896C2FFD}" type="pres">
      <dgm:prSet presAssocID="{5874FD79-EC3C-144C-9F29-86EF3A006847}" presName="hierRoot2" presStyleCnt="0">
        <dgm:presLayoutVars>
          <dgm:hierBranch val="init"/>
        </dgm:presLayoutVars>
      </dgm:prSet>
      <dgm:spPr/>
    </dgm:pt>
    <dgm:pt modelId="{2682C10A-B717-8747-BE28-19264218D905}" type="pres">
      <dgm:prSet presAssocID="{5874FD79-EC3C-144C-9F29-86EF3A006847}" presName="rootComposite" presStyleCnt="0"/>
      <dgm:spPr/>
    </dgm:pt>
    <dgm:pt modelId="{77E6C5F0-B4C5-C441-BC2D-A05254452116}" type="pres">
      <dgm:prSet presAssocID="{5874FD79-EC3C-144C-9F29-86EF3A006847}" presName="rootText" presStyleLbl="node2" presStyleIdx="1" presStyleCnt="2" custScaleY="146737">
        <dgm:presLayoutVars>
          <dgm:chPref val="3"/>
        </dgm:presLayoutVars>
      </dgm:prSet>
      <dgm:spPr/>
      <dgm:t>
        <a:bodyPr/>
        <a:lstStyle/>
        <a:p>
          <a:endParaRPr lang="es-ES_tradnl"/>
        </a:p>
      </dgm:t>
    </dgm:pt>
    <dgm:pt modelId="{AFB81BFC-C025-9846-B6FE-F84FDBE2F004}" type="pres">
      <dgm:prSet presAssocID="{5874FD79-EC3C-144C-9F29-86EF3A006847}" presName="rootConnector" presStyleLbl="node2" presStyleIdx="1" presStyleCnt="2"/>
      <dgm:spPr/>
      <dgm:t>
        <a:bodyPr/>
        <a:lstStyle/>
        <a:p>
          <a:endParaRPr lang="es-ES_tradnl"/>
        </a:p>
      </dgm:t>
    </dgm:pt>
    <dgm:pt modelId="{BA5189E3-6AC6-A446-AA8E-243CD2B87B64}" type="pres">
      <dgm:prSet presAssocID="{5874FD79-EC3C-144C-9F29-86EF3A006847}" presName="hierChild4" presStyleCnt="0"/>
      <dgm:spPr/>
    </dgm:pt>
    <dgm:pt modelId="{29431873-8067-A043-B4D9-6A7EDA5A54E5}" type="pres">
      <dgm:prSet presAssocID="{5874FD79-EC3C-144C-9F29-86EF3A006847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6FA9FB1E-06BE-EC44-B215-9D691D593B55}" srcId="{1CFEDA62-E621-45B6-81B7-7CA0DF19BE0B}" destId="{5874FD79-EC3C-144C-9F29-86EF3A006847}" srcOrd="1" destOrd="0" parTransId="{EAAADF48-54E6-5E47-9E7D-C2A918253921}" sibTransId="{3B0E2071-7E89-9849-9476-362437E99F9A}"/>
    <dgm:cxn modelId="{B8CD583D-BF54-4440-8CF3-3B4C6C7B2E7C}" type="presOf" srcId="{5874FD79-EC3C-144C-9F29-86EF3A006847}" destId="{77E6C5F0-B4C5-C441-BC2D-A05254452116}" srcOrd="0" destOrd="0" presId="urn:microsoft.com/office/officeart/2005/8/layout/orgChart1"/>
    <dgm:cxn modelId="{176D6C91-6940-1F4F-9474-6D3F43443945}" type="presOf" srcId="{5874FD79-EC3C-144C-9F29-86EF3A006847}" destId="{AFB81BFC-C025-9846-B6FE-F84FDBE2F004}" srcOrd="1" destOrd="0" presId="urn:microsoft.com/office/officeart/2005/8/layout/orgChart1"/>
    <dgm:cxn modelId="{A902BFE7-AEEC-0740-BABF-373ECF63834C}" type="presOf" srcId="{B580A023-5473-4C09-9AD3-6CC4F2BD479E}" destId="{70708133-7F97-45BF-9C10-8090A18B77E8}" srcOrd="0" destOrd="0" presId="urn:microsoft.com/office/officeart/2005/8/layout/orgChart1"/>
    <dgm:cxn modelId="{761F3348-1BC8-E949-9209-334D84BE28F9}" type="presOf" srcId="{EAAADF48-54E6-5E47-9E7D-C2A918253921}" destId="{8BB1F249-C59C-BD4C-BD34-7A8663535155}" srcOrd="0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73006FAC-F9C6-6A4A-92B7-5D48836A0681}" type="presOf" srcId="{B7448275-937C-4470-B239-A762E1132317}" destId="{7B388FE9-2F2F-47A2-8064-C147FCA9A3F0}" srcOrd="1" destOrd="0" presId="urn:microsoft.com/office/officeart/2005/8/layout/orgChart1"/>
    <dgm:cxn modelId="{E46B203E-7E7C-2442-83D2-2612DC26B09E}" type="presOf" srcId="{1CFEDA62-E621-45B6-81B7-7CA0DF19BE0B}" destId="{126F27EB-EF2C-423D-B7FD-5E0219D7D588}" srcOrd="0" destOrd="0" presId="urn:microsoft.com/office/officeart/2005/8/layout/orgChart1"/>
    <dgm:cxn modelId="{9548B5D6-B94B-EB4D-8DCD-A1DD1C0E9670}" type="presOf" srcId="{10422A0E-8626-46F6-B887-21E25845322D}" destId="{C4281DFD-D887-41DA-B6F2-3FBADBA6C710}" srcOrd="0" destOrd="0" presId="urn:microsoft.com/office/officeart/2005/8/layout/orgChart1"/>
    <dgm:cxn modelId="{64DEDFFC-3F1E-9249-BCAC-9361827A1784}" type="presOf" srcId="{B7448275-937C-4470-B239-A762E1132317}" destId="{FC92D772-C01B-4D45-837B-3353756937D4}" srcOrd="0" destOrd="0" presId="urn:microsoft.com/office/officeart/2005/8/layout/orgChart1"/>
    <dgm:cxn modelId="{0329528D-32E2-F745-88CC-27266E8F4BA4}" type="presOf" srcId="{1CFEDA62-E621-45B6-81B7-7CA0DF19BE0B}" destId="{5703174A-DFEC-47A6-87E0-B1E4BB26E639}" srcOrd="1" destOrd="0" presId="urn:microsoft.com/office/officeart/2005/8/layout/orgChart1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EF5F4977-1E2B-E243-A180-0FB20BE7A1C6}" type="presParOf" srcId="{70708133-7F97-45BF-9C10-8090A18B77E8}" destId="{8174BBFF-F76D-423D-968C-BB20383ABF41}" srcOrd="0" destOrd="0" presId="urn:microsoft.com/office/officeart/2005/8/layout/orgChart1"/>
    <dgm:cxn modelId="{F164238C-2081-5245-8005-86B2DA5576E9}" type="presParOf" srcId="{8174BBFF-F76D-423D-968C-BB20383ABF41}" destId="{1B53207F-2457-4DE1-8E76-DD6FCF0A3A94}" srcOrd="0" destOrd="0" presId="urn:microsoft.com/office/officeart/2005/8/layout/orgChart1"/>
    <dgm:cxn modelId="{CE3AF3DB-6FC5-CC4D-B836-373A886E2265}" type="presParOf" srcId="{1B53207F-2457-4DE1-8E76-DD6FCF0A3A94}" destId="{126F27EB-EF2C-423D-B7FD-5E0219D7D588}" srcOrd="0" destOrd="0" presId="urn:microsoft.com/office/officeart/2005/8/layout/orgChart1"/>
    <dgm:cxn modelId="{059BD099-2E06-AE43-8FB1-4B55A8166A1A}" type="presParOf" srcId="{1B53207F-2457-4DE1-8E76-DD6FCF0A3A94}" destId="{5703174A-DFEC-47A6-87E0-B1E4BB26E639}" srcOrd="1" destOrd="0" presId="urn:microsoft.com/office/officeart/2005/8/layout/orgChart1"/>
    <dgm:cxn modelId="{78D0F731-48CA-514D-8770-FFE8E542BED7}" type="presParOf" srcId="{8174BBFF-F76D-423D-968C-BB20383ABF41}" destId="{4E570361-5DD1-40A2-823E-C23403C3FF2E}" srcOrd="1" destOrd="0" presId="urn:microsoft.com/office/officeart/2005/8/layout/orgChart1"/>
    <dgm:cxn modelId="{77377EFC-C115-D34B-899C-394762E20466}" type="presParOf" srcId="{4E570361-5DD1-40A2-823E-C23403C3FF2E}" destId="{C4281DFD-D887-41DA-B6F2-3FBADBA6C710}" srcOrd="0" destOrd="0" presId="urn:microsoft.com/office/officeart/2005/8/layout/orgChart1"/>
    <dgm:cxn modelId="{8FD59634-042E-6542-9F0E-EBDFB5BFEF85}" type="presParOf" srcId="{4E570361-5DD1-40A2-823E-C23403C3FF2E}" destId="{0023C08C-1429-4E5B-9FD2-CD840868C8AE}" srcOrd="1" destOrd="0" presId="urn:microsoft.com/office/officeart/2005/8/layout/orgChart1"/>
    <dgm:cxn modelId="{06DDC185-9479-1147-BB92-4466169AD589}" type="presParOf" srcId="{0023C08C-1429-4E5B-9FD2-CD840868C8AE}" destId="{134AD17D-44F4-4C93-B854-49FB59ADB2CB}" srcOrd="0" destOrd="0" presId="urn:microsoft.com/office/officeart/2005/8/layout/orgChart1"/>
    <dgm:cxn modelId="{3958A126-D1F8-344B-8B11-F25CEC3DBB77}" type="presParOf" srcId="{134AD17D-44F4-4C93-B854-49FB59ADB2CB}" destId="{FC92D772-C01B-4D45-837B-3353756937D4}" srcOrd="0" destOrd="0" presId="urn:microsoft.com/office/officeart/2005/8/layout/orgChart1"/>
    <dgm:cxn modelId="{40007C65-9680-5D45-A661-F3CE59A39501}" type="presParOf" srcId="{134AD17D-44F4-4C93-B854-49FB59ADB2CB}" destId="{7B388FE9-2F2F-47A2-8064-C147FCA9A3F0}" srcOrd="1" destOrd="0" presId="urn:microsoft.com/office/officeart/2005/8/layout/orgChart1"/>
    <dgm:cxn modelId="{BECB7E17-8136-674B-84EC-4DA3FE13B684}" type="presParOf" srcId="{0023C08C-1429-4E5B-9FD2-CD840868C8AE}" destId="{933D1101-4290-4C34-B9BE-5575210E76DA}" srcOrd="1" destOrd="0" presId="urn:microsoft.com/office/officeart/2005/8/layout/orgChart1"/>
    <dgm:cxn modelId="{411F9F38-D3F2-9F41-8125-95FB2E19C1CC}" type="presParOf" srcId="{0023C08C-1429-4E5B-9FD2-CD840868C8AE}" destId="{AF997B2D-8C71-4B27-92CE-72C259828446}" srcOrd="2" destOrd="0" presId="urn:microsoft.com/office/officeart/2005/8/layout/orgChart1"/>
    <dgm:cxn modelId="{E5A6FC4F-99D9-7547-BC6F-CC5D0AC3D00E}" type="presParOf" srcId="{4E570361-5DD1-40A2-823E-C23403C3FF2E}" destId="{8BB1F249-C59C-BD4C-BD34-7A8663535155}" srcOrd="2" destOrd="0" presId="urn:microsoft.com/office/officeart/2005/8/layout/orgChart1"/>
    <dgm:cxn modelId="{66C5AB12-E8D0-6D4A-AEFC-5DE53C945A60}" type="presParOf" srcId="{4E570361-5DD1-40A2-823E-C23403C3FF2E}" destId="{DD849E3E-429E-BE48-9504-295D896C2FFD}" srcOrd="3" destOrd="0" presId="urn:microsoft.com/office/officeart/2005/8/layout/orgChart1"/>
    <dgm:cxn modelId="{0D611503-FF67-6748-8818-16F95DFD5673}" type="presParOf" srcId="{DD849E3E-429E-BE48-9504-295D896C2FFD}" destId="{2682C10A-B717-8747-BE28-19264218D905}" srcOrd="0" destOrd="0" presId="urn:microsoft.com/office/officeart/2005/8/layout/orgChart1"/>
    <dgm:cxn modelId="{95AE32A4-7117-C74D-8959-9875C6F42B2B}" type="presParOf" srcId="{2682C10A-B717-8747-BE28-19264218D905}" destId="{77E6C5F0-B4C5-C441-BC2D-A05254452116}" srcOrd="0" destOrd="0" presId="urn:microsoft.com/office/officeart/2005/8/layout/orgChart1"/>
    <dgm:cxn modelId="{269C4846-0B76-F74A-8433-23E57323FCFC}" type="presParOf" srcId="{2682C10A-B717-8747-BE28-19264218D905}" destId="{AFB81BFC-C025-9846-B6FE-F84FDBE2F004}" srcOrd="1" destOrd="0" presId="urn:microsoft.com/office/officeart/2005/8/layout/orgChart1"/>
    <dgm:cxn modelId="{F143C4DE-4100-A84E-A1D9-FDDB362D533D}" type="presParOf" srcId="{DD849E3E-429E-BE48-9504-295D896C2FFD}" destId="{BA5189E3-6AC6-A446-AA8E-243CD2B87B64}" srcOrd="1" destOrd="0" presId="urn:microsoft.com/office/officeart/2005/8/layout/orgChart1"/>
    <dgm:cxn modelId="{710CE55C-AFFC-BA41-B7B6-54C291D893EC}" type="presParOf" srcId="{DD849E3E-429E-BE48-9504-295D896C2FFD}" destId="{29431873-8067-A043-B4D9-6A7EDA5A54E5}" srcOrd="2" destOrd="0" presId="urn:microsoft.com/office/officeart/2005/8/layout/orgChart1"/>
    <dgm:cxn modelId="{CC210B21-C18A-224A-9450-8FA22DB855DF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207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Objetivo</a:t>
          </a:r>
          <a:endParaRPr lang="es-PE" sz="1600" kern="1200" dirty="0"/>
        </a:p>
      </dsp:txBody>
      <dsp:txXfrm>
        <a:off x="24674" y="45416"/>
        <a:ext cx="5659880" cy="456092"/>
      </dsp:txXfrm>
    </dsp:sp>
    <dsp:sp modelId="{18E5ADBE-5744-6840-BCAA-05578CDF782B}">
      <dsp:nvSpPr>
        <dsp:cNvPr id="0" name=""/>
        <dsp:cNvSpPr/>
      </dsp:nvSpPr>
      <dsp:spPr>
        <a:xfrm>
          <a:off x="0" y="6039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Política</a:t>
          </a:r>
          <a:endParaRPr lang="es-PE" sz="1600" kern="1200" dirty="0"/>
        </a:p>
      </dsp:txBody>
      <dsp:txXfrm>
        <a:off x="24674" y="628616"/>
        <a:ext cx="5659880" cy="456092"/>
      </dsp:txXfrm>
    </dsp:sp>
    <dsp:sp modelId="{A12982E2-0CBC-C14F-B22E-FDA2E6DE421C}">
      <dsp:nvSpPr>
        <dsp:cNvPr id="0" name=""/>
        <dsp:cNvSpPr/>
      </dsp:nvSpPr>
      <dsp:spPr>
        <a:xfrm>
          <a:off x="0" y="11871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Gestión de Claves</a:t>
          </a:r>
          <a:endParaRPr lang="es-PE" sz="1600" kern="1200" dirty="0"/>
        </a:p>
      </dsp:txBody>
      <dsp:txXfrm>
        <a:off x="24674" y="1211816"/>
        <a:ext cx="5659880" cy="456092"/>
      </dsp:txXfrm>
    </dsp:sp>
    <dsp:sp modelId="{9F3D00ED-957D-1446-AD41-8839BADE1B9B}">
      <dsp:nvSpPr>
        <dsp:cNvPr id="0" name=""/>
        <dsp:cNvSpPr/>
      </dsp:nvSpPr>
      <dsp:spPr>
        <a:xfrm>
          <a:off x="0" y="1742110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Tipos de Claves</a:t>
          </a:r>
          <a:endParaRPr lang="es-PE" sz="1600" kern="1200" dirty="0"/>
        </a:p>
      </dsp:txBody>
      <dsp:txXfrm>
        <a:off x="24674" y="1766784"/>
        <a:ext cx="5659880" cy="456092"/>
      </dsp:txXfrm>
    </dsp:sp>
    <dsp:sp modelId="{2AD44025-6269-D14E-BE2D-30A3ECC334D0}">
      <dsp:nvSpPr>
        <dsp:cNvPr id="0" name=""/>
        <dsp:cNvSpPr/>
      </dsp:nvSpPr>
      <dsp:spPr>
        <a:xfrm>
          <a:off x="0" y="23535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Firma Digital</a:t>
          </a:r>
          <a:endParaRPr lang="es-PE" sz="1600" kern="1200" dirty="0"/>
        </a:p>
      </dsp:txBody>
      <dsp:txXfrm>
        <a:off x="24674" y="2378216"/>
        <a:ext cx="5659880" cy="45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B1F249-C59C-BD4C-BD34-7A8663535155}">
      <dsp:nvSpPr>
        <dsp:cNvPr id="0" name=""/>
        <dsp:cNvSpPr/>
      </dsp:nvSpPr>
      <dsp:spPr>
        <a:xfrm>
          <a:off x="4103687" y="1293134"/>
          <a:ext cx="1162264" cy="4034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715"/>
              </a:lnTo>
              <a:lnTo>
                <a:pt x="1162264" y="201715"/>
              </a:lnTo>
              <a:lnTo>
                <a:pt x="1162264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281DFD-D887-41DA-B6F2-3FBADBA6C710}">
      <dsp:nvSpPr>
        <dsp:cNvPr id="0" name=""/>
        <dsp:cNvSpPr/>
      </dsp:nvSpPr>
      <dsp:spPr>
        <a:xfrm>
          <a:off x="2941422" y="1293134"/>
          <a:ext cx="1162264" cy="403430"/>
        </a:xfrm>
        <a:custGeom>
          <a:avLst/>
          <a:gdLst/>
          <a:ahLst/>
          <a:cxnLst/>
          <a:rect l="0" t="0" r="0" b="0"/>
          <a:pathLst>
            <a:path>
              <a:moveTo>
                <a:pt x="1162264" y="0"/>
              </a:moveTo>
              <a:lnTo>
                <a:pt x="1162264" y="201715"/>
              </a:lnTo>
              <a:lnTo>
                <a:pt x="0" y="201715"/>
              </a:lnTo>
              <a:lnTo>
                <a:pt x="0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2910348" y="1493"/>
          <a:ext cx="2386677" cy="1291641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A.10.1 Controles criptográficos</a:t>
          </a:r>
          <a:endParaRPr lang="es-PE" sz="1600" kern="1200" dirty="0"/>
        </a:p>
      </dsp:txBody>
      <dsp:txXfrm>
        <a:off x="2910348" y="1493"/>
        <a:ext cx="2386677" cy="1291641"/>
      </dsp:txXfrm>
    </dsp:sp>
    <dsp:sp modelId="{FC92D772-C01B-4D45-837B-3353756937D4}">
      <dsp:nvSpPr>
        <dsp:cNvPr id="0" name=""/>
        <dsp:cNvSpPr/>
      </dsp:nvSpPr>
      <dsp:spPr>
        <a:xfrm>
          <a:off x="1980873" y="1696565"/>
          <a:ext cx="1921098" cy="1425416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A.10.1.1 Política de uso de los controles criptográficos</a:t>
          </a:r>
          <a:endParaRPr lang="es-PE" sz="1600" kern="1200" dirty="0"/>
        </a:p>
      </dsp:txBody>
      <dsp:txXfrm>
        <a:off x="1980873" y="1696565"/>
        <a:ext cx="1921098" cy="1425416"/>
      </dsp:txXfrm>
    </dsp:sp>
    <dsp:sp modelId="{77E6C5F0-B4C5-C441-BC2D-A05254452116}">
      <dsp:nvSpPr>
        <dsp:cNvPr id="0" name=""/>
        <dsp:cNvSpPr/>
      </dsp:nvSpPr>
      <dsp:spPr>
        <a:xfrm>
          <a:off x="4305402" y="1696565"/>
          <a:ext cx="1921098" cy="1409481"/>
        </a:xfrm>
        <a:prstGeom prst="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A.10.1.2 Gestión</a:t>
          </a:r>
          <a:br>
            <a:rPr lang="es-PE" sz="1600" kern="1200" dirty="0" smtClean="0"/>
          </a:br>
          <a:r>
            <a:rPr lang="es-PE" sz="1600" kern="1200" dirty="0" smtClean="0"/>
            <a:t>de claves</a:t>
          </a:r>
          <a:endParaRPr lang="es-PE" sz="1600" kern="1200" dirty="0"/>
        </a:p>
      </dsp:txBody>
      <dsp:txXfrm>
        <a:off x="4305402" y="1696565"/>
        <a:ext cx="1921098" cy="14094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Entiende</a:t>
            </a:r>
            <a:r>
              <a:rPr lang="es-PE" sz="1200" baseline="0" dirty="0" smtClean="0"/>
              <a:t> e interioriza la importancia de contar con una política de controles criptográficos</a:t>
            </a: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Evaluaremos</a:t>
            </a:r>
            <a:r>
              <a:rPr lang="es-PE" sz="1200" baseline="0" dirty="0" smtClean="0"/>
              <a:t> la importancia de gestionar adecuadamente la creación y estructura de las claves de acceso.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405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2391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1622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958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9148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98404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57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smtClean="0"/>
              <a:t>Evite usar la misma</a:t>
            </a:r>
            <a:r>
              <a:rPr lang="es-PE" baseline="0" dirty="0" smtClean="0"/>
              <a:t> clave en diferentes sistemas (por ejemplo ordenadores, portátiles)</a:t>
            </a:r>
            <a:endParaRPr lang="es-PE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95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1426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smtClean="0"/>
              <a:t>Algoritmo Asimétrico: RSA</a:t>
            </a:r>
          </a:p>
          <a:p>
            <a:r>
              <a:rPr lang="es-PE" dirty="0" smtClean="0"/>
              <a:t>Algoritmo Simétrico: DES,</a:t>
            </a:r>
            <a:r>
              <a:rPr lang="es-PE" baseline="0" dirty="0" smtClean="0"/>
              <a:t> AES, Triple DES, MD5, SHA1</a:t>
            </a:r>
            <a:endParaRPr lang="es-PE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3615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0672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PE" sz="1200" dirty="0" smtClean="0"/>
              <a:t>Es comparable con la firma de los documentos en papel (firma manuscrita).</a:t>
            </a:r>
          </a:p>
          <a:p>
            <a:pPr algn="just"/>
            <a:endParaRPr lang="es-PE" sz="1200" dirty="0" smtClean="0"/>
          </a:p>
          <a:p>
            <a:pPr algn="just"/>
            <a:r>
              <a:rPr lang="es-PE" sz="1200" dirty="0" smtClean="0"/>
              <a:t>La firma</a:t>
            </a:r>
            <a:r>
              <a:rPr lang="es-PE" sz="1200" baseline="0" dirty="0" smtClean="0"/>
              <a:t> digital c</a:t>
            </a:r>
            <a:r>
              <a:rPr lang="es-PE" sz="1200" dirty="0" smtClean="0"/>
              <a:t>onsta generalmente de dos algoritmos: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PE" sz="1200" dirty="0" smtClean="0"/>
              <a:t>Uno para confirmar que la información no ha sido cambiada por terceros.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PE" sz="1200" dirty="0" smtClean="0"/>
              <a:t>El otro para confirmar la identidad de la persona que ha “firmado” la información.</a:t>
            </a:r>
          </a:p>
          <a:p>
            <a:pPr algn="just"/>
            <a:endParaRPr lang="es-PE" sz="1200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1508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 </a:t>
            </a:r>
            <a:r>
              <a:rPr lang="es-PE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Certificado Digital</a:t>
            </a:r>
            <a:r>
              <a:rPr lang="es-PE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 el único medio que permite garantizar técnica y legalmente la identidad de una persona en Internet. </a:t>
            </a:r>
            <a:endParaRPr lang="es-PE" sz="1200" dirty="0" smtClean="0"/>
          </a:p>
          <a:p>
            <a:pPr algn="just"/>
            <a:endParaRPr lang="es-PE" sz="120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26796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832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618067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baseline="0" dirty="0" smtClean="0"/>
              <a:t>En ésta sesión se definió que es la criptografía, además de realizar ejercicios donde cuestionamos ¿Qué se debe encriptar? y ¿Cuál es el mejor mecanismo de encriptación?.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Especificamos los tipos de clave y definimos las situaciones donde pueden ser aplicadas.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8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05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590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Criptografía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Avance del proyecto 2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05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181108" y="2040036"/>
            <a:ext cx="4596087" cy="605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4800" b="1" dirty="0" smtClean="0">
                <a:solidFill>
                  <a:srgbClr val="FFFFFF"/>
                </a:solidFill>
              </a:rPr>
              <a:t>CRIPTOGRAFÍA</a:t>
            </a:r>
            <a:endParaRPr lang="es-ES" sz="4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Aplica</a:t>
            </a:r>
            <a:r>
              <a:rPr lang="en-US" sz="2000" spc="-10" dirty="0">
                <a:cs typeface="Source Sans Pro"/>
              </a:rPr>
              <a:t> las </a:t>
            </a:r>
            <a:r>
              <a:rPr lang="en-US" sz="2000" spc="-10" dirty="0" err="1">
                <a:cs typeface="Source Sans Pro"/>
              </a:rPr>
              <a:t>técnicas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encriptación</a:t>
            </a:r>
            <a:r>
              <a:rPr lang="en-US" sz="2000" spc="-10" dirty="0">
                <a:cs typeface="Source Sans Pro"/>
              </a:rPr>
              <a:t> de la </a:t>
            </a:r>
            <a:r>
              <a:rPr lang="en-US" sz="2000" spc="-10" dirty="0" err="1">
                <a:cs typeface="Source Sans Pro"/>
              </a:rPr>
              <a:t>información</a:t>
            </a:r>
            <a:endParaRPr lang="en-US" sz="2000" spc="-10" dirty="0">
              <a:cs typeface="Source Sans Pr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480357" y="959599"/>
            <a:ext cx="2183287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Política de uso de controles criptográficos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17" y="1735709"/>
            <a:ext cx="3461766" cy="34617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480357" y="959599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Gestión de Claves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419" y="1535415"/>
            <a:ext cx="3903162" cy="36611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62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CRIPTOGRAFÍA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068919021"/>
              </p:ext>
            </p:extLst>
          </p:nvPr>
        </p:nvGraphicFramePr>
        <p:xfrm>
          <a:off x="1717386" y="1273175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1435153470"/>
              </p:ext>
            </p:extLst>
          </p:nvPr>
        </p:nvGraphicFramePr>
        <p:xfrm>
          <a:off x="468313" y="1260917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</p:spTree>
    <p:extLst>
      <p:ext uri="{BB962C8B-B14F-4D97-AF65-F5344CB8AC3E}">
        <p14:creationId xmlns:p14="http://schemas.microsoft.com/office/powerpoint/2010/main" val="103941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A.10.1 </a:t>
            </a:r>
            <a:r>
              <a:rPr lang="en-US" sz="1600" b="1" spc="-10" dirty="0" err="1">
                <a:cs typeface="Source Sans Pro"/>
              </a:rPr>
              <a:t>Controles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Criptográficos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Garantizar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adecuado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eficaz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criptografía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proteger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confidencialidad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autenticidad</a:t>
            </a:r>
            <a:r>
              <a:rPr lang="en-US" sz="1600" spc="-10" dirty="0">
                <a:cs typeface="Source Sans Pro"/>
              </a:rPr>
              <a:t> y/o </a:t>
            </a:r>
            <a:r>
              <a:rPr lang="en-US" sz="1600" spc="-10" dirty="0" err="1">
                <a:cs typeface="Source Sans Pro"/>
              </a:rPr>
              <a:t>integridad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58" y="1889161"/>
            <a:ext cx="4411085" cy="330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A.10.1.1 </a:t>
            </a:r>
            <a:r>
              <a:rPr lang="en-US" sz="1600" b="1" spc="-10" dirty="0" err="1">
                <a:cs typeface="Source Sans Pro"/>
              </a:rPr>
              <a:t>Política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uso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los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controles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b="1" spc="-10" dirty="0" err="1">
                <a:cs typeface="Source Sans Pro"/>
              </a:rPr>
              <a:t>criptográficos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formular</a:t>
            </a:r>
            <a:r>
              <a:rPr lang="en-US" sz="1600" spc="-10" dirty="0">
                <a:cs typeface="Source Sans Pro"/>
              </a:rPr>
              <a:t> e </a:t>
            </a:r>
            <a:r>
              <a:rPr lang="en-US" sz="1600" spc="-10" dirty="0" err="1">
                <a:cs typeface="Source Sans Pro"/>
              </a:rPr>
              <a:t>implantar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política</a:t>
            </a:r>
            <a:r>
              <a:rPr lang="en-US" sz="1600" spc="-10" dirty="0">
                <a:cs typeface="Source Sans Pro"/>
              </a:rPr>
              <a:t> para 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criptográficos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proteger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117" y="1735709"/>
            <a:ext cx="3461766" cy="346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7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A.10.1.2 </a:t>
            </a:r>
            <a:r>
              <a:rPr lang="en-US" sz="1600" b="1" spc="-10" dirty="0" err="1">
                <a:cs typeface="Source Sans Pro"/>
              </a:rPr>
              <a:t>Gestión</a:t>
            </a:r>
            <a:r>
              <a:rPr lang="en-US" sz="1600" b="1" spc="-10" dirty="0">
                <a:cs typeface="Source Sans Pro"/>
              </a:rPr>
              <a:t> de claves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deberá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elaborar</a:t>
            </a:r>
            <a:r>
              <a:rPr lang="en-US" sz="1600" spc="-10" dirty="0">
                <a:cs typeface="Source Sans Pro"/>
              </a:rPr>
              <a:t> e </a:t>
            </a:r>
            <a:r>
              <a:rPr lang="en-US" sz="1600" spc="-10" dirty="0" err="1">
                <a:cs typeface="Source Sans Pro"/>
              </a:rPr>
              <a:t>implementar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política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sobre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, la </a:t>
            </a:r>
            <a:r>
              <a:rPr lang="en-US" sz="1600" spc="-10" dirty="0" err="1">
                <a:cs typeface="Source Sans Pro"/>
              </a:rPr>
              <a:t>protección</a:t>
            </a:r>
            <a:r>
              <a:rPr lang="en-US" sz="1600" spc="-10" dirty="0">
                <a:cs typeface="Source Sans Pro"/>
              </a:rPr>
              <a:t> y la </a:t>
            </a:r>
            <a:r>
              <a:rPr lang="en-US" sz="1600" spc="-10" dirty="0" err="1">
                <a:cs typeface="Source Sans Pro"/>
              </a:rPr>
              <a:t>duración</a:t>
            </a:r>
            <a:r>
              <a:rPr lang="en-US" sz="1600" spc="-10" dirty="0">
                <a:cs typeface="Source Sans Pro"/>
              </a:rPr>
              <a:t> de las claves de </a:t>
            </a:r>
            <a:r>
              <a:rPr lang="en-US" sz="1600" spc="-10" dirty="0" err="1">
                <a:cs typeface="Source Sans Pro"/>
              </a:rPr>
              <a:t>cifrado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través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todo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ciclo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vida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902" y="1787703"/>
            <a:ext cx="3634197" cy="340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67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CONCEPTO</a:t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err="1" smtClean="0">
                <a:cs typeface="Source Sans Pro"/>
              </a:rPr>
              <a:t>Técnica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que </a:t>
            </a:r>
            <a:r>
              <a:rPr lang="en-US" sz="1600" spc="-10" dirty="0" err="1">
                <a:cs typeface="Source Sans Pro"/>
              </a:rPr>
              <a:t>protege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documentos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. </a:t>
            </a:r>
            <a:r>
              <a:rPr lang="en-US" sz="1600" spc="-10" dirty="0" err="1">
                <a:cs typeface="Source Sans Pro"/>
              </a:rPr>
              <a:t>Funciona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través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cifras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códigos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escribir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algo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secreto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documentos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confidenciales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circulan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redes</a:t>
            </a:r>
            <a:r>
              <a:rPr lang="en-US" sz="1600" spc="-10" dirty="0">
                <a:cs typeface="Source Sans Pro"/>
              </a:rPr>
              <a:t> locales o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internet.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CIFRADO DE DATOS</a:t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Medio </a:t>
            </a:r>
            <a:r>
              <a:rPr lang="en-US" sz="1600" spc="-10" dirty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mantener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secreto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</p:spTree>
    <p:extLst>
      <p:ext uri="{BB962C8B-B14F-4D97-AF65-F5344CB8AC3E}">
        <p14:creationId xmlns:p14="http://schemas.microsoft.com/office/powerpoint/2010/main" val="122196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38118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PREGUNTAS IMPORTANTES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¿</a:t>
            </a:r>
            <a:r>
              <a:rPr lang="en-US" sz="1600" spc="-10" dirty="0" err="1">
                <a:cs typeface="Source Sans Pro"/>
              </a:rPr>
              <a:t>Qué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hace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utilizar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criptografía</a:t>
            </a:r>
            <a:r>
              <a:rPr lang="en-US" sz="1600" spc="-10" dirty="0" smtClean="0">
                <a:cs typeface="Source Sans Pro"/>
              </a:rPr>
              <a:t>?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¿</a:t>
            </a:r>
            <a:r>
              <a:rPr lang="en-US" sz="1600" spc="-10" dirty="0" err="1">
                <a:cs typeface="Source Sans Pro"/>
              </a:rPr>
              <a:t>Qué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tipos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criptografía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usa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organismo</a:t>
            </a:r>
            <a:r>
              <a:rPr lang="en-US" sz="1600" spc="-10" dirty="0">
                <a:cs typeface="Source Sans Pro"/>
              </a:rPr>
              <a:t>, y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qué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aplicaciones</a:t>
            </a:r>
            <a:r>
              <a:rPr lang="en-US" sz="1600" spc="-10" dirty="0">
                <a:cs typeface="Source Sans Pro"/>
              </a:rPr>
              <a:t>?</a:t>
            </a: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1" r="22785"/>
          <a:stretch/>
        </p:blipFill>
        <p:spPr>
          <a:xfrm>
            <a:off x="4824413" y="959599"/>
            <a:ext cx="3851275" cy="423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8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¿CÓMO DEBO GESTIONAR LAS CLAVES?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Las </a:t>
            </a:r>
            <a:r>
              <a:rPr lang="en-US" sz="1600" spc="-10" dirty="0">
                <a:cs typeface="Source Sans Pro"/>
              </a:rPr>
              <a:t>claves </a:t>
            </a:r>
            <a:r>
              <a:rPr lang="en-US" sz="1600" spc="-10" dirty="0" err="1">
                <a:cs typeface="Source Sans Pro"/>
              </a:rPr>
              <a:t>criptográficas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protegidas</a:t>
            </a:r>
            <a:r>
              <a:rPr lang="en-US" sz="1600" spc="-10" dirty="0">
                <a:cs typeface="Source Sans Pro"/>
              </a:rPr>
              <a:t> contra la </a:t>
            </a:r>
            <a:r>
              <a:rPr lang="en-US" sz="1600" spc="-10" dirty="0" err="1">
                <a:cs typeface="Source Sans Pro"/>
              </a:rPr>
              <a:t>alteración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pérdida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destrucción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Las </a:t>
            </a:r>
            <a:r>
              <a:rPr lang="en-US" sz="1600" spc="-10" dirty="0">
                <a:cs typeface="Source Sans Pro"/>
              </a:rPr>
              <a:t>claves </a:t>
            </a:r>
            <a:r>
              <a:rPr lang="en-US" sz="1600" spc="-10" dirty="0" err="1">
                <a:cs typeface="Source Sans Pro"/>
              </a:rPr>
              <a:t>secretas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personales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tienen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protegidas</a:t>
            </a:r>
            <a:r>
              <a:rPr lang="en-US" sz="1600" spc="-10" dirty="0">
                <a:cs typeface="Source Sans Pro"/>
              </a:rPr>
              <a:t> contra la </a:t>
            </a:r>
            <a:r>
              <a:rPr lang="en-US" sz="1600" spc="-10" dirty="0" err="1">
                <a:cs typeface="Source Sans Pro"/>
              </a:rPr>
              <a:t>divulgación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autorizada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proteger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físicamente</a:t>
            </a:r>
            <a:r>
              <a:rPr lang="en-US" sz="1600" spc="-10" dirty="0">
                <a:cs typeface="Source Sans Pro"/>
              </a:rPr>
              <a:t>, el </a:t>
            </a:r>
            <a:r>
              <a:rPr lang="en-US" sz="1600" spc="-10" dirty="0" err="1">
                <a:cs typeface="Source Sans Pro"/>
              </a:rPr>
              <a:t>equipo</a:t>
            </a:r>
            <a:r>
              <a:rPr lang="en-US" sz="1600" spc="-10" dirty="0">
                <a:cs typeface="Source Sans Pro"/>
              </a:rPr>
              <a:t> que se </a:t>
            </a:r>
            <a:r>
              <a:rPr lang="en-US" sz="1600" spc="-10" dirty="0" err="1">
                <a:cs typeface="Source Sans Pro"/>
              </a:rPr>
              <a:t>utiliza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generar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almacenar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archivar</a:t>
            </a:r>
            <a:r>
              <a:rPr lang="en-US" sz="1600" spc="-10" dirty="0">
                <a:cs typeface="Source Sans Pro"/>
              </a:rPr>
              <a:t> las claves.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¿</a:t>
            </a:r>
            <a:r>
              <a:rPr lang="en-US" sz="1600" spc="-10" dirty="0" err="1">
                <a:cs typeface="Source Sans Pro"/>
              </a:rPr>
              <a:t>Cuándo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expira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clave?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¿</a:t>
            </a:r>
            <a:r>
              <a:rPr lang="en-US" sz="1600" spc="-10" dirty="0" err="1">
                <a:cs typeface="Source Sans Pro"/>
              </a:rPr>
              <a:t>Qué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hacer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clave ha </a:t>
            </a:r>
            <a:r>
              <a:rPr lang="en-US" sz="1600" spc="-10" dirty="0" err="1">
                <a:cs typeface="Source Sans Pro"/>
              </a:rPr>
              <a:t>sido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comprometida</a:t>
            </a:r>
            <a:r>
              <a:rPr lang="en-US" sz="1600" spc="-10" dirty="0">
                <a:cs typeface="Source Sans Pro"/>
              </a:rPr>
              <a:t>?</a:t>
            </a: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</p:spTree>
    <p:extLst>
      <p:ext uri="{BB962C8B-B14F-4D97-AF65-F5344CB8AC3E}">
        <p14:creationId xmlns:p14="http://schemas.microsoft.com/office/powerpoint/2010/main" val="161423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TIPOS DE CLAVE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Clave </a:t>
            </a:r>
            <a:r>
              <a:rPr lang="en-US" sz="1600" spc="-10" dirty="0" err="1" smtClean="0">
                <a:cs typeface="Source Sans Pro"/>
              </a:rPr>
              <a:t>Simétrica</a:t>
            </a: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Clave </a:t>
            </a:r>
            <a:r>
              <a:rPr lang="en-US" sz="1600" spc="-10" dirty="0" err="1" smtClean="0">
                <a:cs typeface="Source Sans Pro"/>
              </a:rPr>
              <a:t>Asimétrica</a:t>
            </a:r>
            <a:endParaRPr lang="es-PE" sz="1600" dirty="0">
              <a:solidFill>
                <a:srgbClr val="FF0000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</p:spTree>
    <p:extLst>
      <p:ext uri="{BB962C8B-B14F-4D97-AF65-F5344CB8AC3E}">
        <p14:creationId xmlns:p14="http://schemas.microsoft.com/office/powerpoint/2010/main" val="179851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42" y="3004849"/>
            <a:ext cx="2568539" cy="1538482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65" y="3004849"/>
            <a:ext cx="2568539" cy="153848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Clave </a:t>
            </a:r>
            <a:r>
              <a:rPr lang="en-US" sz="1600" b="1" spc="-10" dirty="0" err="1">
                <a:cs typeface="Source Sans Pro"/>
              </a:rPr>
              <a:t>Simétrica</a:t>
            </a:r>
            <a:r>
              <a:rPr lang="en-US" sz="1600" b="1" spc="-10" dirty="0">
                <a:cs typeface="Source Sans Pro"/>
              </a:rPr>
              <a:t> </a:t>
            </a:r>
            <a:endParaRPr lang="en-US" sz="1600" b="1" spc="-10" dirty="0" smtClean="0"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67293" y="1962023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¿Cómo estás?</a:t>
            </a:r>
            <a:endParaRPr lang="es-PE" sz="1600" b="1" dirty="0"/>
          </a:p>
        </p:txBody>
      </p:sp>
      <p:sp>
        <p:nvSpPr>
          <p:cNvPr id="8" name="Rectángulo 7"/>
          <p:cNvSpPr/>
          <p:nvPr/>
        </p:nvSpPr>
        <p:spPr>
          <a:xfrm>
            <a:off x="2730391" y="1585015"/>
            <a:ext cx="460039" cy="154524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PE" sz="1600" b="1" dirty="0" smtClean="0"/>
              <a:t>Cifrado</a:t>
            </a:r>
            <a:endParaRPr lang="es-PE" sz="1600" b="1" dirty="0"/>
          </a:p>
        </p:txBody>
      </p:sp>
      <p:sp>
        <p:nvSpPr>
          <p:cNvPr id="9" name="Rectángulo 8"/>
          <p:cNvSpPr/>
          <p:nvPr/>
        </p:nvSpPr>
        <p:spPr>
          <a:xfrm>
            <a:off x="3862885" y="2024857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MG%RTS@&lt;SW?S_(‘@</a:t>
            </a:r>
            <a:endParaRPr lang="es-PE" sz="1600" b="1" dirty="0"/>
          </a:p>
        </p:txBody>
      </p:sp>
      <p:sp>
        <p:nvSpPr>
          <p:cNvPr id="11" name="Rectángulo 10"/>
          <p:cNvSpPr/>
          <p:nvPr/>
        </p:nvSpPr>
        <p:spPr>
          <a:xfrm>
            <a:off x="7071939" y="1932848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¿Cómo estás?</a:t>
            </a:r>
            <a:endParaRPr lang="es-PE" sz="1600" b="1" dirty="0"/>
          </a:p>
        </p:txBody>
      </p:sp>
      <p:sp>
        <p:nvSpPr>
          <p:cNvPr id="12" name="Rectángulo 11"/>
          <p:cNvSpPr/>
          <p:nvPr/>
        </p:nvSpPr>
        <p:spPr>
          <a:xfrm>
            <a:off x="5967011" y="1603427"/>
            <a:ext cx="505716" cy="154524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PE" sz="1600" b="1" dirty="0" smtClean="0"/>
              <a:t>Descifrado</a:t>
            </a:r>
            <a:endParaRPr lang="es-PE" sz="1600" b="1" dirty="0"/>
          </a:p>
        </p:txBody>
      </p:sp>
      <p:sp>
        <p:nvSpPr>
          <p:cNvPr id="13" name="Rectángulo 12"/>
          <p:cNvSpPr/>
          <p:nvPr/>
        </p:nvSpPr>
        <p:spPr>
          <a:xfrm>
            <a:off x="3052767" y="4774622"/>
            <a:ext cx="3184371" cy="421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>
                <a:solidFill>
                  <a:schemeClr val="tx1"/>
                </a:solidFill>
              </a:rPr>
              <a:t>Clave Secreta Compartida</a:t>
            </a:r>
            <a:endParaRPr lang="es-PE" sz="1600" b="1" dirty="0">
              <a:solidFill>
                <a:schemeClr val="tx1"/>
              </a:solidFill>
            </a:endParaRPr>
          </a:p>
        </p:txBody>
      </p:sp>
      <p:sp>
        <p:nvSpPr>
          <p:cNvPr id="14" name="Flecha derecha 13"/>
          <p:cNvSpPr/>
          <p:nvPr/>
        </p:nvSpPr>
        <p:spPr>
          <a:xfrm>
            <a:off x="2181537" y="2141552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15" name="Flecha derecha 14"/>
          <p:cNvSpPr/>
          <p:nvPr/>
        </p:nvSpPr>
        <p:spPr>
          <a:xfrm>
            <a:off x="3310315" y="2152771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16" name="Flecha derecha 15"/>
          <p:cNvSpPr/>
          <p:nvPr/>
        </p:nvSpPr>
        <p:spPr>
          <a:xfrm>
            <a:off x="5408543" y="2150526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17" name="Flecha derecha 16"/>
          <p:cNvSpPr/>
          <p:nvPr/>
        </p:nvSpPr>
        <p:spPr>
          <a:xfrm>
            <a:off x="6550787" y="2148281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</p:spTree>
    <p:extLst>
      <p:ext uri="{BB962C8B-B14F-4D97-AF65-F5344CB8AC3E}">
        <p14:creationId xmlns:p14="http://schemas.microsoft.com/office/powerpoint/2010/main" val="488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90" y="2599363"/>
            <a:ext cx="3404181" cy="22705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Clave </a:t>
            </a:r>
            <a:r>
              <a:rPr lang="en-US" sz="1600" b="1" spc="-10" dirty="0" err="1" smtClean="0">
                <a:cs typeface="Source Sans Pro"/>
              </a:rPr>
              <a:t>Asimétrica</a:t>
            </a:r>
            <a:r>
              <a:rPr lang="en-US" sz="1600" b="1" spc="-10" dirty="0" smtClean="0">
                <a:cs typeface="Source Sans Pro"/>
              </a:rPr>
              <a:t> </a:t>
            </a: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67293" y="1962023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¿Cómo estás?</a:t>
            </a:r>
            <a:endParaRPr lang="es-PE" sz="1600" b="1" dirty="0"/>
          </a:p>
        </p:txBody>
      </p:sp>
      <p:sp>
        <p:nvSpPr>
          <p:cNvPr id="8" name="Rectángulo 7"/>
          <p:cNvSpPr/>
          <p:nvPr/>
        </p:nvSpPr>
        <p:spPr>
          <a:xfrm>
            <a:off x="2730391" y="1585015"/>
            <a:ext cx="460039" cy="154524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PE" sz="1600" b="1" dirty="0" smtClean="0"/>
              <a:t>Cifrado</a:t>
            </a:r>
            <a:endParaRPr lang="es-PE" sz="1600" b="1" dirty="0"/>
          </a:p>
        </p:txBody>
      </p:sp>
      <p:sp>
        <p:nvSpPr>
          <p:cNvPr id="9" name="Rectángulo 8"/>
          <p:cNvSpPr/>
          <p:nvPr/>
        </p:nvSpPr>
        <p:spPr>
          <a:xfrm>
            <a:off x="3862885" y="2024857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MG%RTS@&lt;SW?S_(‘@</a:t>
            </a:r>
            <a:endParaRPr lang="es-PE" sz="1600" b="1" dirty="0"/>
          </a:p>
        </p:txBody>
      </p:sp>
      <p:sp>
        <p:nvSpPr>
          <p:cNvPr id="11" name="Rectángulo 10"/>
          <p:cNvSpPr/>
          <p:nvPr/>
        </p:nvSpPr>
        <p:spPr>
          <a:xfrm>
            <a:off x="7071939" y="1932848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¿Cómo estás?</a:t>
            </a:r>
            <a:endParaRPr lang="es-PE" sz="1600" b="1" dirty="0"/>
          </a:p>
        </p:txBody>
      </p:sp>
      <p:sp>
        <p:nvSpPr>
          <p:cNvPr id="12" name="Rectángulo 11"/>
          <p:cNvSpPr/>
          <p:nvPr/>
        </p:nvSpPr>
        <p:spPr>
          <a:xfrm>
            <a:off x="5967011" y="1603427"/>
            <a:ext cx="505716" cy="154524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PE" sz="1600" b="1" dirty="0" smtClean="0"/>
              <a:t>Descifrado</a:t>
            </a:r>
            <a:endParaRPr lang="es-PE" sz="1600" b="1" dirty="0"/>
          </a:p>
        </p:txBody>
      </p:sp>
      <p:sp>
        <p:nvSpPr>
          <p:cNvPr id="13" name="Rectángulo 12"/>
          <p:cNvSpPr/>
          <p:nvPr/>
        </p:nvSpPr>
        <p:spPr>
          <a:xfrm>
            <a:off x="1244516" y="4542601"/>
            <a:ext cx="1909651" cy="6548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>
                <a:solidFill>
                  <a:schemeClr val="tx1"/>
                </a:solidFill>
              </a:rPr>
              <a:t>Clave Pública del Destinatario</a:t>
            </a:r>
          </a:p>
        </p:txBody>
      </p:sp>
      <p:sp>
        <p:nvSpPr>
          <p:cNvPr id="14" name="Flecha derecha 13"/>
          <p:cNvSpPr/>
          <p:nvPr/>
        </p:nvSpPr>
        <p:spPr>
          <a:xfrm>
            <a:off x="2181537" y="2141552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15" name="Flecha derecha 14"/>
          <p:cNvSpPr/>
          <p:nvPr/>
        </p:nvSpPr>
        <p:spPr>
          <a:xfrm>
            <a:off x="3310315" y="2152771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16" name="Flecha derecha 15"/>
          <p:cNvSpPr/>
          <p:nvPr/>
        </p:nvSpPr>
        <p:spPr>
          <a:xfrm>
            <a:off x="5408543" y="2150526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17" name="Flecha derecha 16"/>
          <p:cNvSpPr/>
          <p:nvPr/>
        </p:nvSpPr>
        <p:spPr>
          <a:xfrm>
            <a:off x="6550787" y="2148281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19" name="Rectángulo 18"/>
          <p:cNvSpPr/>
          <p:nvPr/>
        </p:nvSpPr>
        <p:spPr>
          <a:xfrm>
            <a:off x="3704256" y="3339101"/>
            <a:ext cx="1735488" cy="770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 smtClean="0">
                <a:solidFill>
                  <a:schemeClr val="tx1"/>
                </a:solidFill>
              </a:rPr>
              <a:t>Diferentes claves se usan para cifrar y descifrar</a:t>
            </a:r>
            <a:endParaRPr lang="es-PE" sz="1600" dirty="0">
              <a:solidFill>
                <a:schemeClr val="tx1"/>
              </a:solidFill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65" y="3004849"/>
            <a:ext cx="2568539" cy="1538482"/>
          </a:xfrm>
          <a:prstGeom prst="rect">
            <a:avLst/>
          </a:prstGeom>
        </p:spPr>
      </p:pic>
      <p:sp>
        <p:nvSpPr>
          <p:cNvPr id="22" name="Rectángulo 21"/>
          <p:cNvSpPr/>
          <p:nvPr/>
        </p:nvSpPr>
        <p:spPr>
          <a:xfrm>
            <a:off x="5908981" y="4542601"/>
            <a:ext cx="1909651" cy="6548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tx1"/>
                </a:solidFill>
              </a:rPr>
              <a:t>Clave Privada del Destinatario</a:t>
            </a:r>
          </a:p>
        </p:txBody>
      </p:sp>
    </p:spTree>
    <p:extLst>
      <p:ext uri="{BB962C8B-B14F-4D97-AF65-F5344CB8AC3E}">
        <p14:creationId xmlns:p14="http://schemas.microsoft.com/office/powerpoint/2010/main" val="60632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FIRMA DIGITAL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Las </a:t>
            </a:r>
            <a:r>
              <a:rPr lang="en-US" sz="1600" spc="-10" dirty="0" err="1">
                <a:cs typeface="Source Sans Pro"/>
              </a:rPr>
              <a:t>firmas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digitales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crean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mediante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criptografía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asimétrica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Una </a:t>
            </a:r>
            <a:r>
              <a:rPr lang="en-US" sz="1600" spc="-10" dirty="0">
                <a:cs typeface="Source Sans Pro"/>
              </a:rPr>
              <a:t>firma digital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método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confirmar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digital se ha </a:t>
            </a:r>
            <a:r>
              <a:rPr lang="en-US" sz="1600" spc="-10" dirty="0" err="1">
                <a:cs typeface="Source Sans Pro"/>
              </a:rPr>
              <a:t>producido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enviado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quien</a:t>
            </a:r>
            <a:r>
              <a:rPr lang="en-US" sz="1600" spc="-10" dirty="0">
                <a:cs typeface="Source Sans Pro"/>
              </a:rPr>
              <a:t> dice.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Consta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generalmente</a:t>
            </a:r>
            <a:r>
              <a:rPr lang="en-US" sz="1600" spc="-10" dirty="0">
                <a:cs typeface="Source Sans Pro"/>
              </a:rPr>
              <a:t> de dos </a:t>
            </a:r>
            <a:r>
              <a:rPr lang="en-US" sz="1600" spc="-10" dirty="0" err="1">
                <a:cs typeface="Source Sans Pro"/>
              </a:rPr>
              <a:t>algoritmos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</p:spTree>
    <p:extLst>
      <p:ext uri="{BB962C8B-B14F-4D97-AF65-F5344CB8AC3E}">
        <p14:creationId xmlns:p14="http://schemas.microsoft.com/office/powerpoint/2010/main" val="7554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CRIPTOGRAFÍA</a:t>
            </a:r>
          </a:p>
        </p:txBody>
      </p:sp>
      <p:pic>
        <p:nvPicPr>
          <p:cNvPr id="4" name="Picture 6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30"/>
          <a:stretch/>
        </p:blipFill>
        <p:spPr bwMode="auto">
          <a:xfrm>
            <a:off x="2270499" y="2808896"/>
            <a:ext cx="4603002" cy="238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959" y="959599"/>
            <a:ext cx="2151597" cy="1864717"/>
          </a:xfrm>
          <a:prstGeom prst="rect">
            <a:avLst/>
          </a:prstGeom>
        </p:spPr>
      </p:pic>
      <p:pic>
        <p:nvPicPr>
          <p:cNvPr id="6" name="Picture 4" descr="Resultado de imagen para firma digit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505" y="959599"/>
            <a:ext cx="4609562" cy="161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06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AVANCE DEL PROYECTO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544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ANÁLISIS DE C I D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 smtClean="0">
                <a:cs typeface="Source Sans Pro"/>
              </a:rPr>
              <a:t>Objetivo</a:t>
            </a:r>
            <a:endParaRPr lang="en-US" sz="1600" b="1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Del </a:t>
            </a:r>
            <a:r>
              <a:rPr lang="en-US" sz="1600" spc="-10" dirty="0" err="1">
                <a:cs typeface="Source Sans Pro"/>
              </a:rPr>
              <a:t>avance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proyecto</a:t>
            </a:r>
            <a:r>
              <a:rPr lang="en-US" sz="1600" spc="-10" dirty="0">
                <a:cs typeface="Source Sans Pro"/>
              </a:rPr>
              <a:t> 1 , </a:t>
            </a:r>
            <a:r>
              <a:rPr lang="en-US" sz="1600" spc="-10" dirty="0" err="1">
                <a:cs typeface="Source Sans Pro"/>
              </a:rPr>
              <a:t>realizar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análisis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confidencialidad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integridad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disponibilidad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identificados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análisis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realizado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herramienta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permita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visualizar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mapa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calor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correspondiente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Si se </a:t>
            </a:r>
            <a:r>
              <a:rPr lang="en-US" sz="1600" spc="-10" dirty="0" err="1">
                <a:cs typeface="Source Sans Pro"/>
              </a:rPr>
              <a:t>asigna</a:t>
            </a:r>
            <a:r>
              <a:rPr lang="en-US" sz="1600" spc="-10" dirty="0">
                <a:cs typeface="Source Sans Pro"/>
              </a:rPr>
              <a:t> el valor </a:t>
            </a:r>
            <a:r>
              <a:rPr lang="en-US" sz="1600" spc="-10" dirty="0" err="1">
                <a:cs typeface="Source Sans Pro"/>
              </a:rPr>
              <a:t>uno</a:t>
            </a:r>
            <a:r>
              <a:rPr lang="en-US" sz="1600" spc="-10" dirty="0">
                <a:cs typeface="Source Sans Pro"/>
              </a:rPr>
              <a:t> (1) </a:t>
            </a:r>
            <a:r>
              <a:rPr lang="en-US" sz="1600" spc="-10" dirty="0" err="1">
                <a:cs typeface="Source Sans Pro"/>
              </a:rPr>
              <a:t>verde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Si se </a:t>
            </a:r>
            <a:r>
              <a:rPr lang="en-US" sz="1600" spc="-10" dirty="0" err="1">
                <a:cs typeface="Source Sans Pro"/>
              </a:rPr>
              <a:t>asigna</a:t>
            </a:r>
            <a:r>
              <a:rPr lang="en-US" sz="1600" spc="-10" dirty="0">
                <a:cs typeface="Source Sans Pro"/>
              </a:rPr>
              <a:t> el valor dos (2) </a:t>
            </a:r>
            <a:r>
              <a:rPr lang="en-US" sz="1600" spc="-10" dirty="0" err="1">
                <a:cs typeface="Source Sans Pro"/>
              </a:rPr>
              <a:t>amarillo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Si se </a:t>
            </a:r>
            <a:r>
              <a:rPr lang="en-US" sz="1600" spc="-10" dirty="0" err="1">
                <a:cs typeface="Source Sans Pro"/>
              </a:rPr>
              <a:t>asigna</a:t>
            </a:r>
            <a:r>
              <a:rPr lang="en-US" sz="1600" spc="-10" dirty="0">
                <a:cs typeface="Source Sans Pro"/>
              </a:rPr>
              <a:t> el valor </a:t>
            </a:r>
            <a:r>
              <a:rPr lang="en-US" sz="1600" spc="-10" dirty="0" err="1">
                <a:cs typeface="Source Sans Pro"/>
              </a:rPr>
              <a:t>tres</a:t>
            </a:r>
            <a:r>
              <a:rPr lang="en-US" sz="1600" spc="-10" dirty="0">
                <a:cs typeface="Source Sans Pro"/>
              </a:rPr>
              <a:t> (3) </a:t>
            </a:r>
            <a:r>
              <a:rPr lang="en-US" sz="1600" spc="-10" dirty="0" err="1">
                <a:cs typeface="Source Sans Pro"/>
              </a:rPr>
              <a:t>rojo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10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AVANCE DEL PROYECTO 2</a:t>
            </a:r>
          </a:p>
        </p:txBody>
      </p:sp>
    </p:spTree>
    <p:extLst>
      <p:ext uri="{BB962C8B-B14F-4D97-AF65-F5344CB8AC3E}">
        <p14:creationId xmlns:p14="http://schemas.microsoft.com/office/powerpoint/2010/main" val="106504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Objetivo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Conocimiento y aplicación del procedimiento de criptografía de información.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CRIPTOGRAFÍA (TAREA</a:t>
            </a:r>
            <a:r>
              <a:rPr lang="en-US" sz="130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3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Los participantes deberán elaborar un algoritmo de cifrado e información.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Generar una frase corta a la que se le deberá aplicar el algoritmo.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 texto cifrado será compartido en clase a otro grupo para que sea decodificado. 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512023" y="331345"/>
            <a:ext cx="6947015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</a:t>
            </a:r>
            <a:r>
              <a:rPr lang="en-US" sz="1300" dirty="0" smtClean="0">
                <a:solidFill>
                  <a:srgbClr val="438AD7"/>
                </a:solidFill>
              </a:rPr>
              <a:t>CRIPTOGRAFÍA (TAREA</a:t>
            </a:r>
            <a:r>
              <a:rPr lang="en-US" sz="1300" dirty="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24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</a:t>
            </a:r>
            <a:r>
              <a:rPr lang="es-PE" sz="1600" b="1" dirty="0" smtClean="0">
                <a:solidFill>
                  <a:srgbClr val="5F9ADA"/>
                </a:solidFill>
              </a:rPr>
              <a:t>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Instrucciones para la entrega de la tarea.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La tarea deberá ser realizada  y descifrada en clase, por todos los miembros del grupo.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smtClean="0">
                <a:solidFill>
                  <a:srgbClr val="438AD7"/>
                </a:solidFill>
              </a:rPr>
              <a:t>/ CRIPTOGRAFÍA (TAREA</a:t>
            </a:r>
            <a:r>
              <a:rPr lang="en-US" sz="1300">
                <a:solidFill>
                  <a:srgbClr val="438AD7"/>
                </a:solidFill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3480357" y="959599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Criptografía.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196" y="1469205"/>
            <a:ext cx="5589609" cy="372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90" y="2599363"/>
            <a:ext cx="3404181" cy="2270588"/>
          </a:xfrm>
          <a:prstGeom prst="rect">
            <a:avLst/>
          </a:prstGeom>
        </p:spPr>
      </p:pic>
      <p:sp>
        <p:nvSpPr>
          <p:cNvPr id="14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Clave </a:t>
            </a:r>
            <a:r>
              <a:rPr lang="en-US" sz="1600" b="1" spc="-10" dirty="0" err="1" smtClean="0">
                <a:cs typeface="Source Sans Pro"/>
              </a:rPr>
              <a:t>Asimétrica</a:t>
            </a:r>
            <a:r>
              <a:rPr lang="en-US" sz="1600" b="1" spc="-10" dirty="0" smtClean="0">
                <a:cs typeface="Source Sans Pro"/>
              </a:rPr>
              <a:t> 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667293" y="1962023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¿Cómo estás?</a:t>
            </a:r>
            <a:endParaRPr lang="es-PE" sz="1600" b="1" dirty="0"/>
          </a:p>
        </p:txBody>
      </p:sp>
      <p:sp>
        <p:nvSpPr>
          <p:cNvPr id="16" name="Rectángulo 15"/>
          <p:cNvSpPr/>
          <p:nvPr/>
        </p:nvSpPr>
        <p:spPr>
          <a:xfrm>
            <a:off x="2730391" y="1585015"/>
            <a:ext cx="460039" cy="154524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PE" sz="1600" b="1" dirty="0" smtClean="0"/>
              <a:t>Cifrado</a:t>
            </a:r>
            <a:endParaRPr lang="es-PE" sz="1600" b="1" dirty="0"/>
          </a:p>
        </p:txBody>
      </p:sp>
      <p:sp>
        <p:nvSpPr>
          <p:cNvPr id="17" name="Rectángulo 16"/>
          <p:cNvSpPr/>
          <p:nvPr/>
        </p:nvSpPr>
        <p:spPr>
          <a:xfrm>
            <a:off x="3862885" y="2024857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MG%RTS@&lt;SW?S_(‘@</a:t>
            </a:r>
            <a:endParaRPr lang="es-PE" sz="1600" b="1" dirty="0"/>
          </a:p>
        </p:txBody>
      </p:sp>
      <p:sp>
        <p:nvSpPr>
          <p:cNvPr id="18" name="Rectángulo 17"/>
          <p:cNvSpPr/>
          <p:nvPr/>
        </p:nvSpPr>
        <p:spPr>
          <a:xfrm>
            <a:off x="7071939" y="1932848"/>
            <a:ext cx="1404768" cy="70238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 smtClean="0"/>
              <a:t>¿Cómo estás?</a:t>
            </a:r>
            <a:endParaRPr lang="es-PE" sz="1600" b="1" dirty="0"/>
          </a:p>
        </p:txBody>
      </p:sp>
      <p:sp>
        <p:nvSpPr>
          <p:cNvPr id="19" name="Rectángulo 18"/>
          <p:cNvSpPr/>
          <p:nvPr/>
        </p:nvSpPr>
        <p:spPr>
          <a:xfrm>
            <a:off x="5967011" y="1603427"/>
            <a:ext cx="505716" cy="1545244"/>
          </a:xfrm>
          <a:prstGeom prst="rect">
            <a:avLst/>
          </a:prstGeom>
          <a:solidFill>
            <a:srgbClr val="2EB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PE" sz="1600" b="1" dirty="0" smtClean="0"/>
              <a:t>Descifrado</a:t>
            </a:r>
            <a:endParaRPr lang="es-PE" sz="1600" b="1" dirty="0"/>
          </a:p>
        </p:txBody>
      </p:sp>
      <p:sp>
        <p:nvSpPr>
          <p:cNvPr id="20" name="Rectángulo 19"/>
          <p:cNvSpPr/>
          <p:nvPr/>
        </p:nvSpPr>
        <p:spPr>
          <a:xfrm>
            <a:off x="1244516" y="4542601"/>
            <a:ext cx="1909651" cy="6548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>
                <a:solidFill>
                  <a:schemeClr val="tx1"/>
                </a:solidFill>
              </a:rPr>
              <a:t>Clave Pública del Destinatario</a:t>
            </a:r>
          </a:p>
        </p:txBody>
      </p:sp>
      <p:sp>
        <p:nvSpPr>
          <p:cNvPr id="21" name="Flecha derecha 20"/>
          <p:cNvSpPr/>
          <p:nvPr/>
        </p:nvSpPr>
        <p:spPr>
          <a:xfrm>
            <a:off x="2181537" y="2141552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22" name="Flecha derecha 21"/>
          <p:cNvSpPr/>
          <p:nvPr/>
        </p:nvSpPr>
        <p:spPr>
          <a:xfrm>
            <a:off x="3310315" y="2152771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23" name="Flecha derecha 22"/>
          <p:cNvSpPr/>
          <p:nvPr/>
        </p:nvSpPr>
        <p:spPr>
          <a:xfrm>
            <a:off x="5408543" y="2150526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24" name="Flecha derecha 23"/>
          <p:cNvSpPr/>
          <p:nvPr/>
        </p:nvSpPr>
        <p:spPr>
          <a:xfrm>
            <a:off x="6550787" y="2148281"/>
            <a:ext cx="438720" cy="468994"/>
          </a:xfrm>
          <a:prstGeom prst="rightArrow">
            <a:avLst/>
          </a:prstGeom>
          <a:solidFill>
            <a:srgbClr val="E5584B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sz="1600"/>
          </a:p>
        </p:txBody>
      </p:sp>
      <p:sp>
        <p:nvSpPr>
          <p:cNvPr id="25" name="Rectángulo 24"/>
          <p:cNvSpPr/>
          <p:nvPr/>
        </p:nvSpPr>
        <p:spPr>
          <a:xfrm>
            <a:off x="3704256" y="3339101"/>
            <a:ext cx="1735488" cy="770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dirty="0" smtClean="0">
                <a:solidFill>
                  <a:schemeClr val="tx1"/>
                </a:solidFill>
              </a:rPr>
              <a:t>Diferentes claves se usan para cifrar y descifrar</a:t>
            </a:r>
            <a:endParaRPr lang="es-PE" sz="1600" dirty="0">
              <a:solidFill>
                <a:schemeClr val="tx1"/>
              </a:solidFill>
            </a:endParaRP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65" y="3004849"/>
            <a:ext cx="2568539" cy="1538482"/>
          </a:xfrm>
          <a:prstGeom prst="rect">
            <a:avLst/>
          </a:prstGeom>
        </p:spPr>
      </p:pic>
      <p:sp>
        <p:nvSpPr>
          <p:cNvPr id="27" name="Rectángulo 26"/>
          <p:cNvSpPr/>
          <p:nvPr/>
        </p:nvSpPr>
        <p:spPr>
          <a:xfrm>
            <a:off x="5908981" y="4542601"/>
            <a:ext cx="1909651" cy="6548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tx1"/>
                </a:solidFill>
              </a:rPr>
              <a:t>Clave Privada del Destinatario</a:t>
            </a:r>
          </a:p>
        </p:txBody>
      </p:sp>
    </p:spTree>
    <p:extLst>
      <p:ext uri="{BB962C8B-B14F-4D97-AF65-F5344CB8AC3E}">
        <p14:creationId xmlns:p14="http://schemas.microsoft.com/office/powerpoint/2010/main" val="18684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5859</TotalTime>
  <Words>865</Words>
  <Application>Microsoft Office PowerPoint</Application>
  <PresentationFormat>Presentación en pantalla (16:10)</PresentationFormat>
  <Paragraphs>155</Paragraphs>
  <Slides>26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488</cp:revision>
  <cp:lastPrinted>2018-01-16T21:42:59Z</cp:lastPrinted>
  <dcterms:created xsi:type="dcterms:W3CDTF">2016-10-06T14:52:02Z</dcterms:created>
  <dcterms:modified xsi:type="dcterms:W3CDTF">2020-10-21T21:47:04Z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