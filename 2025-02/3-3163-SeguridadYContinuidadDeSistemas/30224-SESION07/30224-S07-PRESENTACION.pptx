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3.xml" ContentType="application/vnd.openxmlformats-officedocument.presentationml.tags+xml"/>
  <Override PartName="/ppt/notesSlides/notesSlide1.xml" ContentType="application/vnd.openxmlformats-officedocument.presentationml.notesSlide+xml"/>
  <Override PartName="/ppt/tags/tag4.xml" ContentType="application/vnd.openxmlformats-officedocument.presentationml.tags+xml"/>
  <Override PartName="/ppt/notesSlides/notesSlide2.xml" ContentType="application/vnd.openxmlformats-officedocument.presentationml.notesSlide+xml"/>
  <Override PartName="/ppt/tags/tag5.xml" ContentType="application/vnd.openxmlformats-officedocument.presentationml.tags+xml"/>
  <Override PartName="/ppt/notesSlides/notesSlide3.xml" ContentType="application/vnd.openxmlformats-officedocument.presentationml.notesSlide+xml"/>
  <Override PartName="/ppt/tags/tag6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6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tags/tag7.xml" ContentType="application/vnd.openxmlformats-officedocument.presentationml.tags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6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7"/>
  </p:notesMasterIdLst>
  <p:handoutMasterIdLst>
    <p:handoutMasterId r:id="rId38"/>
  </p:handoutMasterIdLst>
  <p:sldIdLst>
    <p:sldId id="372" r:id="rId2"/>
    <p:sldId id="306" r:id="rId3"/>
    <p:sldId id="432" r:id="rId4"/>
    <p:sldId id="513" r:id="rId5"/>
    <p:sldId id="315" r:id="rId6"/>
    <p:sldId id="400" r:id="rId7"/>
    <p:sldId id="538" r:id="rId8"/>
    <p:sldId id="540" r:id="rId9"/>
    <p:sldId id="458" r:id="rId10"/>
    <p:sldId id="541" r:id="rId11"/>
    <p:sldId id="542" r:id="rId12"/>
    <p:sldId id="543" r:id="rId13"/>
    <p:sldId id="544" r:id="rId14"/>
    <p:sldId id="545" r:id="rId15"/>
    <p:sldId id="546" r:id="rId16"/>
    <p:sldId id="547" r:id="rId17"/>
    <p:sldId id="548" r:id="rId18"/>
    <p:sldId id="549" r:id="rId19"/>
    <p:sldId id="528" r:id="rId20"/>
    <p:sldId id="550" r:id="rId21"/>
    <p:sldId id="551" r:id="rId22"/>
    <p:sldId id="552" r:id="rId23"/>
    <p:sldId id="553" r:id="rId24"/>
    <p:sldId id="554" r:id="rId25"/>
    <p:sldId id="555" r:id="rId26"/>
    <p:sldId id="556" r:id="rId27"/>
    <p:sldId id="557" r:id="rId28"/>
    <p:sldId id="558" r:id="rId29"/>
    <p:sldId id="559" r:id="rId30"/>
    <p:sldId id="448" r:id="rId31"/>
    <p:sldId id="509" r:id="rId32"/>
    <p:sldId id="511" r:id="rId33"/>
    <p:sldId id="451" r:id="rId34"/>
    <p:sldId id="470" r:id="rId35"/>
    <p:sldId id="471" r:id="rId36"/>
  </p:sldIdLst>
  <p:sldSz cx="9144000" cy="5715000" type="screen16x10"/>
  <p:notesSz cx="6858000" cy="9144000"/>
  <p:custDataLst>
    <p:tags r:id="rId39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5465" userDrawn="1">
          <p15:clr>
            <a:srgbClr val="A4A3A4"/>
          </p15:clr>
        </p15:guide>
        <p15:guide id="3" orient="horz" pos="3229" userDrawn="1">
          <p15:clr>
            <a:srgbClr val="A4A3A4"/>
          </p15:clr>
        </p15:guide>
        <p15:guide id="11" pos="295" userDrawn="1">
          <p15:clr>
            <a:srgbClr val="A4A3A4"/>
          </p15:clr>
        </p15:guide>
        <p15:guide id="12" orient="horz" pos="598" userDrawn="1">
          <p15:clr>
            <a:srgbClr val="A4A3A4"/>
          </p15:clr>
        </p15:guide>
        <p15:guide id="13" orient="horz" pos="258" userDrawn="1">
          <p15:clr>
            <a:srgbClr val="A4A3A4"/>
          </p15:clr>
        </p15:guide>
        <p15:guide id="14" pos="2880" userDrawn="1">
          <p15:clr>
            <a:srgbClr val="A4A3A4"/>
          </p15:clr>
        </p15:guide>
        <p15:guide id="15" pos="3039" userDrawn="1">
          <p15:clr>
            <a:srgbClr val="A4A3A4"/>
          </p15:clr>
        </p15:guide>
        <p15:guide id="17" pos="2721" userDrawn="1">
          <p15:clr>
            <a:srgbClr val="A4A3A4"/>
          </p15:clr>
        </p15:guide>
        <p15:guide id="18" pos="1451" userDrawn="1">
          <p15:clr>
            <a:srgbClr val="A4A3A4"/>
          </p15:clr>
        </p15:guide>
        <p15:guide id="20" pos="4785" userDrawn="1">
          <p15:clr>
            <a:srgbClr val="A4A3A4"/>
          </p15:clr>
        </p15:guide>
        <p15:guide id="23" orient="horz" pos="1074" userDrawn="1">
          <p15:clr>
            <a:srgbClr val="A4A3A4"/>
          </p15:clr>
        </p15:guide>
        <p15:guide id="24" orient="horz" pos="293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EB1B5"/>
    <a:srgbClr val="E5584B"/>
    <a:srgbClr val="DFA635"/>
    <a:srgbClr val="99C652"/>
    <a:srgbClr val="68529F"/>
    <a:srgbClr val="0197A7"/>
    <a:srgbClr val="D2032C"/>
    <a:srgbClr val="F2D164"/>
    <a:srgbClr val="5AB5A3"/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400" autoAdjust="0"/>
    <p:restoredTop sz="75000" autoAdjust="0"/>
  </p:normalViewPr>
  <p:slideViewPr>
    <p:cSldViewPr snapToGrid="0" snapToObjects="1" showGuides="1">
      <p:cViewPr varScale="1">
        <p:scale>
          <a:sx n="81" d="100"/>
          <a:sy n="81" d="100"/>
        </p:scale>
        <p:origin x="1326" y="114"/>
      </p:cViewPr>
      <p:guideLst>
        <p:guide pos="5465"/>
        <p:guide orient="horz" pos="3229"/>
        <p:guide pos="295"/>
        <p:guide orient="horz" pos="598"/>
        <p:guide orient="horz" pos="258"/>
        <p:guide pos="2880"/>
        <p:guide pos="3039"/>
        <p:guide pos="2721"/>
        <p:guide pos="1451"/>
        <p:guide pos="4785"/>
        <p:guide orient="horz" pos="1074"/>
        <p:guide orient="horz" pos="2934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gs" Target="tags/tag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5_5">
  <dgm:title val=""/>
  <dgm:desc val=""/>
  <dgm:catLst>
    <dgm:cat type="accent5" pri="11500"/>
  </dgm:catLst>
  <dgm:styleLbl name="node0">
    <dgm:fillClrLst meth="cycle">
      <a:schemeClr val="accent5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>
        <a:alpha val="9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>
        <a:alpha val="90000"/>
      </a:schemeClr>
      <a:schemeClr val="accent5">
        <a:alpha val="50000"/>
      </a:schemeClr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/>
    <dgm:txEffectClrLst/>
  </dgm:styleLbl>
  <dgm:styleLbl name="lnNode1">
    <dgm:fillClrLst>
      <a:schemeClr val="accent5">
        <a:shade val="90000"/>
      </a:schemeClr>
      <a:schemeClr val="accent5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shade val="80000"/>
        <a:alpha val="50000"/>
      </a:schemeClr>
      <a:schemeClr val="accent5">
        <a:alpha val="2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  <a:alpha val="90000"/>
      </a:schemeClr>
      <a:schemeClr val="accent5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>
        <a:shade val="90000"/>
      </a:schemeClr>
      <a:schemeClr val="accent5">
        <a:tint val="50000"/>
      </a:schemeClr>
    </dgm:fillClrLst>
    <dgm:linClrLst>
      <a:schemeClr val="accent5">
        <a:shade val="90000"/>
      </a:schemeClr>
      <a:schemeClr val="accent5">
        <a:tint val="50000"/>
      </a:schemeClr>
    </dgm:linClrLst>
    <dgm:effectClrLst/>
    <dgm:txLinClrLst/>
    <dgm:txFillClrLst/>
    <dgm:txEffectClrLst/>
  </dgm:styleLbl>
  <dgm:styleLbl name="fgSibTrans2D1">
    <dgm:fillClrLst>
      <a:schemeClr val="accent5">
        <a:shade val="90000"/>
      </a:schemeClr>
      <a:schemeClr val="accent5">
        <a:tint val="50000"/>
      </a:schemeClr>
    </dgm:fillClrLst>
    <dgm:linClrLst>
      <a:schemeClr val="accent5">
        <a:shade val="90000"/>
      </a:schemeClr>
      <a:schemeClr val="accent5">
        <a:tint val="50000"/>
      </a:schemeClr>
    </dgm:linClrLst>
    <dgm:effectClrLst/>
    <dgm:txLinClrLst/>
    <dgm:txFillClrLst/>
    <dgm:txEffectClrLst/>
  </dgm:styleLbl>
  <dgm:styleLbl name="bgSibTrans2D1">
    <dgm:fillClrLst>
      <a:schemeClr val="accent5">
        <a:shade val="90000"/>
      </a:schemeClr>
      <a:schemeClr val="accent5">
        <a:tint val="50000"/>
      </a:schemeClr>
    </dgm:fillClrLst>
    <dgm:linClrLst>
      <a:schemeClr val="accent5">
        <a:shade val="90000"/>
      </a:schemeClr>
      <a:schemeClr val="accent5">
        <a:tint val="50000"/>
      </a:schemeClr>
    </dgm:linClrLst>
    <dgm:effectClrLst/>
    <dgm:txLinClrLst/>
    <dgm:txFillClrLst/>
    <dgm:txEffectClrLst/>
  </dgm:styleLbl>
  <dgm:styleLbl name="sibTrans1D1">
    <dgm:fillClrLst>
      <a:schemeClr val="accent5">
        <a:shade val="90000"/>
      </a:schemeClr>
      <a:schemeClr val="accent5">
        <a:tint val="50000"/>
      </a:schemeClr>
    </dgm:fillClrLst>
    <dgm:linClrLst>
      <a:schemeClr val="accent5">
        <a:shade val="90000"/>
      </a:schemeClr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5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shade val="80000"/>
      </a:schemeClr>
    </dgm:fillClrLst>
    <dgm:linClrLst meth="repeat">
      <a:schemeClr val="accent5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5">
        <a:tint val="90000"/>
      </a:schemeClr>
    </dgm:fillClrLst>
    <dgm:linClrLst meth="repeat">
      <a:schemeClr val="accent5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5">
        <a:tint val="70000"/>
      </a:schemeClr>
    </dgm:fillClrLst>
    <dgm:linClrLst meth="repeat">
      <a:schemeClr val="accent5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5">
        <a:tint val="50000"/>
      </a:schemeClr>
    </dgm:fillClrLst>
    <dgm:linClrLst meth="repeat">
      <a:schemeClr val="accent5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5">
        <a:shade val="8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>
        <a:tint val="90000"/>
      </a:schemeClr>
    </dgm:fillClrLst>
    <dgm:linClrLst meth="repeat">
      <a:schemeClr val="accent5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>
        <a:tint val="70000"/>
      </a:schemeClr>
    </dgm:fillClrLst>
    <dgm:linClrLst meth="repeat">
      <a:schemeClr val="accent5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alpha val="90000"/>
        <a:tint val="40000"/>
      </a:schemeClr>
      <a:schemeClr val="accent5">
        <a:alpha val="5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5_5">
  <dgm:title val=""/>
  <dgm:desc val=""/>
  <dgm:catLst>
    <dgm:cat type="accent5" pri="11500"/>
  </dgm:catLst>
  <dgm:styleLbl name="node0">
    <dgm:fillClrLst meth="cycle">
      <a:schemeClr val="accent5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>
        <a:alpha val="9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>
        <a:alpha val="90000"/>
      </a:schemeClr>
      <a:schemeClr val="accent5">
        <a:alpha val="50000"/>
      </a:schemeClr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/>
    <dgm:txEffectClrLst/>
  </dgm:styleLbl>
  <dgm:styleLbl name="lnNode1">
    <dgm:fillClrLst>
      <a:schemeClr val="accent5">
        <a:shade val="90000"/>
      </a:schemeClr>
      <a:schemeClr val="accent5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shade val="80000"/>
        <a:alpha val="50000"/>
      </a:schemeClr>
      <a:schemeClr val="accent5">
        <a:alpha val="2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  <a:alpha val="90000"/>
      </a:schemeClr>
      <a:schemeClr val="accent5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>
        <a:shade val="90000"/>
      </a:schemeClr>
      <a:schemeClr val="accent5">
        <a:tint val="50000"/>
      </a:schemeClr>
    </dgm:fillClrLst>
    <dgm:linClrLst>
      <a:schemeClr val="accent5">
        <a:shade val="90000"/>
      </a:schemeClr>
      <a:schemeClr val="accent5">
        <a:tint val="50000"/>
      </a:schemeClr>
    </dgm:linClrLst>
    <dgm:effectClrLst/>
    <dgm:txLinClrLst/>
    <dgm:txFillClrLst/>
    <dgm:txEffectClrLst/>
  </dgm:styleLbl>
  <dgm:styleLbl name="fgSibTrans2D1">
    <dgm:fillClrLst>
      <a:schemeClr val="accent5">
        <a:shade val="90000"/>
      </a:schemeClr>
      <a:schemeClr val="accent5">
        <a:tint val="50000"/>
      </a:schemeClr>
    </dgm:fillClrLst>
    <dgm:linClrLst>
      <a:schemeClr val="accent5">
        <a:shade val="90000"/>
      </a:schemeClr>
      <a:schemeClr val="accent5">
        <a:tint val="50000"/>
      </a:schemeClr>
    </dgm:linClrLst>
    <dgm:effectClrLst/>
    <dgm:txLinClrLst/>
    <dgm:txFillClrLst/>
    <dgm:txEffectClrLst/>
  </dgm:styleLbl>
  <dgm:styleLbl name="bgSibTrans2D1">
    <dgm:fillClrLst>
      <a:schemeClr val="accent5">
        <a:shade val="90000"/>
      </a:schemeClr>
      <a:schemeClr val="accent5">
        <a:tint val="50000"/>
      </a:schemeClr>
    </dgm:fillClrLst>
    <dgm:linClrLst>
      <a:schemeClr val="accent5">
        <a:shade val="90000"/>
      </a:schemeClr>
      <a:schemeClr val="accent5">
        <a:tint val="50000"/>
      </a:schemeClr>
    </dgm:linClrLst>
    <dgm:effectClrLst/>
    <dgm:txLinClrLst/>
    <dgm:txFillClrLst/>
    <dgm:txEffectClrLst/>
  </dgm:styleLbl>
  <dgm:styleLbl name="sibTrans1D1">
    <dgm:fillClrLst>
      <a:schemeClr val="accent5">
        <a:shade val="90000"/>
      </a:schemeClr>
      <a:schemeClr val="accent5">
        <a:tint val="50000"/>
      </a:schemeClr>
    </dgm:fillClrLst>
    <dgm:linClrLst>
      <a:schemeClr val="accent5">
        <a:shade val="90000"/>
      </a:schemeClr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5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shade val="80000"/>
      </a:schemeClr>
    </dgm:fillClrLst>
    <dgm:linClrLst meth="repeat">
      <a:schemeClr val="accent5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5">
        <a:tint val="90000"/>
      </a:schemeClr>
    </dgm:fillClrLst>
    <dgm:linClrLst meth="repeat">
      <a:schemeClr val="accent5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5">
        <a:tint val="70000"/>
      </a:schemeClr>
    </dgm:fillClrLst>
    <dgm:linClrLst meth="repeat">
      <a:schemeClr val="accent5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5">
        <a:tint val="50000"/>
      </a:schemeClr>
    </dgm:fillClrLst>
    <dgm:linClrLst meth="repeat">
      <a:schemeClr val="accent5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5">
        <a:shade val="8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>
        <a:tint val="90000"/>
      </a:schemeClr>
    </dgm:fillClrLst>
    <dgm:linClrLst meth="repeat">
      <a:schemeClr val="accent5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>
        <a:tint val="70000"/>
      </a:schemeClr>
    </dgm:fillClrLst>
    <dgm:linClrLst meth="repeat">
      <a:schemeClr val="accent5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alpha val="90000"/>
        <a:tint val="40000"/>
      </a:schemeClr>
      <a:schemeClr val="accent5">
        <a:alpha val="5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EC1C1F4-B068-49DD-8085-E83DE5FE91C0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PE"/>
        </a:p>
      </dgm:t>
    </dgm:pt>
    <dgm:pt modelId="{F8AC1D50-8DEC-42E2-996D-CF1010A8B2A4}">
      <dgm:prSet phldrT="[Texto]" custT="1"/>
      <dgm:spPr>
        <a:solidFill>
          <a:srgbClr val="2EB1B5"/>
        </a:solidFill>
      </dgm:spPr>
      <dgm:t>
        <a:bodyPr/>
        <a:lstStyle/>
        <a:p>
          <a:r>
            <a:rPr lang="es-PE" sz="1600" dirty="0" smtClean="0"/>
            <a:t>Objetivo</a:t>
          </a:r>
          <a:endParaRPr lang="es-PE" sz="1600" dirty="0"/>
        </a:p>
      </dgm:t>
    </dgm:pt>
    <dgm:pt modelId="{786E19C0-B5FB-4042-A047-1BE4F50904A1}" type="parTrans" cxnId="{8F299412-9ED5-4DEE-A8CF-4E0F884EEADC}">
      <dgm:prSet/>
      <dgm:spPr/>
      <dgm:t>
        <a:bodyPr/>
        <a:lstStyle/>
        <a:p>
          <a:endParaRPr lang="es-PE" sz="1600"/>
        </a:p>
      </dgm:t>
    </dgm:pt>
    <dgm:pt modelId="{D92CC6DE-1600-4B15-AB03-51E3F49D26E4}" type="sibTrans" cxnId="{8F299412-9ED5-4DEE-A8CF-4E0F884EEADC}">
      <dgm:prSet/>
      <dgm:spPr/>
      <dgm:t>
        <a:bodyPr/>
        <a:lstStyle/>
        <a:p>
          <a:endParaRPr lang="es-PE" sz="1600"/>
        </a:p>
      </dgm:t>
    </dgm:pt>
    <dgm:pt modelId="{862E2B4E-1A16-A045-8602-26C10462279C}">
      <dgm:prSet phldrT="[Texto]" custT="1"/>
      <dgm:spPr>
        <a:solidFill>
          <a:srgbClr val="2EB1B5"/>
        </a:solidFill>
      </dgm:spPr>
      <dgm:t>
        <a:bodyPr/>
        <a:lstStyle/>
        <a:p>
          <a:r>
            <a:rPr lang="es-PE" sz="1600" dirty="0" smtClean="0"/>
            <a:t>Controles</a:t>
          </a:r>
          <a:endParaRPr lang="es-PE" sz="1600" dirty="0"/>
        </a:p>
      </dgm:t>
    </dgm:pt>
    <dgm:pt modelId="{E3B8C84F-5A7D-444E-BBCD-BD4E2E625169}" type="parTrans" cxnId="{FFA3CA61-E6DC-0C48-A50A-3E19439D39CC}">
      <dgm:prSet/>
      <dgm:spPr/>
      <dgm:t>
        <a:bodyPr/>
        <a:lstStyle/>
        <a:p>
          <a:endParaRPr lang="es-ES_tradnl"/>
        </a:p>
      </dgm:t>
    </dgm:pt>
    <dgm:pt modelId="{B7EB5660-803D-314D-97BA-DC6273A8474A}" type="sibTrans" cxnId="{FFA3CA61-E6DC-0C48-A50A-3E19439D39CC}">
      <dgm:prSet/>
      <dgm:spPr/>
      <dgm:t>
        <a:bodyPr/>
        <a:lstStyle/>
        <a:p>
          <a:endParaRPr lang="es-ES_tradnl"/>
        </a:p>
      </dgm:t>
    </dgm:pt>
    <dgm:pt modelId="{DC3C0172-4C50-4344-88B0-4C6DCA0803DE}">
      <dgm:prSet phldrT="[Texto]" custT="1"/>
      <dgm:spPr>
        <a:solidFill>
          <a:srgbClr val="2EB1B5"/>
        </a:solidFill>
      </dgm:spPr>
      <dgm:t>
        <a:bodyPr/>
        <a:lstStyle/>
        <a:p>
          <a:r>
            <a:rPr lang="es-PE" sz="1600" dirty="0" err="1" smtClean="0"/>
            <a:t>Phishing</a:t>
          </a:r>
          <a:endParaRPr lang="es-PE" sz="1600" dirty="0"/>
        </a:p>
      </dgm:t>
    </dgm:pt>
    <dgm:pt modelId="{14FFF154-4E4F-C54A-86DB-DA4663BB44C9}" type="parTrans" cxnId="{D521F125-4ED6-494C-AE37-06D52DC7BD32}">
      <dgm:prSet/>
      <dgm:spPr/>
      <dgm:t>
        <a:bodyPr/>
        <a:lstStyle/>
        <a:p>
          <a:endParaRPr lang="es-ES_tradnl"/>
        </a:p>
      </dgm:t>
    </dgm:pt>
    <dgm:pt modelId="{E0679BAD-93C4-2341-9DAA-1C6D99F25392}" type="sibTrans" cxnId="{D521F125-4ED6-494C-AE37-06D52DC7BD32}">
      <dgm:prSet/>
      <dgm:spPr/>
      <dgm:t>
        <a:bodyPr/>
        <a:lstStyle/>
        <a:p>
          <a:endParaRPr lang="es-ES_tradnl"/>
        </a:p>
      </dgm:t>
    </dgm:pt>
    <dgm:pt modelId="{CF1748C6-DCCC-F446-ABD8-638691BEF432}">
      <dgm:prSet phldrT="[Texto]" custT="1"/>
      <dgm:spPr>
        <a:solidFill>
          <a:srgbClr val="2EB1B5"/>
        </a:solidFill>
      </dgm:spPr>
      <dgm:t>
        <a:bodyPr/>
        <a:lstStyle/>
        <a:p>
          <a:r>
            <a:rPr lang="es-PE" sz="1600" dirty="0" smtClean="0"/>
            <a:t>SPAM</a:t>
          </a:r>
          <a:endParaRPr lang="es-PE" sz="1600" dirty="0"/>
        </a:p>
      </dgm:t>
    </dgm:pt>
    <dgm:pt modelId="{AC3D8F05-8B84-6148-83F8-C8DD21E68CCB}" type="parTrans" cxnId="{1B7CFF42-F1E4-AC49-ADB1-F1B708CD0025}">
      <dgm:prSet/>
      <dgm:spPr/>
      <dgm:t>
        <a:bodyPr/>
        <a:lstStyle/>
        <a:p>
          <a:endParaRPr lang="es-ES_tradnl"/>
        </a:p>
      </dgm:t>
    </dgm:pt>
    <dgm:pt modelId="{156670EB-D5FB-904F-B485-0F860ECFE888}" type="sibTrans" cxnId="{1B7CFF42-F1E4-AC49-ADB1-F1B708CD0025}">
      <dgm:prSet/>
      <dgm:spPr/>
      <dgm:t>
        <a:bodyPr/>
        <a:lstStyle/>
        <a:p>
          <a:endParaRPr lang="es-ES_tradnl"/>
        </a:p>
      </dgm:t>
    </dgm:pt>
    <dgm:pt modelId="{28DE026C-E0F8-C749-8D51-E7547ABA82DE}">
      <dgm:prSet phldrT="[Texto]" custT="1"/>
      <dgm:spPr>
        <a:solidFill>
          <a:srgbClr val="2EB1B5"/>
        </a:solidFill>
      </dgm:spPr>
      <dgm:t>
        <a:bodyPr/>
        <a:lstStyle/>
        <a:p>
          <a:r>
            <a:rPr lang="es-PE" sz="1600" dirty="0" smtClean="0"/>
            <a:t>Malware</a:t>
          </a:r>
          <a:endParaRPr lang="es-PE" sz="1600" dirty="0"/>
        </a:p>
      </dgm:t>
    </dgm:pt>
    <dgm:pt modelId="{FADDFD27-7E33-A848-BD75-31542CA5CE7E}" type="parTrans" cxnId="{1D02613D-76D3-7F48-8B35-DD906FE5C271}">
      <dgm:prSet/>
      <dgm:spPr/>
      <dgm:t>
        <a:bodyPr/>
        <a:lstStyle/>
        <a:p>
          <a:endParaRPr lang="es-ES_tradnl"/>
        </a:p>
      </dgm:t>
    </dgm:pt>
    <dgm:pt modelId="{1BF41A29-A235-B547-88AB-C4AF90C0516B}" type="sibTrans" cxnId="{1D02613D-76D3-7F48-8B35-DD906FE5C271}">
      <dgm:prSet/>
      <dgm:spPr/>
      <dgm:t>
        <a:bodyPr/>
        <a:lstStyle/>
        <a:p>
          <a:endParaRPr lang="es-ES_tradnl"/>
        </a:p>
      </dgm:t>
    </dgm:pt>
    <dgm:pt modelId="{1C1067FD-E418-4B60-B9E3-ACF1A4CBDC81}" type="pres">
      <dgm:prSet presAssocID="{6EC1C1F4-B068-49DD-8085-E83DE5FE91C0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s-PE"/>
        </a:p>
      </dgm:t>
    </dgm:pt>
    <dgm:pt modelId="{3777373B-7A8D-4433-8A8C-4992208C3102}" type="pres">
      <dgm:prSet presAssocID="{F8AC1D50-8DEC-42E2-996D-CF1010A8B2A4}" presName="parentText" presStyleLbl="node1" presStyleIdx="0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es-PE"/>
        </a:p>
      </dgm:t>
    </dgm:pt>
    <dgm:pt modelId="{77C821BE-E8B1-43B2-BC83-DA1F290CCBAD}" type="pres">
      <dgm:prSet presAssocID="{D92CC6DE-1600-4B15-AB03-51E3F49D26E4}" presName="spacer" presStyleCnt="0"/>
      <dgm:spPr/>
    </dgm:pt>
    <dgm:pt modelId="{C5308538-EF4D-CD48-BAEB-E2D3B8F3EB08}" type="pres">
      <dgm:prSet presAssocID="{862E2B4E-1A16-A045-8602-26C10462279C}" presName="parentText" presStyleLbl="node1" presStyleIdx="1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es-ES_tradnl"/>
        </a:p>
      </dgm:t>
    </dgm:pt>
    <dgm:pt modelId="{5A865010-8B55-9B41-ADCA-C98711DC72BB}" type="pres">
      <dgm:prSet presAssocID="{B7EB5660-803D-314D-97BA-DC6273A8474A}" presName="spacer" presStyleCnt="0"/>
      <dgm:spPr/>
    </dgm:pt>
    <dgm:pt modelId="{47CC8258-1EF4-FA43-960E-1028F29145D7}" type="pres">
      <dgm:prSet presAssocID="{DC3C0172-4C50-4344-88B0-4C6DCA0803DE}" presName="parentText" presStyleLbl="node1" presStyleIdx="2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es-ES_tradnl"/>
        </a:p>
      </dgm:t>
    </dgm:pt>
    <dgm:pt modelId="{5DCEDEFE-0DAF-274B-A56B-1003089E8C8A}" type="pres">
      <dgm:prSet presAssocID="{E0679BAD-93C4-2341-9DAA-1C6D99F25392}" presName="spacer" presStyleCnt="0"/>
      <dgm:spPr/>
    </dgm:pt>
    <dgm:pt modelId="{3E67D419-2416-EA42-B41C-2D94C6F58CAD}" type="pres">
      <dgm:prSet presAssocID="{CF1748C6-DCCC-F446-ABD8-638691BEF432}" presName="parentText" presStyleLbl="node1" presStyleIdx="3" presStyleCnt="5" custLinFactNeighborX="-40542" custLinFactNeighborY="-36306">
        <dgm:presLayoutVars>
          <dgm:chMax val="0"/>
          <dgm:bulletEnabled val="1"/>
        </dgm:presLayoutVars>
      </dgm:prSet>
      <dgm:spPr/>
      <dgm:t>
        <a:bodyPr/>
        <a:lstStyle/>
        <a:p>
          <a:endParaRPr lang="es-ES_tradnl"/>
        </a:p>
      </dgm:t>
    </dgm:pt>
    <dgm:pt modelId="{5C9BCE8C-4C87-8F44-B194-5BA169D0B34D}" type="pres">
      <dgm:prSet presAssocID="{156670EB-D5FB-904F-B485-0F860ECFE888}" presName="spacer" presStyleCnt="0"/>
      <dgm:spPr/>
    </dgm:pt>
    <dgm:pt modelId="{BA000593-944A-A648-971F-B0D35F8F29EE}" type="pres">
      <dgm:prSet presAssocID="{28DE026C-E0F8-C749-8D51-E7547ABA82DE}" presName="parentText" presStyleLbl="node1" presStyleIdx="4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es-ES_tradnl"/>
        </a:p>
      </dgm:t>
    </dgm:pt>
  </dgm:ptLst>
  <dgm:cxnLst>
    <dgm:cxn modelId="{D521F125-4ED6-494C-AE37-06D52DC7BD32}" srcId="{6EC1C1F4-B068-49DD-8085-E83DE5FE91C0}" destId="{DC3C0172-4C50-4344-88B0-4C6DCA0803DE}" srcOrd="2" destOrd="0" parTransId="{14FFF154-4E4F-C54A-86DB-DA4663BB44C9}" sibTransId="{E0679BAD-93C4-2341-9DAA-1C6D99F25392}"/>
    <dgm:cxn modelId="{1B7CFF42-F1E4-AC49-ADB1-F1B708CD0025}" srcId="{6EC1C1F4-B068-49DD-8085-E83DE5FE91C0}" destId="{CF1748C6-DCCC-F446-ABD8-638691BEF432}" srcOrd="3" destOrd="0" parTransId="{AC3D8F05-8B84-6148-83F8-C8DD21E68CCB}" sibTransId="{156670EB-D5FB-904F-B485-0F860ECFE888}"/>
    <dgm:cxn modelId="{40F5B1C5-62B1-6146-A1F0-C1180ECD01C8}" type="presOf" srcId="{F8AC1D50-8DEC-42E2-996D-CF1010A8B2A4}" destId="{3777373B-7A8D-4433-8A8C-4992208C3102}" srcOrd="0" destOrd="0" presId="urn:microsoft.com/office/officeart/2005/8/layout/vList2"/>
    <dgm:cxn modelId="{157E024C-D322-694D-84D4-1290D38C1934}" type="presOf" srcId="{DC3C0172-4C50-4344-88B0-4C6DCA0803DE}" destId="{47CC8258-1EF4-FA43-960E-1028F29145D7}" srcOrd="0" destOrd="0" presId="urn:microsoft.com/office/officeart/2005/8/layout/vList2"/>
    <dgm:cxn modelId="{33BDD3B7-5CAB-FA43-9B44-D32814B7C4BA}" type="presOf" srcId="{28DE026C-E0F8-C749-8D51-E7547ABA82DE}" destId="{BA000593-944A-A648-971F-B0D35F8F29EE}" srcOrd="0" destOrd="0" presId="urn:microsoft.com/office/officeart/2005/8/layout/vList2"/>
    <dgm:cxn modelId="{FFA3CA61-E6DC-0C48-A50A-3E19439D39CC}" srcId="{6EC1C1F4-B068-49DD-8085-E83DE5FE91C0}" destId="{862E2B4E-1A16-A045-8602-26C10462279C}" srcOrd="1" destOrd="0" parTransId="{E3B8C84F-5A7D-444E-BBCD-BD4E2E625169}" sibTransId="{B7EB5660-803D-314D-97BA-DC6273A8474A}"/>
    <dgm:cxn modelId="{58351E3F-A441-BB46-A9EE-E1BE434B50F2}" type="presOf" srcId="{6EC1C1F4-B068-49DD-8085-E83DE5FE91C0}" destId="{1C1067FD-E418-4B60-B9E3-ACF1A4CBDC81}" srcOrd="0" destOrd="0" presId="urn:microsoft.com/office/officeart/2005/8/layout/vList2"/>
    <dgm:cxn modelId="{1D02613D-76D3-7F48-8B35-DD906FE5C271}" srcId="{6EC1C1F4-B068-49DD-8085-E83DE5FE91C0}" destId="{28DE026C-E0F8-C749-8D51-E7547ABA82DE}" srcOrd="4" destOrd="0" parTransId="{FADDFD27-7E33-A848-BD75-31542CA5CE7E}" sibTransId="{1BF41A29-A235-B547-88AB-C4AF90C0516B}"/>
    <dgm:cxn modelId="{BCA8A6A3-65BC-A443-833F-9C19668B263D}" type="presOf" srcId="{CF1748C6-DCCC-F446-ABD8-638691BEF432}" destId="{3E67D419-2416-EA42-B41C-2D94C6F58CAD}" srcOrd="0" destOrd="0" presId="urn:microsoft.com/office/officeart/2005/8/layout/vList2"/>
    <dgm:cxn modelId="{8F299412-9ED5-4DEE-A8CF-4E0F884EEADC}" srcId="{6EC1C1F4-B068-49DD-8085-E83DE5FE91C0}" destId="{F8AC1D50-8DEC-42E2-996D-CF1010A8B2A4}" srcOrd="0" destOrd="0" parTransId="{786E19C0-B5FB-4042-A047-1BE4F50904A1}" sibTransId="{D92CC6DE-1600-4B15-AB03-51E3F49D26E4}"/>
    <dgm:cxn modelId="{B27F4035-76D3-7840-A598-D98E3512A609}" type="presOf" srcId="{862E2B4E-1A16-A045-8602-26C10462279C}" destId="{C5308538-EF4D-CD48-BAEB-E2D3B8F3EB08}" srcOrd="0" destOrd="0" presId="urn:microsoft.com/office/officeart/2005/8/layout/vList2"/>
    <dgm:cxn modelId="{3595A292-1078-F14E-AEB4-1D9DF3A52647}" type="presParOf" srcId="{1C1067FD-E418-4B60-B9E3-ACF1A4CBDC81}" destId="{3777373B-7A8D-4433-8A8C-4992208C3102}" srcOrd="0" destOrd="0" presId="urn:microsoft.com/office/officeart/2005/8/layout/vList2"/>
    <dgm:cxn modelId="{81DA7A5D-440B-AE43-B793-961713979F60}" type="presParOf" srcId="{1C1067FD-E418-4B60-B9E3-ACF1A4CBDC81}" destId="{77C821BE-E8B1-43B2-BC83-DA1F290CCBAD}" srcOrd="1" destOrd="0" presId="urn:microsoft.com/office/officeart/2005/8/layout/vList2"/>
    <dgm:cxn modelId="{0D639A1A-6A28-A34D-B013-8F75B8151379}" type="presParOf" srcId="{1C1067FD-E418-4B60-B9E3-ACF1A4CBDC81}" destId="{C5308538-EF4D-CD48-BAEB-E2D3B8F3EB08}" srcOrd="2" destOrd="0" presId="urn:microsoft.com/office/officeart/2005/8/layout/vList2"/>
    <dgm:cxn modelId="{3A1A5BDB-22BC-E642-8C30-FD070D839080}" type="presParOf" srcId="{1C1067FD-E418-4B60-B9E3-ACF1A4CBDC81}" destId="{5A865010-8B55-9B41-ADCA-C98711DC72BB}" srcOrd="3" destOrd="0" presId="urn:microsoft.com/office/officeart/2005/8/layout/vList2"/>
    <dgm:cxn modelId="{0369AD6E-E9AB-AD43-8759-6EF77E1B3521}" type="presParOf" srcId="{1C1067FD-E418-4B60-B9E3-ACF1A4CBDC81}" destId="{47CC8258-1EF4-FA43-960E-1028F29145D7}" srcOrd="4" destOrd="0" presId="urn:microsoft.com/office/officeart/2005/8/layout/vList2"/>
    <dgm:cxn modelId="{B7E09CD0-DBCF-A245-8E95-96F192342391}" type="presParOf" srcId="{1C1067FD-E418-4B60-B9E3-ACF1A4CBDC81}" destId="{5DCEDEFE-0DAF-274B-A56B-1003089E8C8A}" srcOrd="5" destOrd="0" presId="urn:microsoft.com/office/officeart/2005/8/layout/vList2"/>
    <dgm:cxn modelId="{C7CD4E03-8F68-1D4B-9265-931C5834998A}" type="presParOf" srcId="{1C1067FD-E418-4B60-B9E3-ACF1A4CBDC81}" destId="{3E67D419-2416-EA42-B41C-2D94C6F58CAD}" srcOrd="6" destOrd="0" presId="urn:microsoft.com/office/officeart/2005/8/layout/vList2"/>
    <dgm:cxn modelId="{4449D651-4960-EF4C-8FB9-1FE7C3E11441}" type="presParOf" srcId="{1C1067FD-E418-4B60-B9E3-ACF1A4CBDC81}" destId="{5C9BCE8C-4C87-8F44-B194-5BA169D0B34D}" srcOrd="7" destOrd="0" presId="urn:microsoft.com/office/officeart/2005/8/layout/vList2"/>
    <dgm:cxn modelId="{752ECDC7-EBB6-3948-ADE7-7533A4FE8012}" type="presParOf" srcId="{1C1067FD-E418-4B60-B9E3-ACF1A4CBDC81}" destId="{BA000593-944A-A648-971F-B0D35F8F29EE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580A023-5473-4C09-9AD3-6CC4F2BD479E}" type="doc">
      <dgm:prSet loTypeId="urn:microsoft.com/office/officeart/2005/8/layout/orgChart1" loCatId="hierarchy" qsTypeId="urn:microsoft.com/office/officeart/2005/8/quickstyle/simple1" qsCatId="simple" csTypeId="urn:microsoft.com/office/officeart/2005/8/colors/accent5_5" csCatId="accent5" phldr="1"/>
      <dgm:spPr/>
      <dgm:t>
        <a:bodyPr/>
        <a:lstStyle/>
        <a:p>
          <a:endParaRPr lang="es-PE"/>
        </a:p>
      </dgm:t>
    </dgm:pt>
    <dgm:pt modelId="{1CFEDA62-E621-45B6-81B7-7CA0DF19BE0B}">
      <dgm:prSet phldrT="[Texto]" custT="1"/>
      <dgm:spPr>
        <a:solidFill>
          <a:srgbClr val="68529F"/>
        </a:solidFill>
      </dgm:spPr>
      <dgm:t>
        <a:bodyPr/>
        <a:lstStyle/>
        <a:p>
          <a:r>
            <a:rPr lang="es-PE" sz="1800" dirty="0" smtClean="0"/>
            <a:t>A.12.2 Protección</a:t>
          </a:r>
          <a:br>
            <a:rPr lang="es-PE" sz="1800" dirty="0" smtClean="0"/>
          </a:br>
          <a:r>
            <a:rPr lang="es-PE" sz="1800" dirty="0" smtClean="0"/>
            <a:t>contra programas maliciosos</a:t>
          </a:r>
          <a:endParaRPr lang="es-PE" sz="1800" dirty="0"/>
        </a:p>
      </dgm:t>
    </dgm:pt>
    <dgm:pt modelId="{0700C93D-A4CB-4B96-84CE-B49B558F2924}" type="parTrans" cxnId="{962284F4-41E6-448E-B0EA-6DE27CB57514}">
      <dgm:prSet/>
      <dgm:spPr/>
      <dgm:t>
        <a:bodyPr/>
        <a:lstStyle/>
        <a:p>
          <a:endParaRPr lang="es-PE" sz="1100"/>
        </a:p>
      </dgm:t>
    </dgm:pt>
    <dgm:pt modelId="{CC81F1C7-7291-4FD3-9E79-50C95E843145}" type="sibTrans" cxnId="{962284F4-41E6-448E-B0EA-6DE27CB57514}">
      <dgm:prSet/>
      <dgm:spPr/>
      <dgm:t>
        <a:bodyPr/>
        <a:lstStyle/>
        <a:p>
          <a:endParaRPr lang="es-PE" sz="1100"/>
        </a:p>
      </dgm:t>
    </dgm:pt>
    <dgm:pt modelId="{B7448275-937C-4470-B239-A762E1132317}">
      <dgm:prSet phldrT="[Texto]" custT="1"/>
      <dgm:spPr>
        <a:solidFill>
          <a:srgbClr val="2EB1B5"/>
        </a:solidFill>
        <a:ln>
          <a:noFill/>
        </a:ln>
      </dgm:spPr>
      <dgm:t>
        <a:bodyPr/>
        <a:lstStyle/>
        <a:p>
          <a:r>
            <a:rPr lang="es-PE" sz="1800" dirty="0" smtClean="0"/>
            <a:t>A.12.2.1 Los</a:t>
          </a:r>
          <a:br>
            <a:rPr lang="es-PE" sz="1800" dirty="0" smtClean="0"/>
          </a:br>
          <a:r>
            <a:rPr lang="es-PE" sz="1800" dirty="0" smtClean="0"/>
            <a:t>controles contra</a:t>
          </a:r>
          <a:br>
            <a:rPr lang="es-PE" sz="1800" dirty="0" smtClean="0"/>
          </a:br>
          <a:r>
            <a:rPr lang="es-PE" sz="1800" dirty="0" smtClean="0"/>
            <a:t>el malware</a:t>
          </a:r>
          <a:endParaRPr lang="es-PE" sz="1800" dirty="0"/>
        </a:p>
      </dgm:t>
    </dgm:pt>
    <dgm:pt modelId="{CA607E5C-476B-4007-B45D-E7B821BE4112}" type="sibTrans" cxnId="{557D5898-F67E-4653-9DDF-2E1305C2481E}">
      <dgm:prSet/>
      <dgm:spPr/>
      <dgm:t>
        <a:bodyPr/>
        <a:lstStyle/>
        <a:p>
          <a:endParaRPr lang="es-PE" sz="1100"/>
        </a:p>
      </dgm:t>
    </dgm:pt>
    <dgm:pt modelId="{10422A0E-8626-46F6-B887-21E25845322D}" type="parTrans" cxnId="{557D5898-F67E-4653-9DDF-2E1305C2481E}">
      <dgm:prSet/>
      <dgm:spPr>
        <a:ln w="28575">
          <a:solidFill>
            <a:schemeClr val="bg1">
              <a:lumMod val="75000"/>
            </a:schemeClr>
          </a:solidFill>
        </a:ln>
      </dgm:spPr>
      <dgm:t>
        <a:bodyPr/>
        <a:lstStyle/>
        <a:p>
          <a:endParaRPr lang="es-PE" sz="1100"/>
        </a:p>
      </dgm:t>
    </dgm:pt>
    <dgm:pt modelId="{70708133-7F97-45BF-9C10-8090A18B77E8}" type="pres">
      <dgm:prSet presAssocID="{B580A023-5473-4C09-9AD3-6CC4F2BD479E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s-PE"/>
        </a:p>
      </dgm:t>
    </dgm:pt>
    <dgm:pt modelId="{8174BBFF-F76D-423D-968C-BB20383ABF41}" type="pres">
      <dgm:prSet presAssocID="{1CFEDA62-E621-45B6-81B7-7CA0DF19BE0B}" presName="hierRoot1" presStyleCnt="0">
        <dgm:presLayoutVars>
          <dgm:hierBranch val="init"/>
        </dgm:presLayoutVars>
      </dgm:prSet>
      <dgm:spPr/>
    </dgm:pt>
    <dgm:pt modelId="{1B53207F-2457-4DE1-8E76-DD6FCF0A3A94}" type="pres">
      <dgm:prSet presAssocID="{1CFEDA62-E621-45B6-81B7-7CA0DF19BE0B}" presName="rootComposite1" presStyleCnt="0"/>
      <dgm:spPr/>
    </dgm:pt>
    <dgm:pt modelId="{126F27EB-EF2C-423D-B7FD-5E0219D7D588}" type="pres">
      <dgm:prSet presAssocID="{1CFEDA62-E621-45B6-81B7-7CA0DF19BE0B}" presName="rootText1" presStyleLbl="node0" presStyleIdx="0" presStyleCnt="1" custScaleX="124235" custScaleY="134469">
        <dgm:presLayoutVars>
          <dgm:chPref val="3"/>
        </dgm:presLayoutVars>
      </dgm:prSet>
      <dgm:spPr/>
      <dgm:t>
        <a:bodyPr/>
        <a:lstStyle/>
        <a:p>
          <a:endParaRPr lang="es-PE"/>
        </a:p>
      </dgm:t>
    </dgm:pt>
    <dgm:pt modelId="{5703174A-DFEC-47A6-87E0-B1E4BB26E639}" type="pres">
      <dgm:prSet presAssocID="{1CFEDA62-E621-45B6-81B7-7CA0DF19BE0B}" presName="rootConnector1" presStyleLbl="node1" presStyleIdx="0" presStyleCnt="0"/>
      <dgm:spPr/>
      <dgm:t>
        <a:bodyPr/>
        <a:lstStyle/>
        <a:p>
          <a:endParaRPr lang="es-PE"/>
        </a:p>
      </dgm:t>
    </dgm:pt>
    <dgm:pt modelId="{4E570361-5DD1-40A2-823E-C23403C3FF2E}" type="pres">
      <dgm:prSet presAssocID="{1CFEDA62-E621-45B6-81B7-7CA0DF19BE0B}" presName="hierChild2" presStyleCnt="0"/>
      <dgm:spPr/>
    </dgm:pt>
    <dgm:pt modelId="{C4281DFD-D887-41DA-B6F2-3FBADBA6C710}" type="pres">
      <dgm:prSet presAssocID="{10422A0E-8626-46F6-B887-21E25845322D}" presName="Name37" presStyleLbl="parChTrans1D2" presStyleIdx="0" presStyleCnt="1"/>
      <dgm:spPr/>
      <dgm:t>
        <a:bodyPr/>
        <a:lstStyle/>
        <a:p>
          <a:endParaRPr lang="es-PE"/>
        </a:p>
      </dgm:t>
    </dgm:pt>
    <dgm:pt modelId="{0023C08C-1429-4E5B-9FD2-CD840868C8AE}" type="pres">
      <dgm:prSet presAssocID="{B7448275-937C-4470-B239-A762E1132317}" presName="hierRoot2" presStyleCnt="0">
        <dgm:presLayoutVars>
          <dgm:hierBranch val="init"/>
        </dgm:presLayoutVars>
      </dgm:prSet>
      <dgm:spPr/>
    </dgm:pt>
    <dgm:pt modelId="{134AD17D-44F4-4C93-B854-49FB59ADB2CB}" type="pres">
      <dgm:prSet presAssocID="{B7448275-937C-4470-B239-A762E1132317}" presName="rootComposite" presStyleCnt="0"/>
      <dgm:spPr/>
    </dgm:pt>
    <dgm:pt modelId="{FC92D772-C01B-4D45-837B-3353756937D4}" type="pres">
      <dgm:prSet presAssocID="{B7448275-937C-4470-B239-A762E1132317}" presName="rootText" presStyleLbl="node2" presStyleIdx="0" presStyleCnt="1" custScaleY="148396">
        <dgm:presLayoutVars>
          <dgm:chPref val="3"/>
        </dgm:presLayoutVars>
      </dgm:prSet>
      <dgm:spPr/>
      <dgm:t>
        <a:bodyPr/>
        <a:lstStyle/>
        <a:p>
          <a:endParaRPr lang="es-PE"/>
        </a:p>
      </dgm:t>
    </dgm:pt>
    <dgm:pt modelId="{7B388FE9-2F2F-47A2-8064-C147FCA9A3F0}" type="pres">
      <dgm:prSet presAssocID="{B7448275-937C-4470-B239-A762E1132317}" presName="rootConnector" presStyleLbl="node2" presStyleIdx="0" presStyleCnt="1"/>
      <dgm:spPr/>
      <dgm:t>
        <a:bodyPr/>
        <a:lstStyle/>
        <a:p>
          <a:endParaRPr lang="es-PE"/>
        </a:p>
      </dgm:t>
    </dgm:pt>
    <dgm:pt modelId="{933D1101-4290-4C34-B9BE-5575210E76DA}" type="pres">
      <dgm:prSet presAssocID="{B7448275-937C-4470-B239-A762E1132317}" presName="hierChild4" presStyleCnt="0"/>
      <dgm:spPr/>
    </dgm:pt>
    <dgm:pt modelId="{AF997B2D-8C71-4B27-92CE-72C259828446}" type="pres">
      <dgm:prSet presAssocID="{B7448275-937C-4470-B239-A762E1132317}" presName="hierChild5" presStyleCnt="0"/>
      <dgm:spPr/>
    </dgm:pt>
    <dgm:pt modelId="{86D82236-6DBA-4A2B-9CCA-9CD93BEC42B5}" type="pres">
      <dgm:prSet presAssocID="{1CFEDA62-E621-45B6-81B7-7CA0DF19BE0B}" presName="hierChild3" presStyleCnt="0"/>
      <dgm:spPr/>
    </dgm:pt>
  </dgm:ptLst>
  <dgm:cxnLst>
    <dgm:cxn modelId="{A439178F-C51A-2948-9100-44734833071F}" type="presOf" srcId="{B7448275-937C-4470-B239-A762E1132317}" destId="{7B388FE9-2F2F-47A2-8064-C147FCA9A3F0}" srcOrd="1" destOrd="0" presId="urn:microsoft.com/office/officeart/2005/8/layout/orgChart1"/>
    <dgm:cxn modelId="{ECBCCBD4-A46A-5B4F-B371-160A73749015}" type="presOf" srcId="{B580A023-5473-4C09-9AD3-6CC4F2BD479E}" destId="{70708133-7F97-45BF-9C10-8090A18B77E8}" srcOrd="0" destOrd="0" presId="urn:microsoft.com/office/officeart/2005/8/layout/orgChart1"/>
    <dgm:cxn modelId="{1B9E2D9A-D812-0F4F-9263-6ED7F19EF4A6}" type="presOf" srcId="{1CFEDA62-E621-45B6-81B7-7CA0DF19BE0B}" destId="{126F27EB-EF2C-423D-B7FD-5E0219D7D588}" srcOrd="0" destOrd="0" presId="urn:microsoft.com/office/officeart/2005/8/layout/orgChart1"/>
    <dgm:cxn modelId="{557D5898-F67E-4653-9DDF-2E1305C2481E}" srcId="{1CFEDA62-E621-45B6-81B7-7CA0DF19BE0B}" destId="{B7448275-937C-4470-B239-A762E1132317}" srcOrd="0" destOrd="0" parTransId="{10422A0E-8626-46F6-B887-21E25845322D}" sibTransId="{CA607E5C-476B-4007-B45D-E7B821BE4112}"/>
    <dgm:cxn modelId="{B7C060B3-57E9-1D46-ACC6-43949566B274}" type="presOf" srcId="{1CFEDA62-E621-45B6-81B7-7CA0DF19BE0B}" destId="{5703174A-DFEC-47A6-87E0-B1E4BB26E639}" srcOrd="1" destOrd="0" presId="urn:microsoft.com/office/officeart/2005/8/layout/orgChart1"/>
    <dgm:cxn modelId="{7A6E24CB-9916-D044-888E-D913AB5078F7}" type="presOf" srcId="{B7448275-937C-4470-B239-A762E1132317}" destId="{FC92D772-C01B-4D45-837B-3353756937D4}" srcOrd="0" destOrd="0" presId="urn:microsoft.com/office/officeart/2005/8/layout/orgChart1"/>
    <dgm:cxn modelId="{3DE0DF41-D329-9842-8059-346F81978E19}" type="presOf" srcId="{10422A0E-8626-46F6-B887-21E25845322D}" destId="{C4281DFD-D887-41DA-B6F2-3FBADBA6C710}" srcOrd="0" destOrd="0" presId="urn:microsoft.com/office/officeart/2005/8/layout/orgChart1"/>
    <dgm:cxn modelId="{962284F4-41E6-448E-B0EA-6DE27CB57514}" srcId="{B580A023-5473-4C09-9AD3-6CC4F2BD479E}" destId="{1CFEDA62-E621-45B6-81B7-7CA0DF19BE0B}" srcOrd="0" destOrd="0" parTransId="{0700C93D-A4CB-4B96-84CE-B49B558F2924}" sibTransId="{CC81F1C7-7291-4FD3-9E79-50C95E843145}"/>
    <dgm:cxn modelId="{729AE2C4-A734-614E-95CB-E88EAF12B070}" type="presParOf" srcId="{70708133-7F97-45BF-9C10-8090A18B77E8}" destId="{8174BBFF-F76D-423D-968C-BB20383ABF41}" srcOrd="0" destOrd="0" presId="urn:microsoft.com/office/officeart/2005/8/layout/orgChart1"/>
    <dgm:cxn modelId="{53E99AB3-A3FE-9947-B7AC-0A4DF21A78E0}" type="presParOf" srcId="{8174BBFF-F76D-423D-968C-BB20383ABF41}" destId="{1B53207F-2457-4DE1-8E76-DD6FCF0A3A94}" srcOrd="0" destOrd="0" presId="urn:microsoft.com/office/officeart/2005/8/layout/orgChart1"/>
    <dgm:cxn modelId="{6D1C07DB-10A8-A743-9542-B93816CD58C7}" type="presParOf" srcId="{1B53207F-2457-4DE1-8E76-DD6FCF0A3A94}" destId="{126F27EB-EF2C-423D-B7FD-5E0219D7D588}" srcOrd="0" destOrd="0" presId="urn:microsoft.com/office/officeart/2005/8/layout/orgChart1"/>
    <dgm:cxn modelId="{F6459971-FC2B-5948-8F84-F6FFC07E6A32}" type="presParOf" srcId="{1B53207F-2457-4DE1-8E76-DD6FCF0A3A94}" destId="{5703174A-DFEC-47A6-87E0-B1E4BB26E639}" srcOrd="1" destOrd="0" presId="urn:microsoft.com/office/officeart/2005/8/layout/orgChart1"/>
    <dgm:cxn modelId="{8C5CB167-4E85-5845-ABEE-F059C35F19A1}" type="presParOf" srcId="{8174BBFF-F76D-423D-968C-BB20383ABF41}" destId="{4E570361-5DD1-40A2-823E-C23403C3FF2E}" srcOrd="1" destOrd="0" presId="urn:microsoft.com/office/officeart/2005/8/layout/orgChart1"/>
    <dgm:cxn modelId="{92D04E39-EFED-3447-8B72-99846328081B}" type="presParOf" srcId="{4E570361-5DD1-40A2-823E-C23403C3FF2E}" destId="{C4281DFD-D887-41DA-B6F2-3FBADBA6C710}" srcOrd="0" destOrd="0" presId="urn:microsoft.com/office/officeart/2005/8/layout/orgChart1"/>
    <dgm:cxn modelId="{A4A24882-C1A8-AE4B-BC85-ECD03F2CB685}" type="presParOf" srcId="{4E570361-5DD1-40A2-823E-C23403C3FF2E}" destId="{0023C08C-1429-4E5B-9FD2-CD840868C8AE}" srcOrd="1" destOrd="0" presId="urn:microsoft.com/office/officeart/2005/8/layout/orgChart1"/>
    <dgm:cxn modelId="{D087CD6C-45D5-D543-85A2-16F363A601F4}" type="presParOf" srcId="{0023C08C-1429-4E5B-9FD2-CD840868C8AE}" destId="{134AD17D-44F4-4C93-B854-49FB59ADB2CB}" srcOrd="0" destOrd="0" presId="urn:microsoft.com/office/officeart/2005/8/layout/orgChart1"/>
    <dgm:cxn modelId="{EA3023B2-7339-AC43-9354-D01A1F55FF68}" type="presParOf" srcId="{134AD17D-44F4-4C93-B854-49FB59ADB2CB}" destId="{FC92D772-C01B-4D45-837B-3353756937D4}" srcOrd="0" destOrd="0" presId="urn:microsoft.com/office/officeart/2005/8/layout/orgChart1"/>
    <dgm:cxn modelId="{61C5179B-824B-0245-A365-B7C077F70094}" type="presParOf" srcId="{134AD17D-44F4-4C93-B854-49FB59ADB2CB}" destId="{7B388FE9-2F2F-47A2-8064-C147FCA9A3F0}" srcOrd="1" destOrd="0" presId="urn:microsoft.com/office/officeart/2005/8/layout/orgChart1"/>
    <dgm:cxn modelId="{DA26F520-21EF-474C-9FBF-8A4EED9785F3}" type="presParOf" srcId="{0023C08C-1429-4E5B-9FD2-CD840868C8AE}" destId="{933D1101-4290-4C34-B9BE-5575210E76DA}" srcOrd="1" destOrd="0" presId="urn:microsoft.com/office/officeart/2005/8/layout/orgChart1"/>
    <dgm:cxn modelId="{C375033A-320C-0148-BA41-10BF6D4EB762}" type="presParOf" srcId="{0023C08C-1429-4E5B-9FD2-CD840868C8AE}" destId="{AF997B2D-8C71-4B27-92CE-72C259828446}" srcOrd="2" destOrd="0" presId="urn:microsoft.com/office/officeart/2005/8/layout/orgChart1"/>
    <dgm:cxn modelId="{63C217A1-C679-4746-8126-5A464E696CD6}" type="presParOf" srcId="{8174BBFF-F76D-423D-968C-BB20383ABF41}" destId="{86D82236-6DBA-4A2B-9CCA-9CD93BEC42B5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EC1C1F4-B068-49DD-8085-E83DE5FE91C0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PE"/>
        </a:p>
      </dgm:t>
    </dgm:pt>
    <dgm:pt modelId="{F8AC1D50-8DEC-42E2-996D-CF1010A8B2A4}">
      <dgm:prSet phldrT="[Texto]" custT="1"/>
      <dgm:spPr>
        <a:solidFill>
          <a:srgbClr val="2EB1B5"/>
        </a:solidFill>
      </dgm:spPr>
      <dgm:t>
        <a:bodyPr/>
        <a:lstStyle/>
        <a:p>
          <a:r>
            <a:rPr lang="es-PE" sz="1600" dirty="0" smtClean="0"/>
            <a:t>Objetivo</a:t>
          </a:r>
          <a:endParaRPr lang="es-PE" sz="1600" dirty="0"/>
        </a:p>
      </dgm:t>
    </dgm:pt>
    <dgm:pt modelId="{786E19C0-B5FB-4042-A047-1BE4F50904A1}" type="parTrans" cxnId="{8F299412-9ED5-4DEE-A8CF-4E0F884EEADC}">
      <dgm:prSet/>
      <dgm:spPr/>
      <dgm:t>
        <a:bodyPr/>
        <a:lstStyle/>
        <a:p>
          <a:endParaRPr lang="es-PE" sz="1600"/>
        </a:p>
      </dgm:t>
    </dgm:pt>
    <dgm:pt modelId="{D92CC6DE-1600-4B15-AB03-51E3F49D26E4}" type="sibTrans" cxnId="{8F299412-9ED5-4DEE-A8CF-4E0F884EEADC}">
      <dgm:prSet/>
      <dgm:spPr/>
      <dgm:t>
        <a:bodyPr/>
        <a:lstStyle/>
        <a:p>
          <a:endParaRPr lang="es-PE" sz="1600"/>
        </a:p>
      </dgm:t>
    </dgm:pt>
    <dgm:pt modelId="{B8BC8E13-0EDB-2D41-839F-8F7A0F49BBE5}">
      <dgm:prSet phldrT="[Texto]" custT="1"/>
      <dgm:spPr>
        <a:solidFill>
          <a:srgbClr val="2EB1B5"/>
        </a:solidFill>
      </dgm:spPr>
      <dgm:t>
        <a:bodyPr/>
        <a:lstStyle/>
        <a:p>
          <a:r>
            <a:rPr lang="es-PE" sz="1600" dirty="0" smtClean="0"/>
            <a:t>Concepto</a:t>
          </a:r>
          <a:endParaRPr lang="es-PE" sz="1600" dirty="0"/>
        </a:p>
      </dgm:t>
    </dgm:pt>
    <dgm:pt modelId="{B7ECF30E-311E-2C41-9D8E-4C2C3855DF15}" type="parTrans" cxnId="{9B34D42B-B8A8-604A-9BB0-27557098C8FD}">
      <dgm:prSet/>
      <dgm:spPr/>
      <dgm:t>
        <a:bodyPr/>
        <a:lstStyle/>
        <a:p>
          <a:endParaRPr lang="es-ES_tradnl"/>
        </a:p>
      </dgm:t>
    </dgm:pt>
    <dgm:pt modelId="{6AA0A006-9EAA-AC4D-947E-9F0A8D409E39}" type="sibTrans" cxnId="{9B34D42B-B8A8-604A-9BB0-27557098C8FD}">
      <dgm:prSet/>
      <dgm:spPr/>
      <dgm:t>
        <a:bodyPr/>
        <a:lstStyle/>
        <a:p>
          <a:endParaRPr lang="es-ES_tradnl"/>
        </a:p>
      </dgm:t>
    </dgm:pt>
    <dgm:pt modelId="{EF92B161-3182-4544-AF5F-71ED1FA693B3}">
      <dgm:prSet phldrT="[Texto]" custT="1"/>
      <dgm:spPr>
        <a:solidFill>
          <a:srgbClr val="2EB1B5"/>
        </a:solidFill>
      </dgm:spPr>
      <dgm:t>
        <a:bodyPr/>
        <a:lstStyle/>
        <a:p>
          <a:r>
            <a:rPr lang="es-PE" sz="1600" dirty="0" smtClean="0"/>
            <a:t>Tipos</a:t>
          </a:r>
          <a:endParaRPr lang="es-PE" sz="1600" dirty="0"/>
        </a:p>
      </dgm:t>
    </dgm:pt>
    <dgm:pt modelId="{3E52DF89-4805-264D-A81E-0A322B12122B}" type="parTrans" cxnId="{01FF222C-623A-5841-B23D-E1AA81865392}">
      <dgm:prSet/>
      <dgm:spPr/>
      <dgm:t>
        <a:bodyPr/>
        <a:lstStyle/>
        <a:p>
          <a:endParaRPr lang="es-ES_tradnl"/>
        </a:p>
      </dgm:t>
    </dgm:pt>
    <dgm:pt modelId="{DDDC2922-3ECB-F24D-BD0E-AE0E434A2657}" type="sibTrans" cxnId="{01FF222C-623A-5841-B23D-E1AA81865392}">
      <dgm:prSet/>
      <dgm:spPr/>
      <dgm:t>
        <a:bodyPr/>
        <a:lstStyle/>
        <a:p>
          <a:endParaRPr lang="es-ES_tradnl"/>
        </a:p>
      </dgm:t>
    </dgm:pt>
    <dgm:pt modelId="{986B0903-CE99-8046-B314-FFDF9A6F184C}">
      <dgm:prSet phldrT="[Texto]" custT="1"/>
      <dgm:spPr>
        <a:solidFill>
          <a:srgbClr val="2EB1B5"/>
        </a:solidFill>
      </dgm:spPr>
      <dgm:t>
        <a:bodyPr/>
        <a:lstStyle/>
        <a:p>
          <a:r>
            <a:rPr lang="es-PE" sz="1600" dirty="0" smtClean="0"/>
            <a:t>Estrategia de Respaldo</a:t>
          </a:r>
          <a:endParaRPr lang="es-PE" sz="1600" dirty="0"/>
        </a:p>
      </dgm:t>
    </dgm:pt>
    <dgm:pt modelId="{5CBC7718-DD50-654B-BCEC-5B0B7295627C}" type="parTrans" cxnId="{C1A20701-37D4-A442-A00B-1A68638933D0}">
      <dgm:prSet/>
      <dgm:spPr/>
      <dgm:t>
        <a:bodyPr/>
        <a:lstStyle/>
        <a:p>
          <a:endParaRPr lang="es-ES_tradnl"/>
        </a:p>
      </dgm:t>
    </dgm:pt>
    <dgm:pt modelId="{E091C76A-432A-D247-8A2E-FE51C92CD4C4}" type="sibTrans" cxnId="{C1A20701-37D4-A442-A00B-1A68638933D0}">
      <dgm:prSet/>
      <dgm:spPr/>
      <dgm:t>
        <a:bodyPr/>
        <a:lstStyle/>
        <a:p>
          <a:endParaRPr lang="es-ES_tradnl"/>
        </a:p>
      </dgm:t>
    </dgm:pt>
    <dgm:pt modelId="{1F5216E0-E13B-8448-9773-101A482B3753}">
      <dgm:prSet phldrT="[Texto]" custT="1"/>
      <dgm:spPr>
        <a:solidFill>
          <a:srgbClr val="2EB1B5"/>
        </a:solidFill>
      </dgm:spPr>
      <dgm:t>
        <a:bodyPr/>
        <a:lstStyle/>
        <a:p>
          <a:r>
            <a:rPr lang="es-PE" sz="1600" dirty="0" smtClean="0"/>
            <a:t>Estrategia de Restauración</a:t>
          </a:r>
          <a:endParaRPr lang="es-PE" sz="1600" dirty="0"/>
        </a:p>
      </dgm:t>
    </dgm:pt>
    <dgm:pt modelId="{7F8D6FCD-1D9C-3640-8E82-E1A5F1FE69D9}" type="parTrans" cxnId="{DF5E644A-A984-C749-A0ED-85CDFE0DCFD4}">
      <dgm:prSet/>
      <dgm:spPr/>
      <dgm:t>
        <a:bodyPr/>
        <a:lstStyle/>
        <a:p>
          <a:endParaRPr lang="es-ES_tradnl"/>
        </a:p>
      </dgm:t>
    </dgm:pt>
    <dgm:pt modelId="{C82803AC-7504-6A4A-B9E6-4FA4B64AE92A}" type="sibTrans" cxnId="{DF5E644A-A984-C749-A0ED-85CDFE0DCFD4}">
      <dgm:prSet/>
      <dgm:spPr/>
      <dgm:t>
        <a:bodyPr/>
        <a:lstStyle/>
        <a:p>
          <a:endParaRPr lang="es-ES_tradnl"/>
        </a:p>
      </dgm:t>
    </dgm:pt>
    <dgm:pt modelId="{1C1067FD-E418-4B60-B9E3-ACF1A4CBDC81}" type="pres">
      <dgm:prSet presAssocID="{6EC1C1F4-B068-49DD-8085-E83DE5FE91C0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s-PE"/>
        </a:p>
      </dgm:t>
    </dgm:pt>
    <dgm:pt modelId="{3777373B-7A8D-4433-8A8C-4992208C3102}" type="pres">
      <dgm:prSet presAssocID="{F8AC1D50-8DEC-42E2-996D-CF1010A8B2A4}" presName="parentText" presStyleLbl="node1" presStyleIdx="0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es-PE"/>
        </a:p>
      </dgm:t>
    </dgm:pt>
    <dgm:pt modelId="{77C821BE-E8B1-43B2-BC83-DA1F290CCBAD}" type="pres">
      <dgm:prSet presAssocID="{D92CC6DE-1600-4B15-AB03-51E3F49D26E4}" presName="spacer" presStyleCnt="0"/>
      <dgm:spPr/>
    </dgm:pt>
    <dgm:pt modelId="{A4D8D73C-5407-8D40-8223-221104B74110}" type="pres">
      <dgm:prSet presAssocID="{B8BC8E13-0EDB-2D41-839F-8F7A0F49BBE5}" presName="parentText" presStyleLbl="node1" presStyleIdx="1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es-ES_tradnl"/>
        </a:p>
      </dgm:t>
    </dgm:pt>
    <dgm:pt modelId="{28445610-5BE3-5C48-A155-AC32BDEF774F}" type="pres">
      <dgm:prSet presAssocID="{6AA0A006-9EAA-AC4D-947E-9F0A8D409E39}" presName="spacer" presStyleCnt="0"/>
      <dgm:spPr/>
    </dgm:pt>
    <dgm:pt modelId="{67CBCE31-5451-6B4A-9D19-C611AB236AA6}" type="pres">
      <dgm:prSet presAssocID="{EF92B161-3182-4544-AF5F-71ED1FA693B3}" presName="parentText" presStyleLbl="node1" presStyleIdx="2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es-ES_tradnl"/>
        </a:p>
      </dgm:t>
    </dgm:pt>
    <dgm:pt modelId="{91DADD25-761F-C64E-A4D4-FD2EA5DACB86}" type="pres">
      <dgm:prSet presAssocID="{DDDC2922-3ECB-F24D-BD0E-AE0E434A2657}" presName="spacer" presStyleCnt="0"/>
      <dgm:spPr/>
    </dgm:pt>
    <dgm:pt modelId="{63D40FB1-B2F8-3743-BA2C-999873C09D37}" type="pres">
      <dgm:prSet presAssocID="{986B0903-CE99-8046-B314-FFDF9A6F184C}" presName="parentText" presStyleLbl="node1" presStyleIdx="3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es-ES_tradnl"/>
        </a:p>
      </dgm:t>
    </dgm:pt>
    <dgm:pt modelId="{EEEBD925-C1E2-C042-B9DF-6DD32C64D00D}" type="pres">
      <dgm:prSet presAssocID="{E091C76A-432A-D247-8A2E-FE51C92CD4C4}" presName="spacer" presStyleCnt="0"/>
      <dgm:spPr/>
    </dgm:pt>
    <dgm:pt modelId="{334C8BB7-8697-AD47-A150-682C4A756D22}" type="pres">
      <dgm:prSet presAssocID="{1F5216E0-E13B-8448-9773-101A482B3753}" presName="parentText" presStyleLbl="node1" presStyleIdx="4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es-ES_tradnl"/>
        </a:p>
      </dgm:t>
    </dgm:pt>
  </dgm:ptLst>
  <dgm:cxnLst>
    <dgm:cxn modelId="{8F299412-9ED5-4DEE-A8CF-4E0F884EEADC}" srcId="{6EC1C1F4-B068-49DD-8085-E83DE5FE91C0}" destId="{F8AC1D50-8DEC-42E2-996D-CF1010A8B2A4}" srcOrd="0" destOrd="0" parTransId="{786E19C0-B5FB-4042-A047-1BE4F50904A1}" sibTransId="{D92CC6DE-1600-4B15-AB03-51E3F49D26E4}"/>
    <dgm:cxn modelId="{8446A69A-07E4-AB43-839D-041B869709EE}" type="presOf" srcId="{986B0903-CE99-8046-B314-FFDF9A6F184C}" destId="{63D40FB1-B2F8-3743-BA2C-999873C09D37}" srcOrd="0" destOrd="0" presId="urn:microsoft.com/office/officeart/2005/8/layout/vList2"/>
    <dgm:cxn modelId="{DF5E644A-A984-C749-A0ED-85CDFE0DCFD4}" srcId="{6EC1C1F4-B068-49DD-8085-E83DE5FE91C0}" destId="{1F5216E0-E13B-8448-9773-101A482B3753}" srcOrd="4" destOrd="0" parTransId="{7F8D6FCD-1D9C-3640-8E82-E1A5F1FE69D9}" sibTransId="{C82803AC-7504-6A4A-B9E6-4FA4B64AE92A}"/>
    <dgm:cxn modelId="{17E7714C-3727-F14A-A218-BFDAD7B60E19}" type="presOf" srcId="{1F5216E0-E13B-8448-9773-101A482B3753}" destId="{334C8BB7-8697-AD47-A150-682C4A756D22}" srcOrd="0" destOrd="0" presId="urn:microsoft.com/office/officeart/2005/8/layout/vList2"/>
    <dgm:cxn modelId="{01FF222C-623A-5841-B23D-E1AA81865392}" srcId="{6EC1C1F4-B068-49DD-8085-E83DE5FE91C0}" destId="{EF92B161-3182-4544-AF5F-71ED1FA693B3}" srcOrd="2" destOrd="0" parTransId="{3E52DF89-4805-264D-A81E-0A322B12122B}" sibTransId="{DDDC2922-3ECB-F24D-BD0E-AE0E434A2657}"/>
    <dgm:cxn modelId="{EACFAC1E-5D70-0043-A240-D3EA5002E361}" type="presOf" srcId="{EF92B161-3182-4544-AF5F-71ED1FA693B3}" destId="{67CBCE31-5451-6B4A-9D19-C611AB236AA6}" srcOrd="0" destOrd="0" presId="urn:microsoft.com/office/officeart/2005/8/layout/vList2"/>
    <dgm:cxn modelId="{27945257-B3F4-8F4D-A6E6-361787A1D834}" type="presOf" srcId="{6EC1C1F4-B068-49DD-8085-E83DE5FE91C0}" destId="{1C1067FD-E418-4B60-B9E3-ACF1A4CBDC81}" srcOrd="0" destOrd="0" presId="urn:microsoft.com/office/officeart/2005/8/layout/vList2"/>
    <dgm:cxn modelId="{2DC87D9E-9322-9148-9752-E0B705DAA85C}" type="presOf" srcId="{F8AC1D50-8DEC-42E2-996D-CF1010A8B2A4}" destId="{3777373B-7A8D-4433-8A8C-4992208C3102}" srcOrd="0" destOrd="0" presId="urn:microsoft.com/office/officeart/2005/8/layout/vList2"/>
    <dgm:cxn modelId="{5E94125A-9335-A042-A877-9EF0A50DCAAD}" type="presOf" srcId="{B8BC8E13-0EDB-2D41-839F-8F7A0F49BBE5}" destId="{A4D8D73C-5407-8D40-8223-221104B74110}" srcOrd="0" destOrd="0" presId="urn:microsoft.com/office/officeart/2005/8/layout/vList2"/>
    <dgm:cxn modelId="{C1A20701-37D4-A442-A00B-1A68638933D0}" srcId="{6EC1C1F4-B068-49DD-8085-E83DE5FE91C0}" destId="{986B0903-CE99-8046-B314-FFDF9A6F184C}" srcOrd="3" destOrd="0" parTransId="{5CBC7718-DD50-654B-BCEC-5B0B7295627C}" sibTransId="{E091C76A-432A-D247-8A2E-FE51C92CD4C4}"/>
    <dgm:cxn modelId="{9B34D42B-B8A8-604A-9BB0-27557098C8FD}" srcId="{6EC1C1F4-B068-49DD-8085-E83DE5FE91C0}" destId="{B8BC8E13-0EDB-2D41-839F-8F7A0F49BBE5}" srcOrd="1" destOrd="0" parTransId="{B7ECF30E-311E-2C41-9D8E-4C2C3855DF15}" sibTransId="{6AA0A006-9EAA-AC4D-947E-9F0A8D409E39}"/>
    <dgm:cxn modelId="{9B39CCD1-32B7-4F4E-9629-DF3C543ADEB7}" type="presParOf" srcId="{1C1067FD-E418-4B60-B9E3-ACF1A4CBDC81}" destId="{3777373B-7A8D-4433-8A8C-4992208C3102}" srcOrd="0" destOrd="0" presId="urn:microsoft.com/office/officeart/2005/8/layout/vList2"/>
    <dgm:cxn modelId="{DA07DC3D-F3C5-FD4E-9D7D-EEE3101655A7}" type="presParOf" srcId="{1C1067FD-E418-4B60-B9E3-ACF1A4CBDC81}" destId="{77C821BE-E8B1-43B2-BC83-DA1F290CCBAD}" srcOrd="1" destOrd="0" presId="urn:microsoft.com/office/officeart/2005/8/layout/vList2"/>
    <dgm:cxn modelId="{BBB738E7-97E5-6643-9E3B-35B887CF4CC8}" type="presParOf" srcId="{1C1067FD-E418-4B60-B9E3-ACF1A4CBDC81}" destId="{A4D8D73C-5407-8D40-8223-221104B74110}" srcOrd="2" destOrd="0" presId="urn:microsoft.com/office/officeart/2005/8/layout/vList2"/>
    <dgm:cxn modelId="{A8BBAD6D-E32F-4E45-92A7-F76E5A1733C6}" type="presParOf" srcId="{1C1067FD-E418-4B60-B9E3-ACF1A4CBDC81}" destId="{28445610-5BE3-5C48-A155-AC32BDEF774F}" srcOrd="3" destOrd="0" presId="urn:microsoft.com/office/officeart/2005/8/layout/vList2"/>
    <dgm:cxn modelId="{23706DCC-8393-6244-8B7C-7784B2193ECF}" type="presParOf" srcId="{1C1067FD-E418-4B60-B9E3-ACF1A4CBDC81}" destId="{67CBCE31-5451-6B4A-9D19-C611AB236AA6}" srcOrd="4" destOrd="0" presId="urn:microsoft.com/office/officeart/2005/8/layout/vList2"/>
    <dgm:cxn modelId="{F73F0C78-DC71-E944-840F-89CA1DC25451}" type="presParOf" srcId="{1C1067FD-E418-4B60-B9E3-ACF1A4CBDC81}" destId="{91DADD25-761F-C64E-A4D4-FD2EA5DACB86}" srcOrd="5" destOrd="0" presId="urn:microsoft.com/office/officeart/2005/8/layout/vList2"/>
    <dgm:cxn modelId="{8790D38F-171F-DE4E-949B-2C39AAF71C2E}" type="presParOf" srcId="{1C1067FD-E418-4B60-B9E3-ACF1A4CBDC81}" destId="{63D40FB1-B2F8-3743-BA2C-999873C09D37}" srcOrd="6" destOrd="0" presId="urn:microsoft.com/office/officeart/2005/8/layout/vList2"/>
    <dgm:cxn modelId="{AC60189C-4F92-924C-9882-82923DFE8C57}" type="presParOf" srcId="{1C1067FD-E418-4B60-B9E3-ACF1A4CBDC81}" destId="{EEEBD925-C1E2-C042-B9DF-6DD32C64D00D}" srcOrd="7" destOrd="0" presId="urn:microsoft.com/office/officeart/2005/8/layout/vList2"/>
    <dgm:cxn modelId="{F15024DD-81ED-FE4F-88C7-D24426ABD7BC}" type="presParOf" srcId="{1C1067FD-E418-4B60-B9E3-ACF1A4CBDC81}" destId="{334C8BB7-8697-AD47-A150-682C4A756D22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B580A023-5473-4C09-9AD3-6CC4F2BD479E}" type="doc">
      <dgm:prSet loTypeId="urn:microsoft.com/office/officeart/2005/8/layout/orgChart1" loCatId="hierarchy" qsTypeId="urn:microsoft.com/office/officeart/2005/8/quickstyle/simple1" qsCatId="simple" csTypeId="urn:microsoft.com/office/officeart/2005/8/colors/accent5_5" csCatId="accent5" phldr="1"/>
      <dgm:spPr/>
      <dgm:t>
        <a:bodyPr/>
        <a:lstStyle/>
        <a:p>
          <a:endParaRPr lang="es-PE"/>
        </a:p>
      </dgm:t>
    </dgm:pt>
    <dgm:pt modelId="{1CFEDA62-E621-45B6-81B7-7CA0DF19BE0B}">
      <dgm:prSet phldrT="[Texto]" custT="1"/>
      <dgm:spPr>
        <a:solidFill>
          <a:srgbClr val="68529F"/>
        </a:solidFill>
      </dgm:spPr>
      <dgm:t>
        <a:bodyPr/>
        <a:lstStyle/>
        <a:p>
          <a:r>
            <a:rPr lang="es-PE" sz="1800" dirty="0" smtClean="0"/>
            <a:t>A.12.3 Copia de seguridad</a:t>
          </a:r>
          <a:endParaRPr lang="es-PE" sz="1800" dirty="0"/>
        </a:p>
      </dgm:t>
    </dgm:pt>
    <dgm:pt modelId="{0700C93D-A4CB-4B96-84CE-B49B558F2924}" type="parTrans" cxnId="{962284F4-41E6-448E-B0EA-6DE27CB57514}">
      <dgm:prSet/>
      <dgm:spPr/>
      <dgm:t>
        <a:bodyPr/>
        <a:lstStyle/>
        <a:p>
          <a:endParaRPr lang="es-PE" sz="1100"/>
        </a:p>
      </dgm:t>
    </dgm:pt>
    <dgm:pt modelId="{CC81F1C7-7291-4FD3-9E79-50C95E843145}" type="sibTrans" cxnId="{962284F4-41E6-448E-B0EA-6DE27CB57514}">
      <dgm:prSet/>
      <dgm:spPr/>
      <dgm:t>
        <a:bodyPr/>
        <a:lstStyle/>
        <a:p>
          <a:endParaRPr lang="es-PE" sz="1100"/>
        </a:p>
      </dgm:t>
    </dgm:pt>
    <dgm:pt modelId="{B7448275-937C-4470-B239-A762E1132317}">
      <dgm:prSet phldrT="[Texto]" custT="1"/>
      <dgm:spPr>
        <a:solidFill>
          <a:srgbClr val="2EB1B5"/>
        </a:solidFill>
        <a:ln>
          <a:noFill/>
        </a:ln>
      </dgm:spPr>
      <dgm:t>
        <a:bodyPr/>
        <a:lstStyle/>
        <a:p>
          <a:r>
            <a:rPr lang="es-PE" sz="1800" dirty="0" smtClean="0"/>
            <a:t>A.12.3.1 Copia de seguridad de la información</a:t>
          </a:r>
          <a:endParaRPr lang="es-PE" sz="1800" dirty="0"/>
        </a:p>
      </dgm:t>
    </dgm:pt>
    <dgm:pt modelId="{CA607E5C-476B-4007-B45D-E7B821BE4112}" type="sibTrans" cxnId="{557D5898-F67E-4653-9DDF-2E1305C2481E}">
      <dgm:prSet/>
      <dgm:spPr/>
      <dgm:t>
        <a:bodyPr/>
        <a:lstStyle/>
        <a:p>
          <a:endParaRPr lang="es-PE" sz="1100"/>
        </a:p>
      </dgm:t>
    </dgm:pt>
    <dgm:pt modelId="{10422A0E-8626-46F6-B887-21E25845322D}" type="parTrans" cxnId="{557D5898-F67E-4653-9DDF-2E1305C2481E}">
      <dgm:prSet/>
      <dgm:spPr>
        <a:ln w="28575">
          <a:solidFill>
            <a:schemeClr val="bg1">
              <a:lumMod val="75000"/>
            </a:schemeClr>
          </a:solidFill>
        </a:ln>
      </dgm:spPr>
      <dgm:t>
        <a:bodyPr/>
        <a:lstStyle/>
        <a:p>
          <a:endParaRPr lang="es-PE" sz="1100"/>
        </a:p>
      </dgm:t>
    </dgm:pt>
    <dgm:pt modelId="{70708133-7F97-45BF-9C10-8090A18B77E8}" type="pres">
      <dgm:prSet presAssocID="{B580A023-5473-4C09-9AD3-6CC4F2BD479E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s-PE"/>
        </a:p>
      </dgm:t>
    </dgm:pt>
    <dgm:pt modelId="{8174BBFF-F76D-423D-968C-BB20383ABF41}" type="pres">
      <dgm:prSet presAssocID="{1CFEDA62-E621-45B6-81B7-7CA0DF19BE0B}" presName="hierRoot1" presStyleCnt="0">
        <dgm:presLayoutVars>
          <dgm:hierBranch val="init"/>
        </dgm:presLayoutVars>
      </dgm:prSet>
      <dgm:spPr/>
    </dgm:pt>
    <dgm:pt modelId="{1B53207F-2457-4DE1-8E76-DD6FCF0A3A94}" type="pres">
      <dgm:prSet presAssocID="{1CFEDA62-E621-45B6-81B7-7CA0DF19BE0B}" presName="rootComposite1" presStyleCnt="0"/>
      <dgm:spPr/>
    </dgm:pt>
    <dgm:pt modelId="{126F27EB-EF2C-423D-B7FD-5E0219D7D588}" type="pres">
      <dgm:prSet presAssocID="{1CFEDA62-E621-45B6-81B7-7CA0DF19BE0B}" presName="rootText1" presStyleLbl="node0" presStyleIdx="0" presStyleCnt="1" custScaleX="124235" custScaleY="134469">
        <dgm:presLayoutVars>
          <dgm:chPref val="3"/>
        </dgm:presLayoutVars>
      </dgm:prSet>
      <dgm:spPr/>
      <dgm:t>
        <a:bodyPr/>
        <a:lstStyle/>
        <a:p>
          <a:endParaRPr lang="es-PE"/>
        </a:p>
      </dgm:t>
    </dgm:pt>
    <dgm:pt modelId="{5703174A-DFEC-47A6-87E0-B1E4BB26E639}" type="pres">
      <dgm:prSet presAssocID="{1CFEDA62-E621-45B6-81B7-7CA0DF19BE0B}" presName="rootConnector1" presStyleLbl="node1" presStyleIdx="0" presStyleCnt="0"/>
      <dgm:spPr/>
      <dgm:t>
        <a:bodyPr/>
        <a:lstStyle/>
        <a:p>
          <a:endParaRPr lang="es-PE"/>
        </a:p>
      </dgm:t>
    </dgm:pt>
    <dgm:pt modelId="{4E570361-5DD1-40A2-823E-C23403C3FF2E}" type="pres">
      <dgm:prSet presAssocID="{1CFEDA62-E621-45B6-81B7-7CA0DF19BE0B}" presName="hierChild2" presStyleCnt="0"/>
      <dgm:spPr/>
    </dgm:pt>
    <dgm:pt modelId="{C4281DFD-D887-41DA-B6F2-3FBADBA6C710}" type="pres">
      <dgm:prSet presAssocID="{10422A0E-8626-46F6-B887-21E25845322D}" presName="Name37" presStyleLbl="parChTrans1D2" presStyleIdx="0" presStyleCnt="1"/>
      <dgm:spPr/>
      <dgm:t>
        <a:bodyPr/>
        <a:lstStyle/>
        <a:p>
          <a:endParaRPr lang="es-PE"/>
        </a:p>
      </dgm:t>
    </dgm:pt>
    <dgm:pt modelId="{0023C08C-1429-4E5B-9FD2-CD840868C8AE}" type="pres">
      <dgm:prSet presAssocID="{B7448275-937C-4470-B239-A762E1132317}" presName="hierRoot2" presStyleCnt="0">
        <dgm:presLayoutVars>
          <dgm:hierBranch val="init"/>
        </dgm:presLayoutVars>
      </dgm:prSet>
      <dgm:spPr/>
    </dgm:pt>
    <dgm:pt modelId="{134AD17D-44F4-4C93-B854-49FB59ADB2CB}" type="pres">
      <dgm:prSet presAssocID="{B7448275-937C-4470-B239-A762E1132317}" presName="rootComposite" presStyleCnt="0"/>
      <dgm:spPr/>
    </dgm:pt>
    <dgm:pt modelId="{FC92D772-C01B-4D45-837B-3353756937D4}" type="pres">
      <dgm:prSet presAssocID="{B7448275-937C-4470-B239-A762E1132317}" presName="rootText" presStyleLbl="node2" presStyleIdx="0" presStyleCnt="1" custScaleY="148396">
        <dgm:presLayoutVars>
          <dgm:chPref val="3"/>
        </dgm:presLayoutVars>
      </dgm:prSet>
      <dgm:spPr/>
      <dgm:t>
        <a:bodyPr/>
        <a:lstStyle/>
        <a:p>
          <a:endParaRPr lang="es-PE"/>
        </a:p>
      </dgm:t>
    </dgm:pt>
    <dgm:pt modelId="{7B388FE9-2F2F-47A2-8064-C147FCA9A3F0}" type="pres">
      <dgm:prSet presAssocID="{B7448275-937C-4470-B239-A762E1132317}" presName="rootConnector" presStyleLbl="node2" presStyleIdx="0" presStyleCnt="1"/>
      <dgm:spPr/>
      <dgm:t>
        <a:bodyPr/>
        <a:lstStyle/>
        <a:p>
          <a:endParaRPr lang="es-PE"/>
        </a:p>
      </dgm:t>
    </dgm:pt>
    <dgm:pt modelId="{933D1101-4290-4C34-B9BE-5575210E76DA}" type="pres">
      <dgm:prSet presAssocID="{B7448275-937C-4470-B239-A762E1132317}" presName="hierChild4" presStyleCnt="0"/>
      <dgm:spPr/>
    </dgm:pt>
    <dgm:pt modelId="{AF997B2D-8C71-4B27-92CE-72C259828446}" type="pres">
      <dgm:prSet presAssocID="{B7448275-937C-4470-B239-A762E1132317}" presName="hierChild5" presStyleCnt="0"/>
      <dgm:spPr/>
    </dgm:pt>
    <dgm:pt modelId="{86D82236-6DBA-4A2B-9CCA-9CD93BEC42B5}" type="pres">
      <dgm:prSet presAssocID="{1CFEDA62-E621-45B6-81B7-7CA0DF19BE0B}" presName="hierChild3" presStyleCnt="0"/>
      <dgm:spPr/>
    </dgm:pt>
  </dgm:ptLst>
  <dgm:cxnLst>
    <dgm:cxn modelId="{08A39C70-D6DA-EA47-AF20-FA016762000A}" type="presOf" srcId="{B580A023-5473-4C09-9AD3-6CC4F2BD479E}" destId="{70708133-7F97-45BF-9C10-8090A18B77E8}" srcOrd="0" destOrd="0" presId="urn:microsoft.com/office/officeart/2005/8/layout/orgChart1"/>
    <dgm:cxn modelId="{031537E6-8BBA-0347-A917-9841C4433E79}" type="presOf" srcId="{B7448275-937C-4470-B239-A762E1132317}" destId="{7B388FE9-2F2F-47A2-8064-C147FCA9A3F0}" srcOrd="1" destOrd="0" presId="urn:microsoft.com/office/officeart/2005/8/layout/orgChart1"/>
    <dgm:cxn modelId="{557D5898-F67E-4653-9DDF-2E1305C2481E}" srcId="{1CFEDA62-E621-45B6-81B7-7CA0DF19BE0B}" destId="{B7448275-937C-4470-B239-A762E1132317}" srcOrd="0" destOrd="0" parTransId="{10422A0E-8626-46F6-B887-21E25845322D}" sibTransId="{CA607E5C-476B-4007-B45D-E7B821BE4112}"/>
    <dgm:cxn modelId="{8E45BA01-CE1E-2E41-84CE-2C4476735E54}" type="presOf" srcId="{1CFEDA62-E621-45B6-81B7-7CA0DF19BE0B}" destId="{126F27EB-EF2C-423D-B7FD-5E0219D7D588}" srcOrd="0" destOrd="0" presId="urn:microsoft.com/office/officeart/2005/8/layout/orgChart1"/>
    <dgm:cxn modelId="{736F933F-6088-C14F-BDA7-3CB1286A1C7B}" type="presOf" srcId="{10422A0E-8626-46F6-B887-21E25845322D}" destId="{C4281DFD-D887-41DA-B6F2-3FBADBA6C710}" srcOrd="0" destOrd="0" presId="urn:microsoft.com/office/officeart/2005/8/layout/orgChart1"/>
    <dgm:cxn modelId="{809BD886-EF3A-3C48-BDAC-AF4DFC08083D}" type="presOf" srcId="{B7448275-937C-4470-B239-A762E1132317}" destId="{FC92D772-C01B-4D45-837B-3353756937D4}" srcOrd="0" destOrd="0" presId="urn:microsoft.com/office/officeart/2005/8/layout/orgChart1"/>
    <dgm:cxn modelId="{4389EC14-90F1-EA4E-B855-C374732783AB}" type="presOf" srcId="{1CFEDA62-E621-45B6-81B7-7CA0DF19BE0B}" destId="{5703174A-DFEC-47A6-87E0-B1E4BB26E639}" srcOrd="1" destOrd="0" presId="urn:microsoft.com/office/officeart/2005/8/layout/orgChart1"/>
    <dgm:cxn modelId="{962284F4-41E6-448E-B0EA-6DE27CB57514}" srcId="{B580A023-5473-4C09-9AD3-6CC4F2BD479E}" destId="{1CFEDA62-E621-45B6-81B7-7CA0DF19BE0B}" srcOrd="0" destOrd="0" parTransId="{0700C93D-A4CB-4B96-84CE-B49B558F2924}" sibTransId="{CC81F1C7-7291-4FD3-9E79-50C95E843145}"/>
    <dgm:cxn modelId="{85A47E1C-B531-4D42-81AC-AD8B9D28E259}" type="presParOf" srcId="{70708133-7F97-45BF-9C10-8090A18B77E8}" destId="{8174BBFF-F76D-423D-968C-BB20383ABF41}" srcOrd="0" destOrd="0" presId="urn:microsoft.com/office/officeart/2005/8/layout/orgChart1"/>
    <dgm:cxn modelId="{2F025F26-48EF-794D-978E-C3012F7CC9BB}" type="presParOf" srcId="{8174BBFF-F76D-423D-968C-BB20383ABF41}" destId="{1B53207F-2457-4DE1-8E76-DD6FCF0A3A94}" srcOrd="0" destOrd="0" presId="urn:microsoft.com/office/officeart/2005/8/layout/orgChart1"/>
    <dgm:cxn modelId="{0333F6A5-37F8-3B4D-BB2A-DE3E7453720C}" type="presParOf" srcId="{1B53207F-2457-4DE1-8E76-DD6FCF0A3A94}" destId="{126F27EB-EF2C-423D-B7FD-5E0219D7D588}" srcOrd="0" destOrd="0" presId="urn:microsoft.com/office/officeart/2005/8/layout/orgChart1"/>
    <dgm:cxn modelId="{2A9BC539-2C8E-BB4A-BDF6-777C0736AE37}" type="presParOf" srcId="{1B53207F-2457-4DE1-8E76-DD6FCF0A3A94}" destId="{5703174A-DFEC-47A6-87E0-B1E4BB26E639}" srcOrd="1" destOrd="0" presId="urn:microsoft.com/office/officeart/2005/8/layout/orgChart1"/>
    <dgm:cxn modelId="{9A623FB6-B4DC-4542-8153-9A6F8BC54EA7}" type="presParOf" srcId="{8174BBFF-F76D-423D-968C-BB20383ABF41}" destId="{4E570361-5DD1-40A2-823E-C23403C3FF2E}" srcOrd="1" destOrd="0" presId="urn:microsoft.com/office/officeart/2005/8/layout/orgChart1"/>
    <dgm:cxn modelId="{9566F62A-BF3E-A145-8A0B-06E7BB335D72}" type="presParOf" srcId="{4E570361-5DD1-40A2-823E-C23403C3FF2E}" destId="{C4281DFD-D887-41DA-B6F2-3FBADBA6C710}" srcOrd="0" destOrd="0" presId="urn:microsoft.com/office/officeart/2005/8/layout/orgChart1"/>
    <dgm:cxn modelId="{C2B7E4F2-99B1-F742-9A65-64D27D7285BF}" type="presParOf" srcId="{4E570361-5DD1-40A2-823E-C23403C3FF2E}" destId="{0023C08C-1429-4E5B-9FD2-CD840868C8AE}" srcOrd="1" destOrd="0" presId="urn:microsoft.com/office/officeart/2005/8/layout/orgChart1"/>
    <dgm:cxn modelId="{82CAD33E-EF0F-C34B-B34E-2D002EA7EA52}" type="presParOf" srcId="{0023C08C-1429-4E5B-9FD2-CD840868C8AE}" destId="{134AD17D-44F4-4C93-B854-49FB59ADB2CB}" srcOrd="0" destOrd="0" presId="urn:microsoft.com/office/officeart/2005/8/layout/orgChart1"/>
    <dgm:cxn modelId="{44B981A3-40CF-8543-9804-BD80E5BB399A}" type="presParOf" srcId="{134AD17D-44F4-4C93-B854-49FB59ADB2CB}" destId="{FC92D772-C01B-4D45-837B-3353756937D4}" srcOrd="0" destOrd="0" presId="urn:microsoft.com/office/officeart/2005/8/layout/orgChart1"/>
    <dgm:cxn modelId="{696F8A01-606A-5E42-9B87-6067AB815AEF}" type="presParOf" srcId="{134AD17D-44F4-4C93-B854-49FB59ADB2CB}" destId="{7B388FE9-2F2F-47A2-8064-C147FCA9A3F0}" srcOrd="1" destOrd="0" presId="urn:microsoft.com/office/officeart/2005/8/layout/orgChart1"/>
    <dgm:cxn modelId="{7FC216EE-68B3-D240-AD94-0078124F5F50}" type="presParOf" srcId="{0023C08C-1429-4E5B-9FD2-CD840868C8AE}" destId="{933D1101-4290-4C34-B9BE-5575210E76DA}" srcOrd="1" destOrd="0" presId="urn:microsoft.com/office/officeart/2005/8/layout/orgChart1"/>
    <dgm:cxn modelId="{C83E05C6-37F4-1641-99E1-BD5B9C0DBFCB}" type="presParOf" srcId="{0023C08C-1429-4E5B-9FD2-CD840868C8AE}" destId="{AF997B2D-8C71-4B27-92CE-72C259828446}" srcOrd="2" destOrd="0" presId="urn:microsoft.com/office/officeart/2005/8/layout/orgChart1"/>
    <dgm:cxn modelId="{CC12C871-8178-EB44-9F88-1B78CCF7531C}" type="presParOf" srcId="{8174BBFF-F76D-423D-968C-BB20383ABF41}" destId="{86D82236-6DBA-4A2B-9CCA-9CD93BEC42B5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777373B-7A8D-4433-8A8C-4992208C3102}">
      <dsp:nvSpPr>
        <dsp:cNvPr id="0" name=""/>
        <dsp:cNvSpPr/>
      </dsp:nvSpPr>
      <dsp:spPr>
        <a:xfrm>
          <a:off x="0" y="20742"/>
          <a:ext cx="5709228" cy="505440"/>
        </a:xfrm>
        <a:prstGeom prst="roundRect">
          <a:avLst/>
        </a:prstGeom>
        <a:solidFill>
          <a:srgbClr val="2EB1B5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PE" sz="1600" kern="1200" dirty="0" smtClean="0"/>
            <a:t>Objetivo</a:t>
          </a:r>
          <a:endParaRPr lang="es-PE" sz="1600" kern="1200" dirty="0"/>
        </a:p>
      </dsp:txBody>
      <dsp:txXfrm>
        <a:off x="24674" y="45416"/>
        <a:ext cx="5659880" cy="456092"/>
      </dsp:txXfrm>
    </dsp:sp>
    <dsp:sp modelId="{C5308538-EF4D-CD48-BAEB-E2D3B8F3EB08}">
      <dsp:nvSpPr>
        <dsp:cNvPr id="0" name=""/>
        <dsp:cNvSpPr/>
      </dsp:nvSpPr>
      <dsp:spPr>
        <a:xfrm>
          <a:off x="0" y="603942"/>
          <a:ext cx="5709228" cy="505440"/>
        </a:xfrm>
        <a:prstGeom prst="roundRect">
          <a:avLst/>
        </a:prstGeom>
        <a:solidFill>
          <a:srgbClr val="2EB1B5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PE" sz="1600" kern="1200" dirty="0" smtClean="0"/>
            <a:t>Controles</a:t>
          </a:r>
          <a:endParaRPr lang="es-PE" sz="1600" kern="1200" dirty="0"/>
        </a:p>
      </dsp:txBody>
      <dsp:txXfrm>
        <a:off x="24674" y="628616"/>
        <a:ext cx="5659880" cy="456092"/>
      </dsp:txXfrm>
    </dsp:sp>
    <dsp:sp modelId="{47CC8258-1EF4-FA43-960E-1028F29145D7}">
      <dsp:nvSpPr>
        <dsp:cNvPr id="0" name=""/>
        <dsp:cNvSpPr/>
      </dsp:nvSpPr>
      <dsp:spPr>
        <a:xfrm>
          <a:off x="0" y="1187142"/>
          <a:ext cx="5709228" cy="505440"/>
        </a:xfrm>
        <a:prstGeom prst="roundRect">
          <a:avLst/>
        </a:prstGeom>
        <a:solidFill>
          <a:srgbClr val="2EB1B5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PE" sz="1600" kern="1200" dirty="0" err="1" smtClean="0"/>
            <a:t>Phishing</a:t>
          </a:r>
          <a:endParaRPr lang="es-PE" sz="1600" kern="1200" dirty="0"/>
        </a:p>
      </dsp:txBody>
      <dsp:txXfrm>
        <a:off x="24674" y="1211816"/>
        <a:ext cx="5659880" cy="456092"/>
      </dsp:txXfrm>
    </dsp:sp>
    <dsp:sp modelId="{3E67D419-2416-EA42-B41C-2D94C6F58CAD}">
      <dsp:nvSpPr>
        <dsp:cNvPr id="0" name=""/>
        <dsp:cNvSpPr/>
      </dsp:nvSpPr>
      <dsp:spPr>
        <a:xfrm>
          <a:off x="0" y="1742110"/>
          <a:ext cx="5709228" cy="505440"/>
        </a:xfrm>
        <a:prstGeom prst="roundRect">
          <a:avLst/>
        </a:prstGeom>
        <a:solidFill>
          <a:srgbClr val="2EB1B5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PE" sz="1600" kern="1200" dirty="0" smtClean="0"/>
            <a:t>SPAM</a:t>
          </a:r>
          <a:endParaRPr lang="es-PE" sz="1600" kern="1200" dirty="0"/>
        </a:p>
      </dsp:txBody>
      <dsp:txXfrm>
        <a:off x="24674" y="1766784"/>
        <a:ext cx="5659880" cy="456092"/>
      </dsp:txXfrm>
    </dsp:sp>
    <dsp:sp modelId="{BA000593-944A-A648-971F-B0D35F8F29EE}">
      <dsp:nvSpPr>
        <dsp:cNvPr id="0" name=""/>
        <dsp:cNvSpPr/>
      </dsp:nvSpPr>
      <dsp:spPr>
        <a:xfrm>
          <a:off x="0" y="2353542"/>
          <a:ext cx="5709228" cy="505440"/>
        </a:xfrm>
        <a:prstGeom prst="roundRect">
          <a:avLst/>
        </a:prstGeom>
        <a:solidFill>
          <a:srgbClr val="2EB1B5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PE" sz="1600" kern="1200" dirty="0" smtClean="0"/>
            <a:t>Malware</a:t>
          </a:r>
          <a:endParaRPr lang="es-PE" sz="1600" kern="1200" dirty="0"/>
        </a:p>
      </dsp:txBody>
      <dsp:txXfrm>
        <a:off x="24674" y="2378216"/>
        <a:ext cx="5659880" cy="45609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4281DFD-D887-41DA-B6F2-3FBADBA6C710}">
      <dsp:nvSpPr>
        <dsp:cNvPr id="0" name=""/>
        <dsp:cNvSpPr/>
      </dsp:nvSpPr>
      <dsp:spPr>
        <a:xfrm>
          <a:off x="4057967" y="1293134"/>
          <a:ext cx="91440" cy="403430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403430"/>
              </a:lnTo>
            </a:path>
          </a:pathLst>
        </a:custGeom>
        <a:noFill/>
        <a:ln w="28575" cap="flat" cmpd="sng" algn="ctr">
          <a:solidFill>
            <a:schemeClr val="bg1">
              <a:lumMod val="75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26F27EB-EF2C-423D-B7FD-5E0219D7D588}">
      <dsp:nvSpPr>
        <dsp:cNvPr id="0" name=""/>
        <dsp:cNvSpPr/>
      </dsp:nvSpPr>
      <dsp:spPr>
        <a:xfrm>
          <a:off x="2910348" y="1493"/>
          <a:ext cx="2386677" cy="1291641"/>
        </a:xfrm>
        <a:prstGeom prst="rect">
          <a:avLst/>
        </a:prstGeom>
        <a:solidFill>
          <a:srgbClr val="68529F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PE" sz="1800" kern="1200" dirty="0" smtClean="0"/>
            <a:t>A.12.2 Protección</a:t>
          </a:r>
          <a:br>
            <a:rPr lang="es-PE" sz="1800" kern="1200" dirty="0" smtClean="0"/>
          </a:br>
          <a:r>
            <a:rPr lang="es-PE" sz="1800" kern="1200" dirty="0" smtClean="0"/>
            <a:t>contra programas maliciosos</a:t>
          </a:r>
          <a:endParaRPr lang="es-PE" sz="1800" kern="1200" dirty="0"/>
        </a:p>
      </dsp:txBody>
      <dsp:txXfrm>
        <a:off x="2910348" y="1493"/>
        <a:ext cx="2386677" cy="1291641"/>
      </dsp:txXfrm>
    </dsp:sp>
    <dsp:sp modelId="{FC92D772-C01B-4D45-837B-3353756937D4}">
      <dsp:nvSpPr>
        <dsp:cNvPr id="0" name=""/>
        <dsp:cNvSpPr/>
      </dsp:nvSpPr>
      <dsp:spPr>
        <a:xfrm>
          <a:off x="3143138" y="1696565"/>
          <a:ext cx="1921098" cy="1425416"/>
        </a:xfrm>
        <a:prstGeom prst="rect">
          <a:avLst/>
        </a:prstGeom>
        <a:solidFill>
          <a:srgbClr val="2EB1B5"/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PE" sz="1800" kern="1200" dirty="0" smtClean="0"/>
            <a:t>A.12.2.1 Los</a:t>
          </a:r>
          <a:br>
            <a:rPr lang="es-PE" sz="1800" kern="1200" dirty="0" smtClean="0"/>
          </a:br>
          <a:r>
            <a:rPr lang="es-PE" sz="1800" kern="1200" dirty="0" smtClean="0"/>
            <a:t>controles contra</a:t>
          </a:r>
          <a:br>
            <a:rPr lang="es-PE" sz="1800" kern="1200" dirty="0" smtClean="0"/>
          </a:br>
          <a:r>
            <a:rPr lang="es-PE" sz="1800" kern="1200" dirty="0" smtClean="0"/>
            <a:t>el malware</a:t>
          </a:r>
          <a:endParaRPr lang="es-PE" sz="1800" kern="1200" dirty="0"/>
        </a:p>
      </dsp:txBody>
      <dsp:txXfrm>
        <a:off x="3143138" y="1696565"/>
        <a:ext cx="1921098" cy="142541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777373B-7A8D-4433-8A8C-4992208C3102}">
      <dsp:nvSpPr>
        <dsp:cNvPr id="0" name=""/>
        <dsp:cNvSpPr/>
      </dsp:nvSpPr>
      <dsp:spPr>
        <a:xfrm>
          <a:off x="0" y="20742"/>
          <a:ext cx="5709228" cy="505440"/>
        </a:xfrm>
        <a:prstGeom prst="roundRect">
          <a:avLst/>
        </a:prstGeom>
        <a:solidFill>
          <a:srgbClr val="2EB1B5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PE" sz="1600" kern="1200" dirty="0" smtClean="0"/>
            <a:t>Objetivo</a:t>
          </a:r>
          <a:endParaRPr lang="es-PE" sz="1600" kern="1200" dirty="0"/>
        </a:p>
      </dsp:txBody>
      <dsp:txXfrm>
        <a:off x="24674" y="45416"/>
        <a:ext cx="5659880" cy="456092"/>
      </dsp:txXfrm>
    </dsp:sp>
    <dsp:sp modelId="{A4D8D73C-5407-8D40-8223-221104B74110}">
      <dsp:nvSpPr>
        <dsp:cNvPr id="0" name=""/>
        <dsp:cNvSpPr/>
      </dsp:nvSpPr>
      <dsp:spPr>
        <a:xfrm>
          <a:off x="0" y="603942"/>
          <a:ext cx="5709228" cy="505440"/>
        </a:xfrm>
        <a:prstGeom prst="roundRect">
          <a:avLst/>
        </a:prstGeom>
        <a:solidFill>
          <a:srgbClr val="2EB1B5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PE" sz="1600" kern="1200" dirty="0" smtClean="0"/>
            <a:t>Concepto</a:t>
          </a:r>
          <a:endParaRPr lang="es-PE" sz="1600" kern="1200" dirty="0"/>
        </a:p>
      </dsp:txBody>
      <dsp:txXfrm>
        <a:off x="24674" y="628616"/>
        <a:ext cx="5659880" cy="456092"/>
      </dsp:txXfrm>
    </dsp:sp>
    <dsp:sp modelId="{67CBCE31-5451-6B4A-9D19-C611AB236AA6}">
      <dsp:nvSpPr>
        <dsp:cNvPr id="0" name=""/>
        <dsp:cNvSpPr/>
      </dsp:nvSpPr>
      <dsp:spPr>
        <a:xfrm>
          <a:off x="0" y="1187142"/>
          <a:ext cx="5709228" cy="505440"/>
        </a:xfrm>
        <a:prstGeom prst="roundRect">
          <a:avLst/>
        </a:prstGeom>
        <a:solidFill>
          <a:srgbClr val="2EB1B5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PE" sz="1600" kern="1200" dirty="0" smtClean="0"/>
            <a:t>Tipos</a:t>
          </a:r>
          <a:endParaRPr lang="es-PE" sz="1600" kern="1200" dirty="0"/>
        </a:p>
      </dsp:txBody>
      <dsp:txXfrm>
        <a:off x="24674" y="1211816"/>
        <a:ext cx="5659880" cy="456092"/>
      </dsp:txXfrm>
    </dsp:sp>
    <dsp:sp modelId="{63D40FB1-B2F8-3743-BA2C-999873C09D37}">
      <dsp:nvSpPr>
        <dsp:cNvPr id="0" name=""/>
        <dsp:cNvSpPr/>
      </dsp:nvSpPr>
      <dsp:spPr>
        <a:xfrm>
          <a:off x="0" y="1770342"/>
          <a:ext cx="5709228" cy="505440"/>
        </a:xfrm>
        <a:prstGeom prst="roundRect">
          <a:avLst/>
        </a:prstGeom>
        <a:solidFill>
          <a:srgbClr val="2EB1B5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PE" sz="1600" kern="1200" dirty="0" smtClean="0"/>
            <a:t>Estrategia de Respaldo</a:t>
          </a:r>
          <a:endParaRPr lang="es-PE" sz="1600" kern="1200" dirty="0"/>
        </a:p>
      </dsp:txBody>
      <dsp:txXfrm>
        <a:off x="24674" y="1795016"/>
        <a:ext cx="5659880" cy="456092"/>
      </dsp:txXfrm>
    </dsp:sp>
    <dsp:sp modelId="{334C8BB7-8697-AD47-A150-682C4A756D22}">
      <dsp:nvSpPr>
        <dsp:cNvPr id="0" name=""/>
        <dsp:cNvSpPr/>
      </dsp:nvSpPr>
      <dsp:spPr>
        <a:xfrm>
          <a:off x="0" y="2353542"/>
          <a:ext cx="5709228" cy="505440"/>
        </a:xfrm>
        <a:prstGeom prst="roundRect">
          <a:avLst/>
        </a:prstGeom>
        <a:solidFill>
          <a:srgbClr val="2EB1B5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PE" sz="1600" kern="1200" dirty="0" smtClean="0"/>
            <a:t>Estrategia de Restauración</a:t>
          </a:r>
          <a:endParaRPr lang="es-PE" sz="1600" kern="1200" dirty="0"/>
        </a:p>
      </dsp:txBody>
      <dsp:txXfrm>
        <a:off x="24674" y="2378216"/>
        <a:ext cx="5659880" cy="45609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4281DFD-D887-41DA-B6F2-3FBADBA6C710}">
      <dsp:nvSpPr>
        <dsp:cNvPr id="0" name=""/>
        <dsp:cNvSpPr/>
      </dsp:nvSpPr>
      <dsp:spPr>
        <a:xfrm>
          <a:off x="4057967" y="1293134"/>
          <a:ext cx="91440" cy="403430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403430"/>
              </a:lnTo>
            </a:path>
          </a:pathLst>
        </a:custGeom>
        <a:noFill/>
        <a:ln w="28575" cap="flat" cmpd="sng" algn="ctr">
          <a:solidFill>
            <a:schemeClr val="bg1">
              <a:lumMod val="75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26F27EB-EF2C-423D-B7FD-5E0219D7D588}">
      <dsp:nvSpPr>
        <dsp:cNvPr id="0" name=""/>
        <dsp:cNvSpPr/>
      </dsp:nvSpPr>
      <dsp:spPr>
        <a:xfrm>
          <a:off x="2910348" y="1493"/>
          <a:ext cx="2386677" cy="1291641"/>
        </a:xfrm>
        <a:prstGeom prst="rect">
          <a:avLst/>
        </a:prstGeom>
        <a:solidFill>
          <a:srgbClr val="68529F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PE" sz="1800" kern="1200" dirty="0" smtClean="0"/>
            <a:t>A.12.3 Copia de seguridad</a:t>
          </a:r>
          <a:endParaRPr lang="es-PE" sz="1800" kern="1200" dirty="0"/>
        </a:p>
      </dsp:txBody>
      <dsp:txXfrm>
        <a:off x="2910348" y="1493"/>
        <a:ext cx="2386677" cy="1291641"/>
      </dsp:txXfrm>
    </dsp:sp>
    <dsp:sp modelId="{FC92D772-C01B-4D45-837B-3353756937D4}">
      <dsp:nvSpPr>
        <dsp:cNvPr id="0" name=""/>
        <dsp:cNvSpPr/>
      </dsp:nvSpPr>
      <dsp:spPr>
        <a:xfrm>
          <a:off x="3143138" y="1696565"/>
          <a:ext cx="1921098" cy="1425416"/>
        </a:xfrm>
        <a:prstGeom prst="rect">
          <a:avLst/>
        </a:prstGeom>
        <a:solidFill>
          <a:srgbClr val="2EB1B5"/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PE" sz="1800" kern="1200" dirty="0" smtClean="0"/>
            <a:t>A.12.3.1 Copia de seguridad de la información</a:t>
          </a:r>
          <a:endParaRPr lang="es-PE" sz="1800" kern="1200" dirty="0"/>
        </a:p>
      </dsp:txBody>
      <dsp:txXfrm>
        <a:off x="3143138" y="1696565"/>
        <a:ext cx="1921098" cy="142541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932DC7-834F-6148-86AF-F72164F7FFC1}" type="datetimeFigureOut">
              <a:rPr lang="es-ES" smtClean="0"/>
              <a:t>21/10/2020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EA6FD5-E31A-6D44-BE80-5A94AC694FC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2651842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DF1720-AE80-4069-8D89-2C76E8AFD874}" type="datetimeFigureOut">
              <a:rPr lang="es-PE" smtClean="0"/>
              <a:t>21/10/2020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6700CA-E45F-416D-B659-25554F846B4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248527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2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671847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PE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Compartiremos</a:t>
            </a:r>
            <a:r>
              <a:rPr lang="es-PE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la importancia de aplicar </a:t>
            </a:r>
            <a:r>
              <a:rPr lang="es-PE" sz="1200" dirty="0" smtClean="0"/>
              <a:t>controles de detección, prevención y recuperación para la protección contra el malware</a:t>
            </a:r>
            <a:r>
              <a:rPr lang="es-PE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3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283731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PE" sz="1200" baseline="0" dirty="0" smtClean="0"/>
              <a:t>Analizaremos cuando y que tipo de información se debe respaldar, revisaremos los tipos de respaldo e identificaremos los horarios más favorables para realizar el respldo de información.</a:t>
            </a:r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4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6594059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960438" y="1143000"/>
            <a:ext cx="4937125" cy="30861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5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1344541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6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5621571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7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2728478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s-MX" dirty="0" smtClean="0"/>
              <a:t>Un </a:t>
            </a:r>
            <a:r>
              <a:rPr lang="es-MX" b="1" dirty="0" smtClean="0"/>
              <a:t>virus informático</a:t>
            </a:r>
            <a:r>
              <a:rPr lang="es-MX" dirty="0" smtClean="0"/>
              <a:t> es un malware que tiene por objeto alterar el normal funcionamiento de la computadora, sin el permiso o el conocimiento del usuario.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MX" dirty="0" smtClean="0"/>
              <a:t>Busca a través de los archivos (o la memoria) indicadores de código malicioso, usando el perfil de un virus (algunas veces llamados "firmas") provisto por el vendedor.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MX" dirty="0" smtClean="0"/>
              <a:t>Los programas de software antivirus también pueden eliminar virus de los archivos, aislar archivos que no pueden ser limpiados, y descubrir programas de tipo caballo de Troya y gusanos. Algunos pueden recuperar datos borrados por virus.</a:t>
            </a:r>
          </a:p>
          <a:p>
            <a:pPr marL="171450" marR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s-MX" dirty="0" smtClean="0"/>
              <a:t>La manera más fácil de recuperar datos una vez que estos hayan sido comprometidos, corrompidos o borrados es por medio de los Respaldos.</a:t>
            </a:r>
          </a:p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9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99162240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s-PE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 fundamental entrenar y concientizar al personal de la entidad sobre los aspectos de seguridad de la información. El personal de la entidad debe involucrarse y asumir un rol protagónico y responsable como parte de un sistema integral de seguridad.</a:t>
            </a:r>
            <a:endParaRPr lang="es-MX" dirty="0" smtClean="0"/>
          </a:p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10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83501110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s-PE" sz="1200" dirty="0" smtClean="0"/>
              <a:t>Por lo general, la víctima recibirá un  email pidiendo comprobar o confirmar una cuenta con un proveedor de banco o servicio, números de cuenta, códigos PIN o detalles de tarjetas de crédito.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PE" dirty="0" smtClean="0"/>
              <a:t>A veces se utiliza mensajería instantánea (SMS phishing)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PE" dirty="0" smtClean="0"/>
              <a:t>Incluso</a:t>
            </a:r>
            <a:r>
              <a:rPr lang="es-PE" baseline="0" dirty="0" smtClean="0"/>
              <a:t> el contacto telefónico ha sido probado.</a:t>
            </a:r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11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9275108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s-PE" sz="1200" dirty="0" smtClean="0"/>
              <a:t>Un filtro de SPAM puede aliviar</a:t>
            </a:r>
            <a:r>
              <a:rPr lang="es-PE" sz="1200" baseline="0" dirty="0" smtClean="0"/>
              <a:t> en algo la carga de éste.</a:t>
            </a:r>
          </a:p>
          <a:p>
            <a:pPr marL="171450" marR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s-PE" sz="1200" baseline="0" dirty="0" smtClean="0"/>
              <a:t>Hay algunas cosas que los usuarios de computadoras pueden hacer para combatir el spam. Estos son: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s-PE" sz="1200" baseline="0" dirty="0" smtClean="0"/>
              <a:t>Nunca conteste un mensaje spam – incluso de “opt out” o “cancelar” crea más spam.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s-PE" sz="1200" baseline="0" dirty="0" smtClean="0"/>
              <a:t>No reenvíe mensajes de spam y no distribuya direcciones de correo electrónico.</a:t>
            </a:r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12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01894180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s-PE" sz="1200" dirty="0" smtClean="0"/>
              <a:t>Un escáner de</a:t>
            </a:r>
            <a:r>
              <a:rPr lang="es-PE" sz="1200" baseline="0" dirty="0" smtClean="0"/>
              <a:t> virus por si solo no es suficiente para detener el malware, debido a las acciones humanas, tales como la apertura de cualquier actividad sospechosa e-mails o correos electrónicos de remitentes desconocidos.</a:t>
            </a:r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13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6129612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14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65882633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s-PE" dirty="0" smtClean="0"/>
              <a:t>La diferencia entre</a:t>
            </a:r>
            <a:r>
              <a:rPr lang="es-PE" baseline="0" dirty="0" smtClean="0"/>
              <a:t> los virus y gusanos son cada vez más borrosas.</a:t>
            </a:r>
          </a:p>
          <a:p>
            <a:pPr marL="171450" marR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s-PE" baseline="0" dirty="0" smtClean="0"/>
              <a:t>Un virus puede atacar a su anfitrión a través de los diferentes operadores e infectar nuevos portadores mediante la transferencia de códigos activos en estos nuevos portadores.</a:t>
            </a:r>
          </a:p>
          <a:p>
            <a:pPr marL="171450" marR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s-PE" baseline="0" dirty="0" smtClean="0"/>
              <a:t>Un gusano en cambio no depende de un usuario para propagarse: tan pronto como se activa el gusano puede propagarse automáticamente. Esto es lo que permite a los gusanos infectar grandes áreas en un corto periodo de tiempo.</a:t>
            </a:r>
            <a:endParaRPr lang="es-PE" dirty="0" smtClean="0"/>
          </a:p>
          <a:p>
            <a:pPr marL="171450" marR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15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83677322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960438" y="1143000"/>
            <a:ext cx="4937125" cy="30861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16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98653027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17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69019692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18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5917577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19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83182945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20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36363989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21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74948013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22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14444836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23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8879900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24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05792915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25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42837391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26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0143669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27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1798379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28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78099543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29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71727133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960438" y="1143000"/>
            <a:ext cx="4937125" cy="30861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33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3720193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PE" dirty="0" smtClean="0"/>
              <a:t>Se compartieron y analizaron todos los medios</a:t>
            </a:r>
            <a:r>
              <a:rPr lang="es-PE" baseline="0" dirty="0" smtClean="0"/>
              <a:t> por los que pueden ingresar virus a una red.</a:t>
            </a:r>
            <a:endParaRPr lang="es-PE" dirty="0" smtClean="0"/>
          </a:p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34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80198877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PE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Finalmente, se establecieron las reglas y aspectos que deben ser tomas en cuenta para ejecutar un respaldo de información.</a:t>
            </a:r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35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588165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30851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  <p:extLst>
      <p:ext uri="{BB962C8B-B14F-4D97-AF65-F5344CB8AC3E}">
        <p14:creationId xmlns:p14="http://schemas.microsoft.com/office/powerpoint/2010/main" val="294313177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ema - 1 Imagen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118249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ema - 1 Imagen Centra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355087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ema - 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52614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402113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Agrupar 13"/>
          <p:cNvGrpSpPr/>
          <p:nvPr userDrawn="1"/>
        </p:nvGrpSpPr>
        <p:grpSpPr>
          <a:xfrm>
            <a:off x="944054" y="5343295"/>
            <a:ext cx="7804380" cy="215444"/>
            <a:chOff x="944054" y="5343295"/>
            <a:chExt cx="7804380" cy="215444"/>
          </a:xfrm>
        </p:grpSpPr>
        <p:sp>
          <p:nvSpPr>
            <p:cNvPr id="7" name="TextBox 7"/>
            <p:cNvSpPr txBox="1"/>
            <p:nvPr userDrawn="1"/>
          </p:nvSpPr>
          <p:spPr>
            <a:xfrm>
              <a:off x="944054" y="5343295"/>
              <a:ext cx="2507418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kern="1200" dirty="0" smtClean="0">
                  <a:solidFill>
                    <a:schemeClr val="bg1">
                      <a:lumMod val="50000"/>
                    </a:schemeClr>
                  </a:solidFill>
                  <a:latin typeface="+mn-lt"/>
                  <a:ea typeface="+mn-ea"/>
                  <a:cs typeface="Calibri"/>
                  <a:sym typeface="Wingdings"/>
                </a:rPr>
                <a:t>SEGURIDAD Y CONTINUIDAD DE SISTEMAS  </a:t>
              </a:r>
              <a:r>
                <a:rPr lang="en-US" sz="800" dirty="0" smtClean="0">
                  <a:solidFill>
                    <a:schemeClr val="bg1">
                      <a:lumMod val="50000"/>
                    </a:schemeClr>
                  </a:solidFill>
                  <a:latin typeface="+mn-lt"/>
                  <a:ea typeface="Wingdings"/>
                  <a:cs typeface="Calibri"/>
                  <a:sym typeface="Wingdings"/>
                </a:rPr>
                <a:t></a:t>
              </a:r>
              <a:r>
                <a:rPr lang="en-US" sz="800" kern="1200" dirty="0" smtClean="0">
                  <a:solidFill>
                    <a:schemeClr val="bg1">
                      <a:lumMod val="50000"/>
                    </a:schemeClr>
                  </a:solidFill>
                  <a:latin typeface="+mn-lt"/>
                  <a:ea typeface="+mn-ea"/>
                  <a:cs typeface="Calibri"/>
                  <a:sym typeface="Wingdings"/>
                </a:rPr>
                <a:t>  SESIÓN 07</a:t>
              </a:r>
              <a:endParaRPr lang="en-US" sz="800" dirty="0">
                <a:solidFill>
                  <a:schemeClr val="bg1">
                    <a:lumMod val="50000"/>
                  </a:schemeClr>
                </a:solidFill>
                <a:latin typeface="+mn-lt"/>
                <a:cs typeface="Calibri"/>
              </a:endParaRPr>
            </a:p>
          </p:txBody>
        </p:sp>
        <p:sp>
          <p:nvSpPr>
            <p:cNvPr id="8" name="Rectangle 3"/>
            <p:cNvSpPr/>
            <p:nvPr userDrawn="1"/>
          </p:nvSpPr>
          <p:spPr>
            <a:xfrm>
              <a:off x="7379148" y="5371562"/>
              <a:ext cx="1369286" cy="18466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r"/>
              <a:r>
                <a:rPr lang="es-ES_tradnl" sz="600" dirty="0" smtClean="0">
                  <a:solidFill>
                    <a:schemeClr val="bg1">
                      <a:lumMod val="50000"/>
                    </a:schemeClr>
                  </a:solidFill>
                </a:rPr>
                <a:t>© </a:t>
              </a:r>
              <a:r>
                <a:rPr lang="es-ES_tradnl" sz="600" dirty="0" smtClean="0">
                  <a:solidFill>
                    <a:schemeClr val="bg1">
                      <a:lumMod val="50000"/>
                    </a:schemeClr>
                  </a:solidFill>
                </a:rPr>
                <a:t>ISIL</a:t>
              </a:r>
              <a:r>
                <a:rPr lang="es-ES_tradnl" sz="600" dirty="0" smtClean="0">
                  <a:solidFill>
                    <a:schemeClr val="bg1">
                      <a:lumMod val="50000"/>
                    </a:schemeClr>
                  </a:solidFill>
                </a:rPr>
                <a:t>. Todos los derechos reservados</a:t>
              </a:r>
              <a:endParaRPr lang="es-ES_tradnl" sz="6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pic>
        <p:nvPicPr>
          <p:cNvPr id="9" name="Imagen 8"/>
          <p:cNvPicPr>
            <a:picLocks noChangeAspect="1"/>
          </p:cNvPicPr>
          <p:nvPr userDrawn="1"/>
        </p:nvPicPr>
        <p:blipFill>
          <a:blip r:embed="rId8" cstate="screen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5300" y="5322472"/>
            <a:ext cx="448573" cy="250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59323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6" r:id="rId3"/>
    <p:sldLayoutId id="2147483657" r:id="rId4"/>
    <p:sldLayoutId id="2147483659" r:id="rId5"/>
    <p:sldLayoutId id="2147483662" r:id="rId6"/>
  </p:sldLayoutIdLst>
  <p:timing>
    <p:tnLst>
      <p:par>
        <p:cTn id="1" dur="indefinite" restart="never" nodeType="tmRoot"/>
      </p:par>
    </p:tnLst>
  </p:timing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4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www.youtube.com/watch?v=EQmkBHTcsbw" TargetMode="Externa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gi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6.jpe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8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1F8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5" name="CuadroTexto 14"/>
          <p:cNvSpPr txBox="1"/>
          <p:nvPr/>
        </p:nvSpPr>
        <p:spPr>
          <a:xfrm>
            <a:off x="3175138" y="3008050"/>
            <a:ext cx="5500550" cy="8863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77800" indent="-177800">
              <a:lnSpc>
                <a:spcPct val="120000"/>
              </a:lnSpc>
              <a:buSzPct val="80000"/>
              <a:buFont typeface="Arial"/>
              <a:buChar char="•"/>
            </a:pPr>
            <a:r>
              <a:rPr lang="es-ES" sz="1600" dirty="0" smtClean="0">
                <a:solidFill>
                  <a:srgbClr val="FFFFFF"/>
                </a:solidFill>
              </a:rPr>
              <a:t>Protección contra código malicioso</a:t>
            </a:r>
          </a:p>
          <a:p>
            <a:pPr marL="177800" indent="-177800">
              <a:lnSpc>
                <a:spcPct val="120000"/>
              </a:lnSpc>
              <a:buSzPct val="80000"/>
              <a:buFont typeface="Arial"/>
              <a:buChar char="•"/>
            </a:pPr>
            <a:r>
              <a:rPr lang="es-ES" sz="1600" dirty="0" smtClean="0">
                <a:solidFill>
                  <a:srgbClr val="FFFFFF"/>
                </a:solidFill>
              </a:rPr>
              <a:t>Copia de seguridad</a:t>
            </a:r>
          </a:p>
          <a:p>
            <a:pPr marL="177800" indent="-177800">
              <a:lnSpc>
                <a:spcPct val="120000"/>
              </a:lnSpc>
              <a:buSzPct val="80000"/>
              <a:buFont typeface="Arial"/>
              <a:buChar char="•"/>
            </a:pPr>
            <a:endParaRPr lang="es-ES" sz="1600" dirty="0">
              <a:solidFill>
                <a:srgbClr val="FFFFFF"/>
              </a:solidFill>
            </a:endParaRPr>
          </a:p>
        </p:txBody>
      </p:sp>
      <p:cxnSp>
        <p:nvCxnSpPr>
          <p:cNvPr id="8" name="Conector recto 7"/>
          <p:cNvCxnSpPr/>
          <p:nvPr/>
        </p:nvCxnSpPr>
        <p:spPr>
          <a:xfrm>
            <a:off x="3044504" y="1710303"/>
            <a:ext cx="0" cy="774883"/>
          </a:xfrm>
          <a:prstGeom prst="line">
            <a:avLst/>
          </a:prstGeom>
          <a:ln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CuadroTexto 9"/>
          <p:cNvSpPr txBox="1"/>
          <p:nvPr/>
        </p:nvSpPr>
        <p:spPr>
          <a:xfrm>
            <a:off x="2045305" y="1802569"/>
            <a:ext cx="964250" cy="89255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s-ES" sz="5800" dirty="0" smtClean="0">
                <a:solidFill>
                  <a:srgbClr val="FFFFFF"/>
                </a:solidFill>
              </a:rPr>
              <a:t>07</a:t>
            </a:r>
            <a:endParaRPr lang="es-ES" sz="5800" dirty="0">
              <a:solidFill>
                <a:srgbClr val="FFFFFF"/>
              </a:solidFill>
            </a:endParaRPr>
          </a:p>
        </p:txBody>
      </p:sp>
      <p:sp>
        <p:nvSpPr>
          <p:cNvPr id="11" name="CuadroTexto 10"/>
          <p:cNvSpPr txBox="1"/>
          <p:nvPr/>
        </p:nvSpPr>
        <p:spPr>
          <a:xfrm>
            <a:off x="2096830" y="1674447"/>
            <a:ext cx="873152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s-ES" dirty="0" smtClean="0">
                <a:solidFill>
                  <a:schemeClr val="bg1"/>
                </a:solidFill>
              </a:rPr>
              <a:t>SESIÓN</a:t>
            </a:r>
            <a:endParaRPr lang="es-ES" dirty="0">
              <a:solidFill>
                <a:schemeClr val="bg1"/>
              </a:solidFill>
            </a:endParaRPr>
          </a:p>
        </p:txBody>
      </p:sp>
      <p:sp>
        <p:nvSpPr>
          <p:cNvPr id="14" name="CuadroTexto 13"/>
          <p:cNvSpPr txBox="1"/>
          <p:nvPr/>
        </p:nvSpPr>
        <p:spPr>
          <a:xfrm>
            <a:off x="3175729" y="1710303"/>
            <a:ext cx="4596087" cy="8658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85000"/>
              </a:lnSpc>
            </a:pPr>
            <a:r>
              <a:rPr lang="es-ES" sz="2200" b="1" dirty="0" smtClean="0">
                <a:solidFill>
                  <a:srgbClr val="FFFFFF"/>
                </a:solidFill>
              </a:rPr>
              <a:t>PROTECCIÓN CONTRA</a:t>
            </a:r>
            <a:br>
              <a:rPr lang="es-ES" sz="2200" b="1" dirty="0" smtClean="0">
                <a:solidFill>
                  <a:srgbClr val="FFFFFF"/>
                </a:solidFill>
              </a:rPr>
            </a:br>
            <a:r>
              <a:rPr lang="es-ES" sz="2200" b="1" dirty="0" smtClean="0">
                <a:solidFill>
                  <a:srgbClr val="FFFFFF"/>
                </a:solidFill>
              </a:rPr>
              <a:t>CÓDIGO MALICIOSO</a:t>
            </a:r>
          </a:p>
          <a:p>
            <a:pPr>
              <a:lnSpc>
                <a:spcPct val="85000"/>
              </a:lnSpc>
            </a:pPr>
            <a:r>
              <a:rPr lang="es-ES" sz="2200" b="1" dirty="0" smtClean="0">
                <a:solidFill>
                  <a:srgbClr val="FFFFFF"/>
                </a:solidFill>
              </a:rPr>
              <a:t>CÓDIGO DE SEGURIDAD</a:t>
            </a:r>
            <a:endParaRPr lang="es-ES" sz="2200" b="1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71759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/>
          <p:nvPr/>
        </p:nvSpPr>
        <p:spPr>
          <a:xfrm>
            <a:off x="1045721" y="2611279"/>
            <a:ext cx="7052558" cy="6155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725" algn="ctr">
              <a:buSzPct val="100000"/>
              <a:tabLst>
                <a:tab pos="121285" algn="l"/>
              </a:tabLst>
            </a:pPr>
            <a:r>
              <a:rPr lang="en-US" sz="2000" spc="-10" dirty="0" err="1">
                <a:cs typeface="Source Sans Pro"/>
              </a:rPr>
              <a:t>Protege</a:t>
            </a:r>
            <a:r>
              <a:rPr lang="en-US" sz="2000" spc="-10" dirty="0">
                <a:cs typeface="Source Sans Pro"/>
              </a:rPr>
              <a:t> las </a:t>
            </a:r>
            <a:r>
              <a:rPr lang="en-US" sz="2000" spc="-10" dirty="0" err="1">
                <a:cs typeface="Source Sans Pro"/>
              </a:rPr>
              <a:t>instalaciones</a:t>
            </a:r>
            <a:r>
              <a:rPr lang="en-US" sz="2000" spc="-10" dirty="0">
                <a:cs typeface="Source Sans Pro"/>
              </a:rPr>
              <a:t> de </a:t>
            </a:r>
            <a:r>
              <a:rPr lang="en-US" sz="2000" spc="-10" dirty="0" err="1">
                <a:cs typeface="Source Sans Pro"/>
              </a:rPr>
              <a:t>procesamiento</a:t>
            </a:r>
            <a:r>
              <a:rPr lang="en-US" sz="2000" spc="-10" dirty="0">
                <a:cs typeface="Source Sans Pro"/>
              </a:rPr>
              <a:t> de </a:t>
            </a:r>
            <a:r>
              <a:rPr lang="en-US" sz="2000" spc="-10" dirty="0" err="1">
                <a:cs typeface="Source Sans Pro"/>
              </a:rPr>
              <a:t>información</a:t>
            </a:r>
            <a:r>
              <a:rPr lang="en-US" sz="2000" spc="-10" dirty="0">
                <a:cs typeface="Source Sans Pro"/>
              </a:rPr>
              <a:t> contra </a:t>
            </a:r>
            <a:r>
              <a:rPr lang="en-US" sz="2000" spc="-10" dirty="0" err="1">
                <a:cs typeface="Source Sans Pro"/>
              </a:rPr>
              <a:t>código</a:t>
            </a:r>
            <a:r>
              <a:rPr lang="en-US" sz="2000" spc="-10" dirty="0">
                <a:cs typeface="Source Sans Pro"/>
              </a:rPr>
              <a:t> </a:t>
            </a:r>
            <a:r>
              <a:rPr lang="en-US" sz="2000" spc="-10" dirty="0" err="1">
                <a:cs typeface="Source Sans Pro"/>
              </a:rPr>
              <a:t>malicioso</a:t>
            </a:r>
            <a:r>
              <a:rPr lang="en-US" sz="2000" spc="-10" dirty="0">
                <a:cs typeface="Source Sans Pro"/>
              </a:rPr>
              <a:t> y contra la </a:t>
            </a:r>
            <a:r>
              <a:rPr lang="en-US" sz="2000" spc="-10" dirty="0" err="1">
                <a:cs typeface="Source Sans Pro"/>
              </a:rPr>
              <a:t>pérdida</a:t>
            </a:r>
            <a:r>
              <a:rPr lang="en-US" sz="2000" spc="-10" dirty="0">
                <a:cs typeface="Source Sans Pro"/>
              </a:rPr>
              <a:t> de </a:t>
            </a:r>
            <a:r>
              <a:rPr lang="en-US" sz="2000" spc="-10" dirty="0" err="1">
                <a:cs typeface="Source Sans Pro"/>
              </a:rPr>
              <a:t>datos</a:t>
            </a:r>
            <a:endParaRPr lang="en-US" sz="2000" spc="-10" dirty="0">
              <a:cs typeface="Source Sans Pro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897346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512024" y="331345"/>
            <a:ext cx="1945800" cy="2000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1300" dirty="0" smtClean="0">
                <a:solidFill>
                  <a:srgbClr val="438AD7"/>
                </a:solidFill>
              </a:rPr>
              <a:t>/</a:t>
            </a:r>
            <a:r>
              <a:rPr lang="en-US" sz="1300" dirty="0">
                <a:solidFill>
                  <a:srgbClr val="438AD7"/>
                </a:solidFill>
              </a:rPr>
              <a:t> </a:t>
            </a:r>
            <a:r>
              <a:rPr lang="en-US" sz="1300" dirty="0" smtClean="0">
                <a:solidFill>
                  <a:srgbClr val="438AD7"/>
                </a:solidFill>
              </a:rPr>
              <a:t>OBJETIVOS DE LA SESIÓN</a:t>
            </a:r>
            <a:endParaRPr lang="en-US" sz="1300" dirty="0">
              <a:solidFill>
                <a:srgbClr val="438AD7"/>
              </a:solidFill>
            </a:endParaRPr>
          </a:p>
        </p:txBody>
      </p:sp>
      <p:sp>
        <p:nvSpPr>
          <p:cNvPr id="10" name="CuadroTexto 9"/>
          <p:cNvSpPr txBox="1"/>
          <p:nvPr/>
        </p:nvSpPr>
        <p:spPr>
          <a:xfrm>
            <a:off x="3480357" y="959599"/>
            <a:ext cx="2183287" cy="58477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PE" sz="1600" dirty="0"/>
              <a:t>Protección contra código malicioso</a:t>
            </a:r>
          </a:p>
        </p:txBody>
      </p:sp>
      <p:pic>
        <p:nvPicPr>
          <p:cNvPr id="11" name="Picture 4" descr="Resultado de imagen para phishi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6127" y="1715249"/>
            <a:ext cx="6231747" cy="35053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9277864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512024" y="331345"/>
            <a:ext cx="1945800" cy="2000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1300" dirty="0" smtClean="0">
                <a:solidFill>
                  <a:srgbClr val="438AD7"/>
                </a:solidFill>
              </a:rPr>
              <a:t>/</a:t>
            </a:r>
            <a:r>
              <a:rPr lang="en-US" sz="1300" dirty="0">
                <a:solidFill>
                  <a:srgbClr val="438AD7"/>
                </a:solidFill>
              </a:rPr>
              <a:t> </a:t>
            </a:r>
            <a:r>
              <a:rPr lang="en-US" sz="1300" dirty="0" smtClean="0">
                <a:solidFill>
                  <a:srgbClr val="438AD7"/>
                </a:solidFill>
              </a:rPr>
              <a:t>OBJETIVOS DE LA SESIÓN</a:t>
            </a:r>
            <a:endParaRPr lang="en-US" sz="1300" dirty="0">
              <a:solidFill>
                <a:srgbClr val="438AD7"/>
              </a:solidFill>
            </a:endParaRPr>
          </a:p>
        </p:txBody>
      </p:sp>
      <p:sp>
        <p:nvSpPr>
          <p:cNvPr id="5" name="CuadroTexto 4"/>
          <p:cNvSpPr txBox="1"/>
          <p:nvPr/>
        </p:nvSpPr>
        <p:spPr>
          <a:xfrm>
            <a:off x="3480357" y="959599"/>
            <a:ext cx="2183287" cy="33855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PE" sz="1600" dirty="0"/>
              <a:t>Copia de Seguridad</a:t>
            </a:r>
          </a:p>
        </p:txBody>
      </p:sp>
      <p:pic>
        <p:nvPicPr>
          <p:cNvPr id="7" name="Picture 2" descr="Resultado de imagen para copia de seguridad backup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4656" y="1704975"/>
            <a:ext cx="6794688" cy="33973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022620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1F8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7" name="Rectangle 3"/>
          <p:cNvSpPr/>
          <p:nvPr/>
        </p:nvSpPr>
        <p:spPr>
          <a:xfrm>
            <a:off x="424252" y="3703125"/>
            <a:ext cx="7966170" cy="480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2800" b="1" dirty="0" smtClean="0">
                <a:solidFill>
                  <a:schemeClr val="bg1"/>
                </a:solidFill>
                <a:latin typeface="Calibri"/>
                <a:cs typeface="Calibri"/>
              </a:rPr>
              <a:t>/ </a:t>
            </a:r>
            <a:r>
              <a:rPr lang="es-PE" sz="2800" b="1" dirty="0">
                <a:solidFill>
                  <a:schemeClr val="bg1"/>
                </a:solidFill>
                <a:cs typeface="Calibri"/>
              </a:rPr>
              <a:t>PROTECCIÓN </a:t>
            </a:r>
            <a:r>
              <a:rPr lang="es-PE" sz="2800" b="1" dirty="0" smtClean="0">
                <a:solidFill>
                  <a:schemeClr val="bg1"/>
                </a:solidFill>
                <a:cs typeface="Calibri"/>
              </a:rPr>
              <a:t>CONTRA CÓDIGO </a:t>
            </a:r>
            <a:r>
              <a:rPr lang="es-PE" sz="2800" b="1" dirty="0">
                <a:solidFill>
                  <a:schemeClr val="bg1"/>
                </a:solidFill>
                <a:cs typeface="Calibri"/>
              </a:rPr>
              <a:t>MALICIOSO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094338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/>
          <p:nvPr/>
        </p:nvSpPr>
        <p:spPr>
          <a:xfrm>
            <a:off x="512024" y="331345"/>
            <a:ext cx="6032614" cy="2000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1300" dirty="0" smtClean="0">
                <a:solidFill>
                  <a:srgbClr val="438AD7"/>
                </a:solidFill>
              </a:rPr>
              <a:t>/ </a:t>
            </a:r>
            <a:r>
              <a:rPr lang="en-US" sz="1300" dirty="0">
                <a:solidFill>
                  <a:srgbClr val="438AD7"/>
                </a:solidFill>
              </a:rPr>
              <a:t>PROTECCIÓN CONTRA CÓDIGO MALICIOSO</a:t>
            </a:r>
          </a:p>
        </p:txBody>
      </p:sp>
      <p:sp>
        <p:nvSpPr>
          <p:cNvPr id="8" name="CuadroTexto 7"/>
          <p:cNvSpPr txBox="1"/>
          <p:nvPr/>
        </p:nvSpPr>
        <p:spPr>
          <a:xfrm>
            <a:off x="5804034" y="-163629"/>
            <a:ext cx="914400" cy="914400"/>
          </a:xfrm>
          <a:prstGeom prst="rect">
            <a:avLst/>
          </a:prstGeom>
        </p:spPr>
        <p:txBody>
          <a:bodyPr wrap="none" lIns="91425" tIns="91425" rIns="91425" bIns="91425" rtlCol="0" anchor="t" anchorCtr="0">
            <a:noAutofit/>
          </a:bodyPr>
          <a:lstStyle/>
          <a:p>
            <a:pPr marL="174625" indent="-174625">
              <a:spcBef>
                <a:spcPts val="0"/>
              </a:spcBef>
              <a:buSzPct val="100000"/>
            </a:pPr>
            <a:endParaRPr lang="es-ES_tradnl" sz="1500" dirty="0" smtClean="0">
              <a:latin typeface="Calibri"/>
              <a:cs typeface="Calibri"/>
            </a:endParaRPr>
          </a:p>
        </p:txBody>
      </p:sp>
      <p:sp>
        <p:nvSpPr>
          <p:cNvPr id="6" name="object 7"/>
          <p:cNvSpPr txBox="1"/>
          <p:nvPr/>
        </p:nvSpPr>
        <p:spPr>
          <a:xfrm>
            <a:off x="507698" y="954483"/>
            <a:ext cx="8167990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buSzPct val="100000"/>
              <a:tabLst>
                <a:tab pos="85725" algn="l"/>
              </a:tabLst>
            </a:pPr>
            <a:r>
              <a:rPr lang="en-US" sz="1600" b="1" spc="-10" dirty="0" smtClean="0">
                <a:cs typeface="Source Sans Pro"/>
              </a:rPr>
              <a:t>AGENDA</a:t>
            </a:r>
            <a:endParaRPr lang="en-US" sz="1600" b="1" spc="-10" dirty="0">
              <a:cs typeface="Source Sans Pro"/>
            </a:endParaRPr>
          </a:p>
        </p:txBody>
      </p:sp>
      <p:graphicFrame>
        <p:nvGraphicFramePr>
          <p:cNvPr id="7" name="Diagrama 6"/>
          <p:cNvGraphicFramePr/>
          <p:nvPr>
            <p:extLst>
              <p:ext uri="{D42A27DB-BD31-4B8C-83A1-F6EECF244321}">
                <p14:modId xmlns:p14="http://schemas.microsoft.com/office/powerpoint/2010/main" val="1509844079"/>
              </p:ext>
            </p:extLst>
          </p:nvPr>
        </p:nvGraphicFramePr>
        <p:xfrm>
          <a:off x="1717386" y="1273175"/>
          <a:ext cx="5709228" cy="2879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9270277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/>
          <p:nvPr/>
        </p:nvSpPr>
        <p:spPr>
          <a:xfrm>
            <a:off x="512024" y="331345"/>
            <a:ext cx="6032614" cy="2000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1300" dirty="0" smtClean="0">
                <a:solidFill>
                  <a:srgbClr val="438AD7"/>
                </a:solidFill>
              </a:rPr>
              <a:t>/ </a:t>
            </a:r>
            <a:r>
              <a:rPr lang="en-US" sz="1300" dirty="0">
                <a:solidFill>
                  <a:srgbClr val="438AD7"/>
                </a:solidFill>
              </a:rPr>
              <a:t>PROTECCIÓN CONTRA CÓDIGO MALICIOSO</a:t>
            </a:r>
          </a:p>
        </p:txBody>
      </p:sp>
      <p:sp>
        <p:nvSpPr>
          <p:cNvPr id="8" name="CuadroTexto 7"/>
          <p:cNvSpPr txBox="1"/>
          <p:nvPr/>
        </p:nvSpPr>
        <p:spPr>
          <a:xfrm>
            <a:off x="5804034" y="-163629"/>
            <a:ext cx="914400" cy="914400"/>
          </a:xfrm>
          <a:prstGeom prst="rect">
            <a:avLst/>
          </a:prstGeom>
        </p:spPr>
        <p:txBody>
          <a:bodyPr wrap="none" lIns="91425" tIns="91425" rIns="91425" bIns="91425" rtlCol="0" anchor="t" anchorCtr="0">
            <a:noAutofit/>
          </a:bodyPr>
          <a:lstStyle/>
          <a:p>
            <a:pPr marL="174625" indent="-174625">
              <a:spcBef>
                <a:spcPts val="0"/>
              </a:spcBef>
              <a:buSzPct val="100000"/>
            </a:pPr>
            <a:endParaRPr lang="es-ES_tradnl" sz="1500" dirty="0" smtClean="0">
              <a:latin typeface="Calibri"/>
              <a:cs typeface="Calibri"/>
            </a:endParaRPr>
          </a:p>
        </p:txBody>
      </p:sp>
      <p:graphicFrame>
        <p:nvGraphicFramePr>
          <p:cNvPr id="9" name="Diagrama 8"/>
          <p:cNvGraphicFramePr/>
          <p:nvPr>
            <p:extLst>
              <p:ext uri="{D42A27DB-BD31-4B8C-83A1-F6EECF244321}">
                <p14:modId xmlns:p14="http://schemas.microsoft.com/office/powerpoint/2010/main" val="1820240213"/>
              </p:ext>
            </p:extLst>
          </p:nvPr>
        </p:nvGraphicFramePr>
        <p:xfrm>
          <a:off x="468313" y="1260917"/>
          <a:ext cx="8207375" cy="31234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2826628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/>
        </p:nvSpPr>
        <p:spPr>
          <a:xfrm>
            <a:off x="3501965" y="4462160"/>
            <a:ext cx="214007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ES" altLang="es-ES" sz="1600" b="1" dirty="0" smtClean="0"/>
              <a:t>“PROTEJA SUS DATOS.”</a:t>
            </a:r>
            <a:endParaRPr lang="es-ES" altLang="es-ES" sz="1600" b="1" dirty="0"/>
          </a:p>
        </p:txBody>
      </p:sp>
      <p:sp>
        <p:nvSpPr>
          <p:cNvPr id="3" name="Rectángulo 2"/>
          <p:cNvSpPr/>
          <p:nvPr/>
        </p:nvSpPr>
        <p:spPr>
          <a:xfrm>
            <a:off x="2286000" y="4753801"/>
            <a:ext cx="4572000" cy="276999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s-ES" altLang="es-ES" sz="1200" dirty="0">
                <a:hlinkClick r:id="rId2"/>
              </a:rPr>
              <a:t>https://</a:t>
            </a:r>
            <a:r>
              <a:rPr lang="es-ES" altLang="es-ES" sz="1200" dirty="0" err="1">
                <a:hlinkClick r:id="rId2"/>
              </a:rPr>
              <a:t>www.youtube.com</a:t>
            </a:r>
            <a:r>
              <a:rPr lang="es-ES" altLang="es-ES" sz="1200" dirty="0">
                <a:hlinkClick r:id="rId2"/>
              </a:rPr>
              <a:t>/</a:t>
            </a:r>
            <a:r>
              <a:rPr lang="es-ES" altLang="es-ES" sz="1200" dirty="0" err="1">
                <a:hlinkClick r:id="rId2"/>
              </a:rPr>
              <a:t>watch?v</a:t>
            </a:r>
            <a:r>
              <a:rPr lang="es-ES" altLang="es-ES" sz="1200" dirty="0">
                <a:hlinkClick r:id="rId2"/>
              </a:rPr>
              <a:t>=</a:t>
            </a:r>
            <a:r>
              <a:rPr lang="es-ES" altLang="es-ES" sz="1200" dirty="0" err="1">
                <a:hlinkClick r:id="rId2"/>
              </a:rPr>
              <a:t>EQmkBHTcsbw</a:t>
            </a:r>
            <a:endParaRPr lang="es-ES" altLang="es-ES" sz="1200" dirty="0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0994" y="689711"/>
            <a:ext cx="5771992" cy="3875108"/>
          </a:xfrm>
          <a:prstGeom prst="rect">
            <a:avLst/>
          </a:prstGeom>
        </p:spPr>
      </p:pic>
      <p:sp>
        <p:nvSpPr>
          <p:cNvPr id="8" name="Rectangle 5"/>
          <p:cNvSpPr/>
          <p:nvPr/>
        </p:nvSpPr>
        <p:spPr>
          <a:xfrm>
            <a:off x="512024" y="331345"/>
            <a:ext cx="1945800" cy="2000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1300" dirty="0">
                <a:solidFill>
                  <a:srgbClr val="438AD7"/>
                </a:solidFill>
              </a:rPr>
              <a:t>/ </a:t>
            </a:r>
            <a:r>
              <a:rPr lang="en-US" sz="1300" dirty="0" smtClean="0">
                <a:solidFill>
                  <a:srgbClr val="438AD7"/>
                </a:solidFill>
              </a:rPr>
              <a:t>VIDEO</a:t>
            </a:r>
            <a:endParaRPr lang="en-US" sz="1300" dirty="0">
              <a:solidFill>
                <a:srgbClr val="438AD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33243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/>
          <p:nvPr/>
        </p:nvSpPr>
        <p:spPr>
          <a:xfrm>
            <a:off x="507698" y="954483"/>
            <a:ext cx="8167990" cy="9848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buSzPct val="100000"/>
              <a:tabLst>
                <a:tab pos="85725" algn="l"/>
              </a:tabLst>
            </a:pPr>
            <a:r>
              <a:rPr lang="en-US" sz="1600" b="1" spc="-10" dirty="0" smtClean="0">
                <a:cs typeface="Source Sans Pro"/>
              </a:rPr>
              <a:t>OBJETIVO</a:t>
            </a:r>
          </a:p>
          <a:p>
            <a:pPr>
              <a:buSzPct val="100000"/>
              <a:tabLst>
                <a:tab pos="85725" algn="l"/>
              </a:tabLst>
            </a:pPr>
            <a:r>
              <a:rPr lang="en-US" sz="1600" b="1" spc="-10" dirty="0">
                <a:cs typeface="Source Sans Pro"/>
              </a:rPr>
              <a:t>A.12.2 </a:t>
            </a:r>
            <a:r>
              <a:rPr lang="en-US" sz="1600" b="1" spc="-10" dirty="0" err="1">
                <a:cs typeface="Source Sans Pro"/>
              </a:rPr>
              <a:t>Protección</a:t>
            </a:r>
            <a:r>
              <a:rPr lang="en-US" sz="1600" b="1" spc="-10" dirty="0">
                <a:cs typeface="Source Sans Pro"/>
              </a:rPr>
              <a:t> contra el malware</a:t>
            </a:r>
          </a:p>
          <a:p>
            <a:pPr>
              <a:buSzPct val="100000"/>
              <a:tabLst>
                <a:tab pos="85725" algn="l"/>
              </a:tabLst>
            </a:pPr>
            <a:r>
              <a:rPr lang="en-US" sz="1600" b="1" spc="-10" dirty="0" err="1">
                <a:cs typeface="Source Sans Pro"/>
              </a:rPr>
              <a:t>Objetivo</a:t>
            </a:r>
            <a:r>
              <a:rPr lang="en-US" sz="1600" b="1" spc="-10" dirty="0">
                <a:cs typeface="Source Sans Pro"/>
              </a:rPr>
              <a:t>: </a:t>
            </a:r>
            <a:r>
              <a:rPr lang="en-US" sz="1600" spc="-10" dirty="0" err="1">
                <a:cs typeface="Source Sans Pro"/>
              </a:rPr>
              <a:t>Garantizar</a:t>
            </a:r>
            <a:r>
              <a:rPr lang="en-US" sz="1600" spc="-10" dirty="0">
                <a:cs typeface="Source Sans Pro"/>
              </a:rPr>
              <a:t> que la </a:t>
            </a:r>
            <a:r>
              <a:rPr lang="en-US" sz="1600" spc="-10" dirty="0" err="1">
                <a:cs typeface="Source Sans Pro"/>
              </a:rPr>
              <a:t>información</a:t>
            </a:r>
            <a:r>
              <a:rPr lang="en-US" sz="1600" spc="-10" dirty="0">
                <a:cs typeface="Source Sans Pro"/>
              </a:rPr>
              <a:t> y </a:t>
            </a:r>
            <a:r>
              <a:rPr lang="en-US" sz="1600" spc="-10" dirty="0" err="1">
                <a:cs typeface="Source Sans Pro"/>
              </a:rPr>
              <a:t>servicios</a:t>
            </a:r>
            <a:r>
              <a:rPr lang="en-US" sz="1600" spc="-10" dirty="0">
                <a:cs typeface="Source Sans Pro"/>
              </a:rPr>
              <a:t> de </a:t>
            </a:r>
            <a:r>
              <a:rPr lang="en-US" sz="1600" spc="-10" dirty="0" err="1">
                <a:cs typeface="Source Sans Pro"/>
              </a:rPr>
              <a:t>procesamiento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están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protegidos</a:t>
            </a:r>
            <a:r>
              <a:rPr lang="en-US" sz="1600" spc="-10" dirty="0">
                <a:cs typeface="Source Sans Pro"/>
              </a:rPr>
              <a:t> contra el malware.</a:t>
            </a:r>
          </a:p>
        </p:txBody>
      </p:sp>
      <p:sp>
        <p:nvSpPr>
          <p:cNvPr id="8" name="CuadroTexto 7"/>
          <p:cNvSpPr txBox="1"/>
          <p:nvPr/>
        </p:nvSpPr>
        <p:spPr>
          <a:xfrm>
            <a:off x="5804034" y="-163629"/>
            <a:ext cx="914400" cy="914400"/>
          </a:xfrm>
          <a:prstGeom prst="rect">
            <a:avLst/>
          </a:prstGeom>
        </p:spPr>
        <p:txBody>
          <a:bodyPr wrap="none" lIns="91425" tIns="91425" rIns="91425" bIns="91425" rtlCol="0" anchor="t" anchorCtr="0">
            <a:noAutofit/>
          </a:bodyPr>
          <a:lstStyle/>
          <a:p>
            <a:pPr marL="174625" indent="-174625">
              <a:spcBef>
                <a:spcPts val="0"/>
              </a:spcBef>
              <a:buSzPct val="100000"/>
            </a:pPr>
            <a:endParaRPr lang="es-ES_tradnl" sz="1500" dirty="0" smtClean="0">
              <a:latin typeface="Calibri"/>
              <a:cs typeface="Calibri"/>
            </a:endParaRPr>
          </a:p>
        </p:txBody>
      </p:sp>
      <p:sp>
        <p:nvSpPr>
          <p:cNvPr id="14" name="Rectangle 5"/>
          <p:cNvSpPr/>
          <p:nvPr/>
        </p:nvSpPr>
        <p:spPr>
          <a:xfrm>
            <a:off x="512024" y="331345"/>
            <a:ext cx="6032614" cy="2000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1300" dirty="0" smtClean="0">
                <a:solidFill>
                  <a:srgbClr val="438AD7"/>
                </a:solidFill>
              </a:rPr>
              <a:t>/ </a:t>
            </a:r>
            <a:r>
              <a:rPr lang="en-US" sz="1300" dirty="0">
                <a:solidFill>
                  <a:srgbClr val="438AD7"/>
                </a:solidFill>
              </a:rPr>
              <a:t>PROTECCIÓN CONTRA CÓDIGO MALICIOSO</a:t>
            </a:r>
          </a:p>
        </p:txBody>
      </p:sp>
    </p:spTree>
    <p:extLst>
      <p:ext uri="{BB962C8B-B14F-4D97-AF65-F5344CB8AC3E}">
        <p14:creationId xmlns:p14="http://schemas.microsoft.com/office/powerpoint/2010/main" val="4063094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/>
          <p:nvPr/>
        </p:nvSpPr>
        <p:spPr>
          <a:xfrm>
            <a:off x="507698" y="954483"/>
            <a:ext cx="8167990" cy="7386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buSzPct val="100000"/>
              <a:tabLst>
                <a:tab pos="85725" algn="l"/>
              </a:tabLst>
            </a:pPr>
            <a:r>
              <a:rPr lang="en-US" sz="1600" b="1" spc="-10" dirty="0">
                <a:cs typeface="Source Sans Pro"/>
              </a:rPr>
              <a:t>A.12.2.1 Los </a:t>
            </a:r>
            <a:r>
              <a:rPr lang="en-US" sz="1600" b="1" spc="-10" dirty="0" err="1">
                <a:cs typeface="Source Sans Pro"/>
              </a:rPr>
              <a:t>controles</a:t>
            </a:r>
            <a:r>
              <a:rPr lang="en-US" sz="1600" b="1" spc="-10" dirty="0">
                <a:cs typeface="Source Sans Pro"/>
              </a:rPr>
              <a:t> contra el malware</a:t>
            </a:r>
          </a:p>
          <a:p>
            <a:pPr>
              <a:buSzPct val="100000"/>
              <a:tabLst>
                <a:tab pos="85725" algn="l"/>
              </a:tabLst>
            </a:pPr>
            <a:r>
              <a:rPr lang="en-US" sz="1600" spc="-10" dirty="0" err="1">
                <a:cs typeface="Source Sans Pro"/>
              </a:rPr>
              <a:t>Deberán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llevarse</a:t>
            </a:r>
            <a:r>
              <a:rPr lang="en-US" sz="1600" spc="-10" dirty="0">
                <a:cs typeface="Source Sans Pro"/>
              </a:rPr>
              <a:t> a </a:t>
            </a:r>
            <a:r>
              <a:rPr lang="en-US" sz="1600" spc="-10" dirty="0" err="1">
                <a:cs typeface="Source Sans Pro"/>
              </a:rPr>
              <a:t>cabo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controles</a:t>
            </a:r>
            <a:r>
              <a:rPr lang="en-US" sz="1600" spc="-10" dirty="0">
                <a:cs typeface="Source Sans Pro"/>
              </a:rPr>
              <a:t> de </a:t>
            </a:r>
            <a:r>
              <a:rPr lang="en-US" sz="1600" spc="-10" dirty="0" err="1">
                <a:cs typeface="Source Sans Pro"/>
              </a:rPr>
              <a:t>detección</a:t>
            </a:r>
            <a:r>
              <a:rPr lang="en-US" sz="1600" spc="-10" dirty="0">
                <a:cs typeface="Source Sans Pro"/>
              </a:rPr>
              <a:t>, </a:t>
            </a:r>
            <a:r>
              <a:rPr lang="en-US" sz="1600" spc="-10" dirty="0" err="1">
                <a:cs typeface="Source Sans Pro"/>
              </a:rPr>
              <a:t>prevención</a:t>
            </a:r>
            <a:r>
              <a:rPr lang="en-US" sz="1600" spc="-10" dirty="0">
                <a:cs typeface="Source Sans Pro"/>
              </a:rPr>
              <a:t> y </a:t>
            </a:r>
            <a:r>
              <a:rPr lang="en-US" sz="1600" spc="-10" dirty="0" err="1">
                <a:cs typeface="Source Sans Pro"/>
              </a:rPr>
              <a:t>recuperación</a:t>
            </a:r>
            <a:r>
              <a:rPr lang="en-US" sz="1600" spc="-10" dirty="0">
                <a:cs typeface="Source Sans Pro"/>
              </a:rPr>
              <a:t> para la </a:t>
            </a:r>
            <a:r>
              <a:rPr lang="en-US" sz="1600" spc="-10" dirty="0" err="1">
                <a:cs typeface="Source Sans Pro"/>
              </a:rPr>
              <a:t>protección</a:t>
            </a:r>
            <a:r>
              <a:rPr lang="en-US" sz="1600" spc="-10" dirty="0">
                <a:cs typeface="Source Sans Pro"/>
              </a:rPr>
              <a:t> contra el malware, junto con la </a:t>
            </a:r>
            <a:r>
              <a:rPr lang="en-US" sz="1600" spc="-10" dirty="0" err="1">
                <a:cs typeface="Source Sans Pro"/>
              </a:rPr>
              <a:t>debida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conciencia</a:t>
            </a:r>
            <a:r>
              <a:rPr lang="en-US" sz="1600" spc="-10" dirty="0">
                <a:cs typeface="Source Sans Pro"/>
              </a:rPr>
              <a:t> del </a:t>
            </a:r>
            <a:r>
              <a:rPr lang="en-US" sz="1600" spc="-10" dirty="0" err="1">
                <a:cs typeface="Source Sans Pro"/>
              </a:rPr>
              <a:t>usuario</a:t>
            </a:r>
            <a:r>
              <a:rPr lang="en-US" sz="1600" spc="-10" dirty="0">
                <a:cs typeface="Source Sans Pro"/>
              </a:rPr>
              <a:t>.</a:t>
            </a:r>
          </a:p>
        </p:txBody>
      </p:sp>
      <p:sp>
        <p:nvSpPr>
          <p:cNvPr id="8" name="CuadroTexto 7"/>
          <p:cNvSpPr txBox="1"/>
          <p:nvPr/>
        </p:nvSpPr>
        <p:spPr>
          <a:xfrm>
            <a:off x="5804034" y="-163629"/>
            <a:ext cx="914400" cy="914400"/>
          </a:xfrm>
          <a:prstGeom prst="rect">
            <a:avLst/>
          </a:prstGeom>
        </p:spPr>
        <p:txBody>
          <a:bodyPr wrap="none" lIns="91425" tIns="91425" rIns="91425" bIns="91425" rtlCol="0" anchor="t" anchorCtr="0">
            <a:noAutofit/>
          </a:bodyPr>
          <a:lstStyle/>
          <a:p>
            <a:pPr marL="174625" indent="-174625">
              <a:spcBef>
                <a:spcPts val="0"/>
              </a:spcBef>
              <a:buSzPct val="100000"/>
            </a:pPr>
            <a:endParaRPr lang="es-ES_tradnl" sz="1500" dirty="0" smtClean="0">
              <a:latin typeface="Calibri"/>
              <a:cs typeface="Calibri"/>
            </a:endParaRPr>
          </a:p>
        </p:txBody>
      </p:sp>
      <p:sp>
        <p:nvSpPr>
          <p:cNvPr id="14" name="Rectangle 5"/>
          <p:cNvSpPr/>
          <p:nvPr/>
        </p:nvSpPr>
        <p:spPr>
          <a:xfrm>
            <a:off x="512024" y="331345"/>
            <a:ext cx="6032614" cy="2000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1300" dirty="0" smtClean="0">
                <a:solidFill>
                  <a:srgbClr val="438AD7"/>
                </a:solidFill>
              </a:rPr>
              <a:t>/ </a:t>
            </a:r>
            <a:r>
              <a:rPr lang="en-US" sz="1300" dirty="0">
                <a:solidFill>
                  <a:srgbClr val="438AD7"/>
                </a:solidFill>
              </a:rPr>
              <a:t>PROTECCIÓN CONTRA CÓDIGO MALICIOSO</a:t>
            </a:r>
          </a:p>
        </p:txBody>
      </p:sp>
    </p:spTree>
    <p:extLst>
      <p:ext uri="{BB962C8B-B14F-4D97-AF65-F5344CB8AC3E}">
        <p14:creationId xmlns:p14="http://schemas.microsoft.com/office/powerpoint/2010/main" val="21162289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/>
          <p:nvPr/>
        </p:nvSpPr>
        <p:spPr>
          <a:xfrm>
            <a:off x="507698" y="954483"/>
            <a:ext cx="8167990" cy="7386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buSzPct val="100000"/>
              <a:tabLst>
                <a:tab pos="85725" algn="l"/>
              </a:tabLst>
            </a:pPr>
            <a:r>
              <a:rPr lang="en-US" sz="1600" b="1" spc="-10" dirty="0" smtClean="0">
                <a:cs typeface="Source Sans Pro"/>
              </a:rPr>
              <a:t>PHISHING</a:t>
            </a:r>
          </a:p>
          <a:p>
            <a:pPr marL="184150" indent="-184150">
              <a:buSzPct val="100000"/>
              <a:buFont typeface="Arial" charset="0"/>
              <a:buChar char="•"/>
              <a:tabLst>
                <a:tab pos="85725" algn="l"/>
              </a:tabLst>
            </a:pPr>
            <a:r>
              <a:rPr lang="en-US" sz="1600" spc="-10" dirty="0" smtClean="0">
                <a:cs typeface="Source Sans Pro"/>
              </a:rPr>
              <a:t>El </a:t>
            </a:r>
            <a:r>
              <a:rPr lang="en-US" sz="1600" spc="-10" dirty="0">
                <a:cs typeface="Source Sans Pro"/>
              </a:rPr>
              <a:t>phishing </a:t>
            </a:r>
            <a:r>
              <a:rPr lang="en-US" sz="1600" spc="-10" dirty="0" err="1">
                <a:cs typeface="Source Sans Pro"/>
              </a:rPr>
              <a:t>es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una</a:t>
            </a:r>
            <a:r>
              <a:rPr lang="en-US" sz="1600" spc="-10" dirty="0">
                <a:cs typeface="Source Sans Pro"/>
              </a:rPr>
              <a:t> forma de </a:t>
            </a:r>
            <a:r>
              <a:rPr lang="en-US" sz="1600" spc="-10" dirty="0" err="1">
                <a:cs typeface="Source Sans Pro"/>
              </a:rPr>
              <a:t>fraude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en</a:t>
            </a:r>
            <a:r>
              <a:rPr lang="en-US" sz="1600" spc="-10" dirty="0">
                <a:cs typeface="Source Sans Pro"/>
              </a:rPr>
              <a:t> internet.</a:t>
            </a:r>
          </a:p>
          <a:p>
            <a:pPr marL="184150" indent="-184150">
              <a:buSzPct val="100000"/>
              <a:buFont typeface="Arial" charset="0"/>
              <a:buChar char="•"/>
              <a:tabLst>
                <a:tab pos="85725" algn="l"/>
              </a:tabLst>
            </a:pPr>
            <a:r>
              <a:rPr lang="en-US" sz="1600" spc="-10" dirty="0" err="1">
                <a:cs typeface="Source Sans Pro"/>
              </a:rPr>
              <a:t>Fraude</a:t>
            </a:r>
            <a:r>
              <a:rPr lang="en-US" sz="1600" spc="-10" dirty="0">
                <a:cs typeface="Source Sans Pro"/>
              </a:rPr>
              <a:t>: </a:t>
            </a:r>
            <a:r>
              <a:rPr lang="en-US" sz="1600" spc="-10" dirty="0" err="1">
                <a:cs typeface="Source Sans Pro"/>
              </a:rPr>
              <a:t>realización</a:t>
            </a:r>
            <a:r>
              <a:rPr lang="en-US" sz="1600" spc="-10" dirty="0">
                <a:cs typeface="Source Sans Pro"/>
              </a:rPr>
              <a:t> de </a:t>
            </a:r>
            <a:r>
              <a:rPr lang="en-US" sz="1600" spc="-10" dirty="0" err="1">
                <a:cs typeface="Source Sans Pro"/>
              </a:rPr>
              <a:t>una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transacción</a:t>
            </a:r>
            <a:r>
              <a:rPr lang="en-US" sz="1600" spc="-10" dirty="0">
                <a:cs typeface="Source Sans Pro"/>
              </a:rPr>
              <a:t> no </a:t>
            </a:r>
            <a:r>
              <a:rPr lang="en-US" sz="1600" spc="-10" dirty="0" err="1">
                <a:cs typeface="Source Sans Pro"/>
              </a:rPr>
              <a:t>autorizada</a:t>
            </a:r>
            <a:r>
              <a:rPr lang="en-US" sz="1600" spc="-10" dirty="0">
                <a:cs typeface="Source Sans Pro"/>
              </a:rPr>
              <a:t>.</a:t>
            </a:r>
          </a:p>
        </p:txBody>
      </p:sp>
      <p:sp>
        <p:nvSpPr>
          <p:cNvPr id="8" name="CuadroTexto 7"/>
          <p:cNvSpPr txBox="1"/>
          <p:nvPr/>
        </p:nvSpPr>
        <p:spPr>
          <a:xfrm>
            <a:off x="5804034" y="-163629"/>
            <a:ext cx="914400" cy="914400"/>
          </a:xfrm>
          <a:prstGeom prst="rect">
            <a:avLst/>
          </a:prstGeom>
        </p:spPr>
        <p:txBody>
          <a:bodyPr wrap="none" lIns="91425" tIns="91425" rIns="91425" bIns="91425" rtlCol="0" anchor="t" anchorCtr="0">
            <a:noAutofit/>
          </a:bodyPr>
          <a:lstStyle/>
          <a:p>
            <a:pPr marL="174625" indent="-174625">
              <a:spcBef>
                <a:spcPts val="0"/>
              </a:spcBef>
              <a:buSzPct val="100000"/>
            </a:pPr>
            <a:endParaRPr lang="es-ES_tradnl" sz="1500" dirty="0" smtClean="0">
              <a:latin typeface="Calibri"/>
              <a:cs typeface="Calibri"/>
            </a:endParaRPr>
          </a:p>
        </p:txBody>
      </p:sp>
      <p:sp>
        <p:nvSpPr>
          <p:cNvPr id="14" name="Rectangle 5"/>
          <p:cNvSpPr/>
          <p:nvPr/>
        </p:nvSpPr>
        <p:spPr>
          <a:xfrm>
            <a:off x="512024" y="331345"/>
            <a:ext cx="6032614" cy="2000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1300" dirty="0" smtClean="0">
                <a:solidFill>
                  <a:srgbClr val="438AD7"/>
                </a:solidFill>
              </a:rPr>
              <a:t>/ </a:t>
            </a:r>
            <a:r>
              <a:rPr lang="en-US" sz="1300" dirty="0">
                <a:solidFill>
                  <a:srgbClr val="438AD7"/>
                </a:solidFill>
              </a:rPr>
              <a:t>PROTECCIÓN CONTRA CÓDIGO MALICIOSO</a:t>
            </a:r>
          </a:p>
        </p:txBody>
      </p:sp>
      <p:pic>
        <p:nvPicPr>
          <p:cNvPr id="5" name="Picture 2" descr="Resultado de imagen para phishi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335" y="2087647"/>
            <a:ext cx="3885323" cy="24283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 descr="Resultado de imagen para phishi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5890" y="2087647"/>
            <a:ext cx="4101814" cy="23072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60422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/>
          <p:nvPr/>
        </p:nvSpPr>
        <p:spPr>
          <a:xfrm>
            <a:off x="507698" y="954483"/>
            <a:ext cx="8167990" cy="9848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buSzPct val="100000"/>
              <a:tabLst>
                <a:tab pos="85725" algn="l"/>
              </a:tabLst>
            </a:pPr>
            <a:r>
              <a:rPr lang="en-US" sz="1600" b="1" spc="-10" dirty="0">
                <a:cs typeface="Source Sans Pro"/>
              </a:rPr>
              <a:t>SPAM</a:t>
            </a:r>
          </a:p>
          <a:p>
            <a:pPr marL="184150" indent="-184150">
              <a:buSzPct val="100000"/>
              <a:buFont typeface="Arial" charset="0"/>
              <a:buChar char="•"/>
              <a:tabLst>
                <a:tab pos="85725" algn="l"/>
              </a:tabLst>
            </a:pPr>
            <a:r>
              <a:rPr lang="en-US" sz="1600" spc="-10" dirty="0" err="1">
                <a:cs typeface="Source Sans Pro"/>
              </a:rPr>
              <a:t>Nombre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colectivo</a:t>
            </a:r>
            <a:r>
              <a:rPr lang="en-US" sz="1600" spc="-10" dirty="0">
                <a:cs typeface="Source Sans Pro"/>
              </a:rPr>
              <a:t> para </a:t>
            </a:r>
            <a:r>
              <a:rPr lang="en-US" sz="1600" spc="-10" dirty="0" err="1">
                <a:cs typeface="Source Sans Pro"/>
              </a:rPr>
              <a:t>los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mensajes</a:t>
            </a:r>
            <a:r>
              <a:rPr lang="en-US" sz="1600" spc="-10" dirty="0">
                <a:cs typeface="Source Sans Pro"/>
              </a:rPr>
              <a:t> no </a:t>
            </a:r>
            <a:r>
              <a:rPr lang="en-US" sz="1600" spc="-10" dirty="0" err="1">
                <a:cs typeface="Source Sans Pro"/>
              </a:rPr>
              <a:t>deseados</a:t>
            </a:r>
            <a:r>
              <a:rPr lang="en-US" sz="1600" spc="-10" dirty="0">
                <a:cs typeface="Source Sans Pro"/>
              </a:rPr>
              <a:t>.</a:t>
            </a:r>
          </a:p>
          <a:p>
            <a:pPr marL="184150" indent="-184150">
              <a:buSzPct val="100000"/>
              <a:buFont typeface="Arial" charset="0"/>
              <a:buChar char="•"/>
              <a:tabLst>
                <a:tab pos="85725" algn="l"/>
              </a:tabLst>
            </a:pPr>
            <a:r>
              <a:rPr lang="en-US" sz="1600" spc="-10" dirty="0">
                <a:cs typeface="Source Sans Pro"/>
              </a:rPr>
              <a:t>El </a:t>
            </a:r>
            <a:r>
              <a:rPr lang="en-US" sz="1600" spc="-10" dirty="0" err="1">
                <a:cs typeface="Source Sans Pro"/>
              </a:rPr>
              <a:t>término</a:t>
            </a:r>
            <a:r>
              <a:rPr lang="en-US" sz="1600" spc="-10" dirty="0">
                <a:cs typeface="Source Sans Pro"/>
              </a:rPr>
              <a:t> se </a:t>
            </a:r>
            <a:r>
              <a:rPr lang="en-US" sz="1600" spc="-10" dirty="0" err="1">
                <a:cs typeface="Source Sans Pro"/>
              </a:rPr>
              <a:t>utiliza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normalmente</a:t>
            </a:r>
            <a:r>
              <a:rPr lang="en-US" sz="1600" spc="-10" dirty="0">
                <a:cs typeface="Source Sans Pro"/>
              </a:rPr>
              <a:t> para </a:t>
            </a:r>
            <a:r>
              <a:rPr lang="en-US" sz="1600" spc="-10" dirty="0" err="1">
                <a:cs typeface="Source Sans Pro"/>
              </a:rPr>
              <a:t>correo</a:t>
            </a:r>
            <a:r>
              <a:rPr lang="en-US" sz="1600" spc="-10" dirty="0">
                <a:cs typeface="Source Sans Pro"/>
              </a:rPr>
              <a:t> no </a:t>
            </a:r>
            <a:r>
              <a:rPr lang="en-US" sz="1600" spc="-10" dirty="0" err="1">
                <a:cs typeface="Source Sans Pro"/>
              </a:rPr>
              <a:t>deseado</a:t>
            </a:r>
            <a:r>
              <a:rPr lang="en-US" sz="1600" spc="-10" dirty="0">
                <a:cs typeface="Source Sans Pro"/>
              </a:rPr>
              <a:t>, </a:t>
            </a:r>
            <a:r>
              <a:rPr lang="en-US" sz="1600" spc="-10" dirty="0" err="1">
                <a:cs typeface="Source Sans Pro"/>
              </a:rPr>
              <a:t>los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mensajes</a:t>
            </a:r>
            <a:r>
              <a:rPr lang="en-US" sz="1600" spc="-10" dirty="0">
                <a:cs typeface="Source Sans Pro"/>
              </a:rPr>
              <a:t> no </a:t>
            </a:r>
            <a:r>
              <a:rPr lang="en-US" sz="1600" spc="-10" dirty="0" err="1">
                <a:cs typeface="Source Sans Pro"/>
              </a:rPr>
              <a:t>deseados</a:t>
            </a:r>
            <a:r>
              <a:rPr lang="en-US" sz="1600" spc="-10" dirty="0">
                <a:cs typeface="Source Sans Pro"/>
              </a:rPr>
              <a:t> de </a:t>
            </a:r>
            <a:r>
              <a:rPr lang="en-US" sz="1600" spc="-10" dirty="0" err="1">
                <a:cs typeface="Source Sans Pro"/>
              </a:rPr>
              <a:t>publicidad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en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los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sitios</a:t>
            </a:r>
            <a:r>
              <a:rPr lang="en-US" sz="1600" spc="-10" dirty="0">
                <a:cs typeface="Source Sans Pro"/>
              </a:rPr>
              <a:t> web </a:t>
            </a:r>
            <a:r>
              <a:rPr lang="en-US" sz="1600" spc="-10" dirty="0" err="1">
                <a:cs typeface="Source Sans Pro"/>
              </a:rPr>
              <a:t>también</a:t>
            </a:r>
            <a:r>
              <a:rPr lang="en-US" sz="1600" spc="-10" dirty="0">
                <a:cs typeface="Source Sans Pro"/>
              </a:rPr>
              <a:t> son </a:t>
            </a:r>
            <a:r>
              <a:rPr lang="en-US" sz="1600" spc="-10" dirty="0" err="1">
                <a:cs typeface="Source Sans Pro"/>
              </a:rPr>
              <a:t>considerados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como</a:t>
            </a:r>
            <a:r>
              <a:rPr lang="en-US" sz="1600" spc="-10" dirty="0">
                <a:cs typeface="Source Sans Pro"/>
              </a:rPr>
              <a:t> spam.</a:t>
            </a:r>
          </a:p>
        </p:txBody>
      </p:sp>
      <p:sp>
        <p:nvSpPr>
          <p:cNvPr id="8" name="CuadroTexto 7"/>
          <p:cNvSpPr txBox="1"/>
          <p:nvPr/>
        </p:nvSpPr>
        <p:spPr>
          <a:xfrm>
            <a:off x="5804034" y="-163629"/>
            <a:ext cx="914400" cy="914400"/>
          </a:xfrm>
          <a:prstGeom prst="rect">
            <a:avLst/>
          </a:prstGeom>
        </p:spPr>
        <p:txBody>
          <a:bodyPr wrap="none" lIns="91425" tIns="91425" rIns="91425" bIns="91425" rtlCol="0" anchor="t" anchorCtr="0">
            <a:noAutofit/>
          </a:bodyPr>
          <a:lstStyle/>
          <a:p>
            <a:pPr marL="174625" indent="-174625">
              <a:spcBef>
                <a:spcPts val="0"/>
              </a:spcBef>
              <a:buSzPct val="100000"/>
            </a:pPr>
            <a:endParaRPr lang="es-ES_tradnl" sz="1500" dirty="0" smtClean="0">
              <a:latin typeface="Calibri"/>
              <a:cs typeface="Calibri"/>
            </a:endParaRPr>
          </a:p>
        </p:txBody>
      </p:sp>
      <p:sp>
        <p:nvSpPr>
          <p:cNvPr id="14" name="Rectangle 5"/>
          <p:cNvSpPr/>
          <p:nvPr/>
        </p:nvSpPr>
        <p:spPr>
          <a:xfrm>
            <a:off x="512024" y="331345"/>
            <a:ext cx="6032614" cy="2000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1300" dirty="0" smtClean="0">
                <a:solidFill>
                  <a:srgbClr val="438AD7"/>
                </a:solidFill>
              </a:rPr>
              <a:t>/ </a:t>
            </a:r>
            <a:r>
              <a:rPr lang="en-US" sz="1300" dirty="0">
                <a:solidFill>
                  <a:srgbClr val="438AD7"/>
                </a:solidFill>
              </a:rPr>
              <a:t>PROTECCIÓN CONTRA CÓDIGO MALICIOSO</a:t>
            </a:r>
          </a:p>
        </p:txBody>
      </p:sp>
      <p:grpSp>
        <p:nvGrpSpPr>
          <p:cNvPr id="2" name="Agrupar 1"/>
          <p:cNvGrpSpPr/>
          <p:nvPr/>
        </p:nvGrpSpPr>
        <p:grpSpPr>
          <a:xfrm>
            <a:off x="947855" y="2170748"/>
            <a:ext cx="7248290" cy="2668381"/>
            <a:chOff x="1228521" y="2273489"/>
            <a:chExt cx="6538741" cy="2407168"/>
          </a:xfrm>
        </p:grpSpPr>
        <p:pic>
          <p:nvPicPr>
            <p:cNvPr id="9" name="Picture 6" descr="Resultado de imagen para spam informatico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49124" y="2273489"/>
              <a:ext cx="3218138" cy="240716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" name="Picture 8" descr="Resultado de imagen para spam informatico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28521" y="2273489"/>
              <a:ext cx="3202714" cy="240203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5104461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/>
          <p:nvPr/>
        </p:nvSpPr>
        <p:spPr>
          <a:xfrm>
            <a:off x="507698" y="954483"/>
            <a:ext cx="8167990" cy="9848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buSzPct val="100000"/>
              <a:tabLst>
                <a:tab pos="85725" algn="l"/>
              </a:tabLst>
            </a:pPr>
            <a:r>
              <a:rPr lang="en-US" sz="1600" b="1" spc="-10" dirty="0" smtClean="0">
                <a:cs typeface="Source Sans Pro"/>
              </a:rPr>
              <a:t>MALWARE: SOFTWARE MALICIOSO</a:t>
            </a:r>
          </a:p>
          <a:p>
            <a:pPr marL="184150" indent="-184150">
              <a:buSzPct val="100000"/>
              <a:buFont typeface="Arial" charset="0"/>
              <a:buChar char="•"/>
              <a:tabLst>
                <a:tab pos="85725" algn="l"/>
              </a:tabLst>
            </a:pPr>
            <a:r>
              <a:rPr lang="en-US" sz="1600" spc="-10" dirty="0">
                <a:cs typeface="Source Sans Pro"/>
              </a:rPr>
              <a:t>Malware = </a:t>
            </a:r>
            <a:r>
              <a:rPr lang="en-US" sz="1600" spc="-10" dirty="0" err="1">
                <a:cs typeface="Source Sans Pro"/>
              </a:rPr>
              <a:t>malicioso</a:t>
            </a:r>
            <a:r>
              <a:rPr lang="en-US" sz="1600" spc="-10" dirty="0">
                <a:cs typeface="Source Sans Pro"/>
              </a:rPr>
              <a:t> + software.</a:t>
            </a:r>
          </a:p>
          <a:p>
            <a:pPr marL="184150" indent="-184150">
              <a:buSzPct val="100000"/>
              <a:buFont typeface="Arial" charset="0"/>
              <a:buChar char="•"/>
              <a:tabLst>
                <a:tab pos="85725" algn="l"/>
              </a:tabLst>
            </a:pPr>
            <a:r>
              <a:rPr lang="en-US" sz="1600" spc="-10" dirty="0">
                <a:cs typeface="Source Sans Pro"/>
              </a:rPr>
              <a:t>Se </a:t>
            </a:r>
            <a:r>
              <a:rPr lang="en-US" sz="1600" spc="-10" dirty="0" err="1">
                <a:cs typeface="Source Sans Pro"/>
              </a:rPr>
              <a:t>refiere</a:t>
            </a:r>
            <a:r>
              <a:rPr lang="en-US" sz="1600" spc="-10" dirty="0">
                <a:cs typeface="Source Sans Pro"/>
              </a:rPr>
              <a:t> a software no </a:t>
            </a:r>
            <a:r>
              <a:rPr lang="en-US" sz="1600" spc="-10" dirty="0" err="1">
                <a:cs typeface="Source Sans Pro"/>
              </a:rPr>
              <a:t>deseado</a:t>
            </a:r>
            <a:r>
              <a:rPr lang="en-US" sz="1600" spc="-10" dirty="0">
                <a:cs typeface="Source Sans Pro"/>
              </a:rPr>
              <a:t>, tales </a:t>
            </a:r>
            <a:r>
              <a:rPr lang="en-US" sz="1600" spc="-10" dirty="0" err="1">
                <a:cs typeface="Source Sans Pro"/>
              </a:rPr>
              <a:t>como</a:t>
            </a:r>
            <a:r>
              <a:rPr lang="en-US" sz="1600" spc="-10" dirty="0">
                <a:cs typeface="Source Sans Pro"/>
              </a:rPr>
              <a:t> virus, </a:t>
            </a:r>
            <a:r>
              <a:rPr lang="en-US" sz="1600" spc="-10" dirty="0" err="1">
                <a:cs typeface="Source Sans Pro"/>
              </a:rPr>
              <a:t>gusanos</a:t>
            </a:r>
            <a:r>
              <a:rPr lang="en-US" sz="1600" spc="-10" dirty="0">
                <a:cs typeface="Source Sans Pro"/>
              </a:rPr>
              <a:t>, </a:t>
            </a:r>
            <a:r>
              <a:rPr lang="en-US" sz="1600" spc="-10" dirty="0" err="1">
                <a:cs typeface="Source Sans Pro"/>
              </a:rPr>
              <a:t>troyanos</a:t>
            </a:r>
            <a:r>
              <a:rPr lang="en-US" sz="1600" spc="-10" dirty="0">
                <a:cs typeface="Source Sans Pro"/>
              </a:rPr>
              <a:t> y spyware</a:t>
            </a:r>
          </a:p>
          <a:p>
            <a:pPr marL="184150" indent="-184150">
              <a:buSzPct val="100000"/>
              <a:buFont typeface="Arial" charset="0"/>
              <a:buChar char="•"/>
              <a:tabLst>
                <a:tab pos="85725" algn="l"/>
              </a:tabLst>
            </a:pPr>
            <a:r>
              <a:rPr lang="en-US" sz="1600" spc="-10" dirty="0">
                <a:cs typeface="Source Sans Pro"/>
              </a:rPr>
              <a:t>La </a:t>
            </a:r>
            <a:r>
              <a:rPr lang="en-US" sz="1600" spc="-10" dirty="0" err="1">
                <a:cs typeface="Source Sans Pro"/>
              </a:rPr>
              <a:t>medida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estándar</a:t>
            </a:r>
            <a:r>
              <a:rPr lang="en-US" sz="1600" spc="-10" dirty="0">
                <a:cs typeface="Source Sans Pro"/>
              </a:rPr>
              <a:t> contra el malware </a:t>
            </a:r>
            <a:r>
              <a:rPr lang="en-US" sz="1600" spc="-10" dirty="0" err="1">
                <a:cs typeface="Source Sans Pro"/>
              </a:rPr>
              <a:t>es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utilizar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escáneres</a:t>
            </a:r>
            <a:r>
              <a:rPr lang="en-US" sz="1600" spc="-10" dirty="0">
                <a:cs typeface="Source Sans Pro"/>
              </a:rPr>
              <a:t> antivirus y un </a:t>
            </a:r>
            <a:r>
              <a:rPr lang="en-US" sz="1600" spc="-10" dirty="0" err="1">
                <a:cs typeface="Source Sans Pro"/>
              </a:rPr>
              <a:t>cortafuegos</a:t>
            </a:r>
            <a:r>
              <a:rPr lang="en-US" sz="1600" spc="-10" dirty="0">
                <a:cs typeface="Source Sans Pro"/>
              </a:rPr>
              <a:t>.</a:t>
            </a:r>
          </a:p>
        </p:txBody>
      </p:sp>
      <p:sp>
        <p:nvSpPr>
          <p:cNvPr id="8" name="CuadroTexto 7"/>
          <p:cNvSpPr txBox="1"/>
          <p:nvPr/>
        </p:nvSpPr>
        <p:spPr>
          <a:xfrm>
            <a:off x="5804034" y="-163629"/>
            <a:ext cx="914400" cy="914400"/>
          </a:xfrm>
          <a:prstGeom prst="rect">
            <a:avLst/>
          </a:prstGeom>
        </p:spPr>
        <p:txBody>
          <a:bodyPr wrap="none" lIns="91425" tIns="91425" rIns="91425" bIns="91425" rtlCol="0" anchor="t" anchorCtr="0">
            <a:noAutofit/>
          </a:bodyPr>
          <a:lstStyle/>
          <a:p>
            <a:pPr marL="174625" indent="-174625">
              <a:spcBef>
                <a:spcPts val="0"/>
              </a:spcBef>
              <a:buSzPct val="100000"/>
            </a:pPr>
            <a:endParaRPr lang="es-ES_tradnl" sz="1500" dirty="0" smtClean="0">
              <a:latin typeface="Calibri"/>
              <a:cs typeface="Calibri"/>
            </a:endParaRPr>
          </a:p>
        </p:txBody>
      </p:sp>
      <p:sp>
        <p:nvSpPr>
          <p:cNvPr id="14" name="Rectangle 5"/>
          <p:cNvSpPr/>
          <p:nvPr/>
        </p:nvSpPr>
        <p:spPr>
          <a:xfrm>
            <a:off x="512024" y="331345"/>
            <a:ext cx="6032614" cy="2000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1300" dirty="0" smtClean="0">
                <a:solidFill>
                  <a:srgbClr val="438AD7"/>
                </a:solidFill>
              </a:rPr>
              <a:t>/ </a:t>
            </a:r>
            <a:r>
              <a:rPr lang="en-US" sz="1300" dirty="0">
                <a:solidFill>
                  <a:srgbClr val="438AD7"/>
                </a:solidFill>
              </a:rPr>
              <a:t>PROTECCIÓN CONTRA CÓDIGO MALICIOSO</a:t>
            </a: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5125" y="2149533"/>
            <a:ext cx="5413750" cy="3047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04535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/>
          <p:nvPr/>
        </p:nvSpPr>
        <p:spPr>
          <a:xfrm>
            <a:off x="507698" y="954483"/>
            <a:ext cx="8167990" cy="14773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buSzPct val="100000"/>
              <a:tabLst>
                <a:tab pos="85725" algn="l"/>
              </a:tabLst>
            </a:pPr>
            <a:r>
              <a:rPr lang="en-US" sz="1600" b="1" spc="-10" dirty="0" smtClean="0">
                <a:cs typeface="Source Sans Pro"/>
              </a:rPr>
              <a:t>MALWARE: VIRUS</a:t>
            </a:r>
          </a:p>
          <a:p>
            <a:pPr marL="184150" indent="-184150">
              <a:buSzPct val="100000"/>
              <a:buFont typeface="Arial" charset="0"/>
              <a:buChar char="•"/>
              <a:tabLst>
                <a:tab pos="85725" algn="l"/>
              </a:tabLst>
            </a:pPr>
            <a:r>
              <a:rPr lang="en-US" sz="1600" spc="-10" dirty="0">
                <a:cs typeface="Source Sans Pro"/>
              </a:rPr>
              <a:t>Un virus </a:t>
            </a:r>
            <a:r>
              <a:rPr lang="en-US" sz="1600" spc="-10" dirty="0" err="1">
                <a:cs typeface="Source Sans Pro"/>
              </a:rPr>
              <a:t>es</a:t>
            </a:r>
            <a:r>
              <a:rPr lang="en-US" sz="1600" spc="-10" dirty="0">
                <a:cs typeface="Source Sans Pro"/>
              </a:rPr>
              <a:t> un </a:t>
            </a:r>
            <a:r>
              <a:rPr lang="en-US" sz="1600" spc="-10" dirty="0" err="1">
                <a:cs typeface="Source Sans Pro"/>
              </a:rPr>
              <a:t>pequeño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programa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informáticos</a:t>
            </a:r>
            <a:r>
              <a:rPr lang="en-US" sz="1600" spc="-10" dirty="0">
                <a:cs typeface="Source Sans Pro"/>
              </a:rPr>
              <a:t> que se replica a </a:t>
            </a:r>
            <a:r>
              <a:rPr lang="en-US" sz="1600" spc="-10" dirty="0" err="1">
                <a:cs typeface="Source Sans Pro"/>
              </a:rPr>
              <a:t>propósito</a:t>
            </a:r>
            <a:r>
              <a:rPr lang="en-US" sz="1600" spc="-10" dirty="0">
                <a:cs typeface="Source Sans Pro"/>
              </a:rPr>
              <a:t>, a </a:t>
            </a:r>
            <a:r>
              <a:rPr lang="en-US" sz="1600" spc="-10" dirty="0" err="1">
                <a:cs typeface="Source Sans Pro"/>
              </a:rPr>
              <a:t>veces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en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una</a:t>
            </a:r>
            <a:r>
              <a:rPr lang="en-US" sz="1600" spc="-10" dirty="0">
                <a:cs typeface="Source Sans Pro"/>
              </a:rPr>
              <a:t> forma </a:t>
            </a:r>
            <a:r>
              <a:rPr lang="en-US" sz="1600" spc="-10" dirty="0" err="1">
                <a:cs typeface="Source Sans Pro"/>
              </a:rPr>
              <a:t>alterada</a:t>
            </a:r>
            <a:r>
              <a:rPr lang="en-US" sz="1600" spc="-10" dirty="0">
                <a:cs typeface="Source Sans Pro"/>
              </a:rPr>
              <a:t>.</a:t>
            </a:r>
          </a:p>
          <a:p>
            <a:pPr marL="184150" indent="-184150">
              <a:buSzPct val="100000"/>
              <a:buFont typeface="Arial" charset="0"/>
              <a:buChar char="•"/>
              <a:tabLst>
                <a:tab pos="85725" algn="l"/>
              </a:tabLst>
            </a:pPr>
            <a:endParaRPr lang="en-US" sz="1600" spc="-10" dirty="0" smtClean="0">
              <a:cs typeface="Source Sans Pro"/>
            </a:endParaRPr>
          </a:p>
          <a:p>
            <a:pPr marL="184150" indent="-184150">
              <a:buSzPct val="100000"/>
              <a:buFont typeface="Arial" charset="0"/>
              <a:buChar char="•"/>
              <a:tabLst>
                <a:tab pos="85725" algn="l"/>
              </a:tabLst>
            </a:pPr>
            <a:r>
              <a:rPr lang="en-US" sz="1600" spc="-10" dirty="0" smtClean="0">
                <a:cs typeface="Source Sans Pro"/>
              </a:rPr>
              <a:t>A </a:t>
            </a:r>
            <a:r>
              <a:rPr lang="en-US" sz="1600" spc="-10" dirty="0">
                <a:cs typeface="Source Sans Pro"/>
              </a:rPr>
              <a:t>fin de que el virus se </a:t>
            </a:r>
            <a:r>
              <a:rPr lang="en-US" sz="1600" spc="-10" dirty="0" err="1">
                <a:cs typeface="Source Sans Pro"/>
              </a:rPr>
              <a:t>propague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su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funcionamiento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depende</a:t>
            </a:r>
            <a:r>
              <a:rPr lang="en-US" sz="1600" spc="-10" dirty="0">
                <a:cs typeface="Source Sans Pro"/>
              </a:rPr>
              <a:t> de </a:t>
            </a:r>
            <a:r>
              <a:rPr lang="en-US" sz="1600" spc="-10" dirty="0" err="1">
                <a:cs typeface="Source Sans Pro"/>
              </a:rPr>
              <a:t>los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portadores</a:t>
            </a:r>
            <a:r>
              <a:rPr lang="en-US" sz="1600" spc="-10" dirty="0">
                <a:cs typeface="Source Sans Pro"/>
              </a:rPr>
              <a:t> que </a:t>
            </a:r>
            <a:r>
              <a:rPr lang="en-US" sz="1600" spc="-10" dirty="0" err="1">
                <a:cs typeface="Source Sans Pro"/>
              </a:rPr>
              <a:t>contienen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código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ejecutable</a:t>
            </a:r>
            <a:r>
              <a:rPr lang="en-US" sz="1600" spc="-10" dirty="0">
                <a:cs typeface="Source Sans Pro"/>
              </a:rPr>
              <a:t>.</a:t>
            </a:r>
          </a:p>
        </p:txBody>
      </p:sp>
      <p:sp>
        <p:nvSpPr>
          <p:cNvPr id="8" name="CuadroTexto 7"/>
          <p:cNvSpPr txBox="1"/>
          <p:nvPr/>
        </p:nvSpPr>
        <p:spPr>
          <a:xfrm>
            <a:off x="5804034" y="-163629"/>
            <a:ext cx="914400" cy="914400"/>
          </a:xfrm>
          <a:prstGeom prst="rect">
            <a:avLst/>
          </a:prstGeom>
        </p:spPr>
        <p:txBody>
          <a:bodyPr wrap="none" lIns="91425" tIns="91425" rIns="91425" bIns="91425" rtlCol="0" anchor="t" anchorCtr="0">
            <a:noAutofit/>
          </a:bodyPr>
          <a:lstStyle/>
          <a:p>
            <a:pPr marL="174625" indent="-174625">
              <a:spcBef>
                <a:spcPts val="0"/>
              </a:spcBef>
              <a:buSzPct val="100000"/>
            </a:pPr>
            <a:endParaRPr lang="es-ES_tradnl" sz="1500" dirty="0" smtClean="0">
              <a:latin typeface="Calibri"/>
              <a:cs typeface="Calibri"/>
            </a:endParaRPr>
          </a:p>
        </p:txBody>
      </p:sp>
      <p:sp>
        <p:nvSpPr>
          <p:cNvPr id="14" name="Rectangle 5"/>
          <p:cNvSpPr/>
          <p:nvPr/>
        </p:nvSpPr>
        <p:spPr>
          <a:xfrm>
            <a:off x="512024" y="331345"/>
            <a:ext cx="6032614" cy="2000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1300" dirty="0" smtClean="0">
                <a:solidFill>
                  <a:srgbClr val="438AD7"/>
                </a:solidFill>
              </a:rPr>
              <a:t>/ </a:t>
            </a:r>
            <a:r>
              <a:rPr lang="en-US" sz="1300" dirty="0">
                <a:solidFill>
                  <a:srgbClr val="438AD7"/>
                </a:solidFill>
              </a:rPr>
              <a:t>PROTECCIÓN CONTRA CÓDIGO MALICIOSO</a:t>
            </a:r>
          </a:p>
        </p:txBody>
      </p:sp>
      <p:pic>
        <p:nvPicPr>
          <p:cNvPr id="6" name="Picture 2" descr="Resultado de imagen para virus de computadora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4206" y="2589090"/>
            <a:ext cx="3915589" cy="26083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116316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/>
          <p:nvPr/>
        </p:nvSpPr>
        <p:spPr>
          <a:xfrm>
            <a:off x="507698" y="954483"/>
            <a:ext cx="8167990" cy="9848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buSzPct val="100000"/>
              <a:tabLst>
                <a:tab pos="85725" algn="l"/>
              </a:tabLst>
            </a:pPr>
            <a:r>
              <a:rPr lang="en-US" sz="1600" b="1" spc="-10" dirty="0" smtClean="0">
                <a:cs typeface="Source Sans Pro"/>
              </a:rPr>
              <a:t>MALWARE: GUSANO</a:t>
            </a:r>
          </a:p>
          <a:p>
            <a:pPr marL="184150" indent="-184150">
              <a:buSzPct val="100000"/>
              <a:buFont typeface="Arial" charset="0"/>
              <a:buChar char="•"/>
              <a:tabLst>
                <a:tab pos="85725" algn="l"/>
              </a:tabLst>
            </a:pPr>
            <a:r>
              <a:rPr lang="en-US" sz="1600" spc="-10" dirty="0">
                <a:cs typeface="Source Sans Pro"/>
              </a:rPr>
              <a:t>Un </a:t>
            </a:r>
            <a:r>
              <a:rPr lang="en-US" sz="1600" spc="-10" dirty="0" err="1">
                <a:cs typeface="Source Sans Pro"/>
              </a:rPr>
              <a:t>gusano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es</a:t>
            </a:r>
            <a:r>
              <a:rPr lang="en-US" sz="1600" spc="-10" dirty="0">
                <a:cs typeface="Source Sans Pro"/>
              </a:rPr>
              <a:t> un </a:t>
            </a:r>
            <a:r>
              <a:rPr lang="en-US" sz="1600" spc="-10" dirty="0" err="1">
                <a:cs typeface="Source Sans Pro"/>
              </a:rPr>
              <a:t>pequeño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programa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informático</a:t>
            </a:r>
            <a:r>
              <a:rPr lang="en-US" sz="1600" spc="-10" dirty="0">
                <a:cs typeface="Source Sans Pro"/>
              </a:rPr>
              <a:t> que se replica a </a:t>
            </a:r>
            <a:r>
              <a:rPr lang="en-US" sz="1600" spc="-10" dirty="0" err="1">
                <a:cs typeface="Source Sans Pro"/>
              </a:rPr>
              <a:t>propósito</a:t>
            </a:r>
            <a:r>
              <a:rPr lang="en-US" sz="1600" spc="-10" dirty="0">
                <a:cs typeface="Source Sans Pro"/>
              </a:rPr>
              <a:t>. Los </a:t>
            </a:r>
            <a:r>
              <a:rPr lang="en-US" sz="1600" spc="-10" dirty="0" err="1">
                <a:cs typeface="Source Sans Pro"/>
              </a:rPr>
              <a:t>resultados</a:t>
            </a:r>
            <a:r>
              <a:rPr lang="en-US" sz="1600" spc="-10" dirty="0">
                <a:cs typeface="Source Sans Pro"/>
              </a:rPr>
              <a:t> de la </a:t>
            </a:r>
            <a:r>
              <a:rPr lang="en-US" sz="1600" spc="-10" dirty="0" err="1">
                <a:cs typeface="Source Sans Pro"/>
              </a:rPr>
              <a:t>replicación</a:t>
            </a:r>
            <a:r>
              <a:rPr lang="en-US" sz="1600" spc="-10" dirty="0">
                <a:cs typeface="Source Sans Pro"/>
              </a:rPr>
              <a:t> son </a:t>
            </a:r>
            <a:r>
              <a:rPr lang="en-US" sz="1600" spc="-10" dirty="0" err="1">
                <a:cs typeface="Source Sans Pro"/>
              </a:rPr>
              <a:t>copias</a:t>
            </a:r>
            <a:r>
              <a:rPr lang="en-US" sz="1600" spc="-10" dirty="0">
                <a:cs typeface="Source Sans Pro"/>
              </a:rPr>
              <a:t> de la </a:t>
            </a:r>
            <a:r>
              <a:rPr lang="en-US" sz="1600" spc="-10" dirty="0" err="1">
                <a:cs typeface="Source Sans Pro"/>
              </a:rPr>
              <a:t>difusión</a:t>
            </a:r>
            <a:r>
              <a:rPr lang="en-US" sz="1600" spc="-10" dirty="0">
                <a:cs typeface="Source Sans Pro"/>
              </a:rPr>
              <a:t> original a </a:t>
            </a:r>
            <a:r>
              <a:rPr lang="en-US" sz="1600" spc="-10" dirty="0" err="1">
                <a:cs typeface="Source Sans Pro"/>
              </a:rPr>
              <a:t>otros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sistemas</a:t>
            </a:r>
            <a:r>
              <a:rPr lang="en-US" sz="1600" spc="-10" dirty="0">
                <a:cs typeface="Source Sans Pro"/>
              </a:rPr>
              <a:t>, </a:t>
            </a:r>
            <a:r>
              <a:rPr lang="en-US" sz="1600" spc="-10" dirty="0" err="1">
                <a:cs typeface="Source Sans Pro"/>
              </a:rPr>
              <a:t>haciendo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uso</a:t>
            </a:r>
            <a:r>
              <a:rPr lang="en-US" sz="1600" spc="-10" dirty="0">
                <a:cs typeface="Source Sans Pro"/>
              </a:rPr>
              <a:t> de las </a:t>
            </a:r>
            <a:r>
              <a:rPr lang="en-US" sz="1600" spc="-10" dirty="0" err="1">
                <a:cs typeface="Source Sans Pro"/>
              </a:rPr>
              <a:t>instalaciones</a:t>
            </a:r>
            <a:r>
              <a:rPr lang="en-US" sz="1600" spc="-10" dirty="0">
                <a:cs typeface="Source Sans Pro"/>
              </a:rPr>
              <a:t> de la red de </a:t>
            </a:r>
            <a:r>
              <a:rPr lang="en-US" sz="1600" spc="-10" dirty="0" err="1">
                <a:cs typeface="Source Sans Pro"/>
              </a:rPr>
              <a:t>su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anfitrión</a:t>
            </a:r>
            <a:r>
              <a:rPr lang="en-US" sz="1600" spc="-10" dirty="0">
                <a:cs typeface="Source Sans Pro"/>
              </a:rPr>
              <a:t>.</a:t>
            </a:r>
          </a:p>
        </p:txBody>
      </p:sp>
      <p:sp>
        <p:nvSpPr>
          <p:cNvPr id="8" name="CuadroTexto 7"/>
          <p:cNvSpPr txBox="1"/>
          <p:nvPr/>
        </p:nvSpPr>
        <p:spPr>
          <a:xfrm>
            <a:off x="5804034" y="-163629"/>
            <a:ext cx="914400" cy="914400"/>
          </a:xfrm>
          <a:prstGeom prst="rect">
            <a:avLst/>
          </a:prstGeom>
        </p:spPr>
        <p:txBody>
          <a:bodyPr wrap="none" lIns="91425" tIns="91425" rIns="91425" bIns="91425" rtlCol="0" anchor="t" anchorCtr="0">
            <a:noAutofit/>
          </a:bodyPr>
          <a:lstStyle/>
          <a:p>
            <a:pPr marL="174625" indent="-174625">
              <a:spcBef>
                <a:spcPts val="0"/>
              </a:spcBef>
              <a:buSzPct val="100000"/>
            </a:pPr>
            <a:endParaRPr lang="es-ES_tradnl" sz="1500" dirty="0" smtClean="0">
              <a:latin typeface="Calibri"/>
              <a:cs typeface="Calibri"/>
            </a:endParaRPr>
          </a:p>
        </p:txBody>
      </p:sp>
      <p:sp>
        <p:nvSpPr>
          <p:cNvPr id="14" name="Rectangle 5"/>
          <p:cNvSpPr/>
          <p:nvPr/>
        </p:nvSpPr>
        <p:spPr>
          <a:xfrm>
            <a:off x="512024" y="331345"/>
            <a:ext cx="6032614" cy="2000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1300" dirty="0" smtClean="0">
                <a:solidFill>
                  <a:srgbClr val="438AD7"/>
                </a:solidFill>
              </a:rPr>
              <a:t>/ </a:t>
            </a:r>
            <a:r>
              <a:rPr lang="en-US" sz="1300" dirty="0">
                <a:solidFill>
                  <a:srgbClr val="438AD7"/>
                </a:solidFill>
              </a:rPr>
              <a:t>PROTECCIÓN CONTRA CÓDIGO MALICIOSO</a:t>
            </a:r>
          </a:p>
        </p:txBody>
      </p:sp>
      <p:pic>
        <p:nvPicPr>
          <p:cNvPr id="9" name="Imagen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0334" y="2167847"/>
            <a:ext cx="3683333" cy="276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28534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1F8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7" name="Rectangle 3"/>
          <p:cNvSpPr/>
          <p:nvPr/>
        </p:nvSpPr>
        <p:spPr>
          <a:xfrm>
            <a:off x="424252" y="3703125"/>
            <a:ext cx="7966170" cy="480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2800" b="1" dirty="0" smtClean="0">
                <a:solidFill>
                  <a:schemeClr val="bg1"/>
                </a:solidFill>
                <a:latin typeface="Calibri"/>
                <a:cs typeface="Calibri"/>
              </a:rPr>
              <a:t>/ </a:t>
            </a:r>
            <a:r>
              <a:rPr lang="es-PE" sz="2800" b="1" dirty="0">
                <a:solidFill>
                  <a:schemeClr val="bg1"/>
                </a:solidFill>
                <a:cs typeface="Calibri"/>
              </a:rPr>
              <a:t>COPIA DE SEGURIDAD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639454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/>
          <p:nvPr/>
        </p:nvSpPr>
        <p:spPr>
          <a:xfrm>
            <a:off x="512024" y="331345"/>
            <a:ext cx="6032614" cy="2000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1300" smtClean="0">
                <a:solidFill>
                  <a:srgbClr val="438AD7"/>
                </a:solidFill>
              </a:rPr>
              <a:t>/ </a:t>
            </a:r>
            <a:r>
              <a:rPr lang="en-US" sz="1300">
                <a:solidFill>
                  <a:srgbClr val="438AD7"/>
                </a:solidFill>
              </a:rPr>
              <a:t>COPIA DE SEGURIDAD</a:t>
            </a:r>
          </a:p>
        </p:txBody>
      </p:sp>
      <p:sp>
        <p:nvSpPr>
          <p:cNvPr id="8" name="CuadroTexto 7"/>
          <p:cNvSpPr txBox="1"/>
          <p:nvPr/>
        </p:nvSpPr>
        <p:spPr>
          <a:xfrm>
            <a:off x="5804034" y="-163629"/>
            <a:ext cx="914400" cy="914400"/>
          </a:xfrm>
          <a:prstGeom prst="rect">
            <a:avLst/>
          </a:prstGeom>
        </p:spPr>
        <p:txBody>
          <a:bodyPr wrap="none" lIns="91425" tIns="91425" rIns="91425" bIns="91425" rtlCol="0" anchor="t" anchorCtr="0">
            <a:noAutofit/>
          </a:bodyPr>
          <a:lstStyle/>
          <a:p>
            <a:pPr marL="174625" indent="-174625">
              <a:spcBef>
                <a:spcPts val="0"/>
              </a:spcBef>
              <a:buSzPct val="100000"/>
            </a:pPr>
            <a:endParaRPr lang="es-ES_tradnl" sz="1500" dirty="0" smtClean="0">
              <a:latin typeface="Calibri"/>
              <a:cs typeface="Calibri"/>
            </a:endParaRPr>
          </a:p>
        </p:txBody>
      </p:sp>
      <p:sp>
        <p:nvSpPr>
          <p:cNvPr id="6" name="object 7"/>
          <p:cNvSpPr txBox="1"/>
          <p:nvPr/>
        </p:nvSpPr>
        <p:spPr>
          <a:xfrm>
            <a:off x="507698" y="954483"/>
            <a:ext cx="8167990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buSzPct val="100000"/>
              <a:tabLst>
                <a:tab pos="85725" algn="l"/>
              </a:tabLst>
            </a:pPr>
            <a:r>
              <a:rPr lang="en-US" sz="1600" b="1" spc="-10" dirty="0" smtClean="0">
                <a:cs typeface="Source Sans Pro"/>
              </a:rPr>
              <a:t>AGENDA</a:t>
            </a:r>
            <a:endParaRPr lang="en-US" sz="1600" b="1" spc="-10" dirty="0">
              <a:cs typeface="Source Sans Pro"/>
            </a:endParaRPr>
          </a:p>
        </p:txBody>
      </p:sp>
      <p:graphicFrame>
        <p:nvGraphicFramePr>
          <p:cNvPr id="7" name="Diagrama 6"/>
          <p:cNvGraphicFramePr/>
          <p:nvPr>
            <p:extLst>
              <p:ext uri="{D42A27DB-BD31-4B8C-83A1-F6EECF244321}">
                <p14:modId xmlns:p14="http://schemas.microsoft.com/office/powerpoint/2010/main" val="246143658"/>
              </p:ext>
            </p:extLst>
          </p:nvPr>
        </p:nvGraphicFramePr>
        <p:xfrm>
          <a:off x="1717386" y="1273175"/>
          <a:ext cx="5709228" cy="2879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6860552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/>
          <p:cNvSpPr txBox="1"/>
          <p:nvPr/>
        </p:nvSpPr>
        <p:spPr>
          <a:xfrm>
            <a:off x="5804034" y="-163629"/>
            <a:ext cx="914400" cy="914400"/>
          </a:xfrm>
          <a:prstGeom prst="rect">
            <a:avLst/>
          </a:prstGeom>
        </p:spPr>
        <p:txBody>
          <a:bodyPr wrap="none" lIns="91425" tIns="91425" rIns="91425" bIns="91425" rtlCol="0" anchor="t" anchorCtr="0">
            <a:noAutofit/>
          </a:bodyPr>
          <a:lstStyle/>
          <a:p>
            <a:pPr marL="174625" indent="-174625">
              <a:spcBef>
                <a:spcPts val="0"/>
              </a:spcBef>
              <a:buSzPct val="100000"/>
            </a:pPr>
            <a:endParaRPr lang="es-ES_tradnl" sz="1500" dirty="0" smtClean="0">
              <a:latin typeface="Calibri"/>
              <a:cs typeface="Calibri"/>
            </a:endParaRPr>
          </a:p>
        </p:txBody>
      </p:sp>
      <p:graphicFrame>
        <p:nvGraphicFramePr>
          <p:cNvPr id="9" name="Diagrama 8"/>
          <p:cNvGraphicFramePr/>
          <p:nvPr>
            <p:extLst>
              <p:ext uri="{D42A27DB-BD31-4B8C-83A1-F6EECF244321}">
                <p14:modId xmlns:p14="http://schemas.microsoft.com/office/powerpoint/2010/main" val="162134471"/>
              </p:ext>
            </p:extLst>
          </p:nvPr>
        </p:nvGraphicFramePr>
        <p:xfrm>
          <a:off x="468313" y="1260917"/>
          <a:ext cx="8207375" cy="31234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Rectangle 5"/>
          <p:cNvSpPr/>
          <p:nvPr/>
        </p:nvSpPr>
        <p:spPr>
          <a:xfrm>
            <a:off x="512024" y="331345"/>
            <a:ext cx="6032614" cy="2000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1300" smtClean="0">
                <a:solidFill>
                  <a:srgbClr val="438AD7"/>
                </a:solidFill>
              </a:rPr>
              <a:t>/ </a:t>
            </a:r>
            <a:r>
              <a:rPr lang="en-US" sz="1300">
                <a:solidFill>
                  <a:srgbClr val="438AD7"/>
                </a:solidFill>
              </a:rPr>
              <a:t>COPIA DE SEGURIDAD</a:t>
            </a:r>
          </a:p>
        </p:txBody>
      </p:sp>
    </p:spTree>
    <p:extLst>
      <p:ext uri="{BB962C8B-B14F-4D97-AF65-F5344CB8AC3E}">
        <p14:creationId xmlns:p14="http://schemas.microsoft.com/office/powerpoint/2010/main" val="200877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/>
          <p:nvPr/>
        </p:nvSpPr>
        <p:spPr>
          <a:xfrm>
            <a:off x="507698" y="954483"/>
            <a:ext cx="8167990" cy="7386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buSzPct val="100000"/>
              <a:tabLst>
                <a:tab pos="85725" algn="l"/>
              </a:tabLst>
            </a:pPr>
            <a:r>
              <a:rPr lang="en-US" sz="1600" b="1" spc="-10" dirty="0" smtClean="0">
                <a:cs typeface="Source Sans Pro"/>
              </a:rPr>
              <a:t>OBJETIVO</a:t>
            </a:r>
          </a:p>
          <a:p>
            <a:pPr>
              <a:buSzPct val="100000"/>
              <a:tabLst>
                <a:tab pos="85725" algn="l"/>
              </a:tabLst>
            </a:pPr>
            <a:r>
              <a:rPr lang="en-US" sz="1600" b="1" spc="-10" dirty="0" smtClean="0">
                <a:cs typeface="Source Sans Pro"/>
              </a:rPr>
              <a:t>A.12.3 </a:t>
            </a:r>
            <a:r>
              <a:rPr lang="en-US" sz="1600" b="1" spc="-10" dirty="0" err="1">
                <a:cs typeface="Source Sans Pro"/>
              </a:rPr>
              <a:t>Copia</a:t>
            </a:r>
            <a:r>
              <a:rPr lang="en-US" sz="1600" b="1" spc="-10" dirty="0">
                <a:cs typeface="Source Sans Pro"/>
              </a:rPr>
              <a:t> de </a:t>
            </a:r>
            <a:r>
              <a:rPr lang="en-US" sz="1600" b="1" spc="-10" dirty="0" err="1">
                <a:cs typeface="Source Sans Pro"/>
              </a:rPr>
              <a:t>seguridad</a:t>
            </a:r>
            <a:endParaRPr lang="en-US" sz="1600" b="1" spc="-10" dirty="0">
              <a:cs typeface="Source Sans Pro"/>
            </a:endParaRPr>
          </a:p>
          <a:p>
            <a:pPr>
              <a:buSzPct val="100000"/>
              <a:tabLst>
                <a:tab pos="85725" algn="l"/>
              </a:tabLst>
            </a:pPr>
            <a:r>
              <a:rPr lang="en-US" sz="1600" b="1" spc="-10" dirty="0" err="1">
                <a:cs typeface="Source Sans Pro"/>
              </a:rPr>
              <a:t>Objetivo</a:t>
            </a:r>
            <a:r>
              <a:rPr lang="en-US" sz="1600" b="1" spc="-10" dirty="0">
                <a:cs typeface="Source Sans Pro"/>
              </a:rPr>
              <a:t>: </a:t>
            </a:r>
            <a:r>
              <a:rPr lang="en-US" sz="1600" spc="-10" dirty="0" err="1">
                <a:cs typeface="Source Sans Pro"/>
              </a:rPr>
              <a:t>Proteger</a:t>
            </a:r>
            <a:r>
              <a:rPr lang="en-US" sz="1600" spc="-10" dirty="0">
                <a:cs typeface="Source Sans Pro"/>
              </a:rPr>
              <a:t> contra la </a:t>
            </a:r>
            <a:r>
              <a:rPr lang="en-US" sz="1600" spc="-10" dirty="0" err="1">
                <a:cs typeface="Source Sans Pro"/>
              </a:rPr>
              <a:t>pérdida</a:t>
            </a:r>
            <a:r>
              <a:rPr lang="en-US" sz="1600" spc="-10" dirty="0">
                <a:cs typeface="Source Sans Pro"/>
              </a:rPr>
              <a:t> de </a:t>
            </a:r>
            <a:r>
              <a:rPr lang="en-US" sz="1600" spc="-10" dirty="0" err="1">
                <a:cs typeface="Source Sans Pro"/>
              </a:rPr>
              <a:t>datos</a:t>
            </a:r>
            <a:r>
              <a:rPr lang="en-US" sz="1600" spc="-10" dirty="0">
                <a:cs typeface="Source Sans Pro"/>
              </a:rPr>
              <a:t>.</a:t>
            </a:r>
          </a:p>
        </p:txBody>
      </p:sp>
      <p:sp>
        <p:nvSpPr>
          <p:cNvPr id="8" name="CuadroTexto 7"/>
          <p:cNvSpPr txBox="1"/>
          <p:nvPr/>
        </p:nvSpPr>
        <p:spPr>
          <a:xfrm>
            <a:off x="5804034" y="-163629"/>
            <a:ext cx="914400" cy="914400"/>
          </a:xfrm>
          <a:prstGeom prst="rect">
            <a:avLst/>
          </a:prstGeom>
        </p:spPr>
        <p:txBody>
          <a:bodyPr wrap="none" lIns="91425" tIns="91425" rIns="91425" bIns="91425" rtlCol="0" anchor="t" anchorCtr="0">
            <a:noAutofit/>
          </a:bodyPr>
          <a:lstStyle/>
          <a:p>
            <a:pPr marL="174625" indent="-174625">
              <a:spcBef>
                <a:spcPts val="0"/>
              </a:spcBef>
              <a:buSzPct val="100000"/>
            </a:pPr>
            <a:endParaRPr lang="es-ES_tradnl" sz="1500" dirty="0" smtClean="0">
              <a:latin typeface="Calibri"/>
              <a:cs typeface="Calibri"/>
            </a:endParaRPr>
          </a:p>
        </p:txBody>
      </p:sp>
      <p:sp>
        <p:nvSpPr>
          <p:cNvPr id="5" name="Rectangle 5"/>
          <p:cNvSpPr/>
          <p:nvPr/>
        </p:nvSpPr>
        <p:spPr>
          <a:xfrm>
            <a:off x="512024" y="331345"/>
            <a:ext cx="6032614" cy="2000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1300" smtClean="0">
                <a:solidFill>
                  <a:srgbClr val="438AD7"/>
                </a:solidFill>
              </a:rPr>
              <a:t>/ </a:t>
            </a:r>
            <a:r>
              <a:rPr lang="en-US" sz="1300">
                <a:solidFill>
                  <a:srgbClr val="438AD7"/>
                </a:solidFill>
              </a:rPr>
              <a:t>COPIA DE SEGURIDAD</a:t>
            </a:r>
          </a:p>
        </p:txBody>
      </p:sp>
    </p:spTree>
    <p:extLst>
      <p:ext uri="{BB962C8B-B14F-4D97-AF65-F5344CB8AC3E}">
        <p14:creationId xmlns:p14="http://schemas.microsoft.com/office/powerpoint/2010/main" val="11691739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/>
          <p:nvPr/>
        </p:nvSpPr>
        <p:spPr>
          <a:xfrm>
            <a:off x="507698" y="954483"/>
            <a:ext cx="8167990" cy="7386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buSzPct val="100000"/>
              <a:tabLst>
                <a:tab pos="85725" algn="l"/>
              </a:tabLst>
            </a:pPr>
            <a:r>
              <a:rPr lang="en-US" sz="1600" b="1" spc="-10" dirty="0">
                <a:cs typeface="Source Sans Pro"/>
              </a:rPr>
              <a:t>A.12.3.1 </a:t>
            </a:r>
            <a:r>
              <a:rPr lang="en-US" sz="1600" b="1" spc="-10" dirty="0" err="1">
                <a:cs typeface="Source Sans Pro"/>
              </a:rPr>
              <a:t>Copia</a:t>
            </a:r>
            <a:r>
              <a:rPr lang="en-US" sz="1600" b="1" spc="-10" dirty="0">
                <a:cs typeface="Source Sans Pro"/>
              </a:rPr>
              <a:t> de </a:t>
            </a:r>
            <a:r>
              <a:rPr lang="en-US" sz="1600" b="1" spc="-10" dirty="0" err="1">
                <a:cs typeface="Source Sans Pro"/>
              </a:rPr>
              <a:t>seguridad</a:t>
            </a:r>
            <a:r>
              <a:rPr lang="en-US" sz="1600" b="1" spc="-10" dirty="0">
                <a:cs typeface="Source Sans Pro"/>
              </a:rPr>
              <a:t> de la </a:t>
            </a:r>
            <a:r>
              <a:rPr lang="en-US" sz="1600" b="1" spc="-10" dirty="0" err="1">
                <a:cs typeface="Source Sans Pro"/>
              </a:rPr>
              <a:t>información</a:t>
            </a:r>
            <a:endParaRPr lang="en-US" sz="1600" b="1" spc="-10" dirty="0">
              <a:cs typeface="Source Sans Pro"/>
            </a:endParaRPr>
          </a:p>
          <a:p>
            <a:pPr>
              <a:buSzPct val="100000"/>
              <a:tabLst>
                <a:tab pos="85725" algn="l"/>
              </a:tabLst>
            </a:pPr>
            <a:r>
              <a:rPr lang="en-US" sz="1600" spc="-10" dirty="0">
                <a:cs typeface="Source Sans Pro"/>
              </a:rPr>
              <a:t>Se </a:t>
            </a:r>
            <a:r>
              <a:rPr lang="en-US" sz="1600" spc="-10" dirty="0" err="1">
                <a:cs typeface="Source Sans Pro"/>
              </a:rPr>
              <a:t>deberán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realizar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copias</a:t>
            </a:r>
            <a:r>
              <a:rPr lang="en-US" sz="1600" spc="-10" dirty="0">
                <a:cs typeface="Source Sans Pro"/>
              </a:rPr>
              <a:t> de </a:t>
            </a:r>
            <a:r>
              <a:rPr lang="en-US" sz="1600" spc="-10" dirty="0" err="1">
                <a:cs typeface="Source Sans Pro"/>
              </a:rPr>
              <a:t>seguridad</a:t>
            </a:r>
            <a:r>
              <a:rPr lang="en-US" sz="1600" spc="-10" dirty="0">
                <a:cs typeface="Source Sans Pro"/>
              </a:rPr>
              <a:t> de la </a:t>
            </a:r>
            <a:r>
              <a:rPr lang="en-US" sz="1600" spc="-10" dirty="0" err="1">
                <a:cs typeface="Source Sans Pro"/>
              </a:rPr>
              <a:t>información</a:t>
            </a:r>
            <a:r>
              <a:rPr lang="en-US" sz="1600" spc="-10" dirty="0">
                <a:cs typeface="Source Sans Pro"/>
              </a:rPr>
              <a:t> y del software, y se </a:t>
            </a:r>
            <a:r>
              <a:rPr lang="en-US" sz="1600" spc="-10" dirty="0" err="1">
                <a:cs typeface="Source Sans Pro"/>
              </a:rPr>
              <a:t>deberán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probar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periódicamente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en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conformidad</a:t>
            </a:r>
            <a:r>
              <a:rPr lang="en-US" sz="1600" spc="-10" dirty="0">
                <a:cs typeface="Source Sans Pro"/>
              </a:rPr>
              <a:t> con la </a:t>
            </a:r>
            <a:r>
              <a:rPr lang="en-US" sz="1600" spc="-10" dirty="0" err="1">
                <a:cs typeface="Source Sans Pro"/>
              </a:rPr>
              <a:t>política</a:t>
            </a:r>
            <a:r>
              <a:rPr lang="en-US" sz="1600" spc="-10" dirty="0">
                <a:cs typeface="Source Sans Pro"/>
              </a:rPr>
              <a:t> de </a:t>
            </a:r>
            <a:r>
              <a:rPr lang="en-US" sz="1600" spc="-10" dirty="0" err="1">
                <a:cs typeface="Source Sans Pro"/>
              </a:rPr>
              <a:t>copias</a:t>
            </a:r>
            <a:r>
              <a:rPr lang="en-US" sz="1600" spc="-10" dirty="0">
                <a:cs typeface="Source Sans Pro"/>
              </a:rPr>
              <a:t> de </a:t>
            </a:r>
            <a:r>
              <a:rPr lang="en-US" sz="1600" spc="-10" dirty="0" err="1">
                <a:cs typeface="Source Sans Pro"/>
              </a:rPr>
              <a:t>seguridad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acordada</a:t>
            </a:r>
            <a:r>
              <a:rPr lang="en-US" sz="1600" spc="-10" dirty="0">
                <a:cs typeface="Source Sans Pro"/>
              </a:rPr>
              <a:t>.</a:t>
            </a:r>
          </a:p>
        </p:txBody>
      </p:sp>
      <p:sp>
        <p:nvSpPr>
          <p:cNvPr id="8" name="CuadroTexto 7"/>
          <p:cNvSpPr txBox="1"/>
          <p:nvPr/>
        </p:nvSpPr>
        <p:spPr>
          <a:xfrm>
            <a:off x="5804034" y="-163629"/>
            <a:ext cx="914400" cy="914400"/>
          </a:xfrm>
          <a:prstGeom prst="rect">
            <a:avLst/>
          </a:prstGeom>
        </p:spPr>
        <p:txBody>
          <a:bodyPr wrap="none" lIns="91425" tIns="91425" rIns="91425" bIns="91425" rtlCol="0" anchor="t" anchorCtr="0">
            <a:noAutofit/>
          </a:bodyPr>
          <a:lstStyle/>
          <a:p>
            <a:pPr marL="174625" indent="-174625">
              <a:spcBef>
                <a:spcPts val="0"/>
              </a:spcBef>
              <a:buSzPct val="100000"/>
            </a:pPr>
            <a:endParaRPr lang="es-ES_tradnl" sz="1500" dirty="0" smtClean="0">
              <a:latin typeface="Calibri"/>
              <a:cs typeface="Calibri"/>
            </a:endParaRPr>
          </a:p>
        </p:txBody>
      </p:sp>
      <p:sp>
        <p:nvSpPr>
          <p:cNvPr id="5" name="Rectangle 5"/>
          <p:cNvSpPr/>
          <p:nvPr/>
        </p:nvSpPr>
        <p:spPr>
          <a:xfrm>
            <a:off x="512024" y="331345"/>
            <a:ext cx="6032614" cy="2000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1300" smtClean="0">
                <a:solidFill>
                  <a:srgbClr val="438AD7"/>
                </a:solidFill>
              </a:rPr>
              <a:t>/ </a:t>
            </a:r>
            <a:r>
              <a:rPr lang="en-US" sz="1300">
                <a:solidFill>
                  <a:srgbClr val="438AD7"/>
                </a:solidFill>
              </a:rPr>
              <a:t>COPIA DE SEGURIDAD</a:t>
            </a:r>
          </a:p>
        </p:txBody>
      </p:sp>
    </p:spTree>
    <p:extLst>
      <p:ext uri="{BB962C8B-B14F-4D97-AF65-F5344CB8AC3E}">
        <p14:creationId xmlns:p14="http://schemas.microsoft.com/office/powerpoint/2010/main" val="19686823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/>
          <p:nvPr/>
        </p:nvSpPr>
        <p:spPr>
          <a:xfrm>
            <a:off x="507698" y="954483"/>
            <a:ext cx="8167990" cy="9848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buSzPct val="100000"/>
              <a:tabLst>
                <a:tab pos="85725" algn="l"/>
              </a:tabLst>
            </a:pPr>
            <a:r>
              <a:rPr lang="en-US" sz="1600" b="1" spc="-10" dirty="0" smtClean="0">
                <a:cs typeface="Source Sans Pro"/>
              </a:rPr>
              <a:t>CONCEPTO</a:t>
            </a:r>
          </a:p>
          <a:p>
            <a:pPr>
              <a:buSzPct val="100000"/>
              <a:tabLst>
                <a:tab pos="85725" algn="l"/>
              </a:tabLst>
            </a:pPr>
            <a:r>
              <a:rPr lang="en-US" sz="1600" spc="-10" dirty="0" smtClean="0">
                <a:cs typeface="Source Sans Pro"/>
              </a:rPr>
              <a:t>Las </a:t>
            </a:r>
            <a:r>
              <a:rPr lang="en-US" sz="1600" spc="-10" dirty="0" err="1">
                <a:cs typeface="Source Sans Pro"/>
              </a:rPr>
              <a:t>copias</a:t>
            </a:r>
            <a:r>
              <a:rPr lang="en-US" sz="1600" spc="-10" dirty="0">
                <a:cs typeface="Source Sans Pro"/>
              </a:rPr>
              <a:t> de </a:t>
            </a:r>
            <a:r>
              <a:rPr lang="en-US" sz="1600" spc="-10" dirty="0" err="1">
                <a:cs typeface="Source Sans Pro"/>
              </a:rPr>
              <a:t>respaldo</a:t>
            </a:r>
            <a:r>
              <a:rPr lang="en-US" sz="1600" spc="-10" dirty="0">
                <a:cs typeface="Source Sans Pro"/>
              </a:rPr>
              <a:t> (backups) son </a:t>
            </a:r>
            <a:r>
              <a:rPr lang="en-US" sz="1600" spc="-10" dirty="0" err="1">
                <a:cs typeface="Source Sans Pro"/>
              </a:rPr>
              <a:t>copias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parciales</a:t>
            </a:r>
            <a:r>
              <a:rPr lang="en-US" sz="1600" spc="-10" dirty="0">
                <a:cs typeface="Source Sans Pro"/>
              </a:rPr>
              <a:t> o </a:t>
            </a:r>
            <a:r>
              <a:rPr lang="en-US" sz="1600" spc="-10" dirty="0" err="1">
                <a:cs typeface="Source Sans Pro"/>
              </a:rPr>
              <a:t>totales</a:t>
            </a:r>
            <a:r>
              <a:rPr lang="en-US" sz="1600" spc="-10" dirty="0">
                <a:cs typeface="Source Sans Pro"/>
              </a:rPr>
              <a:t> de </a:t>
            </a:r>
            <a:r>
              <a:rPr lang="en-US" sz="1600" spc="-10" dirty="0" err="1">
                <a:cs typeface="Source Sans Pro"/>
              </a:rPr>
              <a:t>información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en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otro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sistema</a:t>
            </a:r>
            <a:r>
              <a:rPr lang="en-US" sz="1600" spc="-10" dirty="0">
                <a:cs typeface="Source Sans Pro"/>
              </a:rPr>
              <a:t> de </a:t>
            </a:r>
            <a:r>
              <a:rPr lang="en-US" sz="1600" spc="-10" dirty="0" err="1">
                <a:cs typeface="Source Sans Pro"/>
              </a:rPr>
              <a:t>almacenamiento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masivo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como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por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ejemplo</a:t>
            </a:r>
            <a:r>
              <a:rPr lang="en-US" sz="1600" spc="-10" dirty="0">
                <a:cs typeface="Source Sans Pro"/>
              </a:rPr>
              <a:t>: discos </a:t>
            </a:r>
            <a:r>
              <a:rPr lang="en-US" sz="1600" spc="-10" dirty="0" err="1">
                <a:cs typeface="Source Sans Pro"/>
              </a:rPr>
              <a:t>duros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externos</a:t>
            </a:r>
            <a:r>
              <a:rPr lang="en-US" sz="1600" spc="-10" dirty="0">
                <a:cs typeface="Source Sans Pro"/>
              </a:rPr>
              <a:t>, CD-ROM, DVD, </a:t>
            </a:r>
            <a:r>
              <a:rPr lang="en-US" sz="1600" spc="-10" dirty="0" err="1">
                <a:cs typeface="Source Sans Pro"/>
              </a:rPr>
              <a:t>cintas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magnéticas</a:t>
            </a:r>
            <a:r>
              <a:rPr lang="en-US" sz="1600" spc="-10" dirty="0">
                <a:cs typeface="Source Sans Pro"/>
              </a:rPr>
              <a:t>, </a:t>
            </a:r>
            <a:r>
              <a:rPr lang="en-US" sz="1600" spc="-10" dirty="0" err="1">
                <a:cs typeface="Source Sans Pro"/>
              </a:rPr>
              <a:t>espacio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en</a:t>
            </a:r>
            <a:r>
              <a:rPr lang="en-US" sz="1600" spc="-10" dirty="0">
                <a:cs typeface="Source Sans Pro"/>
              </a:rPr>
              <a:t> la </a:t>
            </a:r>
            <a:r>
              <a:rPr lang="en-US" sz="1600" spc="-10" dirty="0" err="1">
                <a:cs typeface="Source Sans Pro"/>
              </a:rPr>
              <a:t>nube</a:t>
            </a:r>
            <a:r>
              <a:rPr lang="en-US" sz="1600" spc="-10" dirty="0">
                <a:cs typeface="Source Sans Pro"/>
              </a:rPr>
              <a:t> u </a:t>
            </a:r>
            <a:r>
              <a:rPr lang="en-US" sz="1600" spc="-10" dirty="0" err="1">
                <a:cs typeface="Source Sans Pro"/>
              </a:rPr>
              <a:t>otros</a:t>
            </a:r>
            <a:r>
              <a:rPr lang="en-US" sz="1600" spc="-10" dirty="0">
                <a:cs typeface="Source Sans Pro"/>
              </a:rPr>
              <a:t>.</a:t>
            </a:r>
          </a:p>
        </p:txBody>
      </p:sp>
      <p:sp>
        <p:nvSpPr>
          <p:cNvPr id="8" name="CuadroTexto 7"/>
          <p:cNvSpPr txBox="1"/>
          <p:nvPr/>
        </p:nvSpPr>
        <p:spPr>
          <a:xfrm>
            <a:off x="5804034" y="-163629"/>
            <a:ext cx="914400" cy="914400"/>
          </a:xfrm>
          <a:prstGeom prst="rect">
            <a:avLst/>
          </a:prstGeom>
        </p:spPr>
        <p:txBody>
          <a:bodyPr wrap="none" lIns="91425" tIns="91425" rIns="91425" bIns="91425" rtlCol="0" anchor="t" anchorCtr="0">
            <a:noAutofit/>
          </a:bodyPr>
          <a:lstStyle/>
          <a:p>
            <a:pPr marL="174625" indent="-174625">
              <a:spcBef>
                <a:spcPts val="0"/>
              </a:spcBef>
              <a:buSzPct val="100000"/>
            </a:pPr>
            <a:endParaRPr lang="es-ES_tradnl" sz="1500" dirty="0" smtClean="0">
              <a:latin typeface="Calibri"/>
              <a:cs typeface="Calibri"/>
            </a:endParaRPr>
          </a:p>
        </p:txBody>
      </p:sp>
      <p:sp>
        <p:nvSpPr>
          <p:cNvPr id="5" name="Rectangle 5"/>
          <p:cNvSpPr/>
          <p:nvPr/>
        </p:nvSpPr>
        <p:spPr>
          <a:xfrm>
            <a:off x="512024" y="331345"/>
            <a:ext cx="6032614" cy="2000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1300" smtClean="0">
                <a:solidFill>
                  <a:srgbClr val="438AD7"/>
                </a:solidFill>
              </a:rPr>
              <a:t>/ </a:t>
            </a:r>
            <a:r>
              <a:rPr lang="en-US" sz="1300">
                <a:solidFill>
                  <a:srgbClr val="438AD7"/>
                </a:solidFill>
              </a:rPr>
              <a:t>COPIA DE SEGURIDAD</a:t>
            </a:r>
          </a:p>
        </p:txBody>
      </p:sp>
      <p:pic>
        <p:nvPicPr>
          <p:cNvPr id="6" name="Picture 2" descr="Resultado de imagen para copia de respaldo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0140" y="2270588"/>
            <a:ext cx="2923721" cy="2701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502008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/>
          <p:nvPr/>
        </p:nvSpPr>
        <p:spPr>
          <a:xfrm>
            <a:off x="507698" y="954483"/>
            <a:ext cx="8167990" cy="1969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buSzPct val="100000"/>
              <a:tabLst>
                <a:tab pos="85725" algn="l"/>
              </a:tabLst>
            </a:pPr>
            <a:r>
              <a:rPr lang="en-US" sz="1600" b="1" spc="-10" dirty="0" smtClean="0">
                <a:cs typeface="Source Sans Pro"/>
              </a:rPr>
              <a:t>PROCEDIMIENTO BÁSICO DE COPIA DE SEGURIDAD</a:t>
            </a:r>
          </a:p>
          <a:p>
            <a:pPr marL="184150" indent="-184150">
              <a:buSzPct val="100000"/>
              <a:buFont typeface="Arial" charset="0"/>
              <a:buChar char="•"/>
              <a:tabLst>
                <a:tab pos="85725" algn="l"/>
              </a:tabLst>
            </a:pPr>
            <a:r>
              <a:rPr lang="en-US" sz="1600" spc="-10" dirty="0" smtClean="0">
                <a:cs typeface="Source Sans Pro"/>
              </a:rPr>
              <a:t>Para </a:t>
            </a:r>
            <a:r>
              <a:rPr lang="en-US" sz="1600" spc="-10" dirty="0" err="1">
                <a:cs typeface="Source Sans Pro"/>
              </a:rPr>
              <a:t>efectuar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los</a:t>
            </a:r>
            <a:r>
              <a:rPr lang="en-US" sz="1600" spc="-10" dirty="0">
                <a:cs typeface="Source Sans Pro"/>
              </a:rPr>
              <a:t> backups </a:t>
            </a:r>
            <a:r>
              <a:rPr lang="en-US" sz="1600" spc="-10" dirty="0" err="1">
                <a:cs typeface="Source Sans Pro"/>
              </a:rPr>
              <a:t>correctamente</a:t>
            </a:r>
            <a:r>
              <a:rPr lang="en-US" sz="1600" spc="-10" dirty="0">
                <a:cs typeface="Source Sans Pro"/>
              </a:rPr>
              <a:t>, el primer </a:t>
            </a:r>
            <a:r>
              <a:rPr lang="en-US" sz="1600" spc="-10" dirty="0" err="1">
                <a:cs typeface="Source Sans Pro"/>
              </a:rPr>
              <a:t>paso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consiste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en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identificar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qué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datos</a:t>
            </a:r>
            <a:r>
              <a:rPr lang="en-US" sz="1600" spc="-10" dirty="0">
                <a:cs typeface="Source Sans Pro"/>
              </a:rPr>
              <a:t> se </a:t>
            </a:r>
            <a:r>
              <a:rPr lang="en-US" sz="1600" spc="-10" dirty="0" err="1">
                <a:cs typeface="Source Sans Pro"/>
              </a:rPr>
              <a:t>deben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proteger</a:t>
            </a:r>
            <a:r>
              <a:rPr lang="en-US" sz="1600" spc="-10" dirty="0">
                <a:cs typeface="Source Sans Pro"/>
              </a:rPr>
              <a:t> (</a:t>
            </a:r>
            <a:r>
              <a:rPr lang="en-US" sz="1600" spc="-10" dirty="0" err="1">
                <a:cs typeface="Source Sans Pro"/>
              </a:rPr>
              <a:t>ficheros</a:t>
            </a:r>
            <a:r>
              <a:rPr lang="en-US" sz="1600" spc="-10" dirty="0">
                <a:cs typeface="Source Sans Pro"/>
              </a:rPr>
              <a:t>, bases de </a:t>
            </a:r>
            <a:r>
              <a:rPr lang="en-US" sz="1600" spc="-10" dirty="0" err="1">
                <a:cs typeface="Source Sans Pro"/>
              </a:rPr>
              <a:t>datos</a:t>
            </a:r>
            <a:r>
              <a:rPr lang="en-US" sz="1600" spc="-10" dirty="0">
                <a:cs typeface="Source Sans Pro"/>
              </a:rPr>
              <a:t>, </a:t>
            </a:r>
            <a:r>
              <a:rPr lang="en-US" sz="1600" spc="-10" dirty="0" err="1">
                <a:cs typeface="Source Sans Pro"/>
              </a:rPr>
              <a:t>imágenes</a:t>
            </a:r>
            <a:r>
              <a:rPr lang="en-US" sz="1600" spc="-10" dirty="0">
                <a:cs typeface="Source Sans Pro"/>
              </a:rPr>
              <a:t>, </a:t>
            </a:r>
            <a:r>
              <a:rPr lang="en-US" sz="1600" spc="-10" dirty="0" err="1">
                <a:cs typeface="Source Sans Pro"/>
              </a:rPr>
              <a:t>archivos</a:t>
            </a:r>
            <a:r>
              <a:rPr lang="en-US" sz="1600" spc="-10" dirty="0">
                <a:cs typeface="Source Sans Pro"/>
              </a:rPr>
              <a:t> de </a:t>
            </a:r>
            <a:r>
              <a:rPr lang="en-US" sz="1600" spc="-10" dirty="0" err="1">
                <a:cs typeface="Source Sans Pro"/>
              </a:rPr>
              <a:t>configuración</a:t>
            </a:r>
            <a:r>
              <a:rPr lang="en-US" sz="1600" spc="-10" dirty="0">
                <a:cs typeface="Source Sans Pro"/>
              </a:rPr>
              <a:t>, etc</a:t>
            </a:r>
            <a:r>
              <a:rPr lang="en-US" sz="1600" spc="-10" dirty="0" smtClean="0">
                <a:cs typeface="Source Sans Pro"/>
              </a:rPr>
              <a:t>.).</a:t>
            </a:r>
          </a:p>
          <a:p>
            <a:pPr marL="184150" indent="-184150">
              <a:buSzPct val="100000"/>
              <a:buFont typeface="Arial" charset="0"/>
              <a:buChar char="•"/>
              <a:tabLst>
                <a:tab pos="85725" algn="l"/>
              </a:tabLst>
            </a:pPr>
            <a:endParaRPr lang="en-US" sz="1600" spc="-10" dirty="0" smtClean="0">
              <a:cs typeface="Source Sans Pro"/>
            </a:endParaRPr>
          </a:p>
          <a:p>
            <a:pPr marL="184150" indent="-184150">
              <a:buSzPct val="100000"/>
              <a:buFont typeface="Arial" charset="0"/>
              <a:buChar char="•"/>
              <a:tabLst>
                <a:tab pos="85725" algn="l"/>
              </a:tabLst>
            </a:pPr>
            <a:r>
              <a:rPr lang="en-US" sz="1600" spc="-10" dirty="0" err="1" smtClean="0">
                <a:cs typeface="Source Sans Pro"/>
              </a:rPr>
              <a:t>En</a:t>
            </a:r>
            <a:r>
              <a:rPr lang="en-US" sz="1600" spc="-10" dirty="0" smtClean="0">
                <a:cs typeface="Source Sans Pro"/>
              </a:rPr>
              <a:t> </a:t>
            </a:r>
            <a:r>
              <a:rPr lang="en-US" sz="1600" spc="-10" dirty="0">
                <a:cs typeface="Source Sans Pro"/>
              </a:rPr>
              <a:t>el </a:t>
            </a:r>
            <a:r>
              <a:rPr lang="en-US" sz="1600" spc="-10" dirty="0" err="1">
                <a:cs typeface="Source Sans Pro"/>
              </a:rPr>
              <a:t>caso</a:t>
            </a:r>
            <a:r>
              <a:rPr lang="en-US" sz="1600" spc="-10" dirty="0">
                <a:cs typeface="Source Sans Pro"/>
              </a:rPr>
              <a:t> de un </a:t>
            </a:r>
            <a:r>
              <a:rPr lang="en-US" sz="1600" spc="-10" dirty="0" err="1">
                <a:cs typeface="Source Sans Pro"/>
              </a:rPr>
              <a:t>centro</a:t>
            </a:r>
            <a:r>
              <a:rPr lang="en-US" sz="1600" spc="-10" dirty="0">
                <a:cs typeface="Source Sans Pro"/>
              </a:rPr>
              <a:t> de </a:t>
            </a:r>
            <a:r>
              <a:rPr lang="en-US" sz="1600" spc="-10" dirty="0" err="1">
                <a:cs typeface="Source Sans Pro"/>
              </a:rPr>
              <a:t>información</a:t>
            </a:r>
            <a:r>
              <a:rPr lang="en-US" sz="1600" spc="-10" dirty="0">
                <a:cs typeface="Source Sans Pro"/>
              </a:rPr>
              <a:t>, al </a:t>
            </a:r>
            <a:r>
              <a:rPr lang="en-US" sz="1600" spc="-10" dirty="0" err="1">
                <a:cs typeface="Source Sans Pro"/>
              </a:rPr>
              <a:t>menos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deberían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ser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los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siguientes</a:t>
            </a:r>
            <a:r>
              <a:rPr lang="en-US" sz="1600" spc="-10" dirty="0">
                <a:cs typeface="Source Sans Pro"/>
              </a:rPr>
              <a:t>: Bases de </a:t>
            </a:r>
            <a:r>
              <a:rPr lang="en-US" sz="1600" spc="-10" dirty="0" err="1">
                <a:cs typeface="Source Sans Pro"/>
              </a:rPr>
              <a:t>datos</a:t>
            </a:r>
            <a:r>
              <a:rPr lang="en-US" sz="1600" spc="-10" dirty="0">
                <a:cs typeface="Source Sans Pro"/>
              </a:rPr>
              <a:t>, </a:t>
            </a:r>
            <a:r>
              <a:rPr lang="en-US" sz="1600" spc="-10" dirty="0" err="1">
                <a:cs typeface="Source Sans Pro"/>
              </a:rPr>
              <a:t>sitio</a:t>
            </a:r>
            <a:r>
              <a:rPr lang="en-US" sz="1600" spc="-10" dirty="0">
                <a:cs typeface="Source Sans Pro"/>
              </a:rPr>
              <a:t> web del </a:t>
            </a:r>
            <a:r>
              <a:rPr lang="en-US" sz="1600" spc="-10" dirty="0" err="1">
                <a:cs typeface="Source Sans Pro"/>
              </a:rPr>
              <a:t>centro</a:t>
            </a:r>
            <a:r>
              <a:rPr lang="en-US" sz="1600" spc="-10" dirty="0">
                <a:cs typeface="Source Sans Pro"/>
              </a:rPr>
              <a:t>, </a:t>
            </a:r>
            <a:r>
              <a:rPr lang="en-US" sz="1600" spc="-10" dirty="0" err="1">
                <a:cs typeface="Source Sans Pro"/>
              </a:rPr>
              <a:t>colección</a:t>
            </a:r>
            <a:r>
              <a:rPr lang="en-US" sz="1600" spc="-10" dirty="0">
                <a:cs typeface="Source Sans Pro"/>
              </a:rPr>
              <a:t> de </a:t>
            </a:r>
            <a:r>
              <a:rPr lang="en-US" sz="1600" spc="-10" dirty="0" err="1">
                <a:cs typeface="Source Sans Pro"/>
              </a:rPr>
              <a:t>recursos</a:t>
            </a:r>
            <a:r>
              <a:rPr lang="en-US" sz="1600" spc="-10" dirty="0">
                <a:cs typeface="Source Sans Pro"/>
              </a:rPr>
              <a:t> de </a:t>
            </a:r>
            <a:r>
              <a:rPr lang="en-US" sz="1600" spc="-10" dirty="0" err="1">
                <a:cs typeface="Source Sans Pro"/>
              </a:rPr>
              <a:t>información</a:t>
            </a:r>
            <a:r>
              <a:rPr lang="en-US" sz="1600" spc="-10" dirty="0">
                <a:cs typeface="Source Sans Pro"/>
              </a:rPr>
              <a:t>, </a:t>
            </a:r>
            <a:r>
              <a:rPr lang="en-US" sz="1600" spc="-10" dirty="0" err="1">
                <a:cs typeface="Source Sans Pro"/>
              </a:rPr>
              <a:t>correo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electrónico</a:t>
            </a:r>
            <a:r>
              <a:rPr lang="en-US" sz="1600" spc="-10" dirty="0">
                <a:cs typeface="Source Sans Pro"/>
              </a:rPr>
              <a:t>, </a:t>
            </a:r>
            <a:r>
              <a:rPr lang="en-US" sz="1600" spc="-10" dirty="0" err="1">
                <a:cs typeface="Source Sans Pro"/>
              </a:rPr>
              <a:t>archivos</a:t>
            </a:r>
            <a:r>
              <a:rPr lang="en-US" sz="1600" spc="-10" dirty="0">
                <a:cs typeface="Source Sans Pro"/>
              </a:rPr>
              <a:t> de </a:t>
            </a:r>
            <a:r>
              <a:rPr lang="en-US" sz="1600" spc="-10" dirty="0" err="1">
                <a:cs typeface="Source Sans Pro"/>
              </a:rPr>
              <a:t>trabajo</a:t>
            </a:r>
            <a:r>
              <a:rPr lang="en-US" sz="1600" spc="-10" dirty="0">
                <a:cs typeface="Source Sans Pro"/>
              </a:rPr>
              <a:t> de </a:t>
            </a:r>
            <a:r>
              <a:rPr lang="en-US" sz="1600" spc="-10" dirty="0" err="1">
                <a:cs typeface="Source Sans Pro"/>
              </a:rPr>
              <a:t>acuerdo</a:t>
            </a:r>
            <a:r>
              <a:rPr lang="en-US" sz="1600" spc="-10" dirty="0">
                <a:cs typeface="Source Sans Pro"/>
              </a:rPr>
              <a:t> a </a:t>
            </a:r>
            <a:r>
              <a:rPr lang="en-US" sz="1600" spc="-10" dirty="0" err="1">
                <a:cs typeface="Source Sans Pro"/>
              </a:rPr>
              <a:t>su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importancia</a:t>
            </a:r>
            <a:r>
              <a:rPr lang="en-US" sz="1600" spc="-10" dirty="0">
                <a:cs typeface="Source Sans Pro"/>
              </a:rPr>
              <a:t>.</a:t>
            </a:r>
          </a:p>
          <a:p>
            <a:pPr>
              <a:buSzPct val="100000"/>
              <a:tabLst>
                <a:tab pos="85725" algn="l"/>
              </a:tabLst>
            </a:pPr>
            <a:endParaRPr lang="en-US" sz="1600" b="1" spc="-10" dirty="0">
              <a:cs typeface="Source Sans Pro"/>
            </a:endParaRPr>
          </a:p>
        </p:txBody>
      </p:sp>
      <p:sp>
        <p:nvSpPr>
          <p:cNvPr id="8" name="CuadroTexto 7"/>
          <p:cNvSpPr txBox="1"/>
          <p:nvPr/>
        </p:nvSpPr>
        <p:spPr>
          <a:xfrm>
            <a:off x="5804034" y="-163629"/>
            <a:ext cx="914400" cy="914400"/>
          </a:xfrm>
          <a:prstGeom prst="rect">
            <a:avLst/>
          </a:prstGeom>
        </p:spPr>
        <p:txBody>
          <a:bodyPr wrap="none" lIns="91425" tIns="91425" rIns="91425" bIns="91425" rtlCol="0" anchor="t" anchorCtr="0">
            <a:noAutofit/>
          </a:bodyPr>
          <a:lstStyle/>
          <a:p>
            <a:pPr marL="174625" indent="-174625">
              <a:spcBef>
                <a:spcPts val="0"/>
              </a:spcBef>
              <a:buSzPct val="100000"/>
            </a:pPr>
            <a:endParaRPr lang="es-ES_tradnl" sz="1500" dirty="0" smtClean="0">
              <a:latin typeface="Calibri"/>
              <a:cs typeface="Calibri"/>
            </a:endParaRPr>
          </a:p>
        </p:txBody>
      </p:sp>
      <p:sp>
        <p:nvSpPr>
          <p:cNvPr id="5" name="Rectangle 5"/>
          <p:cNvSpPr/>
          <p:nvPr/>
        </p:nvSpPr>
        <p:spPr>
          <a:xfrm>
            <a:off x="512024" y="331345"/>
            <a:ext cx="6032614" cy="2000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1300" smtClean="0">
                <a:solidFill>
                  <a:srgbClr val="438AD7"/>
                </a:solidFill>
              </a:rPr>
              <a:t>/ </a:t>
            </a:r>
            <a:r>
              <a:rPr lang="en-US" sz="1300">
                <a:solidFill>
                  <a:srgbClr val="438AD7"/>
                </a:solidFill>
              </a:rPr>
              <a:t>COPIA DE SEGURIDAD</a:t>
            </a:r>
          </a:p>
        </p:txBody>
      </p:sp>
    </p:spTree>
    <p:extLst>
      <p:ext uri="{BB962C8B-B14F-4D97-AF65-F5344CB8AC3E}">
        <p14:creationId xmlns:p14="http://schemas.microsoft.com/office/powerpoint/2010/main" val="11567303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/>
          <p:nvPr/>
        </p:nvSpPr>
        <p:spPr>
          <a:xfrm>
            <a:off x="507698" y="954483"/>
            <a:ext cx="8167990" cy="9848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buSzPct val="100000"/>
              <a:tabLst>
                <a:tab pos="85725" algn="l"/>
              </a:tabLst>
            </a:pPr>
            <a:r>
              <a:rPr lang="en-US" sz="1600" b="1" spc="-10" dirty="0" smtClean="0">
                <a:cs typeface="Source Sans Pro"/>
              </a:rPr>
              <a:t>TIPOS: TIPO 1. BACKUP COMPLETO </a:t>
            </a:r>
          </a:p>
          <a:p>
            <a:pPr marL="184150" indent="-184150">
              <a:buSzPct val="100000"/>
              <a:buFont typeface="Arial" charset="0"/>
              <a:buChar char="•"/>
              <a:tabLst>
                <a:tab pos="85725" algn="l"/>
              </a:tabLst>
            </a:pPr>
            <a:r>
              <a:rPr lang="en-US" sz="1600" spc="-10" dirty="0" smtClean="0">
                <a:cs typeface="Source Sans Pro"/>
              </a:rPr>
              <a:t>Se </a:t>
            </a:r>
            <a:r>
              <a:rPr lang="en-US" sz="1600" spc="-10" dirty="0" err="1">
                <a:cs typeface="Source Sans Pro"/>
              </a:rPr>
              <a:t>crea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una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copia</a:t>
            </a:r>
            <a:r>
              <a:rPr lang="en-US" sz="1600" spc="-10" dirty="0">
                <a:cs typeface="Source Sans Pro"/>
              </a:rPr>
              <a:t> de </a:t>
            </a:r>
            <a:r>
              <a:rPr lang="en-US" sz="1600" spc="-10" dirty="0" err="1">
                <a:cs typeface="Source Sans Pro"/>
              </a:rPr>
              <a:t>respaldo</a:t>
            </a:r>
            <a:r>
              <a:rPr lang="en-US" sz="1600" spc="-10" dirty="0">
                <a:cs typeface="Source Sans Pro"/>
              </a:rPr>
              <a:t> de </a:t>
            </a:r>
            <a:r>
              <a:rPr lang="en-US" sz="1600" spc="-10" dirty="0" err="1">
                <a:cs typeface="Source Sans Pro"/>
              </a:rPr>
              <a:t>todos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los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archivos</a:t>
            </a:r>
            <a:r>
              <a:rPr lang="en-US" sz="1600" spc="-10" dirty="0">
                <a:cs typeface="Source Sans Pro"/>
              </a:rPr>
              <a:t> y </a:t>
            </a:r>
            <a:r>
              <a:rPr lang="en-US" sz="1600" spc="-10" dirty="0" err="1">
                <a:cs typeface="Source Sans Pro"/>
              </a:rPr>
              <a:t>carpetas</a:t>
            </a:r>
            <a:r>
              <a:rPr lang="en-US" sz="1600" spc="-10" dirty="0">
                <a:cs typeface="Source Sans Pro"/>
              </a:rPr>
              <a:t> del </a:t>
            </a:r>
            <a:r>
              <a:rPr lang="en-US" sz="1600" spc="-10" dirty="0" err="1">
                <a:cs typeface="Source Sans Pro"/>
              </a:rPr>
              <a:t>servidor</a:t>
            </a:r>
            <a:r>
              <a:rPr lang="en-US" sz="1600" spc="-10" dirty="0">
                <a:cs typeface="Source Sans Pro"/>
              </a:rPr>
              <a:t>. </a:t>
            </a:r>
            <a:endParaRPr lang="en-US" sz="1600" spc="-10" dirty="0" smtClean="0">
              <a:cs typeface="Source Sans Pro"/>
            </a:endParaRPr>
          </a:p>
          <a:p>
            <a:pPr marL="184150" indent="-184150">
              <a:buSzPct val="100000"/>
              <a:buFont typeface="Arial" charset="0"/>
              <a:buChar char="•"/>
              <a:tabLst>
                <a:tab pos="85725" algn="l"/>
              </a:tabLst>
            </a:pPr>
            <a:r>
              <a:rPr lang="en-US" sz="1600" spc="-10" dirty="0" smtClean="0">
                <a:cs typeface="Source Sans Pro"/>
              </a:rPr>
              <a:t>El </a:t>
            </a:r>
            <a:r>
              <a:rPr lang="en-US" sz="1600" spc="-10" dirty="0" err="1">
                <a:cs typeface="Source Sans Pro"/>
              </a:rPr>
              <a:t>proceso</a:t>
            </a:r>
            <a:r>
              <a:rPr lang="en-US" sz="1600" spc="-10" dirty="0">
                <a:cs typeface="Source Sans Pro"/>
              </a:rPr>
              <a:t> consume mucho </a:t>
            </a:r>
            <a:r>
              <a:rPr lang="en-US" sz="1600" spc="-10" dirty="0" err="1">
                <a:cs typeface="Source Sans Pro"/>
              </a:rPr>
              <a:t>tiempo</a:t>
            </a:r>
            <a:r>
              <a:rPr lang="en-US" sz="1600" spc="-10" dirty="0">
                <a:cs typeface="Source Sans Pro"/>
              </a:rPr>
              <a:t> y </a:t>
            </a:r>
            <a:r>
              <a:rPr lang="en-US" sz="1600" spc="-10" dirty="0" err="1">
                <a:cs typeface="Source Sans Pro"/>
              </a:rPr>
              <a:t>soporte</a:t>
            </a:r>
            <a:r>
              <a:rPr lang="en-US" sz="1600" spc="-10" dirty="0">
                <a:cs typeface="Source Sans Pro"/>
              </a:rPr>
              <a:t> de </a:t>
            </a:r>
            <a:r>
              <a:rPr lang="en-US" sz="1600" spc="-10" dirty="0" err="1">
                <a:cs typeface="Source Sans Pro"/>
              </a:rPr>
              <a:t>almacenamiento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pero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garantiza</a:t>
            </a:r>
            <a:r>
              <a:rPr lang="en-US" sz="1600" spc="-10" dirty="0">
                <a:cs typeface="Source Sans Pro"/>
              </a:rPr>
              <a:t> la </a:t>
            </a:r>
            <a:r>
              <a:rPr lang="en-US" sz="1600" spc="-10" dirty="0" err="1">
                <a:cs typeface="Source Sans Pro"/>
              </a:rPr>
              <a:t>disponibilidad</a:t>
            </a:r>
            <a:r>
              <a:rPr lang="en-US" sz="1600" spc="-10" dirty="0">
                <a:cs typeface="Source Sans Pro"/>
              </a:rPr>
              <a:t> de </a:t>
            </a:r>
            <a:r>
              <a:rPr lang="en-US" sz="1600" spc="-10" dirty="0" err="1">
                <a:cs typeface="Source Sans Pro"/>
              </a:rPr>
              <a:t>todos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los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archivos</a:t>
            </a:r>
            <a:r>
              <a:rPr lang="en-US" sz="1600" spc="-10" dirty="0">
                <a:cs typeface="Source Sans Pro"/>
              </a:rPr>
              <a:t>.</a:t>
            </a:r>
          </a:p>
        </p:txBody>
      </p:sp>
      <p:sp>
        <p:nvSpPr>
          <p:cNvPr id="8" name="CuadroTexto 7"/>
          <p:cNvSpPr txBox="1"/>
          <p:nvPr/>
        </p:nvSpPr>
        <p:spPr>
          <a:xfrm>
            <a:off x="5804034" y="-163629"/>
            <a:ext cx="914400" cy="914400"/>
          </a:xfrm>
          <a:prstGeom prst="rect">
            <a:avLst/>
          </a:prstGeom>
        </p:spPr>
        <p:txBody>
          <a:bodyPr wrap="none" lIns="91425" tIns="91425" rIns="91425" bIns="91425" rtlCol="0" anchor="t" anchorCtr="0">
            <a:noAutofit/>
          </a:bodyPr>
          <a:lstStyle/>
          <a:p>
            <a:pPr marL="174625" indent="-174625">
              <a:spcBef>
                <a:spcPts val="0"/>
              </a:spcBef>
              <a:buSzPct val="100000"/>
            </a:pPr>
            <a:endParaRPr lang="es-ES_tradnl" sz="1500" dirty="0" smtClean="0">
              <a:latin typeface="Calibri"/>
              <a:cs typeface="Calibri"/>
            </a:endParaRPr>
          </a:p>
        </p:txBody>
      </p:sp>
      <p:sp>
        <p:nvSpPr>
          <p:cNvPr id="5" name="Rectangle 5"/>
          <p:cNvSpPr/>
          <p:nvPr/>
        </p:nvSpPr>
        <p:spPr>
          <a:xfrm>
            <a:off x="512024" y="331345"/>
            <a:ext cx="6032614" cy="2000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1300" smtClean="0">
                <a:solidFill>
                  <a:srgbClr val="438AD7"/>
                </a:solidFill>
              </a:rPr>
              <a:t>/ </a:t>
            </a:r>
            <a:r>
              <a:rPr lang="en-US" sz="1300">
                <a:solidFill>
                  <a:srgbClr val="438AD7"/>
                </a:solidFill>
              </a:rPr>
              <a:t>COPIA DE SEGURIDAD</a:t>
            </a:r>
          </a:p>
        </p:txBody>
      </p:sp>
      <p:pic>
        <p:nvPicPr>
          <p:cNvPr id="6" name="Picture 4" descr="Resultado de imagen para full backup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799"/>
          <a:stretch/>
        </p:blipFill>
        <p:spPr bwMode="auto">
          <a:xfrm>
            <a:off x="1423758" y="2455522"/>
            <a:ext cx="6275937" cy="25619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971649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 descr="Resultado de imagen para incremental backup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059"/>
          <a:stretch/>
        </p:blipFill>
        <p:spPr bwMode="auto">
          <a:xfrm>
            <a:off x="1433477" y="2463986"/>
            <a:ext cx="6235950" cy="25189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object 7"/>
          <p:cNvSpPr txBox="1"/>
          <p:nvPr/>
        </p:nvSpPr>
        <p:spPr>
          <a:xfrm>
            <a:off x="507698" y="954483"/>
            <a:ext cx="8167990" cy="12311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buSzPct val="100000"/>
              <a:tabLst>
                <a:tab pos="85725" algn="l"/>
              </a:tabLst>
            </a:pPr>
            <a:r>
              <a:rPr lang="en-US" sz="1600" b="1" spc="-10" dirty="0" smtClean="0">
                <a:cs typeface="Source Sans Pro"/>
              </a:rPr>
              <a:t>TIPOS: TIPO 2. BACKUP INCREMENTAL </a:t>
            </a:r>
          </a:p>
          <a:p>
            <a:pPr marL="184150" indent="-184150">
              <a:buSzPct val="100000"/>
              <a:buFont typeface="Arial" charset="0"/>
              <a:buChar char="•"/>
              <a:tabLst>
                <a:tab pos="85725" algn="l"/>
              </a:tabLst>
            </a:pPr>
            <a:r>
              <a:rPr lang="en-US" sz="1600" spc="-10" dirty="0" err="1">
                <a:cs typeface="Source Sans Pro"/>
              </a:rPr>
              <a:t>Crea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copias</a:t>
            </a:r>
            <a:r>
              <a:rPr lang="en-US" sz="1600" spc="-10" dirty="0">
                <a:cs typeface="Source Sans Pro"/>
              </a:rPr>
              <a:t> de </a:t>
            </a:r>
            <a:r>
              <a:rPr lang="en-US" sz="1600" spc="-10" dirty="0" err="1">
                <a:cs typeface="Source Sans Pro"/>
              </a:rPr>
              <a:t>aquellos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archivos</a:t>
            </a:r>
            <a:r>
              <a:rPr lang="en-US" sz="1600" spc="-10" dirty="0">
                <a:cs typeface="Source Sans Pro"/>
              </a:rPr>
              <a:t> que </a:t>
            </a:r>
            <a:r>
              <a:rPr lang="en-US" sz="1600" spc="-10" dirty="0" err="1">
                <a:cs typeface="Source Sans Pro"/>
              </a:rPr>
              <a:t>hayan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sido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modificados</a:t>
            </a:r>
            <a:r>
              <a:rPr lang="en-US" sz="1600" spc="-10" dirty="0">
                <a:cs typeface="Source Sans Pro"/>
              </a:rPr>
              <a:t> o </a:t>
            </a:r>
            <a:r>
              <a:rPr lang="en-US" sz="1600" spc="-10" dirty="0" err="1">
                <a:cs typeface="Source Sans Pro"/>
              </a:rPr>
              <a:t>creados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después</a:t>
            </a:r>
            <a:r>
              <a:rPr lang="en-US" sz="1600" spc="-10" dirty="0">
                <a:cs typeface="Source Sans Pro"/>
              </a:rPr>
              <a:t> del </a:t>
            </a:r>
            <a:r>
              <a:rPr lang="en-US" sz="1600" spc="-10" dirty="0" err="1">
                <a:cs typeface="Source Sans Pro"/>
              </a:rPr>
              <a:t>último</a:t>
            </a:r>
            <a:r>
              <a:rPr lang="en-US" sz="1600" spc="-10" dirty="0">
                <a:cs typeface="Source Sans Pro"/>
              </a:rPr>
              <a:t> backup. </a:t>
            </a:r>
            <a:endParaRPr lang="en-US" sz="1600" spc="-10" dirty="0" smtClean="0">
              <a:cs typeface="Source Sans Pro"/>
            </a:endParaRPr>
          </a:p>
          <a:p>
            <a:pPr marL="184150" indent="-184150">
              <a:buSzPct val="100000"/>
              <a:buFont typeface="Arial" charset="0"/>
              <a:buChar char="•"/>
              <a:tabLst>
                <a:tab pos="85725" algn="l"/>
              </a:tabLst>
            </a:pPr>
            <a:r>
              <a:rPr lang="en-US" sz="1600" spc="-10" dirty="0" smtClean="0">
                <a:cs typeface="Source Sans Pro"/>
              </a:rPr>
              <a:t>Este </a:t>
            </a:r>
            <a:r>
              <a:rPr lang="en-US" sz="1600" spc="-10" dirty="0" err="1">
                <a:cs typeface="Source Sans Pro"/>
              </a:rPr>
              <a:t>proceso</a:t>
            </a:r>
            <a:r>
              <a:rPr lang="en-US" sz="1600" spc="-10" dirty="0">
                <a:cs typeface="Source Sans Pro"/>
              </a:rPr>
              <a:t> se </a:t>
            </a:r>
            <a:r>
              <a:rPr lang="en-US" sz="1600" spc="-10" dirty="0" err="1">
                <a:cs typeface="Source Sans Pro"/>
              </a:rPr>
              <a:t>basa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en</a:t>
            </a:r>
            <a:r>
              <a:rPr lang="en-US" sz="1600" spc="-10" dirty="0">
                <a:cs typeface="Source Sans Pro"/>
              </a:rPr>
              <a:t> la </a:t>
            </a:r>
            <a:r>
              <a:rPr lang="en-US" sz="1600" spc="-10" dirty="0" err="1">
                <a:cs typeface="Source Sans Pro"/>
              </a:rPr>
              <a:t>fecha</a:t>
            </a:r>
            <a:r>
              <a:rPr lang="en-US" sz="1600" spc="-10" dirty="0">
                <a:cs typeface="Source Sans Pro"/>
              </a:rPr>
              <a:t> de </a:t>
            </a:r>
            <a:r>
              <a:rPr lang="en-US" sz="1600" spc="-10" dirty="0" err="1">
                <a:cs typeface="Source Sans Pro"/>
              </a:rPr>
              <a:t>creación</a:t>
            </a:r>
            <a:r>
              <a:rPr lang="en-US" sz="1600" spc="-10" dirty="0">
                <a:cs typeface="Source Sans Pro"/>
              </a:rPr>
              <a:t> de </a:t>
            </a:r>
            <a:r>
              <a:rPr lang="en-US" sz="1600" spc="-10" dirty="0" err="1">
                <a:cs typeface="Source Sans Pro"/>
              </a:rPr>
              <a:t>los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archivos</a:t>
            </a:r>
            <a:r>
              <a:rPr lang="en-US" sz="1600" spc="-10" dirty="0">
                <a:cs typeface="Source Sans Pro"/>
              </a:rPr>
              <a:t> y la </a:t>
            </a:r>
            <a:r>
              <a:rPr lang="en-US" sz="1600" spc="-10" dirty="0" err="1">
                <a:cs typeface="Source Sans Pro"/>
              </a:rPr>
              <a:t>primera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vez</a:t>
            </a:r>
            <a:r>
              <a:rPr lang="en-US" sz="1600" spc="-10" dirty="0">
                <a:cs typeface="Source Sans Pro"/>
              </a:rPr>
              <a:t> que se </a:t>
            </a:r>
            <a:r>
              <a:rPr lang="en-US" sz="1600" spc="-10" dirty="0" err="1">
                <a:cs typeface="Source Sans Pro"/>
              </a:rPr>
              <a:t>ejecute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realiza</a:t>
            </a:r>
            <a:r>
              <a:rPr lang="en-US" sz="1600" spc="-10" dirty="0">
                <a:cs typeface="Source Sans Pro"/>
              </a:rPr>
              <a:t> un </a:t>
            </a:r>
            <a:r>
              <a:rPr lang="en-US" sz="1600" spc="-10" dirty="0" err="1">
                <a:cs typeface="Source Sans Pro"/>
              </a:rPr>
              <a:t>respaldo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completo</a:t>
            </a:r>
            <a:r>
              <a:rPr lang="en-US" sz="1600" spc="-10" dirty="0">
                <a:cs typeface="Source Sans Pro"/>
              </a:rPr>
              <a:t>.</a:t>
            </a:r>
          </a:p>
        </p:txBody>
      </p:sp>
      <p:sp>
        <p:nvSpPr>
          <p:cNvPr id="8" name="CuadroTexto 7"/>
          <p:cNvSpPr txBox="1"/>
          <p:nvPr/>
        </p:nvSpPr>
        <p:spPr>
          <a:xfrm>
            <a:off x="5804034" y="-163629"/>
            <a:ext cx="914400" cy="914400"/>
          </a:xfrm>
          <a:prstGeom prst="rect">
            <a:avLst/>
          </a:prstGeom>
        </p:spPr>
        <p:txBody>
          <a:bodyPr wrap="none" lIns="91425" tIns="91425" rIns="91425" bIns="91425" rtlCol="0" anchor="t" anchorCtr="0">
            <a:noAutofit/>
          </a:bodyPr>
          <a:lstStyle/>
          <a:p>
            <a:pPr marL="174625" indent="-174625">
              <a:spcBef>
                <a:spcPts val="0"/>
              </a:spcBef>
              <a:buSzPct val="100000"/>
            </a:pPr>
            <a:endParaRPr lang="es-ES_tradnl" sz="1500" dirty="0" smtClean="0">
              <a:latin typeface="Calibri"/>
              <a:cs typeface="Calibri"/>
            </a:endParaRPr>
          </a:p>
        </p:txBody>
      </p:sp>
      <p:sp>
        <p:nvSpPr>
          <p:cNvPr id="5" name="Rectangle 5"/>
          <p:cNvSpPr/>
          <p:nvPr/>
        </p:nvSpPr>
        <p:spPr>
          <a:xfrm>
            <a:off x="512024" y="331345"/>
            <a:ext cx="6032614" cy="2000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1300" smtClean="0">
                <a:solidFill>
                  <a:srgbClr val="438AD7"/>
                </a:solidFill>
              </a:rPr>
              <a:t>/ </a:t>
            </a:r>
            <a:r>
              <a:rPr lang="en-US" sz="1300">
                <a:solidFill>
                  <a:srgbClr val="438AD7"/>
                </a:solidFill>
              </a:rPr>
              <a:t>COPIA DE SEGURIDAD</a:t>
            </a:r>
          </a:p>
        </p:txBody>
      </p:sp>
    </p:spTree>
    <p:extLst>
      <p:ext uri="{BB962C8B-B14F-4D97-AF65-F5344CB8AC3E}">
        <p14:creationId xmlns:p14="http://schemas.microsoft.com/office/powerpoint/2010/main" val="20182996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Resultado de imagen para differential backup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939"/>
          <a:stretch/>
        </p:blipFill>
        <p:spPr bwMode="auto">
          <a:xfrm>
            <a:off x="1428108" y="2415532"/>
            <a:ext cx="6236413" cy="25810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object 7"/>
          <p:cNvSpPr txBox="1"/>
          <p:nvPr/>
        </p:nvSpPr>
        <p:spPr>
          <a:xfrm>
            <a:off x="507698" y="954483"/>
            <a:ext cx="8167990" cy="9848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buSzPct val="100000"/>
              <a:tabLst>
                <a:tab pos="85725" algn="l"/>
              </a:tabLst>
            </a:pPr>
            <a:r>
              <a:rPr lang="en-US" sz="1600" b="1" spc="-10" dirty="0" smtClean="0">
                <a:cs typeface="Source Sans Pro"/>
              </a:rPr>
              <a:t>TIPOS: TIPO 2. BACKUP DIFERENCIAL </a:t>
            </a:r>
          </a:p>
          <a:p>
            <a:pPr marL="184150" indent="-184150">
              <a:buSzPct val="100000"/>
              <a:buFont typeface="Arial" charset="0"/>
              <a:buChar char="•"/>
              <a:tabLst>
                <a:tab pos="85725" algn="l"/>
              </a:tabLst>
            </a:pPr>
            <a:r>
              <a:rPr lang="en-US" sz="1600" spc="-10" dirty="0">
                <a:cs typeface="Source Sans Pro"/>
              </a:rPr>
              <a:t>Este </a:t>
            </a:r>
            <a:r>
              <a:rPr lang="en-US" sz="1600" spc="-10" dirty="0" err="1">
                <a:cs typeface="Source Sans Pro"/>
              </a:rPr>
              <a:t>tipo</a:t>
            </a:r>
            <a:r>
              <a:rPr lang="en-US" sz="1600" spc="-10" dirty="0">
                <a:cs typeface="Source Sans Pro"/>
              </a:rPr>
              <a:t> de backup </a:t>
            </a:r>
            <a:r>
              <a:rPr lang="en-US" sz="1600" spc="-10" dirty="0" err="1">
                <a:cs typeface="Source Sans Pro"/>
              </a:rPr>
              <a:t>funciona</a:t>
            </a:r>
            <a:r>
              <a:rPr lang="en-US" sz="1600" spc="-10" dirty="0">
                <a:cs typeface="Source Sans Pro"/>
              </a:rPr>
              <a:t> de forma similar al backup incremental, </a:t>
            </a:r>
            <a:r>
              <a:rPr lang="en-US" sz="1600" spc="-10" dirty="0" err="1">
                <a:cs typeface="Source Sans Pro"/>
              </a:rPr>
              <a:t>pero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comparando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efectivamente</a:t>
            </a:r>
            <a:r>
              <a:rPr lang="en-US" sz="1600" spc="-10" dirty="0">
                <a:cs typeface="Source Sans Pro"/>
              </a:rPr>
              <a:t> el </a:t>
            </a:r>
            <a:r>
              <a:rPr lang="en-US" sz="1600" spc="-10" dirty="0" err="1">
                <a:cs typeface="Source Sans Pro"/>
              </a:rPr>
              <a:t>contenido</a:t>
            </a:r>
            <a:r>
              <a:rPr lang="en-US" sz="1600" spc="-10" dirty="0">
                <a:cs typeface="Source Sans Pro"/>
              </a:rPr>
              <a:t> de </a:t>
            </a:r>
            <a:r>
              <a:rPr lang="en-US" sz="1600" spc="-10" dirty="0" err="1">
                <a:cs typeface="Source Sans Pro"/>
              </a:rPr>
              <a:t>los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archivos</a:t>
            </a:r>
            <a:r>
              <a:rPr lang="en-US" sz="1600" spc="-10" dirty="0">
                <a:cs typeface="Source Sans Pro"/>
              </a:rPr>
              <a:t>. </a:t>
            </a:r>
          </a:p>
          <a:p>
            <a:pPr marL="184150" indent="-184150">
              <a:buSzPct val="100000"/>
              <a:buFont typeface="Arial" charset="0"/>
              <a:buChar char="•"/>
              <a:tabLst>
                <a:tab pos="85725" algn="l"/>
              </a:tabLst>
            </a:pPr>
            <a:r>
              <a:rPr lang="en-US" sz="1600" spc="-10" dirty="0">
                <a:cs typeface="Source Sans Pro"/>
              </a:rPr>
              <a:t>Solo </a:t>
            </a:r>
            <a:r>
              <a:rPr lang="en-US" sz="1600" spc="-10" dirty="0" err="1">
                <a:cs typeface="Source Sans Pro"/>
              </a:rPr>
              <a:t>copia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aquellos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archivos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nuevos</a:t>
            </a:r>
            <a:r>
              <a:rPr lang="en-US" sz="1600" spc="-10" dirty="0">
                <a:cs typeface="Source Sans Pro"/>
              </a:rPr>
              <a:t> o </a:t>
            </a:r>
            <a:r>
              <a:rPr lang="en-US" sz="1600" spc="-10" dirty="0" err="1">
                <a:cs typeface="Source Sans Pro"/>
              </a:rPr>
              <a:t>modificados</a:t>
            </a:r>
            <a:r>
              <a:rPr lang="en-US" sz="1600" spc="-10" dirty="0">
                <a:cs typeface="Source Sans Pro"/>
              </a:rPr>
              <a:t>.</a:t>
            </a:r>
          </a:p>
        </p:txBody>
      </p:sp>
      <p:sp>
        <p:nvSpPr>
          <p:cNvPr id="8" name="CuadroTexto 7"/>
          <p:cNvSpPr txBox="1"/>
          <p:nvPr/>
        </p:nvSpPr>
        <p:spPr>
          <a:xfrm>
            <a:off x="5804034" y="-163629"/>
            <a:ext cx="914400" cy="914400"/>
          </a:xfrm>
          <a:prstGeom prst="rect">
            <a:avLst/>
          </a:prstGeom>
        </p:spPr>
        <p:txBody>
          <a:bodyPr wrap="none" lIns="91425" tIns="91425" rIns="91425" bIns="91425" rtlCol="0" anchor="t" anchorCtr="0">
            <a:noAutofit/>
          </a:bodyPr>
          <a:lstStyle/>
          <a:p>
            <a:pPr marL="174625" indent="-174625">
              <a:spcBef>
                <a:spcPts val="0"/>
              </a:spcBef>
              <a:buSzPct val="100000"/>
            </a:pPr>
            <a:endParaRPr lang="es-ES_tradnl" sz="1500" dirty="0" smtClean="0">
              <a:latin typeface="Calibri"/>
              <a:cs typeface="Calibri"/>
            </a:endParaRPr>
          </a:p>
        </p:txBody>
      </p:sp>
      <p:sp>
        <p:nvSpPr>
          <p:cNvPr id="5" name="Rectangle 5"/>
          <p:cNvSpPr/>
          <p:nvPr/>
        </p:nvSpPr>
        <p:spPr>
          <a:xfrm>
            <a:off x="512024" y="331345"/>
            <a:ext cx="6032614" cy="2000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1300" smtClean="0">
                <a:solidFill>
                  <a:srgbClr val="438AD7"/>
                </a:solidFill>
              </a:rPr>
              <a:t>/ </a:t>
            </a:r>
            <a:r>
              <a:rPr lang="en-US" sz="1300">
                <a:solidFill>
                  <a:srgbClr val="438AD7"/>
                </a:solidFill>
              </a:rPr>
              <a:t>COPIA DE SEGURIDAD</a:t>
            </a:r>
          </a:p>
        </p:txBody>
      </p:sp>
    </p:spTree>
    <p:extLst>
      <p:ext uri="{BB962C8B-B14F-4D97-AF65-F5344CB8AC3E}">
        <p14:creationId xmlns:p14="http://schemas.microsoft.com/office/powerpoint/2010/main" val="6877601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/>
          <p:nvPr/>
        </p:nvSpPr>
        <p:spPr>
          <a:xfrm>
            <a:off x="507698" y="954483"/>
            <a:ext cx="8167990" cy="17235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buSzPct val="100000"/>
              <a:tabLst>
                <a:tab pos="85725" algn="l"/>
              </a:tabLst>
            </a:pPr>
            <a:r>
              <a:rPr lang="en-US" sz="1600" b="1" spc="-10" dirty="0" smtClean="0">
                <a:cs typeface="Source Sans Pro"/>
              </a:rPr>
              <a:t>ESTRATEGIAS Y LINEAMIENTOS PARA REALIZAR LOS RESPALDOS</a:t>
            </a:r>
          </a:p>
          <a:p>
            <a:pPr>
              <a:buSzPct val="100000"/>
              <a:tabLst>
                <a:tab pos="85725" algn="l"/>
              </a:tabLst>
            </a:pPr>
            <a:r>
              <a:rPr lang="en-US" sz="1600" spc="-10" dirty="0" err="1">
                <a:cs typeface="Source Sans Pro"/>
              </a:rPr>
              <a:t>Definir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una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estrategia</a:t>
            </a:r>
            <a:r>
              <a:rPr lang="en-US" sz="1600" spc="-10" dirty="0">
                <a:cs typeface="Source Sans Pro"/>
              </a:rPr>
              <a:t> de </a:t>
            </a:r>
            <a:r>
              <a:rPr lang="en-US" sz="1600" spc="-10" dirty="0" err="1">
                <a:cs typeface="Source Sans Pro"/>
              </a:rPr>
              <a:t>los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respaldos</a:t>
            </a:r>
            <a:r>
              <a:rPr lang="en-US" sz="1600" spc="-10" dirty="0">
                <a:cs typeface="Source Sans Pro"/>
              </a:rPr>
              <a:t> que le </a:t>
            </a:r>
            <a:r>
              <a:rPr lang="en-US" sz="1600" spc="-10" dirty="0" err="1">
                <a:cs typeface="Source Sans Pro"/>
              </a:rPr>
              <a:t>garantice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su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correcto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funcionamiento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en</a:t>
            </a:r>
            <a:r>
              <a:rPr lang="en-US" sz="1600" spc="-10" dirty="0">
                <a:cs typeface="Source Sans Pro"/>
              </a:rPr>
              <a:t> el </a:t>
            </a:r>
            <a:r>
              <a:rPr lang="en-US" sz="1600" spc="-10" dirty="0" err="1">
                <a:cs typeface="Source Sans Pro"/>
              </a:rPr>
              <a:t>momento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en</a:t>
            </a:r>
            <a:r>
              <a:rPr lang="en-US" sz="1600" spc="-10" dirty="0">
                <a:cs typeface="Source Sans Pro"/>
              </a:rPr>
              <a:t> que se </a:t>
            </a:r>
            <a:r>
              <a:rPr lang="en-US" sz="1600" spc="-10" dirty="0" err="1">
                <a:cs typeface="Source Sans Pro"/>
              </a:rPr>
              <a:t>requiera</a:t>
            </a:r>
            <a:r>
              <a:rPr lang="en-US" sz="1600" spc="-10" dirty="0">
                <a:cs typeface="Source Sans Pro"/>
              </a:rPr>
              <a:t>. ¿</a:t>
            </a:r>
            <a:r>
              <a:rPr lang="en-US" sz="1600" spc="-10" dirty="0" err="1">
                <a:cs typeface="Source Sans Pro"/>
              </a:rPr>
              <a:t>Qué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debe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hacer</a:t>
            </a:r>
            <a:r>
              <a:rPr lang="en-US" sz="1600" spc="-10" dirty="0">
                <a:cs typeface="Source Sans Pro"/>
              </a:rPr>
              <a:t>?:</a:t>
            </a:r>
          </a:p>
          <a:p>
            <a:pPr marL="184150" indent="-184150">
              <a:buSzPct val="100000"/>
              <a:buFont typeface="Arial" charset="0"/>
              <a:buChar char="•"/>
              <a:tabLst>
                <a:tab pos="85725" algn="l"/>
              </a:tabLst>
            </a:pPr>
            <a:endParaRPr lang="en-US" sz="1600" spc="-10" dirty="0" smtClean="0">
              <a:cs typeface="Source Sans Pro"/>
            </a:endParaRPr>
          </a:p>
          <a:p>
            <a:pPr marL="184150" indent="-184150">
              <a:buSzPct val="100000"/>
              <a:buFont typeface="Arial" charset="0"/>
              <a:buChar char="•"/>
              <a:tabLst>
                <a:tab pos="85725" algn="l"/>
              </a:tabLst>
            </a:pPr>
            <a:r>
              <a:rPr lang="en-US" sz="1600" spc="-10" dirty="0" err="1" smtClean="0">
                <a:cs typeface="Source Sans Pro"/>
              </a:rPr>
              <a:t>Establecer</a:t>
            </a:r>
            <a:r>
              <a:rPr lang="en-US" sz="1600" spc="-10" dirty="0" smtClean="0">
                <a:cs typeface="Source Sans Pro"/>
              </a:rPr>
              <a:t> </a:t>
            </a:r>
            <a:r>
              <a:rPr lang="en-US" sz="1600" spc="-10" dirty="0">
                <a:cs typeface="Source Sans Pro"/>
              </a:rPr>
              <a:t>un </a:t>
            </a:r>
            <a:r>
              <a:rPr lang="en-US" sz="1600" spc="-10" dirty="0" err="1">
                <a:cs typeface="Source Sans Pro"/>
              </a:rPr>
              <a:t>horario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en</a:t>
            </a:r>
            <a:r>
              <a:rPr lang="en-US" sz="1600" spc="-10" dirty="0">
                <a:cs typeface="Source Sans Pro"/>
              </a:rPr>
              <a:t> el que se </a:t>
            </a:r>
            <a:r>
              <a:rPr lang="en-US" sz="1600" spc="-10" dirty="0" err="1">
                <a:cs typeface="Source Sans Pro"/>
              </a:rPr>
              <a:t>realizará</a:t>
            </a:r>
            <a:r>
              <a:rPr lang="en-US" sz="1600" spc="-10" dirty="0">
                <a:cs typeface="Source Sans Pro"/>
              </a:rPr>
              <a:t> el </a:t>
            </a:r>
            <a:r>
              <a:rPr lang="en-US" sz="1600" spc="-10" dirty="0" err="1">
                <a:cs typeface="Source Sans Pro"/>
              </a:rPr>
              <a:t>proceso</a:t>
            </a:r>
            <a:r>
              <a:rPr lang="en-US" sz="1600" spc="-10" dirty="0">
                <a:cs typeface="Source Sans Pro"/>
              </a:rPr>
              <a:t> (se </a:t>
            </a:r>
            <a:r>
              <a:rPr lang="en-US" sz="1600" spc="-10" dirty="0" err="1">
                <a:cs typeface="Source Sans Pro"/>
              </a:rPr>
              <a:t>recomienda</a:t>
            </a:r>
            <a:r>
              <a:rPr lang="en-US" sz="1600" spc="-10" dirty="0">
                <a:cs typeface="Source Sans Pro"/>
              </a:rPr>
              <a:t> que se </a:t>
            </a:r>
            <a:r>
              <a:rPr lang="en-US" sz="1600" spc="-10" dirty="0" err="1">
                <a:cs typeface="Source Sans Pro"/>
              </a:rPr>
              <a:t>realice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cuando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menos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usuarios</a:t>
            </a:r>
            <a:r>
              <a:rPr lang="en-US" sz="1600" spc="-10" dirty="0">
                <a:cs typeface="Source Sans Pro"/>
              </a:rPr>
              <a:t>/as </a:t>
            </a:r>
            <a:r>
              <a:rPr lang="en-US" sz="1600" spc="-10" dirty="0" err="1">
                <a:cs typeface="Source Sans Pro"/>
              </a:rPr>
              <a:t>estén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trabajando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en</a:t>
            </a:r>
            <a:r>
              <a:rPr lang="en-US" sz="1600" spc="-10" dirty="0">
                <a:cs typeface="Source Sans Pro"/>
              </a:rPr>
              <a:t> la red) y el </a:t>
            </a:r>
            <a:r>
              <a:rPr lang="en-US" sz="1600" spc="-10" dirty="0" err="1">
                <a:cs typeface="Source Sans Pro"/>
              </a:rPr>
              <a:t>lugar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donde</a:t>
            </a:r>
            <a:r>
              <a:rPr lang="en-US" sz="1600" spc="-10" dirty="0">
                <a:cs typeface="Source Sans Pro"/>
              </a:rPr>
              <a:t> se </a:t>
            </a:r>
            <a:r>
              <a:rPr lang="en-US" sz="1600" spc="-10" dirty="0" err="1">
                <a:cs typeface="Source Sans Pro"/>
              </a:rPr>
              <a:t>almacenarán</a:t>
            </a:r>
            <a:r>
              <a:rPr lang="en-US" sz="1600" spc="-10" dirty="0">
                <a:cs typeface="Source Sans Pro"/>
              </a:rPr>
              <a:t> las </a:t>
            </a:r>
            <a:r>
              <a:rPr lang="en-US" sz="1600" spc="-10" dirty="0" err="1">
                <a:cs typeface="Source Sans Pro"/>
              </a:rPr>
              <a:t>copias</a:t>
            </a:r>
            <a:r>
              <a:rPr lang="en-US" sz="1600" spc="-10" dirty="0">
                <a:cs typeface="Source Sans Pro"/>
              </a:rPr>
              <a:t> de </a:t>
            </a:r>
            <a:r>
              <a:rPr lang="en-US" sz="1600" spc="-10" dirty="0" err="1">
                <a:cs typeface="Source Sans Pro"/>
              </a:rPr>
              <a:t>respaldo</a:t>
            </a:r>
            <a:r>
              <a:rPr lang="en-US" sz="1600" spc="-10" dirty="0">
                <a:cs typeface="Source Sans Pro"/>
              </a:rPr>
              <a:t>.</a:t>
            </a:r>
          </a:p>
        </p:txBody>
      </p:sp>
      <p:sp>
        <p:nvSpPr>
          <p:cNvPr id="8" name="CuadroTexto 7"/>
          <p:cNvSpPr txBox="1"/>
          <p:nvPr/>
        </p:nvSpPr>
        <p:spPr>
          <a:xfrm>
            <a:off x="5804034" y="-163629"/>
            <a:ext cx="914400" cy="914400"/>
          </a:xfrm>
          <a:prstGeom prst="rect">
            <a:avLst/>
          </a:prstGeom>
        </p:spPr>
        <p:txBody>
          <a:bodyPr wrap="none" lIns="91425" tIns="91425" rIns="91425" bIns="91425" rtlCol="0" anchor="t" anchorCtr="0">
            <a:noAutofit/>
          </a:bodyPr>
          <a:lstStyle/>
          <a:p>
            <a:pPr marL="174625" indent="-174625">
              <a:spcBef>
                <a:spcPts val="0"/>
              </a:spcBef>
              <a:buSzPct val="100000"/>
            </a:pPr>
            <a:endParaRPr lang="es-ES_tradnl" sz="1500" dirty="0" smtClean="0">
              <a:latin typeface="Calibri"/>
              <a:cs typeface="Calibri"/>
            </a:endParaRPr>
          </a:p>
        </p:txBody>
      </p:sp>
      <p:sp>
        <p:nvSpPr>
          <p:cNvPr id="5" name="Rectangle 5"/>
          <p:cNvSpPr/>
          <p:nvPr/>
        </p:nvSpPr>
        <p:spPr>
          <a:xfrm>
            <a:off x="512024" y="331345"/>
            <a:ext cx="6032614" cy="2000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1300" smtClean="0">
                <a:solidFill>
                  <a:srgbClr val="438AD7"/>
                </a:solidFill>
              </a:rPr>
              <a:t>/ </a:t>
            </a:r>
            <a:r>
              <a:rPr lang="en-US" sz="1300">
                <a:solidFill>
                  <a:srgbClr val="438AD7"/>
                </a:solidFill>
              </a:rPr>
              <a:t>COPIA DE SEGURIDAD</a:t>
            </a:r>
          </a:p>
        </p:txBody>
      </p:sp>
    </p:spTree>
    <p:extLst>
      <p:ext uri="{BB962C8B-B14F-4D97-AF65-F5344CB8AC3E}">
        <p14:creationId xmlns:p14="http://schemas.microsoft.com/office/powerpoint/2010/main" val="277328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/>
          <p:nvPr/>
        </p:nvSpPr>
        <p:spPr>
          <a:xfrm>
            <a:off x="507698" y="954483"/>
            <a:ext cx="8167990" cy="12311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buSzPct val="100000"/>
              <a:tabLst>
                <a:tab pos="85725" algn="l"/>
              </a:tabLst>
            </a:pPr>
            <a:r>
              <a:rPr lang="en-US" sz="1600" b="1" spc="-10" dirty="0">
                <a:cs typeface="Source Sans Pro"/>
              </a:rPr>
              <a:t>ESTRATEGIAS Y LINEAMIENTOS PARA REALIZAR LOS </a:t>
            </a:r>
            <a:r>
              <a:rPr lang="en-US" sz="1600" b="1" spc="-10" dirty="0" smtClean="0">
                <a:cs typeface="Source Sans Pro"/>
              </a:rPr>
              <a:t>RESPALDOS</a:t>
            </a:r>
            <a:endParaRPr lang="en-US" sz="1600" spc="-10" dirty="0" smtClean="0">
              <a:cs typeface="Source Sans Pro"/>
            </a:endParaRPr>
          </a:p>
          <a:p>
            <a:pPr marL="184150" indent="-184150">
              <a:buSzPct val="100000"/>
              <a:buFont typeface="Arial" charset="0"/>
              <a:buChar char="•"/>
              <a:tabLst>
                <a:tab pos="85725" algn="l"/>
              </a:tabLst>
            </a:pPr>
            <a:r>
              <a:rPr lang="en-US" sz="1600" spc="-10" dirty="0" err="1">
                <a:cs typeface="Source Sans Pro"/>
              </a:rPr>
              <a:t>Realizar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revisiones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periódicas</a:t>
            </a:r>
            <a:r>
              <a:rPr lang="en-US" sz="1600" spc="-10" dirty="0">
                <a:cs typeface="Source Sans Pro"/>
              </a:rPr>
              <a:t> del </a:t>
            </a:r>
            <a:r>
              <a:rPr lang="en-US" sz="1600" spc="-10" dirty="0" err="1">
                <a:cs typeface="Source Sans Pro"/>
              </a:rPr>
              <a:t>soporte</a:t>
            </a:r>
            <a:r>
              <a:rPr lang="en-US" sz="1600" spc="-10" dirty="0">
                <a:cs typeface="Source Sans Pro"/>
              </a:rPr>
              <a:t> de </a:t>
            </a:r>
            <a:r>
              <a:rPr lang="en-US" sz="1600" spc="-10" dirty="0" err="1">
                <a:cs typeface="Source Sans Pro"/>
              </a:rPr>
              <a:t>almacenamiento</a:t>
            </a:r>
            <a:r>
              <a:rPr lang="en-US" sz="1600" spc="-10" dirty="0">
                <a:cs typeface="Source Sans Pro"/>
              </a:rPr>
              <a:t> y de la </a:t>
            </a:r>
            <a:r>
              <a:rPr lang="en-US" sz="1600" spc="-10" dirty="0" err="1">
                <a:cs typeface="Source Sans Pro"/>
              </a:rPr>
              <a:t>información</a:t>
            </a:r>
            <a:r>
              <a:rPr lang="en-US" sz="1600" spc="-10" dirty="0">
                <a:cs typeface="Source Sans Pro"/>
              </a:rPr>
              <a:t> que se </a:t>
            </a:r>
            <a:r>
              <a:rPr lang="en-US" sz="1600" spc="-10" dirty="0" err="1">
                <a:cs typeface="Source Sans Pro"/>
              </a:rPr>
              <a:t>respalda</a:t>
            </a:r>
            <a:r>
              <a:rPr lang="en-US" sz="1600" spc="-10" dirty="0">
                <a:cs typeface="Source Sans Pro"/>
              </a:rPr>
              <a:t>.</a:t>
            </a:r>
          </a:p>
          <a:p>
            <a:pPr marL="184150" indent="-184150">
              <a:buSzPct val="100000"/>
              <a:buFont typeface="Arial" charset="0"/>
              <a:buChar char="•"/>
              <a:tabLst>
                <a:tab pos="85725" algn="l"/>
              </a:tabLst>
            </a:pPr>
            <a:endParaRPr lang="en-US" sz="1600" spc="-10" dirty="0" smtClean="0">
              <a:cs typeface="Source Sans Pro"/>
            </a:endParaRPr>
          </a:p>
          <a:p>
            <a:pPr marL="184150" indent="-184150">
              <a:buSzPct val="100000"/>
              <a:buFont typeface="Arial" charset="0"/>
              <a:buChar char="•"/>
              <a:tabLst>
                <a:tab pos="85725" algn="l"/>
              </a:tabLst>
            </a:pPr>
            <a:r>
              <a:rPr lang="en-US" sz="1600" spc="-10" dirty="0" err="1" smtClean="0">
                <a:cs typeface="Source Sans Pro"/>
              </a:rPr>
              <a:t>Es</a:t>
            </a:r>
            <a:r>
              <a:rPr lang="en-US" sz="1600" spc="-10" dirty="0" smtClean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conveniente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efectuar</a:t>
            </a:r>
            <a:r>
              <a:rPr lang="en-US" sz="1600" spc="-10" dirty="0">
                <a:cs typeface="Source Sans Pro"/>
              </a:rPr>
              <a:t> “</a:t>
            </a:r>
            <a:r>
              <a:rPr lang="en-US" sz="1600" spc="-10" dirty="0" err="1">
                <a:cs typeface="Source Sans Pro"/>
              </a:rPr>
              <a:t>simulacros</a:t>
            </a:r>
            <a:r>
              <a:rPr lang="en-US" sz="1600" spc="-10" dirty="0">
                <a:cs typeface="Source Sans Pro"/>
              </a:rPr>
              <a:t>” de </a:t>
            </a:r>
            <a:r>
              <a:rPr lang="en-US" sz="1600" spc="-10" dirty="0" err="1">
                <a:cs typeface="Source Sans Pro"/>
              </a:rPr>
              <a:t>restauración</a:t>
            </a:r>
            <a:r>
              <a:rPr lang="en-US" sz="1600" spc="-10" dirty="0">
                <a:cs typeface="Source Sans Pro"/>
              </a:rPr>
              <a:t> de </a:t>
            </a:r>
            <a:r>
              <a:rPr lang="en-US" sz="1600" spc="-10" dirty="0" err="1">
                <a:cs typeface="Source Sans Pro"/>
              </a:rPr>
              <a:t>los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archivos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almacenados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en</a:t>
            </a:r>
            <a:r>
              <a:rPr lang="en-US" sz="1600" spc="-10" dirty="0">
                <a:cs typeface="Source Sans Pro"/>
              </a:rPr>
              <a:t> las </a:t>
            </a:r>
            <a:r>
              <a:rPr lang="en-US" sz="1600" spc="-10" dirty="0" err="1">
                <a:cs typeface="Source Sans Pro"/>
              </a:rPr>
              <a:t>copias</a:t>
            </a:r>
            <a:r>
              <a:rPr lang="en-US" sz="1600" spc="-10" dirty="0">
                <a:cs typeface="Source Sans Pro"/>
              </a:rPr>
              <a:t> de </a:t>
            </a:r>
            <a:r>
              <a:rPr lang="en-US" sz="1600" spc="-10" dirty="0" err="1">
                <a:cs typeface="Source Sans Pro"/>
              </a:rPr>
              <a:t>respaldo</a:t>
            </a:r>
            <a:r>
              <a:rPr lang="en-US" sz="1600" spc="-10" dirty="0">
                <a:cs typeface="Source Sans Pro"/>
              </a:rPr>
              <a:t>.</a:t>
            </a:r>
          </a:p>
        </p:txBody>
      </p:sp>
      <p:sp>
        <p:nvSpPr>
          <p:cNvPr id="8" name="CuadroTexto 7"/>
          <p:cNvSpPr txBox="1"/>
          <p:nvPr/>
        </p:nvSpPr>
        <p:spPr>
          <a:xfrm>
            <a:off x="5804034" y="-163629"/>
            <a:ext cx="914400" cy="914400"/>
          </a:xfrm>
          <a:prstGeom prst="rect">
            <a:avLst/>
          </a:prstGeom>
        </p:spPr>
        <p:txBody>
          <a:bodyPr wrap="none" lIns="91425" tIns="91425" rIns="91425" bIns="91425" rtlCol="0" anchor="t" anchorCtr="0">
            <a:noAutofit/>
          </a:bodyPr>
          <a:lstStyle/>
          <a:p>
            <a:pPr marL="174625" indent="-174625">
              <a:spcBef>
                <a:spcPts val="0"/>
              </a:spcBef>
              <a:buSzPct val="100000"/>
            </a:pPr>
            <a:endParaRPr lang="es-ES_tradnl" sz="1500" dirty="0" smtClean="0">
              <a:latin typeface="Calibri"/>
              <a:cs typeface="Calibri"/>
            </a:endParaRPr>
          </a:p>
        </p:txBody>
      </p:sp>
      <p:sp>
        <p:nvSpPr>
          <p:cNvPr id="5" name="Rectangle 5"/>
          <p:cNvSpPr/>
          <p:nvPr/>
        </p:nvSpPr>
        <p:spPr>
          <a:xfrm>
            <a:off x="512024" y="331345"/>
            <a:ext cx="6032614" cy="2000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1300" smtClean="0">
                <a:solidFill>
                  <a:srgbClr val="438AD7"/>
                </a:solidFill>
              </a:rPr>
              <a:t>/ </a:t>
            </a:r>
            <a:r>
              <a:rPr lang="en-US" sz="1300">
                <a:solidFill>
                  <a:srgbClr val="438AD7"/>
                </a:solidFill>
              </a:rPr>
              <a:t>COPIA DE SEGURIDAD</a:t>
            </a:r>
          </a:p>
        </p:txBody>
      </p:sp>
    </p:spTree>
    <p:extLst>
      <p:ext uri="{BB962C8B-B14F-4D97-AF65-F5344CB8AC3E}">
        <p14:creationId xmlns:p14="http://schemas.microsoft.com/office/powerpoint/2010/main" val="5265780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928"/>
          <a:stretch/>
        </p:blipFill>
        <p:spPr>
          <a:xfrm>
            <a:off x="2303463" y="2298893"/>
            <a:ext cx="4436383" cy="2898582"/>
          </a:xfrm>
          <a:prstGeom prst="rect">
            <a:avLst/>
          </a:prstGeom>
        </p:spPr>
      </p:pic>
      <p:pic>
        <p:nvPicPr>
          <p:cNvPr id="6" name="Picture 6" descr="Resultado de imagen para copia de seguridad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094" t="65259" r="42063" b="3991"/>
          <a:stretch/>
        </p:blipFill>
        <p:spPr bwMode="auto">
          <a:xfrm>
            <a:off x="4138735" y="4201222"/>
            <a:ext cx="742436" cy="764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object 7"/>
          <p:cNvSpPr txBox="1"/>
          <p:nvPr/>
        </p:nvSpPr>
        <p:spPr>
          <a:xfrm>
            <a:off x="507698" y="954483"/>
            <a:ext cx="8167990" cy="14773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buSzPct val="100000"/>
              <a:tabLst>
                <a:tab pos="85725" algn="l"/>
              </a:tabLst>
            </a:pPr>
            <a:r>
              <a:rPr lang="en-US" sz="1600" b="1" spc="-10" dirty="0" smtClean="0">
                <a:cs typeface="Source Sans Pro"/>
              </a:rPr>
              <a:t>GUÍA PARA LA RESTAURACIÓN DE INFORMACIÓN</a:t>
            </a:r>
          </a:p>
          <a:p>
            <a:pPr marL="184150" indent="-184150">
              <a:buSzPct val="100000"/>
              <a:buFont typeface="Arial" charset="0"/>
              <a:buChar char="•"/>
              <a:tabLst>
                <a:tab pos="85725" algn="l"/>
              </a:tabLst>
            </a:pPr>
            <a:r>
              <a:rPr lang="en-US" sz="1600" spc="-10" dirty="0" err="1">
                <a:cs typeface="Source Sans Pro"/>
              </a:rPr>
              <a:t>En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todos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los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niveles</a:t>
            </a:r>
            <a:r>
              <a:rPr lang="en-US" sz="1600" spc="-10" dirty="0">
                <a:cs typeface="Source Sans Pro"/>
              </a:rPr>
              <a:t> de la </a:t>
            </a:r>
            <a:r>
              <a:rPr lang="en-US" sz="1600" spc="-10" dirty="0" err="1">
                <a:cs typeface="Source Sans Pro"/>
              </a:rPr>
              <a:t>organización</a:t>
            </a:r>
            <a:r>
              <a:rPr lang="en-US" sz="1600" spc="-10" dirty="0">
                <a:cs typeface="Source Sans Pro"/>
              </a:rPr>
              <a:t>, </a:t>
            </a:r>
            <a:r>
              <a:rPr lang="en-US" sz="1600" spc="-10" dirty="0" err="1">
                <a:cs typeface="Source Sans Pro"/>
              </a:rPr>
              <a:t>debe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entenderse</a:t>
            </a:r>
            <a:r>
              <a:rPr lang="en-US" sz="1600" spc="-10" dirty="0">
                <a:cs typeface="Source Sans Pro"/>
              </a:rPr>
              <a:t> que “backup” no </a:t>
            </a:r>
            <a:r>
              <a:rPr lang="en-US" sz="1600" spc="-10" dirty="0" err="1">
                <a:cs typeface="Source Sans Pro"/>
              </a:rPr>
              <a:t>es</a:t>
            </a:r>
            <a:r>
              <a:rPr lang="en-US" sz="1600" spc="-10" dirty="0">
                <a:cs typeface="Source Sans Pro"/>
              </a:rPr>
              <a:t> el </a:t>
            </a:r>
            <a:r>
              <a:rPr lang="en-US" sz="1600" spc="-10" dirty="0" err="1">
                <a:cs typeface="Source Sans Pro"/>
              </a:rPr>
              <a:t>problema</a:t>
            </a:r>
            <a:r>
              <a:rPr lang="en-US" sz="1600" spc="-10" dirty="0">
                <a:cs typeface="Source Sans Pro"/>
              </a:rPr>
              <a:t>. El </a:t>
            </a:r>
            <a:r>
              <a:rPr lang="en-US" sz="1600" spc="-10" dirty="0" err="1">
                <a:cs typeface="Source Sans Pro"/>
              </a:rPr>
              <a:t>problema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es</a:t>
            </a:r>
            <a:r>
              <a:rPr lang="en-US" sz="1600" spc="-10" dirty="0">
                <a:cs typeface="Source Sans Pro"/>
              </a:rPr>
              <a:t> que sea </a:t>
            </a:r>
            <a:r>
              <a:rPr lang="en-US" sz="1600" spc="-10" dirty="0" err="1">
                <a:cs typeface="Source Sans Pro"/>
              </a:rPr>
              <a:t>posible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restaurar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toda</a:t>
            </a:r>
            <a:r>
              <a:rPr lang="en-US" sz="1600" spc="-10" dirty="0">
                <a:cs typeface="Source Sans Pro"/>
              </a:rPr>
              <a:t> la </a:t>
            </a:r>
            <a:r>
              <a:rPr lang="en-US" sz="1600" spc="-10" dirty="0" err="1">
                <a:cs typeface="Source Sans Pro"/>
              </a:rPr>
              <a:t>información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pertinente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en</a:t>
            </a:r>
            <a:r>
              <a:rPr lang="en-US" sz="1600" spc="-10" dirty="0">
                <a:cs typeface="Source Sans Pro"/>
              </a:rPr>
              <a:t> el </a:t>
            </a:r>
            <a:r>
              <a:rPr lang="en-US" sz="1600" spc="-10" dirty="0" err="1">
                <a:cs typeface="Source Sans Pro"/>
              </a:rPr>
              <a:t>plazo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establecido</a:t>
            </a:r>
            <a:r>
              <a:rPr lang="en-US" sz="1600" spc="-10" dirty="0">
                <a:cs typeface="Source Sans Pro"/>
              </a:rPr>
              <a:t>.</a:t>
            </a:r>
          </a:p>
          <a:p>
            <a:pPr marL="184150" indent="-184150">
              <a:buSzPct val="100000"/>
              <a:buFont typeface="Arial" charset="0"/>
              <a:buChar char="•"/>
              <a:tabLst>
                <a:tab pos="85725" algn="l"/>
              </a:tabLst>
            </a:pPr>
            <a:endParaRPr lang="en-US" sz="1600" spc="-10" dirty="0" smtClean="0">
              <a:cs typeface="Source Sans Pro"/>
            </a:endParaRPr>
          </a:p>
          <a:p>
            <a:pPr marL="184150" indent="-184150">
              <a:buSzPct val="100000"/>
              <a:buFont typeface="Arial" charset="0"/>
              <a:buChar char="•"/>
              <a:tabLst>
                <a:tab pos="85725" algn="l"/>
              </a:tabLst>
            </a:pPr>
            <a:r>
              <a:rPr lang="en-US" sz="1600" spc="-10" dirty="0" err="1" smtClean="0">
                <a:cs typeface="Source Sans Pro"/>
              </a:rPr>
              <a:t>Cuando</a:t>
            </a:r>
            <a:r>
              <a:rPr lang="en-US" sz="1600" spc="-10" dirty="0" smtClean="0">
                <a:cs typeface="Source Sans Pro"/>
              </a:rPr>
              <a:t> </a:t>
            </a:r>
            <a:r>
              <a:rPr lang="en-US" sz="1600" spc="-10" dirty="0">
                <a:cs typeface="Source Sans Pro"/>
              </a:rPr>
              <a:t>se </a:t>
            </a:r>
            <a:r>
              <a:rPr lang="en-US" sz="1600" spc="-10" dirty="0" err="1">
                <a:cs typeface="Source Sans Pro"/>
              </a:rPr>
              <a:t>entiende</a:t>
            </a:r>
            <a:r>
              <a:rPr lang="en-US" sz="1600" spc="-10" dirty="0">
                <a:cs typeface="Source Sans Pro"/>
              </a:rPr>
              <a:t> que “</a:t>
            </a:r>
            <a:r>
              <a:rPr lang="en-US" sz="1600" spc="-10" dirty="0" err="1">
                <a:cs typeface="Source Sans Pro"/>
              </a:rPr>
              <a:t>restaurar</a:t>
            </a:r>
            <a:r>
              <a:rPr lang="en-US" sz="1600" spc="-10" dirty="0">
                <a:cs typeface="Source Sans Pro"/>
              </a:rPr>
              <a:t>” </a:t>
            </a:r>
            <a:r>
              <a:rPr lang="en-US" sz="1600" spc="-10" dirty="0" err="1">
                <a:cs typeface="Source Sans Pro"/>
              </a:rPr>
              <a:t>es</a:t>
            </a:r>
            <a:r>
              <a:rPr lang="en-US" sz="1600" spc="-10" dirty="0">
                <a:cs typeface="Source Sans Pro"/>
              </a:rPr>
              <a:t> el </a:t>
            </a:r>
            <a:r>
              <a:rPr lang="en-US" sz="1600" spc="-10" dirty="0" err="1">
                <a:cs typeface="Source Sans Pro"/>
              </a:rPr>
              <a:t>problema</a:t>
            </a:r>
            <a:r>
              <a:rPr lang="en-US" sz="1600" spc="-10" dirty="0">
                <a:cs typeface="Source Sans Pro"/>
              </a:rPr>
              <a:t>, </a:t>
            </a:r>
            <a:r>
              <a:rPr lang="en-US" sz="1600" spc="-10" dirty="0" err="1">
                <a:cs typeface="Source Sans Pro"/>
              </a:rPr>
              <a:t>es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evidente</a:t>
            </a:r>
            <a:r>
              <a:rPr lang="en-US" sz="1600" spc="-10" dirty="0">
                <a:cs typeface="Source Sans Pro"/>
              </a:rPr>
              <a:t> que “</a:t>
            </a:r>
            <a:r>
              <a:rPr lang="en-US" sz="1600" spc="-10" dirty="0" err="1">
                <a:cs typeface="Source Sans Pro"/>
              </a:rPr>
              <a:t>copia</a:t>
            </a:r>
            <a:r>
              <a:rPr lang="en-US" sz="1600" spc="-10" dirty="0">
                <a:cs typeface="Source Sans Pro"/>
              </a:rPr>
              <a:t> de </a:t>
            </a:r>
            <a:r>
              <a:rPr lang="en-US" sz="1600" spc="-10" dirty="0" err="1">
                <a:cs typeface="Source Sans Pro"/>
              </a:rPr>
              <a:t>seguridad</a:t>
            </a:r>
            <a:r>
              <a:rPr lang="en-US" sz="1600" spc="-10" dirty="0">
                <a:cs typeface="Source Sans Pro"/>
              </a:rPr>
              <a:t>” </a:t>
            </a:r>
            <a:r>
              <a:rPr lang="en-US" sz="1600" spc="-10" dirty="0" err="1">
                <a:cs typeface="Source Sans Pro"/>
              </a:rPr>
              <a:t>es</a:t>
            </a:r>
            <a:r>
              <a:rPr lang="en-US" sz="1600" spc="-10" dirty="0">
                <a:cs typeface="Source Sans Pro"/>
              </a:rPr>
              <a:t> solo </a:t>
            </a:r>
            <a:r>
              <a:rPr lang="en-US" sz="1600" spc="-10" dirty="0" err="1">
                <a:cs typeface="Source Sans Pro"/>
              </a:rPr>
              <a:t>una</a:t>
            </a:r>
            <a:r>
              <a:rPr lang="en-US" sz="1600" spc="-10" dirty="0">
                <a:cs typeface="Source Sans Pro"/>
              </a:rPr>
              <a:t> parte de la </a:t>
            </a:r>
            <a:r>
              <a:rPr lang="en-US" sz="1600" spc="-10" dirty="0" err="1">
                <a:cs typeface="Source Sans Pro"/>
              </a:rPr>
              <a:t>solución</a:t>
            </a:r>
            <a:r>
              <a:rPr lang="en-US" sz="1600" spc="-10" dirty="0">
                <a:cs typeface="Source Sans Pro"/>
              </a:rPr>
              <a:t>.</a:t>
            </a:r>
          </a:p>
        </p:txBody>
      </p:sp>
      <p:sp>
        <p:nvSpPr>
          <p:cNvPr id="8" name="CuadroTexto 7"/>
          <p:cNvSpPr txBox="1"/>
          <p:nvPr/>
        </p:nvSpPr>
        <p:spPr>
          <a:xfrm>
            <a:off x="5804034" y="-163629"/>
            <a:ext cx="914400" cy="914400"/>
          </a:xfrm>
          <a:prstGeom prst="rect">
            <a:avLst/>
          </a:prstGeom>
        </p:spPr>
        <p:txBody>
          <a:bodyPr wrap="none" lIns="91425" tIns="91425" rIns="91425" bIns="91425" rtlCol="0" anchor="t" anchorCtr="0">
            <a:noAutofit/>
          </a:bodyPr>
          <a:lstStyle/>
          <a:p>
            <a:pPr marL="174625" indent="-174625">
              <a:spcBef>
                <a:spcPts val="0"/>
              </a:spcBef>
              <a:buSzPct val="100000"/>
            </a:pPr>
            <a:endParaRPr lang="es-ES_tradnl" sz="1500" dirty="0" smtClean="0">
              <a:latin typeface="Calibri"/>
              <a:cs typeface="Calibri"/>
            </a:endParaRPr>
          </a:p>
        </p:txBody>
      </p:sp>
      <p:sp>
        <p:nvSpPr>
          <p:cNvPr id="5" name="Rectangle 5"/>
          <p:cNvSpPr/>
          <p:nvPr/>
        </p:nvSpPr>
        <p:spPr>
          <a:xfrm>
            <a:off x="512024" y="331345"/>
            <a:ext cx="6032614" cy="2000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1300" smtClean="0">
                <a:solidFill>
                  <a:srgbClr val="438AD7"/>
                </a:solidFill>
              </a:rPr>
              <a:t>/ </a:t>
            </a:r>
            <a:r>
              <a:rPr lang="en-US" sz="1300">
                <a:solidFill>
                  <a:srgbClr val="438AD7"/>
                </a:solidFill>
              </a:rPr>
              <a:t>COPIA DE SEGURIDAD</a:t>
            </a:r>
          </a:p>
        </p:txBody>
      </p:sp>
    </p:spTree>
    <p:extLst>
      <p:ext uri="{BB962C8B-B14F-4D97-AF65-F5344CB8AC3E}">
        <p14:creationId xmlns:p14="http://schemas.microsoft.com/office/powerpoint/2010/main" val="8758037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/>
          <p:nvPr/>
        </p:nvSpPr>
        <p:spPr>
          <a:xfrm>
            <a:off x="507698" y="954483"/>
            <a:ext cx="8167990" cy="320087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buSzPct val="100000"/>
              <a:tabLst>
                <a:tab pos="85725" algn="l"/>
              </a:tabLst>
            </a:pPr>
            <a:r>
              <a:rPr lang="en-US" sz="1600" b="1" spc="-10" dirty="0" smtClean="0">
                <a:cs typeface="Source Sans Pro"/>
              </a:rPr>
              <a:t>GUÍA PARA LA RESTAURACIÓN DE INFORMACIÓN</a:t>
            </a:r>
          </a:p>
          <a:p>
            <a:pPr>
              <a:buSzPct val="100000"/>
              <a:tabLst>
                <a:tab pos="85725" algn="l"/>
              </a:tabLst>
            </a:pPr>
            <a:r>
              <a:rPr lang="en-US" sz="1600" spc="-10" dirty="0">
                <a:cs typeface="Source Sans Pro"/>
              </a:rPr>
              <a:t>Para </a:t>
            </a:r>
            <a:r>
              <a:rPr lang="en-US" sz="1600" spc="-10" dirty="0" err="1">
                <a:cs typeface="Source Sans Pro"/>
              </a:rPr>
              <a:t>restaurar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existen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otros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requisitos</a:t>
            </a:r>
            <a:r>
              <a:rPr lang="en-US" sz="1600" spc="-10" dirty="0">
                <a:cs typeface="Source Sans Pro"/>
              </a:rPr>
              <a:t>, tales </a:t>
            </a:r>
            <a:r>
              <a:rPr lang="en-US" sz="1600" spc="-10" dirty="0" err="1">
                <a:cs typeface="Source Sans Pro"/>
              </a:rPr>
              <a:t>como</a:t>
            </a:r>
            <a:r>
              <a:rPr lang="en-US" sz="1600" spc="-10" dirty="0">
                <a:cs typeface="Source Sans Pro"/>
              </a:rPr>
              <a:t>:</a:t>
            </a:r>
          </a:p>
          <a:p>
            <a:pPr marL="184150" indent="-184150">
              <a:buSzPct val="100000"/>
              <a:buFont typeface="Arial" charset="0"/>
              <a:buChar char="•"/>
              <a:tabLst>
                <a:tab pos="85725" algn="l"/>
              </a:tabLst>
            </a:pPr>
            <a:r>
              <a:rPr lang="en-US" sz="1600" spc="-10" dirty="0" err="1">
                <a:cs typeface="Source Sans Pro"/>
              </a:rPr>
              <a:t>Conocer</a:t>
            </a:r>
            <a:r>
              <a:rPr lang="en-US" sz="1600" spc="-10" dirty="0">
                <a:cs typeface="Source Sans Pro"/>
              </a:rPr>
              <a:t> el </a:t>
            </a:r>
            <a:r>
              <a:rPr lang="en-US" sz="1600" spc="-10" dirty="0" err="1">
                <a:cs typeface="Source Sans Pro"/>
              </a:rPr>
              <a:t>plazo</a:t>
            </a:r>
            <a:r>
              <a:rPr lang="en-US" sz="1600" spc="-10" dirty="0">
                <a:cs typeface="Source Sans Pro"/>
              </a:rPr>
              <a:t> para la </a:t>
            </a:r>
            <a:r>
              <a:rPr lang="en-US" sz="1600" spc="-10" dirty="0" err="1">
                <a:cs typeface="Source Sans Pro"/>
              </a:rPr>
              <a:t>restauración</a:t>
            </a:r>
            <a:r>
              <a:rPr lang="en-US" sz="1600" spc="-10" dirty="0">
                <a:cs typeface="Source Sans Pro"/>
              </a:rPr>
              <a:t>.</a:t>
            </a:r>
          </a:p>
          <a:p>
            <a:pPr marL="184150" indent="-184150">
              <a:buSzPct val="100000"/>
              <a:buFont typeface="Arial" charset="0"/>
              <a:buChar char="•"/>
              <a:tabLst>
                <a:tab pos="85725" algn="l"/>
              </a:tabLst>
            </a:pPr>
            <a:endParaRPr lang="en-US" sz="1600" spc="-10" dirty="0" smtClean="0">
              <a:cs typeface="Source Sans Pro"/>
            </a:endParaRPr>
          </a:p>
          <a:p>
            <a:pPr marL="184150" indent="-184150">
              <a:buSzPct val="100000"/>
              <a:buFont typeface="Arial" charset="0"/>
              <a:buChar char="•"/>
              <a:tabLst>
                <a:tab pos="85725" algn="l"/>
              </a:tabLst>
            </a:pPr>
            <a:r>
              <a:rPr lang="en-US" sz="1600" spc="-10" dirty="0" err="1" smtClean="0">
                <a:cs typeface="Source Sans Pro"/>
              </a:rPr>
              <a:t>Comprender</a:t>
            </a:r>
            <a:r>
              <a:rPr lang="en-US" sz="1600" spc="-10" dirty="0" smtClean="0">
                <a:cs typeface="Source Sans Pro"/>
              </a:rPr>
              <a:t> </a:t>
            </a:r>
            <a:r>
              <a:rPr lang="en-US" sz="1600" spc="-10" dirty="0">
                <a:cs typeface="Source Sans Pro"/>
              </a:rPr>
              <a:t>el </a:t>
            </a:r>
            <a:r>
              <a:rPr lang="en-US" sz="1600" spc="-10" dirty="0" err="1">
                <a:cs typeface="Source Sans Pro"/>
              </a:rPr>
              <a:t>orden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en</a:t>
            </a:r>
            <a:r>
              <a:rPr lang="en-US" sz="1600" spc="-10" dirty="0">
                <a:cs typeface="Source Sans Pro"/>
              </a:rPr>
              <a:t> que </a:t>
            </a:r>
            <a:r>
              <a:rPr lang="en-US" sz="1600" spc="-10" dirty="0" err="1">
                <a:cs typeface="Source Sans Pro"/>
              </a:rPr>
              <a:t>los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sistemas</a:t>
            </a:r>
            <a:r>
              <a:rPr lang="en-US" sz="1600" spc="-10" dirty="0">
                <a:cs typeface="Source Sans Pro"/>
              </a:rPr>
              <a:t> se </a:t>
            </a:r>
            <a:r>
              <a:rPr lang="en-US" sz="1600" spc="-10" dirty="0" err="1">
                <a:cs typeface="Source Sans Pro"/>
              </a:rPr>
              <a:t>deben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restaurar</a:t>
            </a:r>
            <a:r>
              <a:rPr lang="en-US" sz="1600" spc="-10" dirty="0">
                <a:cs typeface="Source Sans Pro"/>
              </a:rPr>
              <a:t>.</a:t>
            </a:r>
          </a:p>
          <a:p>
            <a:pPr marL="184150" indent="-184150">
              <a:buSzPct val="100000"/>
              <a:buFont typeface="Arial" charset="0"/>
              <a:buChar char="•"/>
              <a:tabLst>
                <a:tab pos="85725" algn="l"/>
              </a:tabLst>
            </a:pPr>
            <a:endParaRPr lang="en-US" sz="1600" spc="-10" dirty="0" smtClean="0">
              <a:cs typeface="Source Sans Pro"/>
            </a:endParaRPr>
          </a:p>
          <a:p>
            <a:pPr marL="184150" indent="-184150">
              <a:buSzPct val="100000"/>
              <a:buFont typeface="Arial" charset="0"/>
              <a:buChar char="•"/>
              <a:tabLst>
                <a:tab pos="85725" algn="l"/>
              </a:tabLst>
            </a:pPr>
            <a:r>
              <a:rPr lang="en-US" sz="1600" spc="-10" dirty="0" err="1" smtClean="0">
                <a:cs typeface="Source Sans Pro"/>
              </a:rPr>
              <a:t>Disponibilidad</a:t>
            </a:r>
            <a:r>
              <a:rPr lang="en-US" sz="1600" spc="-10" dirty="0" smtClean="0">
                <a:cs typeface="Source Sans Pro"/>
              </a:rPr>
              <a:t> </a:t>
            </a:r>
            <a:r>
              <a:rPr lang="en-US" sz="1600" spc="-10" dirty="0">
                <a:cs typeface="Source Sans Pro"/>
              </a:rPr>
              <a:t>de </a:t>
            </a:r>
            <a:r>
              <a:rPr lang="en-US" sz="1600" spc="-10" dirty="0" err="1">
                <a:cs typeface="Source Sans Pro"/>
              </a:rPr>
              <a:t>los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sistemas</a:t>
            </a:r>
            <a:r>
              <a:rPr lang="en-US" sz="1600" spc="-10" dirty="0">
                <a:cs typeface="Source Sans Pro"/>
              </a:rPr>
              <a:t> para </a:t>
            </a:r>
            <a:r>
              <a:rPr lang="en-US" sz="1600" spc="-10" dirty="0" err="1">
                <a:cs typeface="Source Sans Pro"/>
              </a:rPr>
              <a:t>restaurar</a:t>
            </a:r>
            <a:r>
              <a:rPr lang="en-US" sz="1600" spc="-10" dirty="0">
                <a:cs typeface="Source Sans Pro"/>
              </a:rPr>
              <a:t>.</a:t>
            </a:r>
          </a:p>
          <a:p>
            <a:pPr marL="184150" indent="-184150">
              <a:buSzPct val="100000"/>
              <a:buFont typeface="Arial" charset="0"/>
              <a:buChar char="•"/>
              <a:tabLst>
                <a:tab pos="85725" algn="l"/>
              </a:tabLst>
            </a:pPr>
            <a:endParaRPr lang="en-US" sz="1600" spc="-10" dirty="0" smtClean="0">
              <a:cs typeface="Source Sans Pro"/>
            </a:endParaRPr>
          </a:p>
          <a:p>
            <a:pPr marL="184150" indent="-184150">
              <a:buSzPct val="100000"/>
              <a:buFont typeface="Arial" charset="0"/>
              <a:buChar char="•"/>
              <a:tabLst>
                <a:tab pos="85725" algn="l"/>
              </a:tabLst>
            </a:pPr>
            <a:r>
              <a:rPr lang="en-US" sz="1600" spc="-10" dirty="0" smtClean="0">
                <a:cs typeface="Source Sans Pro"/>
              </a:rPr>
              <a:t>Personal </a:t>
            </a:r>
            <a:r>
              <a:rPr lang="en-US" sz="1600" spc="-10" dirty="0">
                <a:cs typeface="Source Sans Pro"/>
              </a:rPr>
              <a:t>con </a:t>
            </a:r>
            <a:r>
              <a:rPr lang="en-US" sz="1600" spc="-10" dirty="0" err="1">
                <a:cs typeface="Source Sans Pro"/>
              </a:rPr>
              <a:t>conocimiento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en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actividades</a:t>
            </a:r>
            <a:r>
              <a:rPr lang="en-US" sz="1600" spc="-10" dirty="0">
                <a:cs typeface="Source Sans Pro"/>
              </a:rPr>
              <a:t> de </a:t>
            </a:r>
            <a:r>
              <a:rPr lang="en-US" sz="1600" spc="-10" dirty="0" err="1">
                <a:cs typeface="Source Sans Pro"/>
              </a:rPr>
              <a:t>restauración</a:t>
            </a:r>
            <a:r>
              <a:rPr lang="en-US" sz="1600" spc="-10" dirty="0">
                <a:cs typeface="Source Sans Pro"/>
              </a:rPr>
              <a:t>.</a:t>
            </a:r>
          </a:p>
          <a:p>
            <a:pPr marL="184150" indent="-184150">
              <a:buSzPct val="100000"/>
              <a:buFont typeface="Arial" charset="0"/>
              <a:buChar char="•"/>
              <a:tabLst>
                <a:tab pos="85725" algn="l"/>
              </a:tabLst>
            </a:pPr>
            <a:endParaRPr lang="en-US" sz="1600" spc="-10" dirty="0" smtClean="0">
              <a:cs typeface="Source Sans Pro"/>
            </a:endParaRPr>
          </a:p>
          <a:p>
            <a:pPr marL="184150" indent="-184150">
              <a:buSzPct val="100000"/>
              <a:buFont typeface="Arial" charset="0"/>
              <a:buChar char="•"/>
              <a:tabLst>
                <a:tab pos="85725" algn="l"/>
              </a:tabLst>
            </a:pPr>
            <a:r>
              <a:rPr lang="en-US" sz="1600" spc="-10" dirty="0" smtClean="0">
                <a:cs typeface="Source Sans Pro"/>
              </a:rPr>
              <a:t>Software </a:t>
            </a:r>
            <a:r>
              <a:rPr lang="en-US" sz="1600" spc="-10" dirty="0" err="1">
                <a:cs typeface="Source Sans Pro"/>
              </a:rPr>
              <a:t>necesario</a:t>
            </a:r>
            <a:r>
              <a:rPr lang="en-US" sz="1600" spc="-10" dirty="0">
                <a:cs typeface="Source Sans Pro"/>
              </a:rPr>
              <a:t> para </a:t>
            </a:r>
            <a:r>
              <a:rPr lang="en-US" sz="1600" spc="-10" dirty="0" err="1">
                <a:cs typeface="Source Sans Pro"/>
              </a:rPr>
              <a:t>hacer</a:t>
            </a:r>
            <a:r>
              <a:rPr lang="en-US" sz="1600" spc="-10" dirty="0">
                <a:cs typeface="Source Sans Pro"/>
              </a:rPr>
              <a:t> la </a:t>
            </a:r>
            <a:r>
              <a:rPr lang="en-US" sz="1600" spc="-10" dirty="0" err="1">
                <a:cs typeface="Source Sans Pro"/>
              </a:rPr>
              <a:t>restauración</a:t>
            </a:r>
            <a:r>
              <a:rPr lang="en-US" sz="1600" spc="-10" dirty="0">
                <a:cs typeface="Source Sans Pro"/>
              </a:rPr>
              <a:t>.</a:t>
            </a:r>
          </a:p>
          <a:p>
            <a:pPr marL="184150" indent="-184150">
              <a:buSzPct val="100000"/>
              <a:buFont typeface="Arial" charset="0"/>
              <a:buChar char="•"/>
              <a:tabLst>
                <a:tab pos="85725" algn="l"/>
              </a:tabLst>
            </a:pPr>
            <a:endParaRPr lang="en-US" sz="1600" spc="-10" dirty="0" smtClean="0">
              <a:cs typeface="Source Sans Pro"/>
            </a:endParaRPr>
          </a:p>
          <a:p>
            <a:pPr marL="184150" indent="-184150">
              <a:buSzPct val="100000"/>
              <a:buFont typeface="Arial" charset="0"/>
              <a:buChar char="•"/>
              <a:tabLst>
                <a:tab pos="85725" algn="l"/>
              </a:tabLst>
            </a:pPr>
            <a:r>
              <a:rPr lang="en-US" sz="1600" spc="-10" dirty="0" err="1" smtClean="0">
                <a:cs typeface="Source Sans Pro"/>
              </a:rPr>
              <a:t>Procedimientos</a:t>
            </a:r>
            <a:r>
              <a:rPr lang="en-US" sz="1600" spc="-10" dirty="0" smtClean="0">
                <a:cs typeface="Source Sans Pro"/>
              </a:rPr>
              <a:t> </a:t>
            </a:r>
            <a:r>
              <a:rPr lang="en-US" sz="1600" spc="-10" dirty="0">
                <a:cs typeface="Source Sans Pro"/>
              </a:rPr>
              <a:t>de </a:t>
            </a:r>
            <a:r>
              <a:rPr lang="en-US" sz="1600" spc="-10" dirty="0" err="1">
                <a:cs typeface="Source Sans Pro"/>
              </a:rPr>
              <a:t>prueba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después</a:t>
            </a:r>
            <a:r>
              <a:rPr lang="en-US" sz="1600" spc="-10" dirty="0">
                <a:cs typeface="Source Sans Pro"/>
              </a:rPr>
              <a:t> de </a:t>
            </a:r>
            <a:r>
              <a:rPr lang="en-US" sz="1600" spc="-10" dirty="0" err="1">
                <a:cs typeface="Source Sans Pro"/>
              </a:rPr>
              <a:t>una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restauración</a:t>
            </a:r>
            <a:r>
              <a:rPr lang="en-US" sz="1600" spc="-10" dirty="0">
                <a:cs typeface="Source Sans Pro"/>
              </a:rPr>
              <a:t>.</a:t>
            </a:r>
          </a:p>
        </p:txBody>
      </p:sp>
      <p:sp>
        <p:nvSpPr>
          <p:cNvPr id="8" name="CuadroTexto 7"/>
          <p:cNvSpPr txBox="1"/>
          <p:nvPr/>
        </p:nvSpPr>
        <p:spPr>
          <a:xfrm>
            <a:off x="5804034" y="-163629"/>
            <a:ext cx="914400" cy="914400"/>
          </a:xfrm>
          <a:prstGeom prst="rect">
            <a:avLst/>
          </a:prstGeom>
        </p:spPr>
        <p:txBody>
          <a:bodyPr wrap="none" lIns="91425" tIns="91425" rIns="91425" bIns="91425" rtlCol="0" anchor="t" anchorCtr="0">
            <a:noAutofit/>
          </a:bodyPr>
          <a:lstStyle/>
          <a:p>
            <a:pPr marL="174625" indent="-174625">
              <a:spcBef>
                <a:spcPts val="0"/>
              </a:spcBef>
              <a:buSzPct val="100000"/>
            </a:pPr>
            <a:endParaRPr lang="es-ES_tradnl" sz="1500" dirty="0" smtClean="0">
              <a:latin typeface="Calibri"/>
              <a:cs typeface="Calibri"/>
            </a:endParaRPr>
          </a:p>
        </p:txBody>
      </p:sp>
      <p:sp>
        <p:nvSpPr>
          <p:cNvPr id="5" name="Rectangle 5"/>
          <p:cNvSpPr/>
          <p:nvPr/>
        </p:nvSpPr>
        <p:spPr>
          <a:xfrm>
            <a:off x="512024" y="331345"/>
            <a:ext cx="6032614" cy="2000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1300" smtClean="0">
                <a:solidFill>
                  <a:srgbClr val="438AD7"/>
                </a:solidFill>
              </a:rPr>
              <a:t>/ </a:t>
            </a:r>
            <a:r>
              <a:rPr lang="en-US" sz="1300">
                <a:solidFill>
                  <a:srgbClr val="438AD7"/>
                </a:solidFill>
              </a:rPr>
              <a:t>COPIA DE SEGURIDAD</a:t>
            </a:r>
          </a:p>
        </p:txBody>
      </p:sp>
    </p:spTree>
    <p:extLst>
      <p:ext uri="{BB962C8B-B14F-4D97-AF65-F5344CB8AC3E}">
        <p14:creationId xmlns:p14="http://schemas.microsoft.com/office/powerpoint/2010/main" val="10610027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1734671" y="949325"/>
            <a:ext cx="6941016" cy="4248149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5" name="Rectángulo 10"/>
          <p:cNvSpPr/>
          <p:nvPr/>
        </p:nvSpPr>
        <p:spPr>
          <a:xfrm>
            <a:off x="1908269" y="1055146"/>
            <a:ext cx="6647217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731342"/>
            <a:r>
              <a:rPr lang="es-PE" sz="1600" b="1" dirty="0">
                <a:solidFill>
                  <a:srgbClr val="5F9ADA"/>
                </a:solidFill>
              </a:rPr>
              <a:t>TAREA </a:t>
            </a:r>
            <a:r>
              <a:rPr lang="es-PE" sz="1600" b="1" dirty="0" smtClean="0">
                <a:solidFill>
                  <a:srgbClr val="5F9ADA"/>
                </a:solidFill>
              </a:rPr>
              <a:t>GRUPAL</a:t>
            </a:r>
          </a:p>
          <a:p>
            <a:pPr defTabSz="731342"/>
            <a:endParaRPr lang="es-PE" sz="1600" dirty="0">
              <a:solidFill>
                <a:srgbClr val="558ED5"/>
              </a:solidFill>
            </a:endParaRPr>
          </a:p>
          <a:p>
            <a:pPr defTabSz="731342"/>
            <a:r>
              <a:rPr lang="es-PE" sz="1600" b="1" dirty="0">
                <a:solidFill>
                  <a:srgbClr val="000000"/>
                </a:solidFill>
              </a:rPr>
              <a:t>Objetivo</a:t>
            </a:r>
          </a:p>
          <a:p>
            <a:pPr marL="185738" indent="-185738" defTabSz="731342">
              <a:buFont typeface="Arial" charset="0"/>
              <a:buChar char="•"/>
            </a:pPr>
            <a:r>
              <a:rPr lang="es-PE" sz="1600" dirty="0">
                <a:solidFill>
                  <a:srgbClr val="000000"/>
                </a:solidFill>
              </a:rPr>
              <a:t>Elaborar un Cronograma de Copias de Respaldo.</a:t>
            </a:r>
          </a:p>
        </p:txBody>
      </p:sp>
      <p:sp>
        <p:nvSpPr>
          <p:cNvPr id="6" name="Rectangle 5"/>
          <p:cNvSpPr/>
          <p:nvPr/>
        </p:nvSpPr>
        <p:spPr>
          <a:xfrm>
            <a:off x="512024" y="331345"/>
            <a:ext cx="6032614" cy="2000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1300" dirty="0" smtClean="0">
                <a:solidFill>
                  <a:srgbClr val="438AD7"/>
                </a:solidFill>
              </a:rPr>
              <a:t>/ COPIA DE SEGURIDAD (TAREA)</a:t>
            </a:r>
            <a:endParaRPr lang="en-US" sz="1300" dirty="0">
              <a:solidFill>
                <a:srgbClr val="438AD7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433354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1734671" y="949325"/>
            <a:ext cx="6941016" cy="4248149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5" name="Rectángulo 10"/>
          <p:cNvSpPr/>
          <p:nvPr/>
        </p:nvSpPr>
        <p:spPr>
          <a:xfrm>
            <a:off x="1908269" y="1055146"/>
            <a:ext cx="6647217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731342"/>
            <a:r>
              <a:rPr lang="es-PE" sz="1600" b="1" dirty="0">
                <a:solidFill>
                  <a:srgbClr val="5F9ADA"/>
                </a:solidFill>
              </a:rPr>
              <a:t>TAREA </a:t>
            </a:r>
            <a:r>
              <a:rPr lang="es-PE" sz="1600" b="1" dirty="0" smtClean="0">
                <a:solidFill>
                  <a:srgbClr val="5F9ADA"/>
                </a:solidFill>
              </a:rPr>
              <a:t>GRUPAL</a:t>
            </a:r>
          </a:p>
          <a:p>
            <a:pPr defTabSz="731342"/>
            <a:endParaRPr lang="es-PE" sz="1600" dirty="0">
              <a:solidFill>
                <a:srgbClr val="558ED5"/>
              </a:solidFill>
            </a:endParaRPr>
          </a:p>
          <a:p>
            <a:pPr defTabSz="731342"/>
            <a:r>
              <a:rPr lang="es-PE" sz="1600" b="1" dirty="0">
                <a:solidFill>
                  <a:srgbClr val="000000"/>
                </a:solidFill>
              </a:rPr>
              <a:t>En grupos de 5 participantes trabajar lo siguiente:</a:t>
            </a:r>
          </a:p>
          <a:p>
            <a:pPr marL="185738" indent="-185738" defTabSz="731342">
              <a:buFont typeface="Arial" charset="0"/>
              <a:buChar char="•"/>
            </a:pPr>
            <a:r>
              <a:rPr lang="es-PE" sz="1600" dirty="0">
                <a:solidFill>
                  <a:srgbClr val="000000"/>
                </a:solidFill>
              </a:rPr>
              <a:t>Elaborar un Cronograma de Copias de Respaldo, de las bases de datos de una entidad financiera.</a:t>
            </a:r>
          </a:p>
          <a:p>
            <a:pPr marL="185738" indent="-185738" defTabSz="731342">
              <a:buFont typeface="Arial" charset="0"/>
              <a:buChar char="•"/>
            </a:pPr>
            <a:r>
              <a:rPr lang="es-PE" sz="1600" dirty="0">
                <a:solidFill>
                  <a:srgbClr val="000000"/>
                </a:solidFill>
              </a:rPr>
              <a:t>Las bases de datos son: clientes, proveedores, personal de la entidad, servicios (Plazo fijo, ahorro), transacciones.</a:t>
            </a:r>
          </a:p>
          <a:p>
            <a:pPr marL="185738" indent="-185738" defTabSz="731342">
              <a:buFont typeface="Arial" charset="0"/>
              <a:buChar char="•"/>
            </a:pPr>
            <a:r>
              <a:rPr lang="es-PE" sz="1600" dirty="0">
                <a:solidFill>
                  <a:srgbClr val="000000"/>
                </a:solidFill>
              </a:rPr>
              <a:t>El cronograma debe contar con los siguientes campos: tipo de base de datos, frecuencia, tipo de respaldo, fecha, entre otros</a:t>
            </a:r>
            <a:r>
              <a:rPr lang="es-PE" sz="1600" dirty="0" smtClean="0">
                <a:solidFill>
                  <a:srgbClr val="000000"/>
                </a:solidFill>
              </a:rPr>
              <a:t>.</a:t>
            </a:r>
            <a:endParaRPr lang="es-PE" sz="1600" dirty="0">
              <a:solidFill>
                <a:srgbClr val="000000"/>
              </a:solidFill>
            </a:endParaRPr>
          </a:p>
        </p:txBody>
      </p:sp>
      <p:sp>
        <p:nvSpPr>
          <p:cNvPr id="9" name="Rectangle 5"/>
          <p:cNvSpPr/>
          <p:nvPr/>
        </p:nvSpPr>
        <p:spPr>
          <a:xfrm>
            <a:off x="512024" y="331345"/>
            <a:ext cx="6032614" cy="2000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1300" dirty="0" smtClean="0">
                <a:solidFill>
                  <a:srgbClr val="438AD7"/>
                </a:solidFill>
              </a:rPr>
              <a:t>/ </a:t>
            </a:r>
            <a:r>
              <a:rPr lang="en-US" sz="1300" dirty="0">
                <a:solidFill>
                  <a:srgbClr val="438AD7"/>
                </a:solidFill>
              </a:rPr>
              <a:t>PROCEDIMIENTOS OPERACIONALES Y </a:t>
            </a:r>
            <a:r>
              <a:rPr lang="en-US" sz="1300" dirty="0" smtClean="0">
                <a:solidFill>
                  <a:srgbClr val="438AD7"/>
                </a:solidFill>
              </a:rPr>
              <a:t>RESPONSABILIDADES (TAREA</a:t>
            </a:r>
            <a:r>
              <a:rPr lang="en-US" sz="1300" dirty="0">
                <a:solidFill>
                  <a:srgbClr val="438AD7"/>
                </a:solidFill>
              </a:rPr>
              <a:t>)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222404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1734671" y="949325"/>
            <a:ext cx="6941016" cy="4248149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5" name="Rectángulo 10"/>
          <p:cNvSpPr/>
          <p:nvPr/>
        </p:nvSpPr>
        <p:spPr>
          <a:xfrm>
            <a:off x="1908269" y="1055146"/>
            <a:ext cx="6647217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731342"/>
            <a:r>
              <a:rPr lang="es-PE" sz="1600" b="1" dirty="0">
                <a:solidFill>
                  <a:srgbClr val="5F9ADA"/>
                </a:solidFill>
              </a:rPr>
              <a:t>TAREA </a:t>
            </a:r>
            <a:r>
              <a:rPr lang="es-PE" sz="1600" b="1" dirty="0" smtClean="0">
                <a:solidFill>
                  <a:srgbClr val="5F9ADA"/>
                </a:solidFill>
              </a:rPr>
              <a:t>GRUPAL</a:t>
            </a:r>
          </a:p>
          <a:p>
            <a:pPr defTabSz="731342"/>
            <a:endParaRPr lang="es-PE" sz="1600" dirty="0">
              <a:solidFill>
                <a:srgbClr val="558ED5"/>
              </a:solidFill>
            </a:endParaRPr>
          </a:p>
          <a:p>
            <a:pPr defTabSz="731342"/>
            <a:r>
              <a:rPr lang="es-PE" sz="1600" b="1" dirty="0">
                <a:solidFill>
                  <a:srgbClr val="000000"/>
                </a:solidFill>
              </a:rPr>
              <a:t>Instrucciones para la entrega de la tarea.</a:t>
            </a:r>
          </a:p>
          <a:p>
            <a:pPr marL="185738" indent="-185738" defTabSz="731342">
              <a:buFont typeface="Arial" charset="0"/>
              <a:buChar char="•"/>
            </a:pPr>
            <a:r>
              <a:rPr lang="es-PE" sz="1600" dirty="0">
                <a:solidFill>
                  <a:srgbClr val="000000"/>
                </a:solidFill>
              </a:rPr>
              <a:t>La tarea deberá ser realizada  en clase, por todos los miembros del grupo.</a:t>
            </a:r>
          </a:p>
          <a:p>
            <a:pPr marL="185738" indent="-185738" defTabSz="731342">
              <a:buFont typeface="Arial" charset="0"/>
              <a:buChar char="•"/>
            </a:pPr>
            <a:endParaRPr lang="es-PE" sz="1600" dirty="0">
              <a:solidFill>
                <a:srgbClr val="000000"/>
              </a:solidFill>
            </a:endParaRPr>
          </a:p>
        </p:txBody>
      </p:sp>
      <p:sp>
        <p:nvSpPr>
          <p:cNvPr id="8" name="Rectangle 5"/>
          <p:cNvSpPr/>
          <p:nvPr/>
        </p:nvSpPr>
        <p:spPr>
          <a:xfrm>
            <a:off x="512024" y="331345"/>
            <a:ext cx="6032614" cy="2000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1300" dirty="0" smtClean="0">
                <a:solidFill>
                  <a:srgbClr val="438AD7"/>
                </a:solidFill>
              </a:rPr>
              <a:t>/ </a:t>
            </a:r>
            <a:r>
              <a:rPr lang="en-US" sz="1300" dirty="0">
                <a:solidFill>
                  <a:srgbClr val="438AD7"/>
                </a:solidFill>
              </a:rPr>
              <a:t>PROCEDIMIENTOS OPERACIONALES Y </a:t>
            </a:r>
            <a:r>
              <a:rPr lang="en-US" sz="1300" dirty="0" smtClean="0">
                <a:solidFill>
                  <a:srgbClr val="438AD7"/>
                </a:solidFill>
              </a:rPr>
              <a:t>RESPONSABILIDADES (TAREA</a:t>
            </a:r>
            <a:r>
              <a:rPr lang="en-US" sz="1300" dirty="0">
                <a:solidFill>
                  <a:srgbClr val="438AD7"/>
                </a:solidFill>
              </a:rPr>
              <a:t>)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03738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1F8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7" name="Rectangle 3"/>
          <p:cNvSpPr/>
          <p:nvPr/>
        </p:nvSpPr>
        <p:spPr>
          <a:xfrm>
            <a:off x="424252" y="3703125"/>
            <a:ext cx="7966170" cy="480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2800" b="1" dirty="0" smtClean="0">
                <a:solidFill>
                  <a:schemeClr val="bg1"/>
                </a:solidFill>
                <a:latin typeface="Calibri"/>
                <a:cs typeface="Calibri"/>
              </a:rPr>
              <a:t>/ </a:t>
            </a:r>
            <a:r>
              <a:rPr lang="es-PE" sz="2800" b="1" dirty="0" smtClean="0">
                <a:solidFill>
                  <a:schemeClr val="bg1"/>
                </a:solidFill>
                <a:cs typeface="Calibri"/>
              </a:rPr>
              <a:t>RESUMEN</a:t>
            </a:r>
            <a:endParaRPr lang="es-PE" sz="2800" b="1" dirty="0">
              <a:solidFill>
                <a:schemeClr val="bg1"/>
              </a:solidFill>
              <a:cs typeface="Calibri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62773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5"/>
          <p:cNvSpPr/>
          <p:nvPr/>
        </p:nvSpPr>
        <p:spPr>
          <a:xfrm>
            <a:off x="512024" y="331345"/>
            <a:ext cx="4213980" cy="2000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1300" dirty="0" smtClean="0">
                <a:solidFill>
                  <a:srgbClr val="438AD7"/>
                </a:solidFill>
              </a:rPr>
              <a:t>/ </a:t>
            </a:r>
            <a:r>
              <a:rPr lang="en-US" sz="1300" dirty="0">
                <a:solidFill>
                  <a:srgbClr val="438AD7"/>
                </a:solidFill>
              </a:rPr>
              <a:t>RESUMEN</a:t>
            </a:r>
          </a:p>
        </p:txBody>
      </p:sp>
      <p:sp>
        <p:nvSpPr>
          <p:cNvPr id="15" name="CuadroTexto 14"/>
          <p:cNvSpPr txBox="1"/>
          <p:nvPr/>
        </p:nvSpPr>
        <p:spPr>
          <a:xfrm>
            <a:off x="468313" y="2541820"/>
            <a:ext cx="2183287" cy="58477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PE" sz="1600" dirty="0"/>
              <a:t>Protección contra código malicioso.</a:t>
            </a:r>
          </a:p>
        </p:txBody>
      </p:sp>
      <p:pic>
        <p:nvPicPr>
          <p:cNvPr id="16" name="Picture 2" descr="Resultado de imagen para phishi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8276" y="1294009"/>
            <a:ext cx="4974347" cy="31089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295511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/>
          <p:cNvSpPr txBox="1"/>
          <p:nvPr/>
        </p:nvSpPr>
        <p:spPr>
          <a:xfrm>
            <a:off x="5804034" y="-163629"/>
            <a:ext cx="914400" cy="914400"/>
          </a:xfrm>
          <a:prstGeom prst="rect">
            <a:avLst/>
          </a:prstGeom>
        </p:spPr>
        <p:txBody>
          <a:bodyPr wrap="none" lIns="91425" tIns="91425" rIns="91425" bIns="91425" rtlCol="0" anchor="t" anchorCtr="0">
            <a:noAutofit/>
          </a:bodyPr>
          <a:lstStyle/>
          <a:p>
            <a:pPr marL="174625" indent="-174625">
              <a:spcBef>
                <a:spcPts val="0"/>
              </a:spcBef>
              <a:buSzPct val="100000"/>
            </a:pPr>
            <a:endParaRPr lang="es-ES_tradnl" sz="1500" dirty="0" smtClean="0">
              <a:latin typeface="Calibri"/>
              <a:cs typeface="Calibri"/>
            </a:endParaRPr>
          </a:p>
        </p:txBody>
      </p:sp>
      <p:sp>
        <p:nvSpPr>
          <p:cNvPr id="11" name="Rectangle 5"/>
          <p:cNvSpPr/>
          <p:nvPr/>
        </p:nvSpPr>
        <p:spPr>
          <a:xfrm>
            <a:off x="512024" y="331345"/>
            <a:ext cx="4213980" cy="2000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1300" dirty="0" smtClean="0">
                <a:solidFill>
                  <a:srgbClr val="438AD7"/>
                </a:solidFill>
              </a:rPr>
              <a:t>/ </a:t>
            </a:r>
            <a:r>
              <a:rPr lang="en-US" sz="1300" dirty="0">
                <a:solidFill>
                  <a:srgbClr val="438AD7"/>
                </a:solidFill>
              </a:rPr>
              <a:t>RESUMEN</a:t>
            </a:r>
          </a:p>
        </p:txBody>
      </p:sp>
      <p:sp>
        <p:nvSpPr>
          <p:cNvPr id="2" name="CuadroTexto 1"/>
          <p:cNvSpPr txBox="1"/>
          <p:nvPr/>
        </p:nvSpPr>
        <p:spPr>
          <a:xfrm>
            <a:off x="5866544" y="3513762"/>
            <a:ext cx="914400" cy="914400"/>
          </a:xfrm>
          <a:prstGeom prst="rect">
            <a:avLst/>
          </a:prstGeom>
        </p:spPr>
        <p:txBody>
          <a:bodyPr wrap="none" lIns="91425" tIns="91425" rIns="91425" bIns="91425" rtlCol="0" anchor="t" anchorCtr="0">
            <a:noAutofit/>
          </a:bodyPr>
          <a:lstStyle/>
          <a:p>
            <a:pPr marL="174625" indent="-174625">
              <a:spcBef>
                <a:spcPts val="0"/>
              </a:spcBef>
              <a:buSzPct val="100000"/>
            </a:pPr>
            <a:endParaRPr lang="es-ES_tradnl" sz="1500" dirty="0" smtClean="0">
              <a:latin typeface="Calibri"/>
              <a:cs typeface="Calibri"/>
            </a:endParaRPr>
          </a:p>
        </p:txBody>
      </p:sp>
      <p:sp>
        <p:nvSpPr>
          <p:cNvPr id="29" name="CuadroTexto 28"/>
          <p:cNvSpPr txBox="1"/>
          <p:nvPr/>
        </p:nvSpPr>
        <p:spPr>
          <a:xfrm>
            <a:off x="468313" y="2541820"/>
            <a:ext cx="2183287" cy="33855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PE" sz="1600" dirty="0"/>
              <a:t>Copia de Seguridad.</a:t>
            </a:r>
          </a:p>
        </p:txBody>
      </p:sp>
      <p:pic>
        <p:nvPicPr>
          <p:cNvPr id="30" name="Picture 2" descr="Resultado de imagen para back up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490" b="3951"/>
          <a:stretch/>
        </p:blipFill>
        <p:spPr bwMode="auto">
          <a:xfrm>
            <a:off x="3053604" y="1190101"/>
            <a:ext cx="5340382" cy="31183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684305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  <p:tag name="ARTICULATE_DESIGN_ID_OFFICE THEME" val="Yge96mEv"/>
  <p:tag name="ARTICULATE_SLIDE_COUNT" val="11"/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lIns="91425" tIns="91425" rIns="91425" bIns="91425" anchor="t" anchorCtr="0">
        <a:noAutofit/>
      </a:bodyPr>
      <a:lstStyle>
        <a:defPPr marL="174625" indent="-174625">
          <a:spcBef>
            <a:spcPts val="0"/>
          </a:spcBef>
          <a:buSzPct val="100000"/>
          <a:defRPr sz="1500" dirty="0" smtClean="0">
            <a:latin typeface="Calibri"/>
            <a:cs typeface="Calibri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6069</TotalTime>
  <Words>1660</Words>
  <Application>Microsoft Office PowerPoint</Application>
  <PresentationFormat>Presentación en pantalla (16:10)</PresentationFormat>
  <Paragraphs>192</Paragraphs>
  <Slides>35</Slides>
  <Notes>30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35</vt:i4>
      </vt:variant>
    </vt:vector>
  </HeadingPairs>
  <TitlesOfParts>
    <vt:vector size="40" baseType="lpstr">
      <vt:lpstr>Arial</vt:lpstr>
      <vt:lpstr>Calibri</vt:lpstr>
      <vt:lpstr>Source Sans Pro</vt:lpstr>
      <vt:lpstr>Wingdings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ISIL</dc:creator>
  <cp:keywords>SCG</cp:keywords>
  <cp:lastModifiedBy>Christian Santamaria Saldaña</cp:lastModifiedBy>
  <cp:revision>504</cp:revision>
  <cp:lastPrinted>2018-01-16T21:42:59Z</cp:lastPrinted>
  <dcterms:created xsi:type="dcterms:W3CDTF">2016-10-06T14:52:02Z</dcterms:created>
  <dcterms:modified xsi:type="dcterms:W3CDTF">2020-10-21T21:46:52Z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5400A83D-B4FE-497C-9E2F-ACF3BA8DEF15</vt:lpwstr>
  </property>
  <property fmtid="{D5CDD505-2E9C-101B-9397-08002B2CF9AE}" pid="3" name="ArticulatePath">
    <vt:lpwstr>plantilla_cursos_presenciales-v3.1.6</vt:lpwstr>
  </property>
</Properties>
</file>