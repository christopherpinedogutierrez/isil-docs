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7.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8.xml" ContentType="application/vnd.openxmlformats-officedocument.presentationml.tags+xml"/>
  <Override PartName="/ppt/notesSlides/notesSlide47.xml" ContentType="application/vnd.openxmlformats-officedocument.presentationml.notesSlide+xml"/>
  <Override PartName="/ppt/tags/tag9.xml" ContentType="application/vnd.openxmlformats-officedocument.presentationml.tags+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handoutMasterIdLst>
    <p:handoutMasterId r:id="rId51"/>
  </p:handoutMasterIdLst>
  <p:sldIdLst>
    <p:sldId id="418" r:id="rId2"/>
    <p:sldId id="337" r:id="rId3"/>
    <p:sldId id="315" r:id="rId4"/>
    <p:sldId id="443" r:id="rId5"/>
    <p:sldId id="352" r:id="rId6"/>
    <p:sldId id="451" r:id="rId7"/>
    <p:sldId id="452" r:id="rId8"/>
    <p:sldId id="490" r:id="rId9"/>
    <p:sldId id="491" r:id="rId10"/>
    <p:sldId id="492" r:id="rId11"/>
    <p:sldId id="460" r:id="rId12"/>
    <p:sldId id="493" r:id="rId13"/>
    <p:sldId id="494" r:id="rId14"/>
    <p:sldId id="495" r:id="rId15"/>
    <p:sldId id="500" r:id="rId16"/>
    <p:sldId id="501" r:id="rId17"/>
    <p:sldId id="502" r:id="rId18"/>
    <p:sldId id="503" r:id="rId19"/>
    <p:sldId id="499" r:id="rId20"/>
    <p:sldId id="504" r:id="rId21"/>
    <p:sldId id="506" r:id="rId22"/>
    <p:sldId id="510" r:id="rId23"/>
    <p:sldId id="511" r:id="rId24"/>
    <p:sldId id="512" r:id="rId25"/>
    <p:sldId id="513" r:id="rId26"/>
    <p:sldId id="509" r:id="rId27"/>
    <p:sldId id="507" r:id="rId28"/>
    <p:sldId id="515" r:id="rId29"/>
    <p:sldId id="517" r:id="rId30"/>
    <p:sldId id="518" r:id="rId31"/>
    <p:sldId id="519" r:id="rId32"/>
    <p:sldId id="520" r:id="rId33"/>
    <p:sldId id="516" r:id="rId34"/>
    <p:sldId id="508" r:id="rId35"/>
    <p:sldId id="521" r:id="rId36"/>
    <p:sldId id="522" r:id="rId37"/>
    <p:sldId id="525" r:id="rId38"/>
    <p:sldId id="526" r:id="rId39"/>
    <p:sldId id="527" r:id="rId40"/>
    <p:sldId id="524" r:id="rId41"/>
    <p:sldId id="523" r:id="rId42"/>
    <p:sldId id="528" r:id="rId43"/>
    <p:sldId id="530" r:id="rId44"/>
    <p:sldId id="531" r:id="rId45"/>
    <p:sldId id="532" r:id="rId46"/>
    <p:sldId id="529" r:id="rId47"/>
    <p:sldId id="303" r:id="rId48"/>
    <p:sldId id="448" r:id="rId49"/>
  </p:sldIdLst>
  <p:sldSz cx="9144000" cy="5715000" type="screen16x10"/>
  <p:notesSz cx="6797675" cy="9926638"/>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15BDAD"/>
    <a:srgbClr val="558ED5"/>
    <a:srgbClr val="48C2BB"/>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91" autoAdjust="0"/>
    <p:restoredTop sz="83935" autoAdjust="0"/>
  </p:normalViewPr>
  <p:slideViewPr>
    <p:cSldViewPr snapToGrid="0" snapToObjects="1" showGuides="1">
      <p:cViewPr varScale="1">
        <p:scale>
          <a:sx n="87" d="100"/>
          <a:sy n="87" d="100"/>
        </p:scale>
        <p:origin x="1632" y="5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17/07/2023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17/07/2023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3650582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3347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393554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deben utilizar cualquier combinación de modelos que mejor se adapte a las necesidades de las partes interesadas en un contexto determinado.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Cada técnica de modelado tiene fortalezas y debilidades y proporciona información única sobre el dominio comercial.</a:t>
            </a:r>
            <a:endParaRPr lang="es-PE" dirty="0"/>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541745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análisis proporciona una base para la discusión para llegar a una conclusión sobre las opciones de solución.</a:t>
            </a:r>
            <a:endParaRPr lang="es-PE" dirty="0"/>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571123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Se pueden especificar varios atributos para cada requisito o conjunto de requisitos. </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146269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enfoque de análisis empresarial también puede influir en el nivel de abstracción y la elección de modelos utilizados al definir los requisitos.</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531567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342129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64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416289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Ejemplos de puntos de vista que incluyen:</a:t>
            </a:r>
          </a:p>
          <a:p>
            <a:r>
              <a:rPr lang="es-ES" dirty="0"/>
              <a:t>Modelos de procesos de negocio.</a:t>
            </a:r>
          </a:p>
          <a:p>
            <a:r>
              <a:rPr lang="es-ES" dirty="0"/>
              <a:t>Modelos de datos e información.</a:t>
            </a:r>
          </a:p>
          <a:p>
            <a:r>
              <a:rPr lang="es-ES" dirty="0"/>
              <a:t>Interacciones del usuario, incluidos los casos de uso y/o la experiencia del usuario.</a:t>
            </a:r>
          </a:p>
          <a:p>
            <a:r>
              <a:rPr lang="es-ES" dirty="0"/>
              <a:t>Auditoría y seguridad.</a:t>
            </a:r>
          </a:p>
          <a:p>
            <a:r>
              <a:rPr lang="es-ES" dirty="0"/>
              <a:t>Modelos de negocio.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2780128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924671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iteraciones de las actividades de elicitación, especificación y análisis pueden ayudar a identificar brechas.</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763219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4116383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Comprender este tipo de estructura de información ayuda a garantizar que el conjunto de requisitos esté completo.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345804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01755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758388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8270970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todos estos tipos de enfoques, la integración propuesta de los componentes también se considera dentro de la opción de diseño.</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40175145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3511042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requisitos se pueden asignar entre unidades organizativas, funciones de trabajo, componentes de la solución o versiones de una solución.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asignación de requisitos generalmente comienza cuando se ha determinado un enfoque de solución y continúa hasta que se asignan todos los requisitos válidos.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2283319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Por cada opción se definen medidas de rendimiento.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3595385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994715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40579682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1776665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 Los beneficios a menudo se obtienen durante un periodo de tiempo.</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948751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26230604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valor potencial de una solución para un </a:t>
            </a:r>
            <a:r>
              <a:rPr lang="es-ES" i="1" dirty="0"/>
              <a:t>stakeholder </a:t>
            </a:r>
            <a:r>
              <a:rPr lang="es-ES" dirty="0"/>
              <a:t>se basa en los beneficios que brinda esa solución y los costos asociados.</a:t>
            </a:r>
          </a:p>
          <a:p>
            <a:r>
              <a:rPr lang="es-ES" dirty="0"/>
              <a:t>El valor puede ser positivo (si los beneficios superan a los costes) o negativo (si los costos superan a los beneficios).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estimación de costos y beneficios debe tener en cuenta el grado de incertidumbre existente en el momento de realizar las estimaciones.</a:t>
            </a:r>
          </a:p>
          <a:p>
            <a:endParaRPr lang="es-ES" dirty="0"/>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26909671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recomiendan la opción o las opciones que se consideran la solución más valiosa para abordar la necesidad.</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2298820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911016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414427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7526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1246134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12320436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34731525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13897539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35659759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5000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42606088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36477802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métricas de destino se pueden desarrollar para reflejar el logro de los objetivos comerciales o alguna otra medida de éxito.</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8850573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28369371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40991596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DF5A5FB-F4EA-6965-42B8-F6E87DBA9A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4631" cy="5733853"/>
          </a:xfrm>
          <a:prstGeom prst="rect">
            <a:avLst/>
          </a:prstGeom>
        </p:spPr>
      </p:pic>
      <p:sp>
        <p:nvSpPr>
          <p:cNvPr id="6" name="Marcador de texto 5">
            <a:extLst>
              <a:ext uri="{FF2B5EF4-FFF2-40B4-BE49-F238E27FC236}">
                <a16:creationId xmlns:a16="http://schemas.microsoft.com/office/drawing/2014/main" id="{7F27B821-075D-62FB-6D72-3009EE9F83C0}"/>
              </a:ext>
            </a:extLst>
          </p:cNvPr>
          <p:cNvSpPr>
            <a:spLocks noGrp="1"/>
          </p:cNvSpPr>
          <p:nvPr>
            <p:ph type="body" sz="quarter" idx="11" hasCustomPrompt="1"/>
          </p:nvPr>
        </p:nvSpPr>
        <p:spPr>
          <a:xfrm>
            <a:off x="2766349" y="243068"/>
            <a:ext cx="5383255" cy="867661"/>
          </a:xfrm>
          <a:prstGeom prst="rect">
            <a:avLst/>
          </a:prstGeom>
        </p:spPr>
        <p:txBody>
          <a:bodyPr anchor="b"/>
          <a:lstStyle>
            <a:lvl1pPr marL="0" indent="0" algn="r">
              <a:lnSpc>
                <a:spcPct val="75000"/>
              </a:lnSpc>
              <a:spcBef>
                <a:spcPts val="0"/>
              </a:spcBef>
              <a:buNone/>
              <a:defRPr sz="2800" b="1" i="0" spc="-200" baseline="0">
                <a:solidFill>
                  <a:schemeClr val="tx1">
                    <a:lumMod val="65000"/>
                    <a:lumOff val="35000"/>
                  </a:schemeClr>
                </a:solidFill>
                <a:effectLst/>
                <a:latin typeface="+mn-lt"/>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57C8A894-56AA-98AE-4CB2-22721A8F4304}"/>
              </a:ext>
            </a:extLst>
          </p:cNvPr>
          <p:cNvSpPr>
            <a:spLocks noGrp="1"/>
          </p:cNvSpPr>
          <p:nvPr>
            <p:ph type="body" sz="quarter" idx="12" hasCustomPrompt="1"/>
          </p:nvPr>
        </p:nvSpPr>
        <p:spPr>
          <a:xfrm>
            <a:off x="2141317" y="2430340"/>
            <a:ext cx="4861609" cy="2581497"/>
          </a:xfrm>
          <a:prstGeom prst="rect">
            <a:avLst/>
          </a:prstGeom>
        </p:spPr>
        <p:txBody>
          <a:bodyPr anchor="ctr"/>
          <a:lstStyle>
            <a:lvl1pPr marL="0" indent="0" algn="ctr">
              <a:lnSpc>
                <a:spcPct val="75000"/>
              </a:lnSpc>
              <a:spcBef>
                <a:spcPts val="0"/>
              </a:spcBef>
              <a:buNone/>
              <a:defRPr sz="4400" b="1" spc="-200" baseline="0">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809616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09</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49" r:id="rId6"/>
    <p:sldLayoutId id="2147483687" r:id="rId7"/>
    <p:sldLayoutId id="2147483669" r:id="rId8"/>
    <p:sldLayoutId id="214748366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9.xml"/><Relationship Id="rId1" Type="http://schemas.openxmlformats.org/officeDocument/2006/relationships/tags" Target="../tags/tag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DISEÑO DE LA SOLUCIÓN</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3 – UA3</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Especificación y modelado de los requisitos</a:t>
            </a:r>
          </a:p>
          <a:p>
            <a:pPr>
              <a:spcBef>
                <a:spcPts val="0"/>
              </a:spcBef>
            </a:pPr>
            <a:r>
              <a:rPr lang="es-PE" dirty="0"/>
              <a:t>Definición de las opciones de solución</a:t>
            </a:r>
          </a:p>
          <a:p>
            <a:pPr>
              <a:spcBef>
                <a:spcPts val="0"/>
              </a:spcBef>
            </a:pPr>
            <a:r>
              <a:rPr lang="es-PE" dirty="0"/>
              <a:t>Análisis de valor potencial</a:t>
            </a:r>
          </a:p>
          <a:p>
            <a:pPr>
              <a:spcBef>
                <a:spcPts val="0"/>
              </a:spcBef>
            </a:pPr>
            <a:r>
              <a:rPr lang="es-PE" dirty="0"/>
              <a:t>Verificación y validación de requisitos</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09</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670050"/>
            <a:ext cx="8137525" cy="3106902"/>
          </a:xfrm>
          <a:prstGeom prst="rect">
            <a:avLst/>
          </a:prstGeom>
        </p:spPr>
        <p:txBody>
          <a:bodyPr/>
          <a:lstStyle/>
          <a:p>
            <a:pPr algn="just"/>
            <a:r>
              <a:rPr lang="es-ES" b="1" dirty="0"/>
              <a:t>El área de conocimiento análisis de requisitos y definición de diseño </a:t>
            </a:r>
            <a:r>
              <a:rPr lang="es-ES" dirty="0"/>
              <a:t>cubre las actividades incrementales  e  iterativas  que  consideran desde el concepto inicial y la exploración de la necesidad hasta la transformación de esas necesidades en una solución particular recomendada.</a:t>
            </a:r>
          </a:p>
          <a:p>
            <a:pPr>
              <a:spcAft>
                <a:spcPts val="600"/>
              </a:spcAft>
            </a:pPr>
            <a:r>
              <a:rPr lang="es-ES" dirty="0"/>
              <a:t>Entonces, durante esta sesión:</a:t>
            </a:r>
          </a:p>
          <a:p>
            <a:pPr lvl="1">
              <a:spcAft>
                <a:spcPts val="600"/>
              </a:spcAft>
            </a:pPr>
            <a:r>
              <a:rPr lang="es-ES" b="1" dirty="0"/>
              <a:t>Conocerás </a:t>
            </a:r>
            <a:r>
              <a:rPr lang="es-ES" dirty="0"/>
              <a:t>las tareas de </a:t>
            </a:r>
            <a:r>
              <a:rPr lang="es-PE" dirty="0"/>
              <a:t>especificación y modelado de los requisitos de la solución.</a:t>
            </a:r>
          </a:p>
          <a:p>
            <a:pPr lvl="1" algn="just">
              <a:spcAft>
                <a:spcPts val="600"/>
              </a:spcAft>
            </a:pPr>
            <a:r>
              <a:rPr lang="es-ES" b="1" dirty="0"/>
              <a:t>Aprenderás </a:t>
            </a:r>
            <a:r>
              <a:rPr lang="es-ES" dirty="0"/>
              <a:t>a definir las opciones de solución.</a:t>
            </a:r>
          </a:p>
          <a:p>
            <a:pPr lvl="1" algn="just">
              <a:spcAft>
                <a:spcPts val="600"/>
              </a:spcAft>
            </a:pPr>
            <a:r>
              <a:rPr lang="es-ES" b="1" dirty="0"/>
              <a:t>Aprenderás</a:t>
            </a:r>
            <a:r>
              <a:rPr lang="es-ES" dirty="0"/>
              <a:t> a realizar el análisis de valor potencial de las opciones de solución.</a:t>
            </a:r>
          </a:p>
          <a:p>
            <a:pPr lvl="1" algn="just">
              <a:spcAft>
                <a:spcPts val="600"/>
              </a:spcAft>
            </a:pPr>
            <a:r>
              <a:rPr lang="es-ES" b="1" dirty="0"/>
              <a:t>Aprenderás</a:t>
            </a:r>
            <a:r>
              <a:rPr lang="es-ES" dirty="0"/>
              <a:t> a llevar a cabo acciones de verificación y validación de los requisitos de la solución.</a:t>
            </a: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ESPECIFICACIÓN Y MODELADO DE LOS REQUISITOS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28A5915-B430-E4FA-67AA-B7528D707E1E}"/>
              </a:ext>
            </a:extLst>
          </p:cNvPr>
          <p:cNvPicPr>
            <a:picLocks noGrp="1" noChangeAspect="1"/>
          </p:cNvPicPr>
          <p:nvPr>
            <p:ph type="pic" sz="quarter" idx="10"/>
          </p:nvPr>
        </p:nvPicPr>
        <p:blipFill>
          <a:blip r:embed="rId3"/>
          <a:srcRect t="310" b="310"/>
          <a:stretch>
            <a:fillRect/>
          </a:stretch>
        </p:blipFill>
        <p:spPr>
          <a:xfrm>
            <a:off x="470825" y="3043187"/>
            <a:ext cx="8208000" cy="2394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05251" y="1015174"/>
            <a:ext cx="8208000" cy="354012"/>
          </a:xfrm>
        </p:spPr>
        <p:txBody>
          <a:bodyPr/>
          <a:lstStyle/>
          <a:p>
            <a:r>
              <a:rPr lang="es-PE" dirty="0"/>
              <a:t>Área de conocimiento BABOK® </a:t>
            </a:r>
            <a:r>
              <a:rPr lang="es-PE" dirty="0">
                <a:latin typeface="Delius" panose="02000603000000000000" pitchFamily="2" charset="0"/>
              </a:rPr>
              <a:t>→ </a:t>
            </a:r>
            <a:r>
              <a:rPr lang="es-PE" dirty="0"/>
              <a:t>análisis de requerimientos y definición del diseño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2699133" y="649507"/>
            <a:ext cx="2984335" cy="354012"/>
          </a:xfrm>
        </p:spPr>
        <p:txBody>
          <a:bodyPr/>
          <a:lstStyle/>
          <a:p>
            <a:pPr algn="ctr"/>
            <a:r>
              <a:rPr lang="es-PE" dirty="0"/>
              <a:t>Diseño de la solución</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369186"/>
            <a:ext cx="8207375" cy="1831213"/>
          </a:xfrm>
        </p:spPr>
        <p:txBody>
          <a:bodyPr/>
          <a:lstStyle/>
          <a:p>
            <a:pPr>
              <a:spcAft>
                <a:spcPts val="600"/>
              </a:spcAft>
            </a:pPr>
            <a:r>
              <a:rPr lang="es-ES" dirty="0"/>
              <a:t>Tanto los requisitos como los diseños son herramientas importantes que utilizan los analistas de negocios para definir y guiar el cambio. La principal diferencia entre los requisitos y los diseños está en cómo se utilizan y por quién. Comprende los procesos siguientes: </a:t>
            </a:r>
          </a:p>
          <a:p>
            <a:pPr lvl="1">
              <a:spcAft>
                <a:spcPts val="0"/>
              </a:spcAft>
            </a:pPr>
            <a:r>
              <a:rPr lang="es-ES" dirty="0"/>
              <a:t>Especificación y modelado de los requisitos </a:t>
            </a:r>
            <a:r>
              <a:rPr kumimoji="0" lang="es-ES" sz="1400" b="0" u="none" strike="noStrike" kern="1200" cap="none" spc="0" normalizeH="0" baseline="0" noProof="0" dirty="0">
                <a:ln>
                  <a:noFill/>
                </a:ln>
                <a:solidFill>
                  <a:prstClr val="black">
                    <a:lumMod val="50000"/>
                    <a:lumOff val="50000"/>
                  </a:prstClr>
                </a:solidFill>
                <a:effectLst/>
                <a:uLnTx/>
                <a:uFillTx/>
                <a:latin typeface="Calibri"/>
                <a:ea typeface="+mn-ea"/>
                <a:cs typeface="+mn-cs"/>
              </a:rPr>
              <a:t>(modelado + arquitectura).</a:t>
            </a:r>
            <a:endParaRPr lang="es-ES" dirty="0"/>
          </a:p>
          <a:p>
            <a:pPr lvl="1">
              <a:spcAft>
                <a:spcPts val="0"/>
              </a:spcAft>
            </a:pPr>
            <a:r>
              <a:rPr lang="es-ES" dirty="0"/>
              <a:t>Definición de las opciones de solución.</a:t>
            </a:r>
            <a:endParaRPr lang="es-ES" i="1" dirty="0">
              <a:solidFill>
                <a:schemeClr val="tx1">
                  <a:lumMod val="50000"/>
                  <a:lumOff val="50000"/>
                </a:schemeClr>
              </a:solidFill>
            </a:endParaRPr>
          </a:p>
          <a:p>
            <a:pPr lvl="1">
              <a:spcAft>
                <a:spcPts val="0"/>
              </a:spcAft>
            </a:pPr>
            <a:r>
              <a:rPr lang="es-ES" dirty="0"/>
              <a:t>Análisis de valor potencial.</a:t>
            </a:r>
            <a:endParaRPr lang="es-ES" i="1" dirty="0"/>
          </a:p>
          <a:p>
            <a:pPr lvl="1">
              <a:spcAft>
                <a:spcPts val="0"/>
              </a:spcAft>
            </a:pPr>
            <a:r>
              <a:rPr lang="es-ES" dirty="0"/>
              <a:t>Verificación y validación de requisitos </a:t>
            </a:r>
            <a:r>
              <a:rPr lang="es-ES" sz="1400" dirty="0">
                <a:solidFill>
                  <a:schemeClr val="tx1">
                    <a:lumMod val="50000"/>
                    <a:lumOff val="50000"/>
                  </a:schemeClr>
                </a:solidFill>
              </a:rPr>
              <a:t>(verificar + validar).</a:t>
            </a:r>
            <a:endParaRPr lang="es-ES" dirty="0">
              <a:solidFill>
                <a:schemeClr val="tx1">
                  <a:lumMod val="50000"/>
                  <a:lumOff val="50000"/>
                </a:schemeClr>
              </a:solidFill>
            </a:endParaRPr>
          </a:p>
          <a:p>
            <a:endParaRPr lang="es-ES" dirty="0"/>
          </a:p>
          <a:p>
            <a:endParaRPr lang="es-ES" dirty="0"/>
          </a:p>
        </p:txBody>
      </p:sp>
      <p:sp>
        <p:nvSpPr>
          <p:cNvPr id="6" name="Marcador de texto 12">
            <a:extLst>
              <a:ext uri="{FF2B5EF4-FFF2-40B4-BE49-F238E27FC236}">
                <a16:creationId xmlns:a16="http://schemas.microsoft.com/office/drawing/2014/main" id="{2E1D76AD-F772-43AF-A82D-09964F982D4F}"/>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dirty="0"/>
              <a:t>/ ESPECIFICACIÓN Y MODELADO REQUISITOS</a:t>
            </a:r>
          </a:p>
        </p:txBody>
      </p:sp>
    </p:spTree>
    <p:extLst>
      <p:ext uri="{BB962C8B-B14F-4D97-AF65-F5344CB8AC3E}">
        <p14:creationId xmlns:p14="http://schemas.microsoft.com/office/powerpoint/2010/main" val="7771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DISEÑO DE LA SOLUCIÓN</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ES" dirty="0"/>
              <a:t>ESPECIFICACIÓN Y MODELADO DE REQUISITOS</a:t>
            </a:r>
            <a:endParaRPr lang="es-PE" dirty="0"/>
          </a:p>
          <a:p>
            <a:endParaRPr lang="es-PE" dirty="0"/>
          </a:p>
        </p:txBody>
      </p:sp>
    </p:spTree>
    <p:extLst>
      <p:ext uri="{BB962C8B-B14F-4D97-AF65-F5344CB8AC3E}">
        <p14:creationId xmlns:p14="http://schemas.microsoft.com/office/powerpoint/2010/main" val="2926421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360371"/>
          </a:xfrm>
        </p:spPr>
        <p:txBody>
          <a:bodyPr/>
          <a:lstStyle/>
          <a:p>
            <a:r>
              <a:rPr lang="es-ES" dirty="0"/>
              <a:t>Analizar, sintetizar y refinar los resultados de la elicitación de requisitos y diseños de la solución. Incluye capturar información sobre atributos o metadatos sobre los requisitos.</a:t>
            </a:r>
          </a:p>
          <a:p>
            <a:pPr>
              <a:spcAft>
                <a:spcPts val="600"/>
              </a:spcAft>
            </a:pPr>
            <a:r>
              <a:rPr lang="es-ES" dirty="0"/>
              <a:t>Se debe de tener en cuenta lo siguiente:</a:t>
            </a:r>
          </a:p>
          <a:p>
            <a:pPr lvl="1">
              <a:spcAft>
                <a:spcPts val="600"/>
              </a:spcAft>
              <a:buFont typeface="+mj-lt"/>
              <a:buAutoNum type="arabicPeriod"/>
            </a:pPr>
            <a:r>
              <a:rPr lang="es-ES" dirty="0"/>
              <a:t>Requisitos del modelo.</a:t>
            </a:r>
          </a:p>
          <a:p>
            <a:pPr lvl="1">
              <a:spcAft>
                <a:spcPts val="600"/>
              </a:spcAft>
              <a:buFont typeface="+mj-lt"/>
              <a:buAutoNum type="arabicPeriod"/>
            </a:pPr>
            <a:r>
              <a:rPr lang="es-ES" dirty="0"/>
              <a:t>Analizar los requisitos.</a:t>
            </a:r>
          </a:p>
          <a:p>
            <a:pPr lvl="1">
              <a:spcAft>
                <a:spcPts val="600"/>
              </a:spcAft>
              <a:buFont typeface="+mj-lt"/>
              <a:buAutoNum type="arabicPeriod"/>
            </a:pPr>
            <a:r>
              <a:rPr lang="es-ES" dirty="0"/>
              <a:t>Representar requisitos y atributos.</a:t>
            </a:r>
          </a:p>
          <a:p>
            <a:pPr lvl="1">
              <a:spcAft>
                <a:spcPts val="600"/>
              </a:spcAft>
              <a:buFont typeface="+mj-lt"/>
              <a:buAutoNum type="arabicPeriod"/>
            </a:pPr>
            <a:r>
              <a:rPr lang="es-ES" dirty="0"/>
              <a:t>Implementar los niveles apropiados de abstracción.</a:t>
            </a:r>
            <a:endParaRPr lang="es-PE" dirty="0"/>
          </a:p>
        </p:txBody>
      </p:sp>
      <p:pic>
        <p:nvPicPr>
          <p:cNvPr id="4" name="Marcador de posición de imagen 3">
            <a:extLst>
              <a:ext uri="{FF2B5EF4-FFF2-40B4-BE49-F238E27FC236}">
                <a16:creationId xmlns:a16="http://schemas.microsoft.com/office/drawing/2014/main" id="{7CCCD6F7-8C9E-A05C-2E39-9617FA7B4DA6}"/>
              </a:ext>
            </a:extLst>
          </p:cNvPr>
          <p:cNvPicPr>
            <a:picLocks noGrp="1" noChangeAspect="1"/>
          </p:cNvPicPr>
          <p:nvPr>
            <p:ph type="pic" sz="quarter" idx="10"/>
          </p:nvPr>
        </p:nvPicPr>
        <p:blipFill>
          <a:blip r:embed="rId3"/>
          <a:srcRect l="234" r="234"/>
          <a:stretch>
            <a:fillRect/>
          </a:stretch>
        </p:blipFill>
        <p:spPr>
          <a:xfrm>
            <a:off x="5094495" y="1070951"/>
            <a:ext cx="3771291" cy="4103563"/>
          </a:xfrm>
        </p:spPr>
      </p:pic>
    </p:spTree>
    <p:extLst>
      <p:ext uri="{BB962C8B-B14F-4D97-AF65-F5344CB8AC3E}">
        <p14:creationId xmlns:p14="http://schemas.microsoft.com/office/powerpoint/2010/main" val="193741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Resultados del modelo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pic>
        <p:nvPicPr>
          <p:cNvPr id="4" name="Marcador de posición de imagen 3">
            <a:extLst>
              <a:ext uri="{FF2B5EF4-FFF2-40B4-BE49-F238E27FC236}">
                <a16:creationId xmlns:a16="http://schemas.microsoft.com/office/drawing/2014/main" id="{397F63D3-DCB8-3E3F-BD15-4B7D90C40F7F}"/>
              </a:ext>
            </a:extLst>
          </p:cNvPr>
          <p:cNvPicPr>
            <a:picLocks noGrp="1" noChangeAspect="1"/>
          </p:cNvPicPr>
          <p:nvPr>
            <p:ph type="pic" sz="quarter" idx="10"/>
          </p:nvPr>
        </p:nvPicPr>
        <p:blipFill>
          <a:blip r:embed="rId3"/>
          <a:srcRect l="118" r="118"/>
          <a:stretch>
            <a:fillRect/>
          </a:stretch>
        </p:blipFill>
        <p:spPr>
          <a:xfrm>
            <a:off x="5241514" y="1158875"/>
            <a:ext cx="3624273" cy="3943592"/>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604849" cy="4204433"/>
          </a:xfrm>
        </p:spPr>
        <p:txBody>
          <a:bodyPr/>
          <a:lstStyle/>
          <a:p>
            <a:r>
              <a:rPr lang="es-ES" dirty="0"/>
              <a:t>Un modelo es una forma descriptiva y visual de transmitir información a una audiencia específica para apoyar el análisis, la comunicación y la comprensión.</a:t>
            </a:r>
          </a:p>
          <a:p>
            <a:pPr>
              <a:spcAft>
                <a:spcPts val="600"/>
              </a:spcAft>
            </a:pPr>
            <a:r>
              <a:rPr lang="es-ES" dirty="0"/>
              <a:t>También se pueden utilizar para confirmar el conocimiento, identificar lagunas y duplicidad de información. Los formatos son los que se presentan a continuación:</a:t>
            </a:r>
          </a:p>
          <a:p>
            <a:pPr lvl="1">
              <a:spcAft>
                <a:spcPts val="300"/>
              </a:spcAft>
            </a:pPr>
            <a:r>
              <a:rPr lang="es-ES" dirty="0"/>
              <a:t>matrices</a:t>
            </a:r>
          </a:p>
          <a:p>
            <a:pPr lvl="1">
              <a:spcAft>
                <a:spcPts val="300"/>
              </a:spcAft>
            </a:pPr>
            <a:r>
              <a:rPr lang="es-ES" dirty="0"/>
              <a:t>diagramas</a:t>
            </a:r>
          </a:p>
          <a:p>
            <a:pPr lvl="1">
              <a:spcAft>
                <a:spcPts val="300"/>
              </a:spcAft>
            </a:pPr>
            <a:r>
              <a:rPr lang="es-ES" dirty="0"/>
              <a:t>personas y roles</a:t>
            </a:r>
          </a:p>
          <a:p>
            <a:pPr lvl="1">
              <a:spcAft>
                <a:spcPts val="300"/>
              </a:spcAft>
            </a:pPr>
            <a:r>
              <a:rPr lang="es-ES" dirty="0"/>
              <a:t>justificación</a:t>
            </a:r>
          </a:p>
          <a:p>
            <a:pPr lvl="1">
              <a:spcAft>
                <a:spcPts val="300"/>
              </a:spcAft>
            </a:pPr>
            <a:r>
              <a:rPr lang="es-ES" dirty="0"/>
              <a:t>flujo de actividad</a:t>
            </a:r>
          </a:p>
          <a:p>
            <a:pPr lvl="1">
              <a:spcAft>
                <a:spcPts val="300"/>
              </a:spcAft>
            </a:pPr>
            <a:r>
              <a:rPr lang="es-ES" dirty="0"/>
              <a:t>capacidad</a:t>
            </a:r>
          </a:p>
          <a:p>
            <a:pPr lvl="1">
              <a:spcAft>
                <a:spcPts val="300"/>
              </a:spcAft>
            </a:pPr>
            <a:r>
              <a:rPr lang="es-ES" dirty="0"/>
              <a:t>datos e Información</a:t>
            </a:r>
          </a:p>
        </p:txBody>
      </p:sp>
    </p:spTree>
    <p:extLst>
      <p:ext uri="{BB962C8B-B14F-4D97-AF65-F5344CB8AC3E}">
        <p14:creationId xmlns:p14="http://schemas.microsoft.com/office/powerpoint/2010/main" val="286005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Análisis de requisitos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pic>
        <p:nvPicPr>
          <p:cNvPr id="4" name="Marcador de posición de imagen 3">
            <a:extLst>
              <a:ext uri="{FF2B5EF4-FFF2-40B4-BE49-F238E27FC236}">
                <a16:creationId xmlns:a16="http://schemas.microsoft.com/office/drawing/2014/main" id="{FE6472DA-474C-06B2-8977-EFC58C8DBBE4}"/>
              </a:ext>
            </a:extLst>
          </p:cNvPr>
          <p:cNvPicPr>
            <a:picLocks noGrp="1" noChangeAspect="1"/>
          </p:cNvPicPr>
          <p:nvPr>
            <p:ph type="pic" sz="quarter" idx="10"/>
          </p:nvPr>
        </p:nvPicPr>
        <p:blipFill>
          <a:blip r:embed="rId3"/>
          <a:srcRect l="118" r="118"/>
          <a:stretch>
            <a:fillRect/>
          </a:stretch>
        </p:blipFill>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p:txBody>
          <a:bodyPr/>
          <a:lstStyle/>
          <a:p>
            <a:pPr>
              <a:spcAft>
                <a:spcPts val="300"/>
              </a:spcAft>
            </a:pPr>
            <a:r>
              <a:rPr lang="es-ES" dirty="0"/>
              <a:t>La información del análisis de negocio se descompone en lo siguiente:</a:t>
            </a:r>
          </a:p>
          <a:p>
            <a:pPr lvl="1">
              <a:spcAft>
                <a:spcPts val="300"/>
              </a:spcAft>
            </a:pPr>
            <a:r>
              <a:rPr lang="es-ES" dirty="0"/>
              <a:t>Cualquier cosa que deba cambiar para satisfacer la necesidad.</a:t>
            </a:r>
          </a:p>
          <a:p>
            <a:pPr lvl="1">
              <a:spcAft>
                <a:spcPts val="300"/>
              </a:spcAft>
            </a:pPr>
            <a:r>
              <a:rPr lang="es-ES" dirty="0"/>
              <a:t>Cualquier cosa que deba permanecer igual para satisfacer la necesidad.</a:t>
            </a:r>
          </a:p>
          <a:p>
            <a:pPr lvl="1">
              <a:spcAft>
                <a:spcPts val="300"/>
              </a:spcAft>
            </a:pPr>
            <a:r>
              <a:rPr lang="es-ES" dirty="0"/>
              <a:t>Componentes faltantes, innecesarios.</a:t>
            </a:r>
          </a:p>
          <a:p>
            <a:pPr lvl="1"/>
            <a:r>
              <a:rPr lang="es-ES" dirty="0"/>
              <a:t>Cualquier restricción o suposición que afecte a los componentes.</a:t>
            </a:r>
          </a:p>
          <a:p>
            <a:r>
              <a:rPr lang="es-ES" dirty="0"/>
              <a:t>El nivel de descomposición varía según el conocimiento y la comprensión de los </a:t>
            </a:r>
            <a:r>
              <a:rPr lang="es-ES" i="1" dirty="0"/>
              <a:t>stakeholders</a:t>
            </a:r>
            <a:r>
              <a:rPr lang="es-ES" dirty="0"/>
              <a:t>, la posibilidad de malentendidos, los estándares de la organización, las obligaciones contractuales o reglamentarias, entre otros factores.</a:t>
            </a:r>
          </a:p>
        </p:txBody>
      </p:sp>
    </p:spTree>
    <p:extLst>
      <p:ext uri="{BB962C8B-B14F-4D97-AF65-F5344CB8AC3E}">
        <p14:creationId xmlns:p14="http://schemas.microsoft.com/office/powerpoint/2010/main" val="263082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Representar requisitos y atributos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pic>
        <p:nvPicPr>
          <p:cNvPr id="4" name="Marcador de posición de imagen 3">
            <a:extLst>
              <a:ext uri="{FF2B5EF4-FFF2-40B4-BE49-F238E27FC236}">
                <a16:creationId xmlns:a16="http://schemas.microsoft.com/office/drawing/2014/main" id="{7652BA0A-E679-137F-519C-59EA5D93C25E}"/>
              </a:ext>
            </a:extLst>
          </p:cNvPr>
          <p:cNvPicPr>
            <a:picLocks noGrp="1" noChangeAspect="1"/>
          </p:cNvPicPr>
          <p:nvPr>
            <p:ph type="pic" sz="quarter" idx="10"/>
          </p:nvPr>
        </p:nvPicPr>
        <p:blipFill>
          <a:blip r:embed="rId3"/>
          <a:srcRect l="349" r="349"/>
          <a:stretch>
            <a:fillRect/>
          </a:stretch>
        </p:blipFill>
        <p:spPr>
          <a:xfrm>
            <a:off x="5279198" y="1158875"/>
            <a:ext cx="3616193" cy="39348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543302" cy="3668102"/>
          </a:xfrm>
        </p:spPr>
        <p:txBody>
          <a:bodyPr/>
          <a:lstStyle/>
          <a:p>
            <a:r>
              <a:rPr lang="es-ES" dirty="0"/>
              <a:t>Los requisitos deben representarse explícitamente  y  deben  incluir suficientes detalles para que exhiban sus características y la calidad de los diseños.</a:t>
            </a:r>
          </a:p>
          <a:p>
            <a:r>
              <a:rPr lang="es-ES" dirty="0"/>
              <a:t>Por lo general, los resultados de obtención contienen información de diferentes tipos, por lo que es natural esperar que se especifiquen diferentes tipos de requisitos al mismo tiempo.</a:t>
            </a:r>
          </a:p>
          <a:p>
            <a:r>
              <a:rPr lang="es-ES" dirty="0"/>
              <a:t>La categorización de los requisitos garantiza que los requisitos se comprendan por completo, que un conjunto de cualquier tipo esté completo y que haya una trazabilidad adecuada entre los tipos.</a:t>
            </a:r>
            <a:endParaRPr lang="es-PE" dirty="0"/>
          </a:p>
        </p:txBody>
      </p:sp>
    </p:spTree>
    <p:extLst>
      <p:ext uri="{BB962C8B-B14F-4D97-AF65-F5344CB8AC3E}">
        <p14:creationId xmlns:p14="http://schemas.microsoft.com/office/powerpoint/2010/main" val="361975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Niveles apropiados de abstracción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pic>
        <p:nvPicPr>
          <p:cNvPr id="4" name="Marcador de posición de imagen 3">
            <a:extLst>
              <a:ext uri="{FF2B5EF4-FFF2-40B4-BE49-F238E27FC236}">
                <a16:creationId xmlns:a16="http://schemas.microsoft.com/office/drawing/2014/main" id="{3F41C99B-A070-4206-0A12-0428F091DD9C}"/>
              </a:ext>
            </a:extLst>
          </p:cNvPr>
          <p:cNvPicPr>
            <a:picLocks noGrp="1" noChangeAspect="1"/>
          </p:cNvPicPr>
          <p:nvPr>
            <p:ph type="pic" sz="quarter" idx="10"/>
          </p:nvPr>
        </p:nvPicPr>
        <p:blipFill>
          <a:blip r:embed="rId3"/>
          <a:srcRect l="2" r="2"/>
          <a:stretch>
            <a:fillRect/>
          </a:stretch>
        </p:blipFill>
        <p:spPr>
          <a:xfrm>
            <a:off x="5201385" y="966200"/>
            <a:ext cx="3778701" cy="4111626"/>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472964" cy="3751262"/>
          </a:xfrm>
        </p:spPr>
        <p:txBody>
          <a:bodyPr/>
          <a:lstStyle/>
          <a:p>
            <a:r>
              <a:rPr lang="es-ES" dirty="0"/>
              <a:t>El nivel de abstracción de un requisito varía según su tipo y de la audiencia del requisito.</a:t>
            </a:r>
          </a:p>
          <a:p>
            <a:r>
              <a:rPr lang="es-ES" dirty="0"/>
              <a:t>No todos los </a:t>
            </a:r>
            <a:r>
              <a:rPr lang="es-ES" i="1" dirty="0"/>
              <a:t>stakeholders</a:t>
            </a:r>
            <a:r>
              <a:rPr lang="es-ES" dirty="0"/>
              <a:t> requieren o encuentran valor en el conjunto completo de requisitos y modelos.</a:t>
            </a:r>
          </a:p>
          <a:p>
            <a:r>
              <a:rPr lang="es-ES" dirty="0"/>
              <a:t>Puede ser apropiado producir diferentes puntos de vista de los requisitos para representar la misma necesidad para diferentes </a:t>
            </a:r>
            <a:r>
              <a:rPr lang="es-ES" i="1" dirty="0"/>
              <a:t>stakeholders.</a:t>
            </a:r>
          </a:p>
          <a:p>
            <a:r>
              <a:rPr lang="es-ES" dirty="0"/>
              <a:t>Los analistas de negocios tienen especial cuidado en mantener el significado y la intención de los requisitos sobre todas las representaciones.</a:t>
            </a:r>
            <a:endParaRPr lang="es-PE" dirty="0"/>
          </a:p>
        </p:txBody>
      </p:sp>
    </p:spTree>
    <p:extLst>
      <p:ext uri="{BB962C8B-B14F-4D97-AF65-F5344CB8AC3E}">
        <p14:creationId xmlns:p14="http://schemas.microsoft.com/office/powerpoint/2010/main" val="248010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ESPECIFICACIÓN Y MODELADO REQUISITOS</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Criterios de evaluación y aceptación</a:t>
            </a:r>
          </a:p>
          <a:p>
            <a:r>
              <a:rPr lang="es-ES" dirty="0"/>
              <a:t>Análisis de capacidad de negocio</a:t>
            </a:r>
          </a:p>
          <a:p>
            <a:r>
              <a:rPr lang="es-ES" dirty="0"/>
              <a:t>Modelo Canvas</a:t>
            </a:r>
          </a:p>
          <a:p>
            <a:r>
              <a:rPr lang="es-ES" dirty="0"/>
              <a:t>Análisis de reglas de negocio</a:t>
            </a:r>
          </a:p>
          <a:p>
            <a:r>
              <a:rPr lang="es-ES" dirty="0"/>
              <a:t>Modelado de conceptos</a:t>
            </a:r>
          </a:p>
          <a:p>
            <a:r>
              <a:rPr lang="es-ES" dirty="0"/>
              <a:t>Diccionarios de datos</a:t>
            </a:r>
          </a:p>
          <a:p>
            <a:r>
              <a:rPr lang="es-ES" dirty="0"/>
              <a:t>Diagrama de flujo de datos</a:t>
            </a:r>
          </a:p>
          <a:p>
            <a:r>
              <a:rPr lang="es-ES" dirty="0"/>
              <a:t>Modelado de datos</a:t>
            </a:r>
          </a:p>
          <a:p>
            <a:r>
              <a:rPr lang="es-ES" dirty="0"/>
              <a:t>Modelado de decisiones</a:t>
            </a:r>
          </a:p>
          <a:p>
            <a:r>
              <a:rPr lang="es-ES" dirty="0"/>
              <a:t>Descomposición funcional</a:t>
            </a:r>
          </a:p>
          <a:p>
            <a:r>
              <a:rPr lang="es-ES" dirty="0"/>
              <a:t>Glosario</a:t>
            </a:r>
          </a:p>
          <a:p>
            <a:r>
              <a:rPr lang="es-ES" dirty="0"/>
              <a:t>Análisis de interfaz</a:t>
            </a:r>
          </a:p>
          <a:p>
            <a:r>
              <a:rPr lang="es-ES" dirty="0"/>
              <a:t>Análisis de requisitos no funcionales</a:t>
            </a:r>
          </a:p>
          <a:p>
            <a:r>
              <a:rPr lang="es-ES" dirty="0"/>
              <a:t>Modelado organizacional</a:t>
            </a:r>
          </a:p>
          <a:p>
            <a:r>
              <a:rPr lang="es-ES" dirty="0"/>
              <a:t>Modelado de procesos</a:t>
            </a:r>
          </a:p>
          <a:p>
            <a:r>
              <a:rPr lang="es-ES" dirty="0"/>
              <a:t>Prototipado</a:t>
            </a:r>
          </a:p>
          <a:p>
            <a:r>
              <a:rPr lang="es-ES" dirty="0"/>
              <a:t>Matriz de roles y permisos</a:t>
            </a:r>
          </a:p>
          <a:p>
            <a:r>
              <a:rPr lang="es-ES" dirty="0"/>
              <a:t>Análisis de causa raíz</a:t>
            </a:r>
          </a:p>
          <a:p>
            <a:r>
              <a:rPr lang="es-ES" dirty="0"/>
              <a:t>Modelado de ámbito</a:t>
            </a:r>
          </a:p>
          <a:p>
            <a:r>
              <a:rPr lang="es-ES" dirty="0"/>
              <a:t>Diagramas de secuencia</a:t>
            </a:r>
          </a:p>
          <a:p>
            <a:r>
              <a:rPr lang="es-ES" dirty="0"/>
              <a:t>Lista de </a:t>
            </a:r>
            <a:r>
              <a:rPr lang="es-ES" i="1" dirty="0"/>
              <a:t>stakeholders,</a:t>
            </a:r>
            <a:r>
              <a:rPr lang="es-ES" dirty="0"/>
              <a:t> mapa o personas</a:t>
            </a:r>
          </a:p>
          <a:p>
            <a:r>
              <a:rPr lang="es-ES" dirty="0"/>
              <a:t>Modelado de estado</a:t>
            </a:r>
          </a:p>
          <a:p>
            <a:r>
              <a:rPr lang="es-ES" dirty="0"/>
              <a:t>Casos de uso y escenarios</a:t>
            </a:r>
          </a:p>
          <a:p>
            <a:r>
              <a:rPr lang="es-ES" dirty="0"/>
              <a:t>Historias de usuario</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2715392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DISEÑO DE LA SOLUCIÓN</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ES" dirty="0"/>
              <a:t>DEFINIR ARQUITECTURA DE REQUISITOS</a:t>
            </a:r>
            <a:endParaRPr lang="es-PE" dirty="0"/>
          </a:p>
          <a:p>
            <a:endParaRPr lang="es-PE" dirty="0"/>
          </a:p>
        </p:txBody>
      </p:sp>
    </p:spTree>
    <p:extLst>
      <p:ext uri="{BB962C8B-B14F-4D97-AF65-F5344CB8AC3E}">
        <p14:creationId xmlns:p14="http://schemas.microsoft.com/office/powerpoint/2010/main" val="3789653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ARQUITECTURA DE REQUISITOS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452539"/>
          </a:xfrm>
        </p:spPr>
        <p:txBody>
          <a:bodyPr/>
          <a:lstStyle/>
          <a:p>
            <a:r>
              <a:rPr lang="es-ES" dirty="0"/>
              <a:t>Garantizar que los requisitos se apoyen colectivamente entre sí para lograr plenamente los objetivos.</a:t>
            </a:r>
          </a:p>
          <a:p>
            <a:pPr>
              <a:spcAft>
                <a:spcPts val="600"/>
              </a:spcAft>
            </a:pPr>
            <a:r>
              <a:rPr lang="es-ES" dirty="0"/>
              <a:t>Se debe de tener en cuenta lo siguiente:</a:t>
            </a:r>
          </a:p>
          <a:p>
            <a:pPr lvl="1">
              <a:spcAft>
                <a:spcPts val="600"/>
              </a:spcAft>
              <a:buFont typeface="+mj-lt"/>
              <a:buAutoNum type="arabicPeriod"/>
            </a:pPr>
            <a:r>
              <a:rPr lang="es-ES" dirty="0"/>
              <a:t>Puntos de vista de los requisitos.</a:t>
            </a:r>
          </a:p>
          <a:p>
            <a:pPr lvl="1">
              <a:spcAft>
                <a:spcPts val="600"/>
              </a:spcAft>
              <a:buFont typeface="+mj-lt"/>
              <a:buAutoNum type="arabicPeriod"/>
            </a:pPr>
            <a:r>
              <a:rPr lang="es-ES" dirty="0"/>
              <a:t>Arquitectura de plantillas.</a:t>
            </a:r>
          </a:p>
          <a:p>
            <a:pPr lvl="1">
              <a:spcAft>
                <a:spcPts val="600"/>
              </a:spcAft>
              <a:buFont typeface="+mj-lt"/>
              <a:buAutoNum type="arabicPeriod"/>
            </a:pPr>
            <a:r>
              <a:rPr lang="es-ES" dirty="0"/>
              <a:t>Integridad.</a:t>
            </a:r>
          </a:p>
          <a:p>
            <a:pPr lvl="1">
              <a:spcAft>
                <a:spcPts val="600"/>
              </a:spcAft>
              <a:buFont typeface="+mj-lt"/>
              <a:buAutoNum type="arabicPeriod"/>
            </a:pPr>
            <a:r>
              <a:rPr lang="es-ES" dirty="0"/>
              <a:t>Relacionar y verificar las relaciones de requisitos.</a:t>
            </a:r>
          </a:p>
          <a:p>
            <a:pPr lvl="1">
              <a:spcAft>
                <a:spcPts val="600"/>
              </a:spcAft>
              <a:buFont typeface="+mj-lt"/>
              <a:buAutoNum type="arabicPeriod"/>
            </a:pPr>
            <a:r>
              <a:rPr lang="es-ES" dirty="0"/>
              <a:t>Arquitectura de la información de análisis empresarial.</a:t>
            </a:r>
            <a:endParaRPr lang="es-PE" dirty="0"/>
          </a:p>
        </p:txBody>
      </p:sp>
      <p:pic>
        <p:nvPicPr>
          <p:cNvPr id="8" name="Marcador de posición de imagen 7">
            <a:extLst>
              <a:ext uri="{FF2B5EF4-FFF2-40B4-BE49-F238E27FC236}">
                <a16:creationId xmlns:a16="http://schemas.microsoft.com/office/drawing/2014/main" id="{544AB084-D0A8-B530-D9F0-28F24B5BE85C}"/>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11529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Puntos de vista de requisitos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pic>
        <p:nvPicPr>
          <p:cNvPr id="4" name="Marcador de posición de imagen 3">
            <a:extLst>
              <a:ext uri="{FF2B5EF4-FFF2-40B4-BE49-F238E27FC236}">
                <a16:creationId xmlns:a16="http://schemas.microsoft.com/office/drawing/2014/main" id="{8B6C3BBA-1587-47C3-8EE2-2B1013B16976}"/>
              </a:ext>
            </a:extLst>
          </p:cNvPr>
          <p:cNvPicPr>
            <a:picLocks noGrp="1" noChangeAspect="1"/>
          </p:cNvPicPr>
          <p:nvPr>
            <p:ph type="pic" sz="quarter" idx="10"/>
          </p:nvPr>
        </p:nvPicPr>
        <p:blipFill>
          <a:blip r:embed="rId3"/>
          <a:srcRect l="2" r="2"/>
          <a:stretch>
            <a:fillRect/>
          </a:stretch>
        </p:blipFill>
        <p:spPr>
          <a:xfrm>
            <a:off x="5058000" y="804863"/>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340170" cy="4111625"/>
          </a:xfrm>
        </p:spPr>
        <p:txBody>
          <a:bodyPr/>
          <a:lstStyle/>
          <a:p>
            <a:r>
              <a:rPr lang="es-ES" dirty="0"/>
              <a:t>Un punto de vista es un conjunto de convenciones que definen cómo se representarán los requisitos, cómo se organizarán y cómo se relacionarán.</a:t>
            </a:r>
          </a:p>
          <a:p>
            <a:pPr>
              <a:spcAft>
                <a:spcPts val="600"/>
              </a:spcAft>
            </a:pPr>
            <a:r>
              <a:rPr lang="es-ES" dirty="0"/>
              <a:t>Los puntos de vista de los requisitos incluyen normas y directrices para:</a:t>
            </a:r>
          </a:p>
          <a:p>
            <a:pPr lvl="1">
              <a:spcAft>
                <a:spcPts val="600"/>
              </a:spcAft>
            </a:pPr>
            <a:r>
              <a:rPr lang="es-ES" dirty="0"/>
              <a:t>Tipos de modelos utilizados para los requisitos.</a:t>
            </a:r>
          </a:p>
          <a:p>
            <a:pPr lvl="1">
              <a:spcAft>
                <a:spcPts val="600"/>
              </a:spcAft>
            </a:pPr>
            <a:r>
              <a:rPr lang="es-ES" dirty="0"/>
              <a:t>Atributos que se incluyen y se usan en diferentes modelos.</a:t>
            </a:r>
          </a:p>
          <a:p>
            <a:pPr lvl="1">
              <a:spcAft>
                <a:spcPts val="600"/>
              </a:spcAft>
            </a:pPr>
            <a:r>
              <a:rPr lang="es-ES" dirty="0"/>
              <a:t>Notaciones del modelo que se utilizan.</a:t>
            </a:r>
          </a:p>
          <a:p>
            <a:pPr lvl="1"/>
            <a:r>
              <a:rPr lang="es-ES" dirty="0"/>
              <a:t>Enfoques analíticos utilizados para identificar y mantener relaciones relevantes entre modelos.</a:t>
            </a:r>
            <a:endParaRPr lang="es-PE" dirty="0"/>
          </a:p>
        </p:txBody>
      </p:sp>
    </p:spTree>
    <p:extLst>
      <p:ext uri="{BB962C8B-B14F-4D97-AF65-F5344CB8AC3E}">
        <p14:creationId xmlns:p14="http://schemas.microsoft.com/office/powerpoint/2010/main" val="3371033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plantillas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pic>
        <p:nvPicPr>
          <p:cNvPr id="4" name="Marcador de posición de imagen 3">
            <a:extLst>
              <a:ext uri="{FF2B5EF4-FFF2-40B4-BE49-F238E27FC236}">
                <a16:creationId xmlns:a16="http://schemas.microsoft.com/office/drawing/2014/main" id="{178739EE-E0F0-7420-413A-B6E07CA5A139}"/>
              </a:ext>
            </a:extLst>
          </p:cNvPr>
          <p:cNvPicPr>
            <a:picLocks noGrp="1" noChangeAspect="1"/>
          </p:cNvPicPr>
          <p:nvPr>
            <p:ph type="pic" sz="quarter" idx="10"/>
          </p:nvPr>
        </p:nvPicPr>
        <p:blipFill>
          <a:blip r:embed="rId3"/>
          <a:srcRect l="349" r="349"/>
          <a:stretch>
            <a:fillRect/>
          </a:stretch>
        </p:blipFill>
        <p:spPr>
          <a:xfrm>
            <a:off x="4892515"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103687" cy="3457730"/>
          </a:xfrm>
        </p:spPr>
        <p:txBody>
          <a:bodyPr/>
          <a:lstStyle/>
          <a:p>
            <a:r>
              <a:rPr lang="es-ES" dirty="0"/>
              <a:t>Un marco arquitectónico es una colección de puntos de vista que es estándar en una industria, sector u organización.</a:t>
            </a:r>
          </a:p>
          <a:p>
            <a:r>
              <a:rPr lang="es-ES" dirty="0"/>
              <a:t>Los analistas de negocios pueden tratar los marcos como plantillas predefinidas para comenzar a definir su arquitectura.</a:t>
            </a:r>
          </a:p>
          <a:p>
            <a:r>
              <a:rPr lang="es-ES" dirty="0"/>
              <a:t>De manera similar, el marco se puede completar con información específica del dominio para formar una colección de vistas que es una plantilla aún más útil para  construir arquitectura si es precisa porque la información ya está completa.</a:t>
            </a:r>
            <a:endParaRPr lang="es-PE" dirty="0"/>
          </a:p>
        </p:txBody>
      </p:sp>
    </p:spTree>
    <p:extLst>
      <p:ext uri="{BB962C8B-B14F-4D97-AF65-F5344CB8AC3E}">
        <p14:creationId xmlns:p14="http://schemas.microsoft.com/office/powerpoint/2010/main" val="266171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Integridad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pic>
        <p:nvPicPr>
          <p:cNvPr id="4" name="Marcador de posición de imagen 3">
            <a:extLst>
              <a:ext uri="{FF2B5EF4-FFF2-40B4-BE49-F238E27FC236}">
                <a16:creationId xmlns:a16="http://schemas.microsoft.com/office/drawing/2014/main" id="{DFF74AC3-9E45-BF2C-1767-049C41370AAA}"/>
              </a:ext>
            </a:extLst>
          </p:cNvPr>
          <p:cNvPicPr>
            <a:picLocks noGrp="1" noChangeAspect="1"/>
          </p:cNvPicPr>
          <p:nvPr>
            <p:ph type="pic" sz="quarter" idx="10"/>
          </p:nvPr>
        </p:nvPicPr>
        <p:blipFill>
          <a:blip r:embed="rId3"/>
          <a:srcRect l="455" r="455"/>
          <a:stretch>
            <a:fillRect/>
          </a:stretch>
        </p:blipFill>
        <p:spPr>
          <a:xfrm>
            <a:off x="4907384" y="824500"/>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82107" cy="4111625"/>
          </a:xfrm>
        </p:spPr>
        <p:txBody>
          <a:bodyPr/>
          <a:lstStyle/>
          <a:p>
            <a:r>
              <a:rPr lang="es-ES" dirty="0"/>
              <a:t>El conjunto completo de requisitos debe poder ser entendido por la audiencia de manera que se pueda determinar que es cohesivo y cuenta una historia completa.</a:t>
            </a:r>
          </a:p>
          <a:p>
            <a:r>
              <a:rPr lang="es-ES" dirty="0"/>
              <a:t>No debe faltar ningún requisito en el conjunto, ser incompatible con otros o contradictorio entre sí.</a:t>
            </a:r>
          </a:p>
          <a:p>
            <a:r>
              <a:rPr lang="es-ES" dirty="0"/>
              <a:t>La arquitectura de requisitos debe tener en cuenta cualquier dependencia entre los requisitos que podría impedir que se alcancen los objetivos.</a:t>
            </a:r>
          </a:p>
          <a:p>
            <a:r>
              <a:rPr lang="es-ES" dirty="0"/>
              <a:t>La estructuración de requisitos de acuerdo con diferentes puntos de vista ayuda a asegurar que esté completo.</a:t>
            </a:r>
          </a:p>
        </p:txBody>
      </p:sp>
    </p:spTree>
    <p:extLst>
      <p:ext uri="{BB962C8B-B14F-4D97-AF65-F5344CB8AC3E}">
        <p14:creationId xmlns:p14="http://schemas.microsoft.com/office/powerpoint/2010/main" val="2073961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Verificar relaciones de requisitos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pic>
        <p:nvPicPr>
          <p:cNvPr id="4" name="Marcador de posición de imagen 3">
            <a:extLst>
              <a:ext uri="{FF2B5EF4-FFF2-40B4-BE49-F238E27FC236}">
                <a16:creationId xmlns:a16="http://schemas.microsoft.com/office/drawing/2014/main" id="{C454CEAC-9658-05A8-16D8-5F919B171A36}"/>
              </a:ext>
            </a:extLst>
          </p:cNvPr>
          <p:cNvPicPr>
            <a:picLocks noGrp="1" noChangeAspect="1"/>
          </p:cNvPicPr>
          <p:nvPr>
            <p:ph type="pic" sz="quarter" idx="10"/>
          </p:nvPr>
        </p:nvPicPr>
        <p:blipFill>
          <a:blip r:embed="rId3"/>
          <a:srcRect l="2" r="2"/>
          <a:stretch>
            <a:fillRect/>
          </a:stretch>
        </p:blipFill>
        <p:spPr>
          <a:xfrm>
            <a:off x="4850522"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68444" cy="4111625"/>
          </a:xfrm>
        </p:spPr>
        <p:txBody>
          <a:bodyPr/>
          <a:lstStyle/>
          <a:p>
            <a:r>
              <a:rPr lang="es-ES" dirty="0"/>
              <a:t>Los requisitos pueden estar relacionados entre sí de varias maneras al definir la arquitectura de requisitos.</a:t>
            </a:r>
          </a:p>
          <a:p>
            <a:r>
              <a:rPr lang="es-ES" dirty="0"/>
              <a:t>Los analistas de negocios examinan y analizan los requisitos para definir las relaciones entre ellos.</a:t>
            </a:r>
          </a:p>
          <a:p>
            <a:pPr>
              <a:spcAft>
                <a:spcPts val="300"/>
              </a:spcAft>
            </a:pPr>
            <a:r>
              <a:rPr lang="es-ES" dirty="0"/>
              <a:t>Los analistas de negocios examinan cada relación para garantizar que las relaciones satisfagan los siguientes criterios de calidad:</a:t>
            </a:r>
          </a:p>
          <a:p>
            <a:pPr lvl="1">
              <a:spcAft>
                <a:spcPts val="300"/>
              </a:spcAft>
            </a:pPr>
            <a:r>
              <a:rPr lang="es-ES" dirty="0"/>
              <a:t>definida</a:t>
            </a:r>
          </a:p>
          <a:p>
            <a:pPr lvl="1">
              <a:spcAft>
                <a:spcPts val="300"/>
              </a:spcAft>
            </a:pPr>
            <a:r>
              <a:rPr lang="es-ES" dirty="0"/>
              <a:t>necesario</a:t>
            </a:r>
          </a:p>
          <a:p>
            <a:pPr lvl="1">
              <a:spcAft>
                <a:spcPts val="300"/>
              </a:spcAft>
            </a:pPr>
            <a:r>
              <a:rPr lang="es-ES" dirty="0"/>
              <a:t>correcto</a:t>
            </a:r>
          </a:p>
          <a:p>
            <a:pPr lvl="1">
              <a:spcAft>
                <a:spcPts val="300"/>
              </a:spcAft>
            </a:pPr>
            <a:r>
              <a:rPr lang="es-ES" dirty="0"/>
              <a:t>sin ambigüedades</a:t>
            </a:r>
          </a:p>
          <a:p>
            <a:pPr lvl="1"/>
            <a:r>
              <a:rPr lang="es-ES" dirty="0"/>
              <a:t>consistente</a:t>
            </a:r>
          </a:p>
        </p:txBody>
      </p:sp>
    </p:spTree>
    <p:extLst>
      <p:ext uri="{BB962C8B-B14F-4D97-AF65-F5344CB8AC3E}">
        <p14:creationId xmlns:p14="http://schemas.microsoft.com/office/powerpoint/2010/main" val="104579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información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pic>
        <p:nvPicPr>
          <p:cNvPr id="4" name="Marcador de posición de imagen 3">
            <a:extLst>
              <a:ext uri="{FF2B5EF4-FFF2-40B4-BE49-F238E27FC236}">
                <a16:creationId xmlns:a16="http://schemas.microsoft.com/office/drawing/2014/main" id="{0D463DB1-4502-0D03-C4DF-FB39E96B84C5}"/>
              </a:ext>
            </a:extLst>
          </p:cNvPr>
          <p:cNvPicPr>
            <a:picLocks noGrp="1" noChangeAspect="1"/>
          </p:cNvPicPr>
          <p:nvPr>
            <p:ph type="pic" sz="quarter" idx="10"/>
          </p:nvPr>
        </p:nvPicPr>
        <p:blipFill>
          <a:blip r:embed="rId3"/>
          <a:srcRect l="2" r="2"/>
          <a:stretch>
            <a:fillRect/>
          </a:stretch>
        </p:blipFill>
        <p:spPr>
          <a:xfrm>
            <a:off x="4809333" y="824500"/>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341020" cy="3751262"/>
          </a:xfrm>
        </p:spPr>
        <p:txBody>
          <a:bodyPr/>
          <a:lstStyle/>
          <a:p>
            <a:r>
              <a:rPr lang="es-ES" dirty="0"/>
              <a:t>La arquitectura de la información es un componente de la arquitectura de requisitos porque describe cómo se relaciona toda la información del análisis empresarial para un cambio.</a:t>
            </a:r>
          </a:p>
          <a:p>
            <a:r>
              <a:rPr lang="es-ES" dirty="0"/>
              <a:t>Define relaciones para tipos de información como requisitos, diseños, tipos de modelos y resultados de elicitación.</a:t>
            </a:r>
          </a:p>
          <a:p>
            <a:r>
              <a:rPr lang="es-ES" dirty="0"/>
              <a:t>Es útil comenzar a definir esta arquitectura antes de configurar la infraestructura (herramientas de gestión del ciclo de vida de los requisitos, software de gestión de la arquitectura, repositorios de documentos).</a:t>
            </a:r>
          </a:p>
        </p:txBody>
      </p:sp>
    </p:spTree>
    <p:extLst>
      <p:ext uri="{BB962C8B-B14F-4D97-AF65-F5344CB8AC3E}">
        <p14:creationId xmlns:p14="http://schemas.microsoft.com/office/powerpoint/2010/main" val="212044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DEFINIR ARQUITECTURA DE REQUISITOS</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Modelado de datos</a:t>
            </a:r>
          </a:p>
          <a:p>
            <a:r>
              <a:rPr lang="es-ES" dirty="0"/>
              <a:t>Descomposición funcional</a:t>
            </a:r>
          </a:p>
          <a:p>
            <a:r>
              <a:rPr lang="es-ES" dirty="0"/>
              <a:t>Entrevistas </a:t>
            </a:r>
          </a:p>
          <a:p>
            <a:r>
              <a:rPr lang="es-ES" dirty="0"/>
              <a:t>Modelado organizacional</a:t>
            </a:r>
          </a:p>
          <a:p>
            <a:r>
              <a:rPr lang="es-ES" dirty="0"/>
              <a:t>Modelado de alcance</a:t>
            </a:r>
          </a:p>
          <a:p>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4856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DEFINICIÓN DE LAS OPCIONES DE SOLUCIÓN</a:t>
            </a:r>
          </a:p>
        </p:txBody>
      </p:sp>
    </p:spTree>
    <p:custDataLst>
      <p:tags r:id="rId1"/>
    </p:custDataLst>
    <p:extLst>
      <p:ext uri="{BB962C8B-B14F-4D97-AF65-F5344CB8AC3E}">
        <p14:creationId xmlns:p14="http://schemas.microsoft.com/office/powerpoint/2010/main" val="1600285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165990"/>
          </a:xfrm>
        </p:spPr>
        <p:txBody>
          <a:bodyPr/>
          <a:lstStyle/>
          <a:p>
            <a:r>
              <a:rPr lang="es-ES" dirty="0"/>
              <a:t>Definir el enfoque de la solución, identificar oportunidades para mejorar el negocio, asignar requisitos a los componentes de la solución y representar opciones de diseño que logren el estado futuro deseado.</a:t>
            </a:r>
          </a:p>
          <a:p>
            <a:pPr>
              <a:spcAft>
                <a:spcPts val="600"/>
              </a:spcAft>
            </a:pPr>
            <a:r>
              <a:rPr lang="es-ES" dirty="0"/>
              <a:t>Se debe de tener en cuenta lo siguiente:</a:t>
            </a:r>
          </a:p>
          <a:p>
            <a:pPr lvl="1">
              <a:spcAft>
                <a:spcPts val="600"/>
              </a:spcAft>
              <a:buFont typeface="+mj-lt"/>
              <a:buAutoNum type="arabicPeriod"/>
            </a:pPr>
            <a:r>
              <a:rPr lang="es-ES" dirty="0"/>
              <a:t>Definir enfoques de solución.</a:t>
            </a:r>
          </a:p>
          <a:p>
            <a:pPr lvl="1">
              <a:spcAft>
                <a:spcPts val="600"/>
              </a:spcAft>
              <a:buFont typeface="+mj-lt"/>
              <a:buAutoNum type="arabicPeriod"/>
            </a:pPr>
            <a:r>
              <a:rPr lang="es-ES" dirty="0"/>
              <a:t>Identificar oportunidades de mejora.</a:t>
            </a:r>
          </a:p>
          <a:p>
            <a:pPr lvl="1">
              <a:spcAft>
                <a:spcPts val="600"/>
              </a:spcAft>
              <a:buFont typeface="+mj-lt"/>
              <a:buAutoNum type="arabicPeriod"/>
            </a:pPr>
            <a:r>
              <a:rPr lang="es-ES" dirty="0"/>
              <a:t>Asignación de requisitos.</a:t>
            </a:r>
          </a:p>
          <a:p>
            <a:pPr lvl="1">
              <a:spcAft>
                <a:spcPts val="600"/>
              </a:spcAft>
              <a:buFont typeface="+mj-lt"/>
              <a:buAutoNum type="arabicPeriod"/>
            </a:pPr>
            <a:r>
              <a:rPr lang="es-ES" dirty="0"/>
              <a:t>Describir opciones de diseño.</a:t>
            </a:r>
            <a:endParaRPr lang="es-PE" dirty="0"/>
          </a:p>
        </p:txBody>
      </p:sp>
      <p:pic>
        <p:nvPicPr>
          <p:cNvPr id="4" name="Marcador de posición de imagen 3">
            <a:extLst>
              <a:ext uri="{FF2B5EF4-FFF2-40B4-BE49-F238E27FC236}">
                <a16:creationId xmlns:a16="http://schemas.microsoft.com/office/drawing/2014/main" id="{7BA13B4A-E5CB-D3A4-B34D-3A6E8DD582E4}"/>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71549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Definir enfoques de solución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pic>
        <p:nvPicPr>
          <p:cNvPr id="4" name="Marcador de posición de imagen 3">
            <a:extLst>
              <a:ext uri="{FF2B5EF4-FFF2-40B4-BE49-F238E27FC236}">
                <a16:creationId xmlns:a16="http://schemas.microsoft.com/office/drawing/2014/main" id="{1EEE2221-29A3-DB5A-E27E-6A7348E524B5}"/>
              </a:ext>
            </a:extLst>
          </p:cNvPr>
          <p:cNvPicPr>
            <a:picLocks noGrp="1" noChangeAspect="1"/>
          </p:cNvPicPr>
          <p:nvPr>
            <p:ph type="pic" sz="quarter" idx="10"/>
          </p:nvPr>
        </p:nvPicPr>
        <p:blipFill>
          <a:blip r:embed="rId3"/>
          <a:srcRect l="109" r="109"/>
          <a:stretch>
            <a:fillRect/>
          </a:stretch>
        </p:blipFill>
        <p:spPr>
          <a:xfrm>
            <a:off x="4883474"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76682" cy="4111625"/>
          </a:xfrm>
        </p:spPr>
        <p:txBody>
          <a:bodyPr/>
          <a:lstStyle/>
          <a:p>
            <a:r>
              <a:rPr lang="es-ES" dirty="0"/>
              <a:t>El enfoque de solución describe si los componentes de la solución se crearán o comprarán, o alguna combinación de ambos.</a:t>
            </a:r>
          </a:p>
          <a:p>
            <a:r>
              <a:rPr lang="es-ES" dirty="0"/>
              <a:t>Los analistas de negocios evalúan los méritos de los enfoques de solución para cada opción de diseño.</a:t>
            </a:r>
          </a:p>
          <a:p>
            <a:pPr>
              <a:spcAft>
                <a:spcPts val="600"/>
              </a:spcAft>
            </a:pPr>
            <a:r>
              <a:rPr lang="es-ES" dirty="0"/>
              <a:t>Los enfoques de solución incluyen las actividades a continuación:</a:t>
            </a:r>
          </a:p>
          <a:p>
            <a:pPr lvl="1">
              <a:spcAft>
                <a:spcPts val="600"/>
              </a:spcAft>
            </a:pPr>
            <a:r>
              <a:rPr lang="es-ES" dirty="0"/>
              <a:t>Crear </a:t>
            </a:r>
            <a:r>
              <a:rPr lang="es-ES" sz="1400" dirty="0">
                <a:solidFill>
                  <a:schemeClr val="tx1">
                    <a:lumMod val="50000"/>
                    <a:lumOff val="50000"/>
                  </a:schemeClr>
                </a:solidFill>
              </a:rPr>
              <a:t>(los componentes son ensamblados, construidos o desarrollados por expertos)</a:t>
            </a:r>
            <a:r>
              <a:rPr lang="es-ES" dirty="0"/>
              <a:t>.</a:t>
            </a:r>
          </a:p>
          <a:p>
            <a:pPr lvl="1">
              <a:spcAft>
                <a:spcPts val="600"/>
              </a:spcAft>
            </a:pPr>
            <a:r>
              <a:rPr lang="es-ES" dirty="0"/>
              <a:t>Comprar </a:t>
            </a:r>
            <a:r>
              <a:rPr lang="es-ES" sz="1400" dirty="0">
                <a:solidFill>
                  <a:schemeClr val="tx1">
                    <a:lumMod val="50000"/>
                    <a:lumOff val="50000"/>
                  </a:schemeClr>
                </a:solidFill>
              </a:rPr>
              <a:t>(los componentes se seleccionan de un conjunto de ofertas que cumplen con los requisitos).</a:t>
            </a:r>
            <a:endParaRPr lang="es-ES" dirty="0">
              <a:solidFill>
                <a:schemeClr val="tx1">
                  <a:lumMod val="50000"/>
                  <a:lumOff val="50000"/>
                </a:schemeClr>
              </a:solidFill>
            </a:endParaRPr>
          </a:p>
          <a:p>
            <a:pPr lvl="1"/>
            <a:r>
              <a:rPr lang="es-ES" dirty="0"/>
              <a:t>Combinación de ambos.</a:t>
            </a:r>
          </a:p>
        </p:txBody>
      </p:sp>
    </p:spTree>
    <p:extLst>
      <p:ext uri="{BB962C8B-B14F-4D97-AF65-F5344CB8AC3E}">
        <p14:creationId xmlns:p14="http://schemas.microsoft.com/office/powerpoint/2010/main" val="1423384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Identificar oportunidades de mejora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pic>
        <p:nvPicPr>
          <p:cNvPr id="4" name="Marcador de posición de imagen 3">
            <a:extLst>
              <a:ext uri="{FF2B5EF4-FFF2-40B4-BE49-F238E27FC236}">
                <a16:creationId xmlns:a16="http://schemas.microsoft.com/office/drawing/2014/main" id="{2CBE6232-E198-7C39-9AE6-6044DA944DA6}"/>
              </a:ext>
            </a:extLst>
          </p:cNvPr>
          <p:cNvPicPr>
            <a:picLocks noGrp="1" noChangeAspect="1"/>
          </p:cNvPicPr>
          <p:nvPr>
            <p:ph type="pic" sz="quarter" idx="10"/>
          </p:nvPr>
        </p:nvPicPr>
        <p:blipFill>
          <a:blip r:embed="rId3"/>
          <a:srcRect l="234" r="234"/>
          <a:stretch>
            <a:fillRect/>
          </a:stretch>
        </p:blipFill>
        <p:spPr>
          <a:xfrm>
            <a:off x="4751668"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83355" cy="4111625"/>
          </a:xfrm>
        </p:spPr>
        <p:txBody>
          <a:bodyPr/>
          <a:lstStyle/>
          <a:p>
            <a:r>
              <a:rPr lang="es-ES" dirty="0"/>
              <a:t>Al proponer opciones de diseño, se pueden presentar y comparar una serie de oportunidades para mejorar la operación del negocio.</a:t>
            </a:r>
          </a:p>
          <a:p>
            <a:pPr>
              <a:spcAft>
                <a:spcPts val="600"/>
              </a:spcAft>
            </a:pPr>
            <a:r>
              <a:rPr lang="es-ES" dirty="0"/>
              <a:t>Algunas oportunidades incluyen lo siguiente:</a:t>
            </a:r>
          </a:p>
          <a:p>
            <a:pPr lvl="1">
              <a:spcAft>
                <a:spcPts val="600"/>
              </a:spcAft>
            </a:pPr>
            <a:r>
              <a:rPr lang="es-ES" dirty="0"/>
              <a:t>Aumentar la eficiencia.</a:t>
            </a:r>
          </a:p>
          <a:p>
            <a:pPr lvl="1">
              <a:spcAft>
                <a:spcPts val="600"/>
              </a:spcAft>
            </a:pPr>
            <a:r>
              <a:rPr lang="es-ES" dirty="0"/>
              <a:t>Mejorar el acceso a la información.</a:t>
            </a:r>
          </a:p>
          <a:p>
            <a:pPr lvl="1"/>
            <a:r>
              <a:rPr lang="es-ES" dirty="0"/>
              <a:t>Identificar capacidades adicionales.</a:t>
            </a:r>
          </a:p>
          <a:p>
            <a:r>
              <a:rPr lang="es-ES" dirty="0"/>
              <a:t>Estas capacidades pueden no ser necesariamente de valor inmediato para la organización (por ejemplo, una aplicación de software con características que la organización prevé usar en el futuro).</a:t>
            </a:r>
          </a:p>
        </p:txBody>
      </p:sp>
    </p:spTree>
    <p:extLst>
      <p:ext uri="{BB962C8B-B14F-4D97-AF65-F5344CB8AC3E}">
        <p14:creationId xmlns:p14="http://schemas.microsoft.com/office/powerpoint/2010/main" val="3154877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Asignación de requisitos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243730" cy="3751262"/>
          </a:xfrm>
        </p:spPr>
        <p:txBody>
          <a:bodyPr/>
          <a:lstStyle/>
          <a:p>
            <a:r>
              <a:rPr lang="es-ES" dirty="0"/>
              <a:t>La asignación de requisitos es el proceso de asignación de requisitos a los componentes y versiones de la solución para alcanzar mejor los objetivos. </a:t>
            </a:r>
          </a:p>
          <a:p>
            <a:r>
              <a:rPr lang="es-ES" dirty="0"/>
              <a:t>Se admite la asignación evaluando las compensaciones entre alternativas para maximizar los beneficios y minimizar los costos.</a:t>
            </a:r>
          </a:p>
          <a:p>
            <a:r>
              <a:rPr lang="es-ES" dirty="0"/>
              <a:t>El valor de una solución puede variar según cómo se implementen los requisitos y cuándo la solución esté disponible para los </a:t>
            </a:r>
            <a:r>
              <a:rPr lang="es-ES" i="1" dirty="0"/>
              <a:t>stakeholders. </a:t>
            </a:r>
            <a:r>
              <a:rPr lang="es-ES" dirty="0"/>
              <a:t>El objetivo de la asignación es maximizar ese valor.</a:t>
            </a:r>
          </a:p>
        </p:txBody>
      </p:sp>
      <p:pic>
        <p:nvPicPr>
          <p:cNvPr id="15" name="Marcador de posición de imagen 14">
            <a:extLst>
              <a:ext uri="{FF2B5EF4-FFF2-40B4-BE49-F238E27FC236}">
                <a16:creationId xmlns:a16="http://schemas.microsoft.com/office/drawing/2014/main" id="{5D44ED05-7532-1499-AB75-94B12C7CF8E9}"/>
              </a:ext>
            </a:extLst>
          </p:cNvPr>
          <p:cNvPicPr>
            <a:picLocks noGrp="1" noChangeAspect="1"/>
          </p:cNvPicPr>
          <p:nvPr>
            <p:ph type="pic" sz="quarter" idx="10"/>
          </p:nvPr>
        </p:nvPicPr>
        <p:blipFill>
          <a:blip r:embed="rId3"/>
          <a:srcRect l="118" r="118"/>
          <a:stretch>
            <a:fillRect/>
          </a:stretch>
        </p:blipFill>
        <p:spPr>
          <a:xfrm>
            <a:off x="4875235" y="824500"/>
            <a:ext cx="4086000" cy="4446000"/>
          </a:xfrm>
        </p:spPr>
      </p:pic>
    </p:spTree>
    <p:extLst>
      <p:ext uri="{BB962C8B-B14F-4D97-AF65-F5344CB8AC3E}">
        <p14:creationId xmlns:p14="http://schemas.microsoft.com/office/powerpoint/2010/main" val="1185051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Describir opciones de diseño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pic>
        <p:nvPicPr>
          <p:cNvPr id="4" name="Marcador de posición de imagen 3">
            <a:extLst>
              <a:ext uri="{FF2B5EF4-FFF2-40B4-BE49-F238E27FC236}">
                <a16:creationId xmlns:a16="http://schemas.microsoft.com/office/drawing/2014/main" id="{38494B0A-C82E-1895-F4BB-24D1878F3235}"/>
              </a:ext>
            </a:extLst>
          </p:cNvPr>
          <p:cNvPicPr>
            <a:picLocks noGrp="1" noChangeAspect="1"/>
          </p:cNvPicPr>
          <p:nvPr>
            <p:ph type="pic" sz="quarter" idx="10"/>
          </p:nvPr>
        </p:nvPicPr>
        <p:blipFill>
          <a:blip r:embed="rId3"/>
          <a:srcRect l="234" r="234"/>
          <a:stretch>
            <a:fillRect/>
          </a:stretch>
        </p:blipFill>
        <p:spPr>
          <a:xfrm>
            <a:off x="4891711" y="824500"/>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84919" cy="4111625"/>
          </a:xfrm>
        </p:spPr>
        <p:txBody>
          <a:bodyPr/>
          <a:lstStyle/>
          <a:p>
            <a:pPr>
              <a:spcAft>
                <a:spcPts val="600"/>
              </a:spcAft>
            </a:pPr>
            <a:r>
              <a:rPr lang="es-ES" dirty="0"/>
              <a:t>Las opciones de diseño se investigan y desarrollan teniendo en cuenta el estado futuro deseado. Pueden describir:</a:t>
            </a:r>
          </a:p>
          <a:p>
            <a:pPr lvl="1">
              <a:spcAft>
                <a:spcPts val="600"/>
              </a:spcAft>
            </a:pPr>
            <a:r>
              <a:rPr lang="es-ES" dirty="0"/>
              <a:t>Políticas y reglas de negocio.</a:t>
            </a:r>
          </a:p>
          <a:p>
            <a:pPr lvl="1" algn="l">
              <a:spcAft>
                <a:spcPts val="600"/>
              </a:spcAft>
            </a:pPr>
            <a:r>
              <a:rPr lang="es-ES" dirty="0"/>
              <a:t>Procesos de negocio que se realizarán.</a:t>
            </a:r>
          </a:p>
          <a:p>
            <a:pPr lvl="1">
              <a:spcAft>
                <a:spcPts val="600"/>
              </a:spcAft>
            </a:pPr>
            <a:r>
              <a:rPr lang="es-ES" dirty="0"/>
              <a:t>Personas que operan y mantienen la solución, incluidas sus funciones y responsabilidades,.</a:t>
            </a:r>
          </a:p>
          <a:p>
            <a:pPr lvl="1">
              <a:spcAft>
                <a:spcPts val="600"/>
              </a:spcAft>
            </a:pPr>
            <a:r>
              <a:rPr lang="es-ES" dirty="0"/>
              <a:t>Decisiones operativas a tomar.</a:t>
            </a:r>
          </a:p>
          <a:p>
            <a:pPr lvl="1">
              <a:spcAft>
                <a:spcPts val="600"/>
              </a:spcAft>
            </a:pPr>
            <a:r>
              <a:rPr lang="es-ES" dirty="0"/>
              <a:t>Aplicaciones y componentes de software utilizados en la solución.</a:t>
            </a:r>
          </a:p>
          <a:p>
            <a:pPr lvl="1">
              <a:spcAft>
                <a:spcPts val="600"/>
              </a:spcAft>
            </a:pPr>
            <a:r>
              <a:rPr lang="es-ES" dirty="0"/>
              <a:t>Estructuras organizativas, incluidas las interacciones en la organización, sus clientes, y sus proveedores.</a:t>
            </a:r>
          </a:p>
        </p:txBody>
      </p:sp>
    </p:spTree>
    <p:extLst>
      <p:ext uri="{BB962C8B-B14F-4D97-AF65-F5344CB8AC3E}">
        <p14:creationId xmlns:p14="http://schemas.microsoft.com/office/powerpoint/2010/main" val="389557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LAS OPCIONES DE SOLUCIÓN</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i="1" dirty="0"/>
              <a:t>Benchmarking </a:t>
            </a:r>
            <a:r>
              <a:rPr lang="es-ES" dirty="0"/>
              <a:t>y análisis de mercado</a:t>
            </a:r>
          </a:p>
          <a:p>
            <a:r>
              <a:rPr lang="es-ES" dirty="0"/>
              <a:t>Tormenta de ideas</a:t>
            </a:r>
          </a:p>
          <a:p>
            <a:r>
              <a:rPr lang="es-ES" dirty="0"/>
              <a:t>Análisis de documentos</a:t>
            </a:r>
          </a:p>
          <a:p>
            <a:r>
              <a:rPr lang="es-ES" dirty="0"/>
              <a:t>Entrevistas</a:t>
            </a:r>
          </a:p>
          <a:p>
            <a:r>
              <a:rPr lang="es-ES" dirty="0"/>
              <a:t>Lecciones aprendidas</a:t>
            </a:r>
          </a:p>
          <a:p>
            <a:r>
              <a:rPr lang="es-ES" dirty="0"/>
              <a:t>Mapas mentales</a:t>
            </a:r>
          </a:p>
          <a:p>
            <a:r>
              <a:rPr lang="es-ES" dirty="0"/>
              <a:t>Análisis de causa raíz</a:t>
            </a:r>
          </a:p>
          <a:p>
            <a:r>
              <a:rPr lang="es-ES" dirty="0"/>
              <a:t>Encuesta o cuestionario</a:t>
            </a:r>
          </a:p>
          <a:p>
            <a:r>
              <a:rPr lang="es-ES" dirty="0"/>
              <a:t>Evaluación de proveedores</a:t>
            </a:r>
          </a:p>
          <a:p>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898957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94694"/>
          </a:xfrm>
        </p:spPr>
        <p:txBody>
          <a:bodyPr/>
          <a:lstStyle/>
          <a:p>
            <a:pPr marL="274638" indent="-274638">
              <a:tabLst>
                <a:tab pos="274638" algn="l"/>
              </a:tabLst>
            </a:pPr>
            <a:r>
              <a:rPr lang="es-PE" dirty="0"/>
              <a:t>/	ANÁLISIS DE VALOR POTENCIAL</a:t>
            </a:r>
          </a:p>
        </p:txBody>
      </p:sp>
    </p:spTree>
    <p:custDataLst>
      <p:tags r:id="rId1"/>
    </p:custDataLst>
    <p:extLst>
      <p:ext uri="{BB962C8B-B14F-4D97-AF65-F5344CB8AC3E}">
        <p14:creationId xmlns:p14="http://schemas.microsoft.com/office/powerpoint/2010/main" val="17255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17871" cy="4111625"/>
          </a:xfrm>
        </p:spPr>
        <p:txBody>
          <a:bodyPr/>
          <a:lstStyle/>
          <a:p>
            <a:r>
              <a:rPr lang="es-ES" dirty="0"/>
              <a:t>Estimar el valor potencial de cada opción de diseño y establecer cuál es la más apropiada para cumplir con los requisitos de la empresa. Incluye la consideración de la existencia de incertidumbre en las estimaciones.</a:t>
            </a:r>
          </a:p>
          <a:p>
            <a:r>
              <a:rPr lang="es-ES" dirty="0"/>
              <a:t>El valor se puede describir en términos de finanzas, reputación o incluso de impacto en el mercado.</a:t>
            </a:r>
          </a:p>
          <a:p>
            <a:pPr>
              <a:spcAft>
                <a:spcPts val="600"/>
              </a:spcAft>
            </a:pPr>
            <a:r>
              <a:rPr lang="es-ES" dirty="0"/>
              <a:t>Se debe de tener en cuenta lo siguiente:</a:t>
            </a:r>
          </a:p>
          <a:p>
            <a:pPr lvl="1">
              <a:spcAft>
                <a:spcPts val="600"/>
              </a:spcAft>
              <a:buFont typeface="+mj-lt"/>
              <a:buAutoNum type="arabicPeriod"/>
            </a:pPr>
            <a:r>
              <a:rPr lang="es-ES" dirty="0"/>
              <a:t>Beneficios esperados.</a:t>
            </a:r>
          </a:p>
          <a:p>
            <a:pPr lvl="1">
              <a:spcAft>
                <a:spcPts val="600"/>
              </a:spcAft>
              <a:buFont typeface="+mj-lt"/>
              <a:buAutoNum type="arabicPeriod"/>
            </a:pPr>
            <a:r>
              <a:rPr lang="es-ES" dirty="0"/>
              <a:t>Costos esperados.</a:t>
            </a:r>
          </a:p>
          <a:p>
            <a:pPr lvl="1">
              <a:spcAft>
                <a:spcPts val="600"/>
              </a:spcAft>
              <a:buFont typeface="+mj-lt"/>
              <a:buAutoNum type="arabicPeriod"/>
            </a:pPr>
            <a:r>
              <a:rPr lang="es-ES" dirty="0"/>
              <a:t>Determinar valor.</a:t>
            </a:r>
          </a:p>
          <a:p>
            <a:pPr lvl="1">
              <a:spcAft>
                <a:spcPts val="600"/>
              </a:spcAft>
              <a:buFont typeface="+mj-lt"/>
              <a:buAutoNum type="arabicPeriod"/>
            </a:pPr>
            <a:r>
              <a:rPr lang="es-ES" dirty="0"/>
              <a:t>Evaluar opciones de diseño y recomendar solución.</a:t>
            </a:r>
            <a:endParaRPr lang="es-PE" dirty="0"/>
          </a:p>
        </p:txBody>
      </p:sp>
      <p:pic>
        <p:nvPicPr>
          <p:cNvPr id="4" name="Marcador de posición de imagen 3">
            <a:extLst>
              <a:ext uri="{FF2B5EF4-FFF2-40B4-BE49-F238E27FC236}">
                <a16:creationId xmlns:a16="http://schemas.microsoft.com/office/drawing/2014/main" id="{0E0CC386-4BD9-40F3-4B3C-45648C68DD10}"/>
              </a:ext>
            </a:extLst>
          </p:cNvPr>
          <p:cNvPicPr>
            <a:picLocks noGrp="1" noChangeAspect="1"/>
          </p:cNvPicPr>
          <p:nvPr>
            <p:ph type="pic" sz="quarter" idx="10"/>
          </p:nvPr>
        </p:nvPicPr>
        <p:blipFill>
          <a:blip r:embed="rId3"/>
          <a:srcRect l="118" r="118"/>
          <a:stretch>
            <a:fillRect/>
          </a:stretch>
        </p:blipFill>
        <p:spPr>
          <a:xfrm>
            <a:off x="4932900" y="824500"/>
            <a:ext cx="4086000" cy="4446000"/>
          </a:xfrm>
        </p:spPr>
      </p:pic>
    </p:spTree>
    <p:extLst>
      <p:ext uri="{BB962C8B-B14F-4D97-AF65-F5344CB8AC3E}">
        <p14:creationId xmlns:p14="http://schemas.microsoft.com/office/powerpoint/2010/main" val="171647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Beneficios esperados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pic>
        <p:nvPicPr>
          <p:cNvPr id="4" name="Marcador de posición de imagen 3">
            <a:extLst>
              <a:ext uri="{FF2B5EF4-FFF2-40B4-BE49-F238E27FC236}">
                <a16:creationId xmlns:a16="http://schemas.microsoft.com/office/drawing/2014/main" id="{4C2727A7-A0DB-6C0D-6280-7F0DB5AA29BB}"/>
              </a:ext>
            </a:extLst>
          </p:cNvPr>
          <p:cNvPicPr>
            <a:picLocks noGrp="1" noChangeAspect="1"/>
          </p:cNvPicPr>
          <p:nvPr>
            <p:ph type="pic" sz="quarter" idx="10"/>
          </p:nvPr>
        </p:nvPicPr>
        <p:blipFill>
          <a:blip r:embed="rId3"/>
          <a:srcRect l="2" r="2"/>
          <a:stretch>
            <a:fillRect/>
          </a:stretch>
        </p:blipFill>
        <p:spPr>
          <a:xfrm>
            <a:off x="4891712" y="824500"/>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68444" cy="4111625"/>
          </a:xfrm>
        </p:spPr>
        <p:txBody>
          <a:bodyPr/>
          <a:lstStyle/>
          <a:p>
            <a:r>
              <a:rPr lang="es-ES" dirty="0"/>
              <a:t>Los beneficios esperados describen el valor positivo que una solución pretende ofrecer a los </a:t>
            </a:r>
            <a:r>
              <a:rPr lang="es-ES" i="1" dirty="0"/>
              <a:t>stakeholders.</a:t>
            </a:r>
          </a:p>
          <a:p>
            <a:r>
              <a:rPr lang="es-ES" dirty="0"/>
              <a:t>El valor puede incluir beneficios, reducción de riesgo, cumplimiento de políticas y regulaciones, mejora en experiencia de usuario o cualquier otro resultado positivo.</a:t>
            </a:r>
          </a:p>
          <a:p>
            <a:r>
              <a:rPr lang="es-ES" dirty="0"/>
              <a:t>Los beneficios esperados se pueden calcular a nivel de un requisito o de un conjunto de requisitos.</a:t>
            </a:r>
          </a:p>
          <a:p>
            <a:r>
              <a:rPr lang="es-ES" dirty="0"/>
              <a:t>El beneficio total esperado es el beneficio neto de todos los requisitos que aborda una opción de diseño en particular.</a:t>
            </a:r>
          </a:p>
        </p:txBody>
      </p:sp>
    </p:spTree>
    <p:extLst>
      <p:ext uri="{BB962C8B-B14F-4D97-AF65-F5344CB8AC3E}">
        <p14:creationId xmlns:p14="http://schemas.microsoft.com/office/powerpoint/2010/main" val="49681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Costos esperados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349258" cy="4111625"/>
          </a:xfrm>
        </p:spPr>
        <p:txBody>
          <a:bodyPr/>
          <a:lstStyle/>
          <a:p>
            <a:pPr>
              <a:lnSpc>
                <a:spcPct val="95000"/>
              </a:lnSpc>
            </a:pPr>
            <a:r>
              <a:rPr lang="es-ES" dirty="0">
                <a:solidFill>
                  <a:srgbClr val="FF0000"/>
                </a:solidFill>
              </a:rPr>
              <a:t>Los costos esperados incluyen cualquier valor negativo potencial asociado con una solución</a:t>
            </a:r>
            <a:r>
              <a:rPr lang="es-ES" dirty="0"/>
              <a:t>, incluido el costo de adquirir la solución, los efectos negativos que pueda tener en los </a:t>
            </a:r>
            <a:r>
              <a:rPr lang="es-ES" i="1" dirty="0"/>
              <a:t>stakeholders</a:t>
            </a:r>
            <a:r>
              <a:rPr lang="es-ES" dirty="0"/>
              <a:t> y el costo de mantenerla a lo largo del tiempo.</a:t>
            </a:r>
          </a:p>
          <a:p>
            <a:pPr>
              <a:lnSpc>
                <a:spcPct val="95000"/>
              </a:lnSpc>
            </a:pPr>
            <a:r>
              <a:rPr lang="es-ES" dirty="0">
                <a:solidFill>
                  <a:srgbClr val="FF0000"/>
                </a:solidFill>
              </a:rPr>
              <a:t>Los costos esperados </a:t>
            </a:r>
            <a:r>
              <a:rPr lang="es-ES" dirty="0"/>
              <a:t>para una opción de diseño consideran </a:t>
            </a:r>
            <a:r>
              <a:rPr lang="es-ES" dirty="0">
                <a:solidFill>
                  <a:srgbClr val="C00000"/>
                </a:solidFill>
              </a:rPr>
              <a:t>los costos acumulativos de los componentes del diseño y el costo de oportunidad </a:t>
            </a:r>
            <a:r>
              <a:rPr lang="es-ES" dirty="0"/>
              <a:t>(resultados alternativos que podrían haberse logrado si los recursos, el tiempo y los fondos dedicados a una opción de diseño se hubieran asignado a otra).</a:t>
            </a:r>
          </a:p>
          <a:p>
            <a:pPr>
              <a:lnSpc>
                <a:spcPct val="95000"/>
              </a:lnSpc>
            </a:pPr>
            <a:r>
              <a:rPr lang="es-ES" dirty="0">
                <a:solidFill>
                  <a:srgbClr val="FF0000"/>
                </a:solidFill>
              </a:rPr>
              <a:t>El costo de oportunidad </a:t>
            </a:r>
            <a:r>
              <a:rPr lang="es-ES" dirty="0"/>
              <a:t>de cualquier opción de diseño es igual al valor de la mejor alternativa no seleccionada.</a:t>
            </a:r>
          </a:p>
          <a:p>
            <a:pPr>
              <a:lnSpc>
                <a:spcPct val="95000"/>
              </a:lnSpc>
            </a:pPr>
            <a:endParaRPr lang="es-ES" dirty="0"/>
          </a:p>
        </p:txBody>
      </p:sp>
      <p:pic>
        <p:nvPicPr>
          <p:cNvPr id="9" name="Marcador de posición de imagen 8">
            <a:extLst>
              <a:ext uri="{FF2B5EF4-FFF2-40B4-BE49-F238E27FC236}">
                <a16:creationId xmlns:a16="http://schemas.microsoft.com/office/drawing/2014/main" id="{E104BE92-1590-C99D-CE98-456D1B7741CE}"/>
              </a:ext>
            </a:extLst>
          </p:cNvPr>
          <p:cNvPicPr>
            <a:picLocks noGrp="1" noChangeAspect="1"/>
          </p:cNvPicPr>
          <p:nvPr>
            <p:ph type="pic" sz="quarter" idx="10"/>
          </p:nvPr>
        </p:nvPicPr>
        <p:blipFill>
          <a:blip r:embed="rId3"/>
          <a:srcRect l="234" r="234"/>
          <a:stretch>
            <a:fillRect/>
          </a:stretch>
        </p:blipFill>
        <p:spPr>
          <a:xfrm>
            <a:off x="4817571" y="824500"/>
            <a:ext cx="4086000" cy="4446000"/>
          </a:xfrm>
        </p:spPr>
      </p:pic>
    </p:spTree>
    <p:extLst>
      <p:ext uri="{BB962C8B-B14F-4D97-AF65-F5344CB8AC3E}">
        <p14:creationId xmlns:p14="http://schemas.microsoft.com/office/powerpoint/2010/main" val="194108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Determinar valor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pic>
        <p:nvPicPr>
          <p:cNvPr id="4" name="Marcador de posición de imagen 3">
            <a:extLst>
              <a:ext uri="{FF2B5EF4-FFF2-40B4-BE49-F238E27FC236}">
                <a16:creationId xmlns:a16="http://schemas.microsoft.com/office/drawing/2014/main" id="{84738A36-71C5-4827-C369-84E214B69547}"/>
              </a:ext>
            </a:extLst>
          </p:cNvPr>
          <p:cNvPicPr>
            <a:picLocks noGrp="1" noChangeAspect="1"/>
          </p:cNvPicPr>
          <p:nvPr>
            <p:ph type="pic" sz="quarter" idx="10"/>
          </p:nvPr>
        </p:nvPicPr>
        <p:blipFill>
          <a:blip r:embed="rId3"/>
          <a:srcRect l="234" r="234"/>
          <a:stretch>
            <a:fillRect/>
          </a:stretch>
        </p:blipFill>
        <p:spPr>
          <a:xfrm>
            <a:off x="4891711"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68444" cy="4111625"/>
          </a:xfrm>
        </p:spPr>
        <p:txBody>
          <a:bodyPr/>
          <a:lstStyle/>
          <a:p>
            <a:r>
              <a:rPr lang="es-ES" dirty="0"/>
              <a:t>Los analistas consideran el valor potencial desde el punto de vista de los </a:t>
            </a:r>
            <a:r>
              <a:rPr lang="es-ES" i="1" dirty="0"/>
              <a:t>stakeholders.</a:t>
            </a:r>
          </a:p>
          <a:p>
            <a:r>
              <a:rPr lang="es-ES" dirty="0"/>
              <a:t>El valor para la empresa tiene más peso que el valor para cualquier </a:t>
            </a:r>
            <a:r>
              <a:rPr lang="es-ES" i="1" dirty="0"/>
              <a:t>stakeholder.</a:t>
            </a:r>
          </a:p>
          <a:p>
            <a:r>
              <a:rPr lang="es-ES" dirty="0"/>
              <a:t>Muchos cambios se proponen en términos de beneficios intangibles o inciertos, mientras que los costos se describen como tangibles, absolutos y pueden crecer.</a:t>
            </a:r>
          </a:p>
          <a:p>
            <a:r>
              <a:rPr lang="es-ES" dirty="0"/>
              <a:t>Los analistas definen una estimación completa de los efectos monetarios y orientados al propósito de un cambio propuesto al considerar los costos tangibles e intangibles junto con los beneficios tangibles e intangibles.</a:t>
            </a:r>
          </a:p>
        </p:txBody>
      </p:sp>
    </p:spTree>
    <p:extLst>
      <p:ext uri="{BB962C8B-B14F-4D97-AF65-F5344CB8AC3E}">
        <p14:creationId xmlns:p14="http://schemas.microsoft.com/office/powerpoint/2010/main" val="2039509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Evaluar opciones de diseño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pic>
        <p:nvPicPr>
          <p:cNvPr id="4" name="Marcador de posición de imagen 3">
            <a:extLst>
              <a:ext uri="{FF2B5EF4-FFF2-40B4-BE49-F238E27FC236}">
                <a16:creationId xmlns:a16="http://schemas.microsoft.com/office/drawing/2014/main" id="{67CF5981-D048-6B63-CA6D-1EE1E583023D}"/>
              </a:ext>
            </a:extLst>
          </p:cNvPr>
          <p:cNvPicPr>
            <a:picLocks noGrp="1" noChangeAspect="1"/>
          </p:cNvPicPr>
          <p:nvPr>
            <p:ph type="pic" sz="quarter" idx="10"/>
          </p:nvPr>
        </p:nvPicPr>
        <p:blipFill>
          <a:blip r:embed="rId3"/>
          <a:srcRect l="234" r="234"/>
          <a:stretch>
            <a:fillRect/>
          </a:stretch>
        </p:blipFill>
        <p:spPr>
          <a:xfrm>
            <a:off x="5172251" y="1092819"/>
            <a:ext cx="3702186" cy="402837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6"/>
            <a:ext cx="4490263" cy="3751262"/>
          </a:xfrm>
        </p:spPr>
        <p:txBody>
          <a:bodyPr/>
          <a:lstStyle/>
          <a:p>
            <a:r>
              <a:rPr lang="es-ES" dirty="0"/>
              <a:t>Cada opción de diseño se evalúa en función del valor potencial que se espera que proporcione.</a:t>
            </a:r>
          </a:p>
          <a:p>
            <a:r>
              <a:rPr lang="es-ES" dirty="0"/>
              <a:t>Los analistas evalúan cada opción de diseño para asegurarse de que represente las ventajas y desventajas más efectivas.</a:t>
            </a:r>
          </a:p>
          <a:p>
            <a:pPr>
              <a:spcAft>
                <a:spcPts val="600"/>
              </a:spcAft>
            </a:pPr>
            <a:r>
              <a:rPr lang="es-ES" dirty="0"/>
              <a:t>Los factores a tener en cuenta son los siguientes los recursos disponibles, las restricciones en la solución, y  dependencias entre requisitos.</a:t>
            </a:r>
          </a:p>
          <a:p>
            <a:r>
              <a:rPr lang="es-ES" dirty="0"/>
              <a:t>Otras consideraciones pueden incluir las relaciones con los proveedores propuestos, las dependencias de otras iniciativas, la cultura corporativa y el flujo de caja suficiente para la inversión.</a:t>
            </a:r>
          </a:p>
        </p:txBody>
      </p:sp>
    </p:spTree>
    <p:extLst>
      <p:ext uri="{BB962C8B-B14F-4D97-AF65-F5344CB8AC3E}">
        <p14:creationId xmlns:p14="http://schemas.microsoft.com/office/powerpoint/2010/main" val="69590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ANÁLISIS DEL VALOR POTENCIAL</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a:xfrm>
            <a:off x="468313" y="1182024"/>
            <a:ext cx="8207375" cy="1888278"/>
          </a:xfrm>
        </p:spPr>
        <p:txBody>
          <a:bodyPr/>
          <a:lstStyle/>
          <a:p>
            <a:r>
              <a:rPr lang="es-ES" dirty="0"/>
              <a:t>Criterios de evaluación y aceptación</a:t>
            </a:r>
          </a:p>
          <a:p>
            <a:r>
              <a:rPr lang="es-ES" dirty="0"/>
              <a:t>Gestión de </a:t>
            </a:r>
            <a:r>
              <a:rPr lang="es-ES" i="1" dirty="0"/>
              <a:t>Backlog</a:t>
            </a:r>
          </a:p>
          <a:p>
            <a:r>
              <a:rPr lang="es-ES" dirty="0"/>
              <a:t>Tormenta de ideas</a:t>
            </a:r>
          </a:p>
          <a:p>
            <a:r>
              <a:rPr lang="es-ES" dirty="0"/>
              <a:t>Casos de negocio</a:t>
            </a:r>
          </a:p>
          <a:p>
            <a:r>
              <a:rPr lang="es-ES" dirty="0"/>
              <a:t>Modelamiento Canvas</a:t>
            </a:r>
          </a:p>
          <a:p>
            <a:r>
              <a:rPr lang="es-ES" dirty="0"/>
              <a:t>Análisis de decisiones</a:t>
            </a:r>
          </a:p>
          <a:p>
            <a:r>
              <a:rPr lang="es-ES" dirty="0"/>
              <a:t>Estimación </a:t>
            </a:r>
          </a:p>
          <a:p>
            <a:r>
              <a:rPr lang="es-ES" dirty="0"/>
              <a:t>Análisis financiero</a:t>
            </a:r>
          </a:p>
          <a:p>
            <a:r>
              <a:rPr lang="es-ES" dirty="0"/>
              <a:t>Grupos de enfoque</a:t>
            </a:r>
          </a:p>
          <a:p>
            <a:r>
              <a:rPr lang="es-ES" dirty="0"/>
              <a:t>Entrevistas </a:t>
            </a:r>
          </a:p>
          <a:p>
            <a:r>
              <a:rPr lang="es-ES" dirty="0"/>
              <a:t>Métricas e indicadores clave de rendimiento (KPI)</a:t>
            </a:r>
          </a:p>
          <a:p>
            <a:r>
              <a:rPr lang="es-ES" dirty="0"/>
              <a:t>Análisis y gestión de riesgos</a:t>
            </a:r>
          </a:p>
          <a:p>
            <a:r>
              <a:rPr lang="es-ES" dirty="0"/>
              <a:t>Encuesta o cuestionario</a:t>
            </a:r>
          </a:p>
          <a:p>
            <a:r>
              <a:rPr lang="es-ES" dirty="0"/>
              <a:t>Análisis FODA</a:t>
            </a:r>
          </a:p>
          <a:p>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2902934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VERIFICACIÓN Y VALIDACIÓN DE REQUISITOS</a:t>
            </a:r>
          </a:p>
        </p:txBody>
      </p:sp>
    </p:spTree>
    <p:custDataLst>
      <p:tags r:id="rId1"/>
    </p:custDataLst>
    <p:extLst>
      <p:ext uri="{BB962C8B-B14F-4D97-AF65-F5344CB8AC3E}">
        <p14:creationId xmlns:p14="http://schemas.microsoft.com/office/powerpoint/2010/main" val="404868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DISEÑO DE LA SOLUCIÓN</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ES" dirty="0"/>
              <a:t>VERIFICACIÓN DE REQUISITOS</a:t>
            </a:r>
          </a:p>
          <a:p>
            <a:endParaRPr lang="es-PE" dirty="0"/>
          </a:p>
        </p:txBody>
      </p:sp>
    </p:spTree>
    <p:extLst>
      <p:ext uri="{BB962C8B-B14F-4D97-AF65-F5344CB8AC3E}">
        <p14:creationId xmlns:p14="http://schemas.microsoft.com/office/powerpoint/2010/main" val="1421883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VERIFICACIÓN DE REQUISITOS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67456" cy="3751262"/>
          </a:xfrm>
        </p:spPr>
        <p:txBody>
          <a:bodyPr/>
          <a:lstStyle/>
          <a:p>
            <a:r>
              <a:rPr lang="es-ES" dirty="0"/>
              <a:t>Garantizar que los requisitos y las especificaciones de diseño y los modelos cumplan con los estándares de calidad y sean utilizables para el propósito al que sirven.</a:t>
            </a:r>
          </a:p>
          <a:p>
            <a:r>
              <a:rPr lang="es-ES" dirty="0"/>
              <a:t>Una especificación de alta calidad está bien escrita si su público objetivo la entiende fácilmente.</a:t>
            </a:r>
          </a:p>
          <a:p>
            <a:pPr>
              <a:spcAft>
                <a:spcPts val="600"/>
              </a:spcAft>
            </a:pPr>
            <a:r>
              <a:rPr lang="es-ES" dirty="0"/>
              <a:t>Se debe de tener en cuenta lo siguiente:</a:t>
            </a:r>
          </a:p>
          <a:p>
            <a:pPr lvl="1">
              <a:spcAft>
                <a:spcPts val="600"/>
              </a:spcAft>
              <a:buFont typeface="+mj-lt"/>
              <a:buAutoNum type="arabicPeriod"/>
            </a:pPr>
            <a:r>
              <a:rPr lang="es-ES" dirty="0"/>
              <a:t>Características de los requisitos y calidad de los diseños.</a:t>
            </a:r>
          </a:p>
          <a:p>
            <a:pPr lvl="1">
              <a:spcAft>
                <a:spcPts val="600"/>
              </a:spcAft>
              <a:buFont typeface="+mj-lt"/>
              <a:buAutoNum type="arabicPeriod"/>
            </a:pPr>
            <a:r>
              <a:rPr lang="es-ES" dirty="0"/>
              <a:t>Actividades de verificación.</a:t>
            </a:r>
          </a:p>
          <a:p>
            <a:pPr lvl="1">
              <a:spcAft>
                <a:spcPts val="600"/>
              </a:spcAft>
              <a:buFont typeface="+mj-lt"/>
              <a:buAutoNum type="arabicPeriod"/>
            </a:pPr>
            <a:r>
              <a:rPr lang="es-ES" dirty="0"/>
              <a:t>Listas de verificación.</a:t>
            </a:r>
            <a:endParaRPr lang="es-PE" dirty="0"/>
          </a:p>
        </p:txBody>
      </p:sp>
      <p:pic>
        <p:nvPicPr>
          <p:cNvPr id="4" name="Marcador de posición de imagen 3">
            <a:extLst>
              <a:ext uri="{FF2B5EF4-FFF2-40B4-BE49-F238E27FC236}">
                <a16:creationId xmlns:a16="http://schemas.microsoft.com/office/drawing/2014/main" id="{BEBE7006-16BA-3CC6-8CBE-41EFD3FE04C6}"/>
              </a:ext>
            </a:extLst>
          </p:cNvPr>
          <p:cNvPicPr>
            <a:picLocks noGrp="1" noChangeAspect="1"/>
          </p:cNvPicPr>
          <p:nvPr>
            <p:ph type="pic" sz="quarter" idx="10"/>
          </p:nvPr>
        </p:nvPicPr>
        <p:blipFill>
          <a:blip r:embed="rId3"/>
          <a:srcRect l="118" r="118"/>
          <a:stretch>
            <a:fillRect/>
          </a:stretch>
        </p:blipFill>
        <p:spPr>
          <a:xfrm>
            <a:off x="4938049" y="804863"/>
            <a:ext cx="4086000" cy="4446000"/>
          </a:xfrm>
        </p:spPr>
      </p:pic>
    </p:spTree>
    <p:extLst>
      <p:ext uri="{BB962C8B-B14F-4D97-AF65-F5344CB8AC3E}">
        <p14:creationId xmlns:p14="http://schemas.microsoft.com/office/powerpoint/2010/main" val="1576138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los requisitos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VERIFICACIÓN DE REQUISITOS</a:t>
            </a:r>
            <a:endParaRPr lang="es-PE" dirty="0"/>
          </a:p>
        </p:txBody>
      </p:sp>
      <p:pic>
        <p:nvPicPr>
          <p:cNvPr id="4" name="Marcador de posición de imagen 3">
            <a:extLst>
              <a:ext uri="{FF2B5EF4-FFF2-40B4-BE49-F238E27FC236}">
                <a16:creationId xmlns:a16="http://schemas.microsoft.com/office/drawing/2014/main" id="{9321377C-FC74-20E5-83A3-33984B6C38DA}"/>
              </a:ext>
            </a:extLst>
          </p:cNvPr>
          <p:cNvPicPr>
            <a:picLocks noGrp="1" noChangeAspect="1"/>
          </p:cNvPicPr>
          <p:nvPr>
            <p:ph type="pic" sz="quarter" idx="10"/>
          </p:nvPr>
        </p:nvPicPr>
        <p:blipFill>
          <a:blip r:embed="rId3"/>
          <a:srcRect l="2" r="2"/>
          <a:stretch>
            <a:fillRect/>
          </a:stretch>
        </p:blipFill>
        <p:spPr>
          <a:xfrm>
            <a:off x="4867710" y="804863"/>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399397" cy="4111625"/>
          </a:xfrm>
        </p:spPr>
        <p:txBody>
          <a:bodyPr/>
          <a:lstStyle/>
          <a:p>
            <a:pPr>
              <a:spcAft>
                <a:spcPts val="600"/>
              </a:spcAft>
            </a:pPr>
            <a:r>
              <a:rPr lang="es-ES" dirty="0"/>
              <a:t>Si bien la calidad está determinada en última instancia por las necesidades de los </a:t>
            </a:r>
            <a:r>
              <a:rPr lang="es-ES" i="1" dirty="0"/>
              <a:t>stakeholders</a:t>
            </a:r>
            <a:r>
              <a:rPr lang="es-ES" dirty="0"/>
              <a:t> que utilizarán los requisitos o los diseños, los requisitos de calidad aceptables exhiben muchas de las siguientes características:</a:t>
            </a:r>
          </a:p>
          <a:p>
            <a:pPr lvl="1">
              <a:spcAft>
                <a:spcPts val="300"/>
              </a:spcAft>
            </a:pPr>
            <a:r>
              <a:rPr lang="es-ES" dirty="0"/>
              <a:t>atómico y autónomo</a:t>
            </a:r>
          </a:p>
          <a:p>
            <a:pPr lvl="1">
              <a:spcAft>
                <a:spcPts val="300"/>
              </a:spcAft>
            </a:pPr>
            <a:r>
              <a:rPr lang="es-ES" dirty="0"/>
              <a:t>completo</a:t>
            </a:r>
          </a:p>
          <a:p>
            <a:pPr lvl="1">
              <a:spcAft>
                <a:spcPts val="300"/>
              </a:spcAft>
            </a:pPr>
            <a:r>
              <a:rPr lang="es-ES" dirty="0"/>
              <a:t>coherente</a:t>
            </a:r>
          </a:p>
          <a:p>
            <a:pPr lvl="1">
              <a:spcAft>
                <a:spcPts val="300"/>
              </a:spcAft>
            </a:pPr>
            <a:r>
              <a:rPr lang="es-ES" dirty="0"/>
              <a:t>conciso</a:t>
            </a:r>
          </a:p>
          <a:p>
            <a:pPr lvl="1">
              <a:spcAft>
                <a:spcPts val="300"/>
              </a:spcAft>
            </a:pPr>
            <a:r>
              <a:rPr lang="es-ES" dirty="0"/>
              <a:t>factible</a:t>
            </a:r>
          </a:p>
          <a:p>
            <a:pPr lvl="1">
              <a:spcAft>
                <a:spcPts val="300"/>
              </a:spcAft>
            </a:pPr>
            <a:r>
              <a:rPr lang="es-ES" dirty="0"/>
              <a:t>sin ambigüedades</a:t>
            </a:r>
          </a:p>
          <a:p>
            <a:pPr lvl="1">
              <a:spcAft>
                <a:spcPts val="300"/>
              </a:spcAft>
            </a:pPr>
            <a:r>
              <a:rPr lang="es-ES" dirty="0"/>
              <a:t>comprobable</a:t>
            </a:r>
          </a:p>
          <a:p>
            <a:pPr lvl="1">
              <a:spcAft>
                <a:spcPts val="300"/>
              </a:spcAft>
            </a:pPr>
            <a:r>
              <a:rPr lang="es-ES" dirty="0"/>
              <a:t>priorizado</a:t>
            </a:r>
          </a:p>
          <a:p>
            <a:pPr lvl="1">
              <a:spcAft>
                <a:spcPts val="300"/>
              </a:spcAft>
            </a:pPr>
            <a:r>
              <a:rPr lang="es-ES" dirty="0"/>
              <a:t>comprensible</a:t>
            </a:r>
          </a:p>
        </p:txBody>
      </p:sp>
    </p:spTree>
    <p:extLst>
      <p:ext uri="{BB962C8B-B14F-4D97-AF65-F5344CB8AC3E}">
        <p14:creationId xmlns:p14="http://schemas.microsoft.com/office/powerpoint/2010/main" val="124142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Actividades de verificación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VERIFICACIÓN DE REQUISITOS</a:t>
            </a:r>
            <a:endParaRPr lang="es-PE" dirty="0"/>
          </a:p>
        </p:txBody>
      </p:sp>
      <p:pic>
        <p:nvPicPr>
          <p:cNvPr id="4" name="Marcador de posición de imagen 3">
            <a:extLst>
              <a:ext uri="{FF2B5EF4-FFF2-40B4-BE49-F238E27FC236}">
                <a16:creationId xmlns:a16="http://schemas.microsoft.com/office/drawing/2014/main" id="{40FC6AD8-305D-1C6E-DD76-FCCDD8CF9A90}"/>
              </a:ext>
            </a:extLst>
          </p:cNvPr>
          <p:cNvPicPr>
            <a:picLocks noGrp="1" noChangeAspect="1"/>
          </p:cNvPicPr>
          <p:nvPr>
            <p:ph type="pic" sz="quarter" idx="10"/>
          </p:nvPr>
        </p:nvPicPr>
        <p:blipFill>
          <a:blip r:embed="rId3"/>
          <a:srcRect l="2" r="2"/>
          <a:stretch>
            <a:fillRect/>
          </a:stretch>
        </p:blipFill>
        <p:spPr>
          <a:xfrm>
            <a:off x="4911672" y="804863"/>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443359" cy="4111625"/>
          </a:xfrm>
        </p:spPr>
        <p:txBody>
          <a:bodyPr/>
          <a:lstStyle/>
          <a:p>
            <a:r>
              <a:rPr lang="es-ES" dirty="0"/>
              <a:t>Las actividades de verificación normalmente se realizan de forma iterativa a lo largo del proceso de análisis de requisitos.</a:t>
            </a:r>
          </a:p>
          <a:p>
            <a:pPr>
              <a:spcAft>
                <a:spcPts val="600"/>
              </a:spcAft>
            </a:pPr>
            <a:r>
              <a:rPr lang="es-ES" dirty="0"/>
              <a:t>Las actividades de verificación incluyen las siguientes acciones:</a:t>
            </a:r>
          </a:p>
          <a:p>
            <a:pPr lvl="1">
              <a:spcAft>
                <a:spcPts val="600"/>
              </a:spcAft>
            </a:pPr>
            <a:r>
              <a:rPr lang="es-ES" dirty="0"/>
              <a:t>Comprobar cumplimiento de estándares, herramientas y métodos correctos.</a:t>
            </a:r>
          </a:p>
          <a:p>
            <a:pPr lvl="1">
              <a:spcAft>
                <a:spcPts val="600"/>
              </a:spcAft>
            </a:pPr>
            <a:r>
              <a:rPr lang="es-ES" dirty="0"/>
              <a:t>Comprobar uso correcto de la notación, plantillas o formularios de modelado.</a:t>
            </a:r>
          </a:p>
          <a:p>
            <a:pPr lvl="1">
              <a:spcAft>
                <a:spcPts val="600"/>
              </a:spcAft>
            </a:pPr>
            <a:r>
              <a:rPr lang="es-ES" dirty="0"/>
              <a:t>Comprobar integridad de cada modelo.</a:t>
            </a:r>
          </a:p>
          <a:p>
            <a:pPr lvl="1">
              <a:spcAft>
                <a:spcPts val="600"/>
              </a:spcAft>
            </a:pPr>
            <a:r>
              <a:rPr lang="es-ES" dirty="0"/>
              <a:t>Garantizar que la terminología utilizada es comprensible para los </a:t>
            </a:r>
            <a:r>
              <a:rPr lang="es-ES" i="1" dirty="0"/>
              <a:t>stakeholders.</a:t>
            </a:r>
          </a:p>
          <a:p>
            <a:pPr lvl="1">
              <a:spcAft>
                <a:spcPts val="600"/>
              </a:spcAft>
            </a:pPr>
            <a:r>
              <a:rPr lang="es-ES" dirty="0"/>
              <a:t>Agregar ejemplos donde sea apropiado para aclaración.</a:t>
            </a:r>
          </a:p>
        </p:txBody>
      </p:sp>
    </p:spTree>
    <p:extLst>
      <p:ext uri="{BB962C8B-B14F-4D97-AF65-F5344CB8AC3E}">
        <p14:creationId xmlns:p14="http://schemas.microsoft.com/office/powerpoint/2010/main" val="218332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Listas de verificación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VERIFICACIÓN DE REQUISITOS</a:t>
            </a:r>
            <a:endParaRPr lang="es-PE" dirty="0"/>
          </a:p>
        </p:txBody>
      </p:sp>
      <p:pic>
        <p:nvPicPr>
          <p:cNvPr id="4" name="Marcador de posición de imagen 3">
            <a:extLst>
              <a:ext uri="{FF2B5EF4-FFF2-40B4-BE49-F238E27FC236}">
                <a16:creationId xmlns:a16="http://schemas.microsoft.com/office/drawing/2014/main" id="{E999C49C-B14F-6AE2-DBC0-FE2B7315C29F}"/>
              </a:ext>
            </a:extLst>
          </p:cNvPr>
          <p:cNvPicPr>
            <a:picLocks noGrp="1" noChangeAspect="1"/>
          </p:cNvPicPr>
          <p:nvPr>
            <p:ph type="pic" sz="quarter" idx="10"/>
          </p:nvPr>
        </p:nvPicPr>
        <p:blipFill>
          <a:blip r:embed="rId3"/>
          <a:srcRect l="234" r="234"/>
          <a:stretch>
            <a:fillRect/>
          </a:stretch>
        </p:blipFill>
        <p:spPr>
          <a:xfrm>
            <a:off x="4902880" y="816438"/>
            <a:ext cx="4086000" cy="444600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434567" cy="4111625"/>
          </a:xfrm>
        </p:spPr>
        <p:txBody>
          <a:bodyPr/>
          <a:lstStyle/>
          <a:p>
            <a:r>
              <a:rPr lang="es-ES" dirty="0"/>
              <a:t>Las listas de verificación se utilizan para el control de calidad al verificar los requisitos y diseños.</a:t>
            </a:r>
          </a:p>
          <a:p>
            <a:r>
              <a:rPr lang="es-ES" dirty="0"/>
              <a:t>Las listas de verificación pueden incluir un conjunto estándar de elementos de calidad que los analistas de negocios usan para verificar los requisitos, o pueden desarrollarse específicamente para capturar los problemas de interés.</a:t>
            </a:r>
          </a:p>
          <a:p>
            <a:r>
              <a:rPr lang="es-ES" dirty="0"/>
              <a:t>El propósito de una lista de verificación es garantizar que los elementos que se determinen importantes se incluyan en los entregables de los requisitos finales, o que se sigan los pasos necesarios para el proceso de verificación.</a:t>
            </a:r>
          </a:p>
        </p:txBody>
      </p:sp>
    </p:spTree>
    <p:extLst>
      <p:ext uri="{BB962C8B-B14F-4D97-AF65-F5344CB8AC3E}">
        <p14:creationId xmlns:p14="http://schemas.microsoft.com/office/powerpoint/2010/main" val="241204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VERIFICACIÓN DE REQUISITOS</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Criterios de evaluación y aceptación</a:t>
            </a:r>
          </a:p>
          <a:p>
            <a:r>
              <a:rPr lang="es-ES" dirty="0"/>
              <a:t>Seguimiento de ítems</a:t>
            </a:r>
          </a:p>
          <a:p>
            <a:r>
              <a:rPr lang="es-ES" dirty="0"/>
              <a:t>Métricas e indicadores clave de rendimiento (KPI)</a:t>
            </a:r>
          </a:p>
          <a:p>
            <a:r>
              <a:rPr lang="es-ES" dirty="0"/>
              <a:t>Revisiones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419760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DISEÑO DE LA SOLUCIÓN</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ES" dirty="0"/>
              <a:t>VALIDACIÓN DE  REQUISITOS</a:t>
            </a:r>
          </a:p>
          <a:p>
            <a:endParaRPr lang="es-PE" dirty="0"/>
          </a:p>
        </p:txBody>
      </p:sp>
    </p:spTree>
    <p:extLst>
      <p:ext uri="{BB962C8B-B14F-4D97-AF65-F5344CB8AC3E}">
        <p14:creationId xmlns:p14="http://schemas.microsoft.com/office/powerpoint/2010/main" val="1853624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VALIDACIÓN DE REQUISITOS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88325" cy="3395540"/>
          </a:xfrm>
        </p:spPr>
        <p:txBody>
          <a:bodyPr/>
          <a:lstStyle/>
          <a:p>
            <a:r>
              <a:rPr lang="es-ES" dirty="0"/>
              <a:t>Asegurar que todos los requisitos y los diseños se alinean con los requisitos de negocio y respaldan la entrega de valor necesario.</a:t>
            </a:r>
          </a:p>
          <a:p>
            <a:r>
              <a:rPr lang="es-ES" dirty="0"/>
              <a:t>Es necesario comprender cómo se ve el estado deseado por los </a:t>
            </a:r>
            <a:r>
              <a:rPr lang="es-ES" i="1" dirty="0"/>
              <a:t>stakeholders</a:t>
            </a:r>
            <a:r>
              <a:rPr lang="es-ES" dirty="0"/>
              <a:t> después de que se haya satisfecho sus necesidades.</a:t>
            </a:r>
          </a:p>
          <a:p>
            <a:pPr>
              <a:spcAft>
                <a:spcPts val="600"/>
              </a:spcAft>
            </a:pPr>
            <a:r>
              <a:rPr lang="es-ES" dirty="0"/>
              <a:t>Se debe de tener en cuenta lo siguiente:</a:t>
            </a:r>
          </a:p>
          <a:p>
            <a:pPr lvl="1">
              <a:spcAft>
                <a:spcPts val="600"/>
              </a:spcAft>
              <a:buFont typeface="+mj-lt"/>
              <a:buAutoNum type="arabicPeriod"/>
            </a:pPr>
            <a:r>
              <a:rPr lang="es-ES" dirty="0"/>
              <a:t>Identificar supuestos.</a:t>
            </a:r>
          </a:p>
          <a:p>
            <a:pPr lvl="1">
              <a:spcAft>
                <a:spcPts val="600"/>
              </a:spcAft>
              <a:buFont typeface="+mj-lt"/>
              <a:buAutoNum type="arabicPeriod"/>
            </a:pPr>
            <a:r>
              <a:rPr lang="es-ES" dirty="0"/>
              <a:t>Definir criterios de evaluación medibles.</a:t>
            </a:r>
          </a:p>
          <a:p>
            <a:pPr lvl="1">
              <a:spcAft>
                <a:spcPts val="600"/>
              </a:spcAft>
              <a:buFont typeface="+mj-lt"/>
              <a:buAutoNum type="arabicPeriod"/>
            </a:pPr>
            <a:r>
              <a:rPr lang="es-ES" dirty="0"/>
              <a:t>Evaluar la alineación con el alcance de la solución.</a:t>
            </a:r>
            <a:endParaRPr lang="es-PE" dirty="0"/>
          </a:p>
        </p:txBody>
      </p:sp>
      <p:pic>
        <p:nvPicPr>
          <p:cNvPr id="4" name="Marcador de posición de imagen 3">
            <a:extLst>
              <a:ext uri="{FF2B5EF4-FFF2-40B4-BE49-F238E27FC236}">
                <a16:creationId xmlns:a16="http://schemas.microsoft.com/office/drawing/2014/main" id="{B886C9EF-70FD-A3E5-4121-CA5DB4E56B59}"/>
              </a:ext>
            </a:extLst>
          </p:cNvPr>
          <p:cNvPicPr>
            <a:picLocks noGrp="1" noChangeAspect="1"/>
          </p:cNvPicPr>
          <p:nvPr>
            <p:ph type="pic" sz="quarter" idx="10"/>
          </p:nvPr>
        </p:nvPicPr>
        <p:blipFill>
          <a:blip r:embed="rId3"/>
          <a:srcRect l="145" r="145"/>
          <a:stretch>
            <a:fillRect/>
          </a:stretch>
        </p:blipFill>
        <p:spPr>
          <a:xfrm>
            <a:off x="4867711" y="816438"/>
            <a:ext cx="4086000" cy="4446000"/>
          </a:xfrm>
        </p:spPr>
      </p:pic>
    </p:spTree>
    <p:extLst>
      <p:ext uri="{BB962C8B-B14F-4D97-AF65-F5344CB8AC3E}">
        <p14:creationId xmlns:p14="http://schemas.microsoft.com/office/powerpoint/2010/main" val="286509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Identificar supuestos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VALIDACIÓN DE REQUISITOS</a:t>
            </a:r>
            <a:endParaRPr lang="es-PE" dirty="0"/>
          </a:p>
        </p:txBody>
      </p:sp>
      <p:pic>
        <p:nvPicPr>
          <p:cNvPr id="4" name="Marcador de posición de imagen 3">
            <a:extLst>
              <a:ext uri="{FF2B5EF4-FFF2-40B4-BE49-F238E27FC236}">
                <a16:creationId xmlns:a16="http://schemas.microsoft.com/office/drawing/2014/main" id="{8789BEAF-FBC0-538F-EDB0-F74C047A1525}"/>
              </a:ext>
            </a:extLst>
          </p:cNvPr>
          <p:cNvPicPr>
            <a:picLocks noGrp="1" noChangeAspect="1"/>
          </p:cNvPicPr>
          <p:nvPr>
            <p:ph type="pic" sz="quarter" idx="10"/>
          </p:nvPr>
        </p:nvPicPr>
        <p:blipFill>
          <a:blip r:embed="rId3"/>
          <a:srcRect l="332" r="332"/>
          <a:stretch>
            <a:fillRect/>
          </a:stretch>
        </p:blipFill>
        <p:spPr>
          <a:xfrm>
            <a:off x="5040312" y="1139236"/>
            <a:ext cx="3778701" cy="4111626"/>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279533" cy="4111625"/>
          </a:xfrm>
        </p:spPr>
        <p:txBody>
          <a:bodyPr/>
          <a:lstStyle/>
          <a:p>
            <a:r>
              <a:rPr lang="es-ES" dirty="0"/>
              <a:t>Si una organización está lanzando un producto o servicio sin precedentes, puede ser necesario hacer suposiciones sobre la respuesta del cliente o de los </a:t>
            </a:r>
            <a:r>
              <a:rPr lang="es-ES" i="1" dirty="0"/>
              <a:t>stakeholders</a:t>
            </a:r>
            <a:r>
              <a:rPr lang="es-ES" dirty="0"/>
              <a:t>, ya que no hay experiencias previas similares en las que confiar.</a:t>
            </a:r>
          </a:p>
          <a:p>
            <a:r>
              <a:rPr lang="es-ES" dirty="0"/>
              <a:t>En otros casos, puede ser difícil o imposible probar que un problema en particular se deriva de una causa raíz identificada.</a:t>
            </a:r>
          </a:p>
          <a:p>
            <a:r>
              <a:rPr lang="es-ES" dirty="0"/>
              <a:t>Los </a:t>
            </a:r>
            <a:r>
              <a:rPr lang="es-ES" i="1" dirty="0"/>
              <a:t>stakeholders </a:t>
            </a:r>
            <a:r>
              <a:rPr lang="es-ES" dirty="0"/>
              <a:t>pueden haber asumido que ciertos beneficios resultarán de la implementación de un requisito.</a:t>
            </a:r>
          </a:p>
          <a:p>
            <a:r>
              <a:rPr lang="es-ES" dirty="0"/>
              <a:t>Los supuestos se identifican y definen para que los riesgos asociados sean gestionados.</a:t>
            </a:r>
          </a:p>
          <a:p>
            <a:endParaRPr lang="es-ES" dirty="0"/>
          </a:p>
        </p:txBody>
      </p:sp>
    </p:spTree>
    <p:extLst>
      <p:ext uri="{BB962C8B-B14F-4D97-AF65-F5344CB8AC3E}">
        <p14:creationId xmlns:p14="http://schemas.microsoft.com/office/powerpoint/2010/main" val="130892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Definir criterios de evaluación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VALIDACIÓN DE REQUISITOS</a:t>
            </a:r>
            <a:endParaRPr lang="es-PE" dirty="0"/>
          </a:p>
        </p:txBody>
      </p:sp>
      <p:pic>
        <p:nvPicPr>
          <p:cNvPr id="4" name="Marcador de posición de imagen 3">
            <a:extLst>
              <a:ext uri="{FF2B5EF4-FFF2-40B4-BE49-F238E27FC236}">
                <a16:creationId xmlns:a16="http://schemas.microsoft.com/office/drawing/2014/main" id="{7C900F30-EEE2-3664-286F-463E1776D35C}"/>
              </a:ext>
            </a:extLst>
          </p:cNvPr>
          <p:cNvPicPr>
            <a:picLocks noGrp="1" noChangeAspect="1"/>
          </p:cNvPicPr>
          <p:nvPr>
            <p:ph type="pic" sz="quarter" idx="10"/>
          </p:nvPr>
        </p:nvPicPr>
        <p:blipFill>
          <a:blip r:embed="rId3"/>
          <a:srcRect l="118" r="118"/>
          <a:stretch>
            <a:fillRect/>
          </a:stretch>
        </p:blipFill>
        <p:spPr>
          <a:xfrm>
            <a:off x="5222630" y="1158875"/>
            <a:ext cx="3555234" cy="3868470"/>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437795" cy="3017471"/>
          </a:xfrm>
        </p:spPr>
        <p:txBody>
          <a:bodyPr/>
          <a:lstStyle/>
          <a:p>
            <a:r>
              <a:rPr lang="es-ES" dirty="0"/>
              <a:t>Si bien los beneficios esperados se definen como parte del estado futuro, es posible que no se hayan incluido los criterios de medición específicos y el proceso de evaluación.</a:t>
            </a:r>
          </a:p>
          <a:p>
            <a:r>
              <a:rPr lang="es-ES" dirty="0"/>
              <a:t>Los analistas de negocios definen los criterios de evaluación que se utilizarán para evaluar qué tan exitoso ha sido el cambio después de implementar la solución.</a:t>
            </a:r>
          </a:p>
          <a:p>
            <a:r>
              <a:rPr lang="es-ES" dirty="0"/>
              <a:t>Las métricas de referencia se pueden establecer en función del estado actual. </a:t>
            </a:r>
          </a:p>
        </p:txBody>
      </p:sp>
    </p:spTree>
    <p:extLst>
      <p:ext uri="{BB962C8B-B14F-4D97-AF65-F5344CB8AC3E}">
        <p14:creationId xmlns:p14="http://schemas.microsoft.com/office/powerpoint/2010/main" val="267930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Evaluar la alineación con el alcance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VALIDACIÓN DE REQUISITOS</a:t>
            </a:r>
            <a:endParaRPr lang="es-PE" dirty="0"/>
          </a:p>
        </p:txBody>
      </p:sp>
      <p:pic>
        <p:nvPicPr>
          <p:cNvPr id="4" name="Marcador de posición de imagen 3">
            <a:extLst>
              <a:ext uri="{FF2B5EF4-FFF2-40B4-BE49-F238E27FC236}">
                <a16:creationId xmlns:a16="http://schemas.microsoft.com/office/drawing/2014/main" id="{53F90DD4-DC74-7543-457C-078FCAADD326}"/>
              </a:ext>
            </a:extLst>
          </p:cNvPr>
          <p:cNvPicPr>
            <a:picLocks noGrp="1" noChangeAspect="1"/>
          </p:cNvPicPr>
          <p:nvPr>
            <p:ph type="pic" sz="quarter" idx="10"/>
          </p:nvPr>
        </p:nvPicPr>
        <p:blipFill>
          <a:blip r:embed="rId3"/>
          <a:srcRect l="11" r="11"/>
          <a:stretch>
            <a:fillRect/>
          </a:stretch>
        </p:blipFill>
        <p:spPr>
          <a:xfrm>
            <a:off x="5104670" y="1150811"/>
            <a:ext cx="3778701" cy="4111626"/>
          </a:xfrm>
        </p:spPr>
      </p:pic>
      <p:sp>
        <p:nvSpPr>
          <p:cNvPr id="6" name="Marcador de texto 5">
            <a:extLst>
              <a:ext uri="{FF2B5EF4-FFF2-40B4-BE49-F238E27FC236}">
                <a16:creationId xmlns:a16="http://schemas.microsoft.com/office/drawing/2014/main" id="{8074469A-98D7-A92B-6413-4D1E2E43726E}"/>
              </a:ext>
            </a:extLst>
          </p:cNvPr>
          <p:cNvSpPr>
            <a:spLocks noGrp="1"/>
          </p:cNvSpPr>
          <p:nvPr>
            <p:ph type="body" sz="quarter" idx="14"/>
          </p:nvPr>
        </p:nvSpPr>
        <p:spPr>
          <a:xfrm>
            <a:off x="468313" y="1158875"/>
            <a:ext cx="4516925" cy="4111625"/>
          </a:xfrm>
        </p:spPr>
        <p:txBody>
          <a:bodyPr/>
          <a:lstStyle/>
          <a:p>
            <a:r>
              <a:rPr lang="es-ES" dirty="0"/>
              <a:t>Un requisito puede ser beneficioso para un </a:t>
            </a:r>
            <a:r>
              <a:rPr lang="es-ES" i="1" dirty="0"/>
              <a:t>stakeholder</a:t>
            </a:r>
            <a:r>
              <a:rPr lang="es-ES" dirty="0"/>
              <a:t> y aun así no ser una parte deseable de una solución.</a:t>
            </a:r>
          </a:p>
          <a:p>
            <a:r>
              <a:rPr lang="es-ES" dirty="0"/>
              <a:t>Un requisito que no brinda beneficios a un </a:t>
            </a:r>
            <a:r>
              <a:rPr lang="es-ES" i="1" dirty="0"/>
              <a:t>stakeholder</a:t>
            </a:r>
            <a:r>
              <a:rPr lang="es-ES" dirty="0"/>
              <a:t> es un fuerte candidato  para la eliminación.</a:t>
            </a:r>
          </a:p>
          <a:p>
            <a:r>
              <a:rPr lang="es-ES" dirty="0"/>
              <a:t>Cuando los requisitos no se alinean, se debe reevaluar el estado futuro y cambiar el alcance de la solución, o eliminar el requisito del alcance de la solución.</a:t>
            </a:r>
          </a:p>
          <a:p>
            <a:r>
              <a:rPr lang="es-ES" dirty="0"/>
              <a:t>Si un diseño no se puede validar para respaldar un requisito, es posible que falte un requisito  o que se haya malinterpretado, o que el diseño deba cambiar.</a:t>
            </a:r>
          </a:p>
        </p:txBody>
      </p:sp>
    </p:spTree>
    <p:extLst>
      <p:ext uri="{BB962C8B-B14F-4D97-AF65-F5344CB8AC3E}">
        <p14:creationId xmlns:p14="http://schemas.microsoft.com/office/powerpoint/2010/main" val="316383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VALIDACIÓN DE REQUISITOS</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a:xfrm>
            <a:off x="468313" y="1182025"/>
            <a:ext cx="8207375" cy="1868906"/>
          </a:xfrm>
        </p:spPr>
        <p:txBody>
          <a:bodyPr/>
          <a:lstStyle/>
          <a:p>
            <a:r>
              <a:rPr lang="es-ES" dirty="0"/>
              <a:t>Criterios de evaluación y aceptación</a:t>
            </a:r>
          </a:p>
          <a:p>
            <a:r>
              <a:rPr lang="es-ES" dirty="0"/>
              <a:t>Análisis de documentos</a:t>
            </a:r>
          </a:p>
          <a:p>
            <a:r>
              <a:rPr lang="es-ES" dirty="0"/>
              <a:t>Análisis financiero</a:t>
            </a:r>
          </a:p>
          <a:p>
            <a:r>
              <a:rPr lang="es-ES" dirty="0"/>
              <a:t>Seguimiento de ítems</a:t>
            </a:r>
          </a:p>
          <a:p>
            <a:r>
              <a:rPr lang="es-ES" dirty="0"/>
              <a:t>Métricas e indicadores clave de rendimiento (KPI)</a:t>
            </a:r>
          </a:p>
          <a:p>
            <a:r>
              <a:rPr lang="es-ES" dirty="0"/>
              <a:t>Revisiones</a:t>
            </a:r>
          </a:p>
          <a:p>
            <a:r>
              <a:rPr lang="es-ES" dirty="0"/>
              <a:t>Análisis y gestión de riesgos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219334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2619737"/>
          </a:xfrm>
        </p:spPr>
        <p:txBody>
          <a:bodyPr/>
          <a:lstStyle/>
          <a:p>
            <a:r>
              <a:rPr lang="es-ES" dirty="0"/>
              <a:t>La especificación y modelado de requisitos consiste en recopilar información detallada sobre lo que se espera que el proyecto o sistema logre, así como los requisitos funcionales y no funcionales que deben ser cumplidos. </a:t>
            </a:r>
          </a:p>
          <a:p>
            <a:r>
              <a:rPr lang="es-ES" dirty="0"/>
              <a:t>Para evaluar una opción de solución se tienen en cuenta factores como la viabilidad técnica, la factibilidad económica, el impacto en el negocio y los requisitos del cliente.</a:t>
            </a:r>
          </a:p>
          <a:p>
            <a:r>
              <a:rPr lang="es-ES" dirty="0"/>
              <a:t>Durante el análisis empresarial se evalúa el valor potencial de diferentes opciones de solución para determinar cuál generará el mayor retorno de la inversión y contribuirá al logro de los objetivos de negocio.</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https://www.iiba.org/standards-andresources/babok/</a:t>
            </a:r>
          </a:p>
          <a:p>
            <a:pPr>
              <a:lnSpc>
                <a:spcPct val="100000"/>
              </a:lnSpc>
            </a:pPr>
            <a:r>
              <a:rPr lang="es-ES" dirty="0"/>
              <a:t>Bitácora de análisis de negocios. (2020). Recuperado de: http://gabrielalmeida.com.mx/</a:t>
            </a:r>
          </a:p>
          <a:p>
            <a:pPr>
              <a:lnSpc>
                <a:spcPct val="100000"/>
              </a:lnSpc>
            </a:pPr>
            <a:r>
              <a:rPr lang="es-ES" dirty="0"/>
              <a:t>PMI Professional in Business </a:t>
            </a:r>
            <a:r>
              <a:rPr lang="es-ES" dirty="0" err="1"/>
              <a:t>Analysis</a:t>
            </a:r>
            <a:r>
              <a:rPr lang="es-ES" dirty="0"/>
              <a:t>. (2020). Recuperado de: https://www.pmi.org/certification/businessanalysis-pba.aspx</a:t>
            </a:r>
          </a:p>
          <a:p>
            <a:pPr>
              <a:lnSpc>
                <a:spcPct val="100000"/>
              </a:lnSpc>
            </a:pPr>
            <a:r>
              <a:rPr lang="es-ES" dirty="0"/>
              <a:t>International </a:t>
            </a:r>
            <a:r>
              <a:rPr lang="es-ES" dirty="0" err="1"/>
              <a:t>Institute</a:t>
            </a:r>
            <a:r>
              <a:rPr lang="es-ES" dirty="0"/>
              <a:t> </a:t>
            </a:r>
            <a:r>
              <a:rPr lang="es-ES" dirty="0" err="1"/>
              <a:t>of</a:t>
            </a:r>
            <a:r>
              <a:rPr lang="es-ES" dirty="0"/>
              <a:t> Business </a:t>
            </a:r>
            <a:r>
              <a:rPr lang="es-ES" dirty="0" err="1"/>
              <a:t>Analysis</a:t>
            </a:r>
            <a:r>
              <a:rPr lang="es-ES" dirty="0"/>
              <a:t>. (2011). Recuperado de: https://analytics.infozone.pro/wpcontent/uploads/2013/04/IIBA_Competency_Model_v3_Final.pdf</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15406</TotalTime>
  <Words>3678</Words>
  <Application>Microsoft Office PowerPoint</Application>
  <PresentationFormat>Presentación en pantalla (16:10)</PresentationFormat>
  <Paragraphs>400</Paragraphs>
  <Slides>48</Slides>
  <Notes>48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48</vt:i4>
      </vt:variant>
    </vt:vector>
  </HeadingPairs>
  <TitlesOfParts>
    <vt:vector size="53"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964</cp:revision>
  <cp:lastPrinted>2018-01-16T21:42:59Z</cp:lastPrinted>
  <dcterms:created xsi:type="dcterms:W3CDTF">2016-10-06T14:52:02Z</dcterms:created>
  <dcterms:modified xsi:type="dcterms:W3CDTF">2023-07-17T20:28:52Z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