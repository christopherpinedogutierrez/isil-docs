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6.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7.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8.xml" ContentType="application/vnd.openxmlformats-officedocument.presentationml.tags+xml"/>
  <Override PartName="/ppt/notesSlides/notesSlide59.xml" ContentType="application/vnd.openxmlformats-officedocument.presentationml.notesSlide+xml"/>
  <Override PartName="/ppt/tags/tag9.xml" ContentType="application/vnd.openxmlformats-officedocument.presentationml.tags+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0" r:id="rId2"/>
  </p:sldMasterIdLst>
  <p:notesMasterIdLst>
    <p:notesMasterId r:id="rId63"/>
  </p:notesMasterIdLst>
  <p:handoutMasterIdLst>
    <p:handoutMasterId r:id="rId64"/>
  </p:handoutMasterIdLst>
  <p:sldIdLst>
    <p:sldId id="418" r:id="rId3"/>
    <p:sldId id="337" r:id="rId4"/>
    <p:sldId id="315" r:id="rId5"/>
    <p:sldId id="421" r:id="rId6"/>
    <p:sldId id="424" r:id="rId7"/>
    <p:sldId id="427" r:id="rId8"/>
    <p:sldId id="428" r:id="rId9"/>
    <p:sldId id="429" r:id="rId10"/>
    <p:sldId id="430" r:id="rId11"/>
    <p:sldId id="431" r:id="rId12"/>
    <p:sldId id="432" r:id="rId13"/>
    <p:sldId id="433" r:id="rId14"/>
    <p:sldId id="434" r:id="rId15"/>
    <p:sldId id="435" r:id="rId16"/>
    <p:sldId id="436" r:id="rId17"/>
    <p:sldId id="437" r:id="rId18"/>
    <p:sldId id="438" r:id="rId19"/>
    <p:sldId id="439" r:id="rId20"/>
    <p:sldId id="440" r:id="rId21"/>
    <p:sldId id="441" r:id="rId22"/>
    <p:sldId id="442" r:id="rId23"/>
    <p:sldId id="443" r:id="rId24"/>
    <p:sldId id="444" r:id="rId25"/>
    <p:sldId id="445" r:id="rId26"/>
    <p:sldId id="446" r:id="rId27"/>
    <p:sldId id="447" r:id="rId28"/>
    <p:sldId id="448" r:id="rId29"/>
    <p:sldId id="449" r:id="rId30"/>
    <p:sldId id="450" r:id="rId31"/>
    <p:sldId id="451" r:id="rId32"/>
    <p:sldId id="452" r:id="rId33"/>
    <p:sldId id="453" r:id="rId34"/>
    <p:sldId id="454" r:id="rId35"/>
    <p:sldId id="455" r:id="rId36"/>
    <p:sldId id="456" r:id="rId37"/>
    <p:sldId id="457" r:id="rId38"/>
    <p:sldId id="458" r:id="rId39"/>
    <p:sldId id="459" r:id="rId40"/>
    <p:sldId id="460" r:id="rId41"/>
    <p:sldId id="422" r:id="rId42"/>
    <p:sldId id="467" r:id="rId43"/>
    <p:sldId id="461" r:id="rId44"/>
    <p:sldId id="462" r:id="rId45"/>
    <p:sldId id="463" r:id="rId46"/>
    <p:sldId id="464" r:id="rId47"/>
    <p:sldId id="465" r:id="rId48"/>
    <p:sldId id="466" r:id="rId49"/>
    <p:sldId id="476" r:id="rId50"/>
    <p:sldId id="423" r:id="rId51"/>
    <p:sldId id="477" r:id="rId52"/>
    <p:sldId id="468" r:id="rId53"/>
    <p:sldId id="469" r:id="rId54"/>
    <p:sldId id="470" r:id="rId55"/>
    <p:sldId id="471" r:id="rId56"/>
    <p:sldId id="472" r:id="rId57"/>
    <p:sldId id="473" r:id="rId58"/>
    <p:sldId id="474" r:id="rId59"/>
    <p:sldId id="475" r:id="rId60"/>
    <p:sldId id="303" r:id="rId61"/>
    <p:sldId id="305" r:id="rId62"/>
  </p:sldIdLst>
  <p:sldSz cx="9144000" cy="5715000" type="screen16x10"/>
  <p:notesSz cx="6797675" cy="9926638"/>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8ED5"/>
    <a:srgbClr val="48C2BB"/>
    <a:srgbClr val="1F85A6"/>
    <a:srgbClr val="15BDAD"/>
    <a:srgbClr val="F1D156"/>
    <a:srgbClr val="276B7D"/>
    <a:srgbClr val="F1FDC3"/>
    <a:srgbClr val="9CC606"/>
    <a:srgbClr val="E2F6F1"/>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39" autoAdjust="0"/>
    <p:restoredTop sz="90172" autoAdjust="0"/>
  </p:normalViewPr>
  <p:slideViewPr>
    <p:cSldViewPr snapToGrid="0" snapToObjects="1" showGuides="1">
      <p:cViewPr varScale="1">
        <p:scale>
          <a:sx n="94" d="100"/>
          <a:sy n="94" d="100"/>
        </p:scale>
        <p:origin x="1416" y="8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notesViewPr>
    <p:cSldViewPr snapToGrid="0" snapToObjects="1" showGuides="1">
      <p:cViewPr varScale="1">
        <p:scale>
          <a:sx n="48" d="100"/>
          <a:sy n="48" d="100"/>
        </p:scale>
        <p:origin x="2940" y="6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26/06/2023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26/06/2023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competencias fundamentales descritas aquí no son exclusivas del análisis empresarial.</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52636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utilizan el pensamiento analítico y la resolución de problemas a medida que facilitan la comprensión de las situaciones, el valor de los cambios propuestos y otras ideas complejas.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3557726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pueden ser efectivos en promover el pensamiento creativo en otros identificando y proponiendo alternativas, </a:t>
            </a:r>
            <a:r>
              <a:rPr lang="es-ES" dirty="0" smtClean="0"/>
              <a:t>haciendo </a:t>
            </a:r>
            <a:r>
              <a:rPr lang="es-ES" dirty="0"/>
              <a:t>preguntas y cuestionando suposiciones.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1896680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3927868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Proceso de adquirir conocimientos o habilidades.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deben poder describir su nivel de comprensión del dominio comercial y ser capaces de aplicar ese nivel de comprensión para determinar qué actividades de análisis deben realizarse en una situación determinada.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301828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Definir un problema implica asegurarse de que todas las partes interesadas entiendan claramente la naturaleza del problema y cualquier problema subyacente.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439456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Por ejemplo, sólo porque un </a:t>
            </a:r>
            <a:r>
              <a:rPr lang="es-ES" dirty="0" smtClean="0"/>
              <a:t>analista de negocio sabe </a:t>
            </a:r>
            <a:r>
              <a:rPr lang="es-ES" dirty="0"/>
              <a:t>que un cliente puede devolver un artículo que compró no le da al analista de negocios una imagen completa. El analista debe analizar el impacto que tiene la devolución en elementos como el inventario, las finanzas y la capacitación de los empleados de la tienda.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2885723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spcAft>
                <a:spcPts val="600"/>
              </a:spcAft>
            </a:pPr>
            <a:r>
              <a:rPr lang="es-ES" dirty="0"/>
              <a:t>Implica comprender y conectar información y patrones que pueden no estar obviamente relacionados.</a:t>
            </a: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48705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imágenes representan esta información y sus complejidades, lo que permite a los </a:t>
            </a:r>
            <a:r>
              <a:rPr lang="es-ES" i="1" dirty="0"/>
              <a:t>stakeholders </a:t>
            </a:r>
            <a:r>
              <a:rPr lang="es-ES" dirty="0"/>
              <a:t>y al público aprender más rápidamente, procesar la información y conectar puntos de cada uno de sus contextos.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974970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Las características de comportamiento no son exclusivas del análisis empresarial, pero se ha descubierto que aumentan la eficacia personal en la práctica del análisis </a:t>
            </a:r>
            <a:r>
              <a:rPr lang="es-ES" dirty="0" smtClean="0"/>
              <a:t>empresarial.</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4029956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ética requiere una comprensión y un enfoque en la equidad, la consideración y el comportamiento moral a través de actividades y relaciones de análisis comercial.</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616579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Implica perseguir todas las pistas y cabos sueltos para satisfacer plenamente las necesidades de los </a:t>
            </a:r>
            <a:r>
              <a:rPr lang="es-ES" i="1" dirty="0"/>
              <a:t>stakeholders. </a:t>
            </a:r>
            <a:endParaRPr lang="es-PE" i="1"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872412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Es la percepción de que uno es digno de confianza.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680550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La organización y la gestión del tiempo implican la capacidad de priorizar tareas, realizarlas de manera eficiente y administrar el tiempo de manera efectiva.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están constantemente adquiriendo y acumulando cantidades significativas de información, y esta información debe organizarse y almacenarse de manera eficiente para que pueda ser utilizada y reutilizada en una fecha posterior.</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397880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caso de que las metas y objetivos de la organización cambien, los analistas de negocios responden aceptando los cambios y adaptándose a un nuevo mandato.</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a veces tienen que modificar la forma en que interactúan con los </a:t>
            </a:r>
            <a:r>
              <a:rPr lang="es-ES" i="1" dirty="0"/>
              <a:t>stakeholders</a:t>
            </a:r>
            <a:r>
              <a:rPr lang="es-ES" dirty="0"/>
              <a:t>, como la forma en que realizan las entrevistas o la forma en que facilitan los talleres.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279265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667491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la capacidad de comprender las necesidades empresariales utilizando la experiencia y el conocimiento obtenido de otras situaciones.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331996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31978423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2819002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3442687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32700528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La comunicación es el acto de un remitente que transmite información a un receptor en un método que entrega el significado que el remitente pretendía. </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a:t>La planificación de una comunicación efectiva incluye que el remitente revise la información que se conoce sobre el receptor.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42274905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Permite la transferencia eficiente de información, incluidas señales emocionales y otras señales no verbales.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 Cuando el remitente puede ver al receptor, el receptor está respondiendo y tanto el remitente como el receptor están entablando un diálogo, aunque es posible que el receptor no esté hablando verbalmente. El seguimiento de la comunicación no verbal del receptor permite al emisor considerar la posibilidad de adaptar el mensaje para el receptor.</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40480757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Se cree que la comunicación no verbal transmite mucho más significado que las palabras solas. </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a:t>La comunicación no verbal comienza inmediatamente cuando una persona puede ver a otra.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129186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spcAft>
                <a:spcPts val="600"/>
              </a:spcAft>
            </a:pPr>
            <a:r>
              <a:rPr lang="es-ES" dirty="0"/>
              <a:t>La comunicación escrita efectiva requiere un vocabulario amplio, una gran comprensión de la gramática y el estilo, y una comprensión de los términos que comprenderá la audiencia. </a:t>
            </a:r>
          </a:p>
          <a:p>
            <a:pPr>
              <a:spcAft>
                <a:spcPts val="600"/>
              </a:spcAft>
            </a:pPr>
            <a:r>
              <a:rPr lang="es-ES" dirty="0"/>
              <a:t>La comunicación escrita tiene el potencial de transmitir una gran cantidad de información; sin embargo, transmitir información de manera efectiva es una habilidad que debe desarrollarse.</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11497533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341529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están en una posición única para facilitar la comunicación con los </a:t>
            </a:r>
            <a:r>
              <a:rPr lang="es-ES" i="1" dirty="0"/>
              <a:t>stakeholders</a:t>
            </a:r>
            <a:r>
              <a:rPr lang="es-ES" dirty="0"/>
              <a:t>, proporcionar liderazgo, fomentar la comprensión del valor de la solución y promover el apoyo de los </a:t>
            </a:r>
            <a:r>
              <a:rPr lang="es-ES" i="1" dirty="0"/>
              <a:t>stakeholders</a:t>
            </a:r>
            <a:r>
              <a:rPr lang="es-ES" dirty="0"/>
              <a:t> a los cambios propuestos.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34124361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36751834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35642007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Cuando los miembros del equipo fomentan activamente un entorno para una dinámica de equipo positiva y de confianza, las decisiones difíciles y los desafíos se vuelven menos complicados.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resolución de conflictos requiere que el equipo se concentre en examinar las posiciones, suposiciones, observaciones y expectativas de todos los miembros del equipo.</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28042720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39395168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el proceso de guiar a otros a adquirir conocimientos. Los analistas de negocio son responsables de confirmar que la información comunicada ha sido </a:t>
            </a:r>
            <a:r>
              <a:rPr lang="es-ES" dirty="0" smtClean="0"/>
              <a:t>entendida </a:t>
            </a:r>
            <a:r>
              <a:rPr lang="es-ES" dirty="0"/>
              <a:t>por los interesados.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38249265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documentación de requisitos a menudo se desarrolla utilizando herramientas de procesamiento de texto, mientras que el proceso de desarrollo de requisitos comerciales puede requerir el uso de herramientas de creación de prototipos y simulación, así como herramientas especializadas para modelado y diagramación.</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676926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42601402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10356088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herramientas de comunicación se utilizan para planificar y completar tareas relacionadas con interacciones conversacionales e interacciones colaborativas.</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28316857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34698702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16087152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10695190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18939976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21744376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21412629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887663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21623592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18277130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3732724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50</a:t>
            </a:fld>
            <a:endParaRPr lang="es-PE"/>
          </a:p>
        </p:txBody>
      </p:sp>
    </p:spTree>
    <p:extLst>
      <p:ext uri="{BB962C8B-B14F-4D97-AF65-F5344CB8AC3E}">
        <p14:creationId xmlns:p14="http://schemas.microsoft.com/office/powerpoint/2010/main" val="3742838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51</a:t>
            </a:fld>
            <a:endParaRPr lang="es-PE"/>
          </a:p>
        </p:txBody>
      </p:sp>
    </p:spTree>
    <p:extLst>
      <p:ext uri="{BB962C8B-B14F-4D97-AF65-F5344CB8AC3E}">
        <p14:creationId xmlns:p14="http://schemas.microsoft.com/office/powerpoint/2010/main" val="7266948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52</a:t>
            </a:fld>
            <a:endParaRPr lang="es-PE"/>
          </a:p>
        </p:txBody>
      </p:sp>
    </p:spTree>
    <p:extLst>
      <p:ext uri="{BB962C8B-B14F-4D97-AF65-F5344CB8AC3E}">
        <p14:creationId xmlns:p14="http://schemas.microsoft.com/office/powerpoint/2010/main" val="25062832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53</a:t>
            </a:fld>
            <a:endParaRPr lang="es-PE"/>
          </a:p>
        </p:txBody>
      </p:sp>
    </p:spTree>
    <p:extLst>
      <p:ext uri="{BB962C8B-B14F-4D97-AF65-F5344CB8AC3E}">
        <p14:creationId xmlns:p14="http://schemas.microsoft.com/office/powerpoint/2010/main" val="38433100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54</a:t>
            </a:fld>
            <a:endParaRPr lang="es-PE"/>
          </a:p>
        </p:txBody>
      </p:sp>
    </p:spTree>
    <p:extLst>
      <p:ext uri="{BB962C8B-B14F-4D97-AF65-F5344CB8AC3E}">
        <p14:creationId xmlns:p14="http://schemas.microsoft.com/office/powerpoint/2010/main" val="34895765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55</a:t>
            </a:fld>
            <a:endParaRPr lang="es-PE"/>
          </a:p>
        </p:txBody>
      </p:sp>
    </p:spTree>
    <p:extLst>
      <p:ext uri="{BB962C8B-B14F-4D97-AF65-F5344CB8AC3E}">
        <p14:creationId xmlns:p14="http://schemas.microsoft.com/office/powerpoint/2010/main" val="9127882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56</a:t>
            </a:fld>
            <a:endParaRPr lang="es-PE"/>
          </a:p>
        </p:txBody>
      </p:sp>
    </p:spTree>
    <p:extLst>
      <p:ext uri="{BB962C8B-B14F-4D97-AF65-F5344CB8AC3E}">
        <p14:creationId xmlns:p14="http://schemas.microsoft.com/office/powerpoint/2010/main" val="27780445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57</a:t>
            </a:fld>
            <a:endParaRPr lang="es-PE"/>
          </a:p>
        </p:txBody>
      </p:sp>
    </p:spTree>
    <p:extLst>
      <p:ext uri="{BB962C8B-B14F-4D97-AF65-F5344CB8AC3E}">
        <p14:creationId xmlns:p14="http://schemas.microsoft.com/office/powerpoint/2010/main" val="16086638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58</a:t>
            </a:fld>
            <a:endParaRPr lang="es-PE"/>
          </a:p>
        </p:txBody>
      </p:sp>
    </p:spTree>
    <p:extLst>
      <p:ext uri="{BB962C8B-B14F-4D97-AF65-F5344CB8AC3E}">
        <p14:creationId xmlns:p14="http://schemas.microsoft.com/office/powerpoint/2010/main" val="2971944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228600" indent="-228600" rtl="0">
              <a:buFont typeface="+mj-lt"/>
              <a:buAutoNum type="arabicPeriod"/>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59</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60</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image" Target="../media/image6.sv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microsoft.com/office/2007/relationships/hdphoto" Target="../media/hdphoto2.wd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Master" Target="../slideMasters/slideMaster2.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Cuadr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93600"/>
            <a:ext cx="8207375" cy="4068000"/>
          </a:xfrm>
          <a:prstGeom prst="rect">
            <a:avLst/>
          </a:prstGeom>
        </p:spPr>
        <p:txBody>
          <a:bodyPr anchor="ctr"/>
          <a:lstStyle>
            <a:lvl1pPr marL="0" indent="0" algn="ctr">
              <a:buNone/>
              <a:defRPr/>
            </a:lvl1pPr>
          </a:lstStyle>
          <a:p>
            <a:endParaRPr lang="es-PE"/>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ABA448E1-A688-00A1-4209-9A9B21FA2758}"/>
              </a:ext>
            </a:extLst>
          </p:cNvPr>
          <p:cNvSpPr>
            <a:spLocks noGrp="1"/>
          </p:cNvSpPr>
          <p:nvPr>
            <p:ph type="body" sz="quarter" idx="14" hasCustomPrompt="1"/>
          </p:nvPr>
        </p:nvSpPr>
        <p:spPr>
          <a:xfrm>
            <a:off x="468313" y="804863"/>
            <a:ext cx="8207375" cy="354012"/>
          </a:xfrm>
          <a:prstGeom prst="rect">
            <a:avLst/>
          </a:prstGeom>
        </p:spPr>
        <p:txBody>
          <a:bodyPr/>
          <a:lstStyle>
            <a:lvl1pPr marL="0" indent="0">
              <a:buNone/>
              <a:defRPr sz="1600" b="1"/>
            </a:lvl1pPr>
          </a:lstStyle>
          <a:p>
            <a:pPr lvl="0"/>
            <a:r>
              <a:rPr lang="es-ES" dirty="0"/>
              <a:t>HAGA CLIC PARA MODIFICAR LOS ESTILOS DE TEXTO</a:t>
            </a:r>
            <a:endParaRPr lang="es-PE" dirty="0"/>
          </a:p>
        </p:txBody>
      </p:sp>
    </p:spTree>
    <p:extLst>
      <p:ext uri="{BB962C8B-B14F-4D97-AF65-F5344CB8AC3E}">
        <p14:creationId xmlns:p14="http://schemas.microsoft.com/office/powerpoint/2010/main" val="415291917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Video">
    <p:spTree>
      <p:nvGrpSpPr>
        <p:cNvPr id="1" name=""/>
        <p:cNvGrpSpPr/>
        <p:nvPr/>
      </p:nvGrpSpPr>
      <p:grpSpPr>
        <a:xfrm>
          <a:off x="0" y="0"/>
          <a:ext cx="0" cy="0"/>
          <a:chOff x="0" y="0"/>
          <a:chExt cx="0" cy="0"/>
        </a:xfrm>
      </p:grpSpPr>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pic>
        <p:nvPicPr>
          <p:cNvPr id="5" name="Imagen 4">
            <a:extLst>
              <a:ext uri="{FF2B5EF4-FFF2-40B4-BE49-F238E27FC236}">
                <a16:creationId xmlns:a16="http://schemas.microsoft.com/office/drawing/2014/main" id="{2F05A09E-B877-4C8E-9295-4D94256D199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4740"/>
          <a:stretch/>
        </p:blipFill>
        <p:spPr>
          <a:xfrm>
            <a:off x="1508192" y="1059846"/>
            <a:ext cx="6127629" cy="3944875"/>
          </a:xfrm>
          <a:prstGeom prst="rect">
            <a:avLst/>
          </a:prstGeom>
        </p:spPr>
      </p:pic>
      <p:pic>
        <p:nvPicPr>
          <p:cNvPr id="6" name="Imagen 5">
            <a:extLst>
              <a:ext uri="{FF2B5EF4-FFF2-40B4-BE49-F238E27FC236}">
                <a16:creationId xmlns:a16="http://schemas.microsoft.com/office/drawing/2014/main" id="{9C5FFDCC-97A2-4E0B-A99E-935A674BCCCE}"/>
              </a:ext>
            </a:extLst>
          </p:cNvPr>
          <p:cNvPicPr>
            <a:picLocks noChangeAspect="1"/>
          </p:cNvPicPr>
          <p:nvPr userDrawn="1"/>
        </p:nvPicPr>
        <p:blipFill>
          <a:blip r:embed="rId3"/>
          <a:stretch>
            <a:fillRect/>
          </a:stretch>
        </p:blipFill>
        <p:spPr>
          <a:xfrm>
            <a:off x="1978387" y="4710606"/>
            <a:ext cx="201966" cy="161657"/>
          </a:xfrm>
          <a:prstGeom prst="rect">
            <a:avLst/>
          </a:prstGeom>
        </p:spPr>
      </p:pic>
      <p:sp>
        <p:nvSpPr>
          <p:cNvPr id="8" name="Marcador de texto 6">
            <a:extLst>
              <a:ext uri="{FF2B5EF4-FFF2-40B4-BE49-F238E27FC236}">
                <a16:creationId xmlns:a16="http://schemas.microsoft.com/office/drawing/2014/main" id="{8B0C162B-5CD7-413D-8241-4E900E10B5AF}"/>
              </a:ext>
            </a:extLst>
          </p:cNvPr>
          <p:cNvSpPr>
            <a:spLocks noGrp="1"/>
          </p:cNvSpPr>
          <p:nvPr>
            <p:ph type="body" sz="quarter" idx="11"/>
          </p:nvPr>
        </p:nvSpPr>
        <p:spPr>
          <a:xfrm>
            <a:off x="2268539" y="4700775"/>
            <a:ext cx="4608512" cy="185110"/>
          </a:xfrm>
          <a:prstGeom prst="rect">
            <a:avLst/>
          </a:prstGeom>
        </p:spPr>
        <p:txBody>
          <a:bodyPr lIns="0" tIns="0" rIns="0" bIns="0" anchor="ctr"/>
          <a:lstStyle>
            <a:lvl1pPr marL="0" indent="0">
              <a:lnSpc>
                <a:spcPct val="85000"/>
              </a:lnSpc>
              <a:spcBef>
                <a:spcPts val="0"/>
              </a:spcBef>
              <a:buNone/>
              <a:defRPr sz="990" b="1"/>
            </a:lvl1pPr>
          </a:lstStyle>
          <a:p>
            <a:pPr lvl="0"/>
            <a:r>
              <a:rPr lang="es-ES" dirty="0"/>
              <a:t>Haga clic para modificar los estilos de texto del patrón</a:t>
            </a:r>
            <a:endParaRPr lang="es-PE" dirty="0"/>
          </a:p>
        </p:txBody>
      </p:sp>
      <p:sp>
        <p:nvSpPr>
          <p:cNvPr id="9" name="Marcador de texto 8">
            <a:extLst>
              <a:ext uri="{FF2B5EF4-FFF2-40B4-BE49-F238E27FC236}">
                <a16:creationId xmlns:a16="http://schemas.microsoft.com/office/drawing/2014/main" id="{902D7D47-46F2-4520-A3CF-4C88D2EAC185}"/>
              </a:ext>
            </a:extLst>
          </p:cNvPr>
          <p:cNvSpPr>
            <a:spLocks noGrp="1"/>
          </p:cNvSpPr>
          <p:nvPr>
            <p:ph type="body" sz="quarter" idx="14"/>
          </p:nvPr>
        </p:nvSpPr>
        <p:spPr>
          <a:xfrm>
            <a:off x="2268539" y="4920190"/>
            <a:ext cx="4608512" cy="185110"/>
          </a:xfrm>
          <a:prstGeom prst="rect">
            <a:avLst/>
          </a:prstGeom>
        </p:spPr>
        <p:txBody>
          <a:bodyPr lIns="0" tIns="0" rIns="0" bIns="0" anchor="ctr"/>
          <a:lstStyle>
            <a:lvl1pPr marL="0" indent="0">
              <a:spcBef>
                <a:spcPts val="0"/>
              </a:spcBef>
              <a:buNone/>
              <a:defRPr sz="810">
                <a:solidFill>
                  <a:srgbClr val="0070C0"/>
                </a:solidFill>
              </a:defRPr>
            </a:lvl1pPr>
          </a:lstStyle>
          <a:p>
            <a:pPr lvl="0"/>
            <a:r>
              <a:rPr lang="es-ES" dirty="0"/>
              <a:t>Haga clic para modificar los estilos de texto del patrón</a:t>
            </a:r>
            <a:endParaRPr lang="es-PE" dirty="0"/>
          </a:p>
        </p:txBody>
      </p:sp>
      <p:sp>
        <p:nvSpPr>
          <p:cNvPr id="10" name="Marcador de texto 10">
            <a:extLst>
              <a:ext uri="{FF2B5EF4-FFF2-40B4-BE49-F238E27FC236}">
                <a16:creationId xmlns:a16="http://schemas.microsoft.com/office/drawing/2014/main" id="{F02F04C8-1832-474E-A5AA-C095615EEFFC}"/>
              </a:ext>
            </a:extLst>
          </p:cNvPr>
          <p:cNvSpPr>
            <a:spLocks noGrp="1"/>
          </p:cNvSpPr>
          <p:nvPr>
            <p:ph type="body" sz="quarter" idx="15"/>
          </p:nvPr>
        </p:nvSpPr>
        <p:spPr>
          <a:xfrm>
            <a:off x="2268538" y="5124781"/>
            <a:ext cx="4606925" cy="185110"/>
          </a:xfrm>
          <a:prstGeom prst="rect">
            <a:avLst/>
          </a:prstGeom>
        </p:spPr>
        <p:txBody>
          <a:bodyPr lIns="0" tIns="0" rIns="0" bIns="0" anchor="ctr"/>
          <a:lstStyle>
            <a:lvl1pPr marL="0" indent="0">
              <a:spcBef>
                <a:spcPts val="0"/>
              </a:spcBef>
              <a:buNone/>
              <a:defRPr sz="810">
                <a:solidFill>
                  <a:schemeClr val="bg1">
                    <a:lumMod val="65000"/>
                  </a:schemeClr>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15683456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apo_Texto resaltado 2">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D3EA2710-DE43-4AC5-98BD-983D08F78779}"/>
              </a:ext>
            </a:extLst>
          </p:cNvPr>
          <p:cNvGrpSpPr/>
          <p:nvPr userDrawn="1"/>
        </p:nvGrpSpPr>
        <p:grpSpPr>
          <a:xfrm>
            <a:off x="4517700" y="2452269"/>
            <a:ext cx="2538738" cy="1451171"/>
            <a:chOff x="4517700" y="2452269"/>
            <a:chExt cx="2538738" cy="1451171"/>
          </a:xfrm>
        </p:grpSpPr>
        <p:grpSp>
          <p:nvGrpSpPr>
            <p:cNvPr id="5" name="Agrupar 1">
              <a:extLst>
                <a:ext uri="{FF2B5EF4-FFF2-40B4-BE49-F238E27FC236}">
                  <a16:creationId xmlns:a16="http://schemas.microsoft.com/office/drawing/2014/main" id="{51A4038E-1C94-47DA-B57D-FE658EEE39FE}"/>
                </a:ext>
              </a:extLst>
            </p:cNvPr>
            <p:cNvGrpSpPr/>
            <p:nvPr/>
          </p:nvGrpSpPr>
          <p:grpSpPr>
            <a:xfrm>
              <a:off x="4517700" y="2452269"/>
              <a:ext cx="2538738" cy="1451171"/>
              <a:chOff x="4517700" y="2452269"/>
              <a:chExt cx="2538738" cy="1451171"/>
            </a:xfrm>
          </p:grpSpPr>
          <p:pic>
            <p:nvPicPr>
              <p:cNvPr id="11" name="Imagen 10">
                <a:extLst>
                  <a:ext uri="{FF2B5EF4-FFF2-40B4-BE49-F238E27FC236}">
                    <a16:creationId xmlns:a16="http://schemas.microsoft.com/office/drawing/2014/main" id="{9F52998B-C192-4406-94C1-CFA2D68340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7700" y="2475857"/>
                <a:ext cx="559042" cy="669906"/>
              </a:xfrm>
              <a:prstGeom prst="rect">
                <a:avLst/>
              </a:prstGeom>
            </p:spPr>
          </p:pic>
          <p:pic>
            <p:nvPicPr>
              <p:cNvPr id="12" name="Imagen 11">
                <a:extLst>
                  <a:ext uri="{FF2B5EF4-FFF2-40B4-BE49-F238E27FC236}">
                    <a16:creationId xmlns:a16="http://schemas.microsoft.com/office/drawing/2014/main" id="{007CDDDE-E872-48F8-924E-A66C35FF04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2750" y="2464063"/>
                <a:ext cx="457612" cy="681700"/>
              </a:xfrm>
              <a:prstGeom prst="rect">
                <a:avLst/>
              </a:prstGeom>
            </p:spPr>
          </p:pic>
          <p:pic>
            <p:nvPicPr>
              <p:cNvPr id="13" name="Imagen 12">
                <a:extLst>
                  <a:ext uri="{FF2B5EF4-FFF2-40B4-BE49-F238E27FC236}">
                    <a16:creationId xmlns:a16="http://schemas.microsoft.com/office/drawing/2014/main" id="{38898B25-C30E-4750-9112-A82D59E41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06369" y="2473498"/>
                <a:ext cx="559042" cy="672265"/>
              </a:xfrm>
              <a:prstGeom prst="rect">
                <a:avLst/>
              </a:prstGeom>
            </p:spPr>
          </p:pic>
          <p:pic>
            <p:nvPicPr>
              <p:cNvPr id="14" name="Imagen 13">
                <a:extLst>
                  <a:ext uri="{FF2B5EF4-FFF2-40B4-BE49-F238E27FC236}">
                    <a16:creationId xmlns:a16="http://schemas.microsoft.com/office/drawing/2014/main" id="{1A9B0F1C-E03D-4D5F-8EAE-6C05D362C4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51418" y="2452269"/>
                <a:ext cx="459971" cy="693494"/>
              </a:xfrm>
              <a:prstGeom prst="rect">
                <a:avLst/>
              </a:prstGeom>
            </p:spPr>
          </p:pic>
          <p:pic>
            <p:nvPicPr>
              <p:cNvPr id="15" name="Imagen 14">
                <a:extLst>
                  <a:ext uri="{FF2B5EF4-FFF2-40B4-BE49-F238E27FC236}">
                    <a16:creationId xmlns:a16="http://schemas.microsoft.com/office/drawing/2014/main" id="{4D61D5AD-FEAF-4848-A220-D80D4E5ADD79}"/>
                  </a:ext>
                </a:extLst>
              </p:cNvPr>
              <p:cNvPicPr>
                <a:picLocks noChangeAspect="1"/>
              </p:cNvPicPr>
              <p:nvPr/>
            </p:nvPicPr>
            <p:blipFill>
              <a:blip r:embed="rId8">
                <a:alphaModFix/>
                <a:extLst>
                  <a:ext uri="{28A0092B-C50C-407E-A947-70E740481C1C}">
                    <a14:useLocalDpi xmlns:a14="http://schemas.microsoft.com/office/drawing/2010/main" val="0"/>
                  </a:ext>
                </a:extLst>
              </a:blip>
              <a:stretch>
                <a:fillRect/>
              </a:stretch>
            </p:blipFill>
            <p:spPr>
              <a:xfrm>
                <a:off x="6497396" y="2494728"/>
                <a:ext cx="559042" cy="651036"/>
              </a:xfrm>
              <a:prstGeom prst="rect">
                <a:avLst/>
              </a:prstGeom>
            </p:spPr>
          </p:pic>
          <p:pic>
            <p:nvPicPr>
              <p:cNvPr id="16" name="Imagen 15">
                <a:extLst>
                  <a:ext uri="{FF2B5EF4-FFF2-40B4-BE49-F238E27FC236}">
                    <a16:creationId xmlns:a16="http://schemas.microsoft.com/office/drawing/2014/main" id="{59B62816-0B11-48A9-86FA-F8EF3B47FAC3}"/>
                  </a:ext>
                </a:extLst>
              </p:cNvPr>
              <p:cNvPicPr>
                <a:picLocks noChangeAspect="1"/>
              </p:cNvPicPr>
              <p:nvPr/>
            </p:nvPicPr>
            <p:blipFill>
              <a:blip r:embed="rId9">
                <a:alphaModFix/>
                <a:extLst>
                  <a:ext uri="{28A0092B-C50C-407E-A947-70E740481C1C}">
                    <a14:useLocalDpi xmlns:a14="http://schemas.microsoft.com/office/drawing/2010/main" val="0"/>
                  </a:ext>
                </a:extLst>
              </a:blip>
              <a:stretch>
                <a:fillRect/>
              </a:stretch>
            </p:blipFill>
            <p:spPr>
              <a:xfrm>
                <a:off x="4517700" y="3235893"/>
                <a:ext cx="559042" cy="667547"/>
              </a:xfrm>
              <a:prstGeom prst="rect">
                <a:avLst/>
              </a:prstGeom>
            </p:spPr>
          </p:pic>
        </p:grpSp>
        <p:grpSp>
          <p:nvGrpSpPr>
            <p:cNvPr id="6" name="Agrupar 2">
              <a:extLst>
                <a:ext uri="{FF2B5EF4-FFF2-40B4-BE49-F238E27FC236}">
                  <a16:creationId xmlns:a16="http://schemas.microsoft.com/office/drawing/2014/main" id="{26A408FC-5857-46BE-B57D-EECA113E171C}"/>
                </a:ext>
              </a:extLst>
            </p:cNvPr>
            <p:cNvGrpSpPr/>
            <p:nvPr/>
          </p:nvGrpSpPr>
          <p:grpSpPr>
            <a:xfrm>
              <a:off x="5071634" y="3207587"/>
              <a:ext cx="1975526" cy="695853"/>
              <a:chOff x="5071634" y="3207587"/>
              <a:chExt cx="1975526" cy="695853"/>
            </a:xfrm>
            <a:noFill/>
          </p:grpSpPr>
          <p:pic>
            <p:nvPicPr>
              <p:cNvPr id="7" name="Imagen 6">
                <a:extLst>
                  <a:ext uri="{FF2B5EF4-FFF2-40B4-BE49-F238E27FC236}">
                    <a16:creationId xmlns:a16="http://schemas.microsoft.com/office/drawing/2014/main" id="{5446D83F-6599-46DC-A608-D746FF3EE62D}"/>
                  </a:ext>
                </a:extLst>
              </p:cNvPr>
              <p:cNvPicPr>
                <a:picLocks noChangeAspect="1"/>
              </p:cNvPicPr>
              <p:nvPr/>
            </p:nvPicPr>
            <p:blipFill>
              <a:blip r:embed="rId10">
                <a:alphaModFix/>
                <a:extLst>
                  <a:ext uri="{BEBA8EAE-BF5A-486C-A8C5-ECC9F3942E4B}">
                    <a14:imgProps xmlns:a14="http://schemas.microsoft.com/office/drawing/2010/main">
                      <a14:imgLayer r:embed="rId11">
                        <a14:imgEffect>
                          <a14:colorTemperature colorTemp="6100"/>
                        </a14:imgEffect>
                      </a14:imgLayer>
                    </a14:imgProps>
                  </a:ext>
                  <a:ext uri="{28A0092B-C50C-407E-A947-70E740481C1C}">
                    <a14:useLocalDpi xmlns:a14="http://schemas.microsoft.com/office/drawing/2010/main" val="0"/>
                  </a:ext>
                </a:extLst>
              </a:blip>
              <a:stretch>
                <a:fillRect/>
              </a:stretch>
            </p:blipFill>
            <p:spPr>
              <a:xfrm>
                <a:off x="5071634" y="3231175"/>
                <a:ext cx="457612" cy="672265"/>
              </a:xfrm>
              <a:prstGeom prst="rect">
                <a:avLst/>
              </a:prstGeom>
              <a:grpFill/>
            </p:spPr>
          </p:pic>
          <p:pic>
            <p:nvPicPr>
              <p:cNvPr id="8" name="Imagen 7">
                <a:extLst>
                  <a:ext uri="{FF2B5EF4-FFF2-40B4-BE49-F238E27FC236}">
                    <a16:creationId xmlns:a16="http://schemas.microsoft.com/office/drawing/2014/main" id="{E45C34FF-6418-474F-8615-44616793CB16}"/>
                  </a:ext>
                </a:extLst>
              </p:cNvPr>
              <p:cNvPicPr>
                <a:picLocks noChangeAspect="1"/>
              </p:cNvPicPr>
              <p:nvPr/>
            </p:nvPicPr>
            <p:blipFill>
              <a:blip r:embed="rId12">
                <a:alphaModFix/>
                <a:extLst>
                  <a:ext uri="{28A0092B-C50C-407E-A947-70E740481C1C}">
                    <a14:useLocalDpi xmlns:a14="http://schemas.microsoft.com/office/drawing/2010/main" val="0"/>
                  </a:ext>
                </a:extLst>
              </a:blip>
              <a:stretch>
                <a:fillRect/>
              </a:stretch>
            </p:blipFill>
            <p:spPr>
              <a:xfrm>
                <a:off x="5524138" y="3231175"/>
                <a:ext cx="559042" cy="672265"/>
              </a:xfrm>
              <a:prstGeom prst="rect">
                <a:avLst/>
              </a:prstGeom>
              <a:grpFill/>
            </p:spPr>
          </p:pic>
          <p:pic>
            <p:nvPicPr>
              <p:cNvPr id="9" name="Imagen 8">
                <a:extLst>
                  <a:ext uri="{FF2B5EF4-FFF2-40B4-BE49-F238E27FC236}">
                    <a16:creationId xmlns:a16="http://schemas.microsoft.com/office/drawing/2014/main" id="{65422EA9-DDD4-4DBF-B612-CA9A573FBFAC}"/>
                  </a:ext>
                </a:extLst>
              </p:cNvPr>
              <p:cNvPicPr>
                <a:picLocks noChangeAspect="1"/>
              </p:cNvPicPr>
              <p:nvPr/>
            </p:nvPicPr>
            <p:blipFill>
              <a:blip r:embed="rId13">
                <a:alphaModFix/>
                <a:extLst>
                  <a:ext uri="{28A0092B-C50C-407E-A947-70E740481C1C}">
                    <a14:useLocalDpi xmlns:a14="http://schemas.microsoft.com/office/drawing/2010/main" val="0"/>
                  </a:ext>
                </a:extLst>
              </a:blip>
              <a:stretch>
                <a:fillRect/>
              </a:stretch>
            </p:blipFill>
            <p:spPr>
              <a:xfrm>
                <a:off x="6078072" y="3228816"/>
                <a:ext cx="514224" cy="674624"/>
              </a:xfrm>
              <a:prstGeom prst="rect">
                <a:avLst/>
              </a:prstGeom>
              <a:grpFill/>
            </p:spPr>
          </p:pic>
          <p:pic>
            <p:nvPicPr>
              <p:cNvPr id="10" name="Imagen 9">
                <a:extLst>
                  <a:ext uri="{FF2B5EF4-FFF2-40B4-BE49-F238E27FC236}">
                    <a16:creationId xmlns:a16="http://schemas.microsoft.com/office/drawing/2014/main" id="{D225D732-C489-4626-9897-24934CF2AFCD}"/>
                  </a:ext>
                </a:extLst>
              </p:cNvPr>
              <p:cNvPicPr>
                <a:picLocks noChangeAspect="1"/>
              </p:cNvPicPr>
              <p:nvPr/>
            </p:nvPicPr>
            <p:blipFill>
              <a:blip r:embed="rId14">
                <a:alphaModFix/>
                <a:extLst>
                  <a:ext uri="{28A0092B-C50C-407E-A947-70E740481C1C}">
                    <a14:useLocalDpi xmlns:a14="http://schemas.microsoft.com/office/drawing/2010/main" val="0"/>
                  </a:ext>
                </a:extLst>
              </a:blip>
              <a:stretch>
                <a:fillRect/>
              </a:stretch>
            </p:blipFill>
            <p:spPr>
              <a:xfrm>
                <a:off x="6587189" y="3207587"/>
                <a:ext cx="459971" cy="695853"/>
              </a:xfrm>
              <a:prstGeom prst="rect">
                <a:avLst/>
              </a:prstGeom>
              <a:grpFill/>
            </p:spPr>
          </p:pic>
        </p:grpSp>
      </p:grpSp>
      <p:sp>
        <p:nvSpPr>
          <p:cNvPr id="18" name="Marcador de texto 17">
            <a:extLst>
              <a:ext uri="{FF2B5EF4-FFF2-40B4-BE49-F238E27FC236}">
                <a16:creationId xmlns:a16="http://schemas.microsoft.com/office/drawing/2014/main" id="{2AE257CD-A6EB-45FD-BFA6-8E6BACB2D503}"/>
              </a:ext>
            </a:extLst>
          </p:cNvPr>
          <p:cNvSpPr>
            <a:spLocks noGrp="1"/>
          </p:cNvSpPr>
          <p:nvPr>
            <p:ph type="body" sz="quarter" idx="10"/>
          </p:nvPr>
        </p:nvSpPr>
        <p:spPr>
          <a:xfrm>
            <a:off x="1215342" y="2068444"/>
            <a:ext cx="2687959" cy="1834995"/>
          </a:xfrm>
          <a:prstGeom prst="rect">
            <a:avLst/>
          </a:prstGeom>
        </p:spPr>
        <p:txBody>
          <a:bodyPr/>
          <a:lstStyle>
            <a:lvl1pPr marL="0" indent="0" algn="r">
              <a:lnSpc>
                <a:spcPct val="100000"/>
              </a:lnSpc>
              <a:spcBef>
                <a:spcPts val="0"/>
              </a:spcBef>
              <a:buNone/>
              <a:defRPr sz="2000">
                <a:solidFill>
                  <a:schemeClr val="bg1"/>
                </a:solidFill>
              </a:defRPr>
            </a:lvl1pPr>
          </a:lstStyle>
          <a:p>
            <a:pPr lvl="0"/>
            <a:r>
              <a:rPr lang="es-ES" dirty="0"/>
              <a:t>Haga clic para modificar los estilos de texto del patrón</a:t>
            </a:r>
            <a:endParaRPr lang="es-PE" dirty="0"/>
          </a:p>
        </p:txBody>
      </p:sp>
      <p:sp>
        <p:nvSpPr>
          <p:cNvPr id="20" name="Marcador de texto 19">
            <a:extLst>
              <a:ext uri="{FF2B5EF4-FFF2-40B4-BE49-F238E27FC236}">
                <a16:creationId xmlns:a16="http://schemas.microsoft.com/office/drawing/2014/main" id="{BD961469-2370-4112-BE08-BF6D41E8D8ED}"/>
              </a:ext>
            </a:extLst>
          </p:cNvPr>
          <p:cNvSpPr>
            <a:spLocks noGrp="1"/>
          </p:cNvSpPr>
          <p:nvPr>
            <p:ph type="body" sz="quarter" idx="11"/>
          </p:nvPr>
        </p:nvSpPr>
        <p:spPr>
          <a:xfrm>
            <a:off x="1215342" y="1366700"/>
            <a:ext cx="2687959" cy="693738"/>
          </a:xfrm>
          <a:prstGeom prst="rect">
            <a:avLst/>
          </a:prstGeom>
        </p:spPr>
        <p:txBody>
          <a:bodyPr anchor="b"/>
          <a:lstStyle>
            <a:lvl1pPr marL="0" indent="0" algn="r">
              <a:lnSpc>
                <a:spcPct val="85000"/>
              </a:lnSpc>
              <a:spcBef>
                <a:spcPts val="0"/>
              </a:spcBef>
              <a:buNone/>
              <a:defRPr sz="3000" b="1">
                <a:solidFill>
                  <a:srgbClr val="F1D15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161614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Texto resumen">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2AE257CD-A6EB-45FD-BFA6-8E6BACB2D503}"/>
              </a:ext>
            </a:extLst>
          </p:cNvPr>
          <p:cNvSpPr>
            <a:spLocks noGrp="1"/>
          </p:cNvSpPr>
          <p:nvPr>
            <p:ph type="body" sz="quarter" idx="10"/>
          </p:nvPr>
        </p:nvSpPr>
        <p:spPr>
          <a:xfrm>
            <a:off x="1215342" y="2068444"/>
            <a:ext cx="2687959" cy="1834995"/>
          </a:xfrm>
          <a:prstGeom prst="rect">
            <a:avLst/>
          </a:prstGeom>
        </p:spPr>
        <p:txBody>
          <a:bodyPr/>
          <a:lstStyle>
            <a:lvl1pPr marL="0" indent="0" algn="r">
              <a:lnSpc>
                <a:spcPct val="100000"/>
              </a:lnSpc>
              <a:spcBef>
                <a:spcPts val="0"/>
              </a:spcBef>
              <a:buNone/>
              <a:defRPr sz="2000">
                <a:solidFill>
                  <a:schemeClr val="bg1"/>
                </a:solidFill>
              </a:defRPr>
            </a:lvl1pPr>
          </a:lstStyle>
          <a:p>
            <a:pPr lvl="0"/>
            <a:r>
              <a:rPr lang="es-ES" dirty="0"/>
              <a:t>Haga clic para modificar los estilos de texto del patrón</a:t>
            </a:r>
            <a:endParaRPr lang="es-PE" dirty="0"/>
          </a:p>
        </p:txBody>
      </p:sp>
      <p:sp>
        <p:nvSpPr>
          <p:cNvPr id="20" name="Marcador de texto 19">
            <a:extLst>
              <a:ext uri="{FF2B5EF4-FFF2-40B4-BE49-F238E27FC236}">
                <a16:creationId xmlns:a16="http://schemas.microsoft.com/office/drawing/2014/main" id="{BD961469-2370-4112-BE08-BF6D41E8D8ED}"/>
              </a:ext>
            </a:extLst>
          </p:cNvPr>
          <p:cNvSpPr>
            <a:spLocks noGrp="1"/>
          </p:cNvSpPr>
          <p:nvPr>
            <p:ph type="body" sz="quarter" idx="11"/>
          </p:nvPr>
        </p:nvSpPr>
        <p:spPr>
          <a:xfrm>
            <a:off x="1215342" y="1366700"/>
            <a:ext cx="2687959" cy="693738"/>
          </a:xfrm>
          <a:prstGeom prst="rect">
            <a:avLst/>
          </a:prstGeom>
        </p:spPr>
        <p:txBody>
          <a:bodyPr anchor="b"/>
          <a:lstStyle>
            <a:lvl1pPr marL="0" indent="0" algn="r">
              <a:lnSpc>
                <a:spcPct val="85000"/>
              </a:lnSpc>
              <a:spcBef>
                <a:spcPts val="0"/>
              </a:spcBef>
              <a:buNone/>
              <a:defRPr sz="3000" b="1">
                <a:solidFill>
                  <a:srgbClr val="F1D156"/>
                </a:solidFill>
              </a:defRPr>
            </a:lvl1pPr>
          </a:lstStyle>
          <a:p>
            <a:pPr lvl="0"/>
            <a:r>
              <a:rPr lang="es-ES" dirty="0"/>
              <a:t>Haga clic para modificar los estilos de texto del patrón</a:t>
            </a:r>
            <a:endParaRPr lang="es-PE" dirty="0"/>
          </a:p>
        </p:txBody>
      </p:sp>
      <p:pic>
        <p:nvPicPr>
          <p:cNvPr id="3" name="Imagen 2">
            <a:extLst>
              <a:ext uri="{FF2B5EF4-FFF2-40B4-BE49-F238E27FC236}">
                <a16:creationId xmlns:a16="http://schemas.microsoft.com/office/drawing/2014/main" id="{79DA36D5-2A7C-44BC-B24C-8FF05B909516}"/>
              </a:ext>
            </a:extLst>
          </p:cNvPr>
          <p:cNvPicPr>
            <a:picLocks noChangeAspect="1"/>
          </p:cNvPicPr>
          <p:nvPr userDrawn="1"/>
        </p:nvPicPr>
        <p:blipFill>
          <a:blip r:embed="rId4"/>
          <a:stretch>
            <a:fillRect/>
          </a:stretch>
        </p:blipFill>
        <p:spPr>
          <a:xfrm>
            <a:off x="4142284" y="2383172"/>
            <a:ext cx="3485432" cy="948656"/>
          </a:xfrm>
          <a:prstGeom prst="rect">
            <a:avLst/>
          </a:prstGeom>
        </p:spPr>
      </p:pic>
    </p:spTree>
    <p:extLst>
      <p:ext uri="{BB962C8B-B14F-4D97-AF65-F5344CB8AC3E}">
        <p14:creationId xmlns:p14="http://schemas.microsoft.com/office/powerpoint/2010/main" val="3747782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Texto resaltado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AB6FCCD-B37C-460C-A0A6-771274CFCC19}"/>
              </a:ext>
            </a:extLst>
          </p:cNvPr>
          <p:cNvSpPr>
            <a:spLocks noGrp="1"/>
          </p:cNvSpPr>
          <p:nvPr>
            <p:ph type="body" sz="quarter" idx="10"/>
          </p:nvPr>
        </p:nvSpPr>
        <p:spPr>
          <a:xfrm>
            <a:off x="2268538" y="2372810"/>
            <a:ext cx="4653123" cy="1632031"/>
          </a:xfrm>
          <a:prstGeom prst="rect">
            <a:avLst/>
          </a:prstGeom>
        </p:spPr>
        <p:txBody>
          <a:bodyPr anchor="b"/>
          <a:lstStyle>
            <a:lvl1pPr marL="0" indent="0" algn="r">
              <a:spcBef>
                <a:spcPts val="0"/>
              </a:spcBef>
              <a:buNone/>
              <a:defRPr sz="2000" i="1">
                <a:solidFill>
                  <a:schemeClr val="tx1"/>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8542FCA-1884-4A89-909D-59816C0141C4}"/>
              </a:ext>
            </a:extLst>
          </p:cNvPr>
          <p:cNvSpPr>
            <a:spLocks noGrp="1"/>
          </p:cNvSpPr>
          <p:nvPr>
            <p:ph type="body" sz="quarter" idx="11"/>
          </p:nvPr>
        </p:nvSpPr>
        <p:spPr>
          <a:xfrm>
            <a:off x="2268537" y="4287333"/>
            <a:ext cx="4653123" cy="567883"/>
          </a:xfrm>
          <a:prstGeom prst="rect">
            <a:avLst/>
          </a:prstGeom>
        </p:spPr>
        <p:txBody>
          <a:bodyPr/>
          <a:lstStyle>
            <a:lvl1pPr marL="0" indent="0" algn="r">
              <a:lnSpc>
                <a:spcPct val="85000"/>
              </a:lnSpc>
              <a:buNone/>
              <a:defRPr sz="2000" b="1">
                <a:solidFill>
                  <a:srgbClr val="002060"/>
                </a:solidFill>
              </a:defRPr>
            </a:lvl1pPr>
          </a:lstStyle>
          <a:p>
            <a:pPr lvl="0"/>
            <a:r>
              <a:rPr lang="es-ES" dirty="0"/>
              <a:t>Haga clic para modificar los estilos de texto del patrón</a:t>
            </a:r>
            <a:endParaRPr lang="es-PE" dirty="0"/>
          </a:p>
        </p:txBody>
      </p:sp>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03</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9">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78" r:id="rId1"/>
    <p:sldLayoutId id="2147483656" r:id="rId2"/>
    <p:sldLayoutId id="2147483679" r:id="rId3"/>
    <p:sldLayoutId id="2147483680" r:id="rId4"/>
    <p:sldLayoutId id="2147483681" r:id="rId5"/>
    <p:sldLayoutId id="2147483682" r:id="rId6"/>
    <p:sldLayoutId id="2147483683"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6462837"/>
      </p:ext>
    </p:extLst>
  </p:cSld>
  <p:clrMap bg1="lt1" tx1="dk1" bg2="lt2" tx2="dk2" accent1="accent1" accent2="accent2" accent3="accent3" accent4="accent4" accent5="accent5" accent6="accent6" hlink="hlink" folHlink="folHlink"/>
  <p:sldLayoutIdLst>
    <p:sldLayoutId id="2147483662" r:id="rId1"/>
    <p:sldLayoutId id="2147483649" r:id="rId2"/>
    <p:sldLayoutId id="2147483650" r:id="rId3"/>
    <p:sldLayoutId id="2147483667" r:id="rId4"/>
    <p:sldLayoutId id="2147483669" r:id="rId5"/>
  </p:sldLayoutIdLst>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9.xml"/><Relationship Id="rId1" Type="http://schemas.openxmlformats.org/officeDocument/2006/relationships/tags" Target="../tags/tag6.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9.xml"/><Relationship Id="rId1" Type="http://schemas.openxmlformats.org/officeDocument/2006/relationships/tags" Target="../tags/tag7.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EL ANALISTA DE NEGOCIOS</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1 – UA1</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Competencias fundamentales</a:t>
            </a:r>
          </a:p>
          <a:p>
            <a:pPr>
              <a:spcBef>
                <a:spcPts val="0"/>
              </a:spcBef>
            </a:pPr>
            <a:r>
              <a:rPr lang="es-PE" dirty="0"/>
              <a:t>Rol en una fábrica de software</a:t>
            </a:r>
          </a:p>
          <a:p>
            <a:pPr>
              <a:spcBef>
                <a:spcPts val="0"/>
              </a:spcBef>
            </a:pPr>
            <a:r>
              <a:rPr lang="es-PE" dirty="0"/>
              <a:t>Rol en otras organizaciones</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03</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xfrm>
            <a:off x="503238" y="1670050"/>
            <a:ext cx="8137525" cy="2027655"/>
          </a:xfrm>
          <a:prstGeom prst="rect">
            <a:avLst/>
          </a:prstGeom>
        </p:spPr>
        <p:txBody>
          <a:bodyPr/>
          <a:lstStyle/>
          <a:p>
            <a:pPr algn="just"/>
            <a:r>
              <a:rPr lang="es-ES" dirty="0"/>
              <a:t>El objetivo de esta sesión es conocer las habilidades fundamentales requeridas por un profesional en el análisis empresarial y que les permitirán ser exitosos y adaptables.</a:t>
            </a:r>
          </a:p>
          <a:p>
            <a:pPr>
              <a:spcAft>
                <a:spcPts val="600"/>
              </a:spcAft>
            </a:pPr>
            <a:r>
              <a:rPr lang="es-ES" dirty="0"/>
              <a:t>Entonces, durante esta sesión:</a:t>
            </a:r>
          </a:p>
          <a:p>
            <a:pPr lvl="1" algn="just">
              <a:spcAft>
                <a:spcPts val="600"/>
              </a:spcAft>
            </a:pPr>
            <a:r>
              <a:rPr lang="es-ES" b="1" dirty="0"/>
              <a:t>Identificarás</a:t>
            </a:r>
            <a:r>
              <a:rPr lang="es-ES" dirty="0"/>
              <a:t> las habilidades fundamentales requeridas por un </a:t>
            </a:r>
            <a:r>
              <a:rPr lang="es-ES" dirty="0"/>
              <a:t>a</a:t>
            </a:r>
            <a:r>
              <a:rPr lang="es-ES" dirty="0" smtClean="0"/>
              <a:t>nalista </a:t>
            </a:r>
            <a:r>
              <a:rPr lang="es-ES" dirty="0"/>
              <a:t>funcional.</a:t>
            </a:r>
          </a:p>
          <a:p>
            <a:pPr lvl="1" algn="just">
              <a:spcAft>
                <a:spcPts val="600"/>
              </a:spcAft>
            </a:pPr>
            <a:r>
              <a:rPr lang="es-ES" b="1" dirty="0"/>
              <a:t>Conocerás</a:t>
            </a:r>
            <a:r>
              <a:rPr lang="es-ES" dirty="0"/>
              <a:t> cuál es el rol del analista funcional en una fábrica de software.</a:t>
            </a:r>
          </a:p>
          <a:p>
            <a:pPr lvl="1" algn="just">
              <a:spcAft>
                <a:spcPts val="600"/>
              </a:spcAft>
            </a:pPr>
            <a:r>
              <a:rPr lang="es-ES" b="1" dirty="0"/>
              <a:t>Conocerás</a:t>
            </a:r>
            <a:r>
              <a:rPr lang="es-ES" dirty="0"/>
              <a:t> </a:t>
            </a:r>
            <a:r>
              <a:rPr lang="es-ES" dirty="0" smtClean="0"/>
              <a:t>cuál </a:t>
            </a:r>
            <a:r>
              <a:rPr lang="es-ES" dirty="0"/>
              <a:t>es el rol del analista funcional en otras organizaciones.</a:t>
            </a: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88191"/>
          </a:xfrm>
        </p:spPr>
        <p:txBody>
          <a:bodyPr/>
          <a:lstStyle/>
          <a:p>
            <a:pPr marL="274638" indent="-274638">
              <a:tabLst>
                <a:tab pos="274638" algn="l"/>
              </a:tabLst>
            </a:pPr>
            <a:r>
              <a:rPr lang="es-PE" dirty="0"/>
              <a:t>/	COMPETENCIAS FUNDAMENTALES</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L</a:t>
            </a:r>
            <a:r>
              <a:rPr lang="es-PE" dirty="0" smtClean="0"/>
              <a:t>a práctica del análisis empresarial </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6"/>
            <a:ext cx="4103687" cy="3798136"/>
          </a:xfrm>
        </p:spPr>
        <p:txBody>
          <a:bodyPr/>
          <a:lstStyle/>
          <a:p>
            <a:pPr>
              <a:spcAft>
                <a:spcPts val="600"/>
              </a:spcAft>
            </a:pPr>
            <a:r>
              <a:rPr lang="es-ES" dirty="0"/>
              <a:t>Los analistas empresariales (o funcionales) exitosos y adaptables, además del conocimiento de las diferentes áreas de conocimiento necesitan desarrollar una serie de competencias que se agrupan en seis categorías:</a:t>
            </a:r>
          </a:p>
          <a:p>
            <a:pPr lvl="1">
              <a:spcAft>
                <a:spcPts val="600"/>
              </a:spcAft>
            </a:pPr>
            <a:r>
              <a:rPr lang="es-ES" dirty="0"/>
              <a:t>Pensamiento analítico y resolución de </a:t>
            </a:r>
            <a:r>
              <a:rPr lang="es-ES" dirty="0" smtClean="0"/>
              <a:t>problemas.</a:t>
            </a:r>
            <a:endParaRPr lang="es-ES" dirty="0"/>
          </a:p>
          <a:p>
            <a:pPr lvl="1">
              <a:spcAft>
                <a:spcPts val="600"/>
              </a:spcAft>
            </a:pPr>
            <a:r>
              <a:rPr lang="es-ES" dirty="0"/>
              <a:t>Características de </a:t>
            </a:r>
            <a:r>
              <a:rPr lang="es-ES" dirty="0" smtClean="0"/>
              <a:t>comportamiento.</a:t>
            </a:r>
            <a:endParaRPr lang="es-ES" dirty="0"/>
          </a:p>
          <a:p>
            <a:pPr lvl="1">
              <a:spcAft>
                <a:spcPts val="600"/>
              </a:spcAft>
            </a:pPr>
            <a:r>
              <a:rPr lang="es-ES" dirty="0"/>
              <a:t>Conocimiento </a:t>
            </a:r>
            <a:r>
              <a:rPr lang="es-ES" dirty="0" smtClean="0"/>
              <a:t>empresarial.</a:t>
            </a:r>
            <a:endParaRPr lang="es-ES" dirty="0"/>
          </a:p>
          <a:p>
            <a:pPr lvl="1">
              <a:spcAft>
                <a:spcPts val="600"/>
              </a:spcAft>
            </a:pPr>
            <a:r>
              <a:rPr lang="es-ES" dirty="0"/>
              <a:t>Habilidades de </a:t>
            </a:r>
            <a:r>
              <a:rPr lang="es-ES" dirty="0" smtClean="0"/>
              <a:t>comunicación.</a:t>
            </a:r>
            <a:endParaRPr lang="es-ES" dirty="0"/>
          </a:p>
          <a:p>
            <a:pPr lvl="1">
              <a:spcAft>
                <a:spcPts val="600"/>
              </a:spcAft>
            </a:pPr>
            <a:r>
              <a:rPr lang="es-ES" dirty="0"/>
              <a:t>Habilidades de </a:t>
            </a:r>
            <a:r>
              <a:rPr lang="es-ES" dirty="0" smtClean="0"/>
              <a:t>interacción</a:t>
            </a:r>
            <a:r>
              <a:rPr lang="es-ES" dirty="0"/>
              <a:t>.</a:t>
            </a:r>
            <a:endParaRPr lang="es-ES" dirty="0"/>
          </a:p>
          <a:p>
            <a:pPr lvl="1"/>
            <a:r>
              <a:rPr lang="es-ES" dirty="0"/>
              <a:t>Herramientas y </a:t>
            </a:r>
            <a:r>
              <a:rPr lang="es-ES" dirty="0"/>
              <a:t>t</a:t>
            </a:r>
            <a:r>
              <a:rPr lang="es-ES" dirty="0" smtClean="0"/>
              <a:t>ecnología.</a:t>
            </a:r>
            <a:endParaRPr lang="es-PE" dirty="0"/>
          </a:p>
        </p:txBody>
      </p:sp>
      <p:pic>
        <p:nvPicPr>
          <p:cNvPr id="5" name="Marcador de posición de imagen 4">
            <a:extLst>
              <a:ext uri="{FF2B5EF4-FFF2-40B4-BE49-F238E27FC236}">
                <a16:creationId xmlns:a16="http://schemas.microsoft.com/office/drawing/2014/main" id="{61E37755-EF39-DAE3-7CE4-FEC0EF50BBBD}"/>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2006453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9405332B-05BD-E494-5514-6B6BE4FC915F}"/>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a:spcAft>
                <a:spcPts val="600"/>
              </a:spcAft>
            </a:pPr>
            <a:r>
              <a:rPr lang="es-ES" dirty="0"/>
              <a:t>Los analistas utilizan el pensamiento analítico al </a:t>
            </a:r>
            <a:r>
              <a:rPr lang="es-ES" b="1" dirty="0"/>
              <a:t>asimilar</a:t>
            </a:r>
            <a:r>
              <a:rPr lang="es-ES" dirty="0"/>
              <a:t> rápidamente </a:t>
            </a:r>
            <a:r>
              <a:rPr lang="es-ES" b="1" dirty="0"/>
              <a:t>varios tipos de información</a:t>
            </a:r>
            <a:r>
              <a:rPr lang="es-ES" dirty="0"/>
              <a:t> (diagramas, inquietudes de </a:t>
            </a:r>
            <a:r>
              <a:rPr lang="es-ES" i="1" dirty="0"/>
              <a:t>stakeholders</a:t>
            </a:r>
            <a:r>
              <a:rPr lang="es-ES" dirty="0"/>
              <a:t>, comentarios de clientes, esquemas, guías de usuario y hojas de cálculo) e identificar cuáles son relevantes.</a:t>
            </a:r>
          </a:p>
          <a:p>
            <a:pPr>
              <a:spcAft>
                <a:spcPts val="600"/>
              </a:spcAft>
            </a:pPr>
            <a:r>
              <a:rPr lang="es-ES" dirty="0"/>
              <a:t>Lo integran las competencias básicas:  ► Pensamiento creativo, ► Toma de decisiones, ► Aprendizaje, ► Resolución de problemas, ► Pensamiento sistémico, ► Pensamiento conceptual, y ► Pensamiento visual.</a:t>
            </a:r>
          </a:p>
        </p:txBody>
      </p:sp>
    </p:spTree>
    <p:extLst>
      <p:ext uri="{BB962C8B-B14F-4D97-AF65-F5344CB8AC3E}">
        <p14:creationId xmlns:p14="http://schemas.microsoft.com/office/powerpoint/2010/main" val="1569953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23DC806E-9F80-3798-EAB7-2B7F63773758}"/>
              </a:ext>
            </a:extLst>
          </p:cNvPr>
          <p:cNvPicPr>
            <a:picLocks noGrp="1" noChangeAspect="1"/>
          </p:cNvPicPr>
          <p:nvPr>
            <p:ph type="pic" sz="quarter" idx="10"/>
          </p:nvPr>
        </p:nvPicPr>
        <p:blipFill>
          <a:blip r:embed="rId3"/>
          <a:srcRect l="234" r="234"/>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308851"/>
          </a:xfrm>
        </p:spPr>
        <p:txBody>
          <a:bodyPr numCol="1"/>
          <a:lstStyle/>
          <a:p>
            <a:pPr marL="0" indent="0">
              <a:spcAft>
                <a:spcPts val="600"/>
              </a:spcAft>
              <a:buNone/>
            </a:pPr>
            <a:r>
              <a:rPr lang="es-ES" b="1" dirty="0">
                <a:solidFill>
                  <a:srgbClr val="0070C0"/>
                </a:solidFill>
              </a:rPr>
              <a:t>P</a:t>
            </a:r>
            <a:r>
              <a:rPr lang="es-ES" b="1" dirty="0" smtClean="0">
                <a:solidFill>
                  <a:srgbClr val="0070C0"/>
                </a:solidFill>
              </a:rPr>
              <a:t>ensamiento creativo</a:t>
            </a:r>
          </a:p>
          <a:p>
            <a:pPr>
              <a:spcAft>
                <a:spcPts val="600"/>
              </a:spcAft>
            </a:pPr>
            <a:r>
              <a:rPr lang="es-ES" dirty="0" smtClean="0"/>
              <a:t>Implica </a:t>
            </a:r>
            <a:r>
              <a:rPr lang="es-ES" dirty="0"/>
              <a:t>generar nuevas ideas y conceptos, así como encontrar asociaciones nuevas o diferentes entre ideas y conceptos existentes.</a:t>
            </a:r>
          </a:p>
          <a:p>
            <a:pPr>
              <a:spcAft>
                <a:spcPts val="600"/>
              </a:spcAft>
            </a:pPr>
            <a:r>
              <a:rPr lang="es-ES" dirty="0"/>
              <a:t>Ayuda a superar los enfoques rígidos para la resolución de problemas cuestionando los enfoques convencionales y fomentando nuevas ideas e innovaciones que sean apropiadas para la situación. </a:t>
            </a:r>
          </a:p>
          <a:p>
            <a:pPr>
              <a:spcAft>
                <a:spcPts val="600"/>
              </a:spcAft>
            </a:pPr>
            <a:r>
              <a:rPr lang="es-ES" dirty="0"/>
              <a:t>Puede implicar combinar, cambiar y volver a aplicar conceptos o ideas existentes. </a:t>
            </a:r>
          </a:p>
        </p:txBody>
      </p:sp>
    </p:spTree>
    <p:extLst>
      <p:ext uri="{BB962C8B-B14F-4D97-AF65-F5344CB8AC3E}">
        <p14:creationId xmlns:p14="http://schemas.microsoft.com/office/powerpoint/2010/main" val="38653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7A8BA068-8038-7806-15A2-AE99572C0AF1}"/>
              </a:ext>
            </a:extLst>
          </p:cNvPr>
          <p:cNvPicPr>
            <a:picLocks noGrp="1" noChangeAspect="1"/>
          </p:cNvPicPr>
          <p:nvPr>
            <p:ph type="pic" sz="quarter" idx="10"/>
          </p:nvPr>
        </p:nvPicPr>
        <p:blipFill>
          <a:blip r:embed="rId3"/>
          <a:srcRect l="340" r="34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445209"/>
          </a:xfrm>
        </p:spPr>
        <p:txBody>
          <a:bodyPr numCol="1"/>
          <a:lstStyle/>
          <a:p>
            <a:pPr marL="0" indent="0">
              <a:spcAft>
                <a:spcPts val="600"/>
              </a:spcAft>
              <a:buNone/>
            </a:pPr>
            <a:r>
              <a:rPr lang="es-ES" b="1" dirty="0" smtClean="0">
                <a:solidFill>
                  <a:srgbClr val="0070C0"/>
                </a:solidFill>
              </a:rPr>
              <a:t>Toma de decisiones</a:t>
            </a:r>
          </a:p>
          <a:p>
            <a:pPr>
              <a:spcAft>
                <a:spcPts val="600"/>
              </a:spcAft>
            </a:pPr>
            <a:r>
              <a:rPr lang="es-ES" dirty="0" smtClean="0"/>
              <a:t>Implica </a:t>
            </a:r>
            <a:r>
              <a:rPr lang="es-ES" dirty="0"/>
              <a:t>recopilar la información que es </a:t>
            </a:r>
            <a:r>
              <a:rPr lang="es-ES" b="1" dirty="0"/>
              <a:t>relevante para la decisión</a:t>
            </a:r>
            <a:r>
              <a:rPr lang="es-ES" dirty="0"/>
              <a:t>, </a:t>
            </a:r>
            <a:r>
              <a:rPr lang="es-ES" dirty="0" smtClean="0"/>
              <a:t>analizarla, </a:t>
            </a:r>
            <a:r>
              <a:rPr lang="es-ES" dirty="0"/>
              <a:t>hacer comparaciones y compensaciones entre opciones similares y diferentes, e </a:t>
            </a:r>
            <a:r>
              <a:rPr lang="es-ES" b="1" dirty="0"/>
              <a:t>identificar la opción más deseable</a:t>
            </a:r>
            <a:r>
              <a:rPr lang="es-ES" dirty="0"/>
              <a:t>.</a:t>
            </a:r>
          </a:p>
          <a:p>
            <a:pPr>
              <a:spcAft>
                <a:spcPts val="600"/>
              </a:spcAft>
            </a:pPr>
            <a:r>
              <a:rPr lang="es-ES" dirty="0"/>
              <a:t>Los analistas </a:t>
            </a:r>
            <a:r>
              <a:rPr lang="es-ES" b="1" dirty="0"/>
              <a:t>documentan</a:t>
            </a:r>
            <a:r>
              <a:rPr lang="es-ES" dirty="0"/>
              <a:t> las decisiones (y la justificación que respalda esas decisiones) para usarlas como referencia en caso de que se requiera una decisión similar en el futuro o si se requiere que expliquen por qué se tomó una decisión.</a:t>
            </a:r>
          </a:p>
        </p:txBody>
      </p:sp>
    </p:spTree>
    <p:extLst>
      <p:ext uri="{BB962C8B-B14F-4D97-AF65-F5344CB8AC3E}">
        <p14:creationId xmlns:p14="http://schemas.microsoft.com/office/powerpoint/2010/main" val="385379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DDBDDCBC-70D3-D52C-8503-992DCF154800}"/>
              </a:ext>
            </a:extLst>
          </p:cNvPr>
          <p:cNvPicPr>
            <a:picLocks noGrp="1" noChangeAspect="1"/>
          </p:cNvPicPr>
          <p:nvPr>
            <p:ph type="pic" sz="quarter" idx="10"/>
          </p:nvPr>
        </p:nvPicPr>
        <p:blipFill>
          <a:blip r:embed="rId3"/>
          <a:srcRect l="11" r="11"/>
          <a:stretch>
            <a:fillRect/>
          </a:stretch>
        </p:blipFill>
        <p:spPr>
          <a:xfrm>
            <a:off x="4787654" y="816438"/>
            <a:ext cx="4086000" cy="4446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6"/>
            <a:ext cx="4103687" cy="3332914"/>
          </a:xfrm>
        </p:spPr>
        <p:txBody>
          <a:bodyPr numCol="1"/>
          <a:lstStyle/>
          <a:p>
            <a:pPr marL="0" indent="0">
              <a:spcAft>
                <a:spcPts val="600"/>
              </a:spcAft>
              <a:buNone/>
            </a:pPr>
            <a:r>
              <a:rPr lang="es-ES" b="1" dirty="0">
                <a:solidFill>
                  <a:srgbClr val="0070C0"/>
                </a:solidFill>
              </a:rPr>
              <a:t>A</a:t>
            </a:r>
            <a:r>
              <a:rPr lang="es-ES" b="1" dirty="0" smtClean="0">
                <a:solidFill>
                  <a:srgbClr val="0070C0"/>
                </a:solidFill>
              </a:rPr>
              <a:t>prendizaje</a:t>
            </a:r>
          </a:p>
          <a:p>
            <a:pPr>
              <a:spcAft>
                <a:spcPts val="600"/>
              </a:spcAft>
            </a:pPr>
            <a:r>
              <a:rPr lang="es-ES" dirty="0" smtClean="0"/>
              <a:t>El </a:t>
            </a:r>
            <a:r>
              <a:rPr lang="es-ES" dirty="0"/>
              <a:t>aprendizaje sobre un dominio pasa por un conjunto de etapas, </a:t>
            </a:r>
            <a:r>
              <a:rPr lang="es-ES" b="1" dirty="0"/>
              <a:t>desde la adquisición inicial</a:t>
            </a:r>
            <a:r>
              <a:rPr lang="es-ES" dirty="0"/>
              <a:t> y el aprendizaje de los hechos en bruto, pasando por la comprensión de su significado, </a:t>
            </a:r>
            <a:r>
              <a:rPr lang="es-ES" b="1" dirty="0"/>
              <a:t>hasta la aplicación del conocimiento</a:t>
            </a:r>
            <a:r>
              <a:rPr lang="es-ES" dirty="0"/>
              <a:t> en el trabajo diario y, finalmente, el análisis, la síntesis y la evaluación.</a:t>
            </a:r>
          </a:p>
          <a:p>
            <a:pPr>
              <a:spcAft>
                <a:spcPts val="600"/>
              </a:spcAft>
            </a:pPr>
            <a:r>
              <a:rPr lang="es-ES" dirty="0"/>
              <a:t>El aprendizaje mejora cuando la técnica de aprendizaje se selecciona </a:t>
            </a:r>
            <a:r>
              <a:rPr lang="es-ES" b="1" dirty="0"/>
              <a:t>en función de los resultados de aprendizaje requeridos</a:t>
            </a:r>
            <a:r>
              <a:rPr lang="es-ES" dirty="0"/>
              <a:t>.</a:t>
            </a:r>
          </a:p>
        </p:txBody>
      </p:sp>
    </p:spTree>
    <p:extLst>
      <p:ext uri="{BB962C8B-B14F-4D97-AF65-F5344CB8AC3E}">
        <p14:creationId xmlns:p14="http://schemas.microsoft.com/office/powerpoint/2010/main" val="1218429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B7531246-8F06-4B4E-4FF1-C2B6720345F1}"/>
              </a:ext>
            </a:extLst>
          </p:cNvPr>
          <p:cNvPicPr>
            <a:picLocks noGrp="1" noChangeAspect="1"/>
          </p:cNvPicPr>
          <p:nvPr>
            <p:ph type="pic" sz="quarter" idx="10"/>
          </p:nvPr>
        </p:nvPicPr>
        <p:blipFill>
          <a:blip r:embed="rId3"/>
          <a:srcRect l="2" r="2"/>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numCol="1"/>
          <a:lstStyle/>
          <a:p>
            <a:pPr marL="0" indent="0">
              <a:spcAft>
                <a:spcPts val="600"/>
              </a:spcAft>
              <a:buNone/>
            </a:pPr>
            <a:r>
              <a:rPr lang="es-ES" b="1" dirty="0">
                <a:solidFill>
                  <a:srgbClr val="0070C0"/>
                </a:solidFill>
              </a:rPr>
              <a:t>R</a:t>
            </a:r>
            <a:r>
              <a:rPr lang="es-ES" b="1" dirty="0" smtClean="0">
                <a:solidFill>
                  <a:srgbClr val="0070C0"/>
                </a:solidFill>
              </a:rPr>
              <a:t>esolución de problemas</a:t>
            </a:r>
          </a:p>
          <a:p>
            <a:pPr>
              <a:spcAft>
                <a:spcPts val="600"/>
              </a:spcAft>
            </a:pPr>
            <a:r>
              <a:rPr lang="es-ES" dirty="0" smtClean="0"/>
              <a:t>Los </a:t>
            </a:r>
            <a:r>
              <a:rPr lang="es-ES" dirty="0"/>
              <a:t>puntos de vista de los </a:t>
            </a:r>
            <a:r>
              <a:rPr lang="es-ES" i="1" dirty="0"/>
              <a:t>stakeholders</a:t>
            </a:r>
            <a:r>
              <a:rPr lang="es-ES" dirty="0"/>
              <a:t> se articulan y abordan para comprender cualquier </a:t>
            </a:r>
            <a:r>
              <a:rPr lang="es-ES" b="1" dirty="0"/>
              <a:t>conflicto entre las metas y los objetivos</a:t>
            </a:r>
            <a:r>
              <a:rPr lang="es-ES" dirty="0"/>
              <a:t> de los diferentes </a:t>
            </a:r>
            <a:r>
              <a:rPr lang="es-ES" i="1" dirty="0"/>
              <a:t>stakeholders</a:t>
            </a:r>
            <a:r>
              <a:rPr lang="es-ES" dirty="0"/>
              <a:t>.</a:t>
            </a:r>
          </a:p>
          <a:p>
            <a:pPr>
              <a:spcAft>
                <a:spcPts val="600"/>
              </a:spcAft>
            </a:pPr>
            <a:r>
              <a:rPr lang="es-ES" dirty="0"/>
              <a:t>Los supuestos son identificados y validados.</a:t>
            </a:r>
          </a:p>
          <a:p>
            <a:pPr>
              <a:spcAft>
                <a:spcPts val="600"/>
              </a:spcAft>
            </a:pPr>
            <a:r>
              <a:rPr lang="es-ES" dirty="0"/>
              <a:t>Se especifican claramente los objetivos que se cumplirán una vez que se resuelva el problema, y posiblemente se </a:t>
            </a:r>
            <a:r>
              <a:rPr lang="es-ES" dirty="0" smtClean="0"/>
              <a:t>desarrollen </a:t>
            </a:r>
            <a:r>
              <a:rPr lang="es-ES" dirty="0"/>
              <a:t>soluciones alternativas.</a:t>
            </a:r>
          </a:p>
          <a:p>
            <a:pPr>
              <a:spcAft>
                <a:spcPts val="600"/>
              </a:spcAft>
            </a:pPr>
            <a:r>
              <a:rPr lang="es-ES" dirty="0"/>
              <a:t>Las alternativas se miden frente a los objetivos para determinar qué posible solución es la mejor e identificar el valor y las compensaciones que pueden existir entre las soluciones.</a:t>
            </a:r>
          </a:p>
        </p:txBody>
      </p:sp>
    </p:spTree>
    <p:extLst>
      <p:ext uri="{BB962C8B-B14F-4D97-AF65-F5344CB8AC3E}">
        <p14:creationId xmlns:p14="http://schemas.microsoft.com/office/powerpoint/2010/main" val="1111855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7EB2AFB7-7ABF-4EAC-AAB8-E6597D892B66}"/>
              </a:ext>
            </a:extLst>
          </p:cNvPr>
          <p:cNvPicPr>
            <a:picLocks noGrp="1" noChangeAspect="1"/>
          </p:cNvPicPr>
          <p:nvPr>
            <p:ph type="pic" sz="quarter" idx="10"/>
          </p:nvPr>
        </p:nvPicPr>
        <p:blipFill>
          <a:blip r:embed="rId3"/>
          <a:srcRect l="2" r="2"/>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326415"/>
          </a:xfrm>
        </p:spPr>
        <p:txBody>
          <a:bodyPr numCol="1"/>
          <a:lstStyle/>
          <a:p>
            <a:pPr marL="0" indent="0">
              <a:spcAft>
                <a:spcPts val="600"/>
              </a:spcAft>
              <a:buNone/>
            </a:pPr>
            <a:r>
              <a:rPr lang="es-ES" b="1" dirty="0">
                <a:solidFill>
                  <a:srgbClr val="0070C0"/>
                </a:solidFill>
              </a:rPr>
              <a:t>P</a:t>
            </a:r>
            <a:r>
              <a:rPr lang="es-ES" b="1" dirty="0" smtClean="0">
                <a:solidFill>
                  <a:srgbClr val="0070C0"/>
                </a:solidFill>
              </a:rPr>
              <a:t>ensamiento sistémico</a:t>
            </a:r>
          </a:p>
          <a:p>
            <a:pPr>
              <a:spcAft>
                <a:spcPts val="600"/>
              </a:spcAft>
            </a:pPr>
            <a:r>
              <a:rPr lang="es-ES" dirty="0" smtClean="0"/>
              <a:t>La </a:t>
            </a:r>
            <a:r>
              <a:rPr lang="es-ES" dirty="0"/>
              <a:t>teoría de sistemas y el pensamiento sistémico sugieren que un sistema como un todo tiene propiedades, comportamientos y características que </a:t>
            </a:r>
            <a:r>
              <a:rPr lang="es-ES" b="1" dirty="0"/>
              <a:t>emergen de la interacción de sus componentes</a:t>
            </a:r>
            <a:r>
              <a:rPr lang="es-ES" dirty="0"/>
              <a:t>.</a:t>
            </a:r>
          </a:p>
          <a:p>
            <a:pPr>
              <a:spcAft>
                <a:spcPts val="600"/>
              </a:spcAft>
            </a:pPr>
            <a:r>
              <a:rPr lang="es-ES" dirty="0"/>
              <a:t>En el contexto de la teoría de sistemas, el término sistema incluye a las personas involucradas, las interacciones entre ellas, las fuerzas externas que afectan su comportamiento  y todos los demás elementos y factores relevantes.</a:t>
            </a:r>
          </a:p>
          <a:p>
            <a:pPr>
              <a:spcAft>
                <a:spcPts val="600"/>
              </a:spcAft>
            </a:pPr>
            <a:endParaRPr lang="es-ES" dirty="0"/>
          </a:p>
        </p:txBody>
      </p:sp>
    </p:spTree>
    <p:extLst>
      <p:ext uri="{BB962C8B-B14F-4D97-AF65-F5344CB8AC3E}">
        <p14:creationId xmlns:p14="http://schemas.microsoft.com/office/powerpoint/2010/main" val="390971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BFC23A6B-B497-663A-6495-EF0B9D51C595}"/>
              </a:ext>
            </a:extLst>
          </p:cNvPr>
          <p:cNvPicPr>
            <a:picLocks noGrp="1" noChangeAspect="1"/>
          </p:cNvPicPr>
          <p:nvPr>
            <p:ph type="pic" sz="quarter" idx="10"/>
          </p:nvPr>
        </p:nvPicPr>
        <p:blipFill>
          <a:blip r:embed="rId3"/>
          <a:srcRect l="340" r="34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227145"/>
          </a:xfrm>
        </p:spPr>
        <p:txBody>
          <a:bodyPr numCol="1"/>
          <a:lstStyle/>
          <a:p>
            <a:pPr marL="0" indent="0">
              <a:spcAft>
                <a:spcPts val="600"/>
              </a:spcAft>
              <a:buNone/>
            </a:pPr>
            <a:r>
              <a:rPr lang="es-ES" b="1" dirty="0">
                <a:solidFill>
                  <a:srgbClr val="0070C0"/>
                </a:solidFill>
              </a:rPr>
              <a:t>P</a:t>
            </a:r>
            <a:r>
              <a:rPr lang="es-ES" b="1" dirty="0" smtClean="0">
                <a:solidFill>
                  <a:srgbClr val="0070C0"/>
                </a:solidFill>
              </a:rPr>
              <a:t>ensamiento conceptual</a:t>
            </a:r>
          </a:p>
          <a:p>
            <a:pPr>
              <a:spcAft>
                <a:spcPts val="600"/>
              </a:spcAft>
            </a:pPr>
            <a:r>
              <a:rPr lang="es-ES" dirty="0" smtClean="0"/>
              <a:t>Implica </a:t>
            </a:r>
            <a:r>
              <a:rPr lang="es-ES" dirty="0"/>
              <a:t>el uso de experiencias pasadas, conocimiento, creatividad, intuición y pensamiento abstracto para generar alternativas, opciones e ideas que no son fáciles de definir o relacionar.</a:t>
            </a:r>
          </a:p>
          <a:p>
            <a:pPr>
              <a:spcAft>
                <a:spcPts val="600"/>
              </a:spcAft>
            </a:pPr>
            <a:r>
              <a:rPr lang="es-ES" dirty="0"/>
              <a:t>Trata específicamente de </a:t>
            </a:r>
            <a:r>
              <a:rPr lang="es-ES" b="1" dirty="0"/>
              <a:t>vincular factores que no se definen fácilmente con el problema u oportunidad</a:t>
            </a:r>
            <a:r>
              <a:rPr lang="es-ES" dirty="0"/>
              <a:t>, modelos o marcos que ayudan a los </a:t>
            </a:r>
            <a:r>
              <a:rPr lang="es-ES" i="1" dirty="0"/>
              <a:t>stakeholders</a:t>
            </a:r>
            <a:r>
              <a:rPr lang="es-ES" dirty="0"/>
              <a:t> a comprender y facilitarse a sí mismos y a otros a través del cambio.</a:t>
            </a:r>
          </a:p>
        </p:txBody>
      </p:sp>
    </p:spTree>
    <p:extLst>
      <p:ext uri="{BB962C8B-B14F-4D97-AF65-F5344CB8AC3E}">
        <p14:creationId xmlns:p14="http://schemas.microsoft.com/office/powerpoint/2010/main" val="18447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AE2B5215-0F43-7199-A3B1-20BDA62E3373}"/>
              </a:ext>
            </a:extLst>
          </p:cNvPr>
          <p:cNvPicPr>
            <a:picLocks noGrp="1" noChangeAspect="1"/>
          </p:cNvPicPr>
          <p:nvPr>
            <p:ph type="pic" sz="quarter" idx="10"/>
          </p:nvPr>
        </p:nvPicPr>
        <p:blipFill>
          <a:blip r:embed="rId3"/>
          <a:srcRect l="118" r="11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P</a:t>
            </a:r>
            <a:r>
              <a:rPr lang="es-PE" dirty="0" smtClean="0"/>
              <a:t>ensamiento analítico y resolución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numCol="1"/>
          <a:lstStyle/>
          <a:p>
            <a:pPr marL="0" indent="0">
              <a:spcAft>
                <a:spcPts val="600"/>
              </a:spcAft>
              <a:buNone/>
            </a:pPr>
            <a:r>
              <a:rPr lang="es-ES" b="1" dirty="0">
                <a:solidFill>
                  <a:srgbClr val="0070C0"/>
                </a:solidFill>
              </a:rPr>
              <a:t>P</a:t>
            </a:r>
            <a:r>
              <a:rPr lang="es-ES" b="1" dirty="0" smtClean="0">
                <a:solidFill>
                  <a:srgbClr val="0070C0"/>
                </a:solidFill>
              </a:rPr>
              <a:t>ensamiento visual</a:t>
            </a:r>
          </a:p>
          <a:p>
            <a:pPr>
              <a:spcAft>
                <a:spcPts val="600"/>
              </a:spcAft>
            </a:pPr>
            <a:r>
              <a:rPr lang="es-ES" dirty="0" smtClean="0"/>
              <a:t>Consiste </a:t>
            </a:r>
            <a:r>
              <a:rPr lang="es-ES" dirty="0"/>
              <a:t>en visualizar y crear conceptos, gráficos, modelos, diagramas y construcciones visuales simples para </a:t>
            </a:r>
            <a:r>
              <a:rPr lang="es-ES" b="1" dirty="0"/>
              <a:t>transmitir e integrar</a:t>
            </a:r>
            <a:r>
              <a:rPr lang="es-ES" dirty="0"/>
              <a:t> información no visual.</a:t>
            </a:r>
          </a:p>
          <a:p>
            <a:pPr>
              <a:spcAft>
                <a:spcPts val="600"/>
              </a:spcAft>
            </a:pPr>
            <a:r>
              <a:rPr lang="es-ES" dirty="0"/>
              <a:t>Al realizar análisis empresarial, se comunican grandes cantidades de información y conexiones complejas entre contextos, </a:t>
            </a:r>
            <a:r>
              <a:rPr lang="es-ES" i="1" dirty="0"/>
              <a:t>stakeholders, </a:t>
            </a:r>
            <a:r>
              <a:rPr lang="es-ES" dirty="0"/>
              <a:t>necesidades, soluciones, cambios y valor.</a:t>
            </a:r>
          </a:p>
          <a:p>
            <a:pPr>
              <a:spcAft>
                <a:spcPts val="600"/>
              </a:spcAft>
            </a:pPr>
            <a:r>
              <a:rPr lang="es-ES" dirty="0"/>
              <a:t>Permite que la audiencia se involucre y conecte conceptos de manera más rápida y libre en su contexto, así como comprender y apreciar los contextos de los demás con mayor claridad.</a:t>
            </a:r>
          </a:p>
        </p:txBody>
      </p:sp>
    </p:spTree>
    <p:extLst>
      <p:ext uri="{BB962C8B-B14F-4D97-AF65-F5344CB8AC3E}">
        <p14:creationId xmlns:p14="http://schemas.microsoft.com/office/powerpoint/2010/main" val="192483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t>
            </a:r>
            <a:r>
              <a:rPr lang="es-PE" dirty="0" smtClean="0"/>
              <a:t>aracterísticas de comportamiento</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82025"/>
            <a:ext cx="8207375" cy="1224291"/>
          </a:xfrm>
        </p:spPr>
        <p:txBody>
          <a:bodyPr/>
          <a:lstStyle/>
          <a:p>
            <a:pPr>
              <a:spcAft>
                <a:spcPts val="600"/>
              </a:spcAft>
            </a:pPr>
            <a:r>
              <a:rPr lang="es-ES" dirty="0"/>
              <a:t>Se centran en las habilidades y los comportamientos que permiten a un analista ganarse la confianza y el  respeto de los</a:t>
            </a:r>
            <a:r>
              <a:rPr lang="es-ES" i="1" dirty="0"/>
              <a:t> stakeholders</a:t>
            </a:r>
            <a:r>
              <a:rPr lang="es-ES" dirty="0"/>
              <a:t>.</a:t>
            </a:r>
          </a:p>
          <a:p>
            <a:pPr>
              <a:spcAft>
                <a:spcPts val="600"/>
              </a:spcAft>
            </a:pPr>
            <a:r>
              <a:rPr lang="es-ES" dirty="0"/>
              <a:t>Lo integran las </a:t>
            </a:r>
            <a:r>
              <a:rPr lang="es-ES" i="1" dirty="0"/>
              <a:t>competencias básicas</a:t>
            </a:r>
            <a:r>
              <a:rPr lang="es-ES" dirty="0"/>
              <a:t>:  </a:t>
            </a:r>
            <a:r>
              <a:rPr lang="es-ES" dirty="0">
                <a:latin typeface="Arimo"/>
                <a:cs typeface="Arial" panose="020B0604020202020204" pitchFamily="34" charset="0"/>
              </a:rPr>
              <a:t>► </a:t>
            </a:r>
            <a:r>
              <a:rPr lang="es-ES" dirty="0"/>
              <a:t>Ética, </a:t>
            </a:r>
            <a:r>
              <a:rPr lang="es-ES" dirty="0">
                <a:latin typeface="Arimo"/>
                <a:cs typeface="Arial" panose="020B0604020202020204" pitchFamily="34" charset="0"/>
              </a:rPr>
              <a:t>► </a:t>
            </a:r>
            <a:r>
              <a:rPr lang="es-ES" dirty="0"/>
              <a:t>Responsabilidad personal, </a:t>
            </a:r>
            <a:r>
              <a:rPr lang="es-ES" dirty="0">
                <a:latin typeface="Arimo"/>
                <a:cs typeface="Arial" panose="020B0604020202020204" pitchFamily="34" charset="0"/>
              </a:rPr>
              <a:t>► </a:t>
            </a:r>
            <a:r>
              <a:rPr lang="es-ES" dirty="0"/>
              <a:t>Confiabilidad, </a:t>
            </a:r>
            <a:r>
              <a:rPr lang="es-ES" dirty="0">
                <a:latin typeface="Arimo"/>
                <a:cs typeface="Arial" panose="020B0604020202020204" pitchFamily="34" charset="0"/>
              </a:rPr>
              <a:t>► </a:t>
            </a:r>
            <a:r>
              <a:rPr lang="es-ES" dirty="0"/>
              <a:t>Organización y gestión del tiempo, y </a:t>
            </a:r>
            <a:r>
              <a:rPr lang="es-ES" dirty="0">
                <a:latin typeface="Arimo"/>
                <a:cs typeface="Arial" panose="020B0604020202020204" pitchFamily="34" charset="0"/>
              </a:rPr>
              <a:t>► </a:t>
            </a:r>
            <a:r>
              <a:rPr lang="es-ES" dirty="0"/>
              <a:t>Adaptabilidad.</a:t>
            </a:r>
          </a:p>
        </p:txBody>
      </p:sp>
      <p:pic>
        <p:nvPicPr>
          <p:cNvPr id="9" name="Marcador de posición de imagen 8">
            <a:extLst>
              <a:ext uri="{FF2B5EF4-FFF2-40B4-BE49-F238E27FC236}">
                <a16:creationId xmlns:a16="http://schemas.microsoft.com/office/drawing/2014/main" id="{54A173AA-64EB-156D-08A9-3076AEF3E029}"/>
              </a:ext>
            </a:extLst>
          </p:cNvPr>
          <p:cNvPicPr>
            <a:picLocks noGrp="1" noChangeAspect="1"/>
          </p:cNvPicPr>
          <p:nvPr>
            <p:ph type="pic" sz="quarter" idx="10"/>
          </p:nvPr>
        </p:nvPicPr>
        <p:blipFill>
          <a:blip r:embed="rId3"/>
          <a:srcRect t="310" b="310"/>
          <a:stretch>
            <a:fillRect/>
          </a:stretch>
        </p:blipFill>
        <p:spPr/>
      </p:pic>
    </p:spTree>
    <p:extLst>
      <p:ext uri="{BB962C8B-B14F-4D97-AF65-F5344CB8AC3E}">
        <p14:creationId xmlns:p14="http://schemas.microsoft.com/office/powerpoint/2010/main" val="3402441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177F28F9-80E2-ADB0-0255-6369FF0FD4C1}"/>
              </a:ext>
            </a:extLst>
          </p:cNvPr>
          <p:cNvPicPr>
            <a:picLocks noGrp="1" noChangeAspect="1"/>
          </p:cNvPicPr>
          <p:nvPr>
            <p:ph type="pic" sz="quarter" idx="10"/>
          </p:nvPr>
        </p:nvPicPr>
        <p:blipFill>
          <a:blip r:embed="rId3"/>
          <a:srcRect l="2" r="2"/>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CARACTERÍSTICAS DE COMPORTAMIENTO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124367"/>
          </a:xfrm>
        </p:spPr>
        <p:txBody>
          <a:bodyPr/>
          <a:lstStyle/>
          <a:p>
            <a:pPr marL="0" indent="0">
              <a:spcAft>
                <a:spcPts val="600"/>
              </a:spcAft>
              <a:buNone/>
            </a:pPr>
            <a:r>
              <a:rPr lang="es-ES" b="1" i="1" dirty="0">
                <a:solidFill>
                  <a:srgbClr val="0070C0"/>
                </a:solidFill>
              </a:rPr>
              <a:t>ÉTICA</a:t>
            </a:r>
          </a:p>
          <a:p>
            <a:pPr>
              <a:spcAft>
                <a:spcPts val="600"/>
              </a:spcAft>
            </a:pPr>
            <a:r>
              <a:rPr lang="es-ES" dirty="0"/>
              <a:t>Incluye la consideración del </a:t>
            </a:r>
            <a:r>
              <a:rPr lang="es-ES" b="1" dirty="0"/>
              <a:t>impacto</a:t>
            </a:r>
            <a:r>
              <a:rPr lang="es-ES" dirty="0"/>
              <a:t> que una solución propuesta puede tener en todos los stakeholders y trabajar para garantizarles que sean tratados de la manera </a:t>
            </a:r>
            <a:r>
              <a:rPr lang="es-ES" b="1" dirty="0"/>
              <a:t>más justa</a:t>
            </a:r>
            <a:r>
              <a:rPr lang="es-ES" dirty="0"/>
              <a:t> posible.</a:t>
            </a:r>
          </a:p>
          <a:p>
            <a:pPr>
              <a:spcAft>
                <a:spcPts val="600"/>
              </a:spcAft>
            </a:pPr>
            <a:r>
              <a:rPr lang="es-ES" dirty="0"/>
              <a:t>El trato justo no requiere que el resultado sea beneficioso para un grupo de </a:t>
            </a:r>
            <a:r>
              <a:rPr lang="es-ES" i="1" dirty="0"/>
              <a:t>stakeholders</a:t>
            </a:r>
            <a:r>
              <a:rPr lang="es-ES" dirty="0"/>
              <a:t> en particular, pero sí requiere que los </a:t>
            </a:r>
            <a:r>
              <a:rPr lang="es-ES" i="1" dirty="0"/>
              <a:t>stakeholders</a:t>
            </a:r>
            <a:r>
              <a:rPr lang="es-ES" dirty="0"/>
              <a:t> afectados comprendan las razones de las decisiones.</a:t>
            </a:r>
          </a:p>
        </p:txBody>
      </p:sp>
    </p:spTree>
    <p:extLst>
      <p:ext uri="{BB962C8B-B14F-4D97-AF65-F5344CB8AC3E}">
        <p14:creationId xmlns:p14="http://schemas.microsoft.com/office/powerpoint/2010/main" val="802936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D98D57F4-58F6-BDC5-BB73-59A8E313F3A6}"/>
              </a:ext>
            </a:extLst>
          </p:cNvPr>
          <p:cNvPicPr>
            <a:picLocks noGrp="1" noChangeAspect="1"/>
          </p:cNvPicPr>
          <p:nvPr>
            <p:ph type="pic" sz="quarter" idx="10"/>
          </p:nvPr>
        </p:nvPicPr>
        <p:blipFill>
          <a:blip r:embed="rId3"/>
          <a:srcRect l="11" r="11"/>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CARACTERÍSTICAS DE COMPORTAMIENTO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RESPONSABILIDAD PERSONAL</a:t>
            </a:r>
          </a:p>
          <a:p>
            <a:pPr>
              <a:spcAft>
                <a:spcPts val="600"/>
              </a:spcAft>
            </a:pPr>
            <a:r>
              <a:rPr lang="es-ES" dirty="0"/>
              <a:t>Incluye la planificación eficaz del trabajo de análisis empresarial para lograr objetivos y metas, y </a:t>
            </a:r>
            <a:r>
              <a:rPr lang="es-ES" b="1" dirty="0"/>
              <a:t>garantizar que el valor entregado esté alineado con las necesidades</a:t>
            </a:r>
            <a:r>
              <a:rPr lang="es-ES" dirty="0"/>
              <a:t>.</a:t>
            </a:r>
          </a:p>
          <a:p>
            <a:pPr>
              <a:spcAft>
                <a:spcPts val="600"/>
              </a:spcAft>
            </a:pPr>
            <a:r>
              <a:rPr lang="es-ES" dirty="0"/>
              <a:t>Seguir y completar por completo las tareas de análisis empresarial produce soluciones completas, precisas y relevantes rastreables a una necesidad.</a:t>
            </a:r>
          </a:p>
          <a:p>
            <a:pPr>
              <a:spcAft>
                <a:spcPts val="600"/>
              </a:spcAft>
            </a:pPr>
            <a:r>
              <a:rPr lang="es-ES" dirty="0"/>
              <a:t>Los analistas asumen la responsabilidad de identificar y escalar riesgos y problemas.</a:t>
            </a:r>
          </a:p>
          <a:p>
            <a:pPr>
              <a:spcAft>
                <a:spcPts val="600"/>
              </a:spcAft>
            </a:pPr>
            <a:r>
              <a:rPr lang="es-ES" dirty="0"/>
              <a:t>También aseguran que los tomadores de decisiones tengan la información adecuada para evaluar el impacto.</a:t>
            </a:r>
          </a:p>
        </p:txBody>
      </p:sp>
    </p:spTree>
    <p:extLst>
      <p:ext uri="{BB962C8B-B14F-4D97-AF65-F5344CB8AC3E}">
        <p14:creationId xmlns:p14="http://schemas.microsoft.com/office/powerpoint/2010/main" val="3990833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C709D03A-01AD-C857-C934-5C906022A84B}"/>
              </a:ext>
            </a:extLst>
          </p:cNvPr>
          <p:cNvPicPr>
            <a:picLocks noGrp="1" noChangeAspect="1"/>
          </p:cNvPicPr>
          <p:nvPr>
            <p:ph type="pic" sz="quarter" idx="10"/>
          </p:nvPr>
        </p:nvPicPr>
        <p:blipFill>
          <a:blip r:embed="rId3"/>
          <a:srcRect l="2" r="2"/>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CARACTERÍSTICAS DE COMPORTAMIENTO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CONFIABILIDAD</a:t>
            </a:r>
          </a:p>
          <a:p>
            <a:pPr>
              <a:spcAft>
                <a:spcPts val="600"/>
              </a:spcAft>
            </a:pPr>
            <a:r>
              <a:rPr lang="es-ES" dirty="0"/>
              <a:t>Un analista de negocios que se considere digno de confianza puede compensar el miedo natural al cambio que experimentan muchos </a:t>
            </a:r>
            <a:r>
              <a:rPr lang="es-ES" i="1" dirty="0"/>
              <a:t>stakeholders.</a:t>
            </a:r>
          </a:p>
          <a:p>
            <a:pPr>
              <a:spcAft>
                <a:spcPts val="600"/>
              </a:spcAft>
            </a:pPr>
            <a:r>
              <a:rPr lang="es-ES" dirty="0"/>
              <a:t>Contribuyen para ser considerado digno de confianza:</a:t>
            </a:r>
          </a:p>
          <a:p>
            <a:pPr lvl="1">
              <a:spcAft>
                <a:spcPts val="600"/>
              </a:spcAft>
            </a:pPr>
            <a:r>
              <a:rPr lang="es-ES" dirty="0"/>
              <a:t>Completar tareas y entregables a tiempo, dentro del presupuesto y lograr los resultados </a:t>
            </a:r>
            <a:r>
              <a:rPr lang="es-ES" dirty="0" smtClean="0"/>
              <a:t>esperados.</a:t>
            </a:r>
            <a:endParaRPr lang="es-ES" dirty="0"/>
          </a:p>
          <a:p>
            <a:pPr lvl="1">
              <a:spcAft>
                <a:spcPts val="600"/>
              </a:spcAft>
            </a:pPr>
            <a:r>
              <a:rPr lang="es-ES" dirty="0"/>
              <a:t>Presentar una actitud constante de </a:t>
            </a:r>
            <a:r>
              <a:rPr lang="es-ES" dirty="0" smtClean="0"/>
              <a:t>confianza.</a:t>
            </a:r>
          </a:p>
          <a:p>
            <a:pPr lvl="1">
              <a:spcAft>
                <a:spcPts val="600"/>
              </a:spcAft>
            </a:pPr>
            <a:r>
              <a:rPr lang="es-ES" dirty="0" smtClean="0"/>
              <a:t>Actuar </a:t>
            </a:r>
            <a:r>
              <a:rPr lang="es-ES" dirty="0"/>
              <a:t>de manera honesta y </a:t>
            </a:r>
            <a:r>
              <a:rPr lang="es-ES" dirty="0" smtClean="0"/>
              <a:t>directa</a:t>
            </a:r>
            <a:r>
              <a:rPr lang="es-ES" dirty="0"/>
              <a:t>.</a:t>
            </a:r>
            <a:endParaRPr lang="es-ES" dirty="0"/>
          </a:p>
          <a:p>
            <a:pPr lvl="1">
              <a:spcAft>
                <a:spcPts val="600"/>
              </a:spcAft>
            </a:pPr>
            <a:r>
              <a:rPr lang="es-ES" dirty="0"/>
              <a:t>Mantener un horario constante.</a:t>
            </a:r>
          </a:p>
        </p:txBody>
      </p:sp>
    </p:spTree>
    <p:extLst>
      <p:ext uri="{BB962C8B-B14F-4D97-AF65-F5344CB8AC3E}">
        <p14:creationId xmlns:p14="http://schemas.microsoft.com/office/powerpoint/2010/main" val="217848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DE6EC9C9-3199-F710-4334-8FCB43E9D4A0}"/>
              </a:ext>
            </a:extLst>
          </p:cNvPr>
          <p:cNvPicPr>
            <a:picLocks noGrp="1" noChangeAspect="1"/>
          </p:cNvPicPr>
          <p:nvPr>
            <p:ph type="pic" sz="quarter" idx="10"/>
          </p:nvPr>
        </p:nvPicPr>
        <p:blipFill>
          <a:blip r:embed="rId3"/>
          <a:srcRect l="349" r="349"/>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CARACTERÍSTICAS DE COMPORTAMIENTO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ORGANIZACIÓN Y GESTIÓN DEL TIEMPO</a:t>
            </a:r>
          </a:p>
          <a:p>
            <a:pPr>
              <a:spcAft>
                <a:spcPts val="600"/>
              </a:spcAft>
            </a:pPr>
            <a:r>
              <a:rPr lang="es-ES" dirty="0"/>
              <a:t>Los analistas deben poder diferenciar la información importante que debe conservarse de la menos importante.</a:t>
            </a:r>
          </a:p>
          <a:p>
            <a:pPr>
              <a:spcAft>
                <a:spcPts val="600"/>
              </a:spcAft>
            </a:pPr>
            <a:r>
              <a:rPr lang="es-ES" dirty="0"/>
              <a:t>La gestión eficaz del tiempo requiere la capacidad de priorizar tareas y plazos.</a:t>
            </a:r>
          </a:p>
          <a:p>
            <a:pPr>
              <a:spcAft>
                <a:spcPts val="600"/>
              </a:spcAft>
            </a:pPr>
            <a:r>
              <a:rPr lang="es-ES" dirty="0"/>
              <a:t>Las técnicas para una gestión eficaz del tiempo incluyen establecer límites de tiempo en tareas no críticas, centrar más tiempo en tareas prioritarias y de alto riesgo, reservar tiempo de concentración y gestionar posibles interrupciones.</a:t>
            </a:r>
          </a:p>
        </p:txBody>
      </p:sp>
    </p:spTree>
    <p:extLst>
      <p:ext uri="{BB962C8B-B14F-4D97-AF65-F5344CB8AC3E}">
        <p14:creationId xmlns:p14="http://schemas.microsoft.com/office/powerpoint/2010/main" val="294050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2A2C0D9A-1582-B696-158D-00F3355316DE}"/>
              </a:ext>
            </a:extLst>
          </p:cNvPr>
          <p:cNvPicPr>
            <a:picLocks noGrp="1" noChangeAspect="1"/>
          </p:cNvPicPr>
          <p:nvPr>
            <p:ph type="pic" sz="quarter" idx="10"/>
          </p:nvPr>
        </p:nvPicPr>
        <p:blipFill>
          <a:blip r:embed="rId3"/>
          <a:srcRect l="127" r="127"/>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CARACTERÍSTICAS DE COMPORTAMIENTO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ADAPTABILIDAD</a:t>
            </a:r>
          </a:p>
          <a:p>
            <a:pPr>
              <a:spcAft>
                <a:spcPts val="600"/>
              </a:spcAft>
            </a:pPr>
            <a:r>
              <a:rPr lang="es-ES" dirty="0"/>
              <a:t>La adaptabilidad es la capacidad de cambiar técnicas, estilos, métodos y enfoques.</a:t>
            </a:r>
          </a:p>
          <a:p>
            <a:pPr>
              <a:spcAft>
                <a:spcPts val="600"/>
              </a:spcAft>
            </a:pPr>
            <a:r>
              <a:rPr lang="es-ES" dirty="0"/>
              <a:t>Cuando surgen circunstancias o surgen problemas imprevistos, los  analistas se adaptan </a:t>
            </a:r>
            <a:r>
              <a:rPr lang="es-ES" b="1" dirty="0"/>
              <a:t>modificando sus planes</a:t>
            </a:r>
            <a:r>
              <a:rPr lang="es-ES" dirty="0"/>
              <a:t> e identificando opciones que se pueden utilizar para ofrecer el máximo valor.</a:t>
            </a:r>
          </a:p>
          <a:p>
            <a:pPr>
              <a:spcAft>
                <a:spcPts val="600"/>
              </a:spcAft>
            </a:pPr>
            <a:r>
              <a:rPr lang="es-ES" dirty="0"/>
              <a:t>El analista se adapta cuando  cambian las necesidades del negocio o de los </a:t>
            </a:r>
            <a:r>
              <a:rPr lang="es-ES" i="1" dirty="0"/>
              <a:t>stakeholders</a:t>
            </a:r>
            <a:r>
              <a:rPr lang="es-ES" dirty="0"/>
              <a:t>, o cuando cambia el </a:t>
            </a:r>
            <a:r>
              <a:rPr lang="es-ES" dirty="0" smtClean="0"/>
              <a:t>contexto </a:t>
            </a:r>
            <a:r>
              <a:rPr lang="es-ES" dirty="0"/>
              <a:t>de la meta o el objetivo.</a:t>
            </a:r>
          </a:p>
        </p:txBody>
      </p:sp>
    </p:spTree>
    <p:extLst>
      <p:ext uri="{BB962C8B-B14F-4D97-AF65-F5344CB8AC3E}">
        <p14:creationId xmlns:p14="http://schemas.microsoft.com/office/powerpoint/2010/main" val="2282203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75699ACD-394F-5A38-456A-DD5696C3CAE7}"/>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t>
            </a:r>
            <a:r>
              <a:rPr lang="es-PE" dirty="0" smtClean="0"/>
              <a:t>onocimiento del negocio</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a:spcAft>
                <a:spcPts val="600"/>
              </a:spcAft>
            </a:pPr>
            <a:r>
              <a:rPr lang="es-ES" dirty="0"/>
              <a:t>El conocimiento empresarial permite al analista comprender mejor los conceptos generales que rigen la estructura, los beneficios y el valor de la situación en relación con un cambio o una necesidad.</a:t>
            </a:r>
          </a:p>
          <a:p>
            <a:pPr>
              <a:spcAft>
                <a:spcPts val="600"/>
              </a:spcAft>
            </a:pPr>
            <a:r>
              <a:rPr lang="es-ES" dirty="0"/>
              <a:t>Lo integran las competencias:  </a:t>
            </a:r>
            <a:r>
              <a:rPr lang="es-ES" dirty="0">
                <a:latin typeface="Arimo"/>
                <a:cs typeface="Arial" panose="020B0604020202020204" pitchFamily="34" charset="0"/>
              </a:rPr>
              <a:t>► </a:t>
            </a:r>
            <a:r>
              <a:rPr lang="es-ES" dirty="0"/>
              <a:t>Visión para los negocios, </a:t>
            </a:r>
            <a:r>
              <a:rPr lang="es-ES" dirty="0">
                <a:latin typeface="Arimo"/>
                <a:cs typeface="Arial" panose="020B0604020202020204" pitchFamily="34" charset="0"/>
              </a:rPr>
              <a:t>► </a:t>
            </a:r>
            <a:r>
              <a:rPr lang="es-ES" dirty="0"/>
              <a:t>Conocimiento de la industria, </a:t>
            </a:r>
            <a:r>
              <a:rPr lang="es-ES" dirty="0">
                <a:latin typeface="Arimo"/>
                <a:cs typeface="Arial" panose="020B0604020202020204" pitchFamily="34" charset="0"/>
              </a:rPr>
              <a:t>► </a:t>
            </a:r>
            <a:r>
              <a:rPr lang="es-ES" dirty="0"/>
              <a:t>Conocimiento de la organización, </a:t>
            </a:r>
            <a:r>
              <a:rPr lang="es-ES" dirty="0">
                <a:latin typeface="Arimo"/>
                <a:cs typeface="Arial" panose="020B0604020202020204" pitchFamily="34" charset="0"/>
              </a:rPr>
              <a:t>► </a:t>
            </a:r>
            <a:r>
              <a:rPr lang="es-ES" dirty="0"/>
              <a:t>Conocimiento de la solución, y </a:t>
            </a:r>
            <a:r>
              <a:rPr lang="es-ES" dirty="0">
                <a:latin typeface="Arimo"/>
                <a:cs typeface="Arial" panose="020B0604020202020204" pitchFamily="34" charset="0"/>
              </a:rPr>
              <a:t>► </a:t>
            </a:r>
            <a:r>
              <a:rPr lang="es-ES" dirty="0"/>
              <a:t>Conocimiento de la metodología.</a:t>
            </a:r>
          </a:p>
        </p:txBody>
      </p:sp>
    </p:spTree>
    <p:extLst>
      <p:ext uri="{BB962C8B-B14F-4D97-AF65-F5344CB8AC3E}">
        <p14:creationId xmlns:p14="http://schemas.microsoft.com/office/powerpoint/2010/main" val="99977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32E0CE94-D491-9B5B-4FC9-5058AF492883}"/>
              </a:ext>
            </a:extLst>
          </p:cNvPr>
          <p:cNvPicPr>
            <a:picLocks noGrp="1" noChangeAspect="1"/>
          </p:cNvPicPr>
          <p:nvPr>
            <p:ph type="pic" sz="quarter" idx="10"/>
          </p:nvPr>
        </p:nvPicPr>
        <p:blipFill>
          <a:blip r:embed="rId3"/>
          <a:srcRect l="225" r="22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CONOCIMIENTO DEL NEGOCIO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6"/>
            <a:ext cx="4103687" cy="3329998"/>
          </a:xfrm>
        </p:spPr>
        <p:txBody>
          <a:bodyPr/>
          <a:lstStyle/>
          <a:p>
            <a:pPr marL="0" indent="0">
              <a:spcAft>
                <a:spcPts val="600"/>
              </a:spcAft>
              <a:buNone/>
            </a:pPr>
            <a:r>
              <a:rPr lang="es-ES" b="1" i="1" dirty="0">
                <a:solidFill>
                  <a:srgbClr val="0070C0"/>
                </a:solidFill>
              </a:rPr>
              <a:t>VISIÓN PARA LOS NEGOCIOS</a:t>
            </a:r>
          </a:p>
          <a:p>
            <a:pPr>
              <a:spcAft>
                <a:spcPts val="600"/>
              </a:spcAft>
            </a:pPr>
            <a:r>
              <a:rPr lang="es-ES" dirty="0"/>
              <a:t>Las organizaciones suelen compartir prácticas similares, como requisitos legales y reglamentarios, finanzas, logística, ventas, </a:t>
            </a:r>
            <a:r>
              <a:rPr lang="es-ES" i="1" dirty="0"/>
              <a:t>marketing</a:t>
            </a:r>
            <a:r>
              <a:rPr lang="es-ES" dirty="0"/>
              <a:t>, gestión de la cadena de suministro, recursos humanos y tecnología.</a:t>
            </a:r>
          </a:p>
          <a:p>
            <a:pPr>
              <a:spcAft>
                <a:spcPts val="600"/>
              </a:spcAft>
            </a:pPr>
            <a:r>
              <a:rPr lang="es-ES" dirty="0"/>
              <a:t>Comprender cómo otras organizaciones han resuelto los desafíos puede ser útil al buscar posibles soluciones.</a:t>
            </a:r>
          </a:p>
          <a:p>
            <a:pPr>
              <a:spcAft>
                <a:spcPts val="600"/>
              </a:spcAft>
            </a:pPr>
            <a:r>
              <a:rPr lang="es-ES" dirty="0"/>
              <a:t>Es la capacidad de comprender y aplicar el conocimiento basado en estos puntos en común dentro de diferentes situaciones.</a:t>
            </a:r>
          </a:p>
        </p:txBody>
      </p:sp>
    </p:spTree>
    <p:extLst>
      <p:ext uri="{BB962C8B-B14F-4D97-AF65-F5344CB8AC3E}">
        <p14:creationId xmlns:p14="http://schemas.microsoft.com/office/powerpoint/2010/main" val="2945841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F99C7EA8-7833-A85B-7A4D-EBC240457B15}"/>
              </a:ext>
            </a:extLst>
          </p:cNvPr>
          <p:cNvPicPr>
            <a:picLocks noGrp="1" noChangeAspect="1"/>
          </p:cNvPicPr>
          <p:nvPr>
            <p:ph type="pic" sz="quarter" idx="10"/>
          </p:nvPr>
        </p:nvPicPr>
        <p:blipFill>
          <a:blip r:embed="rId3"/>
          <a:srcRect l="127" r="127"/>
          <a:stretch>
            <a:fillRect/>
          </a:stretch>
        </p:blipFill>
        <p:spPr>
          <a:xfrm>
            <a:off x="4811280" y="804863"/>
            <a:ext cx="4086000" cy="4446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CONOCIMIENTO DEL NEGOCIO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342967" cy="4265026"/>
          </a:xfrm>
        </p:spPr>
        <p:txBody>
          <a:bodyPr/>
          <a:lstStyle/>
          <a:p>
            <a:pPr marL="0" indent="0">
              <a:spcAft>
                <a:spcPts val="600"/>
              </a:spcAft>
              <a:buNone/>
            </a:pPr>
            <a:r>
              <a:rPr lang="es-ES" b="1" i="1" dirty="0">
                <a:solidFill>
                  <a:srgbClr val="0070C0"/>
                </a:solidFill>
              </a:rPr>
              <a:t>CONOCIMIENTO DE LA INDUSTRIA</a:t>
            </a:r>
          </a:p>
          <a:p>
            <a:pPr>
              <a:spcAft>
                <a:spcPts val="600"/>
              </a:spcAft>
            </a:pPr>
            <a:r>
              <a:rPr lang="es-ES" dirty="0"/>
              <a:t>Es una comprensión de </a:t>
            </a:r>
            <a:r>
              <a:rPr lang="es-ES" b="1" dirty="0"/>
              <a:t>cómo se posiciona una empresa dentro de una industria</a:t>
            </a:r>
            <a:r>
              <a:rPr lang="es-ES" dirty="0"/>
              <a:t>, y sus impactos y dependencias, con respecto al mercado y los recursos humanos.</a:t>
            </a:r>
          </a:p>
          <a:p>
            <a:pPr>
              <a:spcAft>
                <a:spcPts val="300"/>
              </a:spcAft>
            </a:pPr>
            <a:r>
              <a:rPr lang="es-ES" dirty="0"/>
              <a:t>También es una comprensión de:</a:t>
            </a:r>
          </a:p>
          <a:p>
            <a:pPr lvl="1">
              <a:spcAft>
                <a:spcPts val="300"/>
              </a:spcAft>
            </a:pPr>
            <a:r>
              <a:rPr lang="es-ES" dirty="0"/>
              <a:t>Segmentos de </a:t>
            </a:r>
            <a:r>
              <a:rPr lang="es-ES" dirty="0" smtClean="0"/>
              <a:t>clientes.</a:t>
            </a:r>
            <a:endParaRPr lang="es-ES" dirty="0"/>
          </a:p>
          <a:p>
            <a:pPr lvl="1">
              <a:spcAft>
                <a:spcPts val="300"/>
              </a:spcAft>
            </a:pPr>
            <a:r>
              <a:rPr lang="es-ES" dirty="0"/>
              <a:t>Las fuerzas del </a:t>
            </a:r>
            <a:r>
              <a:rPr lang="es-ES" dirty="0" smtClean="0"/>
              <a:t>mercado.</a:t>
            </a:r>
            <a:endParaRPr lang="es-ES" dirty="0"/>
          </a:p>
          <a:p>
            <a:pPr lvl="1">
              <a:spcAft>
                <a:spcPts val="300"/>
              </a:spcAft>
            </a:pPr>
            <a:r>
              <a:rPr lang="es-ES" dirty="0" smtClean="0"/>
              <a:t>Servicios.</a:t>
            </a:r>
            <a:endParaRPr lang="es-ES" dirty="0"/>
          </a:p>
          <a:p>
            <a:pPr lvl="1">
              <a:spcAft>
                <a:spcPts val="300"/>
              </a:spcAft>
            </a:pPr>
            <a:r>
              <a:rPr lang="es-ES" dirty="0" smtClean="0"/>
              <a:t>Productos.</a:t>
            </a:r>
            <a:endParaRPr lang="es-ES" dirty="0"/>
          </a:p>
          <a:p>
            <a:pPr lvl="1">
              <a:spcAft>
                <a:spcPts val="300"/>
              </a:spcAft>
            </a:pPr>
            <a:r>
              <a:rPr lang="es-ES" dirty="0" smtClean="0"/>
              <a:t>Proveedores.</a:t>
            </a:r>
            <a:endParaRPr lang="es-ES" dirty="0"/>
          </a:p>
          <a:p>
            <a:pPr lvl="1">
              <a:spcAft>
                <a:spcPts val="300"/>
              </a:spcAft>
            </a:pPr>
            <a:r>
              <a:rPr lang="es-ES" dirty="0"/>
              <a:t>Indicadores de </a:t>
            </a:r>
            <a:r>
              <a:rPr lang="es-ES" dirty="0" smtClean="0"/>
              <a:t>mercado.</a:t>
            </a:r>
            <a:endParaRPr lang="es-ES" dirty="0"/>
          </a:p>
          <a:p>
            <a:pPr lvl="1">
              <a:spcAft>
                <a:spcPts val="300"/>
              </a:spcAft>
            </a:pPr>
            <a:r>
              <a:rPr lang="es-ES" dirty="0" smtClean="0"/>
              <a:t>Prácticas.</a:t>
            </a:r>
            <a:endParaRPr lang="es-ES" dirty="0"/>
          </a:p>
          <a:p>
            <a:pPr lvl="1">
              <a:spcAft>
                <a:spcPts val="300"/>
              </a:spcAft>
            </a:pPr>
            <a:r>
              <a:rPr lang="es-ES" dirty="0"/>
              <a:t>Procesos </a:t>
            </a:r>
            <a:r>
              <a:rPr lang="es-ES" dirty="0" smtClean="0"/>
              <a:t>clave</a:t>
            </a:r>
            <a:r>
              <a:rPr lang="es-ES" dirty="0"/>
              <a:t>.</a:t>
            </a:r>
            <a:endParaRPr lang="es-ES" dirty="0"/>
          </a:p>
          <a:p>
            <a:pPr lvl="1">
              <a:spcAft>
                <a:spcPts val="300"/>
              </a:spcAft>
            </a:pPr>
            <a:r>
              <a:rPr lang="es-ES" dirty="0"/>
              <a:t>Reglamentos.</a:t>
            </a:r>
          </a:p>
        </p:txBody>
      </p:sp>
    </p:spTree>
    <p:extLst>
      <p:ext uri="{BB962C8B-B14F-4D97-AF65-F5344CB8AC3E}">
        <p14:creationId xmlns:p14="http://schemas.microsoft.com/office/powerpoint/2010/main" val="122999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82BC97BB-518E-EB61-E5E9-2DD83EB6BF6D}"/>
              </a:ext>
            </a:extLst>
          </p:cNvPr>
          <p:cNvPicPr>
            <a:picLocks noGrp="1" noChangeAspect="1"/>
          </p:cNvPicPr>
          <p:nvPr>
            <p:ph type="pic" sz="quarter" idx="10"/>
          </p:nvPr>
        </p:nvPicPr>
        <p:blipFill>
          <a:blip r:embed="rId3"/>
          <a:srcRect l="118" r="11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CONOCIMIENTO DEL NEGOCIO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CONOCIMIENTO DE LA ORGANIZACIÓN</a:t>
            </a:r>
          </a:p>
          <a:p>
            <a:pPr>
              <a:spcAft>
                <a:spcPts val="300"/>
              </a:spcAft>
            </a:pPr>
            <a:r>
              <a:rPr lang="es-ES" dirty="0"/>
              <a:t>Incluye una comprensión de:</a:t>
            </a:r>
          </a:p>
          <a:p>
            <a:pPr lvl="1">
              <a:spcAft>
                <a:spcPts val="300"/>
              </a:spcAft>
            </a:pPr>
            <a:r>
              <a:rPr lang="es-ES" dirty="0"/>
              <a:t>Cómo la empresa genera </a:t>
            </a:r>
            <a:r>
              <a:rPr lang="es-ES" dirty="0" smtClean="0"/>
              <a:t>ganancias.</a:t>
            </a:r>
            <a:endParaRPr lang="es-ES" dirty="0"/>
          </a:p>
          <a:p>
            <a:pPr lvl="1">
              <a:spcAft>
                <a:spcPts val="300"/>
              </a:spcAft>
            </a:pPr>
            <a:r>
              <a:rPr lang="es-ES" dirty="0"/>
              <a:t>Cómo logra sus </a:t>
            </a:r>
            <a:r>
              <a:rPr lang="es-ES" dirty="0" smtClean="0"/>
              <a:t>metas.</a:t>
            </a:r>
            <a:endParaRPr lang="es-ES" dirty="0"/>
          </a:p>
          <a:p>
            <a:pPr lvl="1">
              <a:spcAft>
                <a:spcPts val="300"/>
              </a:spcAft>
            </a:pPr>
            <a:r>
              <a:rPr lang="es-ES" dirty="0"/>
              <a:t>Su estructura </a:t>
            </a:r>
            <a:r>
              <a:rPr lang="es-ES" dirty="0" smtClean="0"/>
              <a:t>organizacional.</a:t>
            </a:r>
            <a:endParaRPr lang="es-ES" dirty="0"/>
          </a:p>
          <a:p>
            <a:pPr lvl="1" algn="l">
              <a:spcAft>
                <a:spcPts val="300"/>
              </a:spcAft>
            </a:pPr>
            <a:r>
              <a:rPr lang="es-ES" dirty="0"/>
              <a:t>Las relaciones que existen entre las unidades de </a:t>
            </a:r>
            <a:r>
              <a:rPr lang="es-ES" dirty="0" smtClean="0"/>
              <a:t>negocios</a:t>
            </a:r>
            <a:r>
              <a:rPr lang="es-ES" dirty="0"/>
              <a:t>.</a:t>
            </a:r>
            <a:endParaRPr lang="es-ES" dirty="0"/>
          </a:p>
          <a:p>
            <a:pPr lvl="1" algn="l">
              <a:spcAft>
                <a:spcPts val="600"/>
              </a:spcAft>
            </a:pPr>
            <a:r>
              <a:rPr lang="es-ES" dirty="0"/>
              <a:t>Las personas que ocupan posiciones clave en los </a:t>
            </a:r>
            <a:r>
              <a:rPr lang="es-ES" i="1" dirty="0"/>
              <a:t>stakeholders.</a:t>
            </a:r>
          </a:p>
          <a:p>
            <a:pPr>
              <a:spcAft>
                <a:spcPts val="600"/>
              </a:spcAft>
            </a:pPr>
            <a:r>
              <a:rPr lang="es-ES" dirty="0"/>
              <a:t>El conocimiento de la organización también incluye la comprensión de </a:t>
            </a:r>
            <a:r>
              <a:rPr lang="es-ES" b="1" dirty="0"/>
              <a:t>los canales de comunicación formales e informales</a:t>
            </a:r>
            <a:r>
              <a:rPr lang="es-ES" dirty="0"/>
              <a:t> de la organización, así como la conciencia de las políticas internas que influyen en la toma de decisiones.</a:t>
            </a:r>
          </a:p>
          <a:p>
            <a:pPr>
              <a:spcAft>
                <a:spcPts val="600"/>
              </a:spcAft>
            </a:pPr>
            <a:endParaRPr lang="es-ES" dirty="0"/>
          </a:p>
        </p:txBody>
      </p:sp>
    </p:spTree>
    <p:extLst>
      <p:ext uri="{BB962C8B-B14F-4D97-AF65-F5344CB8AC3E}">
        <p14:creationId xmlns:p14="http://schemas.microsoft.com/office/powerpoint/2010/main" val="238623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CONOCIMIENTO DEL NEGOCIO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CONOCIMIENTO DE LA SOLUCIÓN</a:t>
            </a:r>
          </a:p>
          <a:p>
            <a:pPr>
              <a:spcAft>
                <a:spcPts val="600"/>
              </a:spcAft>
            </a:pPr>
            <a:r>
              <a:rPr lang="es-ES" dirty="0"/>
              <a:t>Cuando el esfuerzo de análisis empresarial implica mejorar una solución existente, los analistas aplican </a:t>
            </a:r>
            <a:r>
              <a:rPr lang="es-ES" b="1" dirty="0"/>
              <a:t>el conocimiento y la experiencia del trabajo anterior</a:t>
            </a:r>
            <a:r>
              <a:rPr lang="es-ES" dirty="0"/>
              <a:t> en la solución.</a:t>
            </a:r>
          </a:p>
          <a:p>
            <a:pPr>
              <a:spcAft>
                <a:spcPts val="600"/>
              </a:spcAft>
            </a:pPr>
            <a:r>
              <a:rPr lang="es-ES" dirty="0"/>
              <a:t>La </a:t>
            </a:r>
            <a:r>
              <a:rPr lang="es-ES" b="1" dirty="0"/>
              <a:t>familiaridad con la gama de soluciones</a:t>
            </a:r>
            <a:r>
              <a:rPr lang="es-ES" dirty="0"/>
              <a:t> o proveedores comercialmente disponibles puede ayudar a identificar posibles alternativas.</a:t>
            </a:r>
          </a:p>
          <a:p>
            <a:pPr>
              <a:spcAft>
                <a:spcPts val="600"/>
              </a:spcAft>
            </a:pPr>
            <a:r>
              <a:rPr lang="es-ES" dirty="0"/>
              <a:t>El conocimiento obtenido de experiencias anteriores permite acelerar el descubrimiento de cambios potenciales a través de la elicitación o el análisis en profundidad.</a:t>
            </a:r>
          </a:p>
        </p:txBody>
      </p:sp>
      <p:pic>
        <p:nvPicPr>
          <p:cNvPr id="15" name="Marcador de posición de imagen 14">
            <a:extLst>
              <a:ext uri="{FF2B5EF4-FFF2-40B4-BE49-F238E27FC236}">
                <a16:creationId xmlns:a16="http://schemas.microsoft.com/office/drawing/2014/main" id="{45F66BFD-8EF9-C211-B25B-E339C53E5F25}"/>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3694987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5AE92337-F443-BB57-04B9-420AB85C09DB}"/>
              </a:ext>
            </a:extLst>
          </p:cNvPr>
          <p:cNvPicPr>
            <a:picLocks noGrp="1" noChangeAspect="1"/>
          </p:cNvPicPr>
          <p:nvPr>
            <p:ph type="pic" sz="quarter" idx="10"/>
          </p:nvPr>
        </p:nvPicPr>
        <p:blipFill>
          <a:blip r:embed="rId3"/>
          <a:srcRect l="234" r="234"/>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CONOCIMIENTO DEL NEGOCIO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CONOCIMIENTO DE LA METODOLOGÍA</a:t>
            </a:r>
          </a:p>
          <a:p>
            <a:pPr>
              <a:spcAft>
                <a:spcPts val="600"/>
              </a:spcAft>
            </a:pPr>
            <a:r>
              <a:rPr lang="es-ES" dirty="0"/>
              <a:t>Las metodologías determinan el momento de entrega de valor, el enfoque, el rol de los involucrados, el nivel de riesgo aceptado y otros aspectos de cómo se aborda y gestiona un cambio.</a:t>
            </a:r>
          </a:p>
          <a:p>
            <a:pPr>
              <a:spcAft>
                <a:spcPts val="600"/>
              </a:spcAft>
            </a:pPr>
            <a:r>
              <a:rPr lang="es-ES" dirty="0"/>
              <a:t>Las organizaciones adoptan o crean sus propias metodologías para adaptarse a diferentes niveles de cultura, madurez, adaptabilidad, riesgo, incertidumbre y gobierno.</a:t>
            </a:r>
          </a:p>
          <a:p>
            <a:pPr>
              <a:spcAft>
                <a:spcPts val="600"/>
              </a:spcAft>
            </a:pPr>
            <a:r>
              <a:rPr lang="es-ES" dirty="0"/>
              <a:t>El conocimiento sobre una variedad de metodologías permite al analista de negocios adaptarse rápidamente y desempeñarse en nuevos entornos.</a:t>
            </a:r>
          </a:p>
        </p:txBody>
      </p:sp>
    </p:spTree>
    <p:extLst>
      <p:ext uri="{BB962C8B-B14F-4D97-AF65-F5344CB8AC3E}">
        <p14:creationId xmlns:p14="http://schemas.microsoft.com/office/powerpoint/2010/main" val="23122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7264B901-3EDA-C8CB-23D8-DA9E9EF42B72}"/>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t>
            </a:r>
            <a:r>
              <a:rPr lang="es-PE" dirty="0" smtClean="0"/>
              <a:t>abilidades de comunicación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82024"/>
            <a:ext cx="8207375" cy="1885371"/>
          </a:xfrm>
        </p:spPr>
        <p:txBody>
          <a:bodyPr/>
          <a:lstStyle/>
          <a:p>
            <a:pPr marL="266400">
              <a:spcAft>
                <a:spcPts val="300"/>
              </a:spcAft>
            </a:pPr>
            <a:r>
              <a:rPr lang="es-ES" dirty="0"/>
              <a:t>Las habilidades de escucha activa ayudan a profundizar la comprensión y la confianza entre el emisor y el receptor.</a:t>
            </a:r>
          </a:p>
          <a:p>
            <a:pPr marL="266400">
              <a:spcAft>
                <a:spcPts val="300"/>
              </a:spcAft>
            </a:pPr>
            <a:r>
              <a:rPr lang="es-ES" dirty="0"/>
              <a:t>Las diferencias entre el remitente y el receptor, como el idioma nativo, la cultura, las motivaciones, las prioridades, la comunicación, el aprendizaje y los estilos de pensamiento pueden requerir métodos de comunicación específicos.</a:t>
            </a:r>
          </a:p>
          <a:p>
            <a:pPr marL="266400">
              <a:spcAft>
                <a:spcPts val="300"/>
              </a:spcAft>
            </a:pPr>
            <a:r>
              <a:rPr lang="es-ES" dirty="0"/>
              <a:t>Lo integran las competencias básicas:  </a:t>
            </a:r>
            <a:r>
              <a:rPr lang="es-ES" dirty="0">
                <a:cs typeface="Arial" panose="020B0604020202020204" pitchFamily="34" charset="0"/>
              </a:rPr>
              <a:t>► Comunicación verbal</a:t>
            </a:r>
            <a:r>
              <a:rPr lang="es-ES" dirty="0"/>
              <a:t>, </a:t>
            </a:r>
            <a:r>
              <a:rPr lang="es-ES" dirty="0">
                <a:cs typeface="Arial" panose="020B0604020202020204" pitchFamily="34" charset="0"/>
              </a:rPr>
              <a:t>► </a:t>
            </a:r>
            <a:r>
              <a:rPr lang="es-ES" dirty="0"/>
              <a:t>Comunicación no verbal, </a:t>
            </a:r>
            <a:r>
              <a:rPr lang="es-ES" dirty="0">
                <a:cs typeface="Arial" panose="020B0604020202020204" pitchFamily="34" charset="0"/>
              </a:rPr>
              <a:t>► </a:t>
            </a:r>
            <a:r>
              <a:rPr lang="es-ES" dirty="0"/>
              <a:t>Comunicación escrita, </a:t>
            </a:r>
            <a:r>
              <a:rPr lang="es-ES" dirty="0">
                <a:cs typeface="Arial" panose="020B0604020202020204" pitchFamily="34" charset="0"/>
              </a:rPr>
              <a:t>► </a:t>
            </a:r>
            <a:r>
              <a:rPr lang="es-ES" dirty="0" smtClean="0"/>
              <a:t>Escucha activa.</a:t>
            </a:r>
            <a:endParaRPr lang="es-ES" dirty="0"/>
          </a:p>
        </p:txBody>
      </p:sp>
    </p:spTree>
    <p:extLst>
      <p:ext uri="{BB962C8B-B14F-4D97-AF65-F5344CB8AC3E}">
        <p14:creationId xmlns:p14="http://schemas.microsoft.com/office/powerpoint/2010/main" val="2587450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F74A2A6F-10B1-4830-AE1C-92D4777848AA}"/>
              </a:ext>
            </a:extLst>
          </p:cNvPr>
          <p:cNvPicPr>
            <a:picLocks noGrp="1" noChangeAspect="1"/>
          </p:cNvPicPr>
          <p:nvPr>
            <p:ph type="pic" sz="quarter" idx="10"/>
          </p:nvPr>
        </p:nvPicPr>
        <p:blipFill>
          <a:blip r:embed="rId3"/>
          <a:srcRect l="2" r="2"/>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COMUNICACIÓN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581567"/>
          </a:xfrm>
        </p:spPr>
        <p:txBody>
          <a:bodyPr/>
          <a:lstStyle/>
          <a:p>
            <a:pPr marL="0" indent="0">
              <a:spcAft>
                <a:spcPts val="600"/>
              </a:spcAft>
              <a:buNone/>
            </a:pPr>
            <a:r>
              <a:rPr lang="es-ES" b="1" i="1" dirty="0">
                <a:solidFill>
                  <a:srgbClr val="0070C0"/>
                </a:solidFill>
              </a:rPr>
              <a:t>COMUNICACIÓN VERBAL</a:t>
            </a:r>
          </a:p>
          <a:p>
            <a:pPr>
              <a:spcAft>
                <a:spcPts val="600"/>
              </a:spcAft>
            </a:pPr>
            <a:r>
              <a:rPr lang="es-ES" dirty="0"/>
              <a:t>Se ocupa específicamente de la elección de palabras y el tono de voz </a:t>
            </a:r>
            <a:r>
              <a:rPr lang="es-ES" dirty="0" smtClean="0"/>
              <a:t>por parte </a:t>
            </a:r>
            <a:r>
              <a:rPr lang="es-ES" dirty="0"/>
              <a:t>del emisor.</a:t>
            </a:r>
          </a:p>
          <a:p>
            <a:pPr>
              <a:spcAft>
                <a:spcPts val="600"/>
              </a:spcAft>
            </a:pPr>
            <a:r>
              <a:rPr lang="es-ES" dirty="0"/>
              <a:t>Cuando el receptor puede ver al remitente, la comunicación no verbal del remitente afecta el significado del mensaje que el receptor entiende.</a:t>
            </a:r>
          </a:p>
          <a:p>
            <a:pPr>
              <a:spcAft>
                <a:spcPts val="600"/>
              </a:spcAft>
            </a:pPr>
            <a:r>
              <a:rPr lang="es-ES" dirty="0"/>
              <a:t>Tener una comprensión del tono de la comunicación y cómo puede influir positiva o negativamente en el oyente le permite al analista comunicarse verbalmente de manera más efectiva.</a:t>
            </a:r>
          </a:p>
        </p:txBody>
      </p:sp>
    </p:spTree>
    <p:extLst>
      <p:ext uri="{BB962C8B-B14F-4D97-AF65-F5344CB8AC3E}">
        <p14:creationId xmlns:p14="http://schemas.microsoft.com/office/powerpoint/2010/main" val="1007833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1E624C27-C456-D8CE-8495-5EDC1F8F420A}"/>
              </a:ext>
            </a:extLst>
          </p:cNvPr>
          <p:cNvPicPr>
            <a:picLocks noGrp="1" noChangeAspect="1"/>
          </p:cNvPicPr>
          <p:nvPr>
            <p:ph type="pic" sz="quarter" idx="10"/>
          </p:nvPr>
        </p:nvPicPr>
        <p:blipFill>
          <a:blip r:embed="rId3"/>
          <a:srcRect l="234" r="234"/>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COMUNICACIÓN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6"/>
            <a:ext cx="4103687" cy="3160032"/>
          </a:xfrm>
        </p:spPr>
        <p:txBody>
          <a:bodyPr/>
          <a:lstStyle/>
          <a:p>
            <a:pPr marL="0" indent="0">
              <a:spcAft>
                <a:spcPts val="600"/>
              </a:spcAft>
              <a:buNone/>
            </a:pPr>
            <a:r>
              <a:rPr lang="es-ES" b="1" i="1" dirty="0">
                <a:solidFill>
                  <a:srgbClr val="0070C0"/>
                </a:solidFill>
              </a:rPr>
              <a:t>COMUNICACIÓN NO VERBAL</a:t>
            </a:r>
          </a:p>
          <a:p>
            <a:pPr>
              <a:spcAft>
                <a:spcPts val="600"/>
              </a:spcAft>
            </a:pPr>
            <a:r>
              <a:rPr lang="es-ES" dirty="0"/>
              <a:t>Los estados de ánimo, las actitudes y los sentimientos impactan el movimiento corporal y las expresiones faciales.</a:t>
            </a:r>
          </a:p>
          <a:p>
            <a:pPr>
              <a:spcAft>
                <a:spcPts val="600"/>
              </a:spcAft>
            </a:pPr>
            <a:r>
              <a:rPr lang="es-ES" dirty="0"/>
              <a:t>El uso efectivo de las habilidades de comunicación no verbal puede presentar una conducta confiable, confiada y capaz.</a:t>
            </a:r>
          </a:p>
          <a:p>
            <a:pPr>
              <a:spcAft>
                <a:spcPts val="600"/>
              </a:spcAft>
            </a:pPr>
            <a:r>
              <a:rPr lang="es-ES" dirty="0"/>
              <a:t>Ser consciente de la comunicación no verbal brinda la oportunidad de ser consciente y abordar los sentimientos de los demás que no se expresan verbalmente.</a:t>
            </a:r>
          </a:p>
        </p:txBody>
      </p:sp>
    </p:spTree>
    <p:extLst>
      <p:ext uri="{BB962C8B-B14F-4D97-AF65-F5344CB8AC3E}">
        <p14:creationId xmlns:p14="http://schemas.microsoft.com/office/powerpoint/2010/main" val="494154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F7D992C3-871D-F6B0-D784-FBBDF61F0386}"/>
              </a:ext>
            </a:extLst>
          </p:cNvPr>
          <p:cNvPicPr>
            <a:picLocks noGrp="1" noChangeAspect="1"/>
          </p:cNvPicPr>
          <p:nvPr>
            <p:ph type="pic" sz="quarter" idx="10"/>
          </p:nvPr>
        </p:nvPicPr>
        <p:blipFill>
          <a:blip r:embed="rId3"/>
          <a:srcRect l="340" r="34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COMUNICACIÓN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862161"/>
          </a:xfrm>
        </p:spPr>
        <p:txBody>
          <a:bodyPr/>
          <a:lstStyle/>
          <a:p>
            <a:pPr marL="0" indent="0">
              <a:spcAft>
                <a:spcPts val="600"/>
              </a:spcAft>
              <a:buNone/>
            </a:pPr>
            <a:r>
              <a:rPr lang="es-ES" b="1" i="1" dirty="0">
                <a:solidFill>
                  <a:srgbClr val="0070C0"/>
                </a:solidFill>
              </a:rPr>
              <a:t>COMUNICACIÓN ESCRITA</a:t>
            </a:r>
          </a:p>
          <a:p>
            <a:pPr>
              <a:spcAft>
                <a:spcPts val="600"/>
              </a:spcAft>
            </a:pPr>
            <a:r>
              <a:rPr lang="es-ES" dirty="0"/>
              <a:t>Es la práctica de usar texto, símbolos, modelos (formales o informales) y bocetos para transmitir y compartir información.</a:t>
            </a:r>
          </a:p>
          <a:p>
            <a:pPr>
              <a:spcAft>
                <a:spcPts val="600"/>
              </a:spcAft>
            </a:pPr>
            <a:r>
              <a:rPr lang="es-ES" dirty="0"/>
              <a:t>La comprensión de la audiencia es beneficiosa para utilizar eficazmente la comunicación escrita.</a:t>
            </a:r>
          </a:p>
          <a:p>
            <a:pPr>
              <a:spcAft>
                <a:spcPts val="600"/>
              </a:spcAft>
            </a:pPr>
            <a:r>
              <a:rPr lang="es-ES" dirty="0"/>
              <a:t>Presentar información e ideas requiere seleccionar las palabras correctas para que la audiencia entienda el significado previsto. </a:t>
            </a:r>
          </a:p>
          <a:p>
            <a:pPr>
              <a:spcAft>
                <a:spcPts val="600"/>
              </a:spcAft>
            </a:pPr>
            <a:r>
              <a:rPr lang="es-ES" dirty="0"/>
              <a:t>La comunicación escrita tiene el desafío adicional de presentar información en un momento o lugar que está alejado del momento y el lugar en que se creó.</a:t>
            </a:r>
          </a:p>
        </p:txBody>
      </p:sp>
    </p:spTree>
    <p:extLst>
      <p:ext uri="{BB962C8B-B14F-4D97-AF65-F5344CB8AC3E}">
        <p14:creationId xmlns:p14="http://schemas.microsoft.com/office/powerpoint/2010/main" val="7584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F6565FC0-85FD-26C3-6446-A1CE72E4A25C}"/>
              </a:ext>
            </a:extLst>
          </p:cNvPr>
          <p:cNvPicPr>
            <a:picLocks noGrp="1" noChangeAspect="1"/>
          </p:cNvPicPr>
          <p:nvPr>
            <p:ph type="pic" sz="quarter" idx="10"/>
          </p:nvPr>
        </p:nvPicPr>
        <p:blipFill>
          <a:blip r:embed="rId3"/>
          <a:srcRect l="242" r="242"/>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COMUNICACIÓN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ESCUCHA</a:t>
            </a:r>
          </a:p>
          <a:p>
            <a:pPr>
              <a:spcAft>
                <a:spcPts val="600"/>
              </a:spcAft>
            </a:pPr>
            <a:r>
              <a:rPr lang="es-ES" dirty="0"/>
              <a:t>La escucha activa implica tanto escuchar como interpretar lo que la otra persona intenta comunicar </a:t>
            </a:r>
            <a:r>
              <a:rPr lang="es-ES" b="1" dirty="0"/>
              <a:t>más allá de las palabras utilizadas</a:t>
            </a:r>
            <a:r>
              <a:rPr lang="es-ES" dirty="0"/>
              <a:t> para comprender la esencia del mensaje.</a:t>
            </a:r>
          </a:p>
          <a:p>
            <a:pPr>
              <a:spcAft>
                <a:spcPts val="600"/>
              </a:spcAft>
            </a:pPr>
            <a:r>
              <a:rPr lang="es-ES" dirty="0"/>
              <a:t>La escucha activa incluye resumir y repetir lo que se dijo en diferentes términos para garantizar que tanto el oyente como el hablante tengan la misma comprensión.</a:t>
            </a:r>
          </a:p>
          <a:p>
            <a:pPr>
              <a:spcAft>
                <a:spcPts val="600"/>
              </a:spcAft>
            </a:pPr>
            <a:r>
              <a:rPr lang="es-ES" dirty="0"/>
              <a:t>Los analistas no solo tienen una mayor oportunidad de comprender con precisión lo que se comunica, sino también de demostrar que creen que lo que dice el orador es importante.</a:t>
            </a:r>
          </a:p>
          <a:p>
            <a:pPr>
              <a:spcAft>
                <a:spcPts val="600"/>
              </a:spcAft>
            </a:pPr>
            <a:endParaRPr lang="es-ES" dirty="0"/>
          </a:p>
          <a:p>
            <a:pPr>
              <a:spcAft>
                <a:spcPts val="600"/>
              </a:spcAft>
            </a:pPr>
            <a:endParaRPr lang="es-ES" dirty="0"/>
          </a:p>
        </p:txBody>
      </p:sp>
    </p:spTree>
    <p:extLst>
      <p:ext uri="{BB962C8B-B14F-4D97-AF65-F5344CB8AC3E}">
        <p14:creationId xmlns:p14="http://schemas.microsoft.com/office/powerpoint/2010/main" val="307263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A533D606-B738-9244-8B79-8D8535B694ED}"/>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t>
            </a:r>
            <a:r>
              <a:rPr lang="es-PE" dirty="0" smtClean="0"/>
              <a:t>abilidades de interacción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a:spcAft>
                <a:spcPts val="600"/>
              </a:spcAft>
            </a:pPr>
            <a:r>
              <a:rPr lang="es-ES" dirty="0"/>
              <a:t>Están representadas por la capacidad del analista de negocios para </a:t>
            </a:r>
            <a:r>
              <a:rPr lang="es-ES" b="1" dirty="0"/>
              <a:t>relacionarse, cooperar y comunicarse</a:t>
            </a:r>
            <a:r>
              <a:rPr lang="es-ES" dirty="0"/>
              <a:t> con diferentes tipos de personas, incluidos ejecutivos, patrocinadores, colegas, miembros del equipo, desarrolladores, proveedores, profesionales de aprendizaje y desarrollo, usuarios finales, clientes y expertos en la materia.</a:t>
            </a:r>
          </a:p>
          <a:p>
            <a:pPr>
              <a:spcAft>
                <a:spcPts val="600"/>
              </a:spcAft>
            </a:pPr>
            <a:r>
              <a:rPr lang="es-ES" dirty="0"/>
              <a:t>Lo integran las </a:t>
            </a:r>
            <a:r>
              <a:rPr lang="es-ES" i="1" dirty="0"/>
              <a:t>competencias básicas</a:t>
            </a:r>
            <a:r>
              <a:rPr lang="es-ES" dirty="0"/>
              <a:t>:  </a:t>
            </a:r>
            <a:r>
              <a:rPr lang="es-ES" dirty="0">
                <a:cs typeface="Arial" panose="020B0604020202020204" pitchFamily="34" charset="0"/>
              </a:rPr>
              <a:t>► Facilitación</a:t>
            </a:r>
            <a:r>
              <a:rPr lang="es-ES" dirty="0"/>
              <a:t>, </a:t>
            </a:r>
            <a:r>
              <a:rPr lang="es-ES" dirty="0">
                <a:cs typeface="Arial" panose="020B0604020202020204" pitchFamily="34" charset="0"/>
              </a:rPr>
              <a:t>► </a:t>
            </a:r>
            <a:r>
              <a:rPr lang="es-ES" dirty="0"/>
              <a:t>Liderazgo e influencia, </a:t>
            </a:r>
            <a:r>
              <a:rPr lang="es-ES" dirty="0">
                <a:cs typeface="Arial" panose="020B0604020202020204" pitchFamily="34" charset="0"/>
              </a:rPr>
              <a:t>► </a:t>
            </a:r>
            <a:r>
              <a:rPr lang="es-ES" dirty="0"/>
              <a:t>Trabajo en equipo, </a:t>
            </a:r>
            <a:r>
              <a:rPr lang="es-ES" dirty="0">
                <a:cs typeface="Arial" panose="020B0604020202020204" pitchFamily="34" charset="0"/>
              </a:rPr>
              <a:t>► </a:t>
            </a:r>
            <a:r>
              <a:rPr lang="es-ES" dirty="0"/>
              <a:t>Negociación y resolución de conflictos,</a:t>
            </a:r>
            <a:r>
              <a:rPr lang="es-ES" dirty="0">
                <a:cs typeface="Arial" panose="020B0604020202020204" pitchFamily="34" charset="0"/>
              </a:rPr>
              <a:t> ► </a:t>
            </a:r>
            <a:r>
              <a:rPr lang="es-ES" dirty="0"/>
              <a:t>Docencia.</a:t>
            </a:r>
          </a:p>
        </p:txBody>
      </p:sp>
    </p:spTree>
    <p:extLst>
      <p:ext uri="{BB962C8B-B14F-4D97-AF65-F5344CB8AC3E}">
        <p14:creationId xmlns:p14="http://schemas.microsoft.com/office/powerpoint/2010/main" val="212512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4B819F0B-40A9-8CCF-FC42-5AA353C88A50}"/>
              </a:ext>
            </a:extLst>
          </p:cNvPr>
          <p:cNvPicPr>
            <a:picLocks noGrp="1" noChangeAspect="1"/>
          </p:cNvPicPr>
          <p:nvPr>
            <p:ph type="pic" sz="quarter" idx="10"/>
          </p:nvPr>
        </p:nvPicPr>
        <p:blipFill>
          <a:blip r:embed="rId3"/>
          <a:srcRect l="127" r="127"/>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INTERACCIÓN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2898775"/>
          </a:xfrm>
        </p:spPr>
        <p:txBody>
          <a:bodyPr/>
          <a:lstStyle/>
          <a:p>
            <a:pPr marL="0" indent="0">
              <a:spcAft>
                <a:spcPts val="600"/>
              </a:spcAft>
              <a:buNone/>
            </a:pPr>
            <a:r>
              <a:rPr lang="es-ES" b="1" i="1" dirty="0">
                <a:solidFill>
                  <a:srgbClr val="0070C0"/>
                </a:solidFill>
              </a:rPr>
              <a:t>FACILITACIÓN</a:t>
            </a:r>
          </a:p>
          <a:p>
            <a:pPr>
              <a:spcAft>
                <a:spcPts val="600"/>
              </a:spcAft>
            </a:pPr>
            <a:r>
              <a:rPr lang="es-ES" dirty="0"/>
              <a:t>La facilitación es la habilidad de moderar las discusiones dentro de un grupo para:</a:t>
            </a:r>
          </a:p>
          <a:p>
            <a:pPr lvl="1">
              <a:spcAft>
                <a:spcPts val="600"/>
              </a:spcAft>
            </a:pPr>
            <a:r>
              <a:rPr lang="es-ES" dirty="0"/>
              <a:t>Permitir que todos los participantes articulen de manera efectiva sus puntos de vista sobre un tema en discusión, y</a:t>
            </a:r>
          </a:p>
          <a:p>
            <a:pPr lvl="1">
              <a:spcAft>
                <a:spcPts val="600"/>
              </a:spcAft>
            </a:pPr>
            <a:r>
              <a:rPr lang="es-ES" dirty="0"/>
              <a:t>Garantizar que los participantes en la discusión puedan reconocer y apreciar los diferentes puntos de vista que se articulan.</a:t>
            </a:r>
          </a:p>
        </p:txBody>
      </p:sp>
    </p:spTree>
    <p:extLst>
      <p:ext uri="{BB962C8B-B14F-4D97-AF65-F5344CB8AC3E}">
        <p14:creationId xmlns:p14="http://schemas.microsoft.com/office/powerpoint/2010/main" val="1028217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85162491-AD47-A3C3-F47E-199311C1FBEF}"/>
              </a:ext>
            </a:extLst>
          </p:cNvPr>
          <p:cNvPicPr>
            <a:picLocks noGrp="1" noChangeAspect="1"/>
          </p:cNvPicPr>
          <p:nvPr>
            <p:ph type="pic" sz="quarter" idx="10"/>
          </p:nvPr>
        </p:nvPicPr>
        <p:blipFill>
          <a:blip r:embed="rId3"/>
          <a:srcRect l="127" r="127"/>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INTERACCIÓN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LIDERAZGO E INFLUENCIA</a:t>
            </a:r>
          </a:p>
          <a:p>
            <a:pPr>
              <a:spcAft>
                <a:spcPts val="600"/>
              </a:spcAft>
            </a:pPr>
            <a:r>
              <a:rPr lang="es-ES" dirty="0"/>
              <a:t>El liderazgo y la influencia implican motivar a las personas para que actúen de manera que les permita trabajar juntas para lograr metas y objetivos compartidos.</a:t>
            </a:r>
          </a:p>
          <a:p>
            <a:pPr>
              <a:spcAft>
                <a:spcPts val="600"/>
              </a:spcAft>
            </a:pPr>
            <a:r>
              <a:rPr lang="es-ES" dirty="0"/>
              <a:t>Comprender los motivos, las necesidades y las capacidades individuales de cada </a:t>
            </a:r>
            <a:r>
              <a:rPr lang="es-ES" i="1" dirty="0"/>
              <a:t>stakeholder</a:t>
            </a:r>
            <a:r>
              <a:rPr lang="es-ES" dirty="0"/>
              <a:t> y cómo se pueden canalizar de manera </a:t>
            </a:r>
            <a:r>
              <a:rPr lang="es-ES" dirty="0" smtClean="0"/>
              <a:t>efectiva, </a:t>
            </a:r>
            <a:r>
              <a:rPr lang="es-ES" dirty="0"/>
              <a:t>ayuda a los analistas a cumplir los objetivos de la organización.</a:t>
            </a:r>
          </a:p>
          <a:p>
            <a:pPr>
              <a:spcAft>
                <a:spcPts val="600"/>
              </a:spcAft>
            </a:pPr>
            <a:r>
              <a:rPr lang="es-ES" dirty="0"/>
              <a:t>El definir, analizar y comunicar la información del análisis empresarial brinda oportunidades para el liderazgo y la influencia, ya sea que haya o no personas que reporten formalmente al analista.</a:t>
            </a:r>
          </a:p>
        </p:txBody>
      </p:sp>
    </p:spTree>
    <p:extLst>
      <p:ext uri="{BB962C8B-B14F-4D97-AF65-F5344CB8AC3E}">
        <p14:creationId xmlns:p14="http://schemas.microsoft.com/office/powerpoint/2010/main" val="160216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INTERACCIÓN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58875"/>
            <a:ext cx="4103687" cy="3364139"/>
          </a:xfrm>
        </p:spPr>
        <p:txBody>
          <a:bodyPr/>
          <a:lstStyle/>
          <a:p>
            <a:pPr marL="0" indent="0">
              <a:spcAft>
                <a:spcPts val="600"/>
              </a:spcAft>
              <a:buNone/>
            </a:pPr>
            <a:r>
              <a:rPr lang="es-ES" b="1" i="1" dirty="0">
                <a:solidFill>
                  <a:srgbClr val="0070C0"/>
                </a:solidFill>
              </a:rPr>
              <a:t>TRABAJO EN EQUIPO</a:t>
            </a:r>
          </a:p>
          <a:p>
            <a:pPr>
              <a:spcAft>
                <a:spcPts val="600"/>
              </a:spcAft>
            </a:pPr>
            <a:r>
              <a:rPr lang="es-ES" dirty="0"/>
              <a:t>Los analistas de negocios a menudo trabajan como parte de un equipo con otros analistas, gerentes de proyectos, </a:t>
            </a:r>
            <a:r>
              <a:rPr lang="es-ES" i="1" dirty="0"/>
              <a:t>stakeholders </a:t>
            </a:r>
            <a:r>
              <a:rPr lang="es-ES" dirty="0"/>
              <a:t>y expertos en la materia. </a:t>
            </a:r>
          </a:p>
          <a:p>
            <a:pPr>
              <a:spcAft>
                <a:spcPts val="600"/>
              </a:spcAft>
            </a:pPr>
            <a:r>
              <a:rPr lang="es-ES" dirty="0"/>
              <a:t>Es crucial reconocer la dinámica del equipo y que rol desempeñan a medida que avanza a través de varias etapas de un proyecto.</a:t>
            </a:r>
          </a:p>
          <a:p>
            <a:pPr>
              <a:spcAft>
                <a:spcPts val="600"/>
              </a:spcAft>
            </a:pPr>
            <a:r>
              <a:rPr lang="es-ES" dirty="0"/>
              <a:t>Construir y mantener la confianza de los compañeros de equipo contribuye a la integridad del equipo y lo ayuda a que se desempeñe a su máxima capacidad. </a:t>
            </a:r>
          </a:p>
        </p:txBody>
      </p:sp>
      <p:pic>
        <p:nvPicPr>
          <p:cNvPr id="9" name="Marcador de posición de imagen 8">
            <a:extLst>
              <a:ext uri="{FF2B5EF4-FFF2-40B4-BE49-F238E27FC236}">
                <a16:creationId xmlns:a16="http://schemas.microsoft.com/office/drawing/2014/main" id="{F9B562F7-1119-86EA-7215-D8A23FD6FC29}"/>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3253730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BDAFE45F-5F7E-1BB1-4ED9-6724257E9B2E}"/>
              </a:ext>
            </a:extLst>
          </p:cNvPr>
          <p:cNvPicPr>
            <a:picLocks noGrp="1" noChangeAspect="1"/>
          </p:cNvPicPr>
          <p:nvPr>
            <p:ph type="pic" sz="quarter" idx="10"/>
          </p:nvPr>
        </p:nvPicPr>
        <p:blipFill>
          <a:blip r:embed="rId3"/>
          <a:srcRect l="234" r="234"/>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INTERACCIÓN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NEGOCIACIÓN Y RESOLUCIÓN DE CONFLICTOS</a:t>
            </a:r>
          </a:p>
          <a:p>
            <a:pPr>
              <a:spcAft>
                <a:spcPts val="600"/>
              </a:spcAft>
            </a:pPr>
            <a:r>
              <a:rPr lang="es-ES" dirty="0"/>
              <a:t>Implica </a:t>
            </a:r>
            <a:r>
              <a:rPr lang="es-ES" b="1" dirty="0"/>
              <a:t>mediar en las discusiones</a:t>
            </a:r>
            <a:r>
              <a:rPr lang="es-ES" dirty="0"/>
              <a:t> entre los participantes para ayudarlos a reconocer que existen diferentes puntos de vista sobre el tema y resolver las diferencias.</a:t>
            </a:r>
          </a:p>
          <a:p>
            <a:pPr>
              <a:spcAft>
                <a:spcPts val="600"/>
              </a:spcAft>
            </a:pPr>
            <a:r>
              <a:rPr lang="es-ES" dirty="0"/>
              <a:t>La negociación exitosa y la resolución de conflictos incluye </a:t>
            </a:r>
            <a:r>
              <a:rPr lang="es-ES" b="1" dirty="0"/>
              <a:t>identificar los intereses subyacentes</a:t>
            </a:r>
            <a:r>
              <a:rPr lang="es-ES" dirty="0"/>
              <a:t> de las partes, distinguir esos intereses de sus posiciones declaradas y ayudar a las partes a identificar soluciones que satisfagan esos intereses subyacentes.</a:t>
            </a:r>
          </a:p>
          <a:p>
            <a:pPr>
              <a:spcAft>
                <a:spcPts val="600"/>
              </a:spcAft>
            </a:pPr>
            <a:r>
              <a:rPr lang="es-ES" dirty="0"/>
              <a:t>El analista empresarial logra esto mientras se asegura de que el resultado de la resolución se alinee con la solución general y las necesidades comerciales.</a:t>
            </a:r>
          </a:p>
        </p:txBody>
      </p:sp>
    </p:spTree>
    <p:extLst>
      <p:ext uri="{BB962C8B-B14F-4D97-AF65-F5344CB8AC3E}">
        <p14:creationId xmlns:p14="http://schemas.microsoft.com/office/powerpoint/2010/main" val="43528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B69F4F5B-12A1-3FAF-6EDE-A9D61DEF8660}"/>
              </a:ext>
            </a:extLst>
          </p:cNvPr>
          <p:cNvPicPr>
            <a:picLocks noGrp="1" noChangeAspect="1"/>
          </p:cNvPicPr>
          <p:nvPr>
            <p:ph type="pic" sz="quarter" idx="10"/>
          </p:nvPr>
        </p:nvPicPr>
        <p:blipFill>
          <a:blip r:embed="rId3"/>
          <a:srcRect l="127" r="127"/>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HABILIDADES DE INTERACCIÓN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DOCENCIA</a:t>
            </a:r>
          </a:p>
          <a:p>
            <a:pPr>
              <a:spcAft>
                <a:spcPts val="600"/>
              </a:spcAft>
            </a:pPr>
            <a:r>
              <a:rPr lang="es-ES" dirty="0"/>
              <a:t>Los analistas de negocios llevan a los </a:t>
            </a:r>
            <a:r>
              <a:rPr lang="es-ES" i="1" dirty="0"/>
              <a:t>stakeholders</a:t>
            </a:r>
            <a:r>
              <a:rPr lang="es-ES" dirty="0"/>
              <a:t> a </a:t>
            </a:r>
            <a:r>
              <a:rPr lang="es-ES" b="1" dirty="0"/>
              <a:t>descubrir la claridad</a:t>
            </a:r>
            <a:r>
              <a:rPr lang="es-ES" dirty="0"/>
              <a:t> en la ambigüedad ayudándolos a aprender sobre los contextos y el valor de las necesidades que se investigan.</a:t>
            </a:r>
          </a:p>
          <a:p>
            <a:pPr>
              <a:spcAft>
                <a:spcPts val="600"/>
              </a:spcAft>
            </a:pPr>
            <a:r>
              <a:rPr lang="es-ES" dirty="0"/>
              <a:t>Esto requiere habilidades de enseñanza para seleccionar los enfoques de enseñanza visuales, verbales, escritos y cinestésicos más apropiados de acuerdo con la información o las técnicas que se enseñan.</a:t>
            </a:r>
          </a:p>
          <a:p>
            <a:pPr>
              <a:spcAft>
                <a:spcPts val="600"/>
              </a:spcAft>
            </a:pPr>
            <a:r>
              <a:rPr lang="es-ES" dirty="0"/>
              <a:t>Los analistas de negocios frecuentemente obtienen y aprenden nueva información, y luego enseñan esta información a los </a:t>
            </a:r>
            <a:r>
              <a:rPr lang="es-ES" i="1" dirty="0"/>
              <a:t>stakeholders</a:t>
            </a:r>
            <a:r>
              <a:rPr lang="es-ES" dirty="0"/>
              <a:t> de manera significativa.</a:t>
            </a:r>
          </a:p>
        </p:txBody>
      </p:sp>
    </p:spTree>
    <p:extLst>
      <p:ext uri="{BB962C8B-B14F-4D97-AF65-F5344CB8AC3E}">
        <p14:creationId xmlns:p14="http://schemas.microsoft.com/office/powerpoint/2010/main" val="830397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DB18074F-DA4E-717E-F5A4-E229AC4E5407}"/>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a:t>
            </a:r>
            <a:r>
              <a:rPr lang="es-PE" dirty="0" smtClean="0"/>
              <a:t>erramientas y tecnología</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a:spcAft>
                <a:spcPts val="600"/>
              </a:spcAft>
            </a:pPr>
            <a:r>
              <a:rPr lang="es-ES" dirty="0"/>
              <a:t>Los analistas de negocios usan una variedad de aplicaciones de software para respaldar la comunicación y la colaboración, crear y mantener artefactos de requisitos, modelar conceptos, rastrear problemas y aumentar la productividad general.</a:t>
            </a:r>
          </a:p>
          <a:p>
            <a:pPr>
              <a:spcAft>
                <a:spcPts val="600"/>
              </a:spcAft>
            </a:pPr>
            <a:r>
              <a:rPr lang="es-ES" dirty="0"/>
              <a:t>Lo integran las </a:t>
            </a:r>
            <a:r>
              <a:rPr lang="es-ES" i="1" dirty="0"/>
              <a:t>competencias técnicas</a:t>
            </a:r>
            <a:r>
              <a:rPr lang="es-ES" dirty="0"/>
              <a:t>:  </a:t>
            </a:r>
            <a:r>
              <a:rPr lang="es-ES" dirty="0">
                <a:cs typeface="Arial" panose="020B0604020202020204" pitchFamily="34" charset="0"/>
              </a:rPr>
              <a:t>► Tecnología y herramientas de productividad de oficina</a:t>
            </a:r>
            <a:r>
              <a:rPr lang="es-ES" dirty="0"/>
              <a:t>, </a:t>
            </a:r>
            <a:r>
              <a:rPr lang="es-ES" dirty="0">
                <a:cs typeface="Arial" panose="020B0604020202020204" pitchFamily="34" charset="0"/>
              </a:rPr>
              <a:t>► </a:t>
            </a:r>
            <a:r>
              <a:rPr lang="es-ES" dirty="0"/>
              <a:t>Tecnología y herramientas de análisis empresarial, </a:t>
            </a:r>
            <a:r>
              <a:rPr lang="es-ES" dirty="0">
                <a:cs typeface="Arial" panose="020B0604020202020204" pitchFamily="34" charset="0"/>
              </a:rPr>
              <a:t>► </a:t>
            </a:r>
            <a:r>
              <a:rPr lang="es-ES" dirty="0"/>
              <a:t>Tecnología y herramientas de comunicación.</a:t>
            </a:r>
          </a:p>
        </p:txBody>
      </p:sp>
    </p:spTree>
    <p:extLst>
      <p:ext uri="{BB962C8B-B14F-4D97-AF65-F5344CB8AC3E}">
        <p14:creationId xmlns:p14="http://schemas.microsoft.com/office/powerpoint/2010/main" val="1870417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173B7F91-2793-630C-13E4-AE71E0DD8874}"/>
              </a:ext>
            </a:extLst>
          </p:cNvPr>
          <p:cNvPicPr>
            <a:picLocks noGrp="1" noChangeAspect="1"/>
          </p:cNvPicPr>
          <p:nvPr>
            <p:ph type="pic" sz="quarter" idx="10"/>
          </p:nvPr>
        </p:nvPicPr>
        <p:blipFill>
          <a:blip r:embed="rId3"/>
          <a:srcRect l="225" r="22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HERRAMIENTAS Y TECNOLOGÍA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PRODUCTIVIDAD DE OFICINA</a:t>
            </a:r>
          </a:p>
          <a:p>
            <a:pPr>
              <a:spcAft>
                <a:spcPts val="600"/>
              </a:spcAft>
            </a:pPr>
            <a:r>
              <a:rPr lang="es-ES" dirty="0"/>
              <a:t>Las herramientas de productividad de oficina brindan la capacidad de organizar, diseccionar, manipular, comprender y comunicar información con claridad.</a:t>
            </a:r>
          </a:p>
          <a:p>
            <a:pPr>
              <a:spcAft>
                <a:spcPts val="300"/>
              </a:spcAft>
            </a:pPr>
            <a:r>
              <a:rPr lang="es-ES" dirty="0"/>
              <a:t>Las herramientas de </a:t>
            </a:r>
            <a:r>
              <a:rPr lang="es-ES" dirty="0" smtClean="0"/>
              <a:t>oficina </a:t>
            </a:r>
            <a:r>
              <a:rPr lang="es-ES" dirty="0"/>
              <a:t>incluyen:</a:t>
            </a:r>
          </a:p>
          <a:p>
            <a:pPr lvl="1">
              <a:spcAft>
                <a:spcPts val="300"/>
              </a:spcAft>
            </a:pPr>
            <a:r>
              <a:rPr lang="es-ES" dirty="0"/>
              <a:t>Programas de presentación y procesamiento de </a:t>
            </a:r>
            <a:r>
              <a:rPr lang="es-ES" dirty="0" smtClean="0"/>
              <a:t>textos.</a:t>
            </a:r>
            <a:endParaRPr lang="es-ES" dirty="0"/>
          </a:p>
          <a:p>
            <a:pPr lvl="1">
              <a:spcAft>
                <a:spcPts val="300"/>
              </a:spcAft>
            </a:pPr>
            <a:r>
              <a:rPr lang="es-ES" dirty="0"/>
              <a:t>Software de </a:t>
            </a:r>
            <a:r>
              <a:rPr lang="es-ES" dirty="0" smtClean="0"/>
              <a:t>presentación.</a:t>
            </a:r>
            <a:endParaRPr lang="es-ES" dirty="0"/>
          </a:p>
          <a:p>
            <a:pPr lvl="1">
              <a:spcAft>
                <a:spcPts val="300"/>
              </a:spcAft>
            </a:pPr>
            <a:r>
              <a:rPr lang="es-ES" dirty="0"/>
              <a:t>Hojas de </a:t>
            </a:r>
            <a:r>
              <a:rPr lang="es-ES" dirty="0" smtClean="0"/>
              <a:t>cálculo.</a:t>
            </a:r>
            <a:endParaRPr lang="es-ES" dirty="0"/>
          </a:p>
          <a:p>
            <a:pPr lvl="1">
              <a:spcAft>
                <a:spcPts val="300"/>
              </a:spcAft>
            </a:pPr>
            <a:r>
              <a:rPr lang="es-ES" dirty="0"/>
              <a:t>Herramientas de comunicación (correo electrónico, mensajería instantánea</a:t>
            </a:r>
            <a:r>
              <a:rPr lang="es-ES" dirty="0" smtClean="0"/>
              <a:t>).</a:t>
            </a:r>
            <a:endParaRPr lang="es-ES" dirty="0"/>
          </a:p>
          <a:p>
            <a:pPr lvl="1">
              <a:spcAft>
                <a:spcPts val="300"/>
              </a:spcAft>
            </a:pPr>
            <a:r>
              <a:rPr lang="es-ES" dirty="0"/>
              <a:t>Herramientas de colaboración y gestión del </a:t>
            </a:r>
            <a:r>
              <a:rPr lang="es-ES" dirty="0" smtClean="0"/>
              <a:t>conocimiento.</a:t>
            </a:r>
            <a:endParaRPr lang="es-ES" dirty="0"/>
          </a:p>
          <a:p>
            <a:pPr lvl="1">
              <a:spcAft>
                <a:spcPts val="600"/>
              </a:spcAft>
            </a:pPr>
            <a:r>
              <a:rPr lang="es-ES" dirty="0"/>
              <a:t>Hardware.</a:t>
            </a:r>
          </a:p>
        </p:txBody>
      </p:sp>
    </p:spTree>
    <p:extLst>
      <p:ext uri="{BB962C8B-B14F-4D97-AF65-F5344CB8AC3E}">
        <p14:creationId xmlns:p14="http://schemas.microsoft.com/office/powerpoint/2010/main" val="2992153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45B7BB7C-4C33-3264-66C2-8420EA9E86F2}"/>
              </a:ext>
            </a:extLst>
          </p:cNvPr>
          <p:cNvPicPr>
            <a:picLocks noGrp="1" noChangeAspect="1"/>
          </p:cNvPicPr>
          <p:nvPr>
            <p:ph type="pic" sz="quarter" idx="10"/>
          </p:nvPr>
        </p:nvPicPr>
        <p:blipFill>
          <a:blip r:embed="rId3"/>
          <a:srcRect l="340" r="34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HERRAMIENTAS Y TECNOLOGÍA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ANÁLISIS EMPRESARIAL</a:t>
            </a:r>
          </a:p>
          <a:p>
            <a:pPr>
              <a:spcAft>
                <a:spcPts val="600"/>
              </a:spcAft>
            </a:pPr>
            <a:r>
              <a:rPr lang="es-ES" dirty="0"/>
              <a:t>Las herramientas que son específicas para el campo del análisis empresarial brindan capacidades especializadas en:</a:t>
            </a:r>
          </a:p>
          <a:p>
            <a:pPr lvl="1">
              <a:spcAft>
                <a:spcPts val="600"/>
              </a:spcAft>
            </a:pPr>
            <a:r>
              <a:rPr lang="es-ES" dirty="0" smtClean="0"/>
              <a:t>Modelado.</a:t>
            </a:r>
            <a:endParaRPr lang="es-ES" dirty="0"/>
          </a:p>
          <a:p>
            <a:pPr lvl="1">
              <a:spcAft>
                <a:spcPts val="600"/>
              </a:spcAft>
            </a:pPr>
            <a:r>
              <a:rPr lang="es-ES" dirty="0" smtClean="0"/>
              <a:t>Diagramación.</a:t>
            </a:r>
            <a:endParaRPr lang="es-ES" dirty="0"/>
          </a:p>
          <a:p>
            <a:pPr lvl="1">
              <a:spcAft>
                <a:spcPts val="600"/>
              </a:spcAft>
            </a:pPr>
            <a:r>
              <a:rPr lang="es-ES" dirty="0" smtClean="0"/>
              <a:t>Documentar.</a:t>
            </a:r>
            <a:endParaRPr lang="es-ES" dirty="0"/>
          </a:p>
          <a:p>
            <a:pPr lvl="1">
              <a:spcAft>
                <a:spcPts val="600"/>
              </a:spcAft>
            </a:pPr>
            <a:r>
              <a:rPr lang="es-ES" dirty="0"/>
              <a:t>Análisis y mapeo de </a:t>
            </a:r>
            <a:r>
              <a:rPr lang="es-ES" dirty="0" smtClean="0"/>
              <a:t>requisitos.</a:t>
            </a:r>
            <a:endParaRPr lang="es-ES" dirty="0"/>
          </a:p>
          <a:p>
            <a:pPr lvl="1">
              <a:spcAft>
                <a:spcPts val="600"/>
              </a:spcAft>
            </a:pPr>
            <a:r>
              <a:rPr lang="es-ES" dirty="0"/>
              <a:t>Identificar las relaciones entre los </a:t>
            </a:r>
            <a:r>
              <a:rPr lang="es-ES" dirty="0" smtClean="0"/>
              <a:t>requisitos.</a:t>
            </a:r>
            <a:endParaRPr lang="es-ES" dirty="0"/>
          </a:p>
          <a:p>
            <a:pPr lvl="1">
              <a:spcAft>
                <a:spcPts val="600"/>
              </a:spcAft>
            </a:pPr>
            <a:r>
              <a:rPr lang="es-ES" dirty="0"/>
              <a:t>Seguimiento y almacenamiento de artefactos de </a:t>
            </a:r>
            <a:r>
              <a:rPr lang="es-ES" dirty="0" smtClean="0"/>
              <a:t>requisitos</a:t>
            </a:r>
            <a:r>
              <a:rPr lang="es-ES" dirty="0"/>
              <a:t>.</a:t>
            </a:r>
            <a:endParaRPr lang="es-ES" dirty="0"/>
          </a:p>
          <a:p>
            <a:pPr lvl="1">
              <a:spcAft>
                <a:spcPts val="600"/>
              </a:spcAft>
            </a:pPr>
            <a:r>
              <a:rPr lang="es-ES" dirty="0"/>
              <a:t>Comunicarse con los </a:t>
            </a:r>
            <a:r>
              <a:rPr lang="es-ES" i="1" dirty="0"/>
              <a:t>stakeholders.</a:t>
            </a:r>
          </a:p>
        </p:txBody>
      </p:sp>
    </p:spTree>
    <p:extLst>
      <p:ext uri="{BB962C8B-B14F-4D97-AF65-F5344CB8AC3E}">
        <p14:creationId xmlns:p14="http://schemas.microsoft.com/office/powerpoint/2010/main" val="1430044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BE3F9A8E-D30D-C18A-49C0-89ED4FBB3DEB}"/>
              </a:ext>
            </a:extLst>
          </p:cNvPr>
          <p:cNvPicPr>
            <a:picLocks noGrp="1" noChangeAspect="1"/>
          </p:cNvPicPr>
          <p:nvPr>
            <p:ph type="pic" sz="quarter" idx="10"/>
          </p:nvPr>
        </p:nvPicPr>
        <p:blipFill>
          <a:blip r:embed="rId3"/>
          <a:srcRect l="234" r="234"/>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HERRAMIENTAS Y TECNOLOGÍA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COMPETENCIAS FUNDAMENTALES</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p:txBody>
          <a:bodyPr/>
          <a:lstStyle/>
          <a:p>
            <a:pPr marL="0" indent="0">
              <a:spcAft>
                <a:spcPts val="600"/>
              </a:spcAft>
              <a:buNone/>
            </a:pPr>
            <a:r>
              <a:rPr lang="es-ES" b="1" i="1" dirty="0">
                <a:solidFill>
                  <a:srgbClr val="0070C0"/>
                </a:solidFill>
              </a:rPr>
              <a:t>COMUNICACIÓN</a:t>
            </a:r>
          </a:p>
          <a:p>
            <a:pPr>
              <a:spcAft>
                <a:spcPts val="600"/>
              </a:spcAft>
            </a:pPr>
            <a:r>
              <a:rPr lang="es-ES" dirty="0"/>
              <a:t>Herramientas que permiten trabajar con equipos virtuales y también presenciales.</a:t>
            </a:r>
          </a:p>
          <a:p>
            <a:pPr>
              <a:spcAft>
                <a:spcPts val="600"/>
              </a:spcAft>
            </a:pPr>
            <a:r>
              <a:rPr lang="es-ES" dirty="0"/>
              <a:t>Los analistas seleccionan la herramienta y la tecnología </a:t>
            </a:r>
            <a:r>
              <a:rPr lang="es-ES" b="1" dirty="0"/>
              <a:t>adecuadas para la situación</a:t>
            </a:r>
            <a:r>
              <a:rPr lang="es-ES" dirty="0"/>
              <a:t> y el grupo de </a:t>
            </a:r>
            <a:r>
              <a:rPr lang="es-ES" b="1" i="1" dirty="0"/>
              <a:t>stakeholders</a:t>
            </a:r>
            <a:r>
              <a:rPr lang="es-ES" i="1" dirty="0"/>
              <a:t> </a:t>
            </a:r>
            <a:r>
              <a:rPr lang="es-ES" dirty="0"/>
              <a:t>mientras equilibran el costo, el riesgo y el valor.</a:t>
            </a:r>
          </a:p>
          <a:p>
            <a:pPr>
              <a:spcAft>
                <a:spcPts val="600"/>
              </a:spcAft>
            </a:pPr>
            <a:r>
              <a:rPr lang="es-ES" dirty="0"/>
              <a:t>De interacción (comunicaciones de voz, mensajería instantánea, chat en línea, correo electrónico, blogs y microblogging).</a:t>
            </a:r>
          </a:p>
          <a:p>
            <a:pPr>
              <a:spcAft>
                <a:spcPts val="600"/>
              </a:spcAft>
            </a:pPr>
            <a:r>
              <a:rPr lang="es-ES" dirty="0"/>
              <a:t>De colaboración (videoconferencias, pizarras electrónicas, wikis, calendarios electrónicos, intercambio de ideas en línea, toma de decisiones electrónicas, votación electrónica, intercambio de documentos).</a:t>
            </a:r>
          </a:p>
        </p:txBody>
      </p:sp>
    </p:spTree>
    <p:extLst>
      <p:ext uri="{BB962C8B-B14F-4D97-AF65-F5344CB8AC3E}">
        <p14:creationId xmlns:p14="http://schemas.microsoft.com/office/powerpoint/2010/main" val="306933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6652333" cy="536146"/>
          </a:xfrm>
        </p:spPr>
        <p:txBody>
          <a:bodyPr/>
          <a:lstStyle/>
          <a:p>
            <a:pPr marL="274638" indent="-274638">
              <a:tabLst>
                <a:tab pos="274638" algn="l"/>
              </a:tabLst>
            </a:pPr>
            <a:r>
              <a:rPr lang="es-PE" dirty="0"/>
              <a:t>/	ROL EN UNA FÁBRICA DE SOFTWARE</a:t>
            </a:r>
          </a:p>
        </p:txBody>
      </p:sp>
    </p:spTree>
    <p:custDataLst>
      <p:tags r:id="rId1"/>
    </p:custDataLst>
    <p:extLst>
      <p:ext uri="{BB962C8B-B14F-4D97-AF65-F5344CB8AC3E}">
        <p14:creationId xmlns:p14="http://schemas.microsoft.com/office/powerpoint/2010/main" val="326674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posición de imagen 5">
            <a:extLst>
              <a:ext uri="{FF2B5EF4-FFF2-40B4-BE49-F238E27FC236}">
                <a16:creationId xmlns:a16="http://schemas.microsoft.com/office/drawing/2014/main" id="{3956E034-4D21-8122-7477-FF5388B7A135}"/>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ruebas de aseguramiento de calidad</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El rol de un analista funcional (empresarial) en una fábrica de software, generalmente abarca desde la comprensión de los requerimientos del cliente hasta la garantía de calidad del producto final, colaborando estrechamente con el equipo de desarrollo en cada etapa del ciclo de vida del software.</a:t>
            </a:r>
          </a:p>
          <a:p>
            <a:r>
              <a:rPr lang="es-ES" dirty="0"/>
              <a:t>En las siguientes láminas abordaremos algunas de las responsabilidades y tareas típicas que un </a:t>
            </a:r>
            <a:r>
              <a:rPr lang="es-ES" dirty="0" smtClean="0"/>
              <a:t>analista </a:t>
            </a:r>
            <a:r>
              <a:rPr lang="es-ES" dirty="0"/>
              <a:t>f</a:t>
            </a:r>
            <a:r>
              <a:rPr lang="es-ES" dirty="0" smtClean="0"/>
              <a:t>uncional </a:t>
            </a:r>
            <a:r>
              <a:rPr lang="es-ES" dirty="0"/>
              <a:t>realiza en una fábrica de software. </a:t>
            </a:r>
          </a:p>
        </p:txBody>
      </p:sp>
    </p:spTree>
    <p:extLst>
      <p:ext uri="{BB962C8B-B14F-4D97-AF65-F5344CB8AC3E}">
        <p14:creationId xmlns:p14="http://schemas.microsoft.com/office/powerpoint/2010/main" val="255338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66C1FFF9-4FD7-F1E4-174A-DB37C959A5C1}"/>
              </a:ext>
            </a:extLst>
          </p:cNvPr>
          <p:cNvPicPr>
            <a:picLocks noGrp="1" noChangeAspect="1"/>
          </p:cNvPicPr>
          <p:nvPr>
            <p:ph type="pic" sz="quarter" idx="10"/>
          </p:nvPr>
        </p:nvPicPr>
        <p:blipFill>
          <a:blip r:embed="rId3"/>
          <a:srcRect l="225" r="22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a:t>
            </a:r>
            <a:r>
              <a:rPr lang="es-PE" dirty="0" smtClean="0"/>
              <a:t>nálisis de requerimientos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pPr>
              <a:spcAft>
                <a:spcPts val="600"/>
              </a:spcAft>
            </a:pPr>
            <a:r>
              <a:rPr lang="es-ES" dirty="0"/>
              <a:t>Realizar entrevistas con el cliente y otros </a:t>
            </a:r>
            <a:r>
              <a:rPr lang="es-ES" i="1" dirty="0"/>
              <a:t>stakeholders</a:t>
            </a:r>
            <a:r>
              <a:rPr lang="es-ES" dirty="0"/>
              <a:t> para comprender sus necesidades y expectativas.</a:t>
            </a:r>
          </a:p>
          <a:p>
            <a:pPr lvl="1"/>
            <a:r>
              <a:rPr lang="es-ES" sz="1400" dirty="0" smtClean="0"/>
              <a:t>Por </a:t>
            </a:r>
            <a:r>
              <a:rPr lang="es-ES" sz="1400" dirty="0"/>
              <a:t>ejemplo, si el cliente desea desarrollar un sistema de gestión de inventario, el </a:t>
            </a:r>
            <a:r>
              <a:rPr lang="es-ES" sz="1400" dirty="0" smtClean="0"/>
              <a:t>analista </a:t>
            </a:r>
            <a:r>
              <a:rPr lang="es-ES" sz="1400" dirty="0"/>
              <a:t>f</a:t>
            </a:r>
            <a:r>
              <a:rPr lang="es-ES" sz="1400" dirty="0" smtClean="0"/>
              <a:t>uncional </a:t>
            </a:r>
            <a:r>
              <a:rPr lang="es-ES" sz="1400" dirty="0"/>
              <a:t>se reuniría con el cliente para obtener información sobre los procesos actuales, los requisitos específicos y las limitaciones del sistema.</a:t>
            </a:r>
          </a:p>
          <a:p>
            <a:pPr>
              <a:spcAft>
                <a:spcPts val="600"/>
              </a:spcAft>
            </a:pPr>
            <a:r>
              <a:rPr lang="es-ES" dirty="0"/>
              <a:t>Identificar y documentar los requerimientos del sistema de manera clara y precisa.</a:t>
            </a:r>
          </a:p>
          <a:p>
            <a:pPr lvl="1"/>
            <a:r>
              <a:rPr lang="es-ES" sz="1400" dirty="0"/>
              <a:t>Por ejemplo, el </a:t>
            </a:r>
            <a:r>
              <a:rPr lang="es-ES" sz="1400" dirty="0" smtClean="0"/>
              <a:t>analista </a:t>
            </a:r>
            <a:r>
              <a:rPr lang="es-ES" sz="1400" dirty="0"/>
              <a:t>f</a:t>
            </a:r>
            <a:r>
              <a:rPr lang="es-ES" sz="1400" dirty="0" smtClean="0"/>
              <a:t>uncional </a:t>
            </a:r>
            <a:r>
              <a:rPr lang="es-ES" sz="1400" dirty="0"/>
              <a:t>puede elaborar una lista de funcionalidades necesarias, como el seguimiento de productos, la generación de informes de inventario y la integración con otros sistemas.</a:t>
            </a:r>
            <a:endParaRPr lang="es-PE" sz="1400" dirty="0"/>
          </a:p>
        </p:txBody>
      </p:sp>
    </p:spTree>
    <p:extLst>
      <p:ext uri="{BB962C8B-B14F-4D97-AF65-F5344CB8AC3E}">
        <p14:creationId xmlns:p14="http://schemas.microsoft.com/office/powerpoint/2010/main" val="2445988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329C0AAA-5214-29C1-D28E-B3C492DB85E5}"/>
              </a:ext>
            </a:extLst>
          </p:cNvPr>
          <p:cNvPicPr>
            <a:picLocks noGrp="1" noChangeAspect="1"/>
          </p:cNvPicPr>
          <p:nvPr>
            <p:ph type="pic" sz="quarter" idx="10"/>
          </p:nvPr>
        </p:nvPicPr>
        <p:blipFill>
          <a:blip r:embed="rId3"/>
          <a:srcRect l="225" r="22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a:t>
            </a:r>
            <a:r>
              <a:rPr lang="es-PE" dirty="0" smtClean="0"/>
              <a:t>specificación de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pPr>
              <a:spcAft>
                <a:spcPts val="600"/>
              </a:spcAft>
            </a:pPr>
            <a:r>
              <a:rPr lang="es-ES" dirty="0"/>
              <a:t>Elaborar una especificación de requisitos que detalle las funcionalidades, las interfaces y los comportamientos del sistema.</a:t>
            </a:r>
          </a:p>
          <a:p>
            <a:pPr lvl="1"/>
            <a:r>
              <a:rPr lang="es-ES" sz="1400" dirty="0" smtClean="0"/>
              <a:t>Por ejemplo, el analista funcional puede crear diagramas de casos de uso que describan las interacciones entre los usuarios y el sistema, así como los escenarios de uso.</a:t>
            </a:r>
          </a:p>
          <a:p>
            <a:pPr>
              <a:spcAft>
                <a:spcPts val="600"/>
              </a:spcAft>
            </a:pPr>
            <a:r>
              <a:rPr lang="es-ES" dirty="0" smtClean="0"/>
              <a:t>Documentar </a:t>
            </a:r>
            <a:r>
              <a:rPr lang="es-ES" dirty="0"/>
              <a:t>los requerimientos en un formato comprensible para el cliente y el equipo de desarrollo.</a:t>
            </a:r>
          </a:p>
          <a:p>
            <a:pPr lvl="1"/>
            <a:r>
              <a:rPr lang="es-ES" sz="1400" dirty="0"/>
              <a:t>Por ejemplo, el </a:t>
            </a:r>
            <a:r>
              <a:rPr lang="es-ES" sz="1400" dirty="0" smtClean="0"/>
              <a:t>analista </a:t>
            </a:r>
            <a:r>
              <a:rPr lang="es-ES" sz="1400" dirty="0"/>
              <a:t>f</a:t>
            </a:r>
            <a:r>
              <a:rPr lang="es-ES" sz="1400" dirty="0" smtClean="0"/>
              <a:t>uncional </a:t>
            </a:r>
            <a:r>
              <a:rPr lang="es-ES" sz="1400" dirty="0"/>
              <a:t>puede utilizar herramientas como documentos de texto, diagramas UML o prototipos interactivos para comunicar las especificaciones de manera efectiva.</a:t>
            </a:r>
          </a:p>
        </p:txBody>
      </p:sp>
    </p:spTree>
    <p:extLst>
      <p:ext uri="{BB962C8B-B14F-4D97-AF65-F5344CB8AC3E}">
        <p14:creationId xmlns:p14="http://schemas.microsoft.com/office/powerpoint/2010/main" val="340152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a:t>
            </a:r>
            <a:r>
              <a:rPr lang="es-PE" dirty="0" smtClean="0"/>
              <a:t>ocumentación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a:xfrm>
            <a:off x="468313" y="1158876"/>
            <a:ext cx="4103687" cy="3388632"/>
          </a:xfrm>
        </p:spPr>
        <p:txBody>
          <a:bodyPr/>
          <a:lstStyle/>
          <a:p>
            <a:pPr>
              <a:spcAft>
                <a:spcPts val="600"/>
              </a:spcAft>
            </a:pPr>
            <a:r>
              <a:rPr lang="es-ES" dirty="0"/>
              <a:t>Crear documentación detallada que sirva como guía para el equipo de desarrollo.</a:t>
            </a:r>
          </a:p>
          <a:p>
            <a:pPr lvl="1"/>
            <a:r>
              <a:rPr lang="es-ES" sz="1400" dirty="0"/>
              <a:t>Por ejemplo, el </a:t>
            </a:r>
            <a:r>
              <a:rPr lang="es-ES" sz="1400" dirty="0" smtClean="0"/>
              <a:t>analista </a:t>
            </a:r>
            <a:r>
              <a:rPr lang="es-ES" sz="1400" dirty="0"/>
              <a:t>f</a:t>
            </a:r>
            <a:r>
              <a:rPr lang="es-ES" sz="1400" dirty="0" smtClean="0"/>
              <a:t>uncional </a:t>
            </a:r>
            <a:r>
              <a:rPr lang="es-ES" sz="1400" dirty="0"/>
              <a:t>puede elaborar diagramas de flujo para ilustrar los procesos del sistema, diagramas de entidad-relación para modelar la estructura de la base de datos y descripciones de casos de uso para especificar la interacción de los usuarios con el sistema.</a:t>
            </a:r>
          </a:p>
          <a:p>
            <a:r>
              <a:rPr lang="es-ES" dirty="0"/>
              <a:t>Mantener la documentación actualizada a lo largo del ciclo de desarrollo, reflejando cualquier cambio o actualización en los requisitos del sistema.</a:t>
            </a:r>
          </a:p>
        </p:txBody>
      </p:sp>
      <p:pic>
        <p:nvPicPr>
          <p:cNvPr id="9" name="Marcador de posición de imagen 8">
            <a:extLst>
              <a:ext uri="{FF2B5EF4-FFF2-40B4-BE49-F238E27FC236}">
                <a16:creationId xmlns:a16="http://schemas.microsoft.com/office/drawing/2014/main" id="{D4FD4A1F-6369-CBC5-0D89-86A9FE670CA6}"/>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29354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8FD37D8A-B2A4-BFD7-1493-2869EB3BDA1F}"/>
              </a:ext>
            </a:extLst>
          </p:cNvPr>
          <p:cNvPicPr>
            <a:picLocks noGrp="1" noChangeAspect="1"/>
          </p:cNvPicPr>
          <p:nvPr>
            <p:ph type="pic" sz="quarter" idx="10"/>
          </p:nvPr>
        </p:nvPicPr>
        <p:blipFill>
          <a:blip r:embed="rId3"/>
          <a:srcRect l="340" r="34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a:xfrm>
            <a:off x="468313" y="1158876"/>
            <a:ext cx="4103687" cy="3486604"/>
          </a:xfrm>
        </p:spPr>
        <p:txBody>
          <a:bodyPr/>
          <a:lstStyle/>
          <a:p>
            <a:pPr>
              <a:spcAft>
                <a:spcPts val="600"/>
              </a:spcAft>
            </a:pPr>
            <a:r>
              <a:rPr lang="es-ES" dirty="0"/>
              <a:t>Trabajar en estrecha colaboración con los desarrolladores, diseñadores y otros miembros del equipo de desarrollo para asegurar una comprensión clara de los requisitos.</a:t>
            </a:r>
          </a:p>
          <a:p>
            <a:pPr lvl="1"/>
            <a:r>
              <a:rPr lang="es-ES" sz="1400" dirty="0"/>
              <a:t>Por ejemplo, el </a:t>
            </a:r>
            <a:r>
              <a:rPr lang="es-ES" sz="1400" dirty="0" smtClean="0"/>
              <a:t>analista </a:t>
            </a:r>
            <a:r>
              <a:rPr lang="es-ES" sz="1400" dirty="0"/>
              <a:t>f</a:t>
            </a:r>
            <a:r>
              <a:rPr lang="es-ES" sz="1400" dirty="0" smtClean="0"/>
              <a:t>uncional </a:t>
            </a:r>
            <a:r>
              <a:rPr lang="es-ES" sz="1400" dirty="0"/>
              <a:t>puede organizar reuniones regulares con el equipo para discutir y aclarar cualquier aspecto de los requisitos.</a:t>
            </a:r>
          </a:p>
          <a:p>
            <a:r>
              <a:rPr lang="es-ES" dirty="0"/>
              <a:t>Participar en discusiones técnicas y brindar orientación al equipo de desarrollo sobre la mejor manera de implementar los requisitos del sistema.</a:t>
            </a:r>
          </a:p>
        </p:txBody>
      </p:sp>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C</a:t>
            </a:r>
            <a:r>
              <a:rPr lang="es-PE" dirty="0" smtClean="0"/>
              <a:t>oordinación con equipos de desarrollo</a:t>
            </a:r>
            <a:endParaRPr lang="es-PE" dirty="0"/>
          </a:p>
        </p:txBody>
      </p:sp>
    </p:spTree>
    <p:extLst>
      <p:ext uri="{BB962C8B-B14F-4D97-AF65-F5344CB8AC3E}">
        <p14:creationId xmlns:p14="http://schemas.microsoft.com/office/powerpoint/2010/main" val="397166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507EEA73-27B9-6B2A-D4EC-9719C533CD61}"/>
              </a:ext>
            </a:extLst>
          </p:cNvPr>
          <p:cNvPicPr>
            <a:picLocks noGrp="1" noChangeAspect="1"/>
          </p:cNvPicPr>
          <p:nvPr>
            <p:ph type="pic" sz="quarter" idx="10"/>
          </p:nvPr>
        </p:nvPicPr>
        <p:blipFill>
          <a:blip r:embed="rId3"/>
          <a:srcRect l="234" r="234"/>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a:t>
            </a:r>
            <a:r>
              <a:rPr lang="es-PE" dirty="0" smtClean="0"/>
              <a:t>alidación de requisitos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pPr>
              <a:spcAft>
                <a:spcPts val="600"/>
              </a:spcAft>
            </a:pPr>
            <a:r>
              <a:rPr lang="es-ES" dirty="0"/>
              <a:t>Revisar y validar los requisitos con el cliente y otros </a:t>
            </a:r>
            <a:r>
              <a:rPr lang="es-ES" i="1" dirty="0"/>
              <a:t>stakeholders</a:t>
            </a:r>
            <a:r>
              <a:rPr lang="es-ES" dirty="0"/>
              <a:t> relevantes.</a:t>
            </a:r>
          </a:p>
          <a:p>
            <a:pPr lvl="1"/>
            <a:r>
              <a:rPr lang="es-ES" sz="1400" dirty="0"/>
              <a:t>Por ejemplo, el </a:t>
            </a:r>
            <a:r>
              <a:rPr lang="es-ES" sz="1400" dirty="0" smtClean="0"/>
              <a:t>analista </a:t>
            </a:r>
            <a:r>
              <a:rPr lang="es-ES" sz="1400" dirty="0"/>
              <a:t>f</a:t>
            </a:r>
            <a:r>
              <a:rPr lang="es-ES" sz="1400" dirty="0" smtClean="0"/>
              <a:t>uncional </a:t>
            </a:r>
            <a:r>
              <a:rPr lang="es-ES" sz="1400" dirty="0"/>
              <a:t>puede organizar sesiones de revisión con el cliente para obtener su aprobación o realizar ajustes según sea necesario.</a:t>
            </a:r>
          </a:p>
          <a:p>
            <a:pPr>
              <a:spcAft>
                <a:spcPts val="600"/>
              </a:spcAft>
            </a:pPr>
            <a:r>
              <a:rPr lang="es-ES" dirty="0"/>
              <a:t>Asegurarse de que los requisitos sean consistentes, completos y factibles, evitando ambigüedades o contradicciones. </a:t>
            </a:r>
          </a:p>
          <a:p>
            <a:pPr lvl="1"/>
            <a:r>
              <a:rPr lang="es-ES" sz="1400" dirty="0"/>
              <a:t>Por ejemplo, el </a:t>
            </a:r>
            <a:r>
              <a:rPr lang="es-ES" sz="1400" dirty="0" smtClean="0"/>
              <a:t>analista </a:t>
            </a:r>
            <a:r>
              <a:rPr lang="es-ES" sz="1400" dirty="0"/>
              <a:t>f</a:t>
            </a:r>
            <a:r>
              <a:rPr lang="es-ES" sz="1400" dirty="0" smtClean="0"/>
              <a:t>uncional </a:t>
            </a:r>
            <a:r>
              <a:rPr lang="es-ES" sz="1400" dirty="0"/>
              <a:t>puede realizar un análisis de brechas para identificar cualquier falta de alineación entre los requisitos del cliente y la solución propuesta</a:t>
            </a:r>
            <a:r>
              <a:rPr lang="es-ES" sz="1400" i="1" dirty="0"/>
              <a:t>.</a:t>
            </a:r>
          </a:p>
        </p:txBody>
      </p:sp>
    </p:spTree>
    <p:extLst>
      <p:ext uri="{BB962C8B-B14F-4D97-AF65-F5344CB8AC3E}">
        <p14:creationId xmlns:p14="http://schemas.microsoft.com/office/powerpoint/2010/main" val="270348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BAB2CBE0-7144-C358-3CE6-21FB39ED69EF}"/>
              </a:ext>
            </a:extLst>
          </p:cNvPr>
          <p:cNvPicPr>
            <a:picLocks noGrp="1" noChangeAspect="1"/>
          </p:cNvPicPr>
          <p:nvPr>
            <p:ph type="pic" sz="quarter" idx="10"/>
          </p:nvPr>
        </p:nvPicPr>
        <p:blipFill>
          <a:blip r:embed="rId3"/>
          <a:srcRect l="349" r="349"/>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a:t>
            </a:r>
            <a:r>
              <a:rPr lang="es-PE" dirty="0" smtClean="0"/>
              <a:t>esolución de problemas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a:xfrm>
            <a:off x="468313" y="1158876"/>
            <a:ext cx="4103687" cy="3445782"/>
          </a:xfrm>
        </p:spPr>
        <p:txBody>
          <a:bodyPr/>
          <a:lstStyle/>
          <a:p>
            <a:pPr>
              <a:spcAft>
                <a:spcPts val="600"/>
              </a:spcAft>
            </a:pPr>
            <a:r>
              <a:rPr lang="es-ES" dirty="0"/>
              <a:t>Actuar como punto de contacto para resolver problemas relacionados con los requisitos durante el desarrollo del software.</a:t>
            </a:r>
          </a:p>
          <a:p>
            <a:pPr lvl="1"/>
            <a:r>
              <a:rPr lang="es-ES" sz="1400" dirty="0"/>
              <a:t>Por ejemplo, si surge una discrepancia entre la implementación y los requisitos establecidos, el </a:t>
            </a:r>
            <a:r>
              <a:rPr lang="es-ES" sz="1400" dirty="0" smtClean="0"/>
              <a:t>analista </a:t>
            </a:r>
            <a:r>
              <a:rPr lang="es-ES" sz="1400" dirty="0"/>
              <a:t>f</a:t>
            </a:r>
            <a:r>
              <a:rPr lang="es-ES" sz="1400" dirty="0" smtClean="0"/>
              <a:t>uncional </a:t>
            </a:r>
            <a:r>
              <a:rPr lang="es-ES" sz="1400" dirty="0"/>
              <a:t>trabajará con el equipo de desarrollo y el cliente para encontrar una solución adecuada y satisfactoria.</a:t>
            </a:r>
          </a:p>
          <a:p>
            <a:r>
              <a:rPr lang="es-ES" dirty="0"/>
              <a:t>Realizar investigaciones adicionales y análisis de causa raíz para comprender y abordar cualquier problema o defecto relacionado con los requisitos.</a:t>
            </a:r>
          </a:p>
        </p:txBody>
      </p:sp>
    </p:spTree>
    <p:extLst>
      <p:ext uri="{BB962C8B-B14F-4D97-AF65-F5344CB8AC3E}">
        <p14:creationId xmlns:p14="http://schemas.microsoft.com/office/powerpoint/2010/main" val="1486559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6D99EBDA-FBD9-98E0-C71D-41F165CF910C}"/>
              </a:ext>
            </a:extLst>
          </p:cNvPr>
          <p:cNvPicPr>
            <a:picLocks noGrp="1" noChangeAspect="1"/>
          </p:cNvPicPr>
          <p:nvPr>
            <p:ph type="pic" sz="quarter" idx="10"/>
          </p:nvPr>
        </p:nvPicPr>
        <p:blipFill>
          <a:blip r:embed="rId3"/>
          <a:srcRect l="20" r="2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t>
            </a:r>
            <a:r>
              <a:rPr lang="es-PE" dirty="0" smtClean="0"/>
              <a:t>ruebas de aseguramiento de calidad</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UNA FÁBRICA DE SOFTWARE</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a:xfrm>
            <a:off x="468313" y="1158875"/>
            <a:ext cx="4103687" cy="3233511"/>
          </a:xfrm>
        </p:spPr>
        <p:txBody>
          <a:bodyPr/>
          <a:lstStyle/>
          <a:p>
            <a:pPr>
              <a:spcAft>
                <a:spcPts val="600"/>
              </a:spcAft>
            </a:pPr>
            <a:r>
              <a:rPr lang="es-ES" dirty="0"/>
              <a:t>Participar en la definición y ejecución de pruebas para verificar que el software cumpla con los requisitos establecidos.</a:t>
            </a:r>
          </a:p>
          <a:p>
            <a:pPr lvl="1"/>
            <a:r>
              <a:rPr lang="es-ES" sz="1400" dirty="0"/>
              <a:t>Por ejemplo, el </a:t>
            </a:r>
            <a:r>
              <a:rPr lang="es-ES" sz="1400" dirty="0" smtClean="0"/>
              <a:t>analista </a:t>
            </a:r>
            <a:r>
              <a:rPr lang="es-ES" sz="1400" dirty="0"/>
              <a:t>f</a:t>
            </a:r>
            <a:r>
              <a:rPr lang="es-ES" sz="1400" dirty="0" smtClean="0"/>
              <a:t>uncional </a:t>
            </a:r>
            <a:r>
              <a:rPr lang="es-ES" sz="1400" dirty="0"/>
              <a:t>puede colaborar con el equipo de pruebas en la elaboración de casos de prueba que cubran todas las funcionalidades requeridas.</a:t>
            </a:r>
          </a:p>
          <a:p>
            <a:r>
              <a:rPr lang="es-ES" dirty="0"/>
              <a:t>Revisar y validar los resultados de las pruebas, asegurándose de que el software funcione correctamente y cumpla con los criterios de aceptación establecidos en los requisitos.</a:t>
            </a:r>
          </a:p>
        </p:txBody>
      </p:sp>
    </p:spTree>
    <p:extLst>
      <p:ext uri="{BB962C8B-B14F-4D97-AF65-F5344CB8AC3E}">
        <p14:creationId xmlns:p14="http://schemas.microsoft.com/office/powerpoint/2010/main" val="2227206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73438"/>
          </a:xfrm>
        </p:spPr>
        <p:txBody>
          <a:bodyPr/>
          <a:lstStyle/>
          <a:p>
            <a:pPr marL="274638" indent="-274638">
              <a:tabLst>
                <a:tab pos="274638" algn="l"/>
              </a:tabLst>
            </a:pPr>
            <a:r>
              <a:rPr lang="es-PE" dirty="0"/>
              <a:t>/	ROL EN OTRAS ORGANIZACIONES</a:t>
            </a:r>
          </a:p>
        </p:txBody>
      </p:sp>
    </p:spTree>
    <p:custDataLst>
      <p:tags r:id="rId1"/>
    </p:custDataLst>
    <p:extLst>
      <p:ext uri="{BB962C8B-B14F-4D97-AF65-F5344CB8AC3E}">
        <p14:creationId xmlns:p14="http://schemas.microsoft.com/office/powerpoint/2010/main" val="70133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posición de imagen 5">
            <a:extLst>
              <a:ext uri="{FF2B5EF4-FFF2-40B4-BE49-F238E27FC236}">
                <a16:creationId xmlns:a16="http://schemas.microsoft.com/office/drawing/2014/main" id="{31D64D5B-F3F2-DE27-A489-1D7342486315}"/>
              </a:ext>
            </a:extLst>
          </p:cNvPr>
          <p:cNvPicPr>
            <a:picLocks noGrp="1" noChangeAspect="1"/>
          </p:cNvPicPr>
          <p:nvPr>
            <p:ph type="pic" sz="quarter" idx="10"/>
          </p:nvPr>
        </p:nvPicPr>
        <p:blipFill>
          <a:blip r:embed="rId3"/>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a:xfrm>
            <a:off x="468313" y="1182025"/>
            <a:ext cx="8207375" cy="1528518"/>
          </a:xfrm>
        </p:spPr>
        <p:txBody>
          <a:bodyPr/>
          <a:lstStyle/>
          <a:p>
            <a:r>
              <a:rPr lang="es-ES" dirty="0"/>
              <a:t>El </a:t>
            </a:r>
            <a:r>
              <a:rPr lang="es-ES" dirty="0" smtClean="0"/>
              <a:t>analista </a:t>
            </a:r>
            <a:r>
              <a:rPr lang="es-ES" dirty="0"/>
              <a:t>funcional (empresarial) puede desempeñarse con eficiencia en múltiples organizaciones, adaptándose a las necesidades y requisitos específicos de cada sector o industria.</a:t>
            </a:r>
          </a:p>
          <a:p>
            <a:r>
              <a:rPr lang="es-ES" dirty="0"/>
              <a:t>En las siguientes láminas abordaremos algunas de las responsabilidades y tareas típicas que un </a:t>
            </a:r>
            <a:r>
              <a:rPr lang="es-ES" dirty="0" smtClean="0"/>
              <a:t>analista </a:t>
            </a:r>
            <a:r>
              <a:rPr lang="es-ES" dirty="0"/>
              <a:t>Funcional realiza en diferentes organizaciones. </a:t>
            </a:r>
          </a:p>
          <a:p>
            <a:endParaRPr lang="es-ES" dirty="0"/>
          </a:p>
        </p:txBody>
      </p:sp>
    </p:spTree>
    <p:extLst>
      <p:ext uri="{BB962C8B-B14F-4D97-AF65-F5344CB8AC3E}">
        <p14:creationId xmlns:p14="http://schemas.microsoft.com/office/powerpoint/2010/main" val="751662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09271F6F-E302-573C-13D1-7FC188FD757B}"/>
              </a:ext>
            </a:extLst>
          </p:cNvPr>
          <p:cNvPicPr>
            <a:picLocks noGrp="1" noChangeAspect="1"/>
          </p:cNvPicPr>
          <p:nvPr>
            <p:ph type="pic" sz="quarter" idx="10"/>
          </p:nvPr>
        </p:nvPicPr>
        <p:blipFill>
          <a:blip r:embed="rId3"/>
          <a:srcRect l="2" r="2"/>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UNA EMPRESA DE </a:t>
            </a:r>
            <a:r>
              <a:rPr lang="es-PE" dirty="0" smtClean="0"/>
              <a:t>CONSULTORÍA</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Realizar análisis de negocio para identificar oportunidades de mejora y proponer soluciones basadas en software.</a:t>
            </a:r>
          </a:p>
          <a:p>
            <a:r>
              <a:rPr lang="es-ES" dirty="0"/>
              <a:t>Colaborar con consultores y expertos en dominios específicos para comprender las necesidades del cliente y traducirlas en requisitos técnicos.</a:t>
            </a:r>
          </a:p>
          <a:p>
            <a:r>
              <a:rPr lang="es-ES" dirty="0"/>
              <a:t>Participar en la implementación de soluciones empresariales, colaborando con el equipo de desarrollo para asegurar que los requisitos se implementen correctamente y cumplan con las expectativas del cliente.</a:t>
            </a:r>
          </a:p>
        </p:txBody>
      </p:sp>
    </p:spTree>
    <p:extLst>
      <p:ext uri="{BB962C8B-B14F-4D97-AF65-F5344CB8AC3E}">
        <p14:creationId xmlns:p14="http://schemas.microsoft.com/office/powerpoint/2010/main" val="172825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07AFAF86-CADA-8782-6BED-A2233A0C4DDC}"/>
              </a:ext>
            </a:extLst>
          </p:cNvPr>
          <p:cNvPicPr>
            <a:picLocks noGrp="1" noChangeAspect="1"/>
          </p:cNvPicPr>
          <p:nvPr>
            <p:ph type="pic" sz="quarter" idx="10"/>
          </p:nvPr>
        </p:nvPicPr>
        <p:blipFill>
          <a:blip r:embed="rId3"/>
          <a:srcRect l="455" r="45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UNA EMPRESA FINANCIERA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Analizar los procesos financieros y las necesidades operativas de la institución para desarrollar o personalizar sistemas de software. </a:t>
            </a:r>
          </a:p>
          <a:p>
            <a:r>
              <a:rPr lang="es-ES" dirty="0"/>
              <a:t>Colaborar con equipos internos, como el de cumplimiento normativo, para garantizar que los sistemas cumplan con las regulaciones financieras y los estándares de seguridad.</a:t>
            </a:r>
          </a:p>
          <a:p>
            <a:r>
              <a:rPr lang="es-ES" dirty="0"/>
              <a:t>Realizar pruebas y validación de los sistemas financieros, asegurándose de que cumplan con los requisitos establecidos y sean capaces de manejar transacciones y operaciones financieras de manera precisa y segura.</a:t>
            </a:r>
          </a:p>
        </p:txBody>
      </p:sp>
    </p:spTree>
    <p:extLst>
      <p:ext uri="{BB962C8B-B14F-4D97-AF65-F5344CB8AC3E}">
        <p14:creationId xmlns:p14="http://schemas.microsoft.com/office/powerpoint/2010/main" val="199263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233FACFB-0EB5-516D-D1C1-7D22966C1B17}"/>
              </a:ext>
            </a:extLst>
          </p:cNvPr>
          <p:cNvPicPr>
            <a:picLocks noGrp="1" noChangeAspect="1"/>
          </p:cNvPicPr>
          <p:nvPr>
            <p:ph type="pic" sz="quarter" idx="10"/>
          </p:nvPr>
        </p:nvPicPr>
        <p:blipFill>
          <a:blip r:embed="rId3"/>
          <a:srcRect t="105" b="10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UNA ORGANIZACIÓN DE SALUD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Analizar los flujos de trabajo y los requisitos de información en entornos clínicos para desarrollar sistemas de software orientados a la atención médica.</a:t>
            </a:r>
          </a:p>
          <a:p>
            <a:r>
              <a:rPr lang="es-ES" dirty="0"/>
              <a:t>Colaborar con profesionales de la salud, como médicos y enfermeras, para comprender sus necesidades y traducirlas en requisitos técnicos.</a:t>
            </a:r>
          </a:p>
          <a:p>
            <a:r>
              <a:rPr lang="es-ES" dirty="0"/>
              <a:t>Participar en la implementación de soluciones tecnológicas en entornos de atención médica, asegurando la interoperabilidad con otros sistemas y la adhesión a las regulaciones de privacidad de datos de salud.</a:t>
            </a:r>
          </a:p>
        </p:txBody>
      </p:sp>
    </p:spTree>
    <p:extLst>
      <p:ext uri="{BB962C8B-B14F-4D97-AF65-F5344CB8AC3E}">
        <p14:creationId xmlns:p14="http://schemas.microsoft.com/office/powerpoint/2010/main" val="371898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8E819FB3-38DE-8606-C66F-3703E6800D45}"/>
              </a:ext>
            </a:extLst>
          </p:cNvPr>
          <p:cNvPicPr>
            <a:picLocks noGrp="1" noChangeAspect="1"/>
          </p:cNvPicPr>
          <p:nvPr>
            <p:ph type="pic" sz="quarter" idx="10"/>
          </p:nvPr>
        </p:nvPicPr>
        <p:blipFill>
          <a:blip r:embed="rId3"/>
          <a:srcRect l="225" r="22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COMPAÑÍA DE MANUFACTURA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Analizar los procesos de fabricación y las necesidades de automatización para desarrollar sistemas de software que optimicen la producción y el seguimiento de productos.</a:t>
            </a:r>
          </a:p>
          <a:p>
            <a:r>
              <a:rPr lang="es-ES" dirty="0"/>
              <a:t>Colaborar con equipos de ingeniería y producción para definir los requisitos de un sistema de gestión de la cadena de suministro.</a:t>
            </a:r>
          </a:p>
          <a:p>
            <a:r>
              <a:rPr lang="es-ES" dirty="0"/>
              <a:t>Participar en la implementación de soluciones tecnológicas para mejorar la eficiencia y la calidad en el proceso de fabricación.</a:t>
            </a:r>
          </a:p>
        </p:txBody>
      </p:sp>
    </p:spTree>
    <p:extLst>
      <p:ext uri="{BB962C8B-B14F-4D97-AF65-F5344CB8AC3E}">
        <p14:creationId xmlns:p14="http://schemas.microsoft.com/office/powerpoint/2010/main" val="1135121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ORGANIZACIÓN GUBERNAMENTAL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Analizar los procesos y las necesidades de información en agencias gubernamentales para desarrollar sistemas de software que mejoren la eficiencia administrativa y la prestación de servicios públicos.</a:t>
            </a:r>
          </a:p>
          <a:p>
            <a:r>
              <a:rPr lang="es-ES" dirty="0"/>
              <a:t>Colaborar con diferentes departamentos gubernamentales para definir los requisitos de un sistema de gestión de registros o un portal de servicios ciudadanos.</a:t>
            </a:r>
          </a:p>
          <a:p>
            <a:r>
              <a:rPr lang="es-ES" dirty="0"/>
              <a:t>Participar en la implementación de soluciones tecnológicas que cumplan con los estándares de seguridad y privacidad establecidos por el gobierno.</a:t>
            </a:r>
          </a:p>
        </p:txBody>
      </p:sp>
      <p:pic>
        <p:nvPicPr>
          <p:cNvPr id="9" name="Marcador de posición de imagen 8">
            <a:extLst>
              <a:ext uri="{FF2B5EF4-FFF2-40B4-BE49-F238E27FC236}">
                <a16:creationId xmlns:a16="http://schemas.microsoft.com/office/drawing/2014/main" id="{04C1E29C-77CE-FB80-5E4C-4D213BD90881}"/>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1063090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E8B7266C-1003-B18F-8C55-D72FEF9AD38E}"/>
              </a:ext>
            </a:extLst>
          </p:cNvPr>
          <p:cNvPicPr>
            <a:picLocks noGrp="1" noChangeAspect="1"/>
          </p:cNvPicPr>
          <p:nvPr>
            <p:ph type="pic" sz="quarter" idx="10"/>
          </p:nvPr>
        </p:nvPicPr>
        <p:blipFill>
          <a:blip r:embed="rId3"/>
          <a:srcRect l="118" r="11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INSTITUCIÓN EDUCATIVA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Analizar los procesos educativos y las necesidades de gestión académica para desarrollar sistemas de software que faciliten la administración de cursos, el seguimiento estudiantil y la generación de informes.</a:t>
            </a:r>
          </a:p>
          <a:p>
            <a:r>
              <a:rPr lang="es-ES" dirty="0"/>
              <a:t>Colaborar con profesores y personal administrativo para definir los requisitos de un sistema de gestión escolar o un sistema de aprendizaje en línea.</a:t>
            </a:r>
          </a:p>
          <a:p>
            <a:r>
              <a:rPr lang="es-ES" dirty="0"/>
              <a:t>Participar en la implementación de soluciones tecnológicas que mejoren la experiencia educativa y simplifiquen la gestión administrativa.</a:t>
            </a:r>
          </a:p>
        </p:txBody>
      </p:sp>
    </p:spTree>
    <p:extLst>
      <p:ext uri="{BB962C8B-B14F-4D97-AF65-F5344CB8AC3E}">
        <p14:creationId xmlns:p14="http://schemas.microsoft.com/office/powerpoint/2010/main" val="2306970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BBF8BBDF-240F-0031-6BFE-9AC17C31FEC9}"/>
              </a:ext>
            </a:extLst>
          </p:cNvPr>
          <p:cNvPicPr>
            <a:picLocks noGrp="1" noChangeAspect="1"/>
          </p:cNvPicPr>
          <p:nvPr>
            <p:ph type="pic" sz="quarter" idx="10"/>
          </p:nvPr>
        </p:nvPicPr>
        <p:blipFill>
          <a:blip r:embed="rId3"/>
          <a:srcRect l="20" r="2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ORGANIZACIÓN SIN FINES DE LUCRO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Analizar los procesos y las necesidades de gestión en organizaciones sin fines de lucro para desarrollar sistemas de software que faciliten la administración de donaciones, la gestión de proyectos y la generación de informes.</a:t>
            </a:r>
          </a:p>
          <a:p>
            <a:r>
              <a:rPr lang="es-ES" dirty="0"/>
              <a:t>Colaborar con equipos de recaudación de fondos y programas para definir los requisitos de un sistema de gestión de donantes o un sistema de seguimiento de impacto.</a:t>
            </a:r>
          </a:p>
          <a:p>
            <a:r>
              <a:rPr lang="es-ES" dirty="0"/>
              <a:t>Participar en la implementación de soluciones tecnológicas que mejoren la eficiencia operativa y la transparencia de la organización.</a:t>
            </a:r>
          </a:p>
        </p:txBody>
      </p:sp>
    </p:spTree>
    <p:extLst>
      <p:ext uri="{BB962C8B-B14F-4D97-AF65-F5344CB8AC3E}">
        <p14:creationId xmlns:p14="http://schemas.microsoft.com/office/powerpoint/2010/main" val="161417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C787284D-ACB3-CDE7-A6FB-90BBAB786997}"/>
              </a:ext>
            </a:extLst>
          </p:cNvPr>
          <p:cNvPicPr>
            <a:picLocks noGrp="1" noChangeAspect="1"/>
          </p:cNvPicPr>
          <p:nvPr>
            <p:ph type="pic" sz="quarter" idx="10"/>
          </p:nvPr>
        </p:nvPicPr>
        <p:blipFill>
          <a:blip r:embed="rId3"/>
          <a:srcRect l="455" r="45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COMPAÑÍA DE TELECOMUNICACIONES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ROL EN OTRAS ORGANIZACIONES</a:t>
            </a:r>
            <a:endParaRPr lang="es-PE" dirty="0"/>
          </a:p>
        </p:txBody>
      </p:sp>
      <p:sp>
        <p:nvSpPr>
          <p:cNvPr id="5" name="Marcador de texto 4">
            <a:extLst>
              <a:ext uri="{FF2B5EF4-FFF2-40B4-BE49-F238E27FC236}">
                <a16:creationId xmlns:a16="http://schemas.microsoft.com/office/drawing/2014/main" id="{01010663-EB92-9A0C-5539-68468716220C}"/>
              </a:ext>
            </a:extLst>
          </p:cNvPr>
          <p:cNvSpPr>
            <a:spLocks noGrp="1"/>
          </p:cNvSpPr>
          <p:nvPr>
            <p:ph type="body" sz="quarter" idx="14"/>
          </p:nvPr>
        </p:nvSpPr>
        <p:spPr/>
        <p:txBody>
          <a:bodyPr/>
          <a:lstStyle/>
          <a:p>
            <a:r>
              <a:rPr lang="es-ES" dirty="0"/>
              <a:t>Analizar los procesos de telecomunicaciones y las necesidades de gestión de clientes para desarrollar sistemas de software que mejoren la provisión de servicios, la facturación y el soporte al cliente.</a:t>
            </a:r>
          </a:p>
          <a:p>
            <a:r>
              <a:rPr lang="es-ES" dirty="0"/>
              <a:t>Colaborar con equipos de redes y operaciones para definir los requisitos de un sistema de gestión de redes o un sistema de atención al cliente.</a:t>
            </a:r>
          </a:p>
          <a:p>
            <a:r>
              <a:rPr lang="es-ES" dirty="0"/>
              <a:t>Participar en la implementación de soluciones tecnológicas que optimicen la calidad del servicio y la satisfacción del cliente.</a:t>
            </a:r>
          </a:p>
        </p:txBody>
      </p:sp>
    </p:spTree>
    <p:extLst>
      <p:ext uri="{BB962C8B-B14F-4D97-AF65-F5344CB8AC3E}">
        <p14:creationId xmlns:p14="http://schemas.microsoft.com/office/powerpoint/2010/main" val="6558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2990898"/>
          </a:xfrm>
        </p:spPr>
        <p:txBody>
          <a:bodyPr/>
          <a:lstStyle/>
          <a:p>
            <a:r>
              <a:rPr lang="es-ES" dirty="0"/>
              <a:t>El analista funcional es un profesional de gran capacidad analítica y de resolución de problemas, capacidad organizativa y para trabajar en equipo, manejo de relaciones interpersonales, capacidad de negociación y además muy proactivo.</a:t>
            </a:r>
          </a:p>
          <a:p>
            <a:r>
              <a:rPr lang="es-ES" dirty="0"/>
              <a:t>En una fábrica software, una analista funcional debe entender, establecer y formalizar los requerimientos del cliente. Modelar, clasificar, priorizar y validar los requerimientos del cliente. Analizar, especificar y verificar los requerimientos del cliente y/o usuarios.</a:t>
            </a:r>
          </a:p>
          <a:p>
            <a:r>
              <a:rPr lang="es-ES" dirty="0"/>
              <a:t>En una organización, generalmente los analistas funcionales trabajan como parte de un equipo que puede incluir analistas de negocios, consultores técnicos e ingenieros de software.</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s-ES" dirty="0"/>
              <a:t>Agile </a:t>
            </a:r>
            <a:r>
              <a:rPr lang="es-ES" dirty="0" err="1"/>
              <a:t>Extension</a:t>
            </a:r>
            <a:r>
              <a:rPr lang="es-ES" dirty="0"/>
              <a:t> </a:t>
            </a:r>
            <a:r>
              <a:rPr lang="es-ES" dirty="0" err="1"/>
              <a:t>to</a:t>
            </a:r>
            <a:r>
              <a:rPr lang="es-ES" dirty="0"/>
              <a:t> </a:t>
            </a:r>
            <a:r>
              <a:rPr lang="es-ES" dirty="0" err="1"/>
              <a:t>the</a:t>
            </a:r>
            <a:r>
              <a:rPr lang="es-ES" dirty="0"/>
              <a:t> BABOK Guide. (2020). Recuperado de: https://www.iiba.org/standards-andresources/babok/</a:t>
            </a:r>
          </a:p>
          <a:p>
            <a:pPr>
              <a:lnSpc>
                <a:spcPct val="100000"/>
              </a:lnSpc>
            </a:pPr>
            <a:r>
              <a:rPr lang="es-ES" dirty="0"/>
              <a:t>Bitácora de análisis de negocios. (2020). Recuperado de: http://gabrielalmeida.com.mx/</a:t>
            </a:r>
          </a:p>
          <a:p>
            <a:pPr>
              <a:lnSpc>
                <a:spcPct val="100000"/>
              </a:lnSpc>
            </a:pPr>
            <a:r>
              <a:rPr lang="es-ES" dirty="0"/>
              <a:t>PMI Professional in Business </a:t>
            </a:r>
            <a:r>
              <a:rPr lang="es-ES" dirty="0" err="1"/>
              <a:t>Analysis</a:t>
            </a:r>
            <a:r>
              <a:rPr lang="es-ES" dirty="0"/>
              <a:t>. (2020). Recuperado de: https://www.pmi.org/certification/businessanalysis-pba.aspx</a:t>
            </a:r>
          </a:p>
          <a:p>
            <a:pPr>
              <a:lnSpc>
                <a:spcPct val="100000"/>
              </a:lnSpc>
            </a:pPr>
            <a:r>
              <a:rPr lang="es-ES" dirty="0"/>
              <a:t>International </a:t>
            </a:r>
            <a:r>
              <a:rPr lang="es-ES" dirty="0" err="1"/>
              <a:t>Institute</a:t>
            </a:r>
            <a:r>
              <a:rPr lang="es-ES" dirty="0"/>
              <a:t> </a:t>
            </a:r>
            <a:r>
              <a:rPr lang="es-ES" dirty="0" err="1"/>
              <a:t>of</a:t>
            </a:r>
            <a:r>
              <a:rPr lang="es-ES" dirty="0"/>
              <a:t> Business </a:t>
            </a:r>
            <a:r>
              <a:rPr lang="es-ES" dirty="0" err="1"/>
              <a:t>Analysis</a:t>
            </a:r>
            <a:r>
              <a:rPr lang="es-ES" dirty="0"/>
              <a:t>. (2011). Recuperado de: https://analytics.infozone.pro/wpcontent/uploads/2013/04/IIBA_Competency_Model_v3_Final.pdf</a:t>
            </a:r>
          </a:p>
        </p:txBody>
      </p:sp>
    </p:spTree>
    <p:custDataLst>
      <p:tags r:id="rId1"/>
    </p:custDataLst>
    <p:extLst>
      <p:ext uri="{BB962C8B-B14F-4D97-AF65-F5344CB8AC3E}">
        <p14:creationId xmlns:p14="http://schemas.microsoft.com/office/powerpoint/2010/main" val="148054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10559</TotalTime>
  <Words>5593</Words>
  <Application>Microsoft Office PowerPoint</Application>
  <PresentationFormat>Presentación en pantalla (16:10)</PresentationFormat>
  <Paragraphs>431</Paragraphs>
  <Slides>60</Slides>
  <Notes>60</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60</vt:i4>
      </vt:variant>
    </vt:vector>
  </HeadingPairs>
  <TitlesOfParts>
    <vt:vector size="67" baseType="lpstr">
      <vt:lpstr>Arial</vt:lpstr>
      <vt:lpstr>Arimo</vt:lpstr>
      <vt:lpstr>Calibri</vt:lpstr>
      <vt:lpstr>Delius</vt:lpstr>
      <vt:lpstr>Wingdings</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727</cp:revision>
  <cp:lastPrinted>2018-01-16T21:42:59Z</cp:lastPrinted>
  <dcterms:created xsi:type="dcterms:W3CDTF">2016-10-06T14:52:02Z</dcterms:created>
  <dcterms:modified xsi:type="dcterms:W3CDTF">2023-06-26T21:28:40Z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