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6.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7.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8.xml" ContentType="application/vnd.openxmlformats-officedocument.presentationml.tags+xml"/>
  <Override PartName="/ppt/notesSlides/notesSlide45.xml" ContentType="application/vnd.openxmlformats-officedocument.presentationml.notesSlide+xml"/>
  <Override PartName="/ppt/tags/tag9.xml" ContentType="application/vnd.openxmlformats-officedocument.presentationml.tags+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handoutMasterIdLst>
    <p:handoutMasterId r:id="rId49"/>
  </p:handoutMasterIdLst>
  <p:sldIdLst>
    <p:sldId id="418" r:id="rId2"/>
    <p:sldId id="337" r:id="rId3"/>
    <p:sldId id="315" r:id="rId4"/>
    <p:sldId id="481" r:id="rId5"/>
    <p:sldId id="492" r:id="rId6"/>
    <p:sldId id="482" r:id="rId7"/>
    <p:sldId id="493" r:id="rId8"/>
    <p:sldId id="475" r:id="rId9"/>
    <p:sldId id="480" r:id="rId10"/>
    <p:sldId id="483" r:id="rId11"/>
    <p:sldId id="494" r:id="rId12"/>
    <p:sldId id="484" r:id="rId13"/>
    <p:sldId id="495" r:id="rId14"/>
    <p:sldId id="496" r:id="rId15"/>
    <p:sldId id="497" r:id="rId16"/>
    <p:sldId id="485" r:id="rId17"/>
    <p:sldId id="498" r:id="rId18"/>
    <p:sldId id="499" r:id="rId19"/>
    <p:sldId id="486" r:id="rId20"/>
    <p:sldId id="500" r:id="rId21"/>
    <p:sldId id="476" r:id="rId22"/>
    <p:sldId id="487" r:id="rId23"/>
    <p:sldId id="488" r:id="rId24"/>
    <p:sldId id="502" r:id="rId25"/>
    <p:sldId id="503" r:id="rId26"/>
    <p:sldId id="504" r:id="rId27"/>
    <p:sldId id="505" r:id="rId28"/>
    <p:sldId id="506" r:id="rId29"/>
    <p:sldId id="507" r:id="rId30"/>
    <p:sldId id="508" r:id="rId31"/>
    <p:sldId id="509" r:id="rId32"/>
    <p:sldId id="510" r:id="rId33"/>
    <p:sldId id="511" r:id="rId34"/>
    <p:sldId id="514" r:id="rId35"/>
    <p:sldId id="477" r:id="rId36"/>
    <p:sldId id="490" r:id="rId37"/>
    <p:sldId id="515" r:id="rId38"/>
    <p:sldId id="516" r:id="rId39"/>
    <p:sldId id="491" r:id="rId40"/>
    <p:sldId id="517" r:id="rId41"/>
    <p:sldId id="518" r:id="rId42"/>
    <p:sldId id="519" r:id="rId43"/>
    <p:sldId id="520" r:id="rId44"/>
    <p:sldId id="521" r:id="rId45"/>
    <p:sldId id="303" r:id="rId46"/>
    <p:sldId id="448" r:id="rId47"/>
  </p:sldIdLst>
  <p:sldSz cx="9144000" cy="5715000" type="screen16x10"/>
  <p:notesSz cx="6797675" cy="9926638"/>
  <p:custDataLst>
    <p:tags r:id="rId5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85A6"/>
    <a:srgbClr val="558ED5"/>
    <a:srgbClr val="81FFBA"/>
    <a:srgbClr val="15BDAD"/>
    <a:srgbClr val="48C2BB"/>
    <a:srgbClr val="F1D156"/>
    <a:srgbClr val="276B7D"/>
    <a:srgbClr val="F1FDC3"/>
    <a:srgbClr val="9CC606"/>
    <a:srgbClr val="E2F6F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61" autoAdjust="0"/>
    <p:restoredTop sz="95268" autoAdjust="0"/>
  </p:normalViewPr>
  <p:slideViewPr>
    <p:cSldViewPr snapToGrid="0" snapToObjects="1" showGuides="1">
      <p:cViewPr varScale="1">
        <p:scale>
          <a:sx n="98" d="100"/>
          <a:sy n="98" d="100"/>
        </p:scale>
        <p:origin x="1296" y="8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20" d="100"/>
        <a:sy n="120" d="100"/>
      </p:scale>
      <p:origin x="0" y="-9462"/>
    </p:cViewPr>
  </p:sorterViewPr>
  <p:notesViewPr>
    <p:cSldViewPr snapToGrid="0" snapToObjects="1" showGuides="1">
      <p:cViewPr varScale="1">
        <p:scale>
          <a:sx n="48" d="100"/>
          <a:sy n="48" d="100"/>
        </p:scale>
        <p:origin x="2940" y="72"/>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07/08/2023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7/08/2023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6"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435735" marR="574040" indent="0" algn="l">
              <a:lnSpc>
                <a:spcPct val="155000"/>
              </a:lnSpc>
              <a:spcBef>
                <a:spcPts val="800"/>
              </a:spcBef>
              <a:spcAft>
                <a:spcPts val="0"/>
              </a:spcAft>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503178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3301079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259756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1696373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948507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desarrollo de </a:t>
            </a:r>
            <a:r>
              <a:rPr lang="es-ES" i="1" dirty="0"/>
              <a:t>front end </a:t>
            </a:r>
            <a:r>
              <a:rPr lang="es-ES" dirty="0"/>
              <a:t>se centra en mejorar la experiencia del usuario, proporcionando una interfaz de usuario intuitiva y atractiva, y asegurando que la aplicación sea accesible y funcione eficientemente en una variedad de dispositivos y tamaños de pantalla.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2965423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diseño visual de todos estos elementos, su disposición en la página, y la forma en que responden a tus interacciones son todos manejados por el </a:t>
            </a:r>
            <a:r>
              <a:rPr lang="es-ES" i="1" dirty="0"/>
              <a:t>front end</a:t>
            </a:r>
            <a:r>
              <a:rPr lang="es-ES" dirty="0"/>
              <a:t>, utilizando tecnologías como HTML, CSS y JavaScript.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904233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ambos ejemplos, el objetivo del </a:t>
            </a:r>
            <a:r>
              <a:rPr lang="es-ES" i="1" dirty="0"/>
              <a:t>front end </a:t>
            </a:r>
            <a:r>
              <a:rPr lang="es-ES" dirty="0"/>
              <a:t>es presentar la información y las funcionalidades de la aplicación de una manera fácil de entender y usar para el usuario, asegurando al mismo tiempo que la aplicación se vea bien y funcione correctamente en una variedad de dispositivos y tamaños de pantalla.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2349680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todos estos casos, aunque el usuario no ve el </a:t>
            </a:r>
            <a:r>
              <a:rPr lang="es-ES" i="1" dirty="0"/>
              <a:t>back end</a:t>
            </a:r>
            <a:r>
              <a:rPr lang="es-ES" dirty="0"/>
              <a:t>, es una parte crucial de la aplicación, ya que se encarga de almacenar y procesar los datos, así como de implementar la lógica de la aplicación.</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4224340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1923117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789935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Una API es una forma para que los programas "hablen" entre sí y realicen tareas específicas.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3530261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30754969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29324579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3521520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 importante tener en cuenta que ser un desarrollador </a:t>
            </a:r>
            <a:r>
              <a:rPr lang="es-ES" i="1" dirty="0"/>
              <a:t>full stack </a:t>
            </a:r>
            <a:r>
              <a:rPr lang="es-ES" dirty="0"/>
              <a:t>no significa necesariamente ser un experto en todas las tecnologías y lenguajes de programación.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20976997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9775961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21429092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9248441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Cada uno de estos tipos de pruebas juega un papel crítico en asegurar que tu software sea robusto, seguro, eficiente y fácil de usar.</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9456235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1705599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13473712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97039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36068746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21406807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36891434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30331188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27504886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26277497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 buen plan de pruebas proporciona una hoja de ruta clara para las pruebas y ayuda a garantizar que todas las características y funcionalidades importantes sean probadas de manera adecuada y eficiente.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40516227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192827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14926653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21802426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15743160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17392785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32231816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8589286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34306568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22137156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25575129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28524511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0" indent="0" rtl="0">
              <a:buFont typeface="+mj-lt"/>
              <a:buNone/>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blanco)">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8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gris)">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5724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a:solidFill>
            <a:schemeClr val="accent4">
              <a:lumMod val="20000"/>
              <a:lumOff val="80000"/>
            </a:schemeClr>
          </a:solidFill>
        </p:spPr>
        <p:txBody>
          <a:bodyPr numCol="3"/>
          <a:lstStyle>
            <a:lvl1pPr marL="173038" indent="-173038" algn="l">
              <a:spcBef>
                <a:spcPts val="0"/>
              </a:spcBef>
              <a:spcAft>
                <a:spcPts val="200"/>
              </a:spcAft>
              <a:buSzPct val="75000"/>
              <a:buFont typeface="Wingdings" panose="05000000000000000000" pitchFamily="2" charset="2"/>
              <a:buChar char="§"/>
              <a:defRPr sz="1400"/>
            </a:lvl1pPr>
            <a:lvl2pPr marL="531813" indent="-265113" algn="just">
              <a:spcBef>
                <a:spcPts val="0"/>
              </a:spcBef>
              <a:spcAft>
                <a:spcPts val="800"/>
              </a:spcAft>
              <a:buFont typeface="Wingdings" panose="05000000000000000000" pitchFamily="2" charset="2"/>
              <a:buChar char="§"/>
              <a:defRPr sz="1400"/>
            </a:lvl2pPr>
            <a:lvl3pPr marL="717550" indent="-185738" algn="just">
              <a:spcBef>
                <a:spcPts val="0"/>
              </a:spcBef>
              <a:spcAft>
                <a:spcPts val="800"/>
              </a:spcAft>
              <a:buFont typeface="Wingdings" panose="05000000000000000000" pitchFamily="2" charset="2"/>
              <a:buChar char="§"/>
              <a:defRPr sz="1400"/>
            </a:lvl3pPr>
            <a:lvl4pPr>
              <a:defRPr sz="1600"/>
            </a:lvl4pPr>
            <a:lvl5pPr>
              <a:defRPr sz="1600"/>
            </a:lvl5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66C3FB06-AEFF-9166-C6DD-B8FA2AD57863}"/>
              </a:ext>
            </a:extLst>
          </p:cNvPr>
          <p:cNvSpPr>
            <a:spLocks noGrp="1"/>
          </p:cNvSpPr>
          <p:nvPr>
            <p:ph type="body" sz="quarter" idx="15" hasCustomPrompt="1"/>
          </p:nvPr>
        </p:nvSpPr>
        <p:spPr>
          <a:xfrm>
            <a:off x="6319838" y="804863"/>
            <a:ext cx="2359025" cy="377825"/>
          </a:xfrm>
          <a:prstGeom prst="rect">
            <a:avLst/>
          </a:prstGeom>
        </p:spPr>
        <p:txBody>
          <a:bodyPr/>
          <a:lstStyle>
            <a:lvl1pPr marL="0" indent="0" algn="r">
              <a:spcBef>
                <a:spcPts val="0"/>
              </a:spcBef>
              <a:buNone/>
              <a:defRPr sz="2000" b="1" i="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076242012"/>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n FUL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804863"/>
            <a:ext cx="8208000" cy="4456737"/>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41335730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_Subtema con Imagen FUL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68313" y="1193600"/>
            <a:ext cx="8207375" cy="4068000"/>
          </a:xfrm>
          <a:prstGeom prst="rect">
            <a:avLst/>
          </a:prstGeom>
        </p:spPr>
        <p:txBody>
          <a:bodyPr anchor="ctr"/>
          <a:lstStyle>
            <a:lvl1pPr marL="0" indent="0" algn="ctr">
              <a:buNone/>
              <a:defRPr/>
            </a:lvl1pPr>
          </a:lstStyle>
          <a:p>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ABA448E1-A688-00A1-4209-9A9B21FA2758}"/>
              </a:ext>
            </a:extLst>
          </p:cNvPr>
          <p:cNvSpPr>
            <a:spLocks noGrp="1"/>
          </p:cNvSpPr>
          <p:nvPr>
            <p:ph type="body" sz="quarter" idx="14" hasCustomPrompt="1"/>
          </p:nvPr>
        </p:nvSpPr>
        <p:spPr>
          <a:xfrm>
            <a:off x="468313" y="804863"/>
            <a:ext cx="8207375" cy="354012"/>
          </a:xfrm>
          <a:prstGeom prst="rect">
            <a:avLst/>
          </a:prstGeom>
        </p:spPr>
        <p:txBody>
          <a:bodyPr/>
          <a:lstStyle>
            <a:lvl1pPr marL="0" indent="0">
              <a:buNone/>
              <a:defRPr sz="1600" b="1"/>
            </a:lvl1pPr>
          </a:lstStyle>
          <a:p>
            <a:pPr lvl="0"/>
            <a:r>
              <a:rPr lang="es-ES" dirty="0"/>
              <a:t>HAGA CLIC PARA MODIFICAR LOS ESTILOS DE TEXTO</a:t>
            </a:r>
            <a:endParaRPr lang="es-PE" dirty="0"/>
          </a:p>
        </p:txBody>
      </p:sp>
    </p:spTree>
    <p:extLst>
      <p:ext uri="{BB962C8B-B14F-4D97-AF65-F5344CB8AC3E}">
        <p14:creationId xmlns:p14="http://schemas.microsoft.com/office/powerpoint/2010/main" val="3703842985"/>
      </p:ext>
    </p:extLst>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
        <p:nvSpPr>
          <p:cNvPr id="3" name="Marcador de texto 14">
            <a:extLst>
              <a:ext uri="{FF2B5EF4-FFF2-40B4-BE49-F238E27FC236}">
                <a16:creationId xmlns:a16="http://schemas.microsoft.com/office/drawing/2014/main" id="{65683288-FF9D-EF85-5303-58FF571EB5ED}"/>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posición de imagen 4">
            <a:extLst>
              <a:ext uri="{FF2B5EF4-FFF2-40B4-BE49-F238E27FC236}">
                <a16:creationId xmlns:a16="http://schemas.microsoft.com/office/drawing/2014/main" id="{5F4F4ED8-1EB9-8C4E-58AA-74C396C6650A}"/>
              </a:ext>
            </a:extLst>
          </p:cNvPr>
          <p:cNvSpPr>
            <a:spLocks noGrp="1"/>
          </p:cNvSpPr>
          <p:nvPr>
            <p:ph type="pic" sz="quarter" idx="14"/>
          </p:nvPr>
        </p:nvSpPr>
        <p:spPr>
          <a:xfrm>
            <a:off x="462987" y="804863"/>
            <a:ext cx="8212701" cy="4465637"/>
          </a:xfrm>
          <a:prstGeom prst="rect">
            <a:avLst/>
          </a:prstGeom>
        </p:spPr>
        <p:txBody>
          <a:bodyPr anchor="ctr"/>
          <a:lstStyle>
            <a:lvl1pPr marL="0" indent="0" algn="ctr">
              <a:buNone/>
              <a:defRPr/>
            </a:lvl1pPr>
          </a:lstStyle>
          <a:p>
            <a:endParaRPr lang="es-PE"/>
          </a:p>
        </p:txBody>
      </p:sp>
    </p:spTree>
    <p:extLst>
      <p:ext uri="{BB962C8B-B14F-4D97-AF65-F5344CB8AC3E}">
        <p14:creationId xmlns:p14="http://schemas.microsoft.com/office/powerpoint/2010/main" val="3026187525"/>
      </p:ext>
    </p:extLst>
  </p:cSld>
  <p:clrMapOvr>
    <a:masterClrMapping/>
  </p:clrMapOvr>
  <p:extLst>
    <p:ext uri="{DCECCB84-F9BA-43D5-87BE-67443E8EF086}">
      <p15:sldGuideLst xmlns:p15="http://schemas.microsoft.com/office/powerpoint/2012/main">
        <p15:guide id="1" pos="295" userDrawn="1">
          <p15:clr>
            <a:srgbClr val="FBAE40"/>
          </p15:clr>
        </p15:guide>
        <p15:guide id="2" pos="2880" userDrawn="1">
          <p15:clr>
            <a:srgbClr val="FBAE40"/>
          </p15:clr>
        </p15:guide>
        <p15:guide id="3" pos="5465" userDrawn="1">
          <p15:clr>
            <a:srgbClr val="FBAE40"/>
          </p15:clr>
        </p15:guide>
        <p15:guide id="4" orient="horz" pos="1800" userDrawn="1">
          <p15:clr>
            <a:srgbClr val="FBAE40"/>
          </p15:clr>
        </p15:guide>
        <p15:guide id="5" orient="horz" pos="3320" userDrawn="1">
          <p15:clr>
            <a:srgbClr val="FBAE40"/>
          </p15:clr>
        </p15:guide>
        <p15:guide id="6" orient="horz" pos="507"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14</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13">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62" r:id="rId1"/>
    <p:sldLayoutId id="2147483678" r:id="rId2"/>
    <p:sldLayoutId id="2147483656" r:id="rId3"/>
    <p:sldLayoutId id="2147483679" r:id="rId4"/>
    <p:sldLayoutId id="2147483680" r:id="rId5"/>
    <p:sldLayoutId id="2147483692" r:id="rId6"/>
    <p:sldLayoutId id="2147483685" r:id="rId7"/>
    <p:sldLayoutId id="2147483649" r:id="rId8"/>
    <p:sldLayoutId id="2147483669" r:id="rId9"/>
    <p:sldLayoutId id="2147483667" r:id="rId10"/>
    <p:sldLayoutId id="214748369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9.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CONSTRUCCIÓN Y PRUEBAS DE LA SOLUCIÓN</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4 – UA4</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p:txBody>
          <a:bodyPr/>
          <a:lstStyle/>
          <a:p>
            <a:pPr>
              <a:spcBef>
                <a:spcPts val="0"/>
              </a:spcBef>
            </a:pPr>
            <a:r>
              <a:rPr lang="es-PE" dirty="0"/>
              <a:t>Construcción y pruebas</a:t>
            </a:r>
          </a:p>
          <a:p>
            <a:pPr>
              <a:spcBef>
                <a:spcPts val="0"/>
              </a:spcBef>
            </a:pPr>
            <a:r>
              <a:rPr lang="es-PE" dirty="0"/>
              <a:t>Conceptos </a:t>
            </a:r>
            <a:r>
              <a:rPr lang="es-PE" i="1" dirty="0"/>
              <a:t>Front end, Back end</a:t>
            </a:r>
            <a:r>
              <a:rPr lang="es-PE" dirty="0"/>
              <a:t>, API, Desarrollador </a:t>
            </a:r>
            <a:r>
              <a:rPr lang="es-PE" i="1" dirty="0"/>
              <a:t>full stack</a:t>
            </a:r>
          </a:p>
          <a:p>
            <a:pPr>
              <a:spcBef>
                <a:spcPts val="0"/>
              </a:spcBef>
            </a:pPr>
            <a:r>
              <a:rPr lang="es-PE" dirty="0"/>
              <a:t>Plan de pruebas</a:t>
            </a:r>
          </a:p>
          <a:p>
            <a:pPr>
              <a:spcBef>
                <a:spcPts val="0"/>
              </a:spcBef>
            </a:pPr>
            <a:r>
              <a:rPr lang="es-PE" dirty="0"/>
              <a:t>Pruebas automatizadas</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14</a:t>
            </a:r>
          </a:p>
        </p:txBody>
      </p:sp>
    </p:spTree>
    <p:extLst>
      <p:ext uri="{BB962C8B-B14F-4D97-AF65-F5344CB8AC3E}">
        <p14:creationId xmlns:p14="http://schemas.microsoft.com/office/powerpoint/2010/main" val="103886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xfrm>
            <a:off x="503238" y="1670050"/>
            <a:ext cx="8137525" cy="2634321"/>
          </a:xfrm>
          <a:prstGeom prst="rect">
            <a:avLst/>
          </a:prstGeom>
        </p:spPr>
        <p:txBody>
          <a:bodyPr/>
          <a:lstStyle/>
          <a:p>
            <a:r>
              <a:rPr lang="es-ES" dirty="0"/>
              <a:t>La construcción o implementación de una solución software es el proceso final en el que se elaboran, adaptan y añaden los elementos previamente contemplados, o bien, se trabaja en casos adaptativos, es decir, se adecuan aplicaciones de código abierto ya construidas que se ajusten a los requerimientos del cliente.</a:t>
            </a:r>
          </a:p>
          <a:p>
            <a:pPr>
              <a:spcAft>
                <a:spcPts val="600"/>
              </a:spcAft>
            </a:pPr>
            <a:r>
              <a:rPr lang="es-ES" dirty="0"/>
              <a:t>Entonces, durante esta sesión:</a:t>
            </a:r>
          </a:p>
          <a:p>
            <a:pPr lvl="1">
              <a:spcAft>
                <a:spcPts val="600"/>
              </a:spcAft>
            </a:pPr>
            <a:r>
              <a:rPr lang="es-ES" b="1" dirty="0"/>
              <a:t>Comprenderás</a:t>
            </a:r>
            <a:r>
              <a:rPr lang="es-ES" dirty="0"/>
              <a:t> los conceptos de ‘front end’, ‘back end’, ‘API’, y ‘desarrollador full stack’.</a:t>
            </a:r>
          </a:p>
          <a:p>
            <a:pPr lvl="1">
              <a:spcAft>
                <a:spcPts val="600"/>
              </a:spcAft>
            </a:pPr>
            <a:r>
              <a:rPr lang="es-ES" b="1" dirty="0"/>
              <a:t>Aprenderás </a:t>
            </a:r>
            <a:r>
              <a:rPr lang="es-ES" dirty="0"/>
              <a:t>a elaborar un plan de pruebas para una solución software</a:t>
            </a:r>
          </a:p>
          <a:p>
            <a:pPr lvl="1">
              <a:spcAft>
                <a:spcPts val="600"/>
              </a:spcAft>
            </a:pPr>
            <a:r>
              <a:rPr lang="es-ES" b="1" dirty="0"/>
              <a:t>Comprenderás</a:t>
            </a:r>
            <a:r>
              <a:rPr lang="es-ES" dirty="0"/>
              <a:t> el alcance de las pruebas automatizadas.</a:t>
            </a:r>
          </a:p>
          <a:p>
            <a:pPr lvl="1" algn="just">
              <a:spcAft>
                <a:spcPts val="600"/>
              </a:spcAft>
            </a:pP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455715"/>
          </a:xfrm>
        </p:spPr>
        <p:txBody>
          <a:bodyPr/>
          <a:lstStyle/>
          <a:p>
            <a:pPr marL="274638" indent="-274638">
              <a:tabLst>
                <a:tab pos="274638" algn="l"/>
              </a:tabLst>
            </a:pPr>
            <a:r>
              <a:rPr lang="es-PE" dirty="0"/>
              <a:t>/	CONSTRUCCIÓN Y PRUEBAS</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Construcción e implementación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CONSTRUCCIÓN Y PRUEBAS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75394" cy="3948384"/>
          </a:xfrm>
        </p:spPr>
        <p:txBody>
          <a:bodyPr/>
          <a:lstStyle/>
          <a:p>
            <a:r>
              <a:rPr lang="es-ES" dirty="0"/>
              <a:t>Implica convertir el diseño de la solución de software en código fuente mediante el uso de un lenguaje de programación.</a:t>
            </a:r>
          </a:p>
          <a:p>
            <a:r>
              <a:rPr lang="es-ES" dirty="0"/>
              <a:t>Durante esta fase, el equipo de desarrollo usa las especificaciones y el diseño para escribir el código del software.</a:t>
            </a:r>
          </a:p>
          <a:p>
            <a:pPr>
              <a:spcAft>
                <a:spcPts val="600"/>
              </a:spcAft>
            </a:pPr>
            <a:r>
              <a:rPr lang="es-ES" dirty="0"/>
              <a:t>Mejores prácticas en la etapa:</a:t>
            </a:r>
          </a:p>
          <a:p>
            <a:pPr lvl="1">
              <a:spcAft>
                <a:spcPts val="600"/>
              </a:spcAft>
            </a:pPr>
            <a:r>
              <a:rPr lang="es-ES" dirty="0"/>
              <a:t>Uso de un estilo de codificación consistente.</a:t>
            </a:r>
          </a:p>
          <a:p>
            <a:pPr lvl="1">
              <a:spcAft>
                <a:spcPts val="600"/>
              </a:spcAft>
            </a:pPr>
            <a:r>
              <a:rPr lang="es-ES" dirty="0"/>
              <a:t>Adhesión a los principios de diseño y patrones.</a:t>
            </a:r>
          </a:p>
          <a:p>
            <a:pPr lvl="1"/>
            <a:r>
              <a:rPr lang="es-ES" dirty="0"/>
              <a:t>Realización de revisiones de código para asegurar que el código sea de alta calidad y esté libre de errores.</a:t>
            </a:r>
          </a:p>
        </p:txBody>
      </p:sp>
      <p:pic>
        <p:nvPicPr>
          <p:cNvPr id="4" name="Marcador de posición de imagen 3">
            <a:extLst>
              <a:ext uri="{FF2B5EF4-FFF2-40B4-BE49-F238E27FC236}">
                <a16:creationId xmlns:a16="http://schemas.microsoft.com/office/drawing/2014/main" id="{BCD53FD5-AAAC-85E4-5C51-26EFD3D3F1AC}"/>
              </a:ext>
            </a:extLst>
          </p:cNvPr>
          <p:cNvPicPr>
            <a:picLocks noGrp="1" noChangeAspect="1"/>
          </p:cNvPicPr>
          <p:nvPr>
            <p:ph type="pic" sz="quarter" idx="10"/>
          </p:nvPr>
        </p:nvPicPr>
        <p:blipFill>
          <a:blip r:embed="rId3"/>
          <a:srcRect l="127" r="127"/>
          <a:stretch>
            <a:fillRect/>
          </a:stretch>
        </p:blipFill>
        <p:spPr>
          <a:xfrm>
            <a:off x="5258060" y="1158875"/>
            <a:ext cx="3579206" cy="3894555"/>
          </a:xfrm>
        </p:spPr>
      </p:pic>
    </p:spTree>
    <p:extLst>
      <p:ext uri="{BB962C8B-B14F-4D97-AF65-F5344CB8AC3E}">
        <p14:creationId xmlns:p14="http://schemas.microsoft.com/office/powerpoint/2010/main" val="3286778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Construcción e implementación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CONSTRUCCIÓN Y PRUEBAS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63882" cy="4111625"/>
          </a:xfrm>
        </p:spPr>
        <p:txBody>
          <a:bodyPr/>
          <a:lstStyle/>
          <a:p>
            <a:pPr marL="0" indent="0">
              <a:buNone/>
            </a:pPr>
            <a:r>
              <a:rPr lang="es-ES" b="1" dirty="0">
                <a:solidFill>
                  <a:srgbClr val="0070C0"/>
                </a:solidFill>
              </a:rPr>
              <a:t>Por ejemplo</a:t>
            </a:r>
            <a:r>
              <a:rPr lang="es-ES" dirty="0"/>
              <a:t>, consideremos que estás desarrollando una aplicación para la gestión de una librería.</a:t>
            </a:r>
          </a:p>
          <a:p>
            <a:r>
              <a:rPr lang="es-ES" dirty="0"/>
              <a:t>En la etapa de implementación, el equipo de desarrollo tomará el diseño del software y lo implementará. Esto puede implicar la creación de varias características como las siguientes:</a:t>
            </a:r>
          </a:p>
          <a:p>
            <a:pPr marL="530225" lvl="1" indent="-266700">
              <a:buSzPct val="90000"/>
              <a:buFont typeface="+mj-lt"/>
              <a:buAutoNum type="arabicParenR"/>
            </a:pPr>
            <a:r>
              <a:rPr lang="es-ES" dirty="0"/>
              <a:t>Mantener un inventario de libros.</a:t>
            </a:r>
          </a:p>
          <a:p>
            <a:pPr marL="530225" lvl="1" indent="-266700">
              <a:buSzPct val="90000"/>
              <a:buFont typeface="+mj-lt"/>
              <a:buAutoNum type="arabicParenR"/>
            </a:pPr>
            <a:r>
              <a:rPr lang="es-ES" dirty="0"/>
              <a:t>Permitir a los usuarios tomar prestados libros y llevar un registro de los libros prestados.</a:t>
            </a:r>
          </a:p>
          <a:p>
            <a:pPr marL="530225" lvl="1" indent="-266700">
              <a:buSzPct val="90000"/>
              <a:buFont typeface="+mj-lt"/>
              <a:buAutoNum type="arabicParenR"/>
            </a:pPr>
            <a:r>
              <a:rPr lang="es-ES" dirty="0"/>
              <a:t>Mantener un registro de todos los usuarios registrados y su historial de préstamos.</a:t>
            </a:r>
          </a:p>
        </p:txBody>
      </p:sp>
      <p:pic>
        <p:nvPicPr>
          <p:cNvPr id="8" name="Marcador de posición de imagen 7">
            <a:extLst>
              <a:ext uri="{FF2B5EF4-FFF2-40B4-BE49-F238E27FC236}">
                <a16:creationId xmlns:a16="http://schemas.microsoft.com/office/drawing/2014/main" id="{039C4CC9-9759-8480-F4A5-39D15E2EE7F6}"/>
              </a:ext>
            </a:extLst>
          </p:cNvPr>
          <p:cNvPicPr>
            <a:picLocks noGrp="1" noChangeAspect="1"/>
          </p:cNvPicPr>
          <p:nvPr>
            <p:ph type="pic" sz="quarter" idx="10"/>
          </p:nvPr>
        </p:nvPicPr>
        <p:blipFill>
          <a:blip r:embed="rId3"/>
          <a:srcRect l="2" r="2"/>
          <a:stretch>
            <a:fillRect/>
          </a:stretch>
        </p:blipFill>
        <p:spPr>
          <a:xfrm>
            <a:off x="5150159" y="1077951"/>
            <a:ext cx="3620200" cy="3939160"/>
          </a:xfrm>
        </p:spPr>
      </p:pic>
    </p:spTree>
    <p:extLst>
      <p:ext uri="{BB962C8B-B14F-4D97-AF65-F5344CB8AC3E}">
        <p14:creationId xmlns:p14="http://schemas.microsoft.com/office/powerpoint/2010/main" val="1048804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CONSTRUCCIÓN Y PRUEBAS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38224" cy="3242140"/>
          </a:xfrm>
        </p:spPr>
        <p:txBody>
          <a:bodyPr/>
          <a:lstStyle/>
          <a:p>
            <a:r>
              <a:rPr lang="es-ES" dirty="0"/>
              <a:t>Las pruebas son un aspecto crítico del desarrollo de software que se realiza para asegurar que el software funciona como se espera y que está libre de errores.</a:t>
            </a:r>
          </a:p>
          <a:p>
            <a:pPr>
              <a:spcAft>
                <a:spcPts val="600"/>
              </a:spcAft>
            </a:pPr>
            <a:r>
              <a:rPr lang="es-ES" dirty="0"/>
              <a:t>La etapa de pruebas puede implicar una variedad de enfoques de pruebas:</a:t>
            </a:r>
          </a:p>
          <a:p>
            <a:pPr lvl="1" algn="l">
              <a:spcAft>
                <a:spcPts val="600"/>
              </a:spcAft>
            </a:pPr>
            <a:r>
              <a:rPr lang="es-ES" dirty="0"/>
              <a:t>Pruebas unitarias.</a:t>
            </a:r>
          </a:p>
          <a:p>
            <a:pPr lvl="1" algn="l">
              <a:spcAft>
                <a:spcPts val="600"/>
              </a:spcAft>
            </a:pPr>
            <a:r>
              <a:rPr lang="es-ES" dirty="0"/>
              <a:t>Pruebas de integración.</a:t>
            </a:r>
          </a:p>
          <a:p>
            <a:pPr lvl="1" algn="l">
              <a:spcAft>
                <a:spcPts val="600"/>
              </a:spcAft>
            </a:pPr>
            <a:r>
              <a:rPr lang="es-ES" dirty="0"/>
              <a:t>Pruebas de sistema.</a:t>
            </a:r>
          </a:p>
          <a:p>
            <a:pPr lvl="1" algn="l"/>
            <a:r>
              <a:rPr lang="es-ES" dirty="0"/>
              <a:t>Pruebas de aceptación del usuario.</a:t>
            </a:r>
          </a:p>
        </p:txBody>
      </p:sp>
      <p:pic>
        <p:nvPicPr>
          <p:cNvPr id="8" name="Marcador de posición de imagen 7">
            <a:extLst>
              <a:ext uri="{FF2B5EF4-FFF2-40B4-BE49-F238E27FC236}">
                <a16:creationId xmlns:a16="http://schemas.microsoft.com/office/drawing/2014/main" id="{6E7CD646-A019-685D-FD03-6042A2A44A7C}"/>
              </a:ext>
            </a:extLst>
          </p:cNvPr>
          <p:cNvPicPr>
            <a:picLocks noGrp="1" noChangeAspect="1"/>
          </p:cNvPicPr>
          <p:nvPr>
            <p:ph type="pic" sz="quarter" idx="10"/>
          </p:nvPr>
        </p:nvPicPr>
        <p:blipFill>
          <a:blip r:embed="rId3"/>
          <a:srcRect l="447" r="447"/>
          <a:stretch>
            <a:fillRect/>
          </a:stretch>
        </p:blipFill>
        <p:spPr>
          <a:xfrm>
            <a:off x="5438460" y="1241503"/>
            <a:ext cx="3442563" cy="3745872"/>
          </a:xfrm>
        </p:spPr>
      </p:pic>
    </p:spTree>
    <p:extLst>
      <p:ext uri="{BB962C8B-B14F-4D97-AF65-F5344CB8AC3E}">
        <p14:creationId xmlns:p14="http://schemas.microsoft.com/office/powerpoint/2010/main" val="15218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CONSTRUCCIÓN Y PRUEBAS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86907" cy="3680754"/>
          </a:xfrm>
        </p:spPr>
        <p:txBody>
          <a:bodyPr/>
          <a:lstStyle/>
          <a:p>
            <a:pPr marL="0" indent="0">
              <a:spcAft>
                <a:spcPts val="600"/>
              </a:spcAft>
              <a:buNone/>
            </a:pPr>
            <a:r>
              <a:rPr lang="es-ES" b="1" dirty="0">
                <a:solidFill>
                  <a:srgbClr val="0070C0"/>
                </a:solidFill>
              </a:rPr>
              <a:t>Por ejemplo</a:t>
            </a:r>
            <a:r>
              <a:rPr lang="es-ES" dirty="0"/>
              <a:t>, siguiendo con el caso de la aplicación de gestión de librería, las diferentes pruebas podrían incluir:</a:t>
            </a:r>
          </a:p>
          <a:p>
            <a:pPr marL="530225" lvl="1" indent="-263525">
              <a:spcAft>
                <a:spcPts val="600"/>
              </a:spcAft>
              <a:buSzPct val="90000"/>
              <a:buFont typeface="+mj-lt"/>
              <a:buAutoNum type="arabicParenR"/>
            </a:pPr>
            <a:r>
              <a:rPr lang="es-ES" dirty="0"/>
              <a:t>Pruebas de las funcionalidades individuales de la aplicación </a:t>
            </a:r>
            <a:r>
              <a:rPr lang="es-ES" sz="1400" dirty="0">
                <a:solidFill>
                  <a:schemeClr val="tx1">
                    <a:lumMod val="50000"/>
                    <a:lumOff val="50000"/>
                  </a:schemeClr>
                </a:solidFill>
              </a:rPr>
              <a:t>(si al agregar un nuevo libro al inventario está trabajando correctamente)</a:t>
            </a:r>
            <a:r>
              <a:rPr lang="es-ES" dirty="0"/>
              <a:t>.</a:t>
            </a:r>
          </a:p>
          <a:p>
            <a:pPr marL="530225" lvl="1" indent="-263525">
              <a:spcAft>
                <a:spcPts val="600"/>
              </a:spcAft>
              <a:buSzPct val="90000"/>
              <a:buFont typeface="+mj-lt"/>
              <a:buAutoNum type="arabicParenR"/>
            </a:pPr>
            <a:r>
              <a:rPr lang="es-ES" dirty="0"/>
              <a:t>Pruebas de cómo las diferentes partes de la aplicación trabajan juntas </a:t>
            </a:r>
            <a:r>
              <a:rPr lang="es-ES" sz="1400" dirty="0">
                <a:solidFill>
                  <a:schemeClr val="tx1">
                    <a:lumMod val="50000"/>
                    <a:lumOff val="50000"/>
                  </a:schemeClr>
                </a:solidFill>
              </a:rPr>
              <a:t>(el préstamo de libros interactúa con el inventario de libros)</a:t>
            </a:r>
            <a:r>
              <a:rPr lang="es-ES" dirty="0"/>
              <a:t>.</a:t>
            </a:r>
          </a:p>
          <a:p>
            <a:pPr marL="530225" lvl="1" indent="-263525">
              <a:spcAft>
                <a:spcPts val="600"/>
              </a:spcAft>
              <a:buSzPct val="90000"/>
              <a:buFont typeface="+mj-lt"/>
              <a:buAutoNum type="arabicParenR"/>
            </a:pPr>
            <a:r>
              <a:rPr lang="es-ES" dirty="0"/>
              <a:t>Pruebas de la aplicación como un todo.</a:t>
            </a:r>
          </a:p>
          <a:p>
            <a:pPr marL="530225" lvl="1" indent="-263525">
              <a:spcAft>
                <a:spcPts val="600"/>
              </a:spcAft>
              <a:buSzPct val="90000"/>
              <a:buFont typeface="+mj-lt"/>
              <a:buAutoNum type="arabicParenR"/>
            </a:pPr>
            <a:r>
              <a:rPr lang="es-ES" dirty="0"/>
              <a:t>Pruebas de aceptación del usuario </a:t>
            </a:r>
            <a:r>
              <a:rPr lang="es-ES" sz="1400" dirty="0">
                <a:solidFill>
                  <a:schemeClr val="tx1">
                    <a:lumMod val="50000"/>
                    <a:lumOff val="50000"/>
                  </a:schemeClr>
                </a:solidFill>
              </a:rPr>
              <a:t>(los bibliotecarios y los usuarios del servicio de préstamo probarían la aplicación)</a:t>
            </a:r>
            <a:r>
              <a:rPr lang="es-ES" dirty="0"/>
              <a:t>.</a:t>
            </a:r>
          </a:p>
        </p:txBody>
      </p:sp>
      <p:pic>
        <p:nvPicPr>
          <p:cNvPr id="4" name="Marcador de posición de imagen 3">
            <a:extLst>
              <a:ext uri="{FF2B5EF4-FFF2-40B4-BE49-F238E27FC236}">
                <a16:creationId xmlns:a16="http://schemas.microsoft.com/office/drawing/2014/main" id="{D531A2C1-46F4-A800-C4C7-8257B8C8DECF}"/>
              </a:ext>
            </a:extLst>
          </p:cNvPr>
          <p:cNvPicPr>
            <a:picLocks noGrp="1" noChangeAspect="1"/>
          </p:cNvPicPr>
          <p:nvPr>
            <p:ph type="pic" sz="quarter" idx="10"/>
          </p:nvPr>
        </p:nvPicPr>
        <p:blipFill>
          <a:blip r:embed="rId3"/>
          <a:srcRect l="447" r="447"/>
          <a:stretch>
            <a:fillRect/>
          </a:stretch>
        </p:blipFill>
        <p:spPr>
          <a:xfrm>
            <a:off x="5547406" y="1248936"/>
            <a:ext cx="3128281" cy="3403901"/>
          </a:xfrm>
        </p:spPr>
      </p:pic>
    </p:spTree>
    <p:extLst>
      <p:ext uri="{BB962C8B-B14F-4D97-AF65-F5344CB8AC3E}">
        <p14:creationId xmlns:p14="http://schemas.microsoft.com/office/powerpoint/2010/main" val="123672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3" y="3714841"/>
            <a:ext cx="7924838" cy="1474193"/>
          </a:xfrm>
        </p:spPr>
        <p:txBody>
          <a:bodyPr/>
          <a:lstStyle/>
          <a:p>
            <a:pPr marL="274638" indent="-274638">
              <a:tabLst>
                <a:tab pos="274638" algn="l"/>
              </a:tabLst>
            </a:pPr>
            <a:r>
              <a:rPr lang="es-PE" dirty="0"/>
              <a:t>/	</a:t>
            </a:r>
            <a:r>
              <a:rPr lang="en-US" dirty="0"/>
              <a:t>CONCEPTOS</a:t>
            </a:r>
          </a:p>
          <a:p>
            <a:pPr marL="274638" indent="-274638">
              <a:tabLst>
                <a:tab pos="274638" algn="l"/>
              </a:tabLst>
            </a:pPr>
            <a:r>
              <a:rPr lang="en-US" dirty="0"/>
              <a:t>	</a:t>
            </a:r>
            <a:r>
              <a:rPr lang="en-US" sz="2400" i="1" dirty="0"/>
              <a:t>FRONT END,  BACK END</a:t>
            </a:r>
            <a:r>
              <a:rPr lang="en-US" sz="2400" dirty="0"/>
              <a:t>,</a:t>
            </a:r>
          </a:p>
          <a:p>
            <a:pPr marL="274638" indent="-274638">
              <a:tabLst>
                <a:tab pos="274638" algn="l"/>
              </a:tabLst>
            </a:pPr>
            <a:r>
              <a:rPr lang="en-US" sz="2400" dirty="0"/>
              <a:t>	API (Application Programming Interface),</a:t>
            </a:r>
          </a:p>
          <a:p>
            <a:pPr marL="274638" indent="-274638">
              <a:tabLst>
                <a:tab pos="274638" algn="l"/>
              </a:tabLst>
            </a:pPr>
            <a:r>
              <a:rPr lang="en-US" sz="2400" dirty="0"/>
              <a:t>	DESARROLLADOR </a:t>
            </a:r>
            <a:r>
              <a:rPr lang="en-US" sz="2400" i="1" dirty="0"/>
              <a:t>FULL STACK</a:t>
            </a:r>
            <a:endParaRPr lang="es-PE" sz="2400" i="1" dirty="0"/>
          </a:p>
        </p:txBody>
      </p:sp>
    </p:spTree>
    <p:custDataLst>
      <p:tags r:id="rId1"/>
    </p:custDataLst>
    <p:extLst>
      <p:ext uri="{BB962C8B-B14F-4D97-AF65-F5344CB8AC3E}">
        <p14:creationId xmlns:p14="http://schemas.microsoft.com/office/powerpoint/2010/main" val="133575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FRONT END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658452"/>
          </a:xfrm>
        </p:spPr>
        <p:txBody>
          <a:bodyPr/>
          <a:lstStyle/>
          <a:p>
            <a:r>
              <a:rPr lang="es-ES" dirty="0"/>
              <a:t>Se refiere a la interfaz de usuario y a todas las partes de una aplicación de software que los usuarios ven e interactúan directamente.</a:t>
            </a:r>
          </a:p>
          <a:p>
            <a:r>
              <a:rPr lang="es-ES" dirty="0"/>
              <a:t>Esto puede incluir el diseño de la interfaz de usuario, la navegación, los gráficos, y otros aspectos visuales de una aplicación o sitio web.</a:t>
            </a:r>
          </a:p>
          <a:p>
            <a:r>
              <a:rPr lang="es-ES" dirty="0"/>
              <a:t>Además, "front end" también incluye la programación necesaria para manejar la interacción del usuario, que puede ser realizada usando lenguajes de </a:t>
            </a:r>
            <a:r>
              <a:rPr lang="es-ES" i="1" dirty="0"/>
              <a:t>scripting</a:t>
            </a:r>
            <a:r>
              <a:rPr lang="es-ES" dirty="0"/>
              <a:t> del lado del cliente como JavaScript.</a:t>
            </a:r>
          </a:p>
        </p:txBody>
      </p:sp>
      <p:pic>
        <p:nvPicPr>
          <p:cNvPr id="8" name="Marcador de posición de imagen 7">
            <a:extLst>
              <a:ext uri="{FF2B5EF4-FFF2-40B4-BE49-F238E27FC236}">
                <a16:creationId xmlns:a16="http://schemas.microsoft.com/office/drawing/2014/main" id="{AC75FC27-0F04-4351-7BFA-657E801FE948}"/>
              </a:ext>
            </a:extLst>
          </p:cNvPr>
          <p:cNvPicPr>
            <a:picLocks noGrp="1" noChangeAspect="1"/>
          </p:cNvPicPr>
          <p:nvPr>
            <p:ph type="pic" sz="quarter" idx="10"/>
          </p:nvPr>
        </p:nvPicPr>
        <p:blipFill>
          <a:blip r:embed="rId3"/>
          <a:srcRect t="423" b="423"/>
          <a:stretch>
            <a:fillRect/>
          </a:stretch>
        </p:blipFill>
        <p:spPr/>
      </p:pic>
    </p:spTree>
    <p:extLst>
      <p:ext uri="{BB962C8B-B14F-4D97-AF65-F5344CB8AC3E}">
        <p14:creationId xmlns:p14="http://schemas.microsoft.com/office/powerpoint/2010/main" val="1058885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1C31FD8F-3029-CAEB-193A-D59197A341FE}"/>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FRONT END </a:t>
            </a:r>
            <a:r>
              <a:rPr lang="es-PE" dirty="0"/>
              <a:t>- FACEBOOK</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4"/>
            <a:ext cx="8207375" cy="2081565"/>
          </a:xfrm>
        </p:spPr>
        <p:txBody>
          <a:bodyPr/>
          <a:lstStyle/>
          <a:p>
            <a:pPr marL="0" indent="0">
              <a:spcAft>
                <a:spcPts val="600"/>
              </a:spcAft>
              <a:buNone/>
            </a:pPr>
            <a:r>
              <a:rPr lang="es-ES" dirty="0"/>
              <a:t>El "front end" incluye todas los elementos visuales que puedes ver e interactuar:</a:t>
            </a:r>
          </a:p>
          <a:p>
            <a:pPr>
              <a:spcAft>
                <a:spcPts val="600"/>
              </a:spcAft>
            </a:pPr>
            <a:r>
              <a:rPr lang="es-ES" sz="1400" dirty="0">
                <a:solidFill>
                  <a:schemeClr val="tx1">
                    <a:lumMod val="50000"/>
                    <a:lumOff val="50000"/>
                  </a:schemeClr>
                </a:solidFill>
              </a:rPr>
              <a:t>Muro de noticias: aquí puedes ver las publicaciones de tus amigos, páginas que sigues, y más. Puedes interactuar con estas publicaciones reaccionando a ellas, comentándolas o compartiéndolas.</a:t>
            </a:r>
          </a:p>
          <a:p>
            <a:pPr>
              <a:spcAft>
                <a:spcPts val="600"/>
              </a:spcAft>
            </a:pPr>
            <a:r>
              <a:rPr lang="es-ES" sz="1400" dirty="0">
                <a:solidFill>
                  <a:schemeClr val="tx1">
                    <a:lumMod val="50000"/>
                    <a:lumOff val="50000"/>
                  </a:schemeClr>
                </a:solidFill>
              </a:rPr>
              <a:t>Barra de menús: enlaces a las diferentes secciones de Facebook, como tu perfil, la página de inicio, las solicitudes de amistad, los mensajes y las notificaciones. Cuando haces clic en estos enlaces, el </a:t>
            </a:r>
            <a:r>
              <a:rPr lang="es-ES" sz="1400" i="1" dirty="0">
                <a:solidFill>
                  <a:schemeClr val="tx1">
                    <a:lumMod val="50000"/>
                    <a:lumOff val="50000"/>
                  </a:schemeClr>
                </a:solidFill>
              </a:rPr>
              <a:t>front end </a:t>
            </a:r>
            <a:r>
              <a:rPr lang="es-ES" sz="1400" dirty="0">
                <a:solidFill>
                  <a:schemeClr val="tx1">
                    <a:lumMod val="50000"/>
                    <a:lumOff val="50000"/>
                  </a:schemeClr>
                </a:solidFill>
              </a:rPr>
              <a:t>se encarga de mostrarte la página correspondiente.</a:t>
            </a:r>
          </a:p>
          <a:p>
            <a:pPr>
              <a:spcAft>
                <a:spcPts val="600"/>
              </a:spcAft>
            </a:pPr>
            <a:r>
              <a:rPr lang="es-ES" sz="1400" dirty="0">
                <a:solidFill>
                  <a:schemeClr val="tx1">
                    <a:lumMod val="50000"/>
                    <a:lumOff val="50000"/>
                  </a:schemeClr>
                </a:solidFill>
              </a:rPr>
              <a:t>Caja de búsqueda: cuando escribes en la caja de búsqueda, el </a:t>
            </a:r>
            <a:r>
              <a:rPr lang="es-ES" sz="1400" i="1" dirty="0">
                <a:solidFill>
                  <a:schemeClr val="tx1">
                    <a:lumMod val="50000"/>
                    <a:lumOff val="50000"/>
                  </a:schemeClr>
                </a:solidFill>
              </a:rPr>
              <a:t>front end </a:t>
            </a:r>
            <a:r>
              <a:rPr lang="es-ES" sz="1400" dirty="0">
                <a:solidFill>
                  <a:schemeClr val="tx1">
                    <a:lumMod val="50000"/>
                    <a:lumOff val="50000"/>
                  </a:schemeClr>
                </a:solidFill>
              </a:rPr>
              <a:t>te muestra sugerencias y resultados de búsqueda en tiempo real.</a:t>
            </a:r>
          </a:p>
        </p:txBody>
      </p:sp>
    </p:spTree>
    <p:extLst>
      <p:ext uri="{BB962C8B-B14F-4D97-AF65-F5344CB8AC3E}">
        <p14:creationId xmlns:p14="http://schemas.microsoft.com/office/powerpoint/2010/main" val="2507429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E9F20B39-8C74-0827-093B-58589F333892}"/>
              </a:ext>
            </a:extLst>
          </p:cNvPr>
          <p:cNvPicPr>
            <a:picLocks noGrp="1" noChangeAspect="1"/>
          </p:cNvPicPr>
          <p:nvPr>
            <p:ph type="pic" sz="quarter" idx="10"/>
          </p:nvPr>
        </p:nvPicPr>
        <p:blipFill>
          <a:blip r:embed="rId3"/>
          <a:srcRect t="368" b="368"/>
          <a:stretch>
            <a:fillRect/>
          </a:stretch>
        </p:blipFill>
        <p:spPr>
          <a:xfrm>
            <a:off x="973872" y="3227267"/>
            <a:ext cx="7459625" cy="2022093"/>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FRONT END </a:t>
            </a:r>
            <a:r>
              <a:rPr lang="es-PE" dirty="0"/>
              <a:t>– aplicación de comercio electrónico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5"/>
            <a:ext cx="8207375" cy="2022092"/>
          </a:xfrm>
        </p:spPr>
        <p:txBody>
          <a:bodyPr/>
          <a:lstStyle/>
          <a:p>
            <a:pPr marL="0" indent="0">
              <a:spcAft>
                <a:spcPts val="600"/>
              </a:spcAft>
              <a:buNone/>
            </a:pPr>
            <a:r>
              <a:rPr lang="es-ES" dirty="0"/>
              <a:t>El "front end" es responsable de mostrar los productos, manejar el carrito de compras, y guiar a los clientes a través del </a:t>
            </a:r>
            <a:r>
              <a:rPr lang="es-ES" i="1" dirty="0"/>
              <a:t>checkout:</a:t>
            </a:r>
          </a:p>
          <a:p>
            <a:pPr>
              <a:lnSpc>
                <a:spcPct val="85000"/>
              </a:lnSpc>
              <a:spcAft>
                <a:spcPts val="300"/>
              </a:spcAft>
            </a:pPr>
            <a:r>
              <a:rPr lang="es-ES" sz="1400" dirty="0">
                <a:solidFill>
                  <a:schemeClr val="tx1">
                    <a:lumMod val="50000"/>
                    <a:lumOff val="50000"/>
                  </a:schemeClr>
                </a:solidFill>
              </a:rPr>
              <a:t>Páginas de productos: cada producto tiene su propia página con detalles como el nombre del producto, imágenes, descripción, precio, y botones para añadir el producto al carrito.</a:t>
            </a:r>
          </a:p>
          <a:p>
            <a:pPr>
              <a:lnSpc>
                <a:spcPct val="85000"/>
              </a:lnSpc>
              <a:spcAft>
                <a:spcPts val="300"/>
              </a:spcAft>
            </a:pPr>
            <a:r>
              <a:rPr lang="es-ES" sz="1400" dirty="0">
                <a:solidFill>
                  <a:schemeClr val="tx1">
                    <a:lumMod val="50000"/>
                    <a:lumOff val="50000"/>
                  </a:schemeClr>
                </a:solidFill>
              </a:rPr>
              <a:t>Carrito de compras: cuando añades productos a tu carrito, estos se muestran en la página del carrito de compras. Aquí puedes ver los productos que has añadido, cambiar las cantidades, o eliminar productos del carrito.</a:t>
            </a:r>
          </a:p>
          <a:p>
            <a:pPr>
              <a:lnSpc>
                <a:spcPct val="85000"/>
              </a:lnSpc>
              <a:spcAft>
                <a:spcPts val="300"/>
              </a:spcAft>
            </a:pPr>
            <a:r>
              <a:rPr lang="es-ES" sz="1400" dirty="0">
                <a:solidFill>
                  <a:schemeClr val="tx1">
                    <a:lumMod val="50000"/>
                    <a:lumOff val="50000"/>
                  </a:schemeClr>
                </a:solidFill>
              </a:rPr>
              <a:t>Página de </a:t>
            </a:r>
            <a:r>
              <a:rPr lang="es-ES" sz="1400" i="1" dirty="0">
                <a:solidFill>
                  <a:schemeClr val="tx1">
                    <a:lumMod val="50000"/>
                    <a:lumOff val="50000"/>
                  </a:schemeClr>
                </a:solidFill>
              </a:rPr>
              <a:t>checkout</a:t>
            </a:r>
            <a:r>
              <a:rPr lang="es-ES" sz="1400" dirty="0">
                <a:solidFill>
                  <a:schemeClr val="tx1">
                    <a:lumMod val="50000"/>
                    <a:lumOff val="50000"/>
                  </a:schemeClr>
                </a:solidFill>
              </a:rPr>
              <a:t>: aquí introduces la información de tu tarjeta de crédito y dirección de envío. El </a:t>
            </a:r>
            <a:r>
              <a:rPr lang="es-ES" sz="1400" i="1" dirty="0">
                <a:solidFill>
                  <a:schemeClr val="tx1">
                    <a:lumMod val="50000"/>
                    <a:lumOff val="50000"/>
                  </a:schemeClr>
                </a:solidFill>
              </a:rPr>
              <a:t>front end</a:t>
            </a:r>
            <a:r>
              <a:rPr lang="es-ES" sz="1400" dirty="0">
                <a:solidFill>
                  <a:schemeClr val="tx1">
                    <a:lumMod val="50000"/>
                    <a:lumOff val="50000"/>
                  </a:schemeClr>
                </a:solidFill>
              </a:rPr>
              <a:t> se encarga de recoger estos datos y validarlos, y luego de enviarlos al </a:t>
            </a:r>
            <a:r>
              <a:rPr lang="es-ES" sz="1400" i="1" dirty="0">
                <a:solidFill>
                  <a:schemeClr val="tx1">
                    <a:lumMod val="50000"/>
                    <a:lumOff val="50000"/>
                  </a:schemeClr>
                </a:solidFill>
              </a:rPr>
              <a:t>back end </a:t>
            </a:r>
            <a:r>
              <a:rPr lang="es-ES" sz="1400" dirty="0">
                <a:solidFill>
                  <a:schemeClr val="tx1">
                    <a:lumMod val="50000"/>
                    <a:lumOff val="50000"/>
                  </a:schemeClr>
                </a:solidFill>
              </a:rPr>
              <a:t>para procesar el pago.</a:t>
            </a:r>
          </a:p>
        </p:txBody>
      </p:sp>
    </p:spTree>
    <p:extLst>
      <p:ext uri="{BB962C8B-B14F-4D97-AF65-F5344CB8AC3E}">
        <p14:creationId xmlns:p14="http://schemas.microsoft.com/office/powerpoint/2010/main" val="887716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BACK END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Se refiere a la parte del software que no es visible para el usuario final.</a:t>
            </a:r>
          </a:p>
          <a:p>
            <a:r>
              <a:rPr lang="es-ES" dirty="0"/>
              <a:t>Incluye el servidor, la base de datos y las aplicaciones que manejan la lógica de negocio.</a:t>
            </a:r>
          </a:p>
          <a:p>
            <a:r>
              <a:rPr lang="es-ES" dirty="0"/>
              <a:t>Los desarrolladores de </a:t>
            </a:r>
            <a:r>
              <a:rPr lang="es-ES" i="1" dirty="0"/>
              <a:t>back end </a:t>
            </a:r>
            <a:r>
              <a:rPr lang="es-ES" dirty="0"/>
              <a:t>utilizan lenguajes de programación como Java, Python, Ruby, .NET, entre otros, y trabajan con bases de datos como SQL, MongoDB, Oracle, etc.</a:t>
            </a:r>
          </a:p>
          <a:p>
            <a:r>
              <a:rPr lang="es-ES" dirty="0"/>
              <a:t>En el "back end", los datos son procesados, las solicitudes del usuario son atendidas y se proporciona la lógica principal del programa. </a:t>
            </a:r>
          </a:p>
        </p:txBody>
      </p:sp>
      <p:pic>
        <p:nvPicPr>
          <p:cNvPr id="4" name="Marcador de posición de imagen 3">
            <a:extLst>
              <a:ext uri="{FF2B5EF4-FFF2-40B4-BE49-F238E27FC236}">
                <a16:creationId xmlns:a16="http://schemas.microsoft.com/office/drawing/2014/main" id="{1B2C1068-D89D-E938-A40B-5124B7F4FF31}"/>
              </a:ext>
            </a:extLst>
          </p:cNvPr>
          <p:cNvPicPr>
            <a:picLocks noGrp="1" noChangeAspect="1"/>
          </p:cNvPicPr>
          <p:nvPr>
            <p:ph type="pic" sz="quarter" idx="10"/>
          </p:nvPr>
        </p:nvPicPr>
        <p:blipFill>
          <a:blip r:embed="rId3"/>
          <a:srcRect t="307" b="307"/>
          <a:stretch>
            <a:fillRect/>
          </a:stretch>
        </p:blipFill>
        <p:spPr/>
      </p:pic>
    </p:spTree>
    <p:extLst>
      <p:ext uri="{BB962C8B-B14F-4D97-AF65-F5344CB8AC3E}">
        <p14:creationId xmlns:p14="http://schemas.microsoft.com/office/powerpoint/2010/main" val="47114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CEE2C541-EC16-63AB-4DB9-F07477219D2A}"/>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BACK END </a:t>
            </a:r>
            <a:r>
              <a:rPr lang="es-PE" dirty="0"/>
              <a:t>- FACEBOOK</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4"/>
            <a:ext cx="8207375" cy="2074131"/>
          </a:xfrm>
        </p:spPr>
        <p:txBody>
          <a:bodyPr/>
          <a:lstStyle/>
          <a:p>
            <a:pPr marL="0" indent="0">
              <a:spcAft>
                <a:spcPts val="600"/>
              </a:spcAft>
              <a:buNone/>
            </a:pPr>
            <a:r>
              <a:rPr lang="es-ES" dirty="0"/>
              <a:t>Al publicar un estado, subir una foto o enviar un mensaje, la información se envía al back end. </a:t>
            </a:r>
          </a:p>
          <a:p>
            <a:pPr>
              <a:lnSpc>
                <a:spcPct val="90000"/>
              </a:lnSpc>
              <a:spcAft>
                <a:spcPts val="600"/>
              </a:spcAft>
            </a:pPr>
            <a:r>
              <a:rPr lang="es-ES" sz="1400" dirty="0">
                <a:solidFill>
                  <a:schemeClr val="tx1">
                    <a:lumMod val="50000"/>
                    <a:lumOff val="50000"/>
                  </a:schemeClr>
                </a:solidFill>
              </a:rPr>
              <a:t>Cuando escribes y envías un estado, la información se envía al </a:t>
            </a:r>
            <a:r>
              <a:rPr lang="es-ES" sz="1400" i="1" dirty="0">
                <a:solidFill>
                  <a:schemeClr val="tx1">
                    <a:lumMod val="50000"/>
                    <a:lumOff val="50000"/>
                  </a:schemeClr>
                </a:solidFill>
              </a:rPr>
              <a:t>back end, </a:t>
            </a:r>
            <a:r>
              <a:rPr lang="es-ES" sz="1400" dirty="0">
                <a:solidFill>
                  <a:schemeClr val="tx1">
                    <a:lumMod val="50000"/>
                    <a:lumOff val="50000"/>
                  </a:schemeClr>
                </a:solidFill>
              </a:rPr>
              <a:t>donde se almacena en la base de datos. Esta información se recupera y se muestra a los usuarios pertinentes cuando visitan su muro de noticias.</a:t>
            </a:r>
          </a:p>
          <a:p>
            <a:pPr>
              <a:lnSpc>
                <a:spcPct val="90000"/>
              </a:lnSpc>
              <a:spcAft>
                <a:spcPts val="600"/>
              </a:spcAft>
            </a:pPr>
            <a:r>
              <a:rPr lang="es-ES" sz="1400" dirty="0">
                <a:solidFill>
                  <a:schemeClr val="tx1">
                    <a:lumMod val="50000"/>
                    <a:lumOff val="50000"/>
                  </a:schemeClr>
                </a:solidFill>
              </a:rPr>
              <a:t>Al subir una foto, la imagen se envía al </a:t>
            </a:r>
            <a:r>
              <a:rPr lang="es-ES" sz="1400" i="1" dirty="0">
                <a:solidFill>
                  <a:schemeClr val="tx1">
                    <a:lumMod val="50000"/>
                    <a:lumOff val="50000"/>
                  </a:schemeClr>
                </a:solidFill>
              </a:rPr>
              <a:t>back end, </a:t>
            </a:r>
            <a:r>
              <a:rPr lang="es-ES" sz="1400" dirty="0">
                <a:solidFill>
                  <a:schemeClr val="tx1">
                    <a:lumMod val="50000"/>
                    <a:lumOff val="50000"/>
                  </a:schemeClr>
                </a:solidFill>
              </a:rPr>
              <a:t>donde se almacena (en un sistema de almacenamiento como Amazon S3). Luego, cuando un usuario visita tu perfil o muro de noticias, la foto se recupera del </a:t>
            </a:r>
            <a:r>
              <a:rPr lang="es-ES" sz="1400" i="1" dirty="0">
                <a:solidFill>
                  <a:schemeClr val="tx1">
                    <a:lumMod val="50000"/>
                    <a:lumOff val="50000"/>
                  </a:schemeClr>
                </a:solidFill>
              </a:rPr>
              <a:t>back</a:t>
            </a:r>
            <a:r>
              <a:rPr lang="es-ES" sz="1400" dirty="0">
                <a:solidFill>
                  <a:schemeClr val="tx1">
                    <a:lumMod val="50000"/>
                    <a:lumOff val="50000"/>
                  </a:schemeClr>
                </a:solidFill>
              </a:rPr>
              <a:t> </a:t>
            </a:r>
            <a:r>
              <a:rPr lang="es-ES" sz="1400" i="1" dirty="0">
                <a:solidFill>
                  <a:schemeClr val="tx1">
                    <a:lumMod val="50000"/>
                    <a:lumOff val="50000"/>
                  </a:schemeClr>
                </a:solidFill>
              </a:rPr>
              <a:t>end</a:t>
            </a:r>
            <a:r>
              <a:rPr lang="es-ES" sz="1400" dirty="0">
                <a:solidFill>
                  <a:schemeClr val="tx1">
                    <a:lumMod val="50000"/>
                    <a:lumOff val="50000"/>
                  </a:schemeClr>
                </a:solidFill>
              </a:rPr>
              <a:t> para mostrarse.</a:t>
            </a:r>
          </a:p>
          <a:p>
            <a:pPr>
              <a:lnSpc>
                <a:spcPct val="90000"/>
              </a:lnSpc>
              <a:spcAft>
                <a:spcPts val="600"/>
              </a:spcAft>
            </a:pPr>
            <a:r>
              <a:rPr lang="es-ES" sz="1400" dirty="0">
                <a:solidFill>
                  <a:schemeClr val="tx1">
                    <a:lumMod val="50000"/>
                    <a:lumOff val="50000"/>
                  </a:schemeClr>
                </a:solidFill>
              </a:rPr>
              <a:t>Cuando envías un mensaje a otro usuario, el contenido del mensaje se envía al </a:t>
            </a:r>
            <a:r>
              <a:rPr lang="es-ES" sz="1400" i="1" dirty="0">
                <a:solidFill>
                  <a:schemeClr val="tx1">
                    <a:lumMod val="50000"/>
                    <a:lumOff val="50000"/>
                  </a:schemeClr>
                </a:solidFill>
              </a:rPr>
              <a:t>back end</a:t>
            </a:r>
            <a:r>
              <a:rPr lang="es-ES" sz="1400" dirty="0">
                <a:solidFill>
                  <a:schemeClr val="tx1">
                    <a:lumMod val="50000"/>
                    <a:lumOff val="50000"/>
                  </a:schemeClr>
                </a:solidFill>
              </a:rPr>
              <a:t>, se almacena en la base de datos y luego se envía al destinatario.</a:t>
            </a:r>
          </a:p>
        </p:txBody>
      </p:sp>
    </p:spTree>
    <p:extLst>
      <p:ext uri="{BB962C8B-B14F-4D97-AF65-F5344CB8AC3E}">
        <p14:creationId xmlns:p14="http://schemas.microsoft.com/office/powerpoint/2010/main" val="3371821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92C319DC-A78F-C83C-CE3F-F89009080670}"/>
              </a:ext>
            </a:extLst>
          </p:cNvPr>
          <p:cNvPicPr>
            <a:picLocks noGrp="1" noChangeAspect="1"/>
          </p:cNvPicPr>
          <p:nvPr>
            <p:ph type="pic" sz="quarter" idx="10"/>
          </p:nvPr>
        </p:nvPicPr>
        <p:blipFill>
          <a:blip r:embed="rId3"/>
          <a:srcRect t="368" b="368"/>
          <a:stretch>
            <a:fillRect/>
          </a:stretch>
        </p:blipFill>
        <p:spPr>
          <a:xfrm>
            <a:off x="898497" y="3267985"/>
            <a:ext cx="7490944" cy="1982039"/>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BACK END </a:t>
            </a:r>
            <a:r>
              <a:rPr lang="es-PE" dirty="0"/>
              <a:t>– aplicación de comercio electrónico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5"/>
            <a:ext cx="8207375" cy="1982038"/>
          </a:xfrm>
        </p:spPr>
        <p:txBody>
          <a:bodyPr/>
          <a:lstStyle/>
          <a:p>
            <a:pPr marL="0" indent="0">
              <a:spcAft>
                <a:spcPts val="600"/>
              </a:spcAft>
              <a:buNone/>
            </a:pPr>
            <a:r>
              <a:rPr lang="es-ES" dirty="0"/>
              <a:t>En una tienda en línea, cada vez que añades un artículo a tu carrito, realizas una compra o calificas un producto, esa información se procesa en el </a:t>
            </a:r>
            <a:r>
              <a:rPr lang="es-ES" i="1" dirty="0"/>
              <a:t>back end</a:t>
            </a:r>
            <a:r>
              <a:rPr lang="es-ES" dirty="0"/>
              <a:t>.</a:t>
            </a:r>
          </a:p>
          <a:p>
            <a:pPr>
              <a:lnSpc>
                <a:spcPct val="85000"/>
              </a:lnSpc>
              <a:spcAft>
                <a:spcPts val="300"/>
              </a:spcAft>
            </a:pPr>
            <a:r>
              <a:rPr lang="es-ES" sz="1400" dirty="0">
                <a:solidFill>
                  <a:schemeClr val="tx1">
                    <a:lumMod val="50000"/>
                    <a:lumOff val="50000"/>
                  </a:schemeClr>
                </a:solidFill>
              </a:rPr>
              <a:t>Cuando añades un artículo a tu carrito, esa información se envía al </a:t>
            </a:r>
            <a:r>
              <a:rPr lang="es-ES" sz="1400" i="1" dirty="0">
                <a:solidFill>
                  <a:schemeClr val="tx1">
                    <a:lumMod val="50000"/>
                    <a:lumOff val="50000"/>
                  </a:schemeClr>
                </a:solidFill>
              </a:rPr>
              <a:t>back end,</a:t>
            </a:r>
            <a:r>
              <a:rPr lang="es-ES" sz="1400" dirty="0">
                <a:solidFill>
                  <a:schemeClr val="tx1">
                    <a:lumMod val="50000"/>
                    <a:lumOff val="50000"/>
                  </a:schemeClr>
                </a:solidFill>
              </a:rPr>
              <a:t> que mantiene un registro de los artículos en tu carrito.</a:t>
            </a:r>
          </a:p>
          <a:p>
            <a:pPr>
              <a:lnSpc>
                <a:spcPct val="85000"/>
              </a:lnSpc>
              <a:spcAft>
                <a:spcPts val="300"/>
              </a:spcAft>
            </a:pPr>
            <a:r>
              <a:rPr lang="es-ES" sz="1400" dirty="0">
                <a:solidFill>
                  <a:schemeClr val="tx1">
                    <a:lumMod val="50000"/>
                    <a:lumOff val="50000"/>
                  </a:schemeClr>
                </a:solidFill>
              </a:rPr>
              <a:t>Cuando realizas una compra, el </a:t>
            </a:r>
            <a:r>
              <a:rPr lang="es-ES" sz="1400" i="1" dirty="0">
                <a:solidFill>
                  <a:schemeClr val="tx1">
                    <a:lumMod val="50000"/>
                    <a:lumOff val="50000"/>
                  </a:schemeClr>
                </a:solidFill>
              </a:rPr>
              <a:t>back end </a:t>
            </a:r>
            <a:r>
              <a:rPr lang="es-ES" sz="1400" dirty="0">
                <a:solidFill>
                  <a:schemeClr val="tx1">
                    <a:lumMod val="50000"/>
                    <a:lumOff val="50000"/>
                  </a:schemeClr>
                </a:solidFill>
              </a:rPr>
              <a:t>procesa la transacción. Esto incluye verificar los detalles de tu tarjeta de crédito, procesar el pago, actualizar la base de datos para reflejar el nuevo estado del inventario y generar una orden de envío.</a:t>
            </a:r>
          </a:p>
          <a:p>
            <a:pPr>
              <a:lnSpc>
                <a:spcPct val="85000"/>
              </a:lnSpc>
              <a:spcAft>
                <a:spcPts val="300"/>
              </a:spcAft>
            </a:pPr>
            <a:r>
              <a:rPr lang="es-ES" sz="1400" dirty="0">
                <a:solidFill>
                  <a:schemeClr val="tx1">
                    <a:lumMod val="50000"/>
                    <a:lumOff val="50000"/>
                  </a:schemeClr>
                </a:solidFill>
              </a:rPr>
              <a:t>Si calificas un producto, esa calificación se envía al </a:t>
            </a:r>
            <a:r>
              <a:rPr lang="es-ES" sz="1400" i="1" dirty="0">
                <a:solidFill>
                  <a:schemeClr val="tx1">
                    <a:lumMod val="50000"/>
                    <a:lumOff val="50000"/>
                  </a:schemeClr>
                </a:solidFill>
              </a:rPr>
              <a:t>back end</a:t>
            </a:r>
            <a:r>
              <a:rPr lang="es-ES" sz="1400" dirty="0">
                <a:solidFill>
                  <a:schemeClr val="tx1">
                    <a:lumMod val="50000"/>
                    <a:lumOff val="50000"/>
                  </a:schemeClr>
                </a:solidFill>
              </a:rPr>
              <a:t>, donde se almacena en la base de datos y se calcula la calificación media del producto.</a:t>
            </a:r>
          </a:p>
        </p:txBody>
      </p:sp>
    </p:spTree>
    <p:extLst>
      <p:ext uri="{BB962C8B-B14F-4D97-AF65-F5344CB8AC3E}">
        <p14:creationId xmlns:p14="http://schemas.microsoft.com/office/powerpoint/2010/main" val="204835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212000" cy="354012"/>
          </a:xfrm>
        </p:spPr>
        <p:txBody>
          <a:bodyPr/>
          <a:lstStyle/>
          <a:p>
            <a:r>
              <a:rPr lang="es-ES" i="1" dirty="0"/>
              <a:t>APPLICATION PROGRAMMING INTERFACE </a:t>
            </a:r>
            <a:r>
              <a:rPr lang="es-ES" dirty="0"/>
              <a:t>(API)</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Es un conjunto de reglas y protocolos que permite que diferentes programas de software se comuniquen entre sí. </a:t>
            </a:r>
          </a:p>
          <a:p>
            <a:r>
              <a:rPr lang="es-ES" dirty="0"/>
              <a:t>Proporciona métodos y formatos de datos que los programas pueden usar para realizar tareas específicas, y actúa como una especie de "intermediario", permitiendo que los programas interactúen sin necesidad de conocer los detalles de cómo funciona cada uno internamente.</a:t>
            </a:r>
          </a:p>
          <a:p>
            <a:r>
              <a:rPr lang="es-ES" dirty="0"/>
              <a:t>Permite a los desarrolladores aprovechar las funcionalidades de otras aplicaciones sin tener que entender o replicar todos los detalles de cómo funcionan internamente.</a:t>
            </a:r>
            <a:endParaRPr lang="es-PE" dirty="0">
              <a:latin typeface="Arial" panose="020B0604020202020204" pitchFamily="34" charset="0"/>
              <a:cs typeface="Arial" panose="020B0604020202020204" pitchFamily="34" charset="0"/>
            </a:endParaRPr>
          </a:p>
        </p:txBody>
      </p:sp>
      <p:pic>
        <p:nvPicPr>
          <p:cNvPr id="4" name="Marcador de posición de imagen 3">
            <a:extLst>
              <a:ext uri="{FF2B5EF4-FFF2-40B4-BE49-F238E27FC236}">
                <a16:creationId xmlns:a16="http://schemas.microsoft.com/office/drawing/2014/main" id="{4BD422FF-66B6-6778-315A-9CAEB82B91C7}"/>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3527380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1881FA77-EACD-D006-D9F2-20CA6F172FFA}"/>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ES" dirty="0"/>
              <a:t>API de redes sociales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0" indent="0">
              <a:buNone/>
            </a:pPr>
            <a:r>
              <a:rPr lang="es-ES" dirty="0"/>
              <a:t>Facebook, Twitter o Instagram ofrecen las API que permiten a los desarrolladores interactuar con sus plataformas.</a:t>
            </a:r>
          </a:p>
          <a:p>
            <a:pPr marL="0" indent="0">
              <a:buNone/>
            </a:pPr>
            <a:r>
              <a:rPr lang="es-ES" b="1" dirty="0">
                <a:solidFill>
                  <a:srgbClr val="0070C0"/>
                </a:solidFill>
              </a:rPr>
              <a:t>Por ejemplo</a:t>
            </a:r>
            <a:r>
              <a:rPr lang="es-ES" b="1" i="1" dirty="0">
                <a:solidFill>
                  <a:srgbClr val="0070C0"/>
                </a:solidFill>
              </a:rPr>
              <a:t>, </a:t>
            </a:r>
            <a:r>
              <a:rPr lang="es-ES" dirty="0"/>
              <a:t>con la API de Twitter, puedes crear una aplicación que publique tweets automáticamente, recopile tweets que contengan ciertas palabras clave, o incluso que analice el sentimiento de los tweets sobre un tema específico. Todo esto se hace enviando y recibiendo datos a través de la API de Twitter.</a:t>
            </a:r>
          </a:p>
        </p:txBody>
      </p:sp>
    </p:spTree>
    <p:extLst>
      <p:ext uri="{BB962C8B-B14F-4D97-AF65-F5344CB8AC3E}">
        <p14:creationId xmlns:p14="http://schemas.microsoft.com/office/powerpoint/2010/main" val="2591437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EEC4F943-D375-3C07-987C-08A17088662D}"/>
              </a:ext>
            </a:extLst>
          </p:cNvPr>
          <p:cNvPicPr>
            <a:picLocks noGrp="1" noChangeAspect="1"/>
          </p:cNvPicPr>
          <p:nvPr>
            <p:ph type="pic" sz="quarter" idx="10"/>
          </p:nvPr>
        </p:nvPicPr>
        <p:blipFill>
          <a:blip r:embed="rId3"/>
          <a:srcRect t="541" b="541"/>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ES" dirty="0"/>
              <a:t>API de GOOGLE MAPS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0" indent="0">
              <a:lnSpc>
                <a:spcPct val="90000"/>
              </a:lnSpc>
              <a:buNone/>
            </a:pPr>
            <a:r>
              <a:rPr lang="es-ES" dirty="0"/>
              <a:t>Google Maps ofrece una API que los desarrolladores pueden utilizar para incrustar mapas en sus propias aplicaciones web o móviles. Esta API permite a los desarrolladores personalizar los mapas para que se ajusten a la estética de su aplicación, añadir marcadores o líneas, y realizar otras tareas relacionadas con los mapas.</a:t>
            </a:r>
          </a:p>
          <a:p>
            <a:pPr marL="0" indent="0">
              <a:lnSpc>
                <a:spcPct val="90000"/>
              </a:lnSpc>
              <a:buNone/>
            </a:pPr>
            <a:r>
              <a:rPr lang="es-ES" b="1" dirty="0">
                <a:solidFill>
                  <a:srgbClr val="0070C0"/>
                </a:solidFill>
              </a:rPr>
              <a:t>Por ejemplo</a:t>
            </a:r>
            <a:r>
              <a:rPr lang="es-ES" dirty="0"/>
              <a:t>, una aplicación de entrega de alimentos podría utilizar la API de Google Maps para mostrar al usuario un mapa de su área con marcadores en los restaurantes que ofrecen entrega a domicilio.</a:t>
            </a:r>
          </a:p>
        </p:txBody>
      </p:sp>
    </p:spTree>
    <p:extLst>
      <p:ext uri="{BB962C8B-B14F-4D97-AF65-F5344CB8AC3E}">
        <p14:creationId xmlns:p14="http://schemas.microsoft.com/office/powerpoint/2010/main" val="2666422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ES" dirty="0"/>
              <a:t>API de servicios de pago</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0" indent="0">
              <a:buNone/>
            </a:pPr>
            <a:r>
              <a:rPr lang="es-ES" dirty="0"/>
              <a:t>Las plataformas de pago como PayPal o Stripe ofrecen las API que los desarrolladores pueden usar para procesar pagos en sus propias aplicaciones.</a:t>
            </a:r>
          </a:p>
          <a:p>
            <a:pPr marL="0" indent="0">
              <a:buNone/>
            </a:pPr>
            <a:r>
              <a:rPr lang="es-ES" b="1" dirty="0">
                <a:solidFill>
                  <a:srgbClr val="0070C0"/>
                </a:solidFill>
              </a:rPr>
              <a:t>Por ejemplo</a:t>
            </a:r>
            <a:r>
              <a:rPr lang="es-ES" dirty="0"/>
              <a:t>, una tienda en línea podría utilizar la API de Stripe para aceptar pagos con tarjeta de crédito. Cuando un cliente realiza una compra, la aplicación de la tienda utiliza la API de Stripe para enviar los detalles de la tarjeta de crédito y el importe de la compra a Stripe, que procesa el pago y devuelve un mensaje de éxito (o de error, si algo va mal).</a:t>
            </a:r>
          </a:p>
        </p:txBody>
      </p:sp>
      <p:pic>
        <p:nvPicPr>
          <p:cNvPr id="8" name="Marcador de posición de imagen 7">
            <a:extLst>
              <a:ext uri="{FF2B5EF4-FFF2-40B4-BE49-F238E27FC236}">
                <a16:creationId xmlns:a16="http://schemas.microsoft.com/office/drawing/2014/main" id="{ADC26FD6-0879-0778-E4C1-AD01DE49FAB5}"/>
              </a:ext>
            </a:extLst>
          </p:cNvPr>
          <p:cNvPicPr>
            <a:picLocks noGrp="1" noChangeAspect="1"/>
          </p:cNvPicPr>
          <p:nvPr>
            <p:ph type="pic" sz="quarter" idx="10"/>
          </p:nvPr>
        </p:nvPicPr>
        <p:blipFill>
          <a:blip r:embed="rId3"/>
          <a:srcRect t="368" b="368"/>
          <a:stretch>
            <a:fillRect/>
          </a:stretch>
        </p:blipFill>
        <p:spPr/>
      </p:pic>
    </p:spTree>
    <p:extLst>
      <p:ext uri="{BB962C8B-B14F-4D97-AF65-F5344CB8AC3E}">
        <p14:creationId xmlns:p14="http://schemas.microsoft.com/office/powerpoint/2010/main" val="1094513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Desarrollador </a:t>
            </a:r>
            <a:r>
              <a:rPr lang="es-PE" i="1" dirty="0"/>
              <a:t>FULL STACK</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Es un profesional de la informática que tiene un conocimiento amplio de todas las capas de desarrollo de software, desde la interacción con el usuario (front end) hasta el manejo de datos y la lógica del servidor (back end).</a:t>
            </a:r>
          </a:p>
          <a:p>
            <a:r>
              <a:rPr lang="es-ES" dirty="0"/>
              <a:t>Un desarrollador </a:t>
            </a:r>
            <a:r>
              <a:rPr lang="es-ES" i="1" dirty="0"/>
              <a:t>full stack </a:t>
            </a:r>
            <a:r>
              <a:rPr lang="es-ES" dirty="0"/>
              <a:t>puede trabajar en todos los aspectos de una aplicación, desde su diseño visual y su usabilidad hasta su rendimiento y seguridad.</a:t>
            </a:r>
          </a:p>
          <a:p>
            <a:r>
              <a:rPr lang="es-ES" dirty="0"/>
              <a:t>Es alguien que tiene una buena comprensión de las diversas tecnologías que se utilizan en el desarrollo de software y puede trabajar de manera efectiva en todas ellas.</a:t>
            </a:r>
          </a:p>
        </p:txBody>
      </p:sp>
      <p:pic>
        <p:nvPicPr>
          <p:cNvPr id="4" name="Marcador de posición de imagen 3">
            <a:extLst>
              <a:ext uri="{FF2B5EF4-FFF2-40B4-BE49-F238E27FC236}">
                <a16:creationId xmlns:a16="http://schemas.microsoft.com/office/drawing/2014/main" id="{DA5EE2B4-E999-875B-69CB-5473CDEF509F}"/>
              </a:ext>
            </a:extLst>
          </p:cNvPr>
          <p:cNvPicPr>
            <a:picLocks noGrp="1" noChangeAspect="1"/>
          </p:cNvPicPr>
          <p:nvPr>
            <p:ph type="pic" sz="quarter" idx="10"/>
          </p:nvPr>
        </p:nvPicPr>
        <p:blipFill>
          <a:blip r:embed="rId3"/>
          <a:srcRect t="318" b="318"/>
          <a:stretch>
            <a:fillRect/>
          </a:stretch>
        </p:blipFill>
        <p:spPr/>
      </p:pic>
    </p:spTree>
    <p:extLst>
      <p:ext uri="{BB962C8B-B14F-4D97-AF65-F5344CB8AC3E}">
        <p14:creationId xmlns:p14="http://schemas.microsoft.com/office/powerpoint/2010/main" val="492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El desarrollador </a:t>
            </a:r>
            <a:r>
              <a:rPr lang="es-PE" i="1" dirty="0"/>
              <a:t>FULL STACK </a:t>
            </a:r>
            <a:r>
              <a:rPr lang="es-PE" dirty="0"/>
              <a:t>en el desarrollo de una aplicación de comercio electrónico;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CONCEPTOS</a:t>
            </a:r>
            <a:endParaRPr lang="es-PE" dirty="0"/>
          </a:p>
        </p:txBody>
      </p:sp>
      <p:pic>
        <p:nvPicPr>
          <p:cNvPr id="10" name="Marcador de posición de imagen 9">
            <a:extLst>
              <a:ext uri="{FF2B5EF4-FFF2-40B4-BE49-F238E27FC236}">
                <a16:creationId xmlns:a16="http://schemas.microsoft.com/office/drawing/2014/main" id="{64C2BDF0-4FFC-D6CF-88FA-0077C6DE6A09}"/>
              </a:ext>
            </a:extLst>
          </p:cNvPr>
          <p:cNvPicPr>
            <a:picLocks noGrp="1" noChangeAspect="1"/>
          </p:cNvPicPr>
          <p:nvPr>
            <p:ph type="pic" sz="quarter" idx="10"/>
          </p:nvPr>
        </p:nvPicPr>
        <p:blipFill>
          <a:blip r:embed="rId3"/>
          <a:srcRect t="310" b="310"/>
          <a:stretch>
            <a:fillRect/>
          </a:stretch>
        </p:blipFill>
        <p:spPr/>
      </p:pic>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4"/>
            <a:ext cx="8207375" cy="2522467"/>
          </a:xfrm>
        </p:spPr>
        <p:txBody>
          <a:bodyPr/>
          <a:lstStyle/>
          <a:p>
            <a:pPr marL="176213" indent="-176213">
              <a:spcAft>
                <a:spcPts val="600"/>
              </a:spcAft>
              <a:buSzPct val="90000"/>
              <a:buFont typeface="+mj-lt"/>
              <a:buAutoNum type="arabicParenR"/>
            </a:pPr>
            <a:r>
              <a:rPr lang="es-ES" sz="1400" dirty="0"/>
              <a:t>Diseña y desarrolla la interfaz de usuario, incluyendo la página de inicio, las páginas de productos, el carrito de compras y el proceso de </a:t>
            </a:r>
            <a:r>
              <a:rPr lang="es-ES" sz="1400" i="1" dirty="0"/>
              <a:t>checkout.</a:t>
            </a:r>
            <a:r>
              <a:rPr lang="es-ES" sz="1400" dirty="0"/>
              <a:t> Esto implicaría trabajar con HTML, CSS y JavaScript.</a:t>
            </a:r>
          </a:p>
          <a:p>
            <a:pPr marL="176213" indent="-176213">
              <a:spcAft>
                <a:spcPts val="600"/>
              </a:spcAft>
              <a:buSzPct val="90000"/>
              <a:buFont typeface="+mj-lt"/>
              <a:buAutoNum type="arabicParenR"/>
            </a:pPr>
            <a:r>
              <a:rPr lang="es-ES" sz="1400" dirty="0"/>
              <a:t>Desarrolla la lógica del servidor para manejar cosas como el inicio de sesión de los usuarios, la gestión de las sesiones de los carritos de compras y el procesamiento de las transacciones. Esto implicaría trabajar con Python, Ruby o Java, y posiblemente con un framework web como Django, Rails o Spring.</a:t>
            </a:r>
          </a:p>
          <a:p>
            <a:pPr marL="176213" indent="-176213">
              <a:spcAft>
                <a:spcPts val="600"/>
              </a:spcAft>
              <a:buSzPct val="90000"/>
              <a:buFont typeface="+mj-lt"/>
              <a:buAutoNum type="arabicParenR"/>
            </a:pPr>
            <a:r>
              <a:rPr lang="es-ES" sz="1400" dirty="0"/>
              <a:t>Configura y gestiona la base de datos para almacenar la información de los productos, los detalles de los usuarios, las transacciones y otras informaciones relevantes. Esto implicaría trabajar con un sistema de gestión de bases de datos como MySQL, PostgreSQL o MongoDB.</a:t>
            </a:r>
          </a:p>
          <a:p>
            <a:pPr marL="176213" indent="-176213">
              <a:spcAft>
                <a:spcPts val="600"/>
              </a:spcAft>
              <a:buSzPct val="90000"/>
              <a:buFont typeface="+mj-lt"/>
              <a:buAutoNum type="arabicParenR"/>
            </a:pPr>
            <a:r>
              <a:rPr lang="es-ES" sz="1400" dirty="0"/>
              <a:t>Configura y mantIene el servidor y el entorno de hosting de la aplicación, lo que podría implicar trabajar con tecnologías como Linux, Apache o Nginx, y servicios de cloud como Amazon Web Services o Google Cloud.</a:t>
            </a:r>
          </a:p>
        </p:txBody>
      </p:sp>
    </p:spTree>
    <p:extLst>
      <p:ext uri="{BB962C8B-B14F-4D97-AF65-F5344CB8AC3E}">
        <p14:creationId xmlns:p14="http://schemas.microsoft.com/office/powerpoint/2010/main" val="3005812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58574"/>
          </a:xfrm>
        </p:spPr>
        <p:txBody>
          <a:bodyPr/>
          <a:lstStyle/>
          <a:p>
            <a:pPr marL="274638" indent="-274638">
              <a:tabLst>
                <a:tab pos="274638" algn="l"/>
              </a:tabLst>
            </a:pPr>
            <a:r>
              <a:rPr lang="es-PE" dirty="0"/>
              <a:t>/	PLAN DE PRUEBAS</a:t>
            </a:r>
          </a:p>
        </p:txBody>
      </p:sp>
    </p:spTree>
    <p:custDataLst>
      <p:tags r:id="rId1"/>
    </p:custDataLst>
    <p:extLst>
      <p:ext uri="{BB962C8B-B14F-4D97-AF65-F5344CB8AC3E}">
        <p14:creationId xmlns:p14="http://schemas.microsoft.com/office/powerpoint/2010/main" val="913087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El plan de pruebas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78825" cy="3123956"/>
          </a:xfrm>
        </p:spPr>
        <p:txBody>
          <a:bodyPr/>
          <a:lstStyle/>
          <a:p>
            <a:r>
              <a:rPr lang="es-ES" dirty="0"/>
              <a:t>El plan de pruebas es un documento que detalla la estrategia que se seguirá para verificar y validar la calidad de una solución de software. </a:t>
            </a:r>
          </a:p>
          <a:p>
            <a:r>
              <a:rPr lang="es-ES" dirty="0"/>
              <a:t>El plan se enfoca en describir qué se probará, cómo se probará, quién lo probará, y cuándo se realizarán las pruebas.</a:t>
            </a:r>
          </a:p>
          <a:p>
            <a:r>
              <a:rPr lang="es-ES" dirty="0"/>
              <a:t>Es una guía detallada de cómo se llevarán a cabo las pruebas en un proyecto de software, asegurando que se cubren todas las bases y que se realizan de manera eficiente y efectiva. </a:t>
            </a:r>
          </a:p>
        </p:txBody>
      </p:sp>
      <p:pic>
        <p:nvPicPr>
          <p:cNvPr id="4" name="Marcador de posición de imagen 3">
            <a:extLst>
              <a:ext uri="{FF2B5EF4-FFF2-40B4-BE49-F238E27FC236}">
                <a16:creationId xmlns:a16="http://schemas.microsoft.com/office/drawing/2014/main" id="{CA55D590-76C2-868F-7F66-0DF608A8E430}"/>
              </a:ext>
            </a:extLst>
          </p:cNvPr>
          <p:cNvPicPr>
            <a:picLocks noGrp="1" noChangeAspect="1"/>
          </p:cNvPicPr>
          <p:nvPr>
            <p:ph type="pic" sz="quarter" idx="10"/>
          </p:nvPr>
        </p:nvPicPr>
        <p:blipFill>
          <a:blip r:embed="rId3"/>
          <a:srcRect l="2" r="2"/>
          <a:stretch>
            <a:fillRect/>
          </a:stretch>
        </p:blipFill>
        <p:spPr>
          <a:xfrm>
            <a:off x="5262725" y="1062891"/>
            <a:ext cx="3543469" cy="3855669"/>
          </a:xfrm>
        </p:spPr>
      </p:pic>
    </p:spTree>
    <p:extLst>
      <p:ext uri="{BB962C8B-B14F-4D97-AF65-F5344CB8AC3E}">
        <p14:creationId xmlns:p14="http://schemas.microsoft.com/office/powerpoint/2010/main" val="4139532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Tipos de pruebas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814887" cy="4111625"/>
          </a:xfrm>
        </p:spPr>
        <p:txBody>
          <a:bodyPr/>
          <a:lstStyle/>
          <a:p>
            <a:r>
              <a:rPr lang="es-ES" dirty="0"/>
              <a:t>En un plan de pruebas, se deben considerar varios tipos de pruebas dependiendo de los objetivos y requerimientos del proyecto. </a:t>
            </a:r>
          </a:p>
          <a:p>
            <a:pPr>
              <a:spcAft>
                <a:spcPts val="600"/>
              </a:spcAft>
            </a:pPr>
            <a:r>
              <a:rPr lang="es-ES" dirty="0"/>
              <a:t>Las pruebas más comunes son las siguientes:</a:t>
            </a:r>
          </a:p>
          <a:p>
            <a:pPr lvl="1">
              <a:spcAft>
                <a:spcPts val="600"/>
              </a:spcAft>
            </a:pPr>
            <a:r>
              <a:rPr lang="es-ES" dirty="0"/>
              <a:t>Pruebas unitarias.</a:t>
            </a:r>
          </a:p>
          <a:p>
            <a:pPr lvl="1">
              <a:spcAft>
                <a:spcPts val="600"/>
              </a:spcAft>
            </a:pPr>
            <a:r>
              <a:rPr lang="es-ES" dirty="0"/>
              <a:t>Pruebas integrales.</a:t>
            </a:r>
          </a:p>
          <a:p>
            <a:pPr lvl="1">
              <a:spcAft>
                <a:spcPts val="600"/>
              </a:spcAft>
            </a:pPr>
            <a:r>
              <a:rPr lang="es-ES" dirty="0"/>
              <a:t>Pruebas de sistema.</a:t>
            </a:r>
          </a:p>
          <a:p>
            <a:pPr lvl="1">
              <a:spcAft>
                <a:spcPts val="600"/>
              </a:spcAft>
            </a:pPr>
            <a:r>
              <a:rPr lang="es-ES" dirty="0"/>
              <a:t>Pruebas de aceptación.</a:t>
            </a:r>
          </a:p>
          <a:p>
            <a:pPr lvl="1">
              <a:spcAft>
                <a:spcPts val="600"/>
              </a:spcAft>
            </a:pPr>
            <a:r>
              <a:rPr lang="es-ES" dirty="0"/>
              <a:t>Pruebas de regresión.</a:t>
            </a:r>
          </a:p>
          <a:p>
            <a:pPr lvl="1">
              <a:spcAft>
                <a:spcPts val="600"/>
              </a:spcAft>
            </a:pPr>
            <a:r>
              <a:rPr lang="es-ES" dirty="0"/>
              <a:t>Pruebas de rendimiento.</a:t>
            </a:r>
          </a:p>
          <a:p>
            <a:pPr lvl="1">
              <a:spcAft>
                <a:spcPts val="600"/>
              </a:spcAft>
            </a:pPr>
            <a:r>
              <a:rPr lang="es-ES" dirty="0"/>
              <a:t>Pruebas de estrés.</a:t>
            </a:r>
          </a:p>
          <a:p>
            <a:pPr lvl="1">
              <a:spcAft>
                <a:spcPts val="600"/>
              </a:spcAft>
            </a:pPr>
            <a:r>
              <a:rPr lang="es-ES" dirty="0"/>
              <a:t>Pruebas de usabilidad.</a:t>
            </a:r>
          </a:p>
          <a:p>
            <a:pPr lvl="1">
              <a:spcAft>
                <a:spcPts val="600"/>
              </a:spcAft>
            </a:pPr>
            <a:r>
              <a:rPr lang="es-ES" dirty="0"/>
              <a:t>Pruebas de seguridad.</a:t>
            </a:r>
          </a:p>
        </p:txBody>
      </p:sp>
      <p:pic>
        <p:nvPicPr>
          <p:cNvPr id="4" name="Marcador de posición de imagen 3">
            <a:extLst>
              <a:ext uri="{FF2B5EF4-FFF2-40B4-BE49-F238E27FC236}">
                <a16:creationId xmlns:a16="http://schemas.microsoft.com/office/drawing/2014/main" id="{51105870-E37B-02E6-B812-0758169ECF2D}"/>
              </a:ext>
            </a:extLst>
          </p:cNvPr>
          <p:cNvPicPr>
            <a:picLocks noGrp="1" noChangeAspect="1"/>
          </p:cNvPicPr>
          <p:nvPr>
            <p:ph type="pic" sz="quarter" idx="10"/>
          </p:nvPr>
        </p:nvPicPr>
        <p:blipFill>
          <a:blip r:embed="rId3"/>
          <a:srcRect l="2" r="2"/>
          <a:stretch>
            <a:fillRect/>
          </a:stretch>
        </p:blipFill>
        <p:spPr>
          <a:xfrm>
            <a:off x="5495321" y="1266092"/>
            <a:ext cx="3256166" cy="3543053"/>
          </a:xfrm>
        </p:spPr>
      </p:pic>
    </p:spTree>
    <p:extLst>
      <p:ext uri="{BB962C8B-B14F-4D97-AF65-F5344CB8AC3E}">
        <p14:creationId xmlns:p14="http://schemas.microsoft.com/office/powerpoint/2010/main" val="1143440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 unitarias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pic>
        <p:nvPicPr>
          <p:cNvPr id="6" name="Marcador de posición de imagen 5">
            <a:extLst>
              <a:ext uri="{FF2B5EF4-FFF2-40B4-BE49-F238E27FC236}">
                <a16:creationId xmlns:a16="http://schemas.microsoft.com/office/drawing/2014/main" id="{DF3F787E-C745-37D3-51C6-9A777F0887FA}"/>
              </a:ext>
            </a:extLst>
          </p:cNvPr>
          <p:cNvPicPr>
            <a:picLocks noGrp="1" noChangeAspect="1"/>
          </p:cNvPicPr>
          <p:nvPr>
            <p:ph type="pic" sz="quarter" idx="10"/>
          </p:nvPr>
        </p:nvPicPr>
        <p:blipFill>
          <a:blip r:embed="rId3"/>
          <a:srcRect l="20" r="20"/>
          <a:stretch>
            <a:fillRect/>
          </a:stretch>
        </p:blipFill>
        <p:spPr>
          <a:xfrm>
            <a:off x="5335595" y="981869"/>
            <a:ext cx="3572199" cy="3886930"/>
          </a:xfrm>
        </p:spPr>
      </p:pic>
      <p:sp>
        <p:nvSpPr>
          <p:cNvPr id="4" name="Marcador de texto 3">
            <a:extLst>
              <a:ext uri="{FF2B5EF4-FFF2-40B4-BE49-F238E27FC236}">
                <a16:creationId xmlns:a16="http://schemas.microsoft.com/office/drawing/2014/main" id="{B6F40A94-C6AD-93CA-0D21-C4B67F301BF1}"/>
              </a:ext>
            </a:extLst>
          </p:cNvPr>
          <p:cNvSpPr>
            <a:spLocks noGrp="1"/>
          </p:cNvSpPr>
          <p:nvPr>
            <p:ph type="body" sz="quarter" idx="14"/>
          </p:nvPr>
        </p:nvSpPr>
        <p:spPr>
          <a:xfrm>
            <a:off x="468313" y="1158876"/>
            <a:ext cx="4533533" cy="2741002"/>
          </a:xfrm>
        </p:spPr>
        <p:txBody>
          <a:bodyPr/>
          <a:lstStyle/>
          <a:p>
            <a:r>
              <a:rPr lang="es-ES" dirty="0"/>
              <a:t>Estas pruebas se enfocan en verificar que las partes más pequeñas y aisladas del sistema (las "unidades") funcionen correctamente.</a:t>
            </a:r>
          </a:p>
          <a:p>
            <a:pPr>
              <a:spcAft>
                <a:spcPts val="600"/>
              </a:spcAft>
            </a:pPr>
            <a:r>
              <a:rPr lang="es-ES" b="1" dirty="0">
                <a:solidFill>
                  <a:srgbClr val="0070C0"/>
                </a:solidFill>
              </a:rPr>
              <a:t>Por ejemplo</a:t>
            </a:r>
            <a:r>
              <a:rPr lang="es-ES" dirty="0"/>
              <a:t>, si tienes una función que suma dos números, una prueba unitaria podría verificar que la función devuelve la suma correcta.</a:t>
            </a:r>
          </a:p>
          <a:p>
            <a:r>
              <a:rPr lang="es-ES" dirty="0"/>
              <a:t>Si bien estas pruebas son simples, son críticas para asegurar que los fundamentos de tu código estén funcionando correctamente.</a:t>
            </a:r>
            <a:endParaRPr lang="es-PE" dirty="0"/>
          </a:p>
        </p:txBody>
      </p:sp>
    </p:spTree>
    <p:extLst>
      <p:ext uri="{BB962C8B-B14F-4D97-AF65-F5344CB8AC3E}">
        <p14:creationId xmlns:p14="http://schemas.microsoft.com/office/powerpoint/2010/main" val="1891473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 integrales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pic>
        <p:nvPicPr>
          <p:cNvPr id="5" name="Marcador de posición de imagen 4">
            <a:extLst>
              <a:ext uri="{FF2B5EF4-FFF2-40B4-BE49-F238E27FC236}">
                <a16:creationId xmlns:a16="http://schemas.microsoft.com/office/drawing/2014/main" id="{1A5EB0CE-DBBE-BFD7-6564-7D8FFFDAE4F1}"/>
              </a:ext>
            </a:extLst>
          </p:cNvPr>
          <p:cNvPicPr>
            <a:picLocks noGrp="1" noChangeAspect="1"/>
          </p:cNvPicPr>
          <p:nvPr>
            <p:ph type="pic" sz="quarter" idx="10"/>
          </p:nvPr>
        </p:nvPicPr>
        <p:blipFill>
          <a:blip r:embed="rId3"/>
          <a:srcRect l="118" r="118"/>
          <a:stretch>
            <a:fillRect/>
          </a:stretch>
        </p:blipFill>
        <p:spPr/>
      </p:pic>
      <p:sp>
        <p:nvSpPr>
          <p:cNvPr id="4" name="Marcador de texto 3">
            <a:extLst>
              <a:ext uri="{FF2B5EF4-FFF2-40B4-BE49-F238E27FC236}">
                <a16:creationId xmlns:a16="http://schemas.microsoft.com/office/drawing/2014/main" id="{B6F40A94-C6AD-93CA-0D21-C4B67F301BF1}"/>
              </a:ext>
            </a:extLst>
          </p:cNvPr>
          <p:cNvSpPr>
            <a:spLocks noGrp="1"/>
          </p:cNvSpPr>
          <p:nvPr>
            <p:ph type="body" sz="quarter" idx="14"/>
          </p:nvPr>
        </p:nvSpPr>
        <p:spPr>
          <a:xfrm>
            <a:off x="468313" y="1158875"/>
            <a:ext cx="4103687" cy="3381863"/>
          </a:xfrm>
        </p:spPr>
        <p:txBody>
          <a:bodyPr/>
          <a:lstStyle/>
          <a:p>
            <a:r>
              <a:rPr lang="es-ES" dirty="0"/>
              <a:t>En una solución de software, las distintas unidades no operan de manera aislada, sino que se integran y trabajan juntas. </a:t>
            </a:r>
          </a:p>
          <a:p>
            <a:r>
              <a:rPr lang="es-ES" dirty="0"/>
              <a:t>Las pruebas integrales se enfocan en asegurar que las unidades funcionen correctamente cuando se combinan. </a:t>
            </a:r>
          </a:p>
          <a:p>
            <a:r>
              <a:rPr lang="es-ES" b="1" dirty="0">
                <a:solidFill>
                  <a:srgbClr val="0070C0"/>
                </a:solidFill>
              </a:rPr>
              <a:t>Por ejemplo</a:t>
            </a:r>
            <a:r>
              <a:rPr lang="es-ES" dirty="0"/>
              <a:t>, si tienes un sistema que toma pedidos de un usuario, calcula el costo y luego procesa el pago, las pruebas integrales verificarían que todo este proceso fluya correctamente de principio a fin.</a:t>
            </a:r>
            <a:endParaRPr lang="es-PE" dirty="0"/>
          </a:p>
        </p:txBody>
      </p:sp>
    </p:spTree>
    <p:extLst>
      <p:ext uri="{BB962C8B-B14F-4D97-AF65-F5344CB8AC3E}">
        <p14:creationId xmlns:p14="http://schemas.microsoft.com/office/powerpoint/2010/main" val="1994810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 de sistema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pic>
        <p:nvPicPr>
          <p:cNvPr id="5" name="Marcador de posición de imagen 4">
            <a:extLst>
              <a:ext uri="{FF2B5EF4-FFF2-40B4-BE49-F238E27FC236}">
                <a16:creationId xmlns:a16="http://schemas.microsoft.com/office/drawing/2014/main" id="{0EA195D9-0DF5-5D53-64CD-6A86F9626163}"/>
              </a:ext>
            </a:extLst>
          </p:cNvPr>
          <p:cNvPicPr>
            <a:picLocks noGrp="1" noChangeAspect="1"/>
          </p:cNvPicPr>
          <p:nvPr>
            <p:ph type="pic" sz="quarter" idx="10"/>
          </p:nvPr>
        </p:nvPicPr>
        <p:blipFill>
          <a:blip r:embed="rId3"/>
          <a:srcRect l="234" r="234"/>
          <a:stretch>
            <a:fillRect/>
          </a:stretch>
        </p:blipFill>
        <p:spPr>
          <a:xfrm>
            <a:off x="5187736" y="981869"/>
            <a:ext cx="3579382" cy="3894746"/>
          </a:xfrm>
        </p:spPr>
      </p:pic>
      <p:sp>
        <p:nvSpPr>
          <p:cNvPr id="4" name="Marcador de texto 3">
            <a:extLst>
              <a:ext uri="{FF2B5EF4-FFF2-40B4-BE49-F238E27FC236}">
                <a16:creationId xmlns:a16="http://schemas.microsoft.com/office/drawing/2014/main" id="{B6F40A94-C6AD-93CA-0D21-C4B67F301BF1}"/>
              </a:ext>
            </a:extLst>
          </p:cNvPr>
          <p:cNvSpPr>
            <a:spLocks noGrp="1"/>
          </p:cNvSpPr>
          <p:nvPr>
            <p:ph type="body" sz="quarter" idx="14"/>
          </p:nvPr>
        </p:nvSpPr>
        <p:spPr>
          <a:xfrm>
            <a:off x="468313" y="1158876"/>
            <a:ext cx="4361595" cy="3116140"/>
          </a:xfrm>
        </p:spPr>
        <p:txBody>
          <a:bodyPr/>
          <a:lstStyle/>
          <a:p>
            <a:r>
              <a:rPr lang="es-ES" dirty="0"/>
              <a:t>Mientras que las pruebas de unidad y de integración se enfocan en partes específicas de un sistema, las pruebas de sistema se centran en el sistema completo. </a:t>
            </a:r>
          </a:p>
          <a:p>
            <a:r>
              <a:rPr lang="es-ES" dirty="0"/>
              <a:t>En este tipo de pruebas, se revisa que el sistema funcione correctamente en su totalidad, y que todas las piezas funcionen juntas como se espera. </a:t>
            </a:r>
          </a:p>
          <a:p>
            <a:r>
              <a:rPr lang="es-ES" dirty="0"/>
              <a:t>Las pruebas de sistema a menudo incluyen pruebas de escenarios y casos de uso del mundo real.</a:t>
            </a:r>
            <a:endParaRPr lang="es-PE" dirty="0"/>
          </a:p>
        </p:txBody>
      </p:sp>
    </p:spTree>
    <p:extLst>
      <p:ext uri="{BB962C8B-B14F-4D97-AF65-F5344CB8AC3E}">
        <p14:creationId xmlns:p14="http://schemas.microsoft.com/office/powerpoint/2010/main" val="160036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 de aceptación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pic>
        <p:nvPicPr>
          <p:cNvPr id="5" name="Marcador de posición de imagen 4">
            <a:extLst>
              <a:ext uri="{FF2B5EF4-FFF2-40B4-BE49-F238E27FC236}">
                <a16:creationId xmlns:a16="http://schemas.microsoft.com/office/drawing/2014/main" id="{76CDC457-5D02-79EE-62C0-09021369FAE1}"/>
              </a:ext>
            </a:extLst>
          </p:cNvPr>
          <p:cNvPicPr>
            <a:picLocks noGrp="1" noChangeAspect="1"/>
          </p:cNvPicPr>
          <p:nvPr>
            <p:ph type="pic" sz="quarter" idx="10"/>
          </p:nvPr>
        </p:nvPicPr>
        <p:blipFill>
          <a:blip r:embed="rId3"/>
          <a:srcRect l="2" r="2"/>
          <a:stretch>
            <a:fillRect/>
          </a:stretch>
        </p:blipFill>
        <p:spPr>
          <a:xfrm>
            <a:off x="5392644" y="1158875"/>
            <a:ext cx="3421365" cy="3722807"/>
          </a:xfrm>
        </p:spPr>
      </p:pic>
      <p:sp>
        <p:nvSpPr>
          <p:cNvPr id="4" name="Marcador de texto 3">
            <a:extLst>
              <a:ext uri="{FF2B5EF4-FFF2-40B4-BE49-F238E27FC236}">
                <a16:creationId xmlns:a16="http://schemas.microsoft.com/office/drawing/2014/main" id="{B6F40A94-C6AD-93CA-0D21-C4B67F301BF1}"/>
              </a:ext>
            </a:extLst>
          </p:cNvPr>
          <p:cNvSpPr>
            <a:spLocks noGrp="1"/>
          </p:cNvSpPr>
          <p:nvPr>
            <p:ph type="body" sz="quarter" idx="14"/>
          </p:nvPr>
        </p:nvSpPr>
        <p:spPr>
          <a:xfrm>
            <a:off x="468313" y="1158875"/>
            <a:ext cx="4416302" cy="3264633"/>
          </a:xfrm>
        </p:spPr>
        <p:txBody>
          <a:bodyPr/>
          <a:lstStyle/>
          <a:p>
            <a:r>
              <a:rPr lang="es-ES" dirty="0"/>
              <a:t>Las pruebas de aceptación, también conocidas como pruebas de usuario final, se enfocan en validar que el software cumple con los requisitos del usuario y proporciona la funcionalidad esperada.</a:t>
            </a:r>
          </a:p>
          <a:p>
            <a:r>
              <a:rPr lang="es-ES" b="1" dirty="0">
                <a:solidFill>
                  <a:srgbClr val="0070C0"/>
                </a:solidFill>
              </a:rPr>
              <a:t>Por ejemplo</a:t>
            </a:r>
            <a:r>
              <a:rPr lang="es-ES" dirty="0"/>
              <a:t>, si estás construyendo un sistema de pedidos para un restaurante, una prueba de aceptación podría implicar tener a un usuario real (como un empleado del restaurante) que intente realizar un pedido para ver si el sistema funciona como se espera.</a:t>
            </a:r>
            <a:endParaRPr lang="es-PE" dirty="0"/>
          </a:p>
        </p:txBody>
      </p:sp>
    </p:spTree>
    <p:extLst>
      <p:ext uri="{BB962C8B-B14F-4D97-AF65-F5344CB8AC3E}">
        <p14:creationId xmlns:p14="http://schemas.microsoft.com/office/powerpoint/2010/main" val="519650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 de regresión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pic>
        <p:nvPicPr>
          <p:cNvPr id="5" name="Marcador de posición de imagen 4">
            <a:extLst>
              <a:ext uri="{FF2B5EF4-FFF2-40B4-BE49-F238E27FC236}">
                <a16:creationId xmlns:a16="http://schemas.microsoft.com/office/drawing/2014/main" id="{FB897D9C-D067-4CF7-1D2A-15F0ACD1DBF1}"/>
              </a:ext>
            </a:extLst>
          </p:cNvPr>
          <p:cNvPicPr>
            <a:picLocks noGrp="1" noChangeAspect="1"/>
          </p:cNvPicPr>
          <p:nvPr>
            <p:ph type="pic" sz="quarter" idx="10"/>
          </p:nvPr>
        </p:nvPicPr>
        <p:blipFill>
          <a:blip r:embed="rId3"/>
          <a:srcRect l="349" r="349"/>
          <a:stretch>
            <a:fillRect/>
          </a:stretch>
        </p:blipFill>
        <p:spPr/>
      </p:pic>
      <p:sp>
        <p:nvSpPr>
          <p:cNvPr id="4" name="Marcador de texto 3">
            <a:extLst>
              <a:ext uri="{FF2B5EF4-FFF2-40B4-BE49-F238E27FC236}">
                <a16:creationId xmlns:a16="http://schemas.microsoft.com/office/drawing/2014/main" id="{B6F40A94-C6AD-93CA-0D21-C4B67F301BF1}"/>
              </a:ext>
            </a:extLst>
          </p:cNvPr>
          <p:cNvSpPr>
            <a:spLocks noGrp="1"/>
          </p:cNvSpPr>
          <p:nvPr>
            <p:ph type="body" sz="quarter" idx="14"/>
          </p:nvPr>
        </p:nvSpPr>
        <p:spPr>
          <a:xfrm>
            <a:off x="468313" y="1158876"/>
            <a:ext cx="4103687" cy="2639402"/>
          </a:xfrm>
        </p:spPr>
        <p:txBody>
          <a:bodyPr/>
          <a:lstStyle/>
          <a:p>
            <a:r>
              <a:rPr lang="es-ES" dirty="0"/>
              <a:t>Cada vez que haces un cambio en tu software, existe el riesgo de que ese cambio pueda romper alguna funcionalidad existente. </a:t>
            </a:r>
          </a:p>
          <a:p>
            <a:r>
              <a:rPr lang="es-ES" dirty="0"/>
              <a:t>Las pruebas de regresión se realizan después de hacer cambios en el software para asegurarse de que la funcionalidad existente sigue funcionando como se espera.</a:t>
            </a:r>
            <a:endParaRPr lang="es-PE" dirty="0"/>
          </a:p>
        </p:txBody>
      </p:sp>
    </p:spTree>
    <p:extLst>
      <p:ext uri="{BB962C8B-B14F-4D97-AF65-F5344CB8AC3E}">
        <p14:creationId xmlns:p14="http://schemas.microsoft.com/office/powerpoint/2010/main" val="286864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 de rendimiento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pic>
        <p:nvPicPr>
          <p:cNvPr id="5" name="Marcador de posición de imagen 4">
            <a:extLst>
              <a:ext uri="{FF2B5EF4-FFF2-40B4-BE49-F238E27FC236}">
                <a16:creationId xmlns:a16="http://schemas.microsoft.com/office/drawing/2014/main" id="{D068F5F1-792C-8D0E-FE12-06856061C798}"/>
              </a:ext>
            </a:extLst>
          </p:cNvPr>
          <p:cNvPicPr>
            <a:picLocks noGrp="1" noChangeAspect="1"/>
          </p:cNvPicPr>
          <p:nvPr>
            <p:ph type="pic" sz="quarter" idx="10"/>
          </p:nvPr>
        </p:nvPicPr>
        <p:blipFill>
          <a:blip r:embed="rId3"/>
          <a:srcRect l="127" r="127"/>
          <a:stretch>
            <a:fillRect/>
          </a:stretch>
        </p:blipFill>
        <p:spPr/>
      </p:pic>
      <p:sp>
        <p:nvSpPr>
          <p:cNvPr id="4" name="Marcador de texto 3">
            <a:extLst>
              <a:ext uri="{FF2B5EF4-FFF2-40B4-BE49-F238E27FC236}">
                <a16:creationId xmlns:a16="http://schemas.microsoft.com/office/drawing/2014/main" id="{B6F40A94-C6AD-93CA-0D21-C4B67F301BF1}"/>
              </a:ext>
            </a:extLst>
          </p:cNvPr>
          <p:cNvSpPr>
            <a:spLocks noGrp="1"/>
          </p:cNvSpPr>
          <p:nvPr>
            <p:ph type="body" sz="quarter" idx="14"/>
          </p:nvPr>
        </p:nvSpPr>
        <p:spPr>
          <a:xfrm>
            <a:off x="468313" y="1158875"/>
            <a:ext cx="4103687" cy="2365863"/>
          </a:xfrm>
        </p:spPr>
        <p:txBody>
          <a:bodyPr/>
          <a:lstStyle/>
          <a:p>
            <a:r>
              <a:rPr lang="es-ES" dirty="0"/>
              <a:t>Estas pruebas verifican cómo se comporta el sistema bajo ciertas condiciones de carga o estrés.</a:t>
            </a:r>
          </a:p>
          <a:p>
            <a:r>
              <a:rPr lang="es-ES" b="1" dirty="0">
                <a:solidFill>
                  <a:srgbClr val="0070C0"/>
                </a:solidFill>
              </a:rPr>
              <a:t>Por ejemplo</a:t>
            </a:r>
            <a:r>
              <a:rPr lang="es-ES" dirty="0"/>
              <a:t>, puedes hacer pruebas de rendimiento para ver cuántos usuarios puede manejar tu sistema al mismo tiempo, cuánto tiempo tarda en responder a una solicitud o cuántos datos puede procesar.</a:t>
            </a:r>
            <a:endParaRPr lang="es-PE" dirty="0"/>
          </a:p>
        </p:txBody>
      </p:sp>
    </p:spTree>
    <p:extLst>
      <p:ext uri="{BB962C8B-B14F-4D97-AF65-F5344CB8AC3E}">
        <p14:creationId xmlns:p14="http://schemas.microsoft.com/office/powerpoint/2010/main" val="2518099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 de estrés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pic>
        <p:nvPicPr>
          <p:cNvPr id="5" name="Marcador de posición de imagen 4">
            <a:extLst>
              <a:ext uri="{FF2B5EF4-FFF2-40B4-BE49-F238E27FC236}">
                <a16:creationId xmlns:a16="http://schemas.microsoft.com/office/drawing/2014/main" id="{3A90B90B-C246-CBEF-556C-00055E8F3D3C}"/>
              </a:ext>
            </a:extLst>
          </p:cNvPr>
          <p:cNvPicPr>
            <a:picLocks noGrp="1" noChangeAspect="1"/>
          </p:cNvPicPr>
          <p:nvPr>
            <p:ph type="pic" sz="quarter" idx="10"/>
          </p:nvPr>
        </p:nvPicPr>
        <p:blipFill>
          <a:blip r:embed="rId3"/>
          <a:srcRect l="2" r="2"/>
          <a:stretch>
            <a:fillRect/>
          </a:stretch>
        </p:blipFill>
        <p:spPr>
          <a:xfrm>
            <a:off x="5160904" y="1158875"/>
            <a:ext cx="3629659" cy="3949453"/>
          </a:xfrm>
        </p:spPr>
      </p:pic>
      <p:sp>
        <p:nvSpPr>
          <p:cNvPr id="4" name="Marcador de texto 3">
            <a:extLst>
              <a:ext uri="{FF2B5EF4-FFF2-40B4-BE49-F238E27FC236}">
                <a16:creationId xmlns:a16="http://schemas.microsoft.com/office/drawing/2014/main" id="{B6F40A94-C6AD-93CA-0D21-C4B67F301BF1}"/>
              </a:ext>
            </a:extLst>
          </p:cNvPr>
          <p:cNvSpPr>
            <a:spLocks noGrp="1"/>
          </p:cNvSpPr>
          <p:nvPr>
            <p:ph type="body" sz="quarter" idx="14"/>
          </p:nvPr>
        </p:nvSpPr>
        <p:spPr>
          <a:xfrm>
            <a:off x="468313" y="1158876"/>
            <a:ext cx="4369410" cy="3553802"/>
          </a:xfrm>
        </p:spPr>
        <p:txBody>
          <a:bodyPr/>
          <a:lstStyle/>
          <a:p>
            <a:r>
              <a:rPr lang="es-ES" dirty="0"/>
              <a:t>Son un tipo de pruebas de rendimiento que se realizan normalmente para romper la aplicación. Se va doblando el número de usuarios que se agregan a la aplicación y se ejecuta una prueba de carga hasta que se rompe. </a:t>
            </a:r>
          </a:p>
          <a:p>
            <a:r>
              <a:rPr lang="es-ES" dirty="0"/>
              <a:t>Se realiza para determinar la solidez de la aplicación en los momentos de carga extrema.</a:t>
            </a:r>
          </a:p>
          <a:p>
            <a:r>
              <a:rPr lang="es-ES" b="1" dirty="0">
                <a:solidFill>
                  <a:srgbClr val="0070C0"/>
                </a:solidFill>
              </a:rPr>
              <a:t>Por ejemplo</a:t>
            </a:r>
            <a:r>
              <a:rPr lang="es-ES" dirty="0"/>
              <a:t>, podrías hacer pruebas de estrés para ver qué sucede si tu sistema recibe una cantidad de solicitudes mucho mayor de lo que se espera que maneje normalmente.</a:t>
            </a:r>
            <a:endParaRPr lang="es-PE" dirty="0"/>
          </a:p>
        </p:txBody>
      </p:sp>
    </p:spTree>
    <p:extLst>
      <p:ext uri="{BB962C8B-B14F-4D97-AF65-F5344CB8AC3E}">
        <p14:creationId xmlns:p14="http://schemas.microsoft.com/office/powerpoint/2010/main" val="1678282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 de usabilidad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pic>
        <p:nvPicPr>
          <p:cNvPr id="5" name="Marcador de posición de imagen 4">
            <a:extLst>
              <a:ext uri="{FF2B5EF4-FFF2-40B4-BE49-F238E27FC236}">
                <a16:creationId xmlns:a16="http://schemas.microsoft.com/office/drawing/2014/main" id="{8ECA6BD9-3BD6-8444-F48D-DF0F9D9C0967}"/>
              </a:ext>
            </a:extLst>
          </p:cNvPr>
          <p:cNvPicPr>
            <a:picLocks noGrp="1" noChangeAspect="1"/>
          </p:cNvPicPr>
          <p:nvPr>
            <p:ph type="pic" sz="quarter" idx="10"/>
          </p:nvPr>
        </p:nvPicPr>
        <p:blipFill>
          <a:blip r:embed="rId3"/>
          <a:srcRect l="234" r="234"/>
          <a:stretch>
            <a:fillRect/>
          </a:stretch>
        </p:blipFill>
        <p:spPr>
          <a:xfrm>
            <a:off x="5223017" y="859692"/>
            <a:ext cx="3536286" cy="3847853"/>
          </a:xfrm>
        </p:spPr>
      </p:pic>
      <p:sp>
        <p:nvSpPr>
          <p:cNvPr id="4" name="Marcador de texto 3">
            <a:extLst>
              <a:ext uri="{FF2B5EF4-FFF2-40B4-BE49-F238E27FC236}">
                <a16:creationId xmlns:a16="http://schemas.microsoft.com/office/drawing/2014/main" id="{B6F40A94-C6AD-93CA-0D21-C4B67F301BF1}"/>
              </a:ext>
            </a:extLst>
          </p:cNvPr>
          <p:cNvSpPr>
            <a:spLocks noGrp="1"/>
          </p:cNvSpPr>
          <p:nvPr>
            <p:ph type="body" sz="quarter" idx="14"/>
          </p:nvPr>
        </p:nvSpPr>
        <p:spPr>
          <a:xfrm>
            <a:off x="468313" y="1158876"/>
            <a:ext cx="4338149" cy="2615956"/>
          </a:xfrm>
        </p:spPr>
        <p:txBody>
          <a:bodyPr/>
          <a:lstStyle/>
          <a:p>
            <a:r>
              <a:rPr lang="es-ES" dirty="0"/>
              <a:t>Estas pruebas se enfocan en la experiencia del usuario con el software. </a:t>
            </a:r>
          </a:p>
          <a:p>
            <a:r>
              <a:rPr lang="es-ES" dirty="0"/>
              <a:t>Se analiza si el software es fácil de usar, intuitivo y eficiente.</a:t>
            </a:r>
          </a:p>
          <a:p>
            <a:r>
              <a:rPr lang="es-ES" b="1" dirty="0">
                <a:solidFill>
                  <a:srgbClr val="0070C0"/>
                </a:solidFill>
              </a:rPr>
              <a:t>Por ejemplo</a:t>
            </a:r>
            <a:r>
              <a:rPr lang="es-ES" dirty="0"/>
              <a:t>, podrías hacer pruebas de usabilidad para ver si los usuarios pueden encontrar fácilmente lo que están buscando en tu sitio web.</a:t>
            </a:r>
            <a:endParaRPr lang="es-PE" dirty="0"/>
          </a:p>
        </p:txBody>
      </p:sp>
    </p:spTree>
    <p:extLst>
      <p:ext uri="{BB962C8B-B14F-4D97-AF65-F5344CB8AC3E}">
        <p14:creationId xmlns:p14="http://schemas.microsoft.com/office/powerpoint/2010/main" val="3687196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Pruebas de seguridad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pic>
        <p:nvPicPr>
          <p:cNvPr id="5" name="Marcador de posición de imagen 4">
            <a:extLst>
              <a:ext uri="{FF2B5EF4-FFF2-40B4-BE49-F238E27FC236}">
                <a16:creationId xmlns:a16="http://schemas.microsoft.com/office/drawing/2014/main" id="{C69A27BF-000F-0571-4CC3-EB986D552AAD}"/>
              </a:ext>
            </a:extLst>
          </p:cNvPr>
          <p:cNvPicPr>
            <a:picLocks noGrp="1" noChangeAspect="1"/>
          </p:cNvPicPr>
          <p:nvPr>
            <p:ph type="pic" sz="quarter" idx="10"/>
          </p:nvPr>
        </p:nvPicPr>
        <p:blipFill>
          <a:blip r:embed="rId3"/>
          <a:srcRect l="2" r="2"/>
          <a:stretch>
            <a:fillRect/>
          </a:stretch>
        </p:blipFill>
        <p:spPr>
          <a:xfrm>
            <a:off x="5363707" y="981869"/>
            <a:ext cx="3311980" cy="3603784"/>
          </a:xfrm>
        </p:spPr>
      </p:pic>
      <p:sp>
        <p:nvSpPr>
          <p:cNvPr id="4" name="Marcador de texto 3">
            <a:extLst>
              <a:ext uri="{FF2B5EF4-FFF2-40B4-BE49-F238E27FC236}">
                <a16:creationId xmlns:a16="http://schemas.microsoft.com/office/drawing/2014/main" id="{B6F40A94-C6AD-93CA-0D21-C4B67F301BF1}"/>
              </a:ext>
            </a:extLst>
          </p:cNvPr>
          <p:cNvSpPr>
            <a:spLocks noGrp="1"/>
          </p:cNvSpPr>
          <p:nvPr>
            <p:ph type="body" sz="quarter" idx="14"/>
          </p:nvPr>
        </p:nvSpPr>
        <p:spPr>
          <a:xfrm>
            <a:off x="468313" y="1158875"/>
            <a:ext cx="4603872" cy="2803525"/>
          </a:xfrm>
        </p:spPr>
        <p:txBody>
          <a:bodyPr/>
          <a:lstStyle/>
          <a:p>
            <a:r>
              <a:rPr lang="es-ES" dirty="0"/>
              <a:t>Las pruebas de seguridad son cruciales para proteger tu software y los datos de tus usuarios de los ciberdelincuentes. </a:t>
            </a:r>
          </a:p>
          <a:p>
            <a:r>
              <a:rPr lang="es-ES" dirty="0"/>
              <a:t>Estas pruebas pueden incluir cosas como pruebas de penetración (donde intentas "hackear" tu propio software para encontrar vulnerabilidades), pruebas de inyección SQL (donde intentas inyectar código SQL malicioso en tu software para ver si es vulnerable) y muchas otras.</a:t>
            </a:r>
          </a:p>
          <a:p>
            <a:endParaRPr lang="es-PE" dirty="0"/>
          </a:p>
        </p:txBody>
      </p:sp>
    </p:spTree>
    <p:extLst>
      <p:ext uri="{BB962C8B-B14F-4D97-AF65-F5344CB8AC3E}">
        <p14:creationId xmlns:p14="http://schemas.microsoft.com/office/powerpoint/2010/main" val="1008769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EAB268C6-03C3-E179-5EE9-382BD6F43820}"/>
              </a:ext>
            </a:extLst>
          </p:cNvPr>
          <p:cNvPicPr>
            <a:picLocks noGrp="1" noChangeAspect="1"/>
          </p:cNvPicPr>
          <p:nvPr>
            <p:ph type="pic" sz="quarter" idx="10"/>
          </p:nvPr>
        </p:nvPicPr>
        <p:blipFill>
          <a:blip r:embed="rId3"/>
          <a:srcRect l="11" r="11"/>
          <a:stretch>
            <a:fillRect/>
          </a:stretch>
        </p:blipFill>
        <p:spPr>
          <a:xfrm>
            <a:off x="5459187" y="1158875"/>
            <a:ext cx="3378270" cy="3675915"/>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Estructura del plan de pruebas [1/2]</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2" y="1158875"/>
            <a:ext cx="4658580" cy="3675915"/>
          </a:xfrm>
        </p:spPr>
        <p:txBody>
          <a:bodyPr/>
          <a:lstStyle/>
          <a:p>
            <a:pPr marL="265113" indent="-265113">
              <a:lnSpc>
                <a:spcPct val="90000"/>
              </a:lnSpc>
              <a:spcAft>
                <a:spcPts val="600"/>
              </a:spcAft>
              <a:buSzPct val="90000"/>
              <a:buFont typeface="+mj-lt"/>
              <a:buAutoNum type="arabicPeriod"/>
            </a:pPr>
            <a:r>
              <a:rPr lang="es-ES" sz="1400" b="1" dirty="0"/>
              <a:t>Introducción. </a:t>
            </a:r>
            <a:r>
              <a:rPr lang="es-ES" sz="1200" dirty="0"/>
              <a:t>Resumen del plan de pruebas, incluyendo el propósito y el alcance del plan.</a:t>
            </a:r>
          </a:p>
          <a:p>
            <a:pPr marL="265113" indent="-265113">
              <a:lnSpc>
                <a:spcPct val="90000"/>
              </a:lnSpc>
              <a:spcAft>
                <a:spcPts val="600"/>
              </a:spcAft>
              <a:buSzPct val="90000"/>
              <a:buFont typeface="+mj-lt"/>
              <a:buAutoNum type="arabicPeriod"/>
            </a:pPr>
            <a:r>
              <a:rPr lang="es-ES" sz="1400" b="1" dirty="0"/>
              <a:t>Objetivos</a:t>
            </a:r>
            <a:r>
              <a:rPr lang="es-ES" sz="1200" dirty="0"/>
              <a:t> </a:t>
            </a:r>
            <a:r>
              <a:rPr lang="es-ES" sz="1400" b="1" dirty="0"/>
              <a:t>de</a:t>
            </a:r>
            <a:r>
              <a:rPr lang="es-ES" sz="1200" dirty="0"/>
              <a:t> </a:t>
            </a:r>
            <a:r>
              <a:rPr lang="es-ES" sz="1400" b="1" dirty="0"/>
              <a:t>las</a:t>
            </a:r>
            <a:r>
              <a:rPr lang="es-ES" sz="1200" dirty="0"/>
              <a:t> </a:t>
            </a:r>
            <a:r>
              <a:rPr lang="es-ES" sz="1400" b="1" dirty="0"/>
              <a:t>pruebas.</a:t>
            </a:r>
            <a:r>
              <a:rPr lang="es-ES" sz="1200" dirty="0"/>
              <a:t> Claros y específicos, indicando qué se espera lograr con las pruebas, alineados con los requerimientos del software y las necesidades del usuario final.</a:t>
            </a:r>
          </a:p>
          <a:p>
            <a:pPr marL="265113" indent="-265113">
              <a:lnSpc>
                <a:spcPct val="90000"/>
              </a:lnSpc>
              <a:spcAft>
                <a:spcPts val="600"/>
              </a:spcAft>
              <a:buSzPct val="90000"/>
              <a:buFont typeface="+mj-lt"/>
              <a:buAutoNum type="arabicPeriod"/>
            </a:pPr>
            <a:r>
              <a:rPr lang="es-ES" sz="1400" b="1" dirty="0"/>
              <a:t>Alcance</a:t>
            </a:r>
            <a:r>
              <a:rPr lang="es-ES" sz="1200" dirty="0"/>
              <a:t> </a:t>
            </a:r>
            <a:r>
              <a:rPr lang="es-ES" sz="1400" b="1" dirty="0"/>
              <a:t>de</a:t>
            </a:r>
            <a:r>
              <a:rPr lang="es-ES" sz="1200" dirty="0"/>
              <a:t> </a:t>
            </a:r>
            <a:r>
              <a:rPr lang="es-ES" sz="1400" b="1" dirty="0"/>
              <a:t>las</a:t>
            </a:r>
            <a:r>
              <a:rPr lang="es-ES" sz="1200" dirty="0"/>
              <a:t> </a:t>
            </a:r>
            <a:r>
              <a:rPr lang="es-ES" sz="1400" b="1" dirty="0"/>
              <a:t>pruebas.</a:t>
            </a:r>
            <a:r>
              <a:rPr lang="es-ES" sz="1200" dirty="0"/>
              <a:t> Especificar qué características o funcionalidades del software se probarán y cuáles no.</a:t>
            </a:r>
          </a:p>
          <a:p>
            <a:pPr marL="265113" indent="-265113">
              <a:lnSpc>
                <a:spcPct val="90000"/>
              </a:lnSpc>
              <a:spcAft>
                <a:spcPts val="600"/>
              </a:spcAft>
              <a:buSzPct val="90000"/>
              <a:buFont typeface="+mj-lt"/>
              <a:buAutoNum type="arabicPeriod"/>
            </a:pPr>
            <a:r>
              <a:rPr lang="es-ES" sz="1400" b="1" dirty="0"/>
              <a:t>Estrategia</a:t>
            </a:r>
            <a:r>
              <a:rPr lang="es-ES" sz="1200" dirty="0"/>
              <a:t> </a:t>
            </a:r>
            <a:r>
              <a:rPr lang="es-ES" sz="1400" b="1" dirty="0"/>
              <a:t>de</a:t>
            </a:r>
            <a:r>
              <a:rPr lang="es-ES" sz="1200" dirty="0"/>
              <a:t> </a:t>
            </a:r>
            <a:r>
              <a:rPr lang="es-ES" sz="1400" b="1" dirty="0"/>
              <a:t>pruebas.</a:t>
            </a:r>
            <a:r>
              <a:rPr lang="es-ES" sz="1200" dirty="0"/>
              <a:t> Describe el enfoque que se adoptará para las pruebas, incluyendo los tipos de pruebas que se realizarán, el uso de pruebas manuales o automatizadas, y cualquier otra técnica de pruebas que se utilice.</a:t>
            </a:r>
          </a:p>
          <a:p>
            <a:pPr marL="265113" indent="-265113">
              <a:lnSpc>
                <a:spcPct val="90000"/>
              </a:lnSpc>
              <a:spcAft>
                <a:spcPts val="600"/>
              </a:spcAft>
              <a:buSzPct val="90000"/>
              <a:buFont typeface="+mj-lt"/>
              <a:buAutoNum type="arabicPeriod"/>
            </a:pPr>
            <a:r>
              <a:rPr lang="es-ES" sz="1400" b="1" dirty="0"/>
              <a:t>Cronograma</a:t>
            </a:r>
            <a:r>
              <a:rPr lang="es-ES" sz="1200" dirty="0"/>
              <a:t> </a:t>
            </a:r>
            <a:r>
              <a:rPr lang="es-ES" sz="1400" b="1" dirty="0"/>
              <a:t>de</a:t>
            </a:r>
            <a:r>
              <a:rPr lang="es-ES" sz="1200" dirty="0"/>
              <a:t> </a:t>
            </a:r>
            <a:r>
              <a:rPr lang="es-ES" sz="1400" b="1" dirty="0"/>
              <a:t>pruebas.</a:t>
            </a:r>
            <a:r>
              <a:rPr lang="es-ES" sz="1200" dirty="0"/>
              <a:t> Cronograma con las fechas estimadas de inicio y finalización para las diferentes fases de las pruebas, incluir cualquier hito importante.</a:t>
            </a:r>
          </a:p>
          <a:p>
            <a:pPr marL="265113" indent="-265113">
              <a:lnSpc>
                <a:spcPct val="90000"/>
              </a:lnSpc>
              <a:spcAft>
                <a:spcPts val="600"/>
              </a:spcAft>
              <a:buSzPct val="90000"/>
              <a:buFont typeface="+mj-lt"/>
              <a:buAutoNum type="arabicPeriod"/>
            </a:pPr>
            <a:r>
              <a:rPr lang="es-ES" sz="1400" b="1" dirty="0"/>
              <a:t>Recursos</a:t>
            </a:r>
            <a:r>
              <a:rPr lang="es-ES" sz="1200" dirty="0"/>
              <a:t> </a:t>
            </a:r>
            <a:r>
              <a:rPr lang="es-ES" sz="1400" b="1" dirty="0"/>
              <a:t>necesarios.</a:t>
            </a:r>
            <a:r>
              <a:rPr lang="es-ES" sz="1200" dirty="0"/>
              <a:t> Incluir personal, hardware, software y cualquier otra cosa que se necesite para realizar las pruebas.</a:t>
            </a:r>
          </a:p>
        </p:txBody>
      </p:sp>
    </p:spTree>
    <p:extLst>
      <p:ext uri="{BB962C8B-B14F-4D97-AF65-F5344CB8AC3E}">
        <p14:creationId xmlns:p14="http://schemas.microsoft.com/office/powerpoint/2010/main" val="3161167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76F528BA-EA91-E9D0-48D9-0E19F4444FF6}"/>
              </a:ext>
            </a:extLst>
          </p:cNvPr>
          <p:cNvPicPr>
            <a:picLocks noGrp="1" noChangeAspect="1"/>
          </p:cNvPicPr>
          <p:nvPr>
            <p:ph type="pic" sz="quarter" idx="10"/>
          </p:nvPr>
        </p:nvPicPr>
        <p:blipFill>
          <a:blip r:embed="rId3"/>
          <a:srcRect l="11" r="11"/>
          <a:stretch>
            <a:fillRect/>
          </a:stretch>
        </p:blipFill>
        <p:spPr>
          <a:xfrm>
            <a:off x="5273293" y="1158876"/>
            <a:ext cx="3486009" cy="3793146"/>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Estructura del plan de pruebas [2/2]</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PLAN DE PRUEBAS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55379" cy="3858602"/>
          </a:xfrm>
        </p:spPr>
        <p:txBody>
          <a:bodyPr/>
          <a:lstStyle/>
          <a:p>
            <a:pPr marL="0" indent="0">
              <a:lnSpc>
                <a:spcPct val="90000"/>
              </a:lnSpc>
              <a:spcAft>
                <a:spcPts val="600"/>
              </a:spcAft>
              <a:buSzPct val="90000"/>
              <a:buNone/>
            </a:pPr>
            <a:endParaRPr lang="es-ES" sz="1200" dirty="0"/>
          </a:p>
          <a:p>
            <a:pPr marL="265113" indent="-265113">
              <a:lnSpc>
                <a:spcPct val="90000"/>
              </a:lnSpc>
              <a:spcAft>
                <a:spcPts val="600"/>
              </a:spcAft>
              <a:buSzPct val="90000"/>
              <a:buFont typeface="+mj-lt"/>
              <a:buAutoNum type="arabicPeriod" startAt="7"/>
            </a:pPr>
            <a:r>
              <a:rPr lang="es-ES" sz="1400" b="1" dirty="0"/>
              <a:t>Responsabilidades.</a:t>
            </a:r>
            <a:r>
              <a:rPr lang="es-ES" sz="1200" dirty="0"/>
              <a:t> Define quién realizará las pruebas, quién las supervisará y quién será responsable de corregir los errores encontrados.</a:t>
            </a:r>
          </a:p>
          <a:p>
            <a:pPr marL="265113" indent="-265113">
              <a:lnSpc>
                <a:spcPct val="90000"/>
              </a:lnSpc>
              <a:spcAft>
                <a:spcPts val="600"/>
              </a:spcAft>
              <a:buSzPct val="90000"/>
              <a:buFont typeface="+mj-lt"/>
              <a:buAutoNum type="arabicPeriod" startAt="7"/>
            </a:pPr>
            <a:r>
              <a:rPr lang="es-ES" sz="1400" b="1" dirty="0"/>
              <a:t>Casos</a:t>
            </a:r>
            <a:r>
              <a:rPr lang="es-ES" sz="1200" dirty="0"/>
              <a:t> </a:t>
            </a:r>
            <a:r>
              <a:rPr lang="es-ES" sz="1400" b="1" dirty="0"/>
              <a:t>de</a:t>
            </a:r>
            <a:r>
              <a:rPr lang="es-ES" sz="1200" dirty="0"/>
              <a:t> </a:t>
            </a:r>
            <a:r>
              <a:rPr lang="es-ES" sz="1400" b="1" dirty="0"/>
              <a:t>prueba.</a:t>
            </a:r>
            <a:r>
              <a:rPr lang="es-ES" sz="1200" dirty="0"/>
              <a:t> Cada caso de prueba debe incluir el propósito de la prueba, los pasos a seguir, los datos de entrada necesarios y el resultado esperado.</a:t>
            </a:r>
          </a:p>
          <a:p>
            <a:pPr marL="265113" indent="-265113">
              <a:lnSpc>
                <a:spcPct val="90000"/>
              </a:lnSpc>
              <a:spcAft>
                <a:spcPts val="600"/>
              </a:spcAft>
              <a:buSzPct val="90000"/>
              <a:buFont typeface="+mj-lt"/>
              <a:buAutoNum type="arabicPeriod" startAt="7"/>
            </a:pPr>
            <a:r>
              <a:rPr lang="es-ES" sz="1400" b="1" dirty="0"/>
              <a:t>Criterios</a:t>
            </a:r>
            <a:r>
              <a:rPr lang="es-ES" sz="1200" dirty="0"/>
              <a:t> </a:t>
            </a:r>
            <a:r>
              <a:rPr lang="es-ES" sz="1400" b="1" dirty="0"/>
              <a:t>de</a:t>
            </a:r>
            <a:r>
              <a:rPr lang="es-ES" sz="1200" dirty="0"/>
              <a:t> </a:t>
            </a:r>
            <a:r>
              <a:rPr lang="es-ES" sz="1400" b="1" dirty="0"/>
              <a:t>aprobación</a:t>
            </a:r>
            <a:r>
              <a:rPr lang="es-ES" sz="1200" dirty="0"/>
              <a:t> </a:t>
            </a:r>
            <a:r>
              <a:rPr lang="es-ES" sz="1400" b="1" dirty="0"/>
              <a:t>y</a:t>
            </a:r>
            <a:r>
              <a:rPr lang="es-ES" sz="1200" dirty="0"/>
              <a:t> </a:t>
            </a:r>
            <a:r>
              <a:rPr lang="es-ES" sz="1400" b="1" dirty="0"/>
              <a:t>fallo.</a:t>
            </a:r>
            <a:r>
              <a:rPr lang="es-ES" sz="1200" dirty="0"/>
              <a:t> Define cuándo se considerará que una prueba ha sido exitosa o no. Los criterios deben ser objetivos y mensurables.</a:t>
            </a:r>
          </a:p>
          <a:p>
            <a:pPr marL="265113" indent="-265113">
              <a:lnSpc>
                <a:spcPct val="90000"/>
              </a:lnSpc>
              <a:spcAft>
                <a:spcPts val="600"/>
              </a:spcAft>
              <a:buSzPct val="90000"/>
              <a:buFont typeface="+mj-lt"/>
              <a:buAutoNum type="arabicPeriod" startAt="7"/>
            </a:pPr>
            <a:r>
              <a:rPr lang="es-ES" sz="1400" b="1" dirty="0"/>
              <a:t>Procedimiento</a:t>
            </a:r>
            <a:r>
              <a:rPr lang="es-ES" sz="1200" dirty="0"/>
              <a:t> </a:t>
            </a:r>
            <a:r>
              <a:rPr lang="es-ES" sz="1400" b="1" dirty="0"/>
              <a:t>de seguimiento y comunicación de problemas.</a:t>
            </a:r>
            <a:r>
              <a:rPr lang="es-ES" sz="1200" dirty="0"/>
              <a:t> Especificar cómo se reportarán y seguirán los problemas encontrados durante las pruebas.</a:t>
            </a:r>
          </a:p>
          <a:p>
            <a:pPr marL="265113" indent="-265113">
              <a:lnSpc>
                <a:spcPct val="90000"/>
              </a:lnSpc>
              <a:spcAft>
                <a:spcPts val="600"/>
              </a:spcAft>
              <a:buSzPct val="90000"/>
              <a:buFont typeface="+mj-lt"/>
              <a:buAutoNum type="arabicPeriod" startAt="7"/>
            </a:pPr>
            <a:r>
              <a:rPr lang="es-ES" sz="1400" b="1" dirty="0"/>
              <a:t>Gestión</a:t>
            </a:r>
            <a:r>
              <a:rPr lang="es-ES" sz="1200" dirty="0"/>
              <a:t> </a:t>
            </a:r>
            <a:r>
              <a:rPr lang="es-ES" sz="1400" b="1" dirty="0"/>
              <a:t>de</a:t>
            </a:r>
            <a:r>
              <a:rPr lang="es-ES" sz="1200" dirty="0"/>
              <a:t> </a:t>
            </a:r>
            <a:r>
              <a:rPr lang="es-ES" sz="1400" b="1" dirty="0"/>
              <a:t>riesgos.</a:t>
            </a:r>
            <a:r>
              <a:rPr lang="es-ES" sz="1200" dirty="0"/>
              <a:t> Identificar los posibles riesgos que podrían surgir durante las pruebas y planificar cómo manejarlos.</a:t>
            </a:r>
          </a:p>
          <a:p>
            <a:pPr marL="265113" indent="-265113">
              <a:lnSpc>
                <a:spcPct val="90000"/>
              </a:lnSpc>
              <a:spcAft>
                <a:spcPts val="600"/>
              </a:spcAft>
              <a:buSzPct val="90000"/>
              <a:buFont typeface="+mj-lt"/>
              <a:buAutoNum type="arabicPeriod" startAt="7"/>
            </a:pPr>
            <a:r>
              <a:rPr lang="es-ES" sz="1400" b="1" dirty="0"/>
              <a:t>Conclusión.</a:t>
            </a:r>
            <a:r>
              <a:rPr lang="es-ES" sz="1200" dirty="0"/>
              <a:t> Resume el plan de pruebas y explica los próximos pasos.</a:t>
            </a:r>
          </a:p>
        </p:txBody>
      </p:sp>
    </p:spTree>
    <p:extLst>
      <p:ext uri="{BB962C8B-B14F-4D97-AF65-F5344CB8AC3E}">
        <p14:creationId xmlns:p14="http://schemas.microsoft.com/office/powerpoint/2010/main" val="2315419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521097"/>
          </a:xfrm>
        </p:spPr>
        <p:txBody>
          <a:bodyPr/>
          <a:lstStyle/>
          <a:p>
            <a:pPr marL="274638" indent="-274638">
              <a:tabLst>
                <a:tab pos="274638" algn="l"/>
              </a:tabLst>
            </a:pPr>
            <a:r>
              <a:rPr lang="es-PE" dirty="0"/>
              <a:t>/	PRUEBAS AUTOMATIZADAS</a:t>
            </a:r>
          </a:p>
        </p:txBody>
      </p:sp>
    </p:spTree>
    <p:custDataLst>
      <p:tags r:id="rId1"/>
    </p:custDataLst>
    <p:extLst>
      <p:ext uri="{BB962C8B-B14F-4D97-AF65-F5344CB8AC3E}">
        <p14:creationId xmlns:p14="http://schemas.microsoft.com/office/powerpoint/2010/main" val="2686331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qué consisten?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PRUEBAS AUTOMATIZADAS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2592510"/>
          </a:xfrm>
        </p:spPr>
        <p:txBody>
          <a:bodyPr/>
          <a:lstStyle/>
          <a:p>
            <a:r>
              <a:rPr lang="es-ES" dirty="0"/>
              <a:t>Las pruebas automatizadas son pruebas que se realizan utilizando software especializado para controlar la ejecución de las pruebas y comparar los resultados reales con los resultados esperados. </a:t>
            </a:r>
          </a:p>
          <a:p>
            <a:r>
              <a:rPr lang="es-ES" dirty="0"/>
              <a:t>En otras palabras, en lugar de tener un humano interactuando manualmente con el sistema y verificando los resultados, estas tareas se automatizan.</a:t>
            </a:r>
          </a:p>
        </p:txBody>
      </p:sp>
      <p:pic>
        <p:nvPicPr>
          <p:cNvPr id="4" name="Marcador de posición de imagen 3">
            <a:extLst>
              <a:ext uri="{FF2B5EF4-FFF2-40B4-BE49-F238E27FC236}">
                <a16:creationId xmlns:a16="http://schemas.microsoft.com/office/drawing/2014/main" id="{011CCC7C-04DD-3E2C-59F0-0118F85A6A2D}"/>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2822054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Ventajas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PRUEBAS AUTOMATIZADAS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600694"/>
          </a:xfrm>
        </p:spPr>
        <p:txBody>
          <a:bodyPr/>
          <a:lstStyle/>
          <a:p>
            <a:pPr marL="0" indent="0">
              <a:buNone/>
            </a:pPr>
            <a:r>
              <a:rPr lang="es-ES" dirty="0"/>
              <a:t>Las pruebas automatizadas tienen varias ventajas, como las siguientes:</a:t>
            </a:r>
          </a:p>
          <a:p>
            <a:r>
              <a:rPr lang="es-ES" dirty="0"/>
              <a:t>Son más rápidas que las pruebas manuales, ya que la máquina puede ejecutar pruebas mucho más rápido que un humano. </a:t>
            </a:r>
          </a:p>
          <a:p>
            <a:r>
              <a:rPr lang="es-ES" dirty="0"/>
              <a:t>También son más precisas, ya que eliminan la posibilidad de error humano. </a:t>
            </a:r>
          </a:p>
          <a:p>
            <a:r>
              <a:rPr lang="es-ES" dirty="0"/>
              <a:t>Y, finalmente, son más eficientes, ya que una vez que las pruebas automatizadas están configuradas, pueden ser reutilizadas tantas veces como sea necesario sin ningún esfuerzo adicional.</a:t>
            </a:r>
          </a:p>
        </p:txBody>
      </p:sp>
      <p:pic>
        <p:nvPicPr>
          <p:cNvPr id="15" name="Marcador de posición de imagen 14">
            <a:extLst>
              <a:ext uri="{FF2B5EF4-FFF2-40B4-BE49-F238E27FC236}">
                <a16:creationId xmlns:a16="http://schemas.microsoft.com/office/drawing/2014/main" id="{4F64233A-7B2E-969B-25BE-58A050F14EA8}"/>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2943890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Tipos de pruebas automatizadas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PRUEBAS AUTOMATIZADAS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47564" cy="4043239"/>
          </a:xfrm>
        </p:spPr>
        <p:txBody>
          <a:bodyPr/>
          <a:lstStyle/>
          <a:p>
            <a:pPr>
              <a:spcAft>
                <a:spcPts val="0"/>
              </a:spcAft>
            </a:pPr>
            <a:r>
              <a:rPr lang="es-ES" dirty="0"/>
              <a:t>Pruebas de unidad automatizadas</a:t>
            </a:r>
          </a:p>
          <a:p>
            <a:pPr marL="265113" lvl="1" indent="0">
              <a:buNone/>
            </a:pPr>
            <a:r>
              <a:rPr lang="es-ES" sz="1400" dirty="0">
                <a:solidFill>
                  <a:schemeClr val="tx1">
                    <a:lumMod val="50000"/>
                    <a:lumOff val="50000"/>
                  </a:schemeClr>
                </a:solidFill>
              </a:rPr>
              <a:t>Se centran en pequeñas "unidades" de funcionalidad, como una función o método individual en el código.</a:t>
            </a:r>
          </a:p>
          <a:p>
            <a:pPr>
              <a:spcAft>
                <a:spcPts val="0"/>
              </a:spcAft>
            </a:pPr>
            <a:r>
              <a:rPr lang="es-ES" dirty="0"/>
              <a:t>Pruebas de integración automatizadas</a:t>
            </a:r>
          </a:p>
          <a:p>
            <a:pPr marL="265113" lvl="1" indent="0">
              <a:buNone/>
            </a:pPr>
            <a:r>
              <a:rPr lang="es-ES" sz="1400" dirty="0">
                <a:solidFill>
                  <a:schemeClr val="tx1">
                    <a:lumMod val="50000"/>
                    <a:lumOff val="50000"/>
                  </a:schemeClr>
                </a:solidFill>
              </a:rPr>
              <a:t>Verifican que las interfaces y la interacción entre diferentes partes del sistema funcionen correctamente.</a:t>
            </a:r>
          </a:p>
          <a:p>
            <a:pPr>
              <a:spcAft>
                <a:spcPts val="0"/>
              </a:spcAft>
            </a:pPr>
            <a:r>
              <a:rPr lang="es-ES" dirty="0"/>
              <a:t>Pruebas de sistema automatizadas</a:t>
            </a:r>
          </a:p>
          <a:p>
            <a:pPr marL="265113" lvl="1" indent="0">
              <a:buNone/>
            </a:pPr>
            <a:r>
              <a:rPr lang="es-ES" sz="1400" dirty="0">
                <a:solidFill>
                  <a:schemeClr val="tx1">
                    <a:lumMod val="50000"/>
                    <a:lumOff val="50000"/>
                  </a:schemeClr>
                </a:solidFill>
              </a:rPr>
              <a:t>Verifican que el sistema completo funciona como se espera.</a:t>
            </a:r>
          </a:p>
          <a:p>
            <a:pPr>
              <a:spcAft>
                <a:spcPts val="0"/>
              </a:spcAft>
            </a:pPr>
            <a:r>
              <a:rPr lang="es-ES" dirty="0"/>
              <a:t>Pruebas de regresión automatizadas</a:t>
            </a:r>
          </a:p>
          <a:p>
            <a:pPr marL="265113" lvl="1" indent="0">
              <a:buNone/>
            </a:pPr>
            <a:r>
              <a:rPr lang="es-ES" sz="1400" dirty="0">
                <a:solidFill>
                  <a:schemeClr val="tx1">
                    <a:lumMod val="50000"/>
                    <a:lumOff val="50000"/>
                  </a:schemeClr>
                </a:solidFill>
              </a:rPr>
              <a:t>Se realizan después de hacer cambios en el software para asegurar que los cambios no han introducido nuevos errores y que la funcionalidad existente sigue funcionando como se espera.</a:t>
            </a:r>
          </a:p>
        </p:txBody>
      </p:sp>
      <p:pic>
        <p:nvPicPr>
          <p:cNvPr id="15" name="Marcador de posición de imagen 14">
            <a:extLst>
              <a:ext uri="{FF2B5EF4-FFF2-40B4-BE49-F238E27FC236}">
                <a16:creationId xmlns:a16="http://schemas.microsoft.com/office/drawing/2014/main" id="{83A27E25-D8A6-3496-0E37-669A7E6A0D39}"/>
              </a:ext>
            </a:extLst>
          </p:cNvPr>
          <p:cNvPicPr>
            <a:picLocks noGrp="1" noChangeAspect="1"/>
          </p:cNvPicPr>
          <p:nvPr>
            <p:ph type="pic" sz="quarter" idx="10"/>
          </p:nvPr>
        </p:nvPicPr>
        <p:blipFill>
          <a:blip r:embed="rId3"/>
          <a:srcRect l="349" r="349"/>
          <a:stretch>
            <a:fillRect/>
          </a:stretch>
        </p:blipFill>
        <p:spPr>
          <a:xfrm>
            <a:off x="5191946" y="1078523"/>
            <a:ext cx="3715850" cy="4043238"/>
          </a:xfrm>
        </p:spPr>
      </p:pic>
    </p:spTree>
    <p:extLst>
      <p:ext uri="{BB962C8B-B14F-4D97-AF65-F5344CB8AC3E}">
        <p14:creationId xmlns:p14="http://schemas.microsoft.com/office/powerpoint/2010/main" val="2544590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Herramientas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PRUEBAS AUTOMATIZADAS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178663"/>
          </a:xfrm>
        </p:spPr>
        <p:txBody>
          <a:bodyPr/>
          <a:lstStyle/>
          <a:p>
            <a:r>
              <a:rPr lang="es-ES" dirty="0"/>
              <a:t>Existen numerosas herramientas y frameworks que se utilizan en la industria del desarrollo de software para realizar pruebas automatizadas. </a:t>
            </a:r>
          </a:p>
          <a:p>
            <a:pPr>
              <a:spcAft>
                <a:spcPts val="600"/>
              </a:spcAft>
            </a:pPr>
            <a:r>
              <a:rPr lang="es-ES" dirty="0"/>
              <a:t>Cada una tiene sus propias fortalezas y debilidades, y la mejor herramienta para utilizar depende de los siguiente:</a:t>
            </a:r>
          </a:p>
          <a:p>
            <a:pPr lvl="1">
              <a:spcAft>
                <a:spcPts val="600"/>
              </a:spcAft>
            </a:pPr>
            <a:r>
              <a:rPr lang="es-ES" dirty="0"/>
              <a:t>El lenguaje de programación.</a:t>
            </a:r>
          </a:p>
          <a:p>
            <a:pPr lvl="1">
              <a:spcAft>
                <a:spcPts val="600"/>
              </a:spcAft>
            </a:pPr>
            <a:r>
              <a:rPr lang="es-ES" dirty="0"/>
              <a:t>El tipo de pruebas que se realizan.</a:t>
            </a:r>
          </a:p>
          <a:p>
            <a:pPr lvl="1"/>
            <a:r>
              <a:rPr lang="es-ES" dirty="0"/>
              <a:t>Las preferencias personales del equipo de desarrollo.</a:t>
            </a:r>
          </a:p>
        </p:txBody>
      </p:sp>
      <p:pic>
        <p:nvPicPr>
          <p:cNvPr id="4" name="Marcador de posición de imagen 3">
            <a:extLst>
              <a:ext uri="{FF2B5EF4-FFF2-40B4-BE49-F238E27FC236}">
                <a16:creationId xmlns:a16="http://schemas.microsoft.com/office/drawing/2014/main" id="{83D39628-3AB7-B6A0-8F08-5CEB3A273232}"/>
              </a:ext>
            </a:extLst>
          </p:cNvPr>
          <p:cNvPicPr>
            <a:picLocks noGrp="1" noChangeAspect="1"/>
          </p:cNvPicPr>
          <p:nvPr>
            <p:ph type="pic" sz="quarter" idx="10"/>
          </p:nvPr>
        </p:nvPicPr>
        <p:blipFill>
          <a:blip r:embed="rId3"/>
          <a:srcRect l="20" r="20"/>
          <a:stretch>
            <a:fillRect/>
          </a:stretch>
        </p:blipFill>
        <p:spPr/>
      </p:pic>
    </p:spTree>
    <p:extLst>
      <p:ext uri="{BB962C8B-B14F-4D97-AF65-F5344CB8AC3E}">
        <p14:creationId xmlns:p14="http://schemas.microsoft.com/office/powerpoint/2010/main" val="3300257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JUnit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PRUEBAS AUTOMATIZADAS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2944202"/>
          </a:xfrm>
        </p:spPr>
        <p:txBody>
          <a:bodyPr/>
          <a:lstStyle/>
          <a:p>
            <a:r>
              <a:rPr lang="es-ES" dirty="0"/>
              <a:t>Es uno de los frameworks de pruebas unitarias más populares para Java. </a:t>
            </a:r>
          </a:p>
          <a:p>
            <a:r>
              <a:rPr lang="es-ES" dirty="0"/>
              <a:t>JUnit proporciona anotaciones para identificar métodos de prueba y para configurar y desmontar el entorno de prueba. </a:t>
            </a:r>
          </a:p>
          <a:p>
            <a:r>
              <a:rPr lang="es-ES" dirty="0"/>
              <a:t>También tiene aserciones para probar los resultados esperados y permite que las pruebas se organicen en "suites de pruebas" para un fácil manejo y ejecución.</a:t>
            </a:r>
          </a:p>
        </p:txBody>
      </p:sp>
      <p:pic>
        <p:nvPicPr>
          <p:cNvPr id="4" name="Marcador de posición de imagen 3">
            <a:extLst>
              <a:ext uri="{FF2B5EF4-FFF2-40B4-BE49-F238E27FC236}">
                <a16:creationId xmlns:a16="http://schemas.microsoft.com/office/drawing/2014/main" id="{C63F2476-2969-E085-5C1A-CEEBDDB7731A}"/>
              </a:ext>
            </a:extLst>
          </p:cNvPr>
          <p:cNvPicPr>
            <a:picLocks noGrp="1" noChangeAspect="1"/>
          </p:cNvPicPr>
          <p:nvPr>
            <p:ph type="pic" sz="quarter" idx="10"/>
          </p:nvPr>
        </p:nvPicPr>
        <p:blipFill>
          <a:blip r:embed="rId3"/>
          <a:srcRect l="234" r="234"/>
          <a:stretch>
            <a:fillRect/>
          </a:stretch>
        </p:blipFill>
        <p:spPr/>
      </p:pic>
    </p:spTree>
    <p:extLst>
      <p:ext uri="{BB962C8B-B14F-4D97-AF65-F5344CB8AC3E}">
        <p14:creationId xmlns:p14="http://schemas.microsoft.com/office/powerpoint/2010/main" val="724310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SELENIUM</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PRUEBAS AUTOMATIZADAS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319340"/>
          </a:xfrm>
        </p:spPr>
        <p:txBody>
          <a:bodyPr/>
          <a:lstStyle/>
          <a:p>
            <a:r>
              <a:rPr lang="es-ES" dirty="0"/>
              <a:t>Es una herramienta de pruebas para aplicaciones web.</a:t>
            </a:r>
          </a:p>
          <a:p>
            <a:r>
              <a:rPr lang="es-ES" dirty="0"/>
              <a:t>SELENIUM permite a los desarrolladores escribir scripts en varios lenguajes de programación como Java, C#, Python, etc. </a:t>
            </a:r>
          </a:p>
          <a:p>
            <a:r>
              <a:rPr lang="es-ES" dirty="0"/>
              <a:t>Los scripts pueden ejecutarse en la mayoría de los navegadores y sistemas operativos modernos.</a:t>
            </a:r>
          </a:p>
          <a:p>
            <a:r>
              <a:rPr lang="es-ES" dirty="0"/>
              <a:t>SELENIUM es especialmente útil para realizar pruebas de regresión y pruebas de interfaz de usuario.</a:t>
            </a:r>
          </a:p>
        </p:txBody>
      </p:sp>
      <p:pic>
        <p:nvPicPr>
          <p:cNvPr id="4" name="Marcador de posición de imagen 3">
            <a:extLst>
              <a:ext uri="{FF2B5EF4-FFF2-40B4-BE49-F238E27FC236}">
                <a16:creationId xmlns:a16="http://schemas.microsoft.com/office/drawing/2014/main" id="{D6205B0E-50C9-8C66-022E-C346F02A357A}"/>
              </a:ext>
            </a:extLst>
          </p:cNvPr>
          <p:cNvPicPr>
            <a:picLocks noGrp="1" noChangeAspect="1"/>
          </p:cNvPicPr>
          <p:nvPr>
            <p:ph type="pic" sz="quarter" idx="10"/>
          </p:nvPr>
        </p:nvPicPr>
        <p:blipFill>
          <a:blip r:embed="rId3"/>
          <a:srcRect l="234" r="234"/>
          <a:stretch>
            <a:fillRect/>
          </a:stretch>
        </p:blipFill>
        <p:spPr/>
      </p:pic>
    </p:spTree>
    <p:extLst>
      <p:ext uri="{BB962C8B-B14F-4D97-AF65-F5344CB8AC3E}">
        <p14:creationId xmlns:p14="http://schemas.microsoft.com/office/powerpoint/2010/main" val="283841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TestNG</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PRUEBAS AUTOMATIZADAS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2139217"/>
          </a:xfrm>
        </p:spPr>
        <p:txBody>
          <a:bodyPr/>
          <a:lstStyle/>
          <a:p>
            <a:r>
              <a:rPr lang="es-ES" dirty="0"/>
              <a:t>Al igual que JUnit, TestNG es otro framework de pruebas para Java.</a:t>
            </a:r>
          </a:p>
          <a:p>
            <a:r>
              <a:rPr lang="es-ES" dirty="0"/>
              <a:t>Aunque similar a JUnit, TestNG proporciona algunas funcionalidades adicionales, como soporte para pruebas paralelas, flexibilidad para configurar pruebas y soporte para pruebas de datos.</a:t>
            </a:r>
          </a:p>
        </p:txBody>
      </p:sp>
      <p:pic>
        <p:nvPicPr>
          <p:cNvPr id="4" name="Marcador de posición de imagen 3">
            <a:extLst>
              <a:ext uri="{FF2B5EF4-FFF2-40B4-BE49-F238E27FC236}">
                <a16:creationId xmlns:a16="http://schemas.microsoft.com/office/drawing/2014/main" id="{82928333-A873-292F-A39B-15560255AF25}"/>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44250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CUCUMBER</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PRUEBAS AUTOMATIZADAS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2553433"/>
          </a:xfrm>
        </p:spPr>
        <p:txBody>
          <a:bodyPr/>
          <a:lstStyle/>
          <a:p>
            <a:r>
              <a:rPr lang="es-ES" dirty="0"/>
              <a:t>Es una herramienta de pruebas que admite </a:t>
            </a:r>
            <a:r>
              <a:rPr lang="es-ES" i="1" dirty="0"/>
              <a:t>Behavior Driven Development </a:t>
            </a:r>
            <a:r>
              <a:rPr lang="es-ES" dirty="0"/>
              <a:t>(BDD).</a:t>
            </a:r>
          </a:p>
          <a:p>
            <a:r>
              <a:rPr lang="es-ES" dirty="0"/>
              <a:t>En Cucumber, los escenarios de pruebas se escriben en un lenguaje natural pero formal, llamado Gherkin.</a:t>
            </a:r>
          </a:p>
          <a:p>
            <a:r>
              <a:rPr lang="es-ES" dirty="0"/>
              <a:t>Cucumber es útil cuando se quiere asegurar que todos, incluyendo los no técnicos, comprendan las pruebas.</a:t>
            </a:r>
          </a:p>
        </p:txBody>
      </p:sp>
      <p:pic>
        <p:nvPicPr>
          <p:cNvPr id="8" name="Marcador de posición de imagen 7">
            <a:extLst>
              <a:ext uri="{FF2B5EF4-FFF2-40B4-BE49-F238E27FC236}">
                <a16:creationId xmlns:a16="http://schemas.microsoft.com/office/drawing/2014/main" id="{3FF85212-81F8-B743-2D72-5D9C8B36F76F}"/>
              </a:ext>
            </a:extLst>
          </p:cNvPr>
          <p:cNvPicPr>
            <a:picLocks noGrp="1" noChangeAspect="1"/>
          </p:cNvPicPr>
          <p:nvPr>
            <p:ph type="pic" sz="quarter" idx="10"/>
          </p:nvPr>
        </p:nvPicPr>
        <p:blipFill>
          <a:blip r:embed="rId3"/>
          <a:srcRect l="20" r="20"/>
          <a:stretch>
            <a:fillRect/>
          </a:stretch>
        </p:blipFill>
        <p:spPr/>
      </p:pic>
    </p:spTree>
    <p:extLst>
      <p:ext uri="{BB962C8B-B14F-4D97-AF65-F5344CB8AC3E}">
        <p14:creationId xmlns:p14="http://schemas.microsoft.com/office/powerpoint/2010/main" val="237639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POSTMAN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n-US" dirty="0"/>
              <a:t>PRUEBAS AUTOMATIZADAS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2615956"/>
          </a:xfrm>
        </p:spPr>
        <p:txBody>
          <a:bodyPr/>
          <a:lstStyle/>
          <a:p>
            <a:r>
              <a:rPr lang="es-ES" dirty="0"/>
              <a:t>Es una popular herramienta de pruebas de API que permite a los desarrolladores y </a:t>
            </a:r>
            <a:r>
              <a:rPr lang="es-ES" i="1" dirty="0"/>
              <a:t>testers</a:t>
            </a:r>
            <a:r>
              <a:rPr lang="es-ES" dirty="0"/>
              <a:t> realizar solicitudes a endpoints de API y examinar las respuestas.</a:t>
            </a:r>
          </a:p>
          <a:p>
            <a:r>
              <a:rPr lang="es-ES" dirty="0"/>
              <a:t>POSTMAN proporciona características como la organización de pruebas en colecciones, pruebas de diferentes entornos, y pruebas automatizadas mediante la ejecución de colecciones.</a:t>
            </a:r>
          </a:p>
        </p:txBody>
      </p:sp>
      <p:pic>
        <p:nvPicPr>
          <p:cNvPr id="8" name="Marcador de posición de imagen 7">
            <a:extLst>
              <a:ext uri="{FF2B5EF4-FFF2-40B4-BE49-F238E27FC236}">
                <a16:creationId xmlns:a16="http://schemas.microsoft.com/office/drawing/2014/main" id="{D30748D1-AD04-1279-16FD-569CA98B0F87}"/>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3893142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a:xfrm>
            <a:off x="927366" y="1670909"/>
            <a:ext cx="7713398" cy="3010506"/>
          </a:xfrm>
        </p:spPr>
        <p:txBody>
          <a:bodyPr/>
          <a:lstStyle/>
          <a:p>
            <a:r>
              <a:rPr lang="es-ES" dirty="0"/>
              <a:t>El desarrollo </a:t>
            </a:r>
            <a:r>
              <a:rPr lang="es-ES" b="1" i="1" dirty="0"/>
              <a:t>front end</a:t>
            </a:r>
            <a:r>
              <a:rPr lang="es-ES" i="1" dirty="0"/>
              <a:t> </a:t>
            </a:r>
            <a:r>
              <a:rPr lang="es-ES" dirty="0"/>
              <a:t>se refiere a la construcción de la interfaz de usuario, lo que el usuario ve y con lo que interactúa, mientras que el desarrollo </a:t>
            </a:r>
            <a:r>
              <a:rPr lang="es-ES" b="1" i="1" dirty="0"/>
              <a:t>back end</a:t>
            </a:r>
            <a:r>
              <a:rPr lang="es-ES" i="1" dirty="0"/>
              <a:t> </a:t>
            </a:r>
            <a:r>
              <a:rPr lang="es-ES" dirty="0"/>
              <a:t>se refiere a la lógica de negocio, la gestión de la base de datos y el rendimiento, es decir, lo que sucede en segundo plano.</a:t>
            </a:r>
          </a:p>
          <a:p>
            <a:r>
              <a:rPr lang="es-ES" dirty="0"/>
              <a:t>Las pruebas de software permiten garantizar la calidad y fiabilidad del producto final. Incluyen pruebas de unidad, pruebas de integración, pruebas de sistema, pruebas de aceptación y pruebas de regresión.</a:t>
            </a:r>
          </a:p>
          <a:p>
            <a:r>
              <a:rPr lang="es-ES" dirty="0"/>
              <a:t>Las pruebas automatizadas utilizan software y herramientas especializadas para ejecutar pruebas y comparar los resultados obtenidos con los resultados esperados. Estas pruebas mejoran la eficiencia, velocidad y precisión de las pruebas de software.</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n-US" dirty="0"/>
              <a:t>Agile Extension to the BABOK Guide. (2020). </a:t>
            </a:r>
            <a:r>
              <a:rPr lang="en-US" dirty="0" err="1"/>
              <a:t>Recuperado</a:t>
            </a:r>
            <a:r>
              <a:rPr lang="en-US" dirty="0"/>
              <a:t> de: https://www.iiba.org/standards-andresources/babok/</a:t>
            </a:r>
          </a:p>
          <a:p>
            <a:pPr>
              <a:lnSpc>
                <a:spcPct val="100000"/>
              </a:lnSpc>
            </a:pPr>
            <a:r>
              <a:rPr lang="en-US" dirty="0"/>
              <a:t>Pressman, R. S. (2010). </a:t>
            </a:r>
            <a:r>
              <a:rPr lang="en-US" dirty="0" err="1"/>
              <a:t>Ingeniería</a:t>
            </a:r>
            <a:r>
              <a:rPr lang="en-US" dirty="0"/>
              <a:t> del Software: Un </a:t>
            </a:r>
            <a:r>
              <a:rPr lang="en-US" dirty="0" err="1"/>
              <a:t>enfoque</a:t>
            </a:r>
            <a:r>
              <a:rPr lang="en-US" dirty="0"/>
              <a:t> </a:t>
            </a:r>
            <a:r>
              <a:rPr lang="en-US" dirty="0" err="1"/>
              <a:t>práctico</a:t>
            </a:r>
            <a:r>
              <a:rPr lang="en-US" dirty="0"/>
              <a:t>. (7ª ed.). McGraw-Hill </a:t>
            </a:r>
            <a:r>
              <a:rPr lang="en-US" dirty="0" err="1"/>
              <a:t>Interamericana</a:t>
            </a:r>
            <a:r>
              <a:rPr lang="en-US" dirty="0"/>
              <a:t>.</a:t>
            </a:r>
          </a:p>
          <a:p>
            <a:pPr>
              <a:lnSpc>
                <a:spcPct val="100000"/>
              </a:lnSpc>
            </a:pPr>
            <a:r>
              <a:rPr lang="en-US" dirty="0"/>
              <a:t>Sommerville, I. (2011). </a:t>
            </a:r>
            <a:r>
              <a:rPr lang="en-US" dirty="0" err="1"/>
              <a:t>Ingeniería</a:t>
            </a:r>
            <a:r>
              <a:rPr lang="en-US" dirty="0"/>
              <a:t> de Software. (9ª ed.). Pearson </a:t>
            </a:r>
            <a:r>
              <a:rPr lang="en-US" dirty="0" err="1"/>
              <a:t>Educación</a:t>
            </a:r>
            <a:r>
              <a:rPr lang="en-US" dirty="0"/>
              <a:t>.</a:t>
            </a:r>
          </a:p>
          <a:p>
            <a:pPr>
              <a:lnSpc>
                <a:spcPct val="100000"/>
              </a:lnSpc>
            </a:pPr>
            <a:r>
              <a:rPr lang="en-US" dirty="0"/>
              <a:t>Freeman, E., &amp; Robson, E. (2012). Head First HTML and CSS. O'Reilly Media.</a:t>
            </a:r>
          </a:p>
          <a:p>
            <a:pPr>
              <a:lnSpc>
                <a:spcPct val="100000"/>
              </a:lnSpc>
            </a:pPr>
            <a:r>
              <a:rPr lang="en-US" dirty="0" err="1"/>
              <a:t>Raasch</a:t>
            </a:r>
            <a:r>
              <a:rPr lang="en-US" dirty="0"/>
              <a:t>, J. (2012). Smashing Node.js: JavaScript Everywhere. Wiley.</a:t>
            </a:r>
          </a:p>
          <a:p>
            <a:pPr>
              <a:lnSpc>
                <a:spcPct val="100000"/>
              </a:lnSpc>
            </a:pPr>
            <a:r>
              <a:rPr lang="en-US" dirty="0" err="1"/>
              <a:t>Meszaros</a:t>
            </a:r>
            <a:r>
              <a:rPr lang="en-US" dirty="0"/>
              <a:t>, G. (2007). </a:t>
            </a:r>
            <a:r>
              <a:rPr lang="en-US" dirty="0" err="1"/>
              <a:t>xUnit</a:t>
            </a:r>
            <a:r>
              <a:rPr lang="en-US" dirty="0"/>
              <a:t> Test Patterns: Refactoring Test Code. Addison-Wesley.</a:t>
            </a:r>
          </a:p>
        </p:txBody>
      </p:sp>
    </p:spTree>
    <p:custDataLst>
      <p:tags r:id="rId1"/>
    </p:custDataLst>
    <p:extLst>
      <p:ext uri="{BB962C8B-B14F-4D97-AF65-F5344CB8AC3E}">
        <p14:creationId xmlns:p14="http://schemas.microsoft.com/office/powerpoint/2010/main" val="263315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20894</TotalTime>
  <Words>4282</Words>
  <Application>Microsoft Office PowerPoint</Application>
  <PresentationFormat>Presentación en pantalla (16:10)</PresentationFormat>
  <Paragraphs>303</Paragraphs>
  <Slides>46</Slides>
  <Notes>46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46</vt:i4>
      </vt:variant>
    </vt:vector>
  </HeadingPairs>
  <TitlesOfParts>
    <vt:vector size="51" baseType="lpstr">
      <vt:lpstr>Arial</vt:lpstr>
      <vt:lpstr>Calibri</vt:lpstr>
      <vt:lpstr>Delius</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1319</cp:revision>
  <cp:lastPrinted>2018-01-16T21:42:59Z</cp:lastPrinted>
  <dcterms:created xsi:type="dcterms:W3CDTF">2016-10-06T14:52:02Z</dcterms:created>
  <dcterms:modified xsi:type="dcterms:W3CDTF">2023-08-07T18:05:45Z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