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5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6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7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tags/tag8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tags/tag9.xml" ContentType="application/vnd.openxmlformats-officedocument.presentationml.tags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tags/tag10.xml" ContentType="application/vnd.openxmlformats-officedocument.presentationml.tags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tags/tag11.xml" ContentType="application/vnd.openxmlformats-officedocument.presentationml.tags+xml"/>
  <Override PartName="/ppt/notesSlides/notesSlide58.xml" ContentType="application/vnd.openxmlformats-officedocument.presentationml.notesSlide+xml"/>
  <Override PartName="/ppt/tags/tag12.xml" ContentType="application/vnd.openxmlformats-officedocument.presentationml.tags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handoutMasterIdLst>
    <p:handoutMasterId r:id="rId62"/>
  </p:handoutMasterIdLst>
  <p:sldIdLst>
    <p:sldId id="418" r:id="rId2"/>
    <p:sldId id="337" r:id="rId3"/>
    <p:sldId id="443" r:id="rId4"/>
    <p:sldId id="315" r:id="rId5"/>
    <p:sldId id="451" r:id="rId6"/>
    <p:sldId id="452" r:id="rId7"/>
    <p:sldId id="453" r:id="rId8"/>
    <p:sldId id="454" r:id="rId9"/>
    <p:sldId id="455" r:id="rId10"/>
    <p:sldId id="459" r:id="rId11"/>
    <p:sldId id="458" r:id="rId12"/>
    <p:sldId id="460" r:id="rId13"/>
    <p:sldId id="467" r:id="rId14"/>
    <p:sldId id="469" r:id="rId15"/>
    <p:sldId id="470" r:id="rId16"/>
    <p:sldId id="471" r:id="rId17"/>
    <p:sldId id="472" r:id="rId18"/>
    <p:sldId id="473" r:id="rId19"/>
    <p:sldId id="474" r:id="rId20"/>
    <p:sldId id="475" r:id="rId21"/>
    <p:sldId id="461" r:id="rId22"/>
    <p:sldId id="480" r:id="rId23"/>
    <p:sldId id="481" r:id="rId24"/>
    <p:sldId id="482" r:id="rId25"/>
    <p:sldId id="483" r:id="rId26"/>
    <p:sldId id="484" r:id="rId27"/>
    <p:sldId id="523" r:id="rId28"/>
    <p:sldId id="462" r:id="rId29"/>
    <p:sldId id="497" r:id="rId30"/>
    <p:sldId id="498" r:id="rId31"/>
    <p:sldId id="499" r:id="rId32"/>
    <p:sldId id="501" r:id="rId33"/>
    <p:sldId id="500" r:id="rId34"/>
    <p:sldId id="502" r:id="rId35"/>
    <p:sldId id="503" r:id="rId36"/>
    <p:sldId id="504" r:id="rId37"/>
    <p:sldId id="463" r:id="rId38"/>
    <p:sldId id="505" r:id="rId39"/>
    <p:sldId id="506" r:id="rId40"/>
    <p:sldId id="507" r:id="rId41"/>
    <p:sldId id="508" r:id="rId42"/>
    <p:sldId id="509" r:id="rId43"/>
    <p:sldId id="510" r:id="rId44"/>
    <p:sldId id="511" r:id="rId45"/>
    <p:sldId id="465" r:id="rId46"/>
    <p:sldId id="512" r:id="rId47"/>
    <p:sldId id="513" r:id="rId48"/>
    <p:sldId id="514" r:id="rId49"/>
    <p:sldId id="515" r:id="rId50"/>
    <p:sldId id="516" r:id="rId51"/>
    <p:sldId id="464" r:id="rId52"/>
    <p:sldId id="517" r:id="rId53"/>
    <p:sldId id="518" r:id="rId54"/>
    <p:sldId id="519" r:id="rId55"/>
    <p:sldId id="520" r:id="rId56"/>
    <p:sldId id="521" r:id="rId57"/>
    <p:sldId id="522" r:id="rId58"/>
    <p:sldId id="303" r:id="rId59"/>
    <p:sldId id="448" r:id="rId60"/>
  </p:sldIdLst>
  <p:sldSz cx="9144000" cy="5715000" type="screen16x10"/>
  <p:notesSz cx="6797675" cy="9926638"/>
  <p:custDataLst>
    <p:tags r:id="rId6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8ED5"/>
    <a:srgbClr val="81FFBA"/>
    <a:srgbClr val="1F85A6"/>
    <a:srgbClr val="15BDAD"/>
    <a:srgbClr val="48C2BB"/>
    <a:srgbClr val="F1D156"/>
    <a:srgbClr val="276B7D"/>
    <a:srgbClr val="F1FDC3"/>
    <a:srgbClr val="9CC606"/>
    <a:srgbClr val="E2F6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30" autoAdjust="0"/>
    <p:restoredTop sz="88543" autoAdjust="0"/>
  </p:normalViewPr>
  <p:slideViewPr>
    <p:cSldViewPr snapToGrid="0" snapToObjects="1" showGuides="1">
      <p:cViewPr varScale="1">
        <p:scale>
          <a:sx n="91" d="100"/>
          <a:sy n="91" d="100"/>
        </p:scale>
        <p:origin x="152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-9462"/>
    </p:cViewPr>
  </p:sorterViewPr>
  <p:notesViewPr>
    <p:cSldViewPr snapToGrid="0" snapToObjects="1" showGuides="1">
      <p:cViewPr varScale="1">
        <p:scale>
          <a:sx n="48" d="100"/>
          <a:sy n="48" d="100"/>
        </p:scale>
        <p:origin x="2940" y="72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17/07/2023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17/07/2023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9386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35735" marR="574040" indent="0" algn="l">
              <a:lnSpc>
                <a:spcPct val="155000"/>
              </a:lnSpc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14306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0582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93554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42457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01920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18963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065256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Scrum y Kanban dividen el trabajo en iteraciones más pequeñas y manejables, lo que permite a los equipos adaptarse rápidamente a los cambios en los requisitos del cliente o en el mercado.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719571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03302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496717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04174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132096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462135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163853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424698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24901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20856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78268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618475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748630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633694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754277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412969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023450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="0" i="0" dirty="0">
                <a:solidFill>
                  <a:srgbClr val="041C2C"/>
                </a:solidFill>
                <a:effectLst/>
                <a:latin typeface="Montserrat" panose="00000500000000000000" pitchFamily="2" charset="0"/>
              </a:rPr>
              <a:t>El «Manifiesto Ágil» se basa en 12 principios para un mejor desarrollo de software.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929653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656262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Representa una forma de pensar y de ver el mundo empresarial desde una perspectiva ágil.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6710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365014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773037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823868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209114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235581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9973803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470903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3747928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6676977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44549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3704526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9313857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7791834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3392795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673869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9429267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7653880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0167566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0806842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0204230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800" kern="0" dirty="0">
                <a:effectLst/>
                <a:latin typeface="+mn-lt"/>
                <a:ea typeface="Times New Roman" panose="02020603050405020304" pitchFamily="18" charset="0"/>
              </a:rPr>
              <a:t>Este ejemplo ilustra cómo la metodología </a:t>
            </a:r>
            <a:r>
              <a:rPr lang="es-PE" sz="1800" i="1" kern="0" dirty="0">
                <a:effectLst/>
                <a:latin typeface="+mn-lt"/>
                <a:ea typeface="Times New Roman" panose="02020603050405020304" pitchFamily="18" charset="0"/>
              </a:rPr>
              <a:t>Scrum</a:t>
            </a:r>
            <a:r>
              <a:rPr lang="es-PE" sz="1800" kern="0" dirty="0">
                <a:effectLst/>
                <a:latin typeface="+mn-lt"/>
                <a:ea typeface="Times New Roman" panose="02020603050405020304" pitchFamily="18" charset="0"/>
              </a:rPr>
              <a:t> se enfoca en el desarrollo iterativo e incremental, donde el equipo de desarrollo trabaja en </a:t>
            </a:r>
            <a:r>
              <a:rPr lang="es-PE" sz="1800" i="1" kern="0" dirty="0">
                <a:effectLst/>
                <a:latin typeface="+mn-lt"/>
                <a:ea typeface="Times New Roman" panose="02020603050405020304" pitchFamily="18" charset="0"/>
              </a:rPr>
              <a:t>sprints </a:t>
            </a:r>
            <a:r>
              <a:rPr lang="es-PE" sz="1800" kern="0" dirty="0">
                <a:effectLst/>
                <a:latin typeface="+mn-lt"/>
                <a:ea typeface="Times New Roman" panose="02020603050405020304" pitchFamily="18" charset="0"/>
              </a:rPr>
              <a:t>cortos para entregar funcionalidades valiosas de manera regular.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800" kern="0" dirty="0">
                <a:effectLst/>
                <a:latin typeface="+mn-lt"/>
                <a:ea typeface="Times New Roman" panose="02020603050405020304" pitchFamily="18" charset="0"/>
              </a:rPr>
              <a:t>La colaboración cercana entre el equipo de desarrollo y el </a:t>
            </a:r>
            <a:r>
              <a:rPr lang="es-PE" sz="1800" i="1" kern="0" dirty="0">
                <a:effectLst/>
                <a:latin typeface="+mn-lt"/>
                <a:ea typeface="Times New Roman" panose="02020603050405020304" pitchFamily="18" charset="0"/>
              </a:rPr>
              <a:t>Product Owner</a:t>
            </a:r>
            <a:r>
              <a:rPr lang="es-PE" sz="1800" kern="0" dirty="0">
                <a:effectLst/>
                <a:latin typeface="+mn-lt"/>
                <a:ea typeface="Times New Roman" panose="02020603050405020304" pitchFamily="18" charset="0"/>
              </a:rPr>
              <a:t>, así como la retroalimentación continua de los </a:t>
            </a:r>
            <a:r>
              <a:rPr lang="es-PE" sz="1800" i="1" kern="0" dirty="0">
                <a:effectLst/>
                <a:latin typeface="+mn-lt"/>
                <a:ea typeface="Times New Roman" panose="02020603050405020304" pitchFamily="18" charset="0"/>
              </a:rPr>
              <a:t>stakeholders, </a:t>
            </a:r>
            <a:r>
              <a:rPr lang="es-PE" sz="1800" kern="0" dirty="0">
                <a:effectLst/>
                <a:latin typeface="+mn-lt"/>
                <a:ea typeface="Times New Roman" panose="02020603050405020304" pitchFamily="18" charset="0"/>
              </a:rPr>
              <a:t>permite una adaptación ágil a medida que se avanza en el desarrollo de la aplicación.</a:t>
            </a:r>
            <a:endParaRPr lang="es-PE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345475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1239378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5134354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8391510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21036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4369134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7225944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800" kern="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A lo largo del proyecto, el equipo de desarrollo utiliza el tablero</a:t>
            </a:r>
            <a:r>
              <a:rPr lang="es-PE" sz="1800" i="1" kern="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 Kanban </a:t>
            </a:r>
            <a:r>
              <a:rPr lang="es-PE" sz="1800" kern="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para visualizar y gestionar el flujo de trabajo de la aplicación.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800" kern="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El enfoque </a:t>
            </a:r>
            <a:r>
              <a:rPr lang="es-PE" sz="1800" i="1" kern="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Kanban</a:t>
            </a:r>
            <a:r>
              <a:rPr lang="es-PE" sz="1800" kern="0" dirty="0">
                <a:effectLst/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 permite una mayor transparencia, colaboración y eficiencia en el desarrollo, al tiempo que se mantiene una atención constante en la entrega de valor y en la satisfacción del cliente.</a:t>
            </a:r>
            <a:endParaRPr lang="es-PE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6336621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rtl="0">
              <a:buFont typeface="+mj-lt"/>
              <a:buNone/>
            </a:pPr>
            <a:endParaRPr lang="es-PE" sz="12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endParaRPr lang="es-P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49043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_Título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78499219-B93F-4121-95B0-FD263CAAD2EC}"/>
              </a:ext>
            </a:extLst>
          </p:cNvPr>
          <p:cNvCxnSpPr/>
          <p:nvPr userDrawn="1"/>
        </p:nvCxnSpPr>
        <p:spPr>
          <a:xfrm>
            <a:off x="3056456" y="1742381"/>
            <a:ext cx="0" cy="792000"/>
          </a:xfrm>
          <a:prstGeom prst="line">
            <a:avLst/>
          </a:prstGeom>
          <a:ln w="381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07A93BC5-4242-4AEF-86D2-025896BBFF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51256" y="1466837"/>
            <a:ext cx="5524431" cy="1065212"/>
          </a:xfrm>
          <a:prstGeom prst="rect">
            <a:avLst/>
          </a:prstGeom>
        </p:spPr>
        <p:txBody>
          <a:bodyPr lIns="36000" tIns="0" rIns="36000" bIns="0" anchor="b"/>
          <a:lstStyle>
            <a:lvl1pPr marL="0" indent="0">
              <a:lnSpc>
                <a:spcPct val="85000"/>
              </a:lnSpc>
              <a:buNone/>
              <a:defRPr sz="3600" b="1" spc="-1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7F024871-2FC3-48CA-9CA6-981F63452D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51257" y="2571394"/>
            <a:ext cx="5524430" cy="216000"/>
          </a:xfrm>
          <a:prstGeom prst="rect">
            <a:avLst/>
          </a:prstGeom>
          <a:solidFill>
            <a:schemeClr val="bg1"/>
          </a:solidFill>
        </p:spPr>
        <p:txBody>
          <a:bodyPr lIns="36000" tIns="0" rIns="36000" bIns="0" anchor="ctr"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400" b="1" spc="-100" baseline="0">
                <a:solidFill>
                  <a:srgbClr val="1F85A6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909CBA01-1C97-4D7F-AC89-2F7E2CE7AE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51257" y="3149152"/>
            <a:ext cx="5524430" cy="1584325"/>
          </a:xfrm>
          <a:prstGeom prst="rect">
            <a:avLst/>
          </a:prstGeom>
        </p:spPr>
        <p:txBody>
          <a:bodyPr/>
          <a:lstStyle>
            <a:lvl1pPr marL="266700" indent="-266700" algn="just">
              <a:spcBef>
                <a:spcPts val="0"/>
              </a:spcBef>
              <a:buSzPct val="75000"/>
              <a:buFont typeface="Wingdings" panose="05000000000000000000" pitchFamily="2" charset="2"/>
              <a:buChar char="q"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98ED8DBD-5592-4A8D-8BF5-1D169AA4AE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1281" y="1782566"/>
            <a:ext cx="910376" cy="914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5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B086266-9338-4415-8002-5AA0BBD87E06}"/>
              </a:ext>
            </a:extLst>
          </p:cNvPr>
          <p:cNvSpPr txBox="1"/>
          <p:nvPr userDrawn="1"/>
        </p:nvSpPr>
        <p:spPr>
          <a:xfrm>
            <a:off x="2051281" y="1615590"/>
            <a:ext cx="91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>
                <a:solidFill>
                  <a:schemeClr val="bg1"/>
                </a:solidFill>
              </a:rPr>
              <a:t>SESIÓN</a:t>
            </a:r>
          </a:p>
        </p:txBody>
      </p:sp>
    </p:spTree>
    <p:extLst>
      <p:ext uri="{BB962C8B-B14F-4D97-AF65-F5344CB8AC3E}">
        <p14:creationId xmlns:p14="http://schemas.microsoft.com/office/powerpoint/2010/main" val="1840211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65" userDrawn="1">
          <p15:clr>
            <a:srgbClr val="FBAE40"/>
          </p15:clr>
        </p15:guide>
        <p15:guide id="2" pos="197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_Introducc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EFFC524-5204-4B8D-AB52-89B3D97070F1}"/>
              </a:ext>
            </a:extLst>
          </p:cNvPr>
          <p:cNvSpPr/>
          <p:nvPr userDrawn="1"/>
        </p:nvSpPr>
        <p:spPr>
          <a:xfrm>
            <a:off x="503238" y="997483"/>
            <a:ext cx="19458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4114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2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INTRODUCCIÓN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49F8A1D-5EEE-42EF-A95B-31789C550A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3239" y="573356"/>
            <a:ext cx="424127" cy="4241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C946181C-25DC-4BDD-9928-A88184E17B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1670050"/>
            <a:ext cx="8137525" cy="3563938"/>
          </a:xfrm>
          <a:prstGeom prst="rect">
            <a:avLst/>
          </a:prstGeom>
        </p:spPr>
        <p:txBody>
          <a:bodyPr/>
          <a:lstStyle>
            <a:lvl1pPr marL="266700" indent="-26670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Wingdings" panose="05000000000000000000" pitchFamily="2" charset="2"/>
              <a:buChar char="q"/>
              <a:defRPr sz="1600"/>
            </a:lvl1pPr>
            <a:lvl2pPr marL="531813" indent="-265113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Delius" panose="02000603000000000000" pitchFamily="2" charset="0"/>
              <a:buChar char="→"/>
              <a:defRPr sz="1600"/>
            </a:lvl2pPr>
            <a:lvl3pPr marL="717550" indent="-185738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defRPr sz="1600"/>
            </a:lvl4pPr>
            <a:lvl5pPr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defRPr sz="16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  <a:endParaRPr lang="es-P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3211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2" userDrawn="1">
          <p15:clr>
            <a:srgbClr val="FBAE40"/>
          </p15:clr>
        </p15:guide>
        <p15:guide id="2" pos="317" userDrawn="1">
          <p15:clr>
            <a:srgbClr val="FBAE40"/>
          </p15:clr>
        </p15:guide>
        <p15:guide id="3" pos="5443" userDrawn="1">
          <p15:clr>
            <a:srgbClr val="FBAE40"/>
          </p15:clr>
        </p15:guide>
        <p15:guide id="4" orient="horz" pos="329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_Subtema con Imagen Horizontal (blanc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4717FB9E-6DD3-4BBD-A122-85F3673CCA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25" y="2867600"/>
            <a:ext cx="8208000" cy="2394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PE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C29DAAB-CDF4-4B89-8C31-EA10C6E01F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313" y="804863"/>
            <a:ext cx="8208000" cy="354012"/>
          </a:xfrm>
          <a:prstGeom prst="rect">
            <a:avLst/>
          </a:prstGeom>
        </p:spPr>
        <p:txBody>
          <a:bodyPr lIns="72000" tIns="36000" rIns="72000" bIns="36000" anchor="ctr"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600" b="1"/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383EF17E-5C96-4858-ACC0-09751EF7DC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277813"/>
            <a:ext cx="8207375" cy="35401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1800" b="1">
                <a:solidFill>
                  <a:srgbClr val="1F85A6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6AB609E-19B2-43F3-94FB-608EEAC4D4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82025"/>
            <a:ext cx="8207375" cy="1674000"/>
          </a:xfrm>
          <a:prstGeom prst="rect">
            <a:avLst/>
          </a:prstGeom>
        </p:spPr>
        <p:txBody>
          <a:bodyPr/>
          <a:lstStyle>
            <a:lvl1pPr marL="266700" indent="-266700" algn="just">
              <a:spcBef>
                <a:spcPts val="0"/>
              </a:spcBef>
              <a:spcAft>
                <a:spcPts val="800"/>
              </a:spcAft>
              <a:buSzPct val="75000"/>
              <a:buFont typeface="Wingdings" panose="05000000000000000000" pitchFamily="2" charset="2"/>
              <a:buChar char="q"/>
              <a:defRPr sz="1600"/>
            </a:lvl1pPr>
            <a:lvl2pPr marL="531813" indent="-265113" algn="just">
              <a:spcBef>
                <a:spcPts val="0"/>
              </a:spcBef>
              <a:spcAft>
                <a:spcPts val="800"/>
              </a:spcAft>
              <a:buFont typeface="Delius" panose="02000603000000000000" pitchFamily="2" charset="0"/>
              <a:buChar char="→"/>
              <a:defRPr sz="1600"/>
            </a:lvl2pPr>
            <a:lvl3pPr marL="717550" indent="-185738" algn="just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 userDrawn="1">
          <p15:clr>
            <a:srgbClr val="FBAE40"/>
          </p15:clr>
        </p15:guide>
        <p15:guide id="2" pos="5465" userDrawn="1">
          <p15:clr>
            <a:srgbClr val="FBAE40"/>
          </p15:clr>
        </p15:guide>
        <p15:guide id="4" orient="horz" pos="507" userDrawn="1">
          <p15:clr>
            <a:srgbClr val="FBAE40"/>
          </p15:clr>
        </p15:guide>
        <p15:guide id="5" orient="horz" pos="33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_Subtema con Imagen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4717FB9E-6DD3-4BBD-A122-85F3673CCA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95149" y="816438"/>
            <a:ext cx="4086000" cy="4446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PE"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C29DAAB-CDF4-4B89-8C31-EA10C6E01F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313" y="804863"/>
            <a:ext cx="4103687" cy="354012"/>
          </a:xfrm>
          <a:prstGeom prst="rect">
            <a:avLst/>
          </a:prstGeom>
        </p:spPr>
        <p:txBody>
          <a:bodyPr lIns="72000" tIns="36000" rIns="72000" bIns="36000" anchor="ctr"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600" b="1"/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383EF17E-5C96-4858-ACC0-09751EF7DC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277813"/>
            <a:ext cx="8207375" cy="35401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1800" b="1">
                <a:solidFill>
                  <a:srgbClr val="1F85A6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04F222-EEB2-4557-8D4B-D05354FCD8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103687" cy="4111625"/>
          </a:xfrm>
          <a:prstGeom prst="rect">
            <a:avLst/>
          </a:prstGeom>
        </p:spPr>
        <p:txBody>
          <a:bodyPr/>
          <a:lstStyle>
            <a:lvl1pPr marL="266700" indent="-266700" algn="just">
              <a:spcBef>
                <a:spcPts val="0"/>
              </a:spcBef>
              <a:spcAft>
                <a:spcPts val="1200"/>
              </a:spcAft>
              <a:buSzPct val="75000"/>
              <a:buFont typeface="Wingdings" panose="05000000000000000000" pitchFamily="2" charset="2"/>
              <a:buChar char="q"/>
              <a:defRPr sz="1600"/>
            </a:lvl1pPr>
            <a:lvl2pPr marL="531813" indent="-265113" algn="just">
              <a:spcBef>
                <a:spcPts val="0"/>
              </a:spcBef>
              <a:spcAft>
                <a:spcPts val="1200"/>
              </a:spcAft>
              <a:buFont typeface="Delius" panose="02000603000000000000" pitchFamily="2" charset="0"/>
              <a:buChar char="→"/>
              <a:defRPr sz="1600"/>
            </a:lvl2pPr>
            <a:lvl3pPr marL="717550" indent="-185738" algn="just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16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6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941359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 userDrawn="1">
          <p15:clr>
            <a:srgbClr val="FBAE40"/>
          </p15:clr>
        </p15:guide>
        <p15:guide id="2" pos="5465" userDrawn="1">
          <p15:clr>
            <a:srgbClr val="FBAE40"/>
          </p15:clr>
        </p15:guide>
        <p15:guide id="3" orient="horz" pos="1800" userDrawn="1">
          <p15:clr>
            <a:srgbClr val="FBAE40"/>
          </p15:clr>
        </p15:guide>
        <p15:guide id="4" orient="horz" pos="507" userDrawn="1">
          <p15:clr>
            <a:srgbClr val="FBAE40"/>
          </p15:clr>
        </p15:guide>
        <p15:guide id="5" orient="horz" pos="3320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_Subtema con Imagen Horizontal (gri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4717FB9E-6DD3-4BBD-A122-85F3673CCA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25" y="2867600"/>
            <a:ext cx="8208000" cy="2394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PE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C29DAAB-CDF4-4B89-8C31-EA10C6E01F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313" y="804863"/>
            <a:ext cx="5724000" cy="354012"/>
          </a:xfrm>
          <a:prstGeom prst="rect">
            <a:avLst/>
          </a:prstGeom>
        </p:spPr>
        <p:txBody>
          <a:bodyPr lIns="72000" tIns="36000" rIns="72000" bIns="36000" anchor="ctr"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600" b="1"/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383EF17E-5C96-4858-ACC0-09751EF7DC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277813"/>
            <a:ext cx="8207375" cy="35401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1800" b="1">
                <a:solidFill>
                  <a:srgbClr val="1F85A6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6AB609E-19B2-43F3-94FB-608EEAC4D4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82025"/>
            <a:ext cx="8207375" cy="1674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numCol="3"/>
          <a:lstStyle>
            <a:lvl1pPr marL="173038" indent="-173038" algn="l">
              <a:spcBef>
                <a:spcPts val="0"/>
              </a:spcBef>
              <a:spcAft>
                <a:spcPts val="200"/>
              </a:spcAft>
              <a:buSzPct val="75000"/>
              <a:buFont typeface="Wingdings" panose="05000000000000000000" pitchFamily="2" charset="2"/>
              <a:buChar char="§"/>
              <a:defRPr sz="1400"/>
            </a:lvl1pPr>
            <a:lvl2pPr marL="531813" indent="-265113" algn="just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  <a:defRPr sz="1400"/>
            </a:lvl2pPr>
            <a:lvl3pPr marL="717550" indent="-185738" algn="just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  <a:defRPr sz="14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C3FB06-AEFF-9166-C6DD-B8FA2AD578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9838" y="804863"/>
            <a:ext cx="2359025" cy="377825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buNone/>
              <a:defRPr sz="2000" b="1" i="1">
                <a:solidFill>
                  <a:srgbClr val="1F85A6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76242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 userDrawn="1">
          <p15:clr>
            <a:srgbClr val="FBAE40"/>
          </p15:clr>
        </p15:guide>
        <p15:guide id="2" pos="5465" userDrawn="1">
          <p15:clr>
            <a:srgbClr val="FBAE40"/>
          </p15:clr>
        </p15:guide>
        <p15:guide id="4" orient="horz" pos="507" userDrawn="1">
          <p15:clr>
            <a:srgbClr val="FBAE40"/>
          </p15:clr>
        </p15:guide>
        <p15:guide id="5" orient="horz" pos="332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4717FB9E-6DD3-4BBD-A122-85F3673CCA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25" y="804863"/>
            <a:ext cx="8208000" cy="44567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PE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383EF17E-5C96-4858-ACC0-09751EF7DC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277813"/>
            <a:ext cx="8207375" cy="35401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1800" b="1">
                <a:solidFill>
                  <a:srgbClr val="1F85A6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413357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 userDrawn="1">
          <p15:clr>
            <a:srgbClr val="FBAE40"/>
          </p15:clr>
        </p15:guide>
        <p15:guide id="2" pos="5465" userDrawn="1">
          <p15:clr>
            <a:srgbClr val="FBAE40"/>
          </p15:clr>
        </p15:guide>
        <p15:guide id="4" orient="horz" pos="507" userDrawn="1">
          <p15:clr>
            <a:srgbClr val="FBAE40"/>
          </p15:clr>
        </p15:guide>
        <p15:guide id="5" orient="horz" pos="332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_Subtema con Imagen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4717FB9E-6DD3-4BBD-A122-85F3673CCA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8313" y="1193600"/>
            <a:ext cx="8207375" cy="406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PE" dirty="0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383EF17E-5C96-4858-ACC0-09751EF7DC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277813"/>
            <a:ext cx="8207375" cy="35401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1800" b="1">
                <a:solidFill>
                  <a:srgbClr val="1F85A6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A448E1-A688-00A1-4209-9A9B21FA27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313" y="804863"/>
            <a:ext cx="8207375" cy="354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/>
            </a:lvl1pPr>
          </a:lstStyle>
          <a:p>
            <a:pPr lvl="0"/>
            <a:r>
              <a:rPr lang="es-ES" dirty="0"/>
              <a:t>HAGA CLIC PARA MODIFICAR LOS ESTILOS DE TEXTO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03842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FBAE40"/>
          </p15:clr>
        </p15:guide>
        <p15:guide id="2" pos="5465">
          <p15:clr>
            <a:srgbClr val="FBAE40"/>
          </p15:clr>
        </p15:guide>
        <p15:guide id="3" orient="horz" pos="1800">
          <p15:clr>
            <a:srgbClr val="FBAE40"/>
          </p15:clr>
        </p15:guide>
        <p15:guide id="4" orient="horz" pos="507">
          <p15:clr>
            <a:srgbClr val="FBAE40"/>
          </p15:clr>
        </p15:guide>
        <p15:guide id="5" orient="horz" pos="3320">
          <p15:clr>
            <a:srgbClr val="FBAE40"/>
          </p15:clr>
        </p15:guide>
        <p15:guide id="6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_Subtema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BD03D13-5E01-42D6-AEF1-E185D3674B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314" y="3714841"/>
            <a:ext cx="5543549" cy="810087"/>
          </a:xfrm>
          <a:prstGeom prst="rect">
            <a:avLst/>
          </a:prstGeom>
        </p:spPr>
        <p:txBody>
          <a:bodyPr/>
          <a:lstStyle>
            <a:lvl1pPr marL="266700" indent="-266700">
              <a:lnSpc>
                <a:spcPct val="85000"/>
              </a:lnSpc>
              <a:spcBef>
                <a:spcPts val="0"/>
              </a:spcBef>
              <a:buNone/>
              <a:tabLst>
                <a:tab pos="266700" algn="l"/>
              </a:tabLst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 userDrawn="1">
          <p15:clr>
            <a:srgbClr val="FBAE40"/>
          </p15:clr>
        </p15:guide>
        <p15:guide id="2" pos="378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_Bibliografí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7B2E060-20CD-463B-8DA7-F4C44CB2E4F1}"/>
              </a:ext>
            </a:extLst>
          </p:cNvPr>
          <p:cNvSpPr/>
          <p:nvPr userDrawn="1"/>
        </p:nvSpPr>
        <p:spPr>
          <a:xfrm>
            <a:off x="503238" y="997483"/>
            <a:ext cx="19458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4114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2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BIBLIOGRAFÍA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C3DF485-35A0-4880-86B1-159FC8D1B5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3239" y="573356"/>
            <a:ext cx="424127" cy="424127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8F77D6E-1237-49E3-9C45-BC77466A0D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7366" y="1670049"/>
            <a:ext cx="7713398" cy="3527425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10332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_Conclusion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7B2E060-20CD-463B-8DA7-F4C44CB2E4F1}"/>
              </a:ext>
            </a:extLst>
          </p:cNvPr>
          <p:cNvSpPr/>
          <p:nvPr userDrawn="1"/>
        </p:nvSpPr>
        <p:spPr>
          <a:xfrm>
            <a:off x="503238" y="997483"/>
            <a:ext cx="19458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4114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2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CONCLUSIONES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C3DF485-35A0-4880-86B1-159FC8D1B5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3239" y="573356"/>
            <a:ext cx="424127" cy="424127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8F77D6E-1237-49E3-9C45-BC77466A0D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7366" y="1670909"/>
            <a:ext cx="7713398" cy="3526566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798195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14">
            <a:extLst>
              <a:ext uri="{FF2B5EF4-FFF2-40B4-BE49-F238E27FC236}">
                <a16:creationId xmlns:a16="http://schemas.microsoft.com/office/drawing/2014/main" id="{65683288-FF9D-EF85-5303-58FF571EB5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277813"/>
            <a:ext cx="8207375" cy="35401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1800" b="1">
                <a:solidFill>
                  <a:srgbClr val="1F85A6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5F4F4ED8-1EB9-8C4E-58AA-74C396C665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2987" y="804863"/>
            <a:ext cx="8212701" cy="4465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26187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5465" userDrawn="1">
          <p15:clr>
            <a:srgbClr val="FBAE40"/>
          </p15:clr>
        </p15:guide>
        <p15:guide id="4" orient="horz" pos="1800" userDrawn="1">
          <p15:clr>
            <a:srgbClr val="FBAE40"/>
          </p15:clr>
        </p15:guide>
        <p15:guide id="5" orient="horz" pos="3320" userDrawn="1">
          <p15:clr>
            <a:srgbClr val="FBAE40"/>
          </p15:clr>
        </p15:guide>
        <p15:guide id="6" orient="horz" pos="50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/>
          <p:cNvGrpSpPr/>
          <p:nvPr userDrawn="1"/>
        </p:nvGrpSpPr>
        <p:grpSpPr>
          <a:xfrm>
            <a:off x="793745" y="5369051"/>
            <a:ext cx="8104595" cy="215444"/>
            <a:chOff x="793745" y="5369051"/>
            <a:chExt cx="7954689" cy="215444"/>
          </a:xfrm>
        </p:grpSpPr>
        <p:sp>
          <p:nvSpPr>
            <p:cNvPr id="16" name="TextBox 7"/>
            <p:cNvSpPr txBox="1"/>
            <p:nvPr userDrawn="1"/>
          </p:nvSpPr>
          <p:spPr>
            <a:xfrm>
              <a:off x="793745" y="5369051"/>
              <a:ext cx="16051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ANÁLISIS FUNCIONAL 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SESIÓN 10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18" name="Rectangle 3"/>
            <p:cNvSpPr/>
            <p:nvPr userDrawn="1"/>
          </p:nvSpPr>
          <p:spPr>
            <a:xfrm>
              <a:off x="7207627" y="5384440"/>
              <a:ext cx="1540807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2023 ISIL. Todos los derechos reservados</a:t>
              </a:r>
            </a:p>
          </p:txBody>
        </p:sp>
      </p:grp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13">
            <a:alphaModFix amt="20000"/>
          </a:blip>
          <a:stretch>
            <a:fillRect/>
          </a:stretch>
        </p:blipFill>
        <p:spPr>
          <a:xfrm>
            <a:off x="345172" y="5328911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8" r:id="rId2"/>
    <p:sldLayoutId id="2147483656" r:id="rId3"/>
    <p:sldLayoutId id="2147483679" r:id="rId4"/>
    <p:sldLayoutId id="2147483680" r:id="rId5"/>
    <p:sldLayoutId id="2147483692" r:id="rId6"/>
    <p:sldLayoutId id="2147483685" r:id="rId7"/>
    <p:sldLayoutId id="2147483649" r:id="rId8"/>
    <p:sldLayoutId id="2147483669" r:id="rId9"/>
    <p:sldLayoutId id="2147483667" r:id="rId10"/>
    <p:sldLayoutId id="214748369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0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06064E9-134E-4E79-A41F-706155D9AF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PE" dirty="0"/>
              <a:t>AGILIDAD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65D77B8F-E8DB-4946-B4B7-3705AAB257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PE" dirty="0"/>
              <a:t>UNIDAD DE APRENDIZAJE 3 – UA3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FA929147-F09B-4398-9DDF-DF2F7FC0C4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51257" y="3149152"/>
            <a:ext cx="5524430" cy="1868121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s-PE" dirty="0"/>
              <a:t>Mundo VUCA</a:t>
            </a:r>
          </a:p>
          <a:p>
            <a:pPr>
              <a:spcBef>
                <a:spcPts val="0"/>
              </a:spcBef>
            </a:pPr>
            <a:r>
              <a:rPr lang="es-PE" dirty="0"/>
              <a:t>Empresas tradicionales vs. Empresas ágiles</a:t>
            </a:r>
          </a:p>
          <a:p>
            <a:pPr>
              <a:spcBef>
                <a:spcPts val="0"/>
              </a:spcBef>
            </a:pPr>
            <a:r>
              <a:rPr lang="es-PE" dirty="0"/>
              <a:t>Principios y valores ágiles</a:t>
            </a:r>
          </a:p>
          <a:p>
            <a:pPr>
              <a:spcBef>
                <a:spcPts val="0"/>
              </a:spcBef>
            </a:pPr>
            <a:r>
              <a:rPr lang="es-PE" i="1" dirty="0"/>
              <a:t>Mindset</a:t>
            </a:r>
            <a:r>
              <a:rPr lang="es-PE" dirty="0"/>
              <a:t> ágil</a:t>
            </a:r>
          </a:p>
          <a:p>
            <a:pPr>
              <a:spcBef>
                <a:spcPts val="0"/>
              </a:spcBef>
            </a:pPr>
            <a:r>
              <a:rPr lang="es-PE" i="1" dirty="0"/>
              <a:t>Design Thinking</a:t>
            </a:r>
          </a:p>
          <a:p>
            <a:pPr>
              <a:spcBef>
                <a:spcPts val="0"/>
              </a:spcBef>
            </a:pPr>
            <a:r>
              <a:rPr lang="es-PE" i="1" dirty="0"/>
              <a:t>Scrum</a:t>
            </a:r>
          </a:p>
          <a:p>
            <a:pPr>
              <a:spcBef>
                <a:spcPts val="0"/>
              </a:spcBef>
            </a:pPr>
            <a:r>
              <a:rPr lang="es-PE" i="1" dirty="0"/>
              <a:t>Kanban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4E2E57AF-7040-42B2-BA48-4D269F79C4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38867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FEDC59F-E03B-4885-ACAE-C9A1279989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algn="just"/>
            <a:r>
              <a:rPr lang="es-ES" dirty="0"/>
              <a:t>La agilidad es una forma de trabajar que se centra en ser flexible, adaptarse rápidamente y responder a los cambios de manera eficiente. En lugar de seguir planes rígidos y secuenciales, la agilidad promueve la colaboración y la iteración constante.</a:t>
            </a:r>
          </a:p>
          <a:p>
            <a:pPr>
              <a:spcAft>
                <a:spcPts val="600"/>
              </a:spcAft>
            </a:pPr>
            <a:r>
              <a:rPr lang="es-ES" dirty="0"/>
              <a:t>Entonces, durante esta sesión:</a:t>
            </a:r>
          </a:p>
          <a:p>
            <a:pPr lvl="1">
              <a:spcAft>
                <a:spcPts val="600"/>
              </a:spcAft>
            </a:pPr>
            <a:r>
              <a:rPr lang="es-ES" b="1" dirty="0"/>
              <a:t>Conocerás</a:t>
            </a:r>
            <a:r>
              <a:rPr lang="es-ES" dirty="0"/>
              <a:t> a que se le conoce como Mundo VUCA</a:t>
            </a:r>
            <a:r>
              <a:rPr lang="es-PE" dirty="0"/>
              <a:t>.</a:t>
            </a:r>
          </a:p>
          <a:p>
            <a:pPr lvl="1" algn="just">
              <a:spcAft>
                <a:spcPts val="600"/>
              </a:spcAft>
            </a:pPr>
            <a:r>
              <a:rPr lang="es-ES" b="1" dirty="0"/>
              <a:t>Aprenderás</a:t>
            </a:r>
            <a:r>
              <a:rPr lang="es-ES" dirty="0"/>
              <a:t> a diferenciar entre una empresa tradicional y una empresa ágil.</a:t>
            </a:r>
          </a:p>
          <a:p>
            <a:pPr lvl="1" algn="just">
              <a:spcAft>
                <a:spcPts val="600"/>
              </a:spcAft>
            </a:pPr>
            <a:r>
              <a:rPr lang="es-ES" b="1" dirty="0"/>
              <a:t>Conocerás</a:t>
            </a:r>
            <a:r>
              <a:rPr lang="es-ES" dirty="0"/>
              <a:t> cuáles son los principios y los valores ágiles.</a:t>
            </a:r>
          </a:p>
          <a:p>
            <a:pPr lvl="1" algn="just">
              <a:spcAft>
                <a:spcPts val="600"/>
              </a:spcAft>
            </a:pPr>
            <a:r>
              <a:rPr lang="es-ES" b="1" dirty="0"/>
              <a:t>Aprenderás</a:t>
            </a:r>
            <a:r>
              <a:rPr lang="es-ES" dirty="0"/>
              <a:t> el entorno </a:t>
            </a:r>
            <a:r>
              <a:rPr lang="es-ES" i="1" dirty="0"/>
              <a:t>Mindset</a:t>
            </a:r>
            <a:r>
              <a:rPr lang="es-ES" dirty="0"/>
              <a:t> ágil.</a:t>
            </a:r>
          </a:p>
          <a:p>
            <a:pPr lvl="1" algn="just">
              <a:spcAft>
                <a:spcPts val="600"/>
              </a:spcAft>
            </a:pPr>
            <a:r>
              <a:rPr lang="es-ES" b="1" dirty="0"/>
              <a:t>Conocerás</a:t>
            </a:r>
            <a:r>
              <a:rPr lang="es-ES" dirty="0"/>
              <a:t> el modelo </a:t>
            </a:r>
            <a:r>
              <a:rPr lang="es-ES" i="1" dirty="0"/>
              <a:t>Design Thinking.</a:t>
            </a:r>
          </a:p>
          <a:p>
            <a:pPr lvl="1" algn="just">
              <a:spcAft>
                <a:spcPts val="600"/>
              </a:spcAft>
            </a:pPr>
            <a:r>
              <a:rPr lang="es-ES" b="1" dirty="0"/>
              <a:t>Conocerás</a:t>
            </a:r>
            <a:r>
              <a:rPr lang="es-ES" dirty="0"/>
              <a:t> el modelo </a:t>
            </a:r>
            <a:r>
              <a:rPr lang="es-ES" i="1" dirty="0"/>
              <a:t>Scrum.</a:t>
            </a:r>
          </a:p>
          <a:p>
            <a:pPr lvl="1" algn="just">
              <a:spcAft>
                <a:spcPts val="600"/>
              </a:spcAft>
            </a:pPr>
            <a:r>
              <a:rPr lang="es-ES" b="1" dirty="0"/>
              <a:t>Conocerás</a:t>
            </a:r>
            <a:r>
              <a:rPr lang="es-ES" dirty="0"/>
              <a:t> el modelo </a:t>
            </a:r>
            <a:r>
              <a:rPr lang="es-ES" i="1" dirty="0"/>
              <a:t>Kanban</a:t>
            </a:r>
            <a:r>
              <a:rPr lang="es-PE" i="1" dirty="0"/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2154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Enfoque estratégico centrado en la agilidad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AGILIDAD</a:t>
            </a:r>
          </a:p>
        </p:txBody>
      </p:sp>
      <p:pic>
        <p:nvPicPr>
          <p:cNvPr id="5" name="Marcador de posición de imagen 4">
            <a:extLst>
              <a:ext uri="{FF2B5EF4-FFF2-40B4-BE49-F238E27FC236}">
                <a16:creationId xmlns:a16="http://schemas.microsoft.com/office/drawing/2014/main" id="{D87AB36E-FD7D-3535-CFDF-29D38B37AED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368" b="368"/>
          <a:stretch>
            <a:fillRect/>
          </a:stretch>
        </p:blipFill>
        <p:spPr>
          <a:xfrm>
            <a:off x="470825" y="3108960"/>
            <a:ext cx="8208000" cy="2152640"/>
          </a:xfrm>
        </p:spPr>
      </p:pic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192A0349-9565-4745-050D-42D1EB8C9C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687" y="1094560"/>
            <a:ext cx="8207375" cy="190308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ES" dirty="0"/>
              <a:t>Los equipos ágiles se comunican de manera efectiva, comparten ideas y retroalimentación constantemente, lo que les permite ajustar y mejorar continuamente su trabajo.</a:t>
            </a:r>
          </a:p>
          <a:p>
            <a:pPr>
              <a:spcAft>
                <a:spcPts val="600"/>
              </a:spcAft>
            </a:pPr>
            <a:r>
              <a:rPr lang="es-ES" dirty="0"/>
              <a:t>La agilidad también fomenta la toma de decisiones descentralizada, delegando la autoridad a los equipos para que puedan actuar de manera autónoma y tomar decisiones rápidas.</a:t>
            </a:r>
          </a:p>
          <a:p>
            <a:pPr>
              <a:spcAft>
                <a:spcPts val="600"/>
              </a:spcAft>
            </a:pPr>
            <a:r>
              <a:rPr lang="es-ES" dirty="0"/>
              <a:t>El enfoque ágil es ampliamente utilizado en el desarrollo de software y en muchos otros campos, ya que permite a las organizaciones adaptarse a las necesidades cambiantes del mercado y entregar productos de alta calidad de manera más eficiente.</a:t>
            </a:r>
          </a:p>
        </p:txBody>
      </p:sp>
    </p:spTree>
    <p:extLst>
      <p:ext uri="{BB962C8B-B14F-4D97-AF65-F5344CB8AC3E}">
        <p14:creationId xmlns:p14="http://schemas.microsoft.com/office/powerpoint/2010/main" val="77712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4B664F2-7CB4-48B1-9096-E52469E94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4" y="3714842"/>
            <a:ext cx="5543549" cy="388032"/>
          </a:xfrm>
        </p:spPr>
        <p:txBody>
          <a:bodyPr/>
          <a:lstStyle/>
          <a:p>
            <a:pPr marL="274638" indent="-274638">
              <a:tabLst>
                <a:tab pos="274638" algn="l"/>
              </a:tabLst>
            </a:pPr>
            <a:r>
              <a:rPr lang="es-PE" dirty="0"/>
              <a:t>/	MUNDO VUCA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¿Qué es?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MUNDO VUCA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103687" cy="3198440"/>
          </a:xfrm>
        </p:spPr>
        <p:txBody>
          <a:bodyPr/>
          <a:lstStyle/>
          <a:p>
            <a:r>
              <a:rPr lang="es-ES" dirty="0"/>
              <a:t>VUCA es un acrónimo en inglés que significa volátil, incierto, complejo y ambiguo.</a:t>
            </a:r>
          </a:p>
          <a:p>
            <a:r>
              <a:rPr lang="es-ES" dirty="0"/>
              <a:t>Se utiliza para describir la naturaleza actual del entorno empresarial y socioeconómico, caracterizado por cambios rápidos, incertidumbre y falta de claridad.</a:t>
            </a:r>
          </a:p>
          <a:p>
            <a:r>
              <a:rPr lang="es-ES" dirty="0"/>
              <a:t>El entorno VUCA se encuentra presente en infinidad de sectores profesionales, desde la industria hasta la banca y para sobrevivir a él, las empresas han de empezar a trabajar en el presente lo antes posible.</a:t>
            </a:r>
            <a:endParaRPr lang="es-PE" dirty="0"/>
          </a:p>
        </p:txBody>
      </p:sp>
      <p:pic>
        <p:nvPicPr>
          <p:cNvPr id="5" name="Marcador de posición de imagen 4">
            <a:extLst>
              <a:ext uri="{FF2B5EF4-FFF2-40B4-BE49-F238E27FC236}">
                <a16:creationId xmlns:a16="http://schemas.microsoft.com/office/drawing/2014/main" id="{7B182ECC-9F17-C300-D70C-B57FE934FA0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0" r="20"/>
          <a:stretch>
            <a:fillRect/>
          </a:stretch>
        </p:blipFill>
        <p:spPr>
          <a:xfrm>
            <a:off x="5033945" y="838621"/>
            <a:ext cx="3710813" cy="4037757"/>
          </a:xfrm>
        </p:spPr>
      </p:pic>
    </p:spTree>
    <p:extLst>
      <p:ext uri="{BB962C8B-B14F-4D97-AF65-F5344CB8AC3E}">
        <p14:creationId xmlns:p14="http://schemas.microsoft.com/office/powerpoint/2010/main" val="1937417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Volátil (V-</a:t>
            </a:r>
            <a:r>
              <a:rPr lang="es-PE" dirty="0" err="1"/>
              <a:t>Volatility</a:t>
            </a:r>
            <a:r>
              <a:rPr lang="es-PE" i="1" dirty="0"/>
              <a:t>) </a:t>
            </a:r>
            <a:endParaRPr lang="es-PE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MUNDO VUCA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366080" cy="3158683"/>
          </a:xfrm>
        </p:spPr>
        <p:txBody>
          <a:bodyPr/>
          <a:lstStyle/>
          <a:p>
            <a:r>
              <a:rPr lang="es-ES" dirty="0"/>
              <a:t>La volatilidad se refiere a la naturaleza rápida y constante de los cambios en el entorno. </a:t>
            </a:r>
          </a:p>
          <a:p>
            <a:r>
              <a:rPr lang="es-ES" dirty="0"/>
              <a:t>Los cambios pueden ser impredecibles y pueden ocurrir con una velocidad sorprendente.</a:t>
            </a:r>
          </a:p>
          <a:p>
            <a:r>
              <a:rPr lang="es-ES" dirty="0">
                <a:solidFill>
                  <a:srgbClr val="FF0000"/>
                </a:solidFill>
              </a:rPr>
              <a:t>Por ejemplo, </a:t>
            </a:r>
            <a:r>
              <a:rPr lang="es-ES" dirty="0"/>
              <a:t>en el sector tecnológico, la rápida evolución de la inteligencia artificial y el aprendizaje automático ha llevado a cambios significativos en la forma en que las empresas desarrollan y ofrecen productos y servicios.</a:t>
            </a:r>
            <a:endParaRPr lang="es-PE" dirty="0"/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C56EB266-78B9-3F98-4271-8D3172C08F7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0" r="20"/>
          <a:stretch>
            <a:fillRect/>
          </a:stretch>
        </p:blipFill>
        <p:spPr>
          <a:xfrm>
            <a:off x="5149604" y="914400"/>
            <a:ext cx="3762131" cy="4093596"/>
          </a:xfrm>
        </p:spPr>
      </p:pic>
    </p:spTree>
    <p:extLst>
      <p:ext uri="{BB962C8B-B14F-4D97-AF65-F5344CB8AC3E}">
        <p14:creationId xmlns:p14="http://schemas.microsoft.com/office/powerpoint/2010/main" val="357584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Incierto (U-</a:t>
            </a:r>
            <a:r>
              <a:rPr lang="es-PE" dirty="0" err="1"/>
              <a:t>Uncertainty</a:t>
            </a:r>
            <a:r>
              <a:rPr lang="es-PE" dirty="0"/>
              <a:t>) 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MUNDO VUCA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103687" cy="3206391"/>
          </a:xfrm>
        </p:spPr>
        <p:txBody>
          <a:bodyPr/>
          <a:lstStyle/>
          <a:p>
            <a:r>
              <a:rPr lang="es-ES" dirty="0"/>
              <a:t>La incertidumbre implica la falta de predictibilidad y la dificultad para anticipar los resultados o eventos futuros. </a:t>
            </a:r>
          </a:p>
          <a:p>
            <a:r>
              <a:rPr lang="es-ES" dirty="0"/>
              <a:t>Pueden existir múltiples escenarios posibles y los resultados pueden ser ambiguos.</a:t>
            </a:r>
          </a:p>
          <a:p>
            <a:r>
              <a:rPr lang="es-ES" dirty="0">
                <a:solidFill>
                  <a:srgbClr val="FF0000"/>
                </a:solidFill>
              </a:rPr>
              <a:t>Un ejemplo de incertidumbre </a:t>
            </a:r>
            <a:r>
              <a:rPr lang="es-ES" dirty="0"/>
              <a:t>es el mercado financiero, donde las fluctuaciones impredecibles de los precios de las acciones y las monedas pueden tener un impacto significativo en las inversiones y las decisiones empresariales.</a:t>
            </a:r>
            <a:endParaRPr lang="es-PE" dirty="0"/>
          </a:p>
        </p:txBody>
      </p:sp>
      <p:pic>
        <p:nvPicPr>
          <p:cNvPr id="8" name="Marcador de posición de imagen 7">
            <a:extLst>
              <a:ext uri="{FF2B5EF4-FFF2-40B4-BE49-F238E27FC236}">
                <a16:creationId xmlns:a16="http://schemas.microsoft.com/office/drawing/2014/main" id="{A0EEBC9C-BA18-8BBF-B889-802362083EE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49" r="349"/>
          <a:stretch>
            <a:fillRect/>
          </a:stretch>
        </p:blipFill>
        <p:spPr>
          <a:xfrm>
            <a:off x="5045403" y="914069"/>
            <a:ext cx="3572136" cy="3886862"/>
          </a:xfrm>
        </p:spPr>
      </p:pic>
    </p:spTree>
    <p:extLst>
      <p:ext uri="{BB962C8B-B14F-4D97-AF65-F5344CB8AC3E}">
        <p14:creationId xmlns:p14="http://schemas.microsoft.com/office/powerpoint/2010/main" val="2953192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Complejo (C-</a:t>
            </a:r>
            <a:r>
              <a:rPr lang="es-PE" dirty="0" err="1"/>
              <a:t>Complexity</a:t>
            </a:r>
            <a:r>
              <a:rPr lang="es-PE" i="1" dirty="0"/>
              <a:t>)</a:t>
            </a:r>
            <a:r>
              <a:rPr lang="es-PE" dirty="0"/>
              <a:t> 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MUNDO VUCA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381983" cy="3476735"/>
          </a:xfrm>
        </p:spPr>
        <p:txBody>
          <a:bodyPr/>
          <a:lstStyle/>
          <a:p>
            <a:r>
              <a:rPr lang="es-ES" dirty="0"/>
              <a:t>La complejidad se refiere a la interconexión de múltiples factores y variables que pueden influir en un sistema o situación. </a:t>
            </a:r>
          </a:p>
          <a:p>
            <a:r>
              <a:rPr lang="es-ES" dirty="0"/>
              <a:t>Los problemas complejos suelen tener múltiples causas y efectos, y pueden requerir soluciones adaptativas. </a:t>
            </a:r>
          </a:p>
          <a:p>
            <a:r>
              <a:rPr lang="es-ES" dirty="0">
                <a:solidFill>
                  <a:srgbClr val="FF0000"/>
                </a:solidFill>
              </a:rPr>
              <a:t>Un ejemplo de complejidad </a:t>
            </a:r>
            <a:r>
              <a:rPr lang="es-ES" dirty="0"/>
              <a:t>es el desarrollo de políticas gubernamentales. Las políticas deben abordar diversas perspectivas, considerar múltiples factores sociales, económicos y ambientales, y equilibrar diferentes intereses y necesidades.</a:t>
            </a:r>
            <a:endParaRPr lang="es-PE" dirty="0"/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709C0729-ECA2-E478-292D-4CF46F9EAC7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25" r="225"/>
          <a:stretch>
            <a:fillRect/>
          </a:stretch>
        </p:blipFill>
        <p:spPr>
          <a:xfrm>
            <a:off x="5121496" y="923832"/>
            <a:ext cx="3554191" cy="3867336"/>
          </a:xfrm>
        </p:spPr>
      </p:pic>
    </p:spTree>
    <p:extLst>
      <p:ext uri="{BB962C8B-B14F-4D97-AF65-F5344CB8AC3E}">
        <p14:creationId xmlns:p14="http://schemas.microsoft.com/office/powerpoint/2010/main" val="1755685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Ambiguo (A-</a:t>
            </a:r>
            <a:r>
              <a:rPr lang="es-PE" dirty="0" err="1"/>
              <a:t>Ambiguity</a:t>
            </a:r>
            <a:r>
              <a:rPr lang="es-PE" i="1" dirty="0"/>
              <a:t>) </a:t>
            </a:r>
            <a:endParaRPr lang="es-PE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MUNDO VUCA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453544" cy="2848582"/>
          </a:xfrm>
        </p:spPr>
        <p:txBody>
          <a:bodyPr/>
          <a:lstStyle/>
          <a:p>
            <a:r>
              <a:rPr lang="es-ES" dirty="0"/>
              <a:t>La ambigüedad se refiere a la falta de claridad o la interpretación múltiple de la información disponible. Puede ser difícil obtener una comprensión precisa de una situación o evento debido a la falta de datos o a la interpretación subjetiva. </a:t>
            </a:r>
          </a:p>
          <a:p>
            <a:r>
              <a:rPr lang="es-ES" dirty="0">
                <a:solidFill>
                  <a:srgbClr val="FF0000"/>
                </a:solidFill>
              </a:rPr>
              <a:t>Por ejemplo, </a:t>
            </a:r>
            <a:r>
              <a:rPr lang="es-ES" dirty="0"/>
              <a:t>en el campo del análisis de datos, la interpretación de los resultados puede ser ambigua y requerir un análisis más profundo para obtener conclusiones claras y significativas.</a:t>
            </a:r>
            <a:endParaRPr lang="es-PE" dirty="0"/>
          </a:p>
        </p:txBody>
      </p:sp>
      <p:pic>
        <p:nvPicPr>
          <p:cNvPr id="8" name="Marcador de posición de imagen 7">
            <a:extLst>
              <a:ext uri="{FF2B5EF4-FFF2-40B4-BE49-F238E27FC236}">
                <a16:creationId xmlns:a16="http://schemas.microsoft.com/office/drawing/2014/main" id="{6AF88841-369C-0ABE-EE0D-99C4C456773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>
          <a:xfrm>
            <a:off x="5180758" y="890546"/>
            <a:ext cx="3477241" cy="3783606"/>
          </a:xfrm>
        </p:spPr>
      </p:pic>
    </p:spTree>
    <p:extLst>
      <p:ext uri="{BB962C8B-B14F-4D97-AF65-F5344CB8AC3E}">
        <p14:creationId xmlns:p14="http://schemas.microsoft.com/office/powerpoint/2010/main" val="350669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La agilidad es la respuesta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MUNDO VUCA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533057" cy="3945862"/>
          </a:xfrm>
        </p:spPr>
        <p:txBody>
          <a:bodyPr/>
          <a:lstStyle/>
          <a:p>
            <a:r>
              <a:rPr lang="es-ES" dirty="0"/>
              <a:t>Las organizaciones que operan en un entorno VUCA pueden enfrentar dificultades para planificar a largo plazo debido a la volatilidad e incertidumbre, por lo que necesitan estar preparadas para ajustar y pivotar rápidamente en respuesta a los cambios.</a:t>
            </a:r>
          </a:p>
          <a:p>
            <a:r>
              <a:rPr lang="es-ES" dirty="0"/>
              <a:t>Aquí es donde la agilidad juega un papel crucial, permitiendo a las organizaciones responder de manera ágil a los desafíos y aprovechar las oportunidades emergentes.</a:t>
            </a:r>
          </a:p>
          <a:p>
            <a:r>
              <a:rPr lang="es-ES" dirty="0">
                <a:solidFill>
                  <a:srgbClr val="FF0000"/>
                </a:solidFill>
              </a:rPr>
              <a:t>Por ejemplo, </a:t>
            </a:r>
            <a:r>
              <a:rPr lang="es-ES" dirty="0"/>
              <a:t>en la industria del software, las empresas ágiles utilizan metodologías como </a:t>
            </a:r>
            <a:r>
              <a:rPr lang="es-ES" i="1" dirty="0"/>
              <a:t>Scrum</a:t>
            </a:r>
            <a:r>
              <a:rPr lang="es-ES" dirty="0"/>
              <a:t> o </a:t>
            </a:r>
            <a:r>
              <a:rPr lang="es-ES" i="1" dirty="0"/>
              <a:t>Kanban</a:t>
            </a:r>
            <a:r>
              <a:rPr lang="es-ES" dirty="0"/>
              <a:t> para gestionar proyectos de desarrollo de software.</a:t>
            </a:r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4C303A92-EFDB-0736-BD1A-26DA0EDB915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>
          <a:xfrm>
            <a:off x="5224006" y="1158875"/>
            <a:ext cx="3569165" cy="3883629"/>
          </a:xfrm>
        </p:spPr>
      </p:pic>
    </p:spTree>
    <p:extLst>
      <p:ext uri="{BB962C8B-B14F-4D97-AF65-F5344CB8AC3E}">
        <p14:creationId xmlns:p14="http://schemas.microsoft.com/office/powerpoint/2010/main" val="30797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El analista funcional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MUNDO VUCA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485350" cy="2840631"/>
          </a:xfrm>
        </p:spPr>
        <p:txBody>
          <a:bodyPr/>
          <a:lstStyle/>
          <a:p>
            <a:r>
              <a:rPr lang="es-ES" dirty="0"/>
              <a:t>Un analista funcional en un entorno VUCA debe ser flexible, adaptable, estratégico, orientado al cliente, colaborativo y dispuesto a aprender continuamente.</a:t>
            </a:r>
          </a:p>
          <a:p>
            <a:r>
              <a:rPr lang="es-ES" dirty="0"/>
              <a:t>Al asumir esta actitud y enfoque, el analista funcional estará mejor preparado para abordar los desafíos y lograr los objetivos en sus iniciativas y proyectos en un entorno empresarial volátil, incierto, complejo y ambiguo.</a:t>
            </a:r>
          </a:p>
        </p:txBody>
      </p:sp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6E4E5EEF-20E4-B879-A268-C976B99BCCB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25" r="225"/>
          <a:stretch>
            <a:fillRect/>
          </a:stretch>
        </p:blipFill>
        <p:spPr>
          <a:xfrm>
            <a:off x="5161226" y="981869"/>
            <a:ext cx="3623289" cy="3942521"/>
          </a:xfrm>
        </p:spPr>
      </p:pic>
    </p:spTree>
    <p:extLst>
      <p:ext uri="{BB962C8B-B14F-4D97-AF65-F5344CB8AC3E}">
        <p14:creationId xmlns:p14="http://schemas.microsoft.com/office/powerpoint/2010/main" val="4231404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4B664F2-7CB4-48B1-9096-E52469E94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74638" indent="-274638">
              <a:tabLst>
                <a:tab pos="274638" algn="l"/>
              </a:tabLst>
            </a:pPr>
            <a:r>
              <a:rPr lang="es-PE" dirty="0"/>
              <a:t>/	EMPRESAS TRADICIONALES vs. EMPRESAS ÁGILES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7820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posición de imagen 2">
            <a:extLst>
              <a:ext uri="{FF2B5EF4-FFF2-40B4-BE49-F238E27FC236}">
                <a16:creationId xmlns:a16="http://schemas.microsoft.com/office/drawing/2014/main" id="{3B9E4453-61BB-A57F-BD93-40E960A984C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0" r="20"/>
          <a:stretch>
            <a:fillRect/>
          </a:stretch>
        </p:blipFill>
        <p:spPr/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Estructura organizativa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EMPRESAS TRADICIONALES vs. EMPRESAS ÁGILES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17E5B039-3F0A-47DF-8F82-8316881F5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325723"/>
              </p:ext>
            </p:extLst>
          </p:nvPr>
        </p:nvGraphicFramePr>
        <p:xfrm>
          <a:off x="462851" y="1158875"/>
          <a:ext cx="4132298" cy="4111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4491">
                  <a:extLst>
                    <a:ext uri="{9D8B030D-6E8A-4147-A177-3AD203B41FA5}">
                      <a16:colId xmlns:a16="http://schemas.microsoft.com/office/drawing/2014/main" val="3343366310"/>
                    </a:ext>
                  </a:extLst>
                </a:gridCol>
                <a:gridCol w="3467807">
                  <a:extLst>
                    <a:ext uri="{9D8B030D-6E8A-4147-A177-3AD203B41FA5}">
                      <a16:colId xmlns:a16="http://schemas.microsoft.com/office/drawing/2014/main" val="394750272"/>
                    </a:ext>
                  </a:extLst>
                </a:gridCol>
              </a:tblGrid>
              <a:tr h="2055813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chemeClr val="bg1"/>
                          </a:solidFill>
                        </a:rPr>
                        <a:t>TRADICIONAL</a:t>
                      </a:r>
                    </a:p>
                  </a:txBody>
                  <a:tcPr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Jerárquica, con una estructura de mando rígida y departamentos funcionales claramente definidos.</a:t>
                      </a:r>
                      <a:endParaRPr lang="es-P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986456"/>
                  </a:ext>
                </a:extLst>
              </a:tr>
              <a:tr h="2055813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chemeClr val="bg1"/>
                          </a:solidFill>
                        </a:rPr>
                        <a:t>ÁGIL</a:t>
                      </a:r>
                    </a:p>
                  </a:txBody>
                  <a:tcPr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Plana, con equipos multidisciplinarios y autónomos que colaboran de manera transversal.</a:t>
                      </a:r>
                      <a:endParaRPr lang="es-P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1FF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666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81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posición de imagen 2">
            <a:extLst>
              <a:ext uri="{FF2B5EF4-FFF2-40B4-BE49-F238E27FC236}">
                <a16:creationId xmlns:a16="http://schemas.microsoft.com/office/drawing/2014/main" id="{BEF1796E-B71F-5B3F-B7B7-31B27254706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455" r="455"/>
          <a:stretch>
            <a:fillRect/>
          </a:stretch>
        </p:blipFill>
        <p:spPr/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Toma de decisiones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EMPRESAS TRADICIONALES vs. EMPRESAS ÁGILES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17E5B039-3F0A-47DF-8F82-8316881F5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260430"/>
              </p:ext>
            </p:extLst>
          </p:nvPr>
        </p:nvGraphicFramePr>
        <p:xfrm>
          <a:off x="462851" y="1158875"/>
          <a:ext cx="4132298" cy="4111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4491">
                  <a:extLst>
                    <a:ext uri="{9D8B030D-6E8A-4147-A177-3AD203B41FA5}">
                      <a16:colId xmlns:a16="http://schemas.microsoft.com/office/drawing/2014/main" val="3343366310"/>
                    </a:ext>
                  </a:extLst>
                </a:gridCol>
                <a:gridCol w="3467807">
                  <a:extLst>
                    <a:ext uri="{9D8B030D-6E8A-4147-A177-3AD203B41FA5}">
                      <a16:colId xmlns:a16="http://schemas.microsoft.com/office/drawing/2014/main" val="394750272"/>
                    </a:ext>
                  </a:extLst>
                </a:gridCol>
              </a:tblGrid>
              <a:tr h="2055813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chemeClr val="bg1"/>
                          </a:solidFill>
                        </a:rPr>
                        <a:t>TRADICIONAL</a:t>
                      </a:r>
                    </a:p>
                  </a:txBody>
                  <a:tcPr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Centralizada, con decisiones tomadas por niveles superiores de la jerarquía.</a:t>
                      </a:r>
                      <a:endParaRPr lang="es-P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986456"/>
                  </a:ext>
                </a:extLst>
              </a:tr>
              <a:tr h="2055813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chemeClr val="bg1"/>
                          </a:solidFill>
                        </a:rPr>
                        <a:t>ÁGIL</a:t>
                      </a:r>
                    </a:p>
                  </a:txBody>
                  <a:tcPr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Descentralizada, se fomenta la toma de decisiones en el nivel más cercano a la acción, en los equipos.</a:t>
                      </a:r>
                      <a:endParaRPr lang="es-P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1FF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666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8901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posición de imagen 2">
            <a:extLst>
              <a:ext uri="{FF2B5EF4-FFF2-40B4-BE49-F238E27FC236}">
                <a16:creationId xmlns:a16="http://schemas.microsoft.com/office/drawing/2014/main" id="{DC882539-4172-6390-ABEF-42A669260D6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15" b="115"/>
          <a:stretch>
            <a:fillRect/>
          </a:stretch>
        </p:blipFill>
        <p:spPr/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Planificación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EMPRESAS TRADICIONALES vs. EMPRESAS ÁGILES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17E5B039-3F0A-47DF-8F82-8316881F5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690715"/>
              </p:ext>
            </p:extLst>
          </p:nvPr>
        </p:nvGraphicFramePr>
        <p:xfrm>
          <a:off x="462851" y="1158875"/>
          <a:ext cx="4132298" cy="4111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4491">
                  <a:extLst>
                    <a:ext uri="{9D8B030D-6E8A-4147-A177-3AD203B41FA5}">
                      <a16:colId xmlns:a16="http://schemas.microsoft.com/office/drawing/2014/main" val="3343366310"/>
                    </a:ext>
                  </a:extLst>
                </a:gridCol>
                <a:gridCol w="3467807">
                  <a:extLst>
                    <a:ext uri="{9D8B030D-6E8A-4147-A177-3AD203B41FA5}">
                      <a16:colId xmlns:a16="http://schemas.microsoft.com/office/drawing/2014/main" val="394750272"/>
                    </a:ext>
                  </a:extLst>
                </a:gridCol>
              </a:tblGrid>
              <a:tr h="2055813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chemeClr val="bg1"/>
                          </a:solidFill>
                        </a:rPr>
                        <a:t>TRADICIONAL</a:t>
                      </a:r>
                    </a:p>
                  </a:txBody>
                  <a:tcPr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Planificación a largo plazo y seguimiento de planes predefinidos.</a:t>
                      </a:r>
                      <a:endParaRPr lang="es-P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986456"/>
                  </a:ext>
                </a:extLst>
              </a:tr>
              <a:tr h="2055813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chemeClr val="bg1"/>
                          </a:solidFill>
                        </a:rPr>
                        <a:t>ÁGIL</a:t>
                      </a:r>
                    </a:p>
                  </a:txBody>
                  <a:tcPr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Planificación flexible y adaptativa, se ajusta rápidamente según las necesidades y cambios del entorno.</a:t>
                      </a:r>
                      <a:endParaRPr lang="es-P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1FF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666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546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Enfoque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EMPRESAS TRADICIONALES vs. EMPRESAS ÁGILES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17E5B039-3F0A-47DF-8F82-8316881F5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139549"/>
              </p:ext>
            </p:extLst>
          </p:nvPr>
        </p:nvGraphicFramePr>
        <p:xfrm>
          <a:off x="462851" y="1158875"/>
          <a:ext cx="4132298" cy="4111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4491">
                  <a:extLst>
                    <a:ext uri="{9D8B030D-6E8A-4147-A177-3AD203B41FA5}">
                      <a16:colId xmlns:a16="http://schemas.microsoft.com/office/drawing/2014/main" val="3343366310"/>
                    </a:ext>
                  </a:extLst>
                </a:gridCol>
                <a:gridCol w="3467807">
                  <a:extLst>
                    <a:ext uri="{9D8B030D-6E8A-4147-A177-3AD203B41FA5}">
                      <a16:colId xmlns:a16="http://schemas.microsoft.com/office/drawing/2014/main" val="394750272"/>
                    </a:ext>
                  </a:extLst>
                </a:gridCol>
              </a:tblGrid>
              <a:tr h="2055813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chemeClr val="bg1"/>
                          </a:solidFill>
                        </a:rPr>
                        <a:t>TRADICIONAL</a:t>
                      </a:r>
                    </a:p>
                  </a:txBody>
                  <a:tcPr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Orientación hacia la eficiencia y el cumplimiento de procesos establecidos.</a:t>
                      </a:r>
                      <a:endParaRPr lang="es-P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986456"/>
                  </a:ext>
                </a:extLst>
              </a:tr>
              <a:tr h="2055813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chemeClr val="bg1"/>
                          </a:solidFill>
                        </a:rPr>
                        <a:t>ÁGIL</a:t>
                      </a:r>
                    </a:p>
                  </a:txBody>
                  <a:tcPr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Orientación hacia la innovación, la colaboración y la respuesta rápida a los cambios del mercado.</a:t>
                      </a:r>
                      <a:endParaRPr lang="es-P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1FF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666833"/>
                  </a:ext>
                </a:extLst>
              </a:tr>
            </a:tbl>
          </a:graphicData>
        </a:graphic>
      </p:graphicFrame>
      <p:pic>
        <p:nvPicPr>
          <p:cNvPr id="15" name="Marcador de posición de imagen 14">
            <a:extLst>
              <a:ext uri="{FF2B5EF4-FFF2-40B4-BE49-F238E27FC236}">
                <a16:creationId xmlns:a16="http://schemas.microsoft.com/office/drawing/2014/main" id="{1F067512-870E-B1AF-691A-55AA3FB6721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27842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posición de imagen 2">
            <a:extLst>
              <a:ext uri="{FF2B5EF4-FFF2-40B4-BE49-F238E27FC236}">
                <a16:creationId xmlns:a16="http://schemas.microsoft.com/office/drawing/2014/main" id="{CD8635D3-9B21-B53E-B8B7-F92AFEEFB3B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/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Comunicación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EMPRESAS TRADICIONALES vs. EMPRESAS ÁGILES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17E5B039-3F0A-47DF-8F82-8316881F5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297649"/>
              </p:ext>
            </p:extLst>
          </p:nvPr>
        </p:nvGraphicFramePr>
        <p:xfrm>
          <a:off x="462851" y="1158875"/>
          <a:ext cx="4132298" cy="4111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4491">
                  <a:extLst>
                    <a:ext uri="{9D8B030D-6E8A-4147-A177-3AD203B41FA5}">
                      <a16:colId xmlns:a16="http://schemas.microsoft.com/office/drawing/2014/main" val="3343366310"/>
                    </a:ext>
                  </a:extLst>
                </a:gridCol>
                <a:gridCol w="3467807">
                  <a:extLst>
                    <a:ext uri="{9D8B030D-6E8A-4147-A177-3AD203B41FA5}">
                      <a16:colId xmlns:a16="http://schemas.microsoft.com/office/drawing/2014/main" val="394750272"/>
                    </a:ext>
                  </a:extLst>
                </a:gridCol>
              </a:tblGrid>
              <a:tr h="2055813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chemeClr val="bg1"/>
                          </a:solidFill>
                        </a:rPr>
                        <a:t>TRADICIONAL</a:t>
                      </a:r>
                    </a:p>
                  </a:txBody>
                  <a:tcPr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Comunicación vertical y formal a través de canales predefinidos.</a:t>
                      </a:r>
                      <a:endParaRPr lang="es-P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986456"/>
                  </a:ext>
                </a:extLst>
              </a:tr>
              <a:tr h="2055813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chemeClr val="bg1"/>
                          </a:solidFill>
                        </a:rPr>
                        <a:t>ÁGIL</a:t>
                      </a:r>
                    </a:p>
                  </a:txBody>
                  <a:tcPr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Comunicación horizontal, abierta y fluida, se fomenta la colaboración y el intercambio constante de ideas.</a:t>
                      </a:r>
                      <a:endParaRPr lang="es-P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1FF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666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97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Gestión del riesgo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EMPRESAS TRADICIONALES vs. EMPRESAS ÁGILES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17E5B039-3F0A-47DF-8F82-8316881F5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439817"/>
              </p:ext>
            </p:extLst>
          </p:nvPr>
        </p:nvGraphicFramePr>
        <p:xfrm>
          <a:off x="462851" y="1158875"/>
          <a:ext cx="4132298" cy="4111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4491">
                  <a:extLst>
                    <a:ext uri="{9D8B030D-6E8A-4147-A177-3AD203B41FA5}">
                      <a16:colId xmlns:a16="http://schemas.microsoft.com/office/drawing/2014/main" val="3343366310"/>
                    </a:ext>
                  </a:extLst>
                </a:gridCol>
                <a:gridCol w="3467807">
                  <a:extLst>
                    <a:ext uri="{9D8B030D-6E8A-4147-A177-3AD203B41FA5}">
                      <a16:colId xmlns:a16="http://schemas.microsoft.com/office/drawing/2014/main" val="394750272"/>
                    </a:ext>
                  </a:extLst>
                </a:gridCol>
              </a:tblGrid>
              <a:tr h="2055813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chemeClr val="bg1"/>
                          </a:solidFill>
                        </a:rPr>
                        <a:t>TRADICIONAL</a:t>
                      </a:r>
                    </a:p>
                  </a:txBody>
                  <a:tcPr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Enfoque en la minimización de riesgos y evitación del cambio.</a:t>
                      </a:r>
                      <a:endParaRPr lang="es-P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986456"/>
                  </a:ext>
                </a:extLst>
              </a:tr>
              <a:tr h="2055813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chemeClr val="bg1"/>
                          </a:solidFill>
                        </a:rPr>
                        <a:t>ÁGIL</a:t>
                      </a:r>
                    </a:p>
                  </a:txBody>
                  <a:tcPr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Enfoque en la gestión proactiva de riesgos, asumiendo que el cambio es inevitable y buscando oportunidades en él.</a:t>
                      </a:r>
                      <a:endParaRPr lang="es-P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1FF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666833"/>
                  </a:ext>
                </a:extLst>
              </a:tr>
            </a:tbl>
          </a:graphicData>
        </a:graphic>
      </p:graphicFrame>
      <p:pic>
        <p:nvPicPr>
          <p:cNvPr id="10" name="Marcador de posición de imagen 9">
            <a:extLst>
              <a:ext uri="{FF2B5EF4-FFF2-40B4-BE49-F238E27FC236}">
                <a16:creationId xmlns:a16="http://schemas.microsoft.com/office/drawing/2014/main" id="{D455ACA9-708F-B01E-DFF3-C350EE64B16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7115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posición de imagen 2">
            <a:extLst>
              <a:ext uri="{FF2B5EF4-FFF2-40B4-BE49-F238E27FC236}">
                <a16:creationId xmlns:a16="http://schemas.microsoft.com/office/drawing/2014/main" id="{240F401A-2A23-DE26-8C20-E36C66B6A37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27" r="127"/>
          <a:stretch>
            <a:fillRect/>
          </a:stretch>
        </p:blipFill>
        <p:spPr/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Cultura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EMPRESAS TRADICIONALES vs. EMPRESAS ÁGILES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17E5B039-3F0A-47DF-8F82-8316881F5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76782"/>
              </p:ext>
            </p:extLst>
          </p:nvPr>
        </p:nvGraphicFramePr>
        <p:xfrm>
          <a:off x="462851" y="1158875"/>
          <a:ext cx="4132298" cy="4111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4491">
                  <a:extLst>
                    <a:ext uri="{9D8B030D-6E8A-4147-A177-3AD203B41FA5}">
                      <a16:colId xmlns:a16="http://schemas.microsoft.com/office/drawing/2014/main" val="3343366310"/>
                    </a:ext>
                  </a:extLst>
                </a:gridCol>
                <a:gridCol w="3467807">
                  <a:extLst>
                    <a:ext uri="{9D8B030D-6E8A-4147-A177-3AD203B41FA5}">
                      <a16:colId xmlns:a16="http://schemas.microsoft.com/office/drawing/2014/main" val="394750272"/>
                    </a:ext>
                  </a:extLst>
                </a:gridCol>
              </a:tblGrid>
              <a:tr h="2055813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chemeClr val="bg1"/>
                          </a:solidFill>
                        </a:rPr>
                        <a:t>TRADICIONAL</a:t>
                      </a:r>
                    </a:p>
                  </a:txBody>
                  <a:tcPr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Cultura más jerárquica y basada en la estabilidad y el control.</a:t>
                      </a:r>
                      <a:endParaRPr lang="es-P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986456"/>
                  </a:ext>
                </a:extLst>
              </a:tr>
              <a:tr h="2055813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chemeClr val="bg1"/>
                          </a:solidFill>
                        </a:rPr>
                        <a:t>ÁGIL</a:t>
                      </a:r>
                    </a:p>
                  </a:txBody>
                  <a:tcPr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Cultura de aprendizaje, adaptabilidad y experimentación, se fomenta la toma de riesgos y la mejora continua.</a:t>
                      </a:r>
                      <a:endParaRPr lang="es-P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1FF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666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3093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posición de imagen 2">
            <a:extLst>
              <a:ext uri="{FF2B5EF4-FFF2-40B4-BE49-F238E27FC236}">
                <a16:creationId xmlns:a16="http://schemas.microsoft.com/office/drawing/2014/main" id="{C8F0EA8C-0F57-B249-E1C2-2DF9F63598B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40" r="340"/>
          <a:stretch>
            <a:fillRect/>
          </a:stretch>
        </p:blipFill>
        <p:spPr/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Resultados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EMPRESAS TRADICIONALES vs. EMPRESAS ÁGILES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17E5B039-3F0A-47DF-8F82-8316881F5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431295"/>
              </p:ext>
            </p:extLst>
          </p:nvPr>
        </p:nvGraphicFramePr>
        <p:xfrm>
          <a:off x="462851" y="1158875"/>
          <a:ext cx="4132298" cy="4111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4491">
                  <a:extLst>
                    <a:ext uri="{9D8B030D-6E8A-4147-A177-3AD203B41FA5}">
                      <a16:colId xmlns:a16="http://schemas.microsoft.com/office/drawing/2014/main" val="3343366310"/>
                    </a:ext>
                  </a:extLst>
                </a:gridCol>
                <a:gridCol w="3467807">
                  <a:extLst>
                    <a:ext uri="{9D8B030D-6E8A-4147-A177-3AD203B41FA5}">
                      <a16:colId xmlns:a16="http://schemas.microsoft.com/office/drawing/2014/main" val="394750272"/>
                    </a:ext>
                  </a:extLst>
                </a:gridCol>
              </a:tblGrid>
              <a:tr h="2055813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chemeClr val="bg1"/>
                          </a:solidFill>
                        </a:rPr>
                        <a:t>TRADICIONAL</a:t>
                      </a:r>
                    </a:p>
                  </a:txBody>
                  <a:tcPr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Énfasis en la ejecución y los resultados predefinidos.</a:t>
                      </a:r>
                      <a:endParaRPr lang="es-P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986456"/>
                  </a:ext>
                </a:extLst>
              </a:tr>
              <a:tr h="2055813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chemeClr val="bg1"/>
                          </a:solidFill>
                        </a:rPr>
                        <a:t>ÁGIL</a:t>
                      </a:r>
                    </a:p>
                  </a:txBody>
                  <a:tcPr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Énfasis en la entrega de valor y la satisfacción del cliente, ajustándose a sus necesidades cambiantes.</a:t>
                      </a:r>
                      <a:endParaRPr lang="es-PE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1FF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666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0216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4B664F2-7CB4-48B1-9096-E52469E94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4" y="3714841"/>
            <a:ext cx="5543549" cy="419837"/>
          </a:xfrm>
        </p:spPr>
        <p:txBody>
          <a:bodyPr/>
          <a:lstStyle/>
          <a:p>
            <a:pPr marL="274638" indent="-274638">
              <a:tabLst>
                <a:tab pos="274638" algn="l"/>
              </a:tabLst>
            </a:pPr>
            <a:r>
              <a:rPr lang="es-PE" dirty="0"/>
              <a:t>/	PRINCIPIOS Y VALORES ÁGILES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211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posición de imagen 2">
            <a:extLst>
              <a:ext uri="{FF2B5EF4-FFF2-40B4-BE49-F238E27FC236}">
                <a16:creationId xmlns:a16="http://schemas.microsoft.com/office/drawing/2014/main" id="{00671206-C7B9-8463-73D8-06A0FE6DC18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>
          <a:xfrm>
            <a:off x="5007318" y="962108"/>
            <a:ext cx="3952125" cy="4300330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El manifiesto ágil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PRINCIPIOS Y VALORES ÁGILES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5400F7-2A3E-4385-904F-C8CC0F85DE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421739" cy="3095073"/>
          </a:xfrm>
        </p:spPr>
        <p:txBody>
          <a:bodyPr/>
          <a:lstStyle/>
          <a:p>
            <a:r>
              <a:rPr lang="es-ES" dirty="0"/>
              <a:t>Es una declaración de valores y principios sobre nuevas formas de desarrollar software que surgió en 2001, como reacción a los tradicionales métodos formales con los que se trabajaba entonces en la industria.</a:t>
            </a:r>
          </a:p>
          <a:p>
            <a:r>
              <a:rPr lang="es-ES" dirty="0"/>
              <a:t>Lo que buscaban los creadores del manifiesto era juntar en un único documento las mejores prácticas y recomendaciones que permitieran desarrollar y aplicar la filosofía ágil no solo en proyectos de desarrollo de software, sino también en otro tipo de proyectos.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89234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posición de imagen 2">
            <a:extLst>
              <a:ext uri="{FF2B5EF4-FFF2-40B4-BE49-F238E27FC236}">
                <a16:creationId xmlns:a16="http://schemas.microsoft.com/office/drawing/2014/main" id="{E0B6DB2B-2717-4EEC-6D11-08997EE358B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18" r="118"/>
          <a:stretch>
            <a:fillRect/>
          </a:stretch>
        </p:blipFill>
        <p:spPr>
          <a:xfrm>
            <a:off x="5196283" y="1158875"/>
            <a:ext cx="3389450" cy="3688080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Valores ágiles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PRINCIPIOS Y VALORES ÁGILES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5400F7-2A3E-4385-904F-C8CC0F85DE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485350" cy="3751261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chemeClr val="accent5">
                    <a:lumMod val="75000"/>
                  </a:schemeClr>
                </a:solidFill>
              </a:rPr>
              <a:t>Individuos e interacciones sobre procesos y herramientas</a:t>
            </a:r>
            <a:r>
              <a:rPr lang="es-ES" dirty="0"/>
              <a:t>:</a:t>
            </a:r>
          </a:p>
          <a:p>
            <a:r>
              <a:rPr lang="es-ES" dirty="0"/>
              <a:t>Se da prioridad a la comunicación y la colaboración efectiva entre las personas involucradas en un proyecto. Esto implica enfocarse en la interacción directa y la comprensión mutua, en lugar de depender únicamente de herramientas y procesos formales.</a:t>
            </a:r>
          </a:p>
          <a:p>
            <a:r>
              <a:rPr lang="es-ES" dirty="0">
                <a:solidFill>
                  <a:srgbClr val="FF0000"/>
                </a:solidFill>
              </a:rPr>
              <a:t>Ejemplo</a:t>
            </a:r>
            <a:r>
              <a:rPr lang="es-ES" dirty="0">
                <a:solidFill>
                  <a:srgbClr val="C00000"/>
                </a:solidFill>
              </a:rPr>
              <a:t>:</a:t>
            </a:r>
            <a:r>
              <a:rPr lang="es-ES" dirty="0"/>
              <a:t> en lugar de depender únicamente de una herramienta de gestión de proyectos, un equipo ágil se reúne regularmente en persona para discutir el progreso, los desafíos y las ideas para mejorar.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53191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Valores ágiles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PRINCIPIOS Y VALORES ÁGILES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5400F7-2A3E-4385-904F-C8CC0F85DE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429690" cy="3826593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chemeClr val="accent5">
                    <a:lumMod val="75000"/>
                  </a:schemeClr>
                </a:solidFill>
              </a:rPr>
              <a:t>Software funcionando sobre documentación extensiva</a:t>
            </a:r>
            <a:r>
              <a:rPr lang="es-ES" dirty="0"/>
              <a:t>:</a:t>
            </a:r>
          </a:p>
          <a:p>
            <a:r>
              <a:rPr lang="es-ES" dirty="0"/>
              <a:t>Se valora más la entrega de software de calidad y que cumpla con los requisitos, en lugar de enfocarse en una documentación exhaustiva y detallada. Esto no significa que no se documente, sino que se da prioridad a la funcionalidad y el valor tangible del software.</a:t>
            </a:r>
          </a:p>
          <a:p>
            <a:r>
              <a:rPr lang="es-ES" dirty="0">
                <a:solidFill>
                  <a:srgbClr val="FF0000"/>
                </a:solidFill>
              </a:rPr>
              <a:t>Ejemplo: </a:t>
            </a:r>
            <a:r>
              <a:rPr lang="es-ES" dirty="0"/>
              <a:t>un equipo ágil desarrolla y entrega de manera incremental y frecuente nuevas características y funcionalidades a los usuarios, en lugar de esperar hasta tener una documentación completa antes de lanzar el producto.</a:t>
            </a:r>
          </a:p>
        </p:txBody>
      </p:sp>
      <p:pic>
        <p:nvPicPr>
          <p:cNvPr id="10" name="Marcador de posición de imagen 9">
            <a:extLst>
              <a:ext uri="{FF2B5EF4-FFF2-40B4-BE49-F238E27FC236}">
                <a16:creationId xmlns:a16="http://schemas.microsoft.com/office/drawing/2014/main" id="{CC7DAC51-AD73-EDEF-693B-936BF668B60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34" r="234"/>
          <a:stretch>
            <a:fillRect/>
          </a:stretch>
        </p:blipFill>
        <p:spPr>
          <a:xfrm>
            <a:off x="5103411" y="1158875"/>
            <a:ext cx="3689056" cy="4014083"/>
          </a:xfrm>
        </p:spPr>
      </p:pic>
    </p:spTree>
    <p:extLst>
      <p:ext uri="{BB962C8B-B14F-4D97-AF65-F5344CB8AC3E}">
        <p14:creationId xmlns:p14="http://schemas.microsoft.com/office/powerpoint/2010/main" val="50541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posición de imagen 2">
            <a:extLst>
              <a:ext uri="{FF2B5EF4-FFF2-40B4-BE49-F238E27FC236}">
                <a16:creationId xmlns:a16="http://schemas.microsoft.com/office/drawing/2014/main" id="{39147F37-A05E-37C4-2DD2-0071DA354B7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34" r="234"/>
          <a:stretch>
            <a:fillRect/>
          </a:stretch>
        </p:blipFill>
        <p:spPr>
          <a:xfrm>
            <a:off x="5331230" y="1158875"/>
            <a:ext cx="3477139" cy="3783495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Valores ágiles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PRINCIPIOS Y VALORES ÁGILES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5400F7-2A3E-4385-904F-C8CC0F85DE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628473" cy="3751262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chemeClr val="accent5">
                    <a:lumMod val="75000"/>
                  </a:schemeClr>
                </a:solidFill>
              </a:rPr>
              <a:t>Colaboración con el cliente sobre negociación contractual</a:t>
            </a:r>
            <a:r>
              <a:rPr lang="es-ES" dirty="0"/>
              <a:t>:</a:t>
            </a:r>
          </a:p>
          <a:p>
            <a:r>
              <a:rPr lang="es-ES" dirty="0"/>
              <a:t>Se promueve la colaboración estrecha con el cliente para comprender sus necesidades y obtener retroalimentación constante. Esto es preferible a centrarse en la negociación de contratos detallados y rígidos.</a:t>
            </a:r>
          </a:p>
          <a:p>
            <a:r>
              <a:rPr lang="es-ES" dirty="0">
                <a:solidFill>
                  <a:srgbClr val="FF0000"/>
                </a:solidFill>
              </a:rPr>
              <a:t>Ejemplo: </a:t>
            </a:r>
            <a:r>
              <a:rPr lang="es-ES" dirty="0"/>
              <a:t>un equipo ágil trabaja en estrecha colaboración con un cliente para desarrollar un producto de software, realizando demostraciones regulares y ajustando los requisitos según la retroalimentación y las necesidades cambiantes del cliente.</a:t>
            </a:r>
          </a:p>
        </p:txBody>
      </p:sp>
    </p:spTree>
    <p:extLst>
      <p:ext uri="{BB962C8B-B14F-4D97-AF65-F5344CB8AC3E}">
        <p14:creationId xmlns:p14="http://schemas.microsoft.com/office/powerpoint/2010/main" val="1831141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posición de imagen 2">
            <a:extLst>
              <a:ext uri="{FF2B5EF4-FFF2-40B4-BE49-F238E27FC236}">
                <a16:creationId xmlns:a16="http://schemas.microsoft.com/office/drawing/2014/main" id="{909171DF-CD53-17FD-D3AD-D3D5D07CED2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455" r="455"/>
          <a:stretch>
            <a:fillRect/>
          </a:stretch>
        </p:blipFill>
        <p:spPr>
          <a:xfrm>
            <a:off x="5204009" y="1158875"/>
            <a:ext cx="3477139" cy="3783495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Valores ágiles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PRINCIPIOS Y VALORES ÁGILES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5400F7-2A3E-4385-904F-C8CC0F85DE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477398" cy="3751262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chemeClr val="accent5">
                    <a:lumMod val="75000"/>
                  </a:schemeClr>
                </a:solidFill>
              </a:rPr>
              <a:t>Respuesta ante el cambio sobre seguir un plan</a:t>
            </a:r>
            <a:r>
              <a:rPr lang="es-ES" dirty="0"/>
              <a:t>:</a:t>
            </a:r>
          </a:p>
          <a:p>
            <a:r>
              <a:rPr lang="es-ES" dirty="0"/>
              <a:t>Se reconoce que los requisitos y las circunstancias pueden cambiar a lo largo del proyecto. Por lo tanto, se valora la capacidad de adaptarse y responder rápidamente a los cambios, en lugar de aferrarse a planes rígidos y predefinidos.</a:t>
            </a:r>
          </a:p>
          <a:p>
            <a:r>
              <a:rPr lang="es-ES" dirty="0">
                <a:solidFill>
                  <a:srgbClr val="FF0000"/>
                </a:solidFill>
              </a:rPr>
              <a:t>Ejemplo: </a:t>
            </a:r>
            <a:r>
              <a:rPr lang="es-ES" dirty="0"/>
              <a:t>un equipo ágil ajusta su planificación y prioridades en función de los cambios en las necesidades del mercado y los comentarios de los usuarios, en lugar de seguir ciegamente un plan inicial establecido al comienzo del proyecto.</a:t>
            </a:r>
          </a:p>
        </p:txBody>
      </p:sp>
    </p:spTree>
    <p:extLst>
      <p:ext uri="{BB962C8B-B14F-4D97-AF65-F5344CB8AC3E}">
        <p14:creationId xmlns:p14="http://schemas.microsoft.com/office/powerpoint/2010/main" val="1811300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A98D3DC9-A85D-3001-8F23-DF1FF689AA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PRINCIPIOS Y VALORES ÁGILES</a:t>
            </a:r>
          </a:p>
          <a:p>
            <a:endParaRPr lang="es-PE" dirty="0"/>
          </a:p>
        </p:txBody>
      </p:sp>
      <p:pic>
        <p:nvPicPr>
          <p:cNvPr id="22" name="Marcador de posición de imagen 21">
            <a:extLst>
              <a:ext uri="{FF2B5EF4-FFF2-40B4-BE49-F238E27FC236}">
                <a16:creationId xmlns:a16="http://schemas.microsoft.com/office/drawing/2014/main" id="{FF42DA2F-C951-C79F-37FA-833CBD0B27C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79" r="7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38899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4B664F2-7CB4-48B1-9096-E52469E94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4" y="3714841"/>
            <a:ext cx="5543549" cy="539107"/>
          </a:xfrm>
        </p:spPr>
        <p:txBody>
          <a:bodyPr/>
          <a:lstStyle/>
          <a:p>
            <a:pPr marL="274638" indent="-274638">
              <a:tabLst>
                <a:tab pos="274638" algn="l"/>
              </a:tabLst>
            </a:pPr>
            <a:r>
              <a:rPr lang="es-PE" dirty="0"/>
              <a:t>/	</a:t>
            </a:r>
            <a:r>
              <a:rPr lang="es-PE" i="1" dirty="0"/>
              <a:t>MINDSET </a:t>
            </a:r>
            <a:r>
              <a:rPr lang="es-PE" dirty="0"/>
              <a:t>ÁGIL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0101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¿Qué es?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MINDSET</a:t>
            </a:r>
            <a:r>
              <a:rPr lang="es-PE" dirty="0"/>
              <a:t> ÁGIL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5400F7-2A3E-4385-904F-C8CC0F85DE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389934" cy="3190487"/>
          </a:xfrm>
        </p:spPr>
        <p:txBody>
          <a:bodyPr/>
          <a:lstStyle/>
          <a:p>
            <a:r>
              <a:rPr lang="es-ES" dirty="0"/>
              <a:t>El </a:t>
            </a:r>
            <a:r>
              <a:rPr lang="es-ES" i="1" dirty="0"/>
              <a:t>Mindset</a:t>
            </a:r>
            <a:r>
              <a:rPr lang="es-ES" dirty="0"/>
              <a:t> Ágil, o mentalidad ágil, es el </a:t>
            </a:r>
            <a:r>
              <a:rPr lang="es-ES" b="1" dirty="0"/>
              <a:t>conjunto de creencias, actitudes y perspectivas </a:t>
            </a:r>
            <a:r>
              <a:rPr lang="es-ES" dirty="0"/>
              <a:t>que forman la base del enfoque ágil. </a:t>
            </a:r>
          </a:p>
          <a:p>
            <a:r>
              <a:rPr lang="es-ES" dirty="0"/>
              <a:t>Se centra en la flexibilidad, la adaptabilidad y la búsqueda continua de mejora.</a:t>
            </a:r>
          </a:p>
          <a:p>
            <a:r>
              <a:rPr lang="es-ES" dirty="0"/>
              <a:t>Al adoptar este </a:t>
            </a:r>
            <a:r>
              <a:rPr lang="es-ES" i="1" dirty="0"/>
              <a:t>Mindset</a:t>
            </a:r>
            <a:r>
              <a:rPr lang="es-ES" dirty="0"/>
              <a:t>, las organizaciones y los equipos están mejor preparados para enfrentar los desafíos cambiantes, aprovechar las oportunidades y lograr resultados exitosos en un entorno dinámico.</a:t>
            </a:r>
          </a:p>
        </p:txBody>
      </p:sp>
      <p:pic>
        <p:nvPicPr>
          <p:cNvPr id="15" name="Marcador de posición de imagen 14">
            <a:extLst>
              <a:ext uri="{FF2B5EF4-FFF2-40B4-BE49-F238E27FC236}">
                <a16:creationId xmlns:a16="http://schemas.microsoft.com/office/drawing/2014/main" id="{FF91EF23-B61F-243A-E25B-D2593D7A1FB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34" r="234"/>
          <a:stretch>
            <a:fillRect/>
          </a:stretch>
        </p:blipFill>
        <p:spPr>
          <a:xfrm>
            <a:off x="5104697" y="1049572"/>
            <a:ext cx="3703671" cy="4029986"/>
          </a:xfrm>
        </p:spPr>
      </p:pic>
    </p:spTree>
    <p:extLst>
      <p:ext uri="{BB962C8B-B14F-4D97-AF65-F5344CB8AC3E}">
        <p14:creationId xmlns:p14="http://schemas.microsoft.com/office/powerpoint/2010/main" val="88506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Dimensiones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MINDSET</a:t>
            </a:r>
            <a:r>
              <a:rPr lang="es-PE" dirty="0"/>
              <a:t> ÁGIL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5400F7-2A3E-4385-904F-C8CC0F85DE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238859" cy="362781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ES" dirty="0"/>
              <a:t>Aquí están las diferentes dimensiones o perspectivas desde las que se puede entender el </a:t>
            </a:r>
            <a:r>
              <a:rPr lang="es-ES" i="1" dirty="0"/>
              <a:t>Mindset</a:t>
            </a:r>
            <a:r>
              <a:rPr lang="es-ES" dirty="0"/>
              <a:t> Ágil: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Valoración del cambio y la incertidumbre.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Orientación al cliente.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Enfoque en el aprendizaje y la mejora continua.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Autonomía y empoderamiento.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Colaboración y comunicación efectiva.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Orientación a la entrega de valor.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Mentalidad de equipo y responsabilidad compartida.</a:t>
            </a:r>
          </a:p>
        </p:txBody>
      </p:sp>
      <p:pic>
        <p:nvPicPr>
          <p:cNvPr id="10" name="Marcador de posición de imagen 9">
            <a:extLst>
              <a:ext uri="{FF2B5EF4-FFF2-40B4-BE49-F238E27FC236}">
                <a16:creationId xmlns:a16="http://schemas.microsoft.com/office/drawing/2014/main" id="{CD252A96-939A-EFC5-5B76-DED73E5256B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34" r="234"/>
          <a:stretch>
            <a:fillRect/>
          </a:stretch>
        </p:blipFill>
        <p:spPr>
          <a:xfrm>
            <a:off x="4882101" y="804863"/>
            <a:ext cx="4086000" cy="4446000"/>
          </a:xfrm>
        </p:spPr>
      </p:pic>
    </p:spTree>
    <p:extLst>
      <p:ext uri="{BB962C8B-B14F-4D97-AF65-F5344CB8AC3E}">
        <p14:creationId xmlns:p14="http://schemas.microsoft.com/office/powerpoint/2010/main" val="2521049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4">
            <a:extLst>
              <a:ext uri="{FF2B5EF4-FFF2-40B4-BE49-F238E27FC236}">
                <a16:creationId xmlns:a16="http://schemas.microsoft.com/office/drawing/2014/main" id="{4D77EFBD-D33E-233D-CE42-0AEA0758C3E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34" r="234"/>
          <a:stretch>
            <a:fillRect/>
          </a:stretch>
        </p:blipFill>
        <p:spPr>
          <a:xfrm>
            <a:off x="5242253" y="1150812"/>
            <a:ext cx="3771291" cy="4103563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Metodologías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MINDSET</a:t>
            </a:r>
            <a:r>
              <a:rPr lang="es-PE" dirty="0"/>
              <a:t> ÁGIL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5400F7-2A3E-4385-904F-C8CC0F85DE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580765" cy="41116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ES" dirty="0"/>
              <a:t>Para determinar el </a:t>
            </a:r>
            <a:r>
              <a:rPr lang="es-ES" i="1" dirty="0"/>
              <a:t>Mindset</a:t>
            </a:r>
            <a:r>
              <a:rPr lang="es-ES" dirty="0"/>
              <a:t> ágil en una organización, los analistas funcionales pueden recurrir al uso de lo siguiente: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Encuestas y evaluaciones </a:t>
            </a:r>
            <a:r>
              <a:rPr lang="es-E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(sobre la actitud hacia el cambio, la colaboración, la orientación al cliente y la mentalidad de aprendizaje)</a:t>
            </a:r>
            <a:r>
              <a:rPr lang="es-ES" dirty="0"/>
              <a:t>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Entrevistas y grupos de discusión </a:t>
            </a:r>
            <a:r>
              <a:rPr lang="es-E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(detalle sobre creencias, actitudes y perspectivas relacionadas con el Mindset Ágil)</a:t>
            </a:r>
            <a:r>
              <a:rPr lang="es-ES" dirty="0"/>
              <a:t>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Observación directa y evaluación de comportamientos </a:t>
            </a:r>
            <a:r>
              <a:rPr lang="es-E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(en situaciones reales de trabajo)</a:t>
            </a:r>
            <a:r>
              <a:rPr lang="es-ES" dirty="0"/>
              <a:t>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Análisis de resultados y KPIs </a:t>
            </a:r>
            <a:r>
              <a:rPr lang="es-E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(resultados de proyectos en términos de entrega de valor, satisfacción del cliente, velocidad de respuesta y capacidad de adaptación)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148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4">
            <a:extLst>
              <a:ext uri="{FF2B5EF4-FFF2-40B4-BE49-F238E27FC236}">
                <a16:creationId xmlns:a16="http://schemas.microsoft.com/office/drawing/2014/main" id="{948C8B42-0AE6-CC9F-5879-60EEC3689CB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34" r="234"/>
          <a:stretch>
            <a:fillRect/>
          </a:stretch>
        </p:blipFill>
        <p:spPr>
          <a:xfrm>
            <a:off x="5143922" y="981869"/>
            <a:ext cx="3656496" cy="3978654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Desarrollar el </a:t>
            </a:r>
            <a:r>
              <a:rPr lang="es-PE" i="1" dirty="0"/>
              <a:t>Mindset </a:t>
            </a:r>
            <a:r>
              <a:rPr lang="es-PE" dirty="0"/>
              <a:t>ágil 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MINDSET</a:t>
            </a:r>
            <a:r>
              <a:rPr lang="es-PE" dirty="0"/>
              <a:t> ÁGIL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5400F7-2A3E-4385-904F-C8CC0F85DE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413788" cy="4111625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s-PE" dirty="0"/>
              <a:t>El desarrollo del </a:t>
            </a:r>
            <a:r>
              <a:rPr lang="es-PE" i="1" dirty="0"/>
              <a:t>Mindset</a:t>
            </a:r>
            <a:r>
              <a:rPr lang="es-PE" dirty="0"/>
              <a:t> Ágil es un proceso gradual y continuo.</a:t>
            </a:r>
          </a:p>
          <a:p>
            <a:pPr marL="0" indent="0">
              <a:spcAft>
                <a:spcPts val="600"/>
              </a:spcAft>
              <a:buNone/>
              <a:tabLst>
                <a:tab pos="265113" algn="l"/>
              </a:tabLst>
            </a:pPr>
            <a:r>
              <a:rPr lang="es-ES" dirty="0"/>
              <a:t>1°	</a:t>
            </a:r>
            <a:r>
              <a:rPr lang="es-ES" b="1" dirty="0"/>
              <a:t>Comprensión del enfoque ágil.</a:t>
            </a:r>
            <a:endParaRPr lang="es-ES" dirty="0"/>
          </a:p>
          <a:p>
            <a:pPr marL="265113" lvl="1" indent="0">
              <a:buNone/>
              <a:tabLst>
                <a:tab pos="265113" algn="l"/>
              </a:tabLst>
            </a:pPr>
            <a:r>
              <a:rPr lang="es-ES" dirty="0"/>
              <a:t>Familiarizarse con los principios y valores ágiles, así como con las prácticas y metodologías ágiles comunes.</a:t>
            </a:r>
          </a:p>
          <a:p>
            <a:pPr marL="0" indent="0">
              <a:spcAft>
                <a:spcPts val="600"/>
              </a:spcAft>
              <a:buNone/>
              <a:tabLst>
                <a:tab pos="265113" algn="l"/>
              </a:tabLst>
            </a:pPr>
            <a:r>
              <a:rPr lang="es-ES" dirty="0"/>
              <a:t>2°	</a:t>
            </a:r>
            <a:r>
              <a:rPr lang="es-ES" b="1" dirty="0"/>
              <a:t>Evaluación del estado actual.</a:t>
            </a:r>
            <a:endParaRPr lang="es-ES" dirty="0"/>
          </a:p>
          <a:p>
            <a:pPr marL="265113" lvl="1" indent="0">
              <a:buNone/>
              <a:tabLst>
                <a:tab pos="265113" algn="l"/>
              </a:tabLst>
            </a:pPr>
            <a:r>
              <a:rPr lang="es-ES" dirty="0"/>
              <a:t>Realizar una evaluación inicial para comprender el estado actual del </a:t>
            </a:r>
            <a:r>
              <a:rPr lang="es-ES" i="1" dirty="0"/>
              <a:t>Mindset</a:t>
            </a:r>
            <a:r>
              <a:rPr lang="es-ES" dirty="0"/>
              <a:t> Ágil en la organización. Esto se puede lograr mediante encuestas, entrevistas o grupos de discusión con los miembros del equipo y otros </a:t>
            </a:r>
            <a:r>
              <a:rPr lang="es-ES" i="1" dirty="0"/>
              <a:t>stakeholders</a:t>
            </a:r>
            <a:r>
              <a:rPr lang="es-ES" dirty="0"/>
              <a:t> relevantes. Identificar las creencias, actitudes y prácticas actuales en relación con el enfoque ágil.</a:t>
            </a:r>
          </a:p>
        </p:txBody>
      </p:sp>
    </p:spTree>
    <p:extLst>
      <p:ext uri="{BB962C8B-B14F-4D97-AF65-F5344CB8AC3E}">
        <p14:creationId xmlns:p14="http://schemas.microsoft.com/office/powerpoint/2010/main" val="2564138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4">
            <a:extLst>
              <a:ext uri="{FF2B5EF4-FFF2-40B4-BE49-F238E27FC236}">
                <a16:creationId xmlns:a16="http://schemas.microsoft.com/office/drawing/2014/main" id="{0CD9DAB0-38D7-7E68-AAB7-681450B77C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202" b="202"/>
          <a:stretch>
            <a:fillRect/>
          </a:stretch>
        </p:blipFill>
        <p:spPr>
          <a:xfrm>
            <a:off x="5314038" y="1041619"/>
            <a:ext cx="3462525" cy="3767593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Desarrollar el </a:t>
            </a:r>
            <a:r>
              <a:rPr lang="es-PE" i="1" dirty="0"/>
              <a:t>Mindset </a:t>
            </a:r>
            <a:r>
              <a:rPr lang="es-PE" dirty="0"/>
              <a:t>ágil 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MINDSET</a:t>
            </a:r>
            <a:r>
              <a:rPr lang="es-PE" dirty="0"/>
              <a:t> ÁGIL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5400F7-2A3E-4385-904F-C8CC0F85DE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525106" cy="3890203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  <a:tabLst>
                <a:tab pos="265113" algn="l"/>
              </a:tabLst>
            </a:pPr>
            <a:r>
              <a:rPr lang="es-ES" dirty="0"/>
              <a:t>3°	</a:t>
            </a:r>
            <a:r>
              <a:rPr lang="es-ES" b="1" dirty="0"/>
              <a:t>Análisis de brechas y áreas de mejora.</a:t>
            </a:r>
            <a:endParaRPr lang="es-ES" dirty="0"/>
          </a:p>
          <a:p>
            <a:pPr marL="265113" lvl="1" indent="0">
              <a:buNone/>
              <a:tabLst>
                <a:tab pos="265113" algn="l"/>
              </a:tabLst>
            </a:pPr>
            <a:r>
              <a:rPr lang="es-ES" dirty="0"/>
              <a:t>Analizar los resultados de la evaluación para identificar las brechas y áreas de mejora. Identificar los obstáculos y desafíos que puedan estar impidiendo la adopción del enfoque ágil (incluye problemas de comunicación, resistencia al cambio o falta de comprensión de los principios ágiles).</a:t>
            </a:r>
          </a:p>
          <a:p>
            <a:pPr marL="0" indent="0">
              <a:spcAft>
                <a:spcPts val="600"/>
              </a:spcAft>
              <a:buNone/>
              <a:tabLst>
                <a:tab pos="265113" algn="l"/>
              </a:tabLst>
            </a:pPr>
            <a:r>
              <a:rPr lang="es-ES" dirty="0"/>
              <a:t>4°	</a:t>
            </a:r>
            <a:r>
              <a:rPr lang="es-ES" b="1" dirty="0"/>
              <a:t>Planificación de acciones y objetivos.</a:t>
            </a:r>
            <a:endParaRPr lang="es-ES" dirty="0"/>
          </a:p>
          <a:p>
            <a:pPr marL="265113" lvl="1" indent="0">
              <a:buNone/>
              <a:tabLst>
                <a:tab pos="265113" algn="l"/>
              </a:tabLst>
            </a:pPr>
            <a:r>
              <a:rPr lang="es-ES" dirty="0"/>
              <a:t>Con base en el análisis de brechas, desarrollar un plan de acción para fomentar y desarrollar el </a:t>
            </a:r>
            <a:r>
              <a:rPr lang="es-ES" i="1" dirty="0"/>
              <a:t>Mindset</a:t>
            </a:r>
            <a:r>
              <a:rPr lang="es-ES" dirty="0"/>
              <a:t> Ágil en la organización. Establecer objetivos claros y realistas que aborden las áreas de mejora identificadas.</a:t>
            </a:r>
          </a:p>
        </p:txBody>
      </p:sp>
    </p:spTree>
    <p:extLst>
      <p:ext uri="{BB962C8B-B14F-4D97-AF65-F5344CB8AC3E}">
        <p14:creationId xmlns:p14="http://schemas.microsoft.com/office/powerpoint/2010/main" val="307068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4">
            <a:extLst>
              <a:ext uri="{FF2B5EF4-FFF2-40B4-BE49-F238E27FC236}">
                <a16:creationId xmlns:a16="http://schemas.microsoft.com/office/drawing/2014/main" id="{9FFC1F04-8F74-FE46-0F3F-A55C720D4CA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42" r="242"/>
          <a:stretch>
            <a:fillRect/>
          </a:stretch>
        </p:blipFill>
        <p:spPr>
          <a:xfrm>
            <a:off x="5295569" y="1158875"/>
            <a:ext cx="3536655" cy="3848254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Desarrollar el </a:t>
            </a:r>
            <a:r>
              <a:rPr lang="es-PE" i="1" dirty="0"/>
              <a:t>Mindset </a:t>
            </a:r>
            <a:r>
              <a:rPr lang="es-PE" dirty="0"/>
              <a:t>ágil 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MINDSET</a:t>
            </a:r>
            <a:r>
              <a:rPr lang="es-PE" dirty="0"/>
              <a:t> ÁGIL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5400F7-2A3E-4385-904F-C8CC0F85DE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493301" cy="3937911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  <a:tabLst>
                <a:tab pos="265113" algn="l"/>
              </a:tabLst>
            </a:pPr>
            <a:r>
              <a:rPr lang="es-ES" dirty="0"/>
              <a:t>5°	</a:t>
            </a:r>
            <a:r>
              <a:rPr lang="es-ES" b="1" dirty="0"/>
              <a:t>Educación y capacitación.</a:t>
            </a:r>
            <a:endParaRPr lang="es-ES" dirty="0"/>
          </a:p>
          <a:p>
            <a:pPr marL="265113" lvl="1" indent="0">
              <a:buNone/>
              <a:tabLst>
                <a:tab pos="265113" algn="l"/>
              </a:tabLst>
            </a:pPr>
            <a:r>
              <a:rPr lang="es-ES" dirty="0"/>
              <a:t>Brindar educación y capacitación en los principios y prácticas ágiles a los miembros de la organización (talleres, sesiones de entrenamiento, presentaciones o materiales de referencia sobre el enfoque ágil y sus beneficios).</a:t>
            </a:r>
          </a:p>
          <a:p>
            <a:pPr marL="0" indent="0">
              <a:spcAft>
                <a:spcPts val="600"/>
              </a:spcAft>
              <a:buNone/>
              <a:tabLst>
                <a:tab pos="265113" algn="l"/>
              </a:tabLst>
            </a:pPr>
            <a:r>
              <a:rPr lang="es-ES" dirty="0"/>
              <a:t>6°	</a:t>
            </a:r>
            <a:r>
              <a:rPr lang="es-ES" b="1" dirty="0"/>
              <a:t>Crear un entorno propicio.</a:t>
            </a:r>
            <a:endParaRPr lang="es-ES" dirty="0"/>
          </a:p>
          <a:p>
            <a:pPr marL="265113" lvl="1" indent="0">
              <a:buNone/>
              <a:tabLst>
                <a:tab pos="265113" algn="l"/>
              </a:tabLst>
            </a:pPr>
            <a:r>
              <a:rPr lang="es-ES" dirty="0"/>
              <a:t>Establecer un entorno de trabajo que promueva y apoye el </a:t>
            </a:r>
            <a:r>
              <a:rPr lang="es-ES" i="1" dirty="0"/>
              <a:t>Mindset</a:t>
            </a:r>
            <a:r>
              <a:rPr lang="es-ES" dirty="0"/>
              <a:t> Ágil. Esto implica fomentar la colaboración, la comunicación abierta y la toma de decisiones descentralizada. Establecer prácticas de retroalimentación continua y alentar la experimentación y la innovación.</a:t>
            </a:r>
          </a:p>
        </p:txBody>
      </p:sp>
    </p:spTree>
    <p:extLst>
      <p:ext uri="{BB962C8B-B14F-4D97-AF65-F5344CB8AC3E}">
        <p14:creationId xmlns:p14="http://schemas.microsoft.com/office/powerpoint/2010/main" val="71415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4">
            <a:extLst>
              <a:ext uri="{FF2B5EF4-FFF2-40B4-BE49-F238E27FC236}">
                <a16:creationId xmlns:a16="http://schemas.microsoft.com/office/drawing/2014/main" id="{029B5345-0436-B326-82A5-FD28E43A756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49" r="349"/>
          <a:stretch>
            <a:fillRect/>
          </a:stretch>
        </p:blipFill>
        <p:spPr>
          <a:xfrm>
            <a:off x="5326157" y="1065474"/>
            <a:ext cx="3649189" cy="3970703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Desarrollar el </a:t>
            </a:r>
            <a:r>
              <a:rPr lang="es-PE" i="1" dirty="0"/>
              <a:t>Mindset </a:t>
            </a:r>
            <a:r>
              <a:rPr lang="es-PE" dirty="0"/>
              <a:t>ágil 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MINDSET</a:t>
            </a:r>
            <a:r>
              <a:rPr lang="es-PE" dirty="0"/>
              <a:t> ÁGIL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5400F7-2A3E-4385-904F-C8CC0F85DE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676181" cy="3683469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  <a:tabLst>
                <a:tab pos="265113" algn="l"/>
              </a:tabLst>
            </a:pPr>
            <a:r>
              <a:rPr lang="es-ES" dirty="0"/>
              <a:t>7°	</a:t>
            </a:r>
            <a:r>
              <a:rPr lang="es-ES" b="1" dirty="0"/>
              <a:t>Apoyar y guiar la implementación.</a:t>
            </a:r>
            <a:endParaRPr lang="es-ES" dirty="0"/>
          </a:p>
          <a:p>
            <a:pPr marL="265113" lvl="1" indent="0">
              <a:buNone/>
              <a:tabLst>
                <a:tab pos="265113" algn="l"/>
              </a:tabLst>
            </a:pPr>
            <a:r>
              <a:rPr lang="es-ES" dirty="0"/>
              <a:t>Proporcionar apoyo y orientación a los equipos durante la implementación de prácticas ágiles. Esto puede incluir la facilitación de reuniones ágiles, la resolución de problemas, la eliminación de obstáculos y la promoción de la mentalidad de aprendizaje continuo.</a:t>
            </a:r>
          </a:p>
          <a:p>
            <a:pPr marL="0" indent="0">
              <a:spcAft>
                <a:spcPts val="600"/>
              </a:spcAft>
              <a:buNone/>
              <a:tabLst>
                <a:tab pos="265113" algn="l"/>
              </a:tabLst>
            </a:pPr>
            <a:r>
              <a:rPr lang="es-ES" dirty="0"/>
              <a:t>8°	</a:t>
            </a:r>
            <a:r>
              <a:rPr lang="es-ES" b="1" dirty="0"/>
              <a:t>Medición y ajuste.</a:t>
            </a:r>
            <a:endParaRPr lang="es-ES" dirty="0"/>
          </a:p>
          <a:p>
            <a:pPr marL="265113" lvl="1" indent="0">
              <a:buNone/>
              <a:tabLst>
                <a:tab pos="265113" algn="l"/>
              </a:tabLst>
            </a:pPr>
            <a:r>
              <a:rPr lang="es-ES" dirty="0"/>
              <a:t>Establecer métricas y KPIs para evaluar el progreso y los resultados de la adopción del </a:t>
            </a:r>
            <a:r>
              <a:rPr lang="es-ES" i="1" dirty="0"/>
              <a:t>Mindset</a:t>
            </a:r>
            <a:r>
              <a:rPr lang="es-ES" dirty="0"/>
              <a:t> Ágil. Realizar evaluaciones periódicas para medir el cambio y ajustar el plan de acción en consecuencia.</a:t>
            </a:r>
          </a:p>
        </p:txBody>
      </p:sp>
    </p:spTree>
    <p:extLst>
      <p:ext uri="{BB962C8B-B14F-4D97-AF65-F5344CB8AC3E}">
        <p14:creationId xmlns:p14="http://schemas.microsoft.com/office/powerpoint/2010/main" val="3480484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4">
            <a:extLst>
              <a:ext uri="{FF2B5EF4-FFF2-40B4-BE49-F238E27FC236}">
                <a16:creationId xmlns:a16="http://schemas.microsoft.com/office/drawing/2014/main" id="{78D8CA62-8993-2818-5B39-A4EF999E4E0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0" r="20"/>
          <a:stretch>
            <a:fillRect/>
          </a:stretch>
        </p:blipFill>
        <p:spPr>
          <a:xfrm>
            <a:off x="5299729" y="1041621"/>
            <a:ext cx="3619959" cy="3938898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Desarrollar el </a:t>
            </a:r>
            <a:r>
              <a:rPr lang="es-PE" i="1" dirty="0"/>
              <a:t>Mindset </a:t>
            </a:r>
            <a:r>
              <a:rPr lang="es-PE" dirty="0"/>
              <a:t>ágil 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MINDSET</a:t>
            </a:r>
            <a:r>
              <a:rPr lang="es-PE" dirty="0"/>
              <a:t> ÁGIL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5400F7-2A3E-4385-904F-C8CC0F85DE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103687" cy="2228381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  <a:tabLst>
                <a:tab pos="265113" algn="l"/>
              </a:tabLst>
            </a:pPr>
            <a:r>
              <a:rPr lang="es-ES" dirty="0"/>
              <a:t>9°	</a:t>
            </a:r>
            <a:r>
              <a:rPr lang="es-ES" b="1" dirty="0"/>
              <a:t>Cultivar la continuidad.</a:t>
            </a:r>
            <a:endParaRPr lang="es-ES" dirty="0"/>
          </a:p>
          <a:p>
            <a:pPr marL="265113" lvl="1" indent="0">
              <a:spcAft>
                <a:spcPts val="600"/>
              </a:spcAft>
              <a:buNone/>
              <a:tabLst>
                <a:tab pos="265113" algn="l"/>
              </a:tabLst>
            </a:pPr>
            <a:r>
              <a:rPr lang="es-ES" dirty="0"/>
              <a:t>Fomentar la continuidad y el desarrollo continuo del </a:t>
            </a:r>
            <a:r>
              <a:rPr lang="es-ES" i="1" dirty="0"/>
              <a:t>Mindset</a:t>
            </a:r>
            <a:r>
              <a:rPr lang="es-ES" dirty="0"/>
              <a:t> Ágil a lo largo del tiempo. Esto implica integrar prácticas ágiles en los procesos y la cultura organizacional, y asegurarse de que el enfoque ágil se mantenga incluso en situaciones de cambio o desafío.</a:t>
            </a:r>
          </a:p>
        </p:txBody>
      </p:sp>
    </p:spTree>
    <p:extLst>
      <p:ext uri="{BB962C8B-B14F-4D97-AF65-F5344CB8AC3E}">
        <p14:creationId xmlns:p14="http://schemas.microsoft.com/office/powerpoint/2010/main" val="8180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4B664F2-7CB4-48B1-9096-E52469E94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4" y="3714842"/>
            <a:ext cx="5543549" cy="507302"/>
          </a:xfrm>
        </p:spPr>
        <p:txBody>
          <a:bodyPr/>
          <a:lstStyle/>
          <a:p>
            <a:pPr marL="274638" indent="-274638">
              <a:tabLst>
                <a:tab pos="274638" algn="l"/>
              </a:tabLst>
            </a:pPr>
            <a:r>
              <a:rPr lang="es-PE" dirty="0"/>
              <a:t>/	</a:t>
            </a:r>
            <a:r>
              <a:rPr lang="es-PE" i="1" dirty="0"/>
              <a:t>DESIGN THINKING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0821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65848F2F-14B1-8A4A-ACE8-629FFD1F86C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34" r="234"/>
          <a:stretch>
            <a:fillRect/>
          </a:stretch>
        </p:blipFill>
        <p:spPr>
          <a:xfrm>
            <a:off x="4897298" y="816438"/>
            <a:ext cx="4086000" cy="4446000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¿Qué es?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DESIGN THINKING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53FB05-1352-43BC-B6D2-78140FCE81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103687" cy="3476735"/>
          </a:xfrm>
        </p:spPr>
        <p:txBody>
          <a:bodyPr/>
          <a:lstStyle/>
          <a:p>
            <a:r>
              <a:rPr lang="es-ES" dirty="0"/>
              <a:t>El </a:t>
            </a:r>
            <a:r>
              <a:rPr lang="es-ES" i="1" dirty="0"/>
              <a:t>Design Thinking </a:t>
            </a:r>
            <a:r>
              <a:rPr lang="es-ES" dirty="0"/>
              <a:t>es un enfoque iterativo y colaborativo que promueve la creatividad, la experimentación y la resolución de problemas complejos.</a:t>
            </a:r>
          </a:p>
          <a:p>
            <a:r>
              <a:rPr lang="es-ES" dirty="0"/>
              <a:t>Se basa en la idea de que al comprender profundamente las necesidades, deseos y experiencias de las personas, podemos diseñar soluciones más efectivas y centradas en el usuario.</a:t>
            </a:r>
          </a:p>
          <a:p>
            <a:r>
              <a:rPr lang="es-ES" dirty="0"/>
              <a:t>Se aplica en diversos contextos, como el diseño de productos, servicios, experiencias de usuario y procesos empresariales.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44426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8C5C26D5-B477-187F-E365-2FCF63A5353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34" r="234"/>
          <a:stretch>
            <a:fillRect/>
          </a:stretch>
        </p:blipFill>
        <p:spPr>
          <a:xfrm>
            <a:off x="4841639" y="824500"/>
            <a:ext cx="4086000" cy="4446000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Etapa 1 - empatía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DESIGN THINKING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53FB05-1352-43BC-B6D2-78140FCE81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103687" cy="3285904"/>
          </a:xfrm>
        </p:spPr>
        <p:txBody>
          <a:bodyPr/>
          <a:lstStyle/>
          <a:p>
            <a:r>
              <a:rPr lang="es-ES" dirty="0"/>
              <a:t>El </a:t>
            </a:r>
            <a:r>
              <a:rPr lang="es-ES" i="1" dirty="0"/>
              <a:t>Design Thinking </a:t>
            </a:r>
            <a:r>
              <a:rPr lang="es-ES" dirty="0"/>
              <a:t>comienza por comprender a fondo a las personas para las cuales se está diseñando una solución.</a:t>
            </a:r>
          </a:p>
          <a:p>
            <a:r>
              <a:rPr lang="es-ES" dirty="0"/>
              <a:t>Esto implica empatizar con los usuarios, observar y escuchar activamente sus experiencias, necesidades y emociones.</a:t>
            </a:r>
          </a:p>
          <a:p>
            <a:r>
              <a:rPr lang="es-ES" dirty="0"/>
              <a:t>La empatía permite obtener una comprensión profunda de los desafíos y las motivaciones de las personas, y es esencial para generar soluciones que sean verdaderamente relevantes.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93919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DF2E2882-B380-D9E8-BC73-E000344EEA5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42" r="242"/>
          <a:stretch>
            <a:fillRect/>
          </a:stretch>
        </p:blipFill>
        <p:spPr>
          <a:xfrm>
            <a:off x="5156348" y="880578"/>
            <a:ext cx="3771291" cy="4103563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Etapa 2 – definición del problema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DESIGN THINKING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53FB05-1352-43BC-B6D2-78140FCE81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445593" cy="2792923"/>
          </a:xfrm>
        </p:spPr>
        <p:txBody>
          <a:bodyPr/>
          <a:lstStyle/>
          <a:p>
            <a:r>
              <a:rPr lang="es-ES" dirty="0"/>
              <a:t>Una vez que se ha desarrollado una comprensión empática de los usuarios, se define claramente el problema a resolver.</a:t>
            </a:r>
          </a:p>
          <a:p>
            <a:r>
              <a:rPr lang="es-ES" dirty="0"/>
              <a:t>Esto implica identificar los puntos problemáticos, las necesidades no satisfechas o los deseos no cumplidos de los usuarios.</a:t>
            </a:r>
          </a:p>
          <a:p>
            <a:r>
              <a:rPr lang="es-ES" dirty="0"/>
              <a:t>Una definición precisa del problema ayuda a mantener el enfoque y proporciona una base sólida para la generación de soluciones.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286313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B107BD61-87E6-40FD-DD82-58BC04A4531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18" r="118"/>
          <a:stretch>
            <a:fillRect/>
          </a:stretch>
        </p:blipFill>
        <p:spPr>
          <a:xfrm>
            <a:off x="5120795" y="916527"/>
            <a:ext cx="3886358" cy="4228768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Etapa 3 – ideación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DESIGN THINKING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53FB05-1352-43BC-B6D2-78140FCE81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334275" cy="2530530"/>
          </a:xfrm>
        </p:spPr>
        <p:txBody>
          <a:bodyPr/>
          <a:lstStyle/>
          <a:p>
            <a:r>
              <a:rPr lang="es-ES" dirty="0"/>
              <a:t>En esta etapa se generan una amplia variedad de ideas y soluciones posibles para abordar el problema definido.</a:t>
            </a:r>
          </a:p>
          <a:p>
            <a:r>
              <a:rPr lang="es-ES" dirty="0"/>
              <a:t>Se fomenta la creatividad y la generación de ideas divergentes, sin juzgar ni descartar ninguna propuesta en esta etapa.</a:t>
            </a:r>
          </a:p>
          <a:p>
            <a:r>
              <a:rPr lang="es-ES" dirty="0"/>
              <a:t>El objetivo es generar la mayor cantidad de ideas posibles, tanto realistas como radicales.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8027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4519B44B-5749-D74D-7D22-7372A92FFE8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18" r="118"/>
          <a:stretch>
            <a:fillRect/>
          </a:stretch>
        </p:blipFill>
        <p:spPr>
          <a:xfrm>
            <a:off x="5299618" y="1032559"/>
            <a:ext cx="3659826" cy="3982278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Etapa 4 – prototipado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DESIGN THINKING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53FB05-1352-43BC-B6D2-78140FCE81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548960" cy="2784972"/>
          </a:xfrm>
        </p:spPr>
        <p:txBody>
          <a:bodyPr/>
          <a:lstStyle/>
          <a:p>
            <a:r>
              <a:rPr lang="es-ES" dirty="0"/>
              <a:t>Una vez que se han generado ideas, se seleccionan las más prometedoras y se crean prototipos rápidos y de bajo costo. </a:t>
            </a:r>
          </a:p>
          <a:p>
            <a:r>
              <a:rPr lang="es-ES" dirty="0"/>
              <a:t>Los prototipos pueden ser modelos físicos, representaciones visuales o simulaciones interactivas que permitan a los usuarios experimentar y evaluar las soluciones propuestas.</a:t>
            </a:r>
          </a:p>
          <a:p>
            <a:r>
              <a:rPr lang="es-ES" dirty="0"/>
              <a:t>Los prototipos se utilizan para obtener retroalimentación temprana y refinamiento.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768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5C4D0046-BA27-DEBE-734C-EFE973A27AE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34" r="234"/>
          <a:stretch>
            <a:fillRect/>
          </a:stretch>
        </p:blipFill>
        <p:spPr>
          <a:xfrm>
            <a:off x="5093281" y="880468"/>
            <a:ext cx="3778700" cy="4111625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Etapa 5 – prueba e iteración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DESIGN THINKING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53FB05-1352-43BC-B6D2-78140FCE81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509204" cy="2928095"/>
          </a:xfrm>
        </p:spPr>
        <p:txBody>
          <a:bodyPr/>
          <a:lstStyle/>
          <a:p>
            <a:r>
              <a:rPr lang="es-ES" dirty="0"/>
              <a:t>Los prototipos se prueban con los usuarios reales para recopilar sus comentarios y observaciones.</a:t>
            </a:r>
          </a:p>
          <a:p>
            <a:r>
              <a:rPr lang="es-ES" dirty="0"/>
              <a:t>Se obtiene información valiosa sobre la efectividad y la viabilidad de las soluciones. </a:t>
            </a:r>
          </a:p>
          <a:p>
            <a:r>
              <a:rPr lang="es-ES" dirty="0"/>
              <a:t>Los resultados de las pruebas se utilizan para realizar ajustes, mejoras y refinamientos en el diseño.</a:t>
            </a:r>
          </a:p>
          <a:p>
            <a:r>
              <a:rPr lang="es-ES" dirty="0"/>
              <a:t>Este proceso de prueba y ajuste iterativo se repite hasta lograr una solución satisfactoria.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788848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314" y="631825"/>
            <a:ext cx="8208000" cy="354012"/>
          </a:xfrm>
        </p:spPr>
        <p:txBody>
          <a:bodyPr/>
          <a:lstStyle/>
          <a:p>
            <a:r>
              <a:rPr lang="es-PE" dirty="0"/>
              <a:t>Implementación de una aplicación software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DESIGN THINKING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96271091-6015-4D10-AFA1-1E54C5577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007711"/>
              </p:ext>
            </p:extLst>
          </p:nvPr>
        </p:nvGraphicFramePr>
        <p:xfrm>
          <a:off x="468313" y="985837"/>
          <a:ext cx="8365586" cy="4284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9066">
                  <a:extLst>
                    <a:ext uri="{9D8B030D-6E8A-4147-A177-3AD203B41FA5}">
                      <a16:colId xmlns:a16="http://schemas.microsoft.com/office/drawing/2014/main" val="4291252996"/>
                    </a:ext>
                  </a:extLst>
                </a:gridCol>
                <a:gridCol w="1242607">
                  <a:extLst>
                    <a:ext uri="{9D8B030D-6E8A-4147-A177-3AD203B41FA5}">
                      <a16:colId xmlns:a16="http://schemas.microsoft.com/office/drawing/2014/main" val="2437103965"/>
                    </a:ext>
                  </a:extLst>
                </a:gridCol>
                <a:gridCol w="6843913">
                  <a:extLst>
                    <a:ext uri="{9D8B030D-6E8A-4147-A177-3AD203B41FA5}">
                      <a16:colId xmlns:a16="http://schemas.microsoft.com/office/drawing/2014/main" val="1871346062"/>
                    </a:ext>
                  </a:extLst>
                </a:gridCol>
              </a:tblGrid>
              <a:tr h="643807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EMPATÍA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ES" sz="1200" spc="-100" baseline="0" dirty="0"/>
                        <a:t>El equipo de desarrollo realiza investigaciones y entrevistas con los usuarios potenciales para comprender sus necesidades, deseos y desafíos. Descubren que los usuarios desean una aplicación móvil que les permita administrar sus finanzas personales de manera sencilla y eficiente, y que </a:t>
                      </a:r>
                      <a:r>
                        <a:rPr lang="es-ES" sz="1200" spc="-100" baseline="0" dirty="0">
                          <a:solidFill>
                            <a:srgbClr val="FF0000"/>
                          </a:solidFill>
                        </a:rPr>
                        <a:t>se sientan más seguros al realizar transacciones bancarias.</a:t>
                      </a:r>
                      <a:endParaRPr lang="es-PE" sz="1200" spc="-100" baseline="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652111949"/>
                  </a:ext>
                </a:extLst>
              </a:tr>
              <a:tr h="56981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DEFINICIÓN DEL PROBLEMA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ES" sz="1200" spc="-100" baseline="0" dirty="0"/>
                        <a:t>Basándose en la información recopilada, el equipo define el problema como: </a:t>
                      </a:r>
                      <a:r>
                        <a:rPr lang="es-ES" sz="1200" spc="-100" baseline="0" dirty="0">
                          <a:solidFill>
                            <a:srgbClr val="FF0000"/>
                          </a:solidFill>
                        </a:rPr>
                        <a:t>"Crear una aplicación de gestión financiera que sea intuitiva, segura y fácil de usar, para ayudar a los usuarios a controlar sus gastos, realizar transacciones y tomar decisiones financieras informadas".</a:t>
                      </a:r>
                      <a:endParaRPr lang="es-PE" sz="1200" spc="-100" baseline="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813795330"/>
                  </a:ext>
                </a:extLst>
              </a:tr>
              <a:tr h="56981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IDEACIÓN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ES" sz="1200" spc="-100" baseline="0" dirty="0">
                          <a:solidFill>
                            <a:srgbClr val="FF0000"/>
                          </a:solidFill>
                        </a:rPr>
                        <a:t>El equipo se reúne para generar ideas y soluciones posibles</a:t>
                      </a:r>
                      <a:r>
                        <a:rPr lang="es-ES" sz="1200" spc="-100" baseline="0" dirty="0"/>
                        <a:t>. Utilizando técnicas de generación de ideas (lluvia de ideas, mapas mentales y sketching), se generan ideas como la interfaz de usuario intuitiva, categorización automática de gastos, notificaciones de presupuesto y consejos financieros personalizados.</a:t>
                      </a:r>
                      <a:endParaRPr lang="es-PE" sz="1200" spc="-100" baseline="0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271766759"/>
                  </a:ext>
                </a:extLst>
              </a:tr>
              <a:tr h="56981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PROTOTIPADO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ES" sz="1200" spc="-100" baseline="0" dirty="0">
                          <a:solidFill>
                            <a:srgbClr val="FF0000"/>
                          </a:solidFill>
                        </a:rPr>
                        <a:t>El equipo crea un prototipo interactivo de baja fidelidad de la aplicación </a:t>
                      </a:r>
                      <a:r>
                        <a:rPr lang="es-ES" sz="1200" spc="-100" baseline="0" dirty="0"/>
                        <a:t>utilizando herramientas de diseño como Balsamiq o Sketch. El prototipo simula las principales funcionalidades, como registro de gastos, visualización de saldos, configuración de objetivos de ahorro, entre otros.</a:t>
                      </a:r>
                      <a:endParaRPr lang="es-PE" sz="1200" spc="-100" baseline="0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442158516"/>
                  </a:ext>
                </a:extLst>
              </a:tr>
              <a:tr h="643807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PRUEBA E ITERACIÓN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ES" sz="1200" spc="-100" baseline="0" dirty="0">
                          <a:solidFill>
                            <a:srgbClr val="FF0000"/>
                          </a:solidFill>
                        </a:rPr>
                        <a:t>El equipo realiza pruebas de usabilidad con un grupo de usuarios representativos. </a:t>
                      </a:r>
                      <a:r>
                        <a:rPr lang="es-ES" sz="1200" spc="-100" baseline="0" dirty="0"/>
                        <a:t>Los usuarios interactúan con el prototipo y proporcionan retroalimentación sobre la experiencia de uso, identificando áreas de mejora y funcionalidades que podrían agregar valor. El equipo recopila los comentarios y realiza iteraciones en el diseño del prototipo para abordar las áreas de mejora identificadas.</a:t>
                      </a:r>
                      <a:endParaRPr lang="es-PE" sz="1200" spc="-100" baseline="0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269613799"/>
                  </a:ext>
                </a:extLst>
              </a:tr>
              <a:tr h="643807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DESARROLLO E IMPLEMENTACIÓN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ES" sz="1200" spc="-100" baseline="0" dirty="0">
                          <a:solidFill>
                            <a:srgbClr val="FF0000"/>
                          </a:solidFill>
                        </a:rPr>
                        <a:t>Con el diseño validado, el equipo de desarrollo se enfoca en la implementación de la aplicación. </a:t>
                      </a:r>
                      <a:r>
                        <a:rPr lang="es-ES" sz="1200" spc="-100" baseline="0" dirty="0"/>
                        <a:t>Utilizando metodologías ágiles como Scrum, se dividen las funcionalidades en incrementos y se desarrollan en iteraciones cortas. Se realizan pruebas de calidad y se refinan las características según los comentarios de los usuarios y los requisitos técnicos.</a:t>
                      </a:r>
                      <a:endParaRPr lang="es-PE" sz="1200" spc="-100" baseline="0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004673815"/>
                  </a:ext>
                </a:extLst>
              </a:tr>
              <a:tr h="643807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7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EVALUACIÓN Y MEJORA CONTINUA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ES" sz="1200" spc="-100" baseline="0" dirty="0">
                          <a:solidFill>
                            <a:srgbClr val="FF0000"/>
                          </a:solidFill>
                        </a:rPr>
                        <a:t>Una vez que la aplicación se lanza al mercado, el equipo sigue recopilando comentarios y evaluando el rendimiento de la aplicación. </a:t>
                      </a:r>
                      <a:r>
                        <a:rPr lang="es-ES" sz="1200" spc="-100" baseline="0" dirty="0"/>
                        <a:t>Se utilizan métricas de uso, encuestas y análisis de retroalimentación para identificar oportunidades de mejora y nuevas características que puedan agregarse en futuras actualizaciones.</a:t>
                      </a:r>
                      <a:endParaRPr lang="es-PE" sz="1200" spc="-100" baseline="0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319694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893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4B664F2-7CB4-48B1-9096-E52469E94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4" y="3714841"/>
            <a:ext cx="5543549" cy="515253"/>
          </a:xfrm>
        </p:spPr>
        <p:txBody>
          <a:bodyPr/>
          <a:lstStyle/>
          <a:p>
            <a:pPr marL="274638" indent="-274638">
              <a:tabLst>
                <a:tab pos="274638" algn="l"/>
              </a:tabLst>
            </a:pPr>
            <a:r>
              <a:rPr lang="es-PE" dirty="0"/>
              <a:t>/	</a:t>
            </a:r>
            <a:r>
              <a:rPr lang="es-PE" i="1" dirty="0"/>
              <a:t>SCRUM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5553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¿Qué es?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SCRUM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53FB05-1352-43BC-B6D2-78140FCE81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i="1" dirty="0"/>
              <a:t>Scrum </a:t>
            </a:r>
            <a:r>
              <a:rPr lang="es-ES" dirty="0"/>
              <a:t>es un marco de gestión de proyectos de metodología ágil que ayuda a los equipos a estructurar y gestionar el trabajo mediante un conjunto de valores, principios y prácticas.</a:t>
            </a:r>
          </a:p>
          <a:p>
            <a:r>
              <a:rPr lang="es-ES" dirty="0"/>
              <a:t>Al igual que un equipo de rugby (de donde proviene su nombre) cuando entrena para un gran partido, </a:t>
            </a:r>
            <a:r>
              <a:rPr lang="es-ES" i="1" dirty="0"/>
              <a:t>scrum</a:t>
            </a:r>
            <a:r>
              <a:rPr lang="es-ES" dirty="0"/>
              <a:t> anima a los equipos a aprender a través de las experiencias, a autoorganizarse mientras aborda un problema y a reflexionar sobre sus victorias y derrotas para mejorar continuamente.</a:t>
            </a:r>
          </a:p>
          <a:p>
            <a:r>
              <a:rPr lang="es-ES" dirty="0"/>
              <a:t>Sus principios y lecciones se pueden aplicar a todo tipo de trabajo en equipo.</a:t>
            </a:r>
            <a:endParaRPr lang="es-PE" dirty="0"/>
          </a:p>
        </p:txBody>
      </p:sp>
      <p:pic>
        <p:nvPicPr>
          <p:cNvPr id="10" name="Marcador de posición de imagen 9">
            <a:extLst>
              <a:ext uri="{FF2B5EF4-FFF2-40B4-BE49-F238E27FC236}">
                <a16:creationId xmlns:a16="http://schemas.microsoft.com/office/drawing/2014/main" id="{DEB73B4F-133F-A263-02A0-3ECFA422ED6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34" r="23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20960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CF832CF2-B997-7AB2-7B5F-ADEEADD7CD7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18" r="118"/>
          <a:stretch>
            <a:fillRect/>
          </a:stretch>
        </p:blipFill>
        <p:spPr>
          <a:xfrm>
            <a:off x="4849590" y="804863"/>
            <a:ext cx="4086000" cy="4446000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Roles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SCRUM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53FB05-1352-43BC-B6D2-78140FCE81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246810" cy="4111625"/>
          </a:xfrm>
        </p:spPr>
        <p:txBody>
          <a:bodyPr/>
          <a:lstStyle/>
          <a:p>
            <a:pPr marL="0" indent="0">
              <a:spcAft>
                <a:spcPts val="300"/>
              </a:spcAft>
              <a:buNone/>
            </a:pPr>
            <a:r>
              <a:rPr lang="es-ES" b="1" i="1" dirty="0">
                <a:solidFill>
                  <a:srgbClr val="558ED5"/>
                </a:solidFill>
              </a:rPr>
              <a:t>Product Owner (PO):</a:t>
            </a:r>
          </a:p>
          <a:p>
            <a:pPr marL="0" indent="0">
              <a:buNone/>
            </a:pPr>
            <a:r>
              <a:rPr lang="es-ES" dirty="0"/>
              <a:t>Es responsable de definir y priorizar los elementos del </a:t>
            </a:r>
            <a:r>
              <a:rPr lang="es-ES" i="1" dirty="0"/>
              <a:t>backlog</a:t>
            </a:r>
            <a:r>
              <a:rPr lang="es-ES" dirty="0"/>
              <a:t> del producto, representando los intereses y necesidades de los </a:t>
            </a:r>
            <a:r>
              <a:rPr lang="es-ES" i="1" dirty="0"/>
              <a:t>stakeholders.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s-ES" b="1" i="1" dirty="0">
                <a:solidFill>
                  <a:srgbClr val="558ED5"/>
                </a:solidFill>
              </a:rPr>
              <a:t>Scrum Master (SM):</a:t>
            </a:r>
          </a:p>
          <a:p>
            <a:pPr marL="0" indent="0">
              <a:buNone/>
            </a:pPr>
            <a:r>
              <a:rPr lang="es-ES" dirty="0"/>
              <a:t>Actúa como facilitador y defensor del equipo </a:t>
            </a:r>
            <a:r>
              <a:rPr lang="es-ES" i="1" dirty="0"/>
              <a:t>Scrum</a:t>
            </a:r>
            <a:r>
              <a:rPr lang="es-ES" dirty="0"/>
              <a:t>, asegurando que se sigan los principios y prácticas de </a:t>
            </a:r>
            <a:r>
              <a:rPr lang="es-ES" i="1" dirty="0"/>
              <a:t>Scrum</a:t>
            </a:r>
            <a:r>
              <a:rPr lang="es-ES" dirty="0"/>
              <a:t>. Ayuda a resolver problemas y a eliminar obstáculos.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s-ES" b="1" i="1" dirty="0">
                <a:solidFill>
                  <a:srgbClr val="558ED5"/>
                </a:solidFill>
              </a:rPr>
              <a:t>Equipo de Desarrollo (DT):</a:t>
            </a:r>
          </a:p>
          <a:p>
            <a:pPr marL="0" indent="0">
              <a:buNone/>
            </a:pPr>
            <a:r>
              <a:rPr lang="es-ES" dirty="0"/>
              <a:t>Autorganizado y multidisciplinario responsable de la entrega del producto. Trabaja de manera colaborativa.</a:t>
            </a:r>
          </a:p>
        </p:txBody>
      </p:sp>
    </p:spTree>
    <p:extLst>
      <p:ext uri="{BB962C8B-B14F-4D97-AF65-F5344CB8AC3E}">
        <p14:creationId xmlns:p14="http://schemas.microsoft.com/office/powerpoint/2010/main" val="997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995824FB-E336-DC4D-721F-201271E237D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>
          <a:xfrm>
            <a:off x="5058000" y="804863"/>
            <a:ext cx="4086000" cy="4446000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Artefactos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SCRUM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53FB05-1352-43BC-B6D2-78140FCE81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589687" cy="4111625"/>
          </a:xfrm>
        </p:spPr>
        <p:txBody>
          <a:bodyPr/>
          <a:lstStyle/>
          <a:p>
            <a:pPr marL="0" indent="0">
              <a:spcAft>
                <a:spcPts val="300"/>
              </a:spcAft>
              <a:buNone/>
            </a:pPr>
            <a:r>
              <a:rPr lang="es-ES" b="1" i="1" dirty="0">
                <a:solidFill>
                  <a:srgbClr val="558ED5"/>
                </a:solidFill>
              </a:rPr>
              <a:t>Product Backlog (PB):</a:t>
            </a:r>
          </a:p>
          <a:p>
            <a:pPr marL="0" indent="0">
              <a:buNone/>
            </a:pPr>
            <a:r>
              <a:rPr lang="es-ES" dirty="0"/>
              <a:t>Es una lista priorizada de todos los elementos (requisitos, funcionalidades, mejoras, etc.) que podrían ser parte del producto. Es responsabilidad del </a:t>
            </a:r>
            <a:r>
              <a:rPr lang="es-ES" i="1" dirty="0"/>
              <a:t>Product Owner </a:t>
            </a:r>
            <a:r>
              <a:rPr lang="es-ES" dirty="0"/>
              <a:t>mantenerlo actualizado y refinarlo continuamente.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s-ES" b="1" i="1" dirty="0">
                <a:solidFill>
                  <a:srgbClr val="558ED5"/>
                </a:solidFill>
              </a:rPr>
              <a:t>Sprint Backlog (SB):</a:t>
            </a:r>
          </a:p>
          <a:p>
            <a:pPr marL="0" indent="0">
              <a:buNone/>
            </a:pPr>
            <a:r>
              <a:rPr lang="es-ES" dirty="0"/>
              <a:t>Es una lista de elementos seleccionados del </a:t>
            </a:r>
            <a:r>
              <a:rPr lang="es-ES" i="1" dirty="0"/>
              <a:t>Product Backlog </a:t>
            </a:r>
            <a:r>
              <a:rPr lang="es-ES" dirty="0"/>
              <a:t>que el Equipo de Desarrollo se compromete a completar durante un </a:t>
            </a:r>
            <a:r>
              <a:rPr lang="es-ES" i="1" dirty="0"/>
              <a:t>sprint.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s-ES" b="1" i="1" dirty="0">
                <a:solidFill>
                  <a:srgbClr val="558ED5"/>
                </a:solidFill>
              </a:rPr>
              <a:t>Incremento (I):</a:t>
            </a:r>
          </a:p>
          <a:p>
            <a:pPr marL="0" indent="0">
              <a:buNone/>
            </a:pPr>
            <a:r>
              <a:rPr lang="es-ES" dirty="0"/>
              <a:t>Es el resultado tangible y potencialmente utilizable al final de cada </a:t>
            </a:r>
            <a:r>
              <a:rPr lang="es-ES" i="1" dirty="0"/>
              <a:t>sprint. </a:t>
            </a:r>
            <a:r>
              <a:rPr lang="es-ES" dirty="0"/>
              <a:t>Representa el trabajo completado por el Equipo de Desarrollo durante ese </a:t>
            </a:r>
            <a:r>
              <a:rPr lang="es-ES" i="1" dirty="0"/>
              <a:t>sprint.</a:t>
            </a:r>
          </a:p>
        </p:txBody>
      </p:sp>
    </p:spTree>
    <p:extLst>
      <p:ext uri="{BB962C8B-B14F-4D97-AF65-F5344CB8AC3E}">
        <p14:creationId xmlns:p14="http://schemas.microsoft.com/office/powerpoint/2010/main" val="3118017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6D1DA92D-F676-4BB9-9D8E-D0E156022C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34" r="234"/>
          <a:stretch>
            <a:fillRect/>
          </a:stretch>
        </p:blipFill>
        <p:spPr>
          <a:xfrm>
            <a:off x="5351227" y="1158875"/>
            <a:ext cx="3655925" cy="3978033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Eventos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SCRUM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53FB05-1352-43BC-B6D2-78140FCE81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628473" cy="3751262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s-ES" b="1" i="1" dirty="0">
                <a:solidFill>
                  <a:srgbClr val="558ED5"/>
                </a:solidFill>
              </a:rPr>
              <a:t>Sprint planning meet: </a:t>
            </a:r>
            <a:r>
              <a:rPr lang="es-ES" dirty="0"/>
              <a:t>el DT y el PO definen los objetivos del </a:t>
            </a:r>
            <a:r>
              <a:rPr lang="es-ES" i="1" dirty="0"/>
              <a:t>sprint</a:t>
            </a:r>
            <a:r>
              <a:rPr lang="es-ES" dirty="0"/>
              <a:t> y seleccionan los elementos del PB para incluir en el SB.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b="1" i="1" dirty="0">
                <a:solidFill>
                  <a:srgbClr val="558ED5"/>
                </a:solidFill>
              </a:rPr>
              <a:t>Daily Scrum: </a:t>
            </a:r>
            <a:r>
              <a:rPr lang="es-ES" dirty="0"/>
              <a:t>es una reunión diaria de máximo 15 minutos en la que el DT se sincroniza, compartiendo brevemente lo que se hizo, lo que se hará y los obstáculos encontrados.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b="1" i="1" dirty="0">
                <a:solidFill>
                  <a:srgbClr val="558ED5"/>
                </a:solidFill>
              </a:rPr>
              <a:t>Sprint review: </a:t>
            </a:r>
            <a:r>
              <a:rPr lang="es-ES" dirty="0"/>
              <a:t>al final de cada </a:t>
            </a:r>
            <a:r>
              <a:rPr lang="es-ES" i="1" dirty="0"/>
              <a:t>sprint</a:t>
            </a:r>
            <a:r>
              <a:rPr lang="es-ES" dirty="0"/>
              <a:t>, se realiza una reunión en la que el DT presenta el incremento completado al PO y otros </a:t>
            </a:r>
            <a:r>
              <a:rPr lang="es-ES" i="1" dirty="0"/>
              <a:t>stakeholders</a:t>
            </a:r>
            <a:r>
              <a:rPr lang="es-ES" dirty="0"/>
              <a:t> para obtener retroalimentación y ajustar el PB si es necesario.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b="1" i="1" dirty="0">
                <a:solidFill>
                  <a:srgbClr val="558ED5"/>
                </a:solidFill>
              </a:rPr>
              <a:t>Sprint retrospective: </a:t>
            </a:r>
            <a:r>
              <a:rPr lang="es-ES" dirty="0"/>
              <a:t>el  DT reflexiona sobre el </a:t>
            </a:r>
            <a:r>
              <a:rPr lang="es-ES" i="1" dirty="0"/>
              <a:t>sprint</a:t>
            </a:r>
            <a:r>
              <a:rPr lang="es-ES" dirty="0"/>
              <a:t> pasado y analiza qué salió bien, qué se puede mejorar y cómo abordar esos cambios en el siguiente </a:t>
            </a:r>
            <a:r>
              <a:rPr lang="es-ES" i="1" dirty="0"/>
              <a:t>sprint.</a:t>
            </a:r>
          </a:p>
          <a:p>
            <a:pPr marL="0" indent="0">
              <a:lnSpc>
                <a:spcPct val="90000"/>
              </a:lnSpc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6227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314" y="631825"/>
            <a:ext cx="8208000" cy="354012"/>
          </a:xfrm>
        </p:spPr>
        <p:txBody>
          <a:bodyPr/>
          <a:lstStyle/>
          <a:p>
            <a:r>
              <a:rPr lang="es-PE" dirty="0"/>
              <a:t>Implementación de una aplicación software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SCRUM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96271091-6015-4D10-AFA1-1E54C5577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663800"/>
              </p:ext>
            </p:extLst>
          </p:nvPr>
        </p:nvGraphicFramePr>
        <p:xfrm>
          <a:off x="468313" y="985837"/>
          <a:ext cx="8453050" cy="42846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984">
                  <a:extLst>
                    <a:ext uri="{9D8B030D-6E8A-4147-A177-3AD203B41FA5}">
                      <a16:colId xmlns:a16="http://schemas.microsoft.com/office/drawing/2014/main" val="4291252996"/>
                    </a:ext>
                  </a:extLst>
                </a:gridCol>
                <a:gridCol w="1255599">
                  <a:extLst>
                    <a:ext uri="{9D8B030D-6E8A-4147-A177-3AD203B41FA5}">
                      <a16:colId xmlns:a16="http://schemas.microsoft.com/office/drawing/2014/main" val="2437103965"/>
                    </a:ext>
                  </a:extLst>
                </a:gridCol>
                <a:gridCol w="6915467">
                  <a:extLst>
                    <a:ext uri="{9D8B030D-6E8A-4147-A177-3AD203B41FA5}">
                      <a16:colId xmlns:a16="http://schemas.microsoft.com/office/drawing/2014/main" val="1871346062"/>
                    </a:ext>
                  </a:extLst>
                </a:gridCol>
              </a:tblGrid>
              <a:tr h="670666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PREPARACIÓN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El equipo de desarrollo se reúne con el </a:t>
                      </a:r>
                      <a:r>
                        <a:rPr lang="es-ES" sz="1200" i="1" spc="-100" baseline="0" dirty="0"/>
                        <a:t>Product  Owner </a:t>
                      </a:r>
                      <a:r>
                        <a:rPr lang="es-ES" sz="1200" spc="-100" baseline="0" dirty="0"/>
                        <a:t>para comprender los requisitos y las necesidades de la aplicación.</a:t>
                      </a:r>
                    </a:p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El </a:t>
                      </a:r>
                      <a:r>
                        <a:rPr lang="es-ES" sz="1200" i="1" spc="-100" baseline="0" dirty="0"/>
                        <a:t>Product Owner </a:t>
                      </a:r>
                      <a:r>
                        <a:rPr lang="es-ES" sz="1200" spc="-100" baseline="0" dirty="0"/>
                        <a:t>crea y prioriza los elementos del </a:t>
                      </a:r>
                      <a:r>
                        <a:rPr lang="es-ES" sz="1200" i="1" spc="-100" baseline="0" dirty="0"/>
                        <a:t>Product Backlog</a:t>
                      </a:r>
                      <a:r>
                        <a:rPr lang="es-ES" sz="1200" spc="-100" baseline="0" dirty="0"/>
                        <a:t>, que incluyen funcionalidades, tareas y mejoras.</a:t>
                      </a:r>
                    </a:p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Se establece la duración de los </a:t>
                      </a:r>
                      <a:r>
                        <a:rPr lang="es-ES" sz="1200" i="1" spc="-100" baseline="0" dirty="0"/>
                        <a:t>sprints</a:t>
                      </a:r>
                      <a:r>
                        <a:rPr lang="es-ES" sz="1200" spc="-100" baseline="0" dirty="0"/>
                        <a:t> y se determina la capacidad del equipo para seleccionar elementos del </a:t>
                      </a:r>
                      <a:r>
                        <a:rPr lang="es-ES" sz="1200" i="1" spc="-100" baseline="0" dirty="0"/>
                        <a:t>Product Backlog</a:t>
                      </a:r>
                      <a:r>
                        <a:rPr lang="es-ES" sz="1200" spc="-100" baseline="0" dirty="0"/>
                        <a:t>.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652111949"/>
                  </a:ext>
                </a:extLst>
              </a:tr>
              <a:tr h="1935908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PE" sz="1200" i="1" spc="-100" baseline="0" dirty="0"/>
                        <a:t>SPRINT </a:t>
                      </a:r>
                      <a:r>
                        <a:rPr lang="es-PE" sz="1200" spc="-100" baseline="0" dirty="0"/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Reunión de Planificación del </a:t>
                      </a:r>
                      <a:r>
                        <a:rPr lang="es-ES" sz="1200" i="1" spc="-100" baseline="0" dirty="0"/>
                        <a:t>Sprin</a:t>
                      </a:r>
                      <a:r>
                        <a:rPr lang="es-ES" sz="1200" spc="-100" baseline="0" dirty="0"/>
                        <a:t>t: el equipo de desarrollo y el </a:t>
                      </a:r>
                      <a:r>
                        <a:rPr lang="es-ES" sz="1200" i="1" spc="-100" baseline="0" dirty="0"/>
                        <a:t>Product Owner </a:t>
                      </a:r>
                      <a:r>
                        <a:rPr lang="es-ES" sz="1200" spc="-100" baseline="0" dirty="0"/>
                        <a:t>seleccionan los elementos del </a:t>
                      </a:r>
                      <a:r>
                        <a:rPr lang="es-ES" sz="1200" i="1" spc="-100" baseline="0" dirty="0"/>
                        <a:t>Product Backlog </a:t>
                      </a:r>
                      <a:r>
                        <a:rPr lang="es-ES" sz="1200" spc="-100" baseline="0" dirty="0"/>
                        <a:t>que se incluirán en el </a:t>
                      </a:r>
                      <a:r>
                        <a:rPr lang="es-ES" sz="1200" i="1" spc="-100" baseline="0" dirty="0"/>
                        <a:t>Sprint Backlog </a:t>
                      </a:r>
                      <a:r>
                        <a:rPr lang="es-ES" sz="1200" spc="-100" baseline="0" dirty="0"/>
                        <a:t>para el primer </a:t>
                      </a:r>
                      <a:r>
                        <a:rPr lang="es-ES" sz="1200" i="1" spc="-100" baseline="0" dirty="0"/>
                        <a:t>sprint.</a:t>
                      </a:r>
                    </a:p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El equipo se compromete a completar las tareas seleccionadas durante el </a:t>
                      </a:r>
                      <a:r>
                        <a:rPr lang="es-ES" sz="1200" i="1" spc="-100" baseline="0" dirty="0"/>
                        <a:t>sprint.</a:t>
                      </a:r>
                    </a:p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i="1" spc="-100" baseline="0" dirty="0"/>
                        <a:t>Daily Scrum: e</a:t>
                      </a:r>
                      <a:r>
                        <a:rPr lang="es-ES" sz="1200" spc="-100" baseline="0" dirty="0"/>
                        <a:t>l equipo se reúne diariamente para sincronizarse, compartir el progreso, identificar obstáculos y ajustar el plan según sea necesario.</a:t>
                      </a:r>
                    </a:p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Desarrollo: el equipo trabaja en las tareas definidas, utilizando prácticas ágiles y colaborando estrechamente para implementar las funcionalidades.</a:t>
                      </a:r>
                    </a:p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Revisión del </a:t>
                      </a:r>
                      <a:r>
                        <a:rPr lang="es-ES" sz="1200" i="1" spc="-100" baseline="0" dirty="0"/>
                        <a:t>Sprint: </a:t>
                      </a:r>
                      <a:r>
                        <a:rPr lang="es-ES" sz="1200" spc="-100" baseline="0" dirty="0"/>
                        <a:t>al finalizar el </a:t>
                      </a:r>
                      <a:r>
                        <a:rPr lang="es-ES" sz="1200" i="1" spc="-100" baseline="0" dirty="0"/>
                        <a:t>sprint, </a:t>
                      </a:r>
                      <a:r>
                        <a:rPr lang="es-ES" sz="1200" spc="-100" baseline="0" dirty="0"/>
                        <a:t>el equipo realiza una demostración de las funcionalidades completadas ante el </a:t>
                      </a:r>
                      <a:r>
                        <a:rPr lang="es-ES" sz="1200" i="1" spc="-100" baseline="0" dirty="0"/>
                        <a:t>Product Owner </a:t>
                      </a:r>
                      <a:r>
                        <a:rPr lang="es-ES" sz="1200" spc="-100" baseline="0" dirty="0"/>
                        <a:t>y otros stakeholders para obtener retroalimentación y realizar ajustes si es necesario.</a:t>
                      </a:r>
                    </a:p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Retrospectiva del </a:t>
                      </a:r>
                      <a:r>
                        <a:rPr lang="es-ES" sz="1200" i="1" spc="-100" baseline="0" dirty="0"/>
                        <a:t>Sprint: e</a:t>
                      </a:r>
                      <a:r>
                        <a:rPr lang="es-ES" sz="1200" spc="-100" baseline="0" dirty="0"/>
                        <a:t>l equipo reflexiona sobre el</a:t>
                      </a:r>
                      <a:r>
                        <a:rPr lang="es-ES" sz="1200" i="1" spc="-100" baseline="0" dirty="0"/>
                        <a:t> sprint </a:t>
                      </a:r>
                      <a:r>
                        <a:rPr lang="es-ES" sz="1200" spc="-100" baseline="0" dirty="0"/>
                        <a:t>y discute cómo mejorar en términos de procesos, colaboración y rendimiento.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813795330"/>
                  </a:ext>
                </a:extLst>
              </a:tr>
              <a:tr h="754670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PE" sz="1200" i="1" spc="-100" baseline="0" dirty="0"/>
                        <a:t>SPRINTS </a:t>
                      </a:r>
                      <a:r>
                        <a:rPr lang="es-PE" sz="1200" spc="-100" baseline="0" dirty="0"/>
                        <a:t>SUCESIVOS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Los </a:t>
                      </a:r>
                      <a:r>
                        <a:rPr lang="es-ES" sz="1200" i="1" spc="-100" baseline="0" dirty="0"/>
                        <a:t>sprints </a:t>
                      </a:r>
                      <a:r>
                        <a:rPr lang="es-ES" sz="1200" spc="-100" baseline="0" dirty="0"/>
                        <a:t>subsiguientes siguen un patrón similar al primer </a:t>
                      </a:r>
                      <a:r>
                        <a:rPr lang="es-ES" sz="1200" i="1" spc="-100" baseline="0" dirty="0"/>
                        <a:t>sprint</a:t>
                      </a:r>
                      <a:r>
                        <a:rPr lang="es-ES" sz="1200" spc="-100" baseline="0" dirty="0"/>
                        <a:t>, con reuniones de planificación, </a:t>
                      </a:r>
                      <a:r>
                        <a:rPr lang="es-ES" sz="1200" i="1" spc="-100" baseline="0" dirty="0"/>
                        <a:t>Daily Scrums</a:t>
                      </a:r>
                      <a:r>
                        <a:rPr lang="es-ES" sz="1200" spc="-100" baseline="0" dirty="0"/>
                        <a:t>, desarrollo, revisión del </a:t>
                      </a:r>
                      <a:r>
                        <a:rPr lang="es-ES" sz="1200" i="1" spc="-100" baseline="0" dirty="0"/>
                        <a:t>sprint</a:t>
                      </a:r>
                      <a:r>
                        <a:rPr lang="es-ES" sz="1200" spc="-100" baseline="0" dirty="0"/>
                        <a:t> y retrospectiva del </a:t>
                      </a:r>
                      <a:r>
                        <a:rPr lang="es-ES" sz="1200" i="1" spc="-100" baseline="0" dirty="0"/>
                        <a:t>sprint.</a:t>
                      </a:r>
                    </a:p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El </a:t>
                      </a:r>
                      <a:r>
                        <a:rPr lang="es-ES" sz="1200" i="1" spc="-100" baseline="0" dirty="0"/>
                        <a:t>Product Owner </a:t>
                      </a:r>
                      <a:r>
                        <a:rPr lang="es-ES" sz="1200" spc="-100" baseline="0" dirty="0"/>
                        <a:t>actualiza y prioriza continuamente el </a:t>
                      </a:r>
                      <a:r>
                        <a:rPr lang="es-ES" sz="1200" i="1" spc="-100" baseline="0" dirty="0"/>
                        <a:t>Product Backlog </a:t>
                      </a:r>
                      <a:r>
                        <a:rPr lang="es-ES" sz="1200" spc="-100" baseline="0" dirty="0"/>
                        <a:t>en colaboración con el equipo de desarrollo para adaptarse a las necesidades cambiantes del proyecto..</a:t>
                      </a:r>
                      <a:endParaRPr lang="es-PE" sz="1200" spc="-100" baseline="0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271766759"/>
                  </a:ext>
                </a:extLst>
              </a:tr>
              <a:tr h="923419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ITERACIÓN Y MEJORA CONTINUA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El equipo continúa trabajando en </a:t>
                      </a:r>
                      <a:r>
                        <a:rPr lang="es-ES" sz="1200" i="1" spc="-100" baseline="0" dirty="0"/>
                        <a:t>sprints </a:t>
                      </a:r>
                      <a:r>
                        <a:rPr lang="es-ES" sz="1200" spc="-100" baseline="0" dirty="0"/>
                        <a:t>sucesivos, entregando incrementos funcionales de la aplicación al final de cada </a:t>
                      </a:r>
                      <a:r>
                        <a:rPr lang="es-ES" sz="1200" i="1" spc="-100" baseline="0" dirty="0"/>
                        <a:t>sprint.</a:t>
                      </a:r>
                    </a:p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A lo largo del proceso, el equipo recopila la retroalimentación de los usuarios y los </a:t>
                      </a:r>
                      <a:r>
                        <a:rPr lang="es-ES" sz="1200" i="1" spc="-100" baseline="0" dirty="0"/>
                        <a:t>stakeholders </a:t>
                      </a:r>
                      <a:r>
                        <a:rPr lang="es-ES" sz="1200" spc="-100" baseline="0" dirty="0"/>
                        <a:t>para realizar ajustes y mejoras en el producto.</a:t>
                      </a:r>
                    </a:p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El equipo se reúne regularmente para revisar y ajustar el enfoque, identificar áreas de mejora y mantener una comunicación constante para asegurar el éxito del proyecto.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442158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7064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4B664F2-7CB4-48B1-9096-E52469E94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4" y="3714842"/>
            <a:ext cx="5543549" cy="512102"/>
          </a:xfrm>
        </p:spPr>
        <p:txBody>
          <a:bodyPr/>
          <a:lstStyle/>
          <a:p>
            <a:pPr marL="274638" indent="-274638">
              <a:tabLst>
                <a:tab pos="274638" algn="l"/>
              </a:tabLst>
            </a:pPr>
            <a:r>
              <a:rPr lang="es-PE" dirty="0"/>
              <a:t>/	</a:t>
            </a:r>
            <a:r>
              <a:rPr lang="es-PE" i="1" dirty="0"/>
              <a:t>KANBAN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7997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A6222D58-5B5B-4221-2BBC-BF07EBBEA95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40" r="340"/>
          <a:stretch>
            <a:fillRect/>
          </a:stretch>
        </p:blipFill>
        <p:spPr>
          <a:xfrm>
            <a:off x="5340885" y="1158875"/>
            <a:ext cx="3599056" cy="3916153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¿Qué es?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KANBAN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53FB05-1352-43BC-B6D2-78140FCE81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535008" cy="3853072"/>
          </a:xfrm>
        </p:spPr>
        <p:txBody>
          <a:bodyPr/>
          <a:lstStyle/>
          <a:p>
            <a:r>
              <a:rPr lang="es-ES" i="1" dirty="0"/>
              <a:t>Kanban</a:t>
            </a:r>
            <a:r>
              <a:rPr lang="es-ES" dirty="0"/>
              <a:t> es una metodología de gestión visual que se utiliza para mejorar la eficiencia y la productividad en el trabajo.</a:t>
            </a:r>
          </a:p>
          <a:p>
            <a:r>
              <a:rPr lang="es-ES" dirty="0"/>
              <a:t>Se basa en el uso de tableros visuales y tarjetas para representar y gestionar el flujo de trabajo.</a:t>
            </a:r>
          </a:p>
          <a:p>
            <a:r>
              <a:rPr lang="es-ES" i="1" dirty="0"/>
              <a:t>Kanban</a:t>
            </a:r>
            <a:r>
              <a:rPr lang="es-ES" dirty="0"/>
              <a:t> es flexible y se adapta a diferentes contextos y tipos de trabajo. Puede ser utilizado tanto en proyectos de desarrollo de software como en tareas operativas o proyectos de servicios profesionales.</a:t>
            </a:r>
          </a:p>
          <a:p>
            <a:r>
              <a:rPr lang="es-ES" dirty="0"/>
              <a:t>Promueve la transparencia, la colaboración y la eficiencia al visualizar y gestionar el flujo de trabajo de manera visual y ágil.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62860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4FBA5B1C-ABDE-8CD9-D2DC-DEF8F98D922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34" r="234"/>
          <a:stretch>
            <a:fillRect/>
          </a:stretch>
        </p:blipFill>
        <p:spPr>
          <a:xfrm>
            <a:off x="5116891" y="1158874"/>
            <a:ext cx="3771291" cy="4103563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313" y="804863"/>
            <a:ext cx="4103687" cy="354012"/>
          </a:xfrm>
        </p:spPr>
        <p:txBody>
          <a:bodyPr/>
          <a:lstStyle/>
          <a:p>
            <a:r>
              <a:rPr lang="es-PE" dirty="0"/>
              <a:t>Elementos clave 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KANBAN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53FB05-1352-43BC-B6D2-78140FCE81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535008" cy="3818567"/>
          </a:xfrm>
        </p:spPr>
        <p:txBody>
          <a:bodyPr/>
          <a:lstStyle/>
          <a:p>
            <a:pPr marL="0" indent="0">
              <a:lnSpc>
                <a:spcPct val="95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s-ES" b="1" dirty="0">
                <a:solidFill>
                  <a:srgbClr val="0070C0"/>
                </a:solidFill>
              </a:rPr>
              <a:t>Tablero </a:t>
            </a:r>
            <a:r>
              <a:rPr lang="es-ES" b="1" i="1" dirty="0">
                <a:solidFill>
                  <a:srgbClr val="0070C0"/>
                </a:solidFill>
              </a:rPr>
              <a:t>Kanban</a:t>
            </a:r>
          </a:p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r>
              <a:rPr lang="es-ES" dirty="0"/>
              <a:t>Es un tablero físico o digital dividido en columnas que representan las etapas del flujo de trabajo.</a:t>
            </a:r>
          </a:p>
          <a:p>
            <a:pPr marL="0" indent="0">
              <a:lnSpc>
                <a:spcPct val="95000"/>
              </a:lnSpc>
              <a:buNone/>
            </a:pPr>
            <a:r>
              <a:rPr lang="es-ES" dirty="0"/>
              <a:t>Por lo general, se utilizan columnas como "Por hacer", "En progreso" y "Completado", pero se pueden adaptar a las necesidades específicas del equipo.</a:t>
            </a:r>
          </a:p>
          <a:p>
            <a:pPr marL="0" indent="0">
              <a:lnSpc>
                <a:spcPct val="95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s-ES" b="1" dirty="0">
                <a:solidFill>
                  <a:srgbClr val="0070C0"/>
                </a:solidFill>
              </a:rPr>
              <a:t>Tarjetas</a:t>
            </a:r>
            <a:r>
              <a:rPr lang="es-ES" b="1" i="1" dirty="0">
                <a:solidFill>
                  <a:srgbClr val="0070C0"/>
                </a:solidFill>
              </a:rPr>
              <a:t> Kanban</a:t>
            </a:r>
          </a:p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r>
              <a:rPr lang="es-ES" dirty="0"/>
              <a:t>Son las unidades de trabajo que se visualizan en el tablero.</a:t>
            </a:r>
          </a:p>
          <a:p>
            <a:pPr marL="0" indent="0">
              <a:lnSpc>
                <a:spcPct val="95000"/>
              </a:lnSpc>
              <a:buNone/>
            </a:pPr>
            <a:r>
              <a:rPr lang="es-ES" dirty="0"/>
              <a:t>Cada tarjeta representa una tarea o una pieza de trabajo y contiene información relevante, como una descripción, una prioridad y el responsable.</a:t>
            </a:r>
          </a:p>
        </p:txBody>
      </p:sp>
    </p:spTree>
    <p:extLst>
      <p:ext uri="{BB962C8B-B14F-4D97-AF65-F5344CB8AC3E}">
        <p14:creationId xmlns:p14="http://schemas.microsoft.com/office/powerpoint/2010/main" val="3692980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Elementos clave 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KANBAN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53FB05-1352-43BC-B6D2-78140FCE81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664404" cy="3965216"/>
          </a:xfrm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300"/>
              </a:spcAft>
              <a:buNone/>
            </a:pPr>
            <a:r>
              <a:rPr lang="es-ES" b="1" dirty="0">
                <a:solidFill>
                  <a:srgbClr val="0070C0"/>
                </a:solidFill>
              </a:rPr>
              <a:t>Flujo de trabajo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s-ES" i="1" dirty="0"/>
              <a:t>Kanban</a:t>
            </a:r>
            <a:r>
              <a:rPr lang="es-ES" dirty="0"/>
              <a:t> permite visualizar el flujo de trabajo de manera clara y transparente.</a:t>
            </a:r>
          </a:p>
          <a:p>
            <a:pPr marL="0" indent="0">
              <a:buNone/>
            </a:pPr>
            <a:r>
              <a:rPr lang="es-ES" dirty="0"/>
              <a:t>Las tarjetas se mueven de una columna a otra a medida que avanzan en el proceso, lo que proporciona una visión instantánea del estado de las tareas y del flujo general del trabajo.</a:t>
            </a:r>
          </a:p>
          <a:p>
            <a:pPr marL="0" indent="0">
              <a:spcBef>
                <a:spcPts val="1200"/>
              </a:spcBef>
              <a:spcAft>
                <a:spcPts val="300"/>
              </a:spcAft>
              <a:buNone/>
            </a:pPr>
            <a:r>
              <a:rPr lang="es-ES" b="1" dirty="0">
                <a:solidFill>
                  <a:srgbClr val="0070C0"/>
                </a:solidFill>
              </a:rPr>
              <a:t>Límites de trabajo en progreso (WIP)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s-ES" dirty="0"/>
              <a:t>Se establecen límites en cada columna para limitar la cantidad de trabajo que se puede realizar en paralelo.</a:t>
            </a:r>
          </a:p>
          <a:p>
            <a:pPr marL="0" indent="0">
              <a:buNone/>
            </a:pPr>
            <a:r>
              <a:rPr lang="es-ES" dirty="0"/>
              <a:t>Estos límites evitan la sobrecarga de trabajo y el cuello de botella, promoviendo un flujo de trabajo más equilibrado y una mayor eficiencia.</a:t>
            </a:r>
          </a:p>
        </p:txBody>
      </p:sp>
      <p:pic>
        <p:nvPicPr>
          <p:cNvPr id="15" name="Marcador de posición de imagen 14">
            <a:extLst>
              <a:ext uri="{FF2B5EF4-FFF2-40B4-BE49-F238E27FC236}">
                <a16:creationId xmlns:a16="http://schemas.microsoft.com/office/drawing/2014/main" id="{41462738-F8BA-CDD8-8219-A1C393C702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>
          <a:xfrm>
            <a:off x="5204287" y="1158874"/>
            <a:ext cx="3778700" cy="4111625"/>
          </a:xfrm>
        </p:spPr>
      </p:pic>
    </p:spTree>
    <p:extLst>
      <p:ext uri="{BB962C8B-B14F-4D97-AF65-F5344CB8AC3E}">
        <p14:creationId xmlns:p14="http://schemas.microsoft.com/office/powerpoint/2010/main" val="22064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Elementos clave 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KANBAN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53FB05-1352-43BC-B6D2-78140FCE81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543634" cy="3904831"/>
          </a:xfrm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300"/>
              </a:spcAft>
              <a:buNone/>
            </a:pPr>
            <a:r>
              <a:rPr lang="es-ES" b="1" dirty="0">
                <a:solidFill>
                  <a:srgbClr val="0070C0"/>
                </a:solidFill>
              </a:rPr>
              <a:t>Mejora continua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s-ES" i="1" dirty="0"/>
              <a:t>Kanban</a:t>
            </a:r>
            <a:r>
              <a:rPr lang="es-ES" dirty="0"/>
              <a:t> fomenta la mejora continua a través de la revisión y el análisis del flujo de trabajo.</a:t>
            </a:r>
          </a:p>
          <a:p>
            <a:pPr marL="0" indent="0">
              <a:buNone/>
            </a:pPr>
            <a:r>
              <a:rPr lang="es-ES" dirty="0"/>
              <a:t>Se pueden realizar reuniones regulares de revisión para identificar cuellos de botella, ineficiencias o áreas de mejora, y tomar acciones para abordarlos.</a:t>
            </a:r>
          </a:p>
          <a:p>
            <a:pPr marL="0" indent="0">
              <a:spcBef>
                <a:spcPts val="1200"/>
              </a:spcBef>
              <a:spcAft>
                <a:spcPts val="300"/>
              </a:spcAft>
              <a:buNone/>
            </a:pPr>
            <a:r>
              <a:rPr lang="es-ES" b="1" dirty="0">
                <a:solidFill>
                  <a:srgbClr val="0070C0"/>
                </a:solidFill>
              </a:rPr>
              <a:t>Gestión del flujo</a:t>
            </a:r>
            <a:endParaRPr lang="es-ES" b="1" i="1" dirty="0">
              <a:solidFill>
                <a:srgbClr val="0070C0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s-ES" i="1" dirty="0"/>
              <a:t>Kanban</a:t>
            </a:r>
            <a:r>
              <a:rPr lang="es-ES" dirty="0"/>
              <a:t> se centra en optimizar el flujo de trabajo y reducir los tiempos de espera.</a:t>
            </a:r>
          </a:p>
          <a:p>
            <a:pPr marL="0" indent="0">
              <a:buNone/>
            </a:pPr>
            <a:r>
              <a:rPr lang="es-ES" dirty="0"/>
              <a:t>Al limitar el trabajo en progreso y visualizar el flujo, se pueden identificar cuellos de botella y retrasos, y tomar medidas para resolverlos y mantener un flujo constante.</a:t>
            </a:r>
          </a:p>
        </p:txBody>
      </p:sp>
      <p:pic>
        <p:nvPicPr>
          <p:cNvPr id="10" name="Marcador de posición de imagen 9">
            <a:extLst>
              <a:ext uri="{FF2B5EF4-FFF2-40B4-BE49-F238E27FC236}">
                <a16:creationId xmlns:a16="http://schemas.microsoft.com/office/drawing/2014/main" id="{DC15ABCE-CAED-80D5-4BF0-1F9D56A83ED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18" r="118"/>
          <a:stretch>
            <a:fillRect/>
          </a:stretch>
        </p:blipFill>
        <p:spPr>
          <a:xfrm>
            <a:off x="5227436" y="1030042"/>
            <a:ext cx="3778700" cy="4111625"/>
          </a:xfrm>
        </p:spPr>
      </p:pic>
    </p:spTree>
    <p:extLst>
      <p:ext uri="{BB962C8B-B14F-4D97-AF65-F5344CB8AC3E}">
        <p14:creationId xmlns:p14="http://schemas.microsoft.com/office/powerpoint/2010/main" val="2608221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Elementos clave 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KANBAN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53FB05-1352-43BC-B6D2-78140FCE81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474623" cy="2041525"/>
          </a:xfrm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300"/>
              </a:spcAft>
              <a:buNone/>
            </a:pPr>
            <a:r>
              <a:rPr lang="es-ES" b="1" dirty="0">
                <a:solidFill>
                  <a:srgbClr val="0070C0"/>
                </a:solidFill>
              </a:rPr>
              <a:t>Enfoque en el valor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s-ES" i="1" dirty="0"/>
              <a:t>Kanban</a:t>
            </a:r>
            <a:r>
              <a:rPr lang="es-ES" dirty="0"/>
              <a:t> se centra en la entrega de valor y en la satisfacción del cliente.</a:t>
            </a:r>
          </a:p>
          <a:p>
            <a:pPr marL="0" indent="0">
              <a:buNone/>
            </a:pPr>
            <a:r>
              <a:rPr lang="es-ES" dirty="0"/>
              <a:t>Se da prioridad a las tareas o tarjetas que aportan mayor valor, asegurando que el equipo esté enfocado en lo más relevante y que se cumplan los objetivos del proyecto.</a:t>
            </a:r>
          </a:p>
        </p:txBody>
      </p:sp>
      <p:pic>
        <p:nvPicPr>
          <p:cNvPr id="10" name="Marcador de posición de imagen 9">
            <a:extLst>
              <a:ext uri="{FF2B5EF4-FFF2-40B4-BE49-F238E27FC236}">
                <a16:creationId xmlns:a16="http://schemas.microsoft.com/office/drawing/2014/main" id="{B18D300A-FF98-57C7-36FF-349C9AC9C81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561" r="561"/>
          <a:stretch>
            <a:fillRect/>
          </a:stretch>
        </p:blipFill>
        <p:spPr>
          <a:xfrm>
            <a:off x="5263529" y="1029479"/>
            <a:ext cx="3760653" cy="4091988"/>
          </a:xfrm>
        </p:spPr>
      </p:pic>
    </p:spTree>
    <p:extLst>
      <p:ext uri="{BB962C8B-B14F-4D97-AF65-F5344CB8AC3E}">
        <p14:creationId xmlns:p14="http://schemas.microsoft.com/office/powerpoint/2010/main" val="39099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7688" y="642803"/>
            <a:ext cx="8208000" cy="354012"/>
          </a:xfrm>
        </p:spPr>
        <p:txBody>
          <a:bodyPr/>
          <a:lstStyle/>
          <a:p>
            <a:r>
              <a:rPr lang="es-PE" dirty="0"/>
              <a:t>Implementación de una aplicación software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899AEE7-8F6E-4712-95A3-6FCF1BB68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PE" i="1" dirty="0"/>
              <a:t>KANBAN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96271091-6015-4D10-AFA1-1E54C5577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76498"/>
              </p:ext>
            </p:extLst>
          </p:nvPr>
        </p:nvGraphicFramePr>
        <p:xfrm>
          <a:off x="468313" y="996815"/>
          <a:ext cx="8347883" cy="42736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475">
                  <a:extLst>
                    <a:ext uri="{9D8B030D-6E8A-4147-A177-3AD203B41FA5}">
                      <a16:colId xmlns:a16="http://schemas.microsoft.com/office/drawing/2014/main" val="4291252996"/>
                    </a:ext>
                  </a:extLst>
                </a:gridCol>
                <a:gridCol w="1239978">
                  <a:extLst>
                    <a:ext uri="{9D8B030D-6E8A-4147-A177-3AD203B41FA5}">
                      <a16:colId xmlns:a16="http://schemas.microsoft.com/office/drawing/2014/main" val="2437103965"/>
                    </a:ext>
                  </a:extLst>
                </a:gridCol>
                <a:gridCol w="6829430">
                  <a:extLst>
                    <a:ext uri="{9D8B030D-6E8A-4147-A177-3AD203B41FA5}">
                      <a16:colId xmlns:a16="http://schemas.microsoft.com/office/drawing/2014/main" val="1871346062"/>
                    </a:ext>
                  </a:extLst>
                </a:gridCol>
              </a:tblGrid>
              <a:tr h="642157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CONFIGURACIÓN DEL TABLERO </a:t>
                      </a:r>
                      <a:r>
                        <a:rPr lang="es-PE" sz="1200" i="1" spc="-100" baseline="0" dirty="0"/>
                        <a:t>KANBAN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Crea un tablero </a:t>
                      </a:r>
                      <a:r>
                        <a:rPr lang="es-ES" sz="1200" i="1" spc="-100" baseline="0" dirty="0"/>
                        <a:t>Kanban</a:t>
                      </a:r>
                      <a:r>
                        <a:rPr lang="es-ES" sz="1200" spc="-100" baseline="0" dirty="0"/>
                        <a:t> físico o digital con columnas que representen las etapas del flujo de trabajo, como "Por hacer", "En progreso" y "Completado".</a:t>
                      </a:r>
                    </a:p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Define las tarjetas </a:t>
                      </a:r>
                      <a:r>
                        <a:rPr lang="es-ES" sz="1200" i="1" spc="-100" baseline="0" dirty="0"/>
                        <a:t>Kanban</a:t>
                      </a:r>
                      <a:r>
                        <a:rPr lang="es-ES" sz="1200" spc="-100" baseline="0" dirty="0"/>
                        <a:t> para representar las tareas o características de la aplicación que deben ser desarrolladas..</a:t>
                      </a:r>
                      <a:endParaRPr lang="es-PE" sz="1200" spc="-100" baseline="0" dirty="0"/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652111949"/>
                  </a:ext>
                </a:extLst>
              </a:tr>
              <a:tr h="56835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DEFINICIÓN DE LÍMITES DE TRABAJO EN PROGRESO (WIP)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Establece límites para cada columna para controlar la cantidad de trabajo que puede estar en progreso al mismo tiempo. Por ejemplo, puedes establecer un límite de 3 tarjetas en la columna "En progreso".</a:t>
                      </a:r>
                    </a:p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Los límites ayudan a mantener un flujo de trabajo equilibrado y evitan la acumulación excesiva de trabajo en una etapa específica.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813795330"/>
                  </a:ext>
                </a:extLst>
              </a:tr>
              <a:tr h="56835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PRIORIZACIÓN Y ASIGNACIÓN DE TAREAS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El </a:t>
                      </a:r>
                      <a:r>
                        <a:rPr lang="es-ES" sz="1200" i="1" spc="-100" baseline="0" dirty="0"/>
                        <a:t>Product  Owner </a:t>
                      </a:r>
                      <a:r>
                        <a:rPr lang="es-ES" sz="1200" spc="-100" baseline="0" dirty="0"/>
                        <a:t>prioriza las tarjetas en función de las necesidades del proyecto y las expectativas del cliente.</a:t>
                      </a:r>
                    </a:p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El equipo de desarrollo selecciona tarjetas del </a:t>
                      </a:r>
                      <a:r>
                        <a:rPr lang="es-ES" sz="1200" i="1" spc="-100" baseline="0" dirty="0"/>
                        <a:t>backlog </a:t>
                      </a:r>
                      <a:r>
                        <a:rPr lang="es-ES" sz="1200" spc="-100" baseline="0" dirty="0"/>
                        <a:t>y las coloca en la columna "Por hacer" en función de su capacidad y prioridades.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271766759"/>
                  </a:ext>
                </a:extLst>
              </a:tr>
              <a:tr h="56835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GESTIÓN DEL FLUJO DE TRABAJO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A medida que el equipo trabaja en una tarea, mueven la tarjeta correspondiente a la columna "En progreso".</a:t>
                      </a:r>
                    </a:p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El equipo se compromete a terminar las tareas en curso antes de tomar nuevas tarjetas del </a:t>
                      </a:r>
                      <a:r>
                        <a:rPr lang="es-ES" sz="1200" i="1" spc="-100" baseline="0" dirty="0"/>
                        <a:t>backlog.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442158516"/>
                  </a:ext>
                </a:extLst>
              </a:tr>
              <a:tr h="642157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REUNIONES DIARIAS DE SEGUIMIENTO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Realiza reuniones diarias de seguimiento (Daily Standup) para revisar el estado del trabajo.</a:t>
                      </a:r>
                    </a:p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Cada miembro del equipo comparte brevemente lo que hicieron el día anterior, lo que harán ese día y si enfrentan algún obstáculo.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269613799"/>
                  </a:ext>
                </a:extLst>
              </a:tr>
              <a:tr h="642157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VISUALIZACIÓN Y SEGUIMIENTO DEL PROGRESO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A medida que las tareas se completan, se mueven a la columna "Completado".</a:t>
                      </a:r>
                    </a:p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El equipo puede utilizar métricas visuales, como el tiempo promedio de ciclo, para evaluar la eficiencia y el rendimiento del flujo de trabajo.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004673815"/>
                  </a:ext>
                </a:extLst>
              </a:tr>
              <a:tr h="642157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7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</a:pPr>
                      <a:r>
                        <a:rPr lang="es-PE" sz="1200" spc="-100" baseline="0" dirty="0"/>
                        <a:t>MEJORA CONTINUA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Realiza reuniones periódicas para revisar el tablero </a:t>
                      </a:r>
                      <a:r>
                        <a:rPr lang="es-ES" sz="1200" i="1" spc="-100" baseline="0" dirty="0"/>
                        <a:t>Kanban </a:t>
                      </a:r>
                      <a:r>
                        <a:rPr lang="es-ES" sz="1200" spc="-100" baseline="0" dirty="0"/>
                        <a:t>y analizar posibles mejoras en el flujo de trabajo.</a:t>
                      </a:r>
                    </a:p>
                    <a:p>
                      <a:pPr marL="171450" indent="-171450">
                        <a:lnSpc>
                          <a:spcPct val="85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200" spc="-100" baseline="0" dirty="0"/>
                        <a:t>El equipo identifica cuellos de botella, ineficiencias o áreas de mejora y toma acciones para abordarlos.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319694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32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F500AF3-50A8-4251-BC95-6B4FF9C465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7366" y="1670909"/>
            <a:ext cx="7713398" cy="2213194"/>
          </a:xfrm>
        </p:spPr>
        <p:txBody>
          <a:bodyPr/>
          <a:lstStyle/>
          <a:p>
            <a:r>
              <a:rPr lang="es-ES" dirty="0"/>
              <a:t>En un mundo VUCA, las empresas ágiles se adaptan rápidamente a los cambios del entorno.</a:t>
            </a:r>
          </a:p>
          <a:p>
            <a:r>
              <a:rPr lang="es-ES" dirty="0"/>
              <a:t>Para lograrlo, adoptan el manifiesto ágil, que enfatiza la flexibilidad, la colaboración y la entrega de valor como principios fundamentales.</a:t>
            </a:r>
          </a:p>
          <a:p>
            <a:r>
              <a:rPr lang="es-ES" dirty="0"/>
              <a:t>Para implementar el manifiesto ágil, las empresas promueven un </a:t>
            </a:r>
            <a:r>
              <a:rPr lang="es-ES" i="1" dirty="0"/>
              <a:t>Mindset</a:t>
            </a:r>
            <a:r>
              <a:rPr lang="es-ES" dirty="0"/>
              <a:t> ágil basado en el </a:t>
            </a:r>
            <a:r>
              <a:rPr lang="es-ES" i="1" dirty="0"/>
              <a:t>Design Thinking </a:t>
            </a:r>
            <a:r>
              <a:rPr lang="es-ES" dirty="0"/>
              <a:t>y utilizan metodologías como </a:t>
            </a:r>
            <a:r>
              <a:rPr lang="es-ES" i="1" dirty="0"/>
              <a:t>Scrum</a:t>
            </a:r>
            <a:r>
              <a:rPr lang="es-ES" dirty="0"/>
              <a:t> y </a:t>
            </a:r>
            <a:r>
              <a:rPr lang="es-ES" i="1" dirty="0"/>
              <a:t>Kanban</a:t>
            </a:r>
            <a:r>
              <a:rPr lang="es-ES" dirty="0"/>
              <a:t> para gestionar proyectos de manera eficiente y eficaz.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544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9435A8C-18F1-4C11-BC95-3930F36C4A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Project Management Institute &amp; Agile Alliance. (2017). Agile Practice Guide. Newtown Square, PA: Project Management Institute.</a:t>
            </a:r>
          </a:p>
          <a:p>
            <a:pPr>
              <a:lnSpc>
                <a:spcPct val="100000"/>
              </a:lnSpc>
            </a:pPr>
            <a:r>
              <a:rPr lang="en-US" dirty="0" err="1"/>
              <a:t>Ries</a:t>
            </a:r>
            <a:r>
              <a:rPr lang="en-US" dirty="0"/>
              <a:t>, E. (2011). The Lean Startup: How Today's Entrepreneurs Use Continuous Innovation to Create Radically Successful Businesses. Crown Publishing Group.</a:t>
            </a:r>
          </a:p>
          <a:p>
            <a:pPr>
              <a:lnSpc>
                <a:spcPct val="100000"/>
              </a:lnSpc>
            </a:pPr>
            <a:r>
              <a:rPr lang="en-US" dirty="0"/>
              <a:t>Knapp, J., </a:t>
            </a:r>
            <a:r>
              <a:rPr lang="en-US" dirty="0" err="1"/>
              <a:t>Zeratsky</a:t>
            </a:r>
            <a:r>
              <a:rPr lang="en-US" dirty="0"/>
              <a:t>, J., &amp; </a:t>
            </a:r>
            <a:r>
              <a:rPr lang="en-US" dirty="0" err="1"/>
              <a:t>Kowitz</a:t>
            </a:r>
            <a:r>
              <a:rPr lang="en-US" dirty="0"/>
              <a:t>, B. (2016). Sprint: How to Solve Big Problems and Test New Ideas in Just Five Days. Simon &amp; Schuster.</a:t>
            </a:r>
          </a:p>
          <a:p>
            <a:pPr>
              <a:lnSpc>
                <a:spcPct val="100000"/>
              </a:lnSpc>
            </a:pPr>
            <a:r>
              <a:rPr lang="en-US" dirty="0" err="1"/>
              <a:t>Schwaber</a:t>
            </a:r>
            <a:r>
              <a:rPr lang="en-US" dirty="0"/>
              <a:t>, K. (2004). Agile Project Management with Scrum. Microsoft Press.</a:t>
            </a:r>
          </a:p>
          <a:p>
            <a:pPr>
              <a:lnSpc>
                <a:spcPct val="100000"/>
              </a:lnSpc>
            </a:pPr>
            <a:r>
              <a:rPr lang="en-US" dirty="0"/>
              <a:t>Williams, L., &amp; Cockburn, A. (2003). Agile Methods: The Impact of Agile Methods on Software Development. IEEE Computer Society.</a:t>
            </a:r>
            <a:endParaRPr lang="es-E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315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16328</TotalTime>
  <Words>5220</Words>
  <Application>Microsoft Office PowerPoint</Application>
  <PresentationFormat>Presentación en pantalla (16:10)</PresentationFormat>
  <Paragraphs>433</Paragraphs>
  <Slides>59</Slides>
  <Notes>59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59</vt:i4>
      </vt:variant>
    </vt:vector>
  </HeadingPairs>
  <TitlesOfParts>
    <vt:vector size="66" baseType="lpstr">
      <vt:lpstr>Arial</vt:lpstr>
      <vt:lpstr>Calibri</vt:lpstr>
      <vt:lpstr>Delius</vt:lpstr>
      <vt:lpstr>Montserrat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Arturo Enrique Reátegui Herrera</cp:lastModifiedBy>
  <cp:revision>1055</cp:revision>
  <cp:lastPrinted>2018-01-16T21:42:59Z</cp:lastPrinted>
  <dcterms:created xsi:type="dcterms:W3CDTF">2016-10-06T14:52:02Z</dcterms:created>
  <dcterms:modified xsi:type="dcterms:W3CDTF">2023-07-17T23:15:29Z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