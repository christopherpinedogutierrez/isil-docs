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5.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7.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8.xml" ContentType="application/vnd.openxmlformats-officedocument.presentationml.tag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5.xml" ContentType="application/vnd.openxmlformats-officedocument.presentationml.notesSlide+xml"/>
  <Override PartName="/ppt/tags/tag9.xml" ContentType="application/vnd.openxmlformats-officedocument.presentationml.tags+xml"/>
  <Override PartName="/ppt/notesSlides/notesSlide56.xml" ContentType="application/vnd.openxmlformats-officedocument.presentationml.notesSlide+xml"/>
  <Override PartName="/ppt/tags/tag10.xml" ContentType="application/vnd.openxmlformats-officedocument.presentationml.tags+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9"/>
  </p:notesMasterIdLst>
  <p:handoutMasterIdLst>
    <p:handoutMasterId r:id="rId60"/>
  </p:handoutMasterIdLst>
  <p:sldIdLst>
    <p:sldId id="418" r:id="rId2"/>
    <p:sldId id="337" r:id="rId3"/>
    <p:sldId id="315" r:id="rId4"/>
    <p:sldId id="451" r:id="rId5"/>
    <p:sldId id="456" r:id="rId6"/>
    <p:sldId id="489" r:id="rId7"/>
    <p:sldId id="490" r:id="rId8"/>
    <p:sldId id="491" r:id="rId9"/>
    <p:sldId id="492" r:id="rId10"/>
    <p:sldId id="493" r:id="rId11"/>
    <p:sldId id="494" r:id="rId12"/>
    <p:sldId id="495" r:id="rId13"/>
    <p:sldId id="452" r:id="rId14"/>
    <p:sldId id="467" r:id="rId15"/>
    <p:sldId id="468" r:id="rId16"/>
    <p:sldId id="469" r:id="rId17"/>
    <p:sldId id="470" r:id="rId18"/>
    <p:sldId id="471" r:id="rId19"/>
    <p:sldId id="472" r:id="rId20"/>
    <p:sldId id="473" r:id="rId21"/>
    <p:sldId id="453" r:id="rId22"/>
    <p:sldId id="474" r:id="rId23"/>
    <p:sldId id="496" r:id="rId24"/>
    <p:sldId id="497" r:id="rId25"/>
    <p:sldId id="498" r:id="rId26"/>
    <p:sldId id="499" r:id="rId27"/>
    <p:sldId id="500" r:id="rId28"/>
    <p:sldId id="501" r:id="rId29"/>
    <p:sldId id="502" r:id="rId30"/>
    <p:sldId id="454" r:id="rId31"/>
    <p:sldId id="480" r:id="rId32"/>
    <p:sldId id="503" r:id="rId33"/>
    <p:sldId id="504" r:id="rId34"/>
    <p:sldId id="505" r:id="rId35"/>
    <p:sldId id="506" r:id="rId36"/>
    <p:sldId id="507" r:id="rId37"/>
    <p:sldId id="508" r:id="rId38"/>
    <p:sldId id="484" r:id="rId39"/>
    <p:sldId id="509" r:id="rId40"/>
    <p:sldId id="510" r:id="rId41"/>
    <p:sldId id="511" r:id="rId42"/>
    <p:sldId id="512" r:id="rId43"/>
    <p:sldId id="513" r:id="rId44"/>
    <p:sldId id="455" r:id="rId45"/>
    <p:sldId id="485" r:id="rId46"/>
    <p:sldId id="514" r:id="rId47"/>
    <p:sldId id="515" r:id="rId48"/>
    <p:sldId id="516" r:id="rId49"/>
    <p:sldId id="528" r:id="rId50"/>
    <p:sldId id="527" r:id="rId51"/>
    <p:sldId id="487" r:id="rId52"/>
    <p:sldId id="529" r:id="rId53"/>
    <p:sldId id="530" r:id="rId54"/>
    <p:sldId id="531" r:id="rId55"/>
    <p:sldId id="532" r:id="rId56"/>
    <p:sldId id="303" r:id="rId57"/>
    <p:sldId id="448" r:id="rId58"/>
  </p:sldIdLst>
  <p:sldSz cx="9144000" cy="5715000" type="screen16x10"/>
  <p:notesSz cx="6797675" cy="9926638"/>
  <p:custDataLst>
    <p:tags r:id="rId61"/>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58ED5"/>
    <a:srgbClr val="81FFBA"/>
    <a:srgbClr val="1F85A6"/>
    <a:srgbClr val="15BDAD"/>
    <a:srgbClr val="48C2BB"/>
    <a:srgbClr val="F1D156"/>
    <a:srgbClr val="276B7D"/>
    <a:srgbClr val="F1FDC3"/>
    <a:srgbClr val="9CC606"/>
    <a:srgbClr val="E2F6F1"/>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639" autoAdjust="0"/>
    <p:restoredTop sz="84682" autoAdjust="0"/>
  </p:normalViewPr>
  <p:slideViewPr>
    <p:cSldViewPr snapToGrid="0" snapToObjects="1" showGuides="1">
      <p:cViewPr varScale="1">
        <p:scale>
          <a:sx n="87" d="100"/>
          <a:sy n="87" d="100"/>
        </p:scale>
        <p:origin x="1608" y="72"/>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20" d="100"/>
        <a:sy n="120" d="100"/>
      </p:scale>
      <p:origin x="0" y="-9462"/>
    </p:cViewPr>
  </p:sorterViewPr>
  <p:notesViewPr>
    <p:cSldViewPr snapToGrid="0" snapToObjects="1" showGuides="1">
      <p:cViewPr varScale="1">
        <p:scale>
          <a:sx n="48" d="100"/>
          <a:sy n="48" d="100"/>
        </p:scale>
        <p:origin x="2940" y="72"/>
      </p:cViewPr>
      <p:guideLst>
        <p:guide orient="horz" pos="3126"/>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ags" Target="tags/tag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EE473BF-A8D9-4923-AB91-F475F419B6F7}"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s-PE"/>
        </a:p>
      </dgm:t>
    </dgm:pt>
    <dgm:pt modelId="{B85DE1BC-13F9-49B9-A399-FE5150D636D1}">
      <dgm:prSet phldrT="[Texto]"/>
      <dgm:spPr/>
      <dgm:t>
        <a:bodyPr/>
        <a:lstStyle/>
        <a:p>
          <a:pPr>
            <a:lnSpc>
              <a:spcPct val="85000"/>
            </a:lnSpc>
            <a:spcBef>
              <a:spcPts val="0"/>
            </a:spcBef>
            <a:spcAft>
              <a:spcPts val="0"/>
            </a:spcAft>
          </a:pPr>
          <a:r>
            <a:rPr lang="es-ES" dirty="0"/>
            <a:t>Paso 1</a:t>
          </a:r>
        </a:p>
        <a:p>
          <a:pPr>
            <a:lnSpc>
              <a:spcPct val="85000"/>
            </a:lnSpc>
            <a:spcBef>
              <a:spcPts val="0"/>
            </a:spcBef>
            <a:spcAft>
              <a:spcPts val="0"/>
            </a:spcAft>
          </a:pPr>
          <a:r>
            <a:rPr lang="es-ES" dirty="0"/>
            <a:t>Definir los objetivos y las métricas clave.</a:t>
          </a:r>
          <a:endParaRPr lang="es-PE" dirty="0"/>
        </a:p>
      </dgm:t>
    </dgm:pt>
    <dgm:pt modelId="{D1211EB4-2794-456C-8EBC-86C2BC5695E6}" type="parTrans" cxnId="{A5207C67-AE50-47D3-9BFE-235378067B9C}">
      <dgm:prSet/>
      <dgm:spPr/>
      <dgm:t>
        <a:bodyPr/>
        <a:lstStyle/>
        <a:p>
          <a:pPr>
            <a:lnSpc>
              <a:spcPct val="85000"/>
            </a:lnSpc>
            <a:spcBef>
              <a:spcPts val="0"/>
            </a:spcBef>
            <a:spcAft>
              <a:spcPts val="0"/>
            </a:spcAft>
          </a:pPr>
          <a:endParaRPr lang="es-PE"/>
        </a:p>
      </dgm:t>
    </dgm:pt>
    <dgm:pt modelId="{0AE70197-5480-4A7D-8251-32D72B5AEA89}" type="sibTrans" cxnId="{A5207C67-AE50-47D3-9BFE-235378067B9C}">
      <dgm:prSet/>
      <dgm:spPr/>
      <dgm:t>
        <a:bodyPr/>
        <a:lstStyle/>
        <a:p>
          <a:pPr>
            <a:lnSpc>
              <a:spcPct val="85000"/>
            </a:lnSpc>
            <a:spcBef>
              <a:spcPts val="0"/>
            </a:spcBef>
            <a:spcAft>
              <a:spcPts val="0"/>
            </a:spcAft>
          </a:pPr>
          <a:endParaRPr lang="es-PE"/>
        </a:p>
      </dgm:t>
    </dgm:pt>
    <dgm:pt modelId="{F92C365C-E17D-4C3F-B3DB-933FD6BDBECC}">
      <dgm:prSet/>
      <dgm:spPr/>
      <dgm:t>
        <a:bodyPr/>
        <a:lstStyle/>
        <a:p>
          <a:pPr>
            <a:lnSpc>
              <a:spcPct val="85000"/>
            </a:lnSpc>
            <a:spcBef>
              <a:spcPts val="0"/>
            </a:spcBef>
            <a:spcAft>
              <a:spcPts val="0"/>
            </a:spcAft>
          </a:pPr>
          <a:r>
            <a:rPr lang="es-ES" dirty="0"/>
            <a:t>Paso 2</a:t>
          </a:r>
        </a:p>
        <a:p>
          <a:pPr>
            <a:lnSpc>
              <a:spcPct val="85000"/>
            </a:lnSpc>
            <a:spcBef>
              <a:spcPts val="0"/>
            </a:spcBef>
            <a:spcAft>
              <a:spcPts val="0"/>
            </a:spcAft>
          </a:pPr>
          <a:r>
            <a:rPr lang="es-ES" dirty="0"/>
            <a:t>Determinar la audiencia y los requisitos de visualización.</a:t>
          </a:r>
        </a:p>
      </dgm:t>
    </dgm:pt>
    <dgm:pt modelId="{DC4B08AB-2D6B-4CD9-87E0-A28A2FADF1DF}" type="parTrans" cxnId="{18A0896A-0E87-43FF-AFEF-7B9ACD66442E}">
      <dgm:prSet/>
      <dgm:spPr/>
      <dgm:t>
        <a:bodyPr/>
        <a:lstStyle/>
        <a:p>
          <a:pPr>
            <a:lnSpc>
              <a:spcPct val="85000"/>
            </a:lnSpc>
            <a:spcBef>
              <a:spcPts val="0"/>
            </a:spcBef>
            <a:spcAft>
              <a:spcPts val="0"/>
            </a:spcAft>
          </a:pPr>
          <a:endParaRPr lang="es-PE"/>
        </a:p>
      </dgm:t>
    </dgm:pt>
    <dgm:pt modelId="{D429F418-9147-4894-9380-B5E956BBF7A4}" type="sibTrans" cxnId="{18A0896A-0E87-43FF-AFEF-7B9ACD66442E}">
      <dgm:prSet/>
      <dgm:spPr/>
      <dgm:t>
        <a:bodyPr/>
        <a:lstStyle/>
        <a:p>
          <a:pPr>
            <a:lnSpc>
              <a:spcPct val="85000"/>
            </a:lnSpc>
            <a:spcBef>
              <a:spcPts val="0"/>
            </a:spcBef>
            <a:spcAft>
              <a:spcPts val="0"/>
            </a:spcAft>
          </a:pPr>
          <a:endParaRPr lang="es-PE"/>
        </a:p>
      </dgm:t>
    </dgm:pt>
    <dgm:pt modelId="{C90FE237-A151-4546-B891-C68C46BEBCA6}">
      <dgm:prSet/>
      <dgm:spPr/>
      <dgm:t>
        <a:bodyPr/>
        <a:lstStyle/>
        <a:p>
          <a:pPr>
            <a:lnSpc>
              <a:spcPct val="85000"/>
            </a:lnSpc>
            <a:spcBef>
              <a:spcPts val="0"/>
            </a:spcBef>
            <a:spcAft>
              <a:spcPts val="0"/>
            </a:spcAft>
          </a:pPr>
          <a:r>
            <a:rPr lang="es-ES" dirty="0"/>
            <a:t>Paso 3</a:t>
          </a:r>
        </a:p>
        <a:p>
          <a:pPr>
            <a:lnSpc>
              <a:spcPct val="85000"/>
            </a:lnSpc>
            <a:spcBef>
              <a:spcPts val="0"/>
            </a:spcBef>
            <a:spcAft>
              <a:spcPts val="0"/>
            </a:spcAft>
          </a:pPr>
          <a:r>
            <a:rPr lang="es-ES" dirty="0"/>
            <a:t>Seleccionar la herramienta de tablero de control.</a:t>
          </a:r>
        </a:p>
      </dgm:t>
    </dgm:pt>
    <dgm:pt modelId="{FC61A38F-AADE-4127-B55D-87DEDF4155B2}" type="parTrans" cxnId="{DF1D7FFB-E334-45B6-A092-280A2E6691E2}">
      <dgm:prSet/>
      <dgm:spPr/>
      <dgm:t>
        <a:bodyPr/>
        <a:lstStyle/>
        <a:p>
          <a:pPr>
            <a:lnSpc>
              <a:spcPct val="85000"/>
            </a:lnSpc>
            <a:spcBef>
              <a:spcPts val="0"/>
            </a:spcBef>
            <a:spcAft>
              <a:spcPts val="0"/>
            </a:spcAft>
          </a:pPr>
          <a:endParaRPr lang="es-PE"/>
        </a:p>
      </dgm:t>
    </dgm:pt>
    <dgm:pt modelId="{FB747BC1-3CEC-44BF-970D-6C6C582E5FC1}" type="sibTrans" cxnId="{DF1D7FFB-E334-45B6-A092-280A2E6691E2}">
      <dgm:prSet/>
      <dgm:spPr/>
      <dgm:t>
        <a:bodyPr/>
        <a:lstStyle/>
        <a:p>
          <a:pPr>
            <a:lnSpc>
              <a:spcPct val="85000"/>
            </a:lnSpc>
            <a:spcBef>
              <a:spcPts val="0"/>
            </a:spcBef>
            <a:spcAft>
              <a:spcPts val="0"/>
            </a:spcAft>
          </a:pPr>
          <a:endParaRPr lang="es-PE"/>
        </a:p>
      </dgm:t>
    </dgm:pt>
    <dgm:pt modelId="{37076647-86A9-4C91-B244-6D08A5ACE55E}">
      <dgm:prSet/>
      <dgm:spPr/>
      <dgm:t>
        <a:bodyPr/>
        <a:lstStyle/>
        <a:p>
          <a:pPr>
            <a:lnSpc>
              <a:spcPct val="85000"/>
            </a:lnSpc>
            <a:spcBef>
              <a:spcPts val="0"/>
            </a:spcBef>
            <a:spcAft>
              <a:spcPts val="0"/>
            </a:spcAft>
          </a:pPr>
          <a:r>
            <a:rPr lang="es-ES" dirty="0"/>
            <a:t>Paso 4</a:t>
          </a:r>
        </a:p>
        <a:p>
          <a:pPr>
            <a:lnSpc>
              <a:spcPct val="85000"/>
            </a:lnSpc>
            <a:spcBef>
              <a:spcPts val="0"/>
            </a:spcBef>
            <a:spcAft>
              <a:spcPts val="0"/>
            </a:spcAft>
          </a:pPr>
          <a:r>
            <a:rPr lang="es-ES" dirty="0"/>
            <a:t>Recopilar y preparar los datos.</a:t>
          </a:r>
        </a:p>
      </dgm:t>
    </dgm:pt>
    <dgm:pt modelId="{FF550048-B7B7-4B70-AF66-7F094EDD2C69}" type="parTrans" cxnId="{E0C35442-A6B2-4478-B614-9D5B70CC9DB3}">
      <dgm:prSet/>
      <dgm:spPr/>
      <dgm:t>
        <a:bodyPr/>
        <a:lstStyle/>
        <a:p>
          <a:pPr>
            <a:lnSpc>
              <a:spcPct val="85000"/>
            </a:lnSpc>
            <a:spcBef>
              <a:spcPts val="0"/>
            </a:spcBef>
            <a:spcAft>
              <a:spcPts val="0"/>
            </a:spcAft>
          </a:pPr>
          <a:endParaRPr lang="es-PE"/>
        </a:p>
      </dgm:t>
    </dgm:pt>
    <dgm:pt modelId="{EE60878F-4572-4FAE-9D28-CE75D25BC89C}" type="sibTrans" cxnId="{E0C35442-A6B2-4478-B614-9D5B70CC9DB3}">
      <dgm:prSet/>
      <dgm:spPr/>
      <dgm:t>
        <a:bodyPr/>
        <a:lstStyle/>
        <a:p>
          <a:pPr>
            <a:lnSpc>
              <a:spcPct val="85000"/>
            </a:lnSpc>
            <a:spcBef>
              <a:spcPts val="0"/>
            </a:spcBef>
            <a:spcAft>
              <a:spcPts val="0"/>
            </a:spcAft>
          </a:pPr>
          <a:endParaRPr lang="es-PE"/>
        </a:p>
      </dgm:t>
    </dgm:pt>
    <dgm:pt modelId="{9A743F1E-19E3-4F2E-A5D3-35D8F038565E}">
      <dgm:prSet/>
      <dgm:spPr/>
      <dgm:t>
        <a:bodyPr/>
        <a:lstStyle/>
        <a:p>
          <a:pPr>
            <a:lnSpc>
              <a:spcPct val="85000"/>
            </a:lnSpc>
            <a:spcBef>
              <a:spcPts val="0"/>
            </a:spcBef>
            <a:spcAft>
              <a:spcPts val="0"/>
            </a:spcAft>
          </a:pPr>
          <a:r>
            <a:rPr lang="es-ES" dirty="0"/>
            <a:t>Paso 5</a:t>
          </a:r>
        </a:p>
        <a:p>
          <a:pPr>
            <a:lnSpc>
              <a:spcPct val="85000"/>
            </a:lnSpc>
            <a:spcBef>
              <a:spcPts val="0"/>
            </a:spcBef>
            <a:spcAft>
              <a:spcPts val="0"/>
            </a:spcAft>
          </a:pPr>
          <a:r>
            <a:rPr lang="es-ES" dirty="0"/>
            <a:t>Diseñar el esquema del tablero de control.</a:t>
          </a:r>
        </a:p>
      </dgm:t>
    </dgm:pt>
    <dgm:pt modelId="{57D52FBA-EAE6-4B32-82E7-69325005CA55}" type="parTrans" cxnId="{701A4EF4-EBDE-4CAC-86CD-EB4379520605}">
      <dgm:prSet/>
      <dgm:spPr/>
      <dgm:t>
        <a:bodyPr/>
        <a:lstStyle/>
        <a:p>
          <a:pPr>
            <a:lnSpc>
              <a:spcPct val="85000"/>
            </a:lnSpc>
            <a:spcBef>
              <a:spcPts val="0"/>
            </a:spcBef>
            <a:spcAft>
              <a:spcPts val="0"/>
            </a:spcAft>
          </a:pPr>
          <a:endParaRPr lang="es-PE"/>
        </a:p>
      </dgm:t>
    </dgm:pt>
    <dgm:pt modelId="{ACCCD67F-DE1D-4EEF-A60F-B10C41A1C81E}" type="sibTrans" cxnId="{701A4EF4-EBDE-4CAC-86CD-EB4379520605}">
      <dgm:prSet/>
      <dgm:spPr/>
      <dgm:t>
        <a:bodyPr/>
        <a:lstStyle/>
        <a:p>
          <a:pPr>
            <a:lnSpc>
              <a:spcPct val="85000"/>
            </a:lnSpc>
            <a:spcBef>
              <a:spcPts val="0"/>
            </a:spcBef>
            <a:spcAft>
              <a:spcPts val="0"/>
            </a:spcAft>
          </a:pPr>
          <a:endParaRPr lang="es-PE"/>
        </a:p>
      </dgm:t>
    </dgm:pt>
    <dgm:pt modelId="{BAF05E2C-A0A0-4386-A000-8462372640AE}">
      <dgm:prSet/>
      <dgm:spPr/>
      <dgm:t>
        <a:bodyPr/>
        <a:lstStyle/>
        <a:p>
          <a:pPr>
            <a:lnSpc>
              <a:spcPct val="85000"/>
            </a:lnSpc>
            <a:spcBef>
              <a:spcPts val="0"/>
            </a:spcBef>
            <a:spcAft>
              <a:spcPts val="0"/>
            </a:spcAft>
          </a:pPr>
          <a:r>
            <a:rPr lang="es-ES" dirty="0"/>
            <a:t>Paso 6</a:t>
          </a:r>
        </a:p>
        <a:p>
          <a:pPr>
            <a:lnSpc>
              <a:spcPct val="85000"/>
            </a:lnSpc>
            <a:spcBef>
              <a:spcPts val="0"/>
            </a:spcBef>
            <a:spcAft>
              <a:spcPts val="0"/>
            </a:spcAft>
          </a:pPr>
          <a:r>
            <a:rPr lang="es-ES" dirty="0"/>
            <a:t>Configurar los componentes interactivos.</a:t>
          </a:r>
        </a:p>
      </dgm:t>
    </dgm:pt>
    <dgm:pt modelId="{E085700D-5BA1-459A-B91C-C3D5F8F35BBC}" type="parTrans" cxnId="{F16FBA1B-7D65-4866-9DB6-3C9F3FF267D5}">
      <dgm:prSet/>
      <dgm:spPr/>
      <dgm:t>
        <a:bodyPr/>
        <a:lstStyle/>
        <a:p>
          <a:pPr>
            <a:lnSpc>
              <a:spcPct val="85000"/>
            </a:lnSpc>
            <a:spcBef>
              <a:spcPts val="0"/>
            </a:spcBef>
            <a:spcAft>
              <a:spcPts val="0"/>
            </a:spcAft>
          </a:pPr>
          <a:endParaRPr lang="es-PE"/>
        </a:p>
      </dgm:t>
    </dgm:pt>
    <dgm:pt modelId="{A32A83AB-799A-425C-A600-5263E167B6B9}" type="sibTrans" cxnId="{F16FBA1B-7D65-4866-9DB6-3C9F3FF267D5}">
      <dgm:prSet/>
      <dgm:spPr/>
      <dgm:t>
        <a:bodyPr/>
        <a:lstStyle/>
        <a:p>
          <a:pPr>
            <a:lnSpc>
              <a:spcPct val="85000"/>
            </a:lnSpc>
            <a:spcBef>
              <a:spcPts val="0"/>
            </a:spcBef>
            <a:spcAft>
              <a:spcPts val="0"/>
            </a:spcAft>
          </a:pPr>
          <a:endParaRPr lang="es-PE"/>
        </a:p>
      </dgm:t>
    </dgm:pt>
    <dgm:pt modelId="{6AC87790-0789-4263-BBC8-5993229E49B3}">
      <dgm:prSet/>
      <dgm:spPr/>
      <dgm:t>
        <a:bodyPr/>
        <a:lstStyle/>
        <a:p>
          <a:pPr>
            <a:lnSpc>
              <a:spcPct val="85000"/>
            </a:lnSpc>
            <a:spcBef>
              <a:spcPts val="0"/>
            </a:spcBef>
            <a:spcAft>
              <a:spcPts val="0"/>
            </a:spcAft>
          </a:pPr>
          <a:r>
            <a:rPr lang="es-ES" dirty="0"/>
            <a:t>Paso 7</a:t>
          </a:r>
        </a:p>
        <a:p>
          <a:pPr>
            <a:lnSpc>
              <a:spcPct val="85000"/>
            </a:lnSpc>
            <a:spcBef>
              <a:spcPts val="0"/>
            </a:spcBef>
            <a:spcAft>
              <a:spcPts val="0"/>
            </a:spcAft>
          </a:pPr>
          <a:r>
            <a:rPr lang="es-ES" dirty="0"/>
            <a:t>Probar y optimizar el tablero de control.</a:t>
          </a:r>
        </a:p>
      </dgm:t>
    </dgm:pt>
    <dgm:pt modelId="{6B005457-BD5E-45F9-91C6-B4EBB08E7292}" type="parTrans" cxnId="{3CC7664E-6F3D-4B9F-9FC4-EC23A93FBB52}">
      <dgm:prSet/>
      <dgm:spPr/>
      <dgm:t>
        <a:bodyPr/>
        <a:lstStyle/>
        <a:p>
          <a:pPr>
            <a:lnSpc>
              <a:spcPct val="85000"/>
            </a:lnSpc>
            <a:spcBef>
              <a:spcPts val="0"/>
            </a:spcBef>
            <a:spcAft>
              <a:spcPts val="0"/>
            </a:spcAft>
          </a:pPr>
          <a:endParaRPr lang="es-PE"/>
        </a:p>
      </dgm:t>
    </dgm:pt>
    <dgm:pt modelId="{D8B1FFBB-33F1-4ECE-B5F7-E2720835F6F1}" type="sibTrans" cxnId="{3CC7664E-6F3D-4B9F-9FC4-EC23A93FBB52}">
      <dgm:prSet/>
      <dgm:spPr/>
      <dgm:t>
        <a:bodyPr/>
        <a:lstStyle/>
        <a:p>
          <a:pPr>
            <a:lnSpc>
              <a:spcPct val="85000"/>
            </a:lnSpc>
            <a:spcBef>
              <a:spcPts val="0"/>
            </a:spcBef>
            <a:spcAft>
              <a:spcPts val="0"/>
            </a:spcAft>
          </a:pPr>
          <a:endParaRPr lang="es-PE"/>
        </a:p>
      </dgm:t>
    </dgm:pt>
    <dgm:pt modelId="{EBF3C2A5-BBC9-44A0-BB72-46F137B13E61}">
      <dgm:prSet/>
      <dgm:spPr/>
      <dgm:t>
        <a:bodyPr/>
        <a:lstStyle/>
        <a:p>
          <a:pPr>
            <a:lnSpc>
              <a:spcPct val="85000"/>
            </a:lnSpc>
            <a:spcBef>
              <a:spcPts val="0"/>
            </a:spcBef>
            <a:spcAft>
              <a:spcPts val="0"/>
            </a:spcAft>
          </a:pPr>
          <a:r>
            <a:rPr lang="es-ES" dirty="0"/>
            <a:t>Paso 8</a:t>
          </a:r>
        </a:p>
        <a:p>
          <a:pPr>
            <a:lnSpc>
              <a:spcPct val="85000"/>
            </a:lnSpc>
            <a:spcBef>
              <a:spcPts val="0"/>
            </a:spcBef>
            <a:spcAft>
              <a:spcPts val="0"/>
            </a:spcAft>
          </a:pPr>
          <a:r>
            <a:rPr lang="es-ES" dirty="0"/>
            <a:t>Implementar y compartir el tablero de control.</a:t>
          </a:r>
        </a:p>
      </dgm:t>
    </dgm:pt>
    <dgm:pt modelId="{65FB1955-E07F-4B5E-B375-7F4029BE6499}" type="parTrans" cxnId="{3DD46046-9031-4A33-9AB0-307156E96F97}">
      <dgm:prSet/>
      <dgm:spPr/>
      <dgm:t>
        <a:bodyPr/>
        <a:lstStyle/>
        <a:p>
          <a:pPr>
            <a:lnSpc>
              <a:spcPct val="85000"/>
            </a:lnSpc>
            <a:spcBef>
              <a:spcPts val="0"/>
            </a:spcBef>
            <a:spcAft>
              <a:spcPts val="0"/>
            </a:spcAft>
          </a:pPr>
          <a:endParaRPr lang="es-PE"/>
        </a:p>
      </dgm:t>
    </dgm:pt>
    <dgm:pt modelId="{3B3CFE52-AB49-4CE3-977A-08C300041A7F}" type="sibTrans" cxnId="{3DD46046-9031-4A33-9AB0-307156E96F97}">
      <dgm:prSet/>
      <dgm:spPr/>
      <dgm:t>
        <a:bodyPr/>
        <a:lstStyle/>
        <a:p>
          <a:pPr>
            <a:lnSpc>
              <a:spcPct val="85000"/>
            </a:lnSpc>
            <a:spcBef>
              <a:spcPts val="0"/>
            </a:spcBef>
            <a:spcAft>
              <a:spcPts val="0"/>
            </a:spcAft>
          </a:pPr>
          <a:endParaRPr lang="es-PE"/>
        </a:p>
      </dgm:t>
    </dgm:pt>
    <dgm:pt modelId="{6B2AE031-594F-497E-B1B1-C42C3352C236}">
      <dgm:prSet/>
      <dgm:spPr/>
      <dgm:t>
        <a:bodyPr/>
        <a:lstStyle/>
        <a:p>
          <a:pPr>
            <a:lnSpc>
              <a:spcPct val="85000"/>
            </a:lnSpc>
            <a:spcBef>
              <a:spcPts val="0"/>
            </a:spcBef>
            <a:spcAft>
              <a:spcPts val="0"/>
            </a:spcAft>
          </a:pPr>
          <a:r>
            <a:rPr lang="es-ES" dirty="0"/>
            <a:t>Paso 9</a:t>
          </a:r>
        </a:p>
        <a:p>
          <a:pPr>
            <a:lnSpc>
              <a:spcPct val="85000"/>
            </a:lnSpc>
            <a:spcBef>
              <a:spcPts val="0"/>
            </a:spcBef>
            <a:spcAft>
              <a:spcPts val="0"/>
            </a:spcAft>
          </a:pPr>
          <a:r>
            <a:rPr lang="es-ES" dirty="0"/>
            <a:t>Mantener y actualizar el tablero de control.</a:t>
          </a:r>
        </a:p>
      </dgm:t>
    </dgm:pt>
    <dgm:pt modelId="{67B4E2BB-FEFC-4FAD-A20B-3877BDE3505D}" type="parTrans" cxnId="{A3C15800-160F-4AE3-A7A8-CF019CEE4BF0}">
      <dgm:prSet/>
      <dgm:spPr/>
      <dgm:t>
        <a:bodyPr/>
        <a:lstStyle/>
        <a:p>
          <a:pPr>
            <a:lnSpc>
              <a:spcPct val="85000"/>
            </a:lnSpc>
            <a:spcBef>
              <a:spcPts val="0"/>
            </a:spcBef>
            <a:spcAft>
              <a:spcPts val="0"/>
            </a:spcAft>
          </a:pPr>
          <a:endParaRPr lang="es-PE"/>
        </a:p>
      </dgm:t>
    </dgm:pt>
    <dgm:pt modelId="{DE57599B-E20F-4336-A07D-11448DF6D0BB}" type="sibTrans" cxnId="{A3C15800-160F-4AE3-A7A8-CF019CEE4BF0}">
      <dgm:prSet/>
      <dgm:spPr/>
      <dgm:t>
        <a:bodyPr/>
        <a:lstStyle/>
        <a:p>
          <a:pPr>
            <a:lnSpc>
              <a:spcPct val="85000"/>
            </a:lnSpc>
            <a:spcBef>
              <a:spcPts val="0"/>
            </a:spcBef>
            <a:spcAft>
              <a:spcPts val="0"/>
            </a:spcAft>
          </a:pPr>
          <a:endParaRPr lang="es-PE"/>
        </a:p>
      </dgm:t>
    </dgm:pt>
    <dgm:pt modelId="{327701BE-47D4-4BAE-A9A3-8FEC7DDA72D2}" type="pres">
      <dgm:prSet presAssocID="{1EE473BF-A8D9-4923-AB91-F475F419B6F7}" presName="Name0" presStyleCnt="0">
        <dgm:presLayoutVars>
          <dgm:dir/>
          <dgm:resizeHandles/>
        </dgm:presLayoutVars>
      </dgm:prSet>
      <dgm:spPr/>
    </dgm:pt>
    <dgm:pt modelId="{E23A8AE7-CC81-4C53-B717-5913B5B03C2E}" type="pres">
      <dgm:prSet presAssocID="{B85DE1BC-13F9-49B9-A399-FE5150D636D1}" presName="compNode" presStyleCnt="0"/>
      <dgm:spPr/>
    </dgm:pt>
    <dgm:pt modelId="{9A33BD35-4D8E-4EC0-B4E5-0F5E1690C11D}" type="pres">
      <dgm:prSet presAssocID="{B85DE1BC-13F9-49B9-A399-FE5150D636D1}" presName="dummyConnPt" presStyleCnt="0"/>
      <dgm:spPr/>
    </dgm:pt>
    <dgm:pt modelId="{83BB25F2-2093-4BFE-B717-FEC2C76A6EEB}" type="pres">
      <dgm:prSet presAssocID="{B85DE1BC-13F9-49B9-A399-FE5150D636D1}" presName="node" presStyleLbl="node1" presStyleIdx="0" presStyleCnt="9">
        <dgm:presLayoutVars>
          <dgm:bulletEnabled val="1"/>
        </dgm:presLayoutVars>
      </dgm:prSet>
      <dgm:spPr/>
    </dgm:pt>
    <dgm:pt modelId="{D829A610-E578-4369-9532-D930D8CA74EA}" type="pres">
      <dgm:prSet presAssocID="{0AE70197-5480-4A7D-8251-32D72B5AEA89}" presName="sibTrans" presStyleLbl="bgSibTrans2D1" presStyleIdx="0" presStyleCnt="8"/>
      <dgm:spPr/>
    </dgm:pt>
    <dgm:pt modelId="{38CE358C-4065-474B-9B19-D3C62C29BB74}" type="pres">
      <dgm:prSet presAssocID="{F92C365C-E17D-4C3F-B3DB-933FD6BDBECC}" presName="compNode" presStyleCnt="0"/>
      <dgm:spPr/>
    </dgm:pt>
    <dgm:pt modelId="{892B5D82-AB01-4B54-BA4C-BB0210F9D605}" type="pres">
      <dgm:prSet presAssocID="{F92C365C-E17D-4C3F-B3DB-933FD6BDBECC}" presName="dummyConnPt" presStyleCnt="0"/>
      <dgm:spPr/>
    </dgm:pt>
    <dgm:pt modelId="{5C76C96C-32D4-4F2E-A35A-614AC75794A9}" type="pres">
      <dgm:prSet presAssocID="{F92C365C-E17D-4C3F-B3DB-933FD6BDBECC}" presName="node" presStyleLbl="node1" presStyleIdx="1" presStyleCnt="9">
        <dgm:presLayoutVars>
          <dgm:bulletEnabled val="1"/>
        </dgm:presLayoutVars>
      </dgm:prSet>
      <dgm:spPr/>
    </dgm:pt>
    <dgm:pt modelId="{6EABC9B9-2F22-471B-B277-7E3034371221}" type="pres">
      <dgm:prSet presAssocID="{D429F418-9147-4894-9380-B5E956BBF7A4}" presName="sibTrans" presStyleLbl="bgSibTrans2D1" presStyleIdx="1" presStyleCnt="8"/>
      <dgm:spPr/>
    </dgm:pt>
    <dgm:pt modelId="{D99A9BC6-C091-4A09-A1B2-FC3D3B42962F}" type="pres">
      <dgm:prSet presAssocID="{C90FE237-A151-4546-B891-C68C46BEBCA6}" presName="compNode" presStyleCnt="0"/>
      <dgm:spPr/>
    </dgm:pt>
    <dgm:pt modelId="{33309274-7976-4D3E-A9D1-CA2F54C2EDFE}" type="pres">
      <dgm:prSet presAssocID="{C90FE237-A151-4546-B891-C68C46BEBCA6}" presName="dummyConnPt" presStyleCnt="0"/>
      <dgm:spPr/>
    </dgm:pt>
    <dgm:pt modelId="{CF89F51A-781A-409F-97BE-B7B757D0B1A9}" type="pres">
      <dgm:prSet presAssocID="{C90FE237-A151-4546-B891-C68C46BEBCA6}" presName="node" presStyleLbl="node1" presStyleIdx="2" presStyleCnt="9">
        <dgm:presLayoutVars>
          <dgm:bulletEnabled val="1"/>
        </dgm:presLayoutVars>
      </dgm:prSet>
      <dgm:spPr/>
    </dgm:pt>
    <dgm:pt modelId="{57645537-B88E-4481-A43C-6DBAA7386CED}" type="pres">
      <dgm:prSet presAssocID="{FB747BC1-3CEC-44BF-970D-6C6C582E5FC1}" presName="sibTrans" presStyleLbl="bgSibTrans2D1" presStyleIdx="2" presStyleCnt="8"/>
      <dgm:spPr/>
    </dgm:pt>
    <dgm:pt modelId="{07BB8C6B-0D41-430C-B418-B0D4C94E1FAA}" type="pres">
      <dgm:prSet presAssocID="{37076647-86A9-4C91-B244-6D08A5ACE55E}" presName="compNode" presStyleCnt="0"/>
      <dgm:spPr/>
    </dgm:pt>
    <dgm:pt modelId="{5EA63427-D16B-4855-9648-837301697934}" type="pres">
      <dgm:prSet presAssocID="{37076647-86A9-4C91-B244-6D08A5ACE55E}" presName="dummyConnPt" presStyleCnt="0"/>
      <dgm:spPr/>
    </dgm:pt>
    <dgm:pt modelId="{09F98586-EDBE-4386-B615-C3FF126CD3DE}" type="pres">
      <dgm:prSet presAssocID="{37076647-86A9-4C91-B244-6D08A5ACE55E}" presName="node" presStyleLbl="node1" presStyleIdx="3" presStyleCnt="9">
        <dgm:presLayoutVars>
          <dgm:bulletEnabled val="1"/>
        </dgm:presLayoutVars>
      </dgm:prSet>
      <dgm:spPr/>
    </dgm:pt>
    <dgm:pt modelId="{32C8C139-E8F2-4B95-9BE4-28FB72DC9DD5}" type="pres">
      <dgm:prSet presAssocID="{EE60878F-4572-4FAE-9D28-CE75D25BC89C}" presName="sibTrans" presStyleLbl="bgSibTrans2D1" presStyleIdx="3" presStyleCnt="8"/>
      <dgm:spPr/>
    </dgm:pt>
    <dgm:pt modelId="{81A8966B-EFC9-4D11-87C1-475880447727}" type="pres">
      <dgm:prSet presAssocID="{9A743F1E-19E3-4F2E-A5D3-35D8F038565E}" presName="compNode" presStyleCnt="0"/>
      <dgm:spPr/>
    </dgm:pt>
    <dgm:pt modelId="{583698FA-5542-4A5D-B769-6ED23E15D816}" type="pres">
      <dgm:prSet presAssocID="{9A743F1E-19E3-4F2E-A5D3-35D8F038565E}" presName="dummyConnPt" presStyleCnt="0"/>
      <dgm:spPr/>
    </dgm:pt>
    <dgm:pt modelId="{CB7035B2-AA5A-4C85-A092-FB246BE51283}" type="pres">
      <dgm:prSet presAssocID="{9A743F1E-19E3-4F2E-A5D3-35D8F038565E}" presName="node" presStyleLbl="node1" presStyleIdx="4" presStyleCnt="9">
        <dgm:presLayoutVars>
          <dgm:bulletEnabled val="1"/>
        </dgm:presLayoutVars>
      </dgm:prSet>
      <dgm:spPr/>
    </dgm:pt>
    <dgm:pt modelId="{5751EB9A-528F-40C1-B8AD-0B2927180862}" type="pres">
      <dgm:prSet presAssocID="{ACCCD67F-DE1D-4EEF-A60F-B10C41A1C81E}" presName="sibTrans" presStyleLbl="bgSibTrans2D1" presStyleIdx="4" presStyleCnt="8"/>
      <dgm:spPr/>
    </dgm:pt>
    <dgm:pt modelId="{BDCD1DBB-9F78-419D-AD75-35CC961046EE}" type="pres">
      <dgm:prSet presAssocID="{BAF05E2C-A0A0-4386-A000-8462372640AE}" presName="compNode" presStyleCnt="0"/>
      <dgm:spPr/>
    </dgm:pt>
    <dgm:pt modelId="{7201B3B6-9101-4B6C-9051-D962A71CE3E1}" type="pres">
      <dgm:prSet presAssocID="{BAF05E2C-A0A0-4386-A000-8462372640AE}" presName="dummyConnPt" presStyleCnt="0"/>
      <dgm:spPr/>
    </dgm:pt>
    <dgm:pt modelId="{AE59C3C4-B5D3-40EB-97F6-B0B769944258}" type="pres">
      <dgm:prSet presAssocID="{BAF05E2C-A0A0-4386-A000-8462372640AE}" presName="node" presStyleLbl="node1" presStyleIdx="5" presStyleCnt="9">
        <dgm:presLayoutVars>
          <dgm:bulletEnabled val="1"/>
        </dgm:presLayoutVars>
      </dgm:prSet>
      <dgm:spPr/>
    </dgm:pt>
    <dgm:pt modelId="{7DF4CA45-2825-468A-A9B0-5292B260447B}" type="pres">
      <dgm:prSet presAssocID="{A32A83AB-799A-425C-A600-5263E167B6B9}" presName="sibTrans" presStyleLbl="bgSibTrans2D1" presStyleIdx="5" presStyleCnt="8"/>
      <dgm:spPr/>
    </dgm:pt>
    <dgm:pt modelId="{E9704D0B-619A-4149-9F59-60D3462F7FD3}" type="pres">
      <dgm:prSet presAssocID="{6AC87790-0789-4263-BBC8-5993229E49B3}" presName="compNode" presStyleCnt="0"/>
      <dgm:spPr/>
    </dgm:pt>
    <dgm:pt modelId="{F910E8C7-5CEB-4C81-8326-21D594ED89C5}" type="pres">
      <dgm:prSet presAssocID="{6AC87790-0789-4263-BBC8-5993229E49B3}" presName="dummyConnPt" presStyleCnt="0"/>
      <dgm:spPr/>
    </dgm:pt>
    <dgm:pt modelId="{B12A1B6C-08FB-44F4-AC59-932AFD73DC24}" type="pres">
      <dgm:prSet presAssocID="{6AC87790-0789-4263-BBC8-5993229E49B3}" presName="node" presStyleLbl="node1" presStyleIdx="6" presStyleCnt="9">
        <dgm:presLayoutVars>
          <dgm:bulletEnabled val="1"/>
        </dgm:presLayoutVars>
      </dgm:prSet>
      <dgm:spPr/>
    </dgm:pt>
    <dgm:pt modelId="{C851D469-F980-4DBD-A332-AB6350FEA09C}" type="pres">
      <dgm:prSet presAssocID="{D8B1FFBB-33F1-4ECE-B5F7-E2720835F6F1}" presName="sibTrans" presStyleLbl="bgSibTrans2D1" presStyleIdx="6" presStyleCnt="8"/>
      <dgm:spPr/>
    </dgm:pt>
    <dgm:pt modelId="{3F36BE59-3FBA-498C-B99F-56E30B34705B}" type="pres">
      <dgm:prSet presAssocID="{EBF3C2A5-BBC9-44A0-BB72-46F137B13E61}" presName="compNode" presStyleCnt="0"/>
      <dgm:spPr/>
    </dgm:pt>
    <dgm:pt modelId="{B1CD6B95-024E-4E15-99B7-3A51F6F819D3}" type="pres">
      <dgm:prSet presAssocID="{EBF3C2A5-BBC9-44A0-BB72-46F137B13E61}" presName="dummyConnPt" presStyleCnt="0"/>
      <dgm:spPr/>
    </dgm:pt>
    <dgm:pt modelId="{26D39B1D-5F8D-4252-BD83-64ECCCA1B47A}" type="pres">
      <dgm:prSet presAssocID="{EBF3C2A5-BBC9-44A0-BB72-46F137B13E61}" presName="node" presStyleLbl="node1" presStyleIdx="7" presStyleCnt="9">
        <dgm:presLayoutVars>
          <dgm:bulletEnabled val="1"/>
        </dgm:presLayoutVars>
      </dgm:prSet>
      <dgm:spPr/>
    </dgm:pt>
    <dgm:pt modelId="{58D78EA2-3212-4C90-B851-021F42E908E2}" type="pres">
      <dgm:prSet presAssocID="{3B3CFE52-AB49-4CE3-977A-08C300041A7F}" presName="sibTrans" presStyleLbl="bgSibTrans2D1" presStyleIdx="7" presStyleCnt="8"/>
      <dgm:spPr/>
    </dgm:pt>
    <dgm:pt modelId="{7C0FF224-33BE-4E88-AEBA-6538CF137C86}" type="pres">
      <dgm:prSet presAssocID="{6B2AE031-594F-497E-B1B1-C42C3352C236}" presName="compNode" presStyleCnt="0"/>
      <dgm:spPr/>
    </dgm:pt>
    <dgm:pt modelId="{021AC06B-A03B-4C72-B426-EC8780A2BC1F}" type="pres">
      <dgm:prSet presAssocID="{6B2AE031-594F-497E-B1B1-C42C3352C236}" presName="dummyConnPt" presStyleCnt="0"/>
      <dgm:spPr/>
    </dgm:pt>
    <dgm:pt modelId="{561EA057-50AA-47A6-B6E0-D0ACB4219E84}" type="pres">
      <dgm:prSet presAssocID="{6B2AE031-594F-497E-B1B1-C42C3352C236}" presName="node" presStyleLbl="node1" presStyleIdx="8" presStyleCnt="9">
        <dgm:presLayoutVars>
          <dgm:bulletEnabled val="1"/>
        </dgm:presLayoutVars>
      </dgm:prSet>
      <dgm:spPr/>
    </dgm:pt>
  </dgm:ptLst>
  <dgm:cxnLst>
    <dgm:cxn modelId="{A3C15800-160F-4AE3-A7A8-CF019CEE4BF0}" srcId="{1EE473BF-A8D9-4923-AB91-F475F419B6F7}" destId="{6B2AE031-594F-497E-B1B1-C42C3352C236}" srcOrd="8" destOrd="0" parTransId="{67B4E2BB-FEFC-4FAD-A20B-3877BDE3505D}" sibTransId="{DE57599B-E20F-4336-A07D-11448DF6D0BB}"/>
    <dgm:cxn modelId="{F16FBA1B-7D65-4866-9DB6-3C9F3FF267D5}" srcId="{1EE473BF-A8D9-4923-AB91-F475F419B6F7}" destId="{BAF05E2C-A0A0-4386-A000-8462372640AE}" srcOrd="5" destOrd="0" parTransId="{E085700D-5BA1-459A-B91C-C3D5F8F35BBC}" sibTransId="{A32A83AB-799A-425C-A600-5263E167B6B9}"/>
    <dgm:cxn modelId="{3CE5EB25-B359-4285-901C-AC4649C56002}" type="presOf" srcId="{A32A83AB-799A-425C-A600-5263E167B6B9}" destId="{7DF4CA45-2825-468A-A9B0-5292B260447B}" srcOrd="0" destOrd="0" presId="urn:microsoft.com/office/officeart/2005/8/layout/bProcess4"/>
    <dgm:cxn modelId="{1EFC9233-00F4-45F7-B35D-CE5E370EA111}" type="presOf" srcId="{37076647-86A9-4C91-B244-6D08A5ACE55E}" destId="{09F98586-EDBE-4386-B615-C3FF126CD3DE}" srcOrd="0" destOrd="0" presId="urn:microsoft.com/office/officeart/2005/8/layout/bProcess4"/>
    <dgm:cxn modelId="{5AB9BB5D-6B3B-49DF-9079-8DFDFAE31232}" type="presOf" srcId="{D8B1FFBB-33F1-4ECE-B5F7-E2720835F6F1}" destId="{C851D469-F980-4DBD-A332-AB6350FEA09C}" srcOrd="0" destOrd="0" presId="urn:microsoft.com/office/officeart/2005/8/layout/bProcess4"/>
    <dgm:cxn modelId="{D3E9AE60-85A0-4DEC-B427-C66B0199EED0}" type="presOf" srcId="{6AC87790-0789-4263-BBC8-5993229E49B3}" destId="{B12A1B6C-08FB-44F4-AC59-932AFD73DC24}" srcOrd="0" destOrd="0" presId="urn:microsoft.com/office/officeart/2005/8/layout/bProcess4"/>
    <dgm:cxn modelId="{E0C35442-A6B2-4478-B614-9D5B70CC9DB3}" srcId="{1EE473BF-A8D9-4923-AB91-F475F419B6F7}" destId="{37076647-86A9-4C91-B244-6D08A5ACE55E}" srcOrd="3" destOrd="0" parTransId="{FF550048-B7B7-4B70-AF66-7F094EDD2C69}" sibTransId="{EE60878F-4572-4FAE-9D28-CE75D25BC89C}"/>
    <dgm:cxn modelId="{A9B76763-3FA9-4F42-90DF-696B8B961058}" type="presOf" srcId="{6B2AE031-594F-497E-B1B1-C42C3352C236}" destId="{561EA057-50AA-47A6-B6E0-D0ACB4219E84}" srcOrd="0" destOrd="0" presId="urn:microsoft.com/office/officeart/2005/8/layout/bProcess4"/>
    <dgm:cxn modelId="{3DD46046-9031-4A33-9AB0-307156E96F97}" srcId="{1EE473BF-A8D9-4923-AB91-F475F419B6F7}" destId="{EBF3C2A5-BBC9-44A0-BB72-46F137B13E61}" srcOrd="7" destOrd="0" parTransId="{65FB1955-E07F-4B5E-B375-7F4029BE6499}" sibTransId="{3B3CFE52-AB49-4CE3-977A-08C300041A7F}"/>
    <dgm:cxn modelId="{A5207C67-AE50-47D3-9BFE-235378067B9C}" srcId="{1EE473BF-A8D9-4923-AB91-F475F419B6F7}" destId="{B85DE1BC-13F9-49B9-A399-FE5150D636D1}" srcOrd="0" destOrd="0" parTransId="{D1211EB4-2794-456C-8EBC-86C2BC5695E6}" sibTransId="{0AE70197-5480-4A7D-8251-32D72B5AEA89}"/>
    <dgm:cxn modelId="{18A0896A-0E87-43FF-AFEF-7B9ACD66442E}" srcId="{1EE473BF-A8D9-4923-AB91-F475F419B6F7}" destId="{F92C365C-E17D-4C3F-B3DB-933FD6BDBECC}" srcOrd="1" destOrd="0" parTransId="{DC4B08AB-2D6B-4CD9-87E0-A28A2FADF1DF}" sibTransId="{D429F418-9147-4894-9380-B5E956BBF7A4}"/>
    <dgm:cxn modelId="{3CC7664E-6F3D-4B9F-9FC4-EC23A93FBB52}" srcId="{1EE473BF-A8D9-4923-AB91-F475F419B6F7}" destId="{6AC87790-0789-4263-BBC8-5993229E49B3}" srcOrd="6" destOrd="0" parTransId="{6B005457-BD5E-45F9-91C6-B4EBB08E7292}" sibTransId="{D8B1FFBB-33F1-4ECE-B5F7-E2720835F6F1}"/>
    <dgm:cxn modelId="{4E15146F-1C97-4AD0-B499-81F0ACBFC898}" type="presOf" srcId="{D429F418-9147-4894-9380-B5E956BBF7A4}" destId="{6EABC9B9-2F22-471B-B277-7E3034371221}" srcOrd="0" destOrd="0" presId="urn:microsoft.com/office/officeart/2005/8/layout/bProcess4"/>
    <dgm:cxn modelId="{AB8C6174-89C1-465F-B1EC-88BACFAD6BA4}" type="presOf" srcId="{C90FE237-A151-4546-B891-C68C46BEBCA6}" destId="{CF89F51A-781A-409F-97BE-B7B757D0B1A9}" srcOrd="0" destOrd="0" presId="urn:microsoft.com/office/officeart/2005/8/layout/bProcess4"/>
    <dgm:cxn modelId="{44458858-16F6-4F59-B7A2-07523AC2D39D}" type="presOf" srcId="{0AE70197-5480-4A7D-8251-32D72B5AEA89}" destId="{D829A610-E578-4369-9532-D930D8CA74EA}" srcOrd="0" destOrd="0" presId="urn:microsoft.com/office/officeart/2005/8/layout/bProcess4"/>
    <dgm:cxn modelId="{75F53684-E7C3-4265-B54D-4936E313E45A}" type="presOf" srcId="{3B3CFE52-AB49-4CE3-977A-08C300041A7F}" destId="{58D78EA2-3212-4C90-B851-021F42E908E2}" srcOrd="0" destOrd="0" presId="urn:microsoft.com/office/officeart/2005/8/layout/bProcess4"/>
    <dgm:cxn modelId="{E3BC0088-356C-477F-A34D-EE2A44D57B9C}" type="presOf" srcId="{BAF05E2C-A0A0-4386-A000-8462372640AE}" destId="{AE59C3C4-B5D3-40EB-97F6-B0B769944258}" srcOrd="0" destOrd="0" presId="urn:microsoft.com/office/officeart/2005/8/layout/bProcess4"/>
    <dgm:cxn modelId="{20044A9A-8C9F-451B-A712-28C05BD85AF9}" type="presOf" srcId="{B85DE1BC-13F9-49B9-A399-FE5150D636D1}" destId="{83BB25F2-2093-4BFE-B717-FEC2C76A6EEB}" srcOrd="0" destOrd="0" presId="urn:microsoft.com/office/officeart/2005/8/layout/bProcess4"/>
    <dgm:cxn modelId="{E056AA9A-9400-4D8B-B028-3A44BC170029}" type="presOf" srcId="{FB747BC1-3CEC-44BF-970D-6C6C582E5FC1}" destId="{57645537-B88E-4481-A43C-6DBAA7386CED}" srcOrd="0" destOrd="0" presId="urn:microsoft.com/office/officeart/2005/8/layout/bProcess4"/>
    <dgm:cxn modelId="{3A703B9C-8B15-411D-91CC-519C059E2A28}" type="presOf" srcId="{ACCCD67F-DE1D-4EEF-A60F-B10C41A1C81E}" destId="{5751EB9A-528F-40C1-B8AD-0B2927180862}" srcOrd="0" destOrd="0" presId="urn:microsoft.com/office/officeart/2005/8/layout/bProcess4"/>
    <dgm:cxn modelId="{3D4DEDB7-4B29-47D6-908B-904A90451D4A}" type="presOf" srcId="{EE60878F-4572-4FAE-9D28-CE75D25BC89C}" destId="{32C8C139-E8F2-4B95-9BE4-28FB72DC9DD5}" srcOrd="0" destOrd="0" presId="urn:microsoft.com/office/officeart/2005/8/layout/bProcess4"/>
    <dgm:cxn modelId="{F85426BE-45C5-4BD1-834F-5DE97729B1EA}" type="presOf" srcId="{1EE473BF-A8D9-4923-AB91-F475F419B6F7}" destId="{327701BE-47D4-4BAE-A9A3-8FEC7DDA72D2}" srcOrd="0" destOrd="0" presId="urn:microsoft.com/office/officeart/2005/8/layout/bProcess4"/>
    <dgm:cxn modelId="{A68D50D8-F34D-4CB9-B0E0-EEB36CBDA3AE}" type="presOf" srcId="{9A743F1E-19E3-4F2E-A5D3-35D8F038565E}" destId="{CB7035B2-AA5A-4C85-A092-FB246BE51283}" srcOrd="0" destOrd="0" presId="urn:microsoft.com/office/officeart/2005/8/layout/bProcess4"/>
    <dgm:cxn modelId="{319B11DD-091A-40E3-B894-F81F9EFC9978}" type="presOf" srcId="{EBF3C2A5-BBC9-44A0-BB72-46F137B13E61}" destId="{26D39B1D-5F8D-4252-BD83-64ECCCA1B47A}" srcOrd="0" destOrd="0" presId="urn:microsoft.com/office/officeart/2005/8/layout/bProcess4"/>
    <dgm:cxn modelId="{848D17DD-C7CD-4C80-A788-0D8C90108FDA}" type="presOf" srcId="{F92C365C-E17D-4C3F-B3DB-933FD6BDBECC}" destId="{5C76C96C-32D4-4F2E-A35A-614AC75794A9}" srcOrd="0" destOrd="0" presId="urn:microsoft.com/office/officeart/2005/8/layout/bProcess4"/>
    <dgm:cxn modelId="{701A4EF4-EBDE-4CAC-86CD-EB4379520605}" srcId="{1EE473BF-A8D9-4923-AB91-F475F419B6F7}" destId="{9A743F1E-19E3-4F2E-A5D3-35D8F038565E}" srcOrd="4" destOrd="0" parTransId="{57D52FBA-EAE6-4B32-82E7-69325005CA55}" sibTransId="{ACCCD67F-DE1D-4EEF-A60F-B10C41A1C81E}"/>
    <dgm:cxn modelId="{DF1D7FFB-E334-45B6-A092-280A2E6691E2}" srcId="{1EE473BF-A8D9-4923-AB91-F475F419B6F7}" destId="{C90FE237-A151-4546-B891-C68C46BEBCA6}" srcOrd="2" destOrd="0" parTransId="{FC61A38F-AADE-4127-B55D-87DEDF4155B2}" sibTransId="{FB747BC1-3CEC-44BF-970D-6C6C582E5FC1}"/>
    <dgm:cxn modelId="{45AC545C-DA56-4472-8B6D-8024A792E4CA}" type="presParOf" srcId="{327701BE-47D4-4BAE-A9A3-8FEC7DDA72D2}" destId="{E23A8AE7-CC81-4C53-B717-5913B5B03C2E}" srcOrd="0" destOrd="0" presId="urn:microsoft.com/office/officeart/2005/8/layout/bProcess4"/>
    <dgm:cxn modelId="{EB8AFA94-1984-470C-A7FB-012FD4163876}" type="presParOf" srcId="{E23A8AE7-CC81-4C53-B717-5913B5B03C2E}" destId="{9A33BD35-4D8E-4EC0-B4E5-0F5E1690C11D}" srcOrd="0" destOrd="0" presId="urn:microsoft.com/office/officeart/2005/8/layout/bProcess4"/>
    <dgm:cxn modelId="{316810DA-E092-46E7-91AE-EC63B8E14DB8}" type="presParOf" srcId="{E23A8AE7-CC81-4C53-B717-5913B5B03C2E}" destId="{83BB25F2-2093-4BFE-B717-FEC2C76A6EEB}" srcOrd="1" destOrd="0" presId="urn:microsoft.com/office/officeart/2005/8/layout/bProcess4"/>
    <dgm:cxn modelId="{08028AEA-8FE9-4B79-A04B-E663BD247905}" type="presParOf" srcId="{327701BE-47D4-4BAE-A9A3-8FEC7DDA72D2}" destId="{D829A610-E578-4369-9532-D930D8CA74EA}" srcOrd="1" destOrd="0" presId="urn:microsoft.com/office/officeart/2005/8/layout/bProcess4"/>
    <dgm:cxn modelId="{77C97957-6CE5-426F-808A-FC3323F4795C}" type="presParOf" srcId="{327701BE-47D4-4BAE-A9A3-8FEC7DDA72D2}" destId="{38CE358C-4065-474B-9B19-D3C62C29BB74}" srcOrd="2" destOrd="0" presId="urn:microsoft.com/office/officeart/2005/8/layout/bProcess4"/>
    <dgm:cxn modelId="{774F4628-6E8C-4217-B286-833E67663766}" type="presParOf" srcId="{38CE358C-4065-474B-9B19-D3C62C29BB74}" destId="{892B5D82-AB01-4B54-BA4C-BB0210F9D605}" srcOrd="0" destOrd="0" presId="urn:microsoft.com/office/officeart/2005/8/layout/bProcess4"/>
    <dgm:cxn modelId="{23A5A1D9-DFE6-42E2-9ED9-1BC9CF3CA5EB}" type="presParOf" srcId="{38CE358C-4065-474B-9B19-D3C62C29BB74}" destId="{5C76C96C-32D4-4F2E-A35A-614AC75794A9}" srcOrd="1" destOrd="0" presId="urn:microsoft.com/office/officeart/2005/8/layout/bProcess4"/>
    <dgm:cxn modelId="{7C48016B-9844-474C-8636-3B797D16EC0B}" type="presParOf" srcId="{327701BE-47D4-4BAE-A9A3-8FEC7DDA72D2}" destId="{6EABC9B9-2F22-471B-B277-7E3034371221}" srcOrd="3" destOrd="0" presId="urn:microsoft.com/office/officeart/2005/8/layout/bProcess4"/>
    <dgm:cxn modelId="{42171766-83CD-4103-82C6-8044BF35C5B4}" type="presParOf" srcId="{327701BE-47D4-4BAE-A9A3-8FEC7DDA72D2}" destId="{D99A9BC6-C091-4A09-A1B2-FC3D3B42962F}" srcOrd="4" destOrd="0" presId="urn:microsoft.com/office/officeart/2005/8/layout/bProcess4"/>
    <dgm:cxn modelId="{E8E37368-8F2A-4E2D-B6F9-2BE644DAEE1C}" type="presParOf" srcId="{D99A9BC6-C091-4A09-A1B2-FC3D3B42962F}" destId="{33309274-7976-4D3E-A9D1-CA2F54C2EDFE}" srcOrd="0" destOrd="0" presId="urn:microsoft.com/office/officeart/2005/8/layout/bProcess4"/>
    <dgm:cxn modelId="{2CF9EB6A-E30D-44CC-A338-B1592022287A}" type="presParOf" srcId="{D99A9BC6-C091-4A09-A1B2-FC3D3B42962F}" destId="{CF89F51A-781A-409F-97BE-B7B757D0B1A9}" srcOrd="1" destOrd="0" presId="urn:microsoft.com/office/officeart/2005/8/layout/bProcess4"/>
    <dgm:cxn modelId="{52CEC8E3-B232-4D73-989A-A8B60E1DD931}" type="presParOf" srcId="{327701BE-47D4-4BAE-A9A3-8FEC7DDA72D2}" destId="{57645537-B88E-4481-A43C-6DBAA7386CED}" srcOrd="5" destOrd="0" presId="urn:microsoft.com/office/officeart/2005/8/layout/bProcess4"/>
    <dgm:cxn modelId="{64108384-1C3C-4AE4-8289-6526941B75E0}" type="presParOf" srcId="{327701BE-47D4-4BAE-A9A3-8FEC7DDA72D2}" destId="{07BB8C6B-0D41-430C-B418-B0D4C94E1FAA}" srcOrd="6" destOrd="0" presId="urn:microsoft.com/office/officeart/2005/8/layout/bProcess4"/>
    <dgm:cxn modelId="{98BF1407-86FE-456F-BDEB-91C710EF1032}" type="presParOf" srcId="{07BB8C6B-0D41-430C-B418-B0D4C94E1FAA}" destId="{5EA63427-D16B-4855-9648-837301697934}" srcOrd="0" destOrd="0" presId="urn:microsoft.com/office/officeart/2005/8/layout/bProcess4"/>
    <dgm:cxn modelId="{47DD8214-EECE-49A9-AAD0-454DA27456A7}" type="presParOf" srcId="{07BB8C6B-0D41-430C-B418-B0D4C94E1FAA}" destId="{09F98586-EDBE-4386-B615-C3FF126CD3DE}" srcOrd="1" destOrd="0" presId="urn:microsoft.com/office/officeart/2005/8/layout/bProcess4"/>
    <dgm:cxn modelId="{749292D4-CCA5-463C-BD54-8FB3C640AFFC}" type="presParOf" srcId="{327701BE-47D4-4BAE-A9A3-8FEC7DDA72D2}" destId="{32C8C139-E8F2-4B95-9BE4-28FB72DC9DD5}" srcOrd="7" destOrd="0" presId="urn:microsoft.com/office/officeart/2005/8/layout/bProcess4"/>
    <dgm:cxn modelId="{77E9E61E-A10A-4FCB-BCA9-AFFC4E27FEA8}" type="presParOf" srcId="{327701BE-47D4-4BAE-A9A3-8FEC7DDA72D2}" destId="{81A8966B-EFC9-4D11-87C1-475880447727}" srcOrd="8" destOrd="0" presId="urn:microsoft.com/office/officeart/2005/8/layout/bProcess4"/>
    <dgm:cxn modelId="{89BDE292-0B49-40CD-AAA5-0EF47BA6995B}" type="presParOf" srcId="{81A8966B-EFC9-4D11-87C1-475880447727}" destId="{583698FA-5542-4A5D-B769-6ED23E15D816}" srcOrd="0" destOrd="0" presId="urn:microsoft.com/office/officeart/2005/8/layout/bProcess4"/>
    <dgm:cxn modelId="{3C4EAE9D-AD55-400B-B0B3-83451DDEBDA8}" type="presParOf" srcId="{81A8966B-EFC9-4D11-87C1-475880447727}" destId="{CB7035B2-AA5A-4C85-A092-FB246BE51283}" srcOrd="1" destOrd="0" presId="urn:microsoft.com/office/officeart/2005/8/layout/bProcess4"/>
    <dgm:cxn modelId="{2813A028-D045-436E-AD30-D1019245468E}" type="presParOf" srcId="{327701BE-47D4-4BAE-A9A3-8FEC7DDA72D2}" destId="{5751EB9A-528F-40C1-B8AD-0B2927180862}" srcOrd="9" destOrd="0" presId="urn:microsoft.com/office/officeart/2005/8/layout/bProcess4"/>
    <dgm:cxn modelId="{96441188-391C-41F9-AAEF-CD3B979A9FC4}" type="presParOf" srcId="{327701BE-47D4-4BAE-A9A3-8FEC7DDA72D2}" destId="{BDCD1DBB-9F78-419D-AD75-35CC961046EE}" srcOrd="10" destOrd="0" presId="urn:microsoft.com/office/officeart/2005/8/layout/bProcess4"/>
    <dgm:cxn modelId="{71F544FB-9156-4A65-A506-575FA32F0A7B}" type="presParOf" srcId="{BDCD1DBB-9F78-419D-AD75-35CC961046EE}" destId="{7201B3B6-9101-4B6C-9051-D962A71CE3E1}" srcOrd="0" destOrd="0" presId="urn:microsoft.com/office/officeart/2005/8/layout/bProcess4"/>
    <dgm:cxn modelId="{6735C69F-EF76-4515-89F6-8ED8BD57AFD2}" type="presParOf" srcId="{BDCD1DBB-9F78-419D-AD75-35CC961046EE}" destId="{AE59C3C4-B5D3-40EB-97F6-B0B769944258}" srcOrd="1" destOrd="0" presId="urn:microsoft.com/office/officeart/2005/8/layout/bProcess4"/>
    <dgm:cxn modelId="{3A4CD2D4-8A9B-4EE9-8968-7382269511D8}" type="presParOf" srcId="{327701BE-47D4-4BAE-A9A3-8FEC7DDA72D2}" destId="{7DF4CA45-2825-468A-A9B0-5292B260447B}" srcOrd="11" destOrd="0" presId="urn:microsoft.com/office/officeart/2005/8/layout/bProcess4"/>
    <dgm:cxn modelId="{FE8F442C-8E9E-498A-A1C3-2F17D880219E}" type="presParOf" srcId="{327701BE-47D4-4BAE-A9A3-8FEC7DDA72D2}" destId="{E9704D0B-619A-4149-9F59-60D3462F7FD3}" srcOrd="12" destOrd="0" presId="urn:microsoft.com/office/officeart/2005/8/layout/bProcess4"/>
    <dgm:cxn modelId="{F9A93C7D-753A-4D87-BAAF-444B30640947}" type="presParOf" srcId="{E9704D0B-619A-4149-9F59-60D3462F7FD3}" destId="{F910E8C7-5CEB-4C81-8326-21D594ED89C5}" srcOrd="0" destOrd="0" presId="urn:microsoft.com/office/officeart/2005/8/layout/bProcess4"/>
    <dgm:cxn modelId="{1A50BB2C-8CB7-4A95-BE05-B716DD981B40}" type="presParOf" srcId="{E9704D0B-619A-4149-9F59-60D3462F7FD3}" destId="{B12A1B6C-08FB-44F4-AC59-932AFD73DC24}" srcOrd="1" destOrd="0" presId="urn:microsoft.com/office/officeart/2005/8/layout/bProcess4"/>
    <dgm:cxn modelId="{2C6C4821-3487-449F-8E9C-500669417534}" type="presParOf" srcId="{327701BE-47D4-4BAE-A9A3-8FEC7DDA72D2}" destId="{C851D469-F980-4DBD-A332-AB6350FEA09C}" srcOrd="13" destOrd="0" presId="urn:microsoft.com/office/officeart/2005/8/layout/bProcess4"/>
    <dgm:cxn modelId="{DC9CB13C-F941-4E6B-8807-83A054B5FDD2}" type="presParOf" srcId="{327701BE-47D4-4BAE-A9A3-8FEC7DDA72D2}" destId="{3F36BE59-3FBA-498C-B99F-56E30B34705B}" srcOrd="14" destOrd="0" presId="urn:microsoft.com/office/officeart/2005/8/layout/bProcess4"/>
    <dgm:cxn modelId="{D9C10486-DC8C-4BD9-A03C-36D2010FE5EC}" type="presParOf" srcId="{3F36BE59-3FBA-498C-B99F-56E30B34705B}" destId="{B1CD6B95-024E-4E15-99B7-3A51F6F819D3}" srcOrd="0" destOrd="0" presId="urn:microsoft.com/office/officeart/2005/8/layout/bProcess4"/>
    <dgm:cxn modelId="{17B67133-A86C-45CB-9F2E-F8867A064BFC}" type="presParOf" srcId="{3F36BE59-3FBA-498C-B99F-56E30B34705B}" destId="{26D39B1D-5F8D-4252-BD83-64ECCCA1B47A}" srcOrd="1" destOrd="0" presId="urn:microsoft.com/office/officeart/2005/8/layout/bProcess4"/>
    <dgm:cxn modelId="{B5B9AD4D-686F-44A2-9208-93DCC9ACDE49}" type="presParOf" srcId="{327701BE-47D4-4BAE-A9A3-8FEC7DDA72D2}" destId="{58D78EA2-3212-4C90-B851-021F42E908E2}" srcOrd="15" destOrd="0" presId="urn:microsoft.com/office/officeart/2005/8/layout/bProcess4"/>
    <dgm:cxn modelId="{EAB4F31E-4518-4332-B9EB-650D1A41B61D}" type="presParOf" srcId="{327701BE-47D4-4BAE-A9A3-8FEC7DDA72D2}" destId="{7C0FF224-33BE-4E88-AEBA-6538CF137C86}" srcOrd="16" destOrd="0" presId="urn:microsoft.com/office/officeart/2005/8/layout/bProcess4"/>
    <dgm:cxn modelId="{67792D92-B91F-413A-87A2-631BCE66D744}" type="presParOf" srcId="{7C0FF224-33BE-4E88-AEBA-6538CF137C86}" destId="{021AC06B-A03B-4C72-B426-EC8780A2BC1F}" srcOrd="0" destOrd="0" presId="urn:microsoft.com/office/officeart/2005/8/layout/bProcess4"/>
    <dgm:cxn modelId="{317FFA07-4351-43E5-9685-04CF88CFAF73}" type="presParOf" srcId="{7C0FF224-33BE-4E88-AEBA-6538CF137C86}" destId="{561EA057-50AA-47A6-B6E0-D0ACB4219E84}" srcOrd="1" destOrd="0" presId="urn:microsoft.com/office/officeart/2005/8/layout/b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E473BF-A8D9-4923-AB91-F475F419B6F7}" type="doc">
      <dgm:prSet loTypeId="urn:microsoft.com/office/officeart/2005/8/layout/bProcess4" loCatId="process" qsTypeId="urn:microsoft.com/office/officeart/2005/8/quickstyle/simple1" qsCatId="simple" csTypeId="urn:microsoft.com/office/officeart/2005/8/colors/colorful1" csCatId="colorful" phldr="1"/>
      <dgm:spPr/>
      <dgm:t>
        <a:bodyPr/>
        <a:lstStyle/>
        <a:p>
          <a:endParaRPr lang="es-PE"/>
        </a:p>
      </dgm:t>
    </dgm:pt>
    <dgm:pt modelId="{B85DE1BC-13F9-49B9-A399-FE5150D636D1}">
      <dgm:prSet phldrT="[Texto]"/>
      <dgm:spPr/>
      <dgm:t>
        <a:bodyPr/>
        <a:lstStyle/>
        <a:p>
          <a:pPr>
            <a:lnSpc>
              <a:spcPct val="85000"/>
            </a:lnSpc>
            <a:spcBef>
              <a:spcPts val="0"/>
            </a:spcBef>
            <a:spcAft>
              <a:spcPts val="0"/>
            </a:spcAft>
          </a:pPr>
          <a:r>
            <a:rPr lang="es-ES" dirty="0"/>
            <a:t>Paso 1</a:t>
          </a:r>
        </a:p>
        <a:p>
          <a:pPr>
            <a:lnSpc>
              <a:spcPct val="85000"/>
            </a:lnSpc>
            <a:spcBef>
              <a:spcPts val="0"/>
            </a:spcBef>
            <a:spcAft>
              <a:spcPts val="0"/>
            </a:spcAft>
          </a:pPr>
          <a:r>
            <a:rPr lang="es-ES" dirty="0"/>
            <a:t>Definir los objetivos estratégicos.</a:t>
          </a:r>
          <a:endParaRPr lang="es-PE" dirty="0"/>
        </a:p>
      </dgm:t>
    </dgm:pt>
    <dgm:pt modelId="{D1211EB4-2794-456C-8EBC-86C2BC5695E6}" type="parTrans" cxnId="{A5207C67-AE50-47D3-9BFE-235378067B9C}">
      <dgm:prSet/>
      <dgm:spPr/>
      <dgm:t>
        <a:bodyPr/>
        <a:lstStyle/>
        <a:p>
          <a:pPr>
            <a:lnSpc>
              <a:spcPct val="85000"/>
            </a:lnSpc>
            <a:spcBef>
              <a:spcPts val="0"/>
            </a:spcBef>
            <a:spcAft>
              <a:spcPts val="0"/>
            </a:spcAft>
          </a:pPr>
          <a:endParaRPr lang="es-PE"/>
        </a:p>
      </dgm:t>
    </dgm:pt>
    <dgm:pt modelId="{0AE70197-5480-4A7D-8251-32D72B5AEA89}" type="sibTrans" cxnId="{A5207C67-AE50-47D3-9BFE-235378067B9C}">
      <dgm:prSet/>
      <dgm:spPr/>
      <dgm:t>
        <a:bodyPr/>
        <a:lstStyle/>
        <a:p>
          <a:pPr>
            <a:lnSpc>
              <a:spcPct val="85000"/>
            </a:lnSpc>
            <a:spcBef>
              <a:spcPts val="0"/>
            </a:spcBef>
            <a:spcAft>
              <a:spcPts val="0"/>
            </a:spcAft>
          </a:pPr>
          <a:endParaRPr lang="es-PE"/>
        </a:p>
      </dgm:t>
    </dgm:pt>
    <dgm:pt modelId="{F92C365C-E17D-4C3F-B3DB-933FD6BDBECC}">
      <dgm:prSet/>
      <dgm:spPr/>
      <dgm:t>
        <a:bodyPr/>
        <a:lstStyle/>
        <a:p>
          <a:pPr>
            <a:lnSpc>
              <a:spcPct val="85000"/>
            </a:lnSpc>
            <a:spcBef>
              <a:spcPts val="0"/>
            </a:spcBef>
            <a:spcAft>
              <a:spcPts val="0"/>
            </a:spcAft>
          </a:pPr>
          <a:r>
            <a:rPr lang="es-ES" dirty="0"/>
            <a:t>Paso 2</a:t>
          </a:r>
        </a:p>
        <a:p>
          <a:pPr>
            <a:lnSpc>
              <a:spcPct val="85000"/>
            </a:lnSpc>
            <a:spcBef>
              <a:spcPts val="0"/>
            </a:spcBef>
            <a:spcAft>
              <a:spcPts val="0"/>
            </a:spcAft>
          </a:pPr>
          <a:r>
            <a:rPr lang="es-ES" dirty="0"/>
            <a:t>Determinar las perspectivas del BSC.</a:t>
          </a:r>
        </a:p>
      </dgm:t>
    </dgm:pt>
    <dgm:pt modelId="{DC4B08AB-2D6B-4CD9-87E0-A28A2FADF1DF}" type="parTrans" cxnId="{18A0896A-0E87-43FF-AFEF-7B9ACD66442E}">
      <dgm:prSet/>
      <dgm:spPr/>
      <dgm:t>
        <a:bodyPr/>
        <a:lstStyle/>
        <a:p>
          <a:pPr>
            <a:lnSpc>
              <a:spcPct val="85000"/>
            </a:lnSpc>
            <a:spcBef>
              <a:spcPts val="0"/>
            </a:spcBef>
            <a:spcAft>
              <a:spcPts val="0"/>
            </a:spcAft>
          </a:pPr>
          <a:endParaRPr lang="es-PE"/>
        </a:p>
      </dgm:t>
    </dgm:pt>
    <dgm:pt modelId="{D429F418-9147-4894-9380-B5E956BBF7A4}" type="sibTrans" cxnId="{18A0896A-0E87-43FF-AFEF-7B9ACD66442E}">
      <dgm:prSet/>
      <dgm:spPr/>
      <dgm:t>
        <a:bodyPr/>
        <a:lstStyle/>
        <a:p>
          <a:pPr>
            <a:lnSpc>
              <a:spcPct val="85000"/>
            </a:lnSpc>
            <a:spcBef>
              <a:spcPts val="0"/>
            </a:spcBef>
            <a:spcAft>
              <a:spcPts val="0"/>
            </a:spcAft>
          </a:pPr>
          <a:endParaRPr lang="es-PE"/>
        </a:p>
      </dgm:t>
    </dgm:pt>
    <dgm:pt modelId="{C90FE237-A151-4546-B891-C68C46BEBCA6}">
      <dgm:prSet/>
      <dgm:spPr/>
      <dgm:t>
        <a:bodyPr/>
        <a:lstStyle/>
        <a:p>
          <a:pPr>
            <a:lnSpc>
              <a:spcPct val="85000"/>
            </a:lnSpc>
            <a:spcBef>
              <a:spcPts val="0"/>
            </a:spcBef>
            <a:spcAft>
              <a:spcPts val="0"/>
            </a:spcAft>
          </a:pPr>
          <a:r>
            <a:rPr lang="es-ES" dirty="0"/>
            <a:t>Paso 3</a:t>
          </a:r>
        </a:p>
        <a:p>
          <a:pPr>
            <a:lnSpc>
              <a:spcPct val="85000"/>
            </a:lnSpc>
            <a:spcBef>
              <a:spcPts val="0"/>
            </a:spcBef>
            <a:spcAft>
              <a:spcPts val="0"/>
            </a:spcAft>
          </a:pPr>
          <a:r>
            <a:rPr lang="es-ES" dirty="0"/>
            <a:t>Definir los indicadores de rendimiento.</a:t>
          </a:r>
        </a:p>
      </dgm:t>
    </dgm:pt>
    <dgm:pt modelId="{FC61A38F-AADE-4127-B55D-87DEDF4155B2}" type="parTrans" cxnId="{DF1D7FFB-E334-45B6-A092-280A2E6691E2}">
      <dgm:prSet/>
      <dgm:spPr/>
      <dgm:t>
        <a:bodyPr/>
        <a:lstStyle/>
        <a:p>
          <a:pPr>
            <a:lnSpc>
              <a:spcPct val="85000"/>
            </a:lnSpc>
            <a:spcBef>
              <a:spcPts val="0"/>
            </a:spcBef>
            <a:spcAft>
              <a:spcPts val="0"/>
            </a:spcAft>
          </a:pPr>
          <a:endParaRPr lang="es-PE"/>
        </a:p>
      </dgm:t>
    </dgm:pt>
    <dgm:pt modelId="{FB747BC1-3CEC-44BF-970D-6C6C582E5FC1}" type="sibTrans" cxnId="{DF1D7FFB-E334-45B6-A092-280A2E6691E2}">
      <dgm:prSet/>
      <dgm:spPr/>
      <dgm:t>
        <a:bodyPr/>
        <a:lstStyle/>
        <a:p>
          <a:pPr>
            <a:lnSpc>
              <a:spcPct val="85000"/>
            </a:lnSpc>
            <a:spcBef>
              <a:spcPts val="0"/>
            </a:spcBef>
            <a:spcAft>
              <a:spcPts val="0"/>
            </a:spcAft>
          </a:pPr>
          <a:endParaRPr lang="es-PE"/>
        </a:p>
      </dgm:t>
    </dgm:pt>
    <dgm:pt modelId="{37076647-86A9-4C91-B244-6D08A5ACE55E}">
      <dgm:prSet/>
      <dgm:spPr/>
      <dgm:t>
        <a:bodyPr/>
        <a:lstStyle/>
        <a:p>
          <a:pPr>
            <a:lnSpc>
              <a:spcPct val="85000"/>
            </a:lnSpc>
            <a:spcBef>
              <a:spcPts val="0"/>
            </a:spcBef>
            <a:spcAft>
              <a:spcPts val="0"/>
            </a:spcAft>
          </a:pPr>
          <a:r>
            <a:rPr lang="es-ES" dirty="0"/>
            <a:t>Paso 4</a:t>
          </a:r>
        </a:p>
        <a:p>
          <a:pPr>
            <a:lnSpc>
              <a:spcPct val="85000"/>
            </a:lnSpc>
            <a:spcBef>
              <a:spcPts val="0"/>
            </a:spcBef>
            <a:spcAft>
              <a:spcPts val="0"/>
            </a:spcAft>
          </a:pPr>
          <a:r>
            <a:rPr lang="es-ES" dirty="0"/>
            <a:t>Establecer metas y objetivos.</a:t>
          </a:r>
        </a:p>
      </dgm:t>
    </dgm:pt>
    <dgm:pt modelId="{FF550048-B7B7-4B70-AF66-7F094EDD2C69}" type="parTrans" cxnId="{E0C35442-A6B2-4478-B614-9D5B70CC9DB3}">
      <dgm:prSet/>
      <dgm:spPr/>
      <dgm:t>
        <a:bodyPr/>
        <a:lstStyle/>
        <a:p>
          <a:pPr>
            <a:lnSpc>
              <a:spcPct val="85000"/>
            </a:lnSpc>
            <a:spcBef>
              <a:spcPts val="0"/>
            </a:spcBef>
            <a:spcAft>
              <a:spcPts val="0"/>
            </a:spcAft>
          </a:pPr>
          <a:endParaRPr lang="es-PE"/>
        </a:p>
      </dgm:t>
    </dgm:pt>
    <dgm:pt modelId="{EE60878F-4572-4FAE-9D28-CE75D25BC89C}" type="sibTrans" cxnId="{E0C35442-A6B2-4478-B614-9D5B70CC9DB3}">
      <dgm:prSet/>
      <dgm:spPr/>
      <dgm:t>
        <a:bodyPr/>
        <a:lstStyle/>
        <a:p>
          <a:pPr>
            <a:lnSpc>
              <a:spcPct val="85000"/>
            </a:lnSpc>
            <a:spcBef>
              <a:spcPts val="0"/>
            </a:spcBef>
            <a:spcAft>
              <a:spcPts val="0"/>
            </a:spcAft>
          </a:pPr>
          <a:endParaRPr lang="es-PE"/>
        </a:p>
      </dgm:t>
    </dgm:pt>
    <dgm:pt modelId="{9A743F1E-19E3-4F2E-A5D3-35D8F038565E}">
      <dgm:prSet/>
      <dgm:spPr/>
      <dgm:t>
        <a:bodyPr/>
        <a:lstStyle/>
        <a:p>
          <a:pPr>
            <a:lnSpc>
              <a:spcPct val="85000"/>
            </a:lnSpc>
            <a:spcBef>
              <a:spcPts val="0"/>
            </a:spcBef>
            <a:spcAft>
              <a:spcPts val="0"/>
            </a:spcAft>
          </a:pPr>
          <a:r>
            <a:rPr lang="es-ES" dirty="0"/>
            <a:t>Paso 5</a:t>
          </a:r>
        </a:p>
        <a:p>
          <a:pPr>
            <a:lnSpc>
              <a:spcPct val="85000"/>
            </a:lnSpc>
            <a:spcBef>
              <a:spcPts val="0"/>
            </a:spcBef>
            <a:spcAft>
              <a:spcPts val="0"/>
            </a:spcAft>
          </a:pPr>
          <a:r>
            <a:rPr lang="es-ES" dirty="0"/>
            <a:t>Identificar iniciativas estratégicas.</a:t>
          </a:r>
        </a:p>
      </dgm:t>
    </dgm:pt>
    <dgm:pt modelId="{57D52FBA-EAE6-4B32-82E7-69325005CA55}" type="parTrans" cxnId="{701A4EF4-EBDE-4CAC-86CD-EB4379520605}">
      <dgm:prSet/>
      <dgm:spPr/>
      <dgm:t>
        <a:bodyPr/>
        <a:lstStyle/>
        <a:p>
          <a:pPr>
            <a:lnSpc>
              <a:spcPct val="85000"/>
            </a:lnSpc>
            <a:spcBef>
              <a:spcPts val="0"/>
            </a:spcBef>
            <a:spcAft>
              <a:spcPts val="0"/>
            </a:spcAft>
          </a:pPr>
          <a:endParaRPr lang="es-PE"/>
        </a:p>
      </dgm:t>
    </dgm:pt>
    <dgm:pt modelId="{ACCCD67F-DE1D-4EEF-A60F-B10C41A1C81E}" type="sibTrans" cxnId="{701A4EF4-EBDE-4CAC-86CD-EB4379520605}">
      <dgm:prSet/>
      <dgm:spPr/>
      <dgm:t>
        <a:bodyPr/>
        <a:lstStyle/>
        <a:p>
          <a:pPr>
            <a:lnSpc>
              <a:spcPct val="85000"/>
            </a:lnSpc>
            <a:spcBef>
              <a:spcPts val="0"/>
            </a:spcBef>
            <a:spcAft>
              <a:spcPts val="0"/>
            </a:spcAft>
          </a:pPr>
          <a:endParaRPr lang="es-PE"/>
        </a:p>
      </dgm:t>
    </dgm:pt>
    <dgm:pt modelId="{BAF05E2C-A0A0-4386-A000-8462372640AE}">
      <dgm:prSet/>
      <dgm:spPr/>
      <dgm:t>
        <a:bodyPr/>
        <a:lstStyle/>
        <a:p>
          <a:pPr>
            <a:lnSpc>
              <a:spcPct val="85000"/>
            </a:lnSpc>
            <a:spcBef>
              <a:spcPts val="0"/>
            </a:spcBef>
            <a:spcAft>
              <a:spcPts val="0"/>
            </a:spcAft>
          </a:pPr>
          <a:r>
            <a:rPr lang="es-ES" dirty="0"/>
            <a:t>Paso 6</a:t>
          </a:r>
        </a:p>
        <a:p>
          <a:pPr>
            <a:lnSpc>
              <a:spcPct val="85000"/>
            </a:lnSpc>
            <a:spcBef>
              <a:spcPts val="0"/>
            </a:spcBef>
            <a:spcAft>
              <a:spcPts val="0"/>
            </a:spcAft>
          </a:pPr>
          <a:r>
            <a:rPr lang="es-ES" dirty="0"/>
            <a:t>Diseñar el tablero de control.</a:t>
          </a:r>
        </a:p>
      </dgm:t>
    </dgm:pt>
    <dgm:pt modelId="{E085700D-5BA1-459A-B91C-C3D5F8F35BBC}" type="parTrans" cxnId="{F16FBA1B-7D65-4866-9DB6-3C9F3FF267D5}">
      <dgm:prSet/>
      <dgm:spPr/>
      <dgm:t>
        <a:bodyPr/>
        <a:lstStyle/>
        <a:p>
          <a:pPr>
            <a:lnSpc>
              <a:spcPct val="85000"/>
            </a:lnSpc>
            <a:spcBef>
              <a:spcPts val="0"/>
            </a:spcBef>
            <a:spcAft>
              <a:spcPts val="0"/>
            </a:spcAft>
          </a:pPr>
          <a:endParaRPr lang="es-PE"/>
        </a:p>
      </dgm:t>
    </dgm:pt>
    <dgm:pt modelId="{A32A83AB-799A-425C-A600-5263E167B6B9}" type="sibTrans" cxnId="{F16FBA1B-7D65-4866-9DB6-3C9F3FF267D5}">
      <dgm:prSet/>
      <dgm:spPr/>
      <dgm:t>
        <a:bodyPr/>
        <a:lstStyle/>
        <a:p>
          <a:pPr>
            <a:lnSpc>
              <a:spcPct val="85000"/>
            </a:lnSpc>
            <a:spcBef>
              <a:spcPts val="0"/>
            </a:spcBef>
            <a:spcAft>
              <a:spcPts val="0"/>
            </a:spcAft>
          </a:pPr>
          <a:endParaRPr lang="es-PE"/>
        </a:p>
      </dgm:t>
    </dgm:pt>
    <dgm:pt modelId="{6AC87790-0789-4263-BBC8-5993229E49B3}">
      <dgm:prSet/>
      <dgm:spPr/>
      <dgm:t>
        <a:bodyPr/>
        <a:lstStyle/>
        <a:p>
          <a:pPr>
            <a:lnSpc>
              <a:spcPct val="85000"/>
            </a:lnSpc>
            <a:spcBef>
              <a:spcPts val="0"/>
            </a:spcBef>
            <a:spcAft>
              <a:spcPts val="0"/>
            </a:spcAft>
          </a:pPr>
          <a:r>
            <a:rPr lang="es-ES" dirty="0"/>
            <a:t>Paso 7</a:t>
          </a:r>
        </a:p>
        <a:p>
          <a:pPr>
            <a:lnSpc>
              <a:spcPct val="85000"/>
            </a:lnSpc>
            <a:spcBef>
              <a:spcPts val="0"/>
            </a:spcBef>
            <a:spcAft>
              <a:spcPts val="0"/>
            </a:spcAft>
          </a:pPr>
          <a:r>
            <a:rPr lang="es-ES" dirty="0"/>
            <a:t>Implementar el seguimiento y la recolección de datos.</a:t>
          </a:r>
        </a:p>
      </dgm:t>
    </dgm:pt>
    <dgm:pt modelId="{6B005457-BD5E-45F9-91C6-B4EBB08E7292}" type="parTrans" cxnId="{3CC7664E-6F3D-4B9F-9FC4-EC23A93FBB52}">
      <dgm:prSet/>
      <dgm:spPr/>
      <dgm:t>
        <a:bodyPr/>
        <a:lstStyle/>
        <a:p>
          <a:pPr>
            <a:lnSpc>
              <a:spcPct val="85000"/>
            </a:lnSpc>
            <a:spcBef>
              <a:spcPts val="0"/>
            </a:spcBef>
            <a:spcAft>
              <a:spcPts val="0"/>
            </a:spcAft>
          </a:pPr>
          <a:endParaRPr lang="es-PE"/>
        </a:p>
      </dgm:t>
    </dgm:pt>
    <dgm:pt modelId="{D8B1FFBB-33F1-4ECE-B5F7-E2720835F6F1}" type="sibTrans" cxnId="{3CC7664E-6F3D-4B9F-9FC4-EC23A93FBB52}">
      <dgm:prSet/>
      <dgm:spPr/>
      <dgm:t>
        <a:bodyPr/>
        <a:lstStyle/>
        <a:p>
          <a:pPr>
            <a:lnSpc>
              <a:spcPct val="85000"/>
            </a:lnSpc>
            <a:spcBef>
              <a:spcPts val="0"/>
            </a:spcBef>
            <a:spcAft>
              <a:spcPts val="0"/>
            </a:spcAft>
          </a:pPr>
          <a:endParaRPr lang="es-PE"/>
        </a:p>
      </dgm:t>
    </dgm:pt>
    <dgm:pt modelId="{EBF3C2A5-BBC9-44A0-BB72-46F137B13E61}">
      <dgm:prSet/>
      <dgm:spPr/>
      <dgm:t>
        <a:bodyPr/>
        <a:lstStyle/>
        <a:p>
          <a:pPr>
            <a:lnSpc>
              <a:spcPct val="85000"/>
            </a:lnSpc>
            <a:spcBef>
              <a:spcPts val="0"/>
            </a:spcBef>
            <a:spcAft>
              <a:spcPts val="0"/>
            </a:spcAft>
          </a:pPr>
          <a:r>
            <a:rPr lang="es-ES" dirty="0"/>
            <a:t>Paso 8</a:t>
          </a:r>
        </a:p>
        <a:p>
          <a:pPr>
            <a:lnSpc>
              <a:spcPct val="85000"/>
            </a:lnSpc>
            <a:spcBef>
              <a:spcPts val="0"/>
            </a:spcBef>
            <a:spcAft>
              <a:spcPts val="0"/>
            </a:spcAft>
          </a:pPr>
          <a:r>
            <a:rPr lang="es-ES" dirty="0"/>
            <a:t>Realizar evaluaciones periódicas.</a:t>
          </a:r>
        </a:p>
      </dgm:t>
    </dgm:pt>
    <dgm:pt modelId="{65FB1955-E07F-4B5E-B375-7F4029BE6499}" type="parTrans" cxnId="{3DD46046-9031-4A33-9AB0-307156E96F97}">
      <dgm:prSet/>
      <dgm:spPr/>
      <dgm:t>
        <a:bodyPr/>
        <a:lstStyle/>
        <a:p>
          <a:pPr>
            <a:lnSpc>
              <a:spcPct val="85000"/>
            </a:lnSpc>
            <a:spcBef>
              <a:spcPts val="0"/>
            </a:spcBef>
            <a:spcAft>
              <a:spcPts val="0"/>
            </a:spcAft>
          </a:pPr>
          <a:endParaRPr lang="es-PE"/>
        </a:p>
      </dgm:t>
    </dgm:pt>
    <dgm:pt modelId="{3B3CFE52-AB49-4CE3-977A-08C300041A7F}" type="sibTrans" cxnId="{3DD46046-9031-4A33-9AB0-307156E96F97}">
      <dgm:prSet/>
      <dgm:spPr/>
      <dgm:t>
        <a:bodyPr/>
        <a:lstStyle/>
        <a:p>
          <a:pPr>
            <a:lnSpc>
              <a:spcPct val="85000"/>
            </a:lnSpc>
            <a:spcBef>
              <a:spcPts val="0"/>
            </a:spcBef>
            <a:spcAft>
              <a:spcPts val="0"/>
            </a:spcAft>
          </a:pPr>
          <a:endParaRPr lang="es-PE"/>
        </a:p>
      </dgm:t>
    </dgm:pt>
    <dgm:pt modelId="{6B2AE031-594F-497E-B1B1-C42C3352C236}">
      <dgm:prSet/>
      <dgm:spPr/>
      <dgm:t>
        <a:bodyPr/>
        <a:lstStyle/>
        <a:p>
          <a:pPr>
            <a:lnSpc>
              <a:spcPct val="85000"/>
            </a:lnSpc>
            <a:spcBef>
              <a:spcPts val="0"/>
            </a:spcBef>
            <a:spcAft>
              <a:spcPts val="0"/>
            </a:spcAft>
          </a:pPr>
          <a:r>
            <a:rPr lang="es-ES" dirty="0"/>
            <a:t>Paso 9</a:t>
          </a:r>
        </a:p>
        <a:p>
          <a:pPr>
            <a:lnSpc>
              <a:spcPct val="85000"/>
            </a:lnSpc>
            <a:spcBef>
              <a:spcPts val="0"/>
            </a:spcBef>
            <a:spcAft>
              <a:spcPts val="0"/>
            </a:spcAft>
          </a:pPr>
          <a:r>
            <a:rPr lang="es-ES" dirty="0"/>
            <a:t>Comunicar y alinear.</a:t>
          </a:r>
        </a:p>
      </dgm:t>
    </dgm:pt>
    <dgm:pt modelId="{67B4E2BB-FEFC-4FAD-A20B-3877BDE3505D}" type="parTrans" cxnId="{A3C15800-160F-4AE3-A7A8-CF019CEE4BF0}">
      <dgm:prSet/>
      <dgm:spPr/>
      <dgm:t>
        <a:bodyPr/>
        <a:lstStyle/>
        <a:p>
          <a:pPr>
            <a:lnSpc>
              <a:spcPct val="85000"/>
            </a:lnSpc>
            <a:spcBef>
              <a:spcPts val="0"/>
            </a:spcBef>
            <a:spcAft>
              <a:spcPts val="0"/>
            </a:spcAft>
          </a:pPr>
          <a:endParaRPr lang="es-PE"/>
        </a:p>
      </dgm:t>
    </dgm:pt>
    <dgm:pt modelId="{DE57599B-E20F-4336-A07D-11448DF6D0BB}" type="sibTrans" cxnId="{A3C15800-160F-4AE3-A7A8-CF019CEE4BF0}">
      <dgm:prSet/>
      <dgm:spPr/>
      <dgm:t>
        <a:bodyPr/>
        <a:lstStyle/>
        <a:p>
          <a:pPr>
            <a:lnSpc>
              <a:spcPct val="85000"/>
            </a:lnSpc>
            <a:spcBef>
              <a:spcPts val="0"/>
            </a:spcBef>
            <a:spcAft>
              <a:spcPts val="0"/>
            </a:spcAft>
          </a:pPr>
          <a:endParaRPr lang="es-PE"/>
        </a:p>
      </dgm:t>
    </dgm:pt>
    <dgm:pt modelId="{BB493F7C-28A8-4460-B5AB-262BF233B1AB}">
      <dgm:prSet/>
      <dgm:spPr/>
      <dgm:t>
        <a:bodyPr/>
        <a:lstStyle/>
        <a:p>
          <a:pPr>
            <a:lnSpc>
              <a:spcPct val="85000"/>
            </a:lnSpc>
            <a:spcBef>
              <a:spcPts val="0"/>
            </a:spcBef>
            <a:spcAft>
              <a:spcPts val="0"/>
            </a:spcAft>
          </a:pPr>
          <a:r>
            <a:rPr lang="es-ES" dirty="0"/>
            <a:t>Paso 10</a:t>
          </a:r>
          <a:br>
            <a:rPr lang="es-ES" dirty="0"/>
          </a:br>
          <a:r>
            <a:rPr lang="es-ES" dirty="0"/>
            <a:t>Revisar y mejorar continuamente.</a:t>
          </a:r>
        </a:p>
      </dgm:t>
    </dgm:pt>
    <dgm:pt modelId="{351EB283-1431-4EED-B480-77B6771FF944}" type="parTrans" cxnId="{54D12F2B-E2DB-4A5A-82A7-BC756DDA6392}">
      <dgm:prSet/>
      <dgm:spPr/>
      <dgm:t>
        <a:bodyPr/>
        <a:lstStyle/>
        <a:p>
          <a:endParaRPr lang="es-PE"/>
        </a:p>
      </dgm:t>
    </dgm:pt>
    <dgm:pt modelId="{5232644D-EA57-45A3-AF91-BFE9A6C99610}" type="sibTrans" cxnId="{54D12F2B-E2DB-4A5A-82A7-BC756DDA6392}">
      <dgm:prSet/>
      <dgm:spPr/>
      <dgm:t>
        <a:bodyPr/>
        <a:lstStyle/>
        <a:p>
          <a:endParaRPr lang="es-PE"/>
        </a:p>
      </dgm:t>
    </dgm:pt>
    <dgm:pt modelId="{327701BE-47D4-4BAE-A9A3-8FEC7DDA72D2}" type="pres">
      <dgm:prSet presAssocID="{1EE473BF-A8D9-4923-AB91-F475F419B6F7}" presName="Name0" presStyleCnt="0">
        <dgm:presLayoutVars>
          <dgm:dir/>
          <dgm:resizeHandles/>
        </dgm:presLayoutVars>
      </dgm:prSet>
      <dgm:spPr/>
    </dgm:pt>
    <dgm:pt modelId="{E23A8AE7-CC81-4C53-B717-5913B5B03C2E}" type="pres">
      <dgm:prSet presAssocID="{B85DE1BC-13F9-49B9-A399-FE5150D636D1}" presName="compNode" presStyleCnt="0"/>
      <dgm:spPr/>
    </dgm:pt>
    <dgm:pt modelId="{9A33BD35-4D8E-4EC0-B4E5-0F5E1690C11D}" type="pres">
      <dgm:prSet presAssocID="{B85DE1BC-13F9-49B9-A399-FE5150D636D1}" presName="dummyConnPt" presStyleCnt="0"/>
      <dgm:spPr/>
    </dgm:pt>
    <dgm:pt modelId="{83BB25F2-2093-4BFE-B717-FEC2C76A6EEB}" type="pres">
      <dgm:prSet presAssocID="{B85DE1BC-13F9-49B9-A399-FE5150D636D1}" presName="node" presStyleLbl="node1" presStyleIdx="0" presStyleCnt="10">
        <dgm:presLayoutVars>
          <dgm:bulletEnabled val="1"/>
        </dgm:presLayoutVars>
      </dgm:prSet>
      <dgm:spPr/>
    </dgm:pt>
    <dgm:pt modelId="{D829A610-E578-4369-9532-D930D8CA74EA}" type="pres">
      <dgm:prSet presAssocID="{0AE70197-5480-4A7D-8251-32D72B5AEA89}" presName="sibTrans" presStyleLbl="bgSibTrans2D1" presStyleIdx="0" presStyleCnt="9"/>
      <dgm:spPr/>
    </dgm:pt>
    <dgm:pt modelId="{38CE358C-4065-474B-9B19-D3C62C29BB74}" type="pres">
      <dgm:prSet presAssocID="{F92C365C-E17D-4C3F-B3DB-933FD6BDBECC}" presName="compNode" presStyleCnt="0"/>
      <dgm:spPr/>
    </dgm:pt>
    <dgm:pt modelId="{892B5D82-AB01-4B54-BA4C-BB0210F9D605}" type="pres">
      <dgm:prSet presAssocID="{F92C365C-E17D-4C3F-B3DB-933FD6BDBECC}" presName="dummyConnPt" presStyleCnt="0"/>
      <dgm:spPr/>
    </dgm:pt>
    <dgm:pt modelId="{5C76C96C-32D4-4F2E-A35A-614AC75794A9}" type="pres">
      <dgm:prSet presAssocID="{F92C365C-E17D-4C3F-B3DB-933FD6BDBECC}" presName="node" presStyleLbl="node1" presStyleIdx="1" presStyleCnt="10">
        <dgm:presLayoutVars>
          <dgm:bulletEnabled val="1"/>
        </dgm:presLayoutVars>
      </dgm:prSet>
      <dgm:spPr/>
    </dgm:pt>
    <dgm:pt modelId="{6EABC9B9-2F22-471B-B277-7E3034371221}" type="pres">
      <dgm:prSet presAssocID="{D429F418-9147-4894-9380-B5E956BBF7A4}" presName="sibTrans" presStyleLbl="bgSibTrans2D1" presStyleIdx="1" presStyleCnt="9"/>
      <dgm:spPr/>
    </dgm:pt>
    <dgm:pt modelId="{D99A9BC6-C091-4A09-A1B2-FC3D3B42962F}" type="pres">
      <dgm:prSet presAssocID="{C90FE237-A151-4546-B891-C68C46BEBCA6}" presName="compNode" presStyleCnt="0"/>
      <dgm:spPr/>
    </dgm:pt>
    <dgm:pt modelId="{33309274-7976-4D3E-A9D1-CA2F54C2EDFE}" type="pres">
      <dgm:prSet presAssocID="{C90FE237-A151-4546-B891-C68C46BEBCA6}" presName="dummyConnPt" presStyleCnt="0"/>
      <dgm:spPr/>
    </dgm:pt>
    <dgm:pt modelId="{CF89F51A-781A-409F-97BE-B7B757D0B1A9}" type="pres">
      <dgm:prSet presAssocID="{C90FE237-A151-4546-B891-C68C46BEBCA6}" presName="node" presStyleLbl="node1" presStyleIdx="2" presStyleCnt="10">
        <dgm:presLayoutVars>
          <dgm:bulletEnabled val="1"/>
        </dgm:presLayoutVars>
      </dgm:prSet>
      <dgm:spPr/>
    </dgm:pt>
    <dgm:pt modelId="{57645537-B88E-4481-A43C-6DBAA7386CED}" type="pres">
      <dgm:prSet presAssocID="{FB747BC1-3CEC-44BF-970D-6C6C582E5FC1}" presName="sibTrans" presStyleLbl="bgSibTrans2D1" presStyleIdx="2" presStyleCnt="9"/>
      <dgm:spPr/>
    </dgm:pt>
    <dgm:pt modelId="{07BB8C6B-0D41-430C-B418-B0D4C94E1FAA}" type="pres">
      <dgm:prSet presAssocID="{37076647-86A9-4C91-B244-6D08A5ACE55E}" presName="compNode" presStyleCnt="0"/>
      <dgm:spPr/>
    </dgm:pt>
    <dgm:pt modelId="{5EA63427-D16B-4855-9648-837301697934}" type="pres">
      <dgm:prSet presAssocID="{37076647-86A9-4C91-B244-6D08A5ACE55E}" presName="dummyConnPt" presStyleCnt="0"/>
      <dgm:spPr/>
    </dgm:pt>
    <dgm:pt modelId="{09F98586-EDBE-4386-B615-C3FF126CD3DE}" type="pres">
      <dgm:prSet presAssocID="{37076647-86A9-4C91-B244-6D08A5ACE55E}" presName="node" presStyleLbl="node1" presStyleIdx="3" presStyleCnt="10">
        <dgm:presLayoutVars>
          <dgm:bulletEnabled val="1"/>
        </dgm:presLayoutVars>
      </dgm:prSet>
      <dgm:spPr/>
    </dgm:pt>
    <dgm:pt modelId="{32C8C139-E8F2-4B95-9BE4-28FB72DC9DD5}" type="pres">
      <dgm:prSet presAssocID="{EE60878F-4572-4FAE-9D28-CE75D25BC89C}" presName="sibTrans" presStyleLbl="bgSibTrans2D1" presStyleIdx="3" presStyleCnt="9"/>
      <dgm:spPr/>
    </dgm:pt>
    <dgm:pt modelId="{81A8966B-EFC9-4D11-87C1-475880447727}" type="pres">
      <dgm:prSet presAssocID="{9A743F1E-19E3-4F2E-A5D3-35D8F038565E}" presName="compNode" presStyleCnt="0"/>
      <dgm:spPr/>
    </dgm:pt>
    <dgm:pt modelId="{583698FA-5542-4A5D-B769-6ED23E15D816}" type="pres">
      <dgm:prSet presAssocID="{9A743F1E-19E3-4F2E-A5D3-35D8F038565E}" presName="dummyConnPt" presStyleCnt="0"/>
      <dgm:spPr/>
    </dgm:pt>
    <dgm:pt modelId="{CB7035B2-AA5A-4C85-A092-FB246BE51283}" type="pres">
      <dgm:prSet presAssocID="{9A743F1E-19E3-4F2E-A5D3-35D8F038565E}" presName="node" presStyleLbl="node1" presStyleIdx="4" presStyleCnt="10">
        <dgm:presLayoutVars>
          <dgm:bulletEnabled val="1"/>
        </dgm:presLayoutVars>
      </dgm:prSet>
      <dgm:spPr/>
    </dgm:pt>
    <dgm:pt modelId="{5751EB9A-528F-40C1-B8AD-0B2927180862}" type="pres">
      <dgm:prSet presAssocID="{ACCCD67F-DE1D-4EEF-A60F-B10C41A1C81E}" presName="sibTrans" presStyleLbl="bgSibTrans2D1" presStyleIdx="4" presStyleCnt="9"/>
      <dgm:spPr/>
    </dgm:pt>
    <dgm:pt modelId="{BDCD1DBB-9F78-419D-AD75-35CC961046EE}" type="pres">
      <dgm:prSet presAssocID="{BAF05E2C-A0A0-4386-A000-8462372640AE}" presName="compNode" presStyleCnt="0"/>
      <dgm:spPr/>
    </dgm:pt>
    <dgm:pt modelId="{7201B3B6-9101-4B6C-9051-D962A71CE3E1}" type="pres">
      <dgm:prSet presAssocID="{BAF05E2C-A0A0-4386-A000-8462372640AE}" presName="dummyConnPt" presStyleCnt="0"/>
      <dgm:spPr/>
    </dgm:pt>
    <dgm:pt modelId="{AE59C3C4-B5D3-40EB-97F6-B0B769944258}" type="pres">
      <dgm:prSet presAssocID="{BAF05E2C-A0A0-4386-A000-8462372640AE}" presName="node" presStyleLbl="node1" presStyleIdx="5" presStyleCnt="10">
        <dgm:presLayoutVars>
          <dgm:bulletEnabled val="1"/>
        </dgm:presLayoutVars>
      </dgm:prSet>
      <dgm:spPr/>
    </dgm:pt>
    <dgm:pt modelId="{7DF4CA45-2825-468A-A9B0-5292B260447B}" type="pres">
      <dgm:prSet presAssocID="{A32A83AB-799A-425C-A600-5263E167B6B9}" presName="sibTrans" presStyleLbl="bgSibTrans2D1" presStyleIdx="5" presStyleCnt="9"/>
      <dgm:spPr/>
    </dgm:pt>
    <dgm:pt modelId="{E9704D0B-619A-4149-9F59-60D3462F7FD3}" type="pres">
      <dgm:prSet presAssocID="{6AC87790-0789-4263-BBC8-5993229E49B3}" presName="compNode" presStyleCnt="0"/>
      <dgm:spPr/>
    </dgm:pt>
    <dgm:pt modelId="{F910E8C7-5CEB-4C81-8326-21D594ED89C5}" type="pres">
      <dgm:prSet presAssocID="{6AC87790-0789-4263-BBC8-5993229E49B3}" presName="dummyConnPt" presStyleCnt="0"/>
      <dgm:spPr/>
    </dgm:pt>
    <dgm:pt modelId="{B12A1B6C-08FB-44F4-AC59-932AFD73DC24}" type="pres">
      <dgm:prSet presAssocID="{6AC87790-0789-4263-BBC8-5993229E49B3}" presName="node" presStyleLbl="node1" presStyleIdx="6" presStyleCnt="10">
        <dgm:presLayoutVars>
          <dgm:bulletEnabled val="1"/>
        </dgm:presLayoutVars>
      </dgm:prSet>
      <dgm:spPr/>
    </dgm:pt>
    <dgm:pt modelId="{C851D469-F980-4DBD-A332-AB6350FEA09C}" type="pres">
      <dgm:prSet presAssocID="{D8B1FFBB-33F1-4ECE-B5F7-E2720835F6F1}" presName="sibTrans" presStyleLbl="bgSibTrans2D1" presStyleIdx="6" presStyleCnt="9"/>
      <dgm:spPr/>
    </dgm:pt>
    <dgm:pt modelId="{3F36BE59-3FBA-498C-B99F-56E30B34705B}" type="pres">
      <dgm:prSet presAssocID="{EBF3C2A5-BBC9-44A0-BB72-46F137B13E61}" presName="compNode" presStyleCnt="0"/>
      <dgm:spPr/>
    </dgm:pt>
    <dgm:pt modelId="{B1CD6B95-024E-4E15-99B7-3A51F6F819D3}" type="pres">
      <dgm:prSet presAssocID="{EBF3C2A5-BBC9-44A0-BB72-46F137B13E61}" presName="dummyConnPt" presStyleCnt="0"/>
      <dgm:spPr/>
    </dgm:pt>
    <dgm:pt modelId="{26D39B1D-5F8D-4252-BD83-64ECCCA1B47A}" type="pres">
      <dgm:prSet presAssocID="{EBF3C2A5-BBC9-44A0-BB72-46F137B13E61}" presName="node" presStyleLbl="node1" presStyleIdx="7" presStyleCnt="10">
        <dgm:presLayoutVars>
          <dgm:bulletEnabled val="1"/>
        </dgm:presLayoutVars>
      </dgm:prSet>
      <dgm:spPr/>
    </dgm:pt>
    <dgm:pt modelId="{58D78EA2-3212-4C90-B851-021F42E908E2}" type="pres">
      <dgm:prSet presAssocID="{3B3CFE52-AB49-4CE3-977A-08C300041A7F}" presName="sibTrans" presStyleLbl="bgSibTrans2D1" presStyleIdx="7" presStyleCnt="9"/>
      <dgm:spPr/>
    </dgm:pt>
    <dgm:pt modelId="{7C0FF224-33BE-4E88-AEBA-6538CF137C86}" type="pres">
      <dgm:prSet presAssocID="{6B2AE031-594F-497E-B1B1-C42C3352C236}" presName="compNode" presStyleCnt="0"/>
      <dgm:spPr/>
    </dgm:pt>
    <dgm:pt modelId="{021AC06B-A03B-4C72-B426-EC8780A2BC1F}" type="pres">
      <dgm:prSet presAssocID="{6B2AE031-594F-497E-B1B1-C42C3352C236}" presName="dummyConnPt" presStyleCnt="0"/>
      <dgm:spPr/>
    </dgm:pt>
    <dgm:pt modelId="{561EA057-50AA-47A6-B6E0-D0ACB4219E84}" type="pres">
      <dgm:prSet presAssocID="{6B2AE031-594F-497E-B1B1-C42C3352C236}" presName="node" presStyleLbl="node1" presStyleIdx="8" presStyleCnt="10">
        <dgm:presLayoutVars>
          <dgm:bulletEnabled val="1"/>
        </dgm:presLayoutVars>
      </dgm:prSet>
      <dgm:spPr/>
    </dgm:pt>
    <dgm:pt modelId="{2DCF1598-C717-4432-92EC-E52E2C6ABA38}" type="pres">
      <dgm:prSet presAssocID="{DE57599B-E20F-4336-A07D-11448DF6D0BB}" presName="sibTrans" presStyleLbl="bgSibTrans2D1" presStyleIdx="8" presStyleCnt="9"/>
      <dgm:spPr/>
    </dgm:pt>
    <dgm:pt modelId="{F7E54E24-41EF-4DBC-92A4-65C0B889E5AB}" type="pres">
      <dgm:prSet presAssocID="{BB493F7C-28A8-4460-B5AB-262BF233B1AB}" presName="compNode" presStyleCnt="0"/>
      <dgm:spPr/>
    </dgm:pt>
    <dgm:pt modelId="{3CA45DBE-6EA2-4E1E-AD64-B963B8084F2D}" type="pres">
      <dgm:prSet presAssocID="{BB493F7C-28A8-4460-B5AB-262BF233B1AB}" presName="dummyConnPt" presStyleCnt="0"/>
      <dgm:spPr/>
    </dgm:pt>
    <dgm:pt modelId="{2A2D00E9-8CFB-456C-80B1-88495E82777A}" type="pres">
      <dgm:prSet presAssocID="{BB493F7C-28A8-4460-B5AB-262BF233B1AB}" presName="node" presStyleLbl="node1" presStyleIdx="9" presStyleCnt="10">
        <dgm:presLayoutVars>
          <dgm:bulletEnabled val="1"/>
        </dgm:presLayoutVars>
      </dgm:prSet>
      <dgm:spPr/>
    </dgm:pt>
  </dgm:ptLst>
  <dgm:cxnLst>
    <dgm:cxn modelId="{A3C15800-160F-4AE3-A7A8-CF019CEE4BF0}" srcId="{1EE473BF-A8D9-4923-AB91-F475F419B6F7}" destId="{6B2AE031-594F-497E-B1B1-C42C3352C236}" srcOrd="8" destOrd="0" parTransId="{67B4E2BB-FEFC-4FAD-A20B-3877BDE3505D}" sibTransId="{DE57599B-E20F-4336-A07D-11448DF6D0BB}"/>
    <dgm:cxn modelId="{04AE5206-A11B-4E27-9C64-CD63095338B7}" type="presOf" srcId="{BB493F7C-28A8-4460-B5AB-262BF233B1AB}" destId="{2A2D00E9-8CFB-456C-80B1-88495E82777A}" srcOrd="0" destOrd="0" presId="urn:microsoft.com/office/officeart/2005/8/layout/bProcess4"/>
    <dgm:cxn modelId="{F16FBA1B-7D65-4866-9DB6-3C9F3FF267D5}" srcId="{1EE473BF-A8D9-4923-AB91-F475F419B6F7}" destId="{BAF05E2C-A0A0-4386-A000-8462372640AE}" srcOrd="5" destOrd="0" parTransId="{E085700D-5BA1-459A-B91C-C3D5F8F35BBC}" sibTransId="{A32A83AB-799A-425C-A600-5263E167B6B9}"/>
    <dgm:cxn modelId="{3CE5EB25-B359-4285-901C-AC4649C56002}" type="presOf" srcId="{A32A83AB-799A-425C-A600-5263E167B6B9}" destId="{7DF4CA45-2825-468A-A9B0-5292B260447B}" srcOrd="0" destOrd="0" presId="urn:microsoft.com/office/officeart/2005/8/layout/bProcess4"/>
    <dgm:cxn modelId="{54D12F2B-E2DB-4A5A-82A7-BC756DDA6392}" srcId="{1EE473BF-A8D9-4923-AB91-F475F419B6F7}" destId="{BB493F7C-28A8-4460-B5AB-262BF233B1AB}" srcOrd="9" destOrd="0" parTransId="{351EB283-1431-4EED-B480-77B6771FF944}" sibTransId="{5232644D-EA57-45A3-AF91-BFE9A6C99610}"/>
    <dgm:cxn modelId="{1EFC9233-00F4-45F7-B35D-CE5E370EA111}" type="presOf" srcId="{37076647-86A9-4C91-B244-6D08A5ACE55E}" destId="{09F98586-EDBE-4386-B615-C3FF126CD3DE}" srcOrd="0" destOrd="0" presId="urn:microsoft.com/office/officeart/2005/8/layout/bProcess4"/>
    <dgm:cxn modelId="{5AB9BB5D-6B3B-49DF-9079-8DFDFAE31232}" type="presOf" srcId="{D8B1FFBB-33F1-4ECE-B5F7-E2720835F6F1}" destId="{C851D469-F980-4DBD-A332-AB6350FEA09C}" srcOrd="0" destOrd="0" presId="urn:microsoft.com/office/officeart/2005/8/layout/bProcess4"/>
    <dgm:cxn modelId="{D3E9AE60-85A0-4DEC-B427-C66B0199EED0}" type="presOf" srcId="{6AC87790-0789-4263-BBC8-5993229E49B3}" destId="{B12A1B6C-08FB-44F4-AC59-932AFD73DC24}" srcOrd="0" destOrd="0" presId="urn:microsoft.com/office/officeart/2005/8/layout/bProcess4"/>
    <dgm:cxn modelId="{E0C35442-A6B2-4478-B614-9D5B70CC9DB3}" srcId="{1EE473BF-A8D9-4923-AB91-F475F419B6F7}" destId="{37076647-86A9-4C91-B244-6D08A5ACE55E}" srcOrd="3" destOrd="0" parTransId="{FF550048-B7B7-4B70-AF66-7F094EDD2C69}" sibTransId="{EE60878F-4572-4FAE-9D28-CE75D25BC89C}"/>
    <dgm:cxn modelId="{A9B76763-3FA9-4F42-90DF-696B8B961058}" type="presOf" srcId="{6B2AE031-594F-497E-B1B1-C42C3352C236}" destId="{561EA057-50AA-47A6-B6E0-D0ACB4219E84}" srcOrd="0" destOrd="0" presId="urn:microsoft.com/office/officeart/2005/8/layout/bProcess4"/>
    <dgm:cxn modelId="{3DD46046-9031-4A33-9AB0-307156E96F97}" srcId="{1EE473BF-A8D9-4923-AB91-F475F419B6F7}" destId="{EBF3C2A5-BBC9-44A0-BB72-46F137B13E61}" srcOrd="7" destOrd="0" parTransId="{65FB1955-E07F-4B5E-B375-7F4029BE6499}" sibTransId="{3B3CFE52-AB49-4CE3-977A-08C300041A7F}"/>
    <dgm:cxn modelId="{A5207C67-AE50-47D3-9BFE-235378067B9C}" srcId="{1EE473BF-A8D9-4923-AB91-F475F419B6F7}" destId="{B85DE1BC-13F9-49B9-A399-FE5150D636D1}" srcOrd="0" destOrd="0" parTransId="{D1211EB4-2794-456C-8EBC-86C2BC5695E6}" sibTransId="{0AE70197-5480-4A7D-8251-32D72B5AEA89}"/>
    <dgm:cxn modelId="{18A0896A-0E87-43FF-AFEF-7B9ACD66442E}" srcId="{1EE473BF-A8D9-4923-AB91-F475F419B6F7}" destId="{F92C365C-E17D-4C3F-B3DB-933FD6BDBECC}" srcOrd="1" destOrd="0" parTransId="{DC4B08AB-2D6B-4CD9-87E0-A28A2FADF1DF}" sibTransId="{D429F418-9147-4894-9380-B5E956BBF7A4}"/>
    <dgm:cxn modelId="{3CC7664E-6F3D-4B9F-9FC4-EC23A93FBB52}" srcId="{1EE473BF-A8D9-4923-AB91-F475F419B6F7}" destId="{6AC87790-0789-4263-BBC8-5993229E49B3}" srcOrd="6" destOrd="0" parTransId="{6B005457-BD5E-45F9-91C6-B4EBB08E7292}" sibTransId="{D8B1FFBB-33F1-4ECE-B5F7-E2720835F6F1}"/>
    <dgm:cxn modelId="{4E15146F-1C97-4AD0-B499-81F0ACBFC898}" type="presOf" srcId="{D429F418-9147-4894-9380-B5E956BBF7A4}" destId="{6EABC9B9-2F22-471B-B277-7E3034371221}" srcOrd="0" destOrd="0" presId="urn:microsoft.com/office/officeart/2005/8/layout/bProcess4"/>
    <dgm:cxn modelId="{AB8C6174-89C1-465F-B1EC-88BACFAD6BA4}" type="presOf" srcId="{C90FE237-A151-4546-B891-C68C46BEBCA6}" destId="{CF89F51A-781A-409F-97BE-B7B757D0B1A9}" srcOrd="0" destOrd="0" presId="urn:microsoft.com/office/officeart/2005/8/layout/bProcess4"/>
    <dgm:cxn modelId="{44458858-16F6-4F59-B7A2-07523AC2D39D}" type="presOf" srcId="{0AE70197-5480-4A7D-8251-32D72B5AEA89}" destId="{D829A610-E578-4369-9532-D930D8CA74EA}" srcOrd="0" destOrd="0" presId="urn:microsoft.com/office/officeart/2005/8/layout/bProcess4"/>
    <dgm:cxn modelId="{75F53684-E7C3-4265-B54D-4936E313E45A}" type="presOf" srcId="{3B3CFE52-AB49-4CE3-977A-08C300041A7F}" destId="{58D78EA2-3212-4C90-B851-021F42E908E2}" srcOrd="0" destOrd="0" presId="urn:microsoft.com/office/officeart/2005/8/layout/bProcess4"/>
    <dgm:cxn modelId="{E3BC0088-356C-477F-A34D-EE2A44D57B9C}" type="presOf" srcId="{BAF05E2C-A0A0-4386-A000-8462372640AE}" destId="{AE59C3C4-B5D3-40EB-97F6-B0B769944258}" srcOrd="0" destOrd="0" presId="urn:microsoft.com/office/officeart/2005/8/layout/bProcess4"/>
    <dgm:cxn modelId="{20044A9A-8C9F-451B-A712-28C05BD85AF9}" type="presOf" srcId="{B85DE1BC-13F9-49B9-A399-FE5150D636D1}" destId="{83BB25F2-2093-4BFE-B717-FEC2C76A6EEB}" srcOrd="0" destOrd="0" presId="urn:microsoft.com/office/officeart/2005/8/layout/bProcess4"/>
    <dgm:cxn modelId="{E056AA9A-9400-4D8B-B028-3A44BC170029}" type="presOf" srcId="{FB747BC1-3CEC-44BF-970D-6C6C582E5FC1}" destId="{57645537-B88E-4481-A43C-6DBAA7386CED}" srcOrd="0" destOrd="0" presId="urn:microsoft.com/office/officeart/2005/8/layout/bProcess4"/>
    <dgm:cxn modelId="{3A703B9C-8B15-411D-91CC-519C059E2A28}" type="presOf" srcId="{ACCCD67F-DE1D-4EEF-A60F-B10C41A1C81E}" destId="{5751EB9A-528F-40C1-B8AD-0B2927180862}" srcOrd="0" destOrd="0" presId="urn:microsoft.com/office/officeart/2005/8/layout/bProcess4"/>
    <dgm:cxn modelId="{3D4DEDB7-4B29-47D6-908B-904A90451D4A}" type="presOf" srcId="{EE60878F-4572-4FAE-9D28-CE75D25BC89C}" destId="{32C8C139-E8F2-4B95-9BE4-28FB72DC9DD5}" srcOrd="0" destOrd="0" presId="urn:microsoft.com/office/officeart/2005/8/layout/bProcess4"/>
    <dgm:cxn modelId="{F85426BE-45C5-4BD1-834F-5DE97729B1EA}" type="presOf" srcId="{1EE473BF-A8D9-4923-AB91-F475F419B6F7}" destId="{327701BE-47D4-4BAE-A9A3-8FEC7DDA72D2}" srcOrd="0" destOrd="0" presId="urn:microsoft.com/office/officeart/2005/8/layout/bProcess4"/>
    <dgm:cxn modelId="{A68D50D8-F34D-4CB9-B0E0-EEB36CBDA3AE}" type="presOf" srcId="{9A743F1E-19E3-4F2E-A5D3-35D8F038565E}" destId="{CB7035B2-AA5A-4C85-A092-FB246BE51283}" srcOrd="0" destOrd="0" presId="urn:microsoft.com/office/officeart/2005/8/layout/bProcess4"/>
    <dgm:cxn modelId="{319B11DD-091A-40E3-B894-F81F9EFC9978}" type="presOf" srcId="{EBF3C2A5-BBC9-44A0-BB72-46F137B13E61}" destId="{26D39B1D-5F8D-4252-BD83-64ECCCA1B47A}" srcOrd="0" destOrd="0" presId="urn:microsoft.com/office/officeart/2005/8/layout/bProcess4"/>
    <dgm:cxn modelId="{848D17DD-C7CD-4C80-A788-0D8C90108FDA}" type="presOf" srcId="{F92C365C-E17D-4C3F-B3DB-933FD6BDBECC}" destId="{5C76C96C-32D4-4F2E-A35A-614AC75794A9}" srcOrd="0" destOrd="0" presId="urn:microsoft.com/office/officeart/2005/8/layout/bProcess4"/>
    <dgm:cxn modelId="{701A4EF4-EBDE-4CAC-86CD-EB4379520605}" srcId="{1EE473BF-A8D9-4923-AB91-F475F419B6F7}" destId="{9A743F1E-19E3-4F2E-A5D3-35D8F038565E}" srcOrd="4" destOrd="0" parTransId="{57D52FBA-EAE6-4B32-82E7-69325005CA55}" sibTransId="{ACCCD67F-DE1D-4EEF-A60F-B10C41A1C81E}"/>
    <dgm:cxn modelId="{87308FF6-EE64-4300-86AE-0A7F17B9C9C8}" type="presOf" srcId="{DE57599B-E20F-4336-A07D-11448DF6D0BB}" destId="{2DCF1598-C717-4432-92EC-E52E2C6ABA38}" srcOrd="0" destOrd="0" presId="urn:microsoft.com/office/officeart/2005/8/layout/bProcess4"/>
    <dgm:cxn modelId="{DF1D7FFB-E334-45B6-A092-280A2E6691E2}" srcId="{1EE473BF-A8D9-4923-AB91-F475F419B6F7}" destId="{C90FE237-A151-4546-B891-C68C46BEBCA6}" srcOrd="2" destOrd="0" parTransId="{FC61A38F-AADE-4127-B55D-87DEDF4155B2}" sibTransId="{FB747BC1-3CEC-44BF-970D-6C6C582E5FC1}"/>
    <dgm:cxn modelId="{45AC545C-DA56-4472-8B6D-8024A792E4CA}" type="presParOf" srcId="{327701BE-47D4-4BAE-A9A3-8FEC7DDA72D2}" destId="{E23A8AE7-CC81-4C53-B717-5913B5B03C2E}" srcOrd="0" destOrd="0" presId="urn:microsoft.com/office/officeart/2005/8/layout/bProcess4"/>
    <dgm:cxn modelId="{EB8AFA94-1984-470C-A7FB-012FD4163876}" type="presParOf" srcId="{E23A8AE7-CC81-4C53-B717-5913B5B03C2E}" destId="{9A33BD35-4D8E-4EC0-B4E5-0F5E1690C11D}" srcOrd="0" destOrd="0" presId="urn:microsoft.com/office/officeart/2005/8/layout/bProcess4"/>
    <dgm:cxn modelId="{316810DA-E092-46E7-91AE-EC63B8E14DB8}" type="presParOf" srcId="{E23A8AE7-CC81-4C53-B717-5913B5B03C2E}" destId="{83BB25F2-2093-4BFE-B717-FEC2C76A6EEB}" srcOrd="1" destOrd="0" presId="urn:microsoft.com/office/officeart/2005/8/layout/bProcess4"/>
    <dgm:cxn modelId="{08028AEA-8FE9-4B79-A04B-E663BD247905}" type="presParOf" srcId="{327701BE-47D4-4BAE-A9A3-8FEC7DDA72D2}" destId="{D829A610-E578-4369-9532-D930D8CA74EA}" srcOrd="1" destOrd="0" presId="urn:microsoft.com/office/officeart/2005/8/layout/bProcess4"/>
    <dgm:cxn modelId="{77C97957-6CE5-426F-808A-FC3323F4795C}" type="presParOf" srcId="{327701BE-47D4-4BAE-A9A3-8FEC7DDA72D2}" destId="{38CE358C-4065-474B-9B19-D3C62C29BB74}" srcOrd="2" destOrd="0" presId="urn:microsoft.com/office/officeart/2005/8/layout/bProcess4"/>
    <dgm:cxn modelId="{774F4628-6E8C-4217-B286-833E67663766}" type="presParOf" srcId="{38CE358C-4065-474B-9B19-D3C62C29BB74}" destId="{892B5D82-AB01-4B54-BA4C-BB0210F9D605}" srcOrd="0" destOrd="0" presId="urn:microsoft.com/office/officeart/2005/8/layout/bProcess4"/>
    <dgm:cxn modelId="{23A5A1D9-DFE6-42E2-9ED9-1BC9CF3CA5EB}" type="presParOf" srcId="{38CE358C-4065-474B-9B19-D3C62C29BB74}" destId="{5C76C96C-32D4-4F2E-A35A-614AC75794A9}" srcOrd="1" destOrd="0" presId="urn:microsoft.com/office/officeart/2005/8/layout/bProcess4"/>
    <dgm:cxn modelId="{7C48016B-9844-474C-8636-3B797D16EC0B}" type="presParOf" srcId="{327701BE-47D4-4BAE-A9A3-8FEC7DDA72D2}" destId="{6EABC9B9-2F22-471B-B277-7E3034371221}" srcOrd="3" destOrd="0" presId="urn:microsoft.com/office/officeart/2005/8/layout/bProcess4"/>
    <dgm:cxn modelId="{42171766-83CD-4103-82C6-8044BF35C5B4}" type="presParOf" srcId="{327701BE-47D4-4BAE-A9A3-8FEC7DDA72D2}" destId="{D99A9BC6-C091-4A09-A1B2-FC3D3B42962F}" srcOrd="4" destOrd="0" presId="urn:microsoft.com/office/officeart/2005/8/layout/bProcess4"/>
    <dgm:cxn modelId="{E8E37368-8F2A-4E2D-B6F9-2BE644DAEE1C}" type="presParOf" srcId="{D99A9BC6-C091-4A09-A1B2-FC3D3B42962F}" destId="{33309274-7976-4D3E-A9D1-CA2F54C2EDFE}" srcOrd="0" destOrd="0" presId="urn:microsoft.com/office/officeart/2005/8/layout/bProcess4"/>
    <dgm:cxn modelId="{2CF9EB6A-E30D-44CC-A338-B1592022287A}" type="presParOf" srcId="{D99A9BC6-C091-4A09-A1B2-FC3D3B42962F}" destId="{CF89F51A-781A-409F-97BE-B7B757D0B1A9}" srcOrd="1" destOrd="0" presId="urn:microsoft.com/office/officeart/2005/8/layout/bProcess4"/>
    <dgm:cxn modelId="{52CEC8E3-B232-4D73-989A-A8B60E1DD931}" type="presParOf" srcId="{327701BE-47D4-4BAE-A9A3-8FEC7DDA72D2}" destId="{57645537-B88E-4481-A43C-6DBAA7386CED}" srcOrd="5" destOrd="0" presId="urn:microsoft.com/office/officeart/2005/8/layout/bProcess4"/>
    <dgm:cxn modelId="{64108384-1C3C-4AE4-8289-6526941B75E0}" type="presParOf" srcId="{327701BE-47D4-4BAE-A9A3-8FEC7DDA72D2}" destId="{07BB8C6B-0D41-430C-B418-B0D4C94E1FAA}" srcOrd="6" destOrd="0" presId="urn:microsoft.com/office/officeart/2005/8/layout/bProcess4"/>
    <dgm:cxn modelId="{98BF1407-86FE-456F-BDEB-91C710EF1032}" type="presParOf" srcId="{07BB8C6B-0D41-430C-B418-B0D4C94E1FAA}" destId="{5EA63427-D16B-4855-9648-837301697934}" srcOrd="0" destOrd="0" presId="urn:microsoft.com/office/officeart/2005/8/layout/bProcess4"/>
    <dgm:cxn modelId="{47DD8214-EECE-49A9-AAD0-454DA27456A7}" type="presParOf" srcId="{07BB8C6B-0D41-430C-B418-B0D4C94E1FAA}" destId="{09F98586-EDBE-4386-B615-C3FF126CD3DE}" srcOrd="1" destOrd="0" presId="urn:microsoft.com/office/officeart/2005/8/layout/bProcess4"/>
    <dgm:cxn modelId="{749292D4-CCA5-463C-BD54-8FB3C640AFFC}" type="presParOf" srcId="{327701BE-47D4-4BAE-A9A3-8FEC7DDA72D2}" destId="{32C8C139-E8F2-4B95-9BE4-28FB72DC9DD5}" srcOrd="7" destOrd="0" presId="urn:microsoft.com/office/officeart/2005/8/layout/bProcess4"/>
    <dgm:cxn modelId="{77E9E61E-A10A-4FCB-BCA9-AFFC4E27FEA8}" type="presParOf" srcId="{327701BE-47D4-4BAE-A9A3-8FEC7DDA72D2}" destId="{81A8966B-EFC9-4D11-87C1-475880447727}" srcOrd="8" destOrd="0" presId="urn:microsoft.com/office/officeart/2005/8/layout/bProcess4"/>
    <dgm:cxn modelId="{89BDE292-0B49-40CD-AAA5-0EF47BA6995B}" type="presParOf" srcId="{81A8966B-EFC9-4D11-87C1-475880447727}" destId="{583698FA-5542-4A5D-B769-6ED23E15D816}" srcOrd="0" destOrd="0" presId="urn:microsoft.com/office/officeart/2005/8/layout/bProcess4"/>
    <dgm:cxn modelId="{3C4EAE9D-AD55-400B-B0B3-83451DDEBDA8}" type="presParOf" srcId="{81A8966B-EFC9-4D11-87C1-475880447727}" destId="{CB7035B2-AA5A-4C85-A092-FB246BE51283}" srcOrd="1" destOrd="0" presId="urn:microsoft.com/office/officeart/2005/8/layout/bProcess4"/>
    <dgm:cxn modelId="{2813A028-D045-436E-AD30-D1019245468E}" type="presParOf" srcId="{327701BE-47D4-4BAE-A9A3-8FEC7DDA72D2}" destId="{5751EB9A-528F-40C1-B8AD-0B2927180862}" srcOrd="9" destOrd="0" presId="urn:microsoft.com/office/officeart/2005/8/layout/bProcess4"/>
    <dgm:cxn modelId="{96441188-391C-41F9-AAEF-CD3B979A9FC4}" type="presParOf" srcId="{327701BE-47D4-4BAE-A9A3-8FEC7DDA72D2}" destId="{BDCD1DBB-9F78-419D-AD75-35CC961046EE}" srcOrd="10" destOrd="0" presId="urn:microsoft.com/office/officeart/2005/8/layout/bProcess4"/>
    <dgm:cxn modelId="{71F544FB-9156-4A65-A506-575FA32F0A7B}" type="presParOf" srcId="{BDCD1DBB-9F78-419D-AD75-35CC961046EE}" destId="{7201B3B6-9101-4B6C-9051-D962A71CE3E1}" srcOrd="0" destOrd="0" presId="urn:microsoft.com/office/officeart/2005/8/layout/bProcess4"/>
    <dgm:cxn modelId="{6735C69F-EF76-4515-89F6-8ED8BD57AFD2}" type="presParOf" srcId="{BDCD1DBB-9F78-419D-AD75-35CC961046EE}" destId="{AE59C3C4-B5D3-40EB-97F6-B0B769944258}" srcOrd="1" destOrd="0" presId="urn:microsoft.com/office/officeart/2005/8/layout/bProcess4"/>
    <dgm:cxn modelId="{3A4CD2D4-8A9B-4EE9-8968-7382269511D8}" type="presParOf" srcId="{327701BE-47D4-4BAE-A9A3-8FEC7DDA72D2}" destId="{7DF4CA45-2825-468A-A9B0-5292B260447B}" srcOrd="11" destOrd="0" presId="urn:microsoft.com/office/officeart/2005/8/layout/bProcess4"/>
    <dgm:cxn modelId="{FE8F442C-8E9E-498A-A1C3-2F17D880219E}" type="presParOf" srcId="{327701BE-47D4-4BAE-A9A3-8FEC7DDA72D2}" destId="{E9704D0B-619A-4149-9F59-60D3462F7FD3}" srcOrd="12" destOrd="0" presId="urn:microsoft.com/office/officeart/2005/8/layout/bProcess4"/>
    <dgm:cxn modelId="{F9A93C7D-753A-4D87-BAAF-444B30640947}" type="presParOf" srcId="{E9704D0B-619A-4149-9F59-60D3462F7FD3}" destId="{F910E8C7-5CEB-4C81-8326-21D594ED89C5}" srcOrd="0" destOrd="0" presId="urn:microsoft.com/office/officeart/2005/8/layout/bProcess4"/>
    <dgm:cxn modelId="{1A50BB2C-8CB7-4A95-BE05-B716DD981B40}" type="presParOf" srcId="{E9704D0B-619A-4149-9F59-60D3462F7FD3}" destId="{B12A1B6C-08FB-44F4-AC59-932AFD73DC24}" srcOrd="1" destOrd="0" presId="urn:microsoft.com/office/officeart/2005/8/layout/bProcess4"/>
    <dgm:cxn modelId="{2C6C4821-3487-449F-8E9C-500669417534}" type="presParOf" srcId="{327701BE-47D4-4BAE-A9A3-8FEC7DDA72D2}" destId="{C851D469-F980-4DBD-A332-AB6350FEA09C}" srcOrd="13" destOrd="0" presId="urn:microsoft.com/office/officeart/2005/8/layout/bProcess4"/>
    <dgm:cxn modelId="{DC9CB13C-F941-4E6B-8807-83A054B5FDD2}" type="presParOf" srcId="{327701BE-47D4-4BAE-A9A3-8FEC7DDA72D2}" destId="{3F36BE59-3FBA-498C-B99F-56E30B34705B}" srcOrd="14" destOrd="0" presId="urn:microsoft.com/office/officeart/2005/8/layout/bProcess4"/>
    <dgm:cxn modelId="{D9C10486-DC8C-4BD9-A03C-36D2010FE5EC}" type="presParOf" srcId="{3F36BE59-3FBA-498C-B99F-56E30B34705B}" destId="{B1CD6B95-024E-4E15-99B7-3A51F6F819D3}" srcOrd="0" destOrd="0" presId="urn:microsoft.com/office/officeart/2005/8/layout/bProcess4"/>
    <dgm:cxn modelId="{17B67133-A86C-45CB-9F2E-F8867A064BFC}" type="presParOf" srcId="{3F36BE59-3FBA-498C-B99F-56E30B34705B}" destId="{26D39B1D-5F8D-4252-BD83-64ECCCA1B47A}" srcOrd="1" destOrd="0" presId="urn:microsoft.com/office/officeart/2005/8/layout/bProcess4"/>
    <dgm:cxn modelId="{B5B9AD4D-686F-44A2-9208-93DCC9ACDE49}" type="presParOf" srcId="{327701BE-47D4-4BAE-A9A3-8FEC7DDA72D2}" destId="{58D78EA2-3212-4C90-B851-021F42E908E2}" srcOrd="15" destOrd="0" presId="urn:microsoft.com/office/officeart/2005/8/layout/bProcess4"/>
    <dgm:cxn modelId="{EAB4F31E-4518-4332-B9EB-650D1A41B61D}" type="presParOf" srcId="{327701BE-47D4-4BAE-A9A3-8FEC7DDA72D2}" destId="{7C0FF224-33BE-4E88-AEBA-6538CF137C86}" srcOrd="16" destOrd="0" presId="urn:microsoft.com/office/officeart/2005/8/layout/bProcess4"/>
    <dgm:cxn modelId="{67792D92-B91F-413A-87A2-631BCE66D744}" type="presParOf" srcId="{7C0FF224-33BE-4E88-AEBA-6538CF137C86}" destId="{021AC06B-A03B-4C72-B426-EC8780A2BC1F}" srcOrd="0" destOrd="0" presId="urn:microsoft.com/office/officeart/2005/8/layout/bProcess4"/>
    <dgm:cxn modelId="{317FFA07-4351-43E5-9685-04CF88CFAF73}" type="presParOf" srcId="{7C0FF224-33BE-4E88-AEBA-6538CF137C86}" destId="{561EA057-50AA-47A6-B6E0-D0ACB4219E84}" srcOrd="1" destOrd="0" presId="urn:microsoft.com/office/officeart/2005/8/layout/bProcess4"/>
    <dgm:cxn modelId="{F28A34A3-7C3B-4BB8-8F3A-03A121FC8654}" type="presParOf" srcId="{327701BE-47D4-4BAE-A9A3-8FEC7DDA72D2}" destId="{2DCF1598-C717-4432-92EC-E52E2C6ABA38}" srcOrd="17" destOrd="0" presId="urn:microsoft.com/office/officeart/2005/8/layout/bProcess4"/>
    <dgm:cxn modelId="{806FA7E0-1587-4382-9031-7848F20F317A}" type="presParOf" srcId="{327701BE-47D4-4BAE-A9A3-8FEC7DDA72D2}" destId="{F7E54E24-41EF-4DBC-92A4-65C0B889E5AB}" srcOrd="18" destOrd="0" presId="urn:microsoft.com/office/officeart/2005/8/layout/bProcess4"/>
    <dgm:cxn modelId="{59DA3B68-0BA2-41A9-8864-D48484BDBDEC}" type="presParOf" srcId="{F7E54E24-41EF-4DBC-92A4-65C0B889E5AB}" destId="{3CA45DBE-6EA2-4E1E-AD64-B963B8084F2D}" srcOrd="0" destOrd="0" presId="urn:microsoft.com/office/officeart/2005/8/layout/bProcess4"/>
    <dgm:cxn modelId="{3FF27A20-0262-4F17-BDB5-8820E418B3A6}" type="presParOf" srcId="{F7E54E24-41EF-4DBC-92A4-65C0B889E5AB}" destId="{2A2D00E9-8CFB-456C-80B1-88495E82777A}" srcOrd="1" destOrd="0" presId="urn:microsoft.com/office/officeart/2005/8/layout/b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9A610-E578-4369-9532-D930D8CA74EA}">
      <dsp:nvSpPr>
        <dsp:cNvPr id="0" name=""/>
        <dsp:cNvSpPr/>
      </dsp:nvSpPr>
      <dsp:spPr>
        <a:xfrm rot="5400000">
          <a:off x="123011" y="950089"/>
          <a:ext cx="1483568" cy="179075"/>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BB25F2-2093-4BFE-B717-FEC2C76A6EEB}">
      <dsp:nvSpPr>
        <dsp:cNvPr id="0" name=""/>
        <dsp:cNvSpPr/>
      </dsp:nvSpPr>
      <dsp:spPr>
        <a:xfrm>
          <a:off x="462486" y="604"/>
          <a:ext cx="1989727" cy="119383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1</a:t>
          </a:r>
        </a:p>
        <a:p>
          <a:pPr marL="0" lvl="0" indent="0" algn="ctr" defTabSz="666750">
            <a:lnSpc>
              <a:spcPct val="85000"/>
            </a:lnSpc>
            <a:spcBef>
              <a:spcPct val="0"/>
            </a:spcBef>
            <a:spcAft>
              <a:spcPts val="0"/>
            </a:spcAft>
            <a:buNone/>
          </a:pPr>
          <a:r>
            <a:rPr lang="es-ES" sz="1500" kern="1200" dirty="0"/>
            <a:t>Definir los objetivos y las métricas clave.</a:t>
          </a:r>
          <a:endParaRPr lang="es-PE" sz="1500" kern="1200" dirty="0"/>
        </a:p>
      </dsp:txBody>
      <dsp:txXfrm>
        <a:off x="497452" y="35570"/>
        <a:ext cx="1919795" cy="1123904"/>
      </dsp:txXfrm>
    </dsp:sp>
    <dsp:sp modelId="{6EABC9B9-2F22-471B-B277-7E3034371221}">
      <dsp:nvSpPr>
        <dsp:cNvPr id="0" name=""/>
        <dsp:cNvSpPr/>
      </dsp:nvSpPr>
      <dsp:spPr>
        <a:xfrm rot="5400000">
          <a:off x="123011" y="2442384"/>
          <a:ext cx="1483568" cy="179075"/>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C76C96C-32D4-4F2E-A35A-614AC75794A9}">
      <dsp:nvSpPr>
        <dsp:cNvPr id="0" name=""/>
        <dsp:cNvSpPr/>
      </dsp:nvSpPr>
      <dsp:spPr>
        <a:xfrm>
          <a:off x="462486" y="1492900"/>
          <a:ext cx="1989727" cy="119383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2</a:t>
          </a:r>
        </a:p>
        <a:p>
          <a:pPr marL="0" lvl="0" indent="0" algn="ctr" defTabSz="666750">
            <a:lnSpc>
              <a:spcPct val="85000"/>
            </a:lnSpc>
            <a:spcBef>
              <a:spcPct val="0"/>
            </a:spcBef>
            <a:spcAft>
              <a:spcPts val="0"/>
            </a:spcAft>
            <a:buNone/>
          </a:pPr>
          <a:r>
            <a:rPr lang="es-ES" sz="1500" kern="1200" dirty="0"/>
            <a:t>Determinar la audiencia y los requisitos de visualización.</a:t>
          </a:r>
        </a:p>
      </dsp:txBody>
      <dsp:txXfrm>
        <a:off x="497452" y="1527866"/>
        <a:ext cx="1919795" cy="1123904"/>
      </dsp:txXfrm>
    </dsp:sp>
    <dsp:sp modelId="{57645537-B88E-4481-A43C-6DBAA7386CED}">
      <dsp:nvSpPr>
        <dsp:cNvPr id="0" name=""/>
        <dsp:cNvSpPr/>
      </dsp:nvSpPr>
      <dsp:spPr>
        <a:xfrm>
          <a:off x="869159" y="3188532"/>
          <a:ext cx="2637609" cy="179075"/>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89F51A-781A-409F-97BE-B7B757D0B1A9}">
      <dsp:nvSpPr>
        <dsp:cNvPr id="0" name=""/>
        <dsp:cNvSpPr/>
      </dsp:nvSpPr>
      <dsp:spPr>
        <a:xfrm>
          <a:off x="462486" y="2985195"/>
          <a:ext cx="1989727" cy="119383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3</a:t>
          </a:r>
        </a:p>
        <a:p>
          <a:pPr marL="0" lvl="0" indent="0" algn="ctr" defTabSz="666750">
            <a:lnSpc>
              <a:spcPct val="85000"/>
            </a:lnSpc>
            <a:spcBef>
              <a:spcPct val="0"/>
            </a:spcBef>
            <a:spcAft>
              <a:spcPts val="0"/>
            </a:spcAft>
            <a:buNone/>
          </a:pPr>
          <a:r>
            <a:rPr lang="es-ES" sz="1500" kern="1200" dirty="0"/>
            <a:t>Seleccionar la herramienta de tablero de control.</a:t>
          </a:r>
        </a:p>
      </dsp:txBody>
      <dsp:txXfrm>
        <a:off x="497452" y="3020161"/>
        <a:ext cx="1919795" cy="1123904"/>
      </dsp:txXfrm>
    </dsp:sp>
    <dsp:sp modelId="{32C8C139-E8F2-4B95-9BE4-28FB72DC9DD5}">
      <dsp:nvSpPr>
        <dsp:cNvPr id="0" name=""/>
        <dsp:cNvSpPr/>
      </dsp:nvSpPr>
      <dsp:spPr>
        <a:xfrm rot="16200000">
          <a:off x="2769349" y="2442384"/>
          <a:ext cx="1483568" cy="179075"/>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9F98586-EDBE-4386-B615-C3FF126CD3DE}">
      <dsp:nvSpPr>
        <dsp:cNvPr id="0" name=""/>
        <dsp:cNvSpPr/>
      </dsp:nvSpPr>
      <dsp:spPr>
        <a:xfrm>
          <a:off x="3108823" y="2985195"/>
          <a:ext cx="1989727" cy="119383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4</a:t>
          </a:r>
        </a:p>
        <a:p>
          <a:pPr marL="0" lvl="0" indent="0" algn="ctr" defTabSz="666750">
            <a:lnSpc>
              <a:spcPct val="85000"/>
            </a:lnSpc>
            <a:spcBef>
              <a:spcPct val="0"/>
            </a:spcBef>
            <a:spcAft>
              <a:spcPts val="0"/>
            </a:spcAft>
            <a:buNone/>
          </a:pPr>
          <a:r>
            <a:rPr lang="es-ES" sz="1500" kern="1200" dirty="0"/>
            <a:t>Recopilar y preparar los datos.</a:t>
          </a:r>
        </a:p>
      </dsp:txBody>
      <dsp:txXfrm>
        <a:off x="3143789" y="3020161"/>
        <a:ext cx="1919795" cy="1123904"/>
      </dsp:txXfrm>
    </dsp:sp>
    <dsp:sp modelId="{5751EB9A-528F-40C1-B8AD-0B2927180862}">
      <dsp:nvSpPr>
        <dsp:cNvPr id="0" name=""/>
        <dsp:cNvSpPr/>
      </dsp:nvSpPr>
      <dsp:spPr>
        <a:xfrm rot="16200000">
          <a:off x="2769349" y="950089"/>
          <a:ext cx="1483568" cy="179075"/>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B7035B2-AA5A-4C85-A092-FB246BE51283}">
      <dsp:nvSpPr>
        <dsp:cNvPr id="0" name=""/>
        <dsp:cNvSpPr/>
      </dsp:nvSpPr>
      <dsp:spPr>
        <a:xfrm>
          <a:off x="3108823" y="1492900"/>
          <a:ext cx="1989727" cy="1193836"/>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5</a:t>
          </a:r>
        </a:p>
        <a:p>
          <a:pPr marL="0" lvl="0" indent="0" algn="ctr" defTabSz="666750">
            <a:lnSpc>
              <a:spcPct val="85000"/>
            </a:lnSpc>
            <a:spcBef>
              <a:spcPct val="0"/>
            </a:spcBef>
            <a:spcAft>
              <a:spcPts val="0"/>
            </a:spcAft>
            <a:buNone/>
          </a:pPr>
          <a:r>
            <a:rPr lang="es-ES" sz="1500" kern="1200" dirty="0"/>
            <a:t>Diseñar el esquema del tablero de control.</a:t>
          </a:r>
        </a:p>
      </dsp:txBody>
      <dsp:txXfrm>
        <a:off x="3143789" y="1527866"/>
        <a:ext cx="1919795" cy="1123904"/>
      </dsp:txXfrm>
    </dsp:sp>
    <dsp:sp modelId="{7DF4CA45-2825-468A-A9B0-5292B260447B}">
      <dsp:nvSpPr>
        <dsp:cNvPr id="0" name=""/>
        <dsp:cNvSpPr/>
      </dsp:nvSpPr>
      <dsp:spPr>
        <a:xfrm>
          <a:off x="3515496" y="203941"/>
          <a:ext cx="2637609" cy="179075"/>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E59C3C4-B5D3-40EB-97F6-B0B769944258}">
      <dsp:nvSpPr>
        <dsp:cNvPr id="0" name=""/>
        <dsp:cNvSpPr/>
      </dsp:nvSpPr>
      <dsp:spPr>
        <a:xfrm>
          <a:off x="3108823" y="604"/>
          <a:ext cx="1989727" cy="1193836"/>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6</a:t>
          </a:r>
        </a:p>
        <a:p>
          <a:pPr marL="0" lvl="0" indent="0" algn="ctr" defTabSz="666750">
            <a:lnSpc>
              <a:spcPct val="85000"/>
            </a:lnSpc>
            <a:spcBef>
              <a:spcPct val="0"/>
            </a:spcBef>
            <a:spcAft>
              <a:spcPts val="0"/>
            </a:spcAft>
            <a:buNone/>
          </a:pPr>
          <a:r>
            <a:rPr lang="es-ES" sz="1500" kern="1200" dirty="0"/>
            <a:t>Configurar los componentes interactivos.</a:t>
          </a:r>
        </a:p>
      </dsp:txBody>
      <dsp:txXfrm>
        <a:off x="3143789" y="35570"/>
        <a:ext cx="1919795" cy="1123904"/>
      </dsp:txXfrm>
    </dsp:sp>
    <dsp:sp modelId="{C851D469-F980-4DBD-A332-AB6350FEA09C}">
      <dsp:nvSpPr>
        <dsp:cNvPr id="0" name=""/>
        <dsp:cNvSpPr/>
      </dsp:nvSpPr>
      <dsp:spPr>
        <a:xfrm rot="5400000">
          <a:off x="5415686" y="950089"/>
          <a:ext cx="1483568" cy="179075"/>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2A1B6C-08FB-44F4-AC59-932AFD73DC24}">
      <dsp:nvSpPr>
        <dsp:cNvPr id="0" name=""/>
        <dsp:cNvSpPr/>
      </dsp:nvSpPr>
      <dsp:spPr>
        <a:xfrm>
          <a:off x="5755161" y="604"/>
          <a:ext cx="1989727" cy="1193836"/>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7</a:t>
          </a:r>
        </a:p>
        <a:p>
          <a:pPr marL="0" lvl="0" indent="0" algn="ctr" defTabSz="666750">
            <a:lnSpc>
              <a:spcPct val="85000"/>
            </a:lnSpc>
            <a:spcBef>
              <a:spcPct val="0"/>
            </a:spcBef>
            <a:spcAft>
              <a:spcPts val="0"/>
            </a:spcAft>
            <a:buNone/>
          </a:pPr>
          <a:r>
            <a:rPr lang="es-ES" sz="1500" kern="1200" dirty="0"/>
            <a:t>Probar y optimizar el tablero de control.</a:t>
          </a:r>
        </a:p>
      </dsp:txBody>
      <dsp:txXfrm>
        <a:off x="5790127" y="35570"/>
        <a:ext cx="1919795" cy="1123904"/>
      </dsp:txXfrm>
    </dsp:sp>
    <dsp:sp modelId="{58D78EA2-3212-4C90-B851-021F42E908E2}">
      <dsp:nvSpPr>
        <dsp:cNvPr id="0" name=""/>
        <dsp:cNvSpPr/>
      </dsp:nvSpPr>
      <dsp:spPr>
        <a:xfrm rot="5400000">
          <a:off x="5415686" y="2442384"/>
          <a:ext cx="1483568" cy="179075"/>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6D39B1D-5F8D-4252-BD83-64ECCCA1B47A}">
      <dsp:nvSpPr>
        <dsp:cNvPr id="0" name=""/>
        <dsp:cNvSpPr/>
      </dsp:nvSpPr>
      <dsp:spPr>
        <a:xfrm>
          <a:off x="5755161" y="1492900"/>
          <a:ext cx="1989727" cy="1193836"/>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8</a:t>
          </a:r>
        </a:p>
        <a:p>
          <a:pPr marL="0" lvl="0" indent="0" algn="ctr" defTabSz="666750">
            <a:lnSpc>
              <a:spcPct val="85000"/>
            </a:lnSpc>
            <a:spcBef>
              <a:spcPct val="0"/>
            </a:spcBef>
            <a:spcAft>
              <a:spcPts val="0"/>
            </a:spcAft>
            <a:buNone/>
          </a:pPr>
          <a:r>
            <a:rPr lang="es-ES" sz="1500" kern="1200" dirty="0"/>
            <a:t>Implementar y compartir el tablero de control.</a:t>
          </a:r>
        </a:p>
      </dsp:txBody>
      <dsp:txXfrm>
        <a:off x="5790127" y="1527866"/>
        <a:ext cx="1919795" cy="1123904"/>
      </dsp:txXfrm>
    </dsp:sp>
    <dsp:sp modelId="{561EA057-50AA-47A6-B6E0-D0ACB4219E84}">
      <dsp:nvSpPr>
        <dsp:cNvPr id="0" name=""/>
        <dsp:cNvSpPr/>
      </dsp:nvSpPr>
      <dsp:spPr>
        <a:xfrm>
          <a:off x="5755161" y="2985195"/>
          <a:ext cx="1989727" cy="1193836"/>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85000"/>
            </a:lnSpc>
            <a:spcBef>
              <a:spcPct val="0"/>
            </a:spcBef>
            <a:spcAft>
              <a:spcPts val="0"/>
            </a:spcAft>
            <a:buNone/>
          </a:pPr>
          <a:r>
            <a:rPr lang="es-ES" sz="1500" kern="1200" dirty="0"/>
            <a:t>Paso 9</a:t>
          </a:r>
        </a:p>
        <a:p>
          <a:pPr marL="0" lvl="0" indent="0" algn="ctr" defTabSz="666750">
            <a:lnSpc>
              <a:spcPct val="85000"/>
            </a:lnSpc>
            <a:spcBef>
              <a:spcPct val="0"/>
            </a:spcBef>
            <a:spcAft>
              <a:spcPts val="0"/>
            </a:spcAft>
            <a:buNone/>
          </a:pPr>
          <a:r>
            <a:rPr lang="es-ES" sz="1500" kern="1200" dirty="0"/>
            <a:t>Mantener y actualizar el tablero de control.</a:t>
          </a:r>
        </a:p>
      </dsp:txBody>
      <dsp:txXfrm>
        <a:off x="5790127" y="3020161"/>
        <a:ext cx="1919795" cy="11239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29A610-E578-4369-9532-D930D8CA74EA}">
      <dsp:nvSpPr>
        <dsp:cNvPr id="0" name=""/>
        <dsp:cNvSpPr/>
      </dsp:nvSpPr>
      <dsp:spPr>
        <a:xfrm rot="5400000">
          <a:off x="1443055" y="705842"/>
          <a:ext cx="1103048" cy="133091"/>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3BB25F2-2093-4BFE-B717-FEC2C76A6EEB}">
      <dsp:nvSpPr>
        <dsp:cNvPr id="0" name=""/>
        <dsp:cNvSpPr/>
      </dsp:nvSpPr>
      <dsp:spPr>
        <a:xfrm>
          <a:off x="1695797" y="392"/>
          <a:ext cx="1478793" cy="88727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1</a:t>
          </a:r>
        </a:p>
        <a:p>
          <a:pPr marL="0" lvl="0" indent="0" algn="ctr" defTabSz="533400">
            <a:lnSpc>
              <a:spcPct val="85000"/>
            </a:lnSpc>
            <a:spcBef>
              <a:spcPct val="0"/>
            </a:spcBef>
            <a:spcAft>
              <a:spcPts val="0"/>
            </a:spcAft>
            <a:buNone/>
          </a:pPr>
          <a:r>
            <a:rPr lang="es-ES" sz="1200" kern="1200" dirty="0"/>
            <a:t>Definir los objetivos estratégicos.</a:t>
          </a:r>
          <a:endParaRPr lang="es-PE" sz="1200" kern="1200" dirty="0"/>
        </a:p>
      </dsp:txBody>
      <dsp:txXfrm>
        <a:off x="1721784" y="26379"/>
        <a:ext cx="1426819" cy="835301"/>
      </dsp:txXfrm>
    </dsp:sp>
    <dsp:sp modelId="{6EABC9B9-2F22-471B-B277-7E3034371221}">
      <dsp:nvSpPr>
        <dsp:cNvPr id="0" name=""/>
        <dsp:cNvSpPr/>
      </dsp:nvSpPr>
      <dsp:spPr>
        <a:xfrm rot="5400000">
          <a:off x="1443055" y="1814937"/>
          <a:ext cx="1103048" cy="133091"/>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C76C96C-32D4-4F2E-A35A-614AC75794A9}">
      <dsp:nvSpPr>
        <dsp:cNvPr id="0" name=""/>
        <dsp:cNvSpPr/>
      </dsp:nvSpPr>
      <dsp:spPr>
        <a:xfrm>
          <a:off x="1695797" y="1109487"/>
          <a:ext cx="1478793" cy="88727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2</a:t>
          </a:r>
        </a:p>
        <a:p>
          <a:pPr marL="0" lvl="0" indent="0" algn="ctr" defTabSz="533400">
            <a:lnSpc>
              <a:spcPct val="85000"/>
            </a:lnSpc>
            <a:spcBef>
              <a:spcPct val="0"/>
            </a:spcBef>
            <a:spcAft>
              <a:spcPts val="0"/>
            </a:spcAft>
            <a:buNone/>
          </a:pPr>
          <a:r>
            <a:rPr lang="es-ES" sz="1200" kern="1200" dirty="0"/>
            <a:t>Determinar las perspectivas del BSC.</a:t>
          </a:r>
        </a:p>
      </dsp:txBody>
      <dsp:txXfrm>
        <a:off x="1721784" y="1135474"/>
        <a:ext cx="1426819" cy="835301"/>
      </dsp:txXfrm>
    </dsp:sp>
    <dsp:sp modelId="{57645537-B88E-4481-A43C-6DBAA7386CED}">
      <dsp:nvSpPr>
        <dsp:cNvPr id="0" name=""/>
        <dsp:cNvSpPr/>
      </dsp:nvSpPr>
      <dsp:spPr>
        <a:xfrm rot="5400000">
          <a:off x="1443055" y="2924032"/>
          <a:ext cx="1103048" cy="133091"/>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F89F51A-781A-409F-97BE-B7B757D0B1A9}">
      <dsp:nvSpPr>
        <dsp:cNvPr id="0" name=""/>
        <dsp:cNvSpPr/>
      </dsp:nvSpPr>
      <dsp:spPr>
        <a:xfrm>
          <a:off x="1695797" y="2218581"/>
          <a:ext cx="1478793" cy="8872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3</a:t>
          </a:r>
        </a:p>
        <a:p>
          <a:pPr marL="0" lvl="0" indent="0" algn="ctr" defTabSz="533400">
            <a:lnSpc>
              <a:spcPct val="85000"/>
            </a:lnSpc>
            <a:spcBef>
              <a:spcPct val="0"/>
            </a:spcBef>
            <a:spcAft>
              <a:spcPts val="0"/>
            </a:spcAft>
            <a:buNone/>
          </a:pPr>
          <a:r>
            <a:rPr lang="es-ES" sz="1200" kern="1200" dirty="0"/>
            <a:t>Definir los indicadores de rendimiento.</a:t>
          </a:r>
        </a:p>
      </dsp:txBody>
      <dsp:txXfrm>
        <a:off x="1721784" y="2244568"/>
        <a:ext cx="1426819" cy="835301"/>
      </dsp:txXfrm>
    </dsp:sp>
    <dsp:sp modelId="{32C8C139-E8F2-4B95-9BE4-28FB72DC9DD5}">
      <dsp:nvSpPr>
        <dsp:cNvPr id="0" name=""/>
        <dsp:cNvSpPr/>
      </dsp:nvSpPr>
      <dsp:spPr>
        <a:xfrm>
          <a:off x="1997602" y="3478579"/>
          <a:ext cx="1960748" cy="133091"/>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9F98586-EDBE-4386-B615-C3FF126CD3DE}">
      <dsp:nvSpPr>
        <dsp:cNvPr id="0" name=""/>
        <dsp:cNvSpPr/>
      </dsp:nvSpPr>
      <dsp:spPr>
        <a:xfrm>
          <a:off x="1695797" y="3327676"/>
          <a:ext cx="1478793" cy="88727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4</a:t>
          </a:r>
        </a:p>
        <a:p>
          <a:pPr marL="0" lvl="0" indent="0" algn="ctr" defTabSz="533400">
            <a:lnSpc>
              <a:spcPct val="85000"/>
            </a:lnSpc>
            <a:spcBef>
              <a:spcPct val="0"/>
            </a:spcBef>
            <a:spcAft>
              <a:spcPts val="0"/>
            </a:spcAft>
            <a:buNone/>
          </a:pPr>
          <a:r>
            <a:rPr lang="es-ES" sz="1200" kern="1200" dirty="0"/>
            <a:t>Establecer metas y objetivos.</a:t>
          </a:r>
        </a:p>
      </dsp:txBody>
      <dsp:txXfrm>
        <a:off x="1721784" y="3353663"/>
        <a:ext cx="1426819" cy="835301"/>
      </dsp:txXfrm>
    </dsp:sp>
    <dsp:sp modelId="{5751EB9A-528F-40C1-B8AD-0B2927180862}">
      <dsp:nvSpPr>
        <dsp:cNvPr id="0" name=""/>
        <dsp:cNvSpPr/>
      </dsp:nvSpPr>
      <dsp:spPr>
        <a:xfrm rot="16200000">
          <a:off x="3409850" y="2924032"/>
          <a:ext cx="1103048" cy="133091"/>
        </a:xfrm>
        <a:prstGeom prst="rect">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B7035B2-AA5A-4C85-A092-FB246BE51283}">
      <dsp:nvSpPr>
        <dsp:cNvPr id="0" name=""/>
        <dsp:cNvSpPr/>
      </dsp:nvSpPr>
      <dsp:spPr>
        <a:xfrm>
          <a:off x="3662592" y="3327676"/>
          <a:ext cx="1478793" cy="88727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5</a:t>
          </a:r>
        </a:p>
        <a:p>
          <a:pPr marL="0" lvl="0" indent="0" algn="ctr" defTabSz="533400">
            <a:lnSpc>
              <a:spcPct val="85000"/>
            </a:lnSpc>
            <a:spcBef>
              <a:spcPct val="0"/>
            </a:spcBef>
            <a:spcAft>
              <a:spcPts val="0"/>
            </a:spcAft>
            <a:buNone/>
          </a:pPr>
          <a:r>
            <a:rPr lang="es-ES" sz="1200" kern="1200" dirty="0"/>
            <a:t>Identificar iniciativas estratégicas.</a:t>
          </a:r>
        </a:p>
      </dsp:txBody>
      <dsp:txXfrm>
        <a:off x="3688579" y="3353663"/>
        <a:ext cx="1426819" cy="835301"/>
      </dsp:txXfrm>
    </dsp:sp>
    <dsp:sp modelId="{7DF4CA45-2825-468A-A9B0-5292B260447B}">
      <dsp:nvSpPr>
        <dsp:cNvPr id="0" name=""/>
        <dsp:cNvSpPr/>
      </dsp:nvSpPr>
      <dsp:spPr>
        <a:xfrm rot="16200000">
          <a:off x="3409850" y="1814937"/>
          <a:ext cx="1103048" cy="133091"/>
        </a:xfrm>
        <a:prstGeom prst="rect">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E59C3C4-B5D3-40EB-97F6-B0B769944258}">
      <dsp:nvSpPr>
        <dsp:cNvPr id="0" name=""/>
        <dsp:cNvSpPr/>
      </dsp:nvSpPr>
      <dsp:spPr>
        <a:xfrm>
          <a:off x="3662592" y="2218581"/>
          <a:ext cx="1478793" cy="887275"/>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6</a:t>
          </a:r>
        </a:p>
        <a:p>
          <a:pPr marL="0" lvl="0" indent="0" algn="ctr" defTabSz="533400">
            <a:lnSpc>
              <a:spcPct val="85000"/>
            </a:lnSpc>
            <a:spcBef>
              <a:spcPct val="0"/>
            </a:spcBef>
            <a:spcAft>
              <a:spcPts val="0"/>
            </a:spcAft>
            <a:buNone/>
          </a:pPr>
          <a:r>
            <a:rPr lang="es-ES" sz="1200" kern="1200" dirty="0"/>
            <a:t>Diseñar el tablero de control.</a:t>
          </a:r>
        </a:p>
      </dsp:txBody>
      <dsp:txXfrm>
        <a:off x="3688579" y="2244568"/>
        <a:ext cx="1426819" cy="835301"/>
      </dsp:txXfrm>
    </dsp:sp>
    <dsp:sp modelId="{C851D469-F980-4DBD-A332-AB6350FEA09C}">
      <dsp:nvSpPr>
        <dsp:cNvPr id="0" name=""/>
        <dsp:cNvSpPr/>
      </dsp:nvSpPr>
      <dsp:spPr>
        <a:xfrm rot="16200000">
          <a:off x="3409850" y="705842"/>
          <a:ext cx="1103048" cy="133091"/>
        </a:xfrm>
        <a:prstGeom prst="rect">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12A1B6C-08FB-44F4-AC59-932AFD73DC24}">
      <dsp:nvSpPr>
        <dsp:cNvPr id="0" name=""/>
        <dsp:cNvSpPr/>
      </dsp:nvSpPr>
      <dsp:spPr>
        <a:xfrm>
          <a:off x="3662592" y="1109487"/>
          <a:ext cx="1478793" cy="887275"/>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7</a:t>
          </a:r>
        </a:p>
        <a:p>
          <a:pPr marL="0" lvl="0" indent="0" algn="ctr" defTabSz="533400">
            <a:lnSpc>
              <a:spcPct val="85000"/>
            </a:lnSpc>
            <a:spcBef>
              <a:spcPct val="0"/>
            </a:spcBef>
            <a:spcAft>
              <a:spcPts val="0"/>
            </a:spcAft>
            <a:buNone/>
          </a:pPr>
          <a:r>
            <a:rPr lang="es-ES" sz="1200" kern="1200" dirty="0"/>
            <a:t>Implementar el seguimiento y la recolección de datos.</a:t>
          </a:r>
        </a:p>
      </dsp:txBody>
      <dsp:txXfrm>
        <a:off x="3688579" y="1135474"/>
        <a:ext cx="1426819" cy="835301"/>
      </dsp:txXfrm>
    </dsp:sp>
    <dsp:sp modelId="{58D78EA2-3212-4C90-B851-021F42E908E2}">
      <dsp:nvSpPr>
        <dsp:cNvPr id="0" name=""/>
        <dsp:cNvSpPr/>
      </dsp:nvSpPr>
      <dsp:spPr>
        <a:xfrm>
          <a:off x="3964397" y="151294"/>
          <a:ext cx="1960748" cy="133091"/>
        </a:xfrm>
        <a:prstGeom prst="rect">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6D39B1D-5F8D-4252-BD83-64ECCCA1B47A}">
      <dsp:nvSpPr>
        <dsp:cNvPr id="0" name=""/>
        <dsp:cNvSpPr/>
      </dsp:nvSpPr>
      <dsp:spPr>
        <a:xfrm>
          <a:off x="3662592" y="392"/>
          <a:ext cx="1478793" cy="887275"/>
        </a:xfrm>
        <a:prstGeom prst="roundRect">
          <a:avLst>
            <a:gd name="adj" fmla="val 10000"/>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8</a:t>
          </a:r>
        </a:p>
        <a:p>
          <a:pPr marL="0" lvl="0" indent="0" algn="ctr" defTabSz="533400">
            <a:lnSpc>
              <a:spcPct val="85000"/>
            </a:lnSpc>
            <a:spcBef>
              <a:spcPct val="0"/>
            </a:spcBef>
            <a:spcAft>
              <a:spcPts val="0"/>
            </a:spcAft>
            <a:buNone/>
          </a:pPr>
          <a:r>
            <a:rPr lang="es-ES" sz="1200" kern="1200" dirty="0"/>
            <a:t>Realizar evaluaciones periódicas.</a:t>
          </a:r>
        </a:p>
      </dsp:txBody>
      <dsp:txXfrm>
        <a:off x="3688579" y="26379"/>
        <a:ext cx="1426819" cy="835301"/>
      </dsp:txXfrm>
    </dsp:sp>
    <dsp:sp modelId="{2DCF1598-C717-4432-92EC-E52E2C6ABA38}">
      <dsp:nvSpPr>
        <dsp:cNvPr id="0" name=""/>
        <dsp:cNvSpPr/>
      </dsp:nvSpPr>
      <dsp:spPr>
        <a:xfrm rot="5400000">
          <a:off x="5376645" y="705842"/>
          <a:ext cx="1103048" cy="133091"/>
        </a:xfrm>
        <a:prstGeom prst="rect">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61EA057-50AA-47A6-B6E0-D0ACB4219E84}">
      <dsp:nvSpPr>
        <dsp:cNvPr id="0" name=""/>
        <dsp:cNvSpPr/>
      </dsp:nvSpPr>
      <dsp:spPr>
        <a:xfrm>
          <a:off x="5629387" y="392"/>
          <a:ext cx="1478793" cy="887275"/>
        </a:xfrm>
        <a:prstGeom prst="roundRect">
          <a:avLst>
            <a:gd name="adj" fmla="val 10000"/>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9</a:t>
          </a:r>
        </a:p>
        <a:p>
          <a:pPr marL="0" lvl="0" indent="0" algn="ctr" defTabSz="533400">
            <a:lnSpc>
              <a:spcPct val="85000"/>
            </a:lnSpc>
            <a:spcBef>
              <a:spcPct val="0"/>
            </a:spcBef>
            <a:spcAft>
              <a:spcPts val="0"/>
            </a:spcAft>
            <a:buNone/>
          </a:pPr>
          <a:r>
            <a:rPr lang="es-ES" sz="1200" kern="1200" dirty="0"/>
            <a:t>Comunicar y alinear.</a:t>
          </a:r>
        </a:p>
      </dsp:txBody>
      <dsp:txXfrm>
        <a:off x="5655374" y="26379"/>
        <a:ext cx="1426819" cy="835301"/>
      </dsp:txXfrm>
    </dsp:sp>
    <dsp:sp modelId="{2A2D00E9-8CFB-456C-80B1-88495E82777A}">
      <dsp:nvSpPr>
        <dsp:cNvPr id="0" name=""/>
        <dsp:cNvSpPr/>
      </dsp:nvSpPr>
      <dsp:spPr>
        <a:xfrm>
          <a:off x="5629387" y="1109487"/>
          <a:ext cx="1478793" cy="887275"/>
        </a:xfrm>
        <a:prstGeom prst="roundRect">
          <a:avLst>
            <a:gd name="adj" fmla="val 10000"/>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85000"/>
            </a:lnSpc>
            <a:spcBef>
              <a:spcPct val="0"/>
            </a:spcBef>
            <a:spcAft>
              <a:spcPts val="0"/>
            </a:spcAft>
            <a:buNone/>
          </a:pPr>
          <a:r>
            <a:rPr lang="es-ES" sz="1200" kern="1200" dirty="0"/>
            <a:t>Paso 10</a:t>
          </a:r>
          <a:br>
            <a:rPr lang="es-ES" sz="1200" kern="1200" dirty="0"/>
          </a:br>
          <a:r>
            <a:rPr lang="es-ES" sz="1200" kern="1200" dirty="0"/>
            <a:t>Revisar y mejorar continuamente.</a:t>
          </a:r>
        </a:p>
      </dsp:txBody>
      <dsp:txXfrm>
        <a:off x="5655374" y="1135474"/>
        <a:ext cx="1426819" cy="835301"/>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sz="quarter" idx="1"/>
          </p:nvPr>
        </p:nvSpPr>
        <p:spPr>
          <a:xfrm>
            <a:off x="3850443" y="0"/>
            <a:ext cx="2945659" cy="496332"/>
          </a:xfrm>
          <a:prstGeom prst="rect">
            <a:avLst/>
          </a:prstGeom>
        </p:spPr>
        <p:txBody>
          <a:bodyPr vert="horz" lIns="91440" tIns="45720" rIns="91440" bIns="45720" rtlCol="0"/>
          <a:lstStyle>
            <a:lvl1pPr algn="r">
              <a:defRPr sz="1200"/>
            </a:lvl1pPr>
          </a:lstStyle>
          <a:p>
            <a:fld id="{11932DC7-834F-6148-86AF-F72164F7FFC1}" type="datetimeFigureOut">
              <a:rPr lang="es-ES" smtClean="0"/>
              <a:t>17/07/2023</a:t>
            </a:fld>
            <a:endParaRPr lang="es-ES"/>
          </a:p>
        </p:txBody>
      </p:sp>
      <p:sp>
        <p:nvSpPr>
          <p:cNvPr id="4" name="Marcador de pie de página 3"/>
          <p:cNvSpPr>
            <a:spLocks noGrp="1"/>
          </p:cNvSpPr>
          <p:nvPr>
            <p:ph type="ftr" sz="quarter" idx="2"/>
          </p:nvPr>
        </p:nvSpPr>
        <p:spPr>
          <a:xfrm>
            <a:off x="0" y="9428583"/>
            <a:ext cx="2945659" cy="496332"/>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p:cNvSpPr>
            <a:spLocks noGrp="1"/>
          </p:cNvSpPr>
          <p:nvPr>
            <p:ph type="sldNum" sz="quarter" idx="3"/>
          </p:nvPr>
        </p:nvSpPr>
        <p:spPr>
          <a:xfrm>
            <a:off x="3850443" y="9428583"/>
            <a:ext cx="2945659" cy="496332"/>
          </a:xfrm>
          <a:prstGeom prst="rect">
            <a:avLst/>
          </a:prstGeom>
        </p:spPr>
        <p:txBody>
          <a:bodyPr vert="horz" lIns="91440" tIns="45720" rIns="91440" bIns="45720" rtlCol="0" anchor="b"/>
          <a:lstStyle>
            <a:lvl1pPr algn="r">
              <a:defRPr sz="1200"/>
            </a:lvl1pPr>
          </a:lstStyle>
          <a:p>
            <a:fld id="{6CEA6FD5-E31A-6D44-BE80-5A94AC694FC0}" type="slidenum">
              <a:rPr lang="es-ES" smtClean="0"/>
              <a:t>‹Nº›</a:t>
            </a:fld>
            <a:endParaRPr lang="es-ES"/>
          </a:p>
        </p:txBody>
      </p:sp>
    </p:spTree>
    <p:extLst>
      <p:ext uri="{BB962C8B-B14F-4D97-AF65-F5344CB8AC3E}">
        <p14:creationId xmlns:p14="http://schemas.microsoft.com/office/powerpoint/2010/main" val="3426518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1"/>
            <a:ext cx="2945659" cy="498056"/>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50443" y="1"/>
            <a:ext cx="2945659" cy="498056"/>
          </a:xfrm>
          <a:prstGeom prst="rect">
            <a:avLst/>
          </a:prstGeom>
        </p:spPr>
        <p:txBody>
          <a:bodyPr vert="horz" lIns="91440" tIns="45720" rIns="91440" bIns="45720" rtlCol="0"/>
          <a:lstStyle>
            <a:lvl1pPr algn="r">
              <a:defRPr sz="1200"/>
            </a:lvl1pPr>
          </a:lstStyle>
          <a:p>
            <a:fld id="{FFDF1720-AE80-4069-8D89-2C76E8AFD874}" type="datetimeFigureOut">
              <a:rPr lang="es-PE" smtClean="0"/>
              <a:t>17/07/2023</a:t>
            </a:fld>
            <a:endParaRPr lang="es-PE"/>
          </a:p>
        </p:txBody>
      </p:sp>
      <p:sp>
        <p:nvSpPr>
          <p:cNvPr id="4" name="Marcador de imagen de diapositiva 3"/>
          <p:cNvSpPr>
            <a:spLocks noGrp="1" noRot="1" noChangeAspect="1"/>
          </p:cNvSpPr>
          <p:nvPr>
            <p:ph type="sldImg" idx="2"/>
          </p:nvPr>
        </p:nvSpPr>
        <p:spPr>
          <a:xfrm>
            <a:off x="719138" y="1241425"/>
            <a:ext cx="5359400" cy="3349625"/>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79768" y="4777194"/>
            <a:ext cx="5438140" cy="3908615"/>
          </a:xfrm>
          <a:prstGeom prst="rect">
            <a:avLst/>
          </a:prstGeom>
        </p:spPr>
        <p:txBody>
          <a:bodyPr vert="horz" lIns="91440" tIns="45720" rIns="91440" bIns="45720" rtlCol="0"/>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PE" dirty="0"/>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F56700CA-E45F-416D-B659-25554F846B43}" type="slidenum">
              <a:rPr lang="es-PE" smtClean="0"/>
              <a:t>‹Nº›</a:t>
            </a:fld>
            <a:endParaRPr lang="es-PE"/>
          </a:p>
        </p:txBody>
      </p:sp>
    </p:spTree>
    <p:extLst>
      <p:ext uri="{BB962C8B-B14F-4D97-AF65-F5344CB8AC3E}">
        <p14:creationId xmlns:p14="http://schemas.microsoft.com/office/powerpoint/2010/main" val="1248527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6" userDrawn="1">
          <p15:clr>
            <a:srgbClr val="F26B43"/>
          </p15:clr>
        </p15:guide>
        <p15:guide id="2" pos="2141"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indent="0">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a:t>
            </a:fld>
            <a:endParaRPr lang="es-PE"/>
          </a:p>
        </p:txBody>
      </p:sp>
    </p:spTree>
    <p:extLst>
      <p:ext uri="{BB962C8B-B14F-4D97-AF65-F5344CB8AC3E}">
        <p14:creationId xmlns:p14="http://schemas.microsoft.com/office/powerpoint/2010/main" val="2879386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1435735" marR="574040" indent="0" algn="l">
              <a:lnSpc>
                <a:spcPct val="155000"/>
              </a:lnSpc>
              <a:spcBef>
                <a:spcPts val="800"/>
              </a:spcBef>
              <a:spcAft>
                <a:spcPts val="0"/>
              </a:spcAft>
              <a:buFont typeface="Arial" panose="020B0604020202020204" pitchFamily="34" charset="0"/>
              <a:buNone/>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a:t>
            </a:fld>
            <a:endParaRPr lang="es-PE"/>
          </a:p>
        </p:txBody>
      </p:sp>
    </p:spTree>
    <p:extLst>
      <p:ext uri="{BB962C8B-B14F-4D97-AF65-F5344CB8AC3E}">
        <p14:creationId xmlns:p14="http://schemas.microsoft.com/office/powerpoint/2010/main" val="614306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a:t>
            </a:fld>
            <a:endParaRPr lang="es-PE"/>
          </a:p>
        </p:txBody>
      </p:sp>
    </p:spTree>
    <p:extLst>
      <p:ext uri="{BB962C8B-B14F-4D97-AF65-F5344CB8AC3E}">
        <p14:creationId xmlns:p14="http://schemas.microsoft.com/office/powerpoint/2010/main" val="33935549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a:t>
            </a:fld>
            <a:endParaRPr lang="es-PE"/>
          </a:p>
        </p:txBody>
      </p:sp>
    </p:spTree>
    <p:extLst>
      <p:ext uri="{BB962C8B-B14F-4D97-AF65-F5344CB8AC3E}">
        <p14:creationId xmlns:p14="http://schemas.microsoft.com/office/powerpoint/2010/main" val="1757249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6</a:t>
            </a:fld>
            <a:endParaRPr lang="es-PE"/>
          </a:p>
        </p:txBody>
      </p:sp>
    </p:spTree>
    <p:extLst>
      <p:ext uri="{BB962C8B-B14F-4D97-AF65-F5344CB8AC3E}">
        <p14:creationId xmlns:p14="http://schemas.microsoft.com/office/powerpoint/2010/main" val="2853211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7</a:t>
            </a:fld>
            <a:endParaRPr lang="es-PE"/>
          </a:p>
        </p:txBody>
      </p:sp>
    </p:spTree>
    <p:extLst>
      <p:ext uri="{BB962C8B-B14F-4D97-AF65-F5344CB8AC3E}">
        <p14:creationId xmlns:p14="http://schemas.microsoft.com/office/powerpoint/2010/main" val="2082829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8</a:t>
            </a:fld>
            <a:endParaRPr lang="es-PE"/>
          </a:p>
        </p:txBody>
      </p:sp>
    </p:spTree>
    <p:extLst>
      <p:ext uri="{BB962C8B-B14F-4D97-AF65-F5344CB8AC3E}">
        <p14:creationId xmlns:p14="http://schemas.microsoft.com/office/powerpoint/2010/main" val="8324783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9</a:t>
            </a:fld>
            <a:endParaRPr lang="es-PE"/>
          </a:p>
        </p:txBody>
      </p:sp>
    </p:spTree>
    <p:extLst>
      <p:ext uri="{BB962C8B-B14F-4D97-AF65-F5344CB8AC3E}">
        <p14:creationId xmlns:p14="http://schemas.microsoft.com/office/powerpoint/2010/main" val="21240166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10</a:t>
            </a:fld>
            <a:endParaRPr lang="es-PE"/>
          </a:p>
        </p:txBody>
      </p:sp>
    </p:spTree>
    <p:extLst>
      <p:ext uri="{BB962C8B-B14F-4D97-AF65-F5344CB8AC3E}">
        <p14:creationId xmlns:p14="http://schemas.microsoft.com/office/powerpoint/2010/main" val="3551193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11</a:t>
            </a:fld>
            <a:endParaRPr lang="es-PE"/>
          </a:p>
        </p:txBody>
      </p:sp>
    </p:spTree>
    <p:extLst>
      <p:ext uri="{BB962C8B-B14F-4D97-AF65-F5344CB8AC3E}">
        <p14:creationId xmlns:p14="http://schemas.microsoft.com/office/powerpoint/2010/main" val="22934721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12</a:t>
            </a:fld>
            <a:endParaRPr lang="es-PE"/>
          </a:p>
        </p:txBody>
      </p:sp>
    </p:spTree>
    <p:extLst>
      <p:ext uri="{BB962C8B-B14F-4D97-AF65-F5344CB8AC3E}">
        <p14:creationId xmlns:p14="http://schemas.microsoft.com/office/powerpoint/2010/main" val="29915066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13</a:t>
            </a:fld>
            <a:endParaRPr lang="es-PE"/>
          </a:p>
        </p:txBody>
      </p:sp>
    </p:spTree>
    <p:extLst>
      <p:ext uri="{BB962C8B-B14F-4D97-AF65-F5344CB8AC3E}">
        <p14:creationId xmlns:p14="http://schemas.microsoft.com/office/powerpoint/2010/main" val="13186659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14</a:t>
            </a:fld>
            <a:endParaRPr lang="es-PE"/>
          </a:p>
        </p:txBody>
      </p:sp>
    </p:spTree>
    <p:extLst>
      <p:ext uri="{BB962C8B-B14F-4D97-AF65-F5344CB8AC3E}">
        <p14:creationId xmlns:p14="http://schemas.microsoft.com/office/powerpoint/2010/main" val="10365535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15</a:t>
            </a:fld>
            <a:endParaRPr lang="es-PE"/>
          </a:p>
        </p:txBody>
      </p:sp>
    </p:spTree>
    <p:extLst>
      <p:ext uri="{BB962C8B-B14F-4D97-AF65-F5344CB8AC3E}">
        <p14:creationId xmlns:p14="http://schemas.microsoft.com/office/powerpoint/2010/main" val="1019593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16</a:t>
            </a:fld>
            <a:endParaRPr lang="es-PE"/>
          </a:p>
        </p:txBody>
      </p:sp>
    </p:spTree>
    <p:extLst>
      <p:ext uri="{BB962C8B-B14F-4D97-AF65-F5344CB8AC3E}">
        <p14:creationId xmlns:p14="http://schemas.microsoft.com/office/powerpoint/2010/main" val="6833950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17</a:t>
            </a:fld>
            <a:endParaRPr lang="es-PE"/>
          </a:p>
        </p:txBody>
      </p:sp>
    </p:spTree>
    <p:extLst>
      <p:ext uri="{BB962C8B-B14F-4D97-AF65-F5344CB8AC3E}">
        <p14:creationId xmlns:p14="http://schemas.microsoft.com/office/powerpoint/2010/main" val="12285760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18</a:t>
            </a:fld>
            <a:endParaRPr lang="es-PE"/>
          </a:p>
        </p:txBody>
      </p:sp>
    </p:spTree>
    <p:extLst>
      <p:ext uri="{BB962C8B-B14F-4D97-AF65-F5344CB8AC3E}">
        <p14:creationId xmlns:p14="http://schemas.microsoft.com/office/powerpoint/2010/main" val="25481216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19</a:t>
            </a:fld>
            <a:endParaRPr lang="es-PE"/>
          </a:p>
        </p:txBody>
      </p:sp>
    </p:spTree>
    <p:extLst>
      <p:ext uri="{BB962C8B-B14F-4D97-AF65-F5344CB8AC3E}">
        <p14:creationId xmlns:p14="http://schemas.microsoft.com/office/powerpoint/2010/main" val="6788827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20</a:t>
            </a:fld>
            <a:endParaRPr lang="es-PE"/>
          </a:p>
        </p:txBody>
      </p:sp>
    </p:spTree>
    <p:extLst>
      <p:ext uri="{BB962C8B-B14F-4D97-AF65-F5344CB8AC3E}">
        <p14:creationId xmlns:p14="http://schemas.microsoft.com/office/powerpoint/2010/main" val="16876198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21</a:t>
            </a:fld>
            <a:endParaRPr lang="es-PE"/>
          </a:p>
        </p:txBody>
      </p:sp>
    </p:spTree>
    <p:extLst>
      <p:ext uri="{BB962C8B-B14F-4D97-AF65-F5344CB8AC3E}">
        <p14:creationId xmlns:p14="http://schemas.microsoft.com/office/powerpoint/2010/main" val="1170989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22</a:t>
            </a:fld>
            <a:endParaRPr lang="es-PE"/>
          </a:p>
        </p:txBody>
      </p:sp>
    </p:spTree>
    <p:extLst>
      <p:ext uri="{BB962C8B-B14F-4D97-AF65-F5344CB8AC3E}">
        <p14:creationId xmlns:p14="http://schemas.microsoft.com/office/powerpoint/2010/main" val="17870957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23</a:t>
            </a:fld>
            <a:endParaRPr lang="es-PE"/>
          </a:p>
        </p:txBody>
      </p:sp>
    </p:spTree>
    <p:extLst>
      <p:ext uri="{BB962C8B-B14F-4D97-AF65-F5344CB8AC3E}">
        <p14:creationId xmlns:p14="http://schemas.microsoft.com/office/powerpoint/2010/main" val="18185476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24</a:t>
            </a:fld>
            <a:endParaRPr lang="es-PE"/>
          </a:p>
        </p:txBody>
      </p:sp>
    </p:spTree>
    <p:extLst>
      <p:ext uri="{BB962C8B-B14F-4D97-AF65-F5344CB8AC3E}">
        <p14:creationId xmlns:p14="http://schemas.microsoft.com/office/powerpoint/2010/main" val="1103423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25</a:t>
            </a:fld>
            <a:endParaRPr lang="es-PE"/>
          </a:p>
        </p:txBody>
      </p:sp>
    </p:spTree>
    <p:extLst>
      <p:ext uri="{BB962C8B-B14F-4D97-AF65-F5344CB8AC3E}">
        <p14:creationId xmlns:p14="http://schemas.microsoft.com/office/powerpoint/2010/main" val="12872643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26</a:t>
            </a:fld>
            <a:endParaRPr lang="es-PE"/>
          </a:p>
        </p:txBody>
      </p:sp>
    </p:spTree>
    <p:extLst>
      <p:ext uri="{BB962C8B-B14F-4D97-AF65-F5344CB8AC3E}">
        <p14:creationId xmlns:p14="http://schemas.microsoft.com/office/powerpoint/2010/main" val="2128004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27</a:t>
            </a:fld>
            <a:endParaRPr lang="es-PE"/>
          </a:p>
        </p:txBody>
      </p:sp>
    </p:spTree>
    <p:extLst>
      <p:ext uri="{BB962C8B-B14F-4D97-AF65-F5344CB8AC3E}">
        <p14:creationId xmlns:p14="http://schemas.microsoft.com/office/powerpoint/2010/main" val="7249686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28</a:t>
            </a:fld>
            <a:endParaRPr lang="es-PE"/>
          </a:p>
        </p:txBody>
      </p:sp>
    </p:spTree>
    <p:extLst>
      <p:ext uri="{BB962C8B-B14F-4D97-AF65-F5344CB8AC3E}">
        <p14:creationId xmlns:p14="http://schemas.microsoft.com/office/powerpoint/2010/main" val="2899080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29</a:t>
            </a:fld>
            <a:endParaRPr lang="es-PE"/>
          </a:p>
        </p:txBody>
      </p:sp>
    </p:spTree>
    <p:extLst>
      <p:ext uri="{BB962C8B-B14F-4D97-AF65-F5344CB8AC3E}">
        <p14:creationId xmlns:p14="http://schemas.microsoft.com/office/powerpoint/2010/main" val="21273775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30</a:t>
            </a:fld>
            <a:endParaRPr lang="es-PE"/>
          </a:p>
        </p:txBody>
      </p:sp>
    </p:spTree>
    <p:extLst>
      <p:ext uri="{BB962C8B-B14F-4D97-AF65-F5344CB8AC3E}">
        <p14:creationId xmlns:p14="http://schemas.microsoft.com/office/powerpoint/2010/main" val="16644961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 implementación de inteligencia de negocios es un proceso continuo y evolutivo. A medida que las necesidades empresariales cambian y evolucionan, es necesario adaptar y mejorar las soluciones de inteligencia de negocios para satisfacer las demandas cambiantes de información y análisis.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31</a:t>
            </a:fld>
            <a:endParaRPr lang="es-PE"/>
          </a:p>
        </p:txBody>
      </p:sp>
    </p:spTree>
    <p:extLst>
      <p:ext uri="{BB962C8B-B14F-4D97-AF65-F5344CB8AC3E}">
        <p14:creationId xmlns:p14="http://schemas.microsoft.com/office/powerpoint/2010/main" val="18634507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32</a:t>
            </a:fld>
            <a:endParaRPr lang="es-PE"/>
          </a:p>
        </p:txBody>
      </p:sp>
    </p:spTree>
    <p:extLst>
      <p:ext uri="{BB962C8B-B14F-4D97-AF65-F5344CB8AC3E}">
        <p14:creationId xmlns:p14="http://schemas.microsoft.com/office/powerpoint/2010/main" val="11967871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33</a:t>
            </a:fld>
            <a:endParaRPr lang="es-PE"/>
          </a:p>
        </p:txBody>
      </p:sp>
    </p:spTree>
    <p:extLst>
      <p:ext uri="{BB962C8B-B14F-4D97-AF65-F5344CB8AC3E}">
        <p14:creationId xmlns:p14="http://schemas.microsoft.com/office/powerpoint/2010/main" val="15150204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34</a:t>
            </a:fld>
            <a:endParaRPr lang="es-PE"/>
          </a:p>
        </p:txBody>
      </p:sp>
    </p:spTree>
    <p:extLst>
      <p:ext uri="{BB962C8B-B14F-4D97-AF65-F5344CB8AC3E}">
        <p14:creationId xmlns:p14="http://schemas.microsoft.com/office/powerpoint/2010/main" val="5517865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35</a:t>
            </a:fld>
            <a:endParaRPr lang="es-PE"/>
          </a:p>
        </p:txBody>
      </p:sp>
    </p:spTree>
    <p:extLst>
      <p:ext uri="{BB962C8B-B14F-4D97-AF65-F5344CB8AC3E}">
        <p14:creationId xmlns:p14="http://schemas.microsoft.com/office/powerpoint/2010/main" val="12964811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36</a:t>
            </a:fld>
            <a:endParaRPr lang="es-PE"/>
          </a:p>
        </p:txBody>
      </p:sp>
    </p:spTree>
    <p:extLst>
      <p:ext uri="{BB962C8B-B14F-4D97-AF65-F5344CB8AC3E}">
        <p14:creationId xmlns:p14="http://schemas.microsoft.com/office/powerpoint/2010/main" val="2684403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37</a:t>
            </a:fld>
            <a:endParaRPr lang="es-PE"/>
          </a:p>
        </p:txBody>
      </p:sp>
    </p:spTree>
    <p:extLst>
      <p:ext uri="{BB962C8B-B14F-4D97-AF65-F5344CB8AC3E}">
        <p14:creationId xmlns:p14="http://schemas.microsoft.com/office/powerpoint/2010/main" val="39657854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38</a:t>
            </a:fld>
            <a:endParaRPr lang="es-PE"/>
          </a:p>
        </p:txBody>
      </p:sp>
    </p:spTree>
    <p:extLst>
      <p:ext uri="{BB962C8B-B14F-4D97-AF65-F5344CB8AC3E}">
        <p14:creationId xmlns:p14="http://schemas.microsoft.com/office/powerpoint/2010/main" val="9463726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39</a:t>
            </a:fld>
            <a:endParaRPr lang="es-PE"/>
          </a:p>
        </p:txBody>
      </p:sp>
    </p:spTree>
    <p:extLst>
      <p:ext uri="{BB962C8B-B14F-4D97-AF65-F5344CB8AC3E}">
        <p14:creationId xmlns:p14="http://schemas.microsoft.com/office/powerpoint/2010/main" val="12375757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40</a:t>
            </a:fld>
            <a:endParaRPr lang="es-PE"/>
          </a:p>
        </p:txBody>
      </p:sp>
    </p:spTree>
    <p:extLst>
      <p:ext uri="{BB962C8B-B14F-4D97-AF65-F5344CB8AC3E}">
        <p14:creationId xmlns:p14="http://schemas.microsoft.com/office/powerpoint/2010/main" val="155962318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41</a:t>
            </a:fld>
            <a:endParaRPr lang="es-PE"/>
          </a:p>
        </p:txBody>
      </p:sp>
    </p:spTree>
    <p:extLst>
      <p:ext uri="{BB962C8B-B14F-4D97-AF65-F5344CB8AC3E}">
        <p14:creationId xmlns:p14="http://schemas.microsoft.com/office/powerpoint/2010/main" val="15016846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42</a:t>
            </a:fld>
            <a:endParaRPr lang="es-PE"/>
          </a:p>
        </p:txBody>
      </p:sp>
    </p:spTree>
    <p:extLst>
      <p:ext uri="{BB962C8B-B14F-4D97-AF65-F5344CB8AC3E}">
        <p14:creationId xmlns:p14="http://schemas.microsoft.com/office/powerpoint/2010/main" val="604227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43</a:t>
            </a:fld>
            <a:endParaRPr lang="es-PE"/>
          </a:p>
        </p:txBody>
      </p:sp>
    </p:spTree>
    <p:extLst>
      <p:ext uri="{BB962C8B-B14F-4D97-AF65-F5344CB8AC3E}">
        <p14:creationId xmlns:p14="http://schemas.microsoft.com/office/powerpoint/2010/main" val="367177008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endParaRPr lang="es-PE" dirty="0">
              <a:latin typeface="Arial" panose="020B0604020202020204" pitchFamily="34" charset="0"/>
              <a:cs typeface="Arial" panose="020B0604020202020204" pitchFamily="34" charset="0"/>
            </a:endParaRPr>
          </a:p>
          <a:p>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44</a:t>
            </a:fld>
            <a:endParaRPr lang="es-PE"/>
          </a:p>
        </p:txBody>
      </p:sp>
    </p:spTree>
    <p:extLst>
      <p:ext uri="{BB962C8B-B14F-4D97-AF65-F5344CB8AC3E}">
        <p14:creationId xmlns:p14="http://schemas.microsoft.com/office/powerpoint/2010/main" val="18489480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Un tablero de control proporciona una vista en tiempo real o casi en tiempo real de los datos y permite a los usuarios tener una visión panorámica y rápida de la situación.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45</a:t>
            </a:fld>
            <a:endParaRPr lang="es-PE"/>
          </a:p>
        </p:txBody>
      </p:sp>
    </p:spTree>
    <p:extLst>
      <p:ext uri="{BB962C8B-B14F-4D97-AF65-F5344CB8AC3E}">
        <p14:creationId xmlns:p14="http://schemas.microsoft.com/office/powerpoint/2010/main" val="187832566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46</a:t>
            </a:fld>
            <a:endParaRPr lang="es-PE"/>
          </a:p>
        </p:txBody>
      </p:sp>
    </p:spTree>
    <p:extLst>
      <p:ext uri="{BB962C8B-B14F-4D97-AF65-F5344CB8AC3E}">
        <p14:creationId xmlns:p14="http://schemas.microsoft.com/office/powerpoint/2010/main" val="150762147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Estas alertas permiten a los usuarios identificar rápidamente áreas de preocupación o en las que se requiere atención.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47</a:t>
            </a:fld>
            <a:endParaRPr lang="es-PE"/>
          </a:p>
        </p:txBody>
      </p:sp>
    </p:spTree>
    <p:extLst>
      <p:ext uri="{BB962C8B-B14F-4D97-AF65-F5344CB8AC3E}">
        <p14:creationId xmlns:p14="http://schemas.microsoft.com/office/powerpoint/2010/main" val="3561639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Los tableros de control proporcionan una visión panorámica y concisa del desempeño y los indicadores clave de una organización, lo que ayuda a los usuarios a monitorear el rendimiento, identificar tendencias, tomar decisiones informadas y actuar de manera proactiva.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48</a:t>
            </a:fld>
            <a:endParaRPr lang="es-PE"/>
          </a:p>
        </p:txBody>
      </p:sp>
    </p:spTree>
    <p:extLst>
      <p:ext uri="{BB962C8B-B14F-4D97-AF65-F5344CB8AC3E}">
        <p14:creationId xmlns:p14="http://schemas.microsoft.com/office/powerpoint/2010/main" val="17019781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49</a:t>
            </a:fld>
            <a:endParaRPr lang="es-PE"/>
          </a:p>
        </p:txBody>
      </p:sp>
    </p:spTree>
    <p:extLst>
      <p:ext uri="{BB962C8B-B14F-4D97-AF65-F5344CB8AC3E}">
        <p14:creationId xmlns:p14="http://schemas.microsoft.com/office/powerpoint/2010/main" val="398489875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50</a:t>
            </a:fld>
            <a:endParaRPr lang="es-PE"/>
          </a:p>
        </p:txBody>
      </p:sp>
    </p:spTree>
    <p:extLst>
      <p:ext uri="{BB962C8B-B14F-4D97-AF65-F5344CB8AC3E}">
        <p14:creationId xmlns:p14="http://schemas.microsoft.com/office/powerpoint/2010/main" val="12762691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El Balanced Scorecard va más allá de las métricas financieras tradicionales y se centra en una perspectiva equilibrada e integral del rendimiento empresarial.</a:t>
            </a:r>
          </a:p>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Ayuda a las organizaciones a alinear sus acciones y decisiones con su estrategia a largo plazo y a medir el progreso hacia los objetivos establecidos. Al utilizar un conjunto equilibrado de indicadores en lugar de centrarse exclusivamente en métricas financieras, el Balanced Scorecard promueve una gestión más holística y orientada a resultados.</a:t>
            </a: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51</a:t>
            </a:fld>
            <a:endParaRPr lang="es-PE"/>
          </a:p>
        </p:txBody>
      </p:sp>
    </p:spTree>
    <p:extLst>
      <p:ext uri="{BB962C8B-B14F-4D97-AF65-F5344CB8AC3E}">
        <p14:creationId xmlns:p14="http://schemas.microsoft.com/office/powerpoint/2010/main" val="14584043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52</a:t>
            </a:fld>
            <a:endParaRPr lang="es-PE"/>
          </a:p>
        </p:txBody>
      </p:sp>
    </p:spTree>
    <p:extLst>
      <p:ext uri="{BB962C8B-B14F-4D97-AF65-F5344CB8AC3E}">
        <p14:creationId xmlns:p14="http://schemas.microsoft.com/office/powerpoint/2010/main" val="139774366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53</a:t>
            </a:fld>
            <a:endParaRPr lang="es-PE"/>
          </a:p>
        </p:txBody>
      </p:sp>
    </p:spTree>
    <p:extLst>
      <p:ext uri="{BB962C8B-B14F-4D97-AF65-F5344CB8AC3E}">
        <p14:creationId xmlns:p14="http://schemas.microsoft.com/office/powerpoint/2010/main" val="2716094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54</a:t>
            </a:fld>
            <a:endParaRPr lang="es-PE"/>
          </a:p>
        </p:txBody>
      </p:sp>
    </p:spTree>
    <p:extLst>
      <p:ext uri="{BB962C8B-B14F-4D97-AF65-F5344CB8AC3E}">
        <p14:creationId xmlns:p14="http://schemas.microsoft.com/office/powerpoint/2010/main" val="190627787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s-PE"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55</a:t>
            </a:fld>
            <a:endParaRPr lang="es-PE"/>
          </a:p>
        </p:txBody>
      </p:sp>
    </p:spTree>
    <p:extLst>
      <p:ext uri="{BB962C8B-B14F-4D97-AF65-F5344CB8AC3E}">
        <p14:creationId xmlns:p14="http://schemas.microsoft.com/office/powerpoint/2010/main" val="146825917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719138" y="1241425"/>
            <a:ext cx="5359400" cy="3349625"/>
          </a:xfrm>
        </p:spPr>
      </p:sp>
      <p:sp>
        <p:nvSpPr>
          <p:cNvPr id="3" name="Marcador de notas 2"/>
          <p:cNvSpPr>
            <a:spLocks noGrp="1"/>
          </p:cNvSpPr>
          <p:nvPr>
            <p:ph type="body" idx="1"/>
          </p:nvPr>
        </p:nvSpPr>
        <p:spPr/>
        <p:txBody>
          <a:bodyPr/>
          <a:lstStyle/>
          <a:p>
            <a:pPr marL="0" indent="0" rtl="0">
              <a:buFont typeface="+mj-lt"/>
              <a:buNone/>
            </a:pPr>
            <a:endParaRPr lang="es-PE" sz="1200" b="0" dirty="0">
              <a:effectLst/>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56</a:t>
            </a:fld>
            <a:endParaRPr lang="es-PE"/>
          </a:p>
        </p:txBody>
      </p:sp>
    </p:spTree>
    <p:extLst>
      <p:ext uri="{BB962C8B-B14F-4D97-AF65-F5344CB8AC3E}">
        <p14:creationId xmlns:p14="http://schemas.microsoft.com/office/powerpoint/2010/main" val="113445410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3" indent="0" algn="l" defTabSz="914400" rtl="0" eaLnBrk="1" fontAlgn="auto" latinLnBrk="0" hangingPunct="1">
              <a:lnSpc>
                <a:spcPct val="100000"/>
              </a:lnSpc>
              <a:spcBef>
                <a:spcPts val="0"/>
              </a:spcBef>
              <a:spcAft>
                <a:spcPts val="0"/>
              </a:spcAft>
              <a:buClrTx/>
              <a:buSzTx/>
              <a:buFontTx/>
              <a:buNone/>
              <a:tabLst/>
              <a:defRPr/>
            </a:pPr>
            <a:r>
              <a:rPr lang="es-PE" sz="1200" kern="1200" dirty="0">
                <a:solidFill>
                  <a:schemeClr val="tx1"/>
                </a:solidFill>
                <a:effectLst/>
                <a:latin typeface="Arial" panose="020B0604020202020204" pitchFamily="34" charset="0"/>
                <a:ea typeface="+mn-ea"/>
                <a:cs typeface="Arial" panose="020B0604020202020204" pitchFamily="34" charset="0"/>
              </a:rPr>
              <a:t> </a:t>
            </a:r>
          </a:p>
          <a:p>
            <a:endParaRPr lang="es-PE" sz="1200" dirty="0">
              <a:latin typeface="Arial" panose="020B0604020202020204" pitchFamily="34" charset="0"/>
              <a:cs typeface="Arial" panose="020B0604020202020204" pitchFamily="34" charset="0"/>
            </a:endParaRPr>
          </a:p>
        </p:txBody>
      </p:sp>
      <p:sp>
        <p:nvSpPr>
          <p:cNvPr id="4" name="Marcador de número de diapositiva 3"/>
          <p:cNvSpPr>
            <a:spLocks noGrp="1"/>
          </p:cNvSpPr>
          <p:nvPr>
            <p:ph type="sldNum" sz="quarter" idx="10"/>
          </p:nvPr>
        </p:nvSpPr>
        <p:spPr/>
        <p:txBody>
          <a:bodyPr/>
          <a:lstStyle/>
          <a:p>
            <a:fld id="{F56700CA-E45F-416D-B659-25554F846B43}" type="slidenum">
              <a:rPr lang="es-PE" smtClean="0"/>
              <a:t>57</a:t>
            </a:fld>
            <a:endParaRPr lang="es-PE"/>
          </a:p>
        </p:txBody>
      </p:sp>
    </p:spTree>
    <p:extLst>
      <p:ext uri="{BB962C8B-B14F-4D97-AF65-F5344CB8AC3E}">
        <p14:creationId xmlns:p14="http://schemas.microsoft.com/office/powerpoint/2010/main" val="18490434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Diapo_Título">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78499219-B93F-4121-95B0-FD263CAAD2EC}"/>
              </a:ext>
            </a:extLst>
          </p:cNvPr>
          <p:cNvCxnSpPr/>
          <p:nvPr userDrawn="1"/>
        </p:nvCxnSpPr>
        <p:spPr>
          <a:xfrm>
            <a:off x="3056456" y="1742381"/>
            <a:ext cx="0" cy="792000"/>
          </a:xfrm>
          <a:prstGeom prst="line">
            <a:avLst/>
          </a:prstGeom>
          <a:ln w="38100">
            <a:solidFill>
              <a:srgbClr val="FFFFFF"/>
            </a:solidFill>
          </a:ln>
          <a:effectLst/>
        </p:spPr>
        <p:style>
          <a:lnRef idx="2">
            <a:schemeClr val="accent1"/>
          </a:lnRef>
          <a:fillRef idx="0">
            <a:schemeClr val="accent1"/>
          </a:fillRef>
          <a:effectRef idx="1">
            <a:schemeClr val="accent1"/>
          </a:effectRef>
          <a:fontRef idx="minor">
            <a:schemeClr val="tx1"/>
          </a:fontRef>
        </p:style>
      </p:cxnSp>
      <p:sp>
        <p:nvSpPr>
          <p:cNvPr id="10" name="Marcador de texto 9">
            <a:extLst>
              <a:ext uri="{FF2B5EF4-FFF2-40B4-BE49-F238E27FC236}">
                <a16:creationId xmlns:a16="http://schemas.microsoft.com/office/drawing/2014/main" id="{07A93BC5-4242-4AEF-86D2-025896BBFF94}"/>
              </a:ext>
            </a:extLst>
          </p:cNvPr>
          <p:cNvSpPr>
            <a:spLocks noGrp="1"/>
          </p:cNvSpPr>
          <p:nvPr>
            <p:ph type="body" sz="quarter" idx="10" hasCustomPrompt="1"/>
          </p:nvPr>
        </p:nvSpPr>
        <p:spPr>
          <a:xfrm>
            <a:off x="3151256" y="1466837"/>
            <a:ext cx="5524431" cy="1065212"/>
          </a:xfrm>
          <a:prstGeom prst="rect">
            <a:avLst/>
          </a:prstGeom>
        </p:spPr>
        <p:txBody>
          <a:bodyPr lIns="36000" tIns="0" rIns="36000" bIns="0" anchor="b"/>
          <a:lstStyle>
            <a:lvl1pPr marL="0" indent="0">
              <a:lnSpc>
                <a:spcPct val="85000"/>
              </a:lnSpc>
              <a:buNone/>
              <a:defRPr sz="3600" b="1" spc="-100" baseline="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p>
        </p:txBody>
      </p:sp>
      <p:sp>
        <p:nvSpPr>
          <p:cNvPr id="12" name="Marcador de texto 11">
            <a:extLst>
              <a:ext uri="{FF2B5EF4-FFF2-40B4-BE49-F238E27FC236}">
                <a16:creationId xmlns:a16="http://schemas.microsoft.com/office/drawing/2014/main" id="{7F024871-2FC3-48CA-9CA6-981F63452D4D}"/>
              </a:ext>
            </a:extLst>
          </p:cNvPr>
          <p:cNvSpPr>
            <a:spLocks noGrp="1"/>
          </p:cNvSpPr>
          <p:nvPr>
            <p:ph type="body" sz="quarter" idx="11" hasCustomPrompt="1"/>
          </p:nvPr>
        </p:nvSpPr>
        <p:spPr>
          <a:xfrm>
            <a:off x="3151257" y="2571394"/>
            <a:ext cx="5524430" cy="216000"/>
          </a:xfrm>
          <a:prstGeom prst="rect">
            <a:avLst/>
          </a:prstGeom>
          <a:solidFill>
            <a:schemeClr val="bg1"/>
          </a:solidFill>
        </p:spPr>
        <p:txBody>
          <a:bodyPr lIns="36000" tIns="0" rIns="36000" bIns="0" anchor="ctr"/>
          <a:lstStyle>
            <a:lvl1pPr marL="0" indent="0">
              <a:lnSpc>
                <a:spcPct val="85000"/>
              </a:lnSpc>
              <a:spcBef>
                <a:spcPts val="0"/>
              </a:spcBef>
              <a:buNone/>
              <a:defRPr sz="1400" b="1" spc="-100" baseline="0">
                <a:solidFill>
                  <a:srgbClr val="1F85A6"/>
                </a:solidFill>
              </a:defRPr>
            </a:lvl1pPr>
          </a:lstStyle>
          <a:p>
            <a:pPr lvl="0"/>
            <a:r>
              <a:rPr lang="es-ES" dirty="0"/>
              <a:t>HAGA CLIC PARA MODIFICAR LOS ESTILOS DE TEXTO DEL PATRÓN</a:t>
            </a:r>
            <a:endParaRPr lang="es-PE" dirty="0"/>
          </a:p>
        </p:txBody>
      </p:sp>
      <p:sp>
        <p:nvSpPr>
          <p:cNvPr id="14" name="Marcador de texto 13">
            <a:extLst>
              <a:ext uri="{FF2B5EF4-FFF2-40B4-BE49-F238E27FC236}">
                <a16:creationId xmlns:a16="http://schemas.microsoft.com/office/drawing/2014/main" id="{909CBA01-1C97-4D7F-AC89-2F7E2CE7AE1E}"/>
              </a:ext>
            </a:extLst>
          </p:cNvPr>
          <p:cNvSpPr>
            <a:spLocks noGrp="1"/>
          </p:cNvSpPr>
          <p:nvPr>
            <p:ph type="body" sz="quarter" idx="12"/>
          </p:nvPr>
        </p:nvSpPr>
        <p:spPr>
          <a:xfrm>
            <a:off x="3151257" y="3149152"/>
            <a:ext cx="5524430" cy="1584325"/>
          </a:xfrm>
          <a:prstGeom prst="rect">
            <a:avLst/>
          </a:prstGeom>
        </p:spPr>
        <p:txBody>
          <a:bodyPr/>
          <a:lstStyle>
            <a:lvl1pPr marL="266700" indent="-266700" algn="just">
              <a:spcBef>
                <a:spcPts val="0"/>
              </a:spcBef>
              <a:buSzPct val="75000"/>
              <a:buFont typeface="Wingdings" panose="05000000000000000000" pitchFamily="2" charset="2"/>
              <a:buChar char="q"/>
              <a:defRPr sz="1600">
                <a:solidFill>
                  <a:schemeClr val="bg1"/>
                </a:solidFill>
              </a:defRPr>
            </a:lvl1pPr>
          </a:lstStyle>
          <a:p>
            <a:pPr lvl="0"/>
            <a:r>
              <a:rPr lang="es-ES" dirty="0"/>
              <a:t>Haga clic para modificar los estilos de texto del patrón</a:t>
            </a:r>
            <a:endParaRPr lang="es-PE" dirty="0"/>
          </a:p>
        </p:txBody>
      </p:sp>
      <p:sp>
        <p:nvSpPr>
          <p:cNvPr id="16" name="Marcador de texto 15">
            <a:extLst>
              <a:ext uri="{FF2B5EF4-FFF2-40B4-BE49-F238E27FC236}">
                <a16:creationId xmlns:a16="http://schemas.microsoft.com/office/drawing/2014/main" id="{98ED8DBD-5592-4A8D-8BF5-1D169AA4AE08}"/>
              </a:ext>
            </a:extLst>
          </p:cNvPr>
          <p:cNvSpPr>
            <a:spLocks noGrp="1"/>
          </p:cNvSpPr>
          <p:nvPr>
            <p:ph type="body" sz="quarter" idx="13"/>
          </p:nvPr>
        </p:nvSpPr>
        <p:spPr>
          <a:xfrm>
            <a:off x="2051281" y="1782566"/>
            <a:ext cx="910376" cy="914400"/>
          </a:xfrm>
          <a:prstGeom prst="rect">
            <a:avLst/>
          </a:prstGeom>
        </p:spPr>
        <p:txBody>
          <a:bodyPr lIns="0" tIns="0" rIns="0" bIns="0"/>
          <a:lstStyle>
            <a:lvl1pPr marL="0" indent="0" algn="ctr">
              <a:buNone/>
              <a:defRPr sz="58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s-ES" dirty="0"/>
              <a:t>Haga clic para modificar los estilos de texto del patrón</a:t>
            </a:r>
            <a:endParaRPr lang="es-PE" dirty="0"/>
          </a:p>
        </p:txBody>
      </p:sp>
      <p:sp>
        <p:nvSpPr>
          <p:cNvPr id="19" name="CuadroTexto 18">
            <a:extLst>
              <a:ext uri="{FF2B5EF4-FFF2-40B4-BE49-F238E27FC236}">
                <a16:creationId xmlns:a16="http://schemas.microsoft.com/office/drawing/2014/main" id="{3B086266-9338-4415-8002-5AA0BBD87E06}"/>
              </a:ext>
            </a:extLst>
          </p:cNvPr>
          <p:cNvSpPr txBox="1"/>
          <p:nvPr userDrawn="1"/>
        </p:nvSpPr>
        <p:spPr>
          <a:xfrm>
            <a:off x="2051281" y="1615590"/>
            <a:ext cx="910376" cy="369332"/>
          </a:xfrm>
          <a:prstGeom prst="rect">
            <a:avLst/>
          </a:prstGeom>
          <a:noFill/>
        </p:spPr>
        <p:txBody>
          <a:bodyPr wrap="square" rtlCol="0">
            <a:spAutoFit/>
          </a:bodyPr>
          <a:lstStyle/>
          <a:p>
            <a:pPr algn="ctr"/>
            <a:r>
              <a:rPr lang="es-PE" dirty="0">
                <a:solidFill>
                  <a:schemeClr val="bg1"/>
                </a:solidFill>
              </a:rPr>
              <a:t>SESIÓN</a:t>
            </a:r>
          </a:p>
        </p:txBody>
      </p:sp>
    </p:spTree>
    <p:extLst>
      <p:ext uri="{BB962C8B-B14F-4D97-AF65-F5344CB8AC3E}">
        <p14:creationId xmlns:p14="http://schemas.microsoft.com/office/powerpoint/2010/main" val="1840211312"/>
      </p:ext>
    </p:extLst>
  </p:cSld>
  <p:clrMapOvr>
    <a:masterClrMapping/>
  </p:clrMapOvr>
  <p:extLst>
    <p:ext uri="{DCECCB84-F9BA-43D5-87BE-67443E8EF086}">
      <p15:sldGuideLst xmlns:p15="http://schemas.microsoft.com/office/powerpoint/2012/main">
        <p15:guide id="1" pos="5465" userDrawn="1">
          <p15:clr>
            <a:srgbClr val="FBAE40"/>
          </p15:clr>
        </p15:guide>
        <p15:guide id="2" pos="197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_Introduccion">
    <p:bg>
      <p:bgPr>
        <a:solidFill>
          <a:schemeClr val="bg1">
            <a:lumMod val="95000"/>
          </a:schemeClr>
        </a:solid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DEFFC524-5204-4B8D-AB52-89B3D97070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schemeClr val="tx1"/>
                </a:solidFill>
                <a:effectLst/>
                <a:uLnTx/>
                <a:uFillTx/>
                <a:latin typeface="Calibri"/>
                <a:ea typeface="+mn-ea"/>
                <a:cs typeface="+mn-cs"/>
              </a:rPr>
              <a:t>INTRODUCCIÓN</a:t>
            </a:r>
          </a:p>
        </p:txBody>
      </p:sp>
      <p:pic>
        <p:nvPicPr>
          <p:cNvPr id="3" name="Imagen 2">
            <a:extLst>
              <a:ext uri="{FF2B5EF4-FFF2-40B4-BE49-F238E27FC236}">
                <a16:creationId xmlns:a16="http://schemas.microsoft.com/office/drawing/2014/main" id="{949F8A1D-5EEE-42EF-A95B-31789C550AC2}"/>
              </a:ext>
            </a:extLst>
          </p:cNvPr>
          <p:cNvPicPr>
            <a:picLocks noChangeAspect="1"/>
          </p:cNvPicPr>
          <p:nvPr userDrawn="1"/>
        </p:nvPicPr>
        <p:blipFill>
          <a:blip r:embed="rId3">
            <a:alphaModFix/>
            <a:biLevel thresh="75000"/>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a:solidFill>
            <a:schemeClr val="bg1">
              <a:lumMod val="95000"/>
            </a:schemeClr>
          </a:solidFill>
        </p:spPr>
      </p:pic>
      <p:sp>
        <p:nvSpPr>
          <p:cNvPr id="8" name="Marcador de texto 7">
            <a:extLst>
              <a:ext uri="{FF2B5EF4-FFF2-40B4-BE49-F238E27FC236}">
                <a16:creationId xmlns:a16="http://schemas.microsoft.com/office/drawing/2014/main" id="{C946181C-25DC-4BDD-9928-A88184E17BFD}"/>
              </a:ext>
            </a:extLst>
          </p:cNvPr>
          <p:cNvSpPr>
            <a:spLocks noGrp="1"/>
          </p:cNvSpPr>
          <p:nvPr>
            <p:ph type="body" sz="quarter" idx="10"/>
          </p:nvPr>
        </p:nvSpPr>
        <p:spPr>
          <a:xfrm>
            <a:off x="503238" y="1670050"/>
            <a:ext cx="8137525" cy="3563938"/>
          </a:xfrm>
          <a:prstGeom prst="rect">
            <a:avLst/>
          </a:prstGeom>
        </p:spPr>
        <p:txBody>
          <a:bodyPr/>
          <a:lstStyle>
            <a:lvl1pPr marL="266700" indent="-266700" algn="just">
              <a:lnSpc>
                <a:spcPct val="100000"/>
              </a:lnSpc>
              <a:spcBef>
                <a:spcPts val="0"/>
              </a:spcBef>
              <a:spcAft>
                <a:spcPts val="1200"/>
              </a:spcAft>
              <a:buSzPct val="75000"/>
              <a:buFont typeface="Wingdings" panose="05000000000000000000" pitchFamily="2" charset="2"/>
              <a:buChar char="q"/>
              <a:defRPr sz="1600"/>
            </a:lvl1pPr>
            <a:lvl2pPr marL="531813" indent="-265113" algn="just">
              <a:lnSpc>
                <a:spcPct val="100000"/>
              </a:lnSpc>
              <a:spcBef>
                <a:spcPts val="0"/>
              </a:spcBef>
              <a:spcAft>
                <a:spcPts val="1200"/>
              </a:spcAft>
              <a:buFont typeface="Delius" panose="02000603000000000000" pitchFamily="2" charset="0"/>
              <a:buChar char="→"/>
              <a:defRPr sz="1600"/>
            </a:lvl2pPr>
            <a:lvl3pPr marL="717550" indent="-185738" algn="just">
              <a:lnSpc>
                <a:spcPct val="100000"/>
              </a:lnSpc>
              <a:spcBef>
                <a:spcPts val="0"/>
              </a:spcBef>
              <a:spcAft>
                <a:spcPts val="1200"/>
              </a:spcAft>
              <a:buFont typeface="Wingdings" panose="05000000000000000000" pitchFamily="2" charset="2"/>
              <a:buChar char="§"/>
              <a:defRPr sz="1600"/>
            </a:lvl3pPr>
            <a:lvl4pPr>
              <a:lnSpc>
                <a:spcPct val="85000"/>
              </a:lnSpc>
              <a:spcBef>
                <a:spcPts val="0"/>
              </a:spcBef>
              <a:spcAft>
                <a:spcPts val="1200"/>
              </a:spcAft>
              <a:defRPr sz="1600"/>
            </a:lvl4pPr>
            <a:lvl5pPr>
              <a:lnSpc>
                <a:spcPct val="85000"/>
              </a:lnSpc>
              <a:spcBef>
                <a:spcPts val="0"/>
              </a:spcBef>
              <a:spcAft>
                <a:spcPts val="1200"/>
              </a:spcAft>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custDataLst>
      <p:tags r:id="rId1"/>
    </p:custDataLst>
    <p:extLst>
      <p:ext uri="{BB962C8B-B14F-4D97-AF65-F5344CB8AC3E}">
        <p14:creationId xmlns:p14="http://schemas.microsoft.com/office/powerpoint/2010/main" val="4023211956"/>
      </p:ext>
    </p:extLst>
  </p:cSld>
  <p:clrMapOvr>
    <a:masterClrMapping/>
  </p:clrMapOvr>
  <p:extLst>
    <p:ext uri="{DCECCB84-F9BA-43D5-87BE-67443E8EF086}">
      <p15:sldGuideLst xmlns:p15="http://schemas.microsoft.com/office/powerpoint/2012/main">
        <p15:guide id="1" orient="horz" pos="1052" userDrawn="1">
          <p15:clr>
            <a:srgbClr val="FBAE40"/>
          </p15:clr>
        </p15:guide>
        <p15:guide id="2" pos="317" userDrawn="1">
          <p15:clr>
            <a:srgbClr val="FBAE40"/>
          </p15:clr>
        </p15:guide>
        <p15:guide id="3" pos="5443" userDrawn="1">
          <p15:clr>
            <a:srgbClr val="FBAE40"/>
          </p15:clr>
        </p15:guide>
        <p15:guide id="4" orient="horz" pos="3297"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blanco)">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8208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p:spPr>
        <p:txBody>
          <a:bodyPr/>
          <a:lstStyle>
            <a:lvl1pPr marL="266700" indent="-266700" algn="just">
              <a:spcBef>
                <a:spcPts val="0"/>
              </a:spcBef>
              <a:spcAft>
                <a:spcPts val="800"/>
              </a:spcAft>
              <a:buSzPct val="75000"/>
              <a:buFont typeface="Wingdings" panose="05000000000000000000" pitchFamily="2" charset="2"/>
              <a:buChar char="q"/>
              <a:defRPr sz="1600"/>
            </a:lvl1pPr>
            <a:lvl2pPr marL="531813" indent="-265113" algn="just">
              <a:spcBef>
                <a:spcPts val="0"/>
              </a:spcBef>
              <a:spcAft>
                <a:spcPts val="800"/>
              </a:spcAft>
              <a:buFont typeface="Delius" panose="02000603000000000000" pitchFamily="2" charset="0"/>
              <a:buChar char="→"/>
              <a:defRPr sz="1600"/>
            </a:lvl2pPr>
            <a:lvl3pPr marL="717550" indent="-185738" algn="just">
              <a:spcBef>
                <a:spcPts val="0"/>
              </a:spcBef>
              <a:spcAft>
                <a:spcPts val="800"/>
              </a:spcAft>
              <a:buFont typeface="Wingdings" panose="05000000000000000000" pitchFamily="2" charset="2"/>
              <a:buChar char="§"/>
              <a:defRPr sz="1600"/>
            </a:lvl3pPr>
            <a:lvl4pPr>
              <a:defRPr sz="1600"/>
            </a:lvl4pPr>
            <a:lvl5pPr>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61182499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_Subtema con Imagen Vertica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595149" y="816438"/>
            <a:ext cx="4086000" cy="4446000"/>
          </a:xfrm>
          <a:prstGeom prst="rect">
            <a:avLst/>
          </a:prstGeom>
        </p:spPr>
        <p:txBody>
          <a:bodyPr anchor="ctr"/>
          <a:lstStyle>
            <a:lvl1pPr marL="0" indent="0" algn="ctr">
              <a:buNone/>
              <a:defRPr/>
            </a:lvl1pPr>
          </a:lstStyle>
          <a:p>
            <a:endParaRPr lang="es-PE" dirty="0"/>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4103687"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FD04F222-EEB2-4557-8D4B-D05354FCD8C6}"/>
              </a:ext>
            </a:extLst>
          </p:cNvPr>
          <p:cNvSpPr>
            <a:spLocks noGrp="1"/>
          </p:cNvSpPr>
          <p:nvPr>
            <p:ph type="body" sz="quarter" idx="14"/>
          </p:nvPr>
        </p:nvSpPr>
        <p:spPr>
          <a:xfrm>
            <a:off x="468313" y="1158875"/>
            <a:ext cx="4103687" cy="4111625"/>
          </a:xfrm>
          <a:prstGeom prst="rect">
            <a:avLst/>
          </a:prstGeom>
        </p:spPr>
        <p:txBody>
          <a:bodyPr/>
          <a:lstStyle>
            <a:lvl1pPr marL="266700" indent="-266700" algn="just">
              <a:spcBef>
                <a:spcPts val="0"/>
              </a:spcBef>
              <a:spcAft>
                <a:spcPts val="1200"/>
              </a:spcAft>
              <a:buSzPct val="75000"/>
              <a:buFont typeface="Wingdings" panose="05000000000000000000" pitchFamily="2" charset="2"/>
              <a:buChar char="q"/>
              <a:defRPr sz="1600"/>
            </a:lvl1pPr>
            <a:lvl2pPr marL="531813" indent="-265113" algn="just">
              <a:spcBef>
                <a:spcPts val="0"/>
              </a:spcBef>
              <a:spcAft>
                <a:spcPts val="1200"/>
              </a:spcAft>
              <a:buFont typeface="Delius" panose="02000603000000000000" pitchFamily="2" charset="0"/>
              <a:buChar char="→"/>
              <a:defRPr sz="1600"/>
            </a:lvl2pPr>
            <a:lvl3pPr marL="717550" indent="-185738" algn="just">
              <a:spcBef>
                <a:spcPts val="0"/>
              </a:spcBef>
              <a:spcAft>
                <a:spcPts val="1200"/>
              </a:spcAft>
              <a:buFont typeface="Wingdings" panose="05000000000000000000" pitchFamily="2" charset="2"/>
              <a:buChar char="§"/>
              <a:defRPr sz="1600"/>
            </a:lvl3pPr>
            <a:lvl4pPr>
              <a:spcBef>
                <a:spcPts val="0"/>
              </a:spcBef>
              <a:defRPr sz="1600"/>
            </a:lvl4pPr>
            <a:lvl5pPr>
              <a:spcBef>
                <a:spcPts val="0"/>
              </a:spcBef>
              <a:defRPr sz="1600"/>
            </a:lvl5pPr>
          </a:lstStyle>
          <a:p>
            <a:pPr lvl="0"/>
            <a:r>
              <a:rPr lang="es-ES" dirty="0"/>
              <a:t>Haga clic para modificar los estilos de texto del patrón</a:t>
            </a:r>
          </a:p>
          <a:p>
            <a:pPr lvl="1"/>
            <a:r>
              <a:rPr lang="es-ES" dirty="0"/>
              <a:t>Segundo nivel</a:t>
            </a:r>
          </a:p>
          <a:p>
            <a:pPr lvl="2"/>
            <a:r>
              <a:rPr lang="es-ES" dirty="0"/>
              <a:t>Tercer nivel</a:t>
            </a:r>
            <a:endParaRPr lang="es-PE" dirty="0"/>
          </a:p>
        </p:txBody>
      </p:sp>
    </p:spTree>
    <p:extLst>
      <p:ext uri="{BB962C8B-B14F-4D97-AF65-F5344CB8AC3E}">
        <p14:creationId xmlns:p14="http://schemas.microsoft.com/office/powerpoint/2010/main" val="941359410"/>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3" orient="horz" pos="1800" userDrawn="1">
          <p15:clr>
            <a:srgbClr val="FBAE40"/>
          </p15:clr>
        </p15:guide>
        <p15:guide id="4" orient="horz" pos="507" userDrawn="1">
          <p15:clr>
            <a:srgbClr val="FBAE40"/>
          </p15:clr>
        </p15:guide>
        <p15:guide id="5" orient="horz" pos="3320" userDrawn="1">
          <p15:clr>
            <a:srgbClr val="FBAE40"/>
          </p15:clr>
        </p15:guide>
        <p15:guide id="6" pos="288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_Subtema con Imagen Horizontal (gris)">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2867600"/>
            <a:ext cx="8208000" cy="2394000"/>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1" name="Marcador de texto 10">
            <a:extLst>
              <a:ext uri="{FF2B5EF4-FFF2-40B4-BE49-F238E27FC236}">
                <a16:creationId xmlns:a16="http://schemas.microsoft.com/office/drawing/2014/main" id="{AC29DAAB-CDF4-4B89-8C31-EA10C6E01FDC}"/>
              </a:ext>
            </a:extLst>
          </p:cNvPr>
          <p:cNvSpPr>
            <a:spLocks noGrp="1"/>
          </p:cNvSpPr>
          <p:nvPr>
            <p:ph type="body" sz="quarter" idx="12" hasCustomPrompt="1"/>
          </p:nvPr>
        </p:nvSpPr>
        <p:spPr>
          <a:xfrm>
            <a:off x="468313" y="804863"/>
            <a:ext cx="5724000" cy="354012"/>
          </a:xfrm>
          <a:prstGeom prst="rect">
            <a:avLst/>
          </a:prstGeom>
        </p:spPr>
        <p:txBody>
          <a:bodyPr lIns="72000" tIns="36000" rIns="72000" bIns="36000" anchor="ctr"/>
          <a:lstStyle>
            <a:lvl1pPr marL="0" indent="0">
              <a:lnSpc>
                <a:spcPct val="85000"/>
              </a:lnSpc>
              <a:spcBef>
                <a:spcPts val="0"/>
              </a:spcBef>
              <a:buNone/>
              <a:defRPr sz="1600" b="1"/>
            </a:lvl1pPr>
          </a:lstStyle>
          <a:p>
            <a:pPr lvl="0"/>
            <a:r>
              <a:rPr lang="es-ES" dirty="0"/>
              <a:t>HAGA CLIC PARA MODIFICAR LOS ESTILOS DE TEXTO DEL PATRÓN</a:t>
            </a:r>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texto 4">
            <a:extLst>
              <a:ext uri="{FF2B5EF4-FFF2-40B4-BE49-F238E27FC236}">
                <a16:creationId xmlns:a16="http://schemas.microsoft.com/office/drawing/2014/main" id="{B6AB609E-19B2-43F3-94FB-608EEAC4D4C8}"/>
              </a:ext>
            </a:extLst>
          </p:cNvPr>
          <p:cNvSpPr>
            <a:spLocks noGrp="1"/>
          </p:cNvSpPr>
          <p:nvPr>
            <p:ph type="body" sz="quarter" idx="14"/>
          </p:nvPr>
        </p:nvSpPr>
        <p:spPr>
          <a:xfrm>
            <a:off x="468313" y="1182025"/>
            <a:ext cx="8207375" cy="1674000"/>
          </a:xfrm>
          <a:prstGeom prst="rect">
            <a:avLst/>
          </a:prstGeom>
          <a:solidFill>
            <a:schemeClr val="accent4">
              <a:lumMod val="20000"/>
              <a:lumOff val="80000"/>
            </a:schemeClr>
          </a:solidFill>
        </p:spPr>
        <p:txBody>
          <a:bodyPr numCol="3"/>
          <a:lstStyle>
            <a:lvl1pPr marL="173038" indent="-173038" algn="l">
              <a:spcBef>
                <a:spcPts val="0"/>
              </a:spcBef>
              <a:spcAft>
                <a:spcPts val="200"/>
              </a:spcAft>
              <a:buSzPct val="75000"/>
              <a:buFont typeface="Wingdings" panose="05000000000000000000" pitchFamily="2" charset="2"/>
              <a:buChar char="§"/>
              <a:defRPr sz="1400"/>
            </a:lvl1pPr>
            <a:lvl2pPr marL="531813" indent="-265113" algn="just">
              <a:spcBef>
                <a:spcPts val="0"/>
              </a:spcBef>
              <a:spcAft>
                <a:spcPts val="800"/>
              </a:spcAft>
              <a:buFont typeface="Wingdings" panose="05000000000000000000" pitchFamily="2" charset="2"/>
              <a:buChar char="§"/>
              <a:defRPr sz="1400"/>
            </a:lvl2pPr>
            <a:lvl3pPr marL="717550" indent="-185738" algn="just">
              <a:spcBef>
                <a:spcPts val="0"/>
              </a:spcBef>
              <a:spcAft>
                <a:spcPts val="800"/>
              </a:spcAft>
              <a:buFont typeface="Wingdings" panose="05000000000000000000" pitchFamily="2" charset="2"/>
              <a:buChar char="§"/>
              <a:defRPr sz="1400"/>
            </a:lvl3pPr>
            <a:lvl4pPr>
              <a:defRPr sz="1600"/>
            </a:lvl4pPr>
            <a:lvl5pPr>
              <a:defRPr sz="1600"/>
            </a:lvl5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66C3FB06-AEFF-9166-C6DD-B8FA2AD57863}"/>
              </a:ext>
            </a:extLst>
          </p:cNvPr>
          <p:cNvSpPr>
            <a:spLocks noGrp="1"/>
          </p:cNvSpPr>
          <p:nvPr>
            <p:ph type="body" sz="quarter" idx="15" hasCustomPrompt="1"/>
          </p:nvPr>
        </p:nvSpPr>
        <p:spPr>
          <a:xfrm>
            <a:off x="6319838" y="804863"/>
            <a:ext cx="2359025" cy="377825"/>
          </a:xfrm>
          <a:prstGeom prst="rect">
            <a:avLst/>
          </a:prstGeom>
        </p:spPr>
        <p:txBody>
          <a:bodyPr/>
          <a:lstStyle>
            <a:lvl1pPr marL="0" indent="0" algn="r">
              <a:spcBef>
                <a:spcPts val="0"/>
              </a:spcBef>
              <a:buNone/>
              <a:defRPr sz="2000" b="1" i="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4076242012"/>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70825" y="804863"/>
            <a:ext cx="8208000" cy="4456737"/>
          </a:xfrm>
          <a:prstGeom prst="rect">
            <a:avLst/>
          </a:prstGeom>
          <a:solidFill>
            <a:schemeClr val="accent4">
              <a:lumMod val="20000"/>
              <a:lumOff val="80000"/>
            </a:schemeClr>
          </a:solidFill>
        </p:spPr>
        <p:txBody>
          <a:bodyPr anchor="ctr"/>
          <a:lstStyle>
            <a:lvl1pPr marL="0" indent="0" algn="ctr">
              <a:buNone/>
              <a:defRPr/>
            </a:lvl1pPr>
          </a:lstStyle>
          <a:p>
            <a:endParaRPr lang="es-PE"/>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413357306"/>
      </p:ext>
    </p:extLst>
  </p:cSld>
  <p:clrMapOvr>
    <a:masterClrMapping/>
  </p:clrMapOvr>
  <p:extLst>
    <p:ext uri="{DCECCB84-F9BA-43D5-87BE-67443E8EF086}">
      <p15:sldGuideLst xmlns:p15="http://schemas.microsoft.com/office/powerpoint/2012/main">
        <p15:guide id="1" pos="295" userDrawn="1">
          <p15:clr>
            <a:srgbClr val="FBAE40"/>
          </p15:clr>
        </p15:guide>
        <p15:guide id="2" pos="5465" userDrawn="1">
          <p15:clr>
            <a:srgbClr val="FBAE40"/>
          </p15:clr>
        </p15:guide>
        <p15:guide id="4" orient="horz" pos="507" userDrawn="1">
          <p15:clr>
            <a:srgbClr val="FBAE40"/>
          </p15:clr>
        </p15:guide>
        <p15:guide id="5" orient="horz" pos="332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apo_Subtema con Imagen FULL">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4717FB9E-6DD3-4BBD-A122-85F3673CCA90}"/>
              </a:ext>
            </a:extLst>
          </p:cNvPr>
          <p:cNvSpPr>
            <a:spLocks noGrp="1"/>
          </p:cNvSpPr>
          <p:nvPr>
            <p:ph type="pic" sz="quarter" idx="10"/>
          </p:nvPr>
        </p:nvSpPr>
        <p:spPr>
          <a:xfrm>
            <a:off x="468313" y="1193600"/>
            <a:ext cx="8207375" cy="4068000"/>
          </a:xfrm>
          <a:prstGeom prst="rect">
            <a:avLst/>
          </a:prstGeom>
        </p:spPr>
        <p:txBody>
          <a:bodyPr anchor="ctr"/>
          <a:lstStyle>
            <a:lvl1pPr marL="0" indent="0" algn="ctr">
              <a:buNone/>
              <a:defRPr/>
            </a:lvl1pPr>
          </a:lstStyle>
          <a:p>
            <a:endParaRPr lang="es-PE" dirty="0"/>
          </a:p>
        </p:txBody>
      </p:sp>
      <p:sp>
        <p:nvSpPr>
          <p:cNvPr id="15" name="Marcador de texto 14">
            <a:extLst>
              <a:ext uri="{FF2B5EF4-FFF2-40B4-BE49-F238E27FC236}">
                <a16:creationId xmlns:a16="http://schemas.microsoft.com/office/drawing/2014/main" id="{383EF17E-5C96-4858-ACC0-09751EF7DCBE}"/>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3" name="Marcador de texto 2">
            <a:extLst>
              <a:ext uri="{FF2B5EF4-FFF2-40B4-BE49-F238E27FC236}">
                <a16:creationId xmlns:a16="http://schemas.microsoft.com/office/drawing/2014/main" id="{ABA448E1-A688-00A1-4209-9A9B21FA2758}"/>
              </a:ext>
            </a:extLst>
          </p:cNvPr>
          <p:cNvSpPr>
            <a:spLocks noGrp="1"/>
          </p:cNvSpPr>
          <p:nvPr>
            <p:ph type="body" sz="quarter" idx="14" hasCustomPrompt="1"/>
          </p:nvPr>
        </p:nvSpPr>
        <p:spPr>
          <a:xfrm>
            <a:off x="468313" y="804863"/>
            <a:ext cx="8207375" cy="354012"/>
          </a:xfrm>
          <a:prstGeom prst="rect">
            <a:avLst/>
          </a:prstGeom>
        </p:spPr>
        <p:txBody>
          <a:bodyPr/>
          <a:lstStyle>
            <a:lvl1pPr marL="0" indent="0">
              <a:buNone/>
              <a:defRPr sz="1600" b="1"/>
            </a:lvl1pPr>
          </a:lstStyle>
          <a:p>
            <a:pPr lvl="0"/>
            <a:r>
              <a:rPr lang="es-ES" dirty="0"/>
              <a:t>HAGA CLIC PARA MODIFICAR LOS ESTILOS DE TEXTO</a:t>
            </a:r>
            <a:endParaRPr lang="es-PE" dirty="0"/>
          </a:p>
        </p:txBody>
      </p:sp>
    </p:spTree>
    <p:extLst>
      <p:ext uri="{BB962C8B-B14F-4D97-AF65-F5344CB8AC3E}">
        <p14:creationId xmlns:p14="http://schemas.microsoft.com/office/powerpoint/2010/main" val="3703842985"/>
      </p:ext>
    </p:extLst>
  </p:cSld>
  <p:clrMapOvr>
    <a:masterClrMapping/>
  </p:clrMapOvr>
  <p:extLst>
    <p:ext uri="{DCECCB84-F9BA-43D5-87BE-67443E8EF086}">
      <p15:sldGuideLst xmlns:p15="http://schemas.microsoft.com/office/powerpoint/2012/main">
        <p15:guide id="1" pos="295">
          <p15:clr>
            <a:srgbClr val="FBAE40"/>
          </p15:clr>
        </p15:guide>
        <p15:guide id="2" pos="5465">
          <p15:clr>
            <a:srgbClr val="FBAE40"/>
          </p15:clr>
        </p15:guide>
        <p15:guide id="3" orient="horz" pos="1800">
          <p15:clr>
            <a:srgbClr val="FBAE40"/>
          </p15:clr>
        </p15:guide>
        <p15:guide id="4" orient="horz" pos="507">
          <p15:clr>
            <a:srgbClr val="FBAE40"/>
          </p15:clr>
        </p15:guide>
        <p15:guide id="5" orient="horz" pos="3320">
          <p15:clr>
            <a:srgbClr val="FBAE40"/>
          </p15:clr>
        </p15:guide>
        <p15:guide id="6" pos="288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_Subtema">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sp>
        <p:nvSpPr>
          <p:cNvPr id="5" name="Marcador de texto 4">
            <a:extLst>
              <a:ext uri="{FF2B5EF4-FFF2-40B4-BE49-F238E27FC236}">
                <a16:creationId xmlns:a16="http://schemas.microsoft.com/office/drawing/2014/main" id="{4BD03D13-5E01-42D6-AEF1-E185D3674B02}"/>
              </a:ext>
            </a:extLst>
          </p:cNvPr>
          <p:cNvSpPr>
            <a:spLocks noGrp="1"/>
          </p:cNvSpPr>
          <p:nvPr>
            <p:ph type="body" sz="quarter" idx="10" hasCustomPrompt="1"/>
          </p:nvPr>
        </p:nvSpPr>
        <p:spPr>
          <a:xfrm>
            <a:off x="468314" y="3714841"/>
            <a:ext cx="5543549" cy="810087"/>
          </a:xfrm>
          <a:prstGeom prst="rect">
            <a:avLst/>
          </a:prstGeom>
        </p:spPr>
        <p:txBody>
          <a:bodyPr/>
          <a:lstStyle>
            <a:lvl1pPr marL="266700" indent="-266700">
              <a:lnSpc>
                <a:spcPct val="85000"/>
              </a:lnSpc>
              <a:spcBef>
                <a:spcPts val="0"/>
              </a:spcBef>
              <a:buNone/>
              <a:tabLst>
                <a:tab pos="266700" algn="l"/>
              </a:tabLst>
              <a:defRPr sz="2800" b="1">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1383085110"/>
      </p:ext>
    </p:extLst>
  </p:cSld>
  <p:clrMapOvr>
    <a:masterClrMapping/>
  </p:clrMapOvr>
  <p:extLst>
    <p:ext uri="{DCECCB84-F9BA-43D5-87BE-67443E8EF086}">
      <p15:sldGuideLst xmlns:p15="http://schemas.microsoft.com/office/powerpoint/2012/main">
        <p15:guide id="1" pos="295" userDrawn="1">
          <p15:clr>
            <a:srgbClr val="FBAE40"/>
          </p15:clr>
        </p15:guide>
        <p15:guide id="2" pos="3787"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_Bibliografí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BIBLIOGRAFÍA</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049"/>
            <a:ext cx="7713398" cy="3527425"/>
          </a:xfrm>
          <a:prstGeom prst="rect">
            <a:avLst/>
          </a:prstGeom>
        </p:spPr>
        <p:txBody>
          <a:bodyPr lIns="0" tIns="0" rIns="0" bIns="0"/>
          <a:lstStyle>
            <a:lvl1pPr marL="266700" indent="-266700" algn="just">
              <a:lnSpc>
                <a:spcPct val="85000"/>
              </a:lnSpc>
              <a:spcBef>
                <a:spcPts val="0"/>
              </a:spcBef>
              <a:spcAft>
                <a:spcPts val="1200"/>
              </a:spcAft>
              <a:buFont typeface="Wingdings" panose="05000000000000000000" pitchFamily="2" charset="2"/>
              <a:buChar char="§"/>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3210332040"/>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_Conclusion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7B2E060-20CD-463B-8DA7-F4C44CB2E4F1}"/>
              </a:ext>
            </a:extLst>
          </p:cNvPr>
          <p:cNvSpPr/>
          <p:nvPr userDrawn="1"/>
        </p:nvSpPr>
        <p:spPr>
          <a:xfrm>
            <a:off x="503238" y="997483"/>
            <a:ext cx="1945800" cy="249299"/>
          </a:xfrm>
          <a:prstGeom prst="rect">
            <a:avLst/>
          </a:prstGeom>
        </p:spPr>
        <p:txBody>
          <a:bodyPr wrap="square" lIns="0" tIns="0" rIns="0" bIns="0">
            <a:spAutoFit/>
          </a:bodyPr>
          <a:lstStyle/>
          <a:p>
            <a:pPr marL="0" marR="0" lvl="0" indent="0" algn="l" defTabSz="411480" rtl="0" eaLnBrk="1" fontAlgn="auto" latinLnBrk="0" hangingPunct="1">
              <a:lnSpc>
                <a:spcPct val="100000"/>
              </a:lnSpc>
              <a:spcBef>
                <a:spcPts val="0"/>
              </a:spcBef>
              <a:spcAft>
                <a:spcPts val="0"/>
              </a:spcAft>
              <a:buClrTx/>
              <a:buSzTx/>
              <a:buFontTx/>
              <a:buNone/>
              <a:tabLst/>
              <a:defRPr/>
            </a:pPr>
            <a:r>
              <a:rPr kumimoji="0" lang="en-US" sz="1620" b="1" i="0" u="none" strike="noStrike" kern="1200" cap="none" spc="0" normalizeH="0" baseline="0" noProof="0" dirty="0">
                <a:ln>
                  <a:noFill/>
                </a:ln>
                <a:solidFill>
                  <a:prstClr val="white"/>
                </a:solidFill>
                <a:effectLst/>
                <a:uLnTx/>
                <a:uFillTx/>
                <a:latin typeface="Calibri"/>
                <a:ea typeface="+mn-ea"/>
                <a:cs typeface="+mn-cs"/>
              </a:rPr>
              <a:t>CONCLUSIONES</a:t>
            </a:r>
          </a:p>
        </p:txBody>
      </p:sp>
      <p:pic>
        <p:nvPicPr>
          <p:cNvPr id="3" name="Imagen 2">
            <a:extLst>
              <a:ext uri="{FF2B5EF4-FFF2-40B4-BE49-F238E27FC236}">
                <a16:creationId xmlns:a16="http://schemas.microsoft.com/office/drawing/2014/main" id="{FC3DF485-35A0-4880-86B1-159FC8D1B5DD}"/>
              </a:ext>
            </a:extLst>
          </p:cNvPr>
          <p:cNvPicPr>
            <a:picLocks noChangeAspect="1"/>
          </p:cNvPicPr>
          <p:nvPr userDrawn="1"/>
        </p:nvPicPr>
        <p:blipFill>
          <a:blip r:embed="rId3">
            <a:lum bright="70000" contrast="-70000"/>
            <a:alphaModFix/>
            <a:extLst>
              <a:ext uri="{BEBA8EAE-BF5A-486C-A8C5-ECC9F3942E4B}">
                <a14:imgProps xmlns:a14="http://schemas.microsoft.com/office/drawing/2010/main">
                  <a14:imgLayer r:embed="rId4">
                    <a14:imgEffect>
                      <a14:colorTemperature colorTemp="1500"/>
                    </a14:imgEffect>
                    <a14:imgEffect>
                      <a14:saturation sat="0"/>
                    </a14:imgEffect>
                  </a14:imgLayer>
                </a14:imgProps>
              </a:ext>
            </a:extLst>
          </a:blip>
          <a:stretch>
            <a:fillRect/>
          </a:stretch>
        </p:blipFill>
        <p:spPr>
          <a:xfrm>
            <a:off x="503239" y="573356"/>
            <a:ext cx="424127" cy="424127"/>
          </a:xfrm>
          <a:prstGeom prst="rect">
            <a:avLst/>
          </a:prstGeom>
        </p:spPr>
      </p:pic>
      <p:sp>
        <p:nvSpPr>
          <p:cNvPr id="5" name="Marcador de texto 4">
            <a:extLst>
              <a:ext uri="{FF2B5EF4-FFF2-40B4-BE49-F238E27FC236}">
                <a16:creationId xmlns:a16="http://schemas.microsoft.com/office/drawing/2014/main" id="{18F77D6E-1237-49E3-9C45-BC77466A0D49}"/>
              </a:ext>
            </a:extLst>
          </p:cNvPr>
          <p:cNvSpPr>
            <a:spLocks noGrp="1"/>
          </p:cNvSpPr>
          <p:nvPr>
            <p:ph type="body" sz="quarter" idx="10"/>
          </p:nvPr>
        </p:nvSpPr>
        <p:spPr>
          <a:xfrm>
            <a:off x="927366" y="1670909"/>
            <a:ext cx="7713398" cy="3526566"/>
          </a:xfrm>
          <a:prstGeom prst="rect">
            <a:avLst/>
          </a:prstGeom>
        </p:spPr>
        <p:txBody>
          <a:bodyPr lIns="0" tIns="0" rIns="0" bIns="0"/>
          <a:lstStyle>
            <a:lvl1pPr marL="266700" indent="-266700" algn="just">
              <a:lnSpc>
                <a:spcPct val="85000"/>
              </a:lnSpc>
              <a:spcBef>
                <a:spcPts val="0"/>
              </a:spcBef>
              <a:spcAft>
                <a:spcPts val="1200"/>
              </a:spcAft>
              <a:buFont typeface="+mj-lt"/>
              <a:buAutoNum type="arabicPeriod"/>
              <a:tabLst/>
              <a:defRPr sz="1800">
                <a:solidFill>
                  <a:schemeClr val="bg1"/>
                </a:solidFill>
              </a:defRPr>
            </a:lvl1pPr>
          </a:lstStyle>
          <a:p>
            <a:pPr lvl="0"/>
            <a:r>
              <a:rPr lang="es-ES" dirty="0"/>
              <a:t>Haga clic para modificar los estilos de texto del patrón</a:t>
            </a:r>
            <a:endParaRPr lang="es-PE" dirty="0"/>
          </a:p>
        </p:txBody>
      </p:sp>
    </p:spTree>
    <p:extLst>
      <p:ext uri="{BB962C8B-B14F-4D97-AF65-F5344CB8AC3E}">
        <p14:creationId xmlns:p14="http://schemas.microsoft.com/office/powerpoint/2010/main" val="2798195332"/>
      </p:ext>
    </p:extLst>
  </p:cSld>
  <p:clrMapOvr>
    <a:masterClrMapping/>
  </p:clrMapOvr>
  <p:extLst>
    <p:ext uri="{DCECCB84-F9BA-43D5-87BE-67443E8EF086}">
      <p15:sldGuideLst xmlns:p15="http://schemas.microsoft.com/office/powerpoint/2012/main">
        <p15:guide id="1" orient="horz" pos="105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btema - 1 Imagen Centrada">
    <p:spTree>
      <p:nvGrpSpPr>
        <p:cNvPr id="1" name=""/>
        <p:cNvGrpSpPr/>
        <p:nvPr/>
      </p:nvGrpSpPr>
      <p:grpSpPr>
        <a:xfrm>
          <a:off x="0" y="0"/>
          <a:ext cx="0" cy="0"/>
          <a:chOff x="0" y="0"/>
          <a:chExt cx="0" cy="0"/>
        </a:xfrm>
      </p:grpSpPr>
      <p:sp>
        <p:nvSpPr>
          <p:cNvPr id="3" name="Marcador de texto 14">
            <a:extLst>
              <a:ext uri="{FF2B5EF4-FFF2-40B4-BE49-F238E27FC236}">
                <a16:creationId xmlns:a16="http://schemas.microsoft.com/office/drawing/2014/main" id="{65683288-FF9D-EF85-5303-58FF571EB5ED}"/>
              </a:ext>
            </a:extLst>
          </p:cNvPr>
          <p:cNvSpPr>
            <a:spLocks noGrp="1"/>
          </p:cNvSpPr>
          <p:nvPr>
            <p:ph type="body" sz="quarter" idx="13" hasCustomPrompt="1"/>
          </p:nvPr>
        </p:nvSpPr>
        <p:spPr>
          <a:xfrm>
            <a:off x="468313" y="277813"/>
            <a:ext cx="8207375" cy="354012"/>
          </a:xfrm>
          <a:prstGeom prst="rect">
            <a:avLst/>
          </a:prstGeom>
        </p:spPr>
        <p:txBody>
          <a:bodyPr lIns="72000" tIns="36000" rIns="72000" bIns="36000"/>
          <a:lstStyle>
            <a:lvl1pPr marL="0" indent="0">
              <a:buNone/>
              <a:defRPr sz="1800" b="1">
                <a:solidFill>
                  <a:srgbClr val="1F85A6"/>
                </a:solidFill>
              </a:defRPr>
            </a:lvl1pPr>
          </a:lstStyle>
          <a:p>
            <a:pPr lvl="0"/>
            <a:r>
              <a:rPr lang="es-ES" dirty="0"/>
              <a:t>HAGA CLIC PARA MODIFICAR LOS ESTILOS DE TEXTO DEL PATRÓN</a:t>
            </a:r>
            <a:endParaRPr lang="es-PE" dirty="0"/>
          </a:p>
        </p:txBody>
      </p:sp>
      <p:sp>
        <p:nvSpPr>
          <p:cNvPr id="5" name="Marcador de posición de imagen 4">
            <a:extLst>
              <a:ext uri="{FF2B5EF4-FFF2-40B4-BE49-F238E27FC236}">
                <a16:creationId xmlns:a16="http://schemas.microsoft.com/office/drawing/2014/main" id="{5F4F4ED8-1EB9-8C4E-58AA-74C396C6650A}"/>
              </a:ext>
            </a:extLst>
          </p:cNvPr>
          <p:cNvSpPr>
            <a:spLocks noGrp="1"/>
          </p:cNvSpPr>
          <p:nvPr>
            <p:ph type="pic" sz="quarter" idx="14"/>
          </p:nvPr>
        </p:nvSpPr>
        <p:spPr>
          <a:xfrm>
            <a:off x="462987" y="804863"/>
            <a:ext cx="8212701" cy="4465637"/>
          </a:xfrm>
          <a:prstGeom prst="rect">
            <a:avLst/>
          </a:prstGeom>
        </p:spPr>
        <p:txBody>
          <a:bodyPr anchor="ctr"/>
          <a:lstStyle>
            <a:lvl1pPr marL="0" indent="0" algn="ctr">
              <a:buNone/>
              <a:defRPr/>
            </a:lvl1pPr>
          </a:lstStyle>
          <a:p>
            <a:endParaRPr lang="es-PE"/>
          </a:p>
        </p:txBody>
      </p:sp>
    </p:spTree>
    <p:extLst>
      <p:ext uri="{BB962C8B-B14F-4D97-AF65-F5344CB8AC3E}">
        <p14:creationId xmlns:p14="http://schemas.microsoft.com/office/powerpoint/2010/main" val="3026187525"/>
      </p:ext>
    </p:extLst>
  </p:cSld>
  <p:clrMapOvr>
    <a:masterClrMapping/>
  </p:clrMapOvr>
  <p:extLst>
    <p:ext uri="{DCECCB84-F9BA-43D5-87BE-67443E8EF086}">
      <p15:sldGuideLst xmlns:p15="http://schemas.microsoft.com/office/powerpoint/2012/main">
        <p15:guide id="1" pos="295" userDrawn="1">
          <p15:clr>
            <a:srgbClr val="FBAE40"/>
          </p15:clr>
        </p15:guide>
        <p15:guide id="2" pos="2880" userDrawn="1">
          <p15:clr>
            <a:srgbClr val="FBAE40"/>
          </p15:clr>
        </p15:guide>
        <p15:guide id="3" pos="5465" userDrawn="1">
          <p15:clr>
            <a:srgbClr val="FBAE40"/>
          </p15:clr>
        </p15:guide>
        <p15:guide id="4" orient="horz" pos="1800" userDrawn="1">
          <p15:clr>
            <a:srgbClr val="FBAE40"/>
          </p15:clr>
        </p15:guide>
        <p15:guide id="5" orient="horz" pos="3320" userDrawn="1">
          <p15:clr>
            <a:srgbClr val="FBAE40"/>
          </p15:clr>
        </p15:guide>
        <p15:guide id="6" orient="horz" pos="507"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4" name="Agrupar 13"/>
          <p:cNvGrpSpPr/>
          <p:nvPr userDrawn="1"/>
        </p:nvGrpSpPr>
        <p:grpSpPr>
          <a:xfrm>
            <a:off x="793745" y="5369051"/>
            <a:ext cx="8104595" cy="215444"/>
            <a:chOff x="793745" y="5369051"/>
            <a:chExt cx="7954689" cy="215444"/>
          </a:xfrm>
        </p:grpSpPr>
        <p:sp>
          <p:nvSpPr>
            <p:cNvPr id="16" name="TextBox 7"/>
            <p:cNvSpPr txBox="1"/>
            <p:nvPr userDrawn="1"/>
          </p:nvSpPr>
          <p:spPr>
            <a:xfrm>
              <a:off x="793745" y="5369051"/>
              <a:ext cx="1605135" cy="215444"/>
            </a:xfrm>
            <a:prstGeom prst="rect">
              <a:avLst/>
            </a:prstGeom>
            <a:noFill/>
          </p:spPr>
          <p:txBody>
            <a:bodyPr wrap="none" rtlCol="0">
              <a:spAutoFit/>
            </a:bodyPr>
            <a:lstStyle/>
            <a:p>
              <a:r>
                <a:rPr lang="en-US" sz="800" kern="1200" dirty="0">
                  <a:solidFill>
                    <a:schemeClr val="bg1">
                      <a:lumMod val="50000"/>
                    </a:schemeClr>
                  </a:solidFill>
                  <a:latin typeface="Calibri"/>
                  <a:ea typeface="+mn-ea"/>
                  <a:cs typeface="Calibri"/>
                  <a:sym typeface="Wingdings"/>
                </a:rPr>
                <a:t>ANÁLISIS FUNCIONAL  </a:t>
              </a:r>
              <a:r>
                <a:rPr lang="en-US" sz="800" dirty="0">
                  <a:solidFill>
                    <a:schemeClr val="bg1">
                      <a:lumMod val="50000"/>
                    </a:schemeClr>
                  </a:solidFill>
                  <a:latin typeface="Calibri"/>
                  <a:ea typeface="Wingdings"/>
                  <a:cs typeface="Calibri"/>
                  <a:sym typeface="Wingdings"/>
                </a:rPr>
                <a:t></a:t>
              </a:r>
              <a:r>
                <a:rPr lang="en-US" sz="800" kern="1200" dirty="0">
                  <a:solidFill>
                    <a:schemeClr val="bg1">
                      <a:lumMod val="50000"/>
                    </a:schemeClr>
                  </a:solidFill>
                  <a:latin typeface="Calibri"/>
                  <a:ea typeface="+mn-ea"/>
                  <a:cs typeface="Calibri"/>
                  <a:sym typeface="Wingdings"/>
                </a:rPr>
                <a:t>  SESIÓN 11</a:t>
              </a:r>
              <a:endParaRPr lang="en-US" sz="800" dirty="0">
                <a:solidFill>
                  <a:schemeClr val="bg1">
                    <a:lumMod val="50000"/>
                  </a:schemeClr>
                </a:solidFill>
                <a:latin typeface="Calibri"/>
                <a:cs typeface="Calibri"/>
              </a:endParaRPr>
            </a:p>
          </p:txBody>
        </p:sp>
        <p:sp>
          <p:nvSpPr>
            <p:cNvPr id="18" name="Rectangle 3"/>
            <p:cNvSpPr/>
            <p:nvPr userDrawn="1"/>
          </p:nvSpPr>
          <p:spPr>
            <a:xfrm>
              <a:off x="7207627" y="5384440"/>
              <a:ext cx="1540807" cy="184666"/>
            </a:xfrm>
            <a:prstGeom prst="rect">
              <a:avLst/>
            </a:prstGeom>
          </p:spPr>
          <p:txBody>
            <a:bodyPr wrap="none">
              <a:spAutoFit/>
            </a:bodyPr>
            <a:lstStyle/>
            <a:p>
              <a:pPr algn="r"/>
              <a:r>
                <a:rPr lang="es-ES_tradnl" sz="600" dirty="0">
                  <a:solidFill>
                    <a:schemeClr val="bg1">
                      <a:lumMod val="50000"/>
                    </a:schemeClr>
                  </a:solidFill>
                </a:rPr>
                <a:t>© 2023 ISIL. Todos los derechos reservados</a:t>
              </a:r>
            </a:p>
          </p:txBody>
        </p:sp>
      </p:grpSp>
      <p:pic>
        <p:nvPicPr>
          <p:cNvPr id="3" name="Imagen 2"/>
          <p:cNvPicPr>
            <a:picLocks noChangeAspect="1"/>
          </p:cNvPicPr>
          <p:nvPr userDrawn="1"/>
        </p:nvPicPr>
        <p:blipFill>
          <a:blip r:embed="rId13">
            <a:alphaModFix amt="20000"/>
          </a:blip>
          <a:stretch>
            <a:fillRect/>
          </a:stretch>
        </p:blipFill>
        <p:spPr>
          <a:xfrm>
            <a:off x="345172" y="5328911"/>
            <a:ext cx="448573" cy="250755"/>
          </a:xfrm>
          <a:prstGeom prst="rect">
            <a:avLst/>
          </a:prstGeom>
        </p:spPr>
      </p:pic>
    </p:spTree>
    <p:extLst>
      <p:ext uri="{BB962C8B-B14F-4D97-AF65-F5344CB8AC3E}">
        <p14:creationId xmlns:p14="http://schemas.microsoft.com/office/powerpoint/2010/main" val="3635932377"/>
      </p:ext>
    </p:extLst>
  </p:cSld>
  <p:clrMap bg1="lt1" tx1="dk1" bg2="lt2" tx2="dk2" accent1="accent1" accent2="accent2" accent3="accent3" accent4="accent4" accent5="accent5" accent6="accent6" hlink="hlink" folHlink="folHlink"/>
  <p:sldLayoutIdLst>
    <p:sldLayoutId id="2147483662" r:id="rId1"/>
    <p:sldLayoutId id="2147483678" r:id="rId2"/>
    <p:sldLayoutId id="2147483656" r:id="rId3"/>
    <p:sldLayoutId id="2147483679" r:id="rId4"/>
    <p:sldLayoutId id="2147483680" r:id="rId5"/>
    <p:sldLayoutId id="2147483692" r:id="rId6"/>
    <p:sldLayoutId id="2147483685" r:id="rId7"/>
    <p:sldLayoutId id="2147483649" r:id="rId8"/>
    <p:sldLayoutId id="2147483669" r:id="rId9"/>
    <p:sldLayoutId id="2147483667" r:id="rId10"/>
    <p:sldLayoutId id="214748369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80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8.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8.xml"/><Relationship Id="rId1" Type="http://schemas.openxmlformats.org/officeDocument/2006/relationships/tags" Target="../tags/tag6.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8.xml"/><Relationship Id="rId1" Type="http://schemas.openxmlformats.org/officeDocument/2006/relationships/tags" Target="../tags/tag7.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8.xml"/><Relationship Id="rId1" Type="http://schemas.openxmlformats.org/officeDocument/2006/relationships/tags" Target="../tags/tag8.xml"/></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8.png"/><Relationship Id="rId7" Type="http://schemas.openxmlformats.org/officeDocument/2006/relationships/diagramColors" Target="../diagrams/colors1.xml"/><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5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8.png"/><Relationship Id="rId7" Type="http://schemas.openxmlformats.org/officeDocument/2006/relationships/diagramColors" Target="../diagrams/colors2.xml"/><Relationship Id="rId2" Type="http://schemas.openxmlformats.org/officeDocument/2006/relationships/notesSlide" Target="../notesSlides/notesSlide54.xml"/><Relationship Id="rId1" Type="http://schemas.openxmlformats.org/officeDocument/2006/relationships/slideLayout" Target="../slideLayouts/slideLayout6.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0.xml"/><Relationship Id="rId1" Type="http://schemas.openxmlformats.org/officeDocument/2006/relationships/tags" Target="../tags/tag9.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9.xml"/><Relationship Id="rId1" Type="http://schemas.openxmlformats.org/officeDocument/2006/relationships/tags" Target="../tags/tag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506064E9-134E-4E79-A41F-706155D9AFFA}"/>
              </a:ext>
            </a:extLst>
          </p:cNvPr>
          <p:cNvSpPr>
            <a:spLocks noGrp="1"/>
          </p:cNvSpPr>
          <p:nvPr>
            <p:ph type="body" sz="quarter" idx="10"/>
          </p:nvPr>
        </p:nvSpPr>
        <p:spPr/>
        <p:txBody>
          <a:bodyPr/>
          <a:lstStyle/>
          <a:p>
            <a:r>
              <a:rPr lang="es-PE" dirty="0"/>
              <a:t>INTELIGENCIA DE NEGOCIOS</a:t>
            </a:r>
          </a:p>
        </p:txBody>
      </p:sp>
      <p:sp>
        <p:nvSpPr>
          <p:cNvPr id="12" name="Marcador de texto 11">
            <a:extLst>
              <a:ext uri="{FF2B5EF4-FFF2-40B4-BE49-F238E27FC236}">
                <a16:creationId xmlns:a16="http://schemas.microsoft.com/office/drawing/2014/main" id="{65D77B8F-E8DB-4946-B4B7-3705AAB2578C}"/>
              </a:ext>
            </a:extLst>
          </p:cNvPr>
          <p:cNvSpPr>
            <a:spLocks noGrp="1"/>
          </p:cNvSpPr>
          <p:nvPr>
            <p:ph type="body" sz="quarter" idx="11"/>
          </p:nvPr>
        </p:nvSpPr>
        <p:spPr/>
        <p:txBody>
          <a:bodyPr/>
          <a:lstStyle/>
          <a:p>
            <a:r>
              <a:rPr lang="es-PE" dirty="0"/>
              <a:t>UNIDAD DE APRENDIZAJE 3 – UA3</a:t>
            </a:r>
          </a:p>
        </p:txBody>
      </p:sp>
      <p:sp>
        <p:nvSpPr>
          <p:cNvPr id="13" name="Marcador de texto 12">
            <a:extLst>
              <a:ext uri="{FF2B5EF4-FFF2-40B4-BE49-F238E27FC236}">
                <a16:creationId xmlns:a16="http://schemas.microsoft.com/office/drawing/2014/main" id="{FA929147-F09B-4398-9DDF-DF2F7FC0C4A6}"/>
              </a:ext>
            </a:extLst>
          </p:cNvPr>
          <p:cNvSpPr>
            <a:spLocks noGrp="1"/>
          </p:cNvSpPr>
          <p:nvPr>
            <p:ph type="body" sz="quarter" idx="12"/>
          </p:nvPr>
        </p:nvSpPr>
        <p:spPr/>
        <p:txBody>
          <a:bodyPr/>
          <a:lstStyle/>
          <a:p>
            <a:pPr>
              <a:spcBef>
                <a:spcPts val="0"/>
              </a:spcBef>
            </a:pPr>
            <a:r>
              <a:rPr lang="es-PE" dirty="0"/>
              <a:t>Conceptos básicos y aplicaciones</a:t>
            </a:r>
          </a:p>
          <a:p>
            <a:pPr>
              <a:spcBef>
                <a:spcPts val="0"/>
              </a:spcBef>
            </a:pPr>
            <a:r>
              <a:rPr lang="es-PE" dirty="0"/>
              <a:t>Indicadores de gestión</a:t>
            </a:r>
          </a:p>
          <a:p>
            <a:pPr>
              <a:spcBef>
                <a:spcPts val="0"/>
              </a:spcBef>
            </a:pPr>
            <a:r>
              <a:rPr lang="es-PE" dirty="0"/>
              <a:t>Arquitectura BI</a:t>
            </a:r>
          </a:p>
          <a:p>
            <a:pPr>
              <a:spcBef>
                <a:spcPts val="0"/>
              </a:spcBef>
            </a:pPr>
            <a:r>
              <a:rPr lang="es-PE" dirty="0"/>
              <a:t>Implementación BI</a:t>
            </a:r>
          </a:p>
          <a:p>
            <a:pPr>
              <a:spcBef>
                <a:spcPts val="0"/>
              </a:spcBef>
            </a:pPr>
            <a:r>
              <a:rPr lang="es-PE" dirty="0"/>
              <a:t>Modelamiento de tableros de control (dashboard) y Balanced Scorecard</a:t>
            </a:r>
          </a:p>
        </p:txBody>
      </p:sp>
      <p:sp>
        <p:nvSpPr>
          <p:cNvPr id="10" name="Marcador de texto 9">
            <a:extLst>
              <a:ext uri="{FF2B5EF4-FFF2-40B4-BE49-F238E27FC236}">
                <a16:creationId xmlns:a16="http://schemas.microsoft.com/office/drawing/2014/main" id="{4E2E57AF-7040-42B2-BA48-4D269F79C484}"/>
              </a:ext>
            </a:extLst>
          </p:cNvPr>
          <p:cNvSpPr>
            <a:spLocks noGrp="1"/>
          </p:cNvSpPr>
          <p:nvPr>
            <p:ph type="body" sz="quarter" idx="13"/>
          </p:nvPr>
        </p:nvSpPr>
        <p:spPr/>
        <p:txBody>
          <a:bodyPr/>
          <a:lstStyle/>
          <a:p>
            <a:r>
              <a:rPr lang="es-PE" dirty="0"/>
              <a:t>11</a:t>
            </a:r>
          </a:p>
        </p:txBody>
      </p:sp>
    </p:spTree>
    <p:extLst>
      <p:ext uri="{BB962C8B-B14F-4D97-AF65-F5344CB8AC3E}">
        <p14:creationId xmlns:p14="http://schemas.microsoft.com/office/powerpoint/2010/main" val="10388673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EDC59F-E03B-4885-ACAE-C9A127998995}"/>
              </a:ext>
            </a:extLst>
          </p:cNvPr>
          <p:cNvSpPr>
            <a:spLocks noGrp="1"/>
          </p:cNvSpPr>
          <p:nvPr>
            <p:ph type="body" sz="quarter" idx="10"/>
          </p:nvPr>
        </p:nvSpPr>
        <p:spPr>
          <a:prstGeom prst="rect">
            <a:avLst/>
          </a:prstGeom>
        </p:spPr>
        <p:txBody>
          <a:bodyPr/>
          <a:lstStyle/>
          <a:p>
            <a:r>
              <a:rPr lang="es-ES" dirty="0"/>
              <a:t>La inteligencia de negocios combina análisis de negocios, minería de datos, visualización de datos, herramientas e infraestructura de datos, y las prácticas recomendadas para ayudar a las organizaciones a tomar decisiones más basadas en los datos.</a:t>
            </a:r>
          </a:p>
          <a:p>
            <a:pPr>
              <a:spcAft>
                <a:spcPts val="600"/>
              </a:spcAft>
            </a:pPr>
            <a:r>
              <a:rPr lang="es-ES" dirty="0"/>
              <a:t>Entonces, durante esta sesión:</a:t>
            </a:r>
          </a:p>
          <a:p>
            <a:pPr lvl="1">
              <a:spcAft>
                <a:spcPts val="600"/>
              </a:spcAft>
            </a:pPr>
            <a:r>
              <a:rPr lang="es-ES" b="1" dirty="0"/>
              <a:t>Conocerás</a:t>
            </a:r>
            <a:r>
              <a:rPr lang="es-ES" dirty="0"/>
              <a:t> los conceptos básicos de la inteligencia de negocios, y sus aplicaciones en un entorno empresarial</a:t>
            </a:r>
            <a:r>
              <a:rPr lang="es-PE" dirty="0"/>
              <a:t>.</a:t>
            </a:r>
          </a:p>
          <a:p>
            <a:pPr lvl="1" algn="just">
              <a:spcAft>
                <a:spcPts val="600"/>
              </a:spcAft>
            </a:pPr>
            <a:r>
              <a:rPr lang="es-ES" b="1" dirty="0"/>
              <a:t>Aprenderás</a:t>
            </a:r>
            <a:r>
              <a:rPr lang="es-ES" dirty="0"/>
              <a:t> a reconocer indicadores de gestión.</a:t>
            </a:r>
          </a:p>
          <a:p>
            <a:pPr lvl="1" algn="just">
              <a:spcAft>
                <a:spcPts val="600"/>
              </a:spcAft>
            </a:pPr>
            <a:r>
              <a:rPr lang="es-ES" b="1" dirty="0"/>
              <a:t>Comprenderás</a:t>
            </a:r>
            <a:r>
              <a:rPr lang="es-ES" dirty="0"/>
              <a:t> la arquitectura de la inteligencia de negocios.</a:t>
            </a:r>
          </a:p>
          <a:p>
            <a:pPr lvl="1" algn="just">
              <a:spcAft>
                <a:spcPts val="600"/>
              </a:spcAft>
            </a:pPr>
            <a:r>
              <a:rPr lang="es-ES" b="1" dirty="0"/>
              <a:t>Aprenderás</a:t>
            </a:r>
            <a:r>
              <a:rPr lang="es-ES" dirty="0"/>
              <a:t> a identificar las principales etapas típicas en la implementación de proyectos de inteligencia de negocios.</a:t>
            </a:r>
          </a:p>
          <a:p>
            <a:pPr lvl="1">
              <a:spcAft>
                <a:spcPts val="600"/>
              </a:spcAft>
            </a:pPr>
            <a:r>
              <a:rPr lang="es-ES" b="1" dirty="0"/>
              <a:t>Conocerás</a:t>
            </a:r>
            <a:r>
              <a:rPr lang="es-ES" dirty="0"/>
              <a:t> el alcance del modelamiento de tableros de control (dashboard) y del Balanced Scorecard.</a:t>
            </a:r>
          </a:p>
          <a:p>
            <a:pPr lvl="1" algn="just">
              <a:spcAft>
                <a:spcPts val="600"/>
              </a:spcAft>
            </a:pPr>
            <a:endParaRPr lang="es-PE" dirty="0"/>
          </a:p>
        </p:txBody>
      </p:sp>
    </p:spTree>
    <p:custDataLst>
      <p:tags r:id="rId1"/>
    </p:custDataLst>
    <p:extLst>
      <p:ext uri="{BB962C8B-B14F-4D97-AF65-F5344CB8AC3E}">
        <p14:creationId xmlns:p14="http://schemas.microsoft.com/office/powerpoint/2010/main" val="301215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p:txBody>
          <a:bodyPr/>
          <a:lstStyle/>
          <a:p>
            <a:pPr marL="274638" indent="-274638">
              <a:tabLst>
                <a:tab pos="274638" algn="l"/>
              </a:tabLst>
            </a:pPr>
            <a:r>
              <a:rPr lang="es-PE" dirty="0"/>
              <a:t>/	CONCEPTOS BÁSICOS Y APLICACIONES</a:t>
            </a:r>
          </a:p>
        </p:txBody>
      </p:sp>
    </p:spTree>
    <p:custDataLst>
      <p:tags r:id="rId1"/>
    </p:custDataLst>
    <p:extLst>
      <p:ext uri="{BB962C8B-B14F-4D97-AF65-F5344CB8AC3E}">
        <p14:creationId xmlns:p14="http://schemas.microsoft.com/office/powerpoint/2010/main" val="3109433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Inteligencia de negocios (BI)</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306887" cy="3155217"/>
          </a:xfrm>
        </p:spPr>
        <p:txBody>
          <a:bodyPr/>
          <a:lstStyle/>
          <a:p>
            <a:r>
              <a:rPr lang="es-ES" i="1" dirty="0"/>
              <a:t>Business Intelligence </a:t>
            </a:r>
            <a:r>
              <a:rPr lang="es-ES" dirty="0"/>
              <a:t>(BI) o Inteligencia de Negocios es un conjunto de estrategias y herramientas centradas en la adquisición y transformación de datos brutos en información significativa y útil para el análisis de negocios. </a:t>
            </a:r>
          </a:p>
          <a:p>
            <a:r>
              <a:rPr lang="es-ES" dirty="0"/>
              <a:t>Esencialmente, los sistemas de BI utilizan datos recopilados de una variedad de fuentes para proporcionar un panorama detallado de la empresa, que puede ayudar a los líderes empresariales a tomar decisiones informadas.</a:t>
            </a:r>
            <a:endParaRPr lang="es-PE" dirty="0"/>
          </a:p>
        </p:txBody>
      </p:sp>
      <p:pic>
        <p:nvPicPr>
          <p:cNvPr id="4" name="Marcador de posición de imagen 3">
            <a:extLst>
              <a:ext uri="{FF2B5EF4-FFF2-40B4-BE49-F238E27FC236}">
                <a16:creationId xmlns:a16="http://schemas.microsoft.com/office/drawing/2014/main" id="{CB7A7278-740F-F714-8B40-47C608C0DFBB}"/>
              </a:ext>
            </a:extLst>
          </p:cNvPr>
          <p:cNvPicPr>
            <a:picLocks noGrp="1" noChangeAspect="1"/>
          </p:cNvPicPr>
          <p:nvPr>
            <p:ph type="pic" sz="quarter" idx="10"/>
          </p:nvPr>
        </p:nvPicPr>
        <p:blipFill>
          <a:blip r:embed="rId3"/>
          <a:srcRect l="234" r="234"/>
          <a:stretch>
            <a:fillRect/>
          </a:stretch>
        </p:blipFill>
        <p:spPr>
          <a:xfrm>
            <a:off x="4909857" y="885336"/>
            <a:ext cx="3771291" cy="4103563"/>
          </a:xfrm>
        </p:spPr>
      </p:pic>
    </p:spTree>
    <p:extLst>
      <p:ext uri="{BB962C8B-B14F-4D97-AF65-F5344CB8AC3E}">
        <p14:creationId xmlns:p14="http://schemas.microsoft.com/office/powerpoint/2010/main" val="19374177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err="1"/>
              <a:t>Datawarehousing</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94456" cy="4111625"/>
          </a:xfrm>
        </p:spPr>
        <p:txBody>
          <a:bodyPr/>
          <a:lstStyle/>
          <a:p>
            <a:r>
              <a:rPr lang="es-ES" dirty="0"/>
              <a:t>Este concepto se refiere a la práctica de almacenar y gestionar datos de diferentes fuentes en un solo repositorio centralizado, llamado almacén de datos.</a:t>
            </a:r>
          </a:p>
          <a:p>
            <a:r>
              <a:rPr lang="es-ES" dirty="0"/>
              <a:t>Los datos son recopilados, limpiados y organizados de manera que puedan ser fácilmente analizados.</a:t>
            </a:r>
          </a:p>
          <a:p>
            <a:pPr>
              <a:spcAft>
                <a:spcPts val="0"/>
              </a:spcAft>
            </a:pPr>
            <a:r>
              <a:rPr lang="es-ES" b="1" u="sng" dirty="0">
                <a:solidFill>
                  <a:srgbClr val="0070C0"/>
                </a:solidFill>
              </a:rPr>
              <a:t>Ejemplo:</a:t>
            </a:r>
            <a:r>
              <a:rPr lang="es-ES" dirty="0">
                <a:solidFill>
                  <a:srgbClr val="0070C0"/>
                </a:solidFill>
              </a:rPr>
              <a:t> </a:t>
            </a:r>
            <a:r>
              <a:rPr lang="es-ES" dirty="0"/>
              <a:t>una empresa de </a:t>
            </a:r>
            <a:r>
              <a:rPr lang="es-ES" i="1" dirty="0"/>
              <a:t>retail</a:t>
            </a:r>
            <a:r>
              <a:rPr lang="es-ES" dirty="0"/>
              <a:t> puede recoger datos de sus tiendas físicas, su sitio web, sus redes sociales, entre otros, y consolidar todos estos datos en un almacén de datos.</a:t>
            </a:r>
          </a:p>
          <a:p>
            <a:pPr marL="266700" lvl="1" indent="0">
              <a:buNone/>
            </a:pPr>
            <a:r>
              <a:rPr lang="es-ES" dirty="0"/>
              <a:t>Esta unificación de la información facilita el análisis de todos estos datos en conjunto y de una manera más eficiente.</a:t>
            </a:r>
          </a:p>
        </p:txBody>
      </p:sp>
      <p:pic>
        <p:nvPicPr>
          <p:cNvPr id="4" name="Marcador de posición de imagen 3">
            <a:extLst>
              <a:ext uri="{FF2B5EF4-FFF2-40B4-BE49-F238E27FC236}">
                <a16:creationId xmlns:a16="http://schemas.microsoft.com/office/drawing/2014/main" id="{9C03A5E4-AD07-BEDC-7027-D22976A66E2A}"/>
              </a:ext>
            </a:extLst>
          </p:cNvPr>
          <p:cNvPicPr>
            <a:picLocks noGrp="1" noChangeAspect="1"/>
          </p:cNvPicPr>
          <p:nvPr>
            <p:ph type="pic" sz="quarter" idx="10"/>
          </p:nvPr>
        </p:nvPicPr>
        <p:blipFill>
          <a:blip r:embed="rId3"/>
          <a:srcRect l="234" r="234"/>
          <a:stretch>
            <a:fillRect/>
          </a:stretch>
        </p:blipFill>
        <p:spPr>
          <a:xfrm>
            <a:off x="5157075" y="1070708"/>
            <a:ext cx="3852319" cy="4191730"/>
          </a:xfrm>
        </p:spPr>
      </p:pic>
    </p:spTree>
    <p:extLst>
      <p:ext uri="{BB962C8B-B14F-4D97-AF65-F5344CB8AC3E}">
        <p14:creationId xmlns:p14="http://schemas.microsoft.com/office/powerpoint/2010/main" val="1051165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Data Mining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2" y="1158876"/>
            <a:ext cx="4353779" cy="2967648"/>
          </a:xfrm>
        </p:spPr>
        <p:txBody>
          <a:bodyPr/>
          <a:lstStyle/>
          <a:p>
            <a:r>
              <a:rPr lang="es-ES" dirty="0"/>
              <a:t>Esta es una técnica que permite a las empresas buscar patrones y conexiones en grandes conjuntos de datos. </a:t>
            </a:r>
          </a:p>
          <a:p>
            <a:r>
              <a:rPr lang="es-ES" dirty="0"/>
              <a:t>A través de la minería de datos se pueden identificar correlaciones o patrones que no son obvios a simple vista.</a:t>
            </a:r>
          </a:p>
          <a:p>
            <a:r>
              <a:rPr lang="es-ES" b="1" u="sng" dirty="0">
                <a:solidFill>
                  <a:srgbClr val="0070C0"/>
                </a:solidFill>
              </a:rPr>
              <a:t>Ejemplo</a:t>
            </a:r>
            <a:r>
              <a:rPr lang="es-ES" b="1" dirty="0">
                <a:solidFill>
                  <a:srgbClr val="0070C0"/>
                </a:solidFill>
              </a:rPr>
              <a:t>: </a:t>
            </a:r>
            <a:r>
              <a:rPr lang="es-ES" dirty="0"/>
              <a:t>un banco podría utilizar la minería de datos para analizar el comportamiento transaccional de sus clientes y detectar patrones que podrían indicar fraude bancario.</a:t>
            </a:r>
          </a:p>
        </p:txBody>
      </p:sp>
      <p:pic>
        <p:nvPicPr>
          <p:cNvPr id="8" name="Marcador de posición de imagen 7">
            <a:extLst>
              <a:ext uri="{FF2B5EF4-FFF2-40B4-BE49-F238E27FC236}">
                <a16:creationId xmlns:a16="http://schemas.microsoft.com/office/drawing/2014/main" id="{E9AC532E-9393-E1FA-CCD2-53B7429D38B1}"/>
              </a:ext>
            </a:extLst>
          </p:cNvPr>
          <p:cNvPicPr>
            <a:picLocks noGrp="1" noChangeAspect="1"/>
          </p:cNvPicPr>
          <p:nvPr>
            <p:ph type="pic" sz="quarter" idx="10"/>
          </p:nvPr>
        </p:nvPicPr>
        <p:blipFill>
          <a:blip r:embed="rId3"/>
          <a:srcRect l="118" r="118"/>
          <a:stretch>
            <a:fillRect/>
          </a:stretch>
        </p:blipFill>
        <p:spPr>
          <a:xfrm>
            <a:off x="4892134" y="824500"/>
            <a:ext cx="4086000" cy="4446000"/>
          </a:xfrm>
        </p:spPr>
      </p:pic>
    </p:spTree>
    <p:extLst>
      <p:ext uri="{BB962C8B-B14F-4D97-AF65-F5344CB8AC3E}">
        <p14:creationId xmlns:p14="http://schemas.microsoft.com/office/powerpoint/2010/main" val="405729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Data visualization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447564" cy="3241187"/>
          </a:xfrm>
        </p:spPr>
        <p:txBody>
          <a:bodyPr/>
          <a:lstStyle/>
          <a:p>
            <a:r>
              <a:rPr lang="es-ES" dirty="0"/>
              <a:t>Este concepto se refiere al uso de gráficos visuales para representar y entender complejas correlaciones de datos y patrones.</a:t>
            </a:r>
          </a:p>
          <a:p>
            <a:r>
              <a:rPr lang="es-ES" dirty="0"/>
              <a:t>Esto puede facilitar la toma de decisiones al simplificar la interpretación de los datos.</a:t>
            </a:r>
          </a:p>
          <a:p>
            <a:r>
              <a:rPr lang="es-ES" b="1" u="sng" dirty="0">
                <a:solidFill>
                  <a:srgbClr val="0070C0"/>
                </a:solidFill>
              </a:rPr>
              <a:t>Ejemplo</a:t>
            </a:r>
            <a:r>
              <a:rPr lang="es-ES" b="1" dirty="0">
                <a:solidFill>
                  <a:srgbClr val="0070C0"/>
                </a:solidFill>
              </a:rPr>
              <a:t>: </a:t>
            </a:r>
            <a:r>
              <a:rPr lang="es-ES" dirty="0"/>
              <a:t>un gerente de ventas podría utilizar un tablero de control (dashboard) con gráficos que muestren las ventas por región, el rendimiento del equipo de ventas, y las tendencias de venta para evaluar el desempeño y planificar estrategias futuras.</a:t>
            </a:r>
          </a:p>
        </p:txBody>
      </p:sp>
      <p:pic>
        <p:nvPicPr>
          <p:cNvPr id="8" name="Marcador de posición de imagen 7">
            <a:extLst>
              <a:ext uri="{FF2B5EF4-FFF2-40B4-BE49-F238E27FC236}">
                <a16:creationId xmlns:a16="http://schemas.microsoft.com/office/drawing/2014/main" id="{A5038FD5-4003-572D-0DA3-E6669F2896AF}"/>
              </a:ext>
            </a:extLst>
          </p:cNvPr>
          <p:cNvPicPr>
            <a:picLocks noGrp="1" noChangeAspect="1"/>
          </p:cNvPicPr>
          <p:nvPr>
            <p:ph type="pic" sz="quarter" idx="10"/>
          </p:nvPr>
        </p:nvPicPr>
        <p:blipFill>
          <a:blip r:embed="rId3"/>
          <a:srcRect l="118" r="118"/>
          <a:stretch>
            <a:fillRect/>
          </a:stretch>
        </p:blipFill>
        <p:spPr>
          <a:xfrm>
            <a:off x="5144318" y="805718"/>
            <a:ext cx="3771291" cy="4103563"/>
          </a:xfrm>
        </p:spPr>
      </p:pic>
    </p:spTree>
    <p:extLst>
      <p:ext uri="{BB962C8B-B14F-4D97-AF65-F5344CB8AC3E}">
        <p14:creationId xmlns:p14="http://schemas.microsoft.com/office/powerpoint/2010/main" val="558891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Predictive analysis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38149" cy="2662848"/>
          </a:xfrm>
        </p:spPr>
        <p:txBody>
          <a:bodyPr/>
          <a:lstStyle/>
          <a:p>
            <a:r>
              <a:rPr lang="es-ES" dirty="0"/>
              <a:t>Se refiere a la utilización de datos, estadísticas, algoritmos de </a:t>
            </a:r>
            <a:r>
              <a:rPr lang="es-ES" i="1" dirty="0"/>
              <a:t>machine learning </a:t>
            </a:r>
            <a:r>
              <a:rPr lang="es-ES" dirty="0"/>
              <a:t>y técnicas de modelado para predecir los resultados futuros basados en datos históricos.</a:t>
            </a:r>
          </a:p>
          <a:p>
            <a:r>
              <a:rPr lang="es-ES" b="1" u="sng" dirty="0">
                <a:solidFill>
                  <a:srgbClr val="0070C0"/>
                </a:solidFill>
              </a:rPr>
              <a:t>Ejemplo:</a:t>
            </a:r>
            <a:r>
              <a:rPr lang="es-ES" dirty="0"/>
              <a:t> una compañía de seguros puede utilizar el análisis predictivo para calcular la probabilidad de que un cliente presente una reclamación, en función de datos demográficos y de comportamiento.</a:t>
            </a:r>
          </a:p>
        </p:txBody>
      </p:sp>
      <p:pic>
        <p:nvPicPr>
          <p:cNvPr id="4" name="Marcador de posición de imagen 3">
            <a:extLst>
              <a:ext uri="{FF2B5EF4-FFF2-40B4-BE49-F238E27FC236}">
                <a16:creationId xmlns:a16="http://schemas.microsoft.com/office/drawing/2014/main" id="{65CFD696-D720-3BA1-B926-994A34BF54AE}"/>
              </a:ext>
            </a:extLst>
          </p:cNvPr>
          <p:cNvPicPr>
            <a:picLocks noGrp="1" noChangeAspect="1"/>
          </p:cNvPicPr>
          <p:nvPr>
            <p:ph type="pic" sz="quarter" idx="10"/>
          </p:nvPr>
        </p:nvPicPr>
        <p:blipFill>
          <a:blip r:embed="rId3"/>
          <a:srcRect l="2" r="2"/>
          <a:stretch>
            <a:fillRect/>
          </a:stretch>
        </p:blipFill>
        <p:spPr>
          <a:xfrm>
            <a:off x="4915580" y="277813"/>
            <a:ext cx="4086000" cy="4446000"/>
          </a:xfrm>
        </p:spPr>
      </p:pic>
    </p:spTree>
    <p:extLst>
      <p:ext uri="{BB962C8B-B14F-4D97-AF65-F5344CB8AC3E}">
        <p14:creationId xmlns:p14="http://schemas.microsoft.com/office/powerpoint/2010/main" val="882279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Reporting</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33533" cy="3045802"/>
          </a:xfrm>
        </p:spPr>
        <p:txBody>
          <a:bodyPr/>
          <a:lstStyle/>
          <a:p>
            <a:r>
              <a:rPr lang="es-ES" dirty="0"/>
              <a:t>Los sistemas de BI son capaces de generar reportes detallados sobre el estado de diferentes aspectos de una empresa. </a:t>
            </a:r>
          </a:p>
          <a:p>
            <a:r>
              <a:rPr lang="es-ES" dirty="0"/>
              <a:t>Estos reportes pueden ser generados de forma regular y automática.</a:t>
            </a:r>
          </a:p>
          <a:p>
            <a:r>
              <a:rPr lang="es-ES" b="1" u="sng" dirty="0">
                <a:solidFill>
                  <a:srgbClr val="0070C0"/>
                </a:solidFill>
              </a:rPr>
              <a:t>Ejemplo:</a:t>
            </a:r>
            <a:r>
              <a:rPr lang="es-ES" dirty="0"/>
              <a:t> el departamento de recursos humanos de una empresa puede generar un reporte mensual que muestre el absentismo laboral, la rotación de personal, el costo de capacitación, entre otros datos relevantes.</a:t>
            </a:r>
          </a:p>
        </p:txBody>
      </p:sp>
      <p:pic>
        <p:nvPicPr>
          <p:cNvPr id="4" name="Marcador de posición de imagen 3">
            <a:extLst>
              <a:ext uri="{FF2B5EF4-FFF2-40B4-BE49-F238E27FC236}">
                <a16:creationId xmlns:a16="http://schemas.microsoft.com/office/drawing/2014/main" id="{ADDBF265-8532-827B-8B11-72F91E42048D}"/>
              </a:ext>
            </a:extLst>
          </p:cNvPr>
          <p:cNvPicPr>
            <a:picLocks noGrp="1" noChangeAspect="1"/>
          </p:cNvPicPr>
          <p:nvPr>
            <p:ph type="pic" sz="quarter" idx="10"/>
          </p:nvPr>
        </p:nvPicPr>
        <p:blipFill>
          <a:blip r:embed="rId3"/>
          <a:srcRect l="20" r="20"/>
          <a:stretch>
            <a:fillRect/>
          </a:stretch>
        </p:blipFill>
        <p:spPr>
          <a:xfrm>
            <a:off x="5290190" y="981869"/>
            <a:ext cx="3500373" cy="3808776"/>
          </a:xfrm>
        </p:spPr>
      </p:pic>
    </p:spTree>
    <p:extLst>
      <p:ext uri="{BB962C8B-B14F-4D97-AF65-F5344CB8AC3E}">
        <p14:creationId xmlns:p14="http://schemas.microsoft.com/office/powerpoint/2010/main" val="1627149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Data quality</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49164" cy="4111625"/>
          </a:xfrm>
        </p:spPr>
        <p:txBody>
          <a:bodyPr/>
          <a:lstStyle/>
          <a:p>
            <a:r>
              <a:rPr lang="es-ES" dirty="0"/>
              <a:t>Este concepto se refiere a la exactitud, integridad, consistencia y fiabilidad de los datos recopilados. </a:t>
            </a:r>
          </a:p>
          <a:p>
            <a:r>
              <a:rPr lang="es-ES" dirty="0"/>
              <a:t>Los datos de alta calidad son esenciales para garantizar que los análisis y decisiones basadas en estos datos sean precisos y eficaces.</a:t>
            </a:r>
          </a:p>
          <a:p>
            <a:pPr>
              <a:spcAft>
                <a:spcPts val="0"/>
              </a:spcAft>
            </a:pPr>
            <a:r>
              <a:rPr lang="es-ES" b="1" u="sng" dirty="0">
                <a:solidFill>
                  <a:srgbClr val="0070C0"/>
                </a:solidFill>
              </a:rPr>
              <a:t>Ejemplo:</a:t>
            </a:r>
            <a:r>
              <a:rPr lang="es-ES" dirty="0"/>
              <a:t> si una empresa de </a:t>
            </a:r>
            <a:r>
              <a:rPr lang="es-ES" i="1" dirty="0"/>
              <a:t>ecommerce </a:t>
            </a:r>
            <a:r>
              <a:rPr lang="es-ES" dirty="0"/>
              <a:t>tiene datos incorrectos o incompletos sobre sus clientes (por ejemplo, direcciones de envío incorrectas), esto puede conducir a envíos fallidos, devoluciones y pérdida de confianza del cliente.</a:t>
            </a:r>
          </a:p>
          <a:p>
            <a:pPr indent="0">
              <a:buNone/>
            </a:pPr>
            <a:r>
              <a:rPr lang="es-ES" dirty="0"/>
              <a:t>Por lo tanto, es esencial tener procesos para verificar y corregir los datos del cliente.</a:t>
            </a:r>
          </a:p>
        </p:txBody>
      </p:sp>
      <p:pic>
        <p:nvPicPr>
          <p:cNvPr id="4" name="Marcador de posición de imagen 3">
            <a:extLst>
              <a:ext uri="{FF2B5EF4-FFF2-40B4-BE49-F238E27FC236}">
                <a16:creationId xmlns:a16="http://schemas.microsoft.com/office/drawing/2014/main" id="{C2915B6B-2D3D-54C2-1DC7-8E3BA2D61523}"/>
              </a:ext>
            </a:extLst>
          </p:cNvPr>
          <p:cNvPicPr>
            <a:picLocks noGrp="1" noChangeAspect="1"/>
          </p:cNvPicPr>
          <p:nvPr>
            <p:ph type="pic" sz="quarter" idx="10"/>
          </p:nvPr>
        </p:nvPicPr>
        <p:blipFill>
          <a:blip r:embed="rId3"/>
          <a:srcRect l="2" r="2"/>
          <a:stretch>
            <a:fillRect/>
          </a:stretch>
        </p:blipFill>
        <p:spPr>
          <a:xfrm>
            <a:off x="5203778" y="981869"/>
            <a:ext cx="3672755" cy="3996346"/>
          </a:xfrm>
        </p:spPr>
      </p:pic>
    </p:spTree>
    <p:extLst>
      <p:ext uri="{BB962C8B-B14F-4D97-AF65-F5344CB8AC3E}">
        <p14:creationId xmlns:p14="http://schemas.microsoft.com/office/powerpoint/2010/main" val="3393640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Competitive intelligence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66395" cy="3436571"/>
          </a:xfrm>
        </p:spPr>
        <p:txBody>
          <a:bodyPr/>
          <a:lstStyle/>
          <a:p>
            <a:r>
              <a:rPr lang="es-ES" dirty="0"/>
              <a:t>Este concepto se refiere al proceso de recopilación y análisis de datos sobre competidores en el mercado. </a:t>
            </a:r>
          </a:p>
          <a:p>
            <a:r>
              <a:rPr lang="es-ES" dirty="0"/>
              <a:t>Esto puede ayudar a las empresas a entender mejor el entorno de negocio, a prever las acciones de los competidores, y a tomar decisiones estratégicas más informadas.</a:t>
            </a:r>
          </a:p>
          <a:p>
            <a:r>
              <a:rPr lang="es-ES" b="1" u="sng" dirty="0">
                <a:solidFill>
                  <a:srgbClr val="0070C0"/>
                </a:solidFill>
              </a:rPr>
              <a:t>Ejemplo:</a:t>
            </a:r>
            <a:r>
              <a:rPr lang="es-ES" dirty="0"/>
              <a:t> un fabricante de </a:t>
            </a:r>
            <a:r>
              <a:rPr lang="es-ES" i="1" dirty="0"/>
              <a:t>smartphones</a:t>
            </a:r>
            <a:r>
              <a:rPr lang="es-ES" dirty="0"/>
              <a:t> puede analizar los nuevos productos y estrategias de </a:t>
            </a:r>
            <a:r>
              <a:rPr lang="es-ES" i="1" dirty="0"/>
              <a:t>marketing</a:t>
            </a:r>
            <a:r>
              <a:rPr lang="es-ES" dirty="0"/>
              <a:t> de sus competidores para anticiparse a las tendencias del mercado y planificar sus propios lanzamientos de productos.</a:t>
            </a:r>
          </a:p>
        </p:txBody>
      </p:sp>
      <p:pic>
        <p:nvPicPr>
          <p:cNvPr id="8" name="Marcador de posición de imagen 7">
            <a:extLst>
              <a:ext uri="{FF2B5EF4-FFF2-40B4-BE49-F238E27FC236}">
                <a16:creationId xmlns:a16="http://schemas.microsoft.com/office/drawing/2014/main" id="{B44047CA-CA13-3C54-DDA6-625CA48A5ABC}"/>
              </a:ext>
            </a:extLst>
          </p:cNvPr>
          <p:cNvPicPr>
            <a:picLocks noGrp="1" noChangeAspect="1"/>
          </p:cNvPicPr>
          <p:nvPr>
            <p:ph type="pic" sz="quarter" idx="10"/>
          </p:nvPr>
        </p:nvPicPr>
        <p:blipFill>
          <a:blip r:embed="rId3"/>
          <a:srcRect l="234" r="234"/>
          <a:stretch>
            <a:fillRect/>
          </a:stretch>
        </p:blipFill>
        <p:spPr>
          <a:xfrm>
            <a:off x="5370533" y="1158875"/>
            <a:ext cx="3482553" cy="3789386"/>
          </a:xfrm>
        </p:spPr>
      </p:pic>
    </p:spTree>
    <p:extLst>
      <p:ext uri="{BB962C8B-B14F-4D97-AF65-F5344CB8AC3E}">
        <p14:creationId xmlns:p14="http://schemas.microsoft.com/office/powerpoint/2010/main" val="1250680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i="1" dirty="0"/>
              <a:t>Business performance management</a:t>
            </a:r>
            <a:endParaRPr lang="es-PE" i="1"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r>
              <a:rPr lang="es-PE" dirty="0"/>
              <a:t>/ CONCEPTOS BÁSICOS Y APLICACIONES</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64795" cy="3538171"/>
          </a:xfrm>
        </p:spPr>
        <p:txBody>
          <a:bodyPr/>
          <a:lstStyle/>
          <a:p>
            <a:r>
              <a:rPr lang="es-ES" dirty="0"/>
              <a:t>Este concepto se refiere al uso de métricas de rendimiento (como indicadores clave de rendimiento o los KPI) para evaluar y mejorar la eficacia de los procesos de negocio.</a:t>
            </a:r>
          </a:p>
          <a:p>
            <a:pPr>
              <a:spcAft>
                <a:spcPts val="0"/>
              </a:spcAft>
            </a:pPr>
            <a:r>
              <a:rPr lang="es-ES" b="1" u="sng" dirty="0">
                <a:solidFill>
                  <a:srgbClr val="0070C0"/>
                </a:solidFill>
              </a:rPr>
              <a:t>Ejemplo:</a:t>
            </a:r>
            <a:r>
              <a:rPr lang="es-ES" dirty="0"/>
              <a:t> un restaurante puede tener KPI que incluyen el tiempo medio de espera para los clientes, la satisfacción del cliente, el costo promedio de los ingredientes por plato, etc. </a:t>
            </a:r>
          </a:p>
          <a:p>
            <a:pPr indent="0">
              <a:buNone/>
            </a:pPr>
            <a:r>
              <a:rPr lang="es-ES" dirty="0"/>
              <a:t>Al monitorizar y analizar estos KPI, el restaurante puede identificar áreas de mejora, como la necesidad de ajustar los horarios del personal durante los picos de demanda o de renegociar los contratos con los proveedores de alimentos.</a:t>
            </a:r>
          </a:p>
        </p:txBody>
      </p:sp>
      <p:pic>
        <p:nvPicPr>
          <p:cNvPr id="4" name="Marcador de posición de imagen 3">
            <a:extLst>
              <a:ext uri="{FF2B5EF4-FFF2-40B4-BE49-F238E27FC236}">
                <a16:creationId xmlns:a16="http://schemas.microsoft.com/office/drawing/2014/main" id="{C45A15BC-D79A-EE13-8E54-D27D01F66D95}"/>
              </a:ext>
            </a:extLst>
          </p:cNvPr>
          <p:cNvPicPr>
            <a:picLocks noGrp="1" noChangeAspect="1"/>
          </p:cNvPicPr>
          <p:nvPr>
            <p:ph type="pic" sz="quarter" idx="10"/>
          </p:nvPr>
        </p:nvPicPr>
        <p:blipFill>
          <a:blip r:embed="rId3"/>
          <a:srcRect l="118" r="118"/>
          <a:stretch>
            <a:fillRect/>
          </a:stretch>
        </p:blipFill>
        <p:spPr>
          <a:xfrm>
            <a:off x="5312850" y="981869"/>
            <a:ext cx="3626205" cy="3945694"/>
          </a:xfrm>
        </p:spPr>
      </p:pic>
    </p:spTree>
    <p:extLst>
      <p:ext uri="{BB962C8B-B14F-4D97-AF65-F5344CB8AC3E}">
        <p14:creationId xmlns:p14="http://schemas.microsoft.com/office/powerpoint/2010/main" val="27531688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450759"/>
          </a:xfrm>
        </p:spPr>
        <p:txBody>
          <a:bodyPr/>
          <a:lstStyle/>
          <a:p>
            <a:pPr marL="274638" indent="-274638">
              <a:tabLst>
                <a:tab pos="274638" algn="l"/>
              </a:tabLst>
            </a:pPr>
            <a:r>
              <a:rPr lang="es-PE" dirty="0"/>
              <a:t>/	INDICADORES DE GESTIÓN</a:t>
            </a:r>
          </a:p>
        </p:txBody>
      </p:sp>
    </p:spTree>
    <p:custDataLst>
      <p:tags r:id="rId1"/>
    </p:custDataLst>
    <p:extLst>
      <p:ext uri="{BB962C8B-B14F-4D97-AF65-F5344CB8AC3E}">
        <p14:creationId xmlns:p14="http://schemas.microsoft.com/office/powerpoint/2010/main" val="1120085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Su importancia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10087" cy="4111625"/>
          </a:xfrm>
        </p:spPr>
        <p:txBody>
          <a:bodyPr/>
          <a:lstStyle/>
          <a:p>
            <a:r>
              <a:rPr lang="es-ES" dirty="0"/>
              <a:t>Los indicadores de gestión, también conocidos como indicadores clave de rendimiento (KPI, por sus siglas en inglés), son métricas que se utilizan para cuantificar el rendimiento de una organización en relación con sus objetivos estratégicos y operativos.</a:t>
            </a:r>
          </a:p>
          <a:p>
            <a:r>
              <a:rPr lang="es-ES" dirty="0"/>
              <a:t>Estos indicadores proporcionan una forma de medir el progreso hacia los objetivos y ayudan a los líderes empresariales a tomar decisiones informadas.</a:t>
            </a:r>
          </a:p>
          <a:p>
            <a:r>
              <a:rPr lang="es-ES" dirty="0"/>
              <a:t>Los KPI pueden ser financieros, como la rentabilidad o el retorno de la inversión, o no financieros, como la satisfacción del cliente o la eficiencia operativa.</a:t>
            </a:r>
          </a:p>
        </p:txBody>
      </p:sp>
      <p:pic>
        <p:nvPicPr>
          <p:cNvPr id="4" name="Marcador de posición de imagen 3">
            <a:extLst>
              <a:ext uri="{FF2B5EF4-FFF2-40B4-BE49-F238E27FC236}">
                <a16:creationId xmlns:a16="http://schemas.microsoft.com/office/drawing/2014/main" id="{34ACF0F7-A259-B423-87E3-D0E12BA7EE94}"/>
              </a:ext>
            </a:extLst>
          </p:cNvPr>
          <p:cNvPicPr>
            <a:picLocks noGrp="1" noChangeAspect="1"/>
          </p:cNvPicPr>
          <p:nvPr>
            <p:ph type="pic" sz="quarter" idx="10"/>
          </p:nvPr>
        </p:nvPicPr>
        <p:blipFill>
          <a:blip r:embed="rId3"/>
          <a:srcRect l="2" r="2"/>
          <a:stretch>
            <a:fillRect/>
          </a:stretch>
        </p:blipFill>
        <p:spPr>
          <a:xfrm>
            <a:off x="5267157" y="1158875"/>
            <a:ext cx="3593746" cy="3910376"/>
          </a:xfrm>
        </p:spPr>
      </p:pic>
    </p:spTree>
    <p:extLst>
      <p:ext uri="{BB962C8B-B14F-4D97-AF65-F5344CB8AC3E}">
        <p14:creationId xmlns:p14="http://schemas.microsoft.com/office/powerpoint/2010/main" val="3388190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Los KPI típicos en una organización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546467" y="1158875"/>
            <a:ext cx="4345964" cy="4111625"/>
          </a:xfrm>
        </p:spPr>
        <p:txBody>
          <a:bodyPr/>
          <a:lstStyle/>
          <a:p>
            <a:r>
              <a:rPr lang="es-ES" dirty="0"/>
              <a:t>Cada empresa puede tener sus propios KPI, dependiendo de su industria, estrategia y objetivos específicos. </a:t>
            </a:r>
          </a:p>
          <a:p>
            <a:r>
              <a:rPr lang="es-ES" dirty="0"/>
              <a:t>Es importante que los KPI sean medibles, relevantes y estén alineados con los objetivos de la empresa.</a:t>
            </a:r>
          </a:p>
          <a:p>
            <a:pPr>
              <a:spcAft>
                <a:spcPts val="600"/>
              </a:spcAft>
            </a:pPr>
            <a:r>
              <a:rPr lang="es-ES" dirty="0"/>
              <a:t>Algunos KPI típicos son los siguientes:</a:t>
            </a:r>
          </a:p>
          <a:p>
            <a:pPr lvl="1">
              <a:spcAft>
                <a:spcPts val="600"/>
              </a:spcAft>
            </a:pPr>
            <a:r>
              <a:rPr lang="es-ES" dirty="0"/>
              <a:t>rentabilidad</a:t>
            </a:r>
          </a:p>
          <a:p>
            <a:pPr lvl="1">
              <a:spcAft>
                <a:spcPts val="600"/>
              </a:spcAft>
            </a:pPr>
            <a:r>
              <a:rPr lang="es-ES" dirty="0"/>
              <a:t>eficiencia operativa</a:t>
            </a:r>
          </a:p>
          <a:p>
            <a:pPr lvl="1">
              <a:spcAft>
                <a:spcPts val="600"/>
              </a:spcAft>
            </a:pPr>
            <a:r>
              <a:rPr lang="es-ES" dirty="0"/>
              <a:t>satisfacción del cliente</a:t>
            </a:r>
          </a:p>
          <a:p>
            <a:pPr lvl="1">
              <a:spcAft>
                <a:spcPts val="600"/>
              </a:spcAft>
            </a:pPr>
            <a:r>
              <a:rPr lang="es-ES" dirty="0"/>
              <a:t>rotación de empleados</a:t>
            </a:r>
          </a:p>
          <a:p>
            <a:pPr lvl="1"/>
            <a:r>
              <a:rPr lang="es-ES" dirty="0"/>
              <a:t>cuota de mercado</a:t>
            </a:r>
          </a:p>
        </p:txBody>
      </p:sp>
      <p:pic>
        <p:nvPicPr>
          <p:cNvPr id="4" name="Marcador de posición de imagen 3">
            <a:extLst>
              <a:ext uri="{FF2B5EF4-FFF2-40B4-BE49-F238E27FC236}">
                <a16:creationId xmlns:a16="http://schemas.microsoft.com/office/drawing/2014/main" id="{AA9D782F-47BF-5295-7133-3D36B2DC6C5A}"/>
              </a:ext>
            </a:extLst>
          </p:cNvPr>
          <p:cNvPicPr>
            <a:picLocks noGrp="1" noChangeAspect="1"/>
          </p:cNvPicPr>
          <p:nvPr>
            <p:ph type="pic" sz="quarter" idx="10"/>
          </p:nvPr>
        </p:nvPicPr>
        <p:blipFill>
          <a:blip r:embed="rId3"/>
          <a:srcRect l="20" r="20"/>
          <a:stretch>
            <a:fillRect/>
          </a:stretch>
        </p:blipFill>
        <p:spPr>
          <a:xfrm>
            <a:off x="5161437" y="1072658"/>
            <a:ext cx="3699465" cy="4025409"/>
          </a:xfrm>
        </p:spPr>
      </p:pic>
    </p:spTree>
    <p:extLst>
      <p:ext uri="{BB962C8B-B14F-4D97-AF65-F5344CB8AC3E}">
        <p14:creationId xmlns:p14="http://schemas.microsoft.com/office/powerpoint/2010/main" val="1390891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Rentabilidad neta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86641" cy="3553802"/>
          </a:xfrm>
        </p:spPr>
        <p:txBody>
          <a:bodyPr/>
          <a:lstStyle/>
          <a:p>
            <a:r>
              <a:rPr lang="es-ES" dirty="0"/>
              <a:t>Mide la ganancia neta de una empresa después de deducir todos los gastos, incluyendo impuestos y costos operativos.</a:t>
            </a:r>
          </a:p>
          <a:p>
            <a:r>
              <a:rPr lang="es-ES" dirty="0"/>
              <a:t>Es un indicador clave de la eficiencia financiera de una empresa.</a:t>
            </a:r>
          </a:p>
          <a:p>
            <a:r>
              <a:rPr lang="es-ES" dirty="0"/>
              <a:t>Su fórmula es la siguientes:</a:t>
            </a:r>
          </a:p>
          <a:p>
            <a:pPr marL="0" indent="0">
              <a:buNone/>
            </a:pPr>
            <a:r>
              <a:rPr lang="es-ES" dirty="0"/>
              <a:t>Rentabilidad Neta = ((Ingresos Totales - Gastos Totales) / Ingresos Totales) * 100</a:t>
            </a:r>
          </a:p>
          <a:p>
            <a:r>
              <a:rPr lang="es-ES" dirty="0"/>
              <a:t>Ejemplo: si una empresa tiene ingresos totales de $1,000,000 y gastos totales de $800,000, su rentabilidad neta sería: (($1,000,000 - $800,000) / $1,000,000) * 100 = 20 %</a:t>
            </a:r>
          </a:p>
          <a:p>
            <a:pPr lvl="1"/>
            <a:endParaRPr lang="es-ES" dirty="0"/>
          </a:p>
        </p:txBody>
      </p:sp>
      <p:pic>
        <p:nvPicPr>
          <p:cNvPr id="4" name="Marcador de posición de imagen 3">
            <a:extLst>
              <a:ext uri="{FF2B5EF4-FFF2-40B4-BE49-F238E27FC236}">
                <a16:creationId xmlns:a16="http://schemas.microsoft.com/office/drawing/2014/main" id="{6145426D-18C3-D2FD-6D4E-D799F7EED56D}"/>
              </a:ext>
            </a:extLst>
          </p:cNvPr>
          <p:cNvPicPr>
            <a:picLocks noGrp="1" noChangeAspect="1"/>
          </p:cNvPicPr>
          <p:nvPr>
            <p:ph type="pic" sz="quarter" idx="10"/>
          </p:nvPr>
        </p:nvPicPr>
        <p:blipFill>
          <a:blip r:embed="rId3"/>
          <a:srcRect l="118" r="118"/>
          <a:stretch>
            <a:fillRect/>
          </a:stretch>
        </p:blipFill>
        <p:spPr>
          <a:xfrm>
            <a:off x="5244123" y="1093466"/>
            <a:ext cx="3694934" cy="4020479"/>
          </a:xfrm>
        </p:spPr>
      </p:pic>
    </p:spTree>
    <p:extLst>
      <p:ext uri="{BB962C8B-B14F-4D97-AF65-F5344CB8AC3E}">
        <p14:creationId xmlns:p14="http://schemas.microsoft.com/office/powerpoint/2010/main" val="588361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Margen bruto de ganancia</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830518" cy="3751262"/>
          </a:xfrm>
        </p:spPr>
        <p:txBody>
          <a:bodyPr/>
          <a:lstStyle/>
          <a:p>
            <a:r>
              <a:rPr lang="es-ES" dirty="0"/>
              <a:t>Mide la rentabilidad de los productos o servicios de una empresa antes de tener en cuenta los gastos operativos. </a:t>
            </a:r>
          </a:p>
          <a:p>
            <a:r>
              <a:rPr lang="es-ES" dirty="0"/>
              <a:t>Es un indicador clave de la eficiencia de la producción y la fijación de precios.</a:t>
            </a:r>
          </a:p>
          <a:p>
            <a:r>
              <a:rPr lang="es-ES" dirty="0"/>
              <a:t>Su fórmula es la siguiente:</a:t>
            </a:r>
          </a:p>
          <a:p>
            <a:pPr marL="0" indent="0">
              <a:buNone/>
            </a:pPr>
            <a:r>
              <a:rPr lang="es-ES" dirty="0"/>
              <a:t> Margen Bruto de Ganancia = ((Ingresos Totales - Costo de los Bienes Vendidos) / Ingresos Totales) * 100</a:t>
            </a:r>
          </a:p>
          <a:p>
            <a:r>
              <a:rPr lang="es-ES" dirty="0"/>
              <a:t>Ejemplo: si una empresa tiene ingresos totales de $500,000 y el costo de los bienes vendidos es de $200,000, su margen bruto de ganancia sería: (($500,000 - $200,000) / $500,000) * 100 = 60 %</a:t>
            </a:r>
          </a:p>
          <a:p>
            <a:pPr lvl="1"/>
            <a:endParaRPr lang="es-ES" dirty="0"/>
          </a:p>
        </p:txBody>
      </p:sp>
      <p:pic>
        <p:nvPicPr>
          <p:cNvPr id="4" name="Marcador de posición de imagen 3">
            <a:extLst>
              <a:ext uri="{FF2B5EF4-FFF2-40B4-BE49-F238E27FC236}">
                <a16:creationId xmlns:a16="http://schemas.microsoft.com/office/drawing/2014/main" id="{21E86DA5-9CF7-566B-E1BE-5341B22674B2}"/>
              </a:ext>
            </a:extLst>
          </p:cNvPr>
          <p:cNvPicPr>
            <a:picLocks noGrp="1" noChangeAspect="1"/>
          </p:cNvPicPr>
          <p:nvPr>
            <p:ph type="pic" sz="quarter" idx="10"/>
          </p:nvPr>
        </p:nvPicPr>
        <p:blipFill>
          <a:blip r:embed="rId3"/>
          <a:srcRect l="340" r="340"/>
          <a:stretch>
            <a:fillRect/>
          </a:stretch>
        </p:blipFill>
        <p:spPr>
          <a:xfrm>
            <a:off x="5574183" y="1163760"/>
            <a:ext cx="3349539" cy="3644653"/>
          </a:xfrm>
        </p:spPr>
      </p:pic>
    </p:spTree>
    <p:extLst>
      <p:ext uri="{BB962C8B-B14F-4D97-AF65-F5344CB8AC3E}">
        <p14:creationId xmlns:p14="http://schemas.microsoft.com/office/powerpoint/2010/main" val="850430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Rotación de inventario</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627318" cy="3751262"/>
          </a:xfrm>
        </p:spPr>
        <p:txBody>
          <a:bodyPr/>
          <a:lstStyle/>
          <a:p>
            <a:r>
              <a:rPr lang="es-ES" dirty="0"/>
              <a:t>Mide la cantidad de veces que una empresa ha vendido y reemplazado su inventario durante un periodo determinado. </a:t>
            </a:r>
          </a:p>
          <a:p>
            <a:r>
              <a:rPr lang="es-ES" dirty="0"/>
              <a:t>Es un indicador clave de la eficiencia de la gestión del inventario.</a:t>
            </a:r>
          </a:p>
          <a:p>
            <a:r>
              <a:rPr lang="es-ES" dirty="0"/>
              <a:t>Su fórmula es la siguiente: </a:t>
            </a:r>
          </a:p>
          <a:p>
            <a:pPr marL="0" indent="0">
              <a:buNone/>
            </a:pPr>
            <a:r>
              <a:rPr lang="es-ES" dirty="0"/>
              <a:t>Rotación de Inventario = Costo de los Bienes Vendidos / Promedio de Inventario</a:t>
            </a:r>
          </a:p>
          <a:p>
            <a:r>
              <a:rPr lang="es-ES" dirty="0"/>
              <a:t>Ejemplo: si el costo de los bienes vendidos es de $200,000 y el promedio de inventario es de $50,000, la rotación de inventario sería: $200,000 / $50,000 = 4 veces</a:t>
            </a:r>
          </a:p>
          <a:p>
            <a:pPr lvl="1"/>
            <a:endParaRPr lang="es-ES" dirty="0"/>
          </a:p>
        </p:txBody>
      </p:sp>
      <p:pic>
        <p:nvPicPr>
          <p:cNvPr id="4" name="Marcador de posición de imagen 3">
            <a:extLst>
              <a:ext uri="{FF2B5EF4-FFF2-40B4-BE49-F238E27FC236}">
                <a16:creationId xmlns:a16="http://schemas.microsoft.com/office/drawing/2014/main" id="{5A61DDEA-64FF-D917-3347-B80F9D420E3E}"/>
              </a:ext>
            </a:extLst>
          </p:cNvPr>
          <p:cNvPicPr>
            <a:picLocks noGrp="1" noChangeAspect="1"/>
          </p:cNvPicPr>
          <p:nvPr>
            <p:ph type="pic" sz="quarter" idx="10"/>
          </p:nvPr>
        </p:nvPicPr>
        <p:blipFill>
          <a:blip r:embed="rId3"/>
          <a:srcRect l="20" r="20"/>
          <a:stretch>
            <a:fillRect/>
          </a:stretch>
        </p:blipFill>
        <p:spPr>
          <a:xfrm>
            <a:off x="5253201" y="1039445"/>
            <a:ext cx="3701485" cy="4027607"/>
          </a:xfrm>
        </p:spPr>
      </p:pic>
    </p:spTree>
    <p:extLst>
      <p:ext uri="{BB962C8B-B14F-4D97-AF65-F5344CB8AC3E}">
        <p14:creationId xmlns:p14="http://schemas.microsoft.com/office/powerpoint/2010/main" val="1926744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Tasa de conversión</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744549" cy="3366233"/>
          </a:xfrm>
        </p:spPr>
        <p:txBody>
          <a:bodyPr/>
          <a:lstStyle/>
          <a:p>
            <a:r>
              <a:rPr lang="es-ES" dirty="0"/>
              <a:t>En un contexto de ventas, mide la cantidad de prospectos que se convierten en clientes. </a:t>
            </a:r>
          </a:p>
          <a:p>
            <a:r>
              <a:rPr lang="es-ES" dirty="0"/>
              <a:t>Es un indicador clave de la eficacia de las estrategias de ventas y </a:t>
            </a:r>
            <a:r>
              <a:rPr lang="es-ES" i="1" dirty="0"/>
              <a:t>marketing.</a:t>
            </a:r>
          </a:p>
          <a:p>
            <a:r>
              <a:rPr lang="es-ES" dirty="0"/>
              <a:t>Su fórmula es la siguiente: </a:t>
            </a:r>
          </a:p>
          <a:p>
            <a:pPr marL="0" indent="0">
              <a:buNone/>
            </a:pPr>
            <a:r>
              <a:rPr lang="es-ES" dirty="0"/>
              <a:t>Tasa de Conversión = (Número de Conversiones / Número de Prospectos) * 100</a:t>
            </a:r>
          </a:p>
          <a:p>
            <a:r>
              <a:rPr lang="es-ES" dirty="0"/>
              <a:t>Ejemplo: si una empresa tiene 100 prospectos y 20 de ellos se convierten en clientes, la tasa de conversión sería: (20 / 100) * 100 = 20 %</a:t>
            </a:r>
          </a:p>
          <a:p>
            <a:pPr lvl="1"/>
            <a:endParaRPr lang="es-ES" dirty="0"/>
          </a:p>
        </p:txBody>
      </p:sp>
      <p:pic>
        <p:nvPicPr>
          <p:cNvPr id="4" name="Marcador de posición de imagen 3">
            <a:extLst>
              <a:ext uri="{FF2B5EF4-FFF2-40B4-BE49-F238E27FC236}">
                <a16:creationId xmlns:a16="http://schemas.microsoft.com/office/drawing/2014/main" id="{9F5F7D9B-7C98-91AA-0838-19C6C9809A7E}"/>
              </a:ext>
            </a:extLst>
          </p:cNvPr>
          <p:cNvPicPr>
            <a:picLocks noGrp="1" noChangeAspect="1"/>
          </p:cNvPicPr>
          <p:nvPr>
            <p:ph type="pic" sz="quarter" idx="10"/>
          </p:nvPr>
        </p:nvPicPr>
        <p:blipFill>
          <a:blip r:embed="rId3"/>
          <a:srcRect l="2" r="2"/>
          <a:stretch>
            <a:fillRect/>
          </a:stretch>
        </p:blipFill>
        <p:spPr>
          <a:xfrm>
            <a:off x="5386917" y="981869"/>
            <a:ext cx="3622477" cy="3941638"/>
          </a:xfrm>
        </p:spPr>
      </p:pic>
    </p:spTree>
    <p:extLst>
      <p:ext uri="{BB962C8B-B14F-4D97-AF65-F5344CB8AC3E}">
        <p14:creationId xmlns:p14="http://schemas.microsoft.com/office/powerpoint/2010/main" val="4029123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Satisfacción del cliente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INDICADORES DE GESTIÓN</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41349" cy="2991094"/>
          </a:xfrm>
        </p:spPr>
        <p:txBody>
          <a:bodyPr/>
          <a:lstStyle/>
          <a:p>
            <a:r>
              <a:rPr lang="es-ES" dirty="0"/>
              <a:t>Mide el grado de satisfacción de los clientes con los productos o servicios de una empresa. </a:t>
            </a:r>
          </a:p>
          <a:p>
            <a:r>
              <a:rPr lang="es-ES" dirty="0"/>
              <a:t>Aunque no hay una fórmula estándar para medir la satisfacción del cliente, a menudo se utiliza una encuesta de satisfacción del cliente para recopilar estos datos.</a:t>
            </a:r>
          </a:p>
          <a:p>
            <a:r>
              <a:rPr lang="es-ES" dirty="0"/>
              <a:t>Ejemplo: una empresa puede utilizar una escala de 1 a 10 para medir la satisfacción del cliente. Si la puntuación media de la encuesta es de 8, esto indica un alto nivel de satisfacción del cliente.</a:t>
            </a:r>
          </a:p>
          <a:p>
            <a:pPr lvl="1"/>
            <a:endParaRPr lang="es-ES" dirty="0"/>
          </a:p>
        </p:txBody>
      </p:sp>
      <p:pic>
        <p:nvPicPr>
          <p:cNvPr id="4" name="Marcador de posición de imagen 3">
            <a:extLst>
              <a:ext uri="{FF2B5EF4-FFF2-40B4-BE49-F238E27FC236}">
                <a16:creationId xmlns:a16="http://schemas.microsoft.com/office/drawing/2014/main" id="{D2AA26E9-155A-69FB-C24C-F04BC6230292}"/>
              </a:ext>
            </a:extLst>
          </p:cNvPr>
          <p:cNvPicPr>
            <a:picLocks noGrp="1" noChangeAspect="1"/>
          </p:cNvPicPr>
          <p:nvPr>
            <p:ph type="pic" sz="quarter" idx="10"/>
          </p:nvPr>
        </p:nvPicPr>
        <p:blipFill>
          <a:blip r:embed="rId3"/>
          <a:srcRect t="202" b="202"/>
          <a:stretch>
            <a:fillRect/>
          </a:stretch>
        </p:blipFill>
        <p:spPr>
          <a:xfrm>
            <a:off x="5253835" y="1078521"/>
            <a:ext cx="3708668" cy="4035423"/>
          </a:xfrm>
        </p:spPr>
      </p:pic>
    </p:spTree>
    <p:extLst>
      <p:ext uri="{BB962C8B-B14F-4D97-AF65-F5344CB8AC3E}">
        <p14:creationId xmlns:p14="http://schemas.microsoft.com/office/powerpoint/2010/main" val="932007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521097"/>
          </a:xfrm>
        </p:spPr>
        <p:txBody>
          <a:bodyPr/>
          <a:lstStyle/>
          <a:p>
            <a:pPr marL="274638" indent="-274638">
              <a:tabLst>
                <a:tab pos="274638" algn="l"/>
              </a:tabLst>
            </a:pPr>
            <a:r>
              <a:rPr lang="es-PE" dirty="0"/>
              <a:t>/	ARQUITECTURA BI</a:t>
            </a:r>
          </a:p>
        </p:txBody>
      </p:sp>
    </p:spTree>
    <p:custDataLst>
      <p:tags r:id="rId1"/>
    </p:custDataLst>
    <p:extLst>
      <p:ext uri="{BB962C8B-B14F-4D97-AF65-F5344CB8AC3E}">
        <p14:creationId xmlns:p14="http://schemas.microsoft.com/office/powerpoint/2010/main" val="372125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854817" cy="3751262"/>
          </a:xfrm>
        </p:spPr>
        <p:txBody>
          <a:bodyPr/>
          <a:lstStyle/>
          <a:p>
            <a:r>
              <a:rPr lang="es-ES" dirty="0"/>
              <a:t>Es un marco de referencia que proporciona </a:t>
            </a:r>
            <a:r>
              <a:rPr lang="es-ES" b="1" dirty="0"/>
              <a:t>una estructura</a:t>
            </a:r>
            <a:r>
              <a:rPr lang="es-ES" dirty="0"/>
              <a:t> para el diseño e implementación de soluciones de inteligencia empresarial.</a:t>
            </a:r>
          </a:p>
          <a:p>
            <a:r>
              <a:rPr lang="es-ES" dirty="0"/>
              <a:t>Se utiliza para recopilar, integrar, analizar y presentar datos empresariales de manera efectiva, permitiendo a las organizaciones tomar decisiones informadas y estratégicas.</a:t>
            </a:r>
          </a:p>
          <a:p>
            <a:pPr>
              <a:spcAft>
                <a:spcPts val="600"/>
              </a:spcAft>
            </a:pPr>
            <a:r>
              <a:rPr lang="es-ES" dirty="0"/>
              <a:t>Abarca componentes que se pueden agrupar en tres perspectivas principales:</a:t>
            </a:r>
          </a:p>
          <a:p>
            <a:pPr lvl="1">
              <a:spcAft>
                <a:spcPts val="600"/>
              </a:spcAft>
            </a:pPr>
            <a:r>
              <a:rPr lang="es-ES" b="1" dirty="0">
                <a:solidFill>
                  <a:srgbClr val="FF0000"/>
                </a:solidFill>
              </a:rPr>
              <a:t>Perspectiva de datos,</a:t>
            </a:r>
          </a:p>
          <a:p>
            <a:pPr lvl="1">
              <a:spcAft>
                <a:spcPts val="600"/>
              </a:spcAft>
            </a:pPr>
            <a:r>
              <a:rPr lang="es-ES" b="1" dirty="0">
                <a:solidFill>
                  <a:srgbClr val="558ED5"/>
                </a:solidFill>
              </a:rPr>
              <a:t>Perspectiva técnica, y</a:t>
            </a:r>
          </a:p>
          <a:p>
            <a:pPr lvl="1"/>
            <a:r>
              <a:rPr lang="es-ES" b="1" dirty="0">
                <a:solidFill>
                  <a:srgbClr val="C00000"/>
                </a:solidFill>
              </a:rPr>
              <a:t>Perspectiva de usuarios</a:t>
            </a:r>
            <a:r>
              <a:rPr lang="es-ES" dirty="0"/>
              <a:t>.</a:t>
            </a:r>
          </a:p>
        </p:txBody>
      </p:sp>
      <p:pic>
        <p:nvPicPr>
          <p:cNvPr id="8" name="Marcador de posición de imagen 7">
            <a:extLst>
              <a:ext uri="{FF2B5EF4-FFF2-40B4-BE49-F238E27FC236}">
                <a16:creationId xmlns:a16="http://schemas.microsoft.com/office/drawing/2014/main" id="{0983A4C5-ECC8-C73C-36CD-6DE4DD0E78BA}"/>
              </a:ext>
            </a:extLst>
          </p:cNvPr>
          <p:cNvPicPr>
            <a:picLocks noGrp="1" noChangeAspect="1"/>
          </p:cNvPicPr>
          <p:nvPr>
            <p:ph type="pic" sz="quarter" idx="10"/>
          </p:nvPr>
        </p:nvPicPr>
        <p:blipFill>
          <a:blip r:embed="rId3"/>
          <a:srcRect t="96" b="96"/>
          <a:stretch>
            <a:fillRect/>
          </a:stretch>
        </p:blipFill>
        <p:spPr>
          <a:xfrm>
            <a:off x="5323130" y="1055077"/>
            <a:ext cx="3608112" cy="3926007"/>
          </a:xfrm>
        </p:spPr>
      </p:pic>
    </p:spTree>
    <p:extLst>
      <p:ext uri="{BB962C8B-B14F-4D97-AF65-F5344CB8AC3E}">
        <p14:creationId xmlns:p14="http://schemas.microsoft.com/office/powerpoint/2010/main" val="12617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FF0000"/>
                </a:solidFill>
              </a:rPr>
              <a:t>Perspectiva de datos </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41349" cy="3931675"/>
          </a:xfrm>
        </p:spPr>
        <p:txBody>
          <a:bodyPr/>
          <a:lstStyle/>
          <a:p>
            <a:pPr>
              <a:spcAft>
                <a:spcPts val="600"/>
              </a:spcAft>
            </a:pPr>
            <a:r>
              <a:rPr lang="es-ES" b="1" dirty="0"/>
              <a:t>Fuentes de datos</a:t>
            </a:r>
          </a:p>
          <a:p>
            <a:pPr marL="265113" lvl="1" indent="0">
              <a:buNone/>
            </a:pPr>
            <a:r>
              <a:rPr lang="es-ES" dirty="0"/>
              <a:t>Las organizaciones pueden tener múltiples fuentes de datos internas y externas, como bases de datos transaccionales, sistemas ERP (Enterprise Resource Planning), sistemas CRM (Customer Relationship Management), archivos planos, datos en la nube, redes sociales, entre otros.</a:t>
            </a:r>
          </a:p>
          <a:p>
            <a:pPr>
              <a:spcAft>
                <a:spcPts val="600"/>
              </a:spcAft>
            </a:pPr>
            <a:r>
              <a:rPr lang="es-ES" b="1" dirty="0"/>
              <a:t>Extracción, Transformación y Carga (ETL)</a:t>
            </a:r>
          </a:p>
          <a:p>
            <a:pPr marL="265113" lvl="1" indent="0">
              <a:spcAft>
                <a:spcPts val="0"/>
              </a:spcAft>
              <a:buNone/>
            </a:pPr>
            <a:r>
              <a:rPr lang="es-ES" dirty="0"/>
              <a:t>Este proceso implica extraer datos de diversas fuentes, transformarlos a un formato adecuado y cargarlos en un almacén de datos centralizado.</a:t>
            </a:r>
          </a:p>
          <a:p>
            <a:pPr marL="265113" lvl="1" indent="0">
              <a:buNone/>
            </a:pPr>
            <a:r>
              <a:rPr lang="es-ES" dirty="0"/>
              <a:t>Las herramientas de ETL se utilizan para realizar estas tareas de manera eficiente.</a:t>
            </a:r>
          </a:p>
        </p:txBody>
      </p:sp>
      <p:pic>
        <p:nvPicPr>
          <p:cNvPr id="15" name="Marcador de posición de imagen 14">
            <a:extLst>
              <a:ext uri="{FF2B5EF4-FFF2-40B4-BE49-F238E27FC236}">
                <a16:creationId xmlns:a16="http://schemas.microsoft.com/office/drawing/2014/main" id="{1C121DF2-13D6-78EE-BE65-E8A4399333A3}"/>
              </a:ext>
            </a:extLst>
          </p:cNvPr>
          <p:cNvPicPr>
            <a:picLocks noGrp="1" noChangeAspect="1"/>
          </p:cNvPicPr>
          <p:nvPr>
            <p:ph type="pic" sz="quarter" idx="10"/>
          </p:nvPr>
        </p:nvPicPr>
        <p:blipFill>
          <a:blip r:embed="rId3"/>
          <a:srcRect l="2" r="2"/>
          <a:stretch>
            <a:fillRect/>
          </a:stretch>
        </p:blipFill>
        <p:spPr>
          <a:xfrm>
            <a:off x="5329015" y="1068900"/>
            <a:ext cx="3696010" cy="4021650"/>
          </a:xfrm>
        </p:spPr>
      </p:pic>
    </p:spTree>
    <p:extLst>
      <p:ext uri="{BB962C8B-B14F-4D97-AF65-F5344CB8AC3E}">
        <p14:creationId xmlns:p14="http://schemas.microsoft.com/office/powerpoint/2010/main" val="2424590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FF0000"/>
                </a:solidFill>
              </a:rPr>
              <a:t>Perspectiva de datos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72610" cy="3933823"/>
          </a:xfrm>
        </p:spPr>
        <p:txBody>
          <a:bodyPr/>
          <a:lstStyle/>
          <a:p>
            <a:pPr>
              <a:spcAft>
                <a:spcPts val="600"/>
              </a:spcAft>
            </a:pPr>
            <a:r>
              <a:rPr lang="es-ES" b="1" dirty="0"/>
              <a:t>Almacén de datos</a:t>
            </a:r>
            <a:endParaRPr lang="es-ES" dirty="0"/>
          </a:p>
          <a:p>
            <a:pPr marL="265113" lvl="1" indent="0">
              <a:spcAft>
                <a:spcPts val="0"/>
              </a:spcAft>
              <a:buNone/>
            </a:pPr>
            <a:r>
              <a:rPr lang="es-ES" dirty="0"/>
              <a:t>Es una base de datos optimizada para consultas y análisis. Almacena datos históricos y consolidados de varias fuentes.</a:t>
            </a:r>
          </a:p>
          <a:p>
            <a:pPr marL="265113" lvl="1" indent="0">
              <a:buNone/>
            </a:pPr>
            <a:r>
              <a:rPr lang="es-ES" dirty="0"/>
              <a:t>Puede seguir un modelo dimensional (esquema estrella o copo de nieve), para facilitar el análisis y la recuperación de datos.</a:t>
            </a:r>
          </a:p>
          <a:p>
            <a:pPr>
              <a:spcAft>
                <a:spcPts val="600"/>
              </a:spcAft>
            </a:pPr>
            <a:r>
              <a:rPr lang="es-ES" b="1" i="1" dirty="0"/>
              <a:t>Data Mart</a:t>
            </a:r>
            <a:endParaRPr lang="es-ES" i="1" dirty="0"/>
          </a:p>
          <a:p>
            <a:pPr marL="265113" lvl="1" indent="0">
              <a:spcAft>
                <a:spcPts val="0"/>
              </a:spcAft>
              <a:buNone/>
            </a:pPr>
            <a:r>
              <a:rPr lang="es-ES" dirty="0"/>
              <a:t>Es una vista específica del almacén de datos, diseñada para satisfacer las necesidades de un grupo de usuarios o un departamento en particular.</a:t>
            </a:r>
          </a:p>
          <a:p>
            <a:pPr marL="265113" lvl="1" indent="0">
              <a:buNone/>
            </a:pPr>
            <a:r>
              <a:rPr lang="es-ES" dirty="0"/>
              <a:t>Brinda datos preprocesados y estructurados para un análisis más rápido y centrado.</a:t>
            </a:r>
          </a:p>
        </p:txBody>
      </p:sp>
      <p:pic>
        <p:nvPicPr>
          <p:cNvPr id="4" name="Marcador de posición de imagen 3">
            <a:extLst>
              <a:ext uri="{FF2B5EF4-FFF2-40B4-BE49-F238E27FC236}">
                <a16:creationId xmlns:a16="http://schemas.microsoft.com/office/drawing/2014/main" id="{1CC3E9A2-A9D2-48D3-EAE9-0CD726DC07CC}"/>
              </a:ext>
            </a:extLst>
          </p:cNvPr>
          <p:cNvPicPr>
            <a:picLocks noGrp="1" noChangeAspect="1"/>
          </p:cNvPicPr>
          <p:nvPr>
            <p:ph type="pic" sz="quarter" idx="10"/>
          </p:nvPr>
        </p:nvPicPr>
        <p:blipFill>
          <a:blip r:embed="rId3"/>
          <a:srcRect l="2" r="2"/>
          <a:stretch>
            <a:fillRect/>
          </a:stretch>
        </p:blipFill>
        <p:spPr>
          <a:xfrm>
            <a:off x="5308130" y="1258275"/>
            <a:ext cx="3615295" cy="3933823"/>
          </a:xfrm>
        </p:spPr>
      </p:pic>
    </p:spTree>
    <p:extLst>
      <p:ext uri="{BB962C8B-B14F-4D97-AF65-F5344CB8AC3E}">
        <p14:creationId xmlns:p14="http://schemas.microsoft.com/office/powerpoint/2010/main" val="2520177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FF0000"/>
                </a:solidFill>
              </a:rPr>
              <a:t>Perspectiva de datos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2" y="1158875"/>
            <a:ext cx="4666395" cy="2021987"/>
          </a:xfrm>
        </p:spPr>
        <p:txBody>
          <a:bodyPr/>
          <a:lstStyle/>
          <a:p>
            <a:pPr>
              <a:spcAft>
                <a:spcPts val="600"/>
              </a:spcAft>
            </a:pPr>
            <a:r>
              <a:rPr lang="es-ES" b="1" i="1" dirty="0"/>
              <a:t>Data Lake</a:t>
            </a:r>
            <a:endParaRPr lang="es-ES" i="1" dirty="0"/>
          </a:p>
          <a:p>
            <a:pPr marL="265113" lvl="1" indent="0">
              <a:spcAft>
                <a:spcPts val="0"/>
              </a:spcAft>
              <a:buNone/>
            </a:pPr>
            <a:r>
              <a:rPr lang="es-ES" dirty="0"/>
              <a:t>Es un repositorio centralizado de datos sin  procesar y sin estructurar que almacena datos en su formato original.</a:t>
            </a:r>
          </a:p>
          <a:p>
            <a:pPr marL="265113" lvl="1" indent="0">
              <a:buNone/>
            </a:pPr>
            <a:r>
              <a:rPr lang="es-ES" dirty="0"/>
              <a:t>Permite un acceso rápido y flexible a datos no estructurados y semiestructurados para análisis avanzados y exploración de datos.</a:t>
            </a:r>
          </a:p>
        </p:txBody>
      </p:sp>
      <p:pic>
        <p:nvPicPr>
          <p:cNvPr id="8" name="Marcador de posición de imagen 7">
            <a:extLst>
              <a:ext uri="{FF2B5EF4-FFF2-40B4-BE49-F238E27FC236}">
                <a16:creationId xmlns:a16="http://schemas.microsoft.com/office/drawing/2014/main" id="{00678A50-B4C9-E83E-5ABE-ECB84ECF2A73}"/>
              </a:ext>
            </a:extLst>
          </p:cNvPr>
          <p:cNvPicPr>
            <a:picLocks noGrp="1" noChangeAspect="1"/>
          </p:cNvPicPr>
          <p:nvPr>
            <p:ph type="pic" sz="quarter" idx="10"/>
          </p:nvPr>
        </p:nvPicPr>
        <p:blipFill>
          <a:blip r:embed="rId3"/>
          <a:srcRect l="2" r="2"/>
          <a:stretch>
            <a:fillRect/>
          </a:stretch>
        </p:blipFill>
        <p:spPr>
          <a:xfrm>
            <a:off x="5412895" y="1078523"/>
            <a:ext cx="3651208" cy="3972900"/>
          </a:xfrm>
        </p:spPr>
      </p:pic>
    </p:spTree>
    <p:extLst>
      <p:ext uri="{BB962C8B-B14F-4D97-AF65-F5344CB8AC3E}">
        <p14:creationId xmlns:p14="http://schemas.microsoft.com/office/powerpoint/2010/main" val="71998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558ED5"/>
                </a:solidFill>
              </a:rPr>
              <a:t>Perspectiva técnica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pic>
        <p:nvPicPr>
          <p:cNvPr id="5" name="Marcador de posición de imagen 4">
            <a:extLst>
              <a:ext uri="{FF2B5EF4-FFF2-40B4-BE49-F238E27FC236}">
                <a16:creationId xmlns:a16="http://schemas.microsoft.com/office/drawing/2014/main" id="{58809873-2878-FEC2-FF52-FE6C73B3226E}"/>
              </a:ext>
            </a:extLst>
          </p:cNvPr>
          <p:cNvPicPr>
            <a:picLocks noGrp="1" noChangeAspect="1"/>
          </p:cNvPicPr>
          <p:nvPr>
            <p:ph type="pic" sz="quarter" idx="10"/>
          </p:nvPr>
        </p:nvPicPr>
        <p:blipFill>
          <a:blip r:embed="rId3"/>
          <a:srcRect l="2" r="2"/>
          <a:stretch>
            <a:fillRect/>
          </a:stretch>
        </p:blipFill>
        <p:spPr>
          <a:xfrm>
            <a:off x="5392435" y="1080721"/>
            <a:ext cx="3601626" cy="3918950"/>
          </a:xfrm>
        </p:spPr>
      </p:pic>
      <p:sp>
        <p:nvSpPr>
          <p:cNvPr id="4" name="Marcador de texto 3">
            <a:extLst>
              <a:ext uri="{FF2B5EF4-FFF2-40B4-BE49-F238E27FC236}">
                <a16:creationId xmlns:a16="http://schemas.microsoft.com/office/drawing/2014/main" id="{F61059FB-2379-E7C7-9515-3BB6824CCAB4}"/>
              </a:ext>
            </a:extLst>
          </p:cNvPr>
          <p:cNvSpPr>
            <a:spLocks noGrp="1"/>
          </p:cNvSpPr>
          <p:nvPr>
            <p:ph type="body" sz="quarter" idx="14"/>
          </p:nvPr>
        </p:nvSpPr>
        <p:spPr>
          <a:xfrm>
            <a:off x="468313" y="1158876"/>
            <a:ext cx="4767995" cy="3751262"/>
          </a:xfrm>
        </p:spPr>
        <p:txBody>
          <a:bodyPr/>
          <a:lstStyle/>
          <a:p>
            <a:pPr>
              <a:spcAft>
                <a:spcPts val="600"/>
              </a:spcAft>
            </a:pPr>
            <a:r>
              <a:rPr lang="es-ES" b="1" dirty="0"/>
              <a:t>Procesamiento y modelado de datos</a:t>
            </a:r>
            <a:endParaRPr lang="es-ES" dirty="0"/>
          </a:p>
          <a:p>
            <a:pPr marL="265113" lvl="1" indent="0">
              <a:spcAft>
                <a:spcPts val="0"/>
              </a:spcAft>
              <a:buNone/>
            </a:pPr>
            <a:r>
              <a:rPr lang="es-ES" dirty="0"/>
              <a:t>Implica el diseño y desarrollo de modelos de datos que representan la estructura lógica y las relaciones entre los datos.</a:t>
            </a:r>
          </a:p>
          <a:p>
            <a:pPr marL="265113" lvl="1" indent="0">
              <a:buNone/>
            </a:pPr>
            <a:r>
              <a:rPr lang="es-ES" dirty="0"/>
              <a:t>Puede incluir la creación de cubos OLAP (Online Analytical Processing) y modelos de minería de datos para análisis avanzados.</a:t>
            </a:r>
          </a:p>
          <a:p>
            <a:pPr>
              <a:spcAft>
                <a:spcPts val="600"/>
              </a:spcAft>
            </a:pPr>
            <a:r>
              <a:rPr lang="es-ES" b="1" dirty="0"/>
              <a:t>Herramientas de visualización y análisis</a:t>
            </a:r>
            <a:endParaRPr lang="es-ES" dirty="0"/>
          </a:p>
          <a:p>
            <a:pPr marL="265113" lvl="1" indent="0">
              <a:spcAft>
                <a:spcPts val="0"/>
              </a:spcAft>
              <a:buNone/>
            </a:pPr>
            <a:r>
              <a:rPr lang="es-ES" dirty="0"/>
              <a:t>Estas herramientas permiten a los usuarios explorar y visualizar datos de manera interactiva. </a:t>
            </a:r>
          </a:p>
          <a:p>
            <a:pPr marL="265113" lvl="1" indent="0">
              <a:buNone/>
            </a:pPr>
            <a:r>
              <a:rPr lang="es-ES" dirty="0"/>
              <a:t>Los informes, los paneles de control y los gráficos interactivos son ejemplos de las capacidades que ofrecen estas herramientas.</a:t>
            </a:r>
            <a:endParaRPr lang="es-PE" dirty="0"/>
          </a:p>
        </p:txBody>
      </p:sp>
    </p:spTree>
    <p:extLst>
      <p:ext uri="{BB962C8B-B14F-4D97-AF65-F5344CB8AC3E}">
        <p14:creationId xmlns:p14="http://schemas.microsoft.com/office/powerpoint/2010/main" val="3529583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558ED5"/>
                </a:solidFill>
              </a:rPr>
              <a:t>Perspectiva técnica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pic>
        <p:nvPicPr>
          <p:cNvPr id="5" name="Marcador de posición de imagen 4">
            <a:extLst>
              <a:ext uri="{FF2B5EF4-FFF2-40B4-BE49-F238E27FC236}">
                <a16:creationId xmlns:a16="http://schemas.microsoft.com/office/drawing/2014/main" id="{A9F933AC-23FD-8DAE-5354-92E476B2E7B1}"/>
              </a:ext>
            </a:extLst>
          </p:cNvPr>
          <p:cNvPicPr>
            <a:picLocks noGrp="1" noChangeAspect="1"/>
          </p:cNvPicPr>
          <p:nvPr>
            <p:ph type="pic" sz="quarter" idx="10"/>
          </p:nvPr>
        </p:nvPicPr>
        <p:blipFill>
          <a:blip r:embed="rId3"/>
          <a:srcRect l="2" r="2"/>
          <a:stretch>
            <a:fillRect/>
          </a:stretch>
        </p:blipFill>
        <p:spPr>
          <a:xfrm>
            <a:off x="5421343" y="981869"/>
            <a:ext cx="3658390" cy="3980715"/>
          </a:xfrm>
        </p:spPr>
      </p:pic>
      <p:sp>
        <p:nvSpPr>
          <p:cNvPr id="4" name="Marcador de texto 3">
            <a:extLst>
              <a:ext uri="{FF2B5EF4-FFF2-40B4-BE49-F238E27FC236}">
                <a16:creationId xmlns:a16="http://schemas.microsoft.com/office/drawing/2014/main" id="{F61059FB-2379-E7C7-9515-3BB6824CCAB4}"/>
              </a:ext>
            </a:extLst>
          </p:cNvPr>
          <p:cNvSpPr>
            <a:spLocks noGrp="1"/>
          </p:cNvSpPr>
          <p:nvPr>
            <p:ph type="body" sz="quarter" idx="14"/>
          </p:nvPr>
        </p:nvSpPr>
        <p:spPr>
          <a:xfrm>
            <a:off x="468313" y="1158876"/>
            <a:ext cx="4822702" cy="3751262"/>
          </a:xfrm>
        </p:spPr>
        <p:txBody>
          <a:bodyPr/>
          <a:lstStyle/>
          <a:p>
            <a:pPr>
              <a:spcAft>
                <a:spcPts val="600"/>
              </a:spcAft>
            </a:pPr>
            <a:r>
              <a:rPr lang="es-ES" b="1" dirty="0"/>
              <a:t>Motor de consulta</a:t>
            </a:r>
            <a:endParaRPr lang="es-ES" dirty="0"/>
          </a:p>
          <a:p>
            <a:pPr marL="265113" lvl="1" indent="0">
              <a:spcAft>
                <a:spcPts val="0"/>
              </a:spcAft>
              <a:buNone/>
            </a:pPr>
            <a:r>
              <a:rPr lang="es-ES" dirty="0"/>
              <a:t>Es responsable de ejecutar consultas y proporcionar resultados basados en las solicitudes de los usuarios.</a:t>
            </a:r>
          </a:p>
          <a:p>
            <a:pPr marL="265113" lvl="1" indent="0">
              <a:buNone/>
            </a:pPr>
            <a:r>
              <a:rPr lang="es-ES" dirty="0"/>
              <a:t>Puede aprovechar tecnologías como SQL (Structured Query Language) o motores de procesamiento en memoria para una recuperación rápida de datos.</a:t>
            </a:r>
          </a:p>
          <a:p>
            <a:pPr>
              <a:spcAft>
                <a:spcPts val="600"/>
              </a:spcAft>
            </a:pPr>
            <a:r>
              <a:rPr lang="es-ES" b="1" dirty="0"/>
              <a:t>Seguridad y gestión de acceso</a:t>
            </a:r>
            <a:endParaRPr lang="es-ES" dirty="0"/>
          </a:p>
          <a:p>
            <a:pPr marL="265113" lvl="1" indent="0">
              <a:spcAft>
                <a:spcPts val="0"/>
              </a:spcAft>
              <a:buNone/>
            </a:pPr>
            <a:r>
              <a:rPr lang="es-ES" dirty="0"/>
              <a:t>La arquitectura BI debe incluir medidas de seguridad para proteger los datos y garantizar que solo los usuarios autorizados tengan acceso a la información relevante. </a:t>
            </a:r>
          </a:p>
          <a:p>
            <a:pPr marL="265113" lvl="1" indent="0">
              <a:buNone/>
            </a:pPr>
            <a:r>
              <a:rPr lang="es-ES" dirty="0"/>
              <a:t>Esto implica la autenticación, la autorización y el cifrado de datos sensibles.</a:t>
            </a:r>
            <a:endParaRPr lang="es-PE" dirty="0"/>
          </a:p>
        </p:txBody>
      </p:sp>
    </p:spTree>
    <p:extLst>
      <p:ext uri="{BB962C8B-B14F-4D97-AF65-F5344CB8AC3E}">
        <p14:creationId xmlns:p14="http://schemas.microsoft.com/office/powerpoint/2010/main" val="172749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C00000"/>
                </a:solidFill>
              </a:rPr>
              <a:t>Perspectiva de usuarios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pic>
        <p:nvPicPr>
          <p:cNvPr id="4" name="Marcador de posición de imagen 3">
            <a:extLst>
              <a:ext uri="{FF2B5EF4-FFF2-40B4-BE49-F238E27FC236}">
                <a16:creationId xmlns:a16="http://schemas.microsoft.com/office/drawing/2014/main" id="{852ED752-9DDB-DB6E-0839-9E45C9456983}"/>
              </a:ext>
            </a:extLst>
          </p:cNvPr>
          <p:cNvPicPr>
            <a:picLocks noGrp="1" noChangeAspect="1"/>
          </p:cNvPicPr>
          <p:nvPr>
            <p:ph type="pic" sz="quarter" idx="10"/>
          </p:nvPr>
        </p:nvPicPr>
        <p:blipFill>
          <a:blip r:embed="rId3"/>
          <a:srcRect l="2" r="2"/>
          <a:stretch>
            <a:fillRect/>
          </a:stretch>
        </p:blipFill>
        <p:spPr>
          <a:xfrm>
            <a:off x="5593348" y="1039445"/>
            <a:ext cx="3550652" cy="3863485"/>
          </a:xfrm>
        </p:spPr>
      </p:pic>
      <p:sp>
        <p:nvSpPr>
          <p:cNvPr id="5" name="Marcador de texto 4">
            <a:extLst>
              <a:ext uri="{FF2B5EF4-FFF2-40B4-BE49-F238E27FC236}">
                <a16:creationId xmlns:a16="http://schemas.microsoft.com/office/drawing/2014/main" id="{5A287AD4-6615-502E-DEF3-419B9B60458B}"/>
              </a:ext>
            </a:extLst>
          </p:cNvPr>
          <p:cNvSpPr>
            <a:spLocks noGrp="1"/>
          </p:cNvSpPr>
          <p:nvPr>
            <p:ph type="body" sz="quarter" idx="14"/>
          </p:nvPr>
        </p:nvSpPr>
        <p:spPr>
          <a:xfrm>
            <a:off x="468313" y="1158876"/>
            <a:ext cx="4775810" cy="3751262"/>
          </a:xfrm>
        </p:spPr>
        <p:txBody>
          <a:bodyPr/>
          <a:lstStyle/>
          <a:p>
            <a:pPr>
              <a:spcAft>
                <a:spcPts val="600"/>
              </a:spcAft>
            </a:pPr>
            <a:r>
              <a:rPr lang="es-ES" b="1" dirty="0"/>
              <a:t>Informes y paneles de control</a:t>
            </a:r>
            <a:endParaRPr lang="es-ES" dirty="0"/>
          </a:p>
          <a:p>
            <a:pPr marL="265113" lvl="1" indent="0">
              <a:spcAft>
                <a:spcPts val="0"/>
              </a:spcAft>
              <a:buNone/>
            </a:pPr>
            <a:r>
              <a:rPr lang="es-ES" dirty="0"/>
              <a:t>Los informes proporcionan datos estructurados en forma de tablas, gráficos y métricas clave para respaldar la toma de decisiones. </a:t>
            </a:r>
          </a:p>
          <a:p>
            <a:pPr marL="265113" lvl="1" indent="0">
              <a:buNone/>
            </a:pPr>
            <a:r>
              <a:rPr lang="es-ES" dirty="0"/>
              <a:t>Los paneles de control ofrecen una visión general de los indicadores clave de rendimiento (KPI) en tiempo real.</a:t>
            </a:r>
          </a:p>
          <a:p>
            <a:pPr>
              <a:spcAft>
                <a:spcPts val="600"/>
              </a:spcAft>
            </a:pPr>
            <a:r>
              <a:rPr lang="es-ES" b="1" dirty="0"/>
              <a:t>Análisis ad hoc</a:t>
            </a:r>
            <a:endParaRPr lang="es-ES" dirty="0"/>
          </a:p>
          <a:p>
            <a:pPr marL="265113" lvl="1" indent="0">
              <a:spcAft>
                <a:spcPts val="0"/>
              </a:spcAft>
              <a:buNone/>
            </a:pPr>
            <a:r>
              <a:rPr lang="es-ES" dirty="0"/>
              <a:t>Permite a los usuarios explorar datos y realizar análisis personalizados según sus necesidades. </a:t>
            </a:r>
          </a:p>
          <a:p>
            <a:pPr marL="265113" lvl="1" indent="0">
              <a:buNone/>
            </a:pPr>
            <a:r>
              <a:rPr lang="es-ES" dirty="0"/>
              <a:t>Esto implica la capacidad de filtrar, agrupar y segmentar datos para obtener información más detallada.</a:t>
            </a:r>
            <a:endParaRPr lang="es-PE" dirty="0"/>
          </a:p>
        </p:txBody>
      </p:sp>
    </p:spTree>
    <p:extLst>
      <p:ext uri="{BB962C8B-B14F-4D97-AF65-F5344CB8AC3E}">
        <p14:creationId xmlns:p14="http://schemas.microsoft.com/office/powerpoint/2010/main" val="1109608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solidFill>
                  <a:srgbClr val="C00000"/>
                </a:solidFill>
              </a:rPr>
              <a:t>Perspectiva de usuarios</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ARQUITECTURA BI</a:t>
            </a:r>
          </a:p>
        </p:txBody>
      </p:sp>
      <p:pic>
        <p:nvPicPr>
          <p:cNvPr id="4" name="Marcador de posición de imagen 3">
            <a:extLst>
              <a:ext uri="{FF2B5EF4-FFF2-40B4-BE49-F238E27FC236}">
                <a16:creationId xmlns:a16="http://schemas.microsoft.com/office/drawing/2014/main" id="{6EF17A44-C370-DB66-85FD-90386D0E4C36}"/>
              </a:ext>
            </a:extLst>
          </p:cNvPr>
          <p:cNvPicPr>
            <a:picLocks noGrp="1" noChangeAspect="1"/>
          </p:cNvPicPr>
          <p:nvPr>
            <p:ph type="pic" sz="quarter" idx="10"/>
          </p:nvPr>
        </p:nvPicPr>
        <p:blipFill>
          <a:blip r:embed="rId3"/>
          <a:srcRect l="118" r="118"/>
          <a:stretch>
            <a:fillRect/>
          </a:stretch>
        </p:blipFill>
        <p:spPr>
          <a:xfrm>
            <a:off x="5439316" y="949204"/>
            <a:ext cx="3507556" cy="3816592"/>
          </a:xfrm>
        </p:spPr>
      </p:pic>
      <p:sp>
        <p:nvSpPr>
          <p:cNvPr id="5" name="Marcador de texto 4">
            <a:extLst>
              <a:ext uri="{FF2B5EF4-FFF2-40B4-BE49-F238E27FC236}">
                <a16:creationId xmlns:a16="http://schemas.microsoft.com/office/drawing/2014/main" id="{5A287AD4-6615-502E-DEF3-419B9B60458B}"/>
              </a:ext>
            </a:extLst>
          </p:cNvPr>
          <p:cNvSpPr>
            <a:spLocks noGrp="1"/>
          </p:cNvSpPr>
          <p:nvPr>
            <p:ph type="body" sz="quarter" idx="14"/>
          </p:nvPr>
        </p:nvSpPr>
        <p:spPr>
          <a:xfrm>
            <a:off x="468313" y="1158876"/>
            <a:ext cx="4760179" cy="3751262"/>
          </a:xfrm>
        </p:spPr>
        <p:txBody>
          <a:bodyPr/>
          <a:lstStyle/>
          <a:p>
            <a:pPr>
              <a:spcAft>
                <a:spcPts val="600"/>
              </a:spcAft>
            </a:pPr>
            <a:r>
              <a:rPr lang="es-ES" b="1" dirty="0"/>
              <a:t>Minería de datos</a:t>
            </a:r>
            <a:endParaRPr lang="es-ES" dirty="0"/>
          </a:p>
          <a:p>
            <a:pPr marL="265113" lvl="1" indent="0">
              <a:buNone/>
            </a:pPr>
            <a:r>
              <a:rPr lang="es-ES" dirty="0"/>
              <a:t>Los usuarios pueden aplicar técnicas de minería de datos para descubrir patrones ocultos, tendencias y relaciones en los datos. Esto puede ayudar a identificar oportunidades de negocio y predecir resultados futuros.</a:t>
            </a:r>
          </a:p>
          <a:p>
            <a:pPr>
              <a:spcAft>
                <a:spcPts val="600"/>
              </a:spcAft>
            </a:pPr>
            <a:r>
              <a:rPr lang="es-ES" b="1" dirty="0"/>
              <a:t>Colaboración y distribución</a:t>
            </a:r>
            <a:endParaRPr lang="es-ES" dirty="0"/>
          </a:p>
          <a:p>
            <a:pPr marL="265113" lvl="1" indent="0">
              <a:buNone/>
            </a:pPr>
            <a:r>
              <a:rPr lang="es-ES" dirty="0"/>
              <a:t>La arquitectura BI debe admitir la colaboración entre los usuarios, lo que permite compartir informes, paneles de control y conocimientos con otros miembros de la organización. Además, debe ser posible distribuir la información a través de diferentes canales.</a:t>
            </a:r>
          </a:p>
          <a:p>
            <a:endParaRPr lang="es-PE" dirty="0"/>
          </a:p>
        </p:txBody>
      </p:sp>
    </p:spTree>
    <p:extLst>
      <p:ext uri="{BB962C8B-B14F-4D97-AF65-F5344CB8AC3E}">
        <p14:creationId xmlns:p14="http://schemas.microsoft.com/office/powerpoint/2010/main" val="114826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714841"/>
            <a:ext cx="5543549" cy="505467"/>
          </a:xfrm>
        </p:spPr>
        <p:txBody>
          <a:bodyPr/>
          <a:lstStyle/>
          <a:p>
            <a:pPr marL="274638" indent="-274638">
              <a:tabLst>
                <a:tab pos="274638" algn="l"/>
              </a:tabLst>
            </a:pPr>
            <a:r>
              <a:rPr lang="es-PE" dirty="0"/>
              <a:t>/	IMPLEMENTACIÓN BI</a:t>
            </a:r>
          </a:p>
        </p:txBody>
      </p:sp>
    </p:spTree>
    <p:custDataLst>
      <p:tags r:id="rId1"/>
    </p:custDataLst>
    <p:extLst>
      <p:ext uri="{BB962C8B-B14F-4D97-AF65-F5344CB8AC3E}">
        <p14:creationId xmlns:p14="http://schemas.microsoft.com/office/powerpoint/2010/main" val="2429486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¿En qué consiste?</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2" y="1158875"/>
            <a:ext cx="4658579" cy="4111625"/>
          </a:xfrm>
        </p:spPr>
        <p:txBody>
          <a:bodyPr/>
          <a:lstStyle/>
          <a:p>
            <a:r>
              <a:rPr lang="es-ES" dirty="0"/>
              <a:t>Se refiere al proceso de configurar y desplegar soluciones tecnológicas y estrategias relacionadas para recopilar, almacenar, analizar y presentar datos empresariales, para obtener información valiosa y tomar decisiones informadas.</a:t>
            </a:r>
          </a:p>
          <a:p>
            <a:pPr>
              <a:spcAft>
                <a:spcPts val="600"/>
              </a:spcAft>
            </a:pPr>
            <a:r>
              <a:rPr lang="es-ES" dirty="0"/>
              <a:t>Implica varias etapas y componentes:</a:t>
            </a:r>
          </a:p>
          <a:p>
            <a:pPr lvl="1">
              <a:spcAft>
                <a:spcPts val="600"/>
              </a:spcAft>
            </a:pPr>
            <a:r>
              <a:rPr lang="es-ES" dirty="0"/>
              <a:t>Extracción, transformación y carga de datos (ETL).</a:t>
            </a:r>
          </a:p>
          <a:p>
            <a:pPr lvl="1">
              <a:spcAft>
                <a:spcPts val="600"/>
              </a:spcAft>
            </a:pPr>
            <a:r>
              <a:rPr lang="es-ES" dirty="0"/>
              <a:t>Almacén de datos.</a:t>
            </a:r>
          </a:p>
          <a:p>
            <a:pPr lvl="1">
              <a:spcAft>
                <a:spcPts val="600"/>
              </a:spcAft>
            </a:pPr>
            <a:r>
              <a:rPr lang="es-ES" dirty="0"/>
              <a:t>Modelado de datos.</a:t>
            </a:r>
          </a:p>
          <a:p>
            <a:pPr lvl="1">
              <a:spcAft>
                <a:spcPts val="600"/>
              </a:spcAft>
            </a:pPr>
            <a:r>
              <a:rPr lang="es-ES" dirty="0"/>
              <a:t>Herramientas de análisis.</a:t>
            </a:r>
          </a:p>
          <a:p>
            <a:pPr lvl="1">
              <a:spcAft>
                <a:spcPts val="600"/>
              </a:spcAft>
            </a:pPr>
            <a:r>
              <a:rPr lang="es-ES" dirty="0"/>
              <a:t>Distribución de información.</a:t>
            </a:r>
          </a:p>
          <a:p>
            <a:pPr lvl="1"/>
            <a:r>
              <a:rPr lang="es-ES" dirty="0"/>
              <a:t>Gobierno y gestión.</a:t>
            </a:r>
          </a:p>
        </p:txBody>
      </p:sp>
      <p:pic>
        <p:nvPicPr>
          <p:cNvPr id="4" name="Marcador de posición de imagen 3">
            <a:extLst>
              <a:ext uri="{FF2B5EF4-FFF2-40B4-BE49-F238E27FC236}">
                <a16:creationId xmlns:a16="http://schemas.microsoft.com/office/drawing/2014/main" id="{1A947AC7-F687-4A77-DEBA-EE03CA778CBC}"/>
              </a:ext>
            </a:extLst>
          </p:cNvPr>
          <p:cNvPicPr>
            <a:picLocks noGrp="1" noChangeAspect="1"/>
          </p:cNvPicPr>
          <p:nvPr>
            <p:ph type="pic" sz="quarter" idx="10"/>
          </p:nvPr>
        </p:nvPicPr>
        <p:blipFill>
          <a:blip r:embed="rId3"/>
          <a:srcRect l="225" r="225"/>
          <a:stretch>
            <a:fillRect/>
          </a:stretch>
        </p:blipFill>
        <p:spPr>
          <a:xfrm>
            <a:off x="5311808" y="1158875"/>
            <a:ext cx="3525648" cy="3836278"/>
          </a:xfrm>
        </p:spPr>
      </p:pic>
    </p:spTree>
    <p:extLst>
      <p:ext uri="{BB962C8B-B14F-4D97-AF65-F5344CB8AC3E}">
        <p14:creationId xmlns:p14="http://schemas.microsoft.com/office/powerpoint/2010/main" val="73977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13930" cy="2343604"/>
          </a:xfrm>
        </p:spPr>
        <p:txBody>
          <a:bodyPr/>
          <a:lstStyle/>
          <a:p>
            <a:r>
              <a:rPr lang="es-ES" dirty="0"/>
              <a:t>En esta etapa, se recopilan datos de diversas fuentes, se limpian, se transforman y se cargan en un almacén de datos centralizado. </a:t>
            </a:r>
          </a:p>
          <a:p>
            <a:r>
              <a:rPr lang="es-ES" dirty="0"/>
              <a:t>Esto implica el uso de herramientas y técnicas para extraer datos de sistemas operativos, bases de datos, aplicaciones empresariales y otras fuentes, y prepararlos para su análisis posterior.</a:t>
            </a:r>
          </a:p>
        </p:txBody>
      </p:sp>
      <p:pic>
        <p:nvPicPr>
          <p:cNvPr id="4" name="Marcador de posición de imagen 3">
            <a:extLst>
              <a:ext uri="{FF2B5EF4-FFF2-40B4-BE49-F238E27FC236}">
                <a16:creationId xmlns:a16="http://schemas.microsoft.com/office/drawing/2014/main" id="{250458A4-AE5C-C773-90F0-44970EB3405E}"/>
              </a:ext>
            </a:extLst>
          </p:cNvPr>
          <p:cNvPicPr>
            <a:picLocks noGrp="1" noChangeAspect="1"/>
          </p:cNvPicPr>
          <p:nvPr>
            <p:ph type="pic" sz="quarter" idx="10"/>
          </p:nvPr>
        </p:nvPicPr>
        <p:blipFill>
          <a:blip r:embed="rId3"/>
          <a:srcRect l="118" r="118"/>
          <a:stretch>
            <a:fillRect/>
          </a:stretch>
        </p:blipFill>
        <p:spPr>
          <a:xfrm>
            <a:off x="5200650" y="1051918"/>
            <a:ext cx="3545813" cy="3858219"/>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a:xfrm>
            <a:off x="468312" y="804863"/>
            <a:ext cx="5256000" cy="354012"/>
          </a:xfrm>
        </p:spPr>
        <p:txBody>
          <a:bodyPr/>
          <a:lstStyle/>
          <a:p>
            <a:r>
              <a:rPr lang="es-ES" dirty="0"/>
              <a:t>Extracción, transformación y carga de datos (ETL)</a:t>
            </a:r>
            <a:endParaRPr lang="es-PE" dirty="0"/>
          </a:p>
        </p:txBody>
      </p:sp>
    </p:spTree>
    <p:extLst>
      <p:ext uri="{BB962C8B-B14F-4D97-AF65-F5344CB8AC3E}">
        <p14:creationId xmlns:p14="http://schemas.microsoft.com/office/powerpoint/2010/main" val="28175699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64944" cy="3037568"/>
          </a:xfrm>
        </p:spPr>
        <p:txBody>
          <a:bodyPr/>
          <a:lstStyle/>
          <a:p>
            <a:r>
              <a:rPr lang="es-ES" dirty="0"/>
              <a:t>El almacén de datos es una base de datos optimizada para consultas y análisis. </a:t>
            </a:r>
          </a:p>
          <a:p>
            <a:r>
              <a:rPr lang="es-ES" dirty="0"/>
              <a:t>Aquí es donde se almacenan los datos recopilados y transformados, estructurados de manera que sean eficientes y adecuados para el análisis. </a:t>
            </a:r>
          </a:p>
          <a:p>
            <a:r>
              <a:rPr lang="es-ES" dirty="0"/>
              <a:t>El almacén de datos permite la integración y consolidación de datos de diferentes fuentes, lo que facilita la generación de informes y el análisis de datos.</a:t>
            </a:r>
          </a:p>
        </p:txBody>
      </p:sp>
      <p:pic>
        <p:nvPicPr>
          <p:cNvPr id="5" name="Marcador de posición de imagen 4">
            <a:extLst>
              <a:ext uri="{FF2B5EF4-FFF2-40B4-BE49-F238E27FC236}">
                <a16:creationId xmlns:a16="http://schemas.microsoft.com/office/drawing/2014/main" id="{EC3B71DC-4F49-5310-A0EB-D9FCED4EB4E5}"/>
              </a:ext>
            </a:extLst>
          </p:cNvPr>
          <p:cNvPicPr>
            <a:picLocks noGrp="1" noChangeAspect="1"/>
          </p:cNvPicPr>
          <p:nvPr>
            <p:ph type="pic" sz="quarter" idx="10"/>
          </p:nvPr>
        </p:nvPicPr>
        <p:blipFill>
          <a:blip r:embed="rId3"/>
          <a:srcRect l="234" r="234"/>
          <a:stretch>
            <a:fillRect/>
          </a:stretch>
        </p:blipFill>
        <p:spPr>
          <a:xfrm>
            <a:off x="5158569" y="981869"/>
            <a:ext cx="3677701" cy="4001727"/>
          </a:xfrm>
        </p:spPr>
      </p:pic>
      <p:sp>
        <p:nvSpPr>
          <p:cNvPr id="4" name="Marcador de texto 3">
            <a:extLst>
              <a:ext uri="{FF2B5EF4-FFF2-40B4-BE49-F238E27FC236}">
                <a16:creationId xmlns:a16="http://schemas.microsoft.com/office/drawing/2014/main" id="{CF39B28E-005B-8B29-45BB-CEE035827C8D}"/>
              </a:ext>
            </a:extLst>
          </p:cNvPr>
          <p:cNvSpPr>
            <a:spLocks noGrp="1"/>
          </p:cNvSpPr>
          <p:nvPr>
            <p:ph type="body" sz="quarter" idx="12"/>
          </p:nvPr>
        </p:nvSpPr>
        <p:spPr/>
        <p:txBody>
          <a:bodyPr/>
          <a:lstStyle/>
          <a:p>
            <a:r>
              <a:rPr lang="es-PE" dirty="0"/>
              <a:t>Almacén de datos</a:t>
            </a:r>
          </a:p>
        </p:txBody>
      </p:sp>
    </p:spTree>
    <p:extLst>
      <p:ext uri="{BB962C8B-B14F-4D97-AF65-F5344CB8AC3E}">
        <p14:creationId xmlns:p14="http://schemas.microsoft.com/office/powerpoint/2010/main" val="1911181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87408" cy="2253796"/>
          </a:xfrm>
        </p:spPr>
        <p:txBody>
          <a:bodyPr/>
          <a:lstStyle/>
          <a:p>
            <a:r>
              <a:rPr lang="es-ES" dirty="0"/>
              <a:t>En esta etapa, se definen modelos y estructuras de datos que permiten organizar y representar los datos de manera significativa para el análisis.</a:t>
            </a:r>
          </a:p>
          <a:p>
            <a:r>
              <a:rPr lang="es-ES" dirty="0"/>
              <a:t>Esto puede incluir el diseño de esquemas dimensionales, modelos en estrella o modelos de cubo multidimensionales, que permiten realizar consultas y análisis eficientes.</a:t>
            </a:r>
          </a:p>
        </p:txBody>
      </p:sp>
      <p:pic>
        <p:nvPicPr>
          <p:cNvPr id="5" name="Marcador de posición de imagen 4">
            <a:extLst>
              <a:ext uri="{FF2B5EF4-FFF2-40B4-BE49-F238E27FC236}">
                <a16:creationId xmlns:a16="http://schemas.microsoft.com/office/drawing/2014/main" id="{F5000659-7261-A5CB-BD41-F82DF817B194}"/>
              </a:ext>
            </a:extLst>
          </p:cNvPr>
          <p:cNvPicPr>
            <a:picLocks noGrp="1" noChangeAspect="1"/>
          </p:cNvPicPr>
          <p:nvPr>
            <p:ph type="pic" sz="quarter" idx="10"/>
          </p:nvPr>
        </p:nvPicPr>
        <p:blipFill>
          <a:blip r:embed="rId3"/>
          <a:srcRect l="234" r="234"/>
          <a:stretch>
            <a:fillRect/>
          </a:stretch>
        </p:blipFill>
        <p:spPr>
          <a:xfrm>
            <a:off x="5302623" y="1045027"/>
            <a:ext cx="3590797" cy="3907167"/>
          </a:xfrm>
        </p:spPr>
      </p:pic>
      <p:sp>
        <p:nvSpPr>
          <p:cNvPr id="4" name="Marcador de texto 3">
            <a:extLst>
              <a:ext uri="{FF2B5EF4-FFF2-40B4-BE49-F238E27FC236}">
                <a16:creationId xmlns:a16="http://schemas.microsoft.com/office/drawing/2014/main" id="{CF39B28E-005B-8B29-45BB-CEE035827C8D}"/>
              </a:ext>
            </a:extLst>
          </p:cNvPr>
          <p:cNvSpPr>
            <a:spLocks noGrp="1"/>
          </p:cNvSpPr>
          <p:nvPr>
            <p:ph type="body" sz="quarter" idx="12"/>
          </p:nvPr>
        </p:nvSpPr>
        <p:spPr>
          <a:xfrm>
            <a:off x="468313" y="804863"/>
            <a:ext cx="4103687" cy="354012"/>
          </a:xfrm>
        </p:spPr>
        <p:txBody>
          <a:bodyPr/>
          <a:lstStyle/>
          <a:p>
            <a:r>
              <a:rPr lang="es-PE" dirty="0"/>
              <a:t>Modelado de datos</a:t>
            </a:r>
          </a:p>
        </p:txBody>
      </p:sp>
    </p:spTree>
    <p:extLst>
      <p:ext uri="{BB962C8B-B14F-4D97-AF65-F5344CB8AC3E}">
        <p14:creationId xmlns:p14="http://schemas.microsoft.com/office/powerpoint/2010/main" val="2946513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705049" cy="3067136"/>
          </a:xfrm>
        </p:spPr>
        <p:txBody>
          <a:bodyPr/>
          <a:lstStyle/>
          <a:p>
            <a:r>
              <a:rPr lang="es-ES" dirty="0"/>
              <a:t>Se utilizan herramientas de inteligencia de negocios, como tableros de control interactivos, herramientas de visualización de datos, generadores de informes y herramientas de análisis avanzado, para explorar y analizar los datos almacenados. </a:t>
            </a:r>
          </a:p>
          <a:p>
            <a:r>
              <a:rPr lang="es-ES" dirty="0"/>
              <a:t>Estas herramientas facilitan la generación de informes, la visualización de datos en forma de gráficos y tablas, y el descubrimiento de patrones y tendencias en los datos.</a:t>
            </a:r>
          </a:p>
        </p:txBody>
      </p:sp>
      <p:pic>
        <p:nvPicPr>
          <p:cNvPr id="5" name="Marcador de posición de imagen 4">
            <a:extLst>
              <a:ext uri="{FF2B5EF4-FFF2-40B4-BE49-F238E27FC236}">
                <a16:creationId xmlns:a16="http://schemas.microsoft.com/office/drawing/2014/main" id="{67E0A31C-9B31-7E7A-5123-E0D3CD04C674}"/>
              </a:ext>
            </a:extLst>
          </p:cNvPr>
          <p:cNvPicPr>
            <a:picLocks noGrp="1" noChangeAspect="1"/>
          </p:cNvPicPr>
          <p:nvPr>
            <p:ph type="pic" sz="quarter" idx="10"/>
          </p:nvPr>
        </p:nvPicPr>
        <p:blipFill>
          <a:blip r:embed="rId3"/>
          <a:srcRect l="234" r="234"/>
          <a:stretch>
            <a:fillRect/>
          </a:stretch>
        </p:blipFill>
        <p:spPr>
          <a:xfrm>
            <a:off x="5412175" y="981869"/>
            <a:ext cx="3458443" cy="3763152"/>
          </a:xfrm>
        </p:spPr>
      </p:pic>
      <p:sp>
        <p:nvSpPr>
          <p:cNvPr id="4" name="Marcador de texto 3">
            <a:extLst>
              <a:ext uri="{FF2B5EF4-FFF2-40B4-BE49-F238E27FC236}">
                <a16:creationId xmlns:a16="http://schemas.microsoft.com/office/drawing/2014/main" id="{CF39B28E-005B-8B29-45BB-CEE035827C8D}"/>
              </a:ext>
            </a:extLst>
          </p:cNvPr>
          <p:cNvSpPr>
            <a:spLocks noGrp="1"/>
          </p:cNvSpPr>
          <p:nvPr>
            <p:ph type="body" sz="quarter" idx="12"/>
          </p:nvPr>
        </p:nvSpPr>
        <p:spPr/>
        <p:txBody>
          <a:bodyPr/>
          <a:lstStyle/>
          <a:p>
            <a:r>
              <a:rPr lang="es-PE" dirty="0"/>
              <a:t>Herramientas de análisis</a:t>
            </a:r>
          </a:p>
        </p:txBody>
      </p:sp>
    </p:spTree>
    <p:extLst>
      <p:ext uri="{BB962C8B-B14F-4D97-AF65-F5344CB8AC3E}">
        <p14:creationId xmlns:p14="http://schemas.microsoft.com/office/powerpoint/2010/main" val="3392491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523817" cy="3223655"/>
          </a:xfrm>
        </p:spPr>
        <p:txBody>
          <a:bodyPr/>
          <a:lstStyle/>
          <a:p>
            <a:r>
              <a:rPr lang="es-ES" dirty="0"/>
              <a:t>En esta etapa, se implementan mecanismos para compartir la información y los resultados del análisis con los usuarios finales. </a:t>
            </a:r>
          </a:p>
          <a:p>
            <a:r>
              <a:rPr lang="es-ES" dirty="0"/>
              <a:t>Esto puede implicar la creación de informes automatizados, la publicación de paneles interactivos en línea o la integración de la inteligencia de negocios en otras aplicaciones empresariales. </a:t>
            </a:r>
          </a:p>
          <a:p>
            <a:r>
              <a:rPr lang="es-ES" dirty="0"/>
              <a:t>El objetivo es poner la información y los análisis en manos de las personas adecuadas en el momento oportuno.</a:t>
            </a:r>
          </a:p>
        </p:txBody>
      </p:sp>
      <p:pic>
        <p:nvPicPr>
          <p:cNvPr id="5" name="Marcador de posición de imagen 4">
            <a:extLst>
              <a:ext uri="{FF2B5EF4-FFF2-40B4-BE49-F238E27FC236}">
                <a16:creationId xmlns:a16="http://schemas.microsoft.com/office/drawing/2014/main" id="{8E5A5611-EDBA-D76B-4724-3F96EDA5482F}"/>
              </a:ext>
            </a:extLst>
          </p:cNvPr>
          <p:cNvPicPr>
            <a:picLocks noGrp="1" noChangeAspect="1"/>
          </p:cNvPicPr>
          <p:nvPr>
            <p:ph type="pic" sz="quarter" idx="10"/>
          </p:nvPr>
        </p:nvPicPr>
        <p:blipFill>
          <a:blip r:embed="rId3"/>
          <a:srcRect l="118" r="118"/>
          <a:stretch>
            <a:fillRect/>
          </a:stretch>
        </p:blipFill>
        <p:spPr>
          <a:xfrm>
            <a:off x="5272726" y="1070919"/>
            <a:ext cx="3632410" cy="3952446"/>
          </a:xfrm>
        </p:spPr>
      </p:pic>
      <p:sp>
        <p:nvSpPr>
          <p:cNvPr id="4" name="Marcador de texto 3">
            <a:extLst>
              <a:ext uri="{FF2B5EF4-FFF2-40B4-BE49-F238E27FC236}">
                <a16:creationId xmlns:a16="http://schemas.microsoft.com/office/drawing/2014/main" id="{CF39B28E-005B-8B29-45BB-CEE035827C8D}"/>
              </a:ext>
            </a:extLst>
          </p:cNvPr>
          <p:cNvSpPr>
            <a:spLocks noGrp="1"/>
          </p:cNvSpPr>
          <p:nvPr>
            <p:ph type="body" sz="quarter" idx="12"/>
          </p:nvPr>
        </p:nvSpPr>
        <p:spPr/>
        <p:txBody>
          <a:bodyPr/>
          <a:lstStyle/>
          <a:p>
            <a:r>
              <a:rPr lang="es-PE" dirty="0"/>
              <a:t>Distribución de información</a:t>
            </a:r>
          </a:p>
        </p:txBody>
      </p:sp>
    </p:spTree>
    <p:extLst>
      <p:ext uri="{BB962C8B-B14F-4D97-AF65-F5344CB8AC3E}">
        <p14:creationId xmlns:p14="http://schemas.microsoft.com/office/powerpoint/2010/main" val="1581057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738001" cy="2803525"/>
          </a:xfrm>
        </p:spPr>
        <p:txBody>
          <a:bodyPr/>
          <a:lstStyle/>
          <a:p>
            <a:r>
              <a:rPr lang="es-ES" dirty="0"/>
              <a:t>La implementación de inteligencia de negocios también implica establecer políticas, procesos y responsabilidades para garantizar la calidad, la seguridad y la integridad de los datos y los informes. </a:t>
            </a:r>
          </a:p>
          <a:p>
            <a:r>
              <a:rPr lang="es-ES" dirty="0"/>
              <a:t>Esto incluye la definición de roles y responsabilidades, la implementación de políticas de acceso y seguridad, y la realización de auditorías y controles regulares.</a:t>
            </a:r>
          </a:p>
        </p:txBody>
      </p:sp>
      <p:pic>
        <p:nvPicPr>
          <p:cNvPr id="5" name="Marcador de posición de imagen 4">
            <a:extLst>
              <a:ext uri="{FF2B5EF4-FFF2-40B4-BE49-F238E27FC236}">
                <a16:creationId xmlns:a16="http://schemas.microsoft.com/office/drawing/2014/main" id="{3A0CF12D-B540-0404-AB26-19D6E9FF1A2A}"/>
              </a:ext>
            </a:extLst>
          </p:cNvPr>
          <p:cNvPicPr>
            <a:picLocks noGrp="1" noChangeAspect="1"/>
          </p:cNvPicPr>
          <p:nvPr>
            <p:ph type="pic" sz="quarter" idx="10"/>
          </p:nvPr>
        </p:nvPicPr>
        <p:blipFill>
          <a:blip r:embed="rId3"/>
          <a:srcRect l="234" r="234"/>
          <a:stretch>
            <a:fillRect/>
          </a:stretch>
        </p:blipFill>
        <p:spPr>
          <a:xfrm>
            <a:off x="5488552" y="1012994"/>
            <a:ext cx="3390306" cy="3689011"/>
          </a:xfrm>
        </p:spPr>
      </p:pic>
      <p:sp>
        <p:nvSpPr>
          <p:cNvPr id="4" name="Marcador de texto 3">
            <a:extLst>
              <a:ext uri="{FF2B5EF4-FFF2-40B4-BE49-F238E27FC236}">
                <a16:creationId xmlns:a16="http://schemas.microsoft.com/office/drawing/2014/main" id="{CF39B28E-005B-8B29-45BB-CEE035827C8D}"/>
              </a:ext>
            </a:extLst>
          </p:cNvPr>
          <p:cNvSpPr>
            <a:spLocks noGrp="1"/>
          </p:cNvSpPr>
          <p:nvPr>
            <p:ph type="body" sz="quarter" idx="12"/>
          </p:nvPr>
        </p:nvSpPr>
        <p:spPr/>
        <p:txBody>
          <a:bodyPr/>
          <a:lstStyle/>
          <a:p>
            <a:r>
              <a:rPr lang="es-PE" dirty="0"/>
              <a:t>Gobierno y gestión</a:t>
            </a:r>
          </a:p>
        </p:txBody>
      </p:sp>
    </p:spTree>
    <p:extLst>
      <p:ext uri="{BB962C8B-B14F-4D97-AF65-F5344CB8AC3E}">
        <p14:creationId xmlns:p14="http://schemas.microsoft.com/office/powerpoint/2010/main" val="2775222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2285F017-D18F-2CBF-6BF5-D3E9797762DD}"/>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1. Extracción, transformación y carga de datos (ETL)</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1989543"/>
          </a:xfrm>
        </p:spPr>
        <p:txBody>
          <a:bodyPr/>
          <a:lstStyle/>
          <a:p>
            <a:pPr>
              <a:spcAft>
                <a:spcPts val="600"/>
              </a:spcAft>
            </a:pPr>
            <a:r>
              <a:rPr lang="es-ES" dirty="0"/>
              <a:t>En esta etapa, se extraen datos de diferentes fuentes, como el sistema de pedidos, el sistema de inventario y el sistema de </a:t>
            </a:r>
            <a:r>
              <a:rPr lang="es-ES" i="1" dirty="0"/>
              <a:t>marketing. </a:t>
            </a:r>
          </a:p>
          <a:p>
            <a:pPr>
              <a:spcAft>
                <a:spcPts val="600"/>
              </a:spcAft>
            </a:pPr>
            <a:r>
              <a:rPr lang="es-ES" dirty="0"/>
              <a:t>Luego, los datos se limpian y se transforman para asegurar la consistencia y calidad.</a:t>
            </a:r>
          </a:p>
          <a:p>
            <a:pPr>
              <a:spcAft>
                <a:spcPts val="600"/>
              </a:spcAft>
            </a:pPr>
            <a:r>
              <a:rPr lang="es-ES" dirty="0"/>
              <a:t>Por ejemplo, se podrían combinar los datos de clientes y productos para vincular las ventas con los perfiles de los clientes y la información del producto.</a:t>
            </a:r>
          </a:p>
          <a:p>
            <a:pPr>
              <a:spcAft>
                <a:spcPts val="600"/>
              </a:spcAft>
            </a:pPr>
            <a:r>
              <a:rPr lang="es-ES" dirty="0"/>
              <a:t>El resultado es un almacén de datos consolidado y limpio que contiene información coherente sobre las ventas.</a:t>
            </a:r>
          </a:p>
        </p:txBody>
      </p:sp>
    </p:spTree>
    <p:extLst>
      <p:ext uri="{BB962C8B-B14F-4D97-AF65-F5344CB8AC3E}">
        <p14:creationId xmlns:p14="http://schemas.microsoft.com/office/powerpoint/2010/main" val="1522684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716A1FA9-86F8-4779-ECDA-8150F3A03F89}"/>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2. Almacén de datos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2030732"/>
          </a:xfrm>
        </p:spPr>
        <p:txBody>
          <a:bodyPr/>
          <a:lstStyle/>
          <a:p>
            <a:pPr>
              <a:spcAft>
                <a:spcPts val="600"/>
              </a:spcAft>
            </a:pPr>
            <a:r>
              <a:rPr lang="es-ES" dirty="0"/>
              <a:t>En esta etapa, se crea un almacén de datos centralizado que almacena los datos de ventas limpios y transformados. </a:t>
            </a:r>
          </a:p>
          <a:p>
            <a:pPr>
              <a:spcAft>
                <a:spcPts val="600"/>
              </a:spcAft>
            </a:pPr>
            <a:r>
              <a:rPr lang="es-ES" dirty="0"/>
              <a:t>El almacén de datos puede tener estructuras dimensionales, como un modelo de estrella, que permiten un análisis eficiente. </a:t>
            </a:r>
          </a:p>
          <a:p>
            <a:pPr>
              <a:spcAft>
                <a:spcPts val="600"/>
              </a:spcAft>
            </a:pPr>
            <a:r>
              <a:rPr lang="es-ES" dirty="0"/>
              <a:t>Por ejemplo, se pueden tener tablas de dimensiones para clientes, productos y fechas, y una tabla de hechos que contiene los datos de ventas.</a:t>
            </a:r>
          </a:p>
          <a:p>
            <a:pPr>
              <a:spcAft>
                <a:spcPts val="600"/>
              </a:spcAft>
            </a:pPr>
            <a:r>
              <a:rPr lang="es-ES" dirty="0"/>
              <a:t>El resultado es un almacén de datos optimizado para el análisis de ventas.</a:t>
            </a:r>
          </a:p>
        </p:txBody>
      </p:sp>
    </p:spTree>
    <p:extLst>
      <p:ext uri="{BB962C8B-B14F-4D97-AF65-F5344CB8AC3E}">
        <p14:creationId xmlns:p14="http://schemas.microsoft.com/office/powerpoint/2010/main" val="172460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FA8A5EB-D05B-B12A-63CF-EC9BDCF6886F}"/>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3. Modelado de datos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2302580"/>
          </a:xfrm>
        </p:spPr>
        <p:txBody>
          <a:bodyPr/>
          <a:lstStyle/>
          <a:p>
            <a:pPr>
              <a:spcAft>
                <a:spcPts val="600"/>
              </a:spcAft>
            </a:pPr>
            <a:r>
              <a:rPr lang="es-ES" dirty="0"/>
              <a:t>En el modelado de datos, se definen las relaciones y estructuras necesarias para el análisis de ventas. </a:t>
            </a:r>
          </a:p>
          <a:p>
            <a:pPr>
              <a:spcAft>
                <a:spcPts val="600"/>
              </a:spcAft>
            </a:pPr>
            <a:r>
              <a:rPr lang="es-ES" dirty="0"/>
              <a:t>Por ejemplo, se podría establecer una jerarquía de productos para analizar las ventas por categoría, subcategoría y producto específico. </a:t>
            </a:r>
          </a:p>
          <a:p>
            <a:pPr>
              <a:spcAft>
                <a:spcPts val="600"/>
              </a:spcAft>
            </a:pPr>
            <a:r>
              <a:rPr lang="es-ES" dirty="0"/>
              <a:t>También se pueden definir medidas como el monto de ventas, el margen de beneficio y el número de pedidos. </a:t>
            </a:r>
          </a:p>
          <a:p>
            <a:pPr>
              <a:spcAft>
                <a:spcPts val="600"/>
              </a:spcAft>
            </a:pPr>
            <a:r>
              <a:rPr lang="es-ES" dirty="0"/>
              <a:t>El resultado es un modelo de datos que organiza y representa los datos de ventas de manera significativa para el análisis.</a:t>
            </a:r>
          </a:p>
        </p:txBody>
      </p:sp>
    </p:spTree>
    <p:extLst>
      <p:ext uri="{BB962C8B-B14F-4D97-AF65-F5344CB8AC3E}">
        <p14:creationId xmlns:p14="http://schemas.microsoft.com/office/powerpoint/2010/main" val="2671673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23044325-46FA-66F3-7C58-C0620B9768D6}"/>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4. Herramientas de análisis</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4"/>
            <a:ext cx="8207375" cy="2080159"/>
          </a:xfrm>
        </p:spPr>
        <p:txBody>
          <a:bodyPr/>
          <a:lstStyle/>
          <a:p>
            <a:pPr>
              <a:lnSpc>
                <a:spcPct val="92000"/>
              </a:lnSpc>
              <a:spcAft>
                <a:spcPts val="600"/>
              </a:spcAft>
            </a:pPr>
            <a:r>
              <a:rPr lang="es-ES" dirty="0"/>
              <a:t>En esta etapa, se utilizan herramientas de BI para explorar y analizar los datos de ventas. </a:t>
            </a:r>
          </a:p>
          <a:p>
            <a:pPr>
              <a:lnSpc>
                <a:spcPct val="92000"/>
              </a:lnSpc>
              <a:spcAft>
                <a:spcPts val="600"/>
              </a:spcAft>
            </a:pPr>
            <a:r>
              <a:rPr lang="es-ES" dirty="0"/>
              <a:t>Por ejemplo, se podrían crear tableros de control interactivos que muestren métricas clave como las ventas por región, el crecimiento de ventas a lo largo del tiempo y las tendencias de productos más vendidos. </a:t>
            </a:r>
          </a:p>
          <a:p>
            <a:pPr>
              <a:lnSpc>
                <a:spcPct val="92000"/>
              </a:lnSpc>
              <a:spcAft>
                <a:spcPts val="600"/>
              </a:spcAft>
            </a:pPr>
            <a:r>
              <a:rPr lang="es-ES" dirty="0"/>
              <a:t>También se pueden utilizar herramientas de visualización de datos para representar gráficamente las ventas por categoría, utilizando gráficos de barras o gráficos circulares. </a:t>
            </a:r>
          </a:p>
          <a:p>
            <a:pPr>
              <a:lnSpc>
                <a:spcPct val="92000"/>
              </a:lnSpc>
              <a:spcAft>
                <a:spcPts val="600"/>
              </a:spcAft>
            </a:pPr>
            <a:r>
              <a:rPr lang="es-ES" dirty="0"/>
              <a:t>El resultado es la capacidad de los usuarios para realizar análisis ad hoc, explorar los datos de ventas y descubrir información relevante.</a:t>
            </a:r>
          </a:p>
        </p:txBody>
      </p:sp>
    </p:spTree>
    <p:extLst>
      <p:ext uri="{BB962C8B-B14F-4D97-AF65-F5344CB8AC3E}">
        <p14:creationId xmlns:p14="http://schemas.microsoft.com/office/powerpoint/2010/main" val="3837994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956BE421-A6DE-D35A-4EA2-9E19A0F4637C}"/>
              </a:ext>
            </a:extLst>
          </p:cNvPr>
          <p:cNvPicPr>
            <a:picLocks noGrp="1" noChangeAspect="1"/>
          </p:cNvPicPr>
          <p:nvPr>
            <p:ph type="pic" sz="quarter" idx="10"/>
          </p:nvPr>
        </p:nvPicPr>
        <p:blipFill>
          <a:blip r:embed="rId3"/>
          <a:srcRect t="368" b="368"/>
          <a:stretch>
            <a:fillRect/>
          </a:stretch>
        </p:blipFill>
        <p:spPr>
          <a:xfrm>
            <a:off x="470825" y="3023286"/>
            <a:ext cx="8208000" cy="2238314"/>
          </a:xfrm>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5. Distribución de información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1997780"/>
          </a:xfrm>
        </p:spPr>
        <p:txBody>
          <a:bodyPr/>
          <a:lstStyle/>
          <a:p>
            <a:pPr>
              <a:spcAft>
                <a:spcPts val="600"/>
              </a:spcAft>
            </a:pPr>
            <a:r>
              <a:rPr lang="es-ES" dirty="0"/>
              <a:t>En esta etapa, se distribuyen los resultados del análisis de ventas a los usuarios finales. </a:t>
            </a:r>
          </a:p>
          <a:p>
            <a:pPr>
              <a:spcAft>
                <a:spcPts val="600"/>
              </a:spcAft>
            </a:pPr>
            <a:r>
              <a:rPr lang="es-ES" dirty="0"/>
              <a:t>Por ejemplo, se pueden generar informes automatizados que se envíen por correo electrónico a los ejecutivos de la empresa. </a:t>
            </a:r>
          </a:p>
          <a:p>
            <a:pPr>
              <a:spcAft>
                <a:spcPts val="600"/>
              </a:spcAft>
            </a:pPr>
            <a:r>
              <a:rPr lang="es-ES" dirty="0"/>
              <a:t>También se pueden publicar paneles de control interactivos en un portal en línea para que los gerentes de ventas puedan monitorear las métricas clave en tiempo real. </a:t>
            </a:r>
          </a:p>
          <a:p>
            <a:pPr>
              <a:spcAft>
                <a:spcPts val="600"/>
              </a:spcAft>
            </a:pPr>
            <a:r>
              <a:rPr lang="es-ES" dirty="0"/>
              <a:t>El resultado es que los usuarios finales tienen acceso a información actualizada y pueden tomar decisiones basadas en datos precisos.</a:t>
            </a:r>
          </a:p>
        </p:txBody>
      </p:sp>
    </p:spTree>
    <p:extLst>
      <p:ext uri="{BB962C8B-B14F-4D97-AF65-F5344CB8AC3E}">
        <p14:creationId xmlns:p14="http://schemas.microsoft.com/office/powerpoint/2010/main" val="92849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posición de imagen 3">
            <a:extLst>
              <a:ext uri="{FF2B5EF4-FFF2-40B4-BE49-F238E27FC236}">
                <a16:creationId xmlns:a16="http://schemas.microsoft.com/office/drawing/2014/main" id="{560EC06C-8D61-53C1-3297-3454FA402AA3}"/>
              </a:ext>
            </a:extLst>
          </p:cNvPr>
          <p:cNvPicPr>
            <a:picLocks noGrp="1" noChangeAspect="1"/>
          </p:cNvPicPr>
          <p:nvPr>
            <p:ph type="pic" sz="quarter" idx="10"/>
          </p:nvPr>
        </p:nvPicPr>
        <p:blipFill>
          <a:blip r:embed="rId3"/>
          <a:srcRect t="368" b="368"/>
          <a:stretch>
            <a:fillRect/>
          </a:stretch>
        </p:blip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ES" dirty="0"/>
              <a:t>6. Gobierno y gestión</a:t>
            </a:r>
            <a:endParaRPr lang="es-PE" dirty="0"/>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IMPLEMENTACIÓN BI </a:t>
            </a:r>
            <a:r>
              <a:rPr lang="es-PE" sz="1600" dirty="0"/>
              <a:t>(en empresa ecommerce que quiere analizar sus datos de ventas)</a:t>
            </a:r>
            <a:endParaRPr lang="es-PE" dirty="0"/>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82025"/>
            <a:ext cx="8207375" cy="2121348"/>
          </a:xfrm>
        </p:spPr>
        <p:txBody>
          <a:bodyPr/>
          <a:lstStyle/>
          <a:p>
            <a:pPr>
              <a:lnSpc>
                <a:spcPct val="93000"/>
              </a:lnSpc>
              <a:spcAft>
                <a:spcPts val="600"/>
              </a:spcAft>
            </a:pPr>
            <a:r>
              <a:rPr lang="es-ES" dirty="0"/>
              <a:t>En esta etapa, se establecen políticas y procesos para garantizar la calidad y la seguridad de los datos de ventas. </a:t>
            </a:r>
          </a:p>
          <a:p>
            <a:pPr>
              <a:lnSpc>
                <a:spcPct val="93000"/>
              </a:lnSpc>
              <a:spcAft>
                <a:spcPts val="600"/>
              </a:spcAft>
            </a:pPr>
            <a:r>
              <a:rPr lang="es-ES" dirty="0"/>
              <a:t>Se definen roles y responsabilidades para la gestión de la inteligencia de negocios, y se implementan medidas de seguridad para proteger los datos confidenciales. </a:t>
            </a:r>
          </a:p>
          <a:p>
            <a:pPr>
              <a:lnSpc>
                <a:spcPct val="93000"/>
              </a:lnSpc>
              <a:spcAft>
                <a:spcPts val="600"/>
              </a:spcAft>
            </a:pPr>
            <a:r>
              <a:rPr lang="es-ES" dirty="0"/>
              <a:t>También se realizan auditorías regulares para asegurar la integridad de los datos y el cumplimiento de las políticas. </a:t>
            </a:r>
          </a:p>
          <a:p>
            <a:pPr>
              <a:lnSpc>
                <a:spcPct val="93000"/>
              </a:lnSpc>
              <a:spcAft>
                <a:spcPts val="600"/>
              </a:spcAft>
            </a:pPr>
            <a:r>
              <a:rPr lang="es-ES" dirty="0"/>
              <a:t>El resultado es un marco de gobierno establecido que garantiza la confiabilidad y la integridad de la información de ventas.</a:t>
            </a:r>
          </a:p>
        </p:txBody>
      </p:sp>
    </p:spTree>
    <p:extLst>
      <p:ext uri="{BB962C8B-B14F-4D97-AF65-F5344CB8AC3E}">
        <p14:creationId xmlns:p14="http://schemas.microsoft.com/office/powerpoint/2010/main" val="3292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E4B664F2-7CB4-48B1-9096-E52469E94D93}"/>
              </a:ext>
            </a:extLst>
          </p:cNvPr>
          <p:cNvSpPr>
            <a:spLocks noGrp="1"/>
          </p:cNvSpPr>
          <p:nvPr>
            <p:ph type="body" sz="quarter" idx="10"/>
          </p:nvPr>
        </p:nvSpPr>
        <p:spPr>
          <a:xfrm>
            <a:off x="468314" y="3309797"/>
            <a:ext cx="7189786" cy="1253965"/>
          </a:xfrm>
        </p:spPr>
        <p:txBody>
          <a:bodyPr/>
          <a:lstStyle/>
          <a:p>
            <a:pPr marL="274638" indent="-274638">
              <a:tabLst>
                <a:tab pos="274638" algn="l"/>
              </a:tabLst>
            </a:pPr>
            <a:r>
              <a:rPr lang="es-PE" dirty="0"/>
              <a:t>/	MODELAMIENTO DE</a:t>
            </a:r>
          </a:p>
          <a:p>
            <a:pPr marL="274638" indent="-7938">
              <a:tabLst>
                <a:tab pos="274638" algn="l"/>
              </a:tabLst>
            </a:pPr>
            <a:r>
              <a:rPr lang="es-PE" dirty="0"/>
              <a:t>TABLEROS DE CONTROL </a:t>
            </a:r>
            <a:r>
              <a:rPr lang="es-PE" sz="2400" dirty="0"/>
              <a:t>(DASHBOARD),</a:t>
            </a:r>
            <a:r>
              <a:rPr lang="es-PE" dirty="0"/>
              <a:t> y</a:t>
            </a:r>
          </a:p>
          <a:p>
            <a:pPr marL="274638" indent="-7938">
              <a:tabLst>
                <a:tab pos="274638" algn="l"/>
              </a:tabLst>
            </a:pPr>
            <a:r>
              <a:rPr lang="es-PE" dirty="0"/>
              <a:t>BALANCED SCORECARD</a:t>
            </a:r>
          </a:p>
        </p:txBody>
      </p:sp>
    </p:spTree>
    <p:custDataLst>
      <p:tags r:id="rId1"/>
    </p:custDataLst>
    <p:extLst>
      <p:ext uri="{BB962C8B-B14F-4D97-AF65-F5344CB8AC3E}">
        <p14:creationId xmlns:p14="http://schemas.microsoft.com/office/powerpoint/2010/main" val="2843545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Tablero de control</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48530" cy="3765812"/>
          </a:xfrm>
        </p:spPr>
        <p:txBody>
          <a:bodyPr/>
          <a:lstStyle/>
          <a:p>
            <a:r>
              <a:rPr lang="es-ES" dirty="0"/>
              <a:t>Panel de control o </a:t>
            </a:r>
            <a:r>
              <a:rPr lang="es-ES" i="1" dirty="0"/>
              <a:t>Dashboard.</a:t>
            </a:r>
            <a:r>
              <a:rPr lang="es-ES" dirty="0"/>
              <a:t> Es una herramienta visual que muestra de manera resumida y concisa información clave y métricas relevantes para monitorear el desempeño de una organización.</a:t>
            </a:r>
          </a:p>
          <a:p>
            <a:r>
              <a:rPr lang="es-ES" dirty="0"/>
              <a:t>Los tableros de control son altamente personalizables y pueden contener diversos elementos, como gráficos, indicadores, medidores, tablas, mapas y otros componentes visuales.</a:t>
            </a:r>
          </a:p>
          <a:p>
            <a:r>
              <a:rPr lang="es-ES" dirty="0"/>
              <a:t>Estos elementos se presentan de manera clara y visualmente atractiva para facilitar la comprensión y la toma de decisiones.</a:t>
            </a:r>
          </a:p>
        </p:txBody>
      </p:sp>
      <p:pic>
        <p:nvPicPr>
          <p:cNvPr id="4" name="Marcador de posición de imagen 3">
            <a:extLst>
              <a:ext uri="{FF2B5EF4-FFF2-40B4-BE49-F238E27FC236}">
                <a16:creationId xmlns:a16="http://schemas.microsoft.com/office/drawing/2014/main" id="{0239C4EC-1CB7-B1A8-CF74-C5820DE82D15}"/>
              </a:ext>
            </a:extLst>
          </p:cNvPr>
          <p:cNvPicPr>
            <a:picLocks noGrp="1" noChangeAspect="1"/>
          </p:cNvPicPr>
          <p:nvPr>
            <p:ph type="pic" sz="quarter" idx="10"/>
          </p:nvPr>
        </p:nvPicPr>
        <p:blipFill>
          <a:blip r:embed="rId3"/>
          <a:srcRect l="118" r="118"/>
          <a:stretch>
            <a:fillRect/>
          </a:stretch>
        </p:blipFill>
        <p:spPr>
          <a:xfrm>
            <a:off x="5238947" y="1062681"/>
            <a:ext cx="3549293" cy="3862006"/>
          </a:xfrm>
        </p:spPr>
      </p:pic>
    </p:spTree>
    <p:extLst>
      <p:ext uri="{BB962C8B-B14F-4D97-AF65-F5344CB8AC3E}">
        <p14:creationId xmlns:p14="http://schemas.microsoft.com/office/powerpoint/2010/main" val="2056389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Dashboard</a:t>
            </a:r>
            <a:r>
              <a:rPr lang="es-PE" dirty="0"/>
              <a:t> y sus características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482059" cy="3838794"/>
          </a:xfrm>
        </p:spPr>
        <p:txBody>
          <a:bodyPr/>
          <a:lstStyle/>
          <a:p>
            <a:pPr>
              <a:spcAft>
                <a:spcPts val="600"/>
              </a:spcAft>
            </a:pPr>
            <a:r>
              <a:rPr lang="es-ES" b="1" dirty="0"/>
              <a:t>Indicadores clave de rendimiento (KPI)</a:t>
            </a:r>
            <a:endParaRPr lang="es-ES" dirty="0"/>
          </a:p>
          <a:p>
            <a:pPr marL="265113" lvl="1" indent="0">
              <a:spcAft>
                <a:spcPts val="600"/>
              </a:spcAft>
              <a:buNone/>
            </a:pPr>
            <a:r>
              <a:rPr lang="es-ES" dirty="0"/>
              <a:t>Suelen incluir los KPI, que son medidas clave que indican el desempeño de la organización o de un área.</a:t>
            </a:r>
          </a:p>
          <a:p>
            <a:pPr marL="265113" lvl="1" indent="0">
              <a:buNone/>
            </a:pPr>
            <a:r>
              <a:rPr lang="es-ES" dirty="0"/>
              <a:t>Los KPI pueden ser visualizados a través de gráficos, como barras, líneas o pastel, para resaltar el rendimiento y las tendencias.</a:t>
            </a:r>
          </a:p>
          <a:p>
            <a:pPr>
              <a:spcAft>
                <a:spcPts val="600"/>
              </a:spcAft>
            </a:pPr>
            <a:r>
              <a:rPr lang="es-ES" b="1" dirty="0"/>
              <a:t>Actualización en tiempo real</a:t>
            </a:r>
            <a:endParaRPr lang="es-ES" dirty="0"/>
          </a:p>
          <a:p>
            <a:pPr marL="265113" lvl="1" indent="0">
              <a:spcAft>
                <a:spcPts val="600"/>
              </a:spcAft>
              <a:buNone/>
            </a:pPr>
            <a:r>
              <a:rPr lang="es-ES" dirty="0"/>
              <a:t>Pueden mostrar datos actualizados de manera constante o en intervalos regulares.</a:t>
            </a:r>
          </a:p>
          <a:p>
            <a:pPr marL="265113" lvl="1" indent="0">
              <a:buNone/>
            </a:pPr>
            <a:r>
              <a:rPr lang="es-ES" dirty="0"/>
              <a:t>Esto permite a los usuarios estar al tanto de la situación actual y tomar decisiones basadas en información actualizada.</a:t>
            </a:r>
          </a:p>
        </p:txBody>
      </p:sp>
      <p:pic>
        <p:nvPicPr>
          <p:cNvPr id="4" name="Marcador de posición de imagen 3">
            <a:extLst>
              <a:ext uri="{FF2B5EF4-FFF2-40B4-BE49-F238E27FC236}">
                <a16:creationId xmlns:a16="http://schemas.microsoft.com/office/drawing/2014/main" id="{BEC9A751-9D9F-D987-5663-86443FD8945E}"/>
              </a:ext>
            </a:extLst>
          </p:cNvPr>
          <p:cNvPicPr>
            <a:picLocks noGrp="1" noChangeAspect="1"/>
          </p:cNvPicPr>
          <p:nvPr>
            <p:ph type="pic" sz="quarter" idx="10"/>
          </p:nvPr>
        </p:nvPicPr>
        <p:blipFill>
          <a:blip r:embed="rId3"/>
          <a:srcRect l="2" r="2"/>
          <a:stretch>
            <a:fillRect/>
          </a:stretch>
        </p:blipFill>
        <p:spPr>
          <a:xfrm>
            <a:off x="5175164" y="1072165"/>
            <a:ext cx="3760653" cy="4091988"/>
          </a:xfrm>
        </p:spPr>
      </p:pic>
    </p:spTree>
    <p:extLst>
      <p:ext uri="{BB962C8B-B14F-4D97-AF65-F5344CB8AC3E}">
        <p14:creationId xmlns:p14="http://schemas.microsoft.com/office/powerpoint/2010/main" val="282653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Dashboard</a:t>
            </a:r>
            <a:r>
              <a:rPr lang="es-PE" dirty="0"/>
              <a:t> y sus características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5"/>
            <a:ext cx="4655480" cy="3555015"/>
          </a:xfrm>
        </p:spPr>
        <p:txBody>
          <a:bodyPr/>
          <a:lstStyle/>
          <a:p>
            <a:pPr>
              <a:spcAft>
                <a:spcPts val="600"/>
              </a:spcAft>
            </a:pPr>
            <a:r>
              <a:rPr lang="es-ES" b="1" dirty="0"/>
              <a:t>Interactividad</a:t>
            </a:r>
            <a:endParaRPr lang="es-ES" dirty="0"/>
          </a:p>
          <a:p>
            <a:pPr marL="265113" lvl="1" indent="0">
              <a:spcAft>
                <a:spcPts val="600"/>
              </a:spcAft>
              <a:buNone/>
            </a:pPr>
            <a:r>
              <a:rPr lang="es-ES" dirty="0"/>
              <a:t>A menudo son interactivos, los usuarios pueden interactuar con ellos, explorar los datos en detalle y filtrar la información según sus necesidades.</a:t>
            </a:r>
          </a:p>
          <a:p>
            <a:pPr marL="265113" lvl="1" indent="0">
              <a:buNone/>
            </a:pPr>
            <a:r>
              <a:rPr lang="es-ES" dirty="0"/>
              <a:t>Por ejemplo, se pueden seleccionar periodos de tiempo específicos, cambiar los parámetros de visualización o hacer clic en elementos para obtener más detalles.</a:t>
            </a:r>
          </a:p>
          <a:p>
            <a:pPr>
              <a:spcAft>
                <a:spcPts val="600"/>
              </a:spcAft>
            </a:pPr>
            <a:r>
              <a:rPr lang="es-ES" b="1" dirty="0"/>
              <a:t>Alertas y notificaciones</a:t>
            </a:r>
            <a:endParaRPr lang="es-ES" dirty="0"/>
          </a:p>
          <a:p>
            <a:pPr marL="265113" lvl="1" indent="0">
              <a:spcAft>
                <a:spcPts val="600"/>
              </a:spcAft>
              <a:buNone/>
            </a:pPr>
            <a:r>
              <a:rPr lang="es-ES" dirty="0"/>
              <a:t>Pueden generar alertas o notificaciones cuando se alcanzan ciertos umbrales o cuando se producen eventos importantes.</a:t>
            </a:r>
          </a:p>
        </p:txBody>
      </p:sp>
      <p:pic>
        <p:nvPicPr>
          <p:cNvPr id="8" name="Marcador de posición de imagen 7">
            <a:extLst>
              <a:ext uri="{FF2B5EF4-FFF2-40B4-BE49-F238E27FC236}">
                <a16:creationId xmlns:a16="http://schemas.microsoft.com/office/drawing/2014/main" id="{67117610-F386-A540-9DB2-5E4E52C290CC}"/>
              </a:ext>
            </a:extLst>
          </p:cNvPr>
          <p:cNvPicPr>
            <a:picLocks noGrp="1" noChangeAspect="1"/>
          </p:cNvPicPr>
          <p:nvPr>
            <p:ph type="pic" sz="quarter" idx="10"/>
          </p:nvPr>
        </p:nvPicPr>
        <p:blipFill>
          <a:blip r:embed="rId3"/>
          <a:srcRect l="2" r="2"/>
          <a:stretch>
            <a:fillRect/>
          </a:stretch>
        </p:blipFill>
        <p:spPr>
          <a:xfrm>
            <a:off x="5278556" y="1158875"/>
            <a:ext cx="3662724" cy="3985431"/>
          </a:xfrm>
        </p:spPr>
      </p:pic>
    </p:spTree>
    <p:extLst>
      <p:ext uri="{BB962C8B-B14F-4D97-AF65-F5344CB8AC3E}">
        <p14:creationId xmlns:p14="http://schemas.microsoft.com/office/powerpoint/2010/main" val="1465623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i="1" dirty="0"/>
              <a:t>Dashboard</a:t>
            </a:r>
            <a:r>
              <a:rPr lang="es-PE" dirty="0"/>
              <a:t> y sus características </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37239" cy="2238594"/>
          </a:xfrm>
        </p:spPr>
        <p:txBody>
          <a:bodyPr/>
          <a:lstStyle/>
          <a:p>
            <a:pPr>
              <a:spcAft>
                <a:spcPts val="600"/>
              </a:spcAft>
            </a:pPr>
            <a:r>
              <a:rPr lang="es-ES" b="1" dirty="0"/>
              <a:t>Personalización y compartición</a:t>
            </a:r>
            <a:endParaRPr lang="es-ES" dirty="0"/>
          </a:p>
          <a:p>
            <a:pPr marL="265113" lvl="1" indent="0">
              <a:spcAft>
                <a:spcPts val="600"/>
              </a:spcAft>
              <a:buNone/>
            </a:pPr>
            <a:r>
              <a:rPr lang="es-ES" dirty="0"/>
              <a:t>Los usuarios pueden personalizar sus tableros de control según sus necesidades y preferencias individuales.</a:t>
            </a:r>
          </a:p>
          <a:p>
            <a:pPr marL="265113" lvl="1" indent="0">
              <a:buNone/>
            </a:pPr>
            <a:r>
              <a:rPr lang="es-ES" dirty="0"/>
              <a:t>También pueden compartir tableros con otros miembros del equipo o partes interesadas, lo que facilita la colaboración y la comunicación.</a:t>
            </a:r>
          </a:p>
        </p:txBody>
      </p:sp>
      <p:pic>
        <p:nvPicPr>
          <p:cNvPr id="4" name="Marcador de posición de imagen 3">
            <a:extLst>
              <a:ext uri="{FF2B5EF4-FFF2-40B4-BE49-F238E27FC236}">
                <a16:creationId xmlns:a16="http://schemas.microsoft.com/office/drawing/2014/main" id="{339DF553-780F-934D-0CA2-27029634ED6B}"/>
              </a:ext>
            </a:extLst>
          </p:cNvPr>
          <p:cNvPicPr>
            <a:picLocks noGrp="1" noChangeAspect="1"/>
          </p:cNvPicPr>
          <p:nvPr>
            <p:ph type="pic" sz="quarter" idx="10"/>
          </p:nvPr>
        </p:nvPicPr>
        <p:blipFill>
          <a:blip r:embed="rId3"/>
          <a:srcRect t="212" b="212"/>
          <a:stretch>
            <a:fillRect/>
          </a:stretch>
        </p:blipFill>
        <p:spPr>
          <a:xfrm>
            <a:off x="5382116" y="1103586"/>
            <a:ext cx="3496101" cy="3804128"/>
          </a:xfrm>
        </p:spPr>
      </p:pic>
    </p:spTree>
    <p:extLst>
      <p:ext uri="{BB962C8B-B14F-4D97-AF65-F5344CB8AC3E}">
        <p14:creationId xmlns:p14="http://schemas.microsoft.com/office/powerpoint/2010/main" val="750502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Marcador de posición de imagen 9">
            <a:extLst>
              <a:ext uri="{FF2B5EF4-FFF2-40B4-BE49-F238E27FC236}">
                <a16:creationId xmlns:a16="http://schemas.microsoft.com/office/drawing/2014/main" id="{2C806400-7136-BBF4-044F-96DA4F020A75}"/>
              </a:ext>
            </a:extLst>
          </p:cNvPr>
          <p:cNvPicPr>
            <a:picLocks noGrp="1" noChangeAspect="1"/>
          </p:cNvPicPr>
          <p:nvPr>
            <p:ph type="pic" sz="quarter" idx="10"/>
          </p:nvPr>
        </p:nvPicPr>
        <p:blipFill>
          <a:blip r:embed="rId3"/>
          <a:srcRect t="29301" b="29301"/>
          <a:stretch/>
        </p:blipFill>
        <p:spPr>
          <a:xfrm>
            <a:off x="470825" y="973123"/>
            <a:ext cx="8208000" cy="4288477"/>
          </a:xfrm>
          <a:solidFill>
            <a:schemeClr val="accent6">
              <a:lumMod val="50000"/>
            </a:schemeClr>
          </a:solid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3"/>
          </p:nvPr>
        </p:nvSpPr>
        <p:spPr>
          <a:xfrm>
            <a:off x="1875260" y="620414"/>
            <a:ext cx="5599331" cy="354012"/>
          </a:xfrm>
        </p:spPr>
        <p:txBody>
          <a:bodyPr/>
          <a:lstStyle/>
          <a:p>
            <a:pPr marL="274638" indent="-274638">
              <a:tabLst>
                <a:tab pos="274638" algn="l"/>
              </a:tabLst>
            </a:pPr>
            <a:r>
              <a:rPr lang="es-PE" dirty="0"/>
              <a:t>¿Cómo implementar un tablero de control o </a:t>
            </a:r>
            <a:r>
              <a:rPr lang="es-PE" i="1" dirty="0"/>
              <a:t>dashboard?</a:t>
            </a:r>
          </a:p>
        </p:txBody>
      </p:sp>
      <p:graphicFrame>
        <p:nvGraphicFramePr>
          <p:cNvPr id="14" name="Diagrama 13">
            <a:extLst>
              <a:ext uri="{FF2B5EF4-FFF2-40B4-BE49-F238E27FC236}">
                <a16:creationId xmlns:a16="http://schemas.microsoft.com/office/drawing/2014/main" id="{1DDFDD47-399C-C7E7-2BEA-121AA38A223F}"/>
              </a:ext>
            </a:extLst>
          </p:cNvPr>
          <p:cNvGraphicFramePr/>
          <p:nvPr>
            <p:extLst>
              <p:ext uri="{D42A27DB-BD31-4B8C-83A1-F6EECF244321}">
                <p14:modId xmlns:p14="http://schemas.microsoft.com/office/powerpoint/2010/main" val="4060915830"/>
              </p:ext>
            </p:extLst>
          </p:nvPr>
        </p:nvGraphicFramePr>
        <p:xfrm>
          <a:off x="465175" y="1090863"/>
          <a:ext cx="8207375" cy="417963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Marcador de texto 12">
            <a:extLst>
              <a:ext uri="{FF2B5EF4-FFF2-40B4-BE49-F238E27FC236}">
                <a16:creationId xmlns:a16="http://schemas.microsoft.com/office/drawing/2014/main" id="{3E741AAD-F3E1-4C1F-A51A-1CE72978C7DC}"/>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638" indent="-274638">
              <a:tabLst>
                <a:tab pos="274638" algn="l"/>
              </a:tabLst>
            </a:pPr>
            <a:r>
              <a:rPr lang="es-PE" dirty="0"/>
              <a:t>/ MODELAMIENTO DE TABLEROS DE CONTROL</a:t>
            </a:r>
            <a:r>
              <a:rPr lang="es-PE" sz="1600" i="1" dirty="0"/>
              <a:t> </a:t>
            </a:r>
            <a:r>
              <a:rPr lang="es-PE" dirty="0"/>
              <a:t>y DE BALANCED SCORECARD</a:t>
            </a:r>
          </a:p>
        </p:txBody>
      </p:sp>
    </p:spTree>
    <p:extLst>
      <p:ext uri="{BB962C8B-B14F-4D97-AF65-F5344CB8AC3E}">
        <p14:creationId xmlns:p14="http://schemas.microsoft.com/office/powerpoint/2010/main" val="638759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Marcador de posición de imagen 9">
            <a:extLst>
              <a:ext uri="{FF2B5EF4-FFF2-40B4-BE49-F238E27FC236}">
                <a16:creationId xmlns:a16="http://schemas.microsoft.com/office/drawing/2014/main" id="{2C806400-7136-BBF4-044F-96DA4F020A75}"/>
              </a:ext>
            </a:extLst>
          </p:cNvPr>
          <p:cNvPicPr>
            <a:picLocks noGrp="1" noChangeAspect="1"/>
          </p:cNvPicPr>
          <p:nvPr>
            <p:ph type="pic" sz="quarter" idx="10"/>
          </p:nvPr>
        </p:nvPicPr>
        <p:blipFill>
          <a:blip r:embed="rId3"/>
          <a:srcRect t="29301" b="29301"/>
          <a:stretch/>
        </p:blipFill>
        <p:spPr/>
      </p:pic>
      <p:sp>
        <p:nvSpPr>
          <p:cNvPr id="2" name="Marcador de texto 8">
            <a:extLst>
              <a:ext uri="{FF2B5EF4-FFF2-40B4-BE49-F238E27FC236}">
                <a16:creationId xmlns:a16="http://schemas.microsoft.com/office/drawing/2014/main" id="{F2BE32C9-7430-7DBA-C041-DBCB9708F7CE}"/>
              </a:ext>
            </a:extLst>
          </p:cNvPr>
          <p:cNvSpPr txBox="1">
            <a:spLocks/>
          </p:cNvSpPr>
          <p:nvPr/>
        </p:nvSpPr>
        <p:spPr>
          <a:xfrm>
            <a:off x="468313" y="804862"/>
            <a:ext cx="8207375" cy="44656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indent="-273050" algn="just">
              <a:lnSpc>
                <a:spcPct val="85000"/>
              </a:lnSpc>
              <a:spcAft>
                <a:spcPts val="600"/>
              </a:spcAft>
              <a:buFont typeface="Arial"/>
              <a:buNone/>
              <a:tabLst>
                <a:tab pos="273050" algn="l"/>
              </a:tabLst>
            </a:pPr>
            <a:r>
              <a:rPr lang="es-ES" sz="1400" dirty="0"/>
              <a:t>[1]	Una tienda minorista en línea desea monitorear las ventas, el tráfico del sitio web y la satisfacción del cliente. </a:t>
            </a:r>
            <a:r>
              <a:rPr lang="es-ES" sz="1400" b="1" dirty="0"/>
              <a:t>Las métricas clave</a:t>
            </a:r>
            <a:r>
              <a:rPr lang="es-ES" sz="1400" dirty="0"/>
              <a:t> podrían ser el total de ventas diarias, el número de visitantes únicos, y la calificación promedio de satisfacción del cliente.</a:t>
            </a:r>
          </a:p>
          <a:p>
            <a:pPr marL="273050" indent="-273050" algn="just">
              <a:lnSpc>
                <a:spcPct val="85000"/>
              </a:lnSpc>
              <a:spcAft>
                <a:spcPts val="600"/>
              </a:spcAft>
              <a:buFont typeface="Arial"/>
              <a:buNone/>
              <a:tabLst>
                <a:tab pos="273050" algn="l"/>
              </a:tabLst>
            </a:pPr>
            <a:r>
              <a:rPr lang="es-ES" sz="1400" dirty="0"/>
              <a:t>[2]	Si el tablero de control está </a:t>
            </a:r>
            <a:r>
              <a:rPr lang="es-ES" sz="1400" b="1" dirty="0"/>
              <a:t>destinado a los gerentes de la tienda</a:t>
            </a:r>
            <a:r>
              <a:rPr lang="es-ES" sz="1400" dirty="0"/>
              <a:t>, es posible que deseen ver las ventas por categoría de productos y los KPI relacionados con los ingresos. Asegúrate de comprender los requisitos de visualización, como los tipos de gráficos preferidos o los colores utilizados para representar los indicadores.</a:t>
            </a:r>
          </a:p>
          <a:p>
            <a:pPr marL="273050" indent="-273050" algn="just">
              <a:lnSpc>
                <a:spcPct val="85000"/>
              </a:lnSpc>
              <a:spcAft>
                <a:spcPts val="600"/>
              </a:spcAft>
              <a:buFont typeface="Arial"/>
              <a:buNone/>
              <a:tabLst>
                <a:tab pos="273050" algn="l"/>
              </a:tabLst>
            </a:pPr>
            <a:r>
              <a:rPr lang="es-ES" sz="1400" dirty="0"/>
              <a:t>[3]	</a:t>
            </a:r>
            <a:r>
              <a:rPr lang="es-ES" sz="1400" b="1" dirty="0"/>
              <a:t>Elige una herramienta de tablero de control</a:t>
            </a:r>
            <a:r>
              <a:rPr lang="es-ES" sz="1400" dirty="0"/>
              <a:t> que se adapte a tus necesidades y habilidades. Algunas opciones populares incluyen Tableau, Power BI o Google Data Studio.</a:t>
            </a:r>
          </a:p>
          <a:p>
            <a:pPr marL="273050" indent="-273050" algn="just">
              <a:lnSpc>
                <a:spcPct val="85000"/>
              </a:lnSpc>
              <a:spcAft>
                <a:spcPts val="600"/>
              </a:spcAft>
              <a:buFont typeface="Arial"/>
              <a:buNone/>
              <a:tabLst>
                <a:tab pos="273050" algn="l"/>
              </a:tabLst>
            </a:pPr>
            <a:r>
              <a:rPr lang="es-ES" sz="1400" dirty="0"/>
              <a:t>[4]	</a:t>
            </a:r>
            <a:r>
              <a:rPr lang="es-ES" sz="1400" b="1" dirty="0"/>
              <a:t>Reúne los datos necesarios para las métricas</a:t>
            </a:r>
            <a:r>
              <a:rPr lang="es-ES" sz="1400" dirty="0"/>
              <a:t>. Pueden provenir de bases de datos, hojas de cálculo o sistemas. Limpia y transforma los datos según sea necesario para garantizar su calidad y coherencia.</a:t>
            </a:r>
          </a:p>
          <a:p>
            <a:pPr marL="273050" indent="-273050" algn="just">
              <a:lnSpc>
                <a:spcPct val="85000"/>
              </a:lnSpc>
              <a:spcAft>
                <a:spcPts val="600"/>
              </a:spcAft>
              <a:buFont typeface="Arial"/>
              <a:buNone/>
              <a:tabLst>
                <a:tab pos="273050" algn="l"/>
              </a:tabLst>
            </a:pPr>
            <a:r>
              <a:rPr lang="es-ES" sz="1400" dirty="0"/>
              <a:t>[5]	</a:t>
            </a:r>
            <a:r>
              <a:rPr lang="es-ES" sz="1400" b="1" dirty="0"/>
              <a:t>Crea un diseño visualmente atractivo y claro para el tablero de control</a:t>
            </a:r>
            <a:r>
              <a:rPr lang="es-ES" sz="1400" dirty="0"/>
              <a:t>. Utiliza gráficos, tablas, medidores y otros elementos visuales para representar las métricas y los indicadores.</a:t>
            </a:r>
          </a:p>
          <a:p>
            <a:pPr marL="273050" indent="-273050" algn="just">
              <a:lnSpc>
                <a:spcPct val="85000"/>
              </a:lnSpc>
              <a:spcAft>
                <a:spcPts val="600"/>
              </a:spcAft>
              <a:buFont typeface="Arial"/>
              <a:buNone/>
              <a:tabLst>
                <a:tab pos="273050" algn="l"/>
              </a:tabLst>
            </a:pPr>
            <a:r>
              <a:rPr lang="es-ES" sz="1400" dirty="0"/>
              <a:t>[6]	</a:t>
            </a:r>
            <a:r>
              <a:rPr lang="es-ES" sz="1400" b="1" dirty="0"/>
              <a:t>Agrega componentes interactivos</a:t>
            </a:r>
            <a:r>
              <a:rPr lang="es-ES" sz="1400" dirty="0"/>
              <a:t> para permitir a los usuarios explorar y filtrar los datos.</a:t>
            </a:r>
          </a:p>
          <a:p>
            <a:pPr marL="273050" indent="-273050" algn="just">
              <a:lnSpc>
                <a:spcPct val="85000"/>
              </a:lnSpc>
              <a:spcAft>
                <a:spcPts val="600"/>
              </a:spcAft>
              <a:buFont typeface="Arial"/>
              <a:buNone/>
              <a:tabLst>
                <a:tab pos="273050" algn="l"/>
              </a:tabLst>
            </a:pPr>
            <a:r>
              <a:rPr lang="es-ES" sz="1400" dirty="0"/>
              <a:t>[7]	</a:t>
            </a:r>
            <a:r>
              <a:rPr lang="es-ES" sz="1400" b="1" dirty="0"/>
              <a:t>Optimiza el rendimiento del tablero de control</a:t>
            </a:r>
            <a:r>
              <a:rPr lang="es-ES" sz="1400" dirty="0"/>
              <a:t> para garantizar una carga rápida y una experiencia fluida.</a:t>
            </a:r>
          </a:p>
          <a:p>
            <a:pPr marL="273050" indent="-273050" algn="just">
              <a:lnSpc>
                <a:spcPct val="85000"/>
              </a:lnSpc>
              <a:spcAft>
                <a:spcPts val="600"/>
              </a:spcAft>
              <a:buFont typeface="Arial"/>
              <a:buNone/>
              <a:tabLst>
                <a:tab pos="273050" algn="l"/>
              </a:tabLst>
            </a:pPr>
            <a:r>
              <a:rPr lang="es-ES" sz="1400" dirty="0"/>
              <a:t>[8]	</a:t>
            </a:r>
            <a:r>
              <a:rPr lang="es-ES" sz="1400" b="1" dirty="0"/>
              <a:t>Publica el tablero de control</a:t>
            </a:r>
            <a:r>
              <a:rPr lang="es-ES" sz="1400" dirty="0"/>
              <a:t> en la herramienta seleccionada y compártelo con los usuarios relevantes.</a:t>
            </a:r>
          </a:p>
          <a:p>
            <a:pPr marL="273050" indent="-273050" algn="just">
              <a:lnSpc>
                <a:spcPct val="85000"/>
              </a:lnSpc>
              <a:spcAft>
                <a:spcPts val="600"/>
              </a:spcAft>
              <a:buFont typeface="Arial"/>
              <a:buNone/>
              <a:tabLst>
                <a:tab pos="273050" algn="l"/>
              </a:tabLst>
            </a:pPr>
            <a:r>
              <a:rPr lang="es-ES" sz="1400" dirty="0"/>
              <a:t>[9]	Asegúrate de </a:t>
            </a:r>
            <a:r>
              <a:rPr lang="es-ES" sz="1400" b="1" dirty="0"/>
              <a:t>mantener los datos actualizados</a:t>
            </a:r>
            <a:r>
              <a:rPr lang="es-ES" sz="1400" dirty="0"/>
              <a:t> y de que los enlaces y conexiones con las fuentes de datos sigan siendo válidos. Realiza mejoras periódicas para agregar nuevas métricas o características adicionales según las necesidades cambiantes de tu organización.</a:t>
            </a:r>
          </a:p>
        </p:txBody>
      </p:sp>
      <p:sp>
        <p:nvSpPr>
          <p:cNvPr id="5" name="Marcador de texto 12">
            <a:extLst>
              <a:ext uri="{FF2B5EF4-FFF2-40B4-BE49-F238E27FC236}">
                <a16:creationId xmlns:a16="http://schemas.microsoft.com/office/drawing/2014/main" id="{38B1A92A-6040-43A9-9ABC-D4951B74EC3D}"/>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638" indent="-274638">
              <a:tabLst>
                <a:tab pos="274638" algn="l"/>
              </a:tabLst>
            </a:pPr>
            <a:r>
              <a:rPr lang="es-PE" dirty="0"/>
              <a:t>/ MODELAMIENTO DE TABLEROS DE CONTROL</a:t>
            </a:r>
            <a:r>
              <a:rPr lang="es-PE" sz="1600" i="1" dirty="0"/>
              <a:t> </a:t>
            </a:r>
            <a:r>
              <a:rPr lang="es-PE" dirty="0"/>
              <a:t>y DE BALANCED SCORECARD</a:t>
            </a:r>
          </a:p>
        </p:txBody>
      </p:sp>
    </p:spTree>
    <p:extLst>
      <p:ext uri="{BB962C8B-B14F-4D97-AF65-F5344CB8AC3E}">
        <p14:creationId xmlns:p14="http://schemas.microsoft.com/office/powerpoint/2010/main" val="29500344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Balanced Scorecard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p:txBody>
          <a:bodyPr/>
          <a:lstStyle/>
          <a:p>
            <a:r>
              <a:rPr lang="es-ES" dirty="0"/>
              <a:t>Es una metodología y un marco de gestión estratégica que se utiliza para medir, monitorear y gestionar el rendimiento de una organización en relación con sus objetivos estratégicos.</a:t>
            </a:r>
          </a:p>
          <a:p>
            <a:pPr>
              <a:spcAft>
                <a:spcPts val="600"/>
              </a:spcAft>
            </a:pPr>
            <a:r>
              <a:rPr lang="es-ES" dirty="0"/>
              <a:t>El Balanced Scorecard incorpora múltiples perspectivas para evaluar el desempeño de una organización, generalmente divididas en cuatro categorías:</a:t>
            </a:r>
          </a:p>
          <a:p>
            <a:pPr lvl="1">
              <a:spcAft>
                <a:spcPts val="600"/>
              </a:spcAft>
            </a:pPr>
            <a:r>
              <a:rPr lang="es-ES" dirty="0"/>
              <a:t>Perspectiva financiera.</a:t>
            </a:r>
          </a:p>
          <a:p>
            <a:pPr lvl="1">
              <a:spcAft>
                <a:spcPts val="600"/>
              </a:spcAft>
            </a:pPr>
            <a:r>
              <a:rPr lang="es-ES" dirty="0"/>
              <a:t>Perspectiva del cliente</a:t>
            </a:r>
          </a:p>
          <a:p>
            <a:pPr lvl="1">
              <a:spcAft>
                <a:spcPts val="600"/>
              </a:spcAft>
            </a:pPr>
            <a:r>
              <a:rPr lang="es-ES" dirty="0"/>
              <a:t>Perspectiva interna o de procesos.</a:t>
            </a:r>
          </a:p>
          <a:p>
            <a:pPr lvl="1"/>
            <a:r>
              <a:rPr lang="es-ES" dirty="0"/>
              <a:t>Perspectiva de aprendizaje y crecimiento.</a:t>
            </a:r>
          </a:p>
        </p:txBody>
      </p:sp>
      <p:pic>
        <p:nvPicPr>
          <p:cNvPr id="8" name="Marcador de posición de imagen 7">
            <a:extLst>
              <a:ext uri="{FF2B5EF4-FFF2-40B4-BE49-F238E27FC236}">
                <a16:creationId xmlns:a16="http://schemas.microsoft.com/office/drawing/2014/main" id="{29D0FBD5-1D8A-C9A7-1AF5-F15B3163120E}"/>
              </a:ext>
            </a:extLst>
          </p:cNvPr>
          <p:cNvPicPr>
            <a:picLocks noGrp="1" noChangeAspect="1"/>
          </p:cNvPicPr>
          <p:nvPr>
            <p:ph type="pic" sz="quarter" idx="10"/>
          </p:nvPr>
        </p:nvPicPr>
        <p:blipFill>
          <a:blip r:embed="rId3"/>
          <a:srcRect t="444" b="444"/>
          <a:stretch>
            <a:fillRect/>
          </a:stretch>
        </p:blipFill>
        <p:spPr/>
      </p:pic>
    </p:spTree>
    <p:extLst>
      <p:ext uri="{BB962C8B-B14F-4D97-AF65-F5344CB8AC3E}">
        <p14:creationId xmlns:p14="http://schemas.microsoft.com/office/powerpoint/2010/main" val="403542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Balanced Scorecard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352340" cy="3509378"/>
          </a:xfrm>
        </p:spPr>
        <p:txBody>
          <a:bodyPr/>
          <a:lstStyle/>
          <a:p>
            <a:pPr>
              <a:spcAft>
                <a:spcPts val="600"/>
              </a:spcAft>
            </a:pPr>
            <a:r>
              <a:rPr lang="es-ES" b="1" dirty="0"/>
              <a:t>Perspectiva financiera</a:t>
            </a:r>
          </a:p>
          <a:p>
            <a:pPr marL="265113" lvl="1" indent="0">
              <a:spcAft>
                <a:spcPts val="0"/>
              </a:spcAft>
              <a:buNone/>
            </a:pPr>
            <a:r>
              <a:rPr lang="es-ES" dirty="0"/>
              <a:t>Se enfoca en los resultados financieros y económicos de la organización.</a:t>
            </a:r>
          </a:p>
          <a:p>
            <a:pPr marL="265113" lvl="1" indent="0">
              <a:spcAft>
                <a:spcPts val="1800"/>
              </a:spcAft>
              <a:buNone/>
            </a:pPr>
            <a:r>
              <a:rPr lang="es-ES" dirty="0"/>
              <a:t>Incluye métricas tradicionales como ingresos, rentabilidad, crecimiento de los ingresos y retorno de la inversión (ROI).</a:t>
            </a:r>
          </a:p>
          <a:p>
            <a:pPr>
              <a:spcAft>
                <a:spcPts val="600"/>
              </a:spcAft>
            </a:pPr>
            <a:r>
              <a:rPr lang="es-ES" b="1" dirty="0"/>
              <a:t>Perspectiva del cliente</a:t>
            </a:r>
          </a:p>
          <a:p>
            <a:pPr marL="265113" lvl="1" indent="0">
              <a:spcAft>
                <a:spcPts val="0"/>
              </a:spcAft>
              <a:buNone/>
            </a:pPr>
            <a:r>
              <a:rPr lang="es-ES" dirty="0"/>
              <a:t>Se centra en las necesidades y la satisfacción de los clientes.</a:t>
            </a:r>
          </a:p>
          <a:p>
            <a:pPr marL="265113" lvl="1" indent="0">
              <a:spcAft>
                <a:spcPts val="0"/>
              </a:spcAft>
              <a:buNone/>
            </a:pPr>
            <a:r>
              <a:rPr lang="es-ES" dirty="0"/>
              <a:t>Incluye métricas como la satisfacción del cliente, la lealtad, el tiempo de respuesta y la calidad del servicio.</a:t>
            </a:r>
          </a:p>
        </p:txBody>
      </p:sp>
      <p:pic>
        <p:nvPicPr>
          <p:cNvPr id="4" name="Marcador de posición de imagen 3">
            <a:extLst>
              <a:ext uri="{FF2B5EF4-FFF2-40B4-BE49-F238E27FC236}">
                <a16:creationId xmlns:a16="http://schemas.microsoft.com/office/drawing/2014/main" id="{3BD5B08F-302F-F874-2206-A7DE553FCFF4}"/>
              </a:ext>
            </a:extLst>
          </p:cNvPr>
          <p:cNvPicPr>
            <a:picLocks noGrp="1" noChangeAspect="1"/>
          </p:cNvPicPr>
          <p:nvPr>
            <p:ph type="pic" sz="quarter" idx="10"/>
          </p:nvPr>
        </p:nvPicPr>
        <p:blipFill>
          <a:blip r:embed="rId3"/>
          <a:srcRect l="2" r="2"/>
          <a:stretch>
            <a:fillRect/>
          </a:stretch>
        </p:blipFill>
        <p:spPr>
          <a:xfrm>
            <a:off x="4907970" y="816438"/>
            <a:ext cx="4086000" cy="4446000"/>
          </a:xfrm>
        </p:spPr>
      </p:pic>
    </p:spTree>
    <p:extLst>
      <p:ext uri="{BB962C8B-B14F-4D97-AF65-F5344CB8AC3E}">
        <p14:creationId xmlns:p14="http://schemas.microsoft.com/office/powerpoint/2010/main" val="830071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2"/>
          </p:nvPr>
        </p:nvSpPr>
        <p:spPr/>
        <p:txBody>
          <a:bodyPr/>
          <a:lstStyle/>
          <a:p>
            <a:r>
              <a:rPr lang="es-PE" dirty="0"/>
              <a:t>Balanced Scorecard</a:t>
            </a:r>
          </a:p>
        </p:txBody>
      </p:sp>
      <p:sp>
        <p:nvSpPr>
          <p:cNvPr id="13" name="Marcador de texto 12">
            <a:extLst>
              <a:ext uri="{FF2B5EF4-FFF2-40B4-BE49-F238E27FC236}">
                <a16:creationId xmlns:a16="http://schemas.microsoft.com/office/drawing/2014/main" id="{C6080245-BE0C-47F7-9701-B076D72F8D6D}"/>
              </a:ext>
            </a:extLst>
          </p:cNvPr>
          <p:cNvSpPr>
            <a:spLocks noGrp="1"/>
          </p:cNvSpPr>
          <p:nvPr>
            <p:ph type="body" sz="quarter" idx="13"/>
          </p:nvPr>
        </p:nvSpPr>
        <p:spPr/>
        <p:txBody>
          <a:bodyPr/>
          <a:lstStyle/>
          <a:p>
            <a:pPr marL="274638" indent="-274638">
              <a:tabLst>
                <a:tab pos="274638" algn="l"/>
              </a:tabLst>
            </a:pPr>
            <a:r>
              <a:rPr lang="es-PE" dirty="0"/>
              <a:t>/ MODELAMIENTO DE TABLEROS DE CONTROL</a:t>
            </a:r>
            <a:r>
              <a:rPr lang="es-PE" sz="1600" i="1" dirty="0"/>
              <a:t> </a:t>
            </a:r>
            <a:r>
              <a:rPr lang="es-PE" dirty="0"/>
              <a:t>y DE BALANCED SCORECARD</a:t>
            </a:r>
          </a:p>
        </p:txBody>
      </p:sp>
      <p:sp>
        <p:nvSpPr>
          <p:cNvPr id="9" name="Marcador de texto 8">
            <a:extLst>
              <a:ext uri="{FF2B5EF4-FFF2-40B4-BE49-F238E27FC236}">
                <a16:creationId xmlns:a16="http://schemas.microsoft.com/office/drawing/2014/main" id="{BE6A3960-FFC1-AB13-8A24-0D29A2F64530}"/>
              </a:ext>
            </a:extLst>
          </p:cNvPr>
          <p:cNvSpPr>
            <a:spLocks noGrp="1"/>
          </p:cNvSpPr>
          <p:nvPr>
            <p:ph type="body" sz="quarter" idx="14"/>
          </p:nvPr>
        </p:nvSpPr>
        <p:spPr>
          <a:xfrm>
            <a:off x="468313" y="1158876"/>
            <a:ext cx="4522490" cy="3624140"/>
          </a:xfrm>
        </p:spPr>
        <p:txBody>
          <a:bodyPr/>
          <a:lstStyle/>
          <a:p>
            <a:pPr>
              <a:spcAft>
                <a:spcPts val="600"/>
              </a:spcAft>
            </a:pPr>
            <a:r>
              <a:rPr lang="es-ES" b="1" dirty="0"/>
              <a:t>Perspectiva interna o de procesos</a:t>
            </a:r>
          </a:p>
          <a:p>
            <a:pPr marL="265113" lvl="1" indent="0">
              <a:spcAft>
                <a:spcPts val="0"/>
              </a:spcAft>
              <a:buNone/>
            </a:pPr>
            <a:r>
              <a:rPr lang="es-ES" dirty="0"/>
              <a:t>Se enfoca en los procesos internos y las operaciones de la organización. </a:t>
            </a:r>
          </a:p>
          <a:p>
            <a:pPr marL="265113" lvl="1" indent="0">
              <a:spcAft>
                <a:spcPts val="1800"/>
              </a:spcAft>
              <a:buNone/>
            </a:pPr>
            <a:r>
              <a:rPr lang="es-ES" dirty="0"/>
              <a:t>Incluye métricas relacionadas con la eficiencia operativa, calidad, tiempos de entrega, productividad y mejora continua. </a:t>
            </a:r>
          </a:p>
          <a:p>
            <a:pPr>
              <a:spcAft>
                <a:spcPts val="600"/>
              </a:spcAft>
            </a:pPr>
            <a:r>
              <a:rPr lang="es-ES" b="1" dirty="0"/>
              <a:t>Perspectiva de aprendizaje y crecimiento</a:t>
            </a:r>
            <a:endParaRPr lang="es-ES" dirty="0"/>
          </a:p>
          <a:p>
            <a:pPr marL="265113" lvl="1" indent="0">
              <a:spcAft>
                <a:spcPts val="0"/>
              </a:spcAft>
              <a:buNone/>
            </a:pPr>
            <a:r>
              <a:rPr lang="es-ES" dirty="0"/>
              <a:t>Se centra en el desarrollo y la mejora de las capacidades internas de la organización. </a:t>
            </a:r>
          </a:p>
          <a:p>
            <a:pPr marL="265113" lvl="1" indent="0">
              <a:spcAft>
                <a:spcPts val="0"/>
              </a:spcAft>
              <a:buNone/>
            </a:pPr>
            <a:r>
              <a:rPr lang="es-ES" dirty="0"/>
              <a:t>Incluye métricas relacionadas con la capacitación y el desarrollo de empleados, la innovación, la gestión del conocimiento y la cultura organizacional. </a:t>
            </a:r>
          </a:p>
        </p:txBody>
      </p:sp>
      <p:pic>
        <p:nvPicPr>
          <p:cNvPr id="4" name="Marcador de posición de imagen 3">
            <a:extLst>
              <a:ext uri="{FF2B5EF4-FFF2-40B4-BE49-F238E27FC236}">
                <a16:creationId xmlns:a16="http://schemas.microsoft.com/office/drawing/2014/main" id="{0EEA2927-4D99-891F-F693-A8CF1EA4859A}"/>
              </a:ext>
            </a:extLst>
          </p:cNvPr>
          <p:cNvPicPr>
            <a:picLocks noGrp="1" noChangeAspect="1"/>
          </p:cNvPicPr>
          <p:nvPr>
            <p:ph type="pic" sz="quarter" idx="10"/>
          </p:nvPr>
        </p:nvPicPr>
        <p:blipFill>
          <a:blip r:embed="rId3"/>
          <a:srcRect l="2" r="2"/>
          <a:stretch>
            <a:fillRect/>
          </a:stretch>
        </p:blipFill>
        <p:spPr>
          <a:xfrm>
            <a:off x="4990803" y="824500"/>
            <a:ext cx="4086000" cy="4446000"/>
          </a:xfrm>
        </p:spPr>
      </p:pic>
    </p:spTree>
    <p:extLst>
      <p:ext uri="{BB962C8B-B14F-4D97-AF65-F5344CB8AC3E}">
        <p14:creationId xmlns:p14="http://schemas.microsoft.com/office/powerpoint/2010/main" val="2870706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Marcador de posición de imagen 9">
            <a:extLst>
              <a:ext uri="{FF2B5EF4-FFF2-40B4-BE49-F238E27FC236}">
                <a16:creationId xmlns:a16="http://schemas.microsoft.com/office/drawing/2014/main" id="{2C806400-7136-BBF4-044F-96DA4F020A75}"/>
              </a:ext>
            </a:extLst>
          </p:cNvPr>
          <p:cNvPicPr>
            <a:picLocks noGrp="1" noChangeAspect="1"/>
          </p:cNvPicPr>
          <p:nvPr>
            <p:ph type="pic" sz="quarter" idx="10"/>
          </p:nvPr>
        </p:nvPicPr>
        <p:blipFill>
          <a:blip r:embed="rId3"/>
          <a:srcRect t="29301" b="29301"/>
          <a:stretch/>
        </p:blipFill>
        <p:spPr>
          <a:xfrm>
            <a:off x="470825" y="867369"/>
            <a:ext cx="8092883" cy="4394231"/>
          </a:xfrm>
          <a:solidFill>
            <a:schemeClr val="accent6">
              <a:lumMod val="50000"/>
            </a:schemeClr>
          </a:solidFill>
        </p:spPr>
      </p:pic>
      <p:sp>
        <p:nvSpPr>
          <p:cNvPr id="12" name="Marcador de texto 11">
            <a:extLst>
              <a:ext uri="{FF2B5EF4-FFF2-40B4-BE49-F238E27FC236}">
                <a16:creationId xmlns:a16="http://schemas.microsoft.com/office/drawing/2014/main" id="{27759B57-40EF-4CB1-BB1B-E3A8BE753EEF}"/>
              </a:ext>
            </a:extLst>
          </p:cNvPr>
          <p:cNvSpPr>
            <a:spLocks noGrp="1"/>
          </p:cNvSpPr>
          <p:nvPr>
            <p:ph type="body" sz="quarter" idx="13"/>
          </p:nvPr>
        </p:nvSpPr>
        <p:spPr>
          <a:xfrm>
            <a:off x="2077304" y="523600"/>
            <a:ext cx="4930165" cy="354012"/>
          </a:xfrm>
        </p:spPr>
        <p:txBody>
          <a:bodyPr/>
          <a:lstStyle/>
          <a:p>
            <a:pPr marL="274638" indent="-274638">
              <a:tabLst>
                <a:tab pos="274638" algn="l"/>
              </a:tabLst>
            </a:pPr>
            <a:r>
              <a:rPr lang="es-PE" dirty="0"/>
              <a:t>¿Cómo implementar Balanced Scorecard?</a:t>
            </a:r>
          </a:p>
        </p:txBody>
      </p:sp>
      <p:graphicFrame>
        <p:nvGraphicFramePr>
          <p:cNvPr id="14" name="Diagrama 13">
            <a:extLst>
              <a:ext uri="{FF2B5EF4-FFF2-40B4-BE49-F238E27FC236}">
                <a16:creationId xmlns:a16="http://schemas.microsoft.com/office/drawing/2014/main" id="{1DDFDD47-399C-C7E7-2BEA-121AA38A223F}"/>
              </a:ext>
            </a:extLst>
          </p:cNvPr>
          <p:cNvGraphicFramePr/>
          <p:nvPr>
            <p:extLst>
              <p:ext uri="{D42A27DB-BD31-4B8C-83A1-F6EECF244321}">
                <p14:modId xmlns:p14="http://schemas.microsoft.com/office/powerpoint/2010/main" val="3111516225"/>
              </p:ext>
            </p:extLst>
          </p:nvPr>
        </p:nvGraphicFramePr>
        <p:xfrm>
          <a:off x="290146" y="1046255"/>
          <a:ext cx="8803978" cy="42153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Marcador de texto 12">
            <a:extLst>
              <a:ext uri="{FF2B5EF4-FFF2-40B4-BE49-F238E27FC236}">
                <a16:creationId xmlns:a16="http://schemas.microsoft.com/office/drawing/2014/main" id="{00095F22-85E3-48E8-8719-6C4601C6B448}"/>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638" indent="-274638">
              <a:tabLst>
                <a:tab pos="274638" algn="l"/>
              </a:tabLst>
            </a:pPr>
            <a:r>
              <a:rPr lang="es-PE" dirty="0"/>
              <a:t>/ MODELAMIENTO DE TABLEROS DE CONTROL</a:t>
            </a:r>
            <a:r>
              <a:rPr lang="es-PE" sz="1600" i="1" dirty="0"/>
              <a:t> </a:t>
            </a:r>
            <a:r>
              <a:rPr lang="es-PE" dirty="0"/>
              <a:t>y DE BALANCED SCORECARD</a:t>
            </a:r>
          </a:p>
        </p:txBody>
      </p:sp>
    </p:spTree>
    <p:extLst>
      <p:ext uri="{BB962C8B-B14F-4D97-AF65-F5344CB8AC3E}">
        <p14:creationId xmlns:p14="http://schemas.microsoft.com/office/powerpoint/2010/main" val="1444281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Marcador de posición de imagen 9">
            <a:extLst>
              <a:ext uri="{FF2B5EF4-FFF2-40B4-BE49-F238E27FC236}">
                <a16:creationId xmlns:a16="http://schemas.microsoft.com/office/drawing/2014/main" id="{2C806400-7136-BBF4-044F-96DA4F020A75}"/>
              </a:ext>
            </a:extLst>
          </p:cNvPr>
          <p:cNvPicPr>
            <a:picLocks noGrp="1" noChangeAspect="1"/>
          </p:cNvPicPr>
          <p:nvPr>
            <p:ph type="pic" sz="quarter" idx="10"/>
          </p:nvPr>
        </p:nvPicPr>
        <p:blipFill>
          <a:blip r:embed="rId3"/>
          <a:srcRect t="29301" b="29301"/>
          <a:stretch/>
        </p:blipFill>
        <p:spPr/>
      </p:pic>
      <p:sp>
        <p:nvSpPr>
          <p:cNvPr id="2" name="Marcador de texto 8">
            <a:extLst>
              <a:ext uri="{FF2B5EF4-FFF2-40B4-BE49-F238E27FC236}">
                <a16:creationId xmlns:a16="http://schemas.microsoft.com/office/drawing/2014/main" id="{F2BE32C9-7430-7DBA-C041-DBCB9708F7CE}"/>
              </a:ext>
            </a:extLst>
          </p:cNvPr>
          <p:cNvSpPr txBox="1">
            <a:spLocks/>
          </p:cNvSpPr>
          <p:nvPr/>
        </p:nvSpPr>
        <p:spPr>
          <a:xfrm>
            <a:off x="468313" y="804862"/>
            <a:ext cx="8207375" cy="4465637"/>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3050" indent="-273050" algn="just">
              <a:lnSpc>
                <a:spcPct val="85000"/>
              </a:lnSpc>
              <a:spcAft>
                <a:spcPts val="500"/>
              </a:spcAft>
              <a:buFont typeface="Arial"/>
              <a:buNone/>
              <a:tabLst>
                <a:tab pos="273050" algn="l"/>
              </a:tabLst>
            </a:pPr>
            <a:r>
              <a:rPr lang="es-ES" sz="1400" dirty="0"/>
              <a:t>[1]	Eres el director de una empresa de software y </a:t>
            </a:r>
            <a:r>
              <a:rPr lang="es-ES" sz="1400" b="1" dirty="0"/>
              <a:t>tus objetivos estratégicos son</a:t>
            </a:r>
            <a:r>
              <a:rPr lang="es-ES" sz="1400" dirty="0"/>
              <a:t> aumentar los ingresos, mejorar la satisfacción del cliente, optimizar la eficiencia operativa y fomentar la innovación.</a:t>
            </a:r>
          </a:p>
          <a:p>
            <a:pPr marL="273050" indent="-273050" algn="just">
              <a:lnSpc>
                <a:spcPct val="85000"/>
              </a:lnSpc>
              <a:spcAft>
                <a:spcPts val="500"/>
              </a:spcAft>
              <a:buFont typeface="Arial"/>
              <a:buNone/>
              <a:tabLst>
                <a:tab pos="273050" algn="l"/>
              </a:tabLst>
            </a:pPr>
            <a:r>
              <a:rPr lang="es-ES" sz="1400" dirty="0"/>
              <a:t>[2]	</a:t>
            </a:r>
            <a:r>
              <a:rPr lang="es-ES" sz="1400" b="1" dirty="0"/>
              <a:t>Las perspectivas comunes son financiera, cliente, interna o de procesos, y aprendizaje y crecimiento</a:t>
            </a:r>
            <a:r>
              <a:rPr lang="es-ES" sz="1400" dirty="0"/>
              <a:t>.</a:t>
            </a:r>
          </a:p>
          <a:p>
            <a:pPr marL="273050" indent="-273050" algn="just">
              <a:lnSpc>
                <a:spcPct val="85000"/>
              </a:lnSpc>
              <a:spcAft>
                <a:spcPts val="500"/>
              </a:spcAft>
              <a:buFont typeface="Arial"/>
              <a:buNone/>
              <a:tabLst>
                <a:tab pos="273050" algn="l"/>
              </a:tabLst>
            </a:pPr>
            <a:r>
              <a:rPr lang="es-ES" sz="1400" dirty="0"/>
              <a:t>[3]	Para la perspectiva financiera, </a:t>
            </a:r>
            <a:r>
              <a:rPr lang="es-ES" sz="1400" b="1" dirty="0"/>
              <a:t>el indicador podría ser "Incremento anual en los ingresos"</a:t>
            </a:r>
            <a:r>
              <a:rPr lang="es-ES" sz="1400" dirty="0"/>
              <a:t>. Para la perspectiva del cliente, </a:t>
            </a:r>
            <a:r>
              <a:rPr lang="es-ES" sz="1400" b="1" dirty="0"/>
              <a:t>podría ser "Índice de satisfacción del cliente"</a:t>
            </a:r>
            <a:r>
              <a:rPr lang="es-ES" sz="1400" dirty="0"/>
              <a:t>.</a:t>
            </a:r>
          </a:p>
          <a:p>
            <a:pPr marL="273050" indent="-273050" algn="just">
              <a:lnSpc>
                <a:spcPct val="85000"/>
              </a:lnSpc>
              <a:spcAft>
                <a:spcPts val="500"/>
              </a:spcAft>
              <a:buFont typeface="Arial"/>
              <a:buNone/>
              <a:tabLst>
                <a:tab pos="273050" algn="l"/>
              </a:tabLst>
            </a:pPr>
            <a:r>
              <a:rPr lang="es-ES" sz="1400" dirty="0"/>
              <a:t>[4]	Establece una </a:t>
            </a:r>
            <a:r>
              <a:rPr lang="es-ES" sz="1400" b="1" dirty="0"/>
              <a:t>meta de aumento del 10 % en los ingresos anuales</a:t>
            </a:r>
            <a:r>
              <a:rPr lang="es-ES" sz="1400" dirty="0"/>
              <a:t> y una </a:t>
            </a:r>
            <a:r>
              <a:rPr lang="es-ES" sz="1400" b="1" dirty="0"/>
              <a:t>meta de índice de satisfacción del cliente del 90 %</a:t>
            </a:r>
            <a:r>
              <a:rPr lang="es-ES" sz="1400" dirty="0"/>
              <a:t>.</a:t>
            </a:r>
          </a:p>
          <a:p>
            <a:pPr marL="273050" indent="-273050" algn="just">
              <a:lnSpc>
                <a:spcPct val="85000"/>
              </a:lnSpc>
              <a:spcAft>
                <a:spcPts val="500"/>
              </a:spcAft>
              <a:buFont typeface="Arial"/>
              <a:buNone/>
              <a:tabLst>
                <a:tab pos="273050" algn="l"/>
              </a:tabLst>
            </a:pPr>
            <a:r>
              <a:rPr lang="es-ES" sz="1400" dirty="0"/>
              <a:t>[5]	Para mejorar la satisfacción del cliente, una iniciativa podría ser </a:t>
            </a:r>
            <a:r>
              <a:rPr lang="es-ES" sz="1400" b="1" dirty="0"/>
              <a:t>"Implementar un sistema de servicio al cliente las 24 horas"</a:t>
            </a:r>
            <a:r>
              <a:rPr lang="es-ES" sz="1400" dirty="0"/>
              <a:t>.</a:t>
            </a:r>
          </a:p>
          <a:p>
            <a:pPr marL="273050" indent="-273050" algn="just">
              <a:lnSpc>
                <a:spcPct val="85000"/>
              </a:lnSpc>
              <a:spcAft>
                <a:spcPts val="500"/>
              </a:spcAft>
              <a:buFont typeface="Arial"/>
              <a:buNone/>
              <a:tabLst>
                <a:tab pos="273050" algn="l"/>
              </a:tabLst>
            </a:pPr>
            <a:r>
              <a:rPr lang="es-ES" sz="1400" dirty="0"/>
              <a:t>[6]	</a:t>
            </a:r>
            <a:r>
              <a:rPr lang="es-ES" sz="1400" b="1" dirty="0"/>
              <a:t>Crea el diseño visual del BSC utilizando un formato de tablero de control</a:t>
            </a:r>
            <a:r>
              <a:rPr lang="es-ES" sz="1400" dirty="0"/>
              <a:t>. Puedes utilizar gráficos, medidores o tablas para representar los valores actuales y las metas.</a:t>
            </a:r>
          </a:p>
          <a:p>
            <a:pPr marL="273050" indent="-273050" algn="just">
              <a:lnSpc>
                <a:spcPct val="85000"/>
              </a:lnSpc>
              <a:spcAft>
                <a:spcPts val="500"/>
              </a:spcAft>
              <a:buFont typeface="Arial"/>
              <a:buNone/>
              <a:tabLst>
                <a:tab pos="273050" algn="l"/>
              </a:tabLst>
            </a:pPr>
            <a:r>
              <a:rPr lang="es-ES" sz="1400" dirty="0"/>
              <a:t>[7]	</a:t>
            </a:r>
            <a:r>
              <a:rPr lang="es-ES" sz="1400" b="1" dirty="0"/>
              <a:t>Establece un sistema para monitorear y recopilar los datos para los indicadores de rendimiento</a:t>
            </a:r>
            <a:r>
              <a:rPr lang="es-ES" sz="1400" dirty="0"/>
              <a:t>. Automatiza el proceso tanto como sea posible para asegurar la precisión y la actualización de los datos.</a:t>
            </a:r>
          </a:p>
          <a:p>
            <a:pPr marL="273050" indent="-273050" algn="just">
              <a:lnSpc>
                <a:spcPct val="85000"/>
              </a:lnSpc>
              <a:spcAft>
                <a:spcPts val="500"/>
              </a:spcAft>
              <a:buFont typeface="Arial"/>
              <a:buNone/>
              <a:tabLst>
                <a:tab pos="273050" algn="l"/>
              </a:tabLst>
            </a:pPr>
            <a:r>
              <a:rPr lang="es-ES" sz="1400" dirty="0"/>
              <a:t>[8]	</a:t>
            </a:r>
            <a:r>
              <a:rPr lang="es-ES" sz="1400" b="1" dirty="0"/>
              <a:t>Realiza evaluaciones periódicas del rendimiento utilizando el BSC</a:t>
            </a:r>
            <a:r>
              <a:rPr lang="es-ES" sz="1400" dirty="0"/>
              <a:t>. Comparar los valores actuales con las metas establecidas y realizar análisis de brechas para identificar áreas de mejora.</a:t>
            </a:r>
          </a:p>
          <a:p>
            <a:pPr marL="273050" indent="-273050" algn="just">
              <a:lnSpc>
                <a:spcPct val="85000"/>
              </a:lnSpc>
              <a:spcAft>
                <a:spcPts val="500"/>
              </a:spcAft>
              <a:buFont typeface="Arial"/>
              <a:buNone/>
              <a:tabLst>
                <a:tab pos="273050" algn="l"/>
              </a:tabLst>
            </a:pPr>
            <a:r>
              <a:rPr lang="es-ES" sz="1400" dirty="0"/>
              <a:t>[9]	</a:t>
            </a:r>
            <a:r>
              <a:rPr lang="es-ES" sz="1400" b="1" dirty="0"/>
              <a:t>Comunica el BSC a todos los niveles de la organización</a:t>
            </a:r>
            <a:r>
              <a:rPr lang="es-ES" sz="1400" dirty="0"/>
              <a:t> para garantizar la comprensión y el compromiso. Alinea los objetivos individuales y los planes de acción con los objetivos y las metas establecidas en el BSC.</a:t>
            </a:r>
          </a:p>
          <a:p>
            <a:pPr marL="273050" indent="-273050" algn="just">
              <a:lnSpc>
                <a:spcPct val="85000"/>
              </a:lnSpc>
              <a:spcAft>
                <a:spcPts val="500"/>
              </a:spcAft>
              <a:buFont typeface="Arial"/>
              <a:buNone/>
              <a:tabLst>
                <a:tab pos="273050" algn="l"/>
              </a:tabLst>
            </a:pPr>
            <a:r>
              <a:rPr lang="es-ES" sz="1400" dirty="0"/>
              <a:t>[10]	Realiza revisiones y mejoras continuas en el BSC a medida que cambian las circunstancias y las prioridades estratégicas.</a:t>
            </a:r>
          </a:p>
        </p:txBody>
      </p:sp>
      <p:sp>
        <p:nvSpPr>
          <p:cNvPr id="7" name="Marcador de texto 12">
            <a:extLst>
              <a:ext uri="{FF2B5EF4-FFF2-40B4-BE49-F238E27FC236}">
                <a16:creationId xmlns:a16="http://schemas.microsoft.com/office/drawing/2014/main" id="{CC487F7F-7EE8-4789-8F01-BFF27DF4D112}"/>
              </a:ext>
            </a:extLst>
          </p:cNvPr>
          <p:cNvSpPr txBox="1">
            <a:spLocks/>
          </p:cNvSpPr>
          <p:nvPr/>
        </p:nvSpPr>
        <p:spPr>
          <a:xfrm>
            <a:off x="468313" y="277813"/>
            <a:ext cx="8207375" cy="354012"/>
          </a:xfrm>
          <a:prstGeom prst="rect">
            <a:avLst/>
          </a:prstGeom>
        </p:spPr>
        <p:txBody>
          <a:bodyPr lIns="72000" tIns="36000" rIns="72000" bIns="36000"/>
          <a:lstStyle>
            <a:lvl1pPr marL="0" indent="0" algn="l" defTabSz="457200" rtl="0" eaLnBrk="1" latinLnBrk="0" hangingPunct="1">
              <a:spcBef>
                <a:spcPct val="20000"/>
              </a:spcBef>
              <a:buFont typeface="Arial"/>
              <a:buNone/>
              <a:defRPr sz="1800" b="1" kern="1200">
                <a:solidFill>
                  <a:srgbClr val="1F85A6"/>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274638" indent="-274638">
              <a:tabLst>
                <a:tab pos="274638" algn="l"/>
              </a:tabLst>
            </a:pPr>
            <a:r>
              <a:rPr lang="es-PE" dirty="0"/>
              <a:t>/ MODELAMIENTO DE TABLEROS DE CONTROL</a:t>
            </a:r>
            <a:r>
              <a:rPr lang="es-PE" sz="1600" i="1" dirty="0"/>
              <a:t> </a:t>
            </a:r>
            <a:r>
              <a:rPr lang="es-PE" dirty="0"/>
              <a:t>y DE BALANCED SCORECARD</a:t>
            </a:r>
          </a:p>
        </p:txBody>
      </p:sp>
    </p:spTree>
    <p:extLst>
      <p:ext uri="{BB962C8B-B14F-4D97-AF65-F5344CB8AC3E}">
        <p14:creationId xmlns:p14="http://schemas.microsoft.com/office/powerpoint/2010/main" val="707981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4F500AF3-50A8-4251-BC95-6B4FF9C4652B}"/>
              </a:ext>
            </a:extLst>
          </p:cNvPr>
          <p:cNvSpPr>
            <a:spLocks noGrp="1"/>
          </p:cNvSpPr>
          <p:nvPr>
            <p:ph type="body" sz="quarter" idx="10"/>
          </p:nvPr>
        </p:nvSpPr>
        <p:spPr>
          <a:xfrm>
            <a:off x="927366" y="1459894"/>
            <a:ext cx="7713398" cy="3789114"/>
          </a:xfrm>
        </p:spPr>
        <p:txBody>
          <a:bodyPr/>
          <a:lstStyle/>
          <a:p>
            <a:r>
              <a:rPr lang="es-ES" dirty="0"/>
              <a:t>La BI es un conjunto de técnicas y herramientas que transforman los datos brutos en información significativa para el análisis de negocios.</a:t>
            </a:r>
          </a:p>
          <a:p>
            <a:r>
              <a:rPr lang="es-ES" dirty="0"/>
              <a:t>El BSC es una metodología de gestión estratégica que se utiliza para medir el rendimiento de una organización desde diferentes perspectivas como la financiera, el cliente, los procesos internos, además del aprendizaje y crecimiento.</a:t>
            </a:r>
          </a:p>
          <a:p>
            <a:r>
              <a:rPr lang="es-ES" dirty="0"/>
              <a:t>Los KPI son fundamentales para la BI y el BSC, ya que proporcionan una forma de medir el progreso hacia los objetivos.</a:t>
            </a:r>
          </a:p>
          <a:p>
            <a:r>
              <a:rPr lang="es-ES" dirty="0"/>
              <a:t>La arquitectura BI es la estructura que soporta el sistema de BI de una organización (infraestructura tecnológica, herramientas BI, bases de datos, procesos ETL, data marts y data warehouses, y Dashboards y reportes).</a:t>
            </a:r>
          </a:p>
          <a:p>
            <a:r>
              <a:rPr lang="es-ES" dirty="0"/>
              <a:t>Las metodologías BI son marcos de trabajo que guían la implementación y gestión de soluciones BI.</a:t>
            </a:r>
          </a:p>
        </p:txBody>
      </p:sp>
    </p:spTree>
    <p:custDataLst>
      <p:tags r:id="rId1"/>
    </p:custDataLst>
    <p:extLst>
      <p:ext uri="{BB962C8B-B14F-4D97-AF65-F5344CB8AC3E}">
        <p14:creationId xmlns:p14="http://schemas.microsoft.com/office/powerpoint/2010/main" val="4015447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89435A8C-18F1-4C11-BC95-3930F36C4A90}"/>
              </a:ext>
            </a:extLst>
          </p:cNvPr>
          <p:cNvSpPr>
            <a:spLocks noGrp="1"/>
          </p:cNvSpPr>
          <p:nvPr>
            <p:ph type="body" sz="quarter" idx="10"/>
          </p:nvPr>
        </p:nvSpPr>
        <p:spPr/>
        <p:txBody>
          <a:bodyPr/>
          <a:lstStyle/>
          <a:p>
            <a:pPr>
              <a:lnSpc>
                <a:spcPct val="100000"/>
              </a:lnSpc>
            </a:pPr>
            <a:r>
              <a:rPr lang="en-US" dirty="0"/>
              <a:t>Project Management Institute &amp; Agile Alliance. (2017). Agile Practice Guide. Newtown Square, PA: Project Management Institute.</a:t>
            </a:r>
          </a:p>
          <a:p>
            <a:pPr>
              <a:lnSpc>
                <a:spcPct val="100000"/>
              </a:lnSpc>
            </a:pPr>
            <a:r>
              <a:rPr lang="en-US" dirty="0"/>
              <a:t>Kaplan, R. S., &amp; Norton, D. P. (1996). The Balanced Scorecard: Translating Strategy into Action. Harvard Business Review Press.</a:t>
            </a:r>
          </a:p>
          <a:p>
            <a:pPr>
              <a:lnSpc>
                <a:spcPct val="100000"/>
              </a:lnSpc>
            </a:pPr>
            <a:r>
              <a:rPr lang="en-US" dirty="0"/>
              <a:t>Kimball, R., &amp; Ross, M. (2013). The Data Warehouse Toolkit: The Definitive Guide to Dimensional Modeling (3rd ed.). Wiley.</a:t>
            </a:r>
          </a:p>
          <a:p>
            <a:pPr>
              <a:lnSpc>
                <a:spcPct val="100000"/>
              </a:lnSpc>
            </a:pPr>
            <a:r>
              <a:rPr lang="en-US" dirty="0"/>
              <a:t>Sherman, R. (2014). Business Intelligence Guidebook: From Data Integration to Analytics. </a:t>
            </a:r>
            <a:r>
              <a:rPr lang="en-US" dirty="0" err="1"/>
              <a:t>Newnes</a:t>
            </a:r>
            <a:r>
              <a:rPr lang="en-US" dirty="0"/>
              <a:t>.</a:t>
            </a:r>
          </a:p>
          <a:p>
            <a:pPr>
              <a:lnSpc>
                <a:spcPct val="100000"/>
              </a:lnSpc>
            </a:pPr>
            <a:r>
              <a:rPr lang="en-US" dirty="0"/>
              <a:t>Marr, B. (2012). Key Performance Indicators (KPI): The 75 measures every manager needs to know. Pearson UK.</a:t>
            </a:r>
          </a:p>
        </p:txBody>
      </p:sp>
    </p:spTree>
    <p:custDataLst>
      <p:tags r:id="rId1"/>
    </p:custDataLst>
    <p:extLst>
      <p:ext uri="{BB962C8B-B14F-4D97-AF65-F5344CB8AC3E}">
        <p14:creationId xmlns:p14="http://schemas.microsoft.com/office/powerpoint/2010/main" val="263315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 name="ARTICULATE_DESIGN_ID_OFFICE THEME" val="Yge96mEv"/>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16755</TotalTime>
  <Words>5454</Words>
  <Application>Microsoft Office PowerPoint</Application>
  <PresentationFormat>Presentación en pantalla (16:10)</PresentationFormat>
  <Paragraphs>430</Paragraphs>
  <Slides>57</Slides>
  <Notes>57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57</vt:i4>
      </vt:variant>
    </vt:vector>
  </HeadingPairs>
  <TitlesOfParts>
    <vt:vector size="62" baseType="lpstr">
      <vt:lpstr>Arial</vt:lpstr>
      <vt:lpstr>Calibri</vt:lpstr>
      <vt:lpstr>Delius</vt:lpstr>
      <vt:lpstr>Wingdings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ISIL</dc:creator>
  <cp:lastModifiedBy>Arturo Enrique Reátegui Herrera</cp:lastModifiedBy>
  <cp:revision>1132</cp:revision>
  <cp:lastPrinted>2018-01-16T21:42:59Z</cp:lastPrinted>
  <dcterms:created xsi:type="dcterms:W3CDTF">2016-10-06T14:52:02Z</dcterms:created>
  <dcterms:modified xsi:type="dcterms:W3CDTF">2023-07-17T17:53:12Z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5400A83D-B4FE-497C-9E2F-ACF3BA8DEF15</vt:lpwstr>
  </property>
  <property fmtid="{D5CDD505-2E9C-101B-9397-08002B2CF9AE}" pid="3" name="ArticulatePath">
    <vt:lpwstr>plantilla_cursos_presenciales-v3.1.6</vt:lpwstr>
  </property>
</Properties>
</file>