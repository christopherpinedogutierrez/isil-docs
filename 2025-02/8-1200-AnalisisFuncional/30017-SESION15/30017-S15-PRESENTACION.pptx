
<file path=[Content_Types].xml><?xml version="1.0" encoding="utf-8"?>
<Types xmlns="http://schemas.openxmlformats.org/package/2006/content-types">
  <Default Extension="png" ContentType="image/png"/>
  <Default Extension="svg" ContentType="image/svg+xml"/>
  <Default Extension="emf" ContentType="image/x-emf"/>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5.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6.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7.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8.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ags/tag9.xml" ContentType="application/vnd.openxmlformats-officedocument.presentationml.tags+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tags/tag10.xml" ContentType="application/vnd.openxmlformats-officedocument.presentationml.tags+xml"/>
  <Override PartName="/ppt/notesSlides/notesSlide52.xml" ContentType="application/vnd.openxmlformats-officedocument.presentationml.notesSlide+xml"/>
  <Override PartName="/ppt/tags/tag11.xml" ContentType="application/vnd.openxmlformats-officedocument.presentationml.tags+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5"/>
  </p:notesMasterIdLst>
  <p:handoutMasterIdLst>
    <p:handoutMasterId r:id="rId56"/>
  </p:handoutMasterIdLst>
  <p:sldIdLst>
    <p:sldId id="418" r:id="rId2"/>
    <p:sldId id="337" r:id="rId3"/>
    <p:sldId id="571" r:id="rId4"/>
    <p:sldId id="526" r:id="rId5"/>
    <p:sldId id="527" r:id="rId6"/>
    <p:sldId id="528" r:id="rId7"/>
    <p:sldId id="529" r:id="rId8"/>
    <p:sldId id="315" r:id="rId9"/>
    <p:sldId id="530" r:id="rId10"/>
    <p:sldId id="474" r:id="rId11"/>
    <p:sldId id="531" r:id="rId12"/>
    <p:sldId id="532" r:id="rId13"/>
    <p:sldId id="534" r:id="rId14"/>
    <p:sldId id="475" r:id="rId15"/>
    <p:sldId id="535" r:id="rId16"/>
    <p:sldId id="543" r:id="rId17"/>
    <p:sldId id="544" r:id="rId18"/>
    <p:sldId id="545" r:id="rId19"/>
    <p:sldId id="546" r:id="rId20"/>
    <p:sldId id="549" r:id="rId21"/>
    <p:sldId id="550" r:id="rId22"/>
    <p:sldId id="536" r:id="rId23"/>
    <p:sldId id="476" r:id="rId24"/>
    <p:sldId id="537" r:id="rId25"/>
    <p:sldId id="538" r:id="rId26"/>
    <p:sldId id="559" r:id="rId27"/>
    <p:sldId id="560" r:id="rId28"/>
    <p:sldId id="561" r:id="rId29"/>
    <p:sldId id="562" r:id="rId30"/>
    <p:sldId id="477" r:id="rId31"/>
    <p:sldId id="539" r:id="rId32"/>
    <p:sldId id="563" r:id="rId33"/>
    <p:sldId id="564" r:id="rId34"/>
    <p:sldId id="565" r:id="rId35"/>
    <p:sldId id="566" r:id="rId36"/>
    <p:sldId id="567" r:id="rId37"/>
    <p:sldId id="568" r:id="rId38"/>
    <p:sldId id="569" r:id="rId39"/>
    <p:sldId id="570" r:id="rId40"/>
    <p:sldId id="478" r:id="rId41"/>
    <p:sldId id="443" r:id="rId42"/>
    <p:sldId id="451" r:id="rId43"/>
    <p:sldId id="460" r:id="rId44"/>
    <p:sldId id="496" r:id="rId45"/>
    <p:sldId id="498" r:id="rId46"/>
    <p:sldId id="502" r:id="rId47"/>
    <p:sldId id="505" r:id="rId48"/>
    <p:sldId id="518" r:id="rId49"/>
    <p:sldId id="511" r:id="rId50"/>
    <p:sldId id="513" r:id="rId51"/>
    <p:sldId id="516" r:id="rId52"/>
    <p:sldId id="303" r:id="rId53"/>
    <p:sldId id="448" r:id="rId54"/>
  </p:sldIdLst>
  <p:sldSz cx="9144000" cy="5715000" type="screen16x10"/>
  <p:notesSz cx="6797675" cy="9926638"/>
  <p:custDataLst>
    <p:tags r:id="rId5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3126"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85A6"/>
    <a:srgbClr val="558ED5"/>
    <a:srgbClr val="81FFBA"/>
    <a:srgbClr val="15BDAD"/>
    <a:srgbClr val="48C2BB"/>
    <a:srgbClr val="F1D156"/>
    <a:srgbClr val="276B7D"/>
    <a:srgbClr val="F1FDC3"/>
    <a:srgbClr val="9CC606"/>
    <a:srgbClr val="E2F6F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639" autoAdjust="0"/>
    <p:restoredTop sz="93026" autoAdjust="0"/>
  </p:normalViewPr>
  <p:slideViewPr>
    <p:cSldViewPr snapToGrid="0" snapToObjects="1" showGuides="1">
      <p:cViewPr varScale="1">
        <p:scale>
          <a:sx n="96" d="100"/>
          <a:sy n="96" d="100"/>
        </p:scale>
        <p:origin x="1344" y="67"/>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20" d="100"/>
        <a:sy n="120" d="100"/>
      </p:scale>
      <p:origin x="0" y="-9462"/>
    </p:cViewPr>
  </p:sorterViewPr>
  <p:notesViewPr>
    <p:cSldViewPr snapToGrid="0" snapToObjects="1" showGuides="1">
      <p:cViewPr varScale="1">
        <p:scale>
          <a:sx n="48" d="100"/>
          <a:sy n="48" d="100"/>
        </p:scale>
        <p:origin x="2940" y="72"/>
      </p:cViewPr>
      <p:guideLst>
        <p:guide orient="horz" pos="3126"/>
        <p:guide pos="214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gs" Target="tags/tag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sz="quarter" idx="1"/>
          </p:nvPr>
        </p:nvSpPr>
        <p:spPr>
          <a:xfrm>
            <a:off x="3850443" y="0"/>
            <a:ext cx="2945659" cy="496332"/>
          </a:xfrm>
          <a:prstGeom prst="rect">
            <a:avLst/>
          </a:prstGeom>
        </p:spPr>
        <p:txBody>
          <a:bodyPr vert="horz" lIns="91440" tIns="45720" rIns="91440" bIns="45720" rtlCol="0"/>
          <a:lstStyle>
            <a:lvl1pPr algn="r">
              <a:defRPr sz="1200"/>
            </a:lvl1pPr>
          </a:lstStyle>
          <a:p>
            <a:fld id="{11932DC7-834F-6148-86AF-F72164F7FFC1}" type="datetimeFigureOut">
              <a:rPr lang="es-ES" smtClean="0"/>
              <a:t>07/08/2023</a:t>
            </a:fld>
            <a:endParaRPr lang="es-ES"/>
          </a:p>
        </p:txBody>
      </p:sp>
      <p:sp>
        <p:nvSpPr>
          <p:cNvPr id="4" name="Marcador de pie de página 3"/>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6CEA6FD5-E31A-6D44-BE80-5A94AC694FC0}" type="slidenum">
              <a:rPr lang="es-ES" smtClean="0"/>
              <a:t>‹Nº›</a:t>
            </a:fld>
            <a:endParaRPr lang="es-ES"/>
          </a:p>
        </p:txBody>
      </p:sp>
    </p:spTree>
    <p:extLst>
      <p:ext uri="{BB962C8B-B14F-4D97-AF65-F5344CB8AC3E}">
        <p14:creationId xmlns:p14="http://schemas.microsoft.com/office/powerpoint/2010/main" val="34265184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1"/>
            <a:ext cx="2945659" cy="498056"/>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50443" y="1"/>
            <a:ext cx="2945659" cy="498056"/>
          </a:xfrm>
          <a:prstGeom prst="rect">
            <a:avLst/>
          </a:prstGeom>
        </p:spPr>
        <p:txBody>
          <a:bodyPr vert="horz" lIns="91440" tIns="45720" rIns="91440" bIns="45720" rtlCol="0"/>
          <a:lstStyle>
            <a:lvl1pPr algn="r">
              <a:defRPr sz="1200"/>
            </a:lvl1pPr>
          </a:lstStyle>
          <a:p>
            <a:fld id="{FFDF1720-AE80-4069-8D89-2C76E8AFD874}" type="datetimeFigureOut">
              <a:rPr lang="es-PE" smtClean="0"/>
              <a:t>7/08/2023</a:t>
            </a:fld>
            <a:endParaRPr lang="es-PE"/>
          </a:p>
        </p:txBody>
      </p:sp>
      <p:sp>
        <p:nvSpPr>
          <p:cNvPr id="4" name="Marcador de imagen de diapositiva 3"/>
          <p:cNvSpPr>
            <a:spLocks noGrp="1" noRot="1" noChangeAspect="1"/>
          </p:cNvSpPr>
          <p:nvPr>
            <p:ph type="sldImg" idx="2"/>
          </p:nvPr>
        </p:nvSpPr>
        <p:spPr>
          <a:xfrm>
            <a:off x="719138" y="1241425"/>
            <a:ext cx="5359400" cy="3349625"/>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79768" y="4777194"/>
            <a:ext cx="5438140" cy="3908615"/>
          </a:xfrm>
          <a:prstGeom prst="rect">
            <a:avLst/>
          </a:prstGeom>
        </p:spPr>
        <p:txBody>
          <a:bodyPr vert="horz" lIns="91440" tIns="45720" rIns="91440" bIns="45720" rtlCol="0"/>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6" name="Marcador de pie de página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F56700CA-E45F-416D-B659-25554F846B43}" type="slidenum">
              <a:rPr lang="es-PE" smtClean="0"/>
              <a:t>‹Nº›</a:t>
            </a:fld>
            <a:endParaRPr lang="es-PE"/>
          </a:p>
        </p:txBody>
      </p:sp>
    </p:spTree>
    <p:extLst>
      <p:ext uri="{BB962C8B-B14F-4D97-AF65-F5344CB8AC3E}">
        <p14:creationId xmlns:p14="http://schemas.microsoft.com/office/powerpoint/2010/main" val="1248527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3126" userDrawn="1">
          <p15:clr>
            <a:srgbClr val="F26B43"/>
          </p15:clr>
        </p15:guide>
        <p15:guide id="2" pos="2141"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indent="0">
              <a:buFont typeface="Arial" panose="020B0604020202020204" pitchFamily="34" charset="0"/>
              <a:buNone/>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a:t>
            </a:fld>
            <a:endParaRPr lang="es-PE"/>
          </a:p>
        </p:txBody>
      </p:sp>
    </p:spTree>
    <p:extLst>
      <p:ext uri="{BB962C8B-B14F-4D97-AF65-F5344CB8AC3E}">
        <p14:creationId xmlns:p14="http://schemas.microsoft.com/office/powerpoint/2010/main" val="28793867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435735" marR="574040" indent="0" algn="l">
              <a:lnSpc>
                <a:spcPct val="155000"/>
              </a:lnSpc>
              <a:spcBef>
                <a:spcPts val="800"/>
              </a:spcBef>
              <a:spcAft>
                <a:spcPts val="0"/>
              </a:spcAft>
              <a:buFont typeface="Arial" panose="020B0604020202020204" pitchFamily="34" charset="0"/>
              <a:buNone/>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a:t>
            </a:fld>
            <a:endParaRPr lang="es-PE"/>
          </a:p>
        </p:txBody>
      </p:sp>
    </p:spTree>
    <p:extLst>
      <p:ext uri="{BB962C8B-B14F-4D97-AF65-F5344CB8AC3E}">
        <p14:creationId xmlns:p14="http://schemas.microsoft.com/office/powerpoint/2010/main" val="6143060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a:t>
            </a:fld>
            <a:endParaRPr lang="es-PE"/>
          </a:p>
        </p:txBody>
      </p:sp>
    </p:spTree>
    <p:extLst>
      <p:ext uri="{BB962C8B-B14F-4D97-AF65-F5344CB8AC3E}">
        <p14:creationId xmlns:p14="http://schemas.microsoft.com/office/powerpoint/2010/main" val="25289865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a:t>
            </a:fld>
            <a:endParaRPr lang="es-PE"/>
          </a:p>
        </p:txBody>
      </p:sp>
    </p:spTree>
    <p:extLst>
      <p:ext uri="{BB962C8B-B14F-4D97-AF65-F5344CB8AC3E}">
        <p14:creationId xmlns:p14="http://schemas.microsoft.com/office/powerpoint/2010/main" val="1571236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a:t>
            </a:fld>
            <a:endParaRPr lang="es-PE"/>
          </a:p>
        </p:txBody>
      </p:sp>
    </p:spTree>
    <p:extLst>
      <p:ext uri="{BB962C8B-B14F-4D97-AF65-F5344CB8AC3E}">
        <p14:creationId xmlns:p14="http://schemas.microsoft.com/office/powerpoint/2010/main" val="9345834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6</a:t>
            </a:fld>
            <a:endParaRPr lang="es-PE"/>
          </a:p>
        </p:txBody>
      </p:sp>
    </p:spTree>
    <p:extLst>
      <p:ext uri="{BB962C8B-B14F-4D97-AF65-F5344CB8AC3E}">
        <p14:creationId xmlns:p14="http://schemas.microsoft.com/office/powerpoint/2010/main" val="10519321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La puesta en producción no es el final del ciclo de vida del software. </a:t>
            </a: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7</a:t>
            </a:fld>
            <a:endParaRPr lang="es-PE"/>
          </a:p>
        </p:txBody>
      </p:sp>
    </p:spTree>
    <p:extLst>
      <p:ext uri="{BB962C8B-B14F-4D97-AF65-F5344CB8AC3E}">
        <p14:creationId xmlns:p14="http://schemas.microsoft.com/office/powerpoint/2010/main" val="2895148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8</a:t>
            </a:fld>
            <a:endParaRPr lang="es-PE"/>
          </a:p>
        </p:txBody>
      </p:sp>
    </p:spTree>
    <p:extLst>
      <p:ext uri="{BB962C8B-B14F-4D97-AF65-F5344CB8AC3E}">
        <p14:creationId xmlns:p14="http://schemas.microsoft.com/office/powerpoint/2010/main" val="11344541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9</a:t>
            </a:fld>
            <a:endParaRPr lang="es-PE"/>
          </a:p>
        </p:txBody>
      </p:sp>
    </p:spTree>
    <p:extLst>
      <p:ext uri="{BB962C8B-B14F-4D97-AF65-F5344CB8AC3E}">
        <p14:creationId xmlns:p14="http://schemas.microsoft.com/office/powerpoint/2010/main" val="34258921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10</a:t>
            </a:fld>
            <a:endParaRPr lang="es-PE"/>
          </a:p>
        </p:txBody>
      </p:sp>
    </p:spTree>
    <p:extLst>
      <p:ext uri="{BB962C8B-B14F-4D97-AF65-F5344CB8AC3E}">
        <p14:creationId xmlns:p14="http://schemas.microsoft.com/office/powerpoint/2010/main" val="18992318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11</a:t>
            </a:fld>
            <a:endParaRPr lang="es-PE"/>
          </a:p>
        </p:txBody>
      </p:sp>
    </p:spTree>
    <p:extLst>
      <p:ext uri="{BB962C8B-B14F-4D97-AF65-F5344CB8AC3E}">
        <p14:creationId xmlns:p14="http://schemas.microsoft.com/office/powerpoint/2010/main" val="40910026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12</a:t>
            </a:fld>
            <a:endParaRPr lang="es-PE"/>
          </a:p>
        </p:txBody>
      </p:sp>
    </p:spTree>
    <p:extLst>
      <p:ext uri="{BB962C8B-B14F-4D97-AF65-F5344CB8AC3E}">
        <p14:creationId xmlns:p14="http://schemas.microsoft.com/office/powerpoint/2010/main" val="19335242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13</a:t>
            </a:fld>
            <a:endParaRPr lang="es-PE"/>
          </a:p>
        </p:txBody>
      </p:sp>
    </p:spTree>
    <p:extLst>
      <p:ext uri="{BB962C8B-B14F-4D97-AF65-F5344CB8AC3E}">
        <p14:creationId xmlns:p14="http://schemas.microsoft.com/office/powerpoint/2010/main" val="40331198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14</a:t>
            </a:fld>
            <a:endParaRPr lang="es-PE"/>
          </a:p>
        </p:txBody>
      </p:sp>
    </p:spTree>
    <p:extLst>
      <p:ext uri="{BB962C8B-B14F-4D97-AF65-F5344CB8AC3E}">
        <p14:creationId xmlns:p14="http://schemas.microsoft.com/office/powerpoint/2010/main" val="21369455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15</a:t>
            </a:fld>
            <a:endParaRPr lang="es-PE"/>
          </a:p>
        </p:txBody>
      </p:sp>
    </p:spTree>
    <p:extLst>
      <p:ext uri="{BB962C8B-B14F-4D97-AF65-F5344CB8AC3E}">
        <p14:creationId xmlns:p14="http://schemas.microsoft.com/office/powerpoint/2010/main" val="16538606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16</a:t>
            </a:fld>
            <a:endParaRPr lang="es-PE"/>
          </a:p>
        </p:txBody>
      </p:sp>
    </p:spTree>
    <p:extLst>
      <p:ext uri="{BB962C8B-B14F-4D97-AF65-F5344CB8AC3E}">
        <p14:creationId xmlns:p14="http://schemas.microsoft.com/office/powerpoint/2010/main" val="25355564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17</a:t>
            </a:fld>
            <a:endParaRPr lang="es-PE"/>
          </a:p>
        </p:txBody>
      </p:sp>
    </p:spTree>
    <p:extLst>
      <p:ext uri="{BB962C8B-B14F-4D97-AF65-F5344CB8AC3E}">
        <p14:creationId xmlns:p14="http://schemas.microsoft.com/office/powerpoint/2010/main" val="974800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18</a:t>
            </a:fld>
            <a:endParaRPr lang="es-PE"/>
          </a:p>
        </p:txBody>
      </p:sp>
    </p:spTree>
    <p:extLst>
      <p:ext uri="{BB962C8B-B14F-4D97-AF65-F5344CB8AC3E}">
        <p14:creationId xmlns:p14="http://schemas.microsoft.com/office/powerpoint/2010/main" val="35733009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19</a:t>
            </a:fld>
            <a:endParaRPr lang="es-PE"/>
          </a:p>
        </p:txBody>
      </p:sp>
    </p:spTree>
    <p:extLst>
      <p:ext uri="{BB962C8B-B14F-4D97-AF65-F5344CB8AC3E}">
        <p14:creationId xmlns:p14="http://schemas.microsoft.com/office/powerpoint/2010/main" val="23765993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20</a:t>
            </a:fld>
            <a:endParaRPr lang="es-PE"/>
          </a:p>
        </p:txBody>
      </p:sp>
    </p:spTree>
    <p:extLst>
      <p:ext uri="{BB962C8B-B14F-4D97-AF65-F5344CB8AC3E}">
        <p14:creationId xmlns:p14="http://schemas.microsoft.com/office/powerpoint/2010/main" val="22457764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21</a:t>
            </a:fld>
            <a:endParaRPr lang="es-PE"/>
          </a:p>
        </p:txBody>
      </p:sp>
    </p:spTree>
    <p:extLst>
      <p:ext uri="{BB962C8B-B14F-4D97-AF65-F5344CB8AC3E}">
        <p14:creationId xmlns:p14="http://schemas.microsoft.com/office/powerpoint/2010/main" val="7758093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22</a:t>
            </a:fld>
            <a:endParaRPr lang="es-PE"/>
          </a:p>
        </p:txBody>
      </p:sp>
    </p:spTree>
    <p:extLst>
      <p:ext uri="{BB962C8B-B14F-4D97-AF65-F5344CB8AC3E}">
        <p14:creationId xmlns:p14="http://schemas.microsoft.com/office/powerpoint/2010/main" val="26099016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23</a:t>
            </a:fld>
            <a:endParaRPr lang="es-PE"/>
          </a:p>
        </p:txBody>
      </p:sp>
    </p:spTree>
    <p:extLst>
      <p:ext uri="{BB962C8B-B14F-4D97-AF65-F5344CB8AC3E}">
        <p14:creationId xmlns:p14="http://schemas.microsoft.com/office/powerpoint/2010/main" val="5882546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24</a:t>
            </a:fld>
            <a:endParaRPr lang="es-PE"/>
          </a:p>
        </p:txBody>
      </p:sp>
    </p:spTree>
    <p:extLst>
      <p:ext uri="{BB962C8B-B14F-4D97-AF65-F5344CB8AC3E}">
        <p14:creationId xmlns:p14="http://schemas.microsoft.com/office/powerpoint/2010/main" val="42370347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25</a:t>
            </a:fld>
            <a:endParaRPr lang="es-PE"/>
          </a:p>
        </p:txBody>
      </p:sp>
    </p:spTree>
    <p:extLst>
      <p:ext uri="{BB962C8B-B14F-4D97-AF65-F5344CB8AC3E}">
        <p14:creationId xmlns:p14="http://schemas.microsoft.com/office/powerpoint/2010/main" val="23354003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26</a:t>
            </a:fld>
            <a:endParaRPr lang="es-PE"/>
          </a:p>
        </p:txBody>
      </p:sp>
    </p:spTree>
    <p:extLst>
      <p:ext uri="{BB962C8B-B14F-4D97-AF65-F5344CB8AC3E}">
        <p14:creationId xmlns:p14="http://schemas.microsoft.com/office/powerpoint/2010/main" val="18676600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27</a:t>
            </a:fld>
            <a:endParaRPr lang="es-PE"/>
          </a:p>
        </p:txBody>
      </p:sp>
    </p:spTree>
    <p:extLst>
      <p:ext uri="{BB962C8B-B14F-4D97-AF65-F5344CB8AC3E}">
        <p14:creationId xmlns:p14="http://schemas.microsoft.com/office/powerpoint/2010/main" val="22381073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28</a:t>
            </a:fld>
            <a:endParaRPr lang="es-PE"/>
          </a:p>
        </p:txBody>
      </p:sp>
    </p:spTree>
    <p:extLst>
      <p:ext uri="{BB962C8B-B14F-4D97-AF65-F5344CB8AC3E}">
        <p14:creationId xmlns:p14="http://schemas.microsoft.com/office/powerpoint/2010/main" val="26081372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29</a:t>
            </a:fld>
            <a:endParaRPr lang="es-PE"/>
          </a:p>
        </p:txBody>
      </p:sp>
    </p:spTree>
    <p:extLst>
      <p:ext uri="{BB962C8B-B14F-4D97-AF65-F5344CB8AC3E}">
        <p14:creationId xmlns:p14="http://schemas.microsoft.com/office/powerpoint/2010/main" val="116823392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30</a:t>
            </a:fld>
            <a:endParaRPr lang="es-PE"/>
          </a:p>
        </p:txBody>
      </p:sp>
    </p:spTree>
    <p:extLst>
      <p:ext uri="{BB962C8B-B14F-4D97-AF65-F5344CB8AC3E}">
        <p14:creationId xmlns:p14="http://schemas.microsoft.com/office/powerpoint/2010/main" val="9782392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Es una parte crítica del ciclo de vida de una aplicación de software, ya que ayuda a los usuarios a superar obstáculos y maximizar el valor de la aplicación.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31</a:t>
            </a:fld>
            <a:endParaRPr lang="es-PE"/>
          </a:p>
        </p:txBody>
      </p:sp>
    </p:spTree>
    <p:extLst>
      <p:ext uri="{BB962C8B-B14F-4D97-AF65-F5344CB8AC3E}">
        <p14:creationId xmlns:p14="http://schemas.microsoft.com/office/powerpoint/2010/main" val="210788730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32</a:t>
            </a:fld>
            <a:endParaRPr lang="es-PE"/>
          </a:p>
        </p:txBody>
      </p:sp>
    </p:spTree>
    <p:extLst>
      <p:ext uri="{BB962C8B-B14F-4D97-AF65-F5344CB8AC3E}">
        <p14:creationId xmlns:p14="http://schemas.microsoft.com/office/powerpoint/2010/main" val="226845870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33</a:t>
            </a:fld>
            <a:endParaRPr lang="es-PE"/>
          </a:p>
        </p:txBody>
      </p:sp>
    </p:spTree>
    <p:extLst>
      <p:ext uri="{BB962C8B-B14F-4D97-AF65-F5344CB8AC3E}">
        <p14:creationId xmlns:p14="http://schemas.microsoft.com/office/powerpoint/2010/main" val="25376837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34</a:t>
            </a:fld>
            <a:endParaRPr lang="es-PE"/>
          </a:p>
        </p:txBody>
      </p:sp>
    </p:spTree>
    <p:extLst>
      <p:ext uri="{BB962C8B-B14F-4D97-AF65-F5344CB8AC3E}">
        <p14:creationId xmlns:p14="http://schemas.microsoft.com/office/powerpoint/2010/main" val="83097170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35</a:t>
            </a:fld>
            <a:endParaRPr lang="es-PE"/>
          </a:p>
        </p:txBody>
      </p:sp>
    </p:spTree>
    <p:extLst>
      <p:ext uri="{BB962C8B-B14F-4D97-AF65-F5344CB8AC3E}">
        <p14:creationId xmlns:p14="http://schemas.microsoft.com/office/powerpoint/2010/main" val="178032875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36</a:t>
            </a:fld>
            <a:endParaRPr lang="es-PE"/>
          </a:p>
        </p:txBody>
      </p:sp>
    </p:spTree>
    <p:extLst>
      <p:ext uri="{BB962C8B-B14F-4D97-AF65-F5344CB8AC3E}">
        <p14:creationId xmlns:p14="http://schemas.microsoft.com/office/powerpoint/2010/main" val="98639100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37</a:t>
            </a:fld>
            <a:endParaRPr lang="es-PE"/>
          </a:p>
        </p:txBody>
      </p:sp>
    </p:spTree>
    <p:extLst>
      <p:ext uri="{BB962C8B-B14F-4D97-AF65-F5344CB8AC3E}">
        <p14:creationId xmlns:p14="http://schemas.microsoft.com/office/powerpoint/2010/main" val="277387060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38</a:t>
            </a:fld>
            <a:endParaRPr lang="es-PE"/>
          </a:p>
        </p:txBody>
      </p:sp>
    </p:spTree>
    <p:extLst>
      <p:ext uri="{BB962C8B-B14F-4D97-AF65-F5344CB8AC3E}">
        <p14:creationId xmlns:p14="http://schemas.microsoft.com/office/powerpoint/2010/main" val="178740733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39</a:t>
            </a:fld>
            <a:endParaRPr lang="es-PE"/>
          </a:p>
        </p:txBody>
      </p:sp>
    </p:spTree>
    <p:extLst>
      <p:ext uri="{BB962C8B-B14F-4D97-AF65-F5344CB8AC3E}">
        <p14:creationId xmlns:p14="http://schemas.microsoft.com/office/powerpoint/2010/main" val="114628407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40</a:t>
            </a:fld>
            <a:endParaRPr lang="es-PE"/>
          </a:p>
        </p:txBody>
      </p:sp>
    </p:spTree>
    <p:extLst>
      <p:ext uri="{BB962C8B-B14F-4D97-AF65-F5344CB8AC3E}">
        <p14:creationId xmlns:p14="http://schemas.microsoft.com/office/powerpoint/2010/main" val="215898834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41</a:t>
            </a:fld>
            <a:endParaRPr lang="es-PE"/>
          </a:p>
        </p:txBody>
      </p:sp>
    </p:spTree>
    <p:extLst>
      <p:ext uri="{BB962C8B-B14F-4D97-AF65-F5344CB8AC3E}">
        <p14:creationId xmlns:p14="http://schemas.microsoft.com/office/powerpoint/2010/main" val="365058227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42</a:t>
            </a:fld>
            <a:endParaRPr lang="es-PE"/>
          </a:p>
        </p:txBody>
      </p:sp>
    </p:spTree>
    <p:extLst>
      <p:ext uri="{BB962C8B-B14F-4D97-AF65-F5344CB8AC3E}">
        <p14:creationId xmlns:p14="http://schemas.microsoft.com/office/powerpoint/2010/main" val="339355495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43</a:t>
            </a:fld>
            <a:endParaRPr lang="es-PE"/>
          </a:p>
        </p:txBody>
      </p:sp>
    </p:spTree>
    <p:extLst>
      <p:ext uri="{BB962C8B-B14F-4D97-AF65-F5344CB8AC3E}">
        <p14:creationId xmlns:p14="http://schemas.microsoft.com/office/powerpoint/2010/main" val="234212960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44</a:t>
            </a:fld>
            <a:endParaRPr lang="es-PE"/>
          </a:p>
        </p:txBody>
      </p:sp>
    </p:spTree>
    <p:extLst>
      <p:ext uri="{BB962C8B-B14F-4D97-AF65-F5344CB8AC3E}">
        <p14:creationId xmlns:p14="http://schemas.microsoft.com/office/powerpoint/2010/main" val="298318007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45</a:t>
            </a:fld>
            <a:endParaRPr lang="es-PE"/>
          </a:p>
        </p:txBody>
      </p:sp>
    </p:spTree>
    <p:extLst>
      <p:ext uri="{BB962C8B-B14F-4D97-AF65-F5344CB8AC3E}">
        <p14:creationId xmlns:p14="http://schemas.microsoft.com/office/powerpoint/2010/main" val="95013553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46</a:t>
            </a:fld>
            <a:endParaRPr lang="es-PE"/>
          </a:p>
        </p:txBody>
      </p:sp>
    </p:spTree>
    <p:extLst>
      <p:ext uri="{BB962C8B-B14F-4D97-AF65-F5344CB8AC3E}">
        <p14:creationId xmlns:p14="http://schemas.microsoft.com/office/powerpoint/2010/main" val="95030949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47</a:t>
            </a:fld>
            <a:endParaRPr lang="es-PE"/>
          </a:p>
        </p:txBody>
      </p:sp>
    </p:spTree>
    <p:extLst>
      <p:ext uri="{BB962C8B-B14F-4D97-AF65-F5344CB8AC3E}">
        <p14:creationId xmlns:p14="http://schemas.microsoft.com/office/powerpoint/2010/main" val="84310839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48</a:t>
            </a:fld>
            <a:endParaRPr lang="es-PE"/>
          </a:p>
        </p:txBody>
      </p:sp>
    </p:spTree>
    <p:extLst>
      <p:ext uri="{BB962C8B-B14F-4D97-AF65-F5344CB8AC3E}">
        <p14:creationId xmlns:p14="http://schemas.microsoft.com/office/powerpoint/2010/main" val="120897069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49</a:t>
            </a:fld>
            <a:endParaRPr lang="es-PE"/>
          </a:p>
        </p:txBody>
      </p:sp>
    </p:spTree>
    <p:extLst>
      <p:ext uri="{BB962C8B-B14F-4D97-AF65-F5344CB8AC3E}">
        <p14:creationId xmlns:p14="http://schemas.microsoft.com/office/powerpoint/2010/main" val="52146843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50</a:t>
            </a:fld>
            <a:endParaRPr lang="es-PE"/>
          </a:p>
        </p:txBody>
      </p:sp>
    </p:spTree>
    <p:extLst>
      <p:ext uri="{BB962C8B-B14F-4D97-AF65-F5344CB8AC3E}">
        <p14:creationId xmlns:p14="http://schemas.microsoft.com/office/powerpoint/2010/main" val="363637353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51</a:t>
            </a:fld>
            <a:endParaRPr lang="es-PE"/>
          </a:p>
        </p:txBody>
      </p:sp>
    </p:spTree>
    <p:extLst>
      <p:ext uri="{BB962C8B-B14F-4D97-AF65-F5344CB8AC3E}">
        <p14:creationId xmlns:p14="http://schemas.microsoft.com/office/powerpoint/2010/main" val="98766281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pPr marL="0" indent="0" rtl="0">
              <a:buFont typeface="+mj-lt"/>
              <a:buNone/>
            </a:pPr>
            <a:endParaRPr lang="es-PE" sz="1200" b="0" dirty="0">
              <a:effectLst/>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52</a:t>
            </a:fld>
            <a:endParaRPr lang="es-PE"/>
          </a:p>
        </p:txBody>
      </p:sp>
    </p:spTree>
    <p:extLst>
      <p:ext uri="{BB962C8B-B14F-4D97-AF65-F5344CB8AC3E}">
        <p14:creationId xmlns:p14="http://schemas.microsoft.com/office/powerpoint/2010/main" val="113445410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3" indent="0" algn="l" defTabSz="914400" rtl="0" eaLnBrk="1" fontAlgn="auto" latinLnBrk="0" hangingPunct="1">
              <a:lnSpc>
                <a:spcPct val="100000"/>
              </a:lnSpc>
              <a:spcBef>
                <a:spcPts val="0"/>
              </a:spcBef>
              <a:spcAft>
                <a:spcPts val="0"/>
              </a:spcAft>
              <a:buClrTx/>
              <a:buSzTx/>
              <a:buFontTx/>
              <a:buNone/>
              <a:tabLst/>
              <a:defRPr/>
            </a:pPr>
            <a:r>
              <a:rPr lang="es-PE" sz="1200" kern="1200" dirty="0">
                <a:solidFill>
                  <a:schemeClr val="tx1"/>
                </a:solidFill>
                <a:effectLst/>
                <a:latin typeface="Arial" panose="020B0604020202020204" pitchFamily="34" charset="0"/>
                <a:ea typeface="+mn-ea"/>
                <a:cs typeface="Arial" panose="020B0604020202020204" pitchFamily="34" charset="0"/>
              </a:rPr>
              <a:t> </a:t>
            </a:r>
          </a:p>
          <a:p>
            <a:endParaRPr lang="es-PE" sz="1200"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53</a:t>
            </a:fld>
            <a:endParaRPr lang="es-PE"/>
          </a:p>
        </p:txBody>
      </p:sp>
    </p:spTree>
    <p:extLst>
      <p:ext uri="{BB962C8B-B14F-4D97-AF65-F5344CB8AC3E}">
        <p14:creationId xmlns:p14="http://schemas.microsoft.com/office/powerpoint/2010/main" val="184904349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2.xml"/><Relationship Id="rId4" Type="http://schemas.microsoft.com/office/2007/relationships/hdphoto" Target="../media/hdphoto1.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Diapo_Título">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cxnSp>
        <p:nvCxnSpPr>
          <p:cNvPr id="6" name="Conector recto 5">
            <a:extLst>
              <a:ext uri="{FF2B5EF4-FFF2-40B4-BE49-F238E27FC236}">
                <a16:creationId xmlns:a16="http://schemas.microsoft.com/office/drawing/2014/main" id="{78499219-B93F-4121-95B0-FD263CAAD2EC}"/>
              </a:ext>
            </a:extLst>
          </p:cNvPr>
          <p:cNvCxnSpPr/>
          <p:nvPr userDrawn="1"/>
        </p:nvCxnSpPr>
        <p:spPr>
          <a:xfrm>
            <a:off x="3056456" y="1742381"/>
            <a:ext cx="0" cy="792000"/>
          </a:xfrm>
          <a:prstGeom prst="line">
            <a:avLst/>
          </a:prstGeom>
          <a:ln w="3810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0" name="Marcador de texto 9">
            <a:extLst>
              <a:ext uri="{FF2B5EF4-FFF2-40B4-BE49-F238E27FC236}">
                <a16:creationId xmlns:a16="http://schemas.microsoft.com/office/drawing/2014/main" id="{07A93BC5-4242-4AEF-86D2-025896BBFF94}"/>
              </a:ext>
            </a:extLst>
          </p:cNvPr>
          <p:cNvSpPr>
            <a:spLocks noGrp="1"/>
          </p:cNvSpPr>
          <p:nvPr>
            <p:ph type="body" sz="quarter" idx="10" hasCustomPrompt="1"/>
          </p:nvPr>
        </p:nvSpPr>
        <p:spPr>
          <a:xfrm>
            <a:off x="3151256" y="1466837"/>
            <a:ext cx="5524431" cy="1065212"/>
          </a:xfrm>
          <a:prstGeom prst="rect">
            <a:avLst/>
          </a:prstGeom>
        </p:spPr>
        <p:txBody>
          <a:bodyPr lIns="36000" tIns="0" rIns="36000" bIns="0" anchor="b"/>
          <a:lstStyle>
            <a:lvl1pPr marL="0" indent="0">
              <a:lnSpc>
                <a:spcPct val="85000"/>
              </a:lnSpc>
              <a:buNone/>
              <a:defRPr sz="3600" b="1" spc="-10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s-ES" dirty="0"/>
              <a:t>HAGA CLIC PARA MODIFICAR LOS ESTILOS DE TEXTO DEL PATRÓN</a:t>
            </a:r>
          </a:p>
        </p:txBody>
      </p:sp>
      <p:sp>
        <p:nvSpPr>
          <p:cNvPr id="12" name="Marcador de texto 11">
            <a:extLst>
              <a:ext uri="{FF2B5EF4-FFF2-40B4-BE49-F238E27FC236}">
                <a16:creationId xmlns:a16="http://schemas.microsoft.com/office/drawing/2014/main" id="{7F024871-2FC3-48CA-9CA6-981F63452D4D}"/>
              </a:ext>
            </a:extLst>
          </p:cNvPr>
          <p:cNvSpPr>
            <a:spLocks noGrp="1"/>
          </p:cNvSpPr>
          <p:nvPr>
            <p:ph type="body" sz="quarter" idx="11" hasCustomPrompt="1"/>
          </p:nvPr>
        </p:nvSpPr>
        <p:spPr>
          <a:xfrm>
            <a:off x="3151257" y="2571394"/>
            <a:ext cx="5524430" cy="216000"/>
          </a:xfrm>
          <a:prstGeom prst="rect">
            <a:avLst/>
          </a:prstGeom>
          <a:solidFill>
            <a:schemeClr val="bg1"/>
          </a:solidFill>
        </p:spPr>
        <p:txBody>
          <a:bodyPr lIns="36000" tIns="0" rIns="36000" bIns="0" anchor="ctr"/>
          <a:lstStyle>
            <a:lvl1pPr marL="0" indent="0">
              <a:lnSpc>
                <a:spcPct val="85000"/>
              </a:lnSpc>
              <a:spcBef>
                <a:spcPts val="0"/>
              </a:spcBef>
              <a:buNone/>
              <a:defRPr sz="1400" b="1" spc="-100" baseline="0">
                <a:solidFill>
                  <a:srgbClr val="1F85A6"/>
                </a:solidFill>
              </a:defRPr>
            </a:lvl1pPr>
          </a:lstStyle>
          <a:p>
            <a:pPr lvl="0"/>
            <a:r>
              <a:rPr lang="es-ES" dirty="0"/>
              <a:t>HAGA CLIC PARA MODIFICAR LOS ESTILOS DE TEXTO DEL PATRÓN</a:t>
            </a:r>
            <a:endParaRPr lang="es-PE" dirty="0"/>
          </a:p>
        </p:txBody>
      </p:sp>
      <p:sp>
        <p:nvSpPr>
          <p:cNvPr id="14" name="Marcador de texto 13">
            <a:extLst>
              <a:ext uri="{FF2B5EF4-FFF2-40B4-BE49-F238E27FC236}">
                <a16:creationId xmlns:a16="http://schemas.microsoft.com/office/drawing/2014/main" id="{909CBA01-1C97-4D7F-AC89-2F7E2CE7AE1E}"/>
              </a:ext>
            </a:extLst>
          </p:cNvPr>
          <p:cNvSpPr>
            <a:spLocks noGrp="1"/>
          </p:cNvSpPr>
          <p:nvPr>
            <p:ph type="body" sz="quarter" idx="12"/>
          </p:nvPr>
        </p:nvSpPr>
        <p:spPr>
          <a:xfrm>
            <a:off x="3151257" y="3149152"/>
            <a:ext cx="5524430" cy="1584325"/>
          </a:xfrm>
          <a:prstGeom prst="rect">
            <a:avLst/>
          </a:prstGeom>
        </p:spPr>
        <p:txBody>
          <a:bodyPr/>
          <a:lstStyle>
            <a:lvl1pPr marL="266700" indent="-266700" algn="just">
              <a:spcBef>
                <a:spcPts val="0"/>
              </a:spcBef>
              <a:buSzPct val="75000"/>
              <a:buFont typeface="Wingdings" panose="05000000000000000000" pitchFamily="2" charset="2"/>
              <a:buChar char="q"/>
              <a:defRPr sz="1600">
                <a:solidFill>
                  <a:schemeClr val="bg1"/>
                </a:solidFill>
              </a:defRPr>
            </a:lvl1pPr>
          </a:lstStyle>
          <a:p>
            <a:pPr lvl="0"/>
            <a:r>
              <a:rPr lang="es-ES" dirty="0"/>
              <a:t>Haga clic para modificar los estilos de texto del patrón</a:t>
            </a:r>
            <a:endParaRPr lang="es-PE" dirty="0"/>
          </a:p>
        </p:txBody>
      </p:sp>
      <p:sp>
        <p:nvSpPr>
          <p:cNvPr id="16" name="Marcador de texto 15">
            <a:extLst>
              <a:ext uri="{FF2B5EF4-FFF2-40B4-BE49-F238E27FC236}">
                <a16:creationId xmlns:a16="http://schemas.microsoft.com/office/drawing/2014/main" id="{98ED8DBD-5592-4A8D-8BF5-1D169AA4AE08}"/>
              </a:ext>
            </a:extLst>
          </p:cNvPr>
          <p:cNvSpPr>
            <a:spLocks noGrp="1"/>
          </p:cNvSpPr>
          <p:nvPr>
            <p:ph type="body" sz="quarter" idx="13"/>
          </p:nvPr>
        </p:nvSpPr>
        <p:spPr>
          <a:xfrm>
            <a:off x="2051281" y="1782566"/>
            <a:ext cx="910376" cy="914400"/>
          </a:xfrm>
          <a:prstGeom prst="rect">
            <a:avLst/>
          </a:prstGeom>
        </p:spPr>
        <p:txBody>
          <a:bodyPr lIns="0" tIns="0" rIns="0" bIns="0"/>
          <a:lstStyle>
            <a:lvl1pPr marL="0" indent="0" algn="ctr">
              <a:buNone/>
              <a:defRPr sz="58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s-ES" dirty="0"/>
              <a:t>Haga clic para modificar los estilos de texto del patrón</a:t>
            </a:r>
            <a:endParaRPr lang="es-PE" dirty="0"/>
          </a:p>
        </p:txBody>
      </p:sp>
      <p:sp>
        <p:nvSpPr>
          <p:cNvPr id="19" name="CuadroTexto 18">
            <a:extLst>
              <a:ext uri="{FF2B5EF4-FFF2-40B4-BE49-F238E27FC236}">
                <a16:creationId xmlns:a16="http://schemas.microsoft.com/office/drawing/2014/main" id="{3B086266-9338-4415-8002-5AA0BBD87E06}"/>
              </a:ext>
            </a:extLst>
          </p:cNvPr>
          <p:cNvSpPr txBox="1"/>
          <p:nvPr userDrawn="1"/>
        </p:nvSpPr>
        <p:spPr>
          <a:xfrm>
            <a:off x="2051281" y="1615590"/>
            <a:ext cx="910376" cy="369332"/>
          </a:xfrm>
          <a:prstGeom prst="rect">
            <a:avLst/>
          </a:prstGeom>
          <a:noFill/>
        </p:spPr>
        <p:txBody>
          <a:bodyPr wrap="square" rtlCol="0">
            <a:spAutoFit/>
          </a:bodyPr>
          <a:lstStyle/>
          <a:p>
            <a:pPr algn="ctr"/>
            <a:r>
              <a:rPr lang="es-PE" dirty="0">
                <a:solidFill>
                  <a:schemeClr val="bg1"/>
                </a:solidFill>
              </a:rPr>
              <a:t>SESIÓN</a:t>
            </a:r>
          </a:p>
        </p:txBody>
      </p:sp>
    </p:spTree>
    <p:extLst>
      <p:ext uri="{BB962C8B-B14F-4D97-AF65-F5344CB8AC3E}">
        <p14:creationId xmlns:p14="http://schemas.microsoft.com/office/powerpoint/2010/main" val="1840211312"/>
      </p:ext>
    </p:extLst>
  </p:cSld>
  <p:clrMapOvr>
    <a:masterClrMapping/>
  </p:clrMapOvr>
  <p:extLst>
    <p:ext uri="{DCECCB84-F9BA-43D5-87BE-67443E8EF086}">
      <p15:sldGuideLst xmlns:p15="http://schemas.microsoft.com/office/powerpoint/2012/main">
        <p15:guide id="1" pos="5465" userDrawn="1">
          <p15:clr>
            <a:srgbClr val="FBAE40"/>
          </p15:clr>
        </p15:guide>
        <p15:guide id="2" pos="197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apo_Introduccion">
    <p:bg>
      <p:bgPr>
        <a:solidFill>
          <a:schemeClr val="bg1">
            <a:lumMod val="95000"/>
          </a:schemeClr>
        </a:solidFill>
        <a:effectLst/>
      </p:bgPr>
    </p:bg>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DEFFC524-5204-4B8D-AB52-89B3D97070F1}"/>
              </a:ext>
            </a:extLst>
          </p:cNvPr>
          <p:cNvSpPr/>
          <p:nvPr userDrawn="1"/>
        </p:nvSpPr>
        <p:spPr>
          <a:xfrm>
            <a:off x="503238" y="997483"/>
            <a:ext cx="1945800" cy="249299"/>
          </a:xfrm>
          <a:prstGeom prst="rect">
            <a:avLst/>
          </a:prstGeom>
        </p:spPr>
        <p:txBody>
          <a:bodyPr wrap="square" lIns="0" tIns="0" rIns="0" bIns="0">
            <a:spAutoFit/>
          </a:bodyPr>
          <a:lstStyle/>
          <a:p>
            <a:pPr marL="0" marR="0" lvl="0" indent="0" algn="l" defTabSz="411480" rtl="0" eaLnBrk="1" fontAlgn="auto" latinLnBrk="0" hangingPunct="1">
              <a:lnSpc>
                <a:spcPct val="100000"/>
              </a:lnSpc>
              <a:spcBef>
                <a:spcPts val="0"/>
              </a:spcBef>
              <a:spcAft>
                <a:spcPts val="0"/>
              </a:spcAft>
              <a:buClrTx/>
              <a:buSzTx/>
              <a:buFontTx/>
              <a:buNone/>
              <a:tabLst/>
              <a:defRPr/>
            </a:pPr>
            <a:r>
              <a:rPr kumimoji="0" lang="en-US" sz="1620" b="1" i="0" u="none" strike="noStrike" kern="1200" cap="none" spc="0" normalizeH="0" baseline="0" noProof="0" dirty="0">
                <a:ln>
                  <a:noFill/>
                </a:ln>
                <a:solidFill>
                  <a:schemeClr val="tx1"/>
                </a:solidFill>
                <a:effectLst/>
                <a:uLnTx/>
                <a:uFillTx/>
                <a:latin typeface="Calibri"/>
                <a:ea typeface="+mn-ea"/>
                <a:cs typeface="+mn-cs"/>
              </a:rPr>
              <a:t>INTRODUCCIÓN</a:t>
            </a:r>
          </a:p>
        </p:txBody>
      </p:sp>
      <p:pic>
        <p:nvPicPr>
          <p:cNvPr id="3" name="Imagen 2">
            <a:extLst>
              <a:ext uri="{FF2B5EF4-FFF2-40B4-BE49-F238E27FC236}">
                <a16:creationId xmlns:a16="http://schemas.microsoft.com/office/drawing/2014/main" id="{949F8A1D-5EEE-42EF-A95B-31789C550AC2}"/>
              </a:ext>
            </a:extLst>
          </p:cNvPr>
          <p:cNvPicPr>
            <a:picLocks noChangeAspect="1"/>
          </p:cNvPicPr>
          <p:nvPr userDrawn="1"/>
        </p:nvPicPr>
        <p:blipFill>
          <a:blip r:embed="rId3">
            <a:alphaModFix/>
            <a:biLevel thresh="75000"/>
            <a:extLst>
              <a:ext uri="{BEBA8EAE-BF5A-486C-A8C5-ECC9F3942E4B}">
                <a14:imgProps xmlns:a14="http://schemas.microsoft.com/office/drawing/2010/main">
                  <a14:imgLayer r:embed="rId4">
                    <a14:imgEffect>
                      <a14:colorTemperature colorTemp="1500"/>
                    </a14:imgEffect>
                    <a14:imgEffect>
                      <a14:saturation sat="0"/>
                    </a14:imgEffect>
                  </a14:imgLayer>
                </a14:imgProps>
              </a:ext>
            </a:extLst>
          </a:blip>
          <a:stretch>
            <a:fillRect/>
          </a:stretch>
        </p:blipFill>
        <p:spPr>
          <a:xfrm>
            <a:off x="503239" y="573356"/>
            <a:ext cx="424127" cy="424127"/>
          </a:xfrm>
          <a:prstGeom prst="rect">
            <a:avLst/>
          </a:prstGeom>
          <a:solidFill>
            <a:schemeClr val="bg1">
              <a:lumMod val="95000"/>
            </a:schemeClr>
          </a:solidFill>
        </p:spPr>
      </p:pic>
      <p:sp>
        <p:nvSpPr>
          <p:cNvPr id="8" name="Marcador de texto 7">
            <a:extLst>
              <a:ext uri="{FF2B5EF4-FFF2-40B4-BE49-F238E27FC236}">
                <a16:creationId xmlns:a16="http://schemas.microsoft.com/office/drawing/2014/main" id="{C946181C-25DC-4BDD-9928-A88184E17BFD}"/>
              </a:ext>
            </a:extLst>
          </p:cNvPr>
          <p:cNvSpPr>
            <a:spLocks noGrp="1"/>
          </p:cNvSpPr>
          <p:nvPr>
            <p:ph type="body" sz="quarter" idx="10"/>
          </p:nvPr>
        </p:nvSpPr>
        <p:spPr>
          <a:xfrm>
            <a:off x="503238" y="1670050"/>
            <a:ext cx="8137525" cy="3563938"/>
          </a:xfrm>
          <a:prstGeom prst="rect">
            <a:avLst/>
          </a:prstGeom>
        </p:spPr>
        <p:txBody>
          <a:bodyPr/>
          <a:lstStyle>
            <a:lvl1pPr marL="266700" indent="-266700" algn="just">
              <a:lnSpc>
                <a:spcPct val="100000"/>
              </a:lnSpc>
              <a:spcBef>
                <a:spcPts val="0"/>
              </a:spcBef>
              <a:spcAft>
                <a:spcPts val="1200"/>
              </a:spcAft>
              <a:buSzPct val="75000"/>
              <a:buFont typeface="Wingdings" panose="05000000000000000000" pitchFamily="2" charset="2"/>
              <a:buChar char="q"/>
              <a:defRPr sz="1600"/>
            </a:lvl1pPr>
            <a:lvl2pPr marL="531813" indent="-265113" algn="just">
              <a:lnSpc>
                <a:spcPct val="100000"/>
              </a:lnSpc>
              <a:spcBef>
                <a:spcPts val="0"/>
              </a:spcBef>
              <a:spcAft>
                <a:spcPts val="1200"/>
              </a:spcAft>
              <a:buFont typeface="Delius" panose="02000603000000000000" pitchFamily="2" charset="0"/>
              <a:buChar char="→"/>
              <a:defRPr sz="1600"/>
            </a:lvl2pPr>
            <a:lvl3pPr marL="717550" indent="-185738" algn="just">
              <a:lnSpc>
                <a:spcPct val="100000"/>
              </a:lnSpc>
              <a:spcBef>
                <a:spcPts val="0"/>
              </a:spcBef>
              <a:spcAft>
                <a:spcPts val="1200"/>
              </a:spcAft>
              <a:buFont typeface="Wingdings" panose="05000000000000000000" pitchFamily="2" charset="2"/>
              <a:buChar char="§"/>
              <a:defRPr sz="1600"/>
            </a:lvl3pPr>
            <a:lvl4pPr>
              <a:lnSpc>
                <a:spcPct val="85000"/>
              </a:lnSpc>
              <a:spcBef>
                <a:spcPts val="0"/>
              </a:spcBef>
              <a:spcAft>
                <a:spcPts val="1200"/>
              </a:spcAft>
              <a:defRPr sz="1600"/>
            </a:lvl4pPr>
            <a:lvl5pPr>
              <a:lnSpc>
                <a:spcPct val="85000"/>
              </a:lnSpc>
              <a:spcBef>
                <a:spcPts val="0"/>
              </a:spcBef>
              <a:spcAft>
                <a:spcPts val="1200"/>
              </a:spcAft>
              <a:defRPr sz="1600"/>
            </a:lvl5pPr>
          </a:lstStyle>
          <a:p>
            <a:pPr lvl="0"/>
            <a:r>
              <a:rPr lang="es-ES" dirty="0"/>
              <a:t>Haga clic para modificar los estilos de texto del patrón</a:t>
            </a:r>
          </a:p>
          <a:p>
            <a:pPr lvl="1"/>
            <a:r>
              <a:rPr lang="es-ES" dirty="0"/>
              <a:t>Segundo nivel</a:t>
            </a:r>
          </a:p>
          <a:p>
            <a:pPr lvl="2"/>
            <a:r>
              <a:rPr lang="es-ES" dirty="0"/>
              <a:t>Tercer nivel</a:t>
            </a:r>
            <a:endParaRPr lang="es-PE" dirty="0"/>
          </a:p>
        </p:txBody>
      </p:sp>
    </p:spTree>
    <p:custDataLst>
      <p:tags r:id="rId1"/>
    </p:custDataLst>
    <p:extLst>
      <p:ext uri="{BB962C8B-B14F-4D97-AF65-F5344CB8AC3E}">
        <p14:creationId xmlns:p14="http://schemas.microsoft.com/office/powerpoint/2010/main" val="4023211956"/>
      </p:ext>
    </p:extLst>
  </p:cSld>
  <p:clrMapOvr>
    <a:masterClrMapping/>
  </p:clrMapOvr>
  <p:extLst>
    <p:ext uri="{DCECCB84-F9BA-43D5-87BE-67443E8EF086}">
      <p15:sldGuideLst xmlns:p15="http://schemas.microsoft.com/office/powerpoint/2012/main">
        <p15:guide id="1" orient="horz" pos="1052" userDrawn="1">
          <p15:clr>
            <a:srgbClr val="FBAE40"/>
          </p15:clr>
        </p15:guide>
        <p15:guide id="2" pos="317" userDrawn="1">
          <p15:clr>
            <a:srgbClr val="FBAE40"/>
          </p15:clr>
        </p15:guide>
        <p15:guide id="3" pos="5443" userDrawn="1">
          <p15:clr>
            <a:srgbClr val="FBAE40"/>
          </p15:clr>
        </p15:guide>
        <p15:guide id="4" orient="horz" pos="3297"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_Subtema con Imagen Horizontal (blanco)">
    <p:spTree>
      <p:nvGrpSpPr>
        <p:cNvPr id="1" name=""/>
        <p:cNvGrpSpPr/>
        <p:nvPr/>
      </p:nvGrpSpPr>
      <p:grpSpPr>
        <a:xfrm>
          <a:off x="0" y="0"/>
          <a:ext cx="0" cy="0"/>
          <a:chOff x="0" y="0"/>
          <a:chExt cx="0" cy="0"/>
        </a:xfrm>
      </p:grpSpPr>
      <p:sp>
        <p:nvSpPr>
          <p:cNvPr id="7" name="Marcador de posición de imagen 6">
            <a:extLst>
              <a:ext uri="{FF2B5EF4-FFF2-40B4-BE49-F238E27FC236}">
                <a16:creationId xmlns:a16="http://schemas.microsoft.com/office/drawing/2014/main" id="{4717FB9E-6DD3-4BBD-A122-85F3673CCA90}"/>
              </a:ext>
            </a:extLst>
          </p:cNvPr>
          <p:cNvSpPr>
            <a:spLocks noGrp="1"/>
          </p:cNvSpPr>
          <p:nvPr>
            <p:ph type="pic" sz="quarter" idx="10"/>
          </p:nvPr>
        </p:nvSpPr>
        <p:spPr>
          <a:xfrm>
            <a:off x="470825" y="2867600"/>
            <a:ext cx="8208000" cy="2394000"/>
          </a:xfrm>
          <a:prstGeom prst="rect">
            <a:avLst/>
          </a:prstGeom>
        </p:spPr>
        <p:txBody>
          <a:bodyPr anchor="ctr"/>
          <a:lstStyle>
            <a:lvl1pPr marL="0" indent="0" algn="ctr">
              <a:buNone/>
              <a:defRPr/>
            </a:lvl1pPr>
          </a:lstStyle>
          <a:p>
            <a:endParaRPr lang="es-PE"/>
          </a:p>
        </p:txBody>
      </p:sp>
      <p:sp>
        <p:nvSpPr>
          <p:cNvPr id="11" name="Marcador de texto 10">
            <a:extLst>
              <a:ext uri="{FF2B5EF4-FFF2-40B4-BE49-F238E27FC236}">
                <a16:creationId xmlns:a16="http://schemas.microsoft.com/office/drawing/2014/main" id="{AC29DAAB-CDF4-4B89-8C31-EA10C6E01FDC}"/>
              </a:ext>
            </a:extLst>
          </p:cNvPr>
          <p:cNvSpPr>
            <a:spLocks noGrp="1"/>
          </p:cNvSpPr>
          <p:nvPr>
            <p:ph type="body" sz="quarter" idx="12" hasCustomPrompt="1"/>
          </p:nvPr>
        </p:nvSpPr>
        <p:spPr>
          <a:xfrm>
            <a:off x="468313" y="804863"/>
            <a:ext cx="8208000" cy="354012"/>
          </a:xfrm>
          <a:prstGeom prst="rect">
            <a:avLst/>
          </a:prstGeom>
        </p:spPr>
        <p:txBody>
          <a:bodyPr lIns="72000" tIns="36000" rIns="72000" bIns="36000" anchor="ctr"/>
          <a:lstStyle>
            <a:lvl1pPr marL="0" indent="0">
              <a:lnSpc>
                <a:spcPct val="85000"/>
              </a:lnSpc>
              <a:spcBef>
                <a:spcPts val="0"/>
              </a:spcBef>
              <a:buNone/>
              <a:defRPr sz="1600" b="1"/>
            </a:lvl1pPr>
          </a:lstStyle>
          <a:p>
            <a:pPr lvl="0"/>
            <a:r>
              <a:rPr lang="es-ES" dirty="0"/>
              <a:t>HAGA CLIC PARA MODIFICAR LOS ESTILOS DE TEXTO DEL PATRÓN</a:t>
            </a:r>
            <a:endParaRPr lang="es-PE" dirty="0"/>
          </a:p>
        </p:txBody>
      </p:sp>
      <p:sp>
        <p:nvSpPr>
          <p:cNvPr id="15" name="Marcador de texto 14">
            <a:extLst>
              <a:ext uri="{FF2B5EF4-FFF2-40B4-BE49-F238E27FC236}">
                <a16:creationId xmlns:a16="http://schemas.microsoft.com/office/drawing/2014/main" id="{383EF17E-5C96-4858-ACC0-09751EF7DCBE}"/>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sp>
        <p:nvSpPr>
          <p:cNvPr id="5" name="Marcador de texto 4">
            <a:extLst>
              <a:ext uri="{FF2B5EF4-FFF2-40B4-BE49-F238E27FC236}">
                <a16:creationId xmlns:a16="http://schemas.microsoft.com/office/drawing/2014/main" id="{B6AB609E-19B2-43F3-94FB-608EEAC4D4C8}"/>
              </a:ext>
            </a:extLst>
          </p:cNvPr>
          <p:cNvSpPr>
            <a:spLocks noGrp="1"/>
          </p:cNvSpPr>
          <p:nvPr>
            <p:ph type="body" sz="quarter" idx="14"/>
          </p:nvPr>
        </p:nvSpPr>
        <p:spPr>
          <a:xfrm>
            <a:off x="468313" y="1182025"/>
            <a:ext cx="8207375" cy="1674000"/>
          </a:xfrm>
          <a:prstGeom prst="rect">
            <a:avLst/>
          </a:prstGeom>
        </p:spPr>
        <p:txBody>
          <a:bodyPr/>
          <a:lstStyle>
            <a:lvl1pPr marL="266700" indent="-266700" algn="just">
              <a:spcBef>
                <a:spcPts val="0"/>
              </a:spcBef>
              <a:spcAft>
                <a:spcPts val="800"/>
              </a:spcAft>
              <a:buSzPct val="75000"/>
              <a:buFont typeface="Wingdings" panose="05000000000000000000" pitchFamily="2" charset="2"/>
              <a:buChar char="q"/>
              <a:defRPr sz="1600"/>
            </a:lvl1pPr>
            <a:lvl2pPr marL="531813" indent="-265113" algn="just">
              <a:spcBef>
                <a:spcPts val="0"/>
              </a:spcBef>
              <a:spcAft>
                <a:spcPts val="800"/>
              </a:spcAft>
              <a:buFont typeface="Delius" panose="02000603000000000000" pitchFamily="2" charset="0"/>
              <a:buChar char="→"/>
              <a:defRPr sz="1600"/>
            </a:lvl2pPr>
            <a:lvl3pPr marL="717550" indent="-185738" algn="just">
              <a:spcBef>
                <a:spcPts val="0"/>
              </a:spcBef>
              <a:spcAft>
                <a:spcPts val="800"/>
              </a:spcAft>
              <a:buFont typeface="Wingdings" panose="05000000000000000000" pitchFamily="2" charset="2"/>
              <a:buChar char="§"/>
              <a:defRPr sz="1600"/>
            </a:lvl3pPr>
            <a:lvl4pPr>
              <a:defRPr sz="1600"/>
            </a:lvl4pPr>
            <a:lvl5pPr>
              <a:defRPr sz="1600"/>
            </a:lvl5pPr>
          </a:lstStyle>
          <a:p>
            <a:pPr lvl="0"/>
            <a:r>
              <a:rPr lang="es-ES" dirty="0"/>
              <a:t>Haga clic para modificar los estilos de texto del patrón</a:t>
            </a:r>
          </a:p>
          <a:p>
            <a:pPr lvl="1"/>
            <a:r>
              <a:rPr lang="es-ES" dirty="0"/>
              <a:t>Segundo nivel</a:t>
            </a:r>
          </a:p>
          <a:p>
            <a:pPr lvl="2"/>
            <a:r>
              <a:rPr lang="es-ES" dirty="0"/>
              <a:t>Tercer nivel</a:t>
            </a:r>
            <a:endParaRPr lang="es-PE" dirty="0"/>
          </a:p>
        </p:txBody>
      </p:sp>
    </p:spTree>
    <p:extLst>
      <p:ext uri="{BB962C8B-B14F-4D97-AF65-F5344CB8AC3E}">
        <p14:creationId xmlns:p14="http://schemas.microsoft.com/office/powerpoint/2010/main" val="611824996"/>
      </p:ext>
    </p:extLst>
  </p:cSld>
  <p:clrMapOvr>
    <a:masterClrMapping/>
  </p:clrMapOvr>
  <p:extLst>
    <p:ext uri="{DCECCB84-F9BA-43D5-87BE-67443E8EF086}">
      <p15:sldGuideLst xmlns:p15="http://schemas.microsoft.com/office/powerpoint/2012/main">
        <p15:guide id="1" pos="295" userDrawn="1">
          <p15:clr>
            <a:srgbClr val="FBAE40"/>
          </p15:clr>
        </p15:guide>
        <p15:guide id="2" pos="5465" userDrawn="1">
          <p15:clr>
            <a:srgbClr val="FBAE40"/>
          </p15:clr>
        </p15:guide>
        <p15:guide id="4" orient="horz" pos="507" userDrawn="1">
          <p15:clr>
            <a:srgbClr val="FBAE40"/>
          </p15:clr>
        </p15:guide>
        <p15:guide id="5" orient="horz" pos="332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apo_Subtema con Imagen Vertical">
    <p:spTree>
      <p:nvGrpSpPr>
        <p:cNvPr id="1" name=""/>
        <p:cNvGrpSpPr/>
        <p:nvPr/>
      </p:nvGrpSpPr>
      <p:grpSpPr>
        <a:xfrm>
          <a:off x="0" y="0"/>
          <a:ext cx="0" cy="0"/>
          <a:chOff x="0" y="0"/>
          <a:chExt cx="0" cy="0"/>
        </a:xfrm>
      </p:grpSpPr>
      <p:sp>
        <p:nvSpPr>
          <p:cNvPr id="7" name="Marcador de posición de imagen 6">
            <a:extLst>
              <a:ext uri="{FF2B5EF4-FFF2-40B4-BE49-F238E27FC236}">
                <a16:creationId xmlns:a16="http://schemas.microsoft.com/office/drawing/2014/main" id="{4717FB9E-6DD3-4BBD-A122-85F3673CCA90}"/>
              </a:ext>
            </a:extLst>
          </p:cNvPr>
          <p:cNvSpPr>
            <a:spLocks noGrp="1"/>
          </p:cNvSpPr>
          <p:nvPr>
            <p:ph type="pic" sz="quarter" idx="10"/>
          </p:nvPr>
        </p:nvSpPr>
        <p:spPr>
          <a:xfrm>
            <a:off x="4595149" y="816438"/>
            <a:ext cx="4086000" cy="4446000"/>
          </a:xfrm>
          <a:prstGeom prst="rect">
            <a:avLst/>
          </a:prstGeom>
        </p:spPr>
        <p:txBody>
          <a:bodyPr anchor="ctr"/>
          <a:lstStyle>
            <a:lvl1pPr marL="0" indent="0" algn="ctr">
              <a:buNone/>
              <a:defRPr/>
            </a:lvl1pPr>
          </a:lstStyle>
          <a:p>
            <a:endParaRPr lang="es-PE" dirty="0"/>
          </a:p>
        </p:txBody>
      </p:sp>
      <p:sp>
        <p:nvSpPr>
          <p:cNvPr id="11" name="Marcador de texto 10">
            <a:extLst>
              <a:ext uri="{FF2B5EF4-FFF2-40B4-BE49-F238E27FC236}">
                <a16:creationId xmlns:a16="http://schemas.microsoft.com/office/drawing/2014/main" id="{AC29DAAB-CDF4-4B89-8C31-EA10C6E01FDC}"/>
              </a:ext>
            </a:extLst>
          </p:cNvPr>
          <p:cNvSpPr>
            <a:spLocks noGrp="1"/>
          </p:cNvSpPr>
          <p:nvPr>
            <p:ph type="body" sz="quarter" idx="12" hasCustomPrompt="1"/>
          </p:nvPr>
        </p:nvSpPr>
        <p:spPr>
          <a:xfrm>
            <a:off x="468313" y="804863"/>
            <a:ext cx="4103687" cy="354012"/>
          </a:xfrm>
          <a:prstGeom prst="rect">
            <a:avLst/>
          </a:prstGeom>
        </p:spPr>
        <p:txBody>
          <a:bodyPr lIns="72000" tIns="36000" rIns="72000" bIns="36000" anchor="ctr"/>
          <a:lstStyle>
            <a:lvl1pPr marL="0" indent="0">
              <a:lnSpc>
                <a:spcPct val="85000"/>
              </a:lnSpc>
              <a:spcBef>
                <a:spcPts val="0"/>
              </a:spcBef>
              <a:buNone/>
              <a:defRPr sz="1600" b="1"/>
            </a:lvl1pPr>
          </a:lstStyle>
          <a:p>
            <a:pPr lvl="0"/>
            <a:r>
              <a:rPr lang="es-ES" dirty="0"/>
              <a:t>HAGA CLIC PARA MODIFICAR LOS ESTILOS DE TEXTO DEL PATRÓN</a:t>
            </a:r>
            <a:endParaRPr lang="es-PE" dirty="0"/>
          </a:p>
        </p:txBody>
      </p:sp>
      <p:sp>
        <p:nvSpPr>
          <p:cNvPr id="15" name="Marcador de texto 14">
            <a:extLst>
              <a:ext uri="{FF2B5EF4-FFF2-40B4-BE49-F238E27FC236}">
                <a16:creationId xmlns:a16="http://schemas.microsoft.com/office/drawing/2014/main" id="{383EF17E-5C96-4858-ACC0-09751EF7DCBE}"/>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sp>
        <p:nvSpPr>
          <p:cNvPr id="3" name="Marcador de texto 2">
            <a:extLst>
              <a:ext uri="{FF2B5EF4-FFF2-40B4-BE49-F238E27FC236}">
                <a16:creationId xmlns:a16="http://schemas.microsoft.com/office/drawing/2014/main" id="{FD04F222-EEB2-4557-8D4B-D05354FCD8C6}"/>
              </a:ext>
            </a:extLst>
          </p:cNvPr>
          <p:cNvSpPr>
            <a:spLocks noGrp="1"/>
          </p:cNvSpPr>
          <p:nvPr>
            <p:ph type="body" sz="quarter" idx="14"/>
          </p:nvPr>
        </p:nvSpPr>
        <p:spPr>
          <a:xfrm>
            <a:off x="468313" y="1158875"/>
            <a:ext cx="4103687" cy="4111625"/>
          </a:xfrm>
          <a:prstGeom prst="rect">
            <a:avLst/>
          </a:prstGeom>
        </p:spPr>
        <p:txBody>
          <a:bodyPr/>
          <a:lstStyle>
            <a:lvl1pPr marL="266700" indent="-266700" algn="just">
              <a:spcBef>
                <a:spcPts val="0"/>
              </a:spcBef>
              <a:spcAft>
                <a:spcPts val="1200"/>
              </a:spcAft>
              <a:buSzPct val="75000"/>
              <a:buFont typeface="Wingdings" panose="05000000000000000000" pitchFamily="2" charset="2"/>
              <a:buChar char="q"/>
              <a:defRPr sz="1600"/>
            </a:lvl1pPr>
            <a:lvl2pPr marL="531813" indent="-265113" algn="just">
              <a:spcBef>
                <a:spcPts val="0"/>
              </a:spcBef>
              <a:spcAft>
                <a:spcPts val="1200"/>
              </a:spcAft>
              <a:buFont typeface="Delius" panose="02000603000000000000" pitchFamily="2" charset="0"/>
              <a:buChar char="→"/>
              <a:defRPr sz="1600"/>
            </a:lvl2pPr>
            <a:lvl3pPr marL="717550" indent="-185738" algn="just">
              <a:spcBef>
                <a:spcPts val="0"/>
              </a:spcBef>
              <a:spcAft>
                <a:spcPts val="1200"/>
              </a:spcAft>
              <a:buFont typeface="Wingdings" panose="05000000000000000000" pitchFamily="2" charset="2"/>
              <a:buChar char="§"/>
              <a:defRPr sz="1600"/>
            </a:lvl3pPr>
            <a:lvl4pPr>
              <a:spcBef>
                <a:spcPts val="0"/>
              </a:spcBef>
              <a:defRPr sz="1600"/>
            </a:lvl4pPr>
            <a:lvl5pPr>
              <a:spcBef>
                <a:spcPts val="0"/>
              </a:spcBef>
              <a:defRPr sz="1600"/>
            </a:lvl5pPr>
          </a:lstStyle>
          <a:p>
            <a:pPr lvl="0"/>
            <a:r>
              <a:rPr lang="es-ES" dirty="0"/>
              <a:t>Haga clic para modificar los estilos de texto del patrón</a:t>
            </a:r>
          </a:p>
          <a:p>
            <a:pPr lvl="1"/>
            <a:r>
              <a:rPr lang="es-ES" dirty="0"/>
              <a:t>Segundo nivel</a:t>
            </a:r>
          </a:p>
          <a:p>
            <a:pPr lvl="2"/>
            <a:r>
              <a:rPr lang="es-ES" dirty="0"/>
              <a:t>Tercer nivel</a:t>
            </a:r>
            <a:endParaRPr lang="es-PE" dirty="0"/>
          </a:p>
        </p:txBody>
      </p:sp>
    </p:spTree>
    <p:extLst>
      <p:ext uri="{BB962C8B-B14F-4D97-AF65-F5344CB8AC3E}">
        <p14:creationId xmlns:p14="http://schemas.microsoft.com/office/powerpoint/2010/main" val="941359410"/>
      </p:ext>
    </p:extLst>
  </p:cSld>
  <p:clrMapOvr>
    <a:masterClrMapping/>
  </p:clrMapOvr>
  <p:extLst>
    <p:ext uri="{DCECCB84-F9BA-43D5-87BE-67443E8EF086}">
      <p15:sldGuideLst xmlns:p15="http://schemas.microsoft.com/office/powerpoint/2012/main">
        <p15:guide id="1" pos="295" userDrawn="1">
          <p15:clr>
            <a:srgbClr val="FBAE40"/>
          </p15:clr>
        </p15:guide>
        <p15:guide id="2" pos="5465" userDrawn="1">
          <p15:clr>
            <a:srgbClr val="FBAE40"/>
          </p15:clr>
        </p15:guide>
        <p15:guide id="3" orient="horz" pos="1800" userDrawn="1">
          <p15:clr>
            <a:srgbClr val="FBAE40"/>
          </p15:clr>
        </p15:guide>
        <p15:guide id="4" orient="horz" pos="507" userDrawn="1">
          <p15:clr>
            <a:srgbClr val="FBAE40"/>
          </p15:clr>
        </p15:guide>
        <p15:guide id="5" orient="horz" pos="3320" userDrawn="1">
          <p15:clr>
            <a:srgbClr val="FBAE40"/>
          </p15:clr>
        </p15:guide>
        <p15:guide id="6" pos="28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apo_Subtema con Imagen Horizontal (gris)">
    <p:spTree>
      <p:nvGrpSpPr>
        <p:cNvPr id="1" name=""/>
        <p:cNvGrpSpPr/>
        <p:nvPr/>
      </p:nvGrpSpPr>
      <p:grpSpPr>
        <a:xfrm>
          <a:off x="0" y="0"/>
          <a:ext cx="0" cy="0"/>
          <a:chOff x="0" y="0"/>
          <a:chExt cx="0" cy="0"/>
        </a:xfrm>
      </p:grpSpPr>
      <p:sp>
        <p:nvSpPr>
          <p:cNvPr id="7" name="Marcador de posición de imagen 6">
            <a:extLst>
              <a:ext uri="{FF2B5EF4-FFF2-40B4-BE49-F238E27FC236}">
                <a16:creationId xmlns:a16="http://schemas.microsoft.com/office/drawing/2014/main" id="{4717FB9E-6DD3-4BBD-A122-85F3673CCA90}"/>
              </a:ext>
            </a:extLst>
          </p:cNvPr>
          <p:cNvSpPr>
            <a:spLocks noGrp="1"/>
          </p:cNvSpPr>
          <p:nvPr>
            <p:ph type="pic" sz="quarter" idx="10"/>
          </p:nvPr>
        </p:nvSpPr>
        <p:spPr>
          <a:xfrm>
            <a:off x="470825" y="2867600"/>
            <a:ext cx="8208000" cy="2394000"/>
          </a:xfrm>
          <a:prstGeom prst="rect">
            <a:avLst/>
          </a:prstGeom>
          <a:solidFill>
            <a:schemeClr val="accent4">
              <a:lumMod val="20000"/>
              <a:lumOff val="80000"/>
            </a:schemeClr>
          </a:solidFill>
        </p:spPr>
        <p:txBody>
          <a:bodyPr anchor="ctr"/>
          <a:lstStyle>
            <a:lvl1pPr marL="0" indent="0" algn="ctr">
              <a:buNone/>
              <a:defRPr/>
            </a:lvl1pPr>
          </a:lstStyle>
          <a:p>
            <a:endParaRPr lang="es-PE"/>
          </a:p>
        </p:txBody>
      </p:sp>
      <p:sp>
        <p:nvSpPr>
          <p:cNvPr id="11" name="Marcador de texto 10">
            <a:extLst>
              <a:ext uri="{FF2B5EF4-FFF2-40B4-BE49-F238E27FC236}">
                <a16:creationId xmlns:a16="http://schemas.microsoft.com/office/drawing/2014/main" id="{AC29DAAB-CDF4-4B89-8C31-EA10C6E01FDC}"/>
              </a:ext>
            </a:extLst>
          </p:cNvPr>
          <p:cNvSpPr>
            <a:spLocks noGrp="1"/>
          </p:cNvSpPr>
          <p:nvPr>
            <p:ph type="body" sz="quarter" idx="12" hasCustomPrompt="1"/>
          </p:nvPr>
        </p:nvSpPr>
        <p:spPr>
          <a:xfrm>
            <a:off x="468313" y="804863"/>
            <a:ext cx="5724000" cy="354012"/>
          </a:xfrm>
          <a:prstGeom prst="rect">
            <a:avLst/>
          </a:prstGeom>
        </p:spPr>
        <p:txBody>
          <a:bodyPr lIns="72000" tIns="36000" rIns="72000" bIns="36000" anchor="ctr"/>
          <a:lstStyle>
            <a:lvl1pPr marL="0" indent="0">
              <a:lnSpc>
                <a:spcPct val="85000"/>
              </a:lnSpc>
              <a:spcBef>
                <a:spcPts val="0"/>
              </a:spcBef>
              <a:buNone/>
              <a:defRPr sz="1600" b="1"/>
            </a:lvl1pPr>
          </a:lstStyle>
          <a:p>
            <a:pPr lvl="0"/>
            <a:r>
              <a:rPr lang="es-ES" dirty="0"/>
              <a:t>HAGA CLIC PARA MODIFICAR LOS ESTILOS DE TEXTO DEL PATRÓN</a:t>
            </a:r>
            <a:endParaRPr lang="es-PE" dirty="0"/>
          </a:p>
        </p:txBody>
      </p:sp>
      <p:sp>
        <p:nvSpPr>
          <p:cNvPr id="15" name="Marcador de texto 14">
            <a:extLst>
              <a:ext uri="{FF2B5EF4-FFF2-40B4-BE49-F238E27FC236}">
                <a16:creationId xmlns:a16="http://schemas.microsoft.com/office/drawing/2014/main" id="{383EF17E-5C96-4858-ACC0-09751EF7DCBE}"/>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sp>
        <p:nvSpPr>
          <p:cNvPr id="5" name="Marcador de texto 4">
            <a:extLst>
              <a:ext uri="{FF2B5EF4-FFF2-40B4-BE49-F238E27FC236}">
                <a16:creationId xmlns:a16="http://schemas.microsoft.com/office/drawing/2014/main" id="{B6AB609E-19B2-43F3-94FB-608EEAC4D4C8}"/>
              </a:ext>
            </a:extLst>
          </p:cNvPr>
          <p:cNvSpPr>
            <a:spLocks noGrp="1"/>
          </p:cNvSpPr>
          <p:nvPr>
            <p:ph type="body" sz="quarter" idx="14"/>
          </p:nvPr>
        </p:nvSpPr>
        <p:spPr>
          <a:xfrm>
            <a:off x="468313" y="1182025"/>
            <a:ext cx="8207375" cy="1674000"/>
          </a:xfrm>
          <a:prstGeom prst="rect">
            <a:avLst/>
          </a:prstGeom>
          <a:solidFill>
            <a:schemeClr val="accent4">
              <a:lumMod val="20000"/>
              <a:lumOff val="80000"/>
            </a:schemeClr>
          </a:solidFill>
        </p:spPr>
        <p:txBody>
          <a:bodyPr numCol="3"/>
          <a:lstStyle>
            <a:lvl1pPr marL="173038" indent="-173038" algn="l">
              <a:spcBef>
                <a:spcPts val="0"/>
              </a:spcBef>
              <a:spcAft>
                <a:spcPts val="200"/>
              </a:spcAft>
              <a:buSzPct val="75000"/>
              <a:buFont typeface="Wingdings" panose="05000000000000000000" pitchFamily="2" charset="2"/>
              <a:buChar char="§"/>
              <a:defRPr sz="1400"/>
            </a:lvl1pPr>
            <a:lvl2pPr marL="531813" indent="-265113" algn="just">
              <a:spcBef>
                <a:spcPts val="0"/>
              </a:spcBef>
              <a:spcAft>
                <a:spcPts val="800"/>
              </a:spcAft>
              <a:buFont typeface="Wingdings" panose="05000000000000000000" pitchFamily="2" charset="2"/>
              <a:buChar char="§"/>
              <a:defRPr sz="1400"/>
            </a:lvl2pPr>
            <a:lvl3pPr marL="717550" indent="-185738" algn="just">
              <a:spcBef>
                <a:spcPts val="0"/>
              </a:spcBef>
              <a:spcAft>
                <a:spcPts val="800"/>
              </a:spcAft>
              <a:buFont typeface="Wingdings" panose="05000000000000000000" pitchFamily="2" charset="2"/>
              <a:buChar char="§"/>
              <a:defRPr sz="1400"/>
            </a:lvl3pPr>
            <a:lvl4pPr>
              <a:defRPr sz="1600"/>
            </a:lvl4pPr>
            <a:lvl5pPr>
              <a:defRPr sz="1600"/>
            </a:lvl5pPr>
          </a:lstStyle>
          <a:p>
            <a:pPr lvl="0"/>
            <a:r>
              <a:rPr lang="es-ES" dirty="0"/>
              <a:t>Haga clic para modificar los estilos de texto del patrón</a:t>
            </a:r>
            <a:endParaRPr lang="es-PE" dirty="0"/>
          </a:p>
        </p:txBody>
      </p:sp>
      <p:sp>
        <p:nvSpPr>
          <p:cNvPr id="3" name="Marcador de texto 2">
            <a:extLst>
              <a:ext uri="{FF2B5EF4-FFF2-40B4-BE49-F238E27FC236}">
                <a16:creationId xmlns:a16="http://schemas.microsoft.com/office/drawing/2014/main" id="{66C3FB06-AEFF-9166-C6DD-B8FA2AD57863}"/>
              </a:ext>
            </a:extLst>
          </p:cNvPr>
          <p:cNvSpPr>
            <a:spLocks noGrp="1"/>
          </p:cNvSpPr>
          <p:nvPr>
            <p:ph type="body" sz="quarter" idx="15" hasCustomPrompt="1"/>
          </p:nvPr>
        </p:nvSpPr>
        <p:spPr>
          <a:xfrm>
            <a:off x="6319838" y="804863"/>
            <a:ext cx="2359025" cy="377825"/>
          </a:xfrm>
          <a:prstGeom prst="rect">
            <a:avLst/>
          </a:prstGeom>
        </p:spPr>
        <p:txBody>
          <a:bodyPr/>
          <a:lstStyle>
            <a:lvl1pPr marL="0" indent="0" algn="r">
              <a:spcBef>
                <a:spcPts val="0"/>
              </a:spcBef>
              <a:buNone/>
              <a:defRPr sz="2000" b="1" i="1">
                <a:solidFill>
                  <a:srgbClr val="1F85A6"/>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4076242012"/>
      </p:ext>
    </p:extLst>
  </p:cSld>
  <p:clrMapOvr>
    <a:masterClrMapping/>
  </p:clrMapOvr>
  <p:extLst>
    <p:ext uri="{DCECCB84-F9BA-43D5-87BE-67443E8EF086}">
      <p15:sldGuideLst xmlns:p15="http://schemas.microsoft.com/office/powerpoint/2012/main">
        <p15:guide id="1" pos="295" userDrawn="1">
          <p15:clr>
            <a:srgbClr val="FBAE40"/>
          </p15:clr>
        </p15:guide>
        <p15:guide id="2" pos="5465" userDrawn="1">
          <p15:clr>
            <a:srgbClr val="FBAE40"/>
          </p15:clr>
        </p15:guide>
        <p15:guide id="4" orient="horz" pos="507" userDrawn="1">
          <p15:clr>
            <a:srgbClr val="FBAE40"/>
          </p15:clr>
        </p15:guide>
        <p15:guide id="5" orient="horz" pos="332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magen FULL">
    <p:spTree>
      <p:nvGrpSpPr>
        <p:cNvPr id="1" name=""/>
        <p:cNvGrpSpPr/>
        <p:nvPr/>
      </p:nvGrpSpPr>
      <p:grpSpPr>
        <a:xfrm>
          <a:off x="0" y="0"/>
          <a:ext cx="0" cy="0"/>
          <a:chOff x="0" y="0"/>
          <a:chExt cx="0" cy="0"/>
        </a:xfrm>
      </p:grpSpPr>
      <p:sp>
        <p:nvSpPr>
          <p:cNvPr id="7" name="Marcador de posición de imagen 6">
            <a:extLst>
              <a:ext uri="{FF2B5EF4-FFF2-40B4-BE49-F238E27FC236}">
                <a16:creationId xmlns:a16="http://schemas.microsoft.com/office/drawing/2014/main" id="{4717FB9E-6DD3-4BBD-A122-85F3673CCA90}"/>
              </a:ext>
            </a:extLst>
          </p:cNvPr>
          <p:cNvSpPr>
            <a:spLocks noGrp="1"/>
          </p:cNvSpPr>
          <p:nvPr>
            <p:ph type="pic" sz="quarter" idx="10"/>
          </p:nvPr>
        </p:nvSpPr>
        <p:spPr>
          <a:xfrm>
            <a:off x="470825" y="804863"/>
            <a:ext cx="8208000" cy="4456737"/>
          </a:xfrm>
          <a:prstGeom prst="rect">
            <a:avLst/>
          </a:prstGeom>
          <a:solidFill>
            <a:schemeClr val="accent4">
              <a:lumMod val="20000"/>
              <a:lumOff val="80000"/>
            </a:schemeClr>
          </a:solidFill>
        </p:spPr>
        <p:txBody>
          <a:bodyPr anchor="ctr"/>
          <a:lstStyle>
            <a:lvl1pPr marL="0" indent="0" algn="ctr">
              <a:buNone/>
              <a:defRPr/>
            </a:lvl1pPr>
          </a:lstStyle>
          <a:p>
            <a:endParaRPr lang="es-PE"/>
          </a:p>
        </p:txBody>
      </p:sp>
      <p:sp>
        <p:nvSpPr>
          <p:cNvPr id="15" name="Marcador de texto 14">
            <a:extLst>
              <a:ext uri="{FF2B5EF4-FFF2-40B4-BE49-F238E27FC236}">
                <a16:creationId xmlns:a16="http://schemas.microsoft.com/office/drawing/2014/main" id="{383EF17E-5C96-4858-ACC0-09751EF7DCBE}"/>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2413357306"/>
      </p:ext>
    </p:extLst>
  </p:cSld>
  <p:clrMapOvr>
    <a:masterClrMapping/>
  </p:clrMapOvr>
  <p:extLst>
    <p:ext uri="{DCECCB84-F9BA-43D5-87BE-67443E8EF086}">
      <p15:sldGuideLst xmlns:p15="http://schemas.microsoft.com/office/powerpoint/2012/main">
        <p15:guide id="1" pos="295" userDrawn="1">
          <p15:clr>
            <a:srgbClr val="FBAE40"/>
          </p15:clr>
        </p15:guide>
        <p15:guide id="2" pos="5465" userDrawn="1">
          <p15:clr>
            <a:srgbClr val="FBAE40"/>
          </p15:clr>
        </p15:guide>
        <p15:guide id="4" orient="horz" pos="507" userDrawn="1">
          <p15:clr>
            <a:srgbClr val="FBAE40"/>
          </p15:clr>
        </p15:guide>
        <p15:guide id="5" orient="horz" pos="332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apo_Subtema con Imagen FULL">
    <p:spTree>
      <p:nvGrpSpPr>
        <p:cNvPr id="1" name=""/>
        <p:cNvGrpSpPr/>
        <p:nvPr/>
      </p:nvGrpSpPr>
      <p:grpSpPr>
        <a:xfrm>
          <a:off x="0" y="0"/>
          <a:ext cx="0" cy="0"/>
          <a:chOff x="0" y="0"/>
          <a:chExt cx="0" cy="0"/>
        </a:xfrm>
      </p:grpSpPr>
      <p:sp>
        <p:nvSpPr>
          <p:cNvPr id="7" name="Marcador de posición de imagen 6">
            <a:extLst>
              <a:ext uri="{FF2B5EF4-FFF2-40B4-BE49-F238E27FC236}">
                <a16:creationId xmlns:a16="http://schemas.microsoft.com/office/drawing/2014/main" id="{4717FB9E-6DD3-4BBD-A122-85F3673CCA90}"/>
              </a:ext>
            </a:extLst>
          </p:cNvPr>
          <p:cNvSpPr>
            <a:spLocks noGrp="1"/>
          </p:cNvSpPr>
          <p:nvPr>
            <p:ph type="pic" sz="quarter" idx="10"/>
          </p:nvPr>
        </p:nvSpPr>
        <p:spPr>
          <a:xfrm>
            <a:off x="468313" y="1193600"/>
            <a:ext cx="8207375" cy="4068000"/>
          </a:xfrm>
          <a:prstGeom prst="rect">
            <a:avLst/>
          </a:prstGeom>
        </p:spPr>
        <p:txBody>
          <a:bodyPr anchor="ctr"/>
          <a:lstStyle>
            <a:lvl1pPr marL="0" indent="0" algn="ctr">
              <a:buNone/>
              <a:defRPr/>
            </a:lvl1pPr>
          </a:lstStyle>
          <a:p>
            <a:endParaRPr lang="es-PE" dirty="0"/>
          </a:p>
        </p:txBody>
      </p:sp>
      <p:sp>
        <p:nvSpPr>
          <p:cNvPr id="15" name="Marcador de texto 14">
            <a:extLst>
              <a:ext uri="{FF2B5EF4-FFF2-40B4-BE49-F238E27FC236}">
                <a16:creationId xmlns:a16="http://schemas.microsoft.com/office/drawing/2014/main" id="{383EF17E-5C96-4858-ACC0-09751EF7DCBE}"/>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sp>
        <p:nvSpPr>
          <p:cNvPr id="3" name="Marcador de texto 2">
            <a:extLst>
              <a:ext uri="{FF2B5EF4-FFF2-40B4-BE49-F238E27FC236}">
                <a16:creationId xmlns:a16="http://schemas.microsoft.com/office/drawing/2014/main" id="{ABA448E1-A688-00A1-4209-9A9B21FA2758}"/>
              </a:ext>
            </a:extLst>
          </p:cNvPr>
          <p:cNvSpPr>
            <a:spLocks noGrp="1"/>
          </p:cNvSpPr>
          <p:nvPr>
            <p:ph type="body" sz="quarter" idx="14" hasCustomPrompt="1"/>
          </p:nvPr>
        </p:nvSpPr>
        <p:spPr>
          <a:xfrm>
            <a:off x="468313" y="804863"/>
            <a:ext cx="8207375" cy="354012"/>
          </a:xfrm>
          <a:prstGeom prst="rect">
            <a:avLst/>
          </a:prstGeom>
        </p:spPr>
        <p:txBody>
          <a:bodyPr/>
          <a:lstStyle>
            <a:lvl1pPr marL="0" indent="0">
              <a:buNone/>
              <a:defRPr sz="1600" b="1"/>
            </a:lvl1pPr>
          </a:lstStyle>
          <a:p>
            <a:pPr lvl="0"/>
            <a:r>
              <a:rPr lang="es-ES" dirty="0"/>
              <a:t>HAGA CLIC PARA MODIFICAR LOS ESTILOS DE TEXTO</a:t>
            </a:r>
            <a:endParaRPr lang="es-PE" dirty="0"/>
          </a:p>
        </p:txBody>
      </p:sp>
    </p:spTree>
    <p:extLst>
      <p:ext uri="{BB962C8B-B14F-4D97-AF65-F5344CB8AC3E}">
        <p14:creationId xmlns:p14="http://schemas.microsoft.com/office/powerpoint/2010/main" val="3703842985"/>
      </p:ext>
    </p:extLst>
  </p:cSld>
  <p:clrMapOvr>
    <a:masterClrMapping/>
  </p:clrMapOvr>
  <p:extLst>
    <p:ext uri="{DCECCB84-F9BA-43D5-87BE-67443E8EF086}">
      <p15:sldGuideLst xmlns:p15="http://schemas.microsoft.com/office/powerpoint/2012/main">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guide id="6" pos="288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apo_Subtema">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5" name="Marcador de texto 4">
            <a:extLst>
              <a:ext uri="{FF2B5EF4-FFF2-40B4-BE49-F238E27FC236}">
                <a16:creationId xmlns:a16="http://schemas.microsoft.com/office/drawing/2014/main" id="{4BD03D13-5E01-42D6-AEF1-E185D3674B02}"/>
              </a:ext>
            </a:extLst>
          </p:cNvPr>
          <p:cNvSpPr>
            <a:spLocks noGrp="1"/>
          </p:cNvSpPr>
          <p:nvPr>
            <p:ph type="body" sz="quarter" idx="10" hasCustomPrompt="1"/>
          </p:nvPr>
        </p:nvSpPr>
        <p:spPr>
          <a:xfrm>
            <a:off x="468314" y="3714841"/>
            <a:ext cx="5543549" cy="810087"/>
          </a:xfrm>
          <a:prstGeom prst="rect">
            <a:avLst/>
          </a:prstGeom>
        </p:spPr>
        <p:txBody>
          <a:bodyPr/>
          <a:lstStyle>
            <a:lvl1pPr marL="266700" indent="-266700">
              <a:lnSpc>
                <a:spcPct val="85000"/>
              </a:lnSpc>
              <a:spcBef>
                <a:spcPts val="0"/>
              </a:spcBef>
              <a:buNone/>
              <a:tabLst>
                <a:tab pos="266700" algn="l"/>
              </a:tabLst>
              <a:defRPr sz="2800" b="1">
                <a:solidFill>
                  <a:schemeClr val="bg1"/>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1383085110"/>
      </p:ext>
    </p:extLst>
  </p:cSld>
  <p:clrMapOvr>
    <a:masterClrMapping/>
  </p:clrMapOvr>
  <p:extLst>
    <p:ext uri="{DCECCB84-F9BA-43D5-87BE-67443E8EF086}">
      <p15:sldGuideLst xmlns:p15="http://schemas.microsoft.com/office/powerpoint/2012/main">
        <p15:guide id="1" pos="295" userDrawn="1">
          <p15:clr>
            <a:srgbClr val="FBAE40"/>
          </p15:clr>
        </p15:guide>
        <p15:guide id="2" pos="3787"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apo_Bibliografí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27B2E060-20CD-463B-8DA7-F4C44CB2E4F1}"/>
              </a:ext>
            </a:extLst>
          </p:cNvPr>
          <p:cNvSpPr/>
          <p:nvPr userDrawn="1"/>
        </p:nvSpPr>
        <p:spPr>
          <a:xfrm>
            <a:off x="503238" y="997483"/>
            <a:ext cx="1945800" cy="249299"/>
          </a:xfrm>
          <a:prstGeom prst="rect">
            <a:avLst/>
          </a:prstGeom>
        </p:spPr>
        <p:txBody>
          <a:bodyPr wrap="square" lIns="0" tIns="0" rIns="0" bIns="0">
            <a:spAutoFit/>
          </a:bodyPr>
          <a:lstStyle/>
          <a:p>
            <a:pPr marL="0" marR="0" lvl="0" indent="0" algn="l" defTabSz="411480" rtl="0" eaLnBrk="1" fontAlgn="auto" latinLnBrk="0" hangingPunct="1">
              <a:lnSpc>
                <a:spcPct val="100000"/>
              </a:lnSpc>
              <a:spcBef>
                <a:spcPts val="0"/>
              </a:spcBef>
              <a:spcAft>
                <a:spcPts val="0"/>
              </a:spcAft>
              <a:buClrTx/>
              <a:buSzTx/>
              <a:buFontTx/>
              <a:buNone/>
              <a:tabLst/>
              <a:defRPr/>
            </a:pPr>
            <a:r>
              <a:rPr kumimoji="0" lang="en-US" sz="1620" b="1" i="0" u="none" strike="noStrike" kern="1200" cap="none" spc="0" normalizeH="0" baseline="0" noProof="0" dirty="0">
                <a:ln>
                  <a:noFill/>
                </a:ln>
                <a:solidFill>
                  <a:prstClr val="white"/>
                </a:solidFill>
                <a:effectLst/>
                <a:uLnTx/>
                <a:uFillTx/>
                <a:latin typeface="Calibri"/>
                <a:ea typeface="+mn-ea"/>
                <a:cs typeface="+mn-cs"/>
              </a:rPr>
              <a:t>BIBLIOGRAFÍA</a:t>
            </a:r>
          </a:p>
        </p:txBody>
      </p:sp>
      <p:pic>
        <p:nvPicPr>
          <p:cNvPr id="3" name="Imagen 2">
            <a:extLst>
              <a:ext uri="{FF2B5EF4-FFF2-40B4-BE49-F238E27FC236}">
                <a16:creationId xmlns:a16="http://schemas.microsoft.com/office/drawing/2014/main" id="{FC3DF485-35A0-4880-86B1-159FC8D1B5DD}"/>
              </a:ext>
            </a:extLst>
          </p:cNvPr>
          <p:cNvPicPr>
            <a:picLocks noChangeAspect="1"/>
          </p:cNvPicPr>
          <p:nvPr userDrawn="1"/>
        </p:nvPicPr>
        <p:blipFill>
          <a:blip r:embed="rId3">
            <a:lum bright="70000" contrast="-70000"/>
            <a:alphaModFix/>
            <a:extLst>
              <a:ext uri="{BEBA8EAE-BF5A-486C-A8C5-ECC9F3942E4B}">
                <a14:imgProps xmlns:a14="http://schemas.microsoft.com/office/drawing/2010/main">
                  <a14:imgLayer r:embed="rId4">
                    <a14:imgEffect>
                      <a14:colorTemperature colorTemp="1500"/>
                    </a14:imgEffect>
                    <a14:imgEffect>
                      <a14:saturation sat="0"/>
                    </a14:imgEffect>
                  </a14:imgLayer>
                </a14:imgProps>
              </a:ext>
            </a:extLst>
          </a:blip>
          <a:stretch>
            <a:fillRect/>
          </a:stretch>
        </p:blipFill>
        <p:spPr>
          <a:xfrm>
            <a:off x="503239" y="573356"/>
            <a:ext cx="424127" cy="424127"/>
          </a:xfrm>
          <a:prstGeom prst="rect">
            <a:avLst/>
          </a:prstGeom>
        </p:spPr>
      </p:pic>
      <p:sp>
        <p:nvSpPr>
          <p:cNvPr id="5" name="Marcador de texto 4">
            <a:extLst>
              <a:ext uri="{FF2B5EF4-FFF2-40B4-BE49-F238E27FC236}">
                <a16:creationId xmlns:a16="http://schemas.microsoft.com/office/drawing/2014/main" id="{18F77D6E-1237-49E3-9C45-BC77466A0D49}"/>
              </a:ext>
            </a:extLst>
          </p:cNvPr>
          <p:cNvSpPr>
            <a:spLocks noGrp="1"/>
          </p:cNvSpPr>
          <p:nvPr>
            <p:ph type="body" sz="quarter" idx="10"/>
          </p:nvPr>
        </p:nvSpPr>
        <p:spPr>
          <a:xfrm>
            <a:off x="927366" y="1670049"/>
            <a:ext cx="7713398" cy="3527425"/>
          </a:xfrm>
          <a:prstGeom prst="rect">
            <a:avLst/>
          </a:prstGeom>
        </p:spPr>
        <p:txBody>
          <a:bodyPr lIns="0" tIns="0" rIns="0" bIns="0"/>
          <a:lstStyle>
            <a:lvl1pPr marL="266700" indent="-266700" algn="just">
              <a:lnSpc>
                <a:spcPct val="85000"/>
              </a:lnSpc>
              <a:spcBef>
                <a:spcPts val="0"/>
              </a:spcBef>
              <a:spcAft>
                <a:spcPts val="1200"/>
              </a:spcAft>
              <a:buFont typeface="Wingdings" panose="05000000000000000000" pitchFamily="2" charset="2"/>
              <a:buChar char="§"/>
              <a:defRPr sz="1800">
                <a:solidFill>
                  <a:schemeClr val="bg1"/>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3210332040"/>
      </p:ext>
    </p:extLst>
  </p:cSld>
  <p:clrMapOvr>
    <a:masterClrMapping/>
  </p:clrMapOvr>
  <p:extLst>
    <p:ext uri="{DCECCB84-F9BA-43D5-87BE-67443E8EF086}">
      <p15:sldGuideLst xmlns:p15="http://schemas.microsoft.com/office/powerpoint/2012/main">
        <p15:guide id="1" orient="horz" pos="105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apo_Conclusion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27B2E060-20CD-463B-8DA7-F4C44CB2E4F1}"/>
              </a:ext>
            </a:extLst>
          </p:cNvPr>
          <p:cNvSpPr/>
          <p:nvPr userDrawn="1"/>
        </p:nvSpPr>
        <p:spPr>
          <a:xfrm>
            <a:off x="503238" y="997483"/>
            <a:ext cx="1945800" cy="249299"/>
          </a:xfrm>
          <a:prstGeom prst="rect">
            <a:avLst/>
          </a:prstGeom>
        </p:spPr>
        <p:txBody>
          <a:bodyPr wrap="square" lIns="0" tIns="0" rIns="0" bIns="0">
            <a:spAutoFit/>
          </a:bodyPr>
          <a:lstStyle/>
          <a:p>
            <a:pPr marL="0" marR="0" lvl="0" indent="0" algn="l" defTabSz="411480" rtl="0" eaLnBrk="1" fontAlgn="auto" latinLnBrk="0" hangingPunct="1">
              <a:lnSpc>
                <a:spcPct val="100000"/>
              </a:lnSpc>
              <a:spcBef>
                <a:spcPts val="0"/>
              </a:spcBef>
              <a:spcAft>
                <a:spcPts val="0"/>
              </a:spcAft>
              <a:buClrTx/>
              <a:buSzTx/>
              <a:buFontTx/>
              <a:buNone/>
              <a:tabLst/>
              <a:defRPr/>
            </a:pPr>
            <a:r>
              <a:rPr kumimoji="0" lang="en-US" sz="1620" b="1" i="0" u="none" strike="noStrike" kern="1200" cap="none" spc="0" normalizeH="0" baseline="0" noProof="0" dirty="0">
                <a:ln>
                  <a:noFill/>
                </a:ln>
                <a:solidFill>
                  <a:prstClr val="white"/>
                </a:solidFill>
                <a:effectLst/>
                <a:uLnTx/>
                <a:uFillTx/>
                <a:latin typeface="Calibri"/>
                <a:ea typeface="+mn-ea"/>
                <a:cs typeface="+mn-cs"/>
              </a:rPr>
              <a:t>CONCLUSIONES</a:t>
            </a:r>
          </a:p>
        </p:txBody>
      </p:sp>
      <p:pic>
        <p:nvPicPr>
          <p:cNvPr id="3" name="Imagen 2">
            <a:extLst>
              <a:ext uri="{FF2B5EF4-FFF2-40B4-BE49-F238E27FC236}">
                <a16:creationId xmlns:a16="http://schemas.microsoft.com/office/drawing/2014/main" id="{FC3DF485-35A0-4880-86B1-159FC8D1B5DD}"/>
              </a:ext>
            </a:extLst>
          </p:cNvPr>
          <p:cNvPicPr>
            <a:picLocks noChangeAspect="1"/>
          </p:cNvPicPr>
          <p:nvPr userDrawn="1"/>
        </p:nvPicPr>
        <p:blipFill>
          <a:blip r:embed="rId3">
            <a:lum bright="70000" contrast="-70000"/>
            <a:alphaModFix/>
            <a:extLst>
              <a:ext uri="{BEBA8EAE-BF5A-486C-A8C5-ECC9F3942E4B}">
                <a14:imgProps xmlns:a14="http://schemas.microsoft.com/office/drawing/2010/main">
                  <a14:imgLayer r:embed="rId4">
                    <a14:imgEffect>
                      <a14:colorTemperature colorTemp="1500"/>
                    </a14:imgEffect>
                    <a14:imgEffect>
                      <a14:saturation sat="0"/>
                    </a14:imgEffect>
                  </a14:imgLayer>
                </a14:imgProps>
              </a:ext>
            </a:extLst>
          </a:blip>
          <a:stretch>
            <a:fillRect/>
          </a:stretch>
        </p:blipFill>
        <p:spPr>
          <a:xfrm>
            <a:off x="503239" y="573356"/>
            <a:ext cx="424127" cy="424127"/>
          </a:xfrm>
          <a:prstGeom prst="rect">
            <a:avLst/>
          </a:prstGeom>
        </p:spPr>
      </p:pic>
      <p:sp>
        <p:nvSpPr>
          <p:cNvPr id="5" name="Marcador de texto 4">
            <a:extLst>
              <a:ext uri="{FF2B5EF4-FFF2-40B4-BE49-F238E27FC236}">
                <a16:creationId xmlns:a16="http://schemas.microsoft.com/office/drawing/2014/main" id="{18F77D6E-1237-49E3-9C45-BC77466A0D49}"/>
              </a:ext>
            </a:extLst>
          </p:cNvPr>
          <p:cNvSpPr>
            <a:spLocks noGrp="1"/>
          </p:cNvSpPr>
          <p:nvPr>
            <p:ph type="body" sz="quarter" idx="10"/>
          </p:nvPr>
        </p:nvSpPr>
        <p:spPr>
          <a:xfrm>
            <a:off x="927366" y="1670909"/>
            <a:ext cx="7713398" cy="3526566"/>
          </a:xfrm>
          <a:prstGeom prst="rect">
            <a:avLst/>
          </a:prstGeom>
        </p:spPr>
        <p:txBody>
          <a:bodyPr lIns="0" tIns="0" rIns="0" bIns="0"/>
          <a:lstStyle>
            <a:lvl1pPr marL="266700" indent="-266700" algn="just">
              <a:lnSpc>
                <a:spcPct val="85000"/>
              </a:lnSpc>
              <a:spcBef>
                <a:spcPts val="0"/>
              </a:spcBef>
              <a:spcAft>
                <a:spcPts val="1200"/>
              </a:spcAft>
              <a:buFont typeface="+mj-lt"/>
              <a:buAutoNum type="arabicPeriod"/>
              <a:tabLst/>
              <a:defRPr sz="1800">
                <a:solidFill>
                  <a:schemeClr val="bg1"/>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2798195332"/>
      </p:ext>
    </p:extLst>
  </p:cSld>
  <p:clrMapOvr>
    <a:masterClrMapping/>
  </p:clrMapOvr>
  <p:extLst>
    <p:ext uri="{DCECCB84-F9BA-43D5-87BE-67443E8EF086}">
      <p15:sldGuideLst xmlns:p15="http://schemas.microsoft.com/office/powerpoint/2012/main">
        <p15:guide id="1" orient="horz" pos="1052"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btema - 1 Imagen Centrada">
    <p:spTree>
      <p:nvGrpSpPr>
        <p:cNvPr id="1" name=""/>
        <p:cNvGrpSpPr/>
        <p:nvPr/>
      </p:nvGrpSpPr>
      <p:grpSpPr>
        <a:xfrm>
          <a:off x="0" y="0"/>
          <a:ext cx="0" cy="0"/>
          <a:chOff x="0" y="0"/>
          <a:chExt cx="0" cy="0"/>
        </a:xfrm>
      </p:grpSpPr>
      <p:sp>
        <p:nvSpPr>
          <p:cNvPr id="3" name="Marcador de texto 14">
            <a:extLst>
              <a:ext uri="{FF2B5EF4-FFF2-40B4-BE49-F238E27FC236}">
                <a16:creationId xmlns:a16="http://schemas.microsoft.com/office/drawing/2014/main" id="{65683288-FF9D-EF85-5303-58FF571EB5ED}"/>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sp>
        <p:nvSpPr>
          <p:cNvPr id="5" name="Marcador de posición de imagen 4">
            <a:extLst>
              <a:ext uri="{FF2B5EF4-FFF2-40B4-BE49-F238E27FC236}">
                <a16:creationId xmlns:a16="http://schemas.microsoft.com/office/drawing/2014/main" id="{5F4F4ED8-1EB9-8C4E-58AA-74C396C6650A}"/>
              </a:ext>
            </a:extLst>
          </p:cNvPr>
          <p:cNvSpPr>
            <a:spLocks noGrp="1"/>
          </p:cNvSpPr>
          <p:nvPr>
            <p:ph type="pic" sz="quarter" idx="14"/>
          </p:nvPr>
        </p:nvSpPr>
        <p:spPr>
          <a:xfrm>
            <a:off x="462987" y="804863"/>
            <a:ext cx="8212701" cy="4465637"/>
          </a:xfrm>
          <a:prstGeom prst="rect">
            <a:avLst/>
          </a:prstGeom>
        </p:spPr>
        <p:txBody>
          <a:bodyPr anchor="ctr"/>
          <a:lstStyle>
            <a:lvl1pPr marL="0" indent="0" algn="ctr">
              <a:buNone/>
              <a:defRPr/>
            </a:lvl1pPr>
          </a:lstStyle>
          <a:p>
            <a:endParaRPr lang="es-PE"/>
          </a:p>
        </p:txBody>
      </p:sp>
    </p:spTree>
    <p:extLst>
      <p:ext uri="{BB962C8B-B14F-4D97-AF65-F5344CB8AC3E}">
        <p14:creationId xmlns:p14="http://schemas.microsoft.com/office/powerpoint/2010/main" val="3026187525"/>
      </p:ext>
    </p:extLst>
  </p:cSld>
  <p:clrMapOvr>
    <a:masterClrMapping/>
  </p:clrMapOvr>
  <p:extLst>
    <p:ext uri="{DCECCB84-F9BA-43D5-87BE-67443E8EF086}">
      <p15:sldGuideLst xmlns:p15="http://schemas.microsoft.com/office/powerpoint/2012/main">
        <p15:guide id="1" pos="295" userDrawn="1">
          <p15:clr>
            <a:srgbClr val="FBAE40"/>
          </p15:clr>
        </p15:guide>
        <p15:guide id="2" pos="2880" userDrawn="1">
          <p15:clr>
            <a:srgbClr val="FBAE40"/>
          </p15:clr>
        </p15:guide>
        <p15:guide id="3" pos="5465" userDrawn="1">
          <p15:clr>
            <a:srgbClr val="FBAE40"/>
          </p15:clr>
        </p15:guide>
        <p15:guide id="4" orient="horz" pos="1800" userDrawn="1">
          <p15:clr>
            <a:srgbClr val="FBAE40"/>
          </p15:clr>
        </p15:guide>
        <p15:guide id="5" orient="horz" pos="3320" userDrawn="1">
          <p15:clr>
            <a:srgbClr val="FBAE40"/>
          </p15:clr>
        </p15:guide>
        <p15:guide id="6" orient="horz" pos="507"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Diapo_Subtema con Imagen Horizontal">
    <p:spTree>
      <p:nvGrpSpPr>
        <p:cNvPr id="1" name=""/>
        <p:cNvGrpSpPr/>
        <p:nvPr/>
      </p:nvGrpSpPr>
      <p:grpSpPr>
        <a:xfrm>
          <a:off x="0" y="0"/>
          <a:ext cx="0" cy="0"/>
          <a:chOff x="0" y="0"/>
          <a:chExt cx="0" cy="0"/>
        </a:xfrm>
      </p:grpSpPr>
      <p:sp>
        <p:nvSpPr>
          <p:cNvPr id="7" name="Marcador de posición de imagen 6">
            <a:extLst>
              <a:ext uri="{FF2B5EF4-FFF2-40B4-BE49-F238E27FC236}">
                <a16:creationId xmlns:a16="http://schemas.microsoft.com/office/drawing/2014/main" id="{4717FB9E-6DD3-4BBD-A122-85F3673CCA90}"/>
              </a:ext>
            </a:extLst>
          </p:cNvPr>
          <p:cNvSpPr>
            <a:spLocks noGrp="1"/>
          </p:cNvSpPr>
          <p:nvPr>
            <p:ph type="pic" sz="quarter" idx="10"/>
          </p:nvPr>
        </p:nvSpPr>
        <p:spPr>
          <a:xfrm>
            <a:off x="470825" y="2867600"/>
            <a:ext cx="8208000" cy="2394000"/>
          </a:xfrm>
          <a:prstGeom prst="rect">
            <a:avLst/>
          </a:prstGeom>
        </p:spPr>
        <p:txBody>
          <a:bodyPr anchor="ctr"/>
          <a:lstStyle>
            <a:lvl1pPr marL="0" indent="0" algn="ctr">
              <a:buNone/>
              <a:defRPr/>
            </a:lvl1pPr>
          </a:lstStyle>
          <a:p>
            <a:endParaRPr lang="es-PE"/>
          </a:p>
        </p:txBody>
      </p:sp>
      <p:sp>
        <p:nvSpPr>
          <p:cNvPr id="11" name="Marcador de texto 10">
            <a:extLst>
              <a:ext uri="{FF2B5EF4-FFF2-40B4-BE49-F238E27FC236}">
                <a16:creationId xmlns:a16="http://schemas.microsoft.com/office/drawing/2014/main" id="{AC29DAAB-CDF4-4B89-8C31-EA10C6E01FDC}"/>
              </a:ext>
            </a:extLst>
          </p:cNvPr>
          <p:cNvSpPr>
            <a:spLocks noGrp="1"/>
          </p:cNvSpPr>
          <p:nvPr>
            <p:ph type="body" sz="quarter" idx="12" hasCustomPrompt="1"/>
          </p:nvPr>
        </p:nvSpPr>
        <p:spPr>
          <a:xfrm>
            <a:off x="468313" y="804863"/>
            <a:ext cx="8208000" cy="354012"/>
          </a:xfrm>
          <a:prstGeom prst="rect">
            <a:avLst/>
          </a:prstGeom>
        </p:spPr>
        <p:txBody>
          <a:bodyPr lIns="72000" tIns="36000" rIns="72000" bIns="36000" anchor="ctr"/>
          <a:lstStyle>
            <a:lvl1pPr marL="0" indent="0">
              <a:lnSpc>
                <a:spcPct val="85000"/>
              </a:lnSpc>
              <a:spcBef>
                <a:spcPts val="0"/>
              </a:spcBef>
              <a:buNone/>
              <a:defRPr sz="1600" b="1"/>
            </a:lvl1pPr>
          </a:lstStyle>
          <a:p>
            <a:pPr lvl="0"/>
            <a:r>
              <a:rPr lang="es-ES" dirty="0"/>
              <a:t>HAGA CLIC PARA MODIFICAR LOS ESTILOS DE TEXTO DEL PATRÓN</a:t>
            </a:r>
            <a:endParaRPr lang="es-PE" dirty="0"/>
          </a:p>
        </p:txBody>
      </p:sp>
      <p:sp>
        <p:nvSpPr>
          <p:cNvPr id="15" name="Marcador de texto 14">
            <a:extLst>
              <a:ext uri="{FF2B5EF4-FFF2-40B4-BE49-F238E27FC236}">
                <a16:creationId xmlns:a16="http://schemas.microsoft.com/office/drawing/2014/main" id="{383EF17E-5C96-4858-ACC0-09751EF7DCBE}"/>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sp>
        <p:nvSpPr>
          <p:cNvPr id="5" name="Marcador de texto 4">
            <a:extLst>
              <a:ext uri="{FF2B5EF4-FFF2-40B4-BE49-F238E27FC236}">
                <a16:creationId xmlns:a16="http://schemas.microsoft.com/office/drawing/2014/main" id="{B6AB609E-19B2-43F3-94FB-608EEAC4D4C8}"/>
              </a:ext>
            </a:extLst>
          </p:cNvPr>
          <p:cNvSpPr>
            <a:spLocks noGrp="1"/>
          </p:cNvSpPr>
          <p:nvPr>
            <p:ph type="body" sz="quarter" idx="14"/>
          </p:nvPr>
        </p:nvSpPr>
        <p:spPr>
          <a:xfrm>
            <a:off x="468313" y="1182025"/>
            <a:ext cx="8207375" cy="1674000"/>
          </a:xfrm>
          <a:prstGeom prst="rect">
            <a:avLst/>
          </a:prstGeom>
        </p:spPr>
        <p:txBody>
          <a:bodyPr/>
          <a:lstStyle>
            <a:lvl1pPr marL="266700" indent="-266700" algn="just">
              <a:spcBef>
                <a:spcPts val="0"/>
              </a:spcBef>
              <a:spcAft>
                <a:spcPts val="800"/>
              </a:spcAft>
              <a:buSzPct val="75000"/>
              <a:buFont typeface="Wingdings" panose="05000000000000000000" pitchFamily="2" charset="2"/>
              <a:buChar char="q"/>
              <a:defRPr sz="1600"/>
            </a:lvl1pPr>
            <a:lvl2pPr marL="531813" indent="-265113" algn="just">
              <a:spcBef>
                <a:spcPts val="0"/>
              </a:spcBef>
              <a:spcAft>
                <a:spcPts val="800"/>
              </a:spcAft>
              <a:buFont typeface="Delius" panose="02000603000000000000" pitchFamily="2" charset="0"/>
              <a:buChar char="→"/>
              <a:defRPr sz="1600"/>
            </a:lvl2pPr>
            <a:lvl3pPr marL="717550" indent="-185738" algn="just">
              <a:spcBef>
                <a:spcPts val="0"/>
              </a:spcBef>
              <a:spcAft>
                <a:spcPts val="800"/>
              </a:spcAft>
              <a:buFont typeface="Wingdings" panose="05000000000000000000" pitchFamily="2" charset="2"/>
              <a:buChar char="§"/>
              <a:defRPr sz="1600"/>
            </a:lvl3pPr>
            <a:lvl4pPr>
              <a:defRPr sz="1600"/>
            </a:lvl4pPr>
            <a:lvl5pPr>
              <a:defRPr sz="1600"/>
            </a:lvl5pPr>
          </a:lstStyle>
          <a:p>
            <a:pPr lvl="0"/>
            <a:r>
              <a:rPr lang="es-ES" dirty="0"/>
              <a:t>Haga clic para modificar los estilos de texto del patrón</a:t>
            </a:r>
          </a:p>
          <a:p>
            <a:pPr lvl="1"/>
            <a:r>
              <a:rPr lang="es-ES" dirty="0"/>
              <a:t>Segundo nivel</a:t>
            </a:r>
          </a:p>
          <a:p>
            <a:pPr lvl="2"/>
            <a:r>
              <a:rPr lang="es-ES" dirty="0"/>
              <a:t>Tercer nivel</a:t>
            </a:r>
            <a:endParaRPr lang="es-PE" dirty="0"/>
          </a:p>
        </p:txBody>
      </p:sp>
    </p:spTree>
    <p:extLst>
      <p:ext uri="{BB962C8B-B14F-4D97-AF65-F5344CB8AC3E}">
        <p14:creationId xmlns:p14="http://schemas.microsoft.com/office/powerpoint/2010/main" val="1579836441"/>
      </p:ext>
    </p:extLst>
  </p:cSld>
  <p:clrMapOvr>
    <a:masterClrMapping/>
  </p:clrMapOvr>
  <p:extLst>
    <p:ext uri="{DCECCB84-F9BA-43D5-87BE-67443E8EF086}">
      <p15:sldGuideLst xmlns:p15="http://schemas.microsoft.com/office/powerpoint/2012/main">
        <p15:guide id="1" pos="295">
          <p15:clr>
            <a:srgbClr val="FBAE40"/>
          </p15:clr>
        </p15:guide>
        <p15:guide id="2" pos="5465">
          <p15:clr>
            <a:srgbClr val="FBAE40"/>
          </p15:clr>
        </p15:guide>
        <p15:guide id="4" orient="horz" pos="507">
          <p15:clr>
            <a:srgbClr val="FBAE40"/>
          </p15:clr>
        </p15:guide>
        <p15:guide id="5" orient="horz" pos="332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4" name="Agrupar 13"/>
          <p:cNvGrpSpPr/>
          <p:nvPr userDrawn="1"/>
        </p:nvGrpSpPr>
        <p:grpSpPr>
          <a:xfrm>
            <a:off x="793745" y="5369051"/>
            <a:ext cx="8104595" cy="215444"/>
            <a:chOff x="793745" y="5369051"/>
            <a:chExt cx="7954689" cy="215444"/>
          </a:xfrm>
        </p:grpSpPr>
        <p:sp>
          <p:nvSpPr>
            <p:cNvPr id="16" name="TextBox 7"/>
            <p:cNvSpPr txBox="1"/>
            <p:nvPr userDrawn="1"/>
          </p:nvSpPr>
          <p:spPr>
            <a:xfrm>
              <a:off x="793745" y="5369051"/>
              <a:ext cx="1605135" cy="215444"/>
            </a:xfrm>
            <a:prstGeom prst="rect">
              <a:avLst/>
            </a:prstGeom>
            <a:noFill/>
          </p:spPr>
          <p:txBody>
            <a:bodyPr wrap="none" rtlCol="0">
              <a:spAutoFit/>
            </a:bodyPr>
            <a:lstStyle/>
            <a:p>
              <a:r>
                <a:rPr lang="en-US" sz="800" kern="1200" dirty="0">
                  <a:solidFill>
                    <a:schemeClr val="bg1">
                      <a:lumMod val="50000"/>
                    </a:schemeClr>
                  </a:solidFill>
                  <a:latin typeface="Calibri"/>
                  <a:ea typeface="+mn-ea"/>
                  <a:cs typeface="Calibri"/>
                  <a:sym typeface="Wingdings"/>
                </a:rPr>
                <a:t>ANÁLISIS FUNCIONAL  </a:t>
              </a:r>
              <a:r>
                <a:rPr lang="en-US" sz="800" dirty="0">
                  <a:solidFill>
                    <a:schemeClr val="bg1">
                      <a:lumMod val="50000"/>
                    </a:schemeClr>
                  </a:solidFill>
                  <a:latin typeface="Calibri"/>
                  <a:ea typeface="Wingdings"/>
                  <a:cs typeface="Calibri"/>
                  <a:sym typeface="Wingdings"/>
                </a:rPr>
                <a:t></a:t>
              </a:r>
              <a:r>
                <a:rPr lang="en-US" sz="800" kern="1200" dirty="0">
                  <a:solidFill>
                    <a:schemeClr val="bg1">
                      <a:lumMod val="50000"/>
                    </a:schemeClr>
                  </a:solidFill>
                  <a:latin typeface="Calibri"/>
                  <a:ea typeface="+mn-ea"/>
                  <a:cs typeface="Calibri"/>
                  <a:sym typeface="Wingdings"/>
                </a:rPr>
                <a:t>  SESIÓN 15</a:t>
              </a:r>
              <a:endParaRPr lang="en-US" sz="800" dirty="0">
                <a:solidFill>
                  <a:schemeClr val="bg1">
                    <a:lumMod val="50000"/>
                  </a:schemeClr>
                </a:solidFill>
                <a:latin typeface="Calibri"/>
                <a:cs typeface="Calibri"/>
              </a:endParaRPr>
            </a:p>
          </p:txBody>
        </p:sp>
        <p:sp>
          <p:nvSpPr>
            <p:cNvPr id="18" name="Rectangle 3"/>
            <p:cNvSpPr/>
            <p:nvPr userDrawn="1"/>
          </p:nvSpPr>
          <p:spPr>
            <a:xfrm>
              <a:off x="7207627" y="5384440"/>
              <a:ext cx="1540807" cy="184666"/>
            </a:xfrm>
            <a:prstGeom prst="rect">
              <a:avLst/>
            </a:prstGeom>
          </p:spPr>
          <p:txBody>
            <a:bodyPr wrap="none">
              <a:spAutoFit/>
            </a:bodyPr>
            <a:lstStyle/>
            <a:p>
              <a:pPr algn="r"/>
              <a:r>
                <a:rPr lang="es-ES_tradnl" sz="600" dirty="0">
                  <a:solidFill>
                    <a:schemeClr val="bg1">
                      <a:lumMod val="50000"/>
                    </a:schemeClr>
                  </a:solidFill>
                </a:rPr>
                <a:t>© 2023 ISIL. Todos los derechos reservados</a:t>
              </a:r>
            </a:p>
          </p:txBody>
        </p:sp>
      </p:grpSp>
      <p:pic>
        <p:nvPicPr>
          <p:cNvPr id="3" name="Imagen 2"/>
          <p:cNvPicPr>
            <a:picLocks noChangeAspect="1"/>
          </p:cNvPicPr>
          <p:nvPr userDrawn="1"/>
        </p:nvPicPr>
        <p:blipFill>
          <a:blip r:embed="rId14">
            <a:alphaModFix amt="20000"/>
          </a:blip>
          <a:stretch>
            <a:fillRect/>
          </a:stretch>
        </p:blipFill>
        <p:spPr>
          <a:xfrm>
            <a:off x="345172" y="5328911"/>
            <a:ext cx="448573" cy="250755"/>
          </a:xfrm>
          <a:prstGeom prst="rect">
            <a:avLst/>
          </a:prstGeom>
        </p:spPr>
      </p:pic>
    </p:spTree>
    <p:extLst>
      <p:ext uri="{BB962C8B-B14F-4D97-AF65-F5344CB8AC3E}">
        <p14:creationId xmlns:p14="http://schemas.microsoft.com/office/powerpoint/2010/main" val="3635932377"/>
      </p:ext>
    </p:extLst>
  </p:cSld>
  <p:clrMap bg1="lt1" tx1="dk1" bg2="lt2" tx2="dk2" accent1="accent1" accent2="accent2" accent3="accent3" accent4="accent4" accent5="accent5" accent6="accent6" hlink="hlink" folHlink="folHlink"/>
  <p:sldLayoutIdLst>
    <p:sldLayoutId id="2147483662" r:id="rId1"/>
    <p:sldLayoutId id="2147483678" r:id="rId2"/>
    <p:sldLayoutId id="2147483656" r:id="rId3"/>
    <p:sldLayoutId id="2147483679" r:id="rId4"/>
    <p:sldLayoutId id="2147483680" r:id="rId5"/>
    <p:sldLayoutId id="2147483692" r:id="rId6"/>
    <p:sldLayoutId id="2147483685" r:id="rId7"/>
    <p:sldLayoutId id="2147483649" r:id="rId8"/>
    <p:sldLayoutId id="2147483669" r:id="rId9"/>
    <p:sldLayoutId id="2147483667" r:id="rId10"/>
    <p:sldLayoutId id="2147483691" r:id="rId11"/>
    <p:sldLayoutId id="2147483693"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0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8.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8.xml"/><Relationship Id="rId1" Type="http://schemas.openxmlformats.org/officeDocument/2006/relationships/tags" Target="../tags/tag5.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8.xml"/><Relationship Id="rId1" Type="http://schemas.openxmlformats.org/officeDocument/2006/relationships/tags" Target="../tags/tag6.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8.xml"/><Relationship Id="rId1" Type="http://schemas.openxmlformats.org/officeDocument/2006/relationships/tags" Target="../tags/tag7.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8.xml"/><Relationship Id="rId1" Type="http://schemas.openxmlformats.org/officeDocument/2006/relationships/tags" Target="../tags/tag8.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8.xml"/><Relationship Id="rId1" Type="http://schemas.openxmlformats.org/officeDocument/2006/relationships/tags" Target="../tags/tag9.xml"/></Relationships>
</file>

<file path=ppt/slides/_rels/slide4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0.xml"/><Relationship Id="rId1" Type="http://schemas.openxmlformats.org/officeDocument/2006/relationships/tags" Target="../tags/tag10.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9.xml"/><Relationship Id="rId1" Type="http://schemas.openxmlformats.org/officeDocument/2006/relationships/tags" Target="../tags/tag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06064E9-134E-4E79-A41F-706155D9AFFA}"/>
              </a:ext>
            </a:extLst>
          </p:cNvPr>
          <p:cNvSpPr>
            <a:spLocks noGrp="1"/>
          </p:cNvSpPr>
          <p:nvPr>
            <p:ph type="body" sz="quarter" idx="10"/>
          </p:nvPr>
        </p:nvSpPr>
        <p:spPr/>
        <p:txBody>
          <a:bodyPr/>
          <a:lstStyle/>
          <a:p>
            <a:r>
              <a:rPr lang="es-PE" dirty="0"/>
              <a:t>PUESTA EN PRODUCCIÓN Y EVALUACIÓN DE LA SOLUCIÓN</a:t>
            </a:r>
          </a:p>
        </p:txBody>
      </p:sp>
      <p:sp>
        <p:nvSpPr>
          <p:cNvPr id="12" name="Marcador de texto 11">
            <a:extLst>
              <a:ext uri="{FF2B5EF4-FFF2-40B4-BE49-F238E27FC236}">
                <a16:creationId xmlns:a16="http://schemas.microsoft.com/office/drawing/2014/main" id="{65D77B8F-E8DB-4946-B4B7-3705AAB2578C}"/>
              </a:ext>
            </a:extLst>
          </p:cNvPr>
          <p:cNvSpPr>
            <a:spLocks noGrp="1"/>
          </p:cNvSpPr>
          <p:nvPr>
            <p:ph type="body" sz="quarter" idx="11"/>
          </p:nvPr>
        </p:nvSpPr>
        <p:spPr/>
        <p:txBody>
          <a:bodyPr/>
          <a:lstStyle/>
          <a:p>
            <a:r>
              <a:rPr lang="es-PE" dirty="0"/>
              <a:t>UNIDAD DE APRENDIZAJE 4 – UA4</a:t>
            </a:r>
          </a:p>
        </p:txBody>
      </p:sp>
      <p:sp>
        <p:nvSpPr>
          <p:cNvPr id="13" name="Marcador de texto 12">
            <a:extLst>
              <a:ext uri="{FF2B5EF4-FFF2-40B4-BE49-F238E27FC236}">
                <a16:creationId xmlns:a16="http://schemas.microsoft.com/office/drawing/2014/main" id="{FA929147-F09B-4398-9DDF-DF2F7FC0C4A6}"/>
              </a:ext>
            </a:extLst>
          </p:cNvPr>
          <p:cNvSpPr>
            <a:spLocks noGrp="1"/>
          </p:cNvSpPr>
          <p:nvPr>
            <p:ph type="body" sz="quarter" idx="12"/>
          </p:nvPr>
        </p:nvSpPr>
        <p:spPr/>
        <p:txBody>
          <a:bodyPr/>
          <a:lstStyle/>
          <a:p>
            <a:pPr>
              <a:spcBef>
                <a:spcPts val="0"/>
              </a:spcBef>
            </a:pPr>
            <a:r>
              <a:rPr lang="es-PE" dirty="0"/>
              <a:t>Puesta en producción</a:t>
            </a:r>
          </a:p>
          <a:p>
            <a:pPr>
              <a:spcBef>
                <a:spcPts val="0"/>
              </a:spcBef>
            </a:pPr>
            <a:r>
              <a:rPr lang="es-PE" dirty="0"/>
              <a:t>Capacitación a usuarios</a:t>
            </a:r>
          </a:p>
          <a:p>
            <a:pPr>
              <a:spcBef>
                <a:spcPts val="0"/>
              </a:spcBef>
            </a:pPr>
            <a:r>
              <a:rPr lang="es-PE" dirty="0"/>
              <a:t>Gestión del cambio</a:t>
            </a:r>
          </a:p>
          <a:p>
            <a:pPr>
              <a:spcBef>
                <a:spcPts val="0"/>
              </a:spcBef>
            </a:pPr>
            <a:r>
              <a:rPr lang="es-PE" dirty="0"/>
              <a:t>Mantenimiento</a:t>
            </a:r>
          </a:p>
          <a:p>
            <a:pPr>
              <a:spcBef>
                <a:spcPts val="0"/>
              </a:spcBef>
            </a:pPr>
            <a:r>
              <a:rPr lang="es-PE" dirty="0"/>
              <a:t>Soporte</a:t>
            </a:r>
          </a:p>
          <a:p>
            <a:pPr>
              <a:spcBef>
                <a:spcPts val="0"/>
              </a:spcBef>
            </a:pPr>
            <a:r>
              <a:rPr lang="es-ES" dirty="0"/>
              <a:t>E</a:t>
            </a:r>
            <a:r>
              <a:rPr lang="es-PE" dirty="0"/>
              <a:t>valuación de la solución</a:t>
            </a:r>
          </a:p>
        </p:txBody>
      </p:sp>
      <p:sp>
        <p:nvSpPr>
          <p:cNvPr id="10" name="Marcador de texto 9">
            <a:extLst>
              <a:ext uri="{FF2B5EF4-FFF2-40B4-BE49-F238E27FC236}">
                <a16:creationId xmlns:a16="http://schemas.microsoft.com/office/drawing/2014/main" id="{4E2E57AF-7040-42B2-BA48-4D269F79C484}"/>
              </a:ext>
            </a:extLst>
          </p:cNvPr>
          <p:cNvSpPr>
            <a:spLocks noGrp="1"/>
          </p:cNvSpPr>
          <p:nvPr>
            <p:ph type="body" sz="quarter" idx="13"/>
          </p:nvPr>
        </p:nvSpPr>
        <p:spPr/>
        <p:txBody>
          <a:bodyPr/>
          <a:lstStyle/>
          <a:p>
            <a:r>
              <a:rPr lang="es-PE" dirty="0"/>
              <a:t>15</a:t>
            </a:r>
          </a:p>
        </p:txBody>
      </p:sp>
    </p:spTree>
    <p:extLst>
      <p:ext uri="{BB962C8B-B14F-4D97-AF65-F5344CB8AC3E}">
        <p14:creationId xmlns:p14="http://schemas.microsoft.com/office/powerpoint/2010/main" val="10388673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4FEDC59F-E03B-4885-ACAE-C9A127998995}"/>
              </a:ext>
            </a:extLst>
          </p:cNvPr>
          <p:cNvSpPr>
            <a:spLocks noGrp="1"/>
          </p:cNvSpPr>
          <p:nvPr>
            <p:ph type="body" sz="quarter" idx="10"/>
          </p:nvPr>
        </p:nvSpPr>
        <p:spPr>
          <a:xfrm>
            <a:off x="503238" y="1670050"/>
            <a:ext cx="8137525" cy="2683119"/>
          </a:xfrm>
          <a:prstGeom prst="rect">
            <a:avLst/>
          </a:prstGeom>
        </p:spPr>
        <p:txBody>
          <a:bodyPr/>
          <a:lstStyle/>
          <a:p>
            <a:r>
              <a:rPr lang="es-ES" dirty="0"/>
              <a:t>El objetivo de la puesta en producción es colocar el producto a disposición del usuario. Ya sea empaquetarlo para su despliegue, colocarlo en Internet para descargar o instalarlo en el entorno del usuario.</a:t>
            </a:r>
          </a:p>
          <a:p>
            <a:pPr>
              <a:spcAft>
                <a:spcPts val="600"/>
              </a:spcAft>
            </a:pPr>
            <a:r>
              <a:rPr lang="es-ES" dirty="0"/>
              <a:t>Entonces, durante esta sesión:</a:t>
            </a:r>
          </a:p>
          <a:p>
            <a:pPr lvl="1">
              <a:spcAft>
                <a:spcPts val="600"/>
              </a:spcAft>
            </a:pPr>
            <a:r>
              <a:rPr lang="es-ES" b="1" dirty="0"/>
              <a:t>Aprenderás </a:t>
            </a:r>
            <a:r>
              <a:rPr lang="es-ES" dirty="0"/>
              <a:t>los factores a considerar en la capacitación a usuarios de la solución.</a:t>
            </a:r>
          </a:p>
          <a:p>
            <a:pPr lvl="1">
              <a:spcAft>
                <a:spcPts val="600"/>
              </a:spcAft>
            </a:pPr>
            <a:r>
              <a:rPr lang="es-ES" b="1" dirty="0"/>
              <a:t>Comprenderás</a:t>
            </a:r>
            <a:r>
              <a:rPr lang="es-ES" dirty="0"/>
              <a:t> las implicancias de la gestión del cambio.</a:t>
            </a:r>
          </a:p>
          <a:p>
            <a:pPr lvl="1">
              <a:spcAft>
                <a:spcPts val="600"/>
              </a:spcAft>
            </a:pPr>
            <a:r>
              <a:rPr lang="es-ES" b="1" dirty="0"/>
              <a:t>Conocerás</a:t>
            </a:r>
            <a:r>
              <a:rPr lang="es-ES" dirty="0"/>
              <a:t> el alcance del mantenimiento de soluciones software.</a:t>
            </a:r>
          </a:p>
          <a:p>
            <a:pPr lvl="1">
              <a:spcAft>
                <a:spcPts val="600"/>
              </a:spcAft>
            </a:pPr>
            <a:r>
              <a:rPr lang="es-ES" b="1" dirty="0"/>
              <a:t>Conocerás</a:t>
            </a:r>
            <a:r>
              <a:rPr lang="es-ES" dirty="0"/>
              <a:t> en qué consiste el soporte de soluciones en producción.</a:t>
            </a:r>
          </a:p>
          <a:p>
            <a:pPr lvl="1" algn="just">
              <a:spcAft>
                <a:spcPts val="600"/>
              </a:spcAft>
            </a:pPr>
            <a:endParaRPr lang="es-PE" dirty="0"/>
          </a:p>
        </p:txBody>
      </p:sp>
    </p:spTree>
    <p:custDataLst>
      <p:tags r:id="rId1"/>
    </p:custDataLst>
    <p:extLst>
      <p:ext uri="{BB962C8B-B14F-4D97-AF65-F5344CB8AC3E}">
        <p14:creationId xmlns:p14="http://schemas.microsoft.com/office/powerpoint/2010/main" val="3012154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4B664F2-7CB4-48B1-9096-E52469E94D93}"/>
              </a:ext>
            </a:extLst>
          </p:cNvPr>
          <p:cNvSpPr>
            <a:spLocks noGrp="1"/>
          </p:cNvSpPr>
          <p:nvPr>
            <p:ph type="body" sz="quarter" idx="10"/>
          </p:nvPr>
        </p:nvSpPr>
        <p:spPr>
          <a:xfrm>
            <a:off x="468314" y="3714841"/>
            <a:ext cx="5543549" cy="482021"/>
          </a:xfrm>
        </p:spPr>
        <p:txBody>
          <a:bodyPr/>
          <a:lstStyle/>
          <a:p>
            <a:pPr marL="274638" indent="-274638">
              <a:tabLst>
                <a:tab pos="274638" algn="l"/>
              </a:tabLst>
            </a:pPr>
            <a:r>
              <a:rPr lang="es-PE" dirty="0"/>
              <a:t>/	PUESTA EN PRODUCCIÓN</a:t>
            </a:r>
          </a:p>
        </p:txBody>
      </p:sp>
    </p:spTree>
    <p:custDataLst>
      <p:tags r:id="rId1"/>
    </p:custDataLst>
    <p:extLst>
      <p:ext uri="{BB962C8B-B14F-4D97-AF65-F5344CB8AC3E}">
        <p14:creationId xmlns:p14="http://schemas.microsoft.com/office/powerpoint/2010/main" val="2540617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posición de imagen 3">
            <a:extLst>
              <a:ext uri="{FF2B5EF4-FFF2-40B4-BE49-F238E27FC236}">
                <a16:creationId xmlns:a16="http://schemas.microsoft.com/office/drawing/2014/main" id="{E5F482DD-15A0-A9D3-82F7-72626F4B116A}"/>
              </a:ext>
            </a:extLst>
          </p:cNvPr>
          <p:cNvPicPr>
            <a:picLocks noGrp="1" noChangeAspect="1"/>
          </p:cNvPicPr>
          <p:nvPr>
            <p:ph type="pic" sz="quarter" idx="10"/>
          </p:nvPr>
        </p:nvPicPr>
        <p:blipFill>
          <a:blip r:embed="rId3"/>
          <a:srcRect t="368" b="368"/>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La puesta en producción de una aplicación software</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PUESTA EN PRODUCCIÓN</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82025"/>
            <a:ext cx="8207375" cy="1858160"/>
          </a:xfrm>
        </p:spPr>
        <p:txBody>
          <a:bodyPr/>
          <a:lstStyle/>
          <a:p>
            <a:pPr marL="0" indent="0">
              <a:lnSpc>
                <a:spcPct val="95000"/>
              </a:lnSpc>
              <a:spcAft>
                <a:spcPts val="600"/>
              </a:spcAft>
              <a:buNone/>
            </a:pPr>
            <a:r>
              <a:rPr lang="es-ES" dirty="0"/>
              <a:t>Consiste en llevar la aplicación desde el entorno de desarrollo y pruebas hacia el entorno de producción, donde los usuarios finales podrán acceder y utilizar la aplicación de manera regular.</a:t>
            </a:r>
          </a:p>
          <a:p>
            <a:pPr marL="0" indent="0">
              <a:lnSpc>
                <a:spcPct val="95000"/>
              </a:lnSpc>
              <a:spcAft>
                <a:spcPts val="600"/>
              </a:spcAft>
              <a:buNone/>
            </a:pPr>
            <a:r>
              <a:rPr lang="es-ES" dirty="0"/>
              <a:t>Es el proceso final en el desarrollo de aplicaciones, donde la aplicación es implementada en un entorno de producción para su uso en el mundo real por los usuarios finales.</a:t>
            </a:r>
          </a:p>
          <a:p>
            <a:pPr marL="0" indent="0">
              <a:lnSpc>
                <a:spcPct val="95000"/>
              </a:lnSpc>
              <a:spcAft>
                <a:spcPts val="600"/>
              </a:spcAft>
              <a:buNone/>
            </a:pPr>
            <a:r>
              <a:rPr lang="es-ES" dirty="0"/>
              <a:t>Un despliegue exitoso depende de una planificación cuidadosa, pruebas rigurosas y un monitoreo constante para asegurar que la aplicación funcione correctamente y cumpla con las expectativas de los usuarios.</a:t>
            </a:r>
          </a:p>
        </p:txBody>
      </p:sp>
    </p:spTree>
    <p:extLst>
      <p:ext uri="{BB962C8B-B14F-4D97-AF65-F5344CB8AC3E}">
        <p14:creationId xmlns:p14="http://schemas.microsoft.com/office/powerpoint/2010/main" val="728023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Consideraciones a tener en cuenta </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PUESTA EN PRODUCCIÓN</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416302" cy="3655402"/>
          </a:xfrm>
          <a:noFill/>
        </p:spPr>
        <p:txBody>
          <a:bodyPr/>
          <a:lstStyle/>
          <a:p>
            <a:pPr marL="274638" indent="-274638">
              <a:spcAft>
                <a:spcPts val="600"/>
              </a:spcAft>
              <a:buSzPct val="85000"/>
              <a:buFont typeface="+mj-lt"/>
              <a:buAutoNum type="arabicParenR"/>
            </a:pPr>
            <a:r>
              <a:rPr lang="es-ES" dirty="0"/>
              <a:t>Es esencial la </a:t>
            </a:r>
            <a:r>
              <a:rPr lang="es-ES" b="1" dirty="0"/>
              <a:t>coordinación de los equipos</a:t>
            </a:r>
            <a:r>
              <a:rPr lang="es-ES" dirty="0"/>
              <a:t> de desarrollo, pruebas, operaciones y administración del sistema para garantizar una transición fluida. Además, se debe </a:t>
            </a:r>
            <a:r>
              <a:rPr lang="es-ES" b="1" dirty="0"/>
              <a:t>establecer una ventana de tiempo</a:t>
            </a:r>
            <a:r>
              <a:rPr lang="es-ES" dirty="0"/>
              <a:t> adecuada para llevar a cabo el despliegue sin interrupciones en el servicio.</a:t>
            </a:r>
          </a:p>
          <a:p>
            <a:pPr marL="274638" indent="-274638">
              <a:spcAft>
                <a:spcPts val="600"/>
              </a:spcAft>
              <a:buSzPct val="85000"/>
              <a:buFont typeface="+mj-lt"/>
              <a:buAutoNum type="arabicParenR"/>
            </a:pPr>
            <a:r>
              <a:rPr lang="es-ES" dirty="0"/>
              <a:t>Generalmente, se utiliza </a:t>
            </a:r>
            <a:r>
              <a:rPr lang="es-ES" b="1" dirty="0"/>
              <a:t>un entorno para el desarrollo</a:t>
            </a:r>
            <a:r>
              <a:rPr lang="es-ES" dirty="0"/>
              <a:t> y pruebas de la aplicación, y </a:t>
            </a:r>
            <a:r>
              <a:rPr lang="es-ES" b="1" dirty="0"/>
              <a:t>otro para la producción</a:t>
            </a:r>
            <a:r>
              <a:rPr lang="es-ES" dirty="0"/>
              <a:t>. Se debe asegurar que el entorno de producción esté configurado adecuadamente con los recursos necesarios, como servidores, bases de datos, servicios en la nube, etc.</a:t>
            </a:r>
          </a:p>
        </p:txBody>
      </p:sp>
      <p:pic>
        <p:nvPicPr>
          <p:cNvPr id="4" name="Marcador de posición de imagen 3">
            <a:extLst>
              <a:ext uri="{FF2B5EF4-FFF2-40B4-BE49-F238E27FC236}">
                <a16:creationId xmlns:a16="http://schemas.microsoft.com/office/drawing/2014/main" id="{082803B1-78CC-40A1-1A0F-F38426294C31}"/>
              </a:ext>
            </a:extLst>
          </p:cNvPr>
          <p:cNvPicPr>
            <a:picLocks noGrp="1" noChangeAspect="1"/>
          </p:cNvPicPr>
          <p:nvPr>
            <p:ph type="pic" sz="quarter" idx="10"/>
          </p:nvPr>
        </p:nvPicPr>
        <p:blipFill>
          <a:blip r:embed="rId3"/>
          <a:srcRect l="199" r="199"/>
          <a:stretch>
            <a:fillRect/>
          </a:stretch>
        </p:blipFill>
        <p:spPr>
          <a:xfrm>
            <a:off x="5194698" y="1158875"/>
            <a:ext cx="3658390" cy="3980715"/>
          </a:xfrm>
        </p:spPr>
      </p:pic>
    </p:spTree>
    <p:extLst>
      <p:ext uri="{BB962C8B-B14F-4D97-AF65-F5344CB8AC3E}">
        <p14:creationId xmlns:p14="http://schemas.microsoft.com/office/powerpoint/2010/main" val="3621323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Consideraciones a tener en cuenta </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PUESTA EN PRODUCCIÓN</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517902" cy="3926007"/>
          </a:xfrm>
          <a:noFill/>
        </p:spPr>
        <p:txBody>
          <a:bodyPr/>
          <a:lstStyle/>
          <a:p>
            <a:pPr marL="274638" indent="-274638">
              <a:spcAft>
                <a:spcPts val="600"/>
              </a:spcAft>
              <a:buSzPct val="85000"/>
              <a:buFont typeface="+mj-lt"/>
              <a:buAutoNum type="arabicParenR" startAt="3"/>
            </a:pPr>
            <a:r>
              <a:rPr lang="es-ES" dirty="0"/>
              <a:t>Antes de implementar la aplicación en producción, es fundamental </a:t>
            </a:r>
            <a:r>
              <a:rPr lang="es-ES" b="1" dirty="0"/>
              <a:t>realizar copias de seguridad</a:t>
            </a:r>
            <a:r>
              <a:rPr lang="es-ES" dirty="0"/>
              <a:t> (backups) de los datos y configuraciones actuales (garantía de restaurar el sistema a un estado previo).</a:t>
            </a:r>
          </a:p>
          <a:p>
            <a:pPr marL="274638" indent="-274638">
              <a:spcAft>
                <a:spcPts val="600"/>
              </a:spcAft>
              <a:buSzPct val="85000"/>
              <a:buFont typeface="+mj-lt"/>
              <a:buAutoNum type="arabicParenR" startAt="3"/>
            </a:pPr>
            <a:r>
              <a:rPr lang="es-ES" dirty="0"/>
              <a:t>Aunque se haya probado la aplicación en entornos de prueba, siempre es prudente </a:t>
            </a:r>
            <a:r>
              <a:rPr lang="es-ES" b="1" dirty="0"/>
              <a:t>realizar pruebas adicionales en el entorno de producción</a:t>
            </a:r>
            <a:r>
              <a:rPr lang="es-ES" dirty="0"/>
              <a:t> antes de poner la aplicación en manos de los usuarios finales.</a:t>
            </a:r>
          </a:p>
          <a:p>
            <a:pPr marL="274638" indent="-274638">
              <a:spcAft>
                <a:spcPts val="600"/>
              </a:spcAft>
              <a:buSzPct val="85000"/>
              <a:buFont typeface="+mj-lt"/>
              <a:buAutoNum type="arabicParenR" startAt="3"/>
            </a:pPr>
            <a:r>
              <a:rPr lang="es-ES" dirty="0"/>
              <a:t>El despliegue de la aplicación puede implicar cargar los archivos y códigos en los servidores, configurar la base de datos, y </a:t>
            </a:r>
            <a:r>
              <a:rPr lang="es-ES" b="1" dirty="0"/>
              <a:t>asegurar que todos los servicios</a:t>
            </a:r>
            <a:r>
              <a:rPr lang="es-ES" dirty="0"/>
              <a:t> de la aplicación funcionen correctamente.</a:t>
            </a:r>
          </a:p>
        </p:txBody>
      </p:sp>
      <p:pic>
        <p:nvPicPr>
          <p:cNvPr id="4" name="Marcador de posición de imagen 3">
            <a:extLst>
              <a:ext uri="{FF2B5EF4-FFF2-40B4-BE49-F238E27FC236}">
                <a16:creationId xmlns:a16="http://schemas.microsoft.com/office/drawing/2014/main" id="{CA87BC11-0E7D-A698-2E8C-F2757F94CB03}"/>
              </a:ext>
            </a:extLst>
          </p:cNvPr>
          <p:cNvPicPr>
            <a:picLocks noGrp="1" noChangeAspect="1"/>
          </p:cNvPicPr>
          <p:nvPr>
            <p:ph type="pic" sz="quarter" idx="10"/>
          </p:nvPr>
        </p:nvPicPr>
        <p:blipFill>
          <a:blip r:embed="rId3"/>
          <a:srcRect t="287" b="287"/>
          <a:stretch>
            <a:fillRect/>
          </a:stretch>
        </p:blipFill>
        <p:spPr>
          <a:xfrm>
            <a:off x="5174637" y="1158875"/>
            <a:ext cx="3608112" cy="3926007"/>
          </a:xfrm>
        </p:spPr>
      </p:pic>
    </p:spTree>
    <p:extLst>
      <p:ext uri="{BB962C8B-B14F-4D97-AF65-F5344CB8AC3E}">
        <p14:creationId xmlns:p14="http://schemas.microsoft.com/office/powerpoint/2010/main" val="1948946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Consideraciones a tener en cuenta </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PUESTA EN PRODUCCIÓN</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486641" cy="3703418"/>
          </a:xfrm>
          <a:noFill/>
        </p:spPr>
        <p:txBody>
          <a:bodyPr/>
          <a:lstStyle/>
          <a:p>
            <a:pPr marL="274638" indent="-274638">
              <a:spcAft>
                <a:spcPts val="600"/>
              </a:spcAft>
              <a:buSzPct val="85000"/>
              <a:buFont typeface="+mj-lt"/>
              <a:buAutoNum type="arabicParenR" startAt="6"/>
            </a:pPr>
            <a:r>
              <a:rPr lang="es-ES" dirty="0"/>
              <a:t>Implementar </a:t>
            </a:r>
            <a:r>
              <a:rPr lang="es-ES" b="1" dirty="0"/>
              <a:t>métricas y herramientas de monitoreo</a:t>
            </a:r>
            <a:r>
              <a:rPr lang="es-ES" dirty="0"/>
              <a:t> para medir el rendimiento, la disponibilidad y otros aspectos relevantes.</a:t>
            </a:r>
          </a:p>
          <a:p>
            <a:pPr marL="274638" indent="-274638">
              <a:spcAft>
                <a:spcPts val="600"/>
              </a:spcAft>
              <a:buSzPct val="85000"/>
              <a:buFont typeface="+mj-lt"/>
              <a:buAutoNum type="arabicParenR" startAt="6"/>
            </a:pPr>
            <a:r>
              <a:rPr lang="es-ES" dirty="0"/>
              <a:t>A medida que los usuarios finales comienzan a utilizar la aplicación, puede ser necesario </a:t>
            </a:r>
            <a:r>
              <a:rPr lang="es-ES" b="1" dirty="0"/>
              <a:t>brindarles capacitación y soporte</a:t>
            </a:r>
            <a:r>
              <a:rPr lang="es-ES" dirty="0"/>
              <a:t> para que puedan aprovechar al máximo las capacidades de la aplicación. Es importante contar con un equipo de soporte que pueda resolver las consultas y problemas.</a:t>
            </a:r>
          </a:p>
          <a:p>
            <a:pPr marL="274638" indent="-274638">
              <a:spcAft>
                <a:spcPts val="600"/>
              </a:spcAft>
              <a:buSzPct val="85000"/>
              <a:buFont typeface="+mj-lt"/>
              <a:buAutoNum type="arabicParenR" startAt="6"/>
            </a:pPr>
            <a:r>
              <a:rPr lang="es-ES" dirty="0"/>
              <a:t>Se debe tener un </a:t>
            </a:r>
            <a:r>
              <a:rPr lang="es-ES" b="1" dirty="0"/>
              <a:t>plan de mantenimiento continuo</a:t>
            </a:r>
            <a:r>
              <a:rPr lang="es-ES" dirty="0"/>
              <a:t> para garantizar que la aplicación siga funcionando de manera óptima a lo largo del tiempo.</a:t>
            </a:r>
          </a:p>
        </p:txBody>
      </p:sp>
      <p:pic>
        <p:nvPicPr>
          <p:cNvPr id="4" name="Marcador de posición de imagen 3">
            <a:extLst>
              <a:ext uri="{FF2B5EF4-FFF2-40B4-BE49-F238E27FC236}">
                <a16:creationId xmlns:a16="http://schemas.microsoft.com/office/drawing/2014/main" id="{4CC34BD3-CF3A-BA0C-47DB-61A832BAA2DB}"/>
              </a:ext>
            </a:extLst>
          </p:cNvPr>
          <p:cNvPicPr>
            <a:picLocks noGrp="1" noChangeAspect="1"/>
          </p:cNvPicPr>
          <p:nvPr>
            <p:ph type="pic" sz="quarter" idx="10"/>
          </p:nvPr>
        </p:nvPicPr>
        <p:blipFill>
          <a:blip r:embed="rId3"/>
          <a:srcRect l="199" r="199"/>
          <a:stretch>
            <a:fillRect/>
          </a:stretch>
        </p:blipFill>
        <p:spPr>
          <a:xfrm>
            <a:off x="5379500" y="1266091"/>
            <a:ext cx="3403545" cy="3703417"/>
          </a:xfrm>
        </p:spPr>
      </p:pic>
    </p:spTree>
    <p:extLst>
      <p:ext uri="{BB962C8B-B14F-4D97-AF65-F5344CB8AC3E}">
        <p14:creationId xmlns:p14="http://schemas.microsoft.com/office/powerpoint/2010/main" val="513214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4B664F2-7CB4-48B1-9096-E52469E94D93}"/>
              </a:ext>
            </a:extLst>
          </p:cNvPr>
          <p:cNvSpPr>
            <a:spLocks noGrp="1"/>
          </p:cNvSpPr>
          <p:nvPr>
            <p:ph type="body" sz="quarter" idx="10"/>
          </p:nvPr>
        </p:nvSpPr>
        <p:spPr>
          <a:xfrm>
            <a:off x="468314" y="3714842"/>
            <a:ext cx="5543549" cy="544544"/>
          </a:xfrm>
        </p:spPr>
        <p:txBody>
          <a:bodyPr/>
          <a:lstStyle/>
          <a:p>
            <a:pPr marL="274638" indent="-274638">
              <a:tabLst>
                <a:tab pos="274638" algn="l"/>
              </a:tabLst>
            </a:pPr>
            <a:r>
              <a:rPr lang="es-PE" dirty="0"/>
              <a:t>/	CAPACITACIÓN A USUARIOS</a:t>
            </a:r>
          </a:p>
        </p:txBody>
      </p:sp>
    </p:spTree>
    <p:custDataLst>
      <p:tags r:id="rId1"/>
    </p:custDataLst>
    <p:extLst>
      <p:ext uri="{BB962C8B-B14F-4D97-AF65-F5344CB8AC3E}">
        <p14:creationId xmlns:p14="http://schemas.microsoft.com/office/powerpoint/2010/main" val="3109433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¿En qué consiste?</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CAPACITACIÓN A USUARIOS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103687" cy="2397125"/>
          </a:xfrm>
        </p:spPr>
        <p:txBody>
          <a:bodyPr/>
          <a:lstStyle/>
          <a:p>
            <a:r>
              <a:rPr lang="es-ES" dirty="0"/>
              <a:t>Es un proceso planificado y estructurado que busca asegurar que los usuarios finales adquieran las habilidades necesarias para utilizar una nueva aplicación de software de manera productiva.</a:t>
            </a:r>
          </a:p>
          <a:p>
            <a:r>
              <a:rPr lang="es-ES" dirty="0"/>
              <a:t>Una capacitación bien diseñada y ejecutada es fundamental para maximizar la adopción y el éxito de la aplicación en la organización.</a:t>
            </a:r>
          </a:p>
        </p:txBody>
      </p:sp>
      <p:pic>
        <p:nvPicPr>
          <p:cNvPr id="4" name="Marcador de posición de imagen 3">
            <a:extLst>
              <a:ext uri="{FF2B5EF4-FFF2-40B4-BE49-F238E27FC236}">
                <a16:creationId xmlns:a16="http://schemas.microsoft.com/office/drawing/2014/main" id="{07EF51E5-603A-ADC7-D01C-ACAF9DE6BD0A}"/>
              </a:ext>
            </a:extLst>
          </p:cNvPr>
          <p:cNvPicPr>
            <a:picLocks noGrp="1" noChangeAspect="1"/>
          </p:cNvPicPr>
          <p:nvPr>
            <p:ph type="pic" sz="quarter" idx="10"/>
          </p:nvPr>
        </p:nvPicPr>
        <p:blipFill>
          <a:blip r:embed="rId3"/>
          <a:srcRect t="96" b="96"/>
          <a:stretch>
            <a:fillRect/>
          </a:stretch>
        </p:blipFill>
        <p:spPr/>
      </p:pic>
    </p:spTree>
    <p:extLst>
      <p:ext uri="{BB962C8B-B14F-4D97-AF65-F5344CB8AC3E}">
        <p14:creationId xmlns:p14="http://schemas.microsoft.com/office/powerpoint/2010/main" val="32131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Consideraciones a tener en cuenta</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CAPACITACIÓN A USUARIOS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525718" cy="3678848"/>
          </a:xfrm>
        </p:spPr>
        <p:txBody>
          <a:bodyPr/>
          <a:lstStyle/>
          <a:p>
            <a:r>
              <a:rPr lang="es-ES" dirty="0"/>
              <a:t>Antes de iniciar la capacitación, es importante </a:t>
            </a:r>
            <a:r>
              <a:rPr lang="es-ES" b="1" dirty="0"/>
              <a:t>identificar a los diferentes grupos de usuarios</a:t>
            </a:r>
            <a:r>
              <a:rPr lang="es-ES" dirty="0"/>
              <a:t> que utilizarán la aplicación. La capacitación debe ser adaptada a cada grupo.</a:t>
            </a:r>
          </a:p>
          <a:p>
            <a:r>
              <a:rPr lang="es-ES" dirty="0"/>
              <a:t>Identificar qué </a:t>
            </a:r>
            <a:r>
              <a:rPr lang="es-ES" b="1" dirty="0"/>
              <a:t>habilidades y conocimientos específicos</a:t>
            </a:r>
            <a:r>
              <a:rPr lang="es-ES" dirty="0"/>
              <a:t> deben adquirir los usuarios para utilizar la aplicación de manera efectiva en su trabajo diario.</a:t>
            </a:r>
          </a:p>
          <a:p>
            <a:r>
              <a:rPr lang="es-ES" b="1" dirty="0"/>
              <a:t>Desarrollar el material de capacitación</a:t>
            </a:r>
            <a:r>
              <a:rPr lang="es-ES" dirty="0"/>
              <a:t>, que puede incluir manuales de usuario, guías paso a paso, videos tutoriales, presentaciones, etc. Es importante que el material sea claro, conciso y esté orientado a la práctica.</a:t>
            </a:r>
          </a:p>
        </p:txBody>
      </p:sp>
      <p:pic>
        <p:nvPicPr>
          <p:cNvPr id="3" name="Marcador de posición de imagen 2">
            <a:extLst>
              <a:ext uri="{FF2B5EF4-FFF2-40B4-BE49-F238E27FC236}">
                <a16:creationId xmlns:a16="http://schemas.microsoft.com/office/drawing/2014/main" id="{8221CB5B-C121-658E-CE3E-B6560BF3FF25}"/>
              </a:ext>
            </a:extLst>
          </p:cNvPr>
          <p:cNvPicPr>
            <a:picLocks noGrp="1" noChangeAspect="1"/>
          </p:cNvPicPr>
          <p:nvPr>
            <p:ph type="pic" sz="quarter" idx="10"/>
          </p:nvPr>
        </p:nvPicPr>
        <p:blipFill>
          <a:blip r:embed="rId3"/>
          <a:srcRect l="199" r="199"/>
          <a:stretch>
            <a:fillRect/>
          </a:stretch>
        </p:blipFill>
        <p:spPr>
          <a:xfrm>
            <a:off x="5391157" y="1289538"/>
            <a:ext cx="3493191" cy="3800961"/>
          </a:xfrm>
        </p:spPr>
      </p:pic>
    </p:spTree>
    <p:extLst>
      <p:ext uri="{BB962C8B-B14F-4D97-AF65-F5344CB8AC3E}">
        <p14:creationId xmlns:p14="http://schemas.microsoft.com/office/powerpoint/2010/main" val="1006076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Consideraciones a tener en cuenta </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CAPACITACIÓN A USUARIOS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455379" cy="3600694"/>
          </a:xfrm>
        </p:spPr>
        <p:txBody>
          <a:bodyPr/>
          <a:lstStyle/>
          <a:p>
            <a:r>
              <a:rPr lang="es-ES" dirty="0"/>
              <a:t>Se programan </a:t>
            </a:r>
            <a:r>
              <a:rPr lang="es-ES" b="1" dirty="0"/>
              <a:t>sesiones de capacitación</a:t>
            </a:r>
            <a:r>
              <a:rPr lang="es-ES" dirty="0"/>
              <a:t> en grupos reducidos o individuales, según la cantidad de usuarios y sus necesidades. Estas sesiones pueden llevarse a cabo en persona, de manera virtual o utilizando plataformas de </a:t>
            </a:r>
            <a:r>
              <a:rPr lang="es-ES" i="1" dirty="0"/>
              <a:t>e-learning.</a:t>
            </a:r>
          </a:p>
          <a:p>
            <a:r>
              <a:rPr lang="es-ES" dirty="0"/>
              <a:t>Durante las sesiones de capacitación, los formadores deben </a:t>
            </a:r>
            <a:r>
              <a:rPr lang="es-ES" b="1" dirty="0"/>
              <a:t>realizar demostraciones prácticas</a:t>
            </a:r>
            <a:r>
              <a:rPr lang="es-ES" dirty="0"/>
              <a:t> del uso de la aplicación y proporcionar ejercicios para que los usuarios practiquen ellos mismos.</a:t>
            </a:r>
          </a:p>
          <a:p>
            <a:r>
              <a:rPr lang="es-ES" dirty="0"/>
              <a:t>Es importante </a:t>
            </a:r>
            <a:r>
              <a:rPr lang="es-ES" b="1" dirty="0"/>
              <a:t>incluir escenarios del mundo real</a:t>
            </a:r>
            <a:r>
              <a:rPr lang="es-ES" dirty="0"/>
              <a:t> durante la capacitación.</a:t>
            </a:r>
          </a:p>
        </p:txBody>
      </p:sp>
      <p:pic>
        <p:nvPicPr>
          <p:cNvPr id="8" name="Marcador de posición de imagen 7">
            <a:extLst>
              <a:ext uri="{FF2B5EF4-FFF2-40B4-BE49-F238E27FC236}">
                <a16:creationId xmlns:a16="http://schemas.microsoft.com/office/drawing/2014/main" id="{A754A8EF-23B6-AE39-AED2-B0EC5F5C356A}"/>
              </a:ext>
            </a:extLst>
          </p:cNvPr>
          <p:cNvPicPr>
            <a:picLocks noGrp="1" noChangeAspect="1"/>
          </p:cNvPicPr>
          <p:nvPr>
            <p:ph type="pic" sz="quarter" idx="10"/>
          </p:nvPr>
        </p:nvPicPr>
        <p:blipFill>
          <a:blip r:embed="rId3"/>
          <a:srcRect l="234" r="234"/>
          <a:stretch>
            <a:fillRect/>
          </a:stretch>
        </p:blipFill>
        <p:spPr>
          <a:xfrm>
            <a:off x="5259342" y="1039447"/>
            <a:ext cx="3593746" cy="3910376"/>
          </a:xfrm>
        </p:spPr>
      </p:pic>
    </p:spTree>
    <p:extLst>
      <p:ext uri="{BB962C8B-B14F-4D97-AF65-F5344CB8AC3E}">
        <p14:creationId xmlns:p14="http://schemas.microsoft.com/office/powerpoint/2010/main" val="826961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Consideraciones a tener en cuenta </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CAPACITACIÓN A USUARIOS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525718" cy="3327156"/>
          </a:xfrm>
        </p:spPr>
        <p:txBody>
          <a:bodyPr/>
          <a:lstStyle/>
          <a:p>
            <a:r>
              <a:rPr lang="es-ES" dirty="0"/>
              <a:t>Después de la capacitación inicial, es útil </a:t>
            </a:r>
            <a:r>
              <a:rPr lang="es-ES" b="1" dirty="0"/>
              <a:t>recopilar comentarios y retroalimentación de los usuarios</a:t>
            </a:r>
            <a:r>
              <a:rPr lang="es-ES" dirty="0"/>
              <a:t>. Esto puede ayudar a identificar posibles áreas de mejora en el material de capacitación y en la propia aplicación.</a:t>
            </a:r>
          </a:p>
          <a:p>
            <a:r>
              <a:rPr lang="es-ES" dirty="0"/>
              <a:t>Si la aplicación se actualiza con el tiempo o se agregan nuevas funcionalidades, es esencial ofrecer </a:t>
            </a:r>
            <a:r>
              <a:rPr lang="es-ES" b="1" dirty="0"/>
              <a:t>capacitación adicional</a:t>
            </a:r>
            <a:r>
              <a:rPr lang="es-ES" dirty="0"/>
              <a:t> para que los usuarios estén al tanto de los cambios. Además, el </a:t>
            </a:r>
            <a:r>
              <a:rPr lang="es-ES" b="1" dirty="0"/>
              <a:t>refuerzo periódico</a:t>
            </a:r>
            <a:r>
              <a:rPr lang="es-ES" dirty="0"/>
              <a:t> de la capacitación puede ayudar a mejorar la retención y el uso efectivo de la aplicación.</a:t>
            </a:r>
          </a:p>
        </p:txBody>
      </p:sp>
      <p:pic>
        <p:nvPicPr>
          <p:cNvPr id="3" name="Marcador de posición de imagen 2">
            <a:extLst>
              <a:ext uri="{FF2B5EF4-FFF2-40B4-BE49-F238E27FC236}">
                <a16:creationId xmlns:a16="http://schemas.microsoft.com/office/drawing/2014/main" id="{4EA7524C-02CB-7A4A-C2F0-06ED0C2D4C24}"/>
              </a:ext>
            </a:extLst>
          </p:cNvPr>
          <p:cNvPicPr>
            <a:picLocks noGrp="1" noChangeAspect="1"/>
          </p:cNvPicPr>
          <p:nvPr>
            <p:ph type="pic" sz="quarter" idx="10"/>
          </p:nvPr>
        </p:nvPicPr>
        <p:blipFill>
          <a:blip r:embed="rId3"/>
          <a:srcRect l="118" r="118"/>
          <a:stretch>
            <a:fillRect/>
          </a:stretch>
        </p:blipFill>
        <p:spPr>
          <a:xfrm>
            <a:off x="5331609" y="1148129"/>
            <a:ext cx="3349539" cy="3644653"/>
          </a:xfrm>
        </p:spPr>
      </p:pic>
    </p:spTree>
    <p:extLst>
      <p:ext uri="{BB962C8B-B14F-4D97-AF65-F5344CB8AC3E}">
        <p14:creationId xmlns:p14="http://schemas.microsoft.com/office/powerpoint/2010/main" val="3762728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Plan de capacitación a usuarios finales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CAPACITACIÓN A USUARIOS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p:txBody>
          <a:bodyPr/>
          <a:lstStyle/>
          <a:p>
            <a:r>
              <a:rPr lang="es-ES" dirty="0"/>
              <a:t>La clave para un plan de capacitación exitoso es la claridad en los objetivos, la relevancia del contenido, la participación activa de los usuarios y la evaluación constante para realizar mejoras.</a:t>
            </a:r>
          </a:p>
          <a:p>
            <a:r>
              <a:rPr lang="es-ES" dirty="0"/>
              <a:t>Adaptar el plan a las necesidades y expectativas específicas de los usuarios aumentará las posibilidades de éxito en la implementación de la aplicación en la empresa.</a:t>
            </a:r>
          </a:p>
          <a:p>
            <a:r>
              <a:rPr lang="es-ES" dirty="0"/>
              <a:t>En la imagen, se presenta una estructura para un plan de capacitación a usuarios finales, el mismo que se puede adaptar según las necesidades y características específicas de la aplicación y los usuarios.</a:t>
            </a:r>
          </a:p>
        </p:txBody>
      </p:sp>
      <p:pic>
        <p:nvPicPr>
          <p:cNvPr id="3" name="Marcador de posición de imagen 2">
            <a:extLst>
              <a:ext uri="{FF2B5EF4-FFF2-40B4-BE49-F238E27FC236}">
                <a16:creationId xmlns:a16="http://schemas.microsoft.com/office/drawing/2014/main" id="{48A6686C-06AB-F6B3-7C74-AD55BCA1C8D4}"/>
              </a:ext>
            </a:extLst>
          </p:cNvPr>
          <p:cNvPicPr>
            <a:picLocks noGrp="1" noChangeAspect="1"/>
          </p:cNvPicPr>
          <p:nvPr>
            <p:ph type="pic" sz="quarter" idx="10"/>
          </p:nvPr>
        </p:nvPicPr>
        <p:blipFill>
          <a:blip r:embed="rId3"/>
          <a:srcRect l="11" r="11"/>
          <a:stretch>
            <a:fillRect/>
          </a:stretch>
        </p:blipFill>
        <p:spPr/>
      </p:pic>
    </p:spTree>
    <p:extLst>
      <p:ext uri="{BB962C8B-B14F-4D97-AF65-F5344CB8AC3E}">
        <p14:creationId xmlns:p14="http://schemas.microsoft.com/office/powerpoint/2010/main" val="2904067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4B664F2-7CB4-48B1-9096-E52469E94D93}"/>
              </a:ext>
            </a:extLst>
          </p:cNvPr>
          <p:cNvSpPr>
            <a:spLocks noGrp="1"/>
          </p:cNvSpPr>
          <p:nvPr>
            <p:ph type="body" sz="quarter" idx="10"/>
          </p:nvPr>
        </p:nvSpPr>
        <p:spPr>
          <a:xfrm>
            <a:off x="468314" y="3714842"/>
            <a:ext cx="5543549" cy="466390"/>
          </a:xfrm>
        </p:spPr>
        <p:txBody>
          <a:bodyPr/>
          <a:lstStyle/>
          <a:p>
            <a:pPr marL="274638" indent="-274638">
              <a:tabLst>
                <a:tab pos="274638" algn="l"/>
              </a:tabLst>
            </a:pPr>
            <a:r>
              <a:rPr lang="es-PE" dirty="0"/>
              <a:t>/	GESTIÓN DEL CAMBIO</a:t>
            </a:r>
          </a:p>
        </p:txBody>
      </p:sp>
    </p:spTree>
    <p:custDataLst>
      <p:tags r:id="rId1"/>
    </p:custDataLst>
    <p:extLst>
      <p:ext uri="{BB962C8B-B14F-4D97-AF65-F5344CB8AC3E}">
        <p14:creationId xmlns:p14="http://schemas.microsoft.com/office/powerpoint/2010/main" val="1507443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El proceso de gestión del cambio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GESTIÓN DEL CAMBIO</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103687" cy="3475648"/>
          </a:xfrm>
        </p:spPr>
        <p:txBody>
          <a:bodyPr/>
          <a:lstStyle/>
          <a:p>
            <a:r>
              <a:rPr lang="es-ES" dirty="0"/>
              <a:t>Involucra identificar a los impactados, comunicar el cambio de manera efectiva, brindar capacitación adecuada y apoyar a los usuarios para que puedan adaptarse con éxito a la nueva herramienta.</a:t>
            </a:r>
          </a:p>
          <a:p>
            <a:r>
              <a:rPr lang="es-ES" dirty="0"/>
              <a:t>Una gestión del cambio bien planificada y ejecutada aumenta las posibilidades de una adopción exitosa de la aplicación en toda la organización.</a:t>
            </a:r>
          </a:p>
          <a:p>
            <a:r>
              <a:rPr lang="es-ES" dirty="0"/>
              <a:t>Implica asegurarse de que la transición hacia la nueva aplicación sea lo más suave y efectiva posible para todos los involucrados.</a:t>
            </a:r>
          </a:p>
        </p:txBody>
      </p:sp>
      <p:pic>
        <p:nvPicPr>
          <p:cNvPr id="3" name="Marcador de posición de imagen 2">
            <a:extLst>
              <a:ext uri="{FF2B5EF4-FFF2-40B4-BE49-F238E27FC236}">
                <a16:creationId xmlns:a16="http://schemas.microsoft.com/office/drawing/2014/main" id="{16FEE562-1563-509A-42D7-21BC73971ECF}"/>
              </a:ext>
            </a:extLst>
          </p:cNvPr>
          <p:cNvPicPr>
            <a:picLocks noGrp="1" noChangeAspect="1"/>
          </p:cNvPicPr>
          <p:nvPr>
            <p:ph type="pic" sz="quarter" idx="10"/>
          </p:nvPr>
        </p:nvPicPr>
        <p:blipFill>
          <a:blip r:embed="rId3"/>
          <a:srcRect l="118" r="118"/>
          <a:stretch>
            <a:fillRect/>
          </a:stretch>
        </p:blipFill>
        <p:spPr/>
      </p:pic>
    </p:spTree>
    <p:extLst>
      <p:ext uri="{BB962C8B-B14F-4D97-AF65-F5344CB8AC3E}">
        <p14:creationId xmlns:p14="http://schemas.microsoft.com/office/powerpoint/2010/main" val="1474325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Identificación y análisis de impactados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GESTIÓN DEL CAMBIO</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103687" cy="3538171"/>
          </a:xfrm>
        </p:spPr>
        <p:txBody>
          <a:bodyPr/>
          <a:lstStyle/>
          <a:p>
            <a:r>
              <a:rPr lang="es-ES" dirty="0"/>
              <a:t>El primer paso es </a:t>
            </a:r>
            <a:r>
              <a:rPr lang="es-ES" b="1" dirty="0"/>
              <a:t>identificar a todos los </a:t>
            </a:r>
            <a:r>
              <a:rPr lang="es-ES" b="1" i="1" dirty="0"/>
              <a:t>stakeholders </a:t>
            </a:r>
            <a:r>
              <a:rPr lang="es-ES" b="1" dirty="0"/>
              <a:t>y los grupos de usuarios que se verán afectados</a:t>
            </a:r>
            <a:r>
              <a:rPr lang="es-ES" dirty="0"/>
              <a:t> por la nueva aplicación (usuarios finales, gerentes, personal de soporte, equipos TI, entre otros). Cada grupo puede tener diferentes necesidades y preocupaciones relacionadas con el cambio.</a:t>
            </a:r>
          </a:p>
          <a:p>
            <a:r>
              <a:rPr lang="es-ES" dirty="0"/>
              <a:t>Identificados los impactados, es importante realizar un análisis detallado de </a:t>
            </a:r>
            <a:r>
              <a:rPr lang="es-ES" b="1" dirty="0"/>
              <a:t>cómo la nueva aplicación afectará sus roles y procesos de trabajo actuales</a:t>
            </a:r>
            <a:r>
              <a:rPr lang="es-ES" dirty="0"/>
              <a:t>. Esto permitirá prepararse para los desafíos que puedan surgir durante la transición.</a:t>
            </a:r>
          </a:p>
        </p:txBody>
      </p:sp>
      <p:pic>
        <p:nvPicPr>
          <p:cNvPr id="3" name="Marcador de posición de imagen 2">
            <a:extLst>
              <a:ext uri="{FF2B5EF4-FFF2-40B4-BE49-F238E27FC236}">
                <a16:creationId xmlns:a16="http://schemas.microsoft.com/office/drawing/2014/main" id="{50A90D17-E6DF-7AB8-E441-009217A65A12}"/>
              </a:ext>
            </a:extLst>
          </p:cNvPr>
          <p:cNvPicPr>
            <a:picLocks noGrp="1" noChangeAspect="1"/>
          </p:cNvPicPr>
          <p:nvPr>
            <p:ph type="pic" sz="quarter" idx="10"/>
          </p:nvPr>
        </p:nvPicPr>
        <p:blipFill>
          <a:blip r:embed="rId3"/>
          <a:srcRect l="2" r="2"/>
          <a:stretch>
            <a:fillRect/>
          </a:stretch>
        </p:blipFill>
        <p:spPr/>
      </p:pic>
    </p:spTree>
    <p:extLst>
      <p:ext uri="{BB962C8B-B14F-4D97-AF65-F5344CB8AC3E}">
        <p14:creationId xmlns:p14="http://schemas.microsoft.com/office/powerpoint/2010/main" val="3846494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Comunicación efectiva</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GESTIÓN DEL CAMBIO</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103687" cy="2670663"/>
          </a:xfrm>
        </p:spPr>
        <p:txBody>
          <a:bodyPr/>
          <a:lstStyle/>
          <a:p>
            <a:r>
              <a:rPr lang="es-ES" dirty="0"/>
              <a:t>La comunicación clara y efectiva es clave para gestionar el cambio de manera exitosa. </a:t>
            </a:r>
          </a:p>
          <a:p>
            <a:r>
              <a:rPr lang="es-ES" dirty="0"/>
              <a:t>Se deben comunicar los beneficios de la nueva aplicación y cómo mejorará el trabajo de los usuarios. </a:t>
            </a:r>
          </a:p>
          <a:p>
            <a:r>
              <a:rPr lang="es-ES" dirty="0"/>
              <a:t>También se deben abordar las inquietudes y dudas que puedan surgir y brindar información detallada sobre el proceso de puesta en producción.</a:t>
            </a:r>
          </a:p>
        </p:txBody>
      </p:sp>
      <p:pic>
        <p:nvPicPr>
          <p:cNvPr id="8" name="Marcador de posición de imagen 7">
            <a:extLst>
              <a:ext uri="{FF2B5EF4-FFF2-40B4-BE49-F238E27FC236}">
                <a16:creationId xmlns:a16="http://schemas.microsoft.com/office/drawing/2014/main" id="{55B96F54-1CBE-A4DF-00FF-F7DC4A588933}"/>
              </a:ext>
            </a:extLst>
          </p:cNvPr>
          <p:cNvPicPr>
            <a:picLocks noGrp="1" noChangeAspect="1"/>
          </p:cNvPicPr>
          <p:nvPr>
            <p:ph type="pic" sz="quarter" idx="10"/>
          </p:nvPr>
        </p:nvPicPr>
        <p:blipFill>
          <a:blip r:embed="rId3"/>
          <a:srcRect l="234" r="234"/>
          <a:stretch>
            <a:fillRect/>
          </a:stretch>
        </p:blipFill>
        <p:spPr/>
      </p:pic>
    </p:spTree>
    <p:extLst>
      <p:ext uri="{BB962C8B-B14F-4D97-AF65-F5344CB8AC3E}">
        <p14:creationId xmlns:p14="http://schemas.microsoft.com/office/powerpoint/2010/main" val="2549306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Identificación de agentes de cambio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GESTIÓN DEL CAMBIO</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103687" cy="2256448"/>
          </a:xfrm>
        </p:spPr>
        <p:txBody>
          <a:bodyPr/>
          <a:lstStyle/>
          <a:p>
            <a:r>
              <a:rPr lang="es-ES" dirty="0"/>
              <a:t>Designar líderes y agentes de cambio dentro de la organización puede ser valioso.</a:t>
            </a:r>
          </a:p>
          <a:p>
            <a:r>
              <a:rPr lang="es-ES" dirty="0"/>
              <a:t>Estas personas actuarán como promotores de la nueva aplicación y ayudarán a los usuarios a adaptarse al cambio. </a:t>
            </a:r>
          </a:p>
          <a:p>
            <a:r>
              <a:rPr lang="es-ES" dirty="0"/>
              <a:t>Su rol es brindar apoyo y motivar a los demás a adoptar la nueva herramienta.</a:t>
            </a:r>
          </a:p>
        </p:txBody>
      </p:sp>
      <p:pic>
        <p:nvPicPr>
          <p:cNvPr id="3" name="Marcador de posición de imagen 2">
            <a:extLst>
              <a:ext uri="{FF2B5EF4-FFF2-40B4-BE49-F238E27FC236}">
                <a16:creationId xmlns:a16="http://schemas.microsoft.com/office/drawing/2014/main" id="{22F111AA-AFED-141A-1B9C-0CEC666CE3BD}"/>
              </a:ext>
            </a:extLst>
          </p:cNvPr>
          <p:cNvPicPr>
            <a:picLocks noGrp="1" noChangeAspect="1"/>
          </p:cNvPicPr>
          <p:nvPr>
            <p:ph type="pic" sz="quarter" idx="10"/>
          </p:nvPr>
        </p:nvPicPr>
        <p:blipFill>
          <a:blip r:embed="rId3"/>
          <a:srcRect l="242" r="242"/>
          <a:stretch>
            <a:fillRect/>
          </a:stretch>
        </p:blipFill>
        <p:spPr/>
      </p:pic>
    </p:spTree>
    <p:extLst>
      <p:ext uri="{BB962C8B-B14F-4D97-AF65-F5344CB8AC3E}">
        <p14:creationId xmlns:p14="http://schemas.microsoft.com/office/powerpoint/2010/main" val="149954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Manejo de resistencia al cambio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GESTIÓN DEL CAMBIO</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103687" cy="2600325"/>
          </a:xfrm>
        </p:spPr>
        <p:txBody>
          <a:bodyPr/>
          <a:lstStyle/>
          <a:p>
            <a:r>
              <a:rPr lang="es-ES" dirty="0"/>
              <a:t>Es normal que algunas personas muestren resistencia al cambio. </a:t>
            </a:r>
          </a:p>
          <a:p>
            <a:r>
              <a:rPr lang="es-ES" dirty="0"/>
              <a:t>Es fundamental abordar estas preocupaciones y ayudar a los usuarios a superar la resistencia. </a:t>
            </a:r>
          </a:p>
          <a:p>
            <a:r>
              <a:rPr lang="es-ES" dirty="0"/>
              <a:t>Escuchar sus preocupaciones, proporcionar retroalimentación constructiva y demostrar cómo la nueva aplicación puede facilitar su trabajo puede ser útil en este proceso.</a:t>
            </a:r>
          </a:p>
        </p:txBody>
      </p:sp>
      <p:pic>
        <p:nvPicPr>
          <p:cNvPr id="3" name="Marcador de posición de imagen 2">
            <a:extLst>
              <a:ext uri="{FF2B5EF4-FFF2-40B4-BE49-F238E27FC236}">
                <a16:creationId xmlns:a16="http://schemas.microsoft.com/office/drawing/2014/main" id="{C09F6989-2FFD-CAB3-EAE0-F35536009E63}"/>
              </a:ext>
            </a:extLst>
          </p:cNvPr>
          <p:cNvPicPr>
            <a:picLocks noGrp="1" noChangeAspect="1"/>
          </p:cNvPicPr>
          <p:nvPr>
            <p:ph type="pic" sz="quarter" idx="10"/>
          </p:nvPr>
        </p:nvPicPr>
        <p:blipFill>
          <a:blip r:embed="rId3"/>
          <a:srcRect l="2" r="2"/>
          <a:stretch>
            <a:fillRect/>
          </a:stretch>
        </p:blipFill>
        <p:spPr/>
      </p:pic>
    </p:spTree>
    <p:extLst>
      <p:ext uri="{BB962C8B-B14F-4D97-AF65-F5344CB8AC3E}">
        <p14:creationId xmlns:p14="http://schemas.microsoft.com/office/powerpoint/2010/main" val="1655874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GESTIÓN DEL CAMBIO</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103687" cy="2365863"/>
          </a:xfrm>
        </p:spPr>
        <p:txBody>
          <a:bodyPr/>
          <a:lstStyle/>
          <a:p>
            <a:r>
              <a:rPr lang="es-ES" dirty="0"/>
              <a:t>Una vez que la aplicación está en producción, es importante seguir monitoreando su desempeño y recopilar retroalimentación de los usuarios. </a:t>
            </a:r>
          </a:p>
          <a:p>
            <a:r>
              <a:rPr lang="es-ES" dirty="0"/>
              <a:t>Esto permite identificar problemas inesperados y realizar ajustes según sea necesario para mejorar la experiencia del usuario.</a:t>
            </a:r>
          </a:p>
        </p:txBody>
      </p:sp>
      <p:pic>
        <p:nvPicPr>
          <p:cNvPr id="3" name="Marcador de posición de imagen 2">
            <a:extLst>
              <a:ext uri="{FF2B5EF4-FFF2-40B4-BE49-F238E27FC236}">
                <a16:creationId xmlns:a16="http://schemas.microsoft.com/office/drawing/2014/main" id="{B514D85B-6B1A-DEBC-88CF-309E72DDDE66}"/>
              </a:ext>
            </a:extLst>
          </p:cNvPr>
          <p:cNvPicPr>
            <a:picLocks noGrp="1" noChangeAspect="1"/>
          </p:cNvPicPr>
          <p:nvPr>
            <p:ph type="pic" sz="quarter" idx="10"/>
          </p:nvPr>
        </p:nvPicPr>
        <p:blipFill>
          <a:blip r:embed="rId3"/>
          <a:srcRect l="234" r="234"/>
          <a:stretch>
            <a:fillRect/>
          </a:stretch>
        </p:blipFill>
        <p:spPr>
          <a:xfrm>
            <a:off x="5325471" y="1148253"/>
            <a:ext cx="3457278" cy="3761884"/>
          </a:xfrm>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a:xfrm>
            <a:off x="468312" y="804863"/>
            <a:ext cx="5616000" cy="354012"/>
          </a:xfrm>
        </p:spPr>
        <p:txBody>
          <a:bodyPr/>
          <a:lstStyle/>
          <a:p>
            <a:r>
              <a:rPr lang="es-PE" dirty="0"/>
              <a:t>Monitoreo y retroalimentación posimplementación</a:t>
            </a:r>
          </a:p>
        </p:txBody>
      </p:sp>
    </p:spTree>
    <p:extLst>
      <p:ext uri="{BB962C8B-B14F-4D97-AF65-F5344CB8AC3E}">
        <p14:creationId xmlns:p14="http://schemas.microsoft.com/office/powerpoint/2010/main" val="1585887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a:xfrm>
            <a:off x="468312" y="804863"/>
            <a:ext cx="5616000" cy="354012"/>
          </a:xfrm>
        </p:spPr>
        <p:txBody>
          <a:bodyPr/>
          <a:lstStyle/>
          <a:p>
            <a:r>
              <a:rPr lang="es-PE" dirty="0"/>
              <a:t>Celebración de éxitos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GESTIÓN DEL CAMBIO</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103687" cy="2084510"/>
          </a:xfrm>
        </p:spPr>
        <p:txBody>
          <a:bodyPr/>
          <a:lstStyle/>
          <a:p>
            <a:r>
              <a:rPr lang="es-ES" dirty="0"/>
              <a:t>A medida que los usuarios se adaptan a la nueva aplicación y experimentan sus beneficios, es importante reconocer y celebrar los éxitos. </a:t>
            </a:r>
          </a:p>
          <a:p>
            <a:r>
              <a:rPr lang="es-ES" dirty="0"/>
              <a:t>Esto puede motivar a los usuarios a seguir utilizando la aplicación y aumentar la satisfacción general con el cambio.</a:t>
            </a:r>
          </a:p>
        </p:txBody>
      </p:sp>
      <p:pic>
        <p:nvPicPr>
          <p:cNvPr id="3" name="Marcador de posición de imagen 2">
            <a:extLst>
              <a:ext uri="{FF2B5EF4-FFF2-40B4-BE49-F238E27FC236}">
                <a16:creationId xmlns:a16="http://schemas.microsoft.com/office/drawing/2014/main" id="{154C86DC-D19E-733E-3EB2-D2D3B57E7400}"/>
              </a:ext>
            </a:extLst>
          </p:cNvPr>
          <p:cNvPicPr>
            <a:picLocks noGrp="1" noChangeAspect="1"/>
          </p:cNvPicPr>
          <p:nvPr>
            <p:ph type="pic" sz="quarter" idx="10"/>
          </p:nvPr>
        </p:nvPicPr>
        <p:blipFill>
          <a:blip r:embed="rId3"/>
          <a:srcRect l="118" r="118"/>
          <a:stretch>
            <a:fillRect/>
          </a:stretch>
        </p:blipFill>
        <p:spPr>
          <a:xfrm>
            <a:off x="5130497" y="1158875"/>
            <a:ext cx="3550651" cy="3863484"/>
          </a:xfrm>
        </p:spPr>
      </p:pic>
    </p:spTree>
    <p:extLst>
      <p:ext uri="{BB962C8B-B14F-4D97-AF65-F5344CB8AC3E}">
        <p14:creationId xmlns:p14="http://schemas.microsoft.com/office/powerpoint/2010/main" val="4266871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Plan de gestión del cambio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GESTIÓN DEL CAMBIO</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259995" cy="3460017"/>
          </a:xfrm>
        </p:spPr>
        <p:txBody>
          <a:bodyPr/>
          <a:lstStyle/>
          <a:p>
            <a:r>
              <a:rPr lang="es-ES" dirty="0"/>
              <a:t>Un plan de gestión del cambio bien estructurado y ejecutado es esencial para facilitar una transición exitosa hacia la nueva aplicación de software y garantizar que los usuarios adopten la nueva herramienta de manera efectiva.</a:t>
            </a:r>
          </a:p>
          <a:p>
            <a:r>
              <a:rPr lang="es-ES" dirty="0"/>
              <a:t>En la imagen, se sugiere una estructura para un plan de gestión del cambio durante la puesta en producción de una aplicación de software, misma que puede adaptarse según las necesidades y características específicas de la organización y del proyecto en cuestión.</a:t>
            </a:r>
          </a:p>
        </p:txBody>
      </p:sp>
      <p:pic>
        <p:nvPicPr>
          <p:cNvPr id="3" name="Marcador de posición de imagen 2">
            <a:extLst>
              <a:ext uri="{FF2B5EF4-FFF2-40B4-BE49-F238E27FC236}">
                <a16:creationId xmlns:a16="http://schemas.microsoft.com/office/drawing/2014/main" id="{5E813609-1023-9E48-85F2-5CAEE6FC8FCB}"/>
              </a:ext>
            </a:extLst>
          </p:cNvPr>
          <p:cNvPicPr>
            <a:picLocks noGrp="1" noChangeAspect="1"/>
          </p:cNvPicPr>
          <p:nvPr>
            <p:ph type="pic" sz="quarter" idx="10"/>
          </p:nvPr>
        </p:nvPicPr>
        <p:blipFill>
          <a:blip r:embed="rId3"/>
          <a:srcRect l="199" r="199"/>
          <a:stretch>
            <a:fillRect/>
          </a:stretch>
        </p:blipFill>
        <p:spPr>
          <a:xfrm>
            <a:off x="4878360" y="900967"/>
            <a:ext cx="3797328" cy="4131894"/>
          </a:xfrm>
        </p:spPr>
      </p:pic>
    </p:spTree>
    <p:extLst>
      <p:ext uri="{BB962C8B-B14F-4D97-AF65-F5344CB8AC3E}">
        <p14:creationId xmlns:p14="http://schemas.microsoft.com/office/powerpoint/2010/main" val="882565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4B664F2-7CB4-48B1-9096-E52469E94D93}"/>
              </a:ext>
            </a:extLst>
          </p:cNvPr>
          <p:cNvSpPr>
            <a:spLocks noGrp="1"/>
          </p:cNvSpPr>
          <p:nvPr>
            <p:ph type="body" sz="quarter" idx="10"/>
          </p:nvPr>
        </p:nvSpPr>
        <p:spPr>
          <a:xfrm>
            <a:off x="468314" y="3714842"/>
            <a:ext cx="5543549" cy="536728"/>
          </a:xfrm>
        </p:spPr>
        <p:txBody>
          <a:bodyPr/>
          <a:lstStyle/>
          <a:p>
            <a:pPr marL="274638" indent="-274638">
              <a:tabLst>
                <a:tab pos="274638" algn="l"/>
              </a:tabLst>
            </a:pPr>
            <a:r>
              <a:rPr lang="es-PE" dirty="0"/>
              <a:t>/	MANTENIMIENTO</a:t>
            </a:r>
          </a:p>
        </p:txBody>
      </p:sp>
    </p:spTree>
    <p:custDataLst>
      <p:tags r:id="rId1"/>
    </p:custDataLst>
    <p:extLst>
      <p:ext uri="{BB962C8B-B14F-4D97-AF65-F5344CB8AC3E}">
        <p14:creationId xmlns:p14="http://schemas.microsoft.com/office/powerpoint/2010/main" val="1021346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El proceso de mantenimiento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MANTENIMIENTO</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103687" cy="3186479"/>
          </a:xfrm>
        </p:spPr>
        <p:txBody>
          <a:bodyPr/>
          <a:lstStyle/>
          <a:p>
            <a:r>
              <a:rPr lang="es-ES" dirty="0"/>
              <a:t>El proceso de mantenimiento es una fase esencial en el ciclo de vida de una aplicación de software, ya que garantiza su funcionamiento óptimo y su adaptación a las necesidades cambiantes del negocio y los usuarios a lo largo del tiempo. </a:t>
            </a:r>
          </a:p>
          <a:p>
            <a:r>
              <a:rPr lang="es-ES" dirty="0"/>
              <a:t>Es un esfuerzo continuo e iterativo que busca corregir errores, mejorar el rendimiento, agregar nuevas funcionalidades y adaptar la aplicación a los cambios en el entorno operativo o en los requerimientos del negocio. </a:t>
            </a:r>
          </a:p>
        </p:txBody>
      </p:sp>
      <p:pic>
        <p:nvPicPr>
          <p:cNvPr id="3" name="Marcador de posición de imagen 2">
            <a:extLst>
              <a:ext uri="{FF2B5EF4-FFF2-40B4-BE49-F238E27FC236}">
                <a16:creationId xmlns:a16="http://schemas.microsoft.com/office/drawing/2014/main" id="{B53F1057-562C-2287-1634-3E9494F1C7F1}"/>
              </a:ext>
            </a:extLst>
          </p:cNvPr>
          <p:cNvPicPr>
            <a:picLocks noGrp="1" noChangeAspect="1"/>
          </p:cNvPicPr>
          <p:nvPr>
            <p:ph type="pic" sz="quarter" idx="10"/>
          </p:nvPr>
        </p:nvPicPr>
        <p:blipFill>
          <a:blip r:embed="rId3"/>
          <a:srcRect l="234" r="234"/>
          <a:stretch>
            <a:fillRect/>
          </a:stretch>
        </p:blipFill>
        <p:spPr>
          <a:xfrm>
            <a:off x="4942890" y="981869"/>
            <a:ext cx="3732798" cy="4061679"/>
          </a:xfrm>
        </p:spPr>
      </p:pic>
    </p:spTree>
    <p:extLst>
      <p:ext uri="{BB962C8B-B14F-4D97-AF65-F5344CB8AC3E}">
        <p14:creationId xmlns:p14="http://schemas.microsoft.com/office/powerpoint/2010/main" val="4172663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Tipos de mantenimiento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MANTENIMIENTO</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721102" cy="3249002"/>
          </a:xfrm>
        </p:spPr>
        <p:txBody>
          <a:bodyPr/>
          <a:lstStyle/>
          <a:p>
            <a:pPr>
              <a:spcAft>
                <a:spcPts val="600"/>
              </a:spcAft>
            </a:pPr>
            <a:r>
              <a:rPr lang="es-ES" dirty="0"/>
              <a:t>Existen varios tipos de mantenimiento:</a:t>
            </a:r>
          </a:p>
          <a:p>
            <a:pPr lvl="1">
              <a:spcAft>
                <a:spcPts val="600"/>
              </a:spcAft>
            </a:pPr>
            <a:r>
              <a:rPr lang="es-ES" dirty="0"/>
              <a:t>Mantenimiento correctivo.</a:t>
            </a:r>
          </a:p>
          <a:p>
            <a:pPr lvl="1">
              <a:spcAft>
                <a:spcPts val="600"/>
              </a:spcAft>
            </a:pPr>
            <a:r>
              <a:rPr lang="es-ES" dirty="0"/>
              <a:t>Mantenimiento adaptativo.</a:t>
            </a:r>
          </a:p>
          <a:p>
            <a:pPr lvl="1">
              <a:spcAft>
                <a:spcPts val="600"/>
              </a:spcAft>
            </a:pPr>
            <a:r>
              <a:rPr lang="es-ES" dirty="0"/>
              <a:t>Mantenimiento perfectivo.</a:t>
            </a:r>
          </a:p>
          <a:p>
            <a:pPr lvl="1"/>
            <a:r>
              <a:rPr lang="es-ES" dirty="0"/>
              <a:t>Mantenimiento preventivo.</a:t>
            </a:r>
          </a:p>
          <a:p>
            <a:r>
              <a:rPr lang="es-ES" dirty="0"/>
              <a:t>La combinación adecuada de estos tipos de mantenimiento asegura que la aplicación esté siempre actualizada, funcione de manera óptima y satisfaga las necesidades cambiantes de los usuarios y del negocio.</a:t>
            </a:r>
          </a:p>
        </p:txBody>
      </p:sp>
      <p:pic>
        <p:nvPicPr>
          <p:cNvPr id="3" name="Marcador de posición de imagen 2">
            <a:extLst>
              <a:ext uri="{FF2B5EF4-FFF2-40B4-BE49-F238E27FC236}">
                <a16:creationId xmlns:a16="http://schemas.microsoft.com/office/drawing/2014/main" id="{651A306C-7D48-0B8E-10B2-84C4E7AAB16D}"/>
              </a:ext>
            </a:extLst>
          </p:cNvPr>
          <p:cNvPicPr>
            <a:picLocks noGrp="1" noChangeAspect="1"/>
          </p:cNvPicPr>
          <p:nvPr>
            <p:ph type="pic" sz="quarter" idx="10"/>
          </p:nvPr>
        </p:nvPicPr>
        <p:blipFill>
          <a:blip r:embed="rId3"/>
          <a:srcRect l="2" r="2"/>
          <a:stretch>
            <a:fillRect/>
          </a:stretch>
        </p:blipFill>
        <p:spPr>
          <a:xfrm>
            <a:off x="5495953" y="1250460"/>
            <a:ext cx="3263349" cy="3550869"/>
          </a:xfrm>
        </p:spPr>
      </p:pic>
    </p:spTree>
    <p:extLst>
      <p:ext uri="{BB962C8B-B14F-4D97-AF65-F5344CB8AC3E}">
        <p14:creationId xmlns:p14="http://schemas.microsoft.com/office/powerpoint/2010/main" val="814335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Mantenimiento correctivo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MANTENIMIENTO</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400672" cy="3751262"/>
          </a:xfrm>
        </p:spPr>
        <p:txBody>
          <a:bodyPr/>
          <a:lstStyle/>
          <a:p>
            <a:pPr marL="0" indent="0">
              <a:buNone/>
            </a:pPr>
            <a:r>
              <a:rPr lang="es-ES" dirty="0"/>
              <a:t>Se enfoca en corregir errores y defectos que se descubren una vez que la aplicación está en producción. El objetivo es solucionar problemas para restaurar la funcionalidad de la aplicación.</a:t>
            </a:r>
          </a:p>
          <a:p>
            <a:pPr>
              <a:spcAft>
                <a:spcPts val="0"/>
              </a:spcAft>
            </a:pPr>
            <a:r>
              <a:rPr lang="es-ES" sz="1400" b="1" u="sng" dirty="0">
                <a:solidFill>
                  <a:srgbClr val="0070C0"/>
                </a:solidFill>
              </a:rPr>
              <a:t>Ejemplo:</a:t>
            </a:r>
            <a:r>
              <a:rPr lang="es-ES" sz="1400" dirty="0"/>
              <a:t> </a:t>
            </a:r>
            <a:r>
              <a:rPr lang="es-ES" sz="1400" dirty="0">
                <a:solidFill>
                  <a:schemeClr val="tx1">
                    <a:lumMod val="50000"/>
                    <a:lumOff val="50000"/>
                  </a:schemeClr>
                </a:solidFill>
              </a:rPr>
              <a:t>una empresa ha desarrollado una aplicación de </a:t>
            </a:r>
            <a:r>
              <a:rPr lang="es-ES" sz="1400" b="1" dirty="0">
                <a:solidFill>
                  <a:schemeClr val="tx1">
                    <a:lumMod val="50000"/>
                    <a:lumOff val="50000"/>
                  </a:schemeClr>
                </a:solidFill>
              </a:rPr>
              <a:t>gestión de inventario</a:t>
            </a:r>
            <a:r>
              <a:rPr lang="es-ES" sz="1400" dirty="0">
                <a:solidFill>
                  <a:schemeClr val="tx1">
                    <a:lumMod val="50000"/>
                    <a:lumOff val="50000"/>
                  </a:schemeClr>
                </a:solidFill>
              </a:rPr>
              <a:t>. </a:t>
            </a:r>
          </a:p>
          <a:p>
            <a:pPr marL="265113" lvl="1" indent="0">
              <a:spcAft>
                <a:spcPts val="0"/>
              </a:spcAft>
              <a:buNone/>
            </a:pPr>
            <a:r>
              <a:rPr lang="es-ES" sz="1400" dirty="0">
                <a:solidFill>
                  <a:schemeClr val="tx1">
                    <a:lumMod val="50000"/>
                    <a:lumOff val="50000"/>
                  </a:schemeClr>
                </a:solidFill>
              </a:rPr>
              <a:t>Los usuarios informan que, ocasionalmente, al registrar una entrada de productos, el sistema muestra un mensaje de error y la transacción no se completa.</a:t>
            </a:r>
          </a:p>
          <a:p>
            <a:pPr marL="265113" lvl="1" indent="0">
              <a:spcAft>
                <a:spcPts val="0"/>
              </a:spcAft>
              <a:buNone/>
            </a:pPr>
            <a:r>
              <a:rPr lang="es-ES" sz="1400" dirty="0">
                <a:solidFill>
                  <a:schemeClr val="tx1">
                    <a:lumMod val="50000"/>
                    <a:lumOff val="50000"/>
                  </a:schemeClr>
                </a:solidFill>
              </a:rPr>
              <a:t>El equipo de desarrollo realiza una investigación y descubre un bug en el código que impide la correcta inserción de datos.</a:t>
            </a:r>
          </a:p>
          <a:p>
            <a:pPr marL="265113" lvl="1" indent="0">
              <a:spcAft>
                <a:spcPts val="0"/>
              </a:spcAft>
              <a:buNone/>
            </a:pPr>
            <a:r>
              <a:rPr lang="es-ES" sz="1400" dirty="0">
                <a:solidFill>
                  <a:schemeClr val="tx1">
                    <a:lumMod val="50000"/>
                    <a:lumOff val="50000"/>
                  </a:schemeClr>
                </a:solidFill>
              </a:rPr>
              <a:t>El equipo </a:t>
            </a:r>
            <a:r>
              <a:rPr lang="es-ES" sz="1400" b="1" dirty="0">
                <a:solidFill>
                  <a:schemeClr val="tx1">
                    <a:lumMod val="50000"/>
                    <a:lumOff val="50000"/>
                  </a:schemeClr>
                </a:solidFill>
              </a:rPr>
              <a:t>corrige el error</a:t>
            </a:r>
            <a:r>
              <a:rPr lang="es-ES" sz="1400" dirty="0">
                <a:solidFill>
                  <a:schemeClr val="tx1">
                    <a:lumMod val="50000"/>
                    <a:lumOff val="50000"/>
                  </a:schemeClr>
                </a:solidFill>
              </a:rPr>
              <a:t> y despliega la solución para que los usuarios puedan seguir utilizando la aplicación sin problemas.</a:t>
            </a:r>
          </a:p>
        </p:txBody>
      </p:sp>
      <p:pic>
        <p:nvPicPr>
          <p:cNvPr id="3" name="Marcador de posición de imagen 2">
            <a:extLst>
              <a:ext uri="{FF2B5EF4-FFF2-40B4-BE49-F238E27FC236}">
                <a16:creationId xmlns:a16="http://schemas.microsoft.com/office/drawing/2014/main" id="{C3C97402-B413-3054-1117-9C323B6FE5A2}"/>
              </a:ext>
            </a:extLst>
          </p:cNvPr>
          <p:cNvPicPr>
            <a:picLocks noGrp="1" noChangeAspect="1"/>
          </p:cNvPicPr>
          <p:nvPr>
            <p:ph type="pic" sz="quarter" idx="10"/>
          </p:nvPr>
        </p:nvPicPr>
        <p:blipFill>
          <a:blip r:embed="rId3"/>
          <a:srcRect l="109" r="109"/>
          <a:stretch>
            <a:fillRect/>
          </a:stretch>
        </p:blipFill>
        <p:spPr>
          <a:xfrm>
            <a:off x="5105976" y="1158875"/>
            <a:ext cx="3715850" cy="4043238"/>
          </a:xfrm>
        </p:spPr>
      </p:pic>
    </p:spTree>
    <p:extLst>
      <p:ext uri="{BB962C8B-B14F-4D97-AF65-F5344CB8AC3E}">
        <p14:creationId xmlns:p14="http://schemas.microsoft.com/office/powerpoint/2010/main" val="3734166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Mantenimiento adaptativo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MANTENIMIENTO</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564795" cy="3452202"/>
          </a:xfrm>
        </p:spPr>
        <p:txBody>
          <a:bodyPr/>
          <a:lstStyle/>
          <a:p>
            <a:pPr marL="0" indent="0">
              <a:buNone/>
            </a:pPr>
            <a:r>
              <a:rPr lang="es-ES" dirty="0"/>
              <a:t>Se centra en realizar ajustes y modificaciones en la aplicación para adaptarla a cambios externos, como actualizaciones de sistemas operativos, cambios en regulaciones o normativas, o actualizaciones de hardware.</a:t>
            </a:r>
          </a:p>
          <a:p>
            <a:pPr>
              <a:spcAft>
                <a:spcPts val="600"/>
              </a:spcAft>
            </a:pPr>
            <a:r>
              <a:rPr lang="es-ES" sz="1400" b="1" u="sng" dirty="0">
                <a:solidFill>
                  <a:srgbClr val="0070C0"/>
                </a:solidFill>
              </a:rPr>
              <a:t>Ejemplo</a:t>
            </a:r>
            <a:r>
              <a:rPr lang="es-ES" sz="1400" b="1" i="1" u="sng" dirty="0">
                <a:solidFill>
                  <a:srgbClr val="0070C0"/>
                </a:solidFill>
              </a:rPr>
              <a:t>:</a:t>
            </a:r>
            <a:r>
              <a:rPr lang="es-ES" sz="1400" dirty="0">
                <a:solidFill>
                  <a:srgbClr val="0070C0"/>
                </a:solidFill>
              </a:rPr>
              <a:t> </a:t>
            </a:r>
            <a:r>
              <a:rPr lang="es-ES" sz="1400" dirty="0">
                <a:solidFill>
                  <a:schemeClr val="tx1">
                    <a:lumMod val="50000"/>
                    <a:lumOff val="50000"/>
                  </a:schemeClr>
                </a:solidFill>
              </a:rPr>
              <a:t>supongamos que una empresa tiene una aplicación de </a:t>
            </a:r>
            <a:r>
              <a:rPr lang="es-ES" sz="1400" b="1" dirty="0">
                <a:solidFill>
                  <a:schemeClr val="tx1">
                    <a:lumMod val="50000"/>
                    <a:lumOff val="50000"/>
                  </a:schemeClr>
                </a:solidFill>
              </a:rPr>
              <a:t>contabilidad</a:t>
            </a:r>
            <a:r>
              <a:rPr lang="es-ES" sz="1400" dirty="0">
                <a:solidFill>
                  <a:schemeClr val="tx1">
                    <a:lumMod val="50000"/>
                    <a:lumOff val="50000"/>
                  </a:schemeClr>
                </a:solidFill>
              </a:rPr>
              <a:t> que se ejecuta en una versión específica de un sistema operativo. </a:t>
            </a:r>
          </a:p>
          <a:p>
            <a:pPr marL="265113" lvl="1" indent="0">
              <a:spcAft>
                <a:spcPts val="600"/>
              </a:spcAft>
              <a:buNone/>
            </a:pPr>
            <a:r>
              <a:rPr lang="es-ES" sz="1400" dirty="0">
                <a:solidFill>
                  <a:schemeClr val="tx1">
                    <a:lumMod val="50000"/>
                    <a:lumOff val="50000"/>
                  </a:schemeClr>
                </a:solidFill>
              </a:rPr>
              <a:t>Recientemente, el sistema operativo ha lanzado una nueva versión con importantes cambios. </a:t>
            </a:r>
          </a:p>
          <a:p>
            <a:pPr marL="265113" lvl="1" indent="0">
              <a:spcAft>
                <a:spcPts val="600"/>
              </a:spcAft>
              <a:buNone/>
            </a:pPr>
            <a:r>
              <a:rPr lang="es-ES" sz="1400" dirty="0">
                <a:solidFill>
                  <a:schemeClr val="tx1">
                    <a:lumMod val="50000"/>
                    <a:lumOff val="50000"/>
                  </a:schemeClr>
                </a:solidFill>
              </a:rPr>
              <a:t>Para adaptar la aplicación, el equipo de desarrollo </a:t>
            </a:r>
            <a:r>
              <a:rPr lang="es-ES" sz="1400" b="1" dirty="0">
                <a:solidFill>
                  <a:schemeClr val="tx1">
                    <a:lumMod val="50000"/>
                    <a:lumOff val="50000"/>
                  </a:schemeClr>
                </a:solidFill>
              </a:rPr>
              <a:t>lleva a cabo modificaciones para que la aplicación funcione sin problemas</a:t>
            </a:r>
            <a:r>
              <a:rPr lang="es-ES" sz="1400" dirty="0">
                <a:solidFill>
                  <a:schemeClr val="tx1">
                    <a:lumMod val="50000"/>
                    <a:lumOff val="50000"/>
                  </a:schemeClr>
                </a:solidFill>
              </a:rPr>
              <a:t> en la nueva versión del sistema operativo.</a:t>
            </a:r>
          </a:p>
        </p:txBody>
      </p:sp>
      <p:pic>
        <p:nvPicPr>
          <p:cNvPr id="3" name="Marcador de posición de imagen 2">
            <a:extLst>
              <a:ext uri="{FF2B5EF4-FFF2-40B4-BE49-F238E27FC236}">
                <a16:creationId xmlns:a16="http://schemas.microsoft.com/office/drawing/2014/main" id="{9E699786-EBDD-B12C-A3B0-D07DB827D1F2}"/>
              </a:ext>
            </a:extLst>
          </p:cNvPr>
          <p:cNvPicPr>
            <a:picLocks noGrp="1" noChangeAspect="1"/>
          </p:cNvPicPr>
          <p:nvPr>
            <p:ph type="pic" sz="quarter" idx="10"/>
          </p:nvPr>
        </p:nvPicPr>
        <p:blipFill>
          <a:blip r:embed="rId3"/>
          <a:srcRect l="109" r="109"/>
          <a:stretch>
            <a:fillRect/>
          </a:stretch>
        </p:blipFill>
        <p:spPr>
          <a:xfrm>
            <a:off x="5376793" y="1158875"/>
            <a:ext cx="3507556" cy="3816592"/>
          </a:xfrm>
        </p:spPr>
      </p:pic>
    </p:spTree>
    <p:extLst>
      <p:ext uri="{BB962C8B-B14F-4D97-AF65-F5344CB8AC3E}">
        <p14:creationId xmlns:p14="http://schemas.microsoft.com/office/powerpoint/2010/main" val="4091019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Mantenimiento perfectivo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MANTENIMIENTO</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431933" cy="3751262"/>
          </a:xfrm>
        </p:spPr>
        <p:txBody>
          <a:bodyPr/>
          <a:lstStyle/>
          <a:p>
            <a:pPr marL="0" indent="0">
              <a:buNone/>
            </a:pPr>
            <a:r>
              <a:rPr lang="es-ES" dirty="0"/>
              <a:t>Consiste en realizar mejoras en la aplicación con el objetivo de mejorar su rendimiento, eficiencia o usabilidad, sin que haya errores o problemas identificados.</a:t>
            </a:r>
          </a:p>
          <a:p>
            <a:pPr>
              <a:spcAft>
                <a:spcPts val="600"/>
              </a:spcAft>
            </a:pPr>
            <a:r>
              <a:rPr lang="es-ES" sz="1400" b="1" u="sng" dirty="0">
                <a:solidFill>
                  <a:srgbClr val="0070C0"/>
                </a:solidFill>
              </a:rPr>
              <a:t>Ejemplo</a:t>
            </a:r>
            <a:r>
              <a:rPr lang="es-ES" sz="1400" b="1" dirty="0">
                <a:solidFill>
                  <a:srgbClr val="0070C0"/>
                </a:solidFill>
              </a:rPr>
              <a:t>: </a:t>
            </a:r>
            <a:r>
              <a:rPr lang="es-ES" sz="1400" dirty="0">
                <a:solidFill>
                  <a:schemeClr val="tx1">
                    <a:lumMod val="50000"/>
                    <a:lumOff val="50000"/>
                  </a:schemeClr>
                </a:solidFill>
              </a:rPr>
              <a:t>una empresa utiliza una aplicación de </a:t>
            </a:r>
            <a:r>
              <a:rPr lang="es-ES" sz="1400" b="1" dirty="0">
                <a:solidFill>
                  <a:schemeClr val="tx1">
                    <a:lumMod val="50000"/>
                    <a:lumOff val="50000"/>
                  </a:schemeClr>
                </a:solidFill>
              </a:rPr>
              <a:t>gestión de proyectos internos</a:t>
            </a:r>
            <a:r>
              <a:rPr lang="es-ES" sz="1400" dirty="0">
                <a:solidFill>
                  <a:schemeClr val="tx1">
                    <a:lumMod val="50000"/>
                    <a:lumOff val="50000"/>
                  </a:schemeClr>
                </a:solidFill>
              </a:rPr>
              <a:t>. </a:t>
            </a:r>
          </a:p>
          <a:p>
            <a:pPr marL="265113" lvl="1" indent="0">
              <a:spcAft>
                <a:spcPts val="600"/>
              </a:spcAft>
              <a:buNone/>
            </a:pPr>
            <a:r>
              <a:rPr lang="es-ES" sz="1400" dirty="0">
                <a:solidFill>
                  <a:schemeClr val="tx1">
                    <a:lumMod val="50000"/>
                    <a:lumOff val="50000"/>
                  </a:schemeClr>
                </a:solidFill>
              </a:rPr>
              <a:t>Los usuarios han sugerido que sería útil tener un </a:t>
            </a:r>
            <a:r>
              <a:rPr lang="es-ES" sz="1400" b="1" dirty="0">
                <a:solidFill>
                  <a:schemeClr val="tx1">
                    <a:lumMod val="50000"/>
                    <a:lumOff val="50000"/>
                  </a:schemeClr>
                </a:solidFill>
              </a:rPr>
              <a:t>tablero de control</a:t>
            </a:r>
            <a:r>
              <a:rPr lang="es-ES" sz="1400" dirty="0">
                <a:solidFill>
                  <a:schemeClr val="tx1">
                    <a:lumMod val="50000"/>
                    <a:lumOff val="50000"/>
                  </a:schemeClr>
                </a:solidFill>
              </a:rPr>
              <a:t> que muestre visualmente el progreso de los proyectos en tiempo real. </a:t>
            </a:r>
          </a:p>
          <a:p>
            <a:pPr marL="265113" lvl="1" indent="0">
              <a:spcAft>
                <a:spcPts val="600"/>
              </a:spcAft>
              <a:buNone/>
            </a:pPr>
            <a:r>
              <a:rPr lang="es-ES" sz="1400" dirty="0">
                <a:solidFill>
                  <a:schemeClr val="tx1">
                    <a:lumMod val="50000"/>
                    <a:lumOff val="50000"/>
                  </a:schemeClr>
                </a:solidFill>
              </a:rPr>
              <a:t>Aunque la aplicación funciona correctamente, </a:t>
            </a:r>
            <a:r>
              <a:rPr lang="es-ES" sz="1400" b="1" dirty="0">
                <a:solidFill>
                  <a:schemeClr val="tx1">
                    <a:lumMod val="50000"/>
                    <a:lumOff val="50000"/>
                  </a:schemeClr>
                </a:solidFill>
              </a:rPr>
              <a:t>para mejorar la experiencia del usuario</a:t>
            </a:r>
            <a:r>
              <a:rPr lang="es-ES" sz="1400" dirty="0">
                <a:solidFill>
                  <a:schemeClr val="tx1">
                    <a:lumMod val="50000"/>
                    <a:lumOff val="50000"/>
                  </a:schemeClr>
                </a:solidFill>
              </a:rPr>
              <a:t>, el equipo de desarrollo agrega esta funcionalidad adicional de un tablero de control para que los usuarios puedan obtener una visión rápida y visual de los proyectos en curso.</a:t>
            </a:r>
          </a:p>
        </p:txBody>
      </p:sp>
      <p:pic>
        <p:nvPicPr>
          <p:cNvPr id="6" name="Marcador de posición de imagen 5">
            <a:extLst>
              <a:ext uri="{FF2B5EF4-FFF2-40B4-BE49-F238E27FC236}">
                <a16:creationId xmlns:a16="http://schemas.microsoft.com/office/drawing/2014/main" id="{F722BB0C-0E03-7D0E-1341-FEE3DC5B691D}"/>
              </a:ext>
            </a:extLst>
          </p:cNvPr>
          <p:cNvPicPr>
            <a:picLocks noGrp="1" noChangeAspect="1"/>
          </p:cNvPicPr>
          <p:nvPr>
            <p:ph type="pic" sz="quarter" idx="10"/>
          </p:nvPr>
        </p:nvPicPr>
        <p:blipFill>
          <a:blip r:embed="rId3"/>
          <a:srcRect l="11" r="11"/>
          <a:stretch>
            <a:fillRect/>
          </a:stretch>
        </p:blipFill>
        <p:spPr>
          <a:xfrm>
            <a:off x="5165969" y="1158875"/>
            <a:ext cx="3515179" cy="3824886"/>
          </a:xfrm>
        </p:spPr>
      </p:pic>
    </p:spTree>
    <p:extLst>
      <p:ext uri="{BB962C8B-B14F-4D97-AF65-F5344CB8AC3E}">
        <p14:creationId xmlns:p14="http://schemas.microsoft.com/office/powerpoint/2010/main" val="547468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Mantenimiento preventivo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MANTENIMIENTO</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447564" cy="3374048"/>
          </a:xfrm>
        </p:spPr>
        <p:txBody>
          <a:bodyPr/>
          <a:lstStyle/>
          <a:p>
            <a:pPr marL="0" indent="0">
              <a:buNone/>
            </a:pPr>
            <a:r>
              <a:rPr lang="es-ES" dirty="0"/>
              <a:t>Este tipo de mantenimiento se enfoca en evitar problemas futuros realizando tareas como optimización de bases de datos, revisión de códigos para identificar posibles vulnerabilidades de seguridad, entre otras medidas preventivas.</a:t>
            </a:r>
          </a:p>
          <a:p>
            <a:pPr>
              <a:spcAft>
                <a:spcPts val="600"/>
              </a:spcAft>
            </a:pPr>
            <a:r>
              <a:rPr lang="es-ES" sz="1400" b="1" u="sng" dirty="0">
                <a:solidFill>
                  <a:srgbClr val="0070C0"/>
                </a:solidFill>
              </a:rPr>
              <a:t>Ejemplo</a:t>
            </a:r>
            <a:r>
              <a:rPr lang="es-ES" sz="1400" b="1" dirty="0">
                <a:solidFill>
                  <a:srgbClr val="0070C0"/>
                </a:solidFill>
              </a:rPr>
              <a:t>: </a:t>
            </a:r>
            <a:r>
              <a:rPr lang="es-ES" sz="1400" dirty="0"/>
              <a:t>u</a:t>
            </a:r>
            <a:r>
              <a:rPr lang="es-ES" sz="1400" dirty="0">
                <a:solidFill>
                  <a:schemeClr val="tx1">
                    <a:lumMod val="50000"/>
                    <a:lumOff val="50000"/>
                  </a:schemeClr>
                </a:solidFill>
              </a:rPr>
              <a:t>na empresa tiene una </a:t>
            </a:r>
            <a:r>
              <a:rPr lang="es-ES" sz="1400" b="1" dirty="0">
                <a:solidFill>
                  <a:schemeClr val="tx1">
                    <a:lumMod val="50000"/>
                    <a:lumOff val="50000"/>
                  </a:schemeClr>
                </a:solidFill>
              </a:rPr>
              <a:t>aplicación web</a:t>
            </a:r>
            <a:r>
              <a:rPr lang="es-ES" sz="1400" dirty="0">
                <a:solidFill>
                  <a:schemeClr val="tx1">
                    <a:lumMod val="50000"/>
                    <a:lumOff val="50000"/>
                  </a:schemeClr>
                </a:solidFill>
              </a:rPr>
              <a:t> que almacena datos de clientes, incluyendo información sensible. </a:t>
            </a:r>
          </a:p>
          <a:p>
            <a:pPr marL="265113" lvl="1" indent="0">
              <a:spcAft>
                <a:spcPts val="600"/>
              </a:spcAft>
              <a:buNone/>
            </a:pPr>
            <a:r>
              <a:rPr lang="es-ES" sz="1400" dirty="0">
                <a:solidFill>
                  <a:schemeClr val="tx1">
                    <a:lumMod val="50000"/>
                    <a:lumOff val="50000"/>
                  </a:schemeClr>
                </a:solidFill>
              </a:rPr>
              <a:t>Para evitar posibles </a:t>
            </a:r>
            <a:r>
              <a:rPr lang="es-ES" sz="1400" b="1" dirty="0">
                <a:solidFill>
                  <a:schemeClr val="tx1">
                    <a:lumMod val="50000"/>
                    <a:lumOff val="50000"/>
                  </a:schemeClr>
                </a:solidFill>
              </a:rPr>
              <a:t>brechas de seguridad</a:t>
            </a:r>
            <a:r>
              <a:rPr lang="es-ES" sz="1400" dirty="0">
                <a:solidFill>
                  <a:schemeClr val="tx1">
                    <a:lumMod val="50000"/>
                    <a:lumOff val="50000"/>
                  </a:schemeClr>
                </a:solidFill>
              </a:rPr>
              <a:t>, el equipo de desarrollo realiza auditorías periódicas del código para identificar posibles puntos débiles y aplica medidas preventivas como encriptación de datos y actualizaciones de librerías de seguridad.</a:t>
            </a:r>
          </a:p>
        </p:txBody>
      </p:sp>
      <p:pic>
        <p:nvPicPr>
          <p:cNvPr id="3" name="Marcador de posición de imagen 2">
            <a:extLst>
              <a:ext uri="{FF2B5EF4-FFF2-40B4-BE49-F238E27FC236}">
                <a16:creationId xmlns:a16="http://schemas.microsoft.com/office/drawing/2014/main" id="{1F1F990B-61A5-1748-0B64-85C1690EDB51}"/>
              </a:ext>
            </a:extLst>
          </p:cNvPr>
          <p:cNvPicPr>
            <a:picLocks noGrp="1" noChangeAspect="1"/>
          </p:cNvPicPr>
          <p:nvPr>
            <p:ph type="pic" sz="quarter" idx="10"/>
          </p:nvPr>
        </p:nvPicPr>
        <p:blipFill>
          <a:blip r:embed="rId3"/>
          <a:srcRect l="455" r="455"/>
          <a:stretch>
            <a:fillRect/>
          </a:stretch>
        </p:blipFill>
        <p:spPr>
          <a:xfrm>
            <a:off x="5150338" y="1099663"/>
            <a:ext cx="3624595" cy="3943943"/>
          </a:xfrm>
        </p:spPr>
      </p:pic>
    </p:spTree>
    <p:extLst>
      <p:ext uri="{BB962C8B-B14F-4D97-AF65-F5344CB8AC3E}">
        <p14:creationId xmlns:p14="http://schemas.microsoft.com/office/powerpoint/2010/main" val="1777926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4B664F2-7CB4-48B1-9096-E52469E94D93}"/>
              </a:ext>
            </a:extLst>
          </p:cNvPr>
          <p:cNvSpPr>
            <a:spLocks noGrp="1"/>
          </p:cNvSpPr>
          <p:nvPr>
            <p:ph type="body" sz="quarter" idx="10"/>
          </p:nvPr>
        </p:nvSpPr>
        <p:spPr>
          <a:xfrm>
            <a:off x="468314" y="3714842"/>
            <a:ext cx="5543549" cy="364790"/>
          </a:xfrm>
        </p:spPr>
        <p:txBody>
          <a:bodyPr/>
          <a:lstStyle/>
          <a:p>
            <a:pPr marL="274638" indent="-274638">
              <a:tabLst>
                <a:tab pos="274638" algn="l"/>
              </a:tabLst>
            </a:pPr>
            <a:r>
              <a:rPr lang="es-PE" dirty="0"/>
              <a:t>/	SOPORTE</a:t>
            </a:r>
          </a:p>
        </p:txBody>
      </p:sp>
    </p:spTree>
    <p:custDataLst>
      <p:tags r:id="rId1"/>
    </p:custDataLst>
    <p:extLst>
      <p:ext uri="{BB962C8B-B14F-4D97-AF65-F5344CB8AC3E}">
        <p14:creationId xmlns:p14="http://schemas.microsoft.com/office/powerpoint/2010/main" val="2715670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El proceso de soporte</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SOPORTE</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330333" cy="3499094"/>
          </a:xfrm>
        </p:spPr>
        <p:txBody>
          <a:bodyPr/>
          <a:lstStyle/>
          <a:p>
            <a:r>
              <a:rPr lang="es-ES" dirty="0"/>
              <a:t>Se refiere a la </a:t>
            </a:r>
            <a:r>
              <a:rPr lang="es-ES" b="1" dirty="0"/>
              <a:t>provisión de asistencia y atención a los usuarios</a:t>
            </a:r>
            <a:r>
              <a:rPr lang="es-ES" dirty="0"/>
              <a:t>, para resolver problemas, responder preguntas y brindar orientación relacionada con el uso y funcionamiento de la aplicación.</a:t>
            </a:r>
          </a:p>
          <a:p>
            <a:r>
              <a:rPr lang="es-ES" dirty="0"/>
              <a:t>Un buen soporte puede mejorar la satisfacción del cliente, aumentar la retención de usuarios y fortalecer la reputación de la empresa. Por lo tanto, es esencial contar con un equipo de soporte bien capacitado y comprometido para garantizar una experiencia positiva para los usuarios.</a:t>
            </a:r>
          </a:p>
        </p:txBody>
      </p:sp>
      <p:pic>
        <p:nvPicPr>
          <p:cNvPr id="8" name="Marcador de posición de imagen 7">
            <a:extLst>
              <a:ext uri="{FF2B5EF4-FFF2-40B4-BE49-F238E27FC236}">
                <a16:creationId xmlns:a16="http://schemas.microsoft.com/office/drawing/2014/main" id="{AF38619C-9CCF-36BF-AAC1-D58F65D5A0C7}"/>
              </a:ext>
            </a:extLst>
          </p:cNvPr>
          <p:cNvPicPr>
            <a:picLocks noGrp="1" noChangeAspect="1"/>
          </p:cNvPicPr>
          <p:nvPr>
            <p:ph type="pic" sz="quarter" idx="10"/>
          </p:nvPr>
        </p:nvPicPr>
        <p:blipFill>
          <a:blip r:embed="rId3"/>
          <a:srcRect l="234" r="234"/>
          <a:stretch>
            <a:fillRect/>
          </a:stretch>
        </p:blipFill>
        <p:spPr>
          <a:xfrm>
            <a:off x="5216687" y="1158875"/>
            <a:ext cx="3464461" cy="3769700"/>
          </a:xfrm>
        </p:spPr>
      </p:pic>
    </p:spTree>
    <p:extLst>
      <p:ext uri="{BB962C8B-B14F-4D97-AF65-F5344CB8AC3E}">
        <p14:creationId xmlns:p14="http://schemas.microsoft.com/office/powerpoint/2010/main" val="4059951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Atención de consultas y problemas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SOPORTE</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366080" cy="3904779"/>
          </a:xfrm>
        </p:spPr>
        <p:txBody>
          <a:bodyPr/>
          <a:lstStyle/>
          <a:p>
            <a:pPr marL="0" indent="0">
              <a:buNone/>
            </a:pPr>
            <a:r>
              <a:rPr lang="es-ES" dirty="0"/>
              <a:t>El soporte implica recibir, registrar y responder a las consultas y problemas que los usuarios reportan. </a:t>
            </a:r>
          </a:p>
          <a:p>
            <a:pPr marL="0" indent="0">
              <a:buNone/>
            </a:pPr>
            <a:r>
              <a:rPr lang="es-ES" dirty="0"/>
              <a:t>Esto puede incluir errores o fallos de la aplicación, preguntas sobre el funcionamiento de ciertas características, o cualquier otra dificultad que puedan enfrentar los usuarios al utilizar la aplicación.</a:t>
            </a:r>
          </a:p>
          <a:p>
            <a:pPr>
              <a:spcAft>
                <a:spcPts val="600"/>
              </a:spcAft>
            </a:pPr>
            <a:r>
              <a:rPr lang="es-ES" sz="1400" b="1" u="sng" dirty="0">
                <a:solidFill>
                  <a:srgbClr val="0070C0"/>
                </a:solidFill>
              </a:rPr>
              <a:t>Ejemplo:</a:t>
            </a:r>
            <a:r>
              <a:rPr lang="es-ES" sz="1400" dirty="0"/>
              <a:t> </a:t>
            </a:r>
            <a:r>
              <a:rPr lang="es-ES" sz="1400" dirty="0">
                <a:solidFill>
                  <a:schemeClr val="tx1">
                    <a:lumMod val="50000"/>
                    <a:lumOff val="50000"/>
                  </a:schemeClr>
                </a:solidFill>
              </a:rPr>
              <a:t>un usuario de una aplicación de servicio al cliente informa que está experimentando dificultades al enviar un formulario de contacto a través del sitio web de la empresa. </a:t>
            </a:r>
          </a:p>
          <a:p>
            <a:pPr marL="265113" lvl="1" indent="0">
              <a:spcAft>
                <a:spcPts val="600"/>
              </a:spcAft>
              <a:buNone/>
            </a:pPr>
            <a:r>
              <a:rPr lang="es-ES" sz="1400" dirty="0">
                <a:solidFill>
                  <a:schemeClr val="tx1">
                    <a:lumMod val="50000"/>
                    <a:lumOff val="50000"/>
                  </a:schemeClr>
                </a:solidFill>
              </a:rPr>
              <a:t>El equipo de soporte recibe la consulta y registra los detalles del problema para su análisis.</a:t>
            </a:r>
          </a:p>
        </p:txBody>
      </p:sp>
      <p:pic>
        <p:nvPicPr>
          <p:cNvPr id="3" name="Marcador de posición de imagen 2">
            <a:extLst>
              <a:ext uri="{FF2B5EF4-FFF2-40B4-BE49-F238E27FC236}">
                <a16:creationId xmlns:a16="http://schemas.microsoft.com/office/drawing/2014/main" id="{55F6E388-061D-E518-7731-11E9A13C4AA5}"/>
              </a:ext>
            </a:extLst>
          </p:cNvPr>
          <p:cNvPicPr>
            <a:picLocks noGrp="1" noChangeAspect="1"/>
          </p:cNvPicPr>
          <p:nvPr>
            <p:ph type="pic" sz="quarter" idx="10"/>
          </p:nvPr>
        </p:nvPicPr>
        <p:blipFill>
          <a:blip r:embed="rId3"/>
          <a:srcRect l="118" r="118"/>
          <a:stretch>
            <a:fillRect/>
          </a:stretch>
        </p:blipFill>
        <p:spPr>
          <a:xfrm>
            <a:off x="5228701" y="1073425"/>
            <a:ext cx="3667134" cy="3990229"/>
          </a:xfrm>
        </p:spPr>
      </p:pic>
    </p:spTree>
    <p:extLst>
      <p:ext uri="{BB962C8B-B14F-4D97-AF65-F5344CB8AC3E}">
        <p14:creationId xmlns:p14="http://schemas.microsoft.com/office/powerpoint/2010/main" val="690164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Canal de comunicación</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SOPORTE</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342226" cy="3627810"/>
          </a:xfrm>
        </p:spPr>
        <p:txBody>
          <a:bodyPr/>
          <a:lstStyle/>
          <a:p>
            <a:pPr marL="0" indent="0">
              <a:buNone/>
            </a:pPr>
            <a:r>
              <a:rPr lang="es-ES" dirty="0"/>
              <a:t>El soporte debe establecer canales de comunicación para que los usuarios puedan enviar sus consultas y problemas de manera fácil y efectiva. </a:t>
            </a:r>
          </a:p>
          <a:p>
            <a:pPr marL="0" indent="0">
              <a:buNone/>
            </a:pPr>
            <a:r>
              <a:rPr lang="es-ES" dirty="0"/>
              <a:t>Esto puede incluir sistemas de </a:t>
            </a:r>
            <a:r>
              <a:rPr lang="es-ES" i="1" dirty="0"/>
              <a:t>tickets</a:t>
            </a:r>
            <a:r>
              <a:rPr lang="es-ES" dirty="0"/>
              <a:t> de soporte, correos electrónicos dedicados, líneas telefónicas de ayuda o chat en vivo.</a:t>
            </a:r>
          </a:p>
          <a:p>
            <a:pPr>
              <a:spcAft>
                <a:spcPts val="600"/>
              </a:spcAft>
            </a:pPr>
            <a:r>
              <a:rPr lang="es-ES" sz="1400" b="1" u="sng" dirty="0">
                <a:solidFill>
                  <a:srgbClr val="0070C0"/>
                </a:solidFill>
              </a:rPr>
              <a:t>Ejemplo:</a:t>
            </a:r>
            <a:r>
              <a:rPr lang="es-ES" sz="1400" dirty="0">
                <a:solidFill>
                  <a:schemeClr val="tx1">
                    <a:lumMod val="50000"/>
                    <a:lumOff val="50000"/>
                  </a:schemeClr>
                </a:solidFill>
              </a:rPr>
              <a:t> una empresa de software ofrece un chat en vivo como canal de soporte para sus clientes. </a:t>
            </a:r>
          </a:p>
          <a:p>
            <a:pPr marL="265113" lvl="1" indent="0">
              <a:buNone/>
            </a:pPr>
            <a:r>
              <a:rPr lang="es-ES" sz="1400" dirty="0">
                <a:solidFill>
                  <a:schemeClr val="tx1">
                    <a:lumMod val="50000"/>
                    <a:lumOff val="50000"/>
                  </a:schemeClr>
                </a:solidFill>
              </a:rPr>
              <a:t>Los usuarios pueden acceder a este chat desde la página de soporte del sitio web para hacer preguntas, reportar problemas o buscar ayuda en tiempo real.</a:t>
            </a:r>
          </a:p>
        </p:txBody>
      </p:sp>
      <p:pic>
        <p:nvPicPr>
          <p:cNvPr id="3" name="Marcador de posición de imagen 2">
            <a:extLst>
              <a:ext uri="{FF2B5EF4-FFF2-40B4-BE49-F238E27FC236}">
                <a16:creationId xmlns:a16="http://schemas.microsoft.com/office/drawing/2014/main" id="{F1F87CA2-AB1E-099A-C021-24926BF9A705}"/>
              </a:ext>
            </a:extLst>
          </p:cNvPr>
          <p:cNvPicPr>
            <a:picLocks noGrp="1" noChangeAspect="1"/>
          </p:cNvPicPr>
          <p:nvPr>
            <p:ph type="pic" sz="quarter" idx="10"/>
          </p:nvPr>
        </p:nvPicPr>
        <p:blipFill>
          <a:blip r:embed="rId3"/>
          <a:srcRect t="86" b="86"/>
          <a:stretch>
            <a:fillRect/>
          </a:stretch>
        </p:blipFill>
        <p:spPr>
          <a:xfrm>
            <a:off x="5270838" y="1158875"/>
            <a:ext cx="3513677" cy="3823252"/>
          </a:xfrm>
        </p:spPr>
      </p:pic>
    </p:spTree>
    <p:extLst>
      <p:ext uri="{BB962C8B-B14F-4D97-AF65-F5344CB8AC3E}">
        <p14:creationId xmlns:p14="http://schemas.microsoft.com/office/powerpoint/2010/main" val="1392118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Priorización y resolución</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SOPORTE</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429690" cy="3890203"/>
          </a:xfrm>
        </p:spPr>
        <p:txBody>
          <a:bodyPr/>
          <a:lstStyle/>
          <a:p>
            <a:pPr marL="0" indent="0">
              <a:buNone/>
            </a:pPr>
            <a:r>
              <a:rPr lang="es-ES" dirty="0"/>
              <a:t>Una vez recibidas las consultas y problemas, el equipo de soporte debe </a:t>
            </a:r>
            <a:r>
              <a:rPr lang="es-ES" b="1" dirty="0"/>
              <a:t>priorizarlos en función de su gravedad</a:t>
            </a:r>
            <a:r>
              <a:rPr lang="es-ES" dirty="0"/>
              <a:t> y su impacto en los usuarios. </a:t>
            </a:r>
          </a:p>
          <a:p>
            <a:pPr marL="0" indent="0">
              <a:buNone/>
            </a:pPr>
            <a:r>
              <a:rPr lang="es-ES" dirty="0"/>
              <a:t>Los problemas críticos que afectan la funcionalidad básica de la aplicación deben ser resueltos con prontitud, mientras que las consultas menos urgentes pueden manejarse en un tiempo razonable.</a:t>
            </a:r>
          </a:p>
          <a:p>
            <a:pPr>
              <a:spcAft>
                <a:spcPts val="600"/>
              </a:spcAft>
            </a:pPr>
            <a:r>
              <a:rPr lang="es-ES" sz="1400" b="1" u="sng" dirty="0">
                <a:solidFill>
                  <a:srgbClr val="0070C0"/>
                </a:solidFill>
              </a:rPr>
              <a:t>Ejemplo:</a:t>
            </a:r>
            <a:r>
              <a:rPr lang="es-ES" sz="1400" dirty="0">
                <a:solidFill>
                  <a:schemeClr val="tx1">
                    <a:lumMod val="50000"/>
                    <a:lumOff val="50000"/>
                  </a:schemeClr>
                </a:solidFill>
              </a:rPr>
              <a:t> el equipo de soporte recibe múltiples consultas, pero identifica un problema crítico que impide a los usuarios acceder a ciertas áreas de la aplicación. </a:t>
            </a:r>
          </a:p>
          <a:p>
            <a:pPr marL="265113" lvl="1" indent="0">
              <a:spcAft>
                <a:spcPts val="600"/>
              </a:spcAft>
              <a:buNone/>
            </a:pPr>
            <a:r>
              <a:rPr lang="es-ES" sz="1400" dirty="0">
                <a:solidFill>
                  <a:schemeClr val="tx1">
                    <a:lumMod val="50000"/>
                    <a:lumOff val="50000"/>
                  </a:schemeClr>
                </a:solidFill>
              </a:rPr>
              <a:t>Deciden priorizar la resolución de este problema para minimizar el impacto en los usuarios.</a:t>
            </a:r>
          </a:p>
        </p:txBody>
      </p:sp>
      <p:pic>
        <p:nvPicPr>
          <p:cNvPr id="3" name="Marcador de posición de imagen 2">
            <a:extLst>
              <a:ext uri="{FF2B5EF4-FFF2-40B4-BE49-F238E27FC236}">
                <a16:creationId xmlns:a16="http://schemas.microsoft.com/office/drawing/2014/main" id="{43C8C531-558B-D213-3DF2-333B04269045}"/>
              </a:ext>
            </a:extLst>
          </p:cNvPr>
          <p:cNvPicPr>
            <a:picLocks noGrp="1" noChangeAspect="1"/>
          </p:cNvPicPr>
          <p:nvPr>
            <p:ph type="pic" sz="quarter" idx="10"/>
          </p:nvPr>
        </p:nvPicPr>
        <p:blipFill>
          <a:blip r:embed="rId3"/>
          <a:srcRect l="349" r="349"/>
          <a:stretch>
            <a:fillRect/>
          </a:stretch>
        </p:blipFill>
        <p:spPr>
          <a:xfrm>
            <a:off x="5272918" y="1158874"/>
            <a:ext cx="3575208" cy="3890204"/>
          </a:xfrm>
        </p:spPr>
      </p:pic>
    </p:spTree>
    <p:extLst>
      <p:ext uri="{BB962C8B-B14F-4D97-AF65-F5344CB8AC3E}">
        <p14:creationId xmlns:p14="http://schemas.microsoft.com/office/powerpoint/2010/main" val="2994294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Comunicación con los usuarios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SOPORTE</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485350" cy="3985619"/>
          </a:xfrm>
        </p:spPr>
        <p:txBody>
          <a:bodyPr/>
          <a:lstStyle/>
          <a:p>
            <a:pPr marL="0" indent="0">
              <a:buNone/>
            </a:pPr>
            <a:r>
              <a:rPr lang="es-ES" dirty="0"/>
              <a:t>Es importante mantener a los usuarios informados sobre el progreso de la resolución de sus problemas. </a:t>
            </a:r>
          </a:p>
          <a:p>
            <a:pPr marL="0" indent="0">
              <a:buNone/>
            </a:pPr>
            <a:r>
              <a:rPr lang="es-ES" dirty="0"/>
              <a:t>El equipo de soporte debe proporcionar actualizaciones periódicas y transparentes sobre el estado de las consultas para mantener a los usuarios informados y tranquilos.</a:t>
            </a:r>
          </a:p>
          <a:p>
            <a:pPr>
              <a:spcAft>
                <a:spcPts val="600"/>
              </a:spcAft>
            </a:pPr>
            <a:r>
              <a:rPr lang="es-ES" sz="1400" b="1" u="sng" dirty="0">
                <a:solidFill>
                  <a:srgbClr val="0070C0"/>
                </a:solidFill>
              </a:rPr>
              <a:t>Ejemplo:</a:t>
            </a:r>
            <a:r>
              <a:rPr lang="es-ES" sz="1400" dirty="0">
                <a:solidFill>
                  <a:schemeClr val="tx1">
                    <a:lumMod val="50000"/>
                    <a:lumOff val="50000"/>
                  </a:schemeClr>
                </a:solidFill>
              </a:rPr>
              <a:t> un usuario reporta un problema con el proceso de pago en una tienda en línea. </a:t>
            </a:r>
          </a:p>
          <a:p>
            <a:pPr marL="265113" lvl="1" indent="0">
              <a:spcAft>
                <a:spcPts val="600"/>
              </a:spcAft>
              <a:buNone/>
            </a:pPr>
            <a:r>
              <a:rPr lang="es-ES" sz="1400" dirty="0">
                <a:solidFill>
                  <a:schemeClr val="tx1">
                    <a:lumMod val="50000"/>
                    <a:lumOff val="50000"/>
                  </a:schemeClr>
                </a:solidFill>
              </a:rPr>
              <a:t>El equipo de soporte investiga el problema y proporciona actualizaciones periódicas al usuario sobre los avances en la solución. </a:t>
            </a:r>
          </a:p>
          <a:p>
            <a:pPr marL="265113" lvl="1" indent="0">
              <a:spcAft>
                <a:spcPts val="600"/>
              </a:spcAft>
              <a:buNone/>
            </a:pPr>
            <a:r>
              <a:rPr lang="es-ES" sz="1400" dirty="0">
                <a:solidFill>
                  <a:schemeClr val="tx1">
                    <a:lumMod val="50000"/>
                    <a:lumOff val="50000"/>
                  </a:schemeClr>
                </a:solidFill>
              </a:rPr>
              <a:t>Finalmente, informan al usuario que el problema ha sido resuelto y le agradecen por su paciencia.</a:t>
            </a:r>
          </a:p>
        </p:txBody>
      </p:sp>
      <p:pic>
        <p:nvPicPr>
          <p:cNvPr id="3" name="Marcador de posición de imagen 2">
            <a:extLst>
              <a:ext uri="{FF2B5EF4-FFF2-40B4-BE49-F238E27FC236}">
                <a16:creationId xmlns:a16="http://schemas.microsoft.com/office/drawing/2014/main" id="{3B3BB78A-3BFF-0861-991F-DDA1EA00F30F}"/>
              </a:ext>
            </a:extLst>
          </p:cNvPr>
          <p:cNvPicPr>
            <a:picLocks noGrp="1" noChangeAspect="1"/>
          </p:cNvPicPr>
          <p:nvPr>
            <p:ph type="pic" sz="quarter" idx="10"/>
          </p:nvPr>
        </p:nvPicPr>
        <p:blipFill>
          <a:blip r:embed="rId3"/>
          <a:srcRect l="118" r="118"/>
          <a:stretch>
            <a:fillRect/>
          </a:stretch>
        </p:blipFill>
        <p:spPr>
          <a:xfrm>
            <a:off x="5341113" y="1232451"/>
            <a:ext cx="3499062" cy="3807349"/>
          </a:xfrm>
        </p:spPr>
      </p:pic>
    </p:spTree>
    <p:extLst>
      <p:ext uri="{BB962C8B-B14F-4D97-AF65-F5344CB8AC3E}">
        <p14:creationId xmlns:p14="http://schemas.microsoft.com/office/powerpoint/2010/main" val="2881658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a:xfrm>
            <a:off x="468312" y="804863"/>
            <a:ext cx="4212000" cy="354012"/>
          </a:xfrm>
        </p:spPr>
        <p:txBody>
          <a:bodyPr/>
          <a:lstStyle/>
          <a:p>
            <a:r>
              <a:rPr lang="es-PE" dirty="0"/>
              <a:t>Documentación y base de conocimientos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SOPORTE</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103687" cy="3413125"/>
          </a:xfrm>
        </p:spPr>
        <p:txBody>
          <a:bodyPr/>
          <a:lstStyle/>
          <a:p>
            <a:pPr marL="0" indent="0">
              <a:buNone/>
            </a:pPr>
            <a:r>
              <a:rPr lang="es-ES" dirty="0"/>
              <a:t>Para agilizar el proceso de soporte y brindar respuestas más rápidas a las consultas comunes, es útil </a:t>
            </a:r>
            <a:r>
              <a:rPr lang="es-ES" b="1" dirty="0"/>
              <a:t>mantener una base de conocimientos actualizada</a:t>
            </a:r>
            <a:r>
              <a:rPr lang="es-ES" dirty="0"/>
              <a:t> con respuestas a preguntas frecuentes, guías de solución de problemas y otros recursos útiles para los usuarios.</a:t>
            </a:r>
          </a:p>
          <a:p>
            <a:pPr>
              <a:spcAft>
                <a:spcPts val="600"/>
              </a:spcAft>
            </a:pPr>
            <a:r>
              <a:rPr lang="es-ES" sz="1400" b="1" u="sng" dirty="0">
                <a:solidFill>
                  <a:srgbClr val="0070C0"/>
                </a:solidFill>
              </a:rPr>
              <a:t>Ejemplo:</a:t>
            </a:r>
            <a:r>
              <a:rPr lang="es-ES" sz="1400" dirty="0">
                <a:solidFill>
                  <a:schemeClr val="tx1">
                    <a:lumMod val="50000"/>
                    <a:lumOff val="50000"/>
                  </a:schemeClr>
                </a:solidFill>
              </a:rPr>
              <a:t> el equipo de soporte nota que muchos usuarios preguntan cómo restablecer su contraseña en la aplicación. </a:t>
            </a:r>
          </a:p>
          <a:p>
            <a:pPr marL="265113" lvl="1" indent="0">
              <a:spcAft>
                <a:spcPts val="600"/>
              </a:spcAft>
              <a:buNone/>
            </a:pPr>
            <a:r>
              <a:rPr lang="es-ES" sz="1400" dirty="0">
                <a:solidFill>
                  <a:schemeClr val="tx1">
                    <a:lumMod val="50000"/>
                    <a:lumOff val="50000"/>
                  </a:schemeClr>
                </a:solidFill>
              </a:rPr>
              <a:t>Para facilitar la asistencia, crean una guía paso a paso en la base de conocimientos que explica el proceso de restablecimiento de contraseña.</a:t>
            </a:r>
          </a:p>
        </p:txBody>
      </p:sp>
      <p:pic>
        <p:nvPicPr>
          <p:cNvPr id="3" name="Marcador de posición de imagen 2">
            <a:extLst>
              <a:ext uri="{FF2B5EF4-FFF2-40B4-BE49-F238E27FC236}">
                <a16:creationId xmlns:a16="http://schemas.microsoft.com/office/drawing/2014/main" id="{64CCBF56-B9CF-2E85-61EC-A73F1FD1EAE4}"/>
              </a:ext>
            </a:extLst>
          </p:cNvPr>
          <p:cNvPicPr>
            <a:picLocks noGrp="1" noChangeAspect="1"/>
          </p:cNvPicPr>
          <p:nvPr>
            <p:ph type="pic" sz="quarter" idx="10"/>
          </p:nvPr>
        </p:nvPicPr>
        <p:blipFill>
          <a:blip r:embed="rId3"/>
          <a:srcRect l="2" r="2"/>
          <a:stretch>
            <a:fillRect/>
          </a:stretch>
        </p:blipFill>
        <p:spPr/>
      </p:pic>
    </p:spTree>
    <p:extLst>
      <p:ext uri="{BB962C8B-B14F-4D97-AF65-F5344CB8AC3E}">
        <p14:creationId xmlns:p14="http://schemas.microsoft.com/office/powerpoint/2010/main" val="3212331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a:xfrm>
            <a:off x="468312" y="804863"/>
            <a:ext cx="4104000" cy="354012"/>
          </a:xfrm>
        </p:spPr>
        <p:txBody>
          <a:bodyPr/>
          <a:lstStyle/>
          <a:p>
            <a:r>
              <a:rPr lang="es-PE" dirty="0"/>
              <a:t>Escalamiento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SOPORTE</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103687" cy="3751262"/>
          </a:xfrm>
        </p:spPr>
        <p:txBody>
          <a:bodyPr/>
          <a:lstStyle/>
          <a:p>
            <a:pPr marL="0" indent="0">
              <a:buNone/>
            </a:pPr>
            <a:r>
              <a:rPr lang="es-ES" dirty="0"/>
              <a:t>Si un problema o consulta no puede ser resuelto por el equipo de soporte de nivel 1, se debe tener un </a:t>
            </a:r>
            <a:r>
              <a:rPr lang="es-ES" b="1" dirty="0"/>
              <a:t>proceso de escalamiento a niveles superiores de soporte</a:t>
            </a:r>
            <a:r>
              <a:rPr lang="es-ES" dirty="0"/>
              <a:t> o incluso al equipo de desarrollo, si es necesario. </a:t>
            </a:r>
          </a:p>
          <a:p>
            <a:pPr marL="0" indent="0">
              <a:buNone/>
            </a:pPr>
            <a:r>
              <a:rPr lang="es-ES" dirty="0"/>
              <a:t>Esto garantiza que los problemas más complejos sean atendidos adecuadamente.</a:t>
            </a:r>
          </a:p>
          <a:p>
            <a:pPr>
              <a:spcAft>
                <a:spcPts val="600"/>
              </a:spcAft>
            </a:pPr>
            <a:r>
              <a:rPr lang="es-ES" sz="1400" b="1" u="sng" dirty="0">
                <a:solidFill>
                  <a:srgbClr val="0070C0"/>
                </a:solidFill>
              </a:rPr>
              <a:t>Ejemplo:</a:t>
            </a:r>
            <a:r>
              <a:rPr lang="es-ES" sz="1400" dirty="0">
                <a:solidFill>
                  <a:schemeClr val="tx1">
                    <a:lumMod val="50000"/>
                    <a:lumOff val="50000"/>
                  </a:schemeClr>
                </a:solidFill>
              </a:rPr>
              <a:t> un usuario presenta un problema técnico complejo que el equipo de soporte no puede resolver directamente. </a:t>
            </a:r>
          </a:p>
          <a:p>
            <a:pPr marL="265113" lvl="1" indent="0">
              <a:spcAft>
                <a:spcPts val="600"/>
              </a:spcAft>
              <a:buNone/>
            </a:pPr>
            <a:r>
              <a:rPr lang="es-ES" sz="1400" dirty="0">
                <a:solidFill>
                  <a:schemeClr val="tx1">
                    <a:lumMod val="50000"/>
                    <a:lumOff val="50000"/>
                  </a:schemeClr>
                </a:solidFill>
              </a:rPr>
              <a:t>En este caso, el equipo de soporte escala el problema al equipo de desarrollo, proporcionando detalles completos y registros de diagnóstico para una investigación más profunda.</a:t>
            </a:r>
          </a:p>
        </p:txBody>
      </p:sp>
      <p:pic>
        <p:nvPicPr>
          <p:cNvPr id="3" name="Marcador de posición de imagen 2">
            <a:extLst>
              <a:ext uri="{FF2B5EF4-FFF2-40B4-BE49-F238E27FC236}">
                <a16:creationId xmlns:a16="http://schemas.microsoft.com/office/drawing/2014/main" id="{33EA98FF-77B8-F931-ED33-FDE995A32CE2}"/>
              </a:ext>
            </a:extLst>
          </p:cNvPr>
          <p:cNvPicPr>
            <a:picLocks noGrp="1" noChangeAspect="1"/>
          </p:cNvPicPr>
          <p:nvPr>
            <p:ph type="pic" sz="quarter" idx="10"/>
          </p:nvPr>
        </p:nvPicPr>
        <p:blipFill>
          <a:blip r:embed="rId3"/>
          <a:srcRect l="118" r="118"/>
          <a:stretch>
            <a:fillRect/>
          </a:stretch>
        </p:blipFill>
        <p:spPr/>
      </p:pic>
    </p:spTree>
    <p:extLst>
      <p:ext uri="{BB962C8B-B14F-4D97-AF65-F5344CB8AC3E}">
        <p14:creationId xmlns:p14="http://schemas.microsoft.com/office/powerpoint/2010/main" val="2614892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a:xfrm>
            <a:off x="468312" y="804863"/>
            <a:ext cx="4104000" cy="354012"/>
          </a:xfrm>
        </p:spPr>
        <p:txBody>
          <a:bodyPr/>
          <a:lstStyle/>
          <a:p>
            <a:r>
              <a:rPr lang="es-PE" i="1" dirty="0"/>
              <a:t>Feedback</a:t>
            </a:r>
            <a:r>
              <a:rPr lang="es-PE" dirty="0"/>
              <a:t> y mejora continua</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SOPORTE</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453544" cy="3751262"/>
          </a:xfrm>
        </p:spPr>
        <p:txBody>
          <a:bodyPr/>
          <a:lstStyle/>
          <a:p>
            <a:pPr marL="0" indent="0">
              <a:buNone/>
            </a:pPr>
            <a:r>
              <a:rPr lang="es-ES" dirty="0"/>
              <a:t>El equipo de soporte debe recopilar </a:t>
            </a:r>
            <a:r>
              <a:rPr lang="es-ES" i="1" dirty="0"/>
              <a:t>feedback </a:t>
            </a:r>
            <a:r>
              <a:rPr lang="es-ES" dirty="0"/>
              <a:t>de los usuarios sobre su experiencia de soporte y utilizar esta información para mejorar continuamente sus servicios. </a:t>
            </a:r>
          </a:p>
          <a:p>
            <a:pPr marL="0" indent="0">
              <a:buNone/>
            </a:pPr>
            <a:r>
              <a:rPr lang="es-ES" dirty="0"/>
              <a:t>La retroalimentación de los usuarios puede proporcionar ideas para mejorar la aplicación y el proceso de soporte en general.</a:t>
            </a:r>
          </a:p>
          <a:p>
            <a:pPr>
              <a:spcAft>
                <a:spcPts val="600"/>
              </a:spcAft>
            </a:pPr>
            <a:r>
              <a:rPr lang="es-ES" sz="1400" b="1" u="sng" dirty="0">
                <a:solidFill>
                  <a:srgbClr val="0070C0"/>
                </a:solidFill>
              </a:rPr>
              <a:t>Ejemplo:</a:t>
            </a:r>
            <a:r>
              <a:rPr lang="es-ES" sz="1400" dirty="0">
                <a:solidFill>
                  <a:schemeClr val="tx1">
                    <a:lumMod val="50000"/>
                    <a:lumOff val="50000"/>
                  </a:schemeClr>
                </a:solidFill>
              </a:rPr>
              <a:t> después de resolver una consulta sobre un error de navegación, el equipo de soporte solicita retroalimentación al usuario sobre su experiencia. </a:t>
            </a:r>
          </a:p>
          <a:p>
            <a:pPr marL="265113" lvl="1" indent="0">
              <a:spcAft>
                <a:spcPts val="600"/>
              </a:spcAft>
              <a:buNone/>
            </a:pPr>
            <a:r>
              <a:rPr lang="es-ES" sz="1400" dirty="0">
                <a:solidFill>
                  <a:schemeClr val="tx1">
                    <a:lumMod val="50000"/>
                    <a:lumOff val="50000"/>
                  </a:schemeClr>
                </a:solidFill>
              </a:rPr>
              <a:t>Basado en el </a:t>
            </a:r>
            <a:r>
              <a:rPr lang="es-ES" sz="1400" i="1" dirty="0">
                <a:solidFill>
                  <a:schemeClr val="tx1">
                    <a:lumMod val="50000"/>
                    <a:lumOff val="50000"/>
                  </a:schemeClr>
                </a:solidFill>
              </a:rPr>
              <a:t>feedback</a:t>
            </a:r>
            <a:r>
              <a:rPr lang="es-ES" sz="1400" dirty="0">
                <a:solidFill>
                  <a:schemeClr val="tx1">
                    <a:lumMod val="50000"/>
                    <a:lumOff val="50000"/>
                  </a:schemeClr>
                </a:solidFill>
              </a:rPr>
              <a:t> recibido, el equipo de soporte identifica oportunidades para mejorar la interfaz de usuario y la documentación para evitar confusiones similares en el futuro.</a:t>
            </a:r>
          </a:p>
        </p:txBody>
      </p:sp>
      <p:pic>
        <p:nvPicPr>
          <p:cNvPr id="3" name="Marcador de posición de imagen 2">
            <a:extLst>
              <a:ext uri="{FF2B5EF4-FFF2-40B4-BE49-F238E27FC236}">
                <a16:creationId xmlns:a16="http://schemas.microsoft.com/office/drawing/2014/main" id="{5BE7CD2F-9796-FC9B-2662-0C29D2E9502F}"/>
              </a:ext>
            </a:extLst>
          </p:cNvPr>
          <p:cNvPicPr>
            <a:picLocks noGrp="1" noChangeAspect="1"/>
          </p:cNvPicPr>
          <p:nvPr>
            <p:ph type="pic" sz="quarter" idx="10"/>
          </p:nvPr>
        </p:nvPicPr>
        <p:blipFill>
          <a:blip r:embed="rId3"/>
          <a:srcRect l="349" r="349"/>
          <a:stretch>
            <a:fillRect/>
          </a:stretch>
        </p:blipFill>
        <p:spPr>
          <a:xfrm>
            <a:off x="5291248" y="1158875"/>
            <a:ext cx="3564829" cy="3878911"/>
          </a:xfrm>
        </p:spPr>
      </p:pic>
    </p:spTree>
    <p:extLst>
      <p:ext uri="{BB962C8B-B14F-4D97-AF65-F5344CB8AC3E}">
        <p14:creationId xmlns:p14="http://schemas.microsoft.com/office/powerpoint/2010/main" val="12009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a:xfrm>
            <a:off x="468312" y="804863"/>
            <a:ext cx="4104000" cy="354012"/>
          </a:xfrm>
        </p:spPr>
        <p:txBody>
          <a:bodyPr/>
          <a:lstStyle/>
          <a:p>
            <a:r>
              <a:rPr lang="es-PE" dirty="0"/>
              <a:t>Disponibilidad y horarios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SOPORTE</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326324" cy="3826593"/>
          </a:xfrm>
        </p:spPr>
        <p:txBody>
          <a:bodyPr/>
          <a:lstStyle/>
          <a:p>
            <a:pPr marL="0" indent="0">
              <a:buNone/>
            </a:pPr>
            <a:r>
              <a:rPr lang="es-ES" dirty="0"/>
              <a:t>El soporte debe estar </a:t>
            </a:r>
            <a:r>
              <a:rPr lang="es-ES" b="1" dirty="0"/>
              <a:t>disponible</a:t>
            </a:r>
            <a:r>
              <a:rPr lang="es-ES" dirty="0"/>
              <a:t> durante las horas de operación acordadas para garantizar que los usuarios puedan recibir asistencia cuando lo necesiten. </a:t>
            </a:r>
          </a:p>
          <a:p>
            <a:pPr marL="0" indent="0">
              <a:buNone/>
            </a:pPr>
            <a:r>
              <a:rPr lang="es-ES" dirty="0"/>
              <a:t>Esto puede incluir soporte fuera del horario laboral si la aplicación se utiliza en diferentes zonas horarias o para resolver problemas urgentes.</a:t>
            </a:r>
          </a:p>
          <a:p>
            <a:pPr>
              <a:spcAft>
                <a:spcPts val="600"/>
              </a:spcAft>
            </a:pPr>
            <a:r>
              <a:rPr lang="es-ES" sz="1400" b="1" u="sng" dirty="0">
                <a:solidFill>
                  <a:srgbClr val="0070C0"/>
                </a:solidFill>
              </a:rPr>
              <a:t>Ejemplo:</a:t>
            </a:r>
            <a:r>
              <a:rPr lang="es-ES" sz="1400" dirty="0">
                <a:solidFill>
                  <a:schemeClr val="tx1">
                    <a:lumMod val="50000"/>
                    <a:lumOff val="50000"/>
                  </a:schemeClr>
                </a:solidFill>
              </a:rPr>
              <a:t> un proveedor de software que tiene clientes en diferentes zonas horarias ofrece soporte 24/7. </a:t>
            </a:r>
          </a:p>
          <a:p>
            <a:pPr marL="265113" lvl="1" indent="0">
              <a:spcAft>
                <a:spcPts val="600"/>
              </a:spcAft>
              <a:buNone/>
            </a:pPr>
            <a:r>
              <a:rPr lang="es-ES" sz="1400" dirty="0">
                <a:solidFill>
                  <a:schemeClr val="tx1">
                    <a:lumMod val="50000"/>
                    <a:lumOff val="50000"/>
                  </a:schemeClr>
                </a:solidFill>
              </a:rPr>
              <a:t>Si un cliente en una zona horaria diferente encuentra un problema en medio de la noche, puede contactar al equipo de soporte para recibir ayuda inmediata.</a:t>
            </a:r>
          </a:p>
        </p:txBody>
      </p:sp>
      <p:pic>
        <p:nvPicPr>
          <p:cNvPr id="3" name="Marcador de posición de imagen 2">
            <a:extLst>
              <a:ext uri="{FF2B5EF4-FFF2-40B4-BE49-F238E27FC236}">
                <a16:creationId xmlns:a16="http://schemas.microsoft.com/office/drawing/2014/main" id="{96B0128C-2FE1-E1A1-0D16-BA85252B5E55}"/>
              </a:ext>
            </a:extLst>
          </p:cNvPr>
          <p:cNvPicPr>
            <a:picLocks noGrp="1" noChangeAspect="1"/>
          </p:cNvPicPr>
          <p:nvPr>
            <p:ph type="pic" sz="quarter" idx="10"/>
          </p:nvPr>
        </p:nvPicPr>
        <p:blipFill>
          <a:blip r:embed="rId3"/>
          <a:srcRect l="349" r="349"/>
          <a:stretch>
            <a:fillRect/>
          </a:stretch>
        </p:blipFill>
        <p:spPr>
          <a:xfrm>
            <a:off x="5121470" y="1158875"/>
            <a:ext cx="3623289" cy="3942521"/>
          </a:xfrm>
        </p:spPr>
      </p:pic>
    </p:spTree>
    <p:extLst>
      <p:ext uri="{BB962C8B-B14F-4D97-AF65-F5344CB8AC3E}">
        <p14:creationId xmlns:p14="http://schemas.microsoft.com/office/powerpoint/2010/main" val="3854449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4B664F2-7CB4-48B1-9096-E52469E94D93}"/>
              </a:ext>
            </a:extLst>
          </p:cNvPr>
          <p:cNvSpPr>
            <a:spLocks noGrp="1"/>
          </p:cNvSpPr>
          <p:nvPr>
            <p:ph type="body" sz="quarter" idx="10"/>
          </p:nvPr>
        </p:nvSpPr>
        <p:spPr>
          <a:xfrm>
            <a:off x="468314" y="3714842"/>
            <a:ext cx="5543549" cy="547058"/>
          </a:xfrm>
        </p:spPr>
        <p:txBody>
          <a:bodyPr/>
          <a:lstStyle/>
          <a:p>
            <a:pPr marL="274638" indent="-274638">
              <a:tabLst>
                <a:tab pos="274638" algn="l"/>
              </a:tabLst>
            </a:pPr>
            <a:r>
              <a:rPr lang="es-PE" dirty="0"/>
              <a:t>/	EVALUACIÓN DE LA SOLUCIÓN</a:t>
            </a:r>
          </a:p>
        </p:txBody>
      </p:sp>
    </p:spTree>
    <p:custDataLst>
      <p:tags r:id="rId1"/>
    </p:custDataLst>
    <p:extLst>
      <p:ext uri="{BB962C8B-B14F-4D97-AF65-F5344CB8AC3E}">
        <p14:creationId xmlns:p14="http://schemas.microsoft.com/office/powerpoint/2010/main" val="2454440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posición de imagen 4">
            <a:extLst>
              <a:ext uri="{FF2B5EF4-FFF2-40B4-BE49-F238E27FC236}">
                <a16:creationId xmlns:a16="http://schemas.microsoft.com/office/drawing/2014/main" id="{FB26DFE4-D68F-FADA-AA8A-0501A6332E3A}"/>
              </a:ext>
            </a:extLst>
          </p:cNvPr>
          <p:cNvPicPr>
            <a:picLocks noGrp="1" noChangeAspect="1"/>
          </p:cNvPicPr>
          <p:nvPr>
            <p:ph type="pic" sz="quarter" idx="10"/>
          </p:nvPr>
        </p:nvPicPr>
        <p:blipFill>
          <a:blip r:embed="rId3"/>
          <a:srcRect t="310" b="310"/>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Área de conocimiento BABOK® </a:t>
            </a:r>
            <a:r>
              <a:rPr lang="es-PE" dirty="0">
                <a:latin typeface="Delius" panose="02000603000000000000" pitchFamily="2" charset="0"/>
              </a:rPr>
              <a:t>→ </a:t>
            </a:r>
            <a:r>
              <a:rPr lang="es-PE" dirty="0"/>
              <a:t>evaluación de la solución</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EVALUACIÓN DE LA SOLUCIÓN</a:t>
            </a:r>
          </a:p>
        </p:txBody>
      </p:sp>
      <p:sp>
        <p:nvSpPr>
          <p:cNvPr id="2" name="Marcador de texto 1">
            <a:extLst>
              <a:ext uri="{FF2B5EF4-FFF2-40B4-BE49-F238E27FC236}">
                <a16:creationId xmlns:a16="http://schemas.microsoft.com/office/drawing/2014/main" id="{192A0349-9565-4745-050D-42D1EB8C9CE3}"/>
              </a:ext>
            </a:extLst>
          </p:cNvPr>
          <p:cNvSpPr>
            <a:spLocks noGrp="1"/>
          </p:cNvSpPr>
          <p:nvPr>
            <p:ph type="body" sz="quarter" idx="14"/>
          </p:nvPr>
        </p:nvSpPr>
        <p:spPr>
          <a:xfrm>
            <a:off x="468313" y="1182025"/>
            <a:ext cx="8207375" cy="2054156"/>
          </a:xfrm>
        </p:spPr>
        <p:txBody>
          <a:bodyPr/>
          <a:lstStyle/>
          <a:p>
            <a:pPr>
              <a:spcAft>
                <a:spcPts val="600"/>
              </a:spcAft>
            </a:pPr>
            <a:r>
              <a:rPr lang="es-ES" dirty="0"/>
              <a:t>Describe tareas que analizan el valor real que se entrega, identifica las limitaciones que pueden estar impidiendo que se realice el valor y hace recomendaciones para aumentar el valor de la solución. Esta área de conocimiento comprende los procesos de: </a:t>
            </a:r>
          </a:p>
          <a:p>
            <a:pPr lvl="1">
              <a:spcAft>
                <a:spcPts val="0"/>
              </a:spcAft>
            </a:pPr>
            <a:r>
              <a:rPr lang="es-ES" dirty="0"/>
              <a:t>Medir el rendimiento de la solución.</a:t>
            </a:r>
          </a:p>
          <a:p>
            <a:pPr lvl="1">
              <a:spcAft>
                <a:spcPts val="0"/>
              </a:spcAft>
            </a:pPr>
            <a:r>
              <a:rPr lang="es-ES" dirty="0"/>
              <a:t>Analizar las medidas de rendimiento.</a:t>
            </a:r>
            <a:endParaRPr lang="es-ES" i="1" dirty="0">
              <a:solidFill>
                <a:schemeClr val="tx1">
                  <a:lumMod val="50000"/>
                  <a:lumOff val="50000"/>
                </a:schemeClr>
              </a:solidFill>
            </a:endParaRPr>
          </a:p>
          <a:p>
            <a:pPr lvl="1">
              <a:spcAft>
                <a:spcPts val="0"/>
              </a:spcAft>
            </a:pPr>
            <a:r>
              <a:rPr lang="es-ES" dirty="0"/>
              <a:t>Evaluar las limitaciones de la solución.</a:t>
            </a:r>
            <a:endParaRPr lang="es-ES" i="1" dirty="0"/>
          </a:p>
          <a:p>
            <a:pPr lvl="1">
              <a:spcAft>
                <a:spcPts val="0"/>
              </a:spcAft>
            </a:pPr>
            <a:r>
              <a:rPr lang="es-ES" dirty="0"/>
              <a:t>Evaluar las limitaciones de la empresa.</a:t>
            </a:r>
          </a:p>
          <a:p>
            <a:pPr lvl="1">
              <a:spcAft>
                <a:spcPts val="0"/>
              </a:spcAft>
            </a:pPr>
            <a:r>
              <a:rPr lang="es-ES" dirty="0"/>
              <a:t>Recomendar acciones para aumentar el valor de la solución.</a:t>
            </a:r>
          </a:p>
          <a:p>
            <a:endParaRPr lang="es-ES" dirty="0"/>
          </a:p>
        </p:txBody>
      </p:sp>
    </p:spTree>
    <p:extLst>
      <p:ext uri="{BB962C8B-B14F-4D97-AF65-F5344CB8AC3E}">
        <p14:creationId xmlns:p14="http://schemas.microsoft.com/office/powerpoint/2010/main" val="77712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a:xfrm>
            <a:off x="587582" y="1528432"/>
            <a:ext cx="4103687" cy="354012"/>
          </a:xfrm>
        </p:spPr>
        <p:txBody>
          <a:bodyPr/>
          <a:lstStyle/>
          <a:p>
            <a:r>
              <a:rPr lang="es-PE" dirty="0"/>
              <a:t>Objetivo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a:xfrm>
            <a:off x="587582" y="1092312"/>
            <a:ext cx="4604619" cy="354012"/>
          </a:xfrm>
        </p:spPr>
        <p:txBody>
          <a:bodyPr/>
          <a:lstStyle/>
          <a:p>
            <a:r>
              <a:rPr lang="es-ES" dirty="0"/>
              <a:t>Medir el rendimiento de la solución</a:t>
            </a:r>
            <a:endParaRPr lang="es-PE" dirty="0"/>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500297" y="1964552"/>
            <a:ext cx="4509204" cy="2705459"/>
          </a:xfrm>
        </p:spPr>
        <p:txBody>
          <a:bodyPr/>
          <a:lstStyle/>
          <a:p>
            <a:r>
              <a:rPr lang="es-ES" dirty="0"/>
              <a:t>Definir medidas de rendimiento y utilizar los datos recopilados para evaluar la eficacia de una solución en relación con el valor que aporta.</a:t>
            </a:r>
          </a:p>
          <a:p>
            <a:pPr>
              <a:spcAft>
                <a:spcPts val="600"/>
              </a:spcAft>
            </a:pPr>
            <a:r>
              <a:rPr lang="es-ES" dirty="0"/>
              <a:t>Se debe de tener en cuenta lo siguiente:</a:t>
            </a:r>
          </a:p>
          <a:p>
            <a:pPr lvl="1">
              <a:spcAft>
                <a:spcPts val="600"/>
              </a:spcAft>
              <a:buFont typeface="+mj-lt"/>
              <a:buAutoNum type="arabicPeriod"/>
            </a:pPr>
            <a:r>
              <a:rPr lang="es-ES" dirty="0"/>
              <a:t>Definir medidas de rendimiento de la solución.</a:t>
            </a:r>
          </a:p>
          <a:p>
            <a:pPr lvl="1">
              <a:spcAft>
                <a:spcPts val="600"/>
              </a:spcAft>
              <a:buFont typeface="+mj-lt"/>
              <a:buAutoNum type="arabicPeriod"/>
            </a:pPr>
            <a:r>
              <a:rPr lang="es-ES" dirty="0"/>
              <a:t>Validar medidas de rendimiento.</a:t>
            </a:r>
          </a:p>
          <a:p>
            <a:pPr lvl="1">
              <a:spcAft>
                <a:spcPts val="600"/>
              </a:spcAft>
              <a:buFont typeface="+mj-lt"/>
              <a:buAutoNum type="arabicPeriod"/>
            </a:pPr>
            <a:r>
              <a:rPr lang="es-ES" dirty="0"/>
              <a:t>Recolectar medidas de desempeño.</a:t>
            </a:r>
            <a:endParaRPr lang="es-PE" dirty="0"/>
          </a:p>
        </p:txBody>
      </p:sp>
      <p:pic>
        <p:nvPicPr>
          <p:cNvPr id="8" name="Marcador de posición de imagen 7">
            <a:extLst>
              <a:ext uri="{FF2B5EF4-FFF2-40B4-BE49-F238E27FC236}">
                <a16:creationId xmlns:a16="http://schemas.microsoft.com/office/drawing/2014/main" id="{3F62D7C8-C010-3179-0A66-453317F4BCAA}"/>
              </a:ext>
            </a:extLst>
          </p:cNvPr>
          <p:cNvPicPr>
            <a:picLocks noGrp="1" noChangeAspect="1"/>
          </p:cNvPicPr>
          <p:nvPr>
            <p:ph type="pic" sz="quarter" idx="10"/>
          </p:nvPr>
        </p:nvPicPr>
        <p:blipFill>
          <a:blip r:embed="rId3"/>
          <a:srcRect t="86" b="86"/>
          <a:stretch>
            <a:fillRect/>
          </a:stretch>
        </p:blipFill>
        <p:spPr>
          <a:xfrm>
            <a:off x="5447002" y="1158875"/>
            <a:ext cx="3228685" cy="3513151"/>
          </a:xfrm>
        </p:spPr>
      </p:pic>
      <p:sp>
        <p:nvSpPr>
          <p:cNvPr id="6" name="Marcador de texto 12">
            <a:extLst>
              <a:ext uri="{FF2B5EF4-FFF2-40B4-BE49-F238E27FC236}">
                <a16:creationId xmlns:a16="http://schemas.microsoft.com/office/drawing/2014/main" id="{5E166BAC-E352-4B75-AC79-A4F46330BFFD}"/>
              </a:ext>
            </a:extLst>
          </p:cNvPr>
          <p:cNvSpPr txBox="1">
            <a:spLocks/>
          </p:cNvSpPr>
          <p:nvPr/>
        </p:nvSpPr>
        <p:spPr>
          <a:xfrm>
            <a:off x="468313" y="277813"/>
            <a:ext cx="8207375" cy="354012"/>
          </a:xfrm>
          <a:prstGeom prst="rect">
            <a:avLst/>
          </a:prstGeom>
        </p:spPr>
        <p:txBody>
          <a:bodyPr lIns="72000" tIns="36000" rIns="72000" bIns="36000"/>
          <a:lstStyle>
            <a:lvl1pPr marL="0" indent="0" algn="l" defTabSz="457200" rtl="0" eaLnBrk="1" latinLnBrk="0" hangingPunct="1">
              <a:spcBef>
                <a:spcPct val="20000"/>
              </a:spcBef>
              <a:buFont typeface="Arial"/>
              <a:buNone/>
              <a:defRPr sz="1800" b="1" kern="1200">
                <a:solidFill>
                  <a:srgbClr val="1F85A6"/>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s-PE"/>
              <a:t>/ EVALUACIÓN DE LA SOLUCIÓN</a:t>
            </a:r>
            <a:endParaRPr lang="es-PE" dirty="0"/>
          </a:p>
        </p:txBody>
      </p:sp>
    </p:spTree>
    <p:extLst>
      <p:ext uri="{BB962C8B-B14F-4D97-AF65-F5344CB8AC3E}">
        <p14:creationId xmlns:p14="http://schemas.microsoft.com/office/powerpoint/2010/main" val="1937417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Marcador de posición de imagen 2">
            <a:extLst>
              <a:ext uri="{FF2B5EF4-FFF2-40B4-BE49-F238E27FC236}">
                <a16:creationId xmlns:a16="http://schemas.microsoft.com/office/drawing/2014/main" id="{DBBC4BF9-23BB-A3F6-4EA9-77E304C95F65}"/>
              </a:ext>
            </a:extLst>
          </p:cNvPr>
          <p:cNvPicPr>
            <a:picLocks noGrp="1" noChangeAspect="1"/>
          </p:cNvPicPr>
          <p:nvPr>
            <p:ph type="pic" sz="quarter" idx="10"/>
          </p:nvPr>
        </p:nvPicPr>
        <p:blipFill>
          <a:blip r:embed="rId3">
            <a:clrChange>
              <a:clrFrom>
                <a:srgbClr val="D9D9D9"/>
              </a:clrFrom>
              <a:clrTo>
                <a:srgbClr val="D9D9D9">
                  <a:alpha val="0"/>
                </a:srgbClr>
              </a:clrTo>
            </a:clrChange>
          </a:blip>
          <a:srcRect t="310" b="310"/>
          <a:stretch>
            <a:fillRect/>
          </a:stretch>
        </p:blipFill>
        <p:spPr/>
      </p:pic>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a:xfrm>
            <a:off x="465137" y="804863"/>
            <a:ext cx="4493301" cy="354012"/>
          </a:xfrm>
        </p:spPr>
        <p:txBody>
          <a:bodyPr/>
          <a:lstStyle/>
          <a:p>
            <a:r>
              <a:rPr lang="es-PE" dirty="0"/>
              <a:t>Medir el rendimiento de la solución</a:t>
            </a:r>
          </a:p>
        </p:txBody>
      </p:sp>
      <p:sp>
        <p:nvSpPr>
          <p:cNvPr id="10" name="Marcador de texto 9">
            <a:extLst>
              <a:ext uri="{FF2B5EF4-FFF2-40B4-BE49-F238E27FC236}">
                <a16:creationId xmlns:a16="http://schemas.microsoft.com/office/drawing/2014/main" id="{A7762432-2400-C1CE-F508-0D6F157FCE60}"/>
              </a:ext>
            </a:extLst>
          </p:cNvPr>
          <p:cNvSpPr>
            <a:spLocks noGrp="1"/>
          </p:cNvSpPr>
          <p:nvPr>
            <p:ph type="body" sz="quarter" idx="14"/>
          </p:nvPr>
        </p:nvSpPr>
        <p:spPr/>
        <p:txBody>
          <a:bodyPr/>
          <a:lstStyle/>
          <a:p>
            <a:r>
              <a:rPr lang="es-ES" dirty="0"/>
              <a:t>Criterios de evaluación y aceptación</a:t>
            </a:r>
          </a:p>
          <a:p>
            <a:r>
              <a:rPr lang="es-ES" i="1" dirty="0"/>
              <a:t>Benchmarking</a:t>
            </a:r>
            <a:r>
              <a:rPr lang="es-ES" dirty="0"/>
              <a:t> y análisis de mercado</a:t>
            </a:r>
          </a:p>
          <a:p>
            <a:r>
              <a:rPr lang="es-ES" dirty="0"/>
              <a:t>Casos de negocio</a:t>
            </a:r>
          </a:p>
          <a:p>
            <a:r>
              <a:rPr lang="es-ES" dirty="0"/>
              <a:t>Minería de datos</a:t>
            </a:r>
          </a:p>
          <a:p>
            <a:r>
              <a:rPr lang="es-ES" dirty="0"/>
              <a:t>Análisis de decisiones</a:t>
            </a:r>
          </a:p>
          <a:p>
            <a:r>
              <a:rPr lang="es-ES" i="1" dirty="0"/>
              <a:t>Focus group</a:t>
            </a:r>
          </a:p>
          <a:p>
            <a:r>
              <a:rPr lang="es-ES" dirty="0"/>
              <a:t>Métrica e indicadores de rendimiento (KPI)</a:t>
            </a:r>
          </a:p>
          <a:p>
            <a:r>
              <a:rPr lang="es-ES" dirty="0"/>
              <a:t>Análisis de requisitos no funcionales</a:t>
            </a:r>
          </a:p>
          <a:p>
            <a:r>
              <a:rPr lang="es-ES" dirty="0"/>
              <a:t>Observación</a:t>
            </a:r>
          </a:p>
          <a:p>
            <a:r>
              <a:rPr lang="es-ES" dirty="0"/>
              <a:t>Prototipado</a:t>
            </a:r>
          </a:p>
          <a:p>
            <a:r>
              <a:rPr lang="es-ES" dirty="0"/>
              <a:t>Encuesta o cuestionario</a:t>
            </a:r>
          </a:p>
          <a:p>
            <a:r>
              <a:rPr lang="es-ES" dirty="0"/>
              <a:t>Casos de uso y escenarios</a:t>
            </a:r>
          </a:p>
          <a:p>
            <a:r>
              <a:rPr lang="es-ES" dirty="0"/>
              <a:t>Evaluación del proveedor</a:t>
            </a:r>
          </a:p>
        </p:txBody>
      </p:sp>
      <p:sp>
        <p:nvSpPr>
          <p:cNvPr id="11" name="Marcador de texto 10">
            <a:extLst>
              <a:ext uri="{FF2B5EF4-FFF2-40B4-BE49-F238E27FC236}">
                <a16:creationId xmlns:a16="http://schemas.microsoft.com/office/drawing/2014/main" id="{FB8EA5A3-F87E-86AB-6CBB-DDBD506FA1E1}"/>
              </a:ext>
            </a:extLst>
          </p:cNvPr>
          <p:cNvSpPr>
            <a:spLocks noGrp="1"/>
          </p:cNvSpPr>
          <p:nvPr>
            <p:ph type="body" sz="quarter" idx="15"/>
          </p:nvPr>
        </p:nvSpPr>
        <p:spPr/>
        <p:txBody>
          <a:bodyPr/>
          <a:lstStyle/>
          <a:p>
            <a:r>
              <a:rPr lang="es-PE" i="0" dirty="0"/>
              <a:t>TÉCNICAS</a:t>
            </a:r>
            <a:r>
              <a:rPr lang="es-PE" dirty="0"/>
              <a:t> BABOK®</a:t>
            </a:r>
          </a:p>
        </p:txBody>
      </p:sp>
      <p:sp>
        <p:nvSpPr>
          <p:cNvPr id="6" name="Marcador de texto 12">
            <a:extLst>
              <a:ext uri="{FF2B5EF4-FFF2-40B4-BE49-F238E27FC236}">
                <a16:creationId xmlns:a16="http://schemas.microsoft.com/office/drawing/2014/main" id="{964A86B8-398E-4D47-AD99-DB11101F5E5A}"/>
              </a:ext>
            </a:extLst>
          </p:cNvPr>
          <p:cNvSpPr txBox="1">
            <a:spLocks/>
          </p:cNvSpPr>
          <p:nvPr/>
        </p:nvSpPr>
        <p:spPr>
          <a:xfrm>
            <a:off x="468313" y="277813"/>
            <a:ext cx="8207375" cy="354012"/>
          </a:xfrm>
          <a:prstGeom prst="rect">
            <a:avLst/>
          </a:prstGeom>
        </p:spPr>
        <p:txBody>
          <a:bodyPr lIns="72000" tIns="36000" rIns="72000" bIns="36000"/>
          <a:lstStyle>
            <a:lvl1pPr marL="0" indent="0" algn="l" defTabSz="457200" rtl="0" eaLnBrk="1" latinLnBrk="0" hangingPunct="1">
              <a:spcBef>
                <a:spcPct val="20000"/>
              </a:spcBef>
              <a:buFont typeface="Arial"/>
              <a:buNone/>
              <a:defRPr sz="1800" b="1" kern="1200">
                <a:solidFill>
                  <a:srgbClr val="1F85A6"/>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s-PE"/>
              <a:t>/ EVALUACIÓN DE LA SOLUCIÓN</a:t>
            </a:r>
            <a:endParaRPr lang="es-PE" dirty="0"/>
          </a:p>
        </p:txBody>
      </p:sp>
    </p:spTree>
    <p:extLst>
      <p:ext uri="{BB962C8B-B14F-4D97-AF65-F5344CB8AC3E}">
        <p14:creationId xmlns:p14="http://schemas.microsoft.com/office/powerpoint/2010/main" val="2715392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a:xfrm>
            <a:off x="531924" y="1369405"/>
            <a:ext cx="4103687" cy="354012"/>
          </a:xfrm>
        </p:spPr>
        <p:txBody>
          <a:bodyPr/>
          <a:lstStyle/>
          <a:p>
            <a:r>
              <a:rPr lang="es-PE" dirty="0"/>
              <a:t>Objetivo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a:xfrm>
            <a:off x="531924" y="913351"/>
            <a:ext cx="4525106" cy="354012"/>
          </a:xfrm>
        </p:spPr>
        <p:txBody>
          <a:bodyPr/>
          <a:lstStyle/>
          <a:p>
            <a:r>
              <a:rPr lang="es-PE" dirty="0"/>
              <a:t>Analizar las medidas de rendimiento</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531924" y="1825459"/>
            <a:ext cx="4103687" cy="3301807"/>
          </a:xfrm>
        </p:spPr>
        <p:txBody>
          <a:bodyPr/>
          <a:lstStyle/>
          <a:p>
            <a:r>
              <a:rPr lang="es-ES" dirty="0"/>
              <a:t>Proporcionar información sobre el rendimiento de una solución en relación con el valor que aporta.</a:t>
            </a:r>
          </a:p>
          <a:p>
            <a:pPr>
              <a:spcAft>
                <a:spcPts val="600"/>
              </a:spcAft>
            </a:pPr>
            <a:r>
              <a:rPr lang="es-ES" dirty="0"/>
              <a:t>Se debe de tener en cuenta lo siguiente:</a:t>
            </a:r>
          </a:p>
          <a:p>
            <a:pPr lvl="1">
              <a:spcAft>
                <a:spcPts val="600"/>
              </a:spcAft>
              <a:buFont typeface="+mj-lt"/>
              <a:buAutoNum type="arabicPeriod"/>
            </a:pPr>
            <a:r>
              <a:rPr lang="es-ES" dirty="0"/>
              <a:t>Rendimiento de la solución frente al valor deseado.</a:t>
            </a:r>
          </a:p>
          <a:p>
            <a:pPr lvl="1">
              <a:spcAft>
                <a:spcPts val="600"/>
              </a:spcAft>
              <a:buFont typeface="+mj-lt"/>
              <a:buAutoNum type="arabicPeriod"/>
            </a:pPr>
            <a:r>
              <a:rPr lang="es-ES" dirty="0"/>
              <a:t>Riesgos.</a:t>
            </a:r>
          </a:p>
          <a:p>
            <a:pPr lvl="1">
              <a:spcAft>
                <a:spcPts val="600"/>
              </a:spcAft>
              <a:buFont typeface="+mj-lt"/>
              <a:buAutoNum type="arabicPeriod"/>
            </a:pPr>
            <a:r>
              <a:rPr lang="es-ES" dirty="0"/>
              <a:t>Tendencias.</a:t>
            </a:r>
          </a:p>
          <a:p>
            <a:pPr lvl="1">
              <a:spcAft>
                <a:spcPts val="600"/>
              </a:spcAft>
              <a:buFont typeface="+mj-lt"/>
              <a:buAutoNum type="arabicPeriod"/>
            </a:pPr>
            <a:r>
              <a:rPr lang="es-ES" dirty="0"/>
              <a:t>Precisión.</a:t>
            </a:r>
          </a:p>
          <a:p>
            <a:pPr lvl="1">
              <a:spcAft>
                <a:spcPts val="600"/>
              </a:spcAft>
              <a:buFont typeface="+mj-lt"/>
              <a:buAutoNum type="arabicPeriod"/>
            </a:pPr>
            <a:r>
              <a:rPr lang="es-ES" dirty="0"/>
              <a:t>Variaciones de rendimiento.</a:t>
            </a:r>
            <a:endParaRPr lang="es-PE" dirty="0"/>
          </a:p>
        </p:txBody>
      </p:sp>
      <p:pic>
        <p:nvPicPr>
          <p:cNvPr id="4" name="Marcador de posición de imagen 3">
            <a:extLst>
              <a:ext uri="{FF2B5EF4-FFF2-40B4-BE49-F238E27FC236}">
                <a16:creationId xmlns:a16="http://schemas.microsoft.com/office/drawing/2014/main" id="{91E1E50B-92E7-FDF6-38A5-F16F6171FE8F}"/>
              </a:ext>
            </a:extLst>
          </p:cNvPr>
          <p:cNvPicPr>
            <a:picLocks noGrp="1" noChangeAspect="1"/>
          </p:cNvPicPr>
          <p:nvPr>
            <p:ph type="pic" sz="quarter" idx="10"/>
          </p:nvPr>
        </p:nvPicPr>
        <p:blipFill>
          <a:blip r:embed="rId3"/>
          <a:srcRect l="349" r="349"/>
          <a:stretch>
            <a:fillRect/>
          </a:stretch>
        </p:blipFill>
        <p:spPr>
          <a:xfrm>
            <a:off x="5311471" y="1460700"/>
            <a:ext cx="3369678" cy="3666566"/>
          </a:xfrm>
        </p:spPr>
      </p:pic>
      <p:sp>
        <p:nvSpPr>
          <p:cNvPr id="6" name="Marcador de texto 12">
            <a:extLst>
              <a:ext uri="{FF2B5EF4-FFF2-40B4-BE49-F238E27FC236}">
                <a16:creationId xmlns:a16="http://schemas.microsoft.com/office/drawing/2014/main" id="{18D8BBDB-8378-4121-8C89-A5E2FD353262}"/>
              </a:ext>
            </a:extLst>
          </p:cNvPr>
          <p:cNvSpPr txBox="1">
            <a:spLocks/>
          </p:cNvSpPr>
          <p:nvPr/>
        </p:nvSpPr>
        <p:spPr>
          <a:xfrm>
            <a:off x="468313" y="277813"/>
            <a:ext cx="8207375" cy="354012"/>
          </a:xfrm>
          <a:prstGeom prst="rect">
            <a:avLst/>
          </a:prstGeom>
        </p:spPr>
        <p:txBody>
          <a:bodyPr lIns="72000" tIns="36000" rIns="72000" bIns="36000"/>
          <a:lstStyle>
            <a:lvl1pPr marL="0" indent="0" algn="l" defTabSz="457200" rtl="0" eaLnBrk="1" latinLnBrk="0" hangingPunct="1">
              <a:spcBef>
                <a:spcPct val="20000"/>
              </a:spcBef>
              <a:buFont typeface="Arial"/>
              <a:buNone/>
              <a:defRPr sz="1800" b="1" kern="1200">
                <a:solidFill>
                  <a:srgbClr val="1F85A6"/>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s-PE"/>
              <a:t>/ EVALUACIÓN DE LA SOLUCIÓN</a:t>
            </a:r>
            <a:endParaRPr lang="es-PE" dirty="0"/>
          </a:p>
        </p:txBody>
      </p:sp>
    </p:spTree>
    <p:extLst>
      <p:ext uri="{BB962C8B-B14F-4D97-AF65-F5344CB8AC3E}">
        <p14:creationId xmlns:p14="http://schemas.microsoft.com/office/powerpoint/2010/main" val="1615618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Marcador de posición de imagen 2">
            <a:extLst>
              <a:ext uri="{FF2B5EF4-FFF2-40B4-BE49-F238E27FC236}">
                <a16:creationId xmlns:a16="http://schemas.microsoft.com/office/drawing/2014/main" id="{DBBC4BF9-23BB-A3F6-4EA9-77E304C95F65}"/>
              </a:ext>
            </a:extLst>
          </p:cNvPr>
          <p:cNvPicPr>
            <a:picLocks noGrp="1" noChangeAspect="1"/>
          </p:cNvPicPr>
          <p:nvPr>
            <p:ph type="pic" sz="quarter" idx="10"/>
          </p:nvPr>
        </p:nvPicPr>
        <p:blipFill>
          <a:blip r:embed="rId3">
            <a:clrChange>
              <a:clrFrom>
                <a:srgbClr val="D9D9D9"/>
              </a:clrFrom>
              <a:clrTo>
                <a:srgbClr val="D9D9D9">
                  <a:alpha val="0"/>
                </a:srgbClr>
              </a:clrTo>
            </a:clrChange>
          </a:blip>
          <a:srcRect t="310" b="310"/>
          <a:stretch>
            <a:fillRect/>
          </a:stretch>
        </p:blipFill>
        <p:spPr/>
      </p:pic>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a:xfrm>
            <a:off x="465137" y="800584"/>
            <a:ext cx="4493301" cy="354012"/>
          </a:xfrm>
        </p:spPr>
        <p:txBody>
          <a:bodyPr/>
          <a:lstStyle/>
          <a:p>
            <a:r>
              <a:rPr lang="es-PE" dirty="0"/>
              <a:t>Analizar las medidas de rendimiento</a:t>
            </a:r>
          </a:p>
        </p:txBody>
      </p:sp>
      <p:sp>
        <p:nvSpPr>
          <p:cNvPr id="10" name="Marcador de texto 9">
            <a:extLst>
              <a:ext uri="{FF2B5EF4-FFF2-40B4-BE49-F238E27FC236}">
                <a16:creationId xmlns:a16="http://schemas.microsoft.com/office/drawing/2014/main" id="{A7762432-2400-C1CE-F508-0D6F157FCE60}"/>
              </a:ext>
            </a:extLst>
          </p:cNvPr>
          <p:cNvSpPr>
            <a:spLocks noGrp="1"/>
          </p:cNvSpPr>
          <p:nvPr>
            <p:ph type="body" sz="quarter" idx="14"/>
          </p:nvPr>
        </p:nvSpPr>
        <p:spPr/>
        <p:txBody>
          <a:bodyPr/>
          <a:lstStyle/>
          <a:p>
            <a:r>
              <a:rPr lang="es-ES" dirty="0"/>
              <a:t>Criterios de evaluación y aceptación</a:t>
            </a:r>
          </a:p>
          <a:p>
            <a:r>
              <a:rPr lang="es-ES" i="1" dirty="0"/>
              <a:t>Benchmarking</a:t>
            </a:r>
            <a:r>
              <a:rPr lang="es-ES" dirty="0"/>
              <a:t> y Análisis de mercado</a:t>
            </a:r>
          </a:p>
          <a:p>
            <a:r>
              <a:rPr lang="es-ES" dirty="0"/>
              <a:t>Minería de datos</a:t>
            </a:r>
          </a:p>
          <a:p>
            <a:r>
              <a:rPr lang="es-ES" dirty="0"/>
              <a:t>Entrevistas</a:t>
            </a:r>
          </a:p>
          <a:p>
            <a:r>
              <a:rPr lang="es-ES" dirty="0"/>
              <a:t>Métricas e indicadores de rendimiento (KPI)</a:t>
            </a:r>
          </a:p>
          <a:p>
            <a:r>
              <a:rPr lang="es-ES" dirty="0"/>
              <a:t>Observación</a:t>
            </a:r>
          </a:p>
          <a:p>
            <a:r>
              <a:rPr lang="es-ES" dirty="0"/>
              <a:t>Análisis y gestión de riesgos</a:t>
            </a:r>
          </a:p>
          <a:p>
            <a:r>
              <a:rPr lang="es-ES" dirty="0"/>
              <a:t>Análisis de causa raíz</a:t>
            </a:r>
          </a:p>
          <a:p>
            <a:r>
              <a:rPr lang="es-ES" dirty="0"/>
              <a:t>Encuesta o cuestionario</a:t>
            </a:r>
          </a:p>
        </p:txBody>
      </p:sp>
      <p:sp>
        <p:nvSpPr>
          <p:cNvPr id="11" name="Marcador de texto 10">
            <a:extLst>
              <a:ext uri="{FF2B5EF4-FFF2-40B4-BE49-F238E27FC236}">
                <a16:creationId xmlns:a16="http://schemas.microsoft.com/office/drawing/2014/main" id="{FB8EA5A3-F87E-86AB-6CBB-DDBD506FA1E1}"/>
              </a:ext>
            </a:extLst>
          </p:cNvPr>
          <p:cNvSpPr>
            <a:spLocks noGrp="1"/>
          </p:cNvSpPr>
          <p:nvPr>
            <p:ph type="body" sz="quarter" idx="15"/>
          </p:nvPr>
        </p:nvSpPr>
        <p:spPr/>
        <p:txBody>
          <a:bodyPr/>
          <a:lstStyle/>
          <a:p>
            <a:r>
              <a:rPr lang="es-PE" i="0" dirty="0"/>
              <a:t>TÉCNICAS</a:t>
            </a:r>
            <a:r>
              <a:rPr lang="es-PE" dirty="0"/>
              <a:t> BABOK®</a:t>
            </a:r>
          </a:p>
        </p:txBody>
      </p:sp>
      <p:sp>
        <p:nvSpPr>
          <p:cNvPr id="6" name="Marcador de texto 12">
            <a:extLst>
              <a:ext uri="{FF2B5EF4-FFF2-40B4-BE49-F238E27FC236}">
                <a16:creationId xmlns:a16="http://schemas.microsoft.com/office/drawing/2014/main" id="{E1EE803E-304F-4189-98DB-6102981EF5FA}"/>
              </a:ext>
            </a:extLst>
          </p:cNvPr>
          <p:cNvSpPr txBox="1">
            <a:spLocks/>
          </p:cNvSpPr>
          <p:nvPr/>
        </p:nvSpPr>
        <p:spPr>
          <a:xfrm>
            <a:off x="468313" y="277813"/>
            <a:ext cx="8207375" cy="354012"/>
          </a:xfrm>
          <a:prstGeom prst="rect">
            <a:avLst/>
          </a:prstGeom>
        </p:spPr>
        <p:txBody>
          <a:bodyPr lIns="72000" tIns="36000" rIns="72000" bIns="36000"/>
          <a:lstStyle>
            <a:lvl1pPr marL="0" indent="0" algn="l" defTabSz="457200" rtl="0" eaLnBrk="1" latinLnBrk="0" hangingPunct="1">
              <a:spcBef>
                <a:spcPct val="20000"/>
              </a:spcBef>
              <a:buFont typeface="Arial"/>
              <a:buNone/>
              <a:defRPr sz="1800" b="1" kern="1200">
                <a:solidFill>
                  <a:srgbClr val="1F85A6"/>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s-PE"/>
              <a:t>/ EVALUACIÓN DE LA SOLUCIÓN</a:t>
            </a:r>
            <a:endParaRPr lang="es-PE" dirty="0"/>
          </a:p>
        </p:txBody>
      </p:sp>
    </p:spTree>
    <p:extLst>
      <p:ext uri="{BB962C8B-B14F-4D97-AF65-F5344CB8AC3E}">
        <p14:creationId xmlns:p14="http://schemas.microsoft.com/office/powerpoint/2010/main" val="3090891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a:xfrm>
            <a:off x="539873" y="1798776"/>
            <a:ext cx="4103687" cy="354012"/>
          </a:xfrm>
        </p:spPr>
        <p:txBody>
          <a:bodyPr/>
          <a:lstStyle/>
          <a:p>
            <a:r>
              <a:rPr lang="es-PE" dirty="0"/>
              <a:t>Objetivo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a:xfrm>
            <a:off x="539874" y="1087094"/>
            <a:ext cx="4787499" cy="354012"/>
          </a:xfrm>
        </p:spPr>
        <p:txBody>
          <a:bodyPr/>
          <a:lstStyle/>
          <a:p>
            <a:r>
              <a:rPr lang="es-ES" dirty="0"/>
              <a:t>Evaluar las limitaciones de la solución</a:t>
            </a:r>
            <a:endParaRPr lang="es-PE" dirty="0"/>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539874" y="2315996"/>
            <a:ext cx="4366081" cy="2594141"/>
          </a:xfrm>
        </p:spPr>
        <p:txBody>
          <a:bodyPr/>
          <a:lstStyle/>
          <a:p>
            <a:r>
              <a:rPr lang="es-ES" dirty="0"/>
              <a:t>Determinar los factores internos de la solución que restringen la plena realización del valor.</a:t>
            </a:r>
          </a:p>
          <a:p>
            <a:pPr>
              <a:spcAft>
                <a:spcPts val="600"/>
              </a:spcAft>
            </a:pPr>
            <a:r>
              <a:rPr lang="es-ES" dirty="0"/>
              <a:t>Se debe de tener en cuenta lo siguiente:</a:t>
            </a:r>
          </a:p>
          <a:p>
            <a:pPr lvl="1">
              <a:spcAft>
                <a:spcPts val="600"/>
              </a:spcAft>
              <a:buFont typeface="+mj-lt"/>
              <a:buAutoNum type="arabicPeriod"/>
            </a:pPr>
            <a:r>
              <a:rPr lang="es-ES" dirty="0"/>
              <a:t>Identificar las dependencias internas de los componentes de la solución.</a:t>
            </a:r>
          </a:p>
          <a:p>
            <a:pPr lvl="1">
              <a:spcAft>
                <a:spcPts val="600"/>
              </a:spcAft>
              <a:buFont typeface="+mj-lt"/>
              <a:buAutoNum type="arabicPeriod"/>
            </a:pPr>
            <a:r>
              <a:rPr lang="es-ES" dirty="0"/>
              <a:t>Investigar problemas de la solución.</a:t>
            </a:r>
          </a:p>
          <a:p>
            <a:pPr lvl="1">
              <a:spcAft>
                <a:spcPts val="600"/>
              </a:spcAft>
              <a:buFont typeface="+mj-lt"/>
              <a:buAutoNum type="arabicPeriod"/>
            </a:pPr>
            <a:r>
              <a:rPr lang="es-ES" dirty="0"/>
              <a:t>Evaluación de impacto.</a:t>
            </a:r>
            <a:endParaRPr lang="es-PE" dirty="0"/>
          </a:p>
        </p:txBody>
      </p:sp>
      <p:pic>
        <p:nvPicPr>
          <p:cNvPr id="4" name="Marcador de posición de imagen 3">
            <a:extLst>
              <a:ext uri="{FF2B5EF4-FFF2-40B4-BE49-F238E27FC236}">
                <a16:creationId xmlns:a16="http://schemas.microsoft.com/office/drawing/2014/main" id="{F24F9BA7-4E3F-3C14-0B98-13CBD2838AA0}"/>
              </a:ext>
            </a:extLst>
          </p:cNvPr>
          <p:cNvPicPr>
            <a:picLocks noGrp="1" noChangeAspect="1"/>
          </p:cNvPicPr>
          <p:nvPr>
            <p:ph type="pic" sz="quarter" idx="10"/>
          </p:nvPr>
        </p:nvPicPr>
        <p:blipFill>
          <a:blip r:embed="rId3"/>
          <a:srcRect l="340" r="340"/>
          <a:stretch>
            <a:fillRect/>
          </a:stretch>
        </p:blipFill>
        <p:spPr>
          <a:xfrm>
            <a:off x="5390983" y="1571071"/>
            <a:ext cx="3290165" cy="3580047"/>
          </a:xfrm>
        </p:spPr>
      </p:pic>
      <p:sp>
        <p:nvSpPr>
          <p:cNvPr id="6" name="Marcador de texto 12">
            <a:extLst>
              <a:ext uri="{FF2B5EF4-FFF2-40B4-BE49-F238E27FC236}">
                <a16:creationId xmlns:a16="http://schemas.microsoft.com/office/drawing/2014/main" id="{0A556E1C-1CDA-4ACC-8B1A-E6EBF6307ED7}"/>
              </a:ext>
            </a:extLst>
          </p:cNvPr>
          <p:cNvSpPr txBox="1">
            <a:spLocks/>
          </p:cNvSpPr>
          <p:nvPr/>
        </p:nvSpPr>
        <p:spPr>
          <a:xfrm>
            <a:off x="468313" y="277813"/>
            <a:ext cx="8207375" cy="354012"/>
          </a:xfrm>
          <a:prstGeom prst="rect">
            <a:avLst/>
          </a:prstGeom>
        </p:spPr>
        <p:txBody>
          <a:bodyPr lIns="72000" tIns="36000" rIns="72000" bIns="36000"/>
          <a:lstStyle>
            <a:lvl1pPr marL="0" indent="0" algn="l" defTabSz="457200" rtl="0" eaLnBrk="1" latinLnBrk="0" hangingPunct="1">
              <a:spcBef>
                <a:spcPct val="20000"/>
              </a:spcBef>
              <a:buFont typeface="Arial"/>
              <a:buNone/>
              <a:defRPr sz="1800" b="1" kern="1200">
                <a:solidFill>
                  <a:srgbClr val="1F85A6"/>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s-PE"/>
              <a:t>/ EVALUACIÓN DE LA SOLUCIÓN</a:t>
            </a:r>
            <a:endParaRPr lang="es-PE" dirty="0"/>
          </a:p>
        </p:txBody>
      </p:sp>
    </p:spTree>
    <p:extLst>
      <p:ext uri="{BB962C8B-B14F-4D97-AF65-F5344CB8AC3E}">
        <p14:creationId xmlns:p14="http://schemas.microsoft.com/office/powerpoint/2010/main" val="4123825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Marcador de posición de imagen 2">
            <a:extLst>
              <a:ext uri="{FF2B5EF4-FFF2-40B4-BE49-F238E27FC236}">
                <a16:creationId xmlns:a16="http://schemas.microsoft.com/office/drawing/2014/main" id="{DBBC4BF9-23BB-A3F6-4EA9-77E304C95F65}"/>
              </a:ext>
            </a:extLst>
          </p:cNvPr>
          <p:cNvPicPr>
            <a:picLocks noGrp="1" noChangeAspect="1"/>
          </p:cNvPicPr>
          <p:nvPr>
            <p:ph type="pic" sz="quarter" idx="10"/>
          </p:nvPr>
        </p:nvPicPr>
        <p:blipFill>
          <a:blip r:embed="rId3">
            <a:clrChange>
              <a:clrFrom>
                <a:srgbClr val="D9D9D9"/>
              </a:clrFrom>
              <a:clrTo>
                <a:srgbClr val="D9D9D9">
                  <a:alpha val="0"/>
                </a:srgbClr>
              </a:clrTo>
            </a:clrChange>
          </a:blip>
          <a:srcRect t="310" b="310"/>
          <a:stretch>
            <a:fillRect/>
          </a:stretch>
        </p:blipFill>
        <p:spPr/>
      </p:pic>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a:xfrm>
            <a:off x="442340" y="804863"/>
            <a:ext cx="4763645" cy="354012"/>
          </a:xfrm>
        </p:spPr>
        <p:txBody>
          <a:bodyPr/>
          <a:lstStyle/>
          <a:p>
            <a:r>
              <a:rPr lang="es-ES" dirty="0"/>
              <a:t>Evaluar las limitaciones de la solución</a:t>
            </a:r>
            <a:endParaRPr lang="es-PE" dirty="0"/>
          </a:p>
        </p:txBody>
      </p:sp>
      <p:sp>
        <p:nvSpPr>
          <p:cNvPr id="10" name="Marcador de texto 9">
            <a:extLst>
              <a:ext uri="{FF2B5EF4-FFF2-40B4-BE49-F238E27FC236}">
                <a16:creationId xmlns:a16="http://schemas.microsoft.com/office/drawing/2014/main" id="{A7762432-2400-C1CE-F508-0D6F157FCE60}"/>
              </a:ext>
            </a:extLst>
          </p:cNvPr>
          <p:cNvSpPr>
            <a:spLocks noGrp="1"/>
          </p:cNvSpPr>
          <p:nvPr>
            <p:ph type="body" sz="quarter" idx="14"/>
          </p:nvPr>
        </p:nvSpPr>
        <p:spPr/>
        <p:txBody>
          <a:bodyPr/>
          <a:lstStyle/>
          <a:p>
            <a:r>
              <a:rPr lang="es-ES" dirty="0"/>
              <a:t>Criterios de evaluación y aceptación</a:t>
            </a:r>
          </a:p>
          <a:p>
            <a:r>
              <a:rPr lang="es-ES" i="1" dirty="0"/>
              <a:t>Benchmarking</a:t>
            </a:r>
            <a:r>
              <a:rPr lang="es-ES" dirty="0"/>
              <a:t> y Análisis de mercado</a:t>
            </a:r>
          </a:p>
          <a:p>
            <a:r>
              <a:rPr lang="es-ES" dirty="0"/>
              <a:t>Análisis de reglas de negocio</a:t>
            </a:r>
          </a:p>
          <a:p>
            <a:r>
              <a:rPr lang="es-ES" dirty="0"/>
              <a:t>Minería de datos</a:t>
            </a:r>
          </a:p>
          <a:p>
            <a:r>
              <a:rPr lang="es-ES" dirty="0"/>
              <a:t>Análisis de decisiones</a:t>
            </a:r>
          </a:p>
          <a:p>
            <a:r>
              <a:rPr lang="es-ES" dirty="0"/>
              <a:t>Entrevistas</a:t>
            </a:r>
          </a:p>
          <a:p>
            <a:r>
              <a:rPr lang="es-ES" dirty="0"/>
              <a:t>Seguimiento de ítems</a:t>
            </a:r>
          </a:p>
          <a:p>
            <a:r>
              <a:rPr lang="es-ES" dirty="0"/>
              <a:t>Lecciones aprendidas</a:t>
            </a:r>
          </a:p>
          <a:p>
            <a:r>
              <a:rPr lang="es-ES" dirty="0"/>
              <a:t>Análisis y gestión de riesgos</a:t>
            </a:r>
          </a:p>
          <a:p>
            <a:r>
              <a:rPr lang="es-ES" dirty="0"/>
              <a:t>Análisis de causa raíz</a:t>
            </a:r>
          </a:p>
          <a:p>
            <a:r>
              <a:rPr lang="es-ES" dirty="0"/>
              <a:t>Encuesta o cuestionario</a:t>
            </a:r>
          </a:p>
        </p:txBody>
      </p:sp>
      <p:sp>
        <p:nvSpPr>
          <p:cNvPr id="11" name="Marcador de texto 10">
            <a:extLst>
              <a:ext uri="{FF2B5EF4-FFF2-40B4-BE49-F238E27FC236}">
                <a16:creationId xmlns:a16="http://schemas.microsoft.com/office/drawing/2014/main" id="{FB8EA5A3-F87E-86AB-6CBB-DDBD506FA1E1}"/>
              </a:ext>
            </a:extLst>
          </p:cNvPr>
          <p:cNvSpPr>
            <a:spLocks noGrp="1"/>
          </p:cNvSpPr>
          <p:nvPr>
            <p:ph type="body" sz="quarter" idx="15"/>
          </p:nvPr>
        </p:nvSpPr>
        <p:spPr/>
        <p:txBody>
          <a:bodyPr/>
          <a:lstStyle/>
          <a:p>
            <a:r>
              <a:rPr lang="es-PE" i="0" dirty="0"/>
              <a:t>TÉCNICAS</a:t>
            </a:r>
            <a:r>
              <a:rPr lang="es-PE" dirty="0"/>
              <a:t> BABOK®</a:t>
            </a:r>
          </a:p>
        </p:txBody>
      </p:sp>
      <p:sp>
        <p:nvSpPr>
          <p:cNvPr id="6" name="Marcador de texto 12">
            <a:extLst>
              <a:ext uri="{FF2B5EF4-FFF2-40B4-BE49-F238E27FC236}">
                <a16:creationId xmlns:a16="http://schemas.microsoft.com/office/drawing/2014/main" id="{232EB266-630B-4719-9CBF-700D763BD4A8}"/>
              </a:ext>
            </a:extLst>
          </p:cNvPr>
          <p:cNvSpPr txBox="1">
            <a:spLocks/>
          </p:cNvSpPr>
          <p:nvPr/>
        </p:nvSpPr>
        <p:spPr>
          <a:xfrm>
            <a:off x="468313" y="277813"/>
            <a:ext cx="8207375" cy="354012"/>
          </a:xfrm>
          <a:prstGeom prst="rect">
            <a:avLst/>
          </a:prstGeom>
        </p:spPr>
        <p:txBody>
          <a:bodyPr lIns="72000" tIns="36000" rIns="72000" bIns="36000"/>
          <a:lstStyle>
            <a:lvl1pPr marL="0" indent="0" algn="l" defTabSz="457200" rtl="0" eaLnBrk="1" latinLnBrk="0" hangingPunct="1">
              <a:spcBef>
                <a:spcPct val="20000"/>
              </a:spcBef>
              <a:buFont typeface="Arial"/>
              <a:buNone/>
              <a:defRPr sz="1800" b="1" kern="1200">
                <a:solidFill>
                  <a:srgbClr val="1F85A6"/>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s-PE"/>
              <a:t>/ EVALUACIÓN DE LA SOLUCIÓN</a:t>
            </a:r>
            <a:endParaRPr lang="es-PE" dirty="0"/>
          </a:p>
        </p:txBody>
      </p:sp>
    </p:spTree>
    <p:extLst>
      <p:ext uri="{BB962C8B-B14F-4D97-AF65-F5344CB8AC3E}">
        <p14:creationId xmlns:p14="http://schemas.microsoft.com/office/powerpoint/2010/main" val="1401055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a:xfrm>
            <a:off x="468313" y="2085023"/>
            <a:ext cx="4103687" cy="354012"/>
          </a:xfrm>
        </p:spPr>
        <p:txBody>
          <a:bodyPr/>
          <a:lstStyle/>
          <a:p>
            <a:r>
              <a:rPr lang="es-PE" dirty="0"/>
              <a:t>Objetivo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a:xfrm>
            <a:off x="462852" y="1551444"/>
            <a:ext cx="4747743" cy="354012"/>
          </a:xfrm>
        </p:spPr>
        <p:txBody>
          <a:bodyPr/>
          <a:lstStyle/>
          <a:p>
            <a:r>
              <a:rPr lang="es-ES" dirty="0"/>
              <a:t>Evaluar las limitaciones de la empresa</a:t>
            </a:r>
            <a:endParaRPr lang="es-PE" dirty="0"/>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571680" y="2645770"/>
            <a:ext cx="4103687" cy="2355602"/>
          </a:xfrm>
        </p:spPr>
        <p:txBody>
          <a:bodyPr/>
          <a:lstStyle/>
          <a:p>
            <a:r>
              <a:rPr lang="es-ES" dirty="0"/>
              <a:t>Determinar cómo los factores externos a la solución restringen la realización del valor.</a:t>
            </a:r>
          </a:p>
          <a:p>
            <a:pPr>
              <a:spcAft>
                <a:spcPts val="600"/>
              </a:spcAft>
            </a:pPr>
            <a:r>
              <a:rPr lang="es-ES" dirty="0"/>
              <a:t>Se debe de tener en cuenta lo siguiente:</a:t>
            </a:r>
          </a:p>
          <a:p>
            <a:pPr lvl="1">
              <a:spcAft>
                <a:spcPts val="600"/>
              </a:spcAft>
              <a:buFont typeface="+mj-lt"/>
              <a:buAutoNum type="arabicPeriod"/>
            </a:pPr>
            <a:r>
              <a:rPr lang="es-ES" dirty="0"/>
              <a:t>Evaluación de la cultura empresarial.</a:t>
            </a:r>
          </a:p>
          <a:p>
            <a:pPr lvl="1">
              <a:spcAft>
                <a:spcPts val="600"/>
              </a:spcAft>
              <a:buFont typeface="+mj-lt"/>
              <a:buAutoNum type="arabicPeriod"/>
            </a:pPr>
            <a:r>
              <a:rPr lang="es-ES" dirty="0"/>
              <a:t>Análisis de impacto de los </a:t>
            </a:r>
            <a:r>
              <a:rPr lang="es-ES" i="1" dirty="0"/>
              <a:t>stakeholders</a:t>
            </a:r>
            <a:r>
              <a:rPr lang="es-ES" dirty="0"/>
              <a:t>.</a:t>
            </a:r>
          </a:p>
          <a:p>
            <a:pPr lvl="1">
              <a:spcAft>
                <a:spcPts val="600"/>
              </a:spcAft>
              <a:buFont typeface="+mj-lt"/>
              <a:buAutoNum type="arabicPeriod"/>
            </a:pPr>
            <a:r>
              <a:rPr lang="es-ES" dirty="0"/>
              <a:t>Cambios en la estructura organizacional.</a:t>
            </a:r>
          </a:p>
          <a:p>
            <a:pPr lvl="1">
              <a:spcAft>
                <a:spcPts val="600"/>
              </a:spcAft>
              <a:buFont typeface="+mj-lt"/>
              <a:buAutoNum type="arabicPeriod"/>
            </a:pPr>
            <a:r>
              <a:rPr lang="es-ES" dirty="0"/>
              <a:t>Evaluación operativa.</a:t>
            </a:r>
            <a:endParaRPr lang="es-PE" dirty="0"/>
          </a:p>
        </p:txBody>
      </p:sp>
      <p:pic>
        <p:nvPicPr>
          <p:cNvPr id="4" name="Marcador de posición de imagen 3">
            <a:extLst>
              <a:ext uri="{FF2B5EF4-FFF2-40B4-BE49-F238E27FC236}">
                <a16:creationId xmlns:a16="http://schemas.microsoft.com/office/drawing/2014/main" id="{B1028D75-C00C-B18A-8907-CCCC3C9D0169}"/>
              </a:ext>
            </a:extLst>
          </p:cNvPr>
          <p:cNvPicPr>
            <a:picLocks noGrp="1" noChangeAspect="1"/>
          </p:cNvPicPr>
          <p:nvPr>
            <p:ph type="pic" sz="quarter" idx="10"/>
          </p:nvPr>
        </p:nvPicPr>
        <p:blipFill>
          <a:blip r:embed="rId3"/>
          <a:srcRect l="234" r="234"/>
          <a:stretch>
            <a:fillRect/>
          </a:stretch>
        </p:blipFill>
        <p:spPr>
          <a:xfrm>
            <a:off x="5581815" y="1890036"/>
            <a:ext cx="3099333" cy="3372402"/>
          </a:xfrm>
        </p:spPr>
      </p:pic>
      <p:sp>
        <p:nvSpPr>
          <p:cNvPr id="6" name="Marcador de texto 12">
            <a:extLst>
              <a:ext uri="{FF2B5EF4-FFF2-40B4-BE49-F238E27FC236}">
                <a16:creationId xmlns:a16="http://schemas.microsoft.com/office/drawing/2014/main" id="{0A9DED97-CE11-48D6-B11C-A71AA066746D}"/>
              </a:ext>
            </a:extLst>
          </p:cNvPr>
          <p:cNvSpPr txBox="1">
            <a:spLocks/>
          </p:cNvSpPr>
          <p:nvPr/>
        </p:nvSpPr>
        <p:spPr>
          <a:xfrm>
            <a:off x="468313" y="277813"/>
            <a:ext cx="8207375" cy="354012"/>
          </a:xfrm>
          <a:prstGeom prst="rect">
            <a:avLst/>
          </a:prstGeom>
        </p:spPr>
        <p:txBody>
          <a:bodyPr lIns="72000" tIns="36000" rIns="72000" bIns="36000"/>
          <a:lstStyle>
            <a:lvl1pPr marL="0" indent="0" algn="l" defTabSz="457200" rtl="0" eaLnBrk="1" latinLnBrk="0" hangingPunct="1">
              <a:spcBef>
                <a:spcPct val="20000"/>
              </a:spcBef>
              <a:buFont typeface="Arial"/>
              <a:buNone/>
              <a:defRPr sz="1800" b="1" kern="1200">
                <a:solidFill>
                  <a:srgbClr val="1F85A6"/>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s-PE"/>
              <a:t>/ EVALUACIÓN DE LA SOLUCIÓN</a:t>
            </a:r>
            <a:endParaRPr lang="es-PE" dirty="0"/>
          </a:p>
        </p:txBody>
      </p:sp>
    </p:spTree>
    <p:extLst>
      <p:ext uri="{BB962C8B-B14F-4D97-AF65-F5344CB8AC3E}">
        <p14:creationId xmlns:p14="http://schemas.microsoft.com/office/powerpoint/2010/main" val="1200177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Marcador de posición de imagen 2">
            <a:extLst>
              <a:ext uri="{FF2B5EF4-FFF2-40B4-BE49-F238E27FC236}">
                <a16:creationId xmlns:a16="http://schemas.microsoft.com/office/drawing/2014/main" id="{DBBC4BF9-23BB-A3F6-4EA9-77E304C95F65}"/>
              </a:ext>
            </a:extLst>
          </p:cNvPr>
          <p:cNvPicPr>
            <a:picLocks noGrp="1" noChangeAspect="1"/>
          </p:cNvPicPr>
          <p:nvPr>
            <p:ph type="pic" sz="quarter" idx="10"/>
          </p:nvPr>
        </p:nvPicPr>
        <p:blipFill>
          <a:blip r:embed="rId3">
            <a:clrChange>
              <a:clrFrom>
                <a:srgbClr val="D9D9D9"/>
              </a:clrFrom>
              <a:clrTo>
                <a:srgbClr val="D9D9D9">
                  <a:alpha val="0"/>
                </a:srgbClr>
              </a:clrTo>
            </a:clrChange>
          </a:blip>
          <a:srcRect t="310" b="310"/>
          <a:stretch>
            <a:fillRect/>
          </a:stretch>
        </p:blipFill>
        <p:spPr/>
      </p:pic>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a:xfrm>
            <a:off x="422462" y="804863"/>
            <a:ext cx="4803402" cy="354012"/>
          </a:xfrm>
        </p:spPr>
        <p:txBody>
          <a:bodyPr/>
          <a:lstStyle/>
          <a:p>
            <a:r>
              <a:rPr lang="es-ES" dirty="0"/>
              <a:t>Evaluar las limitaciones de la empresa</a:t>
            </a:r>
            <a:endParaRPr lang="es-PE" dirty="0"/>
          </a:p>
        </p:txBody>
      </p:sp>
      <p:sp>
        <p:nvSpPr>
          <p:cNvPr id="10" name="Marcador de texto 9">
            <a:extLst>
              <a:ext uri="{FF2B5EF4-FFF2-40B4-BE49-F238E27FC236}">
                <a16:creationId xmlns:a16="http://schemas.microsoft.com/office/drawing/2014/main" id="{A7762432-2400-C1CE-F508-0D6F157FCE60}"/>
              </a:ext>
            </a:extLst>
          </p:cNvPr>
          <p:cNvSpPr>
            <a:spLocks noGrp="1"/>
          </p:cNvSpPr>
          <p:nvPr>
            <p:ph type="body" sz="quarter" idx="14"/>
          </p:nvPr>
        </p:nvSpPr>
        <p:spPr/>
        <p:txBody>
          <a:bodyPr/>
          <a:lstStyle/>
          <a:p>
            <a:r>
              <a:rPr lang="es-ES" i="1" dirty="0"/>
              <a:t>Benchmarking </a:t>
            </a:r>
            <a:r>
              <a:rPr lang="es-ES" dirty="0"/>
              <a:t>y Análisis de mercado</a:t>
            </a:r>
          </a:p>
          <a:p>
            <a:r>
              <a:rPr lang="es-ES" dirty="0"/>
              <a:t>Tormenta de ideas</a:t>
            </a:r>
          </a:p>
          <a:p>
            <a:r>
              <a:rPr lang="es-ES" dirty="0"/>
              <a:t>Minería de datos</a:t>
            </a:r>
          </a:p>
          <a:p>
            <a:r>
              <a:rPr lang="es-ES" dirty="0"/>
              <a:t>Análisis de decisiones</a:t>
            </a:r>
          </a:p>
          <a:p>
            <a:r>
              <a:rPr lang="es-ES" dirty="0"/>
              <a:t>Análisis de documentos</a:t>
            </a:r>
          </a:p>
          <a:p>
            <a:r>
              <a:rPr lang="es-ES" dirty="0"/>
              <a:t>Entrevistas </a:t>
            </a:r>
          </a:p>
          <a:p>
            <a:r>
              <a:rPr lang="es-ES" dirty="0"/>
              <a:t>Seguimiento de ítems</a:t>
            </a:r>
          </a:p>
          <a:p>
            <a:r>
              <a:rPr lang="es-ES" dirty="0"/>
              <a:t>Lecciones aprendidas</a:t>
            </a:r>
          </a:p>
          <a:p>
            <a:r>
              <a:rPr lang="es-ES" dirty="0"/>
              <a:t>Observación</a:t>
            </a:r>
          </a:p>
          <a:p>
            <a:r>
              <a:rPr lang="es-ES" dirty="0"/>
              <a:t>Modelado organizacional</a:t>
            </a:r>
          </a:p>
          <a:p>
            <a:r>
              <a:rPr lang="es-ES" dirty="0"/>
              <a:t>Análisis de procesos</a:t>
            </a:r>
          </a:p>
          <a:p>
            <a:r>
              <a:rPr lang="es-ES" dirty="0"/>
              <a:t>Modelado de procesos</a:t>
            </a:r>
          </a:p>
          <a:p>
            <a:r>
              <a:rPr lang="es-ES" dirty="0"/>
              <a:t>Análisis y gestión de riesgos</a:t>
            </a:r>
          </a:p>
          <a:p>
            <a:r>
              <a:rPr lang="es-ES" dirty="0"/>
              <a:t>Matriz de roles y permisos</a:t>
            </a:r>
          </a:p>
          <a:p>
            <a:r>
              <a:rPr lang="es-ES" dirty="0"/>
              <a:t>Análisis de causa raíz</a:t>
            </a:r>
          </a:p>
          <a:p>
            <a:r>
              <a:rPr lang="es-ES" dirty="0"/>
              <a:t>Encuesta o cuestionario</a:t>
            </a:r>
          </a:p>
          <a:p>
            <a:r>
              <a:rPr lang="es-ES" dirty="0"/>
              <a:t>Análisis FODA</a:t>
            </a:r>
          </a:p>
          <a:p>
            <a:r>
              <a:rPr lang="es-ES" dirty="0"/>
              <a:t>Talleres</a:t>
            </a:r>
          </a:p>
        </p:txBody>
      </p:sp>
      <p:sp>
        <p:nvSpPr>
          <p:cNvPr id="11" name="Marcador de texto 10">
            <a:extLst>
              <a:ext uri="{FF2B5EF4-FFF2-40B4-BE49-F238E27FC236}">
                <a16:creationId xmlns:a16="http://schemas.microsoft.com/office/drawing/2014/main" id="{FB8EA5A3-F87E-86AB-6CBB-DDBD506FA1E1}"/>
              </a:ext>
            </a:extLst>
          </p:cNvPr>
          <p:cNvSpPr>
            <a:spLocks noGrp="1"/>
          </p:cNvSpPr>
          <p:nvPr>
            <p:ph type="body" sz="quarter" idx="15"/>
          </p:nvPr>
        </p:nvSpPr>
        <p:spPr/>
        <p:txBody>
          <a:bodyPr/>
          <a:lstStyle/>
          <a:p>
            <a:r>
              <a:rPr lang="es-PE" i="0" dirty="0"/>
              <a:t>TÉCNICAS</a:t>
            </a:r>
            <a:r>
              <a:rPr lang="es-PE" dirty="0"/>
              <a:t> BABOK®</a:t>
            </a:r>
          </a:p>
        </p:txBody>
      </p:sp>
      <p:sp>
        <p:nvSpPr>
          <p:cNvPr id="6" name="Marcador de texto 12">
            <a:extLst>
              <a:ext uri="{FF2B5EF4-FFF2-40B4-BE49-F238E27FC236}">
                <a16:creationId xmlns:a16="http://schemas.microsoft.com/office/drawing/2014/main" id="{4A86B65D-7E2B-4707-8194-8D949CAB5F6A}"/>
              </a:ext>
            </a:extLst>
          </p:cNvPr>
          <p:cNvSpPr txBox="1">
            <a:spLocks/>
          </p:cNvSpPr>
          <p:nvPr/>
        </p:nvSpPr>
        <p:spPr>
          <a:xfrm>
            <a:off x="468313" y="277813"/>
            <a:ext cx="8207375" cy="354012"/>
          </a:xfrm>
          <a:prstGeom prst="rect">
            <a:avLst/>
          </a:prstGeom>
        </p:spPr>
        <p:txBody>
          <a:bodyPr lIns="72000" tIns="36000" rIns="72000" bIns="36000"/>
          <a:lstStyle>
            <a:lvl1pPr marL="0" indent="0" algn="l" defTabSz="457200" rtl="0" eaLnBrk="1" latinLnBrk="0" hangingPunct="1">
              <a:spcBef>
                <a:spcPct val="20000"/>
              </a:spcBef>
              <a:buFont typeface="Arial"/>
              <a:buNone/>
              <a:defRPr sz="1800" b="1" kern="1200">
                <a:solidFill>
                  <a:srgbClr val="1F85A6"/>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s-PE"/>
              <a:t>/ EVALUACIÓN DE LA SOLUCIÓN</a:t>
            </a:r>
            <a:endParaRPr lang="es-PE" dirty="0"/>
          </a:p>
        </p:txBody>
      </p:sp>
    </p:spTree>
    <p:extLst>
      <p:ext uri="{BB962C8B-B14F-4D97-AF65-F5344CB8AC3E}">
        <p14:creationId xmlns:p14="http://schemas.microsoft.com/office/powerpoint/2010/main" val="1102794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a:xfrm>
            <a:off x="468313" y="1033891"/>
            <a:ext cx="4103687" cy="354012"/>
          </a:xfrm>
        </p:spPr>
        <p:txBody>
          <a:bodyPr/>
          <a:lstStyle/>
          <a:p>
            <a:r>
              <a:rPr lang="es-PE" dirty="0"/>
              <a:t>Objetivo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a:xfrm>
            <a:off x="468312" y="719153"/>
            <a:ext cx="8207375" cy="354012"/>
          </a:xfrm>
        </p:spPr>
        <p:txBody>
          <a:bodyPr/>
          <a:lstStyle/>
          <a:p>
            <a:r>
              <a:rPr lang="es-PE" dirty="0"/>
              <a:t>Recomendar acciones para aumentar el valor de la solución</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523972" y="1402024"/>
            <a:ext cx="4485350" cy="3866349"/>
          </a:xfrm>
        </p:spPr>
        <p:txBody>
          <a:bodyPr/>
          <a:lstStyle/>
          <a:p>
            <a:r>
              <a:rPr lang="es-ES" dirty="0"/>
              <a:t>Comprender los factores que crean diferencias entre el valor potencial y el valor real, y recomendar un curso de acción para alinearlos.</a:t>
            </a:r>
          </a:p>
          <a:p>
            <a:r>
              <a:rPr lang="es-ES" dirty="0"/>
              <a:t>Se debe de tener en cuenta lo siguiente:</a:t>
            </a:r>
          </a:p>
          <a:p>
            <a:pPr lvl="1">
              <a:spcAft>
                <a:spcPts val="600"/>
              </a:spcAft>
              <a:buFont typeface="+mj-lt"/>
              <a:buAutoNum type="arabicPeriod"/>
            </a:pPr>
            <a:r>
              <a:rPr lang="es-ES" dirty="0"/>
              <a:t>Ajustar las medidas de rendimiento de la solución.</a:t>
            </a:r>
          </a:p>
          <a:p>
            <a:pPr lvl="1">
              <a:spcAft>
                <a:spcPts val="300"/>
              </a:spcAft>
              <a:buFont typeface="+mj-lt"/>
              <a:buAutoNum type="arabicPeriod"/>
            </a:pPr>
            <a:r>
              <a:rPr lang="es-ES" dirty="0"/>
              <a:t>Recomendaciones</a:t>
            </a:r>
          </a:p>
          <a:p>
            <a:pPr lvl="2">
              <a:spcAft>
                <a:spcPts val="300"/>
              </a:spcAft>
            </a:pPr>
            <a:r>
              <a:rPr lang="es-ES" dirty="0"/>
              <a:t>No hacer nada.</a:t>
            </a:r>
          </a:p>
          <a:p>
            <a:pPr lvl="2">
              <a:spcAft>
                <a:spcPts val="300"/>
              </a:spcAft>
            </a:pPr>
            <a:r>
              <a:rPr lang="es-ES" dirty="0"/>
              <a:t>Cambio organizacional. </a:t>
            </a:r>
            <a:r>
              <a:rPr lang="es-ES" sz="1400" dirty="0">
                <a:solidFill>
                  <a:schemeClr val="tx1">
                    <a:lumMod val="50000"/>
                    <a:lumOff val="50000"/>
                  </a:schemeClr>
                </a:solidFill>
              </a:rPr>
              <a:t>Automatizar el trabajo que realizan las personas, mejorar el acceso a la información, reducir la complejidad de las interfaces, eliminar la redundancia, evitar desperdicios, identificar capacidades adicionales, retirar la solución.</a:t>
            </a:r>
            <a:endParaRPr lang="es-PE" sz="1400" dirty="0">
              <a:solidFill>
                <a:schemeClr val="tx1">
                  <a:lumMod val="50000"/>
                  <a:lumOff val="50000"/>
                </a:schemeClr>
              </a:solidFill>
            </a:endParaRPr>
          </a:p>
        </p:txBody>
      </p:sp>
      <p:pic>
        <p:nvPicPr>
          <p:cNvPr id="4" name="Marcador de posición de imagen 3">
            <a:extLst>
              <a:ext uri="{FF2B5EF4-FFF2-40B4-BE49-F238E27FC236}">
                <a16:creationId xmlns:a16="http://schemas.microsoft.com/office/drawing/2014/main" id="{A0196DC1-5000-5FFB-1C81-8A9EE6905A9E}"/>
              </a:ext>
            </a:extLst>
          </p:cNvPr>
          <p:cNvPicPr>
            <a:picLocks noGrp="1" noChangeAspect="1"/>
          </p:cNvPicPr>
          <p:nvPr>
            <p:ph type="pic" sz="quarter" idx="10"/>
          </p:nvPr>
        </p:nvPicPr>
        <p:blipFill>
          <a:blip r:embed="rId3"/>
          <a:srcRect l="349" r="349"/>
          <a:stretch>
            <a:fillRect/>
          </a:stretch>
        </p:blipFill>
        <p:spPr>
          <a:xfrm>
            <a:off x="5279665" y="1561264"/>
            <a:ext cx="3401483" cy="3701173"/>
          </a:xfrm>
        </p:spPr>
      </p:pic>
      <p:sp>
        <p:nvSpPr>
          <p:cNvPr id="6" name="Marcador de texto 12">
            <a:extLst>
              <a:ext uri="{FF2B5EF4-FFF2-40B4-BE49-F238E27FC236}">
                <a16:creationId xmlns:a16="http://schemas.microsoft.com/office/drawing/2014/main" id="{6D1537D5-73E1-4549-B281-BC3E13A09077}"/>
              </a:ext>
            </a:extLst>
          </p:cNvPr>
          <p:cNvSpPr txBox="1">
            <a:spLocks/>
          </p:cNvSpPr>
          <p:nvPr/>
        </p:nvSpPr>
        <p:spPr>
          <a:xfrm>
            <a:off x="468313" y="277813"/>
            <a:ext cx="8207375" cy="354012"/>
          </a:xfrm>
          <a:prstGeom prst="rect">
            <a:avLst/>
          </a:prstGeom>
        </p:spPr>
        <p:txBody>
          <a:bodyPr lIns="72000" tIns="36000" rIns="72000" bIns="36000"/>
          <a:lstStyle>
            <a:lvl1pPr marL="0" indent="0" algn="l" defTabSz="457200" rtl="0" eaLnBrk="1" latinLnBrk="0" hangingPunct="1">
              <a:spcBef>
                <a:spcPct val="20000"/>
              </a:spcBef>
              <a:buFont typeface="Arial"/>
              <a:buNone/>
              <a:defRPr sz="1800" b="1" kern="1200">
                <a:solidFill>
                  <a:srgbClr val="1F85A6"/>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s-PE"/>
              <a:t>/ EVALUACIÓN DE LA SOLUCIÓN</a:t>
            </a:r>
            <a:endParaRPr lang="es-PE" dirty="0"/>
          </a:p>
        </p:txBody>
      </p:sp>
    </p:spTree>
    <p:extLst>
      <p:ext uri="{BB962C8B-B14F-4D97-AF65-F5344CB8AC3E}">
        <p14:creationId xmlns:p14="http://schemas.microsoft.com/office/powerpoint/2010/main" val="660667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Marcador de posición de imagen 2">
            <a:extLst>
              <a:ext uri="{FF2B5EF4-FFF2-40B4-BE49-F238E27FC236}">
                <a16:creationId xmlns:a16="http://schemas.microsoft.com/office/drawing/2014/main" id="{DBBC4BF9-23BB-A3F6-4EA9-77E304C95F65}"/>
              </a:ext>
            </a:extLst>
          </p:cNvPr>
          <p:cNvPicPr>
            <a:picLocks noGrp="1" noChangeAspect="1"/>
          </p:cNvPicPr>
          <p:nvPr>
            <p:ph type="pic" sz="quarter" idx="10"/>
          </p:nvPr>
        </p:nvPicPr>
        <p:blipFill>
          <a:blip r:embed="rId3">
            <a:clrChange>
              <a:clrFrom>
                <a:srgbClr val="D9D9D9"/>
              </a:clrFrom>
              <a:clrTo>
                <a:srgbClr val="D9D9D9">
                  <a:alpha val="0"/>
                </a:srgbClr>
              </a:clrTo>
            </a:clrChange>
          </a:blip>
          <a:srcRect t="310" b="310"/>
          <a:stretch>
            <a:fillRect/>
          </a:stretch>
        </p:blipFill>
        <p:spPr/>
      </p:pic>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a:xfrm>
            <a:off x="411204" y="814636"/>
            <a:ext cx="5908634" cy="354012"/>
          </a:xfrm>
        </p:spPr>
        <p:txBody>
          <a:bodyPr/>
          <a:lstStyle/>
          <a:p>
            <a:r>
              <a:rPr lang="es-PE" dirty="0"/>
              <a:t>Recomendar acciones para aumentar el valor de la solución</a:t>
            </a:r>
          </a:p>
        </p:txBody>
      </p:sp>
      <p:sp>
        <p:nvSpPr>
          <p:cNvPr id="10" name="Marcador de texto 9">
            <a:extLst>
              <a:ext uri="{FF2B5EF4-FFF2-40B4-BE49-F238E27FC236}">
                <a16:creationId xmlns:a16="http://schemas.microsoft.com/office/drawing/2014/main" id="{A7762432-2400-C1CE-F508-0D6F157FCE60}"/>
              </a:ext>
            </a:extLst>
          </p:cNvPr>
          <p:cNvSpPr>
            <a:spLocks noGrp="1"/>
          </p:cNvSpPr>
          <p:nvPr>
            <p:ph type="body" sz="quarter" idx="14"/>
          </p:nvPr>
        </p:nvSpPr>
        <p:spPr/>
        <p:txBody>
          <a:bodyPr/>
          <a:lstStyle/>
          <a:p>
            <a:r>
              <a:rPr lang="es-ES" dirty="0"/>
              <a:t>Minería de datos</a:t>
            </a:r>
          </a:p>
          <a:p>
            <a:r>
              <a:rPr lang="es-ES" dirty="0"/>
              <a:t>Análisis de decisiones</a:t>
            </a:r>
          </a:p>
          <a:p>
            <a:r>
              <a:rPr lang="es-ES" dirty="0"/>
              <a:t>Análisis financiero</a:t>
            </a:r>
          </a:p>
          <a:p>
            <a:r>
              <a:rPr lang="es-ES" dirty="0"/>
              <a:t>Grupos focales</a:t>
            </a:r>
          </a:p>
          <a:p>
            <a:r>
              <a:rPr lang="es-ES" dirty="0"/>
              <a:t>Modelado organizacional</a:t>
            </a:r>
          </a:p>
          <a:p>
            <a:r>
              <a:rPr lang="es-ES" dirty="0"/>
              <a:t>Priorización</a:t>
            </a:r>
          </a:p>
          <a:p>
            <a:r>
              <a:rPr lang="es-ES" dirty="0"/>
              <a:t>Análisis de procesos</a:t>
            </a:r>
          </a:p>
          <a:p>
            <a:r>
              <a:rPr lang="es-ES" dirty="0"/>
              <a:t>Análisis y gestión de riesgos</a:t>
            </a:r>
          </a:p>
          <a:p>
            <a:r>
              <a:rPr lang="es-ES" dirty="0"/>
              <a:t>Encuesta o cuestionario</a:t>
            </a:r>
          </a:p>
        </p:txBody>
      </p:sp>
      <p:sp>
        <p:nvSpPr>
          <p:cNvPr id="11" name="Marcador de texto 10">
            <a:extLst>
              <a:ext uri="{FF2B5EF4-FFF2-40B4-BE49-F238E27FC236}">
                <a16:creationId xmlns:a16="http://schemas.microsoft.com/office/drawing/2014/main" id="{FB8EA5A3-F87E-86AB-6CBB-DDBD506FA1E1}"/>
              </a:ext>
            </a:extLst>
          </p:cNvPr>
          <p:cNvSpPr>
            <a:spLocks noGrp="1"/>
          </p:cNvSpPr>
          <p:nvPr>
            <p:ph type="body" sz="quarter" idx="15"/>
          </p:nvPr>
        </p:nvSpPr>
        <p:spPr/>
        <p:txBody>
          <a:bodyPr/>
          <a:lstStyle/>
          <a:p>
            <a:r>
              <a:rPr lang="es-PE" i="0" dirty="0"/>
              <a:t>TÉCNICAS </a:t>
            </a:r>
            <a:r>
              <a:rPr lang="es-PE" dirty="0"/>
              <a:t>BABOK®</a:t>
            </a:r>
          </a:p>
        </p:txBody>
      </p:sp>
      <p:sp>
        <p:nvSpPr>
          <p:cNvPr id="6" name="Marcador de texto 12">
            <a:extLst>
              <a:ext uri="{FF2B5EF4-FFF2-40B4-BE49-F238E27FC236}">
                <a16:creationId xmlns:a16="http://schemas.microsoft.com/office/drawing/2014/main" id="{0B5DB3E8-A95A-43A3-B6BE-D1ABC2E0E54F}"/>
              </a:ext>
            </a:extLst>
          </p:cNvPr>
          <p:cNvSpPr txBox="1">
            <a:spLocks/>
          </p:cNvSpPr>
          <p:nvPr/>
        </p:nvSpPr>
        <p:spPr>
          <a:xfrm>
            <a:off x="468313" y="277813"/>
            <a:ext cx="8207375" cy="354012"/>
          </a:xfrm>
          <a:prstGeom prst="rect">
            <a:avLst/>
          </a:prstGeom>
        </p:spPr>
        <p:txBody>
          <a:bodyPr lIns="72000" tIns="36000" rIns="72000" bIns="36000"/>
          <a:lstStyle>
            <a:lvl1pPr marL="0" indent="0" algn="l" defTabSz="457200" rtl="0" eaLnBrk="1" latinLnBrk="0" hangingPunct="1">
              <a:spcBef>
                <a:spcPct val="20000"/>
              </a:spcBef>
              <a:buFont typeface="Arial"/>
              <a:buNone/>
              <a:defRPr sz="1800" b="1" kern="1200">
                <a:solidFill>
                  <a:srgbClr val="1F85A6"/>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s-PE"/>
              <a:t>/ EVALUACIÓN DE LA SOLUCIÓN</a:t>
            </a:r>
            <a:endParaRPr lang="es-PE" dirty="0"/>
          </a:p>
        </p:txBody>
      </p:sp>
    </p:spTree>
    <p:extLst>
      <p:ext uri="{BB962C8B-B14F-4D97-AF65-F5344CB8AC3E}">
        <p14:creationId xmlns:p14="http://schemas.microsoft.com/office/powerpoint/2010/main" val="1078976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4F500AF3-50A8-4251-BC95-6B4FF9C4652B}"/>
              </a:ext>
            </a:extLst>
          </p:cNvPr>
          <p:cNvSpPr>
            <a:spLocks noGrp="1"/>
          </p:cNvSpPr>
          <p:nvPr>
            <p:ph type="body" sz="quarter" idx="10"/>
          </p:nvPr>
        </p:nvSpPr>
        <p:spPr>
          <a:xfrm>
            <a:off x="927366" y="1670909"/>
            <a:ext cx="7713398" cy="3020361"/>
          </a:xfrm>
        </p:spPr>
        <p:txBody>
          <a:bodyPr/>
          <a:lstStyle/>
          <a:p>
            <a:r>
              <a:rPr lang="es-ES" dirty="0"/>
              <a:t>La gestión del cambio involucra la identificación de impactados, comunicación efectiva, capacitación, abordar la resistencia al cambio y evaluar la efectividad del proceso.</a:t>
            </a:r>
          </a:p>
          <a:p>
            <a:r>
              <a:rPr lang="es-ES" dirty="0"/>
              <a:t>El mantenimiento es una fase continua que incluye la corrección de errores, mejoras y adaptaciones para mantener la funcionalidad y satisfacer las necesidades cambiantes de los usuarios.</a:t>
            </a:r>
          </a:p>
          <a:p>
            <a:r>
              <a:rPr lang="es-ES" dirty="0"/>
              <a:t>El soporte permite brindar asistencia a los usuarios, resolver problemas y mantener una comunicación efectiva, asegurando una experiencia positiva y el máximo rendimiento de la aplicación.</a:t>
            </a:r>
          </a:p>
          <a:p>
            <a:r>
              <a:rPr lang="es-ES" dirty="0"/>
              <a:t>La evaluación de la solución es el garantizar la existencia de una solución real.</a:t>
            </a:r>
          </a:p>
        </p:txBody>
      </p:sp>
    </p:spTree>
    <p:custDataLst>
      <p:tags r:id="rId1"/>
    </p:custDataLst>
    <p:extLst>
      <p:ext uri="{BB962C8B-B14F-4D97-AF65-F5344CB8AC3E}">
        <p14:creationId xmlns:p14="http://schemas.microsoft.com/office/powerpoint/2010/main" val="4015447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89435A8C-18F1-4C11-BC95-3930F36C4A90}"/>
              </a:ext>
            </a:extLst>
          </p:cNvPr>
          <p:cNvSpPr>
            <a:spLocks noGrp="1"/>
          </p:cNvSpPr>
          <p:nvPr>
            <p:ph type="body" sz="quarter" idx="10"/>
          </p:nvPr>
        </p:nvSpPr>
        <p:spPr/>
        <p:txBody>
          <a:bodyPr/>
          <a:lstStyle/>
          <a:p>
            <a:pPr>
              <a:lnSpc>
                <a:spcPct val="100000"/>
              </a:lnSpc>
            </a:pPr>
            <a:r>
              <a:rPr lang="en-US" dirty="0"/>
              <a:t>Roger S. Pressman. (2014). Software Engineering: A Practitioner's Approach. McGraw-Hill Education.</a:t>
            </a:r>
          </a:p>
          <a:p>
            <a:pPr>
              <a:lnSpc>
                <a:spcPct val="100000"/>
              </a:lnSpc>
            </a:pPr>
            <a:r>
              <a:rPr lang="en-US" dirty="0"/>
              <a:t>Alain April &amp; Alain </a:t>
            </a:r>
            <a:r>
              <a:rPr lang="en-US" dirty="0" err="1"/>
              <a:t>Abran</a:t>
            </a:r>
            <a:r>
              <a:rPr lang="en-US" dirty="0"/>
              <a:t>. (2012). Software Maintenance Management: Evaluation and Continuous Improvement. Wiley.</a:t>
            </a:r>
          </a:p>
          <a:p>
            <a:pPr>
              <a:lnSpc>
                <a:spcPct val="100000"/>
              </a:lnSpc>
            </a:pPr>
            <a:r>
              <a:rPr lang="en-US" dirty="0"/>
              <a:t>Heather Wilcox. (2006). Best Practices in Application Support: Enabling Comprehensive Life Cycle Management. Computerworld, 40(17), 25.</a:t>
            </a:r>
          </a:p>
          <a:p>
            <a:pPr>
              <a:lnSpc>
                <a:spcPct val="100000"/>
              </a:lnSpc>
            </a:pPr>
            <a:r>
              <a:rPr lang="en-US" dirty="0"/>
              <a:t>IIBA: International Institute of Business Analysis. </a:t>
            </a:r>
            <a:r>
              <a:rPr lang="en-US" dirty="0" err="1"/>
              <a:t>Recuperado</a:t>
            </a:r>
            <a:r>
              <a:rPr lang="en-US" dirty="0"/>
              <a:t> de https://www.iiba.org/</a:t>
            </a:r>
          </a:p>
          <a:p>
            <a:pPr>
              <a:lnSpc>
                <a:spcPct val="100000"/>
              </a:lnSpc>
            </a:pPr>
            <a:r>
              <a:rPr lang="en-US" dirty="0"/>
              <a:t>International Institute of Business Analysis (2015), A Guide to the Business Analysis Body of Knowledge® (BABOK® Guide): 3 </a:t>
            </a:r>
          </a:p>
        </p:txBody>
      </p:sp>
    </p:spTree>
    <p:custDataLst>
      <p:tags r:id="rId1"/>
    </p:custDataLst>
    <p:extLst>
      <p:ext uri="{BB962C8B-B14F-4D97-AF65-F5344CB8AC3E}">
        <p14:creationId xmlns:p14="http://schemas.microsoft.com/office/powerpoint/2010/main" val="2633154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DESIGN_ID_OFFICE THEME" val="Yge96mEv"/>
  <p:tag name="ARTICULATE_SLIDE_COUNT" val="1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21299</TotalTime>
  <Words>4026</Words>
  <Application>Microsoft Office PowerPoint</Application>
  <PresentationFormat>Presentación en pantalla (16:10)</PresentationFormat>
  <Paragraphs>379</Paragraphs>
  <Slides>53</Slides>
  <Notes>53</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53</vt:i4>
      </vt:variant>
    </vt:vector>
  </HeadingPairs>
  <TitlesOfParts>
    <vt:vector size="58" baseType="lpstr">
      <vt:lpstr>Arial</vt:lpstr>
      <vt:lpstr>Calibri</vt:lpstr>
      <vt:lpstr>Delius</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ISIL</dc:creator>
  <cp:lastModifiedBy>Arturo Enrique Reátegui Herrera</cp:lastModifiedBy>
  <cp:revision>1330</cp:revision>
  <cp:lastPrinted>2018-01-16T21:42:59Z</cp:lastPrinted>
  <dcterms:created xsi:type="dcterms:W3CDTF">2016-10-06T14:52:02Z</dcterms:created>
  <dcterms:modified xsi:type="dcterms:W3CDTF">2023-08-07T19:22:22Z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