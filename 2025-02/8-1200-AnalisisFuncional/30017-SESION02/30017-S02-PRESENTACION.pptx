
<file path=[Content_Types].xml><?xml version="1.0" encoding="utf-8"?>
<Types xmlns="http://schemas.openxmlformats.org/package/2006/content-types">
  <Default Extension="png" ContentType="image/png"/>
  <Default Extension="svg" ContentType="image/svg+xml"/>
  <Default Extension="emf" ContentType="image/x-emf"/>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ags/tag2.xml" ContentType="application/vnd.openxmlformats-officedocument.presentationml.tags+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7.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8.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9.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10.xml" ContentType="application/vnd.openxmlformats-officedocument.presentationml.tag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11.xml" ContentType="application/vnd.openxmlformats-officedocument.presentationml.tags+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tags/tag12.xml" ContentType="application/vnd.openxmlformats-officedocument.presentationml.tags+xml"/>
  <Override PartName="/ppt/notesSlides/notesSlide47.xml" ContentType="application/vnd.openxmlformats-officedocument.presentationml.notesSlide+xml"/>
  <Override PartName="/ppt/tags/tag13.xml" ContentType="application/vnd.openxmlformats-officedocument.presentationml.tags+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70" r:id="rId2"/>
  </p:sldMasterIdLst>
  <p:notesMasterIdLst>
    <p:notesMasterId r:id="rId51"/>
  </p:notesMasterIdLst>
  <p:handoutMasterIdLst>
    <p:handoutMasterId r:id="rId52"/>
  </p:handoutMasterIdLst>
  <p:sldIdLst>
    <p:sldId id="418" r:id="rId3"/>
    <p:sldId id="337" r:id="rId4"/>
    <p:sldId id="315" r:id="rId5"/>
    <p:sldId id="419" r:id="rId6"/>
    <p:sldId id="420" r:id="rId7"/>
    <p:sldId id="421" r:id="rId8"/>
    <p:sldId id="423" r:id="rId9"/>
    <p:sldId id="422" r:id="rId10"/>
    <p:sldId id="424" r:id="rId11"/>
    <p:sldId id="425" r:id="rId12"/>
    <p:sldId id="426" r:id="rId13"/>
    <p:sldId id="427" r:id="rId14"/>
    <p:sldId id="428" r:id="rId15"/>
    <p:sldId id="430" r:id="rId16"/>
    <p:sldId id="431" r:id="rId17"/>
    <p:sldId id="432" r:id="rId18"/>
    <p:sldId id="433" r:id="rId19"/>
    <p:sldId id="434" r:id="rId20"/>
    <p:sldId id="435" r:id="rId21"/>
    <p:sldId id="436" r:id="rId22"/>
    <p:sldId id="437" r:id="rId23"/>
    <p:sldId id="438" r:id="rId24"/>
    <p:sldId id="439" r:id="rId25"/>
    <p:sldId id="440" r:id="rId26"/>
    <p:sldId id="441" r:id="rId27"/>
    <p:sldId id="442" r:id="rId28"/>
    <p:sldId id="443" r:id="rId29"/>
    <p:sldId id="444" r:id="rId30"/>
    <p:sldId id="445" r:id="rId31"/>
    <p:sldId id="446" r:id="rId32"/>
    <p:sldId id="447" r:id="rId33"/>
    <p:sldId id="448" r:id="rId34"/>
    <p:sldId id="449" r:id="rId35"/>
    <p:sldId id="450" r:id="rId36"/>
    <p:sldId id="451" r:id="rId37"/>
    <p:sldId id="452" r:id="rId38"/>
    <p:sldId id="453" r:id="rId39"/>
    <p:sldId id="454" r:id="rId40"/>
    <p:sldId id="455" r:id="rId41"/>
    <p:sldId id="456" r:id="rId42"/>
    <p:sldId id="457" r:id="rId43"/>
    <p:sldId id="458" r:id="rId44"/>
    <p:sldId id="459" r:id="rId45"/>
    <p:sldId id="460" r:id="rId46"/>
    <p:sldId id="461" r:id="rId47"/>
    <p:sldId id="462" r:id="rId48"/>
    <p:sldId id="303" r:id="rId49"/>
    <p:sldId id="305" r:id="rId50"/>
  </p:sldIdLst>
  <p:sldSz cx="9144000" cy="5715000" type="screen16x10"/>
  <p:notesSz cx="6797675" cy="9926638"/>
  <p:custDataLst>
    <p:tags r:id="rId5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3126"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58ED5"/>
    <a:srgbClr val="48C2BB"/>
    <a:srgbClr val="1F85A6"/>
    <a:srgbClr val="15BDAD"/>
    <a:srgbClr val="F1D156"/>
    <a:srgbClr val="276B7D"/>
    <a:srgbClr val="F1FDC3"/>
    <a:srgbClr val="9CC606"/>
    <a:srgbClr val="E2F6F1"/>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561" autoAdjust="0"/>
    <p:restoredTop sz="95332" autoAdjust="0"/>
  </p:normalViewPr>
  <p:slideViewPr>
    <p:cSldViewPr snapToGrid="0" snapToObjects="1" showGuides="1">
      <p:cViewPr varScale="1">
        <p:scale>
          <a:sx n="100" d="100"/>
          <a:sy n="100" d="100"/>
        </p:scale>
        <p:origin x="1224" y="62"/>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30" d="100"/>
        <a:sy n="130" d="100"/>
      </p:scale>
      <p:origin x="0" y="0"/>
    </p:cViewPr>
  </p:sorterViewPr>
  <p:notesViewPr>
    <p:cSldViewPr snapToGrid="0" snapToObjects="1" showGuides="1">
      <p:cViewPr varScale="1">
        <p:scale>
          <a:sx n="48" d="100"/>
          <a:sy n="48" d="100"/>
        </p:scale>
        <p:origin x="2940" y="60"/>
      </p:cViewPr>
      <p:guideLst>
        <p:guide orient="horz" pos="3126"/>
        <p:guide pos="214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ags" Target="tags/tag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50443" y="0"/>
            <a:ext cx="2945659" cy="496332"/>
          </a:xfrm>
          <a:prstGeom prst="rect">
            <a:avLst/>
          </a:prstGeom>
        </p:spPr>
        <p:txBody>
          <a:bodyPr vert="horz" lIns="91440" tIns="45720" rIns="91440" bIns="45720" rtlCol="0"/>
          <a:lstStyle>
            <a:lvl1pPr algn="r">
              <a:defRPr sz="1200"/>
            </a:lvl1pPr>
          </a:lstStyle>
          <a:p>
            <a:fld id="{11932DC7-834F-6148-86AF-F72164F7FFC1}" type="datetimeFigureOut">
              <a:rPr lang="es-ES" smtClean="0"/>
              <a:t>26/06/2023</a:t>
            </a:fld>
            <a:endParaRPr lang="es-ES"/>
          </a:p>
        </p:txBody>
      </p:sp>
      <p:sp>
        <p:nvSpPr>
          <p:cNvPr id="4" name="Marcador de pie de página 3"/>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6CEA6FD5-E31A-6D44-BE80-5A94AC694FC0}" type="slidenum">
              <a:rPr lang="es-ES" smtClean="0"/>
              <a:t>‹Nº›</a:t>
            </a:fld>
            <a:endParaRPr lang="es-ES"/>
          </a:p>
        </p:txBody>
      </p:sp>
    </p:spTree>
    <p:extLst>
      <p:ext uri="{BB962C8B-B14F-4D97-AF65-F5344CB8AC3E}">
        <p14:creationId xmlns:p14="http://schemas.microsoft.com/office/powerpoint/2010/main" val="34265184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1"/>
            <a:ext cx="2945659" cy="498056"/>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50443" y="1"/>
            <a:ext cx="2945659" cy="498056"/>
          </a:xfrm>
          <a:prstGeom prst="rect">
            <a:avLst/>
          </a:prstGeom>
        </p:spPr>
        <p:txBody>
          <a:bodyPr vert="horz" lIns="91440" tIns="45720" rIns="91440" bIns="45720" rtlCol="0"/>
          <a:lstStyle>
            <a:lvl1pPr algn="r">
              <a:defRPr sz="1200"/>
            </a:lvl1pPr>
          </a:lstStyle>
          <a:p>
            <a:fld id="{FFDF1720-AE80-4069-8D89-2C76E8AFD874}" type="datetimeFigureOut">
              <a:rPr lang="es-PE" smtClean="0"/>
              <a:t>26/06/2023</a:t>
            </a:fld>
            <a:endParaRPr lang="es-PE"/>
          </a:p>
        </p:txBody>
      </p:sp>
      <p:sp>
        <p:nvSpPr>
          <p:cNvPr id="4" name="Marcador de imagen de diapositiva 3"/>
          <p:cNvSpPr>
            <a:spLocks noGrp="1" noRot="1" noChangeAspect="1"/>
          </p:cNvSpPr>
          <p:nvPr>
            <p:ph type="sldImg" idx="2"/>
          </p:nvPr>
        </p:nvSpPr>
        <p:spPr>
          <a:xfrm>
            <a:off x="719138" y="1241425"/>
            <a:ext cx="5359400" cy="3349625"/>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79768" y="4777194"/>
            <a:ext cx="5438140" cy="3908615"/>
          </a:xfrm>
          <a:prstGeom prst="rect">
            <a:avLst/>
          </a:prstGeom>
        </p:spPr>
        <p:txBody>
          <a:bodyPr vert="horz" lIns="91440" tIns="45720" rIns="91440" bIns="45720" rtlCol="0"/>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6" name="Marcador de pie de página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F56700CA-E45F-416D-B659-25554F846B43}" type="slidenum">
              <a:rPr lang="es-PE" smtClean="0"/>
              <a:t>‹Nº›</a:t>
            </a:fld>
            <a:endParaRPr lang="es-PE"/>
          </a:p>
        </p:txBody>
      </p:sp>
    </p:spTree>
    <p:extLst>
      <p:ext uri="{BB962C8B-B14F-4D97-AF65-F5344CB8AC3E}">
        <p14:creationId xmlns:p14="http://schemas.microsoft.com/office/powerpoint/2010/main" val="1248527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 typeface="Arial" panose="020B0604020202020204" pitchFamily="34" charset="0"/>
              <a:buChar cha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a:t>
            </a:fld>
            <a:endParaRPr lang="es-PE"/>
          </a:p>
        </p:txBody>
      </p:sp>
    </p:spTree>
    <p:extLst>
      <p:ext uri="{BB962C8B-B14F-4D97-AF65-F5344CB8AC3E}">
        <p14:creationId xmlns:p14="http://schemas.microsoft.com/office/powerpoint/2010/main" val="28793867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a:t>
            </a:fld>
            <a:endParaRPr lang="es-PE"/>
          </a:p>
        </p:txBody>
      </p:sp>
    </p:spTree>
    <p:extLst>
      <p:ext uri="{BB962C8B-B14F-4D97-AF65-F5344CB8AC3E}">
        <p14:creationId xmlns:p14="http://schemas.microsoft.com/office/powerpoint/2010/main" val="6143060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a:t>
            </a:fld>
            <a:endParaRPr lang="es-PE"/>
          </a:p>
        </p:txBody>
      </p:sp>
    </p:spTree>
    <p:extLst>
      <p:ext uri="{BB962C8B-B14F-4D97-AF65-F5344CB8AC3E}">
        <p14:creationId xmlns:p14="http://schemas.microsoft.com/office/powerpoint/2010/main" val="11344541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b="0" i="0" dirty="0">
                <a:solidFill>
                  <a:srgbClr val="888888"/>
                </a:solidFill>
                <a:effectLst/>
                <a:latin typeface="Ubuntu" panose="020B0504030602030204" pitchFamily="34" charset="0"/>
              </a:rPr>
              <a:t>La guía del BABOK tiene 6 áreas de conocimiento. Las cuales se pueden abordar en cualquier orden. </a:t>
            </a: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a:t>
            </a:fld>
            <a:endParaRPr lang="es-PE"/>
          </a:p>
        </p:txBody>
      </p:sp>
    </p:spTree>
    <p:extLst>
      <p:ext uri="{BB962C8B-B14F-4D97-AF65-F5344CB8AC3E}">
        <p14:creationId xmlns:p14="http://schemas.microsoft.com/office/powerpoint/2010/main" val="21929653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a:t>
            </a:fld>
            <a:endParaRPr lang="es-PE"/>
          </a:p>
        </p:txBody>
      </p:sp>
    </p:spTree>
    <p:extLst>
      <p:ext uri="{BB962C8B-B14F-4D97-AF65-F5344CB8AC3E}">
        <p14:creationId xmlns:p14="http://schemas.microsoft.com/office/powerpoint/2010/main" val="2535744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6</a:t>
            </a:fld>
            <a:endParaRPr lang="es-PE"/>
          </a:p>
        </p:txBody>
      </p:sp>
    </p:spTree>
    <p:extLst>
      <p:ext uri="{BB962C8B-B14F-4D97-AF65-F5344CB8AC3E}">
        <p14:creationId xmlns:p14="http://schemas.microsoft.com/office/powerpoint/2010/main" val="526365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Los enfoques AE describen el método general que se seguirá al realizar el trabajo de análisis empresarial en una iniciativa determinada, cómo y cuándo se realizarán las tareas y los resultados que se producirán.</a:t>
            </a:r>
          </a:p>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7</a:t>
            </a:fld>
            <a:endParaRPr lang="es-PE"/>
          </a:p>
        </p:txBody>
      </p:sp>
    </p:spTree>
    <p:extLst>
      <p:ext uri="{BB962C8B-B14F-4D97-AF65-F5344CB8AC3E}">
        <p14:creationId xmlns:p14="http://schemas.microsoft.com/office/powerpoint/2010/main" val="11136797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8</a:t>
            </a:fld>
            <a:endParaRPr lang="es-PE"/>
          </a:p>
        </p:txBody>
      </p:sp>
    </p:spTree>
    <p:extLst>
      <p:ext uri="{BB962C8B-B14F-4D97-AF65-F5344CB8AC3E}">
        <p14:creationId xmlns:p14="http://schemas.microsoft.com/office/powerpoint/2010/main" val="10925294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dirty="0"/>
              <a:t>Los analistas de negocios se aseguran de que exista un proceso de gobierno y aclaran cualquier ambigüedad dentro de él. </a:t>
            </a: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9</a:t>
            </a:fld>
            <a:endParaRPr lang="es-PE"/>
          </a:p>
        </p:txBody>
      </p:sp>
    </p:spTree>
    <p:extLst>
      <p:ext uri="{BB962C8B-B14F-4D97-AF65-F5344CB8AC3E}">
        <p14:creationId xmlns:p14="http://schemas.microsoft.com/office/powerpoint/2010/main" val="888573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dirty="0"/>
              <a:t>La información de análisis de negocios se compone de toda la información que los analistas de negocios obtienen, crean, compilan y difunden en el curso de la realización del análisis de negocios. </a:t>
            </a:r>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La gestión de la información ayuda a garantizar que la información del análisis empresarial se organice de manera funcional y útil, sea de fácil acceso para el personal adecuado y se almacene durante el tiempo necesario.</a:t>
            </a:r>
          </a:p>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10</a:t>
            </a:fld>
            <a:endParaRPr lang="es-PE"/>
          </a:p>
        </p:txBody>
      </p:sp>
    </p:spTree>
    <p:extLst>
      <p:ext uri="{BB962C8B-B14F-4D97-AF65-F5344CB8AC3E}">
        <p14:creationId xmlns:p14="http://schemas.microsoft.com/office/powerpoint/2010/main" val="14684199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dirty="0"/>
              <a:t>El análisis de desempeño debe ocurrir a lo largo de una iniciativa. </a:t>
            </a: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11</a:t>
            </a:fld>
            <a:endParaRPr lang="es-PE"/>
          </a:p>
        </p:txBody>
      </p:sp>
    </p:spTree>
    <p:extLst>
      <p:ext uri="{BB962C8B-B14F-4D97-AF65-F5344CB8AC3E}">
        <p14:creationId xmlns:p14="http://schemas.microsoft.com/office/powerpoint/2010/main" val="32088295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12</a:t>
            </a:fld>
            <a:endParaRPr lang="es-PE"/>
          </a:p>
        </p:txBody>
      </p:sp>
    </p:spTree>
    <p:extLst>
      <p:ext uri="{BB962C8B-B14F-4D97-AF65-F5344CB8AC3E}">
        <p14:creationId xmlns:p14="http://schemas.microsoft.com/office/powerpoint/2010/main" val="15089736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La obtención de información de análisis empresarial no es una actividad aislada. </a:t>
            </a:r>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La información se obtiene al realizar cualquier tarea que incluya la interacción con las partes interesadas y mientras el analista de negocios realiza un trabajo analítico independiente. </a:t>
            </a:r>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La elicitación puede desencadenar una obtención adicional de detalles para llenar los vacíos o aumentar la comprensión.</a:t>
            </a:r>
            <a:endParaRPr lang="es-PE" dirty="0"/>
          </a:p>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13</a:t>
            </a:fld>
            <a:endParaRPr lang="es-PE"/>
          </a:p>
        </p:txBody>
      </p:sp>
    </p:spTree>
    <p:extLst>
      <p:ext uri="{BB962C8B-B14F-4D97-AF65-F5344CB8AC3E}">
        <p14:creationId xmlns:p14="http://schemas.microsoft.com/office/powerpoint/2010/main" val="26792290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14</a:t>
            </a:fld>
            <a:endParaRPr lang="es-PE"/>
          </a:p>
        </p:txBody>
      </p:sp>
    </p:spTree>
    <p:extLst>
      <p:ext uri="{BB962C8B-B14F-4D97-AF65-F5344CB8AC3E}">
        <p14:creationId xmlns:p14="http://schemas.microsoft.com/office/powerpoint/2010/main" val="24310173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dirty="0"/>
              <a:t>Los </a:t>
            </a:r>
            <a:r>
              <a:rPr lang="es-ES" i="1" dirty="0"/>
              <a:t>stakeholders</a:t>
            </a:r>
            <a:r>
              <a:rPr lang="es-ES" dirty="0"/>
              <a:t> aún podrían participar en la investigación. La investigación puede incluir análisis de datos de datos históricos para identificar tendencias o resultados anteriores.</a:t>
            </a:r>
          </a:p>
          <a:p>
            <a:pPr marL="0" marR="0" indent="0" algn="l" defTabSz="914400" rtl="0" eaLnBrk="1" fontAlgn="auto" latinLnBrk="0" hangingPunct="1">
              <a:lnSpc>
                <a:spcPct val="100000"/>
              </a:lnSpc>
              <a:spcBef>
                <a:spcPts val="0"/>
              </a:spcBef>
              <a:spcAft>
                <a:spcPts val="0"/>
              </a:spcAft>
              <a:buClrTx/>
              <a:buSzTx/>
              <a:buFontTx/>
              <a:buNone/>
              <a:tabLst/>
              <a:defRPr/>
            </a:pPr>
            <a:r>
              <a:rPr lang="es-ES" dirty="0"/>
              <a:t>Los experimentos incluyen estudios observacionales, pruebas de concepto y prototipos.</a:t>
            </a: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15</a:t>
            </a:fld>
            <a:endParaRPr lang="es-PE"/>
          </a:p>
        </p:txBody>
      </p:sp>
    </p:spTree>
    <p:extLst>
      <p:ext uri="{BB962C8B-B14F-4D97-AF65-F5344CB8AC3E}">
        <p14:creationId xmlns:p14="http://schemas.microsoft.com/office/powerpoint/2010/main" val="28185268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dirty="0"/>
              <a:t>Puede ser necesaria la colaboración con las partes interesadas para garantizar que sus aportes se capturen correctamente y que estén de acuerdo con los resultados de la obtención no facilitada.</a:t>
            </a: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16</a:t>
            </a:fld>
            <a:endParaRPr lang="es-PE"/>
          </a:p>
        </p:txBody>
      </p:sp>
    </p:spTree>
    <p:extLst>
      <p:ext uri="{BB962C8B-B14F-4D97-AF65-F5344CB8AC3E}">
        <p14:creationId xmlns:p14="http://schemas.microsoft.com/office/powerpoint/2010/main" val="14736567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Se da consideración a expresar la información en lenguaje, tono y estilo que sea apropiado para la audiencia.</a:t>
            </a:r>
          </a:p>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17</a:t>
            </a:fld>
            <a:endParaRPr lang="es-PE"/>
          </a:p>
        </p:txBody>
      </p:sp>
    </p:spTree>
    <p:extLst>
      <p:ext uri="{BB962C8B-B14F-4D97-AF65-F5344CB8AC3E}">
        <p14:creationId xmlns:p14="http://schemas.microsoft.com/office/powerpoint/2010/main" val="18778202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Los stakeholders tienen varios grados de influencia y autoridad sobre la aprobación de los productos de trabajo y también son una fuente importante de necesidades, restricciones y suposiciones.</a:t>
            </a:r>
          </a:p>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18</a:t>
            </a:fld>
            <a:endParaRPr lang="es-PE"/>
          </a:p>
        </p:txBody>
      </p:sp>
    </p:spTree>
    <p:extLst>
      <p:ext uri="{BB962C8B-B14F-4D97-AF65-F5344CB8AC3E}">
        <p14:creationId xmlns:p14="http://schemas.microsoft.com/office/powerpoint/2010/main" val="25155968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19</a:t>
            </a:fld>
            <a:endParaRPr lang="es-PE"/>
          </a:p>
        </p:txBody>
      </p:sp>
    </p:spTree>
    <p:extLst>
      <p:ext uri="{BB962C8B-B14F-4D97-AF65-F5344CB8AC3E}">
        <p14:creationId xmlns:p14="http://schemas.microsoft.com/office/powerpoint/2010/main" val="39706218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dirty="0"/>
              <a:t>Implica un nivel de control sobre los requisitos y sobre cómo se implementarán los requisitos en la solución real que se construirá y entregará. También ayuda a garantizar que la información del análisis empresarial esté disponible para uso futuro.</a:t>
            </a:r>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A lo largo de la vida de una solución, los requisitos continúan brindando valor cuando se administran adecuadamente.</a:t>
            </a: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20</a:t>
            </a:fld>
            <a:endParaRPr lang="es-PE"/>
          </a:p>
        </p:txBody>
      </p:sp>
    </p:spTree>
    <p:extLst>
      <p:ext uri="{BB962C8B-B14F-4D97-AF65-F5344CB8AC3E}">
        <p14:creationId xmlns:p14="http://schemas.microsoft.com/office/powerpoint/2010/main" val="12325014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dirty="0"/>
              <a:t>La trazabilidad se utiliza para ayudar a garantizar que la solución cumpla con los requisitos y para ayudar en la gestión del alcance, el cambio, el riesgo, el tiempo, el costo y la comunicación. </a:t>
            </a: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21</a:t>
            </a:fld>
            <a:endParaRPr lang="es-PE"/>
          </a:p>
        </p:txBody>
      </p:sp>
    </p:spTree>
    <p:extLst>
      <p:ext uri="{BB962C8B-B14F-4D97-AF65-F5344CB8AC3E}">
        <p14:creationId xmlns:p14="http://schemas.microsoft.com/office/powerpoint/2010/main" val="13102292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22</a:t>
            </a:fld>
            <a:endParaRPr lang="es-PE"/>
          </a:p>
        </p:txBody>
      </p:sp>
    </p:spTree>
    <p:extLst>
      <p:ext uri="{BB962C8B-B14F-4D97-AF65-F5344CB8AC3E}">
        <p14:creationId xmlns:p14="http://schemas.microsoft.com/office/powerpoint/2010/main" val="5547366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La priorización es un ejercicio crítico que busca asegurar que se logre el máximo valor.</a:t>
            </a: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23</a:t>
            </a:fld>
            <a:endParaRPr lang="es-PE"/>
          </a:p>
        </p:txBody>
      </p:sp>
    </p:spTree>
    <p:extLst>
      <p:ext uri="{BB962C8B-B14F-4D97-AF65-F5344CB8AC3E}">
        <p14:creationId xmlns:p14="http://schemas.microsoft.com/office/powerpoint/2010/main" val="40599299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Se debe realizar una evaluación para determinar si un cambio propuesto aumentará el valor de la solución y, de ser así, qué acción se debe tomar.</a:t>
            </a:r>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La tarea Evaluar cambios en los requisitos se realiza a medida que se identifican nuevas necesidades o posibles soluciones.</a:t>
            </a:r>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Los resultados de la evaluación deben respaldar la toma de decisiones y los enfoques de control de cambios definidos.</a:t>
            </a: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24</a:t>
            </a:fld>
            <a:endParaRPr lang="es-PE"/>
          </a:p>
        </p:txBody>
      </p:sp>
    </p:spTree>
    <p:extLst>
      <p:ext uri="{BB962C8B-B14F-4D97-AF65-F5344CB8AC3E}">
        <p14:creationId xmlns:p14="http://schemas.microsoft.com/office/powerpoint/2010/main" val="22959980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Los analistas son responsables de garantizar una comunicación clara de los requisitos, diseños y otra información de análisis empresarial a los stakeholders clave responsables de aprobar esa información.</a:t>
            </a:r>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Los enfoques predictivos suelen realizar aprobaciones al final de la fase o durante las reuniones de control de cambios planificadas. Los enfoques adaptativos normalmente aprueban los requisitos solo cuando puede comenzar la construcción e implementación de una solución que cumpla con el requisito.</a:t>
            </a:r>
          </a:p>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25</a:t>
            </a:fld>
            <a:endParaRPr lang="es-PE"/>
          </a:p>
        </p:txBody>
      </p:sp>
    </p:spTree>
    <p:extLst>
      <p:ext uri="{BB962C8B-B14F-4D97-AF65-F5344CB8AC3E}">
        <p14:creationId xmlns:p14="http://schemas.microsoft.com/office/powerpoint/2010/main" val="6705017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26</a:t>
            </a:fld>
            <a:endParaRPr lang="es-PE"/>
          </a:p>
        </p:txBody>
      </p:sp>
    </p:spTree>
    <p:extLst>
      <p:ext uri="{BB962C8B-B14F-4D97-AF65-F5344CB8AC3E}">
        <p14:creationId xmlns:p14="http://schemas.microsoft.com/office/powerpoint/2010/main" val="13091160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La estrategia define la forma más efectiva de aplicar las capacidades de una empresa para alcanzar un conjunto deseado de metas y objetivos.</a:t>
            </a: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27</a:t>
            </a:fld>
            <a:endParaRPr lang="es-PE"/>
          </a:p>
        </p:txBody>
      </p:sp>
    </p:spTree>
    <p:extLst>
      <p:ext uri="{BB962C8B-B14F-4D97-AF65-F5344CB8AC3E}">
        <p14:creationId xmlns:p14="http://schemas.microsoft.com/office/powerpoint/2010/main" val="365058227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El cambio siempre ocurre en un contexto de </a:t>
            </a:r>
            <a:r>
              <a:rPr lang="es-ES" i="1" dirty="0"/>
              <a:t>stakeholders</a:t>
            </a:r>
            <a:r>
              <a:rPr lang="es-ES" dirty="0"/>
              <a:t>, procesos, tecnología y políticas existentes que constituyen el estado actual de la empresa.</a:t>
            </a:r>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Es necesario comprender el estado actual de la empresa antes del cambio para identificar qué se deberá cambiar para lograr el estado futuro deseado y cómo se evaluará el efecto del cambio.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ES" dirty="0"/>
          </a:p>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28</a:t>
            </a:fld>
            <a:endParaRPr lang="es-PE"/>
          </a:p>
        </p:txBody>
      </p:sp>
    </p:spTree>
    <p:extLst>
      <p:ext uri="{BB962C8B-B14F-4D97-AF65-F5344CB8AC3E}">
        <p14:creationId xmlns:p14="http://schemas.microsoft.com/office/powerpoint/2010/main" val="24575268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Permite garantizar que el estado futuro de la empresa esté bien definido, que se pueda lograr con los recursos disponibles y que los stakeholders clave tengan una visión consensuada del resultado.</a:t>
            </a:r>
          </a:p>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29</a:t>
            </a:fld>
            <a:endParaRPr lang="es-PE"/>
          </a:p>
        </p:txBody>
      </p:sp>
    </p:spTree>
    <p:extLst>
      <p:ext uri="{BB962C8B-B14F-4D97-AF65-F5344CB8AC3E}">
        <p14:creationId xmlns:p14="http://schemas.microsoft.com/office/powerpoint/2010/main" val="19231280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Una comprensión del impacto potencial de esas fuerzas se puede utilizar para hacer una recomendación sobre un curso de acción.</a:t>
            </a:r>
          </a:p>
          <a:p>
            <a:pPr marL="0" marR="0" indent="0" algn="l" defTabSz="914400" rtl="0" eaLnBrk="1" fontAlgn="auto" latinLnBrk="0" hangingPunct="1">
              <a:lnSpc>
                <a:spcPct val="100000"/>
              </a:lnSpc>
              <a:spcBef>
                <a:spcPts val="0"/>
              </a:spcBef>
              <a:spcAft>
                <a:spcPts val="0"/>
              </a:spcAft>
              <a:buClrTx/>
              <a:buSzTx/>
              <a:buFontTx/>
              <a:buNone/>
              <a:tabLst/>
              <a:defRPr/>
            </a:pPr>
            <a:r>
              <a:rPr lang="es-ES" dirty="0"/>
              <a:t>Los riesgos pueden estar relacionados con el estado actual, un estado futuro deseado, un cambio en sí mismo, una estrategia de cambio o cualquier tarea que esté realizando la empresa.</a:t>
            </a: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30</a:t>
            </a:fld>
            <a:endParaRPr lang="es-PE"/>
          </a:p>
        </p:txBody>
      </p:sp>
    </p:spTree>
    <p:extLst>
      <p:ext uri="{BB962C8B-B14F-4D97-AF65-F5344CB8AC3E}">
        <p14:creationId xmlns:p14="http://schemas.microsoft.com/office/powerpoint/2010/main" val="35481544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Desarrollar una estrategia de cambio es más simple cuando el estado actual y el estado futuro ya están definidos porque brindan cierto contexto para el cambio.</a:t>
            </a:r>
          </a:p>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31</a:t>
            </a:fld>
            <a:endParaRPr lang="es-PE"/>
          </a:p>
        </p:txBody>
      </p:sp>
    </p:spTree>
    <p:extLst>
      <p:ext uri="{BB962C8B-B14F-4D97-AF65-F5344CB8AC3E}">
        <p14:creationId xmlns:p14="http://schemas.microsoft.com/office/powerpoint/2010/main" val="200800485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32</a:t>
            </a:fld>
            <a:endParaRPr lang="es-PE"/>
          </a:p>
        </p:txBody>
      </p:sp>
    </p:spTree>
    <p:extLst>
      <p:ext uri="{BB962C8B-B14F-4D97-AF65-F5344CB8AC3E}">
        <p14:creationId xmlns:p14="http://schemas.microsoft.com/office/powerpoint/2010/main" val="14682620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Describe las tareas que realizan los analistas para estructurar y organizar los requisitos descubiertos durante el trabajo de análisis empresarial.</a:t>
            </a:r>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La principal diferencia entre los requisitos y los diseños está en cómo se utilizan y por quién. Los diseños de una persona pueden ser los requisitos de otra persona. Los requisitos y diseños pueden ser de alto nivel o muy detallados según lo que sea apropiado para quienes consumen la información.</a:t>
            </a:r>
          </a:p>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33</a:t>
            </a:fld>
            <a:endParaRPr lang="es-PE"/>
          </a:p>
        </p:txBody>
      </p:sp>
    </p:spTree>
    <p:extLst>
      <p:ext uri="{BB962C8B-B14F-4D97-AF65-F5344CB8AC3E}">
        <p14:creationId xmlns:p14="http://schemas.microsoft.com/office/powerpoint/2010/main" val="29389703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 Las actividades de especificación y modelado se relacionan con todos los tipos de requisitos.</a:t>
            </a:r>
          </a:p>
          <a:p>
            <a:endParaRPr lang="es-PE" dirty="0"/>
          </a:p>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34</a:t>
            </a:fld>
            <a:endParaRPr lang="es-PE"/>
          </a:p>
        </p:txBody>
      </p:sp>
    </p:spTree>
    <p:extLst>
      <p:ext uri="{BB962C8B-B14F-4D97-AF65-F5344CB8AC3E}">
        <p14:creationId xmlns:p14="http://schemas.microsoft.com/office/powerpoint/2010/main" val="250788622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Una especificación de alta calidad está bien escrita y su público objetivo la entiende fácilmente. Un modelo de alta calidad sigue los estándares de notación formales o informales y representa efectivamente la realidad.</a:t>
            </a:r>
          </a:p>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35</a:t>
            </a:fld>
            <a:endParaRPr lang="es-PE"/>
          </a:p>
        </p:txBody>
      </p:sp>
    </p:spTree>
    <p:extLst>
      <p:ext uri="{BB962C8B-B14F-4D97-AF65-F5344CB8AC3E}">
        <p14:creationId xmlns:p14="http://schemas.microsoft.com/office/powerpoint/2010/main" val="363426903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Es un proceso continuo para garantizar que los requisitos de los stakeholders, la solución y la transición se alineen con los requisitos de negocio y que los diseños satisfagan los requisitos.</a:t>
            </a:r>
          </a:p>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36</a:t>
            </a:fld>
            <a:endParaRPr lang="es-PE"/>
          </a:p>
        </p:txBody>
      </p:sp>
    </p:spTree>
    <p:extLst>
      <p:ext uri="{BB962C8B-B14F-4D97-AF65-F5344CB8AC3E}">
        <p14:creationId xmlns:p14="http://schemas.microsoft.com/office/powerpoint/2010/main" val="267281733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dirty="0"/>
              <a:t>La arquitectura de requisitos es la estructura de todos los requisitos de un cambio. </a:t>
            </a:r>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Una arquitectura de requisitos ajusta los modelos y especificaciones individuales para garantizar que todos los requisitos formen un todo único que respalde los objetivos comerciales generales y produzca un resultado útil para los stakeholders.</a:t>
            </a:r>
          </a:p>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37</a:t>
            </a:fld>
            <a:endParaRPr lang="es-PE"/>
          </a:p>
        </p:txBody>
      </p:sp>
    </p:spTree>
    <p:extLst>
      <p:ext uri="{BB962C8B-B14F-4D97-AF65-F5344CB8AC3E}">
        <p14:creationId xmlns:p14="http://schemas.microsoft.com/office/powerpoint/2010/main" val="385250605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Los analistas de negocios deben evaluar el efecto que tendrán estas compensaciones en la entrega de valor a los stakeholders. A medida que avanzan las iniciativas y evolucionan los requisitos, también evolucionan las opciones de diseño.</a:t>
            </a: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38</a:t>
            </a:fld>
            <a:endParaRPr lang="es-PE"/>
          </a:p>
        </p:txBody>
      </p:sp>
    </p:spTree>
    <p:extLst>
      <p:ext uri="{BB962C8B-B14F-4D97-AF65-F5344CB8AC3E}">
        <p14:creationId xmlns:p14="http://schemas.microsoft.com/office/powerpoint/2010/main" val="121253555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dirty="0"/>
              <a:t>Este análisis puede ser un evento planificado o puede desencadenarse por una modificación del contexto o el alcance del cambio. </a:t>
            </a:r>
          </a:p>
          <a:p>
            <a:pPr marL="0" marR="0" indent="0" algn="l" defTabSz="914400" rtl="0" eaLnBrk="1" fontAlgn="auto" latinLnBrk="0" hangingPunct="1">
              <a:lnSpc>
                <a:spcPct val="100000"/>
              </a:lnSpc>
              <a:spcBef>
                <a:spcPts val="0"/>
              </a:spcBef>
              <a:spcAft>
                <a:spcPts val="0"/>
              </a:spcAft>
              <a:buClrTx/>
              <a:buSzTx/>
              <a:buFontTx/>
              <a:buNone/>
              <a:tabLst/>
              <a:defRPr/>
            </a:pPr>
            <a:r>
              <a:rPr lang="es-ES" dirty="0"/>
              <a:t>El análisis de valor potencial incluye la consideración de que existe incertidumbre en las estimaciones. </a:t>
            </a: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39</a:t>
            </a:fld>
            <a:endParaRPr lang="es-PE"/>
          </a:p>
        </p:txBody>
      </p:sp>
    </p:spTree>
    <p:extLst>
      <p:ext uri="{BB962C8B-B14F-4D97-AF65-F5344CB8AC3E}">
        <p14:creationId xmlns:p14="http://schemas.microsoft.com/office/powerpoint/2010/main" val="390709398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40</a:t>
            </a:fld>
            <a:endParaRPr lang="es-PE"/>
          </a:p>
        </p:txBody>
      </p:sp>
    </p:spTree>
    <p:extLst>
      <p:ext uri="{BB962C8B-B14F-4D97-AF65-F5344CB8AC3E}">
        <p14:creationId xmlns:p14="http://schemas.microsoft.com/office/powerpoint/2010/main" val="289245675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Las tareas de evaluación de soluciones que respaldan la realización de beneficios pueden ocurrir antes de que se inicie un cambio, mientras se evalúa el valor actual o después de que se haya implementado una solución.</a:t>
            </a:r>
          </a:p>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41</a:t>
            </a:fld>
            <a:endParaRPr lang="es-PE"/>
          </a:p>
        </p:txBody>
      </p:sp>
    </p:spTree>
    <p:extLst>
      <p:ext uri="{BB962C8B-B14F-4D97-AF65-F5344CB8AC3E}">
        <p14:creationId xmlns:p14="http://schemas.microsoft.com/office/powerpoint/2010/main" val="86049580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Las medidas de rendimiento determinan el valor de una solución recién implementada o existente.</a:t>
            </a:r>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Cuando las soluciones no tienen medidas de rendimiento integradas, el analista trabaja con los stakeholders para determinar y recopilar las medidas que mejor reflejarán el rendimiento de una solución.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ES" dirty="0"/>
          </a:p>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42</a:t>
            </a:fld>
            <a:endParaRPr lang="es-PE"/>
          </a:p>
        </p:txBody>
      </p:sp>
    </p:spTree>
    <p:extLst>
      <p:ext uri="{BB962C8B-B14F-4D97-AF65-F5344CB8AC3E}">
        <p14:creationId xmlns:p14="http://schemas.microsoft.com/office/powerpoint/2010/main" val="150638226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Las medidas de rendimiento en sí mismas rara vez desencadenan una decisión sobre el valor de una solución.</a:t>
            </a:r>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Para analizar significativamente las medidas de desempeño, los analistas de negocios requieren una comprensión profunda del valor potencial que las partes interesadas esperan lograr con la solución. </a:t>
            </a:r>
          </a:p>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43</a:t>
            </a:fld>
            <a:endParaRPr lang="es-PE"/>
          </a:p>
        </p:txBody>
      </p:sp>
    </p:spTree>
    <p:extLst>
      <p:ext uri="{BB962C8B-B14F-4D97-AF65-F5344CB8AC3E}">
        <p14:creationId xmlns:p14="http://schemas.microsoft.com/office/powerpoint/2010/main" val="280472437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dirty="0"/>
              <a:t>Evaluar las limitaciones de la solución está estrechamente relacionado con la tarea Evaluar las limitaciones de la empresa. Estas tareas pueden realizarse simultáneamente. si la solución no ha alcanzado su valor potencial, los analistas de negocio determinan qué factores, tanto internos como externos a la solución, limitan el valor. </a:t>
            </a: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44</a:t>
            </a:fld>
            <a:endParaRPr lang="es-PE"/>
          </a:p>
        </p:txBody>
      </p:sp>
    </p:spTree>
    <p:extLst>
      <p:ext uri="{BB962C8B-B14F-4D97-AF65-F5344CB8AC3E}">
        <p14:creationId xmlns:p14="http://schemas.microsoft.com/office/powerpoint/2010/main" val="162658641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La evaluación de las limitaciones empresariales identifica las causas fundamentales y describe cómo los factores empresariales limitan la realización del valor.</a:t>
            </a:r>
          </a:p>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45</a:t>
            </a:fld>
            <a:endParaRPr lang="es-PE"/>
          </a:p>
        </p:txBody>
      </p:sp>
    </p:spTree>
    <p:extLst>
      <p:ext uri="{BB962C8B-B14F-4D97-AF65-F5344CB8AC3E}">
        <p14:creationId xmlns:p14="http://schemas.microsoft.com/office/powerpoint/2010/main" val="187140318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46</a:t>
            </a:fld>
            <a:endParaRPr lang="es-PE"/>
          </a:p>
        </p:txBody>
      </p:sp>
    </p:spTree>
    <p:extLst>
      <p:ext uri="{BB962C8B-B14F-4D97-AF65-F5344CB8AC3E}">
        <p14:creationId xmlns:p14="http://schemas.microsoft.com/office/powerpoint/2010/main" val="119056625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pPr marL="228600" indent="-228600" rtl="0">
              <a:buFont typeface="+mj-lt"/>
              <a:buAutoNum type="arabicPeriod"/>
            </a:pPr>
            <a:endParaRPr lang="es-PE" sz="1200" b="0" dirty="0">
              <a:effectLst/>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47</a:t>
            </a:fld>
            <a:endParaRPr lang="es-PE"/>
          </a:p>
        </p:txBody>
      </p:sp>
    </p:spTree>
    <p:extLst>
      <p:ext uri="{BB962C8B-B14F-4D97-AF65-F5344CB8AC3E}">
        <p14:creationId xmlns:p14="http://schemas.microsoft.com/office/powerpoint/2010/main" val="113445410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3" indent="0" algn="l" defTabSz="914400" rtl="0" eaLnBrk="1" fontAlgn="auto" latinLnBrk="0" hangingPunct="1">
              <a:lnSpc>
                <a:spcPct val="100000"/>
              </a:lnSpc>
              <a:spcBef>
                <a:spcPts val="0"/>
              </a:spcBef>
              <a:spcAft>
                <a:spcPts val="0"/>
              </a:spcAft>
              <a:buClrTx/>
              <a:buSzTx/>
              <a:buFontTx/>
              <a:buNone/>
              <a:tabLst/>
              <a:defRPr/>
            </a:pPr>
            <a:r>
              <a:rPr lang="es-PE" sz="1200" kern="1200" dirty="0">
                <a:solidFill>
                  <a:schemeClr val="tx1"/>
                </a:solidFill>
                <a:effectLst/>
                <a:latin typeface="Arial" panose="020B0604020202020204" pitchFamily="34" charset="0"/>
                <a:ea typeface="+mn-ea"/>
                <a:cs typeface="Arial" panose="020B0604020202020204" pitchFamily="34" charset="0"/>
              </a:rPr>
              <a:t> </a:t>
            </a:r>
          </a:p>
          <a:p>
            <a:endParaRPr lang="es-PE" sz="1200"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48</a:t>
            </a:fld>
            <a:endParaRPr lang="es-PE"/>
          </a:p>
        </p:txBody>
      </p:sp>
    </p:spTree>
    <p:extLst>
      <p:ext uri="{BB962C8B-B14F-4D97-AF65-F5344CB8AC3E}">
        <p14:creationId xmlns:p14="http://schemas.microsoft.com/office/powerpoint/2010/main" val="184904349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xml"/><Relationship Id="rId4"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4.png"/><Relationship Id="rId3" Type="http://schemas.openxmlformats.org/officeDocument/2006/relationships/image" Target="../media/image6.svg"/><Relationship Id="rId7" Type="http://schemas.openxmlformats.org/officeDocument/2006/relationships/image" Target="../media/image9.png"/><Relationship Id="rId12" Type="http://schemas.openxmlformats.org/officeDocument/2006/relationships/image" Target="../media/image13.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11" Type="http://schemas.microsoft.com/office/2007/relationships/hdphoto" Target="../media/hdphoto2.wdp"/><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5.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Master" Target="../slideMasters/slideMaster2.xml"/><Relationship Id="rId1" Type="http://schemas.openxmlformats.org/officeDocument/2006/relationships/tags" Target="../tags/tag3.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9.png"/><Relationship Id="rId1" Type="http://schemas.openxmlformats.org/officeDocument/2006/relationships/slideMaster" Target="../slideMasters/slideMaster2.xml"/><Relationship Id="rId4" Type="http://schemas.microsoft.com/office/2007/relationships/hdphoto" Target="../media/hdphoto1.wdp"/></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0.png"/><Relationship Id="rId1" Type="http://schemas.openxmlformats.org/officeDocument/2006/relationships/slideMaster" Target="../slideMasters/slideMaster2.xml"/><Relationship Id="rId4"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_Introduccion">
    <p:bg>
      <p:bgPr>
        <a:solidFill>
          <a:schemeClr val="bg1">
            <a:lumMod val="95000"/>
          </a:schemeClr>
        </a:solidFill>
        <a:effectLst/>
      </p:bgPr>
    </p:bg>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DEFFC524-5204-4B8D-AB52-89B3D97070F1}"/>
              </a:ext>
            </a:extLst>
          </p:cNvPr>
          <p:cNvSpPr/>
          <p:nvPr userDrawn="1"/>
        </p:nvSpPr>
        <p:spPr>
          <a:xfrm>
            <a:off x="503238" y="997483"/>
            <a:ext cx="1945800" cy="249299"/>
          </a:xfrm>
          <a:prstGeom prst="rect">
            <a:avLst/>
          </a:prstGeom>
        </p:spPr>
        <p:txBody>
          <a:bodyPr wrap="square" lIns="0" tIns="0" rIns="0" bIns="0">
            <a:spAutoFit/>
          </a:bodyPr>
          <a:lstStyle/>
          <a:p>
            <a:pPr marL="0" marR="0" lvl="0" indent="0" algn="l" defTabSz="411480" rtl="0" eaLnBrk="1" fontAlgn="auto" latinLnBrk="0" hangingPunct="1">
              <a:lnSpc>
                <a:spcPct val="100000"/>
              </a:lnSpc>
              <a:spcBef>
                <a:spcPts val="0"/>
              </a:spcBef>
              <a:spcAft>
                <a:spcPts val="0"/>
              </a:spcAft>
              <a:buClrTx/>
              <a:buSzTx/>
              <a:buFontTx/>
              <a:buNone/>
              <a:tabLst/>
              <a:defRPr/>
            </a:pPr>
            <a:r>
              <a:rPr kumimoji="0" lang="en-US" sz="1620" b="1" i="0" u="none" strike="noStrike" kern="1200" cap="none" spc="0" normalizeH="0" baseline="0" noProof="0" dirty="0">
                <a:ln>
                  <a:noFill/>
                </a:ln>
                <a:solidFill>
                  <a:schemeClr val="tx1"/>
                </a:solidFill>
                <a:effectLst/>
                <a:uLnTx/>
                <a:uFillTx/>
                <a:latin typeface="Calibri"/>
                <a:ea typeface="+mn-ea"/>
                <a:cs typeface="+mn-cs"/>
              </a:rPr>
              <a:t>INTRODUCCIÓN</a:t>
            </a:r>
          </a:p>
        </p:txBody>
      </p:sp>
      <p:pic>
        <p:nvPicPr>
          <p:cNvPr id="3" name="Imagen 2">
            <a:extLst>
              <a:ext uri="{FF2B5EF4-FFF2-40B4-BE49-F238E27FC236}">
                <a16:creationId xmlns:a16="http://schemas.microsoft.com/office/drawing/2014/main" id="{949F8A1D-5EEE-42EF-A95B-31789C550AC2}"/>
              </a:ext>
            </a:extLst>
          </p:cNvPr>
          <p:cNvPicPr>
            <a:picLocks noChangeAspect="1"/>
          </p:cNvPicPr>
          <p:nvPr userDrawn="1"/>
        </p:nvPicPr>
        <p:blipFill>
          <a:blip r:embed="rId3">
            <a:alphaModFix/>
            <a:biLevel thresh="75000"/>
            <a:extLst>
              <a:ext uri="{BEBA8EAE-BF5A-486C-A8C5-ECC9F3942E4B}">
                <a14:imgProps xmlns:a14="http://schemas.microsoft.com/office/drawing/2010/main">
                  <a14:imgLayer r:embed="rId4">
                    <a14:imgEffect>
                      <a14:colorTemperature colorTemp="1500"/>
                    </a14:imgEffect>
                    <a14:imgEffect>
                      <a14:saturation sat="0"/>
                    </a14:imgEffect>
                  </a14:imgLayer>
                </a14:imgProps>
              </a:ext>
            </a:extLst>
          </a:blip>
          <a:stretch>
            <a:fillRect/>
          </a:stretch>
        </p:blipFill>
        <p:spPr>
          <a:xfrm>
            <a:off x="503239" y="573356"/>
            <a:ext cx="424127" cy="424127"/>
          </a:xfrm>
          <a:prstGeom prst="rect">
            <a:avLst/>
          </a:prstGeom>
          <a:solidFill>
            <a:schemeClr val="bg1">
              <a:lumMod val="95000"/>
            </a:schemeClr>
          </a:solidFill>
        </p:spPr>
      </p:pic>
      <p:sp>
        <p:nvSpPr>
          <p:cNvPr id="8" name="Marcador de texto 7">
            <a:extLst>
              <a:ext uri="{FF2B5EF4-FFF2-40B4-BE49-F238E27FC236}">
                <a16:creationId xmlns:a16="http://schemas.microsoft.com/office/drawing/2014/main" id="{C946181C-25DC-4BDD-9928-A88184E17BFD}"/>
              </a:ext>
            </a:extLst>
          </p:cNvPr>
          <p:cNvSpPr>
            <a:spLocks noGrp="1"/>
          </p:cNvSpPr>
          <p:nvPr>
            <p:ph type="body" sz="quarter" idx="10"/>
          </p:nvPr>
        </p:nvSpPr>
        <p:spPr>
          <a:xfrm>
            <a:off x="503238" y="1670050"/>
            <a:ext cx="8137525" cy="3563938"/>
          </a:xfrm>
          <a:prstGeom prst="rect">
            <a:avLst/>
          </a:prstGeom>
        </p:spPr>
        <p:txBody>
          <a:bodyPr/>
          <a:lstStyle>
            <a:lvl1pPr marL="266700" indent="-266700" algn="just">
              <a:lnSpc>
                <a:spcPct val="100000"/>
              </a:lnSpc>
              <a:spcBef>
                <a:spcPts val="0"/>
              </a:spcBef>
              <a:spcAft>
                <a:spcPts val="1200"/>
              </a:spcAft>
              <a:buSzPct val="75000"/>
              <a:buFont typeface="Wingdings" panose="05000000000000000000" pitchFamily="2" charset="2"/>
              <a:buChar char="q"/>
              <a:defRPr sz="1600"/>
            </a:lvl1pPr>
            <a:lvl2pPr marL="531813" indent="-265113" algn="just">
              <a:lnSpc>
                <a:spcPct val="100000"/>
              </a:lnSpc>
              <a:spcBef>
                <a:spcPts val="0"/>
              </a:spcBef>
              <a:spcAft>
                <a:spcPts val="1200"/>
              </a:spcAft>
              <a:buFont typeface="Delius" panose="02000603000000000000" pitchFamily="2" charset="0"/>
              <a:buChar char="→"/>
              <a:defRPr sz="1600"/>
            </a:lvl2pPr>
            <a:lvl3pPr marL="717550" indent="-185738" algn="just">
              <a:lnSpc>
                <a:spcPct val="100000"/>
              </a:lnSpc>
              <a:spcBef>
                <a:spcPts val="0"/>
              </a:spcBef>
              <a:spcAft>
                <a:spcPts val="1200"/>
              </a:spcAft>
              <a:buFont typeface="Wingdings" panose="05000000000000000000" pitchFamily="2" charset="2"/>
              <a:buChar char="§"/>
              <a:defRPr sz="1600"/>
            </a:lvl3pPr>
            <a:lvl4pPr>
              <a:lnSpc>
                <a:spcPct val="85000"/>
              </a:lnSpc>
              <a:spcBef>
                <a:spcPts val="0"/>
              </a:spcBef>
              <a:spcAft>
                <a:spcPts val="1200"/>
              </a:spcAft>
              <a:defRPr sz="1600"/>
            </a:lvl4pPr>
            <a:lvl5pPr>
              <a:lnSpc>
                <a:spcPct val="85000"/>
              </a:lnSpc>
              <a:spcBef>
                <a:spcPts val="0"/>
              </a:spcBef>
              <a:spcAft>
                <a:spcPts val="1200"/>
              </a:spcAft>
              <a:defRPr sz="1600"/>
            </a:lvl5pPr>
          </a:lstStyle>
          <a:p>
            <a:pPr lvl="0"/>
            <a:r>
              <a:rPr lang="es-ES" dirty="0"/>
              <a:t>Haga clic para modificar los estilos de texto del patrón</a:t>
            </a:r>
          </a:p>
          <a:p>
            <a:pPr lvl="1"/>
            <a:r>
              <a:rPr lang="es-ES" dirty="0"/>
              <a:t>Segundo nivel</a:t>
            </a:r>
          </a:p>
          <a:p>
            <a:pPr lvl="2"/>
            <a:r>
              <a:rPr lang="es-ES" dirty="0"/>
              <a:t>Tercer nivel</a:t>
            </a:r>
            <a:endParaRPr lang="es-PE" dirty="0"/>
          </a:p>
        </p:txBody>
      </p:sp>
    </p:spTree>
    <p:custDataLst>
      <p:tags r:id="rId1"/>
    </p:custDataLst>
    <p:extLst>
      <p:ext uri="{BB962C8B-B14F-4D97-AF65-F5344CB8AC3E}">
        <p14:creationId xmlns:p14="http://schemas.microsoft.com/office/powerpoint/2010/main" val="4023211956"/>
      </p:ext>
    </p:extLst>
  </p:cSld>
  <p:clrMapOvr>
    <a:masterClrMapping/>
  </p:clrMapOvr>
  <p:extLst>
    <p:ext uri="{DCECCB84-F9BA-43D5-87BE-67443E8EF086}">
      <p15:sldGuideLst xmlns:p15="http://schemas.microsoft.com/office/powerpoint/2012/main">
        <p15:guide id="1" orient="horz" pos="1052" userDrawn="1">
          <p15:clr>
            <a:srgbClr val="FBAE40"/>
          </p15:clr>
        </p15:guide>
        <p15:guide id="2" pos="317" userDrawn="1">
          <p15:clr>
            <a:srgbClr val="FBAE40"/>
          </p15:clr>
        </p15:guide>
        <p15:guide id="3" pos="5443" userDrawn="1">
          <p15:clr>
            <a:srgbClr val="FBAE40"/>
          </p15:clr>
        </p15:guide>
        <p15:guide id="4" orient="horz" pos="3297"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apo_Subtema con Imagen Horizontal">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4717FB9E-6DD3-4BBD-A122-85F3673CCA90}"/>
              </a:ext>
            </a:extLst>
          </p:cNvPr>
          <p:cNvSpPr>
            <a:spLocks noGrp="1"/>
          </p:cNvSpPr>
          <p:nvPr>
            <p:ph type="pic" sz="quarter" idx="10"/>
          </p:nvPr>
        </p:nvSpPr>
        <p:spPr>
          <a:xfrm>
            <a:off x="470825" y="2867600"/>
            <a:ext cx="8208000" cy="2394000"/>
          </a:xfrm>
          <a:prstGeom prst="rect">
            <a:avLst/>
          </a:prstGeom>
        </p:spPr>
        <p:txBody>
          <a:bodyPr anchor="ctr"/>
          <a:lstStyle>
            <a:lvl1pPr marL="0" indent="0" algn="ctr">
              <a:buNone/>
              <a:defRPr/>
            </a:lvl1pPr>
          </a:lstStyle>
          <a:p>
            <a:endParaRPr lang="es-PE"/>
          </a:p>
        </p:txBody>
      </p:sp>
      <p:sp>
        <p:nvSpPr>
          <p:cNvPr id="11" name="Marcador de texto 10">
            <a:extLst>
              <a:ext uri="{FF2B5EF4-FFF2-40B4-BE49-F238E27FC236}">
                <a16:creationId xmlns:a16="http://schemas.microsoft.com/office/drawing/2014/main" id="{AC29DAAB-CDF4-4B89-8C31-EA10C6E01FDC}"/>
              </a:ext>
            </a:extLst>
          </p:cNvPr>
          <p:cNvSpPr>
            <a:spLocks noGrp="1"/>
          </p:cNvSpPr>
          <p:nvPr>
            <p:ph type="body" sz="quarter" idx="12" hasCustomPrompt="1"/>
          </p:nvPr>
        </p:nvSpPr>
        <p:spPr>
          <a:xfrm>
            <a:off x="468313" y="804863"/>
            <a:ext cx="8207375" cy="354012"/>
          </a:xfrm>
          <a:prstGeom prst="rect">
            <a:avLst/>
          </a:prstGeom>
        </p:spPr>
        <p:txBody>
          <a:bodyPr lIns="72000" tIns="36000" rIns="72000" bIns="36000" anchor="ctr"/>
          <a:lstStyle>
            <a:lvl1pPr marL="0" indent="0">
              <a:lnSpc>
                <a:spcPct val="85000"/>
              </a:lnSpc>
              <a:spcBef>
                <a:spcPts val="0"/>
              </a:spcBef>
              <a:buNone/>
              <a:defRPr sz="1600" b="1"/>
            </a:lvl1pPr>
          </a:lstStyle>
          <a:p>
            <a:pPr lvl="0"/>
            <a:r>
              <a:rPr lang="es-ES" dirty="0"/>
              <a:t>HAGA CLIC PARA MODIFICAR LOS ESTILOS DE TEXTO DEL PATRÓN</a:t>
            </a:r>
            <a:endParaRPr lang="es-PE" dirty="0"/>
          </a:p>
        </p:txBody>
      </p:sp>
      <p:sp>
        <p:nvSpPr>
          <p:cNvPr id="15" name="Marcador de texto 14">
            <a:extLst>
              <a:ext uri="{FF2B5EF4-FFF2-40B4-BE49-F238E27FC236}">
                <a16:creationId xmlns:a16="http://schemas.microsoft.com/office/drawing/2014/main" id="{383EF17E-5C96-4858-ACC0-09751EF7DCBE}"/>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
        <p:nvSpPr>
          <p:cNvPr id="5" name="Marcador de texto 4">
            <a:extLst>
              <a:ext uri="{FF2B5EF4-FFF2-40B4-BE49-F238E27FC236}">
                <a16:creationId xmlns:a16="http://schemas.microsoft.com/office/drawing/2014/main" id="{B6AB609E-19B2-43F3-94FB-608EEAC4D4C8}"/>
              </a:ext>
            </a:extLst>
          </p:cNvPr>
          <p:cNvSpPr>
            <a:spLocks noGrp="1"/>
          </p:cNvSpPr>
          <p:nvPr>
            <p:ph type="body" sz="quarter" idx="14"/>
          </p:nvPr>
        </p:nvSpPr>
        <p:spPr>
          <a:xfrm>
            <a:off x="468313" y="1182025"/>
            <a:ext cx="8207375" cy="1674000"/>
          </a:xfrm>
          <a:prstGeom prst="rect">
            <a:avLst/>
          </a:prstGeom>
        </p:spPr>
        <p:txBody>
          <a:bodyPr/>
          <a:lstStyle>
            <a:lvl1pPr marL="266700" indent="-266700" algn="just">
              <a:spcBef>
                <a:spcPts val="0"/>
              </a:spcBef>
              <a:spcAft>
                <a:spcPts val="800"/>
              </a:spcAft>
              <a:buSzPct val="75000"/>
              <a:buFont typeface="Wingdings" panose="05000000000000000000" pitchFamily="2" charset="2"/>
              <a:buChar char="q"/>
              <a:defRPr sz="1600"/>
            </a:lvl1pPr>
            <a:lvl2pPr marL="531813" indent="-265113" algn="just">
              <a:spcBef>
                <a:spcPts val="0"/>
              </a:spcBef>
              <a:spcAft>
                <a:spcPts val="800"/>
              </a:spcAft>
              <a:buFont typeface="Delius" panose="02000603000000000000" pitchFamily="2" charset="0"/>
              <a:buChar char="→"/>
              <a:defRPr sz="1600"/>
            </a:lvl2pPr>
            <a:lvl3pPr marL="717550" indent="-185738" algn="just">
              <a:spcBef>
                <a:spcPts val="0"/>
              </a:spcBef>
              <a:spcAft>
                <a:spcPts val="800"/>
              </a:spcAft>
              <a:buFont typeface="Wingdings" panose="05000000000000000000" pitchFamily="2" charset="2"/>
              <a:buChar char="§"/>
              <a:defRPr sz="1600"/>
            </a:lvl3pPr>
            <a:lvl4pPr>
              <a:defRPr sz="1600"/>
            </a:lvl4pPr>
            <a:lvl5pPr>
              <a:defRPr sz="1600"/>
            </a:lvl5pPr>
          </a:lstStyle>
          <a:p>
            <a:pPr lvl="0"/>
            <a:r>
              <a:rPr lang="es-ES" dirty="0"/>
              <a:t>Haga clic para modificar los estilos de texto del patrón</a:t>
            </a:r>
          </a:p>
          <a:p>
            <a:pPr lvl="1"/>
            <a:r>
              <a:rPr lang="es-ES" dirty="0"/>
              <a:t>Segundo nivel</a:t>
            </a:r>
          </a:p>
          <a:p>
            <a:pPr lvl="2"/>
            <a:r>
              <a:rPr lang="es-ES" dirty="0"/>
              <a:t>Tercer nivel</a:t>
            </a:r>
            <a:endParaRPr lang="es-PE" dirty="0"/>
          </a:p>
        </p:txBody>
      </p:sp>
    </p:spTree>
    <p:extLst>
      <p:ext uri="{BB962C8B-B14F-4D97-AF65-F5344CB8AC3E}">
        <p14:creationId xmlns:p14="http://schemas.microsoft.com/office/powerpoint/2010/main" val="611824996"/>
      </p:ext>
    </p:extLst>
  </p:cSld>
  <p:clrMapOvr>
    <a:masterClrMapping/>
  </p:clrMapOvr>
  <p:extLst>
    <p:ext uri="{DCECCB84-F9BA-43D5-87BE-67443E8EF086}">
      <p15:sldGuideLst xmlns:p15="http://schemas.microsoft.com/office/powerpoint/2012/main">
        <p15:guide id="1" pos="295" userDrawn="1">
          <p15:clr>
            <a:srgbClr val="FBAE40"/>
          </p15:clr>
        </p15:guide>
        <p15:guide id="2" pos="5465" userDrawn="1">
          <p15:clr>
            <a:srgbClr val="FBAE40"/>
          </p15:clr>
        </p15:guide>
        <p15:guide id="4" orient="horz" pos="507" userDrawn="1">
          <p15:clr>
            <a:srgbClr val="FBAE40"/>
          </p15:clr>
        </p15:guide>
        <p15:guide id="5" orient="horz" pos="33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_Subtema con Imagen Vertical">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4717FB9E-6DD3-4BBD-A122-85F3673CCA90}"/>
              </a:ext>
            </a:extLst>
          </p:cNvPr>
          <p:cNvSpPr>
            <a:spLocks noGrp="1"/>
          </p:cNvSpPr>
          <p:nvPr>
            <p:ph type="pic" sz="quarter" idx="10"/>
          </p:nvPr>
        </p:nvSpPr>
        <p:spPr>
          <a:xfrm>
            <a:off x="4595149" y="816438"/>
            <a:ext cx="4086000" cy="4446000"/>
          </a:xfrm>
          <a:prstGeom prst="rect">
            <a:avLst/>
          </a:prstGeom>
        </p:spPr>
        <p:txBody>
          <a:bodyPr anchor="ctr"/>
          <a:lstStyle>
            <a:lvl1pPr marL="0" indent="0" algn="ctr">
              <a:buNone/>
              <a:defRPr/>
            </a:lvl1pPr>
          </a:lstStyle>
          <a:p>
            <a:endParaRPr lang="es-PE" dirty="0"/>
          </a:p>
        </p:txBody>
      </p:sp>
      <p:sp>
        <p:nvSpPr>
          <p:cNvPr id="11" name="Marcador de texto 10">
            <a:extLst>
              <a:ext uri="{FF2B5EF4-FFF2-40B4-BE49-F238E27FC236}">
                <a16:creationId xmlns:a16="http://schemas.microsoft.com/office/drawing/2014/main" id="{AC29DAAB-CDF4-4B89-8C31-EA10C6E01FDC}"/>
              </a:ext>
            </a:extLst>
          </p:cNvPr>
          <p:cNvSpPr>
            <a:spLocks noGrp="1"/>
          </p:cNvSpPr>
          <p:nvPr>
            <p:ph type="body" sz="quarter" idx="12" hasCustomPrompt="1"/>
          </p:nvPr>
        </p:nvSpPr>
        <p:spPr>
          <a:xfrm>
            <a:off x="468313" y="804863"/>
            <a:ext cx="4103687" cy="354012"/>
          </a:xfrm>
          <a:prstGeom prst="rect">
            <a:avLst/>
          </a:prstGeom>
        </p:spPr>
        <p:txBody>
          <a:bodyPr lIns="72000" tIns="36000" rIns="72000" bIns="36000" anchor="ctr"/>
          <a:lstStyle>
            <a:lvl1pPr marL="0" indent="0">
              <a:lnSpc>
                <a:spcPct val="85000"/>
              </a:lnSpc>
              <a:spcBef>
                <a:spcPts val="0"/>
              </a:spcBef>
              <a:buNone/>
              <a:defRPr sz="1600" b="1"/>
            </a:lvl1pPr>
          </a:lstStyle>
          <a:p>
            <a:pPr lvl="0"/>
            <a:r>
              <a:rPr lang="es-ES" dirty="0"/>
              <a:t>HAGA CLIC PARA MODIFICAR LOS ESTILOS DE TEXTO DEL PATRÓN</a:t>
            </a:r>
            <a:endParaRPr lang="es-PE" dirty="0"/>
          </a:p>
        </p:txBody>
      </p:sp>
      <p:sp>
        <p:nvSpPr>
          <p:cNvPr id="15" name="Marcador de texto 14">
            <a:extLst>
              <a:ext uri="{FF2B5EF4-FFF2-40B4-BE49-F238E27FC236}">
                <a16:creationId xmlns:a16="http://schemas.microsoft.com/office/drawing/2014/main" id="{383EF17E-5C96-4858-ACC0-09751EF7DCBE}"/>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
        <p:nvSpPr>
          <p:cNvPr id="3" name="Marcador de texto 2">
            <a:extLst>
              <a:ext uri="{FF2B5EF4-FFF2-40B4-BE49-F238E27FC236}">
                <a16:creationId xmlns:a16="http://schemas.microsoft.com/office/drawing/2014/main" id="{FD04F222-EEB2-4557-8D4B-D05354FCD8C6}"/>
              </a:ext>
            </a:extLst>
          </p:cNvPr>
          <p:cNvSpPr>
            <a:spLocks noGrp="1"/>
          </p:cNvSpPr>
          <p:nvPr>
            <p:ph type="body" sz="quarter" idx="14"/>
          </p:nvPr>
        </p:nvSpPr>
        <p:spPr>
          <a:xfrm>
            <a:off x="468313" y="1158875"/>
            <a:ext cx="4103687" cy="4111625"/>
          </a:xfrm>
          <a:prstGeom prst="rect">
            <a:avLst/>
          </a:prstGeom>
        </p:spPr>
        <p:txBody>
          <a:bodyPr/>
          <a:lstStyle>
            <a:lvl1pPr marL="266700" indent="-266700" algn="just">
              <a:spcBef>
                <a:spcPts val="0"/>
              </a:spcBef>
              <a:spcAft>
                <a:spcPts val="1200"/>
              </a:spcAft>
              <a:buSzPct val="75000"/>
              <a:buFont typeface="Wingdings" panose="05000000000000000000" pitchFamily="2" charset="2"/>
              <a:buChar char="q"/>
              <a:defRPr sz="1600"/>
            </a:lvl1pPr>
            <a:lvl2pPr marL="531813" indent="-265113" algn="just">
              <a:spcBef>
                <a:spcPts val="0"/>
              </a:spcBef>
              <a:spcAft>
                <a:spcPts val="1200"/>
              </a:spcAft>
              <a:buFont typeface="Delius" panose="02000603000000000000" pitchFamily="2" charset="0"/>
              <a:buChar char="→"/>
              <a:defRPr sz="1600"/>
            </a:lvl2pPr>
            <a:lvl3pPr marL="717550" indent="-185738" algn="just">
              <a:spcBef>
                <a:spcPts val="0"/>
              </a:spcBef>
              <a:spcAft>
                <a:spcPts val="1200"/>
              </a:spcAft>
              <a:buFont typeface="Wingdings" panose="05000000000000000000" pitchFamily="2" charset="2"/>
              <a:buChar char="§"/>
              <a:defRPr sz="1600"/>
            </a:lvl3pPr>
            <a:lvl4pPr>
              <a:spcBef>
                <a:spcPts val="0"/>
              </a:spcBef>
              <a:defRPr sz="1600"/>
            </a:lvl4pPr>
            <a:lvl5pPr>
              <a:spcBef>
                <a:spcPts val="0"/>
              </a:spcBef>
              <a:defRPr sz="1600"/>
            </a:lvl5pPr>
          </a:lstStyle>
          <a:p>
            <a:pPr lvl="0"/>
            <a:r>
              <a:rPr lang="es-ES" dirty="0"/>
              <a:t>Haga clic para modificar los estilos de texto del patrón</a:t>
            </a:r>
          </a:p>
          <a:p>
            <a:pPr lvl="1"/>
            <a:r>
              <a:rPr lang="es-ES" dirty="0"/>
              <a:t>Segundo nivel</a:t>
            </a:r>
          </a:p>
          <a:p>
            <a:pPr lvl="2"/>
            <a:r>
              <a:rPr lang="es-ES" dirty="0"/>
              <a:t>Tercer nivel</a:t>
            </a:r>
            <a:endParaRPr lang="es-PE" dirty="0"/>
          </a:p>
        </p:txBody>
      </p:sp>
    </p:spTree>
    <p:extLst>
      <p:ext uri="{BB962C8B-B14F-4D97-AF65-F5344CB8AC3E}">
        <p14:creationId xmlns:p14="http://schemas.microsoft.com/office/powerpoint/2010/main" val="941359410"/>
      </p:ext>
    </p:extLst>
  </p:cSld>
  <p:clrMapOvr>
    <a:masterClrMapping/>
  </p:clrMapOvr>
  <p:extLst>
    <p:ext uri="{DCECCB84-F9BA-43D5-87BE-67443E8EF086}">
      <p15:sldGuideLst xmlns:p15="http://schemas.microsoft.com/office/powerpoint/2012/main">
        <p15:guide id="1" pos="295" userDrawn="1">
          <p15:clr>
            <a:srgbClr val="FBAE40"/>
          </p15:clr>
        </p15:guide>
        <p15:guide id="2" pos="5465" userDrawn="1">
          <p15:clr>
            <a:srgbClr val="FBAE40"/>
          </p15:clr>
        </p15:guide>
        <p15:guide id="3" orient="horz" pos="1800" userDrawn="1">
          <p15:clr>
            <a:srgbClr val="FBAE40"/>
          </p15:clr>
        </p15:guide>
        <p15:guide id="4" orient="horz" pos="507" userDrawn="1">
          <p15:clr>
            <a:srgbClr val="FBAE40"/>
          </p15:clr>
        </p15:guide>
        <p15:guide id="5" orient="horz" pos="3320" userDrawn="1">
          <p15:clr>
            <a:srgbClr val="FBAE40"/>
          </p15:clr>
        </p15:guide>
        <p15:guide id="6" pos="28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apo_Subtema con Cuadro">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4717FB9E-6DD3-4BBD-A122-85F3673CCA90}"/>
              </a:ext>
            </a:extLst>
          </p:cNvPr>
          <p:cNvSpPr>
            <a:spLocks noGrp="1"/>
          </p:cNvSpPr>
          <p:nvPr>
            <p:ph type="pic" sz="quarter" idx="10"/>
          </p:nvPr>
        </p:nvSpPr>
        <p:spPr>
          <a:xfrm>
            <a:off x="468313" y="1193600"/>
            <a:ext cx="8207375" cy="4068000"/>
          </a:xfrm>
          <a:prstGeom prst="rect">
            <a:avLst/>
          </a:prstGeom>
        </p:spPr>
        <p:txBody>
          <a:bodyPr anchor="ctr"/>
          <a:lstStyle>
            <a:lvl1pPr marL="0" indent="0" algn="ctr">
              <a:buNone/>
              <a:defRPr/>
            </a:lvl1pPr>
          </a:lstStyle>
          <a:p>
            <a:endParaRPr lang="es-PE"/>
          </a:p>
        </p:txBody>
      </p:sp>
      <p:sp>
        <p:nvSpPr>
          <p:cNvPr id="15" name="Marcador de texto 14">
            <a:extLst>
              <a:ext uri="{FF2B5EF4-FFF2-40B4-BE49-F238E27FC236}">
                <a16:creationId xmlns:a16="http://schemas.microsoft.com/office/drawing/2014/main" id="{383EF17E-5C96-4858-ACC0-09751EF7DCBE}"/>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
        <p:nvSpPr>
          <p:cNvPr id="3" name="Marcador de texto 2">
            <a:extLst>
              <a:ext uri="{FF2B5EF4-FFF2-40B4-BE49-F238E27FC236}">
                <a16:creationId xmlns:a16="http://schemas.microsoft.com/office/drawing/2014/main" id="{ABA448E1-A688-00A1-4209-9A9B21FA2758}"/>
              </a:ext>
            </a:extLst>
          </p:cNvPr>
          <p:cNvSpPr>
            <a:spLocks noGrp="1"/>
          </p:cNvSpPr>
          <p:nvPr>
            <p:ph type="body" sz="quarter" idx="14" hasCustomPrompt="1"/>
          </p:nvPr>
        </p:nvSpPr>
        <p:spPr>
          <a:xfrm>
            <a:off x="468313" y="804863"/>
            <a:ext cx="8207375" cy="354012"/>
          </a:xfrm>
          <a:prstGeom prst="rect">
            <a:avLst/>
          </a:prstGeom>
        </p:spPr>
        <p:txBody>
          <a:bodyPr/>
          <a:lstStyle>
            <a:lvl1pPr marL="0" indent="0">
              <a:buNone/>
              <a:defRPr sz="1600" b="1"/>
            </a:lvl1pPr>
          </a:lstStyle>
          <a:p>
            <a:pPr lvl="0"/>
            <a:r>
              <a:rPr lang="es-ES" dirty="0"/>
              <a:t>HAGA CLIC PARA MODIFICAR LOS ESTILOS DE TEXTO</a:t>
            </a:r>
            <a:endParaRPr lang="es-PE" dirty="0"/>
          </a:p>
        </p:txBody>
      </p:sp>
    </p:spTree>
    <p:extLst>
      <p:ext uri="{BB962C8B-B14F-4D97-AF65-F5344CB8AC3E}">
        <p14:creationId xmlns:p14="http://schemas.microsoft.com/office/powerpoint/2010/main" val="4152919170"/>
      </p:ext>
    </p:extLst>
  </p:cSld>
  <p:clrMapOvr>
    <a:masterClrMapping/>
  </p:clrMapOvr>
  <p:extLst>
    <p:ext uri="{DCECCB84-F9BA-43D5-87BE-67443E8EF086}">
      <p15:sldGuideLst xmlns:p15="http://schemas.microsoft.com/office/powerpoint/2012/main">
        <p15:guide id="1" pos="295" userDrawn="1">
          <p15:clr>
            <a:srgbClr val="FBAE40"/>
          </p15:clr>
        </p15:guide>
        <p15:guide id="2" pos="5465" userDrawn="1">
          <p15:clr>
            <a:srgbClr val="FBAE40"/>
          </p15:clr>
        </p15:guide>
        <p15:guide id="3" orient="horz" pos="1800" userDrawn="1">
          <p15:clr>
            <a:srgbClr val="FBAE40"/>
          </p15:clr>
        </p15:guide>
        <p15:guide id="4" orient="horz" pos="507" userDrawn="1">
          <p15:clr>
            <a:srgbClr val="FBAE40"/>
          </p15:clr>
        </p15:guide>
        <p15:guide id="5" orient="horz" pos="3320" userDrawn="1">
          <p15:clr>
            <a:srgbClr val="FBAE40"/>
          </p15:clr>
        </p15:guide>
        <p15:guide id="6" pos="28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apo_Video">
    <p:spTree>
      <p:nvGrpSpPr>
        <p:cNvPr id="1" name=""/>
        <p:cNvGrpSpPr/>
        <p:nvPr/>
      </p:nvGrpSpPr>
      <p:grpSpPr>
        <a:xfrm>
          <a:off x="0" y="0"/>
          <a:ext cx="0" cy="0"/>
          <a:chOff x="0" y="0"/>
          <a:chExt cx="0" cy="0"/>
        </a:xfrm>
      </p:grpSpPr>
      <p:sp>
        <p:nvSpPr>
          <p:cNvPr id="11" name="Marcador de texto 10">
            <a:extLst>
              <a:ext uri="{FF2B5EF4-FFF2-40B4-BE49-F238E27FC236}">
                <a16:creationId xmlns:a16="http://schemas.microsoft.com/office/drawing/2014/main" id="{AC29DAAB-CDF4-4B89-8C31-EA10C6E01FDC}"/>
              </a:ext>
            </a:extLst>
          </p:cNvPr>
          <p:cNvSpPr>
            <a:spLocks noGrp="1"/>
          </p:cNvSpPr>
          <p:nvPr>
            <p:ph type="body" sz="quarter" idx="12" hasCustomPrompt="1"/>
          </p:nvPr>
        </p:nvSpPr>
        <p:spPr>
          <a:xfrm>
            <a:off x="468313" y="804863"/>
            <a:ext cx="8207375" cy="354012"/>
          </a:xfrm>
          <a:prstGeom prst="rect">
            <a:avLst/>
          </a:prstGeom>
        </p:spPr>
        <p:txBody>
          <a:bodyPr lIns="72000" tIns="36000" rIns="72000" bIns="36000" anchor="ctr"/>
          <a:lstStyle>
            <a:lvl1pPr marL="0" indent="0">
              <a:lnSpc>
                <a:spcPct val="85000"/>
              </a:lnSpc>
              <a:spcBef>
                <a:spcPts val="0"/>
              </a:spcBef>
              <a:buNone/>
              <a:defRPr sz="1600" b="1"/>
            </a:lvl1pPr>
          </a:lstStyle>
          <a:p>
            <a:pPr lvl="0"/>
            <a:r>
              <a:rPr lang="es-ES" dirty="0"/>
              <a:t>HAGA CLIC PARA MODIFICAR LOS ESTILOS DE TEXTO DEL PATRÓN</a:t>
            </a:r>
            <a:endParaRPr lang="es-PE" dirty="0"/>
          </a:p>
        </p:txBody>
      </p:sp>
      <p:sp>
        <p:nvSpPr>
          <p:cNvPr id="15" name="Marcador de texto 14">
            <a:extLst>
              <a:ext uri="{FF2B5EF4-FFF2-40B4-BE49-F238E27FC236}">
                <a16:creationId xmlns:a16="http://schemas.microsoft.com/office/drawing/2014/main" id="{383EF17E-5C96-4858-ACC0-09751EF7DCBE}"/>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pic>
        <p:nvPicPr>
          <p:cNvPr id="5" name="Imagen 4">
            <a:extLst>
              <a:ext uri="{FF2B5EF4-FFF2-40B4-BE49-F238E27FC236}">
                <a16:creationId xmlns:a16="http://schemas.microsoft.com/office/drawing/2014/main" id="{2F05A09E-B877-4C8E-9295-4D94256D1992}"/>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4740"/>
          <a:stretch/>
        </p:blipFill>
        <p:spPr>
          <a:xfrm>
            <a:off x="1508192" y="1059846"/>
            <a:ext cx="6127629" cy="3944875"/>
          </a:xfrm>
          <a:prstGeom prst="rect">
            <a:avLst/>
          </a:prstGeom>
        </p:spPr>
      </p:pic>
      <p:pic>
        <p:nvPicPr>
          <p:cNvPr id="6" name="Imagen 5">
            <a:extLst>
              <a:ext uri="{FF2B5EF4-FFF2-40B4-BE49-F238E27FC236}">
                <a16:creationId xmlns:a16="http://schemas.microsoft.com/office/drawing/2014/main" id="{9C5FFDCC-97A2-4E0B-A99E-935A674BCCCE}"/>
              </a:ext>
            </a:extLst>
          </p:cNvPr>
          <p:cNvPicPr>
            <a:picLocks noChangeAspect="1"/>
          </p:cNvPicPr>
          <p:nvPr userDrawn="1"/>
        </p:nvPicPr>
        <p:blipFill>
          <a:blip r:embed="rId3"/>
          <a:stretch>
            <a:fillRect/>
          </a:stretch>
        </p:blipFill>
        <p:spPr>
          <a:xfrm>
            <a:off x="1978387" y="4710606"/>
            <a:ext cx="201966" cy="161657"/>
          </a:xfrm>
          <a:prstGeom prst="rect">
            <a:avLst/>
          </a:prstGeom>
        </p:spPr>
      </p:pic>
      <p:sp>
        <p:nvSpPr>
          <p:cNvPr id="8" name="Marcador de texto 6">
            <a:extLst>
              <a:ext uri="{FF2B5EF4-FFF2-40B4-BE49-F238E27FC236}">
                <a16:creationId xmlns:a16="http://schemas.microsoft.com/office/drawing/2014/main" id="{8B0C162B-5CD7-413D-8241-4E900E10B5AF}"/>
              </a:ext>
            </a:extLst>
          </p:cNvPr>
          <p:cNvSpPr>
            <a:spLocks noGrp="1"/>
          </p:cNvSpPr>
          <p:nvPr>
            <p:ph type="body" sz="quarter" idx="11"/>
          </p:nvPr>
        </p:nvSpPr>
        <p:spPr>
          <a:xfrm>
            <a:off x="2268539" y="4700775"/>
            <a:ext cx="4608512" cy="185110"/>
          </a:xfrm>
          <a:prstGeom prst="rect">
            <a:avLst/>
          </a:prstGeom>
        </p:spPr>
        <p:txBody>
          <a:bodyPr lIns="0" tIns="0" rIns="0" bIns="0" anchor="ctr"/>
          <a:lstStyle>
            <a:lvl1pPr marL="0" indent="0">
              <a:lnSpc>
                <a:spcPct val="85000"/>
              </a:lnSpc>
              <a:spcBef>
                <a:spcPts val="0"/>
              </a:spcBef>
              <a:buNone/>
              <a:defRPr sz="990" b="1"/>
            </a:lvl1pPr>
          </a:lstStyle>
          <a:p>
            <a:pPr lvl="0"/>
            <a:r>
              <a:rPr lang="es-ES" dirty="0"/>
              <a:t>Haga clic para modificar los estilos de texto del patrón</a:t>
            </a:r>
            <a:endParaRPr lang="es-PE" dirty="0"/>
          </a:p>
        </p:txBody>
      </p:sp>
      <p:sp>
        <p:nvSpPr>
          <p:cNvPr id="9" name="Marcador de texto 8">
            <a:extLst>
              <a:ext uri="{FF2B5EF4-FFF2-40B4-BE49-F238E27FC236}">
                <a16:creationId xmlns:a16="http://schemas.microsoft.com/office/drawing/2014/main" id="{902D7D47-46F2-4520-A3CF-4C88D2EAC185}"/>
              </a:ext>
            </a:extLst>
          </p:cNvPr>
          <p:cNvSpPr>
            <a:spLocks noGrp="1"/>
          </p:cNvSpPr>
          <p:nvPr>
            <p:ph type="body" sz="quarter" idx="14"/>
          </p:nvPr>
        </p:nvSpPr>
        <p:spPr>
          <a:xfrm>
            <a:off x="2268539" y="4920190"/>
            <a:ext cx="4608512" cy="185110"/>
          </a:xfrm>
          <a:prstGeom prst="rect">
            <a:avLst/>
          </a:prstGeom>
        </p:spPr>
        <p:txBody>
          <a:bodyPr lIns="0" tIns="0" rIns="0" bIns="0" anchor="ctr"/>
          <a:lstStyle>
            <a:lvl1pPr marL="0" indent="0">
              <a:spcBef>
                <a:spcPts val="0"/>
              </a:spcBef>
              <a:buNone/>
              <a:defRPr sz="810">
                <a:solidFill>
                  <a:srgbClr val="0070C0"/>
                </a:solidFill>
              </a:defRPr>
            </a:lvl1pPr>
          </a:lstStyle>
          <a:p>
            <a:pPr lvl="0"/>
            <a:r>
              <a:rPr lang="es-ES" dirty="0"/>
              <a:t>Haga clic para modificar los estilos de texto del patrón</a:t>
            </a:r>
            <a:endParaRPr lang="es-PE" dirty="0"/>
          </a:p>
        </p:txBody>
      </p:sp>
      <p:sp>
        <p:nvSpPr>
          <p:cNvPr id="10" name="Marcador de texto 10">
            <a:extLst>
              <a:ext uri="{FF2B5EF4-FFF2-40B4-BE49-F238E27FC236}">
                <a16:creationId xmlns:a16="http://schemas.microsoft.com/office/drawing/2014/main" id="{F02F04C8-1832-474E-A5AA-C095615EEFFC}"/>
              </a:ext>
            </a:extLst>
          </p:cNvPr>
          <p:cNvSpPr>
            <a:spLocks noGrp="1"/>
          </p:cNvSpPr>
          <p:nvPr>
            <p:ph type="body" sz="quarter" idx="15"/>
          </p:nvPr>
        </p:nvSpPr>
        <p:spPr>
          <a:xfrm>
            <a:off x="2268538" y="5124781"/>
            <a:ext cx="4606925" cy="185110"/>
          </a:xfrm>
          <a:prstGeom prst="rect">
            <a:avLst/>
          </a:prstGeom>
        </p:spPr>
        <p:txBody>
          <a:bodyPr lIns="0" tIns="0" rIns="0" bIns="0" anchor="ctr"/>
          <a:lstStyle>
            <a:lvl1pPr marL="0" indent="0">
              <a:spcBef>
                <a:spcPts val="0"/>
              </a:spcBef>
              <a:buNone/>
              <a:defRPr sz="810">
                <a:solidFill>
                  <a:schemeClr val="bg1">
                    <a:lumMod val="65000"/>
                  </a:schemeClr>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4156834566"/>
      </p:ext>
    </p:extLst>
  </p:cSld>
  <p:clrMapOvr>
    <a:masterClrMapping/>
  </p:clrMapOvr>
  <p:extLst>
    <p:ext uri="{DCECCB84-F9BA-43D5-87BE-67443E8EF086}">
      <p15:sldGuideLst xmlns:p15="http://schemas.microsoft.com/office/powerpoint/2012/main">
        <p15:guide id="1" pos="295" userDrawn="1">
          <p15:clr>
            <a:srgbClr val="FBAE40"/>
          </p15:clr>
        </p15:guide>
        <p15:guide id="2" pos="5465" userDrawn="1">
          <p15:clr>
            <a:srgbClr val="FBAE40"/>
          </p15:clr>
        </p15:guide>
        <p15:guide id="3" orient="horz" pos="1800" userDrawn="1">
          <p15:clr>
            <a:srgbClr val="FBAE40"/>
          </p15:clr>
        </p15:guide>
        <p15:guide id="4" orient="horz" pos="507" userDrawn="1">
          <p15:clr>
            <a:srgbClr val="FBAE40"/>
          </p15:clr>
        </p15:guide>
        <p15:guide id="5" orient="horz" pos="3320" userDrawn="1">
          <p15:clr>
            <a:srgbClr val="FBAE40"/>
          </p15:clr>
        </p15:guide>
        <p15:guide id="6" pos="28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Diapo_Texto resaltado 2">
    <p:bg>
      <p:bgPr>
        <a:blipFill dpi="0" rotWithShape="1">
          <a:blip r:embed="rId2">
            <a:lum/>
            <a:extLst>
              <a:ext uri="{96DAC541-7B7A-43D3-8B79-37D633B846F1}">
                <asvg:svgBlip xmlns=""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grpSp>
        <p:nvGrpSpPr>
          <p:cNvPr id="4" name="Grupo 3">
            <a:extLst>
              <a:ext uri="{FF2B5EF4-FFF2-40B4-BE49-F238E27FC236}">
                <a16:creationId xmlns:a16="http://schemas.microsoft.com/office/drawing/2014/main" id="{D3EA2710-DE43-4AC5-98BD-983D08F78779}"/>
              </a:ext>
            </a:extLst>
          </p:cNvPr>
          <p:cNvGrpSpPr/>
          <p:nvPr userDrawn="1"/>
        </p:nvGrpSpPr>
        <p:grpSpPr>
          <a:xfrm>
            <a:off x="4517700" y="2452269"/>
            <a:ext cx="2538738" cy="1451171"/>
            <a:chOff x="4517700" y="2452269"/>
            <a:chExt cx="2538738" cy="1451171"/>
          </a:xfrm>
        </p:grpSpPr>
        <p:grpSp>
          <p:nvGrpSpPr>
            <p:cNvPr id="5" name="Agrupar 1">
              <a:extLst>
                <a:ext uri="{FF2B5EF4-FFF2-40B4-BE49-F238E27FC236}">
                  <a16:creationId xmlns:a16="http://schemas.microsoft.com/office/drawing/2014/main" id="{51A4038E-1C94-47DA-B57D-FE658EEE39FE}"/>
                </a:ext>
              </a:extLst>
            </p:cNvPr>
            <p:cNvGrpSpPr/>
            <p:nvPr/>
          </p:nvGrpSpPr>
          <p:grpSpPr>
            <a:xfrm>
              <a:off x="4517700" y="2452269"/>
              <a:ext cx="2538738" cy="1451171"/>
              <a:chOff x="4517700" y="2452269"/>
              <a:chExt cx="2538738" cy="1451171"/>
            </a:xfrm>
          </p:grpSpPr>
          <p:pic>
            <p:nvPicPr>
              <p:cNvPr id="11" name="Imagen 10">
                <a:extLst>
                  <a:ext uri="{FF2B5EF4-FFF2-40B4-BE49-F238E27FC236}">
                    <a16:creationId xmlns:a16="http://schemas.microsoft.com/office/drawing/2014/main" id="{9F52998B-C192-4406-94C1-CFA2D68340B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17700" y="2475857"/>
                <a:ext cx="559042" cy="669906"/>
              </a:xfrm>
              <a:prstGeom prst="rect">
                <a:avLst/>
              </a:prstGeom>
            </p:spPr>
          </p:pic>
          <p:pic>
            <p:nvPicPr>
              <p:cNvPr id="12" name="Imagen 11">
                <a:extLst>
                  <a:ext uri="{FF2B5EF4-FFF2-40B4-BE49-F238E27FC236}">
                    <a16:creationId xmlns:a16="http://schemas.microsoft.com/office/drawing/2014/main" id="{007CDDDE-E872-48F8-924E-A66C35FF040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62750" y="2464063"/>
                <a:ext cx="457612" cy="681700"/>
              </a:xfrm>
              <a:prstGeom prst="rect">
                <a:avLst/>
              </a:prstGeom>
            </p:spPr>
          </p:pic>
          <p:pic>
            <p:nvPicPr>
              <p:cNvPr id="13" name="Imagen 12">
                <a:extLst>
                  <a:ext uri="{FF2B5EF4-FFF2-40B4-BE49-F238E27FC236}">
                    <a16:creationId xmlns:a16="http://schemas.microsoft.com/office/drawing/2014/main" id="{38898B25-C30E-4750-9112-A82D59E4106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06369" y="2473498"/>
                <a:ext cx="559042" cy="672265"/>
              </a:xfrm>
              <a:prstGeom prst="rect">
                <a:avLst/>
              </a:prstGeom>
            </p:spPr>
          </p:pic>
          <p:pic>
            <p:nvPicPr>
              <p:cNvPr id="14" name="Imagen 13">
                <a:extLst>
                  <a:ext uri="{FF2B5EF4-FFF2-40B4-BE49-F238E27FC236}">
                    <a16:creationId xmlns:a16="http://schemas.microsoft.com/office/drawing/2014/main" id="{1A9B0F1C-E03D-4D5F-8EAE-6C05D362C42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051418" y="2452269"/>
                <a:ext cx="459971" cy="693494"/>
              </a:xfrm>
              <a:prstGeom prst="rect">
                <a:avLst/>
              </a:prstGeom>
            </p:spPr>
          </p:pic>
          <p:pic>
            <p:nvPicPr>
              <p:cNvPr id="15" name="Imagen 14">
                <a:extLst>
                  <a:ext uri="{FF2B5EF4-FFF2-40B4-BE49-F238E27FC236}">
                    <a16:creationId xmlns:a16="http://schemas.microsoft.com/office/drawing/2014/main" id="{4D61D5AD-FEAF-4848-A220-D80D4E5ADD79}"/>
                  </a:ext>
                </a:extLst>
              </p:cNvPr>
              <p:cNvPicPr>
                <a:picLocks noChangeAspect="1"/>
              </p:cNvPicPr>
              <p:nvPr/>
            </p:nvPicPr>
            <p:blipFill>
              <a:blip r:embed="rId8">
                <a:alphaModFix/>
                <a:extLst>
                  <a:ext uri="{28A0092B-C50C-407E-A947-70E740481C1C}">
                    <a14:useLocalDpi xmlns:a14="http://schemas.microsoft.com/office/drawing/2010/main" val="0"/>
                  </a:ext>
                </a:extLst>
              </a:blip>
              <a:stretch>
                <a:fillRect/>
              </a:stretch>
            </p:blipFill>
            <p:spPr>
              <a:xfrm>
                <a:off x="6497396" y="2494728"/>
                <a:ext cx="559042" cy="651036"/>
              </a:xfrm>
              <a:prstGeom prst="rect">
                <a:avLst/>
              </a:prstGeom>
            </p:spPr>
          </p:pic>
          <p:pic>
            <p:nvPicPr>
              <p:cNvPr id="16" name="Imagen 15">
                <a:extLst>
                  <a:ext uri="{FF2B5EF4-FFF2-40B4-BE49-F238E27FC236}">
                    <a16:creationId xmlns:a16="http://schemas.microsoft.com/office/drawing/2014/main" id="{59B62816-0B11-48A9-86FA-F8EF3B47FAC3}"/>
                  </a:ext>
                </a:extLst>
              </p:cNvPr>
              <p:cNvPicPr>
                <a:picLocks noChangeAspect="1"/>
              </p:cNvPicPr>
              <p:nvPr/>
            </p:nvPicPr>
            <p:blipFill>
              <a:blip r:embed="rId9">
                <a:alphaModFix/>
                <a:extLst>
                  <a:ext uri="{28A0092B-C50C-407E-A947-70E740481C1C}">
                    <a14:useLocalDpi xmlns:a14="http://schemas.microsoft.com/office/drawing/2010/main" val="0"/>
                  </a:ext>
                </a:extLst>
              </a:blip>
              <a:stretch>
                <a:fillRect/>
              </a:stretch>
            </p:blipFill>
            <p:spPr>
              <a:xfrm>
                <a:off x="4517700" y="3235893"/>
                <a:ext cx="559042" cy="667547"/>
              </a:xfrm>
              <a:prstGeom prst="rect">
                <a:avLst/>
              </a:prstGeom>
            </p:spPr>
          </p:pic>
        </p:grpSp>
        <p:grpSp>
          <p:nvGrpSpPr>
            <p:cNvPr id="6" name="Agrupar 2">
              <a:extLst>
                <a:ext uri="{FF2B5EF4-FFF2-40B4-BE49-F238E27FC236}">
                  <a16:creationId xmlns:a16="http://schemas.microsoft.com/office/drawing/2014/main" id="{26A408FC-5857-46BE-B57D-EECA113E171C}"/>
                </a:ext>
              </a:extLst>
            </p:cNvPr>
            <p:cNvGrpSpPr/>
            <p:nvPr/>
          </p:nvGrpSpPr>
          <p:grpSpPr>
            <a:xfrm>
              <a:off x="5071634" y="3207587"/>
              <a:ext cx="1975526" cy="695853"/>
              <a:chOff x="5071634" y="3207587"/>
              <a:chExt cx="1975526" cy="695853"/>
            </a:xfrm>
            <a:noFill/>
          </p:grpSpPr>
          <p:pic>
            <p:nvPicPr>
              <p:cNvPr id="7" name="Imagen 6">
                <a:extLst>
                  <a:ext uri="{FF2B5EF4-FFF2-40B4-BE49-F238E27FC236}">
                    <a16:creationId xmlns:a16="http://schemas.microsoft.com/office/drawing/2014/main" id="{5446D83F-6599-46DC-A608-D746FF3EE62D}"/>
                  </a:ext>
                </a:extLst>
              </p:cNvPr>
              <p:cNvPicPr>
                <a:picLocks noChangeAspect="1"/>
              </p:cNvPicPr>
              <p:nvPr/>
            </p:nvPicPr>
            <p:blipFill>
              <a:blip r:embed="rId10">
                <a:alphaModFix/>
                <a:extLst>
                  <a:ext uri="{BEBA8EAE-BF5A-486C-A8C5-ECC9F3942E4B}">
                    <a14:imgProps xmlns:a14="http://schemas.microsoft.com/office/drawing/2010/main">
                      <a14:imgLayer r:embed="rId11">
                        <a14:imgEffect>
                          <a14:colorTemperature colorTemp="6100"/>
                        </a14:imgEffect>
                      </a14:imgLayer>
                    </a14:imgProps>
                  </a:ext>
                  <a:ext uri="{28A0092B-C50C-407E-A947-70E740481C1C}">
                    <a14:useLocalDpi xmlns:a14="http://schemas.microsoft.com/office/drawing/2010/main" val="0"/>
                  </a:ext>
                </a:extLst>
              </a:blip>
              <a:stretch>
                <a:fillRect/>
              </a:stretch>
            </p:blipFill>
            <p:spPr>
              <a:xfrm>
                <a:off x="5071634" y="3231175"/>
                <a:ext cx="457612" cy="672265"/>
              </a:xfrm>
              <a:prstGeom prst="rect">
                <a:avLst/>
              </a:prstGeom>
              <a:grpFill/>
            </p:spPr>
          </p:pic>
          <p:pic>
            <p:nvPicPr>
              <p:cNvPr id="8" name="Imagen 7">
                <a:extLst>
                  <a:ext uri="{FF2B5EF4-FFF2-40B4-BE49-F238E27FC236}">
                    <a16:creationId xmlns:a16="http://schemas.microsoft.com/office/drawing/2014/main" id="{E45C34FF-6418-474F-8615-44616793CB16}"/>
                  </a:ext>
                </a:extLst>
              </p:cNvPr>
              <p:cNvPicPr>
                <a:picLocks noChangeAspect="1"/>
              </p:cNvPicPr>
              <p:nvPr/>
            </p:nvPicPr>
            <p:blipFill>
              <a:blip r:embed="rId12">
                <a:alphaModFix/>
                <a:extLst>
                  <a:ext uri="{28A0092B-C50C-407E-A947-70E740481C1C}">
                    <a14:useLocalDpi xmlns:a14="http://schemas.microsoft.com/office/drawing/2010/main" val="0"/>
                  </a:ext>
                </a:extLst>
              </a:blip>
              <a:stretch>
                <a:fillRect/>
              </a:stretch>
            </p:blipFill>
            <p:spPr>
              <a:xfrm>
                <a:off x="5524138" y="3231175"/>
                <a:ext cx="559042" cy="672265"/>
              </a:xfrm>
              <a:prstGeom prst="rect">
                <a:avLst/>
              </a:prstGeom>
              <a:grpFill/>
            </p:spPr>
          </p:pic>
          <p:pic>
            <p:nvPicPr>
              <p:cNvPr id="9" name="Imagen 8">
                <a:extLst>
                  <a:ext uri="{FF2B5EF4-FFF2-40B4-BE49-F238E27FC236}">
                    <a16:creationId xmlns:a16="http://schemas.microsoft.com/office/drawing/2014/main" id="{65422EA9-DDD4-4DBF-B612-CA9A573FBFAC}"/>
                  </a:ext>
                </a:extLst>
              </p:cNvPr>
              <p:cNvPicPr>
                <a:picLocks noChangeAspect="1"/>
              </p:cNvPicPr>
              <p:nvPr/>
            </p:nvPicPr>
            <p:blipFill>
              <a:blip r:embed="rId13">
                <a:alphaModFix/>
                <a:extLst>
                  <a:ext uri="{28A0092B-C50C-407E-A947-70E740481C1C}">
                    <a14:useLocalDpi xmlns:a14="http://schemas.microsoft.com/office/drawing/2010/main" val="0"/>
                  </a:ext>
                </a:extLst>
              </a:blip>
              <a:stretch>
                <a:fillRect/>
              </a:stretch>
            </p:blipFill>
            <p:spPr>
              <a:xfrm>
                <a:off x="6078072" y="3228816"/>
                <a:ext cx="514224" cy="674624"/>
              </a:xfrm>
              <a:prstGeom prst="rect">
                <a:avLst/>
              </a:prstGeom>
              <a:grpFill/>
            </p:spPr>
          </p:pic>
          <p:pic>
            <p:nvPicPr>
              <p:cNvPr id="10" name="Imagen 9">
                <a:extLst>
                  <a:ext uri="{FF2B5EF4-FFF2-40B4-BE49-F238E27FC236}">
                    <a16:creationId xmlns:a16="http://schemas.microsoft.com/office/drawing/2014/main" id="{D225D732-C489-4626-9897-24934CF2AFCD}"/>
                  </a:ext>
                </a:extLst>
              </p:cNvPr>
              <p:cNvPicPr>
                <a:picLocks noChangeAspect="1"/>
              </p:cNvPicPr>
              <p:nvPr/>
            </p:nvPicPr>
            <p:blipFill>
              <a:blip r:embed="rId14">
                <a:alphaModFix/>
                <a:extLst>
                  <a:ext uri="{28A0092B-C50C-407E-A947-70E740481C1C}">
                    <a14:useLocalDpi xmlns:a14="http://schemas.microsoft.com/office/drawing/2010/main" val="0"/>
                  </a:ext>
                </a:extLst>
              </a:blip>
              <a:stretch>
                <a:fillRect/>
              </a:stretch>
            </p:blipFill>
            <p:spPr>
              <a:xfrm>
                <a:off x="6587189" y="3207587"/>
                <a:ext cx="459971" cy="695853"/>
              </a:xfrm>
              <a:prstGeom prst="rect">
                <a:avLst/>
              </a:prstGeom>
              <a:grpFill/>
            </p:spPr>
          </p:pic>
        </p:grpSp>
      </p:grpSp>
      <p:sp>
        <p:nvSpPr>
          <p:cNvPr id="18" name="Marcador de texto 17">
            <a:extLst>
              <a:ext uri="{FF2B5EF4-FFF2-40B4-BE49-F238E27FC236}">
                <a16:creationId xmlns:a16="http://schemas.microsoft.com/office/drawing/2014/main" id="{2AE257CD-A6EB-45FD-BFA6-8E6BACB2D503}"/>
              </a:ext>
            </a:extLst>
          </p:cNvPr>
          <p:cNvSpPr>
            <a:spLocks noGrp="1"/>
          </p:cNvSpPr>
          <p:nvPr>
            <p:ph type="body" sz="quarter" idx="10"/>
          </p:nvPr>
        </p:nvSpPr>
        <p:spPr>
          <a:xfrm>
            <a:off x="1215342" y="2068444"/>
            <a:ext cx="2687959" cy="1834995"/>
          </a:xfrm>
          <a:prstGeom prst="rect">
            <a:avLst/>
          </a:prstGeom>
        </p:spPr>
        <p:txBody>
          <a:bodyPr/>
          <a:lstStyle>
            <a:lvl1pPr marL="0" indent="0" algn="r">
              <a:lnSpc>
                <a:spcPct val="100000"/>
              </a:lnSpc>
              <a:spcBef>
                <a:spcPts val="0"/>
              </a:spcBef>
              <a:buNone/>
              <a:defRPr sz="2000">
                <a:solidFill>
                  <a:schemeClr val="bg1"/>
                </a:solidFill>
              </a:defRPr>
            </a:lvl1pPr>
          </a:lstStyle>
          <a:p>
            <a:pPr lvl="0"/>
            <a:r>
              <a:rPr lang="es-ES" dirty="0"/>
              <a:t>Haga clic para modificar los estilos de texto del patrón</a:t>
            </a:r>
            <a:endParaRPr lang="es-PE" dirty="0"/>
          </a:p>
        </p:txBody>
      </p:sp>
      <p:sp>
        <p:nvSpPr>
          <p:cNvPr id="20" name="Marcador de texto 19">
            <a:extLst>
              <a:ext uri="{FF2B5EF4-FFF2-40B4-BE49-F238E27FC236}">
                <a16:creationId xmlns:a16="http://schemas.microsoft.com/office/drawing/2014/main" id="{BD961469-2370-4112-BE08-BF6D41E8D8ED}"/>
              </a:ext>
            </a:extLst>
          </p:cNvPr>
          <p:cNvSpPr>
            <a:spLocks noGrp="1"/>
          </p:cNvSpPr>
          <p:nvPr>
            <p:ph type="body" sz="quarter" idx="11"/>
          </p:nvPr>
        </p:nvSpPr>
        <p:spPr>
          <a:xfrm>
            <a:off x="1215342" y="1366700"/>
            <a:ext cx="2687959" cy="693738"/>
          </a:xfrm>
          <a:prstGeom prst="rect">
            <a:avLst/>
          </a:prstGeom>
        </p:spPr>
        <p:txBody>
          <a:bodyPr anchor="b"/>
          <a:lstStyle>
            <a:lvl1pPr marL="0" indent="0" algn="r">
              <a:lnSpc>
                <a:spcPct val="85000"/>
              </a:lnSpc>
              <a:spcBef>
                <a:spcPts val="0"/>
              </a:spcBef>
              <a:buNone/>
              <a:defRPr sz="3000" b="1">
                <a:solidFill>
                  <a:srgbClr val="F1D156"/>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31616140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apo_Texto resumen">
    <p:bg>
      <p:bgPr>
        <a:blipFill dpi="0" rotWithShape="1">
          <a:blip r:embed="rId2">
            <a:lum/>
            <a:extLst>
              <a:ext uri="{96DAC541-7B7A-43D3-8B79-37D633B846F1}">
                <asvg:svgBlip xmlns=""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18" name="Marcador de texto 17">
            <a:extLst>
              <a:ext uri="{FF2B5EF4-FFF2-40B4-BE49-F238E27FC236}">
                <a16:creationId xmlns:a16="http://schemas.microsoft.com/office/drawing/2014/main" id="{2AE257CD-A6EB-45FD-BFA6-8E6BACB2D503}"/>
              </a:ext>
            </a:extLst>
          </p:cNvPr>
          <p:cNvSpPr>
            <a:spLocks noGrp="1"/>
          </p:cNvSpPr>
          <p:nvPr>
            <p:ph type="body" sz="quarter" idx="10"/>
          </p:nvPr>
        </p:nvSpPr>
        <p:spPr>
          <a:xfrm>
            <a:off x="1215342" y="2068444"/>
            <a:ext cx="2687959" cy="1834995"/>
          </a:xfrm>
          <a:prstGeom prst="rect">
            <a:avLst/>
          </a:prstGeom>
        </p:spPr>
        <p:txBody>
          <a:bodyPr/>
          <a:lstStyle>
            <a:lvl1pPr marL="0" indent="0" algn="r">
              <a:lnSpc>
                <a:spcPct val="100000"/>
              </a:lnSpc>
              <a:spcBef>
                <a:spcPts val="0"/>
              </a:spcBef>
              <a:buNone/>
              <a:defRPr sz="2000">
                <a:solidFill>
                  <a:schemeClr val="bg1"/>
                </a:solidFill>
              </a:defRPr>
            </a:lvl1pPr>
          </a:lstStyle>
          <a:p>
            <a:pPr lvl="0"/>
            <a:r>
              <a:rPr lang="es-ES" dirty="0"/>
              <a:t>Haga clic para modificar los estilos de texto del patrón</a:t>
            </a:r>
            <a:endParaRPr lang="es-PE" dirty="0"/>
          </a:p>
        </p:txBody>
      </p:sp>
      <p:sp>
        <p:nvSpPr>
          <p:cNvPr id="20" name="Marcador de texto 19">
            <a:extLst>
              <a:ext uri="{FF2B5EF4-FFF2-40B4-BE49-F238E27FC236}">
                <a16:creationId xmlns:a16="http://schemas.microsoft.com/office/drawing/2014/main" id="{BD961469-2370-4112-BE08-BF6D41E8D8ED}"/>
              </a:ext>
            </a:extLst>
          </p:cNvPr>
          <p:cNvSpPr>
            <a:spLocks noGrp="1"/>
          </p:cNvSpPr>
          <p:nvPr>
            <p:ph type="body" sz="quarter" idx="11"/>
          </p:nvPr>
        </p:nvSpPr>
        <p:spPr>
          <a:xfrm>
            <a:off x="1215342" y="1366700"/>
            <a:ext cx="2687959" cy="693738"/>
          </a:xfrm>
          <a:prstGeom prst="rect">
            <a:avLst/>
          </a:prstGeom>
        </p:spPr>
        <p:txBody>
          <a:bodyPr anchor="b"/>
          <a:lstStyle>
            <a:lvl1pPr marL="0" indent="0" algn="r">
              <a:lnSpc>
                <a:spcPct val="85000"/>
              </a:lnSpc>
              <a:spcBef>
                <a:spcPts val="0"/>
              </a:spcBef>
              <a:buNone/>
              <a:defRPr sz="3000" b="1">
                <a:solidFill>
                  <a:srgbClr val="F1D156"/>
                </a:solidFill>
              </a:defRPr>
            </a:lvl1pPr>
          </a:lstStyle>
          <a:p>
            <a:pPr lvl="0"/>
            <a:r>
              <a:rPr lang="es-ES" dirty="0"/>
              <a:t>Haga clic para modificar los estilos de texto del patrón</a:t>
            </a:r>
            <a:endParaRPr lang="es-PE" dirty="0"/>
          </a:p>
        </p:txBody>
      </p:sp>
      <p:pic>
        <p:nvPicPr>
          <p:cNvPr id="3" name="Imagen 2">
            <a:extLst>
              <a:ext uri="{FF2B5EF4-FFF2-40B4-BE49-F238E27FC236}">
                <a16:creationId xmlns:a16="http://schemas.microsoft.com/office/drawing/2014/main" id="{79DA36D5-2A7C-44BC-B24C-8FF05B909516}"/>
              </a:ext>
            </a:extLst>
          </p:cNvPr>
          <p:cNvPicPr>
            <a:picLocks noChangeAspect="1"/>
          </p:cNvPicPr>
          <p:nvPr userDrawn="1"/>
        </p:nvPicPr>
        <p:blipFill>
          <a:blip r:embed="rId4"/>
          <a:stretch>
            <a:fillRect/>
          </a:stretch>
        </p:blipFill>
        <p:spPr>
          <a:xfrm>
            <a:off x="4142284" y="2383172"/>
            <a:ext cx="3485432" cy="948656"/>
          </a:xfrm>
          <a:prstGeom prst="rect">
            <a:avLst/>
          </a:prstGeom>
        </p:spPr>
      </p:pic>
    </p:spTree>
    <p:extLst>
      <p:ext uri="{BB962C8B-B14F-4D97-AF65-F5344CB8AC3E}">
        <p14:creationId xmlns:p14="http://schemas.microsoft.com/office/powerpoint/2010/main" val="37477823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Diapo_Título">
    <p:bg>
      <p:bgPr>
        <a:blipFill dpi="0" rotWithShape="1">
          <a:blip r:embed="rId2">
            <a:lum/>
            <a:extLst>
              <a:ext uri="{96DAC541-7B7A-43D3-8B79-37D633B846F1}">
                <asvg:svgBlip xmlns=""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cxnSp>
        <p:nvCxnSpPr>
          <p:cNvPr id="6" name="Conector recto 5">
            <a:extLst>
              <a:ext uri="{FF2B5EF4-FFF2-40B4-BE49-F238E27FC236}">
                <a16:creationId xmlns:a16="http://schemas.microsoft.com/office/drawing/2014/main" id="{78499219-B93F-4121-95B0-FD263CAAD2EC}"/>
              </a:ext>
            </a:extLst>
          </p:cNvPr>
          <p:cNvCxnSpPr/>
          <p:nvPr userDrawn="1"/>
        </p:nvCxnSpPr>
        <p:spPr>
          <a:xfrm>
            <a:off x="3056456" y="1742381"/>
            <a:ext cx="0" cy="792000"/>
          </a:xfrm>
          <a:prstGeom prst="line">
            <a:avLst/>
          </a:prstGeom>
          <a:ln w="3810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0" name="Marcador de texto 9">
            <a:extLst>
              <a:ext uri="{FF2B5EF4-FFF2-40B4-BE49-F238E27FC236}">
                <a16:creationId xmlns:a16="http://schemas.microsoft.com/office/drawing/2014/main" id="{07A93BC5-4242-4AEF-86D2-025896BBFF94}"/>
              </a:ext>
            </a:extLst>
          </p:cNvPr>
          <p:cNvSpPr>
            <a:spLocks noGrp="1"/>
          </p:cNvSpPr>
          <p:nvPr>
            <p:ph type="body" sz="quarter" idx="10" hasCustomPrompt="1"/>
          </p:nvPr>
        </p:nvSpPr>
        <p:spPr>
          <a:xfrm>
            <a:off x="3151256" y="1466837"/>
            <a:ext cx="5524431" cy="1065212"/>
          </a:xfrm>
          <a:prstGeom prst="rect">
            <a:avLst/>
          </a:prstGeom>
        </p:spPr>
        <p:txBody>
          <a:bodyPr lIns="36000" tIns="0" rIns="36000" bIns="0" anchor="b"/>
          <a:lstStyle>
            <a:lvl1pPr marL="0" indent="0">
              <a:lnSpc>
                <a:spcPct val="85000"/>
              </a:lnSpc>
              <a:buNone/>
              <a:defRPr sz="3600" b="1" spc="-10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s-ES" dirty="0"/>
              <a:t>HAGA CLIC PARA MODIFICAR LOS ESTILOS DE TEXTO DEL PATRÓN</a:t>
            </a:r>
          </a:p>
        </p:txBody>
      </p:sp>
      <p:sp>
        <p:nvSpPr>
          <p:cNvPr id="12" name="Marcador de texto 11">
            <a:extLst>
              <a:ext uri="{FF2B5EF4-FFF2-40B4-BE49-F238E27FC236}">
                <a16:creationId xmlns:a16="http://schemas.microsoft.com/office/drawing/2014/main" id="{7F024871-2FC3-48CA-9CA6-981F63452D4D}"/>
              </a:ext>
            </a:extLst>
          </p:cNvPr>
          <p:cNvSpPr>
            <a:spLocks noGrp="1"/>
          </p:cNvSpPr>
          <p:nvPr>
            <p:ph type="body" sz="quarter" idx="11" hasCustomPrompt="1"/>
          </p:nvPr>
        </p:nvSpPr>
        <p:spPr>
          <a:xfrm>
            <a:off x="3151257" y="2571394"/>
            <a:ext cx="5524430" cy="216000"/>
          </a:xfrm>
          <a:prstGeom prst="rect">
            <a:avLst/>
          </a:prstGeom>
          <a:solidFill>
            <a:schemeClr val="bg1"/>
          </a:solidFill>
        </p:spPr>
        <p:txBody>
          <a:bodyPr lIns="36000" tIns="0" rIns="36000" bIns="0" anchor="ctr"/>
          <a:lstStyle>
            <a:lvl1pPr marL="0" indent="0">
              <a:lnSpc>
                <a:spcPct val="85000"/>
              </a:lnSpc>
              <a:spcBef>
                <a:spcPts val="0"/>
              </a:spcBef>
              <a:buNone/>
              <a:defRPr sz="1400" b="1" spc="-100" baseline="0">
                <a:solidFill>
                  <a:srgbClr val="1F85A6"/>
                </a:solidFill>
              </a:defRPr>
            </a:lvl1pPr>
          </a:lstStyle>
          <a:p>
            <a:pPr lvl="0"/>
            <a:r>
              <a:rPr lang="es-ES" dirty="0"/>
              <a:t>HAGA CLIC PARA MODIFICAR LOS ESTILOS DE TEXTO DEL PATRÓN</a:t>
            </a:r>
            <a:endParaRPr lang="es-PE" dirty="0"/>
          </a:p>
        </p:txBody>
      </p:sp>
      <p:sp>
        <p:nvSpPr>
          <p:cNvPr id="14" name="Marcador de texto 13">
            <a:extLst>
              <a:ext uri="{FF2B5EF4-FFF2-40B4-BE49-F238E27FC236}">
                <a16:creationId xmlns:a16="http://schemas.microsoft.com/office/drawing/2014/main" id="{909CBA01-1C97-4D7F-AC89-2F7E2CE7AE1E}"/>
              </a:ext>
            </a:extLst>
          </p:cNvPr>
          <p:cNvSpPr>
            <a:spLocks noGrp="1"/>
          </p:cNvSpPr>
          <p:nvPr>
            <p:ph type="body" sz="quarter" idx="12"/>
          </p:nvPr>
        </p:nvSpPr>
        <p:spPr>
          <a:xfrm>
            <a:off x="3151257" y="3149152"/>
            <a:ext cx="5524430" cy="1584325"/>
          </a:xfrm>
          <a:prstGeom prst="rect">
            <a:avLst/>
          </a:prstGeom>
        </p:spPr>
        <p:txBody>
          <a:bodyPr/>
          <a:lstStyle>
            <a:lvl1pPr marL="266700" indent="-266700" algn="just">
              <a:spcBef>
                <a:spcPts val="0"/>
              </a:spcBef>
              <a:buSzPct val="75000"/>
              <a:buFont typeface="Wingdings" panose="05000000000000000000" pitchFamily="2" charset="2"/>
              <a:buChar char="q"/>
              <a:defRPr sz="1600">
                <a:solidFill>
                  <a:schemeClr val="bg1"/>
                </a:solidFill>
              </a:defRPr>
            </a:lvl1pPr>
          </a:lstStyle>
          <a:p>
            <a:pPr lvl="0"/>
            <a:r>
              <a:rPr lang="es-ES" dirty="0"/>
              <a:t>Haga clic para modificar los estilos de texto del patrón</a:t>
            </a:r>
            <a:endParaRPr lang="es-PE" dirty="0"/>
          </a:p>
        </p:txBody>
      </p:sp>
      <p:sp>
        <p:nvSpPr>
          <p:cNvPr id="16" name="Marcador de texto 15">
            <a:extLst>
              <a:ext uri="{FF2B5EF4-FFF2-40B4-BE49-F238E27FC236}">
                <a16:creationId xmlns:a16="http://schemas.microsoft.com/office/drawing/2014/main" id="{98ED8DBD-5592-4A8D-8BF5-1D169AA4AE08}"/>
              </a:ext>
            </a:extLst>
          </p:cNvPr>
          <p:cNvSpPr>
            <a:spLocks noGrp="1"/>
          </p:cNvSpPr>
          <p:nvPr>
            <p:ph type="body" sz="quarter" idx="13"/>
          </p:nvPr>
        </p:nvSpPr>
        <p:spPr>
          <a:xfrm>
            <a:off x="2051281" y="1782566"/>
            <a:ext cx="910376" cy="914400"/>
          </a:xfrm>
          <a:prstGeom prst="rect">
            <a:avLst/>
          </a:prstGeom>
        </p:spPr>
        <p:txBody>
          <a:bodyPr lIns="0" tIns="0" rIns="0" bIns="0"/>
          <a:lstStyle>
            <a:lvl1pPr marL="0" indent="0" algn="ctr">
              <a:buNone/>
              <a:defRPr sz="58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s-ES" dirty="0"/>
              <a:t>Haga clic para modificar los estilos de texto del patrón</a:t>
            </a:r>
            <a:endParaRPr lang="es-PE" dirty="0"/>
          </a:p>
        </p:txBody>
      </p:sp>
      <p:sp>
        <p:nvSpPr>
          <p:cNvPr id="19" name="CuadroTexto 18">
            <a:extLst>
              <a:ext uri="{FF2B5EF4-FFF2-40B4-BE49-F238E27FC236}">
                <a16:creationId xmlns:a16="http://schemas.microsoft.com/office/drawing/2014/main" id="{3B086266-9338-4415-8002-5AA0BBD87E06}"/>
              </a:ext>
            </a:extLst>
          </p:cNvPr>
          <p:cNvSpPr txBox="1"/>
          <p:nvPr userDrawn="1"/>
        </p:nvSpPr>
        <p:spPr>
          <a:xfrm>
            <a:off x="2051281" y="1615590"/>
            <a:ext cx="910376" cy="369332"/>
          </a:xfrm>
          <a:prstGeom prst="rect">
            <a:avLst/>
          </a:prstGeom>
          <a:noFill/>
        </p:spPr>
        <p:txBody>
          <a:bodyPr wrap="square" rtlCol="0">
            <a:spAutoFit/>
          </a:bodyPr>
          <a:lstStyle/>
          <a:p>
            <a:pPr algn="ctr"/>
            <a:r>
              <a:rPr lang="es-PE" dirty="0">
                <a:solidFill>
                  <a:schemeClr val="bg1"/>
                </a:solidFill>
              </a:rPr>
              <a:t>SESIÓN</a:t>
            </a:r>
          </a:p>
        </p:txBody>
      </p:sp>
    </p:spTree>
    <p:extLst>
      <p:ext uri="{BB962C8B-B14F-4D97-AF65-F5344CB8AC3E}">
        <p14:creationId xmlns:p14="http://schemas.microsoft.com/office/powerpoint/2010/main" val="1840211312"/>
      </p:ext>
    </p:extLst>
  </p:cSld>
  <p:clrMapOvr>
    <a:masterClrMapping/>
  </p:clrMapOvr>
  <p:extLst>
    <p:ext uri="{DCECCB84-F9BA-43D5-87BE-67443E8EF086}">
      <p15:sldGuideLst xmlns:p15="http://schemas.microsoft.com/office/powerpoint/2012/main">
        <p15:guide id="1" pos="5465" userDrawn="1">
          <p15:clr>
            <a:srgbClr val="FBAE40"/>
          </p15:clr>
        </p15:guide>
        <p15:guide id="2" pos="1973"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apo_Subtema">
    <p:bg>
      <p:bgPr>
        <a:blipFill dpi="0" rotWithShape="1">
          <a:blip r:embed="rId2">
            <a:lum/>
            <a:extLst>
              <a:ext uri="{96DAC541-7B7A-43D3-8B79-37D633B846F1}">
                <asvg:svgBlip xmlns=""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5" name="Marcador de texto 4">
            <a:extLst>
              <a:ext uri="{FF2B5EF4-FFF2-40B4-BE49-F238E27FC236}">
                <a16:creationId xmlns:a16="http://schemas.microsoft.com/office/drawing/2014/main" id="{4BD03D13-5E01-42D6-AEF1-E185D3674B02}"/>
              </a:ext>
            </a:extLst>
          </p:cNvPr>
          <p:cNvSpPr>
            <a:spLocks noGrp="1"/>
          </p:cNvSpPr>
          <p:nvPr>
            <p:ph type="body" sz="quarter" idx="10" hasCustomPrompt="1"/>
          </p:nvPr>
        </p:nvSpPr>
        <p:spPr>
          <a:xfrm>
            <a:off x="468314" y="3714841"/>
            <a:ext cx="5543549" cy="810087"/>
          </a:xfrm>
          <a:prstGeom prst="rect">
            <a:avLst/>
          </a:prstGeom>
        </p:spPr>
        <p:txBody>
          <a:bodyPr/>
          <a:lstStyle>
            <a:lvl1pPr marL="266700" indent="-266700">
              <a:lnSpc>
                <a:spcPct val="85000"/>
              </a:lnSpc>
              <a:spcBef>
                <a:spcPts val="0"/>
              </a:spcBef>
              <a:buNone/>
              <a:tabLst>
                <a:tab pos="266700" algn="l"/>
              </a:tabLst>
              <a:defRPr sz="2800" b="1">
                <a:solidFill>
                  <a:schemeClr val="bg1"/>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1383085110"/>
      </p:ext>
    </p:extLst>
  </p:cSld>
  <p:clrMapOvr>
    <a:masterClrMapping/>
  </p:clrMapOvr>
  <p:extLst>
    <p:ext uri="{DCECCB84-F9BA-43D5-87BE-67443E8EF086}">
      <p15:sldGuideLst xmlns:p15="http://schemas.microsoft.com/office/powerpoint/2012/main">
        <p15:guide id="1" pos="295" userDrawn="1">
          <p15:clr>
            <a:srgbClr val="FBAE40"/>
          </p15:clr>
        </p15:guide>
        <p15:guide id="2" pos="3787"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apo_Texto resaltado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EAB6FCCD-B37C-460C-A0A6-771274CFCC19}"/>
              </a:ext>
            </a:extLst>
          </p:cNvPr>
          <p:cNvSpPr>
            <a:spLocks noGrp="1"/>
          </p:cNvSpPr>
          <p:nvPr>
            <p:ph type="body" sz="quarter" idx="10"/>
          </p:nvPr>
        </p:nvSpPr>
        <p:spPr>
          <a:xfrm>
            <a:off x="2268538" y="2372810"/>
            <a:ext cx="4653123" cy="1632031"/>
          </a:xfrm>
          <a:prstGeom prst="rect">
            <a:avLst/>
          </a:prstGeom>
        </p:spPr>
        <p:txBody>
          <a:bodyPr anchor="b"/>
          <a:lstStyle>
            <a:lvl1pPr marL="0" indent="0" algn="r">
              <a:spcBef>
                <a:spcPts val="0"/>
              </a:spcBef>
              <a:buNone/>
              <a:defRPr sz="2000" i="1">
                <a:solidFill>
                  <a:schemeClr val="tx1"/>
                </a:solidFill>
              </a:defRPr>
            </a:lvl1pPr>
          </a:lstStyle>
          <a:p>
            <a:pPr lvl="0"/>
            <a:r>
              <a:rPr lang="es-ES" dirty="0"/>
              <a:t>Haga clic para modificar los estilos de texto del patrón</a:t>
            </a:r>
            <a:endParaRPr lang="es-PE" dirty="0"/>
          </a:p>
        </p:txBody>
      </p:sp>
      <p:sp>
        <p:nvSpPr>
          <p:cNvPr id="5" name="Marcador de texto 4">
            <a:extLst>
              <a:ext uri="{FF2B5EF4-FFF2-40B4-BE49-F238E27FC236}">
                <a16:creationId xmlns:a16="http://schemas.microsoft.com/office/drawing/2014/main" id="{B8542FCA-1884-4A89-909D-59816C0141C4}"/>
              </a:ext>
            </a:extLst>
          </p:cNvPr>
          <p:cNvSpPr>
            <a:spLocks noGrp="1"/>
          </p:cNvSpPr>
          <p:nvPr>
            <p:ph type="body" sz="quarter" idx="11"/>
          </p:nvPr>
        </p:nvSpPr>
        <p:spPr>
          <a:xfrm>
            <a:off x="2268537" y="4287333"/>
            <a:ext cx="4653123" cy="567883"/>
          </a:xfrm>
          <a:prstGeom prst="rect">
            <a:avLst/>
          </a:prstGeom>
        </p:spPr>
        <p:txBody>
          <a:bodyPr/>
          <a:lstStyle>
            <a:lvl1pPr marL="0" indent="0" algn="r">
              <a:lnSpc>
                <a:spcPct val="85000"/>
              </a:lnSpc>
              <a:buNone/>
              <a:defRPr sz="2000" b="1">
                <a:solidFill>
                  <a:srgbClr val="002060"/>
                </a:solidFill>
              </a:defRPr>
            </a:lvl1pPr>
          </a:lstStyle>
          <a:p>
            <a:pPr lvl="0"/>
            <a:r>
              <a:rPr lang="es-ES" dirty="0"/>
              <a:t>Haga clic para modificar los estilos de texto del patrón</a:t>
            </a:r>
            <a:endParaRPr lang="es-PE" dirty="0"/>
          </a:p>
        </p:txBody>
      </p:sp>
    </p:spTree>
    <p:custDataLst>
      <p:tags r:id="rId1"/>
    </p:custDataLst>
    <p:extLst>
      <p:ext uri="{BB962C8B-B14F-4D97-AF65-F5344CB8AC3E}">
        <p14:creationId xmlns:p14="http://schemas.microsoft.com/office/powerpoint/2010/main" val="2943131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apo_Conclusion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27B2E060-20CD-463B-8DA7-F4C44CB2E4F1}"/>
              </a:ext>
            </a:extLst>
          </p:cNvPr>
          <p:cNvSpPr/>
          <p:nvPr userDrawn="1"/>
        </p:nvSpPr>
        <p:spPr>
          <a:xfrm>
            <a:off x="503238" y="997483"/>
            <a:ext cx="1945800" cy="249299"/>
          </a:xfrm>
          <a:prstGeom prst="rect">
            <a:avLst/>
          </a:prstGeom>
        </p:spPr>
        <p:txBody>
          <a:bodyPr wrap="square" lIns="0" tIns="0" rIns="0" bIns="0">
            <a:spAutoFit/>
          </a:bodyPr>
          <a:lstStyle/>
          <a:p>
            <a:pPr marL="0" marR="0" lvl="0" indent="0" algn="l" defTabSz="411480" rtl="0" eaLnBrk="1" fontAlgn="auto" latinLnBrk="0" hangingPunct="1">
              <a:lnSpc>
                <a:spcPct val="100000"/>
              </a:lnSpc>
              <a:spcBef>
                <a:spcPts val="0"/>
              </a:spcBef>
              <a:spcAft>
                <a:spcPts val="0"/>
              </a:spcAft>
              <a:buClrTx/>
              <a:buSzTx/>
              <a:buFontTx/>
              <a:buNone/>
              <a:tabLst/>
              <a:defRPr/>
            </a:pPr>
            <a:r>
              <a:rPr kumimoji="0" lang="en-US" sz="1620" b="1" i="0" u="none" strike="noStrike" kern="1200" cap="none" spc="0" normalizeH="0" baseline="0" noProof="0" dirty="0">
                <a:ln>
                  <a:noFill/>
                </a:ln>
                <a:solidFill>
                  <a:prstClr val="white"/>
                </a:solidFill>
                <a:effectLst/>
                <a:uLnTx/>
                <a:uFillTx/>
                <a:latin typeface="Calibri"/>
                <a:ea typeface="+mn-ea"/>
                <a:cs typeface="+mn-cs"/>
              </a:rPr>
              <a:t>CONCLUSIONES</a:t>
            </a:r>
          </a:p>
        </p:txBody>
      </p:sp>
      <p:pic>
        <p:nvPicPr>
          <p:cNvPr id="3" name="Imagen 2">
            <a:extLst>
              <a:ext uri="{FF2B5EF4-FFF2-40B4-BE49-F238E27FC236}">
                <a16:creationId xmlns:a16="http://schemas.microsoft.com/office/drawing/2014/main" id="{FC3DF485-35A0-4880-86B1-159FC8D1B5DD}"/>
              </a:ext>
            </a:extLst>
          </p:cNvPr>
          <p:cNvPicPr>
            <a:picLocks noChangeAspect="1"/>
          </p:cNvPicPr>
          <p:nvPr userDrawn="1"/>
        </p:nvPicPr>
        <p:blipFill>
          <a:blip r:embed="rId3">
            <a:lum bright="70000" contrast="-70000"/>
            <a:alphaModFix/>
            <a:extLst>
              <a:ext uri="{BEBA8EAE-BF5A-486C-A8C5-ECC9F3942E4B}">
                <a14:imgProps xmlns:a14="http://schemas.microsoft.com/office/drawing/2010/main">
                  <a14:imgLayer r:embed="rId4">
                    <a14:imgEffect>
                      <a14:colorTemperature colorTemp="1500"/>
                    </a14:imgEffect>
                    <a14:imgEffect>
                      <a14:saturation sat="0"/>
                    </a14:imgEffect>
                  </a14:imgLayer>
                </a14:imgProps>
              </a:ext>
            </a:extLst>
          </a:blip>
          <a:stretch>
            <a:fillRect/>
          </a:stretch>
        </p:blipFill>
        <p:spPr>
          <a:xfrm>
            <a:off x="503239" y="573356"/>
            <a:ext cx="424127" cy="424127"/>
          </a:xfrm>
          <a:prstGeom prst="rect">
            <a:avLst/>
          </a:prstGeom>
        </p:spPr>
      </p:pic>
      <p:sp>
        <p:nvSpPr>
          <p:cNvPr id="5" name="Marcador de texto 4">
            <a:extLst>
              <a:ext uri="{FF2B5EF4-FFF2-40B4-BE49-F238E27FC236}">
                <a16:creationId xmlns:a16="http://schemas.microsoft.com/office/drawing/2014/main" id="{18F77D6E-1237-49E3-9C45-BC77466A0D49}"/>
              </a:ext>
            </a:extLst>
          </p:cNvPr>
          <p:cNvSpPr>
            <a:spLocks noGrp="1"/>
          </p:cNvSpPr>
          <p:nvPr>
            <p:ph type="body" sz="quarter" idx="10"/>
          </p:nvPr>
        </p:nvSpPr>
        <p:spPr>
          <a:xfrm>
            <a:off x="927366" y="1670909"/>
            <a:ext cx="7713398" cy="3526566"/>
          </a:xfrm>
          <a:prstGeom prst="rect">
            <a:avLst/>
          </a:prstGeom>
        </p:spPr>
        <p:txBody>
          <a:bodyPr lIns="0" tIns="0" rIns="0" bIns="0"/>
          <a:lstStyle>
            <a:lvl1pPr marL="266700" indent="-266700" algn="just">
              <a:lnSpc>
                <a:spcPct val="85000"/>
              </a:lnSpc>
              <a:spcBef>
                <a:spcPts val="0"/>
              </a:spcBef>
              <a:spcAft>
                <a:spcPts val="1200"/>
              </a:spcAft>
              <a:buFont typeface="+mj-lt"/>
              <a:buAutoNum type="arabicPeriod"/>
              <a:tabLst/>
              <a:defRPr sz="1800">
                <a:solidFill>
                  <a:schemeClr val="bg1"/>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2798195332"/>
      </p:ext>
    </p:extLst>
  </p:cSld>
  <p:clrMapOvr>
    <a:masterClrMapping/>
  </p:clrMapOvr>
  <p:extLst>
    <p:ext uri="{DCECCB84-F9BA-43D5-87BE-67443E8EF086}">
      <p15:sldGuideLst xmlns:p15="http://schemas.microsoft.com/office/powerpoint/2012/main">
        <p15:guide id="1" orient="horz" pos="1052"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apo_Bibliografí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27B2E060-20CD-463B-8DA7-F4C44CB2E4F1}"/>
              </a:ext>
            </a:extLst>
          </p:cNvPr>
          <p:cNvSpPr/>
          <p:nvPr userDrawn="1"/>
        </p:nvSpPr>
        <p:spPr>
          <a:xfrm>
            <a:off x="503238" y="997483"/>
            <a:ext cx="1945800" cy="249299"/>
          </a:xfrm>
          <a:prstGeom prst="rect">
            <a:avLst/>
          </a:prstGeom>
        </p:spPr>
        <p:txBody>
          <a:bodyPr wrap="square" lIns="0" tIns="0" rIns="0" bIns="0">
            <a:spAutoFit/>
          </a:bodyPr>
          <a:lstStyle/>
          <a:p>
            <a:pPr marL="0" marR="0" lvl="0" indent="0" algn="l" defTabSz="411480" rtl="0" eaLnBrk="1" fontAlgn="auto" latinLnBrk="0" hangingPunct="1">
              <a:lnSpc>
                <a:spcPct val="100000"/>
              </a:lnSpc>
              <a:spcBef>
                <a:spcPts val="0"/>
              </a:spcBef>
              <a:spcAft>
                <a:spcPts val="0"/>
              </a:spcAft>
              <a:buClrTx/>
              <a:buSzTx/>
              <a:buFontTx/>
              <a:buNone/>
              <a:tabLst/>
              <a:defRPr/>
            </a:pPr>
            <a:r>
              <a:rPr kumimoji="0" lang="en-US" sz="1620" b="1" i="0" u="none" strike="noStrike" kern="1200" cap="none" spc="0" normalizeH="0" baseline="0" noProof="0" dirty="0">
                <a:ln>
                  <a:noFill/>
                </a:ln>
                <a:solidFill>
                  <a:prstClr val="white"/>
                </a:solidFill>
                <a:effectLst/>
                <a:uLnTx/>
                <a:uFillTx/>
                <a:latin typeface="Calibri"/>
                <a:ea typeface="+mn-ea"/>
                <a:cs typeface="+mn-cs"/>
              </a:rPr>
              <a:t>BIBLIOGRAFÍA</a:t>
            </a:r>
          </a:p>
        </p:txBody>
      </p:sp>
      <p:pic>
        <p:nvPicPr>
          <p:cNvPr id="3" name="Imagen 2">
            <a:extLst>
              <a:ext uri="{FF2B5EF4-FFF2-40B4-BE49-F238E27FC236}">
                <a16:creationId xmlns:a16="http://schemas.microsoft.com/office/drawing/2014/main" id="{FC3DF485-35A0-4880-86B1-159FC8D1B5DD}"/>
              </a:ext>
            </a:extLst>
          </p:cNvPr>
          <p:cNvPicPr>
            <a:picLocks noChangeAspect="1"/>
          </p:cNvPicPr>
          <p:nvPr userDrawn="1"/>
        </p:nvPicPr>
        <p:blipFill>
          <a:blip r:embed="rId3">
            <a:lum bright="70000" contrast="-70000"/>
            <a:alphaModFix/>
            <a:extLst>
              <a:ext uri="{BEBA8EAE-BF5A-486C-A8C5-ECC9F3942E4B}">
                <a14:imgProps xmlns:a14="http://schemas.microsoft.com/office/drawing/2010/main">
                  <a14:imgLayer r:embed="rId4">
                    <a14:imgEffect>
                      <a14:colorTemperature colorTemp="1500"/>
                    </a14:imgEffect>
                    <a14:imgEffect>
                      <a14:saturation sat="0"/>
                    </a14:imgEffect>
                  </a14:imgLayer>
                </a14:imgProps>
              </a:ext>
            </a:extLst>
          </a:blip>
          <a:stretch>
            <a:fillRect/>
          </a:stretch>
        </p:blipFill>
        <p:spPr>
          <a:xfrm>
            <a:off x="503239" y="573356"/>
            <a:ext cx="424127" cy="424127"/>
          </a:xfrm>
          <a:prstGeom prst="rect">
            <a:avLst/>
          </a:prstGeom>
        </p:spPr>
      </p:pic>
      <p:sp>
        <p:nvSpPr>
          <p:cNvPr id="5" name="Marcador de texto 4">
            <a:extLst>
              <a:ext uri="{FF2B5EF4-FFF2-40B4-BE49-F238E27FC236}">
                <a16:creationId xmlns:a16="http://schemas.microsoft.com/office/drawing/2014/main" id="{18F77D6E-1237-49E3-9C45-BC77466A0D49}"/>
              </a:ext>
            </a:extLst>
          </p:cNvPr>
          <p:cNvSpPr>
            <a:spLocks noGrp="1"/>
          </p:cNvSpPr>
          <p:nvPr>
            <p:ph type="body" sz="quarter" idx="10"/>
          </p:nvPr>
        </p:nvSpPr>
        <p:spPr>
          <a:xfrm>
            <a:off x="927366" y="1670049"/>
            <a:ext cx="7713398" cy="3527425"/>
          </a:xfrm>
          <a:prstGeom prst="rect">
            <a:avLst/>
          </a:prstGeom>
        </p:spPr>
        <p:txBody>
          <a:bodyPr lIns="0" tIns="0" rIns="0" bIns="0"/>
          <a:lstStyle>
            <a:lvl1pPr marL="266700" indent="-266700" algn="just">
              <a:lnSpc>
                <a:spcPct val="85000"/>
              </a:lnSpc>
              <a:spcBef>
                <a:spcPts val="0"/>
              </a:spcBef>
              <a:spcAft>
                <a:spcPts val="1200"/>
              </a:spcAft>
              <a:buFont typeface="Wingdings" panose="05000000000000000000" pitchFamily="2" charset="2"/>
              <a:buChar char="§"/>
              <a:defRPr sz="1800">
                <a:solidFill>
                  <a:schemeClr val="bg1"/>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3210332040"/>
      </p:ext>
    </p:extLst>
  </p:cSld>
  <p:clrMapOvr>
    <a:masterClrMapping/>
  </p:clrMapOvr>
  <p:extLst>
    <p:ext uri="{DCECCB84-F9BA-43D5-87BE-67443E8EF086}">
      <p15:sldGuideLst xmlns:p15="http://schemas.microsoft.com/office/powerpoint/2012/main">
        <p15:guide id="1" orient="horz" pos="1052"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theme" Target="../theme/theme2.xml"/><Relationship Id="rId5" Type="http://schemas.openxmlformats.org/officeDocument/2006/relationships/slideLayout" Target="../slideLayouts/slideLayout12.xml"/><Relationship Id="rId4"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4" name="Agrupar 13"/>
          <p:cNvGrpSpPr/>
          <p:nvPr userDrawn="1"/>
        </p:nvGrpSpPr>
        <p:grpSpPr>
          <a:xfrm>
            <a:off x="793745" y="5369051"/>
            <a:ext cx="8104595" cy="215444"/>
            <a:chOff x="793745" y="5369051"/>
            <a:chExt cx="7954689" cy="215444"/>
          </a:xfrm>
        </p:grpSpPr>
        <p:sp>
          <p:nvSpPr>
            <p:cNvPr id="16" name="TextBox 7"/>
            <p:cNvSpPr txBox="1"/>
            <p:nvPr userDrawn="1"/>
          </p:nvSpPr>
          <p:spPr>
            <a:xfrm>
              <a:off x="793745" y="5369051"/>
              <a:ext cx="1605135" cy="215444"/>
            </a:xfrm>
            <a:prstGeom prst="rect">
              <a:avLst/>
            </a:prstGeom>
            <a:noFill/>
          </p:spPr>
          <p:txBody>
            <a:bodyPr wrap="none" rtlCol="0">
              <a:spAutoFit/>
            </a:bodyPr>
            <a:lstStyle/>
            <a:p>
              <a:r>
                <a:rPr lang="en-US" sz="800" kern="1200" dirty="0">
                  <a:solidFill>
                    <a:schemeClr val="bg1">
                      <a:lumMod val="50000"/>
                    </a:schemeClr>
                  </a:solidFill>
                  <a:latin typeface="Calibri"/>
                  <a:ea typeface="+mn-ea"/>
                  <a:cs typeface="Calibri"/>
                  <a:sym typeface="Wingdings"/>
                </a:rPr>
                <a:t>ANÁLISIS FUNCIONAL  </a:t>
              </a:r>
              <a:r>
                <a:rPr lang="en-US" sz="800" dirty="0">
                  <a:solidFill>
                    <a:schemeClr val="bg1">
                      <a:lumMod val="50000"/>
                    </a:schemeClr>
                  </a:solidFill>
                  <a:latin typeface="Calibri"/>
                  <a:ea typeface="Wingdings"/>
                  <a:cs typeface="Calibri"/>
                  <a:sym typeface="Wingdings"/>
                </a:rPr>
                <a:t></a:t>
              </a:r>
              <a:r>
                <a:rPr lang="en-US" sz="800" kern="1200" dirty="0">
                  <a:solidFill>
                    <a:schemeClr val="bg1">
                      <a:lumMod val="50000"/>
                    </a:schemeClr>
                  </a:solidFill>
                  <a:latin typeface="Calibri"/>
                  <a:ea typeface="+mn-ea"/>
                  <a:cs typeface="Calibri"/>
                  <a:sym typeface="Wingdings"/>
                </a:rPr>
                <a:t>  SESIÓN 02</a:t>
              </a:r>
              <a:endParaRPr lang="en-US" sz="800" dirty="0">
                <a:solidFill>
                  <a:schemeClr val="bg1">
                    <a:lumMod val="50000"/>
                  </a:schemeClr>
                </a:solidFill>
                <a:latin typeface="Calibri"/>
                <a:cs typeface="Calibri"/>
              </a:endParaRPr>
            </a:p>
          </p:txBody>
        </p:sp>
        <p:sp>
          <p:nvSpPr>
            <p:cNvPr id="18" name="Rectangle 3"/>
            <p:cNvSpPr/>
            <p:nvPr userDrawn="1"/>
          </p:nvSpPr>
          <p:spPr>
            <a:xfrm>
              <a:off x="7207627" y="5384440"/>
              <a:ext cx="1540807" cy="184666"/>
            </a:xfrm>
            <a:prstGeom prst="rect">
              <a:avLst/>
            </a:prstGeom>
          </p:spPr>
          <p:txBody>
            <a:bodyPr wrap="none">
              <a:spAutoFit/>
            </a:bodyPr>
            <a:lstStyle/>
            <a:p>
              <a:pPr algn="r"/>
              <a:r>
                <a:rPr lang="es-ES_tradnl" sz="600" dirty="0">
                  <a:solidFill>
                    <a:schemeClr val="bg1">
                      <a:lumMod val="50000"/>
                    </a:schemeClr>
                  </a:solidFill>
                </a:rPr>
                <a:t>© 2023 ISIL. Todos los derechos reservados</a:t>
              </a:r>
            </a:p>
          </p:txBody>
        </p:sp>
      </p:grpSp>
      <p:pic>
        <p:nvPicPr>
          <p:cNvPr id="3" name="Imagen 2"/>
          <p:cNvPicPr>
            <a:picLocks noChangeAspect="1"/>
          </p:cNvPicPr>
          <p:nvPr userDrawn="1"/>
        </p:nvPicPr>
        <p:blipFill>
          <a:blip r:embed="rId9">
            <a:alphaModFix amt="20000"/>
          </a:blip>
          <a:stretch>
            <a:fillRect/>
          </a:stretch>
        </p:blipFill>
        <p:spPr>
          <a:xfrm>
            <a:off x="345172" y="5328911"/>
            <a:ext cx="448573" cy="250755"/>
          </a:xfrm>
          <a:prstGeom prst="rect">
            <a:avLst/>
          </a:prstGeom>
        </p:spPr>
      </p:pic>
    </p:spTree>
    <p:extLst>
      <p:ext uri="{BB962C8B-B14F-4D97-AF65-F5344CB8AC3E}">
        <p14:creationId xmlns:p14="http://schemas.microsoft.com/office/powerpoint/2010/main" val="3635932377"/>
      </p:ext>
    </p:extLst>
  </p:cSld>
  <p:clrMap bg1="lt1" tx1="dk1" bg2="lt2" tx2="dk2" accent1="accent1" accent2="accent2" accent3="accent3" accent4="accent4" accent5="accent5" accent6="accent6" hlink="hlink" folHlink="folHlink"/>
  <p:sldLayoutIdLst>
    <p:sldLayoutId id="2147483678" r:id="rId1"/>
    <p:sldLayoutId id="2147483656" r:id="rId2"/>
    <p:sldLayoutId id="2147483679" r:id="rId3"/>
    <p:sldLayoutId id="2147483680" r:id="rId4"/>
    <p:sldLayoutId id="2147483681" r:id="rId5"/>
    <p:sldLayoutId id="2147483682" r:id="rId6"/>
    <p:sldLayoutId id="2147483683" r:id="rId7"/>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00" userDrawn="1">
          <p15:clr>
            <a:srgbClr val="F26B43"/>
          </p15:clr>
        </p15:guide>
        <p15:guide id="2"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36462837"/>
      </p:ext>
    </p:extLst>
  </p:cSld>
  <p:clrMap bg1="lt1" tx1="dk1" bg2="lt2" tx2="dk2" accent1="accent1" accent2="accent2" accent3="accent3" accent4="accent4" accent5="accent5" accent6="accent6" hlink="hlink" folHlink="folHlink"/>
  <p:sldLayoutIdLst>
    <p:sldLayoutId id="2147483662" r:id="rId1"/>
    <p:sldLayoutId id="2147483649" r:id="rId2"/>
    <p:sldLayoutId id="2147483650" r:id="rId3"/>
    <p:sldLayoutId id="2147483667" r:id="rId4"/>
    <p:sldLayoutId id="2147483669" r:id="rId5"/>
  </p:sldLayoutIdLst>
  <p:txStyles>
    <p:titleStyle>
      <a:lvl1pPr algn="ctr" defTabSz="411480" rtl="0" eaLnBrk="1" latinLnBrk="0" hangingPunct="1">
        <a:spcBef>
          <a:spcPct val="0"/>
        </a:spcBef>
        <a:buNone/>
        <a:defRPr sz="3960" kern="1200">
          <a:solidFill>
            <a:schemeClr val="tx1"/>
          </a:solidFill>
          <a:latin typeface="+mj-lt"/>
          <a:ea typeface="+mj-ea"/>
          <a:cs typeface="+mj-cs"/>
        </a:defRPr>
      </a:lvl1pPr>
    </p:titleStyle>
    <p:body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p:bodyStyle>
    <p:otherStyle>
      <a:defPPr>
        <a:defRPr lang="en-US"/>
      </a:defPPr>
      <a:lvl1pPr marL="0" algn="l" defTabSz="411480" rtl="0" eaLnBrk="1" latinLnBrk="0" hangingPunct="1">
        <a:defRPr sz="1620" kern="1200">
          <a:solidFill>
            <a:schemeClr val="tx1"/>
          </a:solidFill>
          <a:latin typeface="+mn-lt"/>
          <a:ea typeface="+mn-ea"/>
          <a:cs typeface="+mn-cs"/>
        </a:defRPr>
      </a:lvl1pPr>
      <a:lvl2pPr marL="411480" algn="l" defTabSz="411480" rtl="0" eaLnBrk="1" latinLnBrk="0" hangingPunct="1">
        <a:defRPr sz="1620" kern="1200">
          <a:solidFill>
            <a:schemeClr val="tx1"/>
          </a:solidFill>
          <a:latin typeface="+mn-lt"/>
          <a:ea typeface="+mn-ea"/>
          <a:cs typeface="+mn-cs"/>
        </a:defRPr>
      </a:lvl2pPr>
      <a:lvl3pPr marL="822960" algn="l" defTabSz="411480" rtl="0" eaLnBrk="1" latinLnBrk="0" hangingPunct="1">
        <a:defRPr sz="1620" kern="1200">
          <a:solidFill>
            <a:schemeClr val="tx1"/>
          </a:solidFill>
          <a:latin typeface="+mn-lt"/>
          <a:ea typeface="+mn-ea"/>
          <a:cs typeface="+mn-cs"/>
        </a:defRPr>
      </a:lvl3pPr>
      <a:lvl4pPr marL="1234440" algn="l" defTabSz="411480" rtl="0" eaLnBrk="1" latinLnBrk="0" hangingPunct="1">
        <a:defRPr sz="1620" kern="1200">
          <a:solidFill>
            <a:schemeClr val="tx1"/>
          </a:solidFill>
          <a:latin typeface="+mn-lt"/>
          <a:ea typeface="+mn-ea"/>
          <a:cs typeface="+mn-cs"/>
        </a:defRPr>
      </a:lvl4pPr>
      <a:lvl5pPr marL="1645920" algn="l" defTabSz="411480" rtl="0" eaLnBrk="1" latinLnBrk="0" hangingPunct="1">
        <a:defRPr sz="1620" kern="1200">
          <a:solidFill>
            <a:schemeClr val="tx1"/>
          </a:solidFill>
          <a:latin typeface="+mn-lt"/>
          <a:ea typeface="+mn-ea"/>
          <a:cs typeface="+mn-cs"/>
        </a:defRPr>
      </a:lvl5pPr>
      <a:lvl6pPr marL="2057400" algn="l" defTabSz="411480" rtl="0" eaLnBrk="1" latinLnBrk="0" hangingPunct="1">
        <a:defRPr sz="1620" kern="1200">
          <a:solidFill>
            <a:schemeClr val="tx1"/>
          </a:solidFill>
          <a:latin typeface="+mn-lt"/>
          <a:ea typeface="+mn-ea"/>
          <a:cs typeface="+mn-cs"/>
        </a:defRPr>
      </a:lvl6pPr>
      <a:lvl7pPr marL="2468880" algn="l" defTabSz="411480" rtl="0" eaLnBrk="1" latinLnBrk="0" hangingPunct="1">
        <a:defRPr sz="1620" kern="1200">
          <a:solidFill>
            <a:schemeClr val="tx1"/>
          </a:solidFill>
          <a:latin typeface="+mn-lt"/>
          <a:ea typeface="+mn-ea"/>
          <a:cs typeface="+mn-cs"/>
        </a:defRPr>
      </a:lvl7pPr>
      <a:lvl8pPr marL="2880360" algn="l" defTabSz="411480" rtl="0" eaLnBrk="1" latinLnBrk="0" hangingPunct="1">
        <a:defRPr sz="1620" kern="1200">
          <a:solidFill>
            <a:schemeClr val="tx1"/>
          </a:solidFill>
          <a:latin typeface="+mn-lt"/>
          <a:ea typeface="+mn-ea"/>
          <a:cs typeface="+mn-cs"/>
        </a:defRPr>
      </a:lvl8pPr>
      <a:lvl9pPr marL="3291840" algn="l" defTabSz="411480" rtl="0" eaLnBrk="1" latinLnBrk="0" hangingPunct="1">
        <a:defRPr sz="16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9.xml"/><Relationship Id="rId1" Type="http://schemas.openxmlformats.org/officeDocument/2006/relationships/tags" Target="../tags/tag5.xml"/></Relationships>
</file>

<file path=ppt/slides/_rels/slide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9.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9.xml"/><Relationship Id="rId1" Type="http://schemas.openxmlformats.org/officeDocument/2006/relationships/tags" Target="../tags/tag7.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9.xml"/><Relationship Id="rId1" Type="http://schemas.openxmlformats.org/officeDocument/2006/relationships/tags" Target="../tags/tag8.xml"/></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9.xml"/><Relationship Id="rId1" Type="http://schemas.openxmlformats.org/officeDocument/2006/relationships/tags" Target="../tags/tag9.xml"/></Relationships>
</file>

<file path=ppt/slides/_rels/slide2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9.xml"/><Relationship Id="rId1" Type="http://schemas.openxmlformats.org/officeDocument/2006/relationships/tags" Target="../tags/tag10.xml"/></Relationships>
</file>

<file path=ppt/slides/_rels/slide3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9.xml"/><Relationship Id="rId1" Type="http://schemas.openxmlformats.org/officeDocument/2006/relationships/tags" Target="../tags/tag11.xml"/></Relationships>
</file>

<file path=ppt/slides/_rels/slide4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1.xml"/><Relationship Id="rId1" Type="http://schemas.openxmlformats.org/officeDocument/2006/relationships/tags" Target="../tags/tag12.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2.xml"/><Relationship Id="rId1" Type="http://schemas.openxmlformats.org/officeDocument/2006/relationships/tags" Target="../tags/tag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06064E9-134E-4E79-A41F-706155D9AFFA}"/>
              </a:ext>
            </a:extLst>
          </p:cNvPr>
          <p:cNvSpPr>
            <a:spLocks noGrp="1"/>
          </p:cNvSpPr>
          <p:nvPr>
            <p:ph type="body" sz="quarter" idx="10"/>
          </p:nvPr>
        </p:nvSpPr>
        <p:spPr/>
        <p:txBody>
          <a:bodyPr/>
          <a:lstStyle/>
          <a:p>
            <a:r>
              <a:rPr lang="es-PE" dirty="0"/>
              <a:t>ÁREAS DE CONOCIMIENTO DEL ANÁLISIS EMPRESARIAL</a:t>
            </a:r>
          </a:p>
        </p:txBody>
      </p:sp>
      <p:sp>
        <p:nvSpPr>
          <p:cNvPr id="12" name="Marcador de texto 11">
            <a:extLst>
              <a:ext uri="{FF2B5EF4-FFF2-40B4-BE49-F238E27FC236}">
                <a16:creationId xmlns:a16="http://schemas.microsoft.com/office/drawing/2014/main" id="{65D77B8F-E8DB-4946-B4B7-3705AAB2578C}"/>
              </a:ext>
            </a:extLst>
          </p:cNvPr>
          <p:cNvSpPr>
            <a:spLocks noGrp="1"/>
          </p:cNvSpPr>
          <p:nvPr>
            <p:ph type="body" sz="quarter" idx="11"/>
          </p:nvPr>
        </p:nvSpPr>
        <p:spPr/>
        <p:txBody>
          <a:bodyPr/>
          <a:lstStyle/>
          <a:p>
            <a:r>
              <a:rPr lang="es-PE" dirty="0"/>
              <a:t>UNIDAD DE APRENDIZAJE 1 – UA1</a:t>
            </a:r>
          </a:p>
        </p:txBody>
      </p:sp>
      <p:sp>
        <p:nvSpPr>
          <p:cNvPr id="13" name="Marcador de texto 12">
            <a:extLst>
              <a:ext uri="{FF2B5EF4-FFF2-40B4-BE49-F238E27FC236}">
                <a16:creationId xmlns:a16="http://schemas.microsoft.com/office/drawing/2014/main" id="{FA929147-F09B-4398-9DDF-DF2F7FC0C4A6}"/>
              </a:ext>
            </a:extLst>
          </p:cNvPr>
          <p:cNvSpPr>
            <a:spLocks noGrp="1"/>
          </p:cNvSpPr>
          <p:nvPr>
            <p:ph type="body" sz="quarter" idx="12"/>
          </p:nvPr>
        </p:nvSpPr>
        <p:spPr>
          <a:xfrm>
            <a:off x="3151257" y="3149152"/>
            <a:ext cx="5524430" cy="2004739"/>
          </a:xfrm>
        </p:spPr>
        <p:txBody>
          <a:bodyPr/>
          <a:lstStyle/>
          <a:p>
            <a:pPr>
              <a:spcBef>
                <a:spcPts val="0"/>
              </a:spcBef>
            </a:pPr>
            <a:r>
              <a:rPr lang="es-PE" dirty="0" smtClean="0"/>
              <a:t>Áreas de conocimiento</a:t>
            </a:r>
          </a:p>
          <a:p>
            <a:pPr>
              <a:spcBef>
                <a:spcPts val="0"/>
              </a:spcBef>
            </a:pPr>
            <a:r>
              <a:rPr lang="es-PE" dirty="0" smtClean="0"/>
              <a:t>Planificación </a:t>
            </a:r>
            <a:r>
              <a:rPr lang="es-PE" dirty="0"/>
              <a:t>y Monitoreo</a:t>
            </a:r>
          </a:p>
          <a:p>
            <a:pPr>
              <a:spcBef>
                <a:spcPts val="0"/>
              </a:spcBef>
            </a:pPr>
            <a:r>
              <a:rPr lang="es-PE" dirty="0"/>
              <a:t>Elicitación y colaboración</a:t>
            </a:r>
          </a:p>
          <a:p>
            <a:pPr>
              <a:spcBef>
                <a:spcPts val="0"/>
              </a:spcBef>
            </a:pPr>
            <a:r>
              <a:rPr lang="es-PE" dirty="0"/>
              <a:t>Ciclo de vida de los requerimientos</a:t>
            </a:r>
          </a:p>
          <a:p>
            <a:pPr>
              <a:spcBef>
                <a:spcPts val="0"/>
              </a:spcBef>
            </a:pPr>
            <a:r>
              <a:rPr lang="es-PE" dirty="0"/>
              <a:t>Análisis </a:t>
            </a:r>
            <a:r>
              <a:rPr lang="es-PE" dirty="0" smtClean="0"/>
              <a:t>estratégico</a:t>
            </a:r>
            <a:endParaRPr lang="es-PE" dirty="0"/>
          </a:p>
          <a:p>
            <a:pPr>
              <a:spcBef>
                <a:spcPts val="0"/>
              </a:spcBef>
            </a:pPr>
            <a:r>
              <a:rPr lang="es-PE" dirty="0"/>
              <a:t>Definición del diseño de la solución</a:t>
            </a:r>
          </a:p>
          <a:p>
            <a:pPr>
              <a:spcBef>
                <a:spcPts val="0"/>
              </a:spcBef>
            </a:pPr>
            <a:r>
              <a:rPr lang="es-PE" dirty="0"/>
              <a:t>Evaluación de la solución</a:t>
            </a:r>
          </a:p>
        </p:txBody>
      </p:sp>
      <p:sp>
        <p:nvSpPr>
          <p:cNvPr id="10" name="Marcador de texto 9">
            <a:extLst>
              <a:ext uri="{FF2B5EF4-FFF2-40B4-BE49-F238E27FC236}">
                <a16:creationId xmlns:a16="http://schemas.microsoft.com/office/drawing/2014/main" id="{4E2E57AF-7040-42B2-BA48-4D269F79C484}"/>
              </a:ext>
            </a:extLst>
          </p:cNvPr>
          <p:cNvSpPr>
            <a:spLocks noGrp="1"/>
          </p:cNvSpPr>
          <p:nvPr>
            <p:ph type="body" sz="quarter" idx="13"/>
          </p:nvPr>
        </p:nvSpPr>
        <p:spPr/>
        <p:txBody>
          <a:bodyPr/>
          <a:lstStyle/>
          <a:p>
            <a:r>
              <a:rPr lang="es-PE" dirty="0"/>
              <a:t>02</a:t>
            </a:r>
          </a:p>
        </p:txBody>
      </p:sp>
    </p:spTree>
    <p:extLst>
      <p:ext uri="{BB962C8B-B14F-4D97-AF65-F5344CB8AC3E}">
        <p14:creationId xmlns:p14="http://schemas.microsoft.com/office/powerpoint/2010/main" val="103886736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4FEDC59F-E03B-4885-ACAE-C9A127998995}"/>
              </a:ext>
            </a:extLst>
          </p:cNvPr>
          <p:cNvSpPr>
            <a:spLocks noGrp="1"/>
          </p:cNvSpPr>
          <p:nvPr>
            <p:ph type="body" sz="quarter" idx="10"/>
          </p:nvPr>
        </p:nvSpPr>
        <p:spPr>
          <a:prstGeom prst="rect">
            <a:avLst/>
          </a:prstGeom>
        </p:spPr>
        <p:txBody>
          <a:bodyPr/>
          <a:lstStyle/>
          <a:p>
            <a:pPr algn="just"/>
            <a:r>
              <a:rPr lang="es-ES" dirty="0"/>
              <a:t>El objetivo de esta sesión es comprender las seis áreas de conocimiento del </a:t>
            </a:r>
            <a:r>
              <a:rPr lang="es-ES" dirty="0" smtClean="0"/>
              <a:t>análisis </a:t>
            </a:r>
            <a:r>
              <a:rPr lang="es-ES" dirty="0"/>
              <a:t>e</a:t>
            </a:r>
            <a:r>
              <a:rPr lang="es-ES" dirty="0" smtClean="0"/>
              <a:t>mpresarial</a:t>
            </a:r>
            <a:r>
              <a:rPr lang="es-ES" dirty="0"/>
              <a:t>, </a:t>
            </a:r>
            <a:r>
              <a:rPr lang="es-ES" dirty="0" smtClean="0"/>
              <a:t>además de su </a:t>
            </a:r>
            <a:r>
              <a:rPr lang="es-ES" dirty="0"/>
              <a:t>alcance y los resultados que se espera </a:t>
            </a:r>
            <a:r>
              <a:rPr lang="es-ES" dirty="0" smtClean="0"/>
              <a:t>al </a:t>
            </a:r>
            <a:r>
              <a:rPr lang="es-ES" dirty="0"/>
              <a:t>realizar las tareas bajo sus correspondientes dominios.</a:t>
            </a:r>
          </a:p>
          <a:p>
            <a:pPr>
              <a:spcAft>
                <a:spcPts val="600"/>
              </a:spcAft>
            </a:pPr>
            <a:r>
              <a:rPr lang="es-ES" dirty="0"/>
              <a:t>Entonces, durante esta sesión:</a:t>
            </a:r>
          </a:p>
          <a:p>
            <a:pPr lvl="1" algn="just">
              <a:spcAft>
                <a:spcPts val="600"/>
              </a:spcAft>
            </a:pPr>
            <a:r>
              <a:rPr lang="es-ES" b="1" dirty="0"/>
              <a:t>Aprenderás</a:t>
            </a:r>
            <a:r>
              <a:rPr lang="es-ES" dirty="0"/>
              <a:t> las tareas que el </a:t>
            </a:r>
            <a:r>
              <a:rPr lang="es-ES" dirty="0" smtClean="0"/>
              <a:t>analista </a:t>
            </a:r>
            <a:r>
              <a:rPr lang="es-ES" dirty="0"/>
              <a:t>de negocios, deberá llevar a cabo durante:</a:t>
            </a:r>
          </a:p>
          <a:p>
            <a:pPr lvl="2">
              <a:spcAft>
                <a:spcPts val="600"/>
              </a:spcAft>
            </a:pPr>
            <a:r>
              <a:rPr lang="es-ES" dirty="0"/>
              <a:t>La </a:t>
            </a:r>
            <a:r>
              <a:rPr lang="es-ES" dirty="0" smtClean="0"/>
              <a:t>planificación </a:t>
            </a:r>
            <a:r>
              <a:rPr lang="es-ES" dirty="0"/>
              <a:t>y </a:t>
            </a:r>
            <a:r>
              <a:rPr lang="es-ES" dirty="0" smtClean="0"/>
              <a:t>monitoreo.</a:t>
            </a:r>
            <a:endParaRPr lang="es-ES" dirty="0"/>
          </a:p>
          <a:p>
            <a:pPr lvl="2">
              <a:spcAft>
                <a:spcPts val="600"/>
              </a:spcAft>
            </a:pPr>
            <a:r>
              <a:rPr lang="es-ES" dirty="0"/>
              <a:t>La </a:t>
            </a:r>
            <a:r>
              <a:rPr lang="es-ES" dirty="0" smtClean="0"/>
              <a:t>elicitación </a:t>
            </a:r>
            <a:r>
              <a:rPr lang="es-ES" dirty="0"/>
              <a:t>y </a:t>
            </a:r>
            <a:r>
              <a:rPr lang="es-ES" dirty="0" smtClean="0"/>
              <a:t>colaboración. </a:t>
            </a:r>
            <a:endParaRPr lang="es-ES" dirty="0"/>
          </a:p>
          <a:p>
            <a:pPr lvl="2">
              <a:spcAft>
                <a:spcPts val="600"/>
              </a:spcAft>
            </a:pPr>
            <a:r>
              <a:rPr lang="es-ES" dirty="0"/>
              <a:t>El </a:t>
            </a:r>
            <a:r>
              <a:rPr lang="es-ES" dirty="0" smtClean="0"/>
              <a:t>ciclo </a:t>
            </a:r>
            <a:r>
              <a:rPr lang="es-ES" dirty="0"/>
              <a:t>de vida de los </a:t>
            </a:r>
            <a:r>
              <a:rPr lang="es-ES" dirty="0" smtClean="0"/>
              <a:t>requerimientos.</a:t>
            </a:r>
            <a:endParaRPr lang="es-ES" dirty="0"/>
          </a:p>
          <a:p>
            <a:pPr lvl="2">
              <a:spcAft>
                <a:spcPts val="600"/>
              </a:spcAft>
            </a:pPr>
            <a:r>
              <a:rPr lang="es-ES" dirty="0"/>
              <a:t>El </a:t>
            </a:r>
            <a:r>
              <a:rPr lang="es-ES" dirty="0" smtClean="0"/>
              <a:t>análisis estratégico. </a:t>
            </a:r>
            <a:endParaRPr lang="es-ES" dirty="0"/>
          </a:p>
          <a:p>
            <a:pPr lvl="2">
              <a:spcAft>
                <a:spcPts val="600"/>
              </a:spcAft>
            </a:pPr>
            <a:r>
              <a:rPr lang="es-ES" dirty="0"/>
              <a:t>La </a:t>
            </a:r>
            <a:r>
              <a:rPr lang="es-ES" dirty="0" smtClean="0"/>
              <a:t>definición </a:t>
            </a:r>
            <a:r>
              <a:rPr lang="es-ES" dirty="0"/>
              <a:t>del diseño de la </a:t>
            </a:r>
            <a:r>
              <a:rPr lang="es-ES" dirty="0" smtClean="0"/>
              <a:t>solución. </a:t>
            </a:r>
            <a:endParaRPr lang="es-ES" dirty="0"/>
          </a:p>
          <a:p>
            <a:pPr lvl="2">
              <a:spcAft>
                <a:spcPts val="600"/>
              </a:spcAft>
            </a:pPr>
            <a:r>
              <a:rPr lang="es-ES" dirty="0"/>
              <a:t>La </a:t>
            </a:r>
            <a:r>
              <a:rPr lang="es-ES" dirty="0" smtClean="0"/>
              <a:t>evaluación </a:t>
            </a:r>
            <a:r>
              <a:rPr lang="es-ES" dirty="0"/>
              <a:t>de la solución.</a:t>
            </a:r>
            <a:endParaRPr lang="es-PE" dirty="0"/>
          </a:p>
        </p:txBody>
      </p:sp>
    </p:spTree>
    <p:custDataLst>
      <p:tags r:id="rId1"/>
    </p:custDataLst>
    <p:extLst>
      <p:ext uri="{BB962C8B-B14F-4D97-AF65-F5344CB8AC3E}">
        <p14:creationId xmlns:p14="http://schemas.microsoft.com/office/powerpoint/2010/main" val="3012154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B664F2-7CB4-48B1-9096-E52469E94D93}"/>
              </a:ext>
            </a:extLst>
          </p:cNvPr>
          <p:cNvSpPr>
            <a:spLocks noGrp="1"/>
          </p:cNvSpPr>
          <p:nvPr>
            <p:ph type="body" sz="quarter" idx="10"/>
          </p:nvPr>
        </p:nvSpPr>
        <p:spPr>
          <a:xfrm>
            <a:off x="468314" y="3714841"/>
            <a:ext cx="5543549" cy="483779"/>
          </a:xfrm>
        </p:spPr>
        <p:txBody>
          <a:bodyPr/>
          <a:lstStyle/>
          <a:p>
            <a:pPr marL="274638" indent="-274638">
              <a:tabLst>
                <a:tab pos="274638" algn="l"/>
              </a:tabLst>
            </a:pPr>
            <a:r>
              <a:rPr lang="es-PE" dirty="0"/>
              <a:t>/	ÁREAS DE CONOCIMIENTO</a:t>
            </a:r>
          </a:p>
        </p:txBody>
      </p:sp>
    </p:spTree>
    <p:custDataLst>
      <p:tags r:id="rId1"/>
    </p:custDataLst>
    <p:extLst>
      <p:ext uri="{BB962C8B-B14F-4D97-AF65-F5344CB8AC3E}">
        <p14:creationId xmlns:p14="http://schemas.microsoft.com/office/powerpoint/2010/main" val="3109433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ÁREAS DE CONOCIMIENTO</a:t>
            </a:r>
          </a:p>
        </p:txBody>
      </p:sp>
      <p:sp>
        <p:nvSpPr>
          <p:cNvPr id="20" name="Marcador de texto 19">
            <a:extLst>
              <a:ext uri="{FF2B5EF4-FFF2-40B4-BE49-F238E27FC236}">
                <a16:creationId xmlns:a16="http://schemas.microsoft.com/office/drawing/2014/main" id="{5089091E-116F-83D4-C23C-A306E469AF68}"/>
              </a:ext>
            </a:extLst>
          </p:cNvPr>
          <p:cNvSpPr>
            <a:spLocks noGrp="1"/>
          </p:cNvSpPr>
          <p:nvPr>
            <p:ph type="body" sz="quarter" idx="14"/>
          </p:nvPr>
        </p:nvSpPr>
        <p:spPr/>
        <p:txBody>
          <a:bodyPr/>
          <a:lstStyle/>
          <a:p>
            <a:r>
              <a:rPr lang="es-PE" dirty="0"/>
              <a:t>S</a:t>
            </a:r>
            <a:r>
              <a:rPr lang="es-PE" dirty="0" smtClean="0"/>
              <a:t>eis áreas de conocimiento BABOK</a:t>
            </a:r>
            <a:r>
              <a:rPr lang="es-PE" dirty="0"/>
              <a:t>®</a:t>
            </a:r>
          </a:p>
        </p:txBody>
      </p:sp>
      <p:pic>
        <p:nvPicPr>
          <p:cNvPr id="31" name="Marcador de posición de imagen 30">
            <a:extLst>
              <a:ext uri="{FF2B5EF4-FFF2-40B4-BE49-F238E27FC236}">
                <a16:creationId xmlns:a16="http://schemas.microsoft.com/office/drawing/2014/main" id="{4C1DEDA5-1DF6-D95B-6874-FAC9A00BB9BE}"/>
              </a:ext>
            </a:extLst>
          </p:cNvPr>
          <p:cNvPicPr>
            <a:picLocks noGrp="1" noChangeAspect="1"/>
          </p:cNvPicPr>
          <p:nvPr>
            <p:ph type="pic" sz="quarter" idx="10"/>
          </p:nvPr>
        </p:nvPicPr>
        <p:blipFill>
          <a:blip r:embed="rId3"/>
          <a:srcRect t="1242" b="1242"/>
          <a:stretch>
            <a:fillRect/>
          </a:stretch>
        </p:blipFill>
        <p:spPr/>
      </p:pic>
    </p:spTree>
    <p:extLst>
      <p:ext uri="{BB962C8B-B14F-4D97-AF65-F5344CB8AC3E}">
        <p14:creationId xmlns:p14="http://schemas.microsoft.com/office/powerpoint/2010/main" val="473599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B664F2-7CB4-48B1-9096-E52469E94D93}"/>
              </a:ext>
            </a:extLst>
          </p:cNvPr>
          <p:cNvSpPr>
            <a:spLocks noGrp="1"/>
          </p:cNvSpPr>
          <p:nvPr>
            <p:ph type="body" sz="quarter" idx="10"/>
          </p:nvPr>
        </p:nvSpPr>
        <p:spPr>
          <a:xfrm>
            <a:off x="468314" y="3714842"/>
            <a:ext cx="5543549" cy="458016"/>
          </a:xfrm>
        </p:spPr>
        <p:txBody>
          <a:bodyPr/>
          <a:lstStyle/>
          <a:p>
            <a:pPr marL="274638" indent="-274638">
              <a:tabLst>
                <a:tab pos="274638" algn="l"/>
              </a:tabLst>
            </a:pPr>
            <a:r>
              <a:rPr lang="es-PE" dirty="0"/>
              <a:t>/	PLANIFICACIÓN Y MONITOREO</a:t>
            </a:r>
          </a:p>
        </p:txBody>
      </p:sp>
    </p:spTree>
    <p:custDataLst>
      <p:tags r:id="rId1"/>
    </p:custDataLst>
    <p:extLst>
      <p:ext uri="{BB962C8B-B14F-4D97-AF65-F5344CB8AC3E}">
        <p14:creationId xmlns:p14="http://schemas.microsoft.com/office/powerpoint/2010/main" val="863495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T</a:t>
            </a:r>
            <a:r>
              <a:rPr lang="es-PE" dirty="0" smtClean="0"/>
              <a:t>areas</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PLANIFICACIÓN Y MONITOREO</a:t>
            </a:r>
          </a:p>
        </p:txBody>
      </p:sp>
      <p:sp>
        <p:nvSpPr>
          <p:cNvPr id="2" name="Marcador de texto 1">
            <a:extLst>
              <a:ext uri="{FF2B5EF4-FFF2-40B4-BE49-F238E27FC236}">
                <a16:creationId xmlns:a16="http://schemas.microsoft.com/office/drawing/2014/main" id="{192A0349-9565-4745-050D-42D1EB8C9CE3}"/>
              </a:ext>
            </a:extLst>
          </p:cNvPr>
          <p:cNvSpPr>
            <a:spLocks noGrp="1"/>
          </p:cNvSpPr>
          <p:nvPr>
            <p:ph type="body" sz="quarter" idx="14"/>
          </p:nvPr>
        </p:nvSpPr>
        <p:spPr>
          <a:xfrm>
            <a:off x="468313" y="1158875"/>
            <a:ext cx="4103687" cy="2839811"/>
          </a:xfrm>
        </p:spPr>
        <p:txBody>
          <a:bodyPr/>
          <a:lstStyle/>
          <a:p>
            <a:r>
              <a:rPr lang="es-ES" dirty="0"/>
              <a:t>Las tareas del área de conocimiento Planificación y Monitoreo del </a:t>
            </a:r>
            <a:r>
              <a:rPr lang="es-ES" dirty="0" smtClean="0"/>
              <a:t>análisis </a:t>
            </a:r>
            <a:r>
              <a:rPr lang="es-ES" dirty="0"/>
              <a:t>e</a:t>
            </a:r>
            <a:r>
              <a:rPr lang="es-ES" dirty="0" smtClean="0"/>
              <a:t>mpresarial</a:t>
            </a:r>
            <a:r>
              <a:rPr lang="es-ES" dirty="0"/>
              <a:t>, organizan y coordinan los esfuerzos de los </a:t>
            </a:r>
            <a:r>
              <a:rPr lang="es-ES" dirty="0" smtClean="0"/>
              <a:t>analistas </a:t>
            </a:r>
            <a:r>
              <a:rPr lang="es-ES" dirty="0"/>
              <a:t>de negocio y los </a:t>
            </a:r>
            <a:r>
              <a:rPr lang="es-ES" i="1" dirty="0" smtClean="0"/>
              <a:t>stakeholders</a:t>
            </a:r>
            <a:r>
              <a:rPr lang="es-ES" i="1" dirty="0"/>
              <a:t>.</a:t>
            </a:r>
          </a:p>
          <a:p>
            <a:r>
              <a:rPr lang="es-ES" dirty="0"/>
              <a:t>Estas tareas producen resultados que se utilizan como pautas clave para las otras tareas a lo largo de la Guía BABOK</a:t>
            </a:r>
            <a:r>
              <a:rPr lang="es-ES" dirty="0" smtClean="0"/>
              <a:t>®.</a:t>
            </a:r>
            <a:endParaRPr lang="es-ES" dirty="0"/>
          </a:p>
          <a:p>
            <a:r>
              <a:rPr lang="es-ES" dirty="0"/>
              <a:t>Esta área de conocimiento incluye las tareas que se muestran en la figura.</a:t>
            </a:r>
          </a:p>
          <a:p>
            <a:endParaRPr lang="es-PE" dirty="0"/>
          </a:p>
        </p:txBody>
      </p:sp>
      <p:pic>
        <p:nvPicPr>
          <p:cNvPr id="10" name="Marcador de posición de imagen 9">
            <a:extLst>
              <a:ext uri="{FF2B5EF4-FFF2-40B4-BE49-F238E27FC236}">
                <a16:creationId xmlns:a16="http://schemas.microsoft.com/office/drawing/2014/main" id="{563B22EF-9410-CF98-3CA8-05C8AEE6CA32}"/>
              </a:ext>
            </a:extLst>
          </p:cNvPr>
          <p:cNvPicPr>
            <a:picLocks noGrp="1" noChangeAspect="1"/>
          </p:cNvPicPr>
          <p:nvPr>
            <p:ph type="pic" sz="quarter" idx="10"/>
          </p:nvPr>
        </p:nvPicPr>
        <p:blipFill>
          <a:blip r:embed="rId3"/>
          <a:srcRect l="2" r="2"/>
          <a:stretch>
            <a:fillRect/>
          </a:stretch>
        </p:blipFill>
        <p:spPr/>
      </p:pic>
    </p:spTree>
    <p:extLst>
      <p:ext uri="{BB962C8B-B14F-4D97-AF65-F5344CB8AC3E}">
        <p14:creationId xmlns:p14="http://schemas.microsoft.com/office/powerpoint/2010/main" val="2006453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P</a:t>
            </a:r>
            <a:r>
              <a:rPr lang="es-PE" dirty="0" smtClean="0"/>
              <a:t>lanificar el enfoque AE</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PLANIFICACIÓN Y MONITOREO</a:t>
            </a:r>
          </a:p>
        </p:txBody>
      </p:sp>
      <p:sp>
        <p:nvSpPr>
          <p:cNvPr id="2" name="Marcador de texto 1">
            <a:extLst>
              <a:ext uri="{FF2B5EF4-FFF2-40B4-BE49-F238E27FC236}">
                <a16:creationId xmlns:a16="http://schemas.microsoft.com/office/drawing/2014/main" id="{192A0349-9565-4745-050D-42D1EB8C9CE3}"/>
              </a:ext>
            </a:extLst>
          </p:cNvPr>
          <p:cNvSpPr>
            <a:spLocks noGrp="1"/>
          </p:cNvSpPr>
          <p:nvPr>
            <p:ph type="body" sz="quarter" idx="14"/>
          </p:nvPr>
        </p:nvSpPr>
        <p:spPr/>
        <p:txBody>
          <a:bodyPr/>
          <a:lstStyle/>
          <a:p>
            <a:r>
              <a:rPr lang="es-ES" dirty="0"/>
              <a:t>Su objetivo es definir un método apropiado para llevar a cabo actividades de análisis empresarial.</a:t>
            </a:r>
          </a:p>
          <a:p>
            <a:pPr>
              <a:spcAft>
                <a:spcPts val="600"/>
              </a:spcAft>
            </a:pPr>
            <a:r>
              <a:rPr lang="es-ES" dirty="0"/>
              <a:t>El </a:t>
            </a:r>
            <a:r>
              <a:rPr lang="es-ES" dirty="0" smtClean="0"/>
              <a:t>analista </a:t>
            </a:r>
            <a:r>
              <a:rPr lang="es-ES" dirty="0"/>
              <a:t>deberá:</a:t>
            </a:r>
          </a:p>
          <a:p>
            <a:pPr lvl="1">
              <a:spcAft>
                <a:spcPts val="600"/>
              </a:spcAft>
            </a:pPr>
            <a:r>
              <a:rPr lang="es-ES" dirty="0"/>
              <a:t>Alinear los objetivos del </a:t>
            </a:r>
            <a:r>
              <a:rPr lang="es-ES" dirty="0" smtClean="0"/>
              <a:t>cambio. </a:t>
            </a:r>
            <a:endParaRPr lang="es-ES" dirty="0"/>
          </a:p>
          <a:p>
            <a:pPr lvl="1">
              <a:spcAft>
                <a:spcPts val="600"/>
              </a:spcAft>
            </a:pPr>
            <a:r>
              <a:rPr lang="es-ES" dirty="0"/>
              <a:t>Coordinar las tareas AE con las actividades y entregables del </a:t>
            </a:r>
            <a:r>
              <a:rPr lang="es-ES" dirty="0" smtClean="0"/>
              <a:t>cambio.</a:t>
            </a:r>
            <a:endParaRPr lang="es-ES" dirty="0"/>
          </a:p>
          <a:p>
            <a:pPr lvl="1">
              <a:spcAft>
                <a:spcPts val="600"/>
              </a:spcAft>
            </a:pPr>
            <a:r>
              <a:rPr lang="es-ES" dirty="0"/>
              <a:t>Incluir tareas para gestionar los riesgos que podrían reducir la calidad de los resultados del análisis empresarial o impedir la eficiencia de las </a:t>
            </a:r>
            <a:r>
              <a:rPr lang="es-ES" dirty="0" smtClean="0"/>
              <a:t>tareas</a:t>
            </a:r>
            <a:r>
              <a:rPr lang="es-ES" dirty="0"/>
              <a:t>.</a:t>
            </a:r>
          </a:p>
          <a:p>
            <a:pPr lvl="1">
              <a:spcAft>
                <a:spcPts val="600"/>
              </a:spcAft>
            </a:pPr>
            <a:r>
              <a:rPr lang="es-ES" dirty="0"/>
              <a:t>Aprovechar enfoques y seleccionar técnicas y herramientas que históricamente han funcionado bien.</a:t>
            </a:r>
          </a:p>
          <a:p>
            <a:pPr lvl="1">
              <a:spcAft>
                <a:spcPts val="600"/>
              </a:spcAft>
            </a:pPr>
            <a:endParaRPr lang="es-PE" dirty="0"/>
          </a:p>
        </p:txBody>
      </p:sp>
      <p:pic>
        <p:nvPicPr>
          <p:cNvPr id="5" name="Marcador de posición de imagen 4">
            <a:extLst>
              <a:ext uri="{FF2B5EF4-FFF2-40B4-BE49-F238E27FC236}">
                <a16:creationId xmlns:a16="http://schemas.microsoft.com/office/drawing/2014/main" id="{974BDB6A-41E8-C29F-ED46-118E56A426A1}"/>
              </a:ext>
            </a:extLst>
          </p:cNvPr>
          <p:cNvPicPr>
            <a:picLocks noGrp="1" noChangeAspect="1"/>
          </p:cNvPicPr>
          <p:nvPr>
            <p:ph type="pic" sz="quarter" idx="10"/>
          </p:nvPr>
        </p:nvPicPr>
        <p:blipFill>
          <a:blip r:embed="rId3"/>
          <a:srcRect l="2" r="2"/>
          <a:stretch>
            <a:fillRect/>
          </a:stretch>
        </p:blipFill>
        <p:spPr/>
      </p:pic>
    </p:spTree>
    <p:extLst>
      <p:ext uri="{BB962C8B-B14F-4D97-AF65-F5344CB8AC3E}">
        <p14:creationId xmlns:p14="http://schemas.microsoft.com/office/powerpoint/2010/main" val="3730980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P</a:t>
            </a:r>
            <a:r>
              <a:rPr lang="es-PE" dirty="0" smtClean="0"/>
              <a:t>lanificar compromiso de </a:t>
            </a:r>
            <a:r>
              <a:rPr lang="es-PE" i="1" dirty="0" smtClean="0"/>
              <a:t>stakeholders</a:t>
            </a:r>
            <a:endParaRPr lang="es-PE" i="1"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PLANIFICACIÓN Y MONITOREO</a:t>
            </a:r>
          </a:p>
        </p:txBody>
      </p:sp>
      <p:pic>
        <p:nvPicPr>
          <p:cNvPr id="11" name="Marcador de posición de imagen 10">
            <a:extLst>
              <a:ext uri="{FF2B5EF4-FFF2-40B4-BE49-F238E27FC236}">
                <a16:creationId xmlns:a16="http://schemas.microsoft.com/office/drawing/2014/main" id="{59DFF9E8-5D80-CCB7-6168-876D970FFAEA}"/>
              </a:ext>
            </a:extLst>
          </p:cNvPr>
          <p:cNvPicPr>
            <a:picLocks noGrp="1" noChangeAspect="1"/>
          </p:cNvPicPr>
          <p:nvPr>
            <p:ph type="pic" sz="quarter" idx="10"/>
          </p:nvPr>
        </p:nvPicPr>
        <p:blipFill>
          <a:blip r:embed="rId3"/>
          <a:srcRect l="2" r="2"/>
          <a:stretch>
            <a:fillRect/>
          </a:stretch>
        </p:blipFill>
        <p:spPr/>
      </p:pic>
      <p:sp>
        <p:nvSpPr>
          <p:cNvPr id="9" name="Marcador de texto 8">
            <a:extLst>
              <a:ext uri="{FF2B5EF4-FFF2-40B4-BE49-F238E27FC236}">
                <a16:creationId xmlns:a16="http://schemas.microsoft.com/office/drawing/2014/main" id="{C37322BD-FD2A-EC46-3920-0B83BAD9B82D}"/>
              </a:ext>
            </a:extLst>
          </p:cNvPr>
          <p:cNvSpPr>
            <a:spLocks noGrp="1"/>
          </p:cNvSpPr>
          <p:nvPr>
            <p:ph type="body" sz="quarter" idx="14"/>
          </p:nvPr>
        </p:nvSpPr>
        <p:spPr>
          <a:xfrm>
            <a:off x="468313" y="1158875"/>
            <a:ext cx="4103687" cy="3362325"/>
          </a:xfrm>
        </p:spPr>
        <p:txBody>
          <a:bodyPr/>
          <a:lstStyle/>
          <a:p>
            <a:r>
              <a:rPr lang="es-ES" dirty="0"/>
              <a:t>Su objetivo es </a:t>
            </a:r>
            <a:r>
              <a:rPr lang="es-ES" b="1" dirty="0"/>
              <a:t>planificar un enfoque</a:t>
            </a:r>
            <a:r>
              <a:rPr lang="es-ES" dirty="0"/>
              <a:t> para establecer y mantener relaciones de trabajo efectivas con los </a:t>
            </a:r>
            <a:r>
              <a:rPr lang="es-ES" i="1" dirty="0"/>
              <a:t>stakeholders.</a:t>
            </a:r>
          </a:p>
          <a:p>
            <a:r>
              <a:rPr lang="es-ES" dirty="0"/>
              <a:t>Implica realizar un análisis exhaustivo de las características de los </a:t>
            </a:r>
            <a:r>
              <a:rPr lang="es-ES" i="1" dirty="0"/>
              <a:t>stakeholders</a:t>
            </a:r>
            <a:r>
              <a:rPr lang="es-ES" dirty="0"/>
              <a:t> y así definir los mejores enfoques de colaboración y comunicación.</a:t>
            </a:r>
          </a:p>
          <a:p>
            <a:r>
              <a:rPr lang="es-ES" dirty="0"/>
              <a:t>El grado de complejidad puede aumentar de manera desproporcionada a medida que aumenta la cantidad de </a:t>
            </a:r>
            <a:r>
              <a:rPr lang="es-ES" i="1" dirty="0"/>
              <a:t>stakeholders</a:t>
            </a:r>
            <a:r>
              <a:rPr lang="es-ES" dirty="0"/>
              <a:t> involucrados en las actividades de </a:t>
            </a:r>
            <a:r>
              <a:rPr lang="es-ES" dirty="0" smtClean="0"/>
              <a:t>análisis </a:t>
            </a:r>
            <a:r>
              <a:rPr lang="es-ES" dirty="0"/>
              <a:t>empresarial.</a:t>
            </a:r>
            <a:endParaRPr lang="es-PE" dirty="0"/>
          </a:p>
        </p:txBody>
      </p:sp>
    </p:spTree>
    <p:extLst>
      <p:ext uri="{BB962C8B-B14F-4D97-AF65-F5344CB8AC3E}">
        <p14:creationId xmlns:p14="http://schemas.microsoft.com/office/powerpoint/2010/main" val="310009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P</a:t>
            </a:r>
            <a:r>
              <a:rPr lang="es-PE" dirty="0" smtClean="0"/>
              <a:t>lanificar el gobierno AE</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PLANIFICACIÓN Y MONITOREO</a:t>
            </a:r>
          </a:p>
        </p:txBody>
      </p:sp>
      <p:pic>
        <p:nvPicPr>
          <p:cNvPr id="3" name="Marcador de posición de imagen 2">
            <a:extLst>
              <a:ext uri="{FF2B5EF4-FFF2-40B4-BE49-F238E27FC236}">
                <a16:creationId xmlns:a16="http://schemas.microsoft.com/office/drawing/2014/main" id="{94CA1241-4A98-C12E-50F0-9BFF9640B51C}"/>
              </a:ext>
            </a:extLst>
          </p:cNvPr>
          <p:cNvPicPr>
            <a:picLocks noGrp="1" noChangeAspect="1"/>
          </p:cNvPicPr>
          <p:nvPr>
            <p:ph type="pic" sz="quarter" idx="10"/>
          </p:nvPr>
        </p:nvPicPr>
        <p:blipFill>
          <a:blip r:embed="rId3"/>
          <a:srcRect l="2" r="2"/>
          <a:stretch>
            <a:fillRect/>
          </a:stretch>
        </p:blipFill>
        <p:spPr/>
      </p:pic>
      <p:sp>
        <p:nvSpPr>
          <p:cNvPr id="9" name="Marcador de texto 8">
            <a:extLst>
              <a:ext uri="{FF2B5EF4-FFF2-40B4-BE49-F238E27FC236}">
                <a16:creationId xmlns:a16="http://schemas.microsoft.com/office/drawing/2014/main" id="{C37322BD-FD2A-EC46-3920-0B83BAD9B82D}"/>
              </a:ext>
            </a:extLst>
          </p:cNvPr>
          <p:cNvSpPr>
            <a:spLocks noGrp="1"/>
          </p:cNvSpPr>
          <p:nvPr>
            <p:ph type="body" sz="quarter" idx="14"/>
          </p:nvPr>
        </p:nvSpPr>
        <p:spPr/>
        <p:txBody>
          <a:bodyPr/>
          <a:lstStyle/>
          <a:p>
            <a:r>
              <a:rPr lang="es-ES" dirty="0"/>
              <a:t>Su objetivo es definir </a:t>
            </a:r>
            <a:r>
              <a:rPr lang="es-ES" b="1" dirty="0"/>
              <a:t>cómo se toman las decisiones</a:t>
            </a:r>
            <a:r>
              <a:rPr lang="es-ES" dirty="0"/>
              <a:t> sobre </a:t>
            </a:r>
            <a:r>
              <a:rPr lang="es-ES" b="1" dirty="0"/>
              <a:t>requisitos</a:t>
            </a:r>
            <a:r>
              <a:rPr lang="es-ES" dirty="0"/>
              <a:t> y </a:t>
            </a:r>
            <a:r>
              <a:rPr lang="es-ES" b="1" dirty="0"/>
              <a:t>diseños</a:t>
            </a:r>
            <a:r>
              <a:rPr lang="es-ES" dirty="0"/>
              <a:t>, incluidas revisiones, control de cambios, aprobaciones y priorización.</a:t>
            </a:r>
          </a:p>
          <a:p>
            <a:pPr>
              <a:spcAft>
                <a:spcPts val="600"/>
              </a:spcAft>
            </a:pPr>
            <a:r>
              <a:rPr lang="es-ES" dirty="0"/>
              <a:t>El </a:t>
            </a:r>
            <a:r>
              <a:rPr lang="es-ES" dirty="0" smtClean="0"/>
              <a:t>analista </a:t>
            </a:r>
            <a:r>
              <a:rPr lang="es-ES" dirty="0"/>
              <a:t>deberá identificar:</a:t>
            </a:r>
          </a:p>
          <a:p>
            <a:pPr lvl="1">
              <a:spcAft>
                <a:spcPts val="600"/>
              </a:spcAft>
            </a:pPr>
            <a:r>
              <a:rPr lang="es-ES" dirty="0"/>
              <a:t>Cómo se abordará y priorizará el </a:t>
            </a:r>
            <a:r>
              <a:rPr lang="es-ES" dirty="0" smtClean="0"/>
              <a:t>trabajo.</a:t>
            </a:r>
            <a:endParaRPr lang="es-ES" dirty="0"/>
          </a:p>
          <a:p>
            <a:pPr lvl="1">
              <a:spcAft>
                <a:spcPts val="600"/>
              </a:spcAft>
            </a:pPr>
            <a:r>
              <a:rPr lang="es-ES" dirty="0"/>
              <a:t>Cuál es el proceso para proponer un cambio en la información </a:t>
            </a:r>
            <a:r>
              <a:rPr lang="es-ES" dirty="0" smtClean="0"/>
              <a:t>AE.</a:t>
            </a:r>
            <a:endParaRPr lang="es-ES" dirty="0"/>
          </a:p>
          <a:p>
            <a:pPr lvl="1">
              <a:spcAft>
                <a:spcPts val="300"/>
              </a:spcAft>
            </a:pPr>
            <a:r>
              <a:rPr lang="es-ES" dirty="0"/>
              <a:t>Quién tiene la autoridad y/o responsabilidad para:</a:t>
            </a:r>
          </a:p>
          <a:p>
            <a:pPr lvl="2">
              <a:spcAft>
                <a:spcPts val="300"/>
              </a:spcAft>
            </a:pPr>
            <a:r>
              <a:rPr lang="es-ES" sz="1400" i="1" dirty="0"/>
              <a:t>Proponer </a:t>
            </a:r>
            <a:r>
              <a:rPr lang="es-ES" sz="1400" i="1" dirty="0" smtClean="0"/>
              <a:t>cambios.</a:t>
            </a:r>
            <a:endParaRPr lang="es-ES" sz="1400" i="1" dirty="0"/>
          </a:p>
          <a:p>
            <a:pPr lvl="2">
              <a:spcAft>
                <a:spcPts val="300"/>
              </a:spcAft>
            </a:pPr>
            <a:r>
              <a:rPr lang="es-ES" sz="1400" i="1" dirty="0"/>
              <a:t>Analizar las solicitudes de </a:t>
            </a:r>
            <a:r>
              <a:rPr lang="es-ES" sz="1400" i="1" dirty="0" smtClean="0"/>
              <a:t>cambio.</a:t>
            </a:r>
            <a:endParaRPr lang="es-ES" sz="1400" i="1" dirty="0"/>
          </a:p>
          <a:p>
            <a:pPr lvl="2">
              <a:spcAft>
                <a:spcPts val="300"/>
              </a:spcAft>
            </a:pPr>
            <a:r>
              <a:rPr lang="es-ES" sz="1400" i="1" dirty="0"/>
              <a:t>Aprobar los </a:t>
            </a:r>
            <a:r>
              <a:rPr lang="es-ES" sz="1400" i="1" dirty="0" smtClean="0"/>
              <a:t>cambios</a:t>
            </a:r>
            <a:r>
              <a:rPr lang="es-ES" sz="1400" i="1" dirty="0"/>
              <a:t>.</a:t>
            </a:r>
          </a:p>
          <a:p>
            <a:pPr lvl="2">
              <a:spcAft>
                <a:spcPts val="600"/>
              </a:spcAft>
            </a:pPr>
            <a:r>
              <a:rPr lang="es-ES" sz="1400" i="1" dirty="0"/>
              <a:t>Documentar y comunicar los cambios.</a:t>
            </a:r>
            <a:endParaRPr lang="es-PE" sz="1400" i="1" dirty="0"/>
          </a:p>
        </p:txBody>
      </p:sp>
    </p:spTree>
    <p:extLst>
      <p:ext uri="{BB962C8B-B14F-4D97-AF65-F5344CB8AC3E}">
        <p14:creationId xmlns:p14="http://schemas.microsoft.com/office/powerpoint/2010/main" val="2227772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P</a:t>
            </a:r>
            <a:r>
              <a:rPr lang="es-PE" dirty="0" smtClean="0"/>
              <a:t>lanificar gestión de la información AE</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PLANIFICACIÓN Y MONITOREO</a:t>
            </a:r>
          </a:p>
        </p:txBody>
      </p:sp>
      <p:pic>
        <p:nvPicPr>
          <p:cNvPr id="3" name="Marcador de posición de imagen 2">
            <a:extLst>
              <a:ext uri="{FF2B5EF4-FFF2-40B4-BE49-F238E27FC236}">
                <a16:creationId xmlns:a16="http://schemas.microsoft.com/office/drawing/2014/main" id="{2D1EB405-5EE5-A5AF-3525-11535912C2CA}"/>
              </a:ext>
            </a:extLst>
          </p:cNvPr>
          <p:cNvPicPr>
            <a:picLocks noGrp="1" noChangeAspect="1"/>
          </p:cNvPicPr>
          <p:nvPr>
            <p:ph type="pic" sz="quarter" idx="10"/>
          </p:nvPr>
        </p:nvPicPr>
        <p:blipFill>
          <a:blip r:embed="rId3"/>
          <a:srcRect l="2" r="2"/>
          <a:stretch>
            <a:fillRect/>
          </a:stretch>
        </p:blipFill>
        <p:spPr/>
      </p:pic>
      <p:sp>
        <p:nvSpPr>
          <p:cNvPr id="9" name="Marcador de texto 8">
            <a:extLst>
              <a:ext uri="{FF2B5EF4-FFF2-40B4-BE49-F238E27FC236}">
                <a16:creationId xmlns:a16="http://schemas.microsoft.com/office/drawing/2014/main" id="{C37322BD-FD2A-EC46-3920-0B83BAD9B82D}"/>
              </a:ext>
            </a:extLst>
          </p:cNvPr>
          <p:cNvSpPr>
            <a:spLocks noGrp="1"/>
          </p:cNvSpPr>
          <p:nvPr>
            <p:ph type="body" sz="quarter" idx="14"/>
          </p:nvPr>
        </p:nvSpPr>
        <p:spPr/>
        <p:txBody>
          <a:bodyPr/>
          <a:lstStyle/>
          <a:p>
            <a:r>
              <a:rPr lang="es-ES" dirty="0"/>
              <a:t>Su objetivo es desarrollar una estrategia sobre cómo se almacenará y se accederá a la información de análisis empresarial.</a:t>
            </a:r>
          </a:p>
          <a:p>
            <a:pPr>
              <a:spcAft>
                <a:spcPts val="600"/>
              </a:spcAft>
            </a:pPr>
            <a:r>
              <a:rPr lang="es-ES" dirty="0"/>
              <a:t>El Analista, deberá identificar:</a:t>
            </a:r>
          </a:p>
          <a:p>
            <a:pPr lvl="1">
              <a:spcAft>
                <a:spcPts val="600"/>
              </a:spcAft>
            </a:pPr>
            <a:r>
              <a:rPr lang="es-ES" dirty="0"/>
              <a:t>Cómo debe organizarse la información,</a:t>
            </a:r>
          </a:p>
          <a:p>
            <a:pPr lvl="1">
              <a:spcAft>
                <a:spcPts val="600"/>
              </a:spcAft>
            </a:pPr>
            <a:r>
              <a:rPr lang="es-ES" dirty="0"/>
              <a:t>El nivel de detalle al que se debe capturar la información,</a:t>
            </a:r>
          </a:p>
          <a:p>
            <a:pPr lvl="1">
              <a:spcAft>
                <a:spcPts val="600"/>
              </a:spcAft>
            </a:pPr>
            <a:r>
              <a:rPr lang="es-ES" dirty="0"/>
              <a:t>Cualquier relación entre la información,</a:t>
            </a:r>
          </a:p>
          <a:p>
            <a:pPr lvl="1">
              <a:spcAft>
                <a:spcPts val="600"/>
              </a:spcAft>
            </a:pPr>
            <a:r>
              <a:rPr lang="es-ES" dirty="0"/>
              <a:t>Cómo se puede utilizar la información en múltiples iniciativas,</a:t>
            </a:r>
          </a:p>
          <a:p>
            <a:pPr lvl="1">
              <a:spcAft>
                <a:spcPts val="600"/>
              </a:spcAft>
            </a:pPr>
            <a:r>
              <a:rPr lang="es-ES" dirty="0"/>
              <a:t>Cómo se debe acceder y almacenar la información, y</a:t>
            </a:r>
          </a:p>
          <a:p>
            <a:pPr lvl="1">
              <a:spcAft>
                <a:spcPts val="600"/>
              </a:spcAft>
            </a:pPr>
            <a:r>
              <a:rPr lang="es-ES" dirty="0"/>
              <a:t>Características sobre la información que debe ser mantenida.</a:t>
            </a:r>
          </a:p>
        </p:txBody>
      </p:sp>
    </p:spTree>
    <p:extLst>
      <p:ext uri="{BB962C8B-B14F-4D97-AF65-F5344CB8AC3E}">
        <p14:creationId xmlns:p14="http://schemas.microsoft.com/office/powerpoint/2010/main" val="557683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I</a:t>
            </a:r>
            <a:r>
              <a:rPr lang="es-PE" dirty="0" smtClean="0"/>
              <a:t>dentificar mejoras en el desempeño AE</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PLANIFICACIÓN Y MONITOREO</a:t>
            </a:r>
          </a:p>
        </p:txBody>
      </p:sp>
      <p:pic>
        <p:nvPicPr>
          <p:cNvPr id="3" name="Marcador de posición de imagen 2">
            <a:extLst>
              <a:ext uri="{FF2B5EF4-FFF2-40B4-BE49-F238E27FC236}">
                <a16:creationId xmlns:a16="http://schemas.microsoft.com/office/drawing/2014/main" id="{9CC10B60-3B47-F1BD-9B55-1D5D42B0D0C9}"/>
              </a:ext>
            </a:extLst>
          </p:cNvPr>
          <p:cNvPicPr>
            <a:picLocks noGrp="1" noChangeAspect="1"/>
          </p:cNvPicPr>
          <p:nvPr>
            <p:ph type="pic" sz="quarter" idx="10"/>
          </p:nvPr>
        </p:nvPicPr>
        <p:blipFill>
          <a:blip r:embed="rId3"/>
          <a:srcRect l="2" r="2"/>
          <a:stretch>
            <a:fillRect/>
          </a:stretch>
        </p:blipFill>
        <p:spPr/>
      </p:pic>
      <p:sp>
        <p:nvSpPr>
          <p:cNvPr id="9" name="Marcador de texto 8">
            <a:extLst>
              <a:ext uri="{FF2B5EF4-FFF2-40B4-BE49-F238E27FC236}">
                <a16:creationId xmlns:a16="http://schemas.microsoft.com/office/drawing/2014/main" id="{C37322BD-FD2A-EC46-3920-0B83BAD9B82D}"/>
              </a:ext>
            </a:extLst>
          </p:cNvPr>
          <p:cNvSpPr>
            <a:spLocks noGrp="1"/>
          </p:cNvSpPr>
          <p:nvPr>
            <p:ph type="body" sz="quarter" idx="14"/>
          </p:nvPr>
        </p:nvSpPr>
        <p:spPr/>
        <p:txBody>
          <a:bodyPr/>
          <a:lstStyle/>
          <a:p>
            <a:r>
              <a:rPr lang="es-ES" dirty="0"/>
              <a:t>Su objetivo es evaluar el trabajo AE y </a:t>
            </a:r>
            <a:r>
              <a:rPr lang="es-ES" b="1" dirty="0"/>
              <a:t>planificar la mejora de los procesos</a:t>
            </a:r>
            <a:r>
              <a:rPr lang="es-ES" dirty="0"/>
              <a:t> cuando sea necesario.</a:t>
            </a:r>
          </a:p>
          <a:p>
            <a:pPr>
              <a:spcAft>
                <a:spcPts val="600"/>
              </a:spcAft>
            </a:pPr>
            <a:r>
              <a:rPr lang="es-ES" dirty="0"/>
              <a:t>El </a:t>
            </a:r>
            <a:r>
              <a:rPr lang="es-ES" dirty="0" smtClean="0"/>
              <a:t>analista </a:t>
            </a:r>
            <a:r>
              <a:rPr lang="es-ES" dirty="0"/>
              <a:t>deberá:</a:t>
            </a:r>
          </a:p>
          <a:p>
            <a:pPr lvl="1">
              <a:spcAft>
                <a:spcPts val="600"/>
              </a:spcAft>
            </a:pPr>
            <a:r>
              <a:rPr lang="es-ES" dirty="0"/>
              <a:t>Establecer las medidas de </a:t>
            </a:r>
            <a:r>
              <a:rPr lang="es-ES" dirty="0" smtClean="0"/>
              <a:t>desempeño.</a:t>
            </a:r>
            <a:endParaRPr lang="es-ES" dirty="0"/>
          </a:p>
          <a:p>
            <a:pPr lvl="1">
              <a:spcAft>
                <a:spcPts val="600"/>
              </a:spcAft>
            </a:pPr>
            <a:r>
              <a:rPr lang="es-ES" dirty="0"/>
              <a:t>Realizar el análisis de </a:t>
            </a:r>
            <a:r>
              <a:rPr lang="es-ES" dirty="0" smtClean="0"/>
              <a:t>desempeño.</a:t>
            </a:r>
            <a:endParaRPr lang="es-ES" dirty="0"/>
          </a:p>
          <a:p>
            <a:pPr lvl="1" algn="l">
              <a:spcAft>
                <a:spcPts val="600"/>
              </a:spcAft>
            </a:pPr>
            <a:r>
              <a:rPr lang="es-ES" dirty="0"/>
              <a:t>Informar sobre los resultados del </a:t>
            </a:r>
            <a:r>
              <a:rPr lang="es-ES" dirty="0" smtClean="0"/>
              <a:t>análisis.</a:t>
            </a:r>
            <a:endParaRPr lang="es-ES" dirty="0"/>
          </a:p>
          <a:p>
            <a:pPr lvl="1" algn="l"/>
            <a:r>
              <a:rPr lang="es-ES" dirty="0"/>
              <a:t>Identificar cualquier acción preventiva, correctiva o de desarrollo necesaria.</a:t>
            </a:r>
          </a:p>
          <a:p>
            <a:r>
              <a:rPr lang="es-ES" dirty="0"/>
              <a:t>Una vez que se identifican las posibles mejoras de rendimiento, se convierten en pautas para la próxima vez que se ejecute una tarea.</a:t>
            </a:r>
          </a:p>
          <a:p>
            <a:endParaRPr lang="es-PE" dirty="0"/>
          </a:p>
        </p:txBody>
      </p:sp>
    </p:spTree>
    <p:extLst>
      <p:ext uri="{BB962C8B-B14F-4D97-AF65-F5344CB8AC3E}">
        <p14:creationId xmlns:p14="http://schemas.microsoft.com/office/powerpoint/2010/main" val="3004237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B664F2-7CB4-48B1-9096-E52469E94D93}"/>
              </a:ext>
            </a:extLst>
          </p:cNvPr>
          <p:cNvSpPr>
            <a:spLocks noGrp="1"/>
          </p:cNvSpPr>
          <p:nvPr>
            <p:ph type="body" sz="quarter" idx="10"/>
          </p:nvPr>
        </p:nvSpPr>
        <p:spPr>
          <a:xfrm>
            <a:off x="468314" y="3714841"/>
            <a:ext cx="5543549" cy="414473"/>
          </a:xfrm>
        </p:spPr>
        <p:txBody>
          <a:bodyPr/>
          <a:lstStyle/>
          <a:p>
            <a:pPr marL="274638" indent="-274638">
              <a:tabLst>
                <a:tab pos="274638" algn="l"/>
              </a:tabLst>
            </a:pPr>
            <a:r>
              <a:rPr lang="es-PE" dirty="0"/>
              <a:t>/	ELICITACIÓN Y COLABORACIÓN</a:t>
            </a:r>
          </a:p>
        </p:txBody>
      </p:sp>
    </p:spTree>
    <p:custDataLst>
      <p:tags r:id="rId1"/>
    </p:custDataLst>
    <p:extLst>
      <p:ext uri="{BB962C8B-B14F-4D97-AF65-F5344CB8AC3E}">
        <p14:creationId xmlns:p14="http://schemas.microsoft.com/office/powerpoint/2010/main" val="492839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T</a:t>
            </a:r>
            <a:r>
              <a:rPr lang="es-PE" dirty="0" smtClean="0"/>
              <a:t>areas</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ELICITACIÓN Y COLABORACIÓN</a:t>
            </a:r>
          </a:p>
        </p:txBody>
      </p:sp>
      <p:sp>
        <p:nvSpPr>
          <p:cNvPr id="2" name="Marcador de texto 1">
            <a:extLst>
              <a:ext uri="{FF2B5EF4-FFF2-40B4-BE49-F238E27FC236}">
                <a16:creationId xmlns:a16="http://schemas.microsoft.com/office/drawing/2014/main" id="{192A0349-9565-4745-050D-42D1EB8C9CE3}"/>
              </a:ext>
            </a:extLst>
          </p:cNvPr>
          <p:cNvSpPr>
            <a:spLocks noGrp="1"/>
          </p:cNvSpPr>
          <p:nvPr>
            <p:ph type="body" sz="quarter" idx="14"/>
          </p:nvPr>
        </p:nvSpPr>
        <p:spPr/>
        <p:txBody>
          <a:bodyPr/>
          <a:lstStyle/>
          <a:p>
            <a:r>
              <a:rPr lang="es-ES" dirty="0"/>
              <a:t>La elicitación es la extracción o recepción de información de los </a:t>
            </a:r>
            <a:r>
              <a:rPr lang="es-ES" i="1" dirty="0"/>
              <a:t>stakeholders</a:t>
            </a:r>
            <a:r>
              <a:rPr lang="es-ES" dirty="0"/>
              <a:t> u otras fuentes. Es el camino para descubrir requisitos e información de diseño.</a:t>
            </a:r>
          </a:p>
          <a:p>
            <a:r>
              <a:rPr lang="es-ES" dirty="0"/>
              <a:t>La colaboración es el acto de dos o más personas que trabajan juntas hacia un objetivo común.</a:t>
            </a:r>
          </a:p>
          <a:p>
            <a:r>
              <a:rPr lang="es-ES" dirty="0"/>
              <a:t>El trabajo de elicitación y colaboración nunca es una 'fase' en el análisis empresarial; más bien, está en curso mientras se lleva a cabo el trabajo de análisis empresarial.</a:t>
            </a:r>
          </a:p>
          <a:p>
            <a:r>
              <a:rPr lang="es-ES" dirty="0"/>
              <a:t>Esta área de conocimiento incluye las tareas que se muestran en la figura.</a:t>
            </a:r>
          </a:p>
        </p:txBody>
      </p:sp>
      <p:pic>
        <p:nvPicPr>
          <p:cNvPr id="6" name="Marcador de posición de imagen 5">
            <a:extLst>
              <a:ext uri="{FF2B5EF4-FFF2-40B4-BE49-F238E27FC236}">
                <a16:creationId xmlns:a16="http://schemas.microsoft.com/office/drawing/2014/main" id="{29F6FB63-779B-7E1F-33AF-8A903E03EC98}"/>
              </a:ext>
            </a:extLst>
          </p:cNvPr>
          <p:cNvPicPr>
            <a:picLocks noGrp="1" noChangeAspect="1"/>
          </p:cNvPicPr>
          <p:nvPr>
            <p:ph type="pic" sz="quarter" idx="10"/>
          </p:nvPr>
        </p:nvPicPr>
        <p:blipFill>
          <a:blip r:embed="rId3"/>
          <a:srcRect l="2" r="2"/>
          <a:stretch>
            <a:fillRect/>
          </a:stretch>
        </p:blipFill>
        <p:spPr/>
      </p:pic>
    </p:spTree>
    <p:extLst>
      <p:ext uri="{BB962C8B-B14F-4D97-AF65-F5344CB8AC3E}">
        <p14:creationId xmlns:p14="http://schemas.microsoft.com/office/powerpoint/2010/main" val="3095170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P</a:t>
            </a:r>
            <a:r>
              <a:rPr lang="es-PE" dirty="0" smtClean="0"/>
              <a:t>reparar la elicitación</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ELICITACIÓN Y COLABORACIÓN</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p:txBody>
          <a:bodyPr/>
          <a:lstStyle/>
          <a:p>
            <a:r>
              <a:rPr lang="es-ES" dirty="0"/>
              <a:t>Su objetivo es seleccionar técnicas apropiadas y planificar (o adquirir) materiales y recursos de apoyo apropiados.</a:t>
            </a:r>
          </a:p>
          <a:p>
            <a:pPr>
              <a:spcAft>
                <a:spcPts val="600"/>
              </a:spcAft>
            </a:pPr>
            <a:r>
              <a:rPr lang="es-ES" dirty="0"/>
              <a:t>Los </a:t>
            </a:r>
            <a:r>
              <a:rPr lang="es-ES" dirty="0" smtClean="0"/>
              <a:t>analistas </a:t>
            </a:r>
            <a:r>
              <a:rPr lang="es-ES" dirty="0"/>
              <a:t>deberán:</a:t>
            </a:r>
          </a:p>
          <a:p>
            <a:pPr lvl="1">
              <a:spcAft>
                <a:spcPts val="600"/>
              </a:spcAft>
            </a:pPr>
            <a:r>
              <a:rPr lang="es-ES" dirty="0"/>
              <a:t>Determinar qué productos se producirán utilizando los resultados de </a:t>
            </a:r>
            <a:r>
              <a:rPr lang="es-ES" dirty="0" smtClean="0"/>
              <a:t>obtención.</a:t>
            </a:r>
            <a:endParaRPr lang="es-ES" dirty="0"/>
          </a:p>
          <a:p>
            <a:pPr lvl="1">
              <a:spcAft>
                <a:spcPts val="600"/>
              </a:spcAft>
            </a:pPr>
            <a:r>
              <a:rPr lang="es-ES" dirty="0"/>
              <a:t>Decidir qué técnicas son las más </a:t>
            </a:r>
            <a:r>
              <a:rPr lang="es-ES" dirty="0" smtClean="0"/>
              <a:t>adecuadas.</a:t>
            </a:r>
            <a:endParaRPr lang="es-ES" dirty="0"/>
          </a:p>
          <a:p>
            <a:pPr lvl="1">
              <a:spcAft>
                <a:spcPts val="600"/>
              </a:spcAft>
            </a:pPr>
            <a:r>
              <a:rPr lang="es-ES" dirty="0"/>
              <a:t>Establecer la   logística de </a:t>
            </a:r>
            <a:r>
              <a:rPr lang="es-ES" dirty="0" smtClean="0"/>
              <a:t>obtención.</a:t>
            </a:r>
            <a:endParaRPr lang="es-ES" dirty="0"/>
          </a:p>
          <a:p>
            <a:pPr lvl="1">
              <a:spcAft>
                <a:spcPts val="600"/>
              </a:spcAft>
            </a:pPr>
            <a:r>
              <a:rPr lang="es-ES" dirty="0"/>
              <a:t>Identificar cualquier material de apoyo </a:t>
            </a:r>
            <a:r>
              <a:rPr lang="es-ES" dirty="0" smtClean="0"/>
              <a:t>necesario</a:t>
            </a:r>
            <a:r>
              <a:rPr lang="es-ES" dirty="0"/>
              <a:t>.</a:t>
            </a:r>
          </a:p>
          <a:p>
            <a:pPr lvl="1">
              <a:spcAft>
                <a:spcPts val="600"/>
              </a:spcAft>
            </a:pPr>
            <a:r>
              <a:rPr lang="es-ES" dirty="0"/>
              <a:t>Comprender las circunstancias para fomentar la colaboración durante una actividad de </a:t>
            </a:r>
            <a:r>
              <a:rPr lang="es-ES" dirty="0" smtClean="0"/>
              <a:t>obtención.</a:t>
            </a:r>
            <a:endParaRPr lang="es-PE" dirty="0"/>
          </a:p>
        </p:txBody>
      </p:sp>
      <p:pic>
        <p:nvPicPr>
          <p:cNvPr id="15" name="Marcador de posición de imagen 14">
            <a:extLst>
              <a:ext uri="{FF2B5EF4-FFF2-40B4-BE49-F238E27FC236}">
                <a16:creationId xmlns:a16="http://schemas.microsoft.com/office/drawing/2014/main" id="{E3483E39-417A-9712-9E8B-B95310BFBB77}"/>
              </a:ext>
            </a:extLst>
          </p:cNvPr>
          <p:cNvPicPr>
            <a:picLocks noGrp="1" noChangeAspect="1"/>
          </p:cNvPicPr>
          <p:nvPr>
            <p:ph type="pic" sz="quarter" idx="10"/>
          </p:nvPr>
        </p:nvPicPr>
        <p:blipFill>
          <a:blip r:embed="rId3"/>
          <a:srcRect l="2" r="2"/>
          <a:stretch>
            <a:fillRect/>
          </a:stretch>
        </p:blipFill>
        <p:spPr/>
      </p:pic>
    </p:spTree>
    <p:extLst>
      <p:ext uri="{BB962C8B-B14F-4D97-AF65-F5344CB8AC3E}">
        <p14:creationId xmlns:p14="http://schemas.microsoft.com/office/powerpoint/2010/main" val="1108157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a:t>
            </a:r>
            <a:r>
              <a:rPr lang="es-PE" dirty="0" smtClean="0"/>
              <a:t>onducir la elicitación</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ELICITACIÓN Y COLABORACIÓN</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103687" cy="3376839"/>
          </a:xfrm>
        </p:spPr>
        <p:txBody>
          <a:bodyPr/>
          <a:lstStyle/>
          <a:p>
            <a:r>
              <a:rPr lang="es-ES" dirty="0"/>
              <a:t>Su objetivo es extraer, explorar e identificar información relevante para el cambio.</a:t>
            </a:r>
          </a:p>
          <a:p>
            <a:pPr>
              <a:spcAft>
                <a:spcPts val="600"/>
              </a:spcAft>
            </a:pPr>
            <a:r>
              <a:rPr lang="es-ES" dirty="0"/>
              <a:t>Hay tres tipos comunes de elicitación:</a:t>
            </a:r>
          </a:p>
          <a:p>
            <a:pPr lvl="1">
              <a:spcAft>
                <a:spcPts val="600"/>
              </a:spcAft>
            </a:pPr>
            <a:r>
              <a:rPr lang="es-ES" dirty="0"/>
              <a:t>Colaborativa: </a:t>
            </a:r>
            <a:r>
              <a:rPr lang="es-ES" sz="1400" dirty="0"/>
              <a:t>i</a:t>
            </a:r>
            <a:r>
              <a:rPr lang="es-ES" sz="1400" dirty="0" smtClean="0"/>
              <a:t>nteracción </a:t>
            </a:r>
            <a:r>
              <a:rPr lang="es-ES" sz="1400" dirty="0"/>
              <a:t>directa con los </a:t>
            </a:r>
            <a:r>
              <a:rPr lang="es-ES" sz="1400" i="1" dirty="0"/>
              <a:t>stakeholders</a:t>
            </a:r>
            <a:r>
              <a:rPr lang="es-ES" sz="1400" dirty="0"/>
              <a:t> y se basa en sus experiencias, pericia y juicio</a:t>
            </a:r>
            <a:r>
              <a:rPr lang="es-ES" dirty="0"/>
              <a:t>.</a:t>
            </a:r>
          </a:p>
          <a:p>
            <a:pPr lvl="1">
              <a:spcAft>
                <a:spcPts val="600"/>
              </a:spcAft>
            </a:pPr>
            <a:r>
              <a:rPr lang="es-ES" dirty="0"/>
              <a:t>Investigación: </a:t>
            </a:r>
            <a:r>
              <a:rPr lang="es-ES" sz="1400" dirty="0"/>
              <a:t>d</a:t>
            </a:r>
            <a:r>
              <a:rPr lang="es-ES" sz="1400" dirty="0" smtClean="0"/>
              <a:t>escubrir </a:t>
            </a:r>
            <a:r>
              <a:rPr lang="es-ES" sz="1400" dirty="0"/>
              <a:t>y estudiar sistemáticamente información de fuentes no conocidas</a:t>
            </a:r>
            <a:r>
              <a:rPr lang="es-ES" dirty="0"/>
              <a:t>. </a:t>
            </a:r>
          </a:p>
          <a:p>
            <a:pPr lvl="1"/>
            <a:r>
              <a:rPr lang="es-ES" dirty="0"/>
              <a:t>Experimentos: </a:t>
            </a:r>
            <a:r>
              <a:rPr lang="es-ES" sz="1400" dirty="0"/>
              <a:t>i</a:t>
            </a:r>
            <a:r>
              <a:rPr lang="es-ES" sz="1400" dirty="0" smtClean="0"/>
              <a:t>dentificar </a:t>
            </a:r>
            <a:r>
              <a:rPr lang="es-ES" sz="1400" dirty="0"/>
              <a:t>información que no podría conocerse sin algún tipo de prueba controlada.</a:t>
            </a:r>
            <a:r>
              <a:rPr lang="es-ES" dirty="0"/>
              <a:t> </a:t>
            </a:r>
          </a:p>
        </p:txBody>
      </p:sp>
      <p:pic>
        <p:nvPicPr>
          <p:cNvPr id="5" name="Marcador de posición de imagen 4">
            <a:extLst>
              <a:ext uri="{FF2B5EF4-FFF2-40B4-BE49-F238E27FC236}">
                <a16:creationId xmlns:a16="http://schemas.microsoft.com/office/drawing/2014/main" id="{046C01D1-791C-D35E-43D3-8763A597FF88}"/>
              </a:ext>
            </a:extLst>
          </p:cNvPr>
          <p:cNvPicPr>
            <a:picLocks noGrp="1" noChangeAspect="1"/>
          </p:cNvPicPr>
          <p:nvPr>
            <p:ph type="pic" sz="quarter" idx="10"/>
          </p:nvPr>
        </p:nvPicPr>
        <p:blipFill>
          <a:blip r:embed="rId3"/>
          <a:srcRect l="2" r="2"/>
          <a:stretch>
            <a:fillRect/>
          </a:stretch>
        </p:blipFill>
        <p:spPr/>
      </p:pic>
    </p:spTree>
    <p:extLst>
      <p:ext uri="{BB962C8B-B14F-4D97-AF65-F5344CB8AC3E}">
        <p14:creationId xmlns:p14="http://schemas.microsoft.com/office/powerpoint/2010/main" val="2091718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a:t>
            </a:r>
            <a:r>
              <a:rPr lang="es-PE" dirty="0" smtClean="0"/>
              <a:t>onfirmar resultados de elicitación</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ELICITACIÓN Y COLABORACIÓN</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p:txBody>
          <a:bodyPr/>
          <a:lstStyle/>
          <a:p>
            <a:r>
              <a:rPr lang="es-PE" dirty="0"/>
              <a:t>Su objetivo es </a:t>
            </a:r>
            <a:r>
              <a:rPr lang="es-PE" b="1" dirty="0"/>
              <a:t>verificar la precisión y coherencia</a:t>
            </a:r>
            <a:r>
              <a:rPr lang="es-PE" dirty="0"/>
              <a:t> de la información recopilada durante la elicitación, con otra información.</a:t>
            </a:r>
          </a:p>
          <a:p>
            <a:r>
              <a:rPr lang="es-ES" dirty="0"/>
              <a:t>Los resultados de obtención se pueden comparar </a:t>
            </a:r>
            <a:r>
              <a:rPr lang="es-ES" b="1" dirty="0"/>
              <a:t>con su fuente</a:t>
            </a:r>
            <a:r>
              <a:rPr lang="es-ES" dirty="0"/>
              <a:t> y </a:t>
            </a:r>
            <a:r>
              <a:rPr lang="es-ES" b="1" dirty="0"/>
              <a:t>otros resultados</a:t>
            </a:r>
            <a:r>
              <a:rPr lang="es-ES" dirty="0"/>
              <a:t> de obtención para garantizar la coherencia.</a:t>
            </a:r>
          </a:p>
          <a:p>
            <a:r>
              <a:rPr lang="es-ES" dirty="0"/>
              <a:t>Si los resultados son inconsistentes, es posible que sea necesario realizar una obtención adicional para resolver las discrepancias.</a:t>
            </a:r>
          </a:p>
          <a:p>
            <a:r>
              <a:rPr lang="es-ES" dirty="0"/>
              <a:t>La confirmación de los resultados de obtención </a:t>
            </a:r>
            <a:r>
              <a:rPr lang="es-ES" b="1" dirty="0"/>
              <a:t>es una revisión mucho menos rigurosa y formal</a:t>
            </a:r>
            <a:r>
              <a:rPr lang="es-ES" dirty="0"/>
              <a:t> que la que ocurre durante el análisis.</a:t>
            </a:r>
          </a:p>
          <a:p>
            <a:endParaRPr lang="es-PE" dirty="0"/>
          </a:p>
        </p:txBody>
      </p:sp>
      <p:pic>
        <p:nvPicPr>
          <p:cNvPr id="4" name="Marcador de posición de imagen 3">
            <a:extLst>
              <a:ext uri="{FF2B5EF4-FFF2-40B4-BE49-F238E27FC236}">
                <a16:creationId xmlns:a16="http://schemas.microsoft.com/office/drawing/2014/main" id="{D549C889-F9F7-282E-EE3E-1CE2BF0DB4E1}"/>
              </a:ext>
            </a:extLst>
          </p:cNvPr>
          <p:cNvPicPr>
            <a:picLocks noGrp="1" noChangeAspect="1"/>
          </p:cNvPicPr>
          <p:nvPr>
            <p:ph type="pic" sz="quarter" idx="10"/>
          </p:nvPr>
        </p:nvPicPr>
        <p:blipFill>
          <a:blip r:embed="rId3"/>
          <a:srcRect l="2" r="2"/>
          <a:stretch>
            <a:fillRect/>
          </a:stretch>
        </p:blipFill>
        <p:spPr/>
      </p:pic>
    </p:spTree>
    <p:extLst>
      <p:ext uri="{BB962C8B-B14F-4D97-AF65-F5344CB8AC3E}">
        <p14:creationId xmlns:p14="http://schemas.microsoft.com/office/powerpoint/2010/main" val="1390347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a:t>
            </a:r>
            <a:r>
              <a:rPr lang="es-PE" dirty="0" smtClean="0"/>
              <a:t>omunicar información AE</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ELICITACIÓN Y COLABORACIÓN</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p:txBody>
          <a:bodyPr/>
          <a:lstStyle/>
          <a:p>
            <a:r>
              <a:rPr lang="es-ES" dirty="0"/>
              <a:t>Su objetivo es garantizar que los </a:t>
            </a:r>
            <a:r>
              <a:rPr lang="es-ES" i="1" dirty="0"/>
              <a:t>stakeholders</a:t>
            </a:r>
            <a:r>
              <a:rPr lang="es-ES" dirty="0"/>
              <a:t> tengan una </a:t>
            </a:r>
            <a:r>
              <a:rPr lang="es-ES" b="1" dirty="0"/>
              <a:t>comprensión compartida</a:t>
            </a:r>
            <a:r>
              <a:rPr lang="es-ES" dirty="0"/>
              <a:t> de la información de análisis empresarial.</a:t>
            </a:r>
          </a:p>
          <a:p>
            <a:r>
              <a:rPr lang="es-ES" dirty="0"/>
              <a:t>Los </a:t>
            </a:r>
            <a:r>
              <a:rPr lang="es-ES" dirty="0" smtClean="0"/>
              <a:t>analistas </a:t>
            </a:r>
            <a:r>
              <a:rPr lang="es-ES" dirty="0"/>
              <a:t>deben comunicar la información adecuada a los </a:t>
            </a:r>
            <a:r>
              <a:rPr lang="es-ES" i="1" dirty="0"/>
              <a:t>stakeholders</a:t>
            </a:r>
            <a:r>
              <a:rPr lang="es-ES" dirty="0"/>
              <a:t> en </a:t>
            </a:r>
            <a:r>
              <a:rPr lang="es-ES" b="1" dirty="0"/>
              <a:t>el momento adecuado</a:t>
            </a:r>
            <a:r>
              <a:rPr lang="es-ES" dirty="0"/>
              <a:t> y en formatos que satisfagan sus necesidades.</a:t>
            </a:r>
          </a:p>
          <a:p>
            <a:r>
              <a:rPr lang="es-ES" dirty="0"/>
              <a:t>La comunicación de la información de análisis empresarial </a:t>
            </a:r>
            <a:r>
              <a:rPr lang="es-ES" b="1" dirty="0"/>
              <a:t>es bidireccional e iterativa</a:t>
            </a:r>
            <a:r>
              <a:rPr lang="es-ES" dirty="0"/>
              <a:t>.</a:t>
            </a:r>
          </a:p>
          <a:p>
            <a:r>
              <a:rPr lang="es-ES" dirty="0"/>
              <a:t>Es posible que se requieran múltiples formas de comunicación para la misma información.</a:t>
            </a:r>
            <a:endParaRPr lang="es-PE" dirty="0"/>
          </a:p>
        </p:txBody>
      </p:sp>
      <p:pic>
        <p:nvPicPr>
          <p:cNvPr id="4" name="Marcador de posición de imagen 3">
            <a:extLst>
              <a:ext uri="{FF2B5EF4-FFF2-40B4-BE49-F238E27FC236}">
                <a16:creationId xmlns:a16="http://schemas.microsoft.com/office/drawing/2014/main" id="{F98F29F1-9322-1357-24D5-50A722E55A34}"/>
              </a:ext>
            </a:extLst>
          </p:cNvPr>
          <p:cNvPicPr>
            <a:picLocks noGrp="1" noChangeAspect="1"/>
          </p:cNvPicPr>
          <p:nvPr>
            <p:ph type="pic" sz="quarter" idx="10"/>
          </p:nvPr>
        </p:nvPicPr>
        <p:blipFill>
          <a:blip r:embed="rId3"/>
          <a:srcRect l="118" r="118"/>
          <a:stretch>
            <a:fillRect/>
          </a:stretch>
        </p:blipFill>
        <p:spPr/>
      </p:pic>
    </p:spTree>
    <p:extLst>
      <p:ext uri="{BB962C8B-B14F-4D97-AF65-F5344CB8AC3E}">
        <p14:creationId xmlns:p14="http://schemas.microsoft.com/office/powerpoint/2010/main" val="1973871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G</a:t>
            </a:r>
            <a:r>
              <a:rPr lang="es-PE" dirty="0" smtClean="0"/>
              <a:t>estionar colaboración de </a:t>
            </a:r>
            <a:r>
              <a:rPr lang="es-PE" i="1" dirty="0" smtClean="0"/>
              <a:t>stakeholder</a:t>
            </a:r>
            <a:endParaRPr lang="es-PE" i="1"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ELICITACIÓN Y COLABORACIÓN</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p:txBody>
          <a:bodyPr/>
          <a:lstStyle/>
          <a:p>
            <a:r>
              <a:rPr lang="es-ES" dirty="0"/>
              <a:t>Su objetivo es alentar a los </a:t>
            </a:r>
            <a:r>
              <a:rPr lang="es-ES" i="1" dirty="0" smtClean="0"/>
              <a:t>stakeholders</a:t>
            </a:r>
            <a:r>
              <a:rPr lang="es-ES" dirty="0" smtClean="0"/>
              <a:t> </a:t>
            </a:r>
            <a:r>
              <a:rPr lang="es-ES" dirty="0"/>
              <a:t>a trabajar hacia un objetivo común.</a:t>
            </a:r>
          </a:p>
          <a:p>
            <a:r>
              <a:rPr lang="es-ES" dirty="0"/>
              <a:t>El analista, identifica a los </a:t>
            </a:r>
            <a:r>
              <a:rPr lang="es-ES" i="1" dirty="0"/>
              <a:t>stakeholders</a:t>
            </a:r>
            <a:r>
              <a:rPr lang="es-ES" dirty="0"/>
              <a:t>, confirma sus funciones y se comunica con ellos para garantizar que los </a:t>
            </a:r>
            <a:r>
              <a:rPr lang="es-ES" i="1" dirty="0"/>
              <a:t>stakeholders</a:t>
            </a:r>
            <a:r>
              <a:rPr lang="es-ES" dirty="0"/>
              <a:t> adecuados participen en los momentos correctos y en las funciones adecuadas.</a:t>
            </a:r>
          </a:p>
          <a:p>
            <a:pPr>
              <a:spcAft>
                <a:spcPts val="300"/>
              </a:spcAft>
            </a:pPr>
            <a:r>
              <a:rPr lang="es-ES" dirty="0"/>
              <a:t>Las malas relaciones con los </a:t>
            </a:r>
            <a:r>
              <a:rPr lang="es-ES" i="1" dirty="0"/>
              <a:t>stakeholders</a:t>
            </a:r>
            <a:r>
              <a:rPr lang="es-ES" dirty="0"/>
              <a:t> pueden tener efectos perjudiciales:</a:t>
            </a:r>
          </a:p>
          <a:p>
            <a:pPr lvl="1">
              <a:spcAft>
                <a:spcPts val="300"/>
              </a:spcAft>
            </a:pPr>
            <a:r>
              <a:rPr lang="es-ES" dirty="0"/>
              <a:t>Falta de información de </a:t>
            </a:r>
            <a:r>
              <a:rPr lang="es-ES" dirty="0" smtClean="0"/>
              <a:t>calidad.</a:t>
            </a:r>
            <a:endParaRPr lang="es-ES" dirty="0"/>
          </a:p>
          <a:p>
            <a:pPr lvl="1">
              <a:spcAft>
                <a:spcPts val="300"/>
              </a:spcAft>
            </a:pPr>
            <a:r>
              <a:rPr lang="es-ES" dirty="0"/>
              <a:t>Reacción negativa a los </a:t>
            </a:r>
            <a:r>
              <a:rPr lang="es-ES" dirty="0" smtClean="0"/>
              <a:t>contratiempos.</a:t>
            </a:r>
            <a:endParaRPr lang="es-ES" dirty="0"/>
          </a:p>
          <a:p>
            <a:pPr lvl="1">
              <a:spcAft>
                <a:spcPts val="300"/>
              </a:spcAft>
            </a:pPr>
            <a:r>
              <a:rPr lang="es-ES" dirty="0"/>
              <a:t>Resistencia al </a:t>
            </a:r>
            <a:r>
              <a:rPr lang="es-ES" dirty="0" smtClean="0"/>
              <a:t>cambio.</a:t>
            </a:r>
            <a:endParaRPr lang="es-ES" dirty="0"/>
          </a:p>
          <a:p>
            <a:pPr lvl="1">
              <a:spcAft>
                <a:spcPts val="300"/>
              </a:spcAft>
            </a:pPr>
            <a:r>
              <a:rPr lang="es-ES" dirty="0"/>
              <a:t>Falta de apoyo y </a:t>
            </a:r>
            <a:r>
              <a:rPr lang="es-ES" dirty="0" smtClean="0"/>
              <a:t>participación</a:t>
            </a:r>
            <a:r>
              <a:rPr lang="es-ES" dirty="0"/>
              <a:t>.</a:t>
            </a:r>
          </a:p>
          <a:p>
            <a:pPr lvl="1"/>
            <a:r>
              <a:rPr lang="es-ES" dirty="0"/>
              <a:t>Información AE ignorada.</a:t>
            </a:r>
            <a:endParaRPr lang="es-PE" dirty="0"/>
          </a:p>
        </p:txBody>
      </p:sp>
      <p:pic>
        <p:nvPicPr>
          <p:cNvPr id="8" name="Marcador de posición de imagen 7">
            <a:extLst>
              <a:ext uri="{FF2B5EF4-FFF2-40B4-BE49-F238E27FC236}">
                <a16:creationId xmlns:a16="http://schemas.microsoft.com/office/drawing/2014/main" id="{BFC9044D-F417-376B-1498-72F62591AA49}"/>
              </a:ext>
            </a:extLst>
          </p:cNvPr>
          <p:cNvPicPr>
            <a:picLocks noGrp="1" noChangeAspect="1"/>
          </p:cNvPicPr>
          <p:nvPr>
            <p:ph type="pic" sz="quarter" idx="10"/>
          </p:nvPr>
        </p:nvPicPr>
        <p:blipFill>
          <a:blip r:embed="rId3"/>
          <a:srcRect l="118" r="118"/>
          <a:stretch>
            <a:fillRect/>
          </a:stretch>
        </p:blipFill>
        <p:spPr/>
      </p:pic>
    </p:spTree>
    <p:extLst>
      <p:ext uri="{BB962C8B-B14F-4D97-AF65-F5344CB8AC3E}">
        <p14:creationId xmlns:p14="http://schemas.microsoft.com/office/powerpoint/2010/main" val="2195741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B664F2-7CB4-48B1-9096-E52469E94D93}"/>
              </a:ext>
            </a:extLst>
          </p:cNvPr>
          <p:cNvSpPr>
            <a:spLocks noGrp="1"/>
          </p:cNvSpPr>
          <p:nvPr>
            <p:ph type="body" sz="quarter" idx="10"/>
          </p:nvPr>
        </p:nvSpPr>
        <p:spPr/>
        <p:txBody>
          <a:bodyPr/>
          <a:lstStyle/>
          <a:p>
            <a:pPr marL="274638" indent="-274638">
              <a:tabLst>
                <a:tab pos="274638" algn="l"/>
              </a:tabLst>
            </a:pPr>
            <a:r>
              <a:rPr lang="es-PE" dirty="0"/>
              <a:t>/	CICLO DE VIDA DE LOS REQUERIMIENTOS</a:t>
            </a:r>
          </a:p>
        </p:txBody>
      </p:sp>
    </p:spTree>
    <p:custDataLst>
      <p:tags r:id="rId1"/>
    </p:custDataLst>
    <p:extLst>
      <p:ext uri="{BB962C8B-B14F-4D97-AF65-F5344CB8AC3E}">
        <p14:creationId xmlns:p14="http://schemas.microsoft.com/office/powerpoint/2010/main" val="2469539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a:xfrm>
            <a:off x="468313" y="721982"/>
            <a:ext cx="4103687" cy="354012"/>
          </a:xfrm>
        </p:spPr>
        <p:txBody>
          <a:bodyPr/>
          <a:lstStyle/>
          <a:p>
            <a:r>
              <a:rPr lang="es-PE" dirty="0"/>
              <a:t>T</a:t>
            </a:r>
            <a:r>
              <a:rPr lang="es-PE" dirty="0" smtClean="0"/>
              <a:t>areas</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CICLO DE VIDA DE LOS REQUERIMIENTOS</a:t>
            </a:r>
          </a:p>
        </p:txBody>
      </p:sp>
      <p:sp>
        <p:nvSpPr>
          <p:cNvPr id="2" name="Marcador de texto 1">
            <a:extLst>
              <a:ext uri="{FF2B5EF4-FFF2-40B4-BE49-F238E27FC236}">
                <a16:creationId xmlns:a16="http://schemas.microsoft.com/office/drawing/2014/main" id="{192A0349-9565-4745-050D-42D1EB8C9CE3}"/>
              </a:ext>
            </a:extLst>
          </p:cNvPr>
          <p:cNvSpPr>
            <a:spLocks noGrp="1"/>
          </p:cNvSpPr>
          <p:nvPr>
            <p:ph type="body" sz="quarter" idx="14"/>
          </p:nvPr>
        </p:nvSpPr>
        <p:spPr>
          <a:xfrm>
            <a:off x="479887" y="1073745"/>
            <a:ext cx="4103687" cy="4282026"/>
          </a:xfrm>
        </p:spPr>
        <p:txBody>
          <a:bodyPr/>
          <a:lstStyle/>
          <a:p>
            <a:r>
              <a:rPr lang="es-ES" dirty="0"/>
              <a:t>Su propósito es garantizar que los requisitos y diseños de la solución, los </a:t>
            </a:r>
            <a:r>
              <a:rPr lang="es-ES" i="1" dirty="0"/>
              <a:t>stakeholders</a:t>
            </a:r>
            <a:r>
              <a:rPr lang="es-ES" dirty="0"/>
              <a:t> y el negocio </a:t>
            </a:r>
            <a:r>
              <a:rPr lang="es-ES" b="1" dirty="0"/>
              <a:t>estén alineados entre sí</a:t>
            </a:r>
            <a:r>
              <a:rPr lang="es-ES" dirty="0"/>
              <a:t> y </a:t>
            </a:r>
            <a:r>
              <a:rPr lang="es-ES" b="1" dirty="0"/>
              <a:t>que la solución los implemente</a:t>
            </a:r>
            <a:r>
              <a:rPr lang="es-ES" dirty="0"/>
              <a:t>. </a:t>
            </a:r>
          </a:p>
          <a:p>
            <a:pPr>
              <a:spcAft>
                <a:spcPts val="300"/>
              </a:spcAft>
            </a:pPr>
            <a:r>
              <a:rPr lang="es-ES" dirty="0"/>
              <a:t>El ciclo de vida de los </a:t>
            </a:r>
            <a:r>
              <a:rPr lang="es-ES" dirty="0" smtClean="0"/>
              <a:t>requisitos es el siguiente:</a:t>
            </a:r>
            <a:endParaRPr lang="es-ES" dirty="0"/>
          </a:p>
          <a:p>
            <a:pPr lvl="1">
              <a:spcAft>
                <a:spcPts val="300"/>
              </a:spcAft>
            </a:pPr>
            <a:r>
              <a:rPr lang="es-ES" dirty="0"/>
              <a:t>Comienza con la representación de la necesidad como un </a:t>
            </a:r>
            <a:r>
              <a:rPr lang="es-ES" dirty="0" smtClean="0"/>
              <a:t>requisito.</a:t>
            </a:r>
            <a:endParaRPr lang="es-ES" dirty="0"/>
          </a:p>
          <a:p>
            <a:pPr lvl="1">
              <a:spcAft>
                <a:spcPts val="300"/>
              </a:spcAft>
            </a:pPr>
            <a:r>
              <a:rPr lang="es-ES" dirty="0"/>
              <a:t>Sigue con el desarrollo de la </a:t>
            </a:r>
            <a:r>
              <a:rPr lang="es-ES" dirty="0" smtClean="0"/>
              <a:t>solución.</a:t>
            </a:r>
            <a:endParaRPr lang="es-ES" dirty="0"/>
          </a:p>
          <a:p>
            <a:pPr lvl="1"/>
            <a:r>
              <a:rPr lang="es-ES" dirty="0"/>
              <a:t>Finaliza cuando se retira la solución y los requisitos que la representan.</a:t>
            </a:r>
          </a:p>
          <a:p>
            <a:r>
              <a:rPr lang="es-ES" dirty="0"/>
              <a:t>La gestión de requisitos no termina una vez que se implementa una solución.</a:t>
            </a:r>
          </a:p>
          <a:p>
            <a:r>
              <a:rPr lang="es-ES" dirty="0"/>
              <a:t>Esta área de conocimiento incluye las tareas que se muestran en la figura.</a:t>
            </a:r>
          </a:p>
        </p:txBody>
      </p:sp>
      <p:pic>
        <p:nvPicPr>
          <p:cNvPr id="6" name="Marcador de posición de imagen 5">
            <a:extLst>
              <a:ext uri="{FF2B5EF4-FFF2-40B4-BE49-F238E27FC236}">
                <a16:creationId xmlns:a16="http://schemas.microsoft.com/office/drawing/2014/main" id="{4D6C54DD-9C41-577D-1C84-1CB4078A9DF5}"/>
              </a:ext>
            </a:extLst>
          </p:cNvPr>
          <p:cNvPicPr>
            <a:picLocks noGrp="1" noChangeAspect="1"/>
          </p:cNvPicPr>
          <p:nvPr>
            <p:ph type="pic" sz="quarter" idx="10"/>
          </p:nvPr>
        </p:nvPicPr>
        <p:blipFill>
          <a:blip r:embed="rId3"/>
          <a:srcRect l="2" r="2"/>
          <a:stretch>
            <a:fillRect/>
          </a:stretch>
        </p:blipFill>
        <p:spPr/>
      </p:pic>
    </p:spTree>
    <p:extLst>
      <p:ext uri="{BB962C8B-B14F-4D97-AF65-F5344CB8AC3E}">
        <p14:creationId xmlns:p14="http://schemas.microsoft.com/office/powerpoint/2010/main" val="2787749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smtClean="0"/>
              <a:t>Trazar requisitos</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CICLO DE VIDA DE LOS REQUERIMIENTOS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p:txBody>
          <a:bodyPr/>
          <a:lstStyle/>
          <a:p>
            <a:r>
              <a:rPr lang="es-ES" dirty="0"/>
              <a:t>Su objetivo es garantizar que los requisitos y los diseños en diferentes niveles </a:t>
            </a:r>
            <a:r>
              <a:rPr lang="es-ES" b="1" dirty="0"/>
              <a:t>estén alineados entre sí</a:t>
            </a:r>
            <a:r>
              <a:rPr lang="es-ES" dirty="0"/>
              <a:t> y gestionar los efectos del cambio en los requisitos relacionados.</a:t>
            </a:r>
          </a:p>
          <a:p>
            <a:r>
              <a:rPr lang="es-ES" dirty="0"/>
              <a:t>Identifica y documenta el linaje de cada requisito (rastreabilidad hacia atrás, hacia adelante y su relación con otros requisitos).</a:t>
            </a:r>
          </a:p>
          <a:p>
            <a:pPr>
              <a:spcAft>
                <a:spcPts val="300"/>
              </a:spcAft>
            </a:pPr>
            <a:r>
              <a:rPr lang="es-ES" dirty="0"/>
              <a:t>La trazabilidad </a:t>
            </a:r>
            <a:r>
              <a:rPr lang="es-ES" dirty="0" smtClean="0"/>
              <a:t>permite lo siguiente:</a:t>
            </a:r>
            <a:endParaRPr lang="es-ES" dirty="0"/>
          </a:p>
          <a:p>
            <a:pPr lvl="1">
              <a:spcAft>
                <a:spcPts val="300"/>
              </a:spcAft>
            </a:pPr>
            <a:r>
              <a:rPr lang="es-ES" dirty="0"/>
              <a:t>Análisis de impacto rápido y </a:t>
            </a:r>
            <a:r>
              <a:rPr lang="es-ES" dirty="0" smtClean="0"/>
              <a:t>simple.</a:t>
            </a:r>
            <a:endParaRPr lang="es-ES" dirty="0"/>
          </a:p>
          <a:p>
            <a:pPr lvl="1">
              <a:spcAft>
                <a:spcPts val="300"/>
              </a:spcAft>
            </a:pPr>
            <a:r>
              <a:rPr lang="es-ES" dirty="0"/>
              <a:t>Descubrir inconsistencias y </a:t>
            </a:r>
            <a:r>
              <a:rPr lang="es-ES" dirty="0" smtClean="0"/>
              <a:t>brechas.</a:t>
            </a:r>
            <a:endParaRPr lang="es-ES" dirty="0"/>
          </a:p>
          <a:p>
            <a:pPr lvl="1">
              <a:spcAft>
                <a:spcPts val="300"/>
              </a:spcAft>
            </a:pPr>
            <a:r>
              <a:rPr lang="es-ES" dirty="0"/>
              <a:t>Conocimiento más </a:t>
            </a:r>
            <a:r>
              <a:rPr lang="es-ES" dirty="0" smtClean="0"/>
              <a:t>profundo </a:t>
            </a:r>
            <a:r>
              <a:rPr lang="es-ES" dirty="0"/>
              <a:t>sobre el alcance y la complejidad de un </a:t>
            </a:r>
            <a:r>
              <a:rPr lang="es-ES" dirty="0" smtClean="0"/>
              <a:t>cambio</a:t>
            </a:r>
            <a:r>
              <a:rPr lang="es-ES" dirty="0"/>
              <a:t>.</a:t>
            </a:r>
          </a:p>
          <a:p>
            <a:pPr lvl="1">
              <a:spcAft>
                <a:spcPts val="300"/>
              </a:spcAft>
            </a:pPr>
            <a:r>
              <a:rPr lang="es-ES" dirty="0"/>
              <a:t>Evaluación confiable de qué requisitos se han abordado y cuáles no.</a:t>
            </a:r>
          </a:p>
        </p:txBody>
      </p:sp>
      <p:pic>
        <p:nvPicPr>
          <p:cNvPr id="10" name="Marcador de posición de imagen 9">
            <a:extLst>
              <a:ext uri="{FF2B5EF4-FFF2-40B4-BE49-F238E27FC236}">
                <a16:creationId xmlns:a16="http://schemas.microsoft.com/office/drawing/2014/main" id="{335EB958-77BC-DE07-B92F-962125BF1DA8}"/>
              </a:ext>
            </a:extLst>
          </p:cNvPr>
          <p:cNvPicPr>
            <a:picLocks noGrp="1" noChangeAspect="1"/>
          </p:cNvPicPr>
          <p:nvPr>
            <p:ph type="pic" sz="quarter" idx="10"/>
          </p:nvPr>
        </p:nvPicPr>
        <p:blipFill>
          <a:blip r:embed="rId3"/>
          <a:srcRect l="118" r="118"/>
          <a:stretch>
            <a:fillRect/>
          </a:stretch>
        </p:blipFill>
        <p:spPr/>
      </p:pic>
    </p:spTree>
    <p:extLst>
      <p:ext uri="{BB962C8B-B14F-4D97-AF65-F5344CB8AC3E}">
        <p14:creationId xmlns:p14="http://schemas.microsoft.com/office/powerpoint/2010/main" val="2325610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M</a:t>
            </a:r>
            <a:r>
              <a:rPr lang="es-PE" dirty="0" smtClean="0"/>
              <a:t>antener requisitos</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CICLO DE VIDA DE LOS REQUERIMIENTOS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103687" cy="3130096"/>
          </a:xfrm>
        </p:spPr>
        <p:txBody>
          <a:bodyPr/>
          <a:lstStyle/>
          <a:p>
            <a:r>
              <a:rPr lang="es-ES" dirty="0"/>
              <a:t>Su objetivo es </a:t>
            </a:r>
            <a:r>
              <a:rPr lang="es-ES" b="1" dirty="0"/>
              <a:t>conservar la precisión y coherencia de los requisitos</a:t>
            </a:r>
            <a:r>
              <a:rPr lang="es-ES" dirty="0"/>
              <a:t> durante todo el ciclo de vida de los requisitos, y admitir su reutilización en otras soluciones.</a:t>
            </a:r>
          </a:p>
          <a:p>
            <a:pPr>
              <a:spcAft>
                <a:spcPts val="300"/>
              </a:spcAft>
            </a:pPr>
            <a:r>
              <a:rPr lang="es-ES" dirty="0"/>
              <a:t>Para maximizar los beneficios de mantener y reutilizar los requisitos, éstos deben ser:</a:t>
            </a:r>
          </a:p>
          <a:p>
            <a:pPr lvl="1">
              <a:spcAft>
                <a:spcPts val="300"/>
              </a:spcAft>
            </a:pPr>
            <a:r>
              <a:rPr lang="es-ES" dirty="0"/>
              <a:t>Representados </a:t>
            </a:r>
            <a:r>
              <a:rPr lang="es-ES" dirty="0" smtClean="0"/>
              <a:t>consistentemente.</a:t>
            </a:r>
            <a:endParaRPr lang="es-ES" dirty="0"/>
          </a:p>
          <a:p>
            <a:pPr lvl="1">
              <a:spcAft>
                <a:spcPts val="300"/>
              </a:spcAft>
            </a:pPr>
            <a:r>
              <a:rPr lang="es-ES" dirty="0"/>
              <a:t>Revisados y aprobados mediante un proceso estandarizado que asegure la </a:t>
            </a:r>
            <a:r>
              <a:rPr lang="es-ES" dirty="0" smtClean="0"/>
              <a:t>calidad</a:t>
            </a:r>
            <a:r>
              <a:rPr lang="es-ES" dirty="0"/>
              <a:t>.</a:t>
            </a:r>
          </a:p>
          <a:p>
            <a:pPr lvl="1">
              <a:spcAft>
                <a:spcPts val="300"/>
              </a:spcAft>
            </a:pPr>
            <a:r>
              <a:rPr lang="es-ES" dirty="0"/>
              <a:t>Fácilmente accesible y comprensible.</a:t>
            </a:r>
            <a:endParaRPr lang="es-PE" dirty="0"/>
          </a:p>
        </p:txBody>
      </p:sp>
      <p:pic>
        <p:nvPicPr>
          <p:cNvPr id="8" name="Marcador de posición de imagen 7">
            <a:extLst>
              <a:ext uri="{FF2B5EF4-FFF2-40B4-BE49-F238E27FC236}">
                <a16:creationId xmlns:a16="http://schemas.microsoft.com/office/drawing/2014/main" id="{053D53C1-62D6-1A44-E42D-3F3E5BB14343}"/>
              </a:ext>
            </a:extLst>
          </p:cNvPr>
          <p:cNvPicPr>
            <a:picLocks noGrp="1" noChangeAspect="1"/>
          </p:cNvPicPr>
          <p:nvPr>
            <p:ph type="pic" sz="quarter" idx="10"/>
          </p:nvPr>
        </p:nvPicPr>
        <p:blipFill>
          <a:blip r:embed="rId3"/>
          <a:srcRect l="118" r="118"/>
          <a:stretch>
            <a:fillRect/>
          </a:stretch>
        </p:blipFill>
        <p:spPr/>
      </p:pic>
    </p:spTree>
    <p:extLst>
      <p:ext uri="{BB962C8B-B14F-4D97-AF65-F5344CB8AC3E}">
        <p14:creationId xmlns:p14="http://schemas.microsoft.com/office/powerpoint/2010/main" val="2265124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P</a:t>
            </a:r>
            <a:r>
              <a:rPr lang="es-PE" dirty="0" smtClean="0"/>
              <a:t>riorizar requisitos</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CICLO DE VIDA DE LOS REQUERIMIENTOS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103687" cy="3267982"/>
          </a:xfrm>
        </p:spPr>
        <p:txBody>
          <a:bodyPr/>
          <a:lstStyle/>
          <a:p>
            <a:r>
              <a:rPr lang="es-ES" dirty="0"/>
              <a:t>Su objetivo es clasificar los requisitos en orden de importancia relativa.</a:t>
            </a:r>
          </a:p>
          <a:p>
            <a:r>
              <a:rPr lang="es-ES" dirty="0"/>
              <a:t>La prioridad puede referirse al </a:t>
            </a:r>
            <a:r>
              <a:rPr lang="es-ES" b="1" dirty="0"/>
              <a:t>valor relativo</a:t>
            </a:r>
            <a:r>
              <a:rPr lang="es-ES" dirty="0"/>
              <a:t> de un requisito o a la </a:t>
            </a:r>
            <a:r>
              <a:rPr lang="es-ES" b="1" dirty="0"/>
              <a:t>secuencia en la que se implementará</a:t>
            </a:r>
            <a:r>
              <a:rPr lang="es-ES" dirty="0"/>
              <a:t>.</a:t>
            </a:r>
          </a:p>
          <a:p>
            <a:r>
              <a:rPr lang="es-ES" dirty="0"/>
              <a:t>La priorización es un proceso continuo, con prioridades que cambian a medida que cambia el contexto.</a:t>
            </a:r>
          </a:p>
          <a:p>
            <a:r>
              <a:rPr lang="es-ES" dirty="0"/>
              <a:t>Las interdependencias entre los requisitos se identifican y pueden utilizarse como base para la priorización.</a:t>
            </a:r>
          </a:p>
        </p:txBody>
      </p:sp>
      <p:pic>
        <p:nvPicPr>
          <p:cNvPr id="8" name="Marcador de posición de imagen 7">
            <a:extLst>
              <a:ext uri="{FF2B5EF4-FFF2-40B4-BE49-F238E27FC236}">
                <a16:creationId xmlns:a16="http://schemas.microsoft.com/office/drawing/2014/main" id="{45AB3986-480A-FBE8-E34C-0EC7BE2AE605}"/>
              </a:ext>
            </a:extLst>
          </p:cNvPr>
          <p:cNvPicPr>
            <a:picLocks noGrp="1" noChangeAspect="1"/>
          </p:cNvPicPr>
          <p:nvPr>
            <p:ph type="pic" sz="quarter" idx="10"/>
          </p:nvPr>
        </p:nvPicPr>
        <p:blipFill>
          <a:blip r:embed="rId3"/>
          <a:srcRect l="118" r="118"/>
          <a:stretch>
            <a:fillRect/>
          </a:stretch>
        </p:blipFill>
        <p:spPr/>
      </p:pic>
    </p:spTree>
    <p:extLst>
      <p:ext uri="{BB962C8B-B14F-4D97-AF65-F5344CB8AC3E}">
        <p14:creationId xmlns:p14="http://schemas.microsoft.com/office/powerpoint/2010/main" val="2288157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a:t>
            </a:r>
            <a:r>
              <a:rPr lang="es-PE" dirty="0" smtClean="0"/>
              <a:t>valuar cambios en los requisitos</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CICLO DE VIDA DE LOS REQUERIMIENTOS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42834"/>
            <a:ext cx="4103687" cy="3741224"/>
          </a:xfrm>
        </p:spPr>
        <p:txBody>
          <a:bodyPr/>
          <a:lstStyle/>
          <a:p>
            <a:r>
              <a:rPr lang="es-ES" dirty="0"/>
              <a:t>Su objetivo es </a:t>
            </a:r>
            <a:r>
              <a:rPr lang="es-ES" b="1" dirty="0"/>
              <a:t>evaluar las implicaciones de los cambios</a:t>
            </a:r>
            <a:r>
              <a:rPr lang="es-ES" dirty="0"/>
              <a:t> propuestos en los requisitos y diseños.</a:t>
            </a:r>
          </a:p>
          <a:p>
            <a:r>
              <a:rPr lang="es-ES" dirty="0"/>
              <a:t>Los analistas evalúan el efecto potencial del cambio en el valor de la solución y si los mismos introducen conflictos con otros requisitos o aumentan el nivel de riesgo.</a:t>
            </a:r>
          </a:p>
          <a:p>
            <a:pPr>
              <a:spcAft>
                <a:spcPts val="300"/>
              </a:spcAft>
            </a:pPr>
            <a:r>
              <a:rPr lang="es-ES" dirty="0"/>
              <a:t>Considera si cada cambio propuesto:</a:t>
            </a:r>
          </a:p>
          <a:p>
            <a:pPr lvl="1">
              <a:spcAft>
                <a:spcPts val="300"/>
              </a:spcAft>
            </a:pPr>
            <a:r>
              <a:rPr lang="es-ES" dirty="0"/>
              <a:t>Se alinea con la estrategia </a:t>
            </a:r>
            <a:r>
              <a:rPr lang="es-ES" dirty="0" smtClean="0"/>
              <a:t>general.</a:t>
            </a:r>
            <a:endParaRPr lang="es-ES" dirty="0"/>
          </a:p>
          <a:p>
            <a:pPr lvl="1">
              <a:spcAft>
                <a:spcPts val="300"/>
              </a:spcAft>
            </a:pPr>
            <a:r>
              <a:rPr lang="es-ES" dirty="0"/>
              <a:t>Afecta el valor entregado al </a:t>
            </a:r>
            <a:r>
              <a:rPr lang="es-ES" dirty="0" smtClean="0"/>
              <a:t>negocio.</a:t>
            </a:r>
            <a:endParaRPr lang="es-ES" dirty="0"/>
          </a:p>
          <a:p>
            <a:pPr lvl="1">
              <a:spcAft>
                <a:spcPts val="300"/>
              </a:spcAft>
            </a:pPr>
            <a:r>
              <a:rPr lang="es-ES" dirty="0"/>
              <a:t>Afecta el tiempo de </a:t>
            </a:r>
            <a:r>
              <a:rPr lang="es-ES" dirty="0" smtClean="0"/>
              <a:t>entrega</a:t>
            </a:r>
            <a:r>
              <a:rPr lang="es-ES" dirty="0"/>
              <a:t>.</a:t>
            </a:r>
          </a:p>
          <a:p>
            <a:pPr lvl="1">
              <a:spcAft>
                <a:spcPts val="300"/>
              </a:spcAft>
            </a:pPr>
            <a:r>
              <a:rPr lang="es-ES" dirty="0"/>
              <a:t>Altera cualquier riesgo, oportunidad o limitación asociada con la iniciativa.</a:t>
            </a:r>
          </a:p>
          <a:p>
            <a:pPr>
              <a:spcAft>
                <a:spcPts val="300"/>
              </a:spcAft>
            </a:pPr>
            <a:endParaRPr lang="es-PE" dirty="0"/>
          </a:p>
        </p:txBody>
      </p:sp>
      <p:pic>
        <p:nvPicPr>
          <p:cNvPr id="8" name="Marcador de posición de imagen 7">
            <a:extLst>
              <a:ext uri="{FF2B5EF4-FFF2-40B4-BE49-F238E27FC236}">
                <a16:creationId xmlns:a16="http://schemas.microsoft.com/office/drawing/2014/main" id="{E4E076C2-C2AA-A4D2-2279-6EBF7B1B31FB}"/>
              </a:ext>
            </a:extLst>
          </p:cNvPr>
          <p:cNvPicPr>
            <a:picLocks noGrp="1" noChangeAspect="1"/>
          </p:cNvPicPr>
          <p:nvPr>
            <p:ph type="pic" sz="quarter" idx="10"/>
          </p:nvPr>
        </p:nvPicPr>
        <p:blipFill>
          <a:blip r:embed="rId3"/>
          <a:srcRect l="118" r="118"/>
          <a:stretch>
            <a:fillRect/>
          </a:stretch>
        </p:blipFill>
        <p:spPr/>
      </p:pic>
    </p:spTree>
    <p:extLst>
      <p:ext uri="{BB962C8B-B14F-4D97-AF65-F5344CB8AC3E}">
        <p14:creationId xmlns:p14="http://schemas.microsoft.com/office/powerpoint/2010/main" val="343151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A</a:t>
            </a:r>
            <a:r>
              <a:rPr lang="es-PE" dirty="0" smtClean="0"/>
              <a:t>probar requisitos</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CICLO DE VIDA DE LOS REQUERIMIENTOS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103687" cy="3130096"/>
          </a:xfrm>
        </p:spPr>
        <p:txBody>
          <a:bodyPr/>
          <a:lstStyle/>
          <a:p>
            <a:r>
              <a:rPr lang="es-ES" dirty="0"/>
              <a:t>Su objetivo es obtener un </a:t>
            </a:r>
            <a:r>
              <a:rPr lang="es-ES" b="1" dirty="0"/>
              <a:t>acuerdo y aprobación</a:t>
            </a:r>
            <a:r>
              <a:rPr lang="es-ES" dirty="0"/>
              <a:t> de los requisitos y diseños para continuar con el trabajo y/o continuar con la construcción de la solución.</a:t>
            </a:r>
          </a:p>
          <a:p>
            <a:r>
              <a:rPr lang="es-ES" dirty="0"/>
              <a:t>La aprobación de requisitos y diseños puede ser formal o informal.</a:t>
            </a:r>
          </a:p>
          <a:p>
            <a:r>
              <a:rPr lang="es-ES" dirty="0"/>
              <a:t>Los analistas trabajan con los </a:t>
            </a:r>
            <a:r>
              <a:rPr lang="es-ES" i="1" dirty="0"/>
              <a:t>stakeholders</a:t>
            </a:r>
            <a:r>
              <a:rPr lang="es-ES" dirty="0"/>
              <a:t> clave para lograr un consenso sobre los requisitos nuevos y modificados, comunicar el resultado de las discusiones y realizar un seguimiento y administrar la aprobación.</a:t>
            </a:r>
            <a:endParaRPr lang="es-PE" dirty="0"/>
          </a:p>
        </p:txBody>
      </p:sp>
      <p:pic>
        <p:nvPicPr>
          <p:cNvPr id="15" name="Marcador de posición de imagen 14">
            <a:extLst>
              <a:ext uri="{FF2B5EF4-FFF2-40B4-BE49-F238E27FC236}">
                <a16:creationId xmlns:a16="http://schemas.microsoft.com/office/drawing/2014/main" id="{6FFB20A0-4FDA-FF77-FE74-E8C42DBCE135}"/>
              </a:ext>
            </a:extLst>
          </p:cNvPr>
          <p:cNvPicPr>
            <a:picLocks noGrp="1" noChangeAspect="1"/>
          </p:cNvPicPr>
          <p:nvPr>
            <p:ph type="pic" sz="quarter" idx="10"/>
          </p:nvPr>
        </p:nvPicPr>
        <p:blipFill>
          <a:blip r:embed="rId3"/>
          <a:srcRect l="118" r="118"/>
          <a:stretch>
            <a:fillRect/>
          </a:stretch>
        </p:blipFill>
        <p:spPr/>
      </p:pic>
    </p:spTree>
    <p:extLst>
      <p:ext uri="{BB962C8B-B14F-4D97-AF65-F5344CB8AC3E}">
        <p14:creationId xmlns:p14="http://schemas.microsoft.com/office/powerpoint/2010/main" val="558092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B664F2-7CB4-48B1-9096-E52469E94D93}"/>
              </a:ext>
            </a:extLst>
          </p:cNvPr>
          <p:cNvSpPr>
            <a:spLocks noGrp="1"/>
          </p:cNvSpPr>
          <p:nvPr>
            <p:ph type="body" sz="quarter" idx="10"/>
          </p:nvPr>
        </p:nvSpPr>
        <p:spPr>
          <a:xfrm>
            <a:off x="468314" y="3714841"/>
            <a:ext cx="5543549" cy="441523"/>
          </a:xfrm>
        </p:spPr>
        <p:txBody>
          <a:bodyPr/>
          <a:lstStyle/>
          <a:p>
            <a:pPr marL="274638" indent="-274638">
              <a:tabLst>
                <a:tab pos="274638" algn="l"/>
              </a:tabLst>
            </a:pPr>
            <a:r>
              <a:rPr lang="es-PE" dirty="0"/>
              <a:t>/	ANÁLISIS </a:t>
            </a:r>
            <a:r>
              <a:rPr lang="es-PE" dirty="0" smtClean="0"/>
              <a:t>ESTRATÉGICO</a:t>
            </a:r>
            <a:endParaRPr lang="es-PE" dirty="0"/>
          </a:p>
        </p:txBody>
      </p:sp>
    </p:spTree>
    <p:custDataLst>
      <p:tags r:id="rId1"/>
    </p:custDataLst>
    <p:extLst>
      <p:ext uri="{BB962C8B-B14F-4D97-AF65-F5344CB8AC3E}">
        <p14:creationId xmlns:p14="http://schemas.microsoft.com/office/powerpoint/2010/main" val="2006092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T</a:t>
            </a:r>
            <a:r>
              <a:rPr lang="es-PE" dirty="0" smtClean="0"/>
              <a:t>areas</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ANÁLISIS </a:t>
            </a:r>
            <a:r>
              <a:rPr lang="es-PE" dirty="0" smtClean="0"/>
              <a:t>ESTRATÉGICO</a:t>
            </a:r>
            <a:endParaRPr lang="es-PE" dirty="0"/>
          </a:p>
        </p:txBody>
      </p:sp>
      <p:sp>
        <p:nvSpPr>
          <p:cNvPr id="2" name="Marcador de texto 1">
            <a:extLst>
              <a:ext uri="{FF2B5EF4-FFF2-40B4-BE49-F238E27FC236}">
                <a16:creationId xmlns:a16="http://schemas.microsoft.com/office/drawing/2014/main" id="{192A0349-9565-4745-050D-42D1EB8C9CE3}"/>
              </a:ext>
            </a:extLst>
          </p:cNvPr>
          <p:cNvSpPr>
            <a:spLocks noGrp="1"/>
          </p:cNvSpPr>
          <p:nvPr>
            <p:ph type="body" sz="quarter" idx="14"/>
          </p:nvPr>
        </p:nvSpPr>
        <p:spPr/>
        <p:txBody>
          <a:bodyPr/>
          <a:lstStyle/>
          <a:p>
            <a:r>
              <a:rPr lang="es-ES" dirty="0"/>
              <a:t>Describe el trabajo que se debe realizar para colaborar con los </a:t>
            </a:r>
            <a:r>
              <a:rPr lang="es-ES" i="1" dirty="0"/>
              <a:t>stakeholders </a:t>
            </a:r>
            <a:r>
              <a:rPr lang="es-ES" dirty="0"/>
              <a:t>a fin de </a:t>
            </a:r>
            <a:r>
              <a:rPr lang="es-ES" b="1" dirty="0"/>
              <a:t>identificar una necesidad de importancia estratégica</a:t>
            </a:r>
            <a:r>
              <a:rPr lang="es-ES" dirty="0"/>
              <a:t>, permitir que la empresa aborde esa necesidad y alinear la estrategia resultante para el cambio con estrategias de nivel superior e inferior.</a:t>
            </a:r>
          </a:p>
          <a:p>
            <a:r>
              <a:rPr lang="es-ES" dirty="0"/>
              <a:t>Se enfoca en definir los estados futuros y de transición </a:t>
            </a:r>
            <a:r>
              <a:rPr lang="es-ES" b="1" dirty="0"/>
              <a:t>necesarios para abordar la necesidad del negocio</a:t>
            </a:r>
            <a:r>
              <a:rPr lang="es-ES" dirty="0"/>
              <a:t>, y el trabajo requerido se define tanto por esa necesidad como por el alcance del espacio de la solución.</a:t>
            </a:r>
          </a:p>
          <a:p>
            <a:r>
              <a:rPr lang="es-ES" dirty="0"/>
              <a:t>Esta área de conocimiento incluye las tareas que se muestran en la figura.</a:t>
            </a:r>
          </a:p>
        </p:txBody>
      </p:sp>
      <p:pic>
        <p:nvPicPr>
          <p:cNvPr id="6" name="Marcador de posición de imagen 5">
            <a:extLst>
              <a:ext uri="{FF2B5EF4-FFF2-40B4-BE49-F238E27FC236}">
                <a16:creationId xmlns:a16="http://schemas.microsoft.com/office/drawing/2014/main" id="{447FDE83-6530-D88B-1645-372B0F31495E}"/>
              </a:ext>
            </a:extLst>
          </p:cNvPr>
          <p:cNvPicPr>
            <a:picLocks noGrp="1" noChangeAspect="1"/>
          </p:cNvPicPr>
          <p:nvPr>
            <p:ph type="pic" sz="quarter" idx="10"/>
          </p:nvPr>
        </p:nvPicPr>
        <p:blipFill>
          <a:blip r:embed="rId3"/>
          <a:srcRect l="2" r="2"/>
          <a:stretch>
            <a:fillRect/>
          </a:stretch>
        </p:blipFill>
        <p:spPr/>
      </p:pic>
    </p:spTree>
    <p:extLst>
      <p:ext uri="{BB962C8B-B14F-4D97-AF65-F5344CB8AC3E}">
        <p14:creationId xmlns:p14="http://schemas.microsoft.com/office/powerpoint/2010/main" val="77712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A</a:t>
            </a:r>
            <a:r>
              <a:rPr lang="es-PE" dirty="0" smtClean="0"/>
              <a:t>nalizar estado actual</a:t>
            </a:r>
            <a:endParaRPr lang="es-PE" dirty="0"/>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103687" cy="3609068"/>
          </a:xfrm>
        </p:spPr>
        <p:txBody>
          <a:bodyPr/>
          <a:lstStyle/>
          <a:p>
            <a:r>
              <a:rPr lang="es-ES" dirty="0"/>
              <a:t>Su objetivo es </a:t>
            </a:r>
            <a:r>
              <a:rPr lang="es-ES" b="1" dirty="0"/>
              <a:t>comprender las razones</a:t>
            </a:r>
            <a:r>
              <a:rPr lang="es-ES" dirty="0"/>
              <a:t> por las que una empresa necesita cambiar algún aspecto de cómo opera y qué </a:t>
            </a:r>
            <a:r>
              <a:rPr lang="es-ES" dirty="0" smtClean="0"/>
              <a:t>aspectos serían afectados por </a:t>
            </a:r>
            <a:r>
              <a:rPr lang="es-ES" dirty="0"/>
              <a:t>el cambio.</a:t>
            </a:r>
          </a:p>
          <a:p>
            <a:r>
              <a:rPr lang="es-ES" dirty="0"/>
              <a:t>El estado actual se explora con suficiente detalle para validar la necesidad de un cambio y/o la estrategia de cambio.</a:t>
            </a:r>
          </a:p>
          <a:p>
            <a:r>
              <a:rPr lang="es-ES" dirty="0"/>
              <a:t>Los influenciadores internos y externos, así como otros cambios organizacionales, pueden afectar el estado actual de manera que fuercen alteraciones en el estado futuro deseado, cambien la estrategia o los requisitos y diseños.</a:t>
            </a:r>
            <a:endParaRPr lang="es-PE" dirty="0"/>
          </a:p>
        </p:txBody>
      </p:sp>
      <p:pic>
        <p:nvPicPr>
          <p:cNvPr id="6" name="Marcador de posición de imagen 5">
            <a:extLst>
              <a:ext uri="{FF2B5EF4-FFF2-40B4-BE49-F238E27FC236}">
                <a16:creationId xmlns:a16="http://schemas.microsoft.com/office/drawing/2014/main" id="{83FCE9D9-5C68-692A-6506-D7C303557991}"/>
              </a:ext>
            </a:extLst>
          </p:cNvPr>
          <p:cNvPicPr>
            <a:picLocks noGrp="1" noChangeAspect="1"/>
          </p:cNvPicPr>
          <p:nvPr>
            <p:ph type="pic" sz="quarter" idx="10"/>
          </p:nvPr>
        </p:nvPicPr>
        <p:blipFill>
          <a:blip r:embed="rId3"/>
          <a:srcRect l="118" r="118"/>
          <a:stretch>
            <a:fillRect/>
          </a:stretch>
        </p:blipFill>
        <p:spPr/>
      </p:pic>
      <p:sp>
        <p:nvSpPr>
          <p:cNvPr id="7"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a:xfrm>
            <a:off x="468313" y="277813"/>
            <a:ext cx="8207375" cy="354012"/>
          </a:xfrm>
        </p:spPr>
        <p:txBody>
          <a:bodyPr/>
          <a:lstStyle/>
          <a:p>
            <a:r>
              <a:rPr lang="es-PE" dirty="0"/>
              <a:t>/ ANÁLISIS </a:t>
            </a:r>
            <a:r>
              <a:rPr lang="es-PE" dirty="0" smtClean="0"/>
              <a:t>ESTRATÉGICO</a:t>
            </a:r>
            <a:endParaRPr lang="es-PE" dirty="0"/>
          </a:p>
        </p:txBody>
      </p:sp>
    </p:spTree>
    <p:extLst>
      <p:ext uri="{BB962C8B-B14F-4D97-AF65-F5344CB8AC3E}">
        <p14:creationId xmlns:p14="http://schemas.microsoft.com/office/powerpoint/2010/main" val="4227728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D</a:t>
            </a:r>
            <a:r>
              <a:rPr lang="es-PE" dirty="0" smtClean="0"/>
              <a:t>efinir estado futuro</a:t>
            </a:r>
            <a:endParaRPr lang="es-PE" dirty="0"/>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460664" cy="4111625"/>
          </a:xfrm>
        </p:spPr>
        <p:txBody>
          <a:bodyPr/>
          <a:lstStyle/>
          <a:p>
            <a:r>
              <a:rPr lang="es-ES" dirty="0"/>
              <a:t>Su objetivo es determinar el conjunto de </a:t>
            </a:r>
            <a:r>
              <a:rPr lang="es-ES" b="1" dirty="0"/>
              <a:t>condiciones necesarias para satisfacer la necesidad del negocio</a:t>
            </a:r>
            <a:r>
              <a:rPr lang="es-ES" dirty="0"/>
              <a:t>.</a:t>
            </a:r>
          </a:p>
          <a:p>
            <a:pPr>
              <a:spcAft>
                <a:spcPts val="600"/>
              </a:spcAft>
            </a:pPr>
            <a:r>
              <a:rPr lang="es-ES" dirty="0"/>
              <a:t>Se definirá a un nivel de detalle </a:t>
            </a:r>
            <a:r>
              <a:rPr lang="es-ES" dirty="0" smtClean="0"/>
              <a:t>los siguiente:</a:t>
            </a:r>
            <a:endParaRPr lang="es-ES" dirty="0"/>
          </a:p>
          <a:p>
            <a:pPr lvl="1">
              <a:spcAft>
                <a:spcPts val="600"/>
              </a:spcAft>
            </a:pPr>
            <a:r>
              <a:rPr lang="es-ES" sz="1500" dirty="0" smtClean="0"/>
              <a:t>Que se identifiquen las estrategias </a:t>
            </a:r>
            <a:r>
              <a:rPr lang="es-ES" sz="1500" dirty="0"/>
              <a:t>en competencia para lograr el estado futuro y </a:t>
            </a:r>
            <a:r>
              <a:rPr lang="es-ES" sz="1500" dirty="0" smtClean="0"/>
              <a:t>evaluarlo.</a:t>
            </a:r>
            <a:endParaRPr lang="es-ES" sz="1500" dirty="0"/>
          </a:p>
          <a:p>
            <a:pPr lvl="1">
              <a:spcAft>
                <a:spcPts val="600"/>
              </a:spcAft>
            </a:pPr>
            <a:r>
              <a:rPr lang="es-ES" sz="1500" dirty="0" smtClean="0"/>
              <a:t>Que se definan </a:t>
            </a:r>
            <a:r>
              <a:rPr lang="es-ES" sz="1500" dirty="0"/>
              <a:t>los resultados que satisfarán al negocio </a:t>
            </a:r>
            <a:r>
              <a:rPr lang="es-ES" sz="1500" dirty="0" smtClean="0"/>
              <a:t>y sus necesidades</a:t>
            </a:r>
            <a:r>
              <a:rPr lang="es-ES" sz="1500" dirty="0"/>
              <a:t>.</a:t>
            </a:r>
          </a:p>
          <a:p>
            <a:pPr lvl="1">
              <a:spcAft>
                <a:spcPts val="600"/>
              </a:spcAft>
            </a:pPr>
            <a:r>
              <a:rPr lang="es-ES" sz="1500" dirty="0" smtClean="0"/>
              <a:t>Que se precise </a:t>
            </a:r>
            <a:r>
              <a:rPr lang="es-ES" sz="1500" dirty="0"/>
              <a:t>el alcance del espacio de </a:t>
            </a:r>
            <a:r>
              <a:rPr lang="es-ES" sz="1500" dirty="0" smtClean="0"/>
              <a:t>solución.</a:t>
            </a:r>
            <a:endParaRPr lang="es-ES" sz="1500" dirty="0"/>
          </a:p>
          <a:p>
            <a:pPr lvl="1">
              <a:spcAft>
                <a:spcPts val="600"/>
              </a:spcAft>
            </a:pPr>
            <a:r>
              <a:rPr lang="es-ES" sz="1500" dirty="0" smtClean="0"/>
              <a:t>Que se permita </a:t>
            </a:r>
            <a:r>
              <a:rPr lang="es-ES" sz="1500" dirty="0"/>
              <a:t>evaluar el valor asociado con el estado </a:t>
            </a:r>
            <a:r>
              <a:rPr lang="es-ES" sz="1500" dirty="0" smtClean="0"/>
              <a:t>futuro</a:t>
            </a:r>
            <a:r>
              <a:rPr lang="es-ES" sz="1500" dirty="0"/>
              <a:t>.</a:t>
            </a:r>
          </a:p>
          <a:p>
            <a:pPr lvl="1">
              <a:spcAft>
                <a:spcPts val="600"/>
              </a:spcAft>
            </a:pPr>
            <a:r>
              <a:rPr lang="es-ES" sz="1500" dirty="0" smtClean="0"/>
              <a:t>Que se permita </a:t>
            </a:r>
            <a:r>
              <a:rPr lang="es-ES" sz="1500" dirty="0"/>
              <a:t>lograr el consenso entre los </a:t>
            </a:r>
            <a:r>
              <a:rPr lang="es-ES" sz="1500" i="1" dirty="0"/>
              <a:t>stakeholders</a:t>
            </a:r>
            <a:r>
              <a:rPr lang="es-ES" sz="1500" dirty="0"/>
              <a:t> clave.</a:t>
            </a:r>
          </a:p>
        </p:txBody>
      </p:sp>
      <p:pic>
        <p:nvPicPr>
          <p:cNvPr id="4" name="Marcador de posición de imagen 3">
            <a:extLst>
              <a:ext uri="{FF2B5EF4-FFF2-40B4-BE49-F238E27FC236}">
                <a16:creationId xmlns:a16="http://schemas.microsoft.com/office/drawing/2014/main" id="{A00F8631-2406-E32D-5F2A-46891F426B91}"/>
              </a:ext>
            </a:extLst>
          </p:cNvPr>
          <p:cNvPicPr>
            <a:picLocks noGrp="1" noChangeAspect="1"/>
          </p:cNvPicPr>
          <p:nvPr>
            <p:ph type="pic" sz="quarter" idx="10"/>
          </p:nvPr>
        </p:nvPicPr>
        <p:blipFill>
          <a:blip r:embed="rId3"/>
          <a:srcRect l="118" r="118"/>
          <a:stretch>
            <a:fillRect/>
          </a:stretch>
        </p:blipFill>
        <p:spPr>
          <a:xfrm>
            <a:off x="4928977" y="824500"/>
            <a:ext cx="4086000" cy="4446000"/>
          </a:xfrm>
        </p:spPr>
      </p:pic>
      <p:sp>
        <p:nvSpPr>
          <p:cNvPr id="7"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a:xfrm>
            <a:off x="468313" y="277813"/>
            <a:ext cx="8207375" cy="354012"/>
          </a:xfrm>
        </p:spPr>
        <p:txBody>
          <a:bodyPr/>
          <a:lstStyle/>
          <a:p>
            <a:r>
              <a:rPr lang="es-PE" dirty="0"/>
              <a:t>/ ANÁLISIS </a:t>
            </a:r>
            <a:r>
              <a:rPr lang="es-PE" dirty="0" smtClean="0"/>
              <a:t>ESTRATÉGICO</a:t>
            </a:r>
            <a:endParaRPr lang="es-PE" dirty="0"/>
          </a:p>
        </p:txBody>
      </p:sp>
    </p:spTree>
    <p:extLst>
      <p:ext uri="{BB962C8B-B14F-4D97-AF65-F5344CB8AC3E}">
        <p14:creationId xmlns:p14="http://schemas.microsoft.com/office/powerpoint/2010/main" val="29073561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a:t>
            </a:r>
            <a:r>
              <a:rPr lang="es-PE" dirty="0" smtClean="0"/>
              <a:t>valuar riesgos</a:t>
            </a:r>
            <a:endParaRPr lang="es-PE" dirty="0"/>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103687" cy="3971924"/>
          </a:xfrm>
        </p:spPr>
        <p:txBody>
          <a:bodyPr/>
          <a:lstStyle/>
          <a:p>
            <a:r>
              <a:rPr lang="es-ES" dirty="0"/>
              <a:t>Su objetivo es </a:t>
            </a:r>
            <a:r>
              <a:rPr lang="es-ES" b="1" dirty="0"/>
              <a:t>comprender las consecuencias indeseables</a:t>
            </a:r>
            <a:r>
              <a:rPr lang="es-ES" dirty="0"/>
              <a:t> de las fuerzas internas y externas en la empresa durante una transición </a:t>
            </a:r>
            <a:r>
              <a:rPr lang="es-ES" dirty="0" smtClean="0"/>
              <a:t>hacia el </a:t>
            </a:r>
            <a:r>
              <a:rPr lang="es-ES" dirty="0"/>
              <a:t>estado </a:t>
            </a:r>
            <a:r>
              <a:rPr lang="es-ES" dirty="0" smtClean="0"/>
              <a:t>futuro o estando en él.</a:t>
            </a:r>
            <a:endParaRPr lang="es-ES" dirty="0"/>
          </a:p>
          <a:p>
            <a:pPr>
              <a:spcAft>
                <a:spcPts val="600"/>
              </a:spcAft>
            </a:pPr>
            <a:r>
              <a:rPr lang="es-ES" dirty="0"/>
              <a:t>Evaluar los riesgos incluye analizarlos y gestionarlos. Los riesgos se analizan </a:t>
            </a:r>
            <a:r>
              <a:rPr lang="es-ES" dirty="0" smtClean="0"/>
              <a:t>para enfrentar lo siguiente:</a:t>
            </a:r>
            <a:endParaRPr lang="es-ES" dirty="0"/>
          </a:p>
          <a:p>
            <a:pPr lvl="1">
              <a:spcAft>
                <a:spcPts val="600"/>
              </a:spcAft>
            </a:pPr>
            <a:r>
              <a:rPr lang="es-ES" dirty="0"/>
              <a:t>Posibles consecuencias si se produce el </a:t>
            </a:r>
            <a:r>
              <a:rPr lang="es-ES" dirty="0" smtClean="0"/>
              <a:t>riesgo.</a:t>
            </a:r>
            <a:endParaRPr lang="es-ES" dirty="0"/>
          </a:p>
          <a:p>
            <a:pPr lvl="1">
              <a:spcAft>
                <a:spcPts val="600"/>
              </a:spcAft>
            </a:pPr>
            <a:r>
              <a:rPr lang="es-ES" dirty="0"/>
              <a:t>Impacto de esas </a:t>
            </a:r>
            <a:r>
              <a:rPr lang="es-ES" dirty="0" smtClean="0"/>
              <a:t>consecuencias.</a:t>
            </a:r>
            <a:endParaRPr lang="es-ES" dirty="0"/>
          </a:p>
          <a:p>
            <a:pPr lvl="1">
              <a:spcAft>
                <a:spcPts val="600"/>
              </a:spcAft>
            </a:pPr>
            <a:r>
              <a:rPr lang="es-ES" dirty="0"/>
              <a:t>Probabilidad del </a:t>
            </a:r>
            <a:r>
              <a:rPr lang="es-ES" dirty="0" smtClean="0"/>
              <a:t>riesgo</a:t>
            </a:r>
            <a:r>
              <a:rPr lang="es-ES" dirty="0"/>
              <a:t>.</a:t>
            </a:r>
          </a:p>
          <a:p>
            <a:pPr lvl="1"/>
            <a:r>
              <a:rPr lang="es-ES" dirty="0"/>
              <a:t>Marco de tiempo potencial en el que podría ocurrir el riesgo.</a:t>
            </a:r>
          </a:p>
        </p:txBody>
      </p:sp>
      <p:pic>
        <p:nvPicPr>
          <p:cNvPr id="4" name="Marcador de posición de imagen 3">
            <a:extLst>
              <a:ext uri="{FF2B5EF4-FFF2-40B4-BE49-F238E27FC236}">
                <a16:creationId xmlns:a16="http://schemas.microsoft.com/office/drawing/2014/main" id="{894982F6-37DC-CD31-5D3B-68B989A96E6F}"/>
              </a:ext>
            </a:extLst>
          </p:cNvPr>
          <p:cNvPicPr>
            <a:picLocks noGrp="1" noChangeAspect="1"/>
          </p:cNvPicPr>
          <p:nvPr>
            <p:ph type="pic" sz="quarter" idx="10"/>
          </p:nvPr>
        </p:nvPicPr>
        <p:blipFill>
          <a:blip r:embed="rId3"/>
          <a:srcRect l="118" r="118"/>
          <a:stretch>
            <a:fillRect/>
          </a:stretch>
        </p:blipFill>
        <p:spPr/>
      </p:pic>
      <p:sp>
        <p:nvSpPr>
          <p:cNvPr id="7"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a:xfrm>
            <a:off x="468313" y="277813"/>
            <a:ext cx="8207375" cy="354012"/>
          </a:xfrm>
        </p:spPr>
        <p:txBody>
          <a:bodyPr/>
          <a:lstStyle/>
          <a:p>
            <a:r>
              <a:rPr lang="es-PE" dirty="0"/>
              <a:t>/ ANÁLISIS </a:t>
            </a:r>
            <a:r>
              <a:rPr lang="es-PE" dirty="0" smtClean="0"/>
              <a:t>ESTRATÉGICO</a:t>
            </a:r>
            <a:endParaRPr lang="es-PE" dirty="0"/>
          </a:p>
        </p:txBody>
      </p:sp>
    </p:spTree>
    <p:extLst>
      <p:ext uri="{BB962C8B-B14F-4D97-AF65-F5344CB8AC3E}">
        <p14:creationId xmlns:p14="http://schemas.microsoft.com/office/powerpoint/2010/main" val="3625585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D</a:t>
            </a:r>
            <a:r>
              <a:rPr lang="es-PE" dirty="0" smtClean="0"/>
              <a:t>efinir estrategia de cambio</a:t>
            </a:r>
            <a:endParaRPr lang="es-PE" dirty="0"/>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373579" cy="4029982"/>
          </a:xfrm>
        </p:spPr>
        <p:txBody>
          <a:bodyPr/>
          <a:lstStyle/>
          <a:p>
            <a:r>
              <a:rPr lang="es-ES" dirty="0"/>
              <a:t>Su objetivo es </a:t>
            </a:r>
            <a:r>
              <a:rPr lang="es-ES" b="1" dirty="0"/>
              <a:t>desarrollar y evaluar enfoques alternativos</a:t>
            </a:r>
            <a:r>
              <a:rPr lang="es-ES" dirty="0"/>
              <a:t> para el cambio y luego seleccionar el enfoque recomendado.</a:t>
            </a:r>
          </a:p>
          <a:p>
            <a:pPr>
              <a:spcAft>
                <a:spcPts val="600"/>
              </a:spcAft>
            </a:pPr>
            <a:r>
              <a:rPr lang="es-ES" dirty="0"/>
              <a:t>Describe el cambio en términos </a:t>
            </a:r>
            <a:r>
              <a:rPr lang="es-ES" dirty="0" smtClean="0"/>
              <a:t>de lo siguiente:</a:t>
            </a:r>
            <a:endParaRPr lang="es-ES" dirty="0"/>
          </a:p>
          <a:p>
            <a:pPr lvl="1">
              <a:spcAft>
                <a:spcPts val="600"/>
              </a:spcAft>
            </a:pPr>
            <a:r>
              <a:rPr lang="es-ES" dirty="0"/>
              <a:t>Contexto del </a:t>
            </a:r>
            <a:r>
              <a:rPr lang="es-ES" dirty="0" smtClean="0"/>
              <a:t>cambio. </a:t>
            </a:r>
            <a:endParaRPr lang="es-ES" dirty="0"/>
          </a:p>
          <a:p>
            <a:pPr lvl="1">
              <a:spcAft>
                <a:spcPts val="600"/>
              </a:spcAft>
            </a:pPr>
            <a:r>
              <a:rPr lang="es-ES" dirty="0"/>
              <a:t>Estrategias de cambio </a:t>
            </a:r>
            <a:r>
              <a:rPr lang="es-ES" dirty="0" smtClean="0"/>
              <a:t>alternativas. </a:t>
            </a:r>
            <a:endParaRPr lang="es-ES" dirty="0"/>
          </a:p>
          <a:p>
            <a:pPr lvl="1">
              <a:spcAft>
                <a:spcPts val="600"/>
              </a:spcAft>
            </a:pPr>
            <a:r>
              <a:rPr lang="es-ES" dirty="0"/>
              <a:t>Justificación del mejor </a:t>
            </a:r>
            <a:r>
              <a:rPr lang="es-ES" dirty="0" smtClean="0"/>
              <a:t>enfoque. </a:t>
            </a:r>
            <a:endParaRPr lang="es-ES" dirty="0"/>
          </a:p>
          <a:p>
            <a:pPr lvl="1">
              <a:spcAft>
                <a:spcPts val="600"/>
              </a:spcAft>
            </a:pPr>
            <a:r>
              <a:rPr lang="es-ES" dirty="0"/>
              <a:t>Inversión y recursos necesarios para trabajar hacia el estado </a:t>
            </a:r>
            <a:r>
              <a:rPr lang="es-ES" dirty="0" smtClean="0"/>
              <a:t>futuro. </a:t>
            </a:r>
            <a:endParaRPr lang="es-ES" dirty="0"/>
          </a:p>
          <a:p>
            <a:pPr lvl="1">
              <a:spcAft>
                <a:spcPts val="600"/>
              </a:spcAft>
            </a:pPr>
            <a:r>
              <a:rPr lang="es-ES" dirty="0"/>
              <a:t>Cómo la empresa obtendrá valor después de que se entregue la </a:t>
            </a:r>
            <a:r>
              <a:rPr lang="es-ES" dirty="0" smtClean="0"/>
              <a:t>solución.</a:t>
            </a:r>
            <a:endParaRPr lang="es-ES" dirty="0"/>
          </a:p>
          <a:p>
            <a:pPr lvl="1">
              <a:spcAft>
                <a:spcPts val="600"/>
              </a:spcAft>
            </a:pPr>
            <a:r>
              <a:rPr lang="es-ES" i="1" dirty="0"/>
              <a:t>Stakeholders</a:t>
            </a:r>
            <a:r>
              <a:rPr lang="es-ES" dirty="0"/>
              <a:t> clave en el </a:t>
            </a:r>
            <a:r>
              <a:rPr lang="es-ES" dirty="0" smtClean="0"/>
              <a:t>cambio</a:t>
            </a:r>
            <a:r>
              <a:rPr lang="es-ES" dirty="0"/>
              <a:t>.</a:t>
            </a:r>
            <a:endParaRPr lang="es-ES" dirty="0"/>
          </a:p>
          <a:p>
            <a:pPr lvl="1"/>
            <a:r>
              <a:rPr lang="es-ES" dirty="0"/>
              <a:t>Estados de transición a lo largo del camino.</a:t>
            </a:r>
          </a:p>
        </p:txBody>
      </p:sp>
      <p:pic>
        <p:nvPicPr>
          <p:cNvPr id="4" name="Marcador de posición de imagen 3">
            <a:extLst>
              <a:ext uri="{FF2B5EF4-FFF2-40B4-BE49-F238E27FC236}">
                <a16:creationId xmlns:a16="http://schemas.microsoft.com/office/drawing/2014/main" id="{9E3308C2-13AF-3E2A-8294-EB2E7DF4E136}"/>
              </a:ext>
            </a:extLst>
          </p:cNvPr>
          <p:cNvPicPr>
            <a:picLocks noGrp="1" noChangeAspect="1"/>
          </p:cNvPicPr>
          <p:nvPr>
            <p:ph type="pic" sz="quarter" idx="10"/>
          </p:nvPr>
        </p:nvPicPr>
        <p:blipFill>
          <a:blip r:embed="rId3"/>
          <a:srcRect l="118" r="118"/>
          <a:stretch>
            <a:fillRect/>
          </a:stretch>
        </p:blipFill>
        <p:spPr>
          <a:xfrm>
            <a:off x="4841892" y="816438"/>
            <a:ext cx="4086000" cy="4446000"/>
          </a:xfrm>
        </p:spPr>
      </p:pic>
      <p:sp>
        <p:nvSpPr>
          <p:cNvPr id="7"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a:xfrm>
            <a:off x="468313" y="277813"/>
            <a:ext cx="8207375" cy="354012"/>
          </a:xfrm>
        </p:spPr>
        <p:txBody>
          <a:bodyPr/>
          <a:lstStyle/>
          <a:p>
            <a:r>
              <a:rPr lang="es-PE" dirty="0"/>
              <a:t>/ ANÁLISIS </a:t>
            </a:r>
            <a:r>
              <a:rPr lang="es-PE" dirty="0" smtClean="0"/>
              <a:t>ESTRATÉGICO</a:t>
            </a:r>
            <a:endParaRPr lang="es-PE" dirty="0"/>
          </a:p>
        </p:txBody>
      </p:sp>
    </p:spTree>
    <p:extLst>
      <p:ext uri="{BB962C8B-B14F-4D97-AF65-F5344CB8AC3E}">
        <p14:creationId xmlns:p14="http://schemas.microsoft.com/office/powerpoint/2010/main" val="18651235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B664F2-7CB4-48B1-9096-E52469E94D93}"/>
              </a:ext>
            </a:extLst>
          </p:cNvPr>
          <p:cNvSpPr>
            <a:spLocks noGrp="1"/>
          </p:cNvSpPr>
          <p:nvPr>
            <p:ph type="body" sz="quarter" idx="10"/>
          </p:nvPr>
        </p:nvSpPr>
        <p:spPr/>
        <p:txBody>
          <a:bodyPr/>
          <a:lstStyle/>
          <a:p>
            <a:pPr marL="274638" indent="-274638">
              <a:tabLst>
                <a:tab pos="274638" algn="l"/>
              </a:tabLst>
            </a:pPr>
            <a:r>
              <a:rPr lang="es-PE" dirty="0"/>
              <a:t>/	DEFINICIÓN DEL DISEÑO DE LA SOLUCIÓN</a:t>
            </a:r>
          </a:p>
        </p:txBody>
      </p:sp>
    </p:spTree>
    <p:custDataLst>
      <p:tags r:id="rId1"/>
    </p:custDataLst>
    <p:extLst>
      <p:ext uri="{BB962C8B-B14F-4D97-AF65-F5344CB8AC3E}">
        <p14:creationId xmlns:p14="http://schemas.microsoft.com/office/powerpoint/2010/main" val="3755900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T</a:t>
            </a:r>
            <a:r>
              <a:rPr lang="es-PE" dirty="0" smtClean="0"/>
              <a:t>areas</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DEFINICIÓN DEL DISEÑO DE LA SOLUCIÓN</a:t>
            </a:r>
          </a:p>
        </p:txBody>
      </p:sp>
      <p:sp>
        <p:nvSpPr>
          <p:cNvPr id="2" name="Marcador de texto 1">
            <a:extLst>
              <a:ext uri="{FF2B5EF4-FFF2-40B4-BE49-F238E27FC236}">
                <a16:creationId xmlns:a16="http://schemas.microsoft.com/office/drawing/2014/main" id="{192A0349-9565-4745-050D-42D1EB8C9CE3}"/>
              </a:ext>
            </a:extLst>
          </p:cNvPr>
          <p:cNvSpPr>
            <a:spLocks noGrp="1"/>
          </p:cNvSpPr>
          <p:nvPr>
            <p:ph type="body" sz="quarter" idx="14"/>
          </p:nvPr>
        </p:nvSpPr>
        <p:spPr>
          <a:xfrm>
            <a:off x="468313" y="1158876"/>
            <a:ext cx="4103687" cy="3761468"/>
          </a:xfrm>
        </p:spPr>
        <p:txBody>
          <a:bodyPr/>
          <a:lstStyle/>
          <a:p>
            <a:r>
              <a:rPr lang="es-ES" dirty="0"/>
              <a:t>Cubre las actividades incrementales  e  iterativas  que  van </a:t>
            </a:r>
            <a:r>
              <a:rPr lang="es-ES" b="1" dirty="0"/>
              <a:t>desde el concepto inicial</a:t>
            </a:r>
            <a:r>
              <a:rPr lang="es-ES" dirty="0"/>
              <a:t> y la exploración de la necesidad hasta la transformación de esas necesidades </a:t>
            </a:r>
            <a:r>
              <a:rPr lang="es-ES" b="1" dirty="0"/>
              <a:t>en una solución particular</a:t>
            </a:r>
            <a:r>
              <a:rPr lang="es-ES" dirty="0"/>
              <a:t> recomendada.</a:t>
            </a:r>
          </a:p>
          <a:p>
            <a:r>
              <a:rPr lang="es-ES" dirty="0"/>
              <a:t>El rol del analista en el modelado de necesidades, requisitos, diseños y soluciones es esencial.</a:t>
            </a:r>
          </a:p>
          <a:p>
            <a:r>
              <a:rPr lang="es-ES" dirty="0"/>
              <a:t>La forma, el nivel de detalle y lo que se modela dependen del contexto, la audiencia y el propósito.</a:t>
            </a:r>
          </a:p>
          <a:p>
            <a:r>
              <a:rPr lang="es-ES" dirty="0"/>
              <a:t>Esta área de conocimiento incluye las tareas que se muestran en la figura.</a:t>
            </a:r>
          </a:p>
        </p:txBody>
      </p:sp>
      <p:pic>
        <p:nvPicPr>
          <p:cNvPr id="6" name="Marcador de posición de imagen 5">
            <a:extLst>
              <a:ext uri="{FF2B5EF4-FFF2-40B4-BE49-F238E27FC236}">
                <a16:creationId xmlns:a16="http://schemas.microsoft.com/office/drawing/2014/main" id="{2D719750-808B-EA82-0708-E3F1F89DCD01}"/>
              </a:ext>
            </a:extLst>
          </p:cNvPr>
          <p:cNvPicPr>
            <a:picLocks noGrp="1" noChangeAspect="1"/>
          </p:cNvPicPr>
          <p:nvPr>
            <p:ph type="pic" sz="quarter" idx="10"/>
          </p:nvPr>
        </p:nvPicPr>
        <p:blipFill rotWithShape="1">
          <a:blip r:embed="rId3"/>
          <a:srcRect l="2" t="12584" r="713"/>
          <a:stretch/>
        </p:blipFill>
        <p:spPr>
          <a:xfrm>
            <a:off x="5058000" y="1124857"/>
            <a:ext cx="4056971" cy="3886520"/>
          </a:xfrm>
        </p:spPr>
      </p:pic>
    </p:spTree>
    <p:extLst>
      <p:ext uri="{BB962C8B-B14F-4D97-AF65-F5344CB8AC3E}">
        <p14:creationId xmlns:p14="http://schemas.microsoft.com/office/powerpoint/2010/main" val="577857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a:t>
            </a:r>
            <a:r>
              <a:rPr lang="es-PE" dirty="0" smtClean="0"/>
              <a:t>specificar y modelar requisitos</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DEFINICIÓN DEL DISEÑO DE LA SOLUCIÓN</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103687" cy="3812268"/>
          </a:xfrm>
        </p:spPr>
        <p:txBody>
          <a:bodyPr/>
          <a:lstStyle/>
          <a:p>
            <a:r>
              <a:rPr lang="es-ES" dirty="0"/>
              <a:t>Su objetivo es analizar, sintetizar y refinar los resultados de la elicitación de requisitos y diseños.</a:t>
            </a:r>
          </a:p>
          <a:p>
            <a:pPr>
              <a:spcAft>
                <a:spcPts val="600"/>
              </a:spcAft>
            </a:pPr>
            <a:r>
              <a:rPr lang="es-ES" dirty="0"/>
              <a:t>Cuando el enfoque de la actividad de especificación y modelado está en :</a:t>
            </a:r>
          </a:p>
          <a:p>
            <a:pPr lvl="1">
              <a:spcAft>
                <a:spcPts val="600"/>
              </a:spcAft>
            </a:pPr>
            <a:r>
              <a:rPr lang="es-ES" dirty="0"/>
              <a:t>La comprensión de la necesidad, </a:t>
            </a:r>
            <a:r>
              <a:rPr lang="es-ES" b="1" dirty="0"/>
              <a:t>los resultados se denominan requisitos</a:t>
            </a:r>
            <a:r>
              <a:rPr lang="es-ES" dirty="0"/>
              <a:t>.</a:t>
            </a:r>
          </a:p>
          <a:p>
            <a:pPr lvl="1"/>
            <a:r>
              <a:rPr lang="es-ES" dirty="0"/>
              <a:t>Una solución, </a:t>
            </a:r>
            <a:r>
              <a:rPr lang="es-ES" b="1" dirty="0"/>
              <a:t>los resultados se denominan diseños</a:t>
            </a:r>
            <a:r>
              <a:rPr lang="es-ES" dirty="0"/>
              <a:t>.</a:t>
            </a:r>
          </a:p>
          <a:p>
            <a:r>
              <a:rPr lang="es-ES" dirty="0"/>
              <a:t>Además de los modelos utilizados para representar los requisitos, esta tarea también incluye capturar información sobre atributos o metadatos sobre los requisitos.</a:t>
            </a:r>
          </a:p>
        </p:txBody>
      </p:sp>
      <p:pic>
        <p:nvPicPr>
          <p:cNvPr id="5" name="Marcador de posición de imagen 4">
            <a:extLst>
              <a:ext uri="{FF2B5EF4-FFF2-40B4-BE49-F238E27FC236}">
                <a16:creationId xmlns:a16="http://schemas.microsoft.com/office/drawing/2014/main" id="{4C6CB9C4-C29E-0A1F-FE36-29AF11A05CBE}"/>
              </a:ext>
            </a:extLst>
          </p:cNvPr>
          <p:cNvPicPr>
            <a:picLocks noGrp="1" noChangeAspect="1"/>
          </p:cNvPicPr>
          <p:nvPr>
            <p:ph type="pic" sz="quarter" idx="10"/>
          </p:nvPr>
        </p:nvPicPr>
        <p:blipFill>
          <a:blip r:embed="rId3"/>
          <a:srcRect l="118" r="118"/>
          <a:stretch>
            <a:fillRect/>
          </a:stretch>
        </p:blipFill>
        <p:spPr/>
      </p:pic>
    </p:spTree>
    <p:extLst>
      <p:ext uri="{BB962C8B-B14F-4D97-AF65-F5344CB8AC3E}">
        <p14:creationId xmlns:p14="http://schemas.microsoft.com/office/powerpoint/2010/main" val="192818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V</a:t>
            </a:r>
            <a:r>
              <a:rPr lang="es-PE" dirty="0" smtClean="0"/>
              <a:t>erificar requisitos</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DEFINICIÓN DEL DISEÑO DE LA SOLUCIÓN</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103687" cy="3616325"/>
          </a:xfrm>
        </p:spPr>
        <p:txBody>
          <a:bodyPr/>
          <a:lstStyle/>
          <a:p>
            <a:r>
              <a:rPr lang="es-ES" dirty="0"/>
              <a:t>Su objetivo es garantizar que los requisitos, las especificaciones de diseño y los modelos </a:t>
            </a:r>
            <a:r>
              <a:rPr lang="es-ES" b="1" dirty="0"/>
              <a:t>cumplan con los estándares de calidad</a:t>
            </a:r>
            <a:r>
              <a:rPr lang="es-ES" dirty="0"/>
              <a:t> y sean utilizables para el propósito definido.</a:t>
            </a:r>
          </a:p>
          <a:p>
            <a:r>
              <a:rPr lang="es-ES" dirty="0"/>
              <a:t>Constituye una verificación por parte del analista  y los </a:t>
            </a:r>
            <a:r>
              <a:rPr lang="es-ES" i="1" dirty="0"/>
              <a:t>stakeholders</a:t>
            </a:r>
            <a:r>
              <a:rPr lang="es-ES" dirty="0"/>
              <a:t> clave para determinar que los requisitos y diseños están listos para la validación.</a:t>
            </a:r>
          </a:p>
          <a:p>
            <a:r>
              <a:rPr lang="es-ES" dirty="0"/>
              <a:t>La característica más importante de los requisitos y diseños de calidad es </a:t>
            </a:r>
            <a:r>
              <a:rPr lang="es-ES" b="1" dirty="0"/>
              <a:t>la idoneidad para el uso</a:t>
            </a:r>
            <a:r>
              <a:rPr lang="es-ES" dirty="0"/>
              <a:t>. Deben satisfacer las necesidades de los </a:t>
            </a:r>
            <a:r>
              <a:rPr lang="es-ES" i="1" dirty="0"/>
              <a:t>stakeholders</a:t>
            </a:r>
            <a:r>
              <a:rPr lang="es-ES" dirty="0"/>
              <a:t> que los utilizarán para un propósito particular.</a:t>
            </a:r>
            <a:endParaRPr lang="es-PE" dirty="0"/>
          </a:p>
        </p:txBody>
      </p:sp>
      <p:pic>
        <p:nvPicPr>
          <p:cNvPr id="4" name="Marcador de posición de imagen 3">
            <a:extLst>
              <a:ext uri="{FF2B5EF4-FFF2-40B4-BE49-F238E27FC236}">
                <a16:creationId xmlns:a16="http://schemas.microsoft.com/office/drawing/2014/main" id="{FD277C8A-8247-B2A8-A3B4-7413F4081CCB}"/>
              </a:ext>
            </a:extLst>
          </p:cNvPr>
          <p:cNvPicPr>
            <a:picLocks noGrp="1" noChangeAspect="1"/>
          </p:cNvPicPr>
          <p:nvPr>
            <p:ph type="pic" sz="quarter" idx="10"/>
          </p:nvPr>
        </p:nvPicPr>
        <p:blipFill>
          <a:blip r:embed="rId3"/>
          <a:srcRect l="118" r="118"/>
          <a:stretch>
            <a:fillRect/>
          </a:stretch>
        </p:blipFill>
        <p:spPr/>
      </p:pic>
    </p:spTree>
    <p:extLst>
      <p:ext uri="{BB962C8B-B14F-4D97-AF65-F5344CB8AC3E}">
        <p14:creationId xmlns:p14="http://schemas.microsoft.com/office/powerpoint/2010/main" val="2788396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V</a:t>
            </a:r>
            <a:r>
              <a:rPr lang="es-PE" dirty="0" smtClean="0"/>
              <a:t>alidar requisitos</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DEFINICIÓN DEL DISEÑO DE LA SOLUCIÓN</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103687" cy="3224439"/>
          </a:xfrm>
        </p:spPr>
        <p:txBody>
          <a:bodyPr/>
          <a:lstStyle/>
          <a:p>
            <a:r>
              <a:rPr lang="es-ES" dirty="0"/>
              <a:t>Su objetivo es asegurar que todos los requisitos y los diseños </a:t>
            </a:r>
            <a:r>
              <a:rPr lang="es-ES" b="1" dirty="0"/>
              <a:t>se alinean con los requisitos de negocio</a:t>
            </a:r>
            <a:r>
              <a:rPr lang="es-ES" dirty="0"/>
              <a:t> y respaldan la entrega del valor necesario.</a:t>
            </a:r>
          </a:p>
          <a:p>
            <a:r>
              <a:rPr lang="es-ES" dirty="0"/>
              <a:t>El objetivo general de implementar los requisitos es lograr el estado futuro deseado por los </a:t>
            </a:r>
            <a:r>
              <a:rPr lang="es-ES" i="1" dirty="0"/>
              <a:t>stakeholders.</a:t>
            </a:r>
          </a:p>
          <a:p>
            <a:r>
              <a:rPr lang="es-ES" dirty="0"/>
              <a:t>En muchos casos, los </a:t>
            </a:r>
            <a:r>
              <a:rPr lang="es-ES" i="1" dirty="0"/>
              <a:t>stakeholders</a:t>
            </a:r>
            <a:r>
              <a:rPr lang="es-ES" dirty="0"/>
              <a:t> tienen necesidades y expectativas diferentes y en conflicto que pueden quedar expuestas a través del proceso de validación.</a:t>
            </a:r>
            <a:endParaRPr lang="es-PE" dirty="0"/>
          </a:p>
        </p:txBody>
      </p:sp>
      <p:pic>
        <p:nvPicPr>
          <p:cNvPr id="4" name="Marcador de posición de imagen 3">
            <a:extLst>
              <a:ext uri="{FF2B5EF4-FFF2-40B4-BE49-F238E27FC236}">
                <a16:creationId xmlns:a16="http://schemas.microsoft.com/office/drawing/2014/main" id="{C0FA9C33-3293-11F0-A418-2468325D03E1}"/>
              </a:ext>
            </a:extLst>
          </p:cNvPr>
          <p:cNvPicPr>
            <a:picLocks noGrp="1" noChangeAspect="1"/>
          </p:cNvPicPr>
          <p:nvPr>
            <p:ph type="pic" sz="quarter" idx="10"/>
          </p:nvPr>
        </p:nvPicPr>
        <p:blipFill>
          <a:blip r:embed="rId3"/>
          <a:srcRect l="118" r="118"/>
          <a:stretch>
            <a:fillRect/>
          </a:stretch>
        </p:blipFill>
        <p:spPr/>
      </p:pic>
    </p:spTree>
    <p:extLst>
      <p:ext uri="{BB962C8B-B14F-4D97-AF65-F5344CB8AC3E}">
        <p14:creationId xmlns:p14="http://schemas.microsoft.com/office/powerpoint/2010/main" val="3213715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D</a:t>
            </a:r>
            <a:r>
              <a:rPr lang="es-PE" dirty="0" smtClean="0"/>
              <a:t>efinir arquitectura de requisitos</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DEFINICIÓN DEL DISEÑO DE LA SOLUCIÓN</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p:txBody>
          <a:bodyPr/>
          <a:lstStyle/>
          <a:p>
            <a:r>
              <a:rPr lang="es-ES" dirty="0"/>
              <a:t>Su objetivo es garantizar que los requisitos </a:t>
            </a:r>
            <a:r>
              <a:rPr lang="es-ES" b="1" dirty="0"/>
              <a:t>se apoyen colectivamente entre sí</a:t>
            </a:r>
            <a:r>
              <a:rPr lang="es-ES" dirty="0"/>
              <a:t> para lograr plenamente los objetivos.</a:t>
            </a:r>
          </a:p>
          <a:p>
            <a:pPr>
              <a:spcAft>
                <a:spcPts val="600"/>
              </a:spcAft>
            </a:pPr>
            <a:r>
              <a:rPr lang="es-ES" dirty="0"/>
              <a:t>Los analistas la </a:t>
            </a:r>
            <a:r>
              <a:rPr lang="es-ES" dirty="0" smtClean="0"/>
              <a:t>utilizan para los siguiente:</a:t>
            </a:r>
            <a:endParaRPr lang="es-ES" dirty="0"/>
          </a:p>
          <a:p>
            <a:pPr lvl="1">
              <a:spcAft>
                <a:spcPts val="600"/>
              </a:spcAft>
            </a:pPr>
            <a:r>
              <a:rPr lang="es-ES" dirty="0"/>
              <a:t>Entender qué modelos son apropiados para el dominio, el alcance de la solución, y </a:t>
            </a:r>
            <a:r>
              <a:rPr lang="es-ES" dirty="0" smtClean="0"/>
              <a:t>audiencia.</a:t>
            </a:r>
            <a:endParaRPr lang="es-ES" dirty="0"/>
          </a:p>
          <a:p>
            <a:pPr lvl="1">
              <a:spcAft>
                <a:spcPts val="600"/>
              </a:spcAft>
            </a:pPr>
            <a:r>
              <a:rPr lang="es-ES" dirty="0"/>
              <a:t>Organizar los requisitos en estructuras </a:t>
            </a:r>
            <a:r>
              <a:rPr lang="es-ES" dirty="0" smtClean="0"/>
              <a:t>relevantes.</a:t>
            </a:r>
            <a:endParaRPr lang="es-ES" dirty="0"/>
          </a:p>
          <a:p>
            <a:pPr lvl="1">
              <a:spcAft>
                <a:spcPts val="600"/>
              </a:spcAft>
            </a:pPr>
            <a:r>
              <a:rPr lang="es-ES" dirty="0"/>
              <a:t>Ilustrar cómo los requisitos y los modelos se relacionan entre </a:t>
            </a:r>
            <a:r>
              <a:rPr lang="es-ES" dirty="0" smtClean="0"/>
              <a:t>sí</a:t>
            </a:r>
            <a:r>
              <a:rPr lang="es-ES" dirty="0"/>
              <a:t>.</a:t>
            </a:r>
            <a:endParaRPr lang="es-ES" dirty="0"/>
          </a:p>
          <a:p>
            <a:pPr lvl="1">
              <a:spcAft>
                <a:spcPts val="600"/>
              </a:spcAft>
            </a:pPr>
            <a:r>
              <a:rPr lang="es-ES" dirty="0"/>
              <a:t>Asegurar que los requisitos funcionen juntos para lograr los </a:t>
            </a:r>
            <a:r>
              <a:rPr lang="es-ES" dirty="0" smtClean="0"/>
              <a:t>objetivos</a:t>
            </a:r>
            <a:r>
              <a:rPr lang="es-ES" dirty="0"/>
              <a:t>.</a:t>
            </a:r>
            <a:endParaRPr lang="es-ES" dirty="0"/>
          </a:p>
          <a:p>
            <a:pPr lvl="1">
              <a:spcAft>
                <a:spcPts val="600"/>
              </a:spcAft>
            </a:pPr>
            <a:r>
              <a:rPr lang="es-ES" dirty="0"/>
              <a:t>Tomar decisiones de compensación.</a:t>
            </a:r>
            <a:endParaRPr lang="es-PE" dirty="0"/>
          </a:p>
        </p:txBody>
      </p:sp>
      <p:pic>
        <p:nvPicPr>
          <p:cNvPr id="4" name="Marcador de posición de imagen 3">
            <a:extLst>
              <a:ext uri="{FF2B5EF4-FFF2-40B4-BE49-F238E27FC236}">
                <a16:creationId xmlns:a16="http://schemas.microsoft.com/office/drawing/2014/main" id="{10AD659D-4105-948D-1FCF-27331F56E028}"/>
              </a:ext>
            </a:extLst>
          </p:cNvPr>
          <p:cNvPicPr>
            <a:picLocks noGrp="1" noChangeAspect="1"/>
          </p:cNvPicPr>
          <p:nvPr>
            <p:ph type="pic" sz="quarter" idx="10"/>
          </p:nvPr>
        </p:nvPicPr>
        <p:blipFill>
          <a:blip r:embed="rId3"/>
          <a:srcRect l="118" r="118"/>
          <a:stretch>
            <a:fillRect/>
          </a:stretch>
        </p:blipFill>
        <p:spPr/>
      </p:pic>
    </p:spTree>
    <p:extLst>
      <p:ext uri="{BB962C8B-B14F-4D97-AF65-F5344CB8AC3E}">
        <p14:creationId xmlns:p14="http://schemas.microsoft.com/office/powerpoint/2010/main" val="3929959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D</a:t>
            </a:r>
            <a:r>
              <a:rPr lang="es-PE" dirty="0" smtClean="0"/>
              <a:t>efinir opciones de diseño</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DEFINICIÓN DEL DISEÑO DE LA SOLUCIÓN</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103687" cy="3355068"/>
          </a:xfrm>
        </p:spPr>
        <p:txBody>
          <a:bodyPr/>
          <a:lstStyle/>
          <a:p>
            <a:r>
              <a:rPr lang="es-ES" dirty="0"/>
              <a:t>Su objetivo es definir el enfoque de la solución, identificar oportunidades para mejorar el negocio, asignar requisitos a los componentes de la solución y </a:t>
            </a:r>
            <a:r>
              <a:rPr lang="es-ES" b="1" dirty="0"/>
              <a:t>representar opciones de diseño que logren el estado futuro deseado</a:t>
            </a:r>
            <a:r>
              <a:rPr lang="es-ES" dirty="0"/>
              <a:t>.</a:t>
            </a:r>
          </a:p>
          <a:p>
            <a:r>
              <a:rPr lang="es-ES" dirty="0"/>
              <a:t>Al diseñar una solución, puede haber una o más opciones de diseño identificadas.</a:t>
            </a:r>
          </a:p>
          <a:p>
            <a:r>
              <a:rPr lang="es-ES" dirty="0"/>
              <a:t>E</a:t>
            </a:r>
            <a:r>
              <a:rPr lang="es-ES" dirty="0" smtClean="0"/>
              <a:t>s </a:t>
            </a:r>
            <a:r>
              <a:rPr lang="es-ES" dirty="0"/>
              <a:t>posible que sea necesario realizar compensaciones tácticas entre las alternativas de </a:t>
            </a:r>
            <a:r>
              <a:rPr lang="es-ES" dirty="0" smtClean="0"/>
              <a:t>diseño a medida </a:t>
            </a:r>
            <a:r>
              <a:rPr lang="es-ES" dirty="0"/>
              <a:t>que se desarrolla una </a:t>
            </a:r>
            <a:r>
              <a:rPr lang="es-ES" dirty="0" smtClean="0"/>
              <a:t>solución.</a:t>
            </a:r>
            <a:endParaRPr lang="es-ES" dirty="0"/>
          </a:p>
        </p:txBody>
      </p:sp>
      <p:pic>
        <p:nvPicPr>
          <p:cNvPr id="4" name="Marcador de posición de imagen 3">
            <a:extLst>
              <a:ext uri="{FF2B5EF4-FFF2-40B4-BE49-F238E27FC236}">
                <a16:creationId xmlns:a16="http://schemas.microsoft.com/office/drawing/2014/main" id="{505C1321-9B75-F579-E719-26689C9CACCF}"/>
              </a:ext>
            </a:extLst>
          </p:cNvPr>
          <p:cNvPicPr>
            <a:picLocks noGrp="1" noChangeAspect="1"/>
          </p:cNvPicPr>
          <p:nvPr>
            <p:ph type="pic" sz="quarter" idx="10"/>
          </p:nvPr>
        </p:nvPicPr>
        <p:blipFill>
          <a:blip r:embed="rId3"/>
          <a:srcRect l="118" r="118"/>
          <a:stretch>
            <a:fillRect/>
          </a:stretch>
        </p:blipFill>
        <p:spPr/>
      </p:pic>
    </p:spTree>
    <p:extLst>
      <p:ext uri="{BB962C8B-B14F-4D97-AF65-F5344CB8AC3E}">
        <p14:creationId xmlns:p14="http://schemas.microsoft.com/office/powerpoint/2010/main" val="3575031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R</a:t>
            </a:r>
            <a:r>
              <a:rPr lang="es-PE" dirty="0" smtClean="0"/>
              <a:t>ecomendar solución</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DEFINICIÓN DEL DISEÑO DE LA SOLUCIÓN</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103687" cy="3630839"/>
          </a:xfrm>
        </p:spPr>
        <p:txBody>
          <a:bodyPr/>
          <a:lstStyle/>
          <a:p>
            <a:r>
              <a:rPr lang="es-ES" dirty="0"/>
              <a:t>Su objetivo es estimar el </a:t>
            </a:r>
            <a:r>
              <a:rPr lang="es-ES" b="1" dirty="0"/>
              <a:t>valor potencial de cada opción de diseño</a:t>
            </a:r>
            <a:r>
              <a:rPr lang="es-ES" dirty="0"/>
              <a:t> y establecer cuál es la más apropiada para cumplir con los requisitos de la empresa.</a:t>
            </a:r>
          </a:p>
          <a:p>
            <a:r>
              <a:rPr lang="es-ES" dirty="0"/>
              <a:t>El valor potencial se analiza muchas veces en el transcurso de un cambio.</a:t>
            </a:r>
          </a:p>
          <a:p>
            <a:r>
              <a:rPr lang="es-ES" dirty="0"/>
              <a:t>El valor se puede describir en términos de finanzas, reputación o incluso </a:t>
            </a:r>
            <a:r>
              <a:rPr lang="es-ES" dirty="0" smtClean="0"/>
              <a:t>en el impacto </a:t>
            </a:r>
            <a:r>
              <a:rPr lang="es-ES" dirty="0"/>
              <a:t>en el mercado.</a:t>
            </a:r>
          </a:p>
          <a:p>
            <a:r>
              <a:rPr lang="es-ES" dirty="0"/>
              <a:t>Las opciones de diseño se evalúan comparando el valor potencial de cada opción con las otras opciones.</a:t>
            </a:r>
            <a:endParaRPr lang="es-PE" dirty="0"/>
          </a:p>
        </p:txBody>
      </p:sp>
      <p:pic>
        <p:nvPicPr>
          <p:cNvPr id="4" name="Marcador de posición de imagen 3">
            <a:extLst>
              <a:ext uri="{FF2B5EF4-FFF2-40B4-BE49-F238E27FC236}">
                <a16:creationId xmlns:a16="http://schemas.microsoft.com/office/drawing/2014/main" id="{36C446A8-BEF3-A1AB-F3DD-842FCA2936F9}"/>
              </a:ext>
            </a:extLst>
          </p:cNvPr>
          <p:cNvPicPr>
            <a:picLocks noGrp="1" noChangeAspect="1"/>
          </p:cNvPicPr>
          <p:nvPr>
            <p:ph type="pic" sz="quarter" idx="10"/>
          </p:nvPr>
        </p:nvPicPr>
        <p:blipFill>
          <a:blip r:embed="rId3"/>
          <a:srcRect l="118" r="118"/>
          <a:stretch>
            <a:fillRect/>
          </a:stretch>
        </p:blipFill>
        <p:spPr/>
      </p:pic>
    </p:spTree>
    <p:extLst>
      <p:ext uri="{BB962C8B-B14F-4D97-AF65-F5344CB8AC3E}">
        <p14:creationId xmlns:p14="http://schemas.microsoft.com/office/powerpoint/2010/main" val="1811388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B664F2-7CB4-48B1-9096-E52469E94D93}"/>
              </a:ext>
            </a:extLst>
          </p:cNvPr>
          <p:cNvSpPr>
            <a:spLocks noGrp="1"/>
          </p:cNvSpPr>
          <p:nvPr>
            <p:ph type="body" sz="quarter" idx="10"/>
          </p:nvPr>
        </p:nvSpPr>
        <p:spPr>
          <a:xfrm>
            <a:off x="468314" y="3714842"/>
            <a:ext cx="5543549" cy="494302"/>
          </a:xfrm>
        </p:spPr>
        <p:txBody>
          <a:bodyPr/>
          <a:lstStyle/>
          <a:p>
            <a:pPr marL="274638" indent="-274638">
              <a:tabLst>
                <a:tab pos="274638" algn="l"/>
              </a:tabLst>
            </a:pPr>
            <a:r>
              <a:rPr lang="es-PE" dirty="0"/>
              <a:t>/	EVALUACIÓN DE LA SOLUCIÓN</a:t>
            </a:r>
          </a:p>
        </p:txBody>
      </p:sp>
    </p:spTree>
    <p:custDataLst>
      <p:tags r:id="rId1"/>
    </p:custDataLst>
    <p:extLst>
      <p:ext uri="{BB962C8B-B14F-4D97-AF65-F5344CB8AC3E}">
        <p14:creationId xmlns:p14="http://schemas.microsoft.com/office/powerpoint/2010/main" val="1771961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T</a:t>
            </a:r>
            <a:r>
              <a:rPr lang="es-PE" dirty="0" smtClean="0"/>
              <a:t>areas</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EVALUACIÓN DE LA SOLUCIÓN</a:t>
            </a:r>
          </a:p>
        </p:txBody>
      </p:sp>
      <p:sp>
        <p:nvSpPr>
          <p:cNvPr id="2" name="Marcador de texto 1">
            <a:extLst>
              <a:ext uri="{FF2B5EF4-FFF2-40B4-BE49-F238E27FC236}">
                <a16:creationId xmlns:a16="http://schemas.microsoft.com/office/drawing/2014/main" id="{192A0349-9565-4745-050D-42D1EB8C9CE3}"/>
              </a:ext>
            </a:extLst>
          </p:cNvPr>
          <p:cNvSpPr>
            <a:spLocks noGrp="1"/>
          </p:cNvSpPr>
          <p:nvPr>
            <p:ph type="body" sz="quarter" idx="14"/>
          </p:nvPr>
        </p:nvSpPr>
        <p:spPr>
          <a:xfrm>
            <a:off x="468313" y="1158876"/>
            <a:ext cx="4103687" cy="3238954"/>
          </a:xfrm>
        </p:spPr>
        <p:txBody>
          <a:bodyPr/>
          <a:lstStyle/>
          <a:p>
            <a:r>
              <a:rPr lang="es-ES" dirty="0"/>
              <a:t>Describe las tareas que se realizan para </a:t>
            </a:r>
            <a:r>
              <a:rPr lang="es-ES" b="1" dirty="0"/>
              <a:t>evaluar el rendimiento</a:t>
            </a:r>
            <a:r>
              <a:rPr lang="es-ES" dirty="0"/>
              <a:t> y el valor proporcionado por una solución en uso por la empresa, y para recomendar la eliminación de barreras o restricciones que impiden la plena realización del valor.</a:t>
            </a:r>
          </a:p>
          <a:p>
            <a:pPr>
              <a:spcAft>
                <a:spcPts val="600"/>
              </a:spcAft>
            </a:pPr>
            <a:r>
              <a:rPr lang="es-ES" dirty="0"/>
              <a:t>Se puede realizar en componentes de la solución en diferentes etapas de desarrollo:</a:t>
            </a:r>
          </a:p>
          <a:p>
            <a:pPr lvl="1">
              <a:spcAft>
                <a:spcPts val="600"/>
              </a:spcAft>
            </a:pPr>
            <a:r>
              <a:rPr lang="es-ES" dirty="0"/>
              <a:t>Prototipos o pruebas de </a:t>
            </a:r>
            <a:r>
              <a:rPr lang="es-ES" dirty="0" smtClean="0"/>
              <a:t>concepto.</a:t>
            </a:r>
            <a:endParaRPr lang="es-ES" dirty="0"/>
          </a:p>
          <a:p>
            <a:pPr lvl="1">
              <a:spcAft>
                <a:spcPts val="600"/>
              </a:spcAft>
            </a:pPr>
            <a:r>
              <a:rPr lang="es-ES" dirty="0"/>
              <a:t>Lanzamientos piloto o </a:t>
            </a:r>
            <a:r>
              <a:rPr lang="es-ES" dirty="0" smtClean="0"/>
              <a:t>beta.</a:t>
            </a:r>
            <a:endParaRPr lang="es-ES" dirty="0"/>
          </a:p>
          <a:p>
            <a:pPr lvl="1"/>
            <a:r>
              <a:rPr lang="es-ES" dirty="0"/>
              <a:t>Lanzamientos operativos.</a:t>
            </a:r>
          </a:p>
        </p:txBody>
      </p:sp>
      <p:pic>
        <p:nvPicPr>
          <p:cNvPr id="6" name="Marcador de posición de imagen 5">
            <a:extLst>
              <a:ext uri="{FF2B5EF4-FFF2-40B4-BE49-F238E27FC236}">
                <a16:creationId xmlns:a16="http://schemas.microsoft.com/office/drawing/2014/main" id="{E5AD9378-ABAB-5E4E-6F46-C31819D6E5E6}"/>
              </a:ext>
            </a:extLst>
          </p:cNvPr>
          <p:cNvPicPr>
            <a:picLocks noGrp="1" noChangeAspect="1"/>
          </p:cNvPicPr>
          <p:nvPr>
            <p:ph type="pic" sz="quarter" idx="10"/>
          </p:nvPr>
        </p:nvPicPr>
        <p:blipFill>
          <a:blip r:embed="rId3"/>
          <a:srcRect l="2" r="2"/>
          <a:stretch>
            <a:fillRect/>
          </a:stretch>
        </p:blipFill>
        <p:spPr/>
      </p:pic>
    </p:spTree>
    <p:extLst>
      <p:ext uri="{BB962C8B-B14F-4D97-AF65-F5344CB8AC3E}">
        <p14:creationId xmlns:p14="http://schemas.microsoft.com/office/powerpoint/2010/main" val="2979702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M</a:t>
            </a:r>
            <a:r>
              <a:rPr lang="es-PE" dirty="0" smtClean="0"/>
              <a:t>edir el rendimiento de la solución</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EVALUACIÓN DE LA SOLUCIÓN</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103687" cy="3623582"/>
          </a:xfrm>
        </p:spPr>
        <p:txBody>
          <a:bodyPr/>
          <a:lstStyle/>
          <a:p>
            <a:r>
              <a:rPr lang="es-PE" dirty="0"/>
              <a:t>Su objetivo es </a:t>
            </a:r>
            <a:r>
              <a:rPr lang="es-PE" b="1" dirty="0"/>
              <a:t>definir medidas de rendimiento</a:t>
            </a:r>
            <a:r>
              <a:rPr lang="es-PE" dirty="0"/>
              <a:t> y utilizar los datos recopilados para evaluar la eficacia de una solución en relación con el valor que aporta.</a:t>
            </a:r>
          </a:p>
          <a:p>
            <a:r>
              <a:rPr lang="es-ES" dirty="0"/>
              <a:t>Las medidas utilizadas </a:t>
            </a:r>
            <a:r>
              <a:rPr lang="es-ES" b="1" dirty="0"/>
              <a:t>dependen de la solución en sí</a:t>
            </a:r>
            <a:r>
              <a:rPr lang="es-ES" dirty="0"/>
              <a:t>, el contexto y cómo la organización define el valor.</a:t>
            </a:r>
          </a:p>
          <a:p>
            <a:r>
              <a:rPr lang="es-ES" dirty="0"/>
              <a:t>El rendimiento puede evaluarse a través de indicadores clave de rendimiento (KPI) alineados con medidas, metas y objetivos empresariales para un proyecto, objetivos de rendimiento de procesos o pruebas para una aplicación de software.</a:t>
            </a:r>
          </a:p>
          <a:p>
            <a:endParaRPr lang="es-PE" dirty="0"/>
          </a:p>
        </p:txBody>
      </p:sp>
      <p:pic>
        <p:nvPicPr>
          <p:cNvPr id="6" name="Marcador de posición de imagen 5">
            <a:extLst>
              <a:ext uri="{FF2B5EF4-FFF2-40B4-BE49-F238E27FC236}">
                <a16:creationId xmlns:a16="http://schemas.microsoft.com/office/drawing/2014/main" id="{BABD607C-BDC5-1691-78BE-46E5BF3E30D4}"/>
              </a:ext>
            </a:extLst>
          </p:cNvPr>
          <p:cNvPicPr>
            <a:picLocks noGrp="1" noChangeAspect="1"/>
          </p:cNvPicPr>
          <p:nvPr>
            <p:ph type="pic" sz="quarter" idx="10"/>
          </p:nvPr>
        </p:nvPicPr>
        <p:blipFill>
          <a:blip r:embed="rId3"/>
          <a:srcRect l="118" r="118"/>
          <a:stretch>
            <a:fillRect/>
          </a:stretch>
        </p:blipFill>
        <p:spPr/>
      </p:pic>
    </p:spTree>
    <p:extLst>
      <p:ext uri="{BB962C8B-B14F-4D97-AF65-F5344CB8AC3E}">
        <p14:creationId xmlns:p14="http://schemas.microsoft.com/office/powerpoint/2010/main" val="424562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A</a:t>
            </a:r>
            <a:r>
              <a:rPr lang="es-PE" dirty="0" smtClean="0"/>
              <a:t>nalizar las medidas de rendimiento</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EVALUACIÓN DE LA SOLUCIÓN</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p:txBody>
          <a:bodyPr/>
          <a:lstStyle/>
          <a:p>
            <a:r>
              <a:rPr lang="es-ES" dirty="0"/>
              <a:t>Su objetivo es </a:t>
            </a:r>
            <a:r>
              <a:rPr lang="es-ES" b="1" dirty="0"/>
              <a:t>proporcionar información sobre el rendimiento</a:t>
            </a:r>
            <a:r>
              <a:rPr lang="es-ES" dirty="0"/>
              <a:t> de una solución en relación con el valor que aporta.</a:t>
            </a:r>
          </a:p>
          <a:p>
            <a:r>
              <a:rPr lang="es-ES" dirty="0"/>
              <a:t>Las medidas recopiladas en la tarea </a:t>
            </a:r>
            <a:r>
              <a:rPr lang="es-ES" dirty="0" smtClean="0"/>
              <a:t>“</a:t>
            </a:r>
            <a:r>
              <a:rPr lang="es-ES" dirty="0" smtClean="0">
                <a:solidFill>
                  <a:srgbClr val="FF0000"/>
                </a:solidFill>
              </a:rPr>
              <a:t>Medir </a:t>
            </a:r>
            <a:r>
              <a:rPr lang="es-ES" dirty="0">
                <a:solidFill>
                  <a:srgbClr val="FF0000"/>
                </a:solidFill>
              </a:rPr>
              <a:t>el rendimiento de la </a:t>
            </a:r>
            <a:r>
              <a:rPr lang="es-ES" dirty="0" smtClean="0">
                <a:solidFill>
                  <a:srgbClr val="FF0000"/>
                </a:solidFill>
              </a:rPr>
              <a:t>solución”</a:t>
            </a:r>
            <a:r>
              <a:rPr lang="es-ES" dirty="0" smtClean="0"/>
              <a:t> </a:t>
            </a:r>
            <a:r>
              <a:rPr lang="es-ES" dirty="0"/>
              <a:t>a menudo requieren interpretación y síntesis para derivar significado y ser procesables.</a:t>
            </a:r>
          </a:p>
          <a:p>
            <a:pPr>
              <a:spcAft>
                <a:spcPts val="300"/>
              </a:spcAft>
            </a:pPr>
            <a:r>
              <a:rPr lang="es-ES" dirty="0"/>
              <a:t>Se consideran variables como:</a:t>
            </a:r>
          </a:p>
          <a:p>
            <a:pPr lvl="1">
              <a:spcAft>
                <a:spcPts val="300"/>
              </a:spcAft>
            </a:pPr>
            <a:r>
              <a:rPr lang="es-ES" dirty="0"/>
              <a:t>Las metas y objetivos de la </a:t>
            </a:r>
            <a:r>
              <a:rPr lang="es-ES" dirty="0" smtClean="0"/>
              <a:t>empresa.</a:t>
            </a:r>
            <a:endParaRPr lang="es-ES" dirty="0"/>
          </a:p>
          <a:p>
            <a:pPr lvl="1">
              <a:spcAft>
                <a:spcPts val="300"/>
              </a:spcAft>
            </a:pPr>
            <a:r>
              <a:rPr lang="es-ES" dirty="0"/>
              <a:t>Los indicadores clave de </a:t>
            </a:r>
            <a:r>
              <a:rPr lang="es-ES" dirty="0" smtClean="0"/>
              <a:t>rendimiento.</a:t>
            </a:r>
            <a:endParaRPr lang="es-ES" dirty="0"/>
          </a:p>
          <a:p>
            <a:pPr lvl="1">
              <a:spcAft>
                <a:spcPts val="300"/>
              </a:spcAft>
            </a:pPr>
            <a:r>
              <a:rPr lang="es-ES" dirty="0"/>
              <a:t>El nivel de riesgo de la </a:t>
            </a:r>
            <a:r>
              <a:rPr lang="es-ES" dirty="0" smtClean="0"/>
              <a:t>solución.</a:t>
            </a:r>
            <a:endParaRPr lang="es-ES" dirty="0"/>
          </a:p>
          <a:p>
            <a:pPr lvl="1">
              <a:spcAft>
                <a:spcPts val="300"/>
              </a:spcAft>
            </a:pPr>
            <a:r>
              <a:rPr lang="es-ES" dirty="0"/>
              <a:t>La tolerancia al riesgo tanto de los </a:t>
            </a:r>
            <a:r>
              <a:rPr lang="es-ES" i="1" dirty="0"/>
              <a:t>stakeholders</a:t>
            </a:r>
            <a:r>
              <a:rPr lang="es-ES" dirty="0"/>
              <a:t> como de la </a:t>
            </a:r>
            <a:r>
              <a:rPr lang="es-ES" dirty="0" smtClean="0"/>
              <a:t>empresa</a:t>
            </a:r>
            <a:r>
              <a:rPr lang="es-ES" dirty="0"/>
              <a:t>.</a:t>
            </a:r>
            <a:endParaRPr lang="es-ES" dirty="0"/>
          </a:p>
          <a:p>
            <a:pPr lvl="1">
              <a:spcAft>
                <a:spcPts val="300"/>
              </a:spcAft>
            </a:pPr>
            <a:r>
              <a:rPr lang="es-ES" dirty="0"/>
              <a:t>Otros objetivos establecidos.</a:t>
            </a:r>
          </a:p>
          <a:p>
            <a:pPr>
              <a:spcAft>
                <a:spcPts val="300"/>
              </a:spcAft>
            </a:pPr>
            <a:endParaRPr lang="es-PE" dirty="0"/>
          </a:p>
        </p:txBody>
      </p:sp>
      <p:pic>
        <p:nvPicPr>
          <p:cNvPr id="4" name="Marcador de posición de imagen 3">
            <a:extLst>
              <a:ext uri="{FF2B5EF4-FFF2-40B4-BE49-F238E27FC236}">
                <a16:creationId xmlns:a16="http://schemas.microsoft.com/office/drawing/2014/main" id="{E13F8B0C-7CBB-9852-DCE8-B58979448E61}"/>
              </a:ext>
            </a:extLst>
          </p:cNvPr>
          <p:cNvPicPr>
            <a:picLocks noGrp="1" noChangeAspect="1"/>
          </p:cNvPicPr>
          <p:nvPr>
            <p:ph type="pic" sz="quarter" idx="10"/>
          </p:nvPr>
        </p:nvPicPr>
        <p:blipFill>
          <a:blip r:embed="rId3"/>
          <a:srcRect l="118" r="118"/>
          <a:stretch>
            <a:fillRect/>
          </a:stretch>
        </p:blipFill>
        <p:spPr/>
      </p:pic>
    </p:spTree>
    <p:extLst>
      <p:ext uri="{BB962C8B-B14F-4D97-AF65-F5344CB8AC3E}">
        <p14:creationId xmlns:p14="http://schemas.microsoft.com/office/powerpoint/2010/main" val="1848149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a:t>
            </a:r>
            <a:r>
              <a:rPr lang="es-PE" dirty="0" smtClean="0"/>
              <a:t>valuar las limitaciones de la solución</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EVALUACIÓN DE LA SOLUCIÓN</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103687" cy="3355068"/>
          </a:xfrm>
        </p:spPr>
        <p:txBody>
          <a:bodyPr/>
          <a:lstStyle/>
          <a:p>
            <a:r>
              <a:rPr lang="es-ES" dirty="0"/>
              <a:t>Su objetivo es determinar los factores internos de la solución que </a:t>
            </a:r>
            <a:r>
              <a:rPr lang="es-ES" b="1" dirty="0"/>
              <a:t>restringen la plena realización del valor</a:t>
            </a:r>
            <a:r>
              <a:rPr lang="es-ES" dirty="0"/>
              <a:t>.</a:t>
            </a:r>
          </a:p>
          <a:p>
            <a:r>
              <a:rPr lang="es-ES" dirty="0"/>
              <a:t>Identifica las causas fundamentales de las soluciones y los componentes de la solución de bajo rendimiento e ineficaces.</a:t>
            </a:r>
          </a:p>
          <a:p>
            <a:r>
              <a:rPr lang="es-ES" dirty="0"/>
              <a:t>Se puede realizar </a:t>
            </a:r>
            <a:r>
              <a:rPr lang="es-ES" b="1" dirty="0"/>
              <a:t>en cualquier momento</a:t>
            </a:r>
            <a:r>
              <a:rPr lang="es-ES" dirty="0"/>
              <a:t> durante el ciclo de vida de la solución.</a:t>
            </a:r>
          </a:p>
          <a:p>
            <a:r>
              <a:rPr lang="es-ES" dirty="0"/>
              <a:t>Independientemente del momento, las actividades de evaluación son similares e involucran las mismas consideraciones.</a:t>
            </a:r>
          </a:p>
          <a:p>
            <a:endParaRPr lang="es-ES" dirty="0"/>
          </a:p>
          <a:p>
            <a:endParaRPr lang="es-PE" dirty="0"/>
          </a:p>
        </p:txBody>
      </p:sp>
      <p:pic>
        <p:nvPicPr>
          <p:cNvPr id="4" name="Marcador de posición de imagen 3">
            <a:extLst>
              <a:ext uri="{FF2B5EF4-FFF2-40B4-BE49-F238E27FC236}">
                <a16:creationId xmlns:a16="http://schemas.microsoft.com/office/drawing/2014/main" id="{F19A4C14-2E7B-AE41-B011-289C1238C19E}"/>
              </a:ext>
            </a:extLst>
          </p:cNvPr>
          <p:cNvPicPr>
            <a:picLocks noGrp="1" noChangeAspect="1"/>
          </p:cNvPicPr>
          <p:nvPr>
            <p:ph type="pic" sz="quarter" idx="10"/>
          </p:nvPr>
        </p:nvPicPr>
        <p:blipFill>
          <a:blip r:embed="rId3"/>
          <a:srcRect l="118" r="118"/>
          <a:stretch>
            <a:fillRect/>
          </a:stretch>
        </p:blipFill>
        <p:spPr/>
      </p:pic>
    </p:spTree>
    <p:extLst>
      <p:ext uri="{BB962C8B-B14F-4D97-AF65-F5344CB8AC3E}">
        <p14:creationId xmlns:p14="http://schemas.microsoft.com/office/powerpoint/2010/main" val="352786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a:t>
            </a:r>
            <a:r>
              <a:rPr lang="es-PE" dirty="0" smtClean="0"/>
              <a:t>valuar las limitaciones de la empresa</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EVALUACIÓN DE LA SOLUCIÓN</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103687" cy="3079296"/>
          </a:xfrm>
        </p:spPr>
        <p:txBody>
          <a:bodyPr/>
          <a:lstStyle/>
          <a:p>
            <a:r>
              <a:rPr lang="es-ES" dirty="0"/>
              <a:t>Su objetivo es determinar cómo los </a:t>
            </a:r>
            <a:r>
              <a:rPr lang="es-ES" b="1" dirty="0"/>
              <a:t>factores externos</a:t>
            </a:r>
            <a:r>
              <a:rPr lang="es-ES" dirty="0"/>
              <a:t> a la solución restringen la realización del valor.</a:t>
            </a:r>
          </a:p>
          <a:p>
            <a:r>
              <a:rPr lang="es-ES" dirty="0"/>
              <a:t>Las limitaciones de la empresa pueden incluir factores como la cultura, las operaciones, los componentes técnicos, los intereses de los </a:t>
            </a:r>
            <a:r>
              <a:rPr lang="es-ES" i="1" dirty="0"/>
              <a:t>stakeholders</a:t>
            </a:r>
            <a:r>
              <a:rPr lang="es-ES" dirty="0"/>
              <a:t> o las estructuras de informes.</a:t>
            </a:r>
          </a:p>
          <a:p>
            <a:r>
              <a:rPr lang="es-ES" dirty="0"/>
              <a:t>Esta evaluación se puede realizar en cualquier momento durante el ciclo de vida de la solución.</a:t>
            </a:r>
          </a:p>
        </p:txBody>
      </p:sp>
      <p:pic>
        <p:nvPicPr>
          <p:cNvPr id="4" name="Marcador de posición de imagen 3">
            <a:extLst>
              <a:ext uri="{FF2B5EF4-FFF2-40B4-BE49-F238E27FC236}">
                <a16:creationId xmlns:a16="http://schemas.microsoft.com/office/drawing/2014/main" id="{777E08A4-60D3-4CD3-8142-6F282BF37EAB}"/>
              </a:ext>
            </a:extLst>
          </p:cNvPr>
          <p:cNvPicPr>
            <a:picLocks noGrp="1" noChangeAspect="1"/>
          </p:cNvPicPr>
          <p:nvPr>
            <p:ph type="pic" sz="quarter" idx="10"/>
          </p:nvPr>
        </p:nvPicPr>
        <p:blipFill>
          <a:blip r:embed="rId3"/>
          <a:srcRect l="118" r="118"/>
          <a:stretch>
            <a:fillRect/>
          </a:stretch>
        </p:blipFill>
        <p:spPr/>
      </p:pic>
    </p:spTree>
    <p:extLst>
      <p:ext uri="{BB962C8B-B14F-4D97-AF65-F5344CB8AC3E}">
        <p14:creationId xmlns:p14="http://schemas.microsoft.com/office/powerpoint/2010/main" val="2577536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R</a:t>
            </a:r>
            <a:r>
              <a:rPr lang="es-PE" dirty="0" smtClean="0"/>
              <a:t>ecomendar acciones: aumento valor</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EVALUACIÓN DE LA SOLUCIÓN</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p:txBody>
          <a:bodyPr/>
          <a:lstStyle/>
          <a:p>
            <a:r>
              <a:rPr lang="es-ES" dirty="0"/>
              <a:t>Su objetivo es </a:t>
            </a:r>
            <a:r>
              <a:rPr lang="es-ES" b="1" dirty="0"/>
              <a:t>comprender los factores</a:t>
            </a:r>
            <a:r>
              <a:rPr lang="es-ES" dirty="0"/>
              <a:t> que crean diferencias entre el valor potencial y el valor real, y </a:t>
            </a:r>
            <a:r>
              <a:rPr lang="es-ES" b="1" dirty="0"/>
              <a:t>recomendar un curso de acción para alinearlos</a:t>
            </a:r>
            <a:r>
              <a:rPr lang="es-ES" dirty="0"/>
              <a:t>.</a:t>
            </a:r>
          </a:p>
          <a:p>
            <a:r>
              <a:rPr lang="es-ES" dirty="0"/>
              <a:t>Las recomendaciones generalmente identifican cómo se debe reemplazar, retirar o mejorar una solución.</a:t>
            </a:r>
          </a:p>
          <a:p>
            <a:r>
              <a:rPr lang="es-ES" dirty="0"/>
              <a:t>También pueden considerar los efectos a largo plazo y las contribuciones de la solución a los</a:t>
            </a:r>
            <a:r>
              <a:rPr lang="es-ES" i="1" dirty="0"/>
              <a:t> stakeholders</a:t>
            </a:r>
            <a:r>
              <a:rPr lang="es-ES" dirty="0"/>
              <a:t>.</a:t>
            </a:r>
          </a:p>
          <a:p>
            <a:r>
              <a:rPr lang="es-ES" dirty="0"/>
              <a:t>Pueden incluir recomendaciones para ajustar la organización para permitir el máximo rendimiento de la solución y la realización del valor.</a:t>
            </a:r>
            <a:endParaRPr lang="es-PE" dirty="0"/>
          </a:p>
        </p:txBody>
      </p:sp>
      <p:pic>
        <p:nvPicPr>
          <p:cNvPr id="4" name="Marcador de posición de imagen 3">
            <a:extLst>
              <a:ext uri="{FF2B5EF4-FFF2-40B4-BE49-F238E27FC236}">
                <a16:creationId xmlns:a16="http://schemas.microsoft.com/office/drawing/2014/main" id="{C1255D16-02EF-65E4-2E95-C2FE96AD8080}"/>
              </a:ext>
            </a:extLst>
          </p:cNvPr>
          <p:cNvPicPr>
            <a:picLocks noGrp="1" noChangeAspect="1"/>
          </p:cNvPicPr>
          <p:nvPr>
            <p:ph type="pic" sz="quarter" idx="10"/>
          </p:nvPr>
        </p:nvPicPr>
        <p:blipFill>
          <a:blip r:embed="rId3"/>
          <a:srcRect l="118" r="118"/>
          <a:stretch>
            <a:fillRect/>
          </a:stretch>
        </p:blipFill>
        <p:spPr/>
      </p:pic>
    </p:spTree>
    <p:extLst>
      <p:ext uri="{BB962C8B-B14F-4D97-AF65-F5344CB8AC3E}">
        <p14:creationId xmlns:p14="http://schemas.microsoft.com/office/powerpoint/2010/main" val="547161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4F500AF3-50A8-4251-BC95-6B4FF9C4652B}"/>
              </a:ext>
            </a:extLst>
          </p:cNvPr>
          <p:cNvSpPr>
            <a:spLocks noGrp="1"/>
          </p:cNvSpPr>
          <p:nvPr>
            <p:ph type="body" sz="quarter" idx="10"/>
          </p:nvPr>
        </p:nvSpPr>
        <p:spPr>
          <a:xfrm>
            <a:off x="927366" y="1670909"/>
            <a:ext cx="7713398" cy="2356805"/>
          </a:xfrm>
        </p:spPr>
        <p:txBody>
          <a:bodyPr/>
          <a:lstStyle/>
          <a:p>
            <a:r>
              <a:rPr lang="es-ES" dirty="0"/>
              <a:t>Las  Áreas  de  Conocimiento  de la Guía BABOK®  representan áreas  de  experiencia  </a:t>
            </a:r>
            <a:r>
              <a:rPr lang="es-ES" dirty="0" smtClean="0"/>
              <a:t>específicas  </a:t>
            </a:r>
            <a:r>
              <a:rPr lang="es-ES" dirty="0"/>
              <a:t>del Análisis de Negocio.</a:t>
            </a:r>
          </a:p>
          <a:p>
            <a:r>
              <a:rPr lang="es-ES" dirty="0"/>
              <a:t>Las áreas de conocimiento de la Guía BABOK® permiten avanzar desde la identificación de las necesidades de negocio, a la recomendación y puesta en marcha de soluciones y la obtención del valor esperado.</a:t>
            </a:r>
          </a:p>
          <a:p>
            <a:r>
              <a:rPr lang="es-ES" dirty="0"/>
              <a:t>El trabajo a realizar en cada una de las áreas de conocimiento de la Guía BABOK®, dependerá del nivel de cambio a realizar, de los interesados y del contexto en el que se realice.</a:t>
            </a:r>
          </a:p>
        </p:txBody>
      </p:sp>
    </p:spTree>
    <p:custDataLst>
      <p:tags r:id="rId1"/>
    </p:custDataLst>
    <p:extLst>
      <p:ext uri="{BB962C8B-B14F-4D97-AF65-F5344CB8AC3E}">
        <p14:creationId xmlns:p14="http://schemas.microsoft.com/office/powerpoint/2010/main" val="4015447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89435A8C-18F1-4C11-BC95-3930F36C4A90}"/>
              </a:ext>
            </a:extLst>
          </p:cNvPr>
          <p:cNvSpPr>
            <a:spLocks noGrp="1"/>
          </p:cNvSpPr>
          <p:nvPr>
            <p:ph type="body" sz="quarter" idx="10"/>
          </p:nvPr>
        </p:nvSpPr>
        <p:spPr/>
        <p:txBody>
          <a:bodyPr/>
          <a:lstStyle/>
          <a:p>
            <a:pPr>
              <a:lnSpc>
                <a:spcPct val="100000"/>
              </a:lnSpc>
            </a:pPr>
            <a:r>
              <a:rPr lang="es-ES" dirty="0"/>
              <a:t>Agile </a:t>
            </a:r>
            <a:r>
              <a:rPr lang="es-ES" dirty="0" err="1"/>
              <a:t>Extension</a:t>
            </a:r>
            <a:r>
              <a:rPr lang="es-ES" dirty="0"/>
              <a:t> </a:t>
            </a:r>
            <a:r>
              <a:rPr lang="es-ES" dirty="0" err="1"/>
              <a:t>to</a:t>
            </a:r>
            <a:r>
              <a:rPr lang="es-ES" dirty="0"/>
              <a:t> </a:t>
            </a:r>
            <a:r>
              <a:rPr lang="es-ES" dirty="0" err="1"/>
              <a:t>the</a:t>
            </a:r>
            <a:r>
              <a:rPr lang="es-ES" dirty="0"/>
              <a:t> BABOK Guide. (2020). Recuperado de: https://www.iiba.org/standards-andresources/babok/</a:t>
            </a:r>
          </a:p>
          <a:p>
            <a:pPr>
              <a:lnSpc>
                <a:spcPct val="100000"/>
              </a:lnSpc>
            </a:pPr>
            <a:r>
              <a:rPr lang="es-ES" dirty="0"/>
              <a:t>Bitácora de análisis de negocios. (2020). Recuperado de: http://gabrielalmeida.com.mx/</a:t>
            </a:r>
          </a:p>
          <a:p>
            <a:pPr>
              <a:lnSpc>
                <a:spcPct val="100000"/>
              </a:lnSpc>
            </a:pPr>
            <a:r>
              <a:rPr lang="es-ES" dirty="0"/>
              <a:t>PMI Professional in Business </a:t>
            </a:r>
            <a:r>
              <a:rPr lang="es-ES" dirty="0" err="1"/>
              <a:t>Analysis</a:t>
            </a:r>
            <a:r>
              <a:rPr lang="es-ES" dirty="0"/>
              <a:t>. (2020). Recuperado de: https://www.pmi.org/certification/businessanalysis-pba.aspx</a:t>
            </a:r>
          </a:p>
          <a:p>
            <a:pPr>
              <a:lnSpc>
                <a:spcPct val="100000"/>
              </a:lnSpc>
            </a:pPr>
            <a:r>
              <a:rPr lang="es-ES" dirty="0"/>
              <a:t>International </a:t>
            </a:r>
            <a:r>
              <a:rPr lang="es-ES" dirty="0" err="1"/>
              <a:t>Institute</a:t>
            </a:r>
            <a:r>
              <a:rPr lang="es-ES" dirty="0"/>
              <a:t> </a:t>
            </a:r>
            <a:r>
              <a:rPr lang="es-ES" dirty="0" err="1"/>
              <a:t>of</a:t>
            </a:r>
            <a:r>
              <a:rPr lang="es-ES" dirty="0"/>
              <a:t> Business </a:t>
            </a:r>
            <a:r>
              <a:rPr lang="es-ES" dirty="0" err="1"/>
              <a:t>Analysis</a:t>
            </a:r>
            <a:r>
              <a:rPr lang="es-ES" dirty="0"/>
              <a:t>. (2011). Recuperado de: https://analytics.infozone.pro/wpcontent/uploads/2013/04/IIBA_Competency_Model_v3_Final.pdf</a:t>
            </a:r>
          </a:p>
        </p:txBody>
      </p:sp>
    </p:spTree>
    <p:custDataLst>
      <p:tags r:id="rId1"/>
    </p:custDataLst>
    <p:extLst>
      <p:ext uri="{BB962C8B-B14F-4D97-AF65-F5344CB8AC3E}">
        <p14:creationId xmlns:p14="http://schemas.microsoft.com/office/powerpoint/2010/main" val="1480541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DESIGN_ID_OFFICE THEME" val="Yge96mEv"/>
  <p:tag name="ARTICULATE_SLIDE_COUNT" val="1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lIns="91425" tIns="91425" rIns="91425" bIns="91425" anchor="t" anchorCtr="0">
        <a:noAutofit/>
      </a:bodyPr>
      <a:lstStyle>
        <a:defPPr marL="174625" indent="-174625">
          <a:spcBef>
            <a:spcPts val="0"/>
          </a:spcBef>
          <a:buSzPct val="100000"/>
          <a:defRPr sz="1500" dirty="0" smtClean="0">
            <a:latin typeface="Calibri"/>
            <a:cs typeface="Calibri"/>
          </a:defRPr>
        </a:defPPr>
      </a:lstStyle>
    </a:txDef>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10904</TotalTime>
  <Words>4784</Words>
  <Application>Microsoft Office PowerPoint</Application>
  <PresentationFormat>Presentación en pantalla (16:10)</PresentationFormat>
  <Paragraphs>388</Paragraphs>
  <Slides>48</Slides>
  <Notes>48</Notes>
  <HiddenSlides>0</HiddenSlides>
  <MMClips>0</MMClips>
  <ScaleCrop>false</ScaleCrop>
  <HeadingPairs>
    <vt:vector size="6" baseType="variant">
      <vt:variant>
        <vt:lpstr>Fuentes usadas</vt:lpstr>
      </vt:variant>
      <vt:variant>
        <vt:i4>5</vt:i4>
      </vt:variant>
      <vt:variant>
        <vt:lpstr>Tema</vt:lpstr>
      </vt:variant>
      <vt:variant>
        <vt:i4>2</vt:i4>
      </vt:variant>
      <vt:variant>
        <vt:lpstr>Títulos de diapositiva</vt:lpstr>
      </vt:variant>
      <vt:variant>
        <vt:i4>48</vt:i4>
      </vt:variant>
    </vt:vector>
  </HeadingPairs>
  <TitlesOfParts>
    <vt:vector size="55" baseType="lpstr">
      <vt:lpstr>Arial</vt:lpstr>
      <vt:lpstr>Calibri</vt:lpstr>
      <vt:lpstr>Delius</vt:lpstr>
      <vt:lpstr>Ubuntu</vt:lpstr>
      <vt:lpstr>Wingdings</vt:lpstr>
      <vt:lpstr>Office Theme</vt:lpstr>
      <vt:lpstr>1_Office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ISIL</dc:creator>
  <cp:lastModifiedBy>Arturo Enrique Reátegui Herrera</cp:lastModifiedBy>
  <cp:revision>677</cp:revision>
  <cp:lastPrinted>2018-01-16T21:42:59Z</cp:lastPrinted>
  <dcterms:created xsi:type="dcterms:W3CDTF">2016-10-06T14:52:02Z</dcterms:created>
  <dcterms:modified xsi:type="dcterms:W3CDTF">2023-06-26T17:09:34Z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