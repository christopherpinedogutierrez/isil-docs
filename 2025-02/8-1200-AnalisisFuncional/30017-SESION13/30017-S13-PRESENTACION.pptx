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6.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7.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8.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9.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0.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11.xml" ContentType="application/vnd.openxmlformats-officedocument.presentationml.tags+xml"/>
  <Override PartName="/ppt/notesSlides/notesSlide63.xml" ContentType="application/vnd.openxmlformats-officedocument.presentationml.notesSlide+xml"/>
  <Override PartName="/ppt/tags/tag12.xml" ContentType="application/vnd.openxmlformats-officedocument.presentationml.tags+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handoutMasterIdLst>
    <p:handoutMasterId r:id="rId67"/>
  </p:handoutMasterIdLst>
  <p:sldIdLst>
    <p:sldId id="418" r:id="rId2"/>
    <p:sldId id="337" r:id="rId3"/>
    <p:sldId id="315" r:id="rId4"/>
    <p:sldId id="474" r:id="rId5"/>
    <p:sldId id="481" r:id="rId6"/>
    <p:sldId id="482" r:id="rId7"/>
    <p:sldId id="483" r:id="rId8"/>
    <p:sldId id="484" r:id="rId9"/>
    <p:sldId id="485" r:id="rId10"/>
    <p:sldId id="486" r:id="rId11"/>
    <p:sldId id="487" r:id="rId12"/>
    <p:sldId id="488" r:id="rId13"/>
    <p:sldId id="489" r:id="rId14"/>
    <p:sldId id="452" r:id="rId15"/>
    <p:sldId id="458" r:id="rId16"/>
    <p:sldId id="491" r:id="rId17"/>
    <p:sldId id="460" r:id="rId18"/>
    <p:sldId id="459" r:id="rId19"/>
    <p:sldId id="493" r:id="rId20"/>
    <p:sldId id="494" r:id="rId21"/>
    <p:sldId id="495" r:id="rId22"/>
    <p:sldId id="496" r:id="rId23"/>
    <p:sldId id="453" r:id="rId24"/>
    <p:sldId id="461" r:id="rId25"/>
    <p:sldId id="497" r:id="rId26"/>
    <p:sldId id="462" r:id="rId27"/>
    <p:sldId id="498" r:id="rId28"/>
    <p:sldId id="499" r:id="rId29"/>
    <p:sldId id="454" r:id="rId30"/>
    <p:sldId id="464" r:id="rId31"/>
    <p:sldId id="500" r:id="rId32"/>
    <p:sldId id="501" r:id="rId33"/>
    <p:sldId id="502" r:id="rId34"/>
    <p:sldId id="503" r:id="rId35"/>
    <p:sldId id="504" r:id="rId36"/>
    <p:sldId id="466" r:id="rId37"/>
    <p:sldId id="455" r:id="rId38"/>
    <p:sldId id="467" r:id="rId39"/>
    <p:sldId id="507" r:id="rId40"/>
    <p:sldId id="508" r:id="rId41"/>
    <p:sldId id="469" r:id="rId42"/>
    <p:sldId id="509" r:id="rId43"/>
    <p:sldId id="456" r:id="rId44"/>
    <p:sldId id="472" r:id="rId45"/>
    <p:sldId id="510" r:id="rId46"/>
    <p:sldId id="511" r:id="rId47"/>
    <p:sldId id="512" r:id="rId48"/>
    <p:sldId id="513" r:id="rId49"/>
    <p:sldId id="470" r:id="rId50"/>
    <p:sldId id="514" r:id="rId51"/>
    <p:sldId id="515" r:id="rId52"/>
    <p:sldId id="516" r:id="rId53"/>
    <p:sldId id="517" r:id="rId54"/>
    <p:sldId id="518" r:id="rId55"/>
    <p:sldId id="473" r:id="rId56"/>
    <p:sldId id="457" r:id="rId57"/>
    <p:sldId id="471" r:id="rId58"/>
    <p:sldId id="519" r:id="rId59"/>
    <p:sldId id="520" r:id="rId60"/>
    <p:sldId id="521" r:id="rId61"/>
    <p:sldId id="522" r:id="rId62"/>
    <p:sldId id="523" r:id="rId63"/>
    <p:sldId id="303" r:id="rId64"/>
    <p:sldId id="448" r:id="rId65"/>
  </p:sldIdLst>
  <p:sldSz cx="9144000" cy="5715000" type="screen16x10"/>
  <p:notesSz cx="6797675" cy="9926638"/>
  <p:custDataLst>
    <p:tags r:id="rId6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85A6"/>
    <a:srgbClr val="558ED5"/>
    <a:srgbClr val="81FFBA"/>
    <a:srgbClr val="15BDAD"/>
    <a:srgbClr val="48C2BB"/>
    <a:srgbClr val="F1D156"/>
    <a:srgbClr val="276B7D"/>
    <a:srgbClr val="F1FDC3"/>
    <a:srgbClr val="9CC606"/>
    <a:srgbClr val="E2F6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18" autoAdjust="0"/>
    <p:restoredTop sz="95268" autoAdjust="0"/>
  </p:normalViewPr>
  <p:slideViewPr>
    <p:cSldViewPr snapToGrid="0" snapToObjects="1" showGuides="1">
      <p:cViewPr varScale="1">
        <p:scale>
          <a:sx n="98" d="100"/>
          <a:sy n="98" d="100"/>
        </p:scale>
        <p:origin x="1291" y="8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9462"/>
    </p:cViewPr>
  </p:sorterViewPr>
  <p:notesViewPr>
    <p:cSldViewPr snapToGrid="0" snapToObjects="1" showGuides="1">
      <p:cViewPr varScale="1">
        <p:scale>
          <a:sx n="48" d="100"/>
          <a:sy n="48" d="100"/>
        </p:scale>
        <p:origin x="2940" y="72"/>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07/08/2023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7/08/2023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6"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435735" marR="574040" indent="0" algn="l">
              <a:lnSpc>
                <a:spcPct val="155000"/>
              </a:lnSpc>
              <a:spcBef>
                <a:spcPts val="800"/>
              </a:spcBef>
              <a:spcAft>
                <a:spcPts val="0"/>
              </a:spcAft>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BPM es una disciplina continua que se realiza en un ciclo de retroalimentación constante, donde los resultados del monitoreo y control de procesos informan las futuras etapas de identificación, diseño e implementación de procesos.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1899231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Estos principios fundamentales de BPM proporcionan un marco sólido para la gestión eficaz de los procesos, permitiendo que las organizaciones mejoren su rendimiento, se adapten rápidamente a los cambios y brinden un mayor valor a sus clientes y partes interesadas.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3129239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2879451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822537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896772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1171849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420723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1674757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7299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24095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622133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modelización de procesos es un diagrama que típicamente muestra eventos, acciones y enlaces o flujos entre ellos.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Para desarrollar un proyecto de modelado de procesos son necesarios los siguientes elementos: método, metamodelo, notación y herramienta.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766962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33555954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lvl="0" indent="0">
              <a:buFont typeface="Arial" panose="020B0604020202020204" pitchFamily="34" charset="0"/>
              <a:buNone/>
            </a:pPr>
            <a:r>
              <a:rPr lang="es-ES" dirty="0"/>
              <a:t>BPMN sirve como un puente común que facilita la comunicación y la comprensión entre los diferentes </a:t>
            </a:r>
            <a:r>
              <a:rPr lang="es-ES" i="1" dirty="0"/>
              <a:t>stakeholders</a:t>
            </a:r>
            <a:r>
              <a:rPr lang="es-ES" dirty="0"/>
              <a:t> de un proceso de negocio, permitiendo que todos tengan una visión clara y compartida del proceso.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317875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921914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1494519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2178171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239102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3851335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1254925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objetivo del análisis cualitativo de procesos es proporcionar una comprensión profunda de cómo se están realizando los procesos y identificar oportunidades para mejorar. Aunque no proporciona medidas numéricas, puede proporcionar información valiosa que puede ayudar a mejorar la calidad, la eficacia y la eficiencia de los procesos.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6303758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15695720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objetivo del análisis cuantitativo de procesos es proporcionar medidas objetivas que puedan ayudar a evaluar el rendimiento del proceso y a identificar oportunidades para mejorar. Estas medidas pueden ser utilizadas para establecer objetivos, rastrear el progreso y tomar decisiones basadas en datos.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15906522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25514100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40688733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22460796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20253206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14971949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39355507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26992181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6989905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35455346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41553991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29429815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33092604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proceso específico puede variar dependiendo de la naturaleza de la organización y del proceso que se está rediseñando.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8214909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41459752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importante tener en cuenta que el rediseño de procesos es un esfuerzo significativo que puede requerir una inversión considerable de tiempo y recursos. Por lo tanto, debe ser emprendido con cuidado, y solo cuando sea claro que los beneficios potenciales superan los costos y los riesgos.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41747205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3611835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13597886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Estos aspectos de la gestión de la calidad en la BPM garantizan que los procesos de negocio se realicen de manera eficiente y efectiva, generando resultados de alta calidad que satisfacen o superan las expectativas de los clientes. El enfoque continuo en la definición, medición, mejora y control de la calidad permite a las organizaciones mantener una cultura de mejora continua y asegurar la entrega de productos y servicios de calidad.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5553259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29881368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14258802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26761252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38522618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49</a:t>
            </a:fld>
            <a:endParaRPr lang="es-PE"/>
          </a:p>
        </p:txBody>
      </p:sp>
    </p:spTree>
    <p:extLst>
      <p:ext uri="{BB962C8B-B14F-4D97-AF65-F5344CB8AC3E}">
        <p14:creationId xmlns:p14="http://schemas.microsoft.com/office/powerpoint/2010/main" val="4732416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50</a:t>
            </a:fld>
            <a:endParaRPr lang="es-PE"/>
          </a:p>
        </p:txBody>
      </p:sp>
    </p:spTree>
    <p:extLst>
      <p:ext uri="{BB962C8B-B14F-4D97-AF65-F5344CB8AC3E}">
        <p14:creationId xmlns:p14="http://schemas.microsoft.com/office/powerpoint/2010/main" val="2303347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51</a:t>
            </a:fld>
            <a:endParaRPr lang="es-PE"/>
          </a:p>
        </p:txBody>
      </p:sp>
    </p:spTree>
    <p:extLst>
      <p:ext uri="{BB962C8B-B14F-4D97-AF65-F5344CB8AC3E}">
        <p14:creationId xmlns:p14="http://schemas.microsoft.com/office/powerpoint/2010/main" val="31634616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52</a:t>
            </a:fld>
            <a:endParaRPr lang="es-PE"/>
          </a:p>
        </p:txBody>
      </p:sp>
    </p:spTree>
    <p:extLst>
      <p:ext uri="{BB962C8B-B14F-4D97-AF65-F5344CB8AC3E}">
        <p14:creationId xmlns:p14="http://schemas.microsoft.com/office/powerpoint/2010/main" val="29274927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53</a:t>
            </a:fld>
            <a:endParaRPr lang="es-PE"/>
          </a:p>
        </p:txBody>
      </p:sp>
    </p:spTree>
    <p:extLst>
      <p:ext uri="{BB962C8B-B14F-4D97-AF65-F5344CB8AC3E}">
        <p14:creationId xmlns:p14="http://schemas.microsoft.com/office/powerpoint/2010/main" val="10661613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54</a:t>
            </a:fld>
            <a:endParaRPr lang="es-PE"/>
          </a:p>
        </p:txBody>
      </p:sp>
    </p:spTree>
    <p:extLst>
      <p:ext uri="{BB962C8B-B14F-4D97-AF65-F5344CB8AC3E}">
        <p14:creationId xmlns:p14="http://schemas.microsoft.com/office/powerpoint/2010/main" val="8522119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55</a:t>
            </a:fld>
            <a:endParaRPr lang="es-PE"/>
          </a:p>
        </p:txBody>
      </p:sp>
    </p:spTree>
    <p:extLst>
      <p:ext uri="{BB962C8B-B14F-4D97-AF65-F5344CB8AC3E}">
        <p14:creationId xmlns:p14="http://schemas.microsoft.com/office/powerpoint/2010/main" val="26487538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56</a:t>
            </a:fld>
            <a:endParaRPr lang="es-PE"/>
          </a:p>
        </p:txBody>
      </p:sp>
    </p:spTree>
    <p:extLst>
      <p:ext uri="{BB962C8B-B14F-4D97-AF65-F5344CB8AC3E}">
        <p14:creationId xmlns:p14="http://schemas.microsoft.com/office/powerpoint/2010/main" val="29914704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57</a:t>
            </a:fld>
            <a:endParaRPr lang="es-PE"/>
          </a:p>
        </p:txBody>
      </p:sp>
    </p:spTree>
    <p:extLst>
      <p:ext uri="{BB962C8B-B14F-4D97-AF65-F5344CB8AC3E}">
        <p14:creationId xmlns:p14="http://schemas.microsoft.com/office/powerpoint/2010/main" val="25550758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58</a:t>
            </a:fld>
            <a:endParaRPr lang="es-PE"/>
          </a:p>
        </p:txBody>
      </p:sp>
    </p:spTree>
    <p:extLst>
      <p:ext uri="{BB962C8B-B14F-4D97-AF65-F5344CB8AC3E}">
        <p14:creationId xmlns:p14="http://schemas.microsoft.com/office/powerpoint/2010/main" val="7779442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59</a:t>
            </a:fld>
            <a:endParaRPr lang="es-PE"/>
          </a:p>
        </p:txBody>
      </p:sp>
    </p:spTree>
    <p:extLst>
      <p:ext uri="{BB962C8B-B14F-4D97-AF65-F5344CB8AC3E}">
        <p14:creationId xmlns:p14="http://schemas.microsoft.com/office/powerpoint/2010/main" val="4671496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60</a:t>
            </a:fld>
            <a:endParaRPr lang="es-PE"/>
          </a:p>
        </p:txBody>
      </p:sp>
    </p:spTree>
    <p:extLst>
      <p:ext uri="{BB962C8B-B14F-4D97-AF65-F5344CB8AC3E}">
        <p14:creationId xmlns:p14="http://schemas.microsoft.com/office/powerpoint/2010/main" val="4565466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61</a:t>
            </a:fld>
            <a:endParaRPr lang="es-PE"/>
          </a:p>
        </p:txBody>
      </p:sp>
    </p:spTree>
    <p:extLst>
      <p:ext uri="{BB962C8B-B14F-4D97-AF65-F5344CB8AC3E}">
        <p14:creationId xmlns:p14="http://schemas.microsoft.com/office/powerpoint/2010/main" val="39577607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62</a:t>
            </a:fld>
            <a:endParaRPr lang="es-PE"/>
          </a:p>
        </p:txBody>
      </p:sp>
    </p:spTree>
    <p:extLst>
      <p:ext uri="{BB962C8B-B14F-4D97-AF65-F5344CB8AC3E}">
        <p14:creationId xmlns:p14="http://schemas.microsoft.com/office/powerpoint/2010/main" val="13979046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0" indent="0" rtl="0">
              <a:buFont typeface="+mj-lt"/>
              <a:buNone/>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64</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blanc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8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gris)">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5724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a:solidFill>
            <a:schemeClr val="accent4">
              <a:lumMod val="20000"/>
              <a:lumOff val="80000"/>
            </a:schemeClr>
          </a:solidFill>
        </p:spPr>
        <p:txBody>
          <a:bodyPr numCol="3"/>
          <a:lstStyle>
            <a:lvl1pPr marL="173038" indent="-173038" algn="l">
              <a:spcBef>
                <a:spcPts val="0"/>
              </a:spcBef>
              <a:spcAft>
                <a:spcPts val="200"/>
              </a:spcAft>
              <a:buSzPct val="75000"/>
              <a:buFont typeface="Wingdings" panose="05000000000000000000" pitchFamily="2" charset="2"/>
              <a:buChar char="§"/>
              <a:defRPr sz="1400"/>
            </a:lvl1pPr>
            <a:lvl2pPr marL="531813" indent="-265113" algn="just">
              <a:spcBef>
                <a:spcPts val="0"/>
              </a:spcBef>
              <a:spcAft>
                <a:spcPts val="800"/>
              </a:spcAft>
              <a:buFont typeface="Wingdings" panose="05000000000000000000" pitchFamily="2" charset="2"/>
              <a:buChar char="§"/>
              <a:defRPr sz="1400"/>
            </a:lvl2pPr>
            <a:lvl3pPr marL="717550" indent="-185738" algn="just">
              <a:spcBef>
                <a:spcPts val="0"/>
              </a:spcBef>
              <a:spcAft>
                <a:spcPts val="800"/>
              </a:spcAft>
              <a:buFont typeface="Wingdings" panose="05000000000000000000" pitchFamily="2" charset="2"/>
              <a:buChar char="§"/>
              <a:defRPr sz="1400"/>
            </a:lvl3pPr>
            <a:lvl4pPr>
              <a:defRPr sz="1600"/>
            </a:lvl4pPr>
            <a:lvl5pPr>
              <a:defRPr sz="1600"/>
            </a:lvl5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66C3FB06-AEFF-9166-C6DD-B8FA2AD57863}"/>
              </a:ext>
            </a:extLst>
          </p:cNvPr>
          <p:cNvSpPr>
            <a:spLocks noGrp="1"/>
          </p:cNvSpPr>
          <p:nvPr>
            <p:ph type="body" sz="quarter" idx="15" hasCustomPrompt="1"/>
          </p:nvPr>
        </p:nvSpPr>
        <p:spPr>
          <a:xfrm>
            <a:off x="6319838" y="804863"/>
            <a:ext cx="2359025" cy="377825"/>
          </a:xfrm>
          <a:prstGeom prst="rect">
            <a:avLst/>
          </a:prstGeom>
        </p:spPr>
        <p:txBody>
          <a:bodyPr/>
          <a:lstStyle>
            <a:lvl1pPr marL="0" indent="0" algn="r">
              <a:spcBef>
                <a:spcPts val="0"/>
              </a:spcBef>
              <a:buNone/>
              <a:defRPr sz="2000" b="1" i="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076242012"/>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804863"/>
            <a:ext cx="8208000" cy="4456737"/>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41335730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Subtema con 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93600"/>
            <a:ext cx="8207375" cy="4068000"/>
          </a:xfrm>
          <a:prstGeom prst="rect">
            <a:avLst/>
          </a:prstGeom>
        </p:spPr>
        <p:txBody>
          <a:bodyPr anchor="ctr"/>
          <a:lstStyle>
            <a:lvl1pPr marL="0" indent="0" algn="ctr">
              <a:buNone/>
              <a:defRPr/>
            </a:lvl1pPr>
          </a:lstStyle>
          <a:p>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ABA448E1-A688-00A1-4209-9A9B21FA2758}"/>
              </a:ext>
            </a:extLst>
          </p:cNvPr>
          <p:cNvSpPr>
            <a:spLocks noGrp="1"/>
          </p:cNvSpPr>
          <p:nvPr>
            <p:ph type="body" sz="quarter" idx="14" hasCustomPrompt="1"/>
          </p:nvPr>
        </p:nvSpPr>
        <p:spPr>
          <a:xfrm>
            <a:off x="468313" y="804863"/>
            <a:ext cx="8207375" cy="354012"/>
          </a:xfrm>
          <a:prstGeom prst="rect">
            <a:avLst/>
          </a:prstGeom>
        </p:spPr>
        <p:txBody>
          <a:bodyPr/>
          <a:lstStyle>
            <a:lvl1pPr marL="0" indent="0">
              <a:buNone/>
              <a:defRPr sz="1600" b="1"/>
            </a:lvl1pPr>
          </a:lstStyle>
          <a:p>
            <a:pPr lvl="0"/>
            <a:r>
              <a:rPr lang="es-ES" dirty="0"/>
              <a:t>HAGA CLIC PARA MODIFICAR LOS ESTILOS DE TEXTO</a:t>
            </a:r>
            <a:endParaRPr lang="es-PE" dirty="0"/>
          </a:p>
        </p:txBody>
      </p:sp>
    </p:spTree>
    <p:extLst>
      <p:ext uri="{BB962C8B-B14F-4D97-AF65-F5344CB8AC3E}">
        <p14:creationId xmlns:p14="http://schemas.microsoft.com/office/powerpoint/2010/main" val="3703842985"/>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
        <p:nvSpPr>
          <p:cNvPr id="3" name="Marcador de texto 14">
            <a:extLst>
              <a:ext uri="{FF2B5EF4-FFF2-40B4-BE49-F238E27FC236}">
                <a16:creationId xmlns:a16="http://schemas.microsoft.com/office/drawing/2014/main" id="{65683288-FF9D-EF85-5303-58FF571EB5ED}"/>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posición de imagen 4">
            <a:extLst>
              <a:ext uri="{FF2B5EF4-FFF2-40B4-BE49-F238E27FC236}">
                <a16:creationId xmlns:a16="http://schemas.microsoft.com/office/drawing/2014/main" id="{5F4F4ED8-1EB9-8C4E-58AA-74C396C6650A}"/>
              </a:ext>
            </a:extLst>
          </p:cNvPr>
          <p:cNvSpPr>
            <a:spLocks noGrp="1"/>
          </p:cNvSpPr>
          <p:nvPr>
            <p:ph type="pic" sz="quarter" idx="14"/>
          </p:nvPr>
        </p:nvSpPr>
        <p:spPr>
          <a:xfrm>
            <a:off x="462987" y="804863"/>
            <a:ext cx="8212701" cy="4465637"/>
          </a:xfrm>
          <a:prstGeom prst="rect">
            <a:avLst/>
          </a:prstGeom>
        </p:spPr>
        <p:txBody>
          <a:bodyPr anchor="ctr"/>
          <a:lstStyle>
            <a:lvl1pPr marL="0" indent="0" algn="ctr">
              <a:buNone/>
              <a:defRPr/>
            </a:lvl1pPr>
          </a:lstStyle>
          <a:p>
            <a:endParaRPr lang="es-PE"/>
          </a:p>
        </p:txBody>
      </p:sp>
    </p:spTree>
    <p:extLst>
      <p:ext uri="{BB962C8B-B14F-4D97-AF65-F5344CB8AC3E}">
        <p14:creationId xmlns:p14="http://schemas.microsoft.com/office/powerpoint/2010/main" val="3026187525"/>
      </p:ext>
    </p:extLst>
  </p:cSld>
  <p:clrMapOvr>
    <a:masterClrMapping/>
  </p:clrMapOvr>
  <p:extLst>
    <p:ext uri="{DCECCB84-F9BA-43D5-87BE-67443E8EF086}">
      <p15:sldGuideLst xmlns:p15="http://schemas.microsoft.com/office/powerpoint/2012/main">
        <p15:guide id="1" pos="295" userDrawn="1">
          <p15:clr>
            <a:srgbClr val="FBAE40"/>
          </p15:clr>
        </p15:guide>
        <p15:guide id="2" pos="2880" userDrawn="1">
          <p15:clr>
            <a:srgbClr val="FBAE40"/>
          </p15:clr>
        </p15:guide>
        <p15:guide id="3" pos="5465" userDrawn="1">
          <p15:clr>
            <a:srgbClr val="FBAE40"/>
          </p15:clr>
        </p15:guide>
        <p15:guide id="4" orient="horz" pos="1800" userDrawn="1">
          <p15:clr>
            <a:srgbClr val="FBAE40"/>
          </p15:clr>
        </p15:guide>
        <p15:guide id="5" orient="horz" pos="3320" userDrawn="1">
          <p15:clr>
            <a:srgbClr val="FBAE40"/>
          </p15:clr>
        </p15:guide>
        <p15:guide id="6" orient="horz" pos="507"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13</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3">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62" r:id="rId1"/>
    <p:sldLayoutId id="2147483678" r:id="rId2"/>
    <p:sldLayoutId id="2147483656" r:id="rId3"/>
    <p:sldLayoutId id="2147483679" r:id="rId4"/>
    <p:sldLayoutId id="2147483680" r:id="rId5"/>
    <p:sldLayoutId id="2147483692" r:id="rId6"/>
    <p:sldLayoutId id="2147483685" r:id="rId7"/>
    <p:sldLayoutId id="2147483649" r:id="rId8"/>
    <p:sldLayoutId id="2147483669" r:id="rId9"/>
    <p:sldLayoutId id="2147483667" r:id="rId10"/>
    <p:sldLayoutId id="214748369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9.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GESTIÓN DE PROCESOS DE NEGOCIO (BPM)</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4 – UA4</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Fundamentos BPM</a:t>
            </a:r>
          </a:p>
          <a:p>
            <a:pPr>
              <a:spcBef>
                <a:spcPts val="0"/>
              </a:spcBef>
            </a:pPr>
            <a:r>
              <a:rPr lang="es-PE" dirty="0"/>
              <a:t>Modelamiento de Procesos (BPMN)</a:t>
            </a:r>
          </a:p>
          <a:p>
            <a:pPr>
              <a:spcBef>
                <a:spcPts val="0"/>
              </a:spcBef>
            </a:pPr>
            <a:r>
              <a:rPr lang="es-PE" dirty="0"/>
              <a:t>Análisis cualitativo y cuantitativo de procesos</a:t>
            </a:r>
          </a:p>
          <a:p>
            <a:pPr>
              <a:spcBef>
                <a:spcPts val="0"/>
              </a:spcBef>
            </a:pPr>
            <a:r>
              <a:rPr lang="es-PE" dirty="0"/>
              <a:t>Indicadores de desempeño para medición de procesos</a:t>
            </a:r>
          </a:p>
          <a:p>
            <a:pPr>
              <a:spcBef>
                <a:spcPts val="0"/>
              </a:spcBef>
            </a:pPr>
            <a:r>
              <a:rPr lang="es-PE" dirty="0"/>
              <a:t>Rediseño de procesos</a:t>
            </a:r>
          </a:p>
          <a:p>
            <a:pPr>
              <a:spcBef>
                <a:spcPts val="0"/>
              </a:spcBef>
            </a:pPr>
            <a:r>
              <a:rPr lang="es-PE" dirty="0"/>
              <a:t>Gestión de la calidad</a:t>
            </a:r>
          </a:p>
          <a:p>
            <a:pPr>
              <a:spcBef>
                <a:spcPts val="0"/>
              </a:spcBef>
            </a:pPr>
            <a:r>
              <a:rPr lang="es-PE" dirty="0" err="1"/>
              <a:t>Six</a:t>
            </a:r>
            <a:r>
              <a:rPr lang="es-PE" dirty="0"/>
              <a:t> Sigma</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13</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prstGeom prst="rect">
            <a:avLst/>
          </a:prstGeom>
        </p:spPr>
        <p:txBody>
          <a:bodyPr/>
          <a:lstStyle/>
          <a:p>
            <a:r>
              <a:rPr lang="es-ES" dirty="0"/>
              <a:t>BPM es una disciplina de gestión empresarial enfocada en sistematizar y facilitar los procesos individuales complejos de la organización, no solo dentro, sino también fuera de la empresa, lo que la convierte en esencial dentro de la formación de un analista de negocios.</a:t>
            </a:r>
          </a:p>
          <a:p>
            <a:pPr>
              <a:spcAft>
                <a:spcPts val="600"/>
              </a:spcAft>
            </a:pPr>
            <a:r>
              <a:rPr lang="es-ES" dirty="0"/>
              <a:t>Entonces, durante esta sesión:</a:t>
            </a:r>
          </a:p>
          <a:p>
            <a:pPr lvl="1">
              <a:spcAft>
                <a:spcPts val="600"/>
              </a:spcAft>
            </a:pPr>
            <a:r>
              <a:rPr lang="es-ES" b="1" dirty="0"/>
              <a:t>Conocerás</a:t>
            </a:r>
            <a:r>
              <a:rPr lang="es-ES" dirty="0"/>
              <a:t> los fundamentos del </a:t>
            </a:r>
            <a:r>
              <a:rPr lang="es-ES" i="1" dirty="0">
                <a:solidFill>
                  <a:srgbClr val="FF0000"/>
                </a:solidFill>
              </a:rPr>
              <a:t>Business Process Management </a:t>
            </a:r>
            <a:r>
              <a:rPr lang="es-ES" dirty="0">
                <a:solidFill>
                  <a:srgbClr val="FF0000"/>
                </a:solidFill>
              </a:rPr>
              <a:t>(BPM).</a:t>
            </a:r>
          </a:p>
          <a:p>
            <a:pPr lvl="1">
              <a:spcAft>
                <a:spcPts val="600"/>
              </a:spcAft>
            </a:pPr>
            <a:r>
              <a:rPr lang="es-ES" b="1" dirty="0"/>
              <a:t>Aprenderás</a:t>
            </a:r>
            <a:r>
              <a:rPr lang="es-ES" dirty="0"/>
              <a:t> a utilizar la nomenclatura del </a:t>
            </a:r>
            <a:r>
              <a:rPr lang="es-ES" dirty="0">
                <a:solidFill>
                  <a:srgbClr val="FF0000"/>
                </a:solidFill>
              </a:rPr>
              <a:t>Modelamiento de Procesos (BPMN).</a:t>
            </a:r>
          </a:p>
          <a:p>
            <a:pPr lvl="1">
              <a:spcAft>
                <a:spcPts val="600"/>
              </a:spcAft>
            </a:pPr>
            <a:r>
              <a:rPr lang="es-ES" b="1" dirty="0"/>
              <a:t>Comprenderás</a:t>
            </a:r>
            <a:r>
              <a:rPr lang="es-ES" dirty="0"/>
              <a:t> cómo realizar el análisis cualitativo y cuantitativo de procesos.</a:t>
            </a:r>
          </a:p>
          <a:p>
            <a:pPr lvl="1">
              <a:spcAft>
                <a:spcPts val="600"/>
              </a:spcAft>
            </a:pPr>
            <a:r>
              <a:rPr lang="es-ES" b="1" dirty="0"/>
              <a:t>Aprenderás </a:t>
            </a:r>
            <a:r>
              <a:rPr lang="es-ES" dirty="0"/>
              <a:t>cómo utilizar los indicadores de desempeño para medición de procesos.</a:t>
            </a:r>
          </a:p>
          <a:p>
            <a:pPr lvl="1">
              <a:spcAft>
                <a:spcPts val="600"/>
              </a:spcAft>
            </a:pPr>
            <a:r>
              <a:rPr lang="es-ES" b="1" dirty="0"/>
              <a:t>Conocerás</a:t>
            </a:r>
            <a:r>
              <a:rPr lang="es-ES" dirty="0"/>
              <a:t> el alcance del rediseño de procesos.</a:t>
            </a:r>
          </a:p>
          <a:p>
            <a:pPr lvl="1">
              <a:spcAft>
                <a:spcPts val="600"/>
              </a:spcAft>
            </a:pPr>
            <a:r>
              <a:rPr lang="es-ES" b="1" dirty="0"/>
              <a:t>Comprenderás</a:t>
            </a:r>
            <a:r>
              <a:rPr lang="es-ES" dirty="0"/>
              <a:t> las implicancias de la gestión de la calidad.</a:t>
            </a:r>
          </a:p>
          <a:p>
            <a:pPr lvl="1">
              <a:spcAft>
                <a:spcPts val="600"/>
              </a:spcAft>
            </a:pPr>
            <a:r>
              <a:rPr lang="es-ES" b="1" dirty="0"/>
              <a:t>Conocerás</a:t>
            </a:r>
            <a:r>
              <a:rPr lang="es-ES" dirty="0"/>
              <a:t> en qué consiste el Six Sigma.</a:t>
            </a:r>
          </a:p>
          <a:p>
            <a:pPr lvl="1">
              <a:spcAft>
                <a:spcPts val="600"/>
              </a:spcAft>
            </a:pPr>
            <a:endParaRPr lang="es-ES" dirty="0"/>
          </a:p>
          <a:p>
            <a:pPr lvl="1" algn="just">
              <a:spcAft>
                <a:spcPts val="600"/>
              </a:spcAft>
            </a:pP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497651"/>
          </a:xfrm>
        </p:spPr>
        <p:txBody>
          <a:bodyPr/>
          <a:lstStyle/>
          <a:p>
            <a:pPr marL="274638" indent="-274638">
              <a:tabLst>
                <a:tab pos="274638" algn="l"/>
              </a:tabLst>
            </a:pPr>
            <a:r>
              <a:rPr lang="es-PE" dirty="0"/>
              <a:t>/	FUNDAMENTOS BPM</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BUSINESS PROCESS MANAGEMENT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249002"/>
          </a:xfrm>
        </p:spPr>
        <p:txBody>
          <a:bodyPr/>
          <a:lstStyle/>
          <a:p>
            <a:r>
              <a:rPr lang="es-ES" dirty="0">
                <a:solidFill>
                  <a:srgbClr val="FF0000"/>
                </a:solidFill>
              </a:rPr>
              <a:t>La Gestión de Procesos de Negocio (BPM) </a:t>
            </a:r>
            <a:r>
              <a:rPr lang="es-ES" dirty="0"/>
              <a:t>es una disciplina que involucra la </a:t>
            </a:r>
            <a:r>
              <a:rPr lang="es-ES" b="1" dirty="0"/>
              <a:t>identificación</a:t>
            </a:r>
            <a:r>
              <a:rPr lang="es-ES" dirty="0"/>
              <a:t>, </a:t>
            </a:r>
            <a:r>
              <a:rPr lang="es-ES" b="1" dirty="0"/>
              <a:t>diseño</a:t>
            </a:r>
            <a:r>
              <a:rPr lang="es-ES" dirty="0"/>
              <a:t>, </a:t>
            </a:r>
            <a:r>
              <a:rPr lang="es-ES" b="1" dirty="0"/>
              <a:t>documentación</a:t>
            </a:r>
            <a:r>
              <a:rPr lang="es-ES" dirty="0"/>
              <a:t>, </a:t>
            </a:r>
            <a:r>
              <a:rPr lang="es-ES" b="1" dirty="0"/>
              <a:t>implementación</a:t>
            </a:r>
            <a:r>
              <a:rPr lang="es-ES" dirty="0"/>
              <a:t>, </a:t>
            </a:r>
            <a:r>
              <a:rPr lang="es-ES" b="1" dirty="0"/>
              <a:t>monitoreo y control</a:t>
            </a:r>
            <a:r>
              <a:rPr lang="es-ES" dirty="0"/>
              <a:t> de los procesos de negocio para lograr una </a:t>
            </a:r>
            <a:r>
              <a:rPr lang="es-ES" b="1" dirty="0"/>
              <a:t>mejora continua</a:t>
            </a:r>
            <a:r>
              <a:rPr lang="es-ES" dirty="0"/>
              <a:t> y </a:t>
            </a:r>
            <a:r>
              <a:rPr lang="es-ES" b="1" dirty="0"/>
              <a:t>consistente</a:t>
            </a:r>
            <a:r>
              <a:rPr lang="es-ES" dirty="0"/>
              <a:t> en la eficiencia y eficacia de la organización.</a:t>
            </a:r>
          </a:p>
          <a:p>
            <a:r>
              <a:rPr lang="es-ES" dirty="0"/>
              <a:t>Se basa en la idea de que los procesos de negocio </a:t>
            </a:r>
            <a:r>
              <a:rPr lang="es-ES" b="1" dirty="0"/>
              <a:t>son activos</a:t>
            </a:r>
            <a:r>
              <a:rPr lang="es-ES" dirty="0"/>
              <a:t> de una organización que deben ser entendidos, gestionados y desarrollados para anunciar valor y permitir a la organización alcanzar sus objetivos.</a:t>
            </a:r>
          </a:p>
        </p:txBody>
      </p:sp>
      <p:pic>
        <p:nvPicPr>
          <p:cNvPr id="4" name="Marcador de posición de imagen 3">
            <a:extLst>
              <a:ext uri="{FF2B5EF4-FFF2-40B4-BE49-F238E27FC236}">
                <a16:creationId xmlns:a16="http://schemas.microsoft.com/office/drawing/2014/main" id="{AE471012-7151-D013-14CA-93F44810AF49}"/>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1006076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Business Process Management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52179" cy="4111625"/>
          </a:xfrm>
        </p:spPr>
        <p:txBody>
          <a:bodyPr/>
          <a:lstStyle/>
          <a:p>
            <a:pPr>
              <a:spcAft>
                <a:spcPts val="600"/>
              </a:spcAft>
            </a:pPr>
            <a:r>
              <a:rPr lang="es-ES" dirty="0"/>
              <a:t>La gestión de procesos de negocio (BPM, por sus siglas en inglés) se basa en varios </a:t>
            </a:r>
            <a:r>
              <a:rPr lang="es-ES" b="1" dirty="0"/>
              <a:t>principios fundamentales</a:t>
            </a:r>
            <a:r>
              <a:rPr lang="es-ES" dirty="0"/>
              <a:t> que buscan mejorar la eficiencia, la efectividad y la agilidad de los procesos en una organización. Los principales principios son los siguientes:</a:t>
            </a:r>
          </a:p>
          <a:p>
            <a:pPr lvl="1">
              <a:spcAft>
                <a:spcPts val="600"/>
              </a:spcAft>
            </a:pPr>
            <a:r>
              <a:rPr lang="es-ES" dirty="0"/>
              <a:t>Enfoque en el cliente.</a:t>
            </a:r>
          </a:p>
          <a:p>
            <a:pPr lvl="1">
              <a:spcAft>
                <a:spcPts val="600"/>
              </a:spcAft>
            </a:pPr>
            <a:r>
              <a:rPr lang="es-ES" dirty="0"/>
              <a:t>Orientación a los procesos.</a:t>
            </a:r>
          </a:p>
          <a:p>
            <a:pPr lvl="1">
              <a:spcAft>
                <a:spcPts val="600"/>
              </a:spcAft>
            </a:pPr>
            <a:r>
              <a:rPr lang="es-ES" dirty="0"/>
              <a:t>Mejora continua.</a:t>
            </a:r>
          </a:p>
          <a:p>
            <a:pPr lvl="1">
              <a:spcAft>
                <a:spcPts val="600"/>
              </a:spcAft>
            </a:pPr>
            <a:r>
              <a:rPr lang="es-ES" dirty="0"/>
              <a:t>Participación y colaboración.</a:t>
            </a:r>
          </a:p>
          <a:p>
            <a:pPr lvl="1">
              <a:spcAft>
                <a:spcPts val="600"/>
              </a:spcAft>
            </a:pPr>
            <a:r>
              <a:rPr lang="es-ES" dirty="0"/>
              <a:t>Automatización y tecnología.</a:t>
            </a:r>
          </a:p>
          <a:p>
            <a:pPr lvl="1">
              <a:spcAft>
                <a:spcPts val="600"/>
              </a:spcAft>
            </a:pPr>
            <a:r>
              <a:rPr lang="es-ES" dirty="0"/>
              <a:t>Medición y análisis.</a:t>
            </a:r>
          </a:p>
          <a:p>
            <a:pPr lvl="1">
              <a:spcAft>
                <a:spcPts val="600"/>
              </a:spcAft>
            </a:pPr>
            <a:r>
              <a:rPr lang="es-ES" dirty="0"/>
              <a:t>Flexibilidad y agilidad.</a:t>
            </a:r>
          </a:p>
          <a:p>
            <a:pPr lvl="1"/>
            <a:r>
              <a:rPr lang="es-ES" dirty="0"/>
              <a:t>Gestión del cambio.</a:t>
            </a:r>
          </a:p>
        </p:txBody>
      </p:sp>
      <p:pic>
        <p:nvPicPr>
          <p:cNvPr id="4" name="Marcador de posición de imagen 3">
            <a:extLst>
              <a:ext uri="{FF2B5EF4-FFF2-40B4-BE49-F238E27FC236}">
                <a16:creationId xmlns:a16="http://schemas.microsoft.com/office/drawing/2014/main" id="{D116FCDF-DE48-742D-4B38-64576F54B724}"/>
              </a:ext>
            </a:extLst>
          </p:cNvPr>
          <p:cNvPicPr>
            <a:picLocks noGrp="1" noChangeAspect="1"/>
          </p:cNvPicPr>
          <p:nvPr>
            <p:ph type="pic" sz="quarter" idx="10"/>
          </p:nvPr>
        </p:nvPicPr>
        <p:blipFill>
          <a:blip r:embed="rId3"/>
          <a:srcRect l="127" r="127"/>
          <a:stretch>
            <a:fillRect/>
          </a:stretch>
        </p:blipFill>
        <p:spPr>
          <a:xfrm>
            <a:off x="4868688" y="804863"/>
            <a:ext cx="4086000" cy="4446000"/>
          </a:xfrm>
        </p:spPr>
      </p:pic>
    </p:spTree>
    <p:extLst>
      <p:ext uri="{BB962C8B-B14F-4D97-AF65-F5344CB8AC3E}">
        <p14:creationId xmlns:p14="http://schemas.microsoft.com/office/powerpoint/2010/main" val="1399459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Enfoque en el cliente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688188"/>
          </a:xfrm>
        </p:spPr>
        <p:txBody>
          <a:bodyPr/>
          <a:lstStyle/>
          <a:p>
            <a:r>
              <a:rPr lang="es-ES" dirty="0"/>
              <a:t>Este principio establece que </a:t>
            </a:r>
            <a:r>
              <a:rPr lang="es-ES" b="1" dirty="0"/>
              <a:t>los procesos deben diseñarse y gestionarse considerando las necesidades y expectativas del cliente</a:t>
            </a:r>
            <a:r>
              <a:rPr lang="es-ES" dirty="0"/>
              <a:t>. </a:t>
            </a:r>
          </a:p>
          <a:p>
            <a:r>
              <a:rPr lang="es-ES" dirty="0"/>
              <a:t>Para lograrlo, es esencial comprender cómo los procesos impactan la experiencia del cliente y cómo pueden mejorarse para satisfacer sus demandas de manera más eficiente y efectiva.</a:t>
            </a:r>
          </a:p>
          <a:p>
            <a:r>
              <a:rPr lang="es-ES" dirty="0"/>
              <a:t>Al tener en cuenta al cliente como el eje central, se pueden identificar oportunidades para optimizar los procesos y brindar un mayor valor.</a:t>
            </a:r>
          </a:p>
        </p:txBody>
      </p:sp>
      <p:pic>
        <p:nvPicPr>
          <p:cNvPr id="4" name="Marcador de posición de imagen 3">
            <a:extLst>
              <a:ext uri="{FF2B5EF4-FFF2-40B4-BE49-F238E27FC236}">
                <a16:creationId xmlns:a16="http://schemas.microsoft.com/office/drawing/2014/main" id="{E7A7DE95-3DBB-E25B-6A88-4361A398CD80}"/>
              </a:ext>
            </a:extLst>
          </p:cNvPr>
          <p:cNvPicPr>
            <a:picLocks noGrp="1" noChangeAspect="1"/>
          </p:cNvPicPr>
          <p:nvPr>
            <p:ph type="pic" sz="quarter" idx="10"/>
          </p:nvPr>
        </p:nvPicPr>
        <p:blipFill>
          <a:blip r:embed="rId3"/>
          <a:srcRect l="349" r="349"/>
          <a:stretch>
            <a:fillRect/>
          </a:stretch>
        </p:blipFill>
        <p:spPr>
          <a:xfrm>
            <a:off x="4781002" y="824500"/>
            <a:ext cx="4086000" cy="4446000"/>
          </a:xfrm>
        </p:spPr>
      </p:pic>
    </p:spTree>
    <p:extLst>
      <p:ext uri="{BB962C8B-B14F-4D97-AF65-F5344CB8AC3E}">
        <p14:creationId xmlns:p14="http://schemas.microsoft.com/office/powerpoint/2010/main" val="125459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Orientación a los procesos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36549" cy="3975833"/>
          </a:xfrm>
        </p:spPr>
        <p:txBody>
          <a:bodyPr/>
          <a:lstStyle/>
          <a:p>
            <a:r>
              <a:rPr lang="es-ES" dirty="0"/>
              <a:t>Este principio promueve un enfoque holístico de la organización, </a:t>
            </a:r>
            <a:r>
              <a:rPr lang="es-ES" b="1" dirty="0"/>
              <a:t>centrándose en los procesos en lugar de otorgar mayor importancia a las funciones</a:t>
            </a:r>
            <a:r>
              <a:rPr lang="es-ES" dirty="0"/>
              <a:t> o departamentos individuales. </a:t>
            </a:r>
          </a:p>
          <a:p>
            <a:r>
              <a:rPr lang="es-ES" dirty="0"/>
              <a:t>En lugar de analizar y mejorar cada departamento por separado, BPM busca entender cómo los diferentes procesos se interconectan y cómo pueden optimizarse en conjunto.</a:t>
            </a:r>
          </a:p>
          <a:p>
            <a:r>
              <a:rPr lang="es-ES" dirty="0"/>
              <a:t>Al adoptar una perspectiva de extremo a extremo de los procesos, es posible eliminar ineficiencias, duplicaciones y cuellos de botella, mejorando así el flujo de trabajo y la eficiencia global.</a:t>
            </a:r>
          </a:p>
        </p:txBody>
      </p:sp>
      <p:pic>
        <p:nvPicPr>
          <p:cNvPr id="4" name="Marcador de posición de imagen 3">
            <a:extLst>
              <a:ext uri="{FF2B5EF4-FFF2-40B4-BE49-F238E27FC236}">
                <a16:creationId xmlns:a16="http://schemas.microsoft.com/office/drawing/2014/main" id="{BFE54460-54D7-5ADF-9261-811F7C461059}"/>
              </a:ext>
            </a:extLst>
          </p:cNvPr>
          <p:cNvPicPr>
            <a:picLocks noGrp="1" noChangeAspect="1"/>
          </p:cNvPicPr>
          <p:nvPr>
            <p:ph type="pic" sz="quarter" idx="10"/>
          </p:nvPr>
        </p:nvPicPr>
        <p:blipFill>
          <a:blip r:embed="rId3"/>
          <a:srcRect l="234" r="234"/>
          <a:stretch>
            <a:fillRect/>
          </a:stretch>
        </p:blipFill>
        <p:spPr>
          <a:xfrm>
            <a:off x="4806165" y="824500"/>
            <a:ext cx="4086000" cy="4446000"/>
          </a:xfrm>
        </p:spPr>
      </p:pic>
    </p:spTree>
    <p:extLst>
      <p:ext uri="{BB962C8B-B14F-4D97-AF65-F5344CB8AC3E}">
        <p14:creationId xmlns:p14="http://schemas.microsoft.com/office/powerpoint/2010/main" val="12931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Mejora continua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290959" cy="3751262"/>
          </a:xfrm>
        </p:spPr>
        <p:txBody>
          <a:bodyPr/>
          <a:lstStyle/>
          <a:p>
            <a:r>
              <a:rPr lang="es-ES" dirty="0"/>
              <a:t>Considera que los procesos deben ser analizados, medidos y </a:t>
            </a:r>
            <a:r>
              <a:rPr lang="es-ES" b="1" dirty="0"/>
              <a:t>optimizados de manera constante y sistemática</a:t>
            </a:r>
            <a:r>
              <a:rPr lang="es-ES" dirty="0"/>
              <a:t>.</a:t>
            </a:r>
          </a:p>
          <a:p>
            <a:r>
              <a:rPr lang="es-ES" dirty="0"/>
              <a:t>Esto implica la implementación de un ciclo de mejora continua, como el ciclo PDCA (Planificar, Hacer, Verificar, Actuar), donde se identifican oportunidades de mejora, se implementan cambios, se evalúa el impacto y se ajustan los enfoques en consecuencia. </a:t>
            </a:r>
          </a:p>
          <a:p>
            <a:r>
              <a:rPr lang="es-ES" dirty="0"/>
              <a:t>La mejora continua garantiza que los procesos sean cada vez más eficientes, efectivos y alineados con los objetivos estratégicos de la organización.</a:t>
            </a:r>
          </a:p>
        </p:txBody>
      </p:sp>
      <p:pic>
        <p:nvPicPr>
          <p:cNvPr id="4" name="Marcador de posición de imagen 3">
            <a:extLst>
              <a:ext uri="{FF2B5EF4-FFF2-40B4-BE49-F238E27FC236}">
                <a16:creationId xmlns:a16="http://schemas.microsoft.com/office/drawing/2014/main" id="{6240855C-EFD5-69BD-D96F-4EE883CCCC21}"/>
              </a:ext>
            </a:extLst>
          </p:cNvPr>
          <p:cNvPicPr>
            <a:picLocks noGrp="1" noChangeAspect="1"/>
          </p:cNvPicPr>
          <p:nvPr>
            <p:ph type="pic" sz="quarter" idx="10"/>
          </p:nvPr>
        </p:nvPicPr>
        <p:blipFill>
          <a:blip r:embed="rId3"/>
          <a:srcRect l="234" r="234"/>
          <a:stretch>
            <a:fillRect/>
          </a:stretch>
        </p:blipFill>
        <p:spPr>
          <a:xfrm>
            <a:off x="4759272" y="841009"/>
            <a:ext cx="4086000" cy="4446000"/>
          </a:xfrm>
        </p:spPr>
      </p:pic>
    </p:spTree>
    <p:extLst>
      <p:ext uri="{BB962C8B-B14F-4D97-AF65-F5344CB8AC3E}">
        <p14:creationId xmlns:p14="http://schemas.microsoft.com/office/powerpoint/2010/main" val="208607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Participación y colaboración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275625" cy="3751262"/>
          </a:xfrm>
        </p:spPr>
        <p:txBody>
          <a:bodyPr/>
          <a:lstStyle/>
          <a:p>
            <a:r>
              <a:rPr lang="es-ES" dirty="0"/>
              <a:t>La gestión de procesos de negocio implica la participación activa de todos los </a:t>
            </a:r>
            <a:r>
              <a:rPr lang="es-ES" i="1" dirty="0"/>
              <a:t>stakeholders</a:t>
            </a:r>
            <a:r>
              <a:rPr lang="es-ES" dirty="0"/>
              <a:t> relevantes, incluidos los empleados, los gerentes y los clientes. </a:t>
            </a:r>
          </a:p>
          <a:p>
            <a:r>
              <a:rPr lang="es-ES" dirty="0"/>
              <a:t>La colaboración entre los diferentes niveles y funciones de la organización es esencial para comprender los problemas, identificar oportunidades y generar soluciones efectivas. </a:t>
            </a:r>
          </a:p>
          <a:p>
            <a:r>
              <a:rPr lang="es-ES" dirty="0"/>
              <a:t>Al involucrar a las personas adecuadas, se pueden obtener diferentes perspectivas y conocimientos, lo que conduce a una mejor comprensión de los procesos y a la generación de ideas innovadoras para su mejora.</a:t>
            </a:r>
          </a:p>
        </p:txBody>
      </p:sp>
      <p:pic>
        <p:nvPicPr>
          <p:cNvPr id="4" name="Marcador de posición de imagen 3">
            <a:extLst>
              <a:ext uri="{FF2B5EF4-FFF2-40B4-BE49-F238E27FC236}">
                <a16:creationId xmlns:a16="http://schemas.microsoft.com/office/drawing/2014/main" id="{21EB55E5-EB93-874F-1C71-E8B6D61F62B3}"/>
              </a:ext>
            </a:extLst>
          </p:cNvPr>
          <p:cNvPicPr>
            <a:picLocks noGrp="1" noChangeAspect="1"/>
          </p:cNvPicPr>
          <p:nvPr>
            <p:ph type="pic" sz="quarter" idx="10"/>
          </p:nvPr>
        </p:nvPicPr>
        <p:blipFill>
          <a:blip r:embed="rId3"/>
          <a:srcRect t="115" b="115"/>
          <a:stretch>
            <a:fillRect/>
          </a:stretch>
        </p:blipFill>
        <p:spPr>
          <a:xfrm>
            <a:off x="4837426" y="824500"/>
            <a:ext cx="4086000" cy="4446000"/>
          </a:xfrm>
        </p:spPr>
      </p:pic>
    </p:spTree>
    <p:extLst>
      <p:ext uri="{BB962C8B-B14F-4D97-AF65-F5344CB8AC3E}">
        <p14:creationId xmlns:p14="http://schemas.microsoft.com/office/powerpoint/2010/main" val="1118554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Automatización y tecnología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05287" cy="3874233"/>
          </a:xfrm>
        </p:spPr>
        <p:txBody>
          <a:bodyPr/>
          <a:lstStyle/>
          <a:p>
            <a:r>
              <a:rPr lang="es-ES" dirty="0"/>
              <a:t>La tecnología juega un papel crucial en la gestión de procesos. La automatización de los procesos puede ayudar a </a:t>
            </a:r>
            <a:r>
              <a:rPr lang="es-ES" b="1" dirty="0"/>
              <a:t>reducir la dependencia de los recursos humanos</a:t>
            </a:r>
            <a:r>
              <a:rPr lang="es-ES" dirty="0"/>
              <a:t> y minimizar los errores humanos. </a:t>
            </a:r>
          </a:p>
          <a:p>
            <a:r>
              <a:rPr lang="es-ES" dirty="0"/>
              <a:t>Los sistemas y las herramientas de software pueden utilizarse para agilizar y optimizar los flujos de trabajo, mejorar la comunicación y la coordinación, y facilitar la recopilación y análisis de datos. </a:t>
            </a:r>
          </a:p>
          <a:p>
            <a:r>
              <a:rPr lang="es-ES" dirty="0"/>
              <a:t>La tecnología permite una mayor eficiencia, precisión y visibilidad de los procesos, lo que a su vez contribuye a la toma de decisiones informadas y a la mejora continua.</a:t>
            </a:r>
          </a:p>
        </p:txBody>
      </p:sp>
      <p:pic>
        <p:nvPicPr>
          <p:cNvPr id="4" name="Marcador de posición de imagen 3">
            <a:extLst>
              <a:ext uri="{FF2B5EF4-FFF2-40B4-BE49-F238E27FC236}">
                <a16:creationId xmlns:a16="http://schemas.microsoft.com/office/drawing/2014/main" id="{2B06E47B-9937-A9BC-5A37-6C2BB1965263}"/>
              </a:ext>
            </a:extLst>
          </p:cNvPr>
          <p:cNvPicPr>
            <a:picLocks noGrp="1" noChangeAspect="1"/>
          </p:cNvPicPr>
          <p:nvPr>
            <p:ph type="pic" sz="quarter" idx="10"/>
          </p:nvPr>
        </p:nvPicPr>
        <p:blipFill>
          <a:blip r:embed="rId3"/>
          <a:srcRect l="455" r="455"/>
          <a:stretch>
            <a:fillRect/>
          </a:stretch>
        </p:blipFill>
        <p:spPr>
          <a:xfrm>
            <a:off x="4994031" y="933067"/>
            <a:ext cx="3921580" cy="4267094"/>
          </a:xfrm>
        </p:spPr>
      </p:pic>
    </p:spTree>
    <p:extLst>
      <p:ext uri="{BB962C8B-B14F-4D97-AF65-F5344CB8AC3E}">
        <p14:creationId xmlns:p14="http://schemas.microsoft.com/office/powerpoint/2010/main" val="520590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Medición y análisis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36549" cy="4111625"/>
          </a:xfrm>
        </p:spPr>
        <p:txBody>
          <a:bodyPr/>
          <a:lstStyle/>
          <a:p>
            <a:r>
              <a:rPr lang="es-ES" dirty="0"/>
              <a:t>Este principio se refiere a la importancia de establecer indicadores clave de rendimiento (KPI) para medir y </a:t>
            </a:r>
            <a:r>
              <a:rPr lang="es-ES" b="1" dirty="0"/>
              <a:t>evaluar el desempeño de los procesos</a:t>
            </a:r>
            <a:r>
              <a:rPr lang="es-ES" dirty="0"/>
              <a:t>. </a:t>
            </a:r>
          </a:p>
          <a:p>
            <a:r>
              <a:rPr lang="es-ES" dirty="0"/>
              <a:t>Los KPI proporcionan una medida objetiva del rendimiento y permiten identificar áreas de mejora. </a:t>
            </a:r>
          </a:p>
          <a:p>
            <a:r>
              <a:rPr lang="es-ES" dirty="0"/>
              <a:t>Al recopilar y analizar datos relevantes, se pueden identificar patrones, tendencias y puntos débiles en los procesos. </a:t>
            </a:r>
          </a:p>
          <a:p>
            <a:r>
              <a:rPr lang="es-ES" dirty="0"/>
              <a:t>Facilita la toma de decisiones basadas en hechos y ayuda a enfocar los esfuerzos de mejora en áreas críticas, lo que contribuye a la optimización de los procesos.</a:t>
            </a:r>
          </a:p>
        </p:txBody>
      </p:sp>
      <p:pic>
        <p:nvPicPr>
          <p:cNvPr id="4" name="Marcador de posición de imagen 3">
            <a:extLst>
              <a:ext uri="{FF2B5EF4-FFF2-40B4-BE49-F238E27FC236}">
                <a16:creationId xmlns:a16="http://schemas.microsoft.com/office/drawing/2014/main" id="{C5C513A8-589B-44FF-22B2-E798F70136FC}"/>
              </a:ext>
            </a:extLst>
          </p:cNvPr>
          <p:cNvPicPr>
            <a:picLocks noGrp="1" noChangeAspect="1"/>
          </p:cNvPicPr>
          <p:nvPr>
            <p:ph type="pic" sz="quarter" idx="10"/>
          </p:nvPr>
        </p:nvPicPr>
        <p:blipFill>
          <a:blip r:embed="rId3"/>
          <a:srcRect l="11" r="11"/>
          <a:stretch>
            <a:fillRect/>
          </a:stretch>
        </p:blipFill>
        <p:spPr>
          <a:xfrm>
            <a:off x="4860872" y="824500"/>
            <a:ext cx="4086000" cy="4446000"/>
          </a:xfrm>
        </p:spPr>
      </p:pic>
    </p:spTree>
    <p:extLst>
      <p:ext uri="{BB962C8B-B14F-4D97-AF65-F5344CB8AC3E}">
        <p14:creationId xmlns:p14="http://schemas.microsoft.com/office/powerpoint/2010/main" val="2901313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Flexibilidad y agilidad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52179" cy="3944571"/>
          </a:xfrm>
        </p:spPr>
        <p:txBody>
          <a:bodyPr/>
          <a:lstStyle/>
          <a:p>
            <a:r>
              <a:rPr lang="es-ES" dirty="0"/>
              <a:t>Los procesos deben ser flexibles y adaptables a los cambios en el entorno. Los requisitos y las condiciones pueden cambiar rápidamente, y las organizaciones </a:t>
            </a:r>
            <a:r>
              <a:rPr lang="es-ES" b="1" dirty="0"/>
              <a:t>deben poder ajustar sus procesos de manera ágil</a:t>
            </a:r>
            <a:r>
              <a:rPr lang="es-ES" dirty="0"/>
              <a:t> para mantenerse competitivas. </a:t>
            </a:r>
          </a:p>
          <a:p>
            <a:r>
              <a:rPr lang="es-ES" dirty="0"/>
              <a:t>La flexibilidad implica la capacidad de introducir cambios en los procesos de manera eficiente y efectiva, ya sea para aprovechar nuevas oportunidades o para responder a desafíos emergentes. </a:t>
            </a:r>
          </a:p>
          <a:p>
            <a:r>
              <a:rPr lang="es-ES" dirty="0"/>
              <a:t>Los procesos deben diseñarse de manera que puedan adaptarse y evolucionar con el tiempo, sin perder eficiencia ni calidad.</a:t>
            </a:r>
          </a:p>
        </p:txBody>
      </p:sp>
      <p:pic>
        <p:nvPicPr>
          <p:cNvPr id="4" name="Marcador de posición de imagen 3">
            <a:extLst>
              <a:ext uri="{FF2B5EF4-FFF2-40B4-BE49-F238E27FC236}">
                <a16:creationId xmlns:a16="http://schemas.microsoft.com/office/drawing/2014/main" id="{571B07C4-05CB-472E-179E-3DE3A718C171}"/>
              </a:ext>
            </a:extLst>
          </p:cNvPr>
          <p:cNvPicPr>
            <a:picLocks noGrp="1" noChangeAspect="1"/>
          </p:cNvPicPr>
          <p:nvPr>
            <p:ph type="pic" sz="quarter" idx="10"/>
          </p:nvPr>
        </p:nvPicPr>
        <p:blipFill>
          <a:blip r:embed="rId3"/>
          <a:srcRect l="234" r="234"/>
          <a:stretch>
            <a:fillRect/>
          </a:stretch>
        </p:blipFill>
        <p:spPr>
          <a:xfrm>
            <a:off x="4845242" y="824500"/>
            <a:ext cx="4086000" cy="4446000"/>
          </a:xfrm>
        </p:spPr>
      </p:pic>
    </p:spTree>
    <p:extLst>
      <p:ext uri="{BB962C8B-B14F-4D97-AF65-F5344CB8AC3E}">
        <p14:creationId xmlns:p14="http://schemas.microsoft.com/office/powerpoint/2010/main" val="4283970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del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BPM</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00375" cy="3631956"/>
          </a:xfrm>
        </p:spPr>
        <p:txBody>
          <a:bodyPr/>
          <a:lstStyle/>
          <a:p>
            <a:r>
              <a:rPr lang="es-ES" dirty="0"/>
              <a:t>Al introducir cambios en los procesos, es fundamental contar con un plan de gestión del cambio que involucre a las personas afectadas y </a:t>
            </a:r>
            <a:r>
              <a:rPr lang="es-ES" b="1" dirty="0"/>
              <a:t>las prepare para los nuevos enfoques</a:t>
            </a:r>
            <a:r>
              <a:rPr lang="es-ES" dirty="0"/>
              <a:t>. </a:t>
            </a:r>
          </a:p>
          <a:p>
            <a:r>
              <a:rPr lang="es-ES" dirty="0"/>
              <a:t>Esto implica comunicar los beneficios de BPM, brindar capacitación y apoyo adecuados, y fomentar una mentalidad abierta hacia el cambio. </a:t>
            </a:r>
          </a:p>
          <a:p>
            <a:r>
              <a:rPr lang="es-ES" dirty="0"/>
              <a:t>La gestión del cambio efectiva </a:t>
            </a:r>
            <a:r>
              <a:rPr lang="es-ES" b="1" dirty="0"/>
              <a:t>facilita la adopción y aceptación de las nuevas formas de trabajo</a:t>
            </a:r>
            <a:r>
              <a:rPr lang="es-ES" dirty="0"/>
              <a:t>, lo que a su vez impulsa la implementación exitosa de la gestión de procesos.</a:t>
            </a:r>
          </a:p>
        </p:txBody>
      </p:sp>
      <p:pic>
        <p:nvPicPr>
          <p:cNvPr id="4" name="Marcador de posición de imagen 3">
            <a:extLst>
              <a:ext uri="{FF2B5EF4-FFF2-40B4-BE49-F238E27FC236}">
                <a16:creationId xmlns:a16="http://schemas.microsoft.com/office/drawing/2014/main" id="{043652AA-3D5D-90B1-4350-3F3351E8CBC0}"/>
              </a:ext>
            </a:extLst>
          </p:cNvPr>
          <p:cNvPicPr>
            <a:picLocks noGrp="1" noChangeAspect="1"/>
          </p:cNvPicPr>
          <p:nvPr>
            <p:ph type="pic" sz="quarter" idx="10"/>
          </p:nvPr>
        </p:nvPicPr>
        <p:blipFill>
          <a:blip r:embed="rId3"/>
          <a:srcRect l="127" r="127"/>
          <a:stretch>
            <a:fillRect/>
          </a:stretch>
        </p:blipFill>
        <p:spPr>
          <a:xfrm>
            <a:off x="4868688" y="824500"/>
            <a:ext cx="4086000" cy="4446000"/>
          </a:xfrm>
        </p:spPr>
      </p:pic>
    </p:spTree>
    <p:extLst>
      <p:ext uri="{BB962C8B-B14F-4D97-AF65-F5344CB8AC3E}">
        <p14:creationId xmlns:p14="http://schemas.microsoft.com/office/powerpoint/2010/main" val="217605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MODELAMIENTO DE PROCESOS (BPMN)</a:t>
            </a:r>
          </a:p>
        </p:txBody>
      </p:sp>
    </p:spTree>
    <p:custDataLst>
      <p:tags r:id="rId1"/>
    </p:custDataLst>
    <p:extLst>
      <p:ext uri="{BB962C8B-B14F-4D97-AF65-F5344CB8AC3E}">
        <p14:creationId xmlns:p14="http://schemas.microsoft.com/office/powerpoint/2010/main" val="4031421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Modelamiento de procesos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MODELAMIENTO DE PROCESOS (BPMN)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92559" cy="3585063"/>
          </a:xfrm>
        </p:spPr>
        <p:txBody>
          <a:bodyPr/>
          <a:lstStyle/>
          <a:p>
            <a:r>
              <a:rPr lang="es-ES" dirty="0"/>
              <a:t>El modelado BPM es una herramienta para la gestión de procesos empresariales, ya que permite </a:t>
            </a:r>
            <a:r>
              <a:rPr lang="es-ES" b="1" dirty="0"/>
              <a:t>representar visualmente los procesos</a:t>
            </a:r>
            <a:r>
              <a:rPr lang="es-ES" dirty="0"/>
              <a:t>, identificar áreas de mejora, </a:t>
            </a:r>
            <a:r>
              <a:rPr lang="es-ES" b="1" dirty="0"/>
              <a:t>analizar y optimizar los procesos</a:t>
            </a:r>
            <a:r>
              <a:rPr lang="es-ES" dirty="0"/>
              <a:t>, controlar y hacer seguimiento de los mismos, facilitar el cambio y utilizar un </a:t>
            </a:r>
            <a:r>
              <a:rPr lang="es-ES" b="1" dirty="0"/>
              <a:t>estándar de notación</a:t>
            </a:r>
            <a:r>
              <a:rPr lang="es-ES" dirty="0"/>
              <a:t> para la representación de los procesos.</a:t>
            </a:r>
          </a:p>
          <a:p>
            <a:r>
              <a:rPr lang="es-ES" dirty="0"/>
              <a:t>En el modelado BPM, la información y los documentos son utilizados por los autores, lo que genera un flujo de cómo se llevan a cabo las actividades, desde su inicio hasta lograr el objetivo del proceso.</a:t>
            </a:r>
          </a:p>
        </p:txBody>
      </p:sp>
      <p:pic>
        <p:nvPicPr>
          <p:cNvPr id="4" name="Marcador de posición de imagen 3">
            <a:extLst>
              <a:ext uri="{FF2B5EF4-FFF2-40B4-BE49-F238E27FC236}">
                <a16:creationId xmlns:a16="http://schemas.microsoft.com/office/drawing/2014/main" id="{3EA5DA49-5167-4587-F3BD-3C160C00AC50}"/>
              </a:ext>
            </a:extLst>
          </p:cNvPr>
          <p:cNvPicPr>
            <a:picLocks noGrp="1" noChangeAspect="1"/>
          </p:cNvPicPr>
          <p:nvPr>
            <p:ph type="pic" sz="quarter" idx="10"/>
          </p:nvPr>
        </p:nvPicPr>
        <p:blipFill>
          <a:blip r:embed="rId3"/>
          <a:srcRect t="318" b="318"/>
          <a:stretch>
            <a:fillRect/>
          </a:stretch>
        </p:blipFill>
        <p:spPr>
          <a:xfrm>
            <a:off x="4860872" y="824500"/>
            <a:ext cx="4086000" cy="4446000"/>
          </a:xfrm>
        </p:spPr>
      </p:pic>
    </p:spTree>
    <p:extLst>
      <p:ext uri="{BB962C8B-B14F-4D97-AF65-F5344CB8AC3E}">
        <p14:creationId xmlns:p14="http://schemas.microsoft.com/office/powerpoint/2010/main" val="839977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Funciones BPM</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MODELAMIENTO DE PROCESOS (BPMN)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602311"/>
          </a:xfrm>
        </p:spPr>
        <p:txBody>
          <a:bodyPr/>
          <a:lstStyle/>
          <a:p>
            <a:r>
              <a:rPr lang="es-ES" dirty="0"/>
              <a:t>El modelado BPM tiene varias funciones importantes en la gestión de procesos empresariales, algunas de las cuales se detallan a continuación:</a:t>
            </a:r>
          </a:p>
          <a:p>
            <a:pPr lvl="1"/>
            <a:r>
              <a:rPr lang="es-ES" dirty="0"/>
              <a:t>Representación visual.</a:t>
            </a:r>
          </a:p>
          <a:p>
            <a:pPr lvl="1"/>
            <a:r>
              <a:rPr lang="es-ES" dirty="0"/>
              <a:t>Identificación de áreas de mejora.</a:t>
            </a:r>
          </a:p>
          <a:p>
            <a:pPr lvl="1"/>
            <a:r>
              <a:rPr lang="es-ES" dirty="0"/>
              <a:t>Análisis y optimización.</a:t>
            </a:r>
          </a:p>
          <a:p>
            <a:pPr lvl="1"/>
            <a:r>
              <a:rPr lang="es-ES" dirty="0"/>
              <a:t>Control y seguimiento.</a:t>
            </a:r>
          </a:p>
          <a:p>
            <a:pPr lvl="1"/>
            <a:r>
              <a:rPr lang="es-ES" dirty="0"/>
              <a:t>Facilitación del cambio.</a:t>
            </a:r>
          </a:p>
          <a:p>
            <a:pPr lvl="1"/>
            <a:r>
              <a:rPr lang="es-ES" dirty="0"/>
              <a:t>Estándar de notación.</a:t>
            </a:r>
          </a:p>
        </p:txBody>
      </p:sp>
      <p:pic>
        <p:nvPicPr>
          <p:cNvPr id="4" name="Marcador de posición de imagen 3">
            <a:extLst>
              <a:ext uri="{FF2B5EF4-FFF2-40B4-BE49-F238E27FC236}">
                <a16:creationId xmlns:a16="http://schemas.microsoft.com/office/drawing/2014/main" id="{D004E0C7-0D2E-C378-4F3D-864F5D322F58}"/>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67624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MODELAMIENTO DE PROCESOS (BPMN)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40170" cy="4111625"/>
          </a:xfrm>
        </p:spPr>
        <p:txBody>
          <a:bodyPr/>
          <a:lstStyle/>
          <a:p>
            <a:r>
              <a:rPr lang="es-ES" b="1" dirty="0"/>
              <a:t>BPMN </a:t>
            </a:r>
            <a:r>
              <a:rPr lang="es-ES" dirty="0"/>
              <a:t>es un </a:t>
            </a:r>
            <a:r>
              <a:rPr lang="es-ES" b="1" dirty="0"/>
              <a:t>estándar gráfico</a:t>
            </a:r>
            <a:r>
              <a:rPr lang="es-ES" dirty="0"/>
              <a:t> para la representación de </a:t>
            </a:r>
            <a:r>
              <a:rPr lang="es-ES" b="1" dirty="0"/>
              <a:t>procesos de negocio</a:t>
            </a:r>
            <a:r>
              <a:rPr lang="es-ES" dirty="0"/>
              <a:t> en un diagrama. Fue desarrollado por la Object Management Group (OMG).</a:t>
            </a:r>
          </a:p>
          <a:p>
            <a:pPr>
              <a:spcAft>
                <a:spcPts val="600"/>
              </a:spcAft>
            </a:pPr>
            <a:r>
              <a:rPr lang="es-ES" dirty="0"/>
              <a:t>El objetivo de BPMN es proporcionar una notación que sea fácilmente entendible por todos los usuarios de negocio:</a:t>
            </a:r>
          </a:p>
          <a:p>
            <a:pPr lvl="1">
              <a:spcAft>
                <a:spcPts val="600"/>
              </a:spcAft>
            </a:pPr>
            <a:r>
              <a:rPr lang="es-ES" dirty="0"/>
              <a:t>Analistas de negocio que crean los borradores iniciales del proceso.</a:t>
            </a:r>
          </a:p>
          <a:p>
            <a:pPr lvl="1">
              <a:spcAft>
                <a:spcPts val="600"/>
              </a:spcAft>
            </a:pPr>
            <a:r>
              <a:rPr lang="es-ES" dirty="0"/>
              <a:t>Los desarrolladores técnicos responsables de implementar la tecnología que realizarán esos procesos.</a:t>
            </a:r>
          </a:p>
          <a:p>
            <a:pPr lvl="1"/>
            <a:r>
              <a:rPr lang="es-ES" dirty="0"/>
              <a:t>Los gerentes de negocio que monitorearán y gestionarán estos procesos.</a:t>
            </a:r>
          </a:p>
        </p:txBody>
      </p:sp>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464000" cy="354012"/>
          </a:xfrm>
        </p:spPr>
        <p:txBody>
          <a:bodyPr/>
          <a:lstStyle/>
          <a:p>
            <a:r>
              <a:rPr lang="es-PE" dirty="0"/>
              <a:t>Modelo y notación de procesos de negocio</a:t>
            </a:r>
          </a:p>
        </p:txBody>
      </p:sp>
      <p:pic>
        <p:nvPicPr>
          <p:cNvPr id="15" name="Marcador de posición de imagen 14">
            <a:extLst>
              <a:ext uri="{FF2B5EF4-FFF2-40B4-BE49-F238E27FC236}">
                <a16:creationId xmlns:a16="http://schemas.microsoft.com/office/drawing/2014/main" id="{728A0BD5-5A41-DC90-E41A-6435CA27D6B7}"/>
              </a:ext>
            </a:extLst>
          </p:cNvPr>
          <p:cNvPicPr>
            <a:picLocks noGrp="1" noChangeAspect="1"/>
          </p:cNvPicPr>
          <p:nvPr>
            <p:ph type="pic" sz="quarter" idx="10"/>
          </p:nvPr>
        </p:nvPicPr>
        <p:blipFill>
          <a:blip r:embed="rId3"/>
          <a:srcRect l="2" r="2"/>
          <a:stretch>
            <a:fillRect/>
          </a:stretch>
        </p:blipFill>
        <p:spPr>
          <a:xfrm>
            <a:off x="5099997" y="1056469"/>
            <a:ext cx="3872814" cy="4214031"/>
          </a:xfrm>
        </p:spPr>
      </p:pic>
    </p:spTree>
    <p:extLst>
      <p:ext uri="{BB962C8B-B14F-4D97-AF65-F5344CB8AC3E}">
        <p14:creationId xmlns:p14="http://schemas.microsoft.com/office/powerpoint/2010/main" val="2956750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Elementos BPMN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MODELAMIENTO DE PROCESOS (BPMN)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205287" cy="3751262"/>
          </a:xfrm>
        </p:spPr>
        <p:txBody>
          <a:bodyPr/>
          <a:lstStyle/>
          <a:p>
            <a:pPr>
              <a:spcAft>
                <a:spcPts val="600"/>
              </a:spcAft>
            </a:pPr>
            <a:r>
              <a:rPr lang="es-ES" dirty="0"/>
              <a:t>BPMN utiliza una serie de elementos gráficos para representar los procesos de negocio. Estos elementos se dividen en cuatro categorías principales:</a:t>
            </a:r>
          </a:p>
          <a:p>
            <a:pPr lvl="1">
              <a:spcAft>
                <a:spcPts val="600"/>
              </a:spcAft>
            </a:pPr>
            <a:r>
              <a:rPr lang="es-ES" dirty="0"/>
              <a:t>flujos de control</a:t>
            </a:r>
          </a:p>
          <a:p>
            <a:pPr lvl="1">
              <a:spcAft>
                <a:spcPts val="600"/>
              </a:spcAft>
            </a:pPr>
            <a:r>
              <a:rPr lang="es-ES" dirty="0"/>
              <a:t>eventos</a:t>
            </a:r>
          </a:p>
          <a:p>
            <a:pPr lvl="1">
              <a:spcAft>
                <a:spcPts val="600"/>
              </a:spcAft>
            </a:pPr>
            <a:r>
              <a:rPr lang="es-ES" dirty="0"/>
              <a:t>actividades</a:t>
            </a:r>
          </a:p>
          <a:p>
            <a:pPr lvl="1"/>
            <a:r>
              <a:rPr lang="es-ES" dirty="0"/>
              <a:t>conectores.</a:t>
            </a:r>
          </a:p>
          <a:p>
            <a:r>
              <a:rPr lang="es-ES" dirty="0"/>
              <a:t>Los elementos BPMN proporcionan una notación estándar que es fácilmente entendible por todos los usuarios de negocio, facilitando la comunicación y la comprensión de los procesos de negocio.</a:t>
            </a:r>
          </a:p>
        </p:txBody>
      </p:sp>
      <p:pic>
        <p:nvPicPr>
          <p:cNvPr id="4" name="Marcador de posición de imagen 3">
            <a:extLst>
              <a:ext uri="{FF2B5EF4-FFF2-40B4-BE49-F238E27FC236}">
                <a16:creationId xmlns:a16="http://schemas.microsoft.com/office/drawing/2014/main" id="{95CF8C38-858C-B7C2-E44D-B45055D7D65A}"/>
              </a:ext>
            </a:extLst>
          </p:cNvPr>
          <p:cNvPicPr>
            <a:picLocks noGrp="1" noChangeAspect="1"/>
          </p:cNvPicPr>
          <p:nvPr>
            <p:ph type="pic" sz="quarter" idx="10"/>
          </p:nvPr>
        </p:nvPicPr>
        <p:blipFill>
          <a:blip r:embed="rId3"/>
          <a:srcRect l="2" r="2"/>
          <a:stretch>
            <a:fillRect/>
          </a:stretch>
        </p:blipFill>
        <p:spPr>
          <a:xfrm>
            <a:off x="4813979" y="824500"/>
            <a:ext cx="4086000" cy="4446000"/>
          </a:xfrm>
        </p:spPr>
      </p:pic>
    </p:spTree>
    <p:extLst>
      <p:ext uri="{BB962C8B-B14F-4D97-AF65-F5344CB8AC3E}">
        <p14:creationId xmlns:p14="http://schemas.microsoft.com/office/powerpoint/2010/main" val="172266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Elementos BPMN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MODELAMIENTO DE PROCESOS (BPMN)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241187"/>
          </a:xfrm>
        </p:spPr>
        <p:txBody>
          <a:bodyPr/>
          <a:lstStyle/>
          <a:p>
            <a:pPr marL="0" indent="0">
              <a:spcAft>
                <a:spcPts val="600"/>
              </a:spcAft>
              <a:buNone/>
            </a:pPr>
            <a:r>
              <a:rPr lang="es-ES" b="1" u="sng" dirty="0">
                <a:solidFill>
                  <a:srgbClr val="0070C0"/>
                </a:solidFill>
              </a:rPr>
              <a:t>Flujos de control</a:t>
            </a:r>
          </a:p>
          <a:p>
            <a:pPr marL="0" indent="0">
              <a:buNone/>
            </a:pPr>
            <a:r>
              <a:rPr lang="es-ES" dirty="0"/>
              <a:t>Estos son los elementos que muestran el orden de las actividades en un proceso.</a:t>
            </a:r>
          </a:p>
          <a:p>
            <a:r>
              <a:rPr lang="es-ES" b="1" dirty="0"/>
              <a:t>Flujo de secuencia</a:t>
            </a:r>
            <a:r>
              <a:rPr lang="es-ES" dirty="0"/>
              <a:t>: representa la secuencia de las actividades. Es una flecha que conecta diferentes actividades y eventos en el orden en que ocurren.</a:t>
            </a:r>
          </a:p>
          <a:p>
            <a:r>
              <a:rPr lang="es-ES" b="1" dirty="0"/>
              <a:t>Mensaje</a:t>
            </a:r>
            <a:r>
              <a:rPr lang="es-ES" dirty="0"/>
              <a:t>: representa la comunicación entre dos entidades diferentes, como dos procesos o un proceso y un participante externo.</a:t>
            </a:r>
          </a:p>
        </p:txBody>
      </p:sp>
      <p:pic>
        <p:nvPicPr>
          <p:cNvPr id="4" name="Marcador de posición de imagen 3">
            <a:extLst>
              <a:ext uri="{FF2B5EF4-FFF2-40B4-BE49-F238E27FC236}">
                <a16:creationId xmlns:a16="http://schemas.microsoft.com/office/drawing/2014/main" id="{DD207E3A-0C1D-8C48-FBDA-C1F161F44E74}"/>
              </a:ext>
            </a:extLst>
          </p:cNvPr>
          <p:cNvPicPr>
            <a:picLocks noGrp="1" noChangeAspect="1"/>
          </p:cNvPicPr>
          <p:nvPr>
            <p:ph type="pic" sz="quarter" idx="10"/>
          </p:nvPr>
        </p:nvPicPr>
        <p:blipFill>
          <a:blip r:embed="rId3"/>
          <a:srcRect t="212" b="212"/>
          <a:stretch>
            <a:fillRect/>
          </a:stretch>
        </p:blipFill>
        <p:spPr/>
      </p:pic>
    </p:spTree>
    <p:extLst>
      <p:ext uri="{BB962C8B-B14F-4D97-AF65-F5344CB8AC3E}">
        <p14:creationId xmlns:p14="http://schemas.microsoft.com/office/powerpoint/2010/main" val="19225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Elementos BPMN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MODELAMIENTO DE PROCESOS (BPMN)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17902" cy="3678848"/>
          </a:xfrm>
        </p:spPr>
        <p:txBody>
          <a:bodyPr/>
          <a:lstStyle/>
          <a:p>
            <a:pPr marL="0" indent="0">
              <a:spcAft>
                <a:spcPts val="600"/>
              </a:spcAft>
              <a:buNone/>
            </a:pPr>
            <a:r>
              <a:rPr lang="es-ES" b="1" u="sng" dirty="0">
                <a:solidFill>
                  <a:srgbClr val="0070C0"/>
                </a:solidFill>
              </a:rPr>
              <a:t>Eventos </a:t>
            </a:r>
          </a:p>
          <a:p>
            <a:pPr marL="0" indent="0">
              <a:buNone/>
            </a:pPr>
            <a:r>
              <a:rPr lang="es-ES" dirty="0"/>
              <a:t>Son sucesos que ocurren durante la ejecución de un proceso. Los eventos pueden ser de inicio, intermedios o de fin.</a:t>
            </a:r>
          </a:p>
          <a:p>
            <a:r>
              <a:rPr lang="es-ES" b="1" dirty="0"/>
              <a:t>Evento de inicio</a:t>
            </a:r>
            <a:r>
              <a:rPr lang="es-ES" dirty="0"/>
              <a:t>: indica donde comienza un proceso particular. Se representa con un círculo verde.</a:t>
            </a:r>
          </a:p>
          <a:p>
            <a:r>
              <a:rPr lang="es-ES" b="1" dirty="0"/>
              <a:t>Evento intermedio</a:t>
            </a:r>
            <a:r>
              <a:rPr lang="es-ES" dirty="0"/>
              <a:t>: representa un evento que ocurre durante la ejecución de un proceso. Se representa con un círculo doble.</a:t>
            </a:r>
          </a:p>
          <a:p>
            <a:r>
              <a:rPr lang="es-ES" b="1" dirty="0"/>
              <a:t>Evento de fin</a:t>
            </a:r>
            <a:r>
              <a:rPr lang="es-ES" dirty="0"/>
              <a:t>: indica donde termina un proceso. Se representa con un círculo rojo.</a:t>
            </a:r>
          </a:p>
        </p:txBody>
      </p:sp>
      <p:pic>
        <p:nvPicPr>
          <p:cNvPr id="4" name="Marcador de posición de imagen 3">
            <a:extLst>
              <a:ext uri="{FF2B5EF4-FFF2-40B4-BE49-F238E27FC236}">
                <a16:creationId xmlns:a16="http://schemas.microsoft.com/office/drawing/2014/main" id="{1CFE4928-D0FB-E9D2-0155-CAD7E52E7BD4}"/>
              </a:ext>
            </a:extLst>
          </p:cNvPr>
          <p:cNvPicPr>
            <a:picLocks noGrp="1" noChangeAspect="1"/>
          </p:cNvPicPr>
          <p:nvPr>
            <p:ph type="pic" sz="quarter" idx="10"/>
          </p:nvPr>
        </p:nvPicPr>
        <p:blipFill>
          <a:blip r:embed="rId3"/>
          <a:srcRect l="2" r="2"/>
          <a:stretch>
            <a:fillRect/>
          </a:stretch>
        </p:blipFill>
        <p:spPr>
          <a:xfrm>
            <a:off x="5394322" y="1158875"/>
            <a:ext cx="3529104" cy="3840038"/>
          </a:xfrm>
        </p:spPr>
      </p:pic>
    </p:spTree>
    <p:extLst>
      <p:ext uri="{BB962C8B-B14F-4D97-AF65-F5344CB8AC3E}">
        <p14:creationId xmlns:p14="http://schemas.microsoft.com/office/powerpoint/2010/main" val="2828708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Elementos BPMN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MODELAMIENTO DE PROCESOS (BPMN)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47564" cy="3139587"/>
          </a:xfrm>
        </p:spPr>
        <p:txBody>
          <a:bodyPr/>
          <a:lstStyle/>
          <a:p>
            <a:pPr marL="0" indent="0">
              <a:spcAft>
                <a:spcPts val="600"/>
              </a:spcAft>
              <a:buNone/>
            </a:pPr>
            <a:r>
              <a:rPr lang="es-ES" b="1" u="sng" dirty="0">
                <a:solidFill>
                  <a:srgbClr val="0070C0"/>
                </a:solidFill>
              </a:rPr>
              <a:t>Actividades</a:t>
            </a:r>
          </a:p>
          <a:p>
            <a:pPr marL="0" indent="0">
              <a:buNone/>
            </a:pPr>
            <a:r>
              <a:rPr lang="es-ES" dirty="0"/>
              <a:t>Son las tareas o trabajos que se realizan en un proceso.</a:t>
            </a:r>
          </a:p>
          <a:p>
            <a:r>
              <a:rPr lang="es-ES" b="1" dirty="0"/>
              <a:t>Tarea</a:t>
            </a:r>
            <a:r>
              <a:rPr lang="es-ES" dirty="0"/>
              <a:t>: es una unidad de trabajo que se realiza en un proceso. Se representa con un rectángulo redondeado.</a:t>
            </a:r>
          </a:p>
          <a:p>
            <a:r>
              <a:rPr lang="es-ES" b="1" dirty="0"/>
              <a:t>Subproceso</a:t>
            </a:r>
            <a:r>
              <a:rPr lang="es-ES" dirty="0"/>
              <a:t>: es un conjunto de tareas que se agrupan juntas y se pueden colapsar o expandir. Se representa con un rectángulo redondeado más grande.</a:t>
            </a:r>
          </a:p>
        </p:txBody>
      </p:sp>
      <p:pic>
        <p:nvPicPr>
          <p:cNvPr id="4" name="Marcador de posición de imagen 3">
            <a:extLst>
              <a:ext uri="{FF2B5EF4-FFF2-40B4-BE49-F238E27FC236}">
                <a16:creationId xmlns:a16="http://schemas.microsoft.com/office/drawing/2014/main" id="{DEBD1606-E80D-B0E4-AB9A-359D16FAF177}"/>
              </a:ext>
            </a:extLst>
          </p:cNvPr>
          <p:cNvPicPr>
            <a:picLocks noGrp="1" noChangeAspect="1"/>
          </p:cNvPicPr>
          <p:nvPr>
            <p:ph type="pic" sz="quarter" idx="10"/>
          </p:nvPr>
        </p:nvPicPr>
        <p:blipFill>
          <a:blip r:embed="rId3"/>
          <a:srcRect l="2" r="2"/>
          <a:stretch>
            <a:fillRect/>
          </a:stretch>
        </p:blipFill>
        <p:spPr>
          <a:xfrm>
            <a:off x="5058000" y="886777"/>
            <a:ext cx="4086000" cy="4446000"/>
          </a:xfrm>
        </p:spPr>
      </p:pic>
    </p:spTree>
    <p:extLst>
      <p:ext uri="{BB962C8B-B14F-4D97-AF65-F5344CB8AC3E}">
        <p14:creationId xmlns:p14="http://schemas.microsoft.com/office/powerpoint/2010/main" val="1027246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Elementos BPMN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MODELAMIENTO DE PROCESOS (BPMN)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767995" cy="3751262"/>
          </a:xfrm>
        </p:spPr>
        <p:txBody>
          <a:bodyPr/>
          <a:lstStyle/>
          <a:p>
            <a:pPr marL="0" indent="0">
              <a:lnSpc>
                <a:spcPct val="96000"/>
              </a:lnSpc>
              <a:spcAft>
                <a:spcPts val="600"/>
              </a:spcAft>
              <a:buNone/>
            </a:pPr>
            <a:r>
              <a:rPr lang="es-ES" b="1" u="sng" dirty="0">
                <a:solidFill>
                  <a:srgbClr val="0070C0"/>
                </a:solidFill>
              </a:rPr>
              <a:t>Conectores</a:t>
            </a:r>
          </a:p>
          <a:p>
            <a:pPr marL="0" indent="0">
              <a:lnSpc>
                <a:spcPct val="96000"/>
              </a:lnSpc>
              <a:buNone/>
            </a:pPr>
            <a:r>
              <a:rPr lang="es-ES" dirty="0"/>
              <a:t>Son los elementos que controlan el flujo de secuencia entre actividades y eventos.</a:t>
            </a:r>
          </a:p>
          <a:p>
            <a:pPr>
              <a:lnSpc>
                <a:spcPct val="96000"/>
              </a:lnSpc>
            </a:pPr>
            <a:r>
              <a:rPr lang="es-ES" b="1" dirty="0"/>
              <a:t>Puerta de enlace exclusiva</a:t>
            </a:r>
            <a:r>
              <a:rPr lang="es-ES" dirty="0"/>
              <a:t>: sirve para controlar la divergencia y convergencia basada en condiciones. Se representa con un diamante vacío.</a:t>
            </a:r>
          </a:p>
          <a:p>
            <a:pPr>
              <a:lnSpc>
                <a:spcPct val="96000"/>
              </a:lnSpc>
            </a:pPr>
            <a:r>
              <a:rPr lang="es-ES" b="1" dirty="0"/>
              <a:t>Puerta de enlace paralela</a:t>
            </a:r>
            <a:r>
              <a:rPr lang="es-ES" dirty="0"/>
              <a:t>: sirve para controlar la divergencia y convergencia paralela. Se representa con un diamante con un signo de más.</a:t>
            </a:r>
          </a:p>
          <a:p>
            <a:pPr>
              <a:lnSpc>
                <a:spcPct val="96000"/>
              </a:lnSpc>
            </a:pPr>
            <a:r>
              <a:rPr lang="es-ES" b="1" dirty="0"/>
              <a:t>Puerta de enlace de evento basada</a:t>
            </a:r>
            <a:r>
              <a:rPr lang="es-ES" dirty="0"/>
              <a:t>: sirve para controlar la divergencia y convergencia basada en eventos. Se representa con un diamante con un círculo doble dentro.</a:t>
            </a:r>
          </a:p>
        </p:txBody>
      </p:sp>
      <p:pic>
        <p:nvPicPr>
          <p:cNvPr id="8" name="Marcador de posición de imagen 7">
            <a:extLst>
              <a:ext uri="{FF2B5EF4-FFF2-40B4-BE49-F238E27FC236}">
                <a16:creationId xmlns:a16="http://schemas.microsoft.com/office/drawing/2014/main" id="{3B5B141D-4B4D-6111-C372-46AA61FA82E4}"/>
              </a:ext>
            </a:extLst>
          </p:cNvPr>
          <p:cNvPicPr>
            <a:picLocks noGrp="1" noChangeAspect="1"/>
          </p:cNvPicPr>
          <p:nvPr>
            <p:ph type="pic" sz="quarter" idx="10"/>
          </p:nvPr>
        </p:nvPicPr>
        <p:blipFill>
          <a:blip r:embed="rId3"/>
          <a:srcRect l="2" r="2"/>
          <a:stretch>
            <a:fillRect/>
          </a:stretch>
        </p:blipFill>
        <p:spPr>
          <a:xfrm>
            <a:off x="5649363" y="1158875"/>
            <a:ext cx="3026324" cy="3292961"/>
          </a:xfrm>
        </p:spPr>
      </p:pic>
    </p:spTree>
    <p:extLst>
      <p:ext uri="{BB962C8B-B14F-4D97-AF65-F5344CB8AC3E}">
        <p14:creationId xmlns:p14="http://schemas.microsoft.com/office/powerpoint/2010/main" val="1306951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ANÁLISIS CUALITATIVO Y CUANTITATIVO DE PROCESOS</a:t>
            </a:r>
          </a:p>
        </p:txBody>
      </p:sp>
    </p:spTree>
    <p:custDataLst>
      <p:tags r:id="rId1"/>
    </p:custDataLst>
    <p:extLst>
      <p:ext uri="{BB962C8B-B14F-4D97-AF65-F5344CB8AC3E}">
        <p14:creationId xmlns:p14="http://schemas.microsoft.com/office/powerpoint/2010/main" val="1209872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C00000"/>
                </a:solidFill>
              </a:rPr>
              <a:t>Análisis cualitativo de procesos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ANÁLISIS CUALITATIVO Y CUANTITATIVO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55379" cy="3811710"/>
          </a:xfrm>
        </p:spPr>
        <p:txBody>
          <a:bodyPr/>
          <a:lstStyle/>
          <a:p>
            <a:pPr>
              <a:spcAft>
                <a:spcPts val="600"/>
              </a:spcAft>
            </a:pPr>
            <a:r>
              <a:rPr lang="es-ES" dirty="0"/>
              <a:t>Es una técnica BPM utilizada para evaluar y entender los procesos de una organización en términos no numéricos:</a:t>
            </a:r>
          </a:p>
          <a:p>
            <a:pPr marL="265113" indent="-265113">
              <a:spcAft>
                <a:spcPts val="600"/>
              </a:spcAft>
              <a:buSzPct val="100000"/>
              <a:buFont typeface="+mj-lt"/>
              <a:buAutoNum type="arabicPeriod"/>
            </a:pPr>
            <a:r>
              <a:rPr lang="es-ES" dirty="0"/>
              <a:t>Eficacia del proceso; </a:t>
            </a:r>
            <a:r>
              <a:rPr lang="es-ES" sz="1400" dirty="0">
                <a:solidFill>
                  <a:schemeClr val="tx1">
                    <a:lumMod val="50000"/>
                    <a:lumOff val="50000"/>
                  </a:schemeClr>
                </a:solidFill>
              </a:rPr>
              <a:t>¿está logrando los resultados deseados?, ¿y, sus objetivos?</a:t>
            </a:r>
            <a:endParaRPr lang="es-ES" dirty="0">
              <a:solidFill>
                <a:schemeClr val="tx1">
                  <a:lumMod val="50000"/>
                  <a:lumOff val="50000"/>
                </a:schemeClr>
              </a:solidFill>
            </a:endParaRPr>
          </a:p>
          <a:p>
            <a:pPr marL="265113" indent="-265113">
              <a:spcAft>
                <a:spcPts val="600"/>
              </a:spcAft>
              <a:buSzPct val="100000"/>
              <a:buFont typeface="+mj-lt"/>
              <a:buAutoNum type="arabicPeriod"/>
            </a:pPr>
            <a:r>
              <a:rPr lang="es-ES" dirty="0"/>
              <a:t>Calidad del proceso; </a:t>
            </a:r>
            <a:r>
              <a:rPr lang="es-ES" sz="1400" dirty="0">
                <a:solidFill>
                  <a:schemeClr val="tx1">
                    <a:lumMod val="50000"/>
                    <a:lumOff val="50000"/>
                  </a:schemeClr>
                </a:solidFill>
              </a:rPr>
              <a:t>¿produce resultados de calidad?, ¿satisface las expectativas de clientes?</a:t>
            </a:r>
            <a:endParaRPr lang="es-ES" dirty="0">
              <a:solidFill>
                <a:schemeClr val="tx1">
                  <a:lumMod val="50000"/>
                  <a:lumOff val="50000"/>
                </a:schemeClr>
              </a:solidFill>
            </a:endParaRPr>
          </a:p>
          <a:p>
            <a:pPr marL="265113" indent="-265113">
              <a:spcAft>
                <a:spcPts val="600"/>
              </a:spcAft>
              <a:buSzPct val="100000"/>
              <a:buFont typeface="+mj-lt"/>
              <a:buAutoNum type="arabicPeriod"/>
            </a:pPr>
            <a:r>
              <a:rPr lang="es-ES" dirty="0"/>
              <a:t>Eficiencia del proceso; </a:t>
            </a:r>
            <a:r>
              <a:rPr lang="es-ES" sz="1400" dirty="0">
                <a:solidFill>
                  <a:schemeClr val="tx1">
                    <a:lumMod val="50000"/>
                    <a:lumOff val="50000"/>
                  </a:schemeClr>
                </a:solidFill>
              </a:rPr>
              <a:t>¿utiliza los recursos de manera eficiente? </a:t>
            </a:r>
            <a:endParaRPr lang="es-ES" dirty="0">
              <a:solidFill>
                <a:schemeClr val="tx1">
                  <a:lumMod val="50000"/>
                  <a:lumOff val="50000"/>
                </a:schemeClr>
              </a:solidFill>
            </a:endParaRPr>
          </a:p>
          <a:p>
            <a:pPr marL="265113" indent="-265113">
              <a:spcAft>
                <a:spcPts val="600"/>
              </a:spcAft>
              <a:buSzPct val="100000"/>
              <a:buFont typeface="+mj-lt"/>
              <a:buAutoNum type="arabicPeriod"/>
            </a:pPr>
            <a:r>
              <a:rPr lang="es-ES" dirty="0"/>
              <a:t>Cumplimiento de normas; </a:t>
            </a:r>
            <a:r>
              <a:rPr lang="es-ES" sz="1400" dirty="0">
                <a:solidFill>
                  <a:schemeClr val="tx1">
                    <a:lumMod val="50000"/>
                    <a:lumOff val="50000"/>
                  </a:schemeClr>
                </a:solidFill>
              </a:rPr>
              <a:t>¿cumple con las normas y regulaciones aplicables?, ¿sigue las mejores prácticas de la industria?</a:t>
            </a:r>
            <a:endParaRPr lang="es-ES" dirty="0">
              <a:solidFill>
                <a:schemeClr val="tx1">
                  <a:lumMod val="50000"/>
                  <a:lumOff val="50000"/>
                </a:schemeClr>
              </a:solidFill>
            </a:endParaRPr>
          </a:p>
          <a:p>
            <a:pPr marL="265113" indent="-265113">
              <a:spcAft>
                <a:spcPts val="600"/>
              </a:spcAft>
              <a:buSzPct val="100000"/>
              <a:buFont typeface="+mj-lt"/>
              <a:buAutoNum type="arabicPeriod"/>
            </a:pPr>
            <a:r>
              <a:rPr lang="es-ES" dirty="0"/>
              <a:t>Satisfacción del cliente; </a:t>
            </a:r>
            <a:r>
              <a:rPr lang="es-ES" sz="1400" dirty="0">
                <a:solidFill>
                  <a:schemeClr val="tx1">
                    <a:lumMod val="50000"/>
                    <a:lumOff val="50000"/>
                  </a:schemeClr>
                </a:solidFill>
              </a:rPr>
              <a:t>¿satisface las necesidades y expectativas de los clientes?</a:t>
            </a:r>
          </a:p>
        </p:txBody>
      </p:sp>
      <p:pic>
        <p:nvPicPr>
          <p:cNvPr id="4" name="Marcador de posición de imagen 3">
            <a:extLst>
              <a:ext uri="{FF2B5EF4-FFF2-40B4-BE49-F238E27FC236}">
                <a16:creationId xmlns:a16="http://schemas.microsoft.com/office/drawing/2014/main" id="{4442D27E-6489-B138-EEA5-CB69CDD945A8}"/>
              </a:ext>
            </a:extLst>
          </p:cNvPr>
          <p:cNvPicPr>
            <a:picLocks noGrp="1" noChangeAspect="1"/>
          </p:cNvPicPr>
          <p:nvPr>
            <p:ph type="pic" sz="quarter" idx="10"/>
          </p:nvPr>
        </p:nvPicPr>
        <p:blipFill>
          <a:blip r:embed="rId3"/>
          <a:srcRect l="118" r="118"/>
          <a:stretch>
            <a:fillRect/>
          </a:stretch>
        </p:blipFill>
        <p:spPr>
          <a:xfrm>
            <a:off x="5242253" y="986935"/>
            <a:ext cx="3771291" cy="4103563"/>
          </a:xfrm>
        </p:spPr>
      </p:pic>
    </p:spTree>
    <p:extLst>
      <p:ext uri="{BB962C8B-B14F-4D97-AF65-F5344CB8AC3E}">
        <p14:creationId xmlns:p14="http://schemas.microsoft.com/office/powerpoint/2010/main" val="753434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9889475C-BDBE-CF3F-A001-BAAB1CEFB55D}"/>
              </a:ext>
            </a:extLst>
          </p:cNvPr>
          <p:cNvPicPr>
            <a:picLocks noGrp="1" noChangeAspect="1"/>
          </p:cNvPicPr>
          <p:nvPr>
            <p:ph type="pic" sz="quarter" idx="10"/>
          </p:nvPr>
        </p:nvPicPr>
        <p:blipFill>
          <a:blip r:embed="rId3"/>
          <a:srcRect t="368" b="368"/>
          <a:stretch>
            <a:fillRect/>
          </a:stretch>
        </p:blipFill>
        <p:spPr>
          <a:xfrm>
            <a:off x="470825" y="2946428"/>
            <a:ext cx="8208000" cy="2394000"/>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70825" y="730741"/>
            <a:ext cx="8208000" cy="354012"/>
          </a:xfrm>
        </p:spPr>
        <p:txBody>
          <a:bodyPr/>
          <a:lstStyle/>
          <a:p>
            <a:r>
              <a:rPr lang="es-PE" dirty="0">
                <a:solidFill>
                  <a:srgbClr val="C00000"/>
                </a:solidFill>
              </a:rPr>
              <a:t>Análisis cualitativo de procesos. Ejemplo.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ANÁLISIS CUALITATIVO Y CUANTITATIVO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71450" y="1094571"/>
            <a:ext cx="8207375" cy="2058531"/>
          </a:xfrm>
        </p:spPr>
        <p:txBody>
          <a:bodyPr/>
          <a:lstStyle/>
          <a:p>
            <a:r>
              <a:rPr lang="es-ES" dirty="0"/>
              <a:t>Supongamos que una empresa tiene un proceso para manejar las consultas de los clientes.</a:t>
            </a:r>
          </a:p>
          <a:p>
            <a:pPr>
              <a:spcAft>
                <a:spcPts val="300"/>
              </a:spcAft>
            </a:pPr>
            <a:r>
              <a:rPr lang="es-ES" dirty="0"/>
              <a:t>Un análisis cualitativo de este proceso podría implicar lo siguiente:</a:t>
            </a:r>
          </a:p>
          <a:p>
            <a:pPr lvl="1">
              <a:spcAft>
                <a:spcPts val="300"/>
              </a:spcAft>
            </a:pPr>
            <a:r>
              <a:rPr lang="es-ES" b="1" dirty="0"/>
              <a:t>Entrevistar a los clientes</a:t>
            </a:r>
            <a:r>
              <a:rPr lang="es-ES" dirty="0"/>
              <a:t> para entender su nivel de satisfacción.</a:t>
            </a:r>
          </a:p>
          <a:p>
            <a:pPr lvl="1">
              <a:spcAft>
                <a:spcPts val="300"/>
              </a:spcAft>
            </a:pPr>
            <a:r>
              <a:rPr lang="es-ES" b="1" dirty="0"/>
              <a:t>Observar cómo se manejan las consultas</a:t>
            </a:r>
            <a:r>
              <a:rPr lang="es-ES" dirty="0"/>
              <a:t> para evaluar la eficacia y la eficiencia del proceso.</a:t>
            </a:r>
          </a:p>
          <a:p>
            <a:pPr lvl="1"/>
            <a:r>
              <a:rPr lang="es-ES" b="1" dirty="0"/>
              <a:t>Revisar la documentación</a:t>
            </a:r>
            <a:r>
              <a:rPr lang="es-ES" dirty="0"/>
              <a:t> del proceso para asegurarse de que se están cumpliendo las normas y regulaciones aplicables.</a:t>
            </a:r>
          </a:p>
        </p:txBody>
      </p:sp>
    </p:spTree>
    <p:extLst>
      <p:ext uri="{BB962C8B-B14F-4D97-AF65-F5344CB8AC3E}">
        <p14:creationId xmlns:p14="http://schemas.microsoft.com/office/powerpoint/2010/main" val="3784348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0070C0"/>
                </a:solidFill>
              </a:rPr>
              <a:t>Análisis cuantitativo de procesos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ANÁLISIS CUALITATIVO Y CUANTITATIVO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66294" cy="4111625"/>
          </a:xfrm>
        </p:spPr>
        <p:txBody>
          <a:bodyPr/>
          <a:lstStyle/>
          <a:p>
            <a:pPr>
              <a:spcAft>
                <a:spcPts val="600"/>
              </a:spcAft>
            </a:pPr>
            <a:r>
              <a:rPr lang="es-ES" dirty="0"/>
              <a:t>Técnica BPM que se centra en el uso de datos numéricos para evaluar y entender los procesos de una organización. Se basa en medidas objetivas y cuantificables:</a:t>
            </a:r>
          </a:p>
          <a:p>
            <a:pPr marL="265113" indent="-265113">
              <a:spcAft>
                <a:spcPts val="600"/>
              </a:spcAft>
              <a:buSzPct val="100000"/>
              <a:buFont typeface="+mj-lt"/>
              <a:buAutoNum type="arabicPeriod"/>
            </a:pPr>
            <a:r>
              <a:rPr lang="es-ES" dirty="0"/>
              <a:t>Tiempo de proceso; </a:t>
            </a:r>
            <a:r>
              <a:rPr lang="es-ES" sz="1400" dirty="0">
                <a:solidFill>
                  <a:schemeClr val="tx1">
                    <a:lumMod val="50000"/>
                    <a:lumOff val="50000"/>
                  </a:schemeClr>
                </a:solidFill>
              </a:rPr>
              <a:t>¿cuánto tiempo lleva completar el proceso de principio a fin?, ¿cuánto tiempo lleva completar cada tarea?</a:t>
            </a:r>
            <a:endParaRPr lang="es-ES" dirty="0">
              <a:solidFill>
                <a:schemeClr val="tx1">
                  <a:lumMod val="50000"/>
                  <a:lumOff val="50000"/>
                </a:schemeClr>
              </a:solidFill>
            </a:endParaRPr>
          </a:p>
          <a:p>
            <a:pPr marL="265113" indent="-265113">
              <a:spcAft>
                <a:spcPts val="600"/>
              </a:spcAft>
              <a:buSzPct val="100000"/>
              <a:buFont typeface="+mj-lt"/>
              <a:buAutoNum type="arabicPeriod"/>
            </a:pPr>
            <a:r>
              <a:rPr lang="es-ES" dirty="0"/>
              <a:t>Costo del proceso; </a:t>
            </a:r>
            <a:r>
              <a:rPr lang="es-ES" sz="1400" dirty="0">
                <a:solidFill>
                  <a:schemeClr val="tx1">
                    <a:lumMod val="50000"/>
                    <a:lumOff val="50000"/>
                  </a:schemeClr>
                </a:solidFill>
              </a:rPr>
              <a:t>¿cuánto cuesta realizar el proceso? </a:t>
            </a:r>
            <a:endParaRPr lang="es-ES" dirty="0">
              <a:solidFill>
                <a:schemeClr val="tx1">
                  <a:lumMod val="50000"/>
                  <a:lumOff val="50000"/>
                </a:schemeClr>
              </a:solidFill>
            </a:endParaRPr>
          </a:p>
          <a:p>
            <a:pPr marL="265113" indent="-265113">
              <a:spcAft>
                <a:spcPts val="600"/>
              </a:spcAft>
              <a:buSzPct val="100000"/>
              <a:buFont typeface="+mj-lt"/>
              <a:buAutoNum type="arabicPeriod"/>
            </a:pPr>
            <a:r>
              <a:rPr lang="es-ES" dirty="0"/>
              <a:t>Rendimiento del proceso; </a:t>
            </a:r>
            <a:r>
              <a:rPr lang="es-ES" sz="1400" dirty="0">
                <a:solidFill>
                  <a:schemeClr val="tx1">
                    <a:lumMod val="50000"/>
                    <a:lumOff val="50000"/>
                  </a:schemeClr>
                </a:solidFill>
              </a:rPr>
              <a:t>¿cuánto trabajo puede realizar el proceso en un periodo de tiempo determinado?, ¿cuántos productos puede producir o cuántos clientes puede atender?</a:t>
            </a:r>
            <a:endParaRPr lang="es-ES" dirty="0">
              <a:solidFill>
                <a:schemeClr val="tx1">
                  <a:lumMod val="50000"/>
                  <a:lumOff val="50000"/>
                </a:schemeClr>
              </a:solidFill>
            </a:endParaRPr>
          </a:p>
          <a:p>
            <a:pPr marL="265113" indent="-265113">
              <a:spcAft>
                <a:spcPts val="600"/>
              </a:spcAft>
              <a:buSzPct val="100000"/>
              <a:buFont typeface="+mj-lt"/>
              <a:buAutoNum type="arabicPeriod"/>
            </a:pPr>
            <a:r>
              <a:rPr lang="es-ES" dirty="0"/>
              <a:t>Calidad del proceso; </a:t>
            </a:r>
            <a:r>
              <a:rPr lang="es-ES" sz="1400" dirty="0">
                <a:solidFill>
                  <a:schemeClr val="tx1">
                    <a:lumMod val="50000"/>
                    <a:lumOff val="50000"/>
                  </a:schemeClr>
                </a:solidFill>
              </a:rPr>
              <a:t>¿cuántos errores ocurren durante el proceso?, ¿cuántos productos defectuosos se producen?</a:t>
            </a:r>
            <a:endParaRPr lang="es-ES" dirty="0">
              <a:solidFill>
                <a:schemeClr val="tx1">
                  <a:lumMod val="50000"/>
                  <a:lumOff val="50000"/>
                </a:schemeClr>
              </a:solidFill>
            </a:endParaRPr>
          </a:p>
        </p:txBody>
      </p:sp>
      <p:pic>
        <p:nvPicPr>
          <p:cNvPr id="4" name="Marcador de posición de imagen 3">
            <a:extLst>
              <a:ext uri="{FF2B5EF4-FFF2-40B4-BE49-F238E27FC236}">
                <a16:creationId xmlns:a16="http://schemas.microsoft.com/office/drawing/2014/main" id="{65D17B4F-838A-55D3-7BF0-944421270DA8}"/>
              </a:ext>
            </a:extLst>
          </p:cNvPr>
          <p:cNvPicPr>
            <a:picLocks noGrp="1" noChangeAspect="1"/>
          </p:cNvPicPr>
          <p:nvPr>
            <p:ph type="pic" sz="quarter" idx="10"/>
          </p:nvPr>
        </p:nvPicPr>
        <p:blipFill>
          <a:blip r:embed="rId3"/>
          <a:srcRect l="20" r="20"/>
          <a:stretch>
            <a:fillRect/>
          </a:stretch>
        </p:blipFill>
        <p:spPr>
          <a:xfrm>
            <a:off x="5131807" y="968874"/>
            <a:ext cx="3720097" cy="4047859"/>
          </a:xfrm>
        </p:spPr>
      </p:pic>
    </p:spTree>
    <p:extLst>
      <p:ext uri="{BB962C8B-B14F-4D97-AF65-F5344CB8AC3E}">
        <p14:creationId xmlns:p14="http://schemas.microsoft.com/office/powerpoint/2010/main" val="2301942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0070C0"/>
                </a:solidFill>
              </a:rPr>
              <a:t>Análisis cuantitativo de procesos. Ejemplo.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ANÁLISIS CUALITATIVO Y CUANTITATIVO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a:lnSpc>
                <a:spcPct val="95000"/>
              </a:lnSpc>
            </a:pPr>
            <a:r>
              <a:rPr lang="es-ES" dirty="0"/>
              <a:t>Supongamos que una empresa tiene un proceso para la fabricación de un producto.</a:t>
            </a:r>
          </a:p>
          <a:p>
            <a:pPr>
              <a:lnSpc>
                <a:spcPct val="95000"/>
              </a:lnSpc>
              <a:spcAft>
                <a:spcPts val="300"/>
              </a:spcAft>
            </a:pPr>
            <a:r>
              <a:rPr lang="es-ES" dirty="0"/>
              <a:t>Un análisis cuantitativo de este proceso podría implicar </a:t>
            </a:r>
            <a:r>
              <a:rPr lang="es-ES" b="1" dirty="0"/>
              <a:t>medir lo siguiente:</a:t>
            </a:r>
          </a:p>
          <a:p>
            <a:pPr lvl="1">
              <a:lnSpc>
                <a:spcPct val="95000"/>
              </a:lnSpc>
              <a:spcAft>
                <a:spcPts val="300"/>
              </a:spcAft>
            </a:pPr>
            <a:r>
              <a:rPr lang="es-ES" b="1" dirty="0"/>
              <a:t>El tiempo </a:t>
            </a:r>
            <a:r>
              <a:rPr lang="es-ES" dirty="0"/>
              <a:t>que</a:t>
            </a:r>
            <a:r>
              <a:rPr lang="es-ES" b="1" dirty="0"/>
              <a:t> </a:t>
            </a:r>
            <a:r>
              <a:rPr lang="es-ES" dirty="0"/>
              <a:t>lleva fabricar cada producto.</a:t>
            </a:r>
          </a:p>
          <a:p>
            <a:pPr lvl="1">
              <a:lnSpc>
                <a:spcPct val="95000"/>
              </a:lnSpc>
              <a:spcAft>
                <a:spcPts val="300"/>
              </a:spcAft>
            </a:pPr>
            <a:r>
              <a:rPr lang="es-ES" b="1" dirty="0"/>
              <a:t>El costo</a:t>
            </a:r>
            <a:r>
              <a:rPr lang="es-ES" dirty="0"/>
              <a:t> en términos de materiales y mano de obra.</a:t>
            </a:r>
          </a:p>
          <a:p>
            <a:pPr lvl="1">
              <a:lnSpc>
                <a:spcPct val="95000"/>
              </a:lnSpc>
              <a:spcAft>
                <a:spcPts val="300"/>
              </a:spcAft>
            </a:pPr>
            <a:r>
              <a:rPr lang="es-ES" b="1" dirty="0"/>
              <a:t>La cantidad de productos que se pueden fabricar</a:t>
            </a:r>
            <a:r>
              <a:rPr lang="es-ES" dirty="0"/>
              <a:t> </a:t>
            </a:r>
            <a:r>
              <a:rPr lang="es-ES" b="1" dirty="0"/>
              <a:t>en un día.</a:t>
            </a:r>
            <a:endParaRPr lang="es-ES" dirty="0"/>
          </a:p>
          <a:p>
            <a:pPr lvl="1">
              <a:lnSpc>
                <a:spcPct val="95000"/>
              </a:lnSpc>
            </a:pPr>
            <a:r>
              <a:rPr lang="es-ES" b="1" dirty="0"/>
              <a:t>La cantidad de productos defectuosos</a:t>
            </a:r>
            <a:r>
              <a:rPr lang="es-ES" dirty="0"/>
              <a:t> que se producen.</a:t>
            </a:r>
          </a:p>
        </p:txBody>
      </p:sp>
      <p:pic>
        <p:nvPicPr>
          <p:cNvPr id="8" name="Marcador de posición de imagen 7">
            <a:extLst>
              <a:ext uri="{FF2B5EF4-FFF2-40B4-BE49-F238E27FC236}">
                <a16:creationId xmlns:a16="http://schemas.microsoft.com/office/drawing/2014/main" id="{7430C31A-1F57-AD95-3C8D-80B77B7AABE2}"/>
              </a:ext>
            </a:extLst>
          </p:cNvPr>
          <p:cNvPicPr>
            <a:picLocks noGrp="1" noChangeAspect="1"/>
          </p:cNvPicPr>
          <p:nvPr>
            <p:ph type="pic" sz="quarter" idx="10"/>
          </p:nvPr>
        </p:nvPicPr>
        <p:blipFill>
          <a:blip r:embed="rId3"/>
          <a:srcRect t="368" b="368"/>
          <a:stretch>
            <a:fillRect/>
          </a:stretch>
        </p:blipFill>
        <p:spPr/>
      </p:pic>
    </p:spTree>
    <p:extLst>
      <p:ext uri="{BB962C8B-B14F-4D97-AF65-F5344CB8AC3E}">
        <p14:creationId xmlns:p14="http://schemas.microsoft.com/office/powerpoint/2010/main" val="3987620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58529694-645D-5488-A7F8-C42F169E1D3D}"/>
              </a:ext>
            </a:extLst>
          </p:cNvPr>
          <p:cNvSpPr>
            <a:spLocks noGrp="1"/>
          </p:cNvSpPr>
          <p:nvPr>
            <p:ph type="pic" sz="quarter" idx="10"/>
          </p:nvPr>
        </p:nvSpPr>
        <p:spPr/>
      </p:sp>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Análisis cualitativo vs cuantitativo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ANÁLISIS CUALITATIVO Y CUANTITATIVO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Ambos tipos de análisis son valiosos para la Gestión de Procesos de Negocio (BPM) y a menudo se utilizan juntos para proporcionar una comprensión completa de los procesos de una organización.</a:t>
            </a:r>
          </a:p>
          <a:p>
            <a:r>
              <a:rPr lang="es-ES" dirty="0">
                <a:solidFill>
                  <a:srgbClr val="FF0000"/>
                </a:solidFill>
              </a:rPr>
              <a:t>El análisis cualitativo puede ayudar a identificar problemas y oportunidades, mientras que el análisis cuantitativo puede proporcionar las medidas necesarias para rastrear el progreso y evaluar el éxito de las mejoras.</a:t>
            </a:r>
          </a:p>
          <a:p>
            <a:endParaRPr lang="es-ES" dirty="0"/>
          </a:p>
        </p:txBody>
      </p:sp>
      <p:graphicFrame>
        <p:nvGraphicFramePr>
          <p:cNvPr id="2" name="Tabla 1">
            <a:extLst>
              <a:ext uri="{FF2B5EF4-FFF2-40B4-BE49-F238E27FC236}">
                <a16:creationId xmlns:a16="http://schemas.microsoft.com/office/drawing/2014/main" id="{7B81B4E5-86F7-4D3B-8610-C4E802CD855C}"/>
              </a:ext>
            </a:extLst>
          </p:cNvPr>
          <p:cNvGraphicFramePr>
            <a:graphicFrameLocks noGrp="1"/>
          </p:cNvGraphicFramePr>
          <p:nvPr>
            <p:extLst>
              <p:ext uri="{D42A27DB-BD31-4B8C-83A1-F6EECF244321}">
                <p14:modId xmlns:p14="http://schemas.microsoft.com/office/powerpoint/2010/main" val="3766281455"/>
              </p:ext>
            </p:extLst>
          </p:nvPr>
        </p:nvGraphicFramePr>
        <p:xfrm>
          <a:off x="491814" y="2879175"/>
          <a:ext cx="8208001" cy="2371686"/>
        </p:xfrm>
        <a:graphic>
          <a:graphicData uri="http://schemas.openxmlformats.org/drawingml/2006/table">
            <a:tbl>
              <a:tblPr firstRow="1" firstCol="1" bandRow="1">
                <a:tableStyleId>{5C22544A-7EE6-4342-B048-85BDC9FD1C3A}</a:tableStyleId>
              </a:tblPr>
              <a:tblGrid>
                <a:gridCol w="1513967">
                  <a:extLst>
                    <a:ext uri="{9D8B030D-6E8A-4147-A177-3AD203B41FA5}">
                      <a16:colId xmlns:a16="http://schemas.microsoft.com/office/drawing/2014/main" val="3818546946"/>
                    </a:ext>
                  </a:extLst>
                </a:gridCol>
                <a:gridCol w="3347017">
                  <a:extLst>
                    <a:ext uri="{9D8B030D-6E8A-4147-A177-3AD203B41FA5}">
                      <a16:colId xmlns:a16="http://schemas.microsoft.com/office/drawing/2014/main" val="3646710949"/>
                    </a:ext>
                  </a:extLst>
                </a:gridCol>
                <a:gridCol w="3347017">
                  <a:extLst>
                    <a:ext uri="{9D8B030D-6E8A-4147-A177-3AD203B41FA5}">
                      <a16:colId xmlns:a16="http://schemas.microsoft.com/office/drawing/2014/main" val="1844152605"/>
                    </a:ext>
                  </a:extLst>
                </a:gridCol>
              </a:tblGrid>
              <a:tr h="269949">
                <a:tc>
                  <a:txBody>
                    <a:bodyPr/>
                    <a:lstStyle/>
                    <a:p>
                      <a:pPr indent="457200" algn="just">
                        <a:lnSpc>
                          <a:spcPct val="85000"/>
                        </a:lnSpc>
                      </a:pPr>
                      <a:endParaRPr lang="es-PE" sz="1200" kern="100" dirty="0">
                        <a:effectLst/>
                        <a:latin typeface="+mn-lt"/>
                        <a:cs typeface="Arial" panose="020B0604020202020204" pitchFamily="34" charset="0"/>
                      </a:endParaRPr>
                    </a:p>
                  </a:txBody>
                  <a:tcPr marL="0" marR="0" marT="0" marB="0" anchor="ctr"/>
                </a:tc>
                <a:tc>
                  <a:txBody>
                    <a:bodyPr/>
                    <a:lstStyle/>
                    <a:p>
                      <a:pPr marL="0" indent="0" algn="ctr">
                        <a:lnSpc>
                          <a:spcPct val="85000"/>
                        </a:lnSpc>
                        <a:spcBef>
                          <a:spcPts val="2400"/>
                        </a:spcBef>
                        <a:spcAft>
                          <a:spcPts val="2400"/>
                        </a:spcAft>
                      </a:pPr>
                      <a:r>
                        <a:rPr lang="es-PE" sz="1200" kern="0" dirty="0">
                          <a:effectLst/>
                          <a:latin typeface="+mn-lt"/>
                        </a:rPr>
                        <a:t>Análisis Cualitativo de Procesos</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ctr">
                        <a:lnSpc>
                          <a:spcPct val="85000"/>
                        </a:lnSpc>
                        <a:spcBef>
                          <a:spcPts val="2400"/>
                        </a:spcBef>
                        <a:spcAft>
                          <a:spcPts val="2400"/>
                        </a:spcAft>
                      </a:pPr>
                      <a:r>
                        <a:rPr lang="es-PE" sz="1200" kern="0" dirty="0">
                          <a:effectLst/>
                          <a:latin typeface="+mn-lt"/>
                        </a:rPr>
                        <a:t>Análisis Cuantitativo de Procesos</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13881284"/>
                  </a:ext>
                </a:extLst>
              </a:tr>
              <a:tr h="359664">
                <a:tc>
                  <a:txBody>
                    <a:bodyPr/>
                    <a:lstStyle/>
                    <a:p>
                      <a:pPr marL="0" indent="88900" algn="just">
                        <a:lnSpc>
                          <a:spcPct val="85000"/>
                        </a:lnSpc>
                        <a:spcBef>
                          <a:spcPts val="2400"/>
                        </a:spcBef>
                        <a:spcAft>
                          <a:spcPts val="2400"/>
                        </a:spcAft>
                      </a:pPr>
                      <a:r>
                        <a:rPr lang="es-PE" sz="1200" kern="0" dirty="0">
                          <a:effectLst/>
                          <a:latin typeface="+mn-lt"/>
                        </a:rPr>
                        <a:t>Enfoque</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Se centra en aspectos subjetivos y descriptivos del proceso.</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Se centra en aspectos objetivos y medibles del proceso.</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4165418770"/>
                  </a:ext>
                </a:extLst>
              </a:tr>
              <a:tr h="393939">
                <a:tc>
                  <a:txBody>
                    <a:bodyPr/>
                    <a:lstStyle/>
                    <a:p>
                      <a:pPr marL="0" indent="88900" algn="just">
                        <a:lnSpc>
                          <a:spcPct val="85000"/>
                        </a:lnSpc>
                        <a:spcBef>
                          <a:spcPts val="2400"/>
                        </a:spcBef>
                        <a:spcAft>
                          <a:spcPts val="2400"/>
                        </a:spcAft>
                      </a:pPr>
                      <a:r>
                        <a:rPr lang="es-PE" sz="1200" kern="0" dirty="0">
                          <a:effectLst/>
                          <a:latin typeface="+mn-lt"/>
                        </a:rPr>
                        <a:t>Métodos</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Utiliza entrevistas, observación, revisión de documentación.</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Utiliza medidas numéricas, estadísticas, datos de rendimiento.</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1195650242"/>
                  </a:ext>
                </a:extLst>
              </a:tr>
              <a:tr h="449378">
                <a:tc>
                  <a:txBody>
                    <a:bodyPr/>
                    <a:lstStyle/>
                    <a:p>
                      <a:pPr marL="0" indent="88900" algn="just">
                        <a:lnSpc>
                          <a:spcPct val="85000"/>
                        </a:lnSpc>
                        <a:spcBef>
                          <a:spcPts val="2400"/>
                        </a:spcBef>
                        <a:spcAft>
                          <a:spcPts val="2400"/>
                        </a:spcAft>
                      </a:pPr>
                      <a:r>
                        <a:rPr lang="es-PE" sz="1200" kern="0" dirty="0">
                          <a:effectLst/>
                          <a:latin typeface="+mn-lt"/>
                        </a:rPr>
                        <a:t>Resultados</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Proporciona una comprensión profunda de cómo se realizan los procesos y cómo se perciben.</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Proporciona medidas objetivas del rendimiento del proceso.</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3850543328"/>
                  </a:ext>
                </a:extLst>
              </a:tr>
              <a:tr h="449378">
                <a:tc>
                  <a:txBody>
                    <a:bodyPr/>
                    <a:lstStyle/>
                    <a:p>
                      <a:pPr marL="0" indent="88900" algn="just">
                        <a:lnSpc>
                          <a:spcPct val="85000"/>
                        </a:lnSpc>
                        <a:spcBef>
                          <a:spcPts val="2400"/>
                        </a:spcBef>
                        <a:spcAft>
                          <a:spcPts val="2400"/>
                        </a:spcAft>
                      </a:pPr>
                      <a:r>
                        <a:rPr lang="es-PE" sz="1200" kern="0" dirty="0">
                          <a:effectLst/>
                          <a:latin typeface="+mn-lt"/>
                        </a:rPr>
                        <a:t>Uso de los datos</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Los datos se utilizan para entender la calidad, la eficacia y la eficiencia del proceso.</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Los datos se utilizan para medir el tiempo, el costo, el rendimiento y la calidad del proceso.</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3381583698"/>
                  </a:ext>
                </a:extLst>
              </a:tr>
              <a:tr h="449378">
                <a:tc>
                  <a:txBody>
                    <a:bodyPr/>
                    <a:lstStyle/>
                    <a:p>
                      <a:pPr marL="0" indent="88900" algn="just">
                        <a:lnSpc>
                          <a:spcPct val="85000"/>
                        </a:lnSpc>
                        <a:spcBef>
                          <a:spcPts val="2400"/>
                        </a:spcBef>
                        <a:spcAft>
                          <a:spcPts val="2400"/>
                        </a:spcAft>
                      </a:pPr>
                      <a:r>
                        <a:rPr lang="es-PE" sz="1200" kern="0" dirty="0">
                          <a:effectLst/>
                          <a:latin typeface="+mn-lt"/>
                        </a:rPr>
                        <a:t>Ejemplo de uso</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Evaluar la satisfacción del cliente, la eficacia del proceso, el cumplimiento de normas.</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tc>
                  <a:txBody>
                    <a:bodyPr/>
                    <a:lstStyle/>
                    <a:p>
                      <a:pPr marL="0" indent="0" algn="l">
                        <a:lnSpc>
                          <a:spcPct val="85000"/>
                        </a:lnSpc>
                        <a:spcBef>
                          <a:spcPts val="2400"/>
                        </a:spcBef>
                        <a:spcAft>
                          <a:spcPts val="2400"/>
                        </a:spcAft>
                      </a:pPr>
                      <a:r>
                        <a:rPr lang="es-PE" sz="1200" kern="0" dirty="0">
                          <a:effectLst/>
                          <a:latin typeface="+mn-lt"/>
                        </a:rPr>
                        <a:t>Medir el tiempo de proceso, el costo del proceso, el rendimiento del proceso.</a:t>
                      </a:r>
                      <a:endParaRPr lang="es-PE" sz="1200" kern="100" dirty="0">
                        <a:effectLst/>
                        <a:latin typeface="+mn-lt"/>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2079125719"/>
                  </a:ext>
                </a:extLst>
              </a:tr>
            </a:tbl>
          </a:graphicData>
        </a:graphic>
      </p:graphicFrame>
    </p:spTree>
    <p:extLst>
      <p:ext uri="{BB962C8B-B14F-4D97-AF65-F5344CB8AC3E}">
        <p14:creationId xmlns:p14="http://schemas.microsoft.com/office/powerpoint/2010/main" val="90918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INDICADORES DE DESEMPEÑO PARA MEDICIÓN DE PROCESOS</a:t>
            </a:r>
          </a:p>
        </p:txBody>
      </p:sp>
    </p:spTree>
    <p:custDataLst>
      <p:tags r:id="rId1"/>
    </p:custDataLst>
    <p:extLst>
      <p:ext uri="{BB962C8B-B14F-4D97-AF65-F5344CB8AC3E}">
        <p14:creationId xmlns:p14="http://schemas.microsoft.com/office/powerpoint/2010/main" val="25048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Indicadores de desempeño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INDICADORES DE DESEMPEÑO PARA MEDICIÓN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10616" cy="4111625"/>
          </a:xfrm>
        </p:spPr>
        <p:txBody>
          <a:bodyPr/>
          <a:lstStyle/>
          <a:p>
            <a:pPr>
              <a:spcAft>
                <a:spcPts val="300"/>
              </a:spcAft>
            </a:pPr>
            <a:r>
              <a:rPr lang="es-ES" dirty="0"/>
              <a:t>También conocidos como </a:t>
            </a:r>
            <a:r>
              <a:rPr lang="es-ES" i="1" dirty="0"/>
              <a:t>Key Performance Indicators </a:t>
            </a:r>
            <a:r>
              <a:rPr lang="es-ES" dirty="0"/>
              <a:t>(KPI), son medidas cuantificables que se utilizan para evaluar el rendimiento de un proceso. Algunos ejemplos se muestran a continuación:</a:t>
            </a:r>
          </a:p>
          <a:p>
            <a:pPr marL="530226" lvl="1">
              <a:spcAft>
                <a:spcPts val="300"/>
              </a:spcAft>
              <a:buSzPct val="85000"/>
              <a:buFont typeface="+mj-lt"/>
              <a:buAutoNum type="arabicPeriod"/>
            </a:pPr>
            <a:r>
              <a:rPr lang="es-ES" dirty="0"/>
              <a:t>Tiempo de ciclo.</a:t>
            </a:r>
          </a:p>
          <a:p>
            <a:pPr marL="530226" lvl="1">
              <a:spcAft>
                <a:spcPts val="300"/>
              </a:spcAft>
              <a:buSzPct val="85000"/>
              <a:buFont typeface="+mj-lt"/>
              <a:buAutoNum type="arabicPeriod"/>
            </a:pPr>
            <a:r>
              <a:rPr lang="es-ES" dirty="0"/>
              <a:t>Costo de proceso.</a:t>
            </a:r>
          </a:p>
          <a:p>
            <a:pPr marL="530226" lvl="1">
              <a:spcAft>
                <a:spcPts val="300"/>
              </a:spcAft>
              <a:buSzPct val="85000"/>
              <a:buFont typeface="+mj-lt"/>
              <a:buAutoNum type="arabicPeriod"/>
            </a:pPr>
            <a:r>
              <a:rPr lang="es-ES" dirty="0"/>
              <a:t>Productividad del proceso.</a:t>
            </a:r>
          </a:p>
          <a:p>
            <a:pPr marL="530226" lvl="1">
              <a:spcAft>
                <a:spcPts val="300"/>
              </a:spcAft>
              <a:buSzPct val="85000"/>
              <a:buFont typeface="+mj-lt"/>
              <a:buAutoNum type="arabicPeriod"/>
            </a:pPr>
            <a:r>
              <a:rPr lang="es-ES" dirty="0"/>
              <a:t>Calidad del proceso.</a:t>
            </a:r>
          </a:p>
          <a:p>
            <a:pPr marL="530226" lvl="1">
              <a:spcAft>
                <a:spcPts val="300"/>
              </a:spcAft>
              <a:buSzPct val="85000"/>
              <a:buFont typeface="+mj-lt"/>
              <a:buAutoNum type="arabicPeriod"/>
            </a:pPr>
            <a:r>
              <a:rPr lang="es-ES" dirty="0"/>
              <a:t>Rendimiento del proceso.</a:t>
            </a:r>
          </a:p>
          <a:p>
            <a:pPr marL="530226" lvl="1">
              <a:spcAft>
                <a:spcPts val="300"/>
              </a:spcAft>
              <a:buSzPct val="85000"/>
              <a:buFont typeface="+mj-lt"/>
              <a:buAutoNum type="arabicPeriod"/>
            </a:pPr>
            <a:r>
              <a:rPr lang="es-ES" dirty="0"/>
              <a:t>Tasa de error.</a:t>
            </a:r>
          </a:p>
          <a:p>
            <a:pPr marL="530226" lvl="1">
              <a:spcAft>
                <a:spcPts val="300"/>
              </a:spcAft>
              <a:buSzPct val="85000"/>
              <a:buFont typeface="+mj-lt"/>
              <a:buAutoNum type="arabicPeriod"/>
            </a:pPr>
            <a:r>
              <a:rPr lang="es-ES" dirty="0"/>
              <a:t>Tiempo de inactividad del proceso.</a:t>
            </a:r>
          </a:p>
          <a:p>
            <a:pPr marL="530226" lvl="1">
              <a:spcAft>
                <a:spcPts val="300"/>
              </a:spcAft>
              <a:buSzPct val="85000"/>
              <a:buFont typeface="+mj-lt"/>
              <a:buAutoNum type="arabicPeriod"/>
            </a:pPr>
            <a:r>
              <a:rPr lang="es-ES" dirty="0"/>
              <a:t>Capacidad del proceso.</a:t>
            </a:r>
          </a:p>
          <a:p>
            <a:pPr marL="530226" lvl="1">
              <a:spcAft>
                <a:spcPts val="300"/>
              </a:spcAft>
              <a:buSzPct val="85000"/>
              <a:buFont typeface="+mj-lt"/>
              <a:buAutoNum type="arabicPeriod"/>
            </a:pPr>
            <a:r>
              <a:rPr lang="es-ES" dirty="0"/>
              <a:t>Satisfacción del cliente.</a:t>
            </a:r>
          </a:p>
          <a:p>
            <a:pPr marL="530226" lvl="1">
              <a:buSzPct val="85000"/>
              <a:buFont typeface="+mj-lt"/>
              <a:buAutoNum type="arabicPeriod"/>
            </a:pPr>
            <a:r>
              <a:rPr lang="es-ES" dirty="0"/>
              <a:t>Cumplimiento de plazos.</a:t>
            </a:r>
          </a:p>
        </p:txBody>
      </p:sp>
      <p:pic>
        <p:nvPicPr>
          <p:cNvPr id="4" name="Marcador de posición de imagen 3">
            <a:extLst>
              <a:ext uri="{FF2B5EF4-FFF2-40B4-BE49-F238E27FC236}">
                <a16:creationId xmlns:a16="http://schemas.microsoft.com/office/drawing/2014/main" id="{B988EC2F-1F04-6ECA-B1A8-0C630ED512C9}"/>
              </a:ext>
            </a:extLst>
          </p:cNvPr>
          <p:cNvPicPr>
            <a:picLocks noGrp="1" noChangeAspect="1"/>
          </p:cNvPicPr>
          <p:nvPr>
            <p:ph type="pic" sz="quarter" idx="10"/>
          </p:nvPr>
        </p:nvPicPr>
        <p:blipFill>
          <a:blip r:embed="rId3"/>
          <a:srcRect l="2" r="2"/>
          <a:stretch>
            <a:fillRect/>
          </a:stretch>
        </p:blipFill>
        <p:spPr>
          <a:xfrm>
            <a:off x="4878929" y="816438"/>
            <a:ext cx="4086000" cy="4446000"/>
          </a:xfrm>
        </p:spPr>
      </p:pic>
    </p:spTree>
    <p:extLst>
      <p:ext uri="{BB962C8B-B14F-4D97-AF65-F5344CB8AC3E}">
        <p14:creationId xmlns:p14="http://schemas.microsoft.com/office/powerpoint/2010/main" val="1912813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Indicadores de desempeño típicos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INDICADORES DE DESEMPEÑO PARA MEDICIÓN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0" indent="0">
              <a:lnSpc>
                <a:spcPct val="96000"/>
              </a:lnSpc>
              <a:spcBef>
                <a:spcPts val="1200"/>
              </a:spcBef>
              <a:spcAft>
                <a:spcPts val="600"/>
              </a:spcAft>
              <a:buNone/>
            </a:pPr>
            <a:r>
              <a:rPr lang="es-ES" b="1" u="sng" dirty="0">
                <a:solidFill>
                  <a:srgbClr val="0070C0"/>
                </a:solidFill>
              </a:rPr>
              <a:t>Tiempo de ciclo</a:t>
            </a:r>
          </a:p>
          <a:p>
            <a:pPr marL="0" indent="0">
              <a:lnSpc>
                <a:spcPct val="96000"/>
              </a:lnSpc>
              <a:spcAft>
                <a:spcPts val="600"/>
              </a:spcAft>
              <a:buNone/>
            </a:pPr>
            <a:r>
              <a:rPr lang="es-ES" dirty="0"/>
              <a:t>Mide el tiempo que tarda en completarse un proceso desde el principio hasta el final.</a:t>
            </a:r>
          </a:p>
          <a:p>
            <a:pPr>
              <a:lnSpc>
                <a:spcPct val="96000"/>
              </a:lnSpc>
              <a:spcAft>
                <a:spcPts val="600"/>
              </a:spcAft>
            </a:pPr>
            <a:r>
              <a:rPr lang="es-ES" dirty="0">
                <a:solidFill>
                  <a:schemeClr val="tx1">
                    <a:lumMod val="50000"/>
                    <a:lumOff val="50000"/>
                  </a:schemeClr>
                </a:solidFill>
              </a:rPr>
              <a:t>En un proceso de fabricación, el tiempo de ciclo podría ser el tiempo que tarda en producirse un producto.</a:t>
            </a:r>
          </a:p>
          <a:p>
            <a:pPr marL="0" indent="0">
              <a:lnSpc>
                <a:spcPct val="96000"/>
              </a:lnSpc>
              <a:spcBef>
                <a:spcPts val="1200"/>
              </a:spcBef>
              <a:spcAft>
                <a:spcPts val="600"/>
              </a:spcAft>
              <a:buNone/>
            </a:pPr>
            <a:r>
              <a:rPr lang="es-ES" b="1" u="sng" dirty="0">
                <a:solidFill>
                  <a:srgbClr val="0070C0"/>
                </a:solidFill>
              </a:rPr>
              <a:t>Costo de proceso</a:t>
            </a:r>
          </a:p>
          <a:p>
            <a:pPr marL="0" indent="0">
              <a:lnSpc>
                <a:spcPct val="96000"/>
              </a:lnSpc>
              <a:spcAft>
                <a:spcPts val="600"/>
              </a:spcAft>
              <a:buNone/>
            </a:pPr>
            <a:r>
              <a:rPr lang="es-ES" dirty="0"/>
              <a:t>Mide el costo total de realizar un proceso. Esto podría incluir los costos de mano de obra, materiales, equipos y otros recursos.</a:t>
            </a:r>
          </a:p>
          <a:p>
            <a:pPr>
              <a:lnSpc>
                <a:spcPct val="96000"/>
              </a:lnSpc>
              <a:spcAft>
                <a:spcPts val="600"/>
              </a:spcAft>
            </a:pPr>
            <a:r>
              <a:rPr lang="es-ES" dirty="0">
                <a:solidFill>
                  <a:schemeClr val="tx1">
                    <a:lumMod val="50000"/>
                    <a:lumOff val="50000"/>
                  </a:schemeClr>
                </a:solidFill>
              </a:rPr>
              <a:t>En un proceso de servicio al cliente, el costo del proceso podría incluir el salario del personal de servicio al cliente, el costo de las herramientas de soporte al cliente y el costo de formación del personal.</a:t>
            </a:r>
            <a:endParaRPr lang="es-ES" dirty="0"/>
          </a:p>
        </p:txBody>
      </p:sp>
      <p:pic>
        <p:nvPicPr>
          <p:cNvPr id="4" name="Marcador de posición de imagen 3">
            <a:extLst>
              <a:ext uri="{FF2B5EF4-FFF2-40B4-BE49-F238E27FC236}">
                <a16:creationId xmlns:a16="http://schemas.microsoft.com/office/drawing/2014/main" id="{F82853D2-E139-4E94-B5D8-C8C92B1EC93E}"/>
              </a:ext>
            </a:extLst>
          </p:cNvPr>
          <p:cNvPicPr>
            <a:picLocks noGrp="1" noChangeAspect="1"/>
          </p:cNvPicPr>
          <p:nvPr>
            <p:ph type="pic" sz="quarter" idx="10"/>
          </p:nvPr>
        </p:nvPicPr>
        <p:blipFill>
          <a:blip r:embed="rId3"/>
          <a:srcRect l="349" r="349"/>
          <a:stretch>
            <a:fillRect/>
          </a:stretch>
        </p:blipFill>
        <p:spPr/>
      </p:pic>
    </p:spTree>
    <p:extLst>
      <p:ext uri="{BB962C8B-B14F-4D97-AF65-F5344CB8AC3E}">
        <p14:creationId xmlns:p14="http://schemas.microsoft.com/office/powerpoint/2010/main" val="2125740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Indicadores de desempeño típicos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INDICADORES DE DESEMPEÑO PARA MEDICIÓN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0" indent="0">
              <a:lnSpc>
                <a:spcPct val="96000"/>
              </a:lnSpc>
              <a:spcBef>
                <a:spcPts val="1200"/>
              </a:spcBef>
              <a:spcAft>
                <a:spcPts val="600"/>
              </a:spcAft>
              <a:buNone/>
            </a:pPr>
            <a:r>
              <a:rPr lang="es-ES" b="1" u="sng" dirty="0">
                <a:solidFill>
                  <a:srgbClr val="0070C0"/>
                </a:solidFill>
              </a:rPr>
              <a:t>Productividad del proceso</a:t>
            </a:r>
          </a:p>
          <a:p>
            <a:pPr marL="0" indent="0">
              <a:lnSpc>
                <a:spcPct val="96000"/>
              </a:lnSpc>
              <a:spcAft>
                <a:spcPts val="600"/>
              </a:spcAft>
              <a:buNone/>
            </a:pPr>
            <a:r>
              <a:rPr lang="es-ES" dirty="0"/>
              <a:t>Mide la cantidad de trabajo que se puede realizar en un periodo de tiempo determinado. </a:t>
            </a:r>
          </a:p>
          <a:p>
            <a:pPr>
              <a:lnSpc>
                <a:spcPct val="96000"/>
              </a:lnSpc>
              <a:spcAft>
                <a:spcPts val="600"/>
              </a:spcAft>
            </a:pPr>
            <a:r>
              <a:rPr lang="es-ES" dirty="0">
                <a:solidFill>
                  <a:schemeClr val="tx1">
                    <a:lumMod val="50000"/>
                    <a:lumOff val="50000"/>
                  </a:schemeClr>
                </a:solidFill>
              </a:rPr>
              <a:t>En un proceso de atención al cliente, la productividad del proceso podría medirse en términos de cuántas consultas de clientes se pueden manejar en un día.</a:t>
            </a:r>
          </a:p>
          <a:p>
            <a:pPr marL="0" indent="0">
              <a:lnSpc>
                <a:spcPct val="96000"/>
              </a:lnSpc>
              <a:spcBef>
                <a:spcPts val="1200"/>
              </a:spcBef>
              <a:spcAft>
                <a:spcPts val="600"/>
              </a:spcAft>
              <a:buNone/>
            </a:pPr>
            <a:r>
              <a:rPr lang="es-ES" b="1" u="sng" dirty="0">
                <a:solidFill>
                  <a:srgbClr val="0070C0"/>
                </a:solidFill>
              </a:rPr>
              <a:t>Calidad del proceso</a:t>
            </a:r>
          </a:p>
          <a:p>
            <a:pPr marL="0" indent="0">
              <a:lnSpc>
                <a:spcPct val="96000"/>
              </a:lnSpc>
              <a:spcAft>
                <a:spcPts val="600"/>
              </a:spcAft>
              <a:buNone/>
            </a:pPr>
            <a:r>
              <a:rPr lang="es-ES" dirty="0"/>
              <a:t>Mide la calidad de los resultados producidos por un proceso (cantidad de defectos, satisfacción del cliente o el cumplimiento de las normas de calidad).</a:t>
            </a:r>
          </a:p>
          <a:p>
            <a:pPr>
              <a:lnSpc>
                <a:spcPct val="96000"/>
              </a:lnSpc>
              <a:spcAft>
                <a:spcPts val="600"/>
              </a:spcAft>
            </a:pPr>
            <a:r>
              <a:rPr lang="es-ES" dirty="0">
                <a:solidFill>
                  <a:schemeClr val="tx1">
                    <a:lumMod val="50000"/>
                    <a:lumOff val="50000"/>
                  </a:schemeClr>
                </a:solidFill>
              </a:rPr>
              <a:t>En un proceso de fabricación, la calidad del proceso podría medirse en términos de la cantidad de productos defectuosos.</a:t>
            </a:r>
            <a:endParaRPr lang="es-ES" dirty="0"/>
          </a:p>
        </p:txBody>
      </p:sp>
      <p:pic>
        <p:nvPicPr>
          <p:cNvPr id="4" name="Marcador de posición de imagen 3">
            <a:extLst>
              <a:ext uri="{FF2B5EF4-FFF2-40B4-BE49-F238E27FC236}">
                <a16:creationId xmlns:a16="http://schemas.microsoft.com/office/drawing/2014/main" id="{7AD32B6B-E65B-6D0C-42E7-83609A24E6DA}"/>
              </a:ext>
            </a:extLst>
          </p:cNvPr>
          <p:cNvPicPr>
            <a:picLocks noGrp="1" noChangeAspect="1"/>
          </p:cNvPicPr>
          <p:nvPr>
            <p:ph type="pic" sz="quarter" idx="10"/>
          </p:nvPr>
        </p:nvPicPr>
        <p:blipFill>
          <a:blip r:embed="rId3"/>
          <a:srcRect l="349" r="349"/>
          <a:stretch>
            <a:fillRect/>
          </a:stretch>
        </p:blipFill>
        <p:spPr/>
      </p:pic>
    </p:spTree>
    <p:extLst>
      <p:ext uri="{BB962C8B-B14F-4D97-AF65-F5344CB8AC3E}">
        <p14:creationId xmlns:p14="http://schemas.microsoft.com/office/powerpoint/2010/main" val="287093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Indicadores de desempeño típicos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INDICADORES DE DESEMPEÑO PARA MEDICIÓN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63818" cy="4111625"/>
          </a:xfrm>
        </p:spPr>
        <p:txBody>
          <a:bodyPr/>
          <a:lstStyle/>
          <a:p>
            <a:pPr marL="0" indent="0">
              <a:lnSpc>
                <a:spcPct val="96000"/>
              </a:lnSpc>
              <a:spcBef>
                <a:spcPts val="1200"/>
              </a:spcBef>
              <a:spcAft>
                <a:spcPts val="600"/>
              </a:spcAft>
              <a:buNone/>
            </a:pPr>
            <a:r>
              <a:rPr lang="es-ES" b="1" u="sng" dirty="0">
                <a:solidFill>
                  <a:srgbClr val="0070C0"/>
                </a:solidFill>
              </a:rPr>
              <a:t>Rendimiento del proceso</a:t>
            </a:r>
          </a:p>
          <a:p>
            <a:pPr marL="0" indent="0">
              <a:lnSpc>
                <a:spcPct val="96000"/>
              </a:lnSpc>
              <a:spcAft>
                <a:spcPts val="600"/>
              </a:spcAft>
              <a:buNone/>
            </a:pPr>
            <a:r>
              <a:rPr lang="es-ES" dirty="0"/>
              <a:t>Mide la eficiencia de un proceso en términos de la relación entre los resultados producidos y los recursos utilizados.</a:t>
            </a:r>
          </a:p>
          <a:p>
            <a:pPr>
              <a:lnSpc>
                <a:spcPct val="96000"/>
              </a:lnSpc>
              <a:spcAft>
                <a:spcPts val="600"/>
              </a:spcAft>
            </a:pPr>
            <a:r>
              <a:rPr lang="es-ES" dirty="0">
                <a:solidFill>
                  <a:schemeClr val="tx1">
                    <a:lumMod val="50000"/>
                    <a:lumOff val="50000"/>
                  </a:schemeClr>
                </a:solidFill>
              </a:rPr>
              <a:t>En un proceso de ventas, el rendimiento del proceso podría medirse en términos de las ventas generadas por cada empleado de ventas.</a:t>
            </a:r>
          </a:p>
          <a:p>
            <a:pPr marL="0" indent="0">
              <a:lnSpc>
                <a:spcPct val="96000"/>
              </a:lnSpc>
              <a:spcBef>
                <a:spcPts val="1200"/>
              </a:spcBef>
              <a:spcAft>
                <a:spcPts val="600"/>
              </a:spcAft>
              <a:buNone/>
            </a:pPr>
            <a:r>
              <a:rPr lang="es-ES" b="1" u="sng" dirty="0">
                <a:solidFill>
                  <a:srgbClr val="0070C0"/>
                </a:solidFill>
              </a:rPr>
              <a:t>Tasa de error</a:t>
            </a:r>
          </a:p>
          <a:p>
            <a:pPr marL="0" indent="0">
              <a:lnSpc>
                <a:spcPct val="96000"/>
              </a:lnSpc>
              <a:spcAft>
                <a:spcPts val="600"/>
              </a:spcAft>
              <a:buNone/>
            </a:pPr>
            <a:r>
              <a:rPr lang="es-ES" dirty="0"/>
              <a:t>Mide la cantidad de errores que ocurren durante un proceso. </a:t>
            </a:r>
          </a:p>
          <a:p>
            <a:pPr>
              <a:lnSpc>
                <a:spcPct val="96000"/>
              </a:lnSpc>
              <a:spcAft>
                <a:spcPts val="600"/>
              </a:spcAft>
            </a:pPr>
            <a:r>
              <a:rPr lang="es-ES" dirty="0">
                <a:solidFill>
                  <a:schemeClr val="tx1">
                    <a:lumMod val="50000"/>
                    <a:lumOff val="50000"/>
                  </a:schemeClr>
                </a:solidFill>
              </a:rPr>
              <a:t>En un proceso de entrada de datos, la tasa de error podría ser el número de errores de entrada por cada 1000 entradas</a:t>
            </a:r>
            <a:r>
              <a:rPr lang="es-ES" i="1" dirty="0">
                <a:solidFill>
                  <a:schemeClr val="tx1">
                    <a:lumMod val="50000"/>
                    <a:lumOff val="50000"/>
                  </a:schemeClr>
                </a:solidFill>
              </a:rPr>
              <a:t>.</a:t>
            </a:r>
            <a:endParaRPr lang="es-ES" dirty="0"/>
          </a:p>
        </p:txBody>
      </p:sp>
      <p:pic>
        <p:nvPicPr>
          <p:cNvPr id="4" name="Marcador de posición de imagen 3">
            <a:extLst>
              <a:ext uri="{FF2B5EF4-FFF2-40B4-BE49-F238E27FC236}">
                <a16:creationId xmlns:a16="http://schemas.microsoft.com/office/drawing/2014/main" id="{6B3C0CA9-DB72-9C05-8603-64F149D6B301}"/>
              </a:ext>
            </a:extLst>
          </p:cNvPr>
          <p:cNvPicPr>
            <a:picLocks noGrp="1" noChangeAspect="1"/>
          </p:cNvPicPr>
          <p:nvPr>
            <p:ph type="pic" sz="quarter" idx="10"/>
          </p:nvPr>
        </p:nvPicPr>
        <p:blipFill>
          <a:blip r:embed="rId3"/>
          <a:srcRect l="118" r="118"/>
          <a:stretch>
            <a:fillRect/>
          </a:stretch>
        </p:blipFill>
        <p:spPr>
          <a:xfrm>
            <a:off x="4941990" y="824500"/>
            <a:ext cx="4086000" cy="4446000"/>
          </a:xfrm>
        </p:spPr>
      </p:pic>
    </p:spTree>
    <p:extLst>
      <p:ext uri="{BB962C8B-B14F-4D97-AF65-F5344CB8AC3E}">
        <p14:creationId xmlns:p14="http://schemas.microsoft.com/office/powerpoint/2010/main" val="2203999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Indicadores de desempeño típicos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INDICADORES DE DESEMPEÑO PARA MEDICIÓN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79584" cy="4111625"/>
          </a:xfrm>
        </p:spPr>
        <p:txBody>
          <a:bodyPr/>
          <a:lstStyle/>
          <a:p>
            <a:pPr marL="0" indent="0">
              <a:lnSpc>
                <a:spcPct val="96000"/>
              </a:lnSpc>
              <a:spcBef>
                <a:spcPts val="1200"/>
              </a:spcBef>
              <a:spcAft>
                <a:spcPts val="600"/>
              </a:spcAft>
              <a:buNone/>
            </a:pPr>
            <a:r>
              <a:rPr lang="es-ES" b="1" u="sng" dirty="0">
                <a:solidFill>
                  <a:srgbClr val="0070C0"/>
                </a:solidFill>
              </a:rPr>
              <a:t>Tiempo de inactividad del proceso</a:t>
            </a:r>
          </a:p>
          <a:p>
            <a:pPr marL="0" indent="0">
              <a:lnSpc>
                <a:spcPct val="96000"/>
              </a:lnSpc>
              <a:spcAft>
                <a:spcPts val="600"/>
              </a:spcAft>
              <a:buNone/>
            </a:pPr>
            <a:r>
              <a:rPr lang="es-ES" dirty="0"/>
              <a:t>Mide la cantidad de tiempo que un proceso está inactivo o no funciona como se esperaba. </a:t>
            </a:r>
          </a:p>
          <a:p>
            <a:pPr>
              <a:lnSpc>
                <a:spcPct val="96000"/>
              </a:lnSpc>
              <a:spcAft>
                <a:spcPts val="600"/>
              </a:spcAft>
            </a:pPr>
            <a:r>
              <a:rPr lang="es-ES" dirty="0">
                <a:solidFill>
                  <a:schemeClr val="tx1">
                    <a:lumMod val="50000"/>
                    <a:lumOff val="50000"/>
                  </a:schemeClr>
                </a:solidFill>
              </a:rPr>
              <a:t>En un proceso de producción, el tiempo de inactividad del proceso podría ser el tiempo que la línea de producción está parada debido a fallos en el equipo.</a:t>
            </a:r>
          </a:p>
          <a:p>
            <a:pPr marL="0" indent="0">
              <a:lnSpc>
                <a:spcPct val="96000"/>
              </a:lnSpc>
              <a:spcBef>
                <a:spcPts val="1200"/>
              </a:spcBef>
              <a:spcAft>
                <a:spcPts val="600"/>
              </a:spcAft>
              <a:buNone/>
            </a:pPr>
            <a:r>
              <a:rPr lang="es-ES" b="1" u="sng" dirty="0">
                <a:solidFill>
                  <a:srgbClr val="0070C0"/>
                </a:solidFill>
              </a:rPr>
              <a:t>Capacidad del proceso</a:t>
            </a:r>
          </a:p>
          <a:p>
            <a:pPr marL="0" indent="0">
              <a:lnSpc>
                <a:spcPct val="96000"/>
              </a:lnSpc>
              <a:spcAft>
                <a:spcPts val="600"/>
              </a:spcAft>
              <a:buNone/>
            </a:pPr>
            <a:r>
              <a:rPr lang="es-ES" dirty="0"/>
              <a:t>Mide la cantidad máxima de trabajo que un proceso puede manejar en un periodo de tiempo determinado. </a:t>
            </a:r>
          </a:p>
          <a:p>
            <a:pPr>
              <a:lnSpc>
                <a:spcPct val="96000"/>
              </a:lnSpc>
              <a:spcAft>
                <a:spcPts val="600"/>
              </a:spcAft>
            </a:pPr>
            <a:r>
              <a:rPr lang="es-ES" dirty="0">
                <a:solidFill>
                  <a:schemeClr val="tx1">
                    <a:lumMod val="50000"/>
                    <a:lumOff val="50000"/>
                  </a:schemeClr>
                </a:solidFill>
              </a:rPr>
              <a:t>En un proceso de atención al cliente, la capacidad del proceso podría ser el número máximo de llamadas que se pueden manejar en una hora.</a:t>
            </a:r>
            <a:endParaRPr lang="es-ES" dirty="0"/>
          </a:p>
        </p:txBody>
      </p:sp>
      <p:pic>
        <p:nvPicPr>
          <p:cNvPr id="4" name="Marcador de posición de imagen 3">
            <a:extLst>
              <a:ext uri="{FF2B5EF4-FFF2-40B4-BE49-F238E27FC236}">
                <a16:creationId xmlns:a16="http://schemas.microsoft.com/office/drawing/2014/main" id="{AFE6AB4A-8E1A-4346-2F75-6A1C30B4E3E5}"/>
              </a:ext>
            </a:extLst>
          </p:cNvPr>
          <p:cNvPicPr>
            <a:picLocks noGrp="1" noChangeAspect="1"/>
          </p:cNvPicPr>
          <p:nvPr>
            <p:ph type="pic" sz="quarter" idx="10"/>
          </p:nvPr>
        </p:nvPicPr>
        <p:blipFill>
          <a:blip r:embed="rId3"/>
          <a:srcRect l="2" r="2"/>
          <a:stretch>
            <a:fillRect/>
          </a:stretch>
        </p:blipFill>
        <p:spPr>
          <a:xfrm>
            <a:off x="4939758" y="824500"/>
            <a:ext cx="4086000" cy="4446000"/>
          </a:xfrm>
        </p:spPr>
      </p:pic>
    </p:spTree>
    <p:extLst>
      <p:ext uri="{BB962C8B-B14F-4D97-AF65-F5344CB8AC3E}">
        <p14:creationId xmlns:p14="http://schemas.microsoft.com/office/powerpoint/2010/main" val="460795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Indicadores de desempeño típicos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INDICADORES DE DESEMPEÑO PARA MEDICIÓN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0" indent="0">
              <a:lnSpc>
                <a:spcPct val="96000"/>
              </a:lnSpc>
              <a:spcBef>
                <a:spcPts val="1200"/>
              </a:spcBef>
              <a:spcAft>
                <a:spcPts val="600"/>
              </a:spcAft>
              <a:buNone/>
            </a:pPr>
            <a:r>
              <a:rPr lang="es-ES" b="1" u="sng" dirty="0">
                <a:solidFill>
                  <a:srgbClr val="0070C0"/>
                </a:solidFill>
              </a:rPr>
              <a:t>Satisfacción del cliente</a:t>
            </a:r>
          </a:p>
          <a:p>
            <a:pPr marL="0" indent="0">
              <a:lnSpc>
                <a:spcPct val="96000"/>
              </a:lnSpc>
              <a:spcAft>
                <a:spcPts val="600"/>
              </a:spcAft>
              <a:buNone/>
            </a:pPr>
            <a:r>
              <a:rPr lang="es-ES" dirty="0"/>
              <a:t>Mide el grado de satisfacción de los clientes con un proceso. </a:t>
            </a:r>
          </a:p>
          <a:p>
            <a:pPr>
              <a:lnSpc>
                <a:spcPct val="96000"/>
              </a:lnSpc>
              <a:spcAft>
                <a:spcPts val="600"/>
              </a:spcAft>
            </a:pPr>
            <a:r>
              <a:rPr lang="es-ES" dirty="0">
                <a:solidFill>
                  <a:schemeClr val="tx1">
                    <a:lumMod val="50000"/>
                    <a:lumOff val="50000"/>
                  </a:schemeClr>
                </a:solidFill>
              </a:rPr>
              <a:t>En un proceso de servicio al cliente, la satisfacción del cliente podría medirse a través de encuestas de satisfacción del cliente.</a:t>
            </a:r>
          </a:p>
          <a:p>
            <a:pPr marL="0" indent="0">
              <a:lnSpc>
                <a:spcPct val="96000"/>
              </a:lnSpc>
              <a:spcBef>
                <a:spcPts val="1200"/>
              </a:spcBef>
              <a:spcAft>
                <a:spcPts val="600"/>
              </a:spcAft>
              <a:buNone/>
            </a:pPr>
            <a:r>
              <a:rPr lang="es-ES" b="1" u="sng" dirty="0">
                <a:solidFill>
                  <a:srgbClr val="0070C0"/>
                </a:solidFill>
              </a:rPr>
              <a:t>Cumplimiento de plazos</a:t>
            </a:r>
          </a:p>
          <a:p>
            <a:pPr marL="0" indent="0">
              <a:lnSpc>
                <a:spcPct val="96000"/>
              </a:lnSpc>
              <a:spcAft>
                <a:spcPts val="600"/>
              </a:spcAft>
              <a:buNone/>
            </a:pPr>
            <a:r>
              <a:rPr lang="es-ES" dirty="0"/>
              <a:t>Mide la frecuencia con la que se cumplen los plazos en un proceso. </a:t>
            </a:r>
          </a:p>
          <a:p>
            <a:pPr>
              <a:lnSpc>
                <a:spcPct val="96000"/>
              </a:lnSpc>
              <a:spcAft>
                <a:spcPts val="600"/>
              </a:spcAft>
            </a:pPr>
            <a:r>
              <a:rPr lang="es-ES" dirty="0">
                <a:solidFill>
                  <a:schemeClr val="tx1">
                    <a:lumMod val="50000"/>
                    <a:lumOff val="50000"/>
                  </a:schemeClr>
                </a:solidFill>
              </a:rPr>
              <a:t>En un proceso de entrega de pedidos, el cumplimiento de plazos podría medirse en términos del porcentaje de pedidos entregados a tiempo.</a:t>
            </a:r>
          </a:p>
        </p:txBody>
      </p:sp>
      <p:pic>
        <p:nvPicPr>
          <p:cNvPr id="4" name="Marcador de posición de imagen 3">
            <a:extLst>
              <a:ext uri="{FF2B5EF4-FFF2-40B4-BE49-F238E27FC236}">
                <a16:creationId xmlns:a16="http://schemas.microsoft.com/office/drawing/2014/main" id="{FA8CF1CF-5728-2375-1C96-DE383D52887C}"/>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412268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Como elaborar los KPI</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INDICADORES DE DESEMPEÑO PARA MEDICIÓN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a:spcAft>
                <a:spcPts val="600"/>
              </a:spcAft>
            </a:pPr>
            <a:r>
              <a:rPr lang="es-ES" dirty="0"/>
              <a:t>Pasos a seguir:</a:t>
            </a:r>
          </a:p>
          <a:p>
            <a:pPr marL="530225" lvl="1" indent="-263525">
              <a:spcAft>
                <a:spcPts val="600"/>
              </a:spcAft>
              <a:buFont typeface="+mj-lt"/>
              <a:buAutoNum type="arabicPeriod"/>
            </a:pPr>
            <a:r>
              <a:rPr lang="es-ES" dirty="0"/>
              <a:t>Identificar el proceso.</a:t>
            </a:r>
          </a:p>
          <a:p>
            <a:pPr marL="530225" lvl="1" indent="-263525">
              <a:spcAft>
                <a:spcPts val="600"/>
              </a:spcAft>
              <a:buFont typeface="+mj-lt"/>
              <a:buAutoNum type="arabicPeriod"/>
            </a:pPr>
            <a:r>
              <a:rPr lang="es-ES" dirty="0"/>
              <a:t>Definir los objetivos del proceso.</a:t>
            </a:r>
          </a:p>
          <a:p>
            <a:pPr marL="530225" lvl="1" indent="-263525">
              <a:spcAft>
                <a:spcPts val="600"/>
              </a:spcAft>
              <a:buFont typeface="+mj-lt"/>
              <a:buAutoNum type="arabicPeriod"/>
            </a:pPr>
            <a:r>
              <a:rPr lang="es-ES" dirty="0"/>
              <a:t>Identificar las métricas clave.</a:t>
            </a:r>
          </a:p>
          <a:p>
            <a:pPr marL="530225" lvl="1" indent="-263525">
              <a:spcAft>
                <a:spcPts val="600"/>
              </a:spcAft>
              <a:buFont typeface="+mj-lt"/>
              <a:buAutoNum type="arabicPeriod"/>
            </a:pPr>
            <a:r>
              <a:rPr lang="es-ES" dirty="0"/>
              <a:t>Definir los indicadores de desempeño.</a:t>
            </a:r>
          </a:p>
          <a:p>
            <a:pPr marL="530225" lvl="1" indent="-263525">
              <a:spcAft>
                <a:spcPts val="600"/>
              </a:spcAft>
              <a:buFont typeface="+mj-lt"/>
              <a:buAutoNum type="arabicPeriod"/>
            </a:pPr>
            <a:r>
              <a:rPr lang="es-ES" dirty="0"/>
              <a:t>Recopilar y analizar los datos.</a:t>
            </a:r>
          </a:p>
          <a:p>
            <a:pPr marL="530225" lvl="1" indent="-263525">
              <a:buFont typeface="+mj-lt"/>
              <a:buAutoNum type="arabicPeriod"/>
            </a:pPr>
            <a:r>
              <a:rPr lang="es-ES" dirty="0"/>
              <a:t>Presentar los resultados.</a:t>
            </a:r>
          </a:p>
          <a:p>
            <a:r>
              <a:rPr lang="es-ES" dirty="0"/>
              <a:t>Al seguir este procedimiento, los analistas de negocio pueden asegurarse de que están midiendo los aspectos correctos del proceso y que los datos que recopilan son relevantes y útiles para la mejora del proceso.</a:t>
            </a:r>
          </a:p>
        </p:txBody>
      </p:sp>
      <p:pic>
        <p:nvPicPr>
          <p:cNvPr id="8" name="Marcador de posición de imagen 7">
            <a:extLst>
              <a:ext uri="{FF2B5EF4-FFF2-40B4-BE49-F238E27FC236}">
                <a16:creationId xmlns:a16="http://schemas.microsoft.com/office/drawing/2014/main" id="{2B6C659F-942F-1013-DFB2-9898FC71B72E}"/>
              </a:ext>
            </a:extLst>
          </p:cNvPr>
          <p:cNvPicPr>
            <a:picLocks noGrp="1" noChangeAspect="1"/>
          </p:cNvPicPr>
          <p:nvPr>
            <p:ph type="pic" sz="quarter" idx="10"/>
          </p:nvPr>
        </p:nvPicPr>
        <p:blipFill>
          <a:blip r:embed="rId3"/>
          <a:srcRect l="136" r="136"/>
          <a:stretch>
            <a:fillRect/>
          </a:stretch>
        </p:blipFill>
        <p:spPr/>
      </p:pic>
    </p:spTree>
    <p:extLst>
      <p:ext uri="{BB962C8B-B14F-4D97-AF65-F5344CB8AC3E}">
        <p14:creationId xmlns:p14="http://schemas.microsoft.com/office/powerpoint/2010/main" val="94837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518200"/>
          </a:xfrm>
        </p:spPr>
        <p:txBody>
          <a:bodyPr/>
          <a:lstStyle/>
          <a:p>
            <a:pPr marL="274638" indent="-274638">
              <a:tabLst>
                <a:tab pos="274638" algn="l"/>
              </a:tabLst>
            </a:pPr>
            <a:r>
              <a:rPr lang="es-PE" dirty="0"/>
              <a:t>/	REDISEÑO DE PROCESOS</a:t>
            </a:r>
          </a:p>
        </p:txBody>
      </p:sp>
    </p:spTree>
    <p:custDataLst>
      <p:tags r:id="rId1"/>
    </p:custDataLst>
    <p:extLst>
      <p:ext uri="{BB962C8B-B14F-4D97-AF65-F5344CB8AC3E}">
        <p14:creationId xmlns:p14="http://schemas.microsoft.com/office/powerpoint/2010/main" val="137461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qué consiste?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REDISEÑO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284990" cy="3751262"/>
          </a:xfrm>
        </p:spPr>
        <p:txBody>
          <a:bodyPr/>
          <a:lstStyle/>
          <a:p>
            <a:r>
              <a:rPr lang="es-ES" dirty="0"/>
              <a:t>También conocido como </a:t>
            </a:r>
            <a:r>
              <a:rPr lang="es-ES" b="1" dirty="0"/>
              <a:t>reingeniería de procesos de negocio</a:t>
            </a:r>
            <a:r>
              <a:rPr lang="es-ES" dirty="0"/>
              <a:t>, es una estrategia de gestión que implica la revisión y el análisis de los procesos de negocio existentes para hacer mejoras significativas (aumentar la eficiencia, reducir los costos, mejorar la calidad y aumentar la satisfacción del cliente).</a:t>
            </a:r>
          </a:p>
          <a:p>
            <a:r>
              <a:rPr lang="es-ES" dirty="0"/>
              <a:t>Es un proceso que requiere un compromiso significativo de tiempo y recursos, y debe ser gestionado cuidadosamente para asegurar que los cambios se implementen de manera efectiva y que se logren los resultados deseados.</a:t>
            </a:r>
          </a:p>
        </p:txBody>
      </p:sp>
      <p:pic>
        <p:nvPicPr>
          <p:cNvPr id="4" name="Marcador de posición de imagen 3">
            <a:extLst>
              <a:ext uri="{FF2B5EF4-FFF2-40B4-BE49-F238E27FC236}">
                <a16:creationId xmlns:a16="http://schemas.microsoft.com/office/drawing/2014/main" id="{9521096D-024F-9287-A1E3-DAF8AF7BE617}"/>
              </a:ext>
            </a:extLst>
          </p:cNvPr>
          <p:cNvPicPr>
            <a:picLocks noGrp="1" noChangeAspect="1"/>
          </p:cNvPicPr>
          <p:nvPr>
            <p:ph type="pic" sz="quarter" idx="10"/>
          </p:nvPr>
        </p:nvPicPr>
        <p:blipFill>
          <a:blip r:embed="rId3"/>
          <a:srcRect l="447" r="447"/>
          <a:stretch>
            <a:fillRect/>
          </a:stretch>
        </p:blipFill>
        <p:spPr>
          <a:xfrm>
            <a:off x="5054504" y="1040635"/>
            <a:ext cx="3760651" cy="4091986"/>
          </a:xfrm>
        </p:spPr>
      </p:pic>
    </p:spTree>
    <p:extLst>
      <p:ext uri="{BB962C8B-B14F-4D97-AF65-F5344CB8AC3E}">
        <p14:creationId xmlns:p14="http://schemas.microsoft.com/office/powerpoint/2010/main" val="761568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Pasos a seguir [1/2]</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REDISEÑO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31832" cy="4111625"/>
          </a:xfrm>
        </p:spPr>
        <p:txBody>
          <a:bodyPr/>
          <a:lstStyle/>
          <a:p>
            <a:pPr marL="0" indent="0">
              <a:lnSpc>
                <a:spcPct val="85000"/>
              </a:lnSpc>
              <a:spcBef>
                <a:spcPts val="1200"/>
              </a:spcBef>
              <a:spcAft>
                <a:spcPts val="200"/>
              </a:spcAft>
              <a:buNone/>
            </a:pPr>
            <a:r>
              <a:rPr lang="es-ES" dirty="0"/>
              <a:t>El rediseño de procesos, usualmente sigue los siguientes pasos: </a:t>
            </a:r>
          </a:p>
          <a:p>
            <a:pPr marL="0" indent="0">
              <a:lnSpc>
                <a:spcPct val="85000"/>
              </a:lnSpc>
              <a:spcBef>
                <a:spcPts val="1200"/>
              </a:spcBef>
              <a:spcAft>
                <a:spcPts val="200"/>
              </a:spcAft>
              <a:buNone/>
            </a:pPr>
            <a:r>
              <a:rPr lang="es-ES" b="1" i="1" dirty="0">
                <a:solidFill>
                  <a:srgbClr val="0070C0"/>
                </a:solidFill>
              </a:rPr>
              <a:t>1. </a:t>
            </a:r>
            <a:r>
              <a:rPr lang="es-ES" b="1" dirty="0">
                <a:solidFill>
                  <a:srgbClr val="0070C0"/>
                </a:solidFill>
              </a:rPr>
              <a:t>Identificación del proceso</a:t>
            </a:r>
          </a:p>
          <a:p>
            <a:pPr marL="0" indent="0">
              <a:lnSpc>
                <a:spcPct val="85000"/>
              </a:lnSpc>
              <a:spcBef>
                <a:spcPts val="600"/>
              </a:spcBef>
              <a:spcAft>
                <a:spcPts val="200"/>
              </a:spcAft>
              <a:buNone/>
            </a:pPr>
            <a:r>
              <a:rPr lang="es-ES" dirty="0"/>
              <a:t>Revisión de todos los procesos de la organización para determinar cuáles son ineficientes, costosos o no cumplen con las expectativas de los clientes.</a:t>
            </a:r>
          </a:p>
          <a:p>
            <a:pPr marL="0" indent="0">
              <a:lnSpc>
                <a:spcPct val="85000"/>
              </a:lnSpc>
              <a:spcBef>
                <a:spcPts val="1200"/>
              </a:spcBef>
              <a:spcAft>
                <a:spcPts val="200"/>
              </a:spcAft>
              <a:buNone/>
            </a:pPr>
            <a:r>
              <a:rPr lang="es-ES" b="1" i="1" dirty="0">
                <a:solidFill>
                  <a:srgbClr val="0070C0"/>
                </a:solidFill>
              </a:rPr>
              <a:t>2. </a:t>
            </a:r>
            <a:r>
              <a:rPr lang="es-ES" b="1" dirty="0">
                <a:solidFill>
                  <a:srgbClr val="0070C0"/>
                </a:solidFill>
              </a:rPr>
              <a:t>Análisis del proceso actual</a:t>
            </a:r>
          </a:p>
          <a:p>
            <a:pPr marL="0" indent="0">
              <a:lnSpc>
                <a:spcPct val="85000"/>
              </a:lnSpc>
              <a:spcBef>
                <a:spcPts val="600"/>
              </a:spcBef>
              <a:spcAft>
                <a:spcPts val="200"/>
              </a:spcAft>
              <a:buNone/>
            </a:pPr>
            <a:r>
              <a:rPr lang="es-ES" dirty="0"/>
              <a:t>Creación de un diagrama de flujo del proceso, identificación de las tareas que se realizan, y la medición del rendimiento del proceso.</a:t>
            </a:r>
          </a:p>
          <a:p>
            <a:pPr marL="0" indent="0">
              <a:lnSpc>
                <a:spcPct val="85000"/>
              </a:lnSpc>
              <a:spcBef>
                <a:spcPts val="1200"/>
              </a:spcBef>
              <a:spcAft>
                <a:spcPts val="200"/>
              </a:spcAft>
              <a:buNone/>
            </a:pPr>
            <a:r>
              <a:rPr lang="es-ES" b="1" i="1" dirty="0">
                <a:solidFill>
                  <a:srgbClr val="0070C0"/>
                </a:solidFill>
              </a:rPr>
              <a:t>3. </a:t>
            </a:r>
            <a:r>
              <a:rPr lang="es-ES" b="1" dirty="0">
                <a:solidFill>
                  <a:srgbClr val="0070C0"/>
                </a:solidFill>
              </a:rPr>
              <a:t>Identificación de oportunidades de mejora</a:t>
            </a:r>
          </a:p>
          <a:p>
            <a:pPr marL="0" indent="0">
              <a:lnSpc>
                <a:spcPct val="85000"/>
              </a:lnSpc>
              <a:spcBef>
                <a:spcPts val="600"/>
              </a:spcBef>
              <a:spcAft>
                <a:spcPts val="200"/>
              </a:spcAft>
              <a:buNone/>
            </a:pPr>
            <a:r>
              <a:rPr lang="es-ES" dirty="0"/>
              <a:t>Identificación de cuellos de botella, ineficiencias, tareas innecesarias y otras áreas del proceso que pueden ser mejoradas.</a:t>
            </a:r>
          </a:p>
        </p:txBody>
      </p:sp>
      <p:pic>
        <p:nvPicPr>
          <p:cNvPr id="8" name="Marcador de posición de imagen 7">
            <a:extLst>
              <a:ext uri="{FF2B5EF4-FFF2-40B4-BE49-F238E27FC236}">
                <a16:creationId xmlns:a16="http://schemas.microsoft.com/office/drawing/2014/main" id="{DB052EF5-68E3-851A-7DBC-B96E3271F4C5}"/>
              </a:ext>
            </a:extLst>
          </p:cNvPr>
          <p:cNvPicPr>
            <a:picLocks noGrp="1" noChangeAspect="1"/>
          </p:cNvPicPr>
          <p:nvPr>
            <p:ph type="pic" sz="quarter" idx="10"/>
          </p:nvPr>
        </p:nvPicPr>
        <p:blipFill>
          <a:blip r:embed="rId3"/>
          <a:srcRect l="349" r="349"/>
          <a:stretch>
            <a:fillRect/>
          </a:stretch>
        </p:blipFill>
        <p:spPr>
          <a:xfrm>
            <a:off x="5357192" y="1158875"/>
            <a:ext cx="3481612" cy="3788362"/>
          </a:xfrm>
        </p:spPr>
      </p:pic>
    </p:spTree>
    <p:extLst>
      <p:ext uri="{BB962C8B-B14F-4D97-AF65-F5344CB8AC3E}">
        <p14:creationId xmlns:p14="http://schemas.microsoft.com/office/powerpoint/2010/main" val="154168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Pasos a seguir [2/2]</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REDISEÑO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10087" cy="3746253"/>
          </a:xfrm>
        </p:spPr>
        <p:txBody>
          <a:bodyPr/>
          <a:lstStyle/>
          <a:p>
            <a:pPr marL="0" indent="0">
              <a:lnSpc>
                <a:spcPct val="85000"/>
              </a:lnSpc>
              <a:spcBef>
                <a:spcPts val="1200"/>
              </a:spcBef>
              <a:spcAft>
                <a:spcPts val="200"/>
              </a:spcAft>
              <a:buNone/>
            </a:pPr>
            <a:r>
              <a:rPr lang="es-ES" b="1" i="1" dirty="0">
                <a:solidFill>
                  <a:srgbClr val="0070C0"/>
                </a:solidFill>
              </a:rPr>
              <a:t>4. </a:t>
            </a:r>
            <a:r>
              <a:rPr lang="es-ES" b="1" dirty="0">
                <a:solidFill>
                  <a:srgbClr val="0070C0"/>
                </a:solidFill>
              </a:rPr>
              <a:t>Diseño del nuevo proceso</a:t>
            </a:r>
          </a:p>
          <a:p>
            <a:pPr marL="0" indent="0">
              <a:lnSpc>
                <a:spcPct val="85000"/>
              </a:lnSpc>
              <a:spcBef>
                <a:spcPts val="600"/>
              </a:spcBef>
              <a:spcAft>
                <a:spcPts val="200"/>
              </a:spcAft>
              <a:buNone/>
            </a:pPr>
            <a:r>
              <a:rPr lang="es-ES" dirty="0"/>
              <a:t>Eliminación de tareas innecesarias, automatización de tareas, reorganización de la secuencia de tareas y otras modificaciones que pueden mejorar el rendimiento del proceso.</a:t>
            </a:r>
          </a:p>
          <a:p>
            <a:pPr marL="0" indent="0">
              <a:lnSpc>
                <a:spcPct val="85000"/>
              </a:lnSpc>
              <a:spcBef>
                <a:spcPts val="1200"/>
              </a:spcBef>
              <a:spcAft>
                <a:spcPts val="200"/>
              </a:spcAft>
              <a:buNone/>
            </a:pPr>
            <a:r>
              <a:rPr lang="es-ES" b="1" i="1" dirty="0">
                <a:solidFill>
                  <a:srgbClr val="0070C0"/>
                </a:solidFill>
              </a:rPr>
              <a:t>5. </a:t>
            </a:r>
            <a:r>
              <a:rPr lang="es-ES" b="1" dirty="0">
                <a:solidFill>
                  <a:srgbClr val="0070C0"/>
                </a:solidFill>
              </a:rPr>
              <a:t>Implementación del nuevo proceso</a:t>
            </a:r>
          </a:p>
          <a:p>
            <a:pPr marL="0" indent="0">
              <a:lnSpc>
                <a:spcPct val="85000"/>
              </a:lnSpc>
              <a:spcBef>
                <a:spcPts val="600"/>
              </a:spcBef>
              <a:spcAft>
                <a:spcPts val="200"/>
              </a:spcAft>
              <a:buNone/>
            </a:pPr>
            <a:r>
              <a:rPr lang="es-ES" dirty="0"/>
              <a:t>Formación de los empleados, modificación de los sistemas de información, reorganización de la estructura de la organización y otros cambios necesarios para poner en práctica el nuevo proceso.</a:t>
            </a:r>
          </a:p>
          <a:p>
            <a:pPr marL="0" indent="0">
              <a:lnSpc>
                <a:spcPct val="85000"/>
              </a:lnSpc>
              <a:spcBef>
                <a:spcPts val="1200"/>
              </a:spcBef>
              <a:spcAft>
                <a:spcPts val="200"/>
              </a:spcAft>
              <a:buNone/>
            </a:pPr>
            <a:r>
              <a:rPr lang="es-ES" b="1" i="1" dirty="0">
                <a:solidFill>
                  <a:srgbClr val="0070C0"/>
                </a:solidFill>
              </a:rPr>
              <a:t>6. </a:t>
            </a:r>
            <a:r>
              <a:rPr lang="es-ES" b="1" dirty="0">
                <a:solidFill>
                  <a:srgbClr val="0070C0"/>
                </a:solidFill>
              </a:rPr>
              <a:t>Evaluación del nuevo proceso</a:t>
            </a:r>
          </a:p>
          <a:p>
            <a:pPr marL="0" indent="0">
              <a:lnSpc>
                <a:spcPct val="85000"/>
              </a:lnSpc>
              <a:spcBef>
                <a:spcPts val="600"/>
              </a:spcBef>
              <a:spcAft>
                <a:spcPts val="200"/>
              </a:spcAft>
              <a:buNone/>
            </a:pPr>
            <a:r>
              <a:rPr lang="es-ES" dirty="0"/>
              <a:t>Medición del rendimiento del nuevo proceso y la comparación con el rendimiento del proceso antiguo.</a:t>
            </a:r>
          </a:p>
        </p:txBody>
      </p:sp>
      <p:pic>
        <p:nvPicPr>
          <p:cNvPr id="8" name="Marcador de posición de imagen 7">
            <a:extLst>
              <a:ext uri="{FF2B5EF4-FFF2-40B4-BE49-F238E27FC236}">
                <a16:creationId xmlns:a16="http://schemas.microsoft.com/office/drawing/2014/main" id="{0C7FA1AE-54BE-B6CC-1AF4-6786B23A732A}"/>
              </a:ext>
            </a:extLst>
          </p:cNvPr>
          <p:cNvPicPr>
            <a:picLocks noGrp="1" noChangeAspect="1"/>
          </p:cNvPicPr>
          <p:nvPr>
            <p:ph type="pic" sz="quarter" idx="10"/>
          </p:nvPr>
        </p:nvPicPr>
        <p:blipFill>
          <a:blip r:embed="rId3"/>
          <a:srcRect l="2" r="2"/>
          <a:stretch>
            <a:fillRect/>
          </a:stretch>
        </p:blipFill>
        <p:spPr>
          <a:xfrm>
            <a:off x="5394542" y="1158875"/>
            <a:ext cx="3442913" cy="3746253"/>
          </a:xfrm>
        </p:spPr>
      </p:pic>
    </p:spTree>
    <p:extLst>
      <p:ext uri="{BB962C8B-B14F-4D97-AF65-F5344CB8AC3E}">
        <p14:creationId xmlns:p14="http://schemas.microsoft.com/office/powerpoint/2010/main" val="320383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Escenarios en los que es apropiado [1/2]</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REDISEÑO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641098" cy="3373020"/>
          </a:xfrm>
        </p:spPr>
        <p:txBody>
          <a:bodyPr/>
          <a:lstStyle/>
          <a:p>
            <a:pPr marL="265113" indent="-265113">
              <a:buSzPct val="85000"/>
              <a:buFont typeface="+mj-lt"/>
              <a:buAutoNum type="arabicPeriod"/>
            </a:pPr>
            <a:r>
              <a:rPr lang="es-ES" dirty="0"/>
              <a:t>Si una organización está </a:t>
            </a:r>
            <a:r>
              <a:rPr lang="es-ES" b="1" dirty="0"/>
              <a:t>buscando aprovechar nuevas oportunidades de negocio</a:t>
            </a:r>
            <a:r>
              <a:rPr lang="es-ES" dirty="0"/>
              <a:t>, puede ser necesario rediseñar los procesos para apoyar estas nuevas oportunidades.</a:t>
            </a:r>
          </a:p>
          <a:p>
            <a:pPr marL="265113" indent="-265113">
              <a:buSzPct val="85000"/>
              <a:buFont typeface="+mj-lt"/>
              <a:buAutoNum type="arabicPeriod"/>
            </a:pPr>
            <a:r>
              <a:rPr lang="es-ES" dirty="0"/>
              <a:t>Si un </a:t>
            </a:r>
            <a:r>
              <a:rPr lang="es-ES" b="1" dirty="0"/>
              <a:t>proceso se basa en tecnologías o métodos obsoletos</a:t>
            </a:r>
            <a:r>
              <a:rPr lang="es-ES" dirty="0"/>
              <a:t>, puede ser necesario rediseñarlo para incorporar tecnologías y métodos más modernos y eficientes.</a:t>
            </a:r>
          </a:p>
          <a:p>
            <a:pPr marL="265113" indent="-265113">
              <a:buSzPct val="85000"/>
              <a:buFont typeface="+mj-lt"/>
              <a:buAutoNum type="arabicPeriod"/>
            </a:pPr>
            <a:r>
              <a:rPr lang="es-ES" dirty="0"/>
              <a:t>Si una organización está </a:t>
            </a:r>
            <a:r>
              <a:rPr lang="es-ES" b="1" dirty="0"/>
              <a:t>buscando mejorar su competitividad</a:t>
            </a:r>
            <a:r>
              <a:rPr lang="es-ES" dirty="0"/>
              <a:t>, puede ser necesario rediseñar los procesos para hacerlos más eficientes, más efectivos, o más orientados al cliente.</a:t>
            </a:r>
          </a:p>
        </p:txBody>
      </p:sp>
      <p:pic>
        <p:nvPicPr>
          <p:cNvPr id="4" name="Marcador de posición de imagen 3">
            <a:extLst>
              <a:ext uri="{FF2B5EF4-FFF2-40B4-BE49-F238E27FC236}">
                <a16:creationId xmlns:a16="http://schemas.microsoft.com/office/drawing/2014/main" id="{033A04A8-38E7-AA7A-B585-D5F7238F45F8}"/>
              </a:ext>
            </a:extLst>
          </p:cNvPr>
          <p:cNvPicPr>
            <a:picLocks noGrp="1" noChangeAspect="1"/>
          </p:cNvPicPr>
          <p:nvPr>
            <p:ph type="pic" sz="quarter" idx="10"/>
          </p:nvPr>
        </p:nvPicPr>
        <p:blipFill>
          <a:blip r:embed="rId3"/>
          <a:srcRect l="455" r="455"/>
          <a:stretch>
            <a:fillRect/>
          </a:stretch>
        </p:blipFill>
        <p:spPr>
          <a:xfrm>
            <a:off x="5313673" y="1158875"/>
            <a:ext cx="3362014" cy="3658227"/>
          </a:xfrm>
        </p:spPr>
      </p:pic>
    </p:spTree>
    <p:extLst>
      <p:ext uri="{BB962C8B-B14F-4D97-AF65-F5344CB8AC3E}">
        <p14:creationId xmlns:p14="http://schemas.microsoft.com/office/powerpoint/2010/main" val="134774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Escenarios en los que es apropiado [2/2]</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REDISEÑO DE PROCESOS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18037" cy="3306989"/>
          </a:xfrm>
        </p:spPr>
        <p:txBody>
          <a:bodyPr/>
          <a:lstStyle/>
          <a:p>
            <a:pPr marL="265113" indent="-265113">
              <a:buSzPct val="85000"/>
              <a:buFont typeface="+mj-lt"/>
              <a:buAutoNum type="arabicPeriod" startAt="4"/>
            </a:pPr>
            <a:r>
              <a:rPr lang="es-ES" dirty="0"/>
              <a:t>Si un proceso está </a:t>
            </a:r>
            <a:r>
              <a:rPr lang="es-ES" b="1" dirty="0"/>
              <a:t>consumiendo más recursos de los necesarios</a:t>
            </a:r>
            <a:r>
              <a:rPr lang="es-ES" dirty="0"/>
              <a:t>, toma demasiado tiempo, o produce resultados de baja calidad, puede ser un candidato para el rediseño. El rediseño puede ayudar a eliminar las ineficiencias y mejorar la calidad de los resultados.</a:t>
            </a:r>
          </a:p>
          <a:p>
            <a:pPr marL="265113" indent="-265113">
              <a:buSzPct val="85000"/>
              <a:buFont typeface="+mj-lt"/>
              <a:buAutoNum type="arabicPeriod" startAt="4"/>
            </a:pPr>
            <a:r>
              <a:rPr lang="es-ES" dirty="0"/>
              <a:t>Si ha habido </a:t>
            </a:r>
            <a:r>
              <a:rPr lang="es-ES" b="1" dirty="0"/>
              <a:t>cambios significativos en el entorno de negocio</a:t>
            </a:r>
            <a:r>
              <a:rPr lang="es-ES" dirty="0"/>
              <a:t>, como nuevas tecnologías, cambios en las regulaciones, o cambios en las expectativas de los clientes, puede ser necesario rediseñar los procesos para adaptarse a estos cambios.</a:t>
            </a:r>
          </a:p>
        </p:txBody>
      </p:sp>
      <p:pic>
        <p:nvPicPr>
          <p:cNvPr id="4" name="Marcador de posición de imagen 3">
            <a:extLst>
              <a:ext uri="{FF2B5EF4-FFF2-40B4-BE49-F238E27FC236}">
                <a16:creationId xmlns:a16="http://schemas.microsoft.com/office/drawing/2014/main" id="{ED36580C-124E-F8F2-839A-F7B7497AE1CD}"/>
              </a:ext>
            </a:extLst>
          </p:cNvPr>
          <p:cNvPicPr>
            <a:picLocks noGrp="1" noChangeAspect="1"/>
          </p:cNvPicPr>
          <p:nvPr>
            <p:ph type="pic" sz="quarter" idx="10"/>
          </p:nvPr>
        </p:nvPicPr>
        <p:blipFill>
          <a:blip r:embed="rId3"/>
          <a:srcRect l="127" r="127"/>
          <a:stretch>
            <a:fillRect/>
          </a:stretch>
        </p:blipFill>
        <p:spPr>
          <a:xfrm>
            <a:off x="5313827" y="1158874"/>
            <a:ext cx="3604085" cy="3921625"/>
          </a:xfrm>
        </p:spPr>
      </p:pic>
    </p:spTree>
    <p:extLst>
      <p:ext uri="{BB962C8B-B14F-4D97-AF65-F5344CB8AC3E}">
        <p14:creationId xmlns:p14="http://schemas.microsoft.com/office/powerpoint/2010/main" val="1793813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522423"/>
          </a:xfrm>
        </p:spPr>
        <p:txBody>
          <a:bodyPr/>
          <a:lstStyle/>
          <a:p>
            <a:pPr marL="274638" indent="-274638">
              <a:tabLst>
                <a:tab pos="274638" algn="l"/>
              </a:tabLst>
            </a:pPr>
            <a:r>
              <a:rPr lang="es-PE" dirty="0"/>
              <a:t>/	GESTIÓN DE LA CALIDAD</a:t>
            </a:r>
          </a:p>
        </p:txBody>
      </p:sp>
    </p:spTree>
    <p:custDataLst>
      <p:tags r:id="rId1"/>
    </p:custDataLst>
    <p:extLst>
      <p:ext uri="{BB962C8B-B14F-4D97-AF65-F5344CB8AC3E}">
        <p14:creationId xmlns:p14="http://schemas.microsoft.com/office/powerpoint/2010/main" val="299429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qué consiste?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716008" cy="2449739"/>
          </a:xfrm>
        </p:spPr>
        <p:txBody>
          <a:bodyPr/>
          <a:lstStyle/>
          <a:p>
            <a:r>
              <a:rPr lang="es-ES" dirty="0"/>
              <a:t>La gestión de la calidad es un enfoque integral para lograr la excelencia en la calidad de los productos o servicios ofrecidos por una organización, y </a:t>
            </a:r>
            <a:r>
              <a:rPr lang="es-ES" b="1" dirty="0"/>
              <a:t>se basa en la coordinación de actividades para dirigir y controlar la organización</a:t>
            </a:r>
            <a:r>
              <a:rPr lang="es-ES" dirty="0"/>
              <a:t> con el objetivo de lograr la mejora continua.</a:t>
            </a:r>
          </a:p>
          <a:p>
            <a:r>
              <a:rPr lang="es-ES" dirty="0"/>
              <a:t>La reingeniería es una herramienta fundamental para el cambio en la gestión de la calidad.</a:t>
            </a:r>
          </a:p>
        </p:txBody>
      </p:sp>
      <p:pic>
        <p:nvPicPr>
          <p:cNvPr id="8" name="Marcador de posición de imagen 7">
            <a:extLst>
              <a:ext uri="{FF2B5EF4-FFF2-40B4-BE49-F238E27FC236}">
                <a16:creationId xmlns:a16="http://schemas.microsoft.com/office/drawing/2014/main" id="{56565191-7ED9-1CEE-069D-E57C7ED4B9F7}"/>
              </a:ext>
            </a:extLst>
          </p:cNvPr>
          <p:cNvPicPr>
            <a:picLocks noGrp="1" noChangeAspect="1"/>
          </p:cNvPicPr>
          <p:nvPr>
            <p:ph type="pic" sz="quarter" idx="10"/>
          </p:nvPr>
        </p:nvPicPr>
        <p:blipFill>
          <a:blip r:embed="rId3"/>
          <a:srcRect l="109" r="109"/>
          <a:stretch>
            <a:fillRect/>
          </a:stretch>
        </p:blipFill>
        <p:spPr>
          <a:xfrm>
            <a:off x="5426476" y="1158875"/>
            <a:ext cx="3458780" cy="3763518"/>
          </a:xfrm>
        </p:spPr>
      </p:pic>
    </p:spTree>
    <p:extLst>
      <p:ext uri="{BB962C8B-B14F-4D97-AF65-F5344CB8AC3E}">
        <p14:creationId xmlns:p14="http://schemas.microsoft.com/office/powerpoint/2010/main" val="210515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Definición de estándares de calidad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94456" cy="2998910"/>
          </a:xfrm>
        </p:spPr>
        <p:txBody>
          <a:bodyPr/>
          <a:lstStyle/>
          <a:p>
            <a:pPr marL="0" indent="0">
              <a:buNone/>
            </a:pPr>
            <a:r>
              <a:rPr lang="es-ES" dirty="0"/>
              <a:t>En este aspecto, es fundamental definir los estándares de calidad específicos para cada proceso de negocio.</a:t>
            </a:r>
          </a:p>
          <a:p>
            <a:pPr marL="0" indent="0">
              <a:buNone/>
            </a:pPr>
            <a:r>
              <a:rPr lang="es-ES" dirty="0"/>
              <a:t>Esto implica establecer criterios claros y medibles que indiquen qué se considera como un resultado de alta calidad para cada proceso.</a:t>
            </a:r>
          </a:p>
          <a:p>
            <a:r>
              <a:rPr lang="es-ES" dirty="0">
                <a:solidFill>
                  <a:schemeClr val="tx1">
                    <a:lumMod val="50000"/>
                    <a:lumOff val="50000"/>
                  </a:schemeClr>
                </a:solidFill>
              </a:rPr>
              <a:t>En un proceso de servicio al cliente, el estándar de calidad puede ser que el tiempo de respuesta a las consultas de los clientes no supere las 24 horas.</a:t>
            </a:r>
          </a:p>
        </p:txBody>
      </p:sp>
      <p:pic>
        <p:nvPicPr>
          <p:cNvPr id="8" name="Marcador de posición de imagen 7">
            <a:extLst>
              <a:ext uri="{FF2B5EF4-FFF2-40B4-BE49-F238E27FC236}">
                <a16:creationId xmlns:a16="http://schemas.microsoft.com/office/drawing/2014/main" id="{4E78123D-DEF3-324C-6867-85CCB3E71DCA}"/>
              </a:ext>
            </a:extLst>
          </p:cNvPr>
          <p:cNvPicPr>
            <a:picLocks noGrp="1" noChangeAspect="1"/>
          </p:cNvPicPr>
          <p:nvPr>
            <p:ph type="pic" sz="quarter" idx="10"/>
          </p:nvPr>
        </p:nvPicPr>
        <p:blipFill>
          <a:blip r:embed="rId3"/>
          <a:srcRect t="86" b="86"/>
          <a:stretch>
            <a:fillRect/>
          </a:stretch>
        </p:blipFill>
        <p:spPr>
          <a:xfrm>
            <a:off x="5318920" y="981869"/>
            <a:ext cx="3471643" cy="3777515"/>
          </a:xfrm>
        </p:spPr>
      </p:pic>
    </p:spTree>
    <p:extLst>
      <p:ext uri="{BB962C8B-B14F-4D97-AF65-F5344CB8AC3E}">
        <p14:creationId xmlns:p14="http://schemas.microsoft.com/office/powerpoint/2010/main" val="259018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Medición de la calidad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2952017"/>
          </a:xfrm>
        </p:spPr>
        <p:txBody>
          <a:bodyPr/>
          <a:lstStyle/>
          <a:p>
            <a:pPr marL="0" indent="0">
              <a:buNone/>
            </a:pPr>
            <a:r>
              <a:rPr lang="es-ES" dirty="0"/>
              <a:t>Una vez definidos los estándares de calidad, es necesario medir y evaluar el rendimiento del proceso en relación con esos estándares.</a:t>
            </a:r>
          </a:p>
          <a:p>
            <a:pPr marL="0" indent="0">
              <a:buNone/>
            </a:pPr>
            <a:r>
              <a:rPr lang="es-ES" dirty="0"/>
              <a:t>Esto implica recopilar datos relevantes y realizar análisis para determinar cómo se está cumpliendo con los estándares establecidos.</a:t>
            </a:r>
          </a:p>
          <a:p>
            <a:r>
              <a:rPr lang="es-ES" dirty="0">
                <a:solidFill>
                  <a:schemeClr val="tx1">
                    <a:lumMod val="50000"/>
                    <a:lumOff val="50000"/>
                  </a:schemeClr>
                </a:solidFill>
              </a:rPr>
              <a:t>Se pueden medir métricas como el tiempo de ciclo, la tasa de error, la satisfacción del cliente, etc., para evaluar la calidad del proceso.</a:t>
            </a:r>
          </a:p>
        </p:txBody>
      </p:sp>
      <p:pic>
        <p:nvPicPr>
          <p:cNvPr id="4" name="Marcador de posición de imagen 3">
            <a:extLst>
              <a:ext uri="{FF2B5EF4-FFF2-40B4-BE49-F238E27FC236}">
                <a16:creationId xmlns:a16="http://schemas.microsoft.com/office/drawing/2014/main" id="{49BE04D9-2F0E-972C-0345-4947B6E73C35}"/>
              </a:ext>
            </a:extLst>
          </p:cNvPr>
          <p:cNvPicPr>
            <a:picLocks noGrp="1" noChangeAspect="1"/>
          </p:cNvPicPr>
          <p:nvPr>
            <p:ph type="pic" sz="quarter" idx="10"/>
          </p:nvPr>
        </p:nvPicPr>
        <p:blipFill>
          <a:blip r:embed="rId3"/>
          <a:srcRect l="349" r="349"/>
          <a:stretch>
            <a:fillRect/>
          </a:stretch>
        </p:blipFill>
        <p:spPr/>
      </p:pic>
    </p:spTree>
    <p:extLst>
      <p:ext uri="{BB962C8B-B14F-4D97-AF65-F5344CB8AC3E}">
        <p14:creationId xmlns:p14="http://schemas.microsoft.com/office/powerpoint/2010/main" val="3164322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Mejora de la calidad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420940"/>
          </a:xfrm>
        </p:spPr>
        <p:txBody>
          <a:bodyPr/>
          <a:lstStyle/>
          <a:p>
            <a:pPr marL="0" indent="0">
              <a:buNone/>
            </a:pPr>
            <a:r>
              <a:rPr lang="es-ES" dirty="0"/>
              <a:t>En este aspecto, se busca identificar oportunidades de mejora para elevar la calidad de los procesos de negocio. </a:t>
            </a:r>
          </a:p>
          <a:p>
            <a:pPr marL="0" indent="0">
              <a:buNone/>
            </a:pPr>
            <a:r>
              <a:rPr lang="es-ES" dirty="0"/>
              <a:t>Esto implica analizar los resultados de la medición de la calidad y buscar áreas en las que se estén produciendo problemas o se pueda optimizar el desempeño. </a:t>
            </a:r>
          </a:p>
          <a:p>
            <a:r>
              <a:rPr lang="es-ES" dirty="0">
                <a:solidFill>
                  <a:schemeClr val="tx1">
                    <a:lumMod val="50000"/>
                    <a:lumOff val="50000"/>
                  </a:schemeClr>
                </a:solidFill>
              </a:rPr>
              <a:t>Si se identifica una alta tasa de error en un proceso, se pueden implementar acciones de mejora como capacitación adicional para los empleados o mejoras en los controles de calidad.</a:t>
            </a:r>
          </a:p>
        </p:txBody>
      </p:sp>
      <p:pic>
        <p:nvPicPr>
          <p:cNvPr id="8" name="Marcador de posición de imagen 7">
            <a:extLst>
              <a:ext uri="{FF2B5EF4-FFF2-40B4-BE49-F238E27FC236}">
                <a16:creationId xmlns:a16="http://schemas.microsoft.com/office/drawing/2014/main" id="{F5901DEF-1B74-DF90-D98A-BE75B142F594}"/>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2430145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Control de la calidad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25718" cy="3751262"/>
          </a:xfrm>
        </p:spPr>
        <p:txBody>
          <a:bodyPr/>
          <a:lstStyle/>
          <a:p>
            <a:pPr marL="0" indent="0">
              <a:buNone/>
            </a:pPr>
            <a:r>
              <a:rPr lang="es-ES" dirty="0"/>
              <a:t>Una vez que se han implementado mejoras, es crucial establecer controles para mantener la calidad de los procesos de manera consistente.</a:t>
            </a:r>
          </a:p>
          <a:p>
            <a:pPr marL="0" indent="0">
              <a:buNone/>
            </a:pPr>
            <a:r>
              <a:rPr lang="es-ES" dirty="0"/>
              <a:t>Esto implica establecer mecanismos de control y seguimiento continuo del rendimiento del proceso. Se pueden realizar auditorías regulares para verificar el cumplimiento de los estándares de calidad y se deben establecer acciones correctivas cuando se detecten desviaciones. </a:t>
            </a:r>
          </a:p>
          <a:p>
            <a:r>
              <a:rPr lang="es-ES" dirty="0">
                <a:solidFill>
                  <a:schemeClr val="tx1">
                    <a:lumMod val="50000"/>
                    <a:lumOff val="50000"/>
                  </a:schemeClr>
                </a:solidFill>
              </a:rPr>
              <a:t>Si se encuentra que un proceso no cumple con los estándares de calidad establecidos, se deben tomar medidas para corregir las deficiencias y evitar que se repitan.</a:t>
            </a:r>
          </a:p>
        </p:txBody>
      </p:sp>
      <p:pic>
        <p:nvPicPr>
          <p:cNvPr id="4" name="Marcador de posición de imagen 3">
            <a:extLst>
              <a:ext uri="{FF2B5EF4-FFF2-40B4-BE49-F238E27FC236}">
                <a16:creationId xmlns:a16="http://schemas.microsoft.com/office/drawing/2014/main" id="{77904876-54BD-560A-4085-09EC641F6A60}"/>
              </a:ext>
            </a:extLst>
          </p:cNvPr>
          <p:cNvPicPr>
            <a:picLocks noGrp="1" noChangeAspect="1"/>
          </p:cNvPicPr>
          <p:nvPr>
            <p:ph type="pic" sz="quarter" idx="10"/>
          </p:nvPr>
        </p:nvPicPr>
        <p:blipFill>
          <a:blip r:embed="rId3"/>
          <a:srcRect t="232" b="232"/>
          <a:stretch>
            <a:fillRect/>
          </a:stretch>
        </p:blipFill>
        <p:spPr>
          <a:xfrm>
            <a:off x="5346797" y="1234830"/>
            <a:ext cx="3521922" cy="3832223"/>
          </a:xfrm>
        </p:spPr>
      </p:pic>
    </p:spTree>
    <p:extLst>
      <p:ext uri="{BB962C8B-B14F-4D97-AF65-F5344CB8AC3E}">
        <p14:creationId xmlns:p14="http://schemas.microsoft.com/office/powerpoint/2010/main" val="1380152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Metodologías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61595" cy="4111625"/>
          </a:xfrm>
        </p:spPr>
        <p:txBody>
          <a:bodyPr/>
          <a:lstStyle/>
          <a:p>
            <a:r>
              <a:rPr lang="es-ES" dirty="0"/>
              <a:t>Existen varias metodologías y enfoques para la gestión de la calidad, cada una tiene sus propias características y herramientas específicas, pero todas comparten el objetivo común de mejorar la calidad y la eficiencia de los procesos empresariales.</a:t>
            </a:r>
          </a:p>
          <a:p>
            <a:pPr>
              <a:spcAft>
                <a:spcPts val="600"/>
              </a:spcAft>
            </a:pPr>
            <a:r>
              <a:rPr lang="es-ES" dirty="0"/>
              <a:t>Algunas de las metodologías más conocidas y ampliamente utilizadas son las siguientes:</a:t>
            </a:r>
          </a:p>
          <a:p>
            <a:pPr lvl="1">
              <a:spcAft>
                <a:spcPts val="600"/>
              </a:spcAft>
            </a:pPr>
            <a:r>
              <a:rPr lang="es-ES" dirty="0"/>
              <a:t>Six Sigma</a:t>
            </a:r>
          </a:p>
          <a:p>
            <a:pPr lvl="1">
              <a:spcAft>
                <a:spcPts val="600"/>
              </a:spcAft>
            </a:pPr>
            <a:r>
              <a:rPr lang="es-ES" dirty="0"/>
              <a:t>ISO 9001</a:t>
            </a:r>
          </a:p>
          <a:p>
            <a:pPr lvl="1">
              <a:spcAft>
                <a:spcPts val="600"/>
              </a:spcAft>
            </a:pPr>
            <a:r>
              <a:rPr lang="es-ES" dirty="0"/>
              <a:t>Lean Manufacturing</a:t>
            </a:r>
          </a:p>
          <a:p>
            <a:pPr lvl="1">
              <a:spcAft>
                <a:spcPts val="600"/>
              </a:spcAft>
            </a:pPr>
            <a:r>
              <a:rPr lang="es-ES" dirty="0"/>
              <a:t>Total Quality Management (TQM)</a:t>
            </a:r>
          </a:p>
          <a:p>
            <a:pPr lvl="1">
              <a:spcAft>
                <a:spcPts val="600"/>
              </a:spcAft>
            </a:pPr>
            <a:r>
              <a:rPr lang="es-ES" dirty="0"/>
              <a:t>Kaizen</a:t>
            </a:r>
          </a:p>
        </p:txBody>
      </p:sp>
      <p:pic>
        <p:nvPicPr>
          <p:cNvPr id="4" name="Marcador de posición de imagen 3">
            <a:extLst>
              <a:ext uri="{FF2B5EF4-FFF2-40B4-BE49-F238E27FC236}">
                <a16:creationId xmlns:a16="http://schemas.microsoft.com/office/drawing/2014/main" id="{1DE49FE4-BD21-27B9-CC62-5DFC478175A1}"/>
              </a:ext>
            </a:extLst>
          </p:cNvPr>
          <p:cNvPicPr>
            <a:picLocks noGrp="1" noChangeAspect="1"/>
          </p:cNvPicPr>
          <p:nvPr>
            <p:ph type="pic" sz="quarter" idx="10"/>
          </p:nvPr>
        </p:nvPicPr>
        <p:blipFill>
          <a:blip r:embed="rId3"/>
          <a:srcRect t="86" b="86"/>
          <a:stretch>
            <a:fillRect/>
          </a:stretch>
        </p:blipFill>
        <p:spPr>
          <a:xfrm>
            <a:off x="5295315" y="1158875"/>
            <a:ext cx="3573401" cy="3888238"/>
          </a:xfrm>
        </p:spPr>
      </p:pic>
    </p:spTree>
    <p:extLst>
      <p:ext uri="{BB962C8B-B14F-4D97-AF65-F5344CB8AC3E}">
        <p14:creationId xmlns:p14="http://schemas.microsoft.com/office/powerpoint/2010/main" val="861505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Metodología SIX SIGMA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Centrada en la mejora de la calidad mediante la reducción de la variabilidad y la eliminación de defectos en los procesos.</a:t>
            </a:r>
          </a:p>
          <a:p>
            <a:r>
              <a:rPr lang="es-ES" dirty="0"/>
              <a:t>Se basa en un enfoque sistemático y basado en datos para identificar y eliminar las causas raíz de los problemas de calidad. </a:t>
            </a:r>
          </a:p>
          <a:p>
            <a:r>
              <a:rPr lang="es-ES" dirty="0"/>
              <a:t>Utiliza herramientas estadísticas y un ciclo de mejora continua conocido como DMAIC (Definir, Medir, Analizar, Mejorar y Controlar) para lograr mejoras significativas en la calidad.</a:t>
            </a:r>
          </a:p>
        </p:txBody>
      </p:sp>
      <p:pic>
        <p:nvPicPr>
          <p:cNvPr id="8" name="Marcador de posición de imagen 7">
            <a:extLst>
              <a:ext uri="{FF2B5EF4-FFF2-40B4-BE49-F238E27FC236}">
                <a16:creationId xmlns:a16="http://schemas.microsoft.com/office/drawing/2014/main" id="{E1B5E315-5BBF-265A-7777-40C991E8D5F3}"/>
              </a:ext>
            </a:extLst>
          </p:cNvPr>
          <p:cNvPicPr>
            <a:picLocks noGrp="1" noChangeAspect="1"/>
          </p:cNvPicPr>
          <p:nvPr>
            <p:ph type="pic" sz="quarter" idx="10"/>
          </p:nvPr>
        </p:nvPicPr>
        <p:blipFill>
          <a:blip r:embed="rId3"/>
          <a:srcRect t="368" b="368"/>
          <a:stretch>
            <a:fillRect/>
          </a:stretch>
        </p:blipFill>
        <p:spPr/>
      </p:pic>
    </p:spTree>
    <p:extLst>
      <p:ext uri="{BB962C8B-B14F-4D97-AF65-F5344CB8AC3E}">
        <p14:creationId xmlns:p14="http://schemas.microsoft.com/office/powerpoint/2010/main" val="12535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12019D2A-52C6-DC42-F434-585EBA93B8B1}"/>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Metodología ISO 9001</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Es un estándar internacional que establece los requisitos para un sistema de gestión de la calidad.</a:t>
            </a:r>
          </a:p>
          <a:p>
            <a:r>
              <a:rPr lang="es-ES" dirty="0"/>
              <a:t>Se basa en un enfoque de mejora continua y se centra en la satisfacción del cliente, la gestión de los procesos y la adopción de un enfoque basado en evidencias. </a:t>
            </a:r>
          </a:p>
          <a:p>
            <a:r>
              <a:rPr lang="es-ES" dirty="0"/>
              <a:t>La implementación de la norma ISO 9001 implica establecer políticas y procedimientos, realizar auditorías internas y externas, y demostrar el cumplimiento de los requisitos de calidad.</a:t>
            </a:r>
          </a:p>
        </p:txBody>
      </p:sp>
    </p:spTree>
    <p:extLst>
      <p:ext uri="{BB962C8B-B14F-4D97-AF65-F5344CB8AC3E}">
        <p14:creationId xmlns:p14="http://schemas.microsoft.com/office/powerpoint/2010/main" val="1171398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1E044F86-BBA6-7953-E937-40323F22D5BE}"/>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Metodología LEAN MANUFACTURING</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El enfoque Lean se centra en la eliminación del desperdicio y la mejora continua de los procesos.</a:t>
            </a:r>
          </a:p>
          <a:p>
            <a:r>
              <a:rPr lang="es-ES" dirty="0"/>
              <a:t>Se basa en principios como el flujo continuo, la eliminación de actividades que no agregan valor, y la participación de los empleados en la mejora de los procesos. </a:t>
            </a:r>
          </a:p>
          <a:p>
            <a:r>
              <a:rPr lang="es-ES" dirty="0"/>
              <a:t>La metodología se originó en el ámbito de la fabricación, pero también se ha aplicado con éxito en otros sectores y áreas funcionales de las organizaciones.</a:t>
            </a:r>
          </a:p>
        </p:txBody>
      </p:sp>
    </p:spTree>
    <p:extLst>
      <p:ext uri="{BB962C8B-B14F-4D97-AF65-F5344CB8AC3E}">
        <p14:creationId xmlns:p14="http://schemas.microsoft.com/office/powerpoint/2010/main" val="421971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Metodología TOTAL QUALITY MANAGEMENT (TQM)</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Es un enfoque holístico de gestión que se centra en la calidad en todos los aspectos de una organización.</a:t>
            </a:r>
          </a:p>
          <a:p>
            <a:r>
              <a:rPr lang="es-ES" dirty="0"/>
              <a:t>Se basa en la participación de todos los miembros de la organización en la mejora continua de la calidad.</a:t>
            </a:r>
          </a:p>
          <a:p>
            <a:r>
              <a:rPr lang="es-ES" dirty="0"/>
              <a:t>TQM se apoya en principios como el enfoque al cliente, la participación y capacitación de los empleados, la mejora continua y la gestión basada en hechos y datos.</a:t>
            </a:r>
          </a:p>
        </p:txBody>
      </p:sp>
      <p:pic>
        <p:nvPicPr>
          <p:cNvPr id="8" name="Marcador de posición de imagen 7">
            <a:extLst>
              <a:ext uri="{FF2B5EF4-FFF2-40B4-BE49-F238E27FC236}">
                <a16:creationId xmlns:a16="http://schemas.microsoft.com/office/drawing/2014/main" id="{44FF0CAF-CB05-6830-020A-301A7168C440}"/>
              </a:ext>
            </a:extLst>
          </p:cNvPr>
          <p:cNvPicPr>
            <a:picLocks noGrp="1" noChangeAspect="1"/>
          </p:cNvPicPr>
          <p:nvPr>
            <p:ph type="pic" sz="quarter" idx="10"/>
          </p:nvPr>
        </p:nvPicPr>
        <p:blipFill>
          <a:blip r:embed="rId3"/>
          <a:srcRect t="368" b="368"/>
          <a:stretch>
            <a:fillRect/>
          </a:stretch>
        </p:blipFill>
        <p:spPr/>
      </p:pic>
    </p:spTree>
    <p:extLst>
      <p:ext uri="{BB962C8B-B14F-4D97-AF65-F5344CB8AC3E}">
        <p14:creationId xmlns:p14="http://schemas.microsoft.com/office/powerpoint/2010/main" val="4244414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69E64DB7-BA38-1672-AC29-08F150CC02E1}"/>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Metodología KAIZEN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Es un enfoque japonés que se basa en la mejora continua y gradual de los procesos. </a:t>
            </a:r>
          </a:p>
          <a:p>
            <a:r>
              <a:rPr lang="es-ES" dirty="0"/>
              <a:t>Se enfoca en pequeños cambios incrementales y en la participación de todos los empleados en la identificación y solución de problemas.</a:t>
            </a:r>
          </a:p>
          <a:p>
            <a:r>
              <a:rPr lang="es-ES" dirty="0"/>
              <a:t>Kaizen promueve una cultura de mejora continua y busca eliminar las actividades innecesarias o que no agregan valor.</a:t>
            </a:r>
          </a:p>
        </p:txBody>
      </p:sp>
    </p:spTree>
    <p:extLst>
      <p:ext uri="{BB962C8B-B14F-4D97-AF65-F5344CB8AC3E}">
        <p14:creationId xmlns:p14="http://schemas.microsoft.com/office/powerpoint/2010/main" val="3499314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Técnicas y herramientas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 LA CALIDAD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55379" cy="4111625"/>
          </a:xfrm>
        </p:spPr>
        <p:txBody>
          <a:bodyPr/>
          <a:lstStyle/>
          <a:p>
            <a:pPr>
              <a:spcAft>
                <a:spcPts val="600"/>
              </a:spcAft>
            </a:pPr>
            <a:r>
              <a:rPr lang="es-ES" dirty="0"/>
              <a:t>Estas técnicas y herramientas ayudan en la identificación, análisis, mejora y control de la calidad. </a:t>
            </a:r>
          </a:p>
          <a:p>
            <a:pPr>
              <a:spcAft>
                <a:spcPts val="600"/>
              </a:spcAft>
            </a:pPr>
            <a:r>
              <a:rPr lang="es-ES" dirty="0"/>
              <a:t>Algunas de las más utilizadas son las siguientes:</a:t>
            </a:r>
          </a:p>
          <a:p>
            <a:pPr lvl="1">
              <a:spcAft>
                <a:spcPts val="600"/>
              </a:spcAft>
            </a:pPr>
            <a:r>
              <a:rPr lang="es-ES" dirty="0"/>
              <a:t>Diagrama de Flujo.</a:t>
            </a:r>
          </a:p>
          <a:p>
            <a:pPr lvl="1">
              <a:spcAft>
                <a:spcPts val="600"/>
              </a:spcAft>
            </a:pPr>
            <a:r>
              <a:rPr lang="es-ES" dirty="0"/>
              <a:t>Diagrama de Pareto.</a:t>
            </a:r>
          </a:p>
          <a:p>
            <a:pPr lvl="1">
              <a:spcAft>
                <a:spcPts val="600"/>
              </a:spcAft>
            </a:pPr>
            <a:r>
              <a:rPr lang="es-ES" dirty="0"/>
              <a:t>Análisis FMEA (Failure Mode and Effects Analysis).</a:t>
            </a:r>
          </a:p>
          <a:p>
            <a:pPr lvl="1">
              <a:spcAft>
                <a:spcPts val="600"/>
              </a:spcAft>
            </a:pPr>
            <a:r>
              <a:rPr lang="es-ES" dirty="0"/>
              <a:t>Hojas de Verificación.</a:t>
            </a:r>
          </a:p>
          <a:p>
            <a:pPr lvl="1">
              <a:spcAft>
                <a:spcPts val="600"/>
              </a:spcAft>
            </a:pPr>
            <a:r>
              <a:rPr lang="es-ES" dirty="0"/>
              <a:t>Histogramas.</a:t>
            </a:r>
          </a:p>
          <a:p>
            <a:pPr lvl="1">
              <a:spcAft>
                <a:spcPts val="600"/>
              </a:spcAft>
            </a:pPr>
            <a:r>
              <a:rPr lang="es-ES" dirty="0"/>
              <a:t>Análisis de Causa Raíz.</a:t>
            </a:r>
          </a:p>
          <a:p>
            <a:pPr lvl="1">
              <a:spcAft>
                <a:spcPts val="600"/>
              </a:spcAft>
            </a:pPr>
            <a:r>
              <a:rPr lang="es-ES" dirty="0"/>
              <a:t>Planificación de Experimentos (DOE).</a:t>
            </a:r>
          </a:p>
          <a:p>
            <a:pPr lvl="1">
              <a:spcAft>
                <a:spcPts val="600"/>
              </a:spcAft>
            </a:pPr>
            <a:r>
              <a:rPr lang="es-ES" dirty="0"/>
              <a:t>Control Estadístico del Proceso (SPC).</a:t>
            </a:r>
          </a:p>
        </p:txBody>
      </p:sp>
      <p:pic>
        <p:nvPicPr>
          <p:cNvPr id="4" name="Marcador de posición de imagen 3">
            <a:extLst>
              <a:ext uri="{FF2B5EF4-FFF2-40B4-BE49-F238E27FC236}">
                <a16:creationId xmlns:a16="http://schemas.microsoft.com/office/drawing/2014/main" id="{69E2DEE0-CF93-F327-2E79-26B4F8FF695A}"/>
              </a:ext>
            </a:extLst>
          </p:cNvPr>
          <p:cNvPicPr>
            <a:picLocks noGrp="1" noChangeAspect="1"/>
          </p:cNvPicPr>
          <p:nvPr>
            <p:ph type="pic" sz="quarter" idx="10"/>
          </p:nvPr>
        </p:nvPicPr>
        <p:blipFill>
          <a:blip r:embed="rId3"/>
          <a:srcRect t="212" b="212"/>
          <a:stretch>
            <a:fillRect/>
          </a:stretch>
        </p:blipFill>
        <p:spPr>
          <a:xfrm>
            <a:off x="5297417" y="1232510"/>
            <a:ext cx="3378270" cy="3675915"/>
          </a:xfrm>
        </p:spPr>
      </p:pic>
    </p:spTree>
    <p:extLst>
      <p:ext uri="{BB962C8B-B14F-4D97-AF65-F5344CB8AC3E}">
        <p14:creationId xmlns:p14="http://schemas.microsoft.com/office/powerpoint/2010/main" val="337790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66390"/>
          </a:xfrm>
        </p:spPr>
        <p:txBody>
          <a:bodyPr/>
          <a:lstStyle/>
          <a:p>
            <a:pPr marL="274638" indent="-274638">
              <a:tabLst>
                <a:tab pos="274638" algn="l"/>
              </a:tabLst>
            </a:pPr>
            <a:r>
              <a:rPr lang="es-PE" dirty="0"/>
              <a:t>/	SIX SIGMA</a:t>
            </a:r>
          </a:p>
        </p:txBody>
      </p:sp>
    </p:spTree>
    <p:custDataLst>
      <p:tags r:id="rId1"/>
    </p:custDataLst>
    <p:extLst>
      <p:ext uri="{BB962C8B-B14F-4D97-AF65-F5344CB8AC3E}">
        <p14:creationId xmlns:p14="http://schemas.microsoft.com/office/powerpoint/2010/main" val="1816024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qué consiste?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SIX SIGMA</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66395" cy="3585063"/>
          </a:xfrm>
        </p:spPr>
        <p:txBody>
          <a:bodyPr/>
          <a:lstStyle/>
          <a:p>
            <a:r>
              <a:rPr lang="es-ES" dirty="0"/>
              <a:t>Es una metodología de </a:t>
            </a:r>
            <a:r>
              <a:rPr lang="es-ES" b="1" dirty="0"/>
              <a:t>mejora de procesos</a:t>
            </a:r>
            <a:r>
              <a:rPr lang="es-ES" dirty="0"/>
              <a:t> que se utiliza para reducir significativamente los defectos y mejorar la calidad en las empresas.</a:t>
            </a:r>
          </a:p>
          <a:p>
            <a:r>
              <a:rPr lang="es-ES" b="1" dirty="0"/>
              <a:t>Sigue un enfoque disciplinado</a:t>
            </a:r>
            <a:r>
              <a:rPr lang="es-ES" dirty="0"/>
              <a:t> y basado en datos para la mejora continua de la calidad. </a:t>
            </a:r>
            <a:r>
              <a:rPr lang="es-ES" b="1" dirty="0"/>
              <a:t>Cada paso es crucial </a:t>
            </a:r>
            <a:r>
              <a:rPr lang="es-ES" dirty="0"/>
              <a:t>para identificar, analizar y solucionar los problemas de calidad, asegurando así la eficiencia y efectividad de los procesos empresariales.</a:t>
            </a:r>
          </a:p>
          <a:p>
            <a:r>
              <a:rPr lang="es-ES" dirty="0"/>
              <a:t>Se basa en cinco fases conocidas como </a:t>
            </a:r>
            <a:r>
              <a:rPr lang="es-ES" b="1" dirty="0"/>
              <a:t>DMAIC</a:t>
            </a:r>
            <a:r>
              <a:rPr lang="es-ES" dirty="0"/>
              <a:t> y utiliza las estadísticas, el análisis financiero y la gestión de proyectos para lograr una mejor funcionalidad empresarial y un mejor control de calidad. </a:t>
            </a:r>
          </a:p>
        </p:txBody>
      </p:sp>
      <p:pic>
        <p:nvPicPr>
          <p:cNvPr id="4" name="Marcador de posición de imagen 3">
            <a:extLst>
              <a:ext uri="{FF2B5EF4-FFF2-40B4-BE49-F238E27FC236}">
                <a16:creationId xmlns:a16="http://schemas.microsoft.com/office/drawing/2014/main" id="{84553871-7D06-48D9-4E8B-5E02C3274887}"/>
              </a:ext>
            </a:extLst>
          </p:cNvPr>
          <p:cNvPicPr>
            <a:picLocks noGrp="1" noChangeAspect="1"/>
          </p:cNvPicPr>
          <p:nvPr>
            <p:ph type="pic" sz="quarter" idx="10"/>
          </p:nvPr>
        </p:nvPicPr>
        <p:blipFill>
          <a:blip r:embed="rId3"/>
          <a:srcRect l="349" r="349"/>
          <a:stretch>
            <a:fillRect/>
          </a:stretch>
        </p:blipFill>
        <p:spPr>
          <a:xfrm>
            <a:off x="5362427" y="1086337"/>
            <a:ext cx="3521922" cy="3832223"/>
          </a:xfrm>
        </p:spPr>
      </p:pic>
    </p:spTree>
    <p:extLst>
      <p:ext uri="{BB962C8B-B14F-4D97-AF65-F5344CB8AC3E}">
        <p14:creationId xmlns:p14="http://schemas.microsoft.com/office/powerpoint/2010/main" val="1670978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DMAIC: definir (define)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SIX SIGMA</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452202"/>
          </a:xfrm>
        </p:spPr>
        <p:txBody>
          <a:bodyPr/>
          <a:lstStyle/>
          <a:p>
            <a:r>
              <a:rPr lang="es-ES" dirty="0"/>
              <a:t>En esta etapa, se definen los objetivos claros y específicos que se desean lograr. Se identifica el problema o área de mejora y se establecen metas cuantificables y realistas.</a:t>
            </a:r>
          </a:p>
          <a:p>
            <a:r>
              <a:rPr lang="es-ES" dirty="0"/>
              <a:t>Es importante comprender las necesidades y expectativas del cliente para asegurarse de que el proyecto esté alineado con sus requerimientos y brinde valor.</a:t>
            </a:r>
          </a:p>
          <a:p>
            <a:r>
              <a:rPr lang="es-ES" dirty="0"/>
              <a:t>Se define el alcance del proyecto, es decir, qué procesos y áreas se incluirán y qué se excluye. Esto ayuda a establecer límites y enfocar los esfuerzos en las áreas clave.</a:t>
            </a:r>
          </a:p>
        </p:txBody>
      </p:sp>
      <p:pic>
        <p:nvPicPr>
          <p:cNvPr id="4" name="Marcador de posición de imagen 3">
            <a:extLst>
              <a:ext uri="{FF2B5EF4-FFF2-40B4-BE49-F238E27FC236}">
                <a16:creationId xmlns:a16="http://schemas.microsoft.com/office/drawing/2014/main" id="{F1DA5B82-7DBB-8B70-C779-D2C43446CD9B}"/>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49930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DMAIC: medir (measure)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SIX SIGMA</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41349" cy="3686663"/>
          </a:xfrm>
        </p:spPr>
        <p:txBody>
          <a:bodyPr/>
          <a:lstStyle/>
          <a:p>
            <a:r>
              <a:rPr lang="es-ES" dirty="0"/>
              <a:t>En esta etapa, se recopilan datos relevantes sobre el proceso actual. Esto puede implicar la recopilación de datos históricos, mediciones en tiempo real o encuestas a los clientes.</a:t>
            </a:r>
          </a:p>
          <a:p>
            <a:r>
              <a:rPr lang="es-ES" dirty="0"/>
              <a:t>Se identifican las métricas o indicadores clave de rendimiento (KPI) que se utilizarán para medir el desempeño del proceso. Estas métricas deben ser objetivas, medibles y estar alineadas con los objetivos del proyecto.</a:t>
            </a:r>
          </a:p>
          <a:p>
            <a:r>
              <a:rPr lang="es-ES" dirty="0"/>
              <a:t>Se analizan los datos recopilados para comprender la situación actual del proceso y evaluar su desempeño en relación con los estándares y las expectativas establecidas.</a:t>
            </a:r>
          </a:p>
        </p:txBody>
      </p:sp>
      <p:pic>
        <p:nvPicPr>
          <p:cNvPr id="8" name="Marcador de posición de imagen 7">
            <a:extLst>
              <a:ext uri="{FF2B5EF4-FFF2-40B4-BE49-F238E27FC236}">
                <a16:creationId xmlns:a16="http://schemas.microsoft.com/office/drawing/2014/main" id="{859AA82E-BE08-86E1-69BB-239FC207CE12}"/>
              </a:ext>
            </a:extLst>
          </p:cNvPr>
          <p:cNvPicPr>
            <a:picLocks noGrp="1" noChangeAspect="1"/>
          </p:cNvPicPr>
          <p:nvPr>
            <p:ph type="pic" sz="quarter" idx="10"/>
          </p:nvPr>
        </p:nvPicPr>
        <p:blipFill>
          <a:blip r:embed="rId3"/>
          <a:srcRect l="225" r="225"/>
          <a:stretch>
            <a:fillRect/>
          </a:stretch>
        </p:blipFill>
        <p:spPr>
          <a:xfrm>
            <a:off x="5318920" y="1219199"/>
            <a:ext cx="3471643" cy="3777515"/>
          </a:xfrm>
        </p:spPr>
      </p:pic>
    </p:spTree>
    <p:extLst>
      <p:ext uri="{BB962C8B-B14F-4D97-AF65-F5344CB8AC3E}">
        <p14:creationId xmlns:p14="http://schemas.microsoft.com/office/powerpoint/2010/main" val="86478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DMAIC: analizar (</a:t>
            </a:r>
            <a:r>
              <a:rPr lang="es-PE" dirty="0" err="1"/>
              <a:t>analyze</a:t>
            </a:r>
            <a:r>
              <a:rPr lang="es-PE" dirty="0"/>
              <a:t>)</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SIX SIGMA</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53779" cy="3569433"/>
          </a:xfrm>
        </p:spPr>
        <p:txBody>
          <a:bodyPr/>
          <a:lstStyle/>
          <a:p>
            <a:r>
              <a:rPr lang="es-ES" dirty="0"/>
              <a:t>Se utilizan herramientas y técnicas como el diagrama de Ishikawa (espina de pescado) y el análisis de Pareto para identificar las causas raíz de los problemas o defectos en el proceso. Se busca comprender las relaciones entre las variables y cómo afectan al resultado deseado.</a:t>
            </a:r>
          </a:p>
          <a:p>
            <a:r>
              <a:rPr lang="es-ES" dirty="0"/>
              <a:t>Se utilizan herramientas estadísticas como gráficos de control, análisis de regresión y pruebas de hipótesis para analizar los datos y extraer conclusiones significativas. Esto ayuda a comprender las relaciones causa-efecto y priorizar las áreas de mejora.</a:t>
            </a:r>
          </a:p>
        </p:txBody>
      </p:sp>
      <p:pic>
        <p:nvPicPr>
          <p:cNvPr id="4" name="Marcador de posición de imagen 3">
            <a:extLst>
              <a:ext uri="{FF2B5EF4-FFF2-40B4-BE49-F238E27FC236}">
                <a16:creationId xmlns:a16="http://schemas.microsoft.com/office/drawing/2014/main" id="{59C6696D-4226-B038-A311-6C841586EFB8}"/>
              </a:ext>
            </a:extLst>
          </p:cNvPr>
          <p:cNvPicPr>
            <a:picLocks noGrp="1" noChangeAspect="1"/>
          </p:cNvPicPr>
          <p:nvPr>
            <p:ph type="pic" sz="quarter" idx="10"/>
          </p:nvPr>
        </p:nvPicPr>
        <p:blipFill>
          <a:blip r:embed="rId3"/>
          <a:srcRect l="127" r="127"/>
          <a:stretch>
            <a:fillRect/>
          </a:stretch>
        </p:blipFill>
        <p:spPr>
          <a:xfrm>
            <a:off x="5210546" y="1012880"/>
            <a:ext cx="3548756" cy="3861422"/>
          </a:xfrm>
        </p:spPr>
      </p:pic>
    </p:spTree>
    <p:extLst>
      <p:ext uri="{BB962C8B-B14F-4D97-AF65-F5344CB8AC3E}">
        <p14:creationId xmlns:p14="http://schemas.microsoft.com/office/powerpoint/2010/main" val="380748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DMAIC: mejorar (improve)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SIX SIGMA</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52179" cy="4111625"/>
          </a:xfrm>
        </p:spPr>
        <p:txBody>
          <a:bodyPr/>
          <a:lstStyle/>
          <a:p>
            <a:r>
              <a:rPr lang="es-ES" dirty="0"/>
              <a:t>Se generan y evalúan diversas soluciones para abordar las causas raíz identificadas. Se utilizan técnicas como lluvia de ideas, análisis de costo-beneficio y evaluación de riesgos para seleccionar la mejor opción.</a:t>
            </a:r>
          </a:p>
          <a:p>
            <a:r>
              <a:rPr lang="es-ES" dirty="0"/>
              <a:t>Las soluciones seleccionadas se implementan en el proceso. Esto puede implicar cambios en los procedimientos, la capacitación del personal, la actualización de los sistemas o cualquier otra acción necesaria para lograr la mejora.</a:t>
            </a:r>
          </a:p>
          <a:p>
            <a:r>
              <a:rPr lang="es-ES" dirty="0"/>
              <a:t>Antes de implementar completamente las mejoras, se realizan pruebas piloto o pruebas a pequeña escala para evaluar su efectividad y realizar ajustes si es necesario.</a:t>
            </a:r>
          </a:p>
        </p:txBody>
      </p:sp>
      <p:pic>
        <p:nvPicPr>
          <p:cNvPr id="4" name="Marcador de posición de imagen 3">
            <a:extLst>
              <a:ext uri="{FF2B5EF4-FFF2-40B4-BE49-F238E27FC236}">
                <a16:creationId xmlns:a16="http://schemas.microsoft.com/office/drawing/2014/main" id="{5A94DAB9-05B8-9E30-8501-E11CA0698759}"/>
              </a:ext>
            </a:extLst>
          </p:cNvPr>
          <p:cNvPicPr>
            <a:picLocks noGrp="1" noChangeAspect="1"/>
          </p:cNvPicPr>
          <p:nvPr>
            <p:ph type="pic" sz="quarter" idx="10"/>
          </p:nvPr>
        </p:nvPicPr>
        <p:blipFill>
          <a:blip r:embed="rId3"/>
          <a:srcRect l="349" r="349"/>
          <a:stretch>
            <a:fillRect/>
          </a:stretch>
        </p:blipFill>
        <p:spPr>
          <a:xfrm>
            <a:off x="5033107" y="1238276"/>
            <a:ext cx="3648041" cy="3969454"/>
          </a:xfrm>
        </p:spPr>
      </p:pic>
    </p:spTree>
    <p:extLst>
      <p:ext uri="{BB962C8B-B14F-4D97-AF65-F5344CB8AC3E}">
        <p14:creationId xmlns:p14="http://schemas.microsoft.com/office/powerpoint/2010/main" val="1506004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DMAIC: control (control)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SIX SIGMA</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85041" cy="4111625"/>
          </a:xfrm>
        </p:spPr>
        <p:txBody>
          <a:bodyPr/>
          <a:lstStyle/>
          <a:p>
            <a:pPr>
              <a:lnSpc>
                <a:spcPct val="95000"/>
              </a:lnSpc>
            </a:pPr>
            <a:r>
              <a:rPr lang="es-ES" dirty="0"/>
              <a:t>Se establecen medidas y controles para asegurar que las mejoras implementadas se mantengan en el tiempo. Esto puede incluir la creación de estándares de trabajo, la implementación de sistemas de monitoreo y la capacitación del personal para mantener el nuevo nivel de desempeño.</a:t>
            </a:r>
          </a:p>
          <a:p>
            <a:pPr>
              <a:lnSpc>
                <a:spcPct val="95000"/>
              </a:lnSpc>
            </a:pPr>
            <a:r>
              <a:rPr lang="es-ES" dirty="0"/>
              <a:t>Se realiza un seguimiento regular del desempeño del proceso utilizando los KPI definidos anteriormente.</a:t>
            </a:r>
          </a:p>
          <a:p>
            <a:pPr>
              <a:lnSpc>
                <a:spcPct val="95000"/>
              </a:lnSpc>
            </a:pPr>
            <a:r>
              <a:rPr lang="es-ES" dirty="0"/>
              <a:t>Si se detectan desviaciones o se identifican problemas recurrentes, se implementan acciones correctivas para abordarlos. Esto puede implicar ajustes en el proceso, la identificación de nuevas mejoras o la revisión de las soluciones existentes.</a:t>
            </a:r>
          </a:p>
        </p:txBody>
      </p:sp>
      <p:pic>
        <p:nvPicPr>
          <p:cNvPr id="4" name="Marcador de posición de imagen 3">
            <a:extLst>
              <a:ext uri="{FF2B5EF4-FFF2-40B4-BE49-F238E27FC236}">
                <a16:creationId xmlns:a16="http://schemas.microsoft.com/office/drawing/2014/main" id="{C0F1BCFF-A389-AB41-7337-3A5770AED0BB}"/>
              </a:ext>
            </a:extLst>
          </p:cNvPr>
          <p:cNvPicPr>
            <a:picLocks noGrp="1" noChangeAspect="1"/>
          </p:cNvPicPr>
          <p:nvPr>
            <p:ph type="pic" sz="quarter" idx="10"/>
          </p:nvPr>
        </p:nvPicPr>
        <p:blipFill>
          <a:blip r:embed="rId3"/>
          <a:srcRect l="225" r="225"/>
          <a:stretch>
            <a:fillRect/>
          </a:stretch>
        </p:blipFill>
        <p:spPr>
          <a:xfrm>
            <a:off x="5173783" y="1225707"/>
            <a:ext cx="3655857" cy="3977959"/>
          </a:xfrm>
        </p:spPr>
      </p:pic>
    </p:spTree>
    <p:extLst>
      <p:ext uri="{BB962C8B-B14F-4D97-AF65-F5344CB8AC3E}">
        <p14:creationId xmlns:p14="http://schemas.microsoft.com/office/powerpoint/2010/main" val="2146318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p:txBody>
          <a:bodyPr/>
          <a:lstStyle/>
          <a:p>
            <a:r>
              <a:rPr lang="es-ES" dirty="0"/>
              <a:t>La gestión de procesos de negocio (BPM) busca mejorar la forma en que se realizan las tareas en una organización para obtener mejores resultados.</a:t>
            </a:r>
          </a:p>
          <a:p>
            <a:r>
              <a:rPr lang="es-ES" dirty="0"/>
              <a:t>Para asegurar la calidad de los procesos, se establecen estándares y se miden los resultados para identificar oportunidades de mejora.</a:t>
            </a:r>
          </a:p>
          <a:p>
            <a:r>
              <a:rPr lang="es-ES" dirty="0"/>
              <a:t>Existen diferentes metodologías y enfoques, como Six Sigma y Lean Manufacturing, que ayudan a gestionar la calidad de los procesos.</a:t>
            </a:r>
          </a:p>
          <a:p>
            <a:r>
              <a:rPr lang="es-ES" dirty="0"/>
              <a:t>Se utilizan herramientas y técnicas, como diagramas de flujo y análisis de causa raíz, para identificar problemas y encontrar soluciones efectivas.</a:t>
            </a:r>
          </a:p>
          <a:p>
            <a:r>
              <a:rPr lang="es-ES" dirty="0"/>
              <a:t>La mejora continua es esencial en la gestión de procesos y calidad, ya que implica buscar constantemente oportunidades de mejora y hacer ajustes para lograr resultados cada vez mejores..</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n-US" dirty="0"/>
              <a:t>Agile Extension to the BABOK Guide. (2020). </a:t>
            </a:r>
            <a:r>
              <a:rPr lang="en-US" dirty="0" err="1"/>
              <a:t>Recuperado</a:t>
            </a:r>
            <a:r>
              <a:rPr lang="en-US" dirty="0"/>
              <a:t> de: https://www.iiba.org/standards-andresources/babok/</a:t>
            </a:r>
          </a:p>
          <a:p>
            <a:pPr>
              <a:lnSpc>
                <a:spcPct val="100000"/>
              </a:lnSpc>
            </a:pPr>
            <a:r>
              <a:rPr lang="en-US" dirty="0" err="1"/>
              <a:t>Weske</a:t>
            </a:r>
            <a:r>
              <a:rPr lang="en-US" dirty="0"/>
              <a:t>, M. (2012). Business Process Management: Concepts, Languages, Architectures. Berlin, Germany: Springer.</a:t>
            </a:r>
          </a:p>
          <a:p>
            <a:pPr>
              <a:lnSpc>
                <a:spcPct val="100000"/>
              </a:lnSpc>
            </a:pPr>
            <a:r>
              <a:rPr lang="en-US" dirty="0"/>
              <a:t>George, M. L., Maxey, J., Rowlands, D., &amp; Price, M. (2005). The Lean Six Sigma Pocket </a:t>
            </a:r>
            <a:r>
              <a:rPr lang="en-US" dirty="0" err="1"/>
              <a:t>Toolbook</a:t>
            </a:r>
            <a:r>
              <a:rPr lang="en-US" dirty="0"/>
              <a:t>: A Quick Reference Guide to Nearly 100 Tools for Improving Quality and Speed. New York, NY: McGraw-Hill Education.</a:t>
            </a:r>
          </a:p>
          <a:p>
            <a:pPr>
              <a:lnSpc>
                <a:spcPct val="100000"/>
              </a:lnSpc>
            </a:pPr>
            <a:r>
              <a:rPr lang="en-US" dirty="0" err="1"/>
              <a:t>Besterfield</a:t>
            </a:r>
            <a:r>
              <a:rPr lang="en-US" dirty="0"/>
              <a:t>, D. H. (2013). Total Quality Management. Upper Saddle River, NJ: Pearson Education.</a:t>
            </a:r>
          </a:p>
          <a:p>
            <a:pPr>
              <a:lnSpc>
                <a:spcPct val="100000"/>
              </a:lnSpc>
            </a:pPr>
            <a:r>
              <a:rPr lang="en-US" dirty="0"/>
              <a:t>American Society for Quality (ASQ). (n.d.). Retrieved from https://www.asq.org</a:t>
            </a:r>
          </a:p>
        </p:txBody>
      </p:sp>
    </p:spTree>
    <p:custDataLst>
      <p:tags r:id="rId1"/>
    </p:custDataLst>
    <p:extLst>
      <p:ext uri="{BB962C8B-B14F-4D97-AF65-F5344CB8AC3E}">
        <p14:creationId xmlns:p14="http://schemas.microsoft.com/office/powerpoint/2010/main" val="263315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18831</TotalTime>
  <Words>5954</Words>
  <Application>Microsoft Office PowerPoint</Application>
  <PresentationFormat>Presentación en pantalla (16:10)</PresentationFormat>
  <Paragraphs>464</Paragraphs>
  <Slides>64</Slides>
  <Notes>64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64</vt:i4>
      </vt:variant>
    </vt:vector>
  </HeadingPairs>
  <TitlesOfParts>
    <vt:vector size="69" baseType="lpstr">
      <vt:lpstr>Arial</vt:lpstr>
      <vt:lpstr>Calibri</vt:lpstr>
      <vt:lpstr>Delius</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1285</cp:revision>
  <cp:lastPrinted>2018-01-16T21:42:59Z</cp:lastPrinted>
  <dcterms:created xsi:type="dcterms:W3CDTF">2016-10-06T14:52:02Z</dcterms:created>
  <dcterms:modified xsi:type="dcterms:W3CDTF">2023-08-07T16:28:30Z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