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5.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6.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7.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8.xml" ContentType="application/vnd.openxmlformats-officedocument.presentationml.tags+xml"/>
  <Override PartName="/ppt/notesSlides/notesSlide49.xml" ContentType="application/vnd.openxmlformats-officedocument.presentationml.notesSlide+xml"/>
  <Override PartName="/ppt/tags/tag9.xml" ContentType="application/vnd.openxmlformats-officedocument.presentationml.tags+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handoutMasterIdLst>
    <p:handoutMasterId r:id="rId53"/>
  </p:handoutMasterIdLst>
  <p:sldIdLst>
    <p:sldId id="418" r:id="rId2"/>
    <p:sldId id="337" r:id="rId3"/>
    <p:sldId id="315" r:id="rId4"/>
    <p:sldId id="451" r:id="rId5"/>
    <p:sldId id="464" r:id="rId6"/>
    <p:sldId id="455" r:id="rId7"/>
    <p:sldId id="465" r:id="rId8"/>
    <p:sldId id="466" r:id="rId9"/>
    <p:sldId id="467" r:id="rId10"/>
    <p:sldId id="468" r:id="rId11"/>
    <p:sldId id="469" r:id="rId12"/>
    <p:sldId id="470" r:id="rId13"/>
    <p:sldId id="456" r:id="rId14"/>
    <p:sldId id="457" r:id="rId15"/>
    <p:sldId id="471" r:id="rId16"/>
    <p:sldId id="472" r:id="rId17"/>
    <p:sldId id="473" r:id="rId18"/>
    <p:sldId id="474" r:id="rId19"/>
    <p:sldId id="452" r:id="rId20"/>
    <p:sldId id="458" r:id="rId21"/>
    <p:sldId id="475" r:id="rId22"/>
    <p:sldId id="476" r:id="rId23"/>
    <p:sldId id="477" r:id="rId24"/>
    <p:sldId id="459" r:id="rId25"/>
    <p:sldId id="478" r:id="rId26"/>
    <p:sldId id="479" r:id="rId27"/>
    <p:sldId id="480" r:id="rId28"/>
    <p:sldId id="460" r:id="rId29"/>
    <p:sldId id="481" r:id="rId30"/>
    <p:sldId id="482" r:id="rId31"/>
    <p:sldId id="483" r:id="rId32"/>
    <p:sldId id="453" r:id="rId33"/>
    <p:sldId id="461" r:id="rId34"/>
    <p:sldId id="484" r:id="rId35"/>
    <p:sldId id="485" r:id="rId36"/>
    <p:sldId id="486" r:id="rId37"/>
    <p:sldId id="487" r:id="rId38"/>
    <p:sldId id="488" r:id="rId39"/>
    <p:sldId id="489" r:id="rId40"/>
    <p:sldId id="490" r:id="rId41"/>
    <p:sldId id="454" r:id="rId42"/>
    <p:sldId id="462" r:id="rId43"/>
    <p:sldId id="463" r:id="rId44"/>
    <p:sldId id="491" r:id="rId45"/>
    <p:sldId id="492" r:id="rId46"/>
    <p:sldId id="493" r:id="rId47"/>
    <p:sldId id="494" r:id="rId48"/>
    <p:sldId id="495" r:id="rId49"/>
    <p:sldId id="303" r:id="rId50"/>
    <p:sldId id="448" r:id="rId51"/>
  </p:sldIdLst>
  <p:sldSz cx="9144000" cy="5715000" type="screen16x10"/>
  <p:notesSz cx="6797675" cy="9926638"/>
  <p:custDataLst>
    <p:tags r:id="rId5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85A6"/>
    <a:srgbClr val="558ED5"/>
    <a:srgbClr val="81FFBA"/>
    <a:srgbClr val="15BDAD"/>
    <a:srgbClr val="48C2BB"/>
    <a:srgbClr val="F1D156"/>
    <a:srgbClr val="276B7D"/>
    <a:srgbClr val="F1FDC3"/>
    <a:srgbClr val="9CC606"/>
    <a:srgbClr val="E2F6F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39" autoAdjust="0"/>
    <p:restoredTop sz="95268" autoAdjust="0"/>
  </p:normalViewPr>
  <p:slideViewPr>
    <p:cSldViewPr snapToGrid="0" snapToObjects="1" showGuides="1">
      <p:cViewPr varScale="1">
        <p:scale>
          <a:sx n="98" d="100"/>
          <a:sy n="98" d="100"/>
        </p:scale>
        <p:origin x="1296" y="8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20" d="100"/>
        <a:sy n="120" d="100"/>
      </p:scale>
      <p:origin x="0" y="-9462"/>
    </p:cViewPr>
  </p:sorterViewPr>
  <p:notesViewPr>
    <p:cSldViewPr snapToGrid="0" snapToObjects="1" showGuides="1">
      <p:cViewPr varScale="1">
        <p:scale>
          <a:sx n="48" d="100"/>
          <a:sy n="48" d="100"/>
        </p:scale>
        <p:origin x="2940" y="72"/>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11932DC7-834F-6148-86AF-F72164F7FFC1}" type="datetimeFigureOut">
              <a:rPr lang="es-ES" smtClean="0"/>
              <a:t>19/07/2023</a:t>
            </a:fld>
            <a:endParaRPr lang="es-ES"/>
          </a:p>
        </p:txBody>
      </p:sp>
      <p:sp>
        <p:nvSpPr>
          <p:cNvPr id="4" name="Marcador de pie de página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50443" y="1"/>
            <a:ext cx="2945659" cy="498056"/>
          </a:xfrm>
          <a:prstGeom prst="rect">
            <a:avLst/>
          </a:prstGeom>
        </p:spPr>
        <p:txBody>
          <a:bodyPr vert="horz" lIns="91440" tIns="45720" rIns="91440" bIns="45720" rtlCol="0"/>
          <a:lstStyle>
            <a:lvl1pPr algn="r">
              <a:defRPr sz="1200"/>
            </a:lvl1pPr>
          </a:lstStyle>
          <a:p>
            <a:fld id="{FFDF1720-AE80-4069-8D89-2C76E8AFD874}" type="datetimeFigureOut">
              <a:rPr lang="es-PE" smtClean="0"/>
              <a:t>19/07/2023</a:t>
            </a:fld>
            <a:endParaRPr lang="es-PE"/>
          </a:p>
        </p:txBody>
      </p:sp>
      <p:sp>
        <p:nvSpPr>
          <p:cNvPr id="4" name="Marcador de imagen de diapositiva 3"/>
          <p:cNvSpPr>
            <a:spLocks noGrp="1" noRot="1" noChangeAspect="1"/>
          </p:cNvSpPr>
          <p:nvPr>
            <p:ph type="sldImg" idx="2"/>
          </p:nvPr>
        </p:nvSpPr>
        <p:spPr>
          <a:xfrm>
            <a:off x="719138" y="1241425"/>
            <a:ext cx="5359400" cy="334962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79768" y="4777194"/>
            <a:ext cx="5438140" cy="3908615"/>
          </a:xfrm>
          <a:prstGeom prst="rect">
            <a:avLst/>
          </a:prstGeom>
        </p:spPr>
        <p:txBody>
          <a:bodyPr vert="horz" lIns="91440" tIns="45720" rIns="91440" bIns="45720" rtlCol="0"/>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26" userDrawn="1">
          <p15:clr>
            <a:srgbClr val="F26B43"/>
          </p15:clr>
        </p15:guide>
        <p15:guide id="2" pos="214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 typeface="Arial" panose="020B0604020202020204" pitchFamily="34" charset="0"/>
              <a:buNone/>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a:t>
            </a:fld>
            <a:endParaRPr lang="es-PE"/>
          </a:p>
        </p:txBody>
      </p:sp>
    </p:spTree>
    <p:extLst>
      <p:ext uri="{BB962C8B-B14F-4D97-AF65-F5344CB8AC3E}">
        <p14:creationId xmlns:p14="http://schemas.microsoft.com/office/powerpoint/2010/main" val="2879386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435735" marR="574040" indent="0" algn="l">
              <a:lnSpc>
                <a:spcPct val="155000"/>
              </a:lnSpc>
              <a:spcBef>
                <a:spcPts val="800"/>
              </a:spcBef>
              <a:spcAft>
                <a:spcPts val="0"/>
              </a:spcAft>
              <a:buFont typeface="Arial" panose="020B0604020202020204" pitchFamily="34" charset="0"/>
              <a:buNone/>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14306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Su objetivo principal es garantizar que los procesos de negocio y las tecnologías de la información (TI) estén sincronizados para alcanzar los objetivos y metas de la empresa de la manera más eficiente y efectiva posible.</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33935549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arquitectura empresarial es un esfuerzo continuo que requiere compromiso y participación de todas las partes de la organización para ser efectiva.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Es más que solo tecnología; es una manera estratégica de pensar y operar que puede llevar a una organización al siguiente nivel de rendimiento y éxito.</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785908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34589723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29989980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17420732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36334182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1037811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29932666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Cada uno de estos fundamentos juega un papel esencial en el éxito de la arquitectura empresarial. Juntos, proporcionan un marco para diseñar, implementar y gestionar una arquitectura que apoya los objetivos y estrategias de la organización de manera efectiva.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6613095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Estos marcos no son exclusivos entre sí y en muchas organizaciones se utiliza una combinación de ellos para adaptarse a sus necesidades específicas.</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34923023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16566980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39243335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12640722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18227293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18</a:t>
            </a:fld>
            <a:endParaRPr lang="es-PE"/>
          </a:p>
        </p:txBody>
      </p:sp>
    </p:spTree>
    <p:extLst>
      <p:ext uri="{BB962C8B-B14F-4D97-AF65-F5344CB8AC3E}">
        <p14:creationId xmlns:p14="http://schemas.microsoft.com/office/powerpoint/2010/main" val="38860936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19</a:t>
            </a:fld>
            <a:endParaRPr lang="es-PE"/>
          </a:p>
        </p:txBody>
      </p:sp>
    </p:spTree>
    <p:extLst>
      <p:ext uri="{BB962C8B-B14F-4D97-AF65-F5344CB8AC3E}">
        <p14:creationId xmlns:p14="http://schemas.microsoft.com/office/powerpoint/2010/main" val="15565441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Todos estos componentes se interrelacionan y se influyen mutuamente, por lo que un cambio en uno puede tener un impacto en los demás.</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20</a:t>
            </a:fld>
            <a:endParaRPr lang="es-PE"/>
          </a:p>
        </p:txBody>
      </p:sp>
    </p:spTree>
    <p:extLst>
      <p:ext uri="{BB962C8B-B14F-4D97-AF65-F5344CB8AC3E}">
        <p14:creationId xmlns:p14="http://schemas.microsoft.com/office/powerpoint/2010/main" val="32032520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42501625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22</a:t>
            </a:fld>
            <a:endParaRPr lang="es-PE"/>
          </a:p>
        </p:txBody>
      </p:sp>
    </p:spTree>
    <p:extLst>
      <p:ext uri="{BB962C8B-B14F-4D97-AF65-F5344CB8AC3E}">
        <p14:creationId xmlns:p14="http://schemas.microsoft.com/office/powerpoint/2010/main" val="34986421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22711022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24</a:t>
            </a:fld>
            <a:endParaRPr lang="es-PE"/>
          </a:p>
        </p:txBody>
      </p:sp>
    </p:spTree>
    <p:extLst>
      <p:ext uri="{BB962C8B-B14F-4D97-AF65-F5344CB8AC3E}">
        <p14:creationId xmlns:p14="http://schemas.microsoft.com/office/powerpoint/2010/main" val="36178012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25</a:t>
            </a:fld>
            <a:endParaRPr lang="es-PE"/>
          </a:p>
        </p:txBody>
      </p:sp>
    </p:spTree>
    <p:extLst>
      <p:ext uri="{BB962C8B-B14F-4D97-AF65-F5344CB8AC3E}">
        <p14:creationId xmlns:p14="http://schemas.microsoft.com/office/powerpoint/2010/main" val="23113475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26</a:t>
            </a:fld>
            <a:endParaRPr lang="es-PE"/>
          </a:p>
        </p:txBody>
      </p:sp>
    </p:spTree>
    <p:extLst>
      <p:ext uri="{BB962C8B-B14F-4D97-AF65-F5344CB8AC3E}">
        <p14:creationId xmlns:p14="http://schemas.microsoft.com/office/powerpoint/2010/main" val="34344144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27</a:t>
            </a:fld>
            <a:endParaRPr lang="es-PE"/>
          </a:p>
        </p:txBody>
      </p:sp>
    </p:spTree>
    <p:extLst>
      <p:ext uri="{BB962C8B-B14F-4D97-AF65-F5344CB8AC3E}">
        <p14:creationId xmlns:p14="http://schemas.microsoft.com/office/powerpoint/2010/main" val="34920178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28</a:t>
            </a:fld>
            <a:endParaRPr lang="es-PE"/>
          </a:p>
        </p:txBody>
      </p:sp>
    </p:spTree>
    <p:extLst>
      <p:ext uri="{BB962C8B-B14F-4D97-AF65-F5344CB8AC3E}">
        <p14:creationId xmlns:p14="http://schemas.microsoft.com/office/powerpoint/2010/main" val="6966604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29</a:t>
            </a:fld>
            <a:endParaRPr lang="es-PE"/>
          </a:p>
        </p:txBody>
      </p:sp>
    </p:spTree>
    <p:extLst>
      <p:ext uri="{BB962C8B-B14F-4D97-AF65-F5344CB8AC3E}">
        <p14:creationId xmlns:p14="http://schemas.microsoft.com/office/powerpoint/2010/main" val="14488850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30</a:t>
            </a:fld>
            <a:endParaRPr lang="es-PE"/>
          </a:p>
        </p:txBody>
      </p:sp>
    </p:spTree>
    <p:extLst>
      <p:ext uri="{BB962C8B-B14F-4D97-AF65-F5344CB8AC3E}">
        <p14:creationId xmlns:p14="http://schemas.microsoft.com/office/powerpoint/2010/main" val="28964057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31</a:t>
            </a:fld>
            <a:endParaRPr lang="es-PE"/>
          </a:p>
        </p:txBody>
      </p:sp>
    </p:spTree>
    <p:extLst>
      <p:ext uri="{BB962C8B-B14F-4D97-AF65-F5344CB8AC3E}">
        <p14:creationId xmlns:p14="http://schemas.microsoft.com/office/powerpoint/2010/main" val="31666461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32</a:t>
            </a:fld>
            <a:endParaRPr lang="es-PE"/>
          </a:p>
        </p:txBody>
      </p:sp>
    </p:spTree>
    <p:extLst>
      <p:ext uri="{BB962C8B-B14F-4D97-AF65-F5344CB8AC3E}">
        <p14:creationId xmlns:p14="http://schemas.microsoft.com/office/powerpoint/2010/main" val="26657540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Con el enfoque correcto, la implementación de los modelos de arquitectura empresarial puede llevar a mejoras significativas en la eficiencia y la efectividad de la organización.</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33</a:t>
            </a:fld>
            <a:endParaRPr lang="es-PE"/>
          </a:p>
        </p:txBody>
      </p:sp>
    </p:spTree>
    <p:extLst>
      <p:ext uri="{BB962C8B-B14F-4D97-AF65-F5344CB8AC3E}">
        <p14:creationId xmlns:p14="http://schemas.microsoft.com/office/powerpoint/2010/main" val="7828119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34</a:t>
            </a:fld>
            <a:endParaRPr lang="es-PE"/>
          </a:p>
        </p:txBody>
      </p:sp>
    </p:spTree>
    <p:extLst>
      <p:ext uri="{BB962C8B-B14F-4D97-AF65-F5344CB8AC3E}">
        <p14:creationId xmlns:p14="http://schemas.microsoft.com/office/powerpoint/2010/main" val="31366048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35</a:t>
            </a:fld>
            <a:endParaRPr lang="es-PE"/>
          </a:p>
        </p:txBody>
      </p:sp>
    </p:spTree>
    <p:extLst>
      <p:ext uri="{BB962C8B-B14F-4D97-AF65-F5344CB8AC3E}">
        <p14:creationId xmlns:p14="http://schemas.microsoft.com/office/powerpoint/2010/main" val="12339438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36</a:t>
            </a:fld>
            <a:endParaRPr lang="es-PE"/>
          </a:p>
        </p:txBody>
      </p:sp>
    </p:spTree>
    <p:extLst>
      <p:ext uri="{BB962C8B-B14F-4D97-AF65-F5344CB8AC3E}">
        <p14:creationId xmlns:p14="http://schemas.microsoft.com/office/powerpoint/2010/main" val="5648988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37</a:t>
            </a:fld>
            <a:endParaRPr lang="es-PE"/>
          </a:p>
        </p:txBody>
      </p:sp>
    </p:spTree>
    <p:extLst>
      <p:ext uri="{BB962C8B-B14F-4D97-AF65-F5344CB8AC3E}">
        <p14:creationId xmlns:p14="http://schemas.microsoft.com/office/powerpoint/2010/main" val="2466838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38</a:t>
            </a:fld>
            <a:endParaRPr lang="es-PE"/>
          </a:p>
        </p:txBody>
      </p:sp>
    </p:spTree>
    <p:extLst>
      <p:ext uri="{BB962C8B-B14F-4D97-AF65-F5344CB8AC3E}">
        <p14:creationId xmlns:p14="http://schemas.microsoft.com/office/powerpoint/2010/main" val="14668761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39</a:t>
            </a:fld>
            <a:endParaRPr lang="es-PE"/>
          </a:p>
        </p:txBody>
      </p:sp>
    </p:spTree>
    <p:extLst>
      <p:ext uri="{BB962C8B-B14F-4D97-AF65-F5344CB8AC3E}">
        <p14:creationId xmlns:p14="http://schemas.microsoft.com/office/powerpoint/2010/main" val="7091904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40</a:t>
            </a:fld>
            <a:endParaRPr lang="es-PE"/>
          </a:p>
        </p:txBody>
      </p:sp>
    </p:spTree>
    <p:extLst>
      <p:ext uri="{BB962C8B-B14F-4D97-AF65-F5344CB8AC3E}">
        <p14:creationId xmlns:p14="http://schemas.microsoft.com/office/powerpoint/2010/main" val="37827482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41</a:t>
            </a:fld>
            <a:endParaRPr lang="es-PE"/>
          </a:p>
        </p:txBody>
      </p:sp>
    </p:spTree>
    <p:extLst>
      <p:ext uri="{BB962C8B-B14F-4D97-AF65-F5344CB8AC3E}">
        <p14:creationId xmlns:p14="http://schemas.microsoft.com/office/powerpoint/2010/main" val="22025758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El CSC opera como una entidad semiautónoma dentro de la organización, proporcionando servicios a varias unidades de negocio o departamentos a un costo que generalmente es menor que el de contratar y mantener recursos internos en cada unidad o departamento individual. Esto es posible gracias a la economía de escala, la consolidación de habilidades y experiencias, y la estandarización y optimización de los procesos.</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42</a:t>
            </a:fld>
            <a:endParaRPr lang="es-PE"/>
          </a:p>
        </p:txBody>
      </p:sp>
    </p:spTree>
    <p:extLst>
      <p:ext uri="{BB962C8B-B14F-4D97-AF65-F5344CB8AC3E}">
        <p14:creationId xmlns:p14="http://schemas.microsoft.com/office/powerpoint/2010/main" val="217134699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43</a:t>
            </a:fld>
            <a:endParaRPr lang="es-PE"/>
          </a:p>
        </p:txBody>
      </p:sp>
    </p:spTree>
    <p:extLst>
      <p:ext uri="{BB962C8B-B14F-4D97-AF65-F5344CB8AC3E}">
        <p14:creationId xmlns:p14="http://schemas.microsoft.com/office/powerpoint/2010/main" val="17825417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44</a:t>
            </a:fld>
            <a:endParaRPr lang="es-PE"/>
          </a:p>
        </p:txBody>
      </p:sp>
    </p:spTree>
    <p:extLst>
      <p:ext uri="{BB962C8B-B14F-4D97-AF65-F5344CB8AC3E}">
        <p14:creationId xmlns:p14="http://schemas.microsoft.com/office/powerpoint/2010/main" val="19015332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45</a:t>
            </a:fld>
            <a:endParaRPr lang="es-PE"/>
          </a:p>
        </p:txBody>
      </p:sp>
    </p:spTree>
    <p:extLst>
      <p:ext uri="{BB962C8B-B14F-4D97-AF65-F5344CB8AC3E}">
        <p14:creationId xmlns:p14="http://schemas.microsoft.com/office/powerpoint/2010/main" val="17149868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46</a:t>
            </a:fld>
            <a:endParaRPr lang="es-PE"/>
          </a:p>
        </p:txBody>
      </p:sp>
    </p:spTree>
    <p:extLst>
      <p:ext uri="{BB962C8B-B14F-4D97-AF65-F5344CB8AC3E}">
        <p14:creationId xmlns:p14="http://schemas.microsoft.com/office/powerpoint/2010/main" val="41768636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47</a:t>
            </a:fld>
            <a:endParaRPr lang="es-PE"/>
          </a:p>
        </p:txBody>
      </p:sp>
    </p:spTree>
    <p:extLst>
      <p:ext uri="{BB962C8B-B14F-4D97-AF65-F5344CB8AC3E}">
        <p14:creationId xmlns:p14="http://schemas.microsoft.com/office/powerpoint/2010/main" val="30845182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48</a:t>
            </a:fld>
            <a:endParaRPr lang="es-PE"/>
          </a:p>
        </p:txBody>
      </p:sp>
    </p:spTree>
    <p:extLst>
      <p:ext uri="{BB962C8B-B14F-4D97-AF65-F5344CB8AC3E}">
        <p14:creationId xmlns:p14="http://schemas.microsoft.com/office/powerpoint/2010/main" val="10444944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pPr marL="0" indent="0" rtl="0">
              <a:buFont typeface="+mj-lt"/>
              <a:buNone/>
            </a:pPr>
            <a:endParaRPr lang="es-PE" sz="1200" b="0" dirty="0">
              <a:effectLst/>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49</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s-PE" sz="1200" kern="1200" dirty="0">
                <a:solidFill>
                  <a:schemeClr val="tx1"/>
                </a:solidFill>
                <a:effectLst/>
                <a:latin typeface="Arial" panose="020B0604020202020204" pitchFamily="34" charset="0"/>
                <a:ea typeface="+mn-ea"/>
                <a:cs typeface="Arial" panose="020B0604020202020204" pitchFamily="34" charset="0"/>
              </a:rPr>
              <a:t> </a:t>
            </a:r>
          </a:p>
          <a:p>
            <a:endParaRPr lang="es-PE" sz="1200"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50</a:t>
            </a:fld>
            <a:endParaRPr lang="es-PE"/>
          </a:p>
        </p:txBody>
      </p:sp>
    </p:spTree>
    <p:extLst>
      <p:ext uri="{BB962C8B-B14F-4D97-AF65-F5344CB8AC3E}">
        <p14:creationId xmlns:p14="http://schemas.microsoft.com/office/powerpoint/2010/main" val="18490434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Diapo_Título">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78499219-B93F-4121-95B0-FD263CAAD2EC}"/>
              </a:ext>
            </a:extLst>
          </p:cNvPr>
          <p:cNvCxnSpPr/>
          <p:nvPr userDrawn="1"/>
        </p:nvCxnSpPr>
        <p:spPr>
          <a:xfrm>
            <a:off x="3056456" y="1742381"/>
            <a:ext cx="0" cy="792000"/>
          </a:xfrm>
          <a:prstGeom prst="line">
            <a:avLst/>
          </a:prstGeom>
          <a:ln w="3810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0" name="Marcador de texto 9">
            <a:extLst>
              <a:ext uri="{FF2B5EF4-FFF2-40B4-BE49-F238E27FC236}">
                <a16:creationId xmlns:a16="http://schemas.microsoft.com/office/drawing/2014/main" id="{07A93BC5-4242-4AEF-86D2-025896BBFF94}"/>
              </a:ext>
            </a:extLst>
          </p:cNvPr>
          <p:cNvSpPr>
            <a:spLocks noGrp="1"/>
          </p:cNvSpPr>
          <p:nvPr>
            <p:ph type="body" sz="quarter" idx="10" hasCustomPrompt="1"/>
          </p:nvPr>
        </p:nvSpPr>
        <p:spPr>
          <a:xfrm>
            <a:off x="3151256" y="1466837"/>
            <a:ext cx="5524431" cy="1065212"/>
          </a:xfrm>
          <a:prstGeom prst="rect">
            <a:avLst/>
          </a:prstGeom>
        </p:spPr>
        <p:txBody>
          <a:bodyPr lIns="36000" tIns="0" rIns="36000" bIns="0" anchor="b"/>
          <a:lstStyle>
            <a:lvl1pPr marL="0" indent="0">
              <a:lnSpc>
                <a:spcPct val="85000"/>
              </a:lnSpc>
              <a:buNone/>
              <a:defRPr sz="3600" b="1" spc="-1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p>
        </p:txBody>
      </p:sp>
      <p:sp>
        <p:nvSpPr>
          <p:cNvPr id="12" name="Marcador de texto 11">
            <a:extLst>
              <a:ext uri="{FF2B5EF4-FFF2-40B4-BE49-F238E27FC236}">
                <a16:creationId xmlns:a16="http://schemas.microsoft.com/office/drawing/2014/main" id="{7F024871-2FC3-48CA-9CA6-981F63452D4D}"/>
              </a:ext>
            </a:extLst>
          </p:cNvPr>
          <p:cNvSpPr>
            <a:spLocks noGrp="1"/>
          </p:cNvSpPr>
          <p:nvPr>
            <p:ph type="body" sz="quarter" idx="11" hasCustomPrompt="1"/>
          </p:nvPr>
        </p:nvSpPr>
        <p:spPr>
          <a:xfrm>
            <a:off x="3151257" y="2571394"/>
            <a:ext cx="5524430" cy="216000"/>
          </a:xfrm>
          <a:prstGeom prst="rect">
            <a:avLst/>
          </a:prstGeom>
          <a:solidFill>
            <a:schemeClr val="bg1"/>
          </a:solidFill>
        </p:spPr>
        <p:txBody>
          <a:bodyPr lIns="36000" tIns="0" rIns="36000" bIns="0" anchor="ctr"/>
          <a:lstStyle>
            <a:lvl1pPr marL="0" indent="0">
              <a:lnSpc>
                <a:spcPct val="85000"/>
              </a:lnSpc>
              <a:spcBef>
                <a:spcPts val="0"/>
              </a:spcBef>
              <a:buNone/>
              <a:defRPr sz="1400" b="1" spc="-100" baseline="0">
                <a:solidFill>
                  <a:srgbClr val="1F85A6"/>
                </a:solidFill>
              </a:defRPr>
            </a:lvl1pPr>
          </a:lstStyle>
          <a:p>
            <a:pPr lvl="0"/>
            <a:r>
              <a:rPr lang="es-ES" dirty="0"/>
              <a:t>HAGA CLIC PARA MODIFICAR LOS ESTILOS DE TEXTO DEL PATRÓN</a:t>
            </a:r>
            <a:endParaRPr lang="es-PE" dirty="0"/>
          </a:p>
        </p:txBody>
      </p:sp>
      <p:sp>
        <p:nvSpPr>
          <p:cNvPr id="14" name="Marcador de texto 13">
            <a:extLst>
              <a:ext uri="{FF2B5EF4-FFF2-40B4-BE49-F238E27FC236}">
                <a16:creationId xmlns:a16="http://schemas.microsoft.com/office/drawing/2014/main" id="{909CBA01-1C97-4D7F-AC89-2F7E2CE7AE1E}"/>
              </a:ext>
            </a:extLst>
          </p:cNvPr>
          <p:cNvSpPr>
            <a:spLocks noGrp="1"/>
          </p:cNvSpPr>
          <p:nvPr>
            <p:ph type="body" sz="quarter" idx="12"/>
          </p:nvPr>
        </p:nvSpPr>
        <p:spPr>
          <a:xfrm>
            <a:off x="3151257" y="3149152"/>
            <a:ext cx="5524430" cy="1584325"/>
          </a:xfrm>
          <a:prstGeom prst="rect">
            <a:avLst/>
          </a:prstGeom>
        </p:spPr>
        <p:txBody>
          <a:bodyPr/>
          <a:lstStyle>
            <a:lvl1pPr marL="266700" indent="-266700" algn="just">
              <a:spcBef>
                <a:spcPts val="0"/>
              </a:spcBef>
              <a:buSzPct val="75000"/>
              <a:buFont typeface="Wingdings" panose="05000000000000000000" pitchFamily="2" charset="2"/>
              <a:buChar char="q"/>
              <a:defRPr sz="1600">
                <a:solidFill>
                  <a:schemeClr val="bg1"/>
                </a:solidFill>
              </a:defRPr>
            </a:lvl1pPr>
          </a:lstStyle>
          <a:p>
            <a:pPr lvl="0"/>
            <a:r>
              <a:rPr lang="es-ES" dirty="0"/>
              <a:t>Haga clic para modificar los estilos de texto del patrón</a:t>
            </a:r>
            <a:endParaRPr lang="es-PE" dirty="0"/>
          </a:p>
        </p:txBody>
      </p:sp>
      <p:sp>
        <p:nvSpPr>
          <p:cNvPr id="16" name="Marcador de texto 15">
            <a:extLst>
              <a:ext uri="{FF2B5EF4-FFF2-40B4-BE49-F238E27FC236}">
                <a16:creationId xmlns:a16="http://schemas.microsoft.com/office/drawing/2014/main" id="{98ED8DBD-5592-4A8D-8BF5-1D169AA4AE08}"/>
              </a:ext>
            </a:extLst>
          </p:cNvPr>
          <p:cNvSpPr>
            <a:spLocks noGrp="1"/>
          </p:cNvSpPr>
          <p:nvPr>
            <p:ph type="body" sz="quarter" idx="13"/>
          </p:nvPr>
        </p:nvSpPr>
        <p:spPr>
          <a:xfrm>
            <a:off x="2051281" y="1782566"/>
            <a:ext cx="910376" cy="914400"/>
          </a:xfrm>
          <a:prstGeom prst="rect">
            <a:avLst/>
          </a:prstGeom>
        </p:spPr>
        <p:txBody>
          <a:bodyPr lIns="0" tIns="0" rIns="0" bIns="0"/>
          <a:lstStyle>
            <a:lvl1pPr marL="0" indent="0" algn="ctr">
              <a:buNone/>
              <a:defRPr sz="58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endParaRPr lang="es-PE" dirty="0"/>
          </a:p>
        </p:txBody>
      </p:sp>
      <p:sp>
        <p:nvSpPr>
          <p:cNvPr id="19" name="CuadroTexto 18">
            <a:extLst>
              <a:ext uri="{FF2B5EF4-FFF2-40B4-BE49-F238E27FC236}">
                <a16:creationId xmlns:a16="http://schemas.microsoft.com/office/drawing/2014/main" id="{3B086266-9338-4415-8002-5AA0BBD87E06}"/>
              </a:ext>
            </a:extLst>
          </p:cNvPr>
          <p:cNvSpPr txBox="1"/>
          <p:nvPr userDrawn="1"/>
        </p:nvSpPr>
        <p:spPr>
          <a:xfrm>
            <a:off x="2051281" y="1615590"/>
            <a:ext cx="910376" cy="369332"/>
          </a:xfrm>
          <a:prstGeom prst="rect">
            <a:avLst/>
          </a:prstGeom>
          <a:noFill/>
        </p:spPr>
        <p:txBody>
          <a:bodyPr wrap="square" rtlCol="0">
            <a:spAutoFit/>
          </a:bodyPr>
          <a:lstStyle/>
          <a:p>
            <a:pPr algn="ctr"/>
            <a:r>
              <a:rPr lang="es-PE" dirty="0">
                <a:solidFill>
                  <a:schemeClr val="bg1"/>
                </a:solidFill>
              </a:rPr>
              <a:t>SESIÓN</a:t>
            </a:r>
          </a:p>
        </p:txBody>
      </p:sp>
    </p:spTree>
    <p:extLst>
      <p:ext uri="{BB962C8B-B14F-4D97-AF65-F5344CB8AC3E}">
        <p14:creationId xmlns:p14="http://schemas.microsoft.com/office/powerpoint/2010/main" val="1840211312"/>
      </p:ext>
    </p:extLst>
  </p:cSld>
  <p:clrMapOvr>
    <a:masterClrMapping/>
  </p:clrMapOvr>
  <p:extLst>
    <p:ext uri="{DCECCB84-F9BA-43D5-87BE-67443E8EF086}">
      <p15:sldGuideLst xmlns:p15="http://schemas.microsoft.com/office/powerpoint/2012/main">
        <p15:guide id="1" pos="5465" userDrawn="1">
          <p15:clr>
            <a:srgbClr val="FBAE40"/>
          </p15:clr>
        </p15:guide>
        <p15:guide id="2" pos="197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_Introduccion">
    <p:bg>
      <p:bgPr>
        <a:solidFill>
          <a:schemeClr val="bg1">
            <a:lumMod val="95000"/>
          </a:schemeClr>
        </a:solid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DEFFC524-5204-4B8D-AB52-89B3D97070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schemeClr val="tx1"/>
                </a:solidFill>
                <a:effectLst/>
                <a:uLnTx/>
                <a:uFillTx/>
                <a:latin typeface="Calibri"/>
                <a:ea typeface="+mn-ea"/>
                <a:cs typeface="+mn-cs"/>
              </a:rPr>
              <a:t>INTRODUCCIÓN</a:t>
            </a:r>
          </a:p>
        </p:txBody>
      </p:sp>
      <p:pic>
        <p:nvPicPr>
          <p:cNvPr id="3" name="Imagen 2">
            <a:extLst>
              <a:ext uri="{FF2B5EF4-FFF2-40B4-BE49-F238E27FC236}">
                <a16:creationId xmlns:a16="http://schemas.microsoft.com/office/drawing/2014/main" id="{949F8A1D-5EEE-42EF-A95B-31789C550AC2}"/>
              </a:ext>
            </a:extLst>
          </p:cNvPr>
          <p:cNvPicPr>
            <a:picLocks noChangeAspect="1"/>
          </p:cNvPicPr>
          <p:nvPr userDrawn="1"/>
        </p:nvPicPr>
        <p:blipFill>
          <a:blip r:embed="rId3">
            <a:alphaModFix/>
            <a:biLevel thresh="75000"/>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a:solidFill>
            <a:schemeClr val="bg1">
              <a:lumMod val="95000"/>
            </a:schemeClr>
          </a:solidFill>
        </p:spPr>
      </p:pic>
      <p:sp>
        <p:nvSpPr>
          <p:cNvPr id="8" name="Marcador de texto 7">
            <a:extLst>
              <a:ext uri="{FF2B5EF4-FFF2-40B4-BE49-F238E27FC236}">
                <a16:creationId xmlns:a16="http://schemas.microsoft.com/office/drawing/2014/main" id="{C946181C-25DC-4BDD-9928-A88184E17BFD}"/>
              </a:ext>
            </a:extLst>
          </p:cNvPr>
          <p:cNvSpPr>
            <a:spLocks noGrp="1"/>
          </p:cNvSpPr>
          <p:nvPr>
            <p:ph type="body" sz="quarter" idx="10"/>
          </p:nvPr>
        </p:nvSpPr>
        <p:spPr>
          <a:xfrm>
            <a:off x="503238" y="1670050"/>
            <a:ext cx="8137525" cy="3563938"/>
          </a:xfrm>
          <a:prstGeom prst="rect">
            <a:avLst/>
          </a:prstGeom>
        </p:spPr>
        <p:txBody>
          <a:bodyPr/>
          <a:lstStyle>
            <a:lvl1pPr marL="266700" indent="-266700" algn="just">
              <a:lnSpc>
                <a:spcPct val="100000"/>
              </a:lnSpc>
              <a:spcBef>
                <a:spcPts val="0"/>
              </a:spcBef>
              <a:spcAft>
                <a:spcPts val="1200"/>
              </a:spcAft>
              <a:buSzPct val="75000"/>
              <a:buFont typeface="Wingdings" panose="05000000000000000000" pitchFamily="2" charset="2"/>
              <a:buChar char="q"/>
              <a:defRPr sz="1600"/>
            </a:lvl1pPr>
            <a:lvl2pPr marL="531813" indent="-265113" algn="just">
              <a:lnSpc>
                <a:spcPct val="100000"/>
              </a:lnSpc>
              <a:spcBef>
                <a:spcPts val="0"/>
              </a:spcBef>
              <a:spcAft>
                <a:spcPts val="1200"/>
              </a:spcAft>
              <a:buFont typeface="Delius" panose="02000603000000000000" pitchFamily="2" charset="0"/>
              <a:buChar char="→"/>
              <a:defRPr sz="1600"/>
            </a:lvl2pPr>
            <a:lvl3pPr marL="717550" indent="-185738" algn="just">
              <a:lnSpc>
                <a:spcPct val="100000"/>
              </a:lnSpc>
              <a:spcBef>
                <a:spcPts val="0"/>
              </a:spcBef>
              <a:spcAft>
                <a:spcPts val="1200"/>
              </a:spcAft>
              <a:buFont typeface="Wingdings" panose="05000000000000000000" pitchFamily="2" charset="2"/>
              <a:buChar char="§"/>
              <a:defRPr sz="1600"/>
            </a:lvl3pPr>
            <a:lvl4pPr>
              <a:lnSpc>
                <a:spcPct val="85000"/>
              </a:lnSpc>
              <a:spcBef>
                <a:spcPts val="0"/>
              </a:spcBef>
              <a:spcAft>
                <a:spcPts val="1200"/>
              </a:spcAft>
              <a:defRPr sz="1600"/>
            </a:lvl4pPr>
            <a:lvl5pPr>
              <a:lnSpc>
                <a:spcPct val="85000"/>
              </a:lnSpc>
              <a:spcBef>
                <a:spcPts val="0"/>
              </a:spcBef>
              <a:spcAft>
                <a:spcPts val="1200"/>
              </a:spcAft>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custDataLst>
      <p:tags r:id="rId1"/>
    </p:custDataLst>
    <p:extLst>
      <p:ext uri="{BB962C8B-B14F-4D97-AF65-F5344CB8AC3E}">
        <p14:creationId xmlns:p14="http://schemas.microsoft.com/office/powerpoint/2010/main" val="4023211956"/>
      </p:ext>
    </p:extLst>
  </p:cSld>
  <p:clrMapOvr>
    <a:masterClrMapping/>
  </p:clrMapOvr>
  <p:extLst>
    <p:ext uri="{DCECCB84-F9BA-43D5-87BE-67443E8EF086}">
      <p15:sldGuideLst xmlns:p15="http://schemas.microsoft.com/office/powerpoint/2012/main">
        <p15:guide id="1" orient="horz" pos="1052" userDrawn="1">
          <p15:clr>
            <a:srgbClr val="FBAE40"/>
          </p15:clr>
        </p15:guide>
        <p15:guide id="2" pos="317" userDrawn="1">
          <p15:clr>
            <a:srgbClr val="FBAE40"/>
          </p15:clr>
        </p15:guide>
        <p15:guide id="3" pos="5443" userDrawn="1">
          <p15:clr>
            <a:srgbClr val="FBAE40"/>
          </p15:clr>
        </p15:guide>
        <p15:guide id="4" orient="horz" pos="3297"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_Subtema con Imagen Horizontal (blanco)">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2867600"/>
            <a:ext cx="8208000" cy="2394000"/>
          </a:xfrm>
          <a:prstGeom prst="rect">
            <a:avLst/>
          </a:prstGeom>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8208000"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6AB609E-19B2-43F3-94FB-608EEAC4D4C8}"/>
              </a:ext>
            </a:extLst>
          </p:cNvPr>
          <p:cNvSpPr>
            <a:spLocks noGrp="1"/>
          </p:cNvSpPr>
          <p:nvPr>
            <p:ph type="body" sz="quarter" idx="14"/>
          </p:nvPr>
        </p:nvSpPr>
        <p:spPr>
          <a:xfrm>
            <a:off x="468313" y="1182025"/>
            <a:ext cx="8207375" cy="1674000"/>
          </a:xfrm>
          <a:prstGeom prst="rect">
            <a:avLst/>
          </a:prstGeom>
        </p:spPr>
        <p:txBody>
          <a:bodyPr/>
          <a:lstStyle>
            <a:lvl1pPr marL="266700" indent="-266700" algn="just">
              <a:spcBef>
                <a:spcPts val="0"/>
              </a:spcBef>
              <a:spcAft>
                <a:spcPts val="800"/>
              </a:spcAft>
              <a:buSzPct val="75000"/>
              <a:buFont typeface="Wingdings" panose="05000000000000000000" pitchFamily="2" charset="2"/>
              <a:buChar char="q"/>
              <a:defRPr sz="1600"/>
            </a:lvl1pPr>
            <a:lvl2pPr marL="531813" indent="-265113" algn="just">
              <a:spcBef>
                <a:spcPts val="0"/>
              </a:spcBef>
              <a:spcAft>
                <a:spcPts val="800"/>
              </a:spcAft>
              <a:buFont typeface="Delius" panose="02000603000000000000" pitchFamily="2" charset="0"/>
              <a:buChar char="→"/>
              <a:defRPr sz="1600"/>
            </a:lvl2pPr>
            <a:lvl3pPr marL="717550" indent="-185738" algn="just">
              <a:spcBef>
                <a:spcPts val="0"/>
              </a:spcBef>
              <a:spcAft>
                <a:spcPts val="800"/>
              </a:spcAft>
              <a:buFont typeface="Wingdings" panose="05000000000000000000" pitchFamily="2" charset="2"/>
              <a:buChar char="§"/>
              <a:defRPr sz="1600"/>
            </a:lvl3pPr>
            <a:lvl4pPr>
              <a:defRPr sz="1600"/>
            </a:lvl4pPr>
            <a:lvl5pPr>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611824996"/>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_Subtema con Imagen Vertica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595149" y="816438"/>
            <a:ext cx="4086000" cy="4446000"/>
          </a:xfrm>
          <a:prstGeom prst="rect">
            <a:avLst/>
          </a:prstGeom>
        </p:spPr>
        <p:txBody>
          <a:bodyPr anchor="ctr"/>
          <a:lstStyle>
            <a:lvl1pPr marL="0" indent="0" algn="ctr">
              <a:buNone/>
              <a:defRPr/>
            </a:lvl1pPr>
          </a:lstStyle>
          <a:p>
            <a:endParaRPr lang="es-PE" dirty="0"/>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4103687"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FD04F222-EEB2-4557-8D4B-D05354FCD8C6}"/>
              </a:ext>
            </a:extLst>
          </p:cNvPr>
          <p:cNvSpPr>
            <a:spLocks noGrp="1"/>
          </p:cNvSpPr>
          <p:nvPr>
            <p:ph type="body" sz="quarter" idx="14"/>
          </p:nvPr>
        </p:nvSpPr>
        <p:spPr>
          <a:xfrm>
            <a:off x="468313" y="1158875"/>
            <a:ext cx="4103687" cy="4111625"/>
          </a:xfrm>
          <a:prstGeom prst="rect">
            <a:avLst/>
          </a:prstGeom>
        </p:spPr>
        <p:txBody>
          <a:bodyPr/>
          <a:lstStyle>
            <a:lvl1pPr marL="266700" indent="-266700" algn="just">
              <a:spcBef>
                <a:spcPts val="0"/>
              </a:spcBef>
              <a:spcAft>
                <a:spcPts val="1200"/>
              </a:spcAft>
              <a:buSzPct val="75000"/>
              <a:buFont typeface="Wingdings" panose="05000000000000000000" pitchFamily="2" charset="2"/>
              <a:buChar char="q"/>
              <a:defRPr sz="1600"/>
            </a:lvl1pPr>
            <a:lvl2pPr marL="531813" indent="-265113" algn="just">
              <a:spcBef>
                <a:spcPts val="0"/>
              </a:spcBef>
              <a:spcAft>
                <a:spcPts val="1200"/>
              </a:spcAft>
              <a:buFont typeface="Delius" panose="02000603000000000000" pitchFamily="2" charset="0"/>
              <a:buChar char="→"/>
              <a:defRPr sz="1600"/>
            </a:lvl2pPr>
            <a:lvl3pPr marL="717550" indent="-185738" algn="just">
              <a:spcBef>
                <a:spcPts val="0"/>
              </a:spcBef>
              <a:spcAft>
                <a:spcPts val="1200"/>
              </a:spcAft>
              <a:buFont typeface="Wingdings" panose="05000000000000000000" pitchFamily="2" charset="2"/>
              <a:buChar char="§"/>
              <a:defRPr sz="1600"/>
            </a:lvl3pPr>
            <a:lvl4pPr>
              <a:spcBef>
                <a:spcPts val="0"/>
              </a:spcBef>
              <a:defRPr sz="1600"/>
            </a:lvl4pPr>
            <a:lvl5pPr>
              <a:spcBef>
                <a:spcPts val="0"/>
              </a:spcBef>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941359410"/>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3" orient="horz" pos="1800" userDrawn="1">
          <p15:clr>
            <a:srgbClr val="FBAE40"/>
          </p15:clr>
        </p15:guide>
        <p15:guide id="4" orient="horz" pos="507" userDrawn="1">
          <p15:clr>
            <a:srgbClr val="FBAE40"/>
          </p15:clr>
        </p15:guide>
        <p15:guide id="5" orient="horz" pos="3320" userDrawn="1">
          <p15:clr>
            <a:srgbClr val="FBAE40"/>
          </p15:clr>
        </p15:guide>
        <p15:guide id="6"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_Subtema con Imagen Horizontal (gris)">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2867600"/>
            <a:ext cx="8208000" cy="2394000"/>
          </a:xfrm>
          <a:prstGeom prst="rect">
            <a:avLst/>
          </a:prstGeom>
          <a:solidFill>
            <a:schemeClr val="accent4">
              <a:lumMod val="20000"/>
              <a:lumOff val="80000"/>
            </a:schemeClr>
          </a:solidFill>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5724000"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6AB609E-19B2-43F3-94FB-608EEAC4D4C8}"/>
              </a:ext>
            </a:extLst>
          </p:cNvPr>
          <p:cNvSpPr>
            <a:spLocks noGrp="1"/>
          </p:cNvSpPr>
          <p:nvPr>
            <p:ph type="body" sz="quarter" idx="14"/>
          </p:nvPr>
        </p:nvSpPr>
        <p:spPr>
          <a:xfrm>
            <a:off x="468313" y="1182025"/>
            <a:ext cx="8207375" cy="1674000"/>
          </a:xfrm>
          <a:prstGeom prst="rect">
            <a:avLst/>
          </a:prstGeom>
          <a:solidFill>
            <a:schemeClr val="accent4">
              <a:lumMod val="20000"/>
              <a:lumOff val="80000"/>
            </a:schemeClr>
          </a:solidFill>
        </p:spPr>
        <p:txBody>
          <a:bodyPr numCol="3"/>
          <a:lstStyle>
            <a:lvl1pPr marL="173038" indent="-173038" algn="l">
              <a:spcBef>
                <a:spcPts val="0"/>
              </a:spcBef>
              <a:spcAft>
                <a:spcPts val="200"/>
              </a:spcAft>
              <a:buSzPct val="75000"/>
              <a:buFont typeface="Wingdings" panose="05000000000000000000" pitchFamily="2" charset="2"/>
              <a:buChar char="§"/>
              <a:defRPr sz="1400"/>
            </a:lvl1pPr>
            <a:lvl2pPr marL="531813" indent="-265113" algn="just">
              <a:spcBef>
                <a:spcPts val="0"/>
              </a:spcBef>
              <a:spcAft>
                <a:spcPts val="800"/>
              </a:spcAft>
              <a:buFont typeface="Wingdings" panose="05000000000000000000" pitchFamily="2" charset="2"/>
              <a:buChar char="§"/>
              <a:defRPr sz="1400"/>
            </a:lvl2pPr>
            <a:lvl3pPr marL="717550" indent="-185738" algn="just">
              <a:spcBef>
                <a:spcPts val="0"/>
              </a:spcBef>
              <a:spcAft>
                <a:spcPts val="800"/>
              </a:spcAft>
              <a:buFont typeface="Wingdings" panose="05000000000000000000" pitchFamily="2" charset="2"/>
              <a:buChar char="§"/>
              <a:defRPr sz="1400"/>
            </a:lvl3pPr>
            <a:lvl4pPr>
              <a:defRPr sz="1600"/>
            </a:lvl4pPr>
            <a:lvl5pPr>
              <a:defRPr sz="1600"/>
            </a:lvl5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66C3FB06-AEFF-9166-C6DD-B8FA2AD57863}"/>
              </a:ext>
            </a:extLst>
          </p:cNvPr>
          <p:cNvSpPr>
            <a:spLocks noGrp="1"/>
          </p:cNvSpPr>
          <p:nvPr>
            <p:ph type="body" sz="quarter" idx="15" hasCustomPrompt="1"/>
          </p:nvPr>
        </p:nvSpPr>
        <p:spPr>
          <a:xfrm>
            <a:off x="6319838" y="804863"/>
            <a:ext cx="2359025" cy="377825"/>
          </a:xfrm>
          <a:prstGeom prst="rect">
            <a:avLst/>
          </a:prstGeom>
        </p:spPr>
        <p:txBody>
          <a:bodyPr/>
          <a:lstStyle>
            <a:lvl1pPr marL="0" indent="0" algn="r">
              <a:spcBef>
                <a:spcPts val="0"/>
              </a:spcBef>
              <a:buNone/>
              <a:defRPr sz="2000" b="1" i="1">
                <a:solidFill>
                  <a:srgbClr val="1F85A6"/>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4076242012"/>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n FUL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804863"/>
            <a:ext cx="8208000" cy="4456737"/>
          </a:xfrm>
          <a:prstGeom prst="rect">
            <a:avLst/>
          </a:prstGeom>
          <a:solidFill>
            <a:schemeClr val="accent4">
              <a:lumMod val="20000"/>
              <a:lumOff val="80000"/>
            </a:schemeClr>
          </a:solidFill>
        </p:spPr>
        <p:txBody>
          <a:bodyPr anchor="ctr"/>
          <a:lstStyle>
            <a:lvl1pPr marL="0" indent="0" algn="ctr">
              <a:buNone/>
              <a:defRPr/>
            </a:lvl1pPr>
          </a:lstStyle>
          <a:p>
            <a:endParaRPr lang="es-PE"/>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2413357306"/>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apo_Subtema con Imagen FUL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68313" y="1193600"/>
            <a:ext cx="8207375" cy="4068000"/>
          </a:xfrm>
          <a:prstGeom prst="rect">
            <a:avLst/>
          </a:prstGeom>
        </p:spPr>
        <p:txBody>
          <a:bodyPr anchor="ctr"/>
          <a:lstStyle>
            <a:lvl1pPr marL="0" indent="0" algn="ctr">
              <a:buNone/>
              <a:defRPr/>
            </a:lvl1pPr>
          </a:lstStyle>
          <a:p>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ABA448E1-A688-00A1-4209-9A9B21FA2758}"/>
              </a:ext>
            </a:extLst>
          </p:cNvPr>
          <p:cNvSpPr>
            <a:spLocks noGrp="1"/>
          </p:cNvSpPr>
          <p:nvPr>
            <p:ph type="body" sz="quarter" idx="14" hasCustomPrompt="1"/>
          </p:nvPr>
        </p:nvSpPr>
        <p:spPr>
          <a:xfrm>
            <a:off x="468313" y="804863"/>
            <a:ext cx="8207375" cy="354012"/>
          </a:xfrm>
          <a:prstGeom prst="rect">
            <a:avLst/>
          </a:prstGeom>
        </p:spPr>
        <p:txBody>
          <a:bodyPr/>
          <a:lstStyle>
            <a:lvl1pPr marL="0" indent="0">
              <a:buNone/>
              <a:defRPr sz="1600" b="1"/>
            </a:lvl1pPr>
          </a:lstStyle>
          <a:p>
            <a:pPr lvl="0"/>
            <a:r>
              <a:rPr lang="es-ES" dirty="0"/>
              <a:t>HAGA CLIC PARA MODIFICAR LOS ESTILOS DE TEXTO</a:t>
            </a:r>
            <a:endParaRPr lang="es-PE" dirty="0"/>
          </a:p>
        </p:txBody>
      </p:sp>
    </p:spTree>
    <p:extLst>
      <p:ext uri="{BB962C8B-B14F-4D97-AF65-F5344CB8AC3E}">
        <p14:creationId xmlns:p14="http://schemas.microsoft.com/office/powerpoint/2010/main" val="3703842985"/>
      </p:ext>
    </p:extLst>
  </p:cSld>
  <p:clrMapOvr>
    <a:masterClrMapping/>
  </p:clrMapOvr>
  <p:extLst>
    <p:ext uri="{DCECCB84-F9BA-43D5-87BE-67443E8EF086}">
      <p15:sldGuideLst xmlns:p15="http://schemas.microsoft.com/office/powerpoint/2012/main">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apo_Subtema">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4BD03D13-5E01-42D6-AEF1-E185D3674B02}"/>
              </a:ext>
            </a:extLst>
          </p:cNvPr>
          <p:cNvSpPr>
            <a:spLocks noGrp="1"/>
          </p:cNvSpPr>
          <p:nvPr>
            <p:ph type="body" sz="quarter" idx="10" hasCustomPrompt="1"/>
          </p:nvPr>
        </p:nvSpPr>
        <p:spPr>
          <a:xfrm>
            <a:off x="468314" y="3714841"/>
            <a:ext cx="5543549" cy="810087"/>
          </a:xfrm>
          <a:prstGeom prst="rect">
            <a:avLst/>
          </a:prstGeom>
        </p:spPr>
        <p:txBody>
          <a:bodyPr/>
          <a:lstStyle>
            <a:lvl1pPr marL="266700" indent="-266700">
              <a:lnSpc>
                <a:spcPct val="85000"/>
              </a:lnSpc>
              <a:spcBef>
                <a:spcPts val="0"/>
              </a:spcBef>
              <a:buNone/>
              <a:tabLst>
                <a:tab pos="266700" algn="l"/>
              </a:tabLst>
              <a:defRPr sz="2800" b="1">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1383085110"/>
      </p:ext>
    </p:extLst>
  </p:cSld>
  <p:clrMapOvr>
    <a:masterClrMapping/>
  </p:clrMapOvr>
  <p:extLst>
    <p:ext uri="{DCECCB84-F9BA-43D5-87BE-67443E8EF086}">
      <p15:sldGuideLst xmlns:p15="http://schemas.microsoft.com/office/powerpoint/2012/main">
        <p15:guide id="1" pos="295" userDrawn="1">
          <p15:clr>
            <a:srgbClr val="FBAE40"/>
          </p15:clr>
        </p15:guide>
        <p15:guide id="2" pos="3787"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_Bibliografí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BIBLIOGRAFÍA</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049"/>
            <a:ext cx="7713398" cy="3527425"/>
          </a:xfrm>
          <a:prstGeom prst="rect">
            <a:avLst/>
          </a:prstGeom>
        </p:spPr>
        <p:txBody>
          <a:bodyPr lIns="0" tIns="0" rIns="0" bIns="0"/>
          <a:lstStyle>
            <a:lvl1pPr marL="266700" indent="-266700" algn="just">
              <a:lnSpc>
                <a:spcPct val="85000"/>
              </a:lnSpc>
              <a:spcBef>
                <a:spcPts val="0"/>
              </a:spcBef>
              <a:spcAft>
                <a:spcPts val="1200"/>
              </a:spcAft>
              <a:buFont typeface="Wingdings" panose="05000000000000000000" pitchFamily="2" charset="2"/>
              <a:buChar char="§"/>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3210332040"/>
      </p:ext>
    </p:extLst>
  </p:cSld>
  <p:clrMapOvr>
    <a:masterClrMapping/>
  </p:clrMapOvr>
  <p:extLst>
    <p:ext uri="{DCECCB84-F9BA-43D5-87BE-67443E8EF086}">
      <p15:sldGuideLst xmlns:p15="http://schemas.microsoft.com/office/powerpoint/2012/main">
        <p15:guide id="1" orient="horz" pos="105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apo_Conclusion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CONCLUSIONES</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909"/>
            <a:ext cx="7713398" cy="3526566"/>
          </a:xfrm>
          <a:prstGeom prst="rect">
            <a:avLst/>
          </a:prstGeom>
        </p:spPr>
        <p:txBody>
          <a:bodyPr lIns="0" tIns="0" rIns="0" bIns="0"/>
          <a:lstStyle>
            <a:lvl1pPr marL="266700" indent="-266700" algn="just">
              <a:lnSpc>
                <a:spcPct val="85000"/>
              </a:lnSpc>
              <a:spcBef>
                <a:spcPts val="0"/>
              </a:spcBef>
              <a:spcAft>
                <a:spcPts val="1200"/>
              </a:spcAft>
              <a:buFont typeface="+mj-lt"/>
              <a:buAutoNum type="arabicPeriod"/>
              <a:tabLst/>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2798195332"/>
      </p:ext>
    </p:extLst>
  </p:cSld>
  <p:clrMapOvr>
    <a:masterClrMapping/>
  </p:clrMapOvr>
  <p:extLst>
    <p:ext uri="{DCECCB84-F9BA-43D5-87BE-67443E8EF086}">
      <p15:sldGuideLst xmlns:p15="http://schemas.microsoft.com/office/powerpoint/2012/main">
        <p15:guide id="1" orient="horz" pos="105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btema - 1 Imagen Centrada">
    <p:spTree>
      <p:nvGrpSpPr>
        <p:cNvPr id="1" name=""/>
        <p:cNvGrpSpPr/>
        <p:nvPr/>
      </p:nvGrpSpPr>
      <p:grpSpPr>
        <a:xfrm>
          <a:off x="0" y="0"/>
          <a:ext cx="0" cy="0"/>
          <a:chOff x="0" y="0"/>
          <a:chExt cx="0" cy="0"/>
        </a:xfrm>
      </p:grpSpPr>
      <p:sp>
        <p:nvSpPr>
          <p:cNvPr id="3" name="Marcador de texto 14">
            <a:extLst>
              <a:ext uri="{FF2B5EF4-FFF2-40B4-BE49-F238E27FC236}">
                <a16:creationId xmlns:a16="http://schemas.microsoft.com/office/drawing/2014/main" id="{65683288-FF9D-EF85-5303-58FF571EB5ED}"/>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posición de imagen 4">
            <a:extLst>
              <a:ext uri="{FF2B5EF4-FFF2-40B4-BE49-F238E27FC236}">
                <a16:creationId xmlns:a16="http://schemas.microsoft.com/office/drawing/2014/main" id="{5F4F4ED8-1EB9-8C4E-58AA-74C396C6650A}"/>
              </a:ext>
            </a:extLst>
          </p:cNvPr>
          <p:cNvSpPr>
            <a:spLocks noGrp="1"/>
          </p:cNvSpPr>
          <p:nvPr>
            <p:ph type="pic" sz="quarter" idx="14"/>
          </p:nvPr>
        </p:nvSpPr>
        <p:spPr>
          <a:xfrm>
            <a:off x="462987" y="804863"/>
            <a:ext cx="8212701" cy="4465637"/>
          </a:xfrm>
          <a:prstGeom prst="rect">
            <a:avLst/>
          </a:prstGeom>
        </p:spPr>
        <p:txBody>
          <a:bodyPr anchor="ctr"/>
          <a:lstStyle>
            <a:lvl1pPr marL="0" indent="0" algn="ctr">
              <a:buNone/>
              <a:defRPr/>
            </a:lvl1pPr>
          </a:lstStyle>
          <a:p>
            <a:endParaRPr lang="es-PE"/>
          </a:p>
        </p:txBody>
      </p:sp>
    </p:spTree>
    <p:extLst>
      <p:ext uri="{BB962C8B-B14F-4D97-AF65-F5344CB8AC3E}">
        <p14:creationId xmlns:p14="http://schemas.microsoft.com/office/powerpoint/2010/main" val="3026187525"/>
      </p:ext>
    </p:extLst>
  </p:cSld>
  <p:clrMapOvr>
    <a:masterClrMapping/>
  </p:clrMapOvr>
  <p:extLst>
    <p:ext uri="{DCECCB84-F9BA-43D5-87BE-67443E8EF086}">
      <p15:sldGuideLst xmlns:p15="http://schemas.microsoft.com/office/powerpoint/2012/main">
        <p15:guide id="1" pos="295" userDrawn="1">
          <p15:clr>
            <a:srgbClr val="FBAE40"/>
          </p15:clr>
        </p15:guide>
        <p15:guide id="2" pos="2880" userDrawn="1">
          <p15:clr>
            <a:srgbClr val="FBAE40"/>
          </p15:clr>
        </p15:guide>
        <p15:guide id="3" pos="5465" userDrawn="1">
          <p15:clr>
            <a:srgbClr val="FBAE40"/>
          </p15:clr>
        </p15:guide>
        <p15:guide id="4" orient="horz" pos="1800" userDrawn="1">
          <p15:clr>
            <a:srgbClr val="FBAE40"/>
          </p15:clr>
        </p15:guide>
        <p15:guide id="5" orient="horz" pos="3320" userDrawn="1">
          <p15:clr>
            <a:srgbClr val="FBAE40"/>
          </p15:clr>
        </p15:guide>
        <p15:guide id="6" orient="horz" pos="507"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793745" y="5369051"/>
            <a:ext cx="8104595" cy="215444"/>
            <a:chOff x="793745" y="5369051"/>
            <a:chExt cx="7954689" cy="215444"/>
          </a:xfrm>
        </p:grpSpPr>
        <p:sp>
          <p:nvSpPr>
            <p:cNvPr id="16" name="TextBox 7"/>
            <p:cNvSpPr txBox="1"/>
            <p:nvPr userDrawn="1"/>
          </p:nvSpPr>
          <p:spPr>
            <a:xfrm>
              <a:off x="793745" y="5369051"/>
              <a:ext cx="1605135"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ANÁLISIS FUNCIONAL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12</a:t>
              </a:r>
              <a:endParaRPr lang="en-US" sz="800" dirty="0">
                <a:solidFill>
                  <a:schemeClr val="bg1">
                    <a:lumMod val="50000"/>
                  </a:schemeClr>
                </a:solidFill>
                <a:latin typeface="Calibri"/>
                <a:cs typeface="Calibri"/>
              </a:endParaRPr>
            </a:p>
          </p:txBody>
        </p:sp>
        <p:sp>
          <p:nvSpPr>
            <p:cNvPr id="18" name="Rectangle 3"/>
            <p:cNvSpPr/>
            <p:nvPr userDrawn="1"/>
          </p:nvSpPr>
          <p:spPr>
            <a:xfrm>
              <a:off x="7207627" y="5384440"/>
              <a:ext cx="1540807" cy="184666"/>
            </a:xfrm>
            <a:prstGeom prst="rect">
              <a:avLst/>
            </a:prstGeom>
          </p:spPr>
          <p:txBody>
            <a:bodyPr wrap="none">
              <a:spAutoFit/>
            </a:bodyPr>
            <a:lstStyle/>
            <a:p>
              <a:pPr algn="r"/>
              <a:r>
                <a:rPr lang="es-ES_tradnl" sz="600" dirty="0">
                  <a:solidFill>
                    <a:schemeClr val="bg1">
                      <a:lumMod val="50000"/>
                    </a:schemeClr>
                  </a:solidFill>
                </a:rPr>
                <a:t>© 2023 ISIL. Todos los derechos reservados</a:t>
              </a:r>
            </a:p>
          </p:txBody>
        </p:sp>
      </p:grpSp>
      <p:pic>
        <p:nvPicPr>
          <p:cNvPr id="3" name="Imagen 2"/>
          <p:cNvPicPr>
            <a:picLocks noChangeAspect="1"/>
          </p:cNvPicPr>
          <p:nvPr userDrawn="1"/>
        </p:nvPicPr>
        <p:blipFill>
          <a:blip r:embed="rId13">
            <a:alphaModFix amt="20000"/>
          </a:blip>
          <a:stretch>
            <a:fillRect/>
          </a:stretch>
        </p:blipFill>
        <p:spPr>
          <a:xfrm>
            <a:off x="345172" y="5328911"/>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62" r:id="rId1"/>
    <p:sldLayoutId id="2147483678" r:id="rId2"/>
    <p:sldLayoutId id="2147483656" r:id="rId3"/>
    <p:sldLayoutId id="2147483679" r:id="rId4"/>
    <p:sldLayoutId id="2147483680" r:id="rId5"/>
    <p:sldLayoutId id="2147483692" r:id="rId6"/>
    <p:sldLayoutId id="2147483685" r:id="rId7"/>
    <p:sldLayoutId id="2147483649" r:id="rId8"/>
    <p:sldLayoutId id="2147483669" r:id="rId9"/>
    <p:sldLayoutId id="2147483667" r:id="rId10"/>
    <p:sldLayoutId id="214748369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0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8.xml"/><Relationship Id="rId1" Type="http://schemas.openxmlformats.org/officeDocument/2006/relationships/tags" Target="../tags/tag5.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8.xml"/><Relationship Id="rId1" Type="http://schemas.openxmlformats.org/officeDocument/2006/relationships/tags" Target="../tags/tag6.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8.xml"/><Relationship Id="rId1" Type="http://schemas.openxmlformats.org/officeDocument/2006/relationships/tags" Target="../tags/tag7.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0.xml"/><Relationship Id="rId1" Type="http://schemas.openxmlformats.org/officeDocument/2006/relationships/tags" Target="../tags/tag8.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9.xml"/><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06064E9-134E-4E79-A41F-706155D9AFFA}"/>
              </a:ext>
            </a:extLst>
          </p:cNvPr>
          <p:cNvSpPr>
            <a:spLocks noGrp="1"/>
          </p:cNvSpPr>
          <p:nvPr>
            <p:ph type="body" sz="quarter" idx="10"/>
          </p:nvPr>
        </p:nvSpPr>
        <p:spPr/>
        <p:txBody>
          <a:bodyPr/>
          <a:lstStyle/>
          <a:p>
            <a:r>
              <a:rPr lang="es-PE" dirty="0"/>
              <a:t>ARQUITECTURA EMPRESARIAL</a:t>
            </a:r>
          </a:p>
        </p:txBody>
      </p:sp>
      <p:sp>
        <p:nvSpPr>
          <p:cNvPr id="12" name="Marcador de texto 11">
            <a:extLst>
              <a:ext uri="{FF2B5EF4-FFF2-40B4-BE49-F238E27FC236}">
                <a16:creationId xmlns:a16="http://schemas.microsoft.com/office/drawing/2014/main" id="{65D77B8F-E8DB-4946-B4B7-3705AAB2578C}"/>
              </a:ext>
            </a:extLst>
          </p:cNvPr>
          <p:cNvSpPr>
            <a:spLocks noGrp="1"/>
          </p:cNvSpPr>
          <p:nvPr>
            <p:ph type="body" sz="quarter" idx="11"/>
          </p:nvPr>
        </p:nvSpPr>
        <p:spPr/>
        <p:txBody>
          <a:bodyPr/>
          <a:lstStyle/>
          <a:p>
            <a:r>
              <a:rPr lang="es-PE" dirty="0"/>
              <a:t>UNIDAD DE APRENDIZAJE 4 – UA4</a:t>
            </a:r>
          </a:p>
        </p:txBody>
      </p:sp>
      <p:sp>
        <p:nvSpPr>
          <p:cNvPr id="13" name="Marcador de texto 12">
            <a:extLst>
              <a:ext uri="{FF2B5EF4-FFF2-40B4-BE49-F238E27FC236}">
                <a16:creationId xmlns:a16="http://schemas.microsoft.com/office/drawing/2014/main" id="{FA929147-F09B-4398-9DDF-DF2F7FC0C4A6}"/>
              </a:ext>
            </a:extLst>
          </p:cNvPr>
          <p:cNvSpPr>
            <a:spLocks noGrp="1"/>
          </p:cNvSpPr>
          <p:nvPr>
            <p:ph type="body" sz="quarter" idx="12"/>
          </p:nvPr>
        </p:nvSpPr>
        <p:spPr/>
        <p:txBody>
          <a:bodyPr/>
          <a:lstStyle/>
          <a:p>
            <a:pPr>
              <a:spcBef>
                <a:spcPts val="0"/>
              </a:spcBef>
            </a:pPr>
            <a:r>
              <a:rPr lang="es-PE" dirty="0"/>
              <a:t>Fundamentos BA</a:t>
            </a:r>
          </a:p>
          <a:p>
            <a:pPr>
              <a:spcBef>
                <a:spcPts val="0"/>
              </a:spcBef>
            </a:pPr>
            <a:r>
              <a:rPr lang="es-PE" dirty="0"/>
              <a:t>Componentes (Modelos: Operativo, de Gobierno, de Entrega de servicios)</a:t>
            </a:r>
          </a:p>
          <a:p>
            <a:pPr>
              <a:spcBef>
                <a:spcPts val="0"/>
              </a:spcBef>
            </a:pPr>
            <a:r>
              <a:rPr lang="es-PE" dirty="0"/>
              <a:t>Implementación de modelos</a:t>
            </a:r>
          </a:p>
          <a:p>
            <a:pPr>
              <a:spcBef>
                <a:spcPts val="0"/>
              </a:spcBef>
            </a:pPr>
            <a:r>
              <a:rPr lang="es-PE" dirty="0"/>
              <a:t>Centros de servicios compartidos</a:t>
            </a:r>
          </a:p>
        </p:txBody>
      </p:sp>
      <p:sp>
        <p:nvSpPr>
          <p:cNvPr id="10" name="Marcador de texto 9">
            <a:extLst>
              <a:ext uri="{FF2B5EF4-FFF2-40B4-BE49-F238E27FC236}">
                <a16:creationId xmlns:a16="http://schemas.microsoft.com/office/drawing/2014/main" id="{4E2E57AF-7040-42B2-BA48-4D269F79C484}"/>
              </a:ext>
            </a:extLst>
          </p:cNvPr>
          <p:cNvSpPr>
            <a:spLocks noGrp="1"/>
          </p:cNvSpPr>
          <p:nvPr>
            <p:ph type="body" sz="quarter" idx="13"/>
          </p:nvPr>
        </p:nvSpPr>
        <p:spPr/>
        <p:txBody>
          <a:bodyPr/>
          <a:lstStyle/>
          <a:p>
            <a:r>
              <a:rPr lang="es-PE" dirty="0"/>
              <a:t>12</a:t>
            </a:r>
          </a:p>
        </p:txBody>
      </p:sp>
    </p:spTree>
    <p:extLst>
      <p:ext uri="{BB962C8B-B14F-4D97-AF65-F5344CB8AC3E}">
        <p14:creationId xmlns:p14="http://schemas.microsoft.com/office/powerpoint/2010/main" val="1038867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FEDC59F-E03B-4885-ACAE-C9A127998995}"/>
              </a:ext>
            </a:extLst>
          </p:cNvPr>
          <p:cNvSpPr>
            <a:spLocks noGrp="1"/>
          </p:cNvSpPr>
          <p:nvPr>
            <p:ph type="body" sz="quarter" idx="10"/>
          </p:nvPr>
        </p:nvSpPr>
        <p:spPr>
          <a:xfrm>
            <a:off x="503238" y="1404326"/>
            <a:ext cx="8137525" cy="3563938"/>
          </a:xfrm>
          <a:prstGeom prst="rect">
            <a:avLst/>
          </a:prstGeom>
        </p:spPr>
        <p:txBody>
          <a:bodyPr/>
          <a:lstStyle/>
          <a:p>
            <a:r>
              <a:rPr lang="es-ES" dirty="0"/>
              <a:t>La arquitectura empresarial es el mapa que proporciona un entendimiento común de la organización y se usa para alinear la estrategia y los requerimientos tácticos, permitiendo analizar los efectos que tendrán las decisiones de sus directivos, mitigando riesgos y planificando las acciones correctas a ejecutar en el mejor momento para así gestionar las transformaciones que se deseen realizar.</a:t>
            </a:r>
          </a:p>
          <a:p>
            <a:pPr>
              <a:spcAft>
                <a:spcPts val="600"/>
              </a:spcAft>
            </a:pPr>
            <a:r>
              <a:rPr lang="es-ES" dirty="0"/>
              <a:t>Entonces, durante esta sesión:</a:t>
            </a:r>
          </a:p>
          <a:p>
            <a:pPr lvl="1">
              <a:spcAft>
                <a:spcPts val="600"/>
              </a:spcAft>
            </a:pPr>
            <a:r>
              <a:rPr lang="es-ES" b="1" dirty="0"/>
              <a:t>Conocerás</a:t>
            </a:r>
            <a:r>
              <a:rPr lang="es-ES" dirty="0"/>
              <a:t> los fundamentos de la arquitectura empresarial</a:t>
            </a:r>
            <a:r>
              <a:rPr lang="es-PE" dirty="0"/>
              <a:t>.</a:t>
            </a:r>
          </a:p>
          <a:p>
            <a:pPr lvl="1" algn="just">
              <a:spcAft>
                <a:spcPts val="600"/>
              </a:spcAft>
            </a:pPr>
            <a:r>
              <a:rPr lang="es-ES" b="1" dirty="0"/>
              <a:t>Aprenderás</a:t>
            </a:r>
            <a:r>
              <a:rPr lang="es-ES" dirty="0"/>
              <a:t> a identificar los componentes que integran la arquitectura empresarial (modelo operativo, modelo de gobierno, y modelo de entrega de servicios).</a:t>
            </a:r>
          </a:p>
          <a:p>
            <a:pPr lvl="1" algn="just">
              <a:spcAft>
                <a:spcPts val="600"/>
              </a:spcAft>
            </a:pPr>
            <a:r>
              <a:rPr lang="es-ES" b="1" dirty="0"/>
              <a:t>Comprenderás</a:t>
            </a:r>
            <a:r>
              <a:rPr lang="es-ES" dirty="0"/>
              <a:t> qué implica la implementación de los modelos de arquitectura empresarial.</a:t>
            </a:r>
          </a:p>
          <a:p>
            <a:pPr lvl="1">
              <a:spcAft>
                <a:spcPts val="600"/>
              </a:spcAft>
            </a:pPr>
            <a:r>
              <a:rPr lang="es-ES" b="1" dirty="0"/>
              <a:t>Conocerás</a:t>
            </a:r>
            <a:r>
              <a:rPr lang="es-ES" dirty="0"/>
              <a:t> el alcance y entorno de los centros de servicios compartidos.</a:t>
            </a:r>
          </a:p>
          <a:p>
            <a:pPr lvl="1" algn="just">
              <a:spcAft>
                <a:spcPts val="600"/>
              </a:spcAft>
            </a:pPr>
            <a:endParaRPr lang="es-PE" dirty="0"/>
          </a:p>
        </p:txBody>
      </p:sp>
    </p:spTree>
    <p:custDataLst>
      <p:tags r:id="rId1"/>
    </p:custDataLst>
    <p:extLst>
      <p:ext uri="{BB962C8B-B14F-4D97-AF65-F5344CB8AC3E}">
        <p14:creationId xmlns:p14="http://schemas.microsoft.com/office/powerpoint/2010/main" val="301215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p:txBody>
          <a:bodyPr/>
          <a:lstStyle/>
          <a:p>
            <a:pPr marL="274638" indent="-274638">
              <a:tabLst>
                <a:tab pos="274638" algn="l"/>
              </a:tabLst>
            </a:pPr>
            <a:r>
              <a:rPr lang="es-PE" dirty="0"/>
              <a:t>/	FUNDAMENTOS DE BA  (ARQUITECTURA EMPRESARIAL)</a:t>
            </a:r>
          </a:p>
        </p:txBody>
      </p:sp>
    </p:spTree>
    <p:custDataLst>
      <p:tags r:id="rId1"/>
    </p:custDataLst>
    <p:extLst>
      <p:ext uri="{BB962C8B-B14F-4D97-AF65-F5344CB8AC3E}">
        <p14:creationId xmlns:p14="http://schemas.microsoft.com/office/powerpoint/2010/main" val="310943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¿Qué es arquitectura empresarial?</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DE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517902" cy="3358417"/>
          </a:xfrm>
        </p:spPr>
        <p:txBody>
          <a:bodyPr/>
          <a:lstStyle/>
          <a:p>
            <a:r>
              <a:rPr lang="es-ES" dirty="0"/>
              <a:t>Es una </a:t>
            </a:r>
            <a:r>
              <a:rPr lang="es-ES" b="1" dirty="0"/>
              <a:t>disciplina estratégica</a:t>
            </a:r>
            <a:r>
              <a:rPr lang="es-ES" dirty="0"/>
              <a:t> que se utiliza para alinear las operaciones de negocio de una organización con su tecnología informática.</a:t>
            </a:r>
          </a:p>
          <a:p>
            <a:r>
              <a:rPr lang="es-ES" dirty="0"/>
              <a:t>Se puede considerar como un </a:t>
            </a:r>
            <a:r>
              <a:rPr lang="es-ES" b="1" dirty="0"/>
              <a:t>mapa o modelo</a:t>
            </a:r>
            <a:r>
              <a:rPr lang="es-ES" dirty="0"/>
              <a:t> que representa </a:t>
            </a:r>
            <a:r>
              <a:rPr lang="es-ES" b="1" dirty="0"/>
              <a:t>la estructura y operaciones de una organización</a:t>
            </a:r>
            <a:r>
              <a:rPr lang="es-ES" dirty="0"/>
              <a:t>. Este modelo incluye aspectos como los </a:t>
            </a:r>
            <a:r>
              <a:rPr lang="es-ES" b="1" dirty="0"/>
              <a:t>procesos de negocio</a:t>
            </a:r>
            <a:r>
              <a:rPr lang="es-ES" dirty="0"/>
              <a:t>, las </a:t>
            </a:r>
            <a:r>
              <a:rPr lang="es-ES" b="1" dirty="0"/>
              <a:t>aplicaciones</a:t>
            </a:r>
            <a:r>
              <a:rPr lang="es-ES" dirty="0"/>
              <a:t>, los </a:t>
            </a:r>
            <a:r>
              <a:rPr lang="es-ES" b="1" dirty="0"/>
              <a:t>datos</a:t>
            </a:r>
            <a:r>
              <a:rPr lang="es-ES" dirty="0"/>
              <a:t> y la </a:t>
            </a:r>
            <a:r>
              <a:rPr lang="es-ES" b="1" dirty="0"/>
              <a:t>infraestructura tecnológica</a:t>
            </a:r>
            <a:r>
              <a:rPr lang="es-ES" dirty="0"/>
              <a:t>.</a:t>
            </a:r>
          </a:p>
          <a:p>
            <a:r>
              <a:rPr lang="es-ES" dirty="0"/>
              <a:t>El propósito de este modelo es proporcionar una visión clara de </a:t>
            </a:r>
            <a:r>
              <a:rPr lang="es-ES" b="1" dirty="0"/>
              <a:t>cómo están interconectados estos aspectos</a:t>
            </a:r>
            <a:r>
              <a:rPr lang="es-ES" dirty="0"/>
              <a:t> y cómo se pueden optimizar para mejorar el rendimiento general de la empresa.</a:t>
            </a:r>
          </a:p>
        </p:txBody>
      </p:sp>
      <p:pic>
        <p:nvPicPr>
          <p:cNvPr id="4" name="Marcador de posición de imagen 3">
            <a:extLst>
              <a:ext uri="{FF2B5EF4-FFF2-40B4-BE49-F238E27FC236}">
                <a16:creationId xmlns:a16="http://schemas.microsoft.com/office/drawing/2014/main" id="{ED4D0EB8-C5B7-1CD8-60FC-8A1E0D10C251}"/>
              </a:ext>
            </a:extLst>
          </p:cNvPr>
          <p:cNvPicPr>
            <a:picLocks noGrp="1" noChangeAspect="1"/>
          </p:cNvPicPr>
          <p:nvPr>
            <p:ph type="pic" sz="quarter" idx="10"/>
          </p:nvPr>
        </p:nvPicPr>
        <p:blipFill>
          <a:blip r:embed="rId3"/>
          <a:srcRect l="349" r="349"/>
          <a:stretch>
            <a:fillRect/>
          </a:stretch>
        </p:blipFill>
        <p:spPr>
          <a:xfrm>
            <a:off x="5228080" y="1158875"/>
            <a:ext cx="3593746" cy="3910376"/>
          </a:xfrm>
        </p:spPr>
      </p:pic>
    </p:spTree>
    <p:extLst>
      <p:ext uri="{BB962C8B-B14F-4D97-AF65-F5344CB8AC3E}">
        <p14:creationId xmlns:p14="http://schemas.microsoft.com/office/powerpoint/2010/main" val="1937417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Beneficios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DE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504740" cy="4111625"/>
          </a:xfrm>
        </p:spPr>
        <p:txBody>
          <a:bodyPr/>
          <a:lstStyle/>
          <a:p>
            <a:pPr marL="177800" indent="-177800">
              <a:buFont typeface="+mj-lt"/>
              <a:buAutoNum type="arabicPeriod"/>
            </a:pPr>
            <a:r>
              <a:rPr lang="es-ES" dirty="0"/>
              <a:t>Proporciona una visión integral de la organización, permitiendo a los líderes </a:t>
            </a:r>
            <a:r>
              <a:rPr lang="es-ES" b="1" dirty="0"/>
              <a:t>tomar decisiones más informadas y estratégicas</a:t>
            </a:r>
            <a:r>
              <a:rPr lang="es-ES" dirty="0"/>
              <a:t>.</a:t>
            </a:r>
          </a:p>
          <a:p>
            <a:pPr marL="177800" indent="-177800">
              <a:buFont typeface="+mj-lt"/>
              <a:buAutoNum type="arabicPeriod"/>
            </a:pPr>
            <a:r>
              <a:rPr lang="es-ES" dirty="0"/>
              <a:t>Permite identificar redundancias, cuellos de botella y </a:t>
            </a:r>
            <a:r>
              <a:rPr lang="es-ES" b="1" dirty="0"/>
              <a:t>oportunidades de mejora en los procesos de negocio y tecnológicos</a:t>
            </a:r>
            <a:r>
              <a:rPr lang="es-ES" dirty="0"/>
              <a:t>.</a:t>
            </a:r>
          </a:p>
          <a:p>
            <a:pPr marL="177800" indent="-177800">
              <a:buFont typeface="+mj-lt"/>
              <a:buAutoNum type="arabicPeriod"/>
            </a:pPr>
            <a:r>
              <a:rPr lang="es-ES" dirty="0"/>
              <a:t>Asegura que los recursos tecnológicos y las operaciones de la empresa </a:t>
            </a:r>
            <a:r>
              <a:rPr lang="es-ES" b="1" dirty="0"/>
              <a:t>estén alineados con sus objetivos y estrategias de negocio</a:t>
            </a:r>
            <a:r>
              <a:rPr lang="es-ES" dirty="0"/>
              <a:t>.</a:t>
            </a:r>
          </a:p>
          <a:p>
            <a:pPr marL="177800" indent="-177800">
              <a:buFont typeface="+mj-lt"/>
              <a:buAutoNum type="arabicPeriod"/>
            </a:pPr>
            <a:r>
              <a:rPr lang="es-ES" dirty="0"/>
              <a:t>Al entender mejor la interdependencia entre componentes de la organización, se pueden </a:t>
            </a:r>
            <a:r>
              <a:rPr lang="es-ES" b="1" dirty="0"/>
              <a:t>identificar y gestionar mejor los riesgos</a:t>
            </a:r>
            <a:r>
              <a:rPr lang="es-ES" dirty="0"/>
              <a:t>.</a:t>
            </a:r>
          </a:p>
          <a:p>
            <a:pPr marL="177800" indent="-177800">
              <a:buFont typeface="+mj-lt"/>
              <a:buAutoNum type="arabicPeriod"/>
            </a:pPr>
            <a:r>
              <a:rPr lang="es-ES" dirty="0"/>
              <a:t>Al optimizar la utilización de los recursos, se </a:t>
            </a:r>
            <a:r>
              <a:rPr lang="es-ES" b="1" dirty="0"/>
              <a:t>mejora la eficiencia de la organización</a:t>
            </a:r>
            <a:r>
              <a:rPr lang="es-ES" dirty="0"/>
              <a:t>.</a:t>
            </a:r>
          </a:p>
        </p:txBody>
      </p:sp>
      <p:pic>
        <p:nvPicPr>
          <p:cNvPr id="4" name="Marcador de posición de imagen 3">
            <a:extLst>
              <a:ext uri="{FF2B5EF4-FFF2-40B4-BE49-F238E27FC236}">
                <a16:creationId xmlns:a16="http://schemas.microsoft.com/office/drawing/2014/main" id="{67C9794C-8738-C702-8E95-7BA025DCDF75}"/>
              </a:ext>
            </a:extLst>
          </p:cNvPr>
          <p:cNvPicPr>
            <a:picLocks noGrp="1" noChangeAspect="1"/>
          </p:cNvPicPr>
          <p:nvPr>
            <p:ph type="pic" sz="quarter" idx="10"/>
          </p:nvPr>
        </p:nvPicPr>
        <p:blipFill>
          <a:blip r:embed="rId3"/>
          <a:srcRect l="2" r="2"/>
          <a:stretch>
            <a:fillRect/>
          </a:stretch>
        </p:blipFill>
        <p:spPr>
          <a:xfrm>
            <a:off x="5281118" y="1158875"/>
            <a:ext cx="3579053" cy="3894388"/>
          </a:xfrm>
        </p:spPr>
      </p:pic>
    </p:spTree>
    <p:extLst>
      <p:ext uri="{BB962C8B-B14F-4D97-AF65-F5344CB8AC3E}">
        <p14:creationId xmlns:p14="http://schemas.microsoft.com/office/powerpoint/2010/main" val="2182561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Visión holística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DE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r>
              <a:rPr lang="es-ES" dirty="0"/>
              <a:t>En la Arquitectura Empresarial, es vital tener una visión holística de toda la organización.</a:t>
            </a:r>
          </a:p>
          <a:p>
            <a:r>
              <a:rPr lang="es-ES" dirty="0"/>
              <a:t>Esto implica comprender todas las facetas de la empresa, desde la </a:t>
            </a:r>
            <a:r>
              <a:rPr lang="es-ES" b="1" dirty="0"/>
              <a:t>estrategia</a:t>
            </a:r>
            <a:r>
              <a:rPr lang="es-ES" dirty="0"/>
              <a:t> y los </a:t>
            </a:r>
            <a:r>
              <a:rPr lang="es-ES" b="1" dirty="0"/>
              <a:t>procesos de negocio</a:t>
            </a:r>
            <a:r>
              <a:rPr lang="es-ES" dirty="0"/>
              <a:t>, hasta la </a:t>
            </a:r>
            <a:r>
              <a:rPr lang="es-ES" b="1" dirty="0"/>
              <a:t>tecnología de la información</a:t>
            </a:r>
            <a:r>
              <a:rPr lang="es-ES" dirty="0"/>
              <a:t>, la </a:t>
            </a:r>
            <a:r>
              <a:rPr lang="es-ES" b="1" dirty="0"/>
              <a:t>infraestructura</a:t>
            </a:r>
            <a:r>
              <a:rPr lang="es-ES" dirty="0"/>
              <a:t> y la </a:t>
            </a:r>
            <a:r>
              <a:rPr lang="es-ES" b="1" dirty="0"/>
              <a:t>cultura organizacional</a:t>
            </a:r>
            <a:r>
              <a:rPr lang="es-ES" dirty="0"/>
              <a:t>.</a:t>
            </a:r>
          </a:p>
          <a:p>
            <a:r>
              <a:rPr lang="es-ES" dirty="0"/>
              <a:t>Al tener una vista completa de cómo todos estos elementos interactúan entre sí, se puede identificar cómo los cambios en una área pueden impactar en otras, y se pueden tomar decisiones más informadas y estratégicas.</a:t>
            </a:r>
          </a:p>
        </p:txBody>
      </p:sp>
      <p:pic>
        <p:nvPicPr>
          <p:cNvPr id="4" name="Marcador de posición de imagen 3">
            <a:extLst>
              <a:ext uri="{FF2B5EF4-FFF2-40B4-BE49-F238E27FC236}">
                <a16:creationId xmlns:a16="http://schemas.microsoft.com/office/drawing/2014/main" id="{A22017EF-A6EE-46B5-6FA4-DC5FC48D5DBA}"/>
              </a:ext>
            </a:extLst>
          </p:cNvPr>
          <p:cNvPicPr>
            <a:picLocks noGrp="1" noChangeAspect="1"/>
          </p:cNvPicPr>
          <p:nvPr>
            <p:ph type="pic" sz="quarter" idx="10"/>
          </p:nvPr>
        </p:nvPicPr>
        <p:blipFill>
          <a:blip r:embed="rId3"/>
          <a:srcRect l="225" r="225"/>
          <a:stretch>
            <a:fillRect/>
          </a:stretch>
        </p:blipFill>
        <p:spPr>
          <a:xfrm>
            <a:off x="5003641" y="1166937"/>
            <a:ext cx="3771291" cy="4103563"/>
          </a:xfrm>
        </p:spPr>
      </p:pic>
    </p:spTree>
    <p:extLst>
      <p:ext uri="{BB962C8B-B14F-4D97-AF65-F5344CB8AC3E}">
        <p14:creationId xmlns:p14="http://schemas.microsoft.com/office/powerpoint/2010/main" val="2061203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Alineación de negocio y TI</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DE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291256" cy="3413125"/>
          </a:xfrm>
        </p:spPr>
        <p:txBody>
          <a:bodyPr/>
          <a:lstStyle/>
          <a:p>
            <a:r>
              <a:rPr lang="es-ES" dirty="0"/>
              <a:t>Este fundamento se refiere a asegurar que las metas y objetivos del negocio estén </a:t>
            </a:r>
            <a:r>
              <a:rPr lang="es-ES" b="1" dirty="0"/>
              <a:t>completamente alineados</a:t>
            </a:r>
            <a:r>
              <a:rPr lang="es-ES" dirty="0"/>
              <a:t> con las capacidades y operaciones de la tecnología de la información (TI).</a:t>
            </a:r>
          </a:p>
          <a:p>
            <a:r>
              <a:rPr lang="es-ES" dirty="0"/>
              <a:t>En otras palabras, las decisiones y estrategias de TI deben </a:t>
            </a:r>
            <a:r>
              <a:rPr lang="es-ES" b="1" dirty="0"/>
              <a:t>apoyar y facilitar los objetivos del negocio</a:t>
            </a:r>
            <a:r>
              <a:rPr lang="es-ES" dirty="0"/>
              <a:t>, y viceversa.</a:t>
            </a:r>
          </a:p>
          <a:p>
            <a:r>
              <a:rPr lang="es-ES" dirty="0">
                <a:solidFill>
                  <a:srgbClr val="FF0000"/>
                </a:solidFill>
              </a:rPr>
              <a:t>Por ejemplo</a:t>
            </a:r>
            <a:r>
              <a:rPr lang="es-ES" dirty="0"/>
              <a:t>, si una empresa quiere mejorar la experiencia del cliente, entonces los sistemas y aplicaciones de TI deben diseñarse y configurarse para apoyar ese objetivo.</a:t>
            </a:r>
          </a:p>
        </p:txBody>
      </p:sp>
      <p:pic>
        <p:nvPicPr>
          <p:cNvPr id="4" name="Marcador de posición de imagen 3">
            <a:extLst>
              <a:ext uri="{FF2B5EF4-FFF2-40B4-BE49-F238E27FC236}">
                <a16:creationId xmlns:a16="http://schemas.microsoft.com/office/drawing/2014/main" id="{D91E2E20-E4C2-9B1E-90F0-381D87CC0530}"/>
              </a:ext>
            </a:extLst>
          </p:cNvPr>
          <p:cNvPicPr>
            <a:picLocks noGrp="1" noChangeAspect="1"/>
          </p:cNvPicPr>
          <p:nvPr>
            <p:ph type="pic" sz="quarter" idx="10"/>
          </p:nvPr>
        </p:nvPicPr>
        <p:blipFill>
          <a:blip r:embed="rId3"/>
          <a:srcRect l="234" r="234"/>
          <a:stretch>
            <a:fillRect/>
          </a:stretch>
        </p:blipFill>
        <p:spPr>
          <a:xfrm>
            <a:off x="5097986" y="1095981"/>
            <a:ext cx="3577702" cy="3892918"/>
          </a:xfrm>
        </p:spPr>
      </p:pic>
    </p:spTree>
    <p:extLst>
      <p:ext uri="{BB962C8B-B14F-4D97-AF65-F5344CB8AC3E}">
        <p14:creationId xmlns:p14="http://schemas.microsoft.com/office/powerpoint/2010/main" val="3396164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Estándares y principios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DE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431933" cy="3202110"/>
          </a:xfrm>
        </p:spPr>
        <p:txBody>
          <a:bodyPr/>
          <a:lstStyle/>
          <a:p>
            <a:r>
              <a:rPr lang="es-ES" dirty="0"/>
              <a:t>Los estándares y principios son guías que se establecen para ayudar a mantener la coherencia y eficacia en la implementación y gestión de la arquitectura empresarial.</a:t>
            </a:r>
          </a:p>
          <a:p>
            <a:r>
              <a:rPr lang="es-ES" dirty="0"/>
              <a:t>Pueden incluir normas para la gestión de datos, seguridad, diseño de sistemas, operaciones de negocio, y más. </a:t>
            </a:r>
          </a:p>
          <a:p>
            <a:r>
              <a:rPr lang="es-ES" dirty="0"/>
              <a:t>Estos estándares y principios ayudan a asegurar que las decisiones sean coherentes con la estrategia general y los objetivos de la organización.</a:t>
            </a:r>
          </a:p>
        </p:txBody>
      </p:sp>
      <p:pic>
        <p:nvPicPr>
          <p:cNvPr id="4" name="Marcador de posición de imagen 3">
            <a:extLst>
              <a:ext uri="{FF2B5EF4-FFF2-40B4-BE49-F238E27FC236}">
                <a16:creationId xmlns:a16="http://schemas.microsoft.com/office/drawing/2014/main" id="{45AE162A-E998-7619-7097-F6AD4378BF75}"/>
              </a:ext>
            </a:extLst>
          </p:cNvPr>
          <p:cNvPicPr>
            <a:picLocks noGrp="1" noChangeAspect="1"/>
          </p:cNvPicPr>
          <p:nvPr>
            <p:ph type="pic" sz="quarter" idx="10"/>
          </p:nvPr>
        </p:nvPicPr>
        <p:blipFill>
          <a:blip r:embed="rId3"/>
          <a:srcRect t="105" b="105"/>
          <a:stretch>
            <a:fillRect/>
          </a:stretch>
        </p:blipFill>
        <p:spPr>
          <a:xfrm>
            <a:off x="5120873" y="1150812"/>
            <a:ext cx="3771291" cy="4103563"/>
          </a:xfrm>
        </p:spPr>
      </p:pic>
    </p:spTree>
    <p:extLst>
      <p:ext uri="{BB962C8B-B14F-4D97-AF65-F5344CB8AC3E}">
        <p14:creationId xmlns:p14="http://schemas.microsoft.com/office/powerpoint/2010/main" val="1821687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Cambio continuo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DE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471010" cy="2772263"/>
          </a:xfrm>
        </p:spPr>
        <p:txBody>
          <a:bodyPr/>
          <a:lstStyle/>
          <a:p>
            <a:r>
              <a:rPr lang="es-ES" dirty="0"/>
              <a:t>Las organizaciones se encuentran en un estado constante de cambio debido a factores internos y externos.</a:t>
            </a:r>
          </a:p>
          <a:p>
            <a:r>
              <a:rPr lang="es-ES" dirty="0"/>
              <a:t>Por lo tanto, la arquitectura empresarial debe ser </a:t>
            </a:r>
            <a:r>
              <a:rPr lang="es-ES" b="1" dirty="0"/>
              <a:t>diseñada para ser flexible y adaptable</a:t>
            </a:r>
            <a:r>
              <a:rPr lang="es-ES" dirty="0"/>
              <a:t>.</a:t>
            </a:r>
          </a:p>
          <a:p>
            <a:r>
              <a:rPr lang="es-ES" dirty="0"/>
              <a:t>Esto significa que debe ser capaz de adaptarse a los cambios en la estrategia de la empresa, los cambios en la tecnología, y otros cambios en el entorno empresarial.</a:t>
            </a:r>
          </a:p>
        </p:txBody>
      </p:sp>
      <p:pic>
        <p:nvPicPr>
          <p:cNvPr id="4" name="Marcador de posición de imagen 3">
            <a:extLst>
              <a:ext uri="{FF2B5EF4-FFF2-40B4-BE49-F238E27FC236}">
                <a16:creationId xmlns:a16="http://schemas.microsoft.com/office/drawing/2014/main" id="{B29447D9-1EAA-5A80-11C9-3DB00985DBCE}"/>
              </a:ext>
            </a:extLst>
          </p:cNvPr>
          <p:cNvPicPr>
            <a:picLocks noGrp="1" noChangeAspect="1"/>
          </p:cNvPicPr>
          <p:nvPr>
            <p:ph type="pic" sz="quarter" idx="10"/>
          </p:nvPr>
        </p:nvPicPr>
        <p:blipFill>
          <a:blip r:embed="rId3"/>
          <a:srcRect l="225" r="225"/>
          <a:stretch>
            <a:fillRect/>
          </a:stretch>
        </p:blipFill>
        <p:spPr>
          <a:xfrm>
            <a:off x="5195962" y="1078522"/>
            <a:ext cx="3672755" cy="3996346"/>
          </a:xfrm>
        </p:spPr>
      </p:pic>
    </p:spTree>
    <p:extLst>
      <p:ext uri="{BB962C8B-B14F-4D97-AF65-F5344CB8AC3E}">
        <p14:creationId xmlns:p14="http://schemas.microsoft.com/office/powerpoint/2010/main" val="3311307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Gestión de la complejidad</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DE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447564" cy="2600325"/>
          </a:xfrm>
        </p:spPr>
        <p:txBody>
          <a:bodyPr/>
          <a:lstStyle/>
          <a:p>
            <a:r>
              <a:rPr lang="es-ES" dirty="0"/>
              <a:t>Las organizaciones son sistemas complejos con muchos componentes interconectados. </a:t>
            </a:r>
          </a:p>
          <a:p>
            <a:r>
              <a:rPr lang="es-ES" dirty="0"/>
              <a:t>La arquitectura empresarial ayuda a gestionar esta complejidad al proporcionar un marco que describe cómo estos componentes interactúan y se relacionan entre sí.</a:t>
            </a:r>
          </a:p>
          <a:p>
            <a:r>
              <a:rPr lang="es-ES" dirty="0"/>
              <a:t>Esto puede ayudar a identificar ineficiencias, redundancias, y oportunidades para mejorar.</a:t>
            </a:r>
          </a:p>
        </p:txBody>
      </p:sp>
      <p:pic>
        <p:nvPicPr>
          <p:cNvPr id="4" name="Marcador de posición de imagen 3">
            <a:extLst>
              <a:ext uri="{FF2B5EF4-FFF2-40B4-BE49-F238E27FC236}">
                <a16:creationId xmlns:a16="http://schemas.microsoft.com/office/drawing/2014/main" id="{E88175C0-0B79-82B7-DC75-315671DF1BC6}"/>
              </a:ext>
            </a:extLst>
          </p:cNvPr>
          <p:cNvPicPr>
            <a:picLocks noGrp="1" noChangeAspect="1"/>
          </p:cNvPicPr>
          <p:nvPr>
            <p:ph type="pic" sz="quarter" idx="10"/>
          </p:nvPr>
        </p:nvPicPr>
        <p:blipFill>
          <a:blip r:embed="rId3"/>
          <a:srcRect l="225" r="225"/>
          <a:stretch>
            <a:fillRect/>
          </a:stretch>
        </p:blipFill>
        <p:spPr>
          <a:xfrm>
            <a:off x="5252791" y="981869"/>
            <a:ext cx="3608112" cy="3926007"/>
          </a:xfrm>
        </p:spPr>
      </p:pic>
    </p:spTree>
    <p:extLst>
      <p:ext uri="{BB962C8B-B14F-4D97-AF65-F5344CB8AC3E}">
        <p14:creationId xmlns:p14="http://schemas.microsoft.com/office/powerpoint/2010/main" val="2278899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Integración e interoperabilidad</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DE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345964" cy="2303340"/>
          </a:xfrm>
        </p:spPr>
        <p:txBody>
          <a:bodyPr/>
          <a:lstStyle/>
          <a:p>
            <a:r>
              <a:rPr lang="es-ES" dirty="0"/>
              <a:t>Con la creciente dependencia de la tecnología en los negocios, es crucial que los diferentes sistemas y tecnologías de una organización puedan trabajar juntos de manera efectiva.</a:t>
            </a:r>
          </a:p>
          <a:p>
            <a:r>
              <a:rPr lang="es-ES" dirty="0"/>
              <a:t>Esto significa que deben ser capaces de compartir datos y funcionalidades, y deben ser compatibles en términos de tecnología y diseño.</a:t>
            </a:r>
          </a:p>
        </p:txBody>
      </p:sp>
      <p:pic>
        <p:nvPicPr>
          <p:cNvPr id="4" name="Marcador de posición de imagen 3">
            <a:extLst>
              <a:ext uri="{FF2B5EF4-FFF2-40B4-BE49-F238E27FC236}">
                <a16:creationId xmlns:a16="http://schemas.microsoft.com/office/drawing/2014/main" id="{18935461-9E1F-6541-3D9F-01378A00CAE0}"/>
              </a:ext>
            </a:extLst>
          </p:cNvPr>
          <p:cNvPicPr>
            <a:picLocks noGrp="1" noChangeAspect="1"/>
          </p:cNvPicPr>
          <p:nvPr>
            <p:ph type="pic" sz="quarter" idx="10"/>
          </p:nvPr>
        </p:nvPicPr>
        <p:blipFill>
          <a:blip r:embed="rId3"/>
          <a:srcRect l="455" r="455"/>
          <a:stretch>
            <a:fillRect/>
          </a:stretch>
        </p:blipFill>
        <p:spPr>
          <a:xfrm>
            <a:off x="5160050" y="1158875"/>
            <a:ext cx="3708668" cy="4035423"/>
          </a:xfrm>
        </p:spPr>
      </p:pic>
    </p:spTree>
    <p:extLst>
      <p:ext uri="{BB962C8B-B14F-4D97-AF65-F5344CB8AC3E}">
        <p14:creationId xmlns:p14="http://schemas.microsoft.com/office/powerpoint/2010/main" val="3147585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Gestión de riesgos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DE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345964" cy="2998910"/>
          </a:xfrm>
        </p:spPr>
        <p:txBody>
          <a:bodyPr/>
          <a:lstStyle/>
          <a:p>
            <a:r>
              <a:rPr lang="es-ES" dirty="0"/>
              <a:t>La arquitectura empresarial también juega un papel importante en la gestión de riesgos.</a:t>
            </a:r>
          </a:p>
          <a:p>
            <a:r>
              <a:rPr lang="es-ES" dirty="0"/>
              <a:t>Al proporcionar una visión completa de la organización, puede ayudar a identificar potenciales riesgos y vulnerabilidades.</a:t>
            </a:r>
          </a:p>
          <a:p>
            <a:r>
              <a:rPr lang="es-ES" dirty="0"/>
              <a:t>Esto permite a la organización tomar medidas para mitigar estos riesgos, ya sea a través de cambios en la arquitectura, la implementación de controles de seguridad, o la adaptación de las estrategias de negocio.</a:t>
            </a:r>
          </a:p>
        </p:txBody>
      </p:sp>
      <p:pic>
        <p:nvPicPr>
          <p:cNvPr id="4" name="Marcador de posición de imagen 3">
            <a:extLst>
              <a:ext uri="{FF2B5EF4-FFF2-40B4-BE49-F238E27FC236}">
                <a16:creationId xmlns:a16="http://schemas.microsoft.com/office/drawing/2014/main" id="{500C3FC5-DCC2-709E-3C92-C113B29350B1}"/>
              </a:ext>
            </a:extLst>
          </p:cNvPr>
          <p:cNvPicPr>
            <a:picLocks noGrp="1" noChangeAspect="1"/>
          </p:cNvPicPr>
          <p:nvPr>
            <p:ph type="pic" sz="quarter" idx="10"/>
          </p:nvPr>
        </p:nvPicPr>
        <p:blipFill>
          <a:blip r:embed="rId3"/>
          <a:srcRect l="438" r="438"/>
          <a:stretch>
            <a:fillRect/>
          </a:stretch>
        </p:blipFill>
        <p:spPr>
          <a:xfrm>
            <a:off x="5126892" y="1158875"/>
            <a:ext cx="3640225" cy="3660284"/>
          </a:xfrm>
        </p:spPr>
      </p:pic>
    </p:spTree>
    <p:extLst>
      <p:ext uri="{BB962C8B-B14F-4D97-AF65-F5344CB8AC3E}">
        <p14:creationId xmlns:p14="http://schemas.microsoft.com/office/powerpoint/2010/main" val="893342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Marcos de trabajo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DE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401053" cy="3751261"/>
          </a:xfrm>
        </p:spPr>
        <p:txBody>
          <a:bodyPr/>
          <a:lstStyle/>
          <a:p>
            <a:r>
              <a:rPr lang="es-ES" dirty="0"/>
              <a:t>Aunque cada uno tiene su propio enfoque y metodología, todos comparten el objetivo común de alinear los objetivos de negocio con la tecnología de la información.</a:t>
            </a:r>
          </a:p>
          <a:p>
            <a:pPr>
              <a:spcAft>
                <a:spcPts val="600"/>
              </a:spcAft>
            </a:pPr>
            <a:r>
              <a:rPr lang="es-ES" dirty="0"/>
              <a:t>Los más conocidos y utilizados son los siguientes:</a:t>
            </a:r>
          </a:p>
          <a:p>
            <a:pPr lvl="1">
              <a:spcAft>
                <a:spcPts val="600"/>
              </a:spcAft>
            </a:pPr>
            <a:r>
              <a:rPr lang="es-ES" dirty="0"/>
              <a:t>TOGAF </a:t>
            </a:r>
            <a:r>
              <a:rPr lang="es-ES" sz="1400" dirty="0">
                <a:solidFill>
                  <a:schemeClr val="tx1">
                    <a:lumMod val="50000"/>
                    <a:lumOff val="50000"/>
                  </a:schemeClr>
                </a:solidFill>
              </a:rPr>
              <a:t>(The Open Group Architecture Framework)</a:t>
            </a:r>
            <a:endParaRPr lang="es-ES" dirty="0">
              <a:solidFill>
                <a:schemeClr val="tx1">
                  <a:lumMod val="50000"/>
                  <a:lumOff val="50000"/>
                </a:schemeClr>
              </a:solidFill>
            </a:endParaRPr>
          </a:p>
          <a:p>
            <a:pPr lvl="1">
              <a:spcAft>
                <a:spcPts val="600"/>
              </a:spcAft>
            </a:pPr>
            <a:r>
              <a:rPr lang="es-ES" dirty="0"/>
              <a:t>Zachman Framework</a:t>
            </a:r>
          </a:p>
          <a:p>
            <a:pPr lvl="1">
              <a:spcAft>
                <a:spcPts val="600"/>
              </a:spcAft>
            </a:pPr>
            <a:r>
              <a:rPr lang="es-ES" dirty="0"/>
              <a:t>FEAF </a:t>
            </a:r>
            <a:r>
              <a:rPr lang="es-ES" sz="1400" dirty="0">
                <a:solidFill>
                  <a:schemeClr val="tx1">
                    <a:lumMod val="50000"/>
                    <a:lumOff val="50000"/>
                  </a:schemeClr>
                </a:solidFill>
              </a:rPr>
              <a:t>(Federal Enterprise Architecture Framework)</a:t>
            </a:r>
            <a:endParaRPr lang="es-ES" dirty="0">
              <a:solidFill>
                <a:schemeClr val="tx1">
                  <a:lumMod val="50000"/>
                  <a:lumOff val="50000"/>
                </a:schemeClr>
              </a:solidFill>
            </a:endParaRPr>
          </a:p>
          <a:p>
            <a:pPr lvl="1">
              <a:spcAft>
                <a:spcPts val="600"/>
              </a:spcAft>
            </a:pPr>
            <a:r>
              <a:rPr lang="es-ES" dirty="0"/>
              <a:t>Arquitectura Empresarial de Gartner</a:t>
            </a:r>
          </a:p>
          <a:p>
            <a:pPr lvl="1"/>
            <a:r>
              <a:rPr lang="es-ES" dirty="0"/>
              <a:t>Arquitectura Empresarial de Capgemini </a:t>
            </a:r>
            <a:r>
              <a:rPr lang="es-ES" sz="1400" dirty="0">
                <a:solidFill>
                  <a:schemeClr val="tx1">
                    <a:lumMod val="50000"/>
                    <a:lumOff val="50000"/>
                  </a:schemeClr>
                </a:solidFill>
              </a:rPr>
              <a:t>(Integrated Architecture Framework, IAF)</a:t>
            </a:r>
            <a:endParaRPr lang="es-ES" dirty="0">
              <a:solidFill>
                <a:schemeClr val="tx1">
                  <a:lumMod val="50000"/>
                  <a:lumOff val="50000"/>
                </a:schemeClr>
              </a:solidFill>
            </a:endParaRPr>
          </a:p>
        </p:txBody>
      </p:sp>
      <p:pic>
        <p:nvPicPr>
          <p:cNvPr id="4" name="Marcador de posición de imagen 3">
            <a:extLst>
              <a:ext uri="{FF2B5EF4-FFF2-40B4-BE49-F238E27FC236}">
                <a16:creationId xmlns:a16="http://schemas.microsoft.com/office/drawing/2014/main" id="{2514CA29-AE53-7EF8-D542-1AB0AF12F5A4}"/>
              </a:ext>
            </a:extLst>
          </p:cNvPr>
          <p:cNvPicPr>
            <a:picLocks noGrp="1" noChangeAspect="1"/>
          </p:cNvPicPr>
          <p:nvPr>
            <p:ph type="pic" sz="quarter" idx="10"/>
          </p:nvPr>
        </p:nvPicPr>
        <p:blipFill>
          <a:blip r:embed="rId3"/>
          <a:srcRect l="118" r="118"/>
          <a:stretch>
            <a:fillRect/>
          </a:stretch>
        </p:blipFill>
        <p:spPr>
          <a:xfrm>
            <a:off x="5103144" y="965586"/>
            <a:ext cx="3771291" cy="4103563"/>
          </a:xfrm>
        </p:spPr>
      </p:pic>
    </p:spTree>
    <p:extLst>
      <p:ext uri="{BB962C8B-B14F-4D97-AF65-F5344CB8AC3E}">
        <p14:creationId xmlns:p14="http://schemas.microsoft.com/office/powerpoint/2010/main" val="578348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Dominios de arquitectura empresarial</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DE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619502" cy="4111625"/>
          </a:xfrm>
        </p:spPr>
        <p:txBody>
          <a:bodyPr/>
          <a:lstStyle/>
          <a:p>
            <a:pPr>
              <a:spcAft>
                <a:spcPts val="600"/>
              </a:spcAft>
            </a:pPr>
            <a:r>
              <a:rPr lang="es-ES" dirty="0"/>
              <a:t>Típicamente se compone de cuatro dominios principales que se interrelacionan:</a:t>
            </a:r>
          </a:p>
          <a:p>
            <a:pPr marL="533400" lvl="1" indent="-266700">
              <a:spcAft>
                <a:spcPts val="600"/>
              </a:spcAft>
              <a:buFont typeface="+mj-lt"/>
              <a:buAutoNum type="arabicPeriod"/>
            </a:pPr>
            <a:r>
              <a:rPr lang="es-ES" dirty="0"/>
              <a:t>Arquitectura de Negocio</a:t>
            </a:r>
          </a:p>
          <a:p>
            <a:pPr marL="533400" lvl="1" indent="-266700">
              <a:spcAft>
                <a:spcPts val="600"/>
              </a:spcAft>
              <a:buFont typeface="+mj-lt"/>
              <a:buAutoNum type="arabicPeriod"/>
            </a:pPr>
            <a:r>
              <a:rPr lang="es-ES" dirty="0"/>
              <a:t>Arquitectura de Datos</a:t>
            </a:r>
          </a:p>
          <a:p>
            <a:pPr marL="533400" lvl="1" indent="-266700">
              <a:spcAft>
                <a:spcPts val="600"/>
              </a:spcAft>
              <a:buFont typeface="+mj-lt"/>
              <a:buAutoNum type="arabicPeriod"/>
            </a:pPr>
            <a:r>
              <a:rPr lang="es-ES" dirty="0"/>
              <a:t>Arquitectura de Aplicaciones</a:t>
            </a:r>
          </a:p>
          <a:p>
            <a:pPr marL="533400" lvl="1" indent="-266700">
              <a:buFont typeface="+mj-lt"/>
              <a:buAutoNum type="arabicPeriod"/>
            </a:pPr>
            <a:r>
              <a:rPr lang="es-ES" dirty="0"/>
              <a:t>Arquitectura de Tecnología</a:t>
            </a:r>
          </a:p>
          <a:p>
            <a:r>
              <a:rPr lang="es-ES" dirty="0"/>
              <a:t>Estos dominios proporcionan una visión de cómo los aspectos de negocio y tecnología de una organización trabajan juntos para lograr sus objetivos.</a:t>
            </a:r>
          </a:p>
          <a:p>
            <a:r>
              <a:rPr lang="es-ES" dirty="0"/>
              <a:t>Cada uno de estos componentes se modela y documenta en detalle para proporcionar una comprensión clara de la estructura y operaciones de la organización.</a:t>
            </a:r>
          </a:p>
          <a:p>
            <a:endParaRPr lang="es-ES" dirty="0"/>
          </a:p>
        </p:txBody>
      </p:sp>
      <p:pic>
        <p:nvPicPr>
          <p:cNvPr id="4" name="Marcador de posición de imagen 3">
            <a:extLst>
              <a:ext uri="{FF2B5EF4-FFF2-40B4-BE49-F238E27FC236}">
                <a16:creationId xmlns:a16="http://schemas.microsoft.com/office/drawing/2014/main" id="{FC6D18B1-A031-E495-3147-DDFD8EE6E8D9}"/>
              </a:ext>
            </a:extLst>
          </p:cNvPr>
          <p:cNvPicPr>
            <a:picLocks noGrp="1" noChangeAspect="1"/>
          </p:cNvPicPr>
          <p:nvPr>
            <p:ph type="pic" sz="quarter" idx="10"/>
          </p:nvPr>
        </p:nvPicPr>
        <p:blipFill>
          <a:blip r:embed="rId3"/>
          <a:srcRect l="2" r="2"/>
          <a:stretch>
            <a:fillRect/>
          </a:stretch>
        </p:blipFill>
        <p:spPr>
          <a:xfrm>
            <a:off x="5304967" y="1158875"/>
            <a:ext cx="3579382" cy="3894746"/>
          </a:xfrm>
        </p:spPr>
      </p:pic>
    </p:spTree>
    <p:extLst>
      <p:ext uri="{BB962C8B-B14F-4D97-AF65-F5344CB8AC3E}">
        <p14:creationId xmlns:p14="http://schemas.microsoft.com/office/powerpoint/2010/main" val="671588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Arquitectura de negocio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DE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556979" cy="2764448"/>
          </a:xfrm>
        </p:spPr>
        <p:txBody>
          <a:bodyPr/>
          <a:lstStyle/>
          <a:p>
            <a:r>
              <a:rPr lang="es-ES" dirty="0"/>
              <a:t>Este componente se enfoca en cómo se organiza el negocio, su estrategia y los procesos clave.</a:t>
            </a:r>
          </a:p>
          <a:p>
            <a:r>
              <a:rPr lang="es-ES" dirty="0"/>
              <a:t>Incluye aspectos como la organización de la empresa, las funciones de negocio, los procesos, las reglas y regulaciones, y las estrategias para alcanzar los objetivos de negocio.</a:t>
            </a:r>
          </a:p>
          <a:p>
            <a:r>
              <a:rPr lang="es-ES" dirty="0"/>
              <a:t>Esta arquitectura describe cómo la empresa genera valor para sus clientes y cómo fluyen las operaciones de negocio.</a:t>
            </a:r>
          </a:p>
        </p:txBody>
      </p:sp>
      <p:pic>
        <p:nvPicPr>
          <p:cNvPr id="4" name="Marcador de posición de imagen 3">
            <a:extLst>
              <a:ext uri="{FF2B5EF4-FFF2-40B4-BE49-F238E27FC236}">
                <a16:creationId xmlns:a16="http://schemas.microsoft.com/office/drawing/2014/main" id="{5B9BAF1B-9F72-A922-2D88-34BE352749AC}"/>
              </a:ext>
            </a:extLst>
          </p:cNvPr>
          <p:cNvPicPr>
            <a:picLocks noGrp="1" noChangeAspect="1"/>
          </p:cNvPicPr>
          <p:nvPr>
            <p:ph type="pic" sz="quarter" idx="10"/>
          </p:nvPr>
        </p:nvPicPr>
        <p:blipFill>
          <a:blip r:embed="rId3"/>
          <a:srcRect l="2" r="2"/>
          <a:stretch>
            <a:fillRect/>
          </a:stretch>
        </p:blipFill>
        <p:spPr>
          <a:xfrm>
            <a:off x="5244526" y="981869"/>
            <a:ext cx="3694529" cy="4020038"/>
          </a:xfrm>
        </p:spPr>
      </p:pic>
    </p:spTree>
    <p:extLst>
      <p:ext uri="{BB962C8B-B14F-4D97-AF65-F5344CB8AC3E}">
        <p14:creationId xmlns:p14="http://schemas.microsoft.com/office/powerpoint/2010/main" val="465081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Arquitectura de datos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DE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494456" cy="3178663"/>
          </a:xfrm>
        </p:spPr>
        <p:txBody>
          <a:bodyPr/>
          <a:lstStyle/>
          <a:p>
            <a:r>
              <a:rPr lang="es-ES" dirty="0"/>
              <a:t>Este componente se enfoca en cómo se gestionan los datos en la organización. </a:t>
            </a:r>
          </a:p>
          <a:p>
            <a:r>
              <a:rPr lang="es-ES" dirty="0"/>
              <a:t>Incluye aspectos como los modelos de datos, las estructuras de datos, los diccionarios de datos, las políticas y procedimientos de gestión de datos, y las tecnologías de almacenamiento de datos. </a:t>
            </a:r>
          </a:p>
          <a:p>
            <a:r>
              <a:rPr lang="es-ES" dirty="0"/>
              <a:t>La arquitectura de datos proporciona una visión de cómo los datos son recolectados, almacenados, utilizados y compartidos en la organización.</a:t>
            </a:r>
          </a:p>
        </p:txBody>
      </p:sp>
      <p:pic>
        <p:nvPicPr>
          <p:cNvPr id="4" name="Marcador de posición de imagen 3">
            <a:extLst>
              <a:ext uri="{FF2B5EF4-FFF2-40B4-BE49-F238E27FC236}">
                <a16:creationId xmlns:a16="http://schemas.microsoft.com/office/drawing/2014/main" id="{7236311A-81EE-B2FD-4FDB-9CDAC5C48C1C}"/>
              </a:ext>
            </a:extLst>
          </p:cNvPr>
          <p:cNvPicPr>
            <a:picLocks noGrp="1" noChangeAspect="1"/>
          </p:cNvPicPr>
          <p:nvPr>
            <p:ph type="pic" sz="quarter" idx="10"/>
          </p:nvPr>
        </p:nvPicPr>
        <p:blipFill>
          <a:blip r:embed="rId3"/>
          <a:srcRect l="20" r="20"/>
          <a:stretch>
            <a:fillRect/>
          </a:stretch>
        </p:blipFill>
        <p:spPr>
          <a:xfrm>
            <a:off x="5239058" y="981869"/>
            <a:ext cx="3629659" cy="3949453"/>
          </a:xfrm>
        </p:spPr>
      </p:pic>
    </p:spTree>
    <p:extLst>
      <p:ext uri="{BB962C8B-B14F-4D97-AF65-F5344CB8AC3E}">
        <p14:creationId xmlns:p14="http://schemas.microsoft.com/office/powerpoint/2010/main" val="3905921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Arquitectura de aplicaciones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DE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494456" cy="3061433"/>
          </a:xfrm>
        </p:spPr>
        <p:txBody>
          <a:bodyPr/>
          <a:lstStyle/>
          <a:p>
            <a:r>
              <a:rPr lang="es-ES" dirty="0"/>
              <a:t>Este componente se enfoca en los sistemas y aplicaciones que soportan los procesos de negocio.</a:t>
            </a:r>
          </a:p>
          <a:p>
            <a:r>
              <a:rPr lang="es-ES" dirty="0"/>
              <a:t>Incluyen los diagramas de los sistemas, las interacciones entre los sistemas, las interfaces de los sistemas, y las dependencias.</a:t>
            </a:r>
          </a:p>
          <a:p>
            <a:r>
              <a:rPr lang="es-ES" dirty="0"/>
              <a:t>Esta arquitectura proporciona una visión de cómo las diferentes aplicaciones y sistemas se relacionan entre sí y cómo apoyan a los procesos de negocio.</a:t>
            </a:r>
          </a:p>
        </p:txBody>
      </p:sp>
      <p:pic>
        <p:nvPicPr>
          <p:cNvPr id="8" name="Marcador de posición de imagen 7">
            <a:extLst>
              <a:ext uri="{FF2B5EF4-FFF2-40B4-BE49-F238E27FC236}">
                <a16:creationId xmlns:a16="http://schemas.microsoft.com/office/drawing/2014/main" id="{A84595CD-2D5D-2995-BAE3-0A38FAD4CFEA}"/>
              </a:ext>
            </a:extLst>
          </p:cNvPr>
          <p:cNvPicPr>
            <a:picLocks noGrp="1" noChangeAspect="1"/>
          </p:cNvPicPr>
          <p:nvPr>
            <p:ph type="pic" sz="quarter" idx="10"/>
          </p:nvPr>
        </p:nvPicPr>
        <p:blipFill>
          <a:blip r:embed="rId3"/>
          <a:srcRect l="2" r="2"/>
          <a:stretch>
            <a:fillRect/>
          </a:stretch>
        </p:blipFill>
        <p:spPr>
          <a:xfrm>
            <a:off x="5325249" y="1094152"/>
            <a:ext cx="3543469" cy="3855669"/>
          </a:xfrm>
        </p:spPr>
      </p:pic>
    </p:spTree>
    <p:extLst>
      <p:ext uri="{BB962C8B-B14F-4D97-AF65-F5344CB8AC3E}">
        <p14:creationId xmlns:p14="http://schemas.microsoft.com/office/powerpoint/2010/main" val="1548337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Arquitectura de tecnología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FUNDAMENTOS DE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689841" cy="2944202"/>
          </a:xfrm>
        </p:spPr>
        <p:txBody>
          <a:bodyPr/>
          <a:lstStyle/>
          <a:p>
            <a:r>
              <a:rPr lang="es-ES" dirty="0"/>
              <a:t>Este componente se enfoca en la infraestructura tecnológica que soporta las aplicaciones y los datos.</a:t>
            </a:r>
          </a:p>
          <a:p>
            <a:r>
              <a:rPr lang="es-ES" dirty="0"/>
              <a:t>Incluyen aspectos como los servidores, las redes, los sistemas operativos, el hardware, las plataformas de software, y las políticas y procedimientos de seguridad.</a:t>
            </a:r>
          </a:p>
          <a:p>
            <a:r>
              <a:rPr lang="es-ES" dirty="0"/>
              <a:t>Esta arquitectura proporciona una visión de cómo se implementan y gestionan las tecnologías en la organización.</a:t>
            </a:r>
          </a:p>
        </p:txBody>
      </p:sp>
      <p:pic>
        <p:nvPicPr>
          <p:cNvPr id="4" name="Marcador de posición de imagen 3">
            <a:extLst>
              <a:ext uri="{FF2B5EF4-FFF2-40B4-BE49-F238E27FC236}">
                <a16:creationId xmlns:a16="http://schemas.microsoft.com/office/drawing/2014/main" id="{DAA286A2-B32B-DF4A-D7C3-C85F67BCF739}"/>
              </a:ext>
            </a:extLst>
          </p:cNvPr>
          <p:cNvPicPr>
            <a:picLocks noGrp="1" noChangeAspect="1"/>
          </p:cNvPicPr>
          <p:nvPr>
            <p:ph type="pic" sz="quarter" idx="10"/>
          </p:nvPr>
        </p:nvPicPr>
        <p:blipFill>
          <a:blip r:embed="rId3"/>
          <a:srcRect t="328" b="328"/>
          <a:stretch>
            <a:fillRect/>
          </a:stretch>
        </p:blipFill>
        <p:spPr>
          <a:xfrm>
            <a:off x="5496143" y="1158875"/>
            <a:ext cx="3442913" cy="3746253"/>
          </a:xfrm>
        </p:spPr>
      </p:pic>
    </p:spTree>
    <p:extLst>
      <p:ext uri="{BB962C8B-B14F-4D97-AF65-F5344CB8AC3E}">
        <p14:creationId xmlns:p14="http://schemas.microsoft.com/office/powerpoint/2010/main" val="3114290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1"/>
            <a:ext cx="7933224" cy="1177590"/>
          </a:xfrm>
        </p:spPr>
        <p:txBody>
          <a:bodyPr/>
          <a:lstStyle/>
          <a:p>
            <a:pPr marL="274638" indent="-274638">
              <a:tabLst>
                <a:tab pos="274638" algn="l"/>
              </a:tabLst>
            </a:pPr>
            <a:r>
              <a:rPr lang="es-PE" dirty="0"/>
              <a:t>/	COMPONENTES</a:t>
            </a:r>
          </a:p>
          <a:p>
            <a:pPr marL="274638" indent="-274638">
              <a:tabLst>
                <a:tab pos="274638" algn="l"/>
              </a:tabLst>
            </a:pPr>
            <a:r>
              <a:rPr lang="es-PE" dirty="0"/>
              <a:t>	</a:t>
            </a:r>
            <a:r>
              <a:rPr lang="es-PE" sz="2400" dirty="0"/>
              <a:t>MODELOS: OPERATIVO, DE GOBIERNO, DE ENTREGA DE SERVICIOS</a:t>
            </a:r>
          </a:p>
        </p:txBody>
      </p:sp>
    </p:spTree>
    <p:custDataLst>
      <p:tags r:id="rId1"/>
    </p:custDataLst>
    <p:extLst>
      <p:ext uri="{BB962C8B-B14F-4D97-AF65-F5344CB8AC3E}">
        <p14:creationId xmlns:p14="http://schemas.microsoft.com/office/powerpoint/2010/main" val="3931351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Modelo operativo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COMPONENTES DE LA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478825" cy="4111625"/>
          </a:xfrm>
        </p:spPr>
        <p:txBody>
          <a:bodyPr/>
          <a:lstStyle/>
          <a:p>
            <a:r>
              <a:rPr lang="es-ES" dirty="0"/>
              <a:t>Es una descripción de cómo una organización realiza su trabajo. </a:t>
            </a:r>
          </a:p>
          <a:p>
            <a:r>
              <a:rPr lang="es-ES" dirty="0"/>
              <a:t>Proporciona una visión del despliegue de los recursos y capacidades para llevar a cabo la estrategia de la empresa, y sirve de enlace entre la estrategia y la ejecución.</a:t>
            </a:r>
          </a:p>
          <a:p>
            <a:pPr>
              <a:spcAft>
                <a:spcPts val="600"/>
              </a:spcAft>
            </a:pPr>
            <a:r>
              <a:rPr lang="es-ES" dirty="0"/>
              <a:t>Sus componentes clave son los siguientes:</a:t>
            </a:r>
          </a:p>
          <a:p>
            <a:pPr marL="533400" lvl="1" indent="-266700">
              <a:spcAft>
                <a:spcPts val="600"/>
              </a:spcAft>
              <a:buFont typeface="+mj-lt"/>
              <a:buAutoNum type="arabicPeriod"/>
            </a:pPr>
            <a:r>
              <a:rPr lang="es-ES" dirty="0"/>
              <a:t>Estructura organizativa.</a:t>
            </a:r>
          </a:p>
          <a:p>
            <a:pPr marL="533400" lvl="1" indent="-266700">
              <a:spcAft>
                <a:spcPts val="600"/>
              </a:spcAft>
              <a:buFont typeface="+mj-lt"/>
              <a:buAutoNum type="arabicPeriod"/>
            </a:pPr>
            <a:r>
              <a:rPr lang="es-ES" dirty="0"/>
              <a:t>Procesos y operaciones.</a:t>
            </a:r>
          </a:p>
          <a:p>
            <a:pPr marL="533400" lvl="1" indent="-266700">
              <a:spcAft>
                <a:spcPts val="600"/>
              </a:spcAft>
              <a:buFont typeface="+mj-lt"/>
              <a:buAutoNum type="arabicPeriod"/>
            </a:pPr>
            <a:r>
              <a:rPr lang="es-ES" dirty="0"/>
              <a:t>Tecnología y sistemas de información.</a:t>
            </a:r>
          </a:p>
          <a:p>
            <a:pPr marL="533400" lvl="1" indent="-266700">
              <a:spcAft>
                <a:spcPts val="600"/>
              </a:spcAft>
              <a:buFont typeface="+mj-lt"/>
              <a:buAutoNum type="arabicPeriod"/>
            </a:pPr>
            <a:r>
              <a:rPr lang="es-ES" dirty="0"/>
              <a:t>Gobernanza.</a:t>
            </a:r>
          </a:p>
          <a:p>
            <a:pPr marL="533400" lvl="1" indent="-266700">
              <a:spcAft>
                <a:spcPts val="600"/>
              </a:spcAft>
              <a:buFont typeface="+mj-lt"/>
              <a:buAutoNum type="arabicPeriod"/>
            </a:pPr>
            <a:r>
              <a:rPr lang="es-ES" dirty="0"/>
              <a:t>Cultura y comportamiento.</a:t>
            </a:r>
          </a:p>
          <a:p>
            <a:pPr marL="533400" lvl="1" indent="-266700">
              <a:buFont typeface="+mj-lt"/>
              <a:buAutoNum type="arabicPeriod"/>
            </a:pPr>
            <a:r>
              <a:rPr lang="es-ES" dirty="0"/>
              <a:t>Capacidades.</a:t>
            </a:r>
          </a:p>
        </p:txBody>
      </p:sp>
      <p:pic>
        <p:nvPicPr>
          <p:cNvPr id="8" name="Marcador de posición de imagen 7">
            <a:extLst>
              <a:ext uri="{FF2B5EF4-FFF2-40B4-BE49-F238E27FC236}">
                <a16:creationId xmlns:a16="http://schemas.microsoft.com/office/drawing/2014/main" id="{AC403AD0-5DA8-FC0D-04D4-7965C6296097}"/>
              </a:ext>
            </a:extLst>
          </p:cNvPr>
          <p:cNvPicPr>
            <a:picLocks noGrp="1" noChangeAspect="1"/>
          </p:cNvPicPr>
          <p:nvPr>
            <p:ph type="pic" sz="quarter" idx="10"/>
          </p:nvPr>
        </p:nvPicPr>
        <p:blipFill>
          <a:blip r:embed="rId3"/>
          <a:srcRect l="127" r="127"/>
          <a:stretch>
            <a:fillRect/>
          </a:stretch>
        </p:blipFill>
        <p:spPr>
          <a:xfrm>
            <a:off x="5195962" y="1216514"/>
            <a:ext cx="3672755" cy="3996346"/>
          </a:xfrm>
        </p:spPr>
      </p:pic>
    </p:spTree>
    <p:extLst>
      <p:ext uri="{BB962C8B-B14F-4D97-AF65-F5344CB8AC3E}">
        <p14:creationId xmlns:p14="http://schemas.microsoft.com/office/powerpoint/2010/main" val="2235368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Modelo operativo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COMPONENTES DE LA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pPr marL="177800" indent="-177800">
              <a:buClr>
                <a:srgbClr val="1F85A6"/>
              </a:buClr>
              <a:buFont typeface="+mj-lt"/>
              <a:buAutoNum type="arabicParenR"/>
            </a:pPr>
            <a:r>
              <a:rPr lang="es-ES" b="1" dirty="0">
                <a:solidFill>
                  <a:srgbClr val="1F85A6"/>
                </a:solidFill>
              </a:rPr>
              <a:t>Estructura organizativa: </a:t>
            </a:r>
            <a:r>
              <a:rPr lang="es-ES" dirty="0"/>
              <a:t>detalla cómo se organiza la empresa. Esto incluye la definición de las diferentes unidades de negocio, departamentos, equipos y roles individuales, así como la descripción de cómo se interrelacionan estos diferentes elementos.</a:t>
            </a:r>
          </a:p>
          <a:p>
            <a:pPr marL="177800" indent="-177800">
              <a:buClr>
                <a:srgbClr val="1F85A6"/>
              </a:buClr>
              <a:buFont typeface="+mj-lt"/>
              <a:buAutoNum type="arabicParenR"/>
            </a:pPr>
            <a:r>
              <a:rPr lang="es-ES" b="1" dirty="0">
                <a:solidFill>
                  <a:srgbClr val="1F85A6"/>
                </a:solidFill>
              </a:rPr>
              <a:t>Procesos y operaciones: </a:t>
            </a:r>
            <a:r>
              <a:rPr lang="es-ES" dirty="0"/>
              <a:t>se centra en cómo se realizan las actividades y tareas clave. Esto puede implicar la descripción de flujos de trabajo, la asignación de responsabilidades y la definición de los procesos que se deben seguir para realizar un trabajo.</a:t>
            </a:r>
          </a:p>
        </p:txBody>
      </p:sp>
      <p:pic>
        <p:nvPicPr>
          <p:cNvPr id="8" name="Marcador de posición de imagen 7">
            <a:extLst>
              <a:ext uri="{FF2B5EF4-FFF2-40B4-BE49-F238E27FC236}">
                <a16:creationId xmlns:a16="http://schemas.microsoft.com/office/drawing/2014/main" id="{64D3CA01-290C-22EF-C9BD-24DEA1E5711E}"/>
              </a:ext>
            </a:extLst>
          </p:cNvPr>
          <p:cNvPicPr>
            <a:picLocks noGrp="1" noChangeAspect="1"/>
          </p:cNvPicPr>
          <p:nvPr>
            <p:ph type="pic" sz="quarter" idx="10"/>
          </p:nvPr>
        </p:nvPicPr>
        <p:blipFill>
          <a:blip r:embed="rId3"/>
          <a:srcRect t="368" b="368"/>
          <a:stretch>
            <a:fillRect/>
          </a:stretch>
        </p:blipFill>
        <p:spPr/>
      </p:pic>
    </p:spTree>
    <p:extLst>
      <p:ext uri="{BB962C8B-B14F-4D97-AF65-F5344CB8AC3E}">
        <p14:creationId xmlns:p14="http://schemas.microsoft.com/office/powerpoint/2010/main" val="989435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7F20D23C-0FB6-E595-E196-97E0BB9F084C}"/>
              </a:ext>
            </a:extLst>
          </p:cNvPr>
          <p:cNvPicPr>
            <a:picLocks noGrp="1" noChangeAspect="1"/>
          </p:cNvPicPr>
          <p:nvPr>
            <p:ph type="pic" sz="quarter" idx="10"/>
          </p:nvPr>
        </p:nvPicPr>
        <p:blipFill>
          <a:blip r:embed="rId3"/>
          <a:srcRect t="253" b="253"/>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Modelo operativo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COMPONENTES DE LA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pPr marL="177800" indent="-177800">
              <a:buFont typeface="+mj-lt"/>
              <a:buAutoNum type="arabicParenR" startAt="3"/>
            </a:pPr>
            <a:r>
              <a:rPr lang="es-ES" b="1" dirty="0">
                <a:solidFill>
                  <a:srgbClr val="1F85A6"/>
                </a:solidFill>
              </a:rPr>
              <a:t>Tecnología y sistemas de información:</a:t>
            </a:r>
            <a:r>
              <a:rPr lang="es-ES" dirty="0"/>
              <a:t> puede incluir la descripción de los sistemas de TI que soportan las operaciones de negocio, las infraestructuras tecnológicas que se utilizan y cómo se integran estas tecnologías en los procesos de negocio.</a:t>
            </a:r>
          </a:p>
          <a:p>
            <a:pPr marL="177800" indent="-177800">
              <a:buFont typeface="+mj-lt"/>
              <a:buAutoNum type="arabicParenR" startAt="3"/>
            </a:pPr>
            <a:r>
              <a:rPr lang="es-ES" b="1" dirty="0">
                <a:solidFill>
                  <a:srgbClr val="1F85A6"/>
                </a:solidFill>
              </a:rPr>
              <a:t>Gobernanza:</a:t>
            </a:r>
            <a:r>
              <a:rPr lang="es-ES" dirty="0"/>
              <a:t> incluye la definición de las políticas y procedimientos que se deben seguir, la identificación de los </a:t>
            </a:r>
            <a:r>
              <a:rPr lang="es-ES" i="1" dirty="0"/>
              <a:t>stakeholders </a:t>
            </a:r>
            <a:r>
              <a:rPr lang="es-ES" dirty="0"/>
              <a:t>clave y la descripción de los mecanismos de control que se utilizan para gestionar la organización.</a:t>
            </a:r>
          </a:p>
        </p:txBody>
      </p:sp>
    </p:spTree>
    <p:extLst>
      <p:ext uri="{BB962C8B-B14F-4D97-AF65-F5344CB8AC3E}">
        <p14:creationId xmlns:p14="http://schemas.microsoft.com/office/powerpoint/2010/main" val="2716830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Modelo operativo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COMPONENTES DE LA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pPr marL="177800" indent="-177800">
              <a:buFont typeface="+mj-lt"/>
              <a:buAutoNum type="arabicParenR" startAt="5"/>
            </a:pPr>
            <a:r>
              <a:rPr lang="es-ES" b="1" dirty="0">
                <a:solidFill>
                  <a:srgbClr val="1F85A6"/>
                </a:solidFill>
              </a:rPr>
              <a:t>Cultura y comportamiento: </a:t>
            </a:r>
            <a:r>
              <a:rPr lang="es-ES" dirty="0"/>
              <a:t>describe los valores, las actitudes y los comportamientos que se esperan de los miembros de la organización.</a:t>
            </a:r>
          </a:p>
          <a:p>
            <a:pPr marL="177800" indent="-177800">
              <a:buFont typeface="+mj-lt"/>
              <a:buAutoNum type="arabicParenR" startAt="5"/>
            </a:pPr>
            <a:r>
              <a:rPr lang="es-ES" b="1" dirty="0">
                <a:solidFill>
                  <a:srgbClr val="1F85A6"/>
                </a:solidFill>
              </a:rPr>
              <a:t>Capacidades:</a:t>
            </a:r>
            <a:r>
              <a:rPr lang="es-ES" dirty="0"/>
              <a:t> esto implica identificar las habilidades, el conocimiento y la experiencia que la organización necesita para llevar a cabo sus operaciones. Esto puede incluir capacidades a nivel individual (habilidades técnicas), a nivel de equipo (capacidad para trabajar de forma colaborativa) y a nivel organizativo (capacidad para innovar).</a:t>
            </a:r>
          </a:p>
        </p:txBody>
      </p:sp>
      <p:pic>
        <p:nvPicPr>
          <p:cNvPr id="8" name="Marcador de posición de imagen 7">
            <a:extLst>
              <a:ext uri="{FF2B5EF4-FFF2-40B4-BE49-F238E27FC236}">
                <a16:creationId xmlns:a16="http://schemas.microsoft.com/office/drawing/2014/main" id="{0484BF4C-E8BB-6A18-63EC-27611C34AA46}"/>
              </a:ext>
            </a:extLst>
          </p:cNvPr>
          <p:cNvPicPr>
            <a:picLocks noGrp="1" noChangeAspect="1"/>
          </p:cNvPicPr>
          <p:nvPr>
            <p:ph type="pic" sz="quarter" idx="10"/>
          </p:nvPr>
        </p:nvPicPr>
        <p:blipFill>
          <a:blip r:embed="rId3"/>
          <a:srcRect t="113" b="113"/>
          <a:stretch>
            <a:fillRect/>
          </a:stretch>
        </p:blipFill>
        <p:spPr/>
      </p:pic>
    </p:spTree>
    <p:extLst>
      <p:ext uri="{BB962C8B-B14F-4D97-AF65-F5344CB8AC3E}">
        <p14:creationId xmlns:p14="http://schemas.microsoft.com/office/powerpoint/2010/main" val="369186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Modelo de gobierno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COMPONENTES DE LA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533533" cy="4179033"/>
          </a:xfrm>
        </p:spPr>
        <p:txBody>
          <a:bodyPr/>
          <a:lstStyle/>
          <a:p>
            <a:r>
              <a:rPr lang="es-ES" dirty="0"/>
              <a:t>Se refiere al marco que se establece para dirigir y controlar la implementación y operación de la arquitectura empresarial. </a:t>
            </a:r>
          </a:p>
          <a:p>
            <a:pPr>
              <a:spcAft>
                <a:spcPts val="600"/>
              </a:spcAft>
            </a:pPr>
            <a:r>
              <a:rPr lang="es-ES" dirty="0"/>
              <a:t>Sus componentes clave pueden incluir los siguiente:</a:t>
            </a:r>
          </a:p>
          <a:p>
            <a:pPr marL="533400" lvl="1" indent="-266700">
              <a:spcAft>
                <a:spcPts val="600"/>
              </a:spcAft>
              <a:buFont typeface="+mj-lt"/>
              <a:buAutoNum type="arabicPeriod"/>
            </a:pPr>
            <a:r>
              <a:rPr lang="es-ES" dirty="0"/>
              <a:t>Principios de Gobierno.</a:t>
            </a:r>
          </a:p>
          <a:p>
            <a:pPr marL="533400" lvl="1" indent="-266700">
              <a:spcAft>
                <a:spcPts val="600"/>
              </a:spcAft>
              <a:buFont typeface="+mj-lt"/>
              <a:buAutoNum type="arabicPeriod"/>
            </a:pPr>
            <a:r>
              <a:rPr lang="es-ES" dirty="0"/>
              <a:t>Roles y Responsabilidades.</a:t>
            </a:r>
          </a:p>
          <a:p>
            <a:pPr marL="533400" lvl="1" indent="-266700">
              <a:spcAft>
                <a:spcPts val="600"/>
              </a:spcAft>
              <a:buFont typeface="+mj-lt"/>
              <a:buAutoNum type="arabicPeriod"/>
            </a:pPr>
            <a:r>
              <a:rPr lang="es-ES" dirty="0"/>
              <a:t>Procesos de Gobierno.</a:t>
            </a:r>
          </a:p>
          <a:p>
            <a:pPr marL="533400" lvl="1" indent="-266700">
              <a:spcAft>
                <a:spcPts val="600"/>
              </a:spcAft>
              <a:buFont typeface="+mj-lt"/>
              <a:buAutoNum type="arabicPeriod"/>
            </a:pPr>
            <a:r>
              <a:rPr lang="es-ES" dirty="0"/>
              <a:t>Políticas de Gobierno.</a:t>
            </a:r>
          </a:p>
          <a:p>
            <a:pPr marL="533400" lvl="1" indent="-266700">
              <a:buFont typeface="+mj-lt"/>
              <a:buAutoNum type="arabicPeriod"/>
            </a:pPr>
            <a:r>
              <a:rPr lang="es-ES" dirty="0"/>
              <a:t>Métricas y Controles.</a:t>
            </a:r>
          </a:p>
          <a:p>
            <a:pPr lvl="0"/>
            <a:r>
              <a:rPr lang="es-ES" dirty="0">
                <a:solidFill>
                  <a:prstClr val="black"/>
                </a:solidFill>
              </a:rPr>
              <a:t>Un modelo de gobierno es esencial para garantizar que la arquitectura empresarial se implemente de manera que apoye los objetivos estratégicos de la organización.</a:t>
            </a:r>
          </a:p>
        </p:txBody>
      </p:sp>
      <p:pic>
        <p:nvPicPr>
          <p:cNvPr id="4" name="Marcador de posición de imagen 3">
            <a:extLst>
              <a:ext uri="{FF2B5EF4-FFF2-40B4-BE49-F238E27FC236}">
                <a16:creationId xmlns:a16="http://schemas.microsoft.com/office/drawing/2014/main" id="{E0A76AFD-C641-B5FC-9546-C74F6B9DDD46}"/>
              </a:ext>
            </a:extLst>
          </p:cNvPr>
          <p:cNvPicPr>
            <a:picLocks noGrp="1" noChangeAspect="1"/>
          </p:cNvPicPr>
          <p:nvPr>
            <p:ph type="pic" sz="quarter" idx="10"/>
          </p:nvPr>
        </p:nvPicPr>
        <p:blipFill>
          <a:blip r:embed="rId3"/>
          <a:srcRect l="225" r="225"/>
          <a:stretch>
            <a:fillRect/>
          </a:stretch>
        </p:blipFill>
        <p:spPr>
          <a:xfrm>
            <a:off x="5236527" y="1158875"/>
            <a:ext cx="3600929" cy="3918192"/>
          </a:xfrm>
        </p:spPr>
      </p:pic>
    </p:spTree>
    <p:extLst>
      <p:ext uri="{BB962C8B-B14F-4D97-AF65-F5344CB8AC3E}">
        <p14:creationId xmlns:p14="http://schemas.microsoft.com/office/powerpoint/2010/main" val="768259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84F2E727-7595-456A-B8C3-143FC65EB105}"/>
              </a:ext>
            </a:extLst>
          </p:cNvPr>
          <p:cNvPicPr>
            <a:picLocks noGrp="1" noChangeAspect="1"/>
          </p:cNvPicPr>
          <p:nvPr>
            <p:ph type="pic" sz="quarter" idx="10"/>
          </p:nvPr>
        </p:nvPicPr>
        <p:blipFill>
          <a:blip r:embed="rId3"/>
          <a:srcRect t="368" b="368"/>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Modelo de gobierno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COMPONENTES DE LA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71450" y="1096056"/>
            <a:ext cx="8207375" cy="1928498"/>
          </a:xfrm>
        </p:spPr>
        <p:txBody>
          <a:bodyPr/>
          <a:lstStyle/>
          <a:p>
            <a:pPr marL="177800" indent="-177800">
              <a:buFont typeface="+mj-lt"/>
              <a:buAutoNum type="arabicParenR"/>
            </a:pPr>
            <a:r>
              <a:rPr lang="es-ES" b="1" dirty="0">
                <a:solidFill>
                  <a:srgbClr val="1F85A6"/>
                </a:solidFill>
              </a:rPr>
              <a:t>Principios de Gobierno:</a:t>
            </a:r>
            <a:r>
              <a:rPr lang="es-ES" dirty="0"/>
              <a:t> son las reglas básicas que rigen cómo se tomarán las decisiones en relación con la arquitectura empresarial (p.ej. ‘todas las decisiones deben apoyar los objetivos estratégicos’, o ‘la arquitectura debe ser flexible para adaptarse a los cambios’).</a:t>
            </a:r>
          </a:p>
          <a:p>
            <a:pPr marL="177800" indent="-177800">
              <a:buFont typeface="+mj-lt"/>
              <a:buAutoNum type="arabicParenR"/>
            </a:pPr>
            <a:r>
              <a:rPr lang="es-ES" b="1" dirty="0">
                <a:solidFill>
                  <a:srgbClr val="1F85A6"/>
                </a:solidFill>
              </a:rPr>
              <a:t>Roles y Responsabilidades:</a:t>
            </a:r>
            <a:r>
              <a:rPr lang="es-ES" dirty="0"/>
              <a:t> definir claramente quién es responsable de qué en relación con la arquitectura empresarial. (p.ej. Arquitecto empresarial encargado de supervisar la arquitectura en su conjunto, Comité AE encargado de tomar decisiones estratégicas, y roles individuales encargados de implementar y mantener componentes específicos de la arquitectura).</a:t>
            </a:r>
          </a:p>
        </p:txBody>
      </p:sp>
    </p:spTree>
    <p:extLst>
      <p:ext uri="{BB962C8B-B14F-4D97-AF65-F5344CB8AC3E}">
        <p14:creationId xmlns:p14="http://schemas.microsoft.com/office/powerpoint/2010/main" val="595351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Modelo de gobierno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COMPONENTES DE LA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pPr marL="177800" indent="-177800">
              <a:spcAft>
                <a:spcPts val="600"/>
              </a:spcAft>
              <a:buFont typeface="+mj-lt"/>
              <a:buAutoNum type="arabicParenR" startAt="3"/>
            </a:pPr>
            <a:r>
              <a:rPr lang="es-ES" b="1" dirty="0">
                <a:solidFill>
                  <a:srgbClr val="1F85A6"/>
                </a:solidFill>
              </a:rPr>
              <a:t>Procesos de Gobierno:</a:t>
            </a:r>
            <a:r>
              <a:rPr lang="es-ES" dirty="0"/>
              <a:t> estos son los procesos que se siguen para tomar decisiones, resolver conflictos, aprobar cambios en la arquitectura, y monitorizar y controlar la implementación y operación de la arquitectura. </a:t>
            </a:r>
          </a:p>
          <a:p>
            <a:pPr marL="176213" indent="0">
              <a:buNone/>
            </a:pPr>
            <a:r>
              <a:rPr lang="es-ES" dirty="0"/>
              <a:t>Estos procesos deben ser lo suficientemente robustos como para garantizar que la arquitectura se mantenga alineada con los objetivos de la empresa, pero lo suficientemente flexibles como para permitir la adaptación al cambio.</a:t>
            </a:r>
          </a:p>
        </p:txBody>
      </p:sp>
      <p:pic>
        <p:nvPicPr>
          <p:cNvPr id="8" name="Marcador de posición de imagen 7">
            <a:extLst>
              <a:ext uri="{FF2B5EF4-FFF2-40B4-BE49-F238E27FC236}">
                <a16:creationId xmlns:a16="http://schemas.microsoft.com/office/drawing/2014/main" id="{44BE4C01-AC8F-B62D-32CF-164895649255}"/>
              </a:ext>
            </a:extLst>
          </p:cNvPr>
          <p:cNvPicPr>
            <a:picLocks noGrp="1" noChangeAspect="1"/>
          </p:cNvPicPr>
          <p:nvPr>
            <p:ph type="pic" sz="quarter" idx="10"/>
          </p:nvPr>
        </p:nvPicPr>
        <p:blipFill>
          <a:blip r:embed="rId3"/>
          <a:srcRect t="368" b="368"/>
          <a:stretch>
            <a:fillRect/>
          </a:stretch>
        </p:blipFill>
        <p:spPr>
          <a:xfrm>
            <a:off x="470825" y="2969200"/>
            <a:ext cx="8208000" cy="2394000"/>
          </a:xfrm>
        </p:spPr>
      </p:pic>
    </p:spTree>
    <p:extLst>
      <p:ext uri="{BB962C8B-B14F-4D97-AF65-F5344CB8AC3E}">
        <p14:creationId xmlns:p14="http://schemas.microsoft.com/office/powerpoint/2010/main" val="1679662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99A0E03E-7A86-BB58-B8F0-DA2F3CF1E28A}"/>
              </a:ext>
            </a:extLst>
          </p:cNvPr>
          <p:cNvPicPr>
            <a:picLocks noGrp="1" noChangeAspect="1"/>
          </p:cNvPicPr>
          <p:nvPr>
            <p:ph type="pic" sz="quarter" idx="10"/>
          </p:nvPr>
        </p:nvPicPr>
        <p:blipFill>
          <a:blip r:embed="rId3"/>
          <a:srcRect t="310" b="310"/>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Modelo de gobierno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COMPONENTES DE LA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pPr marL="177800" indent="-177800">
              <a:buFont typeface="+mj-lt"/>
              <a:buAutoNum type="arabicParenR" startAt="4"/>
            </a:pPr>
            <a:r>
              <a:rPr lang="es-ES" b="1" dirty="0">
                <a:solidFill>
                  <a:srgbClr val="1F85A6"/>
                </a:solidFill>
              </a:rPr>
              <a:t>Políticas de Gobierno:</a:t>
            </a:r>
            <a:r>
              <a:rPr lang="es-ES" dirty="0"/>
              <a:t> son directrices que proporcionan un marco dentro del cual deben tomarse las decisiones. (p.ej. ‘Las nuevas aplicaciones deben ser compatibles con la arquitectura empresarial existente’, o ‘todos los proyectos deben ser evaluados en términos de su impacto en la arquitectura’).</a:t>
            </a:r>
          </a:p>
          <a:p>
            <a:pPr marL="177800" indent="-177800">
              <a:buFont typeface="+mj-lt"/>
              <a:buAutoNum type="arabicParenR" startAt="4"/>
            </a:pPr>
            <a:r>
              <a:rPr lang="es-ES" b="1" dirty="0">
                <a:solidFill>
                  <a:srgbClr val="1F85A6"/>
                </a:solidFill>
              </a:rPr>
              <a:t>Métricas y Controles:</a:t>
            </a:r>
            <a:r>
              <a:rPr lang="es-ES" dirty="0"/>
              <a:t> esto podría incluir la monitorización del rendimiento de la arquitectura, la realización de auditorías y revisiones, y el seguimiento de indicadores clave de rendimiento. </a:t>
            </a:r>
          </a:p>
        </p:txBody>
      </p:sp>
    </p:spTree>
    <p:extLst>
      <p:ext uri="{BB962C8B-B14F-4D97-AF65-F5344CB8AC3E}">
        <p14:creationId xmlns:p14="http://schemas.microsoft.com/office/powerpoint/2010/main" val="3010009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Modelo de entrega de servicios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COMPONENTES DE LA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471010" cy="4111625"/>
          </a:xfrm>
        </p:spPr>
        <p:txBody>
          <a:bodyPr/>
          <a:lstStyle/>
          <a:p>
            <a:r>
              <a:rPr lang="es-ES" dirty="0"/>
              <a:t>Un modelo de entrega de servicios eficaz puede ayudar a las organizaciones a coordinar y sincronizar mejor sus esfuerzos, mejorar la calidad y la eficiencia de los servicios que prestan, y alinear más estrechamente los servicios con los objetivos estratégicos de la organización.</a:t>
            </a:r>
          </a:p>
          <a:p>
            <a:pPr>
              <a:spcAft>
                <a:spcPts val="600"/>
              </a:spcAft>
            </a:pPr>
            <a:r>
              <a:rPr lang="es-ES" dirty="0"/>
              <a:t>Sus componentes clave son los siguientes:</a:t>
            </a:r>
          </a:p>
          <a:p>
            <a:pPr marL="533400" lvl="1" indent="-266700">
              <a:spcAft>
                <a:spcPts val="600"/>
              </a:spcAft>
              <a:buFont typeface="+mj-lt"/>
              <a:buAutoNum type="arabicPeriod"/>
            </a:pPr>
            <a:r>
              <a:rPr lang="es-ES" dirty="0"/>
              <a:t>Servicios.</a:t>
            </a:r>
          </a:p>
          <a:p>
            <a:pPr marL="533400" lvl="1" indent="-266700">
              <a:spcAft>
                <a:spcPts val="600"/>
              </a:spcAft>
              <a:buFont typeface="+mj-lt"/>
              <a:buAutoNum type="arabicPeriod"/>
            </a:pPr>
            <a:r>
              <a:rPr lang="es-ES" dirty="0"/>
              <a:t>Procesos de entrega de servicios.</a:t>
            </a:r>
          </a:p>
          <a:p>
            <a:pPr marL="533400" lvl="1" indent="-266700">
              <a:spcAft>
                <a:spcPts val="600"/>
              </a:spcAft>
              <a:buFont typeface="+mj-lt"/>
              <a:buAutoNum type="arabicPeriod"/>
            </a:pPr>
            <a:r>
              <a:rPr lang="es-ES" dirty="0"/>
              <a:t>Roles y responsabilidades.</a:t>
            </a:r>
          </a:p>
          <a:p>
            <a:pPr marL="533400" lvl="1" indent="-266700">
              <a:spcAft>
                <a:spcPts val="600"/>
              </a:spcAft>
              <a:buFont typeface="+mj-lt"/>
              <a:buAutoNum type="arabicPeriod"/>
            </a:pPr>
            <a:r>
              <a:rPr lang="es-ES" dirty="0"/>
              <a:t>Tecnología y herramientas.</a:t>
            </a:r>
          </a:p>
          <a:p>
            <a:pPr marL="533400" lvl="1" indent="-266700">
              <a:spcAft>
                <a:spcPts val="600"/>
              </a:spcAft>
              <a:buFont typeface="+mj-lt"/>
              <a:buAutoNum type="arabicPeriod"/>
            </a:pPr>
            <a:r>
              <a:rPr lang="es-ES" dirty="0"/>
              <a:t>Gestión de la calidad del servicio.</a:t>
            </a:r>
          </a:p>
        </p:txBody>
      </p:sp>
      <p:pic>
        <p:nvPicPr>
          <p:cNvPr id="4" name="Marcador de posición de imagen 3">
            <a:extLst>
              <a:ext uri="{FF2B5EF4-FFF2-40B4-BE49-F238E27FC236}">
                <a16:creationId xmlns:a16="http://schemas.microsoft.com/office/drawing/2014/main" id="{DBF922A1-4E37-DB25-40BE-E2576757D092}"/>
              </a:ext>
            </a:extLst>
          </p:cNvPr>
          <p:cNvPicPr>
            <a:picLocks noGrp="1" noChangeAspect="1"/>
          </p:cNvPicPr>
          <p:nvPr>
            <p:ph type="pic" sz="quarter" idx="10"/>
          </p:nvPr>
        </p:nvPicPr>
        <p:blipFill>
          <a:blip r:embed="rId3"/>
          <a:srcRect t="96" b="96"/>
          <a:stretch>
            <a:fillRect/>
          </a:stretch>
        </p:blipFill>
        <p:spPr>
          <a:xfrm>
            <a:off x="5187736" y="1158875"/>
            <a:ext cx="3579382" cy="3894746"/>
          </a:xfrm>
        </p:spPr>
      </p:pic>
    </p:spTree>
    <p:extLst>
      <p:ext uri="{BB962C8B-B14F-4D97-AF65-F5344CB8AC3E}">
        <p14:creationId xmlns:p14="http://schemas.microsoft.com/office/powerpoint/2010/main" val="3064049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5F6107BE-2C3B-7BE5-005D-720727F97554}"/>
              </a:ext>
            </a:extLst>
          </p:cNvPr>
          <p:cNvPicPr>
            <a:picLocks noGrp="1" noChangeAspect="1"/>
          </p:cNvPicPr>
          <p:nvPr>
            <p:ph type="pic" sz="quarter" idx="10"/>
          </p:nvPr>
        </p:nvPicPr>
        <p:blipFill>
          <a:blip r:embed="rId3"/>
          <a:srcRect t="368" b="368"/>
          <a:stretch>
            <a:fillRect/>
          </a:stretch>
        </p:blipFill>
        <p:spPr>
          <a:xfrm>
            <a:off x="812799" y="3375770"/>
            <a:ext cx="7256425" cy="1924431"/>
          </a:xfrm>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Modelo de entrega de servicios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COMPONENTES DE LA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82024"/>
            <a:ext cx="8207375" cy="2100437"/>
          </a:xfrm>
        </p:spPr>
        <p:txBody>
          <a:bodyPr/>
          <a:lstStyle/>
          <a:p>
            <a:pPr marL="177800" indent="-177800">
              <a:buFont typeface="+mj-lt"/>
              <a:buAutoNum type="arabicParenR"/>
            </a:pPr>
            <a:r>
              <a:rPr lang="es-ES" b="1" dirty="0">
                <a:solidFill>
                  <a:srgbClr val="1F85A6"/>
                </a:solidFill>
              </a:rPr>
              <a:t>Definición de Servicios:</a:t>
            </a:r>
            <a:r>
              <a:rPr lang="es-ES" dirty="0"/>
              <a:t> para cada servicio, describir en detalle qué incluye, quiénes son los usuarios o beneficiarios, cuáles son los niveles de servicio esperados (tiempo de respuesta, disponibilidad, etc.) y qué valor se espera que aporte a los usuarios o a la organización.</a:t>
            </a:r>
          </a:p>
          <a:p>
            <a:pPr marL="177800" indent="-177800">
              <a:buFont typeface="+mj-lt"/>
              <a:buAutoNum type="arabicParenR"/>
            </a:pPr>
            <a:r>
              <a:rPr lang="es-ES" b="1" dirty="0">
                <a:solidFill>
                  <a:srgbClr val="1F85A6"/>
                </a:solidFill>
              </a:rPr>
              <a:t>Procesos de Entrega de Servicios:</a:t>
            </a:r>
            <a:r>
              <a:rPr lang="es-ES" dirty="0"/>
              <a:t> esto puede incluir desde el momento en que se solicita un servicio, pasando por la asignación y el seguimiento de los recursos, hasta la entrega efectiva del servicio y el seguimiento posterior. Los procesos deben diseñarse para ser lo más eficientes y efectivos posible, minimizando las redundancias y asegurando que los servicios se entregan de forma coherente y de acuerdo con los niveles de servicio esperados.</a:t>
            </a:r>
          </a:p>
        </p:txBody>
      </p:sp>
    </p:spTree>
    <p:extLst>
      <p:ext uri="{BB962C8B-B14F-4D97-AF65-F5344CB8AC3E}">
        <p14:creationId xmlns:p14="http://schemas.microsoft.com/office/powerpoint/2010/main" val="2632624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D23F21ED-01DD-077E-1EBD-DB7DBE05980B}"/>
              </a:ext>
            </a:extLst>
          </p:cNvPr>
          <p:cNvPicPr>
            <a:picLocks noGrp="1" noChangeAspect="1"/>
          </p:cNvPicPr>
          <p:nvPr>
            <p:ph type="pic" sz="quarter" idx="10"/>
          </p:nvPr>
        </p:nvPicPr>
        <p:blipFill>
          <a:blip r:embed="rId3"/>
          <a:srcRect t="253" b="253"/>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Modelo de entrega de servicios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COMPONENTES DE LA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82024"/>
            <a:ext cx="8207375" cy="1912867"/>
          </a:xfrm>
        </p:spPr>
        <p:txBody>
          <a:bodyPr/>
          <a:lstStyle/>
          <a:p>
            <a:pPr marL="177800" indent="-177800">
              <a:buFont typeface="+mj-lt"/>
              <a:buAutoNum type="arabicParenR" startAt="3"/>
            </a:pPr>
            <a:r>
              <a:rPr lang="es-ES" b="1" dirty="0">
                <a:solidFill>
                  <a:srgbClr val="1F85A6"/>
                </a:solidFill>
              </a:rPr>
              <a:t>Roles y Responsabilidades:</a:t>
            </a:r>
            <a:r>
              <a:rPr lang="es-ES" dirty="0"/>
              <a:t> las responsabilidades de cada función y posición en la organización deben estar claramente definidas. Los roles pueden variar ampliamente, desde la gestión estratégica de los servicios hasta la prestación operativa de los mismos.</a:t>
            </a:r>
          </a:p>
          <a:p>
            <a:pPr marL="177800" indent="-177800">
              <a:buFont typeface="+mj-lt"/>
              <a:buAutoNum type="arabicParenR" startAt="3"/>
            </a:pPr>
            <a:r>
              <a:rPr lang="es-ES" b="1" dirty="0">
                <a:solidFill>
                  <a:srgbClr val="1F85A6"/>
                </a:solidFill>
              </a:rPr>
              <a:t>Tecnología y Herramientas: </a:t>
            </a:r>
            <a:r>
              <a:rPr lang="es-ES" dirty="0"/>
              <a:t>las herramientas y sistemas pueden ayudar a automatizar los procesos de entrega de servicios, mejorar la eficiencia, y proporcionar métricas y seguimiento para evaluar la efectividad del servicio. Por ejemplo,  los Sistemas de </a:t>
            </a:r>
            <a:r>
              <a:rPr lang="es-ES" i="1" dirty="0"/>
              <a:t>ticketing</a:t>
            </a:r>
            <a:r>
              <a:rPr lang="es-ES" dirty="0"/>
              <a:t> (seguimiento de solicitudes), CRM (gestión de relaciones con clientes), etc.</a:t>
            </a:r>
          </a:p>
        </p:txBody>
      </p:sp>
    </p:spTree>
    <p:extLst>
      <p:ext uri="{BB962C8B-B14F-4D97-AF65-F5344CB8AC3E}">
        <p14:creationId xmlns:p14="http://schemas.microsoft.com/office/powerpoint/2010/main" val="3992208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AE498B6F-C4D9-6E3D-BA08-4E32131DD042}"/>
              </a:ext>
            </a:extLst>
          </p:cNvPr>
          <p:cNvPicPr>
            <a:picLocks noGrp="1" noChangeAspect="1"/>
          </p:cNvPicPr>
          <p:nvPr>
            <p:ph type="pic" sz="quarter" idx="10"/>
          </p:nvPr>
        </p:nvPicPr>
        <p:blipFill>
          <a:blip r:embed="rId3"/>
          <a:srcRect t="253" b="253"/>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Modelo de entrega de servicios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COMPONENTES DE LA ARQUITECTURA EMPRESARIAL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82025"/>
            <a:ext cx="8207375" cy="1772190"/>
          </a:xfrm>
        </p:spPr>
        <p:txBody>
          <a:bodyPr/>
          <a:lstStyle/>
          <a:p>
            <a:pPr marL="177800" indent="-177800">
              <a:spcAft>
                <a:spcPts val="0"/>
              </a:spcAft>
              <a:buFont typeface="+mj-lt"/>
              <a:buAutoNum type="arabicParenR" startAt="5"/>
            </a:pPr>
            <a:r>
              <a:rPr lang="es-ES" b="1" dirty="0">
                <a:solidFill>
                  <a:srgbClr val="1F85A6"/>
                </a:solidFill>
              </a:rPr>
              <a:t>Gestión de la Calidad del Servicio:</a:t>
            </a:r>
            <a:r>
              <a:rPr lang="es-ES" dirty="0"/>
              <a:t> garantizar que los servicios se entreguen con una alta calidad es fundamental para la satisfacción del usuario y la eficacia general de la organización. </a:t>
            </a:r>
          </a:p>
          <a:p>
            <a:pPr marL="177800" indent="0">
              <a:spcAft>
                <a:spcPts val="0"/>
              </a:spcAft>
              <a:buNone/>
            </a:pPr>
            <a:r>
              <a:rPr lang="es-ES" dirty="0"/>
              <a:t>La gestión de la calidad del servicio implica establecer estándares y expectativas claras, monitorear y medir la prestación de los servicios en relación con estos estándares, e implementar mejoras cuando sea necesario.</a:t>
            </a:r>
          </a:p>
          <a:p>
            <a:pPr marL="177800" indent="0">
              <a:buNone/>
            </a:pPr>
            <a:r>
              <a:rPr lang="es-ES" dirty="0"/>
              <a:t>Esto puede implicar la recopilación de </a:t>
            </a:r>
            <a:r>
              <a:rPr lang="es-ES" i="1" dirty="0"/>
              <a:t>feedback</a:t>
            </a:r>
            <a:r>
              <a:rPr lang="es-ES" dirty="0"/>
              <a:t> de los usuarios, la realización de auditorías de servicio, y la implementación de procesos de mejora continua.</a:t>
            </a:r>
          </a:p>
        </p:txBody>
      </p:sp>
    </p:spTree>
    <p:extLst>
      <p:ext uri="{BB962C8B-B14F-4D97-AF65-F5344CB8AC3E}">
        <p14:creationId xmlns:p14="http://schemas.microsoft.com/office/powerpoint/2010/main" val="224283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2"/>
            <a:ext cx="5543549" cy="466390"/>
          </a:xfrm>
        </p:spPr>
        <p:txBody>
          <a:bodyPr/>
          <a:lstStyle/>
          <a:p>
            <a:pPr marL="274638" indent="-274638">
              <a:tabLst>
                <a:tab pos="274638" algn="l"/>
              </a:tabLst>
            </a:pPr>
            <a:r>
              <a:rPr lang="es-PE" dirty="0"/>
              <a:t>/	IMPLEMENTACIÓN DE MODELOS</a:t>
            </a:r>
          </a:p>
        </p:txBody>
      </p:sp>
    </p:spTree>
    <p:custDataLst>
      <p:tags r:id="rId1"/>
    </p:custDataLst>
    <p:extLst>
      <p:ext uri="{BB962C8B-B14F-4D97-AF65-F5344CB8AC3E}">
        <p14:creationId xmlns:p14="http://schemas.microsoft.com/office/powerpoint/2010/main" val="35452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Proceso de implementación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IMPLEMENTACIÓN DE MODELOS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478825" cy="3491279"/>
          </a:xfrm>
        </p:spPr>
        <p:txBody>
          <a:bodyPr/>
          <a:lstStyle/>
          <a:p>
            <a:pPr>
              <a:spcAft>
                <a:spcPts val="600"/>
              </a:spcAft>
            </a:pPr>
            <a:r>
              <a:rPr lang="es-ES" dirty="0"/>
              <a:t>Si bien existen diferentes enfoques de implementación de modelos de arquitectura empresarial, típicamente siguen los siguientes pasos:</a:t>
            </a:r>
          </a:p>
          <a:p>
            <a:pPr marL="533400" lvl="1" indent="-266700">
              <a:spcAft>
                <a:spcPts val="600"/>
              </a:spcAft>
              <a:buFont typeface="+mj-lt"/>
              <a:buAutoNum type="arabicPeriod"/>
            </a:pPr>
            <a:r>
              <a:rPr lang="es-ES" dirty="0"/>
              <a:t>Definición de la Estrategia.</a:t>
            </a:r>
          </a:p>
          <a:p>
            <a:pPr marL="533400" lvl="1" indent="-266700">
              <a:spcAft>
                <a:spcPts val="600"/>
              </a:spcAft>
              <a:buFont typeface="+mj-lt"/>
              <a:buAutoNum type="arabicPeriod"/>
            </a:pPr>
            <a:r>
              <a:rPr lang="es-ES" dirty="0"/>
              <a:t>Análisis de la Situación Actual.</a:t>
            </a:r>
          </a:p>
          <a:p>
            <a:pPr marL="533400" lvl="1" indent="-266700">
              <a:spcAft>
                <a:spcPts val="600"/>
              </a:spcAft>
              <a:buFont typeface="+mj-lt"/>
              <a:buAutoNum type="arabicPeriod"/>
            </a:pPr>
            <a:r>
              <a:rPr lang="es-ES" dirty="0"/>
              <a:t>Diseño del Modelo.</a:t>
            </a:r>
          </a:p>
          <a:p>
            <a:pPr marL="533400" lvl="1" indent="-266700">
              <a:spcAft>
                <a:spcPts val="600"/>
              </a:spcAft>
              <a:buFont typeface="+mj-lt"/>
              <a:buAutoNum type="arabicPeriod"/>
            </a:pPr>
            <a:r>
              <a:rPr lang="es-ES" dirty="0"/>
              <a:t>Desarrollo de un Plan de Implementación.</a:t>
            </a:r>
          </a:p>
          <a:p>
            <a:pPr marL="533400" lvl="1" indent="-266700">
              <a:spcAft>
                <a:spcPts val="600"/>
              </a:spcAft>
              <a:buFont typeface="+mj-lt"/>
              <a:buAutoNum type="arabicPeriod"/>
            </a:pPr>
            <a:r>
              <a:rPr lang="es-ES" dirty="0"/>
              <a:t>Implementación.</a:t>
            </a:r>
          </a:p>
          <a:p>
            <a:pPr marL="533400" lvl="1" indent="-266700">
              <a:spcAft>
                <a:spcPts val="600"/>
              </a:spcAft>
              <a:buFont typeface="+mj-lt"/>
              <a:buAutoNum type="arabicPeriod"/>
            </a:pPr>
            <a:r>
              <a:rPr lang="es-ES" dirty="0"/>
              <a:t>Monitoreo y Ajustes.</a:t>
            </a:r>
          </a:p>
          <a:p>
            <a:pPr marL="533400" lvl="1" indent="-266700">
              <a:buFont typeface="+mj-lt"/>
              <a:buAutoNum type="arabicPeriod"/>
            </a:pPr>
            <a:r>
              <a:rPr lang="es-ES" dirty="0"/>
              <a:t>Evaluación y Mejora Continua.</a:t>
            </a:r>
          </a:p>
        </p:txBody>
      </p:sp>
      <p:pic>
        <p:nvPicPr>
          <p:cNvPr id="4" name="Marcador de posición de imagen 3">
            <a:extLst>
              <a:ext uri="{FF2B5EF4-FFF2-40B4-BE49-F238E27FC236}">
                <a16:creationId xmlns:a16="http://schemas.microsoft.com/office/drawing/2014/main" id="{F419A424-CEEE-0857-D2BC-1BB872DD1A38}"/>
              </a:ext>
            </a:extLst>
          </p:cNvPr>
          <p:cNvPicPr>
            <a:picLocks noGrp="1" noChangeAspect="1"/>
          </p:cNvPicPr>
          <p:nvPr>
            <p:ph type="pic" sz="quarter" idx="10"/>
          </p:nvPr>
        </p:nvPicPr>
        <p:blipFill>
          <a:blip r:embed="rId3"/>
          <a:srcRect l="234" r="234"/>
          <a:stretch>
            <a:fillRect/>
          </a:stretch>
        </p:blipFill>
        <p:spPr>
          <a:xfrm>
            <a:off x="5310776" y="1158875"/>
            <a:ext cx="3575926" cy="3890986"/>
          </a:xfrm>
        </p:spPr>
      </p:pic>
    </p:spTree>
    <p:extLst>
      <p:ext uri="{BB962C8B-B14F-4D97-AF65-F5344CB8AC3E}">
        <p14:creationId xmlns:p14="http://schemas.microsoft.com/office/powerpoint/2010/main" val="3678829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1. Definición de estrategia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IMPLEMENTACIÓN DE MODELOS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510087" cy="3720609"/>
          </a:xfrm>
        </p:spPr>
        <p:txBody>
          <a:bodyPr/>
          <a:lstStyle/>
          <a:p>
            <a:pPr marL="0" indent="0">
              <a:spcAft>
                <a:spcPts val="600"/>
              </a:spcAft>
              <a:buNone/>
            </a:pPr>
            <a:r>
              <a:rPr lang="es-ES" b="1" dirty="0"/>
              <a:t>Procedimiento:</a:t>
            </a:r>
          </a:p>
          <a:p>
            <a:pPr>
              <a:spcAft>
                <a:spcPts val="600"/>
              </a:spcAft>
            </a:pPr>
            <a:r>
              <a:rPr lang="es-ES" dirty="0"/>
              <a:t>Comienza por entender claramente cuál es la visión de la organización, sus metas a largo plazo, y cómo planea llegar allí.</a:t>
            </a:r>
          </a:p>
          <a:p>
            <a:r>
              <a:rPr lang="es-ES" dirty="0"/>
              <a:t>Esto servirá como el marco para la creación de tus modelos.</a:t>
            </a:r>
          </a:p>
          <a:p>
            <a:pPr marL="0" indent="0">
              <a:spcAft>
                <a:spcPts val="600"/>
              </a:spcAft>
              <a:buNone/>
            </a:pPr>
            <a:r>
              <a:rPr lang="es-ES" b="1" dirty="0"/>
              <a:t>Ejemplo:</a:t>
            </a:r>
          </a:p>
          <a:p>
            <a:r>
              <a:rPr lang="es-ES" dirty="0"/>
              <a:t>Si eres una empresa de comercio electrónico con el objetivo de expandirse globalmente, tu estrategia puede implicar mejorar la eficiencia operacional, optimizar el proceso de entrega y mejorar el soporte al cliente en múltiples idiomas.</a:t>
            </a:r>
          </a:p>
        </p:txBody>
      </p:sp>
      <p:pic>
        <p:nvPicPr>
          <p:cNvPr id="4" name="Marcador de posición de imagen 3">
            <a:extLst>
              <a:ext uri="{FF2B5EF4-FFF2-40B4-BE49-F238E27FC236}">
                <a16:creationId xmlns:a16="http://schemas.microsoft.com/office/drawing/2014/main" id="{681CC1B5-E7D9-723B-B866-A5D62C194AF0}"/>
              </a:ext>
            </a:extLst>
          </p:cNvPr>
          <p:cNvPicPr>
            <a:picLocks noGrp="1" noChangeAspect="1"/>
          </p:cNvPicPr>
          <p:nvPr>
            <p:ph type="pic" sz="quarter" idx="10"/>
          </p:nvPr>
        </p:nvPicPr>
        <p:blipFill>
          <a:blip r:embed="rId3"/>
          <a:srcRect t="86" b="86"/>
          <a:stretch>
            <a:fillRect/>
          </a:stretch>
        </p:blipFill>
        <p:spPr>
          <a:xfrm>
            <a:off x="5182496" y="1078523"/>
            <a:ext cx="3493191" cy="3800961"/>
          </a:xfrm>
        </p:spPr>
      </p:pic>
    </p:spTree>
    <p:extLst>
      <p:ext uri="{BB962C8B-B14F-4D97-AF65-F5344CB8AC3E}">
        <p14:creationId xmlns:p14="http://schemas.microsoft.com/office/powerpoint/2010/main" val="3470450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2. Análisis de la situación actual</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IMPLEMENTACIÓN DE MODELOS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510087" cy="3883171"/>
          </a:xfrm>
        </p:spPr>
        <p:txBody>
          <a:bodyPr/>
          <a:lstStyle/>
          <a:p>
            <a:pPr marL="0" indent="0">
              <a:spcAft>
                <a:spcPts val="600"/>
              </a:spcAft>
              <a:buNone/>
            </a:pPr>
            <a:r>
              <a:rPr lang="es-ES" b="1" dirty="0"/>
              <a:t>Procedimiento:</a:t>
            </a:r>
          </a:p>
          <a:p>
            <a:pPr>
              <a:spcAft>
                <a:spcPts val="600"/>
              </a:spcAft>
            </a:pPr>
            <a:r>
              <a:rPr lang="es-ES" dirty="0"/>
              <a:t>Realiza un análisis exhaustivo de tu organización en su estado actual.</a:t>
            </a:r>
          </a:p>
          <a:p>
            <a:r>
              <a:rPr lang="es-ES" dirty="0"/>
              <a:t>Esto puede implicar la revisión de los procesos actuales, la identificación de las áreas de ineficiencia, la evaluación de las habilidades y competencias del personal, y el análisis de los sistemas de TI existentes.</a:t>
            </a:r>
          </a:p>
          <a:p>
            <a:pPr marL="0" indent="0">
              <a:spcAft>
                <a:spcPts val="600"/>
              </a:spcAft>
              <a:buNone/>
            </a:pPr>
            <a:r>
              <a:rPr lang="es-ES" b="1" dirty="0"/>
              <a:t>Ejemplo:</a:t>
            </a:r>
          </a:p>
          <a:p>
            <a:r>
              <a:rPr lang="es-ES" dirty="0"/>
              <a:t>Si actualmente estás operando en un solo país, con una cadena de suministro local, un solo idioma de soporte al cliente y tecnología desactualizada, estos serían factores importantes a considerar.</a:t>
            </a:r>
          </a:p>
        </p:txBody>
      </p:sp>
      <p:pic>
        <p:nvPicPr>
          <p:cNvPr id="4" name="Marcador de posición de imagen 3">
            <a:extLst>
              <a:ext uri="{FF2B5EF4-FFF2-40B4-BE49-F238E27FC236}">
                <a16:creationId xmlns:a16="http://schemas.microsoft.com/office/drawing/2014/main" id="{EED0B4B2-6CA4-1D77-BF63-0258BFEFF7D5}"/>
              </a:ext>
            </a:extLst>
          </p:cNvPr>
          <p:cNvPicPr>
            <a:picLocks noGrp="1" noChangeAspect="1"/>
          </p:cNvPicPr>
          <p:nvPr>
            <p:ph type="pic" sz="quarter" idx="10"/>
          </p:nvPr>
        </p:nvPicPr>
        <p:blipFill>
          <a:blip r:embed="rId3"/>
          <a:srcRect l="225" r="225"/>
          <a:stretch>
            <a:fillRect/>
          </a:stretch>
        </p:blipFill>
        <p:spPr>
          <a:xfrm>
            <a:off x="5354682" y="1273101"/>
            <a:ext cx="3568744" cy="3883171"/>
          </a:xfrm>
        </p:spPr>
      </p:pic>
    </p:spTree>
    <p:extLst>
      <p:ext uri="{BB962C8B-B14F-4D97-AF65-F5344CB8AC3E}">
        <p14:creationId xmlns:p14="http://schemas.microsoft.com/office/powerpoint/2010/main" val="1282217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3. Diseño del modelo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IMPLEMENTACIÓN DE MODELOS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697656" cy="3751262"/>
          </a:xfrm>
        </p:spPr>
        <p:txBody>
          <a:bodyPr/>
          <a:lstStyle/>
          <a:p>
            <a:pPr marL="0" indent="0">
              <a:spcAft>
                <a:spcPts val="600"/>
              </a:spcAft>
              <a:buNone/>
            </a:pPr>
            <a:r>
              <a:rPr lang="es-ES" b="1" dirty="0"/>
              <a:t>Procedimiento:</a:t>
            </a:r>
          </a:p>
          <a:p>
            <a:pPr>
              <a:spcAft>
                <a:spcPts val="600"/>
              </a:spcAft>
            </a:pPr>
            <a:r>
              <a:rPr lang="es-ES" dirty="0"/>
              <a:t>Con base en tu estrategia y el análisis de la situación actual, comienza a diseñar tus modelos de arquitectura empresarial. </a:t>
            </a:r>
          </a:p>
          <a:p>
            <a:r>
              <a:rPr lang="es-ES" dirty="0"/>
              <a:t>Cada modelo debe reflejar el cómo quieres que tu organización funcione en el futuro.</a:t>
            </a:r>
          </a:p>
          <a:p>
            <a:pPr marL="0" indent="0">
              <a:spcAft>
                <a:spcPts val="600"/>
              </a:spcAft>
              <a:buNone/>
            </a:pPr>
            <a:r>
              <a:rPr lang="es-ES" b="1" dirty="0"/>
              <a:t>Ejemplo:</a:t>
            </a:r>
          </a:p>
          <a:p>
            <a:r>
              <a:rPr lang="es-ES" dirty="0"/>
              <a:t>En base a la estrategia de expansión global, podrías diseñar un modelo operativo que incorpore cadenas de suministro en múltiples países, un modelo de gobierno que maneje las regulaciones en diferentes regiones y un modelo de entrega de servicios que ofrezca soporte en varios idiomas.</a:t>
            </a:r>
          </a:p>
        </p:txBody>
      </p:sp>
      <p:pic>
        <p:nvPicPr>
          <p:cNvPr id="4" name="Marcador de posición de imagen 3">
            <a:extLst>
              <a:ext uri="{FF2B5EF4-FFF2-40B4-BE49-F238E27FC236}">
                <a16:creationId xmlns:a16="http://schemas.microsoft.com/office/drawing/2014/main" id="{B9DFC54E-2C07-C469-8227-2BFD12136BDC}"/>
              </a:ext>
            </a:extLst>
          </p:cNvPr>
          <p:cNvPicPr>
            <a:picLocks noGrp="1" noChangeAspect="1"/>
          </p:cNvPicPr>
          <p:nvPr>
            <p:ph type="pic" sz="quarter" idx="10"/>
          </p:nvPr>
        </p:nvPicPr>
        <p:blipFill>
          <a:blip r:embed="rId3"/>
          <a:srcRect l="118" r="118"/>
          <a:stretch>
            <a:fillRect/>
          </a:stretch>
        </p:blipFill>
        <p:spPr>
          <a:xfrm>
            <a:off x="5510920" y="1158875"/>
            <a:ext cx="3521922" cy="3832223"/>
          </a:xfrm>
        </p:spPr>
      </p:pic>
    </p:spTree>
    <p:extLst>
      <p:ext uri="{BB962C8B-B14F-4D97-AF65-F5344CB8AC3E}">
        <p14:creationId xmlns:p14="http://schemas.microsoft.com/office/powerpoint/2010/main" val="4001652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IMPLEMENTACIÓN DE MODELOS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767995" cy="3751262"/>
          </a:xfrm>
        </p:spPr>
        <p:txBody>
          <a:bodyPr/>
          <a:lstStyle/>
          <a:p>
            <a:pPr marL="0" indent="0">
              <a:spcAft>
                <a:spcPts val="600"/>
              </a:spcAft>
              <a:buNone/>
            </a:pPr>
            <a:r>
              <a:rPr lang="es-ES" b="1" dirty="0"/>
              <a:t>Procedimiento:</a:t>
            </a:r>
          </a:p>
          <a:p>
            <a:pPr>
              <a:spcAft>
                <a:spcPts val="600"/>
              </a:spcAft>
            </a:pPr>
            <a:r>
              <a:rPr lang="es-ES" dirty="0"/>
              <a:t>Desarrolla un plan de cómo llevarás a cabo la implementación de los modelos.</a:t>
            </a:r>
          </a:p>
          <a:p>
            <a:r>
              <a:rPr lang="es-ES" dirty="0"/>
              <a:t>El plan debe incluir las tareas a realizar, recursos necesarios, responsables de cada tarea, los plazos y la gestión de riesgos.</a:t>
            </a:r>
          </a:p>
          <a:p>
            <a:pPr marL="0" indent="0">
              <a:spcAft>
                <a:spcPts val="600"/>
              </a:spcAft>
              <a:buNone/>
            </a:pPr>
            <a:r>
              <a:rPr lang="es-ES" b="1" dirty="0"/>
              <a:t>Ejemplo:</a:t>
            </a:r>
          </a:p>
          <a:p>
            <a:r>
              <a:rPr lang="es-ES" dirty="0"/>
              <a:t>Puedes asignar un equipo para encargarse de establecer relaciones con los proveedores en los nuevos países, otro para trabajar en la localización de la plataforma de comercio electrónico y un tercer equipo para contratar y capacitar a un equipo de soporte al cliente multilingüe.</a:t>
            </a:r>
          </a:p>
        </p:txBody>
      </p:sp>
      <p:pic>
        <p:nvPicPr>
          <p:cNvPr id="4" name="Marcador de posición de imagen 3">
            <a:extLst>
              <a:ext uri="{FF2B5EF4-FFF2-40B4-BE49-F238E27FC236}">
                <a16:creationId xmlns:a16="http://schemas.microsoft.com/office/drawing/2014/main" id="{96091188-90D4-8695-C4C2-EE094B2C78C6}"/>
              </a:ext>
            </a:extLst>
          </p:cNvPr>
          <p:cNvPicPr>
            <a:picLocks noGrp="1" noChangeAspect="1"/>
          </p:cNvPicPr>
          <p:nvPr>
            <p:ph type="pic" sz="quarter" idx="10"/>
          </p:nvPr>
        </p:nvPicPr>
        <p:blipFill>
          <a:blip r:embed="rId3"/>
          <a:srcRect t="1629" b="1629"/>
          <a:stretch>
            <a:fillRect/>
          </a:stretch>
        </p:blipFill>
        <p:spPr>
          <a:xfrm>
            <a:off x="5531736" y="1331912"/>
            <a:ext cx="3612264" cy="3930525"/>
          </a:xfrm>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4608000" cy="354012"/>
          </a:xfrm>
        </p:spPr>
        <p:txBody>
          <a:bodyPr/>
          <a:lstStyle/>
          <a:p>
            <a:r>
              <a:rPr lang="es-PE" dirty="0"/>
              <a:t>4. Desarrollo del un plan de implementación</a:t>
            </a:r>
          </a:p>
        </p:txBody>
      </p:sp>
    </p:spTree>
    <p:extLst>
      <p:ext uri="{BB962C8B-B14F-4D97-AF65-F5344CB8AC3E}">
        <p14:creationId xmlns:p14="http://schemas.microsoft.com/office/powerpoint/2010/main" val="1086934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4126837" cy="354012"/>
          </a:xfrm>
        </p:spPr>
        <p:txBody>
          <a:bodyPr/>
          <a:lstStyle/>
          <a:p>
            <a:r>
              <a:rPr lang="es-PE" dirty="0"/>
              <a:t>5. Implementación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IMPLEMENTACIÓN DE MODELOS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642949" cy="3811710"/>
          </a:xfrm>
        </p:spPr>
        <p:txBody>
          <a:bodyPr/>
          <a:lstStyle/>
          <a:p>
            <a:pPr marL="0" indent="0">
              <a:spcAft>
                <a:spcPts val="600"/>
              </a:spcAft>
              <a:buNone/>
            </a:pPr>
            <a:r>
              <a:rPr lang="es-ES" b="1" dirty="0"/>
              <a:t>Procedimiento:</a:t>
            </a:r>
          </a:p>
          <a:p>
            <a:pPr>
              <a:spcAft>
                <a:spcPts val="600"/>
              </a:spcAft>
            </a:pPr>
            <a:r>
              <a:rPr lang="es-ES" dirty="0"/>
              <a:t>Implementa los modelos siguiendo el plan. Este es un proceso iterativo y puede requerir ajustes en el camino.</a:t>
            </a:r>
          </a:p>
          <a:p>
            <a:r>
              <a:rPr lang="es-ES" dirty="0"/>
              <a:t>La comunicación efectiva es fundamental para garantizar que todos los</a:t>
            </a:r>
            <a:r>
              <a:rPr lang="es-ES" i="1" dirty="0"/>
              <a:t> stakeholders </a:t>
            </a:r>
            <a:r>
              <a:rPr lang="es-ES" dirty="0"/>
              <a:t>estén en la misma página.</a:t>
            </a:r>
          </a:p>
          <a:p>
            <a:pPr marL="0" indent="0">
              <a:spcAft>
                <a:spcPts val="600"/>
              </a:spcAft>
              <a:buNone/>
            </a:pPr>
            <a:r>
              <a:rPr lang="es-ES" b="1" dirty="0"/>
              <a:t>Ejemplo:</a:t>
            </a:r>
          </a:p>
          <a:p>
            <a:r>
              <a:rPr lang="es-ES" dirty="0"/>
              <a:t>El equipo de suministro puede empezar a trabajar con nuevos proveedores, el equipo de TI puede comenzar la localización de la plataforma y el equipo de soporte al cliente puede empezar a contratar y capacitar a personal multilingüe.</a:t>
            </a:r>
          </a:p>
        </p:txBody>
      </p:sp>
      <p:pic>
        <p:nvPicPr>
          <p:cNvPr id="4" name="Marcador de posición de imagen 3">
            <a:extLst>
              <a:ext uri="{FF2B5EF4-FFF2-40B4-BE49-F238E27FC236}">
                <a16:creationId xmlns:a16="http://schemas.microsoft.com/office/drawing/2014/main" id="{4585C3F7-6618-F9E7-3A8B-C098D6A3EAB2}"/>
              </a:ext>
            </a:extLst>
          </p:cNvPr>
          <p:cNvPicPr>
            <a:picLocks noGrp="1" noChangeAspect="1"/>
          </p:cNvPicPr>
          <p:nvPr>
            <p:ph type="pic" sz="quarter" idx="10"/>
          </p:nvPr>
        </p:nvPicPr>
        <p:blipFill>
          <a:blip r:embed="rId3"/>
          <a:srcRect l="2" r="2"/>
          <a:stretch>
            <a:fillRect/>
          </a:stretch>
        </p:blipFill>
        <p:spPr>
          <a:xfrm>
            <a:off x="5478614" y="1328614"/>
            <a:ext cx="3421365" cy="3722807"/>
          </a:xfrm>
        </p:spPr>
      </p:pic>
    </p:spTree>
    <p:extLst>
      <p:ext uri="{BB962C8B-B14F-4D97-AF65-F5344CB8AC3E}">
        <p14:creationId xmlns:p14="http://schemas.microsoft.com/office/powerpoint/2010/main" val="1437439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4126837" cy="354012"/>
          </a:xfrm>
        </p:spPr>
        <p:txBody>
          <a:bodyPr/>
          <a:lstStyle/>
          <a:p>
            <a:r>
              <a:rPr lang="es-PE" dirty="0"/>
              <a:t>6. Monitoreo y ajustes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IMPLEMENTACIÓN DE MODELOS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666395" cy="3342787"/>
          </a:xfrm>
        </p:spPr>
        <p:txBody>
          <a:bodyPr/>
          <a:lstStyle/>
          <a:p>
            <a:pPr marL="0" indent="0">
              <a:spcAft>
                <a:spcPts val="600"/>
              </a:spcAft>
              <a:buNone/>
            </a:pPr>
            <a:r>
              <a:rPr lang="es-ES" b="1" dirty="0"/>
              <a:t>Procedimiento:</a:t>
            </a:r>
          </a:p>
          <a:p>
            <a:pPr>
              <a:spcAft>
                <a:spcPts val="600"/>
              </a:spcAft>
            </a:pPr>
            <a:r>
              <a:rPr lang="es-ES" dirty="0"/>
              <a:t>Una vez implementados los modelos, debes monitorear su desempeño de cerca.</a:t>
            </a:r>
          </a:p>
          <a:p>
            <a:r>
              <a:rPr lang="es-ES" dirty="0"/>
              <a:t>Esto te ayudará a identificar problemas y hacer ajustes a tiempo.</a:t>
            </a:r>
          </a:p>
          <a:p>
            <a:pPr marL="0" indent="0">
              <a:spcAft>
                <a:spcPts val="600"/>
              </a:spcAft>
              <a:buNone/>
            </a:pPr>
            <a:r>
              <a:rPr lang="es-ES" b="1" dirty="0"/>
              <a:t>Ejemplo:</a:t>
            </a:r>
          </a:p>
          <a:p>
            <a:r>
              <a:rPr lang="es-ES" dirty="0"/>
              <a:t>Si encuentras que los clientes en un nuevo mercado están experimentando tiempos de entrega más largos de lo esperado, es posible que necesites ajustar tu modelo operativo para abordar este problema.</a:t>
            </a:r>
          </a:p>
        </p:txBody>
      </p:sp>
      <p:pic>
        <p:nvPicPr>
          <p:cNvPr id="8" name="Marcador de posición de imagen 7">
            <a:extLst>
              <a:ext uri="{FF2B5EF4-FFF2-40B4-BE49-F238E27FC236}">
                <a16:creationId xmlns:a16="http://schemas.microsoft.com/office/drawing/2014/main" id="{4E2A5FDA-5121-9B4C-CEDF-534F105561FE}"/>
              </a:ext>
            </a:extLst>
          </p:cNvPr>
          <p:cNvPicPr>
            <a:picLocks noGrp="1" noChangeAspect="1"/>
          </p:cNvPicPr>
          <p:nvPr>
            <p:ph type="pic" sz="quarter" idx="10"/>
          </p:nvPr>
        </p:nvPicPr>
        <p:blipFill>
          <a:blip r:embed="rId3"/>
          <a:srcRect l="2" r="2"/>
          <a:stretch>
            <a:fillRect/>
          </a:stretch>
        </p:blipFill>
        <p:spPr>
          <a:xfrm>
            <a:off x="5254012" y="981869"/>
            <a:ext cx="3575926" cy="3890986"/>
          </a:xfrm>
        </p:spPr>
      </p:pic>
    </p:spTree>
    <p:extLst>
      <p:ext uri="{BB962C8B-B14F-4D97-AF65-F5344CB8AC3E}">
        <p14:creationId xmlns:p14="http://schemas.microsoft.com/office/powerpoint/2010/main" val="3299926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4126837" cy="354012"/>
          </a:xfrm>
        </p:spPr>
        <p:txBody>
          <a:bodyPr/>
          <a:lstStyle/>
          <a:p>
            <a:r>
              <a:rPr lang="es-PE" dirty="0"/>
              <a:t>7. Evaluación y mejora continua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IMPLEMENTACIÓN DE MODELOS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853964" cy="3514725"/>
          </a:xfrm>
        </p:spPr>
        <p:txBody>
          <a:bodyPr/>
          <a:lstStyle/>
          <a:p>
            <a:pPr marL="0" indent="0">
              <a:spcAft>
                <a:spcPts val="600"/>
              </a:spcAft>
              <a:buNone/>
            </a:pPr>
            <a:r>
              <a:rPr lang="es-ES" b="1" dirty="0"/>
              <a:t>Procedimiento:</a:t>
            </a:r>
          </a:p>
          <a:p>
            <a:pPr>
              <a:spcAft>
                <a:spcPts val="600"/>
              </a:spcAft>
            </a:pPr>
            <a:r>
              <a:rPr lang="es-ES" dirty="0"/>
              <a:t>La implementación de los modelos de AE es un proceso continuo.</a:t>
            </a:r>
          </a:p>
          <a:p>
            <a:r>
              <a:rPr lang="es-ES" dirty="0"/>
              <a:t>Es importante revisar y mejorar regularmente los modelos para mantener su relevancia y eficacia.</a:t>
            </a:r>
          </a:p>
          <a:p>
            <a:pPr marL="0" indent="0">
              <a:spcAft>
                <a:spcPts val="600"/>
              </a:spcAft>
              <a:buNone/>
            </a:pPr>
            <a:r>
              <a:rPr lang="es-ES" b="1" dirty="0"/>
              <a:t>Ejemplo:</a:t>
            </a:r>
          </a:p>
          <a:p>
            <a:r>
              <a:rPr lang="es-ES" dirty="0"/>
              <a:t>A medida que te expandes a más países y adquieres más experiencia, puedes encontrar formas de mejorar tus modelos. Por ejemplo, podrías descubrir que un centro de distribución regional puede ayudar a mejorar los tiempos de entrega, lo que requeriría un ajuste en tu modelo operativo.</a:t>
            </a:r>
          </a:p>
        </p:txBody>
      </p:sp>
      <p:pic>
        <p:nvPicPr>
          <p:cNvPr id="15" name="Marcador de posición de imagen 14">
            <a:extLst>
              <a:ext uri="{FF2B5EF4-FFF2-40B4-BE49-F238E27FC236}">
                <a16:creationId xmlns:a16="http://schemas.microsoft.com/office/drawing/2014/main" id="{B8CEF4FA-E0BA-E5B1-A23C-E170FAAE5416}"/>
              </a:ext>
            </a:extLst>
          </p:cNvPr>
          <p:cNvPicPr>
            <a:picLocks noGrp="1" noChangeAspect="1"/>
          </p:cNvPicPr>
          <p:nvPr>
            <p:ph type="pic" sz="quarter" idx="10"/>
          </p:nvPr>
        </p:nvPicPr>
        <p:blipFill>
          <a:blip r:embed="rId3"/>
          <a:srcRect l="2" r="2"/>
          <a:stretch>
            <a:fillRect/>
          </a:stretch>
        </p:blipFill>
        <p:spPr>
          <a:xfrm>
            <a:off x="5464318" y="1305170"/>
            <a:ext cx="3482553" cy="3789386"/>
          </a:xfrm>
        </p:spPr>
      </p:pic>
    </p:spTree>
    <p:extLst>
      <p:ext uri="{BB962C8B-B14F-4D97-AF65-F5344CB8AC3E}">
        <p14:creationId xmlns:p14="http://schemas.microsoft.com/office/powerpoint/2010/main" val="2823363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p:txBody>
          <a:bodyPr/>
          <a:lstStyle/>
          <a:p>
            <a:pPr marL="274638" indent="-274638">
              <a:tabLst>
                <a:tab pos="274638" algn="l"/>
              </a:tabLst>
            </a:pPr>
            <a:r>
              <a:rPr lang="es-PE" dirty="0"/>
              <a:t>/	CENTROS DE SERVICIOS COMPARTIDOS</a:t>
            </a:r>
          </a:p>
        </p:txBody>
      </p:sp>
    </p:spTree>
    <p:custDataLst>
      <p:tags r:id="rId1"/>
    </p:custDataLst>
    <p:extLst>
      <p:ext uri="{BB962C8B-B14F-4D97-AF65-F5344CB8AC3E}">
        <p14:creationId xmlns:p14="http://schemas.microsoft.com/office/powerpoint/2010/main" val="3867589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¿En qué consiste?</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CENTROS DE SERVICIOS COMPARTIDOS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517902" cy="4111625"/>
          </a:xfrm>
        </p:spPr>
        <p:txBody>
          <a:bodyPr/>
          <a:lstStyle/>
          <a:p>
            <a:r>
              <a:rPr lang="es-ES" dirty="0"/>
              <a:t>Un Centro de Servicios Compartidos (CSC) es una unidad organizativa responsable de la ejecución y la gestión de tareas y funciones específicas, como TI, contabilidad, recursos humanos, compras, entre otros, </a:t>
            </a:r>
            <a:r>
              <a:rPr lang="es-ES" b="1" dirty="0"/>
              <a:t>que son compartidos por diferentes áreas de la empresa</a:t>
            </a:r>
            <a:r>
              <a:rPr lang="es-ES" dirty="0"/>
              <a:t>.</a:t>
            </a:r>
          </a:p>
          <a:p>
            <a:r>
              <a:rPr lang="es-ES" dirty="0"/>
              <a:t>Su propósito principal es </a:t>
            </a:r>
            <a:r>
              <a:rPr lang="es-ES" b="1" dirty="0"/>
              <a:t>proporcionar servicios internos</a:t>
            </a:r>
            <a:r>
              <a:rPr lang="es-ES" dirty="0"/>
              <a:t> de manera más eficiente y efectiva que si lo haría cada área operando de forma independiente.</a:t>
            </a:r>
          </a:p>
          <a:p>
            <a:r>
              <a:rPr lang="es-ES" dirty="0"/>
              <a:t>Los CSC suelen ser una parte integral de la estrategia de una empresa para mejorar la eficiencia operativa, reducir costos y mejorar la calidad del servicio.</a:t>
            </a:r>
          </a:p>
        </p:txBody>
      </p:sp>
      <p:pic>
        <p:nvPicPr>
          <p:cNvPr id="4" name="Marcador de posición de imagen 3">
            <a:extLst>
              <a:ext uri="{FF2B5EF4-FFF2-40B4-BE49-F238E27FC236}">
                <a16:creationId xmlns:a16="http://schemas.microsoft.com/office/drawing/2014/main" id="{84AE7903-EE9E-FE7C-4693-86F1B033AD38}"/>
              </a:ext>
            </a:extLst>
          </p:cNvPr>
          <p:cNvPicPr>
            <a:picLocks noGrp="1" noChangeAspect="1"/>
          </p:cNvPicPr>
          <p:nvPr>
            <p:ph type="pic" sz="quarter" idx="10"/>
          </p:nvPr>
        </p:nvPicPr>
        <p:blipFill>
          <a:blip r:embed="rId3"/>
          <a:srcRect t="212" b="212"/>
          <a:stretch>
            <a:fillRect/>
          </a:stretch>
        </p:blipFill>
        <p:spPr>
          <a:xfrm>
            <a:off x="5258708" y="1202837"/>
            <a:ext cx="3586564" cy="3902561"/>
          </a:xfrm>
        </p:spPr>
      </p:pic>
    </p:spTree>
    <p:extLst>
      <p:ext uri="{BB962C8B-B14F-4D97-AF65-F5344CB8AC3E}">
        <p14:creationId xmlns:p14="http://schemas.microsoft.com/office/powerpoint/2010/main" val="984262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Funcionamiento de un CSC</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CENTROS DE SERVICIOS COMPARTIDOS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616643" cy="2714315"/>
          </a:xfrm>
        </p:spPr>
        <p:txBody>
          <a:bodyPr/>
          <a:lstStyle/>
          <a:p>
            <a:r>
              <a:rPr lang="es-ES" dirty="0"/>
              <a:t>Funciona centralizando funciones o servicios que se realizan en varias partes de la organización.</a:t>
            </a:r>
          </a:p>
          <a:p>
            <a:pPr>
              <a:spcAft>
                <a:spcPts val="600"/>
              </a:spcAft>
            </a:pPr>
            <a:r>
              <a:rPr lang="es-ES" dirty="0"/>
              <a:t>El procedimiento típico a seguir sería el siguiente:</a:t>
            </a:r>
          </a:p>
          <a:p>
            <a:pPr marL="533400" lvl="1" indent="-266700">
              <a:spcAft>
                <a:spcPts val="600"/>
              </a:spcAft>
              <a:buFont typeface="+mj-lt"/>
              <a:buAutoNum type="arabicPeriod"/>
            </a:pPr>
            <a:r>
              <a:rPr lang="es-ES" dirty="0"/>
              <a:t>Identificación de servicios para consolidar.</a:t>
            </a:r>
          </a:p>
          <a:p>
            <a:pPr marL="533400" lvl="1" indent="-266700">
              <a:spcAft>
                <a:spcPts val="600"/>
              </a:spcAft>
              <a:buFont typeface="+mj-lt"/>
              <a:buAutoNum type="arabicPeriod"/>
            </a:pPr>
            <a:r>
              <a:rPr lang="es-ES" dirty="0"/>
              <a:t>Creación del CSC.</a:t>
            </a:r>
          </a:p>
          <a:p>
            <a:pPr marL="533400" lvl="1" indent="-266700">
              <a:spcAft>
                <a:spcPts val="600"/>
              </a:spcAft>
              <a:buFont typeface="+mj-lt"/>
              <a:buAutoNum type="arabicPeriod"/>
            </a:pPr>
            <a:r>
              <a:rPr lang="es-ES" dirty="0"/>
              <a:t>Transferencia de servicios al CSC.</a:t>
            </a:r>
          </a:p>
          <a:p>
            <a:pPr marL="533400" lvl="1" indent="-266700">
              <a:spcAft>
                <a:spcPts val="600"/>
              </a:spcAft>
              <a:buFont typeface="+mj-lt"/>
              <a:buAutoNum type="arabicPeriod"/>
            </a:pPr>
            <a:r>
              <a:rPr lang="es-ES" dirty="0"/>
              <a:t>Operación del CSC.</a:t>
            </a:r>
          </a:p>
          <a:p>
            <a:pPr marL="533400" lvl="1" indent="-266700">
              <a:buFont typeface="+mj-lt"/>
              <a:buAutoNum type="arabicPeriod"/>
            </a:pPr>
            <a:r>
              <a:rPr lang="es-ES" dirty="0"/>
              <a:t>Mejora continua.</a:t>
            </a:r>
          </a:p>
        </p:txBody>
      </p:sp>
      <p:pic>
        <p:nvPicPr>
          <p:cNvPr id="4" name="Marcador de posición de imagen 3">
            <a:extLst>
              <a:ext uri="{FF2B5EF4-FFF2-40B4-BE49-F238E27FC236}">
                <a16:creationId xmlns:a16="http://schemas.microsoft.com/office/drawing/2014/main" id="{33C592AD-13F1-33D0-61A3-B53AA4EAE81A}"/>
              </a:ext>
            </a:extLst>
          </p:cNvPr>
          <p:cNvPicPr>
            <a:picLocks noGrp="1" noChangeAspect="1"/>
          </p:cNvPicPr>
          <p:nvPr>
            <p:ph type="pic" sz="quarter" idx="10"/>
          </p:nvPr>
        </p:nvPicPr>
        <p:blipFill>
          <a:blip r:embed="rId3"/>
          <a:srcRect l="20" r="20"/>
          <a:stretch>
            <a:fillRect/>
          </a:stretch>
        </p:blipFill>
        <p:spPr>
          <a:xfrm>
            <a:off x="5486399" y="1158875"/>
            <a:ext cx="3328564" cy="3621830"/>
          </a:xfrm>
        </p:spPr>
      </p:pic>
    </p:spTree>
    <p:extLst>
      <p:ext uri="{BB962C8B-B14F-4D97-AF65-F5344CB8AC3E}">
        <p14:creationId xmlns:p14="http://schemas.microsoft.com/office/powerpoint/2010/main" val="2719722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CENTROS DE SERVICIOS COMPARTIDOS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611687" cy="3553802"/>
          </a:xfrm>
        </p:spPr>
        <p:txBody>
          <a:bodyPr/>
          <a:lstStyle/>
          <a:p>
            <a:r>
              <a:rPr lang="es-ES" dirty="0"/>
              <a:t>Esto normalmente implica realizar un análisis detallado de las operaciones de la empresa para identificar tareas que se realizan en múltiples departamentos y que podrían centralizarse.</a:t>
            </a:r>
          </a:p>
          <a:p>
            <a:pPr marL="0" indent="0">
              <a:spcAft>
                <a:spcPts val="600"/>
              </a:spcAft>
              <a:buNone/>
            </a:pPr>
            <a:r>
              <a:rPr lang="es-ES" b="1" u="sng" dirty="0">
                <a:solidFill>
                  <a:srgbClr val="1F85A6"/>
                </a:solidFill>
              </a:rPr>
              <a:t>Ejemplo:</a:t>
            </a:r>
          </a:p>
          <a:p>
            <a:pPr>
              <a:spcAft>
                <a:spcPts val="600"/>
              </a:spcAft>
            </a:pPr>
            <a:r>
              <a:rPr lang="es-ES" dirty="0"/>
              <a:t>Supongamos que una empresa global tiene operaciones de recursos humanos en cada uno de sus sitios de todo el mundo.</a:t>
            </a:r>
          </a:p>
          <a:p>
            <a:r>
              <a:rPr lang="es-ES" dirty="0"/>
              <a:t>Cada sitio tiene su propio equipo de recursos humanos realizando tareas similares, como la gestión de planillas, la contratación de personal y la gestión de beneficios.</a:t>
            </a:r>
          </a:p>
        </p:txBody>
      </p:sp>
      <p:pic>
        <p:nvPicPr>
          <p:cNvPr id="4" name="Marcador de posición de imagen 3">
            <a:extLst>
              <a:ext uri="{FF2B5EF4-FFF2-40B4-BE49-F238E27FC236}">
                <a16:creationId xmlns:a16="http://schemas.microsoft.com/office/drawing/2014/main" id="{A70943AB-DF6E-7F5C-6A9D-2CCD99F77472}"/>
              </a:ext>
            </a:extLst>
          </p:cNvPr>
          <p:cNvPicPr>
            <a:picLocks noGrp="1" noChangeAspect="1"/>
          </p:cNvPicPr>
          <p:nvPr>
            <p:ph type="pic" sz="quarter" idx="10"/>
          </p:nvPr>
        </p:nvPicPr>
        <p:blipFill>
          <a:blip r:embed="rId3"/>
          <a:srcRect l="234" r="234"/>
          <a:stretch>
            <a:fillRect/>
          </a:stretch>
        </p:blipFill>
        <p:spPr>
          <a:xfrm>
            <a:off x="5430234" y="1314206"/>
            <a:ext cx="3493191" cy="3800961"/>
          </a:xfrm>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4716000" cy="354012"/>
          </a:xfrm>
        </p:spPr>
        <p:txBody>
          <a:bodyPr/>
          <a:lstStyle/>
          <a:p>
            <a:r>
              <a:rPr lang="es-PE" dirty="0"/>
              <a:t>1. Identificación de servicios para consolidar</a:t>
            </a:r>
          </a:p>
        </p:txBody>
      </p:sp>
    </p:spTree>
    <p:extLst>
      <p:ext uri="{BB962C8B-B14F-4D97-AF65-F5344CB8AC3E}">
        <p14:creationId xmlns:p14="http://schemas.microsoft.com/office/powerpoint/2010/main" val="2462931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2. Creación del CSC</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CENTROS DE SERVICIOS COMPARTIDOS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517902" cy="3374048"/>
          </a:xfrm>
        </p:spPr>
        <p:txBody>
          <a:bodyPr/>
          <a:lstStyle/>
          <a:p>
            <a:pPr>
              <a:spcAft>
                <a:spcPts val="600"/>
              </a:spcAft>
            </a:pPr>
            <a:r>
              <a:rPr lang="es-ES" dirty="0"/>
              <a:t>Una vez que se han identificado las tareas que se van a consolidar, se crea el CSC.</a:t>
            </a:r>
          </a:p>
          <a:p>
            <a:r>
              <a:rPr lang="es-ES" dirty="0"/>
              <a:t>Este será un nuevo departamento o unidad de negocio dentro de la organización, con su propio personal, presupuesto y responsabilidades.</a:t>
            </a:r>
          </a:p>
          <a:p>
            <a:pPr marL="0" indent="0">
              <a:spcAft>
                <a:spcPts val="600"/>
              </a:spcAft>
              <a:buNone/>
            </a:pPr>
            <a:r>
              <a:rPr lang="es-ES" b="1" u="sng" dirty="0">
                <a:solidFill>
                  <a:srgbClr val="1F85A6"/>
                </a:solidFill>
              </a:rPr>
              <a:t>Ejemplo:</a:t>
            </a:r>
          </a:p>
          <a:p>
            <a:pPr>
              <a:spcAft>
                <a:spcPts val="600"/>
              </a:spcAft>
            </a:pPr>
            <a:r>
              <a:rPr lang="es-ES" dirty="0"/>
              <a:t>La empresa decide crear un CSC de Recursos Humanos.</a:t>
            </a:r>
          </a:p>
          <a:p>
            <a:r>
              <a:rPr lang="es-ES" dirty="0"/>
              <a:t>Contratan a un director para el CSC y empiezan a trasladar personal y recursos de los equipos de recursos humanos de cada sitio al CSC.</a:t>
            </a:r>
          </a:p>
        </p:txBody>
      </p:sp>
      <p:pic>
        <p:nvPicPr>
          <p:cNvPr id="4" name="Marcador de posición de imagen 3">
            <a:extLst>
              <a:ext uri="{FF2B5EF4-FFF2-40B4-BE49-F238E27FC236}">
                <a16:creationId xmlns:a16="http://schemas.microsoft.com/office/drawing/2014/main" id="{5B283A4F-2557-36FE-40BE-F3ACA20721B6}"/>
              </a:ext>
            </a:extLst>
          </p:cNvPr>
          <p:cNvPicPr>
            <a:picLocks noGrp="1" noChangeAspect="1"/>
          </p:cNvPicPr>
          <p:nvPr>
            <p:ph type="pic" sz="quarter" idx="10"/>
          </p:nvPr>
        </p:nvPicPr>
        <p:blipFill>
          <a:blip r:embed="rId3"/>
          <a:srcRect l="234" r="234"/>
          <a:stretch>
            <a:fillRect/>
          </a:stretch>
        </p:blipFill>
        <p:spPr>
          <a:xfrm>
            <a:off x="5360826" y="1158875"/>
            <a:ext cx="3500374" cy="3808777"/>
          </a:xfrm>
        </p:spPr>
      </p:pic>
    </p:spTree>
    <p:extLst>
      <p:ext uri="{BB962C8B-B14F-4D97-AF65-F5344CB8AC3E}">
        <p14:creationId xmlns:p14="http://schemas.microsoft.com/office/powerpoint/2010/main" val="2634866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3. Transferencia de servicios al CSC</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CENTROS DE SERVICIOS COMPARTIDOS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650764" cy="3467833"/>
          </a:xfrm>
        </p:spPr>
        <p:txBody>
          <a:bodyPr/>
          <a:lstStyle/>
          <a:p>
            <a:r>
              <a:rPr lang="es-ES" dirty="0"/>
              <a:t>Esto puede implicar el traspaso de personal, la transferencia de conocimientos y la implementación de nuevos sistemas y procesos.</a:t>
            </a:r>
          </a:p>
          <a:p>
            <a:pPr marL="0" indent="0">
              <a:spcAft>
                <a:spcPts val="600"/>
              </a:spcAft>
              <a:buNone/>
            </a:pPr>
            <a:r>
              <a:rPr lang="es-ES" b="1" u="sng" dirty="0">
                <a:solidFill>
                  <a:srgbClr val="1F85A6"/>
                </a:solidFill>
              </a:rPr>
              <a:t>Ejemplo:</a:t>
            </a:r>
          </a:p>
          <a:p>
            <a:pPr>
              <a:spcAft>
                <a:spcPts val="600"/>
              </a:spcAft>
            </a:pPr>
            <a:r>
              <a:rPr lang="es-ES" dirty="0"/>
              <a:t>Los equipos de recursos humanos de cada sitio comienzan a transferir sus responsabilidades al CSC.</a:t>
            </a:r>
          </a:p>
          <a:p>
            <a:r>
              <a:rPr lang="es-ES" dirty="0"/>
              <a:t>Esto puede implicar la formación del personal del CSC en los procesos específicos de cada sitio, la transferencia de datos y sistemas de recursos humanos al CSC y la implementación de nuevos sistemas y procesos para mejorar la eficiencia.</a:t>
            </a:r>
          </a:p>
        </p:txBody>
      </p:sp>
      <p:pic>
        <p:nvPicPr>
          <p:cNvPr id="4" name="Marcador de posición de imagen 3">
            <a:extLst>
              <a:ext uri="{FF2B5EF4-FFF2-40B4-BE49-F238E27FC236}">
                <a16:creationId xmlns:a16="http://schemas.microsoft.com/office/drawing/2014/main" id="{F57F58B8-B699-055D-6EAA-0CF99210E284}"/>
              </a:ext>
            </a:extLst>
          </p:cNvPr>
          <p:cNvPicPr>
            <a:picLocks noGrp="1" noChangeAspect="1"/>
          </p:cNvPicPr>
          <p:nvPr>
            <p:ph type="pic" sz="quarter" idx="10"/>
          </p:nvPr>
        </p:nvPicPr>
        <p:blipFill>
          <a:blip r:embed="rId3"/>
          <a:srcRect l="127" r="127"/>
          <a:stretch>
            <a:fillRect/>
          </a:stretch>
        </p:blipFill>
        <p:spPr>
          <a:xfrm>
            <a:off x="5478584" y="1270626"/>
            <a:ext cx="3343241" cy="3637800"/>
          </a:xfrm>
        </p:spPr>
      </p:pic>
    </p:spTree>
    <p:extLst>
      <p:ext uri="{BB962C8B-B14F-4D97-AF65-F5344CB8AC3E}">
        <p14:creationId xmlns:p14="http://schemas.microsoft.com/office/powerpoint/2010/main" val="1503414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4. Operación del CSC</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CENTROS DE SERVICIOS COMPARTIDOS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814887" cy="3561617"/>
          </a:xfrm>
        </p:spPr>
        <p:txBody>
          <a:bodyPr/>
          <a:lstStyle/>
          <a:p>
            <a:r>
              <a:rPr lang="es-ES" dirty="0"/>
              <a:t>Proporciona los servicios centralizados a los departamentos o unidades de negocio que los necesitan, a menudo con niveles de servicio acordados.</a:t>
            </a:r>
          </a:p>
          <a:p>
            <a:pPr marL="0" indent="0">
              <a:spcAft>
                <a:spcPts val="600"/>
              </a:spcAft>
              <a:buNone/>
            </a:pPr>
            <a:r>
              <a:rPr lang="es-ES" b="1" u="sng" dirty="0">
                <a:solidFill>
                  <a:srgbClr val="1F85A6"/>
                </a:solidFill>
              </a:rPr>
              <a:t>Ejemplo:</a:t>
            </a:r>
          </a:p>
          <a:p>
            <a:pPr>
              <a:spcAft>
                <a:spcPts val="600"/>
              </a:spcAft>
            </a:pPr>
            <a:r>
              <a:rPr lang="es-ES" dirty="0"/>
              <a:t>El CSC de Recursos Humanos ahora gestiona todas las planillas, contrataciones y beneficios de los empleados para toda la empresa.</a:t>
            </a:r>
          </a:p>
          <a:p>
            <a:r>
              <a:rPr lang="es-ES" dirty="0"/>
              <a:t>Cada sitio ya no tiene su propio equipo de recursos humanos y, en cambio, se comunica con el CSC para cualquier necesidad relacionada con los recursos humanos.</a:t>
            </a:r>
          </a:p>
        </p:txBody>
      </p:sp>
      <p:pic>
        <p:nvPicPr>
          <p:cNvPr id="4" name="Marcador de posición de imagen 3">
            <a:extLst>
              <a:ext uri="{FF2B5EF4-FFF2-40B4-BE49-F238E27FC236}">
                <a16:creationId xmlns:a16="http://schemas.microsoft.com/office/drawing/2014/main" id="{0C7E4C98-3A99-C7D2-35FB-F143D2E07CFC}"/>
              </a:ext>
            </a:extLst>
          </p:cNvPr>
          <p:cNvPicPr>
            <a:picLocks noGrp="1" noChangeAspect="1"/>
          </p:cNvPicPr>
          <p:nvPr>
            <p:ph type="pic" sz="quarter" idx="10"/>
          </p:nvPr>
        </p:nvPicPr>
        <p:blipFill>
          <a:blip r:embed="rId3"/>
          <a:srcRect l="234" r="234"/>
          <a:stretch>
            <a:fillRect/>
          </a:stretch>
        </p:blipFill>
        <p:spPr>
          <a:xfrm>
            <a:off x="5539872" y="1201250"/>
            <a:ext cx="3407000" cy="3707176"/>
          </a:xfrm>
        </p:spPr>
      </p:pic>
    </p:spTree>
    <p:extLst>
      <p:ext uri="{BB962C8B-B14F-4D97-AF65-F5344CB8AC3E}">
        <p14:creationId xmlns:p14="http://schemas.microsoft.com/office/powerpoint/2010/main" val="156106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4. Mejora continua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CENTROS DE SERVICIOS COMPARTIDOS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642949" cy="3241187"/>
          </a:xfrm>
        </p:spPr>
        <p:txBody>
          <a:bodyPr/>
          <a:lstStyle/>
          <a:p>
            <a:pPr>
              <a:spcAft>
                <a:spcPts val="600"/>
              </a:spcAft>
            </a:pPr>
            <a:r>
              <a:rPr lang="es-ES" dirty="0"/>
              <a:t>Un aspecto importante del funcionamiento de un CSC es la mejora continua.</a:t>
            </a:r>
          </a:p>
          <a:p>
            <a:r>
              <a:rPr lang="es-ES" dirty="0"/>
              <a:t>Esto implica monitorear y evaluar constantemente la eficiencia y la efectividad del CSC y buscar maneras de mejorar.</a:t>
            </a:r>
          </a:p>
          <a:p>
            <a:pPr marL="0" indent="0">
              <a:spcAft>
                <a:spcPts val="600"/>
              </a:spcAft>
              <a:buNone/>
            </a:pPr>
            <a:r>
              <a:rPr lang="es-ES" b="1" u="sng" dirty="0">
                <a:solidFill>
                  <a:srgbClr val="1F85A6"/>
                </a:solidFill>
              </a:rPr>
              <a:t>Ejemplo:</a:t>
            </a:r>
          </a:p>
          <a:p>
            <a:r>
              <a:rPr lang="es-ES" dirty="0"/>
              <a:t>El CSC de Recursos Humanos podría establecer métricas de rendimiento, como el tiempo de procesamiento de la planilla o la satisfacción del empleado, y utilizar estos datos para identificar áreas de mejora y optimizar los procesos.</a:t>
            </a:r>
          </a:p>
        </p:txBody>
      </p:sp>
      <p:pic>
        <p:nvPicPr>
          <p:cNvPr id="4" name="Marcador de posición de imagen 3">
            <a:extLst>
              <a:ext uri="{FF2B5EF4-FFF2-40B4-BE49-F238E27FC236}">
                <a16:creationId xmlns:a16="http://schemas.microsoft.com/office/drawing/2014/main" id="{E878F232-D36B-F6CF-389B-8C27F9465804}"/>
              </a:ext>
            </a:extLst>
          </p:cNvPr>
          <p:cNvPicPr>
            <a:picLocks noGrp="1" noChangeAspect="1"/>
          </p:cNvPicPr>
          <p:nvPr>
            <p:ph type="pic" sz="quarter" idx="10"/>
          </p:nvPr>
        </p:nvPicPr>
        <p:blipFill>
          <a:blip r:embed="rId3"/>
          <a:srcRect l="234" r="234"/>
          <a:stretch>
            <a:fillRect/>
          </a:stretch>
        </p:blipFill>
        <p:spPr>
          <a:xfrm>
            <a:off x="5336639" y="978938"/>
            <a:ext cx="3672755" cy="3996346"/>
          </a:xfrm>
        </p:spPr>
      </p:pic>
    </p:spTree>
    <p:extLst>
      <p:ext uri="{BB962C8B-B14F-4D97-AF65-F5344CB8AC3E}">
        <p14:creationId xmlns:p14="http://schemas.microsoft.com/office/powerpoint/2010/main" val="1874827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F500AF3-50A8-4251-BC95-6B4FF9C4652B}"/>
              </a:ext>
            </a:extLst>
          </p:cNvPr>
          <p:cNvSpPr>
            <a:spLocks noGrp="1"/>
          </p:cNvSpPr>
          <p:nvPr>
            <p:ph type="body" sz="quarter" idx="10"/>
          </p:nvPr>
        </p:nvSpPr>
        <p:spPr>
          <a:xfrm>
            <a:off x="927366" y="1670909"/>
            <a:ext cx="7713398" cy="3080845"/>
          </a:xfrm>
        </p:spPr>
        <p:txBody>
          <a:bodyPr/>
          <a:lstStyle/>
          <a:p>
            <a:r>
              <a:rPr lang="es-ES" dirty="0"/>
              <a:t>La arquitectura empresarial es una disciplina estratégica que proporciona un enfoque integral para el diseño, la planificación, la implementación y la gobernanza de la estrategia empresarial de una organización.</a:t>
            </a:r>
          </a:p>
          <a:p>
            <a:r>
              <a:rPr lang="es-ES" dirty="0"/>
              <a:t>La implementación de los modelos de arquitectura empresarial requiere un enfoque estructurado y cuidadoso, que incluye la definición de la estrategia, el análisis de la situación actual, el diseño de los modelos, el desarrollo de un plan de implementación, la implementación, el monitoreo y ajustes, y la evaluación y mejora continua.</a:t>
            </a:r>
          </a:p>
          <a:p>
            <a:r>
              <a:rPr lang="es-ES" dirty="0"/>
              <a:t>Un Centro de Servicios Compartidos (CSC) es una estrategia operativa que implica la consolidación de tareas y funciones comunes en una única unidad organizativa para mejorar la eficiencia, reducir costos y estandarizar procesos.</a:t>
            </a:r>
          </a:p>
        </p:txBody>
      </p:sp>
    </p:spTree>
    <p:custDataLst>
      <p:tags r:id="rId1"/>
    </p:custDataLst>
    <p:extLst>
      <p:ext uri="{BB962C8B-B14F-4D97-AF65-F5344CB8AC3E}">
        <p14:creationId xmlns:p14="http://schemas.microsoft.com/office/powerpoint/2010/main" val="4015447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9435A8C-18F1-4C11-BC95-3930F36C4A90}"/>
              </a:ext>
            </a:extLst>
          </p:cNvPr>
          <p:cNvSpPr>
            <a:spLocks noGrp="1"/>
          </p:cNvSpPr>
          <p:nvPr>
            <p:ph type="body" sz="quarter" idx="10"/>
          </p:nvPr>
        </p:nvSpPr>
        <p:spPr/>
        <p:txBody>
          <a:bodyPr/>
          <a:lstStyle/>
          <a:p>
            <a:pPr>
              <a:lnSpc>
                <a:spcPct val="100000"/>
              </a:lnSpc>
            </a:pPr>
            <a:r>
              <a:rPr lang="en-US" dirty="0"/>
              <a:t>Agile Extension to the BABOK Guide. (2020). </a:t>
            </a:r>
            <a:r>
              <a:rPr lang="en-US" dirty="0" err="1"/>
              <a:t>Recuperado</a:t>
            </a:r>
            <a:r>
              <a:rPr lang="en-US" dirty="0"/>
              <a:t> de: https://www.iiba.org/standards-andresources/babok/</a:t>
            </a:r>
          </a:p>
          <a:p>
            <a:pPr>
              <a:lnSpc>
                <a:spcPct val="100000"/>
              </a:lnSpc>
            </a:pPr>
            <a:r>
              <a:rPr lang="en-US" dirty="0"/>
              <a:t>Ross, J. W., Weill, P., &amp; Robertson, D. C. (2006). Enterprise Architecture As Strategy: Creating a Foundation for Business Execution. Harvard Business Review Press.</a:t>
            </a:r>
          </a:p>
          <a:p>
            <a:pPr>
              <a:lnSpc>
                <a:spcPct val="100000"/>
              </a:lnSpc>
            </a:pPr>
            <a:r>
              <a:rPr lang="en-US" dirty="0"/>
              <a:t>Bernard, S. A. (2012). An Introduction to Enterprise Architecture: Third Edition. </a:t>
            </a:r>
            <a:r>
              <a:rPr lang="en-US" dirty="0" err="1"/>
              <a:t>AuthorHouse</a:t>
            </a:r>
            <a:r>
              <a:rPr lang="en-US" dirty="0"/>
              <a:t>.</a:t>
            </a:r>
          </a:p>
          <a:p>
            <a:pPr>
              <a:lnSpc>
                <a:spcPct val="100000"/>
              </a:lnSpc>
            </a:pPr>
            <a:r>
              <a:rPr lang="en-US" dirty="0"/>
              <a:t>The Open Group. (2011). TOGAF® Version 9.1. Van Haren Publishing.</a:t>
            </a:r>
          </a:p>
          <a:p>
            <a:pPr>
              <a:lnSpc>
                <a:spcPct val="100000"/>
              </a:lnSpc>
            </a:pPr>
            <a:r>
              <a:rPr lang="en-US" dirty="0"/>
              <a:t>Zachman, J. A. (2017). Zachman Framework: A Guide for Enterprise Architecture..</a:t>
            </a:r>
          </a:p>
        </p:txBody>
      </p:sp>
    </p:spTree>
    <p:custDataLst>
      <p:tags r:id="rId1"/>
    </p:custDataLst>
    <p:extLst>
      <p:ext uri="{BB962C8B-B14F-4D97-AF65-F5344CB8AC3E}">
        <p14:creationId xmlns:p14="http://schemas.microsoft.com/office/powerpoint/2010/main" val="2633154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17178</TotalTime>
  <Words>4409</Words>
  <Application>Microsoft Office PowerPoint</Application>
  <PresentationFormat>Presentación en pantalla (16:10)</PresentationFormat>
  <Paragraphs>340</Paragraphs>
  <Slides>50</Slides>
  <Notes>50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50</vt:i4>
      </vt:variant>
    </vt:vector>
  </HeadingPairs>
  <TitlesOfParts>
    <vt:vector size="55" baseType="lpstr">
      <vt:lpstr>Arial</vt:lpstr>
      <vt:lpstr>Calibri</vt:lpstr>
      <vt:lpstr>Delius</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Arturo Enrique Reátegui Herrera</cp:lastModifiedBy>
  <cp:revision>1186</cp:revision>
  <cp:lastPrinted>2018-01-16T21:42:59Z</cp:lastPrinted>
  <dcterms:created xsi:type="dcterms:W3CDTF">2016-10-06T14:52:02Z</dcterms:created>
  <dcterms:modified xsi:type="dcterms:W3CDTF">2023-07-19T20:34:34Z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