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8.xml" ContentType="application/vnd.openxmlformats-officedocument.presentationml.tags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9.xml" ContentType="application/vnd.openxmlformats-officedocument.presentationml.tags+xml"/>
  <Override PartName="/ppt/notesSlides/notesSlide46.xml" ContentType="application/vnd.openxmlformats-officedocument.presentationml.notesSlide+xml"/>
  <Override PartName="/ppt/tags/tag10.xml" ContentType="application/vnd.openxmlformats-officedocument.presentationml.tags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418" r:id="rId2"/>
    <p:sldId id="337" r:id="rId3"/>
    <p:sldId id="315" r:id="rId4"/>
    <p:sldId id="443" r:id="rId5"/>
    <p:sldId id="451" r:id="rId6"/>
    <p:sldId id="452" r:id="rId7"/>
    <p:sldId id="490" r:id="rId8"/>
    <p:sldId id="491" r:id="rId9"/>
    <p:sldId id="492" r:id="rId10"/>
    <p:sldId id="493" r:id="rId11"/>
    <p:sldId id="460" r:id="rId12"/>
    <p:sldId id="494" r:id="rId13"/>
    <p:sldId id="496" r:id="rId14"/>
    <p:sldId id="497" r:id="rId15"/>
    <p:sldId id="499" r:id="rId16"/>
    <p:sldId id="498" r:id="rId17"/>
    <p:sldId id="500" r:id="rId18"/>
    <p:sldId id="502" r:id="rId19"/>
    <p:sldId id="503" r:id="rId20"/>
    <p:sldId id="504" r:id="rId21"/>
    <p:sldId id="505" r:id="rId22"/>
    <p:sldId id="506" r:id="rId23"/>
    <p:sldId id="508" r:id="rId24"/>
    <p:sldId id="507" r:id="rId25"/>
    <p:sldId id="518" r:id="rId26"/>
    <p:sldId id="519" r:id="rId27"/>
    <p:sldId id="510" r:id="rId28"/>
    <p:sldId id="511" r:id="rId29"/>
    <p:sldId id="512" r:id="rId30"/>
    <p:sldId id="513" r:id="rId31"/>
    <p:sldId id="514" r:id="rId32"/>
    <p:sldId id="515" r:id="rId33"/>
    <p:sldId id="517" r:id="rId34"/>
    <p:sldId id="516" r:id="rId35"/>
    <p:sldId id="520" r:id="rId36"/>
    <p:sldId id="521" r:id="rId37"/>
    <p:sldId id="522" r:id="rId38"/>
    <p:sldId id="523" r:id="rId39"/>
    <p:sldId id="524" r:id="rId40"/>
    <p:sldId id="525" r:id="rId41"/>
    <p:sldId id="526" r:id="rId42"/>
    <p:sldId id="527" r:id="rId43"/>
    <p:sldId id="528" r:id="rId44"/>
    <p:sldId id="529" r:id="rId45"/>
    <p:sldId id="530" r:id="rId46"/>
    <p:sldId id="303" r:id="rId47"/>
    <p:sldId id="448" r:id="rId48"/>
  </p:sldIdLst>
  <p:sldSz cx="9144000" cy="5715000" type="screen16x10"/>
  <p:notesSz cx="6797675" cy="9926638"/>
  <p:custDataLst>
    <p:tags r:id="rId5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5A6"/>
    <a:srgbClr val="15BDAD"/>
    <a:srgbClr val="558ED5"/>
    <a:srgbClr val="48C2BB"/>
    <a:srgbClr val="F1D156"/>
    <a:srgbClr val="276B7D"/>
    <a:srgbClr val="F1FDC3"/>
    <a:srgbClr val="9CC606"/>
    <a:srgbClr val="E2F6F1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39" autoAdjust="0"/>
    <p:restoredTop sz="89166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464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-9462"/>
    </p:cViewPr>
  </p:sorterViewPr>
  <p:notesViewPr>
    <p:cSldViewPr snapToGrid="0" snapToObjects="1" showGuides="1">
      <p:cViewPr varScale="1">
        <p:scale>
          <a:sx n="48" d="100"/>
          <a:sy n="48" d="100"/>
        </p:scale>
        <p:origin x="2940" y="72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07/07/2023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50443" y="1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7/07/2023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241425"/>
            <a:ext cx="53594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9386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35735" marR="574040" indent="0" algn="l">
              <a:lnSpc>
                <a:spcPct val="155000"/>
              </a:lnSpc>
              <a:spcBef>
                <a:spcPts val="8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1430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0582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3554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Comprender el alcance de la actividad de elicitación permite a los analistas comerciales responder si la actividad se desvía del alcance previsto. También les permite reconocer si las personas y los materiales no están disponibles a tiempo y cuándo la actividad está completa.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41745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En la mayoría de los casos, se utilizan múltiples técnicas durante una actividad de elicitación.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Debido a las dinámicas y situaciones cambiantes es posible que se requiera que el analista de negocios ajuste las selecciones iniciales incorporando técnicas más apropiadas.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44657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1175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Los analistas de negocios adquieren o desarrollan los materiales y herramientas necesarios. Es posible que se requiera una planificación adicional para la elicitación experimental, si se van a utilizar herramientas, equipos o técnicas novedosas.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2278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Al prepararse para la elicitación, el analista de negocios debe asegurarse de que haya aceptación por parte de todos los </a:t>
            </a:r>
            <a:r>
              <a:rPr lang="es-ES" i="1" dirty="0"/>
              <a:t>stakeholders </a:t>
            </a:r>
            <a:r>
              <a:rPr lang="es-ES" dirty="0"/>
              <a:t>necesarios.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La obtención a través de la investigación o la exploración puede ser una actividad individual para el analista de negocios y no requiere preparar a otros </a:t>
            </a:r>
            <a:r>
              <a:rPr lang="es-ES" i="1" dirty="0"/>
              <a:t>stakeholders</a:t>
            </a:r>
            <a:r>
              <a:rPr lang="es-ES" dirty="0"/>
              <a:t>.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81816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21296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59548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31800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El analista de negocios también utiliza esta información para determinar cuándo ha habido suficiente elicitación para detener la actividad.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3277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31404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01355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905497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03094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52285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09201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31083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45381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38030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6700CA-E45F-416D-B659-25554F846B4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9132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089706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Las formas posibles para los paquetes pueden incluir la documentación formal, la documentación informal y las presentaciones.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98358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166080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214684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6700CA-E45F-416D-B659-25554F846B43}" type="slidenum">
              <a:rPr kumimoji="0" lang="es-P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s-P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0401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363735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14208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Los analistas de negocios monitorean continuamente riesgos tales como: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dirty="0"/>
              <a:t>Los </a:t>
            </a:r>
            <a:r>
              <a:rPr lang="es-ES" i="1" dirty="0"/>
              <a:t>stakeholders</a:t>
            </a:r>
            <a:r>
              <a:rPr lang="es-ES" dirty="0"/>
              <a:t> se desvían hacia otro trabajo.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dirty="0"/>
              <a:t>Actividades de elicitación que no proporcionen la calidad de la información de análisis comercial requerida.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dirty="0"/>
              <a:t>Aprobaciones retrasadas.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101270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54641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876628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78842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5712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52651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927086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74452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809481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59738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042392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88502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0837044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41837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719138" y="1241425"/>
            <a:ext cx="5359400" cy="3349625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rtl="0">
              <a:buFont typeface="+mj-lt"/>
              <a:buNone/>
            </a:pPr>
            <a:endParaRPr lang="es-PE" sz="1200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endParaRPr lang="es-P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9043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_Título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8499219-B93F-4121-95B0-FD263CAAD2EC}"/>
              </a:ext>
            </a:extLst>
          </p:cNvPr>
          <p:cNvCxnSpPr/>
          <p:nvPr userDrawn="1"/>
        </p:nvCxnSpPr>
        <p:spPr>
          <a:xfrm>
            <a:off x="3056456" y="1742381"/>
            <a:ext cx="0" cy="792000"/>
          </a:xfrm>
          <a:prstGeom prst="line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07A93BC5-4242-4AEF-86D2-025896BBFF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51256" y="1466837"/>
            <a:ext cx="5524431" cy="1065212"/>
          </a:xfrm>
          <a:prstGeom prst="rect">
            <a:avLst/>
          </a:prstGeom>
        </p:spPr>
        <p:txBody>
          <a:bodyPr lIns="36000" tIns="0" rIns="36000" bIns="0" anchor="b"/>
          <a:lstStyle>
            <a:lvl1pPr marL="0" indent="0">
              <a:lnSpc>
                <a:spcPct val="85000"/>
              </a:lnSpc>
              <a:buNone/>
              <a:defRPr sz="3600" b="1" spc="-1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7F024871-2FC3-48CA-9CA6-981F63452D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51257" y="2571394"/>
            <a:ext cx="5524430" cy="216000"/>
          </a:xfrm>
          <a:prstGeom prst="rect">
            <a:avLst/>
          </a:prstGeom>
          <a:solidFill>
            <a:schemeClr val="bg1"/>
          </a:solidFill>
        </p:spPr>
        <p:txBody>
          <a:bodyPr lIns="36000" tIns="0" rIns="36000" bIns="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400" b="1" spc="-100" baseline="0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09CBA01-1C97-4D7F-AC89-2F7E2CE7AE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1257" y="3149152"/>
            <a:ext cx="5524430" cy="1584325"/>
          </a:xfrm>
          <a:prstGeom prst="rect">
            <a:avLst/>
          </a:prstGeom>
        </p:spPr>
        <p:txBody>
          <a:bodyPr/>
          <a:lstStyle>
            <a:lvl1pPr marL="266700" indent="-266700" algn="just">
              <a:spcBef>
                <a:spcPts val="0"/>
              </a:spcBef>
              <a:buSzPct val="75000"/>
              <a:buFont typeface="Wingdings" panose="05000000000000000000" pitchFamily="2" charset="2"/>
              <a:buChar char="q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98ED8DBD-5592-4A8D-8BF5-1D169AA4AE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1281" y="1782566"/>
            <a:ext cx="910376" cy="914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5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B086266-9338-4415-8002-5AA0BBD87E06}"/>
              </a:ext>
            </a:extLst>
          </p:cNvPr>
          <p:cNvSpPr txBox="1"/>
          <p:nvPr userDrawn="1"/>
        </p:nvSpPr>
        <p:spPr>
          <a:xfrm>
            <a:off x="2051281" y="1615590"/>
            <a:ext cx="910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>
                <a:solidFill>
                  <a:schemeClr val="bg1"/>
                </a:solidFill>
              </a:rPr>
              <a:t>SESIÓN</a:t>
            </a:r>
          </a:p>
        </p:txBody>
      </p:sp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465" userDrawn="1">
          <p15:clr>
            <a:srgbClr val="FBAE40"/>
          </p15:clr>
        </p15:guide>
        <p15:guide id="2" pos="197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Introducc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EFFC524-5204-4B8D-AB52-89B3D97070F1}"/>
              </a:ext>
            </a:extLst>
          </p:cNvPr>
          <p:cNvSpPr/>
          <p:nvPr userDrawn="1"/>
        </p:nvSpPr>
        <p:spPr>
          <a:xfrm>
            <a:off x="503238" y="997483"/>
            <a:ext cx="19458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11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INTRODUCCIÓN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9F8A1D-5EEE-42EF-A95B-31789C550A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/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39" y="573356"/>
            <a:ext cx="424127" cy="4241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946181C-25DC-4BDD-9928-A88184E17B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670050"/>
            <a:ext cx="8137525" cy="3563938"/>
          </a:xfrm>
          <a:prstGeom prst="rect">
            <a:avLst/>
          </a:prstGeom>
        </p:spPr>
        <p:txBody>
          <a:bodyPr/>
          <a:lstStyle>
            <a:lvl1pPr marL="266700" indent="-26670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75000"/>
              <a:buFont typeface="Wingdings" panose="05000000000000000000" pitchFamily="2" charset="2"/>
              <a:buChar char="q"/>
              <a:defRPr sz="1600"/>
            </a:lvl1pPr>
            <a:lvl2pPr marL="531813" indent="-265113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Delius" panose="02000603000000000000" pitchFamily="2" charset="0"/>
              <a:buChar char="→"/>
              <a:defRPr sz="1600"/>
            </a:lvl2pPr>
            <a:lvl3pPr marL="717550" indent="-185738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600"/>
            </a:lvl3pPr>
            <a:lvl4pPr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defRPr sz="1600"/>
            </a:lvl4pPr>
            <a:lvl5pPr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  <a:endParaRPr lang="es-P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3211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2" userDrawn="1">
          <p15:clr>
            <a:srgbClr val="FBAE40"/>
          </p15:clr>
        </p15:guide>
        <p15:guide id="2" pos="317" userDrawn="1">
          <p15:clr>
            <a:srgbClr val="FBAE40"/>
          </p15:clr>
        </p15:guide>
        <p15:guide id="3" pos="5443" userDrawn="1">
          <p15:clr>
            <a:srgbClr val="FBAE40"/>
          </p15:clr>
        </p15:guide>
        <p15:guide id="4" orient="horz" pos="3297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 con Imagen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717FB9E-6DD3-4BBD-A122-85F3673CC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25" y="2867600"/>
            <a:ext cx="8208000" cy="2394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C29DAAB-CDF4-4B89-8C31-EA10C6E01F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804863"/>
            <a:ext cx="8208000" cy="354012"/>
          </a:xfrm>
          <a:prstGeom prst="rect">
            <a:avLst/>
          </a:prstGeom>
        </p:spPr>
        <p:txBody>
          <a:bodyPr lIns="72000" tIns="36000" rIns="72000" bIns="36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83EF17E-5C96-4858-ACC0-09751EF7D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AB609E-19B2-43F3-94FB-608EEAC4D4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5"/>
            <a:ext cx="8207375" cy="1674000"/>
          </a:xfrm>
          <a:prstGeom prst="rect">
            <a:avLst/>
          </a:prstGeom>
        </p:spPr>
        <p:txBody>
          <a:bodyPr/>
          <a:lstStyle>
            <a:lvl1pPr marL="266700" indent="-266700" algn="just">
              <a:spcBef>
                <a:spcPts val="0"/>
              </a:spcBef>
              <a:spcAft>
                <a:spcPts val="800"/>
              </a:spcAft>
              <a:buSzPct val="75000"/>
              <a:buFont typeface="Wingdings" panose="05000000000000000000" pitchFamily="2" charset="2"/>
              <a:buChar char="q"/>
              <a:defRPr sz="1600"/>
            </a:lvl1pPr>
            <a:lvl2pPr marL="531813" indent="-265113" algn="just">
              <a:spcBef>
                <a:spcPts val="0"/>
              </a:spcBef>
              <a:spcAft>
                <a:spcPts val="800"/>
              </a:spcAft>
              <a:buFont typeface="Delius" panose="02000603000000000000" pitchFamily="2" charset="0"/>
              <a:buChar char="→"/>
              <a:defRPr sz="1600"/>
            </a:lvl2pPr>
            <a:lvl3pPr marL="717550" indent="-185738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5465" userDrawn="1">
          <p15:clr>
            <a:srgbClr val="FBAE40"/>
          </p15:clr>
        </p15:guide>
        <p15:guide id="4" orient="horz" pos="507" userDrawn="1">
          <p15:clr>
            <a:srgbClr val="FBAE40"/>
          </p15:clr>
        </p15:guide>
        <p15:guide id="5" orient="horz" pos="33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 con Image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717FB9E-6DD3-4BBD-A122-85F3673CC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95149" y="816438"/>
            <a:ext cx="4086000" cy="4446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C29DAAB-CDF4-4B89-8C31-EA10C6E01F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804863"/>
            <a:ext cx="4103687" cy="354012"/>
          </a:xfrm>
          <a:prstGeom prst="rect">
            <a:avLst/>
          </a:prstGeom>
        </p:spPr>
        <p:txBody>
          <a:bodyPr lIns="72000" tIns="36000" rIns="72000" bIns="36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83EF17E-5C96-4858-ACC0-09751EF7D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04F222-EEB2-4557-8D4B-D05354FCD8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03687" cy="4111625"/>
          </a:xfrm>
          <a:prstGeom prst="rect">
            <a:avLst/>
          </a:prstGeom>
        </p:spPr>
        <p:txBody>
          <a:bodyPr/>
          <a:lstStyle>
            <a:lvl1pPr marL="266700" indent="-266700" algn="just">
              <a:spcBef>
                <a:spcPts val="0"/>
              </a:spcBef>
              <a:spcAft>
                <a:spcPts val="1200"/>
              </a:spcAft>
              <a:buSzPct val="75000"/>
              <a:buFont typeface="Wingdings" panose="05000000000000000000" pitchFamily="2" charset="2"/>
              <a:buChar char="q"/>
              <a:defRPr sz="1600"/>
            </a:lvl1pPr>
            <a:lvl2pPr marL="531813" indent="-265113" algn="just">
              <a:spcBef>
                <a:spcPts val="0"/>
              </a:spcBef>
              <a:spcAft>
                <a:spcPts val="1200"/>
              </a:spcAft>
              <a:buFont typeface="Delius" panose="02000603000000000000" pitchFamily="2" charset="0"/>
              <a:buChar char="→"/>
              <a:defRPr sz="1600"/>
            </a:lvl2pPr>
            <a:lvl3pPr marL="717550" indent="-185738"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600"/>
            </a:lvl3pPr>
            <a:lvl4pPr>
              <a:spcBef>
                <a:spcPts val="0"/>
              </a:spcBef>
              <a:defRPr sz="1600"/>
            </a:lvl4pPr>
            <a:lvl5pPr>
              <a:spcBef>
                <a:spcPts val="0"/>
              </a:spcBef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941359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5465" userDrawn="1">
          <p15:clr>
            <a:srgbClr val="FBAE40"/>
          </p15:clr>
        </p15:guide>
        <p15:guide id="3" orient="horz" pos="1800" userDrawn="1">
          <p15:clr>
            <a:srgbClr val="FBAE40"/>
          </p15:clr>
        </p15:guide>
        <p15:guide id="4" orient="horz" pos="507" userDrawn="1">
          <p15:clr>
            <a:srgbClr val="FBAE40"/>
          </p15:clr>
        </p15:guide>
        <p15:guide id="5" orient="horz" pos="3320" userDrawn="1">
          <p15:clr>
            <a:srgbClr val="FBAE40"/>
          </p15:clr>
        </p15:guide>
        <p15:guide id="6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 con Imagen Horizontal (gri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717FB9E-6DD3-4BBD-A122-85F3673CCA9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25" y="2867600"/>
            <a:ext cx="8208000" cy="239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s-PE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C29DAAB-CDF4-4B89-8C31-EA10C6E01F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3" y="804863"/>
            <a:ext cx="5724000" cy="354012"/>
          </a:xfrm>
          <a:prstGeom prst="rect">
            <a:avLst/>
          </a:prstGeom>
        </p:spPr>
        <p:txBody>
          <a:bodyPr lIns="72000" tIns="36000" rIns="72000" bIns="36000" anchor="ctr"/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600" b="1"/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383EF17E-5C96-4858-ACC0-09751EF7DC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313" y="277813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1800" b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AB609E-19B2-43F3-94FB-608EEAC4D4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5"/>
            <a:ext cx="8207375" cy="1674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numCol="3"/>
          <a:lstStyle>
            <a:lvl1pPr marL="173038" indent="-173038" algn="l">
              <a:spcBef>
                <a:spcPts val="0"/>
              </a:spcBef>
              <a:spcAft>
                <a:spcPts val="200"/>
              </a:spcAft>
              <a:buSzPct val="75000"/>
              <a:buFont typeface="Wingdings" panose="05000000000000000000" pitchFamily="2" charset="2"/>
              <a:buChar char="§"/>
              <a:defRPr sz="1400"/>
            </a:lvl1pPr>
            <a:lvl2pPr marL="531813" indent="-265113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1400"/>
            </a:lvl2pPr>
            <a:lvl3pPr marL="717550" indent="-185738" algn="just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  <a:defRPr sz="14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C3FB06-AEFF-9166-C6DD-B8FA2AD578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9838" y="804863"/>
            <a:ext cx="2359025" cy="377825"/>
          </a:xfrm>
          <a:prstGeom prst="rect">
            <a:avLst/>
          </a:prstGeom>
        </p:spPr>
        <p:txBody>
          <a:bodyPr/>
          <a:lstStyle>
            <a:lvl1pPr marL="0" indent="0" algn="r">
              <a:spcBef>
                <a:spcPts val="0"/>
              </a:spcBef>
              <a:buNone/>
              <a:defRPr sz="2000" b="1" i="1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6242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5465" userDrawn="1">
          <p15:clr>
            <a:srgbClr val="FBAE40"/>
          </p15:clr>
        </p15:guide>
        <p15:guide id="4" orient="horz" pos="507" userDrawn="1">
          <p15:clr>
            <a:srgbClr val="FBAE40"/>
          </p15:clr>
        </p15:guide>
        <p15:guide id="5" orient="horz" pos="33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Subtema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D03D13-5E01-42D6-AEF1-E185D3674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4" y="3714841"/>
            <a:ext cx="5543549" cy="810087"/>
          </a:xfrm>
          <a:prstGeom prst="rect">
            <a:avLst/>
          </a:prstGeom>
        </p:spPr>
        <p:txBody>
          <a:bodyPr/>
          <a:lstStyle>
            <a:lvl1pPr marL="266700" indent="-266700">
              <a:lnSpc>
                <a:spcPct val="85000"/>
              </a:lnSpc>
              <a:spcBef>
                <a:spcPts val="0"/>
              </a:spcBef>
              <a:buNone/>
              <a:tabLst>
                <a:tab pos="266700" algn="l"/>
              </a:tabLst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FBAE40"/>
          </p15:clr>
        </p15:guide>
        <p15:guide id="2" pos="378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DF5A5FB-F4EA-6965-42B8-F6E87DBA9A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4631" cy="5733853"/>
          </a:xfrm>
          <a:prstGeom prst="rect">
            <a:avLst/>
          </a:prstGeom>
        </p:spPr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F27B821-075D-62FB-6D72-3009EE9F83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66349" y="243068"/>
            <a:ext cx="5383255" cy="867661"/>
          </a:xfrm>
          <a:prstGeom prst="rect">
            <a:avLst/>
          </a:prstGeom>
        </p:spPr>
        <p:txBody>
          <a:bodyPr anchor="b"/>
          <a:lstStyle>
            <a:lvl1pPr marL="0" indent="0" algn="r">
              <a:lnSpc>
                <a:spcPct val="75000"/>
              </a:lnSpc>
              <a:spcBef>
                <a:spcPts val="0"/>
              </a:spcBef>
              <a:buNone/>
              <a:defRPr sz="2800" b="1" i="0" spc="-200" baseline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lt"/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7C8A894-56AA-98AE-4CB2-22721A8F43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41317" y="2430340"/>
            <a:ext cx="4861609" cy="2581497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75000"/>
              </a:lnSpc>
              <a:spcBef>
                <a:spcPts val="0"/>
              </a:spcBef>
              <a:buNone/>
              <a:defRPr sz="4400" b="1" spc="-200" baseline="0">
                <a:solidFill>
                  <a:srgbClr val="1F85A6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0961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Bibliografí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7B2E060-20CD-463B-8DA7-F4C44CB2E4F1}"/>
              </a:ext>
            </a:extLst>
          </p:cNvPr>
          <p:cNvSpPr/>
          <p:nvPr userDrawn="1"/>
        </p:nvSpPr>
        <p:spPr>
          <a:xfrm>
            <a:off x="503238" y="997483"/>
            <a:ext cx="19458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11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BIBLIOGRAFÍA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3DF485-35A0-4880-86B1-159FC8D1B5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39" y="573356"/>
            <a:ext cx="424127" cy="424127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F77D6E-1237-49E3-9C45-BC77466A0D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7366" y="1670049"/>
            <a:ext cx="7713398" cy="3527425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1033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_Conclusio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7B2E060-20CD-463B-8DA7-F4C44CB2E4F1}"/>
              </a:ext>
            </a:extLst>
          </p:cNvPr>
          <p:cNvSpPr/>
          <p:nvPr userDrawn="1"/>
        </p:nvSpPr>
        <p:spPr>
          <a:xfrm>
            <a:off x="503238" y="997483"/>
            <a:ext cx="19458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4114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CONCLUSIONES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C3DF485-35A0-4880-86B1-159FC8D1B5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3239" y="573356"/>
            <a:ext cx="424127" cy="424127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F77D6E-1237-49E3-9C45-BC77466A0D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7366" y="1670909"/>
            <a:ext cx="7713398" cy="3526566"/>
          </a:xfrm>
          <a:prstGeom prst="rect">
            <a:avLst/>
          </a:prstGeom>
        </p:spPr>
        <p:txBody>
          <a:bodyPr lIns="0" tIns="0" rIns="0" bIns="0"/>
          <a:lstStyle>
            <a:lvl1pPr marL="266700" indent="-266700" algn="just">
              <a:lnSpc>
                <a:spcPct val="8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tabLst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9819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5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793745" y="5369051"/>
            <a:ext cx="8104595" cy="215444"/>
            <a:chOff x="793745" y="5369051"/>
            <a:chExt cx="7954689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793745" y="5369051"/>
              <a:ext cx="16051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ANÁLISIS FUNCIONAL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07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207627" y="5384440"/>
              <a:ext cx="1540807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2023 ISIL.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345172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8" r:id="rId2"/>
    <p:sldLayoutId id="2147483656" r:id="rId3"/>
    <p:sldLayoutId id="2147483679" r:id="rId4"/>
    <p:sldLayoutId id="2147483680" r:id="rId5"/>
    <p:sldLayoutId id="2147483649" r:id="rId6"/>
    <p:sldLayoutId id="2147483687" r:id="rId7"/>
    <p:sldLayoutId id="2147483669" r:id="rId8"/>
    <p:sldLayoutId id="214748366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0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06064E9-134E-4E79-A41F-706155D9AF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PE" dirty="0"/>
              <a:t>REQUISITOS DE LA SOLUCIÓN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65D77B8F-E8DB-4946-B4B7-3705AAB257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PE" dirty="0"/>
              <a:t>UNIDAD DE APRENDIZAJE 2 – UA2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FA929147-F09B-4398-9DDF-DF2F7FC0C4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s-PE" dirty="0"/>
              <a:t>Preparación de la elicitación</a:t>
            </a:r>
          </a:p>
          <a:p>
            <a:pPr>
              <a:spcBef>
                <a:spcPts val="0"/>
              </a:spcBef>
            </a:pPr>
            <a:r>
              <a:rPr lang="es-PE" dirty="0"/>
              <a:t>Realización de la elicitación</a:t>
            </a:r>
          </a:p>
          <a:p>
            <a:pPr>
              <a:spcBef>
                <a:spcPts val="0"/>
              </a:spcBef>
            </a:pPr>
            <a:r>
              <a:rPr lang="es-PE" dirty="0"/>
              <a:t>Análisis de resultados de la elicitación</a:t>
            </a:r>
          </a:p>
          <a:p>
            <a:pPr>
              <a:spcBef>
                <a:spcPts val="0"/>
              </a:spcBef>
            </a:pPr>
            <a:r>
              <a:rPr lang="es-PE" dirty="0"/>
              <a:t>Especificación de los requisitos de la solución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E2E57AF-7040-42B2-BA48-4D269F79C4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8867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FEDC59F-E03B-4885-ACAE-C9A1279989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238" y="1670050"/>
            <a:ext cx="8137525" cy="3198935"/>
          </a:xfrm>
          <a:prstGeom prst="rect">
            <a:avLst/>
          </a:prstGeom>
        </p:spPr>
        <p:txBody>
          <a:bodyPr/>
          <a:lstStyle/>
          <a:p>
            <a:pPr algn="just"/>
            <a:r>
              <a:rPr lang="es-ES" b="1" dirty="0"/>
              <a:t>El área de conocimiento elicitación y colaboración</a:t>
            </a:r>
            <a:r>
              <a:rPr lang="es-ES" dirty="0"/>
              <a:t> describe cómo los analistas de negocios identifican y llegan a un acuerdo sobre el entendimiento mutuo de todos los tipos de información de análisis de negocios. El trabajo de elicitación y colaboración nunca es una 'fase' en el análisis empresarial; más bien, está en curso mientras se lleva a cabo el trabajo de análisis empresarial.</a:t>
            </a:r>
          </a:p>
          <a:p>
            <a:pPr>
              <a:spcAft>
                <a:spcPts val="600"/>
              </a:spcAft>
            </a:pPr>
            <a:r>
              <a:rPr lang="es-ES" dirty="0"/>
              <a:t>Entonces, durante esta sesión: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Conocerás</a:t>
            </a:r>
            <a:r>
              <a:rPr lang="es-ES" dirty="0"/>
              <a:t> las tareas de preparación para llevar a cabo la elicitación de requisitos.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Aprenderás</a:t>
            </a:r>
            <a:r>
              <a:rPr lang="es-ES" dirty="0"/>
              <a:t> las técnicas que podrías utilizar para realizar la elicitación de requisitos.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Aprenderás</a:t>
            </a:r>
            <a:r>
              <a:rPr lang="es-ES" dirty="0"/>
              <a:t> a realizar el análisis de los resultados de la elicitación de requisitos.</a:t>
            </a:r>
          </a:p>
          <a:p>
            <a:pPr lvl="1" algn="just">
              <a:spcAft>
                <a:spcPts val="600"/>
              </a:spcAft>
            </a:pPr>
            <a:r>
              <a:rPr lang="es-ES" b="1" dirty="0"/>
              <a:t>Aprenderás </a:t>
            </a:r>
            <a:r>
              <a:rPr lang="es-ES" dirty="0"/>
              <a:t>a elaborar la especificación de los requisitos de la solución.</a:t>
            </a:r>
            <a:endParaRPr lang="es-P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215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2"/>
            <a:ext cx="5543549" cy="435128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PREPARACIÓN DE LA ELICITACIÓN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posición de imagen 4">
            <a:extLst>
              <a:ext uri="{FF2B5EF4-FFF2-40B4-BE49-F238E27FC236}">
                <a16:creationId xmlns:a16="http://schemas.microsoft.com/office/drawing/2014/main" id="{FB26DFE4-D68F-FADA-AA8A-0501A6332E3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Área de conocimiento BABOK® </a:t>
            </a:r>
            <a:r>
              <a:rPr lang="es-PE" dirty="0">
                <a:latin typeface="Delius" panose="02000603000000000000" pitchFamily="2" charset="0"/>
              </a:rPr>
              <a:t>→ E</a:t>
            </a:r>
            <a:r>
              <a:rPr lang="es-PE" dirty="0"/>
              <a:t>licitación y colaboración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23944" y="465490"/>
            <a:ext cx="2634395" cy="354012"/>
          </a:xfrm>
        </p:spPr>
        <p:txBody>
          <a:bodyPr/>
          <a:lstStyle/>
          <a:p>
            <a:r>
              <a:rPr lang="es-PE" dirty="0"/>
              <a:t>Requisitos de la solución</a:t>
            </a: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192A0349-9565-4745-050D-42D1EB8C9C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5"/>
            <a:ext cx="8207375" cy="2053544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b="1" dirty="0">
                <a:solidFill>
                  <a:srgbClr val="FF0000"/>
                </a:solidFill>
              </a:rPr>
              <a:t>La elicitación es la extracción o recepción de información</a:t>
            </a:r>
            <a:r>
              <a:rPr lang="es-ES" dirty="0"/>
              <a:t>, permite descubrir requisitos e información de diseño. La colaboración es el acto de dos o más personas que trabajan juntas por un objetivo común. Esta área de conocimiento comprende los procesos de: </a:t>
            </a:r>
          </a:p>
          <a:p>
            <a:pPr lvl="1">
              <a:spcAft>
                <a:spcPts val="0"/>
              </a:spcAft>
            </a:pPr>
            <a:r>
              <a:rPr lang="es-ES" dirty="0"/>
              <a:t>Preparación de la elicitación.</a:t>
            </a:r>
          </a:p>
          <a:p>
            <a:pPr lvl="1">
              <a:spcAft>
                <a:spcPts val="0"/>
              </a:spcAft>
            </a:pPr>
            <a:r>
              <a:rPr lang="es-ES" dirty="0"/>
              <a:t>Realización de la elicitación </a:t>
            </a:r>
            <a:r>
              <a:rPr lang="es-E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(conducir).</a:t>
            </a:r>
            <a:endParaRPr lang="es-E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>
              <a:spcAft>
                <a:spcPts val="0"/>
              </a:spcAft>
            </a:pPr>
            <a:r>
              <a:rPr lang="es-ES" dirty="0"/>
              <a:t>Análisis de resultados de la elicitación (confirmar).</a:t>
            </a:r>
          </a:p>
          <a:p>
            <a:pPr lvl="1">
              <a:spcAft>
                <a:spcPts val="0"/>
              </a:spcAft>
            </a:pPr>
            <a:r>
              <a:rPr lang="es-ES" dirty="0"/>
              <a:t>Especificación de los requisitos de la solución </a:t>
            </a:r>
            <a:r>
              <a:rPr lang="es-E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(comunicar la información de análisis empresarial y gestionar la colaboración de los stakeholders).</a:t>
            </a:r>
            <a:endParaRPr lang="es-E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s-ES" dirty="0"/>
          </a:p>
          <a:p>
            <a:endParaRPr lang="es-ES" dirty="0"/>
          </a:p>
        </p:txBody>
      </p:sp>
      <p:sp>
        <p:nvSpPr>
          <p:cNvPr id="6" name="Marcador de texto 12">
            <a:extLst>
              <a:ext uri="{FF2B5EF4-FFF2-40B4-BE49-F238E27FC236}">
                <a16:creationId xmlns:a16="http://schemas.microsoft.com/office/drawing/2014/main" id="{9510DFB5-AEBC-42A3-A622-9C011823FE1B}"/>
              </a:ext>
            </a:extLst>
          </p:cNvPr>
          <p:cNvSpPr txBox="1">
            <a:spLocks/>
          </p:cNvSpPr>
          <p:nvPr/>
        </p:nvSpPr>
        <p:spPr>
          <a:xfrm>
            <a:off x="374529" y="126117"/>
            <a:ext cx="8207375" cy="35401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kern="1200">
                <a:solidFill>
                  <a:srgbClr val="1F85A6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/>
              <a:t>/ PREPARACIÓN DE LA ELICITACIÓN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77712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Objetivo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PREPARACIÓN DE LA ELICITACIÓN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0626" y="1158875"/>
            <a:ext cx="4103687" cy="3264633"/>
          </a:xfrm>
        </p:spPr>
        <p:txBody>
          <a:bodyPr/>
          <a:lstStyle/>
          <a:p>
            <a:r>
              <a:rPr lang="es-ES" dirty="0"/>
              <a:t>Comprender el alcance del proceso de obtención, seleccionar técnicas apropiadas y planificar (o adquirir) materiales y recursos de apoyo apropiados.</a:t>
            </a:r>
          </a:p>
          <a:p>
            <a:pPr>
              <a:spcAft>
                <a:spcPts val="600"/>
              </a:spcAft>
            </a:pPr>
            <a:r>
              <a:rPr lang="es-ES" dirty="0"/>
              <a:t>Se debe de tener en cuenta lo siguiente: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Comprender el alcance de la elicitación.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Seleccionar técnicas de elicitación.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Establecer logística.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Material de apoyo seguro.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Preparar a los </a:t>
            </a:r>
            <a:r>
              <a:rPr lang="es-ES" i="1" dirty="0"/>
              <a:t>stakeholders.</a:t>
            </a:r>
            <a:endParaRPr lang="es-PE" i="1" dirty="0"/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5BB3C4CA-B305-DD3B-3729-F07FFB8048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27" r="127"/>
          <a:stretch>
            <a:fillRect/>
          </a:stretch>
        </p:blipFill>
        <p:spPr>
          <a:xfrm>
            <a:off x="4813980" y="816438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193741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Comprender el alcance de la elicitación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PREPARACIÓN DE LA ELICITACIÓN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03687" cy="385078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Para determinar el tipo de información que se descubrirá y las técnicas que se pueden utilizar, los analistas consideran: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Dominio de negocio.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Cultura y ambiente corporativo.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Ubicaciones de los </a:t>
            </a:r>
            <a:r>
              <a:rPr lang="es-ES" i="1" dirty="0"/>
              <a:t>stakeholders.</a:t>
            </a:r>
          </a:p>
          <a:p>
            <a:pPr lvl="1">
              <a:spcAft>
                <a:spcPts val="600"/>
              </a:spcAft>
            </a:pPr>
            <a:r>
              <a:rPr lang="es-ES" i="1" dirty="0"/>
              <a:t>Stakeholders</a:t>
            </a:r>
            <a:r>
              <a:rPr lang="es-ES" dirty="0"/>
              <a:t> que están involucrados.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Los productos esperados.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Habilidades del analista de negocios.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Estrategia o enfoque de solución.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Alcance de la solución futura.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Posibles fuentes de información.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DB395CE4-D91F-B601-C262-B57FF023DE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49" r="3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6005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Seleccionar técnicas de elicitación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PREPARACIÓN DE LA ELICITACIÓN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Las técnicas utilizadas dependen de las limitaciones de costo y tiempo, fuentes de información y su acceso, la cultura de la organización y los resultados deseados.</a:t>
            </a:r>
          </a:p>
          <a:p>
            <a:pPr>
              <a:spcAft>
                <a:spcPts val="600"/>
              </a:spcAft>
            </a:pPr>
            <a:r>
              <a:rPr lang="es-ES" dirty="0"/>
              <a:t>Elegir las técnicas correctas y asegurarse de que cada técnica se realice correctamente es extremadamente importante para el éxito de la actividad de elicitación. Generalmente se consideran las siguientes: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Técnicas comúnmente utilizadas en iniciativas similares.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Técnicas específicamente adaptadas a la situación.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Las tareas necesarias para preparar, ejecutar y completar cada técnica.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8A6E1B4B-8FD8-5CA6-6669-F4BBD3FB952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05" b="105"/>
          <a:stretch>
            <a:fillRect/>
          </a:stretch>
        </p:blipFill>
        <p:spPr>
          <a:xfrm>
            <a:off x="4772702" y="816438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84887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Establecer logística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PREPARACIÓN DE LA ELICITACIÓN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La logística se planifica antes de una actividad de elicitación. La logística incluye identificar los aspectos a continuación: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Los objetivos de la actividad.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Participantes y sus roles.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Recursos programados, incluidas personas, salas y herramientas.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Ubicaciones.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Canales de comunicación.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Técnicas.</a:t>
            </a:r>
          </a:p>
          <a:p>
            <a:pPr lvl="1"/>
            <a:r>
              <a:rPr lang="es-ES" dirty="0"/>
              <a:t>Idiomas utilizados por los </a:t>
            </a:r>
            <a:r>
              <a:rPr lang="es-ES" i="1" dirty="0"/>
              <a:t>stakeholders.</a:t>
            </a:r>
          </a:p>
          <a:p>
            <a:r>
              <a:rPr lang="es-ES" dirty="0"/>
              <a:t>También puede implicar la creación de una agenda si participan otros </a:t>
            </a:r>
            <a:r>
              <a:rPr lang="es-ES" i="1" dirty="0"/>
              <a:t>stakeholders.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0D3FC01A-C2B0-2F4C-30DE-845CA85C45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4852601" y="824500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225352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Material de apoyo seguro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PREPARACIÓN DE LA ELICITACIÓN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Los analistas de negocios identifican las fuentes de información que se necesitan para llevar a cabo la actividad de elicitación.</a:t>
            </a:r>
          </a:p>
          <a:p>
            <a:r>
              <a:rPr lang="es-ES" dirty="0"/>
              <a:t>Es posible que se necesite una gran cantidad de información para realizar la elicitación, incluidas personas, sistemas, datos históricos, materiales y documentos.</a:t>
            </a:r>
          </a:p>
          <a:p>
            <a:r>
              <a:rPr lang="es-ES" dirty="0"/>
              <a:t>Los documentos pueden incluir reglas de negocio, políticas organizacionales, regulaciones y contratos.</a:t>
            </a:r>
          </a:p>
          <a:p>
            <a:r>
              <a:rPr lang="es-ES" dirty="0"/>
              <a:t>Los materiales de apoyo también pueden tomar la forma de resultados del trabajo de análisis, como versiones preliminares de modelos de análisis.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3AD07B71-5197-A513-6CEF-68BCACFF761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86" b="86"/>
          <a:stretch>
            <a:fillRect/>
          </a:stretch>
        </p:blipFill>
        <p:spPr>
          <a:xfrm>
            <a:off x="4790458" y="816438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351517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Preparar a los </a:t>
            </a:r>
            <a:r>
              <a:rPr lang="es-PE" i="1" dirty="0"/>
              <a:t>stakeholders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PREPARACIÓN DE LA ELICITACIÓN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03687" cy="3688333"/>
          </a:xfrm>
        </p:spPr>
        <p:txBody>
          <a:bodyPr/>
          <a:lstStyle/>
          <a:p>
            <a:r>
              <a:rPr lang="es-ES" dirty="0"/>
              <a:t>Los analistas de negocios pueden necesitar educar a los </a:t>
            </a:r>
            <a:r>
              <a:rPr lang="es-ES" i="1" dirty="0"/>
              <a:t>stakeholders</a:t>
            </a:r>
            <a:r>
              <a:rPr lang="es-ES" dirty="0"/>
              <a:t> sobre cómo funciona una técnica de elicitación o qué información se necesita.</a:t>
            </a:r>
          </a:p>
          <a:p>
            <a:r>
              <a:rPr lang="es-ES" dirty="0"/>
              <a:t>Los </a:t>
            </a:r>
            <a:r>
              <a:rPr lang="es-ES" i="1" dirty="0"/>
              <a:t>stakeholders</a:t>
            </a:r>
            <a:r>
              <a:rPr lang="es-ES" dirty="0"/>
              <a:t> pueden no responder o ser desafiantes durante la elicitación si sienten que no está alineado con sus objetivos individuales, no entienden el propósito o están confundidos acerca del proceso.</a:t>
            </a:r>
          </a:p>
          <a:p>
            <a:r>
              <a:rPr lang="es-ES" dirty="0"/>
              <a:t>Los analistas también pueden preparar a los </a:t>
            </a:r>
            <a:r>
              <a:rPr lang="es-ES" i="1" dirty="0"/>
              <a:t>stakeholders</a:t>
            </a:r>
            <a:r>
              <a:rPr lang="es-ES" dirty="0"/>
              <a:t> solicitándoles que revisen los materiales de apoyo antes de la elicitación para que sea lo más eficaz posible.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F17B759B-175C-B60E-BD3A-CCFC8155BE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0" r="20"/>
          <a:stretch>
            <a:fillRect/>
          </a:stretch>
        </p:blipFill>
        <p:spPr>
          <a:xfrm>
            <a:off x="4772702" y="816438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3555041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DBBC4BF9-23BB-A3F6-4EA9-77E304C95F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clrChange>
              <a:clrFrom>
                <a:srgbClr val="D9D9D9"/>
              </a:clrFrom>
              <a:clrTo>
                <a:srgbClr val="D9D9D9">
                  <a:alpha val="0"/>
                </a:srgbClr>
              </a:clrTo>
            </a:clrChange>
          </a:blip>
          <a:srcRect t="310" b="310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PREPARACIÓN DE LA ELICITACIÓN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7762432-2400-C1CE-F508-0D6F157FCE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Tormenta de ideas</a:t>
            </a:r>
          </a:p>
          <a:p>
            <a:r>
              <a:rPr lang="es-ES" i="1" dirty="0"/>
              <a:t>Data Mining</a:t>
            </a:r>
          </a:p>
          <a:p>
            <a:r>
              <a:rPr lang="es-ES" dirty="0"/>
              <a:t>Análisis documental</a:t>
            </a:r>
          </a:p>
          <a:p>
            <a:r>
              <a:rPr lang="es-ES" dirty="0"/>
              <a:t>Estimación</a:t>
            </a:r>
          </a:p>
          <a:p>
            <a:r>
              <a:rPr lang="es-ES" dirty="0"/>
              <a:t>Entrevistas</a:t>
            </a:r>
          </a:p>
          <a:p>
            <a:r>
              <a:rPr lang="es-ES" dirty="0"/>
              <a:t>Mapa mental</a:t>
            </a:r>
          </a:p>
          <a:p>
            <a:r>
              <a:rPr lang="es-ES" dirty="0"/>
              <a:t>Análisis y gestión de riesgos</a:t>
            </a:r>
          </a:p>
          <a:p>
            <a:r>
              <a:rPr lang="es-ES" dirty="0"/>
              <a:t>Lista o mapa de</a:t>
            </a:r>
            <a:r>
              <a:rPr lang="es-ES" i="1" dirty="0"/>
              <a:t> stakeholders </a:t>
            </a:r>
            <a:r>
              <a:rPr lang="es-ES" dirty="0"/>
              <a:t>o personas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FB8EA5A3-F87E-86AB-6CBB-DDBD506FA1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PE" i="0" dirty="0"/>
              <a:t>TÉCNICAS BABOK</a:t>
            </a:r>
            <a:r>
              <a:rPr lang="es-PE" dirty="0"/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2715392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2"/>
            <a:ext cx="5543549" cy="390994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REALIZACIÓN DE LA ELICITACIÓN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389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Objetivo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REALIZACIÓN DE LA ELICITACIÓN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Extraer, explorar e identificar información relevante para el cambio.</a:t>
            </a:r>
          </a:p>
          <a:p>
            <a:pPr>
              <a:spcAft>
                <a:spcPts val="600"/>
              </a:spcAft>
            </a:pPr>
            <a:r>
              <a:rPr lang="es-ES" dirty="0"/>
              <a:t>Hay tres tipos comunes de elicitación: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colaborativo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investigación</a:t>
            </a:r>
          </a:p>
          <a:p>
            <a:pPr lvl="1"/>
            <a:r>
              <a:rPr lang="es-ES" dirty="0"/>
              <a:t>experimentos</a:t>
            </a:r>
          </a:p>
          <a:p>
            <a:r>
              <a:rPr lang="es-ES" dirty="0"/>
              <a:t>Se pueden usar una o más técnicas de elicitación para producir el resultado deseado dentro del alcance de la elicitación.</a:t>
            </a:r>
          </a:p>
          <a:p>
            <a:pPr>
              <a:spcAft>
                <a:spcPts val="600"/>
              </a:spcAft>
            </a:pPr>
            <a:r>
              <a:rPr lang="es-ES" dirty="0"/>
              <a:t>Se debe de tener en cuenta lo siguiente: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Guía de actividades de elicitación.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Capturar resultados de la elicitación.</a:t>
            </a:r>
            <a:endParaRPr lang="es-PE" dirty="0"/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F7D640B9-EBFE-310D-7A48-B3D4E40EE66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5" r="22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15618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Guía de actividades de elicitación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REALIZACIÓN DE LA ELICITACIÓN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103687" cy="383446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Para ayudar a guiar y facilitar los resultados esperados, los analistas consideran: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Los objetivos y la agenda de elicitación.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Alcance del cambio.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Qué formas de producción generará.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Qué otras representaciones apoyarán los resultados de la actividad.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Cómo se integra el resultado en lo que ya se conoce.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Quién proporciona la información.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Quién usará la información.</a:t>
            </a:r>
          </a:p>
          <a:p>
            <a:pPr lvl="1"/>
            <a:r>
              <a:rPr lang="es-ES" dirty="0"/>
              <a:t>Cómo se utilizará la información.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624FD5B8-9277-32D8-F03E-742BCAC30CC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36" r="13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8318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Capturar resultados de elicitación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REALIZACIÓN DE LA ELICITACIÓN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103687" cy="3395196"/>
          </a:xfrm>
        </p:spPr>
        <p:txBody>
          <a:bodyPr/>
          <a:lstStyle/>
          <a:p>
            <a:r>
              <a:rPr lang="es-ES" dirty="0"/>
              <a:t>Con frecuencia, la obtención de información es iterativa y se lleva a cabo en una serie de sesiones, en paralelo o en secuencia, según el alcance de la actividad de obtención.</a:t>
            </a:r>
          </a:p>
          <a:p>
            <a:r>
              <a:rPr lang="es-ES" dirty="0"/>
              <a:t>Si la actividad de elicitación no está planificada, los resultados se capturan e integran en los resultados planificados apropiados.</a:t>
            </a:r>
          </a:p>
          <a:p>
            <a:r>
              <a:rPr lang="es-ES" dirty="0"/>
              <a:t>La captura de los resultados de elicitación ayuda a garantizar que la información producida se registre para referencia y uso posterior.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DD6DCAAE-FA70-CBCE-1178-97126372BF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36" r="13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00528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DBBC4BF9-23BB-A3F6-4EA9-77E304C95F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clrChange>
              <a:clrFrom>
                <a:srgbClr val="D9D9D9"/>
              </a:clrFrom>
              <a:clrTo>
                <a:srgbClr val="D9D9D9">
                  <a:alpha val="0"/>
                </a:srgbClr>
              </a:clrTo>
            </a:clrChange>
          </a:blip>
          <a:srcRect t="310" b="310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REALIZACIÓN DE LA ELICITACIÓN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7762432-2400-C1CE-F508-0D6F157FCE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i="1" dirty="0"/>
              <a:t>Benchmarking</a:t>
            </a:r>
            <a:r>
              <a:rPr lang="es-ES" dirty="0"/>
              <a:t> y análisis de mercado</a:t>
            </a:r>
          </a:p>
          <a:p>
            <a:r>
              <a:rPr lang="es-ES" dirty="0"/>
              <a:t>Tormenta de ideas</a:t>
            </a:r>
          </a:p>
          <a:p>
            <a:r>
              <a:rPr lang="es-ES" dirty="0"/>
              <a:t>Análisis de reglas de negocio</a:t>
            </a:r>
          </a:p>
          <a:p>
            <a:r>
              <a:rPr lang="es-ES" dirty="0"/>
              <a:t>Juegos colaborativos</a:t>
            </a:r>
          </a:p>
          <a:p>
            <a:r>
              <a:rPr lang="es-ES" dirty="0"/>
              <a:t>Modelado de conceptos</a:t>
            </a:r>
          </a:p>
          <a:p>
            <a:r>
              <a:rPr lang="es-ES" i="1" dirty="0"/>
              <a:t>Data Mining</a:t>
            </a:r>
          </a:p>
          <a:p>
            <a:r>
              <a:rPr lang="es-ES" dirty="0"/>
              <a:t>Modelado de datos</a:t>
            </a:r>
          </a:p>
          <a:p>
            <a:r>
              <a:rPr lang="es-ES" dirty="0"/>
              <a:t>Análisis de documentos</a:t>
            </a:r>
          </a:p>
          <a:p>
            <a:r>
              <a:rPr lang="es-ES" dirty="0"/>
              <a:t>Grupos de enfoque</a:t>
            </a:r>
          </a:p>
          <a:p>
            <a:r>
              <a:rPr lang="es-ES" dirty="0"/>
              <a:t>Análisis de interfaces</a:t>
            </a:r>
          </a:p>
          <a:p>
            <a:r>
              <a:rPr lang="es-ES" dirty="0"/>
              <a:t>Entrevistas</a:t>
            </a:r>
          </a:p>
          <a:p>
            <a:r>
              <a:rPr lang="es-ES" dirty="0"/>
              <a:t>Mapas mentales</a:t>
            </a:r>
          </a:p>
          <a:p>
            <a:r>
              <a:rPr lang="es-ES" dirty="0"/>
              <a:t>Observación</a:t>
            </a:r>
          </a:p>
          <a:p>
            <a:r>
              <a:rPr lang="es-ES" dirty="0"/>
              <a:t>Análisis de procesos</a:t>
            </a:r>
          </a:p>
          <a:p>
            <a:r>
              <a:rPr lang="es-ES" dirty="0"/>
              <a:t>Modelado de procesos</a:t>
            </a:r>
          </a:p>
          <a:p>
            <a:r>
              <a:rPr lang="es-ES" dirty="0"/>
              <a:t>Prototipado</a:t>
            </a:r>
          </a:p>
          <a:p>
            <a:r>
              <a:rPr lang="es-ES" dirty="0"/>
              <a:t>Encuestas o cuestionarios</a:t>
            </a:r>
          </a:p>
          <a:p>
            <a:r>
              <a:rPr lang="es-ES" dirty="0"/>
              <a:t>Talleres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FB8EA5A3-F87E-86AB-6CBB-DDBD506FA1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PE" i="0" dirty="0"/>
              <a:t>TÉCNICAS BABOK</a:t>
            </a:r>
            <a:r>
              <a:rPr lang="es-PE" dirty="0"/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30908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</a:t>
            </a:r>
            <a:r>
              <a:rPr lang="es-ES" dirty="0"/>
              <a:t>ANÁLISIS DE RESULTADOS DE LA ELICITACIÓN</a:t>
            </a:r>
            <a:endParaRPr lang="es-P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872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Objetivo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ANÁLISIS DE RESULTADOS DE LA ELICITACIÓN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Verificar la precisión y coherencia de la información recopilada durante la elicitación con otra información.</a:t>
            </a:r>
          </a:p>
          <a:p>
            <a:r>
              <a:rPr lang="es-ES" dirty="0"/>
              <a:t>La información obtenida se confirma para identificar cualquier problema y resolverlo antes de que los recursos se comprometan a utilizar la información. Esta revisión puede descubrir errores, omisiones, conflictos y ambigüedad.</a:t>
            </a:r>
          </a:p>
          <a:p>
            <a:pPr>
              <a:spcAft>
                <a:spcPts val="600"/>
              </a:spcAft>
            </a:pPr>
            <a:r>
              <a:rPr lang="es-ES" dirty="0"/>
              <a:t>Se debe de tener en cuenta lo siguiente: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Comparar los resultados de la elicitación con la información de origen.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Comparar los resultados de la elicitación con otros resultados de la elicitación.</a:t>
            </a:r>
            <a:endParaRPr lang="es-PE" dirty="0"/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4E96A032-6F40-8384-1237-191DC4D611A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5" r="22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2382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Comparar con información de origen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ANÁLISIS DE RESULTADOS DE LA ELICITACIÓN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103687" cy="3197972"/>
          </a:xfrm>
        </p:spPr>
        <p:txBody>
          <a:bodyPr/>
          <a:lstStyle/>
          <a:p>
            <a:r>
              <a:rPr lang="es-ES" dirty="0"/>
              <a:t>Los resultados de la elicitación describen las fuentes de las que se derivaron, incluidos los documentos y el conocimiento de los </a:t>
            </a:r>
            <a:r>
              <a:rPr lang="es-ES" i="1" dirty="0"/>
              <a:t>stakeholders.</a:t>
            </a:r>
          </a:p>
          <a:p>
            <a:r>
              <a:rPr lang="es-ES" dirty="0"/>
              <a:t>El analista de negocios puede dirigir reuniones de seguimiento en las que los </a:t>
            </a:r>
            <a:r>
              <a:rPr lang="es-ES" i="1" dirty="0"/>
              <a:t>stakeholders</a:t>
            </a:r>
            <a:r>
              <a:rPr lang="es-ES" dirty="0"/>
              <a:t> corrigen los resultados de la elicitación.</a:t>
            </a:r>
          </a:p>
          <a:p>
            <a:r>
              <a:rPr lang="es-ES" dirty="0"/>
              <a:t>Los </a:t>
            </a:r>
            <a:r>
              <a:rPr lang="es-ES" i="1" dirty="0"/>
              <a:t>stakeholders</a:t>
            </a:r>
            <a:r>
              <a:rPr lang="es-ES" dirty="0"/>
              <a:t> también pueden confirmar los resultados de la elicitación de forma independiente.</a:t>
            </a:r>
          </a:p>
          <a:p>
            <a:endParaRPr lang="es-ES" dirty="0"/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FA4C9110-5DAC-FEB2-79F1-CA0ACA53247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1926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Comparar con otros resultados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ANÁLISIS DE RESULTADOS DE LA ELICITACIÓN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103687" cy="3751262"/>
          </a:xfrm>
        </p:spPr>
        <p:txBody>
          <a:bodyPr/>
          <a:lstStyle/>
          <a:p>
            <a:r>
              <a:rPr lang="es-ES" dirty="0"/>
              <a:t>Los analistas comparan los resultados recopilados para confirmar que la información es coherente y está representada con precisión.</a:t>
            </a:r>
          </a:p>
          <a:p>
            <a:r>
              <a:rPr lang="es-ES" dirty="0"/>
              <a:t>A medida que se realizan las comparaciones, los analistas identifican variaciones en los resultados y las resuelven en colaboración con los </a:t>
            </a:r>
            <a:r>
              <a:rPr lang="es-ES" i="1" dirty="0"/>
              <a:t>stakeholders.</a:t>
            </a:r>
            <a:r>
              <a:rPr lang="es-ES" dirty="0"/>
              <a:t> También se pueden hacer comparaciones con datos históricos para confirmar resultados de obtención más recientes.</a:t>
            </a:r>
          </a:p>
          <a:p>
            <a:r>
              <a:rPr lang="es-ES" dirty="0"/>
              <a:t>Las inconsistencias a menudo se descubren cuando los analistas de negocios desarrollan especificaciones y modelos.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15181B1F-A5C4-9B06-CA1C-CF54504B3C6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2436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DBBC4BF9-23BB-A3F6-4EA9-77E304C95F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clrChange>
              <a:clrFrom>
                <a:srgbClr val="D9D9D9"/>
              </a:clrFrom>
              <a:clrTo>
                <a:srgbClr val="D9D9D9">
                  <a:alpha val="0"/>
                </a:srgbClr>
              </a:clrTo>
            </a:clrChange>
          </a:blip>
          <a:srcRect t="310" b="310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ANÁLISIS DE RESULTADOS DE LA ELICITACIÓN</a:t>
            </a:r>
            <a:endParaRPr lang="es-PE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7762432-2400-C1CE-F508-0D6F157FCE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Análisis de documentos</a:t>
            </a:r>
          </a:p>
          <a:p>
            <a:r>
              <a:rPr lang="es-ES" dirty="0"/>
              <a:t>Entrevistas</a:t>
            </a:r>
          </a:p>
          <a:p>
            <a:r>
              <a:rPr lang="es-ES" dirty="0"/>
              <a:t>Revisiones</a:t>
            </a:r>
          </a:p>
          <a:p>
            <a:r>
              <a:rPr lang="es-ES" dirty="0"/>
              <a:t>Talleres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FB8EA5A3-F87E-86AB-6CBB-DDBD506FA1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PE" i="0" dirty="0"/>
              <a:t>TÉCNICAS BABOK®</a:t>
            </a:r>
          </a:p>
        </p:txBody>
      </p:sp>
    </p:spTree>
    <p:extLst>
      <p:ext uri="{BB962C8B-B14F-4D97-AF65-F5344CB8AC3E}">
        <p14:creationId xmlns:p14="http://schemas.microsoft.com/office/powerpoint/2010/main" val="140105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</a:t>
            </a:r>
            <a:r>
              <a:rPr lang="es-ES" dirty="0"/>
              <a:t>ESPECIFICACIÓN DE LOS REQUISITOS DE LA SOLUCIÓN</a:t>
            </a:r>
            <a:endParaRPr lang="es-P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54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Alcance de la especificación de requisitos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ESPECIFICACIÓN DE LOS REQUISITOS DE LA SOLUCIÓN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Una especificación de requisitos es un documento que describe la necesidad y fundamentalmente sirve como base para todo el trabajo futuro en el proyecto.</a:t>
            </a:r>
          </a:p>
          <a:p>
            <a:pPr>
              <a:spcAft>
                <a:spcPts val="600"/>
              </a:spcAft>
            </a:pPr>
            <a:r>
              <a:rPr lang="es-ES" dirty="0"/>
              <a:t>Comprende la especificación y ejecución de los siguientes procesos: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Comunicar información de análisis empresarial.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Gestionar la colaboración de los </a:t>
            </a:r>
            <a:r>
              <a:rPr lang="es-ES" i="1" dirty="0"/>
              <a:t>stakeholders.</a:t>
            </a:r>
            <a:endParaRPr lang="es-PE" i="1" dirty="0"/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6A900F39-1719-6921-435C-2A337906CF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4914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6DEEE20-5BC3-C322-6C9D-320DBAE70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PE" dirty="0"/>
              <a:t>REQUISITOS DE LA SOLUCIÓN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C85DDA-0020-4FFA-79B3-B700B78091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COMUNICAR INFORMACIÓN DE ANÁLISIS EMPRESARIAL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1822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OBJETIVO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COMUNICAR INFORMACIÓN DE ANÁLISIS EMPRESARIAL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6"/>
            <a:ext cx="4103687" cy="3751262"/>
          </a:xfrm>
        </p:spPr>
        <p:txBody>
          <a:bodyPr/>
          <a:lstStyle/>
          <a:p>
            <a:r>
              <a:rPr lang="es-ES" dirty="0"/>
              <a:t>Garantizar que los </a:t>
            </a:r>
            <a:r>
              <a:rPr lang="es-ES" i="1" dirty="0"/>
              <a:t>stakeholders</a:t>
            </a:r>
            <a:r>
              <a:rPr lang="es-ES" dirty="0"/>
              <a:t> tengan una comprensión compartida de la información de análisis empresarial.</a:t>
            </a:r>
          </a:p>
          <a:p>
            <a:r>
              <a:rPr lang="es-ES" dirty="0"/>
              <a:t>La comunicación de la información de análisis empresarial es bidireccional e iterativa. Implica determinar los destinatarios, el contenido, el propósito, el contexto y los resultados esperados.</a:t>
            </a:r>
          </a:p>
          <a:p>
            <a:pPr>
              <a:spcAft>
                <a:spcPts val="600"/>
              </a:spcAft>
            </a:pPr>
            <a:r>
              <a:rPr lang="es-ES" dirty="0"/>
              <a:t>Se debe de tener en cuenta lo siguiente: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Determinar objetivos y formatos de comunicación.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Paquete de comunicación para el análisis empresarial.</a:t>
            </a:r>
            <a:endParaRPr lang="es-PE" dirty="0"/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0A5B7D26-4CB8-A6C0-771B-AD3BA617293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40" r="34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20017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Determinar objetivos y formatos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COMUNICAR INFORMACIÓN DE ANÁLISIS EMPRESARIAL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221928" cy="41116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El objetivo principal de desarrollar un paquete es transmitir información de forma clara y en un formato utilizable para continuar con las actividades de cambio.  Para decidir cómo presentar los requisitos, nos haremos las siguientes preguntas: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¿Quién es la audiencia del paquete?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¿Qué información necesitará cada actor?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¿Cuál es el estilo de comunicación preferido de cada </a:t>
            </a:r>
            <a:r>
              <a:rPr lang="es-ES" i="1" dirty="0"/>
              <a:t>stakeholder</a:t>
            </a:r>
            <a:r>
              <a:rPr lang="es-ES" dirty="0"/>
              <a:t>?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¿La presentación y el formato del paquete, y la información contenida, son apropiados para el tipo de audiencia?</a:t>
            </a:r>
          </a:p>
          <a:p>
            <a:pPr lvl="1"/>
            <a:r>
              <a:rPr lang="es-ES" dirty="0"/>
              <a:t>¿Existen restricciones regulatorias o contractuales que cumplir?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9E0525A3-58D1-4744-0EF6-C681C6E6D7D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>
          <a:xfrm>
            <a:off x="4847397" y="824500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260656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Paquete de comunicación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COMUNICAR INFORMACIÓN DE ANÁLISIS EMPRESARIAL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346968" cy="3631239"/>
          </a:xfrm>
        </p:spPr>
        <p:txBody>
          <a:bodyPr/>
          <a:lstStyle/>
          <a:p>
            <a:r>
              <a:rPr lang="es-ES" dirty="0"/>
              <a:t>El propósito de comunicar el paquete de análisis de negocios es proporcionar a los stakeholders el nivel adecuado de detalle sobre el cambio, para que puedan comprender la información que contiene.</a:t>
            </a:r>
          </a:p>
          <a:p>
            <a:pPr>
              <a:spcAft>
                <a:spcPts val="600"/>
              </a:spcAft>
            </a:pPr>
            <a:r>
              <a:rPr lang="es-ES" dirty="0"/>
              <a:t>También es importante seleccionar la plataforma de comunicación adecuada. Las plataformas comunes incluyen: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Colaboración en grupo,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Comparación individual,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Correo electrónico, u</a:t>
            </a:r>
          </a:p>
          <a:p>
            <a:pPr lvl="1"/>
            <a:r>
              <a:rPr lang="es-ES" dirty="0"/>
              <a:t>Otros métodos no verbales.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FC4A6EC7-9F97-1DFE-3087-44325729E12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>
          <a:xfrm>
            <a:off x="4888764" y="855237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17399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DBBC4BF9-23BB-A3F6-4EA9-77E304C95F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clrChange>
              <a:clrFrom>
                <a:srgbClr val="D9D9D9"/>
              </a:clrFrom>
              <a:clrTo>
                <a:srgbClr val="D9D9D9">
                  <a:alpha val="0"/>
                </a:srgbClr>
              </a:clrTo>
            </a:clrChange>
          </a:blip>
          <a:srcRect t="310" b="310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COMUNICAR INFORMACIÓN DE ANÁLISIS EMPRESARIAL</a:t>
            </a:r>
            <a:endParaRPr lang="es-PE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7762432-2400-C1CE-F508-0D6F157FCE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Entrevistas</a:t>
            </a:r>
          </a:p>
          <a:p>
            <a:r>
              <a:rPr lang="es-ES" dirty="0"/>
              <a:t>Revisiones</a:t>
            </a:r>
          </a:p>
          <a:p>
            <a:r>
              <a:rPr lang="es-ES" dirty="0"/>
              <a:t>Talleres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FB8EA5A3-F87E-86AB-6CBB-DDBD506FA1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PE" i="0" dirty="0"/>
              <a:t>TÉCNICAS BABOK</a:t>
            </a:r>
            <a:r>
              <a:rPr lang="es-PE" dirty="0"/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110279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B6DEEE20-5BC3-C322-6C9D-320DBAE70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PE" dirty="0"/>
              <a:t>REQUISITOS DE LA SOLUCIÓN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C85DDA-0020-4FFA-79B3-B700B78091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GESTIONAR LA COLABORACIÓN DE LOS </a:t>
            </a:r>
            <a:r>
              <a:rPr lang="es-PE" i="1" dirty="0"/>
              <a:t>STAKEHOLDERS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04891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Objetivo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GESTIONAR LA COLABORACIÓN DE LOS </a:t>
            </a:r>
            <a:r>
              <a:rPr lang="es-PE" i="1" dirty="0"/>
              <a:t>STAKEHOLDERS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03687" cy="3681573"/>
          </a:xfrm>
        </p:spPr>
        <p:txBody>
          <a:bodyPr/>
          <a:lstStyle/>
          <a:p>
            <a:r>
              <a:rPr lang="es-ES" dirty="0"/>
              <a:t>Alentar a los </a:t>
            </a:r>
            <a:r>
              <a:rPr lang="es-ES" i="1" dirty="0"/>
              <a:t>stakeholders</a:t>
            </a:r>
            <a:r>
              <a:rPr lang="es-ES" dirty="0"/>
              <a:t> a trabajar hacia un objetivo común.</a:t>
            </a:r>
          </a:p>
          <a:p>
            <a:r>
              <a:rPr lang="es-ES" dirty="0"/>
              <a:t>Es una actividad continua. Aunque comienza una vez que los </a:t>
            </a:r>
            <a:r>
              <a:rPr lang="es-ES" i="1" dirty="0"/>
              <a:t>stakeholders</a:t>
            </a:r>
            <a:r>
              <a:rPr lang="es-ES" dirty="0"/>
              <a:t> han sido identificados y analizados, se pueden identificar nuevos en cualquier momento durante una iniciativa. </a:t>
            </a:r>
          </a:p>
          <a:p>
            <a:pPr>
              <a:spcAft>
                <a:spcPts val="600"/>
              </a:spcAft>
            </a:pPr>
            <a:r>
              <a:rPr lang="es-ES" dirty="0"/>
              <a:t>Se debe de tener en cuenta lo siguiente: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Obtener acuerdo sobre compromisos.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Supervisar la participación de los </a:t>
            </a:r>
            <a:r>
              <a:rPr lang="es-ES" i="1" dirty="0"/>
              <a:t>stakeholders.</a:t>
            </a:r>
          </a:p>
          <a:p>
            <a:pPr lvl="1"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Colaboración.</a:t>
            </a:r>
            <a:endParaRPr lang="es-PE" dirty="0"/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2167F7FF-FC8A-8B6D-131C-9B8537A2E13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18" r="11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066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Obtener acuerdo sobre compromisos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GESTIONAR LA COLABORACIÓN DE LOS </a:t>
            </a:r>
            <a:r>
              <a:rPr lang="es-PE" i="1" dirty="0"/>
              <a:t>STAKEHOLDERS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Los </a:t>
            </a:r>
            <a:r>
              <a:rPr lang="es-ES" i="1" dirty="0"/>
              <a:t>stakeholders</a:t>
            </a:r>
            <a:r>
              <a:rPr lang="es-ES" dirty="0"/>
              <a:t> participan en actividades de análisis empresarial que pueden requerir compromisos de tiempo y recursos.</a:t>
            </a:r>
          </a:p>
          <a:p>
            <a:r>
              <a:rPr lang="es-ES" dirty="0"/>
              <a:t>Los detalles específicos de los compromisos se pueden comunicar de manera formal o informal, siempre que haya una comprensión explícita de las expectativas y los resultados deseados del compromiso.</a:t>
            </a:r>
          </a:p>
          <a:p>
            <a:r>
              <a:rPr lang="es-ES" dirty="0"/>
              <a:t>Puede haber diálogo y negociación sobre los términos y condiciones de los compromisos.</a:t>
            </a:r>
          </a:p>
          <a:p>
            <a:r>
              <a:rPr lang="es-ES" dirty="0"/>
              <a:t>Las habilidades efectivas de negociación y resolución de conflictos son importantes para una gestión eficaz de los </a:t>
            </a:r>
            <a:r>
              <a:rPr lang="es-ES" i="1" dirty="0"/>
              <a:t>stakeholders</a:t>
            </a:r>
            <a:r>
              <a:rPr lang="es-ES" dirty="0"/>
              <a:t>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CFF22A0C-F33D-6D4E-063C-A395212C59D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0" r="2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600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2" y="804863"/>
            <a:ext cx="4356000" cy="354012"/>
          </a:xfrm>
        </p:spPr>
        <p:txBody>
          <a:bodyPr/>
          <a:lstStyle/>
          <a:p>
            <a:r>
              <a:rPr lang="es-ES" dirty="0"/>
              <a:t>Supervisar participación de </a:t>
            </a:r>
            <a:r>
              <a:rPr lang="es-ES" i="1" dirty="0"/>
              <a:t>stakeholders</a:t>
            </a:r>
            <a:endParaRPr lang="es-PE" i="1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GESTIONAR LA COLABORACIÓN DE LOS </a:t>
            </a:r>
            <a:r>
              <a:rPr lang="es-PE" i="1" dirty="0"/>
              <a:t>STAKEHOLDERS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58875"/>
            <a:ext cx="4103687" cy="3211789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s-ES" dirty="0"/>
              <a:t>Los analistas de negocios monitorean la participación y el desempeño de los </a:t>
            </a:r>
            <a:r>
              <a:rPr lang="es-ES" i="1" dirty="0"/>
              <a:t>stakeholders</a:t>
            </a:r>
            <a:r>
              <a:rPr lang="es-ES" dirty="0"/>
              <a:t> para garantizar que: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Los expertos y otros </a:t>
            </a:r>
            <a:r>
              <a:rPr lang="es-ES" i="1" dirty="0"/>
              <a:t>stakeholders</a:t>
            </a:r>
            <a:r>
              <a:rPr lang="es-ES" dirty="0"/>
              <a:t> participan de manera efectiva.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El interés de los </a:t>
            </a:r>
            <a:r>
              <a:rPr lang="es-ES" i="1" dirty="0"/>
              <a:t>stakeholders</a:t>
            </a:r>
            <a:r>
              <a:rPr lang="es-ES" dirty="0"/>
              <a:t> se mantiene constante o mejoran.</a:t>
            </a:r>
          </a:p>
          <a:p>
            <a:pPr lvl="1">
              <a:spcAft>
                <a:spcPts val="600"/>
              </a:spcAft>
            </a:pPr>
            <a:r>
              <a:rPr lang="es-ES" dirty="0"/>
              <a:t>Los resultados de la elicitación se confirman de manera oportuna.</a:t>
            </a:r>
          </a:p>
          <a:p>
            <a:pPr lvl="1"/>
            <a:r>
              <a:rPr lang="es-ES" dirty="0"/>
              <a:t>Se mantienen los acuerdos y compromisos.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9ADD08A4-3069-226C-F85A-A8DBC4C5BB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55" r="455"/>
          <a:stretch>
            <a:fillRect/>
          </a:stretch>
        </p:blipFill>
        <p:spPr>
          <a:xfrm>
            <a:off x="4824312" y="824500"/>
            <a:ext cx="4086000" cy="4446000"/>
          </a:xfrm>
        </p:spPr>
      </p:pic>
    </p:spTree>
    <p:extLst>
      <p:ext uri="{BB962C8B-B14F-4D97-AF65-F5344CB8AC3E}">
        <p14:creationId xmlns:p14="http://schemas.microsoft.com/office/powerpoint/2010/main" val="330885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7759B57-40EF-4CB1-BB1B-E3A8BE753E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Colaboración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GESTIONAR LA COLABORACIÓN DE LOS </a:t>
            </a:r>
            <a:r>
              <a:rPr lang="es-PE" i="1" dirty="0"/>
              <a:t>STAKEHOLDERS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Es más probable que los </a:t>
            </a:r>
            <a:r>
              <a:rPr lang="es-ES" i="1" dirty="0"/>
              <a:t>stakeholders </a:t>
            </a:r>
            <a:r>
              <a:rPr lang="es-ES" dirty="0"/>
              <a:t>apoyen el cambio si los analistas colaboran con ellos y fomentan el libre flujo de información, ideas e innovaciones.</a:t>
            </a:r>
          </a:p>
          <a:p>
            <a:r>
              <a:rPr lang="es-ES" dirty="0"/>
              <a:t>La participación genuina de los </a:t>
            </a:r>
            <a:r>
              <a:rPr lang="es-ES" i="1" dirty="0"/>
              <a:t>stakeholders</a:t>
            </a:r>
            <a:r>
              <a:rPr lang="es-ES" dirty="0"/>
              <a:t> requiere que sientan que son escuchados, que sus opiniones son importantes y que sus contribuciones son reconocidas.</a:t>
            </a:r>
          </a:p>
          <a:p>
            <a:r>
              <a:rPr lang="es-ES" dirty="0"/>
              <a:t>Las relaciones de colaboración ayudan a mantener el libre flujo de información cuando ocurren obstáculos y contratiempos, y promueven un esfuerzo compartido para resolver problemas y lograr los resultados deseados.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6143C43B-9BB8-BA94-085E-A46E2361C7F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4" r="23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905279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DBBC4BF9-23BB-A3F6-4EA9-77E304C95F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clrChange>
              <a:clrFrom>
                <a:srgbClr val="D9D9D9"/>
              </a:clrFrom>
              <a:clrTo>
                <a:srgbClr val="D9D9D9">
                  <a:alpha val="0"/>
                </a:srgbClr>
              </a:clrTo>
            </a:clrChange>
          </a:blip>
          <a:srcRect t="310" b="310"/>
          <a:stretch>
            <a:fillRect/>
          </a:stretch>
        </p:blipFill>
        <p:spPr/>
      </p:pic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GESTIONAR LA COLABORACIÓN DE LOS STAKEHOLDERS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7762432-2400-C1CE-F508-0D6F157FCE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Juegos colaborativos</a:t>
            </a:r>
          </a:p>
          <a:p>
            <a:r>
              <a:rPr lang="es-ES" dirty="0"/>
              <a:t>Lecciones aprendidas</a:t>
            </a:r>
          </a:p>
          <a:p>
            <a:r>
              <a:rPr lang="es-ES" dirty="0"/>
              <a:t>Análisis y gestión de riesgos</a:t>
            </a:r>
          </a:p>
          <a:p>
            <a:r>
              <a:rPr lang="es-ES" dirty="0"/>
              <a:t>Lista o mapa de </a:t>
            </a:r>
            <a:r>
              <a:rPr lang="es-ES" i="1" dirty="0"/>
              <a:t>stakeholders</a:t>
            </a:r>
            <a:r>
              <a:rPr lang="es-ES" dirty="0"/>
              <a:t> o personas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FB8EA5A3-F87E-86AB-6CBB-DDBD506FA1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s-PE" i="0" dirty="0"/>
              <a:t>TÉCNICAS BABOK</a:t>
            </a:r>
            <a:r>
              <a:rPr lang="es-PE" dirty="0"/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107897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E4B664F2-7CB4-48B1-9096-E52469E94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4" y="3714841"/>
            <a:ext cx="5865984" cy="810087"/>
          </a:xfrm>
        </p:spPr>
        <p:txBody>
          <a:bodyPr/>
          <a:lstStyle/>
          <a:p>
            <a:pPr marL="274638" indent="-274638">
              <a:tabLst>
                <a:tab pos="274638" algn="l"/>
              </a:tabLst>
            </a:pPr>
            <a:r>
              <a:rPr lang="es-PE" dirty="0"/>
              <a:t>/	</a:t>
            </a:r>
            <a:r>
              <a:rPr lang="es-ES" dirty="0"/>
              <a:t>¿CUÁNDO ES PERTINENTE UTILIZAR UNA DE ESTA TÉCNICAS BABOK®?</a:t>
            </a:r>
            <a:endParaRPr lang="es-P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020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¿CUÁNDO ES PERTINENTE UTILIZAR UNA DE ESTAS TÉCNICAS BABOK®?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busca comparar el desempeño o las prácticas de la organización con respecto a competidores o referentes del mercado. Es útil para identificar oportunidades de mejora y obtener información sobre las mejores prácticas en la industria.</a:t>
            </a:r>
          </a:p>
          <a:p>
            <a:pPr lvl="1"/>
            <a:r>
              <a:rPr lang="es-ES" b="1" i="1" dirty="0"/>
              <a:t>Benchmarking</a:t>
            </a:r>
            <a:r>
              <a:rPr lang="es-ES" b="1" dirty="0"/>
              <a:t> y análisis de mercado</a:t>
            </a:r>
          </a:p>
          <a:p>
            <a:pPr marL="0" indent="0">
              <a:spcAft>
                <a:spcPts val="600"/>
              </a:spcAft>
              <a:buNone/>
            </a:pPr>
            <a:endParaRPr lang="es-ES" dirty="0"/>
          </a:p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necesita generar ideas nuevas y creativas para abordar un problema o aprovechar una oportunidad. Es útil para fomentar la colaboración y la generación de soluciones innovadoras.</a:t>
            </a:r>
          </a:p>
          <a:p>
            <a:pPr lvl="1"/>
            <a:r>
              <a:rPr lang="es-ES" b="1" dirty="0"/>
              <a:t>Tormenta de ideas</a:t>
            </a:r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3E6B84E2-2F75-787E-E123-B46A3EC4E87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90DAED-DEAE-479E-8AA9-96BBA734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CASO O ESCENARIO</a:t>
            </a:r>
          </a:p>
        </p:txBody>
      </p:sp>
    </p:spTree>
    <p:extLst>
      <p:ext uri="{BB962C8B-B14F-4D97-AF65-F5344CB8AC3E}">
        <p14:creationId xmlns:p14="http://schemas.microsoft.com/office/powerpoint/2010/main" val="124223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¿CUÁNDO ES PERTINENTE UTILIZAR UNA DE ESTAS TÉCNICAS BABOK®?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requiere comprender y documentar las reglas y lógicas que rigen las operaciones de negocio de una organización. Es útil para identificar requisitos, definir procesos y establecer la base para el desarrollo de sistemas.</a:t>
            </a:r>
          </a:p>
          <a:p>
            <a:pPr lvl="1"/>
            <a:r>
              <a:rPr lang="es-ES" b="1" dirty="0"/>
              <a:t>Análisis de reglas de negocio</a:t>
            </a:r>
            <a:endParaRPr lang="es-ES" dirty="0"/>
          </a:p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busca fomentar la participación activa y la colaboración entre los miembros del equipo o las partes interesadas. Es útil para estimular la creatividad, promover el trabajo en equipo y obtener diferentes perspectivas sobre un problema o situación.</a:t>
            </a:r>
          </a:p>
          <a:p>
            <a:pPr lvl="1"/>
            <a:r>
              <a:rPr lang="es-ES" b="1" dirty="0"/>
              <a:t>Juegos colaborativos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7A95699F-5AF0-D9DD-6AF9-C57CC01BD4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90DAED-DEAE-479E-8AA9-96BBA734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CASO O ESCENARIO</a:t>
            </a:r>
          </a:p>
        </p:txBody>
      </p:sp>
    </p:spTree>
    <p:extLst>
      <p:ext uri="{BB962C8B-B14F-4D97-AF65-F5344CB8AC3E}">
        <p14:creationId xmlns:p14="http://schemas.microsoft.com/office/powerpoint/2010/main" val="98824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¿CUÁNDO ES PERTINENTE UTILIZAR UNA DE ESTAS TÉCNICAS BABOK®?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desea representar visualmente los conceptos clave y las relaciones entre ellos. Es útil para organizar y comunicar de manera clara y estructurada los conceptos fundamentales de un proyecto o dominio específico.</a:t>
            </a:r>
          </a:p>
          <a:p>
            <a:pPr lvl="1"/>
            <a:r>
              <a:rPr lang="es-ES" b="1" dirty="0"/>
              <a:t>Modelado de conceptos</a:t>
            </a:r>
            <a:endParaRPr lang="es-ES" dirty="0"/>
          </a:p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necesita explorar y analizar grandes conjuntos de datos para descubrir patrones, tendencias o relaciones ocultas. Es útil para obtener información valiosa, identificar oportunidades o problemas, y respaldar la toma de decisiones basada en datos.</a:t>
            </a:r>
          </a:p>
          <a:p>
            <a:pPr lvl="1"/>
            <a:r>
              <a:rPr lang="es-ES" b="1" dirty="0"/>
              <a:t>Data </a:t>
            </a:r>
            <a:r>
              <a:rPr lang="es-ES" b="1" dirty="0" err="1"/>
              <a:t>Mining</a:t>
            </a:r>
            <a:endParaRPr lang="es-ES" b="1" dirty="0"/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AD66B34C-10B4-6950-E3BC-D4E16AA019F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90DAED-DEAE-479E-8AA9-96BBA734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CASO O ESCENARIO</a:t>
            </a:r>
          </a:p>
        </p:txBody>
      </p:sp>
    </p:spTree>
    <p:extLst>
      <p:ext uri="{BB962C8B-B14F-4D97-AF65-F5344CB8AC3E}">
        <p14:creationId xmlns:p14="http://schemas.microsoft.com/office/powerpoint/2010/main" val="36241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¿CUÁNDO ES PERTINENTE UTILIZAR UNA DE ESTAS TÉCNICAS BABOK®?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requiere representar y estructurar los datos relevantes para un proyecto o sistema. Es útil para diseñar la arquitectura de la base de datos, definir las tablas y las relaciones entre ellas, y garantizar una gestión eficiente de los datos.</a:t>
            </a:r>
          </a:p>
          <a:p>
            <a:pPr lvl="1"/>
            <a:r>
              <a:rPr lang="es-ES" b="1" dirty="0"/>
              <a:t>Modelado de datos</a:t>
            </a:r>
            <a:endParaRPr lang="es-ES" dirty="0"/>
          </a:p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necesitan extraer información relevante de documentos existentes, como informes, contratos o políticas. Es útil para recopilar datos, identificar tendencias o temas comunes, y comprender el contexto y las restricciones de un proyecto o problema específico.</a:t>
            </a:r>
          </a:p>
          <a:p>
            <a:pPr lvl="1"/>
            <a:r>
              <a:rPr lang="es-ES" b="1" dirty="0"/>
              <a:t>Análisis de documentos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05A337FD-B115-442D-BA8E-614FADEA54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90DAED-DEAE-479E-8AA9-96BBA734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CASO O ESCENARIO</a:t>
            </a:r>
          </a:p>
        </p:txBody>
      </p:sp>
    </p:spTree>
    <p:extLst>
      <p:ext uri="{BB962C8B-B14F-4D97-AF65-F5344CB8AC3E}">
        <p14:creationId xmlns:p14="http://schemas.microsoft.com/office/powerpoint/2010/main" val="2740196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¿CUÁNDO ES PERTINENTE UTILIZAR UNA DE ESTAS TÉCNICAS BABOK®?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busca recopilar información cualitativa y obtener perspectivas detalladas de un grupo específico de personas, a través de discusiones moderadas por un facilitador. Es útil para comprender las necesidades, deseos y opiniones de los participantes y obtener información rica sobre un tema en particular.</a:t>
            </a:r>
          </a:p>
          <a:p>
            <a:pPr lvl="1"/>
            <a:r>
              <a:rPr lang="es-ES" b="1" dirty="0"/>
              <a:t>Grupos de enfoque</a:t>
            </a:r>
            <a:endParaRPr lang="es-ES" dirty="0"/>
          </a:p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requiere evaluar y mejorar la usabilidad y la experiencia del usuario en las interfaces de un sistema o aplicación. Es útil para identificar problemas de diseño, encontrar oportunidades de mejora y garantizar una interacción intuitiva y eficiente con el usuario.</a:t>
            </a:r>
          </a:p>
          <a:p>
            <a:pPr lvl="1"/>
            <a:r>
              <a:rPr lang="es-ES" b="1" dirty="0"/>
              <a:t>Análisis de interfaces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213FA1BE-F14E-ED41-7B46-F3A2315694A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90DAED-DEAE-479E-8AA9-96BBA734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CASO O ESCENARIO</a:t>
            </a:r>
          </a:p>
        </p:txBody>
      </p:sp>
    </p:spTree>
    <p:extLst>
      <p:ext uri="{BB962C8B-B14F-4D97-AF65-F5344CB8AC3E}">
        <p14:creationId xmlns:p14="http://schemas.microsoft.com/office/powerpoint/2010/main" val="423767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¿CUÁNDO ES PERTINENTE UTILIZAR UNA DE ESTAS TÉCNICAS BABOK®?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necesita obtener información detallada y específica de individuos clave, como expertos o partes interesadas clave. Es útil para profundizar en temas, obtener opiniones personales y recopilar información detallada que puede no estar disponible en otras fuentes.</a:t>
            </a:r>
          </a:p>
          <a:p>
            <a:pPr lvl="1"/>
            <a:r>
              <a:rPr lang="es-ES" b="1" dirty="0"/>
              <a:t>Entrevista</a:t>
            </a:r>
            <a:endParaRPr lang="es-ES" dirty="0"/>
          </a:p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desea visualizar y organizar de manera jerárquica ideas, conceptos o información interrelacionada. Es útil para estimular la generación de ideas, facilitar la comprensión de conceptos complejos y establecer conexiones entre elementos clave.</a:t>
            </a:r>
          </a:p>
          <a:p>
            <a:pPr lvl="1"/>
            <a:r>
              <a:rPr lang="es-ES" b="1" dirty="0"/>
              <a:t>Mapas mentales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ED80440A-CD05-2262-229B-CBBCCF530E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90DAED-DEAE-479E-8AA9-96BBA734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CASO O ESCENARIO</a:t>
            </a:r>
          </a:p>
        </p:txBody>
      </p:sp>
    </p:spTree>
    <p:extLst>
      <p:ext uri="{BB962C8B-B14F-4D97-AF65-F5344CB8AC3E}">
        <p14:creationId xmlns:p14="http://schemas.microsoft.com/office/powerpoint/2010/main" val="1866446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¿CUÁNDO ES PERTINENTE UTILIZAR UNA DE ESTAS TÉCNICAS BABOK®?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busca obtener información directa al observar y registrar el comportamiento de personas o sistemas en su entorno natural. Es útil para comprender cómo se realiza un proceso, identificar problemas o ineficiencias, y obtener una visión más objetiva de las actividades en estudio.</a:t>
            </a:r>
          </a:p>
          <a:p>
            <a:pPr lvl="1"/>
            <a:r>
              <a:rPr lang="es-ES" b="1" dirty="0"/>
              <a:t>Observación</a:t>
            </a:r>
            <a:endParaRPr lang="es-ES" dirty="0"/>
          </a:p>
          <a:p>
            <a:pPr marL="0" indent="0">
              <a:spcAft>
                <a:spcPts val="600"/>
              </a:spcAft>
              <a:buNone/>
            </a:pPr>
            <a:r>
              <a:rPr lang="es-ES" dirty="0"/>
              <a:t>Cuando se necesita entender y documentar los flujos de trabajo, las tareas y las interacciones entre diferentes partes dentro de una organización. Es útil para identificar cuellos de botella, ineficiencias y oportunidades de mejora en los procesos existentes.</a:t>
            </a:r>
          </a:p>
          <a:p>
            <a:pPr lvl="1"/>
            <a:r>
              <a:rPr lang="es-ES" b="1" dirty="0"/>
              <a:t>Análisis de procesos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781E4088-E954-E251-7F12-A123FFD145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90DAED-DEAE-479E-8AA9-96BBA734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CASO O ESCENARIO</a:t>
            </a:r>
          </a:p>
        </p:txBody>
      </p:sp>
    </p:spTree>
    <p:extLst>
      <p:ext uri="{BB962C8B-B14F-4D97-AF65-F5344CB8AC3E}">
        <p14:creationId xmlns:p14="http://schemas.microsoft.com/office/powerpoint/2010/main" val="2540981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¿CUÁNDO ES PERTINENTE UTILIZAR UNA DE ESTAS TÉCNICAS BABOK®?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s-ES" dirty="0"/>
              <a:t>Cuando se busca representar gráficamente los flujos de trabajo, las actividades y las interacciones en un proceso de negocio. Es útil para visualizar y comunicar de manera clara y estructurada cómo se lleva a cabo un proceso, identificar áreas de mejora y facilitar la automatización o reingeniería de procesos.</a:t>
            </a:r>
          </a:p>
          <a:p>
            <a:pPr lvl="1">
              <a:lnSpc>
                <a:spcPct val="95000"/>
              </a:lnSpc>
            </a:pPr>
            <a:r>
              <a:rPr lang="es-ES" b="1" dirty="0"/>
              <a:t>Modelado de procesos</a:t>
            </a:r>
            <a:endParaRPr lang="es-ES" dirty="0"/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s-ES" dirty="0"/>
              <a:t>Cuando se desea crear representaciones tangibles, ya sea en forma de maquetas o versiones simplificadas, para evaluar y obtener retroalimentación temprana sobre un producto o sistema en desarrollo. Es útil para validar ideas, probar funcionalidades y obtener comentarios para iteraciones futuras.</a:t>
            </a:r>
          </a:p>
          <a:p>
            <a:pPr lvl="1">
              <a:lnSpc>
                <a:spcPct val="95000"/>
              </a:lnSpc>
            </a:pPr>
            <a:r>
              <a:rPr lang="es-ES" b="1" dirty="0"/>
              <a:t>Prototipado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90DAED-DEAE-479E-8AA9-96BBA734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CASO O ESCENARIO</a:t>
            </a:r>
          </a:p>
        </p:txBody>
      </p:sp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DBAD5797-4C89-8752-A130-ED550C422DA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479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¿CUÁNDO ES PERTINENTE UTILIZAR UNA DE ESTAS TÉCNICAS BABOK®?</a:t>
            </a:r>
            <a:endParaRPr lang="es-PE" dirty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BE6A3960-FFC1-AB13-8A24-0D29A2F64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s-ES" dirty="0"/>
              <a:t>Cuando se necesita recopilar datos cuantitativos o cualitativos de un gran número de personas de manera eficiente. Es útil para obtener información sobre preferencias, opiniones o características demográficas, y proporciona una forma estructurada de recopilación de datos.</a:t>
            </a:r>
          </a:p>
          <a:p>
            <a:pPr lvl="1">
              <a:lnSpc>
                <a:spcPct val="95000"/>
              </a:lnSpc>
            </a:pPr>
            <a:r>
              <a:rPr lang="es-ES" b="1" dirty="0"/>
              <a:t>Cuestionario</a:t>
            </a:r>
            <a:endParaRPr lang="es-ES" dirty="0"/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es-ES" dirty="0"/>
              <a:t>Cuando se busca fomentar la colaboración y la participación activa de múltiples partes interesadas en la generación de ideas, toma de decisiones o resolución de problemas. Es útil para involucrar a diferentes perspectivas, promover la creatividad y lograr consensos en un entorno colaborativo.</a:t>
            </a:r>
          </a:p>
          <a:p>
            <a:pPr lvl="1">
              <a:lnSpc>
                <a:spcPct val="95000"/>
              </a:lnSpc>
            </a:pPr>
            <a:r>
              <a:rPr lang="es-ES" b="1" dirty="0"/>
              <a:t>Talleres</a:t>
            </a:r>
          </a:p>
        </p:txBody>
      </p:sp>
      <p:pic>
        <p:nvPicPr>
          <p:cNvPr id="4" name="Marcador de posición de imagen 3">
            <a:extLst>
              <a:ext uri="{FF2B5EF4-FFF2-40B4-BE49-F238E27FC236}">
                <a16:creationId xmlns:a16="http://schemas.microsoft.com/office/drawing/2014/main" id="{1C832FD8-07AB-C185-27CB-E6E4FBD3088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" r="2"/>
          <a:stretch>
            <a:fillRect/>
          </a:stretch>
        </p:blipFill>
        <p:spPr/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90DAED-DEAE-479E-8AA9-96BBA734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CASO O ESCENARIO</a:t>
            </a:r>
          </a:p>
        </p:txBody>
      </p:sp>
    </p:spTree>
    <p:extLst>
      <p:ext uri="{BB962C8B-B14F-4D97-AF65-F5344CB8AC3E}">
        <p14:creationId xmlns:p14="http://schemas.microsoft.com/office/powerpoint/2010/main" val="365767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1797D02B-2F2D-8938-B5C4-9BA452434E3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10" b="310"/>
          <a:stretch>
            <a:fillRect/>
          </a:stretch>
        </p:blipFill>
        <p:spPr/>
      </p:pic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CF90DAED-DEAE-479E-8AA9-96BBA734A2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PE" dirty="0"/>
              <a:t>Complementariedad de técnicas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C6080245-BE0C-47F7-9701-B076D72F8D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PE" dirty="0"/>
              <a:t>/ </a:t>
            </a:r>
            <a:r>
              <a:rPr lang="es-ES" dirty="0"/>
              <a:t>¿CUÁNDO ES PERTINENTE UTILIZAR UNA DE ESTAS TÉCNICAS BABOK®?</a:t>
            </a:r>
            <a:endParaRPr lang="es-PE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008A636-7DA8-FDB1-F73F-E334C40F59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8313" y="1182025"/>
            <a:ext cx="8207375" cy="1345044"/>
          </a:xfrm>
        </p:spPr>
        <p:txBody>
          <a:bodyPr/>
          <a:lstStyle/>
          <a:p>
            <a:r>
              <a:rPr lang="es-ES" dirty="0"/>
              <a:t>Es importante tener en cuenta que la elección de la técnica adecuada dependerá del objetivo específico, el contexto del proyecto y las necesidades de información de cada situación. </a:t>
            </a:r>
          </a:p>
          <a:p>
            <a:r>
              <a:rPr lang="es-ES" dirty="0"/>
              <a:t>Además, en muchos casos, se pueden combinar varias técnicas para obtener un enfoque más completo y enriquecer los resultados obtenidos.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92059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4F500AF3-50A8-4251-BC95-6B4FF9C465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7366" y="1670909"/>
            <a:ext cx="7713398" cy="2460516"/>
          </a:xfrm>
        </p:spPr>
        <p:txBody>
          <a:bodyPr/>
          <a:lstStyle/>
          <a:p>
            <a:r>
              <a:rPr lang="es-ES" dirty="0"/>
              <a:t>La elicitación de requisitos es el proceso de descubrir, recopilar y comprender las necesidades y expectativas de los</a:t>
            </a:r>
            <a:r>
              <a:rPr lang="es-ES" i="1" dirty="0"/>
              <a:t> stakeholders </a:t>
            </a:r>
            <a:r>
              <a:rPr lang="es-ES" dirty="0"/>
              <a:t>en relación con el cambio.</a:t>
            </a:r>
          </a:p>
          <a:p>
            <a:r>
              <a:rPr lang="es-ES" dirty="0"/>
              <a:t>Una vez recopilados los requisitos, se lleva a cabo un proceso de análisis, priorización y validación para garantizar que sean claros, completos y consistentes.</a:t>
            </a:r>
          </a:p>
          <a:p>
            <a:r>
              <a:rPr lang="es-ES" dirty="0"/>
              <a:t>Los requisitos se utilizan como base para el diseño y desarrollo de la solución, asegurando que se cumplan las expectativas de los </a:t>
            </a:r>
            <a:r>
              <a:rPr lang="es-ES" i="1" dirty="0"/>
              <a:t>stakeholders </a:t>
            </a:r>
            <a:r>
              <a:rPr lang="es-ES" dirty="0"/>
              <a:t>y se entregue un producto final de calidad.</a:t>
            </a:r>
          </a:p>
          <a:p>
            <a:endParaRPr lang="es-E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9435A8C-18F1-4C11-BC95-3930F36C4A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s-ES" dirty="0"/>
              <a:t>Agile </a:t>
            </a:r>
            <a:r>
              <a:rPr lang="es-ES" dirty="0" err="1"/>
              <a:t>Extension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BABOK Guide. (2020). Recuperado de: https://www.iiba.org/standards-andresources/babok/</a:t>
            </a:r>
          </a:p>
          <a:p>
            <a:pPr>
              <a:lnSpc>
                <a:spcPct val="100000"/>
              </a:lnSpc>
            </a:pPr>
            <a:r>
              <a:rPr lang="es-ES" dirty="0"/>
              <a:t>Bitácora de análisis de negocios. (2020). Recuperado de: http://gabrielalmeida.com.mx/</a:t>
            </a:r>
          </a:p>
          <a:p>
            <a:pPr>
              <a:lnSpc>
                <a:spcPct val="100000"/>
              </a:lnSpc>
            </a:pPr>
            <a:r>
              <a:rPr lang="es-ES" dirty="0"/>
              <a:t>PMI Professional in Business </a:t>
            </a:r>
            <a:r>
              <a:rPr lang="es-ES" dirty="0" err="1"/>
              <a:t>Analysis</a:t>
            </a:r>
            <a:r>
              <a:rPr lang="es-ES" dirty="0"/>
              <a:t>. (2020). Recuperado de: https://www.pmi.org/certification/businessanalysis-pba.aspx</a:t>
            </a:r>
          </a:p>
          <a:p>
            <a:pPr>
              <a:lnSpc>
                <a:spcPct val="100000"/>
              </a:lnSpc>
            </a:pPr>
            <a:r>
              <a:rPr lang="es-ES" dirty="0"/>
              <a:t>International </a:t>
            </a:r>
            <a:r>
              <a:rPr lang="es-ES" dirty="0" err="1"/>
              <a:t>Institute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Business </a:t>
            </a:r>
            <a:r>
              <a:rPr lang="es-ES" dirty="0" err="1"/>
              <a:t>Analysis</a:t>
            </a:r>
            <a:r>
              <a:rPr lang="es-ES" dirty="0"/>
              <a:t>. (2011). Recuperado de: https://analytics.infozone.pro/wpcontent/uploads/2013/04/IIBA_Competency_Model_v3_Final.pdf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3154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13854</TotalTime>
  <Words>3600</Words>
  <Application>Microsoft Office PowerPoint</Application>
  <PresentationFormat>Presentación en pantalla (16:10)</PresentationFormat>
  <Paragraphs>352</Paragraphs>
  <Slides>47</Slides>
  <Notes>47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2" baseType="lpstr">
      <vt:lpstr>Arial</vt:lpstr>
      <vt:lpstr>Calibri</vt:lpstr>
      <vt:lpstr>Delius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Arturo Enrique Reátegui Herrera</cp:lastModifiedBy>
  <cp:revision>918</cp:revision>
  <cp:lastPrinted>2018-01-16T21:42:59Z</cp:lastPrinted>
  <dcterms:created xsi:type="dcterms:W3CDTF">2016-10-06T14:52:02Z</dcterms:created>
  <dcterms:modified xsi:type="dcterms:W3CDTF">2023-07-07T21:30:15Z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