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5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6.xml" ContentType="application/vnd.openxmlformats-officedocument.presentationml.tags+xml"/>
  <Override PartName="/ppt/notesSlides/notesSlide56.xml" ContentType="application/vnd.openxmlformats-officedocument.presentationml.notesSlide+xml"/>
  <Override PartName="/ppt/tags/tag7.xml" ContentType="application/vnd.openxmlformats-officedocument.presentationml.tags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418" r:id="rId2"/>
    <p:sldId id="337" r:id="rId3"/>
    <p:sldId id="315" r:id="rId4"/>
    <p:sldId id="506" r:id="rId5"/>
    <p:sldId id="352" r:id="rId6"/>
    <p:sldId id="508" r:id="rId7"/>
    <p:sldId id="513" r:id="rId8"/>
    <p:sldId id="523" r:id="rId9"/>
    <p:sldId id="518" r:id="rId10"/>
    <p:sldId id="529" r:id="rId11"/>
    <p:sldId id="509" r:id="rId12"/>
    <p:sldId id="514" r:id="rId13"/>
    <p:sldId id="524" r:id="rId14"/>
    <p:sldId id="519" r:id="rId15"/>
    <p:sldId id="530" r:id="rId16"/>
    <p:sldId id="510" r:id="rId17"/>
    <p:sldId id="515" r:id="rId18"/>
    <p:sldId id="525" r:id="rId19"/>
    <p:sldId id="520" r:id="rId20"/>
    <p:sldId id="531" r:id="rId21"/>
    <p:sldId id="511" r:id="rId22"/>
    <p:sldId id="516" r:id="rId23"/>
    <p:sldId id="526" r:id="rId24"/>
    <p:sldId id="521" r:id="rId25"/>
    <p:sldId id="532" r:id="rId26"/>
    <p:sldId id="512" r:id="rId27"/>
    <p:sldId id="517" r:id="rId28"/>
    <p:sldId id="527" r:id="rId29"/>
    <p:sldId id="522" r:id="rId30"/>
    <p:sldId id="507" r:id="rId31"/>
    <p:sldId id="528" r:id="rId32"/>
    <p:sldId id="533" r:id="rId33"/>
    <p:sldId id="534" r:id="rId34"/>
    <p:sldId id="535" r:id="rId35"/>
    <p:sldId id="536" r:id="rId36"/>
    <p:sldId id="537" r:id="rId37"/>
    <p:sldId id="538" r:id="rId38"/>
    <p:sldId id="539" r:id="rId39"/>
    <p:sldId id="540" r:id="rId40"/>
    <p:sldId id="541" r:id="rId41"/>
    <p:sldId id="542" r:id="rId42"/>
    <p:sldId id="544" r:id="rId43"/>
    <p:sldId id="543" r:id="rId44"/>
    <p:sldId id="545" r:id="rId45"/>
    <p:sldId id="546" r:id="rId46"/>
    <p:sldId id="548" r:id="rId47"/>
    <p:sldId id="547" r:id="rId48"/>
    <p:sldId id="549" r:id="rId49"/>
    <p:sldId id="550" r:id="rId50"/>
    <p:sldId id="551" r:id="rId51"/>
    <p:sldId id="552" r:id="rId52"/>
    <p:sldId id="553" r:id="rId53"/>
    <p:sldId id="554" r:id="rId54"/>
    <p:sldId id="555" r:id="rId55"/>
    <p:sldId id="556" r:id="rId56"/>
    <p:sldId id="303" r:id="rId57"/>
    <p:sldId id="305" r:id="rId58"/>
  </p:sldIdLst>
  <p:sldSz cx="9144000" cy="5715000" type="screen16x10"/>
  <p:notesSz cx="6797675" cy="9926638"/>
  <p:custDataLst>
    <p:tags r:id="rId6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5A6"/>
    <a:srgbClr val="15BDAD"/>
    <a:srgbClr val="558ED5"/>
    <a:srgbClr val="48C2BB"/>
    <a:srgbClr val="F1D156"/>
    <a:srgbClr val="276B7D"/>
    <a:srgbClr val="F1FDC3"/>
    <a:srgbClr val="9CC606"/>
    <a:srgbClr val="E2F6F1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39" autoAdjust="0"/>
    <p:restoredTop sz="88045" autoAdjust="0"/>
  </p:normalViewPr>
  <p:slideViewPr>
    <p:cSldViewPr snapToGrid="0" snapToObjects="1" showGuides="1">
      <p:cViewPr varScale="1">
        <p:scale>
          <a:sx n="91" d="100"/>
          <a:sy n="91" d="100"/>
        </p:scale>
        <p:origin x="148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9462"/>
    </p:cViewPr>
  </p:sorterViewPr>
  <p:notesViewPr>
    <p:cSldViewPr snapToGrid="0" snapToObjects="1" showGuides="1">
      <p:cViewPr varScale="1">
        <p:scale>
          <a:sx n="48" d="100"/>
          <a:sy n="48" d="100"/>
        </p:scale>
        <p:origin x="2940" y="6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ags" Target="tags/tag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05/07/2023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5/07/2023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9386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No existe una metodología única que sea la mejor para todos los proyectos.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Algunas organizaciones también adaptan y personalizan metodologías existentes para que se ajusten a sus necesidades, creando así, enfoques híbridos.</a:t>
            </a:r>
            <a:endParaRPr lang="es-PE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7642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347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/>
              <a:t>(WATERFALL)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54640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b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(SCRUM, KANBAN, EXTREME PROGRAMMING - XP)</a:t>
            </a: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0590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3478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5068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555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b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(SCRUM, DESARROLLO RÁPIDO DE APLICACIONES - RAD)</a:t>
            </a: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5040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5446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5241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4697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855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2512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3127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33642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6358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367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b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(SCRUM, KANBAN, EXTREME PROGRAMMING - XP)</a:t>
            </a: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53342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74099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63896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4359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45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b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(SCRUM, KANBAN, EXTREME PROGRAMMING - XP)</a:t>
            </a: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63071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6693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77367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34212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6797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32849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91674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24025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76662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90454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73608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07112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33469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041737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62435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32076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3443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10292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299780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26747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46226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8457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4703734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48192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56163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775618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526660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27021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82220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b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842830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rtl="0">
              <a:buFont typeface="+mj-lt"/>
              <a:buAutoNum type="arabicPeriod"/>
            </a:pPr>
            <a:endParaRPr lang="es-PE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904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Introducc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EFFC524-5204-4B8D-AB52-89B3D97070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INTRODUCCIÓN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9F8A1D-5EEE-42EF-A95B-31789C550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946181C-25DC-4BDD-9928-A88184E17B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670050"/>
            <a:ext cx="8137525" cy="3563938"/>
          </a:xfrm>
          <a:prstGeom prst="rect">
            <a:avLst/>
          </a:prstGeom>
        </p:spPr>
        <p:txBody>
          <a:bodyPr/>
          <a:lstStyle>
            <a:lvl1pPr marL="266700" indent="-26670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defRPr sz="1600"/>
            </a:lvl4pPr>
            <a:lvl5pPr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3211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  <p15:guide id="2" pos="317" userDrawn="1">
          <p15:clr>
            <a:srgbClr val="FBAE40"/>
          </p15:clr>
        </p15:guide>
        <p15:guide id="3" pos="5443" userDrawn="1">
          <p15:clr>
            <a:srgbClr val="FBAE40"/>
          </p15:clr>
        </p15:guide>
        <p15:guide id="4" orient="horz" pos="32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25" y="2867600"/>
            <a:ext cx="8208000" cy="239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29DAAB-CDF4-4B89-8C31-EA10C6E01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804863"/>
            <a:ext cx="8207375" cy="354012"/>
          </a:xfrm>
          <a:prstGeom prst="rect">
            <a:avLst/>
          </a:prstGeom>
        </p:spPr>
        <p:txBody>
          <a:bodyPr lIns="72000" tIns="36000" rIns="72000" bIns="36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AB609E-19B2-43F3-94FB-608EEAC4D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1674000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spcAft>
                <a:spcPts val="8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spcBef>
                <a:spcPts val="0"/>
              </a:spcBef>
              <a:spcAft>
                <a:spcPts val="8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95149" y="816438"/>
            <a:ext cx="4086000" cy="444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29DAAB-CDF4-4B89-8C31-EA10C6E01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804863"/>
            <a:ext cx="4103687" cy="354012"/>
          </a:xfrm>
          <a:prstGeom prst="rect">
            <a:avLst/>
          </a:prstGeom>
        </p:spPr>
        <p:txBody>
          <a:bodyPr lIns="72000" tIns="36000" rIns="72000" bIns="36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04F222-EEB2-4557-8D4B-D05354FCD8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4111625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spcAft>
                <a:spcPts val="12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spcBef>
                <a:spcPts val="0"/>
              </a:spcBef>
              <a:spcAft>
                <a:spcPts val="12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41359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3" orient="horz" pos="1800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_Título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8499219-B93F-4121-95B0-FD263CAAD2EC}"/>
              </a:ext>
            </a:extLst>
          </p:cNvPr>
          <p:cNvCxnSpPr/>
          <p:nvPr userDrawn="1"/>
        </p:nvCxnSpPr>
        <p:spPr>
          <a:xfrm>
            <a:off x="3056456" y="1742381"/>
            <a:ext cx="0" cy="79200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07A93BC5-4242-4AEF-86D2-025896BBFF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1256" y="1466837"/>
            <a:ext cx="5524431" cy="1065212"/>
          </a:xfrm>
          <a:prstGeom prst="rect">
            <a:avLst/>
          </a:prstGeom>
        </p:spPr>
        <p:txBody>
          <a:bodyPr lIns="36000" tIns="0" rIns="36000" bIns="0" anchor="b"/>
          <a:lstStyle>
            <a:lvl1pPr marL="0" indent="0">
              <a:lnSpc>
                <a:spcPct val="85000"/>
              </a:lnSpc>
              <a:buNone/>
              <a:defRPr sz="3600" b="1" spc="-1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F024871-2FC3-48CA-9CA6-981F63452D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1257" y="2571394"/>
            <a:ext cx="5524430" cy="216000"/>
          </a:xfrm>
          <a:prstGeom prst="rect">
            <a:avLst/>
          </a:prstGeom>
          <a:solidFill>
            <a:schemeClr val="bg1"/>
          </a:solidFill>
        </p:spPr>
        <p:txBody>
          <a:bodyPr lIns="36000" tIns="0" rIns="36000" bIns="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1" spc="-100" baseline="0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09CBA01-1C97-4D7F-AC89-2F7E2CE7AE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1257" y="3149152"/>
            <a:ext cx="5524430" cy="1584325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buSzPct val="75000"/>
              <a:buFont typeface="Wingdings" panose="05000000000000000000" pitchFamily="2" charset="2"/>
              <a:buChar char="q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98ED8DBD-5592-4A8D-8BF5-1D169AA4A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1281" y="1782566"/>
            <a:ext cx="910376" cy="914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5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B086266-9338-4415-8002-5AA0BBD87E06}"/>
              </a:ext>
            </a:extLst>
          </p:cNvPr>
          <p:cNvSpPr txBox="1"/>
          <p:nvPr userDrawn="1"/>
        </p:nvSpPr>
        <p:spPr>
          <a:xfrm>
            <a:off x="2051281" y="1615590"/>
            <a:ext cx="9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solidFill>
                  <a:schemeClr val="bg1"/>
                </a:solidFill>
              </a:rPr>
              <a:t>SESIÓN</a:t>
            </a:r>
          </a:p>
        </p:txBody>
      </p:sp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65" userDrawn="1">
          <p15:clr>
            <a:srgbClr val="FBAE40"/>
          </p15:clr>
        </p15:guide>
        <p15:guide id="2" pos="197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D03D13-5E01-42D6-AEF1-E185D3674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4" y="3714841"/>
            <a:ext cx="5543549" cy="810087"/>
          </a:xfrm>
          <a:prstGeom prst="rect">
            <a:avLst/>
          </a:prstGeom>
        </p:spPr>
        <p:txBody>
          <a:bodyPr/>
          <a:lstStyle>
            <a:lvl1pPr marL="266700" indent="-266700">
              <a:lnSpc>
                <a:spcPct val="85000"/>
              </a:lnSpc>
              <a:spcBef>
                <a:spcPts val="0"/>
              </a:spcBef>
              <a:buNone/>
              <a:tabLst>
                <a:tab pos="266700" algn="l"/>
              </a:tabLst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378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DF5A5FB-F4EA-6965-42B8-F6E87DBA9A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4631" cy="5733853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F27B821-075D-62FB-6D72-3009EE9F83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66349" y="243068"/>
            <a:ext cx="5383255" cy="867661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2800" b="1" i="0" spc="-2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C8A894-56AA-98AE-4CB2-22721A8F43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41317" y="2430340"/>
            <a:ext cx="4861609" cy="258149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4400" b="1" spc="-200" baseline="0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1865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Conclusio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7B2E060-20CD-463B-8DA7-F4C44CB2E4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3DF485-35A0-4880-86B1-159FC8D1B5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F77D6E-1237-49E3-9C45-BC77466A0D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909"/>
            <a:ext cx="7713398" cy="3526566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9819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Bibliografí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7B2E060-20CD-463B-8DA7-F4C44CB2E4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BIBLIOGRAFÍA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3DF485-35A0-4880-86B1-159FC8D1B5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F77D6E-1237-49E3-9C45-BC77466A0D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049"/>
            <a:ext cx="7713398" cy="352742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1033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793745" y="5369051"/>
            <a:ext cx="8104595" cy="215444"/>
            <a:chOff x="793745" y="5369051"/>
            <a:chExt cx="7954689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793745" y="5369051"/>
              <a:ext cx="16051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ANÁLISIS FUNCIONAL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05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2023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345172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56" r:id="rId2"/>
    <p:sldLayoutId id="2147483679" r:id="rId3"/>
    <p:sldLayoutId id="2147483662" r:id="rId4"/>
    <p:sldLayoutId id="2147483649" r:id="rId5"/>
    <p:sldLayoutId id="2147483689" r:id="rId6"/>
    <p:sldLayoutId id="2147483667" r:id="rId7"/>
    <p:sldLayoutId id="2147483669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06064E9-134E-4E79-A41F-706155D9AF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PE" dirty="0"/>
              <a:t>PROYECTO DE SOLUCIÓN SOFTWARE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65D77B8F-E8DB-4946-B4B7-3705AAB257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UNIDAD DE APRENDIZAJE 2 – UA2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FA929147-F09B-4398-9DDF-DF2F7FC0C4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s-PE" dirty="0"/>
              <a:t>Metodologías</a:t>
            </a:r>
          </a:p>
          <a:p>
            <a:pPr>
              <a:spcBef>
                <a:spcPts val="0"/>
              </a:spcBef>
            </a:pPr>
            <a:r>
              <a:rPr lang="es-PE" dirty="0"/>
              <a:t>Planeación y monitoreo (alcance, compromiso de stakeholders, gobernanza, gestión del conocimiento)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E2E57AF-7040-42B2-BA48-4D269F79C4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886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EDC59F-E03B-4885-ACAE-C9A1279989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670050"/>
            <a:ext cx="8137525" cy="2506534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s-ES" dirty="0"/>
              <a:t>El objetivo de esta sesión es describir el marco de referencia y las metodologías típicas utilizadas por las diferentes organizaciones, en los proyectos de desarrollo de soluciones de software.</a:t>
            </a:r>
          </a:p>
          <a:p>
            <a:pPr>
              <a:spcAft>
                <a:spcPts val="600"/>
              </a:spcAft>
            </a:pPr>
            <a:r>
              <a:rPr lang="es-ES" dirty="0"/>
              <a:t>Entonces, durante esta sesión: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Conocerás</a:t>
            </a:r>
            <a:r>
              <a:rPr lang="es-ES" dirty="0"/>
              <a:t> los enfoques metodológicos más populares para la gestión de proyectos de solución software.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Aprenderás</a:t>
            </a:r>
            <a:r>
              <a:rPr lang="es-ES" dirty="0"/>
              <a:t> a identificar los elementos y factores que permiten la planeación y monitoreo de proyectos cuyo producto es una solución software.</a:t>
            </a:r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215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2"/>
            <a:ext cx="5543549" cy="452210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METODOLOGÍAS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Metodologías más utilizadas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34523D9D-2BFF-EE68-C374-EB4F5FD8A4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103687" cy="3751262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s-ES" dirty="0"/>
              <a:t>Populares y generalmente aceptadas:</a:t>
            </a:r>
          </a:p>
          <a:p>
            <a:pPr lvl="1">
              <a:spcAft>
                <a:spcPts val="300"/>
              </a:spcAft>
            </a:pPr>
            <a:r>
              <a:rPr lang="es-ES" dirty="0"/>
              <a:t>Cascada (Waterfall).</a:t>
            </a:r>
          </a:p>
          <a:p>
            <a:pPr lvl="1">
              <a:spcAft>
                <a:spcPts val="300"/>
              </a:spcAft>
            </a:pPr>
            <a:r>
              <a:rPr lang="es-ES" dirty="0"/>
              <a:t>Desarrollo iterativo.</a:t>
            </a:r>
          </a:p>
          <a:p>
            <a:pPr lvl="1">
              <a:spcAft>
                <a:spcPts val="300"/>
              </a:spcAft>
            </a:pPr>
            <a:r>
              <a:rPr lang="es-ES" dirty="0"/>
              <a:t>Modelo en espiral.</a:t>
            </a:r>
          </a:p>
          <a:p>
            <a:pPr lvl="1">
              <a:spcAft>
                <a:spcPts val="300"/>
              </a:spcAft>
            </a:pPr>
            <a:r>
              <a:rPr lang="es-ES" dirty="0"/>
              <a:t>Métodos ágiles.</a:t>
            </a:r>
          </a:p>
          <a:p>
            <a:pPr lvl="1"/>
            <a:r>
              <a:rPr lang="es-ES" dirty="0"/>
              <a:t>Desarrollo en espiral ágil.</a:t>
            </a:r>
          </a:p>
          <a:p>
            <a:pPr>
              <a:spcAft>
                <a:spcPts val="300"/>
              </a:spcAft>
            </a:pPr>
            <a:r>
              <a:rPr lang="es-ES" dirty="0"/>
              <a:t>La elección de la metodología depende de factores tales como:</a:t>
            </a:r>
          </a:p>
          <a:p>
            <a:pPr lvl="1">
              <a:spcAft>
                <a:spcPts val="300"/>
              </a:spcAft>
            </a:pPr>
            <a:r>
              <a:rPr lang="es-ES" dirty="0"/>
              <a:t>La naturaleza del proyecto.</a:t>
            </a:r>
          </a:p>
          <a:p>
            <a:pPr lvl="1">
              <a:spcAft>
                <a:spcPts val="300"/>
              </a:spcAft>
            </a:pPr>
            <a:r>
              <a:rPr lang="es-ES" dirty="0"/>
              <a:t>Los requisitos.</a:t>
            </a:r>
          </a:p>
          <a:p>
            <a:pPr lvl="1">
              <a:spcAft>
                <a:spcPts val="300"/>
              </a:spcAft>
            </a:pPr>
            <a:r>
              <a:rPr lang="es-ES" dirty="0"/>
              <a:t>Las restricciones de tiempo y recursos.</a:t>
            </a:r>
          </a:p>
          <a:p>
            <a:pPr lvl="1"/>
            <a:r>
              <a:rPr lang="es-ES" dirty="0"/>
              <a:t>Las preferencias del equipo de desarrollo.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8738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DEEE20-5BC3-C322-6C9D-320DBAE70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Solución software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04A8903-A5A6-547B-259B-AA50E1103A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PE" dirty="0"/>
              <a:t>METODOLOGÍA CASCADA</a:t>
            </a:r>
          </a:p>
        </p:txBody>
      </p:sp>
    </p:spTree>
    <p:extLst>
      <p:ext uri="{BB962C8B-B14F-4D97-AF65-F5344CB8AC3E}">
        <p14:creationId xmlns:p14="http://schemas.microsoft.com/office/powerpoint/2010/main" val="2926421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Características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82515" cy="411162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" dirty="0"/>
              <a:t>Enfoque secuencial: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Las etapas del proyecto se siguen de manera lineal, sin permitir retrocesos o cambios significativos una vez que se completa una etapa.</a:t>
            </a:r>
          </a:p>
          <a:p>
            <a:pPr>
              <a:spcAft>
                <a:spcPts val="0"/>
              </a:spcAft>
            </a:pPr>
            <a:r>
              <a:rPr lang="es-ES" dirty="0"/>
              <a:t>Requisitos bien definidos: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Se requiere una especificación clara de los requisitos antes de comenzar el desarrollo</a:t>
            </a:r>
            <a:r>
              <a:rPr lang="es-ES" sz="1400" i="1" dirty="0"/>
              <a:t>.</a:t>
            </a:r>
          </a:p>
          <a:p>
            <a:pPr>
              <a:spcAft>
                <a:spcPts val="0"/>
              </a:spcAft>
            </a:pPr>
            <a:r>
              <a:rPr lang="es-ES" dirty="0"/>
              <a:t>Documentación extensa: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i="1" dirty="0"/>
              <a:t>Documentación completa en cada etapa para facilitar la comprensión y el seguimiento.</a:t>
            </a:r>
          </a:p>
          <a:p>
            <a:pPr>
              <a:spcAft>
                <a:spcPts val="0"/>
              </a:spcAft>
            </a:pPr>
            <a:r>
              <a:rPr lang="es-ES" dirty="0"/>
              <a:t>Planificación detallada: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De todo el proyecto al principio, lo que implica estimaciones de tiempo y recursos.</a:t>
            </a:r>
          </a:p>
          <a:p>
            <a:pPr>
              <a:spcAft>
                <a:spcPts val="0"/>
              </a:spcAft>
            </a:pPr>
            <a:r>
              <a:rPr lang="es-ES" dirty="0"/>
              <a:t>Entrega al final del proyecto:</a:t>
            </a:r>
          </a:p>
          <a:p>
            <a:pPr marL="261938" indent="0">
              <a:buNone/>
            </a:pPr>
            <a:r>
              <a:rPr lang="es-ES" sz="1400" dirty="0"/>
              <a:t>El producto final se entrega cuando todas las etapas se han completado y verificado</a:t>
            </a:r>
            <a:r>
              <a:rPr lang="es-ES" sz="1400" i="1" dirty="0"/>
              <a:t>.</a:t>
            </a: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11B1EF6A-38AC-8D14-D722-0C74B04130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752804" y="824500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376111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Ciclo de vida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BA7C34CC-F18F-654E-4902-573F3FC2267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42546"/>
            <a:ext cx="4103687" cy="4111625"/>
          </a:xfrm>
        </p:spPr>
        <p:txBody>
          <a:bodyPr/>
          <a:lstStyle/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s-ES" dirty="0"/>
              <a:t>Requisitos: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recopilan y documentan los requisitos</a:t>
            </a:r>
            <a:r>
              <a:rPr lang="es-ES" sz="1400" i="1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2"/>
            </a:pPr>
            <a:r>
              <a:rPr lang="es-ES" dirty="0"/>
              <a:t>Diseño: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crea el diseño del sistema y la arquitectura del software en base a los requisitos recopilados.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3"/>
            </a:pPr>
            <a:r>
              <a:rPr lang="es-ES" dirty="0"/>
              <a:t>Implementación: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Codificación del software siguiendo el diseño</a:t>
            </a:r>
            <a:r>
              <a:rPr lang="es-ES" sz="1400" i="1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4"/>
            </a:pPr>
            <a:r>
              <a:rPr lang="es-ES" dirty="0"/>
              <a:t>Pruebas: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llevan a cabo pruebas para verificar que el software cumpla con los requisitos especificados</a:t>
            </a:r>
            <a:r>
              <a:rPr lang="es-ES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5"/>
            </a:pPr>
            <a:r>
              <a:rPr lang="es-ES" dirty="0"/>
              <a:t>Despliegue: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El software se entrega y se implementa en el entorno de producción.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6"/>
            </a:pPr>
            <a:r>
              <a:rPr lang="es-ES" dirty="0"/>
              <a:t>Mantenimiento:</a:t>
            </a:r>
          </a:p>
          <a:p>
            <a:pPr marL="261938" indent="0">
              <a:spcAft>
                <a:spcPts val="0"/>
              </a:spcAft>
              <a:buSzPct val="100000"/>
              <a:buNone/>
            </a:pPr>
            <a:r>
              <a:rPr lang="es-ES" sz="1400" dirty="0"/>
              <a:t>Se realizan actividades de mantenimiento, como correcciones de errores y actualizaciones.</a:t>
            </a:r>
          </a:p>
        </p:txBody>
      </p:sp>
    </p:spTree>
    <p:extLst>
      <p:ext uri="{BB962C8B-B14F-4D97-AF65-F5344CB8AC3E}">
        <p14:creationId xmlns:p14="http://schemas.microsoft.com/office/powerpoint/2010/main" val="2258010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F5111915-04A2-9F96-4DCE-5124F21CA1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Gerente de Proyecto </a:t>
            </a:r>
            <a:r>
              <a:rPr lang="es-ES" sz="1400" dirty="0"/>
              <a:t>(planificar, coordinar y supervisar el proyecto)</a:t>
            </a:r>
            <a:r>
              <a:rPr lang="es-ES" dirty="0"/>
              <a:t>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Analista de Negocios </a:t>
            </a:r>
            <a:r>
              <a:rPr lang="es-ES" sz="1400" dirty="0"/>
              <a:t>(recopilar y analizar los requisitos, y comunicarlos al equipo de desarrollo).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Diseñador de Sistemas </a:t>
            </a:r>
            <a:r>
              <a:rPr lang="es-ES" sz="1400" dirty="0"/>
              <a:t>(crear el diseño de alto nivel y la arquitectura del sistema).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Desarrollador de Software </a:t>
            </a:r>
            <a:r>
              <a:rPr lang="es-ES" sz="1400" dirty="0"/>
              <a:t>(implementar el software según diseño y requisitos establecidos).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Pruebas </a:t>
            </a:r>
            <a:r>
              <a:rPr lang="es-ES" sz="1400" dirty="0"/>
              <a:t>(realizar pruebas para verificar funcionamiento y detectar errores).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Especialista en Despliegue </a:t>
            </a:r>
            <a:r>
              <a:rPr lang="es-ES" sz="1400" dirty="0"/>
              <a:t>(implementar y desplegar software en el entorno de producción).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Mantenimiento </a:t>
            </a:r>
            <a:r>
              <a:rPr lang="es-ES" sz="1400" dirty="0"/>
              <a:t>(mantenimiento, corrección de errores y actualizaciones posteriores a la implementación).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6C2FD6-6BBD-B2EC-D18B-4A827E1C25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Equipo de proyecto</a:t>
            </a:r>
          </a:p>
        </p:txBody>
      </p:sp>
    </p:spTree>
    <p:extLst>
      <p:ext uri="{BB962C8B-B14F-4D97-AF65-F5344CB8AC3E}">
        <p14:creationId xmlns:p14="http://schemas.microsoft.com/office/powerpoint/2010/main" val="43592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9DADB1AD-EBEE-9833-2F8C-06FED09E5D4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/>
              <a:t>En aquellos proyectos ….</a:t>
            </a:r>
          </a:p>
          <a:p>
            <a:r>
              <a:rPr lang="es-ES" dirty="0"/>
              <a:t>Con requisitos estables y bien definidos desde el inicio.</a:t>
            </a:r>
          </a:p>
          <a:p>
            <a:r>
              <a:rPr lang="es-ES" dirty="0"/>
              <a:t>Con una duración y un presupuesto fijos.</a:t>
            </a:r>
          </a:p>
          <a:p>
            <a:r>
              <a:rPr lang="es-ES" dirty="0"/>
              <a:t>Donde la documentación es fundamental y requiere una planificación detallada.</a:t>
            </a:r>
          </a:p>
          <a:p>
            <a:r>
              <a:rPr lang="es-ES" dirty="0"/>
              <a:t>En los que es posible prever y gestionar los riesgos de manera temprana.</a:t>
            </a:r>
          </a:p>
          <a:p>
            <a:r>
              <a:rPr lang="es-ES" dirty="0"/>
              <a:t>En los que el equipo de desarrollo está más familiarizado y cómodo con un enfoque secuencial y lineal.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C82BA2-484F-71B9-BD9E-8A84B307D0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¿Cuándo utilizarla?</a:t>
            </a:r>
          </a:p>
        </p:txBody>
      </p:sp>
    </p:spTree>
    <p:extLst>
      <p:ext uri="{BB962C8B-B14F-4D97-AF65-F5344CB8AC3E}">
        <p14:creationId xmlns:p14="http://schemas.microsoft.com/office/powerpoint/2010/main" val="211276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DEEE20-5BC3-C322-6C9D-320DBAE70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Solución software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04A8903-A5A6-547B-259B-AA50E1103A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PE" dirty="0"/>
              <a:t>METODOLOGÍAS ITERATIVAS</a:t>
            </a:r>
          </a:p>
        </p:txBody>
      </p:sp>
    </p:spTree>
    <p:extLst>
      <p:ext uri="{BB962C8B-B14F-4D97-AF65-F5344CB8AC3E}">
        <p14:creationId xmlns:p14="http://schemas.microsoft.com/office/powerpoint/2010/main" val="3038059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F2A444A7-70FF-BBCE-FA2B-86D48F1955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56693" cy="411162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" dirty="0"/>
              <a:t>Iteraciones y entregas frecuentes: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El proyecto se divide en iteraciones cortas, donde se desarrolla y entrega una funcionalidad lista.</a:t>
            </a:r>
          </a:p>
          <a:p>
            <a:pPr>
              <a:spcAft>
                <a:spcPts val="0"/>
              </a:spcAft>
            </a:pPr>
            <a:r>
              <a:rPr lang="es-ES" dirty="0"/>
              <a:t>Retroalimentación continua: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Se fomenta la colaboración cercana con los clientes y se obtiene retroalimentación en cada iteración para guiar el desarrollo posterior.</a:t>
            </a:r>
          </a:p>
          <a:p>
            <a:pPr>
              <a:spcAft>
                <a:spcPts val="0"/>
              </a:spcAft>
            </a:pPr>
            <a:r>
              <a:rPr lang="es-ES" dirty="0"/>
              <a:t>Flexibilidad y adaptabilidad: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Se pueden realizar cambios en los requisitos y enfoques a medida que se obtiene una mejor comprensión del proyecto.</a:t>
            </a:r>
          </a:p>
          <a:p>
            <a:pPr>
              <a:spcAft>
                <a:spcPts val="0"/>
              </a:spcAft>
            </a:pPr>
            <a:r>
              <a:rPr lang="es-ES" dirty="0"/>
              <a:t>Desarrollo incremental: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Se construye el producto de manera progresiva, agregando funcionalidad en cada iteración.</a:t>
            </a:r>
          </a:p>
          <a:p>
            <a:pPr>
              <a:spcAft>
                <a:spcPts val="0"/>
              </a:spcAft>
            </a:pPr>
            <a:r>
              <a:rPr lang="es-ES" dirty="0"/>
              <a:t>Enfoque en equipos multifuncionales:</a:t>
            </a:r>
          </a:p>
          <a:p>
            <a:pPr marL="261938" indent="0">
              <a:spcAft>
                <a:spcPts val="0"/>
              </a:spcAft>
              <a:buNone/>
            </a:pPr>
            <a:r>
              <a:rPr lang="es-ES" sz="1400" dirty="0"/>
              <a:t>Se forman equipos autoorganizados que incluyen miembros con habilidades complementarias</a:t>
            </a:r>
            <a:r>
              <a:rPr lang="es-ES" sz="1400" i="1" dirty="0"/>
              <a:t>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DD85F8-642B-904A-D202-2DAF35F17A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180078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43FB0D2B-B749-0554-0B45-CD879F8DDB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813263" y="816438"/>
            <a:ext cx="4086000" cy="44460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42546"/>
            <a:ext cx="4344950" cy="4111625"/>
          </a:xfrm>
        </p:spPr>
        <p:txBody>
          <a:bodyPr/>
          <a:lstStyle/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s-ES" dirty="0"/>
              <a:t>Planificación de la iteración: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planifica alcance y tareas de iteración actual.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2"/>
            </a:pPr>
            <a:r>
              <a:rPr lang="es-ES" dirty="0"/>
              <a:t>Desarrollo: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desarrolla e implementa el software de acuerdo con requisitos definidos para la iteración actual</a:t>
            </a:r>
            <a:r>
              <a:rPr lang="es-ES" sz="1400" i="1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3"/>
            </a:pPr>
            <a:r>
              <a:rPr lang="es-ES" dirty="0"/>
              <a:t>Pruebas: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realizan pruebas unitarias y de integración</a:t>
            </a:r>
            <a:r>
              <a:rPr lang="es-ES" sz="1400" i="1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4"/>
            </a:pPr>
            <a:r>
              <a:rPr lang="es-ES" dirty="0"/>
              <a:t>Revisión y retrospectiva: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revisa el trabajo realizado y se lleva a cabo una retrospectiva para identificar áreas de mejora</a:t>
            </a:r>
            <a:r>
              <a:rPr lang="es-ES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5"/>
            </a:pPr>
            <a:r>
              <a:rPr lang="es-ES" dirty="0"/>
              <a:t>Entrega: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entrega una versión funcional del software que cumple con los requisitos establecidos.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6"/>
            </a:pPr>
            <a:r>
              <a:rPr lang="es-ES" dirty="0"/>
              <a:t>Retroalimentación del cliente:</a:t>
            </a:r>
          </a:p>
          <a:p>
            <a:pPr marL="261938" indent="0">
              <a:spcAft>
                <a:spcPts val="0"/>
              </a:spcAft>
              <a:buSzPct val="100000"/>
              <a:buNone/>
            </a:pPr>
            <a:r>
              <a:rPr lang="es-ES" sz="1400" dirty="0"/>
              <a:t>La retroalimentación del cliente sobre el software entregado guía las iteraciones posteriores.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7EA5B7-7855-29DF-68D4-8DA5A08ED8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Ciclo de vida</a:t>
            </a:r>
          </a:p>
        </p:txBody>
      </p:sp>
    </p:spTree>
    <p:extLst>
      <p:ext uri="{BB962C8B-B14F-4D97-AF65-F5344CB8AC3E}">
        <p14:creationId xmlns:p14="http://schemas.microsoft.com/office/powerpoint/2010/main" val="337552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512E9C4C-86BF-67C4-EA83-4941AAC398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65081" cy="4111625"/>
          </a:xfrm>
        </p:spPr>
        <p:txBody>
          <a:bodyPr/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Product Owner </a:t>
            </a:r>
            <a:r>
              <a:rPr lang="es-ES" sz="1400" dirty="0"/>
              <a:t>(representante del cliente. Definir y priorizar los requisitos del producto).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Scrum Master </a:t>
            </a:r>
            <a:r>
              <a:rPr lang="es-ES" sz="1400" dirty="0"/>
              <a:t>(asegurar que se siga Scrum y facilitar el proceso de desarrollo).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Desarrollo </a:t>
            </a:r>
            <a:r>
              <a:rPr lang="es-ES" sz="1400" dirty="0"/>
              <a:t>(grupo de desarrolladores multifuncionales).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i="1" dirty="0"/>
              <a:t>Stakeholders</a:t>
            </a:r>
            <a:r>
              <a:rPr lang="es-ES" dirty="0"/>
              <a:t> </a:t>
            </a:r>
            <a:r>
              <a:rPr lang="es-ES" sz="1400" dirty="0"/>
              <a:t>(personas o grupos con un interés en el proyecto, o expertos en dominio específico).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Pruebas </a:t>
            </a:r>
            <a:r>
              <a:rPr lang="es-ES" sz="1400" dirty="0"/>
              <a:t>(realizar pruebas de calidad, verificación y validación del producto).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Diseño </a:t>
            </a:r>
            <a:r>
              <a:rPr lang="es-ES" sz="1400" dirty="0"/>
              <a:t>(diseñar la interfaz de usuario y la experiencia del usuario).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Documentación </a:t>
            </a:r>
            <a:r>
              <a:rPr lang="es-ES" sz="1400" dirty="0"/>
              <a:t>(crear y mantener la documentación del producto, incluyendo manuales de usuario y guías de instalación).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7F7976-06CA-4731-6BED-59A200C0C4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Equipo de proyecto</a:t>
            </a:r>
          </a:p>
        </p:txBody>
      </p:sp>
    </p:spTree>
    <p:extLst>
      <p:ext uri="{BB962C8B-B14F-4D97-AF65-F5344CB8AC3E}">
        <p14:creationId xmlns:p14="http://schemas.microsoft.com/office/powerpoint/2010/main" val="125585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848C6555-B016-F6C6-FAF1-55523056AAD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690916" cy="4111625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En aquellos proyectos </a:t>
            </a:r>
            <a:r>
              <a:rPr lang="es-ES" b="1" i="1" dirty="0"/>
              <a:t>….</a:t>
            </a:r>
          </a:p>
          <a:p>
            <a:r>
              <a:rPr lang="es-ES" dirty="0"/>
              <a:t>Con requisitos que pueden evolucionar y cambiar a lo largo del tiempo.</a:t>
            </a:r>
          </a:p>
          <a:p>
            <a:r>
              <a:rPr lang="es-ES" dirty="0"/>
              <a:t>Donde se valora la entrega temprana y frecuente de software funcional.</a:t>
            </a:r>
          </a:p>
          <a:p>
            <a:r>
              <a:rPr lang="es-ES" dirty="0"/>
              <a:t>En los que es esencial la retroalimentación del cliente para refinar el producto.</a:t>
            </a:r>
          </a:p>
          <a:p>
            <a:r>
              <a:rPr lang="es-ES" dirty="0"/>
              <a:t>Que requieren una colaboración cercana y una comunicación fluida entre el equipo de desarrollo y los interesados.</a:t>
            </a:r>
          </a:p>
          <a:p>
            <a:r>
              <a:rPr lang="es-ES" dirty="0"/>
              <a:t>Que se benefician de la flexibilidad y la adaptabilidad a medida que se obtiene un mayor entendimiento del problema.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3B25E-4C2E-7909-8066-ACB9155E43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¿Cuándo utilizarla?</a:t>
            </a:r>
          </a:p>
        </p:txBody>
      </p:sp>
    </p:spTree>
    <p:extLst>
      <p:ext uri="{BB962C8B-B14F-4D97-AF65-F5344CB8AC3E}">
        <p14:creationId xmlns:p14="http://schemas.microsoft.com/office/powerpoint/2010/main" val="380236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DEEE20-5BC3-C322-6C9D-320DBAE70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Solución software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04A8903-A5A6-547B-259B-AA50E1103A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PE" dirty="0"/>
              <a:t>MODELO EN ESPIRAL</a:t>
            </a:r>
          </a:p>
        </p:txBody>
      </p:sp>
    </p:spTree>
    <p:extLst>
      <p:ext uri="{BB962C8B-B14F-4D97-AF65-F5344CB8AC3E}">
        <p14:creationId xmlns:p14="http://schemas.microsoft.com/office/powerpoint/2010/main" val="3218761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706ACF16-D49A-7443-0482-EA44B0C2CA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5058000" y="804863"/>
            <a:ext cx="4086000" cy="44460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2" y="1142546"/>
            <a:ext cx="5370425" cy="411162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" dirty="0"/>
              <a:t>Gestión de riesgos: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identificación temprana de riesgos y su mitigación mediante evaluaciones y revisiones continuas.</a:t>
            </a:r>
          </a:p>
          <a:p>
            <a:pPr>
              <a:spcAft>
                <a:spcPts val="0"/>
              </a:spcAft>
            </a:pPr>
            <a:r>
              <a:rPr lang="es-ES" dirty="0"/>
              <a:t>Ciclos de desarrollo iterativos: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Cada ciclo iterativo, con las etapas de determinar objetivos, identificar y resolver riesgos, desarrollar y probar, y planificar la siguiente iteración</a:t>
            </a:r>
            <a:r>
              <a:rPr lang="es-ES" dirty="0"/>
              <a:t>.</a:t>
            </a:r>
          </a:p>
          <a:p>
            <a:pPr>
              <a:spcAft>
                <a:spcPts val="0"/>
              </a:spcAft>
            </a:pPr>
            <a:r>
              <a:rPr lang="es-ES" dirty="0"/>
              <a:t>Retroalimentación y adaptación: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Recopila retroalimentación del cliente y se utiliza para adaptar y mejorar el producto en cada ciclo.</a:t>
            </a:r>
          </a:p>
          <a:p>
            <a:pPr>
              <a:spcAft>
                <a:spcPts val="0"/>
              </a:spcAft>
            </a:pPr>
            <a:r>
              <a:rPr lang="es-ES" dirty="0"/>
              <a:t>Mayor énfasis en prototipos: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Prototipos en cada ciclo para obtener una mejor comprensión de los requisitos y las soluciones propuestas antes de la implementación completa.</a:t>
            </a:r>
          </a:p>
          <a:p>
            <a:pPr>
              <a:spcAft>
                <a:spcPts val="0"/>
              </a:spcAft>
            </a:pPr>
            <a:r>
              <a:rPr lang="es-ES" dirty="0"/>
              <a:t>Enfoque en la escalabilidad:</a:t>
            </a:r>
          </a:p>
          <a:p>
            <a:pPr marL="261938" indent="0">
              <a:spcAft>
                <a:spcPts val="0"/>
              </a:spcAft>
              <a:buNone/>
            </a:pPr>
            <a:r>
              <a:rPr lang="es-ES" sz="1400" dirty="0"/>
              <a:t>Permite la incorporación de nuevas características y cambios en etapas posteriores.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357068-4F94-695E-44BB-A660DC4E6C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163888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1AFADA68-44AC-3379-F098-73FD7F6D4D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813262" y="804863"/>
            <a:ext cx="4086000" cy="44460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42546"/>
            <a:ext cx="4344949" cy="4111625"/>
          </a:xfrm>
        </p:spPr>
        <p:txBody>
          <a:bodyPr/>
          <a:lstStyle/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s-ES" dirty="0"/>
              <a:t>Determinar objetivos: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establecen los objetivos generales del proyecto y se identifican las restricciones y áreas de riesgo.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2"/>
            </a:pPr>
            <a:r>
              <a:rPr lang="es-ES" dirty="0"/>
              <a:t>Análisis y planificación: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recopilan requisitos y elabora el plan detallado</a:t>
            </a:r>
            <a:r>
              <a:rPr lang="es-ES" sz="1400" i="1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3"/>
            </a:pPr>
            <a:r>
              <a:rPr lang="es-ES" dirty="0"/>
              <a:t>Desarrollo e implementación: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desarrolla el software y se implementa.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4"/>
            </a:pPr>
            <a:r>
              <a:rPr lang="es-ES" dirty="0"/>
              <a:t>Evaluación y mitigación de riesgos: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evalúan los riesgos identificados y se toman medidas para mitigarlos</a:t>
            </a:r>
            <a:r>
              <a:rPr lang="es-ES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5"/>
            </a:pPr>
            <a:r>
              <a:rPr lang="es-ES" dirty="0"/>
              <a:t>Revisión y retroalimentación: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revisa el progreso del proyecto y se recopila la retroalimentación de los</a:t>
            </a:r>
            <a:r>
              <a:rPr lang="es-ES" sz="1400" i="1" dirty="0"/>
              <a:t> stakeholders.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6"/>
            </a:pPr>
            <a:r>
              <a:rPr lang="es-ES" dirty="0"/>
              <a:t>Planificación de la siguiente iteración:</a:t>
            </a:r>
          </a:p>
          <a:p>
            <a:pPr marL="261938" indent="0">
              <a:spcAft>
                <a:spcPts val="0"/>
              </a:spcAft>
              <a:buSzPct val="100000"/>
              <a:buNone/>
            </a:pPr>
            <a:r>
              <a:rPr lang="es-ES" sz="1400" dirty="0"/>
              <a:t>Se planifica la siguiente iteración con base en los resultados y la retroalimentación obtenidos.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69A06C-04FD-D151-8229-379DCBF06F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Ciclo de vida</a:t>
            </a:r>
          </a:p>
        </p:txBody>
      </p:sp>
    </p:spTree>
    <p:extLst>
      <p:ext uri="{BB962C8B-B14F-4D97-AF65-F5344CB8AC3E}">
        <p14:creationId xmlns:p14="http://schemas.microsoft.com/office/powerpoint/2010/main" val="18028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DA73006D-14A5-3697-3BF3-C1FA3F3E5E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989431" y="816438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632193" cy="4111625"/>
          </a:xfrm>
        </p:spPr>
        <p:txBody>
          <a:bodyPr/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Gerente de Proyecto </a:t>
            </a:r>
            <a:r>
              <a:rPr lang="es-ES" sz="1400" dirty="0"/>
              <a:t>(planificar, coordinar y supervisar el proyecto. Gestionar riesgos).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Analista de Riesgos </a:t>
            </a:r>
            <a:r>
              <a:rPr lang="es-ES" sz="1400" dirty="0"/>
              <a:t>(identificar y evaluar los riesgos, y proponer estrategias de mitigación).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Desarrollo </a:t>
            </a:r>
            <a:r>
              <a:rPr lang="es-ES" sz="1400" dirty="0"/>
              <a:t>(implementar el software y realizar pruebas en cada iteración).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Cliente/Usuario </a:t>
            </a:r>
            <a:r>
              <a:rPr lang="es-ES" sz="1400" dirty="0"/>
              <a:t>(brindar retroalimentación y validar soluciones propuestas).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Pruebas </a:t>
            </a:r>
            <a:r>
              <a:rPr lang="es-ES" sz="1400" dirty="0"/>
              <a:t>(realizar pruebas exhaustivas del software para identificar errores).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Revisión </a:t>
            </a:r>
            <a:r>
              <a:rPr lang="es-ES" sz="1400" dirty="0"/>
              <a:t>(revisar el progreso del proyecto, evaluar la calidad del software y proporcionar retroalimentación constructiva).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Mantenimiento </a:t>
            </a:r>
            <a:r>
              <a:rPr lang="es-ES" sz="1400" dirty="0"/>
              <a:t>(realizar actividades de mantenimiento y mejoras posteriores a la implementación del software).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7365FD-61B1-F17F-5741-027C46923B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Equipo de proyecto</a:t>
            </a:r>
          </a:p>
        </p:txBody>
      </p:sp>
    </p:spTree>
    <p:extLst>
      <p:ext uri="{BB962C8B-B14F-4D97-AF65-F5344CB8AC3E}">
        <p14:creationId xmlns:p14="http://schemas.microsoft.com/office/powerpoint/2010/main" val="32267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4919F884-380C-9FFC-98CE-8974CB4B74A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607026" cy="4111625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En aquellos proyectos </a:t>
            </a:r>
            <a:r>
              <a:rPr lang="es-ES" b="1" i="1" dirty="0"/>
              <a:t>….</a:t>
            </a:r>
          </a:p>
          <a:p>
            <a:r>
              <a:rPr lang="es-ES" dirty="0"/>
              <a:t>Complejos y grandes, que involucran múltiples riesgos y etapas críticas.</a:t>
            </a:r>
          </a:p>
          <a:p>
            <a:r>
              <a:rPr lang="es-ES" dirty="0"/>
              <a:t>En los que la gestión de riesgos es una prioridad.</a:t>
            </a:r>
          </a:p>
          <a:p>
            <a:r>
              <a:rPr lang="es-ES" dirty="0"/>
              <a:t>Que necesitan retroalimentación y aprendizaje continuo.</a:t>
            </a:r>
          </a:p>
          <a:p>
            <a:r>
              <a:rPr lang="es-ES" dirty="0"/>
              <a:t>Que pueden beneficiarse de un enfoque en el que se puedan realizar cambios y ajustes durante todo el proceso.</a:t>
            </a:r>
          </a:p>
          <a:p>
            <a:r>
              <a:rPr lang="es-ES" dirty="0"/>
              <a:t>Que valoran la planificación detallada y el seguimiento cuidadoso de los objetivos y los riesgos.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6147CD-1886-A8CA-9192-035F409A37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¿Cuándo utilizarla?</a:t>
            </a:r>
          </a:p>
        </p:txBody>
      </p:sp>
    </p:spTree>
    <p:extLst>
      <p:ext uri="{BB962C8B-B14F-4D97-AF65-F5344CB8AC3E}">
        <p14:creationId xmlns:p14="http://schemas.microsoft.com/office/powerpoint/2010/main" val="376185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DEEE20-5BC3-C322-6C9D-320DBAE70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Solución software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04A8903-A5A6-547B-259B-AA50E1103A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PE" dirty="0"/>
              <a:t>MÉTODOS ÁGILES</a:t>
            </a:r>
          </a:p>
        </p:txBody>
      </p:sp>
    </p:spTree>
    <p:extLst>
      <p:ext uri="{BB962C8B-B14F-4D97-AF65-F5344CB8AC3E}">
        <p14:creationId xmlns:p14="http://schemas.microsoft.com/office/powerpoint/2010/main" val="620510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8A6C0E50-F7CE-BFD7-B0C9-8459BB2623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42546"/>
            <a:ext cx="4103687" cy="411162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" dirty="0"/>
              <a:t>Adaptabilidad al cambio: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Alta capacidad de respuesta a los cambios en los requisitos y se fomenta la flexibilidad.</a:t>
            </a:r>
          </a:p>
          <a:p>
            <a:pPr>
              <a:spcAft>
                <a:spcPts val="0"/>
              </a:spcAft>
            </a:pPr>
            <a:r>
              <a:rPr lang="es-ES" dirty="0"/>
              <a:t>Entrega incremental: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Se enfoca en entregar software funcional en incrementos regulares y frecuentes.</a:t>
            </a:r>
          </a:p>
          <a:p>
            <a:pPr>
              <a:spcAft>
                <a:spcPts val="0"/>
              </a:spcAft>
            </a:pPr>
            <a:r>
              <a:rPr lang="es-ES" dirty="0"/>
              <a:t>Colaboración y comunicación frecuentes: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Comunicación abierta y continua entre todos los miembros del equipo y con lo</a:t>
            </a:r>
            <a:r>
              <a:rPr lang="es-ES" sz="1400" i="1" dirty="0"/>
              <a:t>s stakeholders.</a:t>
            </a:r>
          </a:p>
          <a:p>
            <a:pPr>
              <a:spcAft>
                <a:spcPts val="0"/>
              </a:spcAft>
            </a:pPr>
            <a:r>
              <a:rPr lang="es-ES" dirty="0"/>
              <a:t>Enfoque en la calidad del código:</a:t>
            </a:r>
          </a:p>
          <a:p>
            <a:pPr marL="261938" indent="0">
              <a:spcAft>
                <a:spcPts val="600"/>
              </a:spcAft>
              <a:buNone/>
            </a:pPr>
            <a:r>
              <a:rPr lang="es-ES" sz="1400" dirty="0"/>
              <a:t>Uso de prácticas de desarrollo de software de alta calidad: pruebas automatizadas, integración continua y refactorización.</a:t>
            </a:r>
          </a:p>
          <a:p>
            <a:pPr>
              <a:spcAft>
                <a:spcPts val="0"/>
              </a:spcAft>
            </a:pPr>
            <a:r>
              <a:rPr lang="es-ES" dirty="0"/>
              <a:t>Enfoque en la autoorganización:</a:t>
            </a:r>
          </a:p>
          <a:p>
            <a:pPr marL="261938" indent="0">
              <a:spcAft>
                <a:spcPts val="0"/>
              </a:spcAft>
              <a:buNone/>
            </a:pPr>
            <a:r>
              <a:rPr lang="es-ES" sz="1400" dirty="0"/>
              <a:t>Los equipos se autoorganizan y se empoderan para tomar decisiones y abordar los desafíos de manera conjunta</a:t>
            </a:r>
            <a:r>
              <a:rPr lang="es-ES" sz="1400" i="1" dirty="0"/>
              <a:t>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ADF225-8EEE-410A-88F0-ED77A40FBA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109179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6CF9E1EA-1174-AD02-098F-9CBD506CAE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888764" y="816438"/>
            <a:ext cx="4086000" cy="44460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42546"/>
            <a:ext cx="4420451" cy="4111625"/>
          </a:xfrm>
        </p:spPr>
        <p:txBody>
          <a:bodyPr/>
          <a:lstStyle/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s-ES" dirty="0"/>
              <a:t>Planificación del </a:t>
            </a:r>
            <a:r>
              <a:rPr lang="es-ES" i="1" dirty="0"/>
              <a:t>sprint: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definen los objetivos y las tareas para el </a:t>
            </a:r>
            <a:r>
              <a:rPr lang="es-ES" sz="1400" i="1" dirty="0"/>
              <a:t>sprint.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2"/>
            </a:pPr>
            <a:r>
              <a:rPr lang="es-ES" dirty="0"/>
              <a:t>Desarrollo: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desarrolla el software en incrementos, priorizando las características más valiosas.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3"/>
            </a:pPr>
            <a:r>
              <a:rPr lang="es-ES" dirty="0"/>
              <a:t>Pruebas y revisión continua: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realizan pruebas y revisiones continuas para garantizar la calidad del software en desarrollo.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4"/>
            </a:pPr>
            <a:r>
              <a:rPr lang="es-ES" dirty="0"/>
              <a:t>Reuniones diarias: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Seguimiento del progreso y resolver problemas</a:t>
            </a:r>
            <a:r>
              <a:rPr lang="es-ES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5"/>
            </a:pPr>
            <a:r>
              <a:rPr lang="es-ES" dirty="0"/>
              <a:t>Revisión del </a:t>
            </a:r>
            <a:r>
              <a:rPr lang="es-ES" i="1" dirty="0"/>
              <a:t>sprint: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revisa el trabajo realizado y se recopila la retroalimentación del equipo y l</a:t>
            </a:r>
            <a:r>
              <a:rPr lang="es-ES" sz="1400" i="1" dirty="0"/>
              <a:t>os stakeholders.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6"/>
            </a:pPr>
            <a:r>
              <a:rPr lang="es-ES" dirty="0"/>
              <a:t>Retrospectiva del </a:t>
            </a:r>
            <a:r>
              <a:rPr lang="es-ES" i="1" dirty="0"/>
              <a:t>sprint:</a:t>
            </a:r>
          </a:p>
          <a:p>
            <a:pPr marL="261938" indent="0">
              <a:spcAft>
                <a:spcPts val="0"/>
              </a:spcAft>
              <a:buSzPct val="100000"/>
              <a:buNone/>
            </a:pPr>
            <a:r>
              <a:rPr lang="es-ES" sz="1400" dirty="0"/>
              <a:t>Para identificar áreas de mejora y definir acciones para el siguiente</a:t>
            </a:r>
            <a:r>
              <a:rPr lang="es-ES" sz="1400" i="1" dirty="0"/>
              <a:t> sprint.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B2B2EF-6544-1861-B9C0-1C92BC8324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Ciclo de vida</a:t>
            </a:r>
          </a:p>
        </p:txBody>
      </p:sp>
    </p:spTree>
    <p:extLst>
      <p:ext uri="{BB962C8B-B14F-4D97-AF65-F5344CB8AC3E}">
        <p14:creationId xmlns:p14="http://schemas.microsoft.com/office/powerpoint/2010/main" val="312932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8FDECDFC-6B8E-7E3D-8FD1-8199BB656C8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888763" y="804863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38579" cy="4111625"/>
          </a:xfrm>
        </p:spPr>
        <p:txBody>
          <a:bodyPr/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Product Owner </a:t>
            </a:r>
            <a:r>
              <a:rPr lang="es-ES" sz="1400" dirty="0"/>
              <a:t>(voz del cliente, responsable de definir y priorizar los requisitos del producto).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Scrum Master </a:t>
            </a:r>
            <a:r>
              <a:rPr lang="es-ES" sz="1400" dirty="0"/>
              <a:t>(asegurar que se sigan prácticas ágiles, y eliminar impedimentos de desarrollo).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Desarrollo </a:t>
            </a:r>
            <a:r>
              <a:rPr lang="es-ES" sz="1400" dirty="0"/>
              <a:t>(implementar las características y funcionalidades del producto).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i="1" dirty="0"/>
              <a:t>Stakeholders</a:t>
            </a:r>
            <a:r>
              <a:rPr lang="es-ES" dirty="0"/>
              <a:t> </a:t>
            </a:r>
            <a:r>
              <a:rPr lang="es-ES" sz="1400" dirty="0"/>
              <a:t>(personas o grupos con un interés en el proyecto, o experto en dominio específico).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Pruebas </a:t>
            </a:r>
            <a:r>
              <a:rPr lang="es-ES" sz="1400" dirty="0"/>
              <a:t>(realizar pruebas continuas para garantizar la calidad del software y validar su correcto funcionamiento).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Diseño </a:t>
            </a:r>
            <a:r>
              <a:rPr lang="es-ES" sz="1400" dirty="0"/>
              <a:t>(diseñar la interfaz de usuario y la experiencia del usuario).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Documentación </a:t>
            </a:r>
            <a:r>
              <a:rPr lang="es-ES" sz="1400" dirty="0"/>
              <a:t>(crear y mantener la documentación del producto, incluyendo manuales de usuario y guías de instalación).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8B148F-FD52-8E73-42E2-927485F01F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Equipo de proyecto</a:t>
            </a:r>
          </a:p>
        </p:txBody>
      </p:sp>
    </p:spTree>
    <p:extLst>
      <p:ext uri="{BB962C8B-B14F-4D97-AF65-F5344CB8AC3E}">
        <p14:creationId xmlns:p14="http://schemas.microsoft.com/office/powerpoint/2010/main" val="299690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AD90933A-B9A9-ED39-7A18-3809AD6E146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871985" y="816438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03672" cy="4111625"/>
          </a:xfrm>
        </p:spPr>
        <p:txBody>
          <a:bodyPr/>
          <a:lstStyle/>
          <a:p>
            <a:pPr marL="0" indent="0">
              <a:lnSpc>
                <a:spcPct val="95000"/>
              </a:lnSpc>
              <a:buNone/>
            </a:pPr>
            <a:r>
              <a:rPr lang="es-ES" b="1" dirty="0"/>
              <a:t>En aquellos proyectos ….</a:t>
            </a:r>
          </a:p>
          <a:p>
            <a:pPr>
              <a:lnSpc>
                <a:spcPct val="95000"/>
              </a:lnSpc>
            </a:pPr>
            <a:r>
              <a:rPr lang="es-ES" dirty="0"/>
              <a:t>Con requisitos cambiantes y ambiguos que requieren una respuesta rápida y flexible.</a:t>
            </a:r>
          </a:p>
          <a:p>
            <a:pPr>
              <a:lnSpc>
                <a:spcPct val="95000"/>
              </a:lnSpc>
            </a:pPr>
            <a:r>
              <a:rPr lang="es-ES" dirty="0"/>
              <a:t>Que esperan entrega frecuente de software funcional y un rápido valor para el cliente.</a:t>
            </a:r>
          </a:p>
          <a:p>
            <a:pPr>
              <a:lnSpc>
                <a:spcPct val="95000"/>
              </a:lnSpc>
            </a:pPr>
            <a:r>
              <a:rPr lang="es-ES" dirty="0"/>
              <a:t>Que valoran la colaboración estrecha entre el equipo de desarrollo y los interesados, así como la comunicación constante.</a:t>
            </a:r>
          </a:p>
          <a:p>
            <a:pPr>
              <a:lnSpc>
                <a:spcPct val="95000"/>
              </a:lnSpc>
            </a:pPr>
            <a:r>
              <a:rPr lang="es-ES" dirty="0"/>
              <a:t>En los que se busca fomentar la adaptabilidad, la creatividad y la autoorganización del equipo.</a:t>
            </a:r>
          </a:p>
          <a:p>
            <a:pPr>
              <a:lnSpc>
                <a:spcPct val="95000"/>
              </a:lnSpc>
            </a:pPr>
            <a:r>
              <a:rPr lang="es-ES" dirty="0"/>
              <a:t>Que requieren una respuesta rápida a los cambios del mercado y la posibilidad de variar o adaptarse en consecuencia.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49B4C9-506D-32A1-D75F-E534773479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¿Cuándo utilizarla?</a:t>
            </a:r>
          </a:p>
        </p:txBody>
      </p:sp>
    </p:spTree>
    <p:extLst>
      <p:ext uri="{BB962C8B-B14F-4D97-AF65-F5344CB8AC3E}">
        <p14:creationId xmlns:p14="http://schemas.microsoft.com/office/powerpoint/2010/main" val="281075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DEEE20-5BC3-C322-6C9D-320DBAE70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Solución software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04A8903-A5A6-547B-259B-AA50E1103A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PE" dirty="0"/>
              <a:t>DESARROLLO EN ESPIRAL ÁGIL</a:t>
            </a:r>
          </a:p>
        </p:txBody>
      </p:sp>
    </p:spTree>
    <p:extLst>
      <p:ext uri="{BB962C8B-B14F-4D97-AF65-F5344CB8AC3E}">
        <p14:creationId xmlns:p14="http://schemas.microsoft.com/office/powerpoint/2010/main" val="1146677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660C5847-C8FF-43D8-4717-1BFCB478710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930709" y="816438"/>
            <a:ext cx="4086000" cy="44460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42546"/>
            <a:ext cx="4462396" cy="411162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" dirty="0"/>
              <a:t>Enfoque ágil iterativo:</a:t>
            </a:r>
          </a:p>
          <a:p>
            <a:pPr marL="261937" indent="0">
              <a:spcAft>
                <a:spcPts val="600"/>
              </a:spcAft>
              <a:buNone/>
            </a:pPr>
            <a:r>
              <a:rPr lang="es-ES" sz="1400" dirty="0"/>
              <a:t>Similar a</a:t>
            </a:r>
            <a:r>
              <a:rPr lang="es-ES" sz="1400" i="1" dirty="0"/>
              <a:t> Scrum o XP, </a:t>
            </a:r>
            <a:r>
              <a:rPr lang="es-ES" sz="1400" dirty="0"/>
              <a:t>con entregas frecuentes y adaptabilidad al cambio.</a:t>
            </a:r>
          </a:p>
          <a:p>
            <a:pPr>
              <a:spcAft>
                <a:spcPts val="0"/>
              </a:spcAft>
            </a:pPr>
            <a:r>
              <a:rPr lang="es-ES" dirty="0"/>
              <a:t>Gestión de riesgos continuos:</a:t>
            </a:r>
          </a:p>
          <a:p>
            <a:pPr marL="261937" indent="0">
              <a:spcAft>
                <a:spcPts val="600"/>
              </a:spcAft>
              <a:buNone/>
            </a:pPr>
            <a:r>
              <a:rPr lang="es-ES" sz="1400" dirty="0"/>
              <a:t>Proactivo en la identificación y mitigación de riesgos en cada iteración.</a:t>
            </a:r>
          </a:p>
          <a:p>
            <a:pPr>
              <a:spcAft>
                <a:spcPts val="0"/>
              </a:spcAft>
            </a:pPr>
            <a:r>
              <a:rPr lang="es-ES" dirty="0"/>
              <a:t>Iteraciones de menor duración:</a:t>
            </a:r>
          </a:p>
          <a:p>
            <a:pPr marL="261937" indent="0">
              <a:spcAft>
                <a:spcPts val="600"/>
              </a:spcAft>
              <a:buNone/>
            </a:pPr>
            <a:r>
              <a:rPr lang="es-ES" sz="1400" dirty="0"/>
              <a:t>Las iteraciones suelen ser más cortas en comparación con el modelo en espiral tradicional</a:t>
            </a:r>
            <a:r>
              <a:rPr lang="es-ES" sz="1400" i="1" dirty="0"/>
              <a:t>.</a:t>
            </a:r>
          </a:p>
          <a:p>
            <a:pPr>
              <a:spcAft>
                <a:spcPts val="0"/>
              </a:spcAft>
            </a:pPr>
            <a:r>
              <a:rPr lang="es-ES" dirty="0"/>
              <a:t>Colaboración y comunicación:</a:t>
            </a:r>
          </a:p>
          <a:p>
            <a:pPr marL="261937" indent="0">
              <a:spcAft>
                <a:spcPts val="600"/>
              </a:spcAft>
              <a:buNone/>
            </a:pPr>
            <a:r>
              <a:rPr lang="es-ES" sz="1400" dirty="0"/>
              <a:t>La comunicación continua y la colaboración estrecha con los </a:t>
            </a:r>
            <a:r>
              <a:rPr lang="es-ES" sz="1400" i="1" dirty="0"/>
              <a:t>stakeholders </a:t>
            </a:r>
            <a:r>
              <a:rPr lang="es-ES" sz="1400" dirty="0"/>
              <a:t>y los miembros del equipo son fundamentales.</a:t>
            </a:r>
          </a:p>
          <a:p>
            <a:pPr>
              <a:spcAft>
                <a:spcPts val="0"/>
              </a:spcAft>
            </a:pPr>
            <a:r>
              <a:rPr lang="es-ES" dirty="0"/>
              <a:t>Enfoque en la mejora continua:</a:t>
            </a:r>
          </a:p>
          <a:p>
            <a:pPr marL="261938" indent="0">
              <a:spcAft>
                <a:spcPts val="0"/>
              </a:spcAft>
              <a:buNone/>
            </a:pPr>
            <a:r>
              <a:rPr lang="es-ES" sz="1400" dirty="0"/>
              <a:t>Se busca la mejora continua en cada iteración a través de la retroalimentación y la reflexión.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C85EE9-CA71-382E-7E6F-C701E36FAF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348427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BD5E3-7157-0C0A-9F9E-E31B38612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42546"/>
            <a:ext cx="4321801" cy="4111625"/>
          </a:xfrm>
        </p:spPr>
        <p:txBody>
          <a:bodyPr/>
          <a:lstStyle/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s-ES" dirty="0"/>
              <a:t>Planificación y análisis: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definen objetivos, requisitos, y se identifican los riesgos del proyecto.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2"/>
            </a:pPr>
            <a:r>
              <a:rPr lang="es-ES" dirty="0"/>
              <a:t>Desarrollo iterativo: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Cada iteración incluye desarrollo y pruebas.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3"/>
            </a:pPr>
            <a:r>
              <a:rPr lang="es-ES" dirty="0"/>
              <a:t>Evaluación de riesgos y retroalimentación: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evalúan los riesgos y se recopila la retroalimentación del cliente y del equipo.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4"/>
            </a:pPr>
            <a:r>
              <a:rPr lang="es-ES" dirty="0"/>
              <a:t>Ajuste y mejora: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mitigan los riesgos identificados y se realizan mejoras en el software y en el proceso</a:t>
            </a:r>
            <a:r>
              <a:rPr lang="es-ES" dirty="0"/>
              <a:t>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5"/>
            </a:pPr>
            <a:r>
              <a:rPr lang="es-ES" dirty="0"/>
              <a:t>Entrega de incremento:</a:t>
            </a:r>
          </a:p>
          <a:p>
            <a:pPr marL="261938" indent="0">
              <a:spcAft>
                <a:spcPts val="600"/>
              </a:spcAft>
              <a:buSzPct val="100000"/>
              <a:buNone/>
            </a:pPr>
            <a:r>
              <a:rPr lang="es-ES" sz="1400" dirty="0"/>
              <a:t>Se entrega una versión funcional del software.</a:t>
            </a:r>
          </a:p>
          <a:p>
            <a:pPr marL="261938" indent="-261938">
              <a:spcAft>
                <a:spcPts val="0"/>
              </a:spcAft>
              <a:buSzPct val="100000"/>
              <a:buFont typeface="+mj-lt"/>
              <a:buAutoNum type="arabicPeriod" startAt="6"/>
            </a:pPr>
            <a:r>
              <a:rPr lang="es-ES" dirty="0"/>
              <a:t>Repetición:</a:t>
            </a:r>
          </a:p>
          <a:p>
            <a:pPr marL="261938" indent="0">
              <a:spcAft>
                <a:spcPts val="0"/>
              </a:spcAft>
              <a:buSzPct val="100000"/>
              <a:buNone/>
            </a:pPr>
            <a:r>
              <a:rPr lang="es-ES" sz="1400" dirty="0"/>
              <a:t>Se continua con iteraciones adicionales, refinando y mejorando el software en cada ciclo.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10369D-FF64-9736-AD74-129BC4D969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Ciclo de vida</a:t>
            </a:r>
          </a:p>
        </p:txBody>
      </p:sp>
      <p:pic>
        <p:nvPicPr>
          <p:cNvPr id="11" name="Marcador de posición de imagen 10">
            <a:extLst>
              <a:ext uri="{FF2B5EF4-FFF2-40B4-BE49-F238E27FC236}">
                <a16:creationId xmlns:a16="http://schemas.microsoft.com/office/drawing/2014/main" id="{71298046-155B-19CA-803E-3F16765800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897152" y="816438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267415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5E655943-D3A4-78E0-1499-285D241531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4897153" y="816438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523137" cy="4111625"/>
          </a:xfrm>
        </p:spPr>
        <p:txBody>
          <a:bodyPr/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Gerente de Proyecto </a:t>
            </a:r>
            <a:r>
              <a:rPr lang="es-ES" sz="1400" dirty="0"/>
              <a:t>(planificar, coordinar y supervisar el proyecto, aplicando el enfoque ágil en el contexto del modelo en espiral).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Analista de Riesgos </a:t>
            </a:r>
            <a:r>
              <a:rPr lang="es-ES" sz="1400" dirty="0"/>
              <a:t>(identificar y evaluar riesgos en cada iteración y acciones de mitigación).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Desarrollo </a:t>
            </a:r>
            <a:r>
              <a:rPr lang="es-ES" sz="1400" dirty="0"/>
              <a:t>(implementar el software y realizar pruebas, siguiendo los principios ágiles).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i="1" dirty="0"/>
              <a:t>Stakeholders</a:t>
            </a:r>
            <a:r>
              <a:rPr lang="es-ES" dirty="0"/>
              <a:t> </a:t>
            </a:r>
            <a:r>
              <a:rPr lang="es-ES" sz="1400" dirty="0"/>
              <a:t>(participar activamente en la retroalimentación y en la validación del producto).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Pruebas </a:t>
            </a:r>
            <a:r>
              <a:rPr lang="es-ES" sz="1400" dirty="0"/>
              <a:t>(realizar pruebas en cada iteración, detectando errores).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Mejora Continua </a:t>
            </a:r>
            <a:r>
              <a:rPr lang="es-ES" sz="1400" dirty="0"/>
              <a:t>(analizar los resultados de las iteraciones y proponer mejoras).</a:t>
            </a:r>
            <a:endParaRPr lang="es-ES" dirty="0"/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s-ES" dirty="0"/>
              <a:t>Equipo de Mantenimiento </a:t>
            </a:r>
            <a:r>
              <a:rPr lang="es-ES" sz="1400" dirty="0"/>
              <a:t>(mantenimiento y mejoras posteriores a la implementación del software, aplicando un enfoque iterativo y ágil).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A4730A-A525-50E5-51F5-23FAE4758E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Equipo de proyecto</a:t>
            </a:r>
          </a:p>
        </p:txBody>
      </p:sp>
    </p:spTree>
    <p:extLst>
      <p:ext uri="{BB962C8B-B14F-4D97-AF65-F5344CB8AC3E}">
        <p14:creationId xmlns:p14="http://schemas.microsoft.com/office/powerpoint/2010/main" val="176694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METODOLOGÍAS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C9C231F6-5034-CE49-D3B5-7F14C56F113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>
          <a:xfrm>
            <a:off x="5058000" y="863626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433E01-2140-B7B1-EFAC-956E691E2D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81192" cy="4111625"/>
          </a:xfrm>
        </p:spPr>
        <p:txBody>
          <a:bodyPr/>
          <a:lstStyle/>
          <a:p>
            <a:pPr marL="0" indent="0">
              <a:lnSpc>
                <a:spcPct val="95000"/>
              </a:lnSpc>
              <a:buNone/>
            </a:pPr>
            <a:r>
              <a:rPr lang="es-ES" b="1" dirty="0"/>
              <a:t>En aquellos proyectos </a:t>
            </a:r>
            <a:r>
              <a:rPr lang="es-ES" b="1" i="1" dirty="0"/>
              <a:t>….</a:t>
            </a:r>
          </a:p>
          <a:p>
            <a:pPr>
              <a:lnSpc>
                <a:spcPct val="95000"/>
              </a:lnSpc>
            </a:pPr>
            <a:r>
              <a:rPr lang="es-ES" dirty="0"/>
              <a:t>Que combinan la necesidad de una gestión de riesgos rigurosa con la adaptabilidad.</a:t>
            </a:r>
          </a:p>
          <a:p>
            <a:pPr>
              <a:lnSpc>
                <a:spcPct val="95000"/>
              </a:lnSpc>
            </a:pPr>
            <a:r>
              <a:rPr lang="es-ES" dirty="0"/>
              <a:t>Que requieren ciclos de desarrollo iterativos y entregas frecuentes, junto con una gestión activa de los riesgos.</a:t>
            </a:r>
          </a:p>
          <a:p>
            <a:pPr>
              <a:lnSpc>
                <a:spcPct val="95000"/>
              </a:lnSpc>
            </a:pPr>
            <a:r>
              <a:rPr lang="es-ES" dirty="0"/>
              <a:t>En los que la retroalimentación del cliente y la mejora continua son fundamentales.</a:t>
            </a:r>
          </a:p>
          <a:p>
            <a:pPr>
              <a:lnSpc>
                <a:spcPct val="95000"/>
              </a:lnSpc>
            </a:pPr>
            <a:r>
              <a:rPr lang="es-ES" dirty="0"/>
              <a:t>Que valoran la capacidad de adaptarse a medida que se aprende más sobre el dominio del problema.</a:t>
            </a:r>
          </a:p>
          <a:p>
            <a:pPr>
              <a:lnSpc>
                <a:spcPct val="95000"/>
              </a:lnSpc>
            </a:pPr>
            <a:r>
              <a:rPr lang="es-ES" dirty="0"/>
              <a:t>Que buscan un equilibrio entre la estructura y la planificación del modelo en espiral con la flexibilidad de los métodos ágiles.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B6E889-7CA1-F3D8-D1BF-80FF13B8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¿Cuándo utilizarla?</a:t>
            </a:r>
          </a:p>
        </p:txBody>
      </p:sp>
    </p:spTree>
    <p:extLst>
      <p:ext uri="{BB962C8B-B14F-4D97-AF65-F5344CB8AC3E}">
        <p14:creationId xmlns:p14="http://schemas.microsoft.com/office/powerpoint/2010/main" val="209785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1"/>
            <a:ext cx="8239458" cy="1159163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PLANEACIÓN Y MONITOREO</a:t>
            </a:r>
          </a:p>
          <a:p>
            <a:pPr marL="274638" indent="-274638">
              <a:tabLst>
                <a:tab pos="274638" algn="l"/>
              </a:tabLst>
            </a:pPr>
            <a:r>
              <a:rPr lang="es-PE" dirty="0"/>
              <a:t>    </a:t>
            </a:r>
            <a:r>
              <a:rPr lang="es-PE" sz="2000" dirty="0"/>
              <a:t>(</a:t>
            </a:r>
            <a:r>
              <a:rPr lang="es-ES" sz="2000" dirty="0"/>
              <a:t>Alcance, compromiso </a:t>
            </a:r>
            <a:r>
              <a:rPr lang="es-ES" sz="2000" i="1" dirty="0"/>
              <a:t>de stakeholders, g</a:t>
            </a:r>
            <a:r>
              <a:rPr lang="es-ES" sz="2000" dirty="0"/>
              <a:t>obernanza y gestión del conocimiento)</a:t>
            </a:r>
            <a:endParaRPr lang="es-PE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355357" cy="3555738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 cascada</a:t>
            </a:r>
          </a:p>
          <a:p>
            <a:r>
              <a:rPr lang="es-ES" dirty="0"/>
              <a:t>En las etapas iniciales del proyecto, antes de que comience el desarrollo.</a:t>
            </a:r>
          </a:p>
          <a:p>
            <a:r>
              <a:rPr lang="es-ES" dirty="0"/>
              <a:t>Actividades: </a:t>
            </a:r>
            <a:r>
              <a:rPr lang="es-ES" sz="1400" dirty="0"/>
              <a:t>recopilación de requisitos del software, análisis de requisitos, definición de los límites y objetivos del proyecto, identificación de restricciones y suposiciones, establecimiento de la visión y los objetivos del proyecto.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documento de especificación de requisitos, declaración de alcance del proyecto, lista de requisitos funcionales y no funcionales, diagramas de casos de uso, diagramas de flujo de datos.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Determinación del alcance del proyecto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610E5FD7-47D4-7E92-E439-3209BBC33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930709" y="816438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82364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321801" cy="3387958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Metodologías iterativas</a:t>
            </a:r>
          </a:p>
          <a:p>
            <a:r>
              <a:rPr lang="es-ES" dirty="0"/>
              <a:t>Es un proceso continuo que evoluciona a lo largo de las iteraciones.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inicial de los requisitos principales, definición de los objetivos del producto, creación del </a:t>
            </a:r>
            <a:r>
              <a:rPr lang="es-ES" sz="1400" i="1" dirty="0"/>
              <a:t>backlog</a:t>
            </a:r>
            <a:r>
              <a:rPr lang="es-ES" sz="1400" dirty="0"/>
              <a:t> del producto, priorización y refinamiento del </a:t>
            </a:r>
            <a:r>
              <a:rPr lang="es-ES" sz="1400" i="1" dirty="0"/>
              <a:t>backlog</a:t>
            </a:r>
            <a:r>
              <a:rPr lang="es-ES" sz="1400" dirty="0"/>
              <a:t>, colaboración con el cliente para definir el alcance.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i="1" dirty="0"/>
              <a:t>backlog</a:t>
            </a:r>
            <a:r>
              <a:rPr lang="es-ES" sz="1400" dirty="0"/>
              <a:t> del producto actualizado, historias de usuario y criterios de aceptación, lista de funcionalidades priorizadas, mapa de producto, definición del alcance actualizado.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Determinación del alcance del proyecto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AB559E64-87B7-C7B1-0151-39ACA4A2F0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88764" y="816438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349287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78348236-FDCB-17DD-BAB9-9410A6C0CC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905542" y="816438"/>
            <a:ext cx="4086000" cy="44460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363746" cy="3840964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Modelo espiral</a:t>
            </a:r>
          </a:p>
          <a:p>
            <a:r>
              <a:rPr lang="es-ES" dirty="0"/>
              <a:t>Se realiza en cada ciclo, con un enfoque en la gestión de riesgos y la adaptación del alcance según sea necesario.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de los requisitos iniciales, evaluación y análisis de riesgos, definición del alcance en cada iteración, revisión y ajuste del alcance según los resultados de las iteraciones anteriores, colaboración con los interesados para definir los objetivos del proyecto.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evaluación y documentación de riesgos, plan de alcance actualizado, entregables de cada ciclo de desarrollo, lista de funcionalidades implementadas, informe de ajustes del alcance.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Determinación del alcance del proyecto</a:t>
            </a:r>
          </a:p>
        </p:txBody>
      </p:sp>
    </p:spTree>
    <p:extLst>
      <p:ext uri="{BB962C8B-B14F-4D97-AF65-F5344CB8AC3E}">
        <p14:creationId xmlns:p14="http://schemas.microsoft.com/office/powerpoint/2010/main" val="122041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EC964158-C20D-9F84-86B1-18E5F14CE3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21652" y="816438"/>
            <a:ext cx="4086000" cy="44460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53339" cy="4111625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Métodos ágiles</a:t>
            </a:r>
          </a:p>
          <a:p>
            <a:r>
              <a:rPr lang="es-ES" dirty="0"/>
              <a:t>Se realiza de manera colaborativa y flexible, con el enfoque en satisfacer las necesidades cambiantes del cliente.</a:t>
            </a:r>
          </a:p>
          <a:p>
            <a:r>
              <a:rPr lang="es-ES" dirty="0"/>
              <a:t>Actividades: </a:t>
            </a:r>
            <a:r>
              <a:rPr lang="es-ES" sz="1400" dirty="0"/>
              <a:t>reuniones de definición de producto, colaboración con el cliente para identificar y priorizar los requisitos, descomposición de los requisitos en historias de usuario, refinamiento del </a:t>
            </a:r>
            <a:r>
              <a:rPr lang="es-ES" sz="1400" i="1" dirty="0"/>
              <a:t>backlog</a:t>
            </a:r>
            <a:r>
              <a:rPr lang="es-ES" sz="1400" dirty="0"/>
              <a:t> del producto, discusiones de alcance con el cliente y el equipo.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i="1" dirty="0"/>
              <a:t>backlog</a:t>
            </a:r>
            <a:r>
              <a:rPr lang="es-ES" sz="1400" dirty="0"/>
              <a:t> del producto actualizado, historias de usuario y criterios de aceptación, lista de funcionalidades priorizadas, diagramas de flujo o prototipos de la interfaz de usuario, definición del alcance actualizado.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Determinación del alcance del proyecto</a:t>
            </a:r>
          </a:p>
        </p:txBody>
      </p:sp>
    </p:spTree>
    <p:extLst>
      <p:ext uri="{BB962C8B-B14F-4D97-AF65-F5344CB8AC3E}">
        <p14:creationId xmlns:p14="http://schemas.microsoft.com/office/powerpoint/2010/main" val="407190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F43D6A32-C7E2-B70F-7D5B-A3467A814C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989431" y="804863"/>
            <a:ext cx="4086000" cy="44460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2" y="1158875"/>
            <a:ext cx="4422469" cy="4111625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Desarrollo en espiral ágil</a:t>
            </a:r>
          </a:p>
          <a:p>
            <a:r>
              <a:rPr lang="es-ES" dirty="0"/>
              <a:t>Combina los aspectos del enfoque en espiral y las prácticas ágiles, con un enfoque en la gestión de riesgos y la adaptación continua del alcance.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de requisitos y riesgos iniciales, evaluación y análisis de riesgos, definición del alcance en cada iteración, revisión y ajuste del alcance según los resultados de las iteraciones anteriores, colaboración con los interesados para definir los objetivos del proyecto.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evaluación y documentación de riesgos, plan de alcance actualizado, entregables de cada ciclo de desarrollo, lista de funcionalidades implementadas, informe de ajustes del alcance.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Determinación del alcance del proyecto</a:t>
            </a:r>
          </a:p>
        </p:txBody>
      </p:sp>
    </p:spTree>
    <p:extLst>
      <p:ext uri="{BB962C8B-B14F-4D97-AF65-F5344CB8AC3E}">
        <p14:creationId xmlns:p14="http://schemas.microsoft.com/office/powerpoint/2010/main" val="139371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Identificación y consecución del compromiso de los </a:t>
            </a:r>
            <a:r>
              <a:rPr lang="es-PE" i="1" dirty="0"/>
              <a:t>stakeholders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pic>
        <p:nvPicPr>
          <p:cNvPr id="11" name="Marcador de posición de imagen 10">
            <a:extLst>
              <a:ext uri="{FF2B5EF4-FFF2-40B4-BE49-F238E27FC236}">
                <a16:creationId xmlns:a16="http://schemas.microsoft.com/office/drawing/2014/main" id="{88851BE0-AE05-2D1B-A0B2-373E1F83110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4"/>
            <a:ext cx="8207375" cy="2212625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 cascada</a:t>
            </a:r>
          </a:p>
          <a:p>
            <a:r>
              <a:rPr lang="es-ES" dirty="0"/>
              <a:t>La identificación y consecución del compromiso de los </a:t>
            </a:r>
            <a:r>
              <a:rPr lang="es-ES" i="1" dirty="0"/>
              <a:t>stakeholders</a:t>
            </a:r>
            <a:r>
              <a:rPr lang="es-ES" dirty="0"/>
              <a:t> se enfoca principalmente en la etapa inicial del proyecto.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de los</a:t>
            </a:r>
            <a:r>
              <a:rPr lang="es-ES" sz="1400" i="1" dirty="0"/>
              <a:t> stakeholders </a:t>
            </a:r>
            <a:r>
              <a:rPr lang="es-ES" sz="1400" dirty="0"/>
              <a:t>relevantes para el proyecto, análisis de sus necesidades y expectativas, establecimiento de canales de comunicación, definición de estrategias para involucrar y obtener su compromiso.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lista de </a:t>
            </a:r>
            <a:r>
              <a:rPr lang="es-ES" sz="1400" i="1" dirty="0"/>
              <a:t>stakeholders</a:t>
            </a:r>
            <a:r>
              <a:rPr lang="es-ES" sz="1400" dirty="0"/>
              <a:t> identificados, análisis de las necesidades y expectativas de los </a:t>
            </a:r>
            <a:r>
              <a:rPr lang="es-ES" sz="1400" i="1" dirty="0"/>
              <a:t>stakeholders</a:t>
            </a:r>
            <a:r>
              <a:rPr lang="es-ES" sz="1400" dirty="0"/>
              <a:t>, plan de comunicación, acuerdos de compromiso y participación.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409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63E0CB5A-62D0-559B-C17B-A9301B0F264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Identificación y consecución del compromiso de los </a:t>
            </a:r>
            <a:r>
              <a:rPr lang="es-PE" i="1" dirty="0"/>
              <a:t>stakeholders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4"/>
            <a:ext cx="8207375" cy="2212625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Metodologías iterativas</a:t>
            </a:r>
          </a:p>
          <a:p>
            <a:r>
              <a:rPr lang="es-ES" dirty="0"/>
              <a:t>Es un proceso continuo a lo largo del proyecto.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de los</a:t>
            </a:r>
            <a:r>
              <a:rPr lang="es-ES" sz="1400" i="1" dirty="0"/>
              <a:t> stakeholders </a:t>
            </a:r>
            <a:r>
              <a:rPr lang="es-ES" sz="1400" dirty="0"/>
              <a:t>clave, realización de reuniones y sesiones de trabajo para recopilar y validar requisitos, demostraciones periódicas de avances para recibir retroalimentación, colaboración activa con los </a:t>
            </a:r>
            <a:r>
              <a:rPr lang="es-ES" sz="1400" i="1" dirty="0"/>
              <a:t>stakeholders</a:t>
            </a:r>
            <a:r>
              <a:rPr lang="es-ES" sz="1400" dirty="0"/>
              <a:t> en la priorización y toma de decisiones.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registro actualizado de </a:t>
            </a:r>
            <a:r>
              <a:rPr lang="es-ES" sz="1400" i="1" dirty="0"/>
              <a:t>stakeholders</a:t>
            </a:r>
            <a:r>
              <a:rPr lang="es-ES" sz="1400" dirty="0"/>
              <a:t> y sus roles, documentación de requisitos validada, retroalimentación y comentarios de los </a:t>
            </a:r>
            <a:r>
              <a:rPr lang="es-ES" sz="1400" i="1" dirty="0"/>
              <a:t>stakeholders</a:t>
            </a:r>
            <a:r>
              <a:rPr lang="es-ES" sz="1400" dirty="0"/>
              <a:t>, acuerdos y compromisos alcanzados, actualizaciones del </a:t>
            </a:r>
            <a:r>
              <a:rPr lang="es-ES" sz="1400" i="1" dirty="0"/>
              <a:t>backlog </a:t>
            </a:r>
            <a:r>
              <a:rPr lang="es-ES" sz="1400" dirty="0"/>
              <a:t>del producto.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801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EC21240F-0718-52A2-56C1-C2053206E6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Identificación y consecución del compromiso de los </a:t>
            </a:r>
            <a:r>
              <a:rPr lang="es-PE" i="1" dirty="0"/>
              <a:t>stakeholders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4"/>
            <a:ext cx="8207375" cy="2056125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Modelo en espiral</a:t>
            </a:r>
          </a:p>
          <a:p>
            <a:r>
              <a:rPr lang="es-ES" dirty="0"/>
              <a:t>Está integrada en cada ciclo y se enfoca en la gestión de riesgos y la toma de decisiones.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de los </a:t>
            </a:r>
            <a:r>
              <a:rPr lang="es-ES" sz="1400" i="1" dirty="0"/>
              <a:t>stakeholders</a:t>
            </a:r>
            <a:r>
              <a:rPr lang="es-ES" sz="1400" dirty="0"/>
              <a:t> clave, evaluación de sus expectativas y necesidades, análisis de riesgos y comunicación de los mismos a los </a:t>
            </a:r>
            <a:r>
              <a:rPr lang="es-ES" sz="1400" i="1" dirty="0"/>
              <a:t>stakeholders</a:t>
            </a:r>
            <a:r>
              <a:rPr lang="es-ES" sz="1400" dirty="0"/>
              <a:t> relevantes, colaboración en la toma de decisiones y la adaptación del plan en función de las retroalimentaciones recibidas.</a:t>
            </a:r>
            <a:endParaRPr lang="es-ES" dirty="0"/>
          </a:p>
          <a:p>
            <a:r>
              <a:rPr lang="es-ES" dirty="0"/>
              <a:t>Entregables: r</a:t>
            </a:r>
            <a:r>
              <a:rPr lang="es-ES" sz="1400" dirty="0"/>
              <a:t>egistro actualizado de </a:t>
            </a:r>
            <a:r>
              <a:rPr lang="es-ES" sz="1400" i="1" dirty="0"/>
              <a:t>stakeholders </a:t>
            </a:r>
            <a:r>
              <a:rPr lang="es-ES" sz="1400" dirty="0"/>
              <a:t>y sus roles, evaluación de riesgos y su comunicación, acuerdos y compromisos alcanzados, informes de progreso y actualizaciones del plan del proyecto.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151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202D24A9-9CF6-8613-8A4B-29D738E12E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Identificación y consecución del compromiso de los </a:t>
            </a:r>
            <a:r>
              <a:rPr lang="es-PE" i="1" dirty="0"/>
              <a:t>stakeholders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4"/>
            <a:ext cx="8207375" cy="2393999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Metodologías ágiles</a:t>
            </a:r>
          </a:p>
          <a:p>
            <a:r>
              <a:rPr lang="es-ES" dirty="0"/>
              <a:t>Es una parte fundamental del enfoque colaborativo y orientado al cliente.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y priorización de los </a:t>
            </a:r>
            <a:r>
              <a:rPr lang="es-ES" sz="1400" i="1" dirty="0"/>
              <a:t>stakeholders, </a:t>
            </a:r>
            <a:r>
              <a:rPr lang="es-ES" sz="1400" dirty="0"/>
              <a:t>involucramiento activo de los </a:t>
            </a:r>
            <a:r>
              <a:rPr lang="es-ES" sz="1400" i="1" dirty="0"/>
              <a:t>stakeholders </a:t>
            </a:r>
            <a:r>
              <a:rPr lang="es-ES" sz="1400" dirty="0"/>
              <a:t>en las reuniones y revisiones del producto, colaboración en la definición y refinamiento de los requisitos, retroalimentación continua y adaptación del producto en función de las necesidades y expectativas de los </a:t>
            </a:r>
            <a:r>
              <a:rPr lang="es-ES" sz="1400" i="1" dirty="0"/>
              <a:t>stakeholders.</a:t>
            </a:r>
            <a:endParaRPr lang="es-ES" i="1" dirty="0"/>
          </a:p>
          <a:p>
            <a:r>
              <a:rPr lang="es-ES" dirty="0"/>
              <a:t>Entregables: </a:t>
            </a:r>
            <a:r>
              <a:rPr lang="es-ES" sz="1400" dirty="0"/>
              <a:t>registro actualizado de </a:t>
            </a:r>
            <a:r>
              <a:rPr lang="es-ES" sz="1400" i="1" dirty="0"/>
              <a:t>stakeholders</a:t>
            </a:r>
            <a:r>
              <a:rPr lang="es-ES" sz="1400" dirty="0"/>
              <a:t> y sus roles, </a:t>
            </a:r>
            <a:r>
              <a:rPr lang="es-ES" sz="1400" i="1" dirty="0"/>
              <a:t>backlog</a:t>
            </a:r>
            <a:r>
              <a:rPr lang="es-ES" sz="1400" dirty="0"/>
              <a:t> del producto actualizado y validado, retroalimentación y comentarios de los </a:t>
            </a:r>
            <a:r>
              <a:rPr lang="es-ES" sz="1400" i="1" dirty="0"/>
              <a:t>stakeholders, </a:t>
            </a:r>
            <a:r>
              <a:rPr lang="es-ES" sz="1400" dirty="0"/>
              <a:t>acuerdos y compromisos alcanzados, versiones del software entregadas.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580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BA49BD5A-051D-3335-B3C5-B2D5543834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Identificación y consecución del compromiso de los </a:t>
            </a:r>
            <a:r>
              <a:rPr lang="es-PE" i="1" dirty="0"/>
              <a:t>stakeholders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2467186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Desarrollo en espiral ágil</a:t>
            </a:r>
          </a:p>
          <a:p>
            <a:r>
              <a:rPr lang="es-ES" dirty="0"/>
              <a:t>Se combina con la gestión de riesgos y la adaptación continua del alcance.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y análisis de stakeholders, evaluación y comunicación de los riesgos identificados, colaboración con los </a:t>
            </a:r>
            <a:r>
              <a:rPr lang="es-ES" sz="1400" i="1" dirty="0"/>
              <a:t>stakeholders</a:t>
            </a:r>
            <a:r>
              <a:rPr lang="es-ES" sz="1400" dirty="0"/>
              <a:t> en la toma de decisiones y la adaptación del plan, retroalimentación y adaptación del producto en función de las necesidades y expectativas de los </a:t>
            </a:r>
            <a:r>
              <a:rPr lang="es-ES" sz="1400" i="1" dirty="0"/>
              <a:t>stakeholders.</a:t>
            </a:r>
            <a:endParaRPr lang="es-ES" i="1" dirty="0"/>
          </a:p>
          <a:p>
            <a:r>
              <a:rPr lang="es-ES" dirty="0"/>
              <a:t>Entregables: </a:t>
            </a:r>
            <a:r>
              <a:rPr lang="es-ES" sz="1400" dirty="0"/>
              <a:t>registro actualizado de </a:t>
            </a:r>
            <a:r>
              <a:rPr lang="es-ES" sz="1400" i="1" dirty="0"/>
              <a:t>stakeholders</a:t>
            </a:r>
            <a:r>
              <a:rPr lang="es-ES" sz="1400" dirty="0"/>
              <a:t> y sus roles, evaluación y comunicación de riesgos, acuerdos y compromisos alcanzados, retroalimentación y comentarios de los </a:t>
            </a:r>
            <a:r>
              <a:rPr lang="es-ES" sz="1400" i="1" dirty="0"/>
              <a:t>stakeholders</a:t>
            </a:r>
            <a:r>
              <a:rPr lang="es-ES" sz="1400" dirty="0"/>
              <a:t>, versiones del software entregadas y actualizadas.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04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E500646E-04BC-26CF-EE9B-512AD26BA2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13263" y="824500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Gobierno y control del trabajo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44950" cy="3480237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 cascada</a:t>
            </a:r>
          </a:p>
          <a:p>
            <a:r>
              <a:rPr lang="es-ES" dirty="0"/>
              <a:t>Se enfocan en la planificación y seguimiento del proyecto.</a:t>
            </a:r>
          </a:p>
          <a:p>
            <a:r>
              <a:rPr lang="es-ES" dirty="0"/>
              <a:t>Actividades: </a:t>
            </a:r>
            <a:r>
              <a:rPr lang="es-ES" sz="1400" dirty="0"/>
              <a:t>establecimiento de un plan de proyecto detallado, asignación de tareas y responsabilidades, seguimiento del progreso según el plan, monitoreo del cumplimiento de hitos y entregables, revisión y control de calidad del trabajo realizado.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plan de proyecto detallado, matriz de responsabilidades, informes de seguimiento y avance del proyecto, entregables y productos del software según lo programado, informes de control de calidad.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937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9648C71E-1AEC-BB1A-7B9A-0EF291CD23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88764" y="824500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Gobierno y control del trabajo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420451" cy="3731625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Metodologías iterativas</a:t>
            </a:r>
          </a:p>
          <a:p>
            <a:r>
              <a:rPr lang="es-ES" dirty="0"/>
              <a:t>Se realizan de manera colaborativa y flexible en cada iteración.</a:t>
            </a:r>
          </a:p>
          <a:p>
            <a:r>
              <a:rPr lang="es-ES" dirty="0"/>
              <a:t>Actividades: </a:t>
            </a:r>
            <a:r>
              <a:rPr lang="es-ES" sz="1400" dirty="0"/>
              <a:t>planificación de iteraciones, asignación de tareas y compromisos en cada iteración, seguimiento diario del progreso mediante reuniones diarias (Daily Scrum), monitoreo del cumplimiento de objetivos y </a:t>
            </a:r>
            <a:r>
              <a:rPr lang="es-ES" sz="1400" i="1" dirty="0"/>
              <a:t>backlog</a:t>
            </a:r>
            <a:r>
              <a:rPr lang="es-ES" sz="1400" dirty="0"/>
              <a:t> del producto, identificación y resolución de impedimentos.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plan de iteraciones, tableros Kanban o Scrum actualizados, informes de seguimiento del progreso de las iteraciones, versiones entregadas del software, resolución de impedimentos registrados.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7300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23A2E12C-19B6-E3EB-4518-C0BE9FF52A9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80375" y="804863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Gobierno y control del trabajo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321801" cy="3421514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Modelo en espiral</a:t>
            </a:r>
          </a:p>
          <a:p>
            <a:r>
              <a:rPr lang="es-ES" dirty="0"/>
              <a:t>Se integran con las fases de análisis de riesgos y planificación.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y análisis continuo de riesgos, planificación y ejecución de las fases de cada ciclo, monitoreo del progreso y control de riesgos, revisión y adaptación del plan en función de los resultados y la retroalimentación obtenida.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informes de riesgos actualizados, versiones entregadas del software en cada ciclo, informes de progreso y control de riesgos, actualizaciones del plan de proyecto.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690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9721C2DB-AEBA-71A9-E5D1-29E60C12E4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46819" y="838459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Gobierno y control del trabajo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78506" cy="3446681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Métodos ágiles</a:t>
            </a:r>
          </a:p>
          <a:p>
            <a:r>
              <a:rPr lang="es-ES" dirty="0"/>
              <a:t>Se basan en la colaboración y la transparencia.</a:t>
            </a:r>
          </a:p>
          <a:p>
            <a:r>
              <a:rPr lang="es-ES" dirty="0"/>
              <a:t>Actividades: </a:t>
            </a:r>
            <a:r>
              <a:rPr lang="es-ES" sz="1400" dirty="0"/>
              <a:t>planificación de </a:t>
            </a:r>
            <a:r>
              <a:rPr lang="es-ES" sz="1400" i="1" dirty="0"/>
              <a:t>sprints</a:t>
            </a:r>
            <a:r>
              <a:rPr lang="es-ES" sz="1400" dirty="0"/>
              <a:t> o ciclos de trabajo, seguimiento diario del progreso mediante reuniones diarias (Daily Scrum), revisión y adaptación del backlog del producto, monitoreo de la velocidad del equipo, control de calidad del trabajo realizado.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plan de </a:t>
            </a:r>
            <a:r>
              <a:rPr lang="es-ES" sz="1400" i="1" dirty="0"/>
              <a:t>sprints</a:t>
            </a:r>
            <a:r>
              <a:rPr lang="es-ES" sz="1400" dirty="0"/>
              <a:t> o ciclos de trabajo, tableros Kanban o Scrum actualizados, informes de seguimiento del progreso de los </a:t>
            </a:r>
            <a:r>
              <a:rPr lang="es-ES" sz="1400" i="1" dirty="0"/>
              <a:t>sprints</a:t>
            </a:r>
            <a:r>
              <a:rPr lang="es-ES" sz="1400" dirty="0"/>
              <a:t>, versiones entregadas del software, informes de control de calidad.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808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026A82D9-1C9A-8832-BBC2-A433BE16B80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13263" y="804863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Gobierno y control del trabajo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279856" cy="3471848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Desarrollo en espiral ágil</a:t>
            </a:r>
          </a:p>
          <a:p>
            <a:r>
              <a:rPr lang="es-ES" dirty="0"/>
              <a:t>Se combinan con la gestión de riesgos y la adaptación continua.</a:t>
            </a:r>
          </a:p>
          <a:p>
            <a:r>
              <a:rPr lang="es-ES" dirty="0"/>
              <a:t>Actividades: </a:t>
            </a:r>
            <a:r>
              <a:rPr lang="es-ES" sz="1400" dirty="0"/>
              <a:t>evaluación continua de riesgos, planificación y ejecución de las fases de cada ciclo, monitoreo del progreso y control de riesgos, revisión y adaptación del plan en función de los resultados y la retroalimentación obtenida.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informes de riesgos actualizados, versiones entregadas del software en cada ciclo, informes de progreso y control de riesgos, actualizaciones del plan de proyecto.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335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4991A84E-FF83-A061-F418-839232F6D2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930708" y="824500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Gestión del conocimiento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313412" cy="3751262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 cascada</a:t>
            </a:r>
          </a:p>
          <a:p>
            <a:r>
              <a:rPr lang="es-ES" dirty="0"/>
              <a:t>Se centran en la documentación y transferencia de información relevante.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de los conocimientos críticos para el proyecto, documentación de requisitos, diseño y especificaciones técnicas, desarrollo de manuales de usuario y guías de implementación, capacitación y transferencia de conocimientos.</a:t>
            </a:r>
            <a:endParaRPr lang="es-ES" dirty="0"/>
          </a:p>
          <a:p>
            <a:r>
              <a:rPr lang="es-ES" dirty="0"/>
              <a:t>Entregables: d</a:t>
            </a:r>
            <a:r>
              <a:rPr lang="es-ES" sz="1400" dirty="0"/>
              <a:t>ocumentos de requisitos, diseño y especificaciones técnicas, manuales de usuario, guías de implementación, materiales de capacitación y documentación relacionada.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662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7614CC52-BFAA-6B45-A7CF-4DD425EA726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972654" y="824500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Gestión del conocimiento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88913" cy="3648017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Metodologías iterativas</a:t>
            </a:r>
          </a:p>
          <a:p>
            <a:r>
              <a:rPr lang="es-ES" dirty="0"/>
              <a:t>Se llevan a cabo de manera continua y colaborativa.</a:t>
            </a:r>
          </a:p>
          <a:p>
            <a:r>
              <a:rPr lang="es-ES" dirty="0"/>
              <a:t>Actividades: </a:t>
            </a:r>
            <a:r>
              <a:rPr lang="es-ES" sz="1400" dirty="0"/>
              <a:t>documentación de los requisitos y especificaciones en cada iteración, creación de prototipos y pruebas, revisión y actualización de la documentación a medida que se obtiene retroalimentación de los usuarios, sesiones de revisión y retroalimentación con el equipo y los </a:t>
            </a:r>
            <a:r>
              <a:rPr lang="es-ES" sz="1400" i="1" dirty="0"/>
              <a:t>stakeholders.</a:t>
            </a:r>
            <a:endParaRPr lang="es-ES" i="1" dirty="0"/>
          </a:p>
          <a:p>
            <a:r>
              <a:rPr lang="es-ES" dirty="0"/>
              <a:t>Entregables: </a:t>
            </a:r>
            <a:r>
              <a:rPr lang="es-ES" sz="1400" dirty="0"/>
              <a:t>documentos actualizados de requisitos y especificaciones, prototipos funcionales, documentación de pruebas, informes de retroalimentación y revisiones.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915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14A2862A-E687-2F4D-24CF-112E734393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955876" y="824500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Gestión del conocimiento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346968" cy="3488626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Modelo en espiral</a:t>
            </a:r>
          </a:p>
          <a:p>
            <a:r>
              <a:rPr lang="es-ES" dirty="0"/>
              <a:t>Se integran con las fases de análisis y diseño, y se enfocan en el aprendizaje continuo y la mejora.</a:t>
            </a:r>
          </a:p>
          <a:p>
            <a:r>
              <a:rPr lang="es-ES" dirty="0"/>
              <a:t>Actividades: </a:t>
            </a:r>
            <a:r>
              <a:rPr lang="es-ES" sz="1400" dirty="0"/>
              <a:t>documentación detallada de los requisitos y riesgos identificados, análisis y diseño iterativo, revisión y actualización de la documentación a medida que se avanza en cada ciclo, captura y documentación de lecciones aprendidas.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documentos actualizados de requisitos y riesgos, documentos de análisis y diseño, informes de lecciones aprendidas y mejoras recomendadas.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993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C5B06660-6427-4802-64D4-B5E3D8A1B57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905541" y="824500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Gestión del conocimiento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21801" cy="3681573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Métodos ágiles</a:t>
            </a:r>
          </a:p>
          <a:p>
            <a:r>
              <a:rPr lang="es-ES" dirty="0"/>
              <a:t>Se basan en la colaboración, la comunicación y la transferencia de conocimientos en todo el equipo.</a:t>
            </a:r>
          </a:p>
          <a:p>
            <a:r>
              <a:rPr lang="es-ES" dirty="0"/>
              <a:t>Actividades: </a:t>
            </a:r>
            <a:r>
              <a:rPr lang="es-ES" sz="1400" dirty="0"/>
              <a:t>sesiones de revisión y planificación conjunta, documentación de los requisitos y criterios de aceptación, desarrollo y mantenimiento de documentación técnica, colaboración y transferencia de conocimientos entre los miembros del equipo.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documentos de requisitos y criterios de aceptación, documentación técnica actualizada, notas de reuniones y sesiones de planificación, conocimiento compartido dentro del equipo.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037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52FD0EC5-B0E5-37D5-2710-A4A4B8434F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939098" y="816438"/>
            <a:ext cx="4086000" cy="4446000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Gestión del conocimiento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88913" cy="4111625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Desarrollo en espiral ágil</a:t>
            </a:r>
          </a:p>
          <a:p>
            <a:r>
              <a:rPr lang="es-ES" dirty="0"/>
              <a:t>Se combinan con el enfoque iterativo y la gestión de riesgos.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y documentación de riesgos, documentación de requisitos y especificaciones en cada ciclo, desarrollo de prototipos y pruebas, revisión y actualización de la documentación a medida que se obtiene retroalimentación, captura y documentación de lecciones aprendidas.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documentos actualizados de requisitos y especificaciones, prototipos funcionales, documentación de pruebas, informes de retroalimentación y revisiones, informes de lecciones aprendidas y mejoras recomendadas.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072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9004A675-6081-9F92-29CB-EBBFB82E8E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Monitoreo del proyecto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4"/>
            <a:ext cx="8207375" cy="2056125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 cascada</a:t>
            </a:r>
          </a:p>
          <a:p>
            <a:r>
              <a:rPr lang="es-ES" dirty="0"/>
              <a:t>Se realiza principalmente a través del seguimiento del progreso del proyecto y la evaluación de los entregables en cada etapa.</a:t>
            </a:r>
          </a:p>
          <a:p>
            <a:r>
              <a:rPr lang="es-ES" dirty="0"/>
              <a:t>Actividades: </a:t>
            </a:r>
            <a:r>
              <a:rPr lang="es-ES" sz="1400" dirty="0"/>
              <a:t>seguimiento del avance del proyecto, revisión y verificación de los entregables, evaluación del cumplimiento de los hitos y etapas del proyecto, identificación y gestión de riesgos.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plan de proyecto, documentos de especificación de requisitos, diseño de sistemas, código fuente, documentación técnica, entregables de pruebas y resultados de pruebas, versión final del software.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547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6ADE7F60-0A69-CAB9-9A94-2C2FC7C719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Monitoreo del proyecto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4"/>
            <a:ext cx="8207375" cy="2089681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Metodologías iterativas</a:t>
            </a:r>
          </a:p>
          <a:p>
            <a:r>
              <a:rPr lang="es-ES" dirty="0"/>
              <a:t>Se lleva a cabo de manera continua y frecuente a través de los ciclos de desarrollo.</a:t>
            </a:r>
          </a:p>
          <a:p>
            <a:r>
              <a:rPr lang="es-ES" dirty="0"/>
              <a:t>Actividades: </a:t>
            </a:r>
            <a:r>
              <a:rPr lang="es-ES" sz="1400" dirty="0"/>
              <a:t>revisiones periódicas de estado, reuniones de seguimiento diarias, revisión y adaptación de los requisitos y planificación del producto, monitoreo del progreso del equipo, identificación y resolución de impedimentos.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incrementos de software funcional, informes de avance, tableros Kanban o Scrum, gráficos de seguimiento de velocidad, retroalimentación del cliente, lista de requisitos actualizada</a:t>
            </a:r>
            <a:r>
              <a:rPr lang="es-ES" sz="1400" i="1" dirty="0"/>
              <a:t>.</a:t>
            </a: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val="50145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5C3B28C9-31CD-0825-78E5-1C273B981BA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Monitoreo del proyecto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4"/>
            <a:ext cx="8207375" cy="2324573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Modelo en espiral</a:t>
            </a:r>
          </a:p>
          <a:p>
            <a:r>
              <a:rPr lang="es-ES" dirty="0"/>
              <a:t>Se lleva a cabo en cada ciclo de desarrollo, centrándose en la evaluación de riesgos y la toma de decisiones basadas en la información obtenida.</a:t>
            </a:r>
          </a:p>
          <a:p>
            <a:r>
              <a:rPr lang="es-ES" dirty="0"/>
              <a:t>Actividades: </a:t>
            </a:r>
            <a:r>
              <a:rPr lang="es-ES" sz="1400" dirty="0"/>
              <a:t>identificación y análisis de riesgos, evaluación de resultados de las iteraciones, revisión de objetivos y requisitos, monitoreo y adaptación del plan del proyecto, revisión de la retroalimentación del cliente y del equipo.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informes de riesgos actualizados, informes de progreso del proyecto, documentación de lecciones aprendidas, evaluación de riesgos actualizada, versión actualizada del software.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882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F39864EA-9D75-E3AA-45B6-587831D85D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Monitoreo del proyecto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2332962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Métodos ágiles</a:t>
            </a:r>
          </a:p>
          <a:p>
            <a:r>
              <a:rPr lang="es-ES" dirty="0"/>
              <a:t>Es una actividad integral y continua, con enfoque en la transparencia y la mejora continua.</a:t>
            </a:r>
          </a:p>
          <a:p>
            <a:r>
              <a:rPr lang="es-ES" dirty="0"/>
              <a:t>Actividades: </a:t>
            </a:r>
            <a:r>
              <a:rPr lang="es-ES" sz="1400" dirty="0"/>
              <a:t>reuniones diarias de seguimiento (stand-ups), revisión del </a:t>
            </a:r>
            <a:r>
              <a:rPr lang="es-ES" sz="1400" i="1" dirty="0"/>
              <a:t>backlog</a:t>
            </a:r>
            <a:r>
              <a:rPr lang="es-ES" sz="1400" dirty="0"/>
              <a:t> del producto, revisión y adaptación de los requisitos, monitoreo de métricas ágiles (velocidad, tiempo de ciclo), evaluación de la satisfacción del cliente y del equipo.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incrementos de software funcional en cada iteración o </a:t>
            </a:r>
            <a:r>
              <a:rPr lang="es-ES" sz="1400" i="1" dirty="0"/>
              <a:t>sprint, </a:t>
            </a:r>
            <a:r>
              <a:rPr lang="es-ES" sz="1400" dirty="0"/>
              <a:t>tableros de seguimiento (como tableros Kanban o Scrum), informes de progreso del proyecto, retroalimentación del cliente y del equipo, versiones actualizadas de la documentación del producto.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4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9588D51D-B794-378A-4D88-12FEE64094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9B0B11-0C23-65BE-D6B4-2444E253A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Monitoreo del proyecto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PLANEACIÓN Y MONITOREO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100D00-FC2D-DC45-ED9B-1BEBDAF807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2316184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1F85A6"/>
                </a:solidFill>
              </a:rPr>
              <a:t>Desarrollo en espiral ágil</a:t>
            </a:r>
          </a:p>
          <a:p>
            <a:r>
              <a:rPr lang="es-ES" dirty="0"/>
              <a:t>Combina los aspectos del enfoque en espiral y las prácticas ágiles, centrándose en la evaluación de riesgos y la adaptación continua.</a:t>
            </a:r>
          </a:p>
          <a:p>
            <a:r>
              <a:rPr lang="es-ES" dirty="0"/>
              <a:t>Actividades: </a:t>
            </a:r>
            <a:r>
              <a:rPr lang="es-ES" sz="1400" dirty="0"/>
              <a:t>evaluación continua de riesgos, revisión y adaptación de los requisitos y planificación del proyecto, monitoreo del progreso y del cumplimiento de los objetivos, identificación y resolución de impedimentos, revisión de la retroalimentación del cliente y del equipo.</a:t>
            </a:r>
            <a:endParaRPr lang="es-ES" dirty="0"/>
          </a:p>
          <a:p>
            <a:r>
              <a:rPr lang="es-ES" dirty="0"/>
              <a:t>Entregables: </a:t>
            </a:r>
            <a:r>
              <a:rPr lang="es-ES" sz="1400" dirty="0"/>
              <a:t>informes de riesgos actualizados, informes de progreso del proyecto, versiones iterativas del software, documentación actualizada, evaluación de riesgos y mitigación actualizada.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0834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500AF3-50A8-4251-BC95-6B4FF9C465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909"/>
            <a:ext cx="7713398" cy="2808812"/>
          </a:xfrm>
        </p:spPr>
        <p:txBody>
          <a:bodyPr/>
          <a:lstStyle/>
          <a:p>
            <a:r>
              <a:rPr lang="es-ES" dirty="0"/>
              <a:t>Una metodología de desarrollo de software es un conjunto de prácticas, técnicas y herramientas utilizadas por los equipos de desarrollo de software para planificar, diseñar, construir, probar y entregar software de alta calidad de manera eficiente y efectiva.</a:t>
            </a:r>
          </a:p>
          <a:p>
            <a:r>
              <a:rPr lang="es-ES" dirty="0"/>
              <a:t>Las metodologías de desarrollo de software tradicionales se caracterizan por establecer de forma muy rígida los requerimientos y procesos al inicio de los proyectos.</a:t>
            </a:r>
          </a:p>
          <a:p>
            <a:r>
              <a:rPr lang="es-ES" dirty="0"/>
              <a:t>Las metodologías de desarrollo de software ágiles se fundamentan en el enfoque incremental, en el cual se añaden nuevas funcionalidades a la aplicación final en cada ciclo de desarrollo.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435A8C-18F1-4C11-BC95-3930F36C4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err="1"/>
              <a:t>Rasmusson</a:t>
            </a:r>
            <a:r>
              <a:rPr lang="en-US" dirty="0"/>
              <a:t>, J. (2010). The Agile Samurai: How Agile Masters Deliver Great Software. Pragmatic Bookshelf.</a:t>
            </a:r>
          </a:p>
          <a:p>
            <a:pPr>
              <a:lnSpc>
                <a:spcPct val="100000"/>
              </a:lnSpc>
            </a:pPr>
            <a:r>
              <a:rPr lang="en-US" dirty="0"/>
              <a:t>Sutherland, J. (2014). Scrum: The Art of Doing Twice the Work in Half the Time. Currency.</a:t>
            </a:r>
          </a:p>
          <a:p>
            <a:pPr>
              <a:lnSpc>
                <a:spcPct val="100000"/>
              </a:lnSpc>
            </a:pPr>
            <a:r>
              <a:rPr lang="es-ES" dirty="0"/>
              <a:t>Agile Alliance. (s.f.). Recuperado de https://www.agilealliance.org/</a:t>
            </a:r>
          </a:p>
          <a:p>
            <a:pPr>
              <a:lnSpc>
                <a:spcPct val="100000"/>
              </a:lnSpc>
            </a:pPr>
            <a:r>
              <a:rPr lang="es-ES" dirty="0" err="1"/>
              <a:t>Atlassian</a:t>
            </a:r>
            <a:r>
              <a:rPr lang="es-ES" dirty="0"/>
              <a:t>. (s.f.). Agile </a:t>
            </a:r>
            <a:r>
              <a:rPr lang="es-ES" dirty="0" err="1"/>
              <a:t>Resources</a:t>
            </a:r>
            <a:r>
              <a:rPr lang="es-ES" dirty="0"/>
              <a:t>. Recuperado de https://www.atlassian.com/agile</a:t>
            </a:r>
          </a:p>
          <a:p>
            <a:pPr>
              <a:lnSpc>
                <a:spcPct val="100000"/>
              </a:lnSpc>
            </a:pPr>
            <a:r>
              <a:rPr lang="es-ES" dirty="0" err="1"/>
              <a:t>Mayda</a:t>
            </a:r>
            <a:r>
              <a:rPr lang="es-ES" dirty="0"/>
              <a:t>, Esteban (2015). Metodologías de desarrollo de software. https://repositorio.uca.edu.ar/bitstream/123456789/522/1/metodologias-desarrollo-software.pdf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12757</TotalTime>
  <Words>5090</Words>
  <Application>Microsoft Office PowerPoint</Application>
  <PresentationFormat>Presentación en pantalla (16:10)</PresentationFormat>
  <Paragraphs>473</Paragraphs>
  <Slides>57</Slides>
  <Notes>57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3" baseType="lpstr">
      <vt:lpstr>Arial</vt:lpstr>
      <vt:lpstr>Calibri</vt:lpstr>
      <vt:lpstr>Delius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858</cp:revision>
  <cp:lastPrinted>2018-01-16T21:42:59Z</cp:lastPrinted>
  <dcterms:created xsi:type="dcterms:W3CDTF">2016-10-06T14:52:02Z</dcterms:created>
  <dcterms:modified xsi:type="dcterms:W3CDTF">2023-07-05T23:06:56Z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