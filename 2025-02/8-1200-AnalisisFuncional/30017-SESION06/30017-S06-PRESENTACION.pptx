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6.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7.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8.xml" ContentType="application/vnd.openxmlformats-officedocument.presentationml.tags+xml"/>
  <Override PartName="/ppt/notesSlides/notesSlide48.xml" ContentType="application/vnd.openxmlformats-officedocument.presentationml.notesSlide+xml"/>
  <Override PartName="/ppt/tags/tag9.xml" ContentType="application/vnd.openxmlformats-officedocument.presentationml.tags+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81" r:id="rId2"/>
  </p:sldMasterIdLst>
  <p:notesMasterIdLst>
    <p:notesMasterId r:id="rId52"/>
  </p:notesMasterIdLst>
  <p:handoutMasterIdLst>
    <p:handoutMasterId r:id="rId53"/>
  </p:handoutMasterIdLst>
  <p:sldIdLst>
    <p:sldId id="418" r:id="rId3"/>
    <p:sldId id="337" r:id="rId4"/>
    <p:sldId id="315" r:id="rId5"/>
    <p:sldId id="443" r:id="rId6"/>
    <p:sldId id="352" r:id="rId7"/>
    <p:sldId id="451" r:id="rId8"/>
    <p:sldId id="452" r:id="rId9"/>
    <p:sldId id="453" r:id="rId10"/>
    <p:sldId id="454" r:id="rId11"/>
    <p:sldId id="455" r:id="rId12"/>
    <p:sldId id="456" r:id="rId13"/>
    <p:sldId id="457" r:id="rId14"/>
    <p:sldId id="458" r:id="rId15"/>
    <p:sldId id="459" r:id="rId16"/>
    <p:sldId id="460" r:id="rId17"/>
    <p:sldId id="486" r:id="rId18"/>
    <p:sldId id="445" r:id="rId19"/>
    <p:sldId id="461" r:id="rId20"/>
    <p:sldId id="462" r:id="rId21"/>
    <p:sldId id="463" r:id="rId22"/>
    <p:sldId id="464" r:id="rId23"/>
    <p:sldId id="465" r:id="rId24"/>
    <p:sldId id="466" r:id="rId25"/>
    <p:sldId id="467" r:id="rId26"/>
    <p:sldId id="468" r:id="rId27"/>
    <p:sldId id="469" r:id="rId28"/>
    <p:sldId id="470" r:id="rId29"/>
    <p:sldId id="471" r:id="rId30"/>
    <p:sldId id="473" r:id="rId31"/>
    <p:sldId id="449" r:id="rId32"/>
    <p:sldId id="487" r:id="rId33"/>
    <p:sldId id="446" r:id="rId34"/>
    <p:sldId id="476" r:id="rId35"/>
    <p:sldId id="477" r:id="rId36"/>
    <p:sldId id="478" r:id="rId37"/>
    <p:sldId id="479" r:id="rId38"/>
    <p:sldId id="480" r:id="rId39"/>
    <p:sldId id="474" r:id="rId40"/>
    <p:sldId id="450" r:id="rId41"/>
    <p:sldId id="488" r:id="rId42"/>
    <p:sldId id="447" r:id="rId43"/>
    <p:sldId id="481" r:id="rId44"/>
    <p:sldId id="482" r:id="rId45"/>
    <p:sldId id="483" r:id="rId46"/>
    <p:sldId id="484" r:id="rId47"/>
    <p:sldId id="485" r:id="rId48"/>
    <p:sldId id="475" r:id="rId49"/>
    <p:sldId id="303" r:id="rId50"/>
    <p:sldId id="448" r:id="rId51"/>
  </p:sldIdLst>
  <p:sldSz cx="9144000" cy="5715000" type="screen16x10"/>
  <p:notesSz cx="6797675" cy="9926638"/>
  <p:custDataLst>
    <p:tags r:id="rId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85A6"/>
    <a:srgbClr val="15BDAD"/>
    <a:srgbClr val="558ED5"/>
    <a:srgbClr val="48C2BB"/>
    <a:srgbClr val="F1D156"/>
    <a:srgbClr val="276B7D"/>
    <a:srgbClr val="F1FDC3"/>
    <a:srgbClr val="9CC606"/>
    <a:srgbClr val="E2F6F1"/>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39" autoAdjust="0"/>
    <p:restoredTop sz="91158" autoAdjust="0"/>
  </p:normalViewPr>
  <p:slideViewPr>
    <p:cSldViewPr snapToGrid="0" snapToObjects="1" showGuides="1">
      <p:cViewPr varScale="1">
        <p:scale>
          <a:sx n="94" d="100"/>
          <a:sy n="94" d="100"/>
        </p:scale>
        <p:origin x="1416" y="77"/>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20" d="100"/>
        <a:sy n="120" d="100"/>
      </p:scale>
      <p:origin x="0" y="-9462"/>
    </p:cViewPr>
  </p:sorterViewPr>
  <p:notesViewPr>
    <p:cSldViewPr snapToGrid="0" snapToObjects="1" showGuides="1">
      <p:cViewPr varScale="1">
        <p:scale>
          <a:sx n="48" d="100"/>
          <a:sy n="48" d="100"/>
        </p:scale>
        <p:origin x="2940" y="60"/>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06/07/2023</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6/07/2023</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 typeface="Arial" panose="020B0604020202020204" pitchFamily="34" charset="0"/>
              <a:buNone/>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2879386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3650582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6700CA-E45F-416D-B659-25554F846B43}" type="slidenum">
              <a:rPr kumimoji="0" lang="es-P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s-P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53347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3393554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Un problema encontrado en la organización, como una queja de un cliente, una pérdida de ingresos o una nueva oportunidad de mercado, generalmente desencadena la evaluación de una necesidad empresarial.</a:t>
            </a:r>
            <a:endParaRPr lang="es-P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1541745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estructura organizativa define las relaciones formales entre las personas que trabajan en la empresa. </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1171976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i="0" dirty="0"/>
              <a:t>Una vista basada en la capacidad es útil en esta situación, porque las capacidades generalmente se organizan en una jerarquía funcional con relaciones con otras capacidades, lo que facilita la identificación de brechas.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i="0" dirty="0"/>
              <a:t>Una vista basada en procesos es útil en esta situación, porque los procesos se organizan de forma integral en toda la empresa para brindar valor a sus clientes, lo que facilita garantizar que un cambio de hecho aumente el rendimiento.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4070219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21925772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3155353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40480608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8275475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23346733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23421296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6700CA-E45F-416D-B659-25554F846B43}" type="slidenum">
              <a:rPr kumimoji="0" lang="es-P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s-P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5691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19231280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Las metas y objetivos de negocio describen los fines que la organización busca alcanzar.</a:t>
            </a:r>
          </a:p>
          <a:p>
            <a:r>
              <a:rPr lang="es-ES" dirty="0"/>
              <a:t>Las metas y los objetivos pueden relacionarse con los cambios que la organización desea lograr o las condiciones actuales que desea mantener.</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Un objetivo puede ser "aumentar el número de clientes de altos ingresos" y luego refinarse aún más en un objetivo de "aumentar el número de clientes de altos ingresos en el grupo de edad de 30 a 45 años en un 30 % dentro de los 6 meses".</a:t>
            </a:r>
          </a:p>
          <a:p>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38209732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34325387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31403265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 posible que los elementos de la estructura y la cultura organizacionales deban cambiar para respaldar el estado futuro.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23274844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12278108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Las restricciones técnicas incluyen cualquier estándar de arquitectura de TI que deba seguirse.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23114824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Si las políticas actuales son insuficientes para satisfacer la necesidad comercial, el analista comercial identifica los cambios necesarios para el estado futuro deseado.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42273078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17645900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26</a:t>
            </a:fld>
            <a:endParaRPr lang="es-PE"/>
          </a:p>
        </p:txBody>
      </p:sp>
    </p:spTree>
    <p:extLst>
      <p:ext uri="{BB962C8B-B14F-4D97-AF65-F5344CB8AC3E}">
        <p14:creationId xmlns:p14="http://schemas.microsoft.com/office/powerpoint/2010/main" val="8764742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A menudo será difícil o imposible demostrar que la entrega de una nueva capacidad satisfará una necesidad empresarial, incluso en los casos en que parezca razonable suponer que la nueva capacidad tendrá el efecto deseado.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27</a:t>
            </a:fld>
            <a:endParaRPr lang="es-PE"/>
          </a:p>
        </p:txBody>
      </p:sp>
    </p:spTree>
    <p:extLst>
      <p:ext uri="{BB962C8B-B14F-4D97-AF65-F5344CB8AC3E}">
        <p14:creationId xmlns:p14="http://schemas.microsoft.com/office/powerpoint/2010/main" val="19918499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También es posible que el estado futuro represente una disminución en el valor del estado actual para algunos </a:t>
            </a:r>
            <a:r>
              <a:rPr lang="es-ES" i="1" dirty="0"/>
              <a:t>stakeholders</a:t>
            </a:r>
            <a:r>
              <a:rPr lang="es-ES" dirty="0"/>
              <a:t> o incluso para la empresa en su conjunto. Es posible que sea necesario abordar nuevas regulaciones o una mayor competencia, por ejemplo, para que la empresa siga operando, pero aun así podría disminuir el valor total capturado.</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28</a:t>
            </a:fld>
            <a:endParaRPr lang="es-PE"/>
          </a:p>
        </p:txBody>
      </p:sp>
    </p:spTree>
    <p:extLst>
      <p:ext uri="{BB962C8B-B14F-4D97-AF65-F5344CB8AC3E}">
        <p14:creationId xmlns:p14="http://schemas.microsoft.com/office/powerpoint/2010/main" val="36330860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29</a:t>
            </a:fld>
            <a:endParaRPr lang="es-PE"/>
          </a:p>
        </p:txBody>
      </p:sp>
    </p:spTree>
    <p:extLst>
      <p:ext uri="{BB962C8B-B14F-4D97-AF65-F5344CB8AC3E}">
        <p14:creationId xmlns:p14="http://schemas.microsoft.com/office/powerpoint/2010/main" val="1539867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30</a:t>
            </a:fld>
            <a:endParaRPr lang="es-PE"/>
          </a:p>
        </p:txBody>
      </p:sp>
    </p:spTree>
    <p:extLst>
      <p:ext uri="{BB962C8B-B14F-4D97-AF65-F5344CB8AC3E}">
        <p14:creationId xmlns:p14="http://schemas.microsoft.com/office/powerpoint/2010/main" val="35603717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6700CA-E45F-416D-B659-25554F846B43}" type="slidenum">
              <a:rPr kumimoji="0" lang="es-P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s-P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357660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32</a:t>
            </a:fld>
            <a:endParaRPr lang="es-PE"/>
          </a:p>
        </p:txBody>
      </p:sp>
    </p:spTree>
    <p:extLst>
      <p:ext uri="{BB962C8B-B14F-4D97-AF65-F5344CB8AC3E}">
        <p14:creationId xmlns:p14="http://schemas.microsoft.com/office/powerpoint/2010/main" val="35481544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Al evaluar un riesgo, existirá incertidumbre sobre la probabilidad de que ocurra y el impacto si ocurre.</a:t>
            </a:r>
          </a:p>
          <a:p>
            <a:r>
              <a:rPr lang="es-ES" dirty="0"/>
              <a:t>Los analistas de negocio colaboran con los </a:t>
            </a:r>
            <a:r>
              <a:rPr lang="es-ES" i="1" dirty="0"/>
              <a:t>stakeholders</a:t>
            </a:r>
            <a:r>
              <a:rPr lang="es-ES" dirty="0"/>
              <a:t> para evaluar los riesgos en función de la comprensión actual.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33</a:t>
            </a:fld>
            <a:endParaRPr lang="es-PE"/>
          </a:p>
        </p:txBody>
      </p:sp>
    </p:spTree>
    <p:extLst>
      <p:ext uri="{BB962C8B-B14F-4D97-AF65-F5344CB8AC3E}">
        <p14:creationId xmlns:p14="http://schemas.microsoft.com/office/powerpoint/2010/main" val="11967614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34</a:t>
            </a:fld>
            <a:endParaRPr lang="es-PE"/>
          </a:p>
        </p:txBody>
      </p:sp>
    </p:spTree>
    <p:extLst>
      <p:ext uri="{BB962C8B-B14F-4D97-AF65-F5344CB8AC3E}">
        <p14:creationId xmlns:p14="http://schemas.microsoft.com/office/powerpoint/2010/main" val="42200692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riesgos se expresan como condiciones que aumentan la probabilidad o la gravedad de un impacto negativo en el valor.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35</a:t>
            </a:fld>
            <a:endParaRPr lang="es-PE"/>
          </a:p>
        </p:txBody>
      </p:sp>
    </p:spTree>
    <p:extLst>
      <p:ext uri="{BB962C8B-B14F-4D97-AF65-F5344CB8AC3E}">
        <p14:creationId xmlns:p14="http://schemas.microsoft.com/office/powerpoint/2010/main" val="35126084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Si hay poca tolerancia al riesgo, puede haber más esfuerzos en las estrategias de evitación, transferencia o mitigación. Si la tolerancia al riesgo es alta, es probable que se acepten más riesgos. Por lo general, los riesgos de más alto nivel se tratan sin importar el nivel de tolerancia al riesgo.</a:t>
            </a:r>
          </a:p>
          <a:p>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36</a:t>
            </a:fld>
            <a:endParaRPr lang="es-PE"/>
          </a:p>
        </p:txBody>
      </p:sp>
    </p:spTree>
    <p:extLst>
      <p:ext uri="{BB962C8B-B14F-4D97-AF65-F5344CB8AC3E}">
        <p14:creationId xmlns:p14="http://schemas.microsoft.com/office/powerpoint/2010/main" val="11296431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analistas de negocios trabajan con los </a:t>
            </a:r>
            <a:r>
              <a:rPr lang="es-ES" b="0" i="1" dirty="0"/>
              <a:t>stakeholders</a:t>
            </a:r>
            <a:r>
              <a:rPr lang="es-ES" dirty="0"/>
              <a:t> para comprender el nivel de riesgo general y su tolerancia al riesgo.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37</a:t>
            </a:fld>
            <a:endParaRPr lang="es-PE"/>
          </a:p>
        </p:txBody>
      </p:sp>
    </p:spTree>
    <p:extLst>
      <p:ext uri="{BB962C8B-B14F-4D97-AF65-F5344CB8AC3E}">
        <p14:creationId xmlns:p14="http://schemas.microsoft.com/office/powerpoint/2010/main" val="23907754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38</a:t>
            </a:fld>
            <a:endParaRPr lang="es-PE"/>
          </a:p>
        </p:txBody>
      </p:sp>
    </p:spTree>
    <p:extLst>
      <p:ext uri="{BB962C8B-B14F-4D97-AF65-F5344CB8AC3E}">
        <p14:creationId xmlns:p14="http://schemas.microsoft.com/office/powerpoint/2010/main" val="13919389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39</a:t>
            </a:fld>
            <a:endParaRPr lang="es-PE"/>
          </a:p>
        </p:txBody>
      </p:sp>
    </p:spTree>
    <p:extLst>
      <p:ext uri="{BB962C8B-B14F-4D97-AF65-F5344CB8AC3E}">
        <p14:creationId xmlns:p14="http://schemas.microsoft.com/office/powerpoint/2010/main" val="14643051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56700CA-E45F-416D-B659-25554F846B43}" type="slidenum">
              <a:rPr kumimoji="0" lang="es-P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es-P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803650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41</a:t>
            </a:fld>
            <a:endParaRPr lang="es-PE"/>
          </a:p>
        </p:txBody>
      </p:sp>
    </p:spTree>
    <p:extLst>
      <p:ext uri="{BB962C8B-B14F-4D97-AF65-F5344CB8AC3E}">
        <p14:creationId xmlns:p14="http://schemas.microsoft.com/office/powerpoint/2010/main" val="20080048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solución es el resultado de un cambio que permite a una empresa satisfacer una necesidad.</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alcance de la solución puede evolucionar a lo largo de una iniciativa a medida que se descubre más información.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42</a:t>
            </a:fld>
            <a:endParaRPr lang="es-PE"/>
          </a:p>
        </p:txBody>
      </p:sp>
    </p:spTree>
    <p:extLst>
      <p:ext uri="{BB962C8B-B14F-4D97-AF65-F5344CB8AC3E}">
        <p14:creationId xmlns:p14="http://schemas.microsoft.com/office/powerpoint/2010/main" val="26729133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Puede ayudar a identificar las brechas que impiden que la empresa satisfaga las necesidades y alcance los objetivos.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uso de las mismas técnicas para describir los estados actuales y futuros ayuda en el análisis de brechas.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43</a:t>
            </a:fld>
            <a:endParaRPr lang="es-PE"/>
          </a:p>
        </p:txBody>
      </p:sp>
    </p:spTree>
    <p:extLst>
      <p:ext uri="{BB962C8B-B14F-4D97-AF65-F5344CB8AC3E}">
        <p14:creationId xmlns:p14="http://schemas.microsoft.com/office/powerpoint/2010/main" val="10781755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analistas de negocios analizan la empresa para evaluar su capacidad para realizar el cambio y sostener el cambio en el estado futuro.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44</a:t>
            </a:fld>
            <a:endParaRPr lang="es-PE"/>
          </a:p>
        </p:txBody>
      </p:sp>
    </p:spTree>
    <p:extLst>
      <p:ext uri="{BB962C8B-B14F-4D97-AF65-F5344CB8AC3E}">
        <p14:creationId xmlns:p14="http://schemas.microsoft.com/office/powerpoint/2010/main" val="12947939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 posible que cada elemento de cambio no aborde completamente la necesidad, por lo que es posible que se necesiten múltiples cambios.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45</a:t>
            </a:fld>
            <a:endParaRPr lang="es-PE"/>
          </a:p>
        </p:txBody>
      </p:sp>
    </p:spTree>
    <p:extLst>
      <p:ext uri="{BB962C8B-B14F-4D97-AF65-F5344CB8AC3E}">
        <p14:creationId xmlns:p14="http://schemas.microsoft.com/office/powerpoint/2010/main" val="30757706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Puede haber restricciones o políticas organizacionales que deben cumplirse en cualquier implementación. Los analistas funcionales ayudan a planificar el momento de la implementación para causar una interrupción mínima en las actividades de negocio y garantizar que todas las partes comprendan el impacto en la organización.</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46</a:t>
            </a:fld>
            <a:endParaRPr lang="es-PE"/>
          </a:p>
        </p:txBody>
      </p:sp>
    </p:spTree>
    <p:extLst>
      <p:ext uri="{BB962C8B-B14F-4D97-AF65-F5344CB8AC3E}">
        <p14:creationId xmlns:p14="http://schemas.microsoft.com/office/powerpoint/2010/main" val="222567724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47</a:t>
            </a:fld>
            <a:endParaRPr lang="es-PE"/>
          </a:p>
        </p:txBody>
      </p:sp>
    </p:spTree>
    <p:extLst>
      <p:ext uri="{BB962C8B-B14F-4D97-AF65-F5344CB8AC3E}">
        <p14:creationId xmlns:p14="http://schemas.microsoft.com/office/powerpoint/2010/main" val="4177169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pPr marL="0" indent="0" rtl="0">
              <a:buFont typeface="+mj-lt"/>
              <a:buNone/>
            </a:pPr>
            <a:endParaRPr lang="es-PE" sz="1200" b="0" dirty="0">
              <a:effectLst/>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48</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s-PE" sz="1200" kern="1200" dirty="0">
                <a:solidFill>
                  <a:schemeClr val="tx1"/>
                </a:solidFill>
                <a:effectLst/>
                <a:latin typeface="Arial" panose="020B0604020202020204" pitchFamily="34" charset="0"/>
                <a:ea typeface="+mn-ea"/>
                <a:cs typeface="Arial" panose="020B0604020202020204" pitchFamily="34" charset="0"/>
              </a:rPr>
              <a:t> </a:t>
            </a:r>
          </a:p>
          <a:p>
            <a:endParaRPr lang="es-PE" sz="1200"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49</a:t>
            </a:fld>
            <a:endParaRPr lang="es-PE"/>
          </a:p>
        </p:txBody>
      </p:sp>
    </p:spTree>
    <p:extLst>
      <p:ext uri="{BB962C8B-B14F-4D97-AF65-F5344CB8AC3E}">
        <p14:creationId xmlns:p14="http://schemas.microsoft.com/office/powerpoint/2010/main" val="18490434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3.xml"/><Relationship Id="rId4" Type="http://schemas.microsoft.com/office/2007/relationships/hdphoto" Target="../media/hdphoto1.wdp"/></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2.xml"/><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_Introduccion">
    <p:bg>
      <p:bgPr>
        <a:solidFill>
          <a:schemeClr val="bg1">
            <a:lumMod val="95000"/>
          </a:schemeClr>
        </a:solid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DEFFC524-5204-4B8D-AB52-89B3D97070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schemeClr val="tx1"/>
                </a:solidFill>
                <a:effectLst/>
                <a:uLnTx/>
                <a:uFillTx/>
                <a:latin typeface="Calibri"/>
                <a:ea typeface="+mn-ea"/>
                <a:cs typeface="+mn-cs"/>
              </a:rPr>
              <a:t>INTRODUCCIÓN</a:t>
            </a:r>
          </a:p>
        </p:txBody>
      </p:sp>
      <p:pic>
        <p:nvPicPr>
          <p:cNvPr id="3" name="Imagen 2">
            <a:extLst>
              <a:ext uri="{FF2B5EF4-FFF2-40B4-BE49-F238E27FC236}">
                <a16:creationId xmlns:a16="http://schemas.microsoft.com/office/drawing/2014/main" id="{949F8A1D-5EEE-42EF-A95B-31789C550AC2}"/>
              </a:ext>
            </a:extLst>
          </p:cNvPr>
          <p:cNvPicPr>
            <a:picLocks noChangeAspect="1"/>
          </p:cNvPicPr>
          <p:nvPr userDrawn="1"/>
        </p:nvPicPr>
        <p:blipFill>
          <a:blip r:embed="rId3">
            <a:alphaModFix/>
            <a:biLevel thresh="75000"/>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a:solidFill>
            <a:schemeClr val="bg1">
              <a:lumMod val="95000"/>
            </a:schemeClr>
          </a:solidFill>
        </p:spPr>
      </p:pic>
      <p:sp>
        <p:nvSpPr>
          <p:cNvPr id="8" name="Marcador de texto 7">
            <a:extLst>
              <a:ext uri="{FF2B5EF4-FFF2-40B4-BE49-F238E27FC236}">
                <a16:creationId xmlns:a16="http://schemas.microsoft.com/office/drawing/2014/main" id="{C946181C-25DC-4BDD-9928-A88184E17BFD}"/>
              </a:ext>
            </a:extLst>
          </p:cNvPr>
          <p:cNvSpPr>
            <a:spLocks noGrp="1"/>
          </p:cNvSpPr>
          <p:nvPr>
            <p:ph type="body" sz="quarter" idx="10"/>
          </p:nvPr>
        </p:nvSpPr>
        <p:spPr>
          <a:xfrm>
            <a:off x="503238" y="1670050"/>
            <a:ext cx="8137525" cy="3563938"/>
          </a:xfrm>
          <a:prstGeom prst="rect">
            <a:avLst/>
          </a:prstGeom>
        </p:spPr>
        <p:txBody>
          <a:bodyPr/>
          <a:lstStyle>
            <a:lvl1pPr marL="266700" indent="-266700" algn="just">
              <a:lnSpc>
                <a:spcPct val="100000"/>
              </a:lnSpc>
              <a:spcBef>
                <a:spcPts val="0"/>
              </a:spcBef>
              <a:spcAft>
                <a:spcPts val="1200"/>
              </a:spcAft>
              <a:buSzPct val="75000"/>
              <a:buFont typeface="Wingdings" panose="05000000000000000000" pitchFamily="2" charset="2"/>
              <a:buChar char="q"/>
              <a:defRPr sz="1600"/>
            </a:lvl1pPr>
            <a:lvl2pPr marL="531813" indent="-265113" algn="just">
              <a:lnSpc>
                <a:spcPct val="100000"/>
              </a:lnSpc>
              <a:spcBef>
                <a:spcPts val="0"/>
              </a:spcBef>
              <a:spcAft>
                <a:spcPts val="1200"/>
              </a:spcAft>
              <a:buFont typeface="Delius" panose="02000603000000000000" pitchFamily="2" charset="0"/>
              <a:buChar char="→"/>
              <a:defRPr sz="1600"/>
            </a:lvl2pPr>
            <a:lvl3pPr marL="717550" indent="-185738" algn="just">
              <a:lnSpc>
                <a:spcPct val="100000"/>
              </a:lnSpc>
              <a:spcBef>
                <a:spcPts val="0"/>
              </a:spcBef>
              <a:spcAft>
                <a:spcPts val="1200"/>
              </a:spcAft>
              <a:buFont typeface="Wingdings" panose="05000000000000000000" pitchFamily="2" charset="2"/>
              <a:buChar char="§"/>
              <a:defRPr sz="1600"/>
            </a:lvl3pPr>
            <a:lvl4pPr>
              <a:lnSpc>
                <a:spcPct val="85000"/>
              </a:lnSpc>
              <a:spcBef>
                <a:spcPts val="0"/>
              </a:spcBef>
              <a:spcAft>
                <a:spcPts val="1200"/>
              </a:spcAft>
              <a:defRPr sz="1600"/>
            </a:lvl4pPr>
            <a:lvl5pPr>
              <a:lnSpc>
                <a:spcPct val="85000"/>
              </a:lnSpc>
              <a:spcBef>
                <a:spcPts val="0"/>
              </a:spcBef>
              <a:spcAft>
                <a:spcPts val="1200"/>
              </a:spcAft>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custDataLst>
      <p:tags r:id="rId1"/>
    </p:custDataLst>
    <p:extLst>
      <p:ext uri="{BB962C8B-B14F-4D97-AF65-F5344CB8AC3E}">
        <p14:creationId xmlns:p14="http://schemas.microsoft.com/office/powerpoint/2010/main" val="4023211956"/>
      </p:ext>
    </p:extLst>
  </p:cSld>
  <p:clrMapOvr>
    <a:masterClrMapping/>
  </p:clrMapOvr>
  <p:extLst>
    <p:ext uri="{DCECCB84-F9BA-43D5-87BE-67443E8EF086}">
      <p15:sldGuideLst xmlns:p15="http://schemas.microsoft.com/office/powerpoint/2012/main">
        <p15:guide id="1" orient="horz" pos="1052" userDrawn="1">
          <p15:clr>
            <a:srgbClr val="FBAE40"/>
          </p15:clr>
        </p15:guide>
        <p15:guide id="2" pos="317" userDrawn="1">
          <p15:clr>
            <a:srgbClr val="FBAE40"/>
          </p15:clr>
        </p15:guide>
        <p15:guide id="3" pos="5443" userDrawn="1">
          <p15:clr>
            <a:srgbClr val="FBAE40"/>
          </p15:clr>
        </p15:guide>
        <p15:guide id="4" orient="horz" pos="329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8208000"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p:spPr>
        <p:txBody>
          <a:bodyPr/>
          <a:lstStyle>
            <a:lvl1pPr marL="266700" indent="-266700" algn="just">
              <a:spcBef>
                <a:spcPts val="0"/>
              </a:spcBef>
              <a:spcAft>
                <a:spcPts val="800"/>
              </a:spcAft>
              <a:buSzPct val="75000"/>
              <a:buFont typeface="Wingdings" panose="05000000000000000000" pitchFamily="2" charset="2"/>
              <a:buChar char="q"/>
              <a:defRPr sz="1600"/>
            </a:lvl1pPr>
            <a:lvl2pPr marL="531813" indent="-265113" algn="just">
              <a:spcBef>
                <a:spcPts val="0"/>
              </a:spcBef>
              <a:spcAft>
                <a:spcPts val="800"/>
              </a:spcAft>
              <a:buFont typeface="Delius" panose="02000603000000000000" pitchFamily="2" charset="0"/>
              <a:buChar char="→"/>
              <a:defRPr sz="1600"/>
            </a:lvl2pPr>
            <a:lvl3pPr marL="717550" indent="-185738" algn="just">
              <a:spcBef>
                <a:spcPts val="0"/>
              </a:spcBef>
              <a:spcAft>
                <a:spcPts val="800"/>
              </a:spcAft>
              <a:buFont typeface="Wingdings" panose="05000000000000000000" pitchFamily="2" charset="2"/>
              <a:buChar char="§"/>
              <a:defRPr sz="1600"/>
            </a:lvl3pPr>
            <a:lvl4pPr>
              <a:defRPr sz="1600"/>
            </a:lvl4pPr>
            <a:lvl5pPr>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61182499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_Subtema con Imagen Vertic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595149" y="816438"/>
            <a:ext cx="4086000" cy="4446000"/>
          </a:xfrm>
          <a:prstGeom prst="rect">
            <a:avLst/>
          </a:prstGeom>
        </p:spPr>
        <p:txBody>
          <a:bodyPr anchor="ctr"/>
          <a:lstStyle>
            <a:lvl1pPr marL="0" indent="0" algn="ctr">
              <a:buNone/>
              <a:defRPr/>
            </a:lvl1pPr>
          </a:lstStyle>
          <a:p>
            <a:endParaRPr lang="es-PE" dirty="0"/>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4103687"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FD04F222-EEB2-4557-8D4B-D05354FCD8C6}"/>
              </a:ext>
            </a:extLst>
          </p:cNvPr>
          <p:cNvSpPr>
            <a:spLocks noGrp="1"/>
          </p:cNvSpPr>
          <p:nvPr>
            <p:ph type="body" sz="quarter" idx="14"/>
          </p:nvPr>
        </p:nvSpPr>
        <p:spPr>
          <a:xfrm>
            <a:off x="468313" y="1158875"/>
            <a:ext cx="4103687" cy="4111625"/>
          </a:xfrm>
          <a:prstGeom prst="rect">
            <a:avLst/>
          </a:prstGeom>
        </p:spPr>
        <p:txBody>
          <a:bodyPr/>
          <a:lstStyle>
            <a:lvl1pPr marL="266700" indent="-266700" algn="just">
              <a:spcBef>
                <a:spcPts val="0"/>
              </a:spcBef>
              <a:spcAft>
                <a:spcPts val="1200"/>
              </a:spcAft>
              <a:buSzPct val="75000"/>
              <a:buFont typeface="Wingdings" panose="05000000000000000000" pitchFamily="2" charset="2"/>
              <a:buChar char="q"/>
              <a:defRPr sz="1600"/>
            </a:lvl1pPr>
            <a:lvl2pPr marL="531813" indent="-265113" algn="just">
              <a:spcBef>
                <a:spcPts val="0"/>
              </a:spcBef>
              <a:spcAft>
                <a:spcPts val="1200"/>
              </a:spcAft>
              <a:buFont typeface="Delius" panose="02000603000000000000" pitchFamily="2" charset="0"/>
              <a:buChar char="→"/>
              <a:defRPr sz="1600"/>
            </a:lvl2pPr>
            <a:lvl3pPr marL="717550" indent="-185738" algn="just">
              <a:spcBef>
                <a:spcPts val="0"/>
              </a:spcBef>
              <a:spcAft>
                <a:spcPts val="1200"/>
              </a:spcAft>
              <a:buFont typeface="Wingdings" panose="05000000000000000000" pitchFamily="2" charset="2"/>
              <a:buChar char="§"/>
              <a:defRPr sz="1600"/>
            </a:lvl3pPr>
            <a:lvl4pPr>
              <a:spcBef>
                <a:spcPts val="0"/>
              </a:spcBef>
              <a:defRPr sz="1600"/>
            </a:lvl4pPr>
            <a:lvl5pPr>
              <a:spcBef>
                <a:spcPts val="0"/>
              </a:spcBef>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941359410"/>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3" orient="horz" pos="1800" userDrawn="1">
          <p15:clr>
            <a:srgbClr val="FBAE40"/>
          </p15:clr>
        </p15:guide>
        <p15:guide id="4" orient="horz" pos="507" userDrawn="1">
          <p15:clr>
            <a:srgbClr val="FBAE40"/>
          </p15:clr>
        </p15:guide>
        <p15:guide id="5" orient="horz" pos="3320" userDrawn="1">
          <p15:clr>
            <a:srgbClr val="FBAE40"/>
          </p15:clr>
        </p15:guide>
        <p15:guide id="6"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gris)">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a:solidFill>
            <a:schemeClr val="accent4">
              <a:lumMod val="20000"/>
              <a:lumOff val="80000"/>
            </a:schemeClr>
          </a:solidFill>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5724000"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a:solidFill>
            <a:schemeClr val="accent4">
              <a:lumMod val="20000"/>
              <a:lumOff val="80000"/>
            </a:schemeClr>
          </a:solidFill>
        </p:spPr>
        <p:txBody>
          <a:bodyPr numCol="3"/>
          <a:lstStyle>
            <a:lvl1pPr marL="173038" indent="-173038" algn="l">
              <a:spcBef>
                <a:spcPts val="0"/>
              </a:spcBef>
              <a:spcAft>
                <a:spcPts val="200"/>
              </a:spcAft>
              <a:buSzPct val="75000"/>
              <a:buFont typeface="Wingdings" panose="05000000000000000000" pitchFamily="2" charset="2"/>
              <a:buChar char="§"/>
              <a:defRPr sz="1400"/>
            </a:lvl1pPr>
            <a:lvl2pPr marL="531813" indent="-265113" algn="just">
              <a:spcBef>
                <a:spcPts val="0"/>
              </a:spcBef>
              <a:spcAft>
                <a:spcPts val="800"/>
              </a:spcAft>
              <a:buFont typeface="Wingdings" panose="05000000000000000000" pitchFamily="2" charset="2"/>
              <a:buChar char="§"/>
              <a:defRPr sz="1400"/>
            </a:lvl2pPr>
            <a:lvl3pPr marL="717550" indent="-185738" algn="just">
              <a:spcBef>
                <a:spcPts val="0"/>
              </a:spcBef>
              <a:spcAft>
                <a:spcPts val="800"/>
              </a:spcAft>
              <a:buFont typeface="Wingdings" panose="05000000000000000000" pitchFamily="2" charset="2"/>
              <a:buChar char="§"/>
              <a:defRPr sz="1400"/>
            </a:lvl3pPr>
            <a:lvl4pPr>
              <a:defRPr sz="1600"/>
            </a:lvl4pPr>
            <a:lvl5pPr>
              <a:defRPr sz="1600"/>
            </a:lvl5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66C3FB06-AEFF-9166-C6DD-B8FA2AD57863}"/>
              </a:ext>
            </a:extLst>
          </p:cNvPr>
          <p:cNvSpPr>
            <a:spLocks noGrp="1"/>
          </p:cNvSpPr>
          <p:nvPr>
            <p:ph type="body" sz="quarter" idx="15" hasCustomPrompt="1"/>
          </p:nvPr>
        </p:nvSpPr>
        <p:spPr>
          <a:xfrm>
            <a:off x="6319838" y="804863"/>
            <a:ext cx="2359025" cy="377825"/>
          </a:xfrm>
          <a:prstGeom prst="rect">
            <a:avLst/>
          </a:prstGeom>
        </p:spPr>
        <p:txBody>
          <a:bodyPr/>
          <a:lstStyle>
            <a:lvl1pPr marL="0" indent="0" algn="r">
              <a:spcBef>
                <a:spcPts val="0"/>
              </a:spcBef>
              <a:buNone/>
              <a:defRPr sz="2000" b="1" i="1">
                <a:solidFill>
                  <a:srgbClr val="1F85A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4076242012"/>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Diapo_Título">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78499219-B93F-4121-95B0-FD263CAAD2EC}"/>
              </a:ext>
            </a:extLst>
          </p:cNvPr>
          <p:cNvCxnSpPr/>
          <p:nvPr userDrawn="1"/>
        </p:nvCxnSpPr>
        <p:spPr>
          <a:xfrm>
            <a:off x="3056456" y="1742381"/>
            <a:ext cx="0" cy="792000"/>
          </a:xfrm>
          <a:prstGeom prst="line">
            <a:avLst/>
          </a:prstGeom>
          <a:ln w="381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0" name="Marcador de texto 9">
            <a:extLst>
              <a:ext uri="{FF2B5EF4-FFF2-40B4-BE49-F238E27FC236}">
                <a16:creationId xmlns:a16="http://schemas.microsoft.com/office/drawing/2014/main" id="{07A93BC5-4242-4AEF-86D2-025896BBFF94}"/>
              </a:ext>
            </a:extLst>
          </p:cNvPr>
          <p:cNvSpPr>
            <a:spLocks noGrp="1"/>
          </p:cNvSpPr>
          <p:nvPr>
            <p:ph type="body" sz="quarter" idx="10" hasCustomPrompt="1"/>
          </p:nvPr>
        </p:nvSpPr>
        <p:spPr>
          <a:xfrm>
            <a:off x="3151256" y="1466837"/>
            <a:ext cx="5524431" cy="1065212"/>
          </a:xfrm>
          <a:prstGeom prst="rect">
            <a:avLst/>
          </a:prstGeom>
        </p:spPr>
        <p:txBody>
          <a:bodyPr lIns="36000" tIns="0" rIns="36000" bIns="0" anchor="b"/>
          <a:lstStyle>
            <a:lvl1pPr marL="0" indent="0">
              <a:lnSpc>
                <a:spcPct val="85000"/>
              </a:lnSpc>
              <a:buNone/>
              <a:defRPr sz="3600" b="1" spc="-1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p>
        </p:txBody>
      </p:sp>
      <p:sp>
        <p:nvSpPr>
          <p:cNvPr id="12" name="Marcador de texto 11">
            <a:extLst>
              <a:ext uri="{FF2B5EF4-FFF2-40B4-BE49-F238E27FC236}">
                <a16:creationId xmlns:a16="http://schemas.microsoft.com/office/drawing/2014/main" id="{7F024871-2FC3-48CA-9CA6-981F63452D4D}"/>
              </a:ext>
            </a:extLst>
          </p:cNvPr>
          <p:cNvSpPr>
            <a:spLocks noGrp="1"/>
          </p:cNvSpPr>
          <p:nvPr>
            <p:ph type="body" sz="quarter" idx="11" hasCustomPrompt="1"/>
          </p:nvPr>
        </p:nvSpPr>
        <p:spPr>
          <a:xfrm>
            <a:off x="3151257" y="2571394"/>
            <a:ext cx="5524430" cy="216000"/>
          </a:xfrm>
          <a:prstGeom prst="rect">
            <a:avLst/>
          </a:prstGeom>
          <a:solidFill>
            <a:schemeClr val="bg1"/>
          </a:solidFill>
        </p:spPr>
        <p:txBody>
          <a:bodyPr lIns="36000" tIns="0" rIns="36000" bIns="0" anchor="ctr"/>
          <a:lstStyle>
            <a:lvl1pPr marL="0" indent="0">
              <a:lnSpc>
                <a:spcPct val="85000"/>
              </a:lnSpc>
              <a:spcBef>
                <a:spcPts val="0"/>
              </a:spcBef>
              <a:buNone/>
              <a:defRPr sz="1400" b="1" spc="-100" baseline="0">
                <a:solidFill>
                  <a:srgbClr val="1F85A6"/>
                </a:solidFill>
              </a:defRPr>
            </a:lvl1pPr>
          </a:lstStyle>
          <a:p>
            <a:pPr lvl="0"/>
            <a:r>
              <a:rPr lang="es-ES" dirty="0"/>
              <a:t>HAGA CLIC PARA MODIFICAR LOS ESTILOS DE TEXTO DEL PATRÓN</a:t>
            </a:r>
            <a:endParaRPr lang="es-PE" dirty="0"/>
          </a:p>
        </p:txBody>
      </p:sp>
      <p:sp>
        <p:nvSpPr>
          <p:cNvPr id="14" name="Marcador de texto 13">
            <a:extLst>
              <a:ext uri="{FF2B5EF4-FFF2-40B4-BE49-F238E27FC236}">
                <a16:creationId xmlns:a16="http://schemas.microsoft.com/office/drawing/2014/main" id="{909CBA01-1C97-4D7F-AC89-2F7E2CE7AE1E}"/>
              </a:ext>
            </a:extLst>
          </p:cNvPr>
          <p:cNvSpPr>
            <a:spLocks noGrp="1"/>
          </p:cNvSpPr>
          <p:nvPr>
            <p:ph type="body" sz="quarter" idx="12"/>
          </p:nvPr>
        </p:nvSpPr>
        <p:spPr>
          <a:xfrm>
            <a:off x="3151257" y="3149152"/>
            <a:ext cx="5524430" cy="1584325"/>
          </a:xfrm>
          <a:prstGeom prst="rect">
            <a:avLst/>
          </a:prstGeom>
        </p:spPr>
        <p:txBody>
          <a:bodyPr/>
          <a:lstStyle>
            <a:lvl1pPr marL="266700" indent="-266700" algn="just">
              <a:spcBef>
                <a:spcPts val="0"/>
              </a:spcBef>
              <a:buSzPct val="75000"/>
              <a:buFont typeface="Wingdings" panose="05000000000000000000" pitchFamily="2" charset="2"/>
              <a:buChar char="q"/>
              <a:defRPr sz="1600">
                <a:solidFill>
                  <a:schemeClr val="bg1"/>
                </a:solidFill>
              </a:defRPr>
            </a:lvl1pPr>
          </a:lstStyle>
          <a:p>
            <a:pPr lvl="0"/>
            <a:r>
              <a:rPr lang="es-ES" dirty="0"/>
              <a:t>Haga clic para modificar los estilos de texto del patrón</a:t>
            </a:r>
            <a:endParaRPr lang="es-PE" dirty="0"/>
          </a:p>
        </p:txBody>
      </p:sp>
      <p:sp>
        <p:nvSpPr>
          <p:cNvPr id="16" name="Marcador de texto 15">
            <a:extLst>
              <a:ext uri="{FF2B5EF4-FFF2-40B4-BE49-F238E27FC236}">
                <a16:creationId xmlns:a16="http://schemas.microsoft.com/office/drawing/2014/main" id="{98ED8DBD-5592-4A8D-8BF5-1D169AA4AE08}"/>
              </a:ext>
            </a:extLst>
          </p:cNvPr>
          <p:cNvSpPr>
            <a:spLocks noGrp="1"/>
          </p:cNvSpPr>
          <p:nvPr>
            <p:ph type="body" sz="quarter" idx="13"/>
          </p:nvPr>
        </p:nvSpPr>
        <p:spPr>
          <a:xfrm>
            <a:off x="2051281" y="1782566"/>
            <a:ext cx="910376" cy="914400"/>
          </a:xfrm>
          <a:prstGeom prst="rect">
            <a:avLst/>
          </a:prstGeom>
        </p:spPr>
        <p:txBody>
          <a:bodyPr lIns="0" tIns="0" rIns="0" bIns="0"/>
          <a:lstStyle>
            <a:lvl1pPr marL="0" indent="0" algn="ctr">
              <a:buNone/>
              <a:defRPr sz="58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endParaRPr lang="es-PE" dirty="0"/>
          </a:p>
        </p:txBody>
      </p:sp>
      <p:sp>
        <p:nvSpPr>
          <p:cNvPr id="19" name="CuadroTexto 18">
            <a:extLst>
              <a:ext uri="{FF2B5EF4-FFF2-40B4-BE49-F238E27FC236}">
                <a16:creationId xmlns:a16="http://schemas.microsoft.com/office/drawing/2014/main" id="{3B086266-9338-4415-8002-5AA0BBD87E06}"/>
              </a:ext>
            </a:extLst>
          </p:cNvPr>
          <p:cNvSpPr txBox="1"/>
          <p:nvPr userDrawn="1"/>
        </p:nvSpPr>
        <p:spPr>
          <a:xfrm>
            <a:off x="2051281" y="1615590"/>
            <a:ext cx="910376" cy="369332"/>
          </a:xfrm>
          <a:prstGeom prst="rect">
            <a:avLst/>
          </a:prstGeom>
          <a:noFill/>
        </p:spPr>
        <p:txBody>
          <a:bodyPr wrap="square" rtlCol="0">
            <a:spAutoFit/>
          </a:bodyPr>
          <a:lstStyle/>
          <a:p>
            <a:pPr algn="ctr"/>
            <a:r>
              <a:rPr lang="es-PE" dirty="0">
                <a:solidFill>
                  <a:schemeClr val="bg1"/>
                </a:solidFill>
              </a:rPr>
              <a:t>SESIÓN</a:t>
            </a:r>
          </a:p>
        </p:txBody>
      </p:sp>
    </p:spTree>
    <p:extLst>
      <p:ext uri="{BB962C8B-B14F-4D97-AF65-F5344CB8AC3E}">
        <p14:creationId xmlns:p14="http://schemas.microsoft.com/office/powerpoint/2010/main" val="1840211312"/>
      </p:ext>
    </p:extLst>
  </p:cSld>
  <p:clrMapOvr>
    <a:masterClrMapping/>
  </p:clrMapOvr>
  <p:extLst>
    <p:ext uri="{DCECCB84-F9BA-43D5-87BE-67443E8EF086}">
      <p15:sldGuideLst xmlns:p15="http://schemas.microsoft.com/office/powerpoint/2012/main">
        <p15:guide id="1" pos="5465" userDrawn="1">
          <p15:clr>
            <a:srgbClr val="FBAE40"/>
          </p15:clr>
        </p15:guide>
        <p15:guide id="2" pos="197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apo_Subtema">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4BD03D13-5E01-42D6-AEF1-E185D3674B02}"/>
              </a:ext>
            </a:extLst>
          </p:cNvPr>
          <p:cNvSpPr>
            <a:spLocks noGrp="1"/>
          </p:cNvSpPr>
          <p:nvPr>
            <p:ph type="body" sz="quarter" idx="10" hasCustomPrompt="1"/>
          </p:nvPr>
        </p:nvSpPr>
        <p:spPr>
          <a:xfrm>
            <a:off x="468314" y="3714841"/>
            <a:ext cx="5543549" cy="810087"/>
          </a:xfrm>
          <a:prstGeom prst="rect">
            <a:avLst/>
          </a:prstGeom>
        </p:spPr>
        <p:txBody>
          <a:bodyPr/>
          <a:lstStyle>
            <a:lvl1pPr marL="266700" indent="-266700">
              <a:lnSpc>
                <a:spcPct val="85000"/>
              </a:lnSpc>
              <a:spcBef>
                <a:spcPts val="0"/>
              </a:spcBef>
              <a:buNone/>
              <a:tabLst>
                <a:tab pos="266700" algn="l"/>
              </a:tabLst>
              <a:defRPr sz="2800" b="1">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1383085110"/>
      </p:ext>
    </p:extLst>
  </p:cSld>
  <p:clrMapOvr>
    <a:masterClrMapping/>
  </p:clrMapOvr>
  <p:extLst>
    <p:ext uri="{DCECCB84-F9BA-43D5-87BE-67443E8EF086}">
      <p15:sldGuideLst xmlns:p15="http://schemas.microsoft.com/office/powerpoint/2012/main">
        <p15:guide id="1" pos="295" userDrawn="1">
          <p15:clr>
            <a:srgbClr val="FBAE40"/>
          </p15:clr>
        </p15:guide>
        <p15:guide id="2" pos="378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po_Conclusio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CONCLUSIONES</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909"/>
            <a:ext cx="7713398" cy="3526566"/>
          </a:xfrm>
          <a:prstGeom prst="rect">
            <a:avLst/>
          </a:prstGeom>
        </p:spPr>
        <p:txBody>
          <a:bodyPr lIns="0" tIns="0" rIns="0" bIns="0"/>
          <a:lstStyle>
            <a:lvl1pPr marL="266700" indent="-266700" algn="just">
              <a:lnSpc>
                <a:spcPct val="85000"/>
              </a:lnSpc>
              <a:spcBef>
                <a:spcPts val="0"/>
              </a:spcBef>
              <a:spcAft>
                <a:spcPts val="1200"/>
              </a:spcAft>
              <a:buFont typeface="+mj-lt"/>
              <a:buAutoNum type="arabicPeriod"/>
              <a:tabLst/>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798195332"/>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apo_Bibliografí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BIBLIOGRAFÍA</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049"/>
            <a:ext cx="7713398" cy="3527425"/>
          </a:xfrm>
          <a:prstGeom prst="rect">
            <a:avLst/>
          </a:prstGeom>
        </p:spPr>
        <p:txBody>
          <a:bodyPr lIns="0" tIns="0" rIns="0" bIns="0"/>
          <a:lstStyle>
            <a:lvl1pPr marL="266700" indent="-266700" algn="just">
              <a:lnSpc>
                <a:spcPct val="85000"/>
              </a:lnSpc>
              <a:spcBef>
                <a:spcPts val="0"/>
              </a:spcBef>
              <a:spcAft>
                <a:spcPts val="1200"/>
              </a:spcAft>
              <a:buFont typeface="Wingdings" panose="05000000000000000000" pitchFamily="2" charset="2"/>
              <a:buChar char="§"/>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3210332040"/>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_Introduccion">
    <p:bg>
      <p:bgPr>
        <a:solidFill>
          <a:schemeClr val="bg1">
            <a:lumMod val="95000"/>
          </a:schemeClr>
        </a:solid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DEFFC524-5204-4B8D-AB52-89B3D97070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schemeClr val="tx1"/>
                </a:solidFill>
                <a:effectLst/>
                <a:uLnTx/>
                <a:uFillTx/>
                <a:latin typeface="Calibri"/>
                <a:ea typeface="+mn-ea"/>
                <a:cs typeface="+mn-cs"/>
              </a:rPr>
              <a:t>INTRODUCCIÓN</a:t>
            </a:r>
          </a:p>
        </p:txBody>
      </p:sp>
      <p:pic>
        <p:nvPicPr>
          <p:cNvPr id="3" name="Imagen 2">
            <a:extLst>
              <a:ext uri="{FF2B5EF4-FFF2-40B4-BE49-F238E27FC236}">
                <a16:creationId xmlns:a16="http://schemas.microsoft.com/office/drawing/2014/main" id="{949F8A1D-5EEE-42EF-A95B-31789C550AC2}"/>
              </a:ext>
            </a:extLst>
          </p:cNvPr>
          <p:cNvPicPr>
            <a:picLocks noChangeAspect="1"/>
          </p:cNvPicPr>
          <p:nvPr userDrawn="1"/>
        </p:nvPicPr>
        <p:blipFill>
          <a:blip r:embed="rId3">
            <a:alphaModFix/>
            <a:biLevel thresh="75000"/>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a:solidFill>
            <a:schemeClr val="bg1">
              <a:lumMod val="95000"/>
            </a:schemeClr>
          </a:solidFill>
        </p:spPr>
      </p:pic>
      <p:sp>
        <p:nvSpPr>
          <p:cNvPr id="8" name="Marcador de texto 7">
            <a:extLst>
              <a:ext uri="{FF2B5EF4-FFF2-40B4-BE49-F238E27FC236}">
                <a16:creationId xmlns:a16="http://schemas.microsoft.com/office/drawing/2014/main" id="{C946181C-25DC-4BDD-9928-A88184E17BFD}"/>
              </a:ext>
            </a:extLst>
          </p:cNvPr>
          <p:cNvSpPr>
            <a:spLocks noGrp="1"/>
          </p:cNvSpPr>
          <p:nvPr>
            <p:ph type="body" sz="quarter" idx="10"/>
          </p:nvPr>
        </p:nvSpPr>
        <p:spPr>
          <a:xfrm>
            <a:off x="503238" y="1670050"/>
            <a:ext cx="8137525" cy="3563938"/>
          </a:xfrm>
          <a:prstGeom prst="rect">
            <a:avLst/>
          </a:prstGeom>
        </p:spPr>
        <p:txBody>
          <a:bodyPr/>
          <a:lstStyle>
            <a:lvl1pPr marL="266700" indent="-266700" algn="just">
              <a:lnSpc>
                <a:spcPct val="100000"/>
              </a:lnSpc>
              <a:spcBef>
                <a:spcPts val="0"/>
              </a:spcBef>
              <a:spcAft>
                <a:spcPts val="1200"/>
              </a:spcAft>
              <a:buSzPct val="75000"/>
              <a:buFont typeface="Wingdings" panose="05000000000000000000" pitchFamily="2" charset="2"/>
              <a:buChar char="q"/>
              <a:defRPr sz="1600"/>
            </a:lvl1pPr>
            <a:lvl2pPr marL="531813" indent="-265113" algn="just">
              <a:lnSpc>
                <a:spcPct val="100000"/>
              </a:lnSpc>
              <a:spcBef>
                <a:spcPts val="0"/>
              </a:spcBef>
              <a:spcAft>
                <a:spcPts val="1200"/>
              </a:spcAft>
              <a:buFont typeface="Delius" panose="02000603000000000000" pitchFamily="2" charset="0"/>
              <a:buChar char="→"/>
              <a:defRPr sz="1600"/>
            </a:lvl2pPr>
            <a:lvl3pPr marL="717550" indent="-185738" algn="just">
              <a:lnSpc>
                <a:spcPct val="100000"/>
              </a:lnSpc>
              <a:spcBef>
                <a:spcPts val="0"/>
              </a:spcBef>
              <a:spcAft>
                <a:spcPts val="1200"/>
              </a:spcAft>
              <a:buFont typeface="Wingdings" panose="05000000000000000000" pitchFamily="2" charset="2"/>
              <a:buChar char="§"/>
              <a:defRPr sz="1600"/>
            </a:lvl3pPr>
            <a:lvl4pPr>
              <a:lnSpc>
                <a:spcPct val="85000"/>
              </a:lnSpc>
              <a:spcBef>
                <a:spcPts val="0"/>
              </a:spcBef>
              <a:spcAft>
                <a:spcPts val="1200"/>
              </a:spcAft>
              <a:defRPr sz="1600"/>
            </a:lvl4pPr>
            <a:lvl5pPr>
              <a:lnSpc>
                <a:spcPct val="85000"/>
              </a:lnSpc>
              <a:spcBef>
                <a:spcPts val="0"/>
              </a:spcBef>
              <a:spcAft>
                <a:spcPts val="1200"/>
              </a:spcAft>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custDataLst>
      <p:tags r:id="rId1"/>
    </p:custDataLst>
    <p:extLst>
      <p:ext uri="{BB962C8B-B14F-4D97-AF65-F5344CB8AC3E}">
        <p14:creationId xmlns:p14="http://schemas.microsoft.com/office/powerpoint/2010/main" val="3146174965"/>
      </p:ext>
    </p:extLst>
  </p:cSld>
  <p:clrMapOvr>
    <a:masterClrMapping/>
  </p:clrMapOvr>
  <p:extLst>
    <p:ext uri="{DCECCB84-F9BA-43D5-87BE-67443E8EF086}">
      <p15:sldGuideLst xmlns:p15="http://schemas.microsoft.com/office/powerpoint/2012/main">
        <p15:guide id="1" orient="horz" pos="1052">
          <p15:clr>
            <a:srgbClr val="FBAE40"/>
          </p15:clr>
        </p15:guide>
        <p15:guide id="2" pos="317">
          <p15:clr>
            <a:srgbClr val="FBAE40"/>
          </p15:clr>
        </p15:guide>
        <p15:guide id="3" pos="5443">
          <p15:clr>
            <a:srgbClr val="FBAE40"/>
          </p15:clr>
        </p15:guide>
        <p15:guide id="4" orient="horz" pos="329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8207375"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p:spPr>
        <p:txBody>
          <a:bodyPr/>
          <a:lstStyle>
            <a:lvl1pPr marL="266700" indent="-266700" algn="just">
              <a:spcBef>
                <a:spcPts val="0"/>
              </a:spcBef>
              <a:spcAft>
                <a:spcPts val="800"/>
              </a:spcAft>
              <a:buSzPct val="75000"/>
              <a:buFont typeface="Wingdings" panose="05000000000000000000" pitchFamily="2" charset="2"/>
              <a:buChar char="q"/>
              <a:defRPr sz="1600"/>
            </a:lvl1pPr>
            <a:lvl2pPr marL="531813" indent="-265113" algn="just">
              <a:spcBef>
                <a:spcPts val="0"/>
              </a:spcBef>
              <a:spcAft>
                <a:spcPts val="800"/>
              </a:spcAft>
              <a:buFont typeface="Delius" panose="02000603000000000000" pitchFamily="2" charset="0"/>
              <a:buChar char="→"/>
              <a:defRPr sz="1600"/>
            </a:lvl2pPr>
            <a:lvl3pPr marL="717550" indent="-185738" algn="just">
              <a:spcBef>
                <a:spcPts val="0"/>
              </a:spcBef>
              <a:spcAft>
                <a:spcPts val="800"/>
              </a:spcAft>
              <a:buFont typeface="Wingdings" panose="05000000000000000000" pitchFamily="2" charset="2"/>
              <a:buChar char="§"/>
              <a:defRPr sz="1600"/>
            </a:lvl3pPr>
            <a:lvl4pPr>
              <a:defRPr sz="1600"/>
            </a:lvl4pPr>
            <a:lvl5pPr>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2909224270"/>
      </p:ext>
    </p:extLst>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4" orient="horz" pos="507">
          <p15:clr>
            <a:srgbClr val="FBAE40"/>
          </p15:clr>
        </p15:guide>
        <p15:guide id="5" orient="horz" pos="33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apo_Subtema con Imagen Vertic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595149" y="816438"/>
            <a:ext cx="4086000" cy="4446000"/>
          </a:xfrm>
          <a:prstGeom prst="rect">
            <a:avLst/>
          </a:prstGeom>
        </p:spPr>
        <p:txBody>
          <a:bodyPr anchor="ctr"/>
          <a:lstStyle>
            <a:lvl1pPr marL="0" indent="0" algn="ctr">
              <a:buNone/>
              <a:defRPr/>
            </a:lvl1pPr>
          </a:lstStyle>
          <a:p>
            <a:endParaRPr lang="es-PE" dirty="0"/>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4103687"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FD04F222-EEB2-4557-8D4B-D05354FCD8C6}"/>
              </a:ext>
            </a:extLst>
          </p:cNvPr>
          <p:cNvSpPr>
            <a:spLocks noGrp="1"/>
          </p:cNvSpPr>
          <p:nvPr>
            <p:ph type="body" sz="quarter" idx="14"/>
          </p:nvPr>
        </p:nvSpPr>
        <p:spPr>
          <a:xfrm>
            <a:off x="468313" y="1158875"/>
            <a:ext cx="4103687" cy="4111625"/>
          </a:xfrm>
          <a:prstGeom prst="rect">
            <a:avLst/>
          </a:prstGeom>
        </p:spPr>
        <p:txBody>
          <a:bodyPr/>
          <a:lstStyle>
            <a:lvl1pPr marL="266700" indent="-266700" algn="just">
              <a:spcBef>
                <a:spcPts val="0"/>
              </a:spcBef>
              <a:spcAft>
                <a:spcPts val="1200"/>
              </a:spcAft>
              <a:buSzPct val="75000"/>
              <a:buFont typeface="Wingdings" panose="05000000000000000000" pitchFamily="2" charset="2"/>
              <a:buChar char="q"/>
              <a:defRPr sz="1600"/>
            </a:lvl1pPr>
            <a:lvl2pPr marL="531813" indent="-265113" algn="just">
              <a:spcBef>
                <a:spcPts val="0"/>
              </a:spcBef>
              <a:spcAft>
                <a:spcPts val="1200"/>
              </a:spcAft>
              <a:buFont typeface="Delius" panose="02000603000000000000" pitchFamily="2" charset="0"/>
              <a:buChar char="→"/>
              <a:defRPr sz="1600"/>
            </a:lvl2pPr>
            <a:lvl3pPr marL="717550" indent="-185738" algn="just">
              <a:spcBef>
                <a:spcPts val="0"/>
              </a:spcBef>
              <a:spcAft>
                <a:spcPts val="1200"/>
              </a:spcAft>
              <a:buFont typeface="Wingdings" panose="05000000000000000000" pitchFamily="2" charset="2"/>
              <a:buChar char="§"/>
              <a:defRPr sz="1600"/>
            </a:lvl3pPr>
            <a:lvl4pPr>
              <a:spcBef>
                <a:spcPts val="0"/>
              </a:spcBef>
              <a:defRPr sz="1600"/>
            </a:lvl4pPr>
            <a:lvl5pPr>
              <a:spcBef>
                <a:spcPts val="0"/>
              </a:spcBef>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1255074820"/>
      </p:ext>
    </p:extLst>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iapo_Título">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78499219-B93F-4121-95B0-FD263CAAD2EC}"/>
              </a:ext>
            </a:extLst>
          </p:cNvPr>
          <p:cNvCxnSpPr/>
          <p:nvPr userDrawn="1"/>
        </p:nvCxnSpPr>
        <p:spPr>
          <a:xfrm>
            <a:off x="3056456" y="1742381"/>
            <a:ext cx="0" cy="792000"/>
          </a:xfrm>
          <a:prstGeom prst="line">
            <a:avLst/>
          </a:prstGeom>
          <a:ln w="381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0" name="Marcador de texto 9">
            <a:extLst>
              <a:ext uri="{FF2B5EF4-FFF2-40B4-BE49-F238E27FC236}">
                <a16:creationId xmlns:a16="http://schemas.microsoft.com/office/drawing/2014/main" id="{07A93BC5-4242-4AEF-86D2-025896BBFF94}"/>
              </a:ext>
            </a:extLst>
          </p:cNvPr>
          <p:cNvSpPr>
            <a:spLocks noGrp="1"/>
          </p:cNvSpPr>
          <p:nvPr>
            <p:ph type="body" sz="quarter" idx="10" hasCustomPrompt="1"/>
          </p:nvPr>
        </p:nvSpPr>
        <p:spPr>
          <a:xfrm>
            <a:off x="3151256" y="1466837"/>
            <a:ext cx="5524431" cy="1065212"/>
          </a:xfrm>
          <a:prstGeom prst="rect">
            <a:avLst/>
          </a:prstGeom>
        </p:spPr>
        <p:txBody>
          <a:bodyPr lIns="36000" tIns="0" rIns="36000" bIns="0" anchor="b"/>
          <a:lstStyle>
            <a:lvl1pPr marL="0" indent="0">
              <a:lnSpc>
                <a:spcPct val="85000"/>
              </a:lnSpc>
              <a:buNone/>
              <a:defRPr sz="3600" b="1" spc="-1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p>
        </p:txBody>
      </p:sp>
      <p:sp>
        <p:nvSpPr>
          <p:cNvPr id="12" name="Marcador de texto 11">
            <a:extLst>
              <a:ext uri="{FF2B5EF4-FFF2-40B4-BE49-F238E27FC236}">
                <a16:creationId xmlns:a16="http://schemas.microsoft.com/office/drawing/2014/main" id="{7F024871-2FC3-48CA-9CA6-981F63452D4D}"/>
              </a:ext>
            </a:extLst>
          </p:cNvPr>
          <p:cNvSpPr>
            <a:spLocks noGrp="1"/>
          </p:cNvSpPr>
          <p:nvPr>
            <p:ph type="body" sz="quarter" idx="11" hasCustomPrompt="1"/>
          </p:nvPr>
        </p:nvSpPr>
        <p:spPr>
          <a:xfrm>
            <a:off x="3151257" y="2571394"/>
            <a:ext cx="5524430" cy="216000"/>
          </a:xfrm>
          <a:prstGeom prst="rect">
            <a:avLst/>
          </a:prstGeom>
          <a:solidFill>
            <a:schemeClr val="bg1"/>
          </a:solidFill>
        </p:spPr>
        <p:txBody>
          <a:bodyPr lIns="36000" tIns="0" rIns="36000" bIns="0" anchor="ctr"/>
          <a:lstStyle>
            <a:lvl1pPr marL="0" indent="0">
              <a:lnSpc>
                <a:spcPct val="85000"/>
              </a:lnSpc>
              <a:spcBef>
                <a:spcPts val="0"/>
              </a:spcBef>
              <a:buNone/>
              <a:defRPr sz="1400" b="1" spc="-100" baseline="0">
                <a:solidFill>
                  <a:srgbClr val="1F85A6"/>
                </a:solidFill>
              </a:defRPr>
            </a:lvl1pPr>
          </a:lstStyle>
          <a:p>
            <a:pPr lvl="0"/>
            <a:r>
              <a:rPr lang="es-ES" dirty="0"/>
              <a:t>HAGA CLIC PARA MODIFICAR LOS ESTILOS DE TEXTO DEL PATRÓN</a:t>
            </a:r>
            <a:endParaRPr lang="es-PE" dirty="0"/>
          </a:p>
        </p:txBody>
      </p:sp>
      <p:sp>
        <p:nvSpPr>
          <p:cNvPr id="14" name="Marcador de texto 13">
            <a:extLst>
              <a:ext uri="{FF2B5EF4-FFF2-40B4-BE49-F238E27FC236}">
                <a16:creationId xmlns:a16="http://schemas.microsoft.com/office/drawing/2014/main" id="{909CBA01-1C97-4D7F-AC89-2F7E2CE7AE1E}"/>
              </a:ext>
            </a:extLst>
          </p:cNvPr>
          <p:cNvSpPr>
            <a:spLocks noGrp="1"/>
          </p:cNvSpPr>
          <p:nvPr>
            <p:ph type="body" sz="quarter" idx="12"/>
          </p:nvPr>
        </p:nvSpPr>
        <p:spPr>
          <a:xfrm>
            <a:off x="3151257" y="3149152"/>
            <a:ext cx="5524430" cy="1584325"/>
          </a:xfrm>
          <a:prstGeom prst="rect">
            <a:avLst/>
          </a:prstGeom>
        </p:spPr>
        <p:txBody>
          <a:bodyPr/>
          <a:lstStyle>
            <a:lvl1pPr marL="266700" indent="-266700" algn="just">
              <a:spcBef>
                <a:spcPts val="0"/>
              </a:spcBef>
              <a:buSzPct val="75000"/>
              <a:buFont typeface="Wingdings" panose="05000000000000000000" pitchFamily="2" charset="2"/>
              <a:buChar char="q"/>
              <a:defRPr sz="1600">
                <a:solidFill>
                  <a:schemeClr val="bg1"/>
                </a:solidFill>
              </a:defRPr>
            </a:lvl1pPr>
          </a:lstStyle>
          <a:p>
            <a:pPr lvl="0"/>
            <a:r>
              <a:rPr lang="es-ES" dirty="0"/>
              <a:t>Haga clic para modificar los estilos de texto del patrón</a:t>
            </a:r>
            <a:endParaRPr lang="es-PE" dirty="0"/>
          </a:p>
        </p:txBody>
      </p:sp>
      <p:sp>
        <p:nvSpPr>
          <p:cNvPr id="16" name="Marcador de texto 15">
            <a:extLst>
              <a:ext uri="{FF2B5EF4-FFF2-40B4-BE49-F238E27FC236}">
                <a16:creationId xmlns:a16="http://schemas.microsoft.com/office/drawing/2014/main" id="{98ED8DBD-5592-4A8D-8BF5-1D169AA4AE08}"/>
              </a:ext>
            </a:extLst>
          </p:cNvPr>
          <p:cNvSpPr>
            <a:spLocks noGrp="1"/>
          </p:cNvSpPr>
          <p:nvPr>
            <p:ph type="body" sz="quarter" idx="13"/>
          </p:nvPr>
        </p:nvSpPr>
        <p:spPr>
          <a:xfrm>
            <a:off x="2051281" y="1782566"/>
            <a:ext cx="910376" cy="914400"/>
          </a:xfrm>
          <a:prstGeom prst="rect">
            <a:avLst/>
          </a:prstGeom>
        </p:spPr>
        <p:txBody>
          <a:bodyPr lIns="0" tIns="0" rIns="0" bIns="0"/>
          <a:lstStyle>
            <a:lvl1pPr marL="0" indent="0" algn="ctr">
              <a:buNone/>
              <a:defRPr sz="58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endParaRPr lang="es-PE" dirty="0"/>
          </a:p>
        </p:txBody>
      </p:sp>
      <p:sp>
        <p:nvSpPr>
          <p:cNvPr id="19" name="CuadroTexto 18">
            <a:extLst>
              <a:ext uri="{FF2B5EF4-FFF2-40B4-BE49-F238E27FC236}">
                <a16:creationId xmlns:a16="http://schemas.microsoft.com/office/drawing/2014/main" id="{3B086266-9338-4415-8002-5AA0BBD87E06}"/>
              </a:ext>
            </a:extLst>
          </p:cNvPr>
          <p:cNvSpPr txBox="1"/>
          <p:nvPr userDrawn="1"/>
        </p:nvSpPr>
        <p:spPr>
          <a:xfrm>
            <a:off x="2051281" y="1615590"/>
            <a:ext cx="910376" cy="369332"/>
          </a:xfrm>
          <a:prstGeom prst="rect">
            <a:avLst/>
          </a:prstGeom>
          <a:noFill/>
        </p:spPr>
        <p:txBody>
          <a:bodyPr wrap="square" rtlCol="0">
            <a:spAutoFit/>
          </a:bodyPr>
          <a:lstStyle/>
          <a:p>
            <a:pPr algn="ctr"/>
            <a:r>
              <a:rPr lang="es-PE" dirty="0">
                <a:solidFill>
                  <a:schemeClr val="bg1"/>
                </a:solidFill>
              </a:rPr>
              <a:t>SESIÓN</a:t>
            </a:r>
          </a:p>
        </p:txBody>
      </p:sp>
    </p:spTree>
    <p:extLst>
      <p:ext uri="{BB962C8B-B14F-4D97-AF65-F5344CB8AC3E}">
        <p14:creationId xmlns:p14="http://schemas.microsoft.com/office/powerpoint/2010/main" val="1798449018"/>
      </p:ext>
    </p:extLst>
  </p:cSld>
  <p:clrMapOvr>
    <a:masterClrMapping/>
  </p:clrMapOvr>
  <p:extLst>
    <p:ext uri="{DCECCB84-F9BA-43D5-87BE-67443E8EF086}">
      <p15:sldGuideLst xmlns:p15="http://schemas.microsoft.com/office/powerpoint/2012/main">
        <p15:guide id="1" pos="5465">
          <p15:clr>
            <a:srgbClr val="FBAE40"/>
          </p15:clr>
        </p15:guide>
        <p15:guide id="2" pos="197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apo_Subtema">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4BD03D13-5E01-42D6-AEF1-E185D3674B02}"/>
              </a:ext>
            </a:extLst>
          </p:cNvPr>
          <p:cNvSpPr>
            <a:spLocks noGrp="1"/>
          </p:cNvSpPr>
          <p:nvPr>
            <p:ph type="body" sz="quarter" idx="10" hasCustomPrompt="1"/>
          </p:nvPr>
        </p:nvSpPr>
        <p:spPr>
          <a:xfrm>
            <a:off x="468314" y="3714841"/>
            <a:ext cx="5543549" cy="810087"/>
          </a:xfrm>
          <a:prstGeom prst="rect">
            <a:avLst/>
          </a:prstGeom>
        </p:spPr>
        <p:txBody>
          <a:bodyPr/>
          <a:lstStyle>
            <a:lvl1pPr marL="266700" indent="-266700">
              <a:lnSpc>
                <a:spcPct val="85000"/>
              </a:lnSpc>
              <a:spcBef>
                <a:spcPts val="0"/>
              </a:spcBef>
              <a:buNone/>
              <a:tabLst>
                <a:tab pos="266700" algn="l"/>
              </a:tabLst>
              <a:defRPr sz="2800" b="1">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538808392"/>
      </p:ext>
    </p:extLst>
  </p:cSld>
  <p:clrMapOvr>
    <a:masterClrMapping/>
  </p:clrMapOvr>
  <p:extLst>
    <p:ext uri="{DCECCB84-F9BA-43D5-87BE-67443E8EF086}">
      <p15:sldGuideLst xmlns:p15="http://schemas.microsoft.com/office/powerpoint/2012/main">
        <p15:guide id="1" pos="295">
          <p15:clr>
            <a:srgbClr val="FBAE40"/>
          </p15:clr>
        </p15:guide>
        <p15:guide id="2" pos="378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Diapositiva de título">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DF5A5FB-F4EA-6965-42B8-F6E87DBA9A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54631" cy="5733853"/>
          </a:xfrm>
          <a:prstGeom prst="rect">
            <a:avLst/>
          </a:prstGeom>
        </p:spPr>
      </p:pic>
      <p:sp>
        <p:nvSpPr>
          <p:cNvPr id="6" name="Marcador de texto 5">
            <a:extLst>
              <a:ext uri="{FF2B5EF4-FFF2-40B4-BE49-F238E27FC236}">
                <a16:creationId xmlns:a16="http://schemas.microsoft.com/office/drawing/2014/main" id="{7F27B821-075D-62FB-6D72-3009EE9F83C0}"/>
              </a:ext>
            </a:extLst>
          </p:cNvPr>
          <p:cNvSpPr>
            <a:spLocks noGrp="1"/>
          </p:cNvSpPr>
          <p:nvPr>
            <p:ph type="body" sz="quarter" idx="11" hasCustomPrompt="1"/>
          </p:nvPr>
        </p:nvSpPr>
        <p:spPr>
          <a:xfrm>
            <a:off x="2766349" y="243068"/>
            <a:ext cx="5383255" cy="867661"/>
          </a:xfrm>
          <a:prstGeom prst="rect">
            <a:avLst/>
          </a:prstGeom>
        </p:spPr>
        <p:txBody>
          <a:bodyPr anchor="b"/>
          <a:lstStyle>
            <a:lvl1pPr marL="0" indent="0" algn="r">
              <a:lnSpc>
                <a:spcPct val="75000"/>
              </a:lnSpc>
              <a:spcBef>
                <a:spcPts val="0"/>
              </a:spcBef>
              <a:buNone/>
              <a:defRPr sz="2800" b="1" i="0" spc="-200" baseline="0">
                <a:solidFill>
                  <a:schemeClr val="tx1">
                    <a:lumMod val="65000"/>
                    <a:lumOff val="35000"/>
                  </a:schemeClr>
                </a:solidFill>
                <a:effectLst/>
                <a:latin typeface="+mn-lt"/>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57C8A894-56AA-98AE-4CB2-22721A8F4304}"/>
              </a:ext>
            </a:extLst>
          </p:cNvPr>
          <p:cNvSpPr>
            <a:spLocks noGrp="1"/>
          </p:cNvSpPr>
          <p:nvPr>
            <p:ph type="body" sz="quarter" idx="12" hasCustomPrompt="1"/>
          </p:nvPr>
        </p:nvSpPr>
        <p:spPr>
          <a:xfrm>
            <a:off x="2141317" y="2430340"/>
            <a:ext cx="4861609" cy="2581497"/>
          </a:xfrm>
          <a:prstGeom prst="rect">
            <a:avLst/>
          </a:prstGeom>
        </p:spPr>
        <p:txBody>
          <a:bodyPr anchor="ctr"/>
          <a:lstStyle>
            <a:lvl1pPr marL="0" indent="0" algn="ctr">
              <a:lnSpc>
                <a:spcPct val="75000"/>
              </a:lnSpc>
              <a:spcBef>
                <a:spcPts val="0"/>
              </a:spcBef>
              <a:buNone/>
              <a:defRPr sz="4400" b="1" spc="-200" baseline="0">
                <a:solidFill>
                  <a:srgbClr val="1F85A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809616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po_Conclusio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CONCLUSIONES</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909"/>
            <a:ext cx="7713398" cy="3526566"/>
          </a:xfrm>
          <a:prstGeom prst="rect">
            <a:avLst/>
          </a:prstGeom>
        </p:spPr>
        <p:txBody>
          <a:bodyPr lIns="0" tIns="0" rIns="0" bIns="0"/>
          <a:lstStyle>
            <a:lvl1pPr marL="266700" indent="-266700" algn="just">
              <a:lnSpc>
                <a:spcPct val="85000"/>
              </a:lnSpc>
              <a:spcBef>
                <a:spcPts val="0"/>
              </a:spcBef>
              <a:spcAft>
                <a:spcPts val="1200"/>
              </a:spcAft>
              <a:buFont typeface="+mj-lt"/>
              <a:buAutoNum type="arabicPeriod"/>
              <a:tabLst/>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3306194309"/>
      </p:ext>
    </p:extLst>
  </p:cSld>
  <p:clrMapOvr>
    <a:masterClrMapping/>
  </p:clrMapOvr>
  <p:extLst>
    <p:ext uri="{DCECCB84-F9BA-43D5-87BE-67443E8EF086}">
      <p15:sldGuideLst xmlns:p15="http://schemas.microsoft.com/office/powerpoint/2012/main">
        <p15:guide id="1" orient="horz" pos="10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apo_Bibliografí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BIBLIOGRAFÍA</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049"/>
            <a:ext cx="7713398" cy="3527425"/>
          </a:xfrm>
          <a:prstGeom prst="rect">
            <a:avLst/>
          </a:prstGeom>
        </p:spPr>
        <p:txBody>
          <a:bodyPr lIns="0" tIns="0" rIns="0" bIns="0"/>
          <a:lstStyle>
            <a:lvl1pPr marL="266700" indent="-266700" algn="just">
              <a:lnSpc>
                <a:spcPct val="85000"/>
              </a:lnSpc>
              <a:spcBef>
                <a:spcPts val="0"/>
              </a:spcBef>
              <a:spcAft>
                <a:spcPts val="1200"/>
              </a:spcAft>
              <a:buFont typeface="Wingdings" panose="05000000000000000000" pitchFamily="2" charset="2"/>
              <a:buChar char="§"/>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691780482"/>
      </p:ext>
    </p:extLst>
  </p:cSld>
  <p:clrMapOvr>
    <a:masterClrMapping/>
  </p:clrMapOvr>
  <p:extLst>
    <p:ext uri="{DCECCB84-F9BA-43D5-87BE-67443E8EF086}">
      <p15:sldGuideLst xmlns:p15="http://schemas.microsoft.com/office/powerpoint/2012/main">
        <p15:guide id="1" orient="horz" pos="105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10" Type="http://schemas.openxmlformats.org/officeDocument/2006/relationships/image" Target="../media/image1.emf"/><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793745" y="5369051"/>
            <a:ext cx="8104595" cy="215444"/>
            <a:chOff x="793745" y="5369051"/>
            <a:chExt cx="7954689" cy="215444"/>
          </a:xfrm>
        </p:grpSpPr>
        <p:sp>
          <p:nvSpPr>
            <p:cNvPr id="16" name="TextBox 7"/>
            <p:cNvSpPr txBox="1"/>
            <p:nvPr userDrawn="1"/>
          </p:nvSpPr>
          <p:spPr>
            <a:xfrm>
              <a:off x="793745" y="5369051"/>
              <a:ext cx="1605135"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ANÁLISIS FUNCIONAL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06</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2023 ISIL. Todos los derechos reservados</a:t>
              </a:r>
            </a:p>
          </p:txBody>
        </p:sp>
      </p:grpSp>
      <p:pic>
        <p:nvPicPr>
          <p:cNvPr id="3" name="Imagen 2"/>
          <p:cNvPicPr>
            <a:picLocks noChangeAspect="1"/>
          </p:cNvPicPr>
          <p:nvPr userDrawn="1"/>
        </p:nvPicPr>
        <p:blipFill>
          <a:blip r:embed="rId10">
            <a:alphaModFix amt="20000"/>
          </a:blip>
          <a:stretch>
            <a:fillRect/>
          </a:stretch>
        </p:blipFill>
        <p:spPr>
          <a:xfrm>
            <a:off x="345172"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78" r:id="rId1"/>
    <p:sldLayoutId id="2147483656" r:id="rId2"/>
    <p:sldLayoutId id="2147483679" r:id="rId3"/>
    <p:sldLayoutId id="2147483680" r:id="rId4"/>
    <p:sldLayoutId id="2147483662" r:id="rId5"/>
    <p:sldLayoutId id="2147483649" r:id="rId6"/>
    <p:sldLayoutId id="2147483667" r:id="rId7"/>
    <p:sldLayoutId id="2147483669"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0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793745" y="5369051"/>
            <a:ext cx="8104595" cy="215444"/>
            <a:chOff x="793745" y="5369051"/>
            <a:chExt cx="7954689" cy="215444"/>
          </a:xfrm>
        </p:grpSpPr>
        <p:sp>
          <p:nvSpPr>
            <p:cNvPr id="16" name="TextBox 7"/>
            <p:cNvSpPr txBox="1"/>
            <p:nvPr userDrawn="1"/>
          </p:nvSpPr>
          <p:spPr>
            <a:xfrm>
              <a:off x="793745" y="5369051"/>
              <a:ext cx="1605135"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ANÁLISIS FUNCIONAL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05</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2023 ISIL. Todos los derechos reservados</a:t>
              </a:r>
            </a:p>
          </p:txBody>
        </p:sp>
      </p:grpSp>
      <p:pic>
        <p:nvPicPr>
          <p:cNvPr id="3" name="Imagen 2"/>
          <p:cNvPicPr>
            <a:picLocks noChangeAspect="1"/>
          </p:cNvPicPr>
          <p:nvPr userDrawn="1"/>
        </p:nvPicPr>
        <p:blipFill>
          <a:blip r:embed="rId10">
            <a:alphaModFix amt="20000"/>
          </a:blip>
          <a:stretch>
            <a:fillRect/>
          </a:stretch>
        </p:blipFill>
        <p:spPr>
          <a:xfrm>
            <a:off x="345172" y="5328911"/>
            <a:ext cx="448573" cy="250755"/>
          </a:xfrm>
          <a:prstGeom prst="rect">
            <a:avLst/>
          </a:prstGeom>
        </p:spPr>
      </p:pic>
    </p:spTree>
    <p:extLst>
      <p:ext uri="{BB962C8B-B14F-4D97-AF65-F5344CB8AC3E}">
        <p14:creationId xmlns:p14="http://schemas.microsoft.com/office/powerpoint/2010/main" val="2948585111"/>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0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8.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06064E9-134E-4E79-A41F-706155D9AFFA}"/>
              </a:ext>
            </a:extLst>
          </p:cNvPr>
          <p:cNvSpPr>
            <a:spLocks noGrp="1"/>
          </p:cNvSpPr>
          <p:nvPr>
            <p:ph type="body" sz="quarter" idx="10"/>
          </p:nvPr>
        </p:nvSpPr>
        <p:spPr/>
        <p:txBody>
          <a:bodyPr/>
          <a:lstStyle/>
          <a:p>
            <a:r>
              <a:rPr lang="es-PE" dirty="0"/>
              <a:t>LA NECESIDAD DE NEGOCIO</a:t>
            </a:r>
          </a:p>
        </p:txBody>
      </p:sp>
      <p:sp>
        <p:nvSpPr>
          <p:cNvPr id="12" name="Marcador de texto 11">
            <a:extLst>
              <a:ext uri="{FF2B5EF4-FFF2-40B4-BE49-F238E27FC236}">
                <a16:creationId xmlns:a16="http://schemas.microsoft.com/office/drawing/2014/main" id="{65D77B8F-E8DB-4946-B4B7-3705AAB2578C}"/>
              </a:ext>
            </a:extLst>
          </p:cNvPr>
          <p:cNvSpPr>
            <a:spLocks noGrp="1"/>
          </p:cNvSpPr>
          <p:nvPr>
            <p:ph type="body" sz="quarter" idx="11"/>
          </p:nvPr>
        </p:nvSpPr>
        <p:spPr/>
        <p:txBody>
          <a:bodyPr/>
          <a:lstStyle/>
          <a:p>
            <a:r>
              <a:rPr lang="es-PE" dirty="0"/>
              <a:t>UNIDAD DE APRENDIZAJE 2 – UA2</a:t>
            </a:r>
          </a:p>
        </p:txBody>
      </p:sp>
      <p:sp>
        <p:nvSpPr>
          <p:cNvPr id="13" name="Marcador de texto 12">
            <a:extLst>
              <a:ext uri="{FF2B5EF4-FFF2-40B4-BE49-F238E27FC236}">
                <a16:creationId xmlns:a16="http://schemas.microsoft.com/office/drawing/2014/main" id="{FA929147-F09B-4398-9DDF-DF2F7FC0C4A6}"/>
              </a:ext>
            </a:extLst>
          </p:cNvPr>
          <p:cNvSpPr>
            <a:spLocks noGrp="1"/>
          </p:cNvSpPr>
          <p:nvPr>
            <p:ph type="body" sz="quarter" idx="12"/>
          </p:nvPr>
        </p:nvSpPr>
        <p:spPr/>
        <p:txBody>
          <a:bodyPr/>
          <a:lstStyle/>
          <a:p>
            <a:pPr>
              <a:spcBef>
                <a:spcPts val="0"/>
              </a:spcBef>
            </a:pPr>
            <a:r>
              <a:rPr lang="es-PE" dirty="0"/>
              <a:t>Análisis de estado actual y de estado futuro del negocio</a:t>
            </a:r>
          </a:p>
          <a:p>
            <a:pPr>
              <a:spcBef>
                <a:spcPts val="0"/>
              </a:spcBef>
            </a:pPr>
            <a:r>
              <a:rPr lang="es-PE" dirty="0"/>
              <a:t>Evaluación de riesgos</a:t>
            </a:r>
          </a:p>
          <a:p>
            <a:pPr>
              <a:spcBef>
                <a:spcPts val="0"/>
              </a:spcBef>
            </a:pPr>
            <a:r>
              <a:rPr lang="es-PE" dirty="0"/>
              <a:t>Definición de estrategia de cambio</a:t>
            </a:r>
          </a:p>
        </p:txBody>
      </p:sp>
      <p:sp>
        <p:nvSpPr>
          <p:cNvPr id="10" name="Marcador de texto 9">
            <a:extLst>
              <a:ext uri="{FF2B5EF4-FFF2-40B4-BE49-F238E27FC236}">
                <a16:creationId xmlns:a16="http://schemas.microsoft.com/office/drawing/2014/main" id="{4E2E57AF-7040-42B2-BA48-4D269F79C484}"/>
              </a:ext>
            </a:extLst>
          </p:cNvPr>
          <p:cNvSpPr>
            <a:spLocks noGrp="1"/>
          </p:cNvSpPr>
          <p:nvPr>
            <p:ph type="body" sz="quarter" idx="13"/>
          </p:nvPr>
        </p:nvSpPr>
        <p:spPr/>
        <p:txBody>
          <a:bodyPr/>
          <a:lstStyle/>
          <a:p>
            <a:r>
              <a:rPr lang="es-PE" dirty="0"/>
              <a:t>06</a:t>
            </a:r>
          </a:p>
        </p:txBody>
      </p:sp>
    </p:spTree>
    <p:extLst>
      <p:ext uri="{BB962C8B-B14F-4D97-AF65-F5344CB8AC3E}">
        <p14:creationId xmlns:p14="http://schemas.microsoft.com/office/powerpoint/2010/main" val="1038867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EDC59F-E03B-4885-ACAE-C9A127998995}"/>
              </a:ext>
            </a:extLst>
          </p:cNvPr>
          <p:cNvSpPr>
            <a:spLocks noGrp="1"/>
          </p:cNvSpPr>
          <p:nvPr>
            <p:ph type="body" sz="quarter" idx="10"/>
          </p:nvPr>
        </p:nvSpPr>
        <p:spPr>
          <a:prstGeom prst="rect">
            <a:avLst/>
          </a:prstGeom>
        </p:spPr>
        <p:txBody>
          <a:bodyPr/>
          <a:lstStyle/>
          <a:p>
            <a:pPr algn="just"/>
            <a:r>
              <a:rPr lang="es-ES" dirty="0"/>
              <a:t>El área de conocimiento BABOK® de </a:t>
            </a:r>
            <a:r>
              <a:rPr lang="es-ES" b="1" dirty="0"/>
              <a:t>análisis de estrategia </a:t>
            </a:r>
            <a:r>
              <a:rPr lang="es-ES" dirty="0"/>
              <a:t>describe el trabajo de análisis empresarial que se debe realizar para colaborar con los </a:t>
            </a:r>
            <a:r>
              <a:rPr lang="es-ES" i="1" dirty="0"/>
              <a:t>stakeholders</a:t>
            </a:r>
            <a:r>
              <a:rPr lang="es-ES" dirty="0"/>
              <a:t> a fin de identificar una necesidad de importancia estratégica o táctica (la necesidad empresarial), permitir que la empresa aborde esa necesidad y alinear la estrategia resultante para el cambio con estrategias de nivel superior e inferior.</a:t>
            </a:r>
          </a:p>
          <a:p>
            <a:pPr>
              <a:spcAft>
                <a:spcPts val="600"/>
              </a:spcAft>
            </a:pPr>
            <a:r>
              <a:rPr lang="es-ES" dirty="0"/>
              <a:t>Entonces, durante esta sesión:</a:t>
            </a:r>
          </a:p>
          <a:p>
            <a:pPr lvl="1" algn="just">
              <a:spcAft>
                <a:spcPts val="600"/>
              </a:spcAft>
            </a:pPr>
            <a:r>
              <a:rPr lang="es-ES" b="1" dirty="0"/>
              <a:t>Aprenderás</a:t>
            </a:r>
            <a:r>
              <a:rPr lang="es-ES" dirty="0"/>
              <a:t> las técnicas que podría utilizar un analista empresarial para llevar a cabo el análisis de estado actual y de estado futuro del negocio.</a:t>
            </a:r>
          </a:p>
          <a:p>
            <a:pPr lvl="1" algn="just">
              <a:spcAft>
                <a:spcPts val="600"/>
              </a:spcAft>
            </a:pPr>
            <a:r>
              <a:rPr lang="es-ES" b="1" dirty="0"/>
              <a:t>Aprenderás</a:t>
            </a:r>
            <a:r>
              <a:rPr lang="es-ES" dirty="0"/>
              <a:t> los conceptos fundamentales de evaluación de riesgos en el ámbito de la identificación y descripción de la necesidad de negocio.</a:t>
            </a:r>
          </a:p>
          <a:p>
            <a:pPr lvl="1" algn="just">
              <a:spcAft>
                <a:spcPts val="600"/>
              </a:spcAft>
            </a:pPr>
            <a:r>
              <a:rPr lang="es-ES" b="1" dirty="0"/>
              <a:t>Conocerás</a:t>
            </a:r>
            <a:r>
              <a:rPr lang="es-ES" dirty="0"/>
              <a:t> las herramientas que podrían utilizarse para definir la estrategia de cambio.</a:t>
            </a:r>
          </a:p>
          <a:p>
            <a:pPr lvl="1" algn="just">
              <a:spcAft>
                <a:spcPts val="600"/>
              </a:spcAft>
            </a:pPr>
            <a:endParaRPr lang="es-PE" dirty="0"/>
          </a:p>
        </p:txBody>
      </p:sp>
    </p:spTree>
    <p:custDataLst>
      <p:tags r:id="rId1"/>
    </p:custDataLst>
    <p:extLst>
      <p:ext uri="{BB962C8B-B14F-4D97-AF65-F5344CB8AC3E}">
        <p14:creationId xmlns:p14="http://schemas.microsoft.com/office/powerpoint/2010/main" val="301215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p:txBody>
          <a:bodyPr/>
          <a:lstStyle/>
          <a:p>
            <a:pPr marL="274638" indent="-274638">
              <a:tabLst>
                <a:tab pos="274638" algn="l"/>
              </a:tabLst>
            </a:pPr>
            <a:r>
              <a:rPr lang="es-PE" dirty="0"/>
              <a:t>/	ANÁLISIS DE ESTADO ACTUAL Y FUTURO DEL NEGOCIO</a:t>
            </a:r>
          </a:p>
        </p:txBody>
      </p:sp>
    </p:spTree>
    <p:custDataLst>
      <p:tags r:id="rId1"/>
    </p:custDataLst>
    <p:extLst>
      <p:ext uri="{BB962C8B-B14F-4D97-AF65-F5344CB8AC3E}">
        <p14:creationId xmlns:p14="http://schemas.microsoft.com/office/powerpoint/2010/main" val="31094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posición de imagen 7">
            <a:extLst>
              <a:ext uri="{FF2B5EF4-FFF2-40B4-BE49-F238E27FC236}">
                <a16:creationId xmlns:a16="http://schemas.microsoft.com/office/drawing/2014/main" id="{796AF823-973B-EE8A-9A4D-6E78A3BE3CE5}"/>
              </a:ext>
            </a:extLst>
          </p:cNvPr>
          <p:cNvPicPr>
            <a:picLocks noGrp="1" noChangeAspect="1"/>
          </p:cNvPicPr>
          <p:nvPr>
            <p:ph type="pic" sz="quarter" idx="10"/>
          </p:nvPr>
        </p:nvPicPr>
        <p:blipFill>
          <a:blip r:embed="rId3"/>
          <a:srcRect t="310" b="310"/>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Análisis de estrategia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ANÁLISIS DE ESTADO ACTUAL Y FUTURO DEL NEGOCIO</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82024"/>
            <a:ext cx="8207375" cy="2014467"/>
          </a:xfrm>
        </p:spPr>
        <p:txBody>
          <a:bodyPr/>
          <a:lstStyle/>
          <a:p>
            <a:r>
              <a:rPr lang="es-ES" dirty="0"/>
              <a:t>Proporciona contexto para el análisis de los requisitos y la definición del diseño para un cambio determinado.</a:t>
            </a:r>
          </a:p>
          <a:p>
            <a:r>
              <a:rPr lang="es-ES" dirty="0"/>
              <a:t>Debe realizarse a medida que se identifica una necesidad empresarial, esto permite que los </a:t>
            </a:r>
            <a:r>
              <a:rPr lang="es-ES" i="1" dirty="0"/>
              <a:t>stakeholders</a:t>
            </a:r>
            <a:r>
              <a:rPr lang="es-ES" dirty="0"/>
              <a:t> tomen la decisión de abordar esa necesidad o no.</a:t>
            </a:r>
          </a:p>
          <a:p>
            <a:r>
              <a:rPr lang="es-ES" dirty="0"/>
              <a:t>Es una actividad continua que evalúa cualquier cambio en esa necesidad, en su contexto, o cualquier nueva información que pueda indicar que puede ser necesario un ajuste a la estrategia de cambio.</a:t>
            </a:r>
          </a:p>
          <a:p>
            <a:endParaRPr lang="es-ES" dirty="0"/>
          </a:p>
        </p:txBody>
      </p:sp>
    </p:spTree>
    <p:extLst>
      <p:ext uri="{BB962C8B-B14F-4D97-AF65-F5344CB8AC3E}">
        <p14:creationId xmlns:p14="http://schemas.microsoft.com/office/powerpoint/2010/main" val="77712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B6DEEE20-5BC3-C322-6C9D-320DBAE701DF}"/>
              </a:ext>
            </a:extLst>
          </p:cNvPr>
          <p:cNvSpPr>
            <a:spLocks noGrp="1"/>
          </p:cNvSpPr>
          <p:nvPr>
            <p:ph type="body" sz="quarter" idx="11"/>
          </p:nvPr>
        </p:nvSpPr>
        <p:spPr/>
        <p:txBody>
          <a:bodyPr/>
          <a:lstStyle/>
          <a:p>
            <a:r>
              <a:rPr lang="es-PE" dirty="0"/>
              <a:t>LA NECESIDAD DEL NEGOCIO</a:t>
            </a:r>
          </a:p>
        </p:txBody>
      </p:sp>
      <p:sp>
        <p:nvSpPr>
          <p:cNvPr id="3" name="Marcador de texto 2">
            <a:extLst>
              <a:ext uri="{FF2B5EF4-FFF2-40B4-BE49-F238E27FC236}">
                <a16:creationId xmlns:a16="http://schemas.microsoft.com/office/drawing/2014/main" id="{F1C85DDA-0020-4FFA-79B3-B700B78091A4}"/>
              </a:ext>
            </a:extLst>
          </p:cNvPr>
          <p:cNvSpPr>
            <a:spLocks noGrp="1"/>
          </p:cNvSpPr>
          <p:nvPr>
            <p:ph type="body" sz="quarter" idx="12"/>
          </p:nvPr>
        </p:nvSpPr>
        <p:spPr/>
        <p:txBody>
          <a:bodyPr/>
          <a:lstStyle/>
          <a:p>
            <a:r>
              <a:rPr lang="es-PE" dirty="0"/>
              <a:t>ANALIZAR EL ESTADO ACTUAL</a:t>
            </a:r>
          </a:p>
          <a:p>
            <a:endParaRPr lang="es-PE" dirty="0"/>
          </a:p>
          <a:p>
            <a:pPr marL="0" marR="0" lvl="0" indent="0" algn="ctr" defTabSz="457200" rtl="0" eaLnBrk="1" fontAlgn="auto" latinLnBrk="0" hangingPunct="1">
              <a:lnSpc>
                <a:spcPct val="75000"/>
              </a:lnSpc>
              <a:spcBef>
                <a:spcPts val="0"/>
              </a:spcBef>
              <a:spcAft>
                <a:spcPts val="0"/>
              </a:spcAft>
              <a:buClrTx/>
              <a:buSzTx/>
              <a:buFont typeface="Arial"/>
              <a:buNone/>
              <a:tabLst/>
              <a:defRPr/>
            </a:pPr>
            <a:r>
              <a:rPr kumimoji="0" lang="es-PE" sz="3200" b="0" u="none" strike="noStrike" kern="1200" cap="none" spc="-200" normalizeH="0" baseline="0" noProof="0" dirty="0">
                <a:ln>
                  <a:noFill/>
                </a:ln>
                <a:solidFill>
                  <a:srgbClr val="1F85A6"/>
                </a:solidFill>
                <a:effectLst/>
                <a:uLnTx/>
                <a:uFillTx/>
                <a:latin typeface="Calibri"/>
                <a:ea typeface="+mn-ea"/>
                <a:cs typeface="+mn-cs"/>
              </a:rPr>
              <a:t>(DE LA EMPRESA)</a:t>
            </a:r>
            <a:endParaRPr lang="es-PE" dirty="0"/>
          </a:p>
        </p:txBody>
      </p:sp>
    </p:spTree>
    <p:extLst>
      <p:ext uri="{BB962C8B-B14F-4D97-AF65-F5344CB8AC3E}">
        <p14:creationId xmlns:p14="http://schemas.microsoft.com/office/powerpoint/2010/main" val="2926421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Objetivo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ANALIZAR EL ESTADO ACTUAL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C</a:t>
            </a:r>
            <a:r>
              <a:rPr lang="es-ES" b="1" dirty="0"/>
              <a:t>omprender las razones</a:t>
            </a:r>
            <a:r>
              <a:rPr lang="es-ES" dirty="0"/>
              <a:t> por las que una empresa necesita cambiar algún aspecto de cómo opera y qué se vería afectado por el cambio.</a:t>
            </a:r>
          </a:p>
          <a:p>
            <a:pPr>
              <a:spcAft>
                <a:spcPts val="600"/>
              </a:spcAft>
            </a:pPr>
            <a:r>
              <a:rPr lang="es-ES" dirty="0"/>
              <a:t>Se debe de tener en cuenta, lo siguiente:</a:t>
            </a:r>
          </a:p>
          <a:p>
            <a:pPr lvl="1">
              <a:spcAft>
                <a:spcPts val="600"/>
              </a:spcAft>
              <a:buFont typeface="+mj-lt"/>
              <a:buAutoNum type="arabicPeriod"/>
            </a:pPr>
            <a:r>
              <a:rPr lang="es-ES" dirty="0"/>
              <a:t>Necesidad empresarial.</a:t>
            </a:r>
          </a:p>
          <a:p>
            <a:pPr lvl="1">
              <a:spcAft>
                <a:spcPts val="600"/>
              </a:spcAft>
              <a:buFont typeface="+mj-lt"/>
              <a:buAutoNum type="arabicPeriod"/>
            </a:pPr>
            <a:r>
              <a:rPr lang="es-ES" dirty="0"/>
              <a:t>Estructura y cultura organizacional.</a:t>
            </a:r>
          </a:p>
          <a:p>
            <a:pPr lvl="1">
              <a:spcAft>
                <a:spcPts val="600"/>
              </a:spcAft>
              <a:buFont typeface="+mj-lt"/>
              <a:buAutoNum type="arabicPeriod"/>
            </a:pPr>
            <a:r>
              <a:rPr lang="es-ES" dirty="0"/>
              <a:t>Capacidades y procesos.</a:t>
            </a:r>
          </a:p>
          <a:p>
            <a:pPr lvl="1">
              <a:spcAft>
                <a:spcPts val="600"/>
              </a:spcAft>
              <a:buFont typeface="+mj-lt"/>
              <a:buAutoNum type="arabicPeriod"/>
            </a:pPr>
            <a:r>
              <a:rPr lang="es-ES" dirty="0"/>
              <a:t>Tecnología e infraestructura.</a:t>
            </a:r>
          </a:p>
          <a:p>
            <a:pPr lvl="1">
              <a:spcAft>
                <a:spcPts val="600"/>
              </a:spcAft>
              <a:buFont typeface="+mj-lt"/>
              <a:buAutoNum type="arabicPeriod"/>
            </a:pPr>
            <a:r>
              <a:rPr lang="es-ES" dirty="0"/>
              <a:t>Políticas.</a:t>
            </a:r>
          </a:p>
          <a:p>
            <a:pPr lvl="1">
              <a:spcAft>
                <a:spcPts val="600"/>
              </a:spcAft>
              <a:buFont typeface="+mj-lt"/>
              <a:buAutoNum type="arabicPeriod"/>
            </a:pPr>
            <a:r>
              <a:rPr lang="es-ES" dirty="0"/>
              <a:t>Arquitectura empresarial.</a:t>
            </a:r>
          </a:p>
          <a:p>
            <a:pPr lvl="1">
              <a:spcAft>
                <a:spcPts val="600"/>
              </a:spcAft>
              <a:buFont typeface="+mj-lt"/>
              <a:buAutoNum type="arabicPeriod"/>
            </a:pPr>
            <a:r>
              <a:rPr lang="es-ES" dirty="0"/>
              <a:t>Activos internos.</a:t>
            </a:r>
          </a:p>
          <a:p>
            <a:pPr lvl="1">
              <a:buFont typeface="+mj-lt"/>
              <a:buAutoNum type="arabicPeriod"/>
            </a:pPr>
            <a:r>
              <a:rPr lang="es-ES" dirty="0"/>
              <a:t>Influenciadores externos.</a:t>
            </a:r>
            <a:endParaRPr lang="es-PE" dirty="0"/>
          </a:p>
        </p:txBody>
      </p:sp>
      <p:pic>
        <p:nvPicPr>
          <p:cNvPr id="4" name="Marcador de posición de imagen 3">
            <a:extLst>
              <a:ext uri="{FF2B5EF4-FFF2-40B4-BE49-F238E27FC236}">
                <a16:creationId xmlns:a16="http://schemas.microsoft.com/office/drawing/2014/main" id="{389442EE-C7EA-DB27-7DAE-F2F2497C1CD9}"/>
              </a:ext>
            </a:extLst>
          </p:cNvPr>
          <p:cNvPicPr>
            <a:picLocks noGrp="1" noChangeAspect="1"/>
          </p:cNvPicPr>
          <p:nvPr>
            <p:ph type="pic" sz="quarter" idx="10"/>
          </p:nvPr>
        </p:nvPicPr>
        <p:blipFill>
          <a:blip r:embed="rId3"/>
          <a:srcRect l="234" r="234"/>
          <a:stretch>
            <a:fillRect/>
          </a:stretch>
        </p:blipFill>
        <p:spPr/>
      </p:pic>
    </p:spTree>
    <p:extLst>
      <p:ext uri="{BB962C8B-B14F-4D97-AF65-F5344CB8AC3E}">
        <p14:creationId xmlns:p14="http://schemas.microsoft.com/office/powerpoint/2010/main" val="1937417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Necesidad empresarial</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ANALIZAR EL ESTADO ACTUAL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306887" cy="3561617"/>
          </a:xfrm>
        </p:spPr>
        <p:txBody>
          <a:bodyPr/>
          <a:lstStyle/>
          <a:p>
            <a:r>
              <a:rPr lang="es-ES" dirty="0"/>
              <a:t>Son los problemas y oportunidades de importancia estratégica que enfrenta la empresa.</a:t>
            </a:r>
          </a:p>
          <a:p>
            <a:r>
              <a:rPr lang="es-ES" dirty="0"/>
              <a:t>Las necesidades empresariales a menudo se identifican o expresan junto con una supuesta solución.</a:t>
            </a:r>
          </a:p>
          <a:p>
            <a:r>
              <a:rPr lang="es-ES" dirty="0"/>
              <a:t>El analista empresarial debe cuestionar las suposiciones y restricciones que generalmente están comprendidas en la declaración del problema para garantizar que se resuelva el problema correcto y que se considere la gama más amplia posible de soluciones alternativas.</a:t>
            </a:r>
          </a:p>
        </p:txBody>
      </p:sp>
      <p:pic>
        <p:nvPicPr>
          <p:cNvPr id="8" name="Marcador de posición de imagen 7">
            <a:extLst>
              <a:ext uri="{FF2B5EF4-FFF2-40B4-BE49-F238E27FC236}">
                <a16:creationId xmlns:a16="http://schemas.microsoft.com/office/drawing/2014/main" id="{3FCF166B-D60F-1380-1F7C-496CB7D5A244}"/>
              </a:ext>
            </a:extLst>
          </p:cNvPr>
          <p:cNvPicPr>
            <a:picLocks noGrp="1" noChangeAspect="1"/>
          </p:cNvPicPr>
          <p:nvPr>
            <p:ph type="pic" sz="quarter" idx="10"/>
          </p:nvPr>
        </p:nvPicPr>
        <p:blipFill>
          <a:blip r:embed="rId3"/>
          <a:srcRect l="127" r="127"/>
          <a:stretch>
            <a:fillRect/>
          </a:stretch>
        </p:blipFill>
        <p:spPr>
          <a:xfrm>
            <a:off x="4853056" y="824500"/>
            <a:ext cx="4086000" cy="4446000"/>
          </a:xfrm>
        </p:spPr>
      </p:pic>
    </p:spTree>
    <p:extLst>
      <p:ext uri="{BB962C8B-B14F-4D97-AF65-F5344CB8AC3E}">
        <p14:creationId xmlns:p14="http://schemas.microsoft.com/office/powerpoint/2010/main" val="2860052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Estructura y cultura organizacional</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ANALIZAR EL ESTADO ACTUAL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540292" cy="4111625"/>
          </a:xfrm>
        </p:spPr>
        <p:txBody>
          <a:bodyPr/>
          <a:lstStyle/>
          <a:p>
            <a:r>
              <a:rPr lang="es-ES" dirty="0"/>
              <a:t>Los canales de comunicación y las relaciones son influenciados por la estructura organizativa que puede ayudar o limitar un cambio potencial.</a:t>
            </a:r>
          </a:p>
          <a:p>
            <a:r>
              <a:rPr lang="es-ES" dirty="0"/>
              <a:t>La cultura organizacional es el conjunto de  creencias, valores y normas compartidas por los miembros de una organización. Estas impulsan las acciones tomadas.</a:t>
            </a:r>
          </a:p>
          <a:p>
            <a:pPr>
              <a:spcAft>
                <a:spcPts val="600"/>
              </a:spcAft>
            </a:pPr>
            <a:r>
              <a:rPr lang="es-ES" dirty="0"/>
              <a:t>Se realiza una evaluación cultural para realizar lo siguiente:</a:t>
            </a:r>
          </a:p>
          <a:p>
            <a:pPr lvl="1">
              <a:spcAft>
                <a:spcPts val="600"/>
              </a:spcAft>
            </a:pPr>
            <a:r>
              <a:rPr lang="es-ES" sz="1400" dirty="0"/>
              <a:t>Identificar si se requieren cambios culturales para lograr mejor los objetivos.</a:t>
            </a:r>
          </a:p>
          <a:p>
            <a:pPr lvl="1">
              <a:spcAft>
                <a:spcPts val="600"/>
              </a:spcAft>
            </a:pPr>
            <a:r>
              <a:rPr lang="es-ES" sz="1400" dirty="0"/>
              <a:t>Identificar si los </a:t>
            </a:r>
            <a:r>
              <a:rPr lang="es-ES" sz="1400" i="1" dirty="0"/>
              <a:t>stakeholders</a:t>
            </a:r>
            <a:r>
              <a:rPr lang="es-ES" sz="1400" dirty="0"/>
              <a:t> entienden la razón de ser del estado actual de la empresa.</a:t>
            </a:r>
          </a:p>
          <a:p>
            <a:pPr lvl="1">
              <a:spcAft>
                <a:spcPts val="600"/>
              </a:spcAft>
            </a:pPr>
            <a:r>
              <a:rPr lang="es-ES" sz="1400" dirty="0"/>
              <a:t>Determinar si los </a:t>
            </a:r>
            <a:r>
              <a:rPr lang="es-ES" sz="1400" i="1" dirty="0"/>
              <a:t>stakeholders</a:t>
            </a:r>
            <a:r>
              <a:rPr lang="es-ES" sz="1400" dirty="0"/>
              <a:t> piensan que es necesario un cambio.</a:t>
            </a:r>
          </a:p>
        </p:txBody>
      </p:sp>
      <p:pic>
        <p:nvPicPr>
          <p:cNvPr id="4" name="Marcador de posición de imagen 3">
            <a:extLst>
              <a:ext uri="{FF2B5EF4-FFF2-40B4-BE49-F238E27FC236}">
                <a16:creationId xmlns:a16="http://schemas.microsoft.com/office/drawing/2014/main" id="{06843161-D10B-F126-40D6-5FF42C08C41E}"/>
              </a:ext>
            </a:extLst>
          </p:cNvPr>
          <p:cNvPicPr>
            <a:picLocks noGrp="1" noChangeAspect="1"/>
          </p:cNvPicPr>
          <p:nvPr>
            <p:ph type="pic" sz="quarter" idx="10"/>
          </p:nvPr>
        </p:nvPicPr>
        <p:blipFill>
          <a:blip r:embed="rId3"/>
          <a:srcRect l="118" r="118"/>
          <a:stretch>
            <a:fillRect/>
          </a:stretch>
        </p:blipFill>
        <p:spPr>
          <a:xfrm>
            <a:off x="4916424" y="803833"/>
            <a:ext cx="4086000" cy="4446000"/>
          </a:xfrm>
        </p:spPr>
      </p:pic>
    </p:spTree>
    <p:extLst>
      <p:ext uri="{BB962C8B-B14F-4D97-AF65-F5344CB8AC3E}">
        <p14:creationId xmlns:p14="http://schemas.microsoft.com/office/powerpoint/2010/main" val="1522706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Capacidades y procesos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ANALIZAR EL ESTADO ACTUAL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342584" cy="4111625"/>
          </a:xfrm>
        </p:spPr>
        <p:txBody>
          <a:bodyPr/>
          <a:lstStyle/>
          <a:p>
            <a:r>
              <a:rPr lang="es-ES" dirty="0"/>
              <a:t>Incluye el conocimiento que tiene la empresa, los productos y servicios que proporciona, las funciones que soporta y los métodos que utiliza para tomar decisiones.</a:t>
            </a:r>
          </a:p>
          <a:p>
            <a:r>
              <a:rPr lang="es-ES" dirty="0"/>
              <a:t>Se miden mediante indicadores de rendimiento que se pueden utilizar para evaluar los beneficios de un cambio.</a:t>
            </a:r>
          </a:p>
          <a:p>
            <a:pPr>
              <a:spcAft>
                <a:spcPts val="600"/>
              </a:spcAft>
            </a:pPr>
            <a:r>
              <a:rPr lang="es-ES" dirty="0"/>
              <a:t>Puede usarse una visión …</a:t>
            </a:r>
          </a:p>
          <a:p>
            <a:pPr lvl="1">
              <a:spcAft>
                <a:spcPts val="600"/>
              </a:spcAft>
            </a:pPr>
            <a:r>
              <a:rPr lang="es-ES" sz="1400" dirty="0"/>
              <a:t>Centrada en la capacidad cuando se buscan soluciones innovadoras que combinan las capacidades existentes para producir un nuevo resultado. </a:t>
            </a:r>
          </a:p>
          <a:p>
            <a:pPr lvl="1">
              <a:spcAft>
                <a:spcPts val="600"/>
              </a:spcAft>
            </a:pPr>
            <a:r>
              <a:rPr lang="es-ES" sz="1400" dirty="0"/>
              <a:t>Una visión de la empresa centrada en los procesos cuando se buscan formas de mejorar el rendimiento de las actividades actuales.</a:t>
            </a:r>
          </a:p>
        </p:txBody>
      </p:sp>
      <p:pic>
        <p:nvPicPr>
          <p:cNvPr id="4" name="Marcador de posición de imagen 3">
            <a:extLst>
              <a:ext uri="{FF2B5EF4-FFF2-40B4-BE49-F238E27FC236}">
                <a16:creationId xmlns:a16="http://schemas.microsoft.com/office/drawing/2014/main" id="{1F5B1F95-B9E8-AF23-7ABC-C92F7B9C752A}"/>
              </a:ext>
            </a:extLst>
          </p:cNvPr>
          <p:cNvPicPr>
            <a:picLocks noGrp="1" noChangeAspect="1"/>
          </p:cNvPicPr>
          <p:nvPr>
            <p:ph type="pic" sz="quarter" idx="10"/>
          </p:nvPr>
        </p:nvPicPr>
        <p:blipFill>
          <a:blip r:embed="rId3"/>
          <a:srcRect l="340" r="340"/>
          <a:stretch>
            <a:fillRect/>
          </a:stretch>
        </p:blipFill>
        <p:spPr>
          <a:xfrm>
            <a:off x="4941138" y="824500"/>
            <a:ext cx="4086000" cy="4446000"/>
          </a:xfrm>
        </p:spPr>
      </p:pic>
    </p:spTree>
    <p:extLst>
      <p:ext uri="{BB962C8B-B14F-4D97-AF65-F5344CB8AC3E}">
        <p14:creationId xmlns:p14="http://schemas.microsoft.com/office/powerpoint/2010/main" val="1207521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Tecnología e infraestructura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ANALIZAR EL ESTADO ACTUAL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251968" cy="3223655"/>
          </a:xfrm>
        </p:spPr>
        <p:txBody>
          <a:bodyPr/>
          <a:lstStyle/>
          <a:p>
            <a:r>
              <a:rPr lang="es-ES" dirty="0"/>
              <a:t>Los sistemas de información utilizados por la empresa apoyan a las personas en la ejecución de procesos, la toma de decisiones y las interacciones con proveedores y clientes.</a:t>
            </a:r>
          </a:p>
          <a:p>
            <a:r>
              <a:rPr lang="es-ES" dirty="0"/>
              <a:t>La infraestructura describe el entorno de la empresa con respecto a los componentes físicos y las capacidades.</a:t>
            </a:r>
          </a:p>
          <a:p>
            <a:r>
              <a:rPr lang="es-ES" dirty="0"/>
              <a:t>La infraestructura puede incluir componentes tales como hardware de cómputo, plantas físicas y logística, así como su operación y mantenimiento.</a:t>
            </a:r>
          </a:p>
        </p:txBody>
      </p:sp>
      <p:pic>
        <p:nvPicPr>
          <p:cNvPr id="4" name="Marcador de posición de imagen 3">
            <a:extLst>
              <a:ext uri="{FF2B5EF4-FFF2-40B4-BE49-F238E27FC236}">
                <a16:creationId xmlns:a16="http://schemas.microsoft.com/office/drawing/2014/main" id="{28A95C28-61FC-3A59-179D-C5D18E2AD1F4}"/>
              </a:ext>
            </a:extLst>
          </p:cNvPr>
          <p:cNvPicPr>
            <a:picLocks noGrp="1" noChangeAspect="1"/>
          </p:cNvPicPr>
          <p:nvPr>
            <p:ph type="pic" sz="quarter" idx="10"/>
          </p:nvPr>
        </p:nvPicPr>
        <p:blipFill>
          <a:blip r:embed="rId3"/>
          <a:srcRect t="212" b="212"/>
          <a:stretch>
            <a:fillRect/>
          </a:stretch>
        </p:blipFill>
        <p:spPr>
          <a:xfrm>
            <a:off x="4932901" y="890579"/>
            <a:ext cx="4086000" cy="4446000"/>
          </a:xfrm>
        </p:spPr>
      </p:pic>
    </p:spTree>
    <p:extLst>
      <p:ext uri="{BB962C8B-B14F-4D97-AF65-F5344CB8AC3E}">
        <p14:creationId xmlns:p14="http://schemas.microsoft.com/office/powerpoint/2010/main" val="920093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Políticas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ANALIZAR EL ESTADO ACTUAL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82628" cy="4111625"/>
          </a:xfrm>
        </p:spPr>
        <p:txBody>
          <a:bodyPr/>
          <a:lstStyle/>
          <a:p>
            <a:r>
              <a:rPr lang="es-ES" dirty="0"/>
              <a:t>Definen el alcance de la toma de decisiones en los diferentes niveles de una empresa.</a:t>
            </a:r>
          </a:p>
          <a:p>
            <a:r>
              <a:rPr lang="es-ES" dirty="0"/>
              <a:t>Por lo general, abordan operaciones de rutina en lugar de cambios estratégicos.</a:t>
            </a:r>
          </a:p>
          <a:p>
            <a:r>
              <a:rPr lang="es-ES" dirty="0"/>
              <a:t>Aseguran que las decisiones se tomen correctamente, brindan orientación al personal sobre el comportamiento y las acciones permitidas y apropiadas, respaldan la gobernanza y determinan cuándo y cómo se pueden adquirir nuevos recursos.</a:t>
            </a:r>
          </a:p>
          <a:p>
            <a:r>
              <a:rPr lang="es-ES" dirty="0"/>
              <a:t>La identificación de políticas relevantes puede dar forma al alcance de las soluciones y puede ser una restricción en los tipos de acción que se planeen.</a:t>
            </a:r>
          </a:p>
          <a:p>
            <a:endParaRPr lang="es-ES" dirty="0"/>
          </a:p>
        </p:txBody>
      </p:sp>
      <p:pic>
        <p:nvPicPr>
          <p:cNvPr id="4" name="Marcador de posición de imagen 3">
            <a:extLst>
              <a:ext uri="{FF2B5EF4-FFF2-40B4-BE49-F238E27FC236}">
                <a16:creationId xmlns:a16="http://schemas.microsoft.com/office/drawing/2014/main" id="{44D40A89-EAE7-6896-472D-517D5F36C024}"/>
              </a:ext>
            </a:extLst>
          </p:cNvPr>
          <p:cNvPicPr>
            <a:picLocks noGrp="1" noChangeAspect="1"/>
          </p:cNvPicPr>
          <p:nvPr>
            <p:ph type="pic" sz="quarter" idx="10"/>
          </p:nvPr>
        </p:nvPicPr>
        <p:blipFill>
          <a:blip r:embed="rId3"/>
          <a:srcRect l="234" r="234"/>
          <a:stretch>
            <a:fillRect/>
          </a:stretch>
        </p:blipFill>
        <p:spPr>
          <a:xfrm>
            <a:off x="5058000" y="824500"/>
            <a:ext cx="4086000" cy="4446000"/>
          </a:xfrm>
        </p:spPr>
      </p:pic>
    </p:spTree>
    <p:extLst>
      <p:ext uri="{BB962C8B-B14F-4D97-AF65-F5344CB8AC3E}">
        <p14:creationId xmlns:p14="http://schemas.microsoft.com/office/powerpoint/2010/main" val="79770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Arquitectura empresarial</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ANALIZAR EL ESTADO ACTUAL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293157" cy="3751262"/>
          </a:xfrm>
        </p:spPr>
        <p:txBody>
          <a:bodyPr/>
          <a:lstStyle/>
          <a:p>
            <a:r>
              <a:rPr lang="es-ES" dirty="0"/>
              <a:t>Los analistas funcionales deben entender cómo todos los elementos del estado actual encajan y se apoyan entre sí para recomendar cambios que sean efectivos.</a:t>
            </a:r>
          </a:p>
          <a:p>
            <a:r>
              <a:rPr lang="es-ES" dirty="0"/>
              <a:t>La arquitectura empresarial existente, generalmente, satisface una variedad de necesidades empresariales y de los </a:t>
            </a:r>
            <a:r>
              <a:rPr lang="es-ES" i="1" dirty="0"/>
              <a:t>stakeholders.</a:t>
            </a:r>
          </a:p>
          <a:p>
            <a:r>
              <a:rPr lang="es-ES" dirty="0"/>
              <a:t>Si esas necesidades no se reconocen o no se siguen satisfaciendo mediante una transición propuesta a un estado futuro, entonces es probable que los cambios den como resultado una pérdida de valor.</a:t>
            </a:r>
          </a:p>
        </p:txBody>
      </p:sp>
      <p:pic>
        <p:nvPicPr>
          <p:cNvPr id="4" name="Marcador de posición de imagen 3">
            <a:extLst>
              <a:ext uri="{FF2B5EF4-FFF2-40B4-BE49-F238E27FC236}">
                <a16:creationId xmlns:a16="http://schemas.microsoft.com/office/drawing/2014/main" id="{6CB9FE89-D517-03F0-6BB0-41954C4245F9}"/>
              </a:ext>
            </a:extLst>
          </p:cNvPr>
          <p:cNvPicPr>
            <a:picLocks noGrp="1" noChangeAspect="1"/>
          </p:cNvPicPr>
          <p:nvPr>
            <p:ph type="pic" sz="quarter" idx="10"/>
          </p:nvPr>
        </p:nvPicPr>
        <p:blipFill>
          <a:blip r:embed="rId3"/>
          <a:srcRect l="225" r="225"/>
          <a:stretch>
            <a:fillRect/>
          </a:stretch>
        </p:blipFill>
        <p:spPr>
          <a:xfrm>
            <a:off x="4899949" y="804863"/>
            <a:ext cx="4086000" cy="4446000"/>
          </a:xfrm>
        </p:spPr>
      </p:pic>
    </p:spTree>
    <p:extLst>
      <p:ext uri="{BB962C8B-B14F-4D97-AF65-F5344CB8AC3E}">
        <p14:creationId xmlns:p14="http://schemas.microsoft.com/office/powerpoint/2010/main" val="1148021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Activos internos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ANALIZAR EL ESTADO ACTUAL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1798509"/>
          </a:xfrm>
        </p:spPr>
        <p:txBody>
          <a:bodyPr/>
          <a:lstStyle/>
          <a:p>
            <a:r>
              <a:rPr lang="es-ES" dirty="0"/>
              <a:t>Los analistas funcionales identifican los activos empresariales utilizados en el estado actual.</a:t>
            </a:r>
          </a:p>
          <a:p>
            <a:r>
              <a:rPr lang="es-ES" dirty="0"/>
              <a:t>Los recursos pueden ser tangibles o intangibles, tales como recursos financieros, patentes, reputación y marcas.</a:t>
            </a:r>
          </a:p>
        </p:txBody>
      </p:sp>
      <p:pic>
        <p:nvPicPr>
          <p:cNvPr id="4" name="Marcador de posición de imagen 3">
            <a:extLst>
              <a:ext uri="{FF2B5EF4-FFF2-40B4-BE49-F238E27FC236}">
                <a16:creationId xmlns:a16="http://schemas.microsoft.com/office/drawing/2014/main" id="{32AF1AEA-D905-886A-4FCC-3022C6DB2BE8}"/>
              </a:ext>
            </a:extLst>
          </p:cNvPr>
          <p:cNvPicPr>
            <a:picLocks noGrp="1" noChangeAspect="1"/>
          </p:cNvPicPr>
          <p:nvPr>
            <p:ph type="pic" sz="quarter" idx="10"/>
          </p:nvPr>
        </p:nvPicPr>
        <p:blipFill>
          <a:blip r:embed="rId3"/>
          <a:srcRect l="349" r="349"/>
          <a:stretch>
            <a:fillRect/>
          </a:stretch>
        </p:blipFill>
        <p:spPr>
          <a:xfrm>
            <a:off x="4858760" y="832480"/>
            <a:ext cx="4086000" cy="4446000"/>
          </a:xfrm>
        </p:spPr>
      </p:pic>
    </p:spTree>
    <p:extLst>
      <p:ext uri="{BB962C8B-B14F-4D97-AF65-F5344CB8AC3E}">
        <p14:creationId xmlns:p14="http://schemas.microsoft.com/office/powerpoint/2010/main" val="3622586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Influenciadores externos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ANALIZAR EL ESTADO ACTUAL</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227255" cy="3874444"/>
          </a:xfrm>
        </p:spPr>
        <p:txBody>
          <a:bodyPr/>
          <a:lstStyle/>
          <a:p>
            <a:r>
              <a:rPr lang="es-ES" dirty="0"/>
              <a:t>Existen influencias externas que no participan en un cambio, pero que pueden presentar restricciones, dependencias o ser impulsores del estado actual.</a:t>
            </a:r>
          </a:p>
          <a:p>
            <a:pPr>
              <a:spcAft>
                <a:spcPts val="600"/>
              </a:spcAft>
            </a:pPr>
            <a:r>
              <a:rPr lang="es-ES" dirty="0"/>
              <a:t>Las fuentes de influencia externa incluyen lo siguiente:</a:t>
            </a:r>
          </a:p>
          <a:p>
            <a:pPr lvl="1">
              <a:spcAft>
                <a:spcPts val="600"/>
              </a:spcAft>
            </a:pPr>
            <a:r>
              <a:rPr lang="es-ES" dirty="0"/>
              <a:t>Estructura de la industria,</a:t>
            </a:r>
          </a:p>
          <a:p>
            <a:pPr lvl="1">
              <a:spcAft>
                <a:spcPts val="600"/>
              </a:spcAft>
            </a:pPr>
            <a:r>
              <a:rPr lang="es-ES" dirty="0"/>
              <a:t>Competidores,</a:t>
            </a:r>
          </a:p>
          <a:p>
            <a:pPr lvl="1">
              <a:spcAft>
                <a:spcPts val="600"/>
              </a:spcAft>
            </a:pPr>
            <a:r>
              <a:rPr lang="es-ES" dirty="0"/>
              <a:t>Clientes,</a:t>
            </a:r>
          </a:p>
          <a:p>
            <a:pPr lvl="1">
              <a:spcAft>
                <a:spcPts val="600"/>
              </a:spcAft>
            </a:pPr>
            <a:r>
              <a:rPr lang="es-ES" dirty="0"/>
              <a:t>Proveedores,</a:t>
            </a:r>
          </a:p>
          <a:p>
            <a:pPr lvl="1">
              <a:spcAft>
                <a:spcPts val="600"/>
              </a:spcAft>
            </a:pPr>
            <a:r>
              <a:rPr lang="es-ES" dirty="0"/>
              <a:t>Entorno político y regulatorio,</a:t>
            </a:r>
          </a:p>
          <a:p>
            <a:pPr lvl="1">
              <a:spcAft>
                <a:spcPts val="600"/>
              </a:spcAft>
            </a:pPr>
            <a:r>
              <a:rPr lang="es-ES" dirty="0"/>
              <a:t>Tecnología,</a:t>
            </a:r>
          </a:p>
          <a:p>
            <a:pPr lvl="1">
              <a:spcAft>
                <a:spcPts val="600"/>
              </a:spcAft>
            </a:pPr>
            <a:r>
              <a:rPr lang="es-ES" dirty="0"/>
              <a:t>Factores macroeconómicos.</a:t>
            </a:r>
            <a:endParaRPr lang="es-ES" sz="1400" dirty="0"/>
          </a:p>
        </p:txBody>
      </p:sp>
      <p:pic>
        <p:nvPicPr>
          <p:cNvPr id="4" name="Marcador de posición de imagen 3">
            <a:extLst>
              <a:ext uri="{FF2B5EF4-FFF2-40B4-BE49-F238E27FC236}">
                <a16:creationId xmlns:a16="http://schemas.microsoft.com/office/drawing/2014/main" id="{5864AE7B-52EB-F56C-1E0E-6B90CF941705}"/>
              </a:ext>
            </a:extLst>
          </p:cNvPr>
          <p:cNvPicPr>
            <a:picLocks noGrp="1" noChangeAspect="1"/>
          </p:cNvPicPr>
          <p:nvPr>
            <p:ph type="pic" sz="quarter" idx="10"/>
          </p:nvPr>
        </p:nvPicPr>
        <p:blipFill>
          <a:blip r:embed="rId3"/>
          <a:srcRect t="96" b="96"/>
          <a:stretch>
            <a:fillRect/>
          </a:stretch>
        </p:blipFill>
        <p:spPr>
          <a:xfrm>
            <a:off x="4801095" y="824500"/>
            <a:ext cx="4086000" cy="4446000"/>
          </a:xfrm>
        </p:spPr>
      </p:pic>
    </p:spTree>
    <p:extLst>
      <p:ext uri="{BB962C8B-B14F-4D97-AF65-F5344CB8AC3E}">
        <p14:creationId xmlns:p14="http://schemas.microsoft.com/office/powerpoint/2010/main" val="1452850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arcador de posición de imagen 2">
            <a:extLst>
              <a:ext uri="{FF2B5EF4-FFF2-40B4-BE49-F238E27FC236}">
                <a16:creationId xmlns:a16="http://schemas.microsoft.com/office/drawing/2014/main" id="{DBBC4BF9-23BB-A3F6-4EA9-77E304C95F65}"/>
              </a:ext>
            </a:extLst>
          </p:cNvPr>
          <p:cNvPicPr>
            <a:picLocks noGrp="1" noChangeAspect="1"/>
          </p:cNvPicPr>
          <p:nvPr>
            <p:ph type="pic" sz="quarter" idx="10"/>
          </p:nvPr>
        </p:nvPicPr>
        <p:blipFill>
          <a:blip r:embed="rId3"/>
          <a:srcRect t="310" b="310"/>
          <a:stretch>
            <a:fillRect/>
          </a:stretch>
        </p:blipFill>
        <p:spPr/>
      </p:pic>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ANALIZAR EL ESTADO ACTUAL</a:t>
            </a:r>
          </a:p>
        </p:txBody>
      </p:sp>
      <p:sp>
        <p:nvSpPr>
          <p:cNvPr id="10" name="Marcador de texto 9">
            <a:extLst>
              <a:ext uri="{FF2B5EF4-FFF2-40B4-BE49-F238E27FC236}">
                <a16:creationId xmlns:a16="http://schemas.microsoft.com/office/drawing/2014/main" id="{A7762432-2400-C1CE-F508-0D6F157FCE60}"/>
              </a:ext>
            </a:extLst>
          </p:cNvPr>
          <p:cNvSpPr>
            <a:spLocks noGrp="1"/>
          </p:cNvSpPr>
          <p:nvPr>
            <p:ph type="body" sz="quarter" idx="14"/>
          </p:nvPr>
        </p:nvSpPr>
        <p:spPr/>
        <p:txBody>
          <a:bodyPr/>
          <a:lstStyle/>
          <a:p>
            <a:r>
              <a:rPr lang="es-ES" i="1" dirty="0"/>
              <a:t>Benchmarking</a:t>
            </a:r>
            <a:r>
              <a:rPr lang="es-ES" dirty="0"/>
              <a:t> y Análisis de mercado</a:t>
            </a:r>
          </a:p>
          <a:p>
            <a:r>
              <a:rPr lang="es-ES" dirty="0"/>
              <a:t>Análisis de capacidad empresarial</a:t>
            </a:r>
          </a:p>
          <a:p>
            <a:r>
              <a:rPr lang="es-ES" dirty="0"/>
              <a:t>Modelo de Negocios Canvas</a:t>
            </a:r>
          </a:p>
          <a:p>
            <a:r>
              <a:rPr lang="es-ES" dirty="0"/>
              <a:t>Caso de negocio</a:t>
            </a:r>
          </a:p>
          <a:p>
            <a:r>
              <a:rPr lang="es-ES" dirty="0"/>
              <a:t>Modelado de conceptos</a:t>
            </a:r>
          </a:p>
          <a:p>
            <a:r>
              <a:rPr lang="es-ES" i="1" dirty="0"/>
              <a:t>Data Mining</a:t>
            </a:r>
          </a:p>
          <a:p>
            <a:r>
              <a:rPr lang="es-ES" dirty="0"/>
              <a:t>Análisis documental</a:t>
            </a:r>
          </a:p>
          <a:p>
            <a:r>
              <a:rPr lang="es-ES" dirty="0"/>
              <a:t>Análisis financiero</a:t>
            </a:r>
          </a:p>
          <a:p>
            <a:r>
              <a:rPr lang="es-ES" i="1" dirty="0"/>
              <a:t>Focus group</a:t>
            </a:r>
          </a:p>
          <a:p>
            <a:r>
              <a:rPr lang="es-ES" dirty="0"/>
              <a:t>Descomposición funcional</a:t>
            </a:r>
          </a:p>
          <a:p>
            <a:r>
              <a:rPr lang="es-ES" dirty="0"/>
              <a:t>Entrevistas</a:t>
            </a:r>
          </a:p>
          <a:p>
            <a:r>
              <a:rPr lang="es-ES" dirty="0"/>
              <a:t>Seguimiento de  ítems</a:t>
            </a:r>
          </a:p>
          <a:p>
            <a:r>
              <a:rPr lang="es-ES" dirty="0"/>
              <a:t>Lecciones aprendidas</a:t>
            </a:r>
          </a:p>
          <a:p>
            <a:r>
              <a:rPr lang="es-ES" dirty="0"/>
              <a:t>Métricas y los KPI</a:t>
            </a:r>
          </a:p>
          <a:p>
            <a:r>
              <a:rPr lang="es-ES" dirty="0"/>
              <a:t>Mapa mental</a:t>
            </a:r>
          </a:p>
          <a:p>
            <a:r>
              <a:rPr lang="es-ES" dirty="0"/>
              <a:t>Observación</a:t>
            </a:r>
          </a:p>
          <a:p>
            <a:r>
              <a:rPr lang="es-ES" dirty="0"/>
              <a:t>Modelado organizacional</a:t>
            </a:r>
          </a:p>
          <a:p>
            <a:r>
              <a:rPr lang="es-ES" dirty="0"/>
              <a:t>Análisis de procesos</a:t>
            </a:r>
          </a:p>
          <a:p>
            <a:r>
              <a:rPr lang="es-ES" dirty="0"/>
              <a:t>Modelado de procesos</a:t>
            </a:r>
          </a:p>
          <a:p>
            <a:r>
              <a:rPr lang="es-ES" dirty="0"/>
              <a:t>Análisis y gestión de riesgos</a:t>
            </a:r>
          </a:p>
          <a:p>
            <a:r>
              <a:rPr lang="es-ES" dirty="0"/>
              <a:t>Análisis causa raíz</a:t>
            </a:r>
          </a:p>
          <a:p>
            <a:r>
              <a:rPr lang="es-ES" dirty="0"/>
              <a:t>Modelado del alcance</a:t>
            </a:r>
          </a:p>
          <a:p>
            <a:r>
              <a:rPr lang="es-ES" dirty="0"/>
              <a:t>Encuestas o cuestionarios</a:t>
            </a:r>
          </a:p>
          <a:p>
            <a:r>
              <a:rPr lang="es-ES" dirty="0"/>
              <a:t>Análisis FODA</a:t>
            </a:r>
          </a:p>
          <a:p>
            <a:r>
              <a:rPr lang="es-ES" dirty="0"/>
              <a:t>Evaluación de proveedores</a:t>
            </a:r>
          </a:p>
          <a:p>
            <a:r>
              <a:rPr lang="es-ES" dirty="0"/>
              <a:t>Talleres </a:t>
            </a:r>
            <a:endParaRPr lang="es-PE" dirty="0"/>
          </a:p>
        </p:txBody>
      </p:sp>
      <p:sp>
        <p:nvSpPr>
          <p:cNvPr id="11" name="Marcador de texto 10">
            <a:extLst>
              <a:ext uri="{FF2B5EF4-FFF2-40B4-BE49-F238E27FC236}">
                <a16:creationId xmlns:a16="http://schemas.microsoft.com/office/drawing/2014/main" id="{FB8EA5A3-F87E-86AB-6CBB-DDBD506FA1E1}"/>
              </a:ext>
            </a:extLst>
          </p:cNvPr>
          <p:cNvSpPr>
            <a:spLocks noGrp="1"/>
          </p:cNvSpPr>
          <p:nvPr>
            <p:ph type="body" sz="quarter" idx="15"/>
          </p:nvPr>
        </p:nvSpPr>
        <p:spPr/>
        <p:txBody>
          <a:bodyPr/>
          <a:lstStyle/>
          <a:p>
            <a:r>
              <a:rPr lang="es-PE" i="0" dirty="0"/>
              <a:t>TÉCNICAS BABOK</a:t>
            </a:r>
            <a:r>
              <a:rPr lang="es-PE" dirty="0"/>
              <a:t>®</a:t>
            </a:r>
          </a:p>
        </p:txBody>
      </p:sp>
    </p:spTree>
    <p:extLst>
      <p:ext uri="{BB962C8B-B14F-4D97-AF65-F5344CB8AC3E}">
        <p14:creationId xmlns:p14="http://schemas.microsoft.com/office/powerpoint/2010/main" val="2715392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B6DEEE20-5BC3-C322-6C9D-320DBAE701DF}"/>
              </a:ext>
            </a:extLst>
          </p:cNvPr>
          <p:cNvSpPr>
            <a:spLocks noGrp="1"/>
          </p:cNvSpPr>
          <p:nvPr>
            <p:ph type="body" sz="quarter" idx="11"/>
          </p:nvPr>
        </p:nvSpPr>
        <p:spPr/>
        <p:txBody>
          <a:bodyPr/>
          <a:lstStyle/>
          <a:p>
            <a:r>
              <a:rPr lang="es-PE" dirty="0"/>
              <a:t>LA NECESIDAD DEL NEGOCIO</a:t>
            </a:r>
          </a:p>
        </p:txBody>
      </p:sp>
      <p:sp>
        <p:nvSpPr>
          <p:cNvPr id="3" name="Marcador de texto 2">
            <a:extLst>
              <a:ext uri="{FF2B5EF4-FFF2-40B4-BE49-F238E27FC236}">
                <a16:creationId xmlns:a16="http://schemas.microsoft.com/office/drawing/2014/main" id="{F1C85DDA-0020-4FFA-79B3-B700B78091A4}"/>
              </a:ext>
            </a:extLst>
          </p:cNvPr>
          <p:cNvSpPr>
            <a:spLocks noGrp="1"/>
          </p:cNvSpPr>
          <p:nvPr>
            <p:ph type="body" sz="quarter" idx="12"/>
          </p:nvPr>
        </p:nvSpPr>
        <p:spPr/>
        <p:txBody>
          <a:bodyPr/>
          <a:lstStyle/>
          <a:p>
            <a:r>
              <a:rPr lang="es-PE" dirty="0"/>
              <a:t>DEFINIR EL ESTADO FUTURO</a:t>
            </a:r>
          </a:p>
          <a:p>
            <a:endParaRPr lang="es-PE" dirty="0"/>
          </a:p>
          <a:p>
            <a:pPr marL="0" marR="0" lvl="0" indent="0" algn="ctr" defTabSz="457200" rtl="0" eaLnBrk="1" fontAlgn="auto" latinLnBrk="0" hangingPunct="1">
              <a:lnSpc>
                <a:spcPct val="75000"/>
              </a:lnSpc>
              <a:spcBef>
                <a:spcPts val="0"/>
              </a:spcBef>
              <a:spcAft>
                <a:spcPts val="0"/>
              </a:spcAft>
              <a:buClrTx/>
              <a:buSzTx/>
              <a:buFont typeface="Arial"/>
              <a:buNone/>
              <a:tabLst/>
              <a:defRPr/>
            </a:pPr>
            <a:r>
              <a:rPr kumimoji="0" lang="es-PE" sz="3200" b="0" u="none" strike="noStrike" kern="1200" cap="none" spc="-200" normalizeH="0" baseline="0" noProof="0" dirty="0">
                <a:ln>
                  <a:noFill/>
                </a:ln>
                <a:solidFill>
                  <a:srgbClr val="1F85A6"/>
                </a:solidFill>
                <a:effectLst/>
                <a:uLnTx/>
                <a:uFillTx/>
                <a:latin typeface="Calibri"/>
                <a:ea typeface="+mn-ea"/>
                <a:cs typeface="+mn-cs"/>
              </a:rPr>
              <a:t>(QUÉ SE DESEA ALCANZAR CON EL CAMBIO</a:t>
            </a:r>
            <a:r>
              <a:rPr kumimoji="0" lang="es-PE" sz="3200" b="0" i="1" u="none" strike="noStrike" kern="1200" cap="none" spc="-200" normalizeH="0" baseline="0" noProof="0" dirty="0">
                <a:ln>
                  <a:noFill/>
                </a:ln>
                <a:solidFill>
                  <a:srgbClr val="1F85A6"/>
                </a:solidFill>
                <a:effectLst/>
                <a:uLnTx/>
                <a:uFillTx/>
                <a:latin typeface="Calibri"/>
                <a:ea typeface="+mn-ea"/>
                <a:cs typeface="+mn-cs"/>
              </a:rPr>
              <a:t>)</a:t>
            </a:r>
            <a:endParaRPr lang="es-PE" dirty="0"/>
          </a:p>
        </p:txBody>
      </p:sp>
    </p:spTree>
    <p:extLst>
      <p:ext uri="{BB962C8B-B14F-4D97-AF65-F5344CB8AC3E}">
        <p14:creationId xmlns:p14="http://schemas.microsoft.com/office/powerpoint/2010/main" val="3134325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Objetivo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DEFINIR EL ESTADO FUTURO</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Determinar el conjunto de </a:t>
            </a:r>
            <a:r>
              <a:rPr lang="es-ES" b="1" dirty="0"/>
              <a:t>condiciones necesarias para satisfacer la necesidad del negocio</a:t>
            </a:r>
            <a:r>
              <a:rPr lang="es-ES" dirty="0"/>
              <a:t>.</a:t>
            </a:r>
          </a:p>
          <a:p>
            <a:pPr>
              <a:spcAft>
                <a:spcPts val="100"/>
              </a:spcAft>
            </a:pPr>
            <a:r>
              <a:rPr lang="es-ES" dirty="0"/>
              <a:t>Se debe de tener en cuenta, lo siguiente:</a:t>
            </a:r>
          </a:p>
          <a:p>
            <a:pPr lvl="1">
              <a:spcAft>
                <a:spcPts val="100"/>
              </a:spcAft>
              <a:buFont typeface="+mj-lt"/>
              <a:buAutoNum type="arabicPeriod"/>
            </a:pPr>
            <a:r>
              <a:rPr lang="es-ES" dirty="0"/>
              <a:t>Metas y objetivos empresariales,</a:t>
            </a:r>
          </a:p>
          <a:p>
            <a:pPr lvl="1">
              <a:spcAft>
                <a:spcPts val="100"/>
              </a:spcAft>
              <a:buFont typeface="+mj-lt"/>
              <a:buAutoNum type="arabicPeriod"/>
            </a:pPr>
            <a:r>
              <a:rPr lang="es-ES" dirty="0"/>
              <a:t>Alcance de la solución,</a:t>
            </a:r>
          </a:p>
          <a:p>
            <a:pPr lvl="1">
              <a:spcAft>
                <a:spcPts val="100"/>
              </a:spcAft>
              <a:buFont typeface="+mj-lt"/>
              <a:buAutoNum type="arabicPeriod"/>
            </a:pPr>
            <a:r>
              <a:rPr lang="es-ES" dirty="0"/>
              <a:t>Restricciones,</a:t>
            </a:r>
          </a:p>
          <a:p>
            <a:pPr lvl="1">
              <a:spcAft>
                <a:spcPts val="100"/>
              </a:spcAft>
              <a:buFont typeface="+mj-lt"/>
              <a:buAutoNum type="arabicPeriod"/>
            </a:pPr>
            <a:r>
              <a:rPr lang="es-ES" dirty="0"/>
              <a:t>Estructura y cultura organizacional,</a:t>
            </a:r>
          </a:p>
          <a:p>
            <a:pPr lvl="1">
              <a:spcAft>
                <a:spcPts val="100"/>
              </a:spcAft>
              <a:buFont typeface="+mj-lt"/>
              <a:buAutoNum type="arabicPeriod"/>
            </a:pPr>
            <a:r>
              <a:rPr lang="es-ES" dirty="0"/>
              <a:t>Capacidades y procesos,</a:t>
            </a:r>
          </a:p>
          <a:p>
            <a:pPr lvl="1">
              <a:spcAft>
                <a:spcPts val="100"/>
              </a:spcAft>
              <a:buFont typeface="+mj-lt"/>
              <a:buAutoNum type="arabicPeriod"/>
            </a:pPr>
            <a:r>
              <a:rPr lang="es-ES" dirty="0"/>
              <a:t>Tecnología e infraestructura,</a:t>
            </a:r>
          </a:p>
          <a:p>
            <a:pPr lvl="1">
              <a:spcAft>
                <a:spcPts val="100"/>
              </a:spcAft>
              <a:buFont typeface="+mj-lt"/>
              <a:buAutoNum type="arabicPeriod"/>
            </a:pPr>
            <a:r>
              <a:rPr lang="es-ES" dirty="0"/>
              <a:t>Políticas,</a:t>
            </a:r>
          </a:p>
          <a:p>
            <a:pPr lvl="1">
              <a:spcAft>
                <a:spcPts val="100"/>
              </a:spcAft>
              <a:buFont typeface="+mj-lt"/>
              <a:buAutoNum type="arabicPeriod"/>
            </a:pPr>
            <a:r>
              <a:rPr lang="es-ES" dirty="0"/>
              <a:t>Arquitectura empresarial,</a:t>
            </a:r>
          </a:p>
          <a:p>
            <a:pPr lvl="1">
              <a:spcAft>
                <a:spcPts val="100"/>
              </a:spcAft>
              <a:buFont typeface="+mj-lt"/>
              <a:buAutoNum type="arabicPeriod"/>
            </a:pPr>
            <a:r>
              <a:rPr lang="es-ES" dirty="0"/>
              <a:t>Activos internos,</a:t>
            </a:r>
          </a:p>
          <a:p>
            <a:pPr lvl="1">
              <a:spcAft>
                <a:spcPts val="100"/>
              </a:spcAft>
              <a:buFont typeface="+mj-lt"/>
              <a:buAutoNum type="arabicPeriod"/>
            </a:pPr>
            <a:r>
              <a:rPr lang="es-ES" dirty="0"/>
              <a:t>Identificación de supuestos,</a:t>
            </a:r>
          </a:p>
          <a:p>
            <a:pPr lvl="1">
              <a:spcAft>
                <a:spcPts val="100"/>
              </a:spcAft>
              <a:buFont typeface="+mj-lt"/>
              <a:buAutoNum type="arabicPeriod"/>
            </a:pPr>
            <a:r>
              <a:rPr lang="es-ES" dirty="0"/>
              <a:t>Valor potencial.</a:t>
            </a:r>
          </a:p>
        </p:txBody>
      </p:sp>
      <p:pic>
        <p:nvPicPr>
          <p:cNvPr id="4" name="Marcador de posición de imagen 3">
            <a:extLst>
              <a:ext uri="{FF2B5EF4-FFF2-40B4-BE49-F238E27FC236}">
                <a16:creationId xmlns:a16="http://schemas.microsoft.com/office/drawing/2014/main" id="{7E8D1A18-EF85-9EBA-238C-A6FD6C71046D}"/>
              </a:ext>
            </a:extLst>
          </p:cNvPr>
          <p:cNvPicPr>
            <a:picLocks noGrp="1" noChangeAspect="1"/>
          </p:cNvPicPr>
          <p:nvPr>
            <p:ph type="pic" sz="quarter" idx="10"/>
          </p:nvPr>
        </p:nvPicPr>
        <p:blipFill>
          <a:blip r:embed="rId3"/>
          <a:srcRect l="109" r="109"/>
          <a:stretch>
            <a:fillRect/>
          </a:stretch>
        </p:blipFill>
        <p:spPr/>
      </p:pic>
    </p:spTree>
    <p:extLst>
      <p:ext uri="{BB962C8B-B14F-4D97-AF65-F5344CB8AC3E}">
        <p14:creationId xmlns:p14="http://schemas.microsoft.com/office/powerpoint/2010/main" val="2907356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Metas y objetivos empresariales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DEFINIR EL ESTADO FUTURO</a:t>
            </a:r>
          </a:p>
        </p:txBody>
      </p:sp>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5"/>
            <a:ext cx="4523817" cy="4111625"/>
          </a:xfrm>
        </p:spPr>
        <p:txBody>
          <a:bodyPr/>
          <a:lstStyle/>
          <a:p>
            <a:r>
              <a:rPr lang="es-ES" dirty="0"/>
              <a:t>Un estado futuro se puede describir en términos de metas o de objetivos.</a:t>
            </a:r>
          </a:p>
          <a:p>
            <a:pPr>
              <a:spcAft>
                <a:spcPts val="0"/>
              </a:spcAft>
            </a:pPr>
            <a:r>
              <a:rPr lang="es-ES" dirty="0"/>
              <a:t>Las metas son declaraciones cualitativas, de una condición que se busca establecer, como por ejemplo:</a:t>
            </a:r>
          </a:p>
          <a:p>
            <a:pPr lvl="1">
              <a:spcAft>
                <a:spcPts val="0"/>
              </a:spcAft>
            </a:pPr>
            <a:r>
              <a:rPr lang="es-ES" sz="1400" dirty="0"/>
              <a:t>Crear una nueva capacidad.</a:t>
            </a:r>
          </a:p>
          <a:p>
            <a:pPr lvl="1">
              <a:spcAft>
                <a:spcPts val="0"/>
              </a:spcAft>
            </a:pPr>
            <a:r>
              <a:rPr lang="es-ES" sz="1400" dirty="0"/>
              <a:t>Mejorar los ingresos aumentando las ventas.</a:t>
            </a:r>
          </a:p>
          <a:p>
            <a:pPr lvl="1">
              <a:spcAft>
                <a:spcPts val="0"/>
              </a:spcAft>
            </a:pPr>
            <a:r>
              <a:rPr lang="es-ES" sz="1400" dirty="0"/>
              <a:t>Incrementar la satisfacción del cliente.</a:t>
            </a:r>
          </a:p>
          <a:p>
            <a:pPr lvl="1">
              <a:spcAft>
                <a:spcPts val="0"/>
              </a:spcAft>
            </a:pPr>
            <a:r>
              <a:rPr lang="es-ES" sz="1400" dirty="0"/>
              <a:t>Incrementar la satisfacción de los empleados.</a:t>
            </a:r>
          </a:p>
          <a:p>
            <a:pPr lvl="1">
              <a:spcAft>
                <a:spcPts val="0"/>
              </a:spcAft>
            </a:pPr>
            <a:r>
              <a:rPr lang="es-ES" sz="1400" dirty="0"/>
              <a:t>Cumplir con las nuevas regulaciones.</a:t>
            </a:r>
          </a:p>
          <a:p>
            <a:pPr lvl="1">
              <a:spcAft>
                <a:spcPts val="0"/>
              </a:spcAft>
            </a:pPr>
            <a:r>
              <a:rPr lang="es-ES" sz="1400" dirty="0"/>
              <a:t>Mejorar la seguridad.</a:t>
            </a:r>
          </a:p>
          <a:p>
            <a:pPr lvl="1"/>
            <a:r>
              <a:rPr lang="es-ES" sz="1400" dirty="0"/>
              <a:t>Reducir el tiempo de entrega de un producto.</a:t>
            </a:r>
          </a:p>
          <a:p>
            <a:r>
              <a:rPr lang="es-ES" dirty="0"/>
              <a:t>A medida que se analizan las metas, se convierten en objetivos más descriptivos, granulares y específicos, y se vinculan a medidas que permiten evaluar objetivamente.</a:t>
            </a:r>
          </a:p>
        </p:txBody>
      </p:sp>
      <p:pic>
        <p:nvPicPr>
          <p:cNvPr id="35" name="Marcador de posición de imagen 34">
            <a:extLst>
              <a:ext uri="{FF2B5EF4-FFF2-40B4-BE49-F238E27FC236}">
                <a16:creationId xmlns:a16="http://schemas.microsoft.com/office/drawing/2014/main" id="{DD8D9F28-589C-76EC-4307-E337D0F1B1FF}"/>
              </a:ext>
            </a:extLst>
          </p:cNvPr>
          <p:cNvPicPr>
            <a:picLocks noGrp="1" noChangeAspect="1"/>
          </p:cNvPicPr>
          <p:nvPr>
            <p:ph type="pic" sz="quarter" idx="10"/>
          </p:nvPr>
        </p:nvPicPr>
        <p:blipFill>
          <a:blip r:embed="rId3"/>
          <a:srcRect l="2" r="2"/>
          <a:stretch>
            <a:fillRect/>
          </a:stretch>
        </p:blipFill>
        <p:spPr>
          <a:xfrm>
            <a:off x="5058000" y="816438"/>
            <a:ext cx="4086000" cy="4446000"/>
          </a:xfrm>
        </p:spPr>
      </p:pic>
    </p:spTree>
    <p:extLst>
      <p:ext uri="{BB962C8B-B14F-4D97-AF65-F5344CB8AC3E}">
        <p14:creationId xmlns:p14="http://schemas.microsoft.com/office/powerpoint/2010/main" val="691507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Alcance de la solución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DEFINIR EL ESTADO FUTURO</a:t>
            </a:r>
          </a:p>
        </p:txBody>
      </p:sp>
      <p:pic>
        <p:nvPicPr>
          <p:cNvPr id="5" name="Marcador de posición de imagen 4">
            <a:extLst>
              <a:ext uri="{FF2B5EF4-FFF2-40B4-BE49-F238E27FC236}">
                <a16:creationId xmlns:a16="http://schemas.microsoft.com/office/drawing/2014/main" id="{6DC5F59B-DA38-9323-DFD3-FE33AF15BAE1}"/>
              </a:ext>
            </a:extLst>
          </p:cNvPr>
          <p:cNvPicPr>
            <a:picLocks noGrp="1" noChangeAspect="1"/>
          </p:cNvPicPr>
          <p:nvPr>
            <p:ph type="pic" sz="quarter" idx="10"/>
          </p:nvPr>
        </p:nvPicPr>
        <p:blipFill>
          <a:blip r:embed="rId3"/>
          <a:srcRect l="340" r="340"/>
          <a:stretch>
            <a:fillRect/>
          </a:stretch>
        </p:blipFill>
        <p:spPr>
          <a:xfrm>
            <a:off x="4907970" y="816438"/>
            <a:ext cx="4086000" cy="4446000"/>
          </a:xfrm>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5"/>
            <a:ext cx="4296192" cy="3244683"/>
          </a:xfrm>
        </p:spPr>
        <p:txBody>
          <a:bodyPr/>
          <a:lstStyle/>
          <a:p>
            <a:pPr>
              <a:spcAft>
                <a:spcPts val="600"/>
              </a:spcAft>
            </a:pPr>
            <a:r>
              <a:rPr lang="es-ES" dirty="0"/>
              <a:t>Define qué tipos de opciones se considerarán al buscar posibles soluciones, incluidos:</a:t>
            </a:r>
          </a:p>
          <a:p>
            <a:pPr lvl="1">
              <a:spcAft>
                <a:spcPts val="600"/>
              </a:spcAft>
            </a:pPr>
            <a:r>
              <a:rPr lang="es-ES" sz="1400" dirty="0"/>
              <a:t>Cambios en estructura y cultura organizacional,</a:t>
            </a:r>
          </a:p>
          <a:p>
            <a:pPr lvl="1">
              <a:spcAft>
                <a:spcPts val="600"/>
              </a:spcAft>
            </a:pPr>
            <a:r>
              <a:rPr lang="es-ES" sz="1400" dirty="0"/>
              <a:t>Capacidades empresariales,</a:t>
            </a:r>
          </a:p>
          <a:p>
            <a:pPr lvl="1">
              <a:spcAft>
                <a:spcPts val="600"/>
              </a:spcAft>
            </a:pPr>
            <a:r>
              <a:rPr lang="es-ES" sz="1400" dirty="0"/>
              <a:t>Políticas,</a:t>
            </a:r>
          </a:p>
          <a:p>
            <a:pPr lvl="1">
              <a:spcAft>
                <a:spcPts val="600"/>
              </a:spcAft>
            </a:pPr>
            <a:r>
              <a:rPr lang="es-ES" sz="1400" dirty="0"/>
              <a:t>Productos o servicios, </a:t>
            </a:r>
          </a:p>
          <a:p>
            <a:pPr lvl="1"/>
            <a:r>
              <a:rPr lang="es-ES" sz="1400" dirty="0"/>
              <a:t>Relaciones con otras organizaciones.</a:t>
            </a:r>
          </a:p>
          <a:p>
            <a:r>
              <a:rPr lang="es-ES" dirty="0">
                <a:solidFill>
                  <a:srgbClr val="FF0000"/>
                </a:solidFill>
              </a:rPr>
              <a:t>Si existieran múltiples estados futuros, la elección se basará en el valor que se entregará a los </a:t>
            </a:r>
            <a:r>
              <a:rPr lang="es-ES" i="1" dirty="0">
                <a:solidFill>
                  <a:srgbClr val="FF0000"/>
                </a:solidFill>
              </a:rPr>
              <a:t>stakeholders.</a:t>
            </a:r>
          </a:p>
        </p:txBody>
      </p:sp>
    </p:spTree>
    <p:extLst>
      <p:ext uri="{BB962C8B-B14F-4D97-AF65-F5344CB8AC3E}">
        <p14:creationId xmlns:p14="http://schemas.microsoft.com/office/powerpoint/2010/main" val="3961531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Restricciones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DEFINIR EL ESTADO FUTURO</a:t>
            </a:r>
          </a:p>
        </p:txBody>
      </p:sp>
      <p:pic>
        <p:nvPicPr>
          <p:cNvPr id="5" name="Marcador de posición de imagen 4">
            <a:extLst>
              <a:ext uri="{FF2B5EF4-FFF2-40B4-BE49-F238E27FC236}">
                <a16:creationId xmlns:a16="http://schemas.microsoft.com/office/drawing/2014/main" id="{3FE3A88D-AA69-53A8-72D1-DC89C7998562}"/>
              </a:ext>
            </a:extLst>
          </p:cNvPr>
          <p:cNvPicPr>
            <a:picLocks noGrp="1" noChangeAspect="1"/>
          </p:cNvPicPr>
          <p:nvPr>
            <p:ph type="pic" sz="quarter" idx="10"/>
          </p:nvPr>
        </p:nvPicPr>
        <p:blipFill>
          <a:blip r:embed="rId3"/>
          <a:srcRect l="127" r="127"/>
          <a:stretch>
            <a:fillRect/>
          </a:stretch>
        </p:blipFill>
        <p:spPr>
          <a:xfrm>
            <a:off x="4915991" y="804863"/>
            <a:ext cx="4086000" cy="4446000"/>
          </a:xfrm>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5"/>
            <a:ext cx="4368382" cy="4278312"/>
          </a:xfrm>
        </p:spPr>
        <p:txBody>
          <a:bodyPr/>
          <a:lstStyle/>
          <a:p>
            <a:r>
              <a:rPr lang="es-ES" dirty="0"/>
              <a:t>Describen aspectos del estado actual que la solución no puede cambiar o elementos obligatorios del diseño.</a:t>
            </a:r>
          </a:p>
          <a:p>
            <a:pPr>
              <a:spcAft>
                <a:spcPts val="300"/>
              </a:spcAft>
            </a:pPr>
            <a:r>
              <a:rPr lang="es-ES" dirty="0"/>
              <a:t>Pueden reflejar cualquiera de los siguientes aspectos:</a:t>
            </a:r>
          </a:p>
          <a:p>
            <a:pPr lvl="1">
              <a:spcAft>
                <a:spcPts val="300"/>
              </a:spcAft>
            </a:pPr>
            <a:r>
              <a:rPr lang="es-ES" dirty="0"/>
              <a:t>Restricciones presupuestarias,</a:t>
            </a:r>
          </a:p>
          <a:p>
            <a:pPr lvl="1">
              <a:spcAft>
                <a:spcPts val="300"/>
              </a:spcAft>
            </a:pPr>
            <a:r>
              <a:rPr lang="es-ES" dirty="0"/>
              <a:t>Restricciones de tiempo,</a:t>
            </a:r>
          </a:p>
          <a:p>
            <a:pPr lvl="1">
              <a:spcAft>
                <a:spcPts val="300"/>
              </a:spcAft>
            </a:pPr>
            <a:r>
              <a:rPr lang="es-ES" dirty="0"/>
              <a:t>Tecnología,</a:t>
            </a:r>
          </a:p>
          <a:p>
            <a:pPr lvl="1">
              <a:spcAft>
                <a:spcPts val="300"/>
              </a:spcAft>
            </a:pPr>
            <a:r>
              <a:rPr lang="es-ES" dirty="0"/>
              <a:t>Infraestructura,</a:t>
            </a:r>
          </a:p>
          <a:p>
            <a:pPr lvl="1">
              <a:spcAft>
                <a:spcPts val="300"/>
              </a:spcAft>
            </a:pPr>
            <a:r>
              <a:rPr lang="es-ES" dirty="0"/>
              <a:t>Políticas,</a:t>
            </a:r>
          </a:p>
          <a:p>
            <a:pPr lvl="1">
              <a:spcAft>
                <a:spcPts val="300"/>
              </a:spcAft>
            </a:pPr>
            <a:r>
              <a:rPr lang="es-ES" dirty="0"/>
              <a:t>Límites de recursos disponibles,</a:t>
            </a:r>
          </a:p>
          <a:p>
            <a:pPr lvl="1">
              <a:spcAft>
                <a:spcPts val="300"/>
              </a:spcAft>
            </a:pPr>
            <a:r>
              <a:rPr lang="es-ES" dirty="0"/>
              <a:t>En las habilidades del equipo,</a:t>
            </a:r>
          </a:p>
          <a:p>
            <a:pPr lvl="1">
              <a:spcAft>
                <a:spcPts val="300"/>
              </a:spcAft>
            </a:pPr>
            <a:r>
              <a:rPr lang="es-ES" dirty="0"/>
              <a:t>Un requisito de que cierto </a:t>
            </a:r>
            <a:r>
              <a:rPr lang="es-ES" i="1" dirty="0"/>
              <a:t>stakeholder</a:t>
            </a:r>
            <a:r>
              <a:rPr lang="es-ES" dirty="0"/>
              <a:t> no sea afectado por la solución,</a:t>
            </a:r>
          </a:p>
          <a:p>
            <a:pPr lvl="1">
              <a:spcAft>
                <a:spcPts val="300"/>
              </a:spcAft>
            </a:pPr>
            <a:r>
              <a:rPr lang="es-ES" dirty="0"/>
              <a:t>Cumplimiento de las reglamentaciones.</a:t>
            </a:r>
          </a:p>
        </p:txBody>
      </p:sp>
    </p:spTree>
    <p:extLst>
      <p:ext uri="{BB962C8B-B14F-4D97-AF65-F5344CB8AC3E}">
        <p14:creationId xmlns:p14="http://schemas.microsoft.com/office/powerpoint/2010/main" val="3493822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Estructura y cultura organizacional</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DEFINIR EL ESTADO FUTURO</a:t>
            </a:r>
          </a:p>
        </p:txBody>
      </p:sp>
      <p:pic>
        <p:nvPicPr>
          <p:cNvPr id="5" name="Marcador de posición de imagen 4">
            <a:extLst>
              <a:ext uri="{FF2B5EF4-FFF2-40B4-BE49-F238E27FC236}">
                <a16:creationId xmlns:a16="http://schemas.microsoft.com/office/drawing/2014/main" id="{77EA1DEE-35A3-CE5E-9C1B-989F4BA23AC5}"/>
              </a:ext>
            </a:extLst>
          </p:cNvPr>
          <p:cNvPicPr>
            <a:picLocks noGrp="1" noChangeAspect="1"/>
          </p:cNvPicPr>
          <p:nvPr>
            <p:ph type="pic" sz="quarter" idx="10"/>
          </p:nvPr>
        </p:nvPicPr>
        <p:blipFill>
          <a:blip r:embed="rId3"/>
          <a:srcRect l="109" r="109"/>
          <a:stretch>
            <a:fillRect/>
          </a:stretch>
        </p:blipFill>
        <p:spPr>
          <a:xfrm>
            <a:off x="4915992" y="804863"/>
            <a:ext cx="4086000" cy="4446000"/>
          </a:xfrm>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6"/>
            <a:ext cx="4103687" cy="3268746"/>
          </a:xfrm>
        </p:spPr>
        <p:txBody>
          <a:bodyPr/>
          <a:lstStyle/>
          <a:p>
            <a:r>
              <a:rPr lang="es-ES" dirty="0"/>
              <a:t>Las relaciones laborales formales e informales que existen dentro de la empresa pueden necesitar cambios para facilitar el estado futuro deseado.</a:t>
            </a:r>
          </a:p>
          <a:p>
            <a:r>
              <a:rPr lang="es-ES" dirty="0"/>
              <a:t>Los cambios en las líneas de informes pueden alentar a los equipos a trabajar  juntos y facilitar la alineación de metas y objetivos.</a:t>
            </a:r>
          </a:p>
          <a:p>
            <a:r>
              <a:rPr lang="es-ES" dirty="0"/>
              <a:t>La descripción de los componentes del estado futuro proporciona información sobre posibles conflictos, impactos y límites.</a:t>
            </a:r>
          </a:p>
        </p:txBody>
      </p:sp>
    </p:spTree>
    <p:extLst>
      <p:ext uri="{BB962C8B-B14F-4D97-AF65-F5344CB8AC3E}">
        <p14:creationId xmlns:p14="http://schemas.microsoft.com/office/powerpoint/2010/main" val="321441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Capacidades y procesos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DEFINIR EL ESTADO FUTURO</a:t>
            </a:r>
          </a:p>
        </p:txBody>
      </p:sp>
      <p:pic>
        <p:nvPicPr>
          <p:cNvPr id="5" name="Marcador de posición de imagen 4">
            <a:extLst>
              <a:ext uri="{FF2B5EF4-FFF2-40B4-BE49-F238E27FC236}">
                <a16:creationId xmlns:a16="http://schemas.microsoft.com/office/drawing/2014/main" id="{0ED7FC50-A2BE-D008-358F-AFE75B02B7DB}"/>
              </a:ext>
            </a:extLst>
          </p:cNvPr>
          <p:cNvPicPr>
            <a:picLocks noGrp="1" noChangeAspect="1"/>
          </p:cNvPicPr>
          <p:nvPr>
            <p:ph type="pic" sz="quarter" idx="10"/>
          </p:nvPr>
        </p:nvPicPr>
        <p:blipFill>
          <a:blip r:embed="rId3"/>
          <a:srcRect l="109" r="109"/>
          <a:stretch>
            <a:fillRect/>
          </a:stretch>
        </p:blipFill>
        <p:spPr>
          <a:xfrm>
            <a:off x="4915991" y="824500"/>
            <a:ext cx="4086000" cy="4446000"/>
          </a:xfrm>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5"/>
            <a:ext cx="4103687" cy="2346325"/>
          </a:xfrm>
        </p:spPr>
        <p:txBody>
          <a:bodyPr/>
          <a:lstStyle/>
          <a:p>
            <a:r>
              <a:rPr lang="es-ES" dirty="0"/>
              <a:t>Identificar nuevos tipos de actividades o cambios en la forma en que se realizarán las actividades para realizar el estado futuro.</a:t>
            </a:r>
          </a:p>
          <a:p>
            <a:r>
              <a:rPr lang="es-ES" dirty="0"/>
              <a:t>Se necesitarán capacidades y procesos nuevos o modificados para entregar nuevos productos o servicios, para cumplir con las nuevas regulaciones o para mejorar el desempeño de la empresa.</a:t>
            </a:r>
          </a:p>
        </p:txBody>
      </p:sp>
    </p:spTree>
    <p:extLst>
      <p:ext uri="{BB962C8B-B14F-4D97-AF65-F5344CB8AC3E}">
        <p14:creationId xmlns:p14="http://schemas.microsoft.com/office/powerpoint/2010/main" val="2015107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Tecnología e infraestructura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DEFINIR EL ESTADO FUTURO</a:t>
            </a:r>
          </a:p>
        </p:txBody>
      </p:sp>
      <p:pic>
        <p:nvPicPr>
          <p:cNvPr id="5" name="Marcador de posición de imagen 4">
            <a:extLst>
              <a:ext uri="{FF2B5EF4-FFF2-40B4-BE49-F238E27FC236}">
                <a16:creationId xmlns:a16="http://schemas.microsoft.com/office/drawing/2014/main" id="{CE996D84-F805-E36B-CBC1-6F7EE43BCE61}"/>
              </a:ext>
            </a:extLst>
          </p:cNvPr>
          <p:cNvPicPr>
            <a:picLocks noGrp="1" noChangeAspect="1"/>
          </p:cNvPicPr>
          <p:nvPr>
            <p:ph type="pic" sz="quarter" idx="10"/>
          </p:nvPr>
        </p:nvPicPr>
        <p:blipFill>
          <a:blip r:embed="rId3"/>
          <a:srcRect l="109" r="109"/>
          <a:stretch>
            <a:fillRect/>
          </a:stretch>
        </p:blipFill>
        <p:spPr>
          <a:xfrm>
            <a:off x="4811717" y="804863"/>
            <a:ext cx="4086000" cy="4446000"/>
          </a:xfrm>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6"/>
            <a:ext cx="4207961" cy="3453230"/>
          </a:xfrm>
        </p:spPr>
        <p:txBody>
          <a:bodyPr/>
          <a:lstStyle/>
          <a:p>
            <a:r>
              <a:rPr lang="es-ES" dirty="0"/>
              <a:t>La tecnología existente puede imponer restricciones técnicas en el diseño de la solución.</a:t>
            </a:r>
          </a:p>
          <a:p>
            <a:r>
              <a:rPr lang="es-ES" dirty="0"/>
              <a:t>Estos pueden incluir lenguajes de desarrollo, plataformas de hardware y software y software de aplicación que se debe usar.</a:t>
            </a:r>
          </a:p>
          <a:p>
            <a:r>
              <a:rPr lang="es-ES" dirty="0"/>
              <a:t>Las restricciones técnicas también pueden describir restricciones como la utilización de recursos, el tamaño y el tiempo de los mensajes, el tamaño del software, la cantidad máxima y el tamaño de los archivos, de los registros y elementos de datos.</a:t>
            </a:r>
          </a:p>
        </p:txBody>
      </p:sp>
    </p:spTree>
    <p:extLst>
      <p:ext uri="{BB962C8B-B14F-4D97-AF65-F5344CB8AC3E}">
        <p14:creationId xmlns:p14="http://schemas.microsoft.com/office/powerpoint/2010/main" val="4066182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Políticas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DEFINIR EL ESTADO FUTURO</a:t>
            </a:r>
          </a:p>
        </p:txBody>
      </p:sp>
      <p:pic>
        <p:nvPicPr>
          <p:cNvPr id="5" name="Marcador de posición de imagen 4">
            <a:extLst>
              <a:ext uri="{FF2B5EF4-FFF2-40B4-BE49-F238E27FC236}">
                <a16:creationId xmlns:a16="http://schemas.microsoft.com/office/drawing/2014/main" id="{57094888-CA70-69BC-092D-A0EFBF99CED2}"/>
              </a:ext>
            </a:extLst>
          </p:cNvPr>
          <p:cNvPicPr>
            <a:picLocks noGrp="1" noChangeAspect="1"/>
          </p:cNvPicPr>
          <p:nvPr>
            <p:ph type="pic" sz="quarter" idx="10"/>
          </p:nvPr>
        </p:nvPicPr>
        <p:blipFill>
          <a:blip r:embed="rId3"/>
          <a:srcRect l="109" r="109"/>
          <a:stretch>
            <a:fillRect/>
          </a:stretch>
        </p:blipFill>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79887" y="1175546"/>
            <a:ext cx="4103687" cy="3677192"/>
          </a:xfrm>
        </p:spPr>
        <p:txBody>
          <a:bodyPr/>
          <a:lstStyle/>
          <a:p>
            <a:r>
              <a:rPr lang="es-ES" dirty="0"/>
              <a:t>Las políticas son una fuente común de restricciones en una solución o en el alcance de la solución.</a:t>
            </a:r>
          </a:p>
          <a:p>
            <a:r>
              <a:rPr lang="es-ES" dirty="0"/>
              <a:t>Las políticas de negocio pueden exigir qué soluciones se pueden implementar dados ciertos niveles de aprobación, el proceso para obtener la aprobación y los criterios necesarios que debe cumplir una solución propuesta para recibir financiamiento.</a:t>
            </a:r>
          </a:p>
          <a:p>
            <a:r>
              <a:rPr lang="es-ES" dirty="0"/>
              <a:t>En algunos casos, un cambio en una política existente puede abrir soluciones alternativas que de otro modo no se considerarían.</a:t>
            </a:r>
          </a:p>
          <a:p>
            <a:endParaRPr lang="es-ES" dirty="0"/>
          </a:p>
        </p:txBody>
      </p:sp>
    </p:spTree>
    <p:extLst>
      <p:ext uri="{BB962C8B-B14F-4D97-AF65-F5344CB8AC3E}">
        <p14:creationId xmlns:p14="http://schemas.microsoft.com/office/powerpoint/2010/main" val="2474236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Arquitectura empresarial</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DEFINIR EL ESTADO FUTURO</a:t>
            </a:r>
          </a:p>
        </p:txBody>
      </p:sp>
      <p:pic>
        <p:nvPicPr>
          <p:cNvPr id="5" name="Marcador de posición de imagen 4">
            <a:extLst>
              <a:ext uri="{FF2B5EF4-FFF2-40B4-BE49-F238E27FC236}">
                <a16:creationId xmlns:a16="http://schemas.microsoft.com/office/drawing/2014/main" id="{E5EC4CA5-F656-E48D-E93A-9DED3EFBD70B}"/>
              </a:ext>
            </a:extLst>
          </p:cNvPr>
          <p:cNvPicPr>
            <a:picLocks noGrp="1" noChangeAspect="1"/>
          </p:cNvPicPr>
          <p:nvPr>
            <p:ph type="pic" sz="quarter" idx="10"/>
          </p:nvPr>
        </p:nvPicPr>
        <p:blipFill>
          <a:blip r:embed="rId3"/>
          <a:srcRect l="109" r="109"/>
          <a:stretch>
            <a:fillRect/>
          </a:stretch>
        </p:blipFill>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5"/>
            <a:ext cx="4103687" cy="2045501"/>
          </a:xfrm>
        </p:spPr>
        <p:txBody>
          <a:bodyPr/>
          <a:lstStyle/>
          <a:p>
            <a:r>
              <a:rPr lang="es-ES" dirty="0"/>
              <a:t>Los elementos de cualquier estado futuro deben apoyarse mutuamente de manera efectiva y todos contribuir a cumplir las metas y objetivos de negocio.</a:t>
            </a:r>
          </a:p>
          <a:p>
            <a:r>
              <a:rPr lang="es-ES" dirty="0"/>
              <a:t>Además, deben integrarse en el estado futuro general deseado de la empresa en su conjunto y respaldar ese estado futuro.</a:t>
            </a:r>
          </a:p>
          <a:p>
            <a:endParaRPr lang="es-ES" dirty="0"/>
          </a:p>
        </p:txBody>
      </p:sp>
    </p:spTree>
    <p:extLst>
      <p:ext uri="{BB962C8B-B14F-4D97-AF65-F5344CB8AC3E}">
        <p14:creationId xmlns:p14="http://schemas.microsoft.com/office/powerpoint/2010/main" val="4092621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Activos internos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DEFINIR EL ESTADO FUTURO</a:t>
            </a:r>
          </a:p>
        </p:txBody>
      </p:sp>
      <p:pic>
        <p:nvPicPr>
          <p:cNvPr id="5" name="Marcador de posición de imagen 4">
            <a:extLst>
              <a:ext uri="{FF2B5EF4-FFF2-40B4-BE49-F238E27FC236}">
                <a16:creationId xmlns:a16="http://schemas.microsoft.com/office/drawing/2014/main" id="{0FC975AB-A8FE-8E48-FA0D-C83457F427CA}"/>
              </a:ext>
            </a:extLst>
          </p:cNvPr>
          <p:cNvPicPr>
            <a:picLocks noGrp="1" noChangeAspect="1"/>
          </p:cNvPicPr>
          <p:nvPr>
            <p:ph type="pic" sz="quarter" idx="10"/>
          </p:nvPr>
        </p:nvPicPr>
        <p:blipFill>
          <a:blip r:embed="rId3"/>
          <a:srcRect l="109" r="109"/>
          <a:stretch>
            <a:fillRect/>
          </a:stretch>
        </p:blipFill>
        <p:spPr>
          <a:xfrm>
            <a:off x="4897299" y="816438"/>
            <a:ext cx="4086000" cy="4446000"/>
          </a:xfrm>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5"/>
            <a:ext cx="4103687" cy="3023511"/>
          </a:xfrm>
        </p:spPr>
        <p:txBody>
          <a:bodyPr/>
          <a:lstStyle/>
          <a:p>
            <a:r>
              <a:rPr lang="es-ES" dirty="0"/>
              <a:t>Al analizar los recursos, los analistas funcionales examinan los recursos necesarios para mantener el estado actual e implementar la estrategia de cambio, y determinar qué recursos se pueden usar como parte de un estado futuro deseado.</a:t>
            </a:r>
          </a:p>
          <a:p>
            <a:r>
              <a:rPr lang="es-ES" dirty="0"/>
              <a:t>La evaluación de los recursos existentes y necesarios se considera al realizar un análisis de viabilidad sobre posibles enfoques de solución para la estrategia de cambio.</a:t>
            </a:r>
          </a:p>
        </p:txBody>
      </p:sp>
    </p:spTree>
    <p:extLst>
      <p:ext uri="{BB962C8B-B14F-4D97-AF65-F5344CB8AC3E}">
        <p14:creationId xmlns:p14="http://schemas.microsoft.com/office/powerpoint/2010/main" val="707144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Identificación de supuestos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DEFINIR EL ESTADO FUTURO</a:t>
            </a:r>
          </a:p>
        </p:txBody>
      </p:sp>
      <p:pic>
        <p:nvPicPr>
          <p:cNvPr id="5" name="Marcador de posición de imagen 4">
            <a:extLst>
              <a:ext uri="{FF2B5EF4-FFF2-40B4-BE49-F238E27FC236}">
                <a16:creationId xmlns:a16="http://schemas.microsoft.com/office/drawing/2014/main" id="{A600C061-611A-0F3A-8E1E-CC0583B7FD07}"/>
              </a:ext>
            </a:extLst>
          </p:cNvPr>
          <p:cNvPicPr>
            <a:picLocks noGrp="1" noChangeAspect="1"/>
          </p:cNvPicPr>
          <p:nvPr>
            <p:ph type="pic" sz="quarter" idx="10"/>
          </p:nvPr>
        </p:nvPicPr>
        <p:blipFill>
          <a:blip r:embed="rId3"/>
          <a:srcRect l="127" r="127"/>
          <a:stretch>
            <a:fillRect/>
          </a:stretch>
        </p:blipFill>
        <p:spPr>
          <a:xfrm>
            <a:off x="4865493" y="824500"/>
            <a:ext cx="4086000" cy="4446000"/>
          </a:xfrm>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6"/>
            <a:ext cx="4238859" cy="3818642"/>
          </a:xfrm>
        </p:spPr>
        <p:txBody>
          <a:bodyPr/>
          <a:lstStyle/>
          <a:p>
            <a:r>
              <a:rPr lang="es-ES" dirty="0"/>
              <a:t>La mayoría de las estrategias se basan en un conjunto de suposiciones que determinarán si la estrategia puede tener éxito o no, particularmente cuando se opera en un entorno altamente incierto.</a:t>
            </a:r>
          </a:p>
          <a:p>
            <a:r>
              <a:rPr lang="es-ES" dirty="0"/>
              <a:t>Estos supuestos deben identificarse y entenderse claramente, de modo que se puedan tomar las decisiones apropiadas si el supuesto posteriormente resulta inválido.</a:t>
            </a:r>
          </a:p>
          <a:p>
            <a:r>
              <a:rPr lang="es-ES" dirty="0"/>
              <a:t>Las estrategias de cambio en entornos inciertos se pueden estructurar para probar estos supuestos lo antes posible para respaldar una redirección o terminación de la iniciativa.</a:t>
            </a:r>
          </a:p>
        </p:txBody>
      </p:sp>
    </p:spTree>
    <p:extLst>
      <p:ext uri="{BB962C8B-B14F-4D97-AF65-F5344CB8AC3E}">
        <p14:creationId xmlns:p14="http://schemas.microsoft.com/office/powerpoint/2010/main" val="65243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Valor potencial</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DEFINIR EL ESTADO FUTURO</a:t>
            </a:r>
          </a:p>
        </p:txBody>
      </p:sp>
      <p:pic>
        <p:nvPicPr>
          <p:cNvPr id="5" name="Marcador de posición de imagen 4">
            <a:extLst>
              <a:ext uri="{FF2B5EF4-FFF2-40B4-BE49-F238E27FC236}">
                <a16:creationId xmlns:a16="http://schemas.microsoft.com/office/drawing/2014/main" id="{59A6D0E2-39BD-83F9-651D-069991843571}"/>
              </a:ext>
            </a:extLst>
          </p:cNvPr>
          <p:cNvPicPr>
            <a:picLocks noGrp="1" noChangeAspect="1"/>
          </p:cNvPicPr>
          <p:nvPr>
            <p:ph type="pic" sz="quarter" idx="10"/>
          </p:nvPr>
        </p:nvPicPr>
        <p:blipFill>
          <a:blip r:embed="rId3"/>
          <a:srcRect l="234" r="234"/>
          <a:stretch>
            <a:fillRect/>
          </a:stretch>
        </p:blipFill>
        <p:spPr>
          <a:xfrm>
            <a:off x="4806164" y="824500"/>
            <a:ext cx="4086000" cy="4446000"/>
          </a:xfrm>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p:txBody>
          <a:bodyPr/>
          <a:lstStyle/>
          <a:p>
            <a:r>
              <a:rPr lang="es-ES" dirty="0"/>
              <a:t>El valor potencial del estado futuro es el beneficio neto de la solución después de contabilizar los costos operativos.</a:t>
            </a:r>
          </a:p>
          <a:p>
            <a:r>
              <a:rPr lang="es-ES" dirty="0"/>
              <a:t>Un cambio debe dar como resultado un mayor valor para la empresa que el que se lograría si no se tomaran medidas.</a:t>
            </a:r>
          </a:p>
          <a:p>
            <a:pPr>
              <a:spcAft>
                <a:spcPts val="300"/>
              </a:spcAft>
            </a:pPr>
            <a:r>
              <a:rPr lang="es-ES" dirty="0"/>
              <a:t>Se considera el valor potencial aumentado o disminuido de lo siguiente:</a:t>
            </a:r>
          </a:p>
          <a:p>
            <a:pPr lvl="1">
              <a:spcAft>
                <a:spcPts val="300"/>
              </a:spcAft>
            </a:pPr>
            <a:r>
              <a:rPr lang="es-ES" sz="1400" dirty="0"/>
              <a:t>Oportunidades externas reveladas en la evaluación de influencias externas.</a:t>
            </a:r>
          </a:p>
          <a:p>
            <a:pPr lvl="1">
              <a:spcAft>
                <a:spcPts val="300"/>
              </a:spcAft>
            </a:pPr>
            <a:r>
              <a:rPr lang="es-ES" sz="1400" dirty="0"/>
              <a:t>Fortalezas desconocidas de los nuevos socios.</a:t>
            </a:r>
          </a:p>
          <a:p>
            <a:pPr lvl="1">
              <a:spcAft>
                <a:spcPts val="300"/>
              </a:spcAft>
            </a:pPr>
            <a:r>
              <a:rPr lang="es-ES" sz="1400" dirty="0"/>
              <a:t>Nuevas tecnologías o conocimientos.</a:t>
            </a:r>
          </a:p>
          <a:p>
            <a:pPr lvl="1">
              <a:spcAft>
                <a:spcPts val="300"/>
              </a:spcAft>
            </a:pPr>
            <a:r>
              <a:rPr lang="es-ES" sz="1400" dirty="0"/>
              <a:t>Pérdida potencial de un competidor.</a:t>
            </a:r>
          </a:p>
          <a:p>
            <a:pPr lvl="1">
              <a:spcAft>
                <a:spcPts val="300"/>
              </a:spcAft>
            </a:pPr>
            <a:r>
              <a:rPr lang="es-ES" sz="1400" dirty="0"/>
              <a:t>Adopción de un componente de cambio.</a:t>
            </a:r>
          </a:p>
        </p:txBody>
      </p:sp>
    </p:spTree>
    <p:extLst>
      <p:ext uri="{BB962C8B-B14F-4D97-AF65-F5344CB8AC3E}">
        <p14:creationId xmlns:p14="http://schemas.microsoft.com/office/powerpoint/2010/main" val="1935601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arcador de posición de imagen 2">
            <a:extLst>
              <a:ext uri="{FF2B5EF4-FFF2-40B4-BE49-F238E27FC236}">
                <a16:creationId xmlns:a16="http://schemas.microsoft.com/office/drawing/2014/main" id="{A9049A5C-2D01-64CB-5B89-035184CA3DE7}"/>
              </a:ext>
            </a:extLst>
          </p:cNvPr>
          <p:cNvPicPr>
            <a:picLocks noGrp="1" noChangeAspect="1"/>
          </p:cNvPicPr>
          <p:nvPr>
            <p:ph type="pic" sz="quarter" idx="10"/>
          </p:nvPr>
        </p:nvPicPr>
        <p:blipFill>
          <a:blip r:embed="rId3"/>
          <a:srcRect t="310" b="310"/>
          <a:stretch>
            <a:fillRect/>
          </a:stretch>
        </p:blipFill>
        <p:spPr/>
      </p:pic>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DEFINIR EL ESTADO FUTURO</a:t>
            </a:r>
          </a:p>
        </p:txBody>
      </p:sp>
      <p:sp>
        <p:nvSpPr>
          <p:cNvPr id="10" name="Marcador de texto 9">
            <a:extLst>
              <a:ext uri="{FF2B5EF4-FFF2-40B4-BE49-F238E27FC236}">
                <a16:creationId xmlns:a16="http://schemas.microsoft.com/office/drawing/2014/main" id="{A7762432-2400-C1CE-F508-0D6F157FCE60}"/>
              </a:ext>
            </a:extLst>
          </p:cNvPr>
          <p:cNvSpPr>
            <a:spLocks noGrp="1"/>
          </p:cNvSpPr>
          <p:nvPr>
            <p:ph type="body" sz="quarter" idx="14"/>
          </p:nvPr>
        </p:nvSpPr>
        <p:spPr/>
        <p:txBody>
          <a:bodyPr/>
          <a:lstStyle/>
          <a:p>
            <a:pPr algn="l"/>
            <a:r>
              <a:rPr lang="es-ES" dirty="0"/>
              <a:t>Criterios de aceptación y evaluación</a:t>
            </a:r>
          </a:p>
          <a:p>
            <a:pPr algn="l"/>
            <a:r>
              <a:rPr lang="es-ES" dirty="0"/>
              <a:t>Cuadro de mando integral</a:t>
            </a:r>
          </a:p>
          <a:p>
            <a:pPr algn="l"/>
            <a:r>
              <a:rPr lang="es-ES" i="1" dirty="0"/>
              <a:t>Benchmarking</a:t>
            </a:r>
            <a:r>
              <a:rPr lang="es-ES" dirty="0"/>
              <a:t> y análisis de mercado</a:t>
            </a:r>
          </a:p>
          <a:p>
            <a:pPr algn="l"/>
            <a:r>
              <a:rPr lang="es-ES" dirty="0"/>
              <a:t>Tormenta de ideas</a:t>
            </a:r>
          </a:p>
          <a:p>
            <a:pPr algn="l"/>
            <a:r>
              <a:rPr lang="es-ES" dirty="0"/>
              <a:t>Análisis de capacidad empresarial</a:t>
            </a:r>
          </a:p>
          <a:p>
            <a:pPr algn="l"/>
            <a:r>
              <a:rPr lang="es-ES" dirty="0"/>
              <a:t>Caso de negocio</a:t>
            </a:r>
          </a:p>
          <a:p>
            <a:pPr algn="l"/>
            <a:r>
              <a:rPr lang="es-ES" dirty="0"/>
              <a:t>Modelo Canvas</a:t>
            </a:r>
          </a:p>
          <a:p>
            <a:pPr algn="l"/>
            <a:r>
              <a:rPr lang="es-ES" dirty="0"/>
              <a:t>Análisis de decisión</a:t>
            </a:r>
          </a:p>
          <a:p>
            <a:pPr algn="l"/>
            <a:r>
              <a:rPr lang="es-ES" dirty="0"/>
              <a:t>Modelado de decisión</a:t>
            </a:r>
          </a:p>
          <a:p>
            <a:pPr algn="l"/>
            <a:r>
              <a:rPr lang="es-ES" dirty="0"/>
              <a:t>Análisis financiero</a:t>
            </a:r>
          </a:p>
          <a:p>
            <a:pPr algn="l"/>
            <a:r>
              <a:rPr lang="es-ES" dirty="0"/>
              <a:t>Descomposición funcional</a:t>
            </a:r>
          </a:p>
          <a:p>
            <a:pPr algn="l"/>
            <a:r>
              <a:rPr lang="es-ES" dirty="0"/>
              <a:t>Entrevistas</a:t>
            </a:r>
          </a:p>
          <a:p>
            <a:pPr algn="l"/>
            <a:r>
              <a:rPr lang="es-ES" dirty="0"/>
              <a:t>Lecciones aprendidas</a:t>
            </a:r>
          </a:p>
          <a:p>
            <a:pPr algn="l"/>
            <a:r>
              <a:rPr lang="es-ES" dirty="0"/>
              <a:t>Métricas  y los KPI</a:t>
            </a:r>
          </a:p>
          <a:p>
            <a:pPr algn="l"/>
            <a:r>
              <a:rPr lang="es-ES" dirty="0"/>
              <a:t>Mapa mental</a:t>
            </a:r>
          </a:p>
          <a:p>
            <a:pPr algn="l"/>
            <a:r>
              <a:rPr lang="es-ES" dirty="0"/>
              <a:t>Modelado organizacional</a:t>
            </a:r>
          </a:p>
          <a:p>
            <a:pPr algn="l"/>
            <a:r>
              <a:rPr lang="es-ES" dirty="0"/>
              <a:t>Modelado de procesos</a:t>
            </a:r>
          </a:p>
          <a:p>
            <a:pPr algn="l"/>
            <a:r>
              <a:rPr lang="es-ES" dirty="0"/>
              <a:t>Prototipado</a:t>
            </a:r>
          </a:p>
          <a:p>
            <a:pPr algn="l"/>
            <a:r>
              <a:rPr lang="es-ES" dirty="0"/>
              <a:t>Modelado del alcance</a:t>
            </a:r>
          </a:p>
          <a:p>
            <a:pPr algn="l"/>
            <a:r>
              <a:rPr lang="es-ES" dirty="0"/>
              <a:t>Encuestas o cuestionarios</a:t>
            </a:r>
          </a:p>
          <a:p>
            <a:pPr algn="l"/>
            <a:r>
              <a:rPr lang="es-ES" dirty="0"/>
              <a:t>Análisis FODA</a:t>
            </a:r>
          </a:p>
          <a:p>
            <a:pPr algn="l"/>
            <a:r>
              <a:rPr lang="es-ES" dirty="0"/>
              <a:t>Evaluación de proveedores</a:t>
            </a:r>
          </a:p>
          <a:p>
            <a:pPr algn="l"/>
            <a:r>
              <a:rPr lang="es-ES" dirty="0"/>
              <a:t>Talleres</a:t>
            </a:r>
            <a:endParaRPr lang="es-PE" dirty="0"/>
          </a:p>
        </p:txBody>
      </p:sp>
      <p:sp>
        <p:nvSpPr>
          <p:cNvPr id="11" name="Marcador de texto 10">
            <a:extLst>
              <a:ext uri="{FF2B5EF4-FFF2-40B4-BE49-F238E27FC236}">
                <a16:creationId xmlns:a16="http://schemas.microsoft.com/office/drawing/2014/main" id="{FB8EA5A3-F87E-86AB-6CBB-DDBD506FA1E1}"/>
              </a:ext>
            </a:extLst>
          </p:cNvPr>
          <p:cNvSpPr>
            <a:spLocks noGrp="1"/>
          </p:cNvSpPr>
          <p:nvPr>
            <p:ph type="body" sz="quarter" idx="15"/>
          </p:nvPr>
        </p:nvSpPr>
        <p:spPr/>
        <p:txBody>
          <a:bodyPr/>
          <a:lstStyle/>
          <a:p>
            <a:r>
              <a:rPr lang="es-PE" i="0" dirty="0"/>
              <a:t>TÉCNICAS BABOK</a:t>
            </a:r>
            <a:r>
              <a:rPr lang="es-PE" dirty="0"/>
              <a:t>®</a:t>
            </a:r>
          </a:p>
        </p:txBody>
      </p:sp>
    </p:spTree>
    <p:extLst>
      <p:ext uri="{BB962C8B-B14F-4D97-AF65-F5344CB8AC3E}">
        <p14:creationId xmlns:p14="http://schemas.microsoft.com/office/powerpoint/2010/main" val="840168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1"/>
            <a:ext cx="5543549" cy="549731"/>
          </a:xfrm>
        </p:spPr>
        <p:txBody>
          <a:bodyPr/>
          <a:lstStyle/>
          <a:p>
            <a:pPr marL="274638" indent="-274638">
              <a:tabLst>
                <a:tab pos="274638" algn="l"/>
              </a:tabLst>
            </a:pPr>
            <a:r>
              <a:rPr lang="es-PE" dirty="0"/>
              <a:t>/	EVALUACIÓN DE RIESGOS</a:t>
            </a:r>
          </a:p>
        </p:txBody>
      </p:sp>
    </p:spTree>
    <p:custDataLst>
      <p:tags r:id="rId1"/>
    </p:custDataLst>
    <p:extLst>
      <p:ext uri="{BB962C8B-B14F-4D97-AF65-F5344CB8AC3E}">
        <p14:creationId xmlns:p14="http://schemas.microsoft.com/office/powerpoint/2010/main" val="819362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B6DEEE20-5BC3-C322-6C9D-320DBAE701DF}"/>
              </a:ext>
            </a:extLst>
          </p:cNvPr>
          <p:cNvSpPr>
            <a:spLocks noGrp="1"/>
          </p:cNvSpPr>
          <p:nvPr>
            <p:ph type="body" sz="quarter" idx="11"/>
          </p:nvPr>
        </p:nvSpPr>
        <p:spPr/>
        <p:txBody>
          <a:bodyPr/>
          <a:lstStyle/>
          <a:p>
            <a:r>
              <a:rPr lang="es-PE" dirty="0"/>
              <a:t>LA NECESIDAD DEL NEGOCIO</a:t>
            </a:r>
          </a:p>
        </p:txBody>
      </p:sp>
      <p:sp>
        <p:nvSpPr>
          <p:cNvPr id="3" name="Marcador de texto 2">
            <a:extLst>
              <a:ext uri="{FF2B5EF4-FFF2-40B4-BE49-F238E27FC236}">
                <a16:creationId xmlns:a16="http://schemas.microsoft.com/office/drawing/2014/main" id="{F1C85DDA-0020-4FFA-79B3-B700B78091A4}"/>
              </a:ext>
            </a:extLst>
          </p:cNvPr>
          <p:cNvSpPr>
            <a:spLocks noGrp="1"/>
          </p:cNvSpPr>
          <p:nvPr>
            <p:ph type="body" sz="quarter" idx="12"/>
          </p:nvPr>
        </p:nvSpPr>
        <p:spPr/>
        <p:txBody>
          <a:bodyPr/>
          <a:lstStyle/>
          <a:p>
            <a:r>
              <a:rPr lang="es-PE" dirty="0"/>
              <a:t>EVALUAR RIESGOS PARA EL CAMBIO</a:t>
            </a:r>
          </a:p>
          <a:p>
            <a:endParaRPr lang="es-PE" dirty="0"/>
          </a:p>
          <a:p>
            <a:pPr marL="0" marR="0" lvl="0" indent="0" algn="ctr" defTabSz="457200" rtl="0" eaLnBrk="1" fontAlgn="auto" latinLnBrk="0" hangingPunct="1">
              <a:lnSpc>
                <a:spcPct val="75000"/>
              </a:lnSpc>
              <a:spcBef>
                <a:spcPts val="0"/>
              </a:spcBef>
              <a:spcAft>
                <a:spcPts val="0"/>
              </a:spcAft>
              <a:buClrTx/>
              <a:buSzTx/>
              <a:buFont typeface="Arial"/>
              <a:buNone/>
              <a:tabLst/>
              <a:defRPr/>
            </a:pPr>
            <a:r>
              <a:rPr kumimoji="0" lang="es-PE" sz="3200" b="0" u="none" strike="noStrike" kern="1200" cap="none" spc="-200" normalizeH="0" baseline="0" noProof="0" dirty="0">
                <a:ln>
                  <a:noFill/>
                </a:ln>
                <a:solidFill>
                  <a:srgbClr val="1F85A6"/>
                </a:solidFill>
                <a:effectLst/>
                <a:uLnTx/>
                <a:uFillTx/>
                <a:latin typeface="Calibri"/>
                <a:ea typeface="+mn-ea"/>
                <a:cs typeface="+mn-cs"/>
              </a:rPr>
              <a:t>(DEL ESTADO ACTUAL AL ESTADO FUTURO)</a:t>
            </a:r>
          </a:p>
        </p:txBody>
      </p:sp>
    </p:spTree>
    <p:extLst>
      <p:ext uri="{BB962C8B-B14F-4D97-AF65-F5344CB8AC3E}">
        <p14:creationId xmlns:p14="http://schemas.microsoft.com/office/powerpoint/2010/main" val="5302864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Evaluar riesgos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EVALUACIÓN DE RIESGOS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229811" cy="3586546"/>
          </a:xfrm>
        </p:spPr>
        <p:txBody>
          <a:bodyPr/>
          <a:lstStyle/>
          <a:p>
            <a:r>
              <a:rPr lang="es-ES" dirty="0"/>
              <a:t>Su objetivo es </a:t>
            </a:r>
            <a:r>
              <a:rPr lang="es-ES" b="1" dirty="0"/>
              <a:t>comprender las consecuencias indeseables</a:t>
            </a:r>
            <a:r>
              <a:rPr lang="es-ES" dirty="0"/>
              <a:t> de las fuerzas internas y externas en la empresa durante una transición hacia el estado futuro o una vez al llegar a ese estado.</a:t>
            </a:r>
          </a:p>
          <a:p>
            <a:pPr>
              <a:spcAft>
                <a:spcPts val="600"/>
              </a:spcAft>
            </a:pPr>
            <a:r>
              <a:rPr lang="es-ES" dirty="0"/>
              <a:t>Se debe de tener en cuenta lo siguiente:</a:t>
            </a:r>
          </a:p>
          <a:p>
            <a:pPr lvl="1">
              <a:spcAft>
                <a:spcPts val="600"/>
              </a:spcAft>
              <a:buFont typeface="+mj-lt"/>
              <a:buAutoNum type="arabicPeriod"/>
            </a:pPr>
            <a:r>
              <a:rPr lang="es-ES" dirty="0"/>
              <a:t>Incógnitas,</a:t>
            </a:r>
          </a:p>
          <a:p>
            <a:pPr lvl="1" algn="l">
              <a:spcAft>
                <a:spcPts val="600"/>
              </a:spcAft>
              <a:buFont typeface="+mj-lt"/>
              <a:buAutoNum type="arabicPeriod"/>
            </a:pPr>
            <a:r>
              <a:rPr lang="es-ES" dirty="0"/>
              <a:t>Restricciones, suposiciones y dependencias,</a:t>
            </a:r>
          </a:p>
          <a:p>
            <a:pPr lvl="1">
              <a:spcAft>
                <a:spcPts val="600"/>
              </a:spcAft>
              <a:buFont typeface="+mj-lt"/>
              <a:buAutoNum type="arabicPeriod"/>
            </a:pPr>
            <a:r>
              <a:rPr lang="es-ES" dirty="0"/>
              <a:t>Impacto negativo en el valor,</a:t>
            </a:r>
          </a:p>
          <a:p>
            <a:pPr lvl="1">
              <a:spcAft>
                <a:spcPts val="600"/>
              </a:spcAft>
              <a:buFont typeface="+mj-lt"/>
              <a:buAutoNum type="arabicPeriod"/>
            </a:pPr>
            <a:r>
              <a:rPr lang="es-ES" dirty="0"/>
              <a:t>Tolerancia al riesgo,</a:t>
            </a:r>
          </a:p>
          <a:p>
            <a:pPr lvl="1">
              <a:spcAft>
                <a:spcPts val="600"/>
              </a:spcAft>
              <a:buFont typeface="+mj-lt"/>
              <a:buAutoNum type="arabicPeriod"/>
            </a:pPr>
            <a:r>
              <a:rPr lang="es-ES" dirty="0"/>
              <a:t>Recomendación.</a:t>
            </a:r>
          </a:p>
        </p:txBody>
      </p:sp>
      <p:pic>
        <p:nvPicPr>
          <p:cNvPr id="4" name="Marcador de posición de imagen 3">
            <a:extLst>
              <a:ext uri="{FF2B5EF4-FFF2-40B4-BE49-F238E27FC236}">
                <a16:creationId xmlns:a16="http://schemas.microsoft.com/office/drawing/2014/main" id="{AF2DCE22-D65A-A717-312F-EFA37CB0AB1E}"/>
              </a:ext>
            </a:extLst>
          </p:cNvPr>
          <p:cNvPicPr>
            <a:picLocks noGrp="1" noChangeAspect="1"/>
          </p:cNvPicPr>
          <p:nvPr>
            <p:ph type="pic" sz="quarter" idx="10"/>
          </p:nvPr>
        </p:nvPicPr>
        <p:blipFill>
          <a:blip r:embed="rId3"/>
          <a:srcRect l="2" r="2"/>
          <a:stretch>
            <a:fillRect/>
          </a:stretch>
        </p:blipFill>
        <p:spPr>
          <a:xfrm>
            <a:off x="4831632" y="804863"/>
            <a:ext cx="4086000" cy="4446000"/>
          </a:xfrm>
        </p:spPr>
      </p:pic>
    </p:spTree>
    <p:extLst>
      <p:ext uri="{BB962C8B-B14F-4D97-AF65-F5344CB8AC3E}">
        <p14:creationId xmlns:p14="http://schemas.microsoft.com/office/powerpoint/2010/main" val="3625585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Incógnitas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EVALUACIÓN DE RIESGOS</a:t>
            </a:r>
          </a:p>
        </p:txBody>
      </p:sp>
      <p:pic>
        <p:nvPicPr>
          <p:cNvPr id="5" name="Marcador de posición de imagen 4">
            <a:extLst>
              <a:ext uri="{FF2B5EF4-FFF2-40B4-BE49-F238E27FC236}">
                <a16:creationId xmlns:a16="http://schemas.microsoft.com/office/drawing/2014/main" id="{5792D76B-DE52-6057-067A-D577A84AC8A5}"/>
              </a:ext>
            </a:extLst>
          </p:cNvPr>
          <p:cNvPicPr>
            <a:picLocks noGrp="1" noChangeAspect="1"/>
          </p:cNvPicPr>
          <p:nvPr>
            <p:ph type="pic" sz="quarter" idx="10"/>
          </p:nvPr>
        </p:nvPicPr>
        <p:blipFill>
          <a:blip r:embed="rId3"/>
          <a:srcRect l="234" r="234"/>
          <a:stretch>
            <a:fillRect/>
          </a:stretch>
        </p:blipFill>
        <p:spPr>
          <a:xfrm>
            <a:off x="4784335" y="824500"/>
            <a:ext cx="4086000" cy="4446000"/>
          </a:xfrm>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5"/>
            <a:ext cx="4103687" cy="3618077"/>
          </a:xfrm>
        </p:spPr>
        <p:txBody>
          <a:bodyPr/>
          <a:lstStyle/>
          <a:p>
            <a:r>
              <a:rPr lang="es-ES" dirty="0"/>
              <a:t>Es posible estimar el impacto de eventos o condiciones desconocidos o inciertos, incluso cuando no es posible saber todo lo que ocurrirá como resultado de una estrategia de cambio, </a:t>
            </a:r>
          </a:p>
          <a:p>
            <a:r>
              <a:rPr lang="es-ES" dirty="0"/>
              <a:t>Los analistas de negocios consideran otros contextos históricos de situaciones similares para evaluar los riesgos.</a:t>
            </a:r>
          </a:p>
          <a:p>
            <a:r>
              <a:rPr lang="es-ES" dirty="0"/>
              <a:t>Las lecciones aprendidas de cambios pasados y el juicio experto de los </a:t>
            </a:r>
            <a:r>
              <a:rPr lang="es-ES" i="1" dirty="0"/>
              <a:t>stakeholders</a:t>
            </a:r>
            <a:r>
              <a:rPr lang="es-ES" dirty="0"/>
              <a:t> ayudan a los analistas a decidir el impacto  y la probabilidad de riesgos del cambio actual.</a:t>
            </a:r>
          </a:p>
        </p:txBody>
      </p:sp>
    </p:spTree>
    <p:extLst>
      <p:ext uri="{BB962C8B-B14F-4D97-AF65-F5344CB8AC3E}">
        <p14:creationId xmlns:p14="http://schemas.microsoft.com/office/powerpoint/2010/main" val="3340456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Restricciones, supuestos y dependencias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EVALUACIÓN DE RIESGOS</a:t>
            </a:r>
          </a:p>
        </p:txBody>
      </p:sp>
      <p:pic>
        <p:nvPicPr>
          <p:cNvPr id="5" name="Marcador de posición de imagen 4">
            <a:extLst>
              <a:ext uri="{FF2B5EF4-FFF2-40B4-BE49-F238E27FC236}">
                <a16:creationId xmlns:a16="http://schemas.microsoft.com/office/drawing/2014/main" id="{BBD9B1FF-D31D-15E1-9E6B-7CD5DB271036}"/>
              </a:ext>
            </a:extLst>
          </p:cNvPr>
          <p:cNvPicPr>
            <a:picLocks noGrp="1" noChangeAspect="1"/>
          </p:cNvPicPr>
          <p:nvPr>
            <p:ph type="pic" sz="quarter" idx="10"/>
          </p:nvPr>
        </p:nvPicPr>
        <p:blipFill>
          <a:blip r:embed="rId3"/>
          <a:srcRect l="2" r="2"/>
          <a:stretch>
            <a:fillRect/>
          </a:stretch>
        </p:blipFill>
        <p:spPr>
          <a:xfrm>
            <a:off x="4832216" y="816438"/>
            <a:ext cx="4086000" cy="4446000"/>
          </a:xfrm>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5"/>
            <a:ext cx="4103687" cy="3133725"/>
          </a:xfrm>
        </p:spPr>
        <p:txBody>
          <a:bodyPr/>
          <a:lstStyle/>
          <a:p>
            <a:r>
              <a:rPr lang="es-ES" dirty="0"/>
              <a:t>Las restricciones, los supuestos y las dependencias pueden analizarse en busca de riesgos   y, a veces, deben gestionarse como riesgos en sí mismos.</a:t>
            </a:r>
          </a:p>
          <a:p>
            <a:r>
              <a:rPr lang="es-ES" dirty="0"/>
              <a:t>Si la restricción, la suposición o la dependencia están relacionadas con un aspecto de un cambio, se puede reformular como un riesgo al identificar el evento o la condición y las consecuencias que podrían ocurrir debido a dicha restricción, suposición o dependencia.</a:t>
            </a:r>
          </a:p>
          <a:p>
            <a:endParaRPr lang="es-ES" dirty="0"/>
          </a:p>
        </p:txBody>
      </p:sp>
    </p:spTree>
    <p:extLst>
      <p:ext uri="{BB962C8B-B14F-4D97-AF65-F5344CB8AC3E}">
        <p14:creationId xmlns:p14="http://schemas.microsoft.com/office/powerpoint/2010/main" val="2515674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Impacto negativo en el valor</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EVALUACIÓN DE RIESGOS</a:t>
            </a:r>
          </a:p>
        </p:txBody>
      </p:sp>
      <p:pic>
        <p:nvPicPr>
          <p:cNvPr id="5" name="Marcador de posición de imagen 4">
            <a:extLst>
              <a:ext uri="{FF2B5EF4-FFF2-40B4-BE49-F238E27FC236}">
                <a16:creationId xmlns:a16="http://schemas.microsoft.com/office/drawing/2014/main" id="{327B2A3C-F452-A1BD-04F0-7084C6DC182F}"/>
              </a:ext>
            </a:extLst>
          </p:cNvPr>
          <p:cNvPicPr>
            <a:picLocks noGrp="1" noChangeAspect="1"/>
          </p:cNvPicPr>
          <p:nvPr>
            <p:ph type="pic" sz="quarter" idx="10"/>
          </p:nvPr>
        </p:nvPicPr>
        <p:blipFill>
          <a:blip r:embed="rId3"/>
          <a:srcRect l="2" r="2"/>
          <a:stretch>
            <a:fillRect/>
          </a:stretch>
        </p:blipFill>
        <p:spPr>
          <a:xfrm>
            <a:off x="4866082" y="824500"/>
            <a:ext cx="4086000" cy="4446000"/>
          </a:xfrm>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6"/>
            <a:ext cx="4103687" cy="3675592"/>
          </a:xfrm>
        </p:spPr>
        <p:txBody>
          <a:bodyPr/>
          <a:lstStyle/>
          <a:p>
            <a:r>
              <a:rPr lang="es-ES" dirty="0"/>
              <a:t>Los analistas de negocios identifican y expresan claramente cada riesgo y estiman su probabilidad e impacto para determinar el nivel de riesgo.</a:t>
            </a:r>
          </a:p>
          <a:p>
            <a:r>
              <a:rPr lang="es-ES" dirty="0"/>
              <a:t>Los analistas de negocios estiman un nivel de riesgo total a partir del conjunto agregado de riesgos, lo que indica el impacto potencial general de los riesgos que se evalúan.</a:t>
            </a:r>
          </a:p>
          <a:p>
            <a:r>
              <a:rPr lang="es-ES" dirty="0"/>
              <a:t>En algunos casos, el nivel de riesgo  general se puede cuantificar en términos financieros, o en una cantidad de tiempo, esfuerzo u otros medidas.</a:t>
            </a:r>
          </a:p>
        </p:txBody>
      </p:sp>
    </p:spTree>
    <p:extLst>
      <p:ext uri="{BB962C8B-B14F-4D97-AF65-F5344CB8AC3E}">
        <p14:creationId xmlns:p14="http://schemas.microsoft.com/office/powerpoint/2010/main" val="1452176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Tolerancia al riesgo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EVALUACIÓN DE RIESGOS</a:t>
            </a:r>
          </a:p>
        </p:txBody>
      </p:sp>
      <p:pic>
        <p:nvPicPr>
          <p:cNvPr id="5" name="Marcador de posición de imagen 4">
            <a:extLst>
              <a:ext uri="{FF2B5EF4-FFF2-40B4-BE49-F238E27FC236}">
                <a16:creationId xmlns:a16="http://schemas.microsoft.com/office/drawing/2014/main" id="{4866F334-72C3-30E1-4CBF-B1B1B19EF2AC}"/>
              </a:ext>
            </a:extLst>
          </p:cNvPr>
          <p:cNvPicPr>
            <a:picLocks noGrp="1" noChangeAspect="1"/>
          </p:cNvPicPr>
          <p:nvPr>
            <p:ph type="pic" sz="quarter" idx="10"/>
          </p:nvPr>
        </p:nvPicPr>
        <p:blipFill>
          <a:blip r:embed="rId3"/>
          <a:srcRect l="340" r="340"/>
          <a:stretch>
            <a:fillRect/>
          </a:stretch>
        </p:blipFill>
        <p:spPr>
          <a:xfrm>
            <a:off x="4942283" y="804863"/>
            <a:ext cx="4086000" cy="4446000"/>
          </a:xfrm>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5"/>
            <a:ext cx="4357687" cy="4111625"/>
          </a:xfrm>
        </p:spPr>
        <p:txBody>
          <a:bodyPr/>
          <a:lstStyle/>
          <a:p>
            <a:r>
              <a:rPr lang="es-ES" dirty="0"/>
              <a:t>La cantidad de incertidumbre que un </a:t>
            </a:r>
            <a:r>
              <a:rPr lang="es-ES" i="1" dirty="0"/>
              <a:t>stakeholder</a:t>
            </a:r>
            <a:r>
              <a:rPr lang="es-ES" dirty="0"/>
              <a:t> o una empresa </a:t>
            </a:r>
            <a:r>
              <a:rPr lang="es-ES" b="1" dirty="0"/>
              <a:t>está dispuesta a asumir  a cambio del valor potencial</a:t>
            </a:r>
            <a:r>
              <a:rPr lang="es-ES" dirty="0"/>
              <a:t> se conoce como tolerancia al riesgo.</a:t>
            </a:r>
          </a:p>
          <a:p>
            <a:pPr>
              <a:spcAft>
                <a:spcPts val="300"/>
              </a:spcAft>
            </a:pPr>
            <a:r>
              <a:rPr lang="es-ES" dirty="0"/>
              <a:t>Las actitudes hacia el riesgo pueden ser las siguientes:</a:t>
            </a:r>
          </a:p>
          <a:p>
            <a:pPr lvl="1">
              <a:spcAft>
                <a:spcPts val="300"/>
              </a:spcAft>
            </a:pPr>
            <a:r>
              <a:rPr lang="es-ES" dirty="0"/>
              <a:t>Aversión al riesgo </a:t>
            </a:r>
            <a:r>
              <a:rPr lang="es-ES" sz="1400" dirty="0"/>
              <a:t>(falta de voluntad para aceptar mucha incertidumbre)</a:t>
            </a:r>
            <a:r>
              <a:rPr lang="es-ES" dirty="0"/>
              <a:t>.</a:t>
            </a:r>
          </a:p>
          <a:p>
            <a:pPr lvl="1">
              <a:spcAft>
                <a:spcPts val="300"/>
              </a:spcAft>
            </a:pPr>
            <a:r>
              <a:rPr lang="es-ES" dirty="0"/>
              <a:t>Neutralidad </a:t>
            </a:r>
            <a:r>
              <a:rPr lang="es-ES" sz="1400" dirty="0"/>
              <a:t>(cierto nivel de riesgo es aceptable)</a:t>
            </a:r>
            <a:r>
              <a:rPr lang="es-ES" dirty="0"/>
              <a:t>.</a:t>
            </a:r>
          </a:p>
          <a:p>
            <a:pPr lvl="1"/>
            <a:r>
              <a:rPr lang="es-ES" dirty="0"/>
              <a:t>Búsqueda de riesgos </a:t>
            </a:r>
            <a:r>
              <a:rPr lang="es-ES" sz="1400" dirty="0"/>
              <a:t>(voluntad de aceptar o incluso asumir más riesgos a cambio por un mayor valor potencial)</a:t>
            </a:r>
            <a:r>
              <a:rPr lang="es-ES" dirty="0"/>
              <a:t>.</a:t>
            </a:r>
          </a:p>
          <a:p>
            <a:r>
              <a:rPr lang="es-ES" dirty="0"/>
              <a:t>Un individuo u organización puede exhibir diferentes tolerancias al riesgo en diferentes momentos.</a:t>
            </a:r>
          </a:p>
        </p:txBody>
      </p:sp>
    </p:spTree>
    <p:extLst>
      <p:ext uri="{BB962C8B-B14F-4D97-AF65-F5344CB8AC3E}">
        <p14:creationId xmlns:p14="http://schemas.microsoft.com/office/powerpoint/2010/main" val="3983804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3" y="804863"/>
            <a:ext cx="4103687" cy="354012"/>
          </a:xfrm>
        </p:spPr>
        <p:txBody>
          <a:bodyPr/>
          <a:lstStyle/>
          <a:p>
            <a:r>
              <a:rPr lang="es-PE" dirty="0"/>
              <a:t>Recomendación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EVALUACIÓN DE RIESGOS</a:t>
            </a:r>
          </a:p>
        </p:txBody>
      </p:sp>
      <p:pic>
        <p:nvPicPr>
          <p:cNvPr id="5" name="Marcador de posición de imagen 4">
            <a:extLst>
              <a:ext uri="{FF2B5EF4-FFF2-40B4-BE49-F238E27FC236}">
                <a16:creationId xmlns:a16="http://schemas.microsoft.com/office/drawing/2014/main" id="{F6A2F3AA-F1D9-32EB-8071-48228A9B7159}"/>
              </a:ext>
            </a:extLst>
          </p:cNvPr>
          <p:cNvPicPr>
            <a:picLocks noGrp="1" noChangeAspect="1"/>
          </p:cNvPicPr>
          <p:nvPr>
            <p:ph type="pic" sz="quarter" idx="10"/>
          </p:nvPr>
        </p:nvPicPr>
        <p:blipFill>
          <a:blip r:embed="rId3"/>
          <a:srcRect l="455" r="455"/>
          <a:stretch>
            <a:fillRect/>
          </a:stretch>
        </p:blipFill>
        <p:spPr>
          <a:xfrm>
            <a:off x="4923395" y="804863"/>
            <a:ext cx="4086000" cy="4446000"/>
          </a:xfrm>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5"/>
            <a:ext cx="4283441" cy="3553802"/>
          </a:xfrm>
        </p:spPr>
        <p:txBody>
          <a:bodyPr/>
          <a:lstStyle/>
          <a:p>
            <a:pPr>
              <a:spcAft>
                <a:spcPts val="300"/>
              </a:spcAft>
            </a:pPr>
            <a:r>
              <a:rPr lang="es-ES" dirty="0"/>
              <a:t>Con base en el análisis de riesgos, los analistas recomiendan un curso de acción:</a:t>
            </a:r>
          </a:p>
          <a:p>
            <a:pPr>
              <a:spcAft>
                <a:spcPts val="300"/>
              </a:spcAft>
            </a:pPr>
            <a:endParaRPr lang="es-ES" dirty="0"/>
          </a:p>
          <a:p>
            <a:pPr lvl="1">
              <a:spcAft>
                <a:spcPts val="300"/>
              </a:spcAft>
            </a:pPr>
            <a:r>
              <a:rPr lang="es-ES" dirty="0"/>
              <a:t>Buscar los beneficios de un cambio sin importar el riesgo.</a:t>
            </a:r>
          </a:p>
          <a:p>
            <a:pPr lvl="1">
              <a:spcAft>
                <a:spcPts val="300"/>
              </a:spcAft>
            </a:pPr>
            <a:r>
              <a:rPr lang="es-ES" dirty="0"/>
              <a:t>Perseguir los beneficios de un cambio mientras se invierte en la reducción del riesgo (probabilidad y/o impacto).</a:t>
            </a:r>
          </a:p>
          <a:p>
            <a:pPr lvl="1">
              <a:spcAft>
                <a:spcPts val="300"/>
              </a:spcAft>
            </a:pPr>
            <a:r>
              <a:rPr lang="es-ES" dirty="0"/>
              <a:t>Buscar formas de aumentar los beneficios de un cambio para compensar el riesgo.</a:t>
            </a:r>
          </a:p>
          <a:p>
            <a:pPr lvl="1">
              <a:spcAft>
                <a:spcPts val="300"/>
              </a:spcAft>
            </a:pPr>
            <a:r>
              <a:rPr lang="es-ES" dirty="0"/>
              <a:t>Identificar formas de administrar y optimizar las oportunidades.</a:t>
            </a:r>
          </a:p>
          <a:p>
            <a:pPr lvl="1"/>
            <a:r>
              <a:rPr lang="es-ES" dirty="0"/>
              <a:t>No perseguir los beneficios de un cambio.</a:t>
            </a:r>
          </a:p>
        </p:txBody>
      </p:sp>
    </p:spTree>
    <p:extLst>
      <p:ext uri="{BB962C8B-B14F-4D97-AF65-F5344CB8AC3E}">
        <p14:creationId xmlns:p14="http://schemas.microsoft.com/office/powerpoint/2010/main" val="4929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arcador de posición de imagen 2">
            <a:extLst>
              <a:ext uri="{FF2B5EF4-FFF2-40B4-BE49-F238E27FC236}">
                <a16:creationId xmlns:a16="http://schemas.microsoft.com/office/drawing/2014/main" id="{631E7FD1-E5CD-E4E9-2F26-CC2496672883}"/>
              </a:ext>
            </a:extLst>
          </p:cNvPr>
          <p:cNvPicPr>
            <a:picLocks noGrp="1" noChangeAspect="1"/>
          </p:cNvPicPr>
          <p:nvPr>
            <p:ph type="pic" sz="quarter" idx="10"/>
          </p:nvPr>
        </p:nvPicPr>
        <p:blipFill>
          <a:blip r:embed="rId3"/>
          <a:srcRect t="310" b="310"/>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Evaluación de riesgos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EVALUACIÓN DE RIESGOS</a:t>
            </a:r>
          </a:p>
        </p:txBody>
      </p:sp>
      <p:sp>
        <p:nvSpPr>
          <p:cNvPr id="10" name="Marcador de texto 9">
            <a:extLst>
              <a:ext uri="{FF2B5EF4-FFF2-40B4-BE49-F238E27FC236}">
                <a16:creationId xmlns:a16="http://schemas.microsoft.com/office/drawing/2014/main" id="{A7762432-2400-C1CE-F508-0D6F157FCE60}"/>
              </a:ext>
            </a:extLst>
          </p:cNvPr>
          <p:cNvSpPr>
            <a:spLocks noGrp="1"/>
          </p:cNvSpPr>
          <p:nvPr>
            <p:ph type="body" sz="quarter" idx="14"/>
          </p:nvPr>
        </p:nvSpPr>
        <p:spPr/>
        <p:txBody>
          <a:bodyPr/>
          <a:lstStyle/>
          <a:p>
            <a:pPr algn="l"/>
            <a:r>
              <a:rPr lang="es-ES" dirty="0"/>
              <a:t>Tormenta de ideas</a:t>
            </a:r>
          </a:p>
          <a:p>
            <a:pPr algn="l"/>
            <a:r>
              <a:rPr lang="es-ES" dirty="0"/>
              <a:t>Caso de negocio</a:t>
            </a:r>
          </a:p>
          <a:p>
            <a:pPr algn="l"/>
            <a:r>
              <a:rPr lang="es-ES" dirty="0"/>
              <a:t>Análisis de decisiones</a:t>
            </a:r>
          </a:p>
          <a:p>
            <a:pPr algn="l"/>
            <a:r>
              <a:rPr lang="es-ES" dirty="0"/>
              <a:t>Análisis documental</a:t>
            </a:r>
          </a:p>
          <a:p>
            <a:pPr algn="l"/>
            <a:r>
              <a:rPr lang="es-ES" dirty="0"/>
              <a:t>Análisis financiero</a:t>
            </a:r>
          </a:p>
          <a:p>
            <a:pPr algn="l"/>
            <a:r>
              <a:rPr lang="es-ES" dirty="0"/>
              <a:t>Entrevistas</a:t>
            </a:r>
          </a:p>
          <a:p>
            <a:pPr algn="l"/>
            <a:r>
              <a:rPr lang="es-ES" dirty="0"/>
              <a:t>Lecciones aprendidas</a:t>
            </a:r>
          </a:p>
          <a:p>
            <a:pPr algn="l"/>
            <a:r>
              <a:rPr lang="es-ES" dirty="0"/>
              <a:t>Mapas mentales</a:t>
            </a:r>
          </a:p>
          <a:p>
            <a:pPr algn="l"/>
            <a:r>
              <a:rPr lang="es-ES" dirty="0"/>
              <a:t>Análisis y gestión de riesgos</a:t>
            </a:r>
          </a:p>
          <a:p>
            <a:pPr algn="l"/>
            <a:r>
              <a:rPr lang="es-ES" dirty="0"/>
              <a:t>Análisis causa raíz</a:t>
            </a:r>
          </a:p>
          <a:p>
            <a:pPr algn="l"/>
            <a:r>
              <a:rPr lang="es-ES" dirty="0"/>
              <a:t>Encuestas o cuestionarios</a:t>
            </a:r>
          </a:p>
          <a:p>
            <a:pPr algn="l"/>
            <a:r>
              <a:rPr lang="es-ES" dirty="0"/>
              <a:t>Talleres</a:t>
            </a:r>
          </a:p>
        </p:txBody>
      </p:sp>
      <p:sp>
        <p:nvSpPr>
          <p:cNvPr id="11" name="Marcador de texto 10">
            <a:extLst>
              <a:ext uri="{FF2B5EF4-FFF2-40B4-BE49-F238E27FC236}">
                <a16:creationId xmlns:a16="http://schemas.microsoft.com/office/drawing/2014/main" id="{FB8EA5A3-F87E-86AB-6CBB-DDBD506FA1E1}"/>
              </a:ext>
            </a:extLst>
          </p:cNvPr>
          <p:cNvSpPr>
            <a:spLocks noGrp="1"/>
          </p:cNvSpPr>
          <p:nvPr>
            <p:ph type="body" sz="quarter" idx="15"/>
          </p:nvPr>
        </p:nvSpPr>
        <p:spPr/>
        <p:txBody>
          <a:bodyPr/>
          <a:lstStyle/>
          <a:p>
            <a:r>
              <a:rPr lang="es-PE" i="0" dirty="0"/>
              <a:t>TÉCNICAS BABOK®</a:t>
            </a:r>
          </a:p>
        </p:txBody>
      </p:sp>
    </p:spTree>
    <p:extLst>
      <p:ext uri="{BB962C8B-B14F-4D97-AF65-F5344CB8AC3E}">
        <p14:creationId xmlns:p14="http://schemas.microsoft.com/office/powerpoint/2010/main" val="3306928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p:txBody>
          <a:bodyPr/>
          <a:lstStyle/>
          <a:p>
            <a:pPr marL="274638" indent="-274638">
              <a:tabLst>
                <a:tab pos="274638" algn="l"/>
              </a:tabLst>
            </a:pPr>
            <a:r>
              <a:rPr lang="es-PE" dirty="0"/>
              <a:t>/	DEFINICIÓN DE ESTRATEGIA DE CAMBIO</a:t>
            </a:r>
          </a:p>
        </p:txBody>
      </p:sp>
    </p:spTree>
    <p:custDataLst>
      <p:tags r:id="rId1"/>
    </p:custDataLst>
    <p:extLst>
      <p:ext uri="{BB962C8B-B14F-4D97-AF65-F5344CB8AC3E}">
        <p14:creationId xmlns:p14="http://schemas.microsoft.com/office/powerpoint/2010/main" val="347435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B6DEEE20-5BC3-C322-6C9D-320DBAE701DF}"/>
              </a:ext>
            </a:extLst>
          </p:cNvPr>
          <p:cNvSpPr>
            <a:spLocks noGrp="1"/>
          </p:cNvSpPr>
          <p:nvPr>
            <p:ph type="body" sz="quarter" idx="11"/>
          </p:nvPr>
        </p:nvSpPr>
        <p:spPr/>
        <p:txBody>
          <a:bodyPr/>
          <a:lstStyle/>
          <a:p>
            <a:r>
              <a:rPr lang="es-PE" dirty="0"/>
              <a:t>LA NECESIDAD DEL NEGOCIO</a:t>
            </a:r>
          </a:p>
        </p:txBody>
      </p:sp>
      <p:sp>
        <p:nvSpPr>
          <p:cNvPr id="3" name="Marcador de texto 2">
            <a:extLst>
              <a:ext uri="{FF2B5EF4-FFF2-40B4-BE49-F238E27FC236}">
                <a16:creationId xmlns:a16="http://schemas.microsoft.com/office/drawing/2014/main" id="{F1C85DDA-0020-4FFA-79B3-B700B78091A4}"/>
              </a:ext>
            </a:extLst>
          </p:cNvPr>
          <p:cNvSpPr>
            <a:spLocks noGrp="1"/>
          </p:cNvSpPr>
          <p:nvPr>
            <p:ph type="body" sz="quarter" idx="12"/>
          </p:nvPr>
        </p:nvSpPr>
        <p:spPr/>
        <p:txBody>
          <a:bodyPr/>
          <a:lstStyle/>
          <a:p>
            <a:pPr>
              <a:spcAft>
                <a:spcPts val="1200"/>
              </a:spcAft>
            </a:pPr>
            <a:r>
              <a:rPr lang="es-PE" dirty="0"/>
              <a:t>DEFINIR LA ESTRATEGIA DE CAMBIO</a:t>
            </a:r>
          </a:p>
          <a:p>
            <a:r>
              <a:rPr lang="es-PE" sz="3200" b="0" dirty="0"/>
              <a:t>(DEL ESTADO ACTUAL AL ESTADO FUTURO)</a:t>
            </a:r>
          </a:p>
        </p:txBody>
      </p:sp>
    </p:spTree>
    <p:extLst>
      <p:ext uri="{BB962C8B-B14F-4D97-AF65-F5344CB8AC3E}">
        <p14:creationId xmlns:p14="http://schemas.microsoft.com/office/powerpoint/2010/main" val="39802926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Definir estrategia de cambio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DEFINICIÓN DE ESTRATEGIA DE CAMBIO</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3446375"/>
          </a:xfrm>
        </p:spPr>
        <p:txBody>
          <a:bodyPr/>
          <a:lstStyle/>
          <a:p>
            <a:r>
              <a:rPr lang="es-ES" dirty="0"/>
              <a:t>Su objetivo es </a:t>
            </a:r>
            <a:r>
              <a:rPr lang="es-ES" b="1" dirty="0"/>
              <a:t>desarrollar y evaluar enfoques alternativos</a:t>
            </a:r>
            <a:r>
              <a:rPr lang="es-ES" dirty="0"/>
              <a:t> para el cambio y luego seleccionar el enfoque recomendado.</a:t>
            </a:r>
          </a:p>
          <a:p>
            <a:pPr>
              <a:spcAft>
                <a:spcPts val="600"/>
              </a:spcAft>
            </a:pPr>
            <a:r>
              <a:rPr lang="es-ES" dirty="0"/>
              <a:t>Se debe de tener en cuenta lo siguiente:</a:t>
            </a:r>
          </a:p>
          <a:p>
            <a:pPr lvl="1">
              <a:spcAft>
                <a:spcPts val="600"/>
              </a:spcAft>
              <a:buFont typeface="+mj-lt"/>
              <a:buAutoNum type="arabicPeriod"/>
            </a:pPr>
            <a:r>
              <a:rPr lang="es-ES" dirty="0"/>
              <a:t>Alcance de la solución,</a:t>
            </a:r>
          </a:p>
          <a:p>
            <a:pPr lvl="1">
              <a:spcAft>
                <a:spcPts val="600"/>
              </a:spcAft>
              <a:buFont typeface="+mj-lt"/>
              <a:buAutoNum type="arabicPeriod"/>
            </a:pPr>
            <a:r>
              <a:rPr lang="es-ES" dirty="0"/>
              <a:t>Análisis de brechas,</a:t>
            </a:r>
          </a:p>
          <a:p>
            <a:pPr lvl="1">
              <a:spcAft>
                <a:spcPts val="600"/>
              </a:spcAft>
              <a:buFont typeface="+mj-lt"/>
              <a:buAutoNum type="arabicPeriod"/>
            </a:pPr>
            <a:r>
              <a:rPr lang="es-ES" dirty="0"/>
              <a:t>Evaluación de la preparación empresarial,</a:t>
            </a:r>
          </a:p>
          <a:p>
            <a:pPr lvl="1">
              <a:spcAft>
                <a:spcPts val="600"/>
              </a:spcAft>
              <a:buFont typeface="+mj-lt"/>
              <a:buAutoNum type="arabicPeriod"/>
            </a:pPr>
            <a:r>
              <a:rPr lang="es-ES" dirty="0"/>
              <a:t>Estrategia de cambio,</a:t>
            </a:r>
          </a:p>
          <a:p>
            <a:pPr lvl="1">
              <a:spcAft>
                <a:spcPts val="600"/>
              </a:spcAft>
              <a:buFont typeface="+mj-lt"/>
              <a:buAutoNum type="arabicPeriod"/>
            </a:pPr>
            <a:r>
              <a:rPr lang="es-ES" dirty="0"/>
              <a:t>Estados de transición y planificación de la liberación.</a:t>
            </a:r>
          </a:p>
        </p:txBody>
      </p:sp>
      <p:pic>
        <p:nvPicPr>
          <p:cNvPr id="4" name="Marcador de posición de imagen 3">
            <a:extLst>
              <a:ext uri="{FF2B5EF4-FFF2-40B4-BE49-F238E27FC236}">
                <a16:creationId xmlns:a16="http://schemas.microsoft.com/office/drawing/2014/main" id="{B7468F8B-B991-2591-FE47-0BE507D8FA0E}"/>
              </a:ext>
            </a:extLst>
          </p:cNvPr>
          <p:cNvPicPr>
            <a:picLocks noGrp="1" noChangeAspect="1"/>
          </p:cNvPicPr>
          <p:nvPr>
            <p:ph type="pic" sz="quarter" idx="10"/>
          </p:nvPr>
        </p:nvPicPr>
        <p:blipFill>
          <a:blip r:embed="rId3"/>
          <a:srcRect l="225" r="225"/>
          <a:stretch>
            <a:fillRect/>
          </a:stretch>
        </p:blipFill>
        <p:spPr>
          <a:xfrm>
            <a:off x="4836218" y="816438"/>
            <a:ext cx="4086000" cy="4446000"/>
          </a:xfrm>
        </p:spPr>
      </p:pic>
    </p:spTree>
    <p:extLst>
      <p:ext uri="{BB962C8B-B14F-4D97-AF65-F5344CB8AC3E}">
        <p14:creationId xmlns:p14="http://schemas.microsoft.com/office/powerpoint/2010/main" val="1865123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Alcance de la solución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DEFINICIÓN DE ESTRATEGIA DE CAMBIO</a:t>
            </a:r>
            <a:endParaRPr lang="es-PE" dirty="0"/>
          </a:p>
        </p:txBody>
      </p:sp>
      <p:pic>
        <p:nvPicPr>
          <p:cNvPr id="6" name="Marcador de posición de imagen 5">
            <a:extLst>
              <a:ext uri="{FF2B5EF4-FFF2-40B4-BE49-F238E27FC236}">
                <a16:creationId xmlns:a16="http://schemas.microsoft.com/office/drawing/2014/main" id="{7C5FD69A-860E-F0B9-D9F8-674CAE7A39CE}"/>
              </a:ext>
            </a:extLst>
          </p:cNvPr>
          <p:cNvPicPr>
            <a:picLocks noGrp="1" noChangeAspect="1"/>
          </p:cNvPicPr>
          <p:nvPr>
            <p:ph type="pic" sz="quarter" idx="10"/>
          </p:nvPr>
        </p:nvPicPr>
        <p:blipFill>
          <a:blip r:embed="rId3"/>
          <a:srcRect l="2" r="2"/>
          <a:stretch>
            <a:fillRect/>
          </a:stretch>
        </p:blipFill>
        <p:spPr>
          <a:xfrm>
            <a:off x="4911032" y="824500"/>
            <a:ext cx="4086000" cy="4446000"/>
          </a:xfrm>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5"/>
            <a:ext cx="4278254" cy="4111625"/>
          </a:xfrm>
        </p:spPr>
        <p:txBody>
          <a:bodyPr/>
          <a:lstStyle/>
          <a:p>
            <a:r>
              <a:rPr lang="es-ES" dirty="0"/>
              <a:t>Se pueden evaluar múltiples opciones de solución y, como parte de una estrategia de cambio, se justifica y selecciona el mejor enfoque de solución.</a:t>
            </a:r>
          </a:p>
          <a:p>
            <a:r>
              <a:rPr lang="es-ES" dirty="0"/>
              <a:t>El alcance de la solución define los límites de la solución y se describe con suficiente detalle para permitir que los </a:t>
            </a:r>
            <a:r>
              <a:rPr lang="es-ES" i="1" dirty="0"/>
              <a:t>stakeholders</a:t>
            </a:r>
            <a:r>
              <a:rPr lang="es-ES" dirty="0"/>
              <a:t> entiendan  qué nuevas capacidades ofrecerá el cambio.</a:t>
            </a:r>
          </a:p>
          <a:p>
            <a:r>
              <a:rPr lang="es-ES" dirty="0"/>
              <a:t>También describe cómo la solución posibilita las metas del estado futuro.</a:t>
            </a:r>
          </a:p>
          <a:p>
            <a:r>
              <a:rPr lang="es-ES" dirty="0"/>
              <a:t>También puede incluir descripciones de los componentes de la solución fuera del alcance para brindar claridad.</a:t>
            </a:r>
          </a:p>
        </p:txBody>
      </p:sp>
    </p:spTree>
    <p:extLst>
      <p:ext uri="{BB962C8B-B14F-4D97-AF65-F5344CB8AC3E}">
        <p14:creationId xmlns:p14="http://schemas.microsoft.com/office/powerpoint/2010/main" val="3891081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Análisis de brechas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DEFINICIÓN DE ESTRATEGIA DE CAMBIO</a:t>
            </a:r>
            <a:endParaRPr lang="es-PE" dirty="0"/>
          </a:p>
        </p:txBody>
      </p:sp>
      <p:pic>
        <p:nvPicPr>
          <p:cNvPr id="5" name="Marcador de posición de imagen 4">
            <a:extLst>
              <a:ext uri="{FF2B5EF4-FFF2-40B4-BE49-F238E27FC236}">
                <a16:creationId xmlns:a16="http://schemas.microsoft.com/office/drawing/2014/main" id="{094F5D29-0B3C-A6FD-3249-1019B1490BF2}"/>
              </a:ext>
            </a:extLst>
          </p:cNvPr>
          <p:cNvPicPr>
            <a:picLocks noGrp="1" noChangeAspect="1"/>
          </p:cNvPicPr>
          <p:nvPr>
            <p:ph type="pic" sz="quarter" idx="10"/>
          </p:nvPr>
        </p:nvPicPr>
        <p:blipFill>
          <a:blip r:embed="rId3"/>
          <a:srcRect l="2" r="2"/>
          <a:stretch>
            <a:fillRect/>
          </a:stretch>
        </p:blipFill>
        <p:spPr>
          <a:xfrm>
            <a:off x="4737039" y="824500"/>
            <a:ext cx="4086000" cy="4446000"/>
          </a:xfrm>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5"/>
            <a:ext cx="4268726" cy="4111625"/>
          </a:xfrm>
        </p:spPr>
        <p:txBody>
          <a:bodyPr/>
          <a:lstStyle/>
          <a:p>
            <a:r>
              <a:rPr lang="es-ES" dirty="0"/>
              <a:t>Identifica la diferencia entre el estado actual y las capacidades del estado futuro.</a:t>
            </a:r>
          </a:p>
          <a:p>
            <a:r>
              <a:rPr lang="es-ES" dirty="0"/>
              <a:t>Se puede utilizar para determinar si la empresa puede satisfacer sus necesidades utilizando su estructura, recursos, capacidades y tecnología existentes.</a:t>
            </a:r>
          </a:p>
          <a:p>
            <a:r>
              <a:rPr lang="es-ES" dirty="0"/>
              <a:t>Si la empresa puede satisfacer la necesidad con las capacidades del estado actual, es probable que el cambio sea relativamente pequeño o que no haya ningún cambio.</a:t>
            </a:r>
          </a:p>
          <a:p>
            <a:r>
              <a:rPr lang="es-ES" dirty="0"/>
              <a:t>En cualquier otro caso, se necesita una estrategia de cambio para crear las capacidades que faltan o mejorar las existentes. </a:t>
            </a:r>
          </a:p>
        </p:txBody>
      </p:sp>
    </p:spTree>
    <p:extLst>
      <p:ext uri="{BB962C8B-B14F-4D97-AF65-F5344CB8AC3E}">
        <p14:creationId xmlns:p14="http://schemas.microsoft.com/office/powerpoint/2010/main" val="2671925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DEFINICIÓN DE ESTRATEGIA DE CAMBIO</a:t>
            </a:r>
            <a:endParaRPr lang="es-PE" dirty="0"/>
          </a:p>
        </p:txBody>
      </p:sp>
      <p:pic>
        <p:nvPicPr>
          <p:cNvPr id="5" name="Marcador de posición de imagen 4">
            <a:extLst>
              <a:ext uri="{FF2B5EF4-FFF2-40B4-BE49-F238E27FC236}">
                <a16:creationId xmlns:a16="http://schemas.microsoft.com/office/drawing/2014/main" id="{FE72D68B-178F-95DE-7FDF-64A7FC74E46E}"/>
              </a:ext>
            </a:extLst>
          </p:cNvPr>
          <p:cNvPicPr>
            <a:picLocks noGrp="1" noChangeAspect="1"/>
          </p:cNvPicPr>
          <p:nvPr>
            <p:ph type="pic" sz="quarter" idx="10"/>
          </p:nvPr>
        </p:nvPicPr>
        <p:blipFill>
          <a:blip r:embed="rId3"/>
          <a:srcRect l="349" r="349"/>
          <a:stretch>
            <a:fillRect/>
          </a:stretch>
        </p:blipFill>
        <p:spPr>
          <a:xfrm>
            <a:off x="4899949" y="824500"/>
            <a:ext cx="4086000" cy="4446000"/>
          </a:xfrm>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5"/>
            <a:ext cx="4291256" cy="3905493"/>
          </a:xfrm>
        </p:spPr>
        <p:txBody>
          <a:bodyPr/>
          <a:lstStyle/>
          <a:p>
            <a:r>
              <a:rPr lang="es-ES" dirty="0"/>
              <a:t>Considera la capacidad de la empresa no solo para realizar el cambio, sino también para usar y mantener la solución, y obtener valor de la solución.</a:t>
            </a:r>
          </a:p>
          <a:p>
            <a:pPr>
              <a:spcAft>
                <a:spcPts val="600"/>
              </a:spcAft>
            </a:pPr>
            <a:r>
              <a:rPr lang="es-ES" dirty="0"/>
              <a:t>También tiene en cuenta los siguientes aspectos:</a:t>
            </a:r>
          </a:p>
          <a:p>
            <a:pPr lvl="1">
              <a:spcAft>
                <a:spcPts val="600"/>
              </a:spcAft>
            </a:pPr>
            <a:r>
              <a:rPr lang="es-ES" dirty="0"/>
              <a:t>La preparación cultural de los </a:t>
            </a:r>
            <a:r>
              <a:rPr lang="es-ES" i="1" dirty="0"/>
              <a:t>stakeholders</a:t>
            </a:r>
            <a:r>
              <a:rPr lang="es-ES" dirty="0"/>
              <a:t> y la preparación operativa para realizar el cambio.</a:t>
            </a:r>
          </a:p>
          <a:p>
            <a:pPr lvl="1">
              <a:spcAft>
                <a:spcPts val="600"/>
              </a:spcAft>
            </a:pPr>
            <a:r>
              <a:rPr lang="es-ES" dirty="0"/>
              <a:t>El cronograma desde que se implementa el cambio hasta que se puede realizar el valor.</a:t>
            </a:r>
          </a:p>
          <a:p>
            <a:pPr lvl="1"/>
            <a:r>
              <a:rPr lang="es-ES" dirty="0"/>
              <a:t>Los recursos disponibles para respaldar el esfuerzo de cambio.</a:t>
            </a:r>
          </a:p>
        </p:txBody>
      </p:sp>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8208000" cy="354012"/>
          </a:xfrm>
        </p:spPr>
        <p:txBody>
          <a:bodyPr/>
          <a:lstStyle/>
          <a:p>
            <a:r>
              <a:rPr lang="es-PE" dirty="0"/>
              <a:t>Evaluación de la preparación empresaria</a:t>
            </a:r>
            <a:r>
              <a:rPr lang="es-PE" dirty="0">
                <a:solidFill>
                  <a:schemeClr val="bg1"/>
                </a:solidFill>
              </a:rPr>
              <a:t>l</a:t>
            </a:r>
          </a:p>
        </p:txBody>
      </p:sp>
    </p:spTree>
    <p:extLst>
      <p:ext uri="{BB962C8B-B14F-4D97-AF65-F5344CB8AC3E}">
        <p14:creationId xmlns:p14="http://schemas.microsoft.com/office/powerpoint/2010/main" val="70628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Estrategia de cambio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DEFINICIÓN DE ESTRATEGIA DE CAMBIO</a:t>
            </a:r>
            <a:endParaRPr lang="es-PE" dirty="0"/>
          </a:p>
        </p:txBody>
      </p:sp>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5"/>
            <a:ext cx="4596056" cy="4111625"/>
          </a:xfrm>
        </p:spPr>
        <p:txBody>
          <a:bodyPr/>
          <a:lstStyle/>
          <a:p>
            <a:r>
              <a:rPr lang="es-ES" dirty="0"/>
              <a:t>Puede ser una iniciativa singular compuesta de cambios más pequeños que pueden estructurarse como un conjunto, o como varios esfuerzos de mejora continua. </a:t>
            </a:r>
          </a:p>
          <a:p>
            <a:pPr>
              <a:spcAft>
                <a:spcPts val="600"/>
              </a:spcAft>
            </a:pPr>
            <a:r>
              <a:rPr lang="es-ES" dirty="0"/>
              <a:t>Debe seleccionarse considerando lo siguiente:</a:t>
            </a:r>
          </a:p>
          <a:p>
            <a:pPr lvl="1">
              <a:spcAft>
                <a:spcPts val="600"/>
              </a:spcAft>
            </a:pPr>
            <a:r>
              <a:rPr lang="es-ES" dirty="0"/>
              <a:t>Preparación organizacional para hacer el cambio.</a:t>
            </a:r>
          </a:p>
          <a:p>
            <a:pPr lvl="1">
              <a:spcAft>
                <a:spcPts val="600"/>
              </a:spcAft>
            </a:pPr>
            <a:r>
              <a:rPr lang="es-ES" dirty="0"/>
              <a:t>Los principales costos e inversiones necesarios para realizar el cambio.</a:t>
            </a:r>
          </a:p>
          <a:p>
            <a:pPr lvl="1">
              <a:spcAft>
                <a:spcPts val="600"/>
              </a:spcAft>
            </a:pPr>
            <a:r>
              <a:rPr lang="es-ES" dirty="0"/>
              <a:t>Plazos para realizar el cambio.</a:t>
            </a:r>
          </a:p>
          <a:p>
            <a:pPr lvl="1">
              <a:spcAft>
                <a:spcPts val="600"/>
              </a:spcAft>
            </a:pPr>
            <a:r>
              <a:rPr lang="es-ES" dirty="0"/>
              <a:t>Alineación con los objetivos de negocio.</a:t>
            </a:r>
          </a:p>
          <a:p>
            <a:pPr lvl="1">
              <a:spcAft>
                <a:spcPts val="600"/>
              </a:spcAft>
            </a:pPr>
            <a:r>
              <a:rPr lang="es-ES" dirty="0"/>
              <a:t>Plazos para la realización del valor.</a:t>
            </a:r>
          </a:p>
          <a:p>
            <a:pPr lvl="1"/>
            <a:r>
              <a:rPr lang="es-ES" dirty="0"/>
              <a:t>Costos de oportunidad de la estrategia de cambio.</a:t>
            </a:r>
          </a:p>
        </p:txBody>
      </p:sp>
      <p:pic>
        <p:nvPicPr>
          <p:cNvPr id="9" name="Marcador de posición de imagen 8">
            <a:extLst>
              <a:ext uri="{FF2B5EF4-FFF2-40B4-BE49-F238E27FC236}">
                <a16:creationId xmlns:a16="http://schemas.microsoft.com/office/drawing/2014/main" id="{02C5635D-7723-CA04-6079-15881AE03C75}"/>
              </a:ext>
            </a:extLst>
          </p:cNvPr>
          <p:cNvPicPr>
            <a:picLocks noGrp="1" noChangeAspect="1"/>
          </p:cNvPicPr>
          <p:nvPr>
            <p:ph type="pic" sz="quarter" idx="10"/>
          </p:nvPr>
        </p:nvPicPr>
        <p:blipFill>
          <a:blip r:embed="rId3"/>
          <a:srcRect l="234" r="234"/>
          <a:stretch>
            <a:fillRect/>
          </a:stretch>
        </p:blipFill>
        <p:spPr>
          <a:xfrm>
            <a:off x="5259753" y="1139238"/>
            <a:ext cx="3773087" cy="4105518"/>
          </a:xfrm>
        </p:spPr>
      </p:pic>
    </p:spTree>
    <p:extLst>
      <p:ext uri="{BB962C8B-B14F-4D97-AF65-F5344CB8AC3E}">
        <p14:creationId xmlns:p14="http://schemas.microsoft.com/office/powerpoint/2010/main" val="2202392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8208000" cy="354012"/>
          </a:xfrm>
        </p:spPr>
        <p:txBody>
          <a:bodyPr/>
          <a:lstStyle/>
          <a:p>
            <a:r>
              <a:rPr lang="es-PE" dirty="0"/>
              <a:t>Estados de transición y planificación de la liberación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DEFINICIÓN DE ESTRATEGIA DE CAMBIO</a:t>
            </a:r>
            <a:endParaRPr lang="es-PE" dirty="0"/>
          </a:p>
        </p:txBody>
      </p:sp>
      <p:pic>
        <p:nvPicPr>
          <p:cNvPr id="5" name="Marcador de posición de imagen 4">
            <a:extLst>
              <a:ext uri="{FF2B5EF4-FFF2-40B4-BE49-F238E27FC236}">
                <a16:creationId xmlns:a16="http://schemas.microsoft.com/office/drawing/2014/main" id="{20ED40C8-88F1-F096-77EF-2AAB8527D9F8}"/>
              </a:ext>
            </a:extLst>
          </p:cNvPr>
          <p:cNvPicPr>
            <a:picLocks noGrp="1" noChangeAspect="1"/>
          </p:cNvPicPr>
          <p:nvPr>
            <p:ph type="pic" sz="quarter" idx="10"/>
          </p:nvPr>
        </p:nvPicPr>
        <p:blipFill>
          <a:blip r:embed="rId3"/>
          <a:srcRect l="234" r="234"/>
          <a:stretch>
            <a:fillRect/>
          </a:stretch>
        </p:blipFill>
        <p:spPr>
          <a:xfrm>
            <a:off x="5212008" y="1339975"/>
            <a:ext cx="3612264" cy="3930525"/>
          </a:xfrm>
        </p:spPr>
      </p:pic>
      <p:sp>
        <p:nvSpPr>
          <p:cNvPr id="4" name="Marcador de texto 3">
            <a:extLst>
              <a:ext uri="{FF2B5EF4-FFF2-40B4-BE49-F238E27FC236}">
                <a16:creationId xmlns:a16="http://schemas.microsoft.com/office/drawing/2014/main" id="{FF1DE319-93E6-4AFF-9B52-03348C1E23FE}"/>
              </a:ext>
            </a:extLst>
          </p:cNvPr>
          <p:cNvSpPr>
            <a:spLocks noGrp="1"/>
          </p:cNvSpPr>
          <p:nvPr>
            <p:ph type="body" sz="quarter" idx="14"/>
          </p:nvPr>
        </p:nvSpPr>
        <p:spPr>
          <a:xfrm>
            <a:off x="468313" y="1158875"/>
            <a:ext cx="4533057" cy="4111625"/>
          </a:xfrm>
        </p:spPr>
        <p:txBody>
          <a:bodyPr/>
          <a:lstStyle/>
          <a:p>
            <a:r>
              <a:rPr lang="es-ES" dirty="0"/>
              <a:t>En muchos casos, el estado futuro deberá lograrse con el tiempo, lo que significa que la empresa tendrá que operar en uno o más estados de transición.</a:t>
            </a:r>
          </a:p>
          <a:p>
            <a:r>
              <a:rPr lang="es-ES" dirty="0"/>
              <a:t>Los analistas de negocio ayudan a facilitar las discusiones sobre la planificación de lanzamientos para ayudar a los </a:t>
            </a:r>
            <a:r>
              <a:rPr lang="es-ES" i="1" dirty="0"/>
              <a:t>stakeholders</a:t>
            </a:r>
            <a:r>
              <a:rPr lang="es-ES" dirty="0"/>
              <a:t> a tomar decisiones.</a:t>
            </a:r>
          </a:p>
          <a:p>
            <a:r>
              <a:rPr lang="es-ES" dirty="0"/>
              <a:t>Hay muchos factores que guían estas decisiones, como el presupuesto general, los plazos o las limitaciones de tiempo, las limitaciones de recursos, los programas de capacitación y la capacidad de la empresa para absorber los cambios dentro de un marco de tiempo definido. </a:t>
            </a:r>
          </a:p>
        </p:txBody>
      </p:sp>
    </p:spTree>
    <p:extLst>
      <p:ext uri="{BB962C8B-B14F-4D97-AF65-F5344CB8AC3E}">
        <p14:creationId xmlns:p14="http://schemas.microsoft.com/office/powerpoint/2010/main" val="375856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arcador de posición de imagen 2">
            <a:extLst>
              <a:ext uri="{FF2B5EF4-FFF2-40B4-BE49-F238E27FC236}">
                <a16:creationId xmlns:a16="http://schemas.microsoft.com/office/drawing/2014/main" id="{7CB866C8-11E1-42D7-4041-71E13D54DFFD}"/>
              </a:ext>
            </a:extLst>
          </p:cNvPr>
          <p:cNvPicPr>
            <a:picLocks noGrp="1" noChangeAspect="1"/>
          </p:cNvPicPr>
          <p:nvPr>
            <p:ph type="pic" sz="quarter" idx="10"/>
          </p:nvPr>
        </p:nvPicPr>
        <p:blipFill>
          <a:blip r:embed="rId3"/>
          <a:srcRect t="310" b="310"/>
          <a:stretch>
            <a:fillRect/>
          </a:stretch>
        </p:blipFill>
        <p:spPr/>
      </p:pic>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a:t>
            </a:r>
            <a:r>
              <a:rPr lang="es-ES" dirty="0"/>
              <a:t>DEFINICIÓN DE ESTRATEGIA DE CAMBIO</a:t>
            </a:r>
            <a:endParaRPr lang="es-PE" dirty="0"/>
          </a:p>
        </p:txBody>
      </p:sp>
      <p:sp>
        <p:nvSpPr>
          <p:cNvPr id="10" name="Marcador de texto 9">
            <a:extLst>
              <a:ext uri="{FF2B5EF4-FFF2-40B4-BE49-F238E27FC236}">
                <a16:creationId xmlns:a16="http://schemas.microsoft.com/office/drawing/2014/main" id="{A7762432-2400-C1CE-F508-0D6F157FCE60}"/>
              </a:ext>
            </a:extLst>
          </p:cNvPr>
          <p:cNvSpPr>
            <a:spLocks noGrp="1"/>
          </p:cNvSpPr>
          <p:nvPr>
            <p:ph type="body" sz="quarter" idx="14"/>
          </p:nvPr>
        </p:nvSpPr>
        <p:spPr/>
        <p:txBody>
          <a:bodyPr/>
          <a:lstStyle/>
          <a:p>
            <a:pPr algn="l"/>
            <a:r>
              <a:rPr lang="es-ES" dirty="0"/>
              <a:t>Cuadro de mando integral</a:t>
            </a:r>
          </a:p>
          <a:p>
            <a:pPr algn="l"/>
            <a:r>
              <a:rPr lang="es-ES" i="1" dirty="0"/>
              <a:t>Benchmarking</a:t>
            </a:r>
            <a:r>
              <a:rPr lang="es-ES" dirty="0"/>
              <a:t> y análisis de mercado</a:t>
            </a:r>
          </a:p>
          <a:p>
            <a:pPr algn="l"/>
            <a:r>
              <a:rPr lang="es-ES" dirty="0"/>
              <a:t>Tormenta de ideas</a:t>
            </a:r>
          </a:p>
          <a:p>
            <a:pPr algn="l"/>
            <a:r>
              <a:rPr lang="es-ES" dirty="0"/>
              <a:t>Análisis de capacidad empresarial</a:t>
            </a:r>
          </a:p>
          <a:p>
            <a:pPr algn="l"/>
            <a:r>
              <a:rPr lang="es-ES" dirty="0"/>
              <a:t>Caso de negocio</a:t>
            </a:r>
          </a:p>
          <a:p>
            <a:pPr algn="l"/>
            <a:r>
              <a:rPr lang="es-ES" dirty="0"/>
              <a:t>Modelo Canvas</a:t>
            </a:r>
          </a:p>
          <a:p>
            <a:pPr algn="l"/>
            <a:r>
              <a:rPr lang="es-ES" dirty="0"/>
              <a:t>Análisis de decisiones</a:t>
            </a:r>
          </a:p>
          <a:p>
            <a:pPr algn="l"/>
            <a:r>
              <a:rPr lang="es-ES" dirty="0"/>
              <a:t>Estimación</a:t>
            </a:r>
          </a:p>
          <a:p>
            <a:pPr algn="l"/>
            <a:r>
              <a:rPr lang="es-ES" dirty="0"/>
              <a:t>Análisis financiero</a:t>
            </a:r>
          </a:p>
          <a:p>
            <a:pPr algn="l"/>
            <a:r>
              <a:rPr lang="es-ES" dirty="0"/>
              <a:t>Grupos de enfoque</a:t>
            </a:r>
          </a:p>
          <a:p>
            <a:pPr algn="l"/>
            <a:r>
              <a:rPr lang="es-ES" dirty="0"/>
              <a:t>Descomposición funcional</a:t>
            </a:r>
          </a:p>
          <a:p>
            <a:pPr algn="l"/>
            <a:r>
              <a:rPr lang="es-ES" dirty="0"/>
              <a:t>Entrevistas</a:t>
            </a:r>
          </a:p>
          <a:p>
            <a:pPr algn="l"/>
            <a:r>
              <a:rPr lang="es-ES" dirty="0"/>
              <a:t>Lecciones aprendidas</a:t>
            </a:r>
          </a:p>
          <a:p>
            <a:pPr algn="l"/>
            <a:r>
              <a:rPr lang="es-ES" dirty="0"/>
              <a:t>Mapas mentales</a:t>
            </a:r>
          </a:p>
          <a:p>
            <a:pPr algn="l"/>
            <a:r>
              <a:rPr lang="es-ES" dirty="0"/>
              <a:t>Modelado organizacional</a:t>
            </a:r>
          </a:p>
          <a:p>
            <a:pPr algn="l"/>
            <a:r>
              <a:rPr lang="es-ES" dirty="0"/>
              <a:t>Modelado de procesos</a:t>
            </a:r>
          </a:p>
          <a:p>
            <a:pPr algn="l"/>
            <a:r>
              <a:rPr lang="es-ES" dirty="0"/>
              <a:t>Modelado de alcance</a:t>
            </a:r>
          </a:p>
          <a:p>
            <a:pPr algn="l"/>
            <a:r>
              <a:rPr lang="es-ES" dirty="0"/>
              <a:t>Análisis FODA</a:t>
            </a:r>
          </a:p>
          <a:p>
            <a:pPr algn="l"/>
            <a:r>
              <a:rPr lang="es-ES" dirty="0"/>
              <a:t>Evaluación de proveedores</a:t>
            </a:r>
          </a:p>
          <a:p>
            <a:pPr algn="l"/>
            <a:r>
              <a:rPr lang="es-ES" dirty="0"/>
              <a:t>Talleres</a:t>
            </a:r>
          </a:p>
        </p:txBody>
      </p:sp>
      <p:sp>
        <p:nvSpPr>
          <p:cNvPr id="11" name="Marcador de texto 10">
            <a:extLst>
              <a:ext uri="{FF2B5EF4-FFF2-40B4-BE49-F238E27FC236}">
                <a16:creationId xmlns:a16="http://schemas.microsoft.com/office/drawing/2014/main" id="{FB8EA5A3-F87E-86AB-6CBB-DDBD506FA1E1}"/>
              </a:ext>
            </a:extLst>
          </p:cNvPr>
          <p:cNvSpPr>
            <a:spLocks noGrp="1"/>
          </p:cNvSpPr>
          <p:nvPr>
            <p:ph type="body" sz="quarter" idx="15"/>
          </p:nvPr>
        </p:nvSpPr>
        <p:spPr/>
        <p:txBody>
          <a:bodyPr/>
          <a:lstStyle/>
          <a:p>
            <a:r>
              <a:rPr lang="es-PE" i="0" dirty="0"/>
              <a:t>TÉCNICAS BABOK®</a:t>
            </a:r>
          </a:p>
        </p:txBody>
      </p:sp>
    </p:spTree>
    <p:extLst>
      <p:ext uri="{BB962C8B-B14F-4D97-AF65-F5344CB8AC3E}">
        <p14:creationId xmlns:p14="http://schemas.microsoft.com/office/powerpoint/2010/main" val="2716832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500AF3-50A8-4251-BC95-6B4FF9C4652B}"/>
              </a:ext>
            </a:extLst>
          </p:cNvPr>
          <p:cNvSpPr>
            <a:spLocks noGrp="1"/>
          </p:cNvSpPr>
          <p:nvPr>
            <p:ph type="body" sz="quarter" idx="10"/>
          </p:nvPr>
        </p:nvSpPr>
        <p:spPr>
          <a:xfrm>
            <a:off x="927366" y="1670909"/>
            <a:ext cx="7713398" cy="3007227"/>
          </a:xfrm>
        </p:spPr>
        <p:txBody>
          <a:bodyPr/>
          <a:lstStyle/>
          <a:p>
            <a:r>
              <a:rPr lang="es-ES" dirty="0"/>
              <a:t>El análisis situacional es el proceso de recopilar y analizar datos pasados y presentes para elaborar un plan para el futuro. Significa comprender el interior y el exterior de una organización para tomar mejores decisiones.</a:t>
            </a:r>
          </a:p>
          <a:p>
            <a:r>
              <a:rPr lang="es-ES" dirty="0"/>
              <a:t>El objetivo de la identificación del riesgo es conocer los sucesos que se pueden producir en la organización y las consecuencias que puedan tener sobre los objetivos de la empresa. Una vez que tenemos realizado este paso, debemos identificar los controles implantados.</a:t>
            </a:r>
          </a:p>
          <a:p>
            <a:r>
              <a:rPr lang="es-ES" dirty="0"/>
              <a:t>Cuando se pretende un cambio, es normal que la primera resistencia que se nos presenta sea de los empleados. Si no hay convencimiento de los beneficios o del cambio, este presentará numerosos rechazos. Es normal pues lo fácil es mantenernos ese conocido espacio de confort.</a:t>
            </a:r>
          </a:p>
        </p:txBody>
      </p:sp>
    </p:spTree>
    <p:custDataLst>
      <p:tags r:id="rId1"/>
    </p:custDataLst>
    <p:extLst>
      <p:ext uri="{BB962C8B-B14F-4D97-AF65-F5344CB8AC3E}">
        <p14:creationId xmlns:p14="http://schemas.microsoft.com/office/powerpoint/2010/main" val="4015447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9435A8C-18F1-4C11-BC95-3930F36C4A90}"/>
              </a:ext>
            </a:extLst>
          </p:cNvPr>
          <p:cNvSpPr>
            <a:spLocks noGrp="1"/>
          </p:cNvSpPr>
          <p:nvPr>
            <p:ph type="body" sz="quarter" idx="10"/>
          </p:nvPr>
        </p:nvSpPr>
        <p:spPr/>
        <p:txBody>
          <a:bodyPr/>
          <a:lstStyle/>
          <a:p>
            <a:pPr>
              <a:lnSpc>
                <a:spcPct val="100000"/>
              </a:lnSpc>
            </a:pPr>
            <a:r>
              <a:rPr lang="es-ES" dirty="0"/>
              <a:t>Agile </a:t>
            </a:r>
            <a:r>
              <a:rPr lang="es-ES" dirty="0" err="1"/>
              <a:t>Extension</a:t>
            </a:r>
            <a:r>
              <a:rPr lang="es-ES" dirty="0"/>
              <a:t> </a:t>
            </a:r>
            <a:r>
              <a:rPr lang="es-ES" dirty="0" err="1"/>
              <a:t>to</a:t>
            </a:r>
            <a:r>
              <a:rPr lang="es-ES" dirty="0"/>
              <a:t> </a:t>
            </a:r>
            <a:r>
              <a:rPr lang="es-ES" dirty="0" err="1"/>
              <a:t>the</a:t>
            </a:r>
            <a:r>
              <a:rPr lang="es-ES" dirty="0"/>
              <a:t> BABOK Guide. (2020). Recuperado de: https://www.iiba.org/standards-andresources/babok/</a:t>
            </a:r>
          </a:p>
          <a:p>
            <a:pPr>
              <a:lnSpc>
                <a:spcPct val="100000"/>
              </a:lnSpc>
            </a:pPr>
            <a:r>
              <a:rPr lang="es-ES" dirty="0"/>
              <a:t>Bitácora de análisis de negocios. (2020). Recuperado de: http://gabrielalmeida.com.mx/</a:t>
            </a:r>
          </a:p>
          <a:p>
            <a:pPr>
              <a:lnSpc>
                <a:spcPct val="100000"/>
              </a:lnSpc>
            </a:pPr>
            <a:r>
              <a:rPr lang="es-ES" dirty="0"/>
              <a:t>PMI Professional in Business </a:t>
            </a:r>
            <a:r>
              <a:rPr lang="es-ES" dirty="0" err="1"/>
              <a:t>Analysis</a:t>
            </a:r>
            <a:r>
              <a:rPr lang="es-ES" dirty="0"/>
              <a:t>. (2020). Recuperado de: https://www.pmi.org/certification/businessanalysis-pba.aspx</a:t>
            </a:r>
          </a:p>
          <a:p>
            <a:pPr>
              <a:lnSpc>
                <a:spcPct val="100000"/>
              </a:lnSpc>
            </a:pPr>
            <a:r>
              <a:rPr lang="es-ES" dirty="0"/>
              <a:t>International </a:t>
            </a:r>
            <a:r>
              <a:rPr lang="es-ES" dirty="0" err="1"/>
              <a:t>Institute</a:t>
            </a:r>
            <a:r>
              <a:rPr lang="es-ES" dirty="0"/>
              <a:t> </a:t>
            </a:r>
            <a:r>
              <a:rPr lang="es-ES" dirty="0" err="1"/>
              <a:t>of</a:t>
            </a:r>
            <a:r>
              <a:rPr lang="es-ES" dirty="0"/>
              <a:t> Business </a:t>
            </a:r>
            <a:r>
              <a:rPr lang="es-ES" dirty="0" err="1"/>
              <a:t>Analysis</a:t>
            </a:r>
            <a:r>
              <a:rPr lang="es-ES" dirty="0"/>
              <a:t>. (2011). Recuperado de: https://analytics.infozone.pro/wpcontent/uploads/2013/04/IIBA_Competency_Model_v3_Final.pdf</a:t>
            </a:r>
          </a:p>
        </p:txBody>
      </p:sp>
    </p:spTree>
    <p:custDataLst>
      <p:tags r:id="rId1"/>
    </p:custDataLst>
    <p:extLst>
      <p:ext uri="{BB962C8B-B14F-4D97-AF65-F5344CB8AC3E}">
        <p14:creationId xmlns:p14="http://schemas.microsoft.com/office/powerpoint/2010/main" val="2633154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12688</TotalTime>
  <Words>4264</Words>
  <Application>Microsoft Office PowerPoint</Application>
  <PresentationFormat>Presentación en pantalla (16:10)</PresentationFormat>
  <Paragraphs>442</Paragraphs>
  <Slides>49</Slides>
  <Notes>49</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49</vt:i4>
      </vt:variant>
    </vt:vector>
  </HeadingPairs>
  <TitlesOfParts>
    <vt:vector size="55" baseType="lpstr">
      <vt:lpstr>Arial</vt:lpstr>
      <vt:lpstr>Calibri</vt:lpstr>
      <vt:lpstr>Delius</vt:lpstr>
      <vt:lpstr>Wingdings</vt:lpstr>
      <vt:lpstr>Office Theme</vt:lpstr>
      <vt:lpstr>1_Office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883</cp:revision>
  <cp:lastPrinted>2018-01-16T21:42:59Z</cp:lastPrinted>
  <dcterms:created xsi:type="dcterms:W3CDTF">2016-10-06T14:52:02Z</dcterms:created>
  <dcterms:modified xsi:type="dcterms:W3CDTF">2023-07-06T21:07:44Z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