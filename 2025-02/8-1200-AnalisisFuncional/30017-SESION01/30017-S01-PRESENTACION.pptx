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7.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8.xml" ContentType="application/vnd.openxmlformats-officedocument.presentationml.tags+xml"/>
  <Override PartName="/ppt/notesSlides/notesSlide46.xml" ContentType="application/vnd.openxmlformats-officedocument.presentationml.notesSlide+xml"/>
  <Override PartName="/ppt/tags/tag9.xml" ContentType="application/vnd.openxmlformats-officedocument.presentationml.tags+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70" r:id="rId2"/>
  </p:sldMasterIdLst>
  <p:notesMasterIdLst>
    <p:notesMasterId r:id="rId50"/>
  </p:notesMasterIdLst>
  <p:handoutMasterIdLst>
    <p:handoutMasterId r:id="rId51"/>
  </p:handoutMasterIdLst>
  <p:sldIdLst>
    <p:sldId id="418" r:id="rId3"/>
    <p:sldId id="337" r:id="rId4"/>
    <p:sldId id="315" r:id="rId5"/>
    <p:sldId id="359" r:id="rId6"/>
    <p:sldId id="449" r:id="rId7"/>
    <p:sldId id="450" r:id="rId8"/>
    <p:sldId id="451" r:id="rId9"/>
    <p:sldId id="452" r:id="rId10"/>
    <p:sldId id="453" r:id="rId11"/>
    <p:sldId id="434" r:id="rId12"/>
    <p:sldId id="435" r:id="rId13"/>
    <p:sldId id="419" r:id="rId14"/>
    <p:sldId id="454" r:id="rId15"/>
    <p:sldId id="420" r:id="rId16"/>
    <p:sldId id="421" r:id="rId17"/>
    <p:sldId id="422" r:id="rId18"/>
    <p:sldId id="423" r:id="rId19"/>
    <p:sldId id="424" r:id="rId20"/>
    <p:sldId id="426" r:id="rId21"/>
    <p:sldId id="430" r:id="rId22"/>
    <p:sldId id="431" r:id="rId23"/>
    <p:sldId id="432" r:id="rId24"/>
    <p:sldId id="436" r:id="rId25"/>
    <p:sldId id="437" r:id="rId26"/>
    <p:sldId id="455" r:id="rId27"/>
    <p:sldId id="438" r:id="rId28"/>
    <p:sldId id="439" r:id="rId29"/>
    <p:sldId id="456" r:id="rId30"/>
    <p:sldId id="457" r:id="rId31"/>
    <p:sldId id="458" r:id="rId32"/>
    <p:sldId id="459" r:id="rId33"/>
    <p:sldId id="460" r:id="rId34"/>
    <p:sldId id="440" r:id="rId35"/>
    <p:sldId id="441" r:id="rId36"/>
    <p:sldId id="461" r:id="rId37"/>
    <p:sldId id="442" r:id="rId38"/>
    <p:sldId id="462" r:id="rId39"/>
    <p:sldId id="463" r:id="rId40"/>
    <p:sldId id="443" r:id="rId41"/>
    <p:sldId id="464" r:id="rId42"/>
    <p:sldId id="465" r:id="rId43"/>
    <p:sldId id="444" r:id="rId44"/>
    <p:sldId id="445" r:id="rId45"/>
    <p:sldId id="447" r:id="rId46"/>
    <p:sldId id="448" r:id="rId47"/>
    <p:sldId id="303" r:id="rId48"/>
    <p:sldId id="305" r:id="rId49"/>
  </p:sldIdLst>
  <p:sldSz cx="9144000" cy="5715000" type="screen16x10"/>
  <p:notesSz cx="6797675" cy="9926638"/>
  <p:custDataLst>
    <p:tags r:id="rId5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6"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58ED5"/>
    <a:srgbClr val="48C2BB"/>
    <a:srgbClr val="1F85A6"/>
    <a:srgbClr val="15BDAD"/>
    <a:srgbClr val="F1D156"/>
    <a:srgbClr val="276B7D"/>
    <a:srgbClr val="F1FDC3"/>
    <a:srgbClr val="9CC606"/>
    <a:srgbClr val="E2F6F1"/>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639" autoAdjust="0"/>
    <p:restoredTop sz="93980" autoAdjust="0"/>
  </p:normalViewPr>
  <p:slideViewPr>
    <p:cSldViewPr snapToGrid="0" snapToObjects="1" showGuides="1">
      <p:cViewPr varScale="1">
        <p:scale>
          <a:sx n="98" d="100"/>
          <a:sy n="98" d="100"/>
        </p:scale>
        <p:origin x="1296" y="82"/>
      </p:cViewPr>
      <p:guideLst/>
    </p:cSldViewPr>
  </p:slideViewPr>
  <p:outlineViewPr>
    <p:cViewPr>
      <p:scale>
        <a:sx n="33" d="100"/>
        <a:sy n="33" d="100"/>
      </p:scale>
      <p:origin x="0" y="0"/>
    </p:cViewPr>
  </p:outlineViewPr>
  <p:notesTextViewPr>
    <p:cViewPr>
      <p:scale>
        <a:sx n="3" d="2"/>
        <a:sy n="3" d="2"/>
      </p:scale>
      <p:origin x="0" y="-178"/>
    </p:cViewPr>
  </p:notesTextViewPr>
  <p:sorterViewPr>
    <p:cViewPr>
      <p:scale>
        <a:sx n="130" d="100"/>
        <a:sy n="130" d="100"/>
      </p:scale>
      <p:origin x="0" y="0"/>
    </p:cViewPr>
  </p:sorterViewPr>
  <p:notesViewPr>
    <p:cSldViewPr snapToGrid="0" snapToObjects="1" showGuides="1">
      <p:cViewPr varScale="1">
        <p:scale>
          <a:sx n="48" d="100"/>
          <a:sy n="48" d="100"/>
        </p:scale>
        <p:origin x="2940" y="60"/>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handoutMaster" Target="handoutMasters/handout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11932DC7-834F-6148-86AF-F72164F7FFC1}" type="datetimeFigureOut">
              <a:rPr lang="es-ES" smtClean="0"/>
              <a:t>07/06/2023</a:t>
            </a:fld>
            <a:endParaRPr lang="es-ES"/>
          </a:p>
        </p:txBody>
      </p:sp>
      <p:sp>
        <p:nvSpPr>
          <p:cNvPr id="4" name="Marcador de pie de página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45659" cy="498056"/>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50443" y="1"/>
            <a:ext cx="2945659" cy="498056"/>
          </a:xfrm>
          <a:prstGeom prst="rect">
            <a:avLst/>
          </a:prstGeom>
        </p:spPr>
        <p:txBody>
          <a:bodyPr vert="horz" lIns="91440" tIns="45720" rIns="91440" bIns="45720" rtlCol="0"/>
          <a:lstStyle>
            <a:lvl1pPr algn="r">
              <a:defRPr sz="1200"/>
            </a:lvl1pPr>
          </a:lstStyle>
          <a:p>
            <a:fld id="{FFDF1720-AE80-4069-8D89-2C76E8AFD874}" type="datetimeFigureOut">
              <a:rPr lang="es-PE" smtClean="0"/>
              <a:t>7/06/2023</a:t>
            </a:fld>
            <a:endParaRPr lang="es-PE"/>
          </a:p>
        </p:txBody>
      </p:sp>
      <p:sp>
        <p:nvSpPr>
          <p:cNvPr id="4" name="Marcador de imagen de diapositiva 3"/>
          <p:cNvSpPr>
            <a:spLocks noGrp="1" noRot="1" noChangeAspect="1"/>
          </p:cNvSpPr>
          <p:nvPr>
            <p:ph type="sldImg" idx="2"/>
          </p:nvPr>
        </p:nvSpPr>
        <p:spPr>
          <a:xfrm>
            <a:off x="719138" y="1241425"/>
            <a:ext cx="5359400" cy="3349625"/>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79768" y="4777194"/>
            <a:ext cx="5438140" cy="3908615"/>
          </a:xfrm>
          <a:prstGeom prst="rect">
            <a:avLst/>
          </a:prstGeom>
        </p:spPr>
        <p:txBody>
          <a:bodyPr vert="horz" lIns="91440" tIns="45720" rIns="91440" bIns="45720" rtlCol="0"/>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a:t>
            </a:fld>
            <a:endParaRPr lang="es-PE"/>
          </a:p>
        </p:txBody>
      </p:sp>
    </p:spTree>
    <p:extLst>
      <p:ext uri="{BB962C8B-B14F-4D97-AF65-F5344CB8AC3E}">
        <p14:creationId xmlns:p14="http://schemas.microsoft.com/office/powerpoint/2010/main" val="2879386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a:t>
            </a:fld>
            <a:endParaRPr lang="es-PE"/>
          </a:p>
        </p:txBody>
      </p:sp>
    </p:spTree>
    <p:extLst>
      <p:ext uri="{BB962C8B-B14F-4D97-AF65-F5344CB8AC3E}">
        <p14:creationId xmlns:p14="http://schemas.microsoft.com/office/powerpoint/2010/main" val="614306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a:t>
            </a:fld>
            <a:endParaRPr lang="es-PE"/>
          </a:p>
        </p:txBody>
      </p:sp>
    </p:spTree>
    <p:extLst>
      <p:ext uri="{BB962C8B-B14F-4D97-AF65-F5344CB8AC3E}">
        <p14:creationId xmlns:p14="http://schemas.microsoft.com/office/powerpoint/2010/main" val="22901049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A medida que el análisis de negocios afecta a todos los niveles del negocio, se requiere un conocimiento especializado del proceso, la estrategia y la planificación del negocio para ejecutar el análisis del negocio.</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a:t>
            </a:fld>
            <a:endParaRPr lang="es-PE"/>
          </a:p>
        </p:txBody>
      </p:sp>
    </p:spTree>
    <p:extLst>
      <p:ext uri="{BB962C8B-B14F-4D97-AF65-F5344CB8AC3E}">
        <p14:creationId xmlns:p14="http://schemas.microsoft.com/office/powerpoint/2010/main" val="3206206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El puesto de analista empresarial es amplio, por lo que los beneficios del análisis empresarial son numerosos; sin embargo, no son tan obvios como parecen. Además, varios actores empresariales no son conscientes de las ventajas comparativas de utilizar el análisis empresarial en lugar de realizar actividades comerciales sin estrategias adecuadas para resolver los problemas empresariales.</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a:t>
            </a:fld>
            <a:endParaRPr lang="es-PE"/>
          </a:p>
        </p:txBody>
      </p:sp>
    </p:spTree>
    <p:extLst>
      <p:ext uri="{BB962C8B-B14F-4D97-AF65-F5344CB8AC3E}">
        <p14:creationId xmlns:p14="http://schemas.microsoft.com/office/powerpoint/2010/main" val="24770123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7</a:t>
            </a:fld>
            <a:endParaRPr lang="es-PE"/>
          </a:p>
        </p:txBody>
      </p:sp>
    </p:spTree>
    <p:extLst>
      <p:ext uri="{BB962C8B-B14F-4D97-AF65-F5344CB8AC3E}">
        <p14:creationId xmlns:p14="http://schemas.microsoft.com/office/powerpoint/2010/main" val="1909261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8</a:t>
            </a:fld>
            <a:endParaRPr lang="es-PE"/>
          </a:p>
        </p:txBody>
      </p:sp>
    </p:spTree>
    <p:extLst>
      <p:ext uri="{BB962C8B-B14F-4D97-AF65-F5344CB8AC3E}">
        <p14:creationId xmlns:p14="http://schemas.microsoft.com/office/powerpoint/2010/main" val="10583278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9</a:t>
            </a:fld>
            <a:endParaRPr lang="es-PE"/>
          </a:p>
        </p:txBody>
      </p:sp>
    </p:spTree>
    <p:extLst>
      <p:ext uri="{BB962C8B-B14F-4D97-AF65-F5344CB8AC3E}">
        <p14:creationId xmlns:p14="http://schemas.microsoft.com/office/powerpoint/2010/main" val="34412422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10</a:t>
            </a:fld>
            <a:endParaRPr lang="es-PE"/>
          </a:p>
        </p:txBody>
      </p:sp>
    </p:spTree>
    <p:extLst>
      <p:ext uri="{BB962C8B-B14F-4D97-AF65-F5344CB8AC3E}">
        <p14:creationId xmlns:p14="http://schemas.microsoft.com/office/powerpoint/2010/main" val="36497261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11</a:t>
            </a:fld>
            <a:endParaRPr lang="es-PE"/>
          </a:p>
        </p:txBody>
      </p:sp>
    </p:spTree>
    <p:extLst>
      <p:ext uri="{BB962C8B-B14F-4D97-AF65-F5344CB8AC3E}">
        <p14:creationId xmlns:p14="http://schemas.microsoft.com/office/powerpoint/2010/main" val="20567657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El </a:t>
            </a:r>
            <a:r>
              <a:rPr lang="es-ES" dirty="0" smtClean="0"/>
              <a:t>análisis </a:t>
            </a:r>
            <a:r>
              <a:rPr lang="es-ES" dirty="0"/>
              <a:t>empresarial es una profesión amplia en la que los analistas empresariales pueden realizar trabajos para muchos tipos diferentes de iniciativas en una empresa.</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12</a:t>
            </a:fld>
            <a:endParaRPr lang="es-PE"/>
          </a:p>
        </p:txBody>
      </p:sp>
    </p:spTree>
    <p:extLst>
      <p:ext uri="{BB962C8B-B14F-4D97-AF65-F5344CB8AC3E}">
        <p14:creationId xmlns:p14="http://schemas.microsoft.com/office/powerpoint/2010/main" val="42324213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25079096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a:t>Las iniciativas pueden ser estratégicas, tácticas u operativas. </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2416853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a:t>Los analistas de negocios desempeñan un papel en la alineación de las soluciones diseñadas y entregadas con las necesidades de las partes interesadas. </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6973433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16</a:t>
            </a:fld>
            <a:endParaRPr lang="es-PE"/>
          </a:p>
        </p:txBody>
      </p:sp>
    </p:spTree>
    <p:extLst>
      <p:ext uri="{BB962C8B-B14F-4D97-AF65-F5344CB8AC3E}">
        <p14:creationId xmlns:p14="http://schemas.microsoft.com/office/powerpoint/2010/main" val="24577827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26520212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18</a:t>
            </a:fld>
            <a:endParaRPr lang="es-PE"/>
          </a:p>
        </p:txBody>
      </p:sp>
    </p:spTree>
    <p:extLst>
      <p:ext uri="{BB962C8B-B14F-4D97-AF65-F5344CB8AC3E}">
        <p14:creationId xmlns:p14="http://schemas.microsoft.com/office/powerpoint/2010/main" val="24945497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Un analista de negocios puede realizar otras actividades asignadas por su organización, pero estas actividades adicionales no se consideran parte de la profesión de análisis de negocios.</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Una iniciativa de análisis empresarial puede comenzar con cualquier tarea, aunque </a:t>
            </a:r>
            <a:r>
              <a:rPr lang="es-ES" dirty="0" smtClean="0"/>
              <a:t>es</a:t>
            </a:r>
            <a:r>
              <a:rPr lang="es-ES" baseline="0" dirty="0" smtClean="0"/>
              <a:t> recomendable realizar el análisis d</a:t>
            </a:r>
            <a:r>
              <a:rPr lang="es-ES" dirty="0" smtClean="0"/>
              <a:t>el </a:t>
            </a:r>
            <a:r>
              <a:rPr lang="es-ES" dirty="0"/>
              <a:t>estado actual o </a:t>
            </a:r>
            <a:r>
              <a:rPr lang="es-ES" dirty="0" smtClean="0"/>
              <a:t>medir </a:t>
            </a:r>
            <a:r>
              <a:rPr lang="es-ES" dirty="0"/>
              <a:t>el rendimiento de la solución.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19</a:t>
            </a:fld>
            <a:endParaRPr lang="es-PE"/>
          </a:p>
        </p:txBody>
      </p:sp>
    </p:spTree>
    <p:extLst>
      <p:ext uri="{BB962C8B-B14F-4D97-AF65-F5344CB8AC3E}">
        <p14:creationId xmlns:p14="http://schemas.microsoft.com/office/powerpoint/2010/main" val="39566685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20</a:t>
            </a:fld>
            <a:endParaRPr lang="es-PE"/>
          </a:p>
        </p:txBody>
      </p:sp>
    </p:spTree>
    <p:extLst>
      <p:ext uri="{BB962C8B-B14F-4D97-AF65-F5344CB8AC3E}">
        <p14:creationId xmlns:p14="http://schemas.microsoft.com/office/powerpoint/2010/main" val="134386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Hay múltiples técnicas que se pueden aplicar alternativamente o en conjunto con otras técnicas para realizar una tarea.</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21</a:t>
            </a:fld>
            <a:endParaRPr lang="es-PE"/>
          </a:p>
        </p:txBody>
      </p:sp>
    </p:spTree>
    <p:extLst>
      <p:ext uri="{BB962C8B-B14F-4D97-AF65-F5344CB8AC3E}">
        <p14:creationId xmlns:p14="http://schemas.microsoft.com/office/powerpoint/2010/main" val="4149712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22</a:t>
            </a:fld>
            <a:endParaRPr lang="es-PE"/>
          </a:p>
        </p:txBody>
      </p:sp>
    </p:spTree>
    <p:extLst>
      <p:ext uri="{BB962C8B-B14F-4D97-AF65-F5344CB8AC3E}">
        <p14:creationId xmlns:p14="http://schemas.microsoft.com/office/powerpoint/2010/main" val="32953855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23</a:t>
            </a:fld>
            <a:endParaRPr lang="es-PE"/>
          </a:p>
        </p:txBody>
      </p:sp>
    </p:spTree>
    <p:extLst>
      <p:ext uri="{BB962C8B-B14F-4D97-AF65-F5344CB8AC3E}">
        <p14:creationId xmlns:p14="http://schemas.microsoft.com/office/powerpoint/2010/main" val="36474413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24</a:t>
            </a:fld>
            <a:endParaRPr lang="es-PE"/>
          </a:p>
        </p:txBody>
      </p:sp>
    </p:spTree>
    <p:extLst>
      <p:ext uri="{BB962C8B-B14F-4D97-AF65-F5344CB8AC3E}">
        <p14:creationId xmlns:p14="http://schemas.microsoft.com/office/powerpoint/2010/main" val="4749771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Ningún concepto individual tiene mayor importancia o significado </a:t>
            </a:r>
            <a:r>
              <a:rPr lang="es-ES" dirty="0" smtClean="0"/>
              <a:t>que </a:t>
            </a:r>
            <a:r>
              <a:rPr lang="es-ES" dirty="0"/>
              <a:t>cualquier otro concepto.</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25</a:t>
            </a:fld>
            <a:endParaRPr lang="es-PE"/>
          </a:p>
        </p:txBody>
      </p:sp>
    </p:spTree>
    <p:extLst>
      <p:ext uri="{BB962C8B-B14F-4D97-AF65-F5344CB8AC3E}">
        <p14:creationId xmlns:p14="http://schemas.microsoft.com/office/powerpoint/2010/main" val="23586301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26</a:t>
            </a:fld>
            <a:endParaRPr lang="es-PE"/>
          </a:p>
        </p:txBody>
      </p:sp>
    </p:spTree>
    <p:extLst>
      <p:ext uri="{BB962C8B-B14F-4D97-AF65-F5344CB8AC3E}">
        <p14:creationId xmlns:p14="http://schemas.microsoft.com/office/powerpoint/2010/main" val="31217796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27</a:t>
            </a:fld>
            <a:endParaRPr lang="es-PE"/>
          </a:p>
        </p:txBody>
      </p:sp>
    </p:spTree>
    <p:extLst>
      <p:ext uri="{BB962C8B-B14F-4D97-AF65-F5344CB8AC3E}">
        <p14:creationId xmlns:p14="http://schemas.microsoft.com/office/powerpoint/2010/main" val="2135601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28</a:t>
            </a:fld>
            <a:endParaRPr lang="es-PE"/>
          </a:p>
        </p:txBody>
      </p:sp>
    </p:spTree>
    <p:extLst>
      <p:ext uri="{BB962C8B-B14F-4D97-AF65-F5344CB8AC3E}">
        <p14:creationId xmlns:p14="http://schemas.microsoft.com/office/powerpoint/2010/main" val="18803779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29</a:t>
            </a:fld>
            <a:endParaRPr lang="es-PE"/>
          </a:p>
        </p:txBody>
      </p:sp>
    </p:spTree>
    <p:extLst>
      <p:ext uri="{BB962C8B-B14F-4D97-AF65-F5344CB8AC3E}">
        <p14:creationId xmlns:p14="http://schemas.microsoft.com/office/powerpoint/2010/main" val="15588407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30</a:t>
            </a:fld>
            <a:endParaRPr lang="es-PE"/>
          </a:p>
        </p:txBody>
      </p:sp>
    </p:spTree>
    <p:extLst>
      <p:ext uri="{BB962C8B-B14F-4D97-AF65-F5344CB8AC3E}">
        <p14:creationId xmlns:p14="http://schemas.microsoft.com/office/powerpoint/2010/main" val="25467479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También es posible tener una disminución en el valor en forma de pérdidas, riesgos y costos.</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En algunos casos, el valor se puede evaluar en términos absolutos, pero en muchos casos se evalúa en términos relativos: una opción de solución es más valiosa que otra desde la perspectiva de un conjunto determinado de </a:t>
            </a:r>
            <a:r>
              <a:rPr lang="es-ES" i="1" dirty="0"/>
              <a:t>stakeholders</a:t>
            </a:r>
            <a:r>
              <a:rPr lang="es-ES" dirty="0"/>
              <a:t>.</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31</a:t>
            </a:fld>
            <a:endParaRPr lang="es-PE"/>
          </a:p>
        </p:txBody>
      </p:sp>
    </p:spTree>
    <p:extLst>
      <p:ext uri="{BB962C8B-B14F-4D97-AF65-F5344CB8AC3E}">
        <p14:creationId xmlns:p14="http://schemas.microsoft.com/office/powerpoint/2010/main" val="15341940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Los cambios ocurren dentro de un contexto. </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32</a:t>
            </a:fld>
            <a:endParaRPr lang="es-PE"/>
          </a:p>
        </p:txBody>
      </p:sp>
    </p:spTree>
    <p:extLst>
      <p:ext uri="{BB962C8B-B14F-4D97-AF65-F5344CB8AC3E}">
        <p14:creationId xmlns:p14="http://schemas.microsoft.com/office/powerpoint/2010/main" val="38237476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sz="1800" dirty="0">
                <a:effectLst/>
                <a:latin typeface="Arial" panose="020B0604020202020204" pitchFamily="34" charset="0"/>
                <a:ea typeface="Arial" panose="020B0604020202020204" pitchFamily="34" charset="0"/>
              </a:rPr>
              <a:t>Si alguno de los conceptos centrales experimenta un cambio, </a:t>
            </a:r>
            <a:r>
              <a:rPr lang="es-PE" sz="1800" dirty="0" smtClean="0">
                <a:effectLst/>
                <a:latin typeface="Arial" panose="020B0604020202020204" pitchFamily="34" charset="0"/>
                <a:ea typeface="Arial" panose="020B0604020202020204" pitchFamily="34" charset="0"/>
              </a:rPr>
              <a:t>tenemos que reevaluar </a:t>
            </a:r>
            <a:r>
              <a:rPr lang="es-PE" sz="1800" dirty="0">
                <a:effectLst/>
                <a:latin typeface="Arial" panose="020B0604020202020204" pitchFamily="34" charset="0"/>
                <a:ea typeface="Arial" panose="020B0604020202020204" pitchFamily="34" charset="0"/>
              </a:rPr>
              <a:t>estos conceptos centrales y sus relaciones con la entrega de valor.</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33</a:t>
            </a:fld>
            <a:endParaRPr lang="es-PE"/>
          </a:p>
        </p:txBody>
      </p:sp>
    </p:spTree>
    <p:extLst>
      <p:ext uri="{BB962C8B-B14F-4D97-AF65-F5344CB8AC3E}">
        <p14:creationId xmlns:p14="http://schemas.microsoft.com/office/powerpoint/2010/main" val="858790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34</a:t>
            </a:fld>
            <a:endParaRPr lang="es-PE"/>
          </a:p>
        </p:txBody>
      </p:sp>
    </p:spTree>
    <p:extLst>
      <p:ext uri="{BB962C8B-B14F-4D97-AF65-F5344CB8AC3E}">
        <p14:creationId xmlns:p14="http://schemas.microsoft.com/office/powerpoint/2010/main" val="30312084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Se refiere a los amplios y diversos conjuntos de información que los analistas de negocios analizan, transforman e informan.</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35</a:t>
            </a:fld>
            <a:endParaRPr lang="es-PE"/>
          </a:p>
        </p:txBody>
      </p:sp>
    </p:spTree>
    <p:extLst>
      <p:ext uri="{BB962C8B-B14F-4D97-AF65-F5344CB8AC3E}">
        <p14:creationId xmlns:p14="http://schemas.microsoft.com/office/powerpoint/2010/main" val="19662950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36</a:t>
            </a:fld>
            <a:endParaRPr lang="es-PE"/>
          </a:p>
        </p:txBody>
      </p:sp>
    </p:spTree>
    <p:extLst>
      <p:ext uri="{BB962C8B-B14F-4D97-AF65-F5344CB8AC3E}">
        <p14:creationId xmlns:p14="http://schemas.microsoft.com/office/powerpoint/2010/main" val="26532365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Una empresa puede incluir cualquier número de negocios, gobierno o cualquier otro tipo de organización.</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37</a:t>
            </a:fld>
            <a:endParaRPr lang="es-PE"/>
          </a:p>
        </p:txBody>
      </p:sp>
    </p:spTree>
    <p:extLst>
      <p:ext uri="{BB962C8B-B14F-4D97-AF65-F5344CB8AC3E}">
        <p14:creationId xmlns:p14="http://schemas.microsoft.com/office/powerpoint/2010/main" val="6822307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38</a:t>
            </a:fld>
            <a:endParaRPr lang="es-PE"/>
          </a:p>
        </p:txBody>
      </p:sp>
    </p:spTree>
    <p:extLst>
      <p:ext uri="{BB962C8B-B14F-4D97-AF65-F5344CB8AC3E}">
        <p14:creationId xmlns:p14="http://schemas.microsoft.com/office/powerpoint/2010/main" val="12046854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39</a:t>
            </a:fld>
            <a:endParaRPr lang="es-PE"/>
          </a:p>
        </p:txBody>
      </p:sp>
    </p:spTree>
    <p:extLst>
      <p:ext uri="{BB962C8B-B14F-4D97-AF65-F5344CB8AC3E}">
        <p14:creationId xmlns:p14="http://schemas.microsoft.com/office/powerpoint/2010/main" val="20516804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40</a:t>
            </a:fld>
            <a:endParaRPr lang="es-PE"/>
          </a:p>
        </p:txBody>
      </p:sp>
    </p:spTree>
    <p:extLst>
      <p:ext uri="{BB962C8B-B14F-4D97-AF65-F5344CB8AC3E}">
        <p14:creationId xmlns:p14="http://schemas.microsoft.com/office/powerpoint/2010/main" val="109751884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41</a:t>
            </a:fld>
            <a:endParaRPr lang="es-PE"/>
          </a:p>
        </p:txBody>
      </p:sp>
    </p:spTree>
    <p:extLst>
      <p:ext uri="{BB962C8B-B14F-4D97-AF65-F5344CB8AC3E}">
        <p14:creationId xmlns:p14="http://schemas.microsoft.com/office/powerpoint/2010/main" val="39349516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42</a:t>
            </a:fld>
            <a:endParaRPr lang="es-PE"/>
          </a:p>
        </p:txBody>
      </p:sp>
    </p:spTree>
    <p:extLst>
      <p:ext uri="{BB962C8B-B14F-4D97-AF65-F5344CB8AC3E}">
        <p14:creationId xmlns:p14="http://schemas.microsoft.com/office/powerpoint/2010/main" val="27308861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43</a:t>
            </a:fld>
            <a:endParaRPr lang="es-PE"/>
          </a:p>
        </p:txBody>
      </p:sp>
    </p:spTree>
    <p:extLst>
      <p:ext uri="{BB962C8B-B14F-4D97-AF65-F5344CB8AC3E}">
        <p14:creationId xmlns:p14="http://schemas.microsoft.com/office/powerpoint/2010/main" val="104804596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El nivel de responsabilidad por el diseño varía según la perspectiva dentro de la cual trabaja un analista de negocios.</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 distinción entre requisitos y diseños no siempre es clara. Las mismas técnicas se utilizan para obtener, </a:t>
            </a:r>
            <a:r>
              <a:rPr lang="es-ES"/>
              <a:t>modelar </a:t>
            </a:r>
            <a:r>
              <a:rPr lang="es-ES" smtClean="0"/>
              <a:t>y</a:t>
            </a:r>
            <a:r>
              <a:rPr lang="es-ES" baseline="0" smtClean="0"/>
              <a:t> </a:t>
            </a:r>
            <a:r>
              <a:rPr lang="es-ES" smtClean="0"/>
              <a:t>analizar </a:t>
            </a:r>
            <a:r>
              <a:rPr lang="es-ES" dirty="0"/>
              <a:t>ambos. </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44</a:t>
            </a:fld>
            <a:endParaRPr lang="es-PE"/>
          </a:p>
        </p:txBody>
      </p:sp>
    </p:spTree>
    <p:extLst>
      <p:ext uri="{BB962C8B-B14F-4D97-AF65-F5344CB8AC3E}">
        <p14:creationId xmlns:p14="http://schemas.microsoft.com/office/powerpoint/2010/main" val="10206272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Un analista de negocios usa actividades que se encuentran en Obtención y colaboración, Análisis de estrategia, Análisis de requisitos y definición de diseño y Evaluación de solución para transformar esa solicitud en un requisito o diseño.</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45</a:t>
            </a:fld>
            <a:endParaRPr lang="es-PE"/>
          </a:p>
        </p:txBody>
      </p:sp>
    </p:spTree>
    <p:extLst>
      <p:ext uri="{BB962C8B-B14F-4D97-AF65-F5344CB8AC3E}">
        <p14:creationId xmlns:p14="http://schemas.microsoft.com/office/powerpoint/2010/main" val="28698327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pPr marL="228600" indent="-228600" rtl="0">
              <a:buFont typeface="+mj-lt"/>
              <a:buAutoNum type="arabicPeriod"/>
            </a:pPr>
            <a:endParaRPr lang="es-PE" sz="1200" b="0" dirty="0">
              <a:effectLst/>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46</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es-PE" sz="1200" kern="1200" dirty="0">
                <a:solidFill>
                  <a:schemeClr val="tx1"/>
                </a:solidFill>
                <a:effectLst/>
                <a:latin typeface="Arial" panose="020B0604020202020204" pitchFamily="34" charset="0"/>
                <a:ea typeface="+mn-ea"/>
                <a:cs typeface="Arial" panose="020B0604020202020204" pitchFamily="34" charset="0"/>
              </a:rPr>
              <a:t> </a:t>
            </a:r>
          </a:p>
          <a:p>
            <a:endParaRPr lang="es-PE" sz="1200"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47</a:t>
            </a:fld>
            <a:endParaRPr lang="es-PE"/>
          </a:p>
        </p:txBody>
      </p:sp>
    </p:spTree>
    <p:extLst>
      <p:ext uri="{BB962C8B-B14F-4D97-AF65-F5344CB8AC3E}">
        <p14:creationId xmlns:p14="http://schemas.microsoft.com/office/powerpoint/2010/main" val="18490434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4.png"/><Relationship Id="rId3" Type="http://schemas.openxmlformats.org/officeDocument/2006/relationships/image" Target="../media/image6.svg"/><Relationship Id="rId7" Type="http://schemas.openxmlformats.org/officeDocument/2006/relationships/image" Target="../media/image9.png"/><Relationship Id="rId12"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11" Type="http://schemas.microsoft.com/office/2007/relationships/hdphoto" Target="../media/hdphoto2.wdp"/><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pn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png"/><Relationship Id="rId1" Type="http://schemas.openxmlformats.org/officeDocument/2006/relationships/slideMaster" Target="../slideMasters/slideMaster2.xml"/><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_Introduccion">
    <p:bg>
      <p:bgPr>
        <a:solidFill>
          <a:schemeClr val="bg1">
            <a:lumMod val="95000"/>
          </a:schemeClr>
        </a:solid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DEFFC524-5204-4B8D-AB52-89B3D97070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schemeClr val="tx1"/>
                </a:solidFill>
                <a:effectLst/>
                <a:uLnTx/>
                <a:uFillTx/>
                <a:latin typeface="Calibri"/>
                <a:ea typeface="+mn-ea"/>
                <a:cs typeface="+mn-cs"/>
              </a:rPr>
              <a:t>INTRODUCCIÓN</a:t>
            </a:r>
          </a:p>
        </p:txBody>
      </p:sp>
      <p:pic>
        <p:nvPicPr>
          <p:cNvPr id="3" name="Imagen 2">
            <a:extLst>
              <a:ext uri="{FF2B5EF4-FFF2-40B4-BE49-F238E27FC236}">
                <a16:creationId xmlns:a16="http://schemas.microsoft.com/office/drawing/2014/main" id="{949F8A1D-5EEE-42EF-A95B-31789C550AC2}"/>
              </a:ext>
            </a:extLst>
          </p:cNvPr>
          <p:cNvPicPr>
            <a:picLocks noChangeAspect="1"/>
          </p:cNvPicPr>
          <p:nvPr userDrawn="1"/>
        </p:nvPicPr>
        <p:blipFill>
          <a:blip r:embed="rId3">
            <a:alphaModFix/>
            <a:biLevel thresh="75000"/>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a:solidFill>
            <a:schemeClr val="bg1">
              <a:lumMod val="95000"/>
            </a:schemeClr>
          </a:solidFill>
        </p:spPr>
      </p:pic>
      <p:sp>
        <p:nvSpPr>
          <p:cNvPr id="8" name="Marcador de texto 7">
            <a:extLst>
              <a:ext uri="{FF2B5EF4-FFF2-40B4-BE49-F238E27FC236}">
                <a16:creationId xmlns:a16="http://schemas.microsoft.com/office/drawing/2014/main" id="{C946181C-25DC-4BDD-9928-A88184E17BFD}"/>
              </a:ext>
            </a:extLst>
          </p:cNvPr>
          <p:cNvSpPr>
            <a:spLocks noGrp="1"/>
          </p:cNvSpPr>
          <p:nvPr>
            <p:ph type="body" sz="quarter" idx="10"/>
          </p:nvPr>
        </p:nvSpPr>
        <p:spPr>
          <a:xfrm>
            <a:off x="503238" y="1670050"/>
            <a:ext cx="8137525" cy="3563938"/>
          </a:xfrm>
          <a:prstGeom prst="rect">
            <a:avLst/>
          </a:prstGeom>
        </p:spPr>
        <p:txBody>
          <a:bodyPr/>
          <a:lstStyle>
            <a:lvl1pPr marL="266700" indent="-266700" algn="just">
              <a:lnSpc>
                <a:spcPct val="100000"/>
              </a:lnSpc>
              <a:spcBef>
                <a:spcPts val="0"/>
              </a:spcBef>
              <a:spcAft>
                <a:spcPts val="1200"/>
              </a:spcAft>
              <a:buSzPct val="75000"/>
              <a:buFont typeface="Wingdings" panose="05000000000000000000" pitchFamily="2" charset="2"/>
              <a:buChar char="q"/>
              <a:defRPr sz="1600"/>
            </a:lvl1pPr>
            <a:lvl2pPr marL="531813" indent="-265113" algn="just">
              <a:lnSpc>
                <a:spcPct val="100000"/>
              </a:lnSpc>
              <a:spcBef>
                <a:spcPts val="0"/>
              </a:spcBef>
              <a:spcAft>
                <a:spcPts val="1200"/>
              </a:spcAft>
              <a:buFont typeface="Delius" panose="02000603000000000000" pitchFamily="2" charset="0"/>
              <a:buChar char="→"/>
              <a:defRPr sz="1600"/>
            </a:lvl2pPr>
            <a:lvl3pPr marL="717550" indent="-185738" algn="just">
              <a:lnSpc>
                <a:spcPct val="100000"/>
              </a:lnSpc>
              <a:spcBef>
                <a:spcPts val="0"/>
              </a:spcBef>
              <a:spcAft>
                <a:spcPts val="1200"/>
              </a:spcAft>
              <a:buFont typeface="Wingdings" panose="05000000000000000000" pitchFamily="2" charset="2"/>
              <a:buChar char="§"/>
              <a:defRPr sz="1600"/>
            </a:lvl3pPr>
            <a:lvl4pPr>
              <a:lnSpc>
                <a:spcPct val="85000"/>
              </a:lnSpc>
              <a:spcBef>
                <a:spcPts val="0"/>
              </a:spcBef>
              <a:spcAft>
                <a:spcPts val="1200"/>
              </a:spcAft>
              <a:defRPr sz="1600"/>
            </a:lvl4pPr>
            <a:lvl5pPr>
              <a:lnSpc>
                <a:spcPct val="85000"/>
              </a:lnSpc>
              <a:spcBef>
                <a:spcPts val="0"/>
              </a:spcBef>
              <a:spcAft>
                <a:spcPts val="1200"/>
              </a:spcAft>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custDataLst>
      <p:tags r:id="rId1"/>
    </p:custDataLst>
    <p:extLst>
      <p:ext uri="{BB962C8B-B14F-4D97-AF65-F5344CB8AC3E}">
        <p14:creationId xmlns:p14="http://schemas.microsoft.com/office/powerpoint/2010/main" val="4023211956"/>
      </p:ext>
    </p:extLst>
  </p:cSld>
  <p:clrMapOvr>
    <a:masterClrMapping/>
  </p:clrMapOvr>
  <p:extLst>
    <p:ext uri="{DCECCB84-F9BA-43D5-87BE-67443E8EF086}">
      <p15:sldGuideLst xmlns:p15="http://schemas.microsoft.com/office/powerpoint/2012/main">
        <p15:guide id="1" orient="horz" pos="1052" userDrawn="1">
          <p15:clr>
            <a:srgbClr val="FBAE40"/>
          </p15:clr>
        </p15:guide>
        <p15:guide id="2" pos="317" userDrawn="1">
          <p15:clr>
            <a:srgbClr val="FBAE40"/>
          </p15:clr>
        </p15:guide>
        <p15:guide id="3" pos="5443" userDrawn="1">
          <p15:clr>
            <a:srgbClr val="FBAE40"/>
          </p15:clr>
        </p15:guide>
        <p15:guide id="4" orient="horz" pos="329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_Subtema con Imagen Horizonta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68313" y="2892225"/>
            <a:ext cx="8207375" cy="2376000"/>
          </a:xfrm>
          <a:prstGeom prst="rect">
            <a:avLst/>
          </a:prstGeom>
        </p:spPr>
        <p:txBody>
          <a:bodyPr anchor="ctr"/>
          <a:lstStyle>
            <a:lvl1pPr marL="0" indent="0" algn="ctr">
              <a:buNone/>
              <a:defRPr/>
            </a:lvl1pPr>
          </a:lstStyle>
          <a:p>
            <a:endParaRPr lang="es-PE"/>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8207375"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5" name="Marcador de texto 4">
            <a:extLst>
              <a:ext uri="{FF2B5EF4-FFF2-40B4-BE49-F238E27FC236}">
                <a16:creationId xmlns:a16="http://schemas.microsoft.com/office/drawing/2014/main" id="{B6AB609E-19B2-43F3-94FB-608EEAC4D4C8}"/>
              </a:ext>
            </a:extLst>
          </p:cNvPr>
          <p:cNvSpPr>
            <a:spLocks noGrp="1"/>
          </p:cNvSpPr>
          <p:nvPr>
            <p:ph type="body" sz="quarter" idx="14"/>
          </p:nvPr>
        </p:nvSpPr>
        <p:spPr>
          <a:xfrm>
            <a:off x="468313" y="1158875"/>
            <a:ext cx="8207375" cy="1733550"/>
          </a:xfrm>
          <a:prstGeom prst="rect">
            <a:avLst/>
          </a:prstGeom>
        </p:spPr>
        <p:txBody>
          <a:bodyPr/>
          <a:lstStyle>
            <a:lvl1pPr marL="266700" indent="-266700">
              <a:spcBef>
                <a:spcPts val="0"/>
              </a:spcBef>
              <a:spcAft>
                <a:spcPts val="1200"/>
              </a:spcAft>
              <a:buSzPct val="75000"/>
              <a:buFont typeface="Wingdings" panose="05000000000000000000" pitchFamily="2" charset="2"/>
              <a:buChar char="q"/>
              <a:defRPr sz="1600"/>
            </a:lvl1pPr>
            <a:lvl2pPr marL="531813" indent="-265113">
              <a:spcBef>
                <a:spcPts val="0"/>
              </a:spcBef>
              <a:spcAft>
                <a:spcPts val="1200"/>
              </a:spcAft>
              <a:buFont typeface="Delius" panose="02000603000000000000" pitchFamily="2" charset="0"/>
              <a:buChar char="→"/>
              <a:defRPr sz="1600"/>
            </a:lvl2pPr>
            <a:lvl3pPr marL="717550" indent="-185738">
              <a:spcBef>
                <a:spcPts val="0"/>
              </a:spcBef>
              <a:spcAft>
                <a:spcPts val="1200"/>
              </a:spcAft>
              <a:buFont typeface="Wingdings" panose="05000000000000000000" pitchFamily="2" charset="2"/>
              <a:buChar char="§"/>
              <a:defRPr sz="1600"/>
            </a:lvl3pPr>
            <a:lvl4pPr>
              <a:defRPr sz="1600"/>
            </a:lvl4pPr>
            <a:lvl5pPr>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extLst>
      <p:ext uri="{BB962C8B-B14F-4D97-AF65-F5344CB8AC3E}">
        <p14:creationId xmlns:p14="http://schemas.microsoft.com/office/powerpoint/2010/main" val="611824996"/>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3" orient="horz" pos="1800" userDrawn="1">
          <p15:clr>
            <a:srgbClr val="FBAE40"/>
          </p15:clr>
        </p15:guide>
        <p15:guide id="4" orient="horz" pos="507" userDrawn="1">
          <p15:clr>
            <a:srgbClr val="FBAE40"/>
          </p15:clr>
        </p15:guide>
        <p15:guide id="5" orient="horz" pos="33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_Subtema con Imagen Vertica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572000" y="804863"/>
            <a:ext cx="4103688" cy="4463362"/>
          </a:xfrm>
          <a:prstGeom prst="rect">
            <a:avLst/>
          </a:prstGeom>
        </p:spPr>
        <p:txBody>
          <a:bodyPr anchor="ctr"/>
          <a:lstStyle>
            <a:lvl1pPr marL="0" indent="0" algn="ctr">
              <a:buNone/>
              <a:defRPr/>
            </a:lvl1pPr>
          </a:lstStyle>
          <a:p>
            <a:endParaRPr lang="es-PE"/>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4103687"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FD04F222-EEB2-4557-8D4B-D05354FCD8C6}"/>
              </a:ext>
            </a:extLst>
          </p:cNvPr>
          <p:cNvSpPr>
            <a:spLocks noGrp="1"/>
          </p:cNvSpPr>
          <p:nvPr>
            <p:ph type="body" sz="quarter" idx="14"/>
          </p:nvPr>
        </p:nvSpPr>
        <p:spPr>
          <a:xfrm>
            <a:off x="468313" y="1158875"/>
            <a:ext cx="4103687" cy="4111625"/>
          </a:xfrm>
          <a:prstGeom prst="rect">
            <a:avLst/>
          </a:prstGeom>
        </p:spPr>
        <p:txBody>
          <a:bodyPr/>
          <a:lstStyle>
            <a:lvl1pPr marL="266700" indent="-266700" algn="just">
              <a:spcBef>
                <a:spcPts val="0"/>
              </a:spcBef>
              <a:spcAft>
                <a:spcPts val="1200"/>
              </a:spcAft>
              <a:buSzPct val="75000"/>
              <a:buFont typeface="Wingdings" panose="05000000000000000000" pitchFamily="2" charset="2"/>
              <a:buChar char="q"/>
              <a:defRPr sz="1600"/>
            </a:lvl1pPr>
            <a:lvl2pPr marL="531813" indent="-265113" algn="just">
              <a:spcBef>
                <a:spcPts val="0"/>
              </a:spcBef>
              <a:spcAft>
                <a:spcPts val="1200"/>
              </a:spcAft>
              <a:buFont typeface="Delius" panose="02000603000000000000" pitchFamily="2" charset="0"/>
              <a:buChar char="→"/>
              <a:defRPr sz="1600"/>
            </a:lvl2pPr>
            <a:lvl3pPr marL="717550" indent="-185738" algn="just">
              <a:spcBef>
                <a:spcPts val="0"/>
              </a:spcBef>
              <a:spcAft>
                <a:spcPts val="1200"/>
              </a:spcAft>
              <a:buFont typeface="Wingdings" panose="05000000000000000000" pitchFamily="2" charset="2"/>
              <a:buChar char="§"/>
              <a:defRPr sz="1600"/>
            </a:lvl3pPr>
            <a:lvl4pPr>
              <a:spcBef>
                <a:spcPts val="0"/>
              </a:spcBef>
              <a:defRPr sz="1600"/>
            </a:lvl4pPr>
            <a:lvl5pPr>
              <a:spcBef>
                <a:spcPts val="0"/>
              </a:spcBef>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extLst>
      <p:ext uri="{BB962C8B-B14F-4D97-AF65-F5344CB8AC3E}">
        <p14:creationId xmlns:p14="http://schemas.microsoft.com/office/powerpoint/2010/main" val="941359410"/>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3" orient="horz" pos="1800" userDrawn="1">
          <p15:clr>
            <a:srgbClr val="FBAE40"/>
          </p15:clr>
        </p15:guide>
        <p15:guide id="4" orient="horz" pos="507" userDrawn="1">
          <p15:clr>
            <a:srgbClr val="FBAE40"/>
          </p15:clr>
        </p15:guide>
        <p15:guide id="5" orient="horz" pos="3320" userDrawn="1">
          <p15:clr>
            <a:srgbClr val="FBAE40"/>
          </p15:clr>
        </p15:guide>
        <p15:guide id="6"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_Subtema con Cuadro">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68313" y="1158875"/>
            <a:ext cx="8207375" cy="4109350"/>
          </a:xfrm>
          <a:prstGeom prst="rect">
            <a:avLst/>
          </a:prstGeom>
        </p:spPr>
        <p:txBody>
          <a:bodyPr anchor="ctr"/>
          <a:lstStyle>
            <a:lvl1pPr marL="0" indent="0" algn="ctr">
              <a:buNone/>
              <a:defRPr/>
            </a:lvl1pPr>
          </a:lstStyle>
          <a:p>
            <a:endParaRPr lang="es-PE"/>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8207375"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4152919170"/>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3" orient="horz" pos="1800" userDrawn="1">
          <p15:clr>
            <a:srgbClr val="FBAE40"/>
          </p15:clr>
        </p15:guide>
        <p15:guide id="4" orient="horz" pos="507" userDrawn="1">
          <p15:clr>
            <a:srgbClr val="FBAE40"/>
          </p15:clr>
        </p15:guide>
        <p15:guide id="5" orient="horz" pos="3320" userDrawn="1">
          <p15:clr>
            <a:srgbClr val="FBAE40"/>
          </p15:clr>
        </p15:guide>
        <p15:guide id="6"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_Video">
    <p:spTree>
      <p:nvGrpSpPr>
        <p:cNvPr id="1" name=""/>
        <p:cNvGrpSpPr/>
        <p:nvPr/>
      </p:nvGrpSpPr>
      <p:grpSpPr>
        <a:xfrm>
          <a:off x="0" y="0"/>
          <a:ext cx="0" cy="0"/>
          <a:chOff x="0" y="0"/>
          <a:chExt cx="0" cy="0"/>
        </a:xfrm>
      </p:grpSpPr>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8207375"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pic>
        <p:nvPicPr>
          <p:cNvPr id="5" name="Imagen 4">
            <a:extLst>
              <a:ext uri="{FF2B5EF4-FFF2-40B4-BE49-F238E27FC236}">
                <a16:creationId xmlns:a16="http://schemas.microsoft.com/office/drawing/2014/main" id="{2F05A09E-B877-4C8E-9295-4D94256D1992}"/>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4740"/>
          <a:stretch/>
        </p:blipFill>
        <p:spPr>
          <a:xfrm>
            <a:off x="1508192" y="1059846"/>
            <a:ext cx="6127629" cy="3944875"/>
          </a:xfrm>
          <a:prstGeom prst="rect">
            <a:avLst/>
          </a:prstGeom>
        </p:spPr>
      </p:pic>
      <p:pic>
        <p:nvPicPr>
          <p:cNvPr id="6" name="Imagen 5">
            <a:extLst>
              <a:ext uri="{FF2B5EF4-FFF2-40B4-BE49-F238E27FC236}">
                <a16:creationId xmlns:a16="http://schemas.microsoft.com/office/drawing/2014/main" id="{9C5FFDCC-97A2-4E0B-A99E-935A674BCCCE}"/>
              </a:ext>
            </a:extLst>
          </p:cNvPr>
          <p:cNvPicPr>
            <a:picLocks noChangeAspect="1"/>
          </p:cNvPicPr>
          <p:nvPr userDrawn="1"/>
        </p:nvPicPr>
        <p:blipFill>
          <a:blip r:embed="rId3"/>
          <a:stretch>
            <a:fillRect/>
          </a:stretch>
        </p:blipFill>
        <p:spPr>
          <a:xfrm>
            <a:off x="1978387" y="4710606"/>
            <a:ext cx="201966" cy="161657"/>
          </a:xfrm>
          <a:prstGeom prst="rect">
            <a:avLst/>
          </a:prstGeom>
        </p:spPr>
      </p:pic>
      <p:sp>
        <p:nvSpPr>
          <p:cNvPr id="8" name="Marcador de texto 6">
            <a:extLst>
              <a:ext uri="{FF2B5EF4-FFF2-40B4-BE49-F238E27FC236}">
                <a16:creationId xmlns:a16="http://schemas.microsoft.com/office/drawing/2014/main" id="{8B0C162B-5CD7-413D-8241-4E900E10B5AF}"/>
              </a:ext>
            </a:extLst>
          </p:cNvPr>
          <p:cNvSpPr>
            <a:spLocks noGrp="1"/>
          </p:cNvSpPr>
          <p:nvPr>
            <p:ph type="body" sz="quarter" idx="11"/>
          </p:nvPr>
        </p:nvSpPr>
        <p:spPr>
          <a:xfrm>
            <a:off x="2268539" y="4700775"/>
            <a:ext cx="4608512" cy="185110"/>
          </a:xfrm>
          <a:prstGeom prst="rect">
            <a:avLst/>
          </a:prstGeom>
        </p:spPr>
        <p:txBody>
          <a:bodyPr lIns="0" tIns="0" rIns="0" bIns="0" anchor="ctr"/>
          <a:lstStyle>
            <a:lvl1pPr marL="0" indent="0">
              <a:lnSpc>
                <a:spcPct val="85000"/>
              </a:lnSpc>
              <a:spcBef>
                <a:spcPts val="0"/>
              </a:spcBef>
              <a:buNone/>
              <a:defRPr sz="990" b="1"/>
            </a:lvl1pPr>
          </a:lstStyle>
          <a:p>
            <a:pPr lvl="0"/>
            <a:r>
              <a:rPr lang="es-ES" dirty="0"/>
              <a:t>Haga clic para modificar los estilos de texto del patrón</a:t>
            </a:r>
            <a:endParaRPr lang="es-PE" dirty="0"/>
          </a:p>
        </p:txBody>
      </p:sp>
      <p:sp>
        <p:nvSpPr>
          <p:cNvPr id="9" name="Marcador de texto 8">
            <a:extLst>
              <a:ext uri="{FF2B5EF4-FFF2-40B4-BE49-F238E27FC236}">
                <a16:creationId xmlns:a16="http://schemas.microsoft.com/office/drawing/2014/main" id="{902D7D47-46F2-4520-A3CF-4C88D2EAC185}"/>
              </a:ext>
            </a:extLst>
          </p:cNvPr>
          <p:cNvSpPr>
            <a:spLocks noGrp="1"/>
          </p:cNvSpPr>
          <p:nvPr>
            <p:ph type="body" sz="quarter" idx="14"/>
          </p:nvPr>
        </p:nvSpPr>
        <p:spPr>
          <a:xfrm>
            <a:off x="2268539" y="4920190"/>
            <a:ext cx="4608512" cy="185110"/>
          </a:xfrm>
          <a:prstGeom prst="rect">
            <a:avLst/>
          </a:prstGeom>
        </p:spPr>
        <p:txBody>
          <a:bodyPr lIns="0" tIns="0" rIns="0" bIns="0" anchor="ctr"/>
          <a:lstStyle>
            <a:lvl1pPr marL="0" indent="0">
              <a:spcBef>
                <a:spcPts val="0"/>
              </a:spcBef>
              <a:buNone/>
              <a:defRPr sz="810">
                <a:solidFill>
                  <a:srgbClr val="0070C0"/>
                </a:solidFill>
              </a:defRPr>
            </a:lvl1pPr>
          </a:lstStyle>
          <a:p>
            <a:pPr lvl="0"/>
            <a:r>
              <a:rPr lang="es-ES" dirty="0"/>
              <a:t>Haga clic para modificar los estilos de texto del patrón</a:t>
            </a:r>
            <a:endParaRPr lang="es-PE" dirty="0"/>
          </a:p>
        </p:txBody>
      </p:sp>
      <p:sp>
        <p:nvSpPr>
          <p:cNvPr id="10" name="Marcador de texto 10">
            <a:extLst>
              <a:ext uri="{FF2B5EF4-FFF2-40B4-BE49-F238E27FC236}">
                <a16:creationId xmlns:a16="http://schemas.microsoft.com/office/drawing/2014/main" id="{F02F04C8-1832-474E-A5AA-C095615EEFFC}"/>
              </a:ext>
            </a:extLst>
          </p:cNvPr>
          <p:cNvSpPr>
            <a:spLocks noGrp="1"/>
          </p:cNvSpPr>
          <p:nvPr>
            <p:ph type="body" sz="quarter" idx="15"/>
          </p:nvPr>
        </p:nvSpPr>
        <p:spPr>
          <a:xfrm>
            <a:off x="2268538" y="5124781"/>
            <a:ext cx="4606925" cy="185110"/>
          </a:xfrm>
          <a:prstGeom prst="rect">
            <a:avLst/>
          </a:prstGeom>
        </p:spPr>
        <p:txBody>
          <a:bodyPr lIns="0" tIns="0" rIns="0" bIns="0" anchor="ctr"/>
          <a:lstStyle>
            <a:lvl1pPr marL="0" indent="0">
              <a:spcBef>
                <a:spcPts val="0"/>
              </a:spcBef>
              <a:buNone/>
              <a:defRPr sz="810">
                <a:solidFill>
                  <a:schemeClr val="bg1">
                    <a:lumMod val="65000"/>
                  </a:schemeClr>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4156834566"/>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3" orient="horz" pos="1800" userDrawn="1">
          <p15:clr>
            <a:srgbClr val="FBAE40"/>
          </p15:clr>
        </p15:guide>
        <p15:guide id="4" orient="horz" pos="507" userDrawn="1">
          <p15:clr>
            <a:srgbClr val="FBAE40"/>
          </p15:clr>
        </p15:guide>
        <p15:guide id="5" orient="horz" pos="3320" userDrawn="1">
          <p15:clr>
            <a:srgbClr val="FBAE40"/>
          </p15:clr>
        </p15:guide>
        <p15:guide id="6"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Diapo_Texto resaltado 2">
    <p:bg>
      <p:bgPr>
        <a:blipFill dpi="0" rotWithShape="1">
          <a:blip r:embed="rId2">
            <a:lum/>
            <a:extLst>
              <a:ext uri="{96DAC541-7B7A-43D3-8B79-37D633B846F1}">
                <asvg:svgBlip xmlns:asvg="http://schemas.microsoft.com/office/drawing/2016/SVG/main" xmlns="" r:embed="rId3"/>
              </a:ext>
            </a:extLst>
          </a:blip>
          <a:srcRect/>
          <a:stretch>
            <a:fillRect/>
          </a:stretch>
        </a:blipFill>
        <a:effectLst/>
      </p:bgPr>
    </p:bg>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D3EA2710-DE43-4AC5-98BD-983D08F78779}"/>
              </a:ext>
            </a:extLst>
          </p:cNvPr>
          <p:cNvGrpSpPr/>
          <p:nvPr userDrawn="1"/>
        </p:nvGrpSpPr>
        <p:grpSpPr>
          <a:xfrm>
            <a:off x="4517700" y="2452269"/>
            <a:ext cx="2538738" cy="1451171"/>
            <a:chOff x="4517700" y="2452269"/>
            <a:chExt cx="2538738" cy="1451171"/>
          </a:xfrm>
        </p:grpSpPr>
        <p:grpSp>
          <p:nvGrpSpPr>
            <p:cNvPr id="5" name="Agrupar 1">
              <a:extLst>
                <a:ext uri="{FF2B5EF4-FFF2-40B4-BE49-F238E27FC236}">
                  <a16:creationId xmlns:a16="http://schemas.microsoft.com/office/drawing/2014/main" id="{51A4038E-1C94-47DA-B57D-FE658EEE39FE}"/>
                </a:ext>
              </a:extLst>
            </p:cNvPr>
            <p:cNvGrpSpPr/>
            <p:nvPr/>
          </p:nvGrpSpPr>
          <p:grpSpPr>
            <a:xfrm>
              <a:off x="4517700" y="2452269"/>
              <a:ext cx="2538738" cy="1451171"/>
              <a:chOff x="4517700" y="2452269"/>
              <a:chExt cx="2538738" cy="1451171"/>
            </a:xfrm>
          </p:grpSpPr>
          <p:pic>
            <p:nvPicPr>
              <p:cNvPr id="11" name="Imagen 10">
                <a:extLst>
                  <a:ext uri="{FF2B5EF4-FFF2-40B4-BE49-F238E27FC236}">
                    <a16:creationId xmlns:a16="http://schemas.microsoft.com/office/drawing/2014/main" id="{9F52998B-C192-4406-94C1-CFA2D68340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17700" y="2475857"/>
                <a:ext cx="559042" cy="669906"/>
              </a:xfrm>
              <a:prstGeom prst="rect">
                <a:avLst/>
              </a:prstGeom>
            </p:spPr>
          </p:pic>
          <p:pic>
            <p:nvPicPr>
              <p:cNvPr id="12" name="Imagen 11">
                <a:extLst>
                  <a:ext uri="{FF2B5EF4-FFF2-40B4-BE49-F238E27FC236}">
                    <a16:creationId xmlns:a16="http://schemas.microsoft.com/office/drawing/2014/main" id="{007CDDDE-E872-48F8-924E-A66C35FF040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62750" y="2464063"/>
                <a:ext cx="457612" cy="681700"/>
              </a:xfrm>
              <a:prstGeom prst="rect">
                <a:avLst/>
              </a:prstGeom>
            </p:spPr>
          </p:pic>
          <p:pic>
            <p:nvPicPr>
              <p:cNvPr id="13" name="Imagen 12">
                <a:extLst>
                  <a:ext uri="{FF2B5EF4-FFF2-40B4-BE49-F238E27FC236}">
                    <a16:creationId xmlns:a16="http://schemas.microsoft.com/office/drawing/2014/main" id="{38898B25-C30E-4750-9112-A82D59E410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06369" y="2473498"/>
                <a:ext cx="559042" cy="672265"/>
              </a:xfrm>
              <a:prstGeom prst="rect">
                <a:avLst/>
              </a:prstGeom>
            </p:spPr>
          </p:pic>
          <p:pic>
            <p:nvPicPr>
              <p:cNvPr id="14" name="Imagen 13">
                <a:extLst>
                  <a:ext uri="{FF2B5EF4-FFF2-40B4-BE49-F238E27FC236}">
                    <a16:creationId xmlns:a16="http://schemas.microsoft.com/office/drawing/2014/main" id="{1A9B0F1C-E03D-4D5F-8EAE-6C05D362C42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51418" y="2452269"/>
                <a:ext cx="459971" cy="693494"/>
              </a:xfrm>
              <a:prstGeom prst="rect">
                <a:avLst/>
              </a:prstGeom>
            </p:spPr>
          </p:pic>
          <p:pic>
            <p:nvPicPr>
              <p:cNvPr id="15" name="Imagen 14">
                <a:extLst>
                  <a:ext uri="{FF2B5EF4-FFF2-40B4-BE49-F238E27FC236}">
                    <a16:creationId xmlns:a16="http://schemas.microsoft.com/office/drawing/2014/main" id="{4D61D5AD-FEAF-4848-A220-D80D4E5ADD79}"/>
                  </a:ext>
                </a:extLst>
              </p:cNvPr>
              <p:cNvPicPr>
                <a:picLocks noChangeAspect="1"/>
              </p:cNvPicPr>
              <p:nvPr/>
            </p:nvPicPr>
            <p:blipFill>
              <a:blip r:embed="rId8">
                <a:alphaModFix/>
                <a:extLst>
                  <a:ext uri="{28A0092B-C50C-407E-A947-70E740481C1C}">
                    <a14:useLocalDpi xmlns:a14="http://schemas.microsoft.com/office/drawing/2010/main" val="0"/>
                  </a:ext>
                </a:extLst>
              </a:blip>
              <a:stretch>
                <a:fillRect/>
              </a:stretch>
            </p:blipFill>
            <p:spPr>
              <a:xfrm>
                <a:off x="6497396" y="2494728"/>
                <a:ext cx="559042" cy="651036"/>
              </a:xfrm>
              <a:prstGeom prst="rect">
                <a:avLst/>
              </a:prstGeom>
            </p:spPr>
          </p:pic>
          <p:pic>
            <p:nvPicPr>
              <p:cNvPr id="16" name="Imagen 15">
                <a:extLst>
                  <a:ext uri="{FF2B5EF4-FFF2-40B4-BE49-F238E27FC236}">
                    <a16:creationId xmlns:a16="http://schemas.microsoft.com/office/drawing/2014/main" id="{59B62816-0B11-48A9-86FA-F8EF3B47FAC3}"/>
                  </a:ext>
                </a:extLst>
              </p:cNvPr>
              <p:cNvPicPr>
                <a:picLocks noChangeAspect="1"/>
              </p:cNvPicPr>
              <p:nvPr/>
            </p:nvPicPr>
            <p:blipFill>
              <a:blip r:embed="rId9">
                <a:alphaModFix/>
                <a:extLst>
                  <a:ext uri="{28A0092B-C50C-407E-A947-70E740481C1C}">
                    <a14:useLocalDpi xmlns:a14="http://schemas.microsoft.com/office/drawing/2010/main" val="0"/>
                  </a:ext>
                </a:extLst>
              </a:blip>
              <a:stretch>
                <a:fillRect/>
              </a:stretch>
            </p:blipFill>
            <p:spPr>
              <a:xfrm>
                <a:off x="4517700" y="3235893"/>
                <a:ext cx="559042" cy="667547"/>
              </a:xfrm>
              <a:prstGeom prst="rect">
                <a:avLst/>
              </a:prstGeom>
            </p:spPr>
          </p:pic>
        </p:grpSp>
        <p:grpSp>
          <p:nvGrpSpPr>
            <p:cNvPr id="6" name="Agrupar 2">
              <a:extLst>
                <a:ext uri="{FF2B5EF4-FFF2-40B4-BE49-F238E27FC236}">
                  <a16:creationId xmlns:a16="http://schemas.microsoft.com/office/drawing/2014/main" id="{26A408FC-5857-46BE-B57D-EECA113E171C}"/>
                </a:ext>
              </a:extLst>
            </p:cNvPr>
            <p:cNvGrpSpPr/>
            <p:nvPr/>
          </p:nvGrpSpPr>
          <p:grpSpPr>
            <a:xfrm>
              <a:off x="5071634" y="3207587"/>
              <a:ext cx="1975526" cy="695853"/>
              <a:chOff x="5071634" y="3207587"/>
              <a:chExt cx="1975526" cy="695853"/>
            </a:xfrm>
            <a:noFill/>
          </p:grpSpPr>
          <p:pic>
            <p:nvPicPr>
              <p:cNvPr id="7" name="Imagen 6">
                <a:extLst>
                  <a:ext uri="{FF2B5EF4-FFF2-40B4-BE49-F238E27FC236}">
                    <a16:creationId xmlns:a16="http://schemas.microsoft.com/office/drawing/2014/main" id="{5446D83F-6599-46DC-A608-D746FF3EE62D}"/>
                  </a:ext>
                </a:extLst>
              </p:cNvPr>
              <p:cNvPicPr>
                <a:picLocks noChangeAspect="1"/>
              </p:cNvPicPr>
              <p:nvPr/>
            </p:nvPicPr>
            <p:blipFill>
              <a:blip r:embed="rId10">
                <a:alphaModFix/>
                <a:extLst>
                  <a:ext uri="{BEBA8EAE-BF5A-486C-A8C5-ECC9F3942E4B}">
                    <a14:imgProps xmlns:a14="http://schemas.microsoft.com/office/drawing/2010/main">
                      <a14:imgLayer r:embed="rId11">
                        <a14:imgEffect>
                          <a14:colorTemperature colorTemp="6100"/>
                        </a14:imgEffect>
                      </a14:imgLayer>
                    </a14:imgProps>
                  </a:ext>
                  <a:ext uri="{28A0092B-C50C-407E-A947-70E740481C1C}">
                    <a14:useLocalDpi xmlns:a14="http://schemas.microsoft.com/office/drawing/2010/main" val="0"/>
                  </a:ext>
                </a:extLst>
              </a:blip>
              <a:stretch>
                <a:fillRect/>
              </a:stretch>
            </p:blipFill>
            <p:spPr>
              <a:xfrm>
                <a:off x="5071634" y="3231175"/>
                <a:ext cx="457612" cy="672265"/>
              </a:xfrm>
              <a:prstGeom prst="rect">
                <a:avLst/>
              </a:prstGeom>
              <a:grpFill/>
            </p:spPr>
          </p:pic>
          <p:pic>
            <p:nvPicPr>
              <p:cNvPr id="8" name="Imagen 7">
                <a:extLst>
                  <a:ext uri="{FF2B5EF4-FFF2-40B4-BE49-F238E27FC236}">
                    <a16:creationId xmlns:a16="http://schemas.microsoft.com/office/drawing/2014/main" id="{E45C34FF-6418-474F-8615-44616793CB16}"/>
                  </a:ext>
                </a:extLst>
              </p:cNvPr>
              <p:cNvPicPr>
                <a:picLocks noChangeAspect="1"/>
              </p:cNvPicPr>
              <p:nvPr/>
            </p:nvPicPr>
            <p:blipFill>
              <a:blip r:embed="rId12">
                <a:alphaModFix/>
                <a:extLst>
                  <a:ext uri="{28A0092B-C50C-407E-A947-70E740481C1C}">
                    <a14:useLocalDpi xmlns:a14="http://schemas.microsoft.com/office/drawing/2010/main" val="0"/>
                  </a:ext>
                </a:extLst>
              </a:blip>
              <a:stretch>
                <a:fillRect/>
              </a:stretch>
            </p:blipFill>
            <p:spPr>
              <a:xfrm>
                <a:off x="5524138" y="3231175"/>
                <a:ext cx="559042" cy="672265"/>
              </a:xfrm>
              <a:prstGeom prst="rect">
                <a:avLst/>
              </a:prstGeom>
              <a:grpFill/>
            </p:spPr>
          </p:pic>
          <p:pic>
            <p:nvPicPr>
              <p:cNvPr id="9" name="Imagen 8">
                <a:extLst>
                  <a:ext uri="{FF2B5EF4-FFF2-40B4-BE49-F238E27FC236}">
                    <a16:creationId xmlns:a16="http://schemas.microsoft.com/office/drawing/2014/main" id="{65422EA9-DDD4-4DBF-B612-CA9A573FBFAC}"/>
                  </a:ext>
                </a:extLst>
              </p:cNvPr>
              <p:cNvPicPr>
                <a:picLocks noChangeAspect="1"/>
              </p:cNvPicPr>
              <p:nvPr/>
            </p:nvPicPr>
            <p:blipFill>
              <a:blip r:embed="rId13">
                <a:alphaModFix/>
                <a:extLst>
                  <a:ext uri="{28A0092B-C50C-407E-A947-70E740481C1C}">
                    <a14:useLocalDpi xmlns:a14="http://schemas.microsoft.com/office/drawing/2010/main" val="0"/>
                  </a:ext>
                </a:extLst>
              </a:blip>
              <a:stretch>
                <a:fillRect/>
              </a:stretch>
            </p:blipFill>
            <p:spPr>
              <a:xfrm>
                <a:off x="6078072" y="3228816"/>
                <a:ext cx="514224" cy="674624"/>
              </a:xfrm>
              <a:prstGeom prst="rect">
                <a:avLst/>
              </a:prstGeom>
              <a:grpFill/>
            </p:spPr>
          </p:pic>
          <p:pic>
            <p:nvPicPr>
              <p:cNvPr id="10" name="Imagen 9">
                <a:extLst>
                  <a:ext uri="{FF2B5EF4-FFF2-40B4-BE49-F238E27FC236}">
                    <a16:creationId xmlns:a16="http://schemas.microsoft.com/office/drawing/2014/main" id="{D225D732-C489-4626-9897-24934CF2AFCD}"/>
                  </a:ext>
                </a:extLst>
              </p:cNvPr>
              <p:cNvPicPr>
                <a:picLocks noChangeAspect="1"/>
              </p:cNvPicPr>
              <p:nvPr/>
            </p:nvPicPr>
            <p:blipFill>
              <a:blip r:embed="rId14">
                <a:alphaModFix/>
                <a:extLst>
                  <a:ext uri="{28A0092B-C50C-407E-A947-70E740481C1C}">
                    <a14:useLocalDpi xmlns:a14="http://schemas.microsoft.com/office/drawing/2010/main" val="0"/>
                  </a:ext>
                </a:extLst>
              </a:blip>
              <a:stretch>
                <a:fillRect/>
              </a:stretch>
            </p:blipFill>
            <p:spPr>
              <a:xfrm>
                <a:off x="6587189" y="3207587"/>
                <a:ext cx="459971" cy="695853"/>
              </a:xfrm>
              <a:prstGeom prst="rect">
                <a:avLst/>
              </a:prstGeom>
              <a:grpFill/>
            </p:spPr>
          </p:pic>
        </p:grpSp>
      </p:grpSp>
      <p:sp>
        <p:nvSpPr>
          <p:cNvPr id="18" name="Marcador de texto 17">
            <a:extLst>
              <a:ext uri="{FF2B5EF4-FFF2-40B4-BE49-F238E27FC236}">
                <a16:creationId xmlns:a16="http://schemas.microsoft.com/office/drawing/2014/main" id="{2AE257CD-A6EB-45FD-BFA6-8E6BACB2D503}"/>
              </a:ext>
            </a:extLst>
          </p:cNvPr>
          <p:cNvSpPr>
            <a:spLocks noGrp="1"/>
          </p:cNvSpPr>
          <p:nvPr>
            <p:ph type="body" sz="quarter" idx="10"/>
          </p:nvPr>
        </p:nvSpPr>
        <p:spPr>
          <a:xfrm>
            <a:off x="1215342" y="2068444"/>
            <a:ext cx="2687959" cy="1834995"/>
          </a:xfrm>
          <a:prstGeom prst="rect">
            <a:avLst/>
          </a:prstGeom>
        </p:spPr>
        <p:txBody>
          <a:bodyPr/>
          <a:lstStyle>
            <a:lvl1pPr marL="0" indent="0" algn="r">
              <a:lnSpc>
                <a:spcPct val="100000"/>
              </a:lnSpc>
              <a:spcBef>
                <a:spcPts val="0"/>
              </a:spcBef>
              <a:buNone/>
              <a:defRPr sz="2000">
                <a:solidFill>
                  <a:schemeClr val="bg1"/>
                </a:solidFill>
              </a:defRPr>
            </a:lvl1pPr>
          </a:lstStyle>
          <a:p>
            <a:pPr lvl="0"/>
            <a:r>
              <a:rPr lang="es-ES" dirty="0"/>
              <a:t>Haga clic para modificar los estilos de texto del patrón</a:t>
            </a:r>
            <a:endParaRPr lang="es-PE" dirty="0"/>
          </a:p>
        </p:txBody>
      </p:sp>
      <p:sp>
        <p:nvSpPr>
          <p:cNvPr id="20" name="Marcador de texto 19">
            <a:extLst>
              <a:ext uri="{FF2B5EF4-FFF2-40B4-BE49-F238E27FC236}">
                <a16:creationId xmlns:a16="http://schemas.microsoft.com/office/drawing/2014/main" id="{BD961469-2370-4112-BE08-BF6D41E8D8ED}"/>
              </a:ext>
            </a:extLst>
          </p:cNvPr>
          <p:cNvSpPr>
            <a:spLocks noGrp="1"/>
          </p:cNvSpPr>
          <p:nvPr>
            <p:ph type="body" sz="quarter" idx="11"/>
          </p:nvPr>
        </p:nvSpPr>
        <p:spPr>
          <a:xfrm>
            <a:off x="1215342" y="1366700"/>
            <a:ext cx="2687959" cy="693738"/>
          </a:xfrm>
          <a:prstGeom prst="rect">
            <a:avLst/>
          </a:prstGeom>
        </p:spPr>
        <p:txBody>
          <a:bodyPr anchor="b"/>
          <a:lstStyle>
            <a:lvl1pPr marL="0" indent="0" algn="r">
              <a:lnSpc>
                <a:spcPct val="85000"/>
              </a:lnSpc>
              <a:spcBef>
                <a:spcPts val="0"/>
              </a:spcBef>
              <a:buNone/>
              <a:defRPr sz="3000" b="1">
                <a:solidFill>
                  <a:srgbClr val="F1D156"/>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3161614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apo_Texto resumen">
    <p:bg>
      <p:bgPr>
        <a:blipFill dpi="0" rotWithShape="1">
          <a:blip r:embed="rId2">
            <a:lum/>
            <a:extLst>
              <a:ext uri="{96DAC541-7B7A-43D3-8B79-37D633B846F1}">
                <asvg:svgBlip xmlns:asvg="http://schemas.microsoft.com/office/drawing/2016/SVG/main" xmlns="" r:embed="rId3"/>
              </a:ext>
            </a:extLst>
          </a:blip>
          <a:srcRect/>
          <a:stretch>
            <a:fillRect/>
          </a:stretch>
        </a:blipFill>
        <a:effectLst/>
      </p:bgPr>
    </p:bg>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2AE257CD-A6EB-45FD-BFA6-8E6BACB2D503}"/>
              </a:ext>
            </a:extLst>
          </p:cNvPr>
          <p:cNvSpPr>
            <a:spLocks noGrp="1"/>
          </p:cNvSpPr>
          <p:nvPr>
            <p:ph type="body" sz="quarter" idx="10"/>
          </p:nvPr>
        </p:nvSpPr>
        <p:spPr>
          <a:xfrm>
            <a:off x="1215342" y="2068444"/>
            <a:ext cx="2687959" cy="1834995"/>
          </a:xfrm>
          <a:prstGeom prst="rect">
            <a:avLst/>
          </a:prstGeom>
        </p:spPr>
        <p:txBody>
          <a:bodyPr/>
          <a:lstStyle>
            <a:lvl1pPr marL="0" indent="0" algn="r">
              <a:lnSpc>
                <a:spcPct val="100000"/>
              </a:lnSpc>
              <a:spcBef>
                <a:spcPts val="0"/>
              </a:spcBef>
              <a:buNone/>
              <a:defRPr sz="2000">
                <a:solidFill>
                  <a:schemeClr val="bg1"/>
                </a:solidFill>
              </a:defRPr>
            </a:lvl1pPr>
          </a:lstStyle>
          <a:p>
            <a:pPr lvl="0"/>
            <a:r>
              <a:rPr lang="es-ES" dirty="0"/>
              <a:t>Haga clic para modificar los estilos de texto del patrón</a:t>
            </a:r>
            <a:endParaRPr lang="es-PE" dirty="0"/>
          </a:p>
        </p:txBody>
      </p:sp>
      <p:sp>
        <p:nvSpPr>
          <p:cNvPr id="20" name="Marcador de texto 19">
            <a:extLst>
              <a:ext uri="{FF2B5EF4-FFF2-40B4-BE49-F238E27FC236}">
                <a16:creationId xmlns:a16="http://schemas.microsoft.com/office/drawing/2014/main" id="{BD961469-2370-4112-BE08-BF6D41E8D8ED}"/>
              </a:ext>
            </a:extLst>
          </p:cNvPr>
          <p:cNvSpPr>
            <a:spLocks noGrp="1"/>
          </p:cNvSpPr>
          <p:nvPr>
            <p:ph type="body" sz="quarter" idx="11"/>
          </p:nvPr>
        </p:nvSpPr>
        <p:spPr>
          <a:xfrm>
            <a:off x="1215342" y="1366700"/>
            <a:ext cx="2687959" cy="693738"/>
          </a:xfrm>
          <a:prstGeom prst="rect">
            <a:avLst/>
          </a:prstGeom>
        </p:spPr>
        <p:txBody>
          <a:bodyPr anchor="b"/>
          <a:lstStyle>
            <a:lvl1pPr marL="0" indent="0" algn="r">
              <a:lnSpc>
                <a:spcPct val="85000"/>
              </a:lnSpc>
              <a:spcBef>
                <a:spcPts val="0"/>
              </a:spcBef>
              <a:buNone/>
              <a:defRPr sz="3000" b="1">
                <a:solidFill>
                  <a:srgbClr val="F1D156"/>
                </a:solidFill>
              </a:defRPr>
            </a:lvl1pPr>
          </a:lstStyle>
          <a:p>
            <a:pPr lvl="0"/>
            <a:r>
              <a:rPr lang="es-ES" dirty="0"/>
              <a:t>Haga clic para modificar los estilos de texto del patrón</a:t>
            </a:r>
            <a:endParaRPr lang="es-PE" dirty="0"/>
          </a:p>
        </p:txBody>
      </p:sp>
      <p:pic>
        <p:nvPicPr>
          <p:cNvPr id="3" name="Imagen 2">
            <a:extLst>
              <a:ext uri="{FF2B5EF4-FFF2-40B4-BE49-F238E27FC236}">
                <a16:creationId xmlns:a16="http://schemas.microsoft.com/office/drawing/2014/main" id="{79DA36D5-2A7C-44BC-B24C-8FF05B909516}"/>
              </a:ext>
            </a:extLst>
          </p:cNvPr>
          <p:cNvPicPr>
            <a:picLocks noChangeAspect="1"/>
          </p:cNvPicPr>
          <p:nvPr userDrawn="1"/>
        </p:nvPicPr>
        <p:blipFill>
          <a:blip r:embed="rId4"/>
          <a:stretch>
            <a:fillRect/>
          </a:stretch>
        </p:blipFill>
        <p:spPr>
          <a:xfrm>
            <a:off x="4142284" y="2383172"/>
            <a:ext cx="3485432" cy="948656"/>
          </a:xfrm>
          <a:prstGeom prst="rect">
            <a:avLst/>
          </a:prstGeom>
        </p:spPr>
      </p:pic>
    </p:spTree>
    <p:extLst>
      <p:ext uri="{BB962C8B-B14F-4D97-AF65-F5344CB8AC3E}">
        <p14:creationId xmlns:p14="http://schemas.microsoft.com/office/powerpoint/2010/main" val="3747782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Diapo_Título">
    <p:bg>
      <p:bgPr>
        <a:blipFill dpi="0" rotWithShape="1">
          <a:blip r:embed="rId2">
            <a:lum/>
            <a:extLst>
              <a:ext uri="{96DAC541-7B7A-43D3-8B79-37D633B846F1}">
                <asvg:svgBlip xmlns:asvg="http://schemas.microsoft.com/office/drawing/2016/SVG/main" xmlns="" r:embed="rId3"/>
              </a:ext>
            </a:extLst>
          </a:blip>
          <a:srcRect/>
          <a:stretch>
            <a:fillRect/>
          </a:stretch>
        </a:blipFill>
        <a:effectLst/>
      </p:bgPr>
    </p:bg>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78499219-B93F-4121-95B0-FD263CAAD2EC}"/>
              </a:ext>
            </a:extLst>
          </p:cNvPr>
          <p:cNvCxnSpPr/>
          <p:nvPr userDrawn="1"/>
        </p:nvCxnSpPr>
        <p:spPr>
          <a:xfrm>
            <a:off x="3056456" y="1742381"/>
            <a:ext cx="0" cy="792000"/>
          </a:xfrm>
          <a:prstGeom prst="line">
            <a:avLst/>
          </a:prstGeom>
          <a:ln w="3810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0" name="Marcador de texto 9">
            <a:extLst>
              <a:ext uri="{FF2B5EF4-FFF2-40B4-BE49-F238E27FC236}">
                <a16:creationId xmlns:a16="http://schemas.microsoft.com/office/drawing/2014/main" id="{07A93BC5-4242-4AEF-86D2-025896BBFF94}"/>
              </a:ext>
            </a:extLst>
          </p:cNvPr>
          <p:cNvSpPr>
            <a:spLocks noGrp="1"/>
          </p:cNvSpPr>
          <p:nvPr>
            <p:ph type="body" sz="quarter" idx="10" hasCustomPrompt="1"/>
          </p:nvPr>
        </p:nvSpPr>
        <p:spPr>
          <a:xfrm>
            <a:off x="3151256" y="1466837"/>
            <a:ext cx="5524431" cy="1065212"/>
          </a:xfrm>
          <a:prstGeom prst="rect">
            <a:avLst/>
          </a:prstGeom>
        </p:spPr>
        <p:txBody>
          <a:bodyPr lIns="36000" tIns="0" rIns="36000" bIns="0" anchor="b"/>
          <a:lstStyle>
            <a:lvl1pPr marL="0" indent="0">
              <a:lnSpc>
                <a:spcPct val="85000"/>
              </a:lnSpc>
              <a:buNone/>
              <a:defRPr sz="3600" b="1" spc="-1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dirty="0"/>
              <a:t>HAGA CLIC PARA MODIFICAR LOS ESTILOS DE TEXTO DEL PATRÓN</a:t>
            </a:r>
          </a:p>
        </p:txBody>
      </p:sp>
      <p:sp>
        <p:nvSpPr>
          <p:cNvPr id="12" name="Marcador de texto 11">
            <a:extLst>
              <a:ext uri="{FF2B5EF4-FFF2-40B4-BE49-F238E27FC236}">
                <a16:creationId xmlns:a16="http://schemas.microsoft.com/office/drawing/2014/main" id="{7F024871-2FC3-48CA-9CA6-981F63452D4D}"/>
              </a:ext>
            </a:extLst>
          </p:cNvPr>
          <p:cNvSpPr>
            <a:spLocks noGrp="1"/>
          </p:cNvSpPr>
          <p:nvPr>
            <p:ph type="body" sz="quarter" idx="11" hasCustomPrompt="1"/>
          </p:nvPr>
        </p:nvSpPr>
        <p:spPr>
          <a:xfrm>
            <a:off x="3151257" y="2571394"/>
            <a:ext cx="5524430" cy="216000"/>
          </a:xfrm>
          <a:prstGeom prst="rect">
            <a:avLst/>
          </a:prstGeom>
          <a:solidFill>
            <a:schemeClr val="bg1"/>
          </a:solidFill>
        </p:spPr>
        <p:txBody>
          <a:bodyPr lIns="36000" tIns="0" rIns="36000" bIns="0" anchor="ctr"/>
          <a:lstStyle>
            <a:lvl1pPr marL="0" indent="0">
              <a:lnSpc>
                <a:spcPct val="85000"/>
              </a:lnSpc>
              <a:spcBef>
                <a:spcPts val="0"/>
              </a:spcBef>
              <a:buNone/>
              <a:defRPr sz="1400" b="1" spc="-100" baseline="0">
                <a:solidFill>
                  <a:srgbClr val="1F85A6"/>
                </a:solidFill>
              </a:defRPr>
            </a:lvl1pPr>
          </a:lstStyle>
          <a:p>
            <a:pPr lvl="0"/>
            <a:r>
              <a:rPr lang="es-ES" dirty="0"/>
              <a:t>HAGA CLIC PARA MODIFICAR LOS ESTILOS DE TEXTO DEL PATRÓN</a:t>
            </a:r>
            <a:endParaRPr lang="es-PE" dirty="0"/>
          </a:p>
        </p:txBody>
      </p:sp>
      <p:sp>
        <p:nvSpPr>
          <p:cNvPr id="14" name="Marcador de texto 13">
            <a:extLst>
              <a:ext uri="{FF2B5EF4-FFF2-40B4-BE49-F238E27FC236}">
                <a16:creationId xmlns:a16="http://schemas.microsoft.com/office/drawing/2014/main" id="{909CBA01-1C97-4D7F-AC89-2F7E2CE7AE1E}"/>
              </a:ext>
            </a:extLst>
          </p:cNvPr>
          <p:cNvSpPr>
            <a:spLocks noGrp="1"/>
          </p:cNvSpPr>
          <p:nvPr>
            <p:ph type="body" sz="quarter" idx="12"/>
          </p:nvPr>
        </p:nvSpPr>
        <p:spPr>
          <a:xfrm>
            <a:off x="3151257" y="3149152"/>
            <a:ext cx="5524430" cy="1584325"/>
          </a:xfrm>
          <a:prstGeom prst="rect">
            <a:avLst/>
          </a:prstGeom>
        </p:spPr>
        <p:txBody>
          <a:bodyPr/>
          <a:lstStyle>
            <a:lvl1pPr marL="266700" indent="-266700" algn="just">
              <a:spcBef>
                <a:spcPts val="0"/>
              </a:spcBef>
              <a:buSzPct val="75000"/>
              <a:buFont typeface="Wingdings" panose="05000000000000000000" pitchFamily="2" charset="2"/>
              <a:buChar char="q"/>
              <a:defRPr sz="1600">
                <a:solidFill>
                  <a:schemeClr val="bg1"/>
                </a:solidFill>
              </a:defRPr>
            </a:lvl1pPr>
          </a:lstStyle>
          <a:p>
            <a:pPr lvl="0"/>
            <a:r>
              <a:rPr lang="es-ES" dirty="0"/>
              <a:t>Haga clic para modificar los estilos de texto del patrón</a:t>
            </a:r>
            <a:endParaRPr lang="es-PE" dirty="0"/>
          </a:p>
        </p:txBody>
      </p:sp>
      <p:sp>
        <p:nvSpPr>
          <p:cNvPr id="16" name="Marcador de texto 15">
            <a:extLst>
              <a:ext uri="{FF2B5EF4-FFF2-40B4-BE49-F238E27FC236}">
                <a16:creationId xmlns:a16="http://schemas.microsoft.com/office/drawing/2014/main" id="{98ED8DBD-5592-4A8D-8BF5-1D169AA4AE08}"/>
              </a:ext>
            </a:extLst>
          </p:cNvPr>
          <p:cNvSpPr>
            <a:spLocks noGrp="1"/>
          </p:cNvSpPr>
          <p:nvPr>
            <p:ph type="body" sz="quarter" idx="13"/>
          </p:nvPr>
        </p:nvSpPr>
        <p:spPr>
          <a:xfrm>
            <a:off x="2051281" y="1782566"/>
            <a:ext cx="910376" cy="914400"/>
          </a:xfrm>
          <a:prstGeom prst="rect">
            <a:avLst/>
          </a:prstGeom>
        </p:spPr>
        <p:txBody>
          <a:bodyPr lIns="0" tIns="0" rIns="0" bIns="0"/>
          <a:lstStyle>
            <a:lvl1pPr marL="0" indent="0" algn="ctr">
              <a:buNone/>
              <a:defRPr sz="58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dirty="0"/>
              <a:t>Haga clic para modificar los estilos de texto del patrón</a:t>
            </a:r>
            <a:endParaRPr lang="es-PE" dirty="0"/>
          </a:p>
        </p:txBody>
      </p:sp>
      <p:sp>
        <p:nvSpPr>
          <p:cNvPr id="19" name="CuadroTexto 18">
            <a:extLst>
              <a:ext uri="{FF2B5EF4-FFF2-40B4-BE49-F238E27FC236}">
                <a16:creationId xmlns:a16="http://schemas.microsoft.com/office/drawing/2014/main" id="{3B086266-9338-4415-8002-5AA0BBD87E06}"/>
              </a:ext>
            </a:extLst>
          </p:cNvPr>
          <p:cNvSpPr txBox="1"/>
          <p:nvPr userDrawn="1"/>
        </p:nvSpPr>
        <p:spPr>
          <a:xfrm>
            <a:off x="2051281" y="1615590"/>
            <a:ext cx="910376" cy="369332"/>
          </a:xfrm>
          <a:prstGeom prst="rect">
            <a:avLst/>
          </a:prstGeom>
          <a:noFill/>
        </p:spPr>
        <p:txBody>
          <a:bodyPr wrap="square" rtlCol="0">
            <a:spAutoFit/>
          </a:bodyPr>
          <a:lstStyle/>
          <a:p>
            <a:pPr algn="ctr"/>
            <a:r>
              <a:rPr lang="es-PE" dirty="0">
                <a:solidFill>
                  <a:schemeClr val="bg1"/>
                </a:solidFill>
              </a:rPr>
              <a:t>SESIÓN</a:t>
            </a:r>
          </a:p>
        </p:txBody>
      </p:sp>
    </p:spTree>
    <p:extLst>
      <p:ext uri="{BB962C8B-B14F-4D97-AF65-F5344CB8AC3E}">
        <p14:creationId xmlns:p14="http://schemas.microsoft.com/office/powerpoint/2010/main" val="1840211312"/>
      </p:ext>
    </p:extLst>
  </p:cSld>
  <p:clrMapOvr>
    <a:masterClrMapping/>
  </p:clrMapOvr>
  <p:extLst>
    <p:ext uri="{DCECCB84-F9BA-43D5-87BE-67443E8EF086}">
      <p15:sldGuideLst xmlns:p15="http://schemas.microsoft.com/office/powerpoint/2012/main">
        <p15:guide id="1" pos="5465" userDrawn="1">
          <p15:clr>
            <a:srgbClr val="FBAE40"/>
          </p15:clr>
        </p15:guide>
        <p15:guide id="2" pos="1973"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apo_Subtema">
    <p:bg>
      <p:bgPr>
        <a:blipFill dpi="0" rotWithShape="1">
          <a:blip r:embed="rId2">
            <a:lum/>
            <a:extLst>
              <a:ext uri="{96DAC541-7B7A-43D3-8B79-37D633B846F1}">
                <asvg:svgBlip xmlns:asvg="http://schemas.microsoft.com/office/drawing/2016/SVG/main" xmlns="" r:embed="rId3"/>
              </a:ext>
            </a:extLst>
          </a:blip>
          <a:srcRect/>
          <a:stretch>
            <a:fillRect/>
          </a:stretch>
        </a:blipFill>
        <a:effectLst/>
      </p:bgPr>
    </p:bg>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4BD03D13-5E01-42D6-AEF1-E185D3674B02}"/>
              </a:ext>
            </a:extLst>
          </p:cNvPr>
          <p:cNvSpPr>
            <a:spLocks noGrp="1"/>
          </p:cNvSpPr>
          <p:nvPr>
            <p:ph type="body" sz="quarter" idx="10" hasCustomPrompt="1"/>
          </p:nvPr>
        </p:nvSpPr>
        <p:spPr>
          <a:xfrm>
            <a:off x="468314" y="3714841"/>
            <a:ext cx="5543549" cy="810087"/>
          </a:xfrm>
          <a:prstGeom prst="rect">
            <a:avLst/>
          </a:prstGeom>
        </p:spPr>
        <p:txBody>
          <a:bodyPr/>
          <a:lstStyle>
            <a:lvl1pPr marL="266700" indent="-266700">
              <a:lnSpc>
                <a:spcPct val="85000"/>
              </a:lnSpc>
              <a:spcBef>
                <a:spcPts val="0"/>
              </a:spcBef>
              <a:buNone/>
              <a:tabLst>
                <a:tab pos="266700" algn="l"/>
              </a:tabLst>
              <a:defRPr sz="2800" b="1">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1383085110"/>
      </p:ext>
    </p:extLst>
  </p:cSld>
  <p:clrMapOvr>
    <a:masterClrMapping/>
  </p:clrMapOvr>
  <p:extLst>
    <p:ext uri="{DCECCB84-F9BA-43D5-87BE-67443E8EF086}">
      <p15:sldGuideLst xmlns:p15="http://schemas.microsoft.com/office/powerpoint/2012/main">
        <p15:guide id="1" pos="295" userDrawn="1">
          <p15:clr>
            <a:srgbClr val="FBAE40"/>
          </p15:clr>
        </p15:guide>
        <p15:guide id="2" pos="378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apo_Texto resaltado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EAB6FCCD-B37C-460C-A0A6-771274CFCC19}"/>
              </a:ext>
            </a:extLst>
          </p:cNvPr>
          <p:cNvSpPr>
            <a:spLocks noGrp="1"/>
          </p:cNvSpPr>
          <p:nvPr>
            <p:ph type="body" sz="quarter" idx="10"/>
          </p:nvPr>
        </p:nvSpPr>
        <p:spPr>
          <a:xfrm>
            <a:off x="2268538" y="2372810"/>
            <a:ext cx="4653123" cy="1632031"/>
          </a:xfrm>
          <a:prstGeom prst="rect">
            <a:avLst/>
          </a:prstGeom>
        </p:spPr>
        <p:txBody>
          <a:bodyPr anchor="b"/>
          <a:lstStyle>
            <a:lvl1pPr marL="0" indent="0" algn="r">
              <a:spcBef>
                <a:spcPts val="0"/>
              </a:spcBef>
              <a:buNone/>
              <a:defRPr sz="2000" i="1">
                <a:solidFill>
                  <a:schemeClr val="tx1"/>
                </a:solidFill>
              </a:defRPr>
            </a:lvl1pPr>
          </a:lstStyle>
          <a:p>
            <a:pPr lvl="0"/>
            <a:r>
              <a:rPr lang="es-ES" dirty="0"/>
              <a:t>Haga clic para modificar los estilos de texto del patrón</a:t>
            </a:r>
            <a:endParaRPr lang="es-PE" dirty="0"/>
          </a:p>
        </p:txBody>
      </p:sp>
      <p:sp>
        <p:nvSpPr>
          <p:cNvPr id="5" name="Marcador de texto 4">
            <a:extLst>
              <a:ext uri="{FF2B5EF4-FFF2-40B4-BE49-F238E27FC236}">
                <a16:creationId xmlns:a16="http://schemas.microsoft.com/office/drawing/2014/main" id="{B8542FCA-1884-4A89-909D-59816C0141C4}"/>
              </a:ext>
            </a:extLst>
          </p:cNvPr>
          <p:cNvSpPr>
            <a:spLocks noGrp="1"/>
          </p:cNvSpPr>
          <p:nvPr>
            <p:ph type="body" sz="quarter" idx="11"/>
          </p:nvPr>
        </p:nvSpPr>
        <p:spPr>
          <a:xfrm>
            <a:off x="2268537" y="4287333"/>
            <a:ext cx="4653123" cy="567883"/>
          </a:xfrm>
          <a:prstGeom prst="rect">
            <a:avLst/>
          </a:prstGeom>
        </p:spPr>
        <p:txBody>
          <a:bodyPr/>
          <a:lstStyle>
            <a:lvl1pPr marL="0" indent="0" algn="r">
              <a:lnSpc>
                <a:spcPct val="85000"/>
              </a:lnSpc>
              <a:buNone/>
              <a:defRPr sz="2000" b="1">
                <a:solidFill>
                  <a:srgbClr val="002060"/>
                </a:solidFill>
              </a:defRPr>
            </a:lvl1pPr>
          </a:lstStyle>
          <a:p>
            <a:pPr lvl="0"/>
            <a:r>
              <a:rPr lang="es-ES" dirty="0"/>
              <a:t>Haga clic para modificar los estilos de texto del patrón</a:t>
            </a:r>
            <a:endParaRPr lang="es-PE" dirty="0"/>
          </a:p>
        </p:txBody>
      </p:sp>
    </p:spTree>
    <p:custDataLst>
      <p:tags r:id="rId1"/>
    </p:custDataLst>
    <p:extLst>
      <p:ext uri="{BB962C8B-B14F-4D97-AF65-F5344CB8AC3E}">
        <p14:creationId xmlns:p14="http://schemas.microsoft.com/office/powerpoint/2010/main" val="2943131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apo_Conclusion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7B2E060-20CD-463B-8DA7-F4C44CB2E4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prstClr val="white"/>
                </a:solidFill>
                <a:effectLst/>
                <a:uLnTx/>
                <a:uFillTx/>
                <a:latin typeface="Calibri"/>
                <a:ea typeface="+mn-ea"/>
                <a:cs typeface="+mn-cs"/>
              </a:rPr>
              <a:t>CONCLUSIONES</a:t>
            </a:r>
          </a:p>
        </p:txBody>
      </p:sp>
      <p:pic>
        <p:nvPicPr>
          <p:cNvPr id="3" name="Imagen 2">
            <a:extLst>
              <a:ext uri="{FF2B5EF4-FFF2-40B4-BE49-F238E27FC236}">
                <a16:creationId xmlns:a16="http://schemas.microsoft.com/office/drawing/2014/main" id="{FC3DF485-35A0-4880-86B1-159FC8D1B5DD}"/>
              </a:ext>
            </a:extLst>
          </p:cNvPr>
          <p:cNvPicPr>
            <a:picLocks noChangeAspect="1"/>
          </p:cNvPicPr>
          <p:nvPr userDrawn="1"/>
        </p:nvPicPr>
        <p:blipFill>
          <a:blip r:embed="rId3">
            <a:lum bright="70000" contrast="-70000"/>
            <a:alphaModFix/>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p:spPr>
      </p:pic>
      <p:sp>
        <p:nvSpPr>
          <p:cNvPr id="5" name="Marcador de texto 4">
            <a:extLst>
              <a:ext uri="{FF2B5EF4-FFF2-40B4-BE49-F238E27FC236}">
                <a16:creationId xmlns:a16="http://schemas.microsoft.com/office/drawing/2014/main" id="{18F77D6E-1237-49E3-9C45-BC77466A0D49}"/>
              </a:ext>
            </a:extLst>
          </p:cNvPr>
          <p:cNvSpPr>
            <a:spLocks noGrp="1"/>
          </p:cNvSpPr>
          <p:nvPr>
            <p:ph type="body" sz="quarter" idx="10"/>
          </p:nvPr>
        </p:nvSpPr>
        <p:spPr>
          <a:xfrm>
            <a:off x="927366" y="1670909"/>
            <a:ext cx="7713398" cy="3526566"/>
          </a:xfrm>
          <a:prstGeom prst="rect">
            <a:avLst/>
          </a:prstGeom>
        </p:spPr>
        <p:txBody>
          <a:bodyPr lIns="0" tIns="0" rIns="0" bIns="0"/>
          <a:lstStyle>
            <a:lvl1pPr marL="266700" indent="-266700" algn="just">
              <a:lnSpc>
                <a:spcPct val="85000"/>
              </a:lnSpc>
              <a:spcBef>
                <a:spcPts val="0"/>
              </a:spcBef>
              <a:spcAft>
                <a:spcPts val="1200"/>
              </a:spcAft>
              <a:buFont typeface="+mj-lt"/>
              <a:buAutoNum type="arabicPeriod"/>
              <a:tabLst/>
              <a:defRPr sz="1800">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2798195332"/>
      </p:ext>
    </p:extLst>
  </p:cSld>
  <p:clrMapOvr>
    <a:masterClrMapping/>
  </p:clrMapOvr>
  <p:extLst>
    <p:ext uri="{DCECCB84-F9BA-43D5-87BE-67443E8EF086}">
      <p15:sldGuideLst xmlns:p15="http://schemas.microsoft.com/office/powerpoint/2012/main">
        <p15:guide id="1" orient="horz" pos="105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apo_Bibliografí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7B2E060-20CD-463B-8DA7-F4C44CB2E4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prstClr val="white"/>
                </a:solidFill>
                <a:effectLst/>
                <a:uLnTx/>
                <a:uFillTx/>
                <a:latin typeface="Calibri"/>
                <a:ea typeface="+mn-ea"/>
                <a:cs typeface="+mn-cs"/>
              </a:rPr>
              <a:t>BIBLIOGRAFÍA</a:t>
            </a:r>
          </a:p>
        </p:txBody>
      </p:sp>
      <p:pic>
        <p:nvPicPr>
          <p:cNvPr id="3" name="Imagen 2">
            <a:extLst>
              <a:ext uri="{FF2B5EF4-FFF2-40B4-BE49-F238E27FC236}">
                <a16:creationId xmlns:a16="http://schemas.microsoft.com/office/drawing/2014/main" id="{FC3DF485-35A0-4880-86B1-159FC8D1B5DD}"/>
              </a:ext>
            </a:extLst>
          </p:cNvPr>
          <p:cNvPicPr>
            <a:picLocks noChangeAspect="1"/>
          </p:cNvPicPr>
          <p:nvPr userDrawn="1"/>
        </p:nvPicPr>
        <p:blipFill>
          <a:blip r:embed="rId3">
            <a:lum bright="70000" contrast="-70000"/>
            <a:alphaModFix/>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p:spPr>
      </p:pic>
      <p:sp>
        <p:nvSpPr>
          <p:cNvPr id="5" name="Marcador de texto 4">
            <a:extLst>
              <a:ext uri="{FF2B5EF4-FFF2-40B4-BE49-F238E27FC236}">
                <a16:creationId xmlns:a16="http://schemas.microsoft.com/office/drawing/2014/main" id="{18F77D6E-1237-49E3-9C45-BC77466A0D49}"/>
              </a:ext>
            </a:extLst>
          </p:cNvPr>
          <p:cNvSpPr>
            <a:spLocks noGrp="1"/>
          </p:cNvSpPr>
          <p:nvPr>
            <p:ph type="body" sz="quarter" idx="10"/>
          </p:nvPr>
        </p:nvSpPr>
        <p:spPr>
          <a:xfrm>
            <a:off x="927366" y="1670049"/>
            <a:ext cx="7713398" cy="3527425"/>
          </a:xfrm>
          <a:prstGeom prst="rect">
            <a:avLst/>
          </a:prstGeom>
        </p:spPr>
        <p:txBody>
          <a:bodyPr lIns="0" tIns="0" rIns="0" bIns="0"/>
          <a:lstStyle>
            <a:lvl1pPr marL="266700" indent="-266700" algn="just">
              <a:lnSpc>
                <a:spcPct val="85000"/>
              </a:lnSpc>
              <a:spcBef>
                <a:spcPts val="0"/>
              </a:spcBef>
              <a:spcAft>
                <a:spcPts val="1200"/>
              </a:spcAft>
              <a:buFont typeface="Wingdings" panose="05000000000000000000" pitchFamily="2" charset="2"/>
              <a:buChar char="§"/>
              <a:defRPr sz="1800">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3210332040"/>
      </p:ext>
    </p:extLst>
  </p:cSld>
  <p:clrMapOvr>
    <a:masterClrMapping/>
  </p:clrMapOvr>
  <p:extLst>
    <p:ext uri="{DCECCB84-F9BA-43D5-87BE-67443E8EF086}">
      <p15:sldGuideLst xmlns:p15="http://schemas.microsoft.com/office/powerpoint/2012/main">
        <p15:guide id="1" orient="horz" pos="105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theme" Target="../theme/theme2.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Agrupar 13"/>
          <p:cNvGrpSpPr/>
          <p:nvPr userDrawn="1"/>
        </p:nvGrpSpPr>
        <p:grpSpPr>
          <a:xfrm>
            <a:off x="793745" y="5369051"/>
            <a:ext cx="8104595" cy="215444"/>
            <a:chOff x="793745" y="5369051"/>
            <a:chExt cx="7954689" cy="215444"/>
          </a:xfrm>
        </p:grpSpPr>
        <p:sp>
          <p:nvSpPr>
            <p:cNvPr id="16" name="TextBox 7"/>
            <p:cNvSpPr txBox="1"/>
            <p:nvPr userDrawn="1"/>
          </p:nvSpPr>
          <p:spPr>
            <a:xfrm>
              <a:off x="793745" y="5369051"/>
              <a:ext cx="1605135" cy="215444"/>
            </a:xfrm>
            <a:prstGeom prst="rect">
              <a:avLst/>
            </a:prstGeom>
            <a:noFill/>
          </p:spPr>
          <p:txBody>
            <a:bodyPr wrap="none" rtlCol="0">
              <a:spAutoFit/>
            </a:bodyPr>
            <a:lstStyle/>
            <a:p>
              <a:r>
                <a:rPr lang="en-US" sz="800" kern="1200" dirty="0">
                  <a:solidFill>
                    <a:schemeClr val="bg1">
                      <a:lumMod val="50000"/>
                    </a:schemeClr>
                  </a:solidFill>
                  <a:latin typeface="Calibri"/>
                  <a:ea typeface="+mn-ea"/>
                  <a:cs typeface="Calibri"/>
                  <a:sym typeface="Wingdings"/>
                </a:rPr>
                <a:t>ANÁLISIS FUNCIONAL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01</a:t>
              </a:r>
              <a:endParaRPr lang="en-US" sz="800" dirty="0">
                <a:solidFill>
                  <a:schemeClr val="bg1">
                    <a:lumMod val="50000"/>
                  </a:schemeClr>
                </a:solidFill>
                <a:latin typeface="Calibri"/>
                <a:cs typeface="Calibri"/>
              </a:endParaRPr>
            </a:p>
          </p:txBody>
        </p:sp>
        <p:sp>
          <p:nvSpPr>
            <p:cNvPr id="18" name="Rectangle 3"/>
            <p:cNvSpPr/>
            <p:nvPr userDrawn="1"/>
          </p:nvSpPr>
          <p:spPr>
            <a:xfrm>
              <a:off x="7207627" y="5384440"/>
              <a:ext cx="1540807" cy="184666"/>
            </a:xfrm>
            <a:prstGeom prst="rect">
              <a:avLst/>
            </a:prstGeom>
          </p:spPr>
          <p:txBody>
            <a:bodyPr wrap="none">
              <a:spAutoFit/>
            </a:bodyPr>
            <a:lstStyle/>
            <a:p>
              <a:pPr algn="r"/>
              <a:r>
                <a:rPr lang="es-ES_tradnl" sz="600" dirty="0">
                  <a:solidFill>
                    <a:schemeClr val="bg1">
                      <a:lumMod val="50000"/>
                    </a:schemeClr>
                  </a:solidFill>
                </a:rPr>
                <a:t>© 2023 ISIL. Todos los derechos reservados</a:t>
              </a:r>
            </a:p>
          </p:txBody>
        </p:sp>
      </p:grpSp>
      <p:pic>
        <p:nvPicPr>
          <p:cNvPr id="3" name="Imagen 2"/>
          <p:cNvPicPr>
            <a:picLocks noChangeAspect="1"/>
          </p:cNvPicPr>
          <p:nvPr userDrawn="1"/>
        </p:nvPicPr>
        <p:blipFill>
          <a:blip r:embed="rId9">
            <a:alphaModFix amt="20000"/>
          </a:blip>
          <a:stretch>
            <a:fillRect/>
          </a:stretch>
        </p:blipFill>
        <p:spPr>
          <a:xfrm>
            <a:off x="345172" y="5328911"/>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78" r:id="rId1"/>
    <p:sldLayoutId id="2147483656" r:id="rId2"/>
    <p:sldLayoutId id="2147483679" r:id="rId3"/>
    <p:sldLayoutId id="2147483680" r:id="rId4"/>
    <p:sldLayoutId id="2147483681" r:id="rId5"/>
    <p:sldLayoutId id="2147483682" r:id="rId6"/>
    <p:sldLayoutId id="2147483683"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6462837"/>
      </p:ext>
    </p:extLst>
  </p:cSld>
  <p:clrMap bg1="lt1" tx1="dk1" bg2="lt2" tx2="dk2" accent1="accent1" accent2="accent2" accent3="accent3" accent4="accent4" accent5="accent5" accent6="accent6" hlink="hlink" folHlink="folHlink"/>
  <p:sldLayoutIdLst>
    <p:sldLayoutId id="2147483662" r:id="rId1"/>
    <p:sldLayoutId id="2147483649" r:id="rId2"/>
    <p:sldLayoutId id="2147483650" r:id="rId3"/>
    <p:sldLayoutId id="2147483667" r:id="rId4"/>
    <p:sldLayoutId id="2147483669" r:id="rId5"/>
  </p:sldLayoutIdLst>
  <p:txStyles>
    <p:titleStyle>
      <a:lvl1pPr algn="ctr" defTabSz="411480" rtl="0" eaLnBrk="1" latinLnBrk="0" hangingPunct="1">
        <a:spcBef>
          <a:spcPct val="0"/>
        </a:spcBef>
        <a:buNone/>
        <a:defRPr sz="3960" kern="1200">
          <a:solidFill>
            <a:schemeClr val="tx1"/>
          </a:solidFill>
          <a:latin typeface="+mj-lt"/>
          <a:ea typeface="+mj-ea"/>
          <a:cs typeface="+mj-cs"/>
        </a:defRPr>
      </a:lvl1pPr>
    </p:titleStyle>
    <p:body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p:bodyStyle>
    <p:otherStyle>
      <a:defPPr>
        <a:defRPr lang="en-US"/>
      </a:defPPr>
      <a:lvl1pPr marL="0" algn="l" defTabSz="411480" rtl="0" eaLnBrk="1" latinLnBrk="0" hangingPunct="1">
        <a:defRPr sz="1620" kern="1200">
          <a:solidFill>
            <a:schemeClr val="tx1"/>
          </a:solidFill>
          <a:latin typeface="+mn-lt"/>
          <a:ea typeface="+mn-ea"/>
          <a:cs typeface="+mn-cs"/>
        </a:defRPr>
      </a:lvl1pPr>
      <a:lvl2pPr marL="411480" algn="l" defTabSz="411480" rtl="0" eaLnBrk="1" latinLnBrk="0" hangingPunct="1">
        <a:defRPr sz="1620" kern="1200">
          <a:solidFill>
            <a:schemeClr val="tx1"/>
          </a:solidFill>
          <a:latin typeface="+mn-lt"/>
          <a:ea typeface="+mn-ea"/>
          <a:cs typeface="+mn-cs"/>
        </a:defRPr>
      </a:lvl2pPr>
      <a:lvl3pPr marL="822960" algn="l" defTabSz="411480" rtl="0" eaLnBrk="1" latinLnBrk="0" hangingPunct="1">
        <a:defRPr sz="1620" kern="1200">
          <a:solidFill>
            <a:schemeClr val="tx1"/>
          </a:solidFill>
          <a:latin typeface="+mn-lt"/>
          <a:ea typeface="+mn-ea"/>
          <a:cs typeface="+mn-cs"/>
        </a:defRPr>
      </a:lvl3pPr>
      <a:lvl4pPr marL="1234440" algn="l" defTabSz="411480" rtl="0" eaLnBrk="1" latinLnBrk="0" hangingPunct="1">
        <a:defRPr sz="1620" kern="1200">
          <a:solidFill>
            <a:schemeClr val="tx1"/>
          </a:solidFill>
          <a:latin typeface="+mn-lt"/>
          <a:ea typeface="+mn-ea"/>
          <a:cs typeface="+mn-cs"/>
        </a:defRPr>
      </a:lvl4pPr>
      <a:lvl5pPr marL="1645920" algn="l" defTabSz="411480" rtl="0" eaLnBrk="1" latinLnBrk="0" hangingPunct="1">
        <a:defRPr sz="1620" kern="1200">
          <a:solidFill>
            <a:schemeClr val="tx1"/>
          </a:solidFill>
          <a:latin typeface="+mn-lt"/>
          <a:ea typeface="+mn-ea"/>
          <a:cs typeface="+mn-cs"/>
        </a:defRPr>
      </a:lvl5pPr>
      <a:lvl6pPr marL="2057400" algn="l" defTabSz="411480" rtl="0" eaLnBrk="1" latinLnBrk="0" hangingPunct="1">
        <a:defRPr sz="1620" kern="1200">
          <a:solidFill>
            <a:schemeClr val="tx1"/>
          </a:solidFill>
          <a:latin typeface="+mn-lt"/>
          <a:ea typeface="+mn-ea"/>
          <a:cs typeface="+mn-cs"/>
        </a:defRPr>
      </a:lvl6pPr>
      <a:lvl7pPr marL="2468880" algn="l" defTabSz="411480" rtl="0" eaLnBrk="1" latinLnBrk="0" hangingPunct="1">
        <a:defRPr sz="1620" kern="1200">
          <a:solidFill>
            <a:schemeClr val="tx1"/>
          </a:solidFill>
          <a:latin typeface="+mn-lt"/>
          <a:ea typeface="+mn-ea"/>
          <a:cs typeface="+mn-cs"/>
        </a:defRPr>
      </a:lvl7pPr>
      <a:lvl8pPr marL="2880360" algn="l" defTabSz="411480" rtl="0" eaLnBrk="1" latinLnBrk="0" hangingPunct="1">
        <a:defRPr sz="1620" kern="1200">
          <a:solidFill>
            <a:schemeClr val="tx1"/>
          </a:solidFill>
          <a:latin typeface="+mn-lt"/>
          <a:ea typeface="+mn-ea"/>
          <a:cs typeface="+mn-cs"/>
        </a:defRPr>
      </a:lvl8pPr>
      <a:lvl9pPr marL="3291840" algn="l" defTabSz="41148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9.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9.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9.xml"/><Relationship Id="rId1" Type="http://schemas.openxmlformats.org/officeDocument/2006/relationships/tags" Target="../tags/tag7.xml"/></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1.xml"/><Relationship Id="rId1" Type="http://schemas.openxmlformats.org/officeDocument/2006/relationships/tags" Target="../tags/tag8.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2.xml"/><Relationship Id="rId1" Type="http://schemas.openxmlformats.org/officeDocument/2006/relationships/tags" Target="../tags/tag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06064E9-134E-4E79-A41F-706155D9AFFA}"/>
              </a:ext>
            </a:extLst>
          </p:cNvPr>
          <p:cNvSpPr>
            <a:spLocks noGrp="1"/>
          </p:cNvSpPr>
          <p:nvPr>
            <p:ph type="body" sz="quarter" idx="10"/>
          </p:nvPr>
        </p:nvSpPr>
        <p:spPr/>
        <p:txBody>
          <a:bodyPr/>
          <a:lstStyle/>
          <a:p>
            <a:r>
              <a:rPr lang="es-PE" dirty="0"/>
              <a:t>FUNDAMENTOS DEL ANÁLISIS DE NEGOCIOS</a:t>
            </a:r>
          </a:p>
        </p:txBody>
      </p:sp>
      <p:sp>
        <p:nvSpPr>
          <p:cNvPr id="12" name="Marcador de texto 11">
            <a:extLst>
              <a:ext uri="{FF2B5EF4-FFF2-40B4-BE49-F238E27FC236}">
                <a16:creationId xmlns:a16="http://schemas.microsoft.com/office/drawing/2014/main" id="{65D77B8F-E8DB-4946-B4B7-3705AAB2578C}"/>
              </a:ext>
            </a:extLst>
          </p:cNvPr>
          <p:cNvSpPr>
            <a:spLocks noGrp="1"/>
          </p:cNvSpPr>
          <p:nvPr>
            <p:ph type="body" sz="quarter" idx="11"/>
          </p:nvPr>
        </p:nvSpPr>
        <p:spPr/>
        <p:txBody>
          <a:bodyPr/>
          <a:lstStyle/>
          <a:p>
            <a:r>
              <a:rPr lang="es-PE" dirty="0"/>
              <a:t>UNIDAD DE APRENDIZAJE 1 – UA1</a:t>
            </a:r>
          </a:p>
        </p:txBody>
      </p:sp>
      <p:sp>
        <p:nvSpPr>
          <p:cNvPr id="13" name="Marcador de texto 12">
            <a:extLst>
              <a:ext uri="{FF2B5EF4-FFF2-40B4-BE49-F238E27FC236}">
                <a16:creationId xmlns:a16="http://schemas.microsoft.com/office/drawing/2014/main" id="{FA929147-F09B-4398-9DDF-DF2F7FC0C4A6}"/>
              </a:ext>
            </a:extLst>
          </p:cNvPr>
          <p:cNvSpPr>
            <a:spLocks noGrp="1"/>
          </p:cNvSpPr>
          <p:nvPr>
            <p:ph type="body" sz="quarter" idx="12"/>
          </p:nvPr>
        </p:nvSpPr>
        <p:spPr>
          <a:xfrm>
            <a:off x="3151257" y="3149152"/>
            <a:ext cx="5524430" cy="953925"/>
          </a:xfrm>
        </p:spPr>
        <p:txBody>
          <a:bodyPr/>
          <a:lstStyle/>
          <a:p>
            <a:pPr>
              <a:spcBef>
                <a:spcPts val="0"/>
              </a:spcBef>
            </a:pPr>
            <a:r>
              <a:rPr lang="es-PE" dirty="0"/>
              <a:t>Alcance del Análisis Empresarial</a:t>
            </a:r>
          </a:p>
          <a:p>
            <a:pPr>
              <a:spcBef>
                <a:spcPts val="0"/>
              </a:spcBef>
            </a:pPr>
            <a:r>
              <a:rPr lang="es-PE" dirty="0"/>
              <a:t>La Guía </a:t>
            </a:r>
            <a:r>
              <a:rPr lang="es-PE" dirty="0" smtClean="0"/>
              <a:t>BABOK</a:t>
            </a:r>
            <a:r>
              <a:rPr lang="es-PE" dirty="0"/>
              <a:t>®</a:t>
            </a:r>
          </a:p>
          <a:p>
            <a:pPr>
              <a:spcBef>
                <a:spcPts val="0"/>
              </a:spcBef>
            </a:pPr>
            <a:r>
              <a:rPr lang="es-PE" dirty="0"/>
              <a:t>Conceptos centrales</a:t>
            </a:r>
          </a:p>
        </p:txBody>
      </p:sp>
      <p:sp>
        <p:nvSpPr>
          <p:cNvPr id="10" name="Marcador de texto 9">
            <a:extLst>
              <a:ext uri="{FF2B5EF4-FFF2-40B4-BE49-F238E27FC236}">
                <a16:creationId xmlns:a16="http://schemas.microsoft.com/office/drawing/2014/main" id="{4E2E57AF-7040-42B2-BA48-4D269F79C484}"/>
              </a:ext>
            </a:extLst>
          </p:cNvPr>
          <p:cNvSpPr>
            <a:spLocks noGrp="1"/>
          </p:cNvSpPr>
          <p:nvPr>
            <p:ph type="body" sz="quarter" idx="13"/>
          </p:nvPr>
        </p:nvSpPr>
        <p:spPr/>
        <p:txBody>
          <a:bodyPr/>
          <a:lstStyle/>
          <a:p>
            <a:r>
              <a:rPr lang="es-PE" dirty="0"/>
              <a:t>01</a:t>
            </a:r>
          </a:p>
        </p:txBody>
      </p:sp>
    </p:spTree>
    <p:extLst>
      <p:ext uri="{BB962C8B-B14F-4D97-AF65-F5344CB8AC3E}">
        <p14:creationId xmlns:p14="http://schemas.microsoft.com/office/powerpoint/2010/main" val="10388673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FEDC59F-E03B-4885-ACAE-C9A127998995}"/>
              </a:ext>
            </a:extLst>
          </p:cNvPr>
          <p:cNvSpPr>
            <a:spLocks noGrp="1"/>
          </p:cNvSpPr>
          <p:nvPr>
            <p:ph type="body" sz="quarter" idx="10"/>
          </p:nvPr>
        </p:nvSpPr>
        <p:spPr>
          <a:xfrm>
            <a:off x="503238" y="1670050"/>
            <a:ext cx="8137525" cy="2749550"/>
          </a:xfrm>
          <a:prstGeom prst="rect">
            <a:avLst/>
          </a:prstGeom>
        </p:spPr>
        <p:txBody>
          <a:bodyPr/>
          <a:lstStyle/>
          <a:p>
            <a:pPr algn="just"/>
            <a:r>
              <a:rPr lang="es-ES" dirty="0"/>
              <a:t>El objetivo de esta sesión es comprender qué es </a:t>
            </a:r>
            <a:r>
              <a:rPr lang="es-ES" dirty="0" smtClean="0"/>
              <a:t>el </a:t>
            </a:r>
            <a:r>
              <a:rPr lang="es-ES" b="1" dirty="0" smtClean="0"/>
              <a:t>análisis </a:t>
            </a:r>
            <a:r>
              <a:rPr lang="es-ES" b="1" dirty="0"/>
              <a:t>e</a:t>
            </a:r>
            <a:r>
              <a:rPr lang="es-ES" b="1" dirty="0" smtClean="0"/>
              <a:t>mpresarial </a:t>
            </a:r>
            <a:r>
              <a:rPr lang="es-ES" dirty="0"/>
              <a:t>y quién es el </a:t>
            </a:r>
            <a:r>
              <a:rPr lang="es-ES" b="1" dirty="0"/>
              <a:t>Analista Empresarial</a:t>
            </a:r>
            <a:r>
              <a:rPr lang="es-ES" dirty="0"/>
              <a:t>, luego conoceremos a la institución mundial que apoya a los Analista de Negocios para pasar a comprender el valor y alcance de las áreas de conocimiento de la guía </a:t>
            </a:r>
            <a:r>
              <a:rPr lang="es-ES" dirty="0" smtClean="0"/>
              <a:t>BABOK, </a:t>
            </a:r>
            <a:r>
              <a:rPr lang="es-ES" dirty="0"/>
              <a:t>asimismo entender sus actividades claves e iteración.</a:t>
            </a:r>
          </a:p>
          <a:p>
            <a:r>
              <a:rPr lang="es-ES" dirty="0"/>
              <a:t>Entonces, durante esta sesión:</a:t>
            </a:r>
          </a:p>
          <a:p>
            <a:pPr lvl="1" algn="just"/>
            <a:r>
              <a:rPr lang="es-ES" b="1" dirty="0"/>
              <a:t>Conocerás</a:t>
            </a:r>
            <a:r>
              <a:rPr lang="es-ES" dirty="0"/>
              <a:t> cuál es el alcance del </a:t>
            </a:r>
            <a:r>
              <a:rPr lang="es-ES" dirty="0" smtClean="0"/>
              <a:t>análisis </a:t>
            </a:r>
            <a:r>
              <a:rPr lang="es-ES" dirty="0" smtClean="0"/>
              <a:t>e</a:t>
            </a:r>
            <a:r>
              <a:rPr lang="es-ES" dirty="0" smtClean="0"/>
              <a:t>mpresarial</a:t>
            </a:r>
            <a:r>
              <a:rPr lang="es-ES" dirty="0"/>
              <a:t>.</a:t>
            </a:r>
            <a:endParaRPr lang="es-ES" dirty="0"/>
          </a:p>
          <a:p>
            <a:pPr lvl="1" algn="just"/>
            <a:r>
              <a:rPr lang="es-ES" b="1" dirty="0"/>
              <a:t>Aprenderás</a:t>
            </a:r>
            <a:r>
              <a:rPr lang="es-ES" dirty="0"/>
              <a:t> a navegar eficientemente a través de la Guía BABOK</a:t>
            </a:r>
            <a:r>
              <a:rPr lang="es-ES" dirty="0" smtClean="0"/>
              <a:t>®.</a:t>
            </a:r>
            <a:endParaRPr lang="es-ES" dirty="0"/>
          </a:p>
          <a:p>
            <a:pPr lvl="1" algn="just"/>
            <a:r>
              <a:rPr lang="es-ES" b="1" dirty="0"/>
              <a:t>Conocerás</a:t>
            </a:r>
            <a:r>
              <a:rPr lang="es-ES" dirty="0"/>
              <a:t> cuáles son los </a:t>
            </a:r>
            <a:r>
              <a:rPr lang="es-ES" dirty="0" smtClean="0"/>
              <a:t>conceptos </a:t>
            </a:r>
            <a:r>
              <a:rPr lang="es-ES" dirty="0"/>
              <a:t>c</a:t>
            </a:r>
            <a:r>
              <a:rPr lang="es-ES" dirty="0" smtClean="0"/>
              <a:t>entrales </a:t>
            </a:r>
            <a:r>
              <a:rPr lang="es-ES" dirty="0"/>
              <a:t>que gobiernan la Guía BABOK®.</a:t>
            </a:r>
            <a:endParaRPr lang="es-PE" dirty="0"/>
          </a:p>
        </p:txBody>
      </p:sp>
    </p:spTree>
    <p:custDataLst>
      <p:tags r:id="rId1"/>
    </p:custDataLst>
    <p:extLst>
      <p:ext uri="{BB962C8B-B14F-4D97-AF65-F5344CB8AC3E}">
        <p14:creationId xmlns:p14="http://schemas.microsoft.com/office/powerpoint/2010/main" val="301215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1"/>
            <a:ext cx="6321106" cy="491399"/>
          </a:xfrm>
        </p:spPr>
        <p:txBody>
          <a:bodyPr/>
          <a:lstStyle/>
          <a:p>
            <a:pPr marL="274638" indent="-274638">
              <a:tabLst>
                <a:tab pos="274638" algn="l"/>
              </a:tabLst>
            </a:pPr>
            <a:r>
              <a:rPr lang="es-PE" dirty="0"/>
              <a:t>/	ALCANCE DEL ANÁLISIS EMPRESARIAL</a:t>
            </a:r>
          </a:p>
        </p:txBody>
      </p:sp>
    </p:spTree>
    <p:custDataLst>
      <p:tags r:id="rId1"/>
    </p:custDataLst>
    <p:extLst>
      <p:ext uri="{BB962C8B-B14F-4D97-AF65-F5344CB8AC3E}">
        <p14:creationId xmlns:p14="http://schemas.microsoft.com/office/powerpoint/2010/main" val="310943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N</a:t>
            </a:r>
            <a:r>
              <a:rPr lang="es-PE" dirty="0" smtClean="0"/>
              <a:t>ecesidad de mejora empresarial</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ALCANCE DEL ANÁLISIS EMPRESARIAL</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5"/>
            <a:ext cx="4103687" cy="3603625"/>
          </a:xfrm>
          <a:prstGeom prst="rect">
            <a:avLst/>
          </a:prstGeom>
        </p:spPr>
        <p:txBody>
          <a:bodyPr/>
          <a:lstStyle/>
          <a:p>
            <a:pPr algn="just"/>
            <a:r>
              <a:rPr lang="es-ES" dirty="0"/>
              <a:t>Uno de los roles clave que el análisis empresarial desempeña en el éxito de una empresa es facilitar el cambio en la organización y proporcionar soluciones a cualquier necesidad empresarial.</a:t>
            </a:r>
          </a:p>
          <a:p>
            <a:pPr algn="just"/>
            <a:r>
              <a:rPr lang="es-ES" dirty="0"/>
              <a:t>El </a:t>
            </a:r>
            <a:r>
              <a:rPr lang="es-ES" dirty="0" smtClean="0"/>
              <a:t>análisis </a:t>
            </a:r>
            <a:r>
              <a:rPr lang="es-ES" dirty="0"/>
              <a:t>empresarial a menudo se trata como un proyecto, por lo que la gestión del proyecto y la carrera de analista de negocios van de la mano.</a:t>
            </a:r>
          </a:p>
          <a:p>
            <a:pPr algn="just"/>
            <a:r>
              <a:rPr lang="es-ES" dirty="0"/>
              <a:t>Sin embargo, también puede ser un proceso continuo, especialmente porque las empresas necesitan crecer y expandirse constantemente.</a:t>
            </a:r>
          </a:p>
        </p:txBody>
      </p:sp>
      <p:pic>
        <p:nvPicPr>
          <p:cNvPr id="3" name="Marcador de posición de imagen 2">
            <a:extLst>
              <a:ext uri="{FF2B5EF4-FFF2-40B4-BE49-F238E27FC236}">
                <a16:creationId xmlns:a16="http://schemas.microsoft.com/office/drawing/2014/main" id="{B6C97AB0-E57F-B9A9-0BA5-6B30ED0044D2}"/>
              </a:ext>
            </a:extLst>
          </p:cNvPr>
          <p:cNvPicPr>
            <a:picLocks noGrp="1" noChangeAspect="1"/>
          </p:cNvPicPr>
          <p:nvPr>
            <p:ph type="pic" sz="quarter" idx="10"/>
          </p:nvPr>
        </p:nvPicPr>
        <p:blipFill>
          <a:blip r:embed="rId3"/>
          <a:srcRect t="384" b="384"/>
          <a:stretch>
            <a:fillRect/>
          </a:stretch>
        </p:blipFill>
        <p:spPr/>
      </p:pic>
    </p:spTree>
    <p:extLst>
      <p:ext uri="{BB962C8B-B14F-4D97-AF65-F5344CB8AC3E}">
        <p14:creationId xmlns:p14="http://schemas.microsoft.com/office/powerpoint/2010/main" val="2214207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smtClean="0"/>
              <a:t>¿Qué implica el análisis empresarial?</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ALCANCE DEL ANÁLISIS EMPRESARIAL</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5"/>
            <a:ext cx="4103687" cy="3458845"/>
          </a:xfrm>
          <a:prstGeom prst="rect">
            <a:avLst/>
          </a:prstGeom>
        </p:spPr>
        <p:txBody>
          <a:bodyPr/>
          <a:lstStyle/>
          <a:p>
            <a:pPr algn="just">
              <a:spcAft>
                <a:spcPts val="600"/>
              </a:spcAft>
            </a:pPr>
            <a:r>
              <a:rPr lang="es-ES" dirty="0"/>
              <a:t>El objetivo final del análisis de negocios es permitir que un negocio:</a:t>
            </a:r>
          </a:p>
          <a:p>
            <a:pPr lvl="1" algn="just">
              <a:spcAft>
                <a:spcPts val="600"/>
              </a:spcAft>
            </a:pPr>
            <a:r>
              <a:rPr lang="es-ES" dirty="0"/>
              <a:t>Minimice los </a:t>
            </a:r>
            <a:r>
              <a:rPr lang="es-ES" dirty="0" smtClean="0"/>
              <a:t>costos.</a:t>
            </a:r>
            <a:endParaRPr lang="es-ES" dirty="0"/>
          </a:p>
          <a:p>
            <a:pPr lvl="1" algn="just">
              <a:spcAft>
                <a:spcPts val="600"/>
              </a:spcAft>
            </a:pPr>
            <a:r>
              <a:rPr lang="es-ES" dirty="0"/>
              <a:t>Maximice los </a:t>
            </a:r>
            <a:r>
              <a:rPr lang="es-ES" dirty="0" smtClean="0"/>
              <a:t>beneficios.</a:t>
            </a:r>
            <a:endParaRPr lang="es-ES" dirty="0"/>
          </a:p>
          <a:p>
            <a:pPr lvl="1" algn="just">
              <a:spcAft>
                <a:spcPts val="600"/>
              </a:spcAft>
            </a:pPr>
            <a:r>
              <a:rPr lang="es-ES" dirty="0"/>
              <a:t>Identifique nuevas oportunidades de </a:t>
            </a:r>
            <a:r>
              <a:rPr lang="es-ES" dirty="0" smtClean="0"/>
              <a:t>crecimiento</a:t>
            </a:r>
            <a:r>
              <a:rPr lang="es-ES" dirty="0"/>
              <a:t>.</a:t>
            </a:r>
            <a:endParaRPr lang="es-ES" dirty="0"/>
          </a:p>
          <a:p>
            <a:pPr lvl="1" algn="just"/>
            <a:r>
              <a:rPr lang="es-ES" dirty="0"/>
              <a:t>Implemente estrategias probadas.</a:t>
            </a:r>
          </a:p>
          <a:p>
            <a:pPr algn="just">
              <a:spcAft>
                <a:spcPts val="600"/>
              </a:spcAft>
            </a:pPr>
            <a:r>
              <a:rPr lang="es-ES" dirty="0"/>
              <a:t>Esto se puede hacer de varias maneras:</a:t>
            </a:r>
          </a:p>
          <a:p>
            <a:pPr lvl="1" algn="just">
              <a:spcAft>
                <a:spcPts val="600"/>
              </a:spcAft>
            </a:pPr>
            <a:r>
              <a:rPr lang="es-ES" dirty="0"/>
              <a:t>Desarrollo de productos o </a:t>
            </a:r>
            <a:r>
              <a:rPr lang="es-ES" dirty="0" smtClean="0"/>
              <a:t>software.</a:t>
            </a:r>
            <a:endParaRPr lang="es-ES" dirty="0"/>
          </a:p>
          <a:p>
            <a:pPr lvl="1" algn="just">
              <a:spcAft>
                <a:spcPts val="600"/>
              </a:spcAft>
            </a:pPr>
            <a:r>
              <a:rPr lang="es-ES" dirty="0"/>
              <a:t>Identificación y ejecución de </a:t>
            </a:r>
            <a:r>
              <a:rPr lang="es-ES" dirty="0" smtClean="0"/>
              <a:t>proyectos.</a:t>
            </a:r>
            <a:endParaRPr lang="es-ES" dirty="0"/>
          </a:p>
          <a:p>
            <a:pPr lvl="1" algn="just"/>
            <a:r>
              <a:rPr lang="es-ES" dirty="0"/>
              <a:t>Desarrollo de políticas y modelos.</a:t>
            </a:r>
          </a:p>
        </p:txBody>
      </p:sp>
      <p:pic>
        <p:nvPicPr>
          <p:cNvPr id="3" name="Marcador de posición de imagen 2">
            <a:extLst>
              <a:ext uri="{FF2B5EF4-FFF2-40B4-BE49-F238E27FC236}">
                <a16:creationId xmlns:a16="http://schemas.microsoft.com/office/drawing/2014/main" id="{8F989877-561B-25B9-3343-A1E92329D492}"/>
              </a:ext>
            </a:extLst>
          </p:cNvPr>
          <p:cNvPicPr>
            <a:picLocks noGrp="1" noChangeAspect="1"/>
          </p:cNvPicPr>
          <p:nvPr>
            <p:ph type="pic" sz="quarter" idx="10"/>
          </p:nvPr>
        </p:nvPicPr>
        <p:blipFill>
          <a:blip r:embed="rId3"/>
          <a:srcRect t="268" b="268"/>
          <a:stretch>
            <a:fillRect/>
          </a:stretch>
        </p:blipFill>
        <p:spPr/>
      </p:pic>
    </p:spTree>
    <p:extLst>
      <p:ext uri="{BB962C8B-B14F-4D97-AF65-F5344CB8AC3E}">
        <p14:creationId xmlns:p14="http://schemas.microsoft.com/office/powerpoint/2010/main" val="2074959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B</a:t>
            </a:r>
            <a:r>
              <a:rPr lang="es-PE" dirty="0" smtClean="0"/>
              <a:t>eneficios del análisis empresarial</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ALCANCE DEL ANÁLISIS EMPRESARIAL</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5"/>
            <a:ext cx="4103687" cy="4000953"/>
          </a:xfrm>
          <a:prstGeom prst="rect">
            <a:avLst/>
          </a:prstGeom>
        </p:spPr>
        <p:txBody>
          <a:bodyPr/>
          <a:lstStyle/>
          <a:p>
            <a:pPr marL="0" indent="0" algn="just">
              <a:buNone/>
            </a:pPr>
            <a:r>
              <a:rPr lang="es-ES" dirty="0"/>
              <a:t>Los beneficios asociados con el análisis empresarial incluyen, pero no se limitan </a:t>
            </a:r>
            <a:r>
              <a:rPr lang="es-ES" dirty="0" smtClean="0"/>
              <a:t>a lo siguiente:</a:t>
            </a:r>
            <a:endParaRPr lang="es-ES" dirty="0"/>
          </a:p>
          <a:p>
            <a:pPr marL="442913" algn="just">
              <a:buSzPct val="100000"/>
              <a:buFont typeface="+mj-lt"/>
              <a:buAutoNum type="arabicPeriod"/>
            </a:pPr>
            <a:r>
              <a:rPr lang="es-ES" dirty="0"/>
              <a:t>Comprender los problemas </a:t>
            </a:r>
            <a:r>
              <a:rPr lang="es-ES" dirty="0" smtClean="0"/>
              <a:t>empresariales.</a:t>
            </a:r>
            <a:endParaRPr lang="es-ES" dirty="0"/>
          </a:p>
          <a:p>
            <a:pPr marL="442913" algn="just">
              <a:buSzPct val="100000"/>
              <a:buFont typeface="+mj-lt"/>
              <a:buAutoNum type="arabicPeriod"/>
            </a:pPr>
            <a:r>
              <a:rPr lang="es-ES" dirty="0"/>
              <a:t>Ayuda a aportar valor al proceso de </a:t>
            </a:r>
            <a:r>
              <a:rPr lang="es-ES" dirty="0" smtClean="0"/>
              <a:t>negocio.</a:t>
            </a:r>
            <a:endParaRPr lang="es-ES" dirty="0"/>
          </a:p>
          <a:p>
            <a:pPr marL="442913" algn="just">
              <a:buSzPct val="100000"/>
              <a:buFont typeface="+mj-lt"/>
              <a:buAutoNum type="arabicPeriod"/>
            </a:pPr>
            <a:r>
              <a:rPr lang="es-ES" dirty="0"/>
              <a:t>Proporciona un enfoque centrado en los objetivos para la creación de </a:t>
            </a:r>
            <a:r>
              <a:rPr lang="es-ES" dirty="0" smtClean="0"/>
              <a:t>estrategias.</a:t>
            </a:r>
            <a:endParaRPr lang="es-ES" dirty="0"/>
          </a:p>
          <a:p>
            <a:pPr marL="442913" algn="just">
              <a:buSzPct val="100000"/>
              <a:buFont typeface="+mj-lt"/>
              <a:buAutoNum type="arabicPeriod"/>
            </a:pPr>
            <a:r>
              <a:rPr lang="es-ES" dirty="0"/>
              <a:t>Reducción del riesgo empresarial, al garantizar que las soluciones que probablemente fallen no se implementen en primer lugar.</a:t>
            </a:r>
          </a:p>
        </p:txBody>
      </p:sp>
      <p:pic>
        <p:nvPicPr>
          <p:cNvPr id="3" name="Marcador de posición de imagen 2">
            <a:extLst>
              <a:ext uri="{FF2B5EF4-FFF2-40B4-BE49-F238E27FC236}">
                <a16:creationId xmlns:a16="http://schemas.microsoft.com/office/drawing/2014/main" id="{036BE2F1-BD05-8CD4-9C3D-C3C4EEE9251F}"/>
              </a:ext>
            </a:extLst>
          </p:cNvPr>
          <p:cNvPicPr>
            <a:picLocks noGrp="1" noChangeAspect="1"/>
          </p:cNvPicPr>
          <p:nvPr>
            <p:ph type="pic" sz="quarter" idx="10"/>
          </p:nvPr>
        </p:nvPicPr>
        <p:blipFill>
          <a:blip r:embed="rId3"/>
          <a:srcRect t="374" b="374"/>
          <a:stretch>
            <a:fillRect/>
          </a:stretch>
        </p:blipFill>
        <p:spPr/>
      </p:pic>
    </p:spTree>
    <p:extLst>
      <p:ext uri="{BB962C8B-B14F-4D97-AF65-F5344CB8AC3E}">
        <p14:creationId xmlns:p14="http://schemas.microsoft.com/office/powerpoint/2010/main" val="3086310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a:t>
            </a:r>
            <a:r>
              <a:rPr lang="es-PE" dirty="0" smtClean="0"/>
              <a:t>roceso del análisis empresarial</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ALCANCE DEL ANÁLISIS EMPRESARIAL</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5"/>
            <a:ext cx="4103687" cy="3064782"/>
          </a:xfrm>
          <a:prstGeom prst="rect">
            <a:avLst/>
          </a:prstGeom>
        </p:spPr>
        <p:txBody>
          <a:bodyPr/>
          <a:lstStyle/>
          <a:p>
            <a:pPr marL="0" indent="0">
              <a:buNone/>
            </a:pPr>
            <a:r>
              <a:rPr lang="es-ES" dirty="0"/>
              <a:t>El proceso de análisis empresarial se puede dividir en cinco pasos simples:</a:t>
            </a:r>
          </a:p>
          <a:p>
            <a:pPr marL="442913">
              <a:buSzPct val="100000"/>
              <a:buFont typeface="+mj-lt"/>
              <a:buAutoNum type="arabicPeriod"/>
            </a:pPr>
            <a:r>
              <a:rPr lang="es-ES" dirty="0"/>
              <a:t>Orientación previa al </a:t>
            </a:r>
            <a:r>
              <a:rPr lang="es-ES" dirty="0" smtClean="0"/>
              <a:t>análisis.</a:t>
            </a:r>
            <a:endParaRPr lang="es-ES" dirty="0"/>
          </a:p>
          <a:p>
            <a:pPr marL="442913">
              <a:buSzPct val="100000"/>
              <a:buFont typeface="+mj-lt"/>
              <a:buAutoNum type="arabicPeriod"/>
            </a:pPr>
            <a:r>
              <a:rPr lang="es-ES" dirty="0"/>
              <a:t>Identificación y gestión de los requisitos del </a:t>
            </a:r>
            <a:r>
              <a:rPr lang="es-ES" dirty="0" smtClean="0"/>
              <a:t>negocio.</a:t>
            </a:r>
            <a:endParaRPr lang="es-ES" dirty="0"/>
          </a:p>
          <a:p>
            <a:pPr marL="442913">
              <a:buSzPct val="100000"/>
              <a:buFont typeface="+mj-lt"/>
              <a:buAutoNum type="arabicPeriod"/>
            </a:pPr>
            <a:r>
              <a:rPr lang="es-ES" dirty="0"/>
              <a:t>Análisis y documentación de los </a:t>
            </a:r>
            <a:r>
              <a:rPr lang="es-ES" dirty="0" smtClean="0"/>
              <a:t>requisitos.</a:t>
            </a:r>
            <a:endParaRPr lang="es-ES" dirty="0"/>
          </a:p>
          <a:p>
            <a:pPr marL="442913">
              <a:buSzPct val="100000"/>
              <a:buFont typeface="+mj-lt"/>
              <a:buAutoNum type="arabicPeriod"/>
            </a:pPr>
            <a:r>
              <a:rPr lang="es-ES" dirty="0"/>
              <a:t>Comunicación de </a:t>
            </a:r>
            <a:r>
              <a:rPr lang="es-ES" dirty="0" smtClean="0"/>
              <a:t>análisis.</a:t>
            </a:r>
            <a:endParaRPr lang="es-ES" dirty="0"/>
          </a:p>
          <a:p>
            <a:pPr marL="442913">
              <a:buSzPct val="100000"/>
              <a:buFont typeface="+mj-lt"/>
              <a:buAutoNum type="arabicPeriod"/>
            </a:pPr>
            <a:r>
              <a:rPr lang="es-ES" dirty="0"/>
              <a:t>Evaluación de </a:t>
            </a:r>
            <a:r>
              <a:rPr lang="es-ES" dirty="0" smtClean="0"/>
              <a:t>soluciones.</a:t>
            </a:r>
            <a:endParaRPr lang="es-ES" dirty="0"/>
          </a:p>
        </p:txBody>
      </p:sp>
      <p:pic>
        <p:nvPicPr>
          <p:cNvPr id="3" name="Marcador de posición de imagen 2">
            <a:extLst>
              <a:ext uri="{FF2B5EF4-FFF2-40B4-BE49-F238E27FC236}">
                <a16:creationId xmlns:a16="http://schemas.microsoft.com/office/drawing/2014/main" id="{6CB6380C-0E07-E688-E10B-6FCD5DCF2A91}"/>
              </a:ext>
            </a:extLst>
          </p:cNvPr>
          <p:cNvPicPr>
            <a:picLocks noGrp="1" noChangeAspect="1"/>
          </p:cNvPicPr>
          <p:nvPr>
            <p:ph type="pic" sz="quarter" idx="10"/>
          </p:nvPr>
        </p:nvPicPr>
        <p:blipFill>
          <a:blip r:embed="rId3"/>
          <a:srcRect t="374" b="374"/>
          <a:stretch>
            <a:fillRect/>
          </a:stretch>
        </p:blipFill>
        <p:spPr/>
      </p:pic>
    </p:spTree>
    <p:extLst>
      <p:ext uri="{BB962C8B-B14F-4D97-AF65-F5344CB8AC3E}">
        <p14:creationId xmlns:p14="http://schemas.microsoft.com/office/powerpoint/2010/main" val="1035095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T</a:t>
            </a:r>
            <a:r>
              <a:rPr lang="es-PE" dirty="0" smtClean="0"/>
              <a:t>écnicas en análisis empresarial</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ALCANCE DEL ANÁLISIS EMPRESARIAL</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6"/>
            <a:ext cx="4103687" cy="3231696"/>
          </a:xfrm>
          <a:prstGeom prst="rect">
            <a:avLst/>
          </a:prstGeom>
        </p:spPr>
        <p:txBody>
          <a:bodyPr/>
          <a:lstStyle/>
          <a:p>
            <a:pPr marL="442913">
              <a:buSzPct val="100000"/>
              <a:buFont typeface="+mj-lt"/>
              <a:buAutoNum type="arabicPeriod"/>
            </a:pPr>
            <a:r>
              <a:rPr lang="es-ES" dirty="0"/>
              <a:t>MOST </a:t>
            </a:r>
            <a:r>
              <a:rPr lang="es-ES" dirty="0" smtClean="0"/>
              <a:t>(misión</a:t>
            </a:r>
            <a:r>
              <a:rPr lang="es-ES" dirty="0"/>
              <a:t>, </a:t>
            </a:r>
            <a:r>
              <a:rPr lang="es-ES" dirty="0" smtClean="0"/>
              <a:t>objetivos</a:t>
            </a:r>
            <a:r>
              <a:rPr lang="es-ES" dirty="0"/>
              <a:t>, </a:t>
            </a:r>
            <a:r>
              <a:rPr lang="es-ES" dirty="0" smtClean="0"/>
              <a:t>estrategias </a:t>
            </a:r>
            <a:r>
              <a:rPr lang="es-ES" dirty="0"/>
              <a:t>y </a:t>
            </a:r>
            <a:r>
              <a:rPr lang="es-ES" dirty="0" smtClean="0"/>
              <a:t>tácticas).</a:t>
            </a:r>
            <a:endParaRPr lang="es-ES" dirty="0"/>
          </a:p>
          <a:p>
            <a:pPr marL="442913">
              <a:buSzPct val="100000"/>
              <a:buFont typeface="+mj-lt"/>
              <a:buAutoNum type="arabicPeriod"/>
            </a:pPr>
            <a:r>
              <a:rPr lang="es-ES" dirty="0"/>
              <a:t>Análisis DAFO </a:t>
            </a:r>
            <a:r>
              <a:rPr lang="es-ES" dirty="0" smtClean="0"/>
              <a:t>(fortalezas</a:t>
            </a:r>
            <a:r>
              <a:rPr lang="es-ES" dirty="0"/>
              <a:t>, </a:t>
            </a:r>
            <a:r>
              <a:rPr lang="es-ES" dirty="0" smtClean="0"/>
              <a:t>debilidades</a:t>
            </a:r>
            <a:r>
              <a:rPr lang="es-ES" dirty="0"/>
              <a:t>, </a:t>
            </a:r>
            <a:r>
              <a:rPr lang="es-ES" dirty="0" smtClean="0"/>
              <a:t>oportunidades </a:t>
            </a:r>
            <a:r>
              <a:rPr lang="es-ES" dirty="0"/>
              <a:t>y </a:t>
            </a:r>
            <a:r>
              <a:rPr lang="es-ES" dirty="0" smtClean="0"/>
              <a:t>amenazas).</a:t>
            </a:r>
            <a:endParaRPr lang="es-ES" dirty="0"/>
          </a:p>
          <a:p>
            <a:pPr marL="442913">
              <a:buSzPct val="100000"/>
              <a:buFont typeface="+mj-lt"/>
              <a:buAutoNum type="arabicPeriod"/>
            </a:pPr>
            <a:r>
              <a:rPr lang="es-ES" dirty="0"/>
              <a:t>Seis </a:t>
            </a:r>
            <a:r>
              <a:rPr lang="es-ES" dirty="0" smtClean="0"/>
              <a:t>sombreros </a:t>
            </a:r>
            <a:r>
              <a:rPr lang="es-ES" dirty="0"/>
              <a:t>de </a:t>
            </a:r>
            <a:r>
              <a:rPr lang="es-ES" dirty="0"/>
              <a:t>p</a:t>
            </a:r>
            <a:r>
              <a:rPr lang="es-ES" dirty="0" smtClean="0"/>
              <a:t>ensamiento.</a:t>
            </a:r>
            <a:endParaRPr lang="es-ES" dirty="0"/>
          </a:p>
          <a:p>
            <a:pPr marL="442913">
              <a:buSzPct val="100000"/>
              <a:buFont typeface="+mj-lt"/>
              <a:buAutoNum type="arabicPeriod"/>
            </a:pPr>
            <a:r>
              <a:rPr lang="es-ES" dirty="0"/>
              <a:t>MOSCU (evaluar un objetivo comercial en relación con otros objetivos</a:t>
            </a:r>
            <a:r>
              <a:rPr lang="es-ES" dirty="0" smtClean="0"/>
              <a:t>).</a:t>
            </a:r>
            <a:endParaRPr lang="es-ES" dirty="0"/>
          </a:p>
          <a:p>
            <a:pPr marL="442913">
              <a:buSzPct val="100000"/>
              <a:buFont typeface="+mj-lt"/>
              <a:buAutoNum type="arabicPeriod"/>
            </a:pPr>
            <a:r>
              <a:rPr lang="es-ES" dirty="0"/>
              <a:t>CATWOE </a:t>
            </a:r>
            <a:r>
              <a:rPr lang="es-ES" dirty="0" smtClean="0"/>
              <a:t>(clientes</a:t>
            </a:r>
            <a:r>
              <a:rPr lang="es-ES" dirty="0"/>
              <a:t>, </a:t>
            </a:r>
            <a:r>
              <a:rPr lang="es-ES" dirty="0" smtClean="0"/>
              <a:t>actores</a:t>
            </a:r>
            <a:r>
              <a:rPr lang="es-ES" dirty="0"/>
              <a:t>, </a:t>
            </a:r>
            <a:r>
              <a:rPr lang="es-ES" dirty="0" smtClean="0"/>
              <a:t>procesos </a:t>
            </a:r>
            <a:r>
              <a:rPr lang="es-ES" dirty="0"/>
              <a:t>de </a:t>
            </a:r>
            <a:r>
              <a:rPr lang="es-ES" dirty="0" smtClean="0"/>
              <a:t>transformación</a:t>
            </a:r>
            <a:r>
              <a:rPr lang="es-ES" dirty="0"/>
              <a:t>, </a:t>
            </a:r>
            <a:r>
              <a:rPr lang="es-ES" dirty="0" smtClean="0"/>
              <a:t>vista </a:t>
            </a:r>
            <a:r>
              <a:rPr lang="es-ES" dirty="0"/>
              <a:t>m</a:t>
            </a:r>
            <a:r>
              <a:rPr lang="es-ES" dirty="0" smtClean="0"/>
              <a:t>undial</a:t>
            </a:r>
            <a:r>
              <a:rPr lang="es-ES" dirty="0"/>
              <a:t>, </a:t>
            </a:r>
            <a:r>
              <a:rPr lang="es-ES" dirty="0" smtClean="0"/>
              <a:t>propietario </a:t>
            </a:r>
            <a:r>
              <a:rPr lang="es-ES" dirty="0"/>
              <a:t>y </a:t>
            </a:r>
            <a:r>
              <a:rPr lang="es-ES" dirty="0" smtClean="0"/>
              <a:t>medio </a:t>
            </a:r>
            <a:r>
              <a:rPr lang="es-ES" dirty="0"/>
              <a:t>a</a:t>
            </a:r>
            <a:r>
              <a:rPr lang="es-ES" dirty="0" smtClean="0"/>
              <a:t>mbiente</a:t>
            </a:r>
            <a:r>
              <a:rPr lang="es-ES" dirty="0"/>
              <a:t>).</a:t>
            </a:r>
          </a:p>
        </p:txBody>
      </p:sp>
      <p:pic>
        <p:nvPicPr>
          <p:cNvPr id="8" name="Marcador de posición de imagen 7">
            <a:extLst>
              <a:ext uri="{FF2B5EF4-FFF2-40B4-BE49-F238E27FC236}">
                <a16:creationId xmlns:a16="http://schemas.microsoft.com/office/drawing/2014/main" id="{933BC80A-B244-C9F3-3FE2-040FDC64C0B3}"/>
              </a:ext>
            </a:extLst>
          </p:cNvPr>
          <p:cNvPicPr>
            <a:picLocks noGrp="1" noChangeAspect="1"/>
          </p:cNvPicPr>
          <p:nvPr>
            <p:ph type="pic" sz="quarter" idx="10"/>
          </p:nvPr>
        </p:nvPicPr>
        <p:blipFill>
          <a:blip r:embed="rId3"/>
          <a:srcRect t="374" b="374"/>
          <a:stretch>
            <a:fillRect/>
          </a:stretch>
        </p:blipFill>
        <p:spPr/>
      </p:pic>
    </p:spTree>
    <p:extLst>
      <p:ext uri="{BB962C8B-B14F-4D97-AF65-F5344CB8AC3E}">
        <p14:creationId xmlns:p14="http://schemas.microsoft.com/office/powerpoint/2010/main" val="857647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smtClean="0"/>
              <a:t>Ob</a:t>
            </a:r>
            <a:r>
              <a:rPr lang="es-PE" dirty="0" smtClean="0"/>
              <a:t>jetivo del análisis empresarial</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ALCANCE DEL ANÁLISIS EMPRESARIAL</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6"/>
            <a:ext cx="4103687" cy="2680154"/>
          </a:xfrm>
          <a:prstGeom prst="rect">
            <a:avLst/>
          </a:prstGeom>
        </p:spPr>
        <p:txBody>
          <a:bodyPr/>
          <a:lstStyle/>
          <a:p>
            <a:r>
              <a:rPr lang="es-ES" dirty="0"/>
              <a:t>El objetivo final es ayudar a las empresas a descubrir problemas y luego encontrar soluciones a estos problemas.</a:t>
            </a:r>
          </a:p>
          <a:p>
            <a:r>
              <a:rPr lang="es-ES" dirty="0"/>
              <a:t>El análisis empresarial a menudo se </a:t>
            </a:r>
            <a:r>
              <a:rPr lang="es-ES" dirty="0" smtClean="0"/>
              <a:t>centrará </a:t>
            </a:r>
            <a:r>
              <a:rPr lang="es-ES" dirty="0"/>
              <a:t>en los tres objetivos </a:t>
            </a:r>
            <a:r>
              <a:rPr lang="es-ES" dirty="0" smtClean="0"/>
              <a:t>siguientes:</a:t>
            </a:r>
            <a:endParaRPr lang="es-ES" dirty="0"/>
          </a:p>
          <a:p>
            <a:pPr marL="530225" indent="-176213">
              <a:buSzPct val="100000"/>
              <a:buFont typeface="Wingdings" panose="05000000000000000000" pitchFamily="2" charset="2"/>
              <a:buChar char="§"/>
            </a:pPr>
            <a:r>
              <a:rPr lang="es-ES" dirty="0"/>
              <a:t>Reducir recursos de </a:t>
            </a:r>
            <a:r>
              <a:rPr lang="es-ES" dirty="0" smtClean="0"/>
              <a:t>desperdicio.</a:t>
            </a:r>
            <a:endParaRPr lang="es-ES" dirty="0"/>
          </a:p>
          <a:p>
            <a:pPr marL="530225" indent="-176213">
              <a:buSzPct val="100000"/>
              <a:buFont typeface="Wingdings" panose="05000000000000000000" pitchFamily="2" charset="2"/>
              <a:buChar char="§"/>
            </a:pPr>
            <a:r>
              <a:rPr lang="es-ES" dirty="0"/>
              <a:t>Mejorar la eficiencia del </a:t>
            </a:r>
            <a:r>
              <a:rPr lang="es-ES" dirty="0" smtClean="0"/>
              <a:t>proyecto.</a:t>
            </a:r>
            <a:endParaRPr lang="es-ES" dirty="0"/>
          </a:p>
          <a:p>
            <a:pPr marL="530225" indent="-176213">
              <a:buSzPct val="100000"/>
              <a:buFont typeface="Wingdings" panose="05000000000000000000" pitchFamily="2" charset="2"/>
              <a:buChar char="§"/>
            </a:pPr>
            <a:r>
              <a:rPr lang="es-ES" dirty="0"/>
              <a:t>Aumentar los </a:t>
            </a:r>
            <a:r>
              <a:rPr lang="es-ES" dirty="0" smtClean="0"/>
              <a:t>ingresos.</a:t>
            </a:r>
            <a:endParaRPr lang="es-ES" dirty="0"/>
          </a:p>
        </p:txBody>
      </p:sp>
      <p:pic>
        <p:nvPicPr>
          <p:cNvPr id="3" name="Marcador de posición de imagen 2">
            <a:extLst>
              <a:ext uri="{FF2B5EF4-FFF2-40B4-BE49-F238E27FC236}">
                <a16:creationId xmlns:a16="http://schemas.microsoft.com/office/drawing/2014/main" id="{ABDC07CD-5D9E-7CE5-A1BE-4CF8FD987F84}"/>
              </a:ext>
            </a:extLst>
          </p:cNvPr>
          <p:cNvPicPr>
            <a:picLocks noGrp="1" noChangeAspect="1"/>
          </p:cNvPicPr>
          <p:nvPr>
            <p:ph type="pic" sz="quarter" idx="10"/>
          </p:nvPr>
        </p:nvPicPr>
        <p:blipFill>
          <a:blip r:embed="rId3"/>
          <a:srcRect t="161" b="161"/>
          <a:stretch>
            <a:fillRect/>
          </a:stretch>
        </p:blipFill>
        <p:spPr/>
      </p:pic>
    </p:spTree>
    <p:extLst>
      <p:ext uri="{BB962C8B-B14F-4D97-AF65-F5344CB8AC3E}">
        <p14:creationId xmlns:p14="http://schemas.microsoft.com/office/powerpoint/2010/main" val="798884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2"/>
            <a:ext cx="5543549" cy="479788"/>
          </a:xfrm>
        </p:spPr>
        <p:txBody>
          <a:bodyPr/>
          <a:lstStyle/>
          <a:p>
            <a:pPr marL="274638" indent="-274638">
              <a:tabLst>
                <a:tab pos="274638" algn="l"/>
              </a:tabLst>
            </a:pPr>
            <a:r>
              <a:rPr lang="es-PE" dirty="0"/>
              <a:t>/	LA </a:t>
            </a:r>
            <a:r>
              <a:rPr lang="es-PE" dirty="0" smtClean="0"/>
              <a:t>GUÍA </a:t>
            </a:r>
            <a:r>
              <a:rPr lang="es-PE" dirty="0"/>
              <a:t>BABOK®</a:t>
            </a:r>
          </a:p>
        </p:txBody>
      </p:sp>
    </p:spTree>
    <p:custDataLst>
      <p:tags r:id="rId1"/>
    </p:custDataLst>
    <p:extLst>
      <p:ext uri="{BB962C8B-B14F-4D97-AF65-F5344CB8AC3E}">
        <p14:creationId xmlns:p14="http://schemas.microsoft.com/office/powerpoint/2010/main" val="2019796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a:t>
            </a:r>
            <a:r>
              <a:rPr lang="es-PE" dirty="0" smtClean="0"/>
              <a:t>ropósito de la guía BABOK</a:t>
            </a:r>
            <a:r>
              <a:rPr lang="es-PE" dirty="0"/>
              <a:t>®</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LA </a:t>
            </a:r>
            <a:r>
              <a:rPr lang="es-PE" dirty="0" smtClean="0"/>
              <a:t>GUÍA </a:t>
            </a:r>
            <a:r>
              <a:rPr lang="es-PE" dirty="0"/>
              <a:t>BABOK®</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6"/>
            <a:ext cx="4103687" cy="3790496"/>
          </a:xfrm>
          <a:prstGeom prst="rect">
            <a:avLst/>
          </a:prstGeom>
        </p:spPr>
        <p:txBody>
          <a:bodyPr/>
          <a:lstStyle/>
          <a:p>
            <a:pPr>
              <a:spcAft>
                <a:spcPts val="600"/>
              </a:spcAft>
            </a:pPr>
            <a:r>
              <a:rPr lang="es-ES" dirty="0"/>
              <a:t>El objetivo principal de la Guía BABOK® es:</a:t>
            </a:r>
          </a:p>
          <a:p>
            <a:pPr lvl="1">
              <a:spcAft>
                <a:spcPts val="600"/>
              </a:spcAft>
            </a:pPr>
            <a:r>
              <a:rPr lang="es-ES" dirty="0"/>
              <a:t>Definir la profesión de Análisis Empresarial, y</a:t>
            </a:r>
          </a:p>
          <a:p>
            <a:pPr lvl="1"/>
            <a:r>
              <a:rPr lang="es-ES" dirty="0"/>
              <a:t>Proporcionar un conjunto de prácticas comúnmente aceptadas.</a:t>
            </a:r>
          </a:p>
          <a:p>
            <a:r>
              <a:rPr lang="es-ES" dirty="0"/>
              <a:t>Ayuda a los profesionales a discutir y definir las habilidades necesarias para realizar con eficacia el trabajo de análisis empresarial.</a:t>
            </a:r>
          </a:p>
          <a:p>
            <a:r>
              <a:rPr lang="es-ES" dirty="0"/>
              <a:t>También ayuda a las personas que trabajan con </a:t>
            </a:r>
            <a:r>
              <a:rPr lang="es-ES" dirty="0" smtClean="0"/>
              <a:t>analistas </a:t>
            </a:r>
            <a:r>
              <a:rPr lang="es-ES" dirty="0"/>
              <a:t>de negocios y los emplean, a comprender las habilidades y el conocimiento que deben esperar de un profesional calificado.</a:t>
            </a:r>
          </a:p>
        </p:txBody>
      </p:sp>
      <p:pic>
        <p:nvPicPr>
          <p:cNvPr id="3" name="Marcador de posición de imagen 2">
            <a:extLst>
              <a:ext uri="{FF2B5EF4-FFF2-40B4-BE49-F238E27FC236}">
                <a16:creationId xmlns:a16="http://schemas.microsoft.com/office/drawing/2014/main" id="{4B289D33-ADD6-3DE4-AA07-947F7FC2C9B3}"/>
              </a:ext>
            </a:extLst>
          </p:cNvPr>
          <p:cNvPicPr>
            <a:picLocks noGrp="1" noChangeAspect="1"/>
          </p:cNvPicPr>
          <p:nvPr>
            <p:ph type="pic" sz="quarter" idx="10"/>
          </p:nvPr>
        </p:nvPicPr>
        <p:blipFill>
          <a:blip r:embed="rId3"/>
          <a:srcRect t="374" b="374"/>
          <a:stretch>
            <a:fillRect/>
          </a:stretch>
        </p:blipFill>
        <p:spPr/>
      </p:pic>
    </p:spTree>
    <p:extLst>
      <p:ext uri="{BB962C8B-B14F-4D97-AF65-F5344CB8AC3E}">
        <p14:creationId xmlns:p14="http://schemas.microsoft.com/office/powerpoint/2010/main" val="712099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L</a:t>
            </a:r>
            <a:r>
              <a:rPr lang="es-PE" dirty="0" smtClean="0"/>
              <a:t>a guía BABOK</a:t>
            </a:r>
            <a:r>
              <a:rPr lang="es-PE" dirty="0"/>
              <a:t>® - </a:t>
            </a:r>
            <a:r>
              <a:rPr lang="es-PE" dirty="0" smtClean="0"/>
              <a:t>marco de referencia</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LA </a:t>
            </a:r>
            <a:r>
              <a:rPr lang="es-PE" dirty="0" smtClean="0"/>
              <a:t>GUÍA </a:t>
            </a:r>
            <a:r>
              <a:rPr lang="es-PE" dirty="0"/>
              <a:t>BABOK®</a:t>
            </a:r>
          </a:p>
        </p:txBody>
      </p:sp>
      <p:sp>
        <p:nvSpPr>
          <p:cNvPr id="5" name="Marcador de texto 4">
            <a:extLst>
              <a:ext uri="{FF2B5EF4-FFF2-40B4-BE49-F238E27FC236}">
                <a16:creationId xmlns:a16="http://schemas.microsoft.com/office/drawing/2014/main" id="{D5AD5729-0218-4E18-0477-520CB0843F44}"/>
              </a:ext>
            </a:extLst>
          </p:cNvPr>
          <p:cNvSpPr>
            <a:spLocks noGrp="1"/>
          </p:cNvSpPr>
          <p:nvPr>
            <p:ph type="body" sz="quarter" idx="14"/>
          </p:nvPr>
        </p:nvSpPr>
        <p:spPr>
          <a:xfrm>
            <a:off x="468313" y="1158876"/>
            <a:ext cx="4103687" cy="2201182"/>
          </a:xfrm>
        </p:spPr>
        <p:txBody>
          <a:bodyPr/>
          <a:lstStyle/>
          <a:p>
            <a:r>
              <a:rPr lang="es-ES" dirty="0"/>
              <a:t>Es un marco común para todas las perspectivas, que describe las tareas de análisis empresarial que se realizan para </a:t>
            </a:r>
            <a:r>
              <a:rPr lang="es-ES" b="1" dirty="0"/>
              <a:t>analizar correctamente un cambio</a:t>
            </a:r>
            <a:r>
              <a:rPr lang="es-ES" dirty="0"/>
              <a:t> o </a:t>
            </a:r>
            <a:r>
              <a:rPr lang="es-ES" b="1" dirty="0"/>
              <a:t>evaluar la necesidad de un cambio</a:t>
            </a:r>
            <a:r>
              <a:rPr lang="es-ES" dirty="0"/>
              <a:t>.</a:t>
            </a:r>
          </a:p>
          <a:p>
            <a:r>
              <a:rPr lang="es-ES" dirty="0"/>
              <a:t>Las tareas pueden variar en forma, orden o importancia para los analistas de negocios individuales o para varias iniciativas.</a:t>
            </a:r>
            <a:endParaRPr lang="es-PE" dirty="0"/>
          </a:p>
        </p:txBody>
      </p:sp>
      <p:pic>
        <p:nvPicPr>
          <p:cNvPr id="17" name="Marcador de posición de imagen 16">
            <a:extLst>
              <a:ext uri="{FF2B5EF4-FFF2-40B4-BE49-F238E27FC236}">
                <a16:creationId xmlns:a16="http://schemas.microsoft.com/office/drawing/2014/main" id="{841C9DAC-7200-4AC6-6C3F-F0C8DE27AEAB}"/>
              </a:ext>
            </a:extLst>
          </p:cNvPr>
          <p:cNvPicPr>
            <a:picLocks noGrp="1" noChangeAspect="1"/>
          </p:cNvPicPr>
          <p:nvPr>
            <p:ph type="pic" sz="quarter" idx="10"/>
          </p:nvPr>
        </p:nvPicPr>
        <p:blipFill>
          <a:blip r:embed="rId3"/>
          <a:srcRect t="374" b="374"/>
          <a:stretch>
            <a:fillRect/>
          </a:stretch>
        </p:blipFill>
        <p:spPr/>
      </p:pic>
    </p:spTree>
    <p:extLst>
      <p:ext uri="{BB962C8B-B14F-4D97-AF65-F5344CB8AC3E}">
        <p14:creationId xmlns:p14="http://schemas.microsoft.com/office/powerpoint/2010/main" val="108385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a:t>
            </a:r>
            <a:r>
              <a:rPr lang="es-PE" dirty="0" smtClean="0"/>
              <a:t>lcance </a:t>
            </a:r>
            <a:r>
              <a:rPr lang="es-PE" dirty="0"/>
              <a:t>BABOK®</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LA </a:t>
            </a:r>
            <a:r>
              <a:rPr lang="es-PE" dirty="0" smtClean="0"/>
              <a:t>GUÍA </a:t>
            </a:r>
            <a:r>
              <a:rPr lang="es-PE" dirty="0"/>
              <a:t>BABOK®</a:t>
            </a:r>
          </a:p>
        </p:txBody>
      </p:sp>
      <p:sp>
        <p:nvSpPr>
          <p:cNvPr id="5" name="Marcador de texto 4">
            <a:extLst>
              <a:ext uri="{FF2B5EF4-FFF2-40B4-BE49-F238E27FC236}">
                <a16:creationId xmlns:a16="http://schemas.microsoft.com/office/drawing/2014/main" id="{D5AD5729-0218-4E18-0477-520CB0843F44}"/>
              </a:ext>
            </a:extLst>
          </p:cNvPr>
          <p:cNvSpPr>
            <a:spLocks noGrp="1"/>
          </p:cNvSpPr>
          <p:nvPr>
            <p:ph type="body" sz="quarter" idx="14"/>
          </p:nvPr>
        </p:nvSpPr>
        <p:spPr>
          <a:xfrm>
            <a:off x="468313" y="1158875"/>
            <a:ext cx="4103687" cy="2513239"/>
          </a:xfrm>
        </p:spPr>
        <p:txBody>
          <a:bodyPr/>
          <a:lstStyle/>
          <a:p>
            <a:r>
              <a:rPr lang="es-ES" dirty="0"/>
              <a:t>Las áreas de conocimiento de la Guía BABOK® describen la práctica del análisis de negocios tal como se aplica dentro de los límites de un proyecto o a lo largo de la evolución empresarial y la mejora continua. </a:t>
            </a:r>
          </a:p>
          <a:p>
            <a:r>
              <a:rPr lang="es-ES" dirty="0"/>
              <a:t>La siguiente imagen muestra cómo tres de las áreas de conocimiento respaldan la entrega de valor comercial antes, durante y después del ciclo de vida de un proyecto.</a:t>
            </a:r>
            <a:endParaRPr lang="es-PE" dirty="0"/>
          </a:p>
        </p:txBody>
      </p:sp>
      <p:pic>
        <p:nvPicPr>
          <p:cNvPr id="11" name="Marcador de posición de imagen 10">
            <a:extLst>
              <a:ext uri="{FF2B5EF4-FFF2-40B4-BE49-F238E27FC236}">
                <a16:creationId xmlns:a16="http://schemas.microsoft.com/office/drawing/2014/main" id="{4913E2FF-8037-D30D-2305-CC10792EC1EB}"/>
              </a:ext>
            </a:extLst>
          </p:cNvPr>
          <p:cNvPicPr>
            <a:picLocks noGrp="1" noChangeAspect="1"/>
          </p:cNvPicPr>
          <p:nvPr>
            <p:ph type="pic" sz="quarter" idx="10"/>
          </p:nvPr>
        </p:nvPicPr>
        <p:blipFill>
          <a:blip r:embed="rId3"/>
          <a:srcRect t="374" b="374"/>
          <a:stretch>
            <a:fillRect/>
          </a:stretch>
        </p:blipFill>
        <p:spPr/>
      </p:pic>
    </p:spTree>
    <p:extLst>
      <p:ext uri="{BB962C8B-B14F-4D97-AF65-F5344CB8AC3E}">
        <p14:creationId xmlns:p14="http://schemas.microsoft.com/office/powerpoint/2010/main" val="1102327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smtClean="0"/>
              <a:t>¿Qué es el análisis empresarial?</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LA </a:t>
            </a:r>
            <a:r>
              <a:rPr lang="es-PE" dirty="0" smtClean="0"/>
              <a:t>GUÍA </a:t>
            </a:r>
            <a:r>
              <a:rPr lang="es-PE" dirty="0"/>
              <a:t>BABOK®</a:t>
            </a:r>
          </a:p>
        </p:txBody>
      </p:sp>
      <p:sp>
        <p:nvSpPr>
          <p:cNvPr id="5" name="Marcador de texto 4">
            <a:extLst>
              <a:ext uri="{FF2B5EF4-FFF2-40B4-BE49-F238E27FC236}">
                <a16:creationId xmlns:a16="http://schemas.microsoft.com/office/drawing/2014/main" id="{D5AD5729-0218-4E18-0477-520CB0843F44}"/>
              </a:ext>
            </a:extLst>
          </p:cNvPr>
          <p:cNvSpPr>
            <a:spLocks noGrp="1"/>
          </p:cNvSpPr>
          <p:nvPr>
            <p:ph type="body" sz="quarter" idx="14"/>
          </p:nvPr>
        </p:nvSpPr>
        <p:spPr/>
        <p:txBody>
          <a:bodyPr/>
          <a:lstStyle/>
          <a:p>
            <a:r>
              <a:rPr lang="es-ES" dirty="0"/>
              <a:t>Es la práctica de </a:t>
            </a:r>
            <a:r>
              <a:rPr lang="es-ES" b="1" dirty="0"/>
              <a:t>permitir el cambio en una empresa</a:t>
            </a:r>
            <a:r>
              <a:rPr lang="es-ES" dirty="0"/>
              <a:t> mediante la definición de necesidades y la recomendación de soluciones que brinden valor a las partes interesadas.</a:t>
            </a:r>
          </a:p>
          <a:p>
            <a:r>
              <a:rPr lang="es-ES" dirty="0"/>
              <a:t>Permite que una empresa articule las necesidades y la justificación del cambio, y </a:t>
            </a:r>
            <a:r>
              <a:rPr lang="es-ES" b="1" dirty="0"/>
              <a:t>diseñe y describa soluciones que puedan generar valor</a:t>
            </a:r>
            <a:r>
              <a:rPr lang="es-ES" dirty="0"/>
              <a:t>.</a:t>
            </a:r>
          </a:p>
          <a:p>
            <a:r>
              <a:rPr lang="es-ES" dirty="0"/>
              <a:t>Se realiza en una variedad de iniciativas dentro de una empresa.</a:t>
            </a:r>
          </a:p>
          <a:p>
            <a:r>
              <a:rPr lang="es-ES" dirty="0"/>
              <a:t>Se puede realizar dentro de los límites de un proyecto o a lo largo de la evolución empresarial y la mejora continua.</a:t>
            </a:r>
          </a:p>
        </p:txBody>
      </p:sp>
      <p:pic>
        <p:nvPicPr>
          <p:cNvPr id="4" name="Marcador de posición de imagen 3">
            <a:extLst>
              <a:ext uri="{FF2B5EF4-FFF2-40B4-BE49-F238E27FC236}">
                <a16:creationId xmlns:a16="http://schemas.microsoft.com/office/drawing/2014/main" id="{0A4E20AA-61CB-5860-419F-1DE1C7B7EEC6}"/>
              </a:ext>
            </a:extLst>
          </p:cNvPr>
          <p:cNvPicPr>
            <a:picLocks noGrp="1" noChangeAspect="1"/>
          </p:cNvPicPr>
          <p:nvPr>
            <p:ph type="pic" sz="quarter" idx="10"/>
          </p:nvPr>
        </p:nvPicPr>
        <p:blipFill>
          <a:blip r:embed="rId3"/>
          <a:srcRect t="480" b="480"/>
          <a:stretch>
            <a:fillRect/>
          </a:stretch>
        </p:blipFill>
        <p:spPr/>
      </p:pic>
    </p:spTree>
    <p:extLst>
      <p:ext uri="{BB962C8B-B14F-4D97-AF65-F5344CB8AC3E}">
        <p14:creationId xmlns:p14="http://schemas.microsoft.com/office/powerpoint/2010/main" val="3108904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smtClean="0"/>
              <a:t>¿Quién es un analista de negocios?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LA </a:t>
            </a:r>
            <a:r>
              <a:rPr lang="es-PE" dirty="0" smtClean="0"/>
              <a:t>GUÍA </a:t>
            </a:r>
            <a:r>
              <a:rPr lang="es-PE" dirty="0"/>
              <a:t>BABOK®</a:t>
            </a:r>
          </a:p>
        </p:txBody>
      </p:sp>
      <p:sp>
        <p:nvSpPr>
          <p:cNvPr id="5" name="Marcador de texto 4">
            <a:extLst>
              <a:ext uri="{FF2B5EF4-FFF2-40B4-BE49-F238E27FC236}">
                <a16:creationId xmlns:a16="http://schemas.microsoft.com/office/drawing/2014/main" id="{D5AD5729-0218-4E18-0477-520CB0843F44}"/>
              </a:ext>
            </a:extLst>
          </p:cNvPr>
          <p:cNvSpPr>
            <a:spLocks noGrp="1"/>
          </p:cNvSpPr>
          <p:nvPr>
            <p:ph type="body" sz="quarter" idx="14"/>
          </p:nvPr>
        </p:nvSpPr>
        <p:spPr/>
        <p:txBody>
          <a:bodyPr/>
          <a:lstStyle/>
          <a:p>
            <a:r>
              <a:rPr lang="es-ES" dirty="0"/>
              <a:t>Cualquier persona que realiza las tareas de análisis de negocios descritas en la Guía BABOK®, sin importar su cargo o rol organizacional.</a:t>
            </a:r>
          </a:p>
          <a:p>
            <a:r>
              <a:rPr lang="es-ES" dirty="0"/>
              <a:t>Son responsables de descubrir, sintetizar y analizar la información.</a:t>
            </a:r>
          </a:p>
          <a:p>
            <a:pPr>
              <a:spcAft>
                <a:spcPts val="600"/>
              </a:spcAft>
            </a:pPr>
            <a:r>
              <a:rPr lang="es-ES" dirty="0"/>
              <a:t>Las actividades que realizan, incluyen:</a:t>
            </a:r>
          </a:p>
          <a:p>
            <a:pPr lvl="1">
              <a:spcAft>
                <a:spcPts val="600"/>
              </a:spcAft>
            </a:pPr>
            <a:r>
              <a:rPr lang="es-ES" dirty="0"/>
              <a:t>Comprensión de los problemas y objetivos de la </a:t>
            </a:r>
            <a:r>
              <a:rPr lang="es-ES" dirty="0" smtClean="0"/>
              <a:t>empresa.</a:t>
            </a:r>
            <a:endParaRPr lang="es-ES" dirty="0"/>
          </a:p>
          <a:p>
            <a:pPr lvl="1">
              <a:spcAft>
                <a:spcPts val="600"/>
              </a:spcAft>
            </a:pPr>
            <a:r>
              <a:rPr lang="es-ES" dirty="0"/>
              <a:t>Analizar necesidades y </a:t>
            </a:r>
            <a:r>
              <a:rPr lang="es-ES" dirty="0" smtClean="0"/>
              <a:t>soluciones.</a:t>
            </a:r>
            <a:endParaRPr lang="es-ES" dirty="0"/>
          </a:p>
          <a:p>
            <a:pPr lvl="1">
              <a:spcAft>
                <a:spcPts val="600"/>
              </a:spcAft>
            </a:pPr>
            <a:r>
              <a:rPr lang="es-ES" dirty="0"/>
              <a:t>Diseñar </a:t>
            </a:r>
            <a:r>
              <a:rPr lang="es-ES" dirty="0" smtClean="0"/>
              <a:t>estrategias.</a:t>
            </a:r>
            <a:endParaRPr lang="es-ES" dirty="0"/>
          </a:p>
          <a:p>
            <a:pPr lvl="1">
              <a:spcAft>
                <a:spcPts val="600"/>
              </a:spcAft>
            </a:pPr>
            <a:r>
              <a:rPr lang="es-ES" dirty="0"/>
              <a:t>Impulsar el </a:t>
            </a:r>
            <a:r>
              <a:rPr lang="es-ES" dirty="0" smtClean="0"/>
              <a:t>cambio</a:t>
            </a:r>
            <a:r>
              <a:rPr lang="es-ES" dirty="0"/>
              <a:t>.</a:t>
            </a:r>
            <a:endParaRPr lang="es-ES" dirty="0"/>
          </a:p>
          <a:p>
            <a:pPr lvl="1"/>
            <a:r>
              <a:rPr lang="es-ES" dirty="0"/>
              <a:t>Facilitar la colaboración de los </a:t>
            </a:r>
            <a:r>
              <a:rPr lang="es-ES" i="1" dirty="0"/>
              <a:t>stakeholders</a:t>
            </a:r>
            <a:r>
              <a:rPr lang="es-ES" dirty="0"/>
              <a:t>.</a:t>
            </a:r>
            <a:endParaRPr lang="es-PE" dirty="0"/>
          </a:p>
        </p:txBody>
      </p:sp>
      <p:pic>
        <p:nvPicPr>
          <p:cNvPr id="4" name="Marcador de posición de imagen 3">
            <a:extLst>
              <a:ext uri="{FF2B5EF4-FFF2-40B4-BE49-F238E27FC236}">
                <a16:creationId xmlns:a16="http://schemas.microsoft.com/office/drawing/2014/main" id="{6AFFF592-D39C-FE83-2EF0-F8D838170618}"/>
              </a:ext>
            </a:extLst>
          </p:cNvPr>
          <p:cNvPicPr>
            <a:picLocks noGrp="1" noChangeAspect="1"/>
          </p:cNvPicPr>
          <p:nvPr>
            <p:ph type="pic" sz="quarter" idx="10"/>
          </p:nvPr>
        </p:nvPicPr>
        <p:blipFill>
          <a:blip r:embed="rId3"/>
          <a:srcRect t="374" b="374"/>
          <a:stretch>
            <a:fillRect/>
          </a:stretch>
        </p:blipFill>
        <p:spPr/>
      </p:pic>
    </p:spTree>
    <p:extLst>
      <p:ext uri="{BB962C8B-B14F-4D97-AF65-F5344CB8AC3E}">
        <p14:creationId xmlns:p14="http://schemas.microsoft.com/office/powerpoint/2010/main" val="1280332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a:t>
            </a:r>
            <a:r>
              <a:rPr lang="es-PE" dirty="0" smtClean="0"/>
              <a:t>structura de la guía BABOK</a:t>
            </a:r>
            <a:r>
              <a:rPr lang="es-PE" dirty="0"/>
              <a:t>®</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LA </a:t>
            </a:r>
            <a:r>
              <a:rPr lang="es-PE" dirty="0" smtClean="0"/>
              <a:t>GUÍA </a:t>
            </a:r>
            <a:r>
              <a:rPr lang="es-PE" dirty="0"/>
              <a:t>BABOK®</a:t>
            </a:r>
          </a:p>
        </p:txBody>
      </p:sp>
      <p:sp>
        <p:nvSpPr>
          <p:cNvPr id="5" name="Marcador de texto 4">
            <a:extLst>
              <a:ext uri="{FF2B5EF4-FFF2-40B4-BE49-F238E27FC236}">
                <a16:creationId xmlns:a16="http://schemas.microsoft.com/office/drawing/2014/main" id="{D5AD5729-0218-4E18-0477-520CB0843F44}"/>
              </a:ext>
            </a:extLst>
          </p:cNvPr>
          <p:cNvSpPr>
            <a:spLocks noGrp="1"/>
          </p:cNvSpPr>
          <p:nvPr>
            <p:ph type="body" sz="quarter" idx="14"/>
          </p:nvPr>
        </p:nvSpPr>
        <p:spPr>
          <a:xfrm>
            <a:off x="468313" y="1158875"/>
            <a:ext cx="4103687" cy="2687411"/>
          </a:xfrm>
        </p:spPr>
        <p:txBody>
          <a:bodyPr/>
          <a:lstStyle/>
          <a:p>
            <a:r>
              <a:rPr lang="es-ES" dirty="0"/>
              <a:t>El contenido central de la Guía BABOK® se compone de </a:t>
            </a:r>
            <a:r>
              <a:rPr lang="es-ES" b="1" dirty="0"/>
              <a:t>tareas de análisis empresarial</a:t>
            </a:r>
            <a:r>
              <a:rPr lang="es-ES" dirty="0"/>
              <a:t> organizadas en áreas de conocimiento.</a:t>
            </a:r>
          </a:p>
          <a:p>
            <a:r>
              <a:rPr lang="es-ES" b="1" dirty="0"/>
              <a:t>Las áreas de conocimiento son una colección de tareas relacionadas </a:t>
            </a:r>
            <a:r>
              <a:rPr lang="es-ES" b="1" dirty="0" smtClean="0"/>
              <a:t>lógicamente, </a:t>
            </a:r>
            <a:r>
              <a:rPr lang="es-ES" dirty="0" smtClean="0"/>
              <a:t>pero </a:t>
            </a:r>
            <a:r>
              <a:rPr lang="es-ES" dirty="0"/>
              <a:t>no </a:t>
            </a:r>
            <a:r>
              <a:rPr lang="es-ES" dirty="0" smtClean="0"/>
              <a:t>secuencialmente.</a:t>
            </a:r>
            <a:endParaRPr lang="es-ES" dirty="0"/>
          </a:p>
          <a:p>
            <a:r>
              <a:rPr lang="es-ES" dirty="0"/>
              <a:t>Estas tareas describen actividades específicas que cumplen el propósito de su área de conocimiento asociada.</a:t>
            </a:r>
          </a:p>
        </p:txBody>
      </p:sp>
      <p:pic>
        <p:nvPicPr>
          <p:cNvPr id="15" name="Marcador de posición de imagen 14">
            <a:extLst>
              <a:ext uri="{FF2B5EF4-FFF2-40B4-BE49-F238E27FC236}">
                <a16:creationId xmlns:a16="http://schemas.microsoft.com/office/drawing/2014/main" id="{FDC8F335-7CD2-1EB7-2E8B-BC3F11B71FB8}"/>
              </a:ext>
            </a:extLst>
          </p:cNvPr>
          <p:cNvPicPr>
            <a:picLocks noGrp="1" noChangeAspect="1"/>
          </p:cNvPicPr>
          <p:nvPr>
            <p:ph type="pic" sz="quarter" idx="10"/>
          </p:nvPr>
        </p:nvPicPr>
        <p:blipFill>
          <a:blip r:embed="rId3"/>
          <a:srcRect t="374" b="374"/>
          <a:stretch>
            <a:fillRect/>
          </a:stretch>
        </p:blipFill>
        <p:spPr/>
      </p:pic>
    </p:spTree>
    <p:extLst>
      <p:ext uri="{BB962C8B-B14F-4D97-AF65-F5344CB8AC3E}">
        <p14:creationId xmlns:p14="http://schemas.microsoft.com/office/powerpoint/2010/main" val="3424803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a:t>
            </a:r>
            <a:r>
              <a:rPr lang="es-PE" dirty="0" smtClean="0"/>
              <a:t>structura de la guía BABOK</a:t>
            </a:r>
            <a:r>
              <a:rPr lang="es-PE" dirty="0"/>
              <a:t>®</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LA </a:t>
            </a:r>
            <a:r>
              <a:rPr lang="es-PE" dirty="0" smtClean="0"/>
              <a:t>GUÍA </a:t>
            </a:r>
            <a:r>
              <a:rPr lang="es-PE" dirty="0"/>
              <a:t>BABOK®</a:t>
            </a:r>
          </a:p>
        </p:txBody>
      </p:sp>
      <p:sp>
        <p:nvSpPr>
          <p:cNvPr id="5" name="Marcador de texto 4">
            <a:extLst>
              <a:ext uri="{FF2B5EF4-FFF2-40B4-BE49-F238E27FC236}">
                <a16:creationId xmlns:a16="http://schemas.microsoft.com/office/drawing/2014/main" id="{D5AD5729-0218-4E18-0477-520CB0843F44}"/>
              </a:ext>
            </a:extLst>
          </p:cNvPr>
          <p:cNvSpPr>
            <a:spLocks noGrp="1"/>
          </p:cNvSpPr>
          <p:nvPr>
            <p:ph type="body" sz="quarter" idx="14"/>
          </p:nvPr>
        </p:nvSpPr>
        <p:spPr>
          <a:xfrm>
            <a:off x="468313" y="1158875"/>
            <a:ext cx="4103687" cy="3754211"/>
          </a:xfrm>
        </p:spPr>
        <p:txBody>
          <a:bodyPr/>
          <a:lstStyle/>
          <a:p>
            <a:pPr marL="0" indent="0">
              <a:buNone/>
            </a:pPr>
            <a:r>
              <a:rPr lang="es-ES" b="1" dirty="0">
                <a:solidFill>
                  <a:srgbClr val="0070C0"/>
                </a:solidFill>
              </a:rPr>
              <a:t>C</a:t>
            </a:r>
            <a:r>
              <a:rPr lang="es-ES" b="1" dirty="0" smtClean="0">
                <a:solidFill>
                  <a:srgbClr val="0070C0"/>
                </a:solidFill>
              </a:rPr>
              <a:t>onceptos clave</a:t>
            </a:r>
          </a:p>
          <a:p>
            <a:r>
              <a:rPr lang="es-ES" dirty="0" smtClean="0"/>
              <a:t>En </a:t>
            </a:r>
            <a:r>
              <a:rPr lang="es-ES" dirty="0"/>
              <a:t>este capítulo, la Guía BABOK® proporciona una comprensión básica de las ideas centrales necesarias para comprenderla.</a:t>
            </a:r>
          </a:p>
          <a:p>
            <a:pPr>
              <a:spcAft>
                <a:spcPts val="600"/>
              </a:spcAft>
            </a:pPr>
            <a:r>
              <a:rPr lang="es-ES" dirty="0"/>
              <a:t>Este capítulo consta de</a:t>
            </a:r>
            <a:r>
              <a:rPr lang="es-ES" dirty="0" smtClean="0"/>
              <a:t>:</a:t>
            </a:r>
            <a:endParaRPr lang="es-ES" dirty="0"/>
          </a:p>
          <a:p>
            <a:pPr lvl="1">
              <a:spcAft>
                <a:spcPts val="600"/>
              </a:spcAft>
            </a:pPr>
            <a:r>
              <a:rPr lang="es-ES" dirty="0"/>
              <a:t>Modelo de Concepto básico de Análisis Empresarial (BACCM™</a:t>
            </a:r>
            <a:r>
              <a:rPr lang="es-ES" dirty="0" smtClean="0"/>
              <a:t>).</a:t>
            </a:r>
            <a:endParaRPr lang="es-ES" dirty="0"/>
          </a:p>
          <a:p>
            <a:pPr lvl="1">
              <a:spcAft>
                <a:spcPts val="600"/>
              </a:spcAft>
            </a:pPr>
            <a:r>
              <a:rPr lang="es-ES" dirty="0"/>
              <a:t>Términos </a:t>
            </a:r>
            <a:r>
              <a:rPr lang="es-ES" dirty="0" smtClean="0"/>
              <a:t>clave.</a:t>
            </a:r>
            <a:endParaRPr lang="es-ES" dirty="0"/>
          </a:p>
          <a:p>
            <a:pPr lvl="1">
              <a:spcAft>
                <a:spcPts val="600"/>
              </a:spcAft>
            </a:pPr>
            <a:r>
              <a:rPr lang="es-ES" dirty="0"/>
              <a:t>Esquema de clasificación de </a:t>
            </a:r>
            <a:r>
              <a:rPr lang="es-ES" dirty="0" smtClean="0"/>
              <a:t>requisitos.</a:t>
            </a:r>
            <a:endParaRPr lang="es-ES" dirty="0"/>
          </a:p>
          <a:p>
            <a:pPr lvl="1">
              <a:spcAft>
                <a:spcPts val="600"/>
              </a:spcAft>
            </a:pPr>
            <a:r>
              <a:rPr lang="es-ES" i="1" dirty="0" smtClean="0"/>
              <a:t>Stakeholders.</a:t>
            </a:r>
            <a:endParaRPr lang="es-ES" i="1" dirty="0"/>
          </a:p>
          <a:p>
            <a:pPr lvl="1">
              <a:spcAft>
                <a:spcPts val="600"/>
              </a:spcAft>
            </a:pPr>
            <a:r>
              <a:rPr lang="es-ES" dirty="0"/>
              <a:t>Requisitos y </a:t>
            </a:r>
            <a:r>
              <a:rPr lang="es-ES" dirty="0" smtClean="0"/>
              <a:t>diseño</a:t>
            </a:r>
            <a:r>
              <a:rPr lang="es-ES" dirty="0"/>
              <a:t>.</a:t>
            </a:r>
            <a:endParaRPr lang="es-PE" dirty="0"/>
          </a:p>
        </p:txBody>
      </p:sp>
      <p:pic>
        <p:nvPicPr>
          <p:cNvPr id="9" name="Marcador de posición de imagen 8">
            <a:extLst>
              <a:ext uri="{FF2B5EF4-FFF2-40B4-BE49-F238E27FC236}">
                <a16:creationId xmlns:a16="http://schemas.microsoft.com/office/drawing/2014/main" id="{1D9AFD8B-6608-502C-5AD6-7E7915D96230}"/>
              </a:ext>
            </a:extLst>
          </p:cNvPr>
          <p:cNvPicPr>
            <a:picLocks noGrp="1" noChangeAspect="1"/>
          </p:cNvPicPr>
          <p:nvPr>
            <p:ph type="pic" sz="quarter" idx="10"/>
          </p:nvPr>
        </p:nvPicPr>
        <p:blipFill>
          <a:blip r:embed="rId3"/>
          <a:srcRect t="268" b="268"/>
          <a:stretch>
            <a:fillRect/>
          </a:stretch>
        </p:blipFill>
        <p:spPr/>
      </p:pic>
    </p:spTree>
    <p:extLst>
      <p:ext uri="{BB962C8B-B14F-4D97-AF65-F5344CB8AC3E}">
        <p14:creationId xmlns:p14="http://schemas.microsoft.com/office/powerpoint/2010/main" val="2704433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a:t>
            </a:r>
            <a:r>
              <a:rPr lang="es-PE" dirty="0" smtClean="0"/>
              <a:t>structura de la guía BABOK</a:t>
            </a:r>
            <a:r>
              <a:rPr lang="es-PE" dirty="0"/>
              <a:t>®</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LA </a:t>
            </a:r>
            <a:r>
              <a:rPr lang="es-PE" dirty="0" smtClean="0"/>
              <a:t>GUÍA </a:t>
            </a:r>
            <a:r>
              <a:rPr lang="es-PE" dirty="0"/>
              <a:t>BABOK®</a:t>
            </a:r>
          </a:p>
        </p:txBody>
      </p:sp>
      <p:sp>
        <p:nvSpPr>
          <p:cNvPr id="5" name="Marcador de texto 4">
            <a:extLst>
              <a:ext uri="{FF2B5EF4-FFF2-40B4-BE49-F238E27FC236}">
                <a16:creationId xmlns:a16="http://schemas.microsoft.com/office/drawing/2014/main" id="{D5AD5729-0218-4E18-0477-520CB0843F44}"/>
              </a:ext>
            </a:extLst>
          </p:cNvPr>
          <p:cNvSpPr>
            <a:spLocks noGrp="1"/>
          </p:cNvSpPr>
          <p:nvPr>
            <p:ph type="body" sz="quarter" idx="14"/>
          </p:nvPr>
        </p:nvSpPr>
        <p:spPr/>
        <p:txBody>
          <a:bodyPr/>
          <a:lstStyle/>
          <a:p>
            <a:pPr marL="0" indent="0">
              <a:buNone/>
            </a:pPr>
            <a:r>
              <a:rPr lang="es-ES" b="1" dirty="0">
                <a:solidFill>
                  <a:srgbClr val="0070C0"/>
                </a:solidFill>
              </a:rPr>
              <a:t>Á</a:t>
            </a:r>
            <a:r>
              <a:rPr lang="es-ES" b="1" dirty="0" smtClean="0">
                <a:solidFill>
                  <a:srgbClr val="0070C0"/>
                </a:solidFill>
              </a:rPr>
              <a:t>reas de conocimiento</a:t>
            </a:r>
          </a:p>
          <a:p>
            <a:pPr algn="just"/>
            <a:r>
              <a:rPr lang="es-ES" dirty="0" smtClean="0"/>
              <a:t>La </a:t>
            </a:r>
            <a:r>
              <a:rPr lang="es-ES" dirty="0"/>
              <a:t>guía del BABOK® tiene 6 áreas de conocimiento, las cuales se pueden abordar en cualquier orden, y representan áreas de especialización en análisis empresarial, que abarcan varias tareas.</a:t>
            </a:r>
          </a:p>
          <a:p>
            <a:r>
              <a:rPr lang="es-ES" dirty="0"/>
              <a:t>En la figura, se muestran las seis </a:t>
            </a:r>
            <a:r>
              <a:rPr lang="es-ES" dirty="0" smtClean="0"/>
              <a:t>áreas </a:t>
            </a:r>
            <a:r>
              <a:rPr lang="es-ES" dirty="0"/>
              <a:t>de conocimiento.</a:t>
            </a:r>
          </a:p>
        </p:txBody>
      </p:sp>
      <p:pic>
        <p:nvPicPr>
          <p:cNvPr id="8" name="Marcador de posición de imagen 7">
            <a:extLst>
              <a:ext uri="{FF2B5EF4-FFF2-40B4-BE49-F238E27FC236}">
                <a16:creationId xmlns:a16="http://schemas.microsoft.com/office/drawing/2014/main" id="{A59C76B2-64A0-90D1-B4D9-7673D1DD2D24}"/>
              </a:ext>
            </a:extLst>
          </p:cNvPr>
          <p:cNvPicPr>
            <a:picLocks noGrp="1" noChangeAspect="1"/>
          </p:cNvPicPr>
          <p:nvPr>
            <p:ph type="pic" sz="quarter" idx="10"/>
          </p:nvPr>
        </p:nvPicPr>
        <p:blipFill>
          <a:blip r:embed="rId3"/>
          <a:srcRect t="403" b="403"/>
          <a:stretch>
            <a:fillRect/>
          </a:stretch>
        </p:blipFill>
        <p:spPr/>
      </p:pic>
    </p:spTree>
    <p:extLst>
      <p:ext uri="{BB962C8B-B14F-4D97-AF65-F5344CB8AC3E}">
        <p14:creationId xmlns:p14="http://schemas.microsoft.com/office/powerpoint/2010/main" val="2718483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a:t>
            </a:r>
            <a:r>
              <a:rPr lang="es-PE" dirty="0" smtClean="0"/>
              <a:t>structura de la guía BABOK</a:t>
            </a:r>
            <a:r>
              <a:rPr lang="es-PE" dirty="0"/>
              <a:t>®</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LA </a:t>
            </a:r>
            <a:r>
              <a:rPr lang="es-PE" dirty="0" smtClean="0"/>
              <a:t>GUÍA </a:t>
            </a:r>
            <a:r>
              <a:rPr lang="es-PE" dirty="0"/>
              <a:t>BABOK®</a:t>
            </a:r>
          </a:p>
        </p:txBody>
      </p:sp>
      <p:sp>
        <p:nvSpPr>
          <p:cNvPr id="5" name="Marcador de texto 4">
            <a:extLst>
              <a:ext uri="{FF2B5EF4-FFF2-40B4-BE49-F238E27FC236}">
                <a16:creationId xmlns:a16="http://schemas.microsoft.com/office/drawing/2014/main" id="{D5AD5729-0218-4E18-0477-520CB0843F44}"/>
              </a:ext>
            </a:extLst>
          </p:cNvPr>
          <p:cNvSpPr>
            <a:spLocks noGrp="1"/>
          </p:cNvSpPr>
          <p:nvPr>
            <p:ph type="body" sz="quarter" idx="14"/>
          </p:nvPr>
        </p:nvSpPr>
        <p:spPr>
          <a:xfrm>
            <a:off x="468313" y="1158876"/>
            <a:ext cx="4103687" cy="3319340"/>
          </a:xfrm>
        </p:spPr>
        <p:txBody>
          <a:bodyPr/>
          <a:lstStyle/>
          <a:p>
            <a:pPr marL="0" indent="0">
              <a:buNone/>
            </a:pPr>
            <a:r>
              <a:rPr lang="es-ES" b="1" dirty="0">
                <a:solidFill>
                  <a:srgbClr val="0070C0"/>
                </a:solidFill>
              </a:rPr>
              <a:t>T</a:t>
            </a:r>
            <a:r>
              <a:rPr lang="es-ES" b="1" dirty="0" smtClean="0">
                <a:solidFill>
                  <a:srgbClr val="0070C0"/>
                </a:solidFill>
              </a:rPr>
              <a:t>areas</a:t>
            </a:r>
          </a:p>
          <a:p>
            <a:r>
              <a:rPr lang="es-ES" dirty="0" smtClean="0"/>
              <a:t>Tarea </a:t>
            </a:r>
            <a:r>
              <a:rPr lang="es-ES" dirty="0"/>
              <a:t>es un </a:t>
            </a:r>
            <a:r>
              <a:rPr lang="es-ES" b="1" dirty="0"/>
              <a:t>trabajo discreto que se puede realizar de manera formal o informal</a:t>
            </a:r>
            <a:r>
              <a:rPr lang="es-ES" dirty="0"/>
              <a:t> como parte del análisis empresarial.</a:t>
            </a:r>
          </a:p>
          <a:p>
            <a:r>
              <a:rPr lang="es-ES" dirty="0"/>
              <a:t>La Guía </a:t>
            </a:r>
            <a:r>
              <a:rPr lang="es-ES" b="1" dirty="0"/>
              <a:t>BABOK® define una lista de tareas de análisis empresarial</a:t>
            </a:r>
            <a:r>
              <a:rPr lang="es-ES" dirty="0"/>
              <a:t>. Los analistas de negocios realizan tareas de todas las áreas de conocimiento de forma secuencial, iterativa o simultánea.</a:t>
            </a:r>
          </a:p>
          <a:p>
            <a:r>
              <a:rPr lang="es-ES" dirty="0"/>
              <a:t>La Guía BABOK® no prescribe un proceso ni un orden en el que se realicen las tareas.</a:t>
            </a:r>
          </a:p>
        </p:txBody>
      </p:sp>
      <p:pic>
        <p:nvPicPr>
          <p:cNvPr id="4" name="Marcador de posición de imagen 3">
            <a:extLst>
              <a:ext uri="{FF2B5EF4-FFF2-40B4-BE49-F238E27FC236}">
                <a16:creationId xmlns:a16="http://schemas.microsoft.com/office/drawing/2014/main" id="{B5119333-D07B-23F0-5672-D7D07C113029}"/>
              </a:ext>
            </a:extLst>
          </p:cNvPr>
          <p:cNvPicPr>
            <a:picLocks noGrp="1" noChangeAspect="1"/>
          </p:cNvPicPr>
          <p:nvPr>
            <p:ph type="pic" sz="quarter" idx="10"/>
          </p:nvPr>
        </p:nvPicPr>
        <p:blipFill>
          <a:blip r:embed="rId3"/>
          <a:srcRect t="382" b="382"/>
          <a:stretch/>
        </p:blipFill>
        <p:spPr/>
      </p:pic>
    </p:spTree>
    <p:extLst>
      <p:ext uri="{BB962C8B-B14F-4D97-AF65-F5344CB8AC3E}">
        <p14:creationId xmlns:p14="http://schemas.microsoft.com/office/powerpoint/2010/main" val="2573373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a:t>
            </a:r>
            <a:r>
              <a:rPr lang="es-PE" dirty="0" smtClean="0"/>
              <a:t>structura de la guía BABOK</a:t>
            </a:r>
            <a:r>
              <a:rPr lang="es-PE" dirty="0"/>
              <a:t>®</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LA </a:t>
            </a:r>
            <a:r>
              <a:rPr lang="es-PE" dirty="0" smtClean="0"/>
              <a:t>GUÍA </a:t>
            </a:r>
            <a:r>
              <a:rPr lang="es-PE" dirty="0"/>
              <a:t>BABOK®</a:t>
            </a:r>
          </a:p>
        </p:txBody>
      </p:sp>
      <p:sp>
        <p:nvSpPr>
          <p:cNvPr id="5" name="Marcador de texto 4">
            <a:extLst>
              <a:ext uri="{FF2B5EF4-FFF2-40B4-BE49-F238E27FC236}">
                <a16:creationId xmlns:a16="http://schemas.microsoft.com/office/drawing/2014/main" id="{D5AD5729-0218-4E18-0477-520CB0843F44}"/>
              </a:ext>
            </a:extLst>
          </p:cNvPr>
          <p:cNvSpPr>
            <a:spLocks noGrp="1"/>
          </p:cNvSpPr>
          <p:nvPr>
            <p:ph type="body" sz="quarter" idx="14"/>
          </p:nvPr>
        </p:nvSpPr>
        <p:spPr/>
        <p:txBody>
          <a:bodyPr/>
          <a:lstStyle/>
          <a:p>
            <a:pPr marL="0" indent="0">
              <a:buNone/>
            </a:pPr>
            <a:r>
              <a:rPr lang="es-ES" b="1" dirty="0">
                <a:solidFill>
                  <a:srgbClr val="0070C0"/>
                </a:solidFill>
              </a:rPr>
              <a:t>C</a:t>
            </a:r>
            <a:r>
              <a:rPr lang="es-ES" b="1" dirty="0" smtClean="0">
                <a:solidFill>
                  <a:srgbClr val="0070C0"/>
                </a:solidFill>
              </a:rPr>
              <a:t>ompetencias subyacentes</a:t>
            </a:r>
          </a:p>
          <a:p>
            <a:pPr>
              <a:spcAft>
                <a:spcPts val="300"/>
              </a:spcAft>
            </a:pPr>
            <a:r>
              <a:rPr lang="es-ES" dirty="0" smtClean="0"/>
              <a:t>Reflejan </a:t>
            </a:r>
            <a:r>
              <a:rPr lang="es-ES" dirty="0"/>
              <a:t>aquellas consideraciones que ayudan a que el </a:t>
            </a:r>
            <a:r>
              <a:rPr lang="es-ES" dirty="0" smtClean="0"/>
              <a:t>analista </a:t>
            </a:r>
            <a:r>
              <a:rPr lang="es-ES" dirty="0"/>
              <a:t>de negocios pueda </a:t>
            </a:r>
            <a:r>
              <a:rPr lang="es-ES" b="1" dirty="0"/>
              <a:t>desempeñar con éxito su rol</a:t>
            </a:r>
            <a:r>
              <a:rPr lang="es-ES" dirty="0"/>
              <a:t>, entre ellos:</a:t>
            </a:r>
          </a:p>
          <a:p>
            <a:pPr lvl="1">
              <a:spcAft>
                <a:spcPts val="300"/>
              </a:spcAft>
            </a:pPr>
            <a:r>
              <a:rPr lang="es-ES" dirty="0"/>
              <a:t>El </a:t>
            </a:r>
            <a:r>
              <a:rPr lang="es-ES" dirty="0" smtClean="0"/>
              <a:t>conocimiento.</a:t>
            </a:r>
            <a:endParaRPr lang="es-ES" dirty="0"/>
          </a:p>
          <a:p>
            <a:pPr lvl="1">
              <a:spcAft>
                <a:spcPts val="300"/>
              </a:spcAft>
            </a:pPr>
            <a:r>
              <a:rPr lang="es-ES" dirty="0"/>
              <a:t>Las </a:t>
            </a:r>
            <a:r>
              <a:rPr lang="es-ES" dirty="0" smtClean="0"/>
              <a:t>habilidades.</a:t>
            </a:r>
            <a:endParaRPr lang="es-ES" dirty="0"/>
          </a:p>
          <a:p>
            <a:pPr lvl="1">
              <a:spcAft>
                <a:spcPts val="300"/>
              </a:spcAft>
            </a:pPr>
            <a:r>
              <a:rPr lang="es-ES" dirty="0"/>
              <a:t>Los </a:t>
            </a:r>
            <a:r>
              <a:rPr lang="es-ES" dirty="0" smtClean="0"/>
              <a:t>comportamientos.</a:t>
            </a:r>
            <a:endParaRPr lang="es-ES" dirty="0"/>
          </a:p>
          <a:p>
            <a:pPr lvl="1">
              <a:spcAft>
                <a:spcPts val="300"/>
              </a:spcAft>
            </a:pPr>
            <a:r>
              <a:rPr lang="es-ES" dirty="0"/>
              <a:t>Las </a:t>
            </a:r>
            <a:r>
              <a:rPr lang="es-ES" dirty="0" smtClean="0"/>
              <a:t>características.</a:t>
            </a:r>
          </a:p>
          <a:p>
            <a:pPr lvl="1">
              <a:spcAft>
                <a:spcPts val="300"/>
              </a:spcAft>
            </a:pPr>
            <a:r>
              <a:rPr lang="es-ES" dirty="0" smtClean="0"/>
              <a:t>Las </a:t>
            </a:r>
            <a:r>
              <a:rPr lang="es-ES" dirty="0"/>
              <a:t>cualidades personales.</a:t>
            </a:r>
          </a:p>
          <a:p>
            <a:r>
              <a:rPr lang="es-ES" dirty="0"/>
              <a:t>Estas competencias subyacentes no son exclusivas del </a:t>
            </a:r>
            <a:r>
              <a:rPr lang="es-ES" dirty="0" smtClean="0"/>
              <a:t>analista </a:t>
            </a:r>
            <a:r>
              <a:rPr lang="es-ES" dirty="0"/>
              <a:t>e</a:t>
            </a:r>
            <a:r>
              <a:rPr lang="es-ES" dirty="0" smtClean="0"/>
              <a:t>mpresarial</a:t>
            </a:r>
            <a:r>
              <a:rPr lang="es-ES" dirty="0"/>
              <a:t>; sin embargo, </a:t>
            </a:r>
            <a:r>
              <a:rPr lang="es-ES" b="1" dirty="0"/>
              <a:t>la ejecución exitosa de tareas y técnicas a menudo depende del dominio de una o más competencias subyacentes</a:t>
            </a:r>
            <a:r>
              <a:rPr lang="es-ES" dirty="0"/>
              <a:t>.</a:t>
            </a:r>
          </a:p>
        </p:txBody>
      </p:sp>
      <p:pic>
        <p:nvPicPr>
          <p:cNvPr id="4" name="Marcador de posición de imagen 3">
            <a:extLst>
              <a:ext uri="{FF2B5EF4-FFF2-40B4-BE49-F238E27FC236}">
                <a16:creationId xmlns:a16="http://schemas.microsoft.com/office/drawing/2014/main" id="{EF50BAD4-A607-E051-EA15-92ACC51948E8}"/>
              </a:ext>
            </a:extLst>
          </p:cNvPr>
          <p:cNvPicPr>
            <a:picLocks noGrp="1" noChangeAspect="1"/>
          </p:cNvPicPr>
          <p:nvPr>
            <p:ph type="pic" sz="quarter" idx="10"/>
          </p:nvPr>
        </p:nvPicPr>
        <p:blipFill>
          <a:blip r:embed="rId3"/>
          <a:srcRect t="374" b="374"/>
          <a:stretch>
            <a:fillRect/>
          </a:stretch>
        </p:blipFill>
        <p:spPr/>
      </p:pic>
    </p:spTree>
    <p:extLst>
      <p:ext uri="{BB962C8B-B14F-4D97-AF65-F5344CB8AC3E}">
        <p14:creationId xmlns:p14="http://schemas.microsoft.com/office/powerpoint/2010/main" val="3217025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a:t>
            </a:r>
            <a:r>
              <a:rPr lang="es-PE" dirty="0" smtClean="0"/>
              <a:t>structura de la guía BABOK</a:t>
            </a:r>
            <a:r>
              <a:rPr lang="es-PE" dirty="0"/>
              <a:t>®</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LA </a:t>
            </a:r>
            <a:r>
              <a:rPr lang="es-PE" dirty="0" smtClean="0"/>
              <a:t>GUÍA </a:t>
            </a:r>
            <a:r>
              <a:rPr lang="es-PE" dirty="0"/>
              <a:t>BABOK®</a:t>
            </a:r>
          </a:p>
        </p:txBody>
      </p:sp>
      <p:sp>
        <p:nvSpPr>
          <p:cNvPr id="5" name="Marcador de texto 4">
            <a:extLst>
              <a:ext uri="{FF2B5EF4-FFF2-40B4-BE49-F238E27FC236}">
                <a16:creationId xmlns:a16="http://schemas.microsoft.com/office/drawing/2014/main" id="{D5AD5729-0218-4E18-0477-520CB0843F44}"/>
              </a:ext>
            </a:extLst>
          </p:cNvPr>
          <p:cNvSpPr>
            <a:spLocks noGrp="1"/>
          </p:cNvSpPr>
          <p:nvPr>
            <p:ph type="body" sz="quarter" idx="14"/>
          </p:nvPr>
        </p:nvSpPr>
        <p:spPr>
          <a:xfrm>
            <a:off x="468313" y="1158875"/>
            <a:ext cx="4103687" cy="3268345"/>
          </a:xfrm>
        </p:spPr>
        <p:txBody>
          <a:bodyPr/>
          <a:lstStyle/>
          <a:p>
            <a:pPr marL="0" indent="0">
              <a:buNone/>
            </a:pPr>
            <a:r>
              <a:rPr lang="es-ES" b="1" dirty="0">
                <a:solidFill>
                  <a:srgbClr val="0070C0"/>
                </a:solidFill>
              </a:rPr>
              <a:t>T</a:t>
            </a:r>
            <a:r>
              <a:rPr lang="es-ES" b="1" dirty="0" smtClean="0">
                <a:solidFill>
                  <a:srgbClr val="0070C0"/>
                </a:solidFill>
              </a:rPr>
              <a:t>écnicas</a:t>
            </a:r>
          </a:p>
          <a:p>
            <a:r>
              <a:rPr lang="es-ES" dirty="0" smtClean="0"/>
              <a:t>Las </a:t>
            </a:r>
            <a:r>
              <a:rPr lang="es-ES" dirty="0"/>
              <a:t>técnicas proporcionan información adicional sobre </a:t>
            </a:r>
            <a:r>
              <a:rPr lang="es-ES" b="1" dirty="0"/>
              <a:t>las formas en que se puede realizar una tarea</a:t>
            </a:r>
            <a:r>
              <a:rPr lang="es-ES" dirty="0"/>
              <a:t>.</a:t>
            </a:r>
          </a:p>
          <a:p>
            <a:r>
              <a:rPr lang="es-ES" dirty="0"/>
              <a:t>La lista de técnicas incluidas en la Guía BABOK® </a:t>
            </a:r>
            <a:r>
              <a:rPr lang="es-ES" b="1" dirty="0"/>
              <a:t>no es exhaustiva</a:t>
            </a:r>
            <a:r>
              <a:rPr lang="es-ES" dirty="0"/>
              <a:t>.</a:t>
            </a:r>
          </a:p>
          <a:p>
            <a:r>
              <a:rPr lang="es-ES" dirty="0"/>
              <a:t>Se alienta a los </a:t>
            </a:r>
            <a:r>
              <a:rPr lang="es-ES" dirty="0" smtClean="0"/>
              <a:t>analistas </a:t>
            </a:r>
            <a:r>
              <a:rPr lang="es-ES" dirty="0"/>
              <a:t>de negocios a </a:t>
            </a:r>
            <a:r>
              <a:rPr lang="es-ES" b="1" dirty="0"/>
              <a:t>modificar las técnicas existentes</a:t>
            </a:r>
            <a:r>
              <a:rPr lang="es-ES" dirty="0"/>
              <a:t> o </a:t>
            </a:r>
            <a:r>
              <a:rPr lang="es-ES" b="1" dirty="0"/>
              <a:t>diseñar otras nuevas</a:t>
            </a:r>
            <a:r>
              <a:rPr lang="es-ES" dirty="0"/>
              <a:t> para que </a:t>
            </a:r>
            <a:r>
              <a:rPr lang="es-ES" b="1" dirty="0"/>
              <a:t>se adapten mejor a su situación</a:t>
            </a:r>
            <a:r>
              <a:rPr lang="es-ES" dirty="0"/>
              <a:t> y a los objetivos de las tareas que realizan.</a:t>
            </a:r>
          </a:p>
        </p:txBody>
      </p:sp>
      <p:pic>
        <p:nvPicPr>
          <p:cNvPr id="4" name="Marcador de posición de imagen 3">
            <a:extLst>
              <a:ext uri="{FF2B5EF4-FFF2-40B4-BE49-F238E27FC236}">
                <a16:creationId xmlns:a16="http://schemas.microsoft.com/office/drawing/2014/main" id="{54252286-6265-C225-5FC9-E12999191B05}"/>
              </a:ext>
            </a:extLst>
          </p:cNvPr>
          <p:cNvPicPr>
            <a:picLocks noGrp="1" noChangeAspect="1"/>
          </p:cNvPicPr>
          <p:nvPr>
            <p:ph type="pic" sz="quarter" idx="10"/>
          </p:nvPr>
        </p:nvPicPr>
        <p:blipFill>
          <a:blip r:embed="rId3"/>
          <a:srcRect t="374" b="374"/>
          <a:stretch>
            <a:fillRect/>
          </a:stretch>
        </p:blipFill>
        <p:spPr/>
      </p:pic>
    </p:spTree>
    <p:extLst>
      <p:ext uri="{BB962C8B-B14F-4D97-AF65-F5344CB8AC3E}">
        <p14:creationId xmlns:p14="http://schemas.microsoft.com/office/powerpoint/2010/main" val="941987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a:t>
            </a:r>
            <a:r>
              <a:rPr lang="es-PE" dirty="0" smtClean="0"/>
              <a:t>structura de la guía BABOK</a:t>
            </a:r>
            <a:r>
              <a:rPr lang="es-PE" dirty="0"/>
              <a:t>®</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LA </a:t>
            </a:r>
            <a:r>
              <a:rPr lang="es-PE" dirty="0" smtClean="0"/>
              <a:t>GUÍA </a:t>
            </a:r>
            <a:r>
              <a:rPr lang="es-PE" dirty="0"/>
              <a:t>BABOK®</a:t>
            </a:r>
          </a:p>
        </p:txBody>
      </p:sp>
      <p:sp>
        <p:nvSpPr>
          <p:cNvPr id="5" name="Marcador de texto 4">
            <a:extLst>
              <a:ext uri="{FF2B5EF4-FFF2-40B4-BE49-F238E27FC236}">
                <a16:creationId xmlns:a16="http://schemas.microsoft.com/office/drawing/2014/main" id="{D5AD5729-0218-4E18-0477-520CB0843F44}"/>
              </a:ext>
            </a:extLst>
          </p:cNvPr>
          <p:cNvSpPr>
            <a:spLocks noGrp="1"/>
          </p:cNvSpPr>
          <p:nvPr>
            <p:ph type="body" sz="quarter" idx="14"/>
          </p:nvPr>
        </p:nvSpPr>
        <p:spPr>
          <a:xfrm>
            <a:off x="468313" y="1158875"/>
            <a:ext cx="4103687" cy="3974599"/>
          </a:xfrm>
        </p:spPr>
        <p:txBody>
          <a:bodyPr/>
          <a:lstStyle/>
          <a:p>
            <a:pPr marL="0" indent="0">
              <a:buNone/>
            </a:pPr>
            <a:r>
              <a:rPr lang="es-ES" b="1" dirty="0">
                <a:solidFill>
                  <a:srgbClr val="0070C0"/>
                </a:solidFill>
              </a:rPr>
              <a:t>P</a:t>
            </a:r>
            <a:r>
              <a:rPr lang="es-ES" b="1" dirty="0" smtClean="0">
                <a:solidFill>
                  <a:srgbClr val="0070C0"/>
                </a:solidFill>
              </a:rPr>
              <a:t>erspectivas</a:t>
            </a:r>
          </a:p>
          <a:p>
            <a:r>
              <a:rPr lang="es-ES" dirty="0" smtClean="0"/>
              <a:t>Son </a:t>
            </a:r>
            <a:r>
              <a:rPr lang="es-ES" dirty="0"/>
              <a:t>tareas y técnicas específicas del contexto de la iniciativa.</a:t>
            </a:r>
          </a:p>
          <a:p>
            <a:pPr>
              <a:spcAft>
                <a:spcPts val="300"/>
              </a:spcAft>
            </a:pPr>
            <a:r>
              <a:rPr lang="es-ES" dirty="0"/>
              <a:t>Las perspectivas </a:t>
            </a:r>
            <a:r>
              <a:rPr lang="es-ES" dirty="0" smtClean="0"/>
              <a:t>incluidas son las siguientes:</a:t>
            </a:r>
            <a:endParaRPr lang="es-ES" dirty="0"/>
          </a:p>
          <a:p>
            <a:pPr lvl="1">
              <a:spcAft>
                <a:spcPts val="300"/>
              </a:spcAft>
            </a:pPr>
            <a:r>
              <a:rPr lang="es-ES" dirty="0" smtClean="0"/>
              <a:t>Ágil.</a:t>
            </a:r>
            <a:endParaRPr lang="es-ES" dirty="0"/>
          </a:p>
          <a:p>
            <a:pPr lvl="1">
              <a:spcAft>
                <a:spcPts val="300"/>
              </a:spcAft>
            </a:pPr>
            <a:r>
              <a:rPr lang="es-ES" dirty="0"/>
              <a:t>Inteligencia de </a:t>
            </a:r>
            <a:r>
              <a:rPr lang="es-ES" dirty="0"/>
              <a:t>n</a:t>
            </a:r>
            <a:r>
              <a:rPr lang="es-ES" dirty="0" smtClean="0"/>
              <a:t>egocio.</a:t>
            </a:r>
            <a:endParaRPr lang="es-ES" dirty="0"/>
          </a:p>
          <a:p>
            <a:pPr lvl="1">
              <a:spcAft>
                <a:spcPts val="300"/>
              </a:spcAft>
            </a:pPr>
            <a:r>
              <a:rPr lang="es-ES" dirty="0"/>
              <a:t>Tecnologías de la </a:t>
            </a:r>
            <a:r>
              <a:rPr lang="es-ES" dirty="0" smtClean="0"/>
              <a:t>información.</a:t>
            </a:r>
            <a:endParaRPr lang="es-ES" dirty="0"/>
          </a:p>
          <a:p>
            <a:pPr lvl="1">
              <a:spcAft>
                <a:spcPts val="300"/>
              </a:spcAft>
            </a:pPr>
            <a:r>
              <a:rPr lang="es-ES" dirty="0"/>
              <a:t>Arquitectura </a:t>
            </a:r>
            <a:r>
              <a:rPr lang="es-ES" dirty="0"/>
              <a:t>e</a:t>
            </a:r>
            <a:r>
              <a:rPr lang="es-ES" dirty="0" smtClean="0"/>
              <a:t>mpresarial.</a:t>
            </a:r>
            <a:endParaRPr lang="es-ES" dirty="0"/>
          </a:p>
          <a:p>
            <a:pPr lvl="1"/>
            <a:r>
              <a:rPr lang="es-ES" dirty="0"/>
              <a:t>Gestión de </a:t>
            </a:r>
            <a:r>
              <a:rPr lang="es-ES" dirty="0" smtClean="0"/>
              <a:t>procesos </a:t>
            </a:r>
            <a:r>
              <a:rPr lang="es-ES" dirty="0"/>
              <a:t>de </a:t>
            </a:r>
            <a:r>
              <a:rPr lang="es-ES" dirty="0" smtClean="0"/>
              <a:t>negocio.</a:t>
            </a:r>
            <a:endParaRPr lang="es-ES" dirty="0"/>
          </a:p>
          <a:p>
            <a:r>
              <a:rPr lang="es-ES" dirty="0"/>
              <a:t>Las perspectivas </a:t>
            </a:r>
            <a:r>
              <a:rPr lang="es-ES" b="1" dirty="0"/>
              <a:t>no son mutuamente excluyentes</a:t>
            </a:r>
            <a:r>
              <a:rPr lang="es-ES" dirty="0"/>
              <a:t>, en el sentido de que una iniciativa dada puede emplear más de una perspectiva.</a:t>
            </a:r>
          </a:p>
        </p:txBody>
      </p:sp>
      <p:pic>
        <p:nvPicPr>
          <p:cNvPr id="11" name="Marcador de posición de imagen 10">
            <a:extLst>
              <a:ext uri="{FF2B5EF4-FFF2-40B4-BE49-F238E27FC236}">
                <a16:creationId xmlns:a16="http://schemas.microsoft.com/office/drawing/2014/main" id="{C93500FF-E6F3-A80D-5E90-88379F4E3610}"/>
              </a:ext>
            </a:extLst>
          </p:cNvPr>
          <p:cNvPicPr>
            <a:picLocks noGrp="1" noChangeAspect="1"/>
          </p:cNvPicPr>
          <p:nvPr>
            <p:ph type="pic" sz="quarter" idx="10"/>
          </p:nvPr>
        </p:nvPicPr>
        <p:blipFill>
          <a:blip r:embed="rId3"/>
          <a:srcRect t="374" b="374"/>
          <a:stretch>
            <a:fillRect/>
          </a:stretch>
        </p:blipFill>
        <p:spPr/>
      </p:pic>
    </p:spTree>
    <p:extLst>
      <p:ext uri="{BB962C8B-B14F-4D97-AF65-F5344CB8AC3E}">
        <p14:creationId xmlns:p14="http://schemas.microsoft.com/office/powerpoint/2010/main" val="2129784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2"/>
            <a:ext cx="5543549" cy="512254"/>
          </a:xfrm>
        </p:spPr>
        <p:txBody>
          <a:bodyPr/>
          <a:lstStyle/>
          <a:p>
            <a:pPr marL="274638" indent="-274638">
              <a:tabLst>
                <a:tab pos="274638" algn="l"/>
              </a:tabLst>
            </a:pPr>
            <a:r>
              <a:rPr lang="es-PE" dirty="0"/>
              <a:t>/	CONCEPTOS CENTRALES</a:t>
            </a:r>
          </a:p>
        </p:txBody>
      </p:sp>
    </p:spTree>
    <p:custDataLst>
      <p:tags r:id="rId1"/>
    </p:custDataLst>
    <p:extLst>
      <p:ext uri="{BB962C8B-B14F-4D97-AF65-F5344CB8AC3E}">
        <p14:creationId xmlns:p14="http://schemas.microsoft.com/office/powerpoint/2010/main" val="3568439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a:t>
            </a:r>
            <a:r>
              <a:rPr lang="es-PE" dirty="0" smtClean="0"/>
              <a:t>onceptos </a:t>
            </a:r>
            <a:r>
              <a:rPr lang="es-PE" i="1" dirty="0" smtClean="0"/>
              <a:t>core</a:t>
            </a:r>
            <a:r>
              <a:rPr lang="es-PE" dirty="0" smtClean="0"/>
              <a:t> del análisis empresarial</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CONCEPTOS CENTRALES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6"/>
            <a:ext cx="4103687" cy="3693862"/>
          </a:xfrm>
          <a:prstGeom prst="rect">
            <a:avLst/>
          </a:prstGeom>
        </p:spPr>
        <p:txBody>
          <a:bodyPr/>
          <a:lstStyle/>
          <a:p>
            <a:r>
              <a:rPr lang="es-ES" dirty="0"/>
              <a:t>El Business Analysis Core Concept Model™ (BACCM™) es un </a:t>
            </a:r>
            <a:r>
              <a:rPr lang="es-ES" b="1" dirty="0"/>
              <a:t>marco conceptual</a:t>
            </a:r>
            <a:r>
              <a:rPr lang="es-ES" dirty="0"/>
              <a:t> para el análisis empresarial.</a:t>
            </a:r>
          </a:p>
          <a:p>
            <a:r>
              <a:rPr lang="es-ES" dirty="0"/>
              <a:t>Abarca </a:t>
            </a:r>
            <a:r>
              <a:rPr lang="es-ES" b="1" dirty="0"/>
              <a:t>qué es el análisis empresarial</a:t>
            </a:r>
            <a:r>
              <a:rPr lang="es-ES" dirty="0"/>
              <a:t> y qué significa para quienes realizan tareas de análisis de negocios, </a:t>
            </a:r>
            <a:r>
              <a:rPr lang="es-ES" b="1" dirty="0"/>
              <a:t>independientemente de la perspectiva, la industria, la metodología</a:t>
            </a:r>
            <a:r>
              <a:rPr lang="es-ES" dirty="0"/>
              <a:t> o el nivel en la organización.</a:t>
            </a:r>
          </a:p>
          <a:p>
            <a:r>
              <a:rPr lang="es-ES" dirty="0"/>
              <a:t>Se compone de seis términos que </a:t>
            </a:r>
            <a:r>
              <a:rPr lang="es-ES" b="1" dirty="0"/>
              <a:t>tienen un significado común para todos los analistas de negocios</a:t>
            </a:r>
            <a:r>
              <a:rPr lang="es-ES" dirty="0"/>
              <a:t> y les ayuda a analizar tanto el análisis de negocios como sus relaciones con una terminología común.</a:t>
            </a:r>
          </a:p>
        </p:txBody>
      </p:sp>
      <p:pic>
        <p:nvPicPr>
          <p:cNvPr id="3" name="Marcador de posición de imagen 2">
            <a:extLst>
              <a:ext uri="{FF2B5EF4-FFF2-40B4-BE49-F238E27FC236}">
                <a16:creationId xmlns:a16="http://schemas.microsoft.com/office/drawing/2014/main" id="{CE6CADAA-893B-07D1-9DB5-BFBA22EADE29}"/>
              </a:ext>
            </a:extLst>
          </p:cNvPr>
          <p:cNvPicPr>
            <a:picLocks noGrp="1" noChangeAspect="1"/>
          </p:cNvPicPr>
          <p:nvPr>
            <p:ph type="pic" sz="quarter" idx="10"/>
          </p:nvPr>
        </p:nvPicPr>
        <p:blipFill>
          <a:blip r:embed="rId3"/>
          <a:srcRect t="374" b="374"/>
          <a:stretch>
            <a:fillRect/>
          </a:stretch>
        </p:blipFill>
        <p:spPr/>
      </p:pic>
    </p:spTree>
    <p:extLst>
      <p:ext uri="{BB962C8B-B14F-4D97-AF65-F5344CB8AC3E}">
        <p14:creationId xmlns:p14="http://schemas.microsoft.com/office/powerpoint/2010/main" val="2760191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Conceptos </a:t>
            </a:r>
            <a:r>
              <a:rPr lang="es-PE" i="1" dirty="0"/>
              <a:t>core</a:t>
            </a:r>
            <a:r>
              <a:rPr lang="es-PE" dirty="0"/>
              <a:t> del análisis empresarial</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CONCEPTOS CENTRALES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6"/>
            <a:ext cx="4103687" cy="3389062"/>
          </a:xfrm>
          <a:prstGeom prst="rect">
            <a:avLst/>
          </a:prstGeom>
        </p:spPr>
        <p:txBody>
          <a:bodyPr/>
          <a:lstStyle/>
          <a:p>
            <a:r>
              <a:rPr lang="es-ES" u="sng" dirty="0"/>
              <a:t>Cada concepto central es una idea fundamental para la práctica del análisis empresarial, </a:t>
            </a:r>
            <a:r>
              <a:rPr lang="es-ES" dirty="0"/>
              <a:t>y </a:t>
            </a:r>
            <a:r>
              <a:rPr lang="es-ES" b="1" dirty="0"/>
              <a:t>todos los conceptos son iguales y necesarios</a:t>
            </a:r>
            <a:r>
              <a:rPr lang="es-ES" dirty="0"/>
              <a:t>.</a:t>
            </a:r>
          </a:p>
          <a:p>
            <a:r>
              <a:rPr lang="es-ES" dirty="0"/>
              <a:t>Cada concepto central está definido por los otros cinco conceptos centrales y no puede entenderse completamente hasta que se comprendan todos los conceptos.</a:t>
            </a:r>
          </a:p>
          <a:p>
            <a:r>
              <a:rPr lang="es-ES" dirty="0"/>
              <a:t>Estos conceptos </a:t>
            </a:r>
            <a:r>
              <a:rPr lang="es-ES" b="1" dirty="0"/>
              <a:t>son fundamentales</a:t>
            </a:r>
            <a:r>
              <a:rPr lang="es-ES" dirty="0"/>
              <a:t> para comprender el tipo de información obtenida, analizada o gestionada en las tareas de análisis empresarial.</a:t>
            </a:r>
          </a:p>
        </p:txBody>
      </p:sp>
      <p:pic>
        <p:nvPicPr>
          <p:cNvPr id="6" name="Marcador de posición de imagen 5">
            <a:extLst>
              <a:ext uri="{FF2B5EF4-FFF2-40B4-BE49-F238E27FC236}">
                <a16:creationId xmlns:a16="http://schemas.microsoft.com/office/drawing/2014/main" id="{7FD0FA03-200C-8F87-6D4E-E0A02A7D8123}"/>
              </a:ext>
            </a:extLst>
          </p:cNvPr>
          <p:cNvPicPr>
            <a:picLocks noGrp="1" noChangeAspect="1"/>
          </p:cNvPicPr>
          <p:nvPr>
            <p:ph type="pic" sz="quarter" idx="10"/>
          </p:nvPr>
        </p:nvPicPr>
        <p:blipFill>
          <a:blip r:embed="rId3"/>
          <a:srcRect t="480" b="480"/>
          <a:stretch>
            <a:fillRect/>
          </a:stretch>
        </p:blipFill>
        <p:spPr/>
      </p:pic>
    </p:spTree>
    <p:extLst>
      <p:ext uri="{BB962C8B-B14F-4D97-AF65-F5344CB8AC3E}">
        <p14:creationId xmlns:p14="http://schemas.microsoft.com/office/powerpoint/2010/main" val="1931031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U</a:t>
            </a:r>
            <a:r>
              <a:rPr lang="es-PE" dirty="0" smtClean="0"/>
              <a:t>sos del BACCM</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CONCEPTOS CENTRALES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prstGeom prst="rect">
            <a:avLst/>
          </a:prstGeom>
        </p:spPr>
        <p:txBody>
          <a:bodyPr/>
          <a:lstStyle/>
          <a:p>
            <a:pPr marL="274638" indent="-274638">
              <a:buSzPct val="100000"/>
              <a:buFont typeface="+mj-lt"/>
              <a:buAutoNum type="arabicPeriod"/>
            </a:pPr>
            <a:r>
              <a:rPr lang="es-ES" dirty="0"/>
              <a:t>Describir la profesión y el dominio del análisis </a:t>
            </a:r>
            <a:r>
              <a:rPr lang="es-ES" dirty="0" smtClean="0"/>
              <a:t>empresarial.</a:t>
            </a:r>
            <a:endParaRPr lang="es-ES" dirty="0"/>
          </a:p>
          <a:p>
            <a:pPr marL="274638" indent="-274638">
              <a:buSzPct val="100000"/>
              <a:buFont typeface="+mj-lt"/>
              <a:buAutoNum type="arabicPeriod"/>
            </a:pPr>
            <a:r>
              <a:rPr lang="es-ES" dirty="0"/>
              <a:t>Comunicar sobre análisis de negocios con una terminología </a:t>
            </a:r>
            <a:r>
              <a:rPr lang="es-ES" dirty="0" smtClean="0"/>
              <a:t>común.</a:t>
            </a:r>
            <a:endParaRPr lang="es-ES" dirty="0"/>
          </a:p>
          <a:p>
            <a:pPr marL="274638" indent="-274638">
              <a:buSzPct val="100000"/>
              <a:buFont typeface="+mj-lt"/>
              <a:buAutoNum type="arabicPeriod"/>
            </a:pPr>
            <a:r>
              <a:rPr lang="es-ES" dirty="0"/>
              <a:t>Evaluar las relaciones de los conceptos clave en el análisis </a:t>
            </a:r>
            <a:r>
              <a:rPr lang="es-ES" dirty="0" smtClean="0"/>
              <a:t>empresarial. </a:t>
            </a:r>
            <a:endParaRPr lang="es-ES" dirty="0"/>
          </a:p>
          <a:p>
            <a:pPr marL="274638" indent="-274638">
              <a:buSzPct val="100000"/>
              <a:buFont typeface="+mj-lt"/>
              <a:buAutoNum type="arabicPeriod"/>
            </a:pPr>
            <a:r>
              <a:rPr lang="es-ES" dirty="0"/>
              <a:t>Realizar un mejor análisis empresarial mediante la evaluación </a:t>
            </a:r>
            <a:r>
              <a:rPr lang="es-ES" dirty="0" smtClean="0"/>
              <a:t>integral</a:t>
            </a:r>
            <a:r>
              <a:rPr lang="es-ES" dirty="0" smtClean="0"/>
              <a:t> </a:t>
            </a:r>
            <a:r>
              <a:rPr lang="es-ES" dirty="0"/>
              <a:t>de las relaciones entre estos seis </a:t>
            </a:r>
            <a:r>
              <a:rPr lang="es-ES" dirty="0" smtClean="0"/>
              <a:t>conceptos</a:t>
            </a:r>
            <a:r>
              <a:rPr lang="es-ES" dirty="0"/>
              <a:t>.</a:t>
            </a:r>
            <a:endParaRPr lang="es-ES" dirty="0"/>
          </a:p>
          <a:p>
            <a:pPr marL="274638" indent="-274638">
              <a:buSzPct val="100000"/>
              <a:buFont typeface="+mj-lt"/>
              <a:buAutoNum type="arabicPeriod"/>
            </a:pPr>
            <a:r>
              <a:rPr lang="es-ES" dirty="0"/>
              <a:t>Evaluar el impacto de estos conceptos y relaciones en cualquier momento durante un esfuerzo de trabajo para establecer tanto una </a:t>
            </a:r>
            <a:r>
              <a:rPr lang="es-ES" dirty="0" smtClean="0"/>
              <a:t>base, </a:t>
            </a:r>
            <a:r>
              <a:rPr lang="es-ES" dirty="0"/>
              <a:t>como un camino a </a:t>
            </a:r>
            <a:r>
              <a:rPr lang="es-ES" dirty="0" smtClean="0"/>
              <a:t>seguir.</a:t>
            </a:r>
            <a:endParaRPr lang="es-ES" dirty="0"/>
          </a:p>
        </p:txBody>
      </p:sp>
      <p:pic>
        <p:nvPicPr>
          <p:cNvPr id="3" name="Marcador de posición de imagen 2">
            <a:extLst>
              <a:ext uri="{FF2B5EF4-FFF2-40B4-BE49-F238E27FC236}">
                <a16:creationId xmlns:a16="http://schemas.microsoft.com/office/drawing/2014/main" id="{DA6C93C2-D755-B2CE-9C65-8687C606960F}"/>
              </a:ext>
            </a:extLst>
          </p:cNvPr>
          <p:cNvPicPr>
            <a:picLocks noGrp="1" noChangeAspect="1"/>
          </p:cNvPicPr>
          <p:nvPr>
            <p:ph type="pic" sz="quarter" idx="10"/>
          </p:nvPr>
        </p:nvPicPr>
        <p:blipFill>
          <a:blip r:embed="rId3"/>
          <a:srcRect t="374" b="374"/>
          <a:stretch>
            <a:fillRect/>
          </a:stretch>
        </p:blipFill>
        <p:spPr/>
      </p:pic>
    </p:spTree>
    <p:extLst>
      <p:ext uri="{BB962C8B-B14F-4D97-AF65-F5344CB8AC3E}">
        <p14:creationId xmlns:p14="http://schemas.microsoft.com/office/powerpoint/2010/main" val="1428935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Conceptos </a:t>
            </a:r>
            <a:r>
              <a:rPr lang="es-PE" i="1" dirty="0"/>
              <a:t>core</a:t>
            </a:r>
            <a:r>
              <a:rPr lang="es-PE" dirty="0"/>
              <a:t> del análisis empresarial</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CONCEPTOS CENTRALES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6"/>
            <a:ext cx="4103687" cy="2594978"/>
          </a:xfrm>
          <a:prstGeom prst="rect">
            <a:avLst/>
          </a:prstGeom>
        </p:spPr>
        <p:txBody>
          <a:bodyPr/>
          <a:lstStyle/>
          <a:p>
            <a:pPr marL="0" indent="0">
              <a:buNone/>
            </a:pPr>
            <a:r>
              <a:rPr lang="es-ES" b="1" dirty="0">
                <a:solidFill>
                  <a:srgbClr val="0070C0"/>
                </a:solidFill>
              </a:rPr>
              <a:t>C</a:t>
            </a:r>
            <a:r>
              <a:rPr lang="es-ES" b="1" dirty="0" smtClean="0">
                <a:solidFill>
                  <a:srgbClr val="0070C0"/>
                </a:solidFill>
              </a:rPr>
              <a:t>ambiar</a:t>
            </a:r>
          </a:p>
          <a:p>
            <a:r>
              <a:rPr lang="es-ES" dirty="0" smtClean="0"/>
              <a:t>Es </a:t>
            </a:r>
            <a:r>
              <a:rPr lang="es-ES" dirty="0"/>
              <a:t>el acto de </a:t>
            </a:r>
            <a:r>
              <a:rPr lang="es-ES" b="1" dirty="0"/>
              <a:t>transformación en respuesta a una necesidad</a:t>
            </a:r>
            <a:r>
              <a:rPr lang="es-ES" dirty="0"/>
              <a:t>.</a:t>
            </a:r>
          </a:p>
          <a:p>
            <a:r>
              <a:rPr lang="es-ES" dirty="0"/>
              <a:t>El cambio funciona para mejorar el rendimiento de una empresa.</a:t>
            </a:r>
          </a:p>
          <a:p>
            <a:r>
              <a:rPr lang="es-ES" dirty="0"/>
              <a:t>Estas mejoras son </a:t>
            </a:r>
            <a:r>
              <a:rPr lang="es-ES" b="1" dirty="0"/>
              <a:t>deliberadas y controladas</a:t>
            </a:r>
            <a:r>
              <a:rPr lang="es-ES" dirty="0"/>
              <a:t> a través de actividades de análisis empresarial.</a:t>
            </a:r>
          </a:p>
        </p:txBody>
      </p:sp>
      <p:pic>
        <p:nvPicPr>
          <p:cNvPr id="3" name="Marcador de posición de imagen 2">
            <a:extLst>
              <a:ext uri="{FF2B5EF4-FFF2-40B4-BE49-F238E27FC236}">
                <a16:creationId xmlns:a16="http://schemas.microsoft.com/office/drawing/2014/main" id="{4B298002-C611-40BB-5441-B1760261F6AE}"/>
              </a:ext>
            </a:extLst>
          </p:cNvPr>
          <p:cNvPicPr>
            <a:picLocks noGrp="1" noChangeAspect="1"/>
          </p:cNvPicPr>
          <p:nvPr>
            <p:ph type="pic" sz="quarter" idx="10"/>
          </p:nvPr>
        </p:nvPicPr>
        <p:blipFill>
          <a:blip r:embed="rId3"/>
          <a:srcRect t="374" b="374"/>
          <a:stretch>
            <a:fillRect/>
          </a:stretch>
        </p:blipFill>
        <p:spPr/>
      </p:pic>
    </p:spTree>
    <p:extLst>
      <p:ext uri="{BB962C8B-B14F-4D97-AF65-F5344CB8AC3E}">
        <p14:creationId xmlns:p14="http://schemas.microsoft.com/office/powerpoint/2010/main" val="1106498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Conceptos </a:t>
            </a:r>
            <a:r>
              <a:rPr lang="es-PE" i="1" dirty="0"/>
              <a:t>core</a:t>
            </a:r>
            <a:r>
              <a:rPr lang="es-PE" dirty="0"/>
              <a:t> del análisis empresarial</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CONCEPTOS CENTRALES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5"/>
            <a:ext cx="4103687" cy="2314241"/>
          </a:xfrm>
          <a:prstGeom prst="rect">
            <a:avLst/>
          </a:prstGeom>
        </p:spPr>
        <p:txBody>
          <a:bodyPr/>
          <a:lstStyle/>
          <a:p>
            <a:pPr marL="0" indent="0">
              <a:buNone/>
            </a:pPr>
            <a:r>
              <a:rPr lang="es-ES" b="1" dirty="0">
                <a:solidFill>
                  <a:srgbClr val="0070C0"/>
                </a:solidFill>
              </a:rPr>
              <a:t>N</a:t>
            </a:r>
            <a:r>
              <a:rPr lang="es-ES" b="1" dirty="0" smtClean="0">
                <a:solidFill>
                  <a:srgbClr val="0070C0"/>
                </a:solidFill>
              </a:rPr>
              <a:t>ecesidad</a:t>
            </a:r>
          </a:p>
          <a:p>
            <a:r>
              <a:rPr lang="es-ES" dirty="0" smtClean="0"/>
              <a:t>Un </a:t>
            </a:r>
            <a:r>
              <a:rPr lang="es-ES" dirty="0"/>
              <a:t>problema u oportunidad a abordar.</a:t>
            </a:r>
          </a:p>
          <a:p>
            <a:r>
              <a:rPr lang="es-ES" dirty="0"/>
              <a:t>Las necesidades pueden provocar cambios al motivar a las partes interesadas a actuar.</a:t>
            </a:r>
          </a:p>
          <a:p>
            <a:r>
              <a:rPr lang="es-ES" dirty="0"/>
              <a:t>Los cambios también </a:t>
            </a:r>
            <a:r>
              <a:rPr lang="es-ES" b="1" dirty="0"/>
              <a:t>pueden causar necesidades al erosionar o mejorar el valor entregado</a:t>
            </a:r>
            <a:r>
              <a:rPr lang="es-ES" dirty="0"/>
              <a:t> por las soluciones existentes.</a:t>
            </a:r>
          </a:p>
        </p:txBody>
      </p:sp>
      <p:pic>
        <p:nvPicPr>
          <p:cNvPr id="3" name="Marcador de posición de imagen 2">
            <a:extLst>
              <a:ext uri="{FF2B5EF4-FFF2-40B4-BE49-F238E27FC236}">
                <a16:creationId xmlns:a16="http://schemas.microsoft.com/office/drawing/2014/main" id="{64D7AE12-3F2D-3869-CE78-E720979F936F}"/>
              </a:ext>
            </a:extLst>
          </p:cNvPr>
          <p:cNvPicPr>
            <a:picLocks noGrp="1" noChangeAspect="1"/>
          </p:cNvPicPr>
          <p:nvPr>
            <p:ph type="pic" sz="quarter" idx="10"/>
          </p:nvPr>
        </p:nvPicPr>
        <p:blipFill>
          <a:blip r:embed="rId3"/>
          <a:srcRect t="374" b="374"/>
          <a:stretch>
            <a:fillRect/>
          </a:stretch>
        </p:blipFill>
        <p:spPr/>
      </p:pic>
    </p:spTree>
    <p:extLst>
      <p:ext uri="{BB962C8B-B14F-4D97-AF65-F5344CB8AC3E}">
        <p14:creationId xmlns:p14="http://schemas.microsoft.com/office/powerpoint/2010/main" val="234524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Conceptos </a:t>
            </a:r>
            <a:r>
              <a:rPr lang="es-PE" i="1" dirty="0"/>
              <a:t>core</a:t>
            </a:r>
            <a:r>
              <a:rPr lang="es-PE" dirty="0"/>
              <a:t> del análisis empresarial</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CONCEPTOS CENTRALES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6"/>
            <a:ext cx="4103687" cy="2081630"/>
          </a:xfrm>
          <a:prstGeom prst="rect">
            <a:avLst/>
          </a:prstGeom>
        </p:spPr>
        <p:txBody>
          <a:bodyPr/>
          <a:lstStyle/>
          <a:p>
            <a:pPr marL="0" indent="0">
              <a:buNone/>
            </a:pPr>
            <a:r>
              <a:rPr lang="es-ES" b="1" dirty="0">
                <a:solidFill>
                  <a:srgbClr val="0070C0"/>
                </a:solidFill>
              </a:rPr>
              <a:t>S</a:t>
            </a:r>
            <a:r>
              <a:rPr lang="es-ES" b="1" dirty="0" smtClean="0">
                <a:solidFill>
                  <a:srgbClr val="0070C0"/>
                </a:solidFill>
              </a:rPr>
              <a:t>olución</a:t>
            </a:r>
          </a:p>
          <a:p>
            <a:r>
              <a:rPr lang="es-ES" dirty="0" smtClean="0"/>
              <a:t>Una </a:t>
            </a:r>
            <a:r>
              <a:rPr lang="es-ES" dirty="0"/>
              <a:t>forma específica de satisfacer una o más necesidades en un contexto.</a:t>
            </a:r>
          </a:p>
          <a:p>
            <a:r>
              <a:rPr lang="es-ES" dirty="0"/>
              <a:t>Una solución </a:t>
            </a:r>
            <a:r>
              <a:rPr lang="es-ES" b="1" dirty="0"/>
              <a:t>satisface una necesidad al resolver un problema</a:t>
            </a:r>
            <a:r>
              <a:rPr lang="es-ES" dirty="0"/>
              <a:t> que enfrentan los </a:t>
            </a:r>
            <a:r>
              <a:rPr lang="es-ES" i="1" dirty="0"/>
              <a:t>stakeholders</a:t>
            </a:r>
            <a:r>
              <a:rPr lang="es-ES" dirty="0"/>
              <a:t> o </a:t>
            </a:r>
            <a:r>
              <a:rPr lang="es-ES" b="1" dirty="0"/>
              <a:t>permitir que aprovechen una oportunidad</a:t>
            </a:r>
            <a:r>
              <a:rPr lang="es-ES" dirty="0"/>
              <a:t>.</a:t>
            </a:r>
          </a:p>
        </p:txBody>
      </p:sp>
      <p:pic>
        <p:nvPicPr>
          <p:cNvPr id="3" name="Marcador de posición de imagen 2">
            <a:extLst>
              <a:ext uri="{FF2B5EF4-FFF2-40B4-BE49-F238E27FC236}">
                <a16:creationId xmlns:a16="http://schemas.microsoft.com/office/drawing/2014/main" id="{8DD49B1C-D4FE-B14B-7CCE-21ED458F6A63}"/>
              </a:ext>
            </a:extLst>
          </p:cNvPr>
          <p:cNvPicPr>
            <a:picLocks noGrp="1" noChangeAspect="1"/>
          </p:cNvPicPr>
          <p:nvPr>
            <p:ph type="pic" sz="quarter" idx="10"/>
          </p:nvPr>
        </p:nvPicPr>
        <p:blipFill>
          <a:blip r:embed="rId3"/>
          <a:srcRect t="480" b="480"/>
          <a:stretch>
            <a:fillRect/>
          </a:stretch>
        </p:blipFill>
        <p:spPr/>
      </p:pic>
    </p:spTree>
    <p:extLst>
      <p:ext uri="{BB962C8B-B14F-4D97-AF65-F5344CB8AC3E}">
        <p14:creationId xmlns:p14="http://schemas.microsoft.com/office/powerpoint/2010/main" val="1984595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Conceptos </a:t>
            </a:r>
            <a:r>
              <a:rPr lang="es-PE" i="1" dirty="0"/>
              <a:t>core</a:t>
            </a:r>
            <a:r>
              <a:rPr lang="es-PE" dirty="0"/>
              <a:t> del análisis empresarial</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CONCEPTOS CENTRALES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6"/>
            <a:ext cx="4103687" cy="2859672"/>
          </a:xfrm>
          <a:prstGeom prst="rect">
            <a:avLst/>
          </a:prstGeom>
        </p:spPr>
        <p:txBody>
          <a:bodyPr/>
          <a:lstStyle/>
          <a:p>
            <a:pPr marL="0" indent="0">
              <a:buNone/>
            </a:pPr>
            <a:r>
              <a:rPr lang="es-ES" b="1" i="1" dirty="0">
                <a:solidFill>
                  <a:srgbClr val="0070C0"/>
                </a:solidFill>
              </a:rPr>
              <a:t>S</a:t>
            </a:r>
            <a:r>
              <a:rPr lang="es-ES" b="1" i="1" dirty="0" smtClean="0">
                <a:solidFill>
                  <a:srgbClr val="0070C0"/>
                </a:solidFill>
              </a:rPr>
              <a:t>takeholder</a:t>
            </a:r>
          </a:p>
          <a:p>
            <a:r>
              <a:rPr lang="es-ES" dirty="0" smtClean="0"/>
              <a:t>Un </a:t>
            </a:r>
            <a:r>
              <a:rPr lang="es-ES" dirty="0"/>
              <a:t>grupo o individuo con </a:t>
            </a:r>
            <a:r>
              <a:rPr lang="es-ES" b="1" dirty="0"/>
              <a:t>una relación con el cambio</a:t>
            </a:r>
            <a:r>
              <a:rPr lang="es-ES" dirty="0"/>
              <a:t>, la necesidad o la solución.</a:t>
            </a:r>
          </a:p>
          <a:p>
            <a:r>
              <a:rPr lang="es-ES" dirty="0"/>
              <a:t>Los </a:t>
            </a:r>
            <a:r>
              <a:rPr lang="es-ES" i="1" dirty="0"/>
              <a:t>stakeholders</a:t>
            </a:r>
            <a:r>
              <a:rPr lang="es-ES" dirty="0"/>
              <a:t> a menudo </a:t>
            </a:r>
            <a:r>
              <a:rPr lang="es-ES" b="1" dirty="0"/>
              <a:t>se definen en términos de interés</a:t>
            </a:r>
            <a:r>
              <a:rPr lang="es-ES" dirty="0"/>
              <a:t>, impacto e influencia sobre el cambio.</a:t>
            </a:r>
          </a:p>
          <a:p>
            <a:r>
              <a:rPr lang="es-ES" dirty="0"/>
              <a:t>Los </a:t>
            </a:r>
            <a:r>
              <a:rPr lang="es-ES" i="1" dirty="0"/>
              <a:t>stakeholders</a:t>
            </a:r>
            <a:r>
              <a:rPr lang="es-ES" dirty="0"/>
              <a:t> se agrupan en función de </a:t>
            </a:r>
            <a:r>
              <a:rPr lang="es-ES" b="1" dirty="0"/>
              <a:t>su relación con las necesidades</a:t>
            </a:r>
            <a:r>
              <a:rPr lang="es-ES" dirty="0"/>
              <a:t>, los cambios y las soluciones.</a:t>
            </a:r>
          </a:p>
          <a:p>
            <a:endParaRPr lang="es-ES" dirty="0"/>
          </a:p>
          <a:p>
            <a:endParaRPr lang="es-ES" dirty="0"/>
          </a:p>
        </p:txBody>
      </p:sp>
      <p:pic>
        <p:nvPicPr>
          <p:cNvPr id="3" name="Marcador de posición de imagen 2">
            <a:extLst>
              <a:ext uri="{FF2B5EF4-FFF2-40B4-BE49-F238E27FC236}">
                <a16:creationId xmlns:a16="http://schemas.microsoft.com/office/drawing/2014/main" id="{6B98160C-A908-F9A4-489E-CE95EC6A0364}"/>
              </a:ext>
            </a:extLst>
          </p:cNvPr>
          <p:cNvPicPr>
            <a:picLocks noGrp="1" noChangeAspect="1"/>
          </p:cNvPicPr>
          <p:nvPr>
            <p:ph type="pic" sz="quarter" idx="10"/>
          </p:nvPr>
        </p:nvPicPr>
        <p:blipFill>
          <a:blip r:embed="rId3"/>
          <a:srcRect t="278" b="278"/>
          <a:stretch>
            <a:fillRect/>
          </a:stretch>
        </p:blipFill>
        <p:spPr/>
      </p:pic>
    </p:spTree>
    <p:extLst>
      <p:ext uri="{BB962C8B-B14F-4D97-AF65-F5344CB8AC3E}">
        <p14:creationId xmlns:p14="http://schemas.microsoft.com/office/powerpoint/2010/main" val="2540319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Conceptos </a:t>
            </a:r>
            <a:r>
              <a:rPr lang="es-PE" i="1" dirty="0"/>
              <a:t>core</a:t>
            </a:r>
            <a:r>
              <a:rPr lang="es-PE" dirty="0"/>
              <a:t> del análisis empresarial</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CONCEPTOS CENTRALES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prstGeom prst="rect">
            <a:avLst/>
          </a:prstGeom>
        </p:spPr>
        <p:txBody>
          <a:bodyPr/>
          <a:lstStyle/>
          <a:p>
            <a:pPr marL="0" indent="0">
              <a:buNone/>
            </a:pPr>
            <a:r>
              <a:rPr lang="es-ES" b="1" dirty="0">
                <a:solidFill>
                  <a:srgbClr val="0070C0"/>
                </a:solidFill>
              </a:rPr>
              <a:t>V</a:t>
            </a:r>
            <a:r>
              <a:rPr lang="es-ES" b="1" dirty="0" smtClean="0">
                <a:solidFill>
                  <a:srgbClr val="0070C0"/>
                </a:solidFill>
              </a:rPr>
              <a:t>alor</a:t>
            </a:r>
          </a:p>
          <a:p>
            <a:pPr>
              <a:spcAft>
                <a:spcPts val="300"/>
              </a:spcAft>
            </a:pPr>
            <a:r>
              <a:rPr lang="es-ES" dirty="0" smtClean="0"/>
              <a:t>El valor es </a:t>
            </a:r>
            <a:r>
              <a:rPr lang="es-ES" dirty="0"/>
              <a:t>la importancia o la </a:t>
            </a:r>
            <a:r>
              <a:rPr lang="es-ES" b="1" dirty="0"/>
              <a:t>utilidad</a:t>
            </a:r>
            <a:r>
              <a:rPr lang="es-ES" dirty="0"/>
              <a:t> de algo para un </a:t>
            </a:r>
            <a:r>
              <a:rPr lang="es-ES" i="1" dirty="0" smtClean="0"/>
              <a:t>stakeholder </a:t>
            </a:r>
            <a:r>
              <a:rPr lang="es-ES" dirty="0"/>
              <a:t>dentro de un contexto.</a:t>
            </a:r>
          </a:p>
          <a:p>
            <a:pPr marL="266700" lvl="1" indent="0">
              <a:spcAft>
                <a:spcPts val="300"/>
              </a:spcAft>
              <a:buNone/>
            </a:pPr>
            <a:r>
              <a:rPr lang="es-ES" dirty="0"/>
              <a:t>El valor puede verse </a:t>
            </a:r>
            <a:r>
              <a:rPr lang="es-ES" dirty="0" smtClean="0"/>
              <a:t>como rendimientos, ganancias</a:t>
            </a:r>
            <a:r>
              <a:rPr lang="es-ES" dirty="0"/>
              <a:t>, </a:t>
            </a:r>
            <a:r>
              <a:rPr lang="es-ES" dirty="0" smtClean="0"/>
              <a:t>y mejoras </a:t>
            </a:r>
            <a:r>
              <a:rPr lang="es-ES" dirty="0"/>
              <a:t>potenciales o </a:t>
            </a:r>
            <a:r>
              <a:rPr lang="es-ES" dirty="0" smtClean="0"/>
              <a:t>realizadas</a:t>
            </a:r>
            <a:r>
              <a:rPr lang="es-ES" dirty="0"/>
              <a:t>. </a:t>
            </a:r>
          </a:p>
          <a:p>
            <a:pPr>
              <a:spcAft>
                <a:spcPts val="300"/>
              </a:spcAft>
            </a:pPr>
            <a:r>
              <a:rPr lang="es-ES" dirty="0"/>
              <a:t>Puede ser tangible o intangible:</a:t>
            </a:r>
          </a:p>
          <a:p>
            <a:pPr lvl="1">
              <a:spcAft>
                <a:spcPts val="300"/>
              </a:spcAft>
            </a:pPr>
            <a:r>
              <a:rPr lang="es-ES" dirty="0"/>
              <a:t>El valor tangible a menudo tiene un componente monetario significativo.</a:t>
            </a:r>
          </a:p>
          <a:p>
            <a:pPr lvl="1">
              <a:spcAft>
                <a:spcPts val="300"/>
              </a:spcAft>
            </a:pPr>
            <a:r>
              <a:rPr lang="es-ES" dirty="0"/>
              <a:t>El valor intangible a menudo tiene un componente motivacional significativo, como la reputación de una empresa o la moral de los empleados.</a:t>
            </a:r>
          </a:p>
        </p:txBody>
      </p:sp>
      <p:pic>
        <p:nvPicPr>
          <p:cNvPr id="8" name="Marcador de posición de imagen 7">
            <a:extLst>
              <a:ext uri="{FF2B5EF4-FFF2-40B4-BE49-F238E27FC236}">
                <a16:creationId xmlns:a16="http://schemas.microsoft.com/office/drawing/2014/main" id="{0A7CE7D0-1174-D579-E93D-DE857ADC4C66}"/>
              </a:ext>
            </a:extLst>
          </p:cNvPr>
          <p:cNvPicPr>
            <a:picLocks noGrp="1" noChangeAspect="1"/>
          </p:cNvPicPr>
          <p:nvPr>
            <p:ph type="pic" sz="quarter" idx="10"/>
          </p:nvPr>
        </p:nvPicPr>
        <p:blipFill>
          <a:blip r:embed="rId3"/>
          <a:srcRect t="161" b="161"/>
          <a:stretch>
            <a:fillRect/>
          </a:stretch>
        </p:blipFill>
        <p:spPr/>
      </p:pic>
    </p:spTree>
    <p:extLst>
      <p:ext uri="{BB962C8B-B14F-4D97-AF65-F5344CB8AC3E}">
        <p14:creationId xmlns:p14="http://schemas.microsoft.com/office/powerpoint/2010/main" val="190358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Conceptos </a:t>
            </a:r>
            <a:r>
              <a:rPr lang="es-PE" i="1" dirty="0"/>
              <a:t>core</a:t>
            </a:r>
            <a:r>
              <a:rPr lang="es-PE" dirty="0"/>
              <a:t> del análisis empresarial</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CONCEPTOS CENTRALES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5"/>
            <a:ext cx="4103687" cy="2849245"/>
          </a:xfrm>
          <a:prstGeom prst="rect">
            <a:avLst/>
          </a:prstGeom>
        </p:spPr>
        <p:txBody>
          <a:bodyPr/>
          <a:lstStyle/>
          <a:p>
            <a:pPr marL="0" indent="0">
              <a:buNone/>
            </a:pPr>
            <a:r>
              <a:rPr lang="es-ES" b="1" dirty="0">
                <a:solidFill>
                  <a:srgbClr val="0070C0"/>
                </a:solidFill>
              </a:rPr>
              <a:t>C</a:t>
            </a:r>
            <a:r>
              <a:rPr lang="es-ES" b="1" dirty="0" smtClean="0">
                <a:solidFill>
                  <a:srgbClr val="0070C0"/>
                </a:solidFill>
              </a:rPr>
              <a:t>ontexto</a:t>
            </a:r>
          </a:p>
          <a:p>
            <a:r>
              <a:rPr lang="es-ES" dirty="0" smtClean="0"/>
              <a:t>Las </a:t>
            </a:r>
            <a:r>
              <a:rPr lang="es-ES" b="1" dirty="0"/>
              <a:t>circunstancias que influyen</a:t>
            </a:r>
            <a:r>
              <a:rPr lang="es-ES" dirty="0"/>
              <a:t>, son influenciadas </a:t>
            </a:r>
            <a:r>
              <a:rPr lang="es-ES" dirty="0" smtClean="0"/>
              <a:t>por el contexto </a:t>
            </a:r>
            <a:r>
              <a:rPr lang="es-ES" dirty="0"/>
              <a:t>y </a:t>
            </a:r>
            <a:r>
              <a:rPr lang="es-ES" b="1" dirty="0"/>
              <a:t>proporcionan comprensión del cambio</a:t>
            </a:r>
            <a:r>
              <a:rPr lang="es-ES" dirty="0"/>
              <a:t>.</a:t>
            </a:r>
          </a:p>
          <a:p>
            <a:r>
              <a:rPr lang="es-ES" dirty="0"/>
              <a:t>El contexto es todo lo relevante para el cambio que hay dentro del entorno.</a:t>
            </a:r>
          </a:p>
          <a:p>
            <a:pPr>
              <a:spcAft>
                <a:spcPts val="300"/>
              </a:spcAft>
            </a:pPr>
            <a:r>
              <a:rPr lang="es-ES" dirty="0"/>
              <a:t>El contexto puede incluir lo señalado en la figura que se muestra, y cualquier otro elemento que cumpla con la definición.</a:t>
            </a:r>
          </a:p>
        </p:txBody>
      </p:sp>
      <p:pic>
        <p:nvPicPr>
          <p:cNvPr id="8" name="Marcador de posición de imagen 7">
            <a:extLst>
              <a:ext uri="{FF2B5EF4-FFF2-40B4-BE49-F238E27FC236}">
                <a16:creationId xmlns:a16="http://schemas.microsoft.com/office/drawing/2014/main" id="{A3573ED6-CF7A-1958-1F9A-F9036F72D9DD}"/>
              </a:ext>
            </a:extLst>
          </p:cNvPr>
          <p:cNvPicPr>
            <a:picLocks noGrp="1" noChangeAspect="1"/>
          </p:cNvPicPr>
          <p:nvPr>
            <p:ph type="pic" sz="quarter" idx="10"/>
          </p:nvPr>
        </p:nvPicPr>
        <p:blipFill>
          <a:blip r:embed="rId3"/>
          <a:srcRect t="374" b="374"/>
          <a:stretch>
            <a:fillRect/>
          </a:stretch>
        </p:blipFill>
        <p:spPr/>
      </p:pic>
    </p:spTree>
    <p:extLst>
      <p:ext uri="{BB962C8B-B14F-4D97-AF65-F5344CB8AC3E}">
        <p14:creationId xmlns:p14="http://schemas.microsoft.com/office/powerpoint/2010/main" val="2960728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a:t>
            </a:r>
            <a:r>
              <a:rPr lang="es-PE" dirty="0" smtClean="0"/>
              <a:t>bordaje de los conceptos </a:t>
            </a:r>
            <a:r>
              <a:rPr lang="es-PE" i="1" dirty="0" smtClean="0"/>
              <a:t>core</a:t>
            </a:r>
            <a:endParaRPr lang="es-PE" i="1"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CONCEPTOS CENTRALES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5"/>
            <a:ext cx="4103687" cy="4220845"/>
          </a:xfrm>
          <a:prstGeom prst="rect">
            <a:avLst/>
          </a:prstGeom>
        </p:spPr>
        <p:txBody>
          <a:bodyPr/>
          <a:lstStyle/>
          <a:p>
            <a:pPr>
              <a:spcAft>
                <a:spcPts val="300"/>
              </a:spcAft>
            </a:pPr>
            <a:r>
              <a:rPr lang="es-ES" dirty="0"/>
              <a:t>Mientras planifican o realizan una tarea o técnica, los </a:t>
            </a:r>
            <a:r>
              <a:rPr lang="es-ES" dirty="0" smtClean="0"/>
              <a:t>analistas </a:t>
            </a:r>
            <a:r>
              <a:rPr lang="es-ES" dirty="0"/>
              <a:t>de negocios pueden considerar cómo se aborda cada concepto central haciendo preguntas </a:t>
            </a:r>
            <a:r>
              <a:rPr lang="es-ES" dirty="0" smtClean="0"/>
              <a:t>como las siguientes:</a:t>
            </a:r>
            <a:endParaRPr lang="es-ES" dirty="0"/>
          </a:p>
          <a:p>
            <a:pPr lvl="1">
              <a:spcAft>
                <a:spcPts val="300"/>
              </a:spcAft>
            </a:pPr>
            <a:r>
              <a:rPr lang="es-ES" dirty="0"/>
              <a:t>¿Cuáles son los tipos de cambios que estamos haciendo?</a:t>
            </a:r>
          </a:p>
          <a:p>
            <a:pPr lvl="1">
              <a:spcAft>
                <a:spcPts val="300"/>
              </a:spcAft>
            </a:pPr>
            <a:r>
              <a:rPr lang="es-ES" dirty="0"/>
              <a:t>¿Cuáles son las necesidades que estamos tratando de satisfacer?</a:t>
            </a:r>
          </a:p>
          <a:p>
            <a:pPr lvl="1">
              <a:spcAft>
                <a:spcPts val="300"/>
              </a:spcAft>
            </a:pPr>
            <a:r>
              <a:rPr lang="es-ES" dirty="0"/>
              <a:t>¿Cuáles son las soluciones que estamos creando o cambiando?</a:t>
            </a:r>
          </a:p>
          <a:p>
            <a:pPr lvl="1">
              <a:spcAft>
                <a:spcPts val="300"/>
              </a:spcAft>
            </a:pPr>
            <a:r>
              <a:rPr lang="es-ES" dirty="0"/>
              <a:t>¿Quiénes son las partes interesadas involucradas?</a:t>
            </a:r>
          </a:p>
          <a:p>
            <a:pPr lvl="1">
              <a:spcAft>
                <a:spcPts val="300"/>
              </a:spcAft>
            </a:pPr>
            <a:r>
              <a:rPr lang="es-ES" dirty="0"/>
              <a:t>¿Qué consideran valioso los interesados?</a:t>
            </a:r>
          </a:p>
          <a:p>
            <a:pPr lvl="1"/>
            <a:r>
              <a:rPr lang="es-ES" dirty="0"/>
              <a:t>¿Cuáles son los contextos en los que estamos nosotros y la solución?</a:t>
            </a:r>
          </a:p>
        </p:txBody>
      </p:sp>
      <p:pic>
        <p:nvPicPr>
          <p:cNvPr id="6" name="Marcador de posición de imagen 5">
            <a:extLst>
              <a:ext uri="{FF2B5EF4-FFF2-40B4-BE49-F238E27FC236}">
                <a16:creationId xmlns:a16="http://schemas.microsoft.com/office/drawing/2014/main" id="{09A815AE-74C0-CD32-6C66-D9704B7B64D2}"/>
              </a:ext>
            </a:extLst>
          </p:cNvPr>
          <p:cNvPicPr>
            <a:picLocks noGrp="1" noChangeAspect="1"/>
          </p:cNvPicPr>
          <p:nvPr>
            <p:ph type="pic" sz="quarter" idx="10"/>
          </p:nvPr>
        </p:nvPicPr>
        <p:blipFill>
          <a:blip r:embed="rId3"/>
          <a:srcRect t="374" b="374"/>
          <a:stretch>
            <a:fillRect/>
          </a:stretch>
        </p:blipFill>
        <p:spPr/>
      </p:pic>
    </p:spTree>
    <p:extLst>
      <p:ext uri="{BB962C8B-B14F-4D97-AF65-F5344CB8AC3E}">
        <p14:creationId xmlns:p14="http://schemas.microsoft.com/office/powerpoint/2010/main" val="1413286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BABOK® - </a:t>
            </a:r>
            <a:r>
              <a:rPr lang="es-PE" dirty="0" smtClean="0"/>
              <a:t>términos clave</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CONCEPTOS CENTRALES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5"/>
            <a:ext cx="4103687" cy="2536825"/>
          </a:xfrm>
          <a:prstGeom prst="rect">
            <a:avLst/>
          </a:prstGeom>
        </p:spPr>
        <p:txBody>
          <a:bodyPr/>
          <a:lstStyle/>
          <a:p>
            <a:pPr marL="0" indent="0">
              <a:buNone/>
            </a:pPr>
            <a:r>
              <a:rPr lang="es-ES" b="1" dirty="0">
                <a:solidFill>
                  <a:srgbClr val="0070C0"/>
                </a:solidFill>
              </a:rPr>
              <a:t>A</a:t>
            </a:r>
            <a:r>
              <a:rPr lang="es-ES" b="1" dirty="0" smtClean="0">
                <a:solidFill>
                  <a:srgbClr val="0070C0"/>
                </a:solidFill>
              </a:rPr>
              <a:t>nálisis empresarial</a:t>
            </a:r>
          </a:p>
          <a:p>
            <a:r>
              <a:rPr lang="es-ES" dirty="0" smtClean="0"/>
              <a:t>La </a:t>
            </a:r>
            <a:r>
              <a:rPr lang="es-ES" dirty="0"/>
              <a:t>Guía BABOK® describe y define el análisis empresarial (análisis de negocios), como la </a:t>
            </a:r>
            <a:r>
              <a:rPr lang="es-ES" b="1" dirty="0"/>
              <a:t>práctica de permitir el cambio en una empresa</a:t>
            </a:r>
            <a:r>
              <a:rPr lang="es-ES" dirty="0"/>
              <a:t> definiendo:</a:t>
            </a:r>
          </a:p>
          <a:p>
            <a:pPr lvl="1"/>
            <a:r>
              <a:rPr lang="es-ES" dirty="0"/>
              <a:t>Necesidades, y</a:t>
            </a:r>
          </a:p>
          <a:p>
            <a:pPr lvl="1"/>
            <a:r>
              <a:rPr lang="es-ES" dirty="0"/>
              <a:t>Recomendando soluciones que brinden valor a los </a:t>
            </a:r>
            <a:r>
              <a:rPr lang="es-ES" i="1" dirty="0"/>
              <a:t>stakeholders.</a:t>
            </a:r>
          </a:p>
        </p:txBody>
      </p:sp>
      <p:pic>
        <p:nvPicPr>
          <p:cNvPr id="6" name="Marcador de posición de imagen 5">
            <a:extLst>
              <a:ext uri="{FF2B5EF4-FFF2-40B4-BE49-F238E27FC236}">
                <a16:creationId xmlns:a16="http://schemas.microsoft.com/office/drawing/2014/main" id="{9D1AD076-D16A-6248-2036-1413655629BF}"/>
              </a:ext>
            </a:extLst>
          </p:cNvPr>
          <p:cNvPicPr>
            <a:picLocks noGrp="1" noChangeAspect="1"/>
          </p:cNvPicPr>
          <p:nvPr>
            <p:ph type="pic" sz="quarter" idx="10"/>
          </p:nvPr>
        </p:nvPicPr>
        <p:blipFill>
          <a:blip r:embed="rId3"/>
          <a:srcRect t="723" b="723"/>
          <a:stretch>
            <a:fillRect/>
          </a:stretch>
        </p:blipFill>
        <p:spPr/>
      </p:pic>
    </p:spTree>
    <p:extLst>
      <p:ext uri="{BB962C8B-B14F-4D97-AF65-F5344CB8AC3E}">
        <p14:creationId xmlns:p14="http://schemas.microsoft.com/office/powerpoint/2010/main" val="2265329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BABOK® - </a:t>
            </a:r>
            <a:r>
              <a:rPr lang="es-PE" dirty="0" smtClean="0"/>
              <a:t>términos clave</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CONCEPTOS CENTRALES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prstGeom prst="rect">
            <a:avLst/>
          </a:prstGeom>
        </p:spPr>
        <p:txBody>
          <a:bodyPr/>
          <a:lstStyle/>
          <a:p>
            <a:pPr marL="0" indent="0">
              <a:buNone/>
            </a:pPr>
            <a:r>
              <a:rPr lang="es-ES" b="1" dirty="0">
                <a:solidFill>
                  <a:srgbClr val="0070C0"/>
                </a:solidFill>
              </a:rPr>
              <a:t>I</a:t>
            </a:r>
            <a:r>
              <a:rPr lang="es-ES" b="1" dirty="0" smtClean="0">
                <a:solidFill>
                  <a:srgbClr val="0070C0"/>
                </a:solidFill>
              </a:rPr>
              <a:t>nformación de análisis empresarial</a:t>
            </a:r>
          </a:p>
          <a:p>
            <a:r>
              <a:rPr lang="es-ES" dirty="0" smtClean="0"/>
              <a:t>Es </a:t>
            </a:r>
            <a:r>
              <a:rPr lang="es-ES" dirty="0"/>
              <a:t>información de cualquier tipo, en cualquier nivel de detalle, que se utiliza como entrada o salida del trabajo de análisis empresarial.</a:t>
            </a:r>
          </a:p>
          <a:p>
            <a:pPr>
              <a:spcAft>
                <a:spcPts val="600"/>
              </a:spcAft>
            </a:pPr>
            <a:r>
              <a:rPr lang="es-ES" dirty="0"/>
              <a:t>Los ejemplos de información de análisis empresarial incluyen:</a:t>
            </a:r>
          </a:p>
          <a:p>
            <a:pPr lvl="1">
              <a:spcAft>
                <a:spcPts val="600"/>
              </a:spcAft>
            </a:pPr>
            <a:r>
              <a:rPr lang="es-ES" dirty="0"/>
              <a:t>Resultados de </a:t>
            </a:r>
            <a:r>
              <a:rPr lang="es-ES" dirty="0" smtClean="0"/>
              <a:t>obtención.</a:t>
            </a:r>
          </a:p>
          <a:p>
            <a:pPr lvl="1">
              <a:spcAft>
                <a:spcPts val="600"/>
              </a:spcAft>
            </a:pPr>
            <a:r>
              <a:rPr lang="es-ES" dirty="0" smtClean="0"/>
              <a:t>Requisitos.</a:t>
            </a:r>
            <a:endParaRPr lang="es-ES" dirty="0"/>
          </a:p>
          <a:p>
            <a:pPr lvl="1">
              <a:spcAft>
                <a:spcPts val="600"/>
              </a:spcAft>
            </a:pPr>
            <a:r>
              <a:rPr lang="es-ES" dirty="0" smtClean="0"/>
              <a:t>Diseños.</a:t>
            </a:r>
            <a:endParaRPr lang="es-ES" dirty="0"/>
          </a:p>
          <a:p>
            <a:pPr lvl="1">
              <a:spcAft>
                <a:spcPts val="600"/>
              </a:spcAft>
            </a:pPr>
            <a:r>
              <a:rPr lang="es-ES" dirty="0"/>
              <a:t>Opciones de </a:t>
            </a:r>
            <a:r>
              <a:rPr lang="es-ES" dirty="0" smtClean="0"/>
              <a:t>solución.</a:t>
            </a:r>
            <a:endParaRPr lang="es-ES" dirty="0"/>
          </a:p>
          <a:p>
            <a:pPr lvl="1">
              <a:spcAft>
                <a:spcPts val="600"/>
              </a:spcAft>
            </a:pPr>
            <a:r>
              <a:rPr lang="es-ES" dirty="0"/>
              <a:t>Alcance de la </a:t>
            </a:r>
            <a:r>
              <a:rPr lang="es-ES" dirty="0" smtClean="0"/>
              <a:t>solución.</a:t>
            </a:r>
          </a:p>
          <a:p>
            <a:pPr lvl="1">
              <a:spcAft>
                <a:spcPts val="600"/>
              </a:spcAft>
            </a:pPr>
            <a:r>
              <a:rPr lang="es-ES" dirty="0" smtClean="0"/>
              <a:t>Estrategia </a:t>
            </a:r>
            <a:r>
              <a:rPr lang="es-ES" dirty="0"/>
              <a:t>de cambio.</a:t>
            </a:r>
          </a:p>
        </p:txBody>
      </p:sp>
      <p:pic>
        <p:nvPicPr>
          <p:cNvPr id="3" name="Marcador de posición de imagen 2">
            <a:extLst>
              <a:ext uri="{FF2B5EF4-FFF2-40B4-BE49-F238E27FC236}">
                <a16:creationId xmlns:a16="http://schemas.microsoft.com/office/drawing/2014/main" id="{D1E17C4B-809F-CFFC-1BDD-80EB57EAF26A}"/>
              </a:ext>
            </a:extLst>
          </p:cNvPr>
          <p:cNvPicPr>
            <a:picLocks noGrp="1" noChangeAspect="1"/>
          </p:cNvPicPr>
          <p:nvPr>
            <p:ph type="pic" sz="quarter" idx="10"/>
          </p:nvPr>
        </p:nvPicPr>
        <p:blipFill>
          <a:blip r:embed="rId3"/>
          <a:srcRect t="161" b="161"/>
          <a:stretch>
            <a:fillRect/>
          </a:stretch>
        </p:blipFill>
        <p:spPr/>
      </p:pic>
    </p:spTree>
    <p:extLst>
      <p:ext uri="{BB962C8B-B14F-4D97-AF65-F5344CB8AC3E}">
        <p14:creationId xmlns:p14="http://schemas.microsoft.com/office/powerpoint/2010/main" val="3958671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BABOK® - </a:t>
            </a:r>
            <a:r>
              <a:rPr lang="es-PE" dirty="0" smtClean="0"/>
              <a:t>términos clave</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CONCEPTOS CENTRALES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6"/>
            <a:ext cx="4103687" cy="3013982"/>
          </a:xfrm>
          <a:prstGeom prst="rect">
            <a:avLst/>
          </a:prstGeom>
        </p:spPr>
        <p:txBody>
          <a:bodyPr/>
          <a:lstStyle/>
          <a:p>
            <a:pPr marL="0" indent="0">
              <a:buNone/>
            </a:pPr>
            <a:r>
              <a:rPr lang="es-ES" b="1" dirty="0">
                <a:solidFill>
                  <a:srgbClr val="0070C0"/>
                </a:solidFill>
              </a:rPr>
              <a:t>D</a:t>
            </a:r>
            <a:r>
              <a:rPr lang="es-ES" b="1" dirty="0" smtClean="0">
                <a:solidFill>
                  <a:srgbClr val="0070C0"/>
                </a:solidFill>
              </a:rPr>
              <a:t>iseño</a:t>
            </a:r>
          </a:p>
          <a:p>
            <a:r>
              <a:rPr lang="es-ES" dirty="0" smtClean="0"/>
              <a:t>Un </a:t>
            </a:r>
            <a:r>
              <a:rPr lang="es-ES" dirty="0"/>
              <a:t>diseño es una representación utilizable de una solución.</a:t>
            </a:r>
          </a:p>
          <a:p>
            <a:r>
              <a:rPr lang="es-ES" dirty="0"/>
              <a:t>El diseño se enfoca en comprender cómo una solución puede generar valor si se construye.</a:t>
            </a:r>
          </a:p>
          <a:p>
            <a:r>
              <a:rPr lang="es-ES" dirty="0"/>
              <a:t>La naturaleza de la representación puede ser un documento (o un conjunto de documentos) y puede variar ampliamente según las circunstancias.</a:t>
            </a:r>
          </a:p>
        </p:txBody>
      </p:sp>
      <p:pic>
        <p:nvPicPr>
          <p:cNvPr id="6" name="Marcador de posición de imagen 5">
            <a:extLst>
              <a:ext uri="{FF2B5EF4-FFF2-40B4-BE49-F238E27FC236}">
                <a16:creationId xmlns:a16="http://schemas.microsoft.com/office/drawing/2014/main" id="{378B2B5D-3A53-B533-6E8C-2E97A70606E9}"/>
              </a:ext>
            </a:extLst>
          </p:cNvPr>
          <p:cNvPicPr>
            <a:picLocks noGrp="1" noChangeAspect="1"/>
          </p:cNvPicPr>
          <p:nvPr>
            <p:ph type="pic" sz="quarter" idx="10"/>
          </p:nvPr>
        </p:nvPicPr>
        <p:blipFill>
          <a:blip r:embed="rId3"/>
          <a:srcRect t="374" b="374"/>
          <a:stretch>
            <a:fillRect/>
          </a:stretch>
        </p:blipFill>
        <p:spPr/>
      </p:pic>
    </p:spTree>
    <p:extLst>
      <p:ext uri="{BB962C8B-B14F-4D97-AF65-F5344CB8AC3E}">
        <p14:creationId xmlns:p14="http://schemas.microsoft.com/office/powerpoint/2010/main" val="3299897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BABOK® - </a:t>
            </a:r>
            <a:r>
              <a:rPr lang="es-PE" dirty="0" smtClean="0"/>
              <a:t>términos clave</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CONCEPTOS CENTRALES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5"/>
            <a:ext cx="4103687" cy="3703411"/>
          </a:xfrm>
          <a:prstGeom prst="rect">
            <a:avLst/>
          </a:prstGeom>
        </p:spPr>
        <p:txBody>
          <a:bodyPr/>
          <a:lstStyle/>
          <a:p>
            <a:pPr marL="0" indent="0">
              <a:buNone/>
            </a:pPr>
            <a:r>
              <a:rPr lang="es-ES" b="1" dirty="0">
                <a:solidFill>
                  <a:srgbClr val="0070C0"/>
                </a:solidFill>
              </a:rPr>
              <a:t>E</a:t>
            </a:r>
            <a:r>
              <a:rPr lang="es-ES" b="1" dirty="0" smtClean="0">
                <a:solidFill>
                  <a:srgbClr val="0070C0"/>
                </a:solidFill>
              </a:rPr>
              <a:t>mpresa</a:t>
            </a:r>
          </a:p>
          <a:p>
            <a:r>
              <a:rPr lang="es-ES" dirty="0" smtClean="0"/>
              <a:t>Es </a:t>
            </a:r>
            <a:r>
              <a:rPr lang="es-ES" dirty="0"/>
              <a:t>un sistema de </a:t>
            </a:r>
            <a:r>
              <a:rPr lang="es-ES" b="1" dirty="0"/>
              <a:t>una o más organizaciones</a:t>
            </a:r>
            <a:r>
              <a:rPr lang="es-ES" dirty="0"/>
              <a:t> y las soluciones que utilizan para perseguir un conjunto compartido de objetivos comunes.</a:t>
            </a:r>
          </a:p>
          <a:p>
            <a:r>
              <a:rPr lang="es-ES" dirty="0"/>
              <a:t>Estas soluciones (también denominadas </a:t>
            </a:r>
            <a:r>
              <a:rPr lang="es-ES" b="1" dirty="0"/>
              <a:t>capacidades organizacionales</a:t>
            </a:r>
            <a:r>
              <a:rPr lang="es-ES" dirty="0"/>
              <a:t>) pueden ser procesos, herramientas o información.</a:t>
            </a:r>
          </a:p>
          <a:p>
            <a:r>
              <a:rPr lang="es-ES" dirty="0"/>
              <a:t>Los límites de la empresa se pueden definir en relación con el cambio y </a:t>
            </a:r>
            <a:r>
              <a:rPr lang="es-ES" b="1" dirty="0"/>
              <a:t>no es necesario que estén restringidos por los límites de una entidad legal</a:t>
            </a:r>
            <a:r>
              <a:rPr lang="es-ES" dirty="0"/>
              <a:t>, organización o unidad organizativa.</a:t>
            </a:r>
          </a:p>
        </p:txBody>
      </p:sp>
      <p:pic>
        <p:nvPicPr>
          <p:cNvPr id="3" name="Marcador de posición de imagen 2">
            <a:extLst>
              <a:ext uri="{FF2B5EF4-FFF2-40B4-BE49-F238E27FC236}">
                <a16:creationId xmlns:a16="http://schemas.microsoft.com/office/drawing/2014/main" id="{637DCF26-F90A-F91B-55C3-EA8DA0145AD3}"/>
              </a:ext>
            </a:extLst>
          </p:cNvPr>
          <p:cNvPicPr>
            <a:picLocks noGrp="1" noChangeAspect="1"/>
          </p:cNvPicPr>
          <p:nvPr>
            <p:ph type="pic" sz="quarter" idx="10"/>
          </p:nvPr>
        </p:nvPicPr>
        <p:blipFill>
          <a:blip r:embed="rId3"/>
          <a:srcRect t="26" b="26"/>
          <a:stretch>
            <a:fillRect/>
          </a:stretch>
        </p:blipFill>
        <p:spPr/>
      </p:pic>
    </p:spTree>
    <p:extLst>
      <p:ext uri="{BB962C8B-B14F-4D97-AF65-F5344CB8AC3E}">
        <p14:creationId xmlns:p14="http://schemas.microsoft.com/office/powerpoint/2010/main" val="382399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BABOK® - </a:t>
            </a:r>
            <a:r>
              <a:rPr lang="es-PE" dirty="0" smtClean="0"/>
              <a:t>términos clave</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CONCEPTOS CENTRALES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6"/>
            <a:ext cx="4103687" cy="2963182"/>
          </a:xfrm>
          <a:prstGeom prst="rect">
            <a:avLst/>
          </a:prstGeom>
        </p:spPr>
        <p:txBody>
          <a:bodyPr/>
          <a:lstStyle/>
          <a:p>
            <a:pPr marL="0" indent="0">
              <a:buNone/>
            </a:pPr>
            <a:r>
              <a:rPr lang="es-ES" b="1" dirty="0">
                <a:solidFill>
                  <a:srgbClr val="0070C0"/>
                </a:solidFill>
              </a:rPr>
              <a:t>O</a:t>
            </a:r>
            <a:r>
              <a:rPr lang="es-ES" b="1" dirty="0" smtClean="0">
                <a:solidFill>
                  <a:srgbClr val="0070C0"/>
                </a:solidFill>
              </a:rPr>
              <a:t>rganización</a:t>
            </a:r>
          </a:p>
          <a:p>
            <a:r>
              <a:rPr lang="es-ES" dirty="0" smtClean="0"/>
              <a:t>Un </a:t>
            </a:r>
            <a:r>
              <a:rPr lang="es-ES" b="1" dirty="0"/>
              <a:t>grupo autónomo de personas</a:t>
            </a:r>
            <a:r>
              <a:rPr lang="es-ES" dirty="0"/>
              <a:t> bajo la dirección de un solo individuo o junta, que trabaja hacia metas y objetivos comunes. </a:t>
            </a:r>
          </a:p>
          <a:p>
            <a:r>
              <a:rPr lang="es-ES" dirty="0"/>
              <a:t>Las organizaciones a menudo </a:t>
            </a:r>
            <a:r>
              <a:rPr lang="es-ES" b="1" dirty="0"/>
              <a:t>tienen un límite claramente definido</a:t>
            </a:r>
            <a:r>
              <a:rPr lang="es-ES" dirty="0"/>
              <a:t> y operan de manera continua, a diferencia de una iniciativa o equipo de proyecto, que puede disolverse una vez que se logran sus objetivos.</a:t>
            </a:r>
          </a:p>
          <a:p>
            <a:endParaRPr lang="es-ES" dirty="0"/>
          </a:p>
        </p:txBody>
      </p:sp>
      <p:pic>
        <p:nvPicPr>
          <p:cNvPr id="3" name="Marcador de posición de imagen 2">
            <a:extLst>
              <a:ext uri="{FF2B5EF4-FFF2-40B4-BE49-F238E27FC236}">
                <a16:creationId xmlns:a16="http://schemas.microsoft.com/office/drawing/2014/main" id="{8A1DB8BA-5C49-8459-FD47-5AF5AD0A804A}"/>
              </a:ext>
            </a:extLst>
          </p:cNvPr>
          <p:cNvPicPr>
            <a:picLocks noGrp="1" noChangeAspect="1"/>
          </p:cNvPicPr>
          <p:nvPr>
            <p:ph type="pic" sz="quarter" idx="10"/>
          </p:nvPr>
        </p:nvPicPr>
        <p:blipFill>
          <a:blip r:embed="rId3"/>
          <a:srcRect t="161" b="161"/>
          <a:stretch>
            <a:fillRect/>
          </a:stretch>
        </p:blipFill>
        <p:spPr/>
      </p:pic>
    </p:spTree>
    <p:extLst>
      <p:ext uri="{BB962C8B-B14F-4D97-AF65-F5344CB8AC3E}">
        <p14:creationId xmlns:p14="http://schemas.microsoft.com/office/powerpoint/2010/main" val="3318907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BABOK® - </a:t>
            </a:r>
            <a:r>
              <a:rPr lang="es-PE" dirty="0" smtClean="0"/>
              <a:t>términos clave</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CONCEPTOS CENTRALES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5"/>
            <a:ext cx="4103687" cy="2687411"/>
          </a:xfrm>
          <a:prstGeom prst="rect">
            <a:avLst/>
          </a:prstGeom>
        </p:spPr>
        <p:txBody>
          <a:bodyPr/>
          <a:lstStyle/>
          <a:p>
            <a:pPr marL="0" indent="0">
              <a:buNone/>
            </a:pPr>
            <a:r>
              <a:rPr lang="es-ES" b="1" dirty="0">
                <a:solidFill>
                  <a:srgbClr val="0070C0"/>
                </a:solidFill>
              </a:rPr>
              <a:t>P</a:t>
            </a:r>
            <a:r>
              <a:rPr lang="es-ES" b="1" dirty="0" smtClean="0">
                <a:solidFill>
                  <a:srgbClr val="0070C0"/>
                </a:solidFill>
              </a:rPr>
              <a:t>lan</a:t>
            </a:r>
          </a:p>
          <a:p>
            <a:r>
              <a:rPr lang="es-ES" dirty="0" smtClean="0"/>
              <a:t>Un </a:t>
            </a:r>
            <a:r>
              <a:rPr lang="es-ES" dirty="0"/>
              <a:t>plan es una </a:t>
            </a:r>
            <a:r>
              <a:rPr lang="es-ES" b="1" dirty="0"/>
              <a:t>propuesta para hacer</a:t>
            </a:r>
            <a:r>
              <a:rPr lang="es-ES" dirty="0"/>
              <a:t> o lograr algo.</a:t>
            </a:r>
          </a:p>
          <a:p>
            <a:r>
              <a:rPr lang="es-ES" dirty="0"/>
              <a:t>Los planes describen un conjunto de eventos, las dependencias entre los eventos, la secuencia esperada, el cronograma, los resultados, los materiales y recursos necesarios y los </a:t>
            </a:r>
            <a:r>
              <a:rPr lang="es-ES" i="1" dirty="0"/>
              <a:t>stakeholders</a:t>
            </a:r>
            <a:r>
              <a:rPr lang="es-ES" dirty="0"/>
              <a:t> involucrados.</a:t>
            </a:r>
          </a:p>
        </p:txBody>
      </p:sp>
      <p:pic>
        <p:nvPicPr>
          <p:cNvPr id="6" name="Marcador de posición de imagen 5">
            <a:extLst>
              <a:ext uri="{FF2B5EF4-FFF2-40B4-BE49-F238E27FC236}">
                <a16:creationId xmlns:a16="http://schemas.microsoft.com/office/drawing/2014/main" id="{D9709E6F-AA24-36FB-617F-BE4A09CB1B8D}"/>
              </a:ext>
            </a:extLst>
          </p:cNvPr>
          <p:cNvPicPr>
            <a:picLocks noGrp="1" noChangeAspect="1"/>
          </p:cNvPicPr>
          <p:nvPr>
            <p:ph type="pic" sz="quarter" idx="10"/>
          </p:nvPr>
        </p:nvPicPr>
        <p:blipFill>
          <a:blip r:embed="rId3"/>
          <a:srcRect t="585" b="585"/>
          <a:stretch>
            <a:fillRect/>
          </a:stretch>
        </p:blipFill>
        <p:spPr/>
      </p:pic>
    </p:spTree>
    <p:extLst>
      <p:ext uri="{BB962C8B-B14F-4D97-AF65-F5344CB8AC3E}">
        <p14:creationId xmlns:p14="http://schemas.microsoft.com/office/powerpoint/2010/main" val="1143534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BABOK® - </a:t>
            </a:r>
            <a:r>
              <a:rPr lang="es-PE" dirty="0" smtClean="0"/>
              <a:t>términos clave</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CONCEPTOS CENTRALES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5"/>
            <a:ext cx="4103687" cy="3072039"/>
          </a:xfrm>
          <a:prstGeom prst="rect">
            <a:avLst/>
          </a:prstGeom>
        </p:spPr>
        <p:txBody>
          <a:bodyPr/>
          <a:lstStyle/>
          <a:p>
            <a:pPr marL="0" indent="0">
              <a:buNone/>
            </a:pPr>
            <a:r>
              <a:rPr lang="es-ES" b="1" dirty="0">
                <a:solidFill>
                  <a:srgbClr val="0070C0"/>
                </a:solidFill>
              </a:rPr>
              <a:t>R</a:t>
            </a:r>
            <a:r>
              <a:rPr lang="es-ES" b="1" dirty="0" smtClean="0">
                <a:solidFill>
                  <a:srgbClr val="0070C0"/>
                </a:solidFill>
              </a:rPr>
              <a:t>equisito</a:t>
            </a:r>
          </a:p>
          <a:p>
            <a:r>
              <a:rPr lang="es-ES" dirty="0" smtClean="0"/>
              <a:t>Un </a:t>
            </a:r>
            <a:r>
              <a:rPr lang="es-ES" dirty="0"/>
              <a:t>requisito es una </a:t>
            </a:r>
            <a:r>
              <a:rPr lang="es-ES" b="1" dirty="0"/>
              <a:t>representación utilizable de una necesidad</a:t>
            </a:r>
            <a:r>
              <a:rPr lang="es-ES" dirty="0"/>
              <a:t>.</a:t>
            </a:r>
          </a:p>
          <a:p>
            <a:r>
              <a:rPr lang="es-ES" dirty="0"/>
              <a:t>Los requisitos se centran en comprender </a:t>
            </a:r>
            <a:r>
              <a:rPr lang="es-ES" b="1" dirty="0"/>
              <a:t>qué tipo de valor podría entregarse</a:t>
            </a:r>
            <a:r>
              <a:rPr lang="es-ES" dirty="0"/>
              <a:t> si se cumple un requisito.</a:t>
            </a:r>
          </a:p>
          <a:p>
            <a:r>
              <a:rPr lang="es-ES" dirty="0"/>
              <a:t>La naturaleza de la representación puede ser un documento (o un conjunto de documentos), pero puede variar ampliamente según las circunstancias.</a:t>
            </a:r>
          </a:p>
        </p:txBody>
      </p:sp>
      <p:pic>
        <p:nvPicPr>
          <p:cNvPr id="3" name="Marcador de posición de imagen 2">
            <a:extLst>
              <a:ext uri="{FF2B5EF4-FFF2-40B4-BE49-F238E27FC236}">
                <a16:creationId xmlns:a16="http://schemas.microsoft.com/office/drawing/2014/main" id="{48BBFB8D-C10C-8961-CE94-A767A54EF1A2}"/>
              </a:ext>
            </a:extLst>
          </p:cNvPr>
          <p:cNvPicPr>
            <a:picLocks noGrp="1" noChangeAspect="1"/>
          </p:cNvPicPr>
          <p:nvPr>
            <p:ph type="pic" sz="quarter" idx="10"/>
          </p:nvPr>
        </p:nvPicPr>
        <p:blipFill>
          <a:blip r:embed="rId3"/>
          <a:srcRect t="26" b="26"/>
          <a:stretch>
            <a:fillRect/>
          </a:stretch>
        </p:blipFill>
        <p:spPr/>
      </p:pic>
    </p:spTree>
    <p:extLst>
      <p:ext uri="{BB962C8B-B14F-4D97-AF65-F5344CB8AC3E}">
        <p14:creationId xmlns:p14="http://schemas.microsoft.com/office/powerpoint/2010/main" val="3048069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BABOK® - </a:t>
            </a:r>
            <a:r>
              <a:rPr lang="es-PE" dirty="0" smtClean="0"/>
              <a:t>términos clave</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CONCEPTOS CENTRALES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prstGeom prst="rect">
            <a:avLst/>
          </a:prstGeom>
        </p:spPr>
        <p:txBody>
          <a:bodyPr/>
          <a:lstStyle/>
          <a:p>
            <a:pPr marL="0" indent="0">
              <a:buNone/>
            </a:pPr>
            <a:r>
              <a:rPr lang="es-ES" b="1" dirty="0">
                <a:solidFill>
                  <a:srgbClr val="0070C0"/>
                </a:solidFill>
              </a:rPr>
              <a:t>R</a:t>
            </a:r>
            <a:r>
              <a:rPr lang="es-ES" b="1" dirty="0" smtClean="0">
                <a:solidFill>
                  <a:srgbClr val="0070C0"/>
                </a:solidFill>
              </a:rPr>
              <a:t>iesgo</a:t>
            </a:r>
          </a:p>
          <a:p>
            <a:r>
              <a:rPr lang="es-ES" dirty="0" smtClean="0"/>
              <a:t>Efecto </a:t>
            </a:r>
            <a:r>
              <a:rPr lang="es-ES" dirty="0"/>
              <a:t>de la incertidumbre sobre el valor de un cambio, una solución o la empresa.</a:t>
            </a:r>
          </a:p>
          <a:p>
            <a:pPr>
              <a:spcAft>
                <a:spcPts val="300"/>
              </a:spcAft>
            </a:pPr>
            <a:r>
              <a:rPr lang="es-ES" dirty="0"/>
              <a:t>Los analistas de negocios colaboran con otros </a:t>
            </a:r>
            <a:r>
              <a:rPr lang="es-ES" i="1" dirty="0"/>
              <a:t>stakeholders</a:t>
            </a:r>
            <a:r>
              <a:rPr lang="es-ES" dirty="0"/>
              <a:t> para identificar, evaluar y priorizar los riesgos, y para tratarlos </a:t>
            </a:r>
            <a:r>
              <a:rPr lang="es-ES" dirty="0">
                <a:solidFill>
                  <a:srgbClr val="0070C0"/>
                </a:solidFill>
              </a:rPr>
              <a:t>alterando la probabilidad de las condiciones o eventos que conducen a la incertidumbre</a:t>
            </a:r>
            <a:r>
              <a:rPr lang="es-ES" dirty="0"/>
              <a:t>:</a:t>
            </a:r>
          </a:p>
          <a:p>
            <a:pPr lvl="1">
              <a:spcAft>
                <a:spcPts val="300"/>
              </a:spcAft>
            </a:pPr>
            <a:r>
              <a:rPr lang="es-ES" dirty="0"/>
              <a:t>Mitigar las </a:t>
            </a:r>
            <a:r>
              <a:rPr lang="es-ES" dirty="0" smtClean="0"/>
              <a:t>consecuencias.</a:t>
            </a:r>
            <a:endParaRPr lang="es-ES" dirty="0"/>
          </a:p>
          <a:p>
            <a:pPr lvl="1">
              <a:spcAft>
                <a:spcPts val="300"/>
              </a:spcAft>
            </a:pPr>
            <a:r>
              <a:rPr lang="es-ES" dirty="0"/>
              <a:t>Eliminar la fuente del </a:t>
            </a:r>
            <a:r>
              <a:rPr lang="es-ES" dirty="0" smtClean="0"/>
              <a:t>riesgo.</a:t>
            </a:r>
            <a:endParaRPr lang="es-ES" dirty="0"/>
          </a:p>
          <a:p>
            <a:pPr lvl="1">
              <a:spcAft>
                <a:spcPts val="300"/>
              </a:spcAft>
            </a:pPr>
            <a:r>
              <a:rPr lang="es-ES" dirty="0"/>
              <a:t>Evitar el riesgo en </a:t>
            </a:r>
            <a:r>
              <a:rPr lang="es-ES" dirty="0" smtClean="0"/>
              <a:t>conjunto.</a:t>
            </a:r>
            <a:endParaRPr lang="es-ES" dirty="0"/>
          </a:p>
          <a:p>
            <a:pPr lvl="1">
              <a:spcAft>
                <a:spcPts val="300"/>
              </a:spcAft>
            </a:pPr>
            <a:r>
              <a:rPr lang="es-ES" dirty="0"/>
              <a:t>Compartir el riesgo con otras </a:t>
            </a:r>
            <a:r>
              <a:rPr lang="es-ES" dirty="0" smtClean="0"/>
              <a:t>partes</a:t>
            </a:r>
            <a:r>
              <a:rPr lang="es-ES" dirty="0"/>
              <a:t>.</a:t>
            </a:r>
            <a:endParaRPr lang="es-ES" dirty="0"/>
          </a:p>
          <a:p>
            <a:pPr lvl="1">
              <a:spcAft>
                <a:spcPts val="300"/>
              </a:spcAft>
            </a:pPr>
            <a:r>
              <a:rPr lang="es-ES" dirty="0"/>
              <a:t>Aceptar o incluso aumentar el riesgo para hacer frente a una oportunidad.</a:t>
            </a:r>
          </a:p>
        </p:txBody>
      </p:sp>
      <p:pic>
        <p:nvPicPr>
          <p:cNvPr id="3" name="Marcador de posición de imagen 2">
            <a:extLst>
              <a:ext uri="{FF2B5EF4-FFF2-40B4-BE49-F238E27FC236}">
                <a16:creationId xmlns:a16="http://schemas.microsoft.com/office/drawing/2014/main" id="{DF71B68C-8CE5-E0FD-9AFE-074B01771553}"/>
              </a:ext>
            </a:extLst>
          </p:cNvPr>
          <p:cNvPicPr>
            <a:picLocks noGrp="1" noChangeAspect="1"/>
          </p:cNvPicPr>
          <p:nvPr>
            <p:ph type="pic" sz="quarter" idx="10"/>
          </p:nvPr>
        </p:nvPicPr>
        <p:blipFill>
          <a:blip r:embed="rId3"/>
          <a:srcRect t="374" b="374"/>
          <a:stretch>
            <a:fillRect/>
          </a:stretch>
        </p:blipFill>
        <p:spPr/>
      </p:pic>
    </p:spTree>
    <p:extLst>
      <p:ext uri="{BB962C8B-B14F-4D97-AF65-F5344CB8AC3E}">
        <p14:creationId xmlns:p14="http://schemas.microsoft.com/office/powerpoint/2010/main" val="1639005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FB0362F1-0244-B0B2-3406-97C33CA537CE}"/>
              </a:ext>
            </a:extLst>
          </p:cNvPr>
          <p:cNvPicPr>
            <a:picLocks noGrp="1" noChangeAspect="1"/>
          </p:cNvPicPr>
          <p:nvPr>
            <p:ph type="pic" sz="quarter" idx="10"/>
          </p:nvPr>
        </p:nvPicPr>
        <p:blipFill>
          <a:blip r:embed="rId3"/>
          <a:srcRect t="403" b="403"/>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a:t>
            </a:r>
            <a:r>
              <a:rPr lang="es-PE" dirty="0" smtClean="0"/>
              <a:t>squema de clasificación de requerimientos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CONCEPTOS CENTRALES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5"/>
            <a:ext cx="8207375" cy="1206300"/>
          </a:xfrm>
          <a:prstGeom prst="rect">
            <a:avLst/>
          </a:prstGeom>
        </p:spPr>
        <p:txBody>
          <a:bodyPr/>
          <a:lstStyle/>
          <a:p>
            <a:r>
              <a:rPr lang="es-ES" dirty="0"/>
              <a:t>A los efectos de la Guía BABOK® , este concepto de requerimientos está </a:t>
            </a:r>
            <a:r>
              <a:rPr lang="es-ES" dirty="0" smtClean="0"/>
              <a:t>jerarquizado p</a:t>
            </a:r>
            <a:r>
              <a:rPr lang="es-ES" dirty="0" smtClean="0"/>
              <a:t>artiendo </a:t>
            </a:r>
            <a:r>
              <a:rPr lang="es-ES" dirty="0"/>
              <a:t>de un enfoque de negocio hasta llegar a un enfoque de solución en donde cada uno de ellos tiene un objetivo bien definido.</a:t>
            </a:r>
          </a:p>
          <a:p>
            <a:r>
              <a:rPr lang="es-ES" dirty="0"/>
              <a:t>Lo anterior se puede representar mejor con el siguiente modelo:</a:t>
            </a:r>
          </a:p>
        </p:txBody>
      </p:sp>
    </p:spTree>
    <p:extLst>
      <p:ext uri="{BB962C8B-B14F-4D97-AF65-F5344CB8AC3E}">
        <p14:creationId xmlns:p14="http://schemas.microsoft.com/office/powerpoint/2010/main" val="3380228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i="1" dirty="0"/>
              <a:t>S</a:t>
            </a:r>
            <a:r>
              <a:rPr lang="es-PE" i="1" dirty="0" smtClean="0"/>
              <a:t>takeholders</a:t>
            </a:r>
            <a:endParaRPr lang="es-PE" i="1"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CONCEPTOS CENTRALES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prstGeom prst="rect">
            <a:avLst/>
          </a:prstGeom>
        </p:spPr>
        <p:txBody>
          <a:bodyPr/>
          <a:lstStyle/>
          <a:p>
            <a:pPr>
              <a:spcAft>
                <a:spcPts val="300"/>
              </a:spcAft>
            </a:pPr>
            <a:r>
              <a:rPr lang="es-ES" dirty="0"/>
              <a:t>A los efectos de la Guía BABOK</a:t>
            </a:r>
            <a:r>
              <a:rPr lang="es-ES" dirty="0" smtClean="0"/>
              <a:t>®, </a:t>
            </a:r>
            <a:r>
              <a:rPr lang="es-ES" dirty="0"/>
              <a:t>la lista genérica de partes interesadas incluye los siguientes roles:</a:t>
            </a:r>
          </a:p>
          <a:p>
            <a:pPr lvl="1">
              <a:spcAft>
                <a:spcPts val="300"/>
              </a:spcAft>
            </a:pPr>
            <a:r>
              <a:rPr lang="es-ES" dirty="0"/>
              <a:t>Analista de </a:t>
            </a:r>
            <a:r>
              <a:rPr lang="es-ES" dirty="0" smtClean="0"/>
              <a:t>negocios.</a:t>
            </a:r>
            <a:endParaRPr lang="es-ES" dirty="0"/>
          </a:p>
          <a:p>
            <a:pPr lvl="1">
              <a:spcAft>
                <a:spcPts val="300"/>
              </a:spcAft>
            </a:pPr>
            <a:r>
              <a:rPr lang="es-ES" dirty="0" smtClean="0"/>
              <a:t>Cliente.</a:t>
            </a:r>
            <a:endParaRPr lang="es-ES" dirty="0"/>
          </a:p>
          <a:p>
            <a:pPr lvl="1">
              <a:spcAft>
                <a:spcPts val="300"/>
              </a:spcAft>
            </a:pPr>
            <a:r>
              <a:rPr lang="es-ES" dirty="0"/>
              <a:t>Experto en la materia del </a:t>
            </a:r>
            <a:r>
              <a:rPr lang="es-ES" dirty="0" smtClean="0"/>
              <a:t>dominio.</a:t>
            </a:r>
            <a:endParaRPr lang="es-ES" dirty="0"/>
          </a:p>
          <a:p>
            <a:pPr lvl="1">
              <a:spcAft>
                <a:spcPts val="300"/>
              </a:spcAft>
            </a:pPr>
            <a:r>
              <a:rPr lang="es-ES" dirty="0"/>
              <a:t>Usuario </a:t>
            </a:r>
            <a:r>
              <a:rPr lang="es-ES" dirty="0" smtClean="0"/>
              <a:t>final.</a:t>
            </a:r>
            <a:endParaRPr lang="es-ES" dirty="0"/>
          </a:p>
          <a:p>
            <a:pPr lvl="1">
              <a:spcAft>
                <a:spcPts val="300"/>
              </a:spcAft>
            </a:pPr>
            <a:r>
              <a:rPr lang="es-PE" dirty="0"/>
              <a:t>Experto en la materia de </a:t>
            </a:r>
            <a:r>
              <a:rPr lang="es-PE" dirty="0" smtClean="0"/>
              <a:t>implementación.</a:t>
            </a:r>
            <a:endParaRPr lang="es-PE" dirty="0"/>
          </a:p>
          <a:p>
            <a:pPr lvl="1">
              <a:spcAft>
                <a:spcPts val="300"/>
              </a:spcAft>
            </a:pPr>
            <a:r>
              <a:rPr lang="es-ES" dirty="0"/>
              <a:t>Soporte </a:t>
            </a:r>
            <a:r>
              <a:rPr lang="es-ES" dirty="0" smtClean="0"/>
              <a:t>operacional.</a:t>
            </a:r>
            <a:endParaRPr lang="es-ES" dirty="0"/>
          </a:p>
          <a:p>
            <a:pPr lvl="1">
              <a:spcAft>
                <a:spcPts val="300"/>
              </a:spcAft>
            </a:pPr>
            <a:r>
              <a:rPr lang="es-ES" dirty="0"/>
              <a:t>Gerente de </a:t>
            </a:r>
            <a:r>
              <a:rPr lang="es-ES" dirty="0" smtClean="0"/>
              <a:t>Proyecto.</a:t>
            </a:r>
            <a:endParaRPr lang="es-ES" dirty="0"/>
          </a:p>
          <a:p>
            <a:pPr lvl="1">
              <a:spcAft>
                <a:spcPts val="300"/>
              </a:spcAft>
            </a:pPr>
            <a:r>
              <a:rPr lang="es-ES" dirty="0" smtClean="0"/>
              <a:t>Regulador.</a:t>
            </a:r>
            <a:endParaRPr lang="es-ES" dirty="0"/>
          </a:p>
          <a:p>
            <a:pPr lvl="1">
              <a:spcAft>
                <a:spcPts val="300"/>
              </a:spcAft>
            </a:pPr>
            <a:r>
              <a:rPr lang="es-ES" dirty="0" smtClean="0"/>
              <a:t>Patrocinador.</a:t>
            </a:r>
            <a:endParaRPr lang="es-ES" dirty="0"/>
          </a:p>
          <a:p>
            <a:pPr lvl="1">
              <a:spcAft>
                <a:spcPts val="300"/>
              </a:spcAft>
            </a:pPr>
            <a:r>
              <a:rPr lang="es-ES" dirty="0" smtClean="0"/>
              <a:t>Proveedor.</a:t>
            </a:r>
            <a:endParaRPr lang="es-ES" dirty="0"/>
          </a:p>
          <a:p>
            <a:pPr lvl="1">
              <a:spcAft>
                <a:spcPts val="300"/>
              </a:spcAft>
            </a:pPr>
            <a:r>
              <a:rPr lang="es-ES" dirty="0" smtClean="0"/>
              <a:t>Probador.</a:t>
            </a:r>
            <a:endParaRPr lang="es-PE" dirty="0"/>
          </a:p>
        </p:txBody>
      </p:sp>
      <p:pic>
        <p:nvPicPr>
          <p:cNvPr id="3" name="Marcador de posición de imagen 2">
            <a:extLst>
              <a:ext uri="{FF2B5EF4-FFF2-40B4-BE49-F238E27FC236}">
                <a16:creationId xmlns:a16="http://schemas.microsoft.com/office/drawing/2014/main" id="{819C4214-9035-924C-3EED-AB9234F42FD3}"/>
              </a:ext>
            </a:extLst>
          </p:cNvPr>
          <p:cNvPicPr>
            <a:picLocks noGrp="1" noChangeAspect="1"/>
          </p:cNvPicPr>
          <p:nvPr>
            <p:ph type="pic" sz="quarter" idx="10"/>
          </p:nvPr>
        </p:nvPicPr>
        <p:blipFill>
          <a:blip r:embed="rId3"/>
          <a:srcRect t="26" b="26"/>
          <a:stretch>
            <a:fillRect/>
          </a:stretch>
        </p:blipFill>
        <p:spPr/>
      </p:pic>
    </p:spTree>
    <p:extLst>
      <p:ext uri="{BB962C8B-B14F-4D97-AF65-F5344CB8AC3E}">
        <p14:creationId xmlns:p14="http://schemas.microsoft.com/office/powerpoint/2010/main" val="3728738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R</a:t>
            </a:r>
            <a:r>
              <a:rPr lang="es-PE" dirty="0" smtClean="0"/>
              <a:t>equisitos y diseños (</a:t>
            </a:r>
            <a:r>
              <a:rPr lang="es-PE" dirty="0"/>
              <a:t>1/2)</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CONCEPTOS CENTRALES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6"/>
            <a:ext cx="4103687" cy="3521982"/>
          </a:xfrm>
          <a:prstGeom prst="rect">
            <a:avLst/>
          </a:prstGeom>
        </p:spPr>
        <p:txBody>
          <a:bodyPr/>
          <a:lstStyle/>
          <a:p>
            <a:r>
              <a:rPr lang="es-ES" dirty="0"/>
              <a:t>La obtención, el análisis, la validación y la gestión de los requisitos se han reconocido sistemáticamente como </a:t>
            </a:r>
            <a:r>
              <a:rPr lang="es-ES" b="1" dirty="0"/>
              <a:t>actividades clave</a:t>
            </a:r>
            <a:r>
              <a:rPr lang="es-ES" dirty="0"/>
              <a:t> del análisis empresarial.</a:t>
            </a:r>
          </a:p>
          <a:p>
            <a:r>
              <a:rPr lang="es-ES" dirty="0"/>
              <a:t>Los analistas de negocios </a:t>
            </a:r>
            <a:r>
              <a:rPr lang="es-ES" b="1" dirty="0"/>
              <a:t>también son responsables de la definición del diseño</a:t>
            </a:r>
            <a:r>
              <a:rPr lang="es-ES" dirty="0"/>
              <a:t>, en algún nivel, en una iniciativa.</a:t>
            </a:r>
          </a:p>
          <a:p>
            <a:r>
              <a:rPr lang="es-ES" b="1" dirty="0"/>
              <a:t>Los requisitos se centran en la necesidad</a:t>
            </a:r>
            <a:r>
              <a:rPr lang="es-ES" dirty="0"/>
              <a:t>; </a:t>
            </a:r>
            <a:r>
              <a:rPr lang="es-ES" b="1" dirty="0"/>
              <a:t>los diseños están enfocados en la solución</a:t>
            </a:r>
            <a:r>
              <a:rPr lang="es-ES" dirty="0"/>
              <a:t>.</a:t>
            </a:r>
          </a:p>
          <a:p>
            <a:r>
              <a:rPr lang="es-ES" dirty="0"/>
              <a:t>Un requisito conduce a un diseño que, a su vez, puede impulsar el descubrimiento y análisis de más requisitos.</a:t>
            </a:r>
          </a:p>
        </p:txBody>
      </p:sp>
      <p:pic>
        <p:nvPicPr>
          <p:cNvPr id="3" name="Marcador de posición de imagen 2">
            <a:extLst>
              <a:ext uri="{FF2B5EF4-FFF2-40B4-BE49-F238E27FC236}">
                <a16:creationId xmlns:a16="http://schemas.microsoft.com/office/drawing/2014/main" id="{8FD46353-CFA2-A8AF-1E9C-22F21EE48586}"/>
              </a:ext>
            </a:extLst>
          </p:cNvPr>
          <p:cNvPicPr>
            <a:picLocks noGrp="1" noChangeAspect="1"/>
          </p:cNvPicPr>
          <p:nvPr>
            <p:ph type="pic" sz="quarter" idx="10"/>
          </p:nvPr>
        </p:nvPicPr>
        <p:blipFill>
          <a:blip r:embed="rId3"/>
          <a:srcRect t="374" b="374"/>
          <a:stretch>
            <a:fillRect/>
          </a:stretch>
        </p:blipFill>
        <p:spPr/>
      </p:pic>
    </p:spTree>
    <p:extLst>
      <p:ext uri="{BB962C8B-B14F-4D97-AF65-F5344CB8AC3E}">
        <p14:creationId xmlns:p14="http://schemas.microsoft.com/office/powerpoint/2010/main" val="3700288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R</a:t>
            </a:r>
            <a:r>
              <a:rPr lang="es-PE" dirty="0" smtClean="0"/>
              <a:t>equisitos y diseños (</a:t>
            </a:r>
            <a:r>
              <a:rPr lang="es-PE" dirty="0"/>
              <a:t>2/2)</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CONCEPTOS CENTRALES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5"/>
            <a:ext cx="8207375" cy="1243239"/>
          </a:xfrm>
          <a:prstGeom prst="rect">
            <a:avLst/>
          </a:prstGeom>
        </p:spPr>
        <p:txBody>
          <a:bodyPr/>
          <a:lstStyle/>
          <a:p>
            <a:r>
              <a:rPr lang="es-ES" dirty="0"/>
              <a:t>Los </a:t>
            </a:r>
            <a:r>
              <a:rPr lang="es-ES" i="1" dirty="0"/>
              <a:t>stakeholders</a:t>
            </a:r>
            <a:r>
              <a:rPr lang="es-ES" dirty="0"/>
              <a:t> pueden presentar una necesidad o una solución a una supuesta necesidad.</a:t>
            </a:r>
          </a:p>
          <a:p>
            <a:r>
              <a:rPr lang="es-ES" dirty="0"/>
              <a:t>La importancia del rol del analista de negocios radica en preguntarse continuamente '¿por qué?'. Por ejemplo, </a:t>
            </a:r>
            <a:r>
              <a:rPr lang="es-ES" dirty="0" smtClean="0"/>
              <a:t>"¿por </a:t>
            </a:r>
            <a:r>
              <a:rPr lang="es-ES" dirty="0"/>
              <a:t>qué es necesario el requisito o el diseño para proporcionar valor a una empresa y facilitar la realización de las metas y objetivos de una empresa?"</a:t>
            </a:r>
          </a:p>
          <a:p>
            <a:endParaRPr lang="es-ES" dirty="0"/>
          </a:p>
        </p:txBody>
      </p:sp>
      <p:graphicFrame>
        <p:nvGraphicFramePr>
          <p:cNvPr id="6" name="Tabla 6">
            <a:extLst>
              <a:ext uri="{FF2B5EF4-FFF2-40B4-BE49-F238E27FC236}">
                <a16:creationId xmlns:a16="http://schemas.microsoft.com/office/drawing/2014/main" id="{642AA7C0-023C-E6F7-1F55-7810B23BFC43}"/>
              </a:ext>
            </a:extLst>
          </p:cNvPr>
          <p:cNvGraphicFramePr>
            <a:graphicFrameLocks noGrp="1"/>
          </p:cNvGraphicFramePr>
          <p:nvPr>
            <p:extLst>
              <p:ext uri="{D42A27DB-BD31-4B8C-83A1-F6EECF244321}">
                <p14:modId xmlns:p14="http://schemas.microsoft.com/office/powerpoint/2010/main" val="3381459372"/>
              </p:ext>
            </p:extLst>
          </p:nvPr>
        </p:nvGraphicFramePr>
        <p:xfrm>
          <a:off x="883919" y="2553219"/>
          <a:ext cx="7791768" cy="2712720"/>
        </p:xfrm>
        <a:graphic>
          <a:graphicData uri="http://schemas.openxmlformats.org/drawingml/2006/table">
            <a:tbl>
              <a:tblPr firstRow="1" bandRow="1">
                <a:tableStyleId>{5C22544A-7EE6-4342-B048-85BDC9FD1C3A}</a:tableStyleId>
              </a:tblPr>
              <a:tblGrid>
                <a:gridCol w="4023361">
                  <a:extLst>
                    <a:ext uri="{9D8B030D-6E8A-4147-A177-3AD203B41FA5}">
                      <a16:colId xmlns:a16="http://schemas.microsoft.com/office/drawing/2014/main" val="2881780825"/>
                    </a:ext>
                  </a:extLst>
                </a:gridCol>
                <a:gridCol w="3768407">
                  <a:extLst>
                    <a:ext uri="{9D8B030D-6E8A-4147-A177-3AD203B41FA5}">
                      <a16:colId xmlns:a16="http://schemas.microsoft.com/office/drawing/2014/main" val="3774640447"/>
                    </a:ext>
                  </a:extLst>
                </a:gridCol>
              </a:tblGrid>
              <a:tr h="274168">
                <a:tc>
                  <a:txBody>
                    <a:bodyPr/>
                    <a:lstStyle/>
                    <a:p>
                      <a:r>
                        <a:rPr lang="es-PE" sz="1600" dirty="0"/>
                        <a:t>Requisito</a:t>
                      </a:r>
                    </a:p>
                  </a:txBody>
                  <a:tcPr anchor="ctr"/>
                </a:tc>
                <a:tc>
                  <a:txBody>
                    <a:bodyPr/>
                    <a:lstStyle/>
                    <a:p>
                      <a:r>
                        <a:rPr lang="es-PE" sz="1600" dirty="0"/>
                        <a:t>Diseño</a:t>
                      </a:r>
                    </a:p>
                  </a:txBody>
                  <a:tcPr anchor="ctr"/>
                </a:tc>
                <a:extLst>
                  <a:ext uri="{0D108BD9-81ED-4DB2-BD59-A6C34878D82A}">
                    <a16:rowId xmlns:a16="http://schemas.microsoft.com/office/drawing/2014/main" val="3127813168"/>
                  </a:ext>
                </a:extLst>
              </a:tr>
              <a:tr h="423714">
                <a:tc>
                  <a:txBody>
                    <a:bodyPr/>
                    <a:lstStyle/>
                    <a:p>
                      <a:r>
                        <a:rPr lang="es-PE" sz="1400" dirty="0"/>
                        <a:t>Ver los datos de ventas de seis meses en varias unidades organizacionales en una sola vista.</a:t>
                      </a:r>
                    </a:p>
                  </a:txBody>
                  <a:tcPr anchor="ctr"/>
                </a:tc>
                <a:tc>
                  <a:txBody>
                    <a:bodyPr/>
                    <a:lstStyle/>
                    <a:p>
                      <a:r>
                        <a:rPr lang="es-PE" sz="1400" dirty="0"/>
                        <a:t>Un boceto de un </a:t>
                      </a:r>
                      <a:r>
                        <a:rPr lang="es-PE" sz="1400" dirty="0" smtClean="0"/>
                        <a:t>tablero.</a:t>
                      </a:r>
                      <a:endParaRPr lang="es-PE" sz="1400" dirty="0"/>
                    </a:p>
                  </a:txBody>
                  <a:tcPr anchor="ctr"/>
                </a:tc>
                <a:extLst>
                  <a:ext uri="{0D108BD9-81ED-4DB2-BD59-A6C34878D82A}">
                    <a16:rowId xmlns:a16="http://schemas.microsoft.com/office/drawing/2014/main" val="1187250803"/>
                  </a:ext>
                </a:extLst>
              </a:tr>
              <a:tr h="423714">
                <a:tc>
                  <a:txBody>
                    <a:bodyPr/>
                    <a:lstStyle/>
                    <a:p>
                      <a:r>
                        <a:rPr lang="es-PE" sz="1400" dirty="0"/>
                        <a:t>Reducir la cantidad de tiempo requerido para recoger y empacar el pedido de un </a:t>
                      </a:r>
                      <a:r>
                        <a:rPr lang="es-PE" sz="1400" dirty="0" smtClean="0"/>
                        <a:t>cliente.</a:t>
                      </a:r>
                      <a:endParaRPr lang="es-PE" sz="1400" dirty="0"/>
                    </a:p>
                  </a:txBody>
                  <a:tcPr anchor="ctr"/>
                </a:tc>
                <a:tc>
                  <a:txBody>
                    <a:bodyPr/>
                    <a:lstStyle/>
                    <a:p>
                      <a:r>
                        <a:rPr lang="es-PE" sz="1400" dirty="0"/>
                        <a:t>Modelo de </a:t>
                      </a:r>
                      <a:r>
                        <a:rPr lang="es-PE" sz="1400" dirty="0" smtClean="0"/>
                        <a:t>proceso.</a:t>
                      </a:r>
                      <a:endParaRPr lang="es-PE" sz="1400" dirty="0"/>
                    </a:p>
                  </a:txBody>
                  <a:tcPr anchor="ctr"/>
                </a:tc>
                <a:extLst>
                  <a:ext uri="{0D108BD9-81ED-4DB2-BD59-A6C34878D82A}">
                    <a16:rowId xmlns:a16="http://schemas.microsoft.com/office/drawing/2014/main" val="1060100813"/>
                  </a:ext>
                </a:extLst>
              </a:tr>
              <a:tr h="423714">
                <a:tc>
                  <a:txBody>
                    <a:bodyPr/>
                    <a:lstStyle/>
                    <a:p>
                      <a:r>
                        <a:rPr lang="es-PE" sz="1400" dirty="0"/>
                        <a:t>Registro y acceso al historial médico de un </a:t>
                      </a:r>
                      <a:r>
                        <a:rPr lang="es-PE" sz="1400" dirty="0" smtClean="0"/>
                        <a:t>paciente.</a:t>
                      </a:r>
                      <a:endParaRPr lang="es-PE" sz="1400" dirty="0"/>
                    </a:p>
                  </a:txBody>
                  <a:tcPr anchor="ctr"/>
                </a:tc>
                <a:tc>
                  <a:txBody>
                    <a:bodyPr/>
                    <a:lstStyle/>
                    <a:p>
                      <a:r>
                        <a:rPr lang="es-PE" sz="1400" dirty="0"/>
                        <a:t>Maqueta de pantalla que muestra campos de datos </a:t>
                      </a:r>
                      <a:r>
                        <a:rPr lang="es-PE" sz="1400" dirty="0" smtClean="0"/>
                        <a:t>específicos.</a:t>
                      </a:r>
                      <a:endParaRPr lang="es-PE" sz="1400" dirty="0"/>
                    </a:p>
                  </a:txBody>
                  <a:tcPr anchor="ctr"/>
                </a:tc>
                <a:extLst>
                  <a:ext uri="{0D108BD9-81ED-4DB2-BD59-A6C34878D82A}">
                    <a16:rowId xmlns:a16="http://schemas.microsoft.com/office/drawing/2014/main" val="2418081529"/>
                  </a:ext>
                </a:extLst>
              </a:tr>
              <a:tr h="423714">
                <a:tc>
                  <a:txBody>
                    <a:bodyPr/>
                    <a:lstStyle/>
                    <a:p>
                      <a:r>
                        <a:rPr lang="es-PE" sz="1400" dirty="0"/>
                        <a:t>Desarrollar la estrategia de negocio, las metas y los objetivos para un nuevo </a:t>
                      </a:r>
                      <a:r>
                        <a:rPr lang="es-PE" sz="1400" dirty="0" smtClean="0"/>
                        <a:t>negocio.</a:t>
                      </a:r>
                      <a:endParaRPr lang="es-PE" sz="1400" dirty="0"/>
                    </a:p>
                  </a:txBody>
                  <a:tcPr anchor="ctr"/>
                </a:tc>
                <a:tc>
                  <a:txBody>
                    <a:bodyPr/>
                    <a:lstStyle/>
                    <a:p>
                      <a:r>
                        <a:rPr lang="es-PE" sz="1400" dirty="0"/>
                        <a:t>Modelo de capacidad </a:t>
                      </a:r>
                      <a:r>
                        <a:rPr lang="es-PE" sz="1400" dirty="0" smtClean="0"/>
                        <a:t>empresarial.</a:t>
                      </a:r>
                      <a:endParaRPr lang="es-PE" sz="1400" dirty="0"/>
                    </a:p>
                  </a:txBody>
                  <a:tcPr anchor="ctr"/>
                </a:tc>
                <a:extLst>
                  <a:ext uri="{0D108BD9-81ED-4DB2-BD59-A6C34878D82A}">
                    <a16:rowId xmlns:a16="http://schemas.microsoft.com/office/drawing/2014/main" val="1102858022"/>
                  </a:ext>
                </a:extLst>
              </a:tr>
              <a:tr h="256240">
                <a:tc>
                  <a:txBody>
                    <a:bodyPr/>
                    <a:lstStyle/>
                    <a:p>
                      <a:r>
                        <a:rPr lang="es-PE" sz="1400" dirty="0"/>
                        <a:t>Proporcionar información en inglés y </a:t>
                      </a:r>
                      <a:r>
                        <a:rPr lang="es-PE" sz="1400" dirty="0" smtClean="0"/>
                        <a:t>francés.</a:t>
                      </a:r>
                      <a:endParaRPr lang="es-PE" sz="1400" dirty="0"/>
                    </a:p>
                  </a:txBody>
                  <a:tcPr anchor="ctr"/>
                </a:tc>
                <a:tc>
                  <a:txBody>
                    <a:bodyPr/>
                    <a:lstStyle/>
                    <a:p>
                      <a:r>
                        <a:rPr lang="es-PE" sz="1400" dirty="0"/>
                        <a:t>Prototipo con texto mostrado en inglés y </a:t>
                      </a:r>
                      <a:r>
                        <a:rPr lang="es-PE" sz="1400" dirty="0" smtClean="0"/>
                        <a:t>francés.</a:t>
                      </a:r>
                      <a:endParaRPr lang="es-PE" sz="1400" dirty="0"/>
                    </a:p>
                  </a:txBody>
                  <a:tcPr anchor="ctr"/>
                </a:tc>
                <a:extLst>
                  <a:ext uri="{0D108BD9-81ED-4DB2-BD59-A6C34878D82A}">
                    <a16:rowId xmlns:a16="http://schemas.microsoft.com/office/drawing/2014/main" val="1706660686"/>
                  </a:ext>
                </a:extLst>
              </a:tr>
            </a:tbl>
          </a:graphicData>
        </a:graphic>
      </p:graphicFrame>
    </p:spTree>
    <p:extLst>
      <p:ext uri="{BB962C8B-B14F-4D97-AF65-F5344CB8AC3E}">
        <p14:creationId xmlns:p14="http://schemas.microsoft.com/office/powerpoint/2010/main" val="3167736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F500AF3-50A8-4251-BC95-6B4FF9C4652B}"/>
              </a:ext>
            </a:extLst>
          </p:cNvPr>
          <p:cNvSpPr>
            <a:spLocks noGrp="1"/>
          </p:cNvSpPr>
          <p:nvPr>
            <p:ph type="body" sz="quarter" idx="10"/>
          </p:nvPr>
        </p:nvSpPr>
        <p:spPr>
          <a:xfrm>
            <a:off x="927366" y="1670909"/>
            <a:ext cx="7713398" cy="2560005"/>
          </a:xfrm>
        </p:spPr>
        <p:txBody>
          <a:bodyPr/>
          <a:lstStyle/>
          <a:p>
            <a:r>
              <a:rPr lang="es-ES" dirty="0"/>
              <a:t>La idea clave de la que parte la Guía BABOK® es la de definir la profesión de Análisis Empresarial (Análisis de Negocio).</a:t>
            </a:r>
          </a:p>
          <a:p>
            <a:r>
              <a:rPr lang="es-ES" dirty="0"/>
              <a:t>La Guía BABOK® actúa como el marco de referencia que describe las tareas del </a:t>
            </a:r>
            <a:r>
              <a:rPr lang="es-ES" dirty="0" smtClean="0"/>
              <a:t>análisis </a:t>
            </a:r>
            <a:r>
              <a:rPr lang="es-ES" dirty="0"/>
              <a:t>e</a:t>
            </a:r>
            <a:r>
              <a:rPr lang="es-ES" dirty="0" smtClean="0"/>
              <a:t>mpresarial </a:t>
            </a:r>
            <a:r>
              <a:rPr lang="es-ES" dirty="0"/>
              <a:t>que se deben realizar para lograr una solución a la necesidad identificada en una empresa u organización.</a:t>
            </a:r>
          </a:p>
          <a:p>
            <a:r>
              <a:rPr lang="es-ES" dirty="0"/>
              <a:t>Un </a:t>
            </a:r>
            <a:r>
              <a:rPr lang="es-ES" dirty="0" smtClean="0"/>
              <a:t>requerimiento </a:t>
            </a:r>
            <a:r>
              <a:rPr lang="es-ES" dirty="0"/>
              <a:t>es lo que pide el usuario. (Perspectiva del cliente o negocio).</a:t>
            </a:r>
          </a:p>
          <a:p>
            <a:r>
              <a:rPr lang="es-ES" dirty="0"/>
              <a:t>Un </a:t>
            </a:r>
            <a:r>
              <a:rPr lang="es-ES" dirty="0" smtClean="0"/>
              <a:t>requisito </a:t>
            </a:r>
            <a:r>
              <a:rPr lang="es-ES" dirty="0"/>
              <a:t>es </a:t>
            </a:r>
            <a:r>
              <a:rPr lang="es-ES" dirty="0" smtClean="0"/>
              <a:t>lo </a:t>
            </a:r>
            <a:r>
              <a:rPr lang="es-ES" dirty="0"/>
              <a:t>que necesitamos para solventar o resolver lo que pide el usuario. (Perspectiva del Técnico).</a:t>
            </a:r>
          </a:p>
        </p:txBody>
      </p:sp>
    </p:spTree>
    <p:custDataLst>
      <p:tags r:id="rId1"/>
    </p:custDataLst>
    <p:extLst>
      <p:ext uri="{BB962C8B-B14F-4D97-AF65-F5344CB8AC3E}">
        <p14:creationId xmlns:p14="http://schemas.microsoft.com/office/powerpoint/2010/main" val="4015447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89435A8C-18F1-4C11-BC95-3930F36C4A90}"/>
              </a:ext>
            </a:extLst>
          </p:cNvPr>
          <p:cNvSpPr>
            <a:spLocks noGrp="1"/>
          </p:cNvSpPr>
          <p:nvPr>
            <p:ph type="body" sz="quarter" idx="10"/>
          </p:nvPr>
        </p:nvSpPr>
        <p:spPr/>
        <p:txBody>
          <a:bodyPr/>
          <a:lstStyle/>
          <a:p>
            <a:pPr>
              <a:lnSpc>
                <a:spcPct val="100000"/>
              </a:lnSpc>
            </a:pPr>
            <a:r>
              <a:rPr lang="es-ES" dirty="0"/>
              <a:t>Agile </a:t>
            </a:r>
            <a:r>
              <a:rPr lang="es-ES" dirty="0" err="1"/>
              <a:t>Extension</a:t>
            </a:r>
            <a:r>
              <a:rPr lang="es-ES" dirty="0"/>
              <a:t> </a:t>
            </a:r>
            <a:r>
              <a:rPr lang="es-ES" dirty="0" err="1"/>
              <a:t>to</a:t>
            </a:r>
            <a:r>
              <a:rPr lang="es-ES" dirty="0"/>
              <a:t> </a:t>
            </a:r>
            <a:r>
              <a:rPr lang="es-ES" dirty="0" err="1"/>
              <a:t>the</a:t>
            </a:r>
            <a:r>
              <a:rPr lang="es-ES" dirty="0"/>
              <a:t> BABOK Guide. (2020). Recuperado de: https://www.iiba.org/standards-andresources/babok/</a:t>
            </a:r>
          </a:p>
          <a:p>
            <a:pPr>
              <a:lnSpc>
                <a:spcPct val="100000"/>
              </a:lnSpc>
            </a:pPr>
            <a:r>
              <a:rPr lang="es-ES" dirty="0"/>
              <a:t>Bitácora de análisis de negocios. (2020). Recuperado de: http://gabrielalmeida.com.mx/</a:t>
            </a:r>
          </a:p>
          <a:p>
            <a:pPr>
              <a:lnSpc>
                <a:spcPct val="100000"/>
              </a:lnSpc>
            </a:pPr>
            <a:r>
              <a:rPr lang="es-ES" dirty="0"/>
              <a:t>PMI Professional in Business </a:t>
            </a:r>
            <a:r>
              <a:rPr lang="es-ES" dirty="0" err="1"/>
              <a:t>Analysis</a:t>
            </a:r>
            <a:r>
              <a:rPr lang="es-ES" dirty="0"/>
              <a:t>. (2020). Recuperado de: https://www.pmi.org/certification/businessanalysis-pba.aspx</a:t>
            </a:r>
          </a:p>
          <a:p>
            <a:pPr>
              <a:lnSpc>
                <a:spcPct val="100000"/>
              </a:lnSpc>
            </a:pPr>
            <a:r>
              <a:rPr lang="es-ES" dirty="0"/>
              <a:t>International </a:t>
            </a:r>
            <a:r>
              <a:rPr lang="es-ES" dirty="0" err="1"/>
              <a:t>Institute</a:t>
            </a:r>
            <a:r>
              <a:rPr lang="es-ES" dirty="0"/>
              <a:t> </a:t>
            </a:r>
            <a:r>
              <a:rPr lang="es-ES" dirty="0" err="1"/>
              <a:t>of</a:t>
            </a:r>
            <a:r>
              <a:rPr lang="es-ES" dirty="0"/>
              <a:t> Business </a:t>
            </a:r>
            <a:r>
              <a:rPr lang="es-ES" dirty="0" err="1"/>
              <a:t>Analysis</a:t>
            </a:r>
            <a:r>
              <a:rPr lang="es-ES" dirty="0"/>
              <a:t>. (2011). Recuperado de: https://analytics.infozone.pro/wpcontent/uploads/2013/04/IIBA_Competency_Model_v3_Final.pdf</a:t>
            </a:r>
          </a:p>
        </p:txBody>
      </p:sp>
    </p:spTree>
    <p:custDataLst>
      <p:tags r:id="rId1"/>
    </p:custDataLst>
    <p:extLst>
      <p:ext uri="{BB962C8B-B14F-4D97-AF65-F5344CB8AC3E}">
        <p14:creationId xmlns:p14="http://schemas.microsoft.com/office/powerpoint/2010/main" val="1480541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lIns="91425" tIns="91425" rIns="91425" bIns="91425" anchor="t" anchorCtr="0">
        <a:noAutofit/>
      </a:bodyPr>
      <a:lstStyle>
        <a:defPPr marL="174625" indent="-174625">
          <a:spcBef>
            <a:spcPts val="0"/>
          </a:spcBef>
          <a:buSzPct val="100000"/>
          <a:defRPr sz="1500" dirty="0" smtClean="0">
            <a:latin typeface="Calibri"/>
            <a:cs typeface="Calibri"/>
          </a:defRPr>
        </a:defPPr>
      </a:lstStyle>
    </a:txDef>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7886</TotalTime>
  <Words>3742</Words>
  <Application>Microsoft Office PowerPoint</Application>
  <PresentationFormat>Presentación en pantalla (16:10)</PresentationFormat>
  <Paragraphs>375</Paragraphs>
  <Slides>47</Slides>
  <Notes>47</Notes>
  <HiddenSlides>0</HiddenSlides>
  <MMClips>0</MMClips>
  <ScaleCrop>false</ScaleCrop>
  <HeadingPairs>
    <vt:vector size="6" baseType="variant">
      <vt:variant>
        <vt:lpstr>Fuentes usadas</vt:lpstr>
      </vt:variant>
      <vt:variant>
        <vt:i4>4</vt:i4>
      </vt:variant>
      <vt:variant>
        <vt:lpstr>Tema</vt:lpstr>
      </vt:variant>
      <vt:variant>
        <vt:i4>2</vt:i4>
      </vt:variant>
      <vt:variant>
        <vt:lpstr>Títulos de diapositiva</vt:lpstr>
      </vt:variant>
      <vt:variant>
        <vt:i4>47</vt:i4>
      </vt:variant>
    </vt:vector>
  </HeadingPairs>
  <TitlesOfParts>
    <vt:vector size="53" baseType="lpstr">
      <vt:lpstr>Arial</vt:lpstr>
      <vt:lpstr>Calibri</vt:lpstr>
      <vt:lpstr>Delius</vt:lpstr>
      <vt:lpstr>Wingdings</vt:lpstr>
      <vt:lpstr>Office Theme</vt:lpstr>
      <vt:lpstr>1_Office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Arturo Enrique Reátegui Herrera</cp:lastModifiedBy>
  <cp:revision>607</cp:revision>
  <cp:lastPrinted>2018-01-16T21:42:59Z</cp:lastPrinted>
  <dcterms:created xsi:type="dcterms:W3CDTF">2016-10-06T14:52:02Z</dcterms:created>
  <dcterms:modified xsi:type="dcterms:W3CDTF">2023-06-07T21:13:20Z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