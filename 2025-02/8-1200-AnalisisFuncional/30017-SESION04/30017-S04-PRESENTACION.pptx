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6.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7.xml" ContentType="application/vnd.openxmlformats-officedocument.presentationml.tags+xml"/>
  <Override PartName="/ppt/notesSlides/notesSlide50.xml" ContentType="application/vnd.openxmlformats-officedocument.presentationml.notesSlide+xml"/>
  <Override PartName="/ppt/tags/tag8.xml" ContentType="application/vnd.openxmlformats-officedocument.presentationml.tags+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handoutMasterIdLst>
    <p:handoutMasterId r:id="rId54"/>
  </p:handoutMasterIdLst>
  <p:sldIdLst>
    <p:sldId id="418" r:id="rId2"/>
    <p:sldId id="337" r:id="rId3"/>
    <p:sldId id="315" r:id="rId4"/>
    <p:sldId id="506" r:id="rId5"/>
    <p:sldId id="430" r:id="rId6"/>
    <p:sldId id="431" r:id="rId7"/>
    <p:sldId id="455" r:id="rId8"/>
    <p:sldId id="432" r:id="rId9"/>
    <p:sldId id="434" r:id="rId10"/>
    <p:sldId id="433" r:id="rId11"/>
    <p:sldId id="459" r:id="rId12"/>
    <p:sldId id="359" r:id="rId13"/>
    <p:sldId id="465" r:id="rId14"/>
    <p:sldId id="499" r:id="rId15"/>
    <p:sldId id="503" r:id="rId16"/>
    <p:sldId id="500" r:id="rId17"/>
    <p:sldId id="501" r:id="rId18"/>
    <p:sldId id="502" r:id="rId19"/>
    <p:sldId id="504" r:id="rId20"/>
    <p:sldId id="464" r:id="rId21"/>
    <p:sldId id="422" r:id="rId22"/>
    <p:sldId id="603" r:id="rId23"/>
    <p:sldId id="598" r:id="rId24"/>
    <p:sldId id="599" r:id="rId25"/>
    <p:sldId id="600" r:id="rId26"/>
    <p:sldId id="647" r:id="rId27"/>
    <p:sldId id="607" r:id="rId28"/>
    <p:sldId id="611" r:id="rId29"/>
    <p:sldId id="612" r:id="rId30"/>
    <p:sldId id="613" r:id="rId31"/>
    <p:sldId id="614" r:id="rId32"/>
    <p:sldId id="616" r:id="rId33"/>
    <p:sldId id="676" r:id="rId34"/>
    <p:sldId id="423" r:id="rId35"/>
    <p:sldId id="606" r:id="rId36"/>
    <p:sldId id="810" r:id="rId37"/>
    <p:sldId id="811" r:id="rId38"/>
    <p:sldId id="812" r:id="rId39"/>
    <p:sldId id="813" r:id="rId40"/>
    <p:sldId id="814" r:id="rId41"/>
    <p:sldId id="815" r:id="rId42"/>
    <p:sldId id="816" r:id="rId43"/>
    <p:sldId id="817" r:id="rId44"/>
    <p:sldId id="818" r:id="rId45"/>
    <p:sldId id="819" r:id="rId46"/>
    <p:sldId id="675" r:id="rId47"/>
    <p:sldId id="588" r:id="rId48"/>
    <p:sldId id="590" r:id="rId49"/>
    <p:sldId id="595" r:id="rId50"/>
    <p:sldId id="303" r:id="rId51"/>
    <p:sldId id="305" r:id="rId52"/>
  </p:sldIdLst>
  <p:sldSz cx="9144000" cy="5715000" type="screen16x10"/>
  <p:notesSz cx="6797675" cy="9926638"/>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8ED5"/>
    <a:srgbClr val="48C2BB"/>
    <a:srgbClr val="1F85A6"/>
    <a:srgbClr val="15BDAD"/>
    <a:srgbClr val="F1D156"/>
    <a:srgbClr val="276B7D"/>
    <a:srgbClr val="F1FDC3"/>
    <a:srgbClr val="9CC606"/>
    <a:srgbClr val="E2F6F1"/>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39" autoAdjust="0"/>
    <p:restoredTop sz="94396" autoAdjust="0"/>
  </p:normalViewPr>
  <p:slideViewPr>
    <p:cSldViewPr snapToGrid="0" snapToObjects="1" showGuides="1">
      <p:cViewPr varScale="1">
        <p:scale>
          <a:sx n="97" d="100"/>
          <a:sy n="97" d="100"/>
        </p:scale>
        <p:origin x="1320" y="8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20" d="100"/>
        <a:sy n="120" d="100"/>
      </p:scale>
      <p:origin x="0" y="-10848"/>
    </p:cViewPr>
  </p:sorterViewPr>
  <p:notesViewPr>
    <p:cSldViewPr snapToGrid="0" snapToObjects="1" showGuides="1">
      <p:cViewPr varScale="1">
        <p:scale>
          <a:sx n="48" d="100"/>
          <a:sy n="48" d="100"/>
        </p:scale>
        <p:origin x="2940" y="6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04/07/2023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4/07/2023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1237642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43633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39111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2779785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lvl="0" indent="0">
              <a:spcAft>
                <a:spcPts val="0"/>
              </a:spcAft>
              <a:buFont typeface="Arial" panose="020B0604020202020204" pitchFamily="34" charset="0"/>
              <a:buNone/>
            </a:pPr>
            <a:r>
              <a:rPr lang="es-ES" dirty="0"/>
              <a:t>El Director de proyecto es el líder del equipo de proyecto y se encarga de coordinar y supervisar todas las actividades del equipo.</a:t>
            </a:r>
          </a:p>
          <a:p>
            <a:pPr marL="0" lvl="0" indent="0">
              <a:spcAft>
                <a:spcPts val="0"/>
              </a:spcAft>
              <a:buFont typeface="Arial" panose="020B0604020202020204" pitchFamily="34" charset="0"/>
              <a:buNone/>
            </a:pPr>
            <a:r>
              <a:rPr lang="es-ES" dirty="0"/>
              <a:t>El </a:t>
            </a:r>
            <a:r>
              <a:rPr lang="es-ES" i="1" dirty="0"/>
              <a:t>sponsor</a:t>
            </a:r>
            <a:r>
              <a:rPr lang="es-ES" dirty="0"/>
              <a:t> es la persona o entidad que financia el proyecto y tiene un interés directo en su éxito.</a:t>
            </a:r>
          </a:p>
          <a:p>
            <a:pPr marL="0" lvl="0" indent="0">
              <a:spcAft>
                <a:spcPts val="0"/>
              </a:spcAft>
              <a:buFont typeface="Arial" panose="020B0604020202020204" pitchFamily="34" charset="0"/>
              <a:buNone/>
            </a:pPr>
            <a:r>
              <a:rPr lang="es-ES" dirty="0"/>
              <a:t>Los </a:t>
            </a:r>
            <a:r>
              <a:rPr lang="es-ES" i="1" dirty="0"/>
              <a:t>stakeholders</a:t>
            </a:r>
            <a:r>
              <a:rPr lang="es-ES" dirty="0"/>
              <a:t> son todas las personas y organizaciones que se ven afectadas por el proyecto o que tienen un interés directo en él.</a:t>
            </a:r>
          </a:p>
          <a:p>
            <a:pPr marL="0" lvl="0" indent="0">
              <a:spcAft>
                <a:spcPts val="0"/>
              </a:spcAft>
              <a:buFont typeface="Arial" panose="020B0604020202020204" pitchFamily="34" charset="0"/>
              <a:buNone/>
            </a:pPr>
            <a:r>
              <a:rPr lang="es-ES" dirty="0"/>
              <a:t>Los miembros del equipo son los individuos que trabajan directamente en el proyecto y tienen responsabilidades específicas asignadas.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346775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2573975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2200413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541173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2290104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99895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dirty="0">
                <a:latin typeface="+mn-lt"/>
              </a:rPr>
              <a:t> El ciclo de vida del producto es una serie de fases que representan la evolución de un producto, desde la introducción hasta su crecimiento, madurez y retiro.</a:t>
            </a: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692515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baseline="0" dirty="0">
                <a:latin typeface="+mn-lt"/>
              </a:rPr>
              <a:t>Esos beneficios pueden mejorarse aplicando competencias de gestión del producto tales como el análisis competitivo, la adquisición de clientes y la defensa de los mismos.</a:t>
            </a:r>
            <a:endParaRPr lang="es-ES" dirty="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1591777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gestión del producto puede iniciar programas o proyectos en cualquier punto del ciclo de vida del producto para crear o mejorar componentes, funciones o capacidades específicas.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producto inicial puede comenzar como un entregable de un programa o proyecto. A lo largo de su ciclo de vida, un nuevo programa o proyecto puede agregar o mejorar componentes, atributos o capacidades específicos que crean valor adicional para los clientes y la organización patrocinadora. En algunos casos, un programa puede abarcar el ciclo de vida completo de un producto o servicio para administrar los beneficios y crear valor para la organización en forma más directa.</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1890459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22004399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2117995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3384825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71068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3019777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28442519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i="0" u="none" strike="noStrike" kern="1200" baseline="0" dirty="0">
                <a:solidFill>
                  <a:schemeClr val="tx1"/>
                </a:solidFill>
                <a:latin typeface="+mn-lt"/>
                <a:ea typeface="+mn-ea"/>
                <a:cs typeface="+mn-cs"/>
              </a:rPr>
              <a:t>Viabilidad</a:t>
            </a:r>
            <a:r>
              <a:rPr lang="es-ES" sz="1200" b="0" i="0" u="none" strike="noStrike" kern="1200" baseline="0" dirty="0">
                <a:solidFill>
                  <a:schemeClr val="tx1"/>
                </a:solidFill>
                <a:latin typeface="+mn-lt"/>
                <a:ea typeface="+mn-ea"/>
                <a:cs typeface="+mn-cs"/>
              </a:rPr>
              <a:t>. Esta fase determina si el caso de negocio es válido y si la organización tiene la capacidad de entregar el resultado previsto.</a:t>
            </a:r>
          </a:p>
          <a:p>
            <a:r>
              <a:rPr lang="es-ES" sz="1200" b="1" i="0" u="none" strike="noStrike" kern="1200" baseline="0" dirty="0">
                <a:solidFill>
                  <a:schemeClr val="tx1"/>
                </a:solidFill>
                <a:latin typeface="+mn-lt"/>
                <a:ea typeface="+mn-ea"/>
                <a:cs typeface="+mn-cs"/>
              </a:rPr>
              <a:t>Diseño.</a:t>
            </a:r>
            <a:r>
              <a:rPr lang="es-ES" sz="1200" b="0" i="0" u="none" strike="noStrike" kern="1200" baseline="0" dirty="0">
                <a:solidFill>
                  <a:schemeClr val="tx1"/>
                </a:solidFill>
                <a:latin typeface="+mn-lt"/>
                <a:ea typeface="+mn-ea"/>
                <a:cs typeface="+mn-cs"/>
              </a:rPr>
              <a:t> La planificación y el análisis conducen al diseño del entregable del proyecto que </a:t>
            </a:r>
            <a:r>
              <a:rPr lang="es-PE" sz="1200" b="0" i="0" u="none" strike="noStrike" kern="1200" baseline="0" dirty="0">
                <a:solidFill>
                  <a:schemeClr val="tx1"/>
                </a:solidFill>
                <a:latin typeface="+mn-lt"/>
                <a:ea typeface="+mn-ea"/>
                <a:cs typeface="+mn-cs"/>
              </a:rPr>
              <a:t>será desarrollado.</a:t>
            </a:r>
          </a:p>
          <a:p>
            <a:r>
              <a:rPr lang="es-ES" sz="1200" b="1" i="0" u="none" strike="noStrike" kern="1200" baseline="0" dirty="0">
                <a:solidFill>
                  <a:schemeClr val="tx1"/>
                </a:solidFill>
                <a:latin typeface="+mn-lt"/>
                <a:ea typeface="+mn-ea"/>
                <a:cs typeface="+mn-cs"/>
              </a:rPr>
              <a:t>Construcción</a:t>
            </a:r>
            <a:r>
              <a:rPr lang="es-ES" sz="1200" b="0" i="0" u="none" strike="noStrike" kern="1200" baseline="0" dirty="0">
                <a:solidFill>
                  <a:schemeClr val="tx1"/>
                </a:solidFill>
                <a:latin typeface="+mn-lt"/>
                <a:ea typeface="+mn-ea"/>
                <a:cs typeface="+mn-cs"/>
              </a:rPr>
              <a:t>. Se realiza la construcción del entregable con actividades integradas </a:t>
            </a:r>
            <a:r>
              <a:rPr lang="es-PE" sz="1200" b="0" i="0" u="none" strike="noStrike" kern="1200" baseline="0" dirty="0">
                <a:solidFill>
                  <a:schemeClr val="tx1"/>
                </a:solidFill>
                <a:latin typeface="+mn-lt"/>
                <a:ea typeface="+mn-ea"/>
                <a:cs typeface="+mn-cs"/>
              </a:rPr>
              <a:t>de aseguramiento de calidad.</a:t>
            </a:r>
          </a:p>
          <a:p>
            <a:r>
              <a:rPr lang="es-ES" sz="1200" b="1" i="0" u="none" strike="noStrike" kern="1200" baseline="0" dirty="0">
                <a:solidFill>
                  <a:schemeClr val="tx1"/>
                </a:solidFill>
                <a:latin typeface="+mn-lt"/>
                <a:ea typeface="+mn-ea"/>
                <a:cs typeface="+mn-cs"/>
              </a:rPr>
              <a:t>Prueba</a:t>
            </a:r>
            <a:r>
              <a:rPr lang="es-ES" sz="1200" b="0" i="0" u="none" strike="noStrike" kern="1200" baseline="0" dirty="0">
                <a:solidFill>
                  <a:schemeClr val="tx1"/>
                </a:solidFill>
                <a:latin typeface="+mn-lt"/>
                <a:ea typeface="+mn-ea"/>
                <a:cs typeface="+mn-cs"/>
              </a:rPr>
              <a:t>. La revisión de calidad final y la inspección de los entregables se llevan a cabo antes de la transición, la puesta en producción o la aceptación por parte del cliente.</a:t>
            </a:r>
          </a:p>
          <a:p>
            <a:r>
              <a:rPr lang="es-ES" sz="1200" b="1" i="0" u="none" strike="noStrike" kern="1200" baseline="0" dirty="0">
                <a:solidFill>
                  <a:schemeClr val="tx1"/>
                </a:solidFill>
                <a:latin typeface="+mn-lt"/>
                <a:ea typeface="+mn-ea"/>
                <a:cs typeface="+mn-cs"/>
              </a:rPr>
              <a:t>Despliegue</a:t>
            </a:r>
            <a:r>
              <a:rPr lang="es-ES" sz="1200" b="0" i="0" u="none" strike="noStrike" kern="1200" baseline="0" dirty="0">
                <a:solidFill>
                  <a:schemeClr val="tx1"/>
                </a:solidFill>
                <a:latin typeface="+mn-lt"/>
                <a:ea typeface="+mn-ea"/>
                <a:cs typeface="+mn-cs"/>
              </a:rPr>
              <a:t>. Los entregables del proyecto se ponen en uso y se completan las actividades de transición necesarias para el sostenimiento, la realización de beneficios y la gestión de </a:t>
            </a:r>
            <a:r>
              <a:rPr lang="es-PE" sz="1200" b="0" i="0" u="none" strike="noStrike" kern="1200" baseline="0" dirty="0">
                <a:solidFill>
                  <a:schemeClr val="tx1"/>
                </a:solidFill>
                <a:latin typeface="+mn-lt"/>
                <a:ea typeface="+mn-ea"/>
                <a:cs typeface="+mn-cs"/>
              </a:rPr>
              <a:t>cambios en la organización.</a:t>
            </a:r>
          </a:p>
          <a:p>
            <a:r>
              <a:rPr lang="es-ES" sz="1200" b="1" i="0" u="none" strike="noStrike" kern="1200" baseline="0" dirty="0">
                <a:solidFill>
                  <a:schemeClr val="tx1"/>
                </a:solidFill>
                <a:latin typeface="+mn-lt"/>
                <a:ea typeface="+mn-ea"/>
                <a:cs typeface="+mn-cs"/>
              </a:rPr>
              <a:t>Cierre</a:t>
            </a:r>
            <a:r>
              <a:rPr lang="es-ES" sz="1200" b="0" i="0" u="none" strike="noStrike" kern="1200" baseline="0" dirty="0">
                <a:solidFill>
                  <a:schemeClr val="tx1"/>
                </a:solidFill>
                <a:latin typeface="+mn-lt"/>
                <a:ea typeface="+mn-ea"/>
                <a:cs typeface="+mn-cs"/>
              </a:rPr>
              <a:t>. Se cierra el proyecto, el conocimiento y los artefactos del proyecto se archivan, los miembros del equipo de proyecto son liberados y los contratos se cierran.</a:t>
            </a: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2748238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2848596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993048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75622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927165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Estos entregables deberían estar completos antes de salir de la fase de inicio.</a:t>
            </a:r>
            <a:endParaRPr lang="es-PE" dirty="0"/>
          </a:p>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12424371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0803258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15309671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19205409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11804844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cambios en el alcance pueden aumentar la incertidumbre; por lo tanto, cualquier solicitud de cambio debe ir acompañada de una evaluación de cualquier nuevo riesgo que se introduzca debido a la adición o cambio en el alcance.</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director del proyecto trabaja con el comité de control de cambios y el solicitante del cambio para guiar las solicitudes de cambio a través del proceso de control de cambios.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algn="l"/>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30245103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14200769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 opta por los ciclos de vida iterativos es necesario gestionar objetivos poco definidos o de una alta complejidad, siendo la clave para el éxito. </a:t>
            </a: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36234246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32974562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Se opta por los métodos ágiles en entornos que cambian de forma rápida, cuando el alcance es confuso o cuando la aportación de valor es muy cambiante y con equipos altamente involucrados.</a:t>
            </a:r>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7770184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327075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22748717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36268980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29585934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33890620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24735994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3134489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15227877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director del proyecto trabaja con el dueño del producto para gestionar las expectativas en torno a la adición de alcance, las implicaciones para el presupuesto y la disponibilidad de los miembros del equipo de proyecto.</a:t>
            </a:r>
          </a:p>
          <a:p>
            <a:pPr algn="l"/>
            <a:endParaRPr lang="es-PE"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42159122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un proyecto de infraestructura, por ejemplo, una decisión judicial durante la ejecución del proyecto podría cambiar los diseños y planes. En un proyecto tecnológico, un modelo computarizado de la tecnología podría mostrar que los componentes funcionan correctamente en conjunto, pero la aplicación para el mundo real falla.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ambos casos, el equipo del proyecto necesitará abordar la situación para hacer avanzar el proyecto. La opinión de que los proyectos deben mantenerse firmes en los planes y compromisos asumidos durante las primeras etapas, incluso después de que surjan factores nuevos o imprevistos, no es beneficiosa para los interesados, incluidos los clientes y los usuarios finales, ya que limita el potencial de generar valor. Sin embargo, la adaptación debería hacerse con una visión holística, tal como un proceso de control de cambios adecuado, para evitar problemas tales como la corrupción o deslizamiento del alcance.</a:t>
            </a:r>
            <a:endParaRPr lang="es-PE" dirty="0"/>
          </a:p>
          <a:p>
            <a:pPr algn="l"/>
            <a:endParaRPr lang="es-PE" sz="1200"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25334432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Si bien la exploración de alternativas suele ser de la incumbencia del caso de negocio, las tecnologías y otras capacidades están evolucionando tan rápidamente que podría surgir una solución en cualquier momento entre la finalización del caso de negocio y el cierre del proyecto. Las oportunidades de adaptación pueden surgir durante un proyecto, momento en el que el equipo del proyecto debería presentar un caso al patrocinador del proyecto, al dueño del producto o al cliente con el ánimo de capturar la oportunidad. Dependiendo del tipo de contrato, la aprobación del cliente puede ser necesaria para algunos de los cambios que resulten de la adaptación. El equipo del proyecto debe estar preparado para adaptar sus planes y actividades con el fin de aprovechar la oportunidad, con el apoyo del patrocinador del proyecto, el dueño del producto o el cliente.</a:t>
            </a:r>
            <a:endParaRPr lang="es-PE" dirty="0"/>
          </a:p>
          <a:p>
            <a:pPr algn="l"/>
            <a:endParaRPr lang="es-PE" sz="1200"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36513424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spcAft>
                <a:spcPts val="600"/>
              </a:spcAft>
            </a:pPr>
            <a:r>
              <a:rPr lang="es-ES" dirty="0"/>
              <a:t>Puede originarse de fuentes internas, tales como la necesidad de una nueva capacidad, o en respuesta a una brecha en el desempeño.</a:t>
            </a:r>
          </a:p>
          <a:p>
            <a:pPr algn="just">
              <a:spcAft>
                <a:spcPts val="600"/>
              </a:spcAft>
            </a:pPr>
            <a:r>
              <a:rPr lang="es-ES" dirty="0"/>
              <a:t>También, en fuentes externas, tales como avances tecnológicos, cambios demográficos o presiones socioeconómicas.</a:t>
            </a:r>
          </a:p>
          <a:p>
            <a:pPr algn="just">
              <a:spcAft>
                <a:spcPts val="600"/>
              </a:spcAft>
            </a:pPr>
            <a:r>
              <a:rPr lang="es-ES" dirty="0"/>
              <a:t>Cualquier tipo de cambio implica algún nivel de adaptabilidad o asimilación por parte del grupo que experimenta el cambio, así como los sectores industriales con las que interactúa el grupo.</a:t>
            </a:r>
          </a:p>
          <a:p>
            <a:pPr marL="0" marR="0" lvl="0" indent="0" algn="just" defTabSz="914400" rtl="0" eaLnBrk="1" fontAlgn="auto" latinLnBrk="0" hangingPunct="1">
              <a:lnSpc>
                <a:spcPct val="100000"/>
              </a:lnSpc>
              <a:spcBef>
                <a:spcPts val="0"/>
              </a:spcBef>
              <a:spcAft>
                <a:spcPts val="600"/>
              </a:spcAft>
              <a:buClrTx/>
              <a:buSzTx/>
              <a:buFontTx/>
              <a:buNone/>
              <a:tabLst/>
              <a:defRPr/>
            </a:pPr>
            <a:r>
              <a:rPr lang="es-ES" dirty="0"/>
              <a:t>El cambio puede ser implementado por los interesados y tener consecuencias para ellos. Habilitar el cambio de los interesados hace parte de facilitar que el proyecto proporcione el entregable requerido, así como el resultado previsto.</a:t>
            </a:r>
            <a:endParaRPr lang="es-PE" dirty="0"/>
          </a:p>
          <a:p>
            <a:pPr algn="just">
              <a:spcAft>
                <a:spcPts val="600"/>
              </a:spcAft>
            </a:pPr>
            <a:endParaRPr lang="es-ES" dirty="0"/>
          </a:p>
          <a:p>
            <a:pPr algn="l"/>
            <a:endParaRPr lang="es-PE" sz="1200" dirty="0">
              <a:latin typeface="+mn-lt"/>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49</a:t>
            </a:fld>
            <a:endParaRPr lang="es-PE"/>
          </a:p>
        </p:txBody>
      </p:sp>
    </p:spTree>
    <p:extLst>
      <p:ext uri="{BB962C8B-B14F-4D97-AF65-F5344CB8AC3E}">
        <p14:creationId xmlns:p14="http://schemas.microsoft.com/office/powerpoint/2010/main" val="425294313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228600" indent="-228600" rtl="0">
              <a:buFont typeface="+mj-lt"/>
              <a:buAutoNum type="arabicPeriod"/>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50</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51</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iapo_Subtema con Cuadro">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1158875"/>
            <a:ext cx="8207375" cy="410935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733052549"/>
      </p:ext>
    </p:extLst>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04</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10">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78" r:id="rId1"/>
    <p:sldLayoutId id="2147483656" r:id="rId2"/>
    <p:sldLayoutId id="2147483679" r:id="rId3"/>
    <p:sldLayoutId id="2147483662" r:id="rId4"/>
    <p:sldLayoutId id="2147483649" r:id="rId5"/>
    <p:sldLayoutId id="2147483667" r:id="rId6"/>
    <p:sldLayoutId id="2147483669" r:id="rId7"/>
    <p:sldLayoutId id="2147483680"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7" Type="http://schemas.openxmlformats.org/officeDocument/2006/relationships/hyperlink" Target="https://proyectosagiles.org/que-es-scrum/" TargetMode="External"/><Relationship Id="rId2" Type="http://schemas.openxmlformats.org/officeDocument/2006/relationships/slideLayout" Target="../slideLayouts/slideLayout7.xml"/><Relationship Id="rId1" Type="http://schemas.openxmlformats.org/officeDocument/2006/relationships/tags" Target="../tags/tag8.xml"/><Relationship Id="rId6" Type="http://schemas.openxmlformats.org/officeDocument/2006/relationships/hyperlink" Target="https://www.pmi.org/certification/businessanalysis-pba.aspx" TargetMode="External"/><Relationship Id="rId5" Type="http://schemas.openxmlformats.org/officeDocument/2006/relationships/hyperlink" Target="http://gabrielalmeida.com.mx/" TargetMode="External"/><Relationship Id="rId4" Type="http://schemas.openxmlformats.org/officeDocument/2006/relationships/hyperlink" Target="https://www.iiba.org/standards-andresources/babo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VISIÓN DE GESTIÓN DE PROYECTOS</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2 – UA2</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p:txBody>
          <a:bodyPr/>
          <a:lstStyle/>
          <a:p>
            <a:pPr>
              <a:spcBef>
                <a:spcPts val="0"/>
              </a:spcBef>
            </a:pPr>
            <a:r>
              <a:rPr lang="es-PE" dirty="0"/>
              <a:t>Conceptos fundamentales</a:t>
            </a:r>
          </a:p>
          <a:p>
            <a:pPr>
              <a:spcBef>
                <a:spcPts val="0"/>
              </a:spcBef>
            </a:pPr>
            <a:r>
              <a:rPr lang="es-PE" dirty="0"/>
              <a:t>Gestión predictiva</a:t>
            </a:r>
          </a:p>
          <a:p>
            <a:pPr>
              <a:spcBef>
                <a:spcPts val="0"/>
              </a:spcBef>
            </a:pPr>
            <a:r>
              <a:rPr lang="es-PE" dirty="0"/>
              <a:t>Gestión adaptativa</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04</a:t>
            </a:r>
          </a:p>
        </p:txBody>
      </p:sp>
    </p:spTree>
    <p:extLst>
      <p:ext uri="{BB962C8B-B14F-4D97-AF65-F5344CB8AC3E}">
        <p14:creationId xmlns:p14="http://schemas.microsoft.com/office/powerpoint/2010/main" val="10388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prstGeom prst="rect">
            <a:avLst/>
          </a:prstGeom>
        </p:spPr>
        <p:txBody>
          <a:bodyPr/>
          <a:lstStyle/>
          <a:p>
            <a:pPr algn="just"/>
            <a:r>
              <a:rPr lang="es-ES" dirty="0"/>
              <a:t>El objetivo de esta sesión es describir la visión de gestión de proyectos que debería tener un analista empresarial, que consiste en la práctica de coordinar los procesos, las herramientas, los miembros del equipo y las habilidades para entregar proyectos que cumplan los objetivos y satisfagan los requisitos.</a:t>
            </a:r>
          </a:p>
          <a:p>
            <a:pPr>
              <a:spcAft>
                <a:spcPts val="600"/>
              </a:spcAft>
            </a:pPr>
            <a:r>
              <a:rPr lang="es-ES" dirty="0"/>
              <a:t>Entonces, durante esta sesión:</a:t>
            </a:r>
          </a:p>
          <a:p>
            <a:pPr lvl="1" algn="just">
              <a:spcAft>
                <a:spcPts val="600"/>
              </a:spcAft>
            </a:pPr>
            <a:r>
              <a:rPr lang="es-ES" b="1" dirty="0"/>
              <a:t>Conocerás</a:t>
            </a:r>
            <a:r>
              <a:rPr lang="es-ES" dirty="0"/>
              <a:t> los conceptos generales de la gestión de proyectos.</a:t>
            </a:r>
          </a:p>
          <a:p>
            <a:pPr lvl="1" algn="just">
              <a:spcAft>
                <a:spcPts val="600"/>
              </a:spcAft>
            </a:pPr>
            <a:r>
              <a:rPr lang="es-ES" b="1" dirty="0"/>
              <a:t>Aprenderás</a:t>
            </a:r>
            <a:r>
              <a:rPr lang="es-ES" dirty="0"/>
              <a:t> a identificar los factores que posibilitan una gestión predictiva de proyectos.</a:t>
            </a:r>
          </a:p>
          <a:p>
            <a:pPr lvl="1">
              <a:spcAft>
                <a:spcPts val="600"/>
              </a:spcAft>
            </a:pPr>
            <a:r>
              <a:rPr lang="es-ES" b="1" dirty="0"/>
              <a:t>Aprenderás</a:t>
            </a:r>
            <a:r>
              <a:rPr lang="es-ES" dirty="0"/>
              <a:t> a identificar los factores que posibilitan una gestión adaptativa de proyectos.</a:t>
            </a: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397119"/>
          </a:xfrm>
        </p:spPr>
        <p:txBody>
          <a:bodyPr/>
          <a:lstStyle/>
          <a:p>
            <a:pPr marL="274638" indent="-274638">
              <a:tabLst>
                <a:tab pos="274638" algn="l"/>
              </a:tabLst>
            </a:pPr>
            <a:r>
              <a:rPr lang="es-PE" dirty="0"/>
              <a:t>/	CONCEPTOS FUNDAMENTALES</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Principios de gestión de proyectos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3807263"/>
          </a:xfrm>
          <a:prstGeom prst="rect">
            <a:avLst/>
          </a:prstGeom>
        </p:spPr>
        <p:txBody>
          <a:bodyPr/>
          <a:lstStyle/>
          <a:p>
            <a:pPr>
              <a:spcAft>
                <a:spcPts val="600"/>
              </a:spcAft>
              <a:buFont typeface="+mj-lt"/>
              <a:buAutoNum type="arabicPeriod"/>
            </a:pPr>
            <a:r>
              <a:rPr lang="es-ES" dirty="0"/>
              <a:t>gestión</a:t>
            </a:r>
          </a:p>
          <a:p>
            <a:pPr>
              <a:spcAft>
                <a:spcPts val="600"/>
              </a:spcAft>
              <a:buFont typeface="+mj-lt"/>
              <a:buAutoNum type="arabicPeriod"/>
            </a:pPr>
            <a:r>
              <a:rPr lang="es-ES" dirty="0"/>
              <a:t>equipo</a:t>
            </a:r>
          </a:p>
          <a:p>
            <a:pPr>
              <a:spcAft>
                <a:spcPts val="600"/>
              </a:spcAft>
              <a:buFont typeface="+mj-lt"/>
              <a:buAutoNum type="arabicPeriod"/>
            </a:pPr>
            <a:r>
              <a:rPr lang="es-ES" dirty="0"/>
              <a:t>interesados</a:t>
            </a:r>
          </a:p>
          <a:p>
            <a:pPr>
              <a:spcAft>
                <a:spcPts val="600"/>
              </a:spcAft>
              <a:buFont typeface="+mj-lt"/>
              <a:buAutoNum type="arabicPeriod"/>
            </a:pPr>
            <a:r>
              <a:rPr lang="es-ES" dirty="0"/>
              <a:t>valor</a:t>
            </a:r>
          </a:p>
          <a:p>
            <a:pPr>
              <a:spcAft>
                <a:spcPts val="600"/>
              </a:spcAft>
              <a:buFont typeface="+mj-lt"/>
              <a:buAutoNum type="arabicPeriod"/>
            </a:pPr>
            <a:r>
              <a:rPr lang="es-ES" dirty="0"/>
              <a:t>pensamiento holístico</a:t>
            </a:r>
          </a:p>
          <a:p>
            <a:pPr>
              <a:spcAft>
                <a:spcPts val="600"/>
              </a:spcAft>
              <a:buFont typeface="+mj-lt"/>
              <a:buAutoNum type="arabicPeriod"/>
            </a:pPr>
            <a:r>
              <a:rPr lang="es-ES" dirty="0"/>
              <a:t>liderazgo</a:t>
            </a:r>
          </a:p>
          <a:p>
            <a:pPr>
              <a:spcAft>
                <a:spcPts val="600"/>
              </a:spcAft>
              <a:buFont typeface="+mj-lt"/>
              <a:buAutoNum type="arabicPeriod"/>
            </a:pPr>
            <a:r>
              <a:rPr lang="es-ES" dirty="0"/>
              <a:t>adaptación</a:t>
            </a:r>
          </a:p>
          <a:p>
            <a:pPr>
              <a:spcAft>
                <a:spcPts val="600"/>
              </a:spcAft>
              <a:buFont typeface="+mj-lt"/>
              <a:buAutoNum type="arabicPeriod"/>
            </a:pPr>
            <a:r>
              <a:rPr lang="es-ES" dirty="0"/>
              <a:t>calidad</a:t>
            </a:r>
          </a:p>
          <a:p>
            <a:pPr>
              <a:spcAft>
                <a:spcPts val="600"/>
              </a:spcAft>
              <a:buFont typeface="+mj-lt"/>
              <a:buAutoNum type="arabicPeriod"/>
            </a:pPr>
            <a:r>
              <a:rPr lang="es-ES" dirty="0"/>
              <a:t>complejidad</a:t>
            </a:r>
          </a:p>
          <a:p>
            <a:pPr>
              <a:spcAft>
                <a:spcPts val="600"/>
              </a:spcAft>
              <a:buFont typeface="+mj-lt"/>
              <a:buAutoNum type="arabicPeriod"/>
            </a:pPr>
            <a:r>
              <a:rPr lang="es-ES" dirty="0"/>
              <a:t>oportunidades y amenazas</a:t>
            </a:r>
          </a:p>
          <a:p>
            <a:pPr>
              <a:spcAft>
                <a:spcPts val="600"/>
              </a:spcAft>
              <a:buFont typeface="+mj-lt"/>
              <a:buAutoNum type="arabicPeriod"/>
            </a:pPr>
            <a:r>
              <a:rPr lang="es-ES" dirty="0"/>
              <a:t>adaptabilidad y resistencia</a:t>
            </a:r>
          </a:p>
          <a:p>
            <a:pPr>
              <a:spcAft>
                <a:spcPts val="600"/>
              </a:spcAft>
              <a:buFont typeface="+mj-lt"/>
              <a:buAutoNum type="arabicPeriod"/>
            </a:pPr>
            <a:r>
              <a:rPr lang="es-ES" dirty="0"/>
              <a:t>gestión del cambio.</a:t>
            </a:r>
          </a:p>
        </p:txBody>
      </p:sp>
      <p:pic>
        <p:nvPicPr>
          <p:cNvPr id="5" name="Marcador de posición de imagen 4">
            <a:extLst>
              <a:ext uri="{FF2B5EF4-FFF2-40B4-BE49-F238E27FC236}">
                <a16:creationId xmlns:a16="http://schemas.microsoft.com/office/drawing/2014/main" id="{EE19A83B-C3B9-436F-A27A-F8CAF43862B0}"/>
              </a:ext>
            </a:extLst>
          </p:cNvPr>
          <p:cNvPicPr>
            <a:picLocks noGrp="1" noChangeAspect="1"/>
          </p:cNvPicPr>
          <p:nvPr>
            <p:ph type="pic" sz="quarter" idx="10"/>
          </p:nvPr>
        </p:nvPicPr>
        <p:blipFill>
          <a:blip r:embed="rId3"/>
          <a:srcRect l="3606" r="3606"/>
          <a:stretch>
            <a:fillRect/>
          </a:stretch>
        </p:blipFill>
        <p:spPr/>
      </p:pic>
    </p:spTree>
    <p:extLst>
      <p:ext uri="{BB962C8B-B14F-4D97-AF65-F5344CB8AC3E}">
        <p14:creationId xmlns:p14="http://schemas.microsoft.com/office/powerpoint/2010/main" val="2387381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B6F9FAA9-4CD2-4CAD-8740-12E5CF0D9503}"/>
              </a:ext>
            </a:extLst>
          </p:cNvPr>
          <p:cNvPicPr>
            <a:picLocks noGrp="1" noChangeAspect="1"/>
          </p:cNvPicPr>
          <p:nvPr>
            <p:ph type="pic" sz="quarter" idx="10"/>
          </p:nvPr>
        </p:nvPicPr>
        <p:blipFill rotWithShape="1">
          <a:blip r:embed="rId3"/>
          <a:srcRect l="127" r="127"/>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Proyecto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3145111"/>
          </a:xfrm>
          <a:prstGeom prst="rect">
            <a:avLst/>
          </a:prstGeom>
        </p:spPr>
        <p:txBody>
          <a:bodyPr/>
          <a:lstStyle/>
          <a:p>
            <a:pPr marL="0" indent="0">
              <a:buNone/>
            </a:pPr>
            <a:r>
              <a:rPr lang="es-ES" dirty="0"/>
              <a:t>Esfuerzo temporal que se lleva a cabo para </a:t>
            </a:r>
            <a:r>
              <a:rPr lang="es-ES" b="1" dirty="0"/>
              <a:t>crear</a:t>
            </a:r>
            <a:r>
              <a:rPr lang="es-ES" dirty="0"/>
              <a:t> un producto, servicio o resultado único.</a:t>
            </a:r>
          </a:p>
          <a:p>
            <a:r>
              <a:rPr lang="es-ES" dirty="0"/>
              <a:t>La naturaleza temporal de los proyectos indica un principio y un final para el trabajo del proyecto. </a:t>
            </a:r>
          </a:p>
          <a:p>
            <a:r>
              <a:rPr lang="es-ES" dirty="0"/>
              <a:t>Los proyectos pueden ser independientes o formar parte de un programa o portafolio.</a:t>
            </a:r>
          </a:p>
          <a:p>
            <a:r>
              <a:rPr lang="es-ES" dirty="0"/>
              <a:t>Se lleva a cabo para lograr objetivos específicos que son diferentes de las operaciones diarias de una organización.</a:t>
            </a:r>
            <a:endParaRPr lang="es-PE" dirty="0"/>
          </a:p>
        </p:txBody>
      </p:sp>
    </p:spTree>
    <p:extLst>
      <p:ext uri="{BB962C8B-B14F-4D97-AF65-F5344CB8AC3E}">
        <p14:creationId xmlns:p14="http://schemas.microsoft.com/office/powerpoint/2010/main" val="2123912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AA6DB3D0-8911-4CC8-9A36-057FCDC42EE8}"/>
              </a:ext>
            </a:extLst>
          </p:cNvPr>
          <p:cNvPicPr>
            <a:picLocks noGrp="1" noChangeAspect="1"/>
          </p:cNvPicPr>
          <p:nvPr>
            <p:ph type="pic" sz="quarter" idx="10"/>
          </p:nvPr>
        </p:nvPicPr>
        <p:blipFill rotWithShape="1">
          <a:blip r:embed="rId3"/>
          <a:srcRect t="242" b="242"/>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 proyectos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3074166"/>
          </a:xfrm>
          <a:prstGeom prst="rect">
            <a:avLst/>
          </a:prstGeom>
        </p:spPr>
        <p:txBody>
          <a:bodyPr/>
          <a:lstStyle/>
          <a:p>
            <a:pPr marL="0" indent="0">
              <a:spcAft>
                <a:spcPts val="0"/>
              </a:spcAft>
              <a:buNone/>
            </a:pPr>
            <a:r>
              <a:rPr lang="es-ES" dirty="0"/>
              <a:t>Aplicación de conocimientos, habilidades, herramientas, y técnicas a las </a:t>
            </a:r>
            <a:r>
              <a:rPr lang="es-ES" b="1" dirty="0"/>
              <a:t>actividades del proyecto</a:t>
            </a:r>
            <a:r>
              <a:rPr lang="es-ES" dirty="0"/>
              <a:t> para cumplir con los requisitos del mismo. </a:t>
            </a:r>
          </a:p>
          <a:p>
            <a:pPr marL="0" indent="0">
              <a:spcAft>
                <a:spcPts val="0"/>
              </a:spcAft>
              <a:buNone/>
            </a:pPr>
            <a:endParaRPr lang="es-ES" dirty="0"/>
          </a:p>
          <a:p>
            <a:r>
              <a:rPr lang="es-ES" dirty="0"/>
              <a:t>Se refiere a orientar el trabajo del proyecto para entregar los resultados previstos.</a:t>
            </a:r>
          </a:p>
          <a:p>
            <a:r>
              <a:rPr lang="es-ES" dirty="0"/>
              <a:t>Los equipos del proyecto pueden lograr los resultados utilizando una amplia gama de enfoques (por ejemplo, predictivos, híbridos y adaptativos).</a:t>
            </a:r>
            <a:endParaRPr lang="es-PE" dirty="0"/>
          </a:p>
        </p:txBody>
      </p:sp>
    </p:spTree>
    <p:extLst>
      <p:ext uri="{BB962C8B-B14F-4D97-AF65-F5344CB8AC3E}">
        <p14:creationId xmlns:p14="http://schemas.microsoft.com/office/powerpoint/2010/main" val="2536700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Gestor de proyecto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2750972"/>
          </a:xfrm>
          <a:prstGeom prst="rect">
            <a:avLst/>
          </a:prstGeom>
        </p:spPr>
        <p:txBody>
          <a:bodyPr/>
          <a:lstStyle/>
          <a:p>
            <a:pPr marL="0" indent="0">
              <a:buNone/>
            </a:pPr>
            <a:r>
              <a:rPr lang="es-ES" dirty="0"/>
              <a:t>Encargado de liderar y dirigir un proyecto de principio a fin.</a:t>
            </a:r>
          </a:p>
          <a:p>
            <a:pPr marL="0" indent="0">
              <a:spcAft>
                <a:spcPts val="0"/>
              </a:spcAft>
              <a:buNone/>
            </a:pPr>
            <a:r>
              <a:rPr lang="es-ES" dirty="0"/>
              <a:t>Es responsable de lo siguiente:</a:t>
            </a:r>
          </a:p>
          <a:p>
            <a:pPr marL="357188" indent="-263525">
              <a:spcAft>
                <a:spcPts val="0"/>
              </a:spcAft>
            </a:pPr>
            <a:r>
              <a:rPr lang="es-ES" dirty="0"/>
              <a:t>Garantizar que se cumplan los objetivos empresariales específicos establecidos para el proyecto.</a:t>
            </a:r>
          </a:p>
          <a:p>
            <a:pPr marL="357188" indent="-263525">
              <a:spcAft>
                <a:spcPts val="0"/>
              </a:spcAft>
            </a:pPr>
            <a:endParaRPr lang="es-ES" dirty="0"/>
          </a:p>
          <a:p>
            <a:pPr marL="357188" indent="-263525">
              <a:spcAft>
                <a:spcPts val="0"/>
              </a:spcAft>
            </a:pPr>
            <a:r>
              <a:rPr lang="es-ES" dirty="0"/>
              <a:t>Asegurarse de que el proyecto se entregue a tiempo, dentro del presupuesto y con los estándares de calidad requeridos.</a:t>
            </a:r>
            <a:endParaRPr lang="es-PE" dirty="0"/>
          </a:p>
        </p:txBody>
      </p:sp>
      <p:pic>
        <p:nvPicPr>
          <p:cNvPr id="18" name="Marcador de posición de imagen 17">
            <a:extLst>
              <a:ext uri="{FF2B5EF4-FFF2-40B4-BE49-F238E27FC236}">
                <a16:creationId xmlns:a16="http://schemas.microsoft.com/office/drawing/2014/main" id="{FAC77B35-7189-4F16-9DE0-2ECD1F33A995}"/>
              </a:ext>
            </a:extLst>
          </p:cNvPr>
          <p:cNvPicPr>
            <a:picLocks noGrp="1" noChangeAspect="1"/>
          </p:cNvPicPr>
          <p:nvPr>
            <p:ph type="pic" sz="quarter" idx="10"/>
          </p:nvPr>
        </p:nvPicPr>
        <p:blipFill>
          <a:blip r:embed="rId3"/>
          <a:srcRect t="364" b="364"/>
          <a:stretch>
            <a:fillRect/>
          </a:stretch>
        </p:blipFill>
        <p:spPr/>
      </p:pic>
    </p:spTree>
    <p:extLst>
      <p:ext uri="{BB962C8B-B14F-4D97-AF65-F5344CB8AC3E}">
        <p14:creationId xmlns:p14="http://schemas.microsoft.com/office/powerpoint/2010/main" val="3548018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26D598F7-67FE-4F04-B612-1890C093A933}"/>
              </a:ext>
            </a:extLst>
          </p:cNvPr>
          <p:cNvPicPr>
            <a:picLocks noGrp="1" noChangeAspect="1"/>
          </p:cNvPicPr>
          <p:nvPr>
            <p:ph type="pic" sz="quarter" idx="10"/>
          </p:nvPr>
        </p:nvPicPr>
        <p:blipFill>
          <a:blip r:embed="rId3"/>
          <a:srcRect t="734" b="734"/>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Equipo de proyecto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790387"/>
          </a:xfrm>
          <a:prstGeom prst="rect">
            <a:avLst/>
          </a:prstGeom>
        </p:spPr>
        <p:txBody>
          <a:bodyPr/>
          <a:lstStyle/>
          <a:p>
            <a:r>
              <a:rPr lang="es-ES" dirty="0"/>
              <a:t>Conjunto de individuos que realizan el trabajo del proyecto con el fin de alcanzar sus objetivos.</a:t>
            </a:r>
          </a:p>
          <a:p>
            <a:pPr>
              <a:spcAft>
                <a:spcPts val="600"/>
              </a:spcAft>
            </a:pPr>
            <a:r>
              <a:rPr lang="es-ES" dirty="0"/>
              <a:t>Se compone de diferentes roles, cada uno con su función específica:</a:t>
            </a:r>
          </a:p>
          <a:p>
            <a:pPr lvl="1">
              <a:spcAft>
                <a:spcPts val="0"/>
              </a:spcAft>
            </a:pPr>
            <a:r>
              <a:rPr lang="es-ES" dirty="0"/>
              <a:t>el Director de proyecto</a:t>
            </a:r>
          </a:p>
          <a:p>
            <a:pPr lvl="1">
              <a:spcAft>
                <a:spcPts val="0"/>
              </a:spcAft>
            </a:pPr>
            <a:r>
              <a:rPr lang="es-ES" dirty="0"/>
              <a:t>el Sponsor</a:t>
            </a:r>
          </a:p>
          <a:p>
            <a:pPr lvl="1">
              <a:spcAft>
                <a:spcPts val="0"/>
              </a:spcAft>
            </a:pPr>
            <a:r>
              <a:rPr lang="es-ES" dirty="0"/>
              <a:t>los </a:t>
            </a:r>
            <a:r>
              <a:rPr lang="es-ES" i="1" dirty="0"/>
              <a:t>stakeholders</a:t>
            </a:r>
          </a:p>
          <a:p>
            <a:pPr lvl="1">
              <a:spcAft>
                <a:spcPts val="0"/>
              </a:spcAft>
            </a:pPr>
            <a:r>
              <a:rPr lang="es-ES" dirty="0"/>
              <a:t>los miembros del equipo</a:t>
            </a:r>
            <a:endParaRPr lang="es-PE" dirty="0"/>
          </a:p>
        </p:txBody>
      </p:sp>
    </p:spTree>
    <p:extLst>
      <p:ext uri="{BB962C8B-B14F-4D97-AF65-F5344CB8AC3E}">
        <p14:creationId xmlns:p14="http://schemas.microsoft.com/office/powerpoint/2010/main" val="1996092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416002EA-E8F9-44A8-B51A-5BDAC3D47385}"/>
              </a:ext>
            </a:extLst>
          </p:cNvPr>
          <p:cNvPicPr>
            <a:picLocks noGrp="1" noChangeAspect="1"/>
          </p:cNvPicPr>
          <p:nvPr>
            <p:ph type="pic" sz="quarter" idx="10"/>
          </p:nvPr>
        </p:nvPicPr>
        <p:blipFill>
          <a:blip r:embed="rId3"/>
          <a:srcRect l="435" r="435"/>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Valor</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3751262"/>
          </a:xfrm>
          <a:prstGeom prst="rect">
            <a:avLst/>
          </a:prstGeom>
        </p:spPr>
        <p:txBody>
          <a:bodyPr/>
          <a:lstStyle/>
          <a:p>
            <a:r>
              <a:rPr lang="es-ES" dirty="0"/>
              <a:t>Es el beneficio que se espera obtener de un proyecto, programa o portafolio en función de las necesidades, deseos y expectativas de los </a:t>
            </a:r>
            <a:r>
              <a:rPr lang="es-ES" i="1" dirty="0"/>
              <a:t>stakeholders</a:t>
            </a:r>
            <a:r>
              <a:rPr lang="es-ES" dirty="0"/>
              <a:t>.</a:t>
            </a:r>
          </a:p>
          <a:p>
            <a:pPr>
              <a:spcAft>
                <a:spcPts val="0"/>
              </a:spcAft>
            </a:pPr>
            <a:r>
              <a:rPr lang="es-ES" dirty="0"/>
              <a:t>Puede manifestarse de diferentes formas:</a:t>
            </a:r>
          </a:p>
          <a:p>
            <a:pPr lvl="1">
              <a:spcAft>
                <a:spcPts val="0"/>
              </a:spcAft>
            </a:pPr>
            <a:r>
              <a:rPr lang="es-ES" dirty="0"/>
              <a:t>La generación de ingresos.</a:t>
            </a:r>
          </a:p>
          <a:p>
            <a:pPr lvl="1">
              <a:spcAft>
                <a:spcPts val="0"/>
              </a:spcAft>
            </a:pPr>
            <a:r>
              <a:rPr lang="es-ES" dirty="0"/>
              <a:t>La reducción de costos.</a:t>
            </a:r>
          </a:p>
          <a:p>
            <a:pPr lvl="1">
              <a:spcAft>
                <a:spcPts val="0"/>
              </a:spcAft>
            </a:pPr>
            <a:r>
              <a:rPr lang="es-ES" dirty="0"/>
              <a:t>El aumento de la eficiencia.</a:t>
            </a:r>
          </a:p>
          <a:p>
            <a:pPr lvl="1">
              <a:spcAft>
                <a:spcPts val="0"/>
              </a:spcAft>
            </a:pPr>
            <a:r>
              <a:rPr lang="es-ES" dirty="0"/>
              <a:t>La mejora de la calidad.</a:t>
            </a:r>
          </a:p>
          <a:p>
            <a:pPr lvl="1">
              <a:spcAft>
                <a:spcPts val="0"/>
              </a:spcAft>
            </a:pPr>
            <a:r>
              <a:rPr lang="es-ES" dirty="0"/>
              <a:t>La satisfacción del cliente.</a:t>
            </a:r>
          </a:p>
          <a:p>
            <a:pPr lvl="1"/>
            <a:r>
              <a:rPr lang="es-ES" dirty="0"/>
              <a:t>La innovación.</a:t>
            </a:r>
          </a:p>
          <a:p>
            <a:r>
              <a:rPr lang="es-ES" dirty="0"/>
              <a:t>Se establece a través de un diálogo constante con los </a:t>
            </a:r>
            <a:r>
              <a:rPr lang="es-ES" i="1" dirty="0"/>
              <a:t>stakeholders.</a:t>
            </a:r>
            <a:endParaRPr lang="es-PE" i="1" dirty="0"/>
          </a:p>
        </p:txBody>
      </p:sp>
    </p:spTree>
    <p:extLst>
      <p:ext uri="{BB962C8B-B14F-4D97-AF65-F5344CB8AC3E}">
        <p14:creationId xmlns:p14="http://schemas.microsoft.com/office/powerpoint/2010/main" val="211482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80EADFFA-2818-4E24-BE4B-33AA7DF72815}"/>
              </a:ext>
            </a:extLst>
          </p:cNvPr>
          <p:cNvPicPr>
            <a:picLocks noGrp="1" noChangeAspect="1"/>
          </p:cNvPicPr>
          <p:nvPr>
            <p:ph type="pic" sz="quarter" idx="10"/>
          </p:nvPr>
        </p:nvPicPr>
        <p:blipFill rotWithShape="1">
          <a:blip r:embed="rId3"/>
          <a:srcRect l="89" t="18334" r="-342"/>
          <a:stretch/>
        </p:blipFill>
        <p:spPr>
          <a:xfrm>
            <a:off x="4711690" y="981869"/>
            <a:ext cx="4103687" cy="3630862"/>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Sistema para la entrega de valor</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2785596"/>
          </a:xfrm>
          <a:prstGeom prst="rect">
            <a:avLst/>
          </a:prstGeom>
        </p:spPr>
        <p:txBody>
          <a:bodyPr/>
          <a:lstStyle/>
          <a:p>
            <a:r>
              <a:rPr lang="es-ES" dirty="0"/>
              <a:t>Es un conjunto de prácticas, herramientas y técnicas que se utilizan para entregar valor a través del proyecto y del ciclo de vida del producto o servicio.</a:t>
            </a:r>
          </a:p>
          <a:p>
            <a:r>
              <a:rPr lang="es-ES" dirty="0"/>
              <a:t>Su objetivo es asegurar que los productos y servicios entregados cumplan con las expectativas de los </a:t>
            </a:r>
            <a:r>
              <a:rPr lang="es-ES" i="1" dirty="0"/>
              <a:t>stakeholders</a:t>
            </a:r>
            <a:r>
              <a:rPr lang="es-ES" dirty="0"/>
              <a:t> y sean entregados dentro de los plazos, presupuestos y niveles de calidad acordados.</a:t>
            </a:r>
            <a:endParaRPr lang="es-PE" dirty="0"/>
          </a:p>
        </p:txBody>
      </p:sp>
    </p:spTree>
    <p:extLst>
      <p:ext uri="{BB962C8B-B14F-4D97-AF65-F5344CB8AC3E}">
        <p14:creationId xmlns:p14="http://schemas.microsoft.com/office/powerpoint/2010/main" val="3003062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¿Cómo se produce valor?</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prstGeom prst="rect">
            <a:avLst/>
          </a:prstGeom>
        </p:spPr>
        <p:txBody>
          <a:bodyPr/>
          <a:lstStyle/>
          <a:p>
            <a:r>
              <a:rPr lang="es-ES" dirty="0"/>
              <a:t>Creación de un nuevo producto, que cumpla con las necesidades de los clientes o usuarios finales.</a:t>
            </a:r>
          </a:p>
          <a:p>
            <a:r>
              <a:rPr lang="es-ES" dirty="0"/>
              <a:t>Realizar contribuciones sociales o ambientales positivas.</a:t>
            </a:r>
          </a:p>
          <a:p>
            <a:r>
              <a:rPr lang="es-ES" dirty="0"/>
              <a:t>Mejorar la eficiencia, la productividad, la efectividad o la capacidad de respuesta.</a:t>
            </a:r>
          </a:p>
          <a:p>
            <a:r>
              <a:rPr lang="es-ES" dirty="0"/>
              <a:t>Habilitar los cambios necesarios para facilitar la transición organizacional a su estado futuro deseado.</a:t>
            </a:r>
          </a:p>
          <a:p>
            <a:r>
              <a:rPr lang="es-ES" dirty="0"/>
              <a:t>Conservar los beneficios habilitados por programas, proyectos u operaciones comerciales anteriores.</a:t>
            </a:r>
          </a:p>
        </p:txBody>
      </p:sp>
      <p:pic>
        <p:nvPicPr>
          <p:cNvPr id="6" name="Marcador de posición de imagen 5">
            <a:extLst>
              <a:ext uri="{FF2B5EF4-FFF2-40B4-BE49-F238E27FC236}">
                <a16:creationId xmlns:a16="http://schemas.microsoft.com/office/drawing/2014/main" id="{4F0577E2-6E86-4112-B5BF-967006EB2CE8}"/>
              </a:ext>
            </a:extLst>
          </p:cNvPr>
          <p:cNvPicPr>
            <a:picLocks noGrp="1" noChangeAspect="1"/>
          </p:cNvPicPr>
          <p:nvPr>
            <p:ph type="pic" sz="quarter" idx="10"/>
          </p:nvPr>
        </p:nvPicPr>
        <p:blipFill>
          <a:blip r:embed="rId3"/>
          <a:srcRect t="171" b="171"/>
          <a:stretch>
            <a:fillRect/>
          </a:stretch>
        </p:blipFill>
        <p:spPr/>
      </p:pic>
    </p:spTree>
    <p:extLst>
      <p:ext uri="{BB962C8B-B14F-4D97-AF65-F5344CB8AC3E}">
        <p14:creationId xmlns:p14="http://schemas.microsoft.com/office/powerpoint/2010/main" val="3970068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Tipo de organización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695949"/>
          </a:xfrm>
          <a:prstGeom prst="rect">
            <a:avLst/>
          </a:prstGeom>
        </p:spPr>
        <p:txBody>
          <a:bodyPr/>
          <a:lstStyle/>
          <a:p>
            <a:pPr marL="0" indent="0">
              <a:buNone/>
            </a:pPr>
            <a:r>
              <a:rPr lang="es-ES" dirty="0"/>
              <a:t>Los proyectos existen dentro de un sistema de mayor tamaño como puede ser dentro de:</a:t>
            </a:r>
          </a:p>
          <a:p>
            <a:pPr lvl="1"/>
            <a:r>
              <a:rPr lang="es-ES" dirty="0"/>
              <a:t>Una empresa.</a:t>
            </a:r>
          </a:p>
          <a:p>
            <a:pPr lvl="1"/>
            <a:r>
              <a:rPr lang="es-ES" dirty="0"/>
              <a:t>Un acuerdo contractual.</a:t>
            </a:r>
          </a:p>
          <a:p>
            <a:pPr lvl="1"/>
            <a:r>
              <a:rPr lang="es-ES" dirty="0"/>
              <a:t>Una institución pública o de gobierno.</a:t>
            </a:r>
          </a:p>
          <a:p>
            <a:pPr lvl="1"/>
            <a:r>
              <a:rPr lang="es-ES" dirty="0"/>
              <a:t>Una organización no gubernamental.</a:t>
            </a:r>
          </a:p>
          <a:p>
            <a:pPr lvl="1"/>
            <a:r>
              <a:rPr lang="es-ES" dirty="0"/>
              <a:t>Una organización social.</a:t>
            </a:r>
          </a:p>
        </p:txBody>
      </p:sp>
      <p:pic>
        <p:nvPicPr>
          <p:cNvPr id="6" name="Marcador de posición de imagen 5">
            <a:extLst>
              <a:ext uri="{FF2B5EF4-FFF2-40B4-BE49-F238E27FC236}">
                <a16:creationId xmlns:a16="http://schemas.microsoft.com/office/drawing/2014/main" id="{0E226683-D7B3-4754-BB22-300683BB219E}"/>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2214207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Coordinación descentralizada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prstGeom prst="rect">
            <a:avLst/>
          </a:prstGeom>
        </p:spPr>
        <p:txBody>
          <a:bodyPr/>
          <a:lstStyle/>
          <a:p>
            <a:r>
              <a:rPr lang="es-ES" dirty="0"/>
              <a:t>Las funciones relacionadas con el proyecto pueden ser realizadas por una persona, por un grupo de personas o combinadas en roles definidos.</a:t>
            </a:r>
          </a:p>
          <a:p>
            <a:r>
              <a:rPr lang="es-ES" dirty="0"/>
              <a:t>Existen diferentes tipos de coordinación descentralizada y adecuados para diferentes contextos como los siguientes:</a:t>
            </a:r>
          </a:p>
          <a:p>
            <a:pPr marL="544513" lvl="1" indent="-277813">
              <a:buFont typeface="+mj-lt"/>
              <a:buAutoNum type="alphaLcParenR"/>
            </a:pPr>
            <a:r>
              <a:rPr lang="es-ES" dirty="0"/>
              <a:t>Los miembros del equipo del proyecto se autorganizan y se autogestionan.</a:t>
            </a:r>
          </a:p>
          <a:p>
            <a:pPr marL="544513" lvl="1" indent="-277813">
              <a:buFont typeface="+mj-lt"/>
              <a:buAutoNum type="alphaLcParenR"/>
            </a:pPr>
            <a:r>
              <a:rPr lang="es-ES" dirty="0"/>
              <a:t>Liderazgo y orientación de un director del proyecto designado.</a:t>
            </a:r>
          </a:p>
          <a:p>
            <a:pPr marL="544513" lvl="1" indent="-277813">
              <a:buFont typeface="+mj-lt"/>
              <a:buAutoNum type="alphaLcParenR"/>
            </a:pPr>
            <a:r>
              <a:rPr lang="es-ES" dirty="0"/>
              <a:t>Inclusión de equipos de proyectos autorganizados para partes del trabajo.</a:t>
            </a:r>
          </a:p>
        </p:txBody>
      </p:sp>
      <p:pic>
        <p:nvPicPr>
          <p:cNvPr id="6" name="Marcador de posición de imagen 5">
            <a:extLst>
              <a:ext uri="{FF2B5EF4-FFF2-40B4-BE49-F238E27FC236}">
                <a16:creationId xmlns:a16="http://schemas.microsoft.com/office/drawing/2014/main" id="{2625ABD6-018B-4E2D-86FC-C3D2DCC7F0B4}"/>
              </a:ext>
            </a:extLst>
          </p:cNvPr>
          <p:cNvPicPr>
            <a:picLocks noGrp="1" noChangeAspect="1"/>
          </p:cNvPicPr>
          <p:nvPr>
            <p:ph type="pic" sz="quarter" idx="10"/>
          </p:nvPr>
        </p:nvPicPr>
        <p:blipFill>
          <a:blip r:embed="rId3"/>
          <a:srcRect t="491" b="491"/>
          <a:stretch>
            <a:fillRect/>
          </a:stretch>
        </p:blipFill>
        <p:spPr/>
      </p:pic>
    </p:spTree>
    <p:extLst>
      <p:ext uri="{BB962C8B-B14F-4D97-AF65-F5344CB8AC3E}">
        <p14:creationId xmlns:p14="http://schemas.microsoft.com/office/powerpoint/2010/main" val="878907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Relación con la gestión del producto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3626189"/>
          </a:xfrm>
          <a:prstGeom prst="rect">
            <a:avLst/>
          </a:prstGeom>
        </p:spPr>
        <p:txBody>
          <a:bodyPr/>
          <a:lstStyle/>
          <a:p>
            <a:pPr>
              <a:spcAft>
                <a:spcPts val="600"/>
              </a:spcAft>
            </a:pPr>
            <a:r>
              <a:rPr lang="es-ES" sz="1800" b="0" i="0" u="none" strike="noStrike" baseline="0" dirty="0"/>
              <a:t>Comprender las disciplinas de Gestión de Portafolio, Programas, y Proyectos, entre otros, permite comprender la gestión del producto.</a:t>
            </a:r>
          </a:p>
          <a:p>
            <a:pPr>
              <a:spcAft>
                <a:spcPts val="600"/>
              </a:spcAft>
            </a:pPr>
            <a:endParaRPr lang="es-ES" sz="1800" b="0" i="0" u="none" strike="noStrike" baseline="0" dirty="0"/>
          </a:p>
          <a:p>
            <a:pPr>
              <a:spcAft>
                <a:spcPts val="600"/>
              </a:spcAft>
            </a:pPr>
            <a:r>
              <a:rPr lang="es-ES" sz="1800" dirty="0"/>
              <a:t>La gestión del producto implica la integración de personas, de los datos, de los procesos y de los sistemas comerciales para crear, mantener y desarrollar un producto o servicio a lo largo de su ciclo de vida.</a:t>
            </a:r>
          </a:p>
        </p:txBody>
      </p:sp>
      <p:pic>
        <p:nvPicPr>
          <p:cNvPr id="4" name="Marcador de posición de imagen 3">
            <a:extLst>
              <a:ext uri="{FF2B5EF4-FFF2-40B4-BE49-F238E27FC236}">
                <a16:creationId xmlns:a16="http://schemas.microsoft.com/office/drawing/2014/main" id="{324534FE-53F6-4382-987C-C9BD495BEDB9}"/>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86840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del producto en un programa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844954"/>
          </a:xfrm>
          <a:prstGeom prst="rect">
            <a:avLst/>
          </a:prstGeom>
        </p:spPr>
        <p:txBody>
          <a:bodyPr/>
          <a:lstStyle/>
          <a:p>
            <a:pPr>
              <a:spcAft>
                <a:spcPts val="600"/>
              </a:spcAft>
            </a:pPr>
            <a:r>
              <a:rPr lang="es-ES" sz="1800" b="0" i="0" u="none" strike="noStrike" baseline="0" dirty="0"/>
              <a:t>Este enfoque aplica el ciclo de vida completo del producto dentro del ámbito y los límites de un programa dado.</a:t>
            </a:r>
          </a:p>
          <a:p>
            <a:pPr>
              <a:spcAft>
                <a:spcPts val="600"/>
              </a:spcAft>
            </a:pPr>
            <a:endParaRPr lang="es-ES" sz="1800" b="0" i="0" u="none" strike="noStrike" baseline="0" dirty="0"/>
          </a:p>
          <a:p>
            <a:pPr>
              <a:spcAft>
                <a:spcPts val="600"/>
              </a:spcAft>
            </a:pPr>
            <a:r>
              <a:rPr lang="es-ES" sz="1800" b="0" i="0" u="none" strike="noStrike" baseline="0" dirty="0"/>
              <a:t>Se constituirán una serie de programas o proyectos subsidiarios para lograr </a:t>
            </a:r>
            <a:r>
              <a:rPr lang="es-ES" sz="1800" b="1" i="0" u="none" strike="noStrike" baseline="0" dirty="0"/>
              <a:t>beneficios específicos</a:t>
            </a:r>
            <a:r>
              <a:rPr lang="es-ES" sz="1800" b="0" i="0" u="none" strike="noStrike" baseline="0" dirty="0"/>
              <a:t> para un producto.</a:t>
            </a:r>
          </a:p>
        </p:txBody>
      </p:sp>
      <p:pic>
        <p:nvPicPr>
          <p:cNvPr id="4" name="Marcador de posición de imagen 3">
            <a:extLst>
              <a:ext uri="{FF2B5EF4-FFF2-40B4-BE49-F238E27FC236}">
                <a16:creationId xmlns:a16="http://schemas.microsoft.com/office/drawing/2014/main" id="{76677B47-4E5F-4095-A699-A025327EB017}"/>
              </a:ext>
            </a:extLst>
          </p:cNvPr>
          <p:cNvPicPr>
            <a:picLocks noGrp="1" noChangeAspect="1"/>
          </p:cNvPicPr>
          <p:nvPr>
            <p:ph type="pic" sz="quarter" idx="10"/>
          </p:nvPr>
        </p:nvPicPr>
        <p:blipFill>
          <a:blip r:embed="rId3"/>
          <a:srcRect t="585" b="585"/>
          <a:stretch>
            <a:fillRect/>
          </a:stretch>
        </p:blipFill>
        <p:spPr/>
      </p:pic>
    </p:spTree>
    <p:extLst>
      <p:ext uri="{BB962C8B-B14F-4D97-AF65-F5344CB8AC3E}">
        <p14:creationId xmlns:p14="http://schemas.microsoft.com/office/powerpoint/2010/main" val="968753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del ciclo de vida del producto (CdVP)</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pic>
        <p:nvPicPr>
          <p:cNvPr id="15" name="Marcador de posición de imagen 14">
            <a:extLst>
              <a:ext uri="{FF2B5EF4-FFF2-40B4-BE49-F238E27FC236}">
                <a16:creationId xmlns:a16="http://schemas.microsoft.com/office/drawing/2014/main" id="{9B25C544-FF16-4766-B7BE-33DE5D21D3C5}"/>
              </a:ext>
            </a:extLst>
          </p:cNvPr>
          <p:cNvPicPr>
            <a:picLocks noGrp="1" noChangeAspect="1"/>
          </p:cNvPicPr>
          <p:nvPr>
            <p:ph type="pic" sz="quarter" idx="10"/>
          </p:nvPr>
        </p:nvPicPr>
        <p:blipFill>
          <a:blip r:embed="rId3"/>
          <a:srcRect t="387" b="387"/>
          <a:stretch>
            <a:fillRect/>
          </a:stretch>
        </p:blipFill>
        <p:spPr/>
      </p:pic>
    </p:spTree>
    <p:extLst>
      <p:ext uri="{BB962C8B-B14F-4D97-AF65-F5344CB8AC3E}">
        <p14:creationId xmlns:p14="http://schemas.microsoft.com/office/powerpoint/2010/main" val="1896296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del programa en un CdVP</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534236"/>
          </a:xfrm>
          <a:prstGeom prst="rect">
            <a:avLst/>
          </a:prstGeom>
        </p:spPr>
        <p:txBody>
          <a:bodyPr/>
          <a:lstStyle/>
          <a:p>
            <a:pPr>
              <a:spcAft>
                <a:spcPts val="600"/>
              </a:spcAft>
            </a:pPr>
            <a:r>
              <a:rPr lang="es-ES" sz="1800" b="0" i="0" u="none" strike="noStrike" baseline="0" dirty="0"/>
              <a:t>Este enfoque incorpora proyectos, programas subsidiarios y actividades de programas relacionados.</a:t>
            </a:r>
          </a:p>
          <a:p>
            <a:pPr>
              <a:spcAft>
                <a:spcPts val="600"/>
              </a:spcAft>
            </a:pPr>
            <a:endParaRPr lang="es-ES" sz="1800" b="0" i="0" u="none" strike="noStrike" baseline="0" dirty="0"/>
          </a:p>
          <a:p>
            <a:pPr>
              <a:spcAft>
                <a:spcPts val="600"/>
              </a:spcAft>
            </a:pPr>
            <a:r>
              <a:rPr lang="es-ES" sz="1800" b="0" i="0" u="none" strike="noStrike" baseline="0" dirty="0"/>
              <a:t>Para productos </a:t>
            </a:r>
            <a:r>
              <a:rPr lang="es-ES" sz="1800" b="1" i="0" u="none" strike="noStrike" baseline="0" dirty="0"/>
              <a:t>de tamaño muy grande </a:t>
            </a:r>
            <a:r>
              <a:rPr lang="es-ES" sz="1800" b="0" i="0" u="none" strike="noStrike" baseline="0" dirty="0"/>
              <a:t>o de larga duración, una fase del CdVP puede ser lo suficientemente compleja como para merecer un programa.</a:t>
            </a:r>
            <a:endParaRPr lang="es-ES" dirty="0"/>
          </a:p>
        </p:txBody>
      </p:sp>
      <p:pic>
        <p:nvPicPr>
          <p:cNvPr id="4" name="Marcador de posición de imagen 3">
            <a:extLst>
              <a:ext uri="{FF2B5EF4-FFF2-40B4-BE49-F238E27FC236}">
                <a16:creationId xmlns:a16="http://schemas.microsoft.com/office/drawing/2014/main" id="{43C9654F-C90A-4348-B374-D714D1C6E3EC}"/>
              </a:ext>
            </a:extLst>
          </p:cNvPr>
          <p:cNvPicPr>
            <a:picLocks noGrp="1" noChangeAspect="1"/>
          </p:cNvPicPr>
          <p:nvPr>
            <p:ph type="pic" sz="quarter" idx="10"/>
          </p:nvPr>
        </p:nvPicPr>
        <p:blipFill>
          <a:blip r:embed="rId3"/>
          <a:srcRect t="395" b="395"/>
          <a:stretch>
            <a:fillRect/>
          </a:stretch>
        </p:blipFill>
        <p:spPr/>
      </p:pic>
    </p:spTree>
    <p:extLst>
      <p:ext uri="{BB962C8B-B14F-4D97-AF65-F5344CB8AC3E}">
        <p14:creationId xmlns:p14="http://schemas.microsoft.com/office/powerpoint/2010/main" val="2748697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highlight>
                  <a:srgbClr val="FFFF00"/>
                </a:highlight>
              </a:rPr>
              <a:t>GESTIÓN DE PROYECTOS EN UN CdVP</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722843"/>
          </a:xfrm>
          <a:prstGeom prst="rect">
            <a:avLst/>
          </a:prstGeom>
        </p:spPr>
        <p:txBody>
          <a:bodyPr/>
          <a:lstStyle/>
          <a:p>
            <a:pPr>
              <a:spcAft>
                <a:spcPts val="600"/>
              </a:spcAft>
            </a:pPr>
            <a:r>
              <a:rPr lang="es-ES" sz="1800" b="0" i="0" u="none" strike="noStrike" baseline="0" dirty="0"/>
              <a:t>Este enfoque </a:t>
            </a:r>
            <a:r>
              <a:rPr lang="es-ES" sz="1800" b="1" i="0" u="none" strike="noStrike" baseline="0" dirty="0"/>
              <a:t>supervisa</a:t>
            </a:r>
            <a:r>
              <a:rPr lang="es-ES" sz="1800" b="0" i="0" u="none" strike="noStrike" baseline="0" dirty="0"/>
              <a:t> el desarrollo y la maduración de las </a:t>
            </a:r>
            <a:r>
              <a:rPr lang="es-ES" sz="1800" b="1" i="0" u="none" strike="noStrike" baseline="0" dirty="0"/>
              <a:t>capacidades del producto</a:t>
            </a:r>
            <a:r>
              <a:rPr lang="es-ES" sz="1800" b="0" i="0" u="none" strike="noStrike" baseline="0" dirty="0"/>
              <a:t> como una actividad continua del negocio.</a:t>
            </a:r>
          </a:p>
          <a:p>
            <a:pPr>
              <a:spcAft>
                <a:spcPts val="600"/>
              </a:spcAft>
            </a:pPr>
            <a:endParaRPr lang="es-ES" sz="1800" b="0" i="0" u="none" strike="noStrike" baseline="0" dirty="0"/>
          </a:p>
          <a:p>
            <a:pPr>
              <a:spcAft>
                <a:spcPts val="600"/>
              </a:spcAft>
            </a:pPr>
            <a:r>
              <a:rPr lang="es-ES" sz="1800" b="0" i="0" u="none" strike="noStrike" baseline="0" dirty="0"/>
              <a:t>La gobernanza del portafolio constituye proyectos individuales según sea necesario para realizar </a:t>
            </a:r>
            <a:r>
              <a:rPr lang="es-ES" sz="1800" b="1" i="0" u="none" strike="noStrike" baseline="0" dirty="0"/>
              <a:t>mejoras</a:t>
            </a:r>
            <a:r>
              <a:rPr lang="es-ES" sz="1800" b="0" i="0" u="none" strike="noStrike" baseline="0" dirty="0"/>
              <a:t>, o para </a:t>
            </a:r>
            <a:r>
              <a:rPr lang="es-ES" sz="1800" b="1" i="0" u="none" strike="noStrike" baseline="0" dirty="0"/>
              <a:t>producir otros resultados únicos</a:t>
            </a:r>
            <a:r>
              <a:rPr lang="es-ES" sz="1800" b="0" i="0" u="none" strike="noStrike" baseline="0" dirty="0"/>
              <a:t>.</a:t>
            </a:r>
            <a:endParaRPr lang="es-ES" dirty="0"/>
          </a:p>
        </p:txBody>
      </p:sp>
      <p:pic>
        <p:nvPicPr>
          <p:cNvPr id="4" name="Marcador de posición de imagen 3">
            <a:extLst>
              <a:ext uri="{FF2B5EF4-FFF2-40B4-BE49-F238E27FC236}">
                <a16:creationId xmlns:a16="http://schemas.microsoft.com/office/drawing/2014/main" id="{9C1E24B8-DC0A-4749-90E0-7B71AF7D4975}"/>
              </a:ext>
            </a:extLst>
          </p:cNvPr>
          <p:cNvPicPr>
            <a:picLocks noGrp="1" noChangeAspect="1"/>
          </p:cNvPicPr>
          <p:nvPr>
            <p:ph type="pic" sz="quarter" idx="10"/>
          </p:nvPr>
        </p:nvPicPr>
        <p:blipFill>
          <a:blip r:embed="rId3"/>
          <a:srcRect t="278" b="278"/>
          <a:stretch>
            <a:fillRect/>
          </a:stretch>
        </p:blipFill>
        <p:spPr/>
      </p:pic>
    </p:spTree>
    <p:extLst>
      <p:ext uri="{BB962C8B-B14F-4D97-AF65-F5344CB8AC3E}">
        <p14:creationId xmlns:p14="http://schemas.microsoft.com/office/powerpoint/2010/main" val="4201117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del producto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103687" cy="2023596"/>
          </a:xfrm>
          <a:prstGeom prst="rect">
            <a:avLst/>
          </a:prstGeom>
        </p:spPr>
        <p:txBody>
          <a:bodyPr/>
          <a:lstStyle/>
          <a:p>
            <a:pPr>
              <a:spcAft>
                <a:spcPts val="600"/>
              </a:spcAft>
            </a:pPr>
            <a:r>
              <a:rPr lang="es-ES" sz="1800" b="0" i="0" u="none" strike="noStrike" baseline="0" dirty="0"/>
              <a:t>Los programas y proyectos </a:t>
            </a:r>
            <a:r>
              <a:rPr lang="es-ES" sz="1800" b="1" i="0" u="none" strike="noStrike" baseline="0" dirty="0"/>
              <a:t>con entregables que incluyen productos</a:t>
            </a:r>
            <a:r>
              <a:rPr lang="es-ES" sz="1800" b="0" i="0" u="none" strike="noStrike" baseline="0" dirty="0"/>
              <a:t> utilizan un enfoque adaptado e integrado que </a:t>
            </a:r>
            <a:r>
              <a:rPr lang="es-ES" sz="1800" b="1" i="0" u="none" strike="noStrike" baseline="0" dirty="0"/>
              <a:t>incorpora todos los fundamentos</a:t>
            </a:r>
            <a:r>
              <a:rPr lang="es-ES" sz="1800" b="0" i="0" u="none" strike="noStrike" baseline="0" dirty="0"/>
              <a:t> relevantes y sus prácticas, métodos y artefactos relacionados.</a:t>
            </a:r>
            <a:endParaRPr lang="es-ES" dirty="0"/>
          </a:p>
        </p:txBody>
      </p:sp>
      <p:pic>
        <p:nvPicPr>
          <p:cNvPr id="4" name="Marcador de posición de imagen 3">
            <a:extLst>
              <a:ext uri="{FF2B5EF4-FFF2-40B4-BE49-F238E27FC236}">
                <a16:creationId xmlns:a16="http://schemas.microsoft.com/office/drawing/2014/main" id="{219233FF-C90F-467A-A427-99286BBB4587}"/>
              </a:ext>
            </a:extLst>
          </p:cNvPr>
          <p:cNvPicPr>
            <a:picLocks noGrp="1" noChangeAspect="1"/>
          </p:cNvPicPr>
          <p:nvPr>
            <p:ph type="pic" sz="quarter" idx="10"/>
          </p:nvPr>
        </p:nvPicPr>
        <p:blipFill>
          <a:blip r:embed="rId3"/>
          <a:srcRect t="278" b="278"/>
          <a:stretch>
            <a:fillRect/>
          </a:stretch>
        </p:blipFill>
        <p:spPr/>
      </p:pic>
    </p:spTree>
    <p:extLst>
      <p:ext uri="{BB962C8B-B14F-4D97-AF65-F5344CB8AC3E}">
        <p14:creationId xmlns:p14="http://schemas.microsoft.com/office/powerpoint/2010/main" val="1981359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Oficina de gestión de proyectos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FUNDAMENTALES</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45165" y="1158876"/>
            <a:ext cx="4103687" cy="2669054"/>
          </a:xfrm>
          <a:prstGeom prst="rect">
            <a:avLst/>
          </a:prstGeom>
        </p:spPr>
        <p:txBody>
          <a:bodyPr/>
          <a:lstStyle/>
          <a:p>
            <a:r>
              <a:rPr lang="es-ES" dirty="0"/>
              <a:t>En algunas empresas, una PMO podría prestar </a:t>
            </a:r>
            <a:r>
              <a:rPr lang="es-ES" b="1" dirty="0"/>
              <a:t>soporte</a:t>
            </a:r>
            <a:r>
              <a:rPr lang="es-ES" dirty="0"/>
              <a:t> a programas y proyectos dentro de un portafolio. </a:t>
            </a:r>
          </a:p>
          <a:p>
            <a:pPr>
              <a:spcAft>
                <a:spcPts val="600"/>
              </a:spcAft>
            </a:pPr>
            <a:r>
              <a:rPr lang="es-ES" dirty="0"/>
              <a:t>La gobernanza del proyecto incluye definir la autoridad para aprobar cambios y tomar otras decisiones de negocio, además está alineada con la gobernanza del programa y/o de la organización.</a:t>
            </a:r>
          </a:p>
        </p:txBody>
      </p:sp>
      <p:pic>
        <p:nvPicPr>
          <p:cNvPr id="10" name="Marcador de posición de imagen 9">
            <a:extLst>
              <a:ext uri="{FF2B5EF4-FFF2-40B4-BE49-F238E27FC236}">
                <a16:creationId xmlns:a16="http://schemas.microsoft.com/office/drawing/2014/main" id="{430B430D-8916-43E1-893E-B648FD2AB51E}"/>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1139380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36876"/>
          </a:xfrm>
        </p:spPr>
        <p:txBody>
          <a:bodyPr/>
          <a:lstStyle/>
          <a:p>
            <a:pPr marL="274638" indent="-274638">
              <a:tabLst>
                <a:tab pos="274638" algn="l"/>
              </a:tabLst>
            </a:pPr>
            <a:r>
              <a:rPr lang="es-PE" dirty="0"/>
              <a:t>/	GESTIÓN PREDICTIVA</a:t>
            </a:r>
          </a:p>
        </p:txBody>
      </p:sp>
    </p:spTree>
    <p:custDataLst>
      <p:tags r:id="rId1"/>
    </p:custDataLst>
    <p:extLst>
      <p:ext uri="{BB962C8B-B14F-4D97-AF65-F5344CB8AC3E}">
        <p14:creationId xmlns:p14="http://schemas.microsoft.com/office/powerpoint/2010/main" val="3754595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3" y="804863"/>
            <a:ext cx="8207375" cy="354012"/>
          </a:xfrm>
        </p:spPr>
        <p:txBody>
          <a:bodyPr/>
          <a:lstStyle/>
          <a:p>
            <a:r>
              <a:rPr lang="es-PE" dirty="0"/>
              <a:t>Selección de enfoque de desarrollo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p:txBody>
          <a:bodyPr/>
          <a:lstStyle/>
          <a:p>
            <a:pPr>
              <a:spcAft>
                <a:spcPts val="600"/>
              </a:spcAft>
            </a:pPr>
            <a:r>
              <a:rPr lang="es-ES" dirty="0"/>
              <a:t>Hay varios factores que influyen en la selección de un enfoque de desarrollo y se pueden dividir en las siguientes categorías:</a:t>
            </a:r>
          </a:p>
          <a:p>
            <a:pPr lvl="1">
              <a:spcAft>
                <a:spcPts val="600"/>
              </a:spcAft>
            </a:pPr>
            <a:r>
              <a:rPr lang="es-ES" dirty="0"/>
              <a:t>Producto, servicio o resultado.</a:t>
            </a:r>
          </a:p>
          <a:p>
            <a:pPr lvl="1">
              <a:spcAft>
                <a:spcPts val="600"/>
              </a:spcAft>
            </a:pPr>
            <a:r>
              <a:rPr lang="es-ES" dirty="0"/>
              <a:t>El proyecto.</a:t>
            </a:r>
          </a:p>
          <a:p>
            <a:pPr lvl="1">
              <a:spcAft>
                <a:spcPts val="600"/>
              </a:spcAft>
            </a:pPr>
            <a:r>
              <a:rPr lang="es-ES" dirty="0"/>
              <a:t>La organización.</a:t>
            </a:r>
            <a:endParaRPr lang="es-PE" dirty="0"/>
          </a:p>
        </p:txBody>
      </p:sp>
      <p:pic>
        <p:nvPicPr>
          <p:cNvPr id="7" name="Marcador de posición de imagen 6">
            <a:extLst>
              <a:ext uri="{FF2B5EF4-FFF2-40B4-BE49-F238E27FC236}">
                <a16:creationId xmlns:a16="http://schemas.microsoft.com/office/drawing/2014/main" id="{A24AB32A-B19F-4B0E-98E1-82BAD0FDD2AC}"/>
              </a:ext>
            </a:extLst>
          </p:cNvPr>
          <p:cNvPicPr>
            <a:picLocks noGrp="1" noChangeAspect="1"/>
          </p:cNvPicPr>
          <p:nvPr>
            <p:ph type="pic" sz="quarter" idx="10"/>
          </p:nvPr>
        </p:nvPicPr>
        <p:blipFill>
          <a:blip r:embed="rId3"/>
          <a:srcRect t="403" b="403"/>
          <a:stretch>
            <a:fillRect/>
          </a:stretch>
        </p:blipFill>
        <p:spPr/>
      </p:pic>
    </p:spTree>
    <p:extLst>
      <p:ext uri="{BB962C8B-B14F-4D97-AF65-F5344CB8AC3E}">
        <p14:creationId xmlns:p14="http://schemas.microsoft.com/office/powerpoint/2010/main" val="157773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Ciclo de vida y definiciones de fase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103687" cy="3665886"/>
          </a:xfrm>
        </p:spPr>
        <p:txBody>
          <a:bodyPr/>
          <a:lstStyle/>
          <a:p>
            <a:pPr>
              <a:spcAft>
                <a:spcPts val="600"/>
              </a:spcAft>
            </a:pPr>
            <a:r>
              <a:rPr lang="es-ES" dirty="0"/>
              <a:t>El tipo y el número de fases del proyecto en el ciclo de vida de un proyecto dependen de muchas variables, entre ellas la cadencia de entrega y el enfoque de desarrollo.</a:t>
            </a:r>
          </a:p>
          <a:p>
            <a:pPr>
              <a:spcAft>
                <a:spcPts val="600"/>
              </a:spcAft>
            </a:pPr>
            <a:r>
              <a:rPr lang="es-ES" dirty="0"/>
              <a:t>Los ejemplos de fases de un ciclo de vida incluyen los siguientes aspectos:</a:t>
            </a:r>
          </a:p>
          <a:p>
            <a:pPr lvl="1">
              <a:spcAft>
                <a:spcPts val="600"/>
              </a:spcAft>
            </a:pPr>
            <a:r>
              <a:rPr lang="es-ES" dirty="0"/>
              <a:t>viabilidad</a:t>
            </a:r>
          </a:p>
          <a:p>
            <a:pPr lvl="1">
              <a:spcAft>
                <a:spcPts val="600"/>
              </a:spcAft>
            </a:pPr>
            <a:r>
              <a:rPr lang="es-ES" dirty="0"/>
              <a:t>diseño</a:t>
            </a:r>
          </a:p>
          <a:p>
            <a:pPr lvl="1">
              <a:spcAft>
                <a:spcPts val="600"/>
              </a:spcAft>
            </a:pPr>
            <a:r>
              <a:rPr lang="es-ES" dirty="0"/>
              <a:t>construcción</a:t>
            </a:r>
          </a:p>
          <a:p>
            <a:pPr lvl="1">
              <a:spcAft>
                <a:spcPts val="600"/>
              </a:spcAft>
            </a:pPr>
            <a:r>
              <a:rPr lang="es-ES" dirty="0"/>
              <a:t>prueba</a:t>
            </a:r>
          </a:p>
          <a:p>
            <a:pPr lvl="1">
              <a:spcAft>
                <a:spcPts val="600"/>
              </a:spcAft>
            </a:pPr>
            <a:r>
              <a:rPr lang="es-ES" dirty="0"/>
              <a:t>despliegue</a:t>
            </a:r>
          </a:p>
          <a:p>
            <a:pPr lvl="1">
              <a:spcAft>
                <a:spcPts val="600"/>
              </a:spcAft>
            </a:pPr>
            <a:r>
              <a:rPr lang="es-ES" dirty="0"/>
              <a:t>cierre</a:t>
            </a:r>
            <a:endParaRPr lang="es-PE" dirty="0"/>
          </a:p>
        </p:txBody>
      </p:sp>
      <p:pic>
        <p:nvPicPr>
          <p:cNvPr id="5" name="Marcador de posición de imagen 4">
            <a:extLst>
              <a:ext uri="{FF2B5EF4-FFF2-40B4-BE49-F238E27FC236}">
                <a16:creationId xmlns:a16="http://schemas.microsoft.com/office/drawing/2014/main" id="{84C26D2B-31A6-4510-8902-10928514F155}"/>
              </a:ext>
            </a:extLst>
          </p:cNvPr>
          <p:cNvPicPr>
            <a:picLocks noGrp="1" noChangeAspect="1"/>
          </p:cNvPicPr>
          <p:nvPr>
            <p:ph type="pic" sz="quarter" idx="10"/>
          </p:nvPr>
        </p:nvPicPr>
        <p:blipFill>
          <a:blip r:embed="rId3"/>
          <a:srcRect t="491" b="491"/>
          <a:stretch>
            <a:fillRect/>
          </a:stretch>
        </p:blipFill>
        <p:spPr/>
      </p:pic>
    </p:spTree>
    <p:extLst>
      <p:ext uri="{BB962C8B-B14F-4D97-AF65-F5344CB8AC3E}">
        <p14:creationId xmlns:p14="http://schemas.microsoft.com/office/powerpoint/2010/main" val="2113354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3" y="804863"/>
            <a:ext cx="4103687" cy="354012"/>
          </a:xfrm>
        </p:spPr>
        <p:txBody>
          <a:bodyPr/>
          <a:lstStyle/>
          <a:p>
            <a:r>
              <a:rPr lang="es-PE" dirty="0"/>
              <a:t>Revisión de fase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103687" cy="3584110"/>
          </a:xfrm>
        </p:spPr>
        <p:txBody>
          <a:bodyPr/>
          <a:lstStyle/>
          <a:p>
            <a:pPr>
              <a:spcAft>
                <a:spcPts val="600"/>
              </a:spcAft>
            </a:pPr>
            <a:r>
              <a:rPr lang="es-ES" dirty="0"/>
              <a:t>Las fases del proyecto a menudo tienen una revisión de fase (también conocida como transición de etapa) para verificar que los resultados deseados o los criterios de salida para la fase se hayan logrado antes de continuar a la siguiente.</a:t>
            </a:r>
          </a:p>
          <a:p>
            <a:pPr>
              <a:spcAft>
                <a:spcPts val="600"/>
              </a:spcAft>
            </a:pPr>
            <a:endParaRPr lang="es-ES" dirty="0"/>
          </a:p>
          <a:p>
            <a:pPr>
              <a:spcAft>
                <a:spcPts val="600"/>
              </a:spcAft>
            </a:pPr>
            <a:r>
              <a:rPr lang="es-ES" dirty="0"/>
              <a:t>Los criterios de salida pueden vincularse a los criterios de aceptación de los entregables, las obligaciones contractuales, el cumplimiento de los objetivos de desempeño específicos u otras medidas tangibles.</a:t>
            </a:r>
            <a:endParaRPr lang="es-PE" dirty="0"/>
          </a:p>
        </p:txBody>
      </p:sp>
      <p:pic>
        <p:nvPicPr>
          <p:cNvPr id="5" name="Marcador de posición de imagen 4">
            <a:extLst>
              <a:ext uri="{FF2B5EF4-FFF2-40B4-BE49-F238E27FC236}">
                <a16:creationId xmlns:a16="http://schemas.microsoft.com/office/drawing/2014/main" id="{2B6F805B-D0CB-4EB8-9E9D-2BE279740D33}"/>
              </a:ext>
            </a:extLst>
          </p:cNvPr>
          <p:cNvPicPr>
            <a:picLocks noGrp="1" noChangeAspect="1"/>
          </p:cNvPicPr>
          <p:nvPr>
            <p:ph type="pic" sz="quarter" idx="10"/>
          </p:nvPr>
        </p:nvPicPr>
        <p:blipFill>
          <a:blip r:embed="rId3"/>
          <a:srcRect t="152" b="152"/>
          <a:stretch>
            <a:fillRect/>
          </a:stretch>
        </p:blipFill>
        <p:spPr/>
      </p:pic>
    </p:spTree>
    <p:extLst>
      <p:ext uri="{BB962C8B-B14F-4D97-AF65-F5344CB8AC3E}">
        <p14:creationId xmlns:p14="http://schemas.microsoft.com/office/powerpoint/2010/main" val="3191584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Ciclo de vida predictivo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5"/>
            <a:ext cx="4340170" cy="4111625"/>
          </a:xfrm>
        </p:spPr>
        <p:txBody>
          <a:bodyPr/>
          <a:lstStyle/>
          <a:p>
            <a:pPr>
              <a:spcAft>
                <a:spcPts val="600"/>
              </a:spcAft>
            </a:pPr>
            <a:r>
              <a:rPr lang="es-ES" dirty="0"/>
              <a:t>Es el conjunto de fases en que son divididos los proyectos para facilitar su gestión.</a:t>
            </a:r>
          </a:p>
          <a:p>
            <a:pPr>
              <a:spcAft>
                <a:spcPts val="600"/>
              </a:spcAft>
            </a:pPr>
            <a:r>
              <a:rPr lang="es-ES" dirty="0"/>
              <a:t>Las organizaciones suelen identificar un conjunto de ciclos de vida específico para emplearlo en sus proyectos.</a:t>
            </a:r>
          </a:p>
          <a:p>
            <a:pPr>
              <a:spcAft>
                <a:spcPts val="600"/>
              </a:spcAft>
            </a:pPr>
            <a:r>
              <a:rPr lang="es-ES" dirty="0"/>
              <a:t>Se usa el ciclo de vida en la que una fase termina antes de que comience la siguiente.</a:t>
            </a:r>
          </a:p>
          <a:p>
            <a:pPr>
              <a:spcAft>
                <a:spcPts val="600"/>
              </a:spcAft>
            </a:pPr>
            <a:r>
              <a:rPr lang="es-ES" dirty="0"/>
              <a:t>Este tipo de ciclo de vida encajaría bien con un enfoque de desarrollo predictivo, ya que cada fase se realiza solo una vez, y cada fase se centra en un tipo particular de trabajo.</a:t>
            </a:r>
          </a:p>
          <a:p>
            <a:pPr>
              <a:spcAft>
                <a:spcPts val="600"/>
              </a:spcAft>
            </a:pPr>
            <a:r>
              <a:rPr lang="es-ES" dirty="0"/>
              <a:t>Sin embargo, hay situaciones, como la adición de alcance, un cambio en los requisitos o un cambio en el mercado que causan que se repitan las fases.</a:t>
            </a:r>
            <a:endParaRPr lang="es-PE" dirty="0"/>
          </a:p>
        </p:txBody>
      </p:sp>
      <p:pic>
        <p:nvPicPr>
          <p:cNvPr id="5" name="Marcador de posición de imagen 4">
            <a:extLst>
              <a:ext uri="{FF2B5EF4-FFF2-40B4-BE49-F238E27FC236}">
                <a16:creationId xmlns:a16="http://schemas.microsoft.com/office/drawing/2014/main" id="{BC6DE94A-C636-4807-A6C8-C07309631D5B}"/>
              </a:ext>
            </a:extLst>
          </p:cNvPr>
          <p:cNvPicPr>
            <a:picLocks noGrp="1" noChangeAspect="1"/>
          </p:cNvPicPr>
          <p:nvPr>
            <p:ph type="pic" sz="quarter" idx="10"/>
          </p:nvPr>
        </p:nvPicPr>
        <p:blipFill>
          <a:blip r:embed="rId3"/>
          <a:srcRect t="491" b="491"/>
          <a:stretch>
            <a:fillRect/>
          </a:stretch>
        </p:blipFill>
        <p:spPr>
          <a:xfrm>
            <a:off x="4965638" y="804863"/>
            <a:ext cx="4086000" cy="4446000"/>
          </a:xfrm>
        </p:spPr>
      </p:pic>
    </p:spTree>
    <p:extLst>
      <p:ext uri="{BB962C8B-B14F-4D97-AF65-F5344CB8AC3E}">
        <p14:creationId xmlns:p14="http://schemas.microsoft.com/office/powerpoint/2010/main" val="135695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4FFA41B2-DB25-2094-651F-07724B080D3A}"/>
              </a:ext>
            </a:extLst>
          </p:cNvPr>
          <p:cNvPicPr>
            <a:picLocks noGrp="1" noChangeAspect="1"/>
          </p:cNvPicPr>
          <p:nvPr>
            <p:ph type="pic" sz="quarter" idx="10"/>
          </p:nvPr>
        </p:nvPicPr>
        <p:blipFill>
          <a:blip r:embed="rId3"/>
          <a:srcRect t="491" b="491"/>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Planificación de la entrega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5"/>
            <a:ext cx="4103687" cy="2706881"/>
          </a:xfrm>
        </p:spPr>
        <p:txBody>
          <a:bodyPr/>
          <a:lstStyle/>
          <a:p>
            <a:pPr>
              <a:spcAft>
                <a:spcPts val="600"/>
              </a:spcAft>
            </a:pPr>
            <a:r>
              <a:rPr lang="es-ES" dirty="0"/>
              <a:t>La planificación comienza por adelantado con los entregables de alto nivel del proyecto y los descomponen en un mayor detalle.</a:t>
            </a:r>
          </a:p>
          <a:p>
            <a:pPr>
              <a:spcAft>
                <a:spcPts val="600"/>
              </a:spcAft>
            </a:pPr>
            <a:endParaRPr lang="es-ES" dirty="0"/>
          </a:p>
          <a:p>
            <a:pPr>
              <a:spcAft>
                <a:spcPts val="600"/>
              </a:spcAft>
            </a:pPr>
            <a:r>
              <a:rPr lang="es-ES" dirty="0"/>
              <a:t>Este enfoque puede emplear una declaración del alcance y/o una estructura de desglose del trabajo (EDT) para descomponer el alcance en niveles más bajos de detalle.</a:t>
            </a:r>
            <a:endParaRPr lang="es-PE" dirty="0"/>
          </a:p>
        </p:txBody>
      </p:sp>
    </p:spTree>
    <p:extLst>
      <p:ext uri="{BB962C8B-B14F-4D97-AF65-F5344CB8AC3E}">
        <p14:creationId xmlns:p14="http://schemas.microsoft.com/office/powerpoint/2010/main" val="3949566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Caso: desarrollar la infraestructura para un nuevo centro comunitario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82025"/>
            <a:ext cx="8207375" cy="1308414"/>
          </a:xfrm>
        </p:spPr>
        <p:txBody>
          <a:bodyPr/>
          <a:lstStyle/>
          <a:p>
            <a:pPr>
              <a:spcAft>
                <a:spcPts val="600"/>
              </a:spcAft>
            </a:pPr>
            <a:r>
              <a:rPr lang="es-ES" dirty="0"/>
              <a:t>Podría utilizar un enfoque predictivo para la construcción de los terrenos e instalaciones.</a:t>
            </a:r>
          </a:p>
          <a:p>
            <a:pPr>
              <a:spcAft>
                <a:spcPts val="600"/>
              </a:spcAft>
            </a:pPr>
            <a:r>
              <a:rPr lang="es-ES" dirty="0"/>
              <a:t>El alcance, cronograma, costo y recursos se determinarían por adelantado, y los cambios probablemente serían mínimos.</a:t>
            </a:r>
          </a:p>
          <a:p>
            <a:pPr>
              <a:spcAft>
                <a:spcPts val="600"/>
              </a:spcAft>
            </a:pPr>
            <a:r>
              <a:rPr lang="es-ES" dirty="0"/>
              <a:t>El proceso de construcción seguiría los planes y los planos.</a:t>
            </a:r>
            <a:endParaRPr lang="es-PE" dirty="0"/>
          </a:p>
        </p:txBody>
      </p:sp>
      <p:pic>
        <p:nvPicPr>
          <p:cNvPr id="6" name="Marcador de posición de imagen 5">
            <a:extLst>
              <a:ext uri="{FF2B5EF4-FFF2-40B4-BE49-F238E27FC236}">
                <a16:creationId xmlns:a16="http://schemas.microsoft.com/office/drawing/2014/main" id="{97397E5B-DD30-84F8-BFC8-B5D0C3646AF4}"/>
              </a:ext>
            </a:extLst>
          </p:cNvPr>
          <p:cNvPicPr>
            <a:picLocks noGrp="1" noChangeAspect="1"/>
          </p:cNvPicPr>
          <p:nvPr>
            <p:ph type="pic" sz="quarter" idx="10"/>
          </p:nvPr>
        </p:nvPicPr>
        <p:blipFill>
          <a:blip r:embed="rId3"/>
          <a:srcRect t="310" b="310"/>
          <a:stretch>
            <a:fillRect/>
          </a:stretch>
        </p:blipFill>
        <p:spPr/>
      </p:pic>
    </p:spTree>
    <p:extLst>
      <p:ext uri="{BB962C8B-B14F-4D97-AF65-F5344CB8AC3E}">
        <p14:creationId xmlns:p14="http://schemas.microsoft.com/office/powerpoint/2010/main" val="100491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kumimoji="0" lang="es-PE" sz="1200" b="1" i="0" u="none" strike="noStrike" kern="1200" cap="none" spc="0" normalizeH="0" baseline="0" noProof="0" dirty="0">
                <a:ln>
                  <a:noFill/>
                </a:ln>
                <a:solidFill>
                  <a:prstClr val="black">
                    <a:lumMod val="50000"/>
                    <a:lumOff val="50000"/>
                  </a:prstClr>
                </a:solidFill>
                <a:effectLst/>
                <a:uLnTx/>
                <a:uFillTx/>
                <a:latin typeface="Calibri"/>
                <a:ea typeface="+mn-ea"/>
                <a:cs typeface="+mn-cs"/>
              </a:rPr>
              <a:t>[FASE]</a:t>
            </a:r>
            <a:r>
              <a:rPr kumimoji="0" lang="es-PE" sz="1600" b="1" i="0" u="none" strike="noStrike" kern="1200" cap="none" spc="0" normalizeH="0" baseline="0" noProof="0" dirty="0">
                <a:ln>
                  <a:noFill/>
                </a:ln>
                <a:solidFill>
                  <a:prstClr val="black"/>
                </a:solidFill>
                <a:effectLst/>
                <a:uLnTx/>
                <a:uFillTx/>
                <a:latin typeface="Calibri"/>
                <a:ea typeface="+mn-ea"/>
                <a:cs typeface="+mn-cs"/>
              </a:rPr>
              <a:t>  Inicio</a:t>
            </a:r>
            <a:r>
              <a:rPr lang="es-PE" dirty="0"/>
              <a:t> del proyecto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103687" cy="3576676"/>
          </a:xfrm>
        </p:spPr>
        <p:txBody>
          <a:bodyPr/>
          <a:lstStyle/>
          <a:p>
            <a:pPr>
              <a:spcAft>
                <a:spcPts val="600"/>
              </a:spcAft>
            </a:pPr>
            <a:r>
              <a:rPr lang="es-ES" dirty="0"/>
              <a:t>El caso de negocio ha sido aprobado y el Acta de Constitución del proyecto ha sido autorizada.</a:t>
            </a:r>
          </a:p>
          <a:p>
            <a:pPr>
              <a:spcAft>
                <a:spcPts val="600"/>
              </a:spcAft>
            </a:pPr>
            <a:r>
              <a:rPr lang="es-ES" dirty="0"/>
              <a:t>Se elabora entonces:</a:t>
            </a:r>
          </a:p>
          <a:p>
            <a:pPr lvl="1">
              <a:spcAft>
                <a:spcPts val="600"/>
              </a:spcAft>
            </a:pPr>
            <a:r>
              <a:rPr lang="es-ES" dirty="0"/>
              <a:t>La hoja de ruta de alto nivel.</a:t>
            </a:r>
          </a:p>
          <a:p>
            <a:pPr lvl="1">
              <a:spcAft>
                <a:spcPts val="600"/>
              </a:spcAft>
            </a:pPr>
            <a:r>
              <a:rPr lang="es-ES" dirty="0"/>
              <a:t>Se establecen los requisitos iniciales de financiamiento.</a:t>
            </a:r>
          </a:p>
          <a:p>
            <a:pPr lvl="1">
              <a:spcAft>
                <a:spcPts val="600"/>
              </a:spcAft>
            </a:pPr>
            <a:r>
              <a:rPr lang="es-ES" dirty="0"/>
              <a:t>Se definen los requisitos del equipo de proyecto y los recursos.</a:t>
            </a:r>
          </a:p>
          <a:p>
            <a:pPr lvl="1">
              <a:spcAft>
                <a:spcPts val="600"/>
              </a:spcAft>
            </a:pPr>
            <a:r>
              <a:rPr lang="es-ES" dirty="0"/>
              <a:t>Se crea un cronograma de hitos.</a:t>
            </a:r>
          </a:p>
          <a:p>
            <a:pPr lvl="1">
              <a:spcAft>
                <a:spcPts val="600"/>
              </a:spcAft>
            </a:pPr>
            <a:r>
              <a:rPr lang="es-ES" dirty="0"/>
              <a:t>Se define la planificación de una estrategia para las adquisiciones.</a:t>
            </a:r>
          </a:p>
        </p:txBody>
      </p:sp>
      <p:pic>
        <p:nvPicPr>
          <p:cNvPr id="10" name="Marcador de posición de imagen 9">
            <a:extLst>
              <a:ext uri="{FF2B5EF4-FFF2-40B4-BE49-F238E27FC236}">
                <a16:creationId xmlns:a16="http://schemas.microsoft.com/office/drawing/2014/main" id="{4F0A7BDB-68D4-4CF4-9801-4259C4C9192B}"/>
              </a:ext>
            </a:extLst>
          </p:cNvPr>
          <p:cNvPicPr>
            <a:picLocks noGrp="1" noChangeAspect="1"/>
          </p:cNvPicPr>
          <p:nvPr>
            <p:ph type="pic" sz="quarter" idx="10"/>
          </p:nvPr>
        </p:nvPicPr>
        <p:blipFill>
          <a:blip r:embed="rId3"/>
          <a:srcRect l="161" r="161"/>
          <a:stretch>
            <a:fillRect/>
          </a:stretch>
        </p:blipFill>
        <p:spPr/>
      </p:pic>
    </p:spTree>
    <p:extLst>
      <p:ext uri="{BB962C8B-B14F-4D97-AF65-F5344CB8AC3E}">
        <p14:creationId xmlns:p14="http://schemas.microsoft.com/office/powerpoint/2010/main" val="3832295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kumimoji="0" lang="es-PE" sz="1200" b="1" i="0" u="none" strike="noStrike" kern="1200" cap="none" spc="0" normalizeH="0" baseline="0" noProof="0" dirty="0">
                <a:ln>
                  <a:noFill/>
                </a:ln>
                <a:solidFill>
                  <a:prstClr val="black">
                    <a:lumMod val="50000"/>
                    <a:lumOff val="50000"/>
                  </a:prstClr>
                </a:solidFill>
                <a:effectLst/>
                <a:uLnTx/>
                <a:uFillTx/>
                <a:latin typeface="Calibri"/>
                <a:ea typeface="+mn-ea"/>
                <a:cs typeface="+mn-cs"/>
              </a:rPr>
              <a:t>[FASE]</a:t>
            </a:r>
            <a:r>
              <a:rPr kumimoji="0" lang="es-PE" sz="1600" b="1" i="0" u="none" strike="noStrike" kern="1200" cap="none" spc="0" normalizeH="0" baseline="0" noProof="0" dirty="0">
                <a:ln>
                  <a:noFill/>
                </a:ln>
                <a:solidFill>
                  <a:prstClr val="black"/>
                </a:solidFill>
                <a:effectLst/>
                <a:uLnTx/>
                <a:uFillTx/>
                <a:latin typeface="Calibri"/>
                <a:ea typeface="+mn-ea"/>
                <a:cs typeface="+mn-cs"/>
              </a:rPr>
              <a:t>  Planificación </a:t>
            </a:r>
            <a:r>
              <a:rPr lang="es-PE" dirty="0"/>
              <a:t>del proyecto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103687" cy="2862998"/>
          </a:xfrm>
        </p:spPr>
        <p:txBody>
          <a:bodyPr/>
          <a:lstStyle/>
          <a:p>
            <a:pPr>
              <a:spcAft>
                <a:spcPts val="600"/>
              </a:spcAft>
            </a:pPr>
            <a:r>
              <a:rPr lang="es-ES" dirty="0"/>
              <a:t>La información de alto nivel para el edificio se descompone en planes detallados.</a:t>
            </a:r>
          </a:p>
          <a:p>
            <a:pPr>
              <a:spcAft>
                <a:spcPts val="600"/>
              </a:spcAft>
            </a:pPr>
            <a:r>
              <a:rPr lang="es-ES" dirty="0"/>
              <a:t>Se completa un documento de diseño detallado de las instalaciones con las que contará el centro comunitario.</a:t>
            </a:r>
          </a:p>
          <a:p>
            <a:pPr>
              <a:spcAft>
                <a:spcPts val="600"/>
              </a:spcAft>
            </a:pPr>
            <a:r>
              <a:rPr lang="es-ES" dirty="0"/>
              <a:t>Se completa un análisis de la oferta de servicios para adultos mayores junto con un análisis de deficiencias.</a:t>
            </a:r>
          </a:p>
          <a:p>
            <a:pPr>
              <a:spcAft>
                <a:spcPts val="600"/>
              </a:spcAft>
            </a:pPr>
            <a:r>
              <a:rPr lang="es-ES" dirty="0"/>
              <a:t>Estos entregables deberían estar completos antes de salir de la fase de planificación.</a:t>
            </a:r>
          </a:p>
        </p:txBody>
      </p:sp>
      <p:pic>
        <p:nvPicPr>
          <p:cNvPr id="10" name="Marcador de posición de imagen 9">
            <a:extLst>
              <a:ext uri="{FF2B5EF4-FFF2-40B4-BE49-F238E27FC236}">
                <a16:creationId xmlns:a16="http://schemas.microsoft.com/office/drawing/2014/main" id="{D1BDEA09-D5FF-4E66-8921-9F781D27DEF7}"/>
              </a:ext>
            </a:extLst>
          </p:cNvPr>
          <p:cNvPicPr>
            <a:picLocks noGrp="1" noChangeAspect="1"/>
          </p:cNvPicPr>
          <p:nvPr>
            <p:ph type="pic" sz="quarter" idx="10"/>
          </p:nvPr>
        </p:nvPicPr>
        <p:blipFill>
          <a:blip r:embed="rId3"/>
          <a:srcRect t="374" b="374"/>
          <a:stretch>
            <a:fillRect/>
          </a:stretch>
        </p:blipFill>
        <p:spPr/>
      </p:pic>
    </p:spTree>
    <p:extLst>
      <p:ext uri="{BB962C8B-B14F-4D97-AF65-F5344CB8AC3E}">
        <p14:creationId xmlns:p14="http://schemas.microsoft.com/office/powerpoint/2010/main" val="3583843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103687" cy="2424384"/>
          </a:xfrm>
        </p:spPr>
        <p:txBody>
          <a:bodyPr/>
          <a:lstStyle/>
          <a:p>
            <a:pPr>
              <a:spcAft>
                <a:spcPts val="600"/>
              </a:spcAft>
            </a:pPr>
            <a:r>
              <a:rPr lang="es-ES" dirty="0"/>
              <a:t>Esta fase se superpondrá con las fase de pruebas.</a:t>
            </a:r>
          </a:p>
          <a:p>
            <a:pPr>
              <a:spcAft>
                <a:spcPts val="600"/>
              </a:spcAft>
            </a:pPr>
            <a:r>
              <a:rPr lang="es-ES" dirty="0"/>
              <a:t>Se construyen los diferentes ambientes del edificio y se hacen pruebas de libertad de desplazamiento en pasillos, servicios higiénicos, y otros.</a:t>
            </a:r>
          </a:p>
          <a:p>
            <a:pPr>
              <a:spcAft>
                <a:spcPts val="600"/>
              </a:spcAft>
            </a:pPr>
            <a:r>
              <a:rPr lang="es-ES" dirty="0"/>
              <a:t>Se construyen rampas, deslizadores, y se instalan barras de seguridad en los diferentes ambientes.</a:t>
            </a:r>
          </a:p>
        </p:txBody>
      </p:sp>
      <p:pic>
        <p:nvPicPr>
          <p:cNvPr id="10" name="Marcador de posición de imagen 9">
            <a:extLst>
              <a:ext uri="{FF2B5EF4-FFF2-40B4-BE49-F238E27FC236}">
                <a16:creationId xmlns:a16="http://schemas.microsoft.com/office/drawing/2014/main" id="{F393ADEF-2625-4C9B-87C3-BC985036379F}"/>
              </a:ext>
            </a:extLst>
          </p:cNvPr>
          <p:cNvPicPr>
            <a:picLocks noGrp="1" noChangeAspect="1"/>
          </p:cNvPicPr>
          <p:nvPr>
            <p:ph type="pic" sz="quarter" idx="10"/>
          </p:nvPr>
        </p:nvPicPr>
        <p:blipFill>
          <a:blip r:embed="rId3"/>
          <a:srcRect t="73" b="73"/>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824000" cy="354012"/>
          </a:xfrm>
        </p:spPr>
        <p:txBody>
          <a:bodyPr/>
          <a:lstStyle/>
          <a:p>
            <a:r>
              <a:rPr kumimoji="0" lang="es-PE" sz="1200" b="1" i="0" u="none" strike="noStrike" kern="1200" cap="none" spc="0" normalizeH="0" baseline="0" noProof="0" dirty="0">
                <a:ln>
                  <a:noFill/>
                </a:ln>
                <a:solidFill>
                  <a:prstClr val="black">
                    <a:lumMod val="50000"/>
                    <a:lumOff val="50000"/>
                  </a:prstClr>
                </a:solidFill>
                <a:effectLst/>
                <a:uLnTx/>
                <a:uFillTx/>
                <a:latin typeface="Calibri"/>
                <a:ea typeface="+mn-ea"/>
                <a:cs typeface="+mn-cs"/>
              </a:rPr>
              <a:t>[FASE]</a:t>
            </a:r>
            <a:r>
              <a:rPr kumimoji="0" lang="es-PE" sz="1600" b="1" i="0" u="none" strike="noStrike" kern="1200" cap="none" spc="0" normalizeH="0" baseline="0" noProof="0" dirty="0">
                <a:ln>
                  <a:noFill/>
                </a:ln>
                <a:solidFill>
                  <a:prstClr val="black"/>
                </a:solidFill>
                <a:effectLst/>
                <a:uLnTx/>
                <a:uFillTx/>
                <a:latin typeface="Calibri"/>
                <a:ea typeface="+mn-ea"/>
                <a:cs typeface="+mn-cs"/>
              </a:rPr>
              <a:t>  Desarrollo</a:t>
            </a:r>
            <a:r>
              <a:rPr lang="es-PE" dirty="0"/>
              <a:t> del producto de proyecto</a:t>
            </a:r>
          </a:p>
        </p:txBody>
      </p:sp>
    </p:spTree>
    <p:extLst>
      <p:ext uri="{BB962C8B-B14F-4D97-AF65-F5344CB8AC3E}">
        <p14:creationId xmlns:p14="http://schemas.microsoft.com/office/powerpoint/2010/main" val="1012077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kumimoji="0" lang="es-PE" sz="1200" b="1" i="0" u="none" strike="noStrike" kern="1200" cap="none" spc="0" normalizeH="0" baseline="0" noProof="0" dirty="0">
                <a:ln>
                  <a:noFill/>
                </a:ln>
                <a:solidFill>
                  <a:prstClr val="black">
                    <a:lumMod val="50000"/>
                    <a:lumOff val="50000"/>
                  </a:prstClr>
                </a:solidFill>
                <a:effectLst/>
                <a:uLnTx/>
                <a:uFillTx/>
                <a:latin typeface="Calibri"/>
                <a:ea typeface="+mn-ea"/>
                <a:cs typeface="+mn-cs"/>
              </a:rPr>
              <a:t>[FASE]</a:t>
            </a:r>
            <a:r>
              <a:rPr kumimoji="0" lang="es-PE" sz="1600" b="1" i="0" u="none" strike="noStrike" kern="1200" cap="none" spc="0" normalizeH="0" baseline="0" noProof="0" dirty="0">
                <a:ln>
                  <a:noFill/>
                </a:ln>
                <a:solidFill>
                  <a:prstClr val="black"/>
                </a:solidFill>
                <a:effectLst/>
                <a:uLnTx/>
                <a:uFillTx/>
                <a:latin typeface="Calibri"/>
                <a:ea typeface="+mn-ea"/>
                <a:cs typeface="+mn-cs"/>
              </a:rPr>
              <a:t>  </a:t>
            </a:r>
            <a:r>
              <a:rPr lang="es-PE" dirty="0">
                <a:solidFill>
                  <a:prstClr val="black"/>
                </a:solidFill>
                <a:latin typeface="Calibri"/>
              </a:rPr>
              <a:t>P</a:t>
            </a:r>
            <a:r>
              <a:rPr lang="es-PE" dirty="0"/>
              <a:t>ruebas del producto del proyecto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103687" cy="2565632"/>
          </a:xfrm>
        </p:spPr>
        <p:txBody>
          <a:bodyPr/>
          <a:lstStyle/>
          <a:p>
            <a:pPr>
              <a:spcAft>
                <a:spcPts val="600"/>
              </a:spcAft>
            </a:pPr>
            <a:r>
              <a:rPr lang="es-ES" dirty="0"/>
              <a:t>Esta fase se superpondrá con las fase de desarrollo.</a:t>
            </a:r>
          </a:p>
          <a:p>
            <a:pPr>
              <a:spcAft>
                <a:spcPts val="600"/>
              </a:spcAft>
            </a:pPr>
            <a:r>
              <a:rPr lang="es-ES" dirty="0"/>
              <a:t>El tipo de prueba dependerá del componente de infraestructura. </a:t>
            </a:r>
          </a:p>
          <a:p>
            <a:pPr>
              <a:spcAft>
                <a:spcPts val="600"/>
              </a:spcAft>
            </a:pPr>
            <a:r>
              <a:rPr lang="es-ES" dirty="0"/>
              <a:t>Incluye inspecciones para el edificio, instalaciones eléctricas, sanitarias, seguridad ambiental, entre otros. </a:t>
            </a:r>
          </a:p>
          <a:p>
            <a:pPr>
              <a:spcAft>
                <a:spcPts val="600"/>
              </a:spcAft>
            </a:pPr>
            <a:r>
              <a:rPr lang="es-ES" dirty="0"/>
              <a:t>Cada entregable pasará por las pruebas aplicables antes de pasar a la fase de cierre.</a:t>
            </a:r>
            <a:endParaRPr lang="es-PE" dirty="0"/>
          </a:p>
        </p:txBody>
      </p:sp>
      <p:pic>
        <p:nvPicPr>
          <p:cNvPr id="10" name="Marcador de posición de imagen 9">
            <a:extLst>
              <a:ext uri="{FF2B5EF4-FFF2-40B4-BE49-F238E27FC236}">
                <a16:creationId xmlns:a16="http://schemas.microsoft.com/office/drawing/2014/main" id="{00DB3F46-805F-4FF4-91A2-39E8A01C64C8}"/>
              </a:ext>
            </a:extLst>
          </p:cNvPr>
          <p:cNvPicPr>
            <a:picLocks noGrp="1" noChangeAspect="1"/>
          </p:cNvPicPr>
          <p:nvPr>
            <p:ph type="pic" sz="quarter" idx="10"/>
          </p:nvPr>
        </p:nvPicPr>
        <p:blipFill>
          <a:blip r:embed="rId3"/>
          <a:srcRect l="295" r="295"/>
          <a:stretch>
            <a:fillRect/>
          </a:stretch>
        </p:blipFill>
        <p:spPr/>
      </p:pic>
    </p:spTree>
    <p:extLst>
      <p:ext uri="{BB962C8B-B14F-4D97-AF65-F5344CB8AC3E}">
        <p14:creationId xmlns:p14="http://schemas.microsoft.com/office/powerpoint/2010/main" val="389497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sz="1200" dirty="0">
                <a:solidFill>
                  <a:schemeClr val="tx1">
                    <a:lumMod val="50000"/>
                    <a:lumOff val="50000"/>
                  </a:schemeClr>
                </a:solidFill>
              </a:rPr>
              <a:t>[FASE]</a:t>
            </a:r>
            <a:r>
              <a:rPr lang="es-PE" dirty="0"/>
              <a:t>  Cierre del proyecto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103687" cy="3264442"/>
          </a:xfrm>
        </p:spPr>
        <p:txBody>
          <a:bodyPr/>
          <a:lstStyle/>
          <a:p>
            <a:pPr>
              <a:spcAft>
                <a:spcPts val="600"/>
              </a:spcAft>
            </a:pPr>
            <a:r>
              <a:rPr lang="es-ES" dirty="0"/>
              <a:t>Esta fase se lleva a cabo cuando se completan los entregables.</a:t>
            </a:r>
          </a:p>
          <a:p>
            <a:pPr>
              <a:spcAft>
                <a:spcPts val="600"/>
              </a:spcAft>
            </a:pPr>
            <a:r>
              <a:rPr lang="es-ES" dirty="0"/>
              <a:t>Cuando se complete todo el proyecto, se recopilará la información de las diversas revisiones de fase y se llevará a cabo una evaluación general del desempeño del proyecto en comparación con las líneas base.</a:t>
            </a:r>
          </a:p>
          <a:p>
            <a:pPr>
              <a:spcAft>
                <a:spcPts val="600"/>
              </a:spcAft>
            </a:pPr>
            <a:r>
              <a:rPr lang="es-ES" dirty="0"/>
              <a:t>Antes del cierre final, el acta de constitución del proyecto y el caso de negocio se revisarán para determinar si los entregables lograron los beneficios y el valor previstos.</a:t>
            </a:r>
          </a:p>
        </p:txBody>
      </p:sp>
      <p:pic>
        <p:nvPicPr>
          <p:cNvPr id="10" name="Marcador de posición de imagen 9">
            <a:extLst>
              <a:ext uri="{FF2B5EF4-FFF2-40B4-BE49-F238E27FC236}">
                <a16:creationId xmlns:a16="http://schemas.microsoft.com/office/drawing/2014/main" id="{1FB30C8B-111E-44CB-A222-6B9A8715596F}"/>
              </a:ext>
            </a:extLst>
          </p:cNvPr>
          <p:cNvPicPr>
            <a:picLocks noGrp="1" noChangeAspect="1"/>
          </p:cNvPicPr>
          <p:nvPr>
            <p:ph type="pic" sz="quarter" idx="10"/>
          </p:nvPr>
        </p:nvPicPr>
        <p:blipFill>
          <a:blip r:embed="rId3"/>
          <a:srcRect l="63" r="63"/>
          <a:stretch>
            <a:fillRect/>
          </a:stretch>
        </p:blipFill>
        <p:spPr/>
      </p:pic>
    </p:spTree>
    <p:extLst>
      <p:ext uri="{BB962C8B-B14F-4D97-AF65-F5344CB8AC3E}">
        <p14:creationId xmlns:p14="http://schemas.microsoft.com/office/powerpoint/2010/main" val="821966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D0B6F73A-F725-A02F-5347-C675A491D302}"/>
              </a:ext>
            </a:extLst>
          </p:cNvPr>
          <p:cNvPicPr>
            <a:picLocks noGrp="1" noChangeAspect="1"/>
          </p:cNvPicPr>
          <p:nvPr>
            <p:ph type="pic" sz="quarter" idx="10"/>
          </p:nvPr>
        </p:nvPicPr>
        <p:blipFill>
          <a:blip r:embed="rId3"/>
          <a:srcRect t="258" b="258"/>
          <a:stretch>
            <a:fillRect/>
          </a:stretch>
        </p:blipFill>
        <p:spPr>
          <a:xfrm>
            <a:off x="4914817" y="824500"/>
            <a:ext cx="4086000" cy="4446000"/>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del cambio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PREDICTIVA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5"/>
            <a:ext cx="4386185" cy="3606413"/>
          </a:xfrm>
        </p:spPr>
        <p:txBody>
          <a:bodyPr/>
          <a:lstStyle/>
          <a:p>
            <a:pPr>
              <a:spcAft>
                <a:spcPts val="600"/>
              </a:spcAft>
            </a:pPr>
            <a:r>
              <a:rPr lang="es-ES" dirty="0"/>
              <a:t>El equipo gestiona activamente los cambios en el trabajo para garantizar que en la línea base del alcance solo se incluyan cambios aprobados.</a:t>
            </a:r>
          </a:p>
          <a:p>
            <a:pPr>
              <a:spcAft>
                <a:spcPts val="600"/>
              </a:spcAft>
            </a:pPr>
            <a:r>
              <a:rPr lang="es-ES" dirty="0"/>
              <a:t>Cualquier cambio en el alcance va acompañado de cambios apropiados en las personas, recursos, cronograma y presupuesto.</a:t>
            </a:r>
          </a:p>
          <a:p>
            <a:pPr>
              <a:spcAft>
                <a:spcPts val="600"/>
              </a:spcAft>
            </a:pPr>
            <a:r>
              <a:rPr lang="es-ES" dirty="0"/>
              <a:t>Los cambios aprobados se integran en los documentos aplicables de planificación del proyecto, de la lista de trabajo pendiente asociado al producto y el alcance del proyecto.</a:t>
            </a:r>
          </a:p>
          <a:p>
            <a:pPr>
              <a:spcAft>
                <a:spcPts val="600"/>
              </a:spcAft>
            </a:pPr>
            <a:r>
              <a:rPr lang="es-ES" dirty="0"/>
              <a:t>Los cambios también son comunicados a los interesados correspondientes.</a:t>
            </a:r>
            <a:endParaRPr lang="es-PE" dirty="0"/>
          </a:p>
        </p:txBody>
      </p:sp>
    </p:spTree>
    <p:extLst>
      <p:ext uri="{BB962C8B-B14F-4D97-AF65-F5344CB8AC3E}">
        <p14:creationId xmlns:p14="http://schemas.microsoft.com/office/powerpoint/2010/main" val="89341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14158"/>
          </a:xfrm>
        </p:spPr>
        <p:txBody>
          <a:bodyPr/>
          <a:lstStyle/>
          <a:p>
            <a:pPr marL="274638" indent="-274638">
              <a:tabLst>
                <a:tab pos="274638" algn="l"/>
              </a:tabLst>
            </a:pPr>
            <a:r>
              <a:rPr lang="es-PE" dirty="0"/>
              <a:t>/	GESTIÓN ADAPTATIVA</a:t>
            </a:r>
          </a:p>
        </p:txBody>
      </p:sp>
    </p:spTree>
    <p:custDataLst>
      <p:tags r:id="rId1"/>
    </p:custDataLst>
    <p:extLst>
      <p:ext uri="{BB962C8B-B14F-4D97-AF65-F5344CB8AC3E}">
        <p14:creationId xmlns:p14="http://schemas.microsoft.com/office/powerpoint/2010/main" val="117025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Ciclo de vida iterativo e incremental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289541" cy="3751262"/>
          </a:xfrm>
        </p:spPr>
        <p:txBody>
          <a:bodyPr/>
          <a:lstStyle/>
          <a:p>
            <a:pPr>
              <a:spcAft>
                <a:spcPts val="600"/>
              </a:spcAft>
            </a:pPr>
            <a:r>
              <a:rPr lang="es-ES" dirty="0"/>
              <a:t>Se repiten las actividades del proyecto en fases o iteraciones y en cada una de ellas se incrementa el entendimiento del producto.</a:t>
            </a:r>
          </a:p>
          <a:p>
            <a:pPr>
              <a:spcAft>
                <a:spcPts val="600"/>
              </a:spcAft>
            </a:pPr>
            <a:r>
              <a:rPr lang="es-ES" dirty="0"/>
              <a:t>Se desarrolla el producto mediante una serie de ciclos repetidos que van añadiendo sucesivamente funcionalidad al producto.</a:t>
            </a:r>
          </a:p>
          <a:p>
            <a:pPr>
              <a:spcAft>
                <a:spcPts val="600"/>
              </a:spcAft>
            </a:pPr>
            <a:r>
              <a:rPr lang="es-ES" dirty="0"/>
              <a:t>Cada iteración completa un conjunto de entregables. Las futuras iteraciones pueden mejorar los entregables o crear nuevos.</a:t>
            </a:r>
          </a:p>
          <a:p>
            <a:pPr>
              <a:spcAft>
                <a:spcPts val="600"/>
              </a:spcAft>
            </a:pPr>
            <a:r>
              <a:rPr lang="es-ES" dirty="0"/>
              <a:t>Este tipo de ciclo de vida permite al equipo del proyecto incorporar la retroalimentación e ir incrementando la experiencia del equipo durante el proyecto.</a:t>
            </a:r>
            <a:endParaRPr lang="es-PE" dirty="0"/>
          </a:p>
        </p:txBody>
      </p:sp>
      <p:pic>
        <p:nvPicPr>
          <p:cNvPr id="11" name="Marcador de posición de imagen 10">
            <a:extLst>
              <a:ext uri="{FF2B5EF4-FFF2-40B4-BE49-F238E27FC236}">
                <a16:creationId xmlns:a16="http://schemas.microsoft.com/office/drawing/2014/main" id="{ABDB8308-B31D-4B79-A9BE-18194167111E}"/>
              </a:ext>
            </a:extLst>
          </p:cNvPr>
          <p:cNvPicPr>
            <a:picLocks noGrp="1" noChangeAspect="1"/>
          </p:cNvPicPr>
          <p:nvPr>
            <p:ph type="pic" sz="quarter" idx="10"/>
          </p:nvPr>
        </p:nvPicPr>
        <p:blipFill>
          <a:blip r:embed="rId3"/>
          <a:srcRect t="491" b="491"/>
          <a:stretch>
            <a:fillRect/>
          </a:stretch>
        </p:blipFill>
        <p:spPr>
          <a:xfrm>
            <a:off x="4855344" y="816438"/>
            <a:ext cx="4086000" cy="4446000"/>
          </a:xfrm>
        </p:spPr>
      </p:pic>
    </p:spTree>
    <p:extLst>
      <p:ext uri="{BB962C8B-B14F-4D97-AF65-F5344CB8AC3E}">
        <p14:creationId xmlns:p14="http://schemas.microsoft.com/office/powerpoint/2010/main" val="1634188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Ciclo de vida adaptativo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289541" cy="3450296"/>
          </a:xfrm>
        </p:spPr>
        <p:txBody>
          <a:bodyPr/>
          <a:lstStyle/>
          <a:p>
            <a:pPr>
              <a:spcAft>
                <a:spcPts val="600"/>
              </a:spcAft>
            </a:pPr>
            <a:r>
              <a:rPr lang="es-ES" dirty="0"/>
              <a:t>Es conocido como método orientado al cambio y método ágil, responden a niveles altos de cambio y a la participación continua de los interesados.</a:t>
            </a:r>
          </a:p>
          <a:p>
            <a:pPr>
              <a:spcAft>
                <a:spcPts val="600"/>
              </a:spcAft>
            </a:pPr>
            <a:r>
              <a:rPr lang="es-ES" dirty="0"/>
              <a:t>Existen diferentes modelos básicos para este tipo de ciclos de vida, aquellos que se encuentran centrados en el flujo y otros centrados en ciclos iterativos e incrementales.</a:t>
            </a:r>
          </a:p>
          <a:p>
            <a:pPr>
              <a:spcAft>
                <a:spcPts val="600"/>
              </a:spcAft>
            </a:pPr>
            <a:r>
              <a:rPr lang="es-ES" dirty="0"/>
              <a:t>En el primer caso se establecen limitaciones muy claras sobre la concurrencia de actividades y en el último las iteraciones muy rápidas donde se realiza el trabajo.</a:t>
            </a:r>
            <a:endParaRPr lang="es-PE" dirty="0"/>
          </a:p>
        </p:txBody>
      </p:sp>
      <p:pic>
        <p:nvPicPr>
          <p:cNvPr id="5" name="Marcador de posición de imagen 4">
            <a:extLst>
              <a:ext uri="{FF2B5EF4-FFF2-40B4-BE49-F238E27FC236}">
                <a16:creationId xmlns:a16="http://schemas.microsoft.com/office/drawing/2014/main" id="{77C4AC33-D563-4DE0-A5EA-50FF052940A6}"/>
              </a:ext>
            </a:extLst>
          </p:cNvPr>
          <p:cNvPicPr>
            <a:picLocks noGrp="1" noChangeAspect="1"/>
          </p:cNvPicPr>
          <p:nvPr>
            <p:ph type="pic" sz="quarter" idx="10"/>
          </p:nvPr>
        </p:nvPicPr>
        <p:blipFill>
          <a:blip r:embed="rId3"/>
          <a:srcRect l="2" r="2"/>
          <a:stretch>
            <a:fillRect/>
          </a:stretch>
        </p:blipFill>
        <p:spPr>
          <a:xfrm>
            <a:off x="4840476" y="816438"/>
            <a:ext cx="4086000" cy="4446000"/>
          </a:xfrm>
        </p:spPr>
      </p:pic>
    </p:spTree>
    <p:extLst>
      <p:ext uri="{BB962C8B-B14F-4D97-AF65-F5344CB8AC3E}">
        <p14:creationId xmlns:p14="http://schemas.microsoft.com/office/powerpoint/2010/main" val="342381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Estrategia de realización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259804" cy="3375954"/>
          </a:xfrm>
        </p:spPr>
        <p:txBody>
          <a:bodyPr/>
          <a:lstStyle/>
          <a:p>
            <a:pPr>
              <a:spcAft>
                <a:spcPts val="600"/>
              </a:spcAft>
            </a:pPr>
            <a:r>
              <a:rPr lang="es-ES" dirty="0"/>
              <a:t>En los modelos ágiles el alcance general del proyecto será descompuesto en un conjunto de requisitos o trabajos a llevar a cabo.</a:t>
            </a:r>
          </a:p>
          <a:p>
            <a:pPr>
              <a:spcAft>
                <a:spcPts val="600"/>
              </a:spcAft>
            </a:pPr>
            <a:r>
              <a:rPr lang="es-ES" dirty="0"/>
              <a:t>Al inicio de una iteración del equipo se definen las funcionalidades que serán abordadas en ese ciclo.</a:t>
            </a:r>
          </a:p>
          <a:p>
            <a:pPr>
              <a:spcAft>
                <a:spcPts val="600"/>
              </a:spcAft>
            </a:pPr>
            <a:r>
              <a:rPr lang="es-ES" dirty="0"/>
              <a:t>Al final de cada iteración, el producto debe estar listo para su revisión por el cliente.</a:t>
            </a:r>
          </a:p>
          <a:p>
            <a:pPr>
              <a:spcAft>
                <a:spcPts val="600"/>
              </a:spcAft>
            </a:pPr>
            <a:r>
              <a:rPr lang="es-ES" dirty="0"/>
              <a:t>Este tipo de ciclo de vida requiere de equipos muy involucrados que incluyan al patrocinador o al cliente para proporcionar información de forma continua.</a:t>
            </a:r>
            <a:endParaRPr lang="es-PE" dirty="0"/>
          </a:p>
        </p:txBody>
      </p:sp>
      <p:pic>
        <p:nvPicPr>
          <p:cNvPr id="5" name="Marcador de posición de imagen 4">
            <a:extLst>
              <a:ext uri="{FF2B5EF4-FFF2-40B4-BE49-F238E27FC236}">
                <a16:creationId xmlns:a16="http://schemas.microsoft.com/office/drawing/2014/main" id="{A3601110-B2DB-4980-A0E3-4E29A5AA6583}"/>
              </a:ext>
            </a:extLst>
          </p:cNvPr>
          <p:cNvPicPr>
            <a:picLocks noGrp="1" noChangeAspect="1"/>
          </p:cNvPicPr>
          <p:nvPr>
            <p:ph type="pic" sz="quarter" idx="10"/>
          </p:nvPr>
        </p:nvPicPr>
        <p:blipFill>
          <a:blip r:embed="rId3"/>
          <a:srcRect l="2" r="2"/>
          <a:stretch>
            <a:fillRect/>
          </a:stretch>
        </p:blipFill>
        <p:spPr>
          <a:xfrm>
            <a:off x="4833042" y="816438"/>
            <a:ext cx="4086000" cy="4446000"/>
          </a:xfrm>
        </p:spPr>
      </p:pic>
    </p:spTree>
    <p:extLst>
      <p:ext uri="{BB962C8B-B14F-4D97-AF65-F5344CB8AC3E}">
        <p14:creationId xmlns:p14="http://schemas.microsoft.com/office/powerpoint/2010/main" val="2049314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Estrategia de entrega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5"/>
            <a:ext cx="4103687" cy="3063719"/>
          </a:xfrm>
        </p:spPr>
        <p:txBody>
          <a:bodyPr/>
          <a:lstStyle/>
          <a:p>
            <a:pPr>
              <a:spcAft>
                <a:spcPts val="600"/>
              </a:spcAft>
            </a:pPr>
            <a:r>
              <a:rPr lang="es-ES" dirty="0"/>
              <a:t>En un proyecto adaptativo, el equipo de proyecto trabaja en ciclos iterativos y se enfoca en entregas incrementales en lugar de tratar de predecir y planificar todo el proyecto de antemano.</a:t>
            </a:r>
          </a:p>
          <a:p>
            <a:pPr>
              <a:spcAft>
                <a:spcPts val="600"/>
              </a:spcAft>
            </a:pPr>
            <a:endParaRPr lang="es-ES" dirty="0"/>
          </a:p>
          <a:p>
            <a:pPr>
              <a:spcAft>
                <a:spcPts val="600"/>
              </a:spcAft>
            </a:pPr>
            <a:r>
              <a:rPr lang="es-ES" dirty="0"/>
              <a:t>Se priorizan las entregas más valiosas o críticas y se realizan evaluaciones frecuentes para determinar si es necesario ajustar la dirección o el alcance del proyecto.</a:t>
            </a:r>
          </a:p>
        </p:txBody>
      </p:sp>
      <p:pic>
        <p:nvPicPr>
          <p:cNvPr id="5" name="Marcador de posición de imagen 4">
            <a:extLst>
              <a:ext uri="{FF2B5EF4-FFF2-40B4-BE49-F238E27FC236}">
                <a16:creationId xmlns:a16="http://schemas.microsoft.com/office/drawing/2014/main" id="{0C144FE9-26E0-48B5-AD3A-81503D589646}"/>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2661706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Métodos adaptativos populares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6"/>
            <a:ext cx="4349860" cy="3584110"/>
          </a:xfrm>
        </p:spPr>
        <p:txBody>
          <a:bodyPr/>
          <a:lstStyle/>
          <a:p>
            <a:pPr>
              <a:spcAft>
                <a:spcPts val="600"/>
              </a:spcAft>
            </a:pPr>
            <a:r>
              <a:rPr lang="es-ES" dirty="0"/>
              <a:t>Algunos métodos de gestión de proyectos adaptativos populares incluyen Scrum y Kanban, que se basan en principios ágiles.</a:t>
            </a:r>
          </a:p>
          <a:p>
            <a:pPr>
              <a:spcAft>
                <a:spcPts val="600"/>
              </a:spcAft>
            </a:pPr>
            <a:r>
              <a:rPr lang="es-ES" dirty="0"/>
              <a:t>Estos enfoques valoran la flexibilidad, la adaptabilidad y la entrega de valor temprana, y se utilizan en proyectos donde los requisitos pueden cambiar rápidamente o donde la incertidumbre es alta.</a:t>
            </a:r>
          </a:p>
          <a:p>
            <a:pPr>
              <a:spcAft>
                <a:spcPts val="600"/>
              </a:spcAft>
            </a:pPr>
            <a:r>
              <a:rPr lang="es-ES" dirty="0"/>
              <a:t>En estos métodos se acepta la incertidumbre y se aborda de manera flexible, ajustando continuamente la dirección y el alcance del proyecto a medida que se obtiene más información y se enfrentan nuevos desafíos.</a:t>
            </a:r>
          </a:p>
        </p:txBody>
      </p:sp>
      <p:pic>
        <p:nvPicPr>
          <p:cNvPr id="5" name="Marcador de posición de imagen 4">
            <a:extLst>
              <a:ext uri="{FF2B5EF4-FFF2-40B4-BE49-F238E27FC236}">
                <a16:creationId xmlns:a16="http://schemas.microsoft.com/office/drawing/2014/main" id="{F12D23A0-12CD-4F49-A11F-D4185A124C86}"/>
              </a:ext>
            </a:extLst>
          </p:cNvPr>
          <p:cNvPicPr>
            <a:picLocks noGrp="1" noChangeAspect="1"/>
          </p:cNvPicPr>
          <p:nvPr>
            <p:ph type="pic" sz="quarter" idx="10"/>
          </p:nvPr>
        </p:nvPicPr>
        <p:blipFill>
          <a:blip r:embed="rId3"/>
          <a:srcRect l="349" r="349"/>
          <a:stretch>
            <a:fillRect/>
          </a:stretch>
        </p:blipFill>
        <p:spPr>
          <a:xfrm>
            <a:off x="4818173" y="804863"/>
            <a:ext cx="4086000" cy="4446000"/>
          </a:xfrm>
        </p:spPr>
      </p:pic>
    </p:spTree>
    <p:extLst>
      <p:ext uri="{BB962C8B-B14F-4D97-AF65-F5344CB8AC3E}">
        <p14:creationId xmlns:p14="http://schemas.microsoft.com/office/powerpoint/2010/main" val="4021273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Ciclo de vida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5"/>
            <a:ext cx="4334146" cy="3598979"/>
          </a:xfrm>
        </p:spPr>
        <p:txBody>
          <a:bodyPr/>
          <a:lstStyle/>
          <a:p>
            <a:pPr>
              <a:spcAft>
                <a:spcPts val="600"/>
              </a:spcAft>
            </a:pPr>
            <a:r>
              <a:rPr lang="es-ES" dirty="0"/>
              <a:t>En un proyecto adaptativo, el ciclo de vida típico puede variar dependiendo del marco de trabajo ágil utilizado, pero generalmente sigue una estructura similar.</a:t>
            </a:r>
          </a:p>
          <a:p>
            <a:pPr>
              <a:spcAft>
                <a:spcPts val="600"/>
              </a:spcAft>
            </a:pPr>
            <a:r>
              <a:rPr lang="es-ES" dirty="0"/>
              <a:t>A continuación, se muestra un ejemplo de ciclo de vida común en un proyecto adaptativo utilizando el marco de trabajo Scrum:</a:t>
            </a:r>
          </a:p>
          <a:p>
            <a:pPr lvl="1">
              <a:spcAft>
                <a:spcPts val="600"/>
              </a:spcAft>
            </a:pPr>
            <a:r>
              <a:rPr lang="es-ES" dirty="0"/>
              <a:t>Inicio.</a:t>
            </a:r>
          </a:p>
          <a:p>
            <a:pPr lvl="1">
              <a:spcAft>
                <a:spcPts val="600"/>
              </a:spcAft>
            </a:pPr>
            <a:r>
              <a:rPr lang="es-ES" dirty="0"/>
              <a:t>Planificación de la iteración.</a:t>
            </a:r>
          </a:p>
          <a:p>
            <a:pPr lvl="1">
              <a:spcAft>
                <a:spcPts val="600"/>
              </a:spcAft>
            </a:pPr>
            <a:r>
              <a:rPr lang="es-ES" dirty="0"/>
              <a:t>Desarrollo y entrega.</a:t>
            </a:r>
          </a:p>
          <a:p>
            <a:pPr lvl="1">
              <a:spcAft>
                <a:spcPts val="600"/>
              </a:spcAft>
            </a:pPr>
            <a:r>
              <a:rPr lang="es-ES" dirty="0"/>
              <a:t>Revisión y retrospectiva.</a:t>
            </a:r>
          </a:p>
          <a:p>
            <a:pPr lvl="1">
              <a:spcAft>
                <a:spcPts val="600"/>
              </a:spcAft>
            </a:pPr>
            <a:r>
              <a:rPr lang="es-ES" dirty="0"/>
              <a:t>Adaptación y planificación siguiente.</a:t>
            </a:r>
          </a:p>
        </p:txBody>
      </p:sp>
      <p:pic>
        <p:nvPicPr>
          <p:cNvPr id="5" name="Marcador de posición de imagen 4">
            <a:extLst>
              <a:ext uri="{FF2B5EF4-FFF2-40B4-BE49-F238E27FC236}">
                <a16:creationId xmlns:a16="http://schemas.microsoft.com/office/drawing/2014/main" id="{0A382CA1-A27B-45B8-B065-67B69DD84379}"/>
              </a:ext>
            </a:extLst>
          </p:cNvPr>
          <p:cNvPicPr>
            <a:picLocks noGrp="1" noChangeAspect="1"/>
          </p:cNvPicPr>
          <p:nvPr>
            <p:ph type="pic" sz="quarter" idx="10"/>
          </p:nvPr>
        </p:nvPicPr>
        <p:blipFill>
          <a:blip r:embed="rId3"/>
          <a:srcRect l="234" r="234"/>
          <a:stretch>
            <a:fillRect/>
          </a:stretch>
        </p:blipFill>
        <p:spPr>
          <a:xfrm>
            <a:off x="5004027" y="804863"/>
            <a:ext cx="4086000" cy="4446000"/>
          </a:xfrm>
        </p:spPr>
      </p:pic>
    </p:spTree>
    <p:extLst>
      <p:ext uri="{BB962C8B-B14F-4D97-AF65-F5344CB8AC3E}">
        <p14:creationId xmlns:p14="http://schemas.microsoft.com/office/powerpoint/2010/main" val="156281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10BEF202-61B6-496E-BEA0-07FF8CB17CB2}"/>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Ciclo de vida / inicio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p:txBody>
          <a:bodyPr/>
          <a:lstStyle/>
          <a:p>
            <a:pPr>
              <a:lnSpc>
                <a:spcPct val="90000"/>
              </a:lnSpc>
              <a:spcAft>
                <a:spcPts val="600"/>
              </a:spcAft>
            </a:pPr>
            <a:r>
              <a:rPr lang="es-ES" dirty="0"/>
              <a:t>Definir el objetivo del proyecto: desarrollar una </a:t>
            </a:r>
            <a:r>
              <a:rPr lang="es-ES" b="1" dirty="0">
                <a:solidFill>
                  <a:srgbClr val="FF0000"/>
                </a:solidFill>
              </a:rPr>
              <a:t>aplicación móvil para la gestión de tareas</a:t>
            </a:r>
            <a:r>
              <a:rPr lang="es-ES" dirty="0">
                <a:solidFill>
                  <a:srgbClr val="FF0000"/>
                </a:solidFill>
              </a:rPr>
              <a:t>.</a:t>
            </a:r>
          </a:p>
          <a:p>
            <a:pPr>
              <a:lnSpc>
                <a:spcPct val="90000"/>
              </a:lnSpc>
              <a:spcAft>
                <a:spcPts val="600"/>
              </a:spcAft>
            </a:pPr>
            <a:r>
              <a:rPr lang="es-ES" dirty="0"/>
              <a:t>Identificar las partes interesadas clave: equipo de desarrollo, usuarios finales, departamento de </a:t>
            </a:r>
            <a:r>
              <a:rPr lang="es-ES" i="1" dirty="0"/>
              <a:t>marketing.</a:t>
            </a:r>
          </a:p>
          <a:p>
            <a:pPr>
              <a:lnSpc>
                <a:spcPct val="90000"/>
              </a:lnSpc>
              <a:spcAft>
                <a:spcPts val="600"/>
              </a:spcAft>
            </a:pPr>
            <a:r>
              <a:rPr lang="es-ES" dirty="0"/>
              <a:t>Formar el equipo de proyecto: </a:t>
            </a:r>
            <a:r>
              <a:rPr lang="es-ES" i="1" dirty="0"/>
              <a:t>Scrum Master, Product Owner</a:t>
            </a:r>
            <a:r>
              <a:rPr lang="es-ES" dirty="0"/>
              <a:t>, desarrolladores, </a:t>
            </a:r>
            <a:r>
              <a:rPr lang="es-ES" i="1" dirty="0"/>
              <a:t>testers</a:t>
            </a:r>
            <a:r>
              <a:rPr lang="es-ES" dirty="0"/>
              <a:t>, etc.</a:t>
            </a:r>
          </a:p>
          <a:p>
            <a:pPr>
              <a:lnSpc>
                <a:spcPct val="90000"/>
              </a:lnSpc>
              <a:spcAft>
                <a:spcPts val="600"/>
              </a:spcAft>
            </a:pPr>
            <a:r>
              <a:rPr lang="es-ES" dirty="0"/>
              <a:t>Crear el</a:t>
            </a:r>
            <a:r>
              <a:rPr lang="es-ES" i="1" dirty="0"/>
              <a:t> backlog </a:t>
            </a:r>
            <a:r>
              <a:rPr lang="es-ES" dirty="0"/>
              <a:t>del producto: lista priorizada de características y requisitos del producto, como la creación de tareas, notificaciones y seguimiento del progreso.</a:t>
            </a:r>
          </a:p>
        </p:txBody>
      </p:sp>
    </p:spTree>
    <p:extLst>
      <p:ext uri="{BB962C8B-B14F-4D97-AF65-F5344CB8AC3E}">
        <p14:creationId xmlns:p14="http://schemas.microsoft.com/office/powerpoint/2010/main" val="3710081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Ciclo de vida / planificación de la iteración (sprint planning)</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p:txBody>
          <a:bodyPr/>
          <a:lstStyle/>
          <a:p>
            <a:pPr>
              <a:spcAft>
                <a:spcPts val="600"/>
              </a:spcAft>
            </a:pPr>
            <a:r>
              <a:rPr lang="es-ES" dirty="0"/>
              <a:t>Seleccionar elementos del </a:t>
            </a:r>
            <a:r>
              <a:rPr lang="es-ES" i="1" dirty="0"/>
              <a:t>backlog</a:t>
            </a:r>
            <a:r>
              <a:rPr lang="es-ES" dirty="0"/>
              <a:t> para trabajar en la primera iteración.</a:t>
            </a:r>
          </a:p>
          <a:p>
            <a:pPr>
              <a:spcAft>
                <a:spcPts val="600"/>
              </a:spcAft>
            </a:pPr>
            <a:r>
              <a:rPr lang="es-ES" dirty="0"/>
              <a:t>Descomponer los elementos seleccionados en tareas más pequeñas.</a:t>
            </a:r>
          </a:p>
          <a:p>
            <a:pPr>
              <a:spcAft>
                <a:spcPts val="600"/>
              </a:spcAft>
            </a:pPr>
            <a:r>
              <a:rPr lang="es-ES" dirty="0"/>
              <a:t>Estimar el esfuerzo necesario para completar cada tarea.</a:t>
            </a:r>
          </a:p>
          <a:p>
            <a:pPr>
              <a:spcAft>
                <a:spcPts val="600"/>
              </a:spcAft>
            </a:pPr>
            <a:r>
              <a:rPr lang="es-ES" dirty="0"/>
              <a:t>El objetivo es crear un </a:t>
            </a:r>
            <a:r>
              <a:rPr lang="es-ES" i="1" dirty="0"/>
              <a:t>Sprint Goal </a:t>
            </a:r>
            <a:r>
              <a:rPr lang="es-ES" dirty="0"/>
              <a:t>y un </a:t>
            </a:r>
            <a:r>
              <a:rPr lang="es-ES" i="1" dirty="0"/>
              <a:t>Sprint Backlog </a:t>
            </a:r>
            <a:r>
              <a:rPr lang="es-ES" dirty="0"/>
              <a:t>que incluye todos los elementos del </a:t>
            </a:r>
            <a:r>
              <a:rPr lang="es-ES" i="1" dirty="0"/>
              <a:t>Product Backlog </a:t>
            </a:r>
            <a:r>
              <a:rPr lang="es-ES" dirty="0"/>
              <a:t>requeridos para alcanzar el </a:t>
            </a:r>
            <a:r>
              <a:rPr lang="es-ES" i="1" dirty="0"/>
              <a:t>Sprint Goal </a:t>
            </a:r>
            <a:r>
              <a:rPr lang="es-ES" dirty="0"/>
              <a:t>acordado por todo el Equipo </a:t>
            </a:r>
            <a:r>
              <a:rPr lang="es-ES" i="1" dirty="0"/>
              <a:t>Scrum</a:t>
            </a:r>
            <a:r>
              <a:rPr lang="es-ES" dirty="0"/>
              <a:t>.</a:t>
            </a:r>
          </a:p>
        </p:txBody>
      </p:sp>
      <p:pic>
        <p:nvPicPr>
          <p:cNvPr id="9" name="Marcador de posición de imagen 8">
            <a:extLst>
              <a:ext uri="{FF2B5EF4-FFF2-40B4-BE49-F238E27FC236}">
                <a16:creationId xmlns:a16="http://schemas.microsoft.com/office/drawing/2014/main" id="{2A94C273-9383-41C7-ACBB-49E9CFBB039B}"/>
              </a:ext>
            </a:extLst>
          </p:cNvPr>
          <p:cNvPicPr>
            <a:picLocks noGrp="1" noChangeAspect="1"/>
          </p:cNvPicPr>
          <p:nvPr>
            <p:ph type="pic" sz="quarter" idx="10"/>
          </p:nvPr>
        </p:nvPicPr>
        <p:blipFill>
          <a:blip r:embed="rId3"/>
          <a:srcRect t="310" b="310"/>
          <a:stretch>
            <a:fillRect/>
          </a:stretch>
        </p:blipFill>
        <p:spPr/>
      </p:pic>
    </p:spTree>
    <p:extLst>
      <p:ext uri="{BB962C8B-B14F-4D97-AF65-F5344CB8AC3E}">
        <p14:creationId xmlns:p14="http://schemas.microsoft.com/office/powerpoint/2010/main" val="4248003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0FD96CE0-8517-41E1-8CA1-DDA3D6D763F6}"/>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Ciclo de vida /desarrollo y entrega (sprint)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p:txBody>
          <a:bodyPr/>
          <a:lstStyle/>
          <a:p>
            <a:pPr>
              <a:lnSpc>
                <a:spcPct val="95000"/>
              </a:lnSpc>
              <a:spcAft>
                <a:spcPts val="600"/>
              </a:spcAft>
            </a:pPr>
            <a:r>
              <a:rPr lang="es-ES" dirty="0"/>
              <a:t>Desarrollar las funcionalidades de la aplicación según las tareas definidas.</a:t>
            </a:r>
          </a:p>
          <a:p>
            <a:pPr>
              <a:lnSpc>
                <a:spcPct val="95000"/>
              </a:lnSpc>
              <a:spcAft>
                <a:spcPts val="600"/>
              </a:spcAft>
            </a:pPr>
            <a:r>
              <a:rPr lang="es-ES" dirty="0"/>
              <a:t>Realizar reuniones diarias de seguimiento (Daily Stand-ups) para revisar el progreso y abordar cualquier obstáculo.</a:t>
            </a:r>
          </a:p>
          <a:p>
            <a:pPr>
              <a:lnSpc>
                <a:spcPct val="95000"/>
              </a:lnSpc>
              <a:spcAft>
                <a:spcPts val="600"/>
              </a:spcAft>
            </a:pPr>
            <a:r>
              <a:rPr lang="es-ES" dirty="0"/>
              <a:t>Realizar pruebas y asegurar la calidad del código.</a:t>
            </a:r>
          </a:p>
          <a:p>
            <a:pPr>
              <a:lnSpc>
                <a:spcPct val="95000"/>
              </a:lnSpc>
              <a:spcAft>
                <a:spcPts val="600"/>
              </a:spcAft>
            </a:pPr>
            <a:r>
              <a:rPr lang="es-ES" dirty="0"/>
              <a:t>Al final de la iteración, </a:t>
            </a:r>
            <a:r>
              <a:rPr lang="es-ES" b="1" dirty="0"/>
              <a:t>entregar un incremento de la aplicación</a:t>
            </a:r>
            <a:r>
              <a:rPr lang="es-ES" dirty="0"/>
              <a:t> con las funcionalidades desarrolladas.</a:t>
            </a:r>
          </a:p>
        </p:txBody>
      </p:sp>
    </p:spTree>
    <p:extLst>
      <p:ext uri="{BB962C8B-B14F-4D97-AF65-F5344CB8AC3E}">
        <p14:creationId xmlns:p14="http://schemas.microsoft.com/office/powerpoint/2010/main" val="266971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3BC80C20-B6FC-4A9D-B5E2-7607DA8FCE93}"/>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Ciclo de vida /revisión y retrospectiva (sprint review y sprint retrospective)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82025"/>
            <a:ext cx="8207375" cy="1529644"/>
          </a:xfrm>
        </p:spPr>
        <p:txBody>
          <a:bodyPr/>
          <a:lstStyle/>
          <a:p>
            <a:pPr>
              <a:spcAft>
                <a:spcPts val="600"/>
              </a:spcAft>
            </a:pPr>
            <a:r>
              <a:rPr lang="es-ES" dirty="0"/>
              <a:t>Reunirse con los usuarios finales y el departamento de</a:t>
            </a:r>
            <a:r>
              <a:rPr lang="es-ES" i="1" dirty="0"/>
              <a:t> marketing </a:t>
            </a:r>
            <a:r>
              <a:rPr lang="es-ES" dirty="0"/>
              <a:t>para demostrar el incremento de la aplicación.</a:t>
            </a:r>
          </a:p>
          <a:p>
            <a:pPr>
              <a:spcAft>
                <a:spcPts val="600"/>
              </a:spcAft>
            </a:pPr>
            <a:r>
              <a:rPr lang="es-ES" b="1" dirty="0"/>
              <a:t>Recopilar retroalimentación sobre el incremento</a:t>
            </a:r>
            <a:r>
              <a:rPr lang="es-ES" dirty="0"/>
              <a:t> y discutir mejoras o cambios requeridos.</a:t>
            </a:r>
          </a:p>
          <a:p>
            <a:pPr>
              <a:spcAft>
                <a:spcPts val="600"/>
              </a:spcAft>
            </a:pPr>
            <a:r>
              <a:rPr lang="es-ES" dirty="0"/>
              <a:t>Realizar una retrospectiva del </a:t>
            </a:r>
            <a:r>
              <a:rPr lang="es-ES" i="1" dirty="0"/>
              <a:t>sprint</a:t>
            </a:r>
            <a:r>
              <a:rPr lang="es-ES" dirty="0"/>
              <a:t> con el equipo de desarrollo para </a:t>
            </a:r>
            <a:r>
              <a:rPr lang="es-ES" b="1" dirty="0"/>
              <a:t>identificar éxitos, desafíos y áreas de mejora</a:t>
            </a:r>
            <a:r>
              <a:rPr lang="es-ES" dirty="0"/>
              <a:t>.</a:t>
            </a:r>
          </a:p>
        </p:txBody>
      </p:sp>
    </p:spTree>
    <p:extLst>
      <p:ext uri="{BB962C8B-B14F-4D97-AF65-F5344CB8AC3E}">
        <p14:creationId xmlns:p14="http://schemas.microsoft.com/office/powerpoint/2010/main" val="2967858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97BDC674-A2CC-40BD-8A88-8BB015700226}"/>
              </a:ext>
            </a:extLst>
          </p:cNvPr>
          <p:cNvPicPr>
            <a:picLocks noGrp="1" noChangeAspect="1"/>
          </p:cNvPicPr>
          <p:nvPr>
            <p:ph type="pic" sz="quarter" idx="10"/>
          </p:nvPr>
        </p:nvPicPr>
        <p:blipFill>
          <a:blip r:embed="rId3"/>
          <a:srcRect t="506" b="506"/>
          <a:stretch>
            <a:fillRect/>
          </a:stretch>
        </p:blipFill>
        <p:spPr>
          <a:xfrm>
            <a:off x="470825" y="2954310"/>
            <a:ext cx="8208000" cy="2394000"/>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71450" y="718152"/>
            <a:ext cx="8207375" cy="354012"/>
          </a:xfrm>
        </p:spPr>
        <p:txBody>
          <a:bodyPr/>
          <a:lstStyle/>
          <a:p>
            <a:r>
              <a:rPr lang="es-PE" dirty="0"/>
              <a:t>Ciclo de vida /adaptación y planificación siguiente (sprint planning)</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5175" y="1072164"/>
            <a:ext cx="8207375" cy="2002609"/>
          </a:xfrm>
        </p:spPr>
        <p:txBody>
          <a:bodyPr/>
          <a:lstStyle/>
          <a:p>
            <a:pPr>
              <a:spcAft>
                <a:spcPts val="600"/>
              </a:spcAft>
            </a:pPr>
            <a:r>
              <a:rPr lang="es-ES" dirty="0"/>
              <a:t>Actualizar el </a:t>
            </a:r>
            <a:r>
              <a:rPr lang="es-ES" i="1" dirty="0"/>
              <a:t>backlog</a:t>
            </a:r>
            <a:r>
              <a:rPr lang="es-ES" dirty="0"/>
              <a:t> del producto en función de la retroalimentación y nuevas prioridades.</a:t>
            </a:r>
          </a:p>
          <a:p>
            <a:pPr>
              <a:spcAft>
                <a:spcPts val="600"/>
              </a:spcAft>
            </a:pPr>
            <a:r>
              <a:rPr lang="es-ES" dirty="0"/>
              <a:t>Seleccionar un nuevo conjunto de elementos para trabajar en la siguiente iteración.</a:t>
            </a:r>
          </a:p>
          <a:p>
            <a:pPr>
              <a:spcAft>
                <a:spcPts val="600"/>
              </a:spcAft>
            </a:pPr>
            <a:r>
              <a:rPr lang="es-ES" dirty="0"/>
              <a:t>Ajustar el plan en función de las lecciones aprendidas y las necesidades cambiantes.</a:t>
            </a:r>
          </a:p>
          <a:p>
            <a:pPr>
              <a:spcAft>
                <a:spcPts val="600"/>
              </a:spcAft>
            </a:pPr>
            <a:r>
              <a:rPr lang="es-ES" dirty="0"/>
              <a:t>Estos pasos se repiten en cada iteración del proyecto adaptativo. Con cada </a:t>
            </a:r>
            <a:r>
              <a:rPr lang="es-ES" i="1" dirty="0"/>
              <a:t>sprint</a:t>
            </a:r>
            <a:r>
              <a:rPr lang="es-ES" dirty="0"/>
              <a:t>, el producto va evolucionando y mejorando en función de la retroalimentación y las necesidades identificadas. Al final del proyecto, se obtiene una aplicación móvil completa y adaptada a las necesidades y requerimientos del cliente.</a:t>
            </a:r>
          </a:p>
        </p:txBody>
      </p:sp>
    </p:spTree>
    <p:extLst>
      <p:ext uri="{BB962C8B-B14F-4D97-AF65-F5344CB8AC3E}">
        <p14:creationId xmlns:p14="http://schemas.microsoft.com/office/powerpoint/2010/main" val="3672447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70AA152D-4A50-CE71-D404-181EC809E547}"/>
              </a:ext>
            </a:extLst>
          </p:cNvPr>
          <p:cNvPicPr>
            <a:picLocks noGrp="1" noChangeAspect="1"/>
          </p:cNvPicPr>
          <p:nvPr>
            <p:ph type="pic" sz="quarter" idx="10"/>
          </p:nvPr>
        </p:nvPicPr>
        <p:blipFill>
          <a:blip r:embed="rId3"/>
          <a:srcRect t="491" b="491"/>
          <a:stretch>
            <a:fillRect/>
          </a:stretch>
        </p:blipFill>
        <p:spPr>
          <a:xfrm>
            <a:off x="4918342" y="816438"/>
            <a:ext cx="4086000" cy="4446000"/>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Priorización continua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ADAPTATIVA</a:t>
            </a:r>
            <a:endParaRPr lang="es-ES" dirty="0"/>
          </a:p>
        </p:txBody>
      </p:sp>
      <p:sp>
        <p:nvSpPr>
          <p:cNvPr id="3" name="Marcador de texto 2">
            <a:extLst>
              <a:ext uri="{FF2B5EF4-FFF2-40B4-BE49-F238E27FC236}">
                <a16:creationId xmlns:a16="http://schemas.microsoft.com/office/drawing/2014/main" id="{1B205942-7183-4B53-8D65-5FD77C6232E4}"/>
              </a:ext>
            </a:extLst>
          </p:cNvPr>
          <p:cNvSpPr>
            <a:spLocks noGrp="1"/>
          </p:cNvSpPr>
          <p:nvPr>
            <p:ph type="body" sz="quarter" idx="14"/>
          </p:nvPr>
        </p:nvSpPr>
        <p:spPr>
          <a:xfrm>
            <a:off x="468313" y="1158875"/>
            <a:ext cx="4450029" cy="4111625"/>
          </a:xfrm>
        </p:spPr>
        <p:txBody>
          <a:bodyPr/>
          <a:lstStyle/>
          <a:p>
            <a:pPr>
              <a:spcAft>
                <a:spcPts val="600"/>
              </a:spcAft>
            </a:pPr>
            <a:r>
              <a:rPr lang="es-ES" dirty="0"/>
              <a:t>Existe la expectativa de que el trabajo evolucionará y se adaptará.</a:t>
            </a:r>
          </a:p>
          <a:p>
            <a:pPr>
              <a:spcAft>
                <a:spcPts val="600"/>
              </a:spcAft>
            </a:pPr>
            <a:r>
              <a:rPr lang="es-ES" dirty="0"/>
              <a:t>Se puede añadir nuevo trabajo a la lista de trabajo pendiente, según sea necesario; sin embargo, si se añade más trabajo del que se está completando, el proyecto continuará sin fin.</a:t>
            </a:r>
          </a:p>
          <a:p>
            <a:pPr>
              <a:spcAft>
                <a:spcPts val="600"/>
              </a:spcAft>
            </a:pPr>
            <a:r>
              <a:rPr lang="es-ES" dirty="0"/>
              <a:t>El dueño del producto prioriza la lista de trabajo pendiente de forma continua, para que se completen los elementos de alta prioridad.</a:t>
            </a:r>
          </a:p>
          <a:p>
            <a:pPr>
              <a:spcAft>
                <a:spcPts val="600"/>
              </a:spcAft>
            </a:pPr>
            <a:r>
              <a:rPr lang="es-ES" dirty="0"/>
              <a:t>Si el cronograma o presupuesto está restringido, el dueño del producto puede considerar realizado el proyecto, cuando se entregan los elementos de mayor prioridad.</a:t>
            </a:r>
            <a:endParaRPr lang="es-PE" dirty="0"/>
          </a:p>
        </p:txBody>
      </p:sp>
    </p:spTree>
    <p:extLst>
      <p:ext uri="{BB962C8B-B14F-4D97-AF65-F5344CB8AC3E}">
        <p14:creationId xmlns:p14="http://schemas.microsoft.com/office/powerpoint/2010/main" val="230464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6262C749-B20B-47D1-96EE-BF3F1E10CC6F}"/>
              </a:ext>
            </a:extLst>
          </p:cNvPr>
          <p:cNvPicPr>
            <a:picLocks noGrp="1" noChangeAspect="1"/>
          </p:cNvPicPr>
          <p:nvPr>
            <p:ph type="pic" sz="quarter" idx="10"/>
          </p:nvPr>
        </p:nvPicPr>
        <p:blipFill>
          <a:blip r:embed="rId3"/>
          <a:srcRect t="491" b="491"/>
          <a:stretch>
            <a:fillRect/>
          </a:stretch>
        </p:blipFill>
        <p:spPr>
          <a:xfrm>
            <a:off x="4831631" y="816438"/>
            <a:ext cx="4086000" cy="4446000"/>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Replanteo del proyecto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GESTIÓN ADAPTATIVA</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300756" cy="3247587"/>
          </a:xfrm>
          <a:prstGeom prst="rect">
            <a:avLst/>
          </a:prstGeom>
        </p:spPr>
        <p:txBody>
          <a:bodyPr/>
          <a:lstStyle/>
          <a:p>
            <a:pPr algn="just">
              <a:spcAft>
                <a:spcPts val="600"/>
              </a:spcAft>
            </a:pPr>
            <a:r>
              <a:rPr lang="es-ES" dirty="0"/>
              <a:t>Un proyecto rara vez funciona exactamente como se planeó inicialmente.</a:t>
            </a:r>
          </a:p>
          <a:p>
            <a:pPr algn="just">
              <a:spcAft>
                <a:spcPts val="600"/>
              </a:spcAft>
            </a:pPr>
            <a:r>
              <a:rPr lang="es-ES" dirty="0"/>
              <a:t>Los proyectos están influenciados por factores internos y externos (nuevos requisitos, problemas, influencias de los interesados, entre otros factores) que existen en un sistema de interacciones.</a:t>
            </a:r>
          </a:p>
          <a:p>
            <a:pPr algn="just">
              <a:spcAft>
                <a:spcPts val="600"/>
              </a:spcAft>
            </a:pPr>
            <a:r>
              <a:rPr lang="es-ES" dirty="0"/>
              <a:t>Algunos elementos dentro de un proyecto pueden fallar o estar por debajo de las expectativas, lo que requiere que el equipo del proyecto se reagrupe, reconsidere y replantee.</a:t>
            </a:r>
          </a:p>
        </p:txBody>
      </p:sp>
    </p:spTree>
    <p:extLst>
      <p:ext uri="{BB962C8B-B14F-4D97-AF65-F5344CB8AC3E}">
        <p14:creationId xmlns:p14="http://schemas.microsoft.com/office/powerpoint/2010/main" val="266993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DB048BD3-A244-4BD2-A440-B15F1B787C51}"/>
              </a:ext>
            </a:extLst>
          </p:cNvPr>
          <p:cNvPicPr>
            <a:picLocks noGrp="1" noChangeAspect="1"/>
          </p:cNvPicPr>
          <p:nvPr>
            <p:ph type="pic" sz="quarter" idx="10"/>
          </p:nvPr>
        </p:nvPicPr>
        <p:blipFill>
          <a:blip r:embed="rId3"/>
          <a:srcRect t="491" b="491"/>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Resultados en lugar de entregables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GESTIÓN ADAPTATIVA</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5"/>
            <a:ext cx="4103687" cy="2654000"/>
          </a:xfrm>
          <a:prstGeom prst="rect">
            <a:avLst/>
          </a:prstGeom>
        </p:spPr>
        <p:txBody>
          <a:bodyPr/>
          <a:lstStyle/>
          <a:p>
            <a:pPr algn="just">
              <a:spcAft>
                <a:spcPts val="600"/>
              </a:spcAft>
            </a:pPr>
            <a:r>
              <a:rPr lang="es-ES" dirty="0"/>
              <a:t>La visualización de los resultados en lugar de los entregables puede habilitar soluciones, potenciando un resultado mejor que el planificado originalmente.</a:t>
            </a:r>
          </a:p>
          <a:p>
            <a:pPr algn="just">
              <a:spcAft>
                <a:spcPts val="600"/>
              </a:spcAft>
            </a:pPr>
            <a:endParaRPr lang="es-ES" dirty="0"/>
          </a:p>
          <a:p>
            <a:pPr algn="just">
              <a:spcAft>
                <a:spcPts val="600"/>
              </a:spcAft>
            </a:pPr>
            <a:r>
              <a:rPr lang="es-ES" dirty="0"/>
              <a:t>Por ejemplo, el equipo del proyecto puede encontrar una solución alternativa que proporcione resultados más sólidos que el entregable definido originalmente.</a:t>
            </a:r>
          </a:p>
        </p:txBody>
      </p:sp>
    </p:spTree>
    <p:extLst>
      <p:ext uri="{BB962C8B-B14F-4D97-AF65-F5344CB8AC3E}">
        <p14:creationId xmlns:p14="http://schemas.microsoft.com/office/powerpoint/2010/main" val="2620872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9A07A7CA-443C-4F2C-8AE4-37E01D9B714E}"/>
              </a:ext>
            </a:extLst>
          </p:cNvPr>
          <p:cNvPicPr>
            <a:picLocks noGrp="1" noChangeAspect="1"/>
          </p:cNvPicPr>
          <p:nvPr>
            <p:ph type="pic" sz="quarter" idx="10"/>
          </p:nvPr>
        </p:nvPicPr>
        <p:blipFill>
          <a:blip r:embed="rId3"/>
          <a:srcRect t="491" b="491"/>
          <a:stretch>
            <a:fillRect/>
          </a:stretch>
        </p:blipFill>
        <p:spPr>
          <a:xfrm>
            <a:off x="4849149" y="824500"/>
            <a:ext cx="4086000" cy="4446000"/>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del cambio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GESTIÓN ADAPTATIVA</a:t>
            </a:r>
          </a:p>
        </p:txBody>
      </p:sp>
      <p:sp>
        <p:nvSpPr>
          <p:cNvPr id="11" name="Marcador de texto 10">
            <a:extLst>
              <a:ext uri="{FF2B5EF4-FFF2-40B4-BE49-F238E27FC236}">
                <a16:creationId xmlns:a16="http://schemas.microsoft.com/office/drawing/2014/main" id="{730CDA90-C0B6-4873-BD1C-3C4EA353AC62}"/>
              </a:ext>
            </a:extLst>
          </p:cNvPr>
          <p:cNvSpPr>
            <a:spLocks noGrp="1"/>
          </p:cNvSpPr>
          <p:nvPr>
            <p:ph type="body" sz="quarter" idx="14"/>
          </p:nvPr>
        </p:nvSpPr>
        <p:spPr>
          <a:xfrm>
            <a:off x="468313" y="1158876"/>
            <a:ext cx="4289954" cy="3379258"/>
          </a:xfrm>
          <a:prstGeom prst="rect">
            <a:avLst/>
          </a:prstGeom>
        </p:spPr>
        <p:txBody>
          <a:bodyPr/>
          <a:lstStyle/>
          <a:p>
            <a:pPr algn="just">
              <a:spcAft>
                <a:spcPts val="600"/>
              </a:spcAft>
            </a:pPr>
            <a:r>
              <a:rPr lang="es-ES" dirty="0"/>
              <a:t>Es un enfoque integral, cíclico y estructurado para la transición de individuos, grupos y organizaciones desde un estado actual a un estado futuro en el que se concretizan los beneficios deseados.</a:t>
            </a:r>
          </a:p>
          <a:p>
            <a:pPr algn="just">
              <a:spcAft>
                <a:spcPts val="600"/>
              </a:spcAft>
            </a:pPr>
            <a:endParaRPr lang="es-ES" dirty="0"/>
          </a:p>
          <a:p>
            <a:pPr algn="just">
              <a:spcAft>
                <a:spcPts val="600"/>
              </a:spcAft>
            </a:pPr>
            <a:r>
              <a:rPr lang="es-ES" dirty="0"/>
              <a:t>Difiere del </a:t>
            </a:r>
            <a:r>
              <a:rPr lang="es-ES" b="1" dirty="0"/>
              <a:t>control de cambios </a:t>
            </a:r>
            <a:r>
              <a:rPr lang="es-ES" dirty="0"/>
              <a:t>al proyecto, que es un proceso por medio del cual se identifican y documentan las modificaciones de documentos, entregables o líneas base asociados con el proyecto, y luego se aprueban o rechazan.</a:t>
            </a:r>
            <a:endParaRPr lang="es-PE" dirty="0"/>
          </a:p>
        </p:txBody>
      </p:sp>
    </p:spTree>
    <p:extLst>
      <p:ext uri="{BB962C8B-B14F-4D97-AF65-F5344CB8AC3E}">
        <p14:creationId xmlns:p14="http://schemas.microsoft.com/office/powerpoint/2010/main" val="1187818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p:txBody>
          <a:bodyPr/>
          <a:lstStyle/>
          <a:p>
            <a:r>
              <a:rPr lang="es-ES" dirty="0"/>
              <a:t>El analista funcional actúa como un intermediario entre los usuarios finales y el equipo de desarrollo, asegurándose de que se capturen correctamente los requisitos y de que el sistema resultante cumpla con las expectativas y necesidades del negocio.</a:t>
            </a:r>
          </a:p>
          <a:p>
            <a:r>
              <a:rPr lang="es-ES" dirty="0"/>
              <a:t>En un proyecto bajo enfoque predictivo, la esencia o pensamiento central se basa en la planificación detallada y la predicción precisa de los entregables, los plazos y los costos. Los términos clave para describir este enfoque son la planificación exhaustiva, la gestión de riesgos, y el seguimiento y control.</a:t>
            </a:r>
          </a:p>
          <a:p>
            <a:r>
              <a:rPr lang="es-ES" dirty="0"/>
              <a:t>En un proyecto bajo enfoque adaptativo, la esencia o pensamiento central se basa en la flexibilidad, la colaboración y la capacidad de adaptación al cambio. Las palabras clave para describir este enfoque podrían ser la flexibilidad y adaptabilidad, la colaboración estrecha, la entrega incremental y el aprendizaje continuo.</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s-ES" dirty="0"/>
              <a:t>Agile </a:t>
            </a:r>
            <a:r>
              <a:rPr lang="es-ES" dirty="0" err="1"/>
              <a:t>Extension</a:t>
            </a:r>
            <a:r>
              <a:rPr lang="es-ES" dirty="0"/>
              <a:t> </a:t>
            </a:r>
            <a:r>
              <a:rPr lang="es-ES" dirty="0" err="1"/>
              <a:t>to</a:t>
            </a:r>
            <a:r>
              <a:rPr lang="es-ES" dirty="0"/>
              <a:t> </a:t>
            </a:r>
            <a:r>
              <a:rPr lang="es-ES" dirty="0" err="1"/>
              <a:t>the</a:t>
            </a:r>
            <a:r>
              <a:rPr lang="es-ES" dirty="0"/>
              <a:t> BABOK Guide. (2020). Recuperado de: </a:t>
            </a:r>
            <a:r>
              <a:rPr lang="es-ES" dirty="0">
                <a:hlinkClick r:id="rId4"/>
              </a:rPr>
              <a:t>https://www.iiba.org/standards-andresources/babok/</a:t>
            </a:r>
            <a:r>
              <a:rPr lang="es-ES" dirty="0"/>
              <a:t> </a:t>
            </a:r>
          </a:p>
          <a:p>
            <a:pPr>
              <a:lnSpc>
                <a:spcPct val="100000"/>
              </a:lnSpc>
            </a:pPr>
            <a:r>
              <a:rPr lang="es-ES" dirty="0"/>
              <a:t>Bitácora de análisis de negocios. (2020). Recuperado de: </a:t>
            </a:r>
            <a:r>
              <a:rPr lang="es-ES" dirty="0">
                <a:hlinkClick r:id="rId5"/>
              </a:rPr>
              <a:t>http://gabrielalmeida.com.mx/</a:t>
            </a:r>
            <a:endParaRPr lang="es-ES" dirty="0"/>
          </a:p>
          <a:p>
            <a:pPr>
              <a:lnSpc>
                <a:spcPct val="100000"/>
              </a:lnSpc>
            </a:pPr>
            <a:r>
              <a:rPr lang="es-ES" dirty="0"/>
              <a:t>PMI Professional in Business </a:t>
            </a:r>
            <a:r>
              <a:rPr lang="es-ES" dirty="0" err="1"/>
              <a:t>Analysis</a:t>
            </a:r>
            <a:r>
              <a:rPr lang="es-ES" dirty="0"/>
              <a:t>. (2020). Recuperado de: </a:t>
            </a:r>
            <a:r>
              <a:rPr lang="es-ES" dirty="0">
                <a:hlinkClick r:id="rId6"/>
              </a:rPr>
              <a:t>https://www.pmi.org/certification/businessanalysis-pba.aspx</a:t>
            </a:r>
            <a:endParaRPr lang="es-ES" dirty="0"/>
          </a:p>
          <a:p>
            <a:pPr>
              <a:lnSpc>
                <a:spcPct val="100000"/>
              </a:lnSpc>
            </a:pPr>
            <a:r>
              <a:rPr lang="es-ES" dirty="0" err="1"/>
              <a:t>Abrahamsson</a:t>
            </a:r>
            <a:r>
              <a:rPr lang="es-ES" dirty="0"/>
              <a:t>, P. y otros (2017). Métodos ágiles de desarrollo de software. Revisión y Análisis. Editorial </a:t>
            </a:r>
            <a:r>
              <a:rPr lang="es-ES" dirty="0" err="1"/>
              <a:t>Julkaisija-Utgivare</a:t>
            </a:r>
            <a:r>
              <a:rPr lang="es-ES" dirty="0"/>
              <a:t>.</a:t>
            </a:r>
          </a:p>
          <a:p>
            <a:pPr>
              <a:lnSpc>
                <a:spcPct val="100000"/>
              </a:lnSpc>
            </a:pPr>
            <a:r>
              <a:rPr lang="es-ES" dirty="0"/>
              <a:t>¿Qué es Scrum? </a:t>
            </a:r>
            <a:r>
              <a:rPr lang="es-ES" dirty="0">
                <a:hlinkClick r:id="rId7"/>
              </a:rPr>
              <a:t>https://proyectosagiles.org/que-es-scrum/</a:t>
            </a:r>
            <a:r>
              <a:rPr lang="es-ES" dirty="0"/>
              <a:t> </a:t>
            </a:r>
          </a:p>
        </p:txBody>
      </p:sp>
    </p:spTree>
    <p:custDataLst>
      <p:tags r:id="rId1"/>
    </p:custDataLst>
    <p:extLst>
      <p:ext uri="{BB962C8B-B14F-4D97-AF65-F5344CB8AC3E}">
        <p14:creationId xmlns:p14="http://schemas.microsoft.com/office/powerpoint/2010/main" val="148054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11967</TotalTime>
  <Words>4521</Words>
  <Application>Microsoft Office PowerPoint</Application>
  <PresentationFormat>Presentación en pantalla (16:10)</PresentationFormat>
  <Paragraphs>369</Paragraphs>
  <Slides>51</Slides>
  <Notes>51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51</vt:i4>
      </vt:variant>
    </vt:vector>
  </HeadingPairs>
  <TitlesOfParts>
    <vt:vector size="56" baseType="lpstr">
      <vt:lpstr>Arial</vt:lpstr>
      <vt:lpstr>Calibri</vt:lpstr>
      <vt:lpstr>Delius</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787</cp:revision>
  <cp:lastPrinted>2018-01-16T21:42:59Z</cp:lastPrinted>
  <dcterms:created xsi:type="dcterms:W3CDTF">2016-10-06T14:52:02Z</dcterms:created>
  <dcterms:modified xsi:type="dcterms:W3CDTF">2023-07-04T21:31:13Z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