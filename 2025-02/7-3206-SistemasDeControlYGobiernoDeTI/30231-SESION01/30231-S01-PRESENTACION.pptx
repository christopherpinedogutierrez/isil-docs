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8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9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10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tags/tag11.xml" ContentType="application/vnd.openxmlformats-officedocument.presentationml.tags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12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13.xml" ContentType="application/vnd.openxmlformats-officedocument.presentationml.tags+xml"/>
  <Override PartName="/ppt/notesSlides/notesSlide45.xml" ContentType="application/vnd.openxmlformats-officedocument.presentationml.notesSlide+xml"/>
  <Override PartName="/ppt/tags/tag14.xml" ContentType="application/vnd.openxmlformats-officedocument.presentationml.tags+xml"/>
  <Override PartName="/ppt/notesSlides/notesSlide46.xml" ContentType="application/vnd.openxmlformats-officedocument.presentationml.notesSlide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326" r:id="rId2"/>
    <p:sldId id="337" r:id="rId3"/>
    <p:sldId id="427" r:id="rId4"/>
    <p:sldId id="428" r:id="rId5"/>
    <p:sldId id="458" r:id="rId6"/>
    <p:sldId id="461" r:id="rId7"/>
    <p:sldId id="610" r:id="rId8"/>
    <p:sldId id="459" r:id="rId9"/>
    <p:sldId id="460" r:id="rId10"/>
    <p:sldId id="464" r:id="rId11"/>
    <p:sldId id="611" r:id="rId12"/>
    <p:sldId id="452" r:id="rId13"/>
    <p:sldId id="422" r:id="rId14"/>
    <p:sldId id="465" r:id="rId15"/>
    <p:sldId id="466" r:id="rId16"/>
    <p:sldId id="467" r:id="rId17"/>
    <p:sldId id="442" r:id="rId18"/>
    <p:sldId id="468" r:id="rId19"/>
    <p:sldId id="469" r:id="rId20"/>
    <p:sldId id="470" r:id="rId21"/>
    <p:sldId id="471" r:id="rId22"/>
    <p:sldId id="430" r:id="rId23"/>
    <p:sldId id="431" r:id="rId24"/>
    <p:sldId id="472" r:id="rId25"/>
    <p:sldId id="473" r:id="rId26"/>
    <p:sldId id="474" r:id="rId27"/>
    <p:sldId id="445" r:id="rId28"/>
    <p:sldId id="475" r:id="rId29"/>
    <p:sldId id="476" r:id="rId30"/>
    <p:sldId id="477" r:id="rId31"/>
    <p:sldId id="478" r:id="rId32"/>
    <p:sldId id="448" r:id="rId33"/>
    <p:sldId id="479" r:id="rId34"/>
    <p:sldId id="480" r:id="rId35"/>
    <p:sldId id="481" r:id="rId36"/>
    <p:sldId id="482" r:id="rId37"/>
    <p:sldId id="483" r:id="rId38"/>
    <p:sldId id="484" r:id="rId39"/>
    <p:sldId id="485" r:id="rId40"/>
    <p:sldId id="486" r:id="rId41"/>
    <p:sldId id="487" r:id="rId42"/>
    <p:sldId id="488" r:id="rId43"/>
    <p:sldId id="489" r:id="rId44"/>
    <p:sldId id="490" r:id="rId45"/>
    <p:sldId id="605" r:id="rId46"/>
    <p:sldId id="608" r:id="rId47"/>
    <p:sldId id="606" r:id="rId48"/>
  </p:sldIdLst>
  <p:sldSz cx="9144000" cy="5715000" type="screen16x10"/>
  <p:notesSz cx="6797675" cy="9926638"/>
  <p:custDataLst>
    <p:tags r:id="rId5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320" userDrawn="1">
          <p15:clr>
            <a:srgbClr val="A4A3A4"/>
          </p15:clr>
        </p15:guide>
        <p15:guide id="11" pos="317" userDrawn="1">
          <p15:clr>
            <a:srgbClr val="A4A3A4"/>
          </p15:clr>
        </p15:guide>
        <p15:guide id="12" orient="horz" pos="553" userDrawn="1">
          <p15:clr>
            <a:srgbClr val="A4A3A4"/>
          </p15:clr>
        </p15:guide>
        <p15:guide id="13" orient="horz" pos="3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E9FF"/>
    <a:srgbClr val="0000FF"/>
    <a:srgbClr val="276B7D"/>
    <a:srgbClr val="48C2BB"/>
    <a:srgbClr val="1F85A6"/>
    <a:srgbClr val="F1FDC3"/>
    <a:srgbClr val="9CC606"/>
    <a:srgbClr val="E2F6F1"/>
    <a:srgbClr val="F2F2F2"/>
    <a:srgbClr val="558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93" autoAdjust="0"/>
    <p:restoredTop sz="96374" autoAdjust="0"/>
  </p:normalViewPr>
  <p:slideViewPr>
    <p:cSldViewPr snapToGrid="0" snapToObjects="1" showGuides="1">
      <p:cViewPr varScale="1">
        <p:scale>
          <a:sx n="100" d="100"/>
          <a:sy n="100" d="100"/>
        </p:scale>
        <p:origin x="1219" y="62"/>
      </p:cViewPr>
      <p:guideLst>
        <p:guide pos="5465"/>
        <p:guide orient="horz" pos="3320"/>
        <p:guide pos="317"/>
        <p:guide orient="horz" pos="553"/>
        <p:guide orient="horz" pos="34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8BBE65-4915-43C4-B54D-4D2D9A29407B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C4F5323F-6855-4D96-B5E6-A539415EF687}">
      <dgm:prSet phldrT="[Texto]" custT="1"/>
      <dgm:spPr/>
      <dgm:t>
        <a:bodyPr/>
        <a:lstStyle/>
        <a:p>
          <a:r>
            <a:rPr lang="es-PE" sz="1050" b="1" spc="-10" dirty="0" smtClean="0">
              <a:solidFill>
                <a:srgbClr val="262626"/>
              </a:solidFill>
              <a:cs typeface="Source Sans Pro"/>
            </a:rPr>
            <a:t>Google: </a:t>
          </a:r>
          <a:r>
            <a:rPr lang="es-PE" sz="1050" spc="-10" dirty="0" smtClean="0">
              <a:solidFill>
                <a:srgbClr val="262626"/>
              </a:solidFill>
              <a:cs typeface="Source Sans Pro"/>
            </a:rPr>
            <a:t>Organizar la información del mundo y hacerla universalmente accesible y útil.</a:t>
          </a:r>
          <a:endParaRPr lang="es-ES" sz="1050" dirty="0"/>
        </a:p>
      </dgm:t>
    </dgm:pt>
    <dgm:pt modelId="{D78034F9-81F0-4768-832B-97AB7E320C21}" type="parTrans" cxnId="{A93E6E99-9610-42A5-A341-0D12E95F13F8}">
      <dgm:prSet/>
      <dgm:spPr/>
      <dgm:t>
        <a:bodyPr/>
        <a:lstStyle/>
        <a:p>
          <a:endParaRPr lang="es-ES"/>
        </a:p>
      </dgm:t>
    </dgm:pt>
    <dgm:pt modelId="{0D897BE4-E5F5-4DAE-936E-66DDD2717DEB}" type="sibTrans" cxnId="{A93E6E99-9610-42A5-A341-0D12E95F13F8}">
      <dgm:prSet/>
      <dgm:spPr/>
      <dgm:t>
        <a:bodyPr/>
        <a:lstStyle/>
        <a:p>
          <a:endParaRPr lang="es-ES"/>
        </a:p>
      </dgm:t>
    </dgm:pt>
    <dgm:pt modelId="{7BA1AFA3-7D1E-4102-8318-4E7D911CBCB6}">
      <dgm:prSet phldrT="[Texto]" custT="1"/>
      <dgm:spPr/>
      <dgm:t>
        <a:bodyPr/>
        <a:lstStyle/>
        <a:p>
          <a:r>
            <a:rPr lang="es-MX" sz="1100" b="1" spc="-10" dirty="0" smtClean="0">
              <a:solidFill>
                <a:srgbClr val="262626"/>
              </a:solidFill>
              <a:cs typeface="Source Sans Pro"/>
            </a:rPr>
            <a:t>SODIMAC: </a:t>
          </a:r>
          <a:r>
            <a:rPr lang="es-419" sz="1100" b="0" i="0" dirty="0" smtClean="0"/>
            <a:t>Desarrollarnos con innovación y sostenibilidad, ofreciendo los mejores productos, servicios y asesoría al mejor precio del mercado, para inspirar y construir los sueños y proyectos de nuestros clientes</a:t>
          </a:r>
          <a:endParaRPr lang="es-ES" sz="1100" dirty="0"/>
        </a:p>
      </dgm:t>
    </dgm:pt>
    <dgm:pt modelId="{CE35D5E4-809C-4B1D-AA21-F45FD9F0E563}" type="parTrans" cxnId="{701921B0-2D3D-4019-91EC-D7E355A8D835}">
      <dgm:prSet/>
      <dgm:spPr/>
      <dgm:t>
        <a:bodyPr/>
        <a:lstStyle/>
        <a:p>
          <a:endParaRPr lang="es-ES"/>
        </a:p>
      </dgm:t>
    </dgm:pt>
    <dgm:pt modelId="{3EB44152-3AD3-46C0-9078-411F50CC4E2F}" type="sibTrans" cxnId="{701921B0-2D3D-4019-91EC-D7E355A8D835}">
      <dgm:prSet/>
      <dgm:spPr/>
      <dgm:t>
        <a:bodyPr/>
        <a:lstStyle/>
        <a:p>
          <a:endParaRPr lang="es-ES"/>
        </a:p>
      </dgm:t>
    </dgm:pt>
    <dgm:pt modelId="{8D741622-12DE-4F45-B700-176EE51A018B}">
      <dgm:prSet phldrT="[Texto]"/>
      <dgm:spPr/>
      <dgm:t>
        <a:bodyPr/>
        <a:lstStyle/>
        <a:p>
          <a:r>
            <a:rPr lang="es-419" b="1" i="0" dirty="0" smtClean="0"/>
            <a:t>ISIL: </a:t>
          </a:r>
          <a:r>
            <a:rPr lang="es-419" b="0" i="0" dirty="0" smtClean="0"/>
            <a:t>La experiencia ISIL es la de una institución que brinda conocimientos, competencias y valores propios de una educación de avanzada, congruente con el mercado mediante el desarrollo de la creatividad, de la tecnología, del éxito empresarial y la educación para el trabajo.</a:t>
          </a:r>
          <a:endParaRPr lang="es-ES" dirty="0"/>
        </a:p>
      </dgm:t>
    </dgm:pt>
    <dgm:pt modelId="{AB34F31A-C96A-4B6F-9961-C14AF3E6D7DE}" type="parTrans" cxnId="{F6D9ACA7-14F0-4962-9150-EBC0D985FE61}">
      <dgm:prSet/>
      <dgm:spPr/>
      <dgm:t>
        <a:bodyPr/>
        <a:lstStyle/>
        <a:p>
          <a:endParaRPr lang="es-ES"/>
        </a:p>
      </dgm:t>
    </dgm:pt>
    <dgm:pt modelId="{FD02453D-2912-4FB3-A316-83F5E6A4C33E}" type="sibTrans" cxnId="{F6D9ACA7-14F0-4962-9150-EBC0D985FE61}">
      <dgm:prSet/>
      <dgm:spPr/>
      <dgm:t>
        <a:bodyPr/>
        <a:lstStyle/>
        <a:p>
          <a:endParaRPr lang="es-ES"/>
        </a:p>
      </dgm:t>
    </dgm:pt>
    <dgm:pt modelId="{33EE13CA-D705-400D-8E15-2ECAB19180C1}">
      <dgm:prSet custT="1"/>
      <dgm:spPr/>
      <dgm:t>
        <a:bodyPr/>
        <a:lstStyle/>
        <a:p>
          <a:r>
            <a:rPr lang="es-PE" sz="1100" b="1" spc="-10" dirty="0" smtClean="0">
              <a:solidFill>
                <a:srgbClr val="262626"/>
              </a:solidFill>
              <a:cs typeface="Source Sans Pro"/>
            </a:rPr>
            <a:t>Tottus: </a:t>
          </a:r>
          <a:r>
            <a:rPr lang="es-419" sz="1100" b="0" i="0" dirty="0" smtClean="0"/>
            <a:t>Ahorrarles dinero a las familias para que vivan mejor</a:t>
          </a:r>
          <a:endParaRPr lang="es-ES" sz="1100" dirty="0"/>
        </a:p>
      </dgm:t>
    </dgm:pt>
    <dgm:pt modelId="{5BB8AE56-A6C4-455E-87B6-6AF2FB66CDB0}" type="parTrans" cxnId="{13FC2015-3A53-488A-85A9-469C3D58E830}">
      <dgm:prSet/>
      <dgm:spPr/>
      <dgm:t>
        <a:bodyPr/>
        <a:lstStyle/>
        <a:p>
          <a:endParaRPr lang="es-ES"/>
        </a:p>
      </dgm:t>
    </dgm:pt>
    <dgm:pt modelId="{75DF10FD-1638-4ED0-8E47-ABBFC4EC6778}" type="sibTrans" cxnId="{13FC2015-3A53-488A-85A9-469C3D58E830}">
      <dgm:prSet/>
      <dgm:spPr/>
      <dgm:t>
        <a:bodyPr/>
        <a:lstStyle/>
        <a:p>
          <a:endParaRPr lang="es-ES"/>
        </a:p>
      </dgm:t>
    </dgm:pt>
    <dgm:pt modelId="{35493819-2ED5-452B-8B46-1C6958E2EDC5}">
      <dgm:prSet custT="1"/>
      <dgm:spPr/>
      <dgm:t>
        <a:bodyPr/>
        <a:lstStyle/>
        <a:p>
          <a:r>
            <a:rPr lang="es-PE" sz="1050" b="1" spc="-10" dirty="0" smtClean="0">
              <a:solidFill>
                <a:srgbClr val="262626"/>
              </a:solidFill>
              <a:cs typeface="Source Sans Pro"/>
            </a:rPr>
            <a:t>Universidad de Lima: </a:t>
          </a:r>
          <a:r>
            <a:rPr lang="es-419" sz="1050" b="0" i="0" dirty="0" smtClean="0"/>
            <a:t>Formamos profesionales líderes y creativos; ciudadanos autónomos reconocidos por sus méritos y comprometidos con el bienestar de la sociedad.</a:t>
          </a:r>
          <a:endParaRPr lang="es-ES" sz="1050" dirty="0"/>
        </a:p>
      </dgm:t>
    </dgm:pt>
    <dgm:pt modelId="{1CDE30FF-5592-448D-89EA-2B021880D291}" type="parTrans" cxnId="{DC83D863-7FC9-47AA-8E2D-D40B6515565E}">
      <dgm:prSet/>
      <dgm:spPr/>
      <dgm:t>
        <a:bodyPr/>
        <a:lstStyle/>
        <a:p>
          <a:endParaRPr lang="es-ES"/>
        </a:p>
      </dgm:t>
    </dgm:pt>
    <dgm:pt modelId="{0C49AE5B-90C9-4095-AADD-C7EC70E8242F}" type="sibTrans" cxnId="{DC83D863-7FC9-47AA-8E2D-D40B6515565E}">
      <dgm:prSet/>
      <dgm:spPr/>
      <dgm:t>
        <a:bodyPr/>
        <a:lstStyle/>
        <a:p>
          <a:endParaRPr lang="es-ES"/>
        </a:p>
      </dgm:t>
    </dgm:pt>
    <dgm:pt modelId="{9C37C175-64A4-4A38-AB14-7DACA85938CB}">
      <dgm:prSet/>
      <dgm:spPr/>
      <dgm:t>
        <a:bodyPr/>
        <a:lstStyle/>
        <a:p>
          <a:r>
            <a:rPr lang="es-PE" b="1" spc="-10" dirty="0" smtClean="0">
              <a:solidFill>
                <a:srgbClr val="262626"/>
              </a:solidFill>
              <a:cs typeface="Source Sans Pro"/>
            </a:rPr>
            <a:t>ALICORP: </a:t>
          </a:r>
          <a:r>
            <a:rPr lang="es-PE" spc="-10" dirty="0" smtClean="0">
              <a:solidFill>
                <a:srgbClr val="262626"/>
              </a:solidFill>
              <a:cs typeface="Source Sans Pro"/>
            </a:rPr>
            <a:t>Transformamos </a:t>
          </a:r>
          <a:r>
            <a:rPr lang="es-419" b="0" i="0" dirty="0" smtClean="0"/>
            <a:t>mercados a través de nuestras marcas líderes, generando experiencias extraordinarias en nuestros consumidores. Buscamos innovar constantemente para generar valor y bienestar en la sociedad</a:t>
          </a:r>
          <a:endParaRPr lang="es-ES" dirty="0"/>
        </a:p>
      </dgm:t>
    </dgm:pt>
    <dgm:pt modelId="{C2BED86A-DC3A-444E-822F-50B57EFD63D0}" type="parTrans" cxnId="{13379389-F0C7-40F1-81F7-F3D7C30DFDA0}">
      <dgm:prSet/>
      <dgm:spPr/>
      <dgm:t>
        <a:bodyPr/>
        <a:lstStyle/>
        <a:p>
          <a:endParaRPr lang="es-ES"/>
        </a:p>
      </dgm:t>
    </dgm:pt>
    <dgm:pt modelId="{B2763792-3894-4D6D-AA38-AE1ECDFB1E7E}" type="sibTrans" cxnId="{13379389-F0C7-40F1-81F7-F3D7C30DFDA0}">
      <dgm:prSet/>
      <dgm:spPr/>
      <dgm:t>
        <a:bodyPr/>
        <a:lstStyle/>
        <a:p>
          <a:endParaRPr lang="es-ES"/>
        </a:p>
      </dgm:t>
    </dgm:pt>
    <dgm:pt modelId="{05F611BF-547E-49C0-BC7A-312909504C97}" type="pres">
      <dgm:prSet presAssocID="{B28BBE65-4915-43C4-B54D-4D2D9A29407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8B84A4A6-2BBF-47ED-AD5A-6FED90F3789E}" type="pres">
      <dgm:prSet presAssocID="{C4F5323F-6855-4D96-B5E6-A539415EF687}" presName="composite" presStyleCnt="0"/>
      <dgm:spPr/>
    </dgm:pt>
    <dgm:pt modelId="{3F5ADE2B-17E8-4196-B390-12457BA2D9B0}" type="pres">
      <dgm:prSet presAssocID="{C4F5323F-6855-4D96-B5E6-A539415EF687}" presName="rect1" presStyleLbl="trAlignAcc1" presStyleIdx="0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74A7A32-7005-4C68-81A6-9DE426A524AE}" type="pres">
      <dgm:prSet presAssocID="{C4F5323F-6855-4D96-B5E6-A539415EF687}" presName="rect2" presStyleLbl="fgImgPlace1" presStyleIdx="0" presStyleCnt="6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7E728463-1D5A-407E-991E-938AC6D01ACD}" type="pres">
      <dgm:prSet presAssocID="{0D897BE4-E5F5-4DAE-936E-66DDD2717DEB}" presName="sibTrans" presStyleCnt="0"/>
      <dgm:spPr/>
    </dgm:pt>
    <dgm:pt modelId="{A2A3384F-4F57-461B-82C4-EF218E971912}" type="pres">
      <dgm:prSet presAssocID="{33EE13CA-D705-400D-8E15-2ECAB19180C1}" presName="composite" presStyleCnt="0"/>
      <dgm:spPr/>
    </dgm:pt>
    <dgm:pt modelId="{852A03C2-BC8B-425B-B2FA-9B8381E3888A}" type="pres">
      <dgm:prSet presAssocID="{33EE13CA-D705-400D-8E15-2ECAB19180C1}" presName="rect1" presStyleLbl="trAlignAcc1" presStyleIdx="1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6DFA7B8-C857-45C7-A750-2021B1D09C0F}" type="pres">
      <dgm:prSet presAssocID="{33EE13CA-D705-400D-8E15-2ECAB19180C1}" presName="rect2" presStyleLbl="fgImgPlace1" presStyleIdx="1" presStyleCnt="6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BD81F7C5-5BFC-452D-A063-5CC3D127718B}" type="pres">
      <dgm:prSet presAssocID="{75DF10FD-1638-4ED0-8E47-ABBFC4EC6778}" presName="sibTrans" presStyleCnt="0"/>
      <dgm:spPr/>
    </dgm:pt>
    <dgm:pt modelId="{E1110977-B414-48CD-AE32-4217CCFF51AC}" type="pres">
      <dgm:prSet presAssocID="{7BA1AFA3-7D1E-4102-8318-4E7D911CBCB6}" presName="composite" presStyleCnt="0"/>
      <dgm:spPr/>
    </dgm:pt>
    <dgm:pt modelId="{D445DFD1-0EE9-4032-A6AA-3C3F02D40D09}" type="pres">
      <dgm:prSet presAssocID="{7BA1AFA3-7D1E-4102-8318-4E7D911CBCB6}" presName="rect1" presStyleLbl="trAlignAcc1" presStyleIdx="2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ADD2B6E-BF5F-4C30-A054-D6988CA010E9}" type="pres">
      <dgm:prSet presAssocID="{7BA1AFA3-7D1E-4102-8318-4E7D911CBCB6}" presName="rect2" presStyleLbl="fgImgPlace1" presStyleIdx="2" presStyleCnt="6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A6AF4723-C572-4DCC-B686-FEECBD012985}" type="pres">
      <dgm:prSet presAssocID="{3EB44152-3AD3-46C0-9078-411F50CC4E2F}" presName="sibTrans" presStyleCnt="0"/>
      <dgm:spPr/>
    </dgm:pt>
    <dgm:pt modelId="{C4E24B3E-EFB0-4009-84AE-EF7AA28E7B23}" type="pres">
      <dgm:prSet presAssocID="{35493819-2ED5-452B-8B46-1C6958E2EDC5}" presName="composite" presStyleCnt="0"/>
      <dgm:spPr/>
    </dgm:pt>
    <dgm:pt modelId="{29524CF0-06A7-478C-9A59-F9368B601702}" type="pres">
      <dgm:prSet presAssocID="{35493819-2ED5-452B-8B46-1C6958E2EDC5}" presName="rect1" presStyleLbl="trAlignAcc1" presStyleIdx="3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8482908-7174-4378-88E6-2F77AB7F3D99}" type="pres">
      <dgm:prSet presAssocID="{35493819-2ED5-452B-8B46-1C6958E2EDC5}" presName="rect2" presStyleLbl="fgImgPlace1" presStyleIdx="3" presStyleCnt="6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C8F530D1-450C-4C8A-BD49-14FFCB8F1FE7}" type="pres">
      <dgm:prSet presAssocID="{0C49AE5B-90C9-4095-AADD-C7EC70E8242F}" presName="sibTrans" presStyleCnt="0"/>
      <dgm:spPr/>
    </dgm:pt>
    <dgm:pt modelId="{DE5A94B7-0A4C-4115-8906-33A23190CAF4}" type="pres">
      <dgm:prSet presAssocID="{8D741622-12DE-4F45-B700-176EE51A018B}" presName="composite" presStyleCnt="0"/>
      <dgm:spPr/>
    </dgm:pt>
    <dgm:pt modelId="{91A308DB-B3EB-49D8-9306-DB07FB79F1A7}" type="pres">
      <dgm:prSet presAssocID="{8D741622-12DE-4F45-B700-176EE51A018B}" presName="rect1" presStyleLbl="trAlignAcc1" presStyleIdx="4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EBE78F4-C4FB-4BB3-B586-9F621F5DDB7A}" type="pres">
      <dgm:prSet presAssocID="{8D741622-12DE-4F45-B700-176EE51A018B}" presName="rect2" presStyleLbl="fgImgPlace1" presStyleIdx="4" presStyleCnt="6"/>
      <dgm:spPr>
        <a:blipFill rotWithShape="1">
          <a:blip xmlns:r="http://schemas.openxmlformats.org/officeDocument/2006/relationships" r:embed="rId5"/>
          <a:stretch>
            <a:fillRect/>
          </a:stretch>
        </a:blipFill>
      </dgm:spPr>
    </dgm:pt>
    <dgm:pt modelId="{4AD61027-64CB-4058-8270-A4E5BAB017DC}" type="pres">
      <dgm:prSet presAssocID="{FD02453D-2912-4FB3-A316-83F5E6A4C33E}" presName="sibTrans" presStyleCnt="0"/>
      <dgm:spPr/>
    </dgm:pt>
    <dgm:pt modelId="{D2B5BFA3-2457-4E9B-9821-EFD3021845B2}" type="pres">
      <dgm:prSet presAssocID="{9C37C175-64A4-4A38-AB14-7DACA85938CB}" presName="composite" presStyleCnt="0"/>
      <dgm:spPr/>
    </dgm:pt>
    <dgm:pt modelId="{0ABA47BE-0E23-4804-87D4-58F7CA4D304E}" type="pres">
      <dgm:prSet presAssocID="{9C37C175-64A4-4A38-AB14-7DACA85938CB}" presName="rect1" presStyleLbl="trAlignAcc1" presStyleIdx="5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9DB1148-B3DF-4EC3-831D-740BAD25A99B}" type="pres">
      <dgm:prSet presAssocID="{9C37C175-64A4-4A38-AB14-7DACA85938CB}" presName="rect2" presStyleLbl="fgImgPlace1" presStyleIdx="5" presStyleCnt="6"/>
      <dgm:spPr>
        <a:blipFill rotWithShape="1">
          <a:blip xmlns:r="http://schemas.openxmlformats.org/officeDocument/2006/relationships" r:embed="rId6"/>
          <a:stretch>
            <a:fillRect/>
          </a:stretch>
        </a:blipFill>
      </dgm:spPr>
    </dgm:pt>
  </dgm:ptLst>
  <dgm:cxnLst>
    <dgm:cxn modelId="{CC0596C0-1A8A-49FD-9CA0-D23285772635}" type="presOf" srcId="{8D741622-12DE-4F45-B700-176EE51A018B}" destId="{91A308DB-B3EB-49D8-9306-DB07FB79F1A7}" srcOrd="0" destOrd="0" presId="urn:microsoft.com/office/officeart/2008/layout/PictureStrips"/>
    <dgm:cxn modelId="{701921B0-2D3D-4019-91EC-D7E355A8D835}" srcId="{B28BBE65-4915-43C4-B54D-4D2D9A29407B}" destId="{7BA1AFA3-7D1E-4102-8318-4E7D911CBCB6}" srcOrd="2" destOrd="0" parTransId="{CE35D5E4-809C-4B1D-AA21-F45FD9F0E563}" sibTransId="{3EB44152-3AD3-46C0-9078-411F50CC4E2F}"/>
    <dgm:cxn modelId="{F6D9ACA7-14F0-4962-9150-EBC0D985FE61}" srcId="{B28BBE65-4915-43C4-B54D-4D2D9A29407B}" destId="{8D741622-12DE-4F45-B700-176EE51A018B}" srcOrd="4" destOrd="0" parTransId="{AB34F31A-C96A-4B6F-9961-C14AF3E6D7DE}" sibTransId="{FD02453D-2912-4FB3-A316-83F5E6A4C33E}"/>
    <dgm:cxn modelId="{DC83D863-7FC9-47AA-8E2D-D40B6515565E}" srcId="{B28BBE65-4915-43C4-B54D-4D2D9A29407B}" destId="{35493819-2ED5-452B-8B46-1C6958E2EDC5}" srcOrd="3" destOrd="0" parTransId="{1CDE30FF-5592-448D-89EA-2B021880D291}" sibTransId="{0C49AE5B-90C9-4095-AADD-C7EC70E8242F}"/>
    <dgm:cxn modelId="{068ECCAA-9217-43E0-91C1-E588E8734095}" type="presOf" srcId="{B28BBE65-4915-43C4-B54D-4D2D9A29407B}" destId="{05F611BF-547E-49C0-BC7A-312909504C97}" srcOrd="0" destOrd="0" presId="urn:microsoft.com/office/officeart/2008/layout/PictureStrips"/>
    <dgm:cxn modelId="{01669892-3A54-48CC-86CF-389AAA888C49}" type="presOf" srcId="{35493819-2ED5-452B-8B46-1C6958E2EDC5}" destId="{29524CF0-06A7-478C-9A59-F9368B601702}" srcOrd="0" destOrd="0" presId="urn:microsoft.com/office/officeart/2008/layout/PictureStrips"/>
    <dgm:cxn modelId="{DB43AADB-F835-461B-9546-E3F9F0D9ADF9}" type="presOf" srcId="{C4F5323F-6855-4D96-B5E6-A539415EF687}" destId="{3F5ADE2B-17E8-4196-B390-12457BA2D9B0}" srcOrd="0" destOrd="0" presId="urn:microsoft.com/office/officeart/2008/layout/PictureStrips"/>
    <dgm:cxn modelId="{A93E6E99-9610-42A5-A341-0D12E95F13F8}" srcId="{B28BBE65-4915-43C4-B54D-4D2D9A29407B}" destId="{C4F5323F-6855-4D96-B5E6-A539415EF687}" srcOrd="0" destOrd="0" parTransId="{D78034F9-81F0-4768-832B-97AB7E320C21}" sibTransId="{0D897BE4-E5F5-4DAE-936E-66DDD2717DEB}"/>
    <dgm:cxn modelId="{CC5053DF-5E7F-4CB5-913D-A853E3701032}" type="presOf" srcId="{7BA1AFA3-7D1E-4102-8318-4E7D911CBCB6}" destId="{D445DFD1-0EE9-4032-A6AA-3C3F02D40D09}" srcOrd="0" destOrd="0" presId="urn:microsoft.com/office/officeart/2008/layout/PictureStrips"/>
    <dgm:cxn modelId="{4090B3CB-91BA-48D6-A075-43426F215F4C}" type="presOf" srcId="{9C37C175-64A4-4A38-AB14-7DACA85938CB}" destId="{0ABA47BE-0E23-4804-87D4-58F7CA4D304E}" srcOrd="0" destOrd="0" presId="urn:microsoft.com/office/officeart/2008/layout/PictureStrips"/>
    <dgm:cxn modelId="{13FC2015-3A53-488A-85A9-469C3D58E830}" srcId="{B28BBE65-4915-43C4-B54D-4D2D9A29407B}" destId="{33EE13CA-D705-400D-8E15-2ECAB19180C1}" srcOrd="1" destOrd="0" parTransId="{5BB8AE56-A6C4-455E-87B6-6AF2FB66CDB0}" sibTransId="{75DF10FD-1638-4ED0-8E47-ABBFC4EC6778}"/>
    <dgm:cxn modelId="{0F9297DE-EB39-46CB-815C-C447AB9C686D}" type="presOf" srcId="{33EE13CA-D705-400D-8E15-2ECAB19180C1}" destId="{852A03C2-BC8B-425B-B2FA-9B8381E3888A}" srcOrd="0" destOrd="0" presId="urn:microsoft.com/office/officeart/2008/layout/PictureStrips"/>
    <dgm:cxn modelId="{13379389-F0C7-40F1-81F7-F3D7C30DFDA0}" srcId="{B28BBE65-4915-43C4-B54D-4D2D9A29407B}" destId="{9C37C175-64A4-4A38-AB14-7DACA85938CB}" srcOrd="5" destOrd="0" parTransId="{C2BED86A-DC3A-444E-822F-50B57EFD63D0}" sibTransId="{B2763792-3894-4D6D-AA38-AE1ECDFB1E7E}"/>
    <dgm:cxn modelId="{66535370-553E-40E9-A829-15A025C10399}" type="presParOf" srcId="{05F611BF-547E-49C0-BC7A-312909504C97}" destId="{8B84A4A6-2BBF-47ED-AD5A-6FED90F3789E}" srcOrd="0" destOrd="0" presId="urn:microsoft.com/office/officeart/2008/layout/PictureStrips"/>
    <dgm:cxn modelId="{B9BFD0C8-4148-443F-9FD4-728FB7B22974}" type="presParOf" srcId="{8B84A4A6-2BBF-47ED-AD5A-6FED90F3789E}" destId="{3F5ADE2B-17E8-4196-B390-12457BA2D9B0}" srcOrd="0" destOrd="0" presId="urn:microsoft.com/office/officeart/2008/layout/PictureStrips"/>
    <dgm:cxn modelId="{AD116488-E37B-421C-8327-410B5576419B}" type="presParOf" srcId="{8B84A4A6-2BBF-47ED-AD5A-6FED90F3789E}" destId="{274A7A32-7005-4C68-81A6-9DE426A524AE}" srcOrd="1" destOrd="0" presId="urn:microsoft.com/office/officeart/2008/layout/PictureStrips"/>
    <dgm:cxn modelId="{66BE1C53-B11E-41A8-85FE-D8977988C9B8}" type="presParOf" srcId="{05F611BF-547E-49C0-BC7A-312909504C97}" destId="{7E728463-1D5A-407E-991E-938AC6D01ACD}" srcOrd="1" destOrd="0" presId="urn:microsoft.com/office/officeart/2008/layout/PictureStrips"/>
    <dgm:cxn modelId="{593B42EF-FE24-47DC-9291-F309B6ECC90A}" type="presParOf" srcId="{05F611BF-547E-49C0-BC7A-312909504C97}" destId="{A2A3384F-4F57-461B-82C4-EF218E971912}" srcOrd="2" destOrd="0" presId="urn:microsoft.com/office/officeart/2008/layout/PictureStrips"/>
    <dgm:cxn modelId="{FFC072B1-4F4E-46B7-8845-5897BD86CEC9}" type="presParOf" srcId="{A2A3384F-4F57-461B-82C4-EF218E971912}" destId="{852A03C2-BC8B-425B-B2FA-9B8381E3888A}" srcOrd="0" destOrd="0" presId="urn:microsoft.com/office/officeart/2008/layout/PictureStrips"/>
    <dgm:cxn modelId="{B90325EB-09EC-4AA7-916A-BF58E9B8CB9F}" type="presParOf" srcId="{A2A3384F-4F57-461B-82C4-EF218E971912}" destId="{86DFA7B8-C857-45C7-A750-2021B1D09C0F}" srcOrd="1" destOrd="0" presId="urn:microsoft.com/office/officeart/2008/layout/PictureStrips"/>
    <dgm:cxn modelId="{1517808C-A4E9-4F56-B119-BA68F627787C}" type="presParOf" srcId="{05F611BF-547E-49C0-BC7A-312909504C97}" destId="{BD81F7C5-5BFC-452D-A063-5CC3D127718B}" srcOrd="3" destOrd="0" presId="urn:microsoft.com/office/officeart/2008/layout/PictureStrips"/>
    <dgm:cxn modelId="{9C404E15-41A1-4441-888A-8A9E6A1E1E78}" type="presParOf" srcId="{05F611BF-547E-49C0-BC7A-312909504C97}" destId="{E1110977-B414-48CD-AE32-4217CCFF51AC}" srcOrd="4" destOrd="0" presId="urn:microsoft.com/office/officeart/2008/layout/PictureStrips"/>
    <dgm:cxn modelId="{648F7645-ACDD-46F8-9B0F-FAB28E57C101}" type="presParOf" srcId="{E1110977-B414-48CD-AE32-4217CCFF51AC}" destId="{D445DFD1-0EE9-4032-A6AA-3C3F02D40D09}" srcOrd="0" destOrd="0" presId="urn:microsoft.com/office/officeart/2008/layout/PictureStrips"/>
    <dgm:cxn modelId="{863C0239-EF18-4AA0-98D6-546C30C57274}" type="presParOf" srcId="{E1110977-B414-48CD-AE32-4217CCFF51AC}" destId="{5ADD2B6E-BF5F-4C30-A054-D6988CA010E9}" srcOrd="1" destOrd="0" presId="urn:microsoft.com/office/officeart/2008/layout/PictureStrips"/>
    <dgm:cxn modelId="{1B9A3419-DA67-4C06-9D80-DCCAAF95E2D1}" type="presParOf" srcId="{05F611BF-547E-49C0-BC7A-312909504C97}" destId="{A6AF4723-C572-4DCC-B686-FEECBD012985}" srcOrd="5" destOrd="0" presId="urn:microsoft.com/office/officeart/2008/layout/PictureStrips"/>
    <dgm:cxn modelId="{8BCDAA64-C885-43DC-89F5-8981AE8F6822}" type="presParOf" srcId="{05F611BF-547E-49C0-BC7A-312909504C97}" destId="{C4E24B3E-EFB0-4009-84AE-EF7AA28E7B23}" srcOrd="6" destOrd="0" presId="urn:microsoft.com/office/officeart/2008/layout/PictureStrips"/>
    <dgm:cxn modelId="{2A14F6A9-1D31-4FE6-AA97-BEDA9237C395}" type="presParOf" srcId="{C4E24B3E-EFB0-4009-84AE-EF7AA28E7B23}" destId="{29524CF0-06A7-478C-9A59-F9368B601702}" srcOrd="0" destOrd="0" presId="urn:microsoft.com/office/officeart/2008/layout/PictureStrips"/>
    <dgm:cxn modelId="{F7934B59-BB90-4A2B-BB66-43A653902613}" type="presParOf" srcId="{C4E24B3E-EFB0-4009-84AE-EF7AA28E7B23}" destId="{B8482908-7174-4378-88E6-2F77AB7F3D99}" srcOrd="1" destOrd="0" presId="urn:microsoft.com/office/officeart/2008/layout/PictureStrips"/>
    <dgm:cxn modelId="{226740C9-DBC3-4670-B1E9-589944B5CE93}" type="presParOf" srcId="{05F611BF-547E-49C0-BC7A-312909504C97}" destId="{C8F530D1-450C-4C8A-BD49-14FFCB8F1FE7}" srcOrd="7" destOrd="0" presId="urn:microsoft.com/office/officeart/2008/layout/PictureStrips"/>
    <dgm:cxn modelId="{A4C33A8B-295B-4D0D-8BA5-D94C7FF6BEF5}" type="presParOf" srcId="{05F611BF-547E-49C0-BC7A-312909504C97}" destId="{DE5A94B7-0A4C-4115-8906-33A23190CAF4}" srcOrd="8" destOrd="0" presId="urn:microsoft.com/office/officeart/2008/layout/PictureStrips"/>
    <dgm:cxn modelId="{5C9ECD1B-15A0-4829-A36C-F8BCDFECA8DC}" type="presParOf" srcId="{DE5A94B7-0A4C-4115-8906-33A23190CAF4}" destId="{91A308DB-B3EB-49D8-9306-DB07FB79F1A7}" srcOrd="0" destOrd="0" presId="urn:microsoft.com/office/officeart/2008/layout/PictureStrips"/>
    <dgm:cxn modelId="{38CA3B1F-F22C-4C0F-BC2F-58FF6EE23562}" type="presParOf" srcId="{DE5A94B7-0A4C-4115-8906-33A23190CAF4}" destId="{5EBE78F4-C4FB-4BB3-B586-9F621F5DDB7A}" srcOrd="1" destOrd="0" presId="urn:microsoft.com/office/officeart/2008/layout/PictureStrips"/>
    <dgm:cxn modelId="{58EBDFC6-EA93-4BDD-9C2A-7C573E5BEC7B}" type="presParOf" srcId="{05F611BF-547E-49C0-BC7A-312909504C97}" destId="{4AD61027-64CB-4058-8270-A4E5BAB017DC}" srcOrd="9" destOrd="0" presId="urn:microsoft.com/office/officeart/2008/layout/PictureStrips"/>
    <dgm:cxn modelId="{9DBD4746-9DDC-4473-B8E5-DF4DDD8C30EA}" type="presParOf" srcId="{05F611BF-547E-49C0-BC7A-312909504C97}" destId="{D2B5BFA3-2457-4E9B-9821-EFD3021845B2}" srcOrd="10" destOrd="0" presId="urn:microsoft.com/office/officeart/2008/layout/PictureStrips"/>
    <dgm:cxn modelId="{13E64514-43CA-48EB-AEB8-771CE586D60A}" type="presParOf" srcId="{D2B5BFA3-2457-4E9B-9821-EFD3021845B2}" destId="{0ABA47BE-0E23-4804-87D4-58F7CA4D304E}" srcOrd="0" destOrd="0" presId="urn:microsoft.com/office/officeart/2008/layout/PictureStrips"/>
    <dgm:cxn modelId="{7096CF1B-DE69-41CE-A174-BD15B4E943A7}" type="presParOf" srcId="{D2B5BFA3-2457-4E9B-9821-EFD3021845B2}" destId="{69DB1148-B3DF-4EC3-831D-740BAD25A99B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8BBE65-4915-43C4-B54D-4D2D9A29407B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C4F5323F-6855-4D96-B5E6-A539415EF687}">
      <dgm:prSet phldrT="[Texto]" custT="1"/>
      <dgm:spPr/>
      <dgm:t>
        <a:bodyPr/>
        <a:lstStyle/>
        <a:p>
          <a:r>
            <a:rPr lang="es-PE" sz="1050" b="1" spc="-10" dirty="0" smtClean="0">
              <a:solidFill>
                <a:srgbClr val="262626"/>
              </a:solidFill>
              <a:cs typeface="Source Sans Pro"/>
            </a:rPr>
            <a:t>Google: </a:t>
          </a:r>
          <a:r>
            <a:rPr lang="es-PE" sz="1050" spc="-10" dirty="0" smtClean="0">
              <a:solidFill>
                <a:srgbClr val="262626"/>
              </a:solidFill>
              <a:cs typeface="Source Sans Pro"/>
            </a:rPr>
            <a:t>Ser el más prestigioso motor de búsqueda, y el más importante del mundo.</a:t>
          </a:r>
          <a:endParaRPr lang="es-ES" sz="1050" dirty="0"/>
        </a:p>
      </dgm:t>
    </dgm:pt>
    <dgm:pt modelId="{D78034F9-81F0-4768-832B-97AB7E320C21}" type="parTrans" cxnId="{A93E6E99-9610-42A5-A341-0D12E95F13F8}">
      <dgm:prSet/>
      <dgm:spPr/>
      <dgm:t>
        <a:bodyPr/>
        <a:lstStyle/>
        <a:p>
          <a:endParaRPr lang="es-ES"/>
        </a:p>
      </dgm:t>
    </dgm:pt>
    <dgm:pt modelId="{0D897BE4-E5F5-4DAE-936E-66DDD2717DEB}" type="sibTrans" cxnId="{A93E6E99-9610-42A5-A341-0D12E95F13F8}">
      <dgm:prSet/>
      <dgm:spPr/>
      <dgm:t>
        <a:bodyPr/>
        <a:lstStyle/>
        <a:p>
          <a:endParaRPr lang="es-ES"/>
        </a:p>
      </dgm:t>
    </dgm:pt>
    <dgm:pt modelId="{7BA1AFA3-7D1E-4102-8318-4E7D911CBCB6}">
      <dgm:prSet phldrT="[Texto]" custT="1"/>
      <dgm:spPr/>
      <dgm:t>
        <a:bodyPr/>
        <a:lstStyle/>
        <a:p>
          <a:r>
            <a:rPr lang="es-PE" sz="1100" b="1" spc="-10" dirty="0" smtClean="0">
              <a:solidFill>
                <a:srgbClr val="262626"/>
              </a:solidFill>
              <a:cs typeface="Source Sans Pro"/>
            </a:rPr>
            <a:t>SODIMAC: </a:t>
          </a:r>
          <a:r>
            <a:rPr lang="es-419" sz="1100" b="0" i="0" dirty="0" smtClean="0"/>
            <a:t>Ser la empresa líder de proyectos para el hogar y construcción que mejorando la calidad de vida, sea la más querida, admirada y respetada por la comunidad, clientes, asociados y proveedores en América</a:t>
          </a:r>
          <a:endParaRPr lang="es-ES" sz="1100" dirty="0"/>
        </a:p>
      </dgm:t>
    </dgm:pt>
    <dgm:pt modelId="{CE35D5E4-809C-4B1D-AA21-F45FD9F0E563}" type="parTrans" cxnId="{701921B0-2D3D-4019-91EC-D7E355A8D835}">
      <dgm:prSet/>
      <dgm:spPr/>
      <dgm:t>
        <a:bodyPr/>
        <a:lstStyle/>
        <a:p>
          <a:endParaRPr lang="es-ES"/>
        </a:p>
      </dgm:t>
    </dgm:pt>
    <dgm:pt modelId="{3EB44152-3AD3-46C0-9078-411F50CC4E2F}" type="sibTrans" cxnId="{701921B0-2D3D-4019-91EC-D7E355A8D835}">
      <dgm:prSet/>
      <dgm:spPr/>
      <dgm:t>
        <a:bodyPr/>
        <a:lstStyle/>
        <a:p>
          <a:endParaRPr lang="es-ES"/>
        </a:p>
      </dgm:t>
    </dgm:pt>
    <dgm:pt modelId="{8D741622-12DE-4F45-B700-176EE51A018B}">
      <dgm:prSet phldrT="[Texto]" custT="1"/>
      <dgm:spPr/>
      <dgm:t>
        <a:bodyPr/>
        <a:lstStyle/>
        <a:p>
          <a:r>
            <a:rPr lang="es-419" sz="1100" b="1" i="0" dirty="0" smtClean="0"/>
            <a:t>ISIL: </a:t>
          </a:r>
          <a:r>
            <a:rPr lang="es-419" sz="1100" b="0" i="0" dirty="0" smtClean="0"/>
            <a:t>Ser el modelo educativo alternativo e innovador en la formación de profesionales de éxito.</a:t>
          </a:r>
          <a:endParaRPr lang="es-ES" sz="1100" dirty="0"/>
        </a:p>
      </dgm:t>
    </dgm:pt>
    <dgm:pt modelId="{AB34F31A-C96A-4B6F-9961-C14AF3E6D7DE}" type="parTrans" cxnId="{F6D9ACA7-14F0-4962-9150-EBC0D985FE61}">
      <dgm:prSet/>
      <dgm:spPr/>
      <dgm:t>
        <a:bodyPr/>
        <a:lstStyle/>
        <a:p>
          <a:endParaRPr lang="es-ES"/>
        </a:p>
      </dgm:t>
    </dgm:pt>
    <dgm:pt modelId="{FD02453D-2912-4FB3-A316-83F5E6A4C33E}" type="sibTrans" cxnId="{F6D9ACA7-14F0-4962-9150-EBC0D985FE61}">
      <dgm:prSet/>
      <dgm:spPr/>
      <dgm:t>
        <a:bodyPr/>
        <a:lstStyle/>
        <a:p>
          <a:endParaRPr lang="es-ES"/>
        </a:p>
      </dgm:t>
    </dgm:pt>
    <dgm:pt modelId="{33EE13CA-D705-400D-8E15-2ECAB19180C1}">
      <dgm:prSet custT="1"/>
      <dgm:spPr/>
      <dgm:t>
        <a:bodyPr/>
        <a:lstStyle/>
        <a:p>
          <a:r>
            <a:rPr lang="es-ES" sz="1100" b="1" dirty="0" smtClean="0"/>
            <a:t>Tottus: </a:t>
          </a:r>
          <a:r>
            <a:rPr lang="es-419" sz="1100" b="0" i="0" dirty="0" smtClean="0"/>
            <a:t>Somos líderes en cada mercado donde competimos por ofrecer el lugar preferido para comprar y trabajar.</a:t>
          </a:r>
          <a:endParaRPr lang="es-ES" sz="1100" b="1" dirty="0"/>
        </a:p>
      </dgm:t>
    </dgm:pt>
    <dgm:pt modelId="{5BB8AE56-A6C4-455E-87B6-6AF2FB66CDB0}" type="parTrans" cxnId="{13FC2015-3A53-488A-85A9-469C3D58E830}">
      <dgm:prSet/>
      <dgm:spPr/>
      <dgm:t>
        <a:bodyPr/>
        <a:lstStyle/>
        <a:p>
          <a:endParaRPr lang="es-ES"/>
        </a:p>
      </dgm:t>
    </dgm:pt>
    <dgm:pt modelId="{75DF10FD-1638-4ED0-8E47-ABBFC4EC6778}" type="sibTrans" cxnId="{13FC2015-3A53-488A-85A9-469C3D58E830}">
      <dgm:prSet/>
      <dgm:spPr/>
      <dgm:t>
        <a:bodyPr/>
        <a:lstStyle/>
        <a:p>
          <a:endParaRPr lang="es-ES"/>
        </a:p>
      </dgm:t>
    </dgm:pt>
    <dgm:pt modelId="{35493819-2ED5-452B-8B46-1C6958E2EDC5}">
      <dgm:prSet custT="1"/>
      <dgm:spPr/>
      <dgm:t>
        <a:bodyPr/>
        <a:lstStyle/>
        <a:p>
          <a:r>
            <a:rPr lang="es-PE" sz="1050" b="1" spc="-10" dirty="0" smtClean="0">
              <a:solidFill>
                <a:srgbClr val="262626"/>
              </a:solidFill>
              <a:cs typeface="Source Sans Pro"/>
            </a:rPr>
            <a:t>Universidad de Lima: </a:t>
          </a:r>
          <a:r>
            <a:rPr lang="es-419" sz="1050" b="0" i="0" dirty="0" smtClean="0"/>
            <a:t>Destacamos en Latinoamérica por nuestra calidad académica, por el impacto de nuestras investigaciones y por el aporte a la construcción de un mundo mejor.</a:t>
          </a:r>
          <a:endParaRPr lang="es-ES" sz="1050" dirty="0"/>
        </a:p>
      </dgm:t>
    </dgm:pt>
    <dgm:pt modelId="{1CDE30FF-5592-448D-89EA-2B021880D291}" type="parTrans" cxnId="{DC83D863-7FC9-47AA-8E2D-D40B6515565E}">
      <dgm:prSet/>
      <dgm:spPr/>
      <dgm:t>
        <a:bodyPr/>
        <a:lstStyle/>
        <a:p>
          <a:endParaRPr lang="es-ES"/>
        </a:p>
      </dgm:t>
    </dgm:pt>
    <dgm:pt modelId="{0C49AE5B-90C9-4095-AADD-C7EC70E8242F}" type="sibTrans" cxnId="{DC83D863-7FC9-47AA-8E2D-D40B6515565E}">
      <dgm:prSet/>
      <dgm:spPr/>
      <dgm:t>
        <a:bodyPr/>
        <a:lstStyle/>
        <a:p>
          <a:endParaRPr lang="es-ES"/>
        </a:p>
      </dgm:t>
    </dgm:pt>
    <dgm:pt modelId="{9C37C175-64A4-4A38-AB14-7DACA85938CB}">
      <dgm:prSet custT="1"/>
      <dgm:spPr/>
      <dgm:t>
        <a:bodyPr/>
        <a:lstStyle/>
        <a:p>
          <a:r>
            <a:rPr lang="es-PE" sz="1200" b="1" spc="-10" dirty="0" smtClean="0">
              <a:solidFill>
                <a:srgbClr val="262626"/>
              </a:solidFill>
              <a:cs typeface="Source Sans Pro"/>
            </a:rPr>
            <a:t>ALICORP: </a:t>
          </a:r>
          <a:r>
            <a:rPr lang="es-419" sz="1200" b="0" i="0" dirty="0" smtClean="0"/>
            <a:t>Ser líderes en los mercados en los que competimos.</a:t>
          </a:r>
          <a:endParaRPr lang="es-ES" sz="1200" dirty="0"/>
        </a:p>
      </dgm:t>
    </dgm:pt>
    <dgm:pt modelId="{C2BED86A-DC3A-444E-822F-50B57EFD63D0}" type="parTrans" cxnId="{13379389-F0C7-40F1-81F7-F3D7C30DFDA0}">
      <dgm:prSet/>
      <dgm:spPr/>
      <dgm:t>
        <a:bodyPr/>
        <a:lstStyle/>
        <a:p>
          <a:endParaRPr lang="es-ES"/>
        </a:p>
      </dgm:t>
    </dgm:pt>
    <dgm:pt modelId="{B2763792-3894-4D6D-AA38-AE1ECDFB1E7E}" type="sibTrans" cxnId="{13379389-F0C7-40F1-81F7-F3D7C30DFDA0}">
      <dgm:prSet/>
      <dgm:spPr/>
      <dgm:t>
        <a:bodyPr/>
        <a:lstStyle/>
        <a:p>
          <a:endParaRPr lang="es-ES"/>
        </a:p>
      </dgm:t>
    </dgm:pt>
    <dgm:pt modelId="{05F611BF-547E-49C0-BC7A-312909504C97}" type="pres">
      <dgm:prSet presAssocID="{B28BBE65-4915-43C4-B54D-4D2D9A29407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8B84A4A6-2BBF-47ED-AD5A-6FED90F3789E}" type="pres">
      <dgm:prSet presAssocID="{C4F5323F-6855-4D96-B5E6-A539415EF687}" presName="composite" presStyleCnt="0"/>
      <dgm:spPr/>
    </dgm:pt>
    <dgm:pt modelId="{3F5ADE2B-17E8-4196-B390-12457BA2D9B0}" type="pres">
      <dgm:prSet presAssocID="{C4F5323F-6855-4D96-B5E6-A539415EF687}" presName="rect1" presStyleLbl="trAlignAcc1" presStyleIdx="0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274A7A32-7005-4C68-81A6-9DE426A524AE}" type="pres">
      <dgm:prSet presAssocID="{C4F5323F-6855-4D96-B5E6-A539415EF687}" presName="rect2" presStyleLbl="fgImgPlace1" presStyleIdx="0" presStyleCnt="6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7E728463-1D5A-407E-991E-938AC6D01ACD}" type="pres">
      <dgm:prSet presAssocID="{0D897BE4-E5F5-4DAE-936E-66DDD2717DEB}" presName="sibTrans" presStyleCnt="0"/>
      <dgm:spPr/>
    </dgm:pt>
    <dgm:pt modelId="{A2A3384F-4F57-461B-82C4-EF218E971912}" type="pres">
      <dgm:prSet presAssocID="{33EE13CA-D705-400D-8E15-2ECAB19180C1}" presName="composite" presStyleCnt="0"/>
      <dgm:spPr/>
    </dgm:pt>
    <dgm:pt modelId="{852A03C2-BC8B-425B-B2FA-9B8381E3888A}" type="pres">
      <dgm:prSet presAssocID="{33EE13CA-D705-400D-8E15-2ECAB19180C1}" presName="rect1" presStyleLbl="trAlignAcc1" presStyleIdx="1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86DFA7B8-C857-45C7-A750-2021B1D09C0F}" type="pres">
      <dgm:prSet presAssocID="{33EE13CA-D705-400D-8E15-2ECAB19180C1}" presName="rect2" presStyleLbl="fgImgPlace1" presStyleIdx="1" presStyleCnt="6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BD81F7C5-5BFC-452D-A063-5CC3D127718B}" type="pres">
      <dgm:prSet presAssocID="{75DF10FD-1638-4ED0-8E47-ABBFC4EC6778}" presName="sibTrans" presStyleCnt="0"/>
      <dgm:spPr/>
    </dgm:pt>
    <dgm:pt modelId="{E1110977-B414-48CD-AE32-4217CCFF51AC}" type="pres">
      <dgm:prSet presAssocID="{7BA1AFA3-7D1E-4102-8318-4E7D911CBCB6}" presName="composite" presStyleCnt="0"/>
      <dgm:spPr/>
    </dgm:pt>
    <dgm:pt modelId="{D445DFD1-0EE9-4032-A6AA-3C3F02D40D09}" type="pres">
      <dgm:prSet presAssocID="{7BA1AFA3-7D1E-4102-8318-4E7D911CBCB6}" presName="rect1" presStyleLbl="trAlignAcc1" presStyleIdx="2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ADD2B6E-BF5F-4C30-A054-D6988CA010E9}" type="pres">
      <dgm:prSet presAssocID="{7BA1AFA3-7D1E-4102-8318-4E7D911CBCB6}" presName="rect2" presStyleLbl="fgImgPlace1" presStyleIdx="2" presStyleCnt="6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  <dgm:pt modelId="{A6AF4723-C572-4DCC-B686-FEECBD012985}" type="pres">
      <dgm:prSet presAssocID="{3EB44152-3AD3-46C0-9078-411F50CC4E2F}" presName="sibTrans" presStyleCnt="0"/>
      <dgm:spPr/>
    </dgm:pt>
    <dgm:pt modelId="{C4E24B3E-EFB0-4009-84AE-EF7AA28E7B23}" type="pres">
      <dgm:prSet presAssocID="{35493819-2ED5-452B-8B46-1C6958E2EDC5}" presName="composite" presStyleCnt="0"/>
      <dgm:spPr/>
    </dgm:pt>
    <dgm:pt modelId="{29524CF0-06A7-478C-9A59-F9368B601702}" type="pres">
      <dgm:prSet presAssocID="{35493819-2ED5-452B-8B46-1C6958E2EDC5}" presName="rect1" presStyleLbl="trAlignAcc1" presStyleIdx="3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B8482908-7174-4378-88E6-2F77AB7F3D99}" type="pres">
      <dgm:prSet presAssocID="{35493819-2ED5-452B-8B46-1C6958E2EDC5}" presName="rect2" presStyleLbl="fgImgPlace1" presStyleIdx="3" presStyleCnt="6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C8F530D1-450C-4C8A-BD49-14FFCB8F1FE7}" type="pres">
      <dgm:prSet presAssocID="{0C49AE5B-90C9-4095-AADD-C7EC70E8242F}" presName="sibTrans" presStyleCnt="0"/>
      <dgm:spPr/>
    </dgm:pt>
    <dgm:pt modelId="{DE5A94B7-0A4C-4115-8906-33A23190CAF4}" type="pres">
      <dgm:prSet presAssocID="{8D741622-12DE-4F45-B700-176EE51A018B}" presName="composite" presStyleCnt="0"/>
      <dgm:spPr/>
    </dgm:pt>
    <dgm:pt modelId="{91A308DB-B3EB-49D8-9306-DB07FB79F1A7}" type="pres">
      <dgm:prSet presAssocID="{8D741622-12DE-4F45-B700-176EE51A018B}" presName="rect1" presStyleLbl="trAlignAcc1" presStyleIdx="4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EBE78F4-C4FB-4BB3-B586-9F621F5DDB7A}" type="pres">
      <dgm:prSet presAssocID="{8D741622-12DE-4F45-B700-176EE51A018B}" presName="rect2" presStyleLbl="fgImgPlace1" presStyleIdx="4" presStyleCnt="6"/>
      <dgm:spPr>
        <a:blipFill rotWithShape="1">
          <a:blip xmlns:r="http://schemas.openxmlformats.org/officeDocument/2006/relationships" r:embed="rId5"/>
          <a:stretch>
            <a:fillRect/>
          </a:stretch>
        </a:blipFill>
      </dgm:spPr>
    </dgm:pt>
    <dgm:pt modelId="{4AD61027-64CB-4058-8270-A4E5BAB017DC}" type="pres">
      <dgm:prSet presAssocID="{FD02453D-2912-4FB3-A316-83F5E6A4C33E}" presName="sibTrans" presStyleCnt="0"/>
      <dgm:spPr/>
    </dgm:pt>
    <dgm:pt modelId="{D2B5BFA3-2457-4E9B-9821-EFD3021845B2}" type="pres">
      <dgm:prSet presAssocID="{9C37C175-64A4-4A38-AB14-7DACA85938CB}" presName="composite" presStyleCnt="0"/>
      <dgm:spPr/>
    </dgm:pt>
    <dgm:pt modelId="{0ABA47BE-0E23-4804-87D4-58F7CA4D304E}" type="pres">
      <dgm:prSet presAssocID="{9C37C175-64A4-4A38-AB14-7DACA85938CB}" presName="rect1" presStyleLbl="trAlignAcc1" presStyleIdx="5" presStyleCnt="6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69DB1148-B3DF-4EC3-831D-740BAD25A99B}" type="pres">
      <dgm:prSet presAssocID="{9C37C175-64A4-4A38-AB14-7DACA85938CB}" presName="rect2" presStyleLbl="fgImgPlace1" presStyleIdx="5" presStyleCnt="6"/>
      <dgm:spPr>
        <a:blipFill rotWithShape="1">
          <a:blip xmlns:r="http://schemas.openxmlformats.org/officeDocument/2006/relationships" r:embed="rId6"/>
          <a:stretch>
            <a:fillRect/>
          </a:stretch>
        </a:blipFill>
      </dgm:spPr>
    </dgm:pt>
  </dgm:ptLst>
  <dgm:cxnLst>
    <dgm:cxn modelId="{CC0596C0-1A8A-49FD-9CA0-D23285772635}" type="presOf" srcId="{8D741622-12DE-4F45-B700-176EE51A018B}" destId="{91A308DB-B3EB-49D8-9306-DB07FB79F1A7}" srcOrd="0" destOrd="0" presId="urn:microsoft.com/office/officeart/2008/layout/PictureStrips"/>
    <dgm:cxn modelId="{701921B0-2D3D-4019-91EC-D7E355A8D835}" srcId="{B28BBE65-4915-43C4-B54D-4D2D9A29407B}" destId="{7BA1AFA3-7D1E-4102-8318-4E7D911CBCB6}" srcOrd="2" destOrd="0" parTransId="{CE35D5E4-809C-4B1D-AA21-F45FD9F0E563}" sibTransId="{3EB44152-3AD3-46C0-9078-411F50CC4E2F}"/>
    <dgm:cxn modelId="{F6D9ACA7-14F0-4962-9150-EBC0D985FE61}" srcId="{B28BBE65-4915-43C4-B54D-4D2D9A29407B}" destId="{8D741622-12DE-4F45-B700-176EE51A018B}" srcOrd="4" destOrd="0" parTransId="{AB34F31A-C96A-4B6F-9961-C14AF3E6D7DE}" sibTransId="{FD02453D-2912-4FB3-A316-83F5E6A4C33E}"/>
    <dgm:cxn modelId="{DC83D863-7FC9-47AA-8E2D-D40B6515565E}" srcId="{B28BBE65-4915-43C4-B54D-4D2D9A29407B}" destId="{35493819-2ED5-452B-8B46-1C6958E2EDC5}" srcOrd="3" destOrd="0" parTransId="{1CDE30FF-5592-448D-89EA-2B021880D291}" sibTransId="{0C49AE5B-90C9-4095-AADD-C7EC70E8242F}"/>
    <dgm:cxn modelId="{068ECCAA-9217-43E0-91C1-E588E8734095}" type="presOf" srcId="{B28BBE65-4915-43C4-B54D-4D2D9A29407B}" destId="{05F611BF-547E-49C0-BC7A-312909504C97}" srcOrd="0" destOrd="0" presId="urn:microsoft.com/office/officeart/2008/layout/PictureStrips"/>
    <dgm:cxn modelId="{01669892-3A54-48CC-86CF-389AAA888C49}" type="presOf" srcId="{35493819-2ED5-452B-8B46-1C6958E2EDC5}" destId="{29524CF0-06A7-478C-9A59-F9368B601702}" srcOrd="0" destOrd="0" presId="urn:microsoft.com/office/officeart/2008/layout/PictureStrips"/>
    <dgm:cxn modelId="{DB43AADB-F835-461B-9546-E3F9F0D9ADF9}" type="presOf" srcId="{C4F5323F-6855-4D96-B5E6-A539415EF687}" destId="{3F5ADE2B-17E8-4196-B390-12457BA2D9B0}" srcOrd="0" destOrd="0" presId="urn:microsoft.com/office/officeart/2008/layout/PictureStrips"/>
    <dgm:cxn modelId="{A93E6E99-9610-42A5-A341-0D12E95F13F8}" srcId="{B28BBE65-4915-43C4-B54D-4D2D9A29407B}" destId="{C4F5323F-6855-4D96-B5E6-A539415EF687}" srcOrd="0" destOrd="0" parTransId="{D78034F9-81F0-4768-832B-97AB7E320C21}" sibTransId="{0D897BE4-E5F5-4DAE-936E-66DDD2717DEB}"/>
    <dgm:cxn modelId="{CC5053DF-5E7F-4CB5-913D-A853E3701032}" type="presOf" srcId="{7BA1AFA3-7D1E-4102-8318-4E7D911CBCB6}" destId="{D445DFD1-0EE9-4032-A6AA-3C3F02D40D09}" srcOrd="0" destOrd="0" presId="urn:microsoft.com/office/officeart/2008/layout/PictureStrips"/>
    <dgm:cxn modelId="{4090B3CB-91BA-48D6-A075-43426F215F4C}" type="presOf" srcId="{9C37C175-64A4-4A38-AB14-7DACA85938CB}" destId="{0ABA47BE-0E23-4804-87D4-58F7CA4D304E}" srcOrd="0" destOrd="0" presId="urn:microsoft.com/office/officeart/2008/layout/PictureStrips"/>
    <dgm:cxn modelId="{13FC2015-3A53-488A-85A9-469C3D58E830}" srcId="{B28BBE65-4915-43C4-B54D-4D2D9A29407B}" destId="{33EE13CA-D705-400D-8E15-2ECAB19180C1}" srcOrd="1" destOrd="0" parTransId="{5BB8AE56-A6C4-455E-87B6-6AF2FB66CDB0}" sibTransId="{75DF10FD-1638-4ED0-8E47-ABBFC4EC6778}"/>
    <dgm:cxn modelId="{0F9297DE-EB39-46CB-815C-C447AB9C686D}" type="presOf" srcId="{33EE13CA-D705-400D-8E15-2ECAB19180C1}" destId="{852A03C2-BC8B-425B-B2FA-9B8381E3888A}" srcOrd="0" destOrd="0" presId="urn:microsoft.com/office/officeart/2008/layout/PictureStrips"/>
    <dgm:cxn modelId="{13379389-F0C7-40F1-81F7-F3D7C30DFDA0}" srcId="{B28BBE65-4915-43C4-B54D-4D2D9A29407B}" destId="{9C37C175-64A4-4A38-AB14-7DACA85938CB}" srcOrd="5" destOrd="0" parTransId="{C2BED86A-DC3A-444E-822F-50B57EFD63D0}" sibTransId="{B2763792-3894-4D6D-AA38-AE1ECDFB1E7E}"/>
    <dgm:cxn modelId="{66535370-553E-40E9-A829-15A025C10399}" type="presParOf" srcId="{05F611BF-547E-49C0-BC7A-312909504C97}" destId="{8B84A4A6-2BBF-47ED-AD5A-6FED90F3789E}" srcOrd="0" destOrd="0" presId="urn:microsoft.com/office/officeart/2008/layout/PictureStrips"/>
    <dgm:cxn modelId="{B9BFD0C8-4148-443F-9FD4-728FB7B22974}" type="presParOf" srcId="{8B84A4A6-2BBF-47ED-AD5A-6FED90F3789E}" destId="{3F5ADE2B-17E8-4196-B390-12457BA2D9B0}" srcOrd="0" destOrd="0" presId="urn:microsoft.com/office/officeart/2008/layout/PictureStrips"/>
    <dgm:cxn modelId="{AD116488-E37B-421C-8327-410B5576419B}" type="presParOf" srcId="{8B84A4A6-2BBF-47ED-AD5A-6FED90F3789E}" destId="{274A7A32-7005-4C68-81A6-9DE426A524AE}" srcOrd="1" destOrd="0" presId="urn:microsoft.com/office/officeart/2008/layout/PictureStrips"/>
    <dgm:cxn modelId="{66BE1C53-B11E-41A8-85FE-D8977988C9B8}" type="presParOf" srcId="{05F611BF-547E-49C0-BC7A-312909504C97}" destId="{7E728463-1D5A-407E-991E-938AC6D01ACD}" srcOrd="1" destOrd="0" presId="urn:microsoft.com/office/officeart/2008/layout/PictureStrips"/>
    <dgm:cxn modelId="{593B42EF-FE24-47DC-9291-F309B6ECC90A}" type="presParOf" srcId="{05F611BF-547E-49C0-BC7A-312909504C97}" destId="{A2A3384F-4F57-461B-82C4-EF218E971912}" srcOrd="2" destOrd="0" presId="urn:microsoft.com/office/officeart/2008/layout/PictureStrips"/>
    <dgm:cxn modelId="{FFC072B1-4F4E-46B7-8845-5897BD86CEC9}" type="presParOf" srcId="{A2A3384F-4F57-461B-82C4-EF218E971912}" destId="{852A03C2-BC8B-425B-B2FA-9B8381E3888A}" srcOrd="0" destOrd="0" presId="urn:microsoft.com/office/officeart/2008/layout/PictureStrips"/>
    <dgm:cxn modelId="{B90325EB-09EC-4AA7-916A-BF58E9B8CB9F}" type="presParOf" srcId="{A2A3384F-4F57-461B-82C4-EF218E971912}" destId="{86DFA7B8-C857-45C7-A750-2021B1D09C0F}" srcOrd="1" destOrd="0" presId="urn:microsoft.com/office/officeart/2008/layout/PictureStrips"/>
    <dgm:cxn modelId="{1517808C-A4E9-4F56-B119-BA68F627787C}" type="presParOf" srcId="{05F611BF-547E-49C0-BC7A-312909504C97}" destId="{BD81F7C5-5BFC-452D-A063-5CC3D127718B}" srcOrd="3" destOrd="0" presId="urn:microsoft.com/office/officeart/2008/layout/PictureStrips"/>
    <dgm:cxn modelId="{9C404E15-41A1-4441-888A-8A9E6A1E1E78}" type="presParOf" srcId="{05F611BF-547E-49C0-BC7A-312909504C97}" destId="{E1110977-B414-48CD-AE32-4217CCFF51AC}" srcOrd="4" destOrd="0" presId="urn:microsoft.com/office/officeart/2008/layout/PictureStrips"/>
    <dgm:cxn modelId="{648F7645-ACDD-46F8-9B0F-FAB28E57C101}" type="presParOf" srcId="{E1110977-B414-48CD-AE32-4217CCFF51AC}" destId="{D445DFD1-0EE9-4032-A6AA-3C3F02D40D09}" srcOrd="0" destOrd="0" presId="urn:microsoft.com/office/officeart/2008/layout/PictureStrips"/>
    <dgm:cxn modelId="{863C0239-EF18-4AA0-98D6-546C30C57274}" type="presParOf" srcId="{E1110977-B414-48CD-AE32-4217CCFF51AC}" destId="{5ADD2B6E-BF5F-4C30-A054-D6988CA010E9}" srcOrd="1" destOrd="0" presId="urn:microsoft.com/office/officeart/2008/layout/PictureStrips"/>
    <dgm:cxn modelId="{1B9A3419-DA67-4C06-9D80-DCCAAF95E2D1}" type="presParOf" srcId="{05F611BF-547E-49C0-BC7A-312909504C97}" destId="{A6AF4723-C572-4DCC-B686-FEECBD012985}" srcOrd="5" destOrd="0" presId="urn:microsoft.com/office/officeart/2008/layout/PictureStrips"/>
    <dgm:cxn modelId="{8BCDAA64-C885-43DC-89F5-8981AE8F6822}" type="presParOf" srcId="{05F611BF-547E-49C0-BC7A-312909504C97}" destId="{C4E24B3E-EFB0-4009-84AE-EF7AA28E7B23}" srcOrd="6" destOrd="0" presId="urn:microsoft.com/office/officeart/2008/layout/PictureStrips"/>
    <dgm:cxn modelId="{2A14F6A9-1D31-4FE6-AA97-BEDA9237C395}" type="presParOf" srcId="{C4E24B3E-EFB0-4009-84AE-EF7AA28E7B23}" destId="{29524CF0-06A7-478C-9A59-F9368B601702}" srcOrd="0" destOrd="0" presId="urn:microsoft.com/office/officeart/2008/layout/PictureStrips"/>
    <dgm:cxn modelId="{F7934B59-BB90-4A2B-BB66-43A653902613}" type="presParOf" srcId="{C4E24B3E-EFB0-4009-84AE-EF7AA28E7B23}" destId="{B8482908-7174-4378-88E6-2F77AB7F3D99}" srcOrd="1" destOrd="0" presId="urn:microsoft.com/office/officeart/2008/layout/PictureStrips"/>
    <dgm:cxn modelId="{226740C9-DBC3-4670-B1E9-589944B5CE93}" type="presParOf" srcId="{05F611BF-547E-49C0-BC7A-312909504C97}" destId="{C8F530D1-450C-4C8A-BD49-14FFCB8F1FE7}" srcOrd="7" destOrd="0" presId="urn:microsoft.com/office/officeart/2008/layout/PictureStrips"/>
    <dgm:cxn modelId="{A4C33A8B-295B-4D0D-8BA5-D94C7FF6BEF5}" type="presParOf" srcId="{05F611BF-547E-49C0-BC7A-312909504C97}" destId="{DE5A94B7-0A4C-4115-8906-33A23190CAF4}" srcOrd="8" destOrd="0" presId="urn:microsoft.com/office/officeart/2008/layout/PictureStrips"/>
    <dgm:cxn modelId="{5C9ECD1B-15A0-4829-A36C-F8BCDFECA8DC}" type="presParOf" srcId="{DE5A94B7-0A4C-4115-8906-33A23190CAF4}" destId="{91A308DB-B3EB-49D8-9306-DB07FB79F1A7}" srcOrd="0" destOrd="0" presId="urn:microsoft.com/office/officeart/2008/layout/PictureStrips"/>
    <dgm:cxn modelId="{38CA3B1F-F22C-4C0F-BC2F-58FF6EE23562}" type="presParOf" srcId="{DE5A94B7-0A4C-4115-8906-33A23190CAF4}" destId="{5EBE78F4-C4FB-4BB3-B586-9F621F5DDB7A}" srcOrd="1" destOrd="0" presId="urn:microsoft.com/office/officeart/2008/layout/PictureStrips"/>
    <dgm:cxn modelId="{58EBDFC6-EA93-4BDD-9C2A-7C573E5BEC7B}" type="presParOf" srcId="{05F611BF-547E-49C0-BC7A-312909504C97}" destId="{4AD61027-64CB-4058-8270-A4E5BAB017DC}" srcOrd="9" destOrd="0" presId="urn:microsoft.com/office/officeart/2008/layout/PictureStrips"/>
    <dgm:cxn modelId="{9DBD4746-9DDC-4473-B8E5-DF4DDD8C30EA}" type="presParOf" srcId="{05F611BF-547E-49C0-BC7A-312909504C97}" destId="{D2B5BFA3-2457-4E9B-9821-EFD3021845B2}" srcOrd="10" destOrd="0" presId="urn:microsoft.com/office/officeart/2008/layout/PictureStrips"/>
    <dgm:cxn modelId="{13E64514-43CA-48EB-AEB8-771CE586D60A}" type="presParOf" srcId="{D2B5BFA3-2457-4E9B-9821-EFD3021845B2}" destId="{0ABA47BE-0E23-4804-87D4-58F7CA4D304E}" srcOrd="0" destOrd="0" presId="urn:microsoft.com/office/officeart/2008/layout/PictureStrips"/>
    <dgm:cxn modelId="{7096CF1B-DE69-41CE-A174-BD15B4E943A7}" type="presParOf" srcId="{D2B5BFA3-2457-4E9B-9821-EFD3021845B2}" destId="{69DB1148-B3DF-4EC3-831D-740BAD25A99B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ADE2B-17E8-4196-B390-12457BA2D9B0}">
      <dsp:nvSpPr>
        <dsp:cNvPr id="0" name=""/>
        <dsp:cNvSpPr/>
      </dsp:nvSpPr>
      <dsp:spPr>
        <a:xfrm>
          <a:off x="795730" y="194293"/>
          <a:ext cx="3340872" cy="104402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7151" tIns="41910" rIns="41910" bIns="41910" numCol="1" spcCol="1270" anchor="ctr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50" b="1" kern="1200" spc="-10" dirty="0" smtClean="0">
              <a:solidFill>
                <a:srgbClr val="262626"/>
              </a:solidFill>
              <a:cs typeface="Source Sans Pro"/>
            </a:rPr>
            <a:t>Google: </a:t>
          </a:r>
          <a:r>
            <a:rPr lang="es-PE" sz="1050" kern="1200" spc="-10" dirty="0" smtClean="0">
              <a:solidFill>
                <a:srgbClr val="262626"/>
              </a:solidFill>
              <a:cs typeface="Source Sans Pro"/>
            </a:rPr>
            <a:t>Organizar la información del mundo y hacerla universalmente accesible y útil.</a:t>
          </a:r>
          <a:endParaRPr lang="es-ES" sz="1050" kern="1200" dirty="0"/>
        </a:p>
      </dsp:txBody>
      <dsp:txXfrm>
        <a:off x="795730" y="194293"/>
        <a:ext cx="3340872" cy="1044022"/>
      </dsp:txXfrm>
    </dsp:sp>
    <dsp:sp modelId="{274A7A32-7005-4C68-81A6-9DE426A524AE}">
      <dsp:nvSpPr>
        <dsp:cNvPr id="0" name=""/>
        <dsp:cNvSpPr/>
      </dsp:nvSpPr>
      <dsp:spPr>
        <a:xfrm>
          <a:off x="656527" y="43490"/>
          <a:ext cx="730815" cy="1096223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A03C2-BC8B-425B-B2FA-9B8381E3888A}">
      <dsp:nvSpPr>
        <dsp:cNvPr id="0" name=""/>
        <dsp:cNvSpPr/>
      </dsp:nvSpPr>
      <dsp:spPr>
        <a:xfrm>
          <a:off x="4437150" y="194293"/>
          <a:ext cx="3340872" cy="104402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7151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b="1" kern="1200" spc="-10" dirty="0" smtClean="0">
              <a:solidFill>
                <a:srgbClr val="262626"/>
              </a:solidFill>
              <a:cs typeface="Source Sans Pro"/>
            </a:rPr>
            <a:t>Tottus: </a:t>
          </a:r>
          <a:r>
            <a:rPr lang="es-419" sz="1100" b="0" i="0" kern="1200" dirty="0" smtClean="0"/>
            <a:t>Ahorrarles dinero a las familias para que vivan mejor</a:t>
          </a:r>
          <a:endParaRPr lang="es-ES" sz="1100" kern="1200" dirty="0"/>
        </a:p>
      </dsp:txBody>
      <dsp:txXfrm>
        <a:off x="4437150" y="194293"/>
        <a:ext cx="3340872" cy="1044022"/>
      </dsp:txXfrm>
    </dsp:sp>
    <dsp:sp modelId="{86DFA7B8-C857-45C7-A750-2021B1D09C0F}">
      <dsp:nvSpPr>
        <dsp:cNvPr id="0" name=""/>
        <dsp:cNvSpPr/>
      </dsp:nvSpPr>
      <dsp:spPr>
        <a:xfrm>
          <a:off x="4297947" y="43490"/>
          <a:ext cx="730815" cy="1096223"/>
        </a:xfrm>
        <a:prstGeom prst="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45DFD1-0EE9-4032-A6AA-3C3F02D40D09}">
      <dsp:nvSpPr>
        <dsp:cNvPr id="0" name=""/>
        <dsp:cNvSpPr/>
      </dsp:nvSpPr>
      <dsp:spPr>
        <a:xfrm>
          <a:off x="795730" y="1508602"/>
          <a:ext cx="3340872" cy="104402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7151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100" b="1" kern="1200" spc="-10" dirty="0" smtClean="0">
              <a:solidFill>
                <a:srgbClr val="262626"/>
              </a:solidFill>
              <a:cs typeface="Source Sans Pro"/>
            </a:rPr>
            <a:t>SODIMAC: </a:t>
          </a:r>
          <a:r>
            <a:rPr lang="es-419" sz="1100" b="0" i="0" kern="1200" dirty="0" smtClean="0"/>
            <a:t>Desarrollarnos con innovación y sostenibilidad, ofreciendo los mejores productos, servicios y asesoría al mejor precio del mercado, para inspirar y construir los sueños y proyectos de nuestros clientes</a:t>
          </a:r>
          <a:endParaRPr lang="es-ES" sz="1100" kern="1200" dirty="0"/>
        </a:p>
      </dsp:txBody>
      <dsp:txXfrm>
        <a:off x="795730" y="1508602"/>
        <a:ext cx="3340872" cy="1044022"/>
      </dsp:txXfrm>
    </dsp:sp>
    <dsp:sp modelId="{5ADD2B6E-BF5F-4C30-A054-D6988CA010E9}">
      <dsp:nvSpPr>
        <dsp:cNvPr id="0" name=""/>
        <dsp:cNvSpPr/>
      </dsp:nvSpPr>
      <dsp:spPr>
        <a:xfrm>
          <a:off x="656527" y="1357798"/>
          <a:ext cx="730815" cy="1096223"/>
        </a:xfrm>
        <a:prstGeom prst="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24CF0-06A7-478C-9A59-F9368B601702}">
      <dsp:nvSpPr>
        <dsp:cNvPr id="0" name=""/>
        <dsp:cNvSpPr/>
      </dsp:nvSpPr>
      <dsp:spPr>
        <a:xfrm>
          <a:off x="4437150" y="1508602"/>
          <a:ext cx="3340872" cy="104402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7151" tIns="41910" rIns="41910" bIns="41910" numCol="1" spcCol="1270" anchor="ctr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50" b="1" kern="1200" spc="-10" dirty="0" smtClean="0">
              <a:solidFill>
                <a:srgbClr val="262626"/>
              </a:solidFill>
              <a:cs typeface="Source Sans Pro"/>
            </a:rPr>
            <a:t>Universidad de Lima: </a:t>
          </a:r>
          <a:r>
            <a:rPr lang="es-419" sz="1050" b="0" i="0" kern="1200" dirty="0" smtClean="0"/>
            <a:t>Formamos profesionales líderes y creativos; ciudadanos autónomos reconocidos por sus méritos y comprometidos con el bienestar de la sociedad.</a:t>
          </a:r>
          <a:endParaRPr lang="es-ES" sz="1050" kern="1200" dirty="0"/>
        </a:p>
      </dsp:txBody>
      <dsp:txXfrm>
        <a:off x="4437150" y="1508602"/>
        <a:ext cx="3340872" cy="1044022"/>
      </dsp:txXfrm>
    </dsp:sp>
    <dsp:sp modelId="{B8482908-7174-4378-88E6-2F77AB7F3D99}">
      <dsp:nvSpPr>
        <dsp:cNvPr id="0" name=""/>
        <dsp:cNvSpPr/>
      </dsp:nvSpPr>
      <dsp:spPr>
        <a:xfrm>
          <a:off x="4297947" y="1357798"/>
          <a:ext cx="730815" cy="1096223"/>
        </a:xfrm>
        <a:prstGeom prst="rect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A308DB-B3EB-49D8-9306-DB07FB79F1A7}">
      <dsp:nvSpPr>
        <dsp:cNvPr id="0" name=""/>
        <dsp:cNvSpPr/>
      </dsp:nvSpPr>
      <dsp:spPr>
        <a:xfrm>
          <a:off x="795730" y="2822910"/>
          <a:ext cx="3340872" cy="104402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7151" tIns="38100" rIns="38100" bIns="3810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419" sz="1000" b="1" i="0" kern="1200" dirty="0" smtClean="0"/>
            <a:t>ISIL: </a:t>
          </a:r>
          <a:r>
            <a:rPr lang="es-419" sz="1000" b="0" i="0" kern="1200" dirty="0" smtClean="0"/>
            <a:t>La experiencia ISIL es la de una institución que brinda conocimientos, competencias y valores propios de una educación de avanzada, congruente con el mercado mediante el desarrollo de la creatividad, de la tecnología, del éxito empresarial y la educación para el trabajo.</a:t>
          </a:r>
          <a:endParaRPr lang="es-ES" sz="1000" kern="1200" dirty="0"/>
        </a:p>
      </dsp:txBody>
      <dsp:txXfrm>
        <a:off x="795730" y="2822910"/>
        <a:ext cx="3340872" cy="1044022"/>
      </dsp:txXfrm>
    </dsp:sp>
    <dsp:sp modelId="{5EBE78F4-C4FB-4BB3-B586-9F621F5DDB7A}">
      <dsp:nvSpPr>
        <dsp:cNvPr id="0" name=""/>
        <dsp:cNvSpPr/>
      </dsp:nvSpPr>
      <dsp:spPr>
        <a:xfrm>
          <a:off x="656527" y="2672107"/>
          <a:ext cx="730815" cy="1096223"/>
        </a:xfrm>
        <a:prstGeom prst="rect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A47BE-0E23-4804-87D4-58F7CA4D304E}">
      <dsp:nvSpPr>
        <dsp:cNvPr id="0" name=""/>
        <dsp:cNvSpPr/>
      </dsp:nvSpPr>
      <dsp:spPr>
        <a:xfrm>
          <a:off x="4437150" y="2822910"/>
          <a:ext cx="3340872" cy="104402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7151" tIns="38100" rIns="38100" bIns="3810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b="1" kern="1200" spc="-10" dirty="0" smtClean="0">
              <a:solidFill>
                <a:srgbClr val="262626"/>
              </a:solidFill>
              <a:cs typeface="Source Sans Pro"/>
            </a:rPr>
            <a:t>ALICORP: </a:t>
          </a:r>
          <a:r>
            <a:rPr lang="es-PE" sz="1000" kern="1200" spc="-10" dirty="0" smtClean="0">
              <a:solidFill>
                <a:srgbClr val="262626"/>
              </a:solidFill>
              <a:cs typeface="Source Sans Pro"/>
            </a:rPr>
            <a:t>Transformamos </a:t>
          </a:r>
          <a:r>
            <a:rPr lang="es-419" sz="1000" b="0" i="0" kern="1200" dirty="0" smtClean="0"/>
            <a:t>mercados a través de nuestras marcas líderes, generando experiencias extraordinarias en nuestros consumidores. Buscamos innovar constantemente para generar valor y bienestar en la sociedad</a:t>
          </a:r>
          <a:endParaRPr lang="es-ES" sz="1000" kern="1200" dirty="0"/>
        </a:p>
      </dsp:txBody>
      <dsp:txXfrm>
        <a:off x="4437150" y="2822910"/>
        <a:ext cx="3340872" cy="1044022"/>
      </dsp:txXfrm>
    </dsp:sp>
    <dsp:sp modelId="{69DB1148-B3DF-4EC3-831D-740BAD25A99B}">
      <dsp:nvSpPr>
        <dsp:cNvPr id="0" name=""/>
        <dsp:cNvSpPr/>
      </dsp:nvSpPr>
      <dsp:spPr>
        <a:xfrm>
          <a:off x="4297947" y="2672107"/>
          <a:ext cx="730815" cy="1096223"/>
        </a:xfrm>
        <a:prstGeom prst="rect">
          <a:avLst/>
        </a:prstGeom>
        <a:blipFill rotWithShape="1">
          <a:blip xmlns:r="http://schemas.openxmlformats.org/officeDocument/2006/relationships" r:embed="rId6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ADE2B-17E8-4196-B390-12457BA2D9B0}">
      <dsp:nvSpPr>
        <dsp:cNvPr id="0" name=""/>
        <dsp:cNvSpPr/>
      </dsp:nvSpPr>
      <dsp:spPr>
        <a:xfrm>
          <a:off x="808219" y="192243"/>
          <a:ext cx="3329011" cy="104031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641" tIns="41910" rIns="41910" bIns="41910" numCol="1" spcCol="1270" anchor="ctr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50" b="1" kern="1200" spc="-10" dirty="0" smtClean="0">
              <a:solidFill>
                <a:srgbClr val="262626"/>
              </a:solidFill>
              <a:cs typeface="Source Sans Pro"/>
            </a:rPr>
            <a:t>Google: </a:t>
          </a:r>
          <a:r>
            <a:rPr lang="es-PE" sz="1050" kern="1200" spc="-10" dirty="0" smtClean="0">
              <a:solidFill>
                <a:srgbClr val="262626"/>
              </a:solidFill>
              <a:cs typeface="Source Sans Pro"/>
            </a:rPr>
            <a:t>Ser el más prestigioso motor de búsqueda, y el más importante del mundo.</a:t>
          </a:r>
          <a:endParaRPr lang="es-ES" sz="1050" kern="1200" dirty="0"/>
        </a:p>
      </dsp:txBody>
      <dsp:txXfrm>
        <a:off x="808219" y="192243"/>
        <a:ext cx="3329011" cy="1040316"/>
      </dsp:txXfrm>
    </dsp:sp>
    <dsp:sp modelId="{274A7A32-7005-4C68-81A6-9DE426A524AE}">
      <dsp:nvSpPr>
        <dsp:cNvPr id="0" name=""/>
        <dsp:cNvSpPr/>
      </dsp:nvSpPr>
      <dsp:spPr>
        <a:xfrm>
          <a:off x="669510" y="41975"/>
          <a:ext cx="728221" cy="1092332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A03C2-BC8B-425B-B2FA-9B8381E3888A}">
      <dsp:nvSpPr>
        <dsp:cNvPr id="0" name=""/>
        <dsp:cNvSpPr/>
      </dsp:nvSpPr>
      <dsp:spPr>
        <a:xfrm>
          <a:off x="4436028" y="192243"/>
          <a:ext cx="3329011" cy="104031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641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" sz="1100" b="1" kern="1200" dirty="0" smtClean="0"/>
            <a:t>Tottus: </a:t>
          </a:r>
          <a:r>
            <a:rPr lang="es-419" sz="1100" b="0" i="0" kern="1200" dirty="0" smtClean="0"/>
            <a:t>Somos líderes en cada mercado donde competimos por ofrecer el lugar preferido para comprar y trabajar.</a:t>
          </a:r>
          <a:endParaRPr lang="es-ES" sz="1100" b="1" kern="1200" dirty="0"/>
        </a:p>
      </dsp:txBody>
      <dsp:txXfrm>
        <a:off x="4436028" y="192243"/>
        <a:ext cx="3329011" cy="1040316"/>
      </dsp:txXfrm>
    </dsp:sp>
    <dsp:sp modelId="{86DFA7B8-C857-45C7-A750-2021B1D09C0F}">
      <dsp:nvSpPr>
        <dsp:cNvPr id="0" name=""/>
        <dsp:cNvSpPr/>
      </dsp:nvSpPr>
      <dsp:spPr>
        <a:xfrm>
          <a:off x="4297319" y="41975"/>
          <a:ext cx="728221" cy="1092332"/>
        </a:xfrm>
        <a:prstGeom prst="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45DFD1-0EE9-4032-A6AA-3C3F02D40D09}">
      <dsp:nvSpPr>
        <dsp:cNvPr id="0" name=""/>
        <dsp:cNvSpPr/>
      </dsp:nvSpPr>
      <dsp:spPr>
        <a:xfrm>
          <a:off x="808219" y="1501885"/>
          <a:ext cx="3329011" cy="104031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641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100" b="1" kern="1200" spc="-10" dirty="0" smtClean="0">
              <a:solidFill>
                <a:srgbClr val="262626"/>
              </a:solidFill>
              <a:cs typeface="Source Sans Pro"/>
            </a:rPr>
            <a:t>SODIMAC: </a:t>
          </a:r>
          <a:r>
            <a:rPr lang="es-419" sz="1100" b="0" i="0" kern="1200" dirty="0" smtClean="0"/>
            <a:t>Ser la empresa líder de proyectos para el hogar y construcción que mejorando la calidad de vida, sea la más querida, admirada y respetada por la comunidad, clientes, asociados y proveedores en América</a:t>
          </a:r>
          <a:endParaRPr lang="es-ES" sz="1100" kern="1200" dirty="0"/>
        </a:p>
      </dsp:txBody>
      <dsp:txXfrm>
        <a:off x="808219" y="1501885"/>
        <a:ext cx="3329011" cy="1040316"/>
      </dsp:txXfrm>
    </dsp:sp>
    <dsp:sp modelId="{5ADD2B6E-BF5F-4C30-A054-D6988CA010E9}">
      <dsp:nvSpPr>
        <dsp:cNvPr id="0" name=""/>
        <dsp:cNvSpPr/>
      </dsp:nvSpPr>
      <dsp:spPr>
        <a:xfrm>
          <a:off x="669510" y="1351617"/>
          <a:ext cx="728221" cy="1092332"/>
        </a:xfrm>
        <a:prstGeom prst="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24CF0-06A7-478C-9A59-F9368B601702}">
      <dsp:nvSpPr>
        <dsp:cNvPr id="0" name=""/>
        <dsp:cNvSpPr/>
      </dsp:nvSpPr>
      <dsp:spPr>
        <a:xfrm>
          <a:off x="4436028" y="1501885"/>
          <a:ext cx="3329011" cy="104031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641" tIns="41910" rIns="41910" bIns="41910" numCol="1" spcCol="1270" anchor="ctr" anchorCtr="0">
          <a:noAutofit/>
        </a:bodyPr>
        <a:lstStyle/>
        <a:p>
          <a:pPr lvl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50" b="1" kern="1200" spc="-10" dirty="0" smtClean="0">
              <a:solidFill>
                <a:srgbClr val="262626"/>
              </a:solidFill>
              <a:cs typeface="Source Sans Pro"/>
            </a:rPr>
            <a:t>Universidad de Lima: </a:t>
          </a:r>
          <a:r>
            <a:rPr lang="es-419" sz="1050" b="0" i="0" kern="1200" dirty="0" smtClean="0"/>
            <a:t>Destacamos en Latinoamérica por nuestra calidad académica, por el impacto de nuestras investigaciones y por el aporte a la construcción de un mundo mejor.</a:t>
          </a:r>
          <a:endParaRPr lang="es-ES" sz="1050" kern="1200" dirty="0"/>
        </a:p>
      </dsp:txBody>
      <dsp:txXfrm>
        <a:off x="4436028" y="1501885"/>
        <a:ext cx="3329011" cy="1040316"/>
      </dsp:txXfrm>
    </dsp:sp>
    <dsp:sp modelId="{B8482908-7174-4378-88E6-2F77AB7F3D99}">
      <dsp:nvSpPr>
        <dsp:cNvPr id="0" name=""/>
        <dsp:cNvSpPr/>
      </dsp:nvSpPr>
      <dsp:spPr>
        <a:xfrm>
          <a:off x="4297319" y="1351617"/>
          <a:ext cx="728221" cy="1092332"/>
        </a:xfrm>
        <a:prstGeom prst="rect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A308DB-B3EB-49D8-9306-DB07FB79F1A7}">
      <dsp:nvSpPr>
        <dsp:cNvPr id="0" name=""/>
        <dsp:cNvSpPr/>
      </dsp:nvSpPr>
      <dsp:spPr>
        <a:xfrm>
          <a:off x="808219" y="2811528"/>
          <a:ext cx="3329011" cy="104031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641" tIns="41910" rIns="41910" bIns="41910" numCol="1" spcCol="1270" anchor="ctr" anchorCtr="0">
          <a:noAutofit/>
        </a:bodyPr>
        <a:lstStyle/>
        <a:p>
          <a:pPr lvl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419" sz="1100" b="1" i="0" kern="1200" dirty="0" smtClean="0"/>
            <a:t>ISIL: </a:t>
          </a:r>
          <a:r>
            <a:rPr lang="es-419" sz="1100" b="0" i="0" kern="1200" dirty="0" smtClean="0"/>
            <a:t>Ser el modelo educativo alternativo e innovador en la formación de profesionales de éxito.</a:t>
          </a:r>
          <a:endParaRPr lang="es-ES" sz="1100" kern="1200" dirty="0"/>
        </a:p>
      </dsp:txBody>
      <dsp:txXfrm>
        <a:off x="808219" y="2811528"/>
        <a:ext cx="3329011" cy="1040316"/>
      </dsp:txXfrm>
    </dsp:sp>
    <dsp:sp modelId="{5EBE78F4-C4FB-4BB3-B586-9F621F5DDB7A}">
      <dsp:nvSpPr>
        <dsp:cNvPr id="0" name=""/>
        <dsp:cNvSpPr/>
      </dsp:nvSpPr>
      <dsp:spPr>
        <a:xfrm>
          <a:off x="669510" y="2661260"/>
          <a:ext cx="728221" cy="1092332"/>
        </a:xfrm>
        <a:prstGeom prst="rect">
          <a:avLst/>
        </a:prstGeom>
        <a:blipFill rotWithShape="1">
          <a:blip xmlns:r="http://schemas.openxmlformats.org/officeDocument/2006/relationships" r:embed="rId5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BA47BE-0E23-4804-87D4-58F7CA4D304E}">
      <dsp:nvSpPr>
        <dsp:cNvPr id="0" name=""/>
        <dsp:cNvSpPr/>
      </dsp:nvSpPr>
      <dsp:spPr>
        <a:xfrm>
          <a:off x="4436028" y="2811528"/>
          <a:ext cx="3329011" cy="104031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4641" tIns="45720" rIns="45720" bIns="4572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200" b="1" kern="1200" spc="-10" dirty="0" smtClean="0">
              <a:solidFill>
                <a:srgbClr val="262626"/>
              </a:solidFill>
              <a:cs typeface="Source Sans Pro"/>
            </a:rPr>
            <a:t>ALICORP: </a:t>
          </a:r>
          <a:r>
            <a:rPr lang="es-419" sz="1200" b="0" i="0" kern="1200" dirty="0" smtClean="0"/>
            <a:t>Ser líderes en los mercados en los que competimos.</a:t>
          </a:r>
          <a:endParaRPr lang="es-ES" sz="1200" kern="1200" dirty="0"/>
        </a:p>
      </dsp:txBody>
      <dsp:txXfrm>
        <a:off x="4436028" y="2811528"/>
        <a:ext cx="3329011" cy="1040316"/>
      </dsp:txXfrm>
    </dsp:sp>
    <dsp:sp modelId="{69DB1148-B3DF-4EC3-831D-740BAD25A99B}">
      <dsp:nvSpPr>
        <dsp:cNvPr id="0" name=""/>
        <dsp:cNvSpPr/>
      </dsp:nvSpPr>
      <dsp:spPr>
        <a:xfrm>
          <a:off x="4297319" y="2661260"/>
          <a:ext cx="728221" cy="1092332"/>
        </a:xfrm>
        <a:prstGeom prst="rect">
          <a:avLst/>
        </a:prstGeom>
        <a:blipFill rotWithShape="1">
          <a:blip xmlns:r="http://schemas.openxmlformats.org/officeDocument/2006/relationships" r:embed="rId6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09/05/2022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9/05/2022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846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43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2804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8305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6478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03817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92304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0736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5961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6314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060924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80214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040524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78221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59326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6317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71475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20081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8706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40039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208675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86790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99627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900795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61697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28247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41595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55360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8877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66474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15990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09857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381043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21449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9779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15716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37062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689030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83478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88551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24037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266432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84610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151565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317707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1270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31826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SISTEMA</a:t>
              </a:r>
              <a:r>
                <a:rPr lang="en-US" sz="800" kern="1200" baseline="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CONTROL Y GOBIERNO TI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01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207627" y="5384440"/>
              <a:ext cx="1540807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2020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60" r:id="rId4"/>
    <p:sldLayoutId id="2147483657" r:id="rId5"/>
    <p:sldLayoutId id="2147483658" r:id="rId6"/>
    <p:sldLayoutId id="2147483661" r:id="rId7"/>
    <p:sldLayoutId id="2147483659" r:id="rId8"/>
    <p:sldLayoutId id="2147483662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mprendepyme.net/auditoria" TargetMode="External"/><Relationship Id="rId3" Type="http://schemas.openxmlformats.org/officeDocument/2006/relationships/hyperlink" Target="https://www.marketingandweb.es/emprendedores-2/mision-vision-y-valores-de-una-empresa/" TargetMode="External"/><Relationship Id="rId7" Type="http://schemas.openxmlformats.org/officeDocument/2006/relationships/hyperlink" Target="https://www.ticportal.es/glosario-tic/gestion-proyectos" TargetMode="External"/><Relationship Id="rId12" Type="http://schemas.openxmlformats.org/officeDocument/2006/relationships/hyperlink" Target="https://branch.com.co/marketing-digital/que-es-benchmarking-y-para-que-sirve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hyperlink" Target="https://tecnologia-informatica.com/tipos-de-computadoras/" TargetMode="External"/><Relationship Id="rId11" Type="http://schemas.openxmlformats.org/officeDocument/2006/relationships/hyperlink" Target="https://www.creaciondeproyectos.com/stakeholders/" TargetMode="External"/><Relationship Id="rId5" Type="http://schemas.openxmlformats.org/officeDocument/2006/relationships/hyperlink" Target="https://www.myabcm.com/es/blog-post/descubra-las-diferencias-entre-capex-y-opex/" TargetMode="External"/><Relationship Id="rId10" Type="http://schemas.openxmlformats.org/officeDocument/2006/relationships/hyperlink" Target="https://www.webyempresas.com/diferencia-entre-eficacia-y-eficiencia/" TargetMode="External"/><Relationship Id="rId4" Type="http://schemas.openxmlformats.org/officeDocument/2006/relationships/hyperlink" Target="https://www.bibliotecadigital.ccb.org.co/bitstream/handle/11520/25657/Define%20la%20estrategia.pdf?sequence=1&amp;isAllowed=y" TargetMode="External"/><Relationship Id="rId9" Type="http://schemas.openxmlformats.org/officeDocument/2006/relationships/hyperlink" Target="https://www.emprendepyme.net/el-control-en-el-proceso-administrativo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/>
          <p:cNvSpPr txBox="1"/>
          <p:nvPr/>
        </p:nvSpPr>
        <p:spPr>
          <a:xfrm>
            <a:off x="417646" y="398388"/>
            <a:ext cx="873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SESIÓN</a:t>
            </a:r>
          </a:p>
        </p:txBody>
      </p:sp>
      <p:sp>
        <p:nvSpPr>
          <p:cNvPr id="6" name="CuadroTexto 5"/>
          <p:cNvSpPr txBox="1"/>
          <p:nvPr/>
        </p:nvSpPr>
        <p:spPr>
          <a:xfrm>
            <a:off x="380422" y="475914"/>
            <a:ext cx="964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800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426523" y="500669"/>
            <a:ext cx="7233258" cy="840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" sz="3000" b="1" dirty="0">
                <a:solidFill>
                  <a:srgbClr val="FFFFFF"/>
                </a:solidFill>
              </a:rPr>
              <a:t>CONCEPTOS </a:t>
            </a:r>
          </a:p>
          <a:p>
            <a:pPr>
              <a:lnSpc>
                <a:spcPct val="80000"/>
              </a:lnSpc>
            </a:pPr>
            <a:r>
              <a:rPr lang="es-ES" sz="3000" b="1" dirty="0">
                <a:solidFill>
                  <a:srgbClr val="FFFFFF"/>
                </a:solidFill>
              </a:rPr>
              <a:t>ORGANIZACIONALES I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589880" y="1837744"/>
            <a:ext cx="5026425" cy="2731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Misión y Visión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Estrategia empresarial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Capex y Opex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Proyectos y Operaciones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Control y Auditoría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Eficiencia y Eficacia 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Stakeholders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Áreas Core y Áreas de Soporte</a:t>
            </a:r>
          </a:p>
          <a:p>
            <a:pPr marL="285750" indent="-285750">
              <a:lnSpc>
                <a:spcPct val="120000"/>
              </a:lnSpc>
              <a:buSzPct val="80000"/>
              <a:buFont typeface="Wingdings" panose="05000000000000000000" pitchFamily="2" charset="2"/>
              <a:buChar char="ü"/>
            </a:pPr>
            <a:r>
              <a:rPr lang="es-ES" sz="1600" dirty="0">
                <a:solidFill>
                  <a:srgbClr val="FFFFFF"/>
                </a:solidFill>
              </a:rPr>
              <a:t>Benchmarking</a:t>
            </a:r>
          </a:p>
        </p:txBody>
      </p:sp>
      <p:cxnSp>
        <p:nvCxnSpPr>
          <p:cNvPr id="8" name="Conector recto 7"/>
          <p:cNvCxnSpPr/>
          <p:nvPr/>
        </p:nvCxnSpPr>
        <p:spPr>
          <a:xfrm>
            <a:off x="1385597" y="522202"/>
            <a:ext cx="0" cy="720031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/>
          <p:cNvSpPr/>
          <p:nvPr/>
        </p:nvSpPr>
        <p:spPr>
          <a:xfrm>
            <a:off x="417647" y="1492372"/>
            <a:ext cx="8345931" cy="1938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s-PE" sz="1400" b="1" dirty="0">
                <a:solidFill>
                  <a:srgbClr val="1F85A6"/>
                </a:solidFill>
                <a:cs typeface="Calibri"/>
              </a:rPr>
              <a:t>UNIDAD DE APRENDIZAJE: CONCEPTOS CLAVE PARA LA COMPRENSIÓN DE COBIT 2019</a:t>
            </a:r>
            <a:endParaRPr lang="es-PE" sz="1400" b="1" dirty="0">
              <a:solidFill>
                <a:srgbClr val="1F85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8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566B4764-7DFE-4C25-9FA9-B9060C9CF980}"/>
              </a:ext>
            </a:extLst>
          </p:cNvPr>
          <p:cNvSpPr txBox="1"/>
          <p:nvPr/>
        </p:nvSpPr>
        <p:spPr>
          <a:xfrm>
            <a:off x="538503" y="804093"/>
            <a:ext cx="8053954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 algn="just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En esta sesión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aprenderás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los conceptos fundamentales de una organización, como plantear adecuadamente la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misión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y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visión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, la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estrategia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empresarial, y sus inversiones de Capex y Opex.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 algn="just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Verás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las definiciones y diferencias sobre Proyectos y Operaciones, y los beneficios sobre el control y auditoría en las empresas.</a:t>
            </a:r>
          </a:p>
          <a:p>
            <a:pPr marL="180000" indent="-168275" algn="just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Comprenderás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cuál es la diferencia entre eficiencia y eficacia.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180000" indent="-168275" algn="just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Por último, evidenciaremos la importancia de las áreas core, las áreas de soporte y el </a:t>
            </a:r>
            <a:r>
              <a:rPr lang="es-PE" sz="1600" i="1" spc="-10" dirty="0" smtClean="0">
                <a:solidFill>
                  <a:srgbClr val="262626"/>
                </a:solidFill>
                <a:cs typeface="Source Sans Pro"/>
              </a:rPr>
              <a:t>benchmarking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en el entorno empresarial.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215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737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MISIÓN Y VISIÓN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781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MISIÓN Y VISIÓN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7646EE2-2A05-4661-9567-E6E3C687DCEC}"/>
              </a:ext>
            </a:extLst>
          </p:cNvPr>
          <p:cNvSpPr txBox="1"/>
          <p:nvPr/>
        </p:nvSpPr>
        <p:spPr>
          <a:xfrm>
            <a:off x="511342" y="834045"/>
            <a:ext cx="5091172" cy="2246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1. MISIÓN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PE" sz="1400" b="1" spc="-10" dirty="0">
              <a:solidFill>
                <a:srgbClr val="262626"/>
              </a:solidFill>
              <a:cs typeface="Source Sans Pro"/>
            </a:endParaRPr>
          </a:p>
          <a:p>
            <a:pPr marL="446088" indent="-168275" algn="just">
              <a:spcAft>
                <a:spcPts val="2400"/>
              </a:spcAft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 misión es una herramienta estratégica que sintetiza el motivo de ser de una organización, se trata de la razón fundamental de un negocio.</a:t>
            </a:r>
          </a:p>
          <a:p>
            <a:pPr marL="446088" indent="-168275" algn="just">
              <a:spcAft>
                <a:spcPts val="2400"/>
              </a:spcAft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 misión se enfoca en el presente y describe la actividad que realiza la organización en el “ahora” para conseguir el logro de su visión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pic>
        <p:nvPicPr>
          <p:cNvPr id="1026" name="Picture 2" descr="Misión, Visión y Valores | Municipalidad de Oreamuno">
            <a:extLst>
              <a:ext uri="{FF2B5EF4-FFF2-40B4-BE49-F238E27FC236}">
                <a16:creationId xmlns:a16="http://schemas.microsoft.com/office/drawing/2014/main" id="{E2C6D2D9-C44F-4426-934C-4C369ECA9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262" y="1458686"/>
            <a:ext cx="2890634" cy="296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redondeado 1"/>
          <p:cNvSpPr/>
          <p:nvPr/>
        </p:nvSpPr>
        <p:spPr>
          <a:xfrm>
            <a:off x="822960" y="4039070"/>
            <a:ext cx="4657634" cy="1073950"/>
          </a:xfrm>
          <a:prstGeom prst="roundRect">
            <a:avLst/>
          </a:prstGeom>
          <a:solidFill>
            <a:srgbClr val="ADE9FF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 sz="1200" dirty="0" smtClean="0"/>
          </a:p>
          <a:p>
            <a:pPr algn="ctr"/>
            <a:r>
              <a:rPr lang="es-419" sz="1600" b="1" dirty="0" smtClean="0">
                <a:solidFill>
                  <a:srgbClr val="C00000"/>
                </a:solidFill>
              </a:rPr>
              <a:t>La </a:t>
            </a:r>
            <a:r>
              <a:rPr lang="es-419" sz="1600" b="1" dirty="0">
                <a:solidFill>
                  <a:srgbClr val="C00000"/>
                </a:solidFill>
              </a:rPr>
              <a:t>misión define cuál es nuestra </a:t>
            </a:r>
            <a:r>
              <a:rPr lang="es-419" sz="1600" b="1" dirty="0" smtClean="0">
                <a:solidFill>
                  <a:srgbClr val="C00000"/>
                </a:solidFill>
              </a:rPr>
              <a:t>actividad </a:t>
            </a:r>
            <a:r>
              <a:rPr lang="es-419" sz="1600" b="1" dirty="0">
                <a:solidFill>
                  <a:srgbClr val="C00000"/>
                </a:solidFill>
              </a:rPr>
              <a:t>actual en el mercado, y a diferencia de la visión la misión es inmediata pues espera concretar el presente.</a:t>
            </a:r>
          </a:p>
          <a:p>
            <a:pPr algn="ctr"/>
            <a:endParaRPr lang="es-419" sz="1600" dirty="0"/>
          </a:p>
        </p:txBody>
      </p:sp>
      <p:sp>
        <p:nvSpPr>
          <p:cNvPr id="3" name="Rectángulo 2"/>
          <p:cNvSpPr/>
          <p:nvPr/>
        </p:nvSpPr>
        <p:spPr>
          <a:xfrm>
            <a:off x="379913" y="3390665"/>
            <a:ext cx="343017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6088" indent="-168275" algn="just">
              <a:spcAft>
                <a:spcPts val="2400"/>
              </a:spcAft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b="1" spc="-10" dirty="0">
                <a:solidFill>
                  <a:srgbClr val="0000FF"/>
                </a:solidFill>
                <a:cs typeface="Source Sans Pro"/>
              </a:rPr>
              <a:t>Para concluir podemos decir que:</a:t>
            </a:r>
          </a:p>
        </p:txBody>
      </p:sp>
    </p:spTree>
    <p:extLst>
      <p:ext uri="{BB962C8B-B14F-4D97-AF65-F5344CB8AC3E}">
        <p14:creationId xmlns:p14="http://schemas.microsoft.com/office/powerpoint/2010/main" val="99736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MISIÓN Y VISIÓN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4055AD6F-846C-4887-8710-7C5AED82F05C}"/>
              </a:ext>
            </a:extLst>
          </p:cNvPr>
          <p:cNvSpPr txBox="1"/>
          <p:nvPr/>
        </p:nvSpPr>
        <p:spPr>
          <a:xfrm>
            <a:off x="511342" y="826788"/>
            <a:ext cx="5294372" cy="39780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1. …MISIÓN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PE" sz="1050" b="1" spc="-10" dirty="0">
              <a:solidFill>
                <a:srgbClr val="262626"/>
              </a:solidFill>
              <a:cs typeface="Source Sans Pro"/>
            </a:endParaRPr>
          </a:p>
          <a:p>
            <a:pPr marL="180975">
              <a:buSzPct val="100000"/>
              <a:tabLst>
                <a:tab pos="121285" algn="l"/>
              </a:tabLst>
            </a:pPr>
            <a:r>
              <a:rPr lang="es-PE" sz="1400" b="1" spc="-10" dirty="0">
                <a:solidFill>
                  <a:srgbClr val="262626"/>
                </a:solidFill>
                <a:cs typeface="Source Sans Pro"/>
              </a:rPr>
              <a:t>1.1. PREGUNTAS FRECUENTES:</a:t>
            </a:r>
          </a:p>
          <a:p>
            <a:pPr marL="180975">
              <a:buSzPct val="100000"/>
              <a:tabLst>
                <a:tab pos="121285" algn="l"/>
              </a:tabLst>
            </a:pPr>
            <a:endParaRPr lang="es-PE" sz="1400" b="1" spc="-10" dirty="0">
              <a:solidFill>
                <a:srgbClr val="262626"/>
              </a:solidFill>
              <a:cs typeface="Source Sans Pro"/>
            </a:endParaRPr>
          </a:p>
          <a:p>
            <a:pPr marL="717550" indent="-285750" algn="just">
              <a:spcAft>
                <a:spcPts val="9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¿Quiénes somos?</a:t>
            </a:r>
          </a:p>
          <a:p>
            <a:pPr marL="717550" indent="-285750" algn="just">
              <a:spcAft>
                <a:spcPts val="9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¿Qué hacemos?</a:t>
            </a:r>
          </a:p>
          <a:p>
            <a:pPr marL="717550" indent="-285750" algn="just">
              <a:spcAft>
                <a:spcPts val="9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¿Cuál es nuestro negocio?</a:t>
            </a:r>
          </a:p>
          <a:p>
            <a:pPr marL="717550" indent="-285750" algn="just">
              <a:spcAft>
                <a:spcPts val="9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¿Qué buscamos?</a:t>
            </a:r>
          </a:p>
          <a:p>
            <a:pPr marL="717550" indent="-285750" algn="just">
              <a:spcAft>
                <a:spcPts val="9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¿A qué nos dedicamos?</a:t>
            </a:r>
          </a:p>
          <a:p>
            <a:pPr marL="717550" indent="-285750" algn="just">
              <a:spcAft>
                <a:spcPts val="9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¿Cómo lo hacemos?</a:t>
            </a:r>
          </a:p>
          <a:p>
            <a:pPr marL="717550" indent="-285750" algn="just">
              <a:spcAft>
                <a:spcPts val="9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¿Cuál es nuestra razón de ser?</a:t>
            </a:r>
          </a:p>
          <a:p>
            <a:pPr marL="717550" indent="-285750" algn="just">
              <a:spcAft>
                <a:spcPts val="9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¿Quiénes son nuestro público objetivo?</a:t>
            </a:r>
          </a:p>
          <a:p>
            <a:pPr marL="717550" indent="-285750" algn="just">
              <a:spcAft>
                <a:spcPts val="9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¿Qué nos diferencia de nuestros competidores?</a:t>
            </a:r>
          </a:p>
        </p:txBody>
      </p:sp>
      <p:pic>
        <p:nvPicPr>
          <p:cNvPr id="8" name="Picture 2" descr="Misión, Visión y Valores | Municipalidad de Oreamuno">
            <a:extLst>
              <a:ext uri="{FF2B5EF4-FFF2-40B4-BE49-F238E27FC236}">
                <a16:creationId xmlns:a16="http://schemas.microsoft.com/office/drawing/2014/main" id="{B8681DA4-210F-4214-A5F0-565CF3F64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262" y="1458686"/>
            <a:ext cx="2890634" cy="2967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22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MISIÓN Y VISIÓN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4055AD6F-846C-4887-8710-7C5AED82F05C}"/>
              </a:ext>
            </a:extLst>
          </p:cNvPr>
          <p:cNvSpPr txBox="1"/>
          <p:nvPr/>
        </p:nvSpPr>
        <p:spPr>
          <a:xfrm>
            <a:off x="511341" y="826788"/>
            <a:ext cx="8073859" cy="26699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1. …MISIÓN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PE" sz="1050" b="1" spc="-10" dirty="0">
              <a:solidFill>
                <a:srgbClr val="262626"/>
              </a:solidFill>
              <a:cs typeface="Source Sans Pro"/>
            </a:endParaRPr>
          </a:p>
          <a:p>
            <a:pPr marL="180975">
              <a:buSzPct val="100000"/>
              <a:tabLst>
                <a:tab pos="121285" algn="l"/>
              </a:tabLst>
            </a:pPr>
            <a:r>
              <a:rPr lang="es-PE" sz="1400" b="1" spc="-10" dirty="0">
                <a:solidFill>
                  <a:srgbClr val="262626"/>
                </a:solidFill>
                <a:cs typeface="Source Sans Pro"/>
              </a:rPr>
              <a:t>1.2. FORMULACIÓN:</a:t>
            </a:r>
          </a:p>
          <a:p>
            <a:pPr marL="180975">
              <a:buSzPct val="100000"/>
              <a:tabLst>
                <a:tab pos="121285" algn="l"/>
              </a:tabLst>
            </a:pPr>
            <a:endParaRPr lang="es-PE" sz="800" b="1" spc="-10" dirty="0">
              <a:solidFill>
                <a:srgbClr val="262626"/>
              </a:solidFill>
              <a:cs typeface="Source Sans Pro"/>
            </a:endParaRPr>
          </a:p>
          <a:p>
            <a:pPr marL="180975"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 misión debe ser:</a:t>
            </a:r>
          </a:p>
          <a:p>
            <a:pPr marL="717550" indent="-285750" algn="just">
              <a:spcAft>
                <a:spcPts val="12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Clara		: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Debe ser fácil de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interpretar. 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717550" indent="-285750" algn="just">
              <a:spcAft>
                <a:spcPts val="12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Sencilla		: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Altamente comprensible por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todos.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717550" indent="-285750" algn="just">
              <a:spcAft>
                <a:spcPts val="12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Corta		: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Para que pueda ser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recordada fácilmente.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717550" indent="-285750" algn="just">
              <a:spcAft>
                <a:spcPts val="1200"/>
              </a:spcAft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Ambiciosa	: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Una actividad que inspire y motive a todos los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miembros.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pic>
        <p:nvPicPr>
          <p:cNvPr id="7" name="Picture 4" descr="Cómo definir una Misión que IMPACTE? | Organiza tu Pyme">
            <a:extLst>
              <a:ext uri="{FF2B5EF4-FFF2-40B4-BE49-F238E27FC236}">
                <a16:creationId xmlns:a16="http://schemas.microsoft.com/office/drawing/2014/main" id="{85706920-CF29-4034-A617-0EA8C4AAB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428" y="320830"/>
            <a:ext cx="3120571" cy="136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45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MISIÓN Y VISIÓN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4055AD6F-846C-4887-8710-7C5AED82F05C}"/>
              </a:ext>
            </a:extLst>
          </p:cNvPr>
          <p:cNvSpPr txBox="1"/>
          <p:nvPr/>
        </p:nvSpPr>
        <p:spPr>
          <a:xfrm>
            <a:off x="511341" y="746988"/>
            <a:ext cx="8073859" cy="6232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1. …MISIÓN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PE" sz="1050" b="1" spc="-10" dirty="0">
              <a:solidFill>
                <a:srgbClr val="262626"/>
              </a:solidFill>
              <a:cs typeface="Source Sans Pro"/>
            </a:endParaRPr>
          </a:p>
          <a:p>
            <a:pPr marL="180975">
              <a:spcAft>
                <a:spcPts val="600"/>
              </a:spcAft>
              <a:buSzPct val="100000"/>
              <a:tabLst>
                <a:tab pos="121285" algn="l"/>
              </a:tabLst>
            </a:pPr>
            <a:r>
              <a:rPr lang="es-PE" sz="1400" b="1" spc="-10" dirty="0">
                <a:solidFill>
                  <a:srgbClr val="262626"/>
                </a:solidFill>
                <a:cs typeface="Source Sans Pro"/>
              </a:rPr>
              <a:t>1.3. </a:t>
            </a:r>
            <a:r>
              <a:rPr lang="es-PE" sz="1400" b="1" spc="-10" dirty="0" smtClean="0">
                <a:solidFill>
                  <a:srgbClr val="262626"/>
                </a:solidFill>
                <a:cs typeface="Source Sans Pro"/>
              </a:rPr>
              <a:t>EJEMPLOS</a:t>
            </a:r>
            <a:endParaRPr lang="es-PE" sz="1400" b="1" spc="-10" dirty="0">
              <a:solidFill>
                <a:srgbClr val="262626"/>
              </a:solidFill>
              <a:cs typeface="Source Sans Pro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3187595080"/>
              </p:ext>
            </p:extLst>
          </p:nvPr>
        </p:nvGraphicFramePr>
        <p:xfrm>
          <a:off x="212834" y="1370236"/>
          <a:ext cx="8434551" cy="3910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1930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MISIÓN Y VISIÓN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B0E5EF73-7A16-4D42-8937-2B11D7719D01}"/>
              </a:ext>
            </a:extLst>
          </p:cNvPr>
          <p:cNvSpPr txBox="1"/>
          <p:nvPr/>
        </p:nvSpPr>
        <p:spPr>
          <a:xfrm>
            <a:off x="407875" y="783045"/>
            <a:ext cx="5432258" cy="2246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2. VISIÓN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PE" sz="1400" b="1" spc="-10" dirty="0">
              <a:solidFill>
                <a:srgbClr val="262626"/>
              </a:solidFill>
              <a:cs typeface="Source Sans Pro"/>
            </a:endParaRPr>
          </a:p>
          <a:p>
            <a:pPr marL="446088" indent="-168275" algn="just">
              <a:spcAft>
                <a:spcPts val="2400"/>
              </a:spcAft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Visión se refiere a una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proyección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que la organización se plantea a largo plazo sobre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cómo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espera que sea su futuro.</a:t>
            </a:r>
          </a:p>
          <a:p>
            <a:pPr marL="446088" indent="-168275" algn="just">
              <a:spcAft>
                <a:spcPts val="2400"/>
              </a:spcAft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 visión es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conocida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también como el sueño de la empresa, es un enunciado que tiene un enfoque futurista sobre a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dónde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quiere llegar y da sentido a los objetivos de mediano y largo plazo, tanto a nivel estratégico como operativo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pic>
        <p:nvPicPr>
          <p:cNvPr id="5128" name="Picture 8" descr="VISIÓN – INSTITUCIÓN EDUCATIVA MARIANO DE J. EUSSE">
            <a:extLst>
              <a:ext uri="{FF2B5EF4-FFF2-40B4-BE49-F238E27FC236}">
                <a16:creationId xmlns:a16="http://schemas.microsoft.com/office/drawing/2014/main" id="{2C7E994A-894E-4C9C-8BDE-C146750783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14287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redondeado 1"/>
          <p:cNvSpPr/>
          <p:nvPr/>
        </p:nvSpPr>
        <p:spPr>
          <a:xfrm>
            <a:off x="815339" y="3985260"/>
            <a:ext cx="5024793" cy="975360"/>
          </a:xfrm>
          <a:prstGeom prst="roundRect">
            <a:avLst/>
          </a:prstGeom>
          <a:solidFill>
            <a:srgbClr val="ADE9FF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419" sz="1600" b="1" dirty="0" smtClean="0">
              <a:solidFill>
                <a:srgbClr val="FF0000"/>
              </a:solidFill>
            </a:endParaRPr>
          </a:p>
          <a:p>
            <a:pPr algn="ctr"/>
            <a:r>
              <a:rPr lang="es-419" sz="1600" b="1" dirty="0" smtClean="0">
                <a:solidFill>
                  <a:srgbClr val="FF0000"/>
                </a:solidFill>
              </a:rPr>
              <a:t>La </a:t>
            </a:r>
            <a:r>
              <a:rPr lang="es-419" sz="1600" b="1" dirty="0">
                <a:solidFill>
                  <a:srgbClr val="FF0000"/>
                </a:solidFill>
              </a:rPr>
              <a:t>visión de la empresa es la realidad que añora, y cómo le gustaría verse  entorno al mundo, a sus clientes y a ella misma. </a:t>
            </a:r>
          </a:p>
          <a:p>
            <a:pPr algn="ctr"/>
            <a:endParaRPr lang="es-419" dirty="0"/>
          </a:p>
        </p:txBody>
      </p:sp>
      <p:sp>
        <p:nvSpPr>
          <p:cNvPr id="4" name="Rectángulo 3"/>
          <p:cNvSpPr/>
          <p:nvPr/>
        </p:nvSpPr>
        <p:spPr>
          <a:xfrm>
            <a:off x="279202" y="3453557"/>
            <a:ext cx="3772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6088" indent="-168275" algn="just">
              <a:spcAft>
                <a:spcPts val="2400"/>
              </a:spcAft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b="1" spc="-10" dirty="0">
                <a:solidFill>
                  <a:srgbClr val="0000FF"/>
                </a:solidFill>
                <a:cs typeface="Source Sans Pro"/>
              </a:rPr>
              <a:t>Para concluir podemos decir que:</a:t>
            </a:r>
          </a:p>
        </p:txBody>
      </p:sp>
    </p:spTree>
    <p:extLst>
      <p:ext uri="{BB962C8B-B14F-4D97-AF65-F5344CB8AC3E}">
        <p14:creationId xmlns:p14="http://schemas.microsoft.com/office/powerpoint/2010/main" val="1257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MISIÓN Y VISIÓN</a:t>
            </a:r>
          </a:p>
        </p:txBody>
      </p:sp>
      <p:sp>
        <p:nvSpPr>
          <p:cNvPr id="3" name="object 7">
            <a:extLst>
              <a:ext uri="{FF2B5EF4-FFF2-40B4-BE49-F238E27FC236}">
                <a16:creationId xmlns:a16="http://schemas.microsoft.com/office/drawing/2014/main" id="{89DDE373-DD6E-4B49-A479-805C0E8B0C24}"/>
              </a:ext>
            </a:extLst>
          </p:cNvPr>
          <p:cNvSpPr txBox="1"/>
          <p:nvPr/>
        </p:nvSpPr>
        <p:spPr>
          <a:xfrm>
            <a:off x="511341" y="812274"/>
            <a:ext cx="5011345" cy="2308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2. …VISIÓN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PE" sz="1400" b="1" spc="-10" dirty="0">
              <a:solidFill>
                <a:srgbClr val="262626"/>
              </a:solidFill>
              <a:cs typeface="Source Sans Pro"/>
            </a:endParaRPr>
          </a:p>
          <a:p>
            <a:pPr marL="180975">
              <a:buSzPct val="100000"/>
              <a:tabLst>
                <a:tab pos="121285" algn="l"/>
              </a:tabLst>
            </a:pPr>
            <a:r>
              <a:rPr lang="es-PE" sz="1400" b="1" spc="-10" dirty="0">
                <a:solidFill>
                  <a:srgbClr val="262626"/>
                </a:solidFill>
                <a:cs typeface="Source Sans Pro"/>
              </a:rPr>
              <a:t>2.1. PREGUNTAS FRECUENTES:</a:t>
            </a:r>
          </a:p>
          <a:p>
            <a:pPr marL="180975">
              <a:buSzPct val="100000"/>
              <a:tabLst>
                <a:tab pos="121285" algn="l"/>
              </a:tabLst>
            </a:pPr>
            <a:endParaRPr lang="es-PE" sz="1200" b="1" spc="-10" dirty="0">
              <a:solidFill>
                <a:srgbClr val="262626"/>
              </a:solidFill>
              <a:cs typeface="Source Sans Pro"/>
            </a:endParaRPr>
          </a:p>
          <a:p>
            <a:pPr marL="717550" indent="-285750" algn="just">
              <a:spcAft>
                <a:spcPts val="12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¿Cuál es la imagen deseada de nuestro negocio?</a:t>
            </a:r>
          </a:p>
          <a:p>
            <a:pPr marL="717550" indent="-285750" algn="just">
              <a:spcAft>
                <a:spcPts val="12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¿Cómo seremos en el futuro?</a:t>
            </a:r>
          </a:p>
          <a:p>
            <a:pPr marL="717550" indent="-285750" algn="just">
              <a:spcAft>
                <a:spcPts val="12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¿Qué haremos en el futuro?</a:t>
            </a:r>
          </a:p>
          <a:p>
            <a:pPr marL="717550" indent="-285750" algn="just">
              <a:spcAft>
                <a:spcPts val="12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¿Qué actividades desarrollaremos en el futuro?</a:t>
            </a:r>
          </a:p>
        </p:txBody>
      </p:sp>
      <p:pic>
        <p:nvPicPr>
          <p:cNvPr id="7" name="Picture 8" descr="VISIÓN – INSTITUCIÓN EDUCATIVA MARIANO DE J. EUSSE">
            <a:extLst>
              <a:ext uri="{FF2B5EF4-FFF2-40B4-BE49-F238E27FC236}">
                <a16:creationId xmlns:a16="http://schemas.microsoft.com/office/drawing/2014/main" id="{7392AB07-51F8-488F-B5DE-8AD32A807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14287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99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MISIÓN Y VISIÓN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4055AD6F-846C-4887-8710-7C5AED82F05C}"/>
              </a:ext>
            </a:extLst>
          </p:cNvPr>
          <p:cNvSpPr txBox="1"/>
          <p:nvPr/>
        </p:nvSpPr>
        <p:spPr>
          <a:xfrm>
            <a:off x="511341" y="826788"/>
            <a:ext cx="8073859" cy="26699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2. …VISIÓN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PE" sz="1050" b="1" spc="-10" dirty="0">
              <a:solidFill>
                <a:srgbClr val="262626"/>
              </a:solidFill>
              <a:cs typeface="Source Sans Pro"/>
            </a:endParaRPr>
          </a:p>
          <a:p>
            <a:pPr marL="180975">
              <a:buSzPct val="100000"/>
              <a:tabLst>
                <a:tab pos="121285" algn="l"/>
              </a:tabLst>
            </a:pPr>
            <a:r>
              <a:rPr lang="es-PE" sz="1400" b="1" spc="-10" dirty="0">
                <a:solidFill>
                  <a:srgbClr val="262626"/>
                </a:solidFill>
                <a:cs typeface="Source Sans Pro"/>
              </a:rPr>
              <a:t>2.2. FORMULACIÓN:</a:t>
            </a:r>
          </a:p>
          <a:p>
            <a:pPr marL="180975">
              <a:buSzPct val="100000"/>
              <a:tabLst>
                <a:tab pos="121285" algn="l"/>
              </a:tabLst>
            </a:pPr>
            <a:endParaRPr lang="es-PE" sz="800" b="1" spc="-10" dirty="0">
              <a:solidFill>
                <a:srgbClr val="262626"/>
              </a:solidFill>
              <a:cs typeface="Source Sans Pro"/>
            </a:endParaRPr>
          </a:p>
          <a:p>
            <a:pPr marL="180975" algn="just"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 Visión debe ser:</a:t>
            </a:r>
          </a:p>
          <a:p>
            <a:pPr marL="717550" indent="-285750" algn="just">
              <a:spcAft>
                <a:spcPts val="12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Clara		: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Debe ser fácil de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interpretar.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717550" indent="-285750" algn="just">
              <a:spcAft>
                <a:spcPts val="12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Sencilla		: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Altamente comprensible por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todos.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717550" indent="-285750" algn="just">
              <a:spcAft>
                <a:spcPts val="12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Corta		: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Para que pueda ser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recordada fácilmente.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717550" indent="-285750" algn="just">
              <a:spcAft>
                <a:spcPts val="120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ü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Ambiciosa	: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Una actividad que inspire y motive a todos los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miembros.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pic>
        <p:nvPicPr>
          <p:cNvPr id="7170" name="Picture 2" descr="Visión de una empresa – VIVIENDO PLANEACIÓN">
            <a:extLst>
              <a:ext uri="{FF2B5EF4-FFF2-40B4-BE49-F238E27FC236}">
                <a16:creationId xmlns:a16="http://schemas.microsoft.com/office/drawing/2014/main" id="{263E60AC-C3C8-4E7A-9D68-147B7423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571" y="233744"/>
            <a:ext cx="3222172" cy="141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34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6" y="320830"/>
            <a:ext cx="2306296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MISIÓN Y VISIÓN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4055AD6F-846C-4887-8710-7C5AED82F05C}"/>
              </a:ext>
            </a:extLst>
          </p:cNvPr>
          <p:cNvSpPr txBox="1"/>
          <p:nvPr/>
        </p:nvSpPr>
        <p:spPr>
          <a:xfrm>
            <a:off x="511341" y="674773"/>
            <a:ext cx="8073859" cy="6463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2. …VISIÓN</a:t>
            </a:r>
          </a:p>
          <a:p>
            <a:pPr marL="11725">
              <a:buSzPct val="100000"/>
              <a:tabLst>
                <a:tab pos="121285" algn="l"/>
              </a:tabLst>
            </a:pPr>
            <a:endParaRPr lang="es-PE" sz="1200" b="1" spc="-10" dirty="0">
              <a:solidFill>
                <a:srgbClr val="262626"/>
              </a:solidFill>
              <a:cs typeface="Source Sans Pro"/>
            </a:endParaRPr>
          </a:p>
          <a:p>
            <a:pPr marL="180975">
              <a:spcAft>
                <a:spcPts val="600"/>
              </a:spcAft>
              <a:buSzPct val="100000"/>
              <a:tabLst>
                <a:tab pos="121285" algn="l"/>
              </a:tabLst>
            </a:pPr>
            <a:r>
              <a:rPr lang="es-PE" sz="1400" b="1" spc="-10" dirty="0">
                <a:solidFill>
                  <a:srgbClr val="262626"/>
                </a:solidFill>
                <a:cs typeface="Source Sans Pro"/>
              </a:rPr>
              <a:t>2.3. EJEMPLOS</a:t>
            </a:r>
            <a:r>
              <a:rPr lang="es-PE" sz="1400" b="1" spc="-10" dirty="0" smtClean="0">
                <a:solidFill>
                  <a:srgbClr val="262626"/>
                </a:solidFill>
                <a:cs typeface="Source Sans Pro"/>
              </a:rPr>
              <a:t>:</a:t>
            </a:r>
            <a:endParaRPr lang="es-PE" sz="1400" b="1" spc="-10" dirty="0">
              <a:solidFill>
                <a:srgbClr val="262626"/>
              </a:solidFill>
              <a:cs typeface="Source Sans Pro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358260621"/>
              </p:ext>
            </p:extLst>
          </p:nvPr>
        </p:nvGraphicFramePr>
        <p:xfrm>
          <a:off x="212834" y="1379220"/>
          <a:ext cx="8434551" cy="3893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4386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ESTRATEGIA EMPRESARIAL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930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ESTRATEGIA EMPRESARIAL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2C125B8-F7F8-4C1B-987B-5A3BE6F6CF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 DE ESTRATEGIA EMPRESARIAL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E026E608-3B92-4C99-82DD-EBE55CAE8460}"/>
              </a:ext>
            </a:extLst>
          </p:cNvPr>
          <p:cNvSpPr txBox="1"/>
          <p:nvPr/>
        </p:nvSpPr>
        <p:spPr>
          <a:xfrm>
            <a:off x="510908" y="1288796"/>
            <a:ext cx="4559180" cy="32624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indent="-168275" algn="just">
              <a:lnSpc>
                <a:spcPct val="120000"/>
              </a:lnSpc>
              <a:spcAft>
                <a:spcPts val="2400"/>
              </a:spcAft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 un plan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en el que se determina la asignación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y utilización de recursos disponibles con el fin de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lograr una ventaja competitiva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respecto a sus competidores y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para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cumplir sus objetivos.</a:t>
            </a:r>
          </a:p>
          <a:p>
            <a:pPr marL="446088" indent="-168275" algn="just">
              <a:lnSpc>
                <a:spcPct val="120000"/>
              </a:lnSpc>
              <a:spcAft>
                <a:spcPts val="2400"/>
              </a:spcAft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 estrategia empresarial es de gran importancia para cualquier empresa, ya sea pequeña, mediana o grande, de una u otra manera “la estrategia empresarial” responde a la siguiente pregunta: </a:t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/>
            </a:r>
            <a:br>
              <a:rPr lang="es-PE" sz="1600" spc="-10" dirty="0">
                <a:solidFill>
                  <a:srgbClr val="262626"/>
                </a:solidFill>
                <a:cs typeface="Source Sans Pro"/>
              </a:rPr>
            </a:br>
            <a:r>
              <a:rPr lang="es-PE" sz="1600" b="1" i="1" spc="-10" dirty="0">
                <a:solidFill>
                  <a:srgbClr val="262626"/>
                </a:solidFill>
                <a:cs typeface="Source Sans Pro"/>
              </a:rPr>
              <a:t>¿En qué soy diferente a los competidores?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8D1F8BD-389A-45B8-BC47-DBCED4A03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718" y="1389601"/>
            <a:ext cx="3383260" cy="293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71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ESTRATEGIA EMPRESARIAL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2C125B8-F7F8-4C1B-987B-5A3BE6F6CF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 DE ESTRATEGIA EMPRESARIAL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EFD1E80-F7C6-4592-9AA4-717B0D0B6DC5}"/>
              </a:ext>
            </a:extLst>
          </p:cNvPr>
          <p:cNvSpPr txBox="1"/>
          <p:nvPr/>
        </p:nvSpPr>
        <p:spPr>
          <a:xfrm>
            <a:off x="713693" y="1293875"/>
            <a:ext cx="506315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A) DIRECCIÓN ESTRATÉGICA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DABFEC1-BB57-45C6-8FD7-1178C219A8C9}"/>
              </a:ext>
            </a:extLst>
          </p:cNvPr>
          <p:cNvSpPr txBox="1"/>
          <p:nvPr/>
        </p:nvSpPr>
        <p:spPr>
          <a:xfrm>
            <a:off x="891748" y="1821324"/>
            <a:ext cx="4780156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342900" algn="just">
              <a:spcAft>
                <a:spcPts val="2400"/>
              </a:spcAft>
              <a:buSzPct val="100000"/>
              <a:buFont typeface="+mj-lt"/>
              <a:buAutoNum type="arabicPeriod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Análisis Estratégico: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Fortalezas,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oportunidades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, d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ebilidades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, y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amenazas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(FODA). </a:t>
            </a:r>
          </a:p>
          <a:p>
            <a:pPr marL="357188" indent="-342900" algn="just">
              <a:spcAft>
                <a:spcPts val="2400"/>
              </a:spcAft>
              <a:buSzPct val="100000"/>
              <a:buFont typeface="+mj-lt"/>
              <a:buAutoNum type="arabicPeriod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Planificación estratégica: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Definición del plan estratégico.</a:t>
            </a:r>
          </a:p>
          <a:p>
            <a:pPr marL="357188" indent="-342900" algn="just">
              <a:spcAft>
                <a:spcPts val="2400"/>
              </a:spcAft>
              <a:buSzPct val="100000"/>
              <a:buFont typeface="+mj-lt"/>
              <a:buAutoNum type="arabicPeriod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Implantación y control estratégico: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Puesta en práctica el plan estratégico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9F0DAAE-8FAC-4DDE-9EC1-3883DB8E5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973" y="3106646"/>
            <a:ext cx="2478335" cy="199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7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ESTRATEGIA EMPRESARIAL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2C125B8-F7F8-4C1B-987B-5A3BE6F6CF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 DE ESTRATEGIA EMPRESARIAL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EFD1E80-F7C6-4592-9AA4-717B0D0B6DC5}"/>
              </a:ext>
            </a:extLst>
          </p:cNvPr>
          <p:cNvSpPr txBox="1"/>
          <p:nvPr/>
        </p:nvSpPr>
        <p:spPr>
          <a:xfrm>
            <a:off x="713693" y="1293875"/>
            <a:ext cx="506315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B) TIPOS DE ESTRATEGIA EMPRESARIAL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DE86C6F2-E56D-4A15-A150-F72BDBD6E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440211"/>
              </p:ext>
            </p:extLst>
          </p:nvPr>
        </p:nvGraphicFramePr>
        <p:xfrm>
          <a:off x="713693" y="1786619"/>
          <a:ext cx="7565608" cy="3005784"/>
        </p:xfrm>
        <a:graphic>
          <a:graphicData uri="http://schemas.openxmlformats.org/drawingml/2006/table">
            <a:tbl>
              <a:tblPr firstRow="1" firstCol="1" bandCol="1">
                <a:tableStyleId>{7DF18680-E054-41AD-8BC1-D1AEF772440D}</a:tableStyleId>
              </a:tblPr>
              <a:tblGrid>
                <a:gridCol w="1346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1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7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661">
                <a:tc>
                  <a:txBody>
                    <a:bodyPr/>
                    <a:lstStyle/>
                    <a:p>
                      <a:endParaRPr lang="es-PE" sz="1000" dirty="0"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500" dirty="0"/>
                        <a:t>Estrategia</a:t>
                      </a:r>
                      <a:r>
                        <a:rPr lang="es-PE" sz="1500" baseline="0" dirty="0"/>
                        <a:t> </a:t>
                      </a:r>
                      <a:r>
                        <a:rPr lang="es-PE" sz="1500" baseline="0" dirty="0" smtClean="0"/>
                        <a:t>general</a:t>
                      </a:r>
                      <a:endParaRPr lang="es-PE" sz="1500" dirty="0"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500" dirty="0"/>
                        <a:t>Estrategia </a:t>
                      </a:r>
                      <a:r>
                        <a:rPr lang="es-PE" sz="1500" dirty="0" smtClean="0"/>
                        <a:t>específica</a:t>
                      </a:r>
                      <a:endParaRPr lang="es-PE" sz="1500" dirty="0"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0123">
                <a:tc>
                  <a:txBody>
                    <a:bodyPr/>
                    <a:lstStyle/>
                    <a:p>
                      <a:pPr algn="ctr"/>
                      <a:r>
                        <a:rPr lang="es-PE" sz="1500" dirty="0"/>
                        <a:t>Definición</a:t>
                      </a:r>
                      <a:endParaRPr lang="es-PE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s-PE" sz="1500" dirty="0"/>
                        <a:t>Son estrategias que consideran a la empresa como un todo, es decir, sirven para alcanzar los objetivos generales de la empresa.</a:t>
                      </a:r>
                      <a:endParaRPr lang="es-PE" sz="1500" dirty="0"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500" dirty="0"/>
                        <a:t>Son estrategias que sirven de ayuda para poder llevar a cabo las estrategias generales; entre las estrategias específicas más conocidas y utilizadas son las estrategias de </a:t>
                      </a:r>
                      <a:r>
                        <a:rPr lang="es-PE" sz="1500" i="1" dirty="0"/>
                        <a:t>marketing</a:t>
                      </a:r>
                      <a:r>
                        <a:rPr lang="es-PE" sz="1500" dirty="0"/>
                        <a:t>.</a:t>
                      </a:r>
                      <a:endParaRPr lang="es-PE" sz="1500" dirty="0"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97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ESTRATEGIA EMPRESARIAL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2C125B8-F7F8-4C1B-987B-5A3BE6F6CF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 DE ESTRATEGIA EMPRESARIAL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EFD1E80-F7C6-4592-9AA4-717B0D0B6DC5}"/>
              </a:ext>
            </a:extLst>
          </p:cNvPr>
          <p:cNvSpPr txBox="1"/>
          <p:nvPr/>
        </p:nvSpPr>
        <p:spPr>
          <a:xfrm>
            <a:off x="713693" y="1293875"/>
            <a:ext cx="506315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B) …TIPOS DE ESTRATEGIA EMPRESARIAL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D74CAF4-7800-49E8-9D4E-3261481D9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944393"/>
              </p:ext>
            </p:extLst>
          </p:nvPr>
        </p:nvGraphicFramePr>
        <p:xfrm>
          <a:off x="713693" y="1740128"/>
          <a:ext cx="7565607" cy="3213553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954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61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4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571">
                <a:tc>
                  <a:txBody>
                    <a:bodyPr/>
                    <a:lstStyle/>
                    <a:p>
                      <a:endParaRPr lang="es-PE" sz="1500" dirty="0"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500" dirty="0"/>
                        <a:t>Estrategia</a:t>
                      </a:r>
                      <a:r>
                        <a:rPr lang="es-PE" sz="1500" baseline="0" dirty="0"/>
                        <a:t> </a:t>
                      </a:r>
                      <a:r>
                        <a:rPr lang="es-PE" sz="1500" baseline="0" dirty="0" smtClean="0"/>
                        <a:t>general</a:t>
                      </a:r>
                      <a:endParaRPr lang="es-PE" sz="1500" dirty="0"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500" dirty="0"/>
                        <a:t>Estrategia </a:t>
                      </a:r>
                      <a:r>
                        <a:rPr lang="es-PE" sz="1500" dirty="0" smtClean="0"/>
                        <a:t>específica</a:t>
                      </a:r>
                      <a:endParaRPr lang="es-PE" sz="1500" dirty="0"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4982">
                <a:tc>
                  <a:txBody>
                    <a:bodyPr/>
                    <a:lstStyle/>
                    <a:p>
                      <a:r>
                        <a:rPr lang="es-PE" sz="1500" dirty="0"/>
                        <a:t>Ejemplos</a:t>
                      </a:r>
                      <a:endParaRPr lang="es-PE" sz="15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1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s-PE" sz="1500" dirty="0"/>
                        <a:t>Diversificar los productos.</a:t>
                      </a:r>
                    </a:p>
                    <a:p>
                      <a:pPr marL="285750" indent="-285750">
                        <a:spcAft>
                          <a:spcPts val="1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s-PE" sz="1500" dirty="0"/>
                        <a:t>Diversificar los mercados.</a:t>
                      </a:r>
                    </a:p>
                    <a:p>
                      <a:pPr marL="285750" indent="-285750">
                        <a:spcAft>
                          <a:spcPts val="1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s-PE" sz="1500" dirty="0"/>
                        <a:t>Competir en base a los costos.</a:t>
                      </a:r>
                    </a:p>
                    <a:p>
                      <a:pPr marL="285750" indent="-285750">
                        <a:spcAft>
                          <a:spcPts val="1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s-PE" sz="1500" dirty="0"/>
                        <a:t>Enfocarse en un segmento de mercado específico.</a:t>
                      </a:r>
                    </a:p>
                    <a:p>
                      <a:pPr marL="285750" indent="-285750">
                        <a:spcAft>
                          <a:spcPts val="1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s-PE" sz="1500" dirty="0"/>
                        <a:t>Fusionarse con otra empresa.</a:t>
                      </a:r>
                      <a:endParaRPr lang="es-PE" sz="1500" dirty="0"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1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s-PE" sz="1500" dirty="0"/>
                        <a:t>Aumentar el número de vendedores.</a:t>
                      </a:r>
                    </a:p>
                    <a:p>
                      <a:pPr marL="285750" indent="-285750">
                        <a:spcAft>
                          <a:spcPts val="1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s-PE" sz="1500" dirty="0"/>
                        <a:t>Aumentar el número de puntos de ventas.</a:t>
                      </a:r>
                    </a:p>
                    <a:p>
                      <a:pPr marL="285750" indent="-285750">
                        <a:spcAft>
                          <a:spcPts val="1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s-PE" sz="1500" dirty="0"/>
                        <a:t>Elevar el gasto en publicidad.</a:t>
                      </a:r>
                    </a:p>
                    <a:p>
                      <a:pPr marL="285750" indent="-285750">
                        <a:spcAft>
                          <a:spcPts val="1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s-PE" sz="1500" dirty="0"/>
                        <a:t>Agregar nuevas promociones de ventas.</a:t>
                      </a:r>
                    </a:p>
                    <a:p>
                      <a:pPr marL="285750" indent="-285750">
                        <a:spcAft>
                          <a:spcPts val="12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s-PE" sz="1500" dirty="0"/>
                        <a:t>Establecer nuevos sistemas de información.</a:t>
                      </a:r>
                      <a:endParaRPr lang="es-PE" sz="1500" dirty="0"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4906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CAPEX Y OPEX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346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CAPEX Y OPEX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2C125B8-F7F8-4C1B-987B-5A3BE6F6CF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CAPEX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38CC324-463B-4C70-8A00-8013C2CB85FE}"/>
              </a:ext>
            </a:extLst>
          </p:cNvPr>
          <p:cNvSpPr txBox="1"/>
          <p:nvPr/>
        </p:nvSpPr>
        <p:spPr>
          <a:xfrm>
            <a:off x="510908" y="1288796"/>
            <a:ext cx="5005229" cy="303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285750" algn="just">
              <a:lnSpc>
                <a:spcPct val="110000"/>
              </a:lnSpc>
              <a:spcAft>
                <a:spcPts val="24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CAPEX es la abreviatura de la expresión en inglés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Capital Expenditure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(Gastos de capital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).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357188" indent="-285750" algn="just">
              <a:lnSpc>
                <a:spcPct val="110000"/>
              </a:lnSpc>
              <a:spcAft>
                <a:spcPts val="24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CAPEX se ejecuta cuando un negocio invierte en adquirir un activo fijo, o adquiere un activo fijo para añadir valor a un activo existente extendiendo su vida útil más allá del año imponible.</a:t>
            </a:r>
          </a:p>
          <a:p>
            <a:pPr marL="357188" indent="-285750" algn="just">
              <a:lnSpc>
                <a:spcPct val="110000"/>
              </a:lnSpc>
              <a:spcAft>
                <a:spcPts val="24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CAPEX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es utilizado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por las compañías para</a:t>
            </a: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comprar o mejorar los activos fijos tales como equipamientos de tecnología, propiedades, edificios industriales, etc.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0F643CC9-CCB6-40E9-AB5D-B83503DABBC2}"/>
              </a:ext>
            </a:extLst>
          </p:cNvPr>
          <p:cNvGrpSpPr/>
          <p:nvPr/>
        </p:nvGrpSpPr>
        <p:grpSpPr>
          <a:xfrm>
            <a:off x="6013717" y="1508054"/>
            <a:ext cx="2619375" cy="2601034"/>
            <a:chOff x="6099856" y="1441677"/>
            <a:chExt cx="2619375" cy="2601034"/>
          </a:xfrm>
        </p:grpSpPr>
        <p:pic>
          <p:nvPicPr>
            <p:cNvPr id="11266" name="Picture 2" descr="Alquiler: siete claves para mejorar la rentabilidad ::VivirEnZaragoza.net">
              <a:extLst>
                <a:ext uri="{FF2B5EF4-FFF2-40B4-BE49-F238E27FC236}">
                  <a16:creationId xmlns:a16="http://schemas.microsoft.com/office/drawing/2014/main" id="{C31C96F9-F29A-4676-BACA-0A80D8CBE5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9856" y="1441677"/>
              <a:ext cx="2619375" cy="1743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2C21402-0FCE-456B-932B-FC5061A30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9856" y="3184752"/>
              <a:ext cx="2619375" cy="8579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069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CAPEX Y OPEX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2C125B8-F7F8-4C1B-987B-5A3BE6F6CF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…CAPEX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9CB223-0D42-469C-8002-0AE621DBA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755" y="1714500"/>
            <a:ext cx="1419225" cy="2286000"/>
          </a:xfrm>
          <a:prstGeom prst="rect">
            <a:avLst/>
          </a:prstGeom>
        </p:spPr>
      </p:pic>
      <p:sp>
        <p:nvSpPr>
          <p:cNvPr id="6" name="object 7">
            <a:extLst>
              <a:ext uri="{FF2B5EF4-FFF2-40B4-BE49-F238E27FC236}">
                <a16:creationId xmlns:a16="http://schemas.microsoft.com/office/drawing/2014/main" id="{8CFEB811-04AF-47F2-AE3B-FA9429BC6334}"/>
              </a:ext>
            </a:extLst>
          </p:cNvPr>
          <p:cNvSpPr txBox="1"/>
          <p:nvPr/>
        </p:nvSpPr>
        <p:spPr>
          <a:xfrm>
            <a:off x="510908" y="1288796"/>
            <a:ext cx="5839092" cy="3431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285750" algn="just"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Ejemplos de CAPEX:</a:t>
            </a:r>
          </a:p>
          <a:p>
            <a:pPr marL="717550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Adquisición de oficina</a:t>
            </a:r>
          </a:p>
          <a:p>
            <a:pPr marL="717550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Compra de impresoras</a:t>
            </a:r>
          </a:p>
          <a:p>
            <a:pPr marL="717550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Adquisición de discos duros</a:t>
            </a:r>
          </a:p>
          <a:p>
            <a:pPr marL="717550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Compra de servidores</a:t>
            </a:r>
          </a:p>
          <a:p>
            <a:pPr marL="717550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Adquisición de licencias RETAIL de Windows 10 Professional</a:t>
            </a:r>
          </a:p>
          <a:p>
            <a:pPr marL="717550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Compra de memorias RAM</a:t>
            </a:r>
          </a:p>
          <a:p>
            <a:pPr marL="717550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Compra de Laptops </a:t>
            </a:r>
          </a:p>
        </p:txBody>
      </p:sp>
    </p:spTree>
    <p:extLst>
      <p:ext uri="{BB962C8B-B14F-4D97-AF65-F5344CB8AC3E}">
        <p14:creationId xmlns:p14="http://schemas.microsoft.com/office/powerpoint/2010/main" val="637383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CAPEX Y OPEX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2C125B8-F7F8-4C1B-987B-5A3BE6F6CF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OPEX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38CC324-463B-4C70-8A00-8013C2CB85FE}"/>
              </a:ext>
            </a:extLst>
          </p:cNvPr>
          <p:cNvSpPr txBox="1"/>
          <p:nvPr/>
        </p:nvSpPr>
        <p:spPr>
          <a:xfrm>
            <a:off x="510908" y="1288796"/>
            <a:ext cx="5063152" cy="36581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OPEX es la abreviatura de la expresión en inglés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Operational Expenditures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(Gastos operativos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).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446088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Se refiere a los costos asociados con el mantenimiento de equipos y gastos consumibles y otros gastos de funcionamiento necesarios para la producción y el funcionamiento del negocio o del sistema.</a:t>
            </a:r>
          </a:p>
          <a:p>
            <a:pPr marL="446088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 importante tener claro el OPEX para poder destinar el presupuesto correcto a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los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gastos operativos.</a:t>
            </a:r>
          </a:p>
          <a:p>
            <a:pPr marL="446088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Cada vez más son las empresas que asumen el reto de subcontratar servicios, evitando la responsabilidad de renovar equipos o repotenciarlos.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38A2F28-30A6-4CA5-B35A-C8A0DC942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674" y="1624552"/>
            <a:ext cx="2399246" cy="273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0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CAPEX Y OPEX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12C125B8-F7F8-4C1B-987B-5A3BE6F6CF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…OPEX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3A81BC8-6AAF-4026-9BD3-713344DD4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928" y="866775"/>
            <a:ext cx="1695450" cy="3981450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7B300AEC-E08F-4C51-85F4-CA0F521A29CB}"/>
              </a:ext>
            </a:extLst>
          </p:cNvPr>
          <p:cNvSpPr txBox="1"/>
          <p:nvPr/>
        </p:nvSpPr>
        <p:spPr>
          <a:xfrm>
            <a:off x="510908" y="1288796"/>
            <a:ext cx="5063151" cy="3480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indent="-285750" algn="just">
              <a:lnSpc>
                <a:spcPct val="12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Ejemplos de OPEX:</a:t>
            </a:r>
          </a:p>
          <a:p>
            <a:pPr marL="803275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Mantenimiento de servidores</a:t>
            </a:r>
          </a:p>
          <a:p>
            <a:pPr marL="803275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Soporte de ERP SAP</a:t>
            </a:r>
          </a:p>
          <a:p>
            <a:pPr marL="803275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Consumo de combustible</a:t>
            </a:r>
          </a:p>
          <a:p>
            <a:pPr marL="803275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Alquileres de puntos de ventas</a:t>
            </a:r>
          </a:p>
          <a:p>
            <a:pPr marL="803275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Mantenimiento de equipos y maquinaria pesada</a:t>
            </a:r>
          </a:p>
          <a:p>
            <a:pPr marL="803275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Consumo del servicio de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electricidad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  <a:p>
            <a:pPr marL="803275" lvl="1" indent="-285750" algn="just"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Consumo del servicio de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internet</a:t>
            </a:r>
            <a:endParaRPr lang="es-PE" sz="1600" spc="-10" dirty="0">
              <a:solidFill>
                <a:srgbClr val="262626"/>
              </a:solidFill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61504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737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PROYECTOS Y OPERACIONES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155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PROYECTOS Y OPERACIONES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7F1327E-48E4-44E4-B5E6-DD0D6B5C48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PROYECTOS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6D912997-55E9-4774-B766-E24BAC3DC2A7}"/>
              </a:ext>
            </a:extLst>
          </p:cNvPr>
          <p:cNvSpPr txBox="1"/>
          <p:nvPr/>
        </p:nvSpPr>
        <p:spPr>
          <a:xfrm>
            <a:off x="617034" y="1288796"/>
            <a:ext cx="4622623" cy="3698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285750" algn="just">
              <a:lnSpc>
                <a:spcPct val="11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Son actividades temporales que tiene un inicio y un fin definido, a los cuales se les ha asignado un presupuesto y un alcance establecido.</a:t>
            </a:r>
          </a:p>
          <a:p>
            <a:pPr marL="357188" indent="-285750" algn="just">
              <a:lnSpc>
                <a:spcPct val="11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Se comprende como proyecto a una planificación de un conjunto de actividades que se encuentran relacionadas y coordinadas con el fin de alcanzar un resultado que satisfaga las necesidades o resuelva problemas dentro de los límites de un presupuesto y de un periodo de tiempo dado.</a:t>
            </a:r>
          </a:p>
          <a:p>
            <a:pPr marL="357188" indent="-285750" algn="just">
              <a:lnSpc>
                <a:spcPct val="110000"/>
              </a:lnSpc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Están alineados con la estrategia de la organización, por ello se sabe que los proyectos son claves para el logro de los objetivos estratégicos.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7EABE7B-29EE-4B0B-8694-B12844C0C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279" y="1387873"/>
            <a:ext cx="2706687" cy="293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365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PROYECTOS Y OPERACIONES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7F1327E-48E4-44E4-B5E6-DD0D6B5C48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…PROYECTOS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0450C07-28DF-4A93-9A51-B59A4743AC77}"/>
              </a:ext>
            </a:extLst>
          </p:cNvPr>
          <p:cNvSpPr txBox="1"/>
          <p:nvPr/>
        </p:nvSpPr>
        <p:spPr>
          <a:xfrm>
            <a:off x="510908" y="1283009"/>
            <a:ext cx="5785814" cy="3513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285750" algn="just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Las siguientes preguntas nos ayudarán mucho para comenzar a planear un proyecto:</a:t>
            </a:r>
          </a:p>
          <a:p>
            <a:pPr marL="717550" lvl="1" indent="-285750" algn="just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¿Qué se quiere hacer?</a:t>
            </a:r>
          </a:p>
          <a:p>
            <a:pPr marL="717550" lvl="1" indent="-285750" algn="just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¿Por qué se quiere hacer?</a:t>
            </a:r>
          </a:p>
          <a:p>
            <a:pPr marL="717550" lvl="1" indent="-285750" algn="just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¿Para qué se quiere hacer?</a:t>
            </a:r>
          </a:p>
          <a:p>
            <a:pPr marL="717550" lvl="1" indent="-285750" algn="just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¿A quiénes va dirigido?</a:t>
            </a:r>
          </a:p>
          <a:p>
            <a:pPr marL="717550" lvl="1" indent="-285750" algn="just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¿Qué abarcará?</a:t>
            </a:r>
          </a:p>
          <a:p>
            <a:pPr marL="717550" lvl="1" indent="-285750" algn="just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¿Con qué garantías se va hacer?</a:t>
            </a:r>
          </a:p>
          <a:p>
            <a:pPr marL="717550" lvl="1" indent="-285750" algn="just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¿Cuándo se va hacer?</a:t>
            </a:r>
          </a:p>
          <a:p>
            <a:pPr marL="717550" lvl="1" indent="-285750" algn="just">
              <a:spcAft>
                <a:spcPts val="10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¿Quiénes los van a hacer?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274BB33-FE73-4181-A54A-316625619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741" y="2124992"/>
            <a:ext cx="4088351" cy="220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7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PROYECTOS Y OPERACIONES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26DA09AC-6876-4B10-BFB1-68C0F5746F2F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OPERACIONES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7E8FB1-F484-4B4C-AC32-ECFBE89DA19C}"/>
              </a:ext>
            </a:extLst>
          </p:cNvPr>
          <p:cNvSpPr txBox="1"/>
          <p:nvPr/>
        </p:nvSpPr>
        <p:spPr>
          <a:xfrm>
            <a:off x="510908" y="1330186"/>
            <a:ext cx="7929149" cy="13142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cs typeface="Source Sans Pro"/>
              </a:rPr>
              <a:t>Las operaciones son </a:t>
            </a:r>
            <a:r>
              <a:rPr lang="es-PE" sz="1600" spc="-10" dirty="0" smtClean="0">
                <a:cs typeface="Source Sans Pro"/>
              </a:rPr>
              <a:t>procesos </a:t>
            </a:r>
            <a:r>
              <a:rPr lang="es-PE" sz="1600" spc="-10" dirty="0">
                <a:cs typeface="Source Sans Pro"/>
              </a:rPr>
              <a:t>y procedimientos por los cuales la organización ejecuta </a:t>
            </a:r>
            <a:r>
              <a:rPr lang="es-PE" sz="1600" spc="-10" dirty="0" smtClean="0">
                <a:cs typeface="Source Sans Pro"/>
              </a:rPr>
              <a:t>la actividades en el </a:t>
            </a:r>
            <a:r>
              <a:rPr lang="es-PE" sz="1600" spc="-10" dirty="0">
                <a:cs typeface="Source Sans Pro"/>
              </a:rPr>
              <a:t>día a </a:t>
            </a:r>
            <a:r>
              <a:rPr lang="es-PE" sz="1600" spc="-10" dirty="0" smtClean="0">
                <a:cs typeface="Source Sans Pro"/>
              </a:rPr>
              <a:t>día. </a:t>
            </a:r>
            <a:endParaRPr lang="es-PE" sz="1600" spc="-10" dirty="0">
              <a:cs typeface="Source Sans Pro"/>
            </a:endParaRPr>
          </a:p>
          <a:p>
            <a:pPr marL="357188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 también conocido como “la forma de hacer las cosas dentro de la empresa” donde el objetivo se basa en ser competitivo y ser rentable.</a:t>
            </a:r>
          </a:p>
        </p:txBody>
      </p:sp>
      <p:pic>
        <p:nvPicPr>
          <p:cNvPr id="12290" name="Picture 2" descr="Afectan los eventos disruptivos las operaciones de las empresas de  servicios públicos?">
            <a:extLst>
              <a:ext uri="{FF2B5EF4-FFF2-40B4-BE49-F238E27FC236}">
                <a16:creationId xmlns:a16="http://schemas.microsoft.com/office/drawing/2014/main" id="{1728C456-929B-49EA-A438-252EEA594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684" y="3137985"/>
            <a:ext cx="5174343" cy="191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3795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PROYECTOS Y OPERACIONES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26DA09AC-6876-4B10-BFB1-68C0F5746F2F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…OPERACIONES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07E8FB1-F484-4B4C-AC32-ECFBE89DA19C}"/>
              </a:ext>
            </a:extLst>
          </p:cNvPr>
          <p:cNvSpPr txBox="1"/>
          <p:nvPr/>
        </p:nvSpPr>
        <p:spPr>
          <a:xfrm>
            <a:off x="510908" y="1330186"/>
            <a:ext cx="8023492" cy="15714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Las operaciones en las empresas son todas aquellas actividades que tienen relación con las áreas que generan el producto o servicio que se entrega a los </a:t>
            </a:r>
            <a:r>
              <a:rPr lang="es-PE" sz="1600" spc="-10" dirty="0" smtClean="0">
                <a:solidFill>
                  <a:srgbClr val="262626"/>
                </a:solidFill>
              </a:rPr>
              <a:t>clientes </a:t>
            </a:r>
            <a:r>
              <a:rPr lang="es-PE" sz="1600" spc="-10" dirty="0">
                <a:solidFill>
                  <a:srgbClr val="262626"/>
                </a:solidFill>
              </a:rPr>
              <a:t>para satisfacer sus necesidades y expectativas.</a:t>
            </a:r>
          </a:p>
          <a:p>
            <a:pPr marL="357188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Los proyectos son iniciativas orientadas a modificar en distintos grados las operaciones, desde iniciativas puntuales hasta iniciativas que transforme a la empresa y su modelo de negocio.</a:t>
            </a:r>
          </a:p>
        </p:txBody>
      </p:sp>
      <p:pic>
        <p:nvPicPr>
          <p:cNvPr id="9" name="Picture 2" descr="Afectan los eventos disruptivos las operaciones de las empresas de  servicios públicos?">
            <a:extLst>
              <a:ext uri="{FF2B5EF4-FFF2-40B4-BE49-F238E27FC236}">
                <a16:creationId xmlns:a16="http://schemas.microsoft.com/office/drawing/2014/main" id="{DE081654-CA9F-48B2-A713-F920D2938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684" y="3137985"/>
            <a:ext cx="5174343" cy="191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976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CONTROL Y AUDITORÍA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605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CONTROL Y AUDITORÍA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7F1327E-48E4-44E4-B5E6-DD0D6B5C48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CONTROL EN LAS EMPRESAS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37F37AA-AACB-4C0C-A931-9DE5E08CDE1A}"/>
              </a:ext>
            </a:extLst>
          </p:cNvPr>
          <p:cNvSpPr txBox="1"/>
          <p:nvPr/>
        </p:nvSpPr>
        <p:spPr>
          <a:xfrm>
            <a:off x="617034" y="1288796"/>
            <a:ext cx="7852052" cy="886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indent="-285750" algn="just">
              <a:lnSpc>
                <a:spcPct val="12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El control es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el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análisis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constante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de las desviaciones entre objetivos y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resultados,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y la adopción de las medidas correctoras que permitan el cumplimiento de los objetivos o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su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adaptación necesaria.</a:t>
            </a:r>
          </a:p>
        </p:txBody>
      </p:sp>
      <p:pic>
        <p:nvPicPr>
          <p:cNvPr id="13314" name="Picture 2" descr="Control empresarial | SocialHizo">
            <a:extLst>
              <a:ext uri="{FF2B5EF4-FFF2-40B4-BE49-F238E27FC236}">
                <a16:creationId xmlns:a16="http://schemas.microsoft.com/office/drawing/2014/main" id="{26DF2182-2430-4632-B1EF-5F8BD24E2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4342" y="2645862"/>
            <a:ext cx="4240894" cy="213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10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CONTROL Y AUDITORÍA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7F1327E-48E4-44E4-B5E6-DD0D6B5C48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…CONTROL EN LAS EMPRESAS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5D65116-988A-438A-B184-F5E1E4D6FBDE}"/>
              </a:ext>
            </a:extLst>
          </p:cNvPr>
          <p:cNvSpPr txBox="1"/>
          <p:nvPr/>
        </p:nvSpPr>
        <p:spPr>
          <a:xfrm>
            <a:off x="587296" y="1314221"/>
            <a:ext cx="4768475" cy="2797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En base a la  definición expuesta debemos concientizar dos elementos importantes:</a:t>
            </a:r>
          </a:p>
          <a:p>
            <a:pPr marL="803275" lvl="1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El análisis de desviaciones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, que implica entender y comparar lo que se ha planificado versus lo que se ha ejecutado u obtenido, culminado esto entonces damos paso a:</a:t>
            </a:r>
          </a:p>
          <a:p>
            <a:pPr marL="1260475" lvl="2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400" b="1" spc="-10" dirty="0">
                <a:solidFill>
                  <a:srgbClr val="262626"/>
                </a:solidFill>
                <a:cs typeface="Source Sans Pro"/>
              </a:rPr>
              <a:t>Aplicación de medidas correctoras</a:t>
            </a:r>
            <a:r>
              <a:rPr lang="es-PE" sz="1400" spc="-10" dirty="0">
                <a:solidFill>
                  <a:srgbClr val="262626"/>
                </a:solidFill>
                <a:cs typeface="Source Sans Pro"/>
              </a:rPr>
              <a:t>, para eliminar las desviaciones o el impacto no productivo que </a:t>
            </a:r>
            <a:r>
              <a:rPr lang="es-PE" sz="1400" spc="-10" dirty="0" smtClean="0">
                <a:solidFill>
                  <a:srgbClr val="262626"/>
                </a:solidFill>
                <a:cs typeface="Source Sans Pro"/>
              </a:rPr>
              <a:t>hayan </a:t>
            </a:r>
            <a:r>
              <a:rPr lang="es-PE" sz="1400" spc="-10" dirty="0">
                <a:solidFill>
                  <a:srgbClr val="262626"/>
                </a:solidFill>
                <a:cs typeface="Source Sans Pro"/>
              </a:rPr>
              <a:t>generado </a:t>
            </a:r>
            <a:r>
              <a:rPr lang="es-PE" sz="1400" spc="-10" dirty="0" smtClean="0">
                <a:solidFill>
                  <a:srgbClr val="262626"/>
                </a:solidFill>
                <a:cs typeface="Source Sans Pro"/>
              </a:rPr>
              <a:t>estas </a:t>
            </a:r>
            <a:r>
              <a:rPr lang="es-PE" sz="1400" spc="-10" dirty="0">
                <a:solidFill>
                  <a:srgbClr val="262626"/>
                </a:solidFill>
                <a:cs typeface="Source Sans Pro"/>
              </a:rPr>
              <a:t>desviaciones.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5DE0D5E-5F6F-4143-8AE6-4426A8EF4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140" y="1706617"/>
            <a:ext cx="2677564" cy="230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39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CONTROL Y AUDITORÍA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7F1327E-48E4-44E4-B5E6-DD0D6B5C48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AUDITORÍA EN LAS EMPRESAS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70A6727-D677-4E05-84AE-D9DED4873570}"/>
              </a:ext>
            </a:extLst>
          </p:cNvPr>
          <p:cNvSpPr txBox="1"/>
          <p:nvPr/>
        </p:nvSpPr>
        <p:spPr>
          <a:xfrm>
            <a:off x="617034" y="1288796"/>
            <a:ext cx="7873823" cy="886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indent="-285750" algn="just">
              <a:lnSpc>
                <a:spcPct val="12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Uno de los puntos más importantes en la gestión de empresas se centra en las auditorías,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porque estas contribuyen a tener un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control y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detectar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fallos, promueven mejoras para el desarrollo de la empresa y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muestra el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estado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actual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de la organización.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29AB023-EAF7-4C81-B36D-021C7DA39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7940" y="2643801"/>
            <a:ext cx="3692009" cy="223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91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CONTROL Y AUDITORÍA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D7F1327E-48E4-44E4-B5E6-DD0D6B5C4842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…AUDITORÍA EN LAS EMPRESAS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E57B69D-3175-484F-B80B-F473868C8ADB}"/>
              </a:ext>
            </a:extLst>
          </p:cNvPr>
          <p:cNvSpPr txBox="1"/>
          <p:nvPr/>
        </p:nvSpPr>
        <p:spPr>
          <a:xfrm>
            <a:off x="587295" y="1251303"/>
            <a:ext cx="5399847" cy="26499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indent="-285750" algn="just">
              <a:lnSpc>
                <a:spcPct val="150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En las empresas existen 2 tipos de auditorías:</a:t>
            </a:r>
          </a:p>
          <a:p>
            <a:pPr marL="717550" lvl="1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Las internas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: Son ejercicios más frecuentes y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se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ejecutan por el personal de la misma empresa.</a:t>
            </a:r>
          </a:p>
          <a:p>
            <a:pPr marL="717550" lvl="1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Las externas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: 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Generalmente, se realizan una vez al año, por una institución independiente que genera un informe de los estados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de los activos, expedientes y documentos y toda aquella información producida por los sistemas de la organización.</a:t>
            </a:r>
          </a:p>
        </p:txBody>
      </p:sp>
      <p:pic>
        <p:nvPicPr>
          <p:cNvPr id="9" name="Picture 2" descr="Imagen relacionada">
            <a:extLst>
              <a:ext uri="{FF2B5EF4-FFF2-40B4-BE49-F238E27FC236}">
                <a16:creationId xmlns:a16="http://schemas.microsoft.com/office/drawing/2014/main" id="{ED8DBF86-BEEB-451C-905C-51CF6DE8F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868" y="1867530"/>
            <a:ext cx="1697248" cy="197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46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EFICIENCIA Y EFICACIA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172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EFICIENCIA Y EFICACIA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FC2748F-D498-4F69-81FD-EBC389D3AEB0}"/>
              </a:ext>
            </a:extLst>
          </p:cNvPr>
          <p:cNvSpPr txBox="1"/>
          <p:nvPr/>
        </p:nvSpPr>
        <p:spPr>
          <a:xfrm>
            <a:off x="510907" y="1220827"/>
            <a:ext cx="4968236" cy="34273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10000"/>
              </a:lnSpc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Se refiere al uso racional de los medios para alcanzar un objetivo predeterminado, es decir, cumplir con el objetivo con el mínimo de recursos y tiempos disponibles. Por ejemplo:</a:t>
            </a:r>
          </a:p>
          <a:p>
            <a:pPr marL="534988" lvl="1" indent="-266700" algn="just">
              <a:lnSpc>
                <a:spcPct val="110000"/>
              </a:lnSpc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Se es eficiente cuando en 8 horas se realizan 100 productos, ahora, se mejora la eficiencia si esos 100 productos se hacen en tan solo 6 horas. (o sea aumenta la eficiencia si en 8 horas se hacen 120 productos.</a:t>
            </a:r>
          </a:p>
          <a:p>
            <a:pPr marL="534988" lvl="1" indent="-266700" algn="just">
              <a:lnSpc>
                <a:spcPct val="110000"/>
              </a:lnSpc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Aquí vemos que se hace un uso eficiente del recurso: “tiempo”, y se logra un objetivo.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3BAC769-AAFE-413E-8E12-B460F192A605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EFICIENCIA</a:t>
            </a:r>
          </a:p>
        </p:txBody>
      </p:sp>
      <p:pic>
        <p:nvPicPr>
          <p:cNvPr id="15362" name="Picture 2" descr="LA EFICIENCIA EN LA GESTIÓN PÚBLICA NO ES UNA OPCIÓN, ES UNA OBLIGACIÓN. 6  PROPUESTAS CLAVE PARA SER MÁS EFICIENTES. – Reflexiones de un interventor  (Mención de honor &amp;quot;Blogs jurídicos de Oro 2021&amp;quot;)">
            <a:extLst>
              <a:ext uri="{FF2B5EF4-FFF2-40B4-BE49-F238E27FC236}">
                <a16:creationId xmlns:a16="http://schemas.microsoft.com/office/drawing/2014/main" id="{AADAC818-CEA5-4636-8567-B3F9A138D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014" y="2153451"/>
            <a:ext cx="291465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19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EFICIENCIA Y EFICACIA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0A12256F-81E9-443A-BC2D-41005025CB45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EFICACIA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F841A593-4837-40E3-B5A1-23698402FC62}"/>
              </a:ext>
            </a:extLst>
          </p:cNvPr>
          <p:cNvSpPr txBox="1"/>
          <p:nvPr/>
        </p:nvSpPr>
        <p:spPr>
          <a:xfrm>
            <a:off x="510908" y="1220827"/>
            <a:ext cx="4685206" cy="31444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10000"/>
              </a:lnSpc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Es la capacidad de alcanzar el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objetivo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que se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quiere al realizar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una acción. Por ejemplo:</a:t>
            </a:r>
          </a:p>
          <a:p>
            <a:pPr marL="534988" lvl="1" indent="-285750" algn="just">
              <a:lnSpc>
                <a:spcPct val="110000"/>
              </a:lnSpc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Se es eficaz si nos hemos propuesto construir un edificio en un año y lo hemos logrado, fuimos eficaces porque alcanzamos la meta y logramos lo que nos propusimos.</a:t>
            </a:r>
          </a:p>
          <a:p>
            <a:pPr marL="534988" lvl="1" indent="-285750" algn="just">
              <a:lnSpc>
                <a:spcPct val="110000"/>
              </a:lnSpc>
              <a:spcAft>
                <a:spcPts val="16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Una persona que desea copiar un libro de 500 hojas, si realiza esta tarea a mano es posible que realice esa tarea y sea eficaz, consiga lo que se propuso, pero tardaría mucho tiempo en hacerlo.</a:t>
            </a:r>
          </a:p>
        </p:txBody>
      </p:sp>
      <p:pic>
        <p:nvPicPr>
          <p:cNvPr id="16388" name="Picture 4" descr="Eficacia y eficiencia: ¿qué necesitas para lograr ambas en tu empresa?">
            <a:extLst>
              <a:ext uri="{FF2B5EF4-FFF2-40B4-BE49-F238E27FC236}">
                <a16:creationId xmlns:a16="http://schemas.microsoft.com/office/drawing/2014/main" id="{2B884382-C5F2-47A6-B386-5B1805A01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060" y="1251303"/>
            <a:ext cx="3213100" cy="321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970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i="1" dirty="0">
                <a:solidFill>
                  <a:schemeClr val="bg1"/>
                </a:solidFill>
                <a:latin typeface="Calibri"/>
                <a:cs typeface="Calibri"/>
              </a:rPr>
              <a:t>STAKEHOLDERS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820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</a:t>
            </a:r>
            <a:r>
              <a:rPr lang="en-US" sz="1700" b="1" i="1" dirty="0">
                <a:solidFill>
                  <a:srgbClr val="438AD7"/>
                </a:solidFill>
              </a:rPr>
              <a:t>STAKEHOLDERS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3BAC769-AAFE-413E-8E12-B460F192A605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DB8116FD-7FA6-46CF-9327-1B0EC450760D}"/>
              </a:ext>
            </a:extLst>
          </p:cNvPr>
          <p:cNvSpPr txBox="1"/>
          <p:nvPr/>
        </p:nvSpPr>
        <p:spPr>
          <a:xfrm>
            <a:off x="407876" y="1251303"/>
            <a:ext cx="4012126" cy="2651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168275" algn="just">
              <a:lnSpc>
                <a:spcPct val="120000"/>
              </a:lnSpc>
              <a:spcAft>
                <a:spcPts val="2400"/>
              </a:spcAft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dirty="0">
                <a:sym typeface="Wingdings" pitchFamily="2" charset="2"/>
              </a:rPr>
              <a:t>Los </a:t>
            </a:r>
            <a:r>
              <a:rPr lang="es-PE" sz="1600" i="1" dirty="0">
                <a:sym typeface="Wingdings" pitchFamily="2" charset="2"/>
              </a:rPr>
              <a:t>Stakeholders</a:t>
            </a:r>
            <a:r>
              <a:rPr lang="es-PE" sz="1600" dirty="0">
                <a:sym typeface="Wingdings" pitchFamily="2" charset="2"/>
              </a:rPr>
              <a:t> son todas aquellas personas u organizaciones cuyos intereses puedan ser afectados como resultado de la ejecución o finalización del proyecto.</a:t>
            </a:r>
          </a:p>
          <a:p>
            <a:pPr marL="357188" indent="-168275" algn="just">
              <a:lnSpc>
                <a:spcPct val="120000"/>
              </a:lnSpc>
              <a:spcAft>
                <a:spcPts val="2400"/>
              </a:spcAft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dirty="0">
                <a:sym typeface="Wingdings" pitchFamily="2" charset="2"/>
              </a:rPr>
              <a:t>Para que un proyecto logre sus objetivos es fundamental la identificación de los </a:t>
            </a:r>
            <a:r>
              <a:rPr lang="es-PE" sz="1600" i="1" dirty="0">
                <a:sym typeface="Wingdings" pitchFamily="2" charset="2"/>
              </a:rPr>
              <a:t>Stakeholders</a:t>
            </a:r>
            <a:r>
              <a:rPr lang="es-PE" sz="1600" dirty="0">
                <a:sym typeface="Wingdings" pitchFamily="2" charset="2"/>
              </a:rPr>
              <a:t> por lo cual se los debe identificar en la fase de inicio del proyecto.</a:t>
            </a:r>
          </a:p>
        </p:txBody>
      </p:sp>
      <p:pic>
        <p:nvPicPr>
          <p:cNvPr id="17410" name="Picture 2" descr="Stakeholder | ¿Tienes claro quiénes se relacionan con tu empresa?">
            <a:extLst>
              <a:ext uri="{FF2B5EF4-FFF2-40B4-BE49-F238E27FC236}">
                <a16:creationId xmlns:a16="http://schemas.microsoft.com/office/drawing/2014/main" id="{AD07C8F1-EA88-4541-AA35-E6EDBF6B8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898423"/>
            <a:ext cx="4068812" cy="191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73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</a:t>
            </a:r>
            <a:r>
              <a:rPr lang="en-US" sz="1700" b="1" i="1" dirty="0">
                <a:solidFill>
                  <a:srgbClr val="438AD7"/>
                </a:solidFill>
              </a:rPr>
              <a:t>STAKEHOLDERS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3BAC769-AAFE-413E-8E12-B460F192A605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TIPOS DE </a:t>
            </a:r>
            <a:r>
              <a:rPr lang="es-PE" sz="1700" b="1" i="1" spc="-10" dirty="0">
                <a:solidFill>
                  <a:srgbClr val="262626"/>
                </a:solidFill>
                <a:cs typeface="Source Sans Pro"/>
              </a:rPr>
              <a:t>STAKEHOLDERS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EEDEF7D-583A-41C1-9E74-5345370A54C9}"/>
              </a:ext>
            </a:extLst>
          </p:cNvPr>
          <p:cNvSpPr txBox="1"/>
          <p:nvPr/>
        </p:nvSpPr>
        <p:spPr>
          <a:xfrm>
            <a:off x="510908" y="1238656"/>
            <a:ext cx="4316125" cy="2757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2400"/>
              </a:spcAft>
              <a:buSzPct val="100000"/>
              <a:tabLst>
                <a:tab pos="121285" algn="l"/>
              </a:tabLst>
            </a:pPr>
            <a:r>
              <a:rPr lang="es-PE" sz="1600" dirty="0">
                <a:sym typeface="Wingdings" pitchFamily="2" charset="2"/>
              </a:rPr>
              <a:t>Existen dos tipos de interesados: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0D6876D-60F6-4A3B-8FD3-A374E540BA7B}"/>
              </a:ext>
            </a:extLst>
          </p:cNvPr>
          <p:cNvSpPr txBox="1"/>
          <p:nvPr/>
        </p:nvSpPr>
        <p:spPr>
          <a:xfrm>
            <a:off x="605280" y="1659186"/>
            <a:ext cx="4111863" cy="29256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6088" lvl="1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Primarios: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Este grupo tiene alguna relación económica con el negocio, como por ejemplo: los accionistas, los clientes, los proveedores, los empleados.</a:t>
            </a:r>
          </a:p>
          <a:p>
            <a:pPr marL="446088" lvl="1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Courier New" panose="02070309020205020404" pitchFamily="49" charset="0"/>
              <a:buChar char="o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  <a:cs typeface="Source Sans Pro"/>
              </a:rPr>
              <a:t>Secundarios: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Son aquellos que no participan directamente en el intercambio con una empresa, pero que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sí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pueden afectar o verse afectados por las acciones de </a:t>
            </a:r>
            <a:r>
              <a:rPr lang="es-PE" sz="1600" spc="-10" dirty="0" smtClean="0">
                <a:solidFill>
                  <a:srgbClr val="262626"/>
                </a:solidFill>
                <a:cs typeface="Source Sans Pro"/>
              </a:rPr>
              <a:t>ésta, 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por ejemplo: los competidores, los medios de comunicación, la comunidad, etc.</a:t>
            </a:r>
            <a:endParaRPr lang="es-PE" sz="1600" b="1" spc="-10" dirty="0">
              <a:solidFill>
                <a:srgbClr val="262626"/>
              </a:solidFill>
              <a:cs typeface="Source Sans Pr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1DCA16-E447-4139-8B4E-6E4758A7F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822" y="1238656"/>
            <a:ext cx="3665821" cy="335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4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ÁREAS CORE Y ÁREAS DE SOPORTE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830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ÁREAS CORE Y ÁREAS DE SOPORTE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3BAC769-AAFE-413E-8E12-B460F192A605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ÁREAS CORE (EN LAS EMPRESAS)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DA269FA-DAD0-4C0A-A243-78FF92ED78C7}"/>
              </a:ext>
            </a:extLst>
          </p:cNvPr>
          <p:cNvSpPr txBox="1"/>
          <p:nvPr/>
        </p:nvSpPr>
        <p:spPr>
          <a:xfrm>
            <a:off x="510907" y="1220827"/>
            <a:ext cx="5708464" cy="8666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Son áreas de negocio que desarrollan y ejecutan las principales funciones del negocio de una empresa, por ejemplo: El área de ventas para una empresa de comercialización.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F09C42F-9D91-4D5E-9C0C-97FCAB3325C7}"/>
              </a:ext>
            </a:extLst>
          </p:cNvPr>
          <p:cNvGrpSpPr/>
          <p:nvPr/>
        </p:nvGrpSpPr>
        <p:grpSpPr>
          <a:xfrm>
            <a:off x="2425742" y="2342140"/>
            <a:ext cx="6020213" cy="2782864"/>
            <a:chOff x="2425742" y="2342140"/>
            <a:chExt cx="6020213" cy="2782864"/>
          </a:xfrm>
        </p:grpSpPr>
        <p:pic>
          <p:nvPicPr>
            <p:cNvPr id="19460" name="Picture 4" descr="contact center: noviembre 2015">
              <a:extLst>
                <a:ext uri="{FF2B5EF4-FFF2-40B4-BE49-F238E27FC236}">
                  <a16:creationId xmlns:a16="http://schemas.microsoft.com/office/drawing/2014/main" id="{A3DB4A76-49C2-40A5-8969-B798C27B5F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5742" y="2342140"/>
              <a:ext cx="1899515" cy="2570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462" name="Picture 6" descr="Robocallers “evolved” to sidestep new call blocking rules, AGs tell FCC |  Ars Technica">
              <a:extLst>
                <a:ext uri="{FF2B5EF4-FFF2-40B4-BE49-F238E27FC236}">
                  <a16:creationId xmlns:a16="http://schemas.microsoft.com/office/drawing/2014/main" id="{88474B25-DFEF-49BF-BE28-ADDD4143E0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1200" y="2518155"/>
              <a:ext cx="3924755" cy="2606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7936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ÁREAS CORE Y ÁREAS DE SOPORTE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3BAC769-AAFE-413E-8E12-B460F192A605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2. ÁREAS DE SOPORTE (EN LAS EMPRESAS)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4D8A2CDC-F693-44F5-9959-C6713DCF1ED2}"/>
              </a:ext>
            </a:extLst>
          </p:cNvPr>
          <p:cNvSpPr txBox="1"/>
          <p:nvPr/>
        </p:nvSpPr>
        <p:spPr>
          <a:xfrm>
            <a:off x="510908" y="1220827"/>
            <a:ext cx="4938322" cy="11818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  <a:spcAft>
                <a:spcPts val="1800"/>
              </a:spcAft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Son áreas funcionales que soportan a las áreas de negocio a fin de que puedan cumplir sus objetivos directa o indirectamente, por ejemplo: el área de recursos humanos o el área de sistemas.</a:t>
            </a:r>
          </a:p>
        </p:txBody>
      </p:sp>
      <p:pic>
        <p:nvPicPr>
          <p:cNvPr id="20482" name="Picture 2" descr="IT Support – en allt viktigare faktor, så lyckas ni med supporten">
            <a:extLst>
              <a:ext uri="{FF2B5EF4-FFF2-40B4-BE49-F238E27FC236}">
                <a16:creationId xmlns:a16="http://schemas.microsoft.com/office/drawing/2014/main" id="{1B1A14FA-0E13-4431-840D-274275B7A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856" y="2722440"/>
            <a:ext cx="4092575" cy="228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84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i="1" dirty="0">
                <a:solidFill>
                  <a:schemeClr val="bg1"/>
                </a:solidFill>
                <a:latin typeface="Calibri"/>
                <a:cs typeface="Calibri"/>
              </a:rPr>
              <a:t>BENCHMARKING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8582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</a:t>
            </a:r>
            <a:r>
              <a:rPr lang="en-US" sz="1700" b="1" i="1" dirty="0">
                <a:solidFill>
                  <a:srgbClr val="438AD7"/>
                </a:solidFill>
              </a:rPr>
              <a:t>BENCHMARKING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73BAC769-AAFE-413E-8E12-B460F192A605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DEFINICIÓN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46A64EE1-FEE7-48CF-A462-A51AF48E9E3A}"/>
              </a:ext>
            </a:extLst>
          </p:cNvPr>
          <p:cNvSpPr txBox="1"/>
          <p:nvPr/>
        </p:nvSpPr>
        <p:spPr>
          <a:xfrm>
            <a:off x="510908" y="1288796"/>
            <a:ext cx="8125091" cy="13542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285750" algn="just">
              <a:lnSpc>
                <a:spcPct val="11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Benchmarking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traducida al español significa: “Punto de referencia”; esta estrategia se basa en tomar como punto o puntos de referencia a los mejores competidores, analizar sus errores y aciertos, así como también evaluar y analizar sus procesos, productos, servicios y otros aspectos para compararlos y tomarlos como punto de referencia para aplicar nuestras futuras estrategias.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7B67F30-AAF4-42D3-A05B-EDEC674F3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631" y="2699657"/>
            <a:ext cx="4290737" cy="237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1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</a:t>
            </a:r>
            <a:r>
              <a:rPr lang="en-US" sz="1700" b="1" i="1" dirty="0">
                <a:solidFill>
                  <a:srgbClr val="438AD7"/>
                </a:solidFill>
              </a:rPr>
              <a:t>BENCHMARKING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46A64EE1-FEE7-48CF-A462-A51AF48E9E3A}"/>
              </a:ext>
            </a:extLst>
          </p:cNvPr>
          <p:cNvSpPr txBox="1"/>
          <p:nvPr/>
        </p:nvSpPr>
        <p:spPr>
          <a:xfrm>
            <a:off x="510908" y="1288796"/>
            <a:ext cx="8110578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285750" algn="just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El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Benchmarking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es importante porque nos ayuda a reconocer las fuerzas y debilidades de nuestros competidores y de ese modo aplicar estrategias para mejorar el posicionamiento en el mercado.</a:t>
            </a:r>
          </a:p>
          <a:p>
            <a:pPr marL="357188" indent="-285750" algn="just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Por medio del </a:t>
            </a:r>
            <a:r>
              <a:rPr lang="es-PE" sz="1600" i="1" spc="-10" dirty="0">
                <a:solidFill>
                  <a:srgbClr val="262626"/>
                </a:solidFill>
                <a:cs typeface="Source Sans Pro"/>
              </a:rPr>
              <a:t>Benchmarking</a:t>
            </a: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 logramos identificar los desajustes del negocio y observar claramente donde se encuentran las debilidades y trabajar en ello.</a:t>
            </a:r>
          </a:p>
        </p:txBody>
      </p:sp>
      <p:pic>
        <p:nvPicPr>
          <p:cNvPr id="22530" name="Picture 2" descr="Benchmarking : une étude comparative pour un progrès constant">
            <a:extLst>
              <a:ext uri="{FF2B5EF4-FFF2-40B4-BE49-F238E27FC236}">
                <a16:creationId xmlns:a16="http://schemas.microsoft.com/office/drawing/2014/main" id="{DBA18254-D3BB-42C0-8171-84970556C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653" y="3085491"/>
            <a:ext cx="5517924" cy="169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DE9009C2-3160-4960-8527-BF6492E9A80B}"/>
              </a:ext>
            </a:extLst>
          </p:cNvPr>
          <p:cNvSpPr txBox="1"/>
          <p:nvPr/>
        </p:nvSpPr>
        <p:spPr>
          <a:xfrm>
            <a:off x="510908" y="832233"/>
            <a:ext cx="5063152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>
              <a:buSzPct val="100000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1. …DEFINICIÓN</a:t>
            </a:r>
          </a:p>
        </p:txBody>
      </p:sp>
    </p:spTree>
    <p:extLst>
      <p:ext uri="{BB962C8B-B14F-4D97-AF65-F5344CB8AC3E}">
        <p14:creationId xmlns:p14="http://schemas.microsoft.com/office/powerpoint/2010/main" val="144738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rgbClr val="438AD7"/>
                </a:solidFill>
              </a:rPr>
              <a:t>/ </a:t>
            </a:r>
            <a:r>
              <a:rPr lang="en-US" sz="1700" b="1" i="1" dirty="0">
                <a:solidFill>
                  <a:srgbClr val="438AD7"/>
                </a:solidFill>
              </a:rPr>
              <a:t>BENCHMARKING</a:t>
            </a: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46A64EE1-FEE7-48CF-A462-A51AF48E9E3A}"/>
              </a:ext>
            </a:extLst>
          </p:cNvPr>
          <p:cNvSpPr txBox="1"/>
          <p:nvPr/>
        </p:nvSpPr>
        <p:spPr>
          <a:xfrm>
            <a:off x="510908" y="1318684"/>
            <a:ext cx="3778063" cy="99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Una actividad continua</a:t>
            </a:r>
          </a:p>
          <a:p>
            <a:pPr marL="357188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 proceso de investigación</a:t>
            </a:r>
          </a:p>
          <a:p>
            <a:pPr marL="357188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 trabajo que requiere inversión</a:t>
            </a: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DE9009C2-3160-4960-8527-BF6492E9A80B}"/>
              </a:ext>
            </a:extLst>
          </p:cNvPr>
          <p:cNvSpPr txBox="1"/>
          <p:nvPr/>
        </p:nvSpPr>
        <p:spPr>
          <a:xfrm>
            <a:off x="510908" y="862121"/>
            <a:ext cx="3531321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475" indent="-285750"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EL </a:t>
            </a:r>
            <a:r>
              <a:rPr lang="es-PE" sz="1700" b="1" i="1" spc="-10" dirty="0">
                <a:solidFill>
                  <a:srgbClr val="262626"/>
                </a:solidFill>
                <a:cs typeface="Source Sans Pro"/>
              </a:rPr>
              <a:t>BENCHMARKING</a:t>
            </a: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 ES…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40384132-379B-4F93-877B-87A180BD05B6}"/>
              </a:ext>
            </a:extLst>
          </p:cNvPr>
          <p:cNvSpPr txBox="1"/>
          <p:nvPr/>
        </p:nvSpPr>
        <p:spPr>
          <a:xfrm>
            <a:off x="510908" y="2659854"/>
            <a:ext cx="3531321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7475" indent="-285750">
              <a:buSzPct val="100000"/>
              <a:buFont typeface="Wingdings" panose="05000000000000000000" pitchFamily="2" charset="2"/>
              <a:buChar char="q"/>
              <a:tabLst>
                <a:tab pos="121285" algn="l"/>
              </a:tabLst>
            </a:pP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EL </a:t>
            </a:r>
            <a:r>
              <a:rPr lang="es-PE" sz="1700" b="1" i="1" spc="-10" dirty="0">
                <a:solidFill>
                  <a:srgbClr val="262626"/>
                </a:solidFill>
                <a:cs typeface="Source Sans Pro"/>
              </a:rPr>
              <a:t>BENCHMARKING</a:t>
            </a:r>
            <a:r>
              <a:rPr lang="es-PE" sz="1700" b="1" spc="-10" dirty="0">
                <a:solidFill>
                  <a:srgbClr val="262626"/>
                </a:solidFill>
                <a:cs typeface="Source Sans Pro"/>
              </a:rPr>
              <a:t> NO ES…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52F800B-2318-407F-B51A-C18236ADFA08}"/>
              </a:ext>
            </a:extLst>
          </p:cNvPr>
          <p:cNvSpPr txBox="1"/>
          <p:nvPr/>
        </p:nvSpPr>
        <p:spPr>
          <a:xfrm>
            <a:off x="510908" y="3108812"/>
            <a:ext cx="4293321" cy="17440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7188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Una actividad que se realiza una sola vez</a:t>
            </a:r>
          </a:p>
          <a:p>
            <a:pPr marL="357188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Copiar o imitar a la competencia</a:t>
            </a:r>
          </a:p>
          <a:p>
            <a:pPr marL="357188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Trabajo rápido y sencillo</a:t>
            </a:r>
          </a:p>
          <a:p>
            <a:pPr marL="357188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Una metodología</a:t>
            </a:r>
          </a:p>
          <a:p>
            <a:pPr marL="357188" indent="-285750"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  <a:cs typeface="Source Sans Pro"/>
              </a:rPr>
              <a:t>Proceso rígido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1921FF2-1218-4D5C-BE3B-A26E1FB03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872" y="1299028"/>
            <a:ext cx="4139220" cy="311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4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ángulo 10"/>
          <p:cNvSpPr/>
          <p:nvPr/>
        </p:nvSpPr>
        <p:spPr>
          <a:xfrm>
            <a:off x="2304789" y="965680"/>
            <a:ext cx="6370899" cy="3939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La misión </a:t>
            </a:r>
            <a:r>
              <a:rPr lang="es-PE" sz="1600" dirty="0" smtClean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describe </a:t>
            </a:r>
            <a:r>
              <a:rPr lang="es-PE" sz="1600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la actividad que realiza la organización </a:t>
            </a:r>
            <a:r>
              <a:rPr lang="es-PE" sz="1600" dirty="0" smtClean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actualmente para </a:t>
            </a:r>
            <a:r>
              <a:rPr lang="es-PE" sz="1600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conseguir el logro de su </a:t>
            </a:r>
            <a:r>
              <a:rPr lang="es-PE" sz="1600" dirty="0" smtClean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visión., que es la visualización </a:t>
            </a:r>
            <a:r>
              <a:rPr lang="es-PE" sz="1600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que la organización se plantea a largo plazo </a:t>
            </a:r>
            <a:r>
              <a:rPr lang="es-PE" sz="1600" dirty="0" smtClean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sobre </a:t>
            </a:r>
            <a:r>
              <a:rPr lang="es-PE" sz="1600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su futuro.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La estrategia empresarial es un plan de asignación y utilización de recursos disponibles con el fin de obtener una posición ventajosa respecto a sus </a:t>
            </a:r>
            <a:r>
              <a:rPr lang="es-PE" sz="1600" dirty="0" smtClean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competidores; existen estrategia generales y específicas. 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600" dirty="0" smtClean="0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Los </a:t>
            </a:r>
            <a:r>
              <a:rPr lang="es-PE" sz="1600" dirty="0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proyectos son actividades temporales que tiene un inicio y un fin definido, a los cuales se les ha asignado un presupuesto y un alcance establecido. Las operaciones son los procesos y procedimientos por los cuales la organización ejecuta sus actividades en el día a día.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FFFFFF"/>
              </a:solidFill>
              <a:ea typeface="Calibri" panose="020F0502020204030204" pitchFamily="34" charset="0"/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El control en las empresas es el análisis permanente de las desviaciones entre objetivos y realizaciones, y la adopción de las medidas correctoras que permitan el cumplimiento de los objetivos</a:t>
            </a:r>
            <a:r>
              <a:rPr lang="es-PE" sz="1600" dirty="0" smtClean="0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.</a:t>
            </a:r>
            <a:endParaRPr lang="es-PE" sz="1600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/ CONCLUSIONES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759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ángulo 10"/>
          <p:cNvSpPr/>
          <p:nvPr/>
        </p:nvSpPr>
        <p:spPr>
          <a:xfrm>
            <a:off x="2304789" y="965680"/>
            <a:ext cx="6370899" cy="320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Las auditorías son uno de los puntos más importantes en la gestión de </a:t>
            </a:r>
            <a:r>
              <a:rPr lang="es-PE" sz="1600" dirty="0" smtClean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empresas, </a:t>
            </a:r>
            <a:r>
              <a:rPr lang="es-PE" sz="1600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ya que estas ayudan a llevar un control y detectan fallos, promueven mejoras para el desarrollo de la empresa.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La eficiencia se refiere al uso racional de los medios para alcanzar un objetivo predeterminado y cumplir con el objetivo con el mínimo de recursos disponibles</a:t>
            </a:r>
            <a:r>
              <a:rPr lang="es-PE" sz="1600" dirty="0" smtClean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. La </a:t>
            </a:r>
            <a:r>
              <a:rPr lang="es-PE" sz="1600" dirty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eficacia es la capacidad de alcanzar el efecto que se espera o se desea tras la realización de una acción</a:t>
            </a:r>
            <a:r>
              <a:rPr lang="es-PE" sz="1600" dirty="0" smtClean="0">
                <a:solidFill>
                  <a:srgbClr val="FFFFFF"/>
                </a:solidFill>
                <a:latin typeface="+mj-lt"/>
                <a:ea typeface="Calibri" panose="020F0502020204030204" pitchFamily="34" charset="0"/>
                <a:cs typeface="Source Sans Pro" panose="020B0604020202020204" charset="0"/>
              </a:rPr>
              <a:t>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600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600" dirty="0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Las áreas </a:t>
            </a:r>
            <a:r>
              <a:rPr lang="es-PE" sz="1600" dirty="0" err="1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core</a:t>
            </a:r>
            <a:r>
              <a:rPr lang="es-PE" sz="1600" dirty="0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 son áreas de negocio que desarrollan y ejecutan las principales funciones del negocio de una empresa, mientras que las áreas de soporte son áreas funcionales que apoyan a las áreas de negocio a fin de que puedan cumplir sus objetivos directa o indirectamente</a:t>
            </a:r>
            <a:r>
              <a:rPr lang="es-PE" sz="1600" dirty="0" smtClean="0">
                <a:solidFill>
                  <a:srgbClr val="FFFFFF"/>
                </a:solidFill>
                <a:ea typeface="Calibri" panose="020F0502020204030204" pitchFamily="34" charset="0"/>
                <a:cs typeface="Source Sans Pro" panose="020B0604020202020204" charset="0"/>
              </a:rPr>
              <a:t>.</a:t>
            </a:r>
            <a:endParaRPr lang="es-PE" sz="1600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chemeClr val="bg1"/>
                </a:solidFill>
              </a:rPr>
              <a:t>/ CONCLUSIONES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639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515764" y="965680"/>
            <a:ext cx="7881937" cy="26483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>
              <a:spcBef>
                <a:spcPts val="0"/>
              </a:spcBef>
              <a:buSzPct val="100000"/>
            </a:pPr>
            <a:r>
              <a:rPr lang="es" sz="1500" dirty="0">
                <a:cs typeface="Calibri"/>
                <a:hlinkClick r:id="rId3"/>
              </a:rPr>
              <a:t>https://www.marketingandweb.es/emprendedores-2/mision-vision-y-valores-de-una-empresa/</a:t>
            </a:r>
            <a:endParaRPr lang="es" sz="1500" dirty="0">
              <a:cs typeface="Calibri"/>
            </a:endParaRPr>
          </a:p>
          <a:p>
            <a:pPr marL="174625" indent="-174625">
              <a:spcBef>
                <a:spcPts val="0"/>
              </a:spcBef>
              <a:buSzPct val="100000"/>
            </a:pPr>
            <a:r>
              <a:rPr lang="es-PE" sz="1500" dirty="0">
                <a:cs typeface="Calibri"/>
                <a:hlinkClick r:id="rId4"/>
              </a:rPr>
              <a:t>https://www.bibliotecadigital.ccb.org.co/bitstream/handle/11520/25657/Define%20la%20estrategia.pdf?sequence=1&amp;isAllowed=y</a:t>
            </a:r>
            <a:r>
              <a:rPr lang="es" sz="1500" dirty="0">
                <a:cs typeface="Calibri"/>
              </a:rPr>
              <a:t> </a:t>
            </a:r>
          </a:p>
          <a:p>
            <a:pPr marL="174625" indent="-174625">
              <a:spcBef>
                <a:spcPts val="0"/>
              </a:spcBef>
              <a:buSzPct val="100000"/>
            </a:pPr>
            <a:r>
              <a:rPr lang="es" sz="1500" dirty="0">
                <a:cs typeface="Calibri"/>
                <a:hlinkClick r:id="rId5"/>
              </a:rPr>
              <a:t>https://www.myabcm.com/es/blog-post/descubra-las-diferencias-entre-capex-y-opex/</a:t>
            </a:r>
            <a:endParaRPr lang="es" sz="1500" dirty="0">
              <a:cs typeface="Calibri"/>
            </a:endParaRPr>
          </a:p>
          <a:p>
            <a:pPr marL="174625" indent="-174625">
              <a:spcBef>
                <a:spcPts val="0"/>
              </a:spcBef>
              <a:buSzPct val="100000"/>
            </a:pPr>
            <a:r>
              <a:rPr lang="es" sz="1500" dirty="0">
                <a:cs typeface="Calibri"/>
                <a:hlinkClick r:id="rId6"/>
              </a:rPr>
              <a:t>https://tecnologia-informatica.com/tipos-de-computadoras/</a:t>
            </a:r>
            <a:endParaRPr lang="es" sz="1500" dirty="0">
              <a:cs typeface="Calibri"/>
            </a:endParaRPr>
          </a:p>
          <a:p>
            <a:pPr marL="174625" indent="-174625">
              <a:spcBef>
                <a:spcPts val="0"/>
              </a:spcBef>
              <a:buSzPct val="100000"/>
            </a:pPr>
            <a:r>
              <a:rPr lang="es" sz="1500" dirty="0">
                <a:cs typeface="Calibri"/>
                <a:hlinkClick r:id="rId7"/>
              </a:rPr>
              <a:t>https://www.ticportal.es/glosario-tic/gestion-proyectos</a:t>
            </a:r>
            <a:endParaRPr lang="es" sz="1500" dirty="0">
              <a:cs typeface="Calibri"/>
            </a:endParaRPr>
          </a:p>
          <a:p>
            <a:pPr marL="174625" indent="-174625">
              <a:spcBef>
                <a:spcPts val="0"/>
              </a:spcBef>
              <a:buSzPct val="100000"/>
            </a:pPr>
            <a:r>
              <a:rPr lang="es" sz="1500" dirty="0">
                <a:cs typeface="Calibri"/>
                <a:hlinkClick r:id="rId8"/>
              </a:rPr>
              <a:t>https://www.emprendepyme.net/auditoria</a:t>
            </a:r>
            <a:endParaRPr lang="es" sz="1500" dirty="0">
              <a:cs typeface="Calibri"/>
            </a:endParaRPr>
          </a:p>
          <a:p>
            <a:pPr marL="174625" indent="-174625">
              <a:spcBef>
                <a:spcPts val="0"/>
              </a:spcBef>
              <a:buSzPct val="100000"/>
            </a:pPr>
            <a:r>
              <a:rPr lang="es" sz="1500" dirty="0">
                <a:cs typeface="Calibri"/>
                <a:hlinkClick r:id="rId9"/>
              </a:rPr>
              <a:t>https://www.emprendepyme.net/el-control-en-el-proceso-administrativo.html</a:t>
            </a:r>
            <a:endParaRPr lang="es" sz="1500" dirty="0">
              <a:cs typeface="Calibri"/>
            </a:endParaRPr>
          </a:p>
          <a:p>
            <a:pPr marL="174625" indent="-174625">
              <a:spcBef>
                <a:spcPts val="0"/>
              </a:spcBef>
              <a:buSzPct val="100000"/>
            </a:pPr>
            <a:r>
              <a:rPr lang="es" sz="1500" dirty="0">
                <a:cs typeface="Calibri"/>
                <a:hlinkClick r:id="rId10"/>
              </a:rPr>
              <a:t>https://www.webyempresas.com/diferencia-entre-eficacia-y-eficiencia/</a:t>
            </a:r>
            <a:endParaRPr lang="es" sz="1500" dirty="0">
              <a:cs typeface="Calibri"/>
            </a:endParaRPr>
          </a:p>
          <a:p>
            <a:pPr marL="174625" indent="-174625">
              <a:spcBef>
                <a:spcPts val="0"/>
              </a:spcBef>
              <a:buSzPct val="100000"/>
            </a:pPr>
            <a:r>
              <a:rPr lang="es" sz="1500" dirty="0">
                <a:cs typeface="Calibri"/>
                <a:hlinkClick r:id="rId11"/>
              </a:rPr>
              <a:t>https://www.creaciondeproyectos.com/stakeholders/</a:t>
            </a:r>
            <a:endParaRPr lang="es" sz="1500" dirty="0">
              <a:cs typeface="Calibri"/>
            </a:endParaRPr>
          </a:p>
          <a:p>
            <a:pPr marL="174625" indent="-174625">
              <a:spcBef>
                <a:spcPts val="0"/>
              </a:spcBef>
              <a:buSzPct val="100000"/>
            </a:pPr>
            <a:r>
              <a:rPr lang="es-PE" sz="1500" dirty="0">
                <a:cs typeface="Calibri"/>
                <a:hlinkClick r:id="rId12"/>
              </a:rPr>
              <a:t>https://www.branch.com.co/marketing-digital/que-es-benchmarking-y-para-que-sirve/</a:t>
            </a:r>
            <a:r>
              <a:rPr lang="es" sz="1500" dirty="0">
                <a:cs typeface="Calibri"/>
              </a:rPr>
              <a:t> </a:t>
            </a:r>
          </a:p>
          <a:p>
            <a:pPr marL="174625" indent="-174625">
              <a:spcBef>
                <a:spcPts val="0"/>
              </a:spcBef>
              <a:buSzPct val="100000"/>
            </a:pPr>
            <a:endParaRPr lang="es" sz="1500" dirty="0">
              <a:cs typeface="Calibri"/>
            </a:endParaRPr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es" sz="1500" dirty="0">
              <a:cs typeface="Calibri"/>
            </a:endParaRPr>
          </a:p>
        </p:txBody>
      </p:sp>
      <p:sp>
        <p:nvSpPr>
          <p:cNvPr id="4" name="Rectangle 5"/>
          <p:cNvSpPr/>
          <p:nvPr/>
        </p:nvSpPr>
        <p:spPr>
          <a:xfrm>
            <a:off x="51115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629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8761</TotalTime>
  <Words>3010</Words>
  <Application>Microsoft Office PowerPoint</Application>
  <PresentationFormat>Presentación en pantalla (16:10)</PresentationFormat>
  <Paragraphs>327</Paragraphs>
  <Slides>47</Slides>
  <Notes>46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3" baseType="lpstr">
      <vt:lpstr>Arial</vt:lpstr>
      <vt:lpstr>Calibri</vt:lpstr>
      <vt:lpstr>Courier New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Arturo Enrique Reátegui Herrera</cp:lastModifiedBy>
  <cp:revision>678</cp:revision>
  <cp:lastPrinted>2018-01-16T21:42:59Z</cp:lastPrinted>
  <dcterms:created xsi:type="dcterms:W3CDTF">2016-10-06T14:52:02Z</dcterms:created>
  <dcterms:modified xsi:type="dcterms:W3CDTF">2022-05-09T21:11:00Z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