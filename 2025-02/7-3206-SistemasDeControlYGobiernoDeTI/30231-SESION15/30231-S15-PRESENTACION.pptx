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8.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9.xml" ContentType="application/vnd.openxmlformats-officedocument.presentationml.tags+xml"/>
  <Override PartName="/ppt/notesSlides/notesSlide38.xml" ContentType="application/vnd.openxmlformats-officedocument.presentationml.notesSlide+xml"/>
  <Override PartName="/ppt/tags/tag10.xml" ContentType="application/vnd.openxmlformats-officedocument.presentationml.tags+xml"/>
  <Override PartName="/ppt/notesSlides/notesSlide39.xml" ContentType="application/vnd.openxmlformats-officedocument.presentationml.notesSlide+xml"/>
  <Override PartName="/ppt/tags/tag11.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handoutMasterIdLst>
    <p:handoutMasterId r:id="rId52"/>
  </p:handoutMasterIdLst>
  <p:sldIdLst>
    <p:sldId id="326" r:id="rId2"/>
    <p:sldId id="465" r:id="rId3"/>
    <p:sldId id="466" r:id="rId4"/>
    <p:sldId id="428" r:id="rId5"/>
    <p:sldId id="726" r:id="rId6"/>
    <p:sldId id="734" r:id="rId7"/>
    <p:sldId id="771" r:id="rId8"/>
    <p:sldId id="772" r:id="rId9"/>
    <p:sldId id="773" r:id="rId10"/>
    <p:sldId id="774" r:id="rId11"/>
    <p:sldId id="775" r:id="rId12"/>
    <p:sldId id="740" r:id="rId13"/>
    <p:sldId id="741" r:id="rId14"/>
    <p:sldId id="776" r:id="rId15"/>
    <p:sldId id="743" r:id="rId16"/>
    <p:sldId id="728" r:id="rId17"/>
    <p:sldId id="729" r:id="rId18"/>
    <p:sldId id="777" r:id="rId19"/>
    <p:sldId id="744" r:id="rId20"/>
    <p:sldId id="745" r:id="rId21"/>
    <p:sldId id="746" r:id="rId22"/>
    <p:sldId id="747" r:id="rId23"/>
    <p:sldId id="730" r:id="rId24"/>
    <p:sldId id="731" r:id="rId25"/>
    <p:sldId id="778" r:id="rId26"/>
    <p:sldId id="779" r:id="rId27"/>
    <p:sldId id="780" r:id="rId28"/>
    <p:sldId id="750" r:id="rId29"/>
    <p:sldId id="762" r:id="rId30"/>
    <p:sldId id="763" r:id="rId31"/>
    <p:sldId id="764" r:id="rId32"/>
    <p:sldId id="765" r:id="rId33"/>
    <p:sldId id="766" r:id="rId34"/>
    <p:sldId id="767" r:id="rId35"/>
    <p:sldId id="768" r:id="rId36"/>
    <p:sldId id="769" r:id="rId37"/>
    <p:sldId id="770" r:id="rId38"/>
    <p:sldId id="732" r:id="rId39"/>
    <p:sldId id="781" r:id="rId40"/>
    <p:sldId id="752" r:id="rId41"/>
    <p:sldId id="753" r:id="rId42"/>
    <p:sldId id="754" r:id="rId43"/>
    <p:sldId id="755" r:id="rId44"/>
    <p:sldId id="756" r:id="rId45"/>
    <p:sldId id="757" r:id="rId46"/>
    <p:sldId id="758" r:id="rId47"/>
    <p:sldId id="725" r:id="rId48"/>
    <p:sldId id="759" r:id="rId49"/>
    <p:sldId id="606" r:id="rId50"/>
  </p:sldIdLst>
  <p:sldSz cx="9144000" cy="5715000" type="screen16x10"/>
  <p:notesSz cx="6797675" cy="9926638"/>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320" userDrawn="1">
          <p15:clr>
            <a:srgbClr val="A4A3A4"/>
          </p15:clr>
        </p15:guide>
        <p15:guide id="11" pos="317" userDrawn="1">
          <p15:clr>
            <a:srgbClr val="A4A3A4"/>
          </p15:clr>
        </p15:guide>
        <p15:guide id="12" orient="horz" pos="553" userDrawn="1">
          <p15:clr>
            <a:srgbClr val="A4A3A4"/>
          </p15:clr>
        </p15:guide>
        <p15:guide id="13" orient="horz" pos="3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76B7D"/>
    <a:srgbClr val="48C2BB"/>
    <a:srgbClr val="1F85A6"/>
    <a:srgbClr val="F1FDC3"/>
    <a:srgbClr val="9CC606"/>
    <a:srgbClr val="E2F6F1"/>
    <a:srgbClr val="F2F2F2"/>
    <a:srgbClr val="558ED5"/>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93" autoAdjust="0"/>
    <p:restoredTop sz="87346" autoAdjust="0"/>
  </p:normalViewPr>
  <p:slideViewPr>
    <p:cSldViewPr snapToGrid="0" snapToObjects="1" showGuides="1">
      <p:cViewPr varScale="1">
        <p:scale>
          <a:sx n="91" d="100"/>
          <a:sy n="91" d="100"/>
        </p:scale>
        <p:origin x="1483" y="72"/>
      </p:cViewPr>
      <p:guideLst>
        <p:guide pos="5465"/>
        <p:guide orient="horz" pos="3320"/>
        <p:guide pos="317"/>
        <p:guide orient="horz" pos="553"/>
        <p:guide orient="horz" pos="349"/>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16/05/2022</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16/05/2022</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8461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432804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40583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778378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517061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3520455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350354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b="0" i="0" dirty="0">
                <a:solidFill>
                  <a:srgbClr val="616161"/>
                </a:solidFill>
                <a:effectLst/>
                <a:latin typeface="Verdana" panose="020B0604030504040204" pitchFamily="34" charset="0"/>
              </a:rPr>
              <a:t>El marco de COBIT 2019 propone el modelo CORE de COBIT 2019  que está conformado por 40 objetivos de gobierno y gestión, de los cuales 5 son de gobierno y el resto (35) son de gestión.</a:t>
            </a:r>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079561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1635073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3552865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345812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1080651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589122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2151665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1718049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3831641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3029506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1394002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31117742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2778302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3724590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800" b="0" i="0" u="none" strike="noStrike" baseline="0" dirty="0">
                <a:solidFill>
                  <a:srgbClr val="000000"/>
                </a:solidFill>
                <a:latin typeface="LCNKO K+ Roboto"/>
              </a:rPr>
              <a:t>  </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37759365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2449076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41543844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882546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36315073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2275349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4259200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564578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2816862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800" b="0" i="0" u="none" strike="noStrike" baseline="0" dirty="0">
                <a:solidFill>
                  <a:srgbClr val="000000"/>
                </a:solidFill>
                <a:latin typeface="LCNKO K+ Roboto"/>
              </a:rPr>
              <a:t>  </a:t>
            </a: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12147126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16586106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6200545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19174644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19622589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2027221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21297677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4043841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2708007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n-US" dirty="0"/>
          </a:p>
        </p:txBody>
      </p:sp>
      <p:sp>
        <p:nvSpPr>
          <p:cNvPr id="4" name="Date Placeholder 3"/>
          <p:cNvSpPr>
            <a:spLocks noGrp="1"/>
          </p:cNvSpPr>
          <p:nvPr>
            <p:ph type="dt" sz="half" idx="10"/>
          </p:nvPr>
        </p:nvSpPr>
        <p:spPr/>
        <p:txBody>
          <a:bodyPr/>
          <a:lstStyle/>
          <a:p>
            <a:fld id="{1FB77D5F-F7C7-4A4E-B9CB-9B53C116ECA0}" type="datetimeFigureOut">
              <a:rPr lang="es-ES_tradnl" smtClean="0"/>
              <a:t>16/05/2022</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CCAAA411-D912-394E-A3C9-E79952CE3FED}" type="slidenum">
              <a:rPr lang="es-ES_tradnl" smtClean="0"/>
              <a:t>‹Nº›</a:t>
            </a:fld>
            <a:endParaRPr lang="es-ES_tradnl"/>
          </a:p>
        </p:txBody>
      </p:sp>
    </p:spTree>
    <p:extLst>
      <p:ext uri="{BB962C8B-B14F-4D97-AF65-F5344CB8AC3E}">
        <p14:creationId xmlns:p14="http://schemas.microsoft.com/office/powerpoint/2010/main" val="968723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s-ES_tradnl"/>
              <a:t>Haga clic para modificar el estilo de título del patrón</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_tradnl"/>
              <a:t>Haga clic para modificar el estilo de subtítulo del patrón</a:t>
            </a:r>
            <a:endParaRPr lang="en-US" dirty="0"/>
          </a:p>
        </p:txBody>
      </p:sp>
      <p:sp>
        <p:nvSpPr>
          <p:cNvPr id="4" name="Date Placeholder 3"/>
          <p:cNvSpPr>
            <a:spLocks noGrp="1"/>
          </p:cNvSpPr>
          <p:nvPr>
            <p:ph type="dt" sz="half" idx="10"/>
          </p:nvPr>
        </p:nvSpPr>
        <p:spPr/>
        <p:txBody>
          <a:bodyPr/>
          <a:lstStyle/>
          <a:p>
            <a:fld id="{1FB77D5F-F7C7-4A4E-B9CB-9B53C116ECA0}" type="datetimeFigureOut">
              <a:rPr lang="es-ES_tradnl" smtClean="0"/>
              <a:t>16/05/2022</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CCAAA411-D912-394E-A3C9-E79952CE3FED}" type="slidenum">
              <a:rPr lang="es-ES_tradnl" smtClean="0"/>
              <a:t>‹Nº›</a:t>
            </a:fld>
            <a:endParaRPr lang="es-ES_tradnl"/>
          </a:p>
        </p:txBody>
      </p:sp>
    </p:spTree>
    <p:extLst>
      <p:ext uri="{BB962C8B-B14F-4D97-AF65-F5344CB8AC3E}">
        <p14:creationId xmlns:p14="http://schemas.microsoft.com/office/powerpoint/2010/main" val="1894678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499402"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SISTEMAS DE CONTROL Y GOBIERNO DE TI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15</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2020 ISIL. Todos los derechos reservados</a:t>
              </a:r>
            </a:p>
          </p:txBody>
        </p:sp>
      </p:grpSp>
      <p:pic>
        <p:nvPicPr>
          <p:cNvPr id="3" name="Imagen 2"/>
          <p:cNvPicPr>
            <a:picLocks noChangeAspect="1"/>
          </p:cNvPicPr>
          <p:nvPr userDrawn="1"/>
        </p:nvPicPr>
        <p:blipFill>
          <a:blip r:embed="rId13">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 id="2147483663" r:id="rId10"/>
    <p:sldLayoutId id="2147483664"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5" name="CuadroTexto 4"/>
          <p:cNvSpPr txBox="1"/>
          <p:nvPr/>
        </p:nvSpPr>
        <p:spPr>
          <a:xfrm>
            <a:off x="417646" y="398388"/>
            <a:ext cx="873152" cy="369332"/>
          </a:xfrm>
          <a:prstGeom prst="rect">
            <a:avLst/>
          </a:prstGeom>
          <a:noFill/>
        </p:spPr>
        <p:txBody>
          <a:bodyPr wrap="square" rtlCol="0">
            <a:spAutoFit/>
          </a:bodyPr>
          <a:lstStyle/>
          <a:p>
            <a:r>
              <a:rPr lang="es-ES" dirty="0">
                <a:solidFill>
                  <a:schemeClr val="bg1"/>
                </a:solidFill>
              </a:rPr>
              <a:t>SESIÓN</a:t>
            </a:r>
          </a:p>
        </p:txBody>
      </p:sp>
      <p:sp>
        <p:nvSpPr>
          <p:cNvPr id="6" name="CuadroTexto 5"/>
          <p:cNvSpPr txBox="1"/>
          <p:nvPr/>
        </p:nvSpPr>
        <p:spPr>
          <a:xfrm>
            <a:off x="380422" y="475914"/>
            <a:ext cx="964250" cy="1015663"/>
          </a:xfrm>
          <a:prstGeom prst="rect">
            <a:avLst/>
          </a:prstGeom>
          <a:noFill/>
        </p:spPr>
        <p:txBody>
          <a:bodyPr wrap="square" rtlCol="0">
            <a:spAutoFit/>
          </a:bodyPr>
          <a:lstStyle/>
          <a:p>
            <a:r>
              <a:rPr lang="es-ES" sz="5800" dirty="0">
                <a:solidFill>
                  <a:srgbClr val="FFFFFF"/>
                </a:solidFill>
              </a:rPr>
              <a:t>15</a:t>
            </a:r>
          </a:p>
        </p:txBody>
      </p:sp>
      <p:sp>
        <p:nvSpPr>
          <p:cNvPr id="14" name="CuadroTexto 13"/>
          <p:cNvSpPr txBox="1"/>
          <p:nvPr/>
        </p:nvSpPr>
        <p:spPr>
          <a:xfrm>
            <a:off x="1493097" y="487044"/>
            <a:ext cx="5904294" cy="840230"/>
          </a:xfrm>
          <a:prstGeom prst="rect">
            <a:avLst/>
          </a:prstGeom>
          <a:noFill/>
        </p:spPr>
        <p:txBody>
          <a:bodyPr wrap="square" rtlCol="0">
            <a:spAutoFit/>
          </a:bodyPr>
          <a:lstStyle/>
          <a:p>
            <a:pPr>
              <a:lnSpc>
                <a:spcPct val="80000"/>
              </a:lnSpc>
            </a:pPr>
            <a:r>
              <a:rPr lang="es-ES" sz="3000" b="1" dirty="0" smtClean="0">
                <a:solidFill>
                  <a:srgbClr val="FFFFFF"/>
                </a:solidFill>
              </a:rPr>
              <a:t>IMPLEMENTAR GOBIERNO DE TI EN LA EMPRESA</a:t>
            </a:r>
            <a:endParaRPr lang="es-ES" sz="3000" b="1" dirty="0">
              <a:solidFill>
                <a:srgbClr val="FFFFFF"/>
              </a:solidFill>
            </a:endParaRPr>
          </a:p>
        </p:txBody>
      </p:sp>
      <p:sp>
        <p:nvSpPr>
          <p:cNvPr id="15" name="CuadroTexto 14"/>
          <p:cNvSpPr txBox="1"/>
          <p:nvPr/>
        </p:nvSpPr>
        <p:spPr>
          <a:xfrm>
            <a:off x="589880" y="1967491"/>
            <a:ext cx="5235567" cy="1549911"/>
          </a:xfrm>
          <a:prstGeom prst="rect">
            <a:avLst/>
          </a:prstGeom>
          <a:noFill/>
        </p:spPr>
        <p:txBody>
          <a:bodyPr wrap="square" rtlCol="0">
            <a:spAutoFit/>
          </a:bodyPr>
          <a:lstStyle/>
          <a:p>
            <a:pPr marL="285750" indent="-285750">
              <a:lnSpc>
                <a:spcPct val="120000"/>
              </a:lnSpc>
              <a:buSzPct val="80000"/>
              <a:buFont typeface="Wingdings" panose="05000000000000000000" pitchFamily="2" charset="2"/>
              <a:buChar char="ü"/>
            </a:pPr>
            <a:r>
              <a:rPr lang="es-ES" sz="1600" dirty="0">
                <a:solidFill>
                  <a:srgbClr val="FFFFFF"/>
                </a:solidFill>
              </a:rPr>
              <a:t>Introducción</a:t>
            </a:r>
          </a:p>
          <a:p>
            <a:pPr marL="285750" indent="-285750">
              <a:lnSpc>
                <a:spcPct val="120000"/>
              </a:lnSpc>
              <a:buSzPct val="80000"/>
              <a:buFont typeface="Wingdings" panose="05000000000000000000" pitchFamily="2" charset="2"/>
              <a:buChar char="ü"/>
            </a:pPr>
            <a:r>
              <a:rPr lang="es-ES" sz="1600" dirty="0">
                <a:solidFill>
                  <a:srgbClr val="FFFFFF"/>
                </a:solidFill>
              </a:rPr>
              <a:t>Posicionar el gobierno de I&amp;T de la empresa</a:t>
            </a:r>
          </a:p>
          <a:p>
            <a:pPr marL="285750" indent="-285750">
              <a:lnSpc>
                <a:spcPct val="120000"/>
              </a:lnSpc>
              <a:buSzPct val="80000"/>
              <a:buFont typeface="Wingdings" panose="05000000000000000000" pitchFamily="2" charset="2"/>
              <a:buChar char="ü"/>
            </a:pPr>
            <a:r>
              <a:rPr lang="es-ES" sz="1600" dirty="0">
                <a:solidFill>
                  <a:srgbClr val="FFFFFF"/>
                </a:solidFill>
              </a:rPr>
              <a:t>Tomando los primeros pasos hacia el GEIT</a:t>
            </a:r>
          </a:p>
          <a:p>
            <a:pPr marL="285750" indent="-285750">
              <a:lnSpc>
                <a:spcPct val="120000"/>
              </a:lnSpc>
              <a:buSzPct val="80000"/>
              <a:buFont typeface="Wingdings" panose="05000000000000000000" pitchFamily="2" charset="2"/>
              <a:buChar char="ü"/>
            </a:pPr>
            <a:r>
              <a:rPr lang="es-ES" sz="1600" dirty="0">
                <a:solidFill>
                  <a:srgbClr val="FFFFFF"/>
                </a:solidFill>
              </a:rPr>
              <a:t>Habilitar el cambio</a:t>
            </a:r>
          </a:p>
          <a:p>
            <a:pPr marL="285750" indent="-285750">
              <a:lnSpc>
                <a:spcPct val="120000"/>
              </a:lnSpc>
              <a:buSzPct val="80000"/>
              <a:buFont typeface="Wingdings" panose="05000000000000000000" pitchFamily="2" charset="2"/>
              <a:buChar char="ü"/>
            </a:pPr>
            <a:r>
              <a:rPr lang="es-ES" sz="1600" dirty="0">
                <a:solidFill>
                  <a:srgbClr val="FFFFFF"/>
                </a:solidFill>
              </a:rPr>
              <a:t>Ciclo de vida de la implementación</a:t>
            </a:r>
          </a:p>
        </p:txBody>
      </p:sp>
      <p:cxnSp>
        <p:nvCxnSpPr>
          <p:cNvPr id="8" name="Conector recto 7"/>
          <p:cNvCxnSpPr/>
          <p:nvPr/>
        </p:nvCxnSpPr>
        <p:spPr>
          <a:xfrm>
            <a:off x="1385597" y="522202"/>
            <a:ext cx="0" cy="720031"/>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9" name="Rectángulo 8"/>
          <p:cNvSpPr/>
          <p:nvPr/>
        </p:nvSpPr>
        <p:spPr>
          <a:xfrm>
            <a:off x="417647" y="1460808"/>
            <a:ext cx="8345931" cy="387798"/>
          </a:xfrm>
          <a:prstGeom prst="rect">
            <a:avLst/>
          </a:prstGeom>
          <a:solidFill>
            <a:schemeClr val="bg1"/>
          </a:solidFill>
        </p:spPr>
        <p:txBody>
          <a:bodyPr wrap="square" lIns="0" tIns="0" rIns="0" bIns="0">
            <a:spAutoFit/>
          </a:bodyPr>
          <a:lstStyle/>
          <a:p>
            <a:pPr algn="ctr">
              <a:lnSpc>
                <a:spcPct val="90000"/>
              </a:lnSpc>
            </a:pPr>
            <a:r>
              <a:rPr lang="es-PE" sz="1400" b="1" dirty="0">
                <a:solidFill>
                  <a:srgbClr val="1F85A6"/>
                </a:solidFill>
                <a:cs typeface="Calibri"/>
              </a:rPr>
              <a:t>  UNIDAD DE APRENDIZAJE: GESTIÓN DEL DESEMPEÑO, DISEÑO E IMPLEMENTACIÓN DE GOBIERNO DE TI BASADO EN COBIT 2019     </a:t>
            </a:r>
            <a:endParaRPr lang="es-PE" sz="1400" b="1" dirty="0">
              <a:solidFill>
                <a:srgbClr val="1F85A6"/>
              </a:solidFill>
            </a:endParaRPr>
          </a:p>
        </p:txBody>
      </p:sp>
    </p:spTree>
    <p:extLst>
      <p:ext uri="{BB962C8B-B14F-4D97-AF65-F5344CB8AC3E}">
        <p14:creationId xmlns:p14="http://schemas.microsoft.com/office/powerpoint/2010/main" val="29626886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6" name="object 7">
            <a:extLst>
              <a:ext uri="{FF2B5EF4-FFF2-40B4-BE49-F238E27FC236}">
                <a16:creationId xmlns:a16="http://schemas.microsoft.com/office/drawing/2014/main" id="{58472751-FD5C-4C14-A418-1AEF0A30EB50}"/>
              </a:ext>
            </a:extLst>
          </p:cNvPr>
          <p:cNvSpPr txBox="1"/>
          <p:nvPr/>
        </p:nvSpPr>
        <p:spPr>
          <a:xfrm>
            <a:off x="507697" y="954483"/>
            <a:ext cx="7866282" cy="2215991"/>
          </a:xfrm>
          <a:prstGeom prst="rect">
            <a:avLst/>
          </a:prstGeom>
        </p:spPr>
        <p:txBody>
          <a:bodyPr vert="horz" wrap="square" lIns="0" tIns="0" rIns="0" bIns="0" rtlCol="0">
            <a:spAutoFit/>
          </a:bodyPr>
          <a:lstStyle/>
          <a:p>
            <a:pPr marL="184150" indent="-184150">
              <a:buSzPct val="100000"/>
              <a:buFont typeface="Arial" charset="0"/>
              <a:buChar char="•"/>
              <a:tabLst>
                <a:tab pos="85725" algn="l"/>
              </a:tabLst>
            </a:pPr>
            <a:r>
              <a:rPr lang="es-PE" sz="1600" spc="-10" dirty="0">
                <a:cs typeface="Source Sans Pro"/>
              </a:rPr>
              <a:t>En esta sesión </a:t>
            </a:r>
            <a:r>
              <a:rPr lang="es-PE" sz="1600" spc="-10" dirty="0" smtClean="0">
                <a:cs typeface="Source Sans Pro"/>
              </a:rPr>
              <a:t>aprenderás todo </a:t>
            </a:r>
            <a:r>
              <a:rPr lang="es-PE" sz="1600" spc="-10" dirty="0">
                <a:cs typeface="Source Sans Pro"/>
              </a:rPr>
              <a:t>lo que </a:t>
            </a:r>
            <a:r>
              <a:rPr lang="es-PE" sz="1600" spc="-10" dirty="0" smtClean="0">
                <a:cs typeface="Source Sans Pro"/>
              </a:rPr>
              <a:t>se debe </a:t>
            </a:r>
            <a:r>
              <a:rPr lang="es-PE" sz="1600" spc="-10" dirty="0">
                <a:cs typeface="Source Sans Pro"/>
              </a:rPr>
              <a:t>considerar para poder implementar </a:t>
            </a:r>
            <a:r>
              <a:rPr lang="es-PE" sz="1600" spc="-10" dirty="0" smtClean="0">
                <a:cs typeface="Source Sans Pro"/>
              </a:rPr>
              <a:t>un gobierno </a:t>
            </a:r>
            <a:r>
              <a:rPr lang="es-PE" sz="1600" spc="-10" dirty="0">
                <a:cs typeface="Source Sans Pro"/>
              </a:rPr>
              <a:t>de TI en la empresa.</a:t>
            </a:r>
            <a:br>
              <a:rPr lang="es-PE" sz="1600" spc="-10" dirty="0">
                <a:cs typeface="Source Sans Pro"/>
              </a:rPr>
            </a:br>
            <a:endParaRPr lang="es-PE" sz="1600" spc="-10" dirty="0">
              <a:cs typeface="Source Sans Pro"/>
            </a:endParaRPr>
          </a:p>
          <a:p>
            <a:pPr marL="184150" indent="-184150">
              <a:buSzPct val="100000"/>
              <a:buFont typeface="Arial" charset="0"/>
              <a:buChar char="•"/>
              <a:tabLst>
                <a:tab pos="85725" algn="l"/>
              </a:tabLst>
            </a:pPr>
            <a:r>
              <a:rPr lang="es-PE" sz="1600" spc="-10" dirty="0" smtClean="0"/>
              <a:t>Comprenderás </a:t>
            </a:r>
            <a:r>
              <a:rPr lang="es-PE" sz="1600" spc="-10" dirty="0"/>
              <a:t>con una breve introducción la guía de implementación de COBIT 2019, adicionalmente </a:t>
            </a:r>
            <a:r>
              <a:rPr lang="es-PE" sz="1600" spc="-10" dirty="0" smtClean="0"/>
              <a:t>revisarás lo </a:t>
            </a:r>
            <a:r>
              <a:rPr lang="es-PE" sz="1600" spc="-10" dirty="0"/>
              <a:t>que es posicionar el gobierno de I&amp;T de la empresa.</a:t>
            </a:r>
          </a:p>
          <a:p>
            <a:pPr marL="184150" indent="-184150">
              <a:buSzPct val="100000"/>
              <a:buFont typeface="Arial" charset="0"/>
              <a:buChar char="•"/>
              <a:tabLst>
                <a:tab pos="85725" algn="l"/>
              </a:tabLst>
            </a:pPr>
            <a:endParaRPr lang="es-PE" sz="1600" spc="-10" dirty="0"/>
          </a:p>
          <a:p>
            <a:pPr marL="184150" indent="-184150">
              <a:buSzPct val="100000"/>
              <a:buFont typeface="Arial" charset="0"/>
              <a:buChar char="•"/>
              <a:tabLst>
                <a:tab pos="85725" algn="l"/>
              </a:tabLst>
            </a:pPr>
            <a:r>
              <a:rPr lang="es-PE" sz="1600" spc="-10" dirty="0" smtClean="0"/>
              <a:t>Reconocerás </a:t>
            </a:r>
            <a:r>
              <a:rPr lang="es-PE" sz="1600" spc="-10" dirty="0"/>
              <a:t>las recomendaciones de COBIT 2019 tomando los primeros pasos hacia GEIT.</a:t>
            </a:r>
          </a:p>
          <a:p>
            <a:pPr marL="184150" indent="-184150">
              <a:buSzPct val="100000"/>
              <a:buFont typeface="Arial" charset="0"/>
              <a:buChar char="•"/>
              <a:tabLst>
                <a:tab pos="85725" algn="l"/>
              </a:tabLst>
            </a:pPr>
            <a:endParaRPr lang="es-PE" sz="1600" spc="-10" dirty="0"/>
          </a:p>
          <a:p>
            <a:pPr marL="184150" indent="-184150">
              <a:buSzPct val="100000"/>
              <a:buFont typeface="Arial" charset="0"/>
              <a:buChar char="•"/>
              <a:tabLst>
                <a:tab pos="85725" algn="l"/>
              </a:tabLst>
            </a:pPr>
            <a:r>
              <a:rPr lang="es-PE" sz="1600" spc="-10" dirty="0" smtClean="0"/>
              <a:t>Comprenderás </a:t>
            </a:r>
            <a:r>
              <a:rPr lang="es-PE" sz="1600" spc="-10" dirty="0"/>
              <a:t>la habilitación del cambio y el ciclo de vida de la implementación.</a:t>
            </a:r>
          </a:p>
        </p:txBody>
      </p:sp>
    </p:spTree>
    <p:custDataLst>
      <p:tags r:id="rId1"/>
    </p:custDataLst>
    <p:extLst>
      <p:ext uri="{BB962C8B-B14F-4D97-AF65-F5344CB8AC3E}">
        <p14:creationId xmlns:p14="http://schemas.microsoft.com/office/powerpoint/2010/main" val="263561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INTRODUCCIÓN</a:t>
            </a:r>
          </a:p>
        </p:txBody>
      </p:sp>
    </p:spTree>
    <p:custDataLst>
      <p:tags r:id="rId1"/>
    </p:custDataLst>
    <p:extLst>
      <p:ext uri="{BB962C8B-B14F-4D97-AF65-F5344CB8AC3E}">
        <p14:creationId xmlns:p14="http://schemas.microsoft.com/office/powerpoint/2010/main" val="127915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INTRODUCCIÓN</a:t>
            </a:r>
          </a:p>
        </p:txBody>
      </p:sp>
      <p:sp>
        <p:nvSpPr>
          <p:cNvPr id="8" name="object 7">
            <a:extLst>
              <a:ext uri="{FF2B5EF4-FFF2-40B4-BE49-F238E27FC236}">
                <a16:creationId xmlns:a16="http://schemas.microsoft.com/office/drawing/2014/main" id="{B5EA86E6-DB35-4893-8551-90B6D8DDF61A}"/>
              </a:ext>
            </a:extLst>
          </p:cNvPr>
          <p:cNvSpPr txBox="1"/>
          <p:nvPr/>
        </p:nvSpPr>
        <p:spPr>
          <a:xfrm>
            <a:off x="587829" y="923285"/>
            <a:ext cx="4811485" cy="4154984"/>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El método de implementación de COBIT 2019 está basado en empoderar a las partes interesadas de la empresa y de TI, y los distintos actores que se apropien de las decisiones y actividades de gobierno y gestión relacionados con TI facilitando y permitiendo el cambio.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El programa de implementación se cierra cuando el proceso para centrarse en las prioridades relacionadas con TI y la mejora del gobierno genera un beneficio medible, y el programa ha pasado a integrarse en la actividad empresarial continua.</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Los programas de gobierno deben estar patrocinados por la dirección ejecutiva, tener un alcance apropiado y definir objetivos que sean alcanzables. Esto permite a la empresa asimilar el ritmo del cambio según lo previsto.</a:t>
            </a:r>
          </a:p>
        </p:txBody>
      </p:sp>
      <p:pic>
        <p:nvPicPr>
          <p:cNvPr id="6" name="Imagen 5">
            <a:extLst>
              <a:ext uri="{FF2B5EF4-FFF2-40B4-BE49-F238E27FC236}">
                <a16:creationId xmlns:a16="http://schemas.microsoft.com/office/drawing/2014/main" id="{7014482B-E5B0-48F7-A888-D5B430E59DBB}"/>
              </a:ext>
            </a:extLst>
          </p:cNvPr>
          <p:cNvPicPr>
            <a:picLocks noChangeAspect="1"/>
          </p:cNvPicPr>
          <p:nvPr/>
        </p:nvPicPr>
        <p:blipFill>
          <a:blip r:embed="rId3"/>
          <a:stretch>
            <a:fillRect/>
          </a:stretch>
        </p:blipFill>
        <p:spPr>
          <a:xfrm>
            <a:off x="5865579" y="1169617"/>
            <a:ext cx="2719246" cy="3546205"/>
          </a:xfrm>
          <a:prstGeom prst="rect">
            <a:avLst/>
          </a:prstGeom>
          <a:ln w="3175">
            <a:solidFill>
              <a:schemeClr val="tx1"/>
            </a:solidFill>
          </a:ln>
        </p:spPr>
      </p:pic>
    </p:spTree>
    <p:extLst>
      <p:ext uri="{BB962C8B-B14F-4D97-AF65-F5344CB8AC3E}">
        <p14:creationId xmlns:p14="http://schemas.microsoft.com/office/powerpoint/2010/main" val="99736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POSICIONAR EL GOBIERNO DE I&amp;T DE LA EMPRESA </a:t>
            </a:r>
          </a:p>
        </p:txBody>
      </p:sp>
    </p:spTree>
    <p:custDataLst>
      <p:tags r:id="rId1"/>
    </p:custDataLst>
    <p:extLst>
      <p:ext uri="{BB962C8B-B14F-4D97-AF65-F5344CB8AC3E}">
        <p14:creationId xmlns:p14="http://schemas.microsoft.com/office/powerpoint/2010/main" val="320652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ENTENDER EL CONTEXTO</a:t>
            </a:r>
          </a:p>
        </p:txBody>
      </p:sp>
      <p:sp>
        <p:nvSpPr>
          <p:cNvPr id="8" name="object 7">
            <a:extLst>
              <a:ext uri="{FF2B5EF4-FFF2-40B4-BE49-F238E27FC236}">
                <a16:creationId xmlns:a16="http://schemas.microsoft.com/office/drawing/2014/main" id="{B5EA86E6-DB35-4893-8551-90B6D8DDF61A}"/>
              </a:ext>
            </a:extLst>
          </p:cNvPr>
          <p:cNvSpPr txBox="1"/>
          <p:nvPr/>
        </p:nvSpPr>
        <p:spPr>
          <a:xfrm>
            <a:off x="538221" y="1147443"/>
            <a:ext cx="8090521" cy="738664"/>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El </a:t>
            </a:r>
            <a:r>
              <a:rPr lang="es-ES" sz="1600" spc="-10" dirty="0">
                <a:solidFill>
                  <a:srgbClr val="C00000"/>
                </a:solidFill>
              </a:rPr>
              <a:t>gobierno empresarial de información y tecnología (GEIT)</a:t>
            </a:r>
            <a:r>
              <a:rPr lang="es-ES" sz="1600" spc="-10" dirty="0">
                <a:solidFill>
                  <a:srgbClr val="262626"/>
                </a:solidFill>
              </a:rPr>
              <a:t> no nace de la nada. La implementación tiene lugar bajo distintas condiciones y circunstancias determinadas por numerosos factores en el entorno interno y externo, como: </a:t>
            </a:r>
          </a:p>
        </p:txBody>
      </p:sp>
      <p:sp>
        <p:nvSpPr>
          <p:cNvPr id="6" name="object 7">
            <a:extLst>
              <a:ext uri="{FF2B5EF4-FFF2-40B4-BE49-F238E27FC236}">
                <a16:creationId xmlns:a16="http://schemas.microsoft.com/office/drawing/2014/main" id="{43D4E4CE-A7D2-47DB-8835-FDFEA18A4299}"/>
              </a:ext>
            </a:extLst>
          </p:cNvPr>
          <p:cNvSpPr txBox="1"/>
          <p:nvPr/>
        </p:nvSpPr>
        <p:spPr>
          <a:xfrm>
            <a:off x="728618" y="2038507"/>
            <a:ext cx="5969726" cy="3046988"/>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La ética y cultura de la comunidad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Las leyes, regulaciones y políticas vigentes </a:t>
            </a:r>
          </a:p>
          <a:p>
            <a:pPr marL="285750" indent="-285750" algn="just">
              <a:spcAft>
                <a:spcPts val="1200"/>
              </a:spcAft>
              <a:buSzPct val="100000"/>
              <a:buFont typeface="Wingdings" panose="05000000000000000000" pitchFamily="2" charset="2"/>
              <a:buChar char="ü"/>
              <a:tabLst>
                <a:tab pos="121285" algn="l"/>
              </a:tabLst>
            </a:pPr>
            <a:r>
              <a:rPr lang="es-PE" sz="1600" spc="-10" dirty="0">
                <a:solidFill>
                  <a:srgbClr val="262626"/>
                </a:solidFill>
              </a:rPr>
              <a:t>Los estándares internacionales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Las prácticas de la industria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El entorno económico y competitivo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Los avances y la evolución de la tecnología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El escenario de amenazas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La empresa</a:t>
            </a:r>
          </a:p>
        </p:txBody>
      </p:sp>
      <p:pic>
        <p:nvPicPr>
          <p:cNvPr id="2" name="Imagen 1"/>
          <p:cNvPicPr>
            <a:picLocks noChangeAspect="1"/>
          </p:cNvPicPr>
          <p:nvPr/>
        </p:nvPicPr>
        <p:blipFill>
          <a:blip r:embed="rId3"/>
          <a:stretch>
            <a:fillRect/>
          </a:stretch>
        </p:blipFill>
        <p:spPr>
          <a:xfrm>
            <a:off x="4814281" y="2000538"/>
            <a:ext cx="3768125" cy="2509713"/>
          </a:xfrm>
          <a:prstGeom prst="rect">
            <a:avLst/>
          </a:prstGeom>
        </p:spPr>
      </p:pic>
    </p:spTree>
    <p:extLst>
      <p:ext uri="{BB962C8B-B14F-4D97-AF65-F5344CB8AC3E}">
        <p14:creationId xmlns:p14="http://schemas.microsoft.com/office/powerpoint/2010/main" val="358042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782837" y="1562917"/>
            <a:ext cx="4374554" cy="2351583"/>
          </a:xfrm>
          <a:prstGeom prst="rect">
            <a:avLst/>
          </a:prstGeom>
        </p:spPr>
        <p:txBody>
          <a:bodyPr vert="horz" wrap="square" lIns="90000" tIns="90000" rIns="90000" bIns="90000" rtlCol="0">
            <a:spAutoFit/>
          </a:bodyPr>
          <a:lstStyle/>
          <a:p>
            <a:pPr algn="just">
              <a:spcAft>
                <a:spcPts val="1800"/>
              </a:spcAft>
              <a:buSzPct val="100000"/>
              <a:tabLst>
                <a:tab pos="121285" algn="l"/>
              </a:tabLst>
            </a:pPr>
            <a:r>
              <a:rPr lang="es-ES" sz="1400" spc="-10" dirty="0">
                <a:solidFill>
                  <a:srgbClr val="262626"/>
                </a:solidFill>
              </a:rPr>
              <a:t>El gobierno empresarial de información y tecnología (GEIT) es una parte integral del gobierno corporativo. La necesidad de gobierno a nivel empresarial proviene principalmente de la entrega de valor para las partes interesadas y la exigencia de transparencia y gestión eficaz del riesgo de la empresa. </a:t>
            </a:r>
          </a:p>
          <a:p>
            <a:pPr algn="just">
              <a:spcAft>
                <a:spcPts val="1800"/>
              </a:spcAft>
              <a:buSzPct val="100000"/>
              <a:tabLst>
                <a:tab pos="121285" algn="l"/>
              </a:tabLst>
            </a:pPr>
            <a:r>
              <a:rPr lang="es-ES" sz="1400" spc="-10" dirty="0" smtClean="0">
                <a:solidFill>
                  <a:srgbClr val="262626"/>
                </a:solidFill>
              </a:rPr>
              <a:t>Las </a:t>
            </a:r>
            <a:r>
              <a:rPr lang="es-ES" sz="1400" spc="-10" dirty="0">
                <a:solidFill>
                  <a:srgbClr val="262626"/>
                </a:solidFill>
              </a:rPr>
              <a:t>oportunidades significativas, costes y riesgos asociados a la I&amp;T obligan a centrarse de forma comprometida e integrada con el GEIT. </a:t>
            </a:r>
            <a:endParaRPr lang="es-ES" sz="1400" spc="-10" dirty="0">
              <a:solidFill>
                <a:srgbClr val="262626"/>
              </a:solidFill>
            </a:endParaRPr>
          </a:p>
        </p:txBody>
      </p:sp>
      <p:sp>
        <p:nvSpPr>
          <p:cNvPr id="8" name="Rectángulo redondeado 7"/>
          <p:cNvSpPr/>
          <p:nvPr/>
        </p:nvSpPr>
        <p:spPr>
          <a:xfrm>
            <a:off x="775367" y="3963036"/>
            <a:ext cx="4382024" cy="1059523"/>
          </a:xfrm>
          <a:prstGeom prst="roundRect">
            <a:avLst>
              <a:gd name="adj" fmla="val 8430"/>
            </a:avLst>
          </a:prstGeom>
          <a:solidFill>
            <a:srgbClr val="0BAE80"/>
          </a:solidFill>
          <a:ln>
            <a:noFill/>
          </a:ln>
        </p:spPr>
        <p:style>
          <a:lnRef idx="2">
            <a:schemeClr val="dk1"/>
          </a:lnRef>
          <a:fillRef idx="1">
            <a:schemeClr val="lt1"/>
          </a:fillRef>
          <a:effectRef idx="0">
            <a:schemeClr val="dk1"/>
          </a:effectRef>
          <a:fontRef idx="minor">
            <a:schemeClr val="dk1"/>
          </a:fontRef>
        </p:style>
        <p:txBody>
          <a:bodyPr lIns="135000" rtlCol="0" anchor="ctr"/>
          <a:lstStyle/>
          <a:p>
            <a:pPr algn="just">
              <a:spcAft>
                <a:spcPts val="1800"/>
              </a:spcAft>
              <a:buSzPct val="100000"/>
              <a:tabLst>
                <a:tab pos="121285" algn="l"/>
              </a:tabLst>
            </a:pPr>
            <a:r>
              <a:rPr lang="es-ES" sz="1400" spc="-10" dirty="0">
                <a:solidFill>
                  <a:schemeClr val="bg1"/>
                </a:solidFill>
              </a:rPr>
              <a:t>El GEIT permite a la empresa aprovechar al máximo la I&amp;T, mediante la maximización de los beneficios, la capitalización de las oportunidades y la obtención de una ventaja competitiva. </a:t>
            </a:r>
            <a:endParaRPr lang="es-ES" sz="1400" spc="-10" dirty="0">
              <a:solidFill>
                <a:schemeClr val="bg1"/>
              </a:solidFill>
            </a:endParaRPr>
          </a:p>
        </p:txBody>
      </p:sp>
      <p:sp>
        <p:nvSpPr>
          <p:cNvPr id="14"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15"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…ENTENDER EL CONTEXTO</a:t>
            </a:r>
          </a:p>
        </p:txBody>
      </p:sp>
      <p:sp>
        <p:nvSpPr>
          <p:cNvPr id="16" name="object 7">
            <a:extLst>
              <a:ext uri="{FF2B5EF4-FFF2-40B4-BE49-F238E27FC236}">
                <a16:creationId xmlns:a16="http://schemas.microsoft.com/office/drawing/2014/main" id="{B7B53379-FF40-4D89-B424-A44DDFBA3B95}"/>
              </a:ext>
            </a:extLst>
          </p:cNvPr>
          <p:cNvSpPr txBox="1"/>
          <p:nvPr/>
        </p:nvSpPr>
        <p:spPr>
          <a:xfrm>
            <a:off x="663303" y="120447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1.1. ¿QUÉ ES EL GEIT?</a:t>
            </a:r>
          </a:p>
        </p:txBody>
      </p:sp>
      <p:pic>
        <p:nvPicPr>
          <p:cNvPr id="4" name="Imagen 3"/>
          <p:cNvPicPr>
            <a:picLocks noChangeAspect="1"/>
          </p:cNvPicPr>
          <p:nvPr/>
        </p:nvPicPr>
        <p:blipFill>
          <a:blip r:embed="rId2"/>
          <a:stretch>
            <a:fillRect/>
          </a:stretch>
        </p:blipFill>
        <p:spPr>
          <a:xfrm>
            <a:off x="5612235" y="1129641"/>
            <a:ext cx="3098683" cy="4240886"/>
          </a:xfrm>
          <a:prstGeom prst="rect">
            <a:avLst/>
          </a:prstGeom>
        </p:spPr>
      </p:pic>
    </p:spTree>
    <p:extLst>
      <p:ext uri="{BB962C8B-B14F-4D97-AF65-F5344CB8AC3E}">
        <p14:creationId xmlns:p14="http://schemas.microsoft.com/office/powerpoint/2010/main" val="6393311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7"/>
          <p:cNvSpPr txBox="1"/>
          <p:nvPr/>
        </p:nvSpPr>
        <p:spPr>
          <a:xfrm>
            <a:off x="778755" y="1443649"/>
            <a:ext cx="7573481" cy="674200"/>
          </a:xfrm>
          <a:prstGeom prst="rect">
            <a:avLst/>
          </a:prstGeom>
        </p:spPr>
        <p:txBody>
          <a:bodyPr vert="horz" wrap="square" lIns="90000" tIns="90000" rIns="90000" bIns="90000" rtlCol="0">
            <a:spAutoFit/>
          </a:bodyPr>
          <a:lstStyle/>
          <a:p>
            <a:pPr algn="just">
              <a:spcAft>
                <a:spcPts val="1800"/>
              </a:spcAft>
              <a:buSzPct val="100000"/>
              <a:tabLst>
                <a:tab pos="121285" algn="l"/>
              </a:tabLst>
            </a:pPr>
            <a:r>
              <a:rPr lang="es-ES" sz="1600" spc="-10" dirty="0">
                <a:solidFill>
                  <a:srgbClr val="262626"/>
                </a:solidFill>
              </a:rPr>
              <a:t>El valor del GEIT en un extenso estudio de una compañía aérea internacional, demostró que los beneficios del GEIT incluían: </a:t>
            </a:r>
            <a:endParaRPr lang="es-ES" sz="1600" spc="-10" dirty="0">
              <a:solidFill>
                <a:srgbClr val="262626"/>
              </a:solidFill>
            </a:endParaRPr>
          </a:p>
        </p:txBody>
      </p:sp>
      <p:sp>
        <p:nvSpPr>
          <p:cNvPr id="18" name="object 7"/>
          <p:cNvSpPr txBox="1"/>
          <p:nvPr/>
        </p:nvSpPr>
        <p:spPr>
          <a:xfrm>
            <a:off x="994570" y="2117539"/>
            <a:ext cx="7357666" cy="2674748"/>
          </a:xfrm>
          <a:prstGeom prst="rect">
            <a:avLst/>
          </a:prstGeom>
        </p:spPr>
        <p:txBody>
          <a:bodyPr vert="horz" wrap="square" lIns="90000" tIns="90000" rIns="90000" bIns="90000" rtlCol="0">
            <a:spAutoFit/>
          </a:bodyPr>
          <a:lstStyle/>
          <a:p>
            <a:pPr algn="just">
              <a:spcAft>
                <a:spcPts val="1200"/>
              </a:spcAft>
              <a:buSzPct val="100000"/>
              <a:tabLst>
                <a:tab pos="121285" algn="l"/>
              </a:tabLst>
            </a:pPr>
            <a:r>
              <a:rPr lang="es-ES" sz="1600" spc="-10" dirty="0">
                <a:solidFill>
                  <a:srgbClr val="262626"/>
                </a:solidFill>
              </a:rPr>
              <a:t>La ética y cultura de la comunidad </a:t>
            </a:r>
          </a:p>
          <a:p>
            <a:pPr algn="just">
              <a:spcAft>
                <a:spcPts val="1200"/>
              </a:spcAft>
              <a:buSzPct val="100000"/>
              <a:tabLst>
                <a:tab pos="121285" algn="l"/>
              </a:tabLst>
            </a:pPr>
            <a:r>
              <a:rPr lang="es-ES" sz="1600" spc="-10" dirty="0">
                <a:solidFill>
                  <a:srgbClr val="262626"/>
                </a:solidFill>
              </a:rPr>
              <a:t>Costes inferiores de continuidad relacionados con las TI</a:t>
            </a:r>
          </a:p>
          <a:p>
            <a:pPr algn="just">
              <a:spcAft>
                <a:spcPts val="1200"/>
              </a:spcAft>
              <a:buSzPct val="100000"/>
              <a:tabLst>
                <a:tab pos="121285" algn="l"/>
              </a:tabLst>
            </a:pPr>
            <a:r>
              <a:rPr lang="es-ES" sz="1600" spc="-10" dirty="0">
                <a:solidFill>
                  <a:srgbClr val="262626"/>
                </a:solidFill>
              </a:rPr>
              <a:t>Mayor capacidad innovadora gracias a las TI</a:t>
            </a:r>
          </a:p>
          <a:p>
            <a:pPr algn="just">
              <a:spcAft>
                <a:spcPts val="1200"/>
              </a:spcAft>
              <a:buSzPct val="100000"/>
              <a:tabLst>
                <a:tab pos="121285" algn="l"/>
              </a:tabLst>
            </a:pPr>
            <a:r>
              <a:rPr lang="es-ES" sz="1600" spc="-10" dirty="0">
                <a:solidFill>
                  <a:srgbClr val="262626"/>
                </a:solidFill>
              </a:rPr>
              <a:t>Mayor alineamiento entre la inversión digital y los objetivos, y las estrategias empresariales</a:t>
            </a:r>
          </a:p>
          <a:p>
            <a:pPr algn="just">
              <a:spcAft>
                <a:spcPts val="1200"/>
              </a:spcAft>
              <a:buSzPct val="100000"/>
              <a:tabLst>
                <a:tab pos="121285" algn="l"/>
              </a:tabLst>
            </a:pPr>
            <a:r>
              <a:rPr lang="es-ES" sz="1600" spc="-10" dirty="0">
                <a:solidFill>
                  <a:srgbClr val="262626"/>
                </a:solidFill>
              </a:rPr>
              <a:t>Mayor confianza entre el negocio y las TI</a:t>
            </a:r>
          </a:p>
          <a:p>
            <a:pPr algn="just">
              <a:spcAft>
                <a:spcPts val="1200"/>
              </a:spcAft>
              <a:buSzPct val="100000"/>
              <a:tabLst>
                <a:tab pos="121285" algn="l"/>
              </a:tabLst>
            </a:pPr>
            <a:r>
              <a:rPr lang="es-ES" sz="1600" spc="-10" dirty="0">
                <a:solidFill>
                  <a:srgbClr val="262626"/>
                </a:solidFill>
              </a:rPr>
              <a:t>Cambio hacia una mentalidad de valor en torno a los activos digitales</a:t>
            </a:r>
            <a:endParaRPr lang="es-ES" sz="1600" spc="-10" dirty="0">
              <a:solidFill>
                <a:srgbClr val="262626"/>
              </a:solidFill>
            </a:endParaRPr>
          </a:p>
        </p:txBody>
      </p:sp>
      <p:sp>
        <p:nvSpPr>
          <p:cNvPr id="25" name="Google Shape;72;p14"/>
          <p:cNvSpPr/>
          <p:nvPr/>
        </p:nvSpPr>
        <p:spPr>
          <a:xfrm rot="10800000" flipH="1">
            <a:off x="755702" y="2248291"/>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6" name="Google Shape;72;p14"/>
          <p:cNvSpPr/>
          <p:nvPr/>
        </p:nvSpPr>
        <p:spPr>
          <a:xfrm rot="10800000" flipH="1">
            <a:off x="755650" y="2624117"/>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7" name="Google Shape;72;p14"/>
          <p:cNvSpPr/>
          <p:nvPr/>
        </p:nvSpPr>
        <p:spPr>
          <a:xfrm rot="10800000" flipH="1">
            <a:off x="755702" y="3025649"/>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8" name="Google Shape;72;p14"/>
          <p:cNvSpPr/>
          <p:nvPr/>
        </p:nvSpPr>
        <p:spPr>
          <a:xfrm rot="10800000" flipH="1">
            <a:off x="773021" y="3447717"/>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16"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1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…ENTENDER EL CONTEXTO</a:t>
            </a:r>
          </a:p>
        </p:txBody>
      </p:sp>
      <p:sp>
        <p:nvSpPr>
          <p:cNvPr id="19" name="object 7">
            <a:extLst>
              <a:ext uri="{FF2B5EF4-FFF2-40B4-BE49-F238E27FC236}">
                <a16:creationId xmlns:a16="http://schemas.microsoft.com/office/drawing/2014/main" id="{B7B53379-FF40-4D89-B424-A44DDFBA3B95}"/>
              </a:ext>
            </a:extLst>
          </p:cNvPr>
          <p:cNvSpPr txBox="1"/>
          <p:nvPr/>
        </p:nvSpPr>
        <p:spPr>
          <a:xfrm>
            <a:off x="663303" y="120447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1.2. ¿POR QUÉ ES IMPORTANTE EL GEIT?</a:t>
            </a:r>
          </a:p>
        </p:txBody>
      </p:sp>
      <p:sp>
        <p:nvSpPr>
          <p:cNvPr id="20" name="Google Shape;72;p14"/>
          <p:cNvSpPr/>
          <p:nvPr/>
        </p:nvSpPr>
        <p:spPr>
          <a:xfrm rot="10800000" flipH="1">
            <a:off x="770105" y="4026254"/>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2" name="Google Shape;72;p14"/>
          <p:cNvSpPr/>
          <p:nvPr/>
        </p:nvSpPr>
        <p:spPr>
          <a:xfrm rot="10800000" flipH="1">
            <a:off x="811192" y="4505524"/>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6065565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694865" y="1684030"/>
            <a:ext cx="7573481" cy="1058921"/>
          </a:xfrm>
          <a:prstGeom prst="rect">
            <a:avLst/>
          </a:prstGeom>
        </p:spPr>
        <p:txBody>
          <a:bodyPr vert="horz" wrap="square" lIns="90000" tIns="90000" rIns="90000" bIns="90000" rtlCol="0">
            <a:spAutoFit/>
          </a:bodyPr>
          <a:lstStyle/>
          <a:p>
            <a:pPr marL="285750" indent="-285750" algn="just">
              <a:spcAft>
                <a:spcPts val="1800"/>
              </a:spcAft>
              <a:buSzPct val="100000"/>
              <a:buFont typeface="Arial" panose="020B0604020202020204" pitchFamily="34" charset="0"/>
              <a:buChar char="•"/>
              <a:tabLst>
                <a:tab pos="121285" algn="l"/>
              </a:tabLst>
            </a:pPr>
            <a:r>
              <a:rPr lang="es-ES" sz="1400" spc="-10" dirty="0">
                <a:solidFill>
                  <a:srgbClr val="262626"/>
                </a:solidFill>
              </a:rPr>
              <a:t>Fundamentalmente, el GEIT se preocupa de la creación de valor a partir de la transformación digital y la mitigación del riesgo de negocio derivado de dicha transformación. </a:t>
            </a:r>
          </a:p>
          <a:p>
            <a:pPr marL="285750" indent="-285750" algn="just">
              <a:spcAft>
                <a:spcPts val="1800"/>
              </a:spcAft>
              <a:buSzPct val="100000"/>
              <a:buFont typeface="Arial" panose="020B0604020202020204" pitchFamily="34" charset="0"/>
              <a:buChar char="•"/>
              <a:tabLst>
                <a:tab pos="121285" algn="l"/>
              </a:tabLst>
            </a:pPr>
            <a:r>
              <a:rPr lang="es-ES" sz="1400" spc="-10" dirty="0">
                <a:solidFill>
                  <a:srgbClr val="262626"/>
                </a:solidFill>
              </a:rPr>
              <a:t>Más concretamente, tras la adopción satisfactoria del GEIT cabe esperar tres resultados principales: </a:t>
            </a:r>
            <a:endParaRPr lang="es-PE" sz="1400" b="1" spc="-6" dirty="0">
              <a:latin typeface="Arial" charset="0"/>
              <a:ea typeface="Arial" charset="0"/>
              <a:cs typeface="Arial" charset="0"/>
            </a:endParaRPr>
          </a:p>
        </p:txBody>
      </p:sp>
      <p:sp>
        <p:nvSpPr>
          <p:cNvPr id="8" name="object 7"/>
          <p:cNvSpPr txBox="1"/>
          <p:nvPr/>
        </p:nvSpPr>
        <p:spPr>
          <a:xfrm>
            <a:off x="1900184" y="2811424"/>
            <a:ext cx="6186803" cy="1597530"/>
          </a:xfrm>
          <a:prstGeom prst="rect">
            <a:avLst/>
          </a:prstGeom>
        </p:spPr>
        <p:txBody>
          <a:bodyPr vert="horz" wrap="square" lIns="90000" tIns="90000" rIns="90000" bIns="90000" rtlCol="0">
            <a:spAutoFit/>
          </a:bodyPr>
          <a:lstStyle/>
          <a:p>
            <a:pPr algn="just">
              <a:spcAft>
                <a:spcPts val="1200"/>
              </a:spcAft>
              <a:buSzPct val="100000"/>
              <a:tabLst>
                <a:tab pos="121285" algn="l"/>
              </a:tabLst>
            </a:pPr>
            <a:r>
              <a:rPr lang="es-ES" sz="1600" spc="-10" dirty="0">
                <a:solidFill>
                  <a:srgbClr val="262626"/>
                </a:solidFill>
              </a:rPr>
              <a:t>Obtención de beneficios </a:t>
            </a:r>
          </a:p>
          <a:p>
            <a:pPr>
              <a:buClr>
                <a:srgbClr val="FA4044"/>
              </a:buClr>
              <a:buSzPct val="120000"/>
              <a:tabLst>
                <a:tab pos="75803" algn="l"/>
              </a:tabLst>
              <a:defRPr/>
            </a:pPr>
            <a:endParaRPr lang="es-PE" sz="1200" b="1" spc="-6" dirty="0">
              <a:latin typeface="Arial" charset="0"/>
              <a:ea typeface="Arial" charset="0"/>
              <a:cs typeface="Arial" charset="0"/>
            </a:endParaRPr>
          </a:p>
          <a:p>
            <a:pPr algn="just">
              <a:spcAft>
                <a:spcPts val="1200"/>
              </a:spcAft>
              <a:buSzPct val="100000"/>
              <a:tabLst>
                <a:tab pos="121285" algn="l"/>
              </a:tabLst>
            </a:pPr>
            <a:r>
              <a:rPr lang="es-ES" sz="1600" spc="-10" dirty="0">
                <a:solidFill>
                  <a:srgbClr val="262626"/>
                </a:solidFill>
              </a:rPr>
              <a:t>Optimización del riesgo</a:t>
            </a:r>
          </a:p>
          <a:p>
            <a:pPr>
              <a:buClr>
                <a:srgbClr val="FA4044"/>
              </a:buClr>
              <a:buSzPct val="120000"/>
              <a:tabLst>
                <a:tab pos="75803" algn="l"/>
              </a:tabLst>
              <a:defRPr/>
            </a:pPr>
            <a:endParaRPr lang="es-PE" sz="1200" b="1" spc="-6" dirty="0">
              <a:latin typeface="Arial" charset="0"/>
              <a:ea typeface="Arial" charset="0"/>
              <a:cs typeface="Arial" charset="0"/>
            </a:endParaRPr>
          </a:p>
          <a:p>
            <a:pPr algn="just">
              <a:spcAft>
                <a:spcPts val="1200"/>
              </a:spcAft>
              <a:buSzPct val="100000"/>
              <a:tabLst>
                <a:tab pos="121285" algn="l"/>
              </a:tabLst>
            </a:pPr>
            <a:r>
              <a:rPr lang="es-ES" sz="1600" spc="-10" dirty="0">
                <a:solidFill>
                  <a:srgbClr val="262626"/>
                </a:solidFill>
              </a:rPr>
              <a:t>Optimización de </a:t>
            </a:r>
            <a:r>
              <a:rPr lang="es-ES" sz="1600" spc="-10" dirty="0" smtClean="0">
                <a:solidFill>
                  <a:srgbClr val="262626"/>
                </a:solidFill>
              </a:rPr>
              <a:t>recursos</a:t>
            </a:r>
            <a:endParaRPr lang="es-ES" sz="1600" spc="-10" dirty="0">
              <a:solidFill>
                <a:srgbClr val="262626"/>
              </a:solidFill>
            </a:endParaRPr>
          </a:p>
        </p:txBody>
      </p:sp>
      <p:cxnSp>
        <p:nvCxnSpPr>
          <p:cNvPr id="13" name="Conector recto 12"/>
          <p:cNvCxnSpPr/>
          <p:nvPr/>
        </p:nvCxnSpPr>
        <p:spPr>
          <a:xfrm>
            <a:off x="1988191" y="3370388"/>
            <a:ext cx="282709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Google Shape;72;p14"/>
          <p:cNvSpPr/>
          <p:nvPr/>
        </p:nvSpPr>
        <p:spPr>
          <a:xfrm rot="10800000" flipH="1">
            <a:off x="1602938" y="2877598"/>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19" name="Google Shape;72;p14"/>
          <p:cNvSpPr/>
          <p:nvPr/>
        </p:nvSpPr>
        <p:spPr>
          <a:xfrm rot="10800000" flipH="1">
            <a:off x="1594600" y="3416680"/>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0" name="Google Shape;72;p14"/>
          <p:cNvSpPr/>
          <p:nvPr/>
        </p:nvSpPr>
        <p:spPr>
          <a:xfrm rot="10800000" flipH="1">
            <a:off x="1619767" y="4008972"/>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3"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24"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…ENTENDER EL CONTEXTO</a:t>
            </a:r>
          </a:p>
        </p:txBody>
      </p:sp>
      <p:sp>
        <p:nvSpPr>
          <p:cNvPr id="25" name="object 7">
            <a:extLst>
              <a:ext uri="{FF2B5EF4-FFF2-40B4-BE49-F238E27FC236}">
                <a16:creationId xmlns:a16="http://schemas.microsoft.com/office/drawing/2014/main" id="{B7B53379-FF40-4D89-B424-A44DDFBA3B95}"/>
              </a:ext>
            </a:extLst>
          </p:cNvPr>
          <p:cNvSpPr txBox="1"/>
          <p:nvPr/>
        </p:nvSpPr>
        <p:spPr>
          <a:xfrm>
            <a:off x="663303" y="120447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1.3. ¿QUÉ DEBERÍA OFRECER EL GEIT?</a:t>
            </a:r>
          </a:p>
        </p:txBody>
      </p:sp>
      <p:cxnSp>
        <p:nvCxnSpPr>
          <p:cNvPr id="26" name="Conector recto 25"/>
          <p:cNvCxnSpPr/>
          <p:nvPr/>
        </p:nvCxnSpPr>
        <p:spPr>
          <a:xfrm>
            <a:off x="1988191" y="3925460"/>
            <a:ext cx="282709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7549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p:cNvPicPr>
            <a:picLocks noChangeAspect="1"/>
          </p:cNvPicPr>
          <p:nvPr/>
        </p:nvPicPr>
        <p:blipFill>
          <a:blip r:embed="rId2"/>
          <a:stretch>
            <a:fillRect/>
          </a:stretch>
        </p:blipFill>
        <p:spPr>
          <a:xfrm>
            <a:off x="879515" y="921608"/>
            <a:ext cx="211179" cy="188789"/>
          </a:xfrm>
          <a:prstGeom prst="rect">
            <a:avLst/>
          </a:prstGeom>
        </p:spPr>
      </p:pic>
      <p:sp>
        <p:nvSpPr>
          <p:cNvPr id="31"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32" name="object 7">
            <a:extLst>
              <a:ext uri="{FF2B5EF4-FFF2-40B4-BE49-F238E27FC236}">
                <a16:creationId xmlns:a16="http://schemas.microsoft.com/office/drawing/2014/main" id="{163CCFF5-6DBB-44D7-85E8-567CB4D4AC0E}"/>
              </a:ext>
            </a:extLst>
          </p:cNvPr>
          <p:cNvSpPr txBox="1"/>
          <p:nvPr/>
        </p:nvSpPr>
        <p:spPr>
          <a:xfrm>
            <a:off x="510903" y="771402"/>
            <a:ext cx="8090520"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APROVECHAR COBIT 2019 E INTEGRAR MARCOS, ESTÁNDARES Y BUENAS PRÁCTICAS </a:t>
            </a:r>
          </a:p>
        </p:txBody>
      </p:sp>
      <p:grpSp>
        <p:nvGrpSpPr>
          <p:cNvPr id="2" name="Grupo 1"/>
          <p:cNvGrpSpPr/>
          <p:nvPr/>
        </p:nvGrpSpPr>
        <p:grpSpPr>
          <a:xfrm>
            <a:off x="649759" y="1671663"/>
            <a:ext cx="6720723" cy="2742770"/>
            <a:chOff x="678368" y="1260603"/>
            <a:chExt cx="6720723" cy="2742770"/>
          </a:xfrm>
        </p:grpSpPr>
        <p:grpSp>
          <p:nvGrpSpPr>
            <p:cNvPr id="17" name="Agrupar 16"/>
            <p:cNvGrpSpPr/>
            <p:nvPr/>
          </p:nvGrpSpPr>
          <p:grpSpPr>
            <a:xfrm>
              <a:off x="678368" y="3338076"/>
              <a:ext cx="6720723" cy="665297"/>
              <a:chOff x="2833143" y="3432289"/>
              <a:chExt cx="9123984" cy="1041247"/>
            </a:xfrm>
          </p:grpSpPr>
          <p:sp>
            <p:nvSpPr>
              <p:cNvPr id="11" name="Rectángulo redondeado 10"/>
              <p:cNvSpPr/>
              <p:nvPr/>
            </p:nvSpPr>
            <p:spPr>
              <a:xfrm>
                <a:off x="3286921" y="3432289"/>
                <a:ext cx="8670206" cy="1041247"/>
              </a:xfrm>
              <a:prstGeom prst="roundRect">
                <a:avLst/>
              </a:prstGeom>
              <a:solidFill>
                <a:srgbClr val="FFD9D1"/>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Trabajar dentro de un marco de referencia y aprovechar las buenas prácticas permite el desarrollo y la optimización de procesos de gobierno y otros componentes del sistema de gobierno. </a:t>
                </a:r>
                <a:endParaRPr lang="es-ES" sz="1400" spc="-10" dirty="0">
                  <a:solidFill>
                    <a:srgbClr val="262626"/>
                  </a:solidFill>
                </a:endParaRPr>
              </a:p>
            </p:txBody>
          </p:sp>
          <p:sp>
            <p:nvSpPr>
              <p:cNvPr id="10" name="Elipse 9"/>
              <p:cNvSpPr/>
              <p:nvPr/>
            </p:nvSpPr>
            <p:spPr>
              <a:xfrm>
                <a:off x="2833143" y="3510523"/>
                <a:ext cx="884775" cy="884776"/>
              </a:xfrm>
              <a:prstGeom prst="ellipse">
                <a:avLst/>
              </a:prstGeom>
              <a:solidFill>
                <a:schemeClr val="bg1"/>
              </a:solidFill>
              <a:ln w="28575">
                <a:solidFill>
                  <a:srgbClr val="FFD9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grpSp>
        <p:grpSp>
          <p:nvGrpSpPr>
            <p:cNvPr id="33" name="Agrupar 16"/>
            <p:cNvGrpSpPr/>
            <p:nvPr/>
          </p:nvGrpSpPr>
          <p:grpSpPr>
            <a:xfrm>
              <a:off x="735587" y="1260603"/>
              <a:ext cx="6663504" cy="1950274"/>
              <a:chOff x="2833143" y="3411020"/>
              <a:chExt cx="9046306" cy="3052341"/>
            </a:xfrm>
          </p:grpSpPr>
          <p:sp>
            <p:nvSpPr>
              <p:cNvPr id="34" name="Rectángulo redondeado 33"/>
              <p:cNvSpPr/>
              <p:nvPr/>
            </p:nvSpPr>
            <p:spPr>
              <a:xfrm>
                <a:off x="3286922" y="3432289"/>
                <a:ext cx="8592527" cy="842239"/>
              </a:xfrm>
              <a:prstGeom prst="roundRect">
                <a:avLst/>
              </a:prstGeom>
              <a:solidFill>
                <a:srgbClr val="FFD9D1"/>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COBIT se basa en una visión de empresa y está alineado con las buenas prácticas del gobierno empresarial. </a:t>
                </a:r>
                <a:endParaRPr lang="es-ES" sz="1400" spc="-10" dirty="0">
                  <a:solidFill>
                    <a:srgbClr val="262626"/>
                  </a:solidFill>
                </a:endParaRPr>
              </a:p>
            </p:txBody>
          </p:sp>
          <p:sp>
            <p:nvSpPr>
              <p:cNvPr id="35" name="Elipse 34"/>
              <p:cNvSpPr/>
              <p:nvPr/>
            </p:nvSpPr>
            <p:spPr>
              <a:xfrm>
                <a:off x="2833143" y="3411020"/>
                <a:ext cx="884775" cy="884775"/>
              </a:xfrm>
              <a:prstGeom prst="ellipse">
                <a:avLst/>
              </a:prstGeom>
              <a:solidFill>
                <a:schemeClr val="bg1"/>
              </a:solidFill>
              <a:ln w="28575">
                <a:solidFill>
                  <a:srgbClr val="FFD9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sp>
            <p:nvSpPr>
              <p:cNvPr id="36" name="Rectángulo redondeado 35"/>
              <p:cNvSpPr/>
              <p:nvPr/>
            </p:nvSpPr>
            <p:spPr>
              <a:xfrm>
                <a:off x="3286921" y="4516072"/>
                <a:ext cx="8592528" cy="842238"/>
              </a:xfrm>
              <a:prstGeom prst="roundRect">
                <a:avLst/>
              </a:prstGeom>
              <a:solidFill>
                <a:srgbClr val="93DBC6"/>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COBIT es un marco de referencia único y general, cuyas directrices consistentes e integradas se expresan en un lenguaje no técnico y ajeno a la tecnología. </a:t>
                </a:r>
                <a:endParaRPr lang="es-ES" sz="1400" spc="-10" dirty="0">
                  <a:solidFill>
                    <a:srgbClr val="262626"/>
                  </a:solidFill>
                </a:endParaRPr>
              </a:p>
            </p:txBody>
          </p:sp>
          <p:sp>
            <p:nvSpPr>
              <p:cNvPr id="37" name="Elipse 36"/>
              <p:cNvSpPr/>
              <p:nvPr/>
            </p:nvSpPr>
            <p:spPr>
              <a:xfrm>
                <a:off x="2833143" y="4494803"/>
                <a:ext cx="884775" cy="884775"/>
              </a:xfrm>
              <a:prstGeom prst="ellipse">
                <a:avLst/>
              </a:prstGeom>
              <a:solidFill>
                <a:schemeClr val="bg1"/>
              </a:solidFill>
              <a:ln w="28575">
                <a:solidFill>
                  <a:srgbClr val="93DB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sp>
            <p:nvSpPr>
              <p:cNvPr id="38" name="Rectángulo redondeado 37"/>
              <p:cNvSpPr/>
              <p:nvPr/>
            </p:nvSpPr>
            <p:spPr>
              <a:xfrm>
                <a:off x="3286921" y="5599855"/>
                <a:ext cx="8592528" cy="842238"/>
              </a:xfrm>
              <a:prstGeom prst="roundRect">
                <a:avLst/>
              </a:prstGeom>
              <a:solidFill>
                <a:srgbClr val="ADE9FF"/>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El consejo debería exigir la adopción de un marco de referencia de GEIT como COBIT 2019 como parte esencial del desarrollo de un gobierno empresarial. </a:t>
                </a:r>
                <a:endParaRPr lang="es-ES" sz="1400" spc="-10" dirty="0">
                  <a:solidFill>
                    <a:srgbClr val="262626"/>
                  </a:solidFill>
                </a:endParaRPr>
              </a:p>
            </p:txBody>
          </p:sp>
          <p:sp>
            <p:nvSpPr>
              <p:cNvPr id="39" name="Elipse 38"/>
              <p:cNvSpPr/>
              <p:nvPr/>
            </p:nvSpPr>
            <p:spPr>
              <a:xfrm>
                <a:off x="2833143" y="5578586"/>
                <a:ext cx="884775" cy="884775"/>
              </a:xfrm>
              <a:prstGeom prst="ellipse">
                <a:avLst/>
              </a:prstGeom>
              <a:solidFill>
                <a:schemeClr val="bg1"/>
              </a:solidFill>
              <a:ln w="28575">
                <a:solidFill>
                  <a:srgbClr val="ADE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grpSp>
      </p:grpSp>
      <p:pic>
        <p:nvPicPr>
          <p:cNvPr id="3" name="Imagen 2"/>
          <p:cNvPicPr>
            <a:picLocks noChangeAspect="1"/>
          </p:cNvPicPr>
          <p:nvPr/>
        </p:nvPicPr>
        <p:blipFill>
          <a:blip r:embed="rId3">
            <a:clrChange>
              <a:clrFrom>
                <a:srgbClr val="FFFFFF"/>
              </a:clrFrom>
              <a:clrTo>
                <a:srgbClr val="FFFFFF">
                  <a:alpha val="0"/>
                </a:srgbClr>
              </a:clrTo>
            </a:clrChange>
          </a:blip>
          <a:stretch>
            <a:fillRect/>
          </a:stretch>
        </p:blipFill>
        <p:spPr>
          <a:xfrm>
            <a:off x="784999" y="2400582"/>
            <a:ext cx="516485" cy="501622"/>
          </a:xfrm>
          <a:prstGeom prst="rect">
            <a:avLst/>
          </a:prstGeom>
        </p:spPr>
      </p:pic>
      <p:pic>
        <p:nvPicPr>
          <p:cNvPr id="4" name="Imagen 3"/>
          <p:cNvPicPr>
            <a:picLocks noChangeAspect="1"/>
          </p:cNvPicPr>
          <p:nvPr/>
        </p:nvPicPr>
        <p:blipFill>
          <a:blip r:embed="rId4">
            <a:clrChange>
              <a:clrFrom>
                <a:srgbClr val="FFFFFF"/>
              </a:clrFrom>
              <a:clrTo>
                <a:srgbClr val="FFFFFF">
                  <a:alpha val="0"/>
                </a:srgbClr>
              </a:clrTo>
            </a:clrChange>
          </a:blip>
          <a:stretch>
            <a:fillRect/>
          </a:stretch>
        </p:blipFill>
        <p:spPr>
          <a:xfrm>
            <a:off x="773780" y="1705479"/>
            <a:ext cx="518119" cy="501481"/>
          </a:xfrm>
          <a:prstGeom prst="rect">
            <a:avLst/>
          </a:prstGeom>
        </p:spPr>
      </p:pic>
      <p:pic>
        <p:nvPicPr>
          <p:cNvPr id="40" name="Imagen 39"/>
          <p:cNvPicPr>
            <a:picLocks noChangeAspect="1"/>
          </p:cNvPicPr>
          <p:nvPr/>
        </p:nvPicPr>
        <p:blipFill>
          <a:blip r:embed="rId3">
            <a:clrChange>
              <a:clrFrom>
                <a:srgbClr val="FFFFFF"/>
              </a:clrFrom>
              <a:clrTo>
                <a:srgbClr val="FFFFFF">
                  <a:alpha val="0"/>
                </a:srgbClr>
              </a:clrTo>
            </a:clrChange>
          </a:blip>
          <a:stretch>
            <a:fillRect/>
          </a:stretch>
        </p:blipFill>
        <p:spPr>
          <a:xfrm>
            <a:off x="768902" y="3079610"/>
            <a:ext cx="516485" cy="501622"/>
          </a:xfrm>
          <a:prstGeom prst="rect">
            <a:avLst/>
          </a:prstGeom>
        </p:spPr>
      </p:pic>
      <p:pic>
        <p:nvPicPr>
          <p:cNvPr id="41" name="Imagen 40"/>
          <p:cNvPicPr>
            <a:picLocks noChangeAspect="1"/>
          </p:cNvPicPr>
          <p:nvPr/>
        </p:nvPicPr>
        <p:blipFill>
          <a:blip r:embed="rId3">
            <a:clrChange>
              <a:clrFrom>
                <a:srgbClr val="FFFFFF"/>
              </a:clrFrom>
              <a:clrTo>
                <a:srgbClr val="FFFFFF">
                  <a:alpha val="0"/>
                </a:srgbClr>
              </a:clrTo>
            </a:clrChange>
          </a:blip>
          <a:stretch>
            <a:fillRect/>
          </a:stretch>
        </p:blipFill>
        <p:spPr>
          <a:xfrm>
            <a:off x="717378" y="3830972"/>
            <a:ext cx="516485" cy="501622"/>
          </a:xfrm>
          <a:prstGeom prst="rect">
            <a:avLst/>
          </a:prstGeom>
        </p:spPr>
      </p:pic>
    </p:spTree>
    <p:extLst>
      <p:ext uri="{BB962C8B-B14F-4D97-AF65-F5344CB8AC3E}">
        <p14:creationId xmlns:p14="http://schemas.microsoft.com/office/powerpoint/2010/main" val="18218610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p:cNvPicPr>
            <a:picLocks noChangeAspect="1"/>
          </p:cNvPicPr>
          <p:nvPr/>
        </p:nvPicPr>
        <p:blipFill>
          <a:blip r:embed="rId2"/>
          <a:stretch>
            <a:fillRect/>
          </a:stretch>
        </p:blipFill>
        <p:spPr>
          <a:xfrm>
            <a:off x="879515" y="921608"/>
            <a:ext cx="211179" cy="188789"/>
          </a:xfrm>
          <a:prstGeom prst="rect">
            <a:avLst/>
          </a:prstGeom>
        </p:spPr>
      </p:pic>
      <p:sp>
        <p:nvSpPr>
          <p:cNvPr id="31"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32" name="object 7">
            <a:extLst>
              <a:ext uri="{FF2B5EF4-FFF2-40B4-BE49-F238E27FC236}">
                <a16:creationId xmlns:a16="http://schemas.microsoft.com/office/drawing/2014/main" id="{163CCFF5-6DBB-44D7-85E8-567CB4D4AC0E}"/>
              </a:ext>
            </a:extLst>
          </p:cNvPr>
          <p:cNvSpPr txBox="1"/>
          <p:nvPr/>
        </p:nvSpPr>
        <p:spPr>
          <a:xfrm>
            <a:off x="510903" y="771402"/>
            <a:ext cx="8090520"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APROVECHAR COBIT 2019 E INTEGRAR MARCOS, ESTÁNDARES Y BUENAS PRÁCTICAS </a:t>
            </a:r>
          </a:p>
        </p:txBody>
      </p:sp>
      <p:grpSp>
        <p:nvGrpSpPr>
          <p:cNvPr id="33" name="Agrupar 16"/>
          <p:cNvGrpSpPr/>
          <p:nvPr/>
        </p:nvGrpSpPr>
        <p:grpSpPr>
          <a:xfrm>
            <a:off x="645952" y="1409349"/>
            <a:ext cx="7071920" cy="2835479"/>
            <a:chOff x="2833143" y="3411020"/>
            <a:chExt cx="9046306" cy="3052341"/>
          </a:xfrm>
        </p:grpSpPr>
        <p:sp>
          <p:nvSpPr>
            <p:cNvPr id="34" name="Rectángulo redondeado 33"/>
            <p:cNvSpPr/>
            <p:nvPr/>
          </p:nvSpPr>
          <p:spPr>
            <a:xfrm>
              <a:off x="3286922" y="3432289"/>
              <a:ext cx="8592527" cy="842239"/>
            </a:xfrm>
            <a:prstGeom prst="roundRect">
              <a:avLst/>
            </a:prstGeom>
            <a:solidFill>
              <a:srgbClr val="FFD9D1"/>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Si se personaliza de forma adecuada, el GEIT funcionará de forma eficaz como parte de la práctica empresarial normal de una empresa, siempre que haya una cultura de apoyo demostrada por la alta dirección. </a:t>
              </a:r>
              <a:endParaRPr lang="es-ES" sz="1400" spc="-10" dirty="0">
                <a:solidFill>
                  <a:srgbClr val="262626"/>
                </a:solidFill>
              </a:endParaRPr>
            </a:p>
          </p:txBody>
        </p:sp>
        <p:sp>
          <p:nvSpPr>
            <p:cNvPr id="35" name="Elipse 34"/>
            <p:cNvSpPr/>
            <p:nvPr/>
          </p:nvSpPr>
          <p:spPr>
            <a:xfrm>
              <a:off x="2833143" y="3411020"/>
              <a:ext cx="884775" cy="884775"/>
            </a:xfrm>
            <a:prstGeom prst="ellipse">
              <a:avLst/>
            </a:prstGeom>
            <a:solidFill>
              <a:schemeClr val="bg1"/>
            </a:solidFill>
            <a:ln w="28575">
              <a:solidFill>
                <a:srgbClr val="FFD9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sp>
          <p:nvSpPr>
            <p:cNvPr id="36" name="Rectángulo redondeado 35"/>
            <p:cNvSpPr/>
            <p:nvPr/>
          </p:nvSpPr>
          <p:spPr>
            <a:xfrm>
              <a:off x="3286921" y="4516072"/>
              <a:ext cx="8592528" cy="842238"/>
            </a:xfrm>
            <a:prstGeom prst="roundRect">
              <a:avLst/>
            </a:prstGeom>
            <a:solidFill>
              <a:srgbClr val="93DBC6"/>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La alineación con COBIT también debería desembocar en auditorías externas más rápidas y eficientes, ya que COBIT es ampliamente aceptado como la base de los procedimientos de auditoría de TI. </a:t>
              </a:r>
              <a:endParaRPr lang="es-ES" sz="1400" spc="-10" dirty="0">
                <a:solidFill>
                  <a:srgbClr val="262626"/>
                </a:solidFill>
              </a:endParaRPr>
            </a:p>
          </p:txBody>
        </p:sp>
        <p:sp>
          <p:nvSpPr>
            <p:cNvPr id="37" name="Elipse 36"/>
            <p:cNvSpPr/>
            <p:nvPr/>
          </p:nvSpPr>
          <p:spPr>
            <a:xfrm>
              <a:off x="2833143" y="4494803"/>
              <a:ext cx="884775" cy="884775"/>
            </a:xfrm>
            <a:prstGeom prst="ellipse">
              <a:avLst/>
            </a:prstGeom>
            <a:solidFill>
              <a:schemeClr val="bg1"/>
            </a:solidFill>
            <a:ln w="28575">
              <a:solidFill>
                <a:srgbClr val="93DB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sp>
          <p:nvSpPr>
            <p:cNvPr id="38" name="Rectángulo redondeado 37"/>
            <p:cNvSpPr/>
            <p:nvPr/>
          </p:nvSpPr>
          <p:spPr>
            <a:xfrm>
              <a:off x="3286921" y="5599855"/>
              <a:ext cx="8592528" cy="842238"/>
            </a:xfrm>
            <a:prstGeom prst="roundRect">
              <a:avLst/>
            </a:prstGeom>
            <a:solidFill>
              <a:srgbClr val="ADE9FF"/>
            </a:solidFill>
            <a:ln>
              <a:noFill/>
            </a:ln>
          </p:spPr>
          <p:style>
            <a:lnRef idx="2">
              <a:schemeClr val="accent1">
                <a:shade val="50000"/>
              </a:schemeClr>
            </a:lnRef>
            <a:fillRef idx="1">
              <a:schemeClr val="accent1"/>
            </a:fillRef>
            <a:effectRef idx="0">
              <a:schemeClr val="accent1"/>
            </a:effectRef>
            <a:fontRef idx="minor">
              <a:schemeClr val="lt1"/>
            </a:fontRef>
          </p:style>
          <p:txBody>
            <a:bodyPr lIns="405000" rtlCol="0" anchor="ctr"/>
            <a:lstStyle/>
            <a:p>
              <a:pPr algn="just">
                <a:spcAft>
                  <a:spcPts val="1200"/>
                </a:spcAft>
                <a:buSzPct val="100000"/>
                <a:tabLst>
                  <a:tab pos="121285" algn="l"/>
                </a:tabLst>
              </a:pPr>
              <a:r>
                <a:rPr lang="es-ES" sz="1400" spc="-10" dirty="0">
                  <a:solidFill>
                    <a:srgbClr val="262626"/>
                  </a:solidFill>
                </a:rPr>
                <a:t>El marco de referencia COBIT establece la estrategia general; las directrices proporcionadas por estándares específicos y buenas prácticas pueden entonces aplicarse a procesos, prácticas, políticas y procedimientos específicos, a medida que la empresa personaliza su implementación. </a:t>
              </a:r>
              <a:endParaRPr lang="es-ES" sz="1400" spc="-10" dirty="0">
                <a:solidFill>
                  <a:srgbClr val="262626"/>
                </a:solidFill>
              </a:endParaRPr>
            </a:p>
          </p:txBody>
        </p:sp>
        <p:sp>
          <p:nvSpPr>
            <p:cNvPr id="39" name="Elipse 38"/>
            <p:cNvSpPr/>
            <p:nvPr/>
          </p:nvSpPr>
          <p:spPr>
            <a:xfrm>
              <a:off x="2833143" y="5578586"/>
              <a:ext cx="884775" cy="884775"/>
            </a:xfrm>
            <a:prstGeom prst="ellipse">
              <a:avLst/>
            </a:prstGeom>
            <a:solidFill>
              <a:schemeClr val="bg1"/>
            </a:solidFill>
            <a:ln w="28575">
              <a:solidFill>
                <a:srgbClr val="ADE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200">
                <a:latin typeface="Arial" charset="0"/>
                <a:ea typeface="Arial" charset="0"/>
                <a:cs typeface="Arial" charset="0"/>
              </a:endParaRPr>
            </a:p>
          </p:txBody>
        </p:sp>
      </p:grpSp>
      <p:pic>
        <p:nvPicPr>
          <p:cNvPr id="16" name="Imagen 15"/>
          <p:cNvPicPr>
            <a:picLocks noChangeAspect="1"/>
          </p:cNvPicPr>
          <p:nvPr/>
        </p:nvPicPr>
        <p:blipFill>
          <a:blip r:embed="rId3">
            <a:clrChange>
              <a:clrFrom>
                <a:srgbClr val="FFFFFF"/>
              </a:clrFrom>
              <a:clrTo>
                <a:srgbClr val="FFFFFF">
                  <a:alpha val="0"/>
                </a:srgbClr>
              </a:clrTo>
            </a:clrChange>
          </a:blip>
          <a:stretch>
            <a:fillRect/>
          </a:stretch>
        </p:blipFill>
        <p:spPr>
          <a:xfrm>
            <a:off x="726861" y="2554842"/>
            <a:ext cx="516485" cy="501622"/>
          </a:xfrm>
          <a:prstGeom prst="rect">
            <a:avLst/>
          </a:prstGeom>
        </p:spPr>
      </p:pic>
      <p:pic>
        <p:nvPicPr>
          <p:cNvPr id="19" name="Imagen 18"/>
          <p:cNvPicPr>
            <a:picLocks noChangeAspect="1"/>
          </p:cNvPicPr>
          <p:nvPr/>
        </p:nvPicPr>
        <p:blipFill>
          <a:blip r:embed="rId3">
            <a:clrChange>
              <a:clrFrom>
                <a:srgbClr val="FFFFFF"/>
              </a:clrFrom>
              <a:clrTo>
                <a:srgbClr val="FFFFFF">
                  <a:alpha val="0"/>
                </a:srgbClr>
              </a:clrTo>
            </a:clrChange>
          </a:blip>
          <a:stretch>
            <a:fillRect/>
          </a:stretch>
        </p:blipFill>
        <p:spPr>
          <a:xfrm>
            <a:off x="742449" y="3583060"/>
            <a:ext cx="516485" cy="501622"/>
          </a:xfrm>
          <a:prstGeom prst="rect">
            <a:avLst/>
          </a:prstGeom>
        </p:spPr>
      </p:pic>
      <p:pic>
        <p:nvPicPr>
          <p:cNvPr id="20" name="Imagen 19"/>
          <p:cNvPicPr>
            <a:picLocks noChangeAspect="1"/>
          </p:cNvPicPr>
          <p:nvPr/>
        </p:nvPicPr>
        <p:blipFill>
          <a:blip r:embed="rId3">
            <a:clrChange>
              <a:clrFrom>
                <a:srgbClr val="FFFFFF"/>
              </a:clrFrom>
              <a:clrTo>
                <a:srgbClr val="FFFFFF">
                  <a:alpha val="0"/>
                </a:srgbClr>
              </a:clrTo>
            </a:clrChange>
          </a:blip>
          <a:stretch>
            <a:fillRect/>
          </a:stretch>
        </p:blipFill>
        <p:spPr>
          <a:xfrm>
            <a:off x="742449" y="1560673"/>
            <a:ext cx="516485" cy="501622"/>
          </a:xfrm>
          <a:prstGeom prst="rect">
            <a:avLst/>
          </a:prstGeom>
        </p:spPr>
      </p:pic>
    </p:spTree>
    <p:extLst>
      <p:ext uri="{BB962C8B-B14F-4D97-AF65-F5344CB8AC3E}">
        <p14:creationId xmlns:p14="http://schemas.microsoft.com/office/powerpoint/2010/main" val="1393738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9" name="object 7">
            <a:extLst>
              <a:ext uri="{FF2B5EF4-FFF2-40B4-BE49-F238E27FC236}">
                <a16:creationId xmlns:a16="http://schemas.microsoft.com/office/drawing/2014/main" id="{B7B53379-FF40-4D89-B424-A44DDFBA3B95}"/>
              </a:ext>
            </a:extLst>
          </p:cNvPr>
          <p:cNvSpPr txBox="1"/>
          <p:nvPr/>
        </p:nvSpPr>
        <p:spPr>
          <a:xfrm>
            <a:off x="607155" y="1230513"/>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2.1. PRINCIPIOS DE GOBIERNO</a:t>
            </a:r>
          </a:p>
        </p:txBody>
      </p:sp>
      <p:sp>
        <p:nvSpPr>
          <p:cNvPr id="10" name="object 7">
            <a:extLst>
              <a:ext uri="{FF2B5EF4-FFF2-40B4-BE49-F238E27FC236}">
                <a16:creationId xmlns:a16="http://schemas.microsoft.com/office/drawing/2014/main" id="{A03327C5-EB39-4E41-82E4-E41409821749}"/>
              </a:ext>
            </a:extLst>
          </p:cNvPr>
          <p:cNvSpPr txBox="1"/>
          <p:nvPr/>
        </p:nvSpPr>
        <p:spPr>
          <a:xfrm>
            <a:off x="881017" y="1655492"/>
            <a:ext cx="7609840" cy="1138773"/>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Principios que describen los requisitos fundamentales de un sistema de gobierno para la </a:t>
            </a:r>
            <a:r>
              <a:rPr lang="es-ES" sz="1600" spc="-10" dirty="0" smtClean="0">
                <a:solidFill>
                  <a:srgbClr val="262626"/>
                </a:solidFill>
              </a:rPr>
              <a:t>información </a:t>
            </a:r>
            <a:r>
              <a:rPr lang="es-ES" sz="1600" spc="-10" dirty="0">
                <a:solidFill>
                  <a:srgbClr val="262626"/>
                </a:solidFill>
              </a:rPr>
              <a:t>y la </a:t>
            </a:r>
            <a:r>
              <a:rPr lang="es-ES" sz="1600" spc="-10" dirty="0" smtClean="0">
                <a:solidFill>
                  <a:srgbClr val="262626"/>
                </a:solidFill>
              </a:rPr>
              <a:t>tecnología </a:t>
            </a:r>
            <a:r>
              <a:rPr lang="es-ES" sz="1600" spc="-10" dirty="0">
                <a:solidFill>
                  <a:srgbClr val="262626"/>
                </a:solidFill>
              </a:rPr>
              <a:t>de la empresa.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Principios para un marco de gobierno que puede usarse para construir un sistema de gobierno para la empresa. </a:t>
            </a:r>
          </a:p>
        </p:txBody>
      </p:sp>
      <p:sp>
        <p:nvSpPr>
          <p:cNvPr id="8" name="object 7">
            <a:extLst>
              <a:ext uri="{FF2B5EF4-FFF2-40B4-BE49-F238E27FC236}">
                <a16:creationId xmlns:a16="http://schemas.microsoft.com/office/drawing/2014/main" id="{C79BBE98-C4A1-4F59-9DAD-3ECFBCD4B301}"/>
              </a:ext>
            </a:extLst>
          </p:cNvPr>
          <p:cNvSpPr txBox="1"/>
          <p:nvPr/>
        </p:nvSpPr>
        <p:spPr>
          <a:xfrm>
            <a:off x="510903" y="771402"/>
            <a:ext cx="8090520"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…APROVECHAR COBIT 2019 E INTEGRAR MARCOS, ESTÁNDARES Y BUENAS PRÁCTICAS </a:t>
            </a:r>
          </a:p>
        </p:txBody>
      </p:sp>
      <p:pic>
        <p:nvPicPr>
          <p:cNvPr id="3" name="Imagen 2">
            <a:extLst>
              <a:ext uri="{FF2B5EF4-FFF2-40B4-BE49-F238E27FC236}">
                <a16:creationId xmlns:a16="http://schemas.microsoft.com/office/drawing/2014/main" id="{5C7DE68A-7A13-4DCB-8F32-13C0AD23F6B9}"/>
              </a:ext>
            </a:extLst>
          </p:cNvPr>
          <p:cNvPicPr>
            <a:picLocks noChangeAspect="1"/>
          </p:cNvPicPr>
          <p:nvPr/>
        </p:nvPicPr>
        <p:blipFill>
          <a:blip r:embed="rId3"/>
          <a:stretch>
            <a:fillRect/>
          </a:stretch>
        </p:blipFill>
        <p:spPr>
          <a:xfrm>
            <a:off x="881017" y="3038026"/>
            <a:ext cx="4482835" cy="2089520"/>
          </a:xfrm>
          <a:prstGeom prst="rect">
            <a:avLst/>
          </a:prstGeom>
        </p:spPr>
      </p:pic>
      <p:pic>
        <p:nvPicPr>
          <p:cNvPr id="11" name="Imagen 10">
            <a:extLst>
              <a:ext uri="{FF2B5EF4-FFF2-40B4-BE49-F238E27FC236}">
                <a16:creationId xmlns:a16="http://schemas.microsoft.com/office/drawing/2014/main" id="{CED05550-665B-4937-B05C-DC72FC6DAA54}"/>
              </a:ext>
            </a:extLst>
          </p:cNvPr>
          <p:cNvPicPr>
            <a:picLocks noChangeAspect="1"/>
          </p:cNvPicPr>
          <p:nvPr/>
        </p:nvPicPr>
        <p:blipFill>
          <a:blip r:embed="rId4"/>
          <a:stretch>
            <a:fillRect/>
          </a:stretch>
        </p:blipFill>
        <p:spPr>
          <a:xfrm>
            <a:off x="5786105" y="2929323"/>
            <a:ext cx="2707892" cy="2198223"/>
          </a:xfrm>
          <a:prstGeom prst="rect">
            <a:avLst/>
          </a:prstGeom>
        </p:spPr>
      </p:pic>
    </p:spTree>
    <p:extLst>
      <p:ext uri="{BB962C8B-B14F-4D97-AF65-F5344CB8AC3E}">
        <p14:creationId xmlns:p14="http://schemas.microsoft.com/office/powerpoint/2010/main" val="12258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9" name="object 7">
            <a:extLst>
              <a:ext uri="{FF2B5EF4-FFF2-40B4-BE49-F238E27FC236}">
                <a16:creationId xmlns:a16="http://schemas.microsoft.com/office/drawing/2014/main" id="{B7B53379-FF40-4D89-B424-A44DDFBA3B95}"/>
              </a:ext>
            </a:extLst>
          </p:cNvPr>
          <p:cNvSpPr txBox="1"/>
          <p:nvPr/>
        </p:nvSpPr>
        <p:spPr>
          <a:xfrm>
            <a:off x="663303" y="120447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2.2. SISTEMA DE GOBIERNO Y COMPONENTES</a:t>
            </a:r>
          </a:p>
        </p:txBody>
      </p:sp>
      <p:sp>
        <p:nvSpPr>
          <p:cNvPr id="8" name="object 7">
            <a:extLst>
              <a:ext uri="{FF2B5EF4-FFF2-40B4-BE49-F238E27FC236}">
                <a16:creationId xmlns:a16="http://schemas.microsoft.com/office/drawing/2014/main" id="{C79BBE98-C4A1-4F59-9DAD-3ECFBCD4B301}"/>
              </a:ext>
            </a:extLst>
          </p:cNvPr>
          <p:cNvSpPr txBox="1"/>
          <p:nvPr/>
        </p:nvSpPr>
        <p:spPr>
          <a:xfrm>
            <a:off x="510903" y="771402"/>
            <a:ext cx="8090520"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…APROVECHAR COBIT 2019 E INTEGRAR MARCOS, ESTÁNDARES Y BUENAS PRÁCTICAS </a:t>
            </a:r>
          </a:p>
        </p:txBody>
      </p:sp>
      <p:sp>
        <p:nvSpPr>
          <p:cNvPr id="12" name="object 7">
            <a:extLst>
              <a:ext uri="{FF2B5EF4-FFF2-40B4-BE49-F238E27FC236}">
                <a16:creationId xmlns:a16="http://schemas.microsoft.com/office/drawing/2014/main" id="{EA6A5513-B1C2-4C14-958E-8AE87B547466}"/>
              </a:ext>
            </a:extLst>
          </p:cNvPr>
          <p:cNvSpPr txBox="1"/>
          <p:nvPr/>
        </p:nvSpPr>
        <p:spPr>
          <a:xfrm>
            <a:off x="663303" y="1610966"/>
            <a:ext cx="4387668" cy="3508653"/>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Con el objetivo de cumplir con los objetivos de gobierno y gestión, cada empresa debe establecer, personalizar y sostener un sistema de gobierno creado a partir de una serie de componentes. </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Los componentes genéricos se describen en el modelo </a:t>
            </a:r>
            <a:r>
              <a:rPr lang="es-ES" sz="1600" i="1" spc="-10" dirty="0">
                <a:solidFill>
                  <a:srgbClr val="262626"/>
                </a:solidFill>
              </a:rPr>
              <a:t>core</a:t>
            </a:r>
            <a:r>
              <a:rPr lang="es-ES" sz="1600" spc="-10" dirty="0">
                <a:solidFill>
                  <a:srgbClr val="262626"/>
                </a:solidFill>
              </a:rPr>
              <a:t> de COBIT y se aplican a cualquier situación pero requiere una adaptación antes de que se puedan implementar.</a:t>
            </a:r>
            <a:endParaRPr lang="es-PE" sz="1600" spc="-10" dirty="0">
              <a:solidFill>
                <a:srgbClr val="262626"/>
              </a:solidFill>
            </a:endParaRP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Las variantes se basan en componentes genéricos, pero se adaptan para un propósito o contexto dentro de un área prioritaria (seguridad de la información, DevOps, una regulación específica). </a:t>
            </a:r>
          </a:p>
        </p:txBody>
      </p:sp>
      <p:pic>
        <p:nvPicPr>
          <p:cNvPr id="13" name="Imagen 12">
            <a:extLst>
              <a:ext uri="{FF2B5EF4-FFF2-40B4-BE49-F238E27FC236}">
                <a16:creationId xmlns:a16="http://schemas.microsoft.com/office/drawing/2014/main" id="{07EB17D0-A500-4300-95B6-E4E985DB6D25}"/>
              </a:ext>
            </a:extLst>
          </p:cNvPr>
          <p:cNvPicPr>
            <a:picLocks noChangeAspect="1"/>
          </p:cNvPicPr>
          <p:nvPr/>
        </p:nvPicPr>
        <p:blipFill>
          <a:blip r:embed="rId3"/>
          <a:stretch>
            <a:fillRect/>
          </a:stretch>
        </p:blipFill>
        <p:spPr>
          <a:xfrm>
            <a:off x="5341257" y="1637542"/>
            <a:ext cx="3344269" cy="3216120"/>
          </a:xfrm>
          <a:prstGeom prst="rect">
            <a:avLst/>
          </a:prstGeom>
        </p:spPr>
      </p:pic>
    </p:spTree>
    <p:extLst>
      <p:ext uri="{BB962C8B-B14F-4D97-AF65-F5344CB8AC3E}">
        <p14:creationId xmlns:p14="http://schemas.microsoft.com/office/powerpoint/2010/main" val="4020007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grupar 1"/>
          <p:cNvGrpSpPr/>
          <p:nvPr/>
        </p:nvGrpSpPr>
        <p:grpSpPr>
          <a:xfrm>
            <a:off x="1220114" y="1607900"/>
            <a:ext cx="6703774" cy="2391498"/>
            <a:chOff x="1220114" y="1322150"/>
            <a:chExt cx="6703774" cy="2391498"/>
          </a:xfrm>
        </p:grpSpPr>
        <p:grpSp>
          <p:nvGrpSpPr>
            <p:cNvPr id="10" name="Agrupar 9"/>
            <p:cNvGrpSpPr/>
            <p:nvPr/>
          </p:nvGrpSpPr>
          <p:grpSpPr>
            <a:xfrm>
              <a:off x="1220114" y="1322150"/>
              <a:ext cx="6703774" cy="1087962"/>
              <a:chOff x="2095810" y="1701101"/>
              <a:chExt cx="10726039" cy="1740739"/>
            </a:xfrm>
          </p:grpSpPr>
          <p:sp>
            <p:nvSpPr>
              <p:cNvPr id="9" name="Rectángulo redondeado 8"/>
              <p:cNvSpPr/>
              <p:nvPr/>
            </p:nvSpPr>
            <p:spPr>
              <a:xfrm>
                <a:off x="2095810" y="2008188"/>
                <a:ext cx="10438781" cy="1433652"/>
              </a:xfrm>
              <a:prstGeom prst="roundRect">
                <a:avLst>
                  <a:gd name="adj" fmla="val 10033"/>
                </a:avLst>
              </a:prstGeom>
              <a:solidFill>
                <a:srgbClr val="ADE9FF"/>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just">
                  <a:spcAft>
                    <a:spcPts val="1200"/>
                  </a:spcAft>
                  <a:buSzPct val="100000"/>
                  <a:tabLst>
                    <a:tab pos="121285" algn="l"/>
                  </a:tabLst>
                </a:pPr>
                <a:r>
                  <a:rPr lang="es-ES" sz="1400" spc="-10" dirty="0">
                    <a:solidFill>
                      <a:srgbClr val="262626"/>
                    </a:solidFill>
                  </a:rPr>
                  <a:t>COBIT incluye objetivos de gobierno y gestión y los procesos correspondientes que ayudan a orientar la creación y el mantenimiento del sistema de gobierno y sus distintos componentes. </a:t>
                </a:r>
                <a:endParaRPr lang="es-ES" sz="1400" spc="-10" dirty="0">
                  <a:solidFill>
                    <a:srgbClr val="262626"/>
                  </a:solidFill>
                </a:endParaRPr>
              </a:p>
            </p:txBody>
          </p:sp>
          <p:sp>
            <p:nvSpPr>
              <p:cNvPr id="8" name="Elipse 7"/>
              <p:cNvSpPr/>
              <p:nvPr/>
            </p:nvSpPr>
            <p:spPr>
              <a:xfrm>
                <a:off x="12207676" y="1701101"/>
                <a:ext cx="614173" cy="614173"/>
              </a:xfrm>
              <a:prstGeom prst="ellipse">
                <a:avLst/>
              </a:prstGeom>
              <a:solidFill>
                <a:schemeClr val="bg1"/>
              </a:solidFill>
              <a:ln w="28575">
                <a:solidFill>
                  <a:srgbClr val="00BE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400" b="1" dirty="0">
                    <a:solidFill>
                      <a:srgbClr val="00BEFF"/>
                    </a:solidFill>
                    <a:latin typeface="Arial" charset="0"/>
                    <a:ea typeface="Arial" charset="0"/>
                    <a:cs typeface="Arial" charset="0"/>
                  </a:rPr>
                  <a:t>1</a:t>
                </a:r>
              </a:p>
            </p:txBody>
          </p:sp>
        </p:grpSp>
        <p:grpSp>
          <p:nvGrpSpPr>
            <p:cNvPr id="11" name="Agrupar 10"/>
            <p:cNvGrpSpPr/>
            <p:nvPr/>
          </p:nvGrpSpPr>
          <p:grpSpPr>
            <a:xfrm>
              <a:off x="1220114" y="2625686"/>
              <a:ext cx="6703774" cy="1087962"/>
              <a:chOff x="2095810" y="1701101"/>
              <a:chExt cx="10726039" cy="1740739"/>
            </a:xfrm>
          </p:grpSpPr>
          <p:sp>
            <p:nvSpPr>
              <p:cNvPr id="12" name="Rectángulo redondeado 11"/>
              <p:cNvSpPr/>
              <p:nvPr/>
            </p:nvSpPr>
            <p:spPr>
              <a:xfrm>
                <a:off x="2095810" y="2008188"/>
                <a:ext cx="10438781" cy="1433652"/>
              </a:xfrm>
              <a:prstGeom prst="roundRect">
                <a:avLst>
                  <a:gd name="adj" fmla="val 10033"/>
                </a:avLst>
              </a:prstGeom>
              <a:solidFill>
                <a:srgbClr val="93DBC6"/>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just">
                  <a:spcAft>
                    <a:spcPts val="1200"/>
                  </a:spcAft>
                  <a:buSzPct val="100000"/>
                  <a:tabLst>
                    <a:tab pos="121285" algn="l"/>
                  </a:tabLst>
                </a:pPr>
                <a:r>
                  <a:rPr lang="es-ES" sz="1400" spc="-10" dirty="0">
                    <a:solidFill>
                      <a:srgbClr val="262626"/>
                    </a:solidFill>
                  </a:rPr>
                  <a:t>Los objetivos de gobierno y gestión de COBIT garantizan que la empresa organiza sus actividades relacionadas con la I&amp;T de forma repetible y confiable. El modelo </a:t>
                </a:r>
                <a:r>
                  <a:rPr lang="es-ES" sz="1400" i="1" spc="-10" dirty="0">
                    <a:solidFill>
                      <a:srgbClr val="262626"/>
                    </a:solidFill>
                  </a:rPr>
                  <a:t>Core </a:t>
                </a:r>
                <a:r>
                  <a:rPr lang="es-ES" sz="1400" spc="-10" dirty="0">
                    <a:solidFill>
                      <a:srgbClr val="262626"/>
                    </a:solidFill>
                  </a:rPr>
                  <a:t>de COBIT con cinco dominios, 40 objetivos de gobierno y gestión, forman la estructura de las directrices detalladas de </a:t>
                </a:r>
                <a:r>
                  <a:rPr lang="es-ES" sz="1400" spc="-10" dirty="0" smtClean="0">
                    <a:solidFill>
                      <a:srgbClr val="262626"/>
                    </a:solidFill>
                  </a:rPr>
                  <a:t>COBIT.</a:t>
                </a:r>
                <a:endParaRPr lang="es-ES" sz="1400" spc="-10" dirty="0">
                  <a:solidFill>
                    <a:srgbClr val="262626"/>
                  </a:solidFill>
                </a:endParaRPr>
              </a:p>
            </p:txBody>
          </p:sp>
          <p:sp>
            <p:nvSpPr>
              <p:cNvPr id="13" name="Elipse 12"/>
              <p:cNvSpPr/>
              <p:nvPr/>
            </p:nvSpPr>
            <p:spPr>
              <a:xfrm>
                <a:off x="12207676" y="1701101"/>
                <a:ext cx="614173" cy="614173"/>
              </a:xfrm>
              <a:prstGeom prst="ellipse">
                <a:avLst/>
              </a:prstGeom>
              <a:solidFill>
                <a:schemeClr val="bg1"/>
              </a:solidFill>
              <a:ln w="28575">
                <a:solidFill>
                  <a:srgbClr val="0BAE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400" b="1" dirty="0">
                    <a:solidFill>
                      <a:srgbClr val="0BAE80"/>
                    </a:solidFill>
                    <a:latin typeface="Arial" charset="0"/>
                    <a:ea typeface="Arial" charset="0"/>
                    <a:cs typeface="Arial" charset="0"/>
                  </a:rPr>
                  <a:t>2</a:t>
                </a:r>
              </a:p>
            </p:txBody>
          </p:sp>
        </p:grpSp>
      </p:grpSp>
      <p:sp>
        <p:nvSpPr>
          <p:cNvPr id="19"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20" name="object 7">
            <a:extLst>
              <a:ext uri="{FF2B5EF4-FFF2-40B4-BE49-F238E27FC236}">
                <a16:creationId xmlns:a16="http://schemas.microsoft.com/office/drawing/2014/main" id="{C79BBE98-C4A1-4F59-9DAD-3ECFBCD4B301}"/>
              </a:ext>
            </a:extLst>
          </p:cNvPr>
          <p:cNvSpPr txBox="1"/>
          <p:nvPr/>
        </p:nvSpPr>
        <p:spPr>
          <a:xfrm>
            <a:off x="510903" y="771402"/>
            <a:ext cx="8090520"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…APROVECHAR COBIT 2019 E INTEGRAR MARCOS, ESTÁNDARES Y BUENAS PRÁCTICAS </a:t>
            </a:r>
          </a:p>
        </p:txBody>
      </p:sp>
      <p:sp>
        <p:nvSpPr>
          <p:cNvPr id="21" name="object 7">
            <a:extLst>
              <a:ext uri="{FF2B5EF4-FFF2-40B4-BE49-F238E27FC236}">
                <a16:creationId xmlns:a16="http://schemas.microsoft.com/office/drawing/2014/main" id="{B7B53379-FF40-4D89-B424-A44DDFBA3B95}"/>
              </a:ext>
            </a:extLst>
          </p:cNvPr>
          <p:cNvSpPr txBox="1"/>
          <p:nvPr/>
        </p:nvSpPr>
        <p:spPr>
          <a:xfrm>
            <a:off x="663303" y="120447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2.3. OBJETIVOS DE GOBIERNO Y GESTIÓN</a:t>
            </a:r>
          </a:p>
        </p:txBody>
      </p:sp>
    </p:spTree>
    <p:extLst>
      <p:ext uri="{BB962C8B-B14F-4D97-AF65-F5344CB8AC3E}">
        <p14:creationId xmlns:p14="http://schemas.microsoft.com/office/powerpoint/2010/main" val="25654290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POSICIONAR EL GOBIERNO DE I&amp;T DE LA EMPRESA</a:t>
            </a:r>
          </a:p>
        </p:txBody>
      </p:sp>
      <p:sp>
        <p:nvSpPr>
          <p:cNvPr id="9" name="object 7">
            <a:extLst>
              <a:ext uri="{FF2B5EF4-FFF2-40B4-BE49-F238E27FC236}">
                <a16:creationId xmlns:a16="http://schemas.microsoft.com/office/drawing/2014/main" id="{B7B53379-FF40-4D89-B424-A44DDFBA3B95}"/>
              </a:ext>
            </a:extLst>
          </p:cNvPr>
          <p:cNvSpPr txBox="1"/>
          <p:nvPr/>
        </p:nvSpPr>
        <p:spPr>
          <a:xfrm>
            <a:off x="663303" y="120447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2.3. …OBJETIVOS DE GOBIERNO Y GESTIÓN</a:t>
            </a:r>
          </a:p>
        </p:txBody>
      </p:sp>
      <p:sp>
        <p:nvSpPr>
          <p:cNvPr id="8" name="object 7">
            <a:extLst>
              <a:ext uri="{FF2B5EF4-FFF2-40B4-BE49-F238E27FC236}">
                <a16:creationId xmlns:a16="http://schemas.microsoft.com/office/drawing/2014/main" id="{C79BBE98-C4A1-4F59-9DAD-3ECFBCD4B301}"/>
              </a:ext>
            </a:extLst>
          </p:cNvPr>
          <p:cNvSpPr txBox="1"/>
          <p:nvPr/>
        </p:nvSpPr>
        <p:spPr>
          <a:xfrm>
            <a:off x="510903" y="771402"/>
            <a:ext cx="8090520"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…APROVECHAR COBIT 2019 E INTEGRAR MARCOS, ESTÁNDARES Y BUENAS PRÁCTICAS </a:t>
            </a:r>
          </a:p>
        </p:txBody>
      </p:sp>
      <p:pic>
        <p:nvPicPr>
          <p:cNvPr id="6" name="Imagen 5">
            <a:extLst>
              <a:ext uri="{FF2B5EF4-FFF2-40B4-BE49-F238E27FC236}">
                <a16:creationId xmlns:a16="http://schemas.microsoft.com/office/drawing/2014/main" id="{0B0BF67A-8F47-4341-A23E-F52E6C96BA63}"/>
              </a:ext>
            </a:extLst>
          </p:cNvPr>
          <p:cNvPicPr>
            <a:picLocks noChangeAspect="1"/>
          </p:cNvPicPr>
          <p:nvPr/>
        </p:nvPicPr>
        <p:blipFill>
          <a:blip r:embed="rId3"/>
          <a:stretch>
            <a:fillRect/>
          </a:stretch>
        </p:blipFill>
        <p:spPr>
          <a:xfrm>
            <a:off x="1894226" y="1637542"/>
            <a:ext cx="5355547" cy="3548368"/>
          </a:xfrm>
          <a:prstGeom prst="rect">
            <a:avLst/>
          </a:prstGeom>
        </p:spPr>
      </p:pic>
    </p:spTree>
    <p:extLst>
      <p:ext uri="{BB962C8B-B14F-4D97-AF65-F5344CB8AC3E}">
        <p14:creationId xmlns:p14="http://schemas.microsoft.com/office/powerpoint/2010/main" val="112489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TOMANDO LOS PRIMEROS PASOS HACIA EL GEIT</a:t>
            </a:r>
          </a:p>
        </p:txBody>
      </p:sp>
    </p:spTree>
    <p:custDataLst>
      <p:tags r:id="rId1"/>
    </p:custDataLst>
    <p:extLst>
      <p:ext uri="{BB962C8B-B14F-4D97-AF65-F5344CB8AC3E}">
        <p14:creationId xmlns:p14="http://schemas.microsoft.com/office/powerpoint/2010/main" val="169268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TOMANDO LOS PRIMEROS PASOS HACIA EL GEIT</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CREACIÓN DEL ENTORNO ADECUADO</a:t>
            </a:r>
          </a:p>
        </p:txBody>
      </p:sp>
      <p:sp>
        <p:nvSpPr>
          <p:cNvPr id="8" name="object 7">
            <a:extLst>
              <a:ext uri="{FF2B5EF4-FFF2-40B4-BE49-F238E27FC236}">
                <a16:creationId xmlns:a16="http://schemas.microsoft.com/office/drawing/2014/main" id="{B5EA86E6-DB35-4893-8551-90B6D8DDF61A}"/>
              </a:ext>
            </a:extLst>
          </p:cNvPr>
          <p:cNvSpPr txBox="1"/>
          <p:nvPr/>
        </p:nvSpPr>
        <p:spPr>
          <a:xfrm>
            <a:off x="682172" y="1198243"/>
            <a:ext cx="4510614" cy="3539430"/>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400" spc="-10" dirty="0">
                <a:solidFill>
                  <a:srgbClr val="262626"/>
                </a:solidFill>
              </a:rPr>
              <a:t>Es importante que exista el contexto adecuado a la hora de implementar las mejoras del GEIT; hay más oportunidades de tener éxito si se gobiernan y gestionan bien. Las iniciativas de I&amp;T más importantes suelen fracasar debido a una gestión, apoyo y supervisión inadecuada de la dirección.</a:t>
            </a:r>
          </a:p>
          <a:p>
            <a:pPr marL="285750" indent="-285750" algn="just">
              <a:spcAft>
                <a:spcPts val="1200"/>
              </a:spcAft>
              <a:buSzPct val="100000"/>
              <a:buFont typeface="Arial" panose="020B0604020202020204" pitchFamily="34" charset="0"/>
              <a:buChar char="•"/>
              <a:tabLst>
                <a:tab pos="121285" algn="l"/>
              </a:tabLst>
            </a:pPr>
            <a:r>
              <a:rPr lang="es-ES" sz="1400" spc="-10" dirty="0">
                <a:solidFill>
                  <a:srgbClr val="262626"/>
                </a:solidFill>
              </a:rPr>
              <a:t>El éxito del GEIT es mucho más difícil dentro de un entorno de gobierno empresarial débil, de modo que el apoyo activo y la participación de ejecutivos </a:t>
            </a:r>
            <a:r>
              <a:rPr lang="es-ES" sz="1400" i="1" spc="-10" dirty="0">
                <a:solidFill>
                  <a:srgbClr val="262626"/>
                </a:solidFill>
              </a:rPr>
              <a:t>senior</a:t>
            </a:r>
            <a:r>
              <a:rPr lang="es-ES" sz="1400" spc="-10" dirty="0">
                <a:solidFill>
                  <a:srgbClr val="262626"/>
                </a:solidFill>
              </a:rPr>
              <a:t> se convierte en algo aún más fundamental. </a:t>
            </a:r>
            <a:endParaRPr lang="es-ES" sz="1400" spc="-10" dirty="0" smtClean="0">
              <a:solidFill>
                <a:srgbClr val="262626"/>
              </a:solidFill>
            </a:endParaRPr>
          </a:p>
          <a:p>
            <a:pPr marL="285750" indent="-285750" algn="just">
              <a:spcAft>
                <a:spcPts val="1200"/>
              </a:spcAft>
              <a:buSzPct val="100000"/>
              <a:buFont typeface="Arial" panose="020B0604020202020204" pitchFamily="34" charset="0"/>
              <a:buChar char="•"/>
              <a:tabLst>
                <a:tab pos="121285" algn="l"/>
              </a:tabLst>
            </a:pPr>
            <a:r>
              <a:rPr lang="es-ES" sz="1400" spc="-10" dirty="0" smtClean="0">
                <a:solidFill>
                  <a:srgbClr val="262626"/>
                </a:solidFill>
              </a:rPr>
              <a:t>El </a:t>
            </a:r>
            <a:r>
              <a:rPr lang="es-ES" sz="1400" spc="-10" dirty="0">
                <a:solidFill>
                  <a:srgbClr val="262626"/>
                </a:solidFill>
              </a:rPr>
              <a:t>consejo y los ejecutivos deberían ser conscientes de conceptos de gobierno corporativo, deberían entender la necesidad de mejorar el gobierno en general y deberían reconocer el riesgo de fracaso del GEIT si no se atienden las debilidades. </a:t>
            </a:r>
          </a:p>
        </p:txBody>
      </p:sp>
      <p:pic>
        <p:nvPicPr>
          <p:cNvPr id="3" name="Imagen 2"/>
          <p:cNvPicPr>
            <a:picLocks noChangeAspect="1"/>
          </p:cNvPicPr>
          <p:nvPr/>
        </p:nvPicPr>
        <p:blipFill>
          <a:blip r:embed="rId3"/>
          <a:stretch>
            <a:fillRect/>
          </a:stretch>
        </p:blipFill>
        <p:spPr>
          <a:xfrm>
            <a:off x="5424531" y="771402"/>
            <a:ext cx="3429000" cy="4506846"/>
          </a:xfrm>
          <a:prstGeom prst="rect">
            <a:avLst/>
          </a:prstGeom>
        </p:spPr>
      </p:pic>
    </p:spTree>
    <p:extLst>
      <p:ext uri="{BB962C8B-B14F-4D97-AF65-F5344CB8AC3E}">
        <p14:creationId xmlns:p14="http://schemas.microsoft.com/office/powerpoint/2010/main" val="67794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TOMANDO LOS PRIMEROS PASOS HACIA EL GEIT</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CREACIÓN DEL ENTORNO ADECUADO</a:t>
            </a:r>
          </a:p>
        </p:txBody>
      </p:sp>
      <p:sp>
        <p:nvSpPr>
          <p:cNvPr id="8" name="object 7">
            <a:extLst>
              <a:ext uri="{FF2B5EF4-FFF2-40B4-BE49-F238E27FC236}">
                <a16:creationId xmlns:a16="http://schemas.microsoft.com/office/drawing/2014/main" id="{B5EA86E6-DB35-4893-8551-90B6D8DDF61A}"/>
              </a:ext>
            </a:extLst>
          </p:cNvPr>
          <p:cNvSpPr txBox="1"/>
          <p:nvPr/>
        </p:nvSpPr>
        <p:spPr>
          <a:xfrm>
            <a:off x="682171" y="1198243"/>
            <a:ext cx="7779657" cy="1384995"/>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smtClean="0">
                <a:solidFill>
                  <a:srgbClr val="262626"/>
                </a:solidFill>
              </a:rPr>
              <a:t>Las </a:t>
            </a:r>
            <a:r>
              <a:rPr lang="es-ES" sz="1600" spc="-10" dirty="0">
                <a:solidFill>
                  <a:srgbClr val="262626"/>
                </a:solidFill>
              </a:rPr>
              <a:t>actividades iniciales suelen incluir la evaluación de las prácticas actuales y el diseño de estructuras mejoradas. En algunos casos, la iniciativa puede provocar la reorganización del negocio, así como de la función de TI y su relación con las unidades de negocio.</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La dirección ejecutiva debería asignar roles y responsabilidades claras para dirigir el programa de mejora del GEIT.</a:t>
            </a:r>
          </a:p>
        </p:txBody>
      </p:sp>
      <p:pic>
        <p:nvPicPr>
          <p:cNvPr id="2" name="Imagen 1"/>
          <p:cNvPicPr>
            <a:picLocks noChangeAspect="1"/>
          </p:cNvPicPr>
          <p:nvPr/>
        </p:nvPicPr>
        <p:blipFill>
          <a:blip r:embed="rId3"/>
          <a:stretch>
            <a:fillRect/>
          </a:stretch>
        </p:blipFill>
        <p:spPr>
          <a:xfrm>
            <a:off x="2885814" y="2748469"/>
            <a:ext cx="3501947" cy="2332429"/>
          </a:xfrm>
          <a:prstGeom prst="rect">
            <a:avLst/>
          </a:prstGeom>
        </p:spPr>
      </p:pic>
    </p:spTree>
    <p:extLst>
      <p:ext uri="{BB962C8B-B14F-4D97-AF65-F5344CB8AC3E}">
        <p14:creationId xmlns:p14="http://schemas.microsoft.com/office/powerpoint/2010/main" val="31428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TOMANDO LOS PRIMEROS PASOS HACIA EL GEIT</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…CREACIÓN DEL ENTORNO ADECUADO</a:t>
            </a:r>
          </a:p>
        </p:txBody>
      </p:sp>
      <p:pic>
        <p:nvPicPr>
          <p:cNvPr id="3" name="Imagen 2">
            <a:extLst>
              <a:ext uri="{FF2B5EF4-FFF2-40B4-BE49-F238E27FC236}">
                <a16:creationId xmlns:a16="http://schemas.microsoft.com/office/drawing/2014/main" id="{E165DFD0-6C7D-4B3B-98BB-B4BEE424616F}"/>
              </a:ext>
            </a:extLst>
          </p:cNvPr>
          <p:cNvPicPr>
            <a:picLocks noChangeAspect="1"/>
          </p:cNvPicPr>
          <p:nvPr/>
        </p:nvPicPr>
        <p:blipFill>
          <a:blip r:embed="rId3"/>
          <a:stretch>
            <a:fillRect/>
          </a:stretch>
        </p:blipFill>
        <p:spPr>
          <a:xfrm>
            <a:off x="624114" y="1347501"/>
            <a:ext cx="7895771" cy="3587071"/>
          </a:xfrm>
          <a:prstGeom prst="rect">
            <a:avLst/>
          </a:prstGeom>
        </p:spPr>
      </p:pic>
    </p:spTree>
    <p:extLst>
      <p:ext uri="{BB962C8B-B14F-4D97-AF65-F5344CB8AC3E}">
        <p14:creationId xmlns:p14="http://schemas.microsoft.com/office/powerpoint/2010/main" val="124715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TOMANDO LOS PRIMEROS PASOS HACIA EL GEIT</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…CREACIÓN DEL ENTORNO ADECUADO</a:t>
            </a:r>
          </a:p>
        </p:txBody>
      </p:sp>
      <p:pic>
        <p:nvPicPr>
          <p:cNvPr id="3" name="Imagen 2">
            <a:extLst>
              <a:ext uri="{FF2B5EF4-FFF2-40B4-BE49-F238E27FC236}">
                <a16:creationId xmlns:a16="http://schemas.microsoft.com/office/drawing/2014/main" id="{0C23E3BE-A2EE-4B2F-B345-7195257CD57D}"/>
              </a:ext>
            </a:extLst>
          </p:cNvPr>
          <p:cNvPicPr>
            <a:picLocks noChangeAspect="1"/>
          </p:cNvPicPr>
          <p:nvPr/>
        </p:nvPicPr>
        <p:blipFill>
          <a:blip r:embed="rId3"/>
          <a:stretch>
            <a:fillRect/>
          </a:stretch>
        </p:blipFill>
        <p:spPr>
          <a:xfrm>
            <a:off x="524380" y="1327421"/>
            <a:ext cx="8095240" cy="3616177"/>
          </a:xfrm>
          <a:prstGeom prst="rect">
            <a:avLst/>
          </a:prstGeom>
        </p:spPr>
      </p:pic>
    </p:spTree>
    <p:extLst>
      <p:ext uri="{BB962C8B-B14F-4D97-AF65-F5344CB8AC3E}">
        <p14:creationId xmlns:p14="http://schemas.microsoft.com/office/powerpoint/2010/main" val="248946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TOMANDO LOS PRIMEROS PASOS HACIA EL GEIT</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2" y="771402"/>
            <a:ext cx="7101465"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APLICAR UNA ESTRATEGIA DEL CICLO DE VIDA DE MEJORA CONTÍNUA </a:t>
            </a:r>
          </a:p>
        </p:txBody>
      </p:sp>
      <p:sp>
        <p:nvSpPr>
          <p:cNvPr id="6" name="object 7">
            <a:extLst>
              <a:ext uri="{FF2B5EF4-FFF2-40B4-BE49-F238E27FC236}">
                <a16:creationId xmlns:a16="http://schemas.microsoft.com/office/drawing/2014/main" id="{7EB926AC-06E2-47C2-9F70-F63A744106D2}"/>
              </a:ext>
            </a:extLst>
          </p:cNvPr>
          <p:cNvSpPr txBox="1"/>
          <p:nvPr/>
        </p:nvSpPr>
        <p:spPr>
          <a:xfrm>
            <a:off x="510903" y="1204566"/>
            <a:ext cx="4460240" cy="1231106"/>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La estrategia del ciclo de vida de mejora continua permite a las empresas abordar la complejidad y los problemas que se suelen encontrar durante la implementación del GEIT. Hay tres componentes interrelacionados con el ciclo de vida:</a:t>
            </a:r>
          </a:p>
        </p:txBody>
      </p:sp>
      <p:sp>
        <p:nvSpPr>
          <p:cNvPr id="9" name="object 7">
            <a:extLst>
              <a:ext uri="{FF2B5EF4-FFF2-40B4-BE49-F238E27FC236}">
                <a16:creationId xmlns:a16="http://schemas.microsoft.com/office/drawing/2014/main" id="{9BC4DBB3-0303-4093-8153-2810292DFE03}"/>
              </a:ext>
            </a:extLst>
          </p:cNvPr>
          <p:cNvSpPr txBox="1"/>
          <p:nvPr/>
        </p:nvSpPr>
        <p:spPr>
          <a:xfrm>
            <a:off x="510902" y="2607226"/>
            <a:ext cx="4709885" cy="1046440"/>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La ética y cultura de la comunidad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El ciclo de vida de mejora continua central del GEIT </a:t>
            </a:r>
          </a:p>
          <a:p>
            <a:pPr marL="285750" indent="-285750" algn="just">
              <a:spcAft>
                <a:spcPts val="1200"/>
              </a:spcAft>
              <a:buSzPct val="100000"/>
              <a:buFont typeface="Wingdings" panose="05000000000000000000" pitchFamily="2" charset="2"/>
              <a:buChar char="ü"/>
              <a:tabLst>
                <a:tab pos="121285" algn="l"/>
              </a:tabLst>
            </a:pPr>
            <a:r>
              <a:rPr lang="es-ES" sz="1600" spc="-10" dirty="0">
                <a:solidFill>
                  <a:srgbClr val="262626"/>
                </a:solidFill>
              </a:rPr>
              <a:t>Habilitación del cambio Gestión del programa </a:t>
            </a:r>
          </a:p>
        </p:txBody>
      </p:sp>
      <p:pic>
        <p:nvPicPr>
          <p:cNvPr id="3" name="Imagen 2">
            <a:extLst>
              <a:ext uri="{FF2B5EF4-FFF2-40B4-BE49-F238E27FC236}">
                <a16:creationId xmlns:a16="http://schemas.microsoft.com/office/drawing/2014/main" id="{19FF9AAD-EA6C-4099-85AA-64C2FF9461D0}"/>
              </a:ext>
            </a:extLst>
          </p:cNvPr>
          <p:cNvPicPr>
            <a:picLocks noChangeAspect="1"/>
          </p:cNvPicPr>
          <p:nvPr/>
        </p:nvPicPr>
        <p:blipFill>
          <a:blip r:embed="rId3"/>
          <a:stretch>
            <a:fillRect/>
          </a:stretch>
        </p:blipFill>
        <p:spPr>
          <a:xfrm>
            <a:off x="5286101" y="1407872"/>
            <a:ext cx="3474270" cy="3465574"/>
          </a:xfrm>
          <a:prstGeom prst="rect">
            <a:avLst/>
          </a:prstGeom>
        </p:spPr>
      </p:pic>
      <p:sp>
        <p:nvSpPr>
          <p:cNvPr id="10" name="object 7">
            <a:extLst>
              <a:ext uri="{FF2B5EF4-FFF2-40B4-BE49-F238E27FC236}">
                <a16:creationId xmlns:a16="http://schemas.microsoft.com/office/drawing/2014/main" id="{16E7DE86-95FC-4AE7-AFCA-64F70B2E385C}"/>
              </a:ext>
            </a:extLst>
          </p:cNvPr>
          <p:cNvSpPr txBox="1"/>
          <p:nvPr/>
        </p:nvSpPr>
        <p:spPr>
          <a:xfrm>
            <a:off x="510902" y="3825220"/>
            <a:ext cx="4540069" cy="738664"/>
          </a:xfrm>
          <a:prstGeom prst="rect">
            <a:avLst/>
          </a:prstGeom>
        </p:spPr>
        <p:txBody>
          <a:bodyPr vert="horz" wrap="square" lIns="0" tIns="0" rIns="0" bIns="0" rtlCol="0">
            <a:spAutoFit/>
          </a:bodyPr>
          <a:lstStyle/>
          <a:p>
            <a:pPr algn="just">
              <a:spcAft>
                <a:spcPts val="1800"/>
              </a:spcAft>
              <a:buSzPct val="100000"/>
              <a:tabLst>
                <a:tab pos="121285" algn="l"/>
              </a:tabLst>
            </a:pPr>
            <a:r>
              <a:rPr lang="es-ES" sz="1600" spc="-10" dirty="0">
                <a:solidFill>
                  <a:srgbClr val="262626"/>
                </a:solidFill>
              </a:rPr>
              <a:t>La figura muestra las iniciativas como ciclos de vida continuos de implementación y </a:t>
            </a:r>
            <a:r>
              <a:rPr lang="es-ES" sz="1600" spc="-10" dirty="0" smtClean="0">
                <a:solidFill>
                  <a:srgbClr val="262626"/>
                </a:solidFill>
              </a:rPr>
              <a:t>mejora, </a:t>
            </a:r>
            <a:r>
              <a:rPr lang="es-ES" sz="1600" spc="-10" dirty="0">
                <a:solidFill>
                  <a:srgbClr val="262626"/>
                </a:solidFill>
              </a:rPr>
              <a:t>que finalmente se convierte en algo usual para el negocio.</a:t>
            </a:r>
          </a:p>
        </p:txBody>
      </p:sp>
    </p:spTree>
    <p:extLst>
      <p:ext uri="{BB962C8B-B14F-4D97-AF65-F5344CB8AC3E}">
        <p14:creationId xmlns:p14="http://schemas.microsoft.com/office/powerpoint/2010/main" val="107458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TOMANDO LOS PRIMEROS PASOS HACIA EL GEIT</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2" y="771402"/>
            <a:ext cx="7101465"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2. …APLICAR UNA ESTRATEGIA DEL CICLO DE VIDA DE MEJORA CONTÍNUA </a:t>
            </a:r>
          </a:p>
        </p:txBody>
      </p:sp>
      <p:sp>
        <p:nvSpPr>
          <p:cNvPr id="6" name="object 7">
            <a:extLst>
              <a:ext uri="{FF2B5EF4-FFF2-40B4-BE49-F238E27FC236}">
                <a16:creationId xmlns:a16="http://schemas.microsoft.com/office/drawing/2014/main" id="{7EB926AC-06E2-47C2-9F70-F63A744106D2}"/>
              </a:ext>
            </a:extLst>
          </p:cNvPr>
          <p:cNvSpPr txBox="1"/>
          <p:nvPr/>
        </p:nvSpPr>
        <p:spPr>
          <a:xfrm>
            <a:off x="670559" y="1204566"/>
            <a:ext cx="4206241" cy="2693045"/>
          </a:xfrm>
          <a:prstGeom prst="rect">
            <a:avLst/>
          </a:prstGeom>
        </p:spPr>
        <p:txBody>
          <a:bodyPr vert="horz" wrap="square" lIns="0" tIns="0" rIns="0" bIns="0" rtlCol="0">
            <a:spAutoFit/>
          </a:bodyPr>
          <a:lstStyle/>
          <a:p>
            <a:pPr marL="285750" indent="-285750" algn="just">
              <a:spcAft>
                <a:spcPts val="1800"/>
              </a:spcAft>
              <a:buSzPct val="100000"/>
              <a:buFont typeface="Arial" panose="020B0604020202020204" pitchFamily="34" charset="0"/>
              <a:buChar char="•"/>
              <a:tabLst>
                <a:tab pos="121285" algn="l"/>
              </a:tabLst>
            </a:pPr>
            <a:r>
              <a:rPr lang="es-ES" sz="1600" spc="-10" dirty="0">
                <a:solidFill>
                  <a:srgbClr val="262626"/>
                </a:solidFill>
              </a:rPr>
              <a:t>La figura ilustra las siete fases del mapa de ruta de implementación. Las comprobaciones sobre el estado, evaluaciones y auditorías de alto nivel suelen llevar a impulsar una iniciativa de GEIT y sus resultados pueden constituir el insumo de la fase 1.</a:t>
            </a:r>
          </a:p>
          <a:p>
            <a:pPr marL="285750" indent="-285750" algn="just">
              <a:spcAft>
                <a:spcPts val="1800"/>
              </a:spcAft>
              <a:buSzPct val="100000"/>
              <a:buFont typeface="Arial" panose="020B0604020202020204" pitchFamily="34" charset="0"/>
              <a:buChar char="•"/>
              <a:tabLst>
                <a:tab pos="121285" algn="l"/>
              </a:tabLst>
            </a:pPr>
            <a:r>
              <a:rPr lang="es-ES" sz="1600" spc="-10" dirty="0">
                <a:solidFill>
                  <a:srgbClr val="262626"/>
                </a:solidFill>
              </a:rPr>
              <a:t>Un programa de implementación y mejora suele ser continuo e iterativo. Durante su última fase, suelen surgir nuevos objetivos y requisitos y puede comenzar un ciclo nuevo. </a:t>
            </a:r>
          </a:p>
        </p:txBody>
      </p:sp>
      <p:grpSp>
        <p:nvGrpSpPr>
          <p:cNvPr id="13" name="Grupo 12">
            <a:extLst>
              <a:ext uri="{FF2B5EF4-FFF2-40B4-BE49-F238E27FC236}">
                <a16:creationId xmlns:a16="http://schemas.microsoft.com/office/drawing/2014/main" id="{DE2B8307-1EED-44EF-9421-61506106D028}"/>
              </a:ext>
            </a:extLst>
          </p:cNvPr>
          <p:cNvGrpSpPr/>
          <p:nvPr/>
        </p:nvGrpSpPr>
        <p:grpSpPr>
          <a:xfrm>
            <a:off x="3998686" y="1498534"/>
            <a:ext cx="4645023" cy="3654051"/>
            <a:chOff x="3998686" y="1425963"/>
            <a:chExt cx="4645023" cy="3654051"/>
          </a:xfrm>
        </p:grpSpPr>
        <p:pic>
          <p:nvPicPr>
            <p:cNvPr id="10" name="Imagen 9">
              <a:extLst>
                <a:ext uri="{FF2B5EF4-FFF2-40B4-BE49-F238E27FC236}">
                  <a16:creationId xmlns:a16="http://schemas.microsoft.com/office/drawing/2014/main" id="{BA8176EC-307D-42B1-BB28-3AA6A7DB81E6}"/>
                </a:ext>
              </a:extLst>
            </p:cNvPr>
            <p:cNvPicPr>
              <a:picLocks noChangeAspect="1"/>
            </p:cNvPicPr>
            <p:nvPr/>
          </p:nvPicPr>
          <p:blipFill>
            <a:blip r:embed="rId3"/>
            <a:stretch>
              <a:fillRect/>
            </a:stretch>
          </p:blipFill>
          <p:spPr>
            <a:xfrm>
              <a:off x="5239657" y="1425963"/>
              <a:ext cx="3404052" cy="3445064"/>
            </a:xfrm>
            <a:prstGeom prst="rect">
              <a:avLst/>
            </a:prstGeom>
          </p:spPr>
        </p:pic>
        <p:pic>
          <p:nvPicPr>
            <p:cNvPr id="12" name="Imagen 11">
              <a:extLst>
                <a:ext uri="{FF2B5EF4-FFF2-40B4-BE49-F238E27FC236}">
                  <a16:creationId xmlns:a16="http://schemas.microsoft.com/office/drawing/2014/main" id="{F9ED5F98-8E31-417D-8091-8F4A315F3E0C}"/>
                </a:ext>
              </a:extLst>
            </p:cNvPr>
            <p:cNvPicPr>
              <a:picLocks noChangeAspect="1"/>
            </p:cNvPicPr>
            <p:nvPr/>
          </p:nvPicPr>
          <p:blipFill>
            <a:blip r:embed="rId4"/>
            <a:stretch>
              <a:fillRect/>
            </a:stretch>
          </p:blipFill>
          <p:spPr>
            <a:xfrm>
              <a:off x="3998686" y="4648801"/>
              <a:ext cx="1881089" cy="431213"/>
            </a:xfrm>
            <a:prstGeom prst="rect">
              <a:avLst/>
            </a:prstGeom>
          </p:spPr>
        </p:pic>
      </p:grpSp>
    </p:spTree>
    <p:extLst>
      <p:ext uri="{BB962C8B-B14F-4D97-AF65-F5344CB8AC3E}">
        <p14:creationId xmlns:p14="http://schemas.microsoft.com/office/powerpoint/2010/main" val="4013688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HABILITAR EL CAMBIO</a:t>
            </a:r>
          </a:p>
        </p:txBody>
      </p:sp>
    </p:spTree>
    <p:custDataLst>
      <p:tags r:id="rId1"/>
    </p:custDataLst>
    <p:extLst>
      <p:ext uri="{BB962C8B-B14F-4D97-AF65-F5344CB8AC3E}">
        <p14:creationId xmlns:p14="http://schemas.microsoft.com/office/powerpoint/2010/main" val="2783225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HABILITAR EL CAMBIO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NECESIDAD DE HABILITAR EL CAMBIO</a:t>
            </a:r>
          </a:p>
        </p:txBody>
      </p:sp>
      <p:sp>
        <p:nvSpPr>
          <p:cNvPr id="8" name="object 7">
            <a:extLst>
              <a:ext uri="{FF2B5EF4-FFF2-40B4-BE49-F238E27FC236}">
                <a16:creationId xmlns:a16="http://schemas.microsoft.com/office/drawing/2014/main" id="{B5EA86E6-DB35-4893-8551-90B6D8DDF61A}"/>
              </a:ext>
            </a:extLst>
          </p:cNvPr>
          <p:cNvSpPr txBox="1"/>
          <p:nvPr/>
        </p:nvSpPr>
        <p:spPr>
          <a:xfrm>
            <a:off x="726908" y="1212285"/>
            <a:ext cx="7829264" cy="1877437"/>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La habilitación del </a:t>
            </a:r>
            <a:r>
              <a:rPr lang="es-ES" sz="1600" spc="-10" dirty="0" smtClean="0">
                <a:solidFill>
                  <a:srgbClr val="262626"/>
                </a:solidFill>
              </a:rPr>
              <a:t>cambio, </a:t>
            </a:r>
            <a:r>
              <a:rPr lang="es-ES" sz="1600" spc="-10" dirty="0">
                <a:solidFill>
                  <a:srgbClr val="262626"/>
                </a:solidFill>
              </a:rPr>
              <a:t>que incluye la gestión de las partes interesadas, es uno de los mayores retos de la implementación del GEIT. Todas las partes interesadas clave deberían involucrarse.</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En muchas empresas hay un enfoque significativo en el primer aspecto (implementar las buenas prácticas), pero no en el segundo aspecto, implementar el cambio de forma correcta, poniendo el énfasis en la gestión de las personas, aspectos culturales y de comportamiento del cambio y motivando a las partes interesadas a respaldar el cambio. </a:t>
            </a:r>
          </a:p>
        </p:txBody>
      </p:sp>
      <p:pic>
        <p:nvPicPr>
          <p:cNvPr id="2" name="Imagen 1"/>
          <p:cNvPicPr>
            <a:picLocks noChangeAspect="1"/>
          </p:cNvPicPr>
          <p:nvPr/>
        </p:nvPicPr>
        <p:blipFill>
          <a:blip r:embed="rId3"/>
          <a:stretch>
            <a:fillRect/>
          </a:stretch>
        </p:blipFill>
        <p:spPr>
          <a:xfrm>
            <a:off x="3070370" y="3268694"/>
            <a:ext cx="2967593" cy="1976529"/>
          </a:xfrm>
          <a:prstGeom prst="rect">
            <a:avLst/>
          </a:prstGeom>
        </p:spPr>
      </p:pic>
    </p:spTree>
    <p:extLst>
      <p:ext uri="{BB962C8B-B14F-4D97-AF65-F5344CB8AC3E}">
        <p14:creationId xmlns:p14="http://schemas.microsoft.com/office/powerpoint/2010/main" val="1319038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HABILITAR EL CAMBIO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NECESIDAD DE HABILITAR EL CAMBIO</a:t>
            </a:r>
          </a:p>
        </p:txBody>
      </p:sp>
      <p:sp>
        <p:nvSpPr>
          <p:cNvPr id="8" name="object 7">
            <a:extLst>
              <a:ext uri="{FF2B5EF4-FFF2-40B4-BE49-F238E27FC236}">
                <a16:creationId xmlns:a16="http://schemas.microsoft.com/office/drawing/2014/main" id="{B5EA86E6-DB35-4893-8551-90B6D8DDF61A}"/>
              </a:ext>
            </a:extLst>
          </p:cNvPr>
          <p:cNvSpPr txBox="1"/>
          <p:nvPr/>
        </p:nvSpPr>
        <p:spPr>
          <a:xfrm>
            <a:off x="726908" y="1212285"/>
            <a:ext cx="7829264" cy="1877437"/>
          </a:xfrm>
          <a:prstGeom prst="rect">
            <a:avLst/>
          </a:prstGeom>
        </p:spPr>
        <p:txBody>
          <a:bodyPr vert="horz" wrap="square" lIns="0" tIns="0" rIns="0" bIns="0" rtlCol="0">
            <a:spAutoFit/>
          </a:bodyPr>
          <a:lstStyle/>
          <a:p>
            <a:pPr marL="285750" indent="-285750" algn="just">
              <a:spcAft>
                <a:spcPts val="1200"/>
              </a:spcAft>
              <a:buSzPct val="100000"/>
              <a:buFont typeface="Arial" panose="020B0604020202020204" pitchFamily="34" charset="0"/>
              <a:buChar char="•"/>
              <a:tabLst>
                <a:tab pos="121285" algn="l"/>
              </a:tabLst>
            </a:pPr>
            <a:r>
              <a:rPr lang="es-ES" sz="1600" spc="-10" dirty="0" smtClean="0">
                <a:solidFill>
                  <a:srgbClr val="262626"/>
                </a:solidFill>
              </a:rPr>
              <a:t>No </a:t>
            </a:r>
            <a:r>
              <a:rPr lang="es-ES" sz="1600" spc="-10" dirty="0">
                <a:solidFill>
                  <a:srgbClr val="262626"/>
                </a:solidFill>
              </a:rPr>
              <a:t>debería asumirse que las distintas partes interesadas involucradas estarán dispuestas a aceptar y adoptar el cambio. Debe considerarse la posibilidad de ignorancia, resistencia al cambio o cansancio frente a los cambios con una estrategia estructurada y proactiva.</a:t>
            </a:r>
          </a:p>
          <a:p>
            <a:pPr marL="285750" indent="-285750" algn="just">
              <a:spcAft>
                <a:spcPts val="1200"/>
              </a:spcAft>
              <a:buSzPct val="100000"/>
              <a:buFont typeface="Arial" panose="020B0604020202020204" pitchFamily="34" charset="0"/>
              <a:buChar char="•"/>
              <a:tabLst>
                <a:tab pos="121285" algn="l"/>
              </a:tabLst>
            </a:pPr>
            <a:r>
              <a:rPr lang="es-ES" sz="1600" spc="-10" dirty="0">
                <a:solidFill>
                  <a:srgbClr val="262626"/>
                </a:solidFill>
              </a:rPr>
              <a:t>COBIT 2019 define la habilitación del cambio como un proceso holístico y sistemático para garantizar que las partes interesadas relevantes estén preparadas y comprometidas para involucrarse en los cambios que se requieren para pasar del estado actual al estado futuro deseado. </a:t>
            </a:r>
          </a:p>
        </p:txBody>
      </p:sp>
      <p:pic>
        <p:nvPicPr>
          <p:cNvPr id="2" name="Imagen 1"/>
          <p:cNvPicPr>
            <a:picLocks noChangeAspect="1"/>
          </p:cNvPicPr>
          <p:nvPr/>
        </p:nvPicPr>
        <p:blipFill>
          <a:blip r:embed="rId3"/>
          <a:stretch>
            <a:fillRect/>
          </a:stretch>
        </p:blipFill>
        <p:spPr>
          <a:xfrm>
            <a:off x="2827090" y="3268995"/>
            <a:ext cx="3238150" cy="1997521"/>
          </a:xfrm>
          <a:prstGeom prst="rect">
            <a:avLst/>
          </a:prstGeom>
        </p:spPr>
      </p:pic>
    </p:spTree>
    <p:extLst>
      <p:ext uri="{BB962C8B-B14F-4D97-AF65-F5344CB8AC3E}">
        <p14:creationId xmlns:p14="http://schemas.microsoft.com/office/powerpoint/2010/main" val="328294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7"/>
          <p:cNvSpPr txBox="1"/>
          <p:nvPr/>
        </p:nvSpPr>
        <p:spPr>
          <a:xfrm>
            <a:off x="510903" y="1396090"/>
            <a:ext cx="7573481" cy="427979"/>
          </a:xfrm>
          <a:prstGeom prst="rect">
            <a:avLst/>
          </a:prstGeom>
        </p:spPr>
        <p:txBody>
          <a:bodyPr vert="horz" wrap="square" lIns="90000" tIns="90000" rIns="90000" bIns="9000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smtClean="0">
                <a:solidFill>
                  <a:srgbClr val="262626"/>
                </a:solidFill>
              </a:rPr>
              <a:t>A </a:t>
            </a:r>
            <a:r>
              <a:rPr lang="es-ES" sz="1600" b="1" spc="-10" dirty="0">
                <a:solidFill>
                  <a:srgbClr val="262626"/>
                </a:solidFill>
              </a:rPr>
              <a:t>alto nivel, la habilitación del cambio suele llevar consigo: </a:t>
            </a:r>
            <a:endParaRPr lang="es-ES" sz="1600" b="1" spc="-10" dirty="0">
              <a:solidFill>
                <a:srgbClr val="262626"/>
              </a:solidFill>
            </a:endParaRPr>
          </a:p>
        </p:txBody>
      </p:sp>
      <p:sp>
        <p:nvSpPr>
          <p:cNvPr id="8" name="object 7"/>
          <p:cNvSpPr txBox="1"/>
          <p:nvPr/>
        </p:nvSpPr>
        <p:spPr>
          <a:xfrm>
            <a:off x="994173" y="1848473"/>
            <a:ext cx="7358063" cy="3136413"/>
          </a:xfrm>
          <a:prstGeom prst="rect">
            <a:avLst/>
          </a:prstGeom>
        </p:spPr>
        <p:txBody>
          <a:bodyPr vert="horz" wrap="square" lIns="90000" tIns="90000" rIns="90000" bIns="90000" rtlCol="0">
            <a:spAutoFit/>
          </a:bodyPr>
          <a:lstStyle/>
          <a:p>
            <a:pPr algn="just">
              <a:spcAft>
                <a:spcPts val="1200"/>
              </a:spcAft>
              <a:buSzPct val="100000"/>
              <a:tabLst>
                <a:tab pos="121285" algn="l"/>
              </a:tabLst>
            </a:pPr>
            <a:r>
              <a:rPr lang="es-ES" sz="1400" spc="-10" dirty="0">
                <a:solidFill>
                  <a:srgbClr val="262626"/>
                </a:solidFill>
              </a:rPr>
              <a:t>Evaluar el impacto del cambio en la empresa, sus empleados y otras partes interesadas. </a:t>
            </a:r>
          </a:p>
          <a:p>
            <a:pPr>
              <a:buClr>
                <a:srgbClr val="FA4044"/>
              </a:buClr>
              <a:buSzPct val="120000"/>
              <a:tabLst>
                <a:tab pos="75803" algn="l"/>
              </a:tabLst>
              <a:defRPr/>
            </a:pPr>
            <a:endParaRPr lang="es-PE" sz="1400" b="1" spc="-6" dirty="0">
              <a:ea typeface="Arial" charset="0"/>
              <a:cs typeface="Arial" charset="0"/>
            </a:endParaRPr>
          </a:p>
          <a:p>
            <a:pPr algn="just">
              <a:spcAft>
                <a:spcPts val="1200"/>
              </a:spcAft>
              <a:buSzPct val="100000"/>
              <a:tabLst>
                <a:tab pos="121285" algn="l"/>
              </a:tabLst>
            </a:pPr>
            <a:r>
              <a:rPr lang="es-ES" sz="1400" spc="-10" dirty="0">
                <a:solidFill>
                  <a:srgbClr val="262626"/>
                </a:solidFill>
              </a:rPr>
              <a:t>Establecer el estado futuro (visión) en términos humanos/de comportamiento y las medidas asociadas que lo describen. </a:t>
            </a:r>
          </a:p>
          <a:p>
            <a:pPr>
              <a:buClr>
                <a:srgbClr val="FA4044"/>
              </a:buClr>
              <a:buSzPct val="120000"/>
              <a:tabLst>
                <a:tab pos="75803" algn="l"/>
              </a:tabLst>
              <a:defRPr/>
            </a:pPr>
            <a:endParaRPr lang="es-PE" sz="1200" b="1" spc="-6" dirty="0">
              <a:latin typeface="Arial" charset="0"/>
              <a:ea typeface="Arial" charset="0"/>
              <a:cs typeface="Arial" charset="0"/>
            </a:endParaRPr>
          </a:p>
          <a:p>
            <a:pPr algn="just">
              <a:spcAft>
                <a:spcPts val="1200"/>
              </a:spcAft>
              <a:buSzPct val="100000"/>
              <a:tabLst>
                <a:tab pos="121285" algn="l"/>
              </a:tabLst>
            </a:pPr>
            <a:r>
              <a:rPr lang="es-ES" sz="1400" spc="-10" dirty="0">
                <a:solidFill>
                  <a:srgbClr val="262626"/>
                </a:solidFill>
              </a:rPr>
              <a:t>Crear planes de respuesta ante los cambios para gestionar los impactos del cambio de forma proactiva y maximizar el compromiso a lo largo del proceso. Estos planes podrían incluir capacitación, comunicación, diseño de organización (contenido del trabajo, estructura organizativa), rediseño del proceso y sistemas actualizados de gestión del desempeño. </a:t>
            </a:r>
            <a:endParaRPr lang="es-ES" sz="1400" spc="-10" dirty="0" smtClean="0">
              <a:solidFill>
                <a:srgbClr val="262626"/>
              </a:solidFill>
            </a:endParaRPr>
          </a:p>
          <a:p>
            <a:pPr algn="just">
              <a:spcAft>
                <a:spcPts val="1200"/>
              </a:spcAft>
              <a:buSzPct val="100000"/>
              <a:tabLst>
                <a:tab pos="121285" algn="l"/>
              </a:tabLst>
            </a:pPr>
            <a:endParaRPr lang="es-ES" sz="1400" spc="-10" dirty="0" smtClean="0">
              <a:solidFill>
                <a:srgbClr val="262626"/>
              </a:solidFill>
            </a:endParaRPr>
          </a:p>
          <a:p>
            <a:pPr algn="just">
              <a:spcAft>
                <a:spcPts val="1200"/>
              </a:spcAft>
              <a:buSzPct val="100000"/>
              <a:tabLst>
                <a:tab pos="121285" algn="l"/>
              </a:tabLst>
            </a:pPr>
            <a:r>
              <a:rPr lang="es-ES" sz="1400" spc="-10" dirty="0" smtClean="0">
                <a:solidFill>
                  <a:srgbClr val="262626"/>
                </a:solidFill>
              </a:rPr>
              <a:t>Medir </a:t>
            </a:r>
            <a:r>
              <a:rPr lang="es-ES" sz="1400" spc="-10" dirty="0">
                <a:solidFill>
                  <a:srgbClr val="262626"/>
                </a:solidFill>
              </a:rPr>
              <a:t>continuamente el progreso del cambio hacia el estado futuro deseado. </a:t>
            </a:r>
          </a:p>
        </p:txBody>
      </p:sp>
      <p:cxnSp>
        <p:nvCxnSpPr>
          <p:cNvPr id="13" name="Conector recto 12"/>
          <p:cNvCxnSpPr/>
          <p:nvPr/>
        </p:nvCxnSpPr>
        <p:spPr>
          <a:xfrm>
            <a:off x="768947" y="2397265"/>
            <a:ext cx="75832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p:cNvCxnSpPr/>
          <p:nvPr/>
        </p:nvCxnSpPr>
        <p:spPr>
          <a:xfrm>
            <a:off x="836059" y="3230961"/>
            <a:ext cx="75832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Google Shape;72;p14"/>
          <p:cNvSpPr/>
          <p:nvPr/>
        </p:nvSpPr>
        <p:spPr>
          <a:xfrm rot="10800000" flipH="1">
            <a:off x="788772" y="2551344"/>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19" name="Google Shape;72;p14"/>
          <p:cNvSpPr/>
          <p:nvPr/>
        </p:nvSpPr>
        <p:spPr>
          <a:xfrm rot="10800000" flipH="1">
            <a:off x="755650" y="3284806"/>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0" name="Google Shape;72;p14"/>
          <p:cNvSpPr/>
          <p:nvPr/>
        </p:nvSpPr>
        <p:spPr>
          <a:xfrm rot="10800000" flipH="1">
            <a:off x="779792" y="4609446"/>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
        <p:nvSpPr>
          <p:cNvPr id="23"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HABILITAR EL CAMBIO</a:t>
            </a:r>
          </a:p>
        </p:txBody>
      </p:sp>
      <p:sp>
        <p:nvSpPr>
          <p:cNvPr id="24"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…NECESIDAD DE HABILITAR EL CAMBIO</a:t>
            </a:r>
          </a:p>
        </p:txBody>
      </p:sp>
      <p:cxnSp>
        <p:nvCxnSpPr>
          <p:cNvPr id="25" name="Conector recto 24"/>
          <p:cNvCxnSpPr/>
          <p:nvPr/>
        </p:nvCxnSpPr>
        <p:spPr>
          <a:xfrm>
            <a:off x="836059" y="4406818"/>
            <a:ext cx="7583289"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Google Shape;72;p14"/>
          <p:cNvSpPr/>
          <p:nvPr/>
        </p:nvSpPr>
        <p:spPr>
          <a:xfrm rot="10800000" flipH="1">
            <a:off x="783223" y="1939491"/>
            <a:ext cx="183378" cy="183378"/>
          </a:xfrm>
          <a:prstGeom prst="teardrop">
            <a:avLst>
              <a:gd name="adj" fmla="val 100000"/>
            </a:avLst>
          </a:prstGeom>
          <a:solidFill>
            <a:srgbClr val="FFCC18"/>
          </a:solidFill>
          <a:ln>
            <a:noFill/>
          </a:ln>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3605133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634621" y="1442649"/>
            <a:ext cx="5587900" cy="2797859"/>
          </a:xfrm>
          <a:prstGeom prst="rect">
            <a:avLst/>
          </a:prstGeom>
        </p:spPr>
        <p:txBody>
          <a:bodyPr vert="horz" wrap="square" lIns="90000" tIns="90000" rIns="90000" bIns="90000" rtlCol="0">
            <a:spAutoFit/>
          </a:bodyPr>
          <a:lstStyle/>
          <a:p>
            <a:pPr marL="285750" indent="-285750" algn="just">
              <a:spcAft>
                <a:spcPts val="1200"/>
              </a:spcAft>
              <a:buSzPct val="100000"/>
              <a:buFont typeface="Wingdings" panose="05000000000000000000" pitchFamily="2" charset="2"/>
              <a:buChar char="ü"/>
              <a:tabLst>
                <a:tab pos="121285" algn="l"/>
              </a:tabLst>
            </a:pPr>
            <a:r>
              <a:rPr lang="es-PE" sz="1400" spc="-10" dirty="0">
                <a:solidFill>
                  <a:srgbClr val="262626"/>
                </a:solidFill>
              </a:rPr>
              <a:t>Seguir los procesos acordados. </a:t>
            </a:r>
          </a:p>
          <a:p>
            <a:pPr marL="285750" indent="-285750" algn="just">
              <a:spcAft>
                <a:spcPts val="1200"/>
              </a:spcAft>
              <a:buSzPct val="100000"/>
              <a:buFont typeface="Wingdings" panose="05000000000000000000" pitchFamily="2" charset="2"/>
              <a:buChar char="ü"/>
              <a:tabLst>
                <a:tab pos="121285" algn="l"/>
              </a:tabLst>
            </a:pPr>
            <a:r>
              <a:rPr lang="es-ES" sz="1400" spc="-10" dirty="0">
                <a:solidFill>
                  <a:srgbClr val="262626"/>
                </a:solidFill>
              </a:rPr>
              <a:t>Participar en las estructuras definidas del GEIT, como un comité para aprobar el cambio o un comité consultivo. </a:t>
            </a:r>
          </a:p>
          <a:p>
            <a:pPr marL="285750" indent="-285750" algn="just">
              <a:spcAft>
                <a:spcPts val="1200"/>
              </a:spcAft>
              <a:buSzPct val="100000"/>
              <a:buFont typeface="Wingdings" panose="05000000000000000000" pitchFamily="2" charset="2"/>
              <a:buChar char="ü"/>
              <a:tabLst>
                <a:tab pos="121285" algn="l"/>
              </a:tabLst>
            </a:pPr>
            <a:r>
              <a:rPr lang="es-ES" sz="1400" spc="-10" dirty="0">
                <a:solidFill>
                  <a:srgbClr val="262626"/>
                </a:solidFill>
              </a:rPr>
              <a:t>Hacer cumplir los principios rectores, las políticas, los estándares, los procesos o las prácticas definidas (como la política relacionada con nuevas inversiones o seguridad). </a:t>
            </a:r>
          </a:p>
          <a:p>
            <a:pPr algn="just">
              <a:spcAft>
                <a:spcPts val="1800"/>
              </a:spcAft>
              <a:buSzPct val="100000"/>
              <a:tabLst>
                <a:tab pos="121285" algn="l"/>
              </a:tabLst>
            </a:pPr>
            <a:r>
              <a:rPr lang="es-ES" sz="1400" spc="-10" dirty="0" smtClean="0">
                <a:solidFill>
                  <a:srgbClr val="262626"/>
                </a:solidFill>
              </a:rPr>
              <a:t>Si </a:t>
            </a:r>
            <a:r>
              <a:rPr lang="es-ES" sz="1400" spc="-10" dirty="0">
                <a:solidFill>
                  <a:srgbClr val="262626"/>
                </a:solidFill>
              </a:rPr>
              <a:t>fuera necesario podría requerirse reforzar el cumplimiento, porque las barreras humanas de comportamiento y cultura deben superarse, podría ser útil aprovechar las habilidades de cambio dentro de la empresa o, de consultores externos para facilitar el cambio de comportamiento. </a:t>
            </a:r>
            <a:endParaRPr lang="es-ES" sz="1400" spc="-10" dirty="0">
              <a:solidFill>
                <a:srgbClr val="262626"/>
              </a:solidFill>
            </a:endParaRPr>
          </a:p>
        </p:txBody>
      </p:sp>
      <p:sp>
        <p:nvSpPr>
          <p:cNvPr id="12" name="Rectángulo redondeado 11"/>
          <p:cNvSpPr/>
          <p:nvPr/>
        </p:nvSpPr>
        <p:spPr>
          <a:xfrm>
            <a:off x="634621" y="4236187"/>
            <a:ext cx="5347075" cy="1071260"/>
          </a:xfrm>
          <a:prstGeom prst="roundRect">
            <a:avLst>
              <a:gd name="adj" fmla="val 8430"/>
            </a:avLst>
          </a:prstGeom>
          <a:solidFill>
            <a:srgbClr val="ADE9FF"/>
          </a:solidFill>
          <a:ln>
            <a:noFill/>
          </a:ln>
        </p:spPr>
        <p:style>
          <a:lnRef idx="2">
            <a:schemeClr val="dk1"/>
          </a:lnRef>
          <a:fillRef idx="1">
            <a:schemeClr val="lt1"/>
          </a:fillRef>
          <a:effectRef idx="0">
            <a:schemeClr val="dk1"/>
          </a:effectRef>
          <a:fontRef idx="minor">
            <a:schemeClr val="dk1"/>
          </a:fontRef>
        </p:style>
        <p:txBody>
          <a:bodyPr lIns="135000" rtlCol="0" anchor="ctr"/>
          <a:lstStyle/>
          <a:p>
            <a:pPr algn="ctr">
              <a:spcAft>
                <a:spcPts val="1200"/>
              </a:spcAft>
              <a:buSzPct val="100000"/>
              <a:tabLst>
                <a:tab pos="121285" algn="l"/>
              </a:tabLst>
            </a:pPr>
            <a:r>
              <a:rPr lang="es-ES" sz="1200" b="1" i="1" spc="-10" dirty="0">
                <a:solidFill>
                  <a:srgbClr val="262626"/>
                </a:solidFill>
              </a:rPr>
              <a:t>Aunque cada implementación del GEIT es distinta, un objetivo común de habilitación del cambio es que las partes interesadas del negocio y de TI den ejemplo y animen al personal de todos los niveles a trabajar de acuerdo al nuevo modo deseado. </a:t>
            </a:r>
            <a:endParaRPr lang="es-ES" sz="1200" b="1" i="1" spc="-10" dirty="0">
              <a:solidFill>
                <a:srgbClr val="262626"/>
              </a:solidFill>
            </a:endParaRPr>
          </a:p>
        </p:txBody>
      </p:sp>
      <p:sp>
        <p:nvSpPr>
          <p:cNvPr id="21"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HABILITAR EL CAMBIO</a:t>
            </a:r>
          </a:p>
        </p:txBody>
      </p:sp>
      <p:sp>
        <p:nvSpPr>
          <p:cNvPr id="22"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…NECESIDAD DE HABILITAR EL CAMBIO</a:t>
            </a:r>
          </a:p>
        </p:txBody>
      </p:sp>
      <p:sp>
        <p:nvSpPr>
          <p:cNvPr id="23" name="object 7">
            <a:extLst>
              <a:ext uri="{FF2B5EF4-FFF2-40B4-BE49-F238E27FC236}">
                <a16:creationId xmlns:a16="http://schemas.microsoft.com/office/drawing/2014/main" id="{B5EA86E6-DB35-4893-8551-90B6D8DDF61A}"/>
              </a:ext>
            </a:extLst>
          </p:cNvPr>
          <p:cNvSpPr txBox="1"/>
          <p:nvPr/>
        </p:nvSpPr>
        <p:spPr>
          <a:xfrm>
            <a:off x="510903" y="1196428"/>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Entre los ejemplos de comportamiento deseado se incluyen:  </a:t>
            </a:r>
          </a:p>
        </p:txBody>
      </p:sp>
      <p:pic>
        <p:nvPicPr>
          <p:cNvPr id="2" name="Imagen 1"/>
          <p:cNvPicPr>
            <a:picLocks noChangeAspect="1"/>
          </p:cNvPicPr>
          <p:nvPr/>
        </p:nvPicPr>
        <p:blipFill>
          <a:blip r:embed="rId2"/>
          <a:stretch>
            <a:fillRect/>
          </a:stretch>
        </p:blipFill>
        <p:spPr>
          <a:xfrm>
            <a:off x="6337973" y="1196428"/>
            <a:ext cx="2548790" cy="3823185"/>
          </a:xfrm>
          <a:prstGeom prst="rect">
            <a:avLst/>
          </a:prstGeom>
        </p:spPr>
      </p:pic>
    </p:spTree>
    <p:extLst>
      <p:ext uri="{BB962C8B-B14F-4D97-AF65-F5344CB8AC3E}">
        <p14:creationId xmlns:p14="http://schemas.microsoft.com/office/powerpoint/2010/main" val="34751993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HABILITAR EL CAMBIO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…NECESIDAD DE HABILITAR EL CAMBIO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3" y="1195323"/>
            <a:ext cx="7929154" cy="246221"/>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1.1. LAS FASES DEL CICLO DE VIDA DE HABILITACIÓN DEL CAMBIO</a:t>
            </a:r>
          </a:p>
        </p:txBody>
      </p:sp>
      <p:sp>
        <p:nvSpPr>
          <p:cNvPr id="10" name="object 7">
            <a:extLst>
              <a:ext uri="{FF2B5EF4-FFF2-40B4-BE49-F238E27FC236}">
                <a16:creationId xmlns:a16="http://schemas.microsoft.com/office/drawing/2014/main" id="{587818F7-AB79-47F4-8157-B967DECCCDFE}"/>
              </a:ext>
            </a:extLst>
          </p:cNvPr>
          <p:cNvSpPr txBox="1"/>
          <p:nvPr/>
        </p:nvSpPr>
        <p:spPr>
          <a:xfrm>
            <a:off x="703943" y="1603855"/>
            <a:ext cx="4028478" cy="1882310"/>
          </a:xfrm>
          <a:prstGeom prst="rect">
            <a:avLst/>
          </a:prstGeom>
        </p:spPr>
        <p:txBody>
          <a:bodyPr vert="horz" wrap="square" lIns="0" tIns="0" rIns="0" bIns="0" rtlCol="0">
            <a:spAutoFit/>
          </a:bodyPr>
          <a:lstStyle/>
          <a:p>
            <a:pPr marL="285750" indent="-285750" algn="just">
              <a:lnSpc>
                <a:spcPct val="110000"/>
              </a:lnSpc>
              <a:spcAft>
                <a:spcPts val="1800"/>
              </a:spcAft>
              <a:buSzPct val="100000"/>
              <a:buFont typeface="Arial" panose="020B0604020202020204" pitchFamily="34" charset="0"/>
              <a:buChar char="•"/>
              <a:tabLst>
                <a:tab pos="121285" algn="l"/>
              </a:tabLst>
            </a:pPr>
            <a:r>
              <a:rPr lang="es-ES" sz="1600" spc="-10" dirty="0">
                <a:solidFill>
                  <a:srgbClr val="262626"/>
                </a:solidFill>
              </a:rPr>
              <a:t>Todo el entorno de la empresa debería analizarse para determinar la estrategia de habilitación del cambio más adecuada., esto </a:t>
            </a:r>
            <a:r>
              <a:rPr lang="es-ES" sz="1600" spc="-10" dirty="0" smtClean="0">
                <a:solidFill>
                  <a:srgbClr val="262626"/>
                </a:solidFill>
              </a:rPr>
              <a:t>incluyen </a:t>
            </a:r>
            <a:r>
              <a:rPr lang="es-ES" sz="1600" spc="-10" dirty="0">
                <a:solidFill>
                  <a:srgbClr val="262626"/>
                </a:solidFill>
              </a:rPr>
              <a:t>aspectos como el estilo de gestión, cultura, relaciones formales e informales y actitudes. También es importante entender otras iniciativas empresariales o de I&amp;T.</a:t>
            </a:r>
          </a:p>
        </p:txBody>
      </p:sp>
      <p:pic>
        <p:nvPicPr>
          <p:cNvPr id="3" name="Imagen 2">
            <a:extLst>
              <a:ext uri="{FF2B5EF4-FFF2-40B4-BE49-F238E27FC236}">
                <a16:creationId xmlns:a16="http://schemas.microsoft.com/office/drawing/2014/main" id="{2DF51464-2CDF-47F7-99D8-6CCA97010C4C}"/>
              </a:ext>
            </a:extLst>
          </p:cNvPr>
          <p:cNvPicPr>
            <a:picLocks noChangeAspect="1"/>
          </p:cNvPicPr>
          <p:nvPr/>
        </p:nvPicPr>
        <p:blipFill>
          <a:blip r:embed="rId3"/>
          <a:stretch>
            <a:fillRect/>
          </a:stretch>
        </p:blipFill>
        <p:spPr>
          <a:xfrm>
            <a:off x="5069461" y="1603855"/>
            <a:ext cx="3514975" cy="3508841"/>
          </a:xfrm>
          <a:prstGeom prst="rect">
            <a:avLst/>
          </a:prstGeom>
        </p:spPr>
      </p:pic>
    </p:spTree>
    <p:extLst>
      <p:ext uri="{BB962C8B-B14F-4D97-AF65-F5344CB8AC3E}">
        <p14:creationId xmlns:p14="http://schemas.microsoft.com/office/powerpoint/2010/main" val="192567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HABILITAR EL CAMBIO</a:t>
            </a:r>
          </a:p>
        </p:txBody>
      </p:sp>
      <p:sp>
        <p:nvSpPr>
          <p:cNvPr id="7" name="object 7">
            <a:extLst>
              <a:ext uri="{FF2B5EF4-FFF2-40B4-BE49-F238E27FC236}">
                <a16:creationId xmlns:a16="http://schemas.microsoft.com/office/drawing/2014/main" id="{163CCFF5-6DBB-44D7-85E8-567CB4D4AC0E}"/>
              </a:ext>
            </a:extLst>
          </p:cNvPr>
          <p:cNvSpPr txBox="1"/>
          <p:nvPr/>
        </p:nvSpPr>
        <p:spPr>
          <a:xfrm>
            <a:off x="510903" y="771402"/>
            <a:ext cx="5711618" cy="261610"/>
          </a:xfrm>
          <a:prstGeom prst="rect">
            <a:avLst/>
          </a:prstGeom>
        </p:spPr>
        <p:txBody>
          <a:bodyPr vert="horz" wrap="square" lIns="0" tIns="0" rIns="0" bIns="0" rtlCol="0">
            <a:spAutoFit/>
          </a:bodyPr>
          <a:lstStyle/>
          <a:p>
            <a:pPr marL="11725">
              <a:buSzPct val="100000"/>
              <a:tabLst>
                <a:tab pos="121285" algn="l"/>
              </a:tabLst>
            </a:pPr>
            <a:r>
              <a:rPr lang="es-PE" sz="1700" b="1" spc="-10" dirty="0">
                <a:solidFill>
                  <a:srgbClr val="262626"/>
                </a:solidFill>
                <a:cs typeface="Source Sans Pro"/>
              </a:rPr>
              <a:t>1. …NECESIDAD DE HABILITAR EL CAMBIO</a:t>
            </a:r>
          </a:p>
        </p:txBody>
      </p:sp>
      <p:sp>
        <p:nvSpPr>
          <p:cNvPr id="8" name="object 7">
            <a:extLst>
              <a:ext uri="{FF2B5EF4-FFF2-40B4-BE49-F238E27FC236}">
                <a16:creationId xmlns:a16="http://schemas.microsoft.com/office/drawing/2014/main" id="{B5EA86E6-DB35-4893-8551-90B6D8DDF61A}"/>
              </a:ext>
            </a:extLst>
          </p:cNvPr>
          <p:cNvSpPr txBox="1"/>
          <p:nvPr/>
        </p:nvSpPr>
        <p:spPr>
          <a:xfrm>
            <a:off x="510903" y="1195323"/>
            <a:ext cx="7929154" cy="246221"/>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1.1. LAS FASES DEL CICLO DE VIDA DE HABILITACIÓN DEL CAMBIO</a:t>
            </a:r>
          </a:p>
        </p:txBody>
      </p:sp>
      <p:sp>
        <p:nvSpPr>
          <p:cNvPr id="10" name="object 7">
            <a:extLst>
              <a:ext uri="{FF2B5EF4-FFF2-40B4-BE49-F238E27FC236}">
                <a16:creationId xmlns:a16="http://schemas.microsoft.com/office/drawing/2014/main" id="{587818F7-AB79-47F4-8157-B967DECCCDFE}"/>
              </a:ext>
            </a:extLst>
          </p:cNvPr>
          <p:cNvSpPr txBox="1"/>
          <p:nvPr/>
        </p:nvSpPr>
        <p:spPr>
          <a:xfrm>
            <a:off x="703943" y="1603855"/>
            <a:ext cx="4028478" cy="3185487"/>
          </a:xfrm>
          <a:prstGeom prst="rect">
            <a:avLst/>
          </a:prstGeom>
        </p:spPr>
        <p:txBody>
          <a:bodyPr vert="horz" wrap="square" lIns="0" tIns="0" rIns="0" bIns="0" rtlCol="0">
            <a:spAutoFit/>
          </a:bodyPr>
          <a:lstStyle/>
          <a:p>
            <a:pPr marL="285750" indent="-285750" algn="just">
              <a:spcAft>
                <a:spcPts val="1800"/>
              </a:spcAft>
              <a:buSzPct val="100000"/>
              <a:buFont typeface="Arial" panose="020B0604020202020204" pitchFamily="34" charset="0"/>
              <a:buChar char="•"/>
              <a:tabLst>
                <a:tab pos="121285" algn="l"/>
              </a:tabLst>
            </a:pPr>
            <a:r>
              <a:rPr lang="es-ES" sz="1600" spc="-10" dirty="0">
                <a:solidFill>
                  <a:srgbClr val="262626"/>
                </a:solidFill>
              </a:rPr>
              <a:t>Debería garantizarse desde el inicio que las habilidades, competencias y experiencia requeridas para la habilitación del cambio estén disponibles y se utilicen. Por ejemplo, esto podría significar el involucramiento de recursos del área de RR. HH. o la obtención de asistencia externa. </a:t>
            </a:r>
          </a:p>
          <a:p>
            <a:pPr marL="285750" indent="-285750" algn="just">
              <a:spcAft>
                <a:spcPts val="1800"/>
              </a:spcAft>
              <a:buSzPct val="100000"/>
              <a:buFont typeface="Arial" panose="020B0604020202020204" pitchFamily="34" charset="0"/>
              <a:buChar char="•"/>
              <a:tabLst>
                <a:tab pos="121285" algn="l"/>
              </a:tabLst>
            </a:pPr>
            <a:r>
              <a:rPr lang="es-ES" sz="1600" spc="-10" dirty="0">
                <a:solidFill>
                  <a:srgbClr val="262626"/>
                </a:solidFill>
              </a:rPr>
              <a:t>Como un resultado de esta fase, se puede diseñar un equilibrio adecuado entre las directivas y las actividades de habilitación del cambio que se requieren para entregar beneficios sostenibles. </a:t>
            </a:r>
          </a:p>
        </p:txBody>
      </p:sp>
      <p:pic>
        <p:nvPicPr>
          <p:cNvPr id="3" name="Imagen 2">
            <a:extLst>
              <a:ext uri="{FF2B5EF4-FFF2-40B4-BE49-F238E27FC236}">
                <a16:creationId xmlns:a16="http://schemas.microsoft.com/office/drawing/2014/main" id="{2DF51464-2CDF-47F7-99D8-6CCA97010C4C}"/>
              </a:ext>
            </a:extLst>
          </p:cNvPr>
          <p:cNvPicPr>
            <a:picLocks noChangeAspect="1"/>
          </p:cNvPicPr>
          <p:nvPr/>
        </p:nvPicPr>
        <p:blipFill>
          <a:blip r:embed="rId3"/>
          <a:stretch>
            <a:fillRect/>
          </a:stretch>
        </p:blipFill>
        <p:spPr>
          <a:xfrm>
            <a:off x="5069461" y="1603855"/>
            <a:ext cx="3514975" cy="3508841"/>
          </a:xfrm>
          <a:prstGeom prst="rect">
            <a:avLst/>
          </a:prstGeom>
        </p:spPr>
      </p:pic>
    </p:spTree>
    <p:extLst>
      <p:ext uri="{BB962C8B-B14F-4D97-AF65-F5344CB8AC3E}">
        <p14:creationId xmlns:p14="http://schemas.microsoft.com/office/powerpoint/2010/main" val="4054728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1: Establecer el deseo de cambiar</a:t>
            </a:r>
          </a:p>
        </p:txBody>
      </p:sp>
      <p:sp>
        <p:nvSpPr>
          <p:cNvPr id="6" name="object 7">
            <a:extLst>
              <a:ext uri="{FF2B5EF4-FFF2-40B4-BE49-F238E27FC236}">
                <a16:creationId xmlns:a16="http://schemas.microsoft.com/office/drawing/2014/main" id="{50C8216C-1654-4EF6-83C1-6DA35AB5C4D0}"/>
              </a:ext>
            </a:extLst>
          </p:cNvPr>
          <p:cNvSpPr txBox="1"/>
          <p:nvPr/>
        </p:nvSpPr>
        <p:spPr>
          <a:xfrm>
            <a:off x="407874" y="1301846"/>
            <a:ext cx="4164125" cy="1723549"/>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El propósito de esta fase es entender la amplitud y profundidad del cambio previsto, las partes interesadas que son afectadas, la naturaleza del impacto, y el involucramiento requerido por cada grupo de partes interesadas, además de la disponibilidad actual y la habilidad para adoptar el cambio. </a:t>
            </a:r>
          </a:p>
        </p:txBody>
      </p:sp>
      <p:pic>
        <p:nvPicPr>
          <p:cNvPr id="4" name="Imagen 3">
            <a:extLst>
              <a:ext uri="{FF2B5EF4-FFF2-40B4-BE49-F238E27FC236}">
                <a16:creationId xmlns:a16="http://schemas.microsoft.com/office/drawing/2014/main" id="{1C81C5CC-465B-429B-973D-2DE8F2BAB5B8}"/>
              </a:ext>
            </a:extLst>
          </p:cNvPr>
          <p:cNvPicPr>
            <a:picLocks noChangeAspect="1"/>
          </p:cNvPicPr>
          <p:nvPr/>
        </p:nvPicPr>
        <p:blipFill>
          <a:blip r:embed="rId3"/>
          <a:stretch>
            <a:fillRect/>
          </a:stretch>
        </p:blipFill>
        <p:spPr>
          <a:xfrm>
            <a:off x="4910961" y="984842"/>
            <a:ext cx="4005736" cy="3745315"/>
          </a:xfrm>
          <a:prstGeom prst="rect">
            <a:avLst/>
          </a:prstGeom>
        </p:spPr>
      </p:pic>
    </p:spTree>
    <p:extLst>
      <p:ext uri="{BB962C8B-B14F-4D97-AF65-F5344CB8AC3E}">
        <p14:creationId xmlns:p14="http://schemas.microsoft.com/office/powerpoint/2010/main" val="217994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pic>
        <p:nvPicPr>
          <p:cNvPr id="8" name="Imagen 7">
            <a:extLst>
              <a:ext uri="{FF2B5EF4-FFF2-40B4-BE49-F238E27FC236}">
                <a16:creationId xmlns:a16="http://schemas.microsoft.com/office/drawing/2014/main" id="{53884B47-42C1-4DBB-B58D-86E74BF2069F}"/>
              </a:ext>
            </a:extLst>
          </p:cNvPr>
          <p:cNvPicPr>
            <a:picLocks noChangeAspect="1"/>
          </p:cNvPicPr>
          <p:nvPr/>
        </p:nvPicPr>
        <p:blipFill>
          <a:blip r:embed="rId3"/>
          <a:stretch>
            <a:fillRect/>
          </a:stretch>
        </p:blipFill>
        <p:spPr>
          <a:xfrm>
            <a:off x="4986454" y="985668"/>
            <a:ext cx="3908894" cy="3743663"/>
          </a:xfrm>
          <a:prstGeom prst="rect">
            <a:avLst/>
          </a:prstGeom>
        </p:spPr>
      </p:pic>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2: Formar un equipo de implementación eficaz</a:t>
            </a:r>
          </a:p>
        </p:txBody>
      </p:sp>
      <p:sp>
        <p:nvSpPr>
          <p:cNvPr id="6" name="object 7">
            <a:extLst>
              <a:ext uri="{FF2B5EF4-FFF2-40B4-BE49-F238E27FC236}">
                <a16:creationId xmlns:a16="http://schemas.microsoft.com/office/drawing/2014/main" id="{395DB5EB-824A-44DE-A7C9-3081B7FA487B}"/>
              </a:ext>
            </a:extLst>
          </p:cNvPr>
          <p:cNvSpPr txBox="1"/>
          <p:nvPr/>
        </p:nvSpPr>
        <p:spPr>
          <a:xfrm>
            <a:off x="407874" y="1301846"/>
            <a:ext cx="4412779" cy="3600986"/>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Las dimensiones a considerar a la hora de conformar un equipo principal de implementación eficaz implican involucrar a las áreas adecuadas del negocio y de TI e identificar el conocimiento y la pericia, la experiencia, la credibilidad y la autoridad de los miembros del equipo.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Obtener </a:t>
            </a:r>
            <a:r>
              <a:rPr lang="es-ES" sz="1600" spc="-10" dirty="0">
                <a:solidFill>
                  <a:srgbClr val="262626"/>
                </a:solidFill>
              </a:rPr>
              <a:t>una visión independiente y objetiva, como la proporcionada por terceros (como consultores y agentes de cambio) podría también ser muy beneficiosa, mediante su contribución al proceso de implementación o cubrir brechas de habilidades que pudieran existir en la empresa. Por </a:t>
            </a:r>
            <a:r>
              <a:rPr lang="es-ES" sz="1600" spc="-10" dirty="0" smtClean="0">
                <a:solidFill>
                  <a:srgbClr val="262626"/>
                </a:solidFill>
              </a:rPr>
              <a:t>tanto</a:t>
            </a:r>
            <a:r>
              <a:rPr lang="es-ES" sz="1600" spc="-10" dirty="0">
                <a:solidFill>
                  <a:srgbClr val="262626"/>
                </a:solidFill>
              </a:rPr>
              <a:t>, otra dimensión a considerar es la mezcla adecuada de recursos internos y externos. </a:t>
            </a:r>
          </a:p>
        </p:txBody>
      </p:sp>
    </p:spTree>
    <p:extLst>
      <p:ext uri="{BB962C8B-B14F-4D97-AF65-F5344CB8AC3E}">
        <p14:creationId xmlns:p14="http://schemas.microsoft.com/office/powerpoint/2010/main" val="234592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3: Comunicar la visión deseada</a:t>
            </a:r>
          </a:p>
        </p:txBody>
      </p:sp>
      <p:pic>
        <p:nvPicPr>
          <p:cNvPr id="4" name="Imagen 3">
            <a:extLst>
              <a:ext uri="{FF2B5EF4-FFF2-40B4-BE49-F238E27FC236}">
                <a16:creationId xmlns:a16="http://schemas.microsoft.com/office/drawing/2014/main" id="{4DF1EC46-4586-4619-BBAF-2B528512E1F2}"/>
              </a:ext>
            </a:extLst>
          </p:cNvPr>
          <p:cNvPicPr>
            <a:picLocks noChangeAspect="1"/>
          </p:cNvPicPr>
          <p:nvPr/>
        </p:nvPicPr>
        <p:blipFill>
          <a:blip r:embed="rId3"/>
          <a:stretch>
            <a:fillRect/>
          </a:stretch>
        </p:blipFill>
        <p:spPr>
          <a:xfrm>
            <a:off x="4972466" y="999272"/>
            <a:ext cx="3853834" cy="3716456"/>
          </a:xfrm>
          <a:prstGeom prst="rect">
            <a:avLst/>
          </a:prstGeom>
        </p:spPr>
      </p:pic>
      <p:sp>
        <p:nvSpPr>
          <p:cNvPr id="8" name="object 7">
            <a:extLst>
              <a:ext uri="{FF2B5EF4-FFF2-40B4-BE49-F238E27FC236}">
                <a16:creationId xmlns:a16="http://schemas.microsoft.com/office/drawing/2014/main" id="{31A97672-3B9C-495D-BD86-A814667836E6}"/>
              </a:ext>
            </a:extLst>
          </p:cNvPr>
          <p:cNvSpPr txBox="1"/>
          <p:nvPr/>
        </p:nvSpPr>
        <p:spPr>
          <a:xfrm>
            <a:off x="407874" y="1305474"/>
            <a:ext cx="4380694" cy="2369880"/>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En esta fase, se desarrolla un plan de habilitación del cambio de alto nivel junto con el plan general del programa.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Un </a:t>
            </a:r>
            <a:r>
              <a:rPr lang="es-ES" sz="1600" spc="-10" dirty="0">
                <a:solidFill>
                  <a:srgbClr val="262626"/>
                </a:solidFill>
              </a:rPr>
              <a:t>componente clave del plan de habilitación del cambio es la estrategia de comunicación, que considera quiénes son los grupos de audiencia principal, y sus perfiles de comportamiento y requisitos de información, canales de comunicación y principios. </a:t>
            </a:r>
          </a:p>
        </p:txBody>
      </p:sp>
    </p:spTree>
    <p:extLst>
      <p:ext uri="{BB962C8B-B14F-4D97-AF65-F5344CB8AC3E}">
        <p14:creationId xmlns:p14="http://schemas.microsoft.com/office/powerpoint/2010/main" val="393612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4: Empoderar a los roles asignados e identificar las ganancias rápidas</a:t>
            </a:r>
          </a:p>
        </p:txBody>
      </p:sp>
      <p:sp>
        <p:nvSpPr>
          <p:cNvPr id="8" name="object 7">
            <a:extLst>
              <a:ext uri="{FF2B5EF4-FFF2-40B4-BE49-F238E27FC236}">
                <a16:creationId xmlns:a16="http://schemas.microsoft.com/office/drawing/2014/main" id="{31A97672-3B9C-495D-BD86-A814667836E6}"/>
              </a:ext>
            </a:extLst>
          </p:cNvPr>
          <p:cNvSpPr txBox="1"/>
          <p:nvPr/>
        </p:nvSpPr>
        <p:spPr>
          <a:xfrm>
            <a:off x="407874" y="1305474"/>
            <a:ext cx="4380694" cy="3416320"/>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A medida que se diseñan y crean las mejoras, los planes de respuesta al cambio se desarrollan para empoderar a varios roles asignados. Su alcance podría incluir: </a:t>
            </a:r>
          </a:p>
          <a:p>
            <a:pPr marL="285750" indent="-285750" algn="just">
              <a:spcAft>
                <a:spcPts val="1200"/>
              </a:spcAft>
              <a:buSzPct val="100000"/>
              <a:buFont typeface="Wingdings" panose="05000000000000000000" pitchFamily="2" charset="2"/>
              <a:buChar char="§"/>
              <a:tabLst>
                <a:tab pos="121285" algn="l"/>
              </a:tabLst>
            </a:pPr>
            <a:r>
              <a:rPr lang="es-ES" sz="1600" spc="-10" dirty="0">
                <a:solidFill>
                  <a:srgbClr val="262626"/>
                </a:solidFill>
              </a:rPr>
              <a:t>Cambios de diseño organizativo, como el contenido de un puesto de trabajo o estructuras de </a:t>
            </a:r>
            <a:r>
              <a:rPr lang="es-ES" sz="1600" spc="-10" dirty="0" smtClean="0">
                <a:solidFill>
                  <a:srgbClr val="262626"/>
                </a:solidFill>
              </a:rPr>
              <a:t>equipos.</a:t>
            </a:r>
            <a:endParaRPr lang="es-ES" sz="1600" spc="-10" dirty="0">
              <a:solidFill>
                <a:srgbClr val="262626"/>
              </a:solidFill>
            </a:endParaRPr>
          </a:p>
          <a:p>
            <a:pPr marL="285750" indent="-285750" algn="just">
              <a:spcAft>
                <a:spcPts val="1200"/>
              </a:spcAft>
              <a:buSzPct val="100000"/>
              <a:buFont typeface="Wingdings" panose="05000000000000000000" pitchFamily="2" charset="2"/>
              <a:buChar char="§"/>
              <a:tabLst>
                <a:tab pos="121285" algn="l"/>
              </a:tabLst>
            </a:pPr>
            <a:r>
              <a:rPr lang="es-PE" sz="1600" spc="-10" dirty="0">
                <a:solidFill>
                  <a:srgbClr val="262626"/>
                </a:solidFill>
              </a:rPr>
              <a:t>Cambios operativos, como flujos de procesos o </a:t>
            </a:r>
            <a:r>
              <a:rPr lang="es-PE" sz="1600" spc="-10" dirty="0" smtClean="0">
                <a:solidFill>
                  <a:srgbClr val="262626"/>
                </a:solidFill>
              </a:rPr>
              <a:t>logística.</a:t>
            </a:r>
            <a:endParaRPr lang="es-PE" sz="1600" spc="-10" dirty="0">
              <a:solidFill>
                <a:srgbClr val="262626"/>
              </a:solidFill>
            </a:endParaRPr>
          </a:p>
          <a:p>
            <a:pPr marL="285750" indent="-285750" algn="just">
              <a:spcAft>
                <a:spcPts val="1200"/>
              </a:spcAft>
              <a:buSzPct val="100000"/>
              <a:buFont typeface="Wingdings" panose="05000000000000000000" pitchFamily="2" charset="2"/>
              <a:buChar char="§"/>
              <a:tabLst>
                <a:tab pos="121285" algn="l"/>
              </a:tabLst>
            </a:pPr>
            <a:r>
              <a:rPr lang="es-ES" sz="1600" spc="-10" dirty="0">
                <a:solidFill>
                  <a:srgbClr val="262626"/>
                </a:solidFill>
              </a:rPr>
              <a:t>Cambios en la gestión de personal, como formación y/o cambios requeridos en la gestión del desempeño y los sistemas de </a:t>
            </a:r>
            <a:r>
              <a:rPr lang="es-ES" sz="1600" spc="-10" dirty="0" smtClean="0">
                <a:solidFill>
                  <a:srgbClr val="262626"/>
                </a:solidFill>
              </a:rPr>
              <a:t>recompensa. </a:t>
            </a:r>
            <a:endParaRPr lang="es-ES" sz="1600" spc="-10" dirty="0">
              <a:solidFill>
                <a:srgbClr val="262626"/>
              </a:solidFill>
            </a:endParaRPr>
          </a:p>
        </p:txBody>
      </p:sp>
      <p:pic>
        <p:nvPicPr>
          <p:cNvPr id="6" name="Imagen 5">
            <a:extLst>
              <a:ext uri="{FF2B5EF4-FFF2-40B4-BE49-F238E27FC236}">
                <a16:creationId xmlns:a16="http://schemas.microsoft.com/office/drawing/2014/main" id="{CC00D324-A440-4CA2-8503-DA610FCBE4F4}"/>
              </a:ext>
            </a:extLst>
          </p:cNvPr>
          <p:cNvPicPr>
            <a:picLocks noChangeAspect="1"/>
          </p:cNvPicPr>
          <p:nvPr/>
        </p:nvPicPr>
        <p:blipFill>
          <a:blip r:embed="rId3"/>
          <a:stretch>
            <a:fillRect/>
          </a:stretch>
        </p:blipFill>
        <p:spPr>
          <a:xfrm>
            <a:off x="5091444" y="1305474"/>
            <a:ext cx="3754061" cy="3704007"/>
          </a:xfrm>
          <a:prstGeom prst="rect">
            <a:avLst/>
          </a:prstGeom>
        </p:spPr>
      </p:pic>
    </p:spTree>
    <p:extLst>
      <p:ext uri="{BB962C8B-B14F-4D97-AF65-F5344CB8AC3E}">
        <p14:creationId xmlns:p14="http://schemas.microsoft.com/office/powerpoint/2010/main" val="2476569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4: Empoderar a los roles asignados e identificar las ganancias rápidas</a:t>
            </a:r>
          </a:p>
        </p:txBody>
      </p:sp>
      <p:sp>
        <p:nvSpPr>
          <p:cNvPr id="8" name="object 7">
            <a:extLst>
              <a:ext uri="{FF2B5EF4-FFF2-40B4-BE49-F238E27FC236}">
                <a16:creationId xmlns:a16="http://schemas.microsoft.com/office/drawing/2014/main" id="{31A97672-3B9C-495D-BD86-A814667836E6}"/>
              </a:ext>
            </a:extLst>
          </p:cNvPr>
          <p:cNvSpPr txBox="1"/>
          <p:nvPr/>
        </p:nvSpPr>
        <p:spPr>
          <a:xfrm>
            <a:off x="407874" y="1305474"/>
            <a:ext cx="4380694" cy="212365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La obtención de ganancias rápidas es importante desde el punto de vista de una habilitación del </a:t>
            </a:r>
            <a:r>
              <a:rPr lang="es-ES" sz="1600" spc="-10" dirty="0" smtClean="0">
                <a:solidFill>
                  <a:srgbClr val="262626"/>
                </a:solidFill>
              </a:rPr>
              <a:t>cambio; estos </a:t>
            </a:r>
            <a:r>
              <a:rPr lang="es-ES" sz="1600" spc="-10" dirty="0">
                <a:solidFill>
                  <a:srgbClr val="262626"/>
                </a:solidFill>
              </a:rPr>
              <a:t>podrían estar relacionados con los puntos de dolor y los eventos </a:t>
            </a:r>
            <a:r>
              <a:rPr lang="es-ES" sz="1600" spc="-10" dirty="0" smtClean="0">
                <a:solidFill>
                  <a:srgbClr val="262626"/>
                </a:solidFill>
              </a:rPr>
              <a:t>desencadenantes.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Las </a:t>
            </a:r>
            <a:r>
              <a:rPr lang="es-ES" sz="1600" spc="-10" dirty="0">
                <a:solidFill>
                  <a:srgbClr val="262626"/>
                </a:solidFill>
              </a:rPr>
              <a:t>ganancias rápidas visibles e inequívocas pueden generar una dinámica y una credibilidad para el programa y ayudar a acabar con cualquier escepticismo que pudiera existir. </a:t>
            </a:r>
          </a:p>
        </p:txBody>
      </p:sp>
      <p:pic>
        <p:nvPicPr>
          <p:cNvPr id="6" name="Imagen 5">
            <a:extLst>
              <a:ext uri="{FF2B5EF4-FFF2-40B4-BE49-F238E27FC236}">
                <a16:creationId xmlns:a16="http://schemas.microsoft.com/office/drawing/2014/main" id="{CC00D324-A440-4CA2-8503-DA610FCBE4F4}"/>
              </a:ext>
            </a:extLst>
          </p:cNvPr>
          <p:cNvPicPr>
            <a:picLocks noChangeAspect="1"/>
          </p:cNvPicPr>
          <p:nvPr/>
        </p:nvPicPr>
        <p:blipFill>
          <a:blip r:embed="rId3"/>
          <a:stretch>
            <a:fillRect/>
          </a:stretch>
        </p:blipFill>
        <p:spPr>
          <a:xfrm>
            <a:off x="5091444" y="1305474"/>
            <a:ext cx="3754061" cy="3704007"/>
          </a:xfrm>
          <a:prstGeom prst="rect">
            <a:avLst/>
          </a:prstGeom>
        </p:spPr>
      </p:pic>
    </p:spTree>
    <p:extLst>
      <p:ext uri="{BB962C8B-B14F-4D97-AF65-F5344CB8AC3E}">
        <p14:creationId xmlns:p14="http://schemas.microsoft.com/office/powerpoint/2010/main" val="418471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5: Habilitar la operación y el uso</a:t>
            </a:r>
          </a:p>
        </p:txBody>
      </p:sp>
      <p:sp>
        <p:nvSpPr>
          <p:cNvPr id="8" name="object 7">
            <a:extLst>
              <a:ext uri="{FF2B5EF4-FFF2-40B4-BE49-F238E27FC236}">
                <a16:creationId xmlns:a16="http://schemas.microsoft.com/office/drawing/2014/main" id="{31A97672-3B9C-495D-BD86-A814667836E6}"/>
              </a:ext>
            </a:extLst>
          </p:cNvPr>
          <p:cNvSpPr txBox="1"/>
          <p:nvPr/>
        </p:nvSpPr>
        <p:spPr>
          <a:xfrm>
            <a:off x="407874" y="1305474"/>
            <a:ext cx="4380694" cy="2215991"/>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Así como las iniciativas se implementan dentro del ciclo de vida de implementación principal, también se implementan los planes de respuesta al cambio. Los éxitos rápidos que se han obtenido se construyen sobre los aspectos culturales y de comportamiento abordándolos desde el sentido amplio de la transición (temas como el manejo de los temores de pérdida de responsabilidad, nuevas expectativas y tareas desconocidas). </a:t>
            </a:r>
          </a:p>
        </p:txBody>
      </p:sp>
      <p:pic>
        <p:nvPicPr>
          <p:cNvPr id="9" name="Imagen 8">
            <a:extLst>
              <a:ext uri="{FF2B5EF4-FFF2-40B4-BE49-F238E27FC236}">
                <a16:creationId xmlns:a16="http://schemas.microsoft.com/office/drawing/2014/main" id="{EDC93AB1-1C35-4D6A-AEA6-3BBFB627E568}"/>
              </a:ext>
            </a:extLst>
          </p:cNvPr>
          <p:cNvPicPr>
            <a:picLocks noChangeAspect="1"/>
          </p:cNvPicPr>
          <p:nvPr/>
        </p:nvPicPr>
        <p:blipFill>
          <a:blip r:embed="rId3"/>
          <a:stretch>
            <a:fillRect/>
          </a:stretch>
        </p:blipFill>
        <p:spPr>
          <a:xfrm>
            <a:off x="4884821" y="1305474"/>
            <a:ext cx="3944603" cy="3692207"/>
          </a:xfrm>
          <a:prstGeom prst="rect">
            <a:avLst/>
          </a:prstGeom>
        </p:spPr>
      </p:pic>
    </p:spTree>
    <p:extLst>
      <p:ext uri="{BB962C8B-B14F-4D97-AF65-F5344CB8AC3E}">
        <p14:creationId xmlns:p14="http://schemas.microsoft.com/office/powerpoint/2010/main" val="308837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6: Incorporar nuevas estrategias</a:t>
            </a:r>
          </a:p>
        </p:txBody>
      </p:sp>
      <p:sp>
        <p:nvSpPr>
          <p:cNvPr id="8" name="object 7">
            <a:extLst>
              <a:ext uri="{FF2B5EF4-FFF2-40B4-BE49-F238E27FC236}">
                <a16:creationId xmlns:a16="http://schemas.microsoft.com/office/drawing/2014/main" id="{31A97672-3B9C-495D-BD86-A814667836E6}"/>
              </a:ext>
            </a:extLst>
          </p:cNvPr>
          <p:cNvSpPr txBox="1"/>
          <p:nvPr/>
        </p:nvSpPr>
        <p:spPr>
          <a:xfrm>
            <a:off x="407874" y="1305474"/>
            <a:ext cx="4380694" cy="3108543"/>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A medida que se logran resultados tangibles, las nuevas formas de trabajo deberían formar parte de la cultura de la empresa y enraizarse en sus normas y valores («la forma como hacemos las cosas por aquí»). Una forma de lograrlo es implementar políticas, estándares y procedimientos adecuados.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Debería </a:t>
            </a:r>
            <a:r>
              <a:rPr lang="es-ES" sz="1600" spc="-10" dirty="0">
                <a:solidFill>
                  <a:srgbClr val="262626"/>
                </a:solidFill>
              </a:rPr>
              <a:t>hacerse un seguimiento de los cambios implementados, debería evaluarse la eficacia de los planes de respuesta ante el cambio y deberían tomarse las medidas correctivas según corresponda. Esto podría incluir reforzar el cumplimiento cuando aún sea preciso. </a:t>
            </a:r>
          </a:p>
        </p:txBody>
      </p:sp>
      <p:pic>
        <p:nvPicPr>
          <p:cNvPr id="6" name="Imagen 5">
            <a:extLst>
              <a:ext uri="{FF2B5EF4-FFF2-40B4-BE49-F238E27FC236}">
                <a16:creationId xmlns:a16="http://schemas.microsoft.com/office/drawing/2014/main" id="{24ED984E-294D-4BFA-90B8-F9A58190238A}"/>
              </a:ext>
            </a:extLst>
          </p:cNvPr>
          <p:cNvPicPr>
            <a:picLocks noChangeAspect="1"/>
          </p:cNvPicPr>
          <p:nvPr/>
        </p:nvPicPr>
        <p:blipFill>
          <a:blip r:embed="rId3"/>
          <a:stretch>
            <a:fillRect/>
          </a:stretch>
        </p:blipFill>
        <p:spPr>
          <a:xfrm>
            <a:off x="4988508" y="1111420"/>
            <a:ext cx="3823786" cy="3765519"/>
          </a:xfrm>
          <a:prstGeom prst="rect">
            <a:avLst/>
          </a:prstGeom>
        </p:spPr>
      </p:pic>
    </p:spTree>
    <p:extLst>
      <p:ext uri="{BB962C8B-B14F-4D97-AF65-F5344CB8AC3E}">
        <p14:creationId xmlns:p14="http://schemas.microsoft.com/office/powerpoint/2010/main" val="3961989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7: Sostenibilidad</a:t>
            </a:r>
          </a:p>
        </p:txBody>
      </p:sp>
      <p:pic>
        <p:nvPicPr>
          <p:cNvPr id="8" name="Imagen 7">
            <a:extLst>
              <a:ext uri="{FF2B5EF4-FFF2-40B4-BE49-F238E27FC236}">
                <a16:creationId xmlns:a16="http://schemas.microsoft.com/office/drawing/2014/main" id="{184247E4-00F4-4F1E-85F0-D6CF22B0B0AE}"/>
              </a:ext>
            </a:extLst>
          </p:cNvPr>
          <p:cNvPicPr>
            <a:picLocks noChangeAspect="1"/>
          </p:cNvPicPr>
          <p:nvPr/>
        </p:nvPicPr>
        <p:blipFill>
          <a:blip r:embed="rId3"/>
          <a:stretch>
            <a:fillRect/>
          </a:stretch>
        </p:blipFill>
        <p:spPr>
          <a:xfrm>
            <a:off x="4766985" y="932975"/>
            <a:ext cx="3908039" cy="3849050"/>
          </a:xfrm>
          <a:prstGeom prst="rect">
            <a:avLst/>
          </a:prstGeom>
        </p:spPr>
      </p:pic>
      <p:sp>
        <p:nvSpPr>
          <p:cNvPr id="9" name="object 7">
            <a:extLst>
              <a:ext uri="{FF2B5EF4-FFF2-40B4-BE49-F238E27FC236}">
                <a16:creationId xmlns:a16="http://schemas.microsoft.com/office/drawing/2014/main" id="{3D5413E7-141F-44BE-9EDF-D302A3CE6BF6}"/>
              </a:ext>
            </a:extLst>
          </p:cNvPr>
          <p:cNvSpPr txBox="1"/>
          <p:nvPr/>
        </p:nvSpPr>
        <p:spPr>
          <a:xfrm>
            <a:off x="407874" y="1305474"/>
            <a:ext cx="4164125" cy="212365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spc="-10" dirty="0">
                <a:solidFill>
                  <a:srgbClr val="262626"/>
                </a:solidFill>
              </a:rPr>
              <a:t>Los cambios se sostienen gracias a un refuerzo consciente, una campaña de comunicación continua y un compromiso continuo de la alta dirección. </a:t>
            </a:r>
          </a:p>
          <a:p>
            <a:pPr algn="just">
              <a:spcAft>
                <a:spcPts val="1200"/>
              </a:spcAft>
              <a:buSzPct val="100000"/>
              <a:tabLst>
                <a:tab pos="121285" algn="l"/>
              </a:tabLst>
            </a:pPr>
            <a:r>
              <a:rPr lang="es-ES" sz="1600" spc="-10" dirty="0">
                <a:solidFill>
                  <a:srgbClr val="262626"/>
                </a:solidFill>
              </a:rPr>
              <a:t>En esta fase, se implementan los planes de acciones correctivas, se registran las lecciones aprendidas y se comparte el conocimiento con toda la empresa.</a:t>
            </a:r>
          </a:p>
        </p:txBody>
      </p:sp>
    </p:spTree>
    <p:extLst>
      <p:ext uri="{BB962C8B-B14F-4D97-AF65-F5344CB8AC3E}">
        <p14:creationId xmlns:p14="http://schemas.microsoft.com/office/powerpoint/2010/main" val="834679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 CICLO DE VIDA DE LA IMPLEMENTACIÓN</a:t>
            </a:r>
          </a:p>
        </p:txBody>
      </p:sp>
    </p:spTree>
    <p:custDataLst>
      <p:tags r:id="rId1"/>
    </p:custDataLst>
    <p:extLst>
      <p:ext uri="{BB962C8B-B14F-4D97-AF65-F5344CB8AC3E}">
        <p14:creationId xmlns:p14="http://schemas.microsoft.com/office/powerpoint/2010/main" val="967463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83720" y="828061"/>
            <a:ext cx="5380183" cy="3705799"/>
          </a:xfrm>
          <a:prstGeom prst="rect">
            <a:avLst/>
          </a:prstGeom>
        </p:spPr>
        <p:txBody>
          <a:bodyPr vert="horz" wrap="square" lIns="90000" tIns="90000" rIns="90000" bIns="90000" rtlCol="0">
            <a:spAutoFit/>
          </a:bodyPr>
          <a:lstStyle/>
          <a:p>
            <a:pPr algn="just">
              <a:spcAft>
                <a:spcPts val="1800"/>
              </a:spcAft>
              <a:buSzPct val="100000"/>
              <a:tabLst>
                <a:tab pos="121285" algn="l"/>
              </a:tabLst>
            </a:pPr>
            <a:r>
              <a:rPr lang="es-ES" sz="1400" spc="-10" dirty="0">
                <a:solidFill>
                  <a:srgbClr val="262626"/>
                </a:solidFill>
              </a:rPr>
              <a:t>La mejora continua del GEIT se logra usando el ciclo de vida de implementación de siete fases. Cada fase está sustentada en:  </a:t>
            </a:r>
          </a:p>
          <a:p>
            <a:pPr>
              <a:buClr>
                <a:srgbClr val="FA4044"/>
              </a:buClr>
              <a:buSzPct val="120000"/>
              <a:tabLst>
                <a:tab pos="75803" algn="l"/>
              </a:tabLst>
              <a:defRPr/>
            </a:pPr>
            <a:endParaRPr lang="es-PE" sz="1200" spc="-6" dirty="0">
              <a:latin typeface="Arial" charset="0"/>
              <a:ea typeface="Arial" charset="0"/>
              <a:cs typeface="Arial" charset="0"/>
            </a:endParaRPr>
          </a:p>
          <a:p>
            <a:pPr marL="285750" indent="-285750" algn="just">
              <a:spcAft>
                <a:spcPts val="1200"/>
              </a:spcAft>
              <a:buSzPct val="100000"/>
              <a:buFont typeface="Wingdings" panose="05000000000000000000" pitchFamily="2" charset="2"/>
              <a:buChar char="ü"/>
              <a:tabLst>
                <a:tab pos="121285" algn="l"/>
              </a:tabLst>
            </a:pPr>
            <a:r>
              <a:rPr lang="es-ES" sz="1400" spc="-10" dirty="0">
                <a:solidFill>
                  <a:srgbClr val="262626"/>
                </a:solidFill>
              </a:rPr>
              <a:t>Un cuadro que resume las responsabilidades de cada grupo de roles asignados en cada fase. Los roles definidos son genéricos por lo que no necesariamente deben existir como una función específica. </a:t>
            </a:r>
          </a:p>
          <a:p>
            <a:pPr marL="285750" indent="-285750" algn="just">
              <a:spcAft>
                <a:spcPts val="1200"/>
              </a:spcAft>
              <a:buSzPct val="100000"/>
              <a:buFont typeface="Wingdings" panose="05000000000000000000" pitchFamily="2" charset="2"/>
              <a:buChar char="ü"/>
              <a:tabLst>
                <a:tab pos="121285" algn="l"/>
              </a:tabLst>
            </a:pPr>
            <a:r>
              <a:rPr lang="es-PE" sz="1400" spc="-10" dirty="0">
                <a:solidFill>
                  <a:srgbClr val="262626"/>
                </a:solidFill>
              </a:rPr>
              <a:t>Una tabla que contiene precisiones de cada fase como: el objetivo, descripción, tareas de mejora, tareas de habilitación, tareas de gestión del programa, ejemplos de las entradas, elementos sugeridos por ISACA y otros marcos, y finalmente las salidas que deben producirse. </a:t>
            </a:r>
          </a:p>
          <a:p>
            <a:pPr marL="285750" indent="-285750" algn="just">
              <a:spcAft>
                <a:spcPts val="1200"/>
              </a:spcAft>
              <a:buSzPct val="100000"/>
              <a:buFont typeface="Wingdings" panose="05000000000000000000" pitchFamily="2" charset="2"/>
              <a:buChar char="ü"/>
              <a:tabLst>
                <a:tab pos="121285" algn="l"/>
              </a:tabLst>
            </a:pPr>
            <a:r>
              <a:rPr lang="es-ES" sz="1400" spc="-10" dirty="0">
                <a:solidFill>
                  <a:srgbClr val="262626"/>
                </a:solidFill>
              </a:rPr>
              <a:t>Una matriz RACI que describe responsabilidades, habilitación del cambio (CE) y gestión del programa (PM), con las correspondientes referencias cruzadas. </a:t>
            </a:r>
            <a:endParaRPr lang="es-ES" sz="1400" spc="-10" dirty="0">
              <a:solidFill>
                <a:srgbClr val="262626"/>
              </a:solidFill>
            </a:endParaRPr>
          </a:p>
        </p:txBody>
      </p:sp>
      <p:sp>
        <p:nvSpPr>
          <p:cNvPr id="8" name="Rectángulo redondeado 7"/>
          <p:cNvSpPr/>
          <p:nvPr/>
        </p:nvSpPr>
        <p:spPr>
          <a:xfrm>
            <a:off x="822121" y="4533860"/>
            <a:ext cx="4957893" cy="742815"/>
          </a:xfrm>
          <a:prstGeom prst="roundRect">
            <a:avLst>
              <a:gd name="adj" fmla="val 8430"/>
            </a:avLst>
          </a:prstGeom>
          <a:solidFill>
            <a:srgbClr val="0BAE80"/>
          </a:solidFill>
          <a:ln>
            <a:noFill/>
          </a:ln>
        </p:spPr>
        <p:style>
          <a:lnRef idx="2">
            <a:schemeClr val="dk1"/>
          </a:lnRef>
          <a:fillRef idx="1">
            <a:schemeClr val="lt1"/>
          </a:fillRef>
          <a:effectRef idx="0">
            <a:schemeClr val="dk1"/>
          </a:effectRef>
          <a:fontRef idx="minor">
            <a:schemeClr val="dk1"/>
          </a:fontRef>
        </p:style>
        <p:txBody>
          <a:bodyPr lIns="135000" rtlCol="0" anchor="ctr"/>
          <a:lstStyle/>
          <a:p>
            <a:pPr algn="just">
              <a:spcAft>
                <a:spcPts val="1800"/>
              </a:spcAft>
              <a:buSzPct val="100000"/>
              <a:tabLst>
                <a:tab pos="121285" algn="l"/>
              </a:tabLst>
            </a:pPr>
            <a:r>
              <a:rPr lang="es-ES" sz="1400" b="1" i="1" spc="-10" dirty="0">
                <a:solidFill>
                  <a:srgbClr val="C00000"/>
                </a:solidFill>
              </a:rPr>
              <a:t>NOTA: Todo lo descrito se verá en clase con la guía oficial de COBIT 2019 basándonos en un caso de ejemplo práctico.</a:t>
            </a:r>
            <a:endParaRPr lang="es-ES" sz="1400" b="1" i="1" spc="-10" dirty="0">
              <a:solidFill>
                <a:srgbClr val="C00000"/>
              </a:solidFill>
            </a:endParaRPr>
          </a:p>
        </p:txBody>
      </p:sp>
      <p:sp>
        <p:nvSpPr>
          <p:cNvPr id="14"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pic>
        <p:nvPicPr>
          <p:cNvPr id="2" name="Imagen 1"/>
          <p:cNvPicPr>
            <a:picLocks noChangeAspect="1"/>
          </p:cNvPicPr>
          <p:nvPr/>
        </p:nvPicPr>
        <p:blipFill>
          <a:blip r:embed="rId2"/>
          <a:stretch>
            <a:fillRect/>
          </a:stretch>
        </p:blipFill>
        <p:spPr>
          <a:xfrm>
            <a:off x="5972961" y="828060"/>
            <a:ext cx="2994870" cy="4515727"/>
          </a:xfrm>
          <a:prstGeom prst="rect">
            <a:avLst/>
          </a:prstGeom>
        </p:spPr>
      </p:pic>
    </p:spTree>
    <p:extLst>
      <p:ext uri="{BB962C8B-B14F-4D97-AF65-F5344CB8AC3E}">
        <p14:creationId xmlns:p14="http://schemas.microsoft.com/office/powerpoint/2010/main" val="11665306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1: ¿Cuáles son los motivadores?</a:t>
            </a:r>
          </a:p>
        </p:txBody>
      </p:sp>
      <p:sp>
        <p:nvSpPr>
          <p:cNvPr id="6" name="object 7">
            <a:extLst>
              <a:ext uri="{FF2B5EF4-FFF2-40B4-BE49-F238E27FC236}">
                <a16:creationId xmlns:a16="http://schemas.microsoft.com/office/drawing/2014/main" id="{50C8216C-1654-4EF6-83C1-6DA35AB5C4D0}"/>
              </a:ext>
            </a:extLst>
          </p:cNvPr>
          <p:cNvSpPr txBox="1"/>
          <p:nvPr/>
        </p:nvSpPr>
        <p:spPr>
          <a:xfrm>
            <a:off x="407874" y="1301846"/>
            <a:ext cx="4164125" cy="147732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Obtener un entendimiento de los antecedentes y objetivos del programa y la estrategia de gobierno actual. Definir el caso de negocio inicial del concepto del programa. Obtener la aceptación y el compromiso de todas las partes interesadas clave.</a:t>
            </a:r>
          </a:p>
        </p:txBody>
      </p:sp>
      <p:pic>
        <p:nvPicPr>
          <p:cNvPr id="4" name="Imagen 3">
            <a:extLst>
              <a:ext uri="{FF2B5EF4-FFF2-40B4-BE49-F238E27FC236}">
                <a16:creationId xmlns:a16="http://schemas.microsoft.com/office/drawing/2014/main" id="{1C81C5CC-465B-429B-973D-2DE8F2BAB5B8}"/>
              </a:ext>
            </a:extLst>
          </p:cNvPr>
          <p:cNvPicPr>
            <a:picLocks noChangeAspect="1"/>
          </p:cNvPicPr>
          <p:nvPr/>
        </p:nvPicPr>
        <p:blipFill>
          <a:blip r:embed="rId3"/>
          <a:stretch>
            <a:fillRect/>
          </a:stretch>
        </p:blipFill>
        <p:spPr>
          <a:xfrm>
            <a:off x="4740640" y="950215"/>
            <a:ext cx="4079805" cy="3814569"/>
          </a:xfrm>
          <a:prstGeom prst="rect">
            <a:avLst/>
          </a:prstGeom>
        </p:spPr>
      </p:pic>
    </p:spTree>
    <p:extLst>
      <p:ext uri="{BB962C8B-B14F-4D97-AF65-F5344CB8AC3E}">
        <p14:creationId xmlns:p14="http://schemas.microsoft.com/office/powerpoint/2010/main" val="3691692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2: ¿Dónde estamos ahora?</a:t>
            </a:r>
          </a:p>
        </p:txBody>
      </p:sp>
      <p:pic>
        <p:nvPicPr>
          <p:cNvPr id="8" name="Imagen 7">
            <a:extLst>
              <a:ext uri="{FF2B5EF4-FFF2-40B4-BE49-F238E27FC236}">
                <a16:creationId xmlns:a16="http://schemas.microsoft.com/office/drawing/2014/main" id="{53884B47-42C1-4DBB-B58D-86E74BF2069F}"/>
              </a:ext>
            </a:extLst>
          </p:cNvPr>
          <p:cNvPicPr>
            <a:picLocks noChangeAspect="1"/>
          </p:cNvPicPr>
          <p:nvPr/>
        </p:nvPicPr>
        <p:blipFill>
          <a:blip r:embed="rId3"/>
          <a:stretch>
            <a:fillRect/>
          </a:stretch>
        </p:blipFill>
        <p:spPr>
          <a:xfrm>
            <a:off x="4850096" y="972291"/>
            <a:ext cx="3936829" cy="3770417"/>
          </a:xfrm>
          <a:prstGeom prst="rect">
            <a:avLst/>
          </a:prstGeom>
        </p:spPr>
      </p:pic>
      <p:sp>
        <p:nvSpPr>
          <p:cNvPr id="9" name="object 7">
            <a:extLst>
              <a:ext uri="{FF2B5EF4-FFF2-40B4-BE49-F238E27FC236}">
                <a16:creationId xmlns:a16="http://schemas.microsoft.com/office/drawing/2014/main" id="{7186B1F2-2496-4972-9AB7-4FB862D7EB3C}"/>
              </a:ext>
            </a:extLst>
          </p:cNvPr>
          <p:cNvSpPr txBox="1"/>
          <p:nvPr/>
        </p:nvSpPr>
        <p:spPr>
          <a:xfrm>
            <a:off x="407875" y="1221584"/>
            <a:ext cx="4352812" cy="4001095"/>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Garantizar que el equipo del programa conozca y comprenda las metas empresariales y cómo las áreas de negocio y de TI deben aportar valor de I&amp;T para apoyar las metas empresariales, incluyendo cualquier proyecto significativo en curso.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Identificar </a:t>
            </a:r>
            <a:r>
              <a:rPr lang="es-ES" sz="1600" spc="-10" dirty="0">
                <a:solidFill>
                  <a:srgbClr val="262626"/>
                </a:solidFill>
              </a:rPr>
              <a:t>los procesos críticos u otros habilitadores que se abordarán en el plan de mejora. Identificar las prácticas de gestión adecuadas para cada proceso seleccionado.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Obtener </a:t>
            </a:r>
            <a:r>
              <a:rPr lang="es-ES" sz="1600" spc="-10" dirty="0">
                <a:solidFill>
                  <a:srgbClr val="262626"/>
                </a:solidFill>
              </a:rPr>
              <a:t>un entendimiento de la actitud presente y futura de la empresa frente al riesgo y de la posición respecto al riesgo de TI, y determinar cómo va a impactar en el programa. Determinar la capacidad actual de los procesos seleccionados. Entender la capacidad y la aptitud de la empresa para el cambio.</a:t>
            </a:r>
          </a:p>
        </p:txBody>
      </p:sp>
    </p:spTree>
    <p:extLst>
      <p:ext uri="{BB962C8B-B14F-4D97-AF65-F5344CB8AC3E}">
        <p14:creationId xmlns:p14="http://schemas.microsoft.com/office/powerpoint/2010/main" val="397536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3: ¿Dónde queremos estar?</a:t>
            </a:r>
          </a:p>
        </p:txBody>
      </p:sp>
      <p:pic>
        <p:nvPicPr>
          <p:cNvPr id="4" name="Imagen 3">
            <a:extLst>
              <a:ext uri="{FF2B5EF4-FFF2-40B4-BE49-F238E27FC236}">
                <a16:creationId xmlns:a16="http://schemas.microsoft.com/office/drawing/2014/main" id="{4DF1EC46-4586-4619-BBAF-2B528512E1F2}"/>
              </a:ext>
            </a:extLst>
          </p:cNvPr>
          <p:cNvPicPr>
            <a:picLocks noChangeAspect="1"/>
          </p:cNvPicPr>
          <p:nvPr/>
        </p:nvPicPr>
        <p:blipFill>
          <a:blip r:embed="rId3"/>
          <a:stretch>
            <a:fillRect/>
          </a:stretch>
        </p:blipFill>
        <p:spPr>
          <a:xfrm>
            <a:off x="4828087" y="999272"/>
            <a:ext cx="3853834" cy="3716456"/>
          </a:xfrm>
          <a:prstGeom prst="rect">
            <a:avLst/>
          </a:prstGeom>
        </p:spPr>
      </p:pic>
      <p:sp>
        <p:nvSpPr>
          <p:cNvPr id="8" name="object 7">
            <a:extLst>
              <a:ext uri="{FF2B5EF4-FFF2-40B4-BE49-F238E27FC236}">
                <a16:creationId xmlns:a16="http://schemas.microsoft.com/office/drawing/2014/main" id="{31A97672-3B9C-495D-BD86-A814667836E6}"/>
              </a:ext>
            </a:extLst>
          </p:cNvPr>
          <p:cNvSpPr txBox="1"/>
          <p:nvPr/>
        </p:nvSpPr>
        <p:spPr>
          <a:xfrm>
            <a:off x="407875" y="1305474"/>
            <a:ext cx="3908040" cy="2769989"/>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Determinar la capacidad objetivo para los procesos incluidos en cada uno de los objetivos de gobierno y gestión seleccionados.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Determinar </a:t>
            </a:r>
            <a:r>
              <a:rPr lang="es-ES" sz="1600" spc="-10" dirty="0">
                <a:solidFill>
                  <a:srgbClr val="262626"/>
                </a:solidFill>
              </a:rPr>
              <a:t>las brechas entre la posición actual y la deseada en los procesos seleccionados y traducir estas brechas en oportunidades de mejora. </a:t>
            </a:r>
            <a:endParaRPr lang="es-ES" sz="1600" spc="-10" dirty="0" smtClean="0">
              <a:solidFill>
                <a:srgbClr val="262626"/>
              </a:solidFill>
            </a:endParaRPr>
          </a:p>
          <a:p>
            <a:pPr algn="just">
              <a:spcAft>
                <a:spcPts val="1200"/>
              </a:spcAft>
              <a:buSzPct val="100000"/>
              <a:tabLst>
                <a:tab pos="121285" algn="l"/>
              </a:tabLst>
            </a:pPr>
            <a:r>
              <a:rPr lang="es-ES" sz="1600" spc="-10" dirty="0" smtClean="0">
                <a:solidFill>
                  <a:srgbClr val="262626"/>
                </a:solidFill>
              </a:rPr>
              <a:t>Usar </a:t>
            </a:r>
            <a:r>
              <a:rPr lang="es-ES" sz="1600" spc="-10" dirty="0">
                <a:solidFill>
                  <a:srgbClr val="262626"/>
                </a:solidFill>
              </a:rPr>
              <a:t>esta información para crear un caso de negocio detallado y un plan de programa de alto nivel.</a:t>
            </a:r>
          </a:p>
        </p:txBody>
      </p:sp>
    </p:spTree>
    <p:extLst>
      <p:ext uri="{BB962C8B-B14F-4D97-AF65-F5344CB8AC3E}">
        <p14:creationId xmlns:p14="http://schemas.microsoft.com/office/powerpoint/2010/main" val="584385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4: ¿Qué es preciso hacer?</a:t>
            </a:r>
          </a:p>
        </p:txBody>
      </p:sp>
      <p:pic>
        <p:nvPicPr>
          <p:cNvPr id="6" name="Imagen 5">
            <a:extLst>
              <a:ext uri="{FF2B5EF4-FFF2-40B4-BE49-F238E27FC236}">
                <a16:creationId xmlns:a16="http://schemas.microsoft.com/office/drawing/2014/main" id="{0760304C-4180-4ECC-8BC1-325DF980AD7E}"/>
              </a:ext>
            </a:extLst>
          </p:cNvPr>
          <p:cNvPicPr>
            <a:picLocks noChangeAspect="1"/>
          </p:cNvPicPr>
          <p:nvPr/>
        </p:nvPicPr>
        <p:blipFill>
          <a:blip r:embed="rId3"/>
          <a:stretch>
            <a:fillRect/>
          </a:stretch>
        </p:blipFill>
        <p:spPr>
          <a:xfrm>
            <a:off x="4866855" y="1005496"/>
            <a:ext cx="3754061" cy="3704007"/>
          </a:xfrm>
          <a:prstGeom prst="rect">
            <a:avLst/>
          </a:prstGeom>
        </p:spPr>
      </p:pic>
      <p:sp>
        <p:nvSpPr>
          <p:cNvPr id="8" name="object 7">
            <a:extLst>
              <a:ext uri="{FF2B5EF4-FFF2-40B4-BE49-F238E27FC236}">
                <a16:creationId xmlns:a16="http://schemas.microsoft.com/office/drawing/2014/main" id="{23ECC47B-0303-42DC-8C3E-E12D4D6AFF7B}"/>
              </a:ext>
            </a:extLst>
          </p:cNvPr>
          <p:cNvSpPr txBox="1"/>
          <p:nvPr/>
        </p:nvSpPr>
        <p:spPr>
          <a:xfrm>
            <a:off x="407875" y="1305474"/>
            <a:ext cx="3908040" cy="147732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Traducir las oportunidades de mejora en proyectos de contribución justificable. Priorizar y centrarse en proyectos de alto impacto. Integrar los proyectos de mejora en el plan general del programa. Ejecutar las ganancias rápidas.</a:t>
            </a:r>
          </a:p>
        </p:txBody>
      </p:sp>
    </p:spTree>
    <p:extLst>
      <p:ext uri="{BB962C8B-B14F-4D97-AF65-F5344CB8AC3E}">
        <p14:creationId xmlns:p14="http://schemas.microsoft.com/office/powerpoint/2010/main" val="4195916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5: ¿Cómo conseguimos llegar?</a:t>
            </a:r>
          </a:p>
        </p:txBody>
      </p:sp>
      <p:pic>
        <p:nvPicPr>
          <p:cNvPr id="8" name="Imagen 7">
            <a:extLst>
              <a:ext uri="{FF2B5EF4-FFF2-40B4-BE49-F238E27FC236}">
                <a16:creationId xmlns:a16="http://schemas.microsoft.com/office/drawing/2014/main" id="{E8C6142B-4F5F-4077-A9D9-55AFC9D5231D}"/>
              </a:ext>
            </a:extLst>
          </p:cNvPr>
          <p:cNvPicPr>
            <a:picLocks noChangeAspect="1"/>
          </p:cNvPicPr>
          <p:nvPr/>
        </p:nvPicPr>
        <p:blipFill>
          <a:blip r:embed="rId3"/>
          <a:stretch>
            <a:fillRect/>
          </a:stretch>
        </p:blipFill>
        <p:spPr>
          <a:xfrm>
            <a:off x="4700337" y="1011396"/>
            <a:ext cx="3944603" cy="3692207"/>
          </a:xfrm>
          <a:prstGeom prst="rect">
            <a:avLst/>
          </a:prstGeom>
        </p:spPr>
      </p:pic>
      <p:sp>
        <p:nvSpPr>
          <p:cNvPr id="9" name="object 7">
            <a:extLst>
              <a:ext uri="{FF2B5EF4-FFF2-40B4-BE49-F238E27FC236}">
                <a16:creationId xmlns:a16="http://schemas.microsoft.com/office/drawing/2014/main" id="{62115DAA-1A55-427A-BE7E-699DC2740AC9}"/>
              </a:ext>
            </a:extLst>
          </p:cNvPr>
          <p:cNvSpPr txBox="1"/>
          <p:nvPr/>
        </p:nvSpPr>
        <p:spPr>
          <a:xfrm>
            <a:off x="407875" y="1305474"/>
            <a:ext cx="3908040" cy="147732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Implementar los proyectos detallados de mejora, aprovechando el programa de la empresa, y las capacidades, estándares y prácticas de gestión del proyecto. Supervisar, medir e informar sobre el progreso del proyecto.</a:t>
            </a:r>
          </a:p>
        </p:txBody>
      </p:sp>
    </p:spTree>
    <p:extLst>
      <p:ext uri="{BB962C8B-B14F-4D97-AF65-F5344CB8AC3E}">
        <p14:creationId xmlns:p14="http://schemas.microsoft.com/office/powerpoint/2010/main" val="2440227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6: ¿Hemos conseguido llegar?</a:t>
            </a:r>
          </a:p>
        </p:txBody>
      </p:sp>
      <p:pic>
        <p:nvPicPr>
          <p:cNvPr id="8" name="Imagen 7">
            <a:extLst>
              <a:ext uri="{FF2B5EF4-FFF2-40B4-BE49-F238E27FC236}">
                <a16:creationId xmlns:a16="http://schemas.microsoft.com/office/drawing/2014/main" id="{211CCD0B-79E7-487C-A590-4305CCC83560}"/>
              </a:ext>
            </a:extLst>
          </p:cNvPr>
          <p:cNvPicPr>
            <a:picLocks noChangeAspect="1"/>
          </p:cNvPicPr>
          <p:nvPr/>
        </p:nvPicPr>
        <p:blipFill>
          <a:blip r:embed="rId3"/>
          <a:stretch>
            <a:fillRect/>
          </a:stretch>
        </p:blipFill>
        <p:spPr>
          <a:xfrm>
            <a:off x="4828087" y="974740"/>
            <a:ext cx="3823786" cy="3765519"/>
          </a:xfrm>
          <a:prstGeom prst="rect">
            <a:avLst/>
          </a:prstGeom>
        </p:spPr>
      </p:pic>
      <p:sp>
        <p:nvSpPr>
          <p:cNvPr id="9" name="object 7">
            <a:extLst>
              <a:ext uri="{FF2B5EF4-FFF2-40B4-BE49-F238E27FC236}">
                <a16:creationId xmlns:a16="http://schemas.microsoft.com/office/drawing/2014/main" id="{93B457C0-37E3-4F51-BD2A-CFAB07D18CFD}"/>
              </a:ext>
            </a:extLst>
          </p:cNvPr>
          <p:cNvSpPr txBox="1"/>
          <p:nvPr/>
        </p:nvSpPr>
        <p:spPr>
          <a:xfrm>
            <a:off x="407875" y="1305474"/>
            <a:ext cx="3908040" cy="1477328"/>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Integrar las métricas para el desempeño del proyecto y la obtención de beneficios del programa global de mejoras de gobierno en el sistema de medición del desempeño para una supervisión regular y continua.</a:t>
            </a:r>
          </a:p>
        </p:txBody>
      </p:sp>
    </p:spTree>
    <p:extLst>
      <p:ext uri="{BB962C8B-B14F-4D97-AF65-F5344CB8AC3E}">
        <p14:creationId xmlns:p14="http://schemas.microsoft.com/office/powerpoint/2010/main" val="2754957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b="1" dirty="0">
                <a:solidFill>
                  <a:srgbClr val="438AD7"/>
                </a:solidFill>
              </a:rPr>
              <a:t>/ CICLO DE VIDA DE LA IMPLEMENTACIÓN</a:t>
            </a:r>
          </a:p>
        </p:txBody>
      </p:sp>
      <p:sp>
        <p:nvSpPr>
          <p:cNvPr id="7" name="object 7">
            <a:extLst>
              <a:ext uri="{FF2B5EF4-FFF2-40B4-BE49-F238E27FC236}">
                <a16:creationId xmlns:a16="http://schemas.microsoft.com/office/drawing/2014/main" id="{BD430440-01FB-4280-BC96-6D7C2AB464D7}"/>
              </a:ext>
            </a:extLst>
          </p:cNvPr>
          <p:cNvSpPr txBox="1"/>
          <p:nvPr/>
        </p:nvSpPr>
        <p:spPr>
          <a:xfrm>
            <a:off x="407875" y="865199"/>
            <a:ext cx="7829264" cy="246221"/>
          </a:xfrm>
          <a:prstGeom prst="rect">
            <a:avLst/>
          </a:prstGeom>
        </p:spPr>
        <p:txBody>
          <a:bodyPr vert="horz" wrap="square" lIns="0" tIns="0" rIns="0" bIns="0" rtlCol="0">
            <a:spAutoFit/>
          </a:bodyPr>
          <a:lstStyle/>
          <a:p>
            <a:pPr marL="285750" indent="-285750" algn="just">
              <a:spcAft>
                <a:spcPts val="1200"/>
              </a:spcAft>
              <a:buSzPct val="100000"/>
              <a:buFont typeface="Wingdings" panose="05000000000000000000" pitchFamily="2" charset="2"/>
              <a:buChar char="q"/>
              <a:tabLst>
                <a:tab pos="121285" algn="l"/>
              </a:tabLst>
            </a:pPr>
            <a:r>
              <a:rPr lang="es-ES" sz="1600" b="1" spc="-10" dirty="0">
                <a:solidFill>
                  <a:srgbClr val="262626"/>
                </a:solidFill>
              </a:rPr>
              <a:t>FASE 7: ¿Cuáles son los motivadores?</a:t>
            </a:r>
          </a:p>
        </p:txBody>
      </p:sp>
      <p:pic>
        <p:nvPicPr>
          <p:cNvPr id="8" name="Imagen 7">
            <a:extLst>
              <a:ext uri="{FF2B5EF4-FFF2-40B4-BE49-F238E27FC236}">
                <a16:creationId xmlns:a16="http://schemas.microsoft.com/office/drawing/2014/main" id="{184247E4-00F4-4F1E-85F0-D6CF22B0B0AE}"/>
              </a:ext>
            </a:extLst>
          </p:cNvPr>
          <p:cNvPicPr>
            <a:picLocks noChangeAspect="1"/>
          </p:cNvPicPr>
          <p:nvPr/>
        </p:nvPicPr>
        <p:blipFill>
          <a:blip r:embed="rId3"/>
          <a:stretch>
            <a:fillRect/>
          </a:stretch>
        </p:blipFill>
        <p:spPr>
          <a:xfrm>
            <a:off x="4766985" y="932975"/>
            <a:ext cx="3908039" cy="3849050"/>
          </a:xfrm>
          <a:prstGeom prst="rect">
            <a:avLst/>
          </a:prstGeom>
        </p:spPr>
      </p:pic>
      <p:sp>
        <p:nvSpPr>
          <p:cNvPr id="9" name="object 7">
            <a:extLst>
              <a:ext uri="{FF2B5EF4-FFF2-40B4-BE49-F238E27FC236}">
                <a16:creationId xmlns:a16="http://schemas.microsoft.com/office/drawing/2014/main" id="{3D5413E7-141F-44BE-9EDF-D302A3CE6BF6}"/>
              </a:ext>
            </a:extLst>
          </p:cNvPr>
          <p:cNvSpPr txBox="1"/>
          <p:nvPr/>
        </p:nvSpPr>
        <p:spPr>
          <a:xfrm>
            <a:off x="407874" y="1305474"/>
            <a:ext cx="4164125" cy="3600986"/>
          </a:xfrm>
          <a:prstGeom prst="rect">
            <a:avLst/>
          </a:prstGeom>
        </p:spPr>
        <p:txBody>
          <a:bodyPr vert="horz" wrap="square" lIns="0" tIns="0" rIns="0" bIns="0" rtlCol="0">
            <a:spAutoFit/>
          </a:bodyPr>
          <a:lstStyle/>
          <a:p>
            <a:pPr algn="just">
              <a:spcAft>
                <a:spcPts val="1200"/>
              </a:spcAft>
              <a:buSzPct val="100000"/>
              <a:tabLst>
                <a:tab pos="121285" algn="l"/>
              </a:tabLst>
            </a:pPr>
            <a:r>
              <a:rPr lang="es-ES" sz="1600" b="1" spc="-10" dirty="0">
                <a:solidFill>
                  <a:srgbClr val="262626"/>
                </a:solidFill>
              </a:rPr>
              <a:t>Objetivo: </a:t>
            </a:r>
            <a:r>
              <a:rPr lang="es-ES" sz="1600" spc="-10" dirty="0">
                <a:solidFill>
                  <a:srgbClr val="262626"/>
                </a:solidFill>
              </a:rPr>
              <a:t>Evaluar los resultados y experiencia ganados del programa. Registrar y compartir todas las lecciones aprendidas. Mejorar las estructuras organizativas, procesos, roles y responsabilidades para cambiar el comportamiento de la empresa para que el GEIT se convierta en algo habitual y se optimice de forma continua. Garantizar que las nuevas acciones requeridas, impulsen futuras iteraciones del ciclo de vida. </a:t>
            </a:r>
          </a:p>
          <a:p>
            <a:pPr algn="just">
              <a:spcAft>
                <a:spcPts val="1200"/>
              </a:spcAft>
              <a:buSzPct val="100000"/>
              <a:tabLst>
                <a:tab pos="121285" algn="l"/>
              </a:tabLst>
            </a:pPr>
            <a:r>
              <a:rPr lang="es-ES" sz="1600" spc="-10" dirty="0">
                <a:solidFill>
                  <a:srgbClr val="262626"/>
                </a:solidFill>
              </a:rPr>
              <a:t>Supervisar continuamente el desempeño y garantizar que se informe de forma regular de los resultados. Promover el compromiso y la propiedad de todas las responsabilidades y rendiciones de cuentas.</a:t>
            </a:r>
          </a:p>
        </p:txBody>
      </p:sp>
    </p:spTree>
    <p:extLst>
      <p:ext uri="{BB962C8B-B14F-4D97-AF65-F5344CB8AC3E}">
        <p14:creationId xmlns:p14="http://schemas.microsoft.com/office/powerpoint/2010/main" val="224251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624469"/>
            <a:ext cx="6370899" cy="4154984"/>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El método de implementación de COBIT 2019 está basado en empoderar a las partes interesadas de la empresa y de TI, y </a:t>
            </a:r>
            <a:r>
              <a:rPr lang="es-ES" sz="1600" dirty="0" smtClean="0">
                <a:solidFill>
                  <a:srgbClr val="FFFFFF"/>
                </a:solidFill>
                <a:latin typeface="+mj-lt"/>
              </a:rPr>
              <a:t>a los </a:t>
            </a:r>
            <a:r>
              <a:rPr lang="es-ES" sz="1600" dirty="0">
                <a:solidFill>
                  <a:srgbClr val="FFFFFF"/>
                </a:solidFill>
                <a:latin typeface="+mj-lt"/>
              </a:rPr>
              <a:t>distintos actores que se apropien de las decisiones y actividades de gobierno y gestión relacionados con TI facilitando y permitiendo el cambio.</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Comprender el contexto es muy importante, el gobierno empresarial de información y tecnología (GEIT) no nace de la nada. La implementación tiene lugar bajo distintas condiciones y circunstancias determinadas por numerosos factores en el entorno interno y externo. </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El gobierno empresarial de información y tecnología (GEIT) es una parte integral del gobierno corporativo. La necesidad de gobierno a nivel empresarial proviene principalmente de la entrega de valor para las partes interesadas y la exigencia de transparencia y gestión eficaz del riesgo de la empresa. </a:t>
            </a:r>
            <a:r>
              <a:rPr lang="es-ES" sz="1600" dirty="0" smtClean="0">
                <a:solidFill>
                  <a:srgbClr val="FFFFFF"/>
                </a:solidFill>
                <a:latin typeface="+mj-lt"/>
              </a:rPr>
              <a:t>Más </a:t>
            </a:r>
            <a:r>
              <a:rPr lang="es-ES" sz="1600" dirty="0">
                <a:solidFill>
                  <a:srgbClr val="FFFFFF"/>
                </a:solidFill>
                <a:latin typeface="+mj-lt"/>
              </a:rPr>
              <a:t>concretamente, tras la adopción satisfactoria del GEIT cabe esperar tres resultados principales: la obtención de beneficios, la optimización de riesgos y la optimización de los recursos.</a:t>
            </a:r>
          </a:p>
        </p:txBody>
      </p:sp>
    </p:spTree>
    <p:custDataLst>
      <p:tags r:id="rId1"/>
    </p:custDataLst>
    <p:extLst>
      <p:ext uri="{BB962C8B-B14F-4D97-AF65-F5344CB8AC3E}">
        <p14:creationId xmlns:p14="http://schemas.microsoft.com/office/powerpoint/2010/main" val="2051376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6" name="Rectangle 5"/>
          <p:cNvSpPr/>
          <p:nvPr/>
        </p:nvSpPr>
        <p:spPr>
          <a:xfrm>
            <a:off x="511154" y="331345"/>
            <a:ext cx="1945800" cy="200055"/>
          </a:xfrm>
          <a:prstGeom prst="rect">
            <a:avLst/>
          </a:prstGeom>
        </p:spPr>
        <p:txBody>
          <a:bodyPr wrap="square" lIns="0" tIns="0" rIns="0" bIns="0">
            <a:spAutoFit/>
          </a:bodyPr>
          <a:lstStyle/>
          <a:p>
            <a:r>
              <a:rPr lang="en-US" sz="1300" dirty="0">
                <a:solidFill>
                  <a:schemeClr val="bg1"/>
                </a:solidFill>
              </a:rPr>
              <a:t>/ CONCLUSIONES</a:t>
            </a:r>
          </a:p>
        </p:txBody>
      </p:sp>
      <p:sp>
        <p:nvSpPr>
          <p:cNvPr id="8" name="Rectángulo 10">
            <a:extLst>
              <a:ext uri="{FF2B5EF4-FFF2-40B4-BE49-F238E27FC236}">
                <a16:creationId xmlns:a16="http://schemas.microsoft.com/office/drawing/2014/main" id="{2CE728F1-CA35-4741-A316-6A8802F5D948}"/>
              </a:ext>
            </a:extLst>
          </p:cNvPr>
          <p:cNvSpPr/>
          <p:nvPr/>
        </p:nvSpPr>
        <p:spPr>
          <a:xfrm>
            <a:off x="2304789" y="621309"/>
            <a:ext cx="6370899" cy="4632037"/>
          </a:xfrm>
          <a:prstGeom prst="rect">
            <a:avLst/>
          </a:prstGeom>
        </p:spPr>
        <p:txBody>
          <a:bodyPr wrap="square" lIns="0" tIns="0" rIns="0" bIns="0">
            <a:spAutoFit/>
          </a:bodyPr>
          <a:lstStyle/>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Aprovechar el marco de COBIT 2019 es de gran ayuda porque  establece la estrategia general; </a:t>
            </a:r>
            <a:r>
              <a:rPr lang="es-ES" sz="1600" dirty="0" smtClean="0">
                <a:solidFill>
                  <a:srgbClr val="FFFFFF"/>
                </a:solidFill>
                <a:latin typeface="+mj-lt"/>
              </a:rPr>
              <a:t>entonces las </a:t>
            </a:r>
            <a:r>
              <a:rPr lang="es-ES" sz="1600" dirty="0">
                <a:solidFill>
                  <a:srgbClr val="FFFFFF"/>
                </a:solidFill>
                <a:latin typeface="+mj-lt"/>
              </a:rPr>
              <a:t>directrices proporcionadas por estándares específicos y buenas prácticas </a:t>
            </a:r>
            <a:r>
              <a:rPr lang="es-ES" sz="1600" dirty="0" smtClean="0">
                <a:solidFill>
                  <a:srgbClr val="FFFFFF"/>
                </a:solidFill>
                <a:latin typeface="+mj-lt"/>
              </a:rPr>
              <a:t>pueden aplicarse </a:t>
            </a:r>
            <a:r>
              <a:rPr lang="es-ES" sz="1600" dirty="0">
                <a:solidFill>
                  <a:srgbClr val="FFFFFF"/>
                </a:solidFill>
                <a:latin typeface="+mj-lt"/>
              </a:rPr>
              <a:t>a procesos, prácticas, políticas y procedimientos específicos, a medida que la empresa personaliza su implementación. </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Es importante que exista el contexto adecuado a la hora de implementar las mejoras del GEIT; hay más oportunidades de tener éxito si se gobiernan y gestionan bien. Las iniciativas de I&amp;T más importantes suelen fracasar debido a una gestión, apoyo y supervisión inadecuada de la dirección.</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La estrategia del ciclo de vida de mejora continua permite a las empresas abordar la complejidad y los problemas que se suelen encontrar durante la implementación del GEIT.</a:t>
            </a:r>
          </a:p>
          <a:p>
            <a:pPr marL="180975" indent="-180975">
              <a:spcAft>
                <a:spcPts val="1800"/>
              </a:spcAft>
              <a:buSzPct val="100000"/>
              <a:buFont typeface="Arial" panose="020B0604020202020204" pitchFamily="34" charset="0"/>
              <a:buChar char="•"/>
              <a:tabLst>
                <a:tab pos="121285" algn="l"/>
              </a:tabLst>
            </a:pPr>
            <a:r>
              <a:rPr lang="es-ES" sz="1600" dirty="0">
                <a:solidFill>
                  <a:srgbClr val="FFFFFF"/>
                </a:solidFill>
                <a:latin typeface="+mj-lt"/>
              </a:rPr>
              <a:t>COBIT 2019 define la habilitación del cambio como un proceso holístico y sistemático para garantizar que las partes interesadas relevantes estén preparadas y comprometidas para involucrarse en los cambios que se requieren para pasar del estado actual al estado futuro deseado. </a:t>
            </a:r>
          </a:p>
        </p:txBody>
      </p:sp>
    </p:spTree>
    <p:custDataLst>
      <p:tags r:id="rId1"/>
    </p:custDataLst>
    <p:extLst>
      <p:ext uri="{BB962C8B-B14F-4D97-AF65-F5344CB8AC3E}">
        <p14:creationId xmlns:p14="http://schemas.microsoft.com/office/powerpoint/2010/main" val="9701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515764" y="965680"/>
            <a:ext cx="7979082" cy="1449454"/>
          </a:xfrm>
          <a:prstGeom prst="rect">
            <a:avLst/>
          </a:prstGeom>
        </p:spPr>
        <p:txBody>
          <a:bodyPr lIns="0" tIns="0" rIns="0" bIns="0"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Introducción y Metodología”. </a:t>
            </a:r>
            <a:r>
              <a:rPr lang="en-US" sz="1400" dirty="0">
                <a:solidFill>
                  <a:srgbClr val="0000FF"/>
                </a:solidFill>
                <a:effectLst/>
                <a:latin typeface="Calibri" panose="020F0502020204030204" pitchFamily="34" charset="0"/>
                <a:ea typeface="Times New Roman" panose="02020603050405020304" pitchFamily="18" charset="0"/>
              </a:rPr>
              <a:t>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Objetivos de Gobierno y de Gestión”.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Diseño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a:p>
            <a:pPr lvl="0" algn="l">
              <a:buFont typeface="Arial" panose="020B0604020202020204" pitchFamily="34" charset="0"/>
              <a:buChar char="•"/>
            </a:pPr>
            <a:r>
              <a:rPr lang="es-PE" sz="1400" dirty="0">
                <a:solidFill>
                  <a:srgbClr val="0000FF"/>
                </a:solidFill>
                <a:effectLst/>
                <a:latin typeface="Calibri" panose="020F0502020204030204" pitchFamily="34" charset="0"/>
                <a:ea typeface="Times New Roman" panose="02020603050405020304" pitchFamily="18" charset="0"/>
              </a:rPr>
              <a:t>ISACA. (2018). “COBIT 2019: Implementación y optimización de una solución de gobierno de información y tecnología”. 1ra. </a:t>
            </a:r>
            <a:r>
              <a:rPr lang="es-ES" sz="1400" dirty="0">
                <a:solidFill>
                  <a:srgbClr val="0000FF"/>
                </a:solidFill>
                <a:effectLst/>
                <a:latin typeface="Calibri" panose="020F0502020204030204" pitchFamily="34" charset="0"/>
                <a:ea typeface="Times New Roman" panose="02020603050405020304" pitchFamily="18" charset="0"/>
              </a:rPr>
              <a:t>Edición. ISACA® </a:t>
            </a:r>
            <a:endParaRPr lang="es-PE" sz="1400" dirty="0">
              <a:solidFill>
                <a:srgbClr val="0000FF"/>
              </a:solidFill>
              <a:effectLst/>
              <a:latin typeface="Times New Roman" panose="02020603050405020304" pitchFamily="18" charset="0"/>
              <a:ea typeface="Times New Roman" panose="02020603050405020304" pitchFamily="18" charset="0"/>
            </a:endParaRPr>
          </a:p>
        </p:txBody>
      </p:sp>
      <p:sp>
        <p:nvSpPr>
          <p:cNvPr id="4" name="Rectangle 5"/>
          <p:cNvSpPr/>
          <p:nvPr/>
        </p:nvSpPr>
        <p:spPr>
          <a:xfrm>
            <a:off x="511154" y="331345"/>
            <a:ext cx="1945800" cy="200055"/>
          </a:xfrm>
          <a:prstGeom prst="rect">
            <a:avLst/>
          </a:prstGeom>
        </p:spPr>
        <p:txBody>
          <a:bodyPr wrap="square" lIns="0" tIns="0" rIns="0" bIns="0">
            <a:spAutoFit/>
          </a:bodyPr>
          <a:lstStyle/>
          <a:p>
            <a:r>
              <a:rPr lang="en-US" sz="1300" dirty="0">
                <a:solidFill>
                  <a:srgbClr val="438AD7"/>
                </a:solidFill>
              </a:rPr>
              <a:t>/ BIBLIOGRAFÍA</a:t>
            </a:r>
          </a:p>
        </p:txBody>
      </p:sp>
    </p:spTree>
    <p:custDataLst>
      <p:tags r:id="rId1"/>
    </p:custDataLst>
    <p:extLst>
      <p:ext uri="{BB962C8B-B14F-4D97-AF65-F5344CB8AC3E}">
        <p14:creationId xmlns:p14="http://schemas.microsoft.com/office/powerpoint/2010/main" val="121629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10111</TotalTime>
  <Words>4346</Words>
  <Application>Microsoft Office PowerPoint</Application>
  <PresentationFormat>Presentación en pantalla (16:10)</PresentationFormat>
  <Paragraphs>275</Paragraphs>
  <Slides>49</Slides>
  <Notes>40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49</vt:i4>
      </vt:variant>
    </vt:vector>
  </HeadingPairs>
  <TitlesOfParts>
    <vt:vector size="57" baseType="lpstr">
      <vt:lpstr>Arial</vt:lpstr>
      <vt:lpstr>Calibri</vt:lpstr>
      <vt:lpstr>LCNKO K+ Roboto</vt:lpstr>
      <vt:lpstr>Source Sans Pro</vt:lpstr>
      <vt:lpstr>Times New Roman</vt:lpstr>
      <vt:lpstr>Verdana</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650</cp:revision>
  <cp:lastPrinted>2018-01-16T21:42:59Z</cp:lastPrinted>
  <dcterms:created xsi:type="dcterms:W3CDTF">2016-10-06T14:52:02Z</dcterms:created>
  <dcterms:modified xsi:type="dcterms:W3CDTF">2022-05-16T20:40:19Z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