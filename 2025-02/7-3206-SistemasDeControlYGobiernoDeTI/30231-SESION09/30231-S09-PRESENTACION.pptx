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7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8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9.xml" ContentType="application/vnd.openxmlformats-officedocument.presentationml.tags+xml"/>
  <Override PartName="/ppt/notesSlides/notesSlide32.xml" ContentType="application/vnd.openxmlformats-officedocument.presentationml.notesSlide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326" r:id="rId2"/>
    <p:sldId id="465" r:id="rId3"/>
    <p:sldId id="466" r:id="rId4"/>
    <p:sldId id="755" r:id="rId5"/>
    <p:sldId id="726" r:id="rId6"/>
    <p:sldId id="736" r:id="rId7"/>
    <p:sldId id="734" r:id="rId8"/>
    <p:sldId id="754" r:id="rId9"/>
    <p:sldId id="727" r:id="rId10"/>
    <p:sldId id="731" r:id="rId11"/>
    <p:sldId id="737" r:id="rId12"/>
    <p:sldId id="738" r:id="rId13"/>
    <p:sldId id="745" r:id="rId14"/>
    <p:sldId id="746" r:id="rId15"/>
    <p:sldId id="747" r:id="rId16"/>
    <p:sldId id="748" r:id="rId17"/>
    <p:sldId id="749" r:id="rId18"/>
    <p:sldId id="750" r:id="rId19"/>
    <p:sldId id="751" r:id="rId20"/>
    <p:sldId id="752" r:id="rId21"/>
    <p:sldId id="753" r:id="rId22"/>
    <p:sldId id="728" r:id="rId23"/>
    <p:sldId id="732" r:id="rId24"/>
    <p:sldId id="739" r:id="rId25"/>
    <p:sldId id="740" r:id="rId26"/>
    <p:sldId id="741" r:id="rId27"/>
    <p:sldId id="742" r:id="rId28"/>
    <p:sldId id="743" r:id="rId29"/>
    <p:sldId id="744" r:id="rId30"/>
    <p:sldId id="729" r:id="rId31"/>
    <p:sldId id="733" r:id="rId32"/>
    <p:sldId id="725" r:id="rId33"/>
    <p:sldId id="606" r:id="rId34"/>
  </p:sldIdLst>
  <p:sldSz cx="9144000" cy="5715000" type="screen16x10"/>
  <p:notesSz cx="6797675" cy="9926638"/>
  <p:custDataLst>
    <p:tags r:id="rId3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465" userDrawn="1">
          <p15:clr>
            <a:srgbClr val="A4A3A4"/>
          </p15:clr>
        </p15:guide>
        <p15:guide id="3" orient="horz" pos="3320" userDrawn="1">
          <p15:clr>
            <a:srgbClr val="A4A3A4"/>
          </p15:clr>
        </p15:guide>
        <p15:guide id="11" pos="317" userDrawn="1">
          <p15:clr>
            <a:srgbClr val="A4A3A4"/>
          </p15:clr>
        </p15:guide>
        <p15:guide id="12" orient="horz" pos="553" userDrawn="1">
          <p15:clr>
            <a:srgbClr val="A4A3A4"/>
          </p15:clr>
        </p15:guide>
        <p15:guide id="13" orient="horz" pos="3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76B7D"/>
    <a:srgbClr val="48C2BB"/>
    <a:srgbClr val="1F85A6"/>
    <a:srgbClr val="F1FDC3"/>
    <a:srgbClr val="9CC606"/>
    <a:srgbClr val="E2F6F1"/>
    <a:srgbClr val="F2F2F2"/>
    <a:srgbClr val="558ED5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93" autoAdjust="0"/>
    <p:restoredTop sz="84889" autoAdjust="0"/>
  </p:normalViewPr>
  <p:slideViewPr>
    <p:cSldViewPr snapToGrid="0" snapToObjects="1" showGuides="1">
      <p:cViewPr varScale="1">
        <p:scale>
          <a:sx n="89" d="100"/>
          <a:sy n="89" d="100"/>
        </p:scale>
        <p:origin x="1555" y="67"/>
      </p:cViewPr>
      <p:guideLst>
        <p:guide pos="5465"/>
        <p:guide orient="horz" pos="3320"/>
        <p:guide pos="317"/>
        <p:guide orient="horz" pos="553"/>
        <p:guide orient="horz" pos="34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DF8185-C706-4766-9957-A53B50B835DA}" type="doc">
      <dgm:prSet loTypeId="urn:microsoft.com/office/officeart/2008/layout/PictureStrip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37AB260B-69F5-42E8-8215-CC8FC36D3AC3}">
      <dgm:prSet phldrT="[Texto]"/>
      <dgm:spPr/>
      <dgm:t>
        <a:bodyPr/>
        <a:lstStyle/>
        <a:p>
          <a:r>
            <a:rPr lang="es-ES" spc="-10" dirty="0" smtClean="0">
              <a:solidFill>
                <a:srgbClr val="262626"/>
              </a:solidFill>
            </a:rPr>
            <a:t>Un objetivo de gobierno o gestión siempre está relacionado con un proceso (con un nombre idéntico o similar) y una serie de componentes relacionados de otros tipos para contribuir a lograr el objetivo. </a:t>
          </a:r>
          <a:endParaRPr lang="es-ES" dirty="0"/>
        </a:p>
      </dgm:t>
    </dgm:pt>
    <dgm:pt modelId="{0EC4F90A-B039-4275-80B0-802760740899}" type="parTrans" cxnId="{D817D984-9772-4A4B-BFAE-A1DF9257E9CA}">
      <dgm:prSet/>
      <dgm:spPr/>
      <dgm:t>
        <a:bodyPr/>
        <a:lstStyle/>
        <a:p>
          <a:endParaRPr lang="es-ES"/>
        </a:p>
      </dgm:t>
    </dgm:pt>
    <dgm:pt modelId="{AE11D76C-6A36-4CF9-9FE9-604F7636781D}" type="sibTrans" cxnId="{D817D984-9772-4A4B-BFAE-A1DF9257E9CA}">
      <dgm:prSet/>
      <dgm:spPr/>
      <dgm:t>
        <a:bodyPr/>
        <a:lstStyle/>
        <a:p>
          <a:endParaRPr lang="es-ES"/>
        </a:p>
      </dgm:t>
    </dgm:pt>
    <dgm:pt modelId="{A6E1B7C9-939B-4995-B3C0-B4F6A11232F4}">
      <dgm:prSet phldrT="[Texto]"/>
      <dgm:spPr/>
      <dgm:t>
        <a:bodyPr/>
        <a:lstStyle/>
        <a:p>
          <a:r>
            <a:rPr lang="es-ES" spc="-10" dirty="0" smtClean="0">
              <a:solidFill>
                <a:srgbClr val="262626"/>
              </a:solidFill>
            </a:rPr>
            <a:t>Un objetivo de gobierno está relacionado con un proceso de gobierno, mientras que un objetivo de gestión está relacionado con un proceso de gestión. </a:t>
          </a:r>
          <a:endParaRPr lang="es-ES" dirty="0"/>
        </a:p>
      </dgm:t>
    </dgm:pt>
    <dgm:pt modelId="{0D0B2B7D-C73E-4D89-A2C9-107700AAC51C}" type="parTrans" cxnId="{8BD3FC7F-431B-483F-9BFD-5EB6BBDFA70E}">
      <dgm:prSet/>
      <dgm:spPr/>
      <dgm:t>
        <a:bodyPr/>
        <a:lstStyle/>
        <a:p>
          <a:endParaRPr lang="es-ES"/>
        </a:p>
      </dgm:t>
    </dgm:pt>
    <dgm:pt modelId="{EB06713F-638F-48C3-B932-70B84F32892F}" type="sibTrans" cxnId="{8BD3FC7F-431B-483F-9BFD-5EB6BBDFA70E}">
      <dgm:prSet/>
      <dgm:spPr/>
      <dgm:t>
        <a:bodyPr/>
        <a:lstStyle/>
        <a:p>
          <a:endParaRPr lang="es-ES"/>
        </a:p>
      </dgm:t>
    </dgm:pt>
    <dgm:pt modelId="{377FC7DD-5E04-49C1-AC15-6E938B45AB9A}">
      <dgm:prSet phldrT="[Texto]"/>
      <dgm:spPr/>
      <dgm:t>
        <a:bodyPr/>
        <a:lstStyle/>
        <a:p>
          <a:r>
            <a:rPr lang="es-ES" spc="-10" dirty="0" smtClean="0">
              <a:solidFill>
                <a:srgbClr val="262626"/>
              </a:solidFill>
            </a:rPr>
            <a:t>La dirección ejecutiva suele ser responsable de los procesos de gobierno, mientras que los procesos de gestión pertenecen a la alta y media gerencia. </a:t>
          </a:r>
          <a:endParaRPr lang="es-ES" dirty="0"/>
        </a:p>
      </dgm:t>
    </dgm:pt>
    <dgm:pt modelId="{3D194754-5969-4068-8ACB-059A8E04A60B}" type="parTrans" cxnId="{BA5F7F0B-9191-482D-8BBF-5C15DD623B12}">
      <dgm:prSet/>
      <dgm:spPr/>
      <dgm:t>
        <a:bodyPr/>
        <a:lstStyle/>
        <a:p>
          <a:endParaRPr lang="es-ES"/>
        </a:p>
      </dgm:t>
    </dgm:pt>
    <dgm:pt modelId="{D74AAAE9-0797-44D6-BB1F-89BFEDA0C9BC}" type="sibTrans" cxnId="{BA5F7F0B-9191-482D-8BBF-5C15DD623B12}">
      <dgm:prSet/>
      <dgm:spPr/>
      <dgm:t>
        <a:bodyPr/>
        <a:lstStyle/>
        <a:p>
          <a:endParaRPr lang="es-ES"/>
        </a:p>
      </dgm:t>
    </dgm:pt>
    <dgm:pt modelId="{7D72A19B-B31B-4F4E-91AB-3352BAF4FE08}" type="pres">
      <dgm:prSet presAssocID="{C8DF8185-C706-4766-9957-A53B50B835D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22B015-35C9-486C-8105-591254DA63A8}" type="pres">
      <dgm:prSet presAssocID="{37AB260B-69F5-42E8-8215-CC8FC36D3AC3}" presName="composite" presStyleCnt="0"/>
      <dgm:spPr/>
    </dgm:pt>
    <dgm:pt modelId="{95B5D1DE-3FDC-4278-9954-26F749B1046B}" type="pres">
      <dgm:prSet presAssocID="{37AB260B-69F5-42E8-8215-CC8FC36D3AC3}" presName="rect1" presStyleLbl="tr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0DE7DFD-1668-47F9-AC77-63A5C7B69984}" type="pres">
      <dgm:prSet presAssocID="{37AB260B-69F5-42E8-8215-CC8FC36D3AC3}" presName="rect2" presStyleLbl="fgImgPlace1" presStyleIdx="0" presStyleCnt="3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D236B784-ECC5-4820-859E-A67F63C80B3D}" type="pres">
      <dgm:prSet presAssocID="{AE11D76C-6A36-4CF9-9FE9-604F7636781D}" presName="sibTrans" presStyleCnt="0"/>
      <dgm:spPr/>
    </dgm:pt>
    <dgm:pt modelId="{18CFCFBC-4178-4EB5-829D-C5CC4E2F11E6}" type="pres">
      <dgm:prSet presAssocID="{A6E1B7C9-939B-4995-B3C0-B4F6A11232F4}" presName="composite" presStyleCnt="0"/>
      <dgm:spPr/>
    </dgm:pt>
    <dgm:pt modelId="{1117F16B-D602-48A0-94DD-52DA7EE79BDC}" type="pres">
      <dgm:prSet presAssocID="{A6E1B7C9-939B-4995-B3C0-B4F6A11232F4}" presName="rect1" presStyleLbl="tr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A6A0282-E8D6-4EDE-BEA0-FD48A9F74169}" type="pres">
      <dgm:prSet presAssocID="{A6E1B7C9-939B-4995-B3C0-B4F6A11232F4}" presName="rect2" presStyleLbl="fgImgPlace1" presStyleIdx="1" presStyleCnt="3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0F74D93E-8C07-4481-959A-1A7AF4F6724C}" type="pres">
      <dgm:prSet presAssocID="{EB06713F-638F-48C3-B932-70B84F32892F}" presName="sibTrans" presStyleCnt="0"/>
      <dgm:spPr/>
    </dgm:pt>
    <dgm:pt modelId="{FD62DF31-E802-4932-AA90-BDE9C64C86D6}" type="pres">
      <dgm:prSet presAssocID="{377FC7DD-5E04-49C1-AC15-6E938B45AB9A}" presName="composite" presStyleCnt="0"/>
      <dgm:spPr/>
    </dgm:pt>
    <dgm:pt modelId="{359C152A-7F89-4A19-B38E-FB663228F054}" type="pres">
      <dgm:prSet presAssocID="{377FC7DD-5E04-49C1-AC15-6E938B45AB9A}" presName="rect1" presStyleLbl="tr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08398636-E788-452C-BABA-6BC9CC9B0C1F}" type="pres">
      <dgm:prSet presAssocID="{377FC7DD-5E04-49C1-AC15-6E938B45AB9A}" presName="rect2" presStyleLbl="fgImgPlace1" presStyleIdx="2" presStyleCnt="3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</dgm:ptLst>
  <dgm:cxnLst>
    <dgm:cxn modelId="{8BD3FC7F-431B-483F-9BFD-5EB6BBDFA70E}" srcId="{C8DF8185-C706-4766-9957-A53B50B835DA}" destId="{A6E1B7C9-939B-4995-B3C0-B4F6A11232F4}" srcOrd="1" destOrd="0" parTransId="{0D0B2B7D-C73E-4D89-A2C9-107700AAC51C}" sibTransId="{EB06713F-638F-48C3-B932-70B84F32892F}"/>
    <dgm:cxn modelId="{AF3761E0-27A7-47DF-84F8-C13149F024E4}" type="presOf" srcId="{37AB260B-69F5-42E8-8215-CC8FC36D3AC3}" destId="{95B5D1DE-3FDC-4278-9954-26F749B1046B}" srcOrd="0" destOrd="0" presId="urn:microsoft.com/office/officeart/2008/layout/PictureStrips"/>
    <dgm:cxn modelId="{BC134E5E-1985-4C57-A743-329E1B6C1F82}" type="presOf" srcId="{C8DF8185-C706-4766-9957-A53B50B835DA}" destId="{7D72A19B-B31B-4F4E-91AB-3352BAF4FE08}" srcOrd="0" destOrd="0" presId="urn:microsoft.com/office/officeart/2008/layout/PictureStrips"/>
    <dgm:cxn modelId="{12E68E2A-5C1D-4A61-A7DC-725A117BE454}" type="presOf" srcId="{377FC7DD-5E04-49C1-AC15-6E938B45AB9A}" destId="{359C152A-7F89-4A19-B38E-FB663228F054}" srcOrd="0" destOrd="0" presId="urn:microsoft.com/office/officeart/2008/layout/PictureStrips"/>
    <dgm:cxn modelId="{BA5F7F0B-9191-482D-8BBF-5C15DD623B12}" srcId="{C8DF8185-C706-4766-9957-A53B50B835DA}" destId="{377FC7DD-5E04-49C1-AC15-6E938B45AB9A}" srcOrd="2" destOrd="0" parTransId="{3D194754-5969-4068-8ACB-059A8E04A60B}" sibTransId="{D74AAAE9-0797-44D6-BB1F-89BFEDA0C9BC}"/>
    <dgm:cxn modelId="{277949E1-F4E9-447C-AC67-4C031079E9C2}" type="presOf" srcId="{A6E1B7C9-939B-4995-B3C0-B4F6A11232F4}" destId="{1117F16B-D602-48A0-94DD-52DA7EE79BDC}" srcOrd="0" destOrd="0" presId="urn:microsoft.com/office/officeart/2008/layout/PictureStrips"/>
    <dgm:cxn modelId="{D817D984-9772-4A4B-BFAE-A1DF9257E9CA}" srcId="{C8DF8185-C706-4766-9957-A53B50B835DA}" destId="{37AB260B-69F5-42E8-8215-CC8FC36D3AC3}" srcOrd="0" destOrd="0" parTransId="{0EC4F90A-B039-4275-80B0-802760740899}" sibTransId="{AE11D76C-6A36-4CF9-9FE9-604F7636781D}"/>
    <dgm:cxn modelId="{770E0606-8F13-4402-B4C0-2E4F7816956E}" type="presParOf" srcId="{7D72A19B-B31B-4F4E-91AB-3352BAF4FE08}" destId="{C822B015-35C9-486C-8105-591254DA63A8}" srcOrd="0" destOrd="0" presId="urn:microsoft.com/office/officeart/2008/layout/PictureStrips"/>
    <dgm:cxn modelId="{FB839270-8CF4-424B-B212-D731069984A3}" type="presParOf" srcId="{C822B015-35C9-486C-8105-591254DA63A8}" destId="{95B5D1DE-3FDC-4278-9954-26F749B1046B}" srcOrd="0" destOrd="0" presId="urn:microsoft.com/office/officeart/2008/layout/PictureStrips"/>
    <dgm:cxn modelId="{6ECBFFF3-40EF-4C32-82C6-E388D5765566}" type="presParOf" srcId="{C822B015-35C9-486C-8105-591254DA63A8}" destId="{30DE7DFD-1668-47F9-AC77-63A5C7B69984}" srcOrd="1" destOrd="0" presId="urn:microsoft.com/office/officeart/2008/layout/PictureStrips"/>
    <dgm:cxn modelId="{0E5A60B3-5D9E-429F-A273-16F07561290A}" type="presParOf" srcId="{7D72A19B-B31B-4F4E-91AB-3352BAF4FE08}" destId="{D236B784-ECC5-4820-859E-A67F63C80B3D}" srcOrd="1" destOrd="0" presId="urn:microsoft.com/office/officeart/2008/layout/PictureStrips"/>
    <dgm:cxn modelId="{BD18347B-62D6-46F8-8010-288C9E346FD3}" type="presParOf" srcId="{7D72A19B-B31B-4F4E-91AB-3352BAF4FE08}" destId="{18CFCFBC-4178-4EB5-829D-C5CC4E2F11E6}" srcOrd="2" destOrd="0" presId="urn:microsoft.com/office/officeart/2008/layout/PictureStrips"/>
    <dgm:cxn modelId="{46D976C8-AEE7-4B54-8EB3-A0674204CAF5}" type="presParOf" srcId="{18CFCFBC-4178-4EB5-829D-C5CC4E2F11E6}" destId="{1117F16B-D602-48A0-94DD-52DA7EE79BDC}" srcOrd="0" destOrd="0" presId="urn:microsoft.com/office/officeart/2008/layout/PictureStrips"/>
    <dgm:cxn modelId="{C5152F7C-3CDF-4B7F-B066-0EBAEA0E2884}" type="presParOf" srcId="{18CFCFBC-4178-4EB5-829D-C5CC4E2F11E6}" destId="{DA6A0282-E8D6-4EDE-BEA0-FD48A9F74169}" srcOrd="1" destOrd="0" presId="urn:microsoft.com/office/officeart/2008/layout/PictureStrips"/>
    <dgm:cxn modelId="{7CB16316-C1EC-48BF-9FEF-6961B2B3027D}" type="presParOf" srcId="{7D72A19B-B31B-4F4E-91AB-3352BAF4FE08}" destId="{0F74D93E-8C07-4481-959A-1A7AF4F6724C}" srcOrd="3" destOrd="0" presId="urn:microsoft.com/office/officeart/2008/layout/PictureStrips"/>
    <dgm:cxn modelId="{4AC2A6BB-6F08-432A-842F-3BADB074EE4E}" type="presParOf" srcId="{7D72A19B-B31B-4F4E-91AB-3352BAF4FE08}" destId="{FD62DF31-E802-4932-AA90-BDE9C64C86D6}" srcOrd="4" destOrd="0" presId="urn:microsoft.com/office/officeart/2008/layout/PictureStrips"/>
    <dgm:cxn modelId="{08F181A8-33F8-41FE-AED9-5611A814820A}" type="presParOf" srcId="{FD62DF31-E802-4932-AA90-BDE9C64C86D6}" destId="{359C152A-7F89-4A19-B38E-FB663228F054}" srcOrd="0" destOrd="0" presId="urn:microsoft.com/office/officeart/2008/layout/PictureStrips"/>
    <dgm:cxn modelId="{A2AD049E-645B-4F30-9F44-C534AF30B571}" type="presParOf" srcId="{FD62DF31-E802-4932-AA90-BDE9C64C86D6}" destId="{08398636-E788-452C-BABA-6BC9CC9B0C1F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B5D1DE-3FDC-4278-9954-26F749B1046B}">
      <dsp:nvSpPr>
        <dsp:cNvPr id="0" name=""/>
        <dsp:cNvSpPr/>
      </dsp:nvSpPr>
      <dsp:spPr>
        <a:xfrm>
          <a:off x="150774" y="618612"/>
          <a:ext cx="3581310" cy="1119159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8044" tIns="45720" rIns="45720" bIns="4572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200" kern="1200" spc="-10" dirty="0" smtClean="0">
              <a:solidFill>
                <a:srgbClr val="262626"/>
              </a:solidFill>
            </a:rPr>
            <a:t>Un objetivo de gobierno o gestión siempre está relacionado con un proceso (con un nombre idéntico o similar) y una serie de componentes relacionados de otros tipos para contribuir a lograr el objetivo. </a:t>
          </a:r>
          <a:endParaRPr lang="es-ES" sz="1200" kern="1200" dirty="0"/>
        </a:p>
      </dsp:txBody>
      <dsp:txXfrm>
        <a:off x="150774" y="618612"/>
        <a:ext cx="3581310" cy="1119159"/>
      </dsp:txXfrm>
    </dsp:sp>
    <dsp:sp modelId="{30DE7DFD-1668-47F9-AC77-63A5C7B69984}">
      <dsp:nvSpPr>
        <dsp:cNvPr id="0" name=""/>
        <dsp:cNvSpPr/>
      </dsp:nvSpPr>
      <dsp:spPr>
        <a:xfrm>
          <a:off x="1553" y="456956"/>
          <a:ext cx="783411" cy="1175117"/>
        </a:xfrm>
        <a:prstGeom prst="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17F16B-D602-48A0-94DD-52DA7EE79BDC}">
      <dsp:nvSpPr>
        <dsp:cNvPr id="0" name=""/>
        <dsp:cNvSpPr/>
      </dsp:nvSpPr>
      <dsp:spPr>
        <a:xfrm>
          <a:off x="4057264" y="618612"/>
          <a:ext cx="3581310" cy="1119159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8044" tIns="45720" rIns="45720" bIns="4572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200" kern="1200" spc="-10" dirty="0" smtClean="0">
              <a:solidFill>
                <a:srgbClr val="262626"/>
              </a:solidFill>
            </a:rPr>
            <a:t>Un objetivo de gobierno está relacionado con un proceso de gobierno, mientras que un objetivo de gestión está relacionado con un proceso de gestión. </a:t>
          </a:r>
          <a:endParaRPr lang="es-ES" sz="1200" kern="1200" dirty="0"/>
        </a:p>
      </dsp:txBody>
      <dsp:txXfrm>
        <a:off x="4057264" y="618612"/>
        <a:ext cx="3581310" cy="1119159"/>
      </dsp:txXfrm>
    </dsp:sp>
    <dsp:sp modelId="{DA6A0282-E8D6-4EDE-BEA0-FD48A9F74169}">
      <dsp:nvSpPr>
        <dsp:cNvPr id="0" name=""/>
        <dsp:cNvSpPr/>
      </dsp:nvSpPr>
      <dsp:spPr>
        <a:xfrm>
          <a:off x="3908043" y="456956"/>
          <a:ext cx="783411" cy="1175117"/>
        </a:xfrm>
        <a:prstGeom prst="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9C152A-7F89-4A19-B38E-FB663228F054}">
      <dsp:nvSpPr>
        <dsp:cNvPr id="0" name=""/>
        <dsp:cNvSpPr/>
      </dsp:nvSpPr>
      <dsp:spPr>
        <a:xfrm>
          <a:off x="2104019" y="2027510"/>
          <a:ext cx="3581310" cy="1119159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8044" tIns="45720" rIns="45720" bIns="4572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200" kern="1200" spc="-10" dirty="0" smtClean="0">
              <a:solidFill>
                <a:srgbClr val="262626"/>
              </a:solidFill>
            </a:rPr>
            <a:t>La dirección ejecutiva suele ser responsable de los procesos de gobierno, mientras que los procesos de gestión pertenecen a la alta y media gerencia. </a:t>
          </a:r>
          <a:endParaRPr lang="es-ES" sz="1200" kern="1200" dirty="0"/>
        </a:p>
      </dsp:txBody>
      <dsp:txXfrm>
        <a:off x="2104019" y="2027510"/>
        <a:ext cx="3581310" cy="1119159"/>
      </dsp:txXfrm>
    </dsp:sp>
    <dsp:sp modelId="{08398636-E788-452C-BABA-6BC9CC9B0C1F}">
      <dsp:nvSpPr>
        <dsp:cNvPr id="0" name=""/>
        <dsp:cNvSpPr/>
      </dsp:nvSpPr>
      <dsp:spPr>
        <a:xfrm>
          <a:off x="1954798" y="1865853"/>
          <a:ext cx="783411" cy="1175117"/>
        </a:xfrm>
        <a:prstGeom prst="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11/05/2022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11/05/2022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8461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14306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32804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0802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26274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16723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="0" i="0" dirty="0">
                <a:solidFill>
                  <a:srgbClr val="616161"/>
                </a:solidFill>
                <a:effectLst/>
                <a:latin typeface="Verdana" panose="020B0604030504040204" pitchFamily="34" charset="0"/>
              </a:rPr>
              <a:t>El marco de COBIT 2019 propone el modelo base core de COBIT 2019  que está conformado por 40 objetivos de gobierno y gestión, de los cuales 5 son de gobierno y el resto (35) son de gestión.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37427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814570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55418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54065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197592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77731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559321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83452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021437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062651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358170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048946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951158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877473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09927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25676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528868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305181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334078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999648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612231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130735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97825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62946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spcAft>
                <a:spcPts val="600"/>
              </a:spcAft>
              <a:buSzPct val="100000"/>
              <a:tabLst>
                <a:tab pos="121285" algn="l"/>
              </a:tabLst>
            </a:pPr>
            <a:r>
              <a:rPr lang="es-ES" sz="1200" u="sng" spc="-10" dirty="0" smtClean="0">
                <a:solidFill>
                  <a:srgbClr val="FF0000"/>
                </a:solidFill>
              </a:rPr>
              <a:t>NOTA: </a:t>
            </a:r>
          </a:p>
          <a:p>
            <a:pPr algn="just">
              <a:spcAft>
                <a:spcPts val="1800"/>
              </a:spcAft>
              <a:buSzPct val="100000"/>
              <a:tabLst>
                <a:tab pos="121285" algn="l"/>
              </a:tabLst>
            </a:pPr>
            <a:r>
              <a:rPr lang="es-ES" sz="1200" spc="-10" dirty="0" smtClean="0">
                <a:solidFill>
                  <a:srgbClr val="FF0000"/>
                </a:solidFill>
              </a:rPr>
              <a:t>Se</a:t>
            </a:r>
            <a:r>
              <a:rPr lang="es-ES" sz="1200" spc="-10" baseline="0" dirty="0" smtClean="0">
                <a:solidFill>
                  <a:srgbClr val="FF0000"/>
                </a:solidFill>
              </a:rPr>
              <a:t> sugiere acompañar e</a:t>
            </a:r>
            <a:r>
              <a:rPr lang="es-ES" sz="1200" spc="-10" dirty="0" smtClean="0">
                <a:solidFill>
                  <a:srgbClr val="FF0000"/>
                </a:solidFill>
              </a:rPr>
              <a:t>l desarrollo de esta sesión con esta guía.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83499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29767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226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2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691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Imagen Gig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956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211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/>
          <p:cNvGrpSpPr/>
          <p:nvPr userDrawn="1"/>
        </p:nvGrpSpPr>
        <p:grpSpPr>
          <a:xfrm>
            <a:off x="944054" y="5369051"/>
            <a:ext cx="7804380" cy="215444"/>
            <a:chOff x="944054" y="5369051"/>
            <a:chExt cx="7804380" cy="215444"/>
          </a:xfrm>
        </p:grpSpPr>
        <p:sp>
          <p:nvSpPr>
            <p:cNvPr id="16" name="TextBox 7"/>
            <p:cNvSpPr txBox="1"/>
            <p:nvPr userDrawn="1"/>
          </p:nvSpPr>
          <p:spPr>
            <a:xfrm>
              <a:off x="944054" y="5369051"/>
              <a:ext cx="249940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SISTEMAS DE CONTROL Y GOBIERNO DE TI 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SESIÓN 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09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18" name="Rectangle 3"/>
            <p:cNvSpPr/>
            <p:nvPr userDrawn="1"/>
          </p:nvSpPr>
          <p:spPr>
            <a:xfrm>
              <a:off x="7207627" y="5384440"/>
              <a:ext cx="1540807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2020 ISIL. Todos los derechos reservados</a:t>
              </a:r>
            </a:p>
          </p:txBody>
        </p:sp>
      </p:grp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495300" y="5328911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60" r:id="rId4"/>
    <p:sldLayoutId id="2147483657" r:id="rId5"/>
    <p:sldLayoutId id="2147483658" r:id="rId6"/>
    <p:sldLayoutId id="2147483661" r:id="rId7"/>
    <p:sldLayoutId id="2147483659" r:id="rId8"/>
    <p:sldLayoutId id="2147483662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/>
          <p:cNvSpPr txBox="1"/>
          <p:nvPr/>
        </p:nvSpPr>
        <p:spPr>
          <a:xfrm>
            <a:off x="417646" y="398388"/>
            <a:ext cx="873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SESIÓN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380422" y="475914"/>
            <a:ext cx="964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800" dirty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1493097" y="456609"/>
            <a:ext cx="5904294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" sz="3200" b="1" dirty="0" smtClean="0">
                <a:solidFill>
                  <a:srgbClr val="FFFFFF"/>
                </a:solidFill>
              </a:rPr>
              <a:t>OBJETIVOS DE GOBIERNO Y DE GESTIÓN</a:t>
            </a:r>
            <a:endParaRPr lang="es-ES" sz="3200" b="1" dirty="0">
              <a:solidFill>
                <a:srgbClr val="FFFFFF"/>
              </a:solidFill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589880" y="1766244"/>
            <a:ext cx="5235567" cy="1549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Definición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Modelo core de COBIT 2019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Dominios de gobierno y de gestión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Propósito de los 40 objetivos de gobierno y gestión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Guía detallada de los objetivos de gobierno y de gestión</a:t>
            </a:r>
          </a:p>
        </p:txBody>
      </p:sp>
      <p:cxnSp>
        <p:nvCxnSpPr>
          <p:cNvPr id="8" name="Conector recto 7"/>
          <p:cNvCxnSpPr/>
          <p:nvPr/>
        </p:nvCxnSpPr>
        <p:spPr>
          <a:xfrm>
            <a:off x="1385597" y="522202"/>
            <a:ext cx="0" cy="720031"/>
          </a:xfrm>
          <a:prstGeom prst="line">
            <a:avLst/>
          </a:prstGeom>
          <a:ln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ángulo 8"/>
          <p:cNvSpPr/>
          <p:nvPr/>
        </p:nvSpPr>
        <p:spPr>
          <a:xfrm>
            <a:off x="417647" y="1460808"/>
            <a:ext cx="8345931" cy="1938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s-PE" sz="1400" b="1" dirty="0">
                <a:solidFill>
                  <a:srgbClr val="1F85A6"/>
                </a:solidFill>
                <a:cs typeface="Calibri"/>
              </a:rPr>
              <a:t>  UNIDAD DE APRENDIZAJE: SISTEMA DE GOBIERNO Y COMPONENTES DE COBIT 2019     </a:t>
            </a:r>
            <a:endParaRPr lang="es-PE" sz="1400" b="1" dirty="0">
              <a:solidFill>
                <a:srgbClr val="1F85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68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INTRODUCCIÓN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58472751-FD5C-4C14-A418-1AEF0A30EB50}"/>
              </a:ext>
            </a:extLst>
          </p:cNvPr>
          <p:cNvSpPr txBox="1"/>
          <p:nvPr/>
        </p:nvSpPr>
        <p:spPr>
          <a:xfrm>
            <a:off x="507697" y="965537"/>
            <a:ext cx="7954132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s-PE" sz="1600" spc="-10" dirty="0">
                <a:cs typeface="Source Sans Pro"/>
              </a:rPr>
              <a:t>En esta sesión </a:t>
            </a:r>
            <a:r>
              <a:rPr lang="es-PE" sz="1600" spc="-10" dirty="0" smtClean="0">
                <a:cs typeface="Source Sans Pro"/>
              </a:rPr>
              <a:t>aprenderás </a:t>
            </a:r>
            <a:r>
              <a:rPr lang="es-PE" sz="1600" spc="-10" dirty="0">
                <a:cs typeface="Source Sans Pro"/>
              </a:rPr>
              <a:t>las definiciones sobre los objetivos de gobierno y de gestión de COBIT 2019.</a:t>
            </a:r>
            <a:br>
              <a:rPr lang="es-PE" sz="1600" spc="-10" dirty="0">
                <a:cs typeface="Source Sans Pro"/>
              </a:rPr>
            </a:br>
            <a:endParaRPr lang="es-PE" sz="1600" spc="-10" dirty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s-PE" sz="1600" spc="-10" dirty="0" smtClean="0"/>
              <a:t>Reconocerás </a:t>
            </a:r>
            <a:r>
              <a:rPr lang="es-PE" sz="1600" spc="-10" dirty="0"/>
              <a:t>el modelo </a:t>
            </a:r>
            <a:r>
              <a:rPr lang="es-PE" sz="1600" i="1" spc="-10" dirty="0"/>
              <a:t>core</a:t>
            </a:r>
            <a:r>
              <a:rPr lang="es-PE" sz="1600" spc="-10" dirty="0"/>
              <a:t> de COBIT 2019 así como sus dominios de gobierno y de gestión.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s-PE" sz="1600" spc="-10" dirty="0"/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s-PE" sz="1600" spc="-10" dirty="0" smtClean="0"/>
              <a:t>Comprenderás </a:t>
            </a:r>
            <a:r>
              <a:rPr lang="es-PE" sz="1600" spc="-10" dirty="0"/>
              <a:t>el propósito de los 40 objetivos de gobierno y gestión de COBIT </a:t>
            </a:r>
            <a:r>
              <a:rPr lang="es-PE" sz="1600" spc="-10" dirty="0" smtClean="0"/>
              <a:t>2019.</a:t>
            </a:r>
            <a:endParaRPr lang="es-PE" sz="1600" spc="-10" dirty="0"/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s-PE" sz="1600" spc="-10" dirty="0"/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s-PE" sz="1600" spc="-10" dirty="0" smtClean="0"/>
              <a:t>Finalmente, reconocerás </a:t>
            </a:r>
            <a:r>
              <a:rPr lang="es-PE" sz="1600" spc="-10" dirty="0"/>
              <a:t>la guía detallada de los objetivos de gobierno y de gestión de COBIT 2019.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5610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DEFINICIÓN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9153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OBJETIVOS DE GOBIERNO Y DE GESTIÓN</a:t>
            </a: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C5BAA5E7-F6EE-4BC8-BD03-09E4111A5B09}"/>
              </a:ext>
            </a:extLst>
          </p:cNvPr>
          <p:cNvSpPr txBox="1"/>
          <p:nvPr/>
        </p:nvSpPr>
        <p:spPr>
          <a:xfrm>
            <a:off x="655092" y="1295059"/>
            <a:ext cx="7908877" cy="8925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Para que la información y la tecnología contribuyan a los objetivos de la empresa, deberían alcanzarse una serie de objetivos de gobierno y gestión. </a:t>
            </a:r>
          </a:p>
          <a:p>
            <a:pPr marL="285750" indent="-285750" algn="just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C00000"/>
                </a:solidFill>
              </a:rPr>
              <a:t>Los conceptos básicos relacionados con los objetivos de gobierno y gestión son: </a:t>
            </a:r>
            <a:endParaRPr lang="es-PE" sz="1600" spc="-10" dirty="0">
              <a:solidFill>
                <a:srgbClr val="C00000"/>
              </a:solidFill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2B9C068A-DC21-4EA5-AD58-49CF9276DED9}"/>
              </a:ext>
            </a:extLst>
          </p:cNvPr>
          <p:cNvSpPr txBox="1"/>
          <p:nvPr/>
        </p:nvSpPr>
        <p:spPr>
          <a:xfrm>
            <a:off x="510908" y="832233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</a:t>
            </a:r>
            <a:r>
              <a:rPr lang="es-PE" sz="1700" b="1" spc="-10" dirty="0" smtClean="0">
                <a:solidFill>
                  <a:srgbClr val="262626"/>
                </a:solidFill>
                <a:cs typeface="Source Sans Pro"/>
              </a:rPr>
              <a:t>DEFINICIÓN  (Recordando)   </a:t>
            </a:r>
            <a:endParaRPr lang="es-PE" sz="1700" b="1" spc="-10" dirty="0">
              <a:solidFill>
                <a:srgbClr val="262626"/>
              </a:solidFill>
              <a:cs typeface="Source Sans Pro"/>
            </a:endParaRPr>
          </a:p>
        </p:txBody>
      </p:sp>
      <p:graphicFrame>
        <p:nvGraphicFramePr>
          <p:cNvPr id="2" name="Diagrama 1"/>
          <p:cNvGraphicFramePr/>
          <p:nvPr>
            <p:extLst/>
          </p:nvPr>
        </p:nvGraphicFramePr>
        <p:xfrm>
          <a:off x="1039527" y="2125661"/>
          <a:ext cx="7640129" cy="3603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9315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MODELO CORE DE COBIT 2019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145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MODELO CORE DE COBIT 2019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E8FC4BD4-87C5-4E89-B976-82DAA6CC891A}"/>
              </a:ext>
            </a:extLst>
          </p:cNvPr>
          <p:cNvSpPr txBox="1"/>
          <p:nvPr/>
        </p:nvSpPr>
        <p:spPr>
          <a:xfrm>
            <a:off x="481501" y="813413"/>
            <a:ext cx="792530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spcAft>
                <a:spcPts val="1800"/>
              </a:spcAft>
              <a:buSzPct val="100000"/>
              <a:tabLst>
                <a:tab pos="121285" algn="l"/>
              </a:tabLst>
            </a:pPr>
            <a:r>
              <a:rPr lang="es-ES" sz="1600" b="1" i="1" spc="-10" dirty="0">
                <a:solidFill>
                  <a:srgbClr val="262626"/>
                </a:solidFill>
              </a:rPr>
              <a:t>“Incluye 40 objetivos de gobierno y gestión cada uno de ellos con su declaración de propósito”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8109567-95ED-4FAF-90B8-C79226AB3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60" y="1198273"/>
            <a:ext cx="7477679" cy="392363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F5E9FB2-A360-44C1-BAC5-11563B2C5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5638" y="3539325"/>
            <a:ext cx="2367516" cy="158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19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792081D9-57CF-4627-9BC4-69C383D47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738" y="1198274"/>
            <a:ext cx="6066523" cy="4019432"/>
          </a:xfrm>
          <a:prstGeom prst="rect">
            <a:avLst/>
          </a:prstGeom>
        </p:spPr>
      </p:pic>
      <p:sp>
        <p:nvSpPr>
          <p:cNvPr id="10" name="object 7">
            <a:extLst>
              <a:ext uri="{FF2B5EF4-FFF2-40B4-BE49-F238E27FC236}">
                <a16:creationId xmlns:a16="http://schemas.microsoft.com/office/drawing/2014/main" id="{D4D9FD17-27C6-4FAC-8D13-461FEC745AF4}"/>
              </a:ext>
            </a:extLst>
          </p:cNvPr>
          <p:cNvSpPr txBox="1"/>
          <p:nvPr/>
        </p:nvSpPr>
        <p:spPr>
          <a:xfrm>
            <a:off x="481501" y="813413"/>
            <a:ext cx="792530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spcAft>
                <a:spcPts val="1800"/>
              </a:spcAft>
              <a:buSzPct val="100000"/>
              <a:tabLst>
                <a:tab pos="121285" algn="l"/>
              </a:tabLst>
            </a:pPr>
            <a:r>
              <a:rPr lang="es-ES" sz="1600" b="1" i="1" spc="-10" dirty="0">
                <a:solidFill>
                  <a:srgbClr val="262626"/>
                </a:solidFill>
              </a:rPr>
              <a:t>“Incluye 40 objetivos de gobierno y gestión cada uno de ellos con su declaración de propósito”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E8087934-5720-4898-905E-16B4E22D63A2}"/>
              </a:ext>
            </a:extLst>
          </p:cNvPr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MODELO CORE DE COBIT 2019</a:t>
            </a:r>
          </a:p>
        </p:txBody>
      </p:sp>
    </p:spTree>
    <p:extLst>
      <p:ext uri="{BB962C8B-B14F-4D97-AF65-F5344CB8AC3E}">
        <p14:creationId xmlns:p14="http://schemas.microsoft.com/office/powerpoint/2010/main" val="4280054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5">
            <a:extLst>
              <a:ext uri="{FF2B5EF4-FFF2-40B4-BE49-F238E27FC236}">
                <a16:creationId xmlns:a16="http://schemas.microsoft.com/office/drawing/2014/main" id="{E8087934-5720-4898-905E-16B4E22D63A2}"/>
              </a:ext>
            </a:extLst>
          </p:cNvPr>
          <p:cNvSpPr/>
          <p:nvPr/>
        </p:nvSpPr>
        <p:spPr>
          <a:xfrm>
            <a:off x="407876" y="320830"/>
            <a:ext cx="3602246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MODELO CORE DE COBIT 2019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68583276-E804-4C61-B501-9184964A24CE}"/>
              </a:ext>
            </a:extLst>
          </p:cNvPr>
          <p:cNvGrpSpPr/>
          <p:nvPr/>
        </p:nvGrpSpPr>
        <p:grpSpPr>
          <a:xfrm>
            <a:off x="0" y="889813"/>
            <a:ext cx="8716298" cy="4141721"/>
            <a:chOff x="0" y="909875"/>
            <a:chExt cx="8716298" cy="4141721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C2655944-4B91-47F0-A395-702EA6347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909875"/>
              <a:ext cx="3045542" cy="816278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58676300-CE38-4108-8605-495613161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41335" y="995986"/>
              <a:ext cx="2674963" cy="656631"/>
            </a:xfrm>
            <a:prstGeom prst="rect">
              <a:avLst/>
            </a:prstGeom>
          </p:spPr>
        </p:pic>
        <p:sp>
          <p:nvSpPr>
            <p:cNvPr id="7" name="Flecha: a la izquierda y derecha 6">
              <a:extLst>
                <a:ext uri="{FF2B5EF4-FFF2-40B4-BE49-F238E27FC236}">
                  <a16:creationId xmlns:a16="http://schemas.microsoft.com/office/drawing/2014/main" id="{8023F1F8-E8A5-4403-B37D-1B74B1AED3F7}"/>
                </a:ext>
              </a:extLst>
            </p:cNvPr>
            <p:cNvSpPr/>
            <p:nvPr/>
          </p:nvSpPr>
          <p:spPr>
            <a:xfrm>
              <a:off x="2868562" y="995986"/>
              <a:ext cx="2979174" cy="759536"/>
            </a:xfrm>
            <a:prstGeom prst="leftRightArrow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/>
                <a:t>3 NUEVOS OBJETIVOS</a:t>
              </a:r>
            </a:p>
          </p:txBody>
        </p:sp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E2BA21BB-9287-4C3A-AF1C-C48E666423E3}"/>
                </a:ext>
              </a:extLst>
            </p:cNvPr>
            <p:cNvSpPr txBox="1"/>
            <p:nvPr/>
          </p:nvSpPr>
          <p:spPr>
            <a:xfrm>
              <a:off x="657158" y="1953768"/>
              <a:ext cx="3352963" cy="30777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357188" indent="-285750">
                <a:spcAft>
                  <a:spcPts val="1200"/>
                </a:spcAft>
                <a:buSzPct val="100000"/>
                <a:buFont typeface="Wingdings" panose="05000000000000000000" pitchFamily="2" charset="2"/>
                <a:buChar char="§"/>
                <a:tabLst>
                  <a:tab pos="121285" algn="l"/>
                </a:tabLst>
              </a:pPr>
              <a:r>
                <a:rPr lang="es-PE" sz="1600" spc="-10" dirty="0">
                  <a:solidFill>
                    <a:srgbClr val="262626"/>
                  </a:solidFill>
                  <a:cs typeface="Source Sans Pro"/>
                </a:rPr>
                <a:t>37 Procesos para el gobierno y la gestión de TI.</a:t>
              </a:r>
            </a:p>
            <a:p>
              <a:pPr marL="357188" indent="-285750">
                <a:spcAft>
                  <a:spcPts val="1200"/>
                </a:spcAft>
                <a:buSzPct val="100000"/>
                <a:buFont typeface="Wingdings" panose="05000000000000000000" pitchFamily="2" charset="2"/>
                <a:buChar char="§"/>
                <a:tabLst>
                  <a:tab pos="121285" algn="l"/>
                </a:tabLst>
              </a:pPr>
              <a:r>
                <a:rPr lang="es-PE" sz="1600" spc="-10" dirty="0">
                  <a:solidFill>
                    <a:srgbClr val="262626"/>
                  </a:solidFill>
                  <a:cs typeface="Source Sans Pro"/>
                </a:rPr>
                <a:t>Modelo de referencia de procesos.</a:t>
              </a:r>
            </a:p>
            <a:p>
              <a:pPr marL="357188" indent="-285750">
                <a:spcAft>
                  <a:spcPts val="600"/>
                </a:spcAft>
                <a:buSzPct val="100000"/>
                <a:buFont typeface="Wingdings" panose="05000000000000000000" pitchFamily="2" charset="2"/>
                <a:buChar char="§"/>
                <a:tabLst>
                  <a:tab pos="121285" algn="l"/>
                </a:tabLst>
              </a:pPr>
              <a:r>
                <a:rPr lang="es-PE" sz="1600" spc="-10" dirty="0">
                  <a:solidFill>
                    <a:srgbClr val="262626"/>
                  </a:solidFill>
                  <a:cs typeface="Source Sans Pro"/>
                </a:rPr>
                <a:t>Área de gobierno: </a:t>
              </a:r>
            </a:p>
            <a:p>
              <a:pPr marL="627063" indent="-265113" defTabSz="627063">
                <a:spcAft>
                  <a:spcPts val="1200"/>
                </a:spcAft>
                <a:buSzPct val="100000"/>
                <a:buFont typeface="Courier New" panose="02070309020205020404" pitchFamily="49" charset="0"/>
                <a:buChar char="o"/>
                <a:tabLst>
                  <a:tab pos="121285" algn="l"/>
                </a:tabLst>
              </a:pPr>
              <a:r>
                <a:rPr lang="es-PE" sz="1600" spc="-10" dirty="0">
                  <a:solidFill>
                    <a:srgbClr val="262626"/>
                  </a:solidFill>
                  <a:cs typeface="Source Sans Pro"/>
                </a:rPr>
                <a:t> EDM………...(5 procesos)</a:t>
              </a:r>
            </a:p>
            <a:p>
              <a:pPr marL="357188" indent="-285750">
                <a:spcAft>
                  <a:spcPts val="600"/>
                </a:spcAft>
                <a:buSzPct val="100000"/>
                <a:buFont typeface="Wingdings" panose="05000000000000000000" pitchFamily="2" charset="2"/>
                <a:buChar char="§"/>
                <a:tabLst>
                  <a:tab pos="121285" algn="l"/>
                </a:tabLst>
              </a:pPr>
              <a:r>
                <a:rPr lang="es-PE" sz="1600" spc="-10" dirty="0">
                  <a:solidFill>
                    <a:srgbClr val="262626"/>
                  </a:solidFill>
                  <a:cs typeface="Source Sans Pro"/>
                </a:rPr>
                <a:t>Área de gestión:  </a:t>
              </a:r>
            </a:p>
            <a:p>
              <a:pPr marL="627063" indent="-285750">
                <a:buSzPct val="100000"/>
                <a:buFont typeface="Courier New" panose="02070309020205020404" pitchFamily="49" charset="0"/>
                <a:buChar char="o"/>
                <a:tabLst>
                  <a:tab pos="121285" algn="l"/>
                </a:tabLst>
              </a:pPr>
              <a:r>
                <a:rPr lang="es-PE" sz="1600" spc="-10" dirty="0">
                  <a:solidFill>
                    <a:srgbClr val="262626"/>
                  </a:solidFill>
                  <a:cs typeface="Source Sans Pro"/>
                </a:rPr>
                <a:t>APO………….(13 procesos)</a:t>
              </a:r>
            </a:p>
            <a:p>
              <a:pPr marL="627063" indent="-285750">
                <a:buSzPct val="100000"/>
                <a:buFont typeface="Courier New" panose="02070309020205020404" pitchFamily="49" charset="0"/>
                <a:buChar char="o"/>
                <a:tabLst>
                  <a:tab pos="121285" algn="l"/>
                </a:tabLst>
              </a:pPr>
              <a:r>
                <a:rPr lang="es-PE" sz="1600" spc="-10" dirty="0">
                  <a:solidFill>
                    <a:srgbClr val="262626"/>
                  </a:solidFill>
                  <a:cs typeface="Source Sans Pro"/>
                </a:rPr>
                <a:t>BAI …………..(10 procesos)</a:t>
              </a:r>
            </a:p>
            <a:p>
              <a:pPr marL="627063" indent="-285750">
                <a:buSzPct val="100000"/>
                <a:buFont typeface="Courier New" panose="02070309020205020404" pitchFamily="49" charset="0"/>
                <a:buChar char="o"/>
                <a:tabLst>
                  <a:tab pos="121285" algn="l"/>
                </a:tabLst>
              </a:pPr>
              <a:r>
                <a:rPr lang="es-PE" sz="1600" spc="-10" dirty="0">
                  <a:solidFill>
                    <a:srgbClr val="262626"/>
                  </a:solidFill>
                </a:rPr>
                <a:t>DSS</a:t>
              </a:r>
              <a:r>
                <a:rPr lang="es-PE" sz="1600" spc="-10" dirty="0">
                  <a:solidFill>
                    <a:srgbClr val="262626"/>
                  </a:solidFill>
                  <a:cs typeface="Source Sans Pro"/>
                </a:rPr>
                <a:t> ………….(</a:t>
              </a:r>
              <a:r>
                <a:rPr lang="es-PE" sz="1600" spc="-10" dirty="0">
                  <a:solidFill>
                    <a:srgbClr val="262626"/>
                  </a:solidFill>
                </a:rPr>
                <a:t>6 procesos)</a:t>
              </a:r>
            </a:p>
            <a:p>
              <a:pPr marL="627063" indent="-285750">
                <a:buSzPct val="100000"/>
                <a:buFont typeface="Courier New" panose="02070309020205020404" pitchFamily="49" charset="0"/>
                <a:buChar char="o"/>
                <a:tabLst>
                  <a:tab pos="121285" algn="l"/>
                </a:tabLst>
              </a:pPr>
              <a:r>
                <a:rPr lang="es-PE" sz="1600" spc="-10" dirty="0">
                  <a:solidFill>
                    <a:srgbClr val="262626"/>
                  </a:solidFill>
                </a:rPr>
                <a:t>MEA</a:t>
              </a:r>
              <a:r>
                <a:rPr lang="es-PE" sz="1600" spc="-10" dirty="0">
                  <a:solidFill>
                    <a:srgbClr val="262626"/>
                  </a:solidFill>
                  <a:cs typeface="Source Sans Pro"/>
                </a:rPr>
                <a:t> ………..</a:t>
              </a:r>
              <a:r>
                <a:rPr lang="es-PE" sz="1600" spc="-10" dirty="0">
                  <a:solidFill>
                    <a:srgbClr val="262626"/>
                  </a:solidFill>
                </a:rPr>
                <a:t>(3procesos)</a:t>
              </a:r>
            </a:p>
          </p:txBody>
        </p:sp>
        <p:sp>
          <p:nvSpPr>
            <p:cNvPr id="13" name="object 7">
              <a:extLst>
                <a:ext uri="{FF2B5EF4-FFF2-40B4-BE49-F238E27FC236}">
                  <a16:creationId xmlns:a16="http://schemas.microsoft.com/office/drawing/2014/main" id="{E2440187-112E-454E-AF1A-F0857458E97E}"/>
                </a:ext>
              </a:extLst>
            </p:cNvPr>
            <p:cNvSpPr txBox="1"/>
            <p:nvPr/>
          </p:nvSpPr>
          <p:spPr>
            <a:xfrm>
              <a:off x="5454607" y="1973830"/>
              <a:ext cx="3119285" cy="30777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357188" indent="-285750">
                <a:spcAft>
                  <a:spcPts val="1200"/>
                </a:spcAft>
                <a:buSzPct val="100000"/>
                <a:buFont typeface="Wingdings" panose="05000000000000000000" pitchFamily="2" charset="2"/>
                <a:buChar char="§"/>
                <a:tabLst>
                  <a:tab pos="121285" algn="l"/>
                </a:tabLst>
              </a:pPr>
              <a:r>
                <a:rPr lang="es-PE" sz="1600" spc="-10" dirty="0">
                  <a:solidFill>
                    <a:srgbClr val="262626"/>
                  </a:solidFill>
                  <a:cs typeface="Source Sans Pro"/>
                </a:rPr>
                <a:t>40 Objetivos para el gobierno y gestión de la TI.</a:t>
              </a:r>
            </a:p>
            <a:p>
              <a:pPr marL="357188" indent="-285750">
                <a:spcAft>
                  <a:spcPts val="1200"/>
                </a:spcAft>
                <a:buSzPct val="100000"/>
                <a:buFont typeface="Wingdings" panose="05000000000000000000" pitchFamily="2" charset="2"/>
                <a:buChar char="§"/>
                <a:tabLst>
                  <a:tab pos="121285" algn="l"/>
                </a:tabLst>
              </a:pPr>
              <a:r>
                <a:rPr lang="es-PE" sz="1600" spc="-10" dirty="0">
                  <a:solidFill>
                    <a:srgbClr val="262626"/>
                  </a:solidFill>
                  <a:cs typeface="Source Sans Pro"/>
                </a:rPr>
                <a:t>Modelo núcleo de COBIT.</a:t>
              </a:r>
            </a:p>
            <a:p>
              <a:pPr marL="357188" indent="-285750">
                <a:spcAft>
                  <a:spcPts val="600"/>
                </a:spcAft>
                <a:buSzPct val="100000"/>
                <a:buFont typeface="Wingdings" panose="05000000000000000000" pitchFamily="2" charset="2"/>
                <a:buChar char="§"/>
                <a:tabLst>
                  <a:tab pos="121285" algn="l"/>
                </a:tabLst>
              </a:pPr>
              <a:r>
                <a:rPr lang="es-PE" sz="1600" spc="-10" dirty="0">
                  <a:solidFill>
                    <a:srgbClr val="262626"/>
                  </a:solidFill>
                  <a:cs typeface="Source Sans Pro"/>
                </a:rPr>
                <a:t>Área de gobierno: </a:t>
              </a:r>
            </a:p>
            <a:p>
              <a:pPr marL="627063" indent="-265113" defTabSz="627063">
                <a:spcAft>
                  <a:spcPts val="1200"/>
                </a:spcAft>
                <a:buSzPct val="100000"/>
                <a:buFont typeface="Courier New" panose="02070309020205020404" pitchFamily="49" charset="0"/>
                <a:buChar char="o"/>
                <a:tabLst>
                  <a:tab pos="121285" algn="l"/>
                </a:tabLst>
              </a:pPr>
              <a:r>
                <a:rPr lang="es-PE" sz="1600" spc="-10" dirty="0">
                  <a:solidFill>
                    <a:srgbClr val="262626"/>
                  </a:solidFill>
                  <a:cs typeface="Source Sans Pro"/>
                </a:rPr>
                <a:t> EDM………...(5 procesos)</a:t>
              </a:r>
            </a:p>
            <a:p>
              <a:pPr marL="357188" indent="-285750">
                <a:spcAft>
                  <a:spcPts val="600"/>
                </a:spcAft>
                <a:buSzPct val="100000"/>
                <a:buFont typeface="Wingdings" panose="05000000000000000000" pitchFamily="2" charset="2"/>
                <a:buChar char="§"/>
                <a:tabLst>
                  <a:tab pos="121285" algn="l"/>
                </a:tabLst>
              </a:pPr>
              <a:r>
                <a:rPr lang="es-PE" sz="1600" spc="-10" dirty="0">
                  <a:solidFill>
                    <a:srgbClr val="262626"/>
                  </a:solidFill>
                  <a:cs typeface="Source Sans Pro"/>
                </a:rPr>
                <a:t>Área de gestión:  </a:t>
              </a:r>
            </a:p>
            <a:p>
              <a:pPr marL="627063" indent="-285750">
                <a:buSzPct val="100000"/>
                <a:buFont typeface="Courier New" panose="02070309020205020404" pitchFamily="49" charset="0"/>
                <a:buChar char="o"/>
                <a:tabLst>
                  <a:tab pos="121285" algn="l"/>
                </a:tabLst>
              </a:pPr>
              <a:r>
                <a:rPr lang="es-PE" sz="1600" spc="-10" dirty="0">
                  <a:solidFill>
                    <a:srgbClr val="FF0000"/>
                  </a:solidFill>
                  <a:cs typeface="Source Sans Pro"/>
                </a:rPr>
                <a:t>APO………….(14 procesos)</a:t>
              </a:r>
            </a:p>
            <a:p>
              <a:pPr marL="627063" indent="-285750">
                <a:buSzPct val="100000"/>
                <a:buFont typeface="Courier New" panose="02070309020205020404" pitchFamily="49" charset="0"/>
                <a:buChar char="o"/>
                <a:tabLst>
                  <a:tab pos="121285" algn="l"/>
                </a:tabLst>
              </a:pPr>
              <a:r>
                <a:rPr lang="es-PE" sz="1600" spc="-10" dirty="0">
                  <a:solidFill>
                    <a:srgbClr val="FF0000"/>
                  </a:solidFill>
                  <a:cs typeface="Source Sans Pro"/>
                </a:rPr>
                <a:t>BAI …………..(11 procesos)</a:t>
              </a:r>
            </a:p>
            <a:p>
              <a:pPr marL="627063" indent="-285750">
                <a:buSzPct val="100000"/>
                <a:buFont typeface="Courier New" panose="02070309020205020404" pitchFamily="49" charset="0"/>
                <a:buChar char="o"/>
                <a:tabLst>
                  <a:tab pos="121285" algn="l"/>
                </a:tabLst>
              </a:pPr>
              <a:r>
                <a:rPr lang="es-PE" sz="1600" spc="-10" dirty="0">
                  <a:solidFill>
                    <a:srgbClr val="262626"/>
                  </a:solidFill>
                </a:rPr>
                <a:t>DSS</a:t>
              </a:r>
              <a:r>
                <a:rPr lang="es-PE" sz="1600" spc="-10" dirty="0">
                  <a:solidFill>
                    <a:srgbClr val="262626"/>
                  </a:solidFill>
                  <a:cs typeface="Source Sans Pro"/>
                </a:rPr>
                <a:t> ………….(</a:t>
              </a:r>
              <a:r>
                <a:rPr lang="es-PE" sz="1600" spc="-10" dirty="0">
                  <a:solidFill>
                    <a:srgbClr val="262626"/>
                  </a:solidFill>
                </a:rPr>
                <a:t>6 procesos)</a:t>
              </a:r>
            </a:p>
            <a:p>
              <a:pPr marL="627063" indent="-285750">
                <a:buSzPct val="100000"/>
                <a:buFont typeface="Courier New" panose="02070309020205020404" pitchFamily="49" charset="0"/>
                <a:buChar char="o"/>
                <a:tabLst>
                  <a:tab pos="121285" algn="l"/>
                </a:tabLst>
              </a:pPr>
              <a:r>
                <a:rPr lang="es-PE" sz="1600" spc="-10" dirty="0">
                  <a:solidFill>
                    <a:srgbClr val="FF0000"/>
                  </a:solidFill>
                </a:rPr>
                <a:t>MEA</a:t>
              </a:r>
              <a:r>
                <a:rPr lang="es-PE" sz="1600" spc="-10" dirty="0">
                  <a:solidFill>
                    <a:srgbClr val="FF0000"/>
                  </a:solidFill>
                  <a:cs typeface="Source Sans Pro"/>
                </a:rPr>
                <a:t> ………..</a:t>
              </a:r>
              <a:r>
                <a:rPr lang="es-PE" sz="1600" spc="-10" dirty="0">
                  <a:solidFill>
                    <a:srgbClr val="FF0000"/>
                  </a:solidFill>
                </a:rPr>
                <a:t>(4 procesos)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1559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DOMINIOS DE GOBIERNO Y DE GESTIÓN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3498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DOMINIOS DE GOBIERNO Y DE GESTIÓN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DEFINICIÓN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38222" y="1147443"/>
            <a:ext cx="7932384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spcAft>
                <a:spcPts val="1800"/>
              </a:spcAft>
              <a:buSzPct val="100000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Los objetivos de gobierno y gestión de COBIT se agrupan en cinco dominios; los dominios se nombran mediante verbos que expresan el propósito clave y las áreas de actividad de los objetivos que los contienen.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29DEE43-C3AB-4F2F-B680-C9B101571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04" y="2131474"/>
            <a:ext cx="8048116" cy="259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0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DOMINIOS DE GOBIERNO Y DE GESTIÓN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55649DCA-D702-4EA5-A03B-02E67B87C1A1}"/>
              </a:ext>
            </a:extLst>
          </p:cNvPr>
          <p:cNvSpPr txBox="1"/>
          <p:nvPr/>
        </p:nvSpPr>
        <p:spPr>
          <a:xfrm>
            <a:off x="354889" y="891216"/>
            <a:ext cx="2728553" cy="40626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800">
              <a:buSzPct val="100000"/>
              <a:tabLst>
                <a:tab pos="121285" algn="l"/>
              </a:tabLst>
            </a:pPr>
            <a:r>
              <a:rPr lang="es-PE" sz="1600" b="1" dirty="0"/>
              <a:t>GOBIERNO</a:t>
            </a:r>
            <a:endParaRPr lang="es-PE" sz="1400" b="1" dirty="0"/>
          </a:p>
          <a:p>
            <a:pPr marL="11725">
              <a:buSzPct val="100000"/>
              <a:tabLst>
                <a:tab pos="121285" algn="l"/>
              </a:tabLst>
            </a:pPr>
            <a:endParaRPr lang="es-PE" sz="1000" b="1" spc="-10" dirty="0">
              <a:solidFill>
                <a:srgbClr val="262626"/>
              </a:solidFill>
              <a:cs typeface="Source Sans Pro"/>
            </a:endParaRPr>
          </a:p>
          <a:p>
            <a:pPr marL="446088" indent="-285750" algn="just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Asegura el cumplimiento de objetivos empresariales.</a:t>
            </a:r>
          </a:p>
          <a:p>
            <a:pPr marL="446088" indent="-285750" algn="just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Evalúa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necesidades, condiciones y opciones de los interesados.</a:t>
            </a:r>
          </a:p>
          <a:p>
            <a:pPr marL="446088" indent="-285750" algn="just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Dirige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a través de la priorización y toma de decisiones.</a:t>
            </a:r>
          </a:p>
          <a:p>
            <a:pPr marL="446088" indent="-285750" algn="just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Supervisa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(monitorea) el desempeño y cumplimiento de las políticas para la dirección y los objetivos acordados.</a:t>
            </a: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D93F3472-093B-41B1-A512-F75BF67AADE0}"/>
              </a:ext>
            </a:extLst>
          </p:cNvPr>
          <p:cNvSpPr txBox="1"/>
          <p:nvPr/>
        </p:nvSpPr>
        <p:spPr>
          <a:xfrm>
            <a:off x="6366713" y="891216"/>
            <a:ext cx="2422398" cy="38010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600" b="1" dirty="0" smtClean="0"/>
              <a:t>GESTIÓN</a:t>
            </a:r>
            <a:endParaRPr lang="es-PE" sz="1600" b="1" dirty="0"/>
          </a:p>
          <a:p>
            <a:pPr marL="11725">
              <a:buSzPct val="100000"/>
              <a:tabLst>
                <a:tab pos="121285" algn="l"/>
              </a:tabLst>
            </a:pPr>
            <a:endParaRPr lang="es-PE" sz="1400" b="1" spc="-10" dirty="0">
              <a:solidFill>
                <a:srgbClr val="262626"/>
              </a:solidFill>
              <a:cs typeface="Source Sans Pro"/>
            </a:endParaRPr>
          </a:p>
          <a:p>
            <a:pPr marL="446088" indent="-285750" algn="just">
              <a:spcAft>
                <a:spcPts val="3000"/>
              </a:spcAft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Planea, construye, ejecuta y/o opera y supervisa (monitorea) las actividades fijadas y acordadas por el cuerpo de gobierno.</a:t>
            </a:r>
          </a:p>
          <a:p>
            <a:pPr marL="446088" indent="-285750" algn="just">
              <a:spcAft>
                <a:spcPts val="3000"/>
              </a:spcAft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La gestión se avoca a la acción de la producción, su visión es la utilización prudente y eficiente de los medios (recursos, personas).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6E6C989-B16D-47FE-88F5-EA14B47C1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093" y="1627508"/>
            <a:ext cx="2971383" cy="291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372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DOMINIOS DE GOBIERNO Y DE GESTIÓN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55649DCA-D702-4EA5-A03B-02E67B87C1A1}"/>
              </a:ext>
            </a:extLst>
          </p:cNvPr>
          <p:cNvSpPr txBox="1"/>
          <p:nvPr/>
        </p:nvSpPr>
        <p:spPr>
          <a:xfrm>
            <a:off x="354889" y="891216"/>
            <a:ext cx="2728553" cy="1680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800">
              <a:buSzPct val="100000"/>
              <a:tabLst>
                <a:tab pos="121285" algn="l"/>
              </a:tabLst>
            </a:pPr>
            <a:r>
              <a:rPr lang="es-PE" sz="1600" b="1" dirty="0"/>
              <a:t>GOBIERNO</a:t>
            </a:r>
            <a:endParaRPr lang="es-PE" sz="1400" b="1" dirty="0"/>
          </a:p>
          <a:p>
            <a:pPr marL="11725">
              <a:buSzPct val="100000"/>
              <a:tabLst>
                <a:tab pos="121285" algn="l"/>
              </a:tabLst>
            </a:pPr>
            <a:endParaRPr lang="es-PE" sz="1000" b="1" spc="-10" dirty="0">
              <a:solidFill>
                <a:srgbClr val="262626"/>
              </a:solidFill>
              <a:cs typeface="Source Sans Pro"/>
            </a:endParaRPr>
          </a:p>
          <a:p>
            <a:pPr marL="357188" indent="-285750">
              <a:lnSpc>
                <a:spcPct val="130000"/>
              </a:lnSpc>
              <a:spcAft>
                <a:spcPts val="2400"/>
              </a:spcAft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Ciclo </a:t>
            </a: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EDM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: </a:t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- </a:t>
            </a:r>
            <a:r>
              <a:rPr lang="es-PE" sz="1600" i="1" spc="-10" dirty="0">
                <a:solidFill>
                  <a:srgbClr val="262626"/>
                </a:solidFill>
                <a:cs typeface="Source Sans Pro"/>
              </a:rPr>
              <a:t>Evaluate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	</a:t>
            </a:r>
            <a:r>
              <a:rPr lang="es-PE" sz="1600" spc="-10" dirty="0">
                <a:solidFill>
                  <a:srgbClr val="0000FF"/>
                </a:solidFill>
                <a:cs typeface="Source Sans Pro"/>
              </a:rPr>
              <a:t>(Evaluar)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- </a:t>
            </a:r>
            <a:r>
              <a:rPr lang="es-PE" sz="1600" i="1" spc="-10" dirty="0">
                <a:solidFill>
                  <a:srgbClr val="262626"/>
                </a:solidFill>
                <a:cs typeface="Source Sans Pro"/>
              </a:rPr>
              <a:t>Direct</a:t>
            </a:r>
            <a:r>
              <a:rPr lang="es-PE" sz="1600" spc="-10" dirty="0">
                <a:solidFill>
                  <a:srgbClr val="0000FF"/>
                </a:solidFill>
                <a:cs typeface="Source Sans Pro"/>
              </a:rPr>
              <a:t>	(Dirigir)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- </a:t>
            </a:r>
            <a:r>
              <a:rPr lang="es-PE" sz="1600" i="1" spc="-10" dirty="0">
                <a:solidFill>
                  <a:srgbClr val="262626"/>
                </a:solidFill>
                <a:cs typeface="Source Sans Pro"/>
              </a:rPr>
              <a:t>Monitor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	</a:t>
            </a:r>
            <a:r>
              <a:rPr lang="es-PE" sz="1600" spc="-10" dirty="0">
                <a:solidFill>
                  <a:srgbClr val="0000FF"/>
                </a:solidFill>
                <a:cs typeface="Source Sans Pro"/>
              </a:rPr>
              <a:t>(Monitorizar)</a:t>
            </a: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D93F3472-093B-41B1-A512-F75BF67AADE0}"/>
              </a:ext>
            </a:extLst>
          </p:cNvPr>
          <p:cNvSpPr txBox="1"/>
          <p:nvPr/>
        </p:nvSpPr>
        <p:spPr>
          <a:xfrm>
            <a:off x="6060560" y="879198"/>
            <a:ext cx="2785260" cy="4401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7188" indent="-285750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Ciclo </a:t>
            </a: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APO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: </a:t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- </a:t>
            </a:r>
            <a:r>
              <a:rPr lang="es-PE" sz="1600" i="1" spc="-10" dirty="0">
                <a:solidFill>
                  <a:srgbClr val="262626"/>
                </a:solidFill>
                <a:cs typeface="Source Sans Pro"/>
              </a:rPr>
              <a:t>Aling	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	</a:t>
            </a:r>
            <a:r>
              <a:rPr lang="es-PE" sz="1600" spc="-10" dirty="0">
                <a:solidFill>
                  <a:srgbClr val="0000FF"/>
                </a:solidFill>
                <a:cs typeface="Source Sans Pro"/>
              </a:rPr>
              <a:t>(Alinear)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- </a:t>
            </a:r>
            <a:r>
              <a:rPr lang="es-PE" sz="1600" i="1" spc="-10" dirty="0">
                <a:solidFill>
                  <a:srgbClr val="262626"/>
                </a:solidFill>
                <a:cs typeface="Source Sans Pro"/>
              </a:rPr>
              <a:t>Plan</a:t>
            </a:r>
            <a:r>
              <a:rPr lang="es-PE" sz="1600" spc="-10" dirty="0">
                <a:solidFill>
                  <a:srgbClr val="0000FF"/>
                </a:solidFill>
                <a:cs typeface="Source Sans Pro"/>
              </a:rPr>
              <a:t>		(Planificar)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- </a:t>
            </a:r>
            <a:r>
              <a:rPr lang="es-PE" sz="1600" i="1" spc="-10" dirty="0">
                <a:solidFill>
                  <a:srgbClr val="262626"/>
                </a:solidFill>
                <a:cs typeface="Source Sans Pro"/>
              </a:rPr>
              <a:t>Organise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	</a:t>
            </a:r>
            <a:r>
              <a:rPr lang="es-PE" sz="1600" spc="-10" dirty="0">
                <a:solidFill>
                  <a:srgbClr val="0000FF"/>
                </a:solidFill>
                <a:cs typeface="Source Sans Pro"/>
              </a:rPr>
              <a:t>(Organizar)</a:t>
            </a:r>
          </a:p>
          <a:p>
            <a:pPr marL="357188" indent="-285750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Ciclo </a:t>
            </a: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BAI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: </a:t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- </a:t>
            </a:r>
            <a:r>
              <a:rPr lang="es-PE" sz="1600" i="1" spc="-10" dirty="0">
                <a:solidFill>
                  <a:srgbClr val="262626"/>
                </a:solidFill>
                <a:cs typeface="Source Sans Pro"/>
              </a:rPr>
              <a:t>Build	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	</a:t>
            </a:r>
            <a:r>
              <a:rPr lang="es-PE" sz="1600" spc="-10" dirty="0">
                <a:solidFill>
                  <a:srgbClr val="0000FF"/>
                </a:solidFill>
                <a:cs typeface="Source Sans Pro"/>
              </a:rPr>
              <a:t>(Construir)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- </a:t>
            </a:r>
            <a:r>
              <a:rPr lang="es-PE" sz="1600" i="1" spc="-10" dirty="0">
                <a:solidFill>
                  <a:srgbClr val="262626"/>
                </a:solidFill>
                <a:cs typeface="Source Sans Pro"/>
              </a:rPr>
              <a:t>Acquire</a:t>
            </a:r>
            <a:r>
              <a:rPr lang="es-PE" sz="1600" spc="-10" dirty="0">
                <a:solidFill>
                  <a:srgbClr val="0000FF"/>
                </a:solidFill>
                <a:cs typeface="Source Sans Pro"/>
              </a:rPr>
              <a:t>	(Adquirir)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- </a:t>
            </a:r>
            <a:r>
              <a:rPr lang="es-PE" sz="1600" i="1" spc="-10" dirty="0">
                <a:solidFill>
                  <a:srgbClr val="262626"/>
                </a:solidFill>
                <a:cs typeface="Source Sans Pro"/>
              </a:rPr>
              <a:t>Implement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	</a:t>
            </a:r>
            <a:r>
              <a:rPr lang="es-PE" sz="1600" spc="-10" dirty="0">
                <a:solidFill>
                  <a:srgbClr val="0000FF"/>
                </a:solidFill>
                <a:cs typeface="Source Sans Pro"/>
              </a:rPr>
              <a:t>(Implementar)</a:t>
            </a:r>
          </a:p>
          <a:p>
            <a:pPr marL="357188" indent="-285750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Ciclo </a:t>
            </a: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DSS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: </a:t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- </a:t>
            </a:r>
            <a:r>
              <a:rPr lang="es-PE" sz="1600" i="1" spc="-10" dirty="0">
                <a:solidFill>
                  <a:srgbClr val="262626"/>
                </a:solidFill>
                <a:cs typeface="Source Sans Pro"/>
              </a:rPr>
              <a:t>Deliver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	</a:t>
            </a:r>
            <a:r>
              <a:rPr lang="es-PE" sz="1600" spc="-10" dirty="0">
                <a:solidFill>
                  <a:srgbClr val="0000FF"/>
                </a:solidFill>
                <a:cs typeface="Source Sans Pro"/>
              </a:rPr>
              <a:t>(Entregar)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- </a:t>
            </a:r>
            <a:r>
              <a:rPr lang="es-PE" sz="1600" i="1" spc="-10" dirty="0">
                <a:solidFill>
                  <a:srgbClr val="262626"/>
                </a:solidFill>
                <a:cs typeface="Source Sans Pro"/>
              </a:rPr>
              <a:t>Service</a:t>
            </a:r>
            <a:r>
              <a:rPr lang="es-PE" sz="1600" spc="-10" dirty="0">
                <a:solidFill>
                  <a:srgbClr val="0000FF"/>
                </a:solidFill>
                <a:cs typeface="Source Sans Pro"/>
              </a:rPr>
              <a:t>	(Dar Servicio)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- </a:t>
            </a:r>
            <a:r>
              <a:rPr lang="es-PE" sz="1600" i="1" spc="-10" dirty="0">
                <a:solidFill>
                  <a:srgbClr val="262626"/>
                </a:solidFill>
                <a:cs typeface="Source Sans Pro"/>
              </a:rPr>
              <a:t>Support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	</a:t>
            </a:r>
            <a:r>
              <a:rPr lang="es-PE" sz="1600" spc="-10" dirty="0">
                <a:solidFill>
                  <a:srgbClr val="0000FF"/>
                </a:solidFill>
                <a:cs typeface="Source Sans Pro"/>
              </a:rPr>
              <a:t>(Dar Soporte)</a:t>
            </a:r>
          </a:p>
          <a:p>
            <a:pPr marL="357188" indent="-285750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Ciclo </a:t>
            </a: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MEA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: </a:t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- </a:t>
            </a:r>
            <a:r>
              <a:rPr lang="es-PE" sz="1600" i="1" spc="-10" dirty="0">
                <a:solidFill>
                  <a:srgbClr val="262626"/>
                </a:solidFill>
                <a:cs typeface="Source Sans Pro"/>
              </a:rPr>
              <a:t>Monitor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	</a:t>
            </a:r>
            <a:r>
              <a:rPr lang="es-PE" sz="1600" spc="-10" dirty="0">
                <a:solidFill>
                  <a:srgbClr val="0000FF"/>
                </a:solidFill>
                <a:cs typeface="Source Sans Pro"/>
              </a:rPr>
              <a:t>(Monitorizar)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- </a:t>
            </a:r>
            <a:r>
              <a:rPr lang="es-PE" sz="1600" i="1" spc="-10" dirty="0">
                <a:solidFill>
                  <a:srgbClr val="262626"/>
                </a:solidFill>
                <a:cs typeface="Source Sans Pro"/>
              </a:rPr>
              <a:t>Evaluate</a:t>
            </a:r>
            <a:r>
              <a:rPr lang="es-PE" sz="1600" spc="-10" dirty="0">
                <a:solidFill>
                  <a:srgbClr val="0000FF"/>
                </a:solidFill>
                <a:cs typeface="Source Sans Pro"/>
              </a:rPr>
              <a:t>	(Evaluar)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- </a:t>
            </a:r>
            <a:r>
              <a:rPr lang="es-PE" sz="1600" i="1" spc="-10" dirty="0">
                <a:solidFill>
                  <a:srgbClr val="262626"/>
                </a:solidFill>
                <a:cs typeface="Source Sans Pro"/>
              </a:rPr>
              <a:t>Assess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	</a:t>
            </a:r>
            <a:r>
              <a:rPr lang="es-PE" sz="1600" spc="-10" dirty="0">
                <a:solidFill>
                  <a:srgbClr val="0000FF"/>
                </a:solidFill>
                <a:cs typeface="Source Sans Pro"/>
              </a:rPr>
              <a:t>(Valorar)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6E6C989-B16D-47FE-88F5-EA14B47C1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674" y="1555475"/>
            <a:ext cx="2971383" cy="2915156"/>
          </a:xfrm>
          <a:prstGeom prst="rect">
            <a:avLst/>
          </a:prstGeom>
        </p:spPr>
      </p:pic>
      <p:sp>
        <p:nvSpPr>
          <p:cNvPr id="6" name="object 7">
            <a:extLst>
              <a:ext uri="{FF2B5EF4-FFF2-40B4-BE49-F238E27FC236}">
                <a16:creationId xmlns:a16="http://schemas.microsoft.com/office/drawing/2014/main" id="{6D86A684-C648-43A0-8F73-EE8A014CFAAC}"/>
              </a:ext>
            </a:extLst>
          </p:cNvPr>
          <p:cNvSpPr txBox="1"/>
          <p:nvPr/>
        </p:nvSpPr>
        <p:spPr>
          <a:xfrm>
            <a:off x="4635795" y="891216"/>
            <a:ext cx="118420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 algn="r">
              <a:buSzPct val="100000"/>
              <a:tabLst>
                <a:tab pos="121285" algn="l"/>
              </a:tabLst>
            </a:pPr>
            <a:r>
              <a:rPr lang="es-PE" sz="1600" b="1" dirty="0"/>
              <a:t>	      GESTIÓN</a:t>
            </a:r>
          </a:p>
        </p:txBody>
      </p:sp>
    </p:spTree>
    <p:extLst>
      <p:ext uri="{BB962C8B-B14F-4D97-AF65-F5344CB8AC3E}">
        <p14:creationId xmlns:p14="http://schemas.microsoft.com/office/powerpoint/2010/main" val="354688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DOMINIOS DE GOBIERNO Y DE GESTIÓN</a:t>
            </a: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99D8A77A-6E49-4DBA-8014-8D9BACAA0409}"/>
              </a:ext>
            </a:extLst>
          </p:cNvPr>
          <p:cNvSpPr txBox="1"/>
          <p:nvPr/>
        </p:nvSpPr>
        <p:spPr>
          <a:xfrm>
            <a:off x="494602" y="786432"/>
            <a:ext cx="159967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1. Estado de objetivos de gobierno y gestión en la empresa antes de COBIT 2019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4FFABDC-B961-42A6-B5D7-84E0945D7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272" y="786432"/>
            <a:ext cx="6737818" cy="446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352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70ED1E9-606C-4F67-8373-AD1163FF0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272" y="786432"/>
            <a:ext cx="6737818" cy="446032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DOMINIOS DE GOBIERNO Y DE GESTIÓN</a:t>
            </a: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99D8A77A-6E49-4DBA-8014-8D9BACAA0409}"/>
              </a:ext>
            </a:extLst>
          </p:cNvPr>
          <p:cNvSpPr txBox="1"/>
          <p:nvPr/>
        </p:nvSpPr>
        <p:spPr>
          <a:xfrm>
            <a:off x="494602" y="786432"/>
            <a:ext cx="159967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2. Priorización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objetivos de gobierno y gestión</a:t>
            </a:r>
            <a:r>
              <a:rPr lang="es-PE" sz="1600" spc="-10" dirty="0">
                <a:solidFill>
                  <a:srgbClr val="262626"/>
                </a:solidFill>
              </a:rPr>
              <a:t> de COBIT 2019 para su implementación</a:t>
            </a:r>
          </a:p>
        </p:txBody>
      </p:sp>
    </p:spTree>
    <p:extLst>
      <p:ext uri="{BB962C8B-B14F-4D97-AF65-F5344CB8AC3E}">
        <p14:creationId xmlns:p14="http://schemas.microsoft.com/office/powerpoint/2010/main" val="279432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EFF75043-5ED1-4A7F-B975-701716552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272" y="786432"/>
            <a:ext cx="6737818" cy="445158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DOMINIOS DE GOBIERNO Y DE GESTIÓN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0998BA2D-8D7E-42C7-83B1-B66B374CB89C}"/>
              </a:ext>
            </a:extLst>
          </p:cNvPr>
          <p:cNvSpPr txBox="1"/>
          <p:nvPr/>
        </p:nvSpPr>
        <p:spPr>
          <a:xfrm>
            <a:off x="494602" y="786432"/>
            <a:ext cx="159967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3. Implementación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objetivos de gobierno y gestión</a:t>
            </a:r>
            <a:r>
              <a:rPr lang="es-PE" sz="1600" spc="-10" dirty="0">
                <a:solidFill>
                  <a:srgbClr val="262626"/>
                </a:solidFill>
              </a:rPr>
              <a:t> de COBIT 2019</a:t>
            </a:r>
          </a:p>
        </p:txBody>
      </p:sp>
    </p:spTree>
    <p:extLst>
      <p:ext uri="{BB962C8B-B14F-4D97-AF65-F5344CB8AC3E}">
        <p14:creationId xmlns:p14="http://schemas.microsoft.com/office/powerpoint/2010/main" val="1402409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1E45D92-3A74-47B0-BF7B-F3710530F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273" y="807422"/>
            <a:ext cx="6737818" cy="4397203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DOMINIOS DE GOBIERNO Y DE GESTIÓN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E620D43E-864A-4839-859A-773D9712A4EC}"/>
              </a:ext>
            </a:extLst>
          </p:cNvPr>
          <p:cNvSpPr txBox="1"/>
          <p:nvPr/>
        </p:nvSpPr>
        <p:spPr>
          <a:xfrm>
            <a:off x="494602" y="786432"/>
            <a:ext cx="159967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4. O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bjetivos de gobierno y gestión</a:t>
            </a:r>
            <a:r>
              <a:rPr lang="es-PE" sz="1600" spc="-10" dirty="0">
                <a:solidFill>
                  <a:srgbClr val="262626"/>
                </a:solidFill>
              </a:rPr>
              <a:t> de COBIT 2019 implementados en su nivel más alto</a:t>
            </a:r>
          </a:p>
        </p:txBody>
      </p:sp>
    </p:spTree>
    <p:extLst>
      <p:ext uri="{BB962C8B-B14F-4D97-AF65-F5344CB8AC3E}">
        <p14:creationId xmlns:p14="http://schemas.microsoft.com/office/powerpoint/2010/main" val="2586526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AE9C0D8-B26C-4975-A604-28A7C6F93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273" y="786432"/>
            <a:ext cx="6699326" cy="4418193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DOMINIOS DE GOBIERNO Y DE GESTIÓN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71C3D01-45E6-40C5-AAE1-EF30C1BC0A5C}"/>
              </a:ext>
            </a:extLst>
          </p:cNvPr>
          <p:cNvSpPr txBox="1"/>
          <p:nvPr/>
        </p:nvSpPr>
        <p:spPr>
          <a:xfrm>
            <a:off x="494602" y="786432"/>
            <a:ext cx="1599670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5. Nuevas priorizaciones de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objetivos de gobierno y gestión</a:t>
            </a:r>
            <a:r>
              <a:rPr lang="es-PE" sz="1600" spc="-10" dirty="0">
                <a:solidFill>
                  <a:srgbClr val="262626"/>
                </a:solidFill>
              </a:rPr>
              <a:t> de COBIT 2019 para su implementación</a:t>
            </a:r>
          </a:p>
        </p:txBody>
      </p:sp>
    </p:spTree>
    <p:extLst>
      <p:ext uri="{BB962C8B-B14F-4D97-AF65-F5344CB8AC3E}">
        <p14:creationId xmlns:p14="http://schemas.microsoft.com/office/powerpoint/2010/main" val="2013773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5C4813F-75D5-4700-8385-76D3FC9FC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273" y="786433"/>
            <a:ext cx="6699326" cy="4422602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DOMINIOS DE GOBIERNO Y DE GESTIÓN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0AC36D4-1776-4469-BD98-4CB1B15ED6B8}"/>
              </a:ext>
            </a:extLst>
          </p:cNvPr>
          <p:cNvSpPr txBox="1"/>
          <p:nvPr/>
        </p:nvSpPr>
        <p:spPr>
          <a:xfrm>
            <a:off x="494602" y="786432"/>
            <a:ext cx="159967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6. Nuevas implementaciones de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objetivos de gobierno y gestión</a:t>
            </a:r>
            <a:r>
              <a:rPr lang="es-PE" sz="1600" spc="-10" dirty="0">
                <a:solidFill>
                  <a:srgbClr val="262626"/>
                </a:solidFill>
              </a:rPr>
              <a:t> de COBIT 2019</a:t>
            </a:r>
          </a:p>
        </p:txBody>
      </p:sp>
    </p:spTree>
    <p:extLst>
      <p:ext uri="{BB962C8B-B14F-4D97-AF65-F5344CB8AC3E}">
        <p14:creationId xmlns:p14="http://schemas.microsoft.com/office/powerpoint/2010/main" val="1798343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CC023873-F2F9-46CB-90F6-DE3B6C02C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272" y="786433"/>
            <a:ext cx="6699326" cy="4412134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DOMINIOS DE GOBIERNO Y DE GESTIÓN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EEEA2C2-8073-47C7-A70D-AF904871EB6C}"/>
              </a:ext>
            </a:extLst>
          </p:cNvPr>
          <p:cNvSpPr txBox="1"/>
          <p:nvPr/>
        </p:nvSpPr>
        <p:spPr>
          <a:xfrm>
            <a:off x="494602" y="786432"/>
            <a:ext cx="159967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7. Nuevos o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bjetivos de gobierno y gestión</a:t>
            </a:r>
            <a:r>
              <a:rPr lang="es-PE" sz="1600" spc="-10" dirty="0">
                <a:solidFill>
                  <a:srgbClr val="262626"/>
                </a:solidFill>
              </a:rPr>
              <a:t> de COBIT 2019 implementados en su nivel más alto</a:t>
            </a:r>
          </a:p>
        </p:txBody>
      </p:sp>
    </p:spTree>
    <p:extLst>
      <p:ext uri="{BB962C8B-B14F-4D97-AF65-F5344CB8AC3E}">
        <p14:creationId xmlns:p14="http://schemas.microsoft.com/office/powerpoint/2010/main" val="2401588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4AE5F57-5E18-49B3-A7B4-F7CA3EC0A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272" y="786433"/>
            <a:ext cx="6701843" cy="4412134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DOMINIOS DE GOBIERNO Y DE GESTIÓN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002D50A-4384-43F5-957B-FABB7A7A5D32}"/>
              </a:ext>
            </a:extLst>
          </p:cNvPr>
          <p:cNvSpPr txBox="1"/>
          <p:nvPr/>
        </p:nvSpPr>
        <p:spPr>
          <a:xfrm>
            <a:off x="494602" y="786432"/>
            <a:ext cx="159967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8. O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bjetivos de gobierno y gestión</a:t>
            </a:r>
            <a:r>
              <a:rPr lang="es-PE" sz="1600" spc="-10" dirty="0">
                <a:solidFill>
                  <a:srgbClr val="262626"/>
                </a:solidFill>
              </a:rPr>
              <a:t> de COBIT 2019 restantes en proceso de inicio e implementación</a:t>
            </a:r>
          </a:p>
        </p:txBody>
      </p:sp>
    </p:spTree>
    <p:extLst>
      <p:ext uri="{BB962C8B-B14F-4D97-AF65-F5344CB8AC3E}">
        <p14:creationId xmlns:p14="http://schemas.microsoft.com/office/powerpoint/2010/main" val="4144004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D21E311C-A82E-40EF-BFF5-E3E2923FD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271" y="786433"/>
            <a:ext cx="6701843" cy="4394651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DOMINIOS DE GOBIERNO Y DE GESTIÓN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0509D04-FFFC-4884-A6FA-72DF0B08CE1A}"/>
              </a:ext>
            </a:extLst>
          </p:cNvPr>
          <p:cNvSpPr txBox="1"/>
          <p:nvPr/>
        </p:nvSpPr>
        <p:spPr>
          <a:xfrm>
            <a:off x="494602" y="786432"/>
            <a:ext cx="159967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9. Se logra la meta de implementación de los o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bjetivos de gobierno y gestión</a:t>
            </a:r>
            <a:r>
              <a:rPr lang="es-PE" sz="1600" spc="-10" dirty="0">
                <a:solidFill>
                  <a:srgbClr val="262626"/>
                </a:solidFill>
              </a:rPr>
              <a:t> de COBIT 2019 en su nivel más alto</a:t>
            </a:r>
          </a:p>
        </p:txBody>
      </p:sp>
    </p:spTree>
    <p:extLst>
      <p:ext uri="{BB962C8B-B14F-4D97-AF65-F5344CB8AC3E}">
        <p14:creationId xmlns:p14="http://schemas.microsoft.com/office/powerpoint/2010/main" val="134145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PROPÓSITO DE LOS 40 OBJETIVOS DE GOBIERNO Y DE GESTIÓN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162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PROPÓSITO DE LOS 40 OBJETIVOS DE GOBIERNO Y DE GESTIÓN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DEFINICIÓN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38222" y="1147443"/>
            <a:ext cx="8067062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spcAft>
                <a:spcPts val="1800"/>
              </a:spcAft>
              <a:buSzPct val="100000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En la siguiente matriz enumeraremos todos los objetivos de gobierno y gestión, cada uno de ellos con su declaración de propósito. La declaración de propósito es una elaboración más detallada de cada objetivo de gobierno y gestión.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CEAD6CE-AA74-48CD-9536-4646DD3CD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32" y="2050157"/>
            <a:ext cx="7770841" cy="304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58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PROPÓSITO DE LOS 40 OBJETIVOS DE GOBIERNO Y DE GESTIÓN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0B4594-CDC1-49D8-A8AD-AB4319BD3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79" y="1216850"/>
            <a:ext cx="7760626" cy="380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328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PROPÓSITO DE LOS 40 OBJETIVOS DE GOBIERNO Y DE GESTIÓN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64718861-2750-468A-A7F8-B0EA52601879}"/>
              </a:ext>
            </a:extLst>
          </p:cNvPr>
          <p:cNvGrpSpPr/>
          <p:nvPr/>
        </p:nvGrpSpPr>
        <p:grpSpPr>
          <a:xfrm>
            <a:off x="640882" y="1186558"/>
            <a:ext cx="7760626" cy="3990845"/>
            <a:chOff x="640882" y="1297171"/>
            <a:chExt cx="7760626" cy="3990845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4C21A21D-BB14-4F2E-9334-EEAA7F4E8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882" y="1297171"/>
              <a:ext cx="7760626" cy="1280477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04CA3544-EE0B-43EB-92D6-7B90CB9BF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882" y="2540433"/>
              <a:ext cx="7760626" cy="27475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0653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9A771B4A-FA84-4378-A377-795840A4F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82" y="1163052"/>
            <a:ext cx="7760626" cy="3986587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PROPÓSITO DE LOS 40 OBJETIVOS DE GOBIERNO Y DE GESTIÓN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</p:spTree>
    <p:extLst>
      <p:ext uri="{BB962C8B-B14F-4D97-AF65-F5344CB8AC3E}">
        <p14:creationId xmlns:p14="http://schemas.microsoft.com/office/powerpoint/2010/main" val="869597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PROPÓSITO DE LOS 40 OBJETIVOS DE GOBIERNO Y DE GESTIÓN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B486606B-836A-4E41-BEEA-EDFA1AE9F961}"/>
              </a:ext>
            </a:extLst>
          </p:cNvPr>
          <p:cNvGrpSpPr/>
          <p:nvPr/>
        </p:nvGrpSpPr>
        <p:grpSpPr>
          <a:xfrm>
            <a:off x="640882" y="1163052"/>
            <a:ext cx="7760626" cy="3755204"/>
            <a:chOff x="640882" y="1163052"/>
            <a:chExt cx="7760626" cy="3755204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7B16ACC9-9255-464A-8C80-107A9F8AA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882" y="1163052"/>
              <a:ext cx="7760626" cy="2847983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BBBE609C-FA52-45FA-97C0-0A9F409C9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882" y="4011035"/>
              <a:ext cx="7760626" cy="9072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2265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07E258D1-E0AB-4D30-A85F-D4D9DA150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82" y="1120555"/>
            <a:ext cx="7760626" cy="4118942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PROPÓSITO DE LOS 40 OBJETIVOS DE GOBIERNO Y DE GESTIÓN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</p:spTree>
    <p:extLst>
      <p:ext uri="{BB962C8B-B14F-4D97-AF65-F5344CB8AC3E}">
        <p14:creationId xmlns:p14="http://schemas.microsoft.com/office/powerpoint/2010/main" val="3377327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PROPÓSITO DE LOS 40 OBJETIVOS DE GOBIERNO Y DE GESTIÓN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BB78C2F-80B8-4CC8-972E-C3A5398AC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82" y="1204869"/>
            <a:ext cx="7760626" cy="330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979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GUÍA DETALLADA DE LOS OBJETIVOS DE GOBIERNO Y GESTIÓN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1249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GUÍA DETALLADA DE LOS OBJETIVOS DE GOBIERNO Y GESTIÓN  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38222" y="982337"/>
            <a:ext cx="4594218" cy="14619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El libro “Procesos habilitadores” de la versión de COBIT 5 se convierte en “Objetivos de gobierno y gestión” en COBIT 2019.</a:t>
            </a:r>
          </a:p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En este documento encontraremos de manera detallada los 40 objetivos de gobierno y control</a:t>
            </a:r>
            <a:r>
              <a:rPr lang="es-ES" sz="1600" spc="-10" dirty="0" smtClean="0">
                <a:solidFill>
                  <a:srgbClr val="262626"/>
                </a:solidFill>
              </a:rPr>
              <a:t>.</a:t>
            </a:r>
            <a:endParaRPr lang="es-ES" sz="1600" spc="-10" dirty="0">
              <a:solidFill>
                <a:srgbClr val="262626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88BEC3F-52B4-44F2-8ADE-104F789CE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265" y="1088449"/>
            <a:ext cx="3082507" cy="399224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57490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5"/>
          <p:cNvSpPr/>
          <p:nvPr/>
        </p:nvSpPr>
        <p:spPr>
          <a:xfrm>
            <a:off x="51115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</a:rPr>
              <a:t>/ CONCLUSIONES</a:t>
            </a:r>
          </a:p>
        </p:txBody>
      </p:sp>
      <p:sp>
        <p:nvSpPr>
          <p:cNvPr id="8" name="Rectángulo 10">
            <a:extLst>
              <a:ext uri="{FF2B5EF4-FFF2-40B4-BE49-F238E27FC236}">
                <a16:creationId xmlns:a16="http://schemas.microsoft.com/office/drawing/2014/main" id="{2CE728F1-CA35-4741-A316-6A8802F5D948}"/>
              </a:ext>
            </a:extLst>
          </p:cNvPr>
          <p:cNvSpPr/>
          <p:nvPr/>
        </p:nvSpPr>
        <p:spPr>
          <a:xfrm>
            <a:off x="2304789" y="856697"/>
            <a:ext cx="6370899" cy="43704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0975" indent="-180975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dirty="0">
                <a:solidFill>
                  <a:srgbClr val="FFFFFF"/>
                </a:solidFill>
                <a:latin typeface="+mj-lt"/>
              </a:rPr>
              <a:t>Para que la información y la tecnología contribuyan a los objetivos de la empresa, deben alcanzarse una serie de objetivos de gobierno y gestión que siempre estará 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relacionada </a:t>
            </a:r>
            <a:r>
              <a:rPr lang="es-ES" sz="1600" dirty="0">
                <a:solidFill>
                  <a:srgbClr val="FFFFFF"/>
                </a:solidFill>
                <a:latin typeface="+mj-lt"/>
              </a:rPr>
              <a:t>con un proceso, y una serie de componentes para contribuir a lograr el objetivo. </a:t>
            </a:r>
          </a:p>
          <a:p>
            <a:pPr marL="180975" indent="-180975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dirty="0">
                <a:solidFill>
                  <a:srgbClr val="FFFFFF"/>
                </a:solidFill>
                <a:latin typeface="+mj-lt"/>
              </a:rPr>
              <a:t>El modelo </a:t>
            </a:r>
            <a:r>
              <a:rPr lang="es-ES" sz="1600" i="1" dirty="0">
                <a:solidFill>
                  <a:srgbClr val="FFFFFF"/>
                </a:solidFill>
                <a:latin typeface="+mj-lt"/>
              </a:rPr>
              <a:t>core</a:t>
            </a:r>
            <a:r>
              <a:rPr lang="es-ES" sz="1600" dirty="0">
                <a:solidFill>
                  <a:srgbClr val="FFFFFF"/>
                </a:solidFill>
                <a:latin typeface="+mj-lt"/>
              </a:rPr>
              <a:t> de COBIT 2019 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incluye </a:t>
            </a:r>
            <a:r>
              <a:rPr lang="es-ES" sz="1600" dirty="0">
                <a:solidFill>
                  <a:srgbClr val="FFFFFF"/>
                </a:solidFill>
                <a:latin typeface="+mj-lt"/>
              </a:rPr>
              <a:t>40 objetivos de gobierno y gestión cada uno de ellos con su declaración de propósito.</a:t>
            </a:r>
          </a:p>
          <a:p>
            <a:pPr marL="180975" indent="-180975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dirty="0">
                <a:solidFill>
                  <a:srgbClr val="FFFFFF"/>
                </a:solidFill>
                <a:latin typeface="+mj-lt"/>
              </a:rPr>
              <a:t>Los objetivos de gobierno y gestión de COBIT se agrupan en cinco dominios; los dominios se nombran mediante verbos que expresan el propósito clave y las áreas de actividad de los objetivos que los 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contienen (EDM</a:t>
            </a:r>
            <a:r>
              <a:rPr lang="es-ES" sz="1600" dirty="0">
                <a:solidFill>
                  <a:srgbClr val="FFFFFF"/>
                </a:solidFill>
                <a:latin typeface="+mj-lt"/>
              </a:rPr>
              <a:t>, APO, BAI, DSS y 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MEA).</a:t>
            </a:r>
            <a:endParaRPr lang="es-ES" sz="1600" dirty="0">
              <a:solidFill>
                <a:srgbClr val="FFFFFF"/>
              </a:solidFill>
              <a:latin typeface="+mj-lt"/>
            </a:endParaRPr>
          </a:p>
          <a:p>
            <a:pPr marL="180975" indent="-180975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dirty="0">
                <a:solidFill>
                  <a:srgbClr val="FFFFFF"/>
                </a:solidFill>
                <a:latin typeface="+mj-lt"/>
              </a:rPr>
              <a:t>El propósito de los 40 objetivos de gobierno y de gestión de COBIT 2019 es la generación de valor de la I&amp;T al negocio.</a:t>
            </a:r>
          </a:p>
          <a:p>
            <a:pPr marL="180975" indent="-180975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dirty="0">
                <a:solidFill>
                  <a:srgbClr val="FFFFFF"/>
                </a:solidFill>
                <a:latin typeface="+mj-lt"/>
              </a:rPr>
              <a:t>El libro “Objetivos de gobierno y gestión” en COBIT 2019 muestra de forma detallada los 40 objetivos de gobierno y control.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1376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5"/>
          <p:cNvSpPr txBox="1">
            <a:spLocks/>
          </p:cNvSpPr>
          <p:nvPr/>
        </p:nvSpPr>
        <p:spPr>
          <a:xfrm>
            <a:off x="515764" y="965680"/>
            <a:ext cx="7979082" cy="144945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ISACA. (2018). “COBIT 2019: Introducción y Metodología”. </a:t>
            </a:r>
            <a:r>
              <a:rPr lang="en-U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1ra. </a:t>
            </a:r>
            <a:r>
              <a:rPr lang="es-E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Edición. ISACA® </a:t>
            </a:r>
            <a:endParaRPr lang="es-PE" sz="14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l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ISACA. (2018). “COBIT 2019: Objetivos de Gobierno y de Gestión”. 1ra. </a:t>
            </a:r>
            <a:r>
              <a:rPr lang="es-E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Edición. ISACA® </a:t>
            </a:r>
            <a:endParaRPr lang="es-PE" sz="14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l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ISACA. (2018). “COBIT 2019: Diseño de una solución de Gobierno de Información y Tecnología”. 1ra. </a:t>
            </a:r>
            <a:r>
              <a:rPr lang="es-E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Edición. ISACA® </a:t>
            </a:r>
            <a:endParaRPr lang="es-PE" sz="14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l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ISACA. (2018). “COBIT 2019: Implementación y optimización de una solución de gobierno de información y tecnología”. 1ra. </a:t>
            </a:r>
            <a:r>
              <a:rPr lang="es-E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Edición. ISACA® </a:t>
            </a:r>
            <a:endParaRPr lang="es-PE" sz="14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Rectangle 5"/>
          <p:cNvSpPr/>
          <p:nvPr/>
        </p:nvSpPr>
        <p:spPr>
          <a:xfrm>
            <a:off x="51115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rgbClr val="438AD7"/>
                </a:solidFill>
              </a:rPr>
              <a:t>/ BIBLIOGRAFÍA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629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9709</TotalTime>
  <Words>1498</Words>
  <Application>Microsoft Office PowerPoint</Application>
  <PresentationFormat>Presentación en pantalla (16:10)</PresentationFormat>
  <Paragraphs>157</Paragraphs>
  <Slides>33</Slides>
  <Notes>32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41" baseType="lpstr">
      <vt:lpstr>Arial</vt:lpstr>
      <vt:lpstr>Calibri</vt:lpstr>
      <vt:lpstr>Courier New</vt:lpstr>
      <vt:lpstr>Source Sans Pro</vt:lpstr>
      <vt:lpstr>Times New Roman</vt:lpstr>
      <vt:lpstr>Verdana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Arturo Enrique Reátegui Herrera</cp:lastModifiedBy>
  <cp:revision>603</cp:revision>
  <cp:lastPrinted>2018-01-16T21:42:59Z</cp:lastPrinted>
  <dcterms:created xsi:type="dcterms:W3CDTF">2016-10-06T14:52:02Z</dcterms:created>
  <dcterms:modified xsi:type="dcterms:W3CDTF">2022-05-11T20:38:43Z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