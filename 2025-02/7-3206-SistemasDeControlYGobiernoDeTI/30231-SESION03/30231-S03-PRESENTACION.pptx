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9.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0.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1.xml" ContentType="application/vnd.openxmlformats-officedocument.presentationml.tags+xml"/>
  <Override PartName="/ppt/notesSlides/notesSlide4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handoutMasterIdLst>
    <p:handoutMasterId r:id="rId51"/>
  </p:handoutMasterIdLst>
  <p:sldIdLst>
    <p:sldId id="326" r:id="rId2"/>
    <p:sldId id="337" r:id="rId3"/>
    <p:sldId id="427" r:id="rId4"/>
    <p:sldId id="428" r:id="rId5"/>
    <p:sldId id="637" r:id="rId6"/>
    <p:sldId id="638" r:id="rId7"/>
    <p:sldId id="640" r:id="rId8"/>
    <p:sldId id="641" r:id="rId9"/>
    <p:sldId id="642" r:id="rId10"/>
    <p:sldId id="644" r:id="rId11"/>
    <p:sldId id="643" r:id="rId12"/>
    <p:sldId id="646" r:id="rId13"/>
    <p:sldId id="657" r:id="rId14"/>
    <p:sldId id="656" r:id="rId15"/>
    <p:sldId id="658" r:id="rId16"/>
    <p:sldId id="659" r:id="rId17"/>
    <p:sldId id="660" r:id="rId18"/>
    <p:sldId id="661" r:id="rId19"/>
    <p:sldId id="647" r:id="rId20"/>
    <p:sldId id="648" r:id="rId21"/>
    <p:sldId id="649" r:id="rId22"/>
    <p:sldId id="645" r:id="rId23"/>
    <p:sldId id="630" r:id="rId24"/>
    <p:sldId id="650" r:id="rId25"/>
    <p:sldId id="651" r:id="rId26"/>
    <p:sldId id="652" r:id="rId27"/>
    <p:sldId id="653" r:id="rId28"/>
    <p:sldId id="654" r:id="rId29"/>
    <p:sldId id="664" r:id="rId30"/>
    <p:sldId id="662" r:id="rId31"/>
    <p:sldId id="665" r:id="rId32"/>
    <p:sldId id="663" r:id="rId33"/>
    <p:sldId id="666" r:id="rId34"/>
    <p:sldId id="667" r:id="rId35"/>
    <p:sldId id="668" r:id="rId36"/>
    <p:sldId id="669" r:id="rId37"/>
    <p:sldId id="670" r:id="rId38"/>
    <p:sldId id="655" r:id="rId39"/>
    <p:sldId id="671" r:id="rId40"/>
    <p:sldId id="672" r:id="rId41"/>
    <p:sldId id="673" r:id="rId42"/>
    <p:sldId id="674" r:id="rId43"/>
    <p:sldId id="675" r:id="rId44"/>
    <p:sldId id="676" r:id="rId45"/>
    <p:sldId id="677" r:id="rId46"/>
    <p:sldId id="605" r:id="rId47"/>
    <p:sldId id="606" r:id="rId48"/>
    <p:sldId id="678" r:id="rId49"/>
  </p:sldIdLst>
  <p:sldSz cx="9144000" cy="5715000" type="screen16x10"/>
  <p:notesSz cx="6797675" cy="9926638"/>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76B7D"/>
    <a:srgbClr val="48C2BB"/>
    <a:srgbClr val="1F85A6"/>
    <a:srgbClr val="F1FDC3"/>
    <a:srgbClr val="9CC606"/>
    <a:srgbClr val="E2F6F1"/>
    <a:srgbClr val="F2F2F2"/>
    <a:srgbClr val="558E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93" autoAdjust="0"/>
    <p:restoredTop sz="96374" autoAdjust="0"/>
  </p:normalViewPr>
  <p:slideViewPr>
    <p:cSldViewPr snapToGrid="0" snapToObjects="1" showGuides="1">
      <p:cViewPr varScale="1">
        <p:scale>
          <a:sx n="105" d="100"/>
          <a:sy n="105" d="100"/>
        </p:scale>
        <p:origin x="1075" y="6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DE2F9A-67F0-416A-B768-97BC0B11921C}" type="doc">
      <dgm:prSet loTypeId="urn:microsoft.com/office/officeart/2005/8/layout/orgChart1" loCatId="hierarchy" qsTypeId="urn:microsoft.com/office/officeart/2005/8/quickstyle/simple1" qsCatId="simple" csTypeId="urn:microsoft.com/office/officeart/2005/8/colors/accent0_3" csCatId="mainScheme" phldr="1"/>
      <dgm:spPr/>
      <dgm:t>
        <a:bodyPr/>
        <a:lstStyle/>
        <a:p>
          <a:endParaRPr lang="es-ES"/>
        </a:p>
      </dgm:t>
    </dgm:pt>
    <dgm:pt modelId="{17DDC7BD-4145-4876-981B-49C08AED3407}">
      <dgm:prSet phldrT="[Texto]" custT="1"/>
      <dgm:spPr>
        <a:solidFill>
          <a:schemeClr val="accent3">
            <a:lumMod val="40000"/>
            <a:lumOff val="60000"/>
          </a:schemeClr>
        </a:solidFill>
        <a:ln w="12700">
          <a:solidFill>
            <a:schemeClr val="tx1"/>
          </a:solidFill>
        </a:ln>
      </dgm:spPr>
      <dgm:t>
        <a:bodyPr/>
        <a:lstStyle/>
        <a:p>
          <a:r>
            <a:rPr lang="es-ES" sz="1600" dirty="0">
              <a:solidFill>
                <a:schemeClr val="tx1"/>
              </a:solidFill>
            </a:rPr>
            <a:t>Gobierno </a:t>
          </a:r>
          <a:r>
            <a:rPr lang="es-ES" sz="1600" dirty="0" smtClean="0">
              <a:solidFill>
                <a:schemeClr val="tx1"/>
              </a:solidFill>
            </a:rPr>
            <a:t>empresarial</a:t>
          </a:r>
          <a:endParaRPr lang="es-ES" sz="1600" dirty="0">
            <a:solidFill>
              <a:schemeClr val="tx1"/>
            </a:solidFill>
          </a:endParaRPr>
        </a:p>
      </dgm:t>
    </dgm:pt>
    <dgm:pt modelId="{3EAA1882-8C12-497F-A37B-C777D39FFA8F}" type="parTrans" cxnId="{08C88ABB-602B-40F5-AAB9-C91AEF353FC5}">
      <dgm:prSet/>
      <dgm:spPr/>
      <dgm:t>
        <a:bodyPr/>
        <a:lstStyle/>
        <a:p>
          <a:endParaRPr lang="es-ES" sz="1200"/>
        </a:p>
      </dgm:t>
    </dgm:pt>
    <dgm:pt modelId="{2FCCB0D5-58B8-44D4-B795-5DE1AD88AB4D}" type="sibTrans" cxnId="{08C88ABB-602B-40F5-AAB9-C91AEF353FC5}">
      <dgm:prSet/>
      <dgm:spPr/>
      <dgm:t>
        <a:bodyPr/>
        <a:lstStyle/>
        <a:p>
          <a:endParaRPr lang="es-ES" sz="1200"/>
        </a:p>
      </dgm:t>
    </dgm:pt>
    <dgm:pt modelId="{5B5D55A4-5B1F-4036-B25A-72370BD0568C}">
      <dgm:prSet phldrT="[Texto]" custT="1"/>
      <dgm:spPr>
        <a:solidFill>
          <a:srgbClr val="F79646">
            <a:lumMod val="60000"/>
            <a:lumOff val="40000"/>
          </a:srgbClr>
        </a:solidFill>
        <a:ln w="12700" cap="flat" cmpd="sng" algn="ctr">
          <a:solidFill>
            <a:schemeClr val="tx1"/>
          </a:solidFill>
          <a:prstDash val="solid"/>
        </a:ln>
        <a:effectLst/>
      </dgm:spPr>
      <dgm:t>
        <a:bodyPr spcFirstLastPara="0" vert="horz" wrap="square" lIns="8890" tIns="8890" rIns="8890" bIns="8890" numCol="1" spcCol="1270" anchor="ctr" anchorCtr="0"/>
        <a:lstStyle/>
        <a:p>
          <a:pPr marL="0" lvl="0" indent="0" algn="ctr" defTabSz="622300">
            <a:lnSpc>
              <a:spcPct val="90000"/>
            </a:lnSpc>
            <a:spcBef>
              <a:spcPct val="0"/>
            </a:spcBef>
            <a:spcAft>
              <a:spcPct val="35000"/>
            </a:spcAft>
            <a:buNone/>
          </a:pPr>
          <a:r>
            <a:rPr lang="es-ES" sz="1400" kern="1200" dirty="0">
              <a:solidFill>
                <a:prstClr val="black"/>
              </a:solidFill>
              <a:latin typeface="Calibri"/>
              <a:ea typeface="+mn-ea"/>
              <a:cs typeface="+mn-cs"/>
            </a:rPr>
            <a:t>Gobierno </a:t>
          </a:r>
          <a:r>
            <a:rPr lang="es-ES" sz="1400" kern="1200" dirty="0" smtClean="0">
              <a:solidFill>
                <a:prstClr val="black"/>
              </a:solidFill>
              <a:latin typeface="Calibri"/>
              <a:ea typeface="+mn-ea"/>
              <a:cs typeface="+mn-cs"/>
            </a:rPr>
            <a:t>corporativo </a:t>
          </a:r>
          <a:r>
            <a:rPr lang="es-ES" sz="1400" kern="1200" dirty="0">
              <a:solidFill>
                <a:prstClr val="black"/>
              </a:solidFill>
              <a:latin typeface="Calibri"/>
              <a:ea typeface="+mn-ea"/>
              <a:cs typeface="+mn-cs"/>
            </a:rPr>
            <a:t>(Conformidad)</a:t>
          </a:r>
        </a:p>
      </dgm:t>
    </dgm:pt>
    <dgm:pt modelId="{C0CC4478-3917-4BB5-9E97-131189A3F609}" type="parTrans" cxnId="{9D2F62F9-8D35-4AA1-B2FE-9623AB792829}">
      <dgm:prSet/>
      <dgm:spPr>
        <a:ln>
          <a:solidFill>
            <a:srgbClr val="3390BB"/>
          </a:solidFill>
        </a:ln>
      </dgm:spPr>
      <dgm:t>
        <a:bodyPr/>
        <a:lstStyle/>
        <a:p>
          <a:endParaRPr lang="es-ES" sz="1200"/>
        </a:p>
      </dgm:t>
    </dgm:pt>
    <dgm:pt modelId="{A18B22BB-B970-4D1A-99D9-7C36E2B96E00}" type="sibTrans" cxnId="{9D2F62F9-8D35-4AA1-B2FE-9623AB792829}">
      <dgm:prSet/>
      <dgm:spPr/>
      <dgm:t>
        <a:bodyPr/>
        <a:lstStyle/>
        <a:p>
          <a:endParaRPr lang="es-ES" sz="1200"/>
        </a:p>
      </dgm:t>
    </dgm:pt>
    <dgm:pt modelId="{76E37097-4354-424C-ADDA-A3E011D7ADAD}">
      <dgm:prSet phldrT="[Texto]" custT="1"/>
      <dgm:spPr>
        <a:solidFill>
          <a:schemeClr val="accent6">
            <a:lumMod val="60000"/>
            <a:lumOff val="40000"/>
          </a:schemeClr>
        </a:solidFill>
        <a:ln w="12700">
          <a:solidFill>
            <a:schemeClr val="tx1"/>
          </a:solidFill>
        </a:ln>
      </dgm:spPr>
      <dgm:t>
        <a:bodyPr/>
        <a:lstStyle/>
        <a:p>
          <a:r>
            <a:rPr lang="es-ES" sz="1400" dirty="0">
              <a:solidFill>
                <a:schemeClr val="tx1"/>
              </a:solidFill>
            </a:rPr>
            <a:t>Gobierno de </a:t>
          </a:r>
          <a:r>
            <a:rPr lang="es-ES" sz="1400" dirty="0" smtClean="0">
              <a:solidFill>
                <a:schemeClr val="tx1"/>
              </a:solidFill>
            </a:rPr>
            <a:t>negocio </a:t>
          </a:r>
          <a:r>
            <a:rPr lang="es-ES" sz="1400" dirty="0">
              <a:solidFill>
                <a:schemeClr val="tx1"/>
              </a:solidFill>
            </a:rPr>
            <a:t>(Desempeño)</a:t>
          </a:r>
        </a:p>
      </dgm:t>
    </dgm:pt>
    <dgm:pt modelId="{B39CD050-8B79-4C63-A1FE-44048AFD553F}" type="parTrans" cxnId="{2BC30B8D-2978-496D-9040-37F34253E4EF}">
      <dgm:prSet/>
      <dgm:spPr>
        <a:ln>
          <a:solidFill>
            <a:srgbClr val="3390BB"/>
          </a:solidFill>
        </a:ln>
      </dgm:spPr>
      <dgm:t>
        <a:bodyPr/>
        <a:lstStyle/>
        <a:p>
          <a:endParaRPr lang="es-ES" sz="1200"/>
        </a:p>
      </dgm:t>
    </dgm:pt>
    <dgm:pt modelId="{78BE0819-B716-4772-814B-EF6150DEE572}" type="sibTrans" cxnId="{2BC30B8D-2978-496D-9040-37F34253E4EF}">
      <dgm:prSet/>
      <dgm:spPr/>
      <dgm:t>
        <a:bodyPr/>
        <a:lstStyle/>
        <a:p>
          <a:endParaRPr lang="es-ES" sz="1200"/>
        </a:p>
      </dgm:t>
    </dgm:pt>
    <dgm:pt modelId="{FB6FF1E9-3E7D-4B71-912F-30F412BA41BD}" type="pres">
      <dgm:prSet presAssocID="{71DE2F9A-67F0-416A-B768-97BC0B11921C}" presName="hierChild1" presStyleCnt="0">
        <dgm:presLayoutVars>
          <dgm:orgChart val="1"/>
          <dgm:chPref val="1"/>
          <dgm:dir/>
          <dgm:animOne val="branch"/>
          <dgm:animLvl val="lvl"/>
          <dgm:resizeHandles/>
        </dgm:presLayoutVars>
      </dgm:prSet>
      <dgm:spPr/>
      <dgm:t>
        <a:bodyPr/>
        <a:lstStyle/>
        <a:p>
          <a:endParaRPr lang="es-ES"/>
        </a:p>
      </dgm:t>
    </dgm:pt>
    <dgm:pt modelId="{4AFD06FA-F978-44EC-B115-28E6D0D551EC}" type="pres">
      <dgm:prSet presAssocID="{17DDC7BD-4145-4876-981B-49C08AED3407}" presName="hierRoot1" presStyleCnt="0">
        <dgm:presLayoutVars>
          <dgm:hierBranch val="init"/>
        </dgm:presLayoutVars>
      </dgm:prSet>
      <dgm:spPr/>
    </dgm:pt>
    <dgm:pt modelId="{88CD1B2B-2D1D-4B38-90F5-0B49360FD02C}" type="pres">
      <dgm:prSet presAssocID="{17DDC7BD-4145-4876-981B-49C08AED3407}" presName="rootComposite1" presStyleCnt="0"/>
      <dgm:spPr/>
    </dgm:pt>
    <dgm:pt modelId="{1D04163A-9C8F-45AC-8D2A-01D16E78C7F2}" type="pres">
      <dgm:prSet presAssocID="{17DDC7BD-4145-4876-981B-49C08AED3407}" presName="rootText1" presStyleLbl="node0" presStyleIdx="0" presStyleCnt="1">
        <dgm:presLayoutVars>
          <dgm:chPref val="3"/>
        </dgm:presLayoutVars>
      </dgm:prSet>
      <dgm:spPr/>
      <dgm:t>
        <a:bodyPr/>
        <a:lstStyle/>
        <a:p>
          <a:endParaRPr lang="es-ES"/>
        </a:p>
      </dgm:t>
    </dgm:pt>
    <dgm:pt modelId="{DD55C8A3-802B-44D3-BA21-373981CE8A92}" type="pres">
      <dgm:prSet presAssocID="{17DDC7BD-4145-4876-981B-49C08AED3407}" presName="rootConnector1" presStyleLbl="node1" presStyleIdx="0" presStyleCnt="0"/>
      <dgm:spPr/>
      <dgm:t>
        <a:bodyPr/>
        <a:lstStyle/>
        <a:p>
          <a:endParaRPr lang="es-ES"/>
        </a:p>
      </dgm:t>
    </dgm:pt>
    <dgm:pt modelId="{A21CCE3E-BB8D-4FCE-9A89-A3739721B646}" type="pres">
      <dgm:prSet presAssocID="{17DDC7BD-4145-4876-981B-49C08AED3407}" presName="hierChild2" presStyleCnt="0"/>
      <dgm:spPr/>
    </dgm:pt>
    <dgm:pt modelId="{7A44697D-9A75-454B-B96E-BCC61B3D5397}" type="pres">
      <dgm:prSet presAssocID="{C0CC4478-3917-4BB5-9E97-131189A3F609}" presName="Name37" presStyleLbl="parChTrans1D2" presStyleIdx="0" presStyleCnt="2"/>
      <dgm:spPr/>
      <dgm:t>
        <a:bodyPr/>
        <a:lstStyle/>
        <a:p>
          <a:endParaRPr lang="es-ES"/>
        </a:p>
      </dgm:t>
    </dgm:pt>
    <dgm:pt modelId="{3DBBCA0C-1531-4B96-A5AB-45BA1A821A21}" type="pres">
      <dgm:prSet presAssocID="{5B5D55A4-5B1F-4036-B25A-72370BD0568C}" presName="hierRoot2" presStyleCnt="0">
        <dgm:presLayoutVars>
          <dgm:hierBranch val="init"/>
        </dgm:presLayoutVars>
      </dgm:prSet>
      <dgm:spPr/>
    </dgm:pt>
    <dgm:pt modelId="{64079869-3F95-49B8-A35C-CDAD55157F96}" type="pres">
      <dgm:prSet presAssocID="{5B5D55A4-5B1F-4036-B25A-72370BD0568C}" presName="rootComposite" presStyleCnt="0"/>
      <dgm:spPr/>
    </dgm:pt>
    <dgm:pt modelId="{07DE5CE9-30F4-4D72-8095-0497CCEBFD9E}" type="pres">
      <dgm:prSet presAssocID="{5B5D55A4-5B1F-4036-B25A-72370BD0568C}" presName="rootText" presStyleLbl="node2" presStyleIdx="0" presStyleCnt="2">
        <dgm:presLayoutVars>
          <dgm:chPref val="3"/>
        </dgm:presLayoutVars>
      </dgm:prSet>
      <dgm:spPr>
        <a:xfrm>
          <a:off x="795" y="1416869"/>
          <a:ext cx="1492658" cy="746329"/>
        </a:xfrm>
        <a:prstGeom prst="rect">
          <a:avLst/>
        </a:prstGeom>
      </dgm:spPr>
      <dgm:t>
        <a:bodyPr/>
        <a:lstStyle/>
        <a:p>
          <a:endParaRPr lang="es-ES"/>
        </a:p>
      </dgm:t>
    </dgm:pt>
    <dgm:pt modelId="{D473B0E7-23B0-46F6-B895-E75441BC813F}" type="pres">
      <dgm:prSet presAssocID="{5B5D55A4-5B1F-4036-B25A-72370BD0568C}" presName="rootConnector" presStyleLbl="node2" presStyleIdx="0" presStyleCnt="2"/>
      <dgm:spPr/>
      <dgm:t>
        <a:bodyPr/>
        <a:lstStyle/>
        <a:p>
          <a:endParaRPr lang="es-ES"/>
        </a:p>
      </dgm:t>
    </dgm:pt>
    <dgm:pt modelId="{F557A039-8649-4F98-A769-6E90B91F9AF6}" type="pres">
      <dgm:prSet presAssocID="{5B5D55A4-5B1F-4036-B25A-72370BD0568C}" presName="hierChild4" presStyleCnt="0"/>
      <dgm:spPr/>
    </dgm:pt>
    <dgm:pt modelId="{B17F6B34-FC72-434A-95E7-2CB6B03E0BCF}" type="pres">
      <dgm:prSet presAssocID="{5B5D55A4-5B1F-4036-B25A-72370BD0568C}" presName="hierChild5" presStyleCnt="0"/>
      <dgm:spPr/>
    </dgm:pt>
    <dgm:pt modelId="{490B8A0E-3886-4EDD-B0A7-6DC1633DA8D8}" type="pres">
      <dgm:prSet presAssocID="{B39CD050-8B79-4C63-A1FE-44048AFD553F}" presName="Name37" presStyleLbl="parChTrans1D2" presStyleIdx="1" presStyleCnt="2"/>
      <dgm:spPr/>
      <dgm:t>
        <a:bodyPr/>
        <a:lstStyle/>
        <a:p>
          <a:endParaRPr lang="es-ES"/>
        </a:p>
      </dgm:t>
    </dgm:pt>
    <dgm:pt modelId="{E01E9FC7-343B-47D1-A3F9-A3CA2ED8D250}" type="pres">
      <dgm:prSet presAssocID="{76E37097-4354-424C-ADDA-A3E011D7ADAD}" presName="hierRoot2" presStyleCnt="0">
        <dgm:presLayoutVars>
          <dgm:hierBranch val="init"/>
        </dgm:presLayoutVars>
      </dgm:prSet>
      <dgm:spPr/>
    </dgm:pt>
    <dgm:pt modelId="{6CE07127-498F-45E0-A078-15AED6D52982}" type="pres">
      <dgm:prSet presAssocID="{76E37097-4354-424C-ADDA-A3E011D7ADAD}" presName="rootComposite" presStyleCnt="0"/>
      <dgm:spPr/>
    </dgm:pt>
    <dgm:pt modelId="{74F62B19-B7E1-424E-8FE0-3BA831D01424}" type="pres">
      <dgm:prSet presAssocID="{76E37097-4354-424C-ADDA-A3E011D7ADAD}" presName="rootText" presStyleLbl="node2" presStyleIdx="1" presStyleCnt="2">
        <dgm:presLayoutVars>
          <dgm:chPref val="3"/>
        </dgm:presLayoutVars>
      </dgm:prSet>
      <dgm:spPr/>
      <dgm:t>
        <a:bodyPr/>
        <a:lstStyle/>
        <a:p>
          <a:endParaRPr lang="es-ES"/>
        </a:p>
      </dgm:t>
    </dgm:pt>
    <dgm:pt modelId="{7F74C400-55FA-4840-B7F0-D630AAE5C36B}" type="pres">
      <dgm:prSet presAssocID="{76E37097-4354-424C-ADDA-A3E011D7ADAD}" presName="rootConnector" presStyleLbl="node2" presStyleIdx="1" presStyleCnt="2"/>
      <dgm:spPr/>
      <dgm:t>
        <a:bodyPr/>
        <a:lstStyle/>
        <a:p>
          <a:endParaRPr lang="es-ES"/>
        </a:p>
      </dgm:t>
    </dgm:pt>
    <dgm:pt modelId="{5F050C0F-E3FC-406B-B9DB-8F57B8E0452A}" type="pres">
      <dgm:prSet presAssocID="{76E37097-4354-424C-ADDA-A3E011D7ADAD}" presName="hierChild4" presStyleCnt="0"/>
      <dgm:spPr/>
    </dgm:pt>
    <dgm:pt modelId="{4496478D-671E-4A37-961F-929A7972B83C}" type="pres">
      <dgm:prSet presAssocID="{76E37097-4354-424C-ADDA-A3E011D7ADAD}" presName="hierChild5" presStyleCnt="0"/>
      <dgm:spPr/>
    </dgm:pt>
    <dgm:pt modelId="{7C7CDCD8-2BEF-458E-B63B-620775DF5870}" type="pres">
      <dgm:prSet presAssocID="{17DDC7BD-4145-4876-981B-49C08AED3407}" presName="hierChild3" presStyleCnt="0"/>
      <dgm:spPr/>
    </dgm:pt>
  </dgm:ptLst>
  <dgm:cxnLst>
    <dgm:cxn modelId="{08C88ABB-602B-40F5-AAB9-C91AEF353FC5}" srcId="{71DE2F9A-67F0-416A-B768-97BC0B11921C}" destId="{17DDC7BD-4145-4876-981B-49C08AED3407}" srcOrd="0" destOrd="0" parTransId="{3EAA1882-8C12-497F-A37B-C777D39FFA8F}" sibTransId="{2FCCB0D5-58B8-44D4-B795-5DE1AD88AB4D}"/>
    <dgm:cxn modelId="{1A659696-8390-4E4C-AAF7-FD8E620BF2F7}" type="presOf" srcId="{5B5D55A4-5B1F-4036-B25A-72370BD0568C}" destId="{07DE5CE9-30F4-4D72-8095-0497CCEBFD9E}" srcOrd="0" destOrd="0" presId="urn:microsoft.com/office/officeart/2005/8/layout/orgChart1"/>
    <dgm:cxn modelId="{F58747F3-01BA-4BF8-BCEF-5E41C036929F}" type="presOf" srcId="{5B5D55A4-5B1F-4036-B25A-72370BD0568C}" destId="{D473B0E7-23B0-46F6-B895-E75441BC813F}" srcOrd="1" destOrd="0" presId="urn:microsoft.com/office/officeart/2005/8/layout/orgChart1"/>
    <dgm:cxn modelId="{9D2F62F9-8D35-4AA1-B2FE-9623AB792829}" srcId="{17DDC7BD-4145-4876-981B-49C08AED3407}" destId="{5B5D55A4-5B1F-4036-B25A-72370BD0568C}" srcOrd="0" destOrd="0" parTransId="{C0CC4478-3917-4BB5-9E97-131189A3F609}" sibTransId="{A18B22BB-B970-4D1A-99D9-7C36E2B96E00}"/>
    <dgm:cxn modelId="{E7816860-93FF-4FDB-8F4C-3E7B5700B8B6}" type="presOf" srcId="{B39CD050-8B79-4C63-A1FE-44048AFD553F}" destId="{490B8A0E-3886-4EDD-B0A7-6DC1633DA8D8}" srcOrd="0" destOrd="0" presId="urn:microsoft.com/office/officeart/2005/8/layout/orgChart1"/>
    <dgm:cxn modelId="{E40CDB28-3C07-4EDD-B623-74B063359820}" type="presOf" srcId="{76E37097-4354-424C-ADDA-A3E011D7ADAD}" destId="{7F74C400-55FA-4840-B7F0-D630AAE5C36B}" srcOrd="1" destOrd="0" presId="urn:microsoft.com/office/officeart/2005/8/layout/orgChart1"/>
    <dgm:cxn modelId="{4DEBDB30-6B0A-487B-9352-4F48D0585F87}" type="presOf" srcId="{76E37097-4354-424C-ADDA-A3E011D7ADAD}" destId="{74F62B19-B7E1-424E-8FE0-3BA831D01424}" srcOrd="0" destOrd="0" presId="urn:microsoft.com/office/officeart/2005/8/layout/orgChart1"/>
    <dgm:cxn modelId="{0FD71467-BB54-4A3B-AA8A-E7451B41CD16}" type="presOf" srcId="{71DE2F9A-67F0-416A-B768-97BC0B11921C}" destId="{FB6FF1E9-3E7D-4B71-912F-30F412BA41BD}" srcOrd="0" destOrd="0" presId="urn:microsoft.com/office/officeart/2005/8/layout/orgChart1"/>
    <dgm:cxn modelId="{1E7ADC09-C54F-4AE3-9E48-87BE0DC62352}" type="presOf" srcId="{17DDC7BD-4145-4876-981B-49C08AED3407}" destId="{1D04163A-9C8F-45AC-8D2A-01D16E78C7F2}" srcOrd="0" destOrd="0" presId="urn:microsoft.com/office/officeart/2005/8/layout/orgChart1"/>
    <dgm:cxn modelId="{72A65DD0-793A-482A-BC46-597896B1BB25}" type="presOf" srcId="{C0CC4478-3917-4BB5-9E97-131189A3F609}" destId="{7A44697D-9A75-454B-B96E-BCC61B3D5397}" srcOrd="0" destOrd="0" presId="urn:microsoft.com/office/officeart/2005/8/layout/orgChart1"/>
    <dgm:cxn modelId="{271EB6A2-5A0A-4E65-A8D6-2671F59947F4}" type="presOf" srcId="{17DDC7BD-4145-4876-981B-49C08AED3407}" destId="{DD55C8A3-802B-44D3-BA21-373981CE8A92}" srcOrd="1" destOrd="0" presId="urn:microsoft.com/office/officeart/2005/8/layout/orgChart1"/>
    <dgm:cxn modelId="{2BC30B8D-2978-496D-9040-37F34253E4EF}" srcId="{17DDC7BD-4145-4876-981B-49C08AED3407}" destId="{76E37097-4354-424C-ADDA-A3E011D7ADAD}" srcOrd="1" destOrd="0" parTransId="{B39CD050-8B79-4C63-A1FE-44048AFD553F}" sibTransId="{78BE0819-B716-4772-814B-EF6150DEE572}"/>
    <dgm:cxn modelId="{55FA695A-87D1-48DD-B8B1-A581CDA46614}" type="presParOf" srcId="{FB6FF1E9-3E7D-4B71-912F-30F412BA41BD}" destId="{4AFD06FA-F978-44EC-B115-28E6D0D551EC}" srcOrd="0" destOrd="0" presId="urn:microsoft.com/office/officeart/2005/8/layout/orgChart1"/>
    <dgm:cxn modelId="{4E8F8EF6-F187-4D88-8789-BCC03E3324EC}" type="presParOf" srcId="{4AFD06FA-F978-44EC-B115-28E6D0D551EC}" destId="{88CD1B2B-2D1D-4B38-90F5-0B49360FD02C}" srcOrd="0" destOrd="0" presId="urn:microsoft.com/office/officeart/2005/8/layout/orgChart1"/>
    <dgm:cxn modelId="{9A7C7822-F5C8-45DD-BF3A-8DD61E50EF62}" type="presParOf" srcId="{88CD1B2B-2D1D-4B38-90F5-0B49360FD02C}" destId="{1D04163A-9C8F-45AC-8D2A-01D16E78C7F2}" srcOrd="0" destOrd="0" presId="urn:microsoft.com/office/officeart/2005/8/layout/orgChart1"/>
    <dgm:cxn modelId="{166C65BB-0500-4294-AAA8-2ED83E0B1F5D}" type="presParOf" srcId="{88CD1B2B-2D1D-4B38-90F5-0B49360FD02C}" destId="{DD55C8A3-802B-44D3-BA21-373981CE8A92}" srcOrd="1" destOrd="0" presId="urn:microsoft.com/office/officeart/2005/8/layout/orgChart1"/>
    <dgm:cxn modelId="{57818D1C-19AC-4A22-BB2A-051768F27062}" type="presParOf" srcId="{4AFD06FA-F978-44EC-B115-28E6D0D551EC}" destId="{A21CCE3E-BB8D-4FCE-9A89-A3739721B646}" srcOrd="1" destOrd="0" presId="urn:microsoft.com/office/officeart/2005/8/layout/orgChart1"/>
    <dgm:cxn modelId="{16C5FE47-D978-4314-9E9A-FEE0E2490931}" type="presParOf" srcId="{A21CCE3E-BB8D-4FCE-9A89-A3739721B646}" destId="{7A44697D-9A75-454B-B96E-BCC61B3D5397}" srcOrd="0" destOrd="0" presId="urn:microsoft.com/office/officeart/2005/8/layout/orgChart1"/>
    <dgm:cxn modelId="{C99B32CB-7915-45AA-BB62-0EA917BD6A0D}" type="presParOf" srcId="{A21CCE3E-BB8D-4FCE-9A89-A3739721B646}" destId="{3DBBCA0C-1531-4B96-A5AB-45BA1A821A21}" srcOrd="1" destOrd="0" presId="urn:microsoft.com/office/officeart/2005/8/layout/orgChart1"/>
    <dgm:cxn modelId="{2A1FEBE8-F520-4311-A381-FC954E9B648F}" type="presParOf" srcId="{3DBBCA0C-1531-4B96-A5AB-45BA1A821A21}" destId="{64079869-3F95-49B8-A35C-CDAD55157F96}" srcOrd="0" destOrd="0" presId="urn:microsoft.com/office/officeart/2005/8/layout/orgChart1"/>
    <dgm:cxn modelId="{880C25F3-0E2C-4E09-9F3B-2A1316F790D3}" type="presParOf" srcId="{64079869-3F95-49B8-A35C-CDAD55157F96}" destId="{07DE5CE9-30F4-4D72-8095-0497CCEBFD9E}" srcOrd="0" destOrd="0" presId="urn:microsoft.com/office/officeart/2005/8/layout/orgChart1"/>
    <dgm:cxn modelId="{E7A8813E-3B5A-4F10-A7A9-79903D4916A0}" type="presParOf" srcId="{64079869-3F95-49B8-A35C-CDAD55157F96}" destId="{D473B0E7-23B0-46F6-B895-E75441BC813F}" srcOrd="1" destOrd="0" presId="urn:microsoft.com/office/officeart/2005/8/layout/orgChart1"/>
    <dgm:cxn modelId="{BFE80862-3F14-4215-97A4-1DBC7C3ADE61}" type="presParOf" srcId="{3DBBCA0C-1531-4B96-A5AB-45BA1A821A21}" destId="{F557A039-8649-4F98-A769-6E90B91F9AF6}" srcOrd="1" destOrd="0" presId="urn:microsoft.com/office/officeart/2005/8/layout/orgChart1"/>
    <dgm:cxn modelId="{FBA157B3-1249-452B-A29F-D3F20B0D09B1}" type="presParOf" srcId="{3DBBCA0C-1531-4B96-A5AB-45BA1A821A21}" destId="{B17F6B34-FC72-434A-95E7-2CB6B03E0BCF}" srcOrd="2" destOrd="0" presId="urn:microsoft.com/office/officeart/2005/8/layout/orgChart1"/>
    <dgm:cxn modelId="{4A3353DE-A440-460F-8316-D240D486C5DD}" type="presParOf" srcId="{A21CCE3E-BB8D-4FCE-9A89-A3739721B646}" destId="{490B8A0E-3886-4EDD-B0A7-6DC1633DA8D8}" srcOrd="2" destOrd="0" presId="urn:microsoft.com/office/officeart/2005/8/layout/orgChart1"/>
    <dgm:cxn modelId="{9AA99E06-E138-4D30-9E9A-2DE91AD6BED9}" type="presParOf" srcId="{A21CCE3E-BB8D-4FCE-9A89-A3739721B646}" destId="{E01E9FC7-343B-47D1-A3F9-A3CA2ED8D250}" srcOrd="3" destOrd="0" presId="urn:microsoft.com/office/officeart/2005/8/layout/orgChart1"/>
    <dgm:cxn modelId="{F2576CD8-CB91-451A-A03D-44FA6F5FCA5A}" type="presParOf" srcId="{E01E9FC7-343B-47D1-A3F9-A3CA2ED8D250}" destId="{6CE07127-498F-45E0-A078-15AED6D52982}" srcOrd="0" destOrd="0" presId="urn:microsoft.com/office/officeart/2005/8/layout/orgChart1"/>
    <dgm:cxn modelId="{E0BBEAF3-F502-42BC-A067-F4AF4BED481C}" type="presParOf" srcId="{6CE07127-498F-45E0-A078-15AED6D52982}" destId="{74F62B19-B7E1-424E-8FE0-3BA831D01424}" srcOrd="0" destOrd="0" presId="urn:microsoft.com/office/officeart/2005/8/layout/orgChart1"/>
    <dgm:cxn modelId="{A95A65CB-6CB1-4652-83D8-9B1E17F605E5}" type="presParOf" srcId="{6CE07127-498F-45E0-A078-15AED6D52982}" destId="{7F74C400-55FA-4840-B7F0-D630AAE5C36B}" srcOrd="1" destOrd="0" presId="urn:microsoft.com/office/officeart/2005/8/layout/orgChart1"/>
    <dgm:cxn modelId="{2F185C51-2016-4666-A18F-1BFC8965785C}" type="presParOf" srcId="{E01E9FC7-343B-47D1-A3F9-A3CA2ED8D250}" destId="{5F050C0F-E3FC-406B-B9DB-8F57B8E0452A}" srcOrd="1" destOrd="0" presId="urn:microsoft.com/office/officeart/2005/8/layout/orgChart1"/>
    <dgm:cxn modelId="{318F9BDA-DE6F-44A6-BDC4-CB1977C5BAD5}" type="presParOf" srcId="{E01E9FC7-343B-47D1-A3F9-A3CA2ED8D250}" destId="{4496478D-671E-4A37-961F-929A7972B83C}" srcOrd="2" destOrd="0" presId="urn:microsoft.com/office/officeart/2005/8/layout/orgChart1"/>
    <dgm:cxn modelId="{6AAAD385-24EB-48D6-AD1D-BC612D800595}" type="presParOf" srcId="{4AFD06FA-F978-44EC-B115-28E6D0D551EC}" destId="{7C7CDCD8-2BEF-458E-B63B-620775DF587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B8A0E-3886-4EDD-B0A7-6DC1633DA8D8}">
      <dsp:nvSpPr>
        <dsp:cNvPr id="0" name=""/>
        <dsp:cNvSpPr/>
      </dsp:nvSpPr>
      <dsp:spPr>
        <a:xfrm>
          <a:off x="1650183" y="1103410"/>
          <a:ext cx="903058" cy="313458"/>
        </a:xfrm>
        <a:custGeom>
          <a:avLst/>
          <a:gdLst/>
          <a:ahLst/>
          <a:cxnLst/>
          <a:rect l="0" t="0" r="0" b="0"/>
          <a:pathLst>
            <a:path>
              <a:moveTo>
                <a:pt x="0" y="0"/>
              </a:moveTo>
              <a:lnTo>
                <a:pt x="0" y="156729"/>
              </a:lnTo>
              <a:lnTo>
                <a:pt x="903058" y="156729"/>
              </a:lnTo>
              <a:lnTo>
                <a:pt x="903058" y="313458"/>
              </a:lnTo>
            </a:path>
          </a:pathLst>
        </a:custGeom>
        <a:noFill/>
        <a:ln w="25400" cap="flat" cmpd="sng" algn="ctr">
          <a:solidFill>
            <a:srgbClr val="3390BB"/>
          </a:solidFill>
          <a:prstDash val="solid"/>
        </a:ln>
        <a:effectLst/>
      </dsp:spPr>
      <dsp:style>
        <a:lnRef idx="2">
          <a:scrgbClr r="0" g="0" b="0"/>
        </a:lnRef>
        <a:fillRef idx="0">
          <a:scrgbClr r="0" g="0" b="0"/>
        </a:fillRef>
        <a:effectRef idx="0">
          <a:scrgbClr r="0" g="0" b="0"/>
        </a:effectRef>
        <a:fontRef idx="minor"/>
      </dsp:style>
    </dsp:sp>
    <dsp:sp modelId="{7A44697D-9A75-454B-B96E-BCC61B3D5397}">
      <dsp:nvSpPr>
        <dsp:cNvPr id="0" name=""/>
        <dsp:cNvSpPr/>
      </dsp:nvSpPr>
      <dsp:spPr>
        <a:xfrm>
          <a:off x="747125" y="1103410"/>
          <a:ext cx="903058" cy="313458"/>
        </a:xfrm>
        <a:custGeom>
          <a:avLst/>
          <a:gdLst/>
          <a:ahLst/>
          <a:cxnLst/>
          <a:rect l="0" t="0" r="0" b="0"/>
          <a:pathLst>
            <a:path>
              <a:moveTo>
                <a:pt x="903058" y="0"/>
              </a:moveTo>
              <a:lnTo>
                <a:pt x="903058" y="156729"/>
              </a:lnTo>
              <a:lnTo>
                <a:pt x="0" y="156729"/>
              </a:lnTo>
              <a:lnTo>
                <a:pt x="0" y="313458"/>
              </a:lnTo>
            </a:path>
          </a:pathLst>
        </a:custGeom>
        <a:noFill/>
        <a:ln w="25400" cap="flat" cmpd="sng" algn="ctr">
          <a:solidFill>
            <a:srgbClr val="3390BB"/>
          </a:solidFill>
          <a:prstDash val="solid"/>
        </a:ln>
        <a:effectLst/>
      </dsp:spPr>
      <dsp:style>
        <a:lnRef idx="2">
          <a:scrgbClr r="0" g="0" b="0"/>
        </a:lnRef>
        <a:fillRef idx="0">
          <a:scrgbClr r="0" g="0" b="0"/>
        </a:fillRef>
        <a:effectRef idx="0">
          <a:scrgbClr r="0" g="0" b="0"/>
        </a:effectRef>
        <a:fontRef idx="minor"/>
      </dsp:style>
    </dsp:sp>
    <dsp:sp modelId="{1D04163A-9C8F-45AC-8D2A-01D16E78C7F2}">
      <dsp:nvSpPr>
        <dsp:cNvPr id="0" name=""/>
        <dsp:cNvSpPr/>
      </dsp:nvSpPr>
      <dsp:spPr>
        <a:xfrm>
          <a:off x="903854" y="357081"/>
          <a:ext cx="1492658" cy="746329"/>
        </a:xfrm>
        <a:prstGeom prst="rect">
          <a:avLst/>
        </a:prstGeom>
        <a:solidFill>
          <a:schemeClr val="accent3">
            <a:lumMod val="40000"/>
            <a:lumOff val="6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ES" sz="1600" kern="1200" dirty="0">
              <a:solidFill>
                <a:schemeClr val="tx1"/>
              </a:solidFill>
            </a:rPr>
            <a:t>Gobierno </a:t>
          </a:r>
          <a:r>
            <a:rPr lang="es-ES" sz="1600" kern="1200" dirty="0" smtClean="0">
              <a:solidFill>
                <a:schemeClr val="tx1"/>
              </a:solidFill>
            </a:rPr>
            <a:t>empresarial</a:t>
          </a:r>
          <a:endParaRPr lang="es-ES" sz="1600" kern="1200" dirty="0">
            <a:solidFill>
              <a:schemeClr val="tx1"/>
            </a:solidFill>
          </a:endParaRPr>
        </a:p>
      </dsp:txBody>
      <dsp:txXfrm>
        <a:off x="903854" y="357081"/>
        <a:ext cx="1492658" cy="746329"/>
      </dsp:txXfrm>
    </dsp:sp>
    <dsp:sp modelId="{07DE5CE9-30F4-4D72-8095-0497CCEBFD9E}">
      <dsp:nvSpPr>
        <dsp:cNvPr id="0" name=""/>
        <dsp:cNvSpPr/>
      </dsp:nvSpPr>
      <dsp:spPr>
        <a:xfrm>
          <a:off x="795" y="1416869"/>
          <a:ext cx="1492658" cy="746329"/>
        </a:xfrm>
        <a:prstGeom prst="rect">
          <a:avLst/>
        </a:prstGeom>
        <a:solidFill>
          <a:srgbClr val="F79646">
            <a:lumMod val="60000"/>
            <a:lumOff val="40000"/>
          </a:srgb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ES" sz="1400" kern="1200" dirty="0">
              <a:solidFill>
                <a:prstClr val="black"/>
              </a:solidFill>
              <a:latin typeface="Calibri"/>
              <a:ea typeface="+mn-ea"/>
              <a:cs typeface="+mn-cs"/>
            </a:rPr>
            <a:t>Gobierno </a:t>
          </a:r>
          <a:r>
            <a:rPr lang="es-ES" sz="1400" kern="1200" dirty="0" smtClean="0">
              <a:solidFill>
                <a:prstClr val="black"/>
              </a:solidFill>
              <a:latin typeface="Calibri"/>
              <a:ea typeface="+mn-ea"/>
              <a:cs typeface="+mn-cs"/>
            </a:rPr>
            <a:t>corporativo </a:t>
          </a:r>
          <a:r>
            <a:rPr lang="es-ES" sz="1400" kern="1200" dirty="0">
              <a:solidFill>
                <a:prstClr val="black"/>
              </a:solidFill>
              <a:latin typeface="Calibri"/>
              <a:ea typeface="+mn-ea"/>
              <a:cs typeface="+mn-cs"/>
            </a:rPr>
            <a:t>(Conformidad)</a:t>
          </a:r>
        </a:p>
      </dsp:txBody>
      <dsp:txXfrm>
        <a:off x="795" y="1416869"/>
        <a:ext cx="1492658" cy="746329"/>
      </dsp:txXfrm>
    </dsp:sp>
    <dsp:sp modelId="{74F62B19-B7E1-424E-8FE0-3BA831D01424}">
      <dsp:nvSpPr>
        <dsp:cNvPr id="0" name=""/>
        <dsp:cNvSpPr/>
      </dsp:nvSpPr>
      <dsp:spPr>
        <a:xfrm>
          <a:off x="1806912" y="1416869"/>
          <a:ext cx="1492658" cy="746329"/>
        </a:xfrm>
        <a:prstGeom prst="rect">
          <a:avLst/>
        </a:prstGeom>
        <a:solidFill>
          <a:schemeClr val="accent6">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ES" sz="1400" kern="1200" dirty="0">
              <a:solidFill>
                <a:schemeClr val="tx1"/>
              </a:solidFill>
            </a:rPr>
            <a:t>Gobierno de </a:t>
          </a:r>
          <a:r>
            <a:rPr lang="es-ES" sz="1400" kern="1200" dirty="0" smtClean="0">
              <a:solidFill>
                <a:schemeClr val="tx1"/>
              </a:solidFill>
            </a:rPr>
            <a:t>negocio </a:t>
          </a:r>
          <a:r>
            <a:rPr lang="es-ES" sz="1400" kern="1200" dirty="0">
              <a:solidFill>
                <a:schemeClr val="tx1"/>
              </a:solidFill>
            </a:rPr>
            <a:t>(Desempeño)</a:t>
          </a:r>
        </a:p>
      </dsp:txBody>
      <dsp:txXfrm>
        <a:off x="1806912" y="1416869"/>
        <a:ext cx="1492658" cy="74632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09/05/2022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9/05/2022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432804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405830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978106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881084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079065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3712233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030148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449436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671638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264988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560558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3497529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697260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532353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052104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188661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954875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4218096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3881228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3757977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4364327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1558929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2817981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18222843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39957424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16038559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997843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11111106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40060079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14424253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7260058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32429850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5396782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36431955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2310426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24753130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4682775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14556286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2830885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38231858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29799781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22641434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41034320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431770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364750"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 DE</a:t>
              </a:r>
              <a:r>
                <a:rPr lang="en-US" sz="800" kern="1200" baseline="0" dirty="0" smtClean="0">
                  <a:solidFill>
                    <a:schemeClr val="bg1">
                      <a:lumMod val="50000"/>
                    </a:schemeClr>
                  </a:solidFill>
                  <a:latin typeface="Calibri"/>
                  <a:ea typeface="+mn-ea"/>
                  <a:cs typeface="Calibri"/>
                  <a:sym typeface="Wingdings"/>
                </a:rPr>
                <a:t> CONTROL Y GOBIERNO TI</a:t>
              </a:r>
              <a:r>
                <a:rPr lang="en-US" sz="800" kern="1200" dirty="0" smtClean="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03</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jpe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4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jpeg"/><Relationship Id="rId7"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47.xml.rels><?xml version="1.0" encoding="UTF-8" standalone="yes"?>
<Relationships xmlns="http://schemas.openxmlformats.org/package/2006/relationships"><Relationship Id="rId8" Type="http://schemas.openxmlformats.org/officeDocument/2006/relationships/hyperlink" Target="https://blog.invgate.com/es/itam-101-introducci%C3%B3n-a-la-gesti%C3%B3n-de-activos-de-ti" TargetMode="External"/><Relationship Id="rId13" Type="http://schemas.openxmlformats.org/officeDocument/2006/relationships/hyperlink" Target="https://www.oracle.com/es/big-data/what-is-big-data/" TargetMode="External"/><Relationship Id="rId3" Type="http://schemas.openxmlformats.org/officeDocument/2006/relationships/hyperlink" Target="https://www.ecured.cu/Arquitectura_Empresarial" TargetMode="External"/><Relationship Id="rId7" Type="http://schemas.openxmlformats.org/officeDocument/2006/relationships/hyperlink" Target="https://mentory.online/2018/02/raci-o-matriz-de-responsabilidades.html" TargetMode="External"/><Relationship Id="rId12" Type="http://schemas.openxmlformats.org/officeDocument/2006/relationships/hyperlink" Target="https://www.axxon.com.br/blog/index.php?id=edoa0sxa" TargetMode="External"/><Relationship Id="rId2" Type="http://schemas.openxmlformats.org/officeDocument/2006/relationships/slideLayout" Target="../slideLayouts/slideLayout2.xml"/><Relationship Id="rId16" Type="http://schemas.openxmlformats.org/officeDocument/2006/relationships/hyperlink" Target="https://ayudaleyprotecciondatos.es/cloud-computing/proveedores/" TargetMode="External"/><Relationship Id="rId1" Type="http://schemas.openxmlformats.org/officeDocument/2006/relationships/tags" Target="../tags/tag12.xml"/><Relationship Id="rId6" Type="http://schemas.openxmlformats.org/officeDocument/2006/relationships/hyperlink" Target="https://www.laboratorioti.com/2016/02/22/ticcionario-una-matriz-raci-usarla/" TargetMode="External"/><Relationship Id="rId11" Type="http://schemas.openxmlformats.org/officeDocument/2006/relationships/hyperlink" Target="https://admision.utem.cl/2019/12/26/como-influye-la-tecnologia-en-las-empresas/" TargetMode="External"/><Relationship Id="rId5" Type="http://schemas.openxmlformats.org/officeDocument/2006/relationships/hyperlink" Target="https://thedigitalprojectmanager.com/es/grafico-raci-manera-mas-simple/" TargetMode="External"/><Relationship Id="rId15" Type="http://schemas.openxmlformats.org/officeDocument/2006/relationships/hyperlink" Target="https://www.sap.com/latinamerica/insights/what-is-iot-internet-of-things.html" TargetMode="External"/><Relationship Id="rId10" Type="http://schemas.openxmlformats.org/officeDocument/2006/relationships/hyperlink" Target="https://www.wearemarketing.com/es/blog/importancia-de-la-tecnologia-en-las-empresas-en-la-era-de-la-transformacion-digital.html" TargetMode="External"/><Relationship Id="rId4" Type="http://schemas.openxmlformats.org/officeDocument/2006/relationships/hyperlink" Target="https://colombiadigital.net/actualidad/articulos-informativos/item/8123-que-es-arquitectura-empresarial.html" TargetMode="External"/><Relationship Id="rId9" Type="http://schemas.openxmlformats.org/officeDocument/2006/relationships/hyperlink" Target="https://www.dealerworld.es/archive/la-complejidad-de-las-ti-permite-a-las-empresas-ser-mas-competitivas" TargetMode="External"/><Relationship Id="rId14" Type="http://schemas.openxmlformats.org/officeDocument/2006/relationships/hyperlink" Target="https://www.redhat.com/es/topics/internet-of-things/what-is-iot" TargetMode="External"/></Relationships>
</file>

<file path=ppt/slides/_rels/slide48.xml.rels><?xml version="1.0" encoding="UTF-8" standalone="yes"?>
<Relationships xmlns="http://schemas.openxmlformats.org/package/2006/relationships"><Relationship Id="rId8" Type="http://schemas.openxmlformats.org/officeDocument/2006/relationships/hyperlink" Target="https://www.incentro.com/es-es/blog/stories/programas-mas-utilizados-en-empresas/" TargetMode="External"/><Relationship Id="rId13" Type="http://schemas.openxmlformats.org/officeDocument/2006/relationships/hyperlink" Target="https://www.softwaredoit.es/software-erp/cadena-de-suministro.html" TargetMode="External"/><Relationship Id="rId3" Type="http://schemas.openxmlformats.org/officeDocument/2006/relationships/hyperlink" Target="https://www.hpe.com/es/es/what-is/cloud-computing.html" TargetMode="External"/><Relationship Id="rId7" Type="http://schemas.openxmlformats.org/officeDocument/2006/relationships/hyperlink" Target="https://inform-atic.com/es/informatica/hardware-empresas" TargetMode="External"/><Relationship Id="rId12" Type="http://schemas.openxmlformats.org/officeDocument/2006/relationships/hyperlink" Target="https://sites.google.com/site/informaticakalitohi/sistemas-de-automatizacion-de-oficinas" TargetMode="External"/><Relationship Id="rId17" Type="http://schemas.openxmlformats.org/officeDocument/2006/relationships/hyperlink" Target="https://www.ey.com/es_pe/risk/gobierno-corporativo-pilar-crecimiento" TargetMode="External"/><Relationship Id="rId2" Type="http://schemas.openxmlformats.org/officeDocument/2006/relationships/slideLayout" Target="../slideLayouts/slideLayout2.xml"/><Relationship Id="rId16" Type="http://schemas.openxmlformats.org/officeDocument/2006/relationships/hyperlink" Target="https://climate.selectra.com/es/empresas/gobierno-corporativo" TargetMode="External"/><Relationship Id="rId1" Type="http://schemas.openxmlformats.org/officeDocument/2006/relationships/tags" Target="../tags/tag13.xml"/><Relationship Id="rId6" Type="http://schemas.openxmlformats.org/officeDocument/2006/relationships/hyperlink" Target="https://www.farandsoft.com/software-empresarial-tipos-caracteristicas-ventajas/" TargetMode="External"/><Relationship Id="rId11" Type="http://schemas.openxmlformats.org/officeDocument/2006/relationships/hyperlink" Target="https://ayudaleyprotecciondatos.es/cloud-computing/proveedores/" TargetMode="External"/><Relationship Id="rId5" Type="http://schemas.openxmlformats.org/officeDocument/2006/relationships/hyperlink" Target="https://vegagestion.es/software-empresarial-caracteristicas-tipos-y-ventajas/" TargetMode="External"/><Relationship Id="rId15" Type="http://schemas.openxmlformats.org/officeDocument/2006/relationships/hyperlink" Target="https://www.serfe.com/es/productos-destacados/enterprise-solutions/software-para-la-administracion-de-la-cadena-de-suministro-scm" TargetMode="External"/><Relationship Id="rId10" Type="http://schemas.openxmlformats.org/officeDocument/2006/relationships/hyperlink" Target="https://cimatic.com.mx/que-es-un-software-empresarial/" TargetMode="External"/><Relationship Id="rId4" Type="http://schemas.openxmlformats.org/officeDocument/2006/relationships/hyperlink" Target="https://www.cisco.com/c/es_mx/solutions/cloud/what-is-cloud-computing.html#~cloud-computing-deployment-models" TargetMode="External"/><Relationship Id="rId9" Type="http://schemas.openxmlformats.org/officeDocument/2006/relationships/hyperlink" Target="https://visualmexico.com.mx/tipos-de-software-de-administracion-empresarial/" TargetMode="External"/><Relationship Id="rId14" Type="http://schemas.openxmlformats.org/officeDocument/2006/relationships/hyperlink" Target="https://www.clavei.es/blog/erp-que-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03</a:t>
            </a:r>
          </a:p>
        </p:txBody>
      </p:sp>
      <p:sp>
        <p:nvSpPr>
          <p:cNvPr id="14" name="CuadroTexto 13"/>
          <p:cNvSpPr txBox="1"/>
          <p:nvPr/>
        </p:nvSpPr>
        <p:spPr>
          <a:xfrm>
            <a:off x="1426523" y="500669"/>
            <a:ext cx="7233258" cy="840230"/>
          </a:xfrm>
          <a:prstGeom prst="rect">
            <a:avLst/>
          </a:prstGeom>
          <a:noFill/>
        </p:spPr>
        <p:txBody>
          <a:bodyPr wrap="square" rtlCol="0">
            <a:spAutoFit/>
          </a:bodyPr>
          <a:lstStyle/>
          <a:p>
            <a:pPr>
              <a:lnSpc>
                <a:spcPct val="80000"/>
              </a:lnSpc>
            </a:pPr>
            <a:r>
              <a:rPr lang="es-ES" sz="3000" b="1" dirty="0">
                <a:solidFill>
                  <a:srgbClr val="FFFFFF"/>
                </a:solidFill>
              </a:rPr>
              <a:t>GOBIERNO </a:t>
            </a:r>
          </a:p>
          <a:p>
            <a:pPr>
              <a:lnSpc>
                <a:spcPct val="80000"/>
              </a:lnSpc>
            </a:pPr>
            <a:r>
              <a:rPr lang="es-ES" sz="3000" b="1" dirty="0">
                <a:solidFill>
                  <a:srgbClr val="FFFFFF"/>
                </a:solidFill>
              </a:rPr>
              <a:t>EMPRESARIAL </a:t>
            </a:r>
          </a:p>
        </p:txBody>
      </p:sp>
      <p:sp>
        <p:nvSpPr>
          <p:cNvPr id="15" name="CuadroTexto 14"/>
          <p:cNvSpPr txBox="1"/>
          <p:nvPr/>
        </p:nvSpPr>
        <p:spPr>
          <a:xfrm>
            <a:off x="589880" y="1837744"/>
            <a:ext cx="6200026" cy="2140842"/>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Definición</a:t>
            </a:r>
          </a:p>
          <a:p>
            <a:pPr marL="285750" indent="-285750">
              <a:lnSpc>
                <a:spcPct val="120000"/>
              </a:lnSpc>
              <a:buSzPct val="80000"/>
              <a:buFont typeface="Wingdings" panose="05000000000000000000" pitchFamily="2" charset="2"/>
              <a:buChar char="ü"/>
            </a:pPr>
            <a:r>
              <a:rPr lang="es-ES" sz="1600" dirty="0">
                <a:solidFill>
                  <a:srgbClr val="FFFFFF"/>
                </a:solidFill>
              </a:rPr>
              <a:t>Dimensiones</a:t>
            </a:r>
          </a:p>
          <a:p>
            <a:pPr marL="285750" indent="-285750">
              <a:lnSpc>
                <a:spcPct val="120000"/>
              </a:lnSpc>
              <a:buSzPct val="80000"/>
              <a:buFont typeface="Wingdings" panose="05000000000000000000" pitchFamily="2" charset="2"/>
              <a:buChar char="ü"/>
            </a:pPr>
            <a:r>
              <a:rPr lang="es-ES" sz="1600" dirty="0">
                <a:solidFill>
                  <a:srgbClr val="FFFFFF"/>
                </a:solidFill>
              </a:rPr>
              <a:t>Relación entre el gobierno de negocio y el gobierno empresarial </a:t>
            </a:r>
          </a:p>
          <a:p>
            <a:pPr marL="285750" indent="-285750">
              <a:lnSpc>
                <a:spcPct val="120000"/>
              </a:lnSpc>
              <a:buSzPct val="80000"/>
              <a:buFont typeface="Wingdings" panose="05000000000000000000" pitchFamily="2" charset="2"/>
              <a:buChar char="ü"/>
            </a:pPr>
            <a:r>
              <a:rPr lang="es-ES" sz="1600" dirty="0">
                <a:solidFill>
                  <a:srgbClr val="FFFFFF"/>
                </a:solidFill>
              </a:rPr>
              <a:t>Tecnología y el impacto en las empresas</a:t>
            </a:r>
          </a:p>
          <a:p>
            <a:pPr marL="285750" indent="-285750">
              <a:lnSpc>
                <a:spcPct val="120000"/>
              </a:lnSpc>
              <a:buSzPct val="80000"/>
              <a:buFont typeface="Wingdings" panose="05000000000000000000" pitchFamily="2" charset="2"/>
              <a:buChar char="ü"/>
            </a:pPr>
            <a:r>
              <a:rPr lang="es-ES" sz="1600" dirty="0">
                <a:solidFill>
                  <a:srgbClr val="FFFFFF"/>
                </a:solidFill>
              </a:rPr>
              <a:t>Sistemas de información en las empresas</a:t>
            </a:r>
          </a:p>
          <a:p>
            <a:pPr marL="285750" indent="-285750">
              <a:lnSpc>
                <a:spcPct val="120000"/>
              </a:lnSpc>
              <a:buSzPct val="80000"/>
              <a:buFont typeface="Wingdings" panose="05000000000000000000" pitchFamily="2" charset="2"/>
              <a:buChar char="ü"/>
            </a:pPr>
            <a:r>
              <a:rPr lang="es-ES" sz="1600" dirty="0">
                <a:solidFill>
                  <a:srgbClr val="FFFFFF"/>
                </a:solidFill>
              </a:rPr>
              <a:t>Hardware y software empresarial</a:t>
            </a:r>
          </a:p>
          <a:p>
            <a:pPr marL="285750" indent="-285750">
              <a:lnSpc>
                <a:spcPct val="120000"/>
              </a:lnSpc>
              <a:buSzPct val="80000"/>
              <a:buFont typeface="Wingdings" panose="05000000000000000000" pitchFamily="2" charset="2"/>
              <a:buChar char="ü"/>
            </a:pPr>
            <a:r>
              <a:rPr lang="es-ES" sz="1600" dirty="0">
                <a:solidFill>
                  <a:srgbClr val="FFFFFF"/>
                </a:solidFill>
              </a:rPr>
              <a:t>Computación en la nube</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92372"/>
            <a:ext cx="8345931" cy="193899"/>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UNIDAD DE APRENDIZAJE: CONCEPTOS CLAVE PARA LA COMPRENSIÓN DE COBIT 2019</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4" name="object 7">
            <a:extLst>
              <a:ext uri="{FF2B5EF4-FFF2-40B4-BE49-F238E27FC236}">
                <a16:creationId xmlns:a16="http://schemas.microsoft.com/office/drawing/2014/main" id="{566B4764-7DFE-4C25-9FA9-B9060C9CF980}"/>
              </a:ext>
            </a:extLst>
          </p:cNvPr>
          <p:cNvSpPr txBox="1"/>
          <p:nvPr/>
        </p:nvSpPr>
        <p:spPr>
          <a:xfrm>
            <a:off x="538502" y="804093"/>
            <a:ext cx="8082983" cy="2708434"/>
          </a:xfrm>
          <a:prstGeom prst="rect">
            <a:avLst/>
          </a:prstGeom>
        </p:spPr>
        <p:txBody>
          <a:bodyPr vert="horz" wrap="square" lIns="0" tIns="0" rIns="0" bIns="0" rtlCol="0">
            <a:spAutoFit/>
          </a:bodyPr>
          <a:lstStyle/>
          <a:p>
            <a:pPr marL="184150" indent="-184150">
              <a:buSzPct val="100000"/>
              <a:buFont typeface="Arial" charset="0"/>
              <a:buChar char="•"/>
              <a:tabLst>
                <a:tab pos="85725" algn="l"/>
              </a:tabLst>
            </a:pPr>
            <a:r>
              <a:rPr lang="es-PE" sz="1600" spc="-10" dirty="0">
                <a:solidFill>
                  <a:srgbClr val="262626"/>
                </a:solidFill>
              </a:rPr>
              <a:t>En esta sesión </a:t>
            </a:r>
            <a:r>
              <a:rPr lang="es-PE" sz="1600" spc="-10" dirty="0" smtClean="0">
                <a:solidFill>
                  <a:srgbClr val="262626"/>
                </a:solidFill>
              </a:rPr>
              <a:t>aprenderás </a:t>
            </a:r>
            <a:r>
              <a:rPr lang="es-PE" sz="1600" spc="-10" dirty="0">
                <a:solidFill>
                  <a:srgbClr val="262626"/>
                </a:solidFill>
              </a:rPr>
              <a:t>los conceptos de gobierno empresarial, </a:t>
            </a:r>
            <a:r>
              <a:rPr lang="es-PE" sz="1600" spc="-10" dirty="0" smtClean="0">
                <a:solidFill>
                  <a:srgbClr val="262626"/>
                </a:solidFill>
              </a:rPr>
              <a:t>sus </a:t>
            </a:r>
            <a:r>
              <a:rPr lang="es-PE" sz="1600" spc="-10" dirty="0">
                <a:solidFill>
                  <a:srgbClr val="262626"/>
                </a:solidFill>
              </a:rPr>
              <a:t>dimensiones </a:t>
            </a:r>
            <a:r>
              <a:rPr lang="es-PE" sz="1600" spc="-10" dirty="0" smtClean="0">
                <a:solidFill>
                  <a:srgbClr val="262626"/>
                </a:solidFill>
              </a:rPr>
              <a:t>y </a:t>
            </a:r>
            <a:r>
              <a:rPr lang="es-PE" sz="1600" spc="-10" dirty="0">
                <a:solidFill>
                  <a:srgbClr val="262626"/>
                </a:solidFill>
              </a:rPr>
              <a:t>las definiciones entre gobierno corporativo y gobierno de negocio.</a:t>
            </a:r>
            <a:br>
              <a:rPr lang="es-PE" sz="1600" spc="-10" dirty="0">
                <a:solidFill>
                  <a:srgbClr val="262626"/>
                </a:solidFill>
              </a:rPr>
            </a:br>
            <a:endParaRPr lang="es-PE" sz="1600" spc="-10" dirty="0">
              <a:solidFill>
                <a:srgbClr val="262626"/>
              </a:solidFill>
            </a:endParaRPr>
          </a:p>
          <a:p>
            <a:pPr marL="184150" indent="-184150">
              <a:buSzPct val="100000"/>
              <a:buFont typeface="Arial" charset="0"/>
              <a:buChar char="•"/>
              <a:tabLst>
                <a:tab pos="85725" algn="l"/>
              </a:tabLst>
            </a:pPr>
            <a:r>
              <a:rPr lang="es-PE" sz="1600" spc="-10" dirty="0" smtClean="0">
                <a:solidFill>
                  <a:srgbClr val="262626"/>
                </a:solidFill>
              </a:rPr>
              <a:t>Comprenderás cuáles </a:t>
            </a:r>
            <a:r>
              <a:rPr lang="es-PE" sz="1600" spc="-10" dirty="0">
                <a:solidFill>
                  <a:srgbClr val="262626"/>
                </a:solidFill>
              </a:rPr>
              <a:t>son los principales beneficios de la tecnología y el impacto en las empresas.</a:t>
            </a:r>
            <a:br>
              <a:rPr lang="es-PE" sz="1600" spc="-10" dirty="0">
                <a:solidFill>
                  <a:srgbClr val="262626"/>
                </a:solidFill>
              </a:rPr>
            </a:br>
            <a:endParaRPr lang="es-PE" sz="1600" spc="-10" dirty="0">
              <a:solidFill>
                <a:srgbClr val="262626"/>
              </a:solidFill>
            </a:endParaRPr>
          </a:p>
          <a:p>
            <a:pPr marL="184150" indent="-184150">
              <a:buSzPct val="100000"/>
              <a:buFont typeface="Arial" charset="0"/>
              <a:buChar char="•"/>
              <a:tabLst>
                <a:tab pos="85725" algn="l"/>
              </a:tabLst>
            </a:pPr>
            <a:r>
              <a:rPr lang="es-PE" sz="1600" spc="-10" dirty="0" smtClean="0">
                <a:solidFill>
                  <a:srgbClr val="262626"/>
                </a:solidFill>
              </a:rPr>
              <a:t>Aprenderás </a:t>
            </a:r>
            <a:r>
              <a:rPr lang="es-PE" sz="1600" spc="-10" dirty="0">
                <a:solidFill>
                  <a:srgbClr val="262626"/>
                </a:solidFill>
              </a:rPr>
              <a:t>sobre la importancia y clasificación de los sistemas de información en las empresas. </a:t>
            </a:r>
          </a:p>
          <a:p>
            <a:pPr marL="184150" indent="-184150">
              <a:buSzPct val="100000"/>
              <a:buFont typeface="Arial" charset="0"/>
              <a:buChar char="•"/>
              <a:tabLst>
                <a:tab pos="85725" algn="l"/>
              </a:tabLst>
            </a:pPr>
            <a:endParaRPr lang="es-PE" sz="1600" spc="-10" dirty="0">
              <a:solidFill>
                <a:srgbClr val="262626"/>
              </a:solidFill>
            </a:endParaRPr>
          </a:p>
          <a:p>
            <a:pPr marL="184150" indent="-184150">
              <a:buSzPct val="100000"/>
              <a:buFont typeface="Arial" charset="0"/>
              <a:buChar char="•"/>
              <a:tabLst>
                <a:tab pos="85725" algn="l"/>
              </a:tabLst>
            </a:pPr>
            <a:r>
              <a:rPr lang="es-PE" sz="1600" spc="-10" dirty="0" smtClean="0">
                <a:solidFill>
                  <a:srgbClr val="262626"/>
                </a:solidFill>
              </a:rPr>
              <a:t>Reconocerás </a:t>
            </a:r>
            <a:r>
              <a:rPr lang="es-PE" sz="1600" spc="-10" dirty="0">
                <a:solidFill>
                  <a:srgbClr val="262626"/>
                </a:solidFill>
              </a:rPr>
              <a:t>el valor del hardware y software empresarial.</a:t>
            </a:r>
          </a:p>
          <a:p>
            <a:pPr marL="184150" indent="-184150">
              <a:buSzPct val="100000"/>
              <a:buFont typeface="Arial" charset="0"/>
              <a:buChar char="•"/>
              <a:tabLst>
                <a:tab pos="85725" algn="l"/>
              </a:tabLst>
            </a:pPr>
            <a:endParaRPr lang="es-PE" sz="1600" spc="-10" dirty="0">
              <a:solidFill>
                <a:srgbClr val="262626"/>
              </a:solidFill>
            </a:endParaRPr>
          </a:p>
          <a:p>
            <a:pPr marL="184150" indent="-184150">
              <a:buSzPct val="100000"/>
              <a:buFont typeface="Arial" charset="0"/>
              <a:buChar char="•"/>
              <a:tabLst>
                <a:tab pos="85725" algn="l"/>
              </a:tabLst>
            </a:pPr>
            <a:r>
              <a:rPr lang="es-PE" sz="1600" spc="-10" dirty="0" smtClean="0">
                <a:solidFill>
                  <a:srgbClr val="262626"/>
                </a:solidFill>
              </a:rPr>
              <a:t>Finalmente, comprenderás </a:t>
            </a:r>
            <a:r>
              <a:rPr lang="es-PE" sz="1600" spc="-10" dirty="0">
                <a:solidFill>
                  <a:srgbClr val="262626"/>
                </a:solidFill>
              </a:rPr>
              <a:t>el valor de la computación en la nube.</a:t>
            </a:r>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DEFINICIÓN</a:t>
            </a:r>
          </a:p>
        </p:txBody>
      </p:sp>
    </p:spTree>
    <p:custDataLst>
      <p:tags r:id="rId1"/>
    </p:custDataLst>
    <p:extLst>
      <p:ext uri="{BB962C8B-B14F-4D97-AF65-F5344CB8AC3E}">
        <p14:creationId xmlns:p14="http://schemas.microsoft.com/office/powerpoint/2010/main" val="281781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DEFINICIÓN</a:t>
            </a:r>
          </a:p>
        </p:txBody>
      </p:sp>
      <p:sp>
        <p:nvSpPr>
          <p:cNvPr id="6" name="object 7">
            <a:extLst>
              <a:ext uri="{FF2B5EF4-FFF2-40B4-BE49-F238E27FC236}">
                <a16:creationId xmlns:a16="http://schemas.microsoft.com/office/drawing/2014/main" id="{04E7F64C-F132-445B-80C3-742119FBBF21}"/>
              </a:ext>
            </a:extLst>
          </p:cNvPr>
          <p:cNvSpPr txBox="1"/>
          <p:nvPr/>
        </p:nvSpPr>
        <p:spPr>
          <a:xfrm>
            <a:off x="625590" y="1264167"/>
            <a:ext cx="4106067" cy="2954655"/>
          </a:xfrm>
          <a:prstGeom prst="rect">
            <a:avLst/>
          </a:prstGeom>
        </p:spPr>
        <p:txBody>
          <a:bodyPr vert="horz" wrap="square" lIns="0" tIns="0" rIns="0" bIns="0" rtlCol="0">
            <a:spAutoFit/>
          </a:bodyPr>
          <a:lstStyle/>
          <a:p>
            <a:pPr marL="184150" indent="-184150" algn="just">
              <a:buSzPct val="100000"/>
              <a:buFont typeface="Arial" charset="0"/>
              <a:buChar char="•"/>
              <a:tabLst>
                <a:tab pos="85725" algn="l"/>
              </a:tabLst>
            </a:pPr>
            <a:r>
              <a:rPr lang="es-PE" sz="1600" spc="-10" dirty="0">
                <a:cs typeface="Source Sans Pro"/>
              </a:rPr>
              <a:t>Su enfoque es holístico, busca la eficiencia y la eficacia y se centra en mejorar el rendimiento y la rentabilidad de la empresa.</a:t>
            </a:r>
          </a:p>
          <a:p>
            <a:pPr marL="184150" indent="-184150" algn="just">
              <a:buSzPct val="100000"/>
              <a:buFont typeface="Arial" charset="0"/>
              <a:buChar char="•"/>
              <a:tabLst>
                <a:tab pos="85725" algn="l"/>
              </a:tabLst>
            </a:pPr>
            <a:endParaRPr lang="es-PE" sz="1600" spc="-10" dirty="0">
              <a:cs typeface="Source Sans Pro"/>
            </a:endParaRPr>
          </a:p>
          <a:p>
            <a:pPr marL="184150" indent="-184150" algn="just">
              <a:buSzPct val="100000"/>
              <a:buFont typeface="Arial" charset="0"/>
              <a:buChar char="•"/>
              <a:tabLst>
                <a:tab pos="85725" algn="l"/>
              </a:tabLst>
            </a:pPr>
            <a:r>
              <a:rPr lang="es-PE" sz="1600" spc="-10" dirty="0">
                <a:cs typeface="Source Sans Pro"/>
              </a:rPr>
              <a:t>Asegura que las metas estratégicas estén alineadas, y brindan una adecuada dirección y control de las empresas de extremo a extremo para su desarrollo sostenible.</a:t>
            </a:r>
          </a:p>
          <a:p>
            <a:pPr marL="184150" indent="-184150" algn="just">
              <a:buSzPct val="100000"/>
              <a:buFont typeface="Arial" charset="0"/>
              <a:buChar char="•"/>
              <a:tabLst>
                <a:tab pos="85725" algn="l"/>
              </a:tabLst>
            </a:pPr>
            <a:endParaRPr lang="es-PE" sz="1600" spc="-10" dirty="0">
              <a:cs typeface="Source Sans Pro"/>
            </a:endParaRPr>
          </a:p>
          <a:p>
            <a:pPr marL="184150" indent="-184150" algn="just">
              <a:buSzPct val="100000"/>
              <a:buFont typeface="Arial" charset="0"/>
              <a:buChar char="•"/>
              <a:tabLst>
                <a:tab pos="85725" algn="l"/>
              </a:tabLst>
            </a:pPr>
            <a:r>
              <a:rPr lang="es-PE" sz="1600" spc="-10" dirty="0">
                <a:cs typeface="Source Sans Pro"/>
              </a:rPr>
              <a:t>Abarca el </a:t>
            </a:r>
            <a:r>
              <a:rPr lang="es-PE" sz="1600" i="1" spc="-10" dirty="0">
                <a:cs typeface="Source Sans Pro"/>
              </a:rPr>
              <a:t>g</a:t>
            </a:r>
            <a:r>
              <a:rPr lang="es-PE" sz="1600" i="1" spc="-10" dirty="0" smtClean="0">
                <a:cs typeface="Source Sans Pro"/>
              </a:rPr>
              <a:t>obierno </a:t>
            </a:r>
            <a:r>
              <a:rPr lang="es-PE" sz="1600" i="1" spc="-10" dirty="0">
                <a:cs typeface="Source Sans Pro"/>
              </a:rPr>
              <a:t>c</a:t>
            </a:r>
            <a:r>
              <a:rPr lang="es-PE" sz="1600" i="1" spc="-10" dirty="0" smtClean="0">
                <a:cs typeface="Source Sans Pro"/>
              </a:rPr>
              <a:t>orporativo </a:t>
            </a:r>
            <a:r>
              <a:rPr lang="es-PE" sz="1600" spc="-10" dirty="0">
                <a:cs typeface="Source Sans Pro"/>
              </a:rPr>
              <a:t>y los aspectos de la </a:t>
            </a:r>
            <a:r>
              <a:rPr lang="es-PE" sz="1600" i="1" spc="-10" dirty="0">
                <a:cs typeface="Source Sans Pro"/>
              </a:rPr>
              <a:t>g</a:t>
            </a:r>
            <a:r>
              <a:rPr lang="es-PE" sz="1600" i="1" spc="-10" dirty="0" smtClean="0">
                <a:cs typeface="Source Sans Pro"/>
              </a:rPr>
              <a:t>estión </a:t>
            </a:r>
            <a:r>
              <a:rPr lang="es-PE" sz="1600" i="1" spc="-10" dirty="0">
                <a:cs typeface="Source Sans Pro"/>
              </a:rPr>
              <a:t>del negocio </a:t>
            </a:r>
            <a:r>
              <a:rPr lang="es-PE" sz="1600" spc="-10" dirty="0">
                <a:cs typeface="Source Sans Pro"/>
              </a:rPr>
              <a:t>(</a:t>
            </a:r>
            <a:r>
              <a:rPr lang="es-PE" sz="1600" i="1" spc="-10" dirty="0">
                <a:cs typeface="Source Sans Pro"/>
              </a:rPr>
              <a:t>Gobierno de Negocio</a:t>
            </a:r>
            <a:r>
              <a:rPr lang="es-PE" sz="1600" spc="-10" dirty="0">
                <a:cs typeface="Source Sans Pro"/>
              </a:rPr>
              <a:t>) de una organización para alcanzar sus objetivos. </a:t>
            </a:r>
          </a:p>
        </p:txBody>
      </p:sp>
      <p:sp>
        <p:nvSpPr>
          <p:cNvPr id="7" name="object 7">
            <a:extLst>
              <a:ext uri="{FF2B5EF4-FFF2-40B4-BE49-F238E27FC236}">
                <a16:creationId xmlns:a16="http://schemas.microsoft.com/office/drawing/2014/main" id="{166D5144-EBE0-4128-BCB4-A61D92B8EDA3}"/>
              </a:ext>
            </a:extLst>
          </p:cNvPr>
          <p:cNvSpPr txBox="1"/>
          <p:nvPr/>
        </p:nvSpPr>
        <p:spPr>
          <a:xfrm>
            <a:off x="510908" y="832233"/>
            <a:ext cx="506315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GOBIERNO EMPRESARIAL</a:t>
            </a:r>
          </a:p>
        </p:txBody>
      </p:sp>
      <p:pic>
        <p:nvPicPr>
          <p:cNvPr id="1026" name="Picture 2" descr="Por qué al implementar un Consejo de Administración se logra el crecimiento  y permanencia de una PYME ?">
            <a:extLst>
              <a:ext uri="{FF2B5EF4-FFF2-40B4-BE49-F238E27FC236}">
                <a16:creationId xmlns:a16="http://schemas.microsoft.com/office/drawing/2014/main" id="{93D664D1-E6C8-4446-98A8-E31F40370E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09" y="1326243"/>
            <a:ext cx="3305927" cy="2224613"/>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36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DIMENSIONES</a:t>
            </a:r>
          </a:p>
        </p:txBody>
      </p:sp>
    </p:spTree>
    <p:custDataLst>
      <p:tags r:id="rId1"/>
    </p:custDataLst>
    <p:extLst>
      <p:ext uri="{BB962C8B-B14F-4D97-AF65-F5344CB8AC3E}">
        <p14:creationId xmlns:p14="http://schemas.microsoft.com/office/powerpoint/2010/main" val="3396968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DIMENSIONES</a:t>
            </a:r>
          </a:p>
        </p:txBody>
      </p:sp>
      <p:sp>
        <p:nvSpPr>
          <p:cNvPr id="8" name="object 7">
            <a:extLst>
              <a:ext uri="{FF2B5EF4-FFF2-40B4-BE49-F238E27FC236}">
                <a16:creationId xmlns:a16="http://schemas.microsoft.com/office/drawing/2014/main" id="{3FE2B885-9B59-43A4-BDF0-5387303D1DC1}"/>
              </a:ext>
            </a:extLst>
          </p:cNvPr>
          <p:cNvSpPr txBox="1"/>
          <p:nvPr/>
        </p:nvSpPr>
        <p:spPr>
          <a:xfrm>
            <a:off x="390432" y="828487"/>
            <a:ext cx="4990290" cy="3824380"/>
          </a:xfrm>
          <a:prstGeom prst="rect">
            <a:avLst/>
          </a:prstGeom>
        </p:spPr>
        <p:txBody>
          <a:bodyPr vert="horz" wrap="square" lIns="0" tIns="0" rIns="0" bIns="0" rtlCol="0">
            <a:spAutoFit/>
          </a:bodyPr>
          <a:lstStyle/>
          <a:p>
            <a:pPr marL="536575" indent="-236538" algn="just">
              <a:lnSpc>
                <a:spcPct val="120000"/>
              </a:lnSpc>
              <a:spcAft>
                <a:spcPts val="600"/>
              </a:spcAft>
              <a:buFont typeface="Arial" panose="020B0604020202020204" pitchFamily="34" charset="0"/>
              <a:buChar char="•"/>
            </a:pPr>
            <a:r>
              <a:rPr lang="es-PE" sz="1600" b="1" dirty="0"/>
              <a:t>GOBIERNO CORPORATIVO: </a:t>
            </a:r>
          </a:p>
          <a:p>
            <a:pPr marL="804863" indent="-236538" algn="just">
              <a:lnSpc>
                <a:spcPct val="110000"/>
              </a:lnSpc>
              <a:spcAft>
                <a:spcPts val="1200"/>
              </a:spcAft>
              <a:buFont typeface="Courier New" panose="02070309020205020404" pitchFamily="49" charset="0"/>
              <a:buChar char="o"/>
            </a:pPr>
            <a:r>
              <a:rPr lang="es-PE" sz="1600" dirty="0"/>
              <a:t>Se refiere al conjunto de principios, normas y procedimientos que rigen la forma de controlar y gestionar las acciones de las </a:t>
            </a:r>
            <a:r>
              <a:rPr lang="es-PE" sz="1600" dirty="0" smtClean="0"/>
              <a:t>empresas.</a:t>
            </a:r>
            <a:endParaRPr lang="es-PE" sz="1600" dirty="0"/>
          </a:p>
          <a:p>
            <a:pPr marL="804863" indent="-236538" algn="just">
              <a:lnSpc>
                <a:spcPct val="110000"/>
              </a:lnSpc>
              <a:spcAft>
                <a:spcPts val="1800"/>
              </a:spcAft>
              <a:buFont typeface="Courier New" panose="02070309020205020404" pitchFamily="49" charset="0"/>
              <a:buChar char="o"/>
            </a:pPr>
            <a:r>
              <a:rPr lang="es-PE" sz="1600" dirty="0"/>
              <a:t>Un buen gobierno corporativo evalúa y provee los incentivos para proteger los intereses de la compañía y sus accionistas.</a:t>
            </a:r>
          </a:p>
          <a:p>
            <a:pPr marL="536575" indent="-236538" algn="just">
              <a:lnSpc>
                <a:spcPct val="120000"/>
              </a:lnSpc>
              <a:spcAft>
                <a:spcPts val="600"/>
              </a:spcAft>
              <a:buFont typeface="Arial" panose="020B0604020202020204" pitchFamily="34" charset="0"/>
              <a:buChar char="•"/>
            </a:pPr>
            <a:r>
              <a:rPr lang="es-PE" sz="1600" b="1" dirty="0"/>
              <a:t>GOBIERNO DE NEGOCIO: </a:t>
            </a:r>
          </a:p>
          <a:p>
            <a:pPr marL="804863" indent="-236538" algn="just">
              <a:lnSpc>
                <a:spcPct val="110000"/>
              </a:lnSpc>
              <a:spcAft>
                <a:spcPts val="2400"/>
              </a:spcAft>
              <a:buFont typeface="Courier New" panose="02070309020205020404" pitchFamily="49" charset="0"/>
              <a:buChar char="o"/>
            </a:pPr>
            <a:r>
              <a:rPr lang="es-PE" sz="1600" dirty="0"/>
              <a:t>Su enfoque continuo y permanente, se centra en la correcta gestión de todos los recursos que se </a:t>
            </a:r>
            <a:r>
              <a:rPr lang="es-PE" sz="1600" dirty="0" smtClean="0"/>
              <a:t>tienen disponibles </a:t>
            </a:r>
            <a:r>
              <a:rPr lang="es-PE" sz="1600" dirty="0"/>
              <a:t>para una mejor productividad y así cumplir con los objetivos de la empresa.</a:t>
            </a:r>
          </a:p>
        </p:txBody>
      </p:sp>
      <p:pic>
        <p:nvPicPr>
          <p:cNvPr id="2052" name="Picture 4" descr="El lenguaje corporal de las empresas exitosas –">
            <a:extLst>
              <a:ext uri="{FF2B5EF4-FFF2-40B4-BE49-F238E27FC236}">
                <a16:creationId xmlns:a16="http://schemas.microsoft.com/office/drawing/2014/main" id="{534B9B98-197C-4478-875E-B5B47EEB16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2608" y="2034608"/>
            <a:ext cx="2810777" cy="1645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32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DIMENSIONES</a:t>
            </a:r>
          </a:p>
        </p:txBody>
      </p:sp>
      <p:grpSp>
        <p:nvGrpSpPr>
          <p:cNvPr id="8" name="Grupo 7">
            <a:extLst>
              <a:ext uri="{FF2B5EF4-FFF2-40B4-BE49-F238E27FC236}">
                <a16:creationId xmlns:a16="http://schemas.microsoft.com/office/drawing/2014/main" id="{1C39AE2B-607B-4419-95CF-CF96E53EB5A2}"/>
              </a:ext>
            </a:extLst>
          </p:cNvPr>
          <p:cNvGrpSpPr/>
          <p:nvPr/>
        </p:nvGrpSpPr>
        <p:grpSpPr>
          <a:xfrm>
            <a:off x="1161678" y="1172979"/>
            <a:ext cx="7088641" cy="3342422"/>
            <a:chOff x="1269834" y="1960571"/>
            <a:chExt cx="6725469" cy="3092856"/>
          </a:xfrm>
        </p:grpSpPr>
        <p:pic>
          <p:nvPicPr>
            <p:cNvPr id="9" name="Imagen 8">
              <a:extLst>
                <a:ext uri="{FF2B5EF4-FFF2-40B4-BE49-F238E27FC236}">
                  <a16:creationId xmlns:a16="http://schemas.microsoft.com/office/drawing/2014/main" id="{14604C8A-7366-4545-A627-BC5C58691B41}"/>
                </a:ext>
              </a:extLst>
            </p:cNvPr>
            <p:cNvPicPr>
              <a:picLocks noChangeAspect="1"/>
            </p:cNvPicPr>
            <p:nvPr/>
          </p:nvPicPr>
          <p:blipFill>
            <a:blip r:embed="rId3"/>
            <a:stretch>
              <a:fillRect/>
            </a:stretch>
          </p:blipFill>
          <p:spPr>
            <a:xfrm>
              <a:off x="2650323" y="1960571"/>
              <a:ext cx="3913361" cy="2222483"/>
            </a:xfrm>
            <a:prstGeom prst="rect">
              <a:avLst/>
            </a:prstGeom>
          </p:spPr>
        </p:pic>
        <p:sp>
          <p:nvSpPr>
            <p:cNvPr id="10" name="CuadroTexto 9">
              <a:extLst>
                <a:ext uri="{FF2B5EF4-FFF2-40B4-BE49-F238E27FC236}">
                  <a16:creationId xmlns:a16="http://schemas.microsoft.com/office/drawing/2014/main" id="{550A1238-7AD9-437B-94C3-40380367C44E}"/>
                </a:ext>
              </a:extLst>
            </p:cNvPr>
            <p:cNvSpPr txBox="1"/>
            <p:nvPr/>
          </p:nvSpPr>
          <p:spPr>
            <a:xfrm>
              <a:off x="1624489" y="4455355"/>
              <a:ext cx="5965028" cy="598072"/>
            </a:xfrm>
            <a:prstGeom prst="rect">
              <a:avLst/>
            </a:prstGeom>
            <a:solidFill>
              <a:srgbClr val="F2D064"/>
            </a:solidFill>
          </p:spPr>
          <p:txBody>
            <a:bodyPr wrap="square" rtlCol="0">
              <a:spAutoFit/>
            </a:bodyPr>
            <a:lstStyle/>
            <a:p>
              <a:pPr algn="ctr"/>
              <a:r>
                <a:rPr lang="es-PE" b="1" dirty="0">
                  <a:latin typeface="+mj-lt"/>
                </a:rPr>
                <a:t>El Gobierno de toda </a:t>
              </a:r>
              <a:r>
                <a:rPr lang="es-PE" b="1" dirty="0" smtClean="0">
                  <a:latin typeface="+mj-lt"/>
                </a:rPr>
                <a:t>empresa</a:t>
              </a:r>
              <a:r>
                <a:rPr lang="es-PE" b="1" dirty="0">
                  <a:latin typeface="+mj-lt"/>
                </a:rPr>
                <a:t>, requiere un </a:t>
              </a:r>
              <a:r>
                <a:rPr lang="es-PE" b="1" dirty="0" smtClean="0">
                  <a:latin typeface="+mj-lt"/>
                </a:rPr>
                <a:t>balance </a:t>
              </a:r>
              <a:r>
                <a:rPr lang="es-PE" b="1" dirty="0">
                  <a:latin typeface="+mj-lt"/>
                </a:rPr>
                <a:t>entre </a:t>
              </a:r>
              <a:r>
                <a:rPr lang="es-PE" b="1" dirty="0" smtClean="0">
                  <a:latin typeface="+mj-lt"/>
                </a:rPr>
                <a:t>desempeño </a:t>
              </a:r>
              <a:r>
                <a:rPr lang="es-PE" b="1" dirty="0">
                  <a:latin typeface="+mj-lt"/>
                </a:rPr>
                <a:t>y </a:t>
              </a:r>
              <a:r>
                <a:rPr lang="es-PE" b="1" dirty="0" smtClean="0">
                  <a:latin typeface="+mj-lt"/>
                </a:rPr>
                <a:t>conformidad</a:t>
              </a:r>
              <a:endParaRPr lang="es-PE" b="1" dirty="0">
                <a:latin typeface="+mj-lt"/>
              </a:endParaRPr>
            </a:p>
          </p:txBody>
        </p:sp>
        <p:sp>
          <p:nvSpPr>
            <p:cNvPr id="11" name="Rectángulo 10">
              <a:extLst>
                <a:ext uri="{FF2B5EF4-FFF2-40B4-BE49-F238E27FC236}">
                  <a16:creationId xmlns:a16="http://schemas.microsoft.com/office/drawing/2014/main" id="{1A8C3382-86DD-43BE-BBBB-5D47DBC5D8E5}"/>
                </a:ext>
              </a:extLst>
            </p:cNvPr>
            <p:cNvSpPr/>
            <p:nvPr/>
          </p:nvSpPr>
          <p:spPr>
            <a:xfrm>
              <a:off x="1269834" y="3071812"/>
              <a:ext cx="3054360" cy="393119"/>
            </a:xfrm>
            <a:prstGeom prst="rect">
              <a:avLst/>
            </a:prstGeom>
            <a:solidFill>
              <a:srgbClr val="4BA892"/>
            </a:solidFill>
            <a:ln>
              <a:noFill/>
            </a:ln>
            <a:effectLst>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600" b="1" dirty="0"/>
                <a:t>Gobierno de Negocio: Desempeño</a:t>
              </a:r>
            </a:p>
          </p:txBody>
        </p:sp>
        <p:sp>
          <p:nvSpPr>
            <p:cNvPr id="12" name="Rectángulo 11">
              <a:extLst>
                <a:ext uri="{FF2B5EF4-FFF2-40B4-BE49-F238E27FC236}">
                  <a16:creationId xmlns:a16="http://schemas.microsoft.com/office/drawing/2014/main" id="{0917D3D9-D2F9-4822-BFC9-B43EBE34DCD8}"/>
                </a:ext>
              </a:extLst>
            </p:cNvPr>
            <p:cNvSpPr/>
            <p:nvPr/>
          </p:nvSpPr>
          <p:spPr>
            <a:xfrm>
              <a:off x="4889109" y="3071812"/>
              <a:ext cx="3106194" cy="393119"/>
            </a:xfrm>
            <a:prstGeom prst="rect">
              <a:avLst/>
            </a:prstGeom>
            <a:solidFill>
              <a:srgbClr val="4BA892"/>
            </a:solidFill>
            <a:ln>
              <a:noFill/>
            </a:ln>
            <a:effectLst>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600" b="1" dirty="0"/>
                <a:t>Gobierno Corporativo: Conformidad</a:t>
              </a:r>
            </a:p>
          </p:txBody>
        </p:sp>
      </p:grpSp>
    </p:spTree>
    <p:extLst>
      <p:ext uri="{BB962C8B-B14F-4D97-AF65-F5344CB8AC3E}">
        <p14:creationId xmlns:p14="http://schemas.microsoft.com/office/powerpoint/2010/main" val="188171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867930"/>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RELACIÓN ENTRE EL GOBIERNO DE NEGOCIO Y EL GOBIERNO EMPRESARIAL</a:t>
            </a:r>
          </a:p>
        </p:txBody>
      </p:sp>
    </p:spTree>
    <p:custDataLst>
      <p:tags r:id="rId1"/>
    </p:custDataLst>
    <p:extLst>
      <p:ext uri="{BB962C8B-B14F-4D97-AF65-F5344CB8AC3E}">
        <p14:creationId xmlns:p14="http://schemas.microsoft.com/office/powerpoint/2010/main" val="385182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RELACIÓN ENTRE EL GOBIERNO DE NEGOCIO Y EL GOBIERNO EMPRESARIAL</a:t>
            </a:r>
          </a:p>
        </p:txBody>
      </p:sp>
      <p:sp>
        <p:nvSpPr>
          <p:cNvPr id="6" name="object 7">
            <a:extLst>
              <a:ext uri="{FF2B5EF4-FFF2-40B4-BE49-F238E27FC236}">
                <a16:creationId xmlns:a16="http://schemas.microsoft.com/office/drawing/2014/main" id="{66B59367-05B2-4761-9296-D4A8071D3957}"/>
              </a:ext>
            </a:extLst>
          </p:cNvPr>
          <p:cNvSpPr txBox="1"/>
          <p:nvPr/>
        </p:nvSpPr>
        <p:spPr>
          <a:xfrm>
            <a:off x="493735" y="1096988"/>
            <a:ext cx="4521199" cy="3488904"/>
          </a:xfrm>
          <a:prstGeom prst="rect">
            <a:avLst/>
          </a:prstGeom>
        </p:spPr>
        <p:txBody>
          <a:bodyPr vert="horz" wrap="square" lIns="0" tIns="0" rIns="0" bIns="0" rtlCol="0">
            <a:spAutoFit/>
          </a:bodyPr>
          <a:lstStyle/>
          <a:p>
            <a:pPr marL="285750" indent="-285750" algn="just">
              <a:lnSpc>
                <a:spcPct val="120000"/>
              </a:lnSpc>
              <a:buFont typeface="Arial" panose="020B0604020202020204" pitchFamily="34" charset="0"/>
              <a:buChar char="•"/>
            </a:pPr>
            <a:r>
              <a:rPr lang="es-PE" sz="1600" dirty="0"/>
              <a:t>Existe una relación muy fuerte entre </a:t>
            </a:r>
            <a:r>
              <a:rPr lang="es-PE" sz="1600" dirty="0" smtClean="0"/>
              <a:t>el</a:t>
            </a:r>
            <a:r>
              <a:rPr lang="es-PE" sz="1600" dirty="0" smtClean="0"/>
              <a:t> </a:t>
            </a:r>
            <a:r>
              <a:rPr lang="es-PE" sz="1600" dirty="0"/>
              <a:t>g</a:t>
            </a:r>
            <a:r>
              <a:rPr lang="es-PE" sz="1600" dirty="0" smtClean="0"/>
              <a:t>obierno </a:t>
            </a:r>
            <a:r>
              <a:rPr lang="es-PE" sz="1600" dirty="0"/>
              <a:t>de </a:t>
            </a:r>
            <a:r>
              <a:rPr lang="es-PE" sz="1600" dirty="0" smtClean="0"/>
              <a:t>negocio </a:t>
            </a:r>
            <a:r>
              <a:rPr lang="es-PE" sz="1600" dirty="0"/>
              <a:t>y el </a:t>
            </a:r>
            <a:r>
              <a:rPr lang="es-PE" sz="1600" dirty="0" smtClean="0"/>
              <a:t>gobierno </a:t>
            </a:r>
            <a:r>
              <a:rPr lang="es-PE" sz="1600" dirty="0"/>
              <a:t>c</a:t>
            </a:r>
            <a:r>
              <a:rPr lang="es-PE" sz="1600" dirty="0" smtClean="0"/>
              <a:t>orporativo</a:t>
            </a:r>
            <a:r>
              <a:rPr lang="es-PE" sz="1600" dirty="0"/>
              <a:t>, dado que el </a:t>
            </a:r>
            <a:r>
              <a:rPr lang="es-PE" sz="1600" dirty="0"/>
              <a:t>g</a:t>
            </a:r>
            <a:r>
              <a:rPr lang="es-PE" sz="1600" dirty="0" smtClean="0"/>
              <a:t>obierno corporativo </a:t>
            </a:r>
            <a:r>
              <a:rPr lang="es-PE" sz="1600" dirty="0"/>
              <a:t>entrega informes de un ciclo económico y rinde cuentas sobre esos resultados. </a:t>
            </a:r>
          </a:p>
          <a:p>
            <a:pPr algn="just">
              <a:lnSpc>
                <a:spcPct val="120000"/>
              </a:lnSpc>
            </a:pPr>
            <a:endParaRPr lang="es-PE" sz="1400" dirty="0"/>
          </a:p>
          <a:p>
            <a:pPr marL="285750" indent="-285750" algn="just">
              <a:lnSpc>
                <a:spcPct val="120000"/>
              </a:lnSpc>
              <a:buFont typeface="Arial" panose="020B0604020202020204" pitchFamily="34" charset="0"/>
              <a:buChar char="•"/>
            </a:pPr>
            <a:r>
              <a:rPr lang="es-PE" sz="1600" dirty="0"/>
              <a:t>Por ello, es muy importante controlar la ejecución de todos los procesos que generan estos informes </a:t>
            </a:r>
            <a:r>
              <a:rPr lang="es-PE" sz="1600" dirty="0" smtClean="0"/>
              <a:t>(gobierno </a:t>
            </a:r>
            <a:r>
              <a:rPr lang="es-PE" sz="1600" dirty="0"/>
              <a:t>de </a:t>
            </a:r>
            <a:r>
              <a:rPr lang="es-PE" sz="1600" dirty="0" smtClean="0"/>
              <a:t>negocio</a:t>
            </a:r>
            <a:r>
              <a:rPr lang="es-PE" sz="1600" dirty="0" smtClean="0"/>
              <a:t>) en los que </a:t>
            </a:r>
            <a:r>
              <a:rPr lang="es-PE" sz="1600" dirty="0"/>
              <a:t>aparecen todos los activos de la empresa, </a:t>
            </a:r>
            <a:r>
              <a:rPr lang="es-PE" sz="1600" dirty="0" smtClean="0"/>
              <a:t>por lo que las </a:t>
            </a:r>
            <a:r>
              <a:rPr lang="es-PE" sz="1600" dirty="0"/>
              <a:t>tecnologías de </a:t>
            </a:r>
            <a:r>
              <a:rPr lang="es-PE" sz="1600" dirty="0" smtClean="0"/>
              <a:t>información son principal </a:t>
            </a:r>
            <a:r>
              <a:rPr lang="es-PE" sz="1600" dirty="0"/>
              <a:t>fuente de </a:t>
            </a:r>
            <a:r>
              <a:rPr lang="es-PE" sz="1600" dirty="0" smtClean="0"/>
              <a:t>valor; </a:t>
            </a:r>
            <a:r>
              <a:rPr lang="es-PE" sz="1600" dirty="0"/>
              <a:t>por ello, el concepto de gobierno de TI está dentro del gobierno de negocio.</a:t>
            </a:r>
          </a:p>
        </p:txBody>
      </p:sp>
      <p:pic>
        <p:nvPicPr>
          <p:cNvPr id="4098" name="Picture 2" descr="Normas Ecuatorianas para el Buen Gobierno Corporativo se recogen en un  texto impreso y digital | Ekosnegocios">
            <a:extLst>
              <a:ext uri="{FF2B5EF4-FFF2-40B4-BE49-F238E27FC236}">
                <a16:creationId xmlns:a16="http://schemas.microsoft.com/office/drawing/2014/main" id="{284DF554-FAC9-433C-A920-B6EFD1ACF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2145" y="1912593"/>
            <a:ext cx="3098120" cy="2078500"/>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572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RELACIÓN ENTRE EL GOBIERNO DE NEGOCIO Y EL GOBIERNO EMPRESARIAL</a:t>
            </a:r>
          </a:p>
        </p:txBody>
      </p:sp>
      <p:grpSp>
        <p:nvGrpSpPr>
          <p:cNvPr id="10" name="Grupo 9">
            <a:extLst>
              <a:ext uri="{FF2B5EF4-FFF2-40B4-BE49-F238E27FC236}">
                <a16:creationId xmlns:a16="http://schemas.microsoft.com/office/drawing/2014/main" id="{082E601B-95B4-46E7-9A64-289802DA411E}"/>
              </a:ext>
            </a:extLst>
          </p:cNvPr>
          <p:cNvGrpSpPr/>
          <p:nvPr/>
        </p:nvGrpSpPr>
        <p:grpSpPr>
          <a:xfrm>
            <a:off x="575216" y="766037"/>
            <a:ext cx="8022896" cy="4152337"/>
            <a:chOff x="609763" y="1146769"/>
            <a:chExt cx="8022896" cy="4152337"/>
          </a:xfrm>
        </p:grpSpPr>
        <p:graphicFrame>
          <p:nvGraphicFramePr>
            <p:cNvPr id="11" name="Diagrama 10">
              <a:extLst>
                <a:ext uri="{FF2B5EF4-FFF2-40B4-BE49-F238E27FC236}">
                  <a16:creationId xmlns:a16="http://schemas.microsoft.com/office/drawing/2014/main" id="{85580B8E-F203-4869-9D41-6E008C11ABC7}"/>
                </a:ext>
              </a:extLst>
            </p:cNvPr>
            <p:cNvGraphicFramePr/>
            <p:nvPr>
              <p:extLst>
                <p:ext uri="{D42A27DB-BD31-4B8C-83A1-F6EECF244321}">
                  <p14:modId xmlns:p14="http://schemas.microsoft.com/office/powerpoint/2010/main" val="1877150051"/>
                </p:ext>
              </p:extLst>
            </p:nvPr>
          </p:nvGraphicFramePr>
          <p:xfrm>
            <a:off x="609763" y="1146769"/>
            <a:ext cx="3300367" cy="2520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ángulo 11">
              <a:extLst>
                <a:ext uri="{FF2B5EF4-FFF2-40B4-BE49-F238E27FC236}">
                  <a16:creationId xmlns:a16="http://schemas.microsoft.com/office/drawing/2014/main" id="{DFB669B7-B967-4655-AD05-3A6592D646F4}"/>
                </a:ext>
              </a:extLst>
            </p:cNvPr>
            <p:cNvSpPr/>
            <p:nvPr/>
          </p:nvSpPr>
          <p:spPr>
            <a:xfrm>
              <a:off x="609763" y="3709470"/>
              <a:ext cx="1500167" cy="660073"/>
            </a:xfrm>
            <a:prstGeom prst="rect">
              <a:avLst/>
            </a:prstGeom>
            <a:solidFill>
              <a:srgbClr val="1DB7DD"/>
            </a:solidFill>
            <a:ln w="12700" cap="flat" cmpd="sng" algn="ctr">
              <a:solidFill>
                <a:schemeClr val="tx1"/>
              </a:solidFill>
              <a:prstDash val="solid"/>
            </a:ln>
            <a:effectLst/>
          </p:spPr>
          <p:txBody>
            <a:bodyPr spcFirstLastPara="0" vert="horz" wrap="square" lIns="9525" tIns="9525" rIns="9525" bIns="9525" numCol="1" spcCol="1270" anchor="ctr" anchorCtr="0">
              <a:noAutofit/>
            </a:bodyPr>
            <a:lstStyle/>
            <a:p>
              <a:pPr algn="ctr"/>
              <a:r>
                <a:rPr lang="es-PE" sz="1000" b="1" dirty="0">
                  <a:latin typeface="+mj-lt"/>
                </a:rPr>
                <a:t>Responsabilidad y</a:t>
              </a:r>
            </a:p>
            <a:p>
              <a:pPr algn="ctr"/>
              <a:r>
                <a:rPr lang="es-PE" sz="1000" b="1" dirty="0">
                  <a:latin typeface="+mj-lt"/>
                </a:rPr>
                <a:t>s</a:t>
              </a:r>
              <a:r>
                <a:rPr lang="es-PE" sz="1000" b="1" dirty="0" smtClean="0">
                  <a:latin typeface="+mj-lt"/>
                </a:rPr>
                <a:t>eguridad</a:t>
              </a:r>
              <a:endParaRPr lang="es-PE" sz="1000" b="1" dirty="0">
                <a:latin typeface="+mj-lt"/>
              </a:endParaRPr>
            </a:p>
          </p:txBody>
        </p:sp>
        <p:sp>
          <p:nvSpPr>
            <p:cNvPr id="13" name="Rectángulo 12">
              <a:extLst>
                <a:ext uri="{FF2B5EF4-FFF2-40B4-BE49-F238E27FC236}">
                  <a16:creationId xmlns:a16="http://schemas.microsoft.com/office/drawing/2014/main" id="{8F9927E7-6608-4CBE-AE50-C40B2FD0E032}"/>
                </a:ext>
              </a:extLst>
            </p:cNvPr>
            <p:cNvSpPr/>
            <p:nvPr/>
          </p:nvSpPr>
          <p:spPr>
            <a:xfrm>
              <a:off x="2409963" y="3715810"/>
              <a:ext cx="1500167" cy="660073"/>
            </a:xfrm>
            <a:prstGeom prst="rect">
              <a:avLst/>
            </a:prstGeom>
            <a:solidFill>
              <a:srgbClr val="1DB7DD"/>
            </a:solidFill>
            <a:ln w="12700" cap="flat" cmpd="sng" algn="ctr">
              <a:solidFill>
                <a:schemeClr val="tx1"/>
              </a:solidFill>
              <a:prstDash val="solid"/>
            </a:ln>
            <a:effectLst/>
          </p:spPr>
          <p:txBody>
            <a:bodyPr spcFirstLastPara="0" vert="horz" wrap="square" lIns="9525" tIns="9525" rIns="9525" bIns="9525" numCol="1" spcCol="1270" anchor="ctr" anchorCtr="0">
              <a:noAutofit/>
            </a:bodyPr>
            <a:lstStyle/>
            <a:p>
              <a:pPr algn="ctr"/>
              <a:r>
                <a:rPr lang="es-PE" sz="1000" b="1" dirty="0">
                  <a:latin typeface="+mj-lt"/>
                </a:rPr>
                <a:t>Creación de </a:t>
              </a:r>
              <a:r>
                <a:rPr lang="es-PE" sz="1000" b="1" dirty="0" smtClean="0">
                  <a:latin typeface="+mj-lt"/>
                </a:rPr>
                <a:t>valor</a:t>
              </a:r>
              <a:endParaRPr lang="es-PE" sz="1000" b="1" dirty="0">
                <a:latin typeface="+mj-lt"/>
              </a:endParaRPr>
            </a:p>
            <a:p>
              <a:pPr algn="ctr"/>
              <a:r>
                <a:rPr lang="es-PE" sz="1000" b="1" dirty="0">
                  <a:latin typeface="+mj-lt"/>
                </a:rPr>
                <a:t>Utilización del </a:t>
              </a:r>
              <a:r>
                <a:rPr lang="es-PE" sz="1000" b="1" dirty="0" smtClean="0">
                  <a:latin typeface="+mj-lt"/>
                </a:rPr>
                <a:t>recurso</a:t>
              </a:r>
              <a:endParaRPr lang="es-PE" sz="1000" b="1" dirty="0">
                <a:latin typeface="+mj-lt"/>
              </a:endParaRPr>
            </a:p>
          </p:txBody>
        </p:sp>
        <p:sp>
          <p:nvSpPr>
            <p:cNvPr id="14" name="Flecha: a la derecha 12">
              <a:extLst>
                <a:ext uri="{FF2B5EF4-FFF2-40B4-BE49-F238E27FC236}">
                  <a16:creationId xmlns:a16="http://schemas.microsoft.com/office/drawing/2014/main" id="{B7B1C08C-B894-44A5-A689-703E616B79B0}"/>
                </a:ext>
              </a:extLst>
            </p:cNvPr>
            <p:cNvSpPr/>
            <p:nvPr/>
          </p:nvSpPr>
          <p:spPr>
            <a:xfrm rot="5400000">
              <a:off x="6725824" y="3841073"/>
              <a:ext cx="300033" cy="259626"/>
            </a:xfrm>
            <a:prstGeom prst="rightArrow">
              <a:avLst>
                <a:gd name="adj1" fmla="val 34714"/>
                <a:gd name="adj2" fmla="val 50000"/>
              </a:avLst>
            </a:prstGeom>
            <a:solidFill>
              <a:srgbClr val="3390BB"/>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PE"/>
            </a:p>
          </p:txBody>
        </p:sp>
        <p:sp>
          <p:nvSpPr>
            <p:cNvPr id="15" name="Rectángulo: esquinas redondeadas 13">
              <a:extLst>
                <a:ext uri="{FF2B5EF4-FFF2-40B4-BE49-F238E27FC236}">
                  <a16:creationId xmlns:a16="http://schemas.microsoft.com/office/drawing/2014/main" id="{93067C81-17C8-46B2-8D97-D767518DE1FC}"/>
                </a:ext>
              </a:extLst>
            </p:cNvPr>
            <p:cNvSpPr/>
            <p:nvPr/>
          </p:nvSpPr>
          <p:spPr>
            <a:xfrm>
              <a:off x="4530399" y="1865548"/>
              <a:ext cx="893113" cy="1980220"/>
            </a:xfrm>
            <a:prstGeom prst="roundRect">
              <a:avLst/>
            </a:prstGeom>
            <a:solidFill>
              <a:srgbClr val="6AC7F3"/>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167" b="1" dirty="0">
                  <a:solidFill>
                    <a:schemeClr val="tx1">
                      <a:lumMod val="75000"/>
                      <a:lumOff val="25000"/>
                    </a:schemeClr>
                  </a:solidFill>
                </a:rPr>
                <a:t>Activos de la </a:t>
              </a:r>
              <a:r>
                <a:rPr lang="es-PE" sz="1167" b="1" dirty="0" smtClean="0">
                  <a:solidFill>
                    <a:schemeClr val="tx1">
                      <a:lumMod val="75000"/>
                      <a:lumOff val="25000"/>
                    </a:schemeClr>
                  </a:solidFill>
                </a:rPr>
                <a:t>empresa</a:t>
              </a:r>
              <a:endParaRPr lang="es-PE" sz="1167" b="1" dirty="0">
                <a:solidFill>
                  <a:schemeClr val="tx1">
                    <a:lumMod val="75000"/>
                    <a:lumOff val="25000"/>
                  </a:schemeClr>
                </a:solidFill>
              </a:endParaRPr>
            </a:p>
          </p:txBody>
        </p:sp>
        <p:sp>
          <p:nvSpPr>
            <p:cNvPr id="16" name="CuadroTexto 15">
              <a:extLst>
                <a:ext uri="{FF2B5EF4-FFF2-40B4-BE49-F238E27FC236}">
                  <a16:creationId xmlns:a16="http://schemas.microsoft.com/office/drawing/2014/main" id="{6D23E2EF-4103-47EF-88CD-6A11EAD5B33F}"/>
                </a:ext>
              </a:extLst>
            </p:cNvPr>
            <p:cNvSpPr txBox="1"/>
            <p:nvPr/>
          </p:nvSpPr>
          <p:spPr>
            <a:xfrm>
              <a:off x="5874543" y="1865548"/>
              <a:ext cx="2433147" cy="1630896"/>
            </a:xfrm>
            <a:prstGeom prst="rect">
              <a:avLst/>
            </a:prstGeom>
            <a:noFill/>
          </p:spPr>
          <p:txBody>
            <a:bodyPr wrap="square" rtlCol="0">
              <a:spAutoFit/>
            </a:bodyPr>
            <a:lstStyle/>
            <a:p>
              <a:pPr marL="182563" indent="-182563">
                <a:lnSpc>
                  <a:spcPct val="150000"/>
                </a:lnSpc>
                <a:buFont typeface="Arial" panose="020B0604020202020204" pitchFamily="34" charset="0"/>
                <a:buChar char="•"/>
              </a:pPr>
              <a:r>
                <a:rPr lang="es-PE" sz="1333" b="1" dirty="0">
                  <a:latin typeface="+mj-lt"/>
                </a:rPr>
                <a:t>Activos </a:t>
              </a:r>
              <a:r>
                <a:rPr lang="es-PE" sz="1333" b="1" dirty="0" smtClean="0">
                  <a:latin typeface="+mj-lt"/>
                </a:rPr>
                <a:t>físicos</a:t>
              </a:r>
              <a:endParaRPr lang="es-PE" sz="1333" b="1" dirty="0">
                <a:latin typeface="+mj-lt"/>
              </a:endParaRPr>
            </a:p>
            <a:p>
              <a:pPr marL="182563" indent="-182563">
                <a:lnSpc>
                  <a:spcPct val="150000"/>
                </a:lnSpc>
                <a:buFont typeface="Arial" panose="020B0604020202020204" pitchFamily="34" charset="0"/>
                <a:buChar char="•"/>
              </a:pPr>
              <a:r>
                <a:rPr lang="es-PE" sz="1333" b="1" dirty="0">
                  <a:latin typeface="+mj-lt"/>
                </a:rPr>
                <a:t>Recursos </a:t>
              </a:r>
              <a:r>
                <a:rPr lang="es-PE" sz="1333" b="1" dirty="0" smtClean="0">
                  <a:latin typeface="+mj-lt"/>
                </a:rPr>
                <a:t>humanos</a:t>
              </a:r>
              <a:endParaRPr lang="es-PE" sz="1333" b="1" dirty="0">
                <a:latin typeface="+mj-lt"/>
              </a:endParaRPr>
            </a:p>
            <a:p>
              <a:pPr marL="182563" indent="-182563">
                <a:lnSpc>
                  <a:spcPct val="150000"/>
                </a:lnSpc>
                <a:buFont typeface="Arial" panose="020B0604020202020204" pitchFamily="34" charset="0"/>
                <a:buChar char="•"/>
              </a:pPr>
              <a:r>
                <a:rPr lang="es-PE" sz="1333" b="1" dirty="0">
                  <a:latin typeface="+mj-lt"/>
                </a:rPr>
                <a:t>Información</a:t>
              </a:r>
            </a:p>
            <a:p>
              <a:pPr marL="182563" indent="-182563">
                <a:lnSpc>
                  <a:spcPct val="150000"/>
                </a:lnSpc>
                <a:buFont typeface="Arial" panose="020B0604020202020204" pitchFamily="34" charset="0"/>
                <a:buChar char="•"/>
              </a:pPr>
              <a:r>
                <a:rPr lang="es-PE" sz="1333" b="1" dirty="0">
                  <a:latin typeface="+mj-lt"/>
                </a:rPr>
                <a:t>Propiedad </a:t>
              </a:r>
              <a:r>
                <a:rPr lang="es-PE" sz="1333" b="1" dirty="0" smtClean="0">
                  <a:latin typeface="+mj-lt"/>
                </a:rPr>
                <a:t>intelectual</a:t>
              </a:r>
              <a:endParaRPr lang="es-PE" sz="1333" b="1" dirty="0">
                <a:latin typeface="+mj-lt"/>
              </a:endParaRPr>
            </a:p>
            <a:p>
              <a:pPr marL="182563" indent="-182563">
                <a:lnSpc>
                  <a:spcPct val="150000"/>
                </a:lnSpc>
                <a:buFont typeface="Arial" panose="020B0604020202020204" pitchFamily="34" charset="0"/>
                <a:buChar char="•"/>
              </a:pPr>
              <a:r>
                <a:rPr lang="es-PE" sz="1333" b="1" dirty="0">
                  <a:latin typeface="+mj-lt"/>
                </a:rPr>
                <a:t>Tecnologías de </a:t>
              </a:r>
              <a:r>
                <a:rPr lang="es-PE" sz="1333" b="1" dirty="0">
                  <a:latin typeface="+mj-lt"/>
                </a:rPr>
                <a:t>i</a:t>
              </a:r>
              <a:r>
                <a:rPr lang="es-PE" sz="1333" b="1" dirty="0" smtClean="0">
                  <a:latin typeface="+mj-lt"/>
                </a:rPr>
                <a:t>nformación</a:t>
              </a:r>
              <a:endParaRPr lang="es-PE" sz="1333" b="1" dirty="0">
                <a:latin typeface="+mj-lt"/>
              </a:endParaRPr>
            </a:p>
          </p:txBody>
        </p:sp>
        <p:sp>
          <p:nvSpPr>
            <p:cNvPr id="17" name="Abrir llave 16">
              <a:extLst>
                <a:ext uri="{FF2B5EF4-FFF2-40B4-BE49-F238E27FC236}">
                  <a16:creationId xmlns:a16="http://schemas.microsoft.com/office/drawing/2014/main" id="{25FDE3EC-32DD-4CEC-B532-713E95BE786F}"/>
                </a:ext>
              </a:extLst>
            </p:cNvPr>
            <p:cNvSpPr/>
            <p:nvPr/>
          </p:nvSpPr>
          <p:spPr>
            <a:xfrm>
              <a:off x="5634516" y="1858854"/>
              <a:ext cx="240027" cy="1980220"/>
            </a:xfrm>
            <a:prstGeom prst="leftBrace">
              <a:avLst/>
            </a:prstGeom>
            <a:ln>
              <a:solidFill>
                <a:srgbClr val="3390B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18" name="Rectángulo 17">
              <a:extLst>
                <a:ext uri="{FF2B5EF4-FFF2-40B4-BE49-F238E27FC236}">
                  <a16:creationId xmlns:a16="http://schemas.microsoft.com/office/drawing/2014/main" id="{73F5A699-4457-4913-B8CD-264891392D09}"/>
                </a:ext>
              </a:extLst>
            </p:cNvPr>
            <p:cNvSpPr/>
            <p:nvPr/>
          </p:nvSpPr>
          <p:spPr>
            <a:xfrm>
              <a:off x="4210163" y="4266657"/>
              <a:ext cx="4422496" cy="1032449"/>
            </a:xfrm>
            <a:prstGeom prst="rect">
              <a:avLst/>
            </a:prstGeom>
            <a:solidFill>
              <a:srgbClr val="FFC000"/>
            </a:solidFill>
            <a:ln w="12700" cap="flat" cmpd="sng" algn="ctr">
              <a:solidFill>
                <a:schemeClr val="tx1"/>
              </a:solidFill>
              <a:prstDash val="solid"/>
            </a:ln>
            <a:effectLst/>
          </p:spPr>
          <p:txBody>
            <a:bodyPr spcFirstLastPara="0" vert="horz" wrap="square" lIns="144000" tIns="9525" rIns="144000" bIns="144000" numCol="1" spcCol="1270" anchor="ctr" anchorCtr="0">
              <a:noAutofit/>
            </a:bodyPr>
            <a:lstStyle/>
            <a:p>
              <a:pPr algn="just"/>
              <a:r>
                <a:rPr lang="es-PE" sz="1333" b="1" dirty="0">
                  <a:solidFill>
                    <a:schemeClr val="tx1">
                      <a:lumMod val="95000"/>
                      <a:lumOff val="5000"/>
                    </a:schemeClr>
                  </a:solidFill>
                  <a:latin typeface="+mj-lt"/>
                </a:rPr>
                <a:t>Es decir el concepto de </a:t>
              </a:r>
              <a:r>
                <a:rPr lang="es-PE" b="1" dirty="0">
                  <a:solidFill>
                    <a:schemeClr val="tx1">
                      <a:lumMod val="95000"/>
                      <a:lumOff val="5000"/>
                    </a:schemeClr>
                  </a:solidFill>
                  <a:latin typeface="+mj-lt"/>
                </a:rPr>
                <a:t>Gobierno TI</a:t>
              </a:r>
              <a:r>
                <a:rPr lang="es-PE" sz="1333" b="1" dirty="0">
                  <a:solidFill>
                    <a:schemeClr val="tx1">
                      <a:lumMod val="95000"/>
                      <a:lumOff val="5000"/>
                    </a:schemeClr>
                  </a:solidFill>
                  <a:latin typeface="+mj-lt"/>
                </a:rPr>
                <a:t> se encuentra dentro del </a:t>
              </a:r>
              <a:r>
                <a:rPr lang="es-PE" sz="1333" b="1" dirty="0" smtClean="0">
                  <a:solidFill>
                    <a:schemeClr val="tx1">
                      <a:lumMod val="95000"/>
                      <a:lumOff val="5000"/>
                    </a:schemeClr>
                  </a:solidFill>
                  <a:latin typeface="+mj-lt"/>
                </a:rPr>
                <a:t>gobierno </a:t>
              </a:r>
              <a:r>
                <a:rPr lang="es-PE" sz="1333" b="1" dirty="0">
                  <a:solidFill>
                    <a:schemeClr val="tx1">
                      <a:lumMod val="95000"/>
                      <a:lumOff val="5000"/>
                    </a:schemeClr>
                  </a:solidFill>
                  <a:latin typeface="+mj-lt"/>
                </a:rPr>
                <a:t>de </a:t>
              </a:r>
              <a:r>
                <a:rPr lang="es-PE" sz="1333" b="1" dirty="0" smtClean="0">
                  <a:solidFill>
                    <a:schemeClr val="tx1">
                      <a:lumMod val="95000"/>
                      <a:lumOff val="5000"/>
                    </a:schemeClr>
                  </a:solidFill>
                  <a:latin typeface="+mj-lt"/>
                </a:rPr>
                <a:t>negocio</a:t>
              </a:r>
              <a:r>
                <a:rPr lang="es-PE" sz="1333" b="1" dirty="0">
                  <a:solidFill>
                    <a:schemeClr val="tx1">
                      <a:lumMod val="95000"/>
                      <a:lumOff val="5000"/>
                    </a:schemeClr>
                  </a:solidFill>
                  <a:latin typeface="+mj-lt"/>
                </a:rPr>
                <a:t>, que es una dimensión del </a:t>
              </a:r>
              <a:r>
                <a:rPr lang="es-PE" sz="1333" b="1" dirty="0" smtClean="0">
                  <a:solidFill>
                    <a:schemeClr val="tx1">
                      <a:lumMod val="95000"/>
                      <a:lumOff val="5000"/>
                    </a:schemeClr>
                  </a:solidFill>
                  <a:latin typeface="+mj-lt"/>
                </a:rPr>
                <a:t>gobierno </a:t>
              </a:r>
              <a:r>
                <a:rPr lang="es-PE" sz="1333" b="1" dirty="0">
                  <a:solidFill>
                    <a:schemeClr val="tx1">
                      <a:lumMod val="95000"/>
                      <a:lumOff val="5000"/>
                    </a:schemeClr>
                  </a:solidFill>
                  <a:latin typeface="+mj-lt"/>
                </a:rPr>
                <a:t>e</a:t>
              </a:r>
              <a:r>
                <a:rPr lang="es-PE" sz="1333" b="1" dirty="0" smtClean="0">
                  <a:solidFill>
                    <a:schemeClr val="tx1">
                      <a:lumMod val="95000"/>
                      <a:lumOff val="5000"/>
                    </a:schemeClr>
                  </a:solidFill>
                  <a:latin typeface="+mj-lt"/>
                </a:rPr>
                <a:t>mpresarial</a:t>
              </a:r>
              <a:r>
                <a:rPr lang="es-PE" sz="1333" b="1" dirty="0">
                  <a:solidFill>
                    <a:schemeClr val="tx1">
                      <a:lumMod val="95000"/>
                      <a:lumOff val="5000"/>
                    </a:schemeClr>
                  </a:solidFill>
                  <a:latin typeface="+mj-lt"/>
                </a:rPr>
                <a:t>.</a:t>
              </a:r>
            </a:p>
          </p:txBody>
        </p:sp>
        <p:sp>
          <p:nvSpPr>
            <p:cNvPr id="19" name="Flecha: a la derecha 17">
              <a:extLst>
                <a:ext uri="{FF2B5EF4-FFF2-40B4-BE49-F238E27FC236}">
                  <a16:creationId xmlns:a16="http://schemas.microsoft.com/office/drawing/2014/main" id="{95B28A3A-8525-4B98-8833-3EEFD4EE6995}"/>
                </a:ext>
              </a:extLst>
            </p:cNvPr>
            <p:cNvSpPr/>
            <p:nvPr/>
          </p:nvSpPr>
          <p:spPr>
            <a:xfrm>
              <a:off x="3910130" y="2736945"/>
              <a:ext cx="520461" cy="420047"/>
            </a:xfrm>
            <a:prstGeom prst="rightArrow">
              <a:avLst/>
            </a:prstGeom>
            <a:solidFill>
              <a:srgbClr val="3390BB"/>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PE"/>
            </a:p>
          </p:txBody>
        </p:sp>
        <p:sp>
          <p:nvSpPr>
            <p:cNvPr id="20" name="Flecha: a la derecha 18">
              <a:extLst>
                <a:ext uri="{FF2B5EF4-FFF2-40B4-BE49-F238E27FC236}">
                  <a16:creationId xmlns:a16="http://schemas.microsoft.com/office/drawing/2014/main" id="{CB4CC113-B599-4559-B75F-AFD8D7DA7ED1}"/>
                </a:ext>
              </a:extLst>
            </p:cNvPr>
            <p:cNvSpPr/>
            <p:nvPr/>
          </p:nvSpPr>
          <p:spPr>
            <a:xfrm rot="5400000">
              <a:off x="2990430" y="3333092"/>
              <a:ext cx="300033" cy="259626"/>
            </a:xfrm>
            <a:prstGeom prst="rightArrow">
              <a:avLst>
                <a:gd name="adj1" fmla="val 34714"/>
                <a:gd name="adj2" fmla="val 50000"/>
              </a:avLst>
            </a:prstGeom>
            <a:solidFill>
              <a:srgbClr val="3390BB"/>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PE"/>
            </a:p>
          </p:txBody>
        </p:sp>
        <p:sp>
          <p:nvSpPr>
            <p:cNvPr id="21" name="Flecha: a la derecha 19">
              <a:extLst>
                <a:ext uri="{FF2B5EF4-FFF2-40B4-BE49-F238E27FC236}">
                  <a16:creationId xmlns:a16="http://schemas.microsoft.com/office/drawing/2014/main" id="{79F068B7-838F-4B16-93DE-50E70644E6DA}"/>
                </a:ext>
              </a:extLst>
            </p:cNvPr>
            <p:cNvSpPr/>
            <p:nvPr/>
          </p:nvSpPr>
          <p:spPr>
            <a:xfrm rot="5400000">
              <a:off x="1209829" y="3335474"/>
              <a:ext cx="300033" cy="259626"/>
            </a:xfrm>
            <a:prstGeom prst="rightArrow">
              <a:avLst>
                <a:gd name="adj1" fmla="val 34714"/>
                <a:gd name="adj2" fmla="val 50000"/>
              </a:avLst>
            </a:prstGeom>
            <a:solidFill>
              <a:srgbClr val="3390BB"/>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PE"/>
            </a:p>
          </p:txBody>
        </p:sp>
      </p:grpSp>
    </p:spTree>
    <p:extLst>
      <p:ext uri="{BB962C8B-B14F-4D97-AF65-F5344CB8AC3E}">
        <p14:creationId xmlns:p14="http://schemas.microsoft.com/office/powerpoint/2010/main" val="21551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867930"/>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TECNOLOGÍA Y EL IMPACTO EL IMPACTO EN LAS EMPRESAS</a:t>
            </a:r>
          </a:p>
        </p:txBody>
      </p:sp>
    </p:spTree>
    <p:custDataLst>
      <p:tags r:id="rId1"/>
    </p:custDataLst>
    <p:extLst>
      <p:ext uri="{BB962C8B-B14F-4D97-AF65-F5344CB8AC3E}">
        <p14:creationId xmlns:p14="http://schemas.microsoft.com/office/powerpoint/2010/main" val="114101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
        <p:nvSpPr>
          <p:cNvPr id="7" name="object 7">
            <a:extLst>
              <a:ext uri="{FF2B5EF4-FFF2-40B4-BE49-F238E27FC236}">
                <a16:creationId xmlns:a16="http://schemas.microsoft.com/office/drawing/2014/main" id="{CB0A73A7-E10D-429A-B823-03CE3EFA6326}"/>
              </a:ext>
            </a:extLst>
          </p:cNvPr>
          <p:cNvSpPr txBox="1"/>
          <p:nvPr/>
        </p:nvSpPr>
        <p:spPr>
          <a:xfrm>
            <a:off x="407875" y="90219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1. ¿Por qué las empresas invierten en tecnología?</a:t>
            </a:r>
          </a:p>
        </p:txBody>
      </p:sp>
      <p:sp>
        <p:nvSpPr>
          <p:cNvPr id="8" name="object 7">
            <a:extLst>
              <a:ext uri="{FF2B5EF4-FFF2-40B4-BE49-F238E27FC236}">
                <a16:creationId xmlns:a16="http://schemas.microsoft.com/office/drawing/2014/main" id="{3616133D-3EAA-44E8-B368-529B0D6CD15E}"/>
              </a:ext>
            </a:extLst>
          </p:cNvPr>
          <p:cNvSpPr txBox="1"/>
          <p:nvPr/>
        </p:nvSpPr>
        <p:spPr>
          <a:xfrm>
            <a:off x="602343" y="1268275"/>
            <a:ext cx="7955560" cy="1477328"/>
          </a:xfrm>
          <a:prstGeom prst="rect">
            <a:avLst/>
          </a:prstGeom>
        </p:spPr>
        <p:txBody>
          <a:bodyPr vert="horz" wrap="square" lIns="0" tIns="0" rIns="0" bIns="0" rtlCol="0">
            <a:spAutoFit/>
          </a:bodyPr>
          <a:lstStyle/>
          <a:p>
            <a:pPr algn="just">
              <a:lnSpc>
                <a:spcPct val="120000"/>
              </a:lnSpc>
              <a:spcAft>
                <a:spcPts val="1200"/>
              </a:spcAft>
              <a:buSzPct val="100000"/>
              <a:tabLst>
                <a:tab pos="121285" algn="l"/>
              </a:tabLst>
            </a:pPr>
            <a:r>
              <a:rPr lang="es-ES" sz="1600" spc="-10" dirty="0">
                <a:solidFill>
                  <a:srgbClr val="262626"/>
                </a:solidFill>
              </a:rPr>
              <a:t>En la actualidad la tecnología es uno de los mejores aliados para las </a:t>
            </a:r>
            <a:r>
              <a:rPr lang="es-ES" sz="1600" spc="-10" dirty="0" smtClean="0">
                <a:solidFill>
                  <a:srgbClr val="262626"/>
                </a:solidFill>
              </a:rPr>
              <a:t>empresas porque </a:t>
            </a:r>
            <a:r>
              <a:rPr lang="es-ES" sz="1600" spc="-10" dirty="0">
                <a:solidFill>
                  <a:srgbClr val="262626"/>
                </a:solidFill>
              </a:rPr>
              <a:t>es esencial para alcanzar beneficios importantes como crecimiento, eficiencia operativa y reducción de costos. La implementación de tecnología en las empresas ya no es un lujo o una inversión, es una necesidad primordial que permite que grandes y pequeñas empresas evolucionen y puedan satisfacer de una mejor forma la demanda de sus consumidores.</a:t>
            </a:r>
            <a:endParaRPr lang="es-PE" sz="1600" spc="-10" dirty="0">
              <a:solidFill>
                <a:srgbClr val="262626"/>
              </a:solidFill>
            </a:endParaRPr>
          </a:p>
        </p:txBody>
      </p:sp>
      <p:pic>
        <p:nvPicPr>
          <p:cNvPr id="11" name="Picture 4" descr="http://kokoroworldtrends.com/wp-content/uploads/2018/04/tecnologia-portada-02.jpg">
            <a:extLst>
              <a:ext uri="{FF2B5EF4-FFF2-40B4-BE49-F238E27FC236}">
                <a16:creationId xmlns:a16="http://schemas.microsoft.com/office/drawing/2014/main" id="{450CA648-CF53-4117-A4C1-4B58A3C11C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135" y="2989147"/>
            <a:ext cx="6687729" cy="18635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00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B743E063-59AD-4D2C-8EDA-9DD592DF6FBA}"/>
              </a:ext>
            </a:extLst>
          </p:cNvPr>
          <p:cNvSpPr txBox="1"/>
          <p:nvPr/>
        </p:nvSpPr>
        <p:spPr>
          <a:xfrm>
            <a:off x="407875" y="90219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¿Cuáles son las principales razones de inversión en la tecnología?</a:t>
            </a:r>
          </a:p>
        </p:txBody>
      </p:sp>
      <p:sp>
        <p:nvSpPr>
          <p:cNvPr id="9" name="object 7">
            <a:extLst>
              <a:ext uri="{FF2B5EF4-FFF2-40B4-BE49-F238E27FC236}">
                <a16:creationId xmlns:a16="http://schemas.microsoft.com/office/drawing/2014/main" id="{772CF6F0-3BB0-47EC-8D15-6FA24EB149A9}"/>
              </a:ext>
            </a:extLst>
          </p:cNvPr>
          <p:cNvSpPr txBox="1"/>
          <p:nvPr/>
        </p:nvSpPr>
        <p:spPr>
          <a:xfrm>
            <a:off x="602343" y="1268275"/>
            <a:ext cx="7955560" cy="275717"/>
          </a:xfrm>
          <a:prstGeom prst="rect">
            <a:avLst/>
          </a:prstGeom>
        </p:spPr>
        <p:txBody>
          <a:bodyPr vert="horz" wrap="square" lIns="0" tIns="0" rIns="0" bIns="0" rtlCol="0">
            <a:spAutoFit/>
          </a:bodyPr>
          <a:lstStyle/>
          <a:p>
            <a:pPr algn="just">
              <a:lnSpc>
                <a:spcPct val="120000"/>
              </a:lnSpc>
              <a:spcAft>
                <a:spcPts val="1800"/>
              </a:spcAft>
              <a:buSzPct val="100000"/>
              <a:tabLst>
                <a:tab pos="121285" algn="l"/>
              </a:tabLst>
            </a:pPr>
            <a:r>
              <a:rPr lang="es-PE" sz="1600" spc="-10" dirty="0">
                <a:solidFill>
                  <a:srgbClr val="262626"/>
                </a:solidFill>
                <a:cs typeface="Source Sans Pro"/>
              </a:rPr>
              <a:t>Veamos los 6 puntos clave:</a:t>
            </a:r>
          </a:p>
        </p:txBody>
      </p:sp>
      <p:sp>
        <p:nvSpPr>
          <p:cNvPr id="10" name="object 7">
            <a:extLst>
              <a:ext uri="{FF2B5EF4-FFF2-40B4-BE49-F238E27FC236}">
                <a16:creationId xmlns:a16="http://schemas.microsoft.com/office/drawing/2014/main" id="{B6BC93CD-5917-45DA-B5F1-7AF038783BBF}"/>
              </a:ext>
            </a:extLst>
          </p:cNvPr>
          <p:cNvSpPr txBox="1"/>
          <p:nvPr/>
        </p:nvSpPr>
        <p:spPr>
          <a:xfrm>
            <a:off x="407875" y="1742887"/>
            <a:ext cx="4403611" cy="3327065"/>
          </a:xfrm>
          <a:prstGeom prst="rect">
            <a:avLst/>
          </a:prstGeom>
        </p:spPr>
        <p:txBody>
          <a:bodyPr vert="horz" wrap="square" lIns="0" tIns="0" rIns="0" bIns="0" rtlCol="0">
            <a:spAutoFit/>
          </a:bodyPr>
          <a:lstStyle/>
          <a:p>
            <a:pPr marL="585787" indent="-285750" algn="just">
              <a:lnSpc>
                <a:spcPct val="120000"/>
              </a:lnSpc>
              <a:spcAft>
                <a:spcPts val="600"/>
              </a:spcAft>
              <a:buFont typeface="Wingdings" panose="05000000000000000000" pitchFamily="2" charset="2"/>
              <a:buChar char="ü"/>
            </a:pPr>
            <a:r>
              <a:rPr lang="es-PE" sz="1600" b="1" dirty="0"/>
              <a:t>Optimización de procesos: </a:t>
            </a:r>
          </a:p>
          <a:p>
            <a:pPr marL="300037" algn="just">
              <a:lnSpc>
                <a:spcPct val="120000"/>
              </a:lnSpc>
              <a:spcAft>
                <a:spcPts val="600"/>
              </a:spcAft>
            </a:pPr>
            <a:r>
              <a:rPr lang="es-ES" sz="1600" dirty="0" smtClean="0"/>
              <a:t>Procesos contables, </a:t>
            </a:r>
            <a:r>
              <a:rPr lang="es-ES" sz="1600" dirty="0"/>
              <a:t>operaciones de producción y </a:t>
            </a:r>
            <a:r>
              <a:rPr lang="es-ES" sz="1600" dirty="0" smtClean="0"/>
              <a:t>procesos de </a:t>
            </a:r>
            <a:r>
              <a:rPr lang="es-ES" sz="1600" dirty="0"/>
              <a:t>gestión y control de la cadena de suministro, </a:t>
            </a:r>
            <a:r>
              <a:rPr lang="es-ES" sz="1600" dirty="0" smtClean="0"/>
              <a:t>entre </a:t>
            </a:r>
            <a:r>
              <a:rPr lang="es-ES" sz="1600" dirty="0"/>
              <a:t>otros; pueden ser </a:t>
            </a:r>
            <a:r>
              <a:rPr lang="es-ES" sz="1600" dirty="0" smtClean="0"/>
              <a:t>automatizados </a:t>
            </a:r>
            <a:r>
              <a:rPr lang="es-ES" sz="1600" dirty="0"/>
              <a:t>y </a:t>
            </a:r>
            <a:r>
              <a:rPr lang="es-ES" sz="1600" dirty="0" smtClean="0"/>
              <a:t>mejorados </a:t>
            </a:r>
            <a:r>
              <a:rPr lang="es-ES" sz="1600" dirty="0"/>
              <a:t>mediante herramientas tecnológicas, obteniendo así ventajas competitivas con las cuales posicionarse en el mercado. Entre las tecnologías utilizadas en las empresas para este fin, </a:t>
            </a:r>
            <a:r>
              <a:rPr lang="es-ES" sz="1600" dirty="0" smtClean="0"/>
              <a:t>se encuentran </a:t>
            </a:r>
            <a:r>
              <a:rPr lang="es-ES" sz="1600" dirty="0"/>
              <a:t>los software administrativos y las aplicaciones basadas en inteligencia artificial.</a:t>
            </a:r>
            <a:endParaRPr lang="es-PE" sz="1600" dirty="0"/>
          </a:p>
        </p:txBody>
      </p:sp>
      <p:pic>
        <p:nvPicPr>
          <p:cNvPr id="7" name="Imagen 6">
            <a:extLst>
              <a:ext uri="{FF2B5EF4-FFF2-40B4-BE49-F238E27FC236}">
                <a16:creationId xmlns:a16="http://schemas.microsoft.com/office/drawing/2014/main" id="{BB4A50F8-EC80-4AF1-B354-0DD0F6CBAFA1}"/>
              </a:ext>
            </a:extLst>
          </p:cNvPr>
          <p:cNvPicPr>
            <a:picLocks noChangeAspect="1"/>
          </p:cNvPicPr>
          <p:nvPr/>
        </p:nvPicPr>
        <p:blipFill>
          <a:blip r:embed="rId3"/>
          <a:stretch>
            <a:fillRect/>
          </a:stretch>
        </p:blipFill>
        <p:spPr>
          <a:xfrm>
            <a:off x="5256212" y="1989471"/>
            <a:ext cx="3301691" cy="2518681"/>
          </a:xfrm>
          <a:prstGeom prst="rect">
            <a:avLst/>
          </a:prstGeom>
        </p:spPr>
      </p:pic>
      <p:sp>
        <p:nvSpPr>
          <p:cNvPr id="8" name="Rectangle 5">
            <a:extLst>
              <a:ext uri="{FF2B5EF4-FFF2-40B4-BE49-F238E27FC236}">
                <a16:creationId xmlns:a16="http://schemas.microsoft.com/office/drawing/2014/main" id="{A7699013-9AA5-413D-92E4-1A28A577F080}"/>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2055314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B743E063-59AD-4D2C-8EDA-9DD592DF6FBA}"/>
              </a:ext>
            </a:extLst>
          </p:cNvPr>
          <p:cNvSpPr txBox="1"/>
          <p:nvPr/>
        </p:nvSpPr>
        <p:spPr>
          <a:xfrm>
            <a:off x="407875" y="90219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…¿Cuáles son las principales razones de inversión en la tecnología?</a:t>
            </a:r>
          </a:p>
        </p:txBody>
      </p:sp>
      <p:sp>
        <p:nvSpPr>
          <p:cNvPr id="9" name="object 7">
            <a:extLst>
              <a:ext uri="{FF2B5EF4-FFF2-40B4-BE49-F238E27FC236}">
                <a16:creationId xmlns:a16="http://schemas.microsoft.com/office/drawing/2014/main" id="{772CF6F0-3BB0-47EC-8D15-6FA24EB149A9}"/>
              </a:ext>
            </a:extLst>
          </p:cNvPr>
          <p:cNvSpPr txBox="1"/>
          <p:nvPr/>
        </p:nvSpPr>
        <p:spPr>
          <a:xfrm>
            <a:off x="602343" y="1268275"/>
            <a:ext cx="7955560" cy="275717"/>
          </a:xfrm>
          <a:prstGeom prst="rect">
            <a:avLst/>
          </a:prstGeom>
        </p:spPr>
        <p:txBody>
          <a:bodyPr vert="horz" wrap="square" lIns="0" tIns="0" rIns="0" bIns="0" rtlCol="0">
            <a:spAutoFit/>
          </a:bodyPr>
          <a:lstStyle/>
          <a:p>
            <a:pPr algn="just">
              <a:lnSpc>
                <a:spcPct val="120000"/>
              </a:lnSpc>
              <a:spcAft>
                <a:spcPts val="1800"/>
              </a:spcAft>
              <a:buSzPct val="100000"/>
              <a:tabLst>
                <a:tab pos="121285" algn="l"/>
              </a:tabLst>
            </a:pPr>
            <a:r>
              <a:rPr lang="es-PE" sz="1600" spc="-10" dirty="0">
                <a:solidFill>
                  <a:srgbClr val="262626"/>
                </a:solidFill>
                <a:cs typeface="Source Sans Pro"/>
              </a:rPr>
              <a:t>Veamos los 6 puntos clave:</a:t>
            </a:r>
          </a:p>
        </p:txBody>
      </p:sp>
      <p:sp>
        <p:nvSpPr>
          <p:cNvPr id="10" name="object 7">
            <a:extLst>
              <a:ext uri="{FF2B5EF4-FFF2-40B4-BE49-F238E27FC236}">
                <a16:creationId xmlns:a16="http://schemas.microsoft.com/office/drawing/2014/main" id="{B6BC93CD-5917-45DA-B5F1-7AF038783BBF}"/>
              </a:ext>
            </a:extLst>
          </p:cNvPr>
          <p:cNvSpPr txBox="1"/>
          <p:nvPr/>
        </p:nvSpPr>
        <p:spPr>
          <a:xfrm>
            <a:off x="407875" y="1735630"/>
            <a:ext cx="4403611" cy="2125454"/>
          </a:xfrm>
          <a:prstGeom prst="rect">
            <a:avLst/>
          </a:prstGeom>
        </p:spPr>
        <p:txBody>
          <a:bodyPr vert="horz" wrap="square" lIns="0" tIns="0" rIns="0" bIns="0" rtlCol="0">
            <a:spAutoFit/>
          </a:bodyPr>
          <a:lstStyle/>
          <a:p>
            <a:pPr marL="585787" indent="-285750" algn="just">
              <a:lnSpc>
                <a:spcPct val="120000"/>
              </a:lnSpc>
              <a:spcAft>
                <a:spcPts val="600"/>
              </a:spcAft>
              <a:buFont typeface="Wingdings" panose="05000000000000000000" pitchFamily="2" charset="2"/>
              <a:buChar char="ü"/>
            </a:pPr>
            <a:r>
              <a:rPr lang="es-PE" sz="1600" b="1" dirty="0"/>
              <a:t>Mayor productividad: </a:t>
            </a:r>
          </a:p>
          <a:p>
            <a:pPr marL="300037" algn="just">
              <a:lnSpc>
                <a:spcPct val="120000"/>
              </a:lnSpc>
              <a:spcAft>
                <a:spcPts val="600"/>
              </a:spcAft>
            </a:pPr>
            <a:r>
              <a:rPr lang="es-ES" sz="1600" dirty="0"/>
              <a:t>Automatización y simplificación de operaciones, </a:t>
            </a:r>
            <a:r>
              <a:rPr lang="es-ES" sz="1600" dirty="0" smtClean="0"/>
              <a:t>con una tendencia </a:t>
            </a:r>
            <a:r>
              <a:rPr lang="es-ES" sz="1600" dirty="0"/>
              <a:t>a la poca  intervención humana, disminución de errores, labores totalmente sin interrupciones, </a:t>
            </a:r>
            <a:r>
              <a:rPr lang="es-ES" sz="1600" dirty="0" smtClean="0"/>
              <a:t>y otras más. </a:t>
            </a:r>
            <a:r>
              <a:rPr lang="es-ES" sz="1600" dirty="0"/>
              <a:t>Todo lo mencionado se traduce en </a:t>
            </a:r>
            <a:r>
              <a:rPr lang="es-ES" sz="1600" dirty="0" smtClean="0"/>
              <a:t>un incremento </a:t>
            </a:r>
            <a:r>
              <a:rPr lang="es-ES" sz="1600" dirty="0"/>
              <a:t>evidente de la productividad. </a:t>
            </a:r>
            <a:endParaRPr lang="es-PE" sz="1600" dirty="0"/>
          </a:p>
        </p:txBody>
      </p:sp>
      <p:pic>
        <p:nvPicPr>
          <p:cNvPr id="14" name="Imagen 13">
            <a:extLst>
              <a:ext uri="{FF2B5EF4-FFF2-40B4-BE49-F238E27FC236}">
                <a16:creationId xmlns:a16="http://schemas.microsoft.com/office/drawing/2014/main" id="{E6668935-F3DF-464E-9AB9-36B70AAE3362}"/>
              </a:ext>
            </a:extLst>
          </p:cNvPr>
          <p:cNvPicPr>
            <a:picLocks noChangeAspect="1"/>
          </p:cNvPicPr>
          <p:nvPr/>
        </p:nvPicPr>
        <p:blipFill>
          <a:blip r:embed="rId3"/>
          <a:stretch>
            <a:fillRect/>
          </a:stretch>
        </p:blipFill>
        <p:spPr>
          <a:xfrm>
            <a:off x="5230638" y="2085854"/>
            <a:ext cx="3327265" cy="2442029"/>
          </a:xfrm>
          <a:prstGeom prst="rect">
            <a:avLst/>
          </a:prstGeom>
        </p:spPr>
      </p:pic>
      <p:sp>
        <p:nvSpPr>
          <p:cNvPr id="7" name="Rectangle 5">
            <a:extLst>
              <a:ext uri="{FF2B5EF4-FFF2-40B4-BE49-F238E27FC236}">
                <a16:creationId xmlns:a16="http://schemas.microsoft.com/office/drawing/2014/main" id="{257DE88E-E9FE-4879-A94C-C0D62291D282}"/>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50776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B743E063-59AD-4D2C-8EDA-9DD592DF6FBA}"/>
              </a:ext>
            </a:extLst>
          </p:cNvPr>
          <p:cNvSpPr txBox="1"/>
          <p:nvPr/>
        </p:nvSpPr>
        <p:spPr>
          <a:xfrm>
            <a:off x="407875" y="90219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…¿Cuáles son las principales razones de inversión en la tecnología?</a:t>
            </a:r>
          </a:p>
        </p:txBody>
      </p:sp>
      <p:sp>
        <p:nvSpPr>
          <p:cNvPr id="9" name="object 7">
            <a:extLst>
              <a:ext uri="{FF2B5EF4-FFF2-40B4-BE49-F238E27FC236}">
                <a16:creationId xmlns:a16="http://schemas.microsoft.com/office/drawing/2014/main" id="{772CF6F0-3BB0-47EC-8D15-6FA24EB149A9}"/>
              </a:ext>
            </a:extLst>
          </p:cNvPr>
          <p:cNvSpPr txBox="1"/>
          <p:nvPr/>
        </p:nvSpPr>
        <p:spPr>
          <a:xfrm>
            <a:off x="602343" y="1268275"/>
            <a:ext cx="7955560" cy="275717"/>
          </a:xfrm>
          <a:prstGeom prst="rect">
            <a:avLst/>
          </a:prstGeom>
        </p:spPr>
        <p:txBody>
          <a:bodyPr vert="horz" wrap="square" lIns="0" tIns="0" rIns="0" bIns="0" rtlCol="0">
            <a:spAutoFit/>
          </a:bodyPr>
          <a:lstStyle/>
          <a:p>
            <a:pPr algn="just">
              <a:lnSpc>
                <a:spcPct val="120000"/>
              </a:lnSpc>
              <a:spcAft>
                <a:spcPts val="1800"/>
              </a:spcAft>
              <a:buSzPct val="100000"/>
              <a:tabLst>
                <a:tab pos="121285" algn="l"/>
              </a:tabLst>
            </a:pPr>
            <a:r>
              <a:rPr lang="es-PE" sz="1600" spc="-10" dirty="0">
                <a:solidFill>
                  <a:srgbClr val="262626"/>
                </a:solidFill>
                <a:cs typeface="Source Sans Pro"/>
              </a:rPr>
              <a:t>Veamos los 6 puntos clave:</a:t>
            </a:r>
          </a:p>
        </p:txBody>
      </p:sp>
      <p:sp>
        <p:nvSpPr>
          <p:cNvPr id="10" name="object 7">
            <a:extLst>
              <a:ext uri="{FF2B5EF4-FFF2-40B4-BE49-F238E27FC236}">
                <a16:creationId xmlns:a16="http://schemas.microsoft.com/office/drawing/2014/main" id="{B6BC93CD-5917-45DA-B5F1-7AF038783BBF}"/>
              </a:ext>
            </a:extLst>
          </p:cNvPr>
          <p:cNvSpPr txBox="1"/>
          <p:nvPr/>
        </p:nvSpPr>
        <p:spPr>
          <a:xfrm>
            <a:off x="407875" y="1754456"/>
            <a:ext cx="5318011" cy="1554272"/>
          </a:xfrm>
          <a:prstGeom prst="rect">
            <a:avLst/>
          </a:prstGeom>
        </p:spPr>
        <p:txBody>
          <a:bodyPr vert="horz" wrap="square" lIns="0" tIns="0" rIns="0" bIns="0" rtlCol="0">
            <a:spAutoFit/>
          </a:bodyPr>
          <a:lstStyle/>
          <a:p>
            <a:pPr marL="585787" indent="-285750" algn="just">
              <a:lnSpc>
                <a:spcPct val="120000"/>
              </a:lnSpc>
              <a:spcAft>
                <a:spcPts val="600"/>
              </a:spcAft>
              <a:buFont typeface="Wingdings" panose="05000000000000000000" pitchFamily="2" charset="2"/>
              <a:buChar char="ü"/>
            </a:pPr>
            <a:r>
              <a:rPr lang="es-PE" sz="1600" b="1" dirty="0"/>
              <a:t>Mejora en la comunicación: </a:t>
            </a:r>
          </a:p>
          <a:p>
            <a:pPr marL="300037" algn="just">
              <a:lnSpc>
                <a:spcPct val="120000"/>
              </a:lnSpc>
              <a:spcAft>
                <a:spcPts val="600"/>
              </a:spcAft>
            </a:pPr>
            <a:r>
              <a:rPr lang="es-ES" sz="1600" dirty="0"/>
              <a:t>Es posible agilizar las comunicaciones tanto a nivel interno como externo a través de la mejora y mayores capacidades de los equipos o aplicaciones de mensajería, </a:t>
            </a:r>
            <a:r>
              <a:rPr lang="es-ES" sz="1600" i="1" dirty="0"/>
              <a:t>email</a:t>
            </a:r>
            <a:r>
              <a:rPr lang="es-ES" sz="1600" dirty="0"/>
              <a:t>, video llamadas, redes sociales, entre otras.</a:t>
            </a:r>
            <a:endParaRPr lang="es-PE" sz="1600" dirty="0"/>
          </a:p>
        </p:txBody>
      </p:sp>
      <p:pic>
        <p:nvPicPr>
          <p:cNvPr id="3" name="Imagen 2">
            <a:extLst>
              <a:ext uri="{FF2B5EF4-FFF2-40B4-BE49-F238E27FC236}">
                <a16:creationId xmlns:a16="http://schemas.microsoft.com/office/drawing/2014/main" id="{D8EACE1B-8424-4FDD-AF83-AE2F28848E76}"/>
              </a:ext>
            </a:extLst>
          </p:cNvPr>
          <p:cNvPicPr>
            <a:picLocks noChangeAspect="1"/>
          </p:cNvPicPr>
          <p:nvPr/>
        </p:nvPicPr>
        <p:blipFill>
          <a:blip r:embed="rId3"/>
          <a:stretch>
            <a:fillRect/>
          </a:stretch>
        </p:blipFill>
        <p:spPr>
          <a:xfrm>
            <a:off x="6048183" y="1910076"/>
            <a:ext cx="2589549" cy="2507154"/>
          </a:xfrm>
          <a:prstGeom prst="rect">
            <a:avLst/>
          </a:prstGeom>
        </p:spPr>
      </p:pic>
      <p:pic>
        <p:nvPicPr>
          <p:cNvPr id="7" name="Imagen 6">
            <a:extLst>
              <a:ext uri="{FF2B5EF4-FFF2-40B4-BE49-F238E27FC236}">
                <a16:creationId xmlns:a16="http://schemas.microsoft.com/office/drawing/2014/main" id="{59325729-5B17-4436-B337-1B88CF5760C3}"/>
              </a:ext>
            </a:extLst>
          </p:cNvPr>
          <p:cNvPicPr>
            <a:picLocks noChangeAspect="1"/>
          </p:cNvPicPr>
          <p:nvPr/>
        </p:nvPicPr>
        <p:blipFill>
          <a:blip r:embed="rId4"/>
          <a:stretch>
            <a:fillRect/>
          </a:stretch>
        </p:blipFill>
        <p:spPr>
          <a:xfrm>
            <a:off x="1571909" y="3499443"/>
            <a:ext cx="2989942" cy="1607094"/>
          </a:xfrm>
          <a:prstGeom prst="rect">
            <a:avLst/>
          </a:prstGeom>
        </p:spPr>
      </p:pic>
      <p:sp>
        <p:nvSpPr>
          <p:cNvPr id="8" name="Rectangle 5">
            <a:extLst>
              <a:ext uri="{FF2B5EF4-FFF2-40B4-BE49-F238E27FC236}">
                <a16:creationId xmlns:a16="http://schemas.microsoft.com/office/drawing/2014/main" id="{325D8BCD-C225-45A6-9143-9400D55882FC}"/>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408053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B743E063-59AD-4D2C-8EDA-9DD592DF6FBA}"/>
              </a:ext>
            </a:extLst>
          </p:cNvPr>
          <p:cNvSpPr txBox="1"/>
          <p:nvPr/>
        </p:nvSpPr>
        <p:spPr>
          <a:xfrm>
            <a:off x="407875" y="90219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…¿Cuáles son las principales razones de inversión en la tecnología?</a:t>
            </a:r>
          </a:p>
        </p:txBody>
      </p:sp>
      <p:sp>
        <p:nvSpPr>
          <p:cNvPr id="9" name="object 7">
            <a:extLst>
              <a:ext uri="{FF2B5EF4-FFF2-40B4-BE49-F238E27FC236}">
                <a16:creationId xmlns:a16="http://schemas.microsoft.com/office/drawing/2014/main" id="{772CF6F0-3BB0-47EC-8D15-6FA24EB149A9}"/>
              </a:ext>
            </a:extLst>
          </p:cNvPr>
          <p:cNvSpPr txBox="1"/>
          <p:nvPr/>
        </p:nvSpPr>
        <p:spPr>
          <a:xfrm>
            <a:off x="602343" y="1268275"/>
            <a:ext cx="7955560" cy="275717"/>
          </a:xfrm>
          <a:prstGeom prst="rect">
            <a:avLst/>
          </a:prstGeom>
        </p:spPr>
        <p:txBody>
          <a:bodyPr vert="horz" wrap="square" lIns="0" tIns="0" rIns="0" bIns="0" rtlCol="0">
            <a:spAutoFit/>
          </a:bodyPr>
          <a:lstStyle/>
          <a:p>
            <a:pPr algn="just">
              <a:lnSpc>
                <a:spcPct val="120000"/>
              </a:lnSpc>
              <a:spcAft>
                <a:spcPts val="1800"/>
              </a:spcAft>
              <a:buSzPct val="100000"/>
              <a:tabLst>
                <a:tab pos="121285" algn="l"/>
              </a:tabLst>
            </a:pPr>
            <a:r>
              <a:rPr lang="es-PE" sz="1600" spc="-10" dirty="0">
                <a:solidFill>
                  <a:srgbClr val="262626"/>
                </a:solidFill>
                <a:cs typeface="Source Sans Pro"/>
              </a:rPr>
              <a:t>Veamos los 6 puntos clave:</a:t>
            </a:r>
          </a:p>
        </p:txBody>
      </p:sp>
      <p:sp>
        <p:nvSpPr>
          <p:cNvPr id="10" name="object 7">
            <a:extLst>
              <a:ext uri="{FF2B5EF4-FFF2-40B4-BE49-F238E27FC236}">
                <a16:creationId xmlns:a16="http://schemas.microsoft.com/office/drawing/2014/main" id="{B6BC93CD-5917-45DA-B5F1-7AF038783BBF}"/>
              </a:ext>
            </a:extLst>
          </p:cNvPr>
          <p:cNvSpPr txBox="1"/>
          <p:nvPr/>
        </p:nvSpPr>
        <p:spPr>
          <a:xfrm>
            <a:off x="407875" y="1754456"/>
            <a:ext cx="5318011" cy="1258806"/>
          </a:xfrm>
          <a:prstGeom prst="rect">
            <a:avLst/>
          </a:prstGeom>
        </p:spPr>
        <p:txBody>
          <a:bodyPr vert="horz" wrap="square" lIns="0" tIns="0" rIns="0" bIns="0" rtlCol="0">
            <a:spAutoFit/>
          </a:bodyPr>
          <a:lstStyle/>
          <a:p>
            <a:pPr marL="585787" indent="-285750" algn="just">
              <a:lnSpc>
                <a:spcPct val="120000"/>
              </a:lnSpc>
              <a:spcAft>
                <a:spcPts val="600"/>
              </a:spcAft>
              <a:buFont typeface="Wingdings" panose="05000000000000000000" pitchFamily="2" charset="2"/>
              <a:buChar char="ü"/>
            </a:pPr>
            <a:r>
              <a:rPr lang="es-PE" sz="1600" b="1" dirty="0"/>
              <a:t>Reducción de costos: </a:t>
            </a:r>
          </a:p>
          <a:p>
            <a:pPr marL="300037" algn="just">
              <a:lnSpc>
                <a:spcPct val="120000"/>
              </a:lnSpc>
              <a:spcAft>
                <a:spcPts val="600"/>
              </a:spcAft>
            </a:pPr>
            <a:r>
              <a:rPr lang="es-ES" sz="1600" dirty="0"/>
              <a:t>La optimización de procesos, el ahorro de tiempo y la eliminación de errores traducen </a:t>
            </a:r>
            <a:r>
              <a:rPr lang="es-ES" sz="1600" dirty="0" smtClean="0"/>
              <a:t>en </a:t>
            </a:r>
            <a:r>
              <a:rPr lang="es-ES" sz="1600" dirty="0"/>
              <a:t>un gran ahorro de costos operacionales y de gestión.</a:t>
            </a:r>
            <a:endParaRPr lang="es-PE" sz="1600" dirty="0"/>
          </a:p>
        </p:txBody>
      </p:sp>
      <p:pic>
        <p:nvPicPr>
          <p:cNvPr id="4" name="Imagen 3">
            <a:extLst>
              <a:ext uri="{FF2B5EF4-FFF2-40B4-BE49-F238E27FC236}">
                <a16:creationId xmlns:a16="http://schemas.microsoft.com/office/drawing/2014/main" id="{7E0A93E9-1344-459F-BE63-2D8BFE67B584}"/>
              </a:ext>
            </a:extLst>
          </p:cNvPr>
          <p:cNvPicPr>
            <a:picLocks noChangeAspect="1"/>
          </p:cNvPicPr>
          <p:nvPr/>
        </p:nvPicPr>
        <p:blipFill>
          <a:blip r:embed="rId3"/>
          <a:stretch>
            <a:fillRect/>
          </a:stretch>
        </p:blipFill>
        <p:spPr>
          <a:xfrm>
            <a:off x="5098029" y="2857500"/>
            <a:ext cx="3548516" cy="2270169"/>
          </a:xfrm>
          <a:prstGeom prst="rect">
            <a:avLst/>
          </a:prstGeom>
        </p:spPr>
      </p:pic>
      <p:sp>
        <p:nvSpPr>
          <p:cNvPr id="7" name="Rectangle 5">
            <a:extLst>
              <a:ext uri="{FF2B5EF4-FFF2-40B4-BE49-F238E27FC236}">
                <a16:creationId xmlns:a16="http://schemas.microsoft.com/office/drawing/2014/main" id="{D216A397-674F-4A2B-A9EA-837592CF72FF}"/>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343049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B743E063-59AD-4D2C-8EDA-9DD592DF6FBA}"/>
              </a:ext>
            </a:extLst>
          </p:cNvPr>
          <p:cNvSpPr txBox="1"/>
          <p:nvPr/>
        </p:nvSpPr>
        <p:spPr>
          <a:xfrm>
            <a:off x="407875" y="90219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…¿Cuáles son las principales razones de inversión en la tecnología?</a:t>
            </a:r>
          </a:p>
        </p:txBody>
      </p:sp>
      <p:sp>
        <p:nvSpPr>
          <p:cNvPr id="9" name="object 7">
            <a:extLst>
              <a:ext uri="{FF2B5EF4-FFF2-40B4-BE49-F238E27FC236}">
                <a16:creationId xmlns:a16="http://schemas.microsoft.com/office/drawing/2014/main" id="{772CF6F0-3BB0-47EC-8D15-6FA24EB149A9}"/>
              </a:ext>
            </a:extLst>
          </p:cNvPr>
          <p:cNvSpPr txBox="1"/>
          <p:nvPr/>
        </p:nvSpPr>
        <p:spPr>
          <a:xfrm>
            <a:off x="602343" y="1268275"/>
            <a:ext cx="7955560" cy="275717"/>
          </a:xfrm>
          <a:prstGeom prst="rect">
            <a:avLst/>
          </a:prstGeom>
        </p:spPr>
        <p:txBody>
          <a:bodyPr vert="horz" wrap="square" lIns="0" tIns="0" rIns="0" bIns="0" rtlCol="0">
            <a:spAutoFit/>
          </a:bodyPr>
          <a:lstStyle/>
          <a:p>
            <a:pPr algn="just">
              <a:lnSpc>
                <a:spcPct val="120000"/>
              </a:lnSpc>
              <a:spcAft>
                <a:spcPts val="1800"/>
              </a:spcAft>
              <a:buSzPct val="100000"/>
              <a:tabLst>
                <a:tab pos="121285" algn="l"/>
              </a:tabLst>
            </a:pPr>
            <a:r>
              <a:rPr lang="es-PE" sz="1600" spc="-10" dirty="0">
                <a:solidFill>
                  <a:srgbClr val="262626"/>
                </a:solidFill>
                <a:cs typeface="Source Sans Pro"/>
              </a:rPr>
              <a:t>Veamos los 6 puntos clave:</a:t>
            </a:r>
          </a:p>
        </p:txBody>
      </p:sp>
      <p:sp>
        <p:nvSpPr>
          <p:cNvPr id="10" name="object 7">
            <a:extLst>
              <a:ext uri="{FF2B5EF4-FFF2-40B4-BE49-F238E27FC236}">
                <a16:creationId xmlns:a16="http://schemas.microsoft.com/office/drawing/2014/main" id="{B6BC93CD-5917-45DA-B5F1-7AF038783BBF}"/>
              </a:ext>
            </a:extLst>
          </p:cNvPr>
          <p:cNvSpPr txBox="1"/>
          <p:nvPr/>
        </p:nvSpPr>
        <p:spPr>
          <a:xfrm>
            <a:off x="407876" y="1754456"/>
            <a:ext cx="4331038" cy="2125454"/>
          </a:xfrm>
          <a:prstGeom prst="rect">
            <a:avLst/>
          </a:prstGeom>
        </p:spPr>
        <p:txBody>
          <a:bodyPr vert="horz" wrap="square" lIns="0" tIns="0" rIns="0" bIns="0" rtlCol="0">
            <a:spAutoFit/>
          </a:bodyPr>
          <a:lstStyle/>
          <a:p>
            <a:pPr marL="585787" indent="-285750" algn="just">
              <a:lnSpc>
                <a:spcPct val="120000"/>
              </a:lnSpc>
              <a:spcAft>
                <a:spcPts val="600"/>
              </a:spcAft>
              <a:buFont typeface="Wingdings" panose="05000000000000000000" pitchFamily="2" charset="2"/>
              <a:buChar char="ü"/>
            </a:pPr>
            <a:r>
              <a:rPr lang="es-PE" sz="1600" b="1" dirty="0"/>
              <a:t>Mejor toma de decisiones: </a:t>
            </a:r>
          </a:p>
          <a:p>
            <a:pPr marL="300037" algn="just">
              <a:lnSpc>
                <a:spcPct val="120000"/>
              </a:lnSpc>
              <a:spcAft>
                <a:spcPts val="600"/>
              </a:spcAft>
            </a:pPr>
            <a:r>
              <a:rPr lang="es-ES" sz="1600" dirty="0"/>
              <a:t>Hoy en día la mayoría de las tecnologías que actualmente </a:t>
            </a:r>
            <a:r>
              <a:rPr lang="es-ES" sz="1600" dirty="0" smtClean="0"/>
              <a:t>se encuentran </a:t>
            </a:r>
            <a:r>
              <a:rPr lang="es-ES" sz="1600" dirty="0"/>
              <a:t>en el mundo empresarial entregan información relevante de los procesos que ejecutan o la explotación de la información, brindan datos de gran valor para sustentar la toma de decisiones.</a:t>
            </a:r>
            <a:endParaRPr lang="es-PE" sz="1600" dirty="0"/>
          </a:p>
        </p:txBody>
      </p:sp>
      <p:pic>
        <p:nvPicPr>
          <p:cNvPr id="3" name="Imagen 2">
            <a:extLst>
              <a:ext uri="{FF2B5EF4-FFF2-40B4-BE49-F238E27FC236}">
                <a16:creationId xmlns:a16="http://schemas.microsoft.com/office/drawing/2014/main" id="{07518D62-C79E-49EC-A66B-4946137987B9}"/>
              </a:ext>
            </a:extLst>
          </p:cNvPr>
          <p:cNvPicPr>
            <a:picLocks noChangeAspect="1"/>
          </p:cNvPicPr>
          <p:nvPr/>
        </p:nvPicPr>
        <p:blipFill>
          <a:blip r:embed="rId3"/>
          <a:stretch>
            <a:fillRect/>
          </a:stretch>
        </p:blipFill>
        <p:spPr>
          <a:xfrm>
            <a:off x="5057482" y="2002971"/>
            <a:ext cx="3627842" cy="2353355"/>
          </a:xfrm>
          <a:prstGeom prst="rect">
            <a:avLst/>
          </a:prstGeom>
        </p:spPr>
      </p:pic>
      <p:sp>
        <p:nvSpPr>
          <p:cNvPr id="7" name="Rectangle 5">
            <a:extLst>
              <a:ext uri="{FF2B5EF4-FFF2-40B4-BE49-F238E27FC236}">
                <a16:creationId xmlns:a16="http://schemas.microsoft.com/office/drawing/2014/main" id="{E20560F6-4F2F-4A71-97CB-FCA23BCCCF7C}"/>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2474274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B743E063-59AD-4D2C-8EDA-9DD592DF6FBA}"/>
              </a:ext>
            </a:extLst>
          </p:cNvPr>
          <p:cNvSpPr txBox="1"/>
          <p:nvPr/>
        </p:nvSpPr>
        <p:spPr>
          <a:xfrm>
            <a:off x="407875" y="90219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…¿Cuáles son las principales razones de inversión en la tecnología?</a:t>
            </a:r>
          </a:p>
        </p:txBody>
      </p:sp>
      <p:sp>
        <p:nvSpPr>
          <p:cNvPr id="9" name="object 7">
            <a:extLst>
              <a:ext uri="{FF2B5EF4-FFF2-40B4-BE49-F238E27FC236}">
                <a16:creationId xmlns:a16="http://schemas.microsoft.com/office/drawing/2014/main" id="{772CF6F0-3BB0-47EC-8D15-6FA24EB149A9}"/>
              </a:ext>
            </a:extLst>
          </p:cNvPr>
          <p:cNvSpPr txBox="1"/>
          <p:nvPr/>
        </p:nvSpPr>
        <p:spPr>
          <a:xfrm>
            <a:off x="602343" y="1268275"/>
            <a:ext cx="7955560" cy="275717"/>
          </a:xfrm>
          <a:prstGeom prst="rect">
            <a:avLst/>
          </a:prstGeom>
        </p:spPr>
        <p:txBody>
          <a:bodyPr vert="horz" wrap="square" lIns="0" tIns="0" rIns="0" bIns="0" rtlCol="0">
            <a:spAutoFit/>
          </a:bodyPr>
          <a:lstStyle/>
          <a:p>
            <a:pPr algn="just">
              <a:lnSpc>
                <a:spcPct val="120000"/>
              </a:lnSpc>
              <a:spcAft>
                <a:spcPts val="1800"/>
              </a:spcAft>
              <a:buSzPct val="100000"/>
              <a:tabLst>
                <a:tab pos="121285" algn="l"/>
              </a:tabLst>
            </a:pPr>
            <a:r>
              <a:rPr lang="es-PE" sz="1600" spc="-10" dirty="0">
                <a:solidFill>
                  <a:srgbClr val="262626"/>
                </a:solidFill>
                <a:cs typeface="Source Sans Pro"/>
              </a:rPr>
              <a:t>Veamos los 6 puntos clave:</a:t>
            </a:r>
          </a:p>
        </p:txBody>
      </p:sp>
      <p:sp>
        <p:nvSpPr>
          <p:cNvPr id="10" name="object 7">
            <a:extLst>
              <a:ext uri="{FF2B5EF4-FFF2-40B4-BE49-F238E27FC236}">
                <a16:creationId xmlns:a16="http://schemas.microsoft.com/office/drawing/2014/main" id="{B6BC93CD-5917-45DA-B5F1-7AF038783BBF}"/>
              </a:ext>
            </a:extLst>
          </p:cNvPr>
          <p:cNvSpPr txBox="1"/>
          <p:nvPr/>
        </p:nvSpPr>
        <p:spPr>
          <a:xfrm>
            <a:off x="407876" y="1754456"/>
            <a:ext cx="4331038" cy="2420919"/>
          </a:xfrm>
          <a:prstGeom prst="rect">
            <a:avLst/>
          </a:prstGeom>
        </p:spPr>
        <p:txBody>
          <a:bodyPr vert="horz" wrap="square" lIns="0" tIns="0" rIns="0" bIns="0" rtlCol="0">
            <a:spAutoFit/>
          </a:bodyPr>
          <a:lstStyle/>
          <a:p>
            <a:pPr marL="585787" indent="-285750" algn="just">
              <a:lnSpc>
                <a:spcPct val="120000"/>
              </a:lnSpc>
              <a:spcAft>
                <a:spcPts val="600"/>
              </a:spcAft>
              <a:buFont typeface="Wingdings" panose="05000000000000000000" pitchFamily="2" charset="2"/>
              <a:buChar char="ü"/>
            </a:pPr>
            <a:r>
              <a:rPr lang="es-PE" sz="1600" b="1" dirty="0"/>
              <a:t>Mayor competitividad: </a:t>
            </a:r>
          </a:p>
          <a:p>
            <a:pPr marL="300037" algn="just">
              <a:lnSpc>
                <a:spcPct val="120000"/>
              </a:lnSpc>
              <a:spcAft>
                <a:spcPts val="600"/>
              </a:spcAft>
            </a:pPr>
            <a:r>
              <a:rPr lang="es-ES" sz="1600" dirty="0"/>
              <a:t>Todo lo mencionado anteriormente </a:t>
            </a:r>
            <a:r>
              <a:rPr lang="es-ES" sz="1600" dirty="0" smtClean="0"/>
              <a:t>resultará en </a:t>
            </a:r>
            <a:r>
              <a:rPr lang="es-ES" sz="1600" dirty="0" smtClean="0"/>
              <a:t>un </a:t>
            </a:r>
            <a:r>
              <a:rPr lang="es-ES" sz="1600" dirty="0"/>
              <a:t>gran incremento en la competitividad, mayor alcance y mejor satisfacción por parte del cliente al recibir el producto o servicio. La tecnología es una necesidad para las empresas no </a:t>
            </a:r>
            <a:r>
              <a:rPr lang="es-ES" sz="1600" dirty="0" smtClean="0"/>
              <a:t>sólo </a:t>
            </a:r>
            <a:r>
              <a:rPr lang="es-ES" sz="1600" dirty="0"/>
              <a:t>para poder posicionarse en el mercado sino para subsistir.</a:t>
            </a:r>
            <a:endParaRPr lang="es-PE" sz="1600" dirty="0"/>
          </a:p>
        </p:txBody>
      </p:sp>
      <p:pic>
        <p:nvPicPr>
          <p:cNvPr id="4" name="Imagen 3">
            <a:extLst>
              <a:ext uri="{FF2B5EF4-FFF2-40B4-BE49-F238E27FC236}">
                <a16:creationId xmlns:a16="http://schemas.microsoft.com/office/drawing/2014/main" id="{1F36D287-BE5A-4A09-B342-B9A395A66827}"/>
              </a:ext>
            </a:extLst>
          </p:cNvPr>
          <p:cNvPicPr>
            <a:picLocks noChangeAspect="1"/>
          </p:cNvPicPr>
          <p:nvPr/>
        </p:nvPicPr>
        <p:blipFill>
          <a:blip r:embed="rId3"/>
          <a:stretch>
            <a:fillRect/>
          </a:stretch>
        </p:blipFill>
        <p:spPr>
          <a:xfrm>
            <a:off x="5240482" y="1862049"/>
            <a:ext cx="3317421" cy="2205732"/>
          </a:xfrm>
          <a:prstGeom prst="rect">
            <a:avLst/>
          </a:prstGeom>
        </p:spPr>
      </p:pic>
      <p:sp>
        <p:nvSpPr>
          <p:cNvPr id="7" name="Rectangle 5">
            <a:extLst>
              <a:ext uri="{FF2B5EF4-FFF2-40B4-BE49-F238E27FC236}">
                <a16:creationId xmlns:a16="http://schemas.microsoft.com/office/drawing/2014/main" id="{B9990B27-7D79-4560-8D3D-D7628685C0A4}"/>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242677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DF790943-8CB6-4785-9F32-EE7BB95569B7}"/>
              </a:ext>
            </a:extLst>
          </p:cNvPr>
          <p:cNvSpPr txBox="1"/>
          <p:nvPr/>
        </p:nvSpPr>
        <p:spPr>
          <a:xfrm>
            <a:off x="465499" y="883082"/>
            <a:ext cx="4984616" cy="2729978"/>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3. La información es la moneda de negocios del siglo XXI:</a:t>
            </a:r>
          </a:p>
          <a:p>
            <a:pPr marL="180975">
              <a:buSzPct val="100000"/>
              <a:tabLst>
                <a:tab pos="121285" algn="l"/>
              </a:tabLst>
            </a:pPr>
            <a:endParaRPr lang="es-PE" sz="1200" b="1" spc="-10" dirty="0">
              <a:solidFill>
                <a:srgbClr val="262626"/>
              </a:solidFill>
              <a:cs typeface="Source Sans Pro"/>
            </a:endParaRPr>
          </a:p>
          <a:p>
            <a:pPr marL="536575" indent="-285750" algn="just">
              <a:lnSpc>
                <a:spcPct val="120000"/>
              </a:lnSpc>
              <a:spcAft>
                <a:spcPts val="1800"/>
              </a:spcAft>
              <a:buSzPct val="100000"/>
              <a:buFont typeface="Arial" panose="020B0604020202020204" pitchFamily="34" charset="0"/>
              <a:buChar char="•"/>
              <a:tabLst>
                <a:tab pos="121285" algn="l"/>
              </a:tabLst>
            </a:pPr>
            <a:r>
              <a:rPr lang="es-PE" sz="1600" dirty="0"/>
              <a:t>Es indudable que la información está cada vez más al centro dentro del ecosistema de las grandes  decisiones de las empresas. </a:t>
            </a:r>
          </a:p>
          <a:p>
            <a:pPr marL="536575" indent="-285750" algn="just">
              <a:lnSpc>
                <a:spcPct val="120000"/>
              </a:lnSpc>
              <a:spcAft>
                <a:spcPts val="1800"/>
              </a:spcAft>
              <a:buSzPct val="100000"/>
              <a:buFont typeface="Arial" panose="020B0604020202020204" pitchFamily="34" charset="0"/>
              <a:buChar char="•"/>
              <a:tabLst>
                <a:tab pos="121285" algn="l"/>
              </a:tabLst>
            </a:pPr>
            <a:r>
              <a:rPr lang="es-PE" sz="1600" dirty="0"/>
              <a:t>Por ello corresponde que la empresa se preocupe por mantener una gestión del ciclo de vida (de la información) y obtener el máximo beneficio de información confiable, exacta y oportuna.</a:t>
            </a:r>
          </a:p>
        </p:txBody>
      </p:sp>
      <p:pic>
        <p:nvPicPr>
          <p:cNvPr id="6146" name="Picture 2" descr="Formatos de fichero para entrega de información a la Agencia Tributaria">
            <a:extLst>
              <a:ext uri="{FF2B5EF4-FFF2-40B4-BE49-F238E27FC236}">
                <a16:creationId xmlns:a16="http://schemas.microsoft.com/office/drawing/2014/main" id="{EAB21C6A-B5CA-4CD4-ADAB-949F3F4852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066" y="1266366"/>
            <a:ext cx="2967264" cy="234669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5A21CCF2-B847-4908-A40C-6772B83D0E7E}"/>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30291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DF790943-8CB6-4785-9F32-EE7BB95569B7}"/>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3. …La información es la moneda de negocios del siglo XXI:</a:t>
            </a:r>
          </a:p>
        </p:txBody>
      </p:sp>
      <p:grpSp>
        <p:nvGrpSpPr>
          <p:cNvPr id="7" name="Grupo 6">
            <a:extLst>
              <a:ext uri="{FF2B5EF4-FFF2-40B4-BE49-F238E27FC236}">
                <a16:creationId xmlns:a16="http://schemas.microsoft.com/office/drawing/2014/main" id="{41258E08-3B99-454F-AFFF-7595BC6C1728}"/>
              </a:ext>
            </a:extLst>
          </p:cNvPr>
          <p:cNvGrpSpPr/>
          <p:nvPr/>
        </p:nvGrpSpPr>
        <p:grpSpPr>
          <a:xfrm>
            <a:off x="1405791" y="1965960"/>
            <a:ext cx="6355457" cy="2363953"/>
            <a:chOff x="2321171" y="1968925"/>
            <a:chExt cx="4663625" cy="2998095"/>
          </a:xfrm>
        </p:grpSpPr>
        <p:sp>
          <p:nvSpPr>
            <p:cNvPr id="8" name="Rectángulo 7">
              <a:extLst>
                <a:ext uri="{FF2B5EF4-FFF2-40B4-BE49-F238E27FC236}">
                  <a16:creationId xmlns:a16="http://schemas.microsoft.com/office/drawing/2014/main" id="{3C2A54B6-61C5-455A-994F-20A1E41058DA}"/>
                </a:ext>
              </a:extLst>
            </p:cNvPr>
            <p:cNvSpPr/>
            <p:nvPr/>
          </p:nvSpPr>
          <p:spPr>
            <a:xfrm rot="18900000">
              <a:off x="3775080" y="1968925"/>
              <a:ext cx="1650446" cy="2998095"/>
            </a:xfrm>
            <a:prstGeom prst="rect">
              <a:avLst/>
            </a:prstGeom>
            <a:solidFill>
              <a:srgbClr val="C00000"/>
            </a:solidFill>
            <a:ln>
              <a:noFill/>
            </a:ln>
            <a:effectLst>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9" name="Rectángulo redondeado 19">
              <a:extLst>
                <a:ext uri="{FF2B5EF4-FFF2-40B4-BE49-F238E27FC236}">
                  <a16:creationId xmlns:a16="http://schemas.microsoft.com/office/drawing/2014/main" id="{1516D012-E2EB-4810-8262-B178AD71FB36}"/>
                </a:ext>
              </a:extLst>
            </p:cNvPr>
            <p:cNvSpPr/>
            <p:nvPr/>
          </p:nvSpPr>
          <p:spPr>
            <a:xfrm>
              <a:off x="2321171" y="2046982"/>
              <a:ext cx="2235427" cy="1315202"/>
            </a:xfrm>
            <a:prstGeom prst="roundRect">
              <a:avLst/>
            </a:prstGeom>
            <a:solidFill>
              <a:schemeClr val="accent2">
                <a:lumMod val="40000"/>
                <a:lumOff val="60000"/>
              </a:schemeClr>
            </a:solidFill>
            <a:ln w="19050">
              <a:solidFill>
                <a:schemeClr val="tx1"/>
              </a:solidFill>
            </a:ln>
            <a:effectLst>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350" dirty="0">
                  <a:solidFill>
                    <a:schemeClr val="tx1"/>
                  </a:solidFill>
                </a:rPr>
                <a:t>La información tiene un ciclo de vida: se crea, se utiliza, se conserva, se revela y se destruye</a:t>
              </a:r>
            </a:p>
          </p:txBody>
        </p:sp>
        <p:sp>
          <p:nvSpPr>
            <p:cNvPr id="10" name="Rectángulo redondeado 8">
              <a:extLst>
                <a:ext uri="{FF2B5EF4-FFF2-40B4-BE49-F238E27FC236}">
                  <a16:creationId xmlns:a16="http://schemas.microsoft.com/office/drawing/2014/main" id="{1AEC851B-9432-41BD-9556-F6F90F31C994}"/>
                </a:ext>
              </a:extLst>
            </p:cNvPr>
            <p:cNvSpPr/>
            <p:nvPr/>
          </p:nvSpPr>
          <p:spPr>
            <a:xfrm>
              <a:off x="4644008" y="2046982"/>
              <a:ext cx="2340788" cy="1315202"/>
            </a:xfrm>
            <a:prstGeom prst="roundRect">
              <a:avLst/>
            </a:prstGeom>
            <a:solidFill>
              <a:schemeClr val="accent2">
                <a:lumMod val="40000"/>
                <a:lumOff val="60000"/>
              </a:schemeClr>
            </a:solidFill>
            <a:ln w="19050">
              <a:solidFill>
                <a:schemeClr val="tx1"/>
              </a:solidFill>
            </a:ln>
            <a:effectLst>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350" dirty="0">
                  <a:solidFill>
                    <a:schemeClr val="tx1"/>
                  </a:solidFill>
                </a:rPr>
                <a:t>La tecnología juega un papel clave en estas acciones</a:t>
              </a:r>
            </a:p>
          </p:txBody>
        </p:sp>
        <p:sp>
          <p:nvSpPr>
            <p:cNvPr id="11" name="Rectángulo redondeado 9">
              <a:extLst>
                <a:ext uri="{FF2B5EF4-FFF2-40B4-BE49-F238E27FC236}">
                  <a16:creationId xmlns:a16="http://schemas.microsoft.com/office/drawing/2014/main" id="{DA09177E-9C63-4498-AE30-E0F97F26567F}"/>
                </a:ext>
              </a:extLst>
            </p:cNvPr>
            <p:cNvSpPr/>
            <p:nvPr/>
          </p:nvSpPr>
          <p:spPr>
            <a:xfrm>
              <a:off x="2321171" y="3467973"/>
              <a:ext cx="2235427" cy="1315202"/>
            </a:xfrm>
            <a:prstGeom prst="roundRect">
              <a:avLst/>
            </a:prstGeom>
            <a:solidFill>
              <a:schemeClr val="accent2">
                <a:lumMod val="40000"/>
                <a:lumOff val="60000"/>
              </a:schemeClr>
            </a:solidFill>
            <a:ln w="19050">
              <a:solidFill>
                <a:schemeClr val="tx1"/>
              </a:solidFill>
            </a:ln>
            <a:effectLst>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350" dirty="0">
                  <a:solidFill>
                    <a:schemeClr val="tx1"/>
                  </a:solidFill>
                </a:rPr>
                <a:t>La tecnología está presente en todos los aspectos de la vida profesional y personal</a:t>
              </a:r>
            </a:p>
          </p:txBody>
        </p:sp>
        <p:sp>
          <p:nvSpPr>
            <p:cNvPr id="12" name="Rectángulo redondeado 10">
              <a:extLst>
                <a:ext uri="{FF2B5EF4-FFF2-40B4-BE49-F238E27FC236}">
                  <a16:creationId xmlns:a16="http://schemas.microsoft.com/office/drawing/2014/main" id="{BDF96F35-59F0-4D7F-A973-D495DDF167EE}"/>
                </a:ext>
              </a:extLst>
            </p:cNvPr>
            <p:cNvSpPr/>
            <p:nvPr/>
          </p:nvSpPr>
          <p:spPr>
            <a:xfrm>
              <a:off x="4644008" y="3467973"/>
              <a:ext cx="2340788" cy="1315202"/>
            </a:xfrm>
            <a:prstGeom prst="roundRect">
              <a:avLst/>
            </a:prstGeom>
            <a:solidFill>
              <a:schemeClr val="accent2">
                <a:lumMod val="40000"/>
                <a:lumOff val="60000"/>
              </a:schemeClr>
            </a:solidFill>
            <a:ln w="19050">
              <a:solidFill>
                <a:schemeClr val="tx1"/>
              </a:solidFill>
            </a:ln>
            <a:effectLst>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350" dirty="0">
                  <a:solidFill>
                    <a:schemeClr val="tx1"/>
                  </a:solidFill>
                </a:rPr>
                <a:t>Todas las empresas necesitan confiar en información que soporte las decisiones ejecutivas</a:t>
              </a:r>
            </a:p>
          </p:txBody>
        </p:sp>
      </p:grpSp>
      <p:sp>
        <p:nvSpPr>
          <p:cNvPr id="13" name="Rectangle 5">
            <a:extLst>
              <a:ext uri="{FF2B5EF4-FFF2-40B4-BE49-F238E27FC236}">
                <a16:creationId xmlns:a16="http://schemas.microsoft.com/office/drawing/2014/main" id="{7F83BA75-1B1E-45EB-AEB5-D994D04B20F0}"/>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427485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a:extLst>
              <a:ext uri="{FF2B5EF4-FFF2-40B4-BE49-F238E27FC236}">
                <a16:creationId xmlns:a16="http://schemas.microsoft.com/office/drawing/2014/main" id="{DF790943-8CB6-4785-9F32-EE7BB95569B7}"/>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4. Las empresas están bajo presión constante…</a:t>
            </a:r>
          </a:p>
        </p:txBody>
      </p:sp>
      <p:sp>
        <p:nvSpPr>
          <p:cNvPr id="13" name="object 7">
            <a:extLst>
              <a:ext uri="{FF2B5EF4-FFF2-40B4-BE49-F238E27FC236}">
                <a16:creationId xmlns:a16="http://schemas.microsoft.com/office/drawing/2014/main" id="{32561D57-589B-45EC-9E46-F4153A61E192}"/>
              </a:ext>
            </a:extLst>
          </p:cNvPr>
          <p:cNvSpPr txBox="1"/>
          <p:nvPr/>
        </p:nvSpPr>
        <p:spPr>
          <a:xfrm>
            <a:off x="407875" y="1337612"/>
            <a:ext cx="8205630" cy="1723549"/>
          </a:xfrm>
          <a:prstGeom prst="rect">
            <a:avLst/>
          </a:prstGeom>
        </p:spPr>
        <p:txBody>
          <a:bodyPr vert="horz" wrap="square" lIns="0" tIns="0" rIns="0" bIns="0" rtlCol="0">
            <a:spAutoFit/>
          </a:bodyPr>
          <a:lstStyle/>
          <a:p>
            <a:pPr marL="623888" indent="-266700" algn="just">
              <a:buFont typeface="Arial" panose="020B0604020202020204" pitchFamily="34" charset="0"/>
              <a:buChar char="•"/>
            </a:pPr>
            <a:r>
              <a:rPr lang="es-PE" sz="1600" dirty="0"/>
              <a:t>Buscan </a:t>
            </a:r>
            <a:r>
              <a:rPr lang="es-PE" sz="1600" dirty="0" smtClean="0"/>
              <a:t>incrementar </a:t>
            </a:r>
            <a:r>
              <a:rPr lang="es-PE" sz="1600" dirty="0"/>
              <a:t>la realización de beneficios a través del uso efectivo e innovador de </a:t>
            </a:r>
            <a:r>
              <a:rPr lang="es-PE" sz="1600" dirty="0" smtClean="0"/>
              <a:t>TI.</a:t>
            </a:r>
            <a:endParaRPr lang="es-PE" sz="1600" dirty="0"/>
          </a:p>
          <a:p>
            <a:pPr marL="357188" algn="just"/>
            <a:endParaRPr lang="es-PE" sz="1600" dirty="0"/>
          </a:p>
          <a:p>
            <a:pPr marL="623888" indent="-266700" algn="just">
              <a:buFont typeface="Arial" panose="020B0604020202020204" pitchFamily="34" charset="0"/>
              <a:buChar char="•"/>
            </a:pPr>
            <a:r>
              <a:rPr lang="es-PE" sz="1600" dirty="0"/>
              <a:t>Mantener los riesgos relacionados con TI en un nivel aceptable.</a:t>
            </a:r>
          </a:p>
          <a:p>
            <a:pPr marL="623888" indent="-266700" algn="just">
              <a:buFont typeface="Arial" panose="020B0604020202020204" pitchFamily="34" charset="0"/>
              <a:buChar char="•"/>
            </a:pPr>
            <a:endParaRPr lang="es-PE" sz="1600" dirty="0"/>
          </a:p>
          <a:p>
            <a:pPr marL="623888" indent="-266700" algn="just">
              <a:buFont typeface="Arial" panose="020B0604020202020204" pitchFamily="34" charset="0"/>
              <a:buChar char="•"/>
            </a:pPr>
            <a:r>
              <a:rPr lang="es-PE" sz="1600" dirty="0"/>
              <a:t>Optimizar el costo de los servicios de TI y el costo de la tecnología.</a:t>
            </a:r>
          </a:p>
          <a:p>
            <a:pPr marL="623888" indent="-266700" algn="just">
              <a:buFont typeface="Arial" panose="020B0604020202020204" pitchFamily="34" charset="0"/>
              <a:buChar char="•"/>
            </a:pPr>
            <a:endParaRPr lang="es-PE" sz="1600" dirty="0"/>
          </a:p>
          <a:p>
            <a:pPr marL="623888" indent="-266700" algn="just">
              <a:buFont typeface="Arial" panose="020B0604020202020204" pitchFamily="34" charset="0"/>
              <a:buChar char="•"/>
            </a:pPr>
            <a:r>
              <a:rPr lang="es-PE" sz="1600" dirty="0"/>
              <a:t>Cumplir con las leyes, reglamentos y políticas, cada vez más relevantes.</a:t>
            </a:r>
            <a:endParaRPr lang="es-PE" sz="2400" dirty="0"/>
          </a:p>
        </p:txBody>
      </p:sp>
      <p:pic>
        <p:nvPicPr>
          <p:cNvPr id="7170" name="Picture 2" descr="Estrés laboral, el enemigo silencioso de la productividad empresarial |  Tendencias | Portafolio">
            <a:extLst>
              <a:ext uri="{FF2B5EF4-FFF2-40B4-BE49-F238E27FC236}">
                <a16:creationId xmlns:a16="http://schemas.microsoft.com/office/drawing/2014/main" id="{9C1093D5-2786-49FE-9FA7-88B432714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286" y="3305075"/>
            <a:ext cx="2538523" cy="190751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0758A83A-281E-441E-B746-92E5110AE6A7}"/>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TECNOLOGÍA Y EL IMPACTO EN LAS EMPRESAS</a:t>
            </a:r>
          </a:p>
        </p:txBody>
      </p:sp>
    </p:spTree>
    <p:extLst>
      <p:ext uri="{BB962C8B-B14F-4D97-AF65-F5344CB8AC3E}">
        <p14:creationId xmlns:p14="http://schemas.microsoft.com/office/powerpoint/2010/main" val="1260463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SISTEMAS DE INFORMACIÓN EN LAS EMPRESAS</a:t>
            </a:r>
          </a:p>
        </p:txBody>
      </p:sp>
    </p:spTree>
    <p:custDataLst>
      <p:tags r:id="rId1"/>
    </p:custDataLst>
    <p:extLst>
      <p:ext uri="{BB962C8B-B14F-4D97-AF65-F5344CB8AC3E}">
        <p14:creationId xmlns:p14="http://schemas.microsoft.com/office/powerpoint/2010/main" val="1874816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SISTEMAS DE INFORMACIÓN EN LAS EMPRESAS</a:t>
            </a:r>
          </a:p>
        </p:txBody>
      </p:sp>
      <p:sp>
        <p:nvSpPr>
          <p:cNvPr id="7" name="object 7">
            <a:extLst>
              <a:ext uri="{FF2B5EF4-FFF2-40B4-BE49-F238E27FC236}">
                <a16:creationId xmlns:a16="http://schemas.microsoft.com/office/drawing/2014/main" id="{9C204F77-E9E5-4931-A65E-F9AA1CAF0F77}"/>
              </a:ext>
            </a:extLst>
          </p:cNvPr>
          <p:cNvSpPr txBox="1"/>
          <p:nvPr/>
        </p:nvSpPr>
        <p:spPr>
          <a:xfrm>
            <a:off x="407875" y="932804"/>
            <a:ext cx="8402296" cy="2169825"/>
          </a:xfrm>
          <a:prstGeom prst="rect">
            <a:avLst/>
          </a:prstGeom>
        </p:spPr>
        <p:txBody>
          <a:bodyPr vert="horz" wrap="square" lIns="0" tIns="0" rIns="0" bIns="0" rtlCol="0">
            <a:spAutoFit/>
          </a:bodyPr>
          <a:lstStyle/>
          <a:p>
            <a:pPr marL="180975" algn="just"/>
            <a:r>
              <a:rPr lang="es-PE" sz="1600" spc="-10" dirty="0">
                <a:solidFill>
                  <a:srgbClr val="262626"/>
                </a:solidFill>
              </a:rPr>
              <a:t>En la clasificación de los sistemas de información según su función tenemos:</a:t>
            </a:r>
          </a:p>
          <a:p>
            <a:pPr marL="180975" algn="just"/>
            <a:endParaRPr lang="es-PE" sz="1600" spc="-10" dirty="0">
              <a:solidFill>
                <a:srgbClr val="262626"/>
              </a:solidFill>
            </a:endParaRPr>
          </a:p>
          <a:p>
            <a:pPr marL="536575" lvl="1" indent="-285750" algn="just">
              <a:spcAft>
                <a:spcPts val="1800"/>
              </a:spcAft>
              <a:buFont typeface="Wingdings" panose="05000000000000000000" pitchFamily="2" charset="2"/>
              <a:buChar char="ü"/>
            </a:pPr>
            <a:r>
              <a:rPr lang="es-PE" sz="1600" spc="-10" dirty="0">
                <a:solidFill>
                  <a:srgbClr val="262626"/>
                </a:solidFill>
              </a:rPr>
              <a:t>Sistemas de automatización de </a:t>
            </a:r>
            <a:r>
              <a:rPr lang="es-PE" sz="1600" spc="-10" dirty="0" smtClean="0">
                <a:solidFill>
                  <a:srgbClr val="262626"/>
                </a:solidFill>
              </a:rPr>
              <a:t>oficinas </a:t>
            </a:r>
            <a:r>
              <a:rPr lang="es-PE" sz="1600" spc="-10" dirty="0">
                <a:solidFill>
                  <a:srgbClr val="262626"/>
                </a:solidFill>
              </a:rPr>
              <a:t>			– OAS (Office Automation Systems)</a:t>
            </a:r>
          </a:p>
          <a:p>
            <a:pPr marL="536575" lvl="1" indent="-285750" algn="just">
              <a:spcAft>
                <a:spcPts val="1800"/>
              </a:spcAft>
              <a:buFont typeface="Wingdings" panose="05000000000000000000" pitchFamily="2" charset="2"/>
              <a:buChar char="ü"/>
            </a:pPr>
            <a:r>
              <a:rPr lang="es-PE" sz="1600" spc="-10" dirty="0">
                <a:solidFill>
                  <a:srgbClr val="262626"/>
                </a:solidFill>
              </a:rPr>
              <a:t>Sistemas de planificación de recursos empresariales 	– ERP (Enterprice Resource Planning)</a:t>
            </a:r>
          </a:p>
          <a:p>
            <a:pPr marL="536575" lvl="1" indent="-285750" algn="just">
              <a:spcAft>
                <a:spcPts val="1800"/>
              </a:spcAft>
              <a:buFont typeface="Wingdings" panose="05000000000000000000" pitchFamily="2" charset="2"/>
              <a:buChar char="ü"/>
            </a:pPr>
            <a:r>
              <a:rPr lang="es-PE" sz="1600" spc="-10" dirty="0">
                <a:solidFill>
                  <a:srgbClr val="262626"/>
                </a:solidFill>
              </a:rPr>
              <a:t>Administración de cadena de suministros 			– SCM (Supply Chain Management)</a:t>
            </a:r>
          </a:p>
          <a:p>
            <a:pPr marL="536575" lvl="1" indent="-285750" algn="just">
              <a:spcAft>
                <a:spcPts val="1800"/>
              </a:spcAft>
              <a:buFont typeface="Wingdings" panose="05000000000000000000" pitchFamily="2" charset="2"/>
              <a:buChar char="ü"/>
            </a:pPr>
            <a:r>
              <a:rPr lang="es-PE" sz="1600" spc="-10" dirty="0">
                <a:solidFill>
                  <a:srgbClr val="262626"/>
                </a:solidFill>
              </a:rPr>
              <a:t>Sistema de relación con los clientes 				– CRM </a:t>
            </a:r>
            <a:r>
              <a:rPr lang="es-PE" sz="1400" spc="-10" dirty="0">
                <a:solidFill>
                  <a:srgbClr val="262626"/>
                </a:solidFill>
              </a:rPr>
              <a:t>(Customer Relationship Management)</a:t>
            </a:r>
            <a:endParaRPr lang="es-PE" sz="1600" spc="-10" dirty="0">
              <a:solidFill>
                <a:srgbClr val="262626"/>
              </a:solidFill>
            </a:endParaRPr>
          </a:p>
        </p:txBody>
      </p:sp>
      <p:pic>
        <p:nvPicPr>
          <p:cNvPr id="3" name="Imagen 2">
            <a:extLst>
              <a:ext uri="{FF2B5EF4-FFF2-40B4-BE49-F238E27FC236}">
                <a16:creationId xmlns:a16="http://schemas.microsoft.com/office/drawing/2014/main" id="{3E5A612C-0225-46E6-B568-E2CD9D4D16AC}"/>
              </a:ext>
            </a:extLst>
          </p:cNvPr>
          <p:cNvPicPr>
            <a:picLocks noChangeAspect="1"/>
          </p:cNvPicPr>
          <p:nvPr/>
        </p:nvPicPr>
        <p:blipFill>
          <a:blip r:embed="rId3"/>
          <a:stretch>
            <a:fillRect/>
          </a:stretch>
        </p:blipFill>
        <p:spPr>
          <a:xfrm>
            <a:off x="2189843" y="3433231"/>
            <a:ext cx="4764314" cy="1473578"/>
          </a:xfrm>
          <a:prstGeom prst="rect">
            <a:avLst/>
          </a:prstGeom>
        </p:spPr>
      </p:pic>
    </p:spTree>
    <p:extLst>
      <p:ext uri="{BB962C8B-B14F-4D97-AF65-F5344CB8AC3E}">
        <p14:creationId xmlns:p14="http://schemas.microsoft.com/office/powerpoint/2010/main" val="5099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SISTEMAS DE INFORMACIÓN EN LAS EMPRESAS</a:t>
            </a:r>
          </a:p>
        </p:txBody>
      </p:sp>
      <p:sp>
        <p:nvSpPr>
          <p:cNvPr id="6" name="object 7">
            <a:extLst>
              <a:ext uri="{FF2B5EF4-FFF2-40B4-BE49-F238E27FC236}">
                <a16:creationId xmlns:a16="http://schemas.microsoft.com/office/drawing/2014/main" id="{A6CDB955-5BE9-4811-9E1A-03FA5B36695A}"/>
              </a:ext>
            </a:extLst>
          </p:cNvPr>
          <p:cNvSpPr txBox="1"/>
          <p:nvPr/>
        </p:nvSpPr>
        <p:spPr>
          <a:xfrm>
            <a:off x="429567" y="895642"/>
            <a:ext cx="5804320" cy="3301160"/>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1. Office Automation Systems (OAS):</a:t>
            </a:r>
          </a:p>
          <a:p>
            <a:pPr marL="180975">
              <a:buSzPct val="100000"/>
              <a:tabLst>
                <a:tab pos="121285" algn="l"/>
              </a:tabLst>
            </a:pPr>
            <a:endParaRPr lang="es-PE" sz="1200" b="1" spc="-10" dirty="0">
              <a:solidFill>
                <a:srgbClr val="262626"/>
              </a:solidFill>
              <a:cs typeface="Source Sans Pro"/>
            </a:endParaRPr>
          </a:p>
          <a:p>
            <a:pPr marL="623888" indent="-285750" algn="just">
              <a:lnSpc>
                <a:spcPct val="120000"/>
              </a:lnSpc>
              <a:spcAft>
                <a:spcPts val="1800"/>
              </a:spcAft>
              <a:buSzPct val="100000"/>
              <a:buFont typeface="Arial" panose="020B0604020202020204" pitchFamily="34" charset="0"/>
              <a:buChar char="•"/>
              <a:tabLst>
                <a:tab pos="121285" algn="l"/>
              </a:tabLst>
            </a:pPr>
            <a:r>
              <a:rPr lang="es-ES" sz="1600" dirty="0"/>
              <a:t>Los sistemas de automatización de oficinas </a:t>
            </a:r>
            <a:r>
              <a:rPr lang="es-ES" sz="1600" dirty="0" smtClean="0"/>
              <a:t>también </a:t>
            </a:r>
            <a:r>
              <a:rPr lang="es-ES" sz="1600" dirty="0"/>
              <a:t>llamados OAS consisten en aplicaciones destinadas a ayudar al trabajo diario del administrativo de una organización, forman parte de este tipo de software los procesadores de textos, las hojas de cálculo, los editores de presentaciones, los clientes de correo electrónico, etc. </a:t>
            </a:r>
          </a:p>
          <a:p>
            <a:pPr marL="623888" indent="-285750" algn="just">
              <a:lnSpc>
                <a:spcPct val="120000"/>
              </a:lnSpc>
              <a:spcAft>
                <a:spcPts val="1800"/>
              </a:spcAft>
              <a:buSzPct val="100000"/>
              <a:buFont typeface="Arial" panose="020B0604020202020204" pitchFamily="34" charset="0"/>
              <a:buChar char="•"/>
              <a:tabLst>
                <a:tab pos="121285" algn="l"/>
              </a:tabLst>
            </a:pPr>
            <a:r>
              <a:rPr lang="es-ES" sz="1600" dirty="0"/>
              <a:t>Cuando varias de estas aplicaciones se agrupan en un mismo paquete de software para facilitar su distribución e instalación al conjunto se le conoce con el nombre de </a:t>
            </a:r>
            <a:r>
              <a:rPr lang="es-ES" sz="1600" i="1" dirty="0"/>
              <a:t>suite</a:t>
            </a:r>
            <a:r>
              <a:rPr lang="es-ES" sz="1600" dirty="0"/>
              <a:t> ofimática.</a:t>
            </a:r>
            <a:endParaRPr lang="es-PE" sz="1600" dirty="0"/>
          </a:p>
        </p:txBody>
      </p:sp>
      <p:pic>
        <p:nvPicPr>
          <p:cNvPr id="8" name="Imagen 7">
            <a:extLst>
              <a:ext uri="{FF2B5EF4-FFF2-40B4-BE49-F238E27FC236}">
                <a16:creationId xmlns:a16="http://schemas.microsoft.com/office/drawing/2014/main" id="{3B864396-C520-4967-96F7-304B1B20DC17}"/>
              </a:ext>
            </a:extLst>
          </p:cNvPr>
          <p:cNvPicPr>
            <a:picLocks noChangeAspect="1"/>
          </p:cNvPicPr>
          <p:nvPr/>
        </p:nvPicPr>
        <p:blipFill>
          <a:blip r:embed="rId3"/>
          <a:stretch>
            <a:fillRect/>
          </a:stretch>
        </p:blipFill>
        <p:spPr>
          <a:xfrm>
            <a:off x="6531429" y="1374019"/>
            <a:ext cx="2253870" cy="1172203"/>
          </a:xfrm>
          <a:prstGeom prst="rect">
            <a:avLst/>
          </a:prstGeom>
        </p:spPr>
      </p:pic>
    </p:spTree>
    <p:extLst>
      <p:ext uri="{BB962C8B-B14F-4D97-AF65-F5344CB8AC3E}">
        <p14:creationId xmlns:p14="http://schemas.microsoft.com/office/powerpoint/2010/main" val="1089979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SISTEMAS DE INFORMACIÓN EN LAS EMPRESAS</a:t>
            </a:r>
          </a:p>
        </p:txBody>
      </p:sp>
      <p:sp>
        <p:nvSpPr>
          <p:cNvPr id="3" name="object 7">
            <a:extLst>
              <a:ext uri="{FF2B5EF4-FFF2-40B4-BE49-F238E27FC236}">
                <a16:creationId xmlns:a16="http://schemas.microsoft.com/office/drawing/2014/main" id="{84B6CA5F-7C37-4903-B647-C3EFD1EC8EF1}"/>
              </a:ext>
            </a:extLst>
          </p:cNvPr>
          <p:cNvSpPr txBox="1"/>
          <p:nvPr/>
        </p:nvSpPr>
        <p:spPr>
          <a:xfrm>
            <a:off x="407875" y="925563"/>
            <a:ext cx="6532219" cy="3596626"/>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Enterprise Resource Planning (ERP):</a:t>
            </a:r>
          </a:p>
          <a:p>
            <a:pPr marL="180975">
              <a:buSzPct val="100000"/>
              <a:tabLst>
                <a:tab pos="121285" algn="l"/>
              </a:tabLst>
            </a:pPr>
            <a:endParaRPr lang="es-PE" sz="1200" b="1" spc="-10" dirty="0">
              <a:solidFill>
                <a:srgbClr val="262626"/>
              </a:solidFill>
              <a:cs typeface="Source Sans Pro"/>
            </a:endParaRPr>
          </a:p>
          <a:p>
            <a:pPr marL="623888" indent="-285750" algn="just" fontAlgn="base">
              <a:lnSpc>
                <a:spcPct val="120000"/>
              </a:lnSpc>
              <a:spcAft>
                <a:spcPts val="1800"/>
              </a:spcAft>
              <a:buSzPct val="100000"/>
              <a:buFont typeface="Arial" panose="020B0604020202020204" pitchFamily="34" charset="0"/>
              <a:buChar char="•"/>
              <a:tabLst>
                <a:tab pos="121285" algn="l"/>
              </a:tabLst>
            </a:pPr>
            <a:r>
              <a:rPr lang="es-ES" sz="1600" dirty="0"/>
              <a:t>Un ERP es un conjunto de aplicaciones de software integradas, que nos permiten automatizar la mayoría de las prácticas de negocio relacionadas con los aspectos operativos o productivos de nuestra empresa, facilitando y centralizando la información de todas las áreas que la componen: compras, producción, logística, finanzas, recursos humanos, </a:t>
            </a:r>
            <a:r>
              <a:rPr lang="es-ES" sz="1600" i="1" dirty="0"/>
              <a:t>marketing</a:t>
            </a:r>
            <a:r>
              <a:rPr lang="es-ES" sz="1600" dirty="0"/>
              <a:t>, servicios, proyectos y atención al cliente.</a:t>
            </a:r>
          </a:p>
          <a:p>
            <a:pPr marL="623888" indent="-285750" algn="just" fontAlgn="base">
              <a:lnSpc>
                <a:spcPct val="120000"/>
              </a:lnSpc>
              <a:spcAft>
                <a:spcPts val="1800"/>
              </a:spcAft>
              <a:buSzPct val="100000"/>
              <a:buFont typeface="Arial" panose="020B0604020202020204" pitchFamily="34" charset="0"/>
              <a:buChar char="•"/>
              <a:tabLst>
                <a:tab pos="121285" algn="l"/>
              </a:tabLst>
            </a:pPr>
            <a:r>
              <a:rPr lang="es-ES" sz="1600" dirty="0"/>
              <a:t>Una de las principales características de un ERP </a:t>
            </a:r>
            <a:r>
              <a:rPr lang="es-ES" sz="1600" dirty="0" smtClean="0"/>
              <a:t>es </a:t>
            </a:r>
            <a:r>
              <a:rPr lang="es-ES" sz="1600" dirty="0"/>
              <a:t>su modularidad y escalabilidad, es decir, la posibilidad de implementar aquellas funcionalidades que necesite posiblemente en un futuro </a:t>
            </a:r>
            <a:r>
              <a:rPr lang="es-ES" sz="1600" dirty="0" smtClean="0"/>
              <a:t>la </a:t>
            </a:r>
            <a:r>
              <a:rPr lang="es-ES" sz="1600" dirty="0"/>
              <a:t>empresa </a:t>
            </a:r>
            <a:r>
              <a:rPr lang="es-ES" sz="1600" dirty="0" smtClean="0"/>
              <a:t>asegurándose </a:t>
            </a:r>
            <a:r>
              <a:rPr lang="es-ES" sz="1600" dirty="0"/>
              <a:t>desde el inicio una buena inversión.</a:t>
            </a:r>
          </a:p>
        </p:txBody>
      </p:sp>
      <p:pic>
        <p:nvPicPr>
          <p:cNvPr id="4" name="Picture 2" descr="Resultado de imagen para erp">
            <a:extLst>
              <a:ext uri="{FF2B5EF4-FFF2-40B4-BE49-F238E27FC236}">
                <a16:creationId xmlns:a16="http://schemas.microsoft.com/office/drawing/2014/main" id="{BD12F06E-DC78-4AAF-9AFE-FC399336BD5C}"/>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121523" y="1345996"/>
            <a:ext cx="1904888" cy="2033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413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SISTEMAS DE INFORMACIÓN EN LAS EMPRESAS</a:t>
            </a:r>
          </a:p>
        </p:txBody>
      </p:sp>
      <p:sp>
        <p:nvSpPr>
          <p:cNvPr id="3" name="object 7">
            <a:extLst>
              <a:ext uri="{FF2B5EF4-FFF2-40B4-BE49-F238E27FC236}">
                <a16:creationId xmlns:a16="http://schemas.microsoft.com/office/drawing/2014/main" id="{31C7F0EE-21AB-4C7D-A150-422435780DAC}"/>
              </a:ext>
            </a:extLst>
          </p:cNvPr>
          <p:cNvSpPr txBox="1"/>
          <p:nvPr/>
        </p:nvSpPr>
        <p:spPr>
          <a:xfrm>
            <a:off x="407874" y="960948"/>
            <a:ext cx="5753439" cy="3596626"/>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3. Supply Chain Management (SCM):</a:t>
            </a:r>
          </a:p>
          <a:p>
            <a:pPr marL="180975">
              <a:buSzPct val="100000"/>
              <a:tabLst>
                <a:tab pos="121285" algn="l"/>
              </a:tabLst>
            </a:pPr>
            <a:endParaRPr lang="es-PE" sz="1200" b="1" spc="-10" dirty="0">
              <a:solidFill>
                <a:srgbClr val="262626"/>
              </a:solidFill>
              <a:cs typeface="Source Sans Pro"/>
            </a:endParaRPr>
          </a:p>
          <a:p>
            <a:pPr marL="623888" indent="-285750" algn="just">
              <a:lnSpc>
                <a:spcPct val="120000"/>
              </a:lnSpc>
              <a:spcAft>
                <a:spcPts val="1800"/>
              </a:spcAft>
              <a:buSzPct val="100000"/>
              <a:buFont typeface="Arial" panose="020B0604020202020204" pitchFamily="34" charset="0"/>
              <a:buChar char="•"/>
              <a:tabLst>
                <a:tab pos="121285" algn="l"/>
              </a:tabLst>
            </a:pPr>
            <a:r>
              <a:rPr lang="es-ES" sz="1600" dirty="0"/>
              <a:t>El software para la </a:t>
            </a:r>
            <a:r>
              <a:rPr lang="es-ES" sz="1600" dirty="0" smtClean="0"/>
              <a:t>administración </a:t>
            </a:r>
            <a:r>
              <a:rPr lang="es-ES" sz="1600" dirty="0"/>
              <a:t>de la </a:t>
            </a:r>
            <a:r>
              <a:rPr lang="es-ES" sz="1600" dirty="0" smtClean="0"/>
              <a:t>cadena </a:t>
            </a:r>
            <a:r>
              <a:rPr lang="es-ES" sz="1600" dirty="0"/>
              <a:t>de </a:t>
            </a:r>
            <a:r>
              <a:rPr lang="es-ES" sz="1600" dirty="0" smtClean="0"/>
              <a:t>suministro </a:t>
            </a:r>
            <a:r>
              <a:rPr lang="es-ES" sz="1600" dirty="0"/>
              <a:t>(software SCM) garantiza la disponibilidad de la información relevante para la planificación, puesta en ejecución y control de las operaciones de la red de suministro.</a:t>
            </a:r>
          </a:p>
          <a:p>
            <a:pPr marL="623888" indent="-285750" algn="just">
              <a:lnSpc>
                <a:spcPct val="120000"/>
              </a:lnSpc>
              <a:spcAft>
                <a:spcPts val="1800"/>
              </a:spcAft>
              <a:buSzPct val="100000"/>
              <a:buFont typeface="Arial" panose="020B0604020202020204" pitchFamily="34" charset="0"/>
              <a:buChar char="•"/>
              <a:tabLst>
                <a:tab pos="121285" algn="l"/>
              </a:tabLst>
            </a:pPr>
            <a:r>
              <a:rPr lang="es-ES" sz="1600" dirty="0"/>
              <a:t>Este software atraviesa todo el movimiento y almacenaje de materias primas, el inventario, y las mercaderías terminadas hasta su llegada al cliente, integrando los flujos operacionales, las relaciones con los proveedores, los clientes internos, garantizando una visión actualizada del proceso global y permitiendo detectar errores y demoras a tiempo.</a:t>
            </a:r>
            <a:endParaRPr lang="es-PE" sz="1600" dirty="0"/>
          </a:p>
        </p:txBody>
      </p:sp>
      <p:pic>
        <p:nvPicPr>
          <p:cNvPr id="4" name="Imagen 3">
            <a:extLst>
              <a:ext uri="{FF2B5EF4-FFF2-40B4-BE49-F238E27FC236}">
                <a16:creationId xmlns:a16="http://schemas.microsoft.com/office/drawing/2014/main" id="{68B62447-16E5-48DB-94FD-88C9B23154B5}"/>
              </a:ext>
            </a:extLst>
          </p:cNvPr>
          <p:cNvPicPr>
            <a:picLocks noChangeAspect="1"/>
          </p:cNvPicPr>
          <p:nvPr/>
        </p:nvPicPr>
        <p:blipFill>
          <a:blip r:embed="rId3"/>
          <a:stretch>
            <a:fillRect/>
          </a:stretch>
        </p:blipFill>
        <p:spPr>
          <a:xfrm>
            <a:off x="6517489" y="1331468"/>
            <a:ext cx="2349416" cy="1266805"/>
          </a:xfrm>
          <a:prstGeom prst="rect">
            <a:avLst/>
          </a:prstGeom>
        </p:spPr>
      </p:pic>
    </p:spTree>
    <p:extLst>
      <p:ext uri="{BB962C8B-B14F-4D97-AF65-F5344CB8AC3E}">
        <p14:creationId xmlns:p14="http://schemas.microsoft.com/office/powerpoint/2010/main" val="1609910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SISTEMAS DE INFORMACIÓN EN LAS EMPRESAS</a:t>
            </a:r>
          </a:p>
        </p:txBody>
      </p:sp>
      <p:sp>
        <p:nvSpPr>
          <p:cNvPr id="3" name="object 7">
            <a:extLst>
              <a:ext uri="{FF2B5EF4-FFF2-40B4-BE49-F238E27FC236}">
                <a16:creationId xmlns:a16="http://schemas.microsoft.com/office/drawing/2014/main" id="{63046D45-C35A-4DC0-BD3C-C0ECF3824705}"/>
              </a:ext>
            </a:extLst>
          </p:cNvPr>
          <p:cNvSpPr txBox="1"/>
          <p:nvPr/>
        </p:nvSpPr>
        <p:spPr>
          <a:xfrm>
            <a:off x="422134" y="955441"/>
            <a:ext cx="5955824" cy="3320909"/>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4. Customer Relationship Management (CRM):</a:t>
            </a:r>
          </a:p>
          <a:p>
            <a:pPr marL="180975">
              <a:buSzPct val="100000"/>
              <a:tabLst>
                <a:tab pos="121285" algn="l"/>
              </a:tabLst>
            </a:pPr>
            <a:endParaRPr lang="es-PE" sz="1200" b="1" spc="-10" dirty="0">
              <a:solidFill>
                <a:srgbClr val="262626"/>
              </a:solidFill>
              <a:cs typeface="Source Sans Pro"/>
            </a:endParaRPr>
          </a:p>
          <a:p>
            <a:pPr marL="623888" indent="-285750" algn="just">
              <a:lnSpc>
                <a:spcPct val="120000"/>
              </a:lnSpc>
              <a:spcAft>
                <a:spcPts val="1800"/>
              </a:spcAft>
              <a:buSzPct val="100000"/>
              <a:buFont typeface="Arial" panose="020B0604020202020204" pitchFamily="34" charset="0"/>
              <a:buChar char="•"/>
              <a:tabLst>
                <a:tab pos="121285" algn="l"/>
              </a:tabLst>
            </a:pPr>
            <a:r>
              <a:rPr lang="es-ES" sz="1600" dirty="0"/>
              <a:t>Un CRM es un software que permite a las empresas rastrear cada interacción con los usuarios, y clientes actuales. Aunque las capacidades del software pueden abarcar varios aspectos más allá de la relación con los clientes.</a:t>
            </a:r>
          </a:p>
          <a:p>
            <a:pPr marL="623888" indent="-285750" algn="just">
              <a:lnSpc>
                <a:spcPct val="120000"/>
              </a:lnSpc>
              <a:spcAft>
                <a:spcPts val="1800"/>
              </a:spcAft>
              <a:buSzPct val="100000"/>
              <a:buFont typeface="Arial" panose="020B0604020202020204" pitchFamily="34" charset="0"/>
              <a:buChar char="•"/>
              <a:tabLst>
                <a:tab pos="121285" algn="l"/>
              </a:tabLst>
            </a:pPr>
            <a:r>
              <a:rPr lang="es-ES" sz="1600" dirty="0"/>
              <a:t>La mayoría de los CRM tienen características necesarias para hacer seguimiento de nombres, correos electrónicos y números de teléfono de usuarios y clientes actuales. Otros pueden rastrear llamadas telefónicas, llevar un registro de los correos </a:t>
            </a:r>
            <a:r>
              <a:rPr lang="es-ES" sz="1600" dirty="0" smtClean="0"/>
              <a:t>y </a:t>
            </a:r>
            <a:r>
              <a:rPr lang="es-ES" sz="1600" dirty="0"/>
              <a:t>hacer seguimiento de dichos usuarios en las redes sociales. </a:t>
            </a:r>
            <a:endParaRPr lang="es-PE" sz="1600" dirty="0"/>
          </a:p>
        </p:txBody>
      </p:sp>
      <p:pic>
        <p:nvPicPr>
          <p:cNvPr id="4" name="Imagen 3">
            <a:extLst>
              <a:ext uri="{FF2B5EF4-FFF2-40B4-BE49-F238E27FC236}">
                <a16:creationId xmlns:a16="http://schemas.microsoft.com/office/drawing/2014/main" id="{F14583A4-E175-4B0F-BD73-4C5766A1C0E3}"/>
              </a:ext>
            </a:extLst>
          </p:cNvPr>
          <p:cNvPicPr>
            <a:picLocks noChangeAspect="1"/>
          </p:cNvPicPr>
          <p:nvPr/>
        </p:nvPicPr>
        <p:blipFill>
          <a:blip r:embed="rId3"/>
          <a:stretch>
            <a:fillRect/>
          </a:stretch>
        </p:blipFill>
        <p:spPr>
          <a:xfrm>
            <a:off x="6888884" y="1368946"/>
            <a:ext cx="1832982" cy="1810674"/>
          </a:xfrm>
          <a:prstGeom prst="rect">
            <a:avLst/>
          </a:prstGeom>
        </p:spPr>
      </p:pic>
    </p:spTree>
    <p:extLst>
      <p:ext uri="{BB962C8B-B14F-4D97-AF65-F5344CB8AC3E}">
        <p14:creationId xmlns:p14="http://schemas.microsoft.com/office/powerpoint/2010/main" val="1887197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HARDWARE Y SOFTWARE EMPRESARIAL</a:t>
            </a:r>
          </a:p>
        </p:txBody>
      </p:sp>
    </p:spTree>
    <p:custDataLst>
      <p:tags r:id="rId1"/>
    </p:custDataLst>
    <p:extLst>
      <p:ext uri="{BB962C8B-B14F-4D97-AF65-F5344CB8AC3E}">
        <p14:creationId xmlns:p14="http://schemas.microsoft.com/office/powerpoint/2010/main" val="263084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1. HARDWARE EMPRESARIAL</a:t>
            </a:r>
          </a:p>
        </p:txBody>
      </p:sp>
      <p:sp>
        <p:nvSpPr>
          <p:cNvPr id="4" name="object 7">
            <a:extLst>
              <a:ext uri="{FF2B5EF4-FFF2-40B4-BE49-F238E27FC236}">
                <a16:creationId xmlns:a16="http://schemas.microsoft.com/office/drawing/2014/main" id="{0A6C13B7-06EB-465D-88DA-2154763AB486}"/>
              </a:ext>
            </a:extLst>
          </p:cNvPr>
          <p:cNvSpPr txBox="1"/>
          <p:nvPr/>
        </p:nvSpPr>
        <p:spPr>
          <a:xfrm>
            <a:off x="732972" y="1274640"/>
            <a:ext cx="4085771" cy="3738203"/>
          </a:xfrm>
          <a:prstGeom prst="rect">
            <a:avLst/>
          </a:prstGeom>
        </p:spPr>
        <p:txBody>
          <a:bodyPr vert="horz" wrap="square" lIns="0" tIns="0" rIns="0" bIns="0" rtlCol="0">
            <a:spAutoFit/>
          </a:bodyPr>
          <a:lstStyle/>
          <a:p>
            <a:pPr marL="285750" indent="-285750" algn="just">
              <a:lnSpc>
                <a:spcPct val="110000"/>
              </a:lnSpc>
              <a:spcAft>
                <a:spcPts val="1600"/>
              </a:spcAft>
              <a:buFont typeface="Arial" panose="020B0604020202020204" pitchFamily="34" charset="0"/>
              <a:buChar char="•"/>
            </a:pPr>
            <a:r>
              <a:rPr lang="es-PE" sz="1600" dirty="0"/>
              <a:t>El hardware comprende los aspectos físicos y tangibles de la tecnología integrada por componentes eléctricos, electrónicos y mecánicos. Es una serie de soluciones horizontales diseñadas para pequeñas, medianas y grandes empresas; para que puedan generar valor en beneficio del negocio. </a:t>
            </a:r>
          </a:p>
          <a:p>
            <a:pPr marL="285750" indent="-285750" algn="just">
              <a:lnSpc>
                <a:spcPct val="110000"/>
              </a:lnSpc>
              <a:spcAft>
                <a:spcPts val="1600"/>
              </a:spcAft>
              <a:buFont typeface="Arial" panose="020B0604020202020204" pitchFamily="34" charset="0"/>
              <a:buChar char="•"/>
            </a:pPr>
            <a:r>
              <a:rPr lang="es-PE" sz="1600" dirty="0"/>
              <a:t>A pesar que actualmente existen soluciones basadas en la nube, hasta el día de hoy se implementan infraestructuras tecnológicas en las instalaciones de las empresas, y gracias a ellas las empresas mejoran su productividad.</a:t>
            </a:r>
          </a:p>
        </p:txBody>
      </p:sp>
      <p:pic>
        <p:nvPicPr>
          <p:cNvPr id="7" name="Imagen 6">
            <a:extLst>
              <a:ext uri="{FF2B5EF4-FFF2-40B4-BE49-F238E27FC236}">
                <a16:creationId xmlns:a16="http://schemas.microsoft.com/office/drawing/2014/main" id="{05847C5F-EB91-418C-8DD0-92D0959C6772}"/>
              </a:ext>
            </a:extLst>
          </p:cNvPr>
          <p:cNvPicPr>
            <a:picLocks noChangeAspect="1"/>
          </p:cNvPicPr>
          <p:nvPr/>
        </p:nvPicPr>
        <p:blipFill>
          <a:blip r:embed="rId3"/>
          <a:stretch>
            <a:fillRect/>
          </a:stretch>
        </p:blipFill>
        <p:spPr>
          <a:xfrm>
            <a:off x="5154773" y="1337612"/>
            <a:ext cx="3783073" cy="2500118"/>
          </a:xfrm>
          <a:prstGeom prst="rect">
            <a:avLst/>
          </a:prstGeom>
        </p:spPr>
      </p:pic>
    </p:spTree>
    <p:extLst>
      <p:ext uri="{BB962C8B-B14F-4D97-AF65-F5344CB8AC3E}">
        <p14:creationId xmlns:p14="http://schemas.microsoft.com/office/powerpoint/2010/main" val="1602304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1. …HARDWARE EMPRESARIAL</a:t>
            </a:r>
          </a:p>
        </p:txBody>
      </p:sp>
      <p:sp>
        <p:nvSpPr>
          <p:cNvPr id="8" name="object 7">
            <a:extLst>
              <a:ext uri="{FF2B5EF4-FFF2-40B4-BE49-F238E27FC236}">
                <a16:creationId xmlns:a16="http://schemas.microsoft.com/office/drawing/2014/main" id="{C3B0A135-71EC-41C8-AB02-33A9BC267C33}"/>
              </a:ext>
            </a:extLst>
          </p:cNvPr>
          <p:cNvSpPr txBox="1"/>
          <p:nvPr/>
        </p:nvSpPr>
        <p:spPr>
          <a:xfrm>
            <a:off x="740228" y="1281897"/>
            <a:ext cx="4238172" cy="257250"/>
          </a:xfrm>
          <a:prstGeom prst="rect">
            <a:avLst/>
          </a:prstGeom>
        </p:spPr>
        <p:txBody>
          <a:bodyPr vert="horz" wrap="square" lIns="0" tIns="0" rIns="0" bIns="0" rtlCol="0">
            <a:spAutoFit/>
          </a:bodyPr>
          <a:lstStyle/>
          <a:p>
            <a:pPr marL="285750" indent="-285750" algn="just">
              <a:lnSpc>
                <a:spcPct val="110000"/>
              </a:lnSpc>
              <a:buFont typeface="Arial" panose="020B0604020202020204" pitchFamily="34" charset="0"/>
              <a:buChar char="•"/>
            </a:pPr>
            <a:r>
              <a:rPr lang="es-PE" sz="1600" dirty="0"/>
              <a:t>Dentro del </a:t>
            </a:r>
            <a:r>
              <a:rPr lang="es-PE" sz="1600" dirty="0" smtClean="0"/>
              <a:t>hardware </a:t>
            </a:r>
            <a:r>
              <a:rPr lang="es-PE" sz="1600" dirty="0"/>
              <a:t>empresarial tenemos:</a:t>
            </a:r>
          </a:p>
        </p:txBody>
      </p:sp>
      <p:sp>
        <p:nvSpPr>
          <p:cNvPr id="9" name="object 7">
            <a:extLst>
              <a:ext uri="{FF2B5EF4-FFF2-40B4-BE49-F238E27FC236}">
                <a16:creationId xmlns:a16="http://schemas.microsoft.com/office/drawing/2014/main" id="{C41C6BAC-D69B-4CFE-9FAE-246742CE83B7}"/>
              </a:ext>
            </a:extLst>
          </p:cNvPr>
          <p:cNvSpPr txBox="1"/>
          <p:nvPr/>
        </p:nvSpPr>
        <p:spPr>
          <a:xfrm>
            <a:off x="740228" y="1672587"/>
            <a:ext cx="4107544" cy="3387338"/>
          </a:xfrm>
          <a:prstGeom prst="rect">
            <a:avLst/>
          </a:prstGeom>
        </p:spPr>
        <p:txBody>
          <a:bodyPr vert="horz" wrap="square" lIns="0" tIns="0" rIns="0" bIns="0" rtlCol="0">
            <a:spAutoFit/>
          </a:bodyPr>
          <a:lstStyle/>
          <a:p>
            <a:pPr marL="449263" lvl="1" indent="-285750" algn="just" defTabSz="355600">
              <a:lnSpc>
                <a:spcPct val="110000"/>
              </a:lnSpc>
              <a:spcAft>
                <a:spcPts val="600"/>
              </a:spcAft>
              <a:buFont typeface="Wingdings" panose="05000000000000000000" pitchFamily="2" charset="2"/>
              <a:buChar char="ü"/>
            </a:pPr>
            <a:r>
              <a:rPr lang="es-PE" sz="1600" dirty="0"/>
              <a:t>Sistemas de alimentación ininterrumpida</a:t>
            </a:r>
          </a:p>
          <a:p>
            <a:pPr marL="449263" lvl="1" indent="-285750" algn="just" defTabSz="355600">
              <a:lnSpc>
                <a:spcPct val="110000"/>
              </a:lnSpc>
              <a:spcAft>
                <a:spcPts val="600"/>
              </a:spcAft>
              <a:buFont typeface="Wingdings" panose="05000000000000000000" pitchFamily="2" charset="2"/>
              <a:buChar char="ü"/>
            </a:pPr>
            <a:r>
              <a:rPr lang="es-PE" sz="1600" dirty="0"/>
              <a:t>Servidores</a:t>
            </a:r>
          </a:p>
          <a:p>
            <a:pPr marL="449263" lvl="1" indent="-285750" algn="just" defTabSz="355600">
              <a:lnSpc>
                <a:spcPct val="110000"/>
              </a:lnSpc>
              <a:spcAft>
                <a:spcPts val="600"/>
              </a:spcAft>
              <a:buFont typeface="Wingdings" panose="05000000000000000000" pitchFamily="2" charset="2"/>
              <a:buChar char="ü"/>
            </a:pPr>
            <a:r>
              <a:rPr lang="es-PE" sz="1600" dirty="0"/>
              <a:t>Equipos de comunicaciones</a:t>
            </a:r>
          </a:p>
          <a:p>
            <a:pPr marL="449263" lvl="1" indent="-285750" algn="just" defTabSz="355600">
              <a:lnSpc>
                <a:spcPct val="110000"/>
              </a:lnSpc>
              <a:spcAft>
                <a:spcPts val="600"/>
              </a:spcAft>
              <a:buFont typeface="Wingdings" panose="05000000000000000000" pitchFamily="2" charset="2"/>
              <a:buChar char="ü"/>
            </a:pPr>
            <a:r>
              <a:rPr lang="es-PE" sz="1600" dirty="0"/>
              <a:t>Equipos de video vigilancia </a:t>
            </a:r>
          </a:p>
          <a:p>
            <a:pPr marL="449263" lvl="1" indent="-285750" algn="just" defTabSz="355600">
              <a:lnSpc>
                <a:spcPct val="110000"/>
              </a:lnSpc>
              <a:spcAft>
                <a:spcPts val="600"/>
              </a:spcAft>
              <a:buFont typeface="Wingdings" panose="05000000000000000000" pitchFamily="2" charset="2"/>
              <a:buChar char="ü"/>
            </a:pPr>
            <a:r>
              <a:rPr lang="es-PE" sz="1600" dirty="0"/>
              <a:t>Equipos de seguridad informática  </a:t>
            </a:r>
          </a:p>
          <a:p>
            <a:pPr marL="449263" lvl="1" indent="-285750" algn="just" defTabSz="355600">
              <a:lnSpc>
                <a:spcPct val="110000"/>
              </a:lnSpc>
              <a:spcAft>
                <a:spcPts val="600"/>
              </a:spcAft>
              <a:buFont typeface="Wingdings" panose="05000000000000000000" pitchFamily="2" charset="2"/>
              <a:buChar char="ü"/>
            </a:pPr>
            <a:r>
              <a:rPr lang="es-PE" sz="1600" dirty="0"/>
              <a:t>Redes </a:t>
            </a:r>
          </a:p>
          <a:p>
            <a:pPr marL="449263" lvl="1" indent="-285750" algn="just" defTabSz="355600">
              <a:lnSpc>
                <a:spcPct val="110000"/>
              </a:lnSpc>
              <a:spcAft>
                <a:spcPts val="600"/>
              </a:spcAft>
              <a:buFont typeface="Wingdings" panose="05000000000000000000" pitchFamily="2" charset="2"/>
              <a:buChar char="ü"/>
            </a:pPr>
            <a:r>
              <a:rPr lang="es-PE" sz="1600" dirty="0"/>
              <a:t>Computadores</a:t>
            </a:r>
          </a:p>
          <a:p>
            <a:pPr marL="449263" lvl="1" indent="-285750" algn="just" defTabSz="355600">
              <a:lnSpc>
                <a:spcPct val="110000"/>
              </a:lnSpc>
              <a:spcAft>
                <a:spcPts val="600"/>
              </a:spcAft>
              <a:buFont typeface="Wingdings" panose="05000000000000000000" pitchFamily="2" charset="2"/>
              <a:buChar char="ü"/>
            </a:pPr>
            <a:r>
              <a:rPr lang="es-PE" sz="1600" dirty="0"/>
              <a:t>Periféricos</a:t>
            </a:r>
          </a:p>
          <a:p>
            <a:pPr marL="449263" lvl="1" indent="-285750" algn="just" defTabSz="355600">
              <a:lnSpc>
                <a:spcPct val="110000"/>
              </a:lnSpc>
              <a:spcAft>
                <a:spcPts val="600"/>
              </a:spcAft>
              <a:buFont typeface="Wingdings" panose="05000000000000000000" pitchFamily="2" charset="2"/>
              <a:buChar char="ü"/>
            </a:pPr>
            <a:r>
              <a:rPr lang="es-PE" sz="1600" dirty="0"/>
              <a:t>Terminales</a:t>
            </a:r>
          </a:p>
          <a:p>
            <a:pPr marL="449263" lvl="1" indent="-285750" algn="just" defTabSz="355600">
              <a:lnSpc>
                <a:spcPct val="110000"/>
              </a:lnSpc>
              <a:spcAft>
                <a:spcPts val="600"/>
              </a:spcAft>
              <a:buFont typeface="Wingdings" panose="05000000000000000000" pitchFamily="2" charset="2"/>
              <a:buChar char="ü"/>
            </a:pPr>
            <a:r>
              <a:rPr lang="es-PE" sz="1600" dirty="0"/>
              <a:t>Unidades de almacenamiento</a:t>
            </a:r>
          </a:p>
        </p:txBody>
      </p:sp>
      <p:pic>
        <p:nvPicPr>
          <p:cNvPr id="10" name="Imagen 9">
            <a:extLst>
              <a:ext uri="{FF2B5EF4-FFF2-40B4-BE49-F238E27FC236}">
                <a16:creationId xmlns:a16="http://schemas.microsoft.com/office/drawing/2014/main" id="{893CBB2F-BF5A-402C-BE74-BCA41A63FE97}"/>
              </a:ext>
            </a:extLst>
          </p:cNvPr>
          <p:cNvPicPr>
            <a:picLocks noChangeAspect="1"/>
          </p:cNvPicPr>
          <p:nvPr/>
        </p:nvPicPr>
        <p:blipFill>
          <a:blip r:embed="rId3"/>
          <a:stretch>
            <a:fillRect/>
          </a:stretch>
        </p:blipFill>
        <p:spPr>
          <a:xfrm>
            <a:off x="4864329" y="497801"/>
            <a:ext cx="3963987" cy="2028419"/>
          </a:xfrm>
          <a:prstGeom prst="rect">
            <a:avLst/>
          </a:prstGeom>
        </p:spPr>
      </p:pic>
      <p:pic>
        <p:nvPicPr>
          <p:cNvPr id="14342" name="Picture 6" descr="PCN Tecnologia S.A.S - Suministro de Productos y Servicios Tecnologicos">
            <a:extLst>
              <a:ext uri="{FF2B5EF4-FFF2-40B4-BE49-F238E27FC236}">
                <a16:creationId xmlns:a16="http://schemas.microsoft.com/office/drawing/2014/main" id="{471F5546-9563-4E66-BBE5-6D45F03881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3029" y="2616695"/>
            <a:ext cx="4483100" cy="2988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177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SOFTWARE EMPRESARIAL</a:t>
            </a:r>
          </a:p>
        </p:txBody>
      </p:sp>
      <p:sp>
        <p:nvSpPr>
          <p:cNvPr id="8" name="object 7">
            <a:extLst>
              <a:ext uri="{FF2B5EF4-FFF2-40B4-BE49-F238E27FC236}">
                <a16:creationId xmlns:a16="http://schemas.microsoft.com/office/drawing/2014/main" id="{4F798445-E355-4874-A82E-82A2023C6505}"/>
              </a:ext>
            </a:extLst>
          </p:cNvPr>
          <p:cNvSpPr txBox="1"/>
          <p:nvPr/>
        </p:nvSpPr>
        <p:spPr>
          <a:xfrm>
            <a:off x="624115" y="1264766"/>
            <a:ext cx="7903028" cy="812530"/>
          </a:xfrm>
          <a:prstGeom prst="rect">
            <a:avLst/>
          </a:prstGeom>
        </p:spPr>
        <p:txBody>
          <a:bodyPr vert="horz" wrap="square" lIns="0" tIns="0" rIns="0" bIns="0" rtlCol="0">
            <a:spAutoFit/>
          </a:bodyPr>
          <a:lstStyle/>
          <a:p>
            <a:pPr algn="just">
              <a:lnSpc>
                <a:spcPct val="110000"/>
              </a:lnSpc>
              <a:spcAft>
                <a:spcPts val="1600"/>
              </a:spcAft>
            </a:pPr>
            <a:r>
              <a:rPr lang="es-PE" sz="1600" dirty="0"/>
              <a:t>C</a:t>
            </a:r>
            <a:r>
              <a:rPr lang="es-PE" sz="1600" dirty="0" smtClean="0"/>
              <a:t>omprende </a:t>
            </a:r>
            <a:r>
              <a:rPr lang="es-PE" sz="1600" dirty="0"/>
              <a:t>a cualquier tipo de software que está orientado a </a:t>
            </a:r>
            <a:r>
              <a:rPr lang="es-PE" sz="1600" dirty="0" smtClean="0"/>
              <a:t>brindar soporte </a:t>
            </a:r>
            <a:r>
              <a:rPr lang="es-PE" sz="1600" dirty="0"/>
              <a:t>a una </a:t>
            </a:r>
            <a:r>
              <a:rPr lang="es-PE" sz="1600" dirty="0" smtClean="0"/>
              <a:t>empresa para que mejore </a:t>
            </a:r>
            <a:r>
              <a:rPr lang="es-PE" sz="1600" dirty="0"/>
              <a:t>su gestión, </a:t>
            </a:r>
            <a:r>
              <a:rPr lang="es-PE" sz="1600" dirty="0" smtClean="0"/>
              <a:t>su productividad</a:t>
            </a:r>
            <a:r>
              <a:rPr lang="es-PE" sz="1600" dirty="0"/>
              <a:t>, </a:t>
            </a:r>
            <a:r>
              <a:rPr lang="es-PE" sz="1600" dirty="0" smtClean="0"/>
              <a:t>ahorre </a:t>
            </a:r>
            <a:r>
              <a:rPr lang="es-PE" sz="1600" dirty="0"/>
              <a:t>tiempo o </a:t>
            </a:r>
            <a:r>
              <a:rPr lang="es-PE" sz="1600" dirty="0" smtClean="0"/>
              <a:t>desarrolle </a:t>
            </a:r>
            <a:r>
              <a:rPr lang="es-PE" sz="1600" dirty="0"/>
              <a:t>ventajas estratégicas para conseguir sus objetivos.</a:t>
            </a:r>
          </a:p>
        </p:txBody>
      </p:sp>
      <p:pic>
        <p:nvPicPr>
          <p:cNvPr id="3" name="Imagen 2">
            <a:extLst>
              <a:ext uri="{FF2B5EF4-FFF2-40B4-BE49-F238E27FC236}">
                <a16:creationId xmlns:a16="http://schemas.microsoft.com/office/drawing/2014/main" id="{91983B5D-1E2D-409D-BCAA-0CDF5C80EC80}"/>
              </a:ext>
            </a:extLst>
          </p:cNvPr>
          <p:cNvPicPr>
            <a:picLocks noChangeAspect="1"/>
          </p:cNvPicPr>
          <p:nvPr/>
        </p:nvPicPr>
        <p:blipFill>
          <a:blip r:embed="rId3"/>
          <a:stretch>
            <a:fillRect/>
          </a:stretch>
        </p:blipFill>
        <p:spPr>
          <a:xfrm>
            <a:off x="1879452" y="2234799"/>
            <a:ext cx="5732916" cy="2832997"/>
          </a:xfrm>
          <a:prstGeom prst="rect">
            <a:avLst/>
          </a:prstGeom>
        </p:spPr>
      </p:pic>
    </p:spTree>
    <p:extLst>
      <p:ext uri="{BB962C8B-B14F-4D97-AF65-F5344CB8AC3E}">
        <p14:creationId xmlns:p14="http://schemas.microsoft.com/office/powerpoint/2010/main" val="4123194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3" name="object 7">
            <a:extLst>
              <a:ext uri="{FF2B5EF4-FFF2-40B4-BE49-F238E27FC236}">
                <a16:creationId xmlns:a16="http://schemas.microsoft.com/office/drawing/2014/main" id="{B0409ED7-BEBF-4628-A3FC-B6648678CCA5}"/>
              </a:ext>
            </a:extLst>
          </p:cNvPr>
          <p:cNvSpPr txBox="1"/>
          <p:nvPr/>
        </p:nvSpPr>
        <p:spPr>
          <a:xfrm>
            <a:off x="496986" y="876581"/>
            <a:ext cx="81500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2.1. ¿Por qué es necesario un software empresarial?</a:t>
            </a:r>
          </a:p>
        </p:txBody>
      </p:sp>
      <p:sp>
        <p:nvSpPr>
          <p:cNvPr id="4" name="object 7">
            <a:extLst>
              <a:ext uri="{FF2B5EF4-FFF2-40B4-BE49-F238E27FC236}">
                <a16:creationId xmlns:a16="http://schemas.microsoft.com/office/drawing/2014/main" id="{BCEA27D7-BFB8-4DC1-848F-83C064472B19}"/>
              </a:ext>
            </a:extLst>
          </p:cNvPr>
          <p:cNvSpPr txBox="1"/>
          <p:nvPr/>
        </p:nvSpPr>
        <p:spPr>
          <a:xfrm>
            <a:off x="740229" y="1304895"/>
            <a:ext cx="4085771" cy="3105209"/>
          </a:xfrm>
          <a:prstGeom prst="rect">
            <a:avLst/>
          </a:prstGeom>
        </p:spPr>
        <p:txBody>
          <a:bodyPr vert="horz" wrap="square" lIns="0" tIns="0" rIns="0" bIns="0" rtlCol="0">
            <a:spAutoFit/>
          </a:bodyPr>
          <a:lstStyle/>
          <a:p>
            <a:pPr marL="285750" indent="-285750" algn="just">
              <a:lnSpc>
                <a:spcPct val="110000"/>
              </a:lnSpc>
              <a:spcAft>
                <a:spcPts val="1600"/>
              </a:spcAft>
              <a:buFont typeface="Arial" panose="020B0604020202020204" pitchFamily="34" charset="0"/>
              <a:buChar char="•"/>
            </a:pPr>
            <a:r>
              <a:rPr lang="es-PE" sz="1600" dirty="0"/>
              <a:t>Nos permiten llevar a cabo desde procesos administrativos hasta la atención al cliente de una empresa o negocio. </a:t>
            </a:r>
          </a:p>
          <a:p>
            <a:pPr marL="285750" indent="-285750" algn="just">
              <a:lnSpc>
                <a:spcPct val="110000"/>
              </a:lnSpc>
              <a:spcAft>
                <a:spcPts val="1600"/>
              </a:spcAft>
              <a:buFont typeface="Arial" panose="020B0604020202020204" pitchFamily="34" charset="0"/>
              <a:buChar char="•"/>
            </a:pPr>
            <a:r>
              <a:rPr lang="es-PE" sz="1600" dirty="0"/>
              <a:t>No </a:t>
            </a:r>
            <a:r>
              <a:rPr lang="es-PE" sz="1600" dirty="0" smtClean="0"/>
              <a:t>sólo </a:t>
            </a:r>
            <a:r>
              <a:rPr lang="es-PE" sz="1600" dirty="0"/>
              <a:t>son herramientas de gerencia, ayuda a la toma de decisiones lo que permite predecir riesgos y prevenirlos.</a:t>
            </a:r>
          </a:p>
          <a:p>
            <a:pPr marL="285750" indent="-285750" algn="just">
              <a:lnSpc>
                <a:spcPct val="110000"/>
              </a:lnSpc>
              <a:spcAft>
                <a:spcPts val="1600"/>
              </a:spcAft>
              <a:buFont typeface="Arial" panose="020B0604020202020204" pitchFamily="34" charset="0"/>
              <a:buChar char="•"/>
            </a:pPr>
            <a:r>
              <a:rPr lang="es-PE" sz="1600" dirty="0"/>
              <a:t>Genera grandes ahorros de tiempo, lo que brinda la oportunidad de enfocar esfuerzos y recursos en actividades de planeación y expansión.</a:t>
            </a:r>
          </a:p>
        </p:txBody>
      </p:sp>
      <p:pic>
        <p:nvPicPr>
          <p:cNvPr id="15362" name="Picture 2" descr="Servicios de desarrollo de software empresarial | Redwerk">
            <a:extLst>
              <a:ext uri="{FF2B5EF4-FFF2-40B4-BE49-F238E27FC236}">
                <a16:creationId xmlns:a16="http://schemas.microsoft.com/office/drawing/2014/main" id="{F914B5A4-1711-4CEC-8BC1-F56D3396D0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2291" y="1712686"/>
            <a:ext cx="3284723" cy="25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35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3" name="object 7">
            <a:extLst>
              <a:ext uri="{FF2B5EF4-FFF2-40B4-BE49-F238E27FC236}">
                <a16:creationId xmlns:a16="http://schemas.microsoft.com/office/drawing/2014/main" id="{B0409ED7-BEBF-4628-A3FC-B6648678CCA5}"/>
              </a:ext>
            </a:extLst>
          </p:cNvPr>
          <p:cNvSpPr txBox="1"/>
          <p:nvPr/>
        </p:nvSpPr>
        <p:spPr>
          <a:xfrm>
            <a:off x="496986" y="878028"/>
            <a:ext cx="46991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2.2. ¿Qué ventajas tiene un software empresarial?</a:t>
            </a:r>
          </a:p>
        </p:txBody>
      </p:sp>
      <p:sp>
        <p:nvSpPr>
          <p:cNvPr id="4" name="object 7">
            <a:extLst>
              <a:ext uri="{FF2B5EF4-FFF2-40B4-BE49-F238E27FC236}">
                <a16:creationId xmlns:a16="http://schemas.microsoft.com/office/drawing/2014/main" id="{BCEA27D7-BFB8-4DC1-848F-83C064472B19}"/>
              </a:ext>
            </a:extLst>
          </p:cNvPr>
          <p:cNvSpPr txBox="1"/>
          <p:nvPr/>
        </p:nvSpPr>
        <p:spPr>
          <a:xfrm>
            <a:off x="740229" y="1327504"/>
            <a:ext cx="7830457" cy="3447098"/>
          </a:xfrm>
          <a:prstGeom prst="rect">
            <a:avLst/>
          </a:prstGeom>
        </p:spPr>
        <p:txBody>
          <a:bodyPr vert="horz" wrap="square" lIns="0" tIns="0" rIns="0" bIns="0" rtlCol="0">
            <a:spAutoFit/>
          </a:bodyPr>
          <a:lstStyle/>
          <a:p>
            <a:pPr marL="285750" indent="-285750" algn="just">
              <a:spcAft>
                <a:spcPts val="1200"/>
              </a:spcAft>
              <a:buFont typeface="Wingdings" panose="05000000000000000000" pitchFamily="2" charset="2"/>
              <a:buChar char="ü"/>
            </a:pPr>
            <a:r>
              <a:rPr lang="es-PE" sz="1600" dirty="0"/>
              <a:t>Disminuye costos de gestión.</a:t>
            </a:r>
          </a:p>
          <a:p>
            <a:pPr marL="285750" indent="-285750" algn="just">
              <a:spcAft>
                <a:spcPts val="1200"/>
              </a:spcAft>
              <a:buFont typeface="Wingdings" panose="05000000000000000000" pitchFamily="2" charset="2"/>
              <a:buChar char="ü"/>
            </a:pPr>
            <a:r>
              <a:rPr lang="es-PE" sz="1600" dirty="0"/>
              <a:t>Aumenta la agilidad de los procesos.</a:t>
            </a:r>
          </a:p>
          <a:p>
            <a:pPr marL="285750" indent="-285750" algn="just">
              <a:spcAft>
                <a:spcPts val="1200"/>
              </a:spcAft>
              <a:buFont typeface="Wingdings" panose="05000000000000000000" pitchFamily="2" charset="2"/>
              <a:buChar char="ü"/>
            </a:pPr>
            <a:r>
              <a:rPr lang="es-PE" sz="1600" dirty="0"/>
              <a:t>Mejor conocimiento de los posibles clientes.</a:t>
            </a:r>
          </a:p>
          <a:p>
            <a:pPr marL="285750" indent="-285750" algn="just">
              <a:spcAft>
                <a:spcPts val="1200"/>
              </a:spcAft>
              <a:buFont typeface="Wingdings" panose="05000000000000000000" pitchFamily="2" charset="2"/>
              <a:buChar char="ü"/>
            </a:pPr>
            <a:r>
              <a:rPr lang="es-PE" sz="1600" dirty="0"/>
              <a:t>Conocimiento de los procesos y sus resultados.</a:t>
            </a:r>
          </a:p>
          <a:p>
            <a:pPr marL="285750" indent="-285750" algn="just">
              <a:spcAft>
                <a:spcPts val="1200"/>
              </a:spcAft>
              <a:buFont typeface="Wingdings" panose="05000000000000000000" pitchFamily="2" charset="2"/>
              <a:buChar char="ü"/>
            </a:pPr>
            <a:r>
              <a:rPr lang="es-PE" sz="1600" dirty="0"/>
              <a:t>Ayuda a la toma de decisiones.</a:t>
            </a:r>
          </a:p>
          <a:p>
            <a:pPr marL="285750" indent="-285750" algn="just">
              <a:spcAft>
                <a:spcPts val="1200"/>
              </a:spcAft>
              <a:buFont typeface="Wingdings" panose="05000000000000000000" pitchFamily="2" charset="2"/>
              <a:buChar char="ü"/>
            </a:pPr>
            <a:r>
              <a:rPr lang="es-PE" sz="1600" dirty="0"/>
              <a:t>Toma de decisiones basada en la recolección e interpretación de datos.</a:t>
            </a:r>
          </a:p>
          <a:p>
            <a:pPr marL="285750" indent="-285750" algn="just">
              <a:spcAft>
                <a:spcPts val="1200"/>
              </a:spcAft>
              <a:buFont typeface="Wingdings" panose="05000000000000000000" pitchFamily="2" charset="2"/>
              <a:buChar char="ü"/>
            </a:pPr>
            <a:r>
              <a:rPr lang="es-PE" sz="1600" dirty="0"/>
              <a:t>Reducción de errores humanos al sistematizar, organizar y gestionar diversos procesos.</a:t>
            </a:r>
          </a:p>
          <a:p>
            <a:pPr marL="285750" indent="-285750" algn="just">
              <a:spcAft>
                <a:spcPts val="1200"/>
              </a:spcAft>
              <a:buFont typeface="Wingdings" panose="05000000000000000000" pitchFamily="2" charset="2"/>
              <a:buChar char="ü"/>
            </a:pPr>
            <a:r>
              <a:rPr lang="es-PE" sz="1600" dirty="0"/>
              <a:t>Mayor escalabilidad, desde procesos sencillos hasta llegar a una transformación digital.</a:t>
            </a:r>
          </a:p>
          <a:p>
            <a:pPr marL="285750" indent="-285750" algn="just">
              <a:spcAft>
                <a:spcPts val="1200"/>
              </a:spcAft>
              <a:buFont typeface="Wingdings" panose="05000000000000000000" pitchFamily="2" charset="2"/>
              <a:buChar char="ü"/>
            </a:pPr>
            <a:r>
              <a:rPr lang="es-PE" sz="1600" dirty="0"/>
              <a:t>Genera grandes ahorros de tiempo.</a:t>
            </a:r>
          </a:p>
        </p:txBody>
      </p:sp>
      <p:pic>
        <p:nvPicPr>
          <p:cNvPr id="6" name="Imagen 5">
            <a:extLst>
              <a:ext uri="{FF2B5EF4-FFF2-40B4-BE49-F238E27FC236}">
                <a16:creationId xmlns:a16="http://schemas.microsoft.com/office/drawing/2014/main" id="{56B2ABE2-B8FB-4CEC-94C7-B50B51D0F842}"/>
              </a:ext>
            </a:extLst>
          </p:cNvPr>
          <p:cNvPicPr>
            <a:picLocks noChangeAspect="1"/>
          </p:cNvPicPr>
          <p:nvPr/>
        </p:nvPicPr>
        <p:blipFill>
          <a:blip r:embed="rId3"/>
          <a:stretch>
            <a:fillRect/>
          </a:stretch>
        </p:blipFill>
        <p:spPr>
          <a:xfrm>
            <a:off x="6310767" y="422168"/>
            <a:ext cx="2259919" cy="2628885"/>
          </a:xfrm>
          <a:prstGeom prst="rect">
            <a:avLst/>
          </a:prstGeom>
        </p:spPr>
      </p:pic>
    </p:spTree>
    <p:extLst>
      <p:ext uri="{BB962C8B-B14F-4D97-AF65-F5344CB8AC3E}">
        <p14:creationId xmlns:p14="http://schemas.microsoft.com/office/powerpoint/2010/main" val="87334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3" name="object 7">
            <a:extLst>
              <a:ext uri="{FF2B5EF4-FFF2-40B4-BE49-F238E27FC236}">
                <a16:creationId xmlns:a16="http://schemas.microsoft.com/office/drawing/2014/main" id="{B0409ED7-BEBF-4628-A3FC-B6648678CCA5}"/>
              </a:ext>
            </a:extLst>
          </p:cNvPr>
          <p:cNvSpPr txBox="1"/>
          <p:nvPr/>
        </p:nvSpPr>
        <p:spPr>
          <a:xfrm>
            <a:off x="496986" y="881743"/>
            <a:ext cx="469912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2.3. Tipos de </a:t>
            </a:r>
            <a:r>
              <a:rPr lang="es-PE" sz="1600" b="1" spc="-10" dirty="0" smtClean="0">
                <a:solidFill>
                  <a:srgbClr val="262626"/>
                </a:solidFill>
                <a:cs typeface="Source Sans Pro"/>
              </a:rPr>
              <a:t>software </a:t>
            </a:r>
            <a:r>
              <a:rPr lang="es-PE" sz="1600" b="1" spc="-10" dirty="0">
                <a:solidFill>
                  <a:srgbClr val="262626"/>
                </a:solidFill>
                <a:cs typeface="Source Sans Pro"/>
              </a:rPr>
              <a:t>e</a:t>
            </a:r>
            <a:r>
              <a:rPr lang="es-PE" sz="1600" b="1" spc="-10" dirty="0" smtClean="0">
                <a:solidFill>
                  <a:srgbClr val="262626"/>
                </a:solidFill>
                <a:cs typeface="Source Sans Pro"/>
              </a:rPr>
              <a:t>mpresarial</a:t>
            </a:r>
            <a:endParaRPr lang="es-PE" sz="1600" b="1" spc="-10" dirty="0">
              <a:solidFill>
                <a:srgbClr val="262626"/>
              </a:solidFill>
              <a:cs typeface="Source Sans Pro"/>
            </a:endParaRPr>
          </a:p>
        </p:txBody>
      </p:sp>
      <p:sp>
        <p:nvSpPr>
          <p:cNvPr id="6" name="object 7">
            <a:extLst>
              <a:ext uri="{FF2B5EF4-FFF2-40B4-BE49-F238E27FC236}">
                <a16:creationId xmlns:a16="http://schemas.microsoft.com/office/drawing/2014/main" id="{87A0BE06-02C8-4047-A07B-E19DAA7C2086}"/>
              </a:ext>
            </a:extLst>
          </p:cNvPr>
          <p:cNvSpPr txBox="1"/>
          <p:nvPr/>
        </p:nvSpPr>
        <p:spPr>
          <a:xfrm>
            <a:off x="740229" y="1327504"/>
            <a:ext cx="7830457" cy="3539430"/>
          </a:xfrm>
          <a:prstGeom prst="rect">
            <a:avLst/>
          </a:prstGeom>
        </p:spPr>
        <p:txBody>
          <a:bodyPr vert="horz" wrap="square" lIns="0" tIns="0" rIns="0" bIns="0" rtlCol="0">
            <a:spAutoFit/>
          </a:bodyPr>
          <a:lstStyle/>
          <a:p>
            <a:pPr marL="285750" indent="-285750" algn="just">
              <a:spcAft>
                <a:spcPts val="1200"/>
              </a:spcAft>
              <a:buFont typeface="Wingdings" panose="05000000000000000000" pitchFamily="2" charset="2"/>
              <a:buChar char="ü"/>
            </a:pPr>
            <a:r>
              <a:rPr lang="es-PE" sz="1500" spc="-10" dirty="0">
                <a:solidFill>
                  <a:srgbClr val="262626"/>
                </a:solidFill>
              </a:rPr>
              <a:t>Sistemas de automatización de Oficinas (OAS)</a:t>
            </a:r>
          </a:p>
          <a:p>
            <a:pPr marL="285750" indent="-285750" algn="just">
              <a:spcAft>
                <a:spcPts val="1200"/>
              </a:spcAft>
              <a:buFont typeface="Wingdings" panose="05000000000000000000" pitchFamily="2" charset="2"/>
              <a:buChar char="ü"/>
            </a:pPr>
            <a:r>
              <a:rPr lang="es-PE" sz="1500" spc="-10" dirty="0">
                <a:solidFill>
                  <a:srgbClr val="262626"/>
                </a:solidFill>
              </a:rPr>
              <a:t>Sistemas de planificación de recursos empresariales (ERP)</a:t>
            </a:r>
          </a:p>
          <a:p>
            <a:pPr marL="285750" indent="-285750" algn="just">
              <a:spcAft>
                <a:spcPts val="1200"/>
              </a:spcAft>
              <a:buFont typeface="Wingdings" panose="05000000000000000000" pitchFamily="2" charset="2"/>
              <a:buChar char="ü"/>
            </a:pPr>
            <a:r>
              <a:rPr lang="es-PE" sz="1500" spc="-10" dirty="0">
                <a:solidFill>
                  <a:srgbClr val="262626"/>
                </a:solidFill>
              </a:rPr>
              <a:t>Administración de cadena de suministros (SCM) </a:t>
            </a:r>
          </a:p>
          <a:p>
            <a:pPr marL="285750" indent="-285750" algn="just">
              <a:spcAft>
                <a:spcPts val="1200"/>
              </a:spcAft>
              <a:buFont typeface="Wingdings" panose="05000000000000000000" pitchFamily="2" charset="2"/>
              <a:buChar char="ü"/>
            </a:pPr>
            <a:r>
              <a:rPr lang="es-PE" sz="1500" spc="-10" dirty="0">
                <a:solidFill>
                  <a:srgbClr val="262626"/>
                </a:solidFill>
              </a:rPr>
              <a:t>Sistema de relación con los clientes (CRM)</a:t>
            </a:r>
          </a:p>
          <a:p>
            <a:pPr marL="285750" indent="-285750" algn="just">
              <a:spcAft>
                <a:spcPts val="1200"/>
              </a:spcAft>
              <a:buFont typeface="Wingdings" panose="05000000000000000000" pitchFamily="2" charset="2"/>
              <a:buChar char="ü"/>
            </a:pPr>
            <a:r>
              <a:rPr lang="es-PE" sz="1500" spc="-10" dirty="0">
                <a:solidFill>
                  <a:srgbClr val="262626"/>
                </a:solidFill>
              </a:rPr>
              <a:t>Software de gestión documental (DMS)</a:t>
            </a:r>
          </a:p>
          <a:p>
            <a:pPr marL="285750" indent="-285750" algn="just">
              <a:spcAft>
                <a:spcPts val="1200"/>
              </a:spcAft>
              <a:buFont typeface="Wingdings" panose="05000000000000000000" pitchFamily="2" charset="2"/>
              <a:buChar char="ü"/>
            </a:pPr>
            <a:r>
              <a:rPr lang="es-PE" sz="1500" spc="-10" dirty="0">
                <a:solidFill>
                  <a:srgbClr val="262626"/>
                </a:solidFill>
              </a:rPr>
              <a:t>Software para análisis de datos (BI)</a:t>
            </a:r>
          </a:p>
          <a:p>
            <a:pPr marL="285750" indent="-285750" algn="just">
              <a:spcAft>
                <a:spcPts val="1200"/>
              </a:spcAft>
              <a:buFont typeface="Wingdings" panose="05000000000000000000" pitchFamily="2" charset="2"/>
              <a:buChar char="ü"/>
            </a:pPr>
            <a:r>
              <a:rPr lang="es-PE" sz="1500" spc="-10" dirty="0">
                <a:solidFill>
                  <a:srgbClr val="262626"/>
                </a:solidFill>
              </a:rPr>
              <a:t>Gestión de calidad de la información (IQM)</a:t>
            </a:r>
          </a:p>
          <a:p>
            <a:pPr marL="285750" indent="-285750" algn="just">
              <a:spcAft>
                <a:spcPts val="1200"/>
              </a:spcAft>
              <a:buFont typeface="Wingdings" panose="05000000000000000000" pitchFamily="2" charset="2"/>
              <a:buChar char="ü"/>
            </a:pPr>
            <a:r>
              <a:rPr lang="es-PE" sz="1500" spc="-10" dirty="0">
                <a:solidFill>
                  <a:srgbClr val="262626"/>
                </a:solidFill>
              </a:rPr>
              <a:t>Gestión de activos empresariales (EAM)</a:t>
            </a:r>
          </a:p>
          <a:p>
            <a:pPr marL="285750" indent="-285750" algn="just">
              <a:spcAft>
                <a:spcPts val="1200"/>
              </a:spcAft>
              <a:buFont typeface="Wingdings" panose="05000000000000000000" pitchFamily="2" charset="2"/>
              <a:buChar char="ü"/>
            </a:pPr>
            <a:r>
              <a:rPr lang="es-PE" sz="1500" spc="-10" dirty="0">
                <a:solidFill>
                  <a:srgbClr val="262626"/>
                </a:solidFill>
              </a:rPr>
              <a:t>Sistemas operativos empresariales (Windows Server 2022, Linux Suse Enterprise Server, RHEL, AS/400, etc.)</a:t>
            </a:r>
          </a:p>
        </p:txBody>
      </p:sp>
      <p:pic>
        <p:nvPicPr>
          <p:cNvPr id="7" name="Imagen 6">
            <a:extLst>
              <a:ext uri="{FF2B5EF4-FFF2-40B4-BE49-F238E27FC236}">
                <a16:creationId xmlns:a16="http://schemas.microsoft.com/office/drawing/2014/main" id="{9FD0C2DB-D981-4181-AE62-CDF8C7F1D09A}"/>
              </a:ext>
            </a:extLst>
          </p:cNvPr>
          <p:cNvPicPr>
            <a:picLocks noChangeAspect="1"/>
          </p:cNvPicPr>
          <p:nvPr/>
        </p:nvPicPr>
        <p:blipFill>
          <a:blip r:embed="rId3"/>
          <a:stretch>
            <a:fillRect/>
          </a:stretch>
        </p:blipFill>
        <p:spPr>
          <a:xfrm>
            <a:off x="6518703" y="694177"/>
            <a:ext cx="2066879" cy="1665741"/>
          </a:xfrm>
          <a:prstGeom prst="rect">
            <a:avLst/>
          </a:prstGeom>
        </p:spPr>
      </p:pic>
      <p:pic>
        <p:nvPicPr>
          <p:cNvPr id="21506" name="Picture 2" descr="6 razones por las que tu Pyme debería tener un CRM">
            <a:extLst>
              <a:ext uri="{FF2B5EF4-FFF2-40B4-BE49-F238E27FC236}">
                <a16:creationId xmlns:a16="http://schemas.microsoft.com/office/drawing/2014/main" id="{9E8E0710-D057-4922-8C2F-35B5F6E5C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703" y="2559458"/>
            <a:ext cx="2187329" cy="1531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863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3" name="object 7">
            <a:extLst>
              <a:ext uri="{FF2B5EF4-FFF2-40B4-BE49-F238E27FC236}">
                <a16:creationId xmlns:a16="http://schemas.microsoft.com/office/drawing/2014/main" id="{B0409ED7-BEBF-4628-A3FC-B6648678CCA5}"/>
              </a:ext>
            </a:extLst>
          </p:cNvPr>
          <p:cNvSpPr txBox="1"/>
          <p:nvPr/>
        </p:nvSpPr>
        <p:spPr>
          <a:xfrm>
            <a:off x="496985" y="881743"/>
            <a:ext cx="5729643"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2.4. Modelo de </a:t>
            </a:r>
            <a:r>
              <a:rPr lang="es-PE" sz="1600" b="1" spc="-10" dirty="0" smtClean="0">
                <a:solidFill>
                  <a:srgbClr val="262626"/>
                </a:solidFill>
                <a:cs typeface="Source Sans Pro"/>
              </a:rPr>
              <a:t>implementación </a:t>
            </a:r>
            <a:r>
              <a:rPr lang="es-PE" sz="1600" b="1" spc="-10" dirty="0">
                <a:solidFill>
                  <a:srgbClr val="262626"/>
                </a:solidFill>
                <a:cs typeface="Source Sans Pro"/>
              </a:rPr>
              <a:t>de </a:t>
            </a:r>
            <a:r>
              <a:rPr lang="es-PE" sz="1600" b="1" spc="-10" dirty="0" smtClean="0">
                <a:solidFill>
                  <a:srgbClr val="262626"/>
                </a:solidFill>
                <a:cs typeface="Source Sans Pro"/>
              </a:rPr>
              <a:t>software </a:t>
            </a:r>
            <a:r>
              <a:rPr lang="es-PE" sz="1600" b="1" spc="-10" dirty="0">
                <a:solidFill>
                  <a:srgbClr val="262626"/>
                </a:solidFill>
                <a:cs typeface="Source Sans Pro"/>
              </a:rPr>
              <a:t>e</a:t>
            </a:r>
            <a:r>
              <a:rPr lang="es-PE" sz="1600" b="1" spc="-10" dirty="0" smtClean="0">
                <a:solidFill>
                  <a:srgbClr val="262626"/>
                </a:solidFill>
                <a:cs typeface="Source Sans Pro"/>
              </a:rPr>
              <a:t>mpresarial</a:t>
            </a:r>
            <a:endParaRPr lang="es-PE" sz="1600" b="1" spc="-10" dirty="0">
              <a:solidFill>
                <a:srgbClr val="262626"/>
              </a:solidFill>
              <a:cs typeface="Source Sans Pro"/>
            </a:endParaRPr>
          </a:p>
        </p:txBody>
      </p:sp>
      <p:sp>
        <p:nvSpPr>
          <p:cNvPr id="7" name="object 7">
            <a:extLst>
              <a:ext uri="{FF2B5EF4-FFF2-40B4-BE49-F238E27FC236}">
                <a16:creationId xmlns:a16="http://schemas.microsoft.com/office/drawing/2014/main" id="{48C940FE-9B47-4009-8FC3-04F7F0673CAF}"/>
              </a:ext>
            </a:extLst>
          </p:cNvPr>
          <p:cNvSpPr txBox="1"/>
          <p:nvPr/>
        </p:nvSpPr>
        <p:spPr>
          <a:xfrm>
            <a:off x="649385" y="1316269"/>
            <a:ext cx="5729643" cy="246221"/>
          </a:xfrm>
          <a:prstGeom prst="rect">
            <a:avLst/>
          </a:prstGeom>
        </p:spPr>
        <p:txBody>
          <a:bodyPr vert="horz" wrap="square" lIns="0" tIns="0" rIns="0" bIns="0" rtlCol="0">
            <a:spAutoFit/>
          </a:bodyPr>
          <a:lstStyle/>
          <a:p>
            <a:pPr marL="466725" indent="-285750">
              <a:buSzPct val="100000"/>
              <a:buFont typeface="Wingdings" panose="05000000000000000000" pitchFamily="2" charset="2"/>
              <a:buChar char="q"/>
              <a:tabLst>
                <a:tab pos="121285" algn="l"/>
              </a:tabLst>
            </a:pPr>
            <a:r>
              <a:rPr lang="es-PE" sz="1600" b="1" spc="-10" dirty="0">
                <a:solidFill>
                  <a:srgbClr val="262626"/>
                </a:solidFill>
                <a:cs typeface="Source Sans Pro"/>
              </a:rPr>
              <a:t>On-Premise </a:t>
            </a:r>
          </a:p>
        </p:txBody>
      </p:sp>
      <p:sp>
        <p:nvSpPr>
          <p:cNvPr id="8" name="object 7">
            <a:extLst>
              <a:ext uri="{FF2B5EF4-FFF2-40B4-BE49-F238E27FC236}">
                <a16:creationId xmlns:a16="http://schemas.microsoft.com/office/drawing/2014/main" id="{1C75930B-6F97-4AF9-B615-C1D4DB8FC881}"/>
              </a:ext>
            </a:extLst>
          </p:cNvPr>
          <p:cNvSpPr txBox="1"/>
          <p:nvPr/>
        </p:nvSpPr>
        <p:spPr>
          <a:xfrm>
            <a:off x="841828" y="1645981"/>
            <a:ext cx="3285563" cy="1069780"/>
          </a:xfrm>
          <a:prstGeom prst="rect">
            <a:avLst/>
          </a:prstGeom>
        </p:spPr>
        <p:txBody>
          <a:bodyPr vert="horz" wrap="square" lIns="0" tIns="0" rIns="0" bIns="0" rtlCol="0">
            <a:spAutoFit/>
          </a:bodyPr>
          <a:lstStyle/>
          <a:p>
            <a:pPr algn="just">
              <a:lnSpc>
                <a:spcPct val="110000"/>
              </a:lnSpc>
              <a:spcAft>
                <a:spcPts val="1600"/>
              </a:spcAft>
            </a:pPr>
            <a:r>
              <a:rPr lang="es-ES" sz="1600" dirty="0"/>
              <a:t>Es un modelo en el cual el software de gestión empresarial está instalado y funciona dentro de la infraestructura interna de la empresa.</a:t>
            </a:r>
            <a:endParaRPr lang="es-PE" sz="1600" dirty="0"/>
          </a:p>
        </p:txBody>
      </p:sp>
      <p:pic>
        <p:nvPicPr>
          <p:cNvPr id="4" name="Imagen 3">
            <a:extLst>
              <a:ext uri="{FF2B5EF4-FFF2-40B4-BE49-F238E27FC236}">
                <a16:creationId xmlns:a16="http://schemas.microsoft.com/office/drawing/2014/main" id="{CB6D9AF6-310F-4CBB-B770-E19CCF8CFE73}"/>
              </a:ext>
            </a:extLst>
          </p:cNvPr>
          <p:cNvPicPr>
            <a:picLocks noChangeAspect="1"/>
          </p:cNvPicPr>
          <p:nvPr/>
        </p:nvPicPr>
        <p:blipFill>
          <a:blip r:embed="rId3"/>
          <a:stretch>
            <a:fillRect/>
          </a:stretch>
        </p:blipFill>
        <p:spPr>
          <a:xfrm>
            <a:off x="4915010" y="1645981"/>
            <a:ext cx="3597054" cy="2940267"/>
          </a:xfrm>
          <a:prstGeom prst="rect">
            <a:avLst/>
          </a:prstGeom>
        </p:spPr>
      </p:pic>
    </p:spTree>
    <p:extLst>
      <p:ext uri="{BB962C8B-B14F-4D97-AF65-F5344CB8AC3E}">
        <p14:creationId xmlns:p14="http://schemas.microsoft.com/office/powerpoint/2010/main" val="2830053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3" name="object 7">
            <a:extLst>
              <a:ext uri="{FF2B5EF4-FFF2-40B4-BE49-F238E27FC236}">
                <a16:creationId xmlns:a16="http://schemas.microsoft.com/office/drawing/2014/main" id="{B0409ED7-BEBF-4628-A3FC-B6648678CCA5}"/>
              </a:ext>
            </a:extLst>
          </p:cNvPr>
          <p:cNvSpPr txBox="1"/>
          <p:nvPr/>
        </p:nvSpPr>
        <p:spPr>
          <a:xfrm>
            <a:off x="496985" y="881743"/>
            <a:ext cx="5729643"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2.4. …Modelo de </a:t>
            </a:r>
            <a:r>
              <a:rPr lang="es-PE" sz="1600" b="1" spc="-10" dirty="0" smtClean="0">
                <a:solidFill>
                  <a:srgbClr val="262626"/>
                </a:solidFill>
                <a:cs typeface="Source Sans Pro"/>
              </a:rPr>
              <a:t>implementación </a:t>
            </a:r>
            <a:r>
              <a:rPr lang="es-PE" sz="1600" b="1" spc="-10" dirty="0">
                <a:solidFill>
                  <a:srgbClr val="262626"/>
                </a:solidFill>
                <a:cs typeface="Source Sans Pro"/>
              </a:rPr>
              <a:t>de </a:t>
            </a:r>
            <a:r>
              <a:rPr lang="es-PE" sz="1600" b="1" spc="-10" dirty="0" smtClean="0">
                <a:solidFill>
                  <a:srgbClr val="262626"/>
                </a:solidFill>
                <a:cs typeface="Source Sans Pro"/>
              </a:rPr>
              <a:t>software </a:t>
            </a:r>
            <a:r>
              <a:rPr lang="es-PE" sz="1600" b="1" spc="-10" dirty="0">
                <a:solidFill>
                  <a:srgbClr val="262626"/>
                </a:solidFill>
                <a:cs typeface="Source Sans Pro"/>
              </a:rPr>
              <a:t>e</a:t>
            </a:r>
            <a:r>
              <a:rPr lang="es-PE" sz="1600" b="1" spc="-10" dirty="0" smtClean="0">
                <a:solidFill>
                  <a:srgbClr val="262626"/>
                </a:solidFill>
                <a:cs typeface="Source Sans Pro"/>
              </a:rPr>
              <a:t>mpresarial</a:t>
            </a:r>
            <a:endParaRPr lang="es-PE" sz="1600" b="1" spc="-10" dirty="0">
              <a:solidFill>
                <a:srgbClr val="262626"/>
              </a:solidFill>
              <a:cs typeface="Source Sans Pro"/>
            </a:endParaRPr>
          </a:p>
        </p:txBody>
      </p:sp>
      <p:sp>
        <p:nvSpPr>
          <p:cNvPr id="4" name="object 7">
            <a:extLst>
              <a:ext uri="{FF2B5EF4-FFF2-40B4-BE49-F238E27FC236}">
                <a16:creationId xmlns:a16="http://schemas.microsoft.com/office/drawing/2014/main" id="{736D7703-8A14-4066-802A-016D32E6AF41}"/>
              </a:ext>
            </a:extLst>
          </p:cNvPr>
          <p:cNvSpPr txBox="1"/>
          <p:nvPr/>
        </p:nvSpPr>
        <p:spPr>
          <a:xfrm>
            <a:off x="649385" y="1316269"/>
            <a:ext cx="5729643" cy="246221"/>
          </a:xfrm>
          <a:prstGeom prst="rect">
            <a:avLst/>
          </a:prstGeom>
        </p:spPr>
        <p:txBody>
          <a:bodyPr vert="horz" wrap="square" lIns="0" tIns="0" rIns="0" bIns="0" rtlCol="0">
            <a:spAutoFit/>
          </a:bodyPr>
          <a:lstStyle/>
          <a:p>
            <a:pPr marL="466725" indent="-285750">
              <a:buSzPct val="100000"/>
              <a:buFont typeface="Wingdings" panose="05000000000000000000" pitchFamily="2" charset="2"/>
              <a:buChar char="q"/>
              <a:tabLst>
                <a:tab pos="121285" algn="l"/>
              </a:tabLst>
            </a:pPr>
            <a:r>
              <a:rPr lang="es-PE" sz="1600" b="1" spc="-10" dirty="0">
                <a:solidFill>
                  <a:srgbClr val="262626"/>
                </a:solidFill>
                <a:cs typeface="Source Sans Pro"/>
              </a:rPr>
              <a:t>Cloud </a:t>
            </a:r>
          </a:p>
        </p:txBody>
      </p:sp>
      <p:sp>
        <p:nvSpPr>
          <p:cNvPr id="6" name="object 7">
            <a:extLst>
              <a:ext uri="{FF2B5EF4-FFF2-40B4-BE49-F238E27FC236}">
                <a16:creationId xmlns:a16="http://schemas.microsoft.com/office/drawing/2014/main" id="{B8BBDD3F-CEDC-49B9-B1E8-2176A7BE8189}"/>
              </a:ext>
            </a:extLst>
          </p:cNvPr>
          <p:cNvSpPr txBox="1"/>
          <p:nvPr/>
        </p:nvSpPr>
        <p:spPr>
          <a:xfrm>
            <a:off x="841828" y="1645981"/>
            <a:ext cx="3439886" cy="1882310"/>
          </a:xfrm>
          <a:prstGeom prst="rect">
            <a:avLst/>
          </a:prstGeom>
        </p:spPr>
        <p:txBody>
          <a:bodyPr vert="horz" wrap="square" lIns="0" tIns="0" rIns="0" bIns="0" rtlCol="0">
            <a:spAutoFit/>
          </a:bodyPr>
          <a:lstStyle/>
          <a:p>
            <a:pPr algn="just">
              <a:lnSpc>
                <a:spcPct val="110000"/>
              </a:lnSpc>
              <a:spcAft>
                <a:spcPts val="1600"/>
              </a:spcAft>
            </a:pPr>
            <a:r>
              <a:rPr lang="es-ES" sz="1600" dirty="0"/>
              <a:t>Este modelo utiliza una plataforma alojada en la nube, ya sea que la plataforma sea adquirida por el cliente o que la nube se encuentre alojada en un servidor contratado a un proveedor de alojamiento. Este tipo de sistema permite el control y la gestión a distancia.</a:t>
            </a:r>
            <a:endParaRPr lang="es-PE" sz="1600" dirty="0"/>
          </a:p>
        </p:txBody>
      </p:sp>
      <p:pic>
        <p:nvPicPr>
          <p:cNvPr id="7" name="Imagen 6">
            <a:extLst>
              <a:ext uri="{FF2B5EF4-FFF2-40B4-BE49-F238E27FC236}">
                <a16:creationId xmlns:a16="http://schemas.microsoft.com/office/drawing/2014/main" id="{5C824FBF-6831-4BD6-B712-0792F024CA0C}"/>
              </a:ext>
            </a:extLst>
          </p:cNvPr>
          <p:cNvPicPr>
            <a:picLocks noChangeAspect="1"/>
          </p:cNvPicPr>
          <p:nvPr/>
        </p:nvPicPr>
        <p:blipFill>
          <a:blip r:embed="rId3"/>
          <a:stretch>
            <a:fillRect/>
          </a:stretch>
        </p:blipFill>
        <p:spPr>
          <a:xfrm>
            <a:off x="4761496" y="1645981"/>
            <a:ext cx="3733119" cy="2912572"/>
          </a:xfrm>
          <a:prstGeom prst="rect">
            <a:avLst/>
          </a:prstGeom>
        </p:spPr>
      </p:pic>
    </p:spTree>
    <p:extLst>
      <p:ext uri="{BB962C8B-B14F-4D97-AF65-F5344CB8AC3E}">
        <p14:creationId xmlns:p14="http://schemas.microsoft.com/office/powerpoint/2010/main" val="1066795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HARDWARE Y SOFTWARE EMPRESARIAL</a:t>
            </a:r>
          </a:p>
        </p:txBody>
      </p:sp>
      <p:sp>
        <p:nvSpPr>
          <p:cNvPr id="3" name="object 7">
            <a:extLst>
              <a:ext uri="{FF2B5EF4-FFF2-40B4-BE49-F238E27FC236}">
                <a16:creationId xmlns:a16="http://schemas.microsoft.com/office/drawing/2014/main" id="{B0409ED7-BEBF-4628-A3FC-B6648678CCA5}"/>
              </a:ext>
            </a:extLst>
          </p:cNvPr>
          <p:cNvSpPr txBox="1"/>
          <p:nvPr/>
        </p:nvSpPr>
        <p:spPr>
          <a:xfrm>
            <a:off x="496985" y="881743"/>
            <a:ext cx="5729643"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2.4. …Modelo de </a:t>
            </a:r>
            <a:r>
              <a:rPr lang="es-PE" sz="1600" b="1" spc="-10" dirty="0" smtClean="0">
                <a:solidFill>
                  <a:srgbClr val="262626"/>
                </a:solidFill>
                <a:cs typeface="Source Sans Pro"/>
              </a:rPr>
              <a:t>implementación </a:t>
            </a:r>
            <a:r>
              <a:rPr lang="es-PE" sz="1600" b="1" spc="-10" dirty="0">
                <a:solidFill>
                  <a:srgbClr val="262626"/>
                </a:solidFill>
                <a:cs typeface="Source Sans Pro"/>
              </a:rPr>
              <a:t>de </a:t>
            </a:r>
            <a:r>
              <a:rPr lang="es-PE" sz="1600" b="1" spc="-10" dirty="0" smtClean="0">
                <a:solidFill>
                  <a:srgbClr val="262626"/>
                </a:solidFill>
                <a:cs typeface="Source Sans Pro"/>
              </a:rPr>
              <a:t>software </a:t>
            </a:r>
            <a:r>
              <a:rPr lang="es-PE" sz="1600" b="1" spc="-10" dirty="0">
                <a:solidFill>
                  <a:srgbClr val="262626"/>
                </a:solidFill>
                <a:cs typeface="Source Sans Pro"/>
              </a:rPr>
              <a:t>e</a:t>
            </a:r>
            <a:r>
              <a:rPr lang="es-PE" sz="1600" b="1" spc="-10" dirty="0" smtClean="0">
                <a:solidFill>
                  <a:srgbClr val="262626"/>
                </a:solidFill>
                <a:cs typeface="Source Sans Pro"/>
              </a:rPr>
              <a:t>mpresarial</a:t>
            </a:r>
            <a:endParaRPr lang="es-PE" sz="1600" b="1" spc="-10" dirty="0">
              <a:solidFill>
                <a:srgbClr val="262626"/>
              </a:solidFill>
              <a:cs typeface="Source Sans Pro"/>
            </a:endParaRPr>
          </a:p>
        </p:txBody>
      </p:sp>
      <p:sp>
        <p:nvSpPr>
          <p:cNvPr id="4" name="object 7">
            <a:extLst>
              <a:ext uri="{FF2B5EF4-FFF2-40B4-BE49-F238E27FC236}">
                <a16:creationId xmlns:a16="http://schemas.microsoft.com/office/drawing/2014/main" id="{AF85B76C-379D-49DA-9DC6-B78F0CE63CC7}"/>
              </a:ext>
            </a:extLst>
          </p:cNvPr>
          <p:cNvSpPr txBox="1"/>
          <p:nvPr/>
        </p:nvSpPr>
        <p:spPr>
          <a:xfrm>
            <a:off x="649385" y="1316269"/>
            <a:ext cx="5729643" cy="246221"/>
          </a:xfrm>
          <a:prstGeom prst="rect">
            <a:avLst/>
          </a:prstGeom>
        </p:spPr>
        <p:txBody>
          <a:bodyPr vert="horz" wrap="square" lIns="0" tIns="0" rIns="0" bIns="0" rtlCol="0">
            <a:spAutoFit/>
          </a:bodyPr>
          <a:lstStyle/>
          <a:p>
            <a:pPr marL="466725" indent="-285750">
              <a:buSzPct val="100000"/>
              <a:buFont typeface="Wingdings" panose="05000000000000000000" pitchFamily="2" charset="2"/>
              <a:buChar char="q"/>
              <a:tabLst>
                <a:tab pos="121285" algn="l"/>
              </a:tabLst>
            </a:pPr>
            <a:r>
              <a:rPr lang="es-PE" sz="1600" b="1" spc="-10" dirty="0">
                <a:solidFill>
                  <a:srgbClr val="262626"/>
                </a:solidFill>
                <a:cs typeface="Source Sans Pro"/>
              </a:rPr>
              <a:t>Híbrido </a:t>
            </a:r>
          </a:p>
        </p:txBody>
      </p:sp>
      <p:sp>
        <p:nvSpPr>
          <p:cNvPr id="6" name="object 7">
            <a:extLst>
              <a:ext uri="{FF2B5EF4-FFF2-40B4-BE49-F238E27FC236}">
                <a16:creationId xmlns:a16="http://schemas.microsoft.com/office/drawing/2014/main" id="{CB9FA7FE-C6CA-47EF-829B-5F950CFF73DA}"/>
              </a:ext>
            </a:extLst>
          </p:cNvPr>
          <p:cNvSpPr txBox="1"/>
          <p:nvPr/>
        </p:nvSpPr>
        <p:spPr>
          <a:xfrm>
            <a:off x="841828" y="1645981"/>
            <a:ext cx="3650345" cy="1340623"/>
          </a:xfrm>
          <a:prstGeom prst="rect">
            <a:avLst/>
          </a:prstGeom>
        </p:spPr>
        <p:txBody>
          <a:bodyPr vert="horz" wrap="square" lIns="0" tIns="0" rIns="0" bIns="0" rtlCol="0">
            <a:spAutoFit/>
          </a:bodyPr>
          <a:lstStyle/>
          <a:p>
            <a:pPr algn="just">
              <a:lnSpc>
                <a:spcPct val="110000"/>
              </a:lnSpc>
              <a:spcAft>
                <a:spcPts val="1600"/>
              </a:spcAft>
            </a:pPr>
            <a:r>
              <a:rPr lang="es-ES" sz="1600" dirty="0"/>
              <a:t>Este modelo aprovecha tanto la infraestructura interna de la empresa, como las ventajas de la nube para alojar la información y aprovecharla de forma eficiente y puntual.</a:t>
            </a:r>
            <a:endParaRPr lang="es-PE" sz="1600" dirty="0"/>
          </a:p>
        </p:txBody>
      </p:sp>
      <p:pic>
        <p:nvPicPr>
          <p:cNvPr id="17410" name="Picture 2" descr="Which cloud for which purpose? About hybrid, public, &amp;amp; mixed clouds">
            <a:extLst>
              <a:ext uri="{FF2B5EF4-FFF2-40B4-BE49-F238E27FC236}">
                <a16:creationId xmlns:a16="http://schemas.microsoft.com/office/drawing/2014/main" id="{C444CCE0-0EFD-4776-A7F9-214DF5DEC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172" y="1316269"/>
            <a:ext cx="3810000" cy="211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788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COMPUTACIÓN EN LA NUBE</a:t>
            </a:r>
          </a:p>
        </p:txBody>
      </p:sp>
    </p:spTree>
    <p:custDataLst>
      <p:tags r:id="rId1"/>
    </p:custDataLst>
    <p:extLst>
      <p:ext uri="{BB962C8B-B14F-4D97-AF65-F5344CB8AC3E}">
        <p14:creationId xmlns:p14="http://schemas.microsoft.com/office/powerpoint/2010/main" val="576400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COMPUTACIÓN EN LA NUBE</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1. DEFINICIÓN</a:t>
            </a:r>
          </a:p>
        </p:txBody>
      </p:sp>
      <p:sp>
        <p:nvSpPr>
          <p:cNvPr id="4" name="object 7">
            <a:extLst>
              <a:ext uri="{FF2B5EF4-FFF2-40B4-BE49-F238E27FC236}">
                <a16:creationId xmlns:a16="http://schemas.microsoft.com/office/drawing/2014/main" id="{0A6C13B7-06EB-465D-88DA-2154763AB486}"/>
              </a:ext>
            </a:extLst>
          </p:cNvPr>
          <p:cNvSpPr txBox="1"/>
          <p:nvPr/>
        </p:nvSpPr>
        <p:spPr>
          <a:xfrm>
            <a:off x="653144" y="1257509"/>
            <a:ext cx="4085771" cy="1611467"/>
          </a:xfrm>
          <a:prstGeom prst="rect">
            <a:avLst/>
          </a:prstGeom>
        </p:spPr>
        <p:txBody>
          <a:bodyPr vert="horz" wrap="square" lIns="0" tIns="0" rIns="0" bIns="0" rtlCol="0">
            <a:spAutoFit/>
          </a:bodyPr>
          <a:lstStyle/>
          <a:p>
            <a:pPr algn="just">
              <a:lnSpc>
                <a:spcPct val="110000"/>
              </a:lnSpc>
              <a:spcAft>
                <a:spcPts val="1600"/>
              </a:spcAft>
            </a:pPr>
            <a:r>
              <a:rPr lang="es-ES" sz="1600" dirty="0"/>
              <a:t>La computación en la nube es un modelo de acceso a los sistemas informáticos, en el que los datos y las aplicaciones están hospedados en Internet y en centros de cómputo remotos, de tal modo que pueden ser utilizados desde cualquier punto que tenga conexión a la red mundial.</a:t>
            </a:r>
            <a:endParaRPr lang="es-PE" sz="1600" dirty="0"/>
          </a:p>
        </p:txBody>
      </p:sp>
      <p:pic>
        <p:nvPicPr>
          <p:cNvPr id="3" name="Imagen 2">
            <a:extLst>
              <a:ext uri="{FF2B5EF4-FFF2-40B4-BE49-F238E27FC236}">
                <a16:creationId xmlns:a16="http://schemas.microsoft.com/office/drawing/2014/main" id="{45686379-5FBF-49A7-923A-0240512F2EC7}"/>
              </a:ext>
            </a:extLst>
          </p:cNvPr>
          <p:cNvPicPr>
            <a:picLocks noChangeAspect="1"/>
          </p:cNvPicPr>
          <p:nvPr/>
        </p:nvPicPr>
        <p:blipFill>
          <a:blip r:embed="rId3"/>
          <a:stretch>
            <a:fillRect/>
          </a:stretch>
        </p:blipFill>
        <p:spPr>
          <a:xfrm>
            <a:off x="5161134" y="1129303"/>
            <a:ext cx="3518407" cy="2831419"/>
          </a:xfrm>
          <a:prstGeom prst="rect">
            <a:avLst/>
          </a:prstGeom>
        </p:spPr>
      </p:pic>
    </p:spTree>
    <p:extLst>
      <p:ext uri="{BB962C8B-B14F-4D97-AF65-F5344CB8AC3E}">
        <p14:creationId xmlns:p14="http://schemas.microsoft.com/office/powerpoint/2010/main" val="1125429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COMPUTACIÓN EN LA NUBE</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TIPOS DE SERVICIOS DE COMPUTACIÓN EN LA NUBE</a:t>
            </a:r>
          </a:p>
        </p:txBody>
      </p:sp>
      <p:sp>
        <p:nvSpPr>
          <p:cNvPr id="4" name="object 7">
            <a:extLst>
              <a:ext uri="{FF2B5EF4-FFF2-40B4-BE49-F238E27FC236}">
                <a16:creationId xmlns:a16="http://schemas.microsoft.com/office/drawing/2014/main" id="{0A6C13B7-06EB-465D-88DA-2154763AB486}"/>
              </a:ext>
            </a:extLst>
          </p:cNvPr>
          <p:cNvSpPr txBox="1"/>
          <p:nvPr/>
        </p:nvSpPr>
        <p:spPr>
          <a:xfrm>
            <a:off x="762001" y="1259532"/>
            <a:ext cx="4383313" cy="3342069"/>
          </a:xfrm>
          <a:prstGeom prst="rect">
            <a:avLst/>
          </a:prstGeom>
        </p:spPr>
        <p:txBody>
          <a:bodyPr vert="horz" wrap="square" lIns="0" tIns="0" rIns="0" bIns="0" rtlCol="0">
            <a:spAutoFit/>
          </a:bodyPr>
          <a:lstStyle/>
          <a:p>
            <a:pPr marL="285750" indent="-285750" algn="just">
              <a:lnSpc>
                <a:spcPct val="110000"/>
              </a:lnSpc>
              <a:spcAft>
                <a:spcPts val="1200"/>
              </a:spcAft>
              <a:buFont typeface="Arial" panose="020B0604020202020204" pitchFamily="34" charset="0"/>
              <a:buChar char="•"/>
            </a:pPr>
            <a:r>
              <a:rPr lang="es-ES" sz="1500" dirty="0"/>
              <a:t>Los servicios de computación en nube ofrecen modelos convenientes de pago por uso, que eliminan los gastos de adquisición y mantenimiento costoso. </a:t>
            </a:r>
          </a:p>
          <a:p>
            <a:pPr marL="285750" indent="-285750" algn="just">
              <a:lnSpc>
                <a:spcPct val="110000"/>
              </a:lnSpc>
              <a:spcAft>
                <a:spcPts val="1200"/>
              </a:spcAft>
              <a:buFont typeface="Arial" panose="020B0604020202020204" pitchFamily="34" charset="0"/>
              <a:buChar char="•"/>
            </a:pPr>
            <a:r>
              <a:rPr lang="es-ES" sz="1500" dirty="0"/>
              <a:t>Los proveedores de nube alojan una variedad de ofertas de infraestructura, plataforma y software, lo que le aporta a la organización la flexibilidad de activar o desactivar los servicios de computación en nube en función a sus necesidades.</a:t>
            </a:r>
          </a:p>
          <a:p>
            <a:pPr marL="285750" indent="-285750" algn="just">
              <a:lnSpc>
                <a:spcPct val="110000"/>
              </a:lnSpc>
              <a:spcAft>
                <a:spcPts val="1200"/>
              </a:spcAft>
              <a:buFont typeface="Arial" panose="020B0604020202020204" pitchFamily="34" charset="0"/>
              <a:buChar char="•"/>
            </a:pPr>
            <a:r>
              <a:rPr lang="es-ES" sz="1500" dirty="0"/>
              <a:t>Entre los tipos de servicios tenemos: IaaS (Infraestructura como servicio), PaaS (Plataforma como servicio) y SaaS (Software como servicio).</a:t>
            </a:r>
            <a:endParaRPr lang="es-PE" sz="1500" dirty="0"/>
          </a:p>
        </p:txBody>
      </p:sp>
      <p:pic>
        <p:nvPicPr>
          <p:cNvPr id="7" name="Imagen 6">
            <a:extLst>
              <a:ext uri="{FF2B5EF4-FFF2-40B4-BE49-F238E27FC236}">
                <a16:creationId xmlns:a16="http://schemas.microsoft.com/office/drawing/2014/main" id="{323D78E0-9537-4A8F-AB60-B029F8C17559}"/>
              </a:ext>
            </a:extLst>
          </p:cNvPr>
          <p:cNvPicPr>
            <a:picLocks noChangeAspect="1"/>
          </p:cNvPicPr>
          <p:nvPr/>
        </p:nvPicPr>
        <p:blipFill>
          <a:blip r:embed="rId3"/>
          <a:stretch>
            <a:fillRect/>
          </a:stretch>
        </p:blipFill>
        <p:spPr>
          <a:xfrm>
            <a:off x="5348515" y="1458164"/>
            <a:ext cx="3292861" cy="2798672"/>
          </a:xfrm>
          <a:prstGeom prst="rect">
            <a:avLst/>
          </a:prstGeom>
        </p:spPr>
      </p:pic>
    </p:spTree>
    <p:extLst>
      <p:ext uri="{BB962C8B-B14F-4D97-AF65-F5344CB8AC3E}">
        <p14:creationId xmlns:p14="http://schemas.microsoft.com/office/powerpoint/2010/main" val="1328529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COMPUTACIÓN EN LA NUBE</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…TIPOS DE SERVICIOS DE COMPUTACIÓN EN LA NUBE</a:t>
            </a:r>
          </a:p>
        </p:txBody>
      </p:sp>
      <p:pic>
        <p:nvPicPr>
          <p:cNvPr id="22530" name="Picture 2">
            <a:extLst>
              <a:ext uri="{FF2B5EF4-FFF2-40B4-BE49-F238E27FC236}">
                <a16:creationId xmlns:a16="http://schemas.microsoft.com/office/drawing/2014/main" id="{397FD9CB-4B96-439B-BE56-CB2999D29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439" y="1265040"/>
            <a:ext cx="7263122" cy="3727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10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COMPUTACIÓN EN LA NUBE</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3. VENTAJAS</a:t>
            </a:r>
          </a:p>
        </p:txBody>
      </p:sp>
      <p:sp>
        <p:nvSpPr>
          <p:cNvPr id="8" name="object 7">
            <a:extLst>
              <a:ext uri="{FF2B5EF4-FFF2-40B4-BE49-F238E27FC236}">
                <a16:creationId xmlns:a16="http://schemas.microsoft.com/office/drawing/2014/main" id="{7E15DE8C-FBF7-43E9-AE33-2E1D3C31403C}"/>
              </a:ext>
            </a:extLst>
          </p:cNvPr>
          <p:cNvSpPr txBox="1"/>
          <p:nvPr/>
        </p:nvSpPr>
        <p:spPr>
          <a:xfrm>
            <a:off x="740230" y="1296816"/>
            <a:ext cx="5842000" cy="3616375"/>
          </a:xfrm>
          <a:prstGeom prst="rect">
            <a:avLst/>
          </a:prstGeom>
        </p:spPr>
        <p:txBody>
          <a:bodyPr vert="horz" wrap="square" lIns="0" tIns="0" rIns="0" bIns="0" rtlCol="0">
            <a:spAutoFit/>
          </a:bodyPr>
          <a:lstStyle/>
          <a:p>
            <a:pPr marL="285750" indent="-285750" algn="just">
              <a:spcAft>
                <a:spcPts val="600"/>
              </a:spcAft>
              <a:buFont typeface="Wingdings" panose="05000000000000000000" pitchFamily="2" charset="2"/>
              <a:buChar char="ü"/>
            </a:pPr>
            <a:r>
              <a:rPr lang="es-PE" sz="1500" spc="-10" dirty="0">
                <a:solidFill>
                  <a:srgbClr val="262626"/>
                </a:solidFill>
              </a:rPr>
              <a:t>Acceso desde cualquier lugar.</a:t>
            </a:r>
          </a:p>
          <a:p>
            <a:pPr marL="285750" indent="-285750" algn="just">
              <a:spcAft>
                <a:spcPts val="600"/>
              </a:spcAft>
              <a:buFont typeface="Wingdings" panose="05000000000000000000" pitchFamily="2" charset="2"/>
              <a:buChar char="ü"/>
            </a:pPr>
            <a:r>
              <a:rPr lang="es-PE" sz="1500" spc="-10" dirty="0">
                <a:solidFill>
                  <a:srgbClr val="262626"/>
                </a:solidFill>
              </a:rPr>
              <a:t>Uso multiplataforma.</a:t>
            </a:r>
          </a:p>
          <a:p>
            <a:pPr marL="285750" indent="-285750" algn="just">
              <a:spcAft>
                <a:spcPts val="600"/>
              </a:spcAft>
              <a:buFont typeface="Wingdings" panose="05000000000000000000" pitchFamily="2" charset="2"/>
              <a:buChar char="ü"/>
            </a:pPr>
            <a:r>
              <a:rPr lang="es-PE" sz="1500" spc="-10" dirty="0">
                <a:solidFill>
                  <a:srgbClr val="262626"/>
                </a:solidFill>
              </a:rPr>
              <a:t>Trabajo colaborativo más fácil, potente y versátil. </a:t>
            </a:r>
          </a:p>
          <a:p>
            <a:pPr marL="285750" indent="-285750" algn="just">
              <a:spcAft>
                <a:spcPts val="600"/>
              </a:spcAft>
              <a:buFont typeface="Wingdings" panose="05000000000000000000" pitchFamily="2" charset="2"/>
              <a:buChar char="ü"/>
            </a:pPr>
            <a:r>
              <a:rPr lang="es-PE" sz="1500" spc="-10" dirty="0">
                <a:solidFill>
                  <a:srgbClr val="262626"/>
                </a:solidFill>
              </a:rPr>
              <a:t>Software centralizado y sin instalación.</a:t>
            </a:r>
          </a:p>
          <a:p>
            <a:pPr marL="285750" indent="-285750" algn="just">
              <a:spcAft>
                <a:spcPts val="600"/>
              </a:spcAft>
              <a:buFont typeface="Wingdings" panose="05000000000000000000" pitchFamily="2" charset="2"/>
              <a:buChar char="ü"/>
            </a:pPr>
            <a:r>
              <a:rPr lang="es-PE" sz="1500" spc="-10" dirty="0">
                <a:solidFill>
                  <a:srgbClr val="262626"/>
                </a:solidFill>
              </a:rPr>
              <a:t>Desarrollo, prueba e implementación de aplicaciones optimizadas.</a:t>
            </a:r>
          </a:p>
          <a:p>
            <a:pPr marL="285750" indent="-285750" algn="just">
              <a:spcAft>
                <a:spcPts val="600"/>
              </a:spcAft>
              <a:buFont typeface="Wingdings" panose="05000000000000000000" pitchFamily="2" charset="2"/>
              <a:buChar char="ü"/>
            </a:pPr>
            <a:r>
              <a:rPr lang="es-PE" sz="1500" spc="-10" dirty="0">
                <a:solidFill>
                  <a:srgbClr val="262626"/>
                </a:solidFill>
              </a:rPr>
              <a:t>Ahorro en hardware y software.</a:t>
            </a:r>
          </a:p>
          <a:p>
            <a:pPr marL="285750" indent="-285750" algn="just">
              <a:spcAft>
                <a:spcPts val="600"/>
              </a:spcAft>
              <a:buFont typeface="Wingdings" panose="05000000000000000000" pitchFamily="2" charset="2"/>
              <a:buChar char="ü"/>
            </a:pPr>
            <a:r>
              <a:rPr lang="es-PE" sz="1500" spc="-10" dirty="0">
                <a:solidFill>
                  <a:srgbClr val="262626"/>
                </a:solidFill>
              </a:rPr>
              <a:t>Escalabilidad y adaptabilidad.</a:t>
            </a:r>
          </a:p>
          <a:p>
            <a:pPr marL="285750" indent="-285750" algn="just">
              <a:spcAft>
                <a:spcPts val="600"/>
              </a:spcAft>
              <a:buFont typeface="Wingdings" panose="05000000000000000000" pitchFamily="2" charset="2"/>
              <a:buChar char="ü"/>
            </a:pPr>
            <a:r>
              <a:rPr lang="es-PE" sz="1500" spc="-10" dirty="0">
                <a:solidFill>
                  <a:srgbClr val="262626"/>
                </a:solidFill>
              </a:rPr>
              <a:t>Ahorro en mantenimiento técnico y de seguridad.</a:t>
            </a:r>
          </a:p>
          <a:p>
            <a:pPr marL="285750" indent="-285750" algn="just">
              <a:spcAft>
                <a:spcPts val="600"/>
              </a:spcAft>
              <a:buFont typeface="Wingdings" panose="05000000000000000000" pitchFamily="2" charset="2"/>
              <a:buChar char="ü"/>
            </a:pPr>
            <a:r>
              <a:rPr lang="es-PE" sz="1500" spc="-10" dirty="0">
                <a:solidFill>
                  <a:srgbClr val="262626"/>
                </a:solidFill>
              </a:rPr>
              <a:t>Pago por uso.</a:t>
            </a:r>
          </a:p>
          <a:p>
            <a:pPr marL="285750" indent="-285750" algn="just">
              <a:spcAft>
                <a:spcPts val="600"/>
              </a:spcAft>
              <a:buFont typeface="Wingdings" panose="05000000000000000000" pitchFamily="2" charset="2"/>
              <a:buChar char="ü"/>
            </a:pPr>
            <a:r>
              <a:rPr lang="es-PE" sz="1500" spc="-10" dirty="0">
                <a:solidFill>
                  <a:srgbClr val="262626"/>
                </a:solidFill>
              </a:rPr>
              <a:t>Protección frente a ataques y desastres.</a:t>
            </a:r>
          </a:p>
          <a:p>
            <a:pPr marL="285750" indent="-285750" algn="just">
              <a:spcAft>
                <a:spcPts val="600"/>
              </a:spcAft>
              <a:buFont typeface="Wingdings" panose="05000000000000000000" pitchFamily="2" charset="2"/>
              <a:buChar char="ü"/>
            </a:pPr>
            <a:r>
              <a:rPr lang="es-PE" sz="1500" spc="-10" dirty="0">
                <a:solidFill>
                  <a:srgbClr val="262626"/>
                </a:solidFill>
              </a:rPr>
              <a:t>Procesamiento y análisis de alto nivel.</a:t>
            </a:r>
          </a:p>
          <a:p>
            <a:pPr marL="285750" indent="-285750" algn="just">
              <a:spcAft>
                <a:spcPts val="600"/>
              </a:spcAft>
              <a:buFont typeface="Wingdings" panose="05000000000000000000" pitchFamily="2" charset="2"/>
              <a:buChar char="ü"/>
            </a:pPr>
            <a:r>
              <a:rPr lang="es-PE" sz="1500" spc="-10" dirty="0">
                <a:solidFill>
                  <a:srgbClr val="262626"/>
                </a:solidFill>
              </a:rPr>
              <a:t>Seguridad.</a:t>
            </a:r>
          </a:p>
        </p:txBody>
      </p:sp>
      <p:pic>
        <p:nvPicPr>
          <p:cNvPr id="23554" name="Picture 2" descr="Ventajas y desventajas del Cloud Computing | ENAE">
            <a:extLst>
              <a:ext uri="{FF2B5EF4-FFF2-40B4-BE49-F238E27FC236}">
                <a16:creationId xmlns:a16="http://schemas.microsoft.com/office/drawing/2014/main" id="{40D095AA-D32D-4FAD-B3DF-6A06045D8B0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09771" y="883082"/>
            <a:ext cx="3127830" cy="1931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706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1294EDE1-0C79-4D00-8110-2C64F39C7537}"/>
              </a:ext>
            </a:extLst>
          </p:cNvPr>
          <p:cNvGrpSpPr/>
          <p:nvPr/>
        </p:nvGrpSpPr>
        <p:grpSpPr>
          <a:xfrm>
            <a:off x="5049771" y="320830"/>
            <a:ext cx="3818099" cy="4688321"/>
            <a:chOff x="5049771" y="320830"/>
            <a:chExt cx="3818099" cy="4688321"/>
          </a:xfrm>
        </p:grpSpPr>
        <p:pic>
          <p:nvPicPr>
            <p:cNvPr id="23554" name="Picture 2" descr="Ventajas y desventajas del Cloud Computing | ENAE">
              <a:extLst>
                <a:ext uri="{FF2B5EF4-FFF2-40B4-BE49-F238E27FC236}">
                  <a16:creationId xmlns:a16="http://schemas.microsoft.com/office/drawing/2014/main" id="{40D095AA-D32D-4FAD-B3DF-6A06045D8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8513" y="320830"/>
              <a:ext cx="3519357" cy="217372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FC8EF0AA-787E-4137-B120-0E50C7D42D81}"/>
                </a:ext>
              </a:extLst>
            </p:cNvPr>
            <p:cNvPicPr>
              <a:picLocks noChangeAspect="1"/>
            </p:cNvPicPr>
            <p:nvPr/>
          </p:nvPicPr>
          <p:blipFill>
            <a:blip r:embed="rId4"/>
            <a:stretch>
              <a:fillRect/>
            </a:stretch>
          </p:blipFill>
          <p:spPr>
            <a:xfrm>
              <a:off x="5049771" y="2514601"/>
              <a:ext cx="2005372" cy="2494550"/>
            </a:xfrm>
            <a:prstGeom prst="rect">
              <a:avLst/>
            </a:prstGeom>
          </p:spPr>
        </p:pic>
      </p:grpSp>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COMPUTACIÓN EN LA NUBE</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4. DESVENTAJAS</a:t>
            </a:r>
          </a:p>
        </p:txBody>
      </p:sp>
      <p:sp>
        <p:nvSpPr>
          <p:cNvPr id="8" name="object 7">
            <a:extLst>
              <a:ext uri="{FF2B5EF4-FFF2-40B4-BE49-F238E27FC236}">
                <a16:creationId xmlns:a16="http://schemas.microsoft.com/office/drawing/2014/main" id="{7E15DE8C-FBF7-43E9-AE33-2E1D3C31403C}"/>
              </a:ext>
            </a:extLst>
          </p:cNvPr>
          <p:cNvSpPr txBox="1"/>
          <p:nvPr/>
        </p:nvSpPr>
        <p:spPr>
          <a:xfrm>
            <a:off x="740230" y="1296816"/>
            <a:ext cx="5842000" cy="2646878"/>
          </a:xfrm>
          <a:prstGeom prst="rect">
            <a:avLst/>
          </a:prstGeom>
        </p:spPr>
        <p:txBody>
          <a:bodyPr vert="horz" wrap="square" lIns="0" tIns="0" rIns="0" bIns="0" rtlCol="0">
            <a:spAutoFit/>
          </a:bodyPr>
          <a:lstStyle/>
          <a:p>
            <a:pPr marL="285750" indent="-285750" algn="just">
              <a:spcAft>
                <a:spcPts val="1200"/>
              </a:spcAft>
              <a:buFont typeface="Wingdings" panose="05000000000000000000" pitchFamily="2" charset="2"/>
              <a:buChar char="ü"/>
            </a:pPr>
            <a:r>
              <a:rPr lang="es-PE" sz="1600" spc="-10" dirty="0">
                <a:solidFill>
                  <a:srgbClr val="262626"/>
                </a:solidFill>
              </a:rPr>
              <a:t>Dependemos de nuestro proveedor</a:t>
            </a:r>
          </a:p>
          <a:p>
            <a:pPr marL="285750" indent="-285750" algn="just">
              <a:spcAft>
                <a:spcPts val="1200"/>
              </a:spcAft>
              <a:buFont typeface="Wingdings" panose="05000000000000000000" pitchFamily="2" charset="2"/>
              <a:buChar char="ü"/>
            </a:pPr>
            <a:r>
              <a:rPr lang="es-PE" sz="1600" spc="-10" dirty="0">
                <a:solidFill>
                  <a:srgbClr val="262626"/>
                </a:solidFill>
              </a:rPr>
              <a:t>Vulnerabilidad de la privacidad.</a:t>
            </a:r>
          </a:p>
          <a:p>
            <a:pPr marL="285750" indent="-285750" algn="just">
              <a:spcAft>
                <a:spcPts val="1200"/>
              </a:spcAft>
              <a:buFont typeface="Wingdings" panose="05000000000000000000" pitchFamily="2" charset="2"/>
              <a:buChar char="ü"/>
            </a:pPr>
            <a:r>
              <a:rPr lang="es-PE" sz="1600" spc="-10" dirty="0">
                <a:solidFill>
                  <a:srgbClr val="262626"/>
                </a:solidFill>
              </a:rPr>
              <a:t>Si no hay internet no hay nube, o estaremos en apuros. </a:t>
            </a:r>
          </a:p>
          <a:p>
            <a:pPr marL="285750" indent="-285750" algn="just">
              <a:spcAft>
                <a:spcPts val="1200"/>
              </a:spcAft>
              <a:buFont typeface="Wingdings" panose="05000000000000000000" pitchFamily="2" charset="2"/>
              <a:buChar char="ü"/>
            </a:pPr>
            <a:r>
              <a:rPr lang="es-PE" sz="1600" spc="-10" dirty="0">
                <a:solidFill>
                  <a:srgbClr val="262626"/>
                </a:solidFill>
              </a:rPr>
              <a:t>Problemas de índole legal o jurisdiccional. </a:t>
            </a:r>
          </a:p>
          <a:p>
            <a:pPr marL="285750" indent="-285750" algn="just">
              <a:spcAft>
                <a:spcPts val="1200"/>
              </a:spcAft>
              <a:buFont typeface="Wingdings" panose="05000000000000000000" pitchFamily="2" charset="2"/>
              <a:buChar char="ü"/>
            </a:pPr>
            <a:r>
              <a:rPr lang="es-PE" sz="1600" spc="-10" dirty="0">
                <a:solidFill>
                  <a:srgbClr val="262626"/>
                </a:solidFill>
              </a:rPr>
              <a:t>Incompatibilidad entre proveedores.</a:t>
            </a:r>
          </a:p>
          <a:p>
            <a:pPr marL="285750" indent="-285750" algn="just">
              <a:spcAft>
                <a:spcPts val="1200"/>
              </a:spcAft>
              <a:buFont typeface="Wingdings" panose="05000000000000000000" pitchFamily="2" charset="2"/>
              <a:buChar char="ü"/>
            </a:pPr>
            <a:r>
              <a:rPr lang="es-PE" sz="1600" spc="-10" dirty="0">
                <a:solidFill>
                  <a:srgbClr val="262626"/>
                </a:solidFill>
              </a:rPr>
              <a:t>Pérdida de control.</a:t>
            </a:r>
          </a:p>
          <a:p>
            <a:pPr marL="285750" indent="-285750" algn="just">
              <a:spcAft>
                <a:spcPts val="1200"/>
              </a:spcAft>
              <a:buFont typeface="Wingdings" panose="05000000000000000000" pitchFamily="2" charset="2"/>
              <a:buChar char="ü"/>
            </a:pPr>
            <a:r>
              <a:rPr lang="es-PE" sz="1600" spc="-10" dirty="0">
                <a:solidFill>
                  <a:srgbClr val="262626"/>
                </a:solidFill>
              </a:rPr>
              <a:t>Precios altos.</a:t>
            </a:r>
          </a:p>
        </p:txBody>
      </p:sp>
    </p:spTree>
    <p:extLst>
      <p:ext uri="{BB962C8B-B14F-4D97-AF65-F5344CB8AC3E}">
        <p14:creationId xmlns:p14="http://schemas.microsoft.com/office/powerpoint/2010/main" val="3908833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0B391D8-7232-48DD-BE54-B67E51F4BF39}"/>
              </a:ext>
            </a:extLst>
          </p:cNvPr>
          <p:cNvPicPr>
            <a:picLocks noChangeAspect="1"/>
          </p:cNvPicPr>
          <p:nvPr/>
        </p:nvPicPr>
        <p:blipFill>
          <a:blip r:embed="rId3"/>
          <a:stretch>
            <a:fillRect/>
          </a:stretch>
        </p:blipFill>
        <p:spPr>
          <a:xfrm>
            <a:off x="4908981" y="3152924"/>
            <a:ext cx="1833464" cy="1504950"/>
          </a:xfrm>
          <a:prstGeom prst="rect">
            <a:avLst/>
          </a:prstGeom>
        </p:spPr>
      </p:pic>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COMPUTACIÓN EN LA NUBE</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9" y="883082"/>
            <a:ext cx="5586958"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5. PRINCIPALES PROVEEDORES DE COMPUTACIÓN EN LA NUBE</a:t>
            </a:r>
          </a:p>
        </p:txBody>
      </p:sp>
      <p:sp>
        <p:nvSpPr>
          <p:cNvPr id="8" name="object 7">
            <a:extLst>
              <a:ext uri="{FF2B5EF4-FFF2-40B4-BE49-F238E27FC236}">
                <a16:creationId xmlns:a16="http://schemas.microsoft.com/office/drawing/2014/main" id="{7E15DE8C-FBF7-43E9-AE33-2E1D3C31403C}"/>
              </a:ext>
            </a:extLst>
          </p:cNvPr>
          <p:cNvSpPr txBox="1"/>
          <p:nvPr/>
        </p:nvSpPr>
        <p:spPr>
          <a:xfrm>
            <a:off x="740230" y="1296816"/>
            <a:ext cx="3454719" cy="2646878"/>
          </a:xfrm>
          <a:prstGeom prst="rect">
            <a:avLst/>
          </a:prstGeom>
        </p:spPr>
        <p:txBody>
          <a:bodyPr vert="horz" wrap="square" lIns="0" tIns="0" rIns="0" bIns="0" rtlCol="0">
            <a:spAutoFit/>
          </a:bodyPr>
          <a:lstStyle/>
          <a:p>
            <a:pPr marL="285750" indent="-285750" algn="just">
              <a:spcAft>
                <a:spcPts val="1200"/>
              </a:spcAft>
              <a:buFont typeface="Wingdings" panose="05000000000000000000" pitchFamily="2" charset="2"/>
              <a:buChar char="ü"/>
            </a:pPr>
            <a:r>
              <a:rPr lang="es-PE" sz="1600" spc="-10" dirty="0">
                <a:solidFill>
                  <a:srgbClr val="262626"/>
                </a:solidFill>
              </a:rPr>
              <a:t>Amazon Web Services (AWS)</a:t>
            </a:r>
          </a:p>
          <a:p>
            <a:pPr marL="285750" indent="-285750" algn="just">
              <a:spcAft>
                <a:spcPts val="1200"/>
              </a:spcAft>
              <a:buFont typeface="Wingdings" panose="05000000000000000000" pitchFamily="2" charset="2"/>
              <a:buChar char="ü"/>
            </a:pPr>
            <a:r>
              <a:rPr lang="es-PE" sz="1600" spc="-10" dirty="0">
                <a:solidFill>
                  <a:srgbClr val="262626"/>
                </a:solidFill>
              </a:rPr>
              <a:t>Google Cloud</a:t>
            </a:r>
          </a:p>
          <a:p>
            <a:pPr marL="285750" indent="-285750" algn="just">
              <a:spcAft>
                <a:spcPts val="1200"/>
              </a:spcAft>
              <a:buFont typeface="Wingdings" panose="05000000000000000000" pitchFamily="2" charset="2"/>
              <a:buChar char="ü"/>
            </a:pPr>
            <a:r>
              <a:rPr lang="es-PE" sz="1600" spc="-10" dirty="0">
                <a:solidFill>
                  <a:srgbClr val="262626"/>
                </a:solidFill>
              </a:rPr>
              <a:t>Microsoft “Azure”</a:t>
            </a:r>
          </a:p>
          <a:p>
            <a:pPr marL="285750" indent="-285750" algn="just">
              <a:spcAft>
                <a:spcPts val="1200"/>
              </a:spcAft>
              <a:buFont typeface="Wingdings" panose="05000000000000000000" pitchFamily="2" charset="2"/>
              <a:buChar char="ü"/>
            </a:pPr>
            <a:r>
              <a:rPr lang="es-PE" sz="1600" spc="-10" dirty="0">
                <a:solidFill>
                  <a:srgbClr val="262626"/>
                </a:solidFill>
              </a:rPr>
              <a:t>Alibaba Cloud</a:t>
            </a:r>
          </a:p>
          <a:p>
            <a:pPr marL="285750" indent="-285750" algn="just">
              <a:spcAft>
                <a:spcPts val="1200"/>
              </a:spcAft>
              <a:buFont typeface="Wingdings" panose="05000000000000000000" pitchFamily="2" charset="2"/>
              <a:buChar char="ü"/>
            </a:pPr>
            <a:r>
              <a:rPr lang="es-PE" sz="1600" spc="-10" dirty="0">
                <a:solidFill>
                  <a:srgbClr val="262626"/>
                </a:solidFill>
              </a:rPr>
              <a:t>Oracle Cloud </a:t>
            </a:r>
          </a:p>
          <a:p>
            <a:pPr marL="285750" indent="-285750" algn="just">
              <a:spcAft>
                <a:spcPts val="1200"/>
              </a:spcAft>
              <a:buFont typeface="Wingdings" panose="05000000000000000000" pitchFamily="2" charset="2"/>
              <a:buChar char="ü"/>
            </a:pPr>
            <a:r>
              <a:rPr lang="es-PE" sz="1600" spc="-10" dirty="0">
                <a:solidFill>
                  <a:srgbClr val="262626"/>
                </a:solidFill>
              </a:rPr>
              <a:t>IBM Cloud</a:t>
            </a:r>
          </a:p>
          <a:p>
            <a:pPr marL="285750" indent="-285750" algn="just">
              <a:spcAft>
                <a:spcPts val="1200"/>
              </a:spcAft>
              <a:buFont typeface="Wingdings" panose="05000000000000000000" pitchFamily="2" charset="2"/>
              <a:buChar char="ü"/>
            </a:pPr>
            <a:r>
              <a:rPr lang="es-PE" sz="1600" spc="-10" dirty="0">
                <a:solidFill>
                  <a:srgbClr val="262626"/>
                </a:solidFill>
              </a:rPr>
              <a:t>Tencent Cloud</a:t>
            </a:r>
          </a:p>
        </p:txBody>
      </p:sp>
      <p:pic>
        <p:nvPicPr>
          <p:cNvPr id="25602" name="Picture 2" descr="SD-WAN integratie met AWS voor 13 SD-WAN leveranciers - SD-One">
            <a:extLst>
              <a:ext uri="{FF2B5EF4-FFF2-40B4-BE49-F238E27FC236}">
                <a16:creationId xmlns:a16="http://schemas.microsoft.com/office/drawing/2014/main" id="{324E5D51-5DF2-4B09-8A59-C7499EC814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0035" y="3553627"/>
            <a:ext cx="2303248" cy="1727436"/>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Configuración, Mantenimiento y Gestión de Microsoft Azure - Imagar">
            <a:extLst>
              <a:ext uri="{FF2B5EF4-FFF2-40B4-BE49-F238E27FC236}">
                <a16:creationId xmlns:a16="http://schemas.microsoft.com/office/drawing/2014/main" id="{0B18B687-0F97-48DB-9DEA-6FC4E9EA57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4210" y="2027336"/>
            <a:ext cx="2401915" cy="1504950"/>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1E83E680-6F7C-4E43-A510-961D18147DFF}"/>
              </a:ext>
            </a:extLst>
          </p:cNvPr>
          <p:cNvPicPr>
            <a:picLocks noChangeAspect="1"/>
          </p:cNvPicPr>
          <p:nvPr/>
        </p:nvPicPr>
        <p:blipFill>
          <a:blip r:embed="rId6"/>
          <a:stretch>
            <a:fillRect/>
          </a:stretch>
        </p:blipFill>
        <p:spPr>
          <a:xfrm>
            <a:off x="650287" y="4184376"/>
            <a:ext cx="1992085" cy="946995"/>
          </a:xfrm>
          <a:prstGeom prst="rect">
            <a:avLst/>
          </a:prstGeom>
        </p:spPr>
      </p:pic>
      <p:pic>
        <p:nvPicPr>
          <p:cNvPr id="25606" name="Picture 6" descr="Oracle pone a disposición su plataforma de gestión y observación en la nube  – SistemasGeniales.com Desarrollo de software y páginas web Colombia">
            <a:extLst>
              <a:ext uri="{FF2B5EF4-FFF2-40B4-BE49-F238E27FC236}">
                <a16:creationId xmlns:a16="http://schemas.microsoft.com/office/drawing/2014/main" id="{1FA9EA17-8FC7-4CF9-B688-35531862FE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91039" y="322940"/>
            <a:ext cx="2445086" cy="1428241"/>
          </a:xfrm>
          <a:prstGeom prst="rect">
            <a:avLst/>
          </a:prstGeom>
          <a:noFill/>
          <a:extLst>
            <a:ext uri="{909E8E84-426E-40DD-AFC4-6F175D3DCCD1}">
              <a14:hiddenFill xmlns:a14="http://schemas.microsoft.com/office/drawing/2010/main">
                <a:solidFill>
                  <a:srgbClr val="FFFFFF"/>
                </a:solidFill>
              </a14:hiddenFill>
            </a:ext>
          </a:extLst>
        </p:spPr>
      </p:pic>
      <p:pic>
        <p:nvPicPr>
          <p:cNvPr id="25608" name="Picture 8" descr="IBM Cloud está caido o tiene problemas? Estado actual y reporte de fallos |  ServicesDown 2022">
            <a:extLst>
              <a:ext uri="{FF2B5EF4-FFF2-40B4-BE49-F238E27FC236}">
                <a16:creationId xmlns:a16="http://schemas.microsoft.com/office/drawing/2014/main" id="{7F7315C9-8605-4D95-B391-5B043BF894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2249" y="1368686"/>
            <a:ext cx="2897786" cy="1619351"/>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48C93007-E3EB-4E20-8A20-4A78BBBA883F}"/>
              </a:ext>
            </a:extLst>
          </p:cNvPr>
          <p:cNvPicPr>
            <a:picLocks noChangeAspect="1"/>
          </p:cNvPicPr>
          <p:nvPr/>
        </p:nvPicPr>
        <p:blipFill>
          <a:blip r:embed="rId9"/>
          <a:stretch>
            <a:fillRect/>
          </a:stretch>
        </p:blipFill>
        <p:spPr>
          <a:xfrm>
            <a:off x="3057542" y="3905399"/>
            <a:ext cx="1691224" cy="1152803"/>
          </a:xfrm>
          <a:prstGeom prst="rect">
            <a:avLst/>
          </a:prstGeom>
        </p:spPr>
      </p:pic>
    </p:spTree>
    <p:extLst>
      <p:ext uri="{BB962C8B-B14F-4D97-AF65-F5344CB8AC3E}">
        <p14:creationId xmlns:p14="http://schemas.microsoft.com/office/powerpoint/2010/main" val="211072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34" name="Picture 10" descr="Open Virtualization Blog - UDS Enterprise soporta OpenNebula">
            <a:extLst>
              <a:ext uri="{FF2B5EF4-FFF2-40B4-BE49-F238E27FC236}">
                <a16:creationId xmlns:a16="http://schemas.microsoft.com/office/drawing/2014/main" id="{9D89944C-49EA-4B44-B6EF-73218FCEC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9260" y="2205110"/>
            <a:ext cx="2340429" cy="12989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COMPUTACIÓN EN LA NUBE</a:t>
            </a:r>
          </a:p>
        </p:txBody>
      </p:sp>
      <p:sp>
        <p:nvSpPr>
          <p:cNvPr id="6" name="object 7">
            <a:extLst>
              <a:ext uri="{FF2B5EF4-FFF2-40B4-BE49-F238E27FC236}">
                <a16:creationId xmlns:a16="http://schemas.microsoft.com/office/drawing/2014/main" id="{A87BE212-3E14-445C-8D68-B2741998EE5B}"/>
              </a:ext>
            </a:extLst>
          </p:cNvPr>
          <p:cNvSpPr txBox="1"/>
          <p:nvPr/>
        </p:nvSpPr>
        <p:spPr>
          <a:xfrm>
            <a:off x="465498" y="883082"/>
            <a:ext cx="7146869"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6. HERRAMIENTAS DE SOFTWARE LIBRE PARA COMPUTACIÓN EN LA NUBE</a:t>
            </a:r>
          </a:p>
        </p:txBody>
      </p:sp>
      <p:sp>
        <p:nvSpPr>
          <p:cNvPr id="8" name="object 7">
            <a:extLst>
              <a:ext uri="{FF2B5EF4-FFF2-40B4-BE49-F238E27FC236}">
                <a16:creationId xmlns:a16="http://schemas.microsoft.com/office/drawing/2014/main" id="{7E15DE8C-FBF7-43E9-AE33-2E1D3C31403C}"/>
              </a:ext>
            </a:extLst>
          </p:cNvPr>
          <p:cNvSpPr txBox="1"/>
          <p:nvPr/>
        </p:nvSpPr>
        <p:spPr>
          <a:xfrm>
            <a:off x="740230" y="1296816"/>
            <a:ext cx="2474684" cy="2246769"/>
          </a:xfrm>
          <a:prstGeom prst="rect">
            <a:avLst/>
          </a:prstGeom>
        </p:spPr>
        <p:txBody>
          <a:bodyPr vert="horz" wrap="square" lIns="0" tIns="0" rIns="0" bIns="0" rtlCol="0">
            <a:spAutoFit/>
          </a:bodyPr>
          <a:lstStyle/>
          <a:p>
            <a:pPr marL="285750" indent="-285750" algn="just">
              <a:spcAft>
                <a:spcPts val="1200"/>
              </a:spcAft>
              <a:buFont typeface="Wingdings" panose="05000000000000000000" pitchFamily="2" charset="2"/>
              <a:buChar char="ü"/>
            </a:pPr>
            <a:r>
              <a:rPr lang="es-PE" sz="1600" spc="-10" dirty="0">
                <a:solidFill>
                  <a:srgbClr val="262626"/>
                </a:solidFill>
              </a:rPr>
              <a:t>OpenStack</a:t>
            </a:r>
          </a:p>
          <a:p>
            <a:pPr marL="285750" indent="-285750" algn="just">
              <a:spcAft>
                <a:spcPts val="1200"/>
              </a:spcAft>
              <a:buFont typeface="Wingdings" panose="05000000000000000000" pitchFamily="2" charset="2"/>
              <a:buChar char="ü"/>
            </a:pPr>
            <a:r>
              <a:rPr lang="es-PE" sz="1600" spc="-10" dirty="0">
                <a:solidFill>
                  <a:srgbClr val="262626"/>
                </a:solidFill>
              </a:rPr>
              <a:t>Eucalyptus Cloud</a:t>
            </a:r>
          </a:p>
          <a:p>
            <a:pPr marL="285750" indent="-285750" algn="just">
              <a:spcAft>
                <a:spcPts val="1200"/>
              </a:spcAft>
              <a:buFont typeface="Wingdings" panose="05000000000000000000" pitchFamily="2" charset="2"/>
              <a:buChar char="ü"/>
            </a:pPr>
            <a:r>
              <a:rPr lang="es-PE" sz="1600" spc="-10" dirty="0">
                <a:solidFill>
                  <a:srgbClr val="262626"/>
                </a:solidFill>
              </a:rPr>
              <a:t>OpenNebula</a:t>
            </a:r>
          </a:p>
          <a:p>
            <a:pPr marL="285750" indent="-285750" algn="just">
              <a:spcAft>
                <a:spcPts val="1200"/>
              </a:spcAft>
              <a:buFont typeface="Wingdings" panose="05000000000000000000" pitchFamily="2" charset="2"/>
              <a:buChar char="ü"/>
            </a:pPr>
            <a:r>
              <a:rPr lang="es-PE" sz="1600" spc="-10" dirty="0">
                <a:solidFill>
                  <a:srgbClr val="262626"/>
                </a:solidFill>
              </a:rPr>
              <a:t>Cloud Foundry</a:t>
            </a:r>
          </a:p>
          <a:p>
            <a:pPr marL="285750" indent="-285750" algn="just">
              <a:spcAft>
                <a:spcPts val="1200"/>
              </a:spcAft>
              <a:buFont typeface="Wingdings" panose="05000000000000000000" pitchFamily="2" charset="2"/>
              <a:buChar char="ü"/>
            </a:pPr>
            <a:r>
              <a:rPr lang="es-PE" sz="1600" spc="-10" dirty="0">
                <a:solidFill>
                  <a:srgbClr val="262626"/>
                </a:solidFill>
              </a:rPr>
              <a:t>CloudStack</a:t>
            </a:r>
          </a:p>
          <a:p>
            <a:pPr marL="285750" indent="-285750" algn="just">
              <a:spcAft>
                <a:spcPts val="1200"/>
              </a:spcAft>
              <a:buFont typeface="Wingdings" panose="05000000000000000000" pitchFamily="2" charset="2"/>
              <a:buChar char="ü"/>
            </a:pPr>
            <a:r>
              <a:rPr lang="es-PE" sz="1600" spc="-10" dirty="0">
                <a:solidFill>
                  <a:srgbClr val="262626"/>
                </a:solidFill>
              </a:rPr>
              <a:t>Own Cloud</a:t>
            </a:r>
          </a:p>
        </p:txBody>
      </p:sp>
      <p:pic>
        <p:nvPicPr>
          <p:cNvPr id="26626" name="Picture 2">
            <a:extLst>
              <a:ext uri="{FF2B5EF4-FFF2-40B4-BE49-F238E27FC236}">
                <a16:creationId xmlns:a16="http://schemas.microsoft.com/office/drawing/2014/main" id="{1DC65096-FD3D-47CA-80FB-46B7C227F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8842" y="3427703"/>
            <a:ext cx="1883229" cy="1883229"/>
          </a:xfrm>
          <a:prstGeom prst="rect">
            <a:avLst/>
          </a:prstGeom>
          <a:noFill/>
          <a:extLst>
            <a:ext uri="{909E8E84-426E-40DD-AFC4-6F175D3DCCD1}">
              <a14:hiddenFill xmlns:a14="http://schemas.microsoft.com/office/drawing/2010/main">
                <a:solidFill>
                  <a:srgbClr val="FFFFFF"/>
                </a:solidFill>
              </a14:hiddenFill>
            </a:ext>
          </a:extLst>
        </p:spPr>
      </p:pic>
      <p:pic>
        <p:nvPicPr>
          <p:cNvPr id="26630" name="Picture 6" descr="Download Eucalyptus Cloud Logo PNG Image with No Background - PNGkey.com">
            <a:extLst>
              <a:ext uri="{FF2B5EF4-FFF2-40B4-BE49-F238E27FC236}">
                <a16:creationId xmlns:a16="http://schemas.microsoft.com/office/drawing/2014/main" id="{7832798F-6452-40B6-BB50-669CD5938E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2915" y="4099743"/>
            <a:ext cx="2953657" cy="318441"/>
          </a:xfrm>
          <a:prstGeom prst="rect">
            <a:avLst/>
          </a:prstGeom>
          <a:noFill/>
          <a:extLst>
            <a:ext uri="{909E8E84-426E-40DD-AFC4-6F175D3DCCD1}">
              <a14:hiddenFill xmlns:a14="http://schemas.microsoft.com/office/drawing/2010/main">
                <a:solidFill>
                  <a:srgbClr val="FFFFFF"/>
                </a:solidFill>
              </a14:hiddenFill>
            </a:ext>
          </a:extLst>
        </p:spPr>
      </p:pic>
      <p:pic>
        <p:nvPicPr>
          <p:cNvPr id="26632" name="Picture 8" descr="Apache CloudStack 4.1.0 Is Here! - SiliconANGLE">
            <a:extLst>
              <a:ext uri="{FF2B5EF4-FFF2-40B4-BE49-F238E27FC236}">
                <a16:creationId xmlns:a16="http://schemas.microsoft.com/office/drawing/2014/main" id="{01462D47-F1E4-4242-89DF-872939A413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3036" y="1486226"/>
            <a:ext cx="2168979" cy="2168979"/>
          </a:xfrm>
          <a:prstGeom prst="rect">
            <a:avLst/>
          </a:prstGeom>
          <a:noFill/>
          <a:extLst>
            <a:ext uri="{909E8E84-426E-40DD-AFC4-6F175D3DCCD1}">
              <a14:hiddenFill xmlns:a14="http://schemas.microsoft.com/office/drawing/2010/main">
                <a:solidFill>
                  <a:srgbClr val="FFFFFF"/>
                </a:solidFill>
              </a14:hiddenFill>
            </a:ext>
          </a:extLst>
        </p:spPr>
      </p:pic>
      <p:pic>
        <p:nvPicPr>
          <p:cNvPr id="26636" name="Picture 12" descr="Actualidad SUSE se une a Cloud Foundry - ChannelBiz">
            <a:extLst>
              <a:ext uri="{FF2B5EF4-FFF2-40B4-BE49-F238E27FC236}">
                <a16:creationId xmlns:a16="http://schemas.microsoft.com/office/drawing/2014/main" id="{94046635-9F4B-4E89-8579-F145097B47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68671" y="404067"/>
            <a:ext cx="1883230" cy="1883230"/>
          </a:xfrm>
          <a:prstGeom prst="rect">
            <a:avLst/>
          </a:prstGeom>
          <a:noFill/>
          <a:extLst>
            <a:ext uri="{909E8E84-426E-40DD-AFC4-6F175D3DCCD1}">
              <a14:hiddenFill xmlns:a14="http://schemas.microsoft.com/office/drawing/2010/main">
                <a:solidFill>
                  <a:srgbClr val="FFFFFF"/>
                </a:solidFill>
              </a14:hiddenFill>
            </a:ext>
          </a:extLst>
        </p:spPr>
      </p:pic>
      <p:pic>
        <p:nvPicPr>
          <p:cNvPr id="26638" name="Picture 14">
            <a:extLst>
              <a:ext uri="{FF2B5EF4-FFF2-40B4-BE49-F238E27FC236}">
                <a16:creationId xmlns:a16="http://schemas.microsoft.com/office/drawing/2014/main" id="{05BD167A-EE73-425F-9D36-4C896E50F0A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5103" y="3829462"/>
            <a:ext cx="2383021" cy="1177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209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ángulo 10"/>
          <p:cNvSpPr/>
          <p:nvPr/>
        </p:nvSpPr>
        <p:spPr>
          <a:xfrm>
            <a:off x="2304789" y="560908"/>
            <a:ext cx="6370899" cy="4185761"/>
          </a:xfrm>
          <a:prstGeom prst="rect">
            <a:avLst/>
          </a:prstGeom>
        </p:spPr>
        <p:txBody>
          <a:bodyPr wrap="square" lIns="0" tIns="0" rIns="0" bIns="0">
            <a:spAutoFit/>
          </a:bodyPr>
          <a:lstStyle/>
          <a:p>
            <a:pPr marL="180975" indent="-180975">
              <a:buFont typeface="Arial" panose="020B0604020202020204" pitchFamily="34" charset="0"/>
              <a:buChar char="•"/>
            </a:pPr>
            <a:r>
              <a:rPr lang="es-PE" sz="1600" dirty="0">
                <a:solidFill>
                  <a:srgbClr val="FFFFFF"/>
                </a:solidFill>
                <a:latin typeface="+mj-lt"/>
                <a:ea typeface="Calibri" panose="020F0502020204030204" pitchFamily="34" charset="0"/>
                <a:cs typeface="Source Sans Pro" panose="020B0604020202020204" charset="0"/>
              </a:rPr>
              <a:t>El gobierno empresarial es un marco que </a:t>
            </a:r>
            <a:r>
              <a:rPr lang="es-PE" sz="1600" dirty="0" smtClean="0">
                <a:solidFill>
                  <a:srgbClr val="FFFFFF"/>
                </a:solidFill>
                <a:latin typeface="+mj-lt"/>
                <a:ea typeface="Calibri" panose="020F0502020204030204" pitchFamily="34" charset="0"/>
                <a:cs typeface="Source Sans Pro" panose="020B0604020202020204" charset="0"/>
              </a:rPr>
              <a:t>abarca las dimensiones de </a:t>
            </a:r>
            <a:r>
              <a:rPr lang="es-PE" sz="1600" dirty="0">
                <a:solidFill>
                  <a:srgbClr val="FFFFFF"/>
                </a:solidFill>
                <a:latin typeface="+mj-lt"/>
                <a:ea typeface="Calibri" panose="020F0502020204030204" pitchFamily="34" charset="0"/>
                <a:cs typeface="Source Sans Pro" panose="020B0604020202020204" charset="0"/>
              </a:rPr>
              <a:t>g</a:t>
            </a:r>
            <a:r>
              <a:rPr lang="es-PE" sz="1600" dirty="0" smtClean="0">
                <a:solidFill>
                  <a:srgbClr val="FFFFFF"/>
                </a:solidFill>
                <a:latin typeface="+mj-lt"/>
                <a:ea typeface="Calibri" panose="020F0502020204030204" pitchFamily="34" charset="0"/>
                <a:cs typeface="Source Sans Pro" panose="020B0604020202020204" charset="0"/>
              </a:rPr>
              <a:t>obierno </a:t>
            </a:r>
            <a:r>
              <a:rPr lang="es-PE" sz="1600" dirty="0">
                <a:solidFill>
                  <a:srgbClr val="FFFFFF"/>
                </a:solidFill>
                <a:latin typeface="+mj-lt"/>
                <a:ea typeface="Calibri" panose="020F0502020204030204" pitchFamily="34" charset="0"/>
                <a:cs typeface="Source Sans Pro" panose="020B0604020202020204" charset="0"/>
              </a:rPr>
              <a:t>c</a:t>
            </a:r>
            <a:r>
              <a:rPr lang="es-PE" sz="1600" dirty="0" smtClean="0">
                <a:solidFill>
                  <a:srgbClr val="FFFFFF"/>
                </a:solidFill>
                <a:latin typeface="+mj-lt"/>
                <a:ea typeface="Calibri" panose="020F0502020204030204" pitchFamily="34" charset="0"/>
                <a:cs typeface="Source Sans Pro" panose="020B0604020202020204" charset="0"/>
              </a:rPr>
              <a:t>orporativo </a:t>
            </a:r>
            <a:r>
              <a:rPr lang="es-PE" sz="1600" dirty="0">
                <a:solidFill>
                  <a:srgbClr val="FFFFFF"/>
                </a:solidFill>
                <a:latin typeface="+mj-lt"/>
                <a:ea typeface="Calibri" panose="020F0502020204030204" pitchFamily="34" charset="0"/>
                <a:cs typeface="Source Sans Pro" panose="020B0604020202020204" charset="0"/>
              </a:rPr>
              <a:t>y los aspectos de </a:t>
            </a:r>
            <a:r>
              <a:rPr lang="es-PE" sz="1600" dirty="0" smtClean="0">
                <a:solidFill>
                  <a:srgbClr val="FFFFFF"/>
                </a:solidFill>
                <a:latin typeface="+mj-lt"/>
                <a:ea typeface="Calibri" panose="020F0502020204030204" pitchFamily="34" charset="0"/>
                <a:cs typeface="Source Sans Pro" panose="020B0604020202020204" charset="0"/>
              </a:rPr>
              <a:t>gestión </a:t>
            </a:r>
            <a:r>
              <a:rPr lang="es-PE" sz="1600" dirty="0">
                <a:solidFill>
                  <a:srgbClr val="FFFFFF"/>
                </a:solidFill>
                <a:latin typeface="+mj-lt"/>
                <a:ea typeface="Calibri" panose="020F0502020204030204" pitchFamily="34" charset="0"/>
                <a:cs typeface="Source Sans Pro" panose="020B0604020202020204" charset="0"/>
              </a:rPr>
              <a:t>del negocio de una </a:t>
            </a:r>
            <a:r>
              <a:rPr lang="es-PE" sz="1600" dirty="0" smtClean="0">
                <a:solidFill>
                  <a:srgbClr val="FFFFFF"/>
                </a:solidFill>
                <a:latin typeface="+mj-lt"/>
                <a:ea typeface="Calibri" panose="020F0502020204030204" pitchFamily="34" charset="0"/>
                <a:cs typeface="Source Sans Pro" panose="020B0604020202020204" charset="0"/>
              </a:rPr>
              <a:t>organización (gobierno </a:t>
            </a:r>
            <a:r>
              <a:rPr lang="es-PE" sz="1600" dirty="0">
                <a:solidFill>
                  <a:srgbClr val="FFFFFF"/>
                </a:solidFill>
                <a:latin typeface="+mj-lt"/>
                <a:ea typeface="Calibri" panose="020F0502020204030204" pitchFamily="34" charset="0"/>
                <a:cs typeface="Source Sans Pro" panose="020B0604020202020204" charset="0"/>
              </a:rPr>
              <a:t>de negocio</a:t>
            </a:r>
            <a:r>
              <a:rPr lang="es-PE" sz="1600" dirty="0" smtClean="0">
                <a:solidFill>
                  <a:srgbClr val="FFFFFF"/>
                </a:solidFill>
                <a:latin typeface="+mj-lt"/>
                <a:ea typeface="Calibri" panose="020F0502020204030204" pitchFamily="34" charset="0"/>
                <a:cs typeface="Source Sans Pro" panose="020B0604020202020204" charset="0"/>
              </a:rPr>
              <a:t>). Están </a:t>
            </a:r>
            <a:r>
              <a:rPr lang="es-PE" sz="1600" dirty="0">
                <a:solidFill>
                  <a:srgbClr val="FFFFFF"/>
                </a:solidFill>
                <a:latin typeface="+mj-lt"/>
                <a:ea typeface="Calibri" panose="020F0502020204030204" pitchFamily="34" charset="0"/>
                <a:cs typeface="Source Sans Pro" panose="020B0604020202020204" charset="0"/>
              </a:rPr>
              <a:t>íntimamente relacionados, dado que el </a:t>
            </a:r>
            <a:r>
              <a:rPr lang="es-PE" sz="1600" dirty="0" smtClean="0">
                <a:solidFill>
                  <a:srgbClr val="FFFFFF"/>
                </a:solidFill>
                <a:latin typeface="+mj-lt"/>
                <a:ea typeface="Calibri" panose="020F0502020204030204" pitchFamily="34" charset="0"/>
                <a:cs typeface="Source Sans Pro" panose="020B0604020202020204" charset="0"/>
              </a:rPr>
              <a:t>gobierno </a:t>
            </a:r>
            <a:r>
              <a:rPr lang="es-PE" sz="1600" dirty="0">
                <a:solidFill>
                  <a:srgbClr val="FFFFFF"/>
                </a:solidFill>
                <a:latin typeface="+mj-lt"/>
                <a:ea typeface="Calibri" panose="020F0502020204030204" pitchFamily="34" charset="0"/>
                <a:cs typeface="Source Sans Pro" panose="020B0604020202020204" charset="0"/>
              </a:rPr>
              <a:t>c</a:t>
            </a:r>
            <a:r>
              <a:rPr lang="es-PE" sz="1600" dirty="0" smtClean="0">
                <a:solidFill>
                  <a:srgbClr val="FFFFFF"/>
                </a:solidFill>
                <a:latin typeface="+mj-lt"/>
                <a:ea typeface="Calibri" panose="020F0502020204030204" pitchFamily="34" charset="0"/>
                <a:cs typeface="Source Sans Pro" panose="020B0604020202020204" charset="0"/>
              </a:rPr>
              <a:t>orporativo </a:t>
            </a:r>
            <a:r>
              <a:rPr lang="es-PE" sz="1600" dirty="0">
                <a:solidFill>
                  <a:srgbClr val="FFFFFF"/>
                </a:solidFill>
                <a:latin typeface="+mj-lt"/>
                <a:ea typeface="Calibri" panose="020F0502020204030204" pitchFamily="34" charset="0"/>
                <a:cs typeface="Source Sans Pro" panose="020B0604020202020204" charset="0"/>
              </a:rPr>
              <a:t>entrega informes de un ciclo económico y rinde cuentas sobre esa información.</a:t>
            </a:r>
          </a:p>
          <a:p>
            <a:pPr marL="180975" indent="-180975">
              <a:buFont typeface="Arial" panose="020B0604020202020204" pitchFamily="34" charset="0"/>
              <a:buChar char="•"/>
            </a:pPr>
            <a:endParaRPr lang="es-PE" sz="16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600" dirty="0">
                <a:solidFill>
                  <a:srgbClr val="FFFFFF"/>
                </a:solidFill>
                <a:latin typeface="+mj-lt"/>
                <a:ea typeface="Calibri" panose="020F0502020204030204" pitchFamily="34" charset="0"/>
                <a:cs typeface="Source Sans Pro" panose="020B0604020202020204" charset="0"/>
              </a:rPr>
              <a:t>Las empresas invierten en tecnología porque les permiten mejorar su operatividad de manera más eficiente, más segura y con mayor impacto para poder llegar a cumplir con su misión que es para lo que finalmente existen. </a:t>
            </a:r>
            <a:endParaRPr lang="es-PE" sz="1600" dirty="0" smtClean="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endParaRPr lang="es-PE" sz="16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600" dirty="0">
                <a:solidFill>
                  <a:srgbClr val="FFFFFF"/>
                </a:solidFill>
                <a:ea typeface="Calibri" panose="020F0502020204030204" pitchFamily="34" charset="0"/>
                <a:cs typeface="Source Sans Pro" panose="020B0604020202020204" charset="0"/>
              </a:rPr>
              <a:t>El hardware empresarial e</a:t>
            </a:r>
            <a:r>
              <a:rPr lang="es-PE" sz="1600" dirty="0">
                <a:solidFill>
                  <a:srgbClr val="FFFFFF"/>
                </a:solidFill>
              </a:rPr>
              <a:t>s una serie de soluciones horizontales diseñadas para pequeñas, medianas y grandes empresas; para que puedan generar valor en beneficio del negocio; mientras el software empresarial se comprende a cualquier tipo de software que está orientado a apoyar a una empresa a mejorar su gestión, productividad, ahorrar tiempo o brindar ventajas estratégicas para conseguir sus </a:t>
            </a:r>
            <a:r>
              <a:rPr lang="es-PE" sz="1600" dirty="0" smtClean="0">
                <a:solidFill>
                  <a:srgbClr val="FFFFFF"/>
                </a:solidFill>
              </a:rPr>
              <a:t>objetivos.</a:t>
            </a:r>
            <a:endParaRPr lang="es-PE" sz="1600" dirty="0">
              <a:solidFill>
                <a:srgbClr val="FFFFFF"/>
              </a:solidFill>
              <a:latin typeface="+mj-lt"/>
              <a:ea typeface="Calibri" panose="020F0502020204030204" pitchFamily="34" charset="0"/>
              <a:cs typeface="Source Sans Pro" panose="020B0604020202020204" charset="0"/>
            </a:endParaRPr>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Tree>
    <p:custDataLst>
      <p:tags r:id="rId1"/>
    </p:custDataLst>
    <p:extLst>
      <p:ext uri="{BB962C8B-B14F-4D97-AF65-F5344CB8AC3E}">
        <p14:creationId xmlns:p14="http://schemas.microsoft.com/office/powerpoint/2010/main" val="547593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79"/>
            <a:ext cx="7881937" cy="4244950"/>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4625" indent="-174625">
              <a:spcBef>
                <a:spcPts val="0"/>
              </a:spcBef>
              <a:buSzPct val="100000"/>
            </a:pPr>
            <a:r>
              <a:rPr lang="es" sz="1500" dirty="0">
                <a:cs typeface="Calibri"/>
                <a:hlinkClick r:id="rId3"/>
              </a:rPr>
              <a:t>https://www.ecured.cu/Arquitectura_Empresarial</a:t>
            </a:r>
            <a:endParaRPr lang="es" sz="1500" dirty="0">
              <a:cs typeface="Calibri"/>
            </a:endParaRPr>
          </a:p>
          <a:p>
            <a:pPr marL="174625" indent="-174625">
              <a:spcBef>
                <a:spcPts val="0"/>
              </a:spcBef>
              <a:buSzPct val="100000"/>
            </a:pPr>
            <a:r>
              <a:rPr lang="es" sz="1500" dirty="0">
                <a:cs typeface="Calibri"/>
                <a:hlinkClick r:id="rId4"/>
              </a:rPr>
              <a:t>https://colombiadigital.net/actualidad/articulos-informativos/item/8123-que-es-arquitectura-empresarial.html</a:t>
            </a:r>
            <a:endParaRPr lang="es" sz="1500" dirty="0">
              <a:cs typeface="Calibri"/>
            </a:endParaRPr>
          </a:p>
          <a:p>
            <a:pPr marL="174625" indent="-174625">
              <a:spcBef>
                <a:spcPts val="0"/>
              </a:spcBef>
              <a:buSzPct val="100000"/>
            </a:pPr>
            <a:r>
              <a:rPr lang="es" sz="1500" dirty="0">
                <a:cs typeface="Calibri"/>
                <a:hlinkClick r:id="rId5"/>
              </a:rPr>
              <a:t>https://thedigitalprojectmanager.com/es/grafico-raci-manera-mas-simple/</a:t>
            </a:r>
            <a:endParaRPr lang="es" sz="1500" dirty="0">
              <a:cs typeface="Calibri"/>
            </a:endParaRPr>
          </a:p>
          <a:p>
            <a:pPr marL="174625" indent="-174625">
              <a:spcBef>
                <a:spcPts val="0"/>
              </a:spcBef>
              <a:buSzPct val="100000"/>
            </a:pPr>
            <a:r>
              <a:rPr lang="es" sz="1500" dirty="0">
                <a:cs typeface="Calibri"/>
                <a:hlinkClick r:id="rId6"/>
              </a:rPr>
              <a:t>https://www.laboratorioti.com/2016/02/22/ticcionario-una-matriz-raci-usarla/</a:t>
            </a:r>
            <a:endParaRPr lang="es" sz="1500" dirty="0">
              <a:cs typeface="Calibri"/>
            </a:endParaRPr>
          </a:p>
          <a:p>
            <a:pPr marL="174625" indent="-174625">
              <a:spcBef>
                <a:spcPts val="0"/>
              </a:spcBef>
              <a:buSzPct val="100000"/>
            </a:pPr>
            <a:r>
              <a:rPr lang="es" sz="1500" dirty="0">
                <a:cs typeface="Calibri"/>
                <a:hlinkClick r:id="rId7"/>
              </a:rPr>
              <a:t>https://mentory.online/2018/02/raci-o-matriz-de-responsabilidades.html</a:t>
            </a:r>
            <a:endParaRPr lang="es" sz="1500" dirty="0">
              <a:cs typeface="Calibri"/>
            </a:endParaRPr>
          </a:p>
          <a:p>
            <a:pPr marL="174625" indent="-174625">
              <a:spcBef>
                <a:spcPts val="0"/>
              </a:spcBef>
              <a:buSzPct val="100000"/>
            </a:pPr>
            <a:r>
              <a:rPr lang="es" sz="1500" dirty="0">
                <a:cs typeface="Calibri"/>
                <a:hlinkClick r:id="rId8"/>
              </a:rPr>
              <a:t> https://blog.invgate.com/es/itam-101-introducci%C3%B3n-a-la-gesti%C3%B3n-de-activos-de-ti</a:t>
            </a:r>
            <a:endParaRPr lang="es" sz="1500" dirty="0">
              <a:cs typeface="Calibri"/>
            </a:endParaRPr>
          </a:p>
          <a:p>
            <a:pPr marL="174625" indent="-174625">
              <a:spcBef>
                <a:spcPts val="0"/>
              </a:spcBef>
              <a:buSzPct val="100000"/>
            </a:pPr>
            <a:r>
              <a:rPr lang="es" sz="1500" dirty="0">
                <a:cs typeface="Calibri"/>
                <a:hlinkClick r:id="rId9"/>
              </a:rPr>
              <a:t>https://www.dealerworld.es/archive/la-complejidad-de-las-ti-permite-a-las-empresas-ser-mas-competitivas</a:t>
            </a:r>
            <a:endParaRPr lang="es" sz="1500" dirty="0">
              <a:cs typeface="Calibri"/>
            </a:endParaRPr>
          </a:p>
          <a:p>
            <a:pPr marL="174625" indent="-174625">
              <a:spcBef>
                <a:spcPts val="0"/>
              </a:spcBef>
              <a:buSzPct val="100000"/>
            </a:pPr>
            <a:r>
              <a:rPr lang="es-PE" sz="1500" dirty="0">
                <a:cs typeface="Calibri"/>
                <a:hlinkClick r:id="rId10"/>
              </a:rPr>
              <a:t>https://www.wearemarketing.com/es/blog/importancia-de-la-tecnologia-en-las-empresas-en-la-era-de-la-transformacion-digital.html</a:t>
            </a:r>
            <a:r>
              <a:rPr lang="es" sz="1500" dirty="0">
                <a:cs typeface="Calibri"/>
              </a:rPr>
              <a:t> </a:t>
            </a:r>
          </a:p>
          <a:p>
            <a:pPr marL="174625" indent="-174625">
              <a:spcBef>
                <a:spcPts val="0"/>
              </a:spcBef>
              <a:buSzPct val="100000"/>
            </a:pPr>
            <a:r>
              <a:rPr lang="es-PE" sz="1500" dirty="0">
                <a:cs typeface="Calibri"/>
                <a:hlinkClick r:id="rId11"/>
              </a:rPr>
              <a:t>https://admision.utem.cl/2019/12/26/como-influye-la-tecnologia-en-las-empresas/</a:t>
            </a:r>
            <a:r>
              <a:rPr lang="es" sz="1500" dirty="0">
                <a:cs typeface="Calibri"/>
              </a:rPr>
              <a:t> </a:t>
            </a:r>
          </a:p>
          <a:p>
            <a:pPr marL="174625" indent="-174625">
              <a:spcBef>
                <a:spcPts val="0"/>
              </a:spcBef>
              <a:buSzPct val="100000"/>
            </a:pPr>
            <a:r>
              <a:rPr lang="es" sz="1500" dirty="0">
                <a:cs typeface="Calibri"/>
                <a:hlinkClick r:id="rId12"/>
              </a:rPr>
              <a:t>https://www.axxon.com.br/blog/index.php?id=edoa0sxa</a:t>
            </a:r>
            <a:endParaRPr lang="es" sz="1500" dirty="0">
              <a:cs typeface="Calibri"/>
            </a:endParaRPr>
          </a:p>
          <a:p>
            <a:pPr marL="174625" indent="-174625">
              <a:spcBef>
                <a:spcPts val="0"/>
              </a:spcBef>
              <a:buSzPct val="100000"/>
            </a:pPr>
            <a:r>
              <a:rPr lang="es-PE" sz="1500" dirty="0">
                <a:cs typeface="Calibri"/>
                <a:hlinkClick r:id="rId13"/>
              </a:rPr>
              <a:t>https://www.oracle.com/es/big-data/what-is-big-data/</a:t>
            </a:r>
            <a:r>
              <a:rPr lang="es-PE" sz="1500" dirty="0">
                <a:cs typeface="Calibri"/>
              </a:rPr>
              <a:t> </a:t>
            </a:r>
            <a:endParaRPr lang="es" sz="1500" dirty="0">
              <a:cs typeface="Calibri"/>
            </a:endParaRPr>
          </a:p>
          <a:p>
            <a:pPr marL="174625" indent="-174625">
              <a:spcBef>
                <a:spcPts val="0"/>
              </a:spcBef>
              <a:buSzPct val="100000"/>
            </a:pPr>
            <a:r>
              <a:rPr lang="es-PE" sz="1500" dirty="0">
                <a:cs typeface="Calibri"/>
                <a:hlinkClick r:id="rId14"/>
              </a:rPr>
              <a:t>https://www.redhat.com/es/topics/internet-of-things/what-is-iot</a:t>
            </a:r>
            <a:r>
              <a:rPr lang="es" sz="1500" dirty="0">
                <a:cs typeface="Calibri"/>
              </a:rPr>
              <a:t> </a:t>
            </a:r>
          </a:p>
          <a:p>
            <a:pPr marL="174625" indent="-174625">
              <a:spcBef>
                <a:spcPts val="0"/>
              </a:spcBef>
              <a:buSzPct val="100000"/>
            </a:pPr>
            <a:r>
              <a:rPr lang="es-PE" sz="1500" dirty="0">
                <a:cs typeface="Calibri"/>
                <a:hlinkClick r:id="rId15"/>
              </a:rPr>
              <a:t>https://www.sap.com/latinamerica/insights/what-is-iot-internet-of-things.html</a:t>
            </a:r>
            <a:endParaRPr lang="es-PE" sz="1500" dirty="0">
              <a:cs typeface="Calibri"/>
            </a:endParaRPr>
          </a:p>
          <a:p>
            <a:pPr marL="174625" indent="-174625">
              <a:spcBef>
                <a:spcPts val="0"/>
              </a:spcBef>
              <a:buSzPct val="100000"/>
            </a:pPr>
            <a:r>
              <a:rPr lang="es-PE" sz="1500" dirty="0">
                <a:cs typeface="Calibri"/>
                <a:hlinkClick r:id="rId16"/>
              </a:rPr>
              <a:t>https://ayudaleyprotecciondatos.es/cloud-computing/proveedores/</a:t>
            </a:r>
            <a:r>
              <a:rPr lang="es-PE" sz="1500" dirty="0">
                <a:cs typeface="Calibri"/>
              </a:rPr>
              <a:t> </a:t>
            </a:r>
            <a:r>
              <a:rPr lang="es" sz="1500" dirty="0">
                <a:cs typeface="Calibri"/>
              </a:rPr>
              <a:t> </a:t>
            </a: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79"/>
            <a:ext cx="7881937" cy="4172378"/>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4625" indent="-174625">
              <a:spcBef>
                <a:spcPts val="0"/>
              </a:spcBef>
              <a:buSzPct val="100000"/>
            </a:pPr>
            <a:r>
              <a:rPr lang="es-PE" sz="1500" dirty="0">
                <a:cs typeface="Calibri"/>
                <a:hlinkClick r:id="rId3"/>
              </a:rPr>
              <a:t>https://www.hpe.com/es/es/what-is/cloud-computing.html</a:t>
            </a:r>
            <a:r>
              <a:rPr lang="es" sz="1500" dirty="0">
                <a:cs typeface="Calibri"/>
              </a:rPr>
              <a:t> </a:t>
            </a:r>
          </a:p>
          <a:p>
            <a:pPr marL="174625" indent="-174625">
              <a:spcBef>
                <a:spcPts val="0"/>
              </a:spcBef>
              <a:buSzPct val="100000"/>
            </a:pPr>
            <a:r>
              <a:rPr lang="es-PE" sz="1500" dirty="0">
                <a:cs typeface="Calibri"/>
                <a:hlinkClick r:id="rId4"/>
              </a:rPr>
              <a:t>https://www.cisco.com/c/es_mx/solutions/cloud/what-is-cloud-computing.html#~cloud-computing-deployment-models</a:t>
            </a:r>
            <a:r>
              <a:rPr lang="es" sz="1500" dirty="0">
                <a:cs typeface="Calibri"/>
              </a:rPr>
              <a:t> </a:t>
            </a:r>
          </a:p>
          <a:p>
            <a:pPr marL="174625" indent="-174625">
              <a:spcBef>
                <a:spcPts val="0"/>
              </a:spcBef>
              <a:buSzPct val="100000"/>
            </a:pPr>
            <a:r>
              <a:rPr lang="es-PE" sz="1500" dirty="0">
                <a:cs typeface="Calibri"/>
                <a:hlinkClick r:id="rId5"/>
              </a:rPr>
              <a:t>https://vegagestion.es/software-empresarial-caracteristicas-tipos-y-ventajas/</a:t>
            </a:r>
            <a:r>
              <a:rPr lang="es" sz="1500" dirty="0">
                <a:cs typeface="Calibri"/>
              </a:rPr>
              <a:t> </a:t>
            </a:r>
          </a:p>
          <a:p>
            <a:pPr marL="174625" indent="-174625">
              <a:spcBef>
                <a:spcPts val="0"/>
              </a:spcBef>
              <a:buSzPct val="100000"/>
            </a:pPr>
            <a:r>
              <a:rPr lang="es-PE" sz="1500" dirty="0">
                <a:cs typeface="Calibri"/>
                <a:hlinkClick r:id="rId6"/>
              </a:rPr>
              <a:t>https://www.farandsoft.com/software-empresarial-tipos-caracteristicas-ventajas/</a:t>
            </a:r>
            <a:r>
              <a:rPr lang="es" sz="1500" dirty="0">
                <a:cs typeface="Calibri"/>
              </a:rPr>
              <a:t> </a:t>
            </a:r>
          </a:p>
          <a:p>
            <a:pPr marL="174625" indent="-174625">
              <a:spcBef>
                <a:spcPts val="0"/>
              </a:spcBef>
              <a:buSzPct val="100000"/>
            </a:pPr>
            <a:r>
              <a:rPr lang="es-PE" sz="1500" dirty="0">
                <a:cs typeface="Calibri"/>
                <a:hlinkClick r:id="rId7"/>
              </a:rPr>
              <a:t>https://inform-atic.com/es/informatica/hardware-empresas</a:t>
            </a:r>
            <a:r>
              <a:rPr lang="es" sz="1500" dirty="0">
                <a:cs typeface="Calibri"/>
              </a:rPr>
              <a:t> </a:t>
            </a:r>
          </a:p>
          <a:p>
            <a:pPr marL="174625" indent="-174625">
              <a:spcBef>
                <a:spcPts val="0"/>
              </a:spcBef>
              <a:buSzPct val="100000"/>
            </a:pPr>
            <a:r>
              <a:rPr lang="es-PE" sz="1500" dirty="0">
                <a:cs typeface="Calibri"/>
                <a:hlinkClick r:id="rId8"/>
              </a:rPr>
              <a:t>https://www.incentro.com/es-es/blog/stories/programas-mas-utilizados-en-empresas/</a:t>
            </a:r>
            <a:r>
              <a:rPr lang="es-PE" sz="1500" dirty="0">
                <a:cs typeface="Calibri"/>
              </a:rPr>
              <a:t> </a:t>
            </a:r>
          </a:p>
          <a:p>
            <a:pPr marL="174625" indent="-174625">
              <a:spcBef>
                <a:spcPts val="0"/>
              </a:spcBef>
              <a:buSzPct val="100000"/>
            </a:pPr>
            <a:r>
              <a:rPr lang="es-PE" sz="1500" dirty="0">
                <a:cs typeface="Calibri"/>
                <a:hlinkClick r:id="rId9"/>
              </a:rPr>
              <a:t>https://visualmexico.com.mx/tipos-de-software-de-administracion-empresarial/</a:t>
            </a:r>
            <a:endParaRPr lang="es-PE" sz="1500" dirty="0">
              <a:cs typeface="Calibri"/>
            </a:endParaRPr>
          </a:p>
          <a:p>
            <a:pPr marL="174625" indent="-174625">
              <a:spcBef>
                <a:spcPts val="0"/>
              </a:spcBef>
              <a:buSzPct val="100000"/>
            </a:pPr>
            <a:r>
              <a:rPr lang="es-PE" sz="1500" dirty="0">
                <a:cs typeface="Calibri"/>
                <a:hlinkClick r:id="rId10"/>
              </a:rPr>
              <a:t>https://cimatic.com.mx/que-es-un-software-empresarial/</a:t>
            </a:r>
            <a:endParaRPr lang="es-PE" sz="1500" dirty="0">
              <a:cs typeface="Calibri"/>
            </a:endParaRPr>
          </a:p>
          <a:p>
            <a:pPr marL="174625" indent="-174625">
              <a:spcBef>
                <a:spcPts val="0"/>
              </a:spcBef>
              <a:buSzPct val="100000"/>
            </a:pPr>
            <a:r>
              <a:rPr lang="es-PE" sz="1500" dirty="0">
                <a:cs typeface="Calibri"/>
                <a:hlinkClick r:id="rId11"/>
              </a:rPr>
              <a:t>https://ayudaleyprotecciondatos.es/cloud-computing/proveedores/</a:t>
            </a:r>
            <a:endParaRPr lang="es-PE" sz="1500" dirty="0">
              <a:cs typeface="Calibri"/>
            </a:endParaRPr>
          </a:p>
          <a:p>
            <a:pPr marL="174625" indent="-174625">
              <a:spcBef>
                <a:spcPts val="0"/>
              </a:spcBef>
              <a:buSzPct val="100000"/>
            </a:pPr>
            <a:r>
              <a:rPr lang="es-PE" sz="1500" dirty="0">
                <a:cs typeface="Calibri"/>
                <a:hlinkClick r:id="rId12"/>
              </a:rPr>
              <a:t>https://sites.google.com/site/informaticakalitohi/sistemas-de-automatizacion-de-oficinas</a:t>
            </a:r>
            <a:r>
              <a:rPr lang="es-PE" sz="1500" dirty="0">
                <a:cs typeface="Calibri"/>
              </a:rPr>
              <a:t> </a:t>
            </a:r>
          </a:p>
          <a:p>
            <a:pPr marL="174625" indent="-174625">
              <a:spcBef>
                <a:spcPts val="0"/>
              </a:spcBef>
              <a:buSzPct val="100000"/>
            </a:pPr>
            <a:r>
              <a:rPr lang="es-PE" sz="1500" dirty="0">
                <a:cs typeface="Calibri"/>
                <a:hlinkClick r:id="rId13"/>
              </a:rPr>
              <a:t>https://www.softwaredoit.es/software-erp/cadena-de-suministro.html</a:t>
            </a:r>
            <a:r>
              <a:rPr lang="es-PE" sz="1500" dirty="0">
                <a:cs typeface="Calibri"/>
              </a:rPr>
              <a:t> </a:t>
            </a:r>
          </a:p>
          <a:p>
            <a:pPr marL="174625" indent="-174625">
              <a:spcBef>
                <a:spcPts val="0"/>
              </a:spcBef>
              <a:buSzPct val="100000"/>
            </a:pPr>
            <a:r>
              <a:rPr lang="es-PE" sz="1500" dirty="0">
                <a:cs typeface="Calibri"/>
                <a:hlinkClick r:id="rId14"/>
              </a:rPr>
              <a:t>https://www.clavei.es/blog/erp-que-es/</a:t>
            </a:r>
            <a:r>
              <a:rPr lang="es-PE" sz="1500" dirty="0">
                <a:cs typeface="Calibri"/>
              </a:rPr>
              <a:t> </a:t>
            </a:r>
          </a:p>
          <a:p>
            <a:pPr marL="174625" indent="-174625">
              <a:spcBef>
                <a:spcPts val="0"/>
              </a:spcBef>
              <a:buSzPct val="100000"/>
            </a:pPr>
            <a:r>
              <a:rPr lang="es-PE" sz="1500" dirty="0">
                <a:cs typeface="Calibri"/>
                <a:hlinkClick r:id="rId15"/>
              </a:rPr>
              <a:t>https://www.serfe.com/es/productos-destacados/enterprise-solutions/software-para-la-administracion-de-la-cadena-de-suministro-scm</a:t>
            </a:r>
            <a:r>
              <a:rPr lang="es-PE" sz="1500" dirty="0">
                <a:cs typeface="Calibri"/>
              </a:rPr>
              <a:t> </a:t>
            </a:r>
          </a:p>
          <a:p>
            <a:pPr marL="174625" indent="-174625">
              <a:spcBef>
                <a:spcPts val="0"/>
              </a:spcBef>
              <a:buSzPct val="100000"/>
            </a:pPr>
            <a:r>
              <a:rPr lang="es-PE" sz="1500" dirty="0">
                <a:cs typeface="Calibri"/>
                <a:hlinkClick r:id="rId16"/>
              </a:rPr>
              <a:t>https://climate.selectra.com/es/empresas/gobierno-corporativo</a:t>
            </a:r>
            <a:r>
              <a:rPr lang="es-PE" sz="1500" dirty="0">
                <a:cs typeface="Calibri"/>
              </a:rPr>
              <a:t> </a:t>
            </a:r>
          </a:p>
          <a:p>
            <a:pPr marL="174625" indent="-174625">
              <a:spcBef>
                <a:spcPts val="0"/>
              </a:spcBef>
              <a:buSzPct val="100000"/>
            </a:pPr>
            <a:r>
              <a:rPr lang="es-PE" sz="1500">
                <a:cs typeface="Calibri"/>
                <a:hlinkClick r:id="rId17"/>
              </a:rPr>
              <a:t>https://www.ey.com/es_pe/risk/gobierno-corporativo-pilar-crecimiento</a:t>
            </a:r>
            <a:r>
              <a:rPr lang="es-PE" sz="1500">
                <a:cs typeface="Calibri"/>
              </a:rPr>
              <a:t> </a:t>
            </a:r>
            <a:endParaRPr lang="es-PE" sz="1500" dirty="0">
              <a:cs typeface="Calibri"/>
            </a:endParaRPr>
          </a:p>
          <a:p>
            <a:pPr marL="174625" indent="-174625">
              <a:spcBef>
                <a:spcPts val="0"/>
              </a:spcBef>
              <a:buSzPct val="100000"/>
            </a:pPr>
            <a:endParaRPr lang="es" sz="1500" dirty="0">
              <a:cs typeface="Calibri"/>
            </a:endParaRP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354484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13707</TotalTime>
  <Words>3104</Words>
  <Application>Microsoft Office PowerPoint</Application>
  <PresentationFormat>Presentación en pantalla (16:10)</PresentationFormat>
  <Paragraphs>335</Paragraphs>
  <Slides>48</Slides>
  <Notes>46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48</vt:i4>
      </vt:variant>
    </vt:vector>
  </HeadingPairs>
  <TitlesOfParts>
    <vt:vector size="54" baseType="lpstr">
      <vt:lpstr>Arial</vt:lpstr>
      <vt:lpstr>Calibri</vt:lpstr>
      <vt:lpstr>Courier New</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751</cp:revision>
  <cp:lastPrinted>2018-01-16T21:42:59Z</cp:lastPrinted>
  <dcterms:created xsi:type="dcterms:W3CDTF">2016-10-06T14:52:02Z</dcterms:created>
  <dcterms:modified xsi:type="dcterms:W3CDTF">2022-05-09T22:18:50Z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