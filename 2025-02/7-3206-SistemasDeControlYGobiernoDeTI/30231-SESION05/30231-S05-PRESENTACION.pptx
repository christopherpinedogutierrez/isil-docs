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7.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8.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9.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0.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1.xml" ContentType="application/vnd.openxmlformats-officedocument.presentationml.tags+xml"/>
  <Override PartName="/ppt/notesSlides/notesSlide35.xml" ContentType="application/vnd.openxmlformats-officedocument.presentationml.notesSlide+xml"/>
  <Override PartName="/ppt/tags/tag12.xml" ContentType="application/vnd.openxmlformats-officedocument.presentationml.tags+xml"/>
  <Override PartName="/ppt/notesSlides/notesSlide36.xml" ContentType="application/vnd.openxmlformats-officedocument.presentationml.notesSlide+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handoutMasterIdLst>
    <p:handoutMasterId r:id="rId40"/>
  </p:handoutMasterIdLst>
  <p:sldIdLst>
    <p:sldId id="326" r:id="rId2"/>
    <p:sldId id="465" r:id="rId3"/>
    <p:sldId id="427" r:id="rId4"/>
    <p:sldId id="428" r:id="rId5"/>
    <p:sldId id="458" r:id="rId6"/>
    <p:sldId id="459" r:id="rId7"/>
    <p:sldId id="460" r:id="rId8"/>
    <p:sldId id="454" r:id="rId9"/>
    <p:sldId id="429" r:id="rId10"/>
    <p:sldId id="706" r:id="rId11"/>
    <p:sldId id="452" r:id="rId12"/>
    <p:sldId id="461" r:id="rId13"/>
    <p:sldId id="442" r:id="rId14"/>
    <p:sldId id="462" r:id="rId15"/>
    <p:sldId id="463" r:id="rId16"/>
    <p:sldId id="637" r:id="rId17"/>
    <p:sldId id="464" r:id="rId18"/>
    <p:sldId id="638" r:id="rId19"/>
    <p:sldId id="430" r:id="rId20"/>
    <p:sldId id="615" r:id="rId21"/>
    <p:sldId id="635" r:id="rId22"/>
    <p:sldId id="636" r:id="rId23"/>
    <p:sldId id="644" r:id="rId24"/>
    <p:sldId id="640" r:id="rId25"/>
    <p:sldId id="641" r:id="rId26"/>
    <p:sldId id="642" r:id="rId27"/>
    <p:sldId id="643" r:id="rId28"/>
    <p:sldId id="645" r:id="rId29"/>
    <p:sldId id="646" r:id="rId30"/>
    <p:sldId id="647" r:id="rId31"/>
    <p:sldId id="648" r:id="rId32"/>
    <p:sldId id="650" r:id="rId33"/>
    <p:sldId id="705" r:id="rId34"/>
    <p:sldId id="704" r:id="rId35"/>
    <p:sldId id="651" r:id="rId36"/>
    <p:sldId id="702" r:id="rId37"/>
    <p:sldId id="606" r:id="rId38"/>
  </p:sldIdLst>
  <p:sldSz cx="9144000" cy="5715000" type="screen16x10"/>
  <p:notesSz cx="6797675" cy="9926638"/>
  <p:custDataLst>
    <p:tags r:id="rId4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465" userDrawn="1">
          <p15:clr>
            <a:srgbClr val="A4A3A4"/>
          </p15:clr>
        </p15:guide>
        <p15:guide id="3" orient="horz" pos="3320" userDrawn="1">
          <p15:clr>
            <a:srgbClr val="A4A3A4"/>
          </p15:clr>
        </p15:guide>
        <p15:guide id="11" pos="317" userDrawn="1">
          <p15:clr>
            <a:srgbClr val="A4A3A4"/>
          </p15:clr>
        </p15:guide>
        <p15:guide id="12" orient="horz" pos="553" userDrawn="1">
          <p15:clr>
            <a:srgbClr val="A4A3A4"/>
          </p15:clr>
        </p15:guide>
        <p15:guide id="13" orient="horz" pos="3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6B7D"/>
    <a:srgbClr val="0000FF"/>
    <a:srgbClr val="48C2BB"/>
    <a:srgbClr val="1F85A6"/>
    <a:srgbClr val="F1FDC3"/>
    <a:srgbClr val="9CC606"/>
    <a:srgbClr val="E2F6F1"/>
    <a:srgbClr val="F2F2F2"/>
    <a:srgbClr val="558ED5"/>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693" autoAdjust="0"/>
    <p:restoredTop sz="95332" autoAdjust="0"/>
  </p:normalViewPr>
  <p:slideViewPr>
    <p:cSldViewPr snapToGrid="0" snapToObjects="1" showGuides="1">
      <p:cViewPr>
        <p:scale>
          <a:sx n="107" d="100"/>
          <a:sy n="107" d="100"/>
        </p:scale>
        <p:origin x="1027" y="62"/>
      </p:cViewPr>
      <p:guideLst>
        <p:guide pos="5465"/>
        <p:guide orient="horz" pos="3320"/>
        <p:guide pos="317"/>
        <p:guide orient="horz" pos="553"/>
        <p:guide orient="horz" pos="349"/>
      </p:guideLst>
    </p:cSldViewPr>
  </p:slid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diagrams/_rels/data1.xml.rels><?xml version="1.0" encoding="UTF-8" standalone="yes"?>
<Relationships xmlns="http://schemas.openxmlformats.org/package/2006/relationships"><Relationship Id="rId1"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1"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DF8185-C706-4766-9957-A53B50B835DA}"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es-ES"/>
        </a:p>
      </dgm:t>
    </dgm:pt>
    <dgm:pt modelId="{37AB260B-69F5-42E8-8215-CC8FC36D3AC3}">
      <dgm:prSet phldrT="[Texto]"/>
      <dgm:spPr/>
      <dgm:t>
        <a:bodyPr/>
        <a:lstStyle/>
        <a:p>
          <a:r>
            <a:rPr lang="es-ES" spc="-10" dirty="0" smtClean="0">
              <a:solidFill>
                <a:srgbClr val="262626"/>
              </a:solidFill>
            </a:rPr>
            <a:t>Un objetivo de gobierno o gestión siempre está relacionado con un proceso (con un nombre idéntico o similar) y una serie de componentes relacionados de otros tipos para contribuir a lograr el objetivo. </a:t>
          </a:r>
          <a:endParaRPr lang="es-ES" dirty="0"/>
        </a:p>
      </dgm:t>
    </dgm:pt>
    <dgm:pt modelId="{0EC4F90A-B039-4275-80B0-802760740899}" type="parTrans" cxnId="{D817D984-9772-4A4B-BFAE-A1DF9257E9CA}">
      <dgm:prSet/>
      <dgm:spPr/>
      <dgm:t>
        <a:bodyPr/>
        <a:lstStyle/>
        <a:p>
          <a:endParaRPr lang="es-ES"/>
        </a:p>
      </dgm:t>
    </dgm:pt>
    <dgm:pt modelId="{AE11D76C-6A36-4CF9-9FE9-604F7636781D}" type="sibTrans" cxnId="{D817D984-9772-4A4B-BFAE-A1DF9257E9CA}">
      <dgm:prSet/>
      <dgm:spPr/>
      <dgm:t>
        <a:bodyPr/>
        <a:lstStyle/>
        <a:p>
          <a:endParaRPr lang="es-ES"/>
        </a:p>
      </dgm:t>
    </dgm:pt>
    <dgm:pt modelId="{A6E1B7C9-939B-4995-B3C0-B4F6A11232F4}">
      <dgm:prSet phldrT="[Texto]"/>
      <dgm:spPr/>
      <dgm:t>
        <a:bodyPr/>
        <a:lstStyle/>
        <a:p>
          <a:r>
            <a:rPr lang="es-ES" spc="-10" dirty="0" smtClean="0">
              <a:solidFill>
                <a:srgbClr val="262626"/>
              </a:solidFill>
            </a:rPr>
            <a:t>Un objetivo de gobierno está relacionado con un proceso de gobierno, mientras que un objetivo de gestión está relacionado con un proceso de gestión. </a:t>
          </a:r>
          <a:endParaRPr lang="es-ES" dirty="0"/>
        </a:p>
      </dgm:t>
    </dgm:pt>
    <dgm:pt modelId="{0D0B2B7D-C73E-4D89-A2C9-107700AAC51C}" type="parTrans" cxnId="{8BD3FC7F-431B-483F-9BFD-5EB6BBDFA70E}">
      <dgm:prSet/>
      <dgm:spPr/>
      <dgm:t>
        <a:bodyPr/>
        <a:lstStyle/>
        <a:p>
          <a:endParaRPr lang="es-ES"/>
        </a:p>
      </dgm:t>
    </dgm:pt>
    <dgm:pt modelId="{EB06713F-638F-48C3-B932-70B84F32892F}" type="sibTrans" cxnId="{8BD3FC7F-431B-483F-9BFD-5EB6BBDFA70E}">
      <dgm:prSet/>
      <dgm:spPr/>
      <dgm:t>
        <a:bodyPr/>
        <a:lstStyle/>
        <a:p>
          <a:endParaRPr lang="es-ES"/>
        </a:p>
      </dgm:t>
    </dgm:pt>
    <dgm:pt modelId="{377FC7DD-5E04-49C1-AC15-6E938B45AB9A}">
      <dgm:prSet phldrT="[Texto]"/>
      <dgm:spPr/>
      <dgm:t>
        <a:bodyPr/>
        <a:lstStyle/>
        <a:p>
          <a:r>
            <a:rPr lang="es-ES" spc="-10" dirty="0" smtClean="0">
              <a:solidFill>
                <a:srgbClr val="262626"/>
              </a:solidFill>
            </a:rPr>
            <a:t>La dirección ejecutiva suele ser responsable de los procesos de gobierno, mientras que los procesos de gestión pertenecen a la alta y media gerencia. </a:t>
          </a:r>
          <a:endParaRPr lang="es-ES" dirty="0"/>
        </a:p>
      </dgm:t>
    </dgm:pt>
    <dgm:pt modelId="{3D194754-5969-4068-8ACB-059A8E04A60B}" type="parTrans" cxnId="{BA5F7F0B-9191-482D-8BBF-5C15DD623B12}">
      <dgm:prSet/>
      <dgm:spPr/>
      <dgm:t>
        <a:bodyPr/>
        <a:lstStyle/>
        <a:p>
          <a:endParaRPr lang="es-ES"/>
        </a:p>
      </dgm:t>
    </dgm:pt>
    <dgm:pt modelId="{D74AAAE9-0797-44D6-BB1F-89BFEDA0C9BC}" type="sibTrans" cxnId="{BA5F7F0B-9191-482D-8BBF-5C15DD623B12}">
      <dgm:prSet/>
      <dgm:spPr/>
      <dgm:t>
        <a:bodyPr/>
        <a:lstStyle/>
        <a:p>
          <a:endParaRPr lang="es-ES"/>
        </a:p>
      </dgm:t>
    </dgm:pt>
    <dgm:pt modelId="{7D72A19B-B31B-4F4E-91AB-3352BAF4FE08}" type="pres">
      <dgm:prSet presAssocID="{C8DF8185-C706-4766-9957-A53B50B835DA}" presName="Name0" presStyleCnt="0">
        <dgm:presLayoutVars>
          <dgm:dir/>
          <dgm:resizeHandles val="exact"/>
        </dgm:presLayoutVars>
      </dgm:prSet>
      <dgm:spPr/>
    </dgm:pt>
    <dgm:pt modelId="{C822B015-35C9-486C-8105-591254DA63A8}" type="pres">
      <dgm:prSet presAssocID="{37AB260B-69F5-42E8-8215-CC8FC36D3AC3}" presName="composite" presStyleCnt="0"/>
      <dgm:spPr/>
    </dgm:pt>
    <dgm:pt modelId="{95B5D1DE-3FDC-4278-9954-26F749B1046B}" type="pres">
      <dgm:prSet presAssocID="{37AB260B-69F5-42E8-8215-CC8FC36D3AC3}" presName="rect1" presStyleLbl="trAlignAcc1" presStyleIdx="0" presStyleCnt="3">
        <dgm:presLayoutVars>
          <dgm:bulletEnabled val="1"/>
        </dgm:presLayoutVars>
      </dgm:prSet>
      <dgm:spPr/>
      <dgm:t>
        <a:bodyPr/>
        <a:lstStyle/>
        <a:p>
          <a:endParaRPr lang="es-ES"/>
        </a:p>
      </dgm:t>
    </dgm:pt>
    <dgm:pt modelId="{30DE7DFD-1668-47F9-AC77-63A5C7B69984}" type="pres">
      <dgm:prSet presAssocID="{37AB260B-69F5-42E8-8215-CC8FC36D3AC3}" presName="rect2" presStyleLbl="fgImgPlace1" presStyleIdx="0" presStyleCnt="3"/>
      <dgm:spPr>
        <a:blipFill rotWithShape="1">
          <a:blip xmlns:r="http://schemas.openxmlformats.org/officeDocument/2006/relationships" r:embed="rId1"/>
          <a:stretch>
            <a:fillRect/>
          </a:stretch>
        </a:blipFill>
      </dgm:spPr>
    </dgm:pt>
    <dgm:pt modelId="{D236B784-ECC5-4820-859E-A67F63C80B3D}" type="pres">
      <dgm:prSet presAssocID="{AE11D76C-6A36-4CF9-9FE9-604F7636781D}" presName="sibTrans" presStyleCnt="0"/>
      <dgm:spPr/>
    </dgm:pt>
    <dgm:pt modelId="{18CFCFBC-4178-4EB5-829D-C5CC4E2F11E6}" type="pres">
      <dgm:prSet presAssocID="{A6E1B7C9-939B-4995-B3C0-B4F6A11232F4}" presName="composite" presStyleCnt="0"/>
      <dgm:spPr/>
    </dgm:pt>
    <dgm:pt modelId="{1117F16B-D602-48A0-94DD-52DA7EE79BDC}" type="pres">
      <dgm:prSet presAssocID="{A6E1B7C9-939B-4995-B3C0-B4F6A11232F4}" presName="rect1" presStyleLbl="trAlignAcc1" presStyleIdx="1" presStyleCnt="3">
        <dgm:presLayoutVars>
          <dgm:bulletEnabled val="1"/>
        </dgm:presLayoutVars>
      </dgm:prSet>
      <dgm:spPr/>
      <dgm:t>
        <a:bodyPr/>
        <a:lstStyle/>
        <a:p>
          <a:endParaRPr lang="es-ES"/>
        </a:p>
      </dgm:t>
    </dgm:pt>
    <dgm:pt modelId="{DA6A0282-E8D6-4EDE-BEA0-FD48A9F74169}" type="pres">
      <dgm:prSet presAssocID="{A6E1B7C9-939B-4995-B3C0-B4F6A11232F4}" presName="rect2" presStyleLbl="fgImgPlace1" presStyleIdx="1" presStyleCnt="3"/>
      <dgm:spPr>
        <a:blipFill rotWithShape="1">
          <a:blip xmlns:r="http://schemas.openxmlformats.org/officeDocument/2006/relationships" r:embed="rId1"/>
          <a:stretch>
            <a:fillRect/>
          </a:stretch>
        </a:blipFill>
      </dgm:spPr>
    </dgm:pt>
    <dgm:pt modelId="{0F74D93E-8C07-4481-959A-1A7AF4F6724C}" type="pres">
      <dgm:prSet presAssocID="{EB06713F-638F-48C3-B932-70B84F32892F}" presName="sibTrans" presStyleCnt="0"/>
      <dgm:spPr/>
    </dgm:pt>
    <dgm:pt modelId="{FD62DF31-E802-4932-AA90-BDE9C64C86D6}" type="pres">
      <dgm:prSet presAssocID="{377FC7DD-5E04-49C1-AC15-6E938B45AB9A}" presName="composite" presStyleCnt="0"/>
      <dgm:spPr/>
    </dgm:pt>
    <dgm:pt modelId="{359C152A-7F89-4A19-B38E-FB663228F054}" type="pres">
      <dgm:prSet presAssocID="{377FC7DD-5E04-49C1-AC15-6E938B45AB9A}" presName="rect1" presStyleLbl="trAlignAcc1" presStyleIdx="2" presStyleCnt="3">
        <dgm:presLayoutVars>
          <dgm:bulletEnabled val="1"/>
        </dgm:presLayoutVars>
      </dgm:prSet>
      <dgm:spPr/>
      <dgm:t>
        <a:bodyPr/>
        <a:lstStyle/>
        <a:p>
          <a:endParaRPr lang="es-ES"/>
        </a:p>
      </dgm:t>
    </dgm:pt>
    <dgm:pt modelId="{08398636-E788-452C-BABA-6BC9CC9B0C1F}" type="pres">
      <dgm:prSet presAssocID="{377FC7DD-5E04-49C1-AC15-6E938B45AB9A}" presName="rect2" presStyleLbl="fgImgPlace1" presStyleIdx="2" presStyleCnt="3"/>
      <dgm:spPr>
        <a:blipFill rotWithShape="1">
          <a:blip xmlns:r="http://schemas.openxmlformats.org/officeDocument/2006/relationships" r:embed="rId1"/>
          <a:stretch>
            <a:fillRect/>
          </a:stretch>
        </a:blipFill>
      </dgm:spPr>
    </dgm:pt>
  </dgm:ptLst>
  <dgm:cxnLst>
    <dgm:cxn modelId="{8BD3FC7F-431B-483F-9BFD-5EB6BBDFA70E}" srcId="{C8DF8185-C706-4766-9957-A53B50B835DA}" destId="{A6E1B7C9-939B-4995-B3C0-B4F6A11232F4}" srcOrd="1" destOrd="0" parTransId="{0D0B2B7D-C73E-4D89-A2C9-107700AAC51C}" sibTransId="{EB06713F-638F-48C3-B932-70B84F32892F}"/>
    <dgm:cxn modelId="{AF3761E0-27A7-47DF-84F8-C13149F024E4}" type="presOf" srcId="{37AB260B-69F5-42E8-8215-CC8FC36D3AC3}" destId="{95B5D1DE-3FDC-4278-9954-26F749B1046B}" srcOrd="0" destOrd="0" presId="urn:microsoft.com/office/officeart/2008/layout/PictureStrips"/>
    <dgm:cxn modelId="{BC134E5E-1985-4C57-A743-329E1B6C1F82}" type="presOf" srcId="{C8DF8185-C706-4766-9957-A53B50B835DA}" destId="{7D72A19B-B31B-4F4E-91AB-3352BAF4FE08}" srcOrd="0" destOrd="0" presId="urn:microsoft.com/office/officeart/2008/layout/PictureStrips"/>
    <dgm:cxn modelId="{12E68E2A-5C1D-4A61-A7DC-725A117BE454}" type="presOf" srcId="{377FC7DD-5E04-49C1-AC15-6E938B45AB9A}" destId="{359C152A-7F89-4A19-B38E-FB663228F054}" srcOrd="0" destOrd="0" presId="urn:microsoft.com/office/officeart/2008/layout/PictureStrips"/>
    <dgm:cxn modelId="{BA5F7F0B-9191-482D-8BBF-5C15DD623B12}" srcId="{C8DF8185-C706-4766-9957-A53B50B835DA}" destId="{377FC7DD-5E04-49C1-AC15-6E938B45AB9A}" srcOrd="2" destOrd="0" parTransId="{3D194754-5969-4068-8ACB-059A8E04A60B}" sibTransId="{D74AAAE9-0797-44D6-BB1F-89BFEDA0C9BC}"/>
    <dgm:cxn modelId="{277949E1-F4E9-447C-AC67-4C031079E9C2}" type="presOf" srcId="{A6E1B7C9-939B-4995-B3C0-B4F6A11232F4}" destId="{1117F16B-D602-48A0-94DD-52DA7EE79BDC}" srcOrd="0" destOrd="0" presId="urn:microsoft.com/office/officeart/2008/layout/PictureStrips"/>
    <dgm:cxn modelId="{D817D984-9772-4A4B-BFAE-A1DF9257E9CA}" srcId="{C8DF8185-C706-4766-9957-A53B50B835DA}" destId="{37AB260B-69F5-42E8-8215-CC8FC36D3AC3}" srcOrd="0" destOrd="0" parTransId="{0EC4F90A-B039-4275-80B0-802760740899}" sibTransId="{AE11D76C-6A36-4CF9-9FE9-604F7636781D}"/>
    <dgm:cxn modelId="{770E0606-8F13-4402-B4C0-2E4F7816956E}" type="presParOf" srcId="{7D72A19B-B31B-4F4E-91AB-3352BAF4FE08}" destId="{C822B015-35C9-486C-8105-591254DA63A8}" srcOrd="0" destOrd="0" presId="urn:microsoft.com/office/officeart/2008/layout/PictureStrips"/>
    <dgm:cxn modelId="{FB839270-8CF4-424B-B212-D731069984A3}" type="presParOf" srcId="{C822B015-35C9-486C-8105-591254DA63A8}" destId="{95B5D1DE-3FDC-4278-9954-26F749B1046B}" srcOrd="0" destOrd="0" presId="urn:microsoft.com/office/officeart/2008/layout/PictureStrips"/>
    <dgm:cxn modelId="{6ECBFFF3-40EF-4C32-82C6-E388D5765566}" type="presParOf" srcId="{C822B015-35C9-486C-8105-591254DA63A8}" destId="{30DE7DFD-1668-47F9-AC77-63A5C7B69984}" srcOrd="1" destOrd="0" presId="urn:microsoft.com/office/officeart/2008/layout/PictureStrips"/>
    <dgm:cxn modelId="{0E5A60B3-5D9E-429F-A273-16F07561290A}" type="presParOf" srcId="{7D72A19B-B31B-4F4E-91AB-3352BAF4FE08}" destId="{D236B784-ECC5-4820-859E-A67F63C80B3D}" srcOrd="1" destOrd="0" presId="urn:microsoft.com/office/officeart/2008/layout/PictureStrips"/>
    <dgm:cxn modelId="{BD18347B-62D6-46F8-8010-288C9E346FD3}" type="presParOf" srcId="{7D72A19B-B31B-4F4E-91AB-3352BAF4FE08}" destId="{18CFCFBC-4178-4EB5-829D-C5CC4E2F11E6}" srcOrd="2" destOrd="0" presId="urn:microsoft.com/office/officeart/2008/layout/PictureStrips"/>
    <dgm:cxn modelId="{46D976C8-AEE7-4B54-8EB3-A0674204CAF5}" type="presParOf" srcId="{18CFCFBC-4178-4EB5-829D-C5CC4E2F11E6}" destId="{1117F16B-D602-48A0-94DD-52DA7EE79BDC}" srcOrd="0" destOrd="0" presId="urn:microsoft.com/office/officeart/2008/layout/PictureStrips"/>
    <dgm:cxn modelId="{C5152F7C-3CDF-4B7F-B066-0EBAEA0E2884}" type="presParOf" srcId="{18CFCFBC-4178-4EB5-829D-C5CC4E2F11E6}" destId="{DA6A0282-E8D6-4EDE-BEA0-FD48A9F74169}" srcOrd="1" destOrd="0" presId="urn:microsoft.com/office/officeart/2008/layout/PictureStrips"/>
    <dgm:cxn modelId="{7CB16316-C1EC-48BF-9FEF-6961B2B3027D}" type="presParOf" srcId="{7D72A19B-B31B-4F4E-91AB-3352BAF4FE08}" destId="{0F74D93E-8C07-4481-959A-1A7AF4F6724C}" srcOrd="3" destOrd="0" presId="urn:microsoft.com/office/officeart/2008/layout/PictureStrips"/>
    <dgm:cxn modelId="{4AC2A6BB-6F08-432A-842F-3BADB074EE4E}" type="presParOf" srcId="{7D72A19B-B31B-4F4E-91AB-3352BAF4FE08}" destId="{FD62DF31-E802-4932-AA90-BDE9C64C86D6}" srcOrd="4" destOrd="0" presId="urn:microsoft.com/office/officeart/2008/layout/PictureStrips"/>
    <dgm:cxn modelId="{08F181A8-33F8-41FE-AED9-5611A814820A}" type="presParOf" srcId="{FD62DF31-E802-4932-AA90-BDE9C64C86D6}" destId="{359C152A-7F89-4A19-B38E-FB663228F054}" srcOrd="0" destOrd="0" presId="urn:microsoft.com/office/officeart/2008/layout/PictureStrips"/>
    <dgm:cxn modelId="{A2AD049E-645B-4F30-9F44-C534AF30B571}" type="presParOf" srcId="{FD62DF31-E802-4932-AA90-BDE9C64C86D6}" destId="{08398636-E788-452C-BABA-6BC9CC9B0C1F}"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B5D1DE-3FDC-4278-9954-26F749B1046B}">
      <dsp:nvSpPr>
        <dsp:cNvPr id="0" name=""/>
        <dsp:cNvSpPr/>
      </dsp:nvSpPr>
      <dsp:spPr>
        <a:xfrm>
          <a:off x="150774" y="618612"/>
          <a:ext cx="3581310" cy="1119159"/>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58044" tIns="45720" rIns="45720" bIns="45720" numCol="1" spcCol="1270" anchor="ctr" anchorCtr="0">
          <a:noAutofit/>
        </a:bodyPr>
        <a:lstStyle/>
        <a:p>
          <a:pPr lvl="0" algn="l" defTabSz="533400">
            <a:lnSpc>
              <a:spcPct val="90000"/>
            </a:lnSpc>
            <a:spcBef>
              <a:spcPct val="0"/>
            </a:spcBef>
            <a:spcAft>
              <a:spcPct val="35000"/>
            </a:spcAft>
          </a:pPr>
          <a:r>
            <a:rPr lang="es-ES" sz="1200" kern="1200" spc="-10" dirty="0" smtClean="0">
              <a:solidFill>
                <a:srgbClr val="262626"/>
              </a:solidFill>
            </a:rPr>
            <a:t>Un objetivo de gobierno o gestión siempre está relacionado con un proceso (con un nombre idéntico o similar) y una serie de componentes relacionados de otros tipos para contribuir a lograr el objetivo. </a:t>
          </a:r>
          <a:endParaRPr lang="es-ES" sz="1200" kern="1200" dirty="0"/>
        </a:p>
      </dsp:txBody>
      <dsp:txXfrm>
        <a:off x="150774" y="618612"/>
        <a:ext cx="3581310" cy="1119159"/>
      </dsp:txXfrm>
    </dsp:sp>
    <dsp:sp modelId="{30DE7DFD-1668-47F9-AC77-63A5C7B69984}">
      <dsp:nvSpPr>
        <dsp:cNvPr id="0" name=""/>
        <dsp:cNvSpPr/>
      </dsp:nvSpPr>
      <dsp:spPr>
        <a:xfrm>
          <a:off x="1553" y="456956"/>
          <a:ext cx="783411" cy="1175117"/>
        </a:xfrm>
        <a:prstGeom prst="rect">
          <a:avLst/>
        </a:prstGeom>
        <a:blipFill rotWithShape="1">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117F16B-D602-48A0-94DD-52DA7EE79BDC}">
      <dsp:nvSpPr>
        <dsp:cNvPr id="0" name=""/>
        <dsp:cNvSpPr/>
      </dsp:nvSpPr>
      <dsp:spPr>
        <a:xfrm>
          <a:off x="4057264" y="618612"/>
          <a:ext cx="3581310" cy="1119159"/>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58044" tIns="45720" rIns="45720" bIns="45720" numCol="1" spcCol="1270" anchor="ctr" anchorCtr="0">
          <a:noAutofit/>
        </a:bodyPr>
        <a:lstStyle/>
        <a:p>
          <a:pPr lvl="0" algn="l" defTabSz="533400">
            <a:lnSpc>
              <a:spcPct val="90000"/>
            </a:lnSpc>
            <a:spcBef>
              <a:spcPct val="0"/>
            </a:spcBef>
            <a:spcAft>
              <a:spcPct val="35000"/>
            </a:spcAft>
          </a:pPr>
          <a:r>
            <a:rPr lang="es-ES" sz="1200" kern="1200" spc="-10" dirty="0" smtClean="0">
              <a:solidFill>
                <a:srgbClr val="262626"/>
              </a:solidFill>
            </a:rPr>
            <a:t>Un objetivo de gobierno está relacionado con un proceso de gobierno, mientras que un objetivo de gestión está relacionado con un proceso de gestión. </a:t>
          </a:r>
          <a:endParaRPr lang="es-ES" sz="1200" kern="1200" dirty="0"/>
        </a:p>
      </dsp:txBody>
      <dsp:txXfrm>
        <a:off x="4057264" y="618612"/>
        <a:ext cx="3581310" cy="1119159"/>
      </dsp:txXfrm>
    </dsp:sp>
    <dsp:sp modelId="{DA6A0282-E8D6-4EDE-BEA0-FD48A9F74169}">
      <dsp:nvSpPr>
        <dsp:cNvPr id="0" name=""/>
        <dsp:cNvSpPr/>
      </dsp:nvSpPr>
      <dsp:spPr>
        <a:xfrm>
          <a:off x="3908043" y="456956"/>
          <a:ext cx="783411" cy="1175117"/>
        </a:xfrm>
        <a:prstGeom prst="rect">
          <a:avLst/>
        </a:prstGeom>
        <a:blipFill rotWithShape="1">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9C152A-7F89-4A19-B38E-FB663228F054}">
      <dsp:nvSpPr>
        <dsp:cNvPr id="0" name=""/>
        <dsp:cNvSpPr/>
      </dsp:nvSpPr>
      <dsp:spPr>
        <a:xfrm>
          <a:off x="2104019" y="2027510"/>
          <a:ext cx="3581310" cy="1119159"/>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58044" tIns="45720" rIns="45720" bIns="45720" numCol="1" spcCol="1270" anchor="ctr" anchorCtr="0">
          <a:noAutofit/>
        </a:bodyPr>
        <a:lstStyle/>
        <a:p>
          <a:pPr lvl="0" algn="l" defTabSz="533400">
            <a:lnSpc>
              <a:spcPct val="90000"/>
            </a:lnSpc>
            <a:spcBef>
              <a:spcPct val="0"/>
            </a:spcBef>
            <a:spcAft>
              <a:spcPct val="35000"/>
            </a:spcAft>
          </a:pPr>
          <a:r>
            <a:rPr lang="es-ES" sz="1200" kern="1200" spc="-10" dirty="0" smtClean="0">
              <a:solidFill>
                <a:srgbClr val="262626"/>
              </a:solidFill>
            </a:rPr>
            <a:t>La dirección ejecutiva suele ser responsable de los procesos de gobierno, mientras que los procesos de gestión pertenecen a la alta y media gerencia. </a:t>
          </a:r>
          <a:endParaRPr lang="es-ES" sz="1200" kern="1200" dirty="0"/>
        </a:p>
      </dsp:txBody>
      <dsp:txXfrm>
        <a:off x="2104019" y="2027510"/>
        <a:ext cx="3581310" cy="1119159"/>
      </dsp:txXfrm>
    </dsp:sp>
    <dsp:sp modelId="{08398636-E788-452C-BABA-6BC9CC9B0C1F}">
      <dsp:nvSpPr>
        <dsp:cNvPr id="0" name=""/>
        <dsp:cNvSpPr/>
      </dsp:nvSpPr>
      <dsp:spPr>
        <a:xfrm>
          <a:off x="1954798" y="1865853"/>
          <a:ext cx="783411" cy="1175117"/>
        </a:xfrm>
        <a:prstGeom prst="rect">
          <a:avLst/>
        </a:prstGeom>
        <a:blipFill rotWithShape="1">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10/05/2022</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10/05/2022</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113846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432804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4058305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1508792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877705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2949498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2149881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4121139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ES" sz="1200" b="0" i="0" u="none" strike="noStrike" baseline="0" dirty="0" smtClean="0">
                <a:solidFill>
                  <a:srgbClr val="000000"/>
                </a:solidFill>
                <a:latin typeface="JIKLE B+ Times New Roman PSMT"/>
              </a:rPr>
              <a:t>La figura </a:t>
            </a:r>
            <a:r>
              <a:rPr lang="es-ES" sz="1200" b="0" i="0" u="none" strike="noStrike" baseline="0" dirty="0" smtClean="0">
                <a:solidFill>
                  <a:srgbClr val="000000"/>
                </a:solidFill>
                <a:latin typeface="JIJNO O+ Times New Roman PSMT"/>
              </a:rPr>
              <a:t>muestra una visión general de COBIT® 2019 e ilustra cómo las distintas publicaciones de la serie cubren distintos aspectos. </a:t>
            </a:r>
            <a:br>
              <a:rPr lang="es-ES" sz="1200" b="0" i="0" u="none" strike="noStrike" baseline="0" dirty="0" smtClean="0">
                <a:solidFill>
                  <a:srgbClr val="000000"/>
                </a:solidFill>
                <a:latin typeface="JIJNO O+ Times New Roman PSMT"/>
              </a:rPr>
            </a:br>
            <a:endParaRPr lang="es-PE" sz="1200" b="0" i="0" u="none" strike="noStrike" baseline="0" dirty="0" smtClean="0">
              <a:solidFill>
                <a:srgbClr val="000000"/>
              </a:solidFill>
              <a:latin typeface="JIKMI E+ Times New Roman PSMT"/>
            </a:endParaRPr>
          </a:p>
          <a:p>
            <a:r>
              <a:rPr lang="es-ES" sz="1200" b="1" i="0" u="none" strike="noStrike" kern="1200" baseline="0" dirty="0" smtClean="0">
                <a:solidFill>
                  <a:srgbClr val="000000"/>
                </a:solidFill>
                <a:latin typeface="JIKLE B+ Times New Roman PSMT"/>
                <a:ea typeface="+mn-ea"/>
                <a:cs typeface="+mn-cs"/>
              </a:rPr>
              <a:t>- El Marco de referencia COBIT® 2019: </a:t>
            </a:r>
            <a:r>
              <a:rPr lang="es-ES" sz="1200" b="0" i="0" u="none" strike="noStrike" kern="1200" baseline="0" dirty="0" smtClean="0">
                <a:solidFill>
                  <a:srgbClr val="000000"/>
                </a:solidFill>
                <a:latin typeface="JIKLE B+ Times New Roman PSMT"/>
                <a:ea typeface="+mn-ea"/>
                <a:cs typeface="+mn-cs"/>
              </a:rPr>
              <a:t>Introducción y metodología, presenta los conceptos clave de COBIT® 2019. </a:t>
            </a:r>
          </a:p>
          <a:p>
            <a:r>
              <a:rPr lang="es-ES" sz="1200" b="1" i="0" u="none" strike="noStrike" kern="1200" baseline="0" dirty="0" smtClean="0">
                <a:solidFill>
                  <a:srgbClr val="000000"/>
                </a:solidFill>
                <a:latin typeface="JIKLE B+ Times New Roman PSMT"/>
                <a:ea typeface="+mn-ea"/>
                <a:cs typeface="+mn-cs"/>
              </a:rPr>
              <a:t>- El Marco de referencia COBIT® 2019: </a:t>
            </a:r>
            <a:r>
              <a:rPr lang="es-ES" sz="1200" b="0" i="0" u="none" strike="noStrike" kern="1200" baseline="0" dirty="0" smtClean="0">
                <a:solidFill>
                  <a:srgbClr val="000000"/>
                </a:solidFill>
                <a:latin typeface="JIKLE B+ Times New Roman PSMT"/>
                <a:ea typeface="+mn-ea"/>
                <a:cs typeface="+mn-cs"/>
              </a:rPr>
              <a:t>Objetivos de gobierno y gestión describe de forma exhaustiva los 40 objetivos principales del gobierno y la gestión, los procesos incluidos en ellos y otros componentes relacionados. Esta guía también hace referencia a otros estándares y marcos. </a:t>
            </a:r>
          </a:p>
          <a:p>
            <a:r>
              <a:rPr lang="es-ES" sz="1200" b="1" i="0" u="none" strike="noStrike" kern="1200" baseline="0" dirty="0" smtClean="0">
                <a:solidFill>
                  <a:srgbClr val="000000"/>
                </a:solidFill>
                <a:latin typeface="JIKLE B+ Times New Roman PSMT"/>
                <a:ea typeface="+mn-ea"/>
                <a:cs typeface="+mn-cs"/>
              </a:rPr>
              <a:t>- La Guía de diseño COBIT® 2019: </a:t>
            </a:r>
            <a:r>
              <a:rPr lang="es-ES" sz="1200" b="0" i="0" u="none" strike="noStrike" kern="1200" baseline="0" dirty="0" smtClean="0">
                <a:solidFill>
                  <a:srgbClr val="000000"/>
                </a:solidFill>
                <a:latin typeface="JIKLE B+ Times New Roman PSMT"/>
                <a:ea typeface="+mn-ea"/>
                <a:cs typeface="+mn-cs"/>
              </a:rPr>
              <a:t>Diseño de una solución de Gobierno de Información y Tecnología explora los factores de diseño que pueden influir en el gobierno e incluye un flujo de trabajo para la planificación de un sistema de gobierno personalizado para la empresa. </a:t>
            </a:r>
          </a:p>
          <a:p>
            <a:r>
              <a:rPr lang="es-ES" sz="1200" b="1" i="0" u="none" strike="noStrike" kern="1200" baseline="0" dirty="0" smtClean="0">
                <a:solidFill>
                  <a:srgbClr val="000000"/>
                </a:solidFill>
                <a:latin typeface="JIKLE B+ Times New Roman PSMT"/>
                <a:ea typeface="+mn-ea"/>
                <a:cs typeface="+mn-cs"/>
              </a:rPr>
              <a:t>- La Guía de implementación de COBIT® 2019: </a:t>
            </a:r>
            <a:r>
              <a:rPr lang="es-ES" sz="1200" b="0" i="0" u="none" strike="noStrike" kern="1200" baseline="0" dirty="0" smtClean="0">
                <a:solidFill>
                  <a:srgbClr val="000000"/>
                </a:solidFill>
                <a:latin typeface="JIKLE B+ Times New Roman PSMT"/>
                <a:ea typeface="+mn-ea"/>
                <a:cs typeface="+mn-cs"/>
              </a:rPr>
              <a:t>Implementación y optimización de una solución de gobierno de </a:t>
            </a:r>
            <a:r>
              <a:rPr lang="es-ES" sz="1200" b="0" i="0" u="none" strike="noStrike" kern="1200" baseline="0" dirty="0" smtClean="0">
                <a:solidFill>
                  <a:srgbClr val="000000"/>
                </a:solidFill>
                <a:latin typeface="JIKLE B+ Times New Roman PSMT"/>
                <a:ea typeface="+mn-ea"/>
                <a:cs typeface="+mn-cs"/>
              </a:rPr>
              <a:t>información </a:t>
            </a:r>
            <a:r>
              <a:rPr lang="es-ES" sz="1200" b="0" i="0" u="none" strike="noStrike" kern="1200" baseline="0" dirty="0" smtClean="0">
                <a:solidFill>
                  <a:srgbClr val="000000"/>
                </a:solidFill>
                <a:latin typeface="JIKLE B+ Times New Roman PSMT"/>
                <a:ea typeface="+mn-ea"/>
                <a:cs typeface="+mn-cs"/>
              </a:rPr>
              <a:t>y </a:t>
            </a:r>
            <a:r>
              <a:rPr lang="es-ES" sz="1200" b="0" i="0" u="none" strike="noStrike" kern="1200" baseline="0" dirty="0" smtClean="0">
                <a:solidFill>
                  <a:srgbClr val="000000"/>
                </a:solidFill>
                <a:latin typeface="JIKLE B+ Times New Roman PSMT"/>
                <a:ea typeface="+mn-ea"/>
                <a:cs typeface="+mn-cs"/>
              </a:rPr>
              <a:t>tecnología </a:t>
            </a:r>
            <a:r>
              <a:rPr lang="es-ES" sz="1200" b="0" i="0" u="none" strike="noStrike" kern="1200" baseline="0" dirty="0" smtClean="0">
                <a:solidFill>
                  <a:srgbClr val="000000"/>
                </a:solidFill>
                <a:latin typeface="JIKLE B+ Times New Roman PSMT"/>
                <a:ea typeface="+mn-ea"/>
                <a:cs typeface="+mn-cs"/>
              </a:rPr>
              <a:t>representa una evolución de la Guía de implementación COBIT® 5 y desarrolla una hoja de ruta para la mejora continua del gobierno. Puede usarse en combinación con la Guía de diseño COBIT® 2019. </a:t>
            </a: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3174497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25480214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smtClean="0">
                <a:latin typeface="Arial" panose="020B0604020202020204" pitchFamily="34" charset="0"/>
                <a:cs typeface="Arial" panose="020B0604020202020204" pitchFamily="34" charset="0"/>
              </a:rPr>
              <a:t>En la siguiente figura encontramos toda la trayectoria que ha tenido en el tiempo COBIT desde su creación en el año 1996 brindando el producto de COBIT (1), hasta la versión actual COBIT 2019.</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2472730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37371475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32698414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3476374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4195520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0" i="0" dirty="0" smtClean="0">
                <a:solidFill>
                  <a:srgbClr val="616161"/>
                </a:solidFill>
                <a:effectLst/>
                <a:latin typeface="Verdana" panose="020B0604030504040204" pitchFamily="34" charset="0"/>
              </a:rPr>
              <a:t>El marco de COBIT 2019 propone el modelo CORE de COBIT 2019  que está conformado por 40 objetivos de gobierno y gestión, de los cuales 5 son de gobierno y el resto (35) son de gestión.</a:t>
            </a:r>
            <a:endParaRPr lang="es-PE" dirty="0" smtClean="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176177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0" i="0" dirty="0" smtClean="0">
                <a:solidFill>
                  <a:srgbClr val="616161"/>
                </a:solidFill>
                <a:effectLst/>
                <a:latin typeface="Verdana" panose="020B0604030504040204" pitchFamily="34" charset="0"/>
              </a:rPr>
              <a:t>Los objetivos de gobierno y gestión del modelo CORE de COBIT 2019 se agrupan en cinco dominios: el primer dominio (EDM) agrupa los objetivos de gobierno, y los objetivos de gestión se agrupan en cuatro dominios (APO, BAI, DSS, y MEA).</a:t>
            </a:r>
            <a:endParaRPr lang="es-PE" dirty="0" smtClean="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9481453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34486790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8630929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85750" indent="-285750">
              <a:buFont typeface="Wingdings" panose="05000000000000000000" pitchFamily="2" charset="2"/>
              <a:buChar char="§"/>
            </a:pPr>
            <a:r>
              <a:rPr lang="es-ES" sz="1200" b="1" i="0" u="none" strike="noStrike" baseline="0" dirty="0" smtClean="0">
                <a:solidFill>
                  <a:srgbClr val="000000"/>
                </a:solidFill>
                <a:latin typeface="JIKLE B+ Times New Roman PSMT"/>
              </a:rPr>
              <a:t>Los procesos </a:t>
            </a:r>
            <a:r>
              <a:rPr lang="es-ES" sz="1200" b="0" i="0" u="none" strike="noStrike" baseline="0" dirty="0" smtClean="0">
                <a:solidFill>
                  <a:srgbClr val="000000"/>
                </a:solidFill>
                <a:latin typeface="JIJNO O+ Times New Roman PSMT"/>
              </a:rPr>
              <a:t>describen una serie de prácticas y actividades organizadas para lograr determinados objetivos y producir una serie de resultados que contribuyan a la consecución de la totalidad de los objetivos relacionados con las TI. </a:t>
            </a:r>
          </a:p>
          <a:p>
            <a:pPr marL="285750" indent="-285750">
              <a:buFont typeface="Wingdings" panose="05000000000000000000" pitchFamily="2" charset="2"/>
              <a:buChar char="§"/>
            </a:pPr>
            <a:r>
              <a:rPr lang="es-ES" sz="1200" b="1" i="0" u="none" strike="noStrike" baseline="0" dirty="0" smtClean="0">
                <a:solidFill>
                  <a:srgbClr val="000000"/>
                </a:solidFill>
                <a:latin typeface="JIKLE B+ Times New Roman PSMT"/>
              </a:rPr>
              <a:t>Las estructuras organizativas </a:t>
            </a:r>
            <a:r>
              <a:rPr lang="es-ES" sz="1200" b="0" i="0" u="none" strike="noStrike" baseline="0" dirty="0" smtClean="0">
                <a:solidFill>
                  <a:srgbClr val="000000"/>
                </a:solidFill>
                <a:latin typeface="JIJNO O+ Times New Roman PSMT"/>
              </a:rPr>
              <a:t>son las entidades clave de toma de decisiones en una empresa. </a:t>
            </a:r>
          </a:p>
          <a:p>
            <a:pPr marL="285750" indent="-285750">
              <a:buFont typeface="Wingdings" panose="05000000000000000000" pitchFamily="2" charset="2"/>
              <a:buChar char="§"/>
            </a:pPr>
            <a:r>
              <a:rPr lang="es-ES" sz="1200" b="1" i="0" u="none" strike="noStrike" baseline="0" dirty="0" smtClean="0">
                <a:solidFill>
                  <a:srgbClr val="000000"/>
                </a:solidFill>
                <a:latin typeface="JIKLE B+ Times New Roman PSMT"/>
              </a:rPr>
              <a:t>Los principios, las políticas y los marcos </a:t>
            </a:r>
            <a:r>
              <a:rPr lang="es-ES" sz="1200" b="0" i="0" u="none" strike="noStrike" baseline="0" dirty="0" smtClean="0">
                <a:solidFill>
                  <a:srgbClr val="000000"/>
                </a:solidFill>
                <a:latin typeface="JIJNO O+ Times New Roman PSMT"/>
              </a:rPr>
              <a:t>convierten el comportamiento deseado en orientación práctica para la gestión del día a día. </a:t>
            </a:r>
          </a:p>
          <a:p>
            <a:pPr marL="285750" indent="-285750">
              <a:buFont typeface="Wingdings" panose="05000000000000000000" pitchFamily="2" charset="2"/>
              <a:buChar char="§"/>
            </a:pPr>
            <a:r>
              <a:rPr lang="es-ES" sz="1200" b="1" i="0" u="none" strike="noStrike" baseline="0" dirty="0" smtClean="0">
                <a:solidFill>
                  <a:srgbClr val="000000"/>
                </a:solidFill>
                <a:latin typeface="JIKLE B+ Times New Roman PSMT"/>
              </a:rPr>
              <a:t>La información </a:t>
            </a:r>
            <a:r>
              <a:rPr lang="es-ES" sz="1200" b="0" i="0" u="none" strike="noStrike" baseline="0" dirty="0" smtClean="0">
                <a:solidFill>
                  <a:srgbClr val="000000"/>
                </a:solidFill>
                <a:latin typeface="JIJNO O+ Times New Roman PSMT"/>
              </a:rPr>
              <a:t>es generalizada a lo largo de cualquier organización e incluye toda la información producida y utilizada por la empresa. COBIT se centra en la información requerida para el funcionamiento eficaz del sistema de gobierno de la empresa. </a:t>
            </a:r>
            <a:endParaRPr lang="es-PE" sz="1200" b="0" i="0" u="none" strike="noStrike" baseline="0" dirty="0" smtClean="0">
              <a:solidFill>
                <a:srgbClr val="000000"/>
              </a:solidFill>
              <a:latin typeface="JIKLE B+ Times New Roman PSMT"/>
            </a:endParaRPr>
          </a:p>
          <a:p>
            <a:pPr marL="285750" indent="-285750">
              <a:buFont typeface="Wingdings" panose="05000000000000000000" pitchFamily="2" charset="2"/>
              <a:buChar char="§"/>
            </a:pPr>
            <a:r>
              <a:rPr lang="es-ES" sz="1200" b="1" i="0" u="none" strike="noStrike" baseline="0" dirty="0" smtClean="0">
                <a:solidFill>
                  <a:srgbClr val="000000"/>
                </a:solidFill>
                <a:latin typeface="JIKLE B+ Times New Roman PSMT"/>
              </a:rPr>
              <a:t>La cultura, la ética y el comportamiento </a:t>
            </a:r>
            <a:r>
              <a:rPr lang="es-ES" sz="1200" b="0" i="0" u="none" strike="noStrike" baseline="0" dirty="0" smtClean="0">
                <a:solidFill>
                  <a:srgbClr val="000000"/>
                </a:solidFill>
                <a:latin typeface="JIJNO O+ Times New Roman PSMT"/>
              </a:rPr>
              <a:t>de los individuos y de la empresa, a menudo, </a:t>
            </a:r>
            <a:r>
              <a:rPr lang="es-ES" sz="1200" b="0" i="0" u="none" strike="noStrike" baseline="0" dirty="0" smtClean="0">
                <a:solidFill>
                  <a:srgbClr val="000000"/>
                </a:solidFill>
                <a:latin typeface="JIJNO O+ Times New Roman PSMT"/>
              </a:rPr>
              <a:t>son </a:t>
            </a:r>
            <a:r>
              <a:rPr lang="es-ES" sz="1200" b="0" i="0" u="none" strike="noStrike" baseline="0" dirty="0" smtClean="0">
                <a:solidFill>
                  <a:srgbClr val="000000"/>
                </a:solidFill>
                <a:latin typeface="JIJNO O+ Times New Roman PSMT"/>
              </a:rPr>
              <a:t>subestimados como un factor de éxito de las actividades de gobierno y gestión. </a:t>
            </a:r>
          </a:p>
          <a:p>
            <a:pPr marL="285750" indent="-285750">
              <a:buFont typeface="Wingdings" panose="05000000000000000000" pitchFamily="2" charset="2"/>
              <a:buChar char="§"/>
            </a:pPr>
            <a:r>
              <a:rPr lang="es-ES" sz="1200" b="1" i="0" u="none" strike="noStrike" baseline="0" dirty="0" smtClean="0">
                <a:solidFill>
                  <a:srgbClr val="000000"/>
                </a:solidFill>
                <a:latin typeface="JIKLE B+ Times New Roman PSMT"/>
              </a:rPr>
              <a:t>Las personas, las habilidades y las competencias </a:t>
            </a:r>
            <a:r>
              <a:rPr lang="es-ES" sz="1200" b="0" i="0" u="none" strike="noStrike" baseline="0" dirty="0" smtClean="0">
                <a:solidFill>
                  <a:srgbClr val="000000"/>
                </a:solidFill>
                <a:latin typeface="JIJNO O+ Times New Roman PSMT"/>
              </a:rPr>
              <a:t>son necesarias para tomar buenas decisiones, ejecutar acciones correctivas y completar satisfactoriamente todas las actividades. </a:t>
            </a:r>
          </a:p>
          <a:p>
            <a:pPr marL="285750" indent="-285750">
              <a:buFont typeface="Wingdings" panose="05000000000000000000" pitchFamily="2" charset="2"/>
              <a:buChar char="§"/>
            </a:pPr>
            <a:r>
              <a:rPr lang="es-ES" sz="1200" b="1" i="0" u="none" strike="noStrike" baseline="0" dirty="0" smtClean="0">
                <a:solidFill>
                  <a:srgbClr val="000000"/>
                </a:solidFill>
                <a:latin typeface="JIKLE B+ Times New Roman PSMT"/>
              </a:rPr>
              <a:t>Los servicios, la infraestructura y las aplicaciones </a:t>
            </a:r>
            <a:r>
              <a:rPr lang="es-ES" sz="1200" b="0" i="0" u="none" strike="noStrike" baseline="0" dirty="0" smtClean="0">
                <a:solidFill>
                  <a:srgbClr val="000000"/>
                </a:solidFill>
                <a:latin typeface="JIJNO O+ Times New Roman PSMT"/>
              </a:rPr>
              <a:t>incluyen la infraestructura, la tecnología y las aplicaciones que brindan a la empresa un sistema de gobierno para el procesamiento de I&amp;T. </a:t>
            </a:r>
            <a:endParaRPr lang="es-PE" sz="1200" b="0" i="0" u="none" strike="noStrike" baseline="0" dirty="0" smtClean="0">
              <a:solidFill>
                <a:srgbClr val="000000"/>
              </a:solidFill>
              <a:latin typeface="JIJNO O+ Times New Roman PSMT"/>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12271306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4506174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smtClean="0">
                <a:latin typeface="Arial" panose="020B0604020202020204" pitchFamily="34" charset="0"/>
                <a:cs typeface="Arial" panose="020B0604020202020204" pitchFamily="34" charset="0"/>
              </a:rPr>
              <a:t>Quedaron atrás las publicaciones del marco de COBIT 5, actualmente tenemos las publicaciones de COBIT 2019 que están disponibles por parte de ISACA: https://www.isaca.org/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34494073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4316767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2652553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25056760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10403949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40311565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69192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31805767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dirty="0" smtClean="0">
                <a:latin typeface="Arial" panose="020B0604020202020204" pitchFamily="34" charset="0"/>
                <a:cs typeface="Arial" panose="020B0604020202020204" pitchFamily="34" charset="0"/>
              </a:rPr>
              <a:t>La siguiente figura muestra las opciones que tienen los profesionales actualmente para poder certificarse internacionalmente en COBIT 2019</a:t>
            </a: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11660897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10997246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31123093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3141670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14317707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1153732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B">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22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ema - 2 Imágenes">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69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ema - Imagen Gigan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6956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944054" y="5369051"/>
            <a:ext cx="7804380" cy="215444"/>
            <a:chOff x="944054" y="5369051"/>
            <a:chExt cx="7804380" cy="215444"/>
          </a:xfrm>
        </p:grpSpPr>
        <p:sp>
          <p:nvSpPr>
            <p:cNvPr id="16" name="TextBox 7"/>
            <p:cNvSpPr txBox="1"/>
            <p:nvPr userDrawn="1"/>
          </p:nvSpPr>
          <p:spPr>
            <a:xfrm>
              <a:off x="944054" y="5369051"/>
              <a:ext cx="2499402" cy="215444"/>
            </a:xfrm>
            <a:prstGeom prst="rect">
              <a:avLst/>
            </a:prstGeom>
            <a:noFill/>
          </p:spPr>
          <p:txBody>
            <a:bodyPr wrap="none" rtlCol="0">
              <a:spAutoFit/>
            </a:bodyPr>
            <a:lstStyle/>
            <a:p>
              <a:r>
                <a:rPr lang="en-US" sz="800" kern="1200" dirty="0" smtClean="0">
                  <a:solidFill>
                    <a:schemeClr val="bg1">
                      <a:lumMod val="50000"/>
                    </a:schemeClr>
                  </a:solidFill>
                  <a:latin typeface="Calibri"/>
                  <a:ea typeface="+mn-ea"/>
                  <a:cs typeface="Calibri"/>
                  <a:sym typeface="Wingdings"/>
                </a:rPr>
                <a:t>SISTEMAS DE CONTROL Y GOBIERNO DE TI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a:t>
              </a:r>
              <a:r>
                <a:rPr lang="en-US" sz="800" kern="1200" dirty="0" smtClean="0">
                  <a:solidFill>
                    <a:schemeClr val="bg1">
                      <a:lumMod val="50000"/>
                    </a:schemeClr>
                  </a:solidFill>
                  <a:latin typeface="Calibri"/>
                  <a:ea typeface="+mn-ea"/>
                  <a:cs typeface="Calibri"/>
                  <a:sym typeface="Wingdings"/>
                </a:rPr>
                <a:t>05</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2020 ISIL. Todos los derechos reservados</a:t>
              </a:r>
            </a:p>
          </p:txBody>
        </p:sp>
      </p:grpSp>
      <p:pic>
        <p:nvPicPr>
          <p:cNvPr id="3" name="Imagen 2"/>
          <p:cNvPicPr>
            <a:picLocks noChangeAspect="1"/>
          </p:cNvPicPr>
          <p:nvPr userDrawn="1"/>
        </p:nvPicPr>
        <p:blipFill>
          <a:blip r:embed="rId11">
            <a:alphaModFix amt="20000"/>
          </a:blip>
          <a:stretch>
            <a:fillRect/>
          </a:stretch>
        </p:blipFill>
        <p:spPr>
          <a:xfrm>
            <a:off x="495300"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60" r:id="rId4"/>
    <p:sldLayoutId id="2147483657" r:id="rId5"/>
    <p:sldLayoutId id="2147483658" r:id="rId6"/>
    <p:sldLayoutId id="2147483661" r:id="rId7"/>
    <p:sldLayoutId id="2147483659" r:id="rId8"/>
    <p:sldLayoutId id="2147483662"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5" name="CuadroTexto 4"/>
          <p:cNvSpPr txBox="1"/>
          <p:nvPr/>
        </p:nvSpPr>
        <p:spPr>
          <a:xfrm>
            <a:off x="417646" y="398388"/>
            <a:ext cx="873152" cy="369332"/>
          </a:xfrm>
          <a:prstGeom prst="rect">
            <a:avLst/>
          </a:prstGeom>
          <a:noFill/>
        </p:spPr>
        <p:txBody>
          <a:bodyPr wrap="square" rtlCol="0">
            <a:spAutoFit/>
          </a:bodyPr>
          <a:lstStyle/>
          <a:p>
            <a:r>
              <a:rPr lang="es-ES" dirty="0">
                <a:solidFill>
                  <a:schemeClr val="bg1"/>
                </a:solidFill>
              </a:rPr>
              <a:t>SESIÓN</a:t>
            </a:r>
          </a:p>
        </p:txBody>
      </p:sp>
      <p:sp>
        <p:nvSpPr>
          <p:cNvPr id="6" name="CuadroTexto 5"/>
          <p:cNvSpPr txBox="1"/>
          <p:nvPr/>
        </p:nvSpPr>
        <p:spPr>
          <a:xfrm>
            <a:off x="380422" y="475914"/>
            <a:ext cx="964250" cy="1015663"/>
          </a:xfrm>
          <a:prstGeom prst="rect">
            <a:avLst/>
          </a:prstGeom>
          <a:noFill/>
        </p:spPr>
        <p:txBody>
          <a:bodyPr wrap="square" rtlCol="0">
            <a:spAutoFit/>
          </a:bodyPr>
          <a:lstStyle/>
          <a:p>
            <a:r>
              <a:rPr lang="es-ES" sz="5800" dirty="0">
                <a:solidFill>
                  <a:srgbClr val="FFFFFF"/>
                </a:solidFill>
              </a:rPr>
              <a:t>05</a:t>
            </a:r>
          </a:p>
        </p:txBody>
      </p:sp>
      <p:sp>
        <p:nvSpPr>
          <p:cNvPr id="14" name="CuadroTexto 13"/>
          <p:cNvSpPr txBox="1"/>
          <p:nvPr/>
        </p:nvSpPr>
        <p:spPr>
          <a:xfrm>
            <a:off x="1493096" y="589945"/>
            <a:ext cx="7233258" cy="698012"/>
          </a:xfrm>
          <a:prstGeom prst="rect">
            <a:avLst/>
          </a:prstGeom>
          <a:noFill/>
        </p:spPr>
        <p:txBody>
          <a:bodyPr wrap="square" rtlCol="0">
            <a:spAutoFit/>
          </a:bodyPr>
          <a:lstStyle/>
          <a:p>
            <a:pPr>
              <a:lnSpc>
                <a:spcPct val="80000"/>
              </a:lnSpc>
            </a:pPr>
            <a:r>
              <a:rPr lang="es-ES" sz="4800" b="1" dirty="0">
                <a:solidFill>
                  <a:srgbClr val="FFFFFF"/>
                </a:solidFill>
              </a:rPr>
              <a:t>COBIT 2019</a:t>
            </a:r>
          </a:p>
        </p:txBody>
      </p:sp>
      <p:sp>
        <p:nvSpPr>
          <p:cNvPr id="15" name="CuadroTexto 14"/>
          <p:cNvSpPr txBox="1"/>
          <p:nvPr/>
        </p:nvSpPr>
        <p:spPr>
          <a:xfrm>
            <a:off x="589880" y="2001150"/>
            <a:ext cx="5026425" cy="2140842"/>
          </a:xfrm>
          <a:prstGeom prst="rect">
            <a:avLst/>
          </a:prstGeom>
          <a:noFill/>
        </p:spPr>
        <p:txBody>
          <a:bodyPr wrap="square" rtlCol="0">
            <a:spAutoFit/>
          </a:bodyPr>
          <a:lstStyle/>
          <a:p>
            <a:pPr marL="285750" indent="-285750">
              <a:lnSpc>
                <a:spcPct val="120000"/>
              </a:lnSpc>
              <a:buSzPct val="80000"/>
              <a:buFont typeface="Wingdings" panose="05000000000000000000" pitchFamily="2" charset="2"/>
              <a:buChar char="ü"/>
            </a:pPr>
            <a:r>
              <a:rPr lang="es-ES" sz="1600" dirty="0">
                <a:solidFill>
                  <a:srgbClr val="FFFFFF"/>
                </a:solidFill>
              </a:rPr>
              <a:t>¿Qué es y qué no es COBIT?</a:t>
            </a:r>
          </a:p>
          <a:p>
            <a:pPr marL="285750" indent="-285750">
              <a:lnSpc>
                <a:spcPct val="120000"/>
              </a:lnSpc>
              <a:buSzPct val="80000"/>
              <a:buFont typeface="Wingdings" panose="05000000000000000000" pitchFamily="2" charset="2"/>
              <a:buChar char="ü"/>
            </a:pPr>
            <a:r>
              <a:rPr lang="es-ES" sz="1600" dirty="0">
                <a:solidFill>
                  <a:srgbClr val="FFFFFF"/>
                </a:solidFill>
              </a:rPr>
              <a:t>Evolución</a:t>
            </a:r>
          </a:p>
          <a:p>
            <a:pPr marL="285750" indent="-285750">
              <a:lnSpc>
                <a:spcPct val="120000"/>
              </a:lnSpc>
              <a:buSzPct val="80000"/>
              <a:buFont typeface="Wingdings" panose="05000000000000000000" pitchFamily="2" charset="2"/>
              <a:buChar char="ü"/>
            </a:pPr>
            <a:r>
              <a:rPr lang="es-ES" sz="1600" dirty="0">
                <a:solidFill>
                  <a:srgbClr val="FFFFFF"/>
                </a:solidFill>
              </a:rPr>
              <a:t>Objetivos de gobierno y de gestión</a:t>
            </a:r>
          </a:p>
          <a:p>
            <a:pPr marL="285750" indent="-285750">
              <a:lnSpc>
                <a:spcPct val="120000"/>
              </a:lnSpc>
              <a:buSzPct val="80000"/>
              <a:buFont typeface="Wingdings" panose="05000000000000000000" pitchFamily="2" charset="2"/>
              <a:buChar char="ü"/>
            </a:pPr>
            <a:r>
              <a:rPr lang="es-ES" sz="1600" dirty="0">
                <a:solidFill>
                  <a:srgbClr val="FFFFFF"/>
                </a:solidFill>
              </a:rPr>
              <a:t>Componentes del sistema de gobierno</a:t>
            </a:r>
          </a:p>
          <a:p>
            <a:pPr marL="285750" indent="-285750">
              <a:lnSpc>
                <a:spcPct val="120000"/>
              </a:lnSpc>
              <a:buSzPct val="80000"/>
              <a:buFont typeface="Wingdings" panose="05000000000000000000" pitchFamily="2" charset="2"/>
              <a:buChar char="ü"/>
            </a:pPr>
            <a:r>
              <a:rPr lang="es-ES" sz="1600" dirty="0">
                <a:solidFill>
                  <a:srgbClr val="FFFFFF"/>
                </a:solidFill>
              </a:rPr>
              <a:t>Familia de productos</a:t>
            </a:r>
          </a:p>
          <a:p>
            <a:pPr marL="285750" indent="-285750">
              <a:lnSpc>
                <a:spcPct val="120000"/>
              </a:lnSpc>
              <a:buSzPct val="80000"/>
              <a:buFont typeface="Wingdings" panose="05000000000000000000" pitchFamily="2" charset="2"/>
              <a:buChar char="ü"/>
            </a:pPr>
            <a:r>
              <a:rPr lang="es-ES" sz="1600" dirty="0">
                <a:solidFill>
                  <a:srgbClr val="FFFFFF"/>
                </a:solidFill>
              </a:rPr>
              <a:t>Público objetivo</a:t>
            </a:r>
          </a:p>
          <a:p>
            <a:pPr marL="285750" indent="-285750">
              <a:lnSpc>
                <a:spcPct val="120000"/>
              </a:lnSpc>
              <a:buSzPct val="80000"/>
              <a:buFont typeface="Wingdings" panose="05000000000000000000" pitchFamily="2" charset="2"/>
              <a:buChar char="ü"/>
            </a:pPr>
            <a:r>
              <a:rPr lang="es-ES" sz="1600" dirty="0">
                <a:solidFill>
                  <a:srgbClr val="FFFFFF"/>
                </a:solidFill>
              </a:rPr>
              <a:t>Certificaciones</a:t>
            </a:r>
          </a:p>
        </p:txBody>
      </p:sp>
      <p:cxnSp>
        <p:nvCxnSpPr>
          <p:cNvPr id="8" name="Conector recto 7"/>
          <p:cNvCxnSpPr/>
          <p:nvPr/>
        </p:nvCxnSpPr>
        <p:spPr>
          <a:xfrm>
            <a:off x="1385597" y="522202"/>
            <a:ext cx="0" cy="720031"/>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9" name="Rectángulo 8"/>
          <p:cNvSpPr/>
          <p:nvPr/>
        </p:nvSpPr>
        <p:spPr>
          <a:xfrm>
            <a:off x="417647" y="1492372"/>
            <a:ext cx="8345931" cy="387798"/>
          </a:xfrm>
          <a:prstGeom prst="rect">
            <a:avLst/>
          </a:prstGeom>
          <a:solidFill>
            <a:schemeClr val="bg1"/>
          </a:solidFill>
        </p:spPr>
        <p:txBody>
          <a:bodyPr wrap="square" lIns="0" tIns="0" rIns="0" bIns="0">
            <a:spAutoFit/>
          </a:bodyPr>
          <a:lstStyle/>
          <a:p>
            <a:pPr algn="ctr">
              <a:lnSpc>
                <a:spcPct val="90000"/>
              </a:lnSpc>
            </a:pPr>
            <a:r>
              <a:rPr lang="es-PE" sz="1400" b="1" dirty="0">
                <a:solidFill>
                  <a:srgbClr val="1F85A6"/>
                </a:solidFill>
                <a:cs typeface="Calibri"/>
              </a:rPr>
              <a:t>UNIDAD DE APRENDIZAJE: COBIT 2019 Y SUS PRINCIPIOS PARA UN SISTEMA DE GOBIERNO Y UN MARCO DE GOBIERNO</a:t>
            </a:r>
            <a:endParaRPr lang="es-PE" sz="1400" b="1" dirty="0">
              <a:solidFill>
                <a:srgbClr val="1F85A6"/>
              </a:solidFill>
            </a:endParaRPr>
          </a:p>
        </p:txBody>
      </p:sp>
    </p:spTree>
    <p:extLst>
      <p:ext uri="{BB962C8B-B14F-4D97-AF65-F5344CB8AC3E}">
        <p14:creationId xmlns:p14="http://schemas.microsoft.com/office/powerpoint/2010/main" val="29626886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INTRODUCCIÓN</a:t>
            </a:r>
          </a:p>
        </p:txBody>
      </p:sp>
      <p:sp>
        <p:nvSpPr>
          <p:cNvPr id="6" name="object 7">
            <a:extLst>
              <a:ext uri="{FF2B5EF4-FFF2-40B4-BE49-F238E27FC236}">
                <a16:creationId xmlns:a16="http://schemas.microsoft.com/office/drawing/2014/main" id="{58472751-FD5C-4C14-A418-1AEF0A30EB50}"/>
              </a:ext>
            </a:extLst>
          </p:cNvPr>
          <p:cNvSpPr txBox="1"/>
          <p:nvPr/>
        </p:nvSpPr>
        <p:spPr>
          <a:xfrm>
            <a:off x="507698" y="954483"/>
            <a:ext cx="7838016" cy="1969770"/>
          </a:xfrm>
          <a:prstGeom prst="rect">
            <a:avLst/>
          </a:prstGeom>
        </p:spPr>
        <p:txBody>
          <a:bodyPr vert="horz" wrap="square" lIns="0" tIns="0" rIns="0" bIns="0" rtlCol="0">
            <a:spAutoFit/>
          </a:bodyPr>
          <a:lstStyle/>
          <a:p>
            <a:pPr marL="184150" indent="-184150">
              <a:buSzPct val="100000"/>
              <a:buFont typeface="Arial" charset="0"/>
              <a:buChar char="•"/>
              <a:tabLst>
                <a:tab pos="85725" algn="l"/>
              </a:tabLst>
            </a:pPr>
            <a:r>
              <a:rPr lang="es-PE" sz="1600" spc="-10" dirty="0">
                <a:cs typeface="Source Sans Pro"/>
              </a:rPr>
              <a:t>En esta sesión </a:t>
            </a:r>
            <a:r>
              <a:rPr lang="es-PE" sz="1600" spc="-10" dirty="0" smtClean="0">
                <a:cs typeface="Source Sans Pro"/>
              </a:rPr>
              <a:t>aprenderás </a:t>
            </a:r>
            <a:r>
              <a:rPr lang="es-PE" sz="1600" spc="-10" dirty="0">
                <a:cs typeface="Source Sans Pro"/>
              </a:rPr>
              <a:t>los conceptos integrales sobre el marco de COBIT 2019.</a:t>
            </a:r>
            <a:br>
              <a:rPr lang="es-PE" sz="1600" spc="-10" dirty="0">
                <a:cs typeface="Source Sans Pro"/>
              </a:rPr>
            </a:br>
            <a:endParaRPr lang="es-PE" sz="1600" spc="-10" dirty="0">
              <a:cs typeface="Source Sans Pro"/>
            </a:endParaRPr>
          </a:p>
          <a:p>
            <a:pPr marL="184150" indent="-184150">
              <a:buSzPct val="100000"/>
              <a:buFont typeface="Arial" charset="0"/>
              <a:buChar char="•"/>
              <a:tabLst>
                <a:tab pos="85725" algn="l"/>
              </a:tabLst>
            </a:pPr>
            <a:r>
              <a:rPr lang="es-PE" sz="1600" spc="-10" dirty="0" smtClean="0">
                <a:cs typeface="Source Sans Pro"/>
              </a:rPr>
              <a:t>Reconocerás </a:t>
            </a:r>
            <a:r>
              <a:rPr lang="es-PE" sz="1600" spc="-10" dirty="0">
                <a:cs typeface="Source Sans Pro"/>
              </a:rPr>
              <a:t>todos los puntos más importantes del marco de referencia; como saber </a:t>
            </a:r>
            <a:r>
              <a:rPr lang="es-PE" sz="1600" spc="-10" dirty="0" smtClean="0">
                <a:cs typeface="Source Sans Pro"/>
              </a:rPr>
              <a:t>qué </a:t>
            </a:r>
            <a:r>
              <a:rPr lang="es-PE" sz="1600" spc="-10" dirty="0">
                <a:cs typeface="Source Sans Pro"/>
              </a:rPr>
              <a:t>es y </a:t>
            </a:r>
            <a:r>
              <a:rPr lang="es-PE" sz="1600" spc="-10" dirty="0" smtClean="0">
                <a:cs typeface="Source Sans Pro"/>
              </a:rPr>
              <a:t>qué </a:t>
            </a:r>
            <a:r>
              <a:rPr lang="es-PE" sz="1600" spc="-10" dirty="0">
                <a:cs typeface="Source Sans Pro"/>
              </a:rPr>
              <a:t>no es COBIT, su evolución, los objetivos de gobierno y gestión, los componentes del sistema de gobierno.</a:t>
            </a:r>
          </a:p>
          <a:p>
            <a:pPr marL="184150" indent="-184150">
              <a:buSzPct val="100000"/>
              <a:buFont typeface="Arial" charset="0"/>
              <a:buChar char="•"/>
              <a:tabLst>
                <a:tab pos="85725" algn="l"/>
              </a:tabLst>
            </a:pPr>
            <a:endParaRPr lang="es-PE" sz="1600" spc="-10" dirty="0">
              <a:cs typeface="Source Sans Pro"/>
            </a:endParaRPr>
          </a:p>
          <a:p>
            <a:pPr marL="184150" indent="-184150">
              <a:buSzPct val="100000"/>
              <a:buFont typeface="Arial" charset="0"/>
              <a:buChar char="•"/>
              <a:tabLst>
                <a:tab pos="85725" algn="l"/>
              </a:tabLst>
            </a:pPr>
            <a:r>
              <a:rPr lang="es-PE" sz="1600" spc="-10" dirty="0">
                <a:cs typeface="Source Sans Pro"/>
              </a:rPr>
              <a:t>Para terminar </a:t>
            </a:r>
            <a:r>
              <a:rPr lang="es-PE" sz="1600" spc="-10" dirty="0" smtClean="0">
                <a:cs typeface="Source Sans Pro"/>
              </a:rPr>
              <a:t>reconocerás </a:t>
            </a:r>
            <a:r>
              <a:rPr lang="es-PE" sz="1600" spc="-10" dirty="0">
                <a:cs typeface="Source Sans Pro"/>
              </a:rPr>
              <a:t>la familia de productos, el público objetivo y las certificaciones de COBIT 2019.</a:t>
            </a:r>
          </a:p>
        </p:txBody>
      </p:sp>
    </p:spTree>
    <p:custDataLst>
      <p:tags r:id="rId1"/>
    </p:custDataLst>
    <p:extLst>
      <p:ext uri="{BB962C8B-B14F-4D97-AF65-F5344CB8AC3E}">
        <p14:creationId xmlns:p14="http://schemas.microsoft.com/office/powerpoint/2010/main" val="263561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a:t>
            </a:r>
            <a:r>
              <a:rPr lang="es-PE" sz="2400" b="1" dirty="0">
                <a:solidFill>
                  <a:schemeClr val="bg1"/>
                </a:solidFill>
                <a:latin typeface="Calibri"/>
                <a:cs typeface="Calibri"/>
              </a:rPr>
              <a:t>QUÉ ES Y QUÉ NO ES COBIT</a:t>
            </a:r>
            <a:r>
              <a:rPr lang="es-PE" sz="2800" b="1" dirty="0">
                <a:solidFill>
                  <a:schemeClr val="bg1"/>
                </a:solidFill>
                <a:latin typeface="Calibri"/>
                <a:cs typeface="Calibri"/>
              </a:rPr>
              <a:t>?</a:t>
            </a:r>
          </a:p>
        </p:txBody>
      </p:sp>
    </p:spTree>
    <p:custDataLst>
      <p:tags r:id="rId1"/>
    </p:custDataLst>
    <p:extLst>
      <p:ext uri="{BB962C8B-B14F-4D97-AF65-F5344CB8AC3E}">
        <p14:creationId xmlns:p14="http://schemas.microsoft.com/office/powerpoint/2010/main" val="281781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¿QUÉ ES Y QUÉ NO ES COBIT?</a:t>
            </a:r>
          </a:p>
        </p:txBody>
      </p:sp>
      <p:sp>
        <p:nvSpPr>
          <p:cNvPr id="7" name="object 7">
            <a:extLst>
              <a:ext uri="{FF2B5EF4-FFF2-40B4-BE49-F238E27FC236}">
                <a16:creationId xmlns:a16="http://schemas.microsoft.com/office/drawing/2014/main" id="{D295484F-BBC0-4922-9CA9-88D8D9C6F626}"/>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¿Qué es COBIT? </a:t>
            </a:r>
          </a:p>
        </p:txBody>
      </p:sp>
      <p:sp>
        <p:nvSpPr>
          <p:cNvPr id="10" name="object 7">
            <a:extLst>
              <a:ext uri="{FF2B5EF4-FFF2-40B4-BE49-F238E27FC236}">
                <a16:creationId xmlns:a16="http://schemas.microsoft.com/office/drawing/2014/main" id="{C5BAA5E7-F6EE-4BC8-BD03-09E4111A5B09}"/>
              </a:ext>
            </a:extLst>
          </p:cNvPr>
          <p:cNvSpPr txBox="1"/>
          <p:nvPr/>
        </p:nvSpPr>
        <p:spPr>
          <a:xfrm>
            <a:off x="510907" y="1295059"/>
            <a:ext cx="7983937" cy="2185214"/>
          </a:xfrm>
          <a:prstGeom prst="rect">
            <a:avLst/>
          </a:prstGeom>
        </p:spPr>
        <p:txBody>
          <a:bodyPr vert="horz" wrap="square" lIns="0" tIns="0" rIns="0" bIns="0" rtlCol="0">
            <a:spAutoFit/>
          </a:bodyPr>
          <a:lstStyle/>
          <a:p>
            <a:pPr marL="355600" indent="-168275" algn="just">
              <a:spcAft>
                <a:spcPts val="1800"/>
              </a:spcAft>
              <a:buSzPct val="100000"/>
              <a:buFont typeface="Arial"/>
              <a:buChar char="•"/>
              <a:tabLst>
                <a:tab pos="121285" algn="l"/>
              </a:tabLst>
            </a:pPr>
            <a:r>
              <a:rPr lang="es-ES" sz="1600" spc="-10" dirty="0">
                <a:solidFill>
                  <a:srgbClr val="262626"/>
                </a:solidFill>
              </a:rPr>
              <a:t>COBIT es un marco para el gobierno y la gestión de las tecnologías de la información de la empresa, dirigido a toda la empresa. </a:t>
            </a:r>
          </a:p>
          <a:p>
            <a:pPr marL="355600" indent="-168275" algn="just">
              <a:spcAft>
                <a:spcPts val="1800"/>
              </a:spcAft>
              <a:buSzPct val="100000"/>
              <a:buFont typeface="Arial"/>
              <a:buChar char="•"/>
              <a:tabLst>
                <a:tab pos="121285" algn="l"/>
              </a:tabLst>
            </a:pPr>
            <a:r>
              <a:rPr lang="es-ES" sz="1600" spc="-10" dirty="0">
                <a:solidFill>
                  <a:srgbClr val="262626"/>
                </a:solidFill>
              </a:rPr>
              <a:t>La I&amp;T empresarial significa toda la tecnología y procesamiento de la información que la empresa utiliza para lograr sus objetivos, independientemente </a:t>
            </a:r>
            <a:r>
              <a:rPr lang="es-ES" sz="1600" spc="-10" dirty="0" smtClean="0">
                <a:solidFill>
                  <a:srgbClr val="262626"/>
                </a:solidFill>
              </a:rPr>
              <a:t>del área en la que </a:t>
            </a:r>
            <a:r>
              <a:rPr lang="es-ES" sz="1600" spc="-10" dirty="0">
                <a:solidFill>
                  <a:srgbClr val="262626"/>
                </a:solidFill>
              </a:rPr>
              <a:t>ocurra dentro de la empresa. </a:t>
            </a:r>
          </a:p>
          <a:p>
            <a:pPr marL="355600" indent="-168275" algn="just">
              <a:spcAft>
                <a:spcPts val="1800"/>
              </a:spcAft>
              <a:buSzPct val="100000"/>
              <a:buFont typeface="Arial"/>
              <a:buChar char="•"/>
              <a:tabLst>
                <a:tab pos="121285" algn="l"/>
              </a:tabLst>
            </a:pPr>
            <a:r>
              <a:rPr lang="es-ES" sz="1600" spc="-10" dirty="0">
                <a:solidFill>
                  <a:srgbClr val="262626"/>
                </a:solidFill>
              </a:rPr>
              <a:t>En otras palabras, la I&amp;T empresarial no se limita al departamento de TI de una organización, aunque este está indudablemente incluido. </a:t>
            </a:r>
            <a:endParaRPr lang="es-PE" sz="1600" spc="-10" dirty="0">
              <a:solidFill>
                <a:srgbClr val="262626"/>
              </a:solidFill>
            </a:endParaRPr>
          </a:p>
        </p:txBody>
      </p:sp>
      <p:pic>
        <p:nvPicPr>
          <p:cNvPr id="3074" name="Picture 2" descr="Cursos COBIT 2019 - Madrid Chapter">
            <a:extLst>
              <a:ext uri="{FF2B5EF4-FFF2-40B4-BE49-F238E27FC236}">
                <a16:creationId xmlns:a16="http://schemas.microsoft.com/office/drawing/2014/main" id="{C9CCAF7C-7ECF-4628-84CA-CDDC95F71C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2538" y="3853043"/>
            <a:ext cx="3598923" cy="84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736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a:extLst>
              <a:ext uri="{FF2B5EF4-FFF2-40B4-BE49-F238E27FC236}">
                <a16:creationId xmlns:a16="http://schemas.microsoft.com/office/drawing/2014/main" id="{D295484F-BBC0-4922-9CA9-88D8D9C6F626}"/>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¿Qué no es COBIT? </a:t>
            </a:r>
          </a:p>
        </p:txBody>
      </p:sp>
      <p:sp>
        <p:nvSpPr>
          <p:cNvPr id="10" name="object 7">
            <a:extLst>
              <a:ext uri="{FF2B5EF4-FFF2-40B4-BE49-F238E27FC236}">
                <a16:creationId xmlns:a16="http://schemas.microsoft.com/office/drawing/2014/main" id="{C5BAA5E7-F6EE-4BC8-BD03-09E4111A5B09}"/>
              </a:ext>
            </a:extLst>
          </p:cNvPr>
          <p:cNvSpPr txBox="1"/>
          <p:nvPr/>
        </p:nvSpPr>
        <p:spPr>
          <a:xfrm>
            <a:off x="510907" y="1295059"/>
            <a:ext cx="5969721" cy="246221"/>
          </a:xfrm>
          <a:prstGeom prst="rect">
            <a:avLst/>
          </a:prstGeom>
        </p:spPr>
        <p:txBody>
          <a:bodyPr vert="horz" wrap="square" lIns="0" tIns="0" rIns="0" bIns="0" rtlCol="0">
            <a:spAutoFit/>
          </a:bodyPr>
          <a:lstStyle/>
          <a:p>
            <a:pPr marL="355600" indent="-168275" algn="just">
              <a:spcAft>
                <a:spcPts val="1800"/>
              </a:spcAft>
              <a:buSzPct val="100000"/>
              <a:buFont typeface="Arial"/>
              <a:buChar char="•"/>
              <a:tabLst>
                <a:tab pos="121285" algn="l"/>
              </a:tabLst>
            </a:pPr>
            <a:r>
              <a:rPr lang="es-ES" sz="1600" spc="-10" dirty="0">
                <a:solidFill>
                  <a:srgbClr val="262626"/>
                </a:solidFill>
              </a:rPr>
              <a:t>Debemos disipar algunos conceptos erróneos acerca de COBIT: </a:t>
            </a:r>
          </a:p>
        </p:txBody>
      </p:sp>
      <p:sp>
        <p:nvSpPr>
          <p:cNvPr id="6" name="object 7">
            <a:extLst>
              <a:ext uri="{FF2B5EF4-FFF2-40B4-BE49-F238E27FC236}">
                <a16:creationId xmlns:a16="http://schemas.microsoft.com/office/drawing/2014/main" id="{34FE91C7-B299-41F8-A9D2-37C909AE3A4F}"/>
              </a:ext>
            </a:extLst>
          </p:cNvPr>
          <p:cNvSpPr txBox="1"/>
          <p:nvPr/>
        </p:nvSpPr>
        <p:spPr>
          <a:xfrm>
            <a:off x="528648" y="1809535"/>
            <a:ext cx="5934238" cy="3323987"/>
          </a:xfrm>
          <a:prstGeom prst="rect">
            <a:avLst/>
          </a:prstGeom>
        </p:spPr>
        <p:txBody>
          <a:bodyPr vert="horz" wrap="square" lIns="0" tIns="0" rIns="0" bIns="0" rtlCol="0">
            <a:spAutoFit/>
          </a:bodyPr>
          <a:lstStyle/>
          <a:p>
            <a:pPr marL="285750" indent="-285750" algn="just">
              <a:spcAft>
                <a:spcPts val="1200"/>
              </a:spcAft>
              <a:buFont typeface="Wingdings" panose="05000000000000000000" pitchFamily="2" charset="2"/>
              <a:buChar char="ü"/>
            </a:pPr>
            <a:r>
              <a:rPr lang="es-ES" sz="1600" spc="-10" dirty="0">
                <a:solidFill>
                  <a:srgbClr val="262626"/>
                </a:solidFill>
              </a:rPr>
              <a:t>COBIT no es una descripción completa de todo el entorno de TI de una empresa. </a:t>
            </a:r>
          </a:p>
          <a:p>
            <a:pPr marL="285750" indent="-285750" algn="just">
              <a:spcAft>
                <a:spcPts val="1200"/>
              </a:spcAft>
              <a:buFont typeface="Wingdings" panose="05000000000000000000" pitchFamily="2" charset="2"/>
              <a:buChar char="ü"/>
            </a:pPr>
            <a:r>
              <a:rPr lang="es-ES" sz="1600" spc="-10" dirty="0">
                <a:solidFill>
                  <a:srgbClr val="262626"/>
                </a:solidFill>
              </a:rPr>
              <a:t>COBIT no es un marco para organizar procesos de negocio. </a:t>
            </a:r>
          </a:p>
          <a:p>
            <a:pPr marL="285750" indent="-285750" algn="just">
              <a:spcAft>
                <a:spcPts val="1200"/>
              </a:spcAft>
              <a:buFont typeface="Wingdings" panose="05000000000000000000" pitchFamily="2" charset="2"/>
              <a:buChar char="ü"/>
            </a:pPr>
            <a:r>
              <a:rPr lang="es-ES" sz="1600" spc="-10" dirty="0">
                <a:solidFill>
                  <a:srgbClr val="262626"/>
                </a:solidFill>
              </a:rPr>
              <a:t>COBIT no es un marco técnico (de TI) para gestionar toda la tecnología. </a:t>
            </a:r>
          </a:p>
          <a:p>
            <a:pPr marL="285750" indent="-285750" algn="just">
              <a:spcAft>
                <a:spcPts val="1200"/>
              </a:spcAft>
              <a:buFont typeface="Wingdings" panose="05000000000000000000" pitchFamily="2" charset="2"/>
              <a:buChar char="ü"/>
            </a:pPr>
            <a:r>
              <a:rPr lang="es-ES" sz="1600" spc="-10" dirty="0">
                <a:solidFill>
                  <a:srgbClr val="262626"/>
                </a:solidFill>
              </a:rPr>
              <a:t>COBIT no toma ni prescribe ninguna decisión relacionada con la TI. No decidirá cuál es la mejor estrategia de TI, cuál es la mejor arquitectura, o cuánto puede o debería costar la TI</a:t>
            </a:r>
            <a:r>
              <a:rPr lang="es-ES" sz="1600" spc="-10" dirty="0" smtClean="0">
                <a:solidFill>
                  <a:srgbClr val="262626"/>
                </a:solidFill>
              </a:rPr>
              <a:t>.</a:t>
            </a:r>
          </a:p>
          <a:p>
            <a:pPr marL="285750" indent="-285750" algn="just">
              <a:spcAft>
                <a:spcPts val="1200"/>
              </a:spcAft>
              <a:buFont typeface="Wingdings" panose="05000000000000000000" pitchFamily="2" charset="2"/>
              <a:buChar char="ü"/>
            </a:pPr>
            <a:r>
              <a:rPr lang="es-ES" sz="1600" b="1" spc="-10" dirty="0" smtClean="0">
                <a:solidFill>
                  <a:srgbClr val="C00000"/>
                </a:solidFill>
              </a:rPr>
              <a:t>Por </a:t>
            </a:r>
            <a:r>
              <a:rPr lang="es-ES" sz="1600" b="1" spc="-10" dirty="0">
                <a:solidFill>
                  <a:srgbClr val="C00000"/>
                </a:solidFill>
              </a:rPr>
              <a:t>el contrario, COBIT define todos los componentes que describen qué decisiones deberían tomarse, cómo deberían tomarse y quién debería tomarlas</a:t>
            </a:r>
            <a:r>
              <a:rPr lang="es-ES" sz="1600" spc="-10" dirty="0">
                <a:solidFill>
                  <a:srgbClr val="262626"/>
                </a:solidFill>
              </a:rPr>
              <a:t>. </a:t>
            </a:r>
          </a:p>
        </p:txBody>
      </p:sp>
      <p:sp>
        <p:nvSpPr>
          <p:cNvPr id="8" name="Rectangle 5">
            <a:extLst>
              <a:ext uri="{FF2B5EF4-FFF2-40B4-BE49-F238E27FC236}">
                <a16:creationId xmlns:a16="http://schemas.microsoft.com/office/drawing/2014/main" id="{B0EC451C-74D7-40D9-83C2-D9A474484CFE}"/>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¿QUÉ ES Y QUÉ NO ES COBIT?</a:t>
            </a:r>
          </a:p>
        </p:txBody>
      </p:sp>
      <p:grpSp>
        <p:nvGrpSpPr>
          <p:cNvPr id="13" name="Grupo 12">
            <a:extLst>
              <a:ext uri="{FF2B5EF4-FFF2-40B4-BE49-F238E27FC236}">
                <a16:creationId xmlns:a16="http://schemas.microsoft.com/office/drawing/2014/main" id="{05F7ABE5-3B47-47BD-BCDE-4CB5D592255B}"/>
              </a:ext>
            </a:extLst>
          </p:cNvPr>
          <p:cNvGrpSpPr/>
          <p:nvPr/>
        </p:nvGrpSpPr>
        <p:grpSpPr>
          <a:xfrm>
            <a:off x="6767411" y="1295059"/>
            <a:ext cx="2085709" cy="1096542"/>
            <a:chOff x="6660255" y="441762"/>
            <a:chExt cx="2085709" cy="1096542"/>
          </a:xfrm>
        </p:grpSpPr>
        <p:pic>
          <p:nvPicPr>
            <p:cNvPr id="11" name="Picture 2" descr="Cursos COBIT 2019 - Madrid Chapter">
              <a:extLst>
                <a:ext uri="{FF2B5EF4-FFF2-40B4-BE49-F238E27FC236}">
                  <a16:creationId xmlns:a16="http://schemas.microsoft.com/office/drawing/2014/main" id="{9AC0AEF2-D7D3-493F-B99D-6F5BDC4DBE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0255" y="1050190"/>
              <a:ext cx="2085709" cy="488114"/>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a:extLst>
                <a:ext uri="{FF2B5EF4-FFF2-40B4-BE49-F238E27FC236}">
                  <a16:creationId xmlns:a16="http://schemas.microsoft.com/office/drawing/2014/main" id="{C2999756-45B7-4E02-8936-C7475809CA8D}"/>
                </a:ext>
              </a:extLst>
            </p:cNvPr>
            <p:cNvPicPr>
              <a:picLocks noChangeAspect="1"/>
            </p:cNvPicPr>
            <p:nvPr/>
          </p:nvPicPr>
          <p:blipFill>
            <a:blip r:embed="rId4"/>
            <a:stretch>
              <a:fillRect/>
            </a:stretch>
          </p:blipFill>
          <p:spPr>
            <a:xfrm>
              <a:off x="6969598" y="441762"/>
              <a:ext cx="1467021" cy="521276"/>
            </a:xfrm>
            <a:prstGeom prst="rect">
              <a:avLst/>
            </a:prstGeom>
          </p:spPr>
        </p:pic>
      </p:grpSp>
    </p:spTree>
    <p:extLst>
      <p:ext uri="{BB962C8B-B14F-4D97-AF65-F5344CB8AC3E}">
        <p14:creationId xmlns:p14="http://schemas.microsoft.com/office/powerpoint/2010/main" val="2599145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7">
            <a:extLst>
              <a:ext uri="{FF2B5EF4-FFF2-40B4-BE49-F238E27FC236}">
                <a16:creationId xmlns:a16="http://schemas.microsoft.com/office/drawing/2014/main" id="{40AD5B25-6B70-49F5-AA3F-16BB5CF16094}"/>
              </a:ext>
            </a:extLst>
          </p:cNvPr>
          <p:cNvSpPr txBox="1"/>
          <p:nvPr/>
        </p:nvSpPr>
        <p:spPr>
          <a:xfrm>
            <a:off x="510908" y="1060844"/>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3. GOBIERNO Y GESTIÓN </a:t>
            </a:r>
          </a:p>
        </p:txBody>
      </p:sp>
      <p:sp>
        <p:nvSpPr>
          <p:cNvPr id="9" name="object 7">
            <a:extLst>
              <a:ext uri="{FF2B5EF4-FFF2-40B4-BE49-F238E27FC236}">
                <a16:creationId xmlns:a16="http://schemas.microsoft.com/office/drawing/2014/main" id="{2BC05836-380C-4D92-8F90-60CEF0F3B5E4}"/>
              </a:ext>
            </a:extLst>
          </p:cNvPr>
          <p:cNvSpPr txBox="1"/>
          <p:nvPr/>
        </p:nvSpPr>
        <p:spPr>
          <a:xfrm>
            <a:off x="510907" y="1540114"/>
            <a:ext cx="2832586" cy="1723549"/>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El marco de referencia COBIT hace una distinción clara entre gobierno y gestión. Estas dos disciplinas abarcan distintos tipos de actividades, requieren distintas estructuras organizativas y sirven diferentes propósitos. </a:t>
            </a:r>
            <a:endParaRPr lang="es-PE" sz="1600" spc="-10" dirty="0">
              <a:solidFill>
                <a:srgbClr val="262626"/>
              </a:solidFill>
            </a:endParaRPr>
          </a:p>
        </p:txBody>
      </p:sp>
      <p:sp>
        <p:nvSpPr>
          <p:cNvPr id="7" name="Rectangle 5">
            <a:extLst>
              <a:ext uri="{FF2B5EF4-FFF2-40B4-BE49-F238E27FC236}">
                <a16:creationId xmlns:a16="http://schemas.microsoft.com/office/drawing/2014/main" id="{736B7819-EAD5-485B-9B85-0A1F4741AAEA}"/>
              </a:ext>
            </a:extLst>
          </p:cNvPr>
          <p:cNvSpPr/>
          <p:nvPr/>
        </p:nvSpPr>
        <p:spPr>
          <a:xfrm>
            <a:off x="407875" y="385711"/>
            <a:ext cx="7204493" cy="353943"/>
          </a:xfrm>
          <a:prstGeom prst="rect">
            <a:avLst/>
          </a:prstGeom>
        </p:spPr>
        <p:txBody>
          <a:bodyPr wrap="square">
            <a:spAutoFit/>
          </a:bodyPr>
          <a:lstStyle/>
          <a:p>
            <a:r>
              <a:rPr lang="en-US" sz="1700" b="1" dirty="0">
                <a:solidFill>
                  <a:srgbClr val="438AD7"/>
                </a:solidFill>
              </a:rPr>
              <a:t>/ ¿QUÉ ES Y QUÉ NO ES COBIT?</a:t>
            </a:r>
          </a:p>
        </p:txBody>
      </p:sp>
      <p:pic>
        <p:nvPicPr>
          <p:cNvPr id="8194" name="Picture 2" descr="COBIT, Objetivos De Control Para La Informaci?n Y Tecnolog?as Relacionadas  Concepto Con Palabras Claves, Las Letras Y Vector De L Ilustración del  Vector - Ilustración de producto, negocios: 154402091">
            <a:extLst>
              <a:ext uri="{FF2B5EF4-FFF2-40B4-BE49-F238E27FC236}">
                <a16:creationId xmlns:a16="http://schemas.microsoft.com/office/drawing/2014/main" id="{9F1935BC-B0A7-40EE-9736-1DFCB98B4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3250" y="1060844"/>
            <a:ext cx="4591717" cy="4018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6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7">
            <a:extLst>
              <a:ext uri="{FF2B5EF4-FFF2-40B4-BE49-F238E27FC236}">
                <a16:creationId xmlns:a16="http://schemas.microsoft.com/office/drawing/2014/main" id="{40AD5B25-6B70-49F5-AA3F-16BB5CF16094}"/>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3. …GOBIERNO Y GESTIÓN </a:t>
            </a:r>
          </a:p>
        </p:txBody>
      </p:sp>
      <p:sp>
        <p:nvSpPr>
          <p:cNvPr id="11" name="object 7">
            <a:extLst>
              <a:ext uri="{FF2B5EF4-FFF2-40B4-BE49-F238E27FC236}">
                <a16:creationId xmlns:a16="http://schemas.microsoft.com/office/drawing/2014/main" id="{821C551E-1A98-4913-898B-9C08E4F6EE70}"/>
              </a:ext>
            </a:extLst>
          </p:cNvPr>
          <p:cNvSpPr txBox="1"/>
          <p:nvPr/>
        </p:nvSpPr>
        <p:spPr>
          <a:xfrm>
            <a:off x="663308" y="1294991"/>
            <a:ext cx="4010292" cy="261610"/>
          </a:xfrm>
          <a:prstGeom prst="rect">
            <a:avLst/>
          </a:prstGeom>
        </p:spPr>
        <p:txBody>
          <a:bodyPr vert="horz" wrap="square" lIns="0" tIns="0" rIns="0" bIns="0" rtlCol="0">
            <a:spAutoFit/>
          </a:bodyPr>
          <a:lstStyle/>
          <a:p>
            <a:pPr marL="297475" indent="-285750">
              <a:buSzPct val="100000"/>
              <a:buFont typeface="Wingdings" panose="05000000000000000000" pitchFamily="2" charset="2"/>
              <a:buChar char="q"/>
              <a:tabLst>
                <a:tab pos="121285" algn="l"/>
              </a:tabLst>
            </a:pPr>
            <a:r>
              <a:rPr lang="es-PE" sz="1700" b="1" spc="-10" dirty="0">
                <a:solidFill>
                  <a:srgbClr val="262626"/>
                </a:solidFill>
                <a:cs typeface="Source Sans Pro"/>
              </a:rPr>
              <a:t>El Gobierno asegura que:</a:t>
            </a:r>
          </a:p>
        </p:txBody>
      </p:sp>
      <p:sp>
        <p:nvSpPr>
          <p:cNvPr id="12" name="object 7">
            <a:extLst>
              <a:ext uri="{FF2B5EF4-FFF2-40B4-BE49-F238E27FC236}">
                <a16:creationId xmlns:a16="http://schemas.microsoft.com/office/drawing/2014/main" id="{E8749E3F-2C3B-4ACC-985B-C44C7C003E7F}"/>
              </a:ext>
            </a:extLst>
          </p:cNvPr>
          <p:cNvSpPr txBox="1"/>
          <p:nvPr/>
        </p:nvSpPr>
        <p:spPr>
          <a:xfrm>
            <a:off x="793032" y="1755935"/>
            <a:ext cx="6434178" cy="1615827"/>
          </a:xfrm>
          <a:prstGeom prst="rect">
            <a:avLst/>
          </a:prstGeom>
        </p:spPr>
        <p:txBody>
          <a:bodyPr vert="horz" wrap="square" lIns="0" tIns="0" rIns="0" bIns="0" rtlCol="0">
            <a:spAutoFit/>
          </a:bodyPr>
          <a:lstStyle/>
          <a:p>
            <a:pPr marL="285750" indent="-285750" algn="just">
              <a:spcAft>
                <a:spcPts val="1800"/>
              </a:spcAft>
              <a:buSzPct val="100000"/>
              <a:buFont typeface="Wingdings" panose="05000000000000000000" pitchFamily="2" charset="2"/>
              <a:buChar char="ü"/>
              <a:tabLst>
                <a:tab pos="121285" algn="l"/>
              </a:tabLst>
            </a:pPr>
            <a:r>
              <a:rPr lang="es-ES" sz="1500" spc="-10" dirty="0">
                <a:solidFill>
                  <a:srgbClr val="262626"/>
                </a:solidFill>
              </a:rPr>
              <a:t>Las necesidades, condiciones y opciones de las partes interesadas se evalúan para determinar objetivos empresariales equilibrados y acordados. </a:t>
            </a:r>
          </a:p>
          <a:p>
            <a:pPr marL="285750" indent="-285750" algn="just">
              <a:spcAft>
                <a:spcPts val="1800"/>
              </a:spcAft>
              <a:buSzPct val="100000"/>
              <a:buFont typeface="Wingdings" panose="05000000000000000000" pitchFamily="2" charset="2"/>
              <a:buChar char="ü"/>
              <a:tabLst>
                <a:tab pos="121285" algn="l"/>
              </a:tabLst>
            </a:pPr>
            <a:r>
              <a:rPr lang="es-ES" sz="1500" spc="-10" dirty="0">
                <a:solidFill>
                  <a:srgbClr val="262626"/>
                </a:solidFill>
              </a:rPr>
              <a:t>La dirección se establece a través de la priorización y la toma de decisiones. </a:t>
            </a:r>
          </a:p>
          <a:p>
            <a:pPr marL="285750" indent="-285750" algn="just">
              <a:spcAft>
                <a:spcPts val="1800"/>
              </a:spcAft>
              <a:buSzPct val="100000"/>
              <a:buFont typeface="Wingdings" panose="05000000000000000000" pitchFamily="2" charset="2"/>
              <a:buChar char="ü"/>
              <a:tabLst>
                <a:tab pos="121285" algn="l"/>
              </a:tabLst>
            </a:pPr>
            <a:r>
              <a:rPr lang="es-ES" sz="1500" spc="-10" dirty="0">
                <a:solidFill>
                  <a:srgbClr val="262626"/>
                </a:solidFill>
              </a:rPr>
              <a:t>El desempeño y el cumplimiento se monitorean en relación con la dirección y los objetivos acordados. </a:t>
            </a:r>
          </a:p>
        </p:txBody>
      </p:sp>
      <p:sp>
        <p:nvSpPr>
          <p:cNvPr id="7" name="object 7">
            <a:extLst>
              <a:ext uri="{FF2B5EF4-FFF2-40B4-BE49-F238E27FC236}">
                <a16:creationId xmlns:a16="http://schemas.microsoft.com/office/drawing/2014/main" id="{6D4BEE7C-6843-4C8A-AA6E-28DBD31F8E8B}"/>
              </a:ext>
            </a:extLst>
          </p:cNvPr>
          <p:cNvSpPr txBox="1"/>
          <p:nvPr/>
        </p:nvSpPr>
        <p:spPr>
          <a:xfrm>
            <a:off x="663308" y="3529594"/>
            <a:ext cx="7748625" cy="923330"/>
          </a:xfrm>
          <a:prstGeom prst="rect">
            <a:avLst/>
          </a:prstGeom>
        </p:spPr>
        <p:txBody>
          <a:bodyPr vert="horz" wrap="square" lIns="0" tIns="0" rIns="0" bIns="0" rtlCol="0">
            <a:spAutoFit/>
          </a:bodyPr>
          <a:lstStyle/>
          <a:p>
            <a:pPr algn="just"/>
            <a:r>
              <a:rPr lang="es-ES" sz="1500" spc="-10" dirty="0">
                <a:solidFill>
                  <a:srgbClr val="262626"/>
                </a:solidFill>
              </a:rPr>
              <a:t>En la mayoría de las empresas, el gobierno en general es responsabilidad del consejo de dirección bajo el liderazgo del presidente. Responsabilidades específicas de gobierno se pueden delegar a estructuras organizativas especiales a un nivel adecuado, en particular, en empresas más grandes y complejas. </a:t>
            </a:r>
          </a:p>
        </p:txBody>
      </p:sp>
      <p:sp>
        <p:nvSpPr>
          <p:cNvPr id="10" name="Rectangle 5">
            <a:extLst>
              <a:ext uri="{FF2B5EF4-FFF2-40B4-BE49-F238E27FC236}">
                <a16:creationId xmlns:a16="http://schemas.microsoft.com/office/drawing/2014/main" id="{8320966A-27A3-4DE9-A5B9-238A1FBD73F2}"/>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¿QUÉ ES Y QUÉ NO ES COBIT?</a:t>
            </a:r>
          </a:p>
        </p:txBody>
      </p:sp>
      <p:pic>
        <p:nvPicPr>
          <p:cNvPr id="13" name="Imagen 12">
            <a:extLst>
              <a:ext uri="{FF2B5EF4-FFF2-40B4-BE49-F238E27FC236}">
                <a16:creationId xmlns:a16="http://schemas.microsoft.com/office/drawing/2014/main" id="{A5D1CAC9-52FB-4757-8151-21C63714C2CD}"/>
              </a:ext>
            </a:extLst>
          </p:cNvPr>
          <p:cNvPicPr>
            <a:picLocks noChangeAspect="1"/>
          </p:cNvPicPr>
          <p:nvPr/>
        </p:nvPicPr>
        <p:blipFill>
          <a:blip r:embed="rId3"/>
          <a:stretch>
            <a:fillRect/>
          </a:stretch>
        </p:blipFill>
        <p:spPr>
          <a:xfrm>
            <a:off x="3059500" y="4182114"/>
            <a:ext cx="2956240" cy="1151943"/>
          </a:xfrm>
          <a:prstGeom prst="rect">
            <a:avLst/>
          </a:prstGeom>
        </p:spPr>
      </p:pic>
    </p:spTree>
    <p:extLst>
      <p:ext uri="{BB962C8B-B14F-4D97-AF65-F5344CB8AC3E}">
        <p14:creationId xmlns:p14="http://schemas.microsoft.com/office/powerpoint/2010/main" val="3160927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7">
            <a:extLst>
              <a:ext uri="{FF2B5EF4-FFF2-40B4-BE49-F238E27FC236}">
                <a16:creationId xmlns:a16="http://schemas.microsoft.com/office/drawing/2014/main" id="{40AD5B25-6B70-49F5-AA3F-16BB5CF16094}"/>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3. …GOBIERNO Y GESTIÓN </a:t>
            </a:r>
          </a:p>
        </p:txBody>
      </p:sp>
      <p:sp>
        <p:nvSpPr>
          <p:cNvPr id="11" name="object 7">
            <a:extLst>
              <a:ext uri="{FF2B5EF4-FFF2-40B4-BE49-F238E27FC236}">
                <a16:creationId xmlns:a16="http://schemas.microsoft.com/office/drawing/2014/main" id="{821C551E-1A98-4913-898B-9C08E4F6EE70}"/>
              </a:ext>
            </a:extLst>
          </p:cNvPr>
          <p:cNvSpPr txBox="1"/>
          <p:nvPr/>
        </p:nvSpPr>
        <p:spPr>
          <a:xfrm>
            <a:off x="663308" y="1256746"/>
            <a:ext cx="4010292" cy="261610"/>
          </a:xfrm>
          <a:prstGeom prst="rect">
            <a:avLst/>
          </a:prstGeom>
        </p:spPr>
        <p:txBody>
          <a:bodyPr vert="horz" wrap="square" lIns="0" tIns="0" rIns="0" bIns="0" rtlCol="0">
            <a:spAutoFit/>
          </a:bodyPr>
          <a:lstStyle/>
          <a:p>
            <a:pPr marL="297475" indent="-285750">
              <a:buSzPct val="100000"/>
              <a:buFont typeface="Wingdings" panose="05000000000000000000" pitchFamily="2" charset="2"/>
              <a:buChar char="q"/>
              <a:tabLst>
                <a:tab pos="121285" algn="l"/>
              </a:tabLst>
            </a:pPr>
            <a:r>
              <a:rPr lang="es-PE" sz="1700" b="1" spc="-10" dirty="0">
                <a:solidFill>
                  <a:srgbClr val="262626"/>
                </a:solidFill>
                <a:cs typeface="Source Sans Pro"/>
              </a:rPr>
              <a:t>La Gestión:</a:t>
            </a:r>
          </a:p>
        </p:txBody>
      </p:sp>
      <p:sp>
        <p:nvSpPr>
          <p:cNvPr id="12" name="object 7">
            <a:extLst>
              <a:ext uri="{FF2B5EF4-FFF2-40B4-BE49-F238E27FC236}">
                <a16:creationId xmlns:a16="http://schemas.microsoft.com/office/drawing/2014/main" id="{E8749E3F-2C3B-4ACC-985B-C44C7C003E7F}"/>
              </a:ext>
            </a:extLst>
          </p:cNvPr>
          <p:cNvSpPr txBox="1"/>
          <p:nvPr/>
        </p:nvSpPr>
        <p:spPr>
          <a:xfrm>
            <a:off x="720461" y="1675816"/>
            <a:ext cx="3586293" cy="2200602"/>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Planifica, construye, ejecuta y monitorea actividades en línea con la dirección establecida por el órgano de gobierno para alcanzar los objetivos de la empresa. </a:t>
            </a:r>
          </a:p>
          <a:p>
            <a:pPr algn="just">
              <a:spcAft>
                <a:spcPts val="1800"/>
              </a:spcAft>
              <a:buSzPct val="100000"/>
              <a:tabLst>
                <a:tab pos="121285" algn="l"/>
              </a:tabLst>
            </a:pPr>
            <a:r>
              <a:rPr lang="es-ES" sz="1600" spc="-10" dirty="0">
                <a:solidFill>
                  <a:srgbClr val="262626"/>
                </a:solidFill>
              </a:rPr>
              <a:t>En la mayoría de las empresas, la gerencia es responsabilidad de la dirección ejecutiva bajo el liderazgo del director general ejecutivo (CEO). </a:t>
            </a:r>
          </a:p>
        </p:txBody>
      </p:sp>
      <p:sp>
        <p:nvSpPr>
          <p:cNvPr id="13" name="Rectangle 5">
            <a:extLst>
              <a:ext uri="{FF2B5EF4-FFF2-40B4-BE49-F238E27FC236}">
                <a16:creationId xmlns:a16="http://schemas.microsoft.com/office/drawing/2014/main" id="{2E7E40A9-CC00-4566-AB36-25EE94D5A473}"/>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¿QUÉ ES Y QUÉ NO ES COBIT?</a:t>
            </a:r>
          </a:p>
        </p:txBody>
      </p:sp>
      <p:pic>
        <p:nvPicPr>
          <p:cNvPr id="9218" name="Picture 2">
            <a:extLst>
              <a:ext uri="{FF2B5EF4-FFF2-40B4-BE49-F238E27FC236}">
                <a16:creationId xmlns:a16="http://schemas.microsoft.com/office/drawing/2014/main" id="{DC58DFEE-D6BF-43BC-A40B-E0E8022F7E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8740" y="1156524"/>
            <a:ext cx="3401952" cy="3401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7792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7">
            <a:extLst>
              <a:ext uri="{FF2B5EF4-FFF2-40B4-BE49-F238E27FC236}">
                <a16:creationId xmlns:a16="http://schemas.microsoft.com/office/drawing/2014/main" id="{FD2A0B90-DA8C-46BA-A87B-1537A0A38E6F}"/>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4. IMPORTANCIA DE COBIT   </a:t>
            </a:r>
          </a:p>
        </p:txBody>
      </p:sp>
      <p:sp>
        <p:nvSpPr>
          <p:cNvPr id="11" name="object 7">
            <a:extLst>
              <a:ext uri="{FF2B5EF4-FFF2-40B4-BE49-F238E27FC236}">
                <a16:creationId xmlns:a16="http://schemas.microsoft.com/office/drawing/2014/main" id="{B55876DE-7504-45DE-94E6-A5334548075B}"/>
              </a:ext>
            </a:extLst>
          </p:cNvPr>
          <p:cNvSpPr txBox="1"/>
          <p:nvPr/>
        </p:nvSpPr>
        <p:spPr>
          <a:xfrm>
            <a:off x="589831" y="1258267"/>
            <a:ext cx="4694145" cy="3000821"/>
          </a:xfrm>
          <a:prstGeom prst="rect">
            <a:avLst/>
          </a:prstGeom>
        </p:spPr>
        <p:txBody>
          <a:bodyPr vert="horz" wrap="square" lIns="0" tIns="0" rIns="0" bIns="0" rtlCol="0">
            <a:spAutoFit/>
          </a:bodyPr>
          <a:lstStyle/>
          <a:p>
            <a:pPr marL="285750" indent="-285750" algn="just">
              <a:spcAft>
                <a:spcPts val="1800"/>
              </a:spcAft>
              <a:buSzPct val="100000"/>
              <a:buFont typeface="Wingdings" panose="05000000000000000000" pitchFamily="2" charset="2"/>
              <a:buChar char="ü"/>
              <a:tabLst>
                <a:tab pos="121285" algn="l"/>
              </a:tabLst>
            </a:pPr>
            <a:r>
              <a:rPr lang="es-ES" sz="1500" spc="-10" dirty="0">
                <a:solidFill>
                  <a:srgbClr val="262626"/>
                </a:solidFill>
              </a:rPr>
              <a:t>COBIT define los componentes para crear y sostener un sistema de gobierno: procesos, estructuras organizativas, políticas y procedimientos, flujos de información, cultura y comportamientos, habilidades e infraestructura.</a:t>
            </a:r>
          </a:p>
          <a:p>
            <a:pPr marL="285750" indent="-285750" algn="just">
              <a:spcAft>
                <a:spcPts val="1800"/>
              </a:spcAft>
              <a:buSzPct val="100000"/>
              <a:buFont typeface="Wingdings" panose="05000000000000000000" pitchFamily="2" charset="2"/>
              <a:buChar char="ü"/>
              <a:tabLst>
                <a:tab pos="121285" algn="l"/>
              </a:tabLst>
            </a:pPr>
            <a:r>
              <a:rPr lang="es-ES" sz="1500" spc="-10" dirty="0">
                <a:solidFill>
                  <a:srgbClr val="262626"/>
                </a:solidFill>
              </a:rPr>
              <a:t>COBIT define los factores de diseño que deberían ser considerados por la empresa para crear un sistema de gobierno más adecuado. </a:t>
            </a:r>
          </a:p>
          <a:p>
            <a:pPr marL="285750" indent="-285750" algn="just">
              <a:spcAft>
                <a:spcPts val="1800"/>
              </a:spcAft>
              <a:buSzPct val="100000"/>
              <a:buFont typeface="Wingdings" panose="05000000000000000000" pitchFamily="2" charset="2"/>
              <a:buChar char="ü"/>
              <a:tabLst>
                <a:tab pos="121285" algn="l"/>
              </a:tabLst>
            </a:pPr>
            <a:r>
              <a:rPr lang="es-ES" sz="1500" spc="-10" dirty="0">
                <a:solidFill>
                  <a:srgbClr val="262626"/>
                </a:solidFill>
              </a:rPr>
              <a:t>COBIT trata asuntos de gobierno mediante la agrupación de componentes de gobierno relevantes dentro de objetivos de gobierno y gestión que pueden gestionarse según los niveles de capacidad requeridos. </a:t>
            </a:r>
          </a:p>
        </p:txBody>
      </p:sp>
      <p:sp>
        <p:nvSpPr>
          <p:cNvPr id="12" name="Rectangle 5">
            <a:extLst>
              <a:ext uri="{FF2B5EF4-FFF2-40B4-BE49-F238E27FC236}">
                <a16:creationId xmlns:a16="http://schemas.microsoft.com/office/drawing/2014/main" id="{3D5113C5-A1A4-4347-9B3C-CB859B4E48BB}"/>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¿QUÉ ES Y QUÉ NO ES COBIT?</a:t>
            </a:r>
          </a:p>
        </p:txBody>
      </p:sp>
      <p:pic>
        <p:nvPicPr>
          <p:cNvPr id="3" name="Imagen 2">
            <a:extLst>
              <a:ext uri="{FF2B5EF4-FFF2-40B4-BE49-F238E27FC236}">
                <a16:creationId xmlns:a16="http://schemas.microsoft.com/office/drawing/2014/main" id="{D35CE35C-E7C9-447C-99F5-28FC6EADD390}"/>
              </a:ext>
            </a:extLst>
          </p:cNvPr>
          <p:cNvPicPr>
            <a:picLocks noChangeAspect="1"/>
          </p:cNvPicPr>
          <p:nvPr/>
        </p:nvPicPr>
        <p:blipFill>
          <a:blip r:embed="rId3"/>
          <a:stretch>
            <a:fillRect/>
          </a:stretch>
        </p:blipFill>
        <p:spPr>
          <a:xfrm>
            <a:off x="5556201" y="1848054"/>
            <a:ext cx="3327133" cy="2018891"/>
          </a:xfrm>
          <a:prstGeom prst="rect">
            <a:avLst/>
          </a:prstGeom>
        </p:spPr>
      </p:pic>
    </p:spTree>
    <p:extLst>
      <p:ext uri="{BB962C8B-B14F-4D97-AF65-F5344CB8AC3E}">
        <p14:creationId xmlns:p14="http://schemas.microsoft.com/office/powerpoint/2010/main" val="3061497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4CC030D-0BF1-41B3-8F33-80F9EF13FEC9}"/>
              </a:ext>
            </a:extLst>
          </p:cNvPr>
          <p:cNvPicPr>
            <a:picLocks noChangeAspect="1"/>
          </p:cNvPicPr>
          <p:nvPr/>
        </p:nvPicPr>
        <p:blipFill>
          <a:blip r:embed="rId3"/>
          <a:stretch>
            <a:fillRect/>
          </a:stretch>
        </p:blipFill>
        <p:spPr>
          <a:xfrm>
            <a:off x="780144" y="781330"/>
            <a:ext cx="7583712" cy="4437165"/>
          </a:xfrm>
          <a:prstGeom prst="rect">
            <a:avLst/>
          </a:prstGeom>
        </p:spPr>
      </p:pic>
      <p:sp>
        <p:nvSpPr>
          <p:cNvPr id="10" name="object 7">
            <a:extLst>
              <a:ext uri="{FF2B5EF4-FFF2-40B4-BE49-F238E27FC236}">
                <a16:creationId xmlns:a16="http://schemas.microsoft.com/office/drawing/2014/main" id="{FD2A0B90-DA8C-46BA-A87B-1537A0A38E6F}"/>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5. GENERALIDADES</a:t>
            </a:r>
          </a:p>
        </p:txBody>
      </p:sp>
      <p:sp>
        <p:nvSpPr>
          <p:cNvPr id="12" name="Rectangle 5">
            <a:extLst>
              <a:ext uri="{FF2B5EF4-FFF2-40B4-BE49-F238E27FC236}">
                <a16:creationId xmlns:a16="http://schemas.microsoft.com/office/drawing/2014/main" id="{3D5113C5-A1A4-4347-9B3C-CB859B4E48BB}"/>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¿QUÉ ES Y QUÉ NO ES COBIT?</a:t>
            </a:r>
          </a:p>
        </p:txBody>
      </p:sp>
    </p:spTree>
    <p:extLst>
      <p:ext uri="{BB962C8B-B14F-4D97-AF65-F5344CB8AC3E}">
        <p14:creationId xmlns:p14="http://schemas.microsoft.com/office/powerpoint/2010/main" val="3588342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EVOLUCIÓN</a:t>
            </a:r>
          </a:p>
        </p:txBody>
      </p:sp>
    </p:spTree>
    <p:custDataLst>
      <p:tags r:id="rId1"/>
    </p:custDataLst>
    <p:extLst>
      <p:ext uri="{BB962C8B-B14F-4D97-AF65-F5344CB8AC3E}">
        <p14:creationId xmlns:p14="http://schemas.microsoft.com/office/powerpoint/2010/main" val="46930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a:extLst>
              <a:ext uri="{FF2B5EF4-FFF2-40B4-BE49-F238E27FC236}">
                <a16:creationId xmlns:a16="http://schemas.microsoft.com/office/drawing/2014/main" id="{3D5113C5-A1A4-4347-9B3C-CB859B4E48BB}"/>
              </a:ext>
            </a:extLst>
          </p:cNvPr>
          <p:cNvSpPr/>
          <p:nvPr/>
        </p:nvSpPr>
        <p:spPr>
          <a:xfrm>
            <a:off x="407875" y="320830"/>
            <a:ext cx="7204493" cy="353943"/>
          </a:xfrm>
          <a:prstGeom prst="rect">
            <a:avLst/>
          </a:prstGeom>
        </p:spPr>
        <p:txBody>
          <a:bodyPr wrap="square">
            <a:spAutoFit/>
          </a:bodyPr>
          <a:lstStyle/>
          <a:p>
            <a:r>
              <a:rPr lang="en-US" sz="1700" b="1" dirty="0">
                <a:solidFill>
                  <a:srgbClr val="438AD7"/>
                </a:solidFill>
              </a:rPr>
              <a:t>/ EVOLUCIÓN</a:t>
            </a:r>
          </a:p>
        </p:txBody>
      </p:sp>
      <p:grpSp>
        <p:nvGrpSpPr>
          <p:cNvPr id="76" name="Grupo 75">
            <a:extLst>
              <a:ext uri="{FF2B5EF4-FFF2-40B4-BE49-F238E27FC236}">
                <a16:creationId xmlns:a16="http://schemas.microsoft.com/office/drawing/2014/main" id="{399B4B56-B31E-44A2-B7D4-90B0F3698A5D}"/>
              </a:ext>
            </a:extLst>
          </p:cNvPr>
          <p:cNvGrpSpPr/>
          <p:nvPr/>
        </p:nvGrpSpPr>
        <p:grpSpPr>
          <a:xfrm>
            <a:off x="626724" y="899784"/>
            <a:ext cx="7624763" cy="4305993"/>
            <a:chOff x="463485" y="386889"/>
            <a:chExt cx="8209026" cy="4685369"/>
          </a:xfrm>
        </p:grpSpPr>
        <p:pic>
          <p:nvPicPr>
            <p:cNvPr id="4" name="Imagen 3">
              <a:extLst>
                <a:ext uri="{FF2B5EF4-FFF2-40B4-BE49-F238E27FC236}">
                  <a16:creationId xmlns:a16="http://schemas.microsoft.com/office/drawing/2014/main" id="{F9C17297-CE08-4E41-81F0-3BCCE593A4D7}"/>
                </a:ext>
              </a:extLst>
            </p:cNvPr>
            <p:cNvPicPr>
              <a:picLocks noChangeAspect="1"/>
            </p:cNvPicPr>
            <p:nvPr/>
          </p:nvPicPr>
          <p:blipFill>
            <a:blip r:embed="rId3"/>
            <a:stretch>
              <a:fillRect/>
            </a:stretch>
          </p:blipFill>
          <p:spPr>
            <a:xfrm>
              <a:off x="1168502" y="387001"/>
              <a:ext cx="7503884" cy="4137086"/>
            </a:xfrm>
            <a:prstGeom prst="rect">
              <a:avLst/>
            </a:prstGeom>
          </p:spPr>
        </p:pic>
        <p:grpSp>
          <p:nvGrpSpPr>
            <p:cNvPr id="2" name="Grupo 1">
              <a:extLst>
                <a:ext uri="{FF2B5EF4-FFF2-40B4-BE49-F238E27FC236}">
                  <a16:creationId xmlns:a16="http://schemas.microsoft.com/office/drawing/2014/main" id="{84988B09-DE79-44DD-BF24-48DF0B5C37E2}"/>
                </a:ext>
              </a:extLst>
            </p:cNvPr>
            <p:cNvGrpSpPr/>
            <p:nvPr/>
          </p:nvGrpSpPr>
          <p:grpSpPr>
            <a:xfrm>
              <a:off x="463485" y="386889"/>
              <a:ext cx="8209026" cy="4685369"/>
              <a:chOff x="463485" y="386889"/>
              <a:chExt cx="8209026" cy="4685369"/>
            </a:xfrm>
          </p:grpSpPr>
          <p:sp>
            <p:nvSpPr>
              <p:cNvPr id="6" name="Rectangle 3">
                <a:extLst>
                  <a:ext uri="{FF2B5EF4-FFF2-40B4-BE49-F238E27FC236}">
                    <a16:creationId xmlns:a16="http://schemas.microsoft.com/office/drawing/2014/main" id="{0BCB73A1-1584-47BA-8089-EA4DF65B9FA8}"/>
                  </a:ext>
                </a:extLst>
              </p:cNvPr>
              <p:cNvSpPr>
                <a:spLocks noChangeArrowheads="1"/>
              </p:cNvSpPr>
              <p:nvPr/>
            </p:nvSpPr>
            <p:spPr bwMode="auto">
              <a:xfrm>
                <a:off x="1168502" y="1182642"/>
                <a:ext cx="6247539" cy="3346714"/>
              </a:xfrm>
              <a:prstGeom prst="rect">
                <a:avLst/>
              </a:prstGeom>
              <a:solidFill>
                <a:srgbClr val="99C552"/>
              </a:solidFill>
              <a:ln>
                <a:noFill/>
              </a:ln>
              <a:effectLst/>
            </p:spPr>
            <p:txBody>
              <a:bodyPr wrap="none" anchor="ctr"/>
              <a:lstStyle/>
              <a:p>
                <a:pPr>
                  <a:defRPr/>
                </a:pPr>
                <a:endParaRPr lang="nl-BE" b="1">
                  <a:solidFill>
                    <a:schemeClr val="bg1"/>
                  </a:solidFill>
                  <a:latin typeface="+mj-lt"/>
                  <a:cs typeface="+mn-cs"/>
                </a:endParaRPr>
              </a:p>
            </p:txBody>
          </p:sp>
          <p:sp>
            <p:nvSpPr>
              <p:cNvPr id="7" name="Text Box 4">
                <a:extLst>
                  <a:ext uri="{FF2B5EF4-FFF2-40B4-BE49-F238E27FC236}">
                    <a16:creationId xmlns:a16="http://schemas.microsoft.com/office/drawing/2014/main" id="{566DB187-7C91-458C-947A-DE8EB5ED7A5C}"/>
                  </a:ext>
                </a:extLst>
              </p:cNvPr>
              <p:cNvSpPr txBox="1">
                <a:spLocks noChangeArrowheads="1"/>
              </p:cNvSpPr>
              <p:nvPr/>
            </p:nvSpPr>
            <p:spPr bwMode="auto">
              <a:xfrm>
                <a:off x="1329765" y="1328457"/>
                <a:ext cx="3326988" cy="349125"/>
              </a:xfrm>
              <a:prstGeom prst="rect">
                <a:avLst/>
              </a:prstGeom>
              <a:solidFill>
                <a:srgbClr val="99C552"/>
              </a:solidFill>
              <a:ln>
                <a:noFill/>
              </a:ln>
              <a:effectLst/>
            </p:spPr>
            <p:txBody>
              <a:bodyPr wrap="square">
                <a:spAutoFit/>
              </a:bodyPr>
              <a:lstStyle/>
              <a:p>
                <a:pPr>
                  <a:defRPr/>
                </a:pPr>
                <a:r>
                  <a:rPr lang="en-GB" sz="1333" b="1" dirty="0">
                    <a:solidFill>
                      <a:schemeClr val="bg1"/>
                    </a:solidFill>
                    <a:latin typeface="+mj-lt"/>
                    <a:cs typeface="Arial" charset="0"/>
                  </a:rPr>
                  <a:t>Gobierno Corporativo de TI</a:t>
                </a:r>
              </a:p>
            </p:txBody>
          </p:sp>
          <p:sp>
            <p:nvSpPr>
              <p:cNvPr id="8" name="Text Box 6">
                <a:extLst>
                  <a:ext uri="{FF2B5EF4-FFF2-40B4-BE49-F238E27FC236}">
                    <a16:creationId xmlns:a16="http://schemas.microsoft.com/office/drawing/2014/main" id="{A7BD9D47-F160-4565-A488-E1B4E981E1DD}"/>
                  </a:ext>
                </a:extLst>
              </p:cNvPr>
              <p:cNvSpPr txBox="1">
                <a:spLocks noChangeArrowheads="1"/>
              </p:cNvSpPr>
              <p:nvPr/>
            </p:nvSpPr>
            <p:spPr bwMode="auto">
              <a:xfrm>
                <a:off x="6476444" y="4189759"/>
                <a:ext cx="848057" cy="310955"/>
              </a:xfrm>
              <a:prstGeom prst="rect">
                <a:avLst/>
              </a:prstGeom>
              <a:solidFill>
                <a:srgbClr val="99C552"/>
              </a:solidFill>
              <a:ln>
                <a:noFill/>
              </a:ln>
              <a:effectLst/>
            </p:spPr>
            <p:txBody>
              <a:bodyPr wrap="none">
                <a:spAutoFit/>
              </a:bodyPr>
              <a:lstStyle/>
              <a:p>
                <a:pPr algn="ctr">
                  <a:defRPr/>
                </a:pPr>
                <a:r>
                  <a:rPr lang="en-GB" sz="1167" b="1" dirty="0">
                    <a:solidFill>
                      <a:schemeClr val="bg1"/>
                    </a:solidFill>
                    <a:latin typeface="+mj-lt"/>
                    <a:cs typeface="Arial" charset="0"/>
                  </a:rPr>
                  <a:t>COBIT 5</a:t>
                </a:r>
              </a:p>
            </p:txBody>
          </p:sp>
          <p:grpSp>
            <p:nvGrpSpPr>
              <p:cNvPr id="9" name="Group 31">
                <a:extLst>
                  <a:ext uri="{FF2B5EF4-FFF2-40B4-BE49-F238E27FC236}">
                    <a16:creationId xmlns:a16="http://schemas.microsoft.com/office/drawing/2014/main" id="{AC91AB75-26B5-493C-8AB8-D98A595923FD}"/>
                  </a:ext>
                </a:extLst>
              </p:cNvPr>
              <p:cNvGrpSpPr>
                <a:grpSpLocks/>
              </p:cNvGrpSpPr>
              <p:nvPr/>
            </p:nvGrpSpPr>
            <p:grpSpPr bwMode="auto">
              <a:xfrm>
                <a:off x="1183574" y="1764680"/>
                <a:ext cx="5254672" cy="2764677"/>
                <a:chOff x="1257" y="1119"/>
                <a:chExt cx="3248" cy="1905"/>
              </a:xfrm>
            </p:grpSpPr>
            <p:sp>
              <p:nvSpPr>
                <p:cNvPr id="39" name="Rectangle 3">
                  <a:extLst>
                    <a:ext uri="{FF2B5EF4-FFF2-40B4-BE49-F238E27FC236}">
                      <a16:creationId xmlns:a16="http://schemas.microsoft.com/office/drawing/2014/main" id="{5176E643-3B01-4FB5-ACC1-76152744CA6A}"/>
                    </a:ext>
                  </a:extLst>
                </p:cNvPr>
                <p:cNvSpPr>
                  <a:spLocks noChangeArrowheads="1"/>
                </p:cNvSpPr>
                <p:nvPr/>
              </p:nvSpPr>
              <p:spPr bwMode="auto">
                <a:xfrm>
                  <a:off x="1257" y="1119"/>
                  <a:ext cx="3220" cy="1905"/>
                </a:xfrm>
                <a:prstGeom prst="rect">
                  <a:avLst/>
                </a:prstGeom>
                <a:solidFill>
                  <a:srgbClr val="67529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nl-BE" altLang="es-PE" b="1">
                    <a:solidFill>
                      <a:schemeClr val="bg1"/>
                    </a:solidFill>
                    <a:latin typeface="+mj-lt"/>
                  </a:endParaRPr>
                </a:p>
              </p:txBody>
            </p:sp>
            <p:sp>
              <p:nvSpPr>
                <p:cNvPr id="40" name="Text Box 4">
                  <a:extLst>
                    <a:ext uri="{FF2B5EF4-FFF2-40B4-BE49-F238E27FC236}">
                      <a16:creationId xmlns:a16="http://schemas.microsoft.com/office/drawing/2014/main" id="{38347B6E-262F-4C1F-B471-03DDDB816A1A}"/>
                    </a:ext>
                  </a:extLst>
                </p:cNvPr>
                <p:cNvSpPr txBox="1">
                  <a:spLocks noChangeArrowheads="1"/>
                </p:cNvSpPr>
                <p:nvPr/>
              </p:nvSpPr>
              <p:spPr bwMode="auto">
                <a:xfrm>
                  <a:off x="1361" y="1244"/>
                  <a:ext cx="965"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s-PE" sz="1333" b="1" dirty="0">
                      <a:solidFill>
                        <a:schemeClr val="bg1"/>
                      </a:solidFill>
                      <a:latin typeface="+mj-lt"/>
                    </a:rPr>
                    <a:t>Gobierno de TI</a:t>
                  </a:r>
                </a:p>
              </p:txBody>
            </p:sp>
            <p:sp>
              <p:nvSpPr>
                <p:cNvPr id="41" name="Text Box 6">
                  <a:extLst>
                    <a:ext uri="{FF2B5EF4-FFF2-40B4-BE49-F238E27FC236}">
                      <a16:creationId xmlns:a16="http://schemas.microsoft.com/office/drawing/2014/main" id="{ED1CF777-B1FE-4E5B-83EB-019E1B543DDE}"/>
                    </a:ext>
                  </a:extLst>
                </p:cNvPr>
                <p:cNvSpPr txBox="1">
                  <a:spLocks noChangeArrowheads="1"/>
                </p:cNvSpPr>
                <p:nvPr/>
              </p:nvSpPr>
              <p:spPr bwMode="auto">
                <a:xfrm>
                  <a:off x="3742" y="2790"/>
                  <a:ext cx="763"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s-PE" sz="1167" b="1" dirty="0">
                      <a:solidFill>
                        <a:schemeClr val="bg1"/>
                      </a:solidFill>
                      <a:latin typeface="+mj-lt"/>
                    </a:rPr>
                    <a:t>C</a:t>
                  </a:r>
                  <a:r>
                    <a:rPr lang="en-GB" altLang="es-PE" sz="1000" b="1" dirty="0">
                      <a:solidFill>
                        <a:schemeClr val="bg1"/>
                      </a:solidFill>
                      <a:latin typeface="+mj-lt"/>
                    </a:rPr>
                    <a:t>OBI</a:t>
                  </a:r>
                  <a:r>
                    <a:rPr lang="en-GB" altLang="es-PE" sz="1167" b="1" dirty="0">
                      <a:solidFill>
                        <a:schemeClr val="bg1"/>
                      </a:solidFill>
                      <a:latin typeface="+mj-lt"/>
                    </a:rPr>
                    <a:t>T4.0/4.1</a:t>
                  </a:r>
                </a:p>
              </p:txBody>
            </p:sp>
          </p:grpSp>
          <p:grpSp>
            <p:nvGrpSpPr>
              <p:cNvPr id="13" name="Group 30">
                <a:extLst>
                  <a:ext uri="{FF2B5EF4-FFF2-40B4-BE49-F238E27FC236}">
                    <a16:creationId xmlns:a16="http://schemas.microsoft.com/office/drawing/2014/main" id="{9695C65A-F89D-494A-815C-77EDCEDD3885}"/>
                  </a:ext>
                </a:extLst>
              </p:cNvPr>
              <p:cNvGrpSpPr>
                <a:grpSpLocks/>
              </p:cNvGrpSpPr>
              <p:nvPr/>
            </p:nvGrpSpPr>
            <p:grpSpPr bwMode="auto">
              <a:xfrm>
                <a:off x="1183574" y="2398252"/>
                <a:ext cx="4025806" cy="2131105"/>
                <a:chOff x="1257" y="1618"/>
                <a:chExt cx="2404" cy="1406"/>
              </a:xfrm>
            </p:grpSpPr>
            <p:sp>
              <p:nvSpPr>
                <p:cNvPr id="36" name="Rectangle 8">
                  <a:extLst>
                    <a:ext uri="{FF2B5EF4-FFF2-40B4-BE49-F238E27FC236}">
                      <a16:creationId xmlns:a16="http://schemas.microsoft.com/office/drawing/2014/main" id="{0C028A94-95A4-4D25-BEF7-07DA6356B54B}"/>
                    </a:ext>
                  </a:extLst>
                </p:cNvPr>
                <p:cNvSpPr>
                  <a:spLocks noChangeArrowheads="1"/>
                </p:cNvSpPr>
                <p:nvPr/>
              </p:nvSpPr>
              <p:spPr bwMode="auto">
                <a:xfrm>
                  <a:off x="1257" y="1618"/>
                  <a:ext cx="2404" cy="1406"/>
                </a:xfrm>
                <a:prstGeom prst="rect">
                  <a:avLst/>
                </a:prstGeom>
                <a:solidFill>
                  <a:srgbClr val="438AD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nl-BE" altLang="es-PE" b="1">
                    <a:solidFill>
                      <a:schemeClr val="bg1"/>
                    </a:solidFill>
                    <a:latin typeface="+mj-lt"/>
                  </a:endParaRPr>
                </a:p>
              </p:txBody>
            </p:sp>
            <p:sp>
              <p:nvSpPr>
                <p:cNvPr id="37" name="Text Box 9">
                  <a:extLst>
                    <a:ext uri="{FF2B5EF4-FFF2-40B4-BE49-F238E27FC236}">
                      <a16:creationId xmlns:a16="http://schemas.microsoft.com/office/drawing/2014/main" id="{BC04DD65-4751-4D6B-B1BE-74A9F8BBEA5D}"/>
                    </a:ext>
                  </a:extLst>
                </p:cNvPr>
                <p:cNvSpPr txBox="1">
                  <a:spLocks noChangeArrowheads="1"/>
                </p:cNvSpPr>
                <p:nvPr/>
              </p:nvSpPr>
              <p:spPr bwMode="auto">
                <a:xfrm>
                  <a:off x="1357" y="1723"/>
                  <a:ext cx="952"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s-PE" sz="1333" b="1" dirty="0">
                      <a:solidFill>
                        <a:schemeClr val="bg1"/>
                      </a:solidFill>
                      <a:latin typeface="+mj-lt"/>
                    </a:rPr>
                    <a:t>Administración</a:t>
                  </a:r>
                </a:p>
              </p:txBody>
            </p:sp>
            <p:sp>
              <p:nvSpPr>
                <p:cNvPr id="38" name="Text Box 11">
                  <a:extLst>
                    <a:ext uri="{FF2B5EF4-FFF2-40B4-BE49-F238E27FC236}">
                      <a16:creationId xmlns:a16="http://schemas.microsoft.com/office/drawing/2014/main" id="{8EF4989C-36B7-414A-BBA3-87D0B0F5E978}"/>
                    </a:ext>
                  </a:extLst>
                </p:cNvPr>
                <p:cNvSpPr txBox="1">
                  <a:spLocks noChangeArrowheads="1"/>
                </p:cNvSpPr>
                <p:nvPr/>
              </p:nvSpPr>
              <p:spPr bwMode="auto">
                <a:xfrm>
                  <a:off x="3061" y="2801"/>
                  <a:ext cx="457"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s-PE" sz="1167" b="1">
                      <a:solidFill>
                        <a:schemeClr val="bg1"/>
                      </a:solidFill>
                      <a:latin typeface="+mj-lt"/>
                    </a:rPr>
                    <a:t>C</a:t>
                  </a:r>
                  <a:r>
                    <a:rPr lang="en-GB" altLang="es-PE" sz="1000" b="1">
                      <a:solidFill>
                        <a:schemeClr val="bg1"/>
                      </a:solidFill>
                      <a:latin typeface="+mj-lt"/>
                    </a:rPr>
                    <a:t>OBI</a:t>
                  </a:r>
                  <a:r>
                    <a:rPr lang="en-GB" altLang="es-PE" sz="1167" b="1">
                      <a:solidFill>
                        <a:schemeClr val="bg1"/>
                      </a:solidFill>
                      <a:latin typeface="+mj-lt"/>
                    </a:rPr>
                    <a:t>T3</a:t>
                  </a:r>
                </a:p>
              </p:txBody>
            </p:sp>
          </p:grpSp>
          <p:grpSp>
            <p:nvGrpSpPr>
              <p:cNvPr id="14" name="Group 29">
                <a:extLst>
                  <a:ext uri="{FF2B5EF4-FFF2-40B4-BE49-F238E27FC236}">
                    <a16:creationId xmlns:a16="http://schemas.microsoft.com/office/drawing/2014/main" id="{F83CE31B-D78A-457F-99D3-938139FF4303}"/>
                  </a:ext>
                </a:extLst>
              </p:cNvPr>
              <p:cNvGrpSpPr>
                <a:grpSpLocks/>
              </p:cNvGrpSpPr>
              <p:nvPr/>
            </p:nvGrpSpPr>
            <p:grpSpPr bwMode="auto">
              <a:xfrm>
                <a:off x="1183575" y="3016666"/>
                <a:ext cx="2734667" cy="1512691"/>
                <a:chOff x="1257" y="2026"/>
                <a:chExt cx="1633" cy="998"/>
              </a:xfrm>
            </p:grpSpPr>
            <p:sp>
              <p:nvSpPr>
                <p:cNvPr id="33" name="Rectangle 13">
                  <a:extLst>
                    <a:ext uri="{FF2B5EF4-FFF2-40B4-BE49-F238E27FC236}">
                      <a16:creationId xmlns:a16="http://schemas.microsoft.com/office/drawing/2014/main" id="{4DCD5AB0-8B7E-4D7F-86DB-236B52CE8EBC}"/>
                    </a:ext>
                  </a:extLst>
                </p:cNvPr>
                <p:cNvSpPr>
                  <a:spLocks noChangeArrowheads="1"/>
                </p:cNvSpPr>
                <p:nvPr/>
              </p:nvSpPr>
              <p:spPr bwMode="auto">
                <a:xfrm>
                  <a:off x="1257" y="2026"/>
                  <a:ext cx="1633" cy="998"/>
                </a:xfrm>
                <a:prstGeom prst="rect">
                  <a:avLst/>
                </a:prstGeom>
                <a:solidFill>
                  <a:srgbClr val="F2D06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nl-BE" altLang="es-PE" b="1">
                    <a:solidFill>
                      <a:schemeClr val="bg1"/>
                    </a:solidFill>
                    <a:latin typeface="+mj-lt"/>
                  </a:endParaRPr>
                </a:p>
              </p:txBody>
            </p:sp>
            <p:sp>
              <p:nvSpPr>
                <p:cNvPr id="34" name="Text Box 14">
                  <a:extLst>
                    <a:ext uri="{FF2B5EF4-FFF2-40B4-BE49-F238E27FC236}">
                      <a16:creationId xmlns:a16="http://schemas.microsoft.com/office/drawing/2014/main" id="{8DE71B75-2118-4278-A255-90A1DAE940B0}"/>
                    </a:ext>
                  </a:extLst>
                </p:cNvPr>
                <p:cNvSpPr txBox="1">
                  <a:spLocks noChangeArrowheads="1"/>
                </p:cNvSpPr>
                <p:nvPr/>
              </p:nvSpPr>
              <p:spPr bwMode="auto">
                <a:xfrm>
                  <a:off x="1357" y="2099"/>
                  <a:ext cx="534"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s-PE" sz="1333" b="1" dirty="0">
                      <a:solidFill>
                        <a:schemeClr val="bg1"/>
                      </a:solidFill>
                      <a:latin typeface="+mj-lt"/>
                    </a:rPr>
                    <a:t>Control</a:t>
                  </a:r>
                </a:p>
              </p:txBody>
            </p:sp>
            <p:sp>
              <p:nvSpPr>
                <p:cNvPr id="35" name="Text Box 16">
                  <a:extLst>
                    <a:ext uri="{FF2B5EF4-FFF2-40B4-BE49-F238E27FC236}">
                      <a16:creationId xmlns:a16="http://schemas.microsoft.com/office/drawing/2014/main" id="{7699B4C6-8B62-4529-8F6A-15BD9CF66E33}"/>
                    </a:ext>
                  </a:extLst>
                </p:cNvPr>
                <p:cNvSpPr txBox="1">
                  <a:spLocks noChangeArrowheads="1"/>
                </p:cNvSpPr>
                <p:nvPr/>
              </p:nvSpPr>
              <p:spPr bwMode="auto">
                <a:xfrm>
                  <a:off x="2290" y="2801"/>
                  <a:ext cx="457"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s-PE" sz="1167" b="1">
                      <a:solidFill>
                        <a:schemeClr val="bg1"/>
                      </a:solidFill>
                      <a:latin typeface="+mj-lt"/>
                    </a:rPr>
                    <a:t>C</a:t>
                  </a:r>
                  <a:r>
                    <a:rPr lang="en-GB" altLang="es-PE" sz="1000" b="1">
                      <a:solidFill>
                        <a:schemeClr val="bg1"/>
                      </a:solidFill>
                      <a:latin typeface="+mj-lt"/>
                    </a:rPr>
                    <a:t>OBI</a:t>
                  </a:r>
                  <a:r>
                    <a:rPr lang="en-GB" altLang="es-PE" sz="1167" b="1">
                      <a:solidFill>
                        <a:schemeClr val="bg1"/>
                      </a:solidFill>
                      <a:latin typeface="+mj-lt"/>
                    </a:rPr>
                    <a:t>T2</a:t>
                  </a:r>
                </a:p>
              </p:txBody>
            </p:sp>
          </p:grpSp>
          <p:grpSp>
            <p:nvGrpSpPr>
              <p:cNvPr id="15" name="Group 28">
                <a:extLst>
                  <a:ext uri="{FF2B5EF4-FFF2-40B4-BE49-F238E27FC236}">
                    <a16:creationId xmlns:a16="http://schemas.microsoft.com/office/drawing/2014/main" id="{D6FC6E92-A267-499F-ACC5-EF0373B334FE}"/>
                  </a:ext>
                </a:extLst>
              </p:cNvPr>
              <p:cNvGrpSpPr>
                <a:grpSpLocks/>
              </p:cNvGrpSpPr>
              <p:nvPr/>
            </p:nvGrpSpPr>
            <p:grpSpPr bwMode="auto">
              <a:xfrm>
                <a:off x="1183574" y="3566873"/>
                <a:ext cx="1441856" cy="962484"/>
                <a:chOff x="1257" y="2389"/>
                <a:chExt cx="861" cy="635"/>
              </a:xfrm>
            </p:grpSpPr>
            <p:sp>
              <p:nvSpPr>
                <p:cNvPr id="30" name="Rectangle 20">
                  <a:extLst>
                    <a:ext uri="{FF2B5EF4-FFF2-40B4-BE49-F238E27FC236}">
                      <a16:creationId xmlns:a16="http://schemas.microsoft.com/office/drawing/2014/main" id="{D7BB92FA-9223-4F18-8A35-FD67974D5799}"/>
                    </a:ext>
                  </a:extLst>
                </p:cNvPr>
                <p:cNvSpPr>
                  <a:spLocks noChangeArrowheads="1"/>
                </p:cNvSpPr>
                <p:nvPr/>
              </p:nvSpPr>
              <p:spPr bwMode="auto">
                <a:xfrm>
                  <a:off x="1257" y="2389"/>
                  <a:ext cx="861" cy="635"/>
                </a:xfrm>
                <a:prstGeom prst="rect">
                  <a:avLst/>
                </a:prstGeom>
                <a:solidFill>
                  <a:srgbClr val="E65A4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GB" altLang="es-PE" b="1">
                    <a:solidFill>
                      <a:schemeClr val="bg1"/>
                    </a:solidFill>
                    <a:latin typeface="+mj-lt"/>
                  </a:endParaRPr>
                </a:p>
              </p:txBody>
            </p:sp>
            <p:sp>
              <p:nvSpPr>
                <p:cNvPr id="31" name="Text Box 21">
                  <a:extLst>
                    <a:ext uri="{FF2B5EF4-FFF2-40B4-BE49-F238E27FC236}">
                      <a16:creationId xmlns:a16="http://schemas.microsoft.com/office/drawing/2014/main" id="{4F8DA926-7789-4CFB-A544-737B13EC477B}"/>
                    </a:ext>
                  </a:extLst>
                </p:cNvPr>
                <p:cNvSpPr txBox="1">
                  <a:spLocks noChangeArrowheads="1"/>
                </p:cNvSpPr>
                <p:nvPr/>
              </p:nvSpPr>
              <p:spPr bwMode="auto">
                <a:xfrm>
                  <a:off x="1303" y="2453"/>
                  <a:ext cx="642"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s-PE" sz="1333" b="1" dirty="0">
                      <a:solidFill>
                        <a:schemeClr val="bg1"/>
                      </a:solidFill>
                      <a:latin typeface="+mj-lt"/>
                    </a:rPr>
                    <a:t>Auditoría</a:t>
                  </a:r>
                </a:p>
              </p:txBody>
            </p:sp>
            <p:sp>
              <p:nvSpPr>
                <p:cNvPr id="32" name="Text Box 25">
                  <a:extLst>
                    <a:ext uri="{FF2B5EF4-FFF2-40B4-BE49-F238E27FC236}">
                      <a16:creationId xmlns:a16="http://schemas.microsoft.com/office/drawing/2014/main" id="{BA9FC1D5-1264-4964-B311-F6F640E90081}"/>
                    </a:ext>
                  </a:extLst>
                </p:cNvPr>
                <p:cNvSpPr txBox="1">
                  <a:spLocks noChangeArrowheads="1"/>
                </p:cNvSpPr>
                <p:nvPr/>
              </p:nvSpPr>
              <p:spPr bwMode="auto">
                <a:xfrm>
                  <a:off x="1444" y="2801"/>
                  <a:ext cx="457"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s-PE" sz="1167" b="1">
                      <a:solidFill>
                        <a:schemeClr val="bg1"/>
                      </a:solidFill>
                      <a:latin typeface="+mj-lt"/>
                    </a:rPr>
                    <a:t>C</a:t>
                  </a:r>
                  <a:r>
                    <a:rPr lang="en-GB" altLang="es-PE" sz="1000" b="1">
                      <a:solidFill>
                        <a:schemeClr val="bg1"/>
                      </a:solidFill>
                      <a:latin typeface="+mj-lt"/>
                    </a:rPr>
                    <a:t>OBI</a:t>
                  </a:r>
                  <a:r>
                    <a:rPr lang="en-GB" altLang="es-PE" sz="1167" b="1">
                      <a:solidFill>
                        <a:schemeClr val="bg1"/>
                      </a:solidFill>
                      <a:latin typeface="+mj-lt"/>
                    </a:rPr>
                    <a:t>T1</a:t>
                  </a:r>
                </a:p>
              </p:txBody>
            </p:sp>
          </p:grpSp>
          <p:grpSp>
            <p:nvGrpSpPr>
              <p:cNvPr id="16" name="Group 32">
                <a:extLst>
                  <a:ext uri="{FF2B5EF4-FFF2-40B4-BE49-F238E27FC236}">
                    <a16:creationId xmlns:a16="http://schemas.microsoft.com/office/drawing/2014/main" id="{F45667D5-2485-4200-8ED6-D89D90BBCAB6}"/>
                  </a:ext>
                </a:extLst>
              </p:cNvPr>
              <p:cNvGrpSpPr>
                <a:grpSpLocks/>
              </p:cNvGrpSpPr>
              <p:nvPr/>
            </p:nvGrpSpPr>
            <p:grpSpPr bwMode="auto">
              <a:xfrm>
                <a:off x="463485" y="386889"/>
                <a:ext cx="8209026" cy="4685097"/>
                <a:chOff x="827" y="291"/>
                <a:chExt cx="4902" cy="3091"/>
              </a:xfrm>
            </p:grpSpPr>
            <p:sp>
              <p:nvSpPr>
                <p:cNvPr id="23" name="Text Box 5">
                  <a:extLst>
                    <a:ext uri="{FF2B5EF4-FFF2-40B4-BE49-F238E27FC236}">
                      <a16:creationId xmlns:a16="http://schemas.microsoft.com/office/drawing/2014/main" id="{BE3FD331-6960-450C-B735-0F447CABE5CC}"/>
                    </a:ext>
                  </a:extLst>
                </p:cNvPr>
                <p:cNvSpPr txBox="1">
                  <a:spLocks noChangeArrowheads="1"/>
                </p:cNvSpPr>
                <p:nvPr/>
              </p:nvSpPr>
              <p:spPr bwMode="auto">
                <a:xfrm>
                  <a:off x="3579" y="3103"/>
                  <a:ext cx="67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s-PE" b="1" dirty="0">
                      <a:solidFill>
                        <a:schemeClr val="tx1">
                          <a:lumMod val="75000"/>
                          <a:lumOff val="25000"/>
                        </a:schemeClr>
                      </a:solidFill>
                      <a:latin typeface="+mj-lt"/>
                    </a:rPr>
                    <a:t>2005/7</a:t>
                  </a:r>
                </a:p>
              </p:txBody>
            </p:sp>
            <p:sp>
              <p:nvSpPr>
                <p:cNvPr id="24" name="Text Box 10">
                  <a:extLst>
                    <a:ext uri="{FF2B5EF4-FFF2-40B4-BE49-F238E27FC236}">
                      <a16:creationId xmlns:a16="http://schemas.microsoft.com/office/drawing/2014/main" id="{6B60BA52-1029-4482-8888-A7FFCD72EF74}"/>
                    </a:ext>
                  </a:extLst>
                </p:cNvPr>
                <p:cNvSpPr txBox="1">
                  <a:spLocks noChangeArrowheads="1"/>
                </p:cNvSpPr>
                <p:nvPr/>
              </p:nvSpPr>
              <p:spPr bwMode="auto">
                <a:xfrm>
                  <a:off x="2838" y="3103"/>
                  <a:ext cx="49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s-PE" b="1">
                      <a:solidFill>
                        <a:schemeClr val="tx1">
                          <a:lumMod val="75000"/>
                          <a:lumOff val="25000"/>
                        </a:schemeClr>
                      </a:solidFill>
                      <a:latin typeface="+mj-lt"/>
                    </a:rPr>
                    <a:t>2000</a:t>
                  </a:r>
                </a:p>
              </p:txBody>
            </p:sp>
            <p:sp>
              <p:nvSpPr>
                <p:cNvPr id="25" name="Text Box 15">
                  <a:extLst>
                    <a:ext uri="{FF2B5EF4-FFF2-40B4-BE49-F238E27FC236}">
                      <a16:creationId xmlns:a16="http://schemas.microsoft.com/office/drawing/2014/main" id="{5AABE1BA-5031-4BF5-9B57-15B4FF70C94D}"/>
                    </a:ext>
                  </a:extLst>
                </p:cNvPr>
                <p:cNvSpPr txBox="1">
                  <a:spLocks noChangeArrowheads="1"/>
                </p:cNvSpPr>
                <p:nvPr/>
              </p:nvSpPr>
              <p:spPr bwMode="auto">
                <a:xfrm>
                  <a:off x="2022" y="3103"/>
                  <a:ext cx="49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s-PE" b="1">
                      <a:solidFill>
                        <a:schemeClr val="tx1">
                          <a:lumMod val="75000"/>
                          <a:lumOff val="25000"/>
                        </a:schemeClr>
                      </a:solidFill>
                      <a:latin typeface="+mj-lt"/>
                    </a:rPr>
                    <a:t>1998</a:t>
                  </a:r>
                </a:p>
              </p:txBody>
            </p:sp>
            <p:sp>
              <p:nvSpPr>
                <p:cNvPr id="26" name="Text Box 19">
                  <a:extLst>
                    <a:ext uri="{FF2B5EF4-FFF2-40B4-BE49-F238E27FC236}">
                      <a16:creationId xmlns:a16="http://schemas.microsoft.com/office/drawing/2014/main" id="{ABF03BE5-AFA1-48BD-96F0-BA1C395C0024}"/>
                    </a:ext>
                  </a:extLst>
                </p:cNvPr>
                <p:cNvSpPr txBox="1">
                  <a:spLocks noChangeArrowheads="1"/>
                </p:cNvSpPr>
                <p:nvPr/>
              </p:nvSpPr>
              <p:spPr bwMode="auto">
                <a:xfrm flipV="1">
                  <a:off x="827" y="1231"/>
                  <a:ext cx="334" cy="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s-PE" sz="1667" b="1" dirty="0">
                      <a:solidFill>
                        <a:schemeClr val="tx1">
                          <a:lumMod val="75000"/>
                          <a:lumOff val="25000"/>
                        </a:schemeClr>
                      </a:solidFill>
                      <a:latin typeface="+mj-lt"/>
                    </a:rPr>
                    <a:t> </a:t>
                  </a:r>
                  <a:r>
                    <a:rPr lang="es-ES" altLang="es-PE" sz="1667" b="1" dirty="0">
                      <a:solidFill>
                        <a:schemeClr val="tx1">
                          <a:lumMod val="75000"/>
                          <a:lumOff val="25000"/>
                        </a:schemeClr>
                      </a:solidFill>
                      <a:latin typeface="+mj-lt"/>
                    </a:rPr>
                    <a:t>Evolución del Alcance</a:t>
                  </a:r>
                  <a:endParaRPr lang="en-US" altLang="es-PE" sz="1667" b="1" dirty="0">
                    <a:solidFill>
                      <a:schemeClr val="tx1">
                        <a:lumMod val="75000"/>
                        <a:lumOff val="25000"/>
                      </a:schemeClr>
                    </a:solidFill>
                    <a:latin typeface="+mj-lt"/>
                  </a:endParaRPr>
                </a:p>
              </p:txBody>
            </p:sp>
            <p:sp>
              <p:nvSpPr>
                <p:cNvPr id="27" name="Line 22">
                  <a:extLst>
                    <a:ext uri="{FF2B5EF4-FFF2-40B4-BE49-F238E27FC236}">
                      <a16:creationId xmlns:a16="http://schemas.microsoft.com/office/drawing/2014/main" id="{760844A0-FBD8-4BC4-9CE2-9A5617370872}"/>
                    </a:ext>
                  </a:extLst>
                </p:cNvPr>
                <p:cNvSpPr>
                  <a:spLocks noChangeShapeType="1"/>
                </p:cNvSpPr>
                <p:nvPr/>
              </p:nvSpPr>
              <p:spPr bwMode="auto">
                <a:xfrm flipH="1" flipV="1">
                  <a:off x="1244" y="291"/>
                  <a:ext cx="13" cy="2733"/>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PE" b="1" dirty="0">
                    <a:latin typeface="+mj-lt"/>
                  </a:endParaRPr>
                </a:p>
              </p:txBody>
            </p:sp>
            <p:sp>
              <p:nvSpPr>
                <p:cNvPr id="28" name="Line 23">
                  <a:extLst>
                    <a:ext uri="{FF2B5EF4-FFF2-40B4-BE49-F238E27FC236}">
                      <a16:creationId xmlns:a16="http://schemas.microsoft.com/office/drawing/2014/main" id="{B32F1B41-0EF0-41D1-8C4C-87DC9B9BD404}"/>
                    </a:ext>
                  </a:extLst>
                </p:cNvPr>
                <p:cNvSpPr>
                  <a:spLocks noChangeShapeType="1"/>
                </p:cNvSpPr>
                <p:nvPr/>
              </p:nvSpPr>
              <p:spPr bwMode="auto">
                <a:xfrm flipV="1">
                  <a:off x="1248" y="3021"/>
                  <a:ext cx="4481" cy="3"/>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PE" b="1" dirty="0">
                    <a:latin typeface="+mj-lt"/>
                  </a:endParaRPr>
                </a:p>
              </p:txBody>
            </p:sp>
            <p:sp>
              <p:nvSpPr>
                <p:cNvPr id="29" name="Text Box 24">
                  <a:extLst>
                    <a:ext uri="{FF2B5EF4-FFF2-40B4-BE49-F238E27FC236}">
                      <a16:creationId xmlns:a16="http://schemas.microsoft.com/office/drawing/2014/main" id="{42001BBD-1714-4EEC-9958-785C34A6B1EF}"/>
                    </a:ext>
                  </a:extLst>
                </p:cNvPr>
                <p:cNvSpPr txBox="1">
                  <a:spLocks noChangeArrowheads="1"/>
                </p:cNvSpPr>
                <p:nvPr/>
              </p:nvSpPr>
              <p:spPr bwMode="auto">
                <a:xfrm>
                  <a:off x="1206" y="3103"/>
                  <a:ext cx="49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s-PE" b="1" dirty="0">
                      <a:solidFill>
                        <a:schemeClr val="tx1">
                          <a:lumMod val="75000"/>
                          <a:lumOff val="25000"/>
                        </a:schemeClr>
                      </a:solidFill>
                      <a:latin typeface="+mj-lt"/>
                    </a:rPr>
                    <a:t>1996</a:t>
                  </a:r>
                </a:p>
              </p:txBody>
            </p:sp>
          </p:grpSp>
          <p:sp>
            <p:nvSpPr>
              <p:cNvPr id="17" name="Text Box 5">
                <a:extLst>
                  <a:ext uri="{FF2B5EF4-FFF2-40B4-BE49-F238E27FC236}">
                    <a16:creationId xmlns:a16="http://schemas.microsoft.com/office/drawing/2014/main" id="{886A1118-79A2-4218-8AE5-49BEFA38958E}"/>
                  </a:ext>
                </a:extLst>
              </p:cNvPr>
              <p:cNvSpPr txBox="1">
                <a:spLocks noChangeArrowheads="1"/>
              </p:cNvSpPr>
              <p:nvPr/>
            </p:nvSpPr>
            <p:spPr bwMode="auto">
              <a:xfrm>
                <a:off x="6326013" y="4649099"/>
                <a:ext cx="826282" cy="42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s-PE" b="1" dirty="0">
                    <a:solidFill>
                      <a:schemeClr val="tx1">
                        <a:lumMod val="75000"/>
                        <a:lumOff val="25000"/>
                      </a:schemeClr>
                    </a:solidFill>
                    <a:latin typeface="+mj-lt"/>
                  </a:rPr>
                  <a:t>2012</a:t>
                </a:r>
              </a:p>
            </p:txBody>
          </p:sp>
          <p:sp>
            <p:nvSpPr>
              <p:cNvPr id="18" name="Oval 35">
                <a:extLst>
                  <a:ext uri="{FF2B5EF4-FFF2-40B4-BE49-F238E27FC236}">
                    <a16:creationId xmlns:a16="http://schemas.microsoft.com/office/drawing/2014/main" id="{65A09E38-6086-4BBA-94F2-E14FF9C85CE9}"/>
                  </a:ext>
                </a:extLst>
              </p:cNvPr>
              <p:cNvSpPr/>
              <p:nvPr/>
            </p:nvSpPr>
            <p:spPr>
              <a:xfrm>
                <a:off x="5246221" y="2248195"/>
                <a:ext cx="1125350" cy="654792"/>
              </a:xfrm>
              <a:prstGeom prst="ellipse">
                <a:avLst/>
              </a:prstGeom>
              <a:solidFill>
                <a:srgbClr val="5AB5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a:solidFill>
                    <a:schemeClr val="bg1"/>
                  </a:solidFill>
                  <a:latin typeface="+mj-lt"/>
                </a:endParaRPr>
              </a:p>
            </p:txBody>
          </p:sp>
          <p:sp>
            <p:nvSpPr>
              <p:cNvPr id="19" name="TextBox 34">
                <a:extLst>
                  <a:ext uri="{FF2B5EF4-FFF2-40B4-BE49-F238E27FC236}">
                    <a16:creationId xmlns:a16="http://schemas.microsoft.com/office/drawing/2014/main" id="{EFF8D139-3F18-4D17-BF13-87B4A0C021AC}"/>
                  </a:ext>
                </a:extLst>
              </p:cNvPr>
              <p:cNvSpPr txBox="1">
                <a:spLocks noChangeArrowheads="1"/>
              </p:cNvSpPr>
              <p:nvPr/>
            </p:nvSpPr>
            <p:spPr bwMode="auto">
              <a:xfrm>
                <a:off x="5246221" y="2393704"/>
                <a:ext cx="1125350" cy="487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s-PE" sz="1333" b="1" dirty="0">
                    <a:solidFill>
                      <a:schemeClr val="bg1"/>
                    </a:solidFill>
                    <a:latin typeface="+mj-lt"/>
                  </a:rPr>
                  <a:t>Val IT 2.0</a:t>
                </a:r>
              </a:p>
              <a:p>
                <a:pPr algn="ctr" eaLnBrk="1" hangingPunct="1"/>
                <a:r>
                  <a:rPr lang="en-US" altLang="es-PE" sz="833" b="1" dirty="0">
                    <a:solidFill>
                      <a:schemeClr val="bg1"/>
                    </a:solidFill>
                    <a:latin typeface="+mj-lt"/>
                  </a:rPr>
                  <a:t>(2008)</a:t>
                </a:r>
              </a:p>
            </p:txBody>
          </p:sp>
          <p:sp>
            <p:nvSpPr>
              <p:cNvPr id="20" name="Oval 37">
                <a:extLst>
                  <a:ext uri="{FF2B5EF4-FFF2-40B4-BE49-F238E27FC236}">
                    <a16:creationId xmlns:a16="http://schemas.microsoft.com/office/drawing/2014/main" id="{77144670-68F5-42FE-A691-B9C27D878B90}"/>
                  </a:ext>
                </a:extLst>
              </p:cNvPr>
              <p:cNvSpPr/>
              <p:nvPr/>
            </p:nvSpPr>
            <p:spPr>
              <a:xfrm>
                <a:off x="5326603" y="3194006"/>
                <a:ext cx="964586" cy="654792"/>
              </a:xfrm>
              <a:prstGeom prst="ellipse">
                <a:avLst/>
              </a:prstGeom>
              <a:solidFill>
                <a:srgbClr val="5AB5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a:solidFill>
                    <a:schemeClr val="bg1"/>
                  </a:solidFill>
                  <a:latin typeface="+mj-lt"/>
                </a:endParaRPr>
              </a:p>
            </p:txBody>
          </p:sp>
          <p:sp>
            <p:nvSpPr>
              <p:cNvPr id="21" name="TextBox 37">
                <a:extLst>
                  <a:ext uri="{FF2B5EF4-FFF2-40B4-BE49-F238E27FC236}">
                    <a16:creationId xmlns:a16="http://schemas.microsoft.com/office/drawing/2014/main" id="{2E70B8A8-D705-4846-9E08-14E509EE7D15}"/>
                  </a:ext>
                </a:extLst>
              </p:cNvPr>
              <p:cNvSpPr txBox="1">
                <a:spLocks noChangeArrowheads="1"/>
              </p:cNvSpPr>
              <p:nvPr/>
            </p:nvSpPr>
            <p:spPr bwMode="auto">
              <a:xfrm>
                <a:off x="5326603" y="3339515"/>
                <a:ext cx="964586" cy="487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s-PE" sz="1333" b="1" dirty="0">
                    <a:solidFill>
                      <a:schemeClr val="bg1"/>
                    </a:solidFill>
                    <a:latin typeface="+mj-lt"/>
                  </a:rPr>
                  <a:t>Risk IT</a:t>
                </a:r>
              </a:p>
              <a:p>
                <a:pPr algn="ctr" eaLnBrk="1" hangingPunct="1"/>
                <a:r>
                  <a:rPr lang="en-US" altLang="es-PE" sz="833" b="1" dirty="0">
                    <a:solidFill>
                      <a:schemeClr val="bg1"/>
                    </a:solidFill>
                    <a:latin typeface="+mj-lt"/>
                  </a:rPr>
                  <a:t>(2009)</a:t>
                </a:r>
              </a:p>
            </p:txBody>
          </p:sp>
          <p:sp>
            <p:nvSpPr>
              <p:cNvPr id="22" name="Oval 39">
                <a:extLst>
                  <a:ext uri="{FF2B5EF4-FFF2-40B4-BE49-F238E27FC236}">
                    <a16:creationId xmlns:a16="http://schemas.microsoft.com/office/drawing/2014/main" id="{39D69A8B-1C8B-4EB1-A178-C13D0FC8AA0F}"/>
                  </a:ext>
                </a:extLst>
              </p:cNvPr>
              <p:cNvSpPr/>
              <p:nvPr/>
            </p:nvSpPr>
            <p:spPr>
              <a:xfrm>
                <a:off x="7437434" y="4037800"/>
                <a:ext cx="1205732" cy="436528"/>
              </a:xfrm>
              <a:prstGeom prst="ellipse">
                <a:avLst/>
              </a:prstGeom>
              <a:noFill/>
              <a:ln w="28575">
                <a:solidFill>
                  <a:srgbClr val="E65A4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a:solidFill>
                    <a:srgbClr val="FF0000"/>
                  </a:solidFill>
                  <a:latin typeface="+mj-lt"/>
                </a:endParaRPr>
              </a:p>
            </p:txBody>
          </p:sp>
        </p:grpSp>
      </p:grpSp>
      <p:sp>
        <p:nvSpPr>
          <p:cNvPr id="77" name="Text Box 6">
            <a:extLst>
              <a:ext uri="{FF2B5EF4-FFF2-40B4-BE49-F238E27FC236}">
                <a16:creationId xmlns:a16="http://schemas.microsoft.com/office/drawing/2014/main" id="{E80F5A03-6FDF-4F12-82CA-D1919AA8617F}"/>
              </a:ext>
            </a:extLst>
          </p:cNvPr>
          <p:cNvSpPr txBox="1">
            <a:spLocks noChangeArrowheads="1"/>
          </p:cNvSpPr>
          <p:nvPr/>
        </p:nvSpPr>
        <p:spPr bwMode="auto">
          <a:xfrm>
            <a:off x="7228959" y="4319703"/>
            <a:ext cx="896400" cy="271934"/>
          </a:xfrm>
          <a:prstGeom prst="rect">
            <a:avLst/>
          </a:prstGeom>
          <a:noFill/>
          <a:ln>
            <a:noFill/>
          </a:ln>
          <a:effectLst/>
        </p:spPr>
        <p:txBody>
          <a:bodyPr wrap="none">
            <a:spAutoFit/>
          </a:bodyPr>
          <a:lstStyle/>
          <a:p>
            <a:pPr algn="ctr">
              <a:defRPr/>
            </a:pPr>
            <a:r>
              <a:rPr lang="en-GB" sz="1167" b="1" dirty="0">
                <a:solidFill>
                  <a:schemeClr val="bg1"/>
                </a:solidFill>
                <a:latin typeface="+mj-lt"/>
                <a:cs typeface="Arial" charset="0"/>
              </a:rPr>
              <a:t>COBIT 2019</a:t>
            </a:r>
          </a:p>
        </p:txBody>
      </p:sp>
      <p:sp>
        <p:nvSpPr>
          <p:cNvPr id="78" name="Text Box 5">
            <a:extLst>
              <a:ext uri="{FF2B5EF4-FFF2-40B4-BE49-F238E27FC236}">
                <a16:creationId xmlns:a16="http://schemas.microsoft.com/office/drawing/2014/main" id="{14A03C8A-9A68-433C-B19C-F77FFE08BF93}"/>
              </a:ext>
            </a:extLst>
          </p:cNvPr>
          <p:cNvSpPr txBox="1">
            <a:spLocks noChangeArrowheads="1"/>
          </p:cNvSpPr>
          <p:nvPr/>
        </p:nvSpPr>
        <p:spPr bwMode="auto">
          <a:xfrm>
            <a:off x="7159150" y="4825900"/>
            <a:ext cx="6527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es-PE" b="1" dirty="0">
                <a:solidFill>
                  <a:schemeClr val="tx1">
                    <a:lumMod val="75000"/>
                    <a:lumOff val="25000"/>
                  </a:schemeClr>
                </a:solidFill>
                <a:latin typeface="+mj-lt"/>
              </a:rPr>
              <a:t>2018</a:t>
            </a:r>
          </a:p>
        </p:txBody>
      </p:sp>
      <p:sp>
        <p:nvSpPr>
          <p:cNvPr id="79" name="Text Box 4">
            <a:extLst>
              <a:ext uri="{FF2B5EF4-FFF2-40B4-BE49-F238E27FC236}">
                <a16:creationId xmlns:a16="http://schemas.microsoft.com/office/drawing/2014/main" id="{AF34178D-D0C4-44F1-9FD4-EA06E7B34D75}"/>
              </a:ext>
            </a:extLst>
          </p:cNvPr>
          <p:cNvSpPr txBox="1">
            <a:spLocks noChangeArrowheads="1"/>
          </p:cNvSpPr>
          <p:nvPr/>
        </p:nvSpPr>
        <p:spPr bwMode="auto">
          <a:xfrm>
            <a:off x="1431350" y="1160266"/>
            <a:ext cx="5339564" cy="297454"/>
          </a:xfrm>
          <a:prstGeom prst="rect">
            <a:avLst/>
          </a:prstGeom>
          <a:noFill/>
          <a:ln>
            <a:noFill/>
          </a:ln>
          <a:effectLst/>
        </p:spPr>
        <p:txBody>
          <a:bodyPr wrap="square">
            <a:spAutoFit/>
          </a:bodyPr>
          <a:lstStyle/>
          <a:p>
            <a:pPr>
              <a:defRPr/>
            </a:pPr>
            <a:r>
              <a:rPr lang="en-GB" sz="1333" b="1" dirty="0">
                <a:solidFill>
                  <a:schemeClr val="bg1"/>
                </a:solidFill>
                <a:latin typeface="+mj-lt"/>
                <a:cs typeface="Arial" charset="0"/>
              </a:rPr>
              <a:t>Gobierno y Gestión Empresarial de la Información y Tecnología (I&amp;T) </a:t>
            </a:r>
          </a:p>
        </p:txBody>
      </p:sp>
      <p:sp>
        <p:nvSpPr>
          <p:cNvPr id="80" name="Oval 35">
            <a:extLst>
              <a:ext uri="{FF2B5EF4-FFF2-40B4-BE49-F238E27FC236}">
                <a16:creationId xmlns:a16="http://schemas.microsoft.com/office/drawing/2014/main" id="{661D355A-E4FE-4EBC-8410-31AA840F568F}"/>
              </a:ext>
            </a:extLst>
          </p:cNvPr>
          <p:cNvSpPr/>
          <p:nvPr/>
        </p:nvSpPr>
        <p:spPr>
          <a:xfrm>
            <a:off x="7134395" y="3515248"/>
            <a:ext cx="1045255" cy="601773"/>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dirty="0">
              <a:solidFill>
                <a:schemeClr val="bg1"/>
              </a:solidFill>
              <a:latin typeface="+mj-lt"/>
            </a:endParaRPr>
          </a:p>
        </p:txBody>
      </p:sp>
      <p:sp>
        <p:nvSpPr>
          <p:cNvPr id="81" name="TextBox 34">
            <a:extLst>
              <a:ext uri="{FF2B5EF4-FFF2-40B4-BE49-F238E27FC236}">
                <a16:creationId xmlns:a16="http://schemas.microsoft.com/office/drawing/2014/main" id="{68D6A538-5580-409A-95EE-7DA867F1EB5C}"/>
              </a:ext>
            </a:extLst>
          </p:cNvPr>
          <p:cNvSpPr txBox="1">
            <a:spLocks noChangeArrowheads="1"/>
          </p:cNvSpPr>
          <p:nvPr/>
        </p:nvSpPr>
        <p:spPr bwMode="auto">
          <a:xfrm>
            <a:off x="7155626" y="3627805"/>
            <a:ext cx="104525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s-PE" sz="1050" b="1" dirty="0">
                <a:solidFill>
                  <a:schemeClr val="bg1"/>
                </a:solidFill>
                <a:latin typeface="+mj-lt"/>
              </a:rPr>
              <a:t>Integración Ágil</a:t>
            </a:r>
          </a:p>
        </p:txBody>
      </p:sp>
      <p:sp>
        <p:nvSpPr>
          <p:cNvPr id="82" name="Oval 35">
            <a:extLst>
              <a:ext uri="{FF2B5EF4-FFF2-40B4-BE49-F238E27FC236}">
                <a16:creationId xmlns:a16="http://schemas.microsoft.com/office/drawing/2014/main" id="{C4913C7E-605A-431B-B97A-9336373CF349}"/>
              </a:ext>
            </a:extLst>
          </p:cNvPr>
          <p:cNvSpPr/>
          <p:nvPr/>
        </p:nvSpPr>
        <p:spPr>
          <a:xfrm>
            <a:off x="7129409" y="2851724"/>
            <a:ext cx="1045255" cy="601773"/>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dirty="0">
              <a:solidFill>
                <a:schemeClr val="bg1"/>
              </a:solidFill>
              <a:latin typeface="+mj-lt"/>
            </a:endParaRPr>
          </a:p>
        </p:txBody>
      </p:sp>
      <p:sp>
        <p:nvSpPr>
          <p:cNvPr id="83" name="TextBox 34">
            <a:extLst>
              <a:ext uri="{FF2B5EF4-FFF2-40B4-BE49-F238E27FC236}">
                <a16:creationId xmlns:a16="http://schemas.microsoft.com/office/drawing/2014/main" id="{E6815A5A-F516-4A77-B31E-D693DA65D667}"/>
              </a:ext>
            </a:extLst>
          </p:cNvPr>
          <p:cNvSpPr txBox="1">
            <a:spLocks noChangeArrowheads="1"/>
          </p:cNvSpPr>
          <p:nvPr/>
        </p:nvSpPr>
        <p:spPr bwMode="auto">
          <a:xfrm>
            <a:off x="7132721" y="3025280"/>
            <a:ext cx="107451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s-PE" sz="1050" b="1" dirty="0">
                <a:solidFill>
                  <a:schemeClr val="bg1"/>
                </a:solidFill>
                <a:latin typeface="+mj-lt"/>
              </a:rPr>
              <a:t>Ciberseguridad</a:t>
            </a:r>
          </a:p>
        </p:txBody>
      </p:sp>
      <p:sp>
        <p:nvSpPr>
          <p:cNvPr id="84" name="Oval 35">
            <a:extLst>
              <a:ext uri="{FF2B5EF4-FFF2-40B4-BE49-F238E27FC236}">
                <a16:creationId xmlns:a16="http://schemas.microsoft.com/office/drawing/2014/main" id="{DDBABF93-6431-4F43-969A-FE50E00923D2}"/>
              </a:ext>
            </a:extLst>
          </p:cNvPr>
          <p:cNvSpPr/>
          <p:nvPr/>
        </p:nvSpPr>
        <p:spPr>
          <a:xfrm>
            <a:off x="7139903" y="2193292"/>
            <a:ext cx="1045255" cy="601773"/>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dirty="0">
              <a:solidFill>
                <a:schemeClr val="bg1"/>
              </a:solidFill>
              <a:latin typeface="+mj-lt"/>
            </a:endParaRPr>
          </a:p>
        </p:txBody>
      </p:sp>
      <p:sp>
        <p:nvSpPr>
          <p:cNvPr id="85" name="TextBox 34">
            <a:extLst>
              <a:ext uri="{FF2B5EF4-FFF2-40B4-BE49-F238E27FC236}">
                <a16:creationId xmlns:a16="http://schemas.microsoft.com/office/drawing/2014/main" id="{44DF6ED9-5850-4867-8CB1-5835BFF9C304}"/>
              </a:ext>
            </a:extLst>
          </p:cNvPr>
          <p:cNvSpPr txBox="1">
            <a:spLocks noChangeArrowheads="1"/>
          </p:cNvSpPr>
          <p:nvPr/>
        </p:nvSpPr>
        <p:spPr bwMode="auto">
          <a:xfrm>
            <a:off x="7123239" y="2350444"/>
            <a:ext cx="104525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s-PE" sz="1200" b="1" dirty="0">
                <a:solidFill>
                  <a:schemeClr val="bg1"/>
                </a:solidFill>
                <a:latin typeface="+mj-lt"/>
              </a:rPr>
              <a:t>DevOps</a:t>
            </a:r>
          </a:p>
        </p:txBody>
      </p:sp>
      <p:sp>
        <p:nvSpPr>
          <p:cNvPr id="86" name="Oval 35">
            <a:extLst>
              <a:ext uri="{FF2B5EF4-FFF2-40B4-BE49-F238E27FC236}">
                <a16:creationId xmlns:a16="http://schemas.microsoft.com/office/drawing/2014/main" id="{5C6FF65F-6C36-414A-9FEC-22CE0920D91A}"/>
              </a:ext>
            </a:extLst>
          </p:cNvPr>
          <p:cNvSpPr/>
          <p:nvPr/>
        </p:nvSpPr>
        <p:spPr>
          <a:xfrm>
            <a:off x="7129409" y="1541280"/>
            <a:ext cx="1045255" cy="601773"/>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b="1" dirty="0">
              <a:solidFill>
                <a:schemeClr val="bg1"/>
              </a:solidFill>
              <a:latin typeface="+mj-lt"/>
            </a:endParaRPr>
          </a:p>
        </p:txBody>
      </p:sp>
      <p:sp>
        <p:nvSpPr>
          <p:cNvPr id="87" name="TextBox 34">
            <a:extLst>
              <a:ext uri="{FF2B5EF4-FFF2-40B4-BE49-F238E27FC236}">
                <a16:creationId xmlns:a16="http://schemas.microsoft.com/office/drawing/2014/main" id="{55C66E64-8ADF-43AA-B6D9-6CF6FB9853A5}"/>
              </a:ext>
            </a:extLst>
          </p:cNvPr>
          <p:cNvSpPr txBox="1">
            <a:spLocks noChangeArrowheads="1"/>
          </p:cNvSpPr>
          <p:nvPr/>
        </p:nvSpPr>
        <p:spPr bwMode="auto">
          <a:xfrm>
            <a:off x="7117340" y="1650817"/>
            <a:ext cx="109520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s-PE" sz="1050" b="1" dirty="0">
                <a:solidFill>
                  <a:schemeClr val="bg1"/>
                </a:solidFill>
                <a:latin typeface="+mj-lt"/>
              </a:rPr>
              <a:t>Transformación Digital</a:t>
            </a:r>
          </a:p>
        </p:txBody>
      </p:sp>
    </p:spTree>
    <p:extLst>
      <p:ext uri="{BB962C8B-B14F-4D97-AF65-F5344CB8AC3E}">
        <p14:creationId xmlns:p14="http://schemas.microsoft.com/office/powerpoint/2010/main" val="1044190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OBJETIVOS DE GOBIERNO Y DE GESTIÓN</a:t>
            </a:r>
          </a:p>
        </p:txBody>
      </p:sp>
    </p:spTree>
    <p:custDataLst>
      <p:tags r:id="rId1"/>
    </p:custDataLst>
    <p:extLst>
      <p:ext uri="{BB962C8B-B14F-4D97-AF65-F5344CB8AC3E}">
        <p14:creationId xmlns:p14="http://schemas.microsoft.com/office/powerpoint/2010/main" val="3723465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OBJETIVOS DE GOBIERNO Y DE GESTIÓN</a:t>
            </a:r>
          </a:p>
        </p:txBody>
      </p:sp>
      <p:sp>
        <p:nvSpPr>
          <p:cNvPr id="10" name="object 7">
            <a:extLst>
              <a:ext uri="{FF2B5EF4-FFF2-40B4-BE49-F238E27FC236}">
                <a16:creationId xmlns:a16="http://schemas.microsoft.com/office/drawing/2014/main" id="{C5BAA5E7-F6EE-4BC8-BD03-09E4111A5B09}"/>
              </a:ext>
            </a:extLst>
          </p:cNvPr>
          <p:cNvSpPr txBox="1"/>
          <p:nvPr/>
        </p:nvSpPr>
        <p:spPr>
          <a:xfrm>
            <a:off x="655092" y="1295059"/>
            <a:ext cx="7908877" cy="892552"/>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Para que la información y la tecnología contribuyan a los objetivos de la empresa, deberían alcanzarse una serie de objetivos de gobierno y gestión. </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C00000"/>
                </a:solidFill>
              </a:rPr>
              <a:t>Los conceptos básicos relacionados con los objetivos de gobierno y gestión son: </a:t>
            </a:r>
            <a:endParaRPr lang="es-PE" sz="1600" spc="-10" dirty="0">
              <a:solidFill>
                <a:srgbClr val="C00000"/>
              </a:solidFill>
            </a:endParaRPr>
          </a:p>
        </p:txBody>
      </p:sp>
      <p:sp>
        <p:nvSpPr>
          <p:cNvPr id="8" name="object 7">
            <a:extLst>
              <a:ext uri="{FF2B5EF4-FFF2-40B4-BE49-F238E27FC236}">
                <a16:creationId xmlns:a16="http://schemas.microsoft.com/office/drawing/2014/main" id="{2B9C068A-DC21-4EA5-AD58-49CF9276DED9}"/>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DEFINICIÓN   </a:t>
            </a:r>
          </a:p>
        </p:txBody>
      </p:sp>
      <p:graphicFrame>
        <p:nvGraphicFramePr>
          <p:cNvPr id="2" name="Diagrama 1"/>
          <p:cNvGraphicFramePr/>
          <p:nvPr>
            <p:extLst>
              <p:ext uri="{D42A27DB-BD31-4B8C-83A1-F6EECF244321}">
                <p14:modId xmlns:p14="http://schemas.microsoft.com/office/powerpoint/2010/main" val="322864979"/>
              </p:ext>
            </p:extLst>
          </p:nvPr>
        </p:nvGraphicFramePr>
        <p:xfrm>
          <a:off x="1039527" y="2125661"/>
          <a:ext cx="7640129" cy="36036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41330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OBJETIVOS DE GOBIERNO Y DE GESTIÓN</a:t>
            </a:r>
          </a:p>
        </p:txBody>
      </p:sp>
      <p:sp>
        <p:nvSpPr>
          <p:cNvPr id="10" name="object 7">
            <a:extLst>
              <a:ext uri="{FF2B5EF4-FFF2-40B4-BE49-F238E27FC236}">
                <a16:creationId xmlns:a16="http://schemas.microsoft.com/office/drawing/2014/main" id="{C5BAA5E7-F6EE-4BC8-BD03-09E4111A5B09}"/>
              </a:ext>
            </a:extLst>
          </p:cNvPr>
          <p:cNvSpPr txBox="1"/>
          <p:nvPr/>
        </p:nvSpPr>
        <p:spPr>
          <a:xfrm>
            <a:off x="541319" y="983842"/>
            <a:ext cx="8134949" cy="492443"/>
          </a:xfrm>
          <a:prstGeom prst="rect">
            <a:avLst/>
          </a:prstGeom>
        </p:spPr>
        <p:txBody>
          <a:bodyPr vert="horz" wrap="square" lIns="0" tIns="0" rIns="0" bIns="0" rtlCol="0">
            <a:spAutoFit/>
          </a:bodyPr>
          <a:lstStyle/>
          <a:p>
            <a:pPr algn="just">
              <a:spcAft>
                <a:spcPts val="1200"/>
              </a:spcAft>
              <a:buSzPct val="100000"/>
              <a:tabLst>
                <a:tab pos="121285" algn="l"/>
              </a:tabLst>
            </a:pPr>
            <a:r>
              <a:rPr lang="es-ES" sz="1500" spc="-10" dirty="0">
                <a:solidFill>
                  <a:srgbClr val="262626"/>
                </a:solidFill>
              </a:rPr>
              <a:t>Los objetivos de gobierno y gestión de COBIT se agrupan en cinco </a:t>
            </a:r>
            <a:r>
              <a:rPr lang="es-ES" sz="1500" spc="-10" dirty="0" smtClean="0">
                <a:solidFill>
                  <a:srgbClr val="262626"/>
                </a:solidFill>
              </a:rPr>
              <a:t>dominios, uno de gobierno y los otros de gestión; estos </a:t>
            </a:r>
            <a:r>
              <a:rPr lang="es-ES" sz="1500" spc="-10" dirty="0">
                <a:solidFill>
                  <a:srgbClr val="262626"/>
                </a:solidFill>
              </a:rPr>
              <a:t>dominios se nombran mediante verbos que expresan el propósito clave</a:t>
            </a:r>
            <a:r>
              <a:rPr lang="es-ES" sz="1600" spc="-10" dirty="0">
                <a:solidFill>
                  <a:srgbClr val="262626"/>
                </a:solidFill>
              </a:rPr>
              <a:t>:</a:t>
            </a:r>
          </a:p>
        </p:txBody>
      </p:sp>
      <p:sp>
        <p:nvSpPr>
          <p:cNvPr id="8" name="object 7">
            <a:extLst>
              <a:ext uri="{FF2B5EF4-FFF2-40B4-BE49-F238E27FC236}">
                <a16:creationId xmlns:a16="http://schemas.microsoft.com/office/drawing/2014/main" id="{2B9C068A-DC21-4EA5-AD58-49CF9276DED9}"/>
              </a:ext>
            </a:extLst>
          </p:cNvPr>
          <p:cNvSpPr txBox="1"/>
          <p:nvPr/>
        </p:nvSpPr>
        <p:spPr>
          <a:xfrm>
            <a:off x="421082" y="715774"/>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DOMINIOS   </a:t>
            </a:r>
          </a:p>
        </p:txBody>
      </p:sp>
      <p:grpSp>
        <p:nvGrpSpPr>
          <p:cNvPr id="14" name="Agrupar 16"/>
          <p:cNvGrpSpPr/>
          <p:nvPr/>
        </p:nvGrpSpPr>
        <p:grpSpPr>
          <a:xfrm>
            <a:off x="6262223" y="2733936"/>
            <a:ext cx="1678867" cy="2500313"/>
            <a:chOff x="6826600" y="1499016"/>
            <a:chExt cx="1768864" cy="3282564"/>
          </a:xfrm>
        </p:grpSpPr>
        <p:sp>
          <p:nvSpPr>
            <p:cNvPr id="15" name="Rectángulo 14"/>
            <p:cNvSpPr/>
            <p:nvPr/>
          </p:nvSpPr>
          <p:spPr>
            <a:xfrm>
              <a:off x="6826600" y="1499016"/>
              <a:ext cx="1768864" cy="3267856"/>
            </a:xfrm>
            <a:prstGeom prst="rect">
              <a:avLst/>
            </a:prstGeom>
            <a:solidFill>
              <a:srgbClr val="48C2BB"/>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ES_tradnl"/>
            </a:p>
          </p:txBody>
        </p:sp>
        <p:sp>
          <p:nvSpPr>
            <p:cNvPr id="17" name="CuadroTexto 16"/>
            <p:cNvSpPr txBox="1"/>
            <p:nvPr/>
          </p:nvSpPr>
          <p:spPr>
            <a:xfrm>
              <a:off x="6826600" y="1694225"/>
              <a:ext cx="1681452" cy="3087355"/>
            </a:xfrm>
            <a:prstGeom prst="rect">
              <a:avLst/>
            </a:prstGeom>
            <a:noFill/>
          </p:spPr>
          <p:txBody>
            <a:bodyPr wrap="square" rtlCol="0">
              <a:spAutoFit/>
            </a:bodyPr>
            <a:lstStyle/>
            <a:p>
              <a:r>
                <a:rPr lang="es-419" sz="1400" b="1" dirty="0">
                  <a:solidFill>
                    <a:srgbClr val="C00000"/>
                  </a:solidFill>
                </a:rPr>
                <a:t>Monitorizar, Evaluar y Valorar (MEA) </a:t>
              </a:r>
              <a:r>
                <a:rPr lang="es-419" sz="1300" b="1" dirty="0">
                  <a:solidFill>
                    <a:schemeClr val="bg1"/>
                  </a:solidFill>
                </a:rPr>
                <a:t>aborda la monitorización y la conformidad de I&amp;T con los objetivos de desempeño interno, de control interno y los requerimientos externos. </a:t>
              </a:r>
            </a:p>
            <a:p>
              <a:endParaRPr lang="es-ES_tradnl" sz="1200" dirty="0">
                <a:solidFill>
                  <a:schemeClr val="bg1"/>
                </a:solidFill>
              </a:endParaRPr>
            </a:p>
          </p:txBody>
        </p:sp>
      </p:grpSp>
      <p:grpSp>
        <p:nvGrpSpPr>
          <p:cNvPr id="18" name="Agrupar 16"/>
          <p:cNvGrpSpPr/>
          <p:nvPr/>
        </p:nvGrpSpPr>
        <p:grpSpPr>
          <a:xfrm>
            <a:off x="4382943" y="2733937"/>
            <a:ext cx="1684533" cy="2823126"/>
            <a:chOff x="6826600" y="1499016"/>
            <a:chExt cx="1768864" cy="3689765"/>
          </a:xfrm>
        </p:grpSpPr>
        <p:sp>
          <p:nvSpPr>
            <p:cNvPr id="19" name="Rectángulo 18"/>
            <p:cNvSpPr/>
            <p:nvPr/>
          </p:nvSpPr>
          <p:spPr>
            <a:xfrm>
              <a:off x="6826600" y="1499016"/>
              <a:ext cx="1768864" cy="3267856"/>
            </a:xfrm>
            <a:prstGeom prst="rect">
              <a:avLst/>
            </a:prstGeom>
            <a:solidFill>
              <a:srgbClr val="48C2BB"/>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ES_tradnl"/>
            </a:p>
          </p:txBody>
        </p:sp>
        <p:sp>
          <p:nvSpPr>
            <p:cNvPr id="21" name="CuadroTexto 20"/>
            <p:cNvSpPr txBox="1"/>
            <p:nvPr/>
          </p:nvSpPr>
          <p:spPr>
            <a:xfrm>
              <a:off x="6931530" y="1689142"/>
              <a:ext cx="1529020" cy="3499639"/>
            </a:xfrm>
            <a:prstGeom prst="rect">
              <a:avLst/>
            </a:prstGeom>
            <a:noFill/>
          </p:spPr>
          <p:txBody>
            <a:bodyPr wrap="square" rtlCol="0">
              <a:spAutoFit/>
            </a:bodyPr>
            <a:lstStyle/>
            <a:p>
              <a:r>
                <a:rPr lang="es-419" sz="1400" b="1" dirty="0">
                  <a:solidFill>
                    <a:srgbClr val="C00000"/>
                  </a:solidFill>
                </a:rPr>
                <a:t>Entregar, Dar servicio y Soporte (DSS) </a:t>
              </a:r>
              <a:r>
                <a:rPr lang="es-419" sz="1400" b="1" dirty="0">
                  <a:solidFill>
                    <a:schemeClr val="bg1"/>
                  </a:solidFill>
                </a:rPr>
                <a:t>aborda la ejecución operativa y el soporte de los servicios de I&amp;T, incluida la seguridad. </a:t>
              </a:r>
            </a:p>
            <a:p>
              <a:endParaRPr lang="es-ES_tradnl" sz="1400" dirty="0" smtClean="0">
                <a:solidFill>
                  <a:schemeClr val="bg1"/>
                </a:solidFill>
              </a:endParaRPr>
            </a:p>
            <a:p>
              <a:endParaRPr lang="es-ES_tradnl" sz="1400" dirty="0">
                <a:solidFill>
                  <a:schemeClr val="bg1"/>
                </a:solidFill>
              </a:endParaRPr>
            </a:p>
          </p:txBody>
        </p:sp>
      </p:grpSp>
      <p:grpSp>
        <p:nvGrpSpPr>
          <p:cNvPr id="22" name="Agrupar 16"/>
          <p:cNvGrpSpPr/>
          <p:nvPr/>
        </p:nvGrpSpPr>
        <p:grpSpPr>
          <a:xfrm>
            <a:off x="2426228" y="2746107"/>
            <a:ext cx="1761968" cy="2705215"/>
            <a:chOff x="6826600" y="1499016"/>
            <a:chExt cx="1768864" cy="3570414"/>
          </a:xfrm>
        </p:grpSpPr>
        <p:sp>
          <p:nvSpPr>
            <p:cNvPr id="23" name="Rectángulo 22"/>
            <p:cNvSpPr/>
            <p:nvPr/>
          </p:nvSpPr>
          <p:spPr>
            <a:xfrm>
              <a:off x="6826600" y="1499016"/>
              <a:ext cx="1768864" cy="3267856"/>
            </a:xfrm>
            <a:prstGeom prst="rect">
              <a:avLst/>
            </a:prstGeom>
            <a:solidFill>
              <a:srgbClr val="48C2BB"/>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ES_tradnl"/>
            </a:p>
          </p:txBody>
        </p:sp>
        <p:sp>
          <p:nvSpPr>
            <p:cNvPr id="25" name="CuadroTexto 24"/>
            <p:cNvSpPr txBox="1"/>
            <p:nvPr/>
          </p:nvSpPr>
          <p:spPr>
            <a:xfrm>
              <a:off x="6931530" y="1677563"/>
              <a:ext cx="1529020" cy="3391867"/>
            </a:xfrm>
            <a:prstGeom prst="rect">
              <a:avLst/>
            </a:prstGeom>
            <a:noFill/>
          </p:spPr>
          <p:txBody>
            <a:bodyPr wrap="square" rtlCol="0">
              <a:spAutoFit/>
            </a:bodyPr>
            <a:lstStyle/>
            <a:p>
              <a:r>
                <a:rPr lang="es-419" sz="1400" b="1" dirty="0">
                  <a:solidFill>
                    <a:srgbClr val="C00000"/>
                  </a:solidFill>
                </a:rPr>
                <a:t>Construir, Adquirir e Implementar (BAI</a:t>
              </a:r>
              <a:r>
                <a:rPr lang="es-419" sz="1300" b="1" dirty="0">
                  <a:solidFill>
                    <a:srgbClr val="C00000"/>
                  </a:solidFill>
                </a:rPr>
                <a:t>)</a:t>
              </a:r>
              <a:r>
                <a:rPr lang="es-419" sz="1300" b="1" dirty="0">
                  <a:solidFill>
                    <a:schemeClr val="bg1"/>
                  </a:solidFill>
                </a:rPr>
                <a:t> se encarga de la definición, adquisición e implementación de soluciones de I&amp;T y su integración en los procesos de negocio. </a:t>
              </a:r>
            </a:p>
            <a:p>
              <a:endParaRPr lang="es-ES_tradnl" sz="1400" dirty="0">
                <a:solidFill>
                  <a:schemeClr val="bg1"/>
                </a:solidFill>
              </a:endParaRPr>
            </a:p>
          </p:txBody>
        </p:sp>
      </p:grpSp>
      <p:grpSp>
        <p:nvGrpSpPr>
          <p:cNvPr id="26" name="Agrupar 16"/>
          <p:cNvGrpSpPr/>
          <p:nvPr/>
        </p:nvGrpSpPr>
        <p:grpSpPr>
          <a:xfrm>
            <a:off x="465559" y="2746107"/>
            <a:ext cx="1765922" cy="2447399"/>
            <a:chOff x="6826600" y="1499016"/>
            <a:chExt cx="1768864" cy="3267856"/>
          </a:xfrm>
        </p:grpSpPr>
        <p:sp>
          <p:nvSpPr>
            <p:cNvPr id="27" name="Rectángulo 26"/>
            <p:cNvSpPr/>
            <p:nvPr/>
          </p:nvSpPr>
          <p:spPr>
            <a:xfrm>
              <a:off x="6826600" y="1499016"/>
              <a:ext cx="1768864" cy="3267856"/>
            </a:xfrm>
            <a:prstGeom prst="rect">
              <a:avLst/>
            </a:prstGeom>
            <a:solidFill>
              <a:srgbClr val="48C2BB"/>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ES_tradnl"/>
            </a:p>
          </p:txBody>
        </p:sp>
        <p:sp>
          <p:nvSpPr>
            <p:cNvPr id="29" name="CuadroTexto 28"/>
            <p:cNvSpPr txBox="1"/>
            <p:nvPr/>
          </p:nvSpPr>
          <p:spPr>
            <a:xfrm>
              <a:off x="6990558" y="1665985"/>
              <a:ext cx="1529020" cy="2712299"/>
            </a:xfrm>
            <a:prstGeom prst="rect">
              <a:avLst/>
            </a:prstGeom>
            <a:noFill/>
          </p:spPr>
          <p:txBody>
            <a:bodyPr wrap="square" rtlCol="0">
              <a:spAutoFit/>
            </a:bodyPr>
            <a:lstStyle/>
            <a:p>
              <a:r>
                <a:rPr lang="es-419" sz="1400" b="1" dirty="0">
                  <a:solidFill>
                    <a:srgbClr val="C00000"/>
                  </a:solidFill>
                </a:rPr>
                <a:t>Alinear, Planificar y Organizar (APO) </a:t>
              </a:r>
              <a:r>
                <a:rPr lang="es-419" sz="1400" b="1" dirty="0">
                  <a:solidFill>
                    <a:schemeClr val="bg1"/>
                  </a:solidFill>
                </a:rPr>
                <a:t>aborda la organización general, estrategia y actividades de apoyo para las I&amp;T. </a:t>
              </a:r>
            </a:p>
          </p:txBody>
        </p:sp>
      </p:grpSp>
      <p:sp>
        <p:nvSpPr>
          <p:cNvPr id="7" name="CuadroTexto 6"/>
          <p:cNvSpPr txBox="1"/>
          <p:nvPr/>
        </p:nvSpPr>
        <p:spPr>
          <a:xfrm>
            <a:off x="407875" y="1601333"/>
            <a:ext cx="6983124" cy="1077218"/>
          </a:xfrm>
          <a:prstGeom prst="rect">
            <a:avLst/>
          </a:prstGeom>
          <a:noFill/>
        </p:spPr>
        <p:txBody>
          <a:bodyPr wrap="square" rtlCol="0">
            <a:spAutoFit/>
          </a:bodyPr>
          <a:lstStyle/>
          <a:p>
            <a:pPr marL="285750" indent="-285750" algn="just">
              <a:spcAft>
                <a:spcPts val="1200"/>
              </a:spcAft>
              <a:buSzPct val="100000"/>
              <a:buFont typeface="Wingdings" panose="05000000000000000000" pitchFamily="2" charset="2"/>
              <a:buChar char="ü"/>
              <a:tabLst>
                <a:tab pos="121285" algn="l"/>
              </a:tabLst>
            </a:pPr>
            <a:r>
              <a:rPr lang="es-ES" spc="-10" dirty="0">
                <a:solidFill>
                  <a:srgbClr val="276B7D"/>
                </a:solidFill>
              </a:rPr>
              <a:t>Los objetivos de gobierno se agrupan en el dominio: </a:t>
            </a:r>
            <a:r>
              <a:rPr lang="es-ES" b="1" spc="-10" dirty="0">
                <a:solidFill>
                  <a:srgbClr val="262626"/>
                </a:solidFill>
              </a:rPr>
              <a:t>Evaluar, Dirigir y Monitorizar (EDM)</a:t>
            </a:r>
            <a:r>
              <a:rPr lang="es-ES" spc="-10" dirty="0">
                <a:solidFill>
                  <a:srgbClr val="262626"/>
                </a:solidFill>
              </a:rPr>
              <a:t>. </a:t>
            </a:r>
          </a:p>
          <a:p>
            <a:pPr marL="285750" indent="-285750" algn="just">
              <a:spcAft>
                <a:spcPts val="1200"/>
              </a:spcAft>
              <a:buSzPct val="100000"/>
              <a:buFont typeface="Wingdings" panose="05000000000000000000" pitchFamily="2" charset="2"/>
              <a:buChar char="ü"/>
              <a:tabLst>
                <a:tab pos="121285" algn="l"/>
              </a:tabLst>
            </a:pPr>
            <a:r>
              <a:rPr lang="es-ES" spc="-10" dirty="0">
                <a:solidFill>
                  <a:srgbClr val="C00000"/>
                </a:solidFill>
              </a:rPr>
              <a:t>Los objetivos de gestión se agrupan en cuatro dominios: </a:t>
            </a:r>
            <a:endParaRPr lang="es-419" dirty="0"/>
          </a:p>
        </p:txBody>
      </p:sp>
    </p:spTree>
    <p:extLst>
      <p:ext uri="{BB962C8B-B14F-4D97-AF65-F5344CB8AC3E}">
        <p14:creationId xmlns:p14="http://schemas.microsoft.com/office/powerpoint/2010/main" val="4282710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OBJETIVOS DE GOBIERNO Y DE GESTIÓN</a:t>
            </a:r>
          </a:p>
        </p:txBody>
      </p:sp>
      <p:sp>
        <p:nvSpPr>
          <p:cNvPr id="8" name="object 7">
            <a:extLst>
              <a:ext uri="{FF2B5EF4-FFF2-40B4-BE49-F238E27FC236}">
                <a16:creationId xmlns:a16="http://schemas.microsoft.com/office/drawing/2014/main" id="{2B9C068A-DC21-4EA5-AD58-49CF9276DED9}"/>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…DOMINIOS   </a:t>
            </a:r>
          </a:p>
        </p:txBody>
      </p:sp>
      <p:pic>
        <p:nvPicPr>
          <p:cNvPr id="3" name="Imagen 2">
            <a:extLst>
              <a:ext uri="{FF2B5EF4-FFF2-40B4-BE49-F238E27FC236}">
                <a16:creationId xmlns:a16="http://schemas.microsoft.com/office/drawing/2014/main" id="{B9F1CD83-3DA6-4F63-8C3B-C54512869F73}"/>
              </a:ext>
            </a:extLst>
          </p:cNvPr>
          <p:cNvPicPr>
            <a:picLocks noChangeAspect="1"/>
          </p:cNvPicPr>
          <p:nvPr/>
        </p:nvPicPr>
        <p:blipFill>
          <a:blip r:embed="rId3"/>
          <a:stretch>
            <a:fillRect/>
          </a:stretch>
        </p:blipFill>
        <p:spPr>
          <a:xfrm>
            <a:off x="547942" y="2094602"/>
            <a:ext cx="8048116" cy="2590509"/>
          </a:xfrm>
          <a:prstGeom prst="rect">
            <a:avLst/>
          </a:prstGeom>
        </p:spPr>
      </p:pic>
      <p:sp>
        <p:nvSpPr>
          <p:cNvPr id="9" name="object 7">
            <a:extLst>
              <a:ext uri="{FF2B5EF4-FFF2-40B4-BE49-F238E27FC236}">
                <a16:creationId xmlns:a16="http://schemas.microsoft.com/office/drawing/2014/main" id="{5CB29CC8-A356-4A6D-B12A-B3A7BC818BC8}"/>
              </a:ext>
            </a:extLst>
          </p:cNvPr>
          <p:cNvSpPr txBox="1"/>
          <p:nvPr/>
        </p:nvSpPr>
        <p:spPr>
          <a:xfrm>
            <a:off x="656134" y="1295059"/>
            <a:ext cx="7907836" cy="492443"/>
          </a:xfrm>
          <a:prstGeom prst="rect">
            <a:avLst/>
          </a:prstGeom>
        </p:spPr>
        <p:txBody>
          <a:bodyPr vert="horz" wrap="square" lIns="0" tIns="0" rIns="0" bIns="0" rtlCol="0">
            <a:spAutoFit/>
          </a:bodyPr>
          <a:lstStyle/>
          <a:p>
            <a:pPr algn="ctr">
              <a:spcAft>
                <a:spcPts val="1200"/>
              </a:spcAft>
              <a:buSzPct val="100000"/>
              <a:tabLst>
                <a:tab pos="121285" algn="l"/>
              </a:tabLst>
            </a:pPr>
            <a:r>
              <a:rPr lang="es-ES" sz="1600" b="1" spc="-10" dirty="0">
                <a:solidFill>
                  <a:srgbClr val="C00000"/>
                </a:solidFill>
              </a:rPr>
              <a:t>Los objetivos de gobierno y gestión están organizados en cinco </a:t>
            </a:r>
            <a:r>
              <a:rPr lang="es-ES" sz="1600" b="1" spc="-10" dirty="0" smtClean="0">
                <a:solidFill>
                  <a:srgbClr val="C00000"/>
                </a:solidFill>
              </a:rPr>
              <a:t>dominios: </a:t>
            </a:r>
            <a:r>
              <a:rPr lang="es-ES" sz="1600" b="1" spc="-10" dirty="0">
                <a:solidFill>
                  <a:srgbClr val="C00000"/>
                </a:solidFill>
              </a:rPr>
              <a:t>Un dominio de gobierno y cuatro dominios de gestión.</a:t>
            </a:r>
          </a:p>
        </p:txBody>
      </p:sp>
    </p:spTree>
    <p:extLst>
      <p:ext uri="{BB962C8B-B14F-4D97-AF65-F5344CB8AC3E}">
        <p14:creationId xmlns:p14="http://schemas.microsoft.com/office/powerpoint/2010/main" val="3477744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OBJETIVOS DE GOBIERNO Y DE GESTIÓN</a:t>
            </a:r>
          </a:p>
        </p:txBody>
      </p:sp>
      <p:sp>
        <p:nvSpPr>
          <p:cNvPr id="8" name="object 7">
            <a:extLst>
              <a:ext uri="{FF2B5EF4-FFF2-40B4-BE49-F238E27FC236}">
                <a16:creationId xmlns:a16="http://schemas.microsoft.com/office/drawing/2014/main" id="{2B9C068A-DC21-4EA5-AD58-49CF9276DED9}"/>
              </a:ext>
            </a:extLst>
          </p:cNvPr>
          <p:cNvSpPr txBox="1"/>
          <p:nvPr/>
        </p:nvSpPr>
        <p:spPr>
          <a:xfrm>
            <a:off x="510908" y="832233"/>
            <a:ext cx="401029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3. MODELO CORE DE COBIT 2019   </a:t>
            </a:r>
          </a:p>
        </p:txBody>
      </p:sp>
      <p:pic>
        <p:nvPicPr>
          <p:cNvPr id="3" name="Imagen 2">
            <a:extLst>
              <a:ext uri="{FF2B5EF4-FFF2-40B4-BE49-F238E27FC236}">
                <a16:creationId xmlns:a16="http://schemas.microsoft.com/office/drawing/2014/main" id="{40C689AA-AC6E-46D3-BF38-FA92D7771C98}"/>
              </a:ext>
            </a:extLst>
          </p:cNvPr>
          <p:cNvPicPr>
            <a:picLocks noChangeAspect="1"/>
          </p:cNvPicPr>
          <p:nvPr/>
        </p:nvPicPr>
        <p:blipFill>
          <a:blip r:embed="rId3"/>
          <a:stretch>
            <a:fillRect/>
          </a:stretch>
        </p:blipFill>
        <p:spPr>
          <a:xfrm>
            <a:off x="1657591" y="1166169"/>
            <a:ext cx="5828818" cy="4080623"/>
          </a:xfrm>
          <a:prstGeom prst="rect">
            <a:avLst/>
          </a:prstGeom>
        </p:spPr>
      </p:pic>
    </p:spTree>
    <p:extLst>
      <p:ext uri="{BB962C8B-B14F-4D97-AF65-F5344CB8AC3E}">
        <p14:creationId xmlns:p14="http://schemas.microsoft.com/office/powerpoint/2010/main" val="3706335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OBJETIVOS DE GOBIERNO Y DE GESTIÓN</a:t>
            </a:r>
          </a:p>
        </p:txBody>
      </p:sp>
      <p:sp>
        <p:nvSpPr>
          <p:cNvPr id="8" name="object 7">
            <a:extLst>
              <a:ext uri="{FF2B5EF4-FFF2-40B4-BE49-F238E27FC236}">
                <a16:creationId xmlns:a16="http://schemas.microsoft.com/office/drawing/2014/main" id="{2B9C068A-DC21-4EA5-AD58-49CF9276DED9}"/>
              </a:ext>
            </a:extLst>
          </p:cNvPr>
          <p:cNvSpPr txBox="1"/>
          <p:nvPr/>
        </p:nvSpPr>
        <p:spPr>
          <a:xfrm>
            <a:off x="510908" y="832233"/>
            <a:ext cx="5170936"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4. OBJETIVOS DE GOBIERNO Y OBJETIVOS DE GESTIÓN</a:t>
            </a:r>
          </a:p>
        </p:txBody>
      </p:sp>
      <p:pic>
        <p:nvPicPr>
          <p:cNvPr id="4" name="Imagen 3">
            <a:extLst>
              <a:ext uri="{FF2B5EF4-FFF2-40B4-BE49-F238E27FC236}">
                <a16:creationId xmlns:a16="http://schemas.microsoft.com/office/drawing/2014/main" id="{5AD8527E-359F-44E3-833D-423A8891DDF1}"/>
              </a:ext>
            </a:extLst>
          </p:cNvPr>
          <p:cNvPicPr>
            <a:picLocks noChangeAspect="1"/>
          </p:cNvPicPr>
          <p:nvPr/>
        </p:nvPicPr>
        <p:blipFill>
          <a:blip r:embed="rId3"/>
          <a:stretch>
            <a:fillRect/>
          </a:stretch>
        </p:blipFill>
        <p:spPr>
          <a:xfrm>
            <a:off x="969753" y="1251303"/>
            <a:ext cx="7204493" cy="3780291"/>
          </a:xfrm>
          <a:prstGeom prst="rect">
            <a:avLst/>
          </a:prstGeom>
        </p:spPr>
      </p:pic>
    </p:spTree>
    <p:extLst>
      <p:ext uri="{BB962C8B-B14F-4D97-AF65-F5344CB8AC3E}">
        <p14:creationId xmlns:p14="http://schemas.microsoft.com/office/powerpoint/2010/main" val="2888853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COMPONENTES DEL SISTEMA DE GOBIERNO</a:t>
            </a:r>
          </a:p>
        </p:txBody>
      </p:sp>
    </p:spTree>
    <p:custDataLst>
      <p:tags r:id="rId1"/>
    </p:custDataLst>
    <p:extLst>
      <p:ext uri="{BB962C8B-B14F-4D97-AF65-F5344CB8AC3E}">
        <p14:creationId xmlns:p14="http://schemas.microsoft.com/office/powerpoint/2010/main" val="418155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COMPONENTES DEL SISTEMA DE GOBIERNO</a:t>
            </a:r>
          </a:p>
        </p:txBody>
      </p:sp>
      <p:sp>
        <p:nvSpPr>
          <p:cNvPr id="7" name="object 7">
            <a:extLst>
              <a:ext uri="{FF2B5EF4-FFF2-40B4-BE49-F238E27FC236}">
                <a16:creationId xmlns:a16="http://schemas.microsoft.com/office/drawing/2014/main" id="{F09260C4-198F-407A-909E-055805B746B2}"/>
              </a:ext>
            </a:extLst>
          </p:cNvPr>
          <p:cNvSpPr txBox="1"/>
          <p:nvPr/>
        </p:nvSpPr>
        <p:spPr>
          <a:xfrm>
            <a:off x="510907" y="832233"/>
            <a:ext cx="4489263"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DEFINICIÓN </a:t>
            </a:r>
          </a:p>
        </p:txBody>
      </p:sp>
      <p:sp>
        <p:nvSpPr>
          <p:cNvPr id="6" name="object 7">
            <a:extLst>
              <a:ext uri="{FF2B5EF4-FFF2-40B4-BE49-F238E27FC236}">
                <a16:creationId xmlns:a16="http://schemas.microsoft.com/office/drawing/2014/main" id="{6EFECC5E-967F-4EA3-AC6A-10606CDEEE60}"/>
              </a:ext>
            </a:extLst>
          </p:cNvPr>
          <p:cNvSpPr txBox="1"/>
          <p:nvPr/>
        </p:nvSpPr>
        <p:spPr>
          <a:xfrm>
            <a:off x="736488" y="1281918"/>
            <a:ext cx="3121136" cy="1477328"/>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Con el objetivo de cumplir con los objetivos de gobierno y gestión, cada empresa debe establecer, personalizar y sostener un sistema de gobierno creado a partir de una serie de componentes. </a:t>
            </a:r>
          </a:p>
        </p:txBody>
      </p:sp>
      <p:cxnSp>
        <p:nvCxnSpPr>
          <p:cNvPr id="3" name="Conector recto 2"/>
          <p:cNvCxnSpPr/>
          <p:nvPr/>
        </p:nvCxnSpPr>
        <p:spPr>
          <a:xfrm>
            <a:off x="4379119" y="1281918"/>
            <a:ext cx="14287" cy="3756466"/>
          </a:xfrm>
          <a:prstGeom prst="line">
            <a:avLst/>
          </a:prstGeom>
          <a:ln w="9525"/>
        </p:spPr>
        <p:style>
          <a:lnRef idx="2">
            <a:schemeClr val="accent2"/>
          </a:lnRef>
          <a:fillRef idx="0">
            <a:schemeClr val="accent2"/>
          </a:fillRef>
          <a:effectRef idx="1">
            <a:schemeClr val="accent2"/>
          </a:effectRef>
          <a:fontRef idx="minor">
            <a:schemeClr val="tx1"/>
          </a:fontRef>
        </p:style>
      </p:cxnSp>
      <p:cxnSp>
        <p:nvCxnSpPr>
          <p:cNvPr id="8" name="Conector recto 7"/>
          <p:cNvCxnSpPr/>
          <p:nvPr/>
        </p:nvCxnSpPr>
        <p:spPr>
          <a:xfrm flipV="1">
            <a:off x="736487" y="2987277"/>
            <a:ext cx="3121137" cy="21431"/>
          </a:xfrm>
          <a:prstGeom prst="line">
            <a:avLst/>
          </a:prstGeom>
          <a:ln w="9525"/>
        </p:spPr>
        <p:style>
          <a:lnRef idx="2">
            <a:schemeClr val="accent2"/>
          </a:lnRef>
          <a:fillRef idx="0">
            <a:schemeClr val="accent2"/>
          </a:fillRef>
          <a:effectRef idx="1">
            <a:schemeClr val="accent2"/>
          </a:effectRef>
          <a:fontRef idx="minor">
            <a:schemeClr val="tx1"/>
          </a:fontRef>
        </p:style>
      </p:cxnSp>
      <p:cxnSp>
        <p:nvCxnSpPr>
          <p:cNvPr id="9" name="Conector recto 8"/>
          <p:cNvCxnSpPr/>
          <p:nvPr/>
        </p:nvCxnSpPr>
        <p:spPr>
          <a:xfrm flipV="1">
            <a:off x="4829857" y="2952750"/>
            <a:ext cx="3121137" cy="21431"/>
          </a:xfrm>
          <a:prstGeom prst="line">
            <a:avLst/>
          </a:prstGeom>
          <a:ln w="9525"/>
        </p:spPr>
        <p:style>
          <a:lnRef idx="2">
            <a:schemeClr val="accent2"/>
          </a:lnRef>
          <a:fillRef idx="0">
            <a:schemeClr val="accent2"/>
          </a:fillRef>
          <a:effectRef idx="1">
            <a:schemeClr val="accent2"/>
          </a:effectRef>
          <a:fontRef idx="minor">
            <a:schemeClr val="tx1"/>
          </a:fontRef>
        </p:style>
      </p:cxnSp>
      <p:sp>
        <p:nvSpPr>
          <p:cNvPr id="10" name="CuadroTexto 9"/>
          <p:cNvSpPr txBox="1"/>
          <p:nvPr/>
        </p:nvSpPr>
        <p:spPr>
          <a:xfrm>
            <a:off x="672192" y="3156383"/>
            <a:ext cx="3121138" cy="1569660"/>
          </a:xfrm>
          <a:prstGeom prst="rect">
            <a:avLst/>
          </a:prstGeom>
          <a:noFill/>
        </p:spPr>
        <p:txBody>
          <a:bodyPr wrap="square" rtlCol="0">
            <a:spAutoFit/>
          </a:bodyPr>
          <a:lstStyle/>
          <a:p>
            <a:r>
              <a:rPr lang="es-419" sz="1600" dirty="0"/>
              <a:t>Estos componentes son factores que, de forma individual y colectiva, contribuyen al buen funcionamiento del sistema de gobierno de la empresa en cuanto a I&amp;T. </a:t>
            </a:r>
          </a:p>
        </p:txBody>
      </p:sp>
      <p:sp>
        <p:nvSpPr>
          <p:cNvPr id="11" name="CuadroTexto 10"/>
          <p:cNvSpPr txBox="1"/>
          <p:nvPr/>
        </p:nvSpPr>
        <p:spPr>
          <a:xfrm>
            <a:off x="4736988" y="1320136"/>
            <a:ext cx="3107531" cy="1107996"/>
          </a:xfrm>
          <a:prstGeom prst="rect">
            <a:avLst/>
          </a:prstGeom>
          <a:noFill/>
        </p:spPr>
        <p:txBody>
          <a:bodyPr wrap="square" rtlCol="0">
            <a:spAutoFit/>
          </a:bodyPr>
          <a:lstStyle/>
          <a:p>
            <a:r>
              <a:rPr lang="es-ES" sz="1600" spc="-10" dirty="0">
                <a:solidFill>
                  <a:srgbClr val="262626"/>
                </a:solidFill>
              </a:rPr>
              <a:t>Los componentes interactúan entre sí, lo que da lugar a un sistema holístico de gobierno de I&amp;T. </a:t>
            </a:r>
          </a:p>
          <a:p>
            <a:endParaRPr lang="es-419" dirty="0"/>
          </a:p>
        </p:txBody>
      </p:sp>
      <p:sp>
        <p:nvSpPr>
          <p:cNvPr id="12" name="CuadroTexto 11"/>
          <p:cNvSpPr txBox="1"/>
          <p:nvPr/>
        </p:nvSpPr>
        <p:spPr>
          <a:xfrm>
            <a:off x="4736988" y="3035822"/>
            <a:ext cx="3564049" cy="2169825"/>
          </a:xfrm>
          <a:prstGeom prst="rect">
            <a:avLst/>
          </a:prstGeom>
          <a:noFill/>
        </p:spPr>
        <p:txBody>
          <a:bodyPr wrap="square" rtlCol="0">
            <a:spAutoFit/>
          </a:bodyPr>
          <a:lstStyle/>
          <a:p>
            <a:r>
              <a:rPr lang="es-ES" sz="1500" spc="-10" dirty="0">
                <a:solidFill>
                  <a:srgbClr val="262626"/>
                </a:solidFill>
              </a:rPr>
              <a:t>Los componentes pueden ser de diversos tipos. Los más comunes son procesos; sin embargo, los componentes de un sistema de gobierno incluyen también estructuras organizativas; políticas y procedimientos; elementos de información; cultura y comportamiento; habilidades y competencias; y servicios, infraestructura y aplicaciones. </a:t>
            </a:r>
            <a:endParaRPr lang="es-419" dirty="0"/>
          </a:p>
        </p:txBody>
      </p:sp>
    </p:spTree>
    <p:extLst>
      <p:ext uri="{BB962C8B-B14F-4D97-AF65-F5344CB8AC3E}">
        <p14:creationId xmlns:p14="http://schemas.microsoft.com/office/powerpoint/2010/main" val="3562264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COMPONENTES DEL SISTEMA DE GOBIERNO</a:t>
            </a:r>
          </a:p>
        </p:txBody>
      </p:sp>
      <p:sp>
        <p:nvSpPr>
          <p:cNvPr id="7" name="object 7">
            <a:extLst>
              <a:ext uri="{FF2B5EF4-FFF2-40B4-BE49-F238E27FC236}">
                <a16:creationId xmlns:a16="http://schemas.microsoft.com/office/drawing/2014/main" id="{F09260C4-198F-407A-909E-055805B746B2}"/>
              </a:ext>
            </a:extLst>
          </p:cNvPr>
          <p:cNvSpPr txBox="1"/>
          <p:nvPr/>
        </p:nvSpPr>
        <p:spPr>
          <a:xfrm>
            <a:off x="510907" y="832233"/>
            <a:ext cx="628776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COMPONENTES DE COBIT 2019 DE UN SISTEMA DE GOBIERNO</a:t>
            </a:r>
          </a:p>
        </p:txBody>
      </p:sp>
      <p:pic>
        <p:nvPicPr>
          <p:cNvPr id="3" name="Imagen 2">
            <a:extLst>
              <a:ext uri="{FF2B5EF4-FFF2-40B4-BE49-F238E27FC236}">
                <a16:creationId xmlns:a16="http://schemas.microsoft.com/office/drawing/2014/main" id="{75F7247A-3280-4FEB-B621-B11A6B9D93F3}"/>
              </a:ext>
            </a:extLst>
          </p:cNvPr>
          <p:cNvPicPr>
            <a:picLocks noChangeAspect="1"/>
          </p:cNvPicPr>
          <p:nvPr/>
        </p:nvPicPr>
        <p:blipFill>
          <a:blip r:embed="rId3"/>
          <a:stretch>
            <a:fillRect/>
          </a:stretch>
        </p:blipFill>
        <p:spPr>
          <a:xfrm>
            <a:off x="2699554" y="1251303"/>
            <a:ext cx="4099115" cy="3942041"/>
          </a:xfrm>
          <a:prstGeom prst="rect">
            <a:avLst/>
          </a:prstGeom>
        </p:spPr>
      </p:pic>
    </p:spTree>
    <p:extLst>
      <p:ext uri="{BB962C8B-B14F-4D97-AF65-F5344CB8AC3E}">
        <p14:creationId xmlns:p14="http://schemas.microsoft.com/office/powerpoint/2010/main" val="2763133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FAMILIA DE PRODUCTOS</a:t>
            </a:r>
          </a:p>
        </p:txBody>
      </p:sp>
    </p:spTree>
    <p:custDataLst>
      <p:tags r:id="rId1"/>
    </p:custDataLst>
    <p:extLst>
      <p:ext uri="{BB962C8B-B14F-4D97-AF65-F5344CB8AC3E}">
        <p14:creationId xmlns:p14="http://schemas.microsoft.com/office/powerpoint/2010/main" val="397374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FAMILIA DE PRODUCTOS</a:t>
            </a:r>
          </a:p>
        </p:txBody>
      </p:sp>
      <p:grpSp>
        <p:nvGrpSpPr>
          <p:cNvPr id="19" name="Grupo 18">
            <a:extLst>
              <a:ext uri="{FF2B5EF4-FFF2-40B4-BE49-F238E27FC236}">
                <a16:creationId xmlns:a16="http://schemas.microsoft.com/office/drawing/2014/main" id="{CE9AE00D-A4ED-42F2-A236-6E9CB71C576A}"/>
              </a:ext>
            </a:extLst>
          </p:cNvPr>
          <p:cNvGrpSpPr/>
          <p:nvPr/>
        </p:nvGrpSpPr>
        <p:grpSpPr>
          <a:xfrm>
            <a:off x="407875" y="1247371"/>
            <a:ext cx="8389768" cy="3635396"/>
            <a:chOff x="451804" y="719139"/>
            <a:chExt cx="8389768" cy="3635396"/>
          </a:xfrm>
        </p:grpSpPr>
        <p:pic>
          <p:nvPicPr>
            <p:cNvPr id="4" name="Imagen 3">
              <a:extLst>
                <a:ext uri="{FF2B5EF4-FFF2-40B4-BE49-F238E27FC236}">
                  <a16:creationId xmlns:a16="http://schemas.microsoft.com/office/drawing/2014/main" id="{BC2B20E2-0559-4626-B6DA-C61996683608}"/>
                </a:ext>
              </a:extLst>
            </p:cNvPr>
            <p:cNvPicPr>
              <a:picLocks noChangeAspect="1"/>
            </p:cNvPicPr>
            <p:nvPr/>
          </p:nvPicPr>
          <p:blipFill>
            <a:blip r:embed="rId3"/>
            <a:stretch>
              <a:fillRect/>
            </a:stretch>
          </p:blipFill>
          <p:spPr>
            <a:xfrm>
              <a:off x="573395" y="734361"/>
              <a:ext cx="1371921" cy="1926601"/>
            </a:xfrm>
            <a:prstGeom prst="rect">
              <a:avLst/>
            </a:prstGeom>
            <a:ln w="3175">
              <a:solidFill>
                <a:schemeClr val="tx1"/>
              </a:solidFill>
            </a:ln>
          </p:spPr>
        </p:pic>
        <p:pic>
          <p:nvPicPr>
            <p:cNvPr id="3" name="Imagen 2">
              <a:extLst>
                <a:ext uri="{FF2B5EF4-FFF2-40B4-BE49-F238E27FC236}">
                  <a16:creationId xmlns:a16="http://schemas.microsoft.com/office/drawing/2014/main" id="{BEA79540-E421-4681-812B-DA681BA067C7}"/>
                </a:ext>
              </a:extLst>
            </p:cNvPr>
            <p:cNvPicPr>
              <a:picLocks noChangeAspect="1"/>
            </p:cNvPicPr>
            <p:nvPr/>
          </p:nvPicPr>
          <p:blipFill>
            <a:blip r:embed="rId4"/>
            <a:stretch>
              <a:fillRect/>
            </a:stretch>
          </p:blipFill>
          <p:spPr>
            <a:xfrm>
              <a:off x="451804" y="2152504"/>
              <a:ext cx="1653070" cy="2197522"/>
            </a:xfrm>
            <a:prstGeom prst="rect">
              <a:avLst/>
            </a:prstGeom>
            <a:ln w="3175">
              <a:solidFill>
                <a:schemeClr val="tx1"/>
              </a:solidFill>
            </a:ln>
          </p:spPr>
        </p:pic>
        <p:grpSp>
          <p:nvGrpSpPr>
            <p:cNvPr id="16" name="Grupo 15">
              <a:extLst>
                <a:ext uri="{FF2B5EF4-FFF2-40B4-BE49-F238E27FC236}">
                  <a16:creationId xmlns:a16="http://schemas.microsoft.com/office/drawing/2014/main" id="{C8A96CF0-EA1C-406A-B308-776FB97B60F1}"/>
                </a:ext>
              </a:extLst>
            </p:cNvPr>
            <p:cNvGrpSpPr/>
            <p:nvPr/>
          </p:nvGrpSpPr>
          <p:grpSpPr>
            <a:xfrm>
              <a:off x="2292007" y="719139"/>
              <a:ext cx="2825570" cy="3630887"/>
              <a:chOff x="2292007" y="719139"/>
              <a:chExt cx="2825570" cy="3630887"/>
            </a:xfrm>
          </p:grpSpPr>
          <p:grpSp>
            <p:nvGrpSpPr>
              <p:cNvPr id="15" name="Grupo 14">
                <a:extLst>
                  <a:ext uri="{FF2B5EF4-FFF2-40B4-BE49-F238E27FC236}">
                    <a16:creationId xmlns:a16="http://schemas.microsoft.com/office/drawing/2014/main" id="{EF73B457-6F4D-445B-8AB0-E3817DB8E864}"/>
                  </a:ext>
                </a:extLst>
              </p:cNvPr>
              <p:cNvGrpSpPr/>
              <p:nvPr/>
            </p:nvGrpSpPr>
            <p:grpSpPr>
              <a:xfrm>
                <a:off x="2292007" y="719139"/>
                <a:ext cx="2825570" cy="1957043"/>
                <a:chOff x="2173954" y="734361"/>
                <a:chExt cx="2825570" cy="1957043"/>
              </a:xfrm>
            </p:grpSpPr>
            <p:pic>
              <p:nvPicPr>
                <p:cNvPr id="8" name="Imagen 7">
                  <a:extLst>
                    <a:ext uri="{FF2B5EF4-FFF2-40B4-BE49-F238E27FC236}">
                      <a16:creationId xmlns:a16="http://schemas.microsoft.com/office/drawing/2014/main" id="{5F52DB93-75E4-497C-BDBA-8C69444DF763}"/>
                    </a:ext>
                  </a:extLst>
                </p:cNvPr>
                <p:cNvPicPr>
                  <a:picLocks noChangeAspect="1"/>
                </p:cNvPicPr>
                <p:nvPr/>
              </p:nvPicPr>
              <p:blipFill>
                <a:blip r:embed="rId5"/>
                <a:stretch>
                  <a:fillRect/>
                </a:stretch>
              </p:blipFill>
              <p:spPr>
                <a:xfrm>
                  <a:off x="2173954" y="734361"/>
                  <a:ext cx="1369525" cy="1955885"/>
                </a:xfrm>
                <a:prstGeom prst="rect">
                  <a:avLst/>
                </a:prstGeom>
                <a:ln w="3175">
                  <a:solidFill>
                    <a:schemeClr val="tx1"/>
                  </a:solidFill>
                </a:ln>
              </p:spPr>
            </p:pic>
            <p:pic>
              <p:nvPicPr>
                <p:cNvPr id="12" name="Imagen 11">
                  <a:extLst>
                    <a:ext uri="{FF2B5EF4-FFF2-40B4-BE49-F238E27FC236}">
                      <a16:creationId xmlns:a16="http://schemas.microsoft.com/office/drawing/2014/main" id="{85E4694C-1EF2-45FB-9673-21EBC2030E62}"/>
                    </a:ext>
                  </a:extLst>
                </p:cNvPr>
                <p:cNvPicPr>
                  <a:picLocks noChangeAspect="1"/>
                </p:cNvPicPr>
                <p:nvPr/>
              </p:nvPicPr>
              <p:blipFill>
                <a:blip r:embed="rId6"/>
                <a:stretch>
                  <a:fillRect/>
                </a:stretch>
              </p:blipFill>
              <p:spPr>
                <a:xfrm>
                  <a:off x="3629999" y="734361"/>
                  <a:ext cx="1369525" cy="1957043"/>
                </a:xfrm>
                <a:prstGeom prst="rect">
                  <a:avLst/>
                </a:prstGeom>
                <a:ln w="3175">
                  <a:solidFill>
                    <a:schemeClr val="tx1"/>
                  </a:solidFill>
                </a:ln>
              </p:spPr>
            </p:pic>
          </p:grpSp>
          <p:pic>
            <p:nvPicPr>
              <p:cNvPr id="10" name="Imagen 9">
                <a:extLst>
                  <a:ext uri="{FF2B5EF4-FFF2-40B4-BE49-F238E27FC236}">
                    <a16:creationId xmlns:a16="http://schemas.microsoft.com/office/drawing/2014/main" id="{542512AD-FF25-41F6-A11D-0C069A0CF5B7}"/>
                  </a:ext>
                </a:extLst>
              </p:cNvPr>
              <p:cNvPicPr>
                <a:picLocks noChangeAspect="1"/>
              </p:cNvPicPr>
              <p:nvPr/>
            </p:nvPicPr>
            <p:blipFill>
              <a:blip r:embed="rId7"/>
              <a:stretch>
                <a:fillRect/>
              </a:stretch>
            </p:blipFill>
            <p:spPr>
              <a:xfrm>
                <a:off x="2834726" y="2152504"/>
                <a:ext cx="1653611" cy="2197522"/>
              </a:xfrm>
              <a:prstGeom prst="rect">
                <a:avLst/>
              </a:prstGeom>
              <a:ln w="3175">
                <a:solidFill>
                  <a:schemeClr val="tx1"/>
                </a:solidFill>
              </a:ln>
            </p:spPr>
          </p:pic>
        </p:grpSp>
        <p:pic>
          <p:nvPicPr>
            <p:cNvPr id="11" name="Imagen 10">
              <a:extLst>
                <a:ext uri="{FF2B5EF4-FFF2-40B4-BE49-F238E27FC236}">
                  <a16:creationId xmlns:a16="http://schemas.microsoft.com/office/drawing/2014/main" id="{D1823DF5-25DB-4656-8FE2-183E60BA58DB}"/>
                </a:ext>
              </a:extLst>
            </p:cNvPr>
            <p:cNvPicPr>
              <a:picLocks noChangeAspect="1"/>
            </p:cNvPicPr>
            <p:nvPr/>
          </p:nvPicPr>
          <p:blipFill>
            <a:blip r:embed="rId8"/>
            <a:stretch>
              <a:fillRect/>
            </a:stretch>
          </p:blipFill>
          <p:spPr>
            <a:xfrm>
              <a:off x="7164521" y="2157732"/>
              <a:ext cx="1677051" cy="2196803"/>
            </a:xfrm>
            <a:prstGeom prst="rect">
              <a:avLst/>
            </a:prstGeom>
            <a:ln w="3175">
              <a:solidFill>
                <a:schemeClr val="tx1"/>
              </a:solidFill>
            </a:ln>
          </p:spPr>
        </p:pic>
        <p:pic>
          <p:nvPicPr>
            <p:cNvPr id="18" name="Imagen 17">
              <a:extLst>
                <a:ext uri="{FF2B5EF4-FFF2-40B4-BE49-F238E27FC236}">
                  <a16:creationId xmlns:a16="http://schemas.microsoft.com/office/drawing/2014/main" id="{1BA6F9D3-8435-40D5-B416-EBB909B31026}"/>
                </a:ext>
              </a:extLst>
            </p:cNvPr>
            <p:cNvPicPr>
              <a:picLocks noChangeAspect="1"/>
            </p:cNvPicPr>
            <p:nvPr/>
          </p:nvPicPr>
          <p:blipFill>
            <a:blip r:embed="rId9"/>
            <a:stretch>
              <a:fillRect/>
            </a:stretch>
          </p:blipFill>
          <p:spPr>
            <a:xfrm>
              <a:off x="5488547" y="734361"/>
              <a:ext cx="1369526" cy="1954154"/>
            </a:xfrm>
            <a:prstGeom prst="rect">
              <a:avLst/>
            </a:prstGeom>
            <a:ln w="3175">
              <a:solidFill>
                <a:schemeClr val="tx1"/>
              </a:solidFill>
            </a:ln>
          </p:spPr>
        </p:pic>
        <p:pic>
          <p:nvPicPr>
            <p:cNvPr id="13" name="Imagen 12">
              <a:extLst>
                <a:ext uri="{FF2B5EF4-FFF2-40B4-BE49-F238E27FC236}">
                  <a16:creationId xmlns:a16="http://schemas.microsoft.com/office/drawing/2014/main" id="{09341995-1BB3-427A-B6F8-183DE676CDBC}"/>
                </a:ext>
              </a:extLst>
            </p:cNvPr>
            <p:cNvPicPr>
              <a:picLocks noChangeAspect="1"/>
            </p:cNvPicPr>
            <p:nvPr/>
          </p:nvPicPr>
          <p:blipFill>
            <a:blip r:embed="rId10"/>
            <a:stretch>
              <a:fillRect/>
            </a:stretch>
          </p:blipFill>
          <p:spPr>
            <a:xfrm>
              <a:off x="5302523" y="2157732"/>
              <a:ext cx="1677052" cy="2187066"/>
            </a:xfrm>
            <a:prstGeom prst="rect">
              <a:avLst/>
            </a:prstGeom>
            <a:ln w="3175">
              <a:solidFill>
                <a:schemeClr val="tx1"/>
              </a:solidFill>
            </a:ln>
          </p:spPr>
        </p:pic>
      </p:grpSp>
      <p:sp>
        <p:nvSpPr>
          <p:cNvPr id="20" name="object 7">
            <a:extLst>
              <a:ext uri="{FF2B5EF4-FFF2-40B4-BE49-F238E27FC236}">
                <a16:creationId xmlns:a16="http://schemas.microsoft.com/office/drawing/2014/main" id="{E5C74CDC-ABB6-4472-94FE-61D23C68DAE2}"/>
              </a:ext>
            </a:extLst>
          </p:cNvPr>
          <p:cNvSpPr txBox="1"/>
          <p:nvPr/>
        </p:nvSpPr>
        <p:spPr>
          <a:xfrm>
            <a:off x="510907" y="766940"/>
            <a:ext cx="4489263"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PUBLICACIONES DE COBIT 2019</a:t>
            </a:r>
          </a:p>
        </p:txBody>
      </p:sp>
    </p:spTree>
    <p:extLst>
      <p:ext uri="{BB962C8B-B14F-4D97-AF65-F5344CB8AC3E}">
        <p14:creationId xmlns:p14="http://schemas.microsoft.com/office/powerpoint/2010/main" val="3509007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FAMILIA DE PRODUCTOS</a:t>
            </a:r>
          </a:p>
        </p:txBody>
      </p:sp>
      <p:pic>
        <p:nvPicPr>
          <p:cNvPr id="3" name="Imagen 2">
            <a:extLst>
              <a:ext uri="{FF2B5EF4-FFF2-40B4-BE49-F238E27FC236}">
                <a16:creationId xmlns:a16="http://schemas.microsoft.com/office/drawing/2014/main" id="{BEA79540-E421-4681-812B-DA681BA067C7}"/>
              </a:ext>
            </a:extLst>
          </p:cNvPr>
          <p:cNvPicPr>
            <a:picLocks noChangeAspect="1"/>
          </p:cNvPicPr>
          <p:nvPr/>
        </p:nvPicPr>
        <p:blipFill>
          <a:blip r:embed="rId3"/>
          <a:stretch>
            <a:fillRect/>
          </a:stretch>
        </p:blipFill>
        <p:spPr>
          <a:xfrm>
            <a:off x="510907" y="1234530"/>
            <a:ext cx="2866369" cy="3713530"/>
          </a:xfrm>
          <a:prstGeom prst="rect">
            <a:avLst/>
          </a:prstGeom>
          <a:ln w="3175">
            <a:solidFill>
              <a:schemeClr val="tx1"/>
            </a:solidFill>
          </a:ln>
        </p:spPr>
      </p:pic>
      <p:sp>
        <p:nvSpPr>
          <p:cNvPr id="6" name="object 7">
            <a:extLst>
              <a:ext uri="{FF2B5EF4-FFF2-40B4-BE49-F238E27FC236}">
                <a16:creationId xmlns:a16="http://schemas.microsoft.com/office/drawing/2014/main" id="{9D44D355-BE4C-4442-BD39-525528DA80D0}"/>
              </a:ext>
            </a:extLst>
          </p:cNvPr>
          <p:cNvSpPr txBox="1"/>
          <p:nvPr/>
        </p:nvSpPr>
        <p:spPr>
          <a:xfrm>
            <a:off x="3811162" y="1602434"/>
            <a:ext cx="4676025" cy="2677656"/>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Explica la estructura general y partes del marco de referencia.</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Actualizaciones clave sobre la gobernanza, términos, conceptos y principios.</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Introduce los fundamentos de los componentes del sistema de gobierno, y los objetivos de gobierno y gestión. </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Describe la actualización de la gestión del rendimiento (capacidad/madurez)</a:t>
            </a:r>
          </a:p>
        </p:txBody>
      </p:sp>
      <p:sp>
        <p:nvSpPr>
          <p:cNvPr id="8" name="object 7">
            <a:extLst>
              <a:ext uri="{FF2B5EF4-FFF2-40B4-BE49-F238E27FC236}">
                <a16:creationId xmlns:a16="http://schemas.microsoft.com/office/drawing/2014/main" id="{A4011936-65F1-4937-BC13-4E1F680119F6}"/>
              </a:ext>
            </a:extLst>
          </p:cNvPr>
          <p:cNvSpPr txBox="1"/>
          <p:nvPr/>
        </p:nvSpPr>
        <p:spPr>
          <a:xfrm>
            <a:off x="510907" y="766940"/>
            <a:ext cx="3223475"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…PUBLICACIONES DE COBIT 2019</a:t>
            </a:r>
          </a:p>
        </p:txBody>
      </p:sp>
    </p:spTree>
    <p:extLst>
      <p:ext uri="{BB962C8B-B14F-4D97-AF65-F5344CB8AC3E}">
        <p14:creationId xmlns:p14="http://schemas.microsoft.com/office/powerpoint/2010/main" val="3079968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4733D02C-2180-43C1-9CF2-4AAF08196F10}"/>
              </a:ext>
            </a:extLst>
          </p:cNvPr>
          <p:cNvPicPr>
            <a:picLocks noChangeAspect="1"/>
          </p:cNvPicPr>
          <p:nvPr/>
        </p:nvPicPr>
        <p:blipFill>
          <a:blip r:embed="rId3"/>
          <a:stretch>
            <a:fillRect/>
          </a:stretch>
        </p:blipFill>
        <p:spPr>
          <a:xfrm>
            <a:off x="510907" y="1235743"/>
            <a:ext cx="2866369" cy="3712317"/>
          </a:xfrm>
          <a:prstGeom prst="rect">
            <a:avLst/>
          </a:prstGeom>
          <a:ln w="3175">
            <a:solidFill>
              <a:schemeClr val="tx1"/>
            </a:solidFill>
          </a:ln>
        </p:spPr>
      </p:pic>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FAMILIA DE PRODUCTOS</a:t>
            </a:r>
          </a:p>
        </p:txBody>
      </p:sp>
      <p:sp>
        <p:nvSpPr>
          <p:cNvPr id="9" name="object 7">
            <a:extLst>
              <a:ext uri="{FF2B5EF4-FFF2-40B4-BE49-F238E27FC236}">
                <a16:creationId xmlns:a16="http://schemas.microsoft.com/office/drawing/2014/main" id="{75E9C154-4368-403D-B762-A569F77C87E8}"/>
              </a:ext>
            </a:extLst>
          </p:cNvPr>
          <p:cNvSpPr txBox="1"/>
          <p:nvPr/>
        </p:nvSpPr>
        <p:spPr>
          <a:xfrm>
            <a:off x="3811162" y="1912104"/>
            <a:ext cx="4676025" cy="1785104"/>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Incluye 40 objetivos de gobierno y gestión organizados en cinco dominios (Gobierno/Gestión).</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Cada objetivo está relacionado con un proceso.</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Para cada objetivo, proporciona orientación relacionada con cada uno de los componentes de gobierno.</a:t>
            </a:r>
          </a:p>
        </p:txBody>
      </p:sp>
      <p:sp>
        <p:nvSpPr>
          <p:cNvPr id="10" name="object 7">
            <a:extLst>
              <a:ext uri="{FF2B5EF4-FFF2-40B4-BE49-F238E27FC236}">
                <a16:creationId xmlns:a16="http://schemas.microsoft.com/office/drawing/2014/main" id="{9BCDA18D-D220-4AC6-95BD-ABFBC9F54831}"/>
              </a:ext>
            </a:extLst>
          </p:cNvPr>
          <p:cNvSpPr txBox="1"/>
          <p:nvPr/>
        </p:nvSpPr>
        <p:spPr>
          <a:xfrm>
            <a:off x="510907" y="766940"/>
            <a:ext cx="3223475"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…PUBLICACIONES DE COBIT 2019</a:t>
            </a:r>
          </a:p>
        </p:txBody>
      </p:sp>
    </p:spTree>
    <p:extLst>
      <p:ext uri="{BB962C8B-B14F-4D97-AF65-F5344CB8AC3E}">
        <p14:creationId xmlns:p14="http://schemas.microsoft.com/office/powerpoint/2010/main" val="1421082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4817A5F-9E18-4BB9-B45B-4E14F180E295}"/>
              </a:ext>
            </a:extLst>
          </p:cNvPr>
          <p:cNvPicPr>
            <a:picLocks noChangeAspect="1"/>
          </p:cNvPicPr>
          <p:nvPr/>
        </p:nvPicPr>
        <p:blipFill>
          <a:blip r:embed="rId3"/>
          <a:stretch>
            <a:fillRect/>
          </a:stretch>
        </p:blipFill>
        <p:spPr>
          <a:xfrm>
            <a:off x="510907" y="1235745"/>
            <a:ext cx="2866368" cy="3712315"/>
          </a:xfrm>
          <a:prstGeom prst="rect">
            <a:avLst/>
          </a:prstGeom>
          <a:ln w="3175">
            <a:solidFill>
              <a:schemeClr val="tx1"/>
            </a:solidFill>
          </a:ln>
        </p:spPr>
      </p:pic>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FAMILIA DE PRODUCTOS</a:t>
            </a:r>
          </a:p>
        </p:txBody>
      </p:sp>
      <p:sp>
        <p:nvSpPr>
          <p:cNvPr id="9" name="object 7">
            <a:extLst>
              <a:ext uri="{FF2B5EF4-FFF2-40B4-BE49-F238E27FC236}">
                <a16:creationId xmlns:a16="http://schemas.microsoft.com/office/drawing/2014/main" id="{E8412A9A-2333-4CCC-9123-92FC67F731B1}"/>
              </a:ext>
            </a:extLst>
          </p:cNvPr>
          <p:cNvSpPr txBox="1"/>
          <p:nvPr/>
        </p:nvSpPr>
        <p:spPr>
          <a:xfrm>
            <a:off x="3811162" y="1888004"/>
            <a:ext cx="4676025" cy="1938992"/>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Introduce áreas de enfoque y factores de diseño.</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Incluye un flujo de trabajo de diseño que facilita la creación de un sistema de gobierno personalizado.</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Se utiliza junto con la Guía de implementación.</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Viene con una herramienta descargable para ayudar a crear un sistema de gobierno personalizado.</a:t>
            </a:r>
          </a:p>
        </p:txBody>
      </p:sp>
      <p:sp>
        <p:nvSpPr>
          <p:cNvPr id="10" name="object 7">
            <a:extLst>
              <a:ext uri="{FF2B5EF4-FFF2-40B4-BE49-F238E27FC236}">
                <a16:creationId xmlns:a16="http://schemas.microsoft.com/office/drawing/2014/main" id="{150B11F5-EAF0-4877-8A41-433B11ADD46C}"/>
              </a:ext>
            </a:extLst>
          </p:cNvPr>
          <p:cNvSpPr txBox="1"/>
          <p:nvPr/>
        </p:nvSpPr>
        <p:spPr>
          <a:xfrm>
            <a:off x="510907" y="766940"/>
            <a:ext cx="3223475"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…PUBLICACIONES DE COBIT 2019</a:t>
            </a:r>
          </a:p>
        </p:txBody>
      </p:sp>
    </p:spTree>
    <p:extLst>
      <p:ext uri="{BB962C8B-B14F-4D97-AF65-F5344CB8AC3E}">
        <p14:creationId xmlns:p14="http://schemas.microsoft.com/office/powerpoint/2010/main" val="1080473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3C6C578B-D8D7-4E33-A038-C9BD432D7A8A}"/>
              </a:ext>
            </a:extLst>
          </p:cNvPr>
          <p:cNvPicPr>
            <a:picLocks noChangeAspect="1"/>
          </p:cNvPicPr>
          <p:nvPr/>
        </p:nvPicPr>
        <p:blipFill>
          <a:blip r:embed="rId3"/>
          <a:stretch>
            <a:fillRect/>
          </a:stretch>
        </p:blipFill>
        <p:spPr>
          <a:xfrm>
            <a:off x="510907" y="1235745"/>
            <a:ext cx="2862261" cy="3712315"/>
          </a:xfrm>
          <a:prstGeom prst="rect">
            <a:avLst/>
          </a:prstGeom>
          <a:ln w="3175">
            <a:solidFill>
              <a:schemeClr val="tx1"/>
            </a:solidFill>
          </a:ln>
        </p:spPr>
      </p:pic>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FAMILIA DE PRODUCTOS</a:t>
            </a:r>
          </a:p>
        </p:txBody>
      </p:sp>
      <p:sp>
        <p:nvSpPr>
          <p:cNvPr id="10" name="object 7">
            <a:extLst>
              <a:ext uri="{FF2B5EF4-FFF2-40B4-BE49-F238E27FC236}">
                <a16:creationId xmlns:a16="http://schemas.microsoft.com/office/drawing/2014/main" id="{CABEEAB6-6E4E-473F-BD23-544BE22C6584}"/>
              </a:ext>
            </a:extLst>
          </p:cNvPr>
          <p:cNvSpPr txBox="1"/>
          <p:nvPr/>
        </p:nvSpPr>
        <p:spPr>
          <a:xfrm>
            <a:off x="3811162" y="2011114"/>
            <a:ext cx="4676025" cy="1692771"/>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Actualizado de la Guía de implementación de COBIT5.</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Se utiliza junto con la Guía de diseño.</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Proporciona un enfoque de ciclo de vida de mejora continua.</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Incluye siete fases con tres perspectivas.</a:t>
            </a:r>
          </a:p>
        </p:txBody>
      </p:sp>
      <p:sp>
        <p:nvSpPr>
          <p:cNvPr id="11" name="object 7">
            <a:extLst>
              <a:ext uri="{FF2B5EF4-FFF2-40B4-BE49-F238E27FC236}">
                <a16:creationId xmlns:a16="http://schemas.microsoft.com/office/drawing/2014/main" id="{3D5B4C7B-74CD-4592-ACA7-9A294A29D8DB}"/>
              </a:ext>
            </a:extLst>
          </p:cNvPr>
          <p:cNvSpPr txBox="1"/>
          <p:nvPr/>
        </p:nvSpPr>
        <p:spPr>
          <a:xfrm>
            <a:off x="510907" y="766940"/>
            <a:ext cx="3223475"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…PUBLICACIONES DE COBIT 2019</a:t>
            </a:r>
          </a:p>
        </p:txBody>
      </p:sp>
    </p:spTree>
    <p:extLst>
      <p:ext uri="{BB962C8B-B14F-4D97-AF65-F5344CB8AC3E}">
        <p14:creationId xmlns:p14="http://schemas.microsoft.com/office/powerpoint/2010/main" val="1542765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PÚBLICO OBJETIVO</a:t>
            </a:r>
          </a:p>
        </p:txBody>
      </p:sp>
    </p:spTree>
    <p:custDataLst>
      <p:tags r:id="rId1"/>
    </p:custDataLst>
    <p:extLst>
      <p:ext uri="{BB962C8B-B14F-4D97-AF65-F5344CB8AC3E}">
        <p14:creationId xmlns:p14="http://schemas.microsoft.com/office/powerpoint/2010/main" val="3380414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PÚBLICO OBJETIVO</a:t>
            </a:r>
          </a:p>
        </p:txBody>
      </p:sp>
      <p:sp>
        <p:nvSpPr>
          <p:cNvPr id="6" name="object 7">
            <a:extLst>
              <a:ext uri="{FF2B5EF4-FFF2-40B4-BE49-F238E27FC236}">
                <a16:creationId xmlns:a16="http://schemas.microsoft.com/office/drawing/2014/main" id="{6EFECC5E-967F-4EA3-AC6A-10606CDEEE60}"/>
              </a:ext>
            </a:extLst>
          </p:cNvPr>
          <p:cNvSpPr txBox="1"/>
          <p:nvPr/>
        </p:nvSpPr>
        <p:spPr>
          <a:xfrm>
            <a:off x="484656" y="1180117"/>
            <a:ext cx="2084039" cy="3354765"/>
          </a:xfrm>
          <a:prstGeom prst="rect">
            <a:avLst/>
          </a:prstGeom>
        </p:spPr>
        <p:txBody>
          <a:bodyPr vert="horz" wrap="square" lIns="0" tIns="0" rIns="0" bIns="0" rtlCol="0">
            <a:spAutoFit/>
          </a:bodyPr>
          <a:lstStyle/>
          <a:p>
            <a:pPr marL="285750" indent="-285750">
              <a:spcAft>
                <a:spcPts val="1200"/>
              </a:spcAft>
              <a:buSzPct val="100000"/>
              <a:buFont typeface="Arial" panose="020B0604020202020204" pitchFamily="34" charset="0"/>
              <a:buChar char="•"/>
              <a:tabLst>
                <a:tab pos="121285" algn="l"/>
              </a:tabLst>
            </a:pPr>
            <a:r>
              <a:rPr lang="es-ES" sz="1600" spc="-10" dirty="0">
                <a:solidFill>
                  <a:srgbClr val="262626"/>
                </a:solidFill>
              </a:rPr>
              <a:t>El público objetivo de COBIT son las partes interesadas en la GETI y, por extensión, las partes interesadas en el gobierno corporativo. </a:t>
            </a:r>
          </a:p>
          <a:p>
            <a:pPr marL="285750" indent="-285750">
              <a:spcAft>
                <a:spcPts val="1200"/>
              </a:spcAft>
              <a:buSzPct val="100000"/>
              <a:buFont typeface="Arial" panose="020B0604020202020204" pitchFamily="34" charset="0"/>
              <a:buChar char="•"/>
              <a:tabLst>
                <a:tab pos="121285" algn="l"/>
              </a:tabLst>
            </a:pPr>
            <a:r>
              <a:rPr lang="es-ES" sz="1600" spc="-10" dirty="0">
                <a:solidFill>
                  <a:srgbClr val="262626"/>
                </a:solidFill>
              </a:rPr>
              <a:t>Estas partes interesadas y los beneficios que pueden obtener de COBIT se muestran en </a:t>
            </a:r>
            <a:r>
              <a:rPr lang="es-ES" sz="1600" spc="-10" dirty="0" smtClean="0">
                <a:solidFill>
                  <a:srgbClr val="262626"/>
                </a:solidFill>
              </a:rPr>
              <a:t>el </a:t>
            </a:r>
            <a:r>
              <a:rPr lang="es-ES" sz="1600" spc="-10" dirty="0">
                <a:solidFill>
                  <a:srgbClr val="262626"/>
                </a:solidFill>
              </a:rPr>
              <a:t>siguiente cuadro: </a:t>
            </a:r>
          </a:p>
        </p:txBody>
      </p:sp>
      <p:pic>
        <p:nvPicPr>
          <p:cNvPr id="8" name="Imagen 7">
            <a:extLst>
              <a:ext uri="{FF2B5EF4-FFF2-40B4-BE49-F238E27FC236}">
                <a16:creationId xmlns:a16="http://schemas.microsoft.com/office/drawing/2014/main" id="{048ED798-8F89-4A22-9876-8BFE251D82E6}"/>
              </a:ext>
            </a:extLst>
          </p:cNvPr>
          <p:cNvPicPr>
            <a:picLocks noChangeAspect="1"/>
          </p:cNvPicPr>
          <p:nvPr/>
        </p:nvPicPr>
        <p:blipFill>
          <a:blip r:embed="rId3"/>
          <a:stretch>
            <a:fillRect/>
          </a:stretch>
        </p:blipFill>
        <p:spPr>
          <a:xfrm>
            <a:off x="2777990" y="751555"/>
            <a:ext cx="6028644" cy="4386205"/>
          </a:xfrm>
          <a:prstGeom prst="rect">
            <a:avLst/>
          </a:prstGeom>
        </p:spPr>
      </p:pic>
    </p:spTree>
    <p:extLst>
      <p:ext uri="{BB962C8B-B14F-4D97-AF65-F5344CB8AC3E}">
        <p14:creationId xmlns:p14="http://schemas.microsoft.com/office/powerpoint/2010/main" val="255411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CERTIFICACIONES</a:t>
            </a:r>
          </a:p>
        </p:txBody>
      </p:sp>
    </p:spTree>
    <p:custDataLst>
      <p:tags r:id="rId1"/>
    </p:custDataLst>
    <p:extLst>
      <p:ext uri="{BB962C8B-B14F-4D97-AF65-F5344CB8AC3E}">
        <p14:creationId xmlns:p14="http://schemas.microsoft.com/office/powerpoint/2010/main" val="2956855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CERTIFICACIONES</a:t>
            </a:r>
          </a:p>
        </p:txBody>
      </p:sp>
      <p:pic>
        <p:nvPicPr>
          <p:cNvPr id="3" name="Imagen 2">
            <a:extLst>
              <a:ext uri="{FF2B5EF4-FFF2-40B4-BE49-F238E27FC236}">
                <a16:creationId xmlns:a16="http://schemas.microsoft.com/office/drawing/2014/main" id="{20447C92-2A92-44D2-9C8A-C3276A0E3F41}"/>
              </a:ext>
            </a:extLst>
          </p:cNvPr>
          <p:cNvPicPr>
            <a:picLocks noChangeAspect="1"/>
          </p:cNvPicPr>
          <p:nvPr/>
        </p:nvPicPr>
        <p:blipFill>
          <a:blip r:embed="rId3"/>
          <a:stretch>
            <a:fillRect/>
          </a:stretch>
        </p:blipFill>
        <p:spPr>
          <a:xfrm>
            <a:off x="600293" y="837882"/>
            <a:ext cx="8215640" cy="4229202"/>
          </a:xfrm>
          <a:prstGeom prst="rect">
            <a:avLst/>
          </a:prstGeom>
        </p:spPr>
      </p:pic>
    </p:spTree>
    <p:extLst>
      <p:ext uri="{BB962C8B-B14F-4D97-AF65-F5344CB8AC3E}">
        <p14:creationId xmlns:p14="http://schemas.microsoft.com/office/powerpoint/2010/main" val="96556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CERTIFICACIONES</a:t>
            </a:r>
          </a:p>
        </p:txBody>
      </p:sp>
      <p:pic>
        <p:nvPicPr>
          <p:cNvPr id="8" name="Imagen 7">
            <a:extLst>
              <a:ext uri="{FF2B5EF4-FFF2-40B4-BE49-F238E27FC236}">
                <a16:creationId xmlns:a16="http://schemas.microsoft.com/office/drawing/2014/main" id="{CA3EF378-E165-4524-BC06-0DB57555B4FE}"/>
              </a:ext>
            </a:extLst>
          </p:cNvPr>
          <p:cNvPicPr>
            <a:picLocks noChangeAspect="1"/>
          </p:cNvPicPr>
          <p:nvPr/>
        </p:nvPicPr>
        <p:blipFill>
          <a:blip r:embed="rId3"/>
          <a:stretch>
            <a:fillRect/>
          </a:stretch>
        </p:blipFill>
        <p:spPr>
          <a:xfrm>
            <a:off x="1907456" y="849598"/>
            <a:ext cx="5329087" cy="4165744"/>
          </a:xfrm>
          <a:prstGeom prst="rect">
            <a:avLst/>
          </a:prstGeom>
        </p:spPr>
      </p:pic>
      <p:pic>
        <p:nvPicPr>
          <p:cNvPr id="9" name="Picture 2" descr="COBIT® 2019 Foundation Certificate - Credly">
            <a:extLst>
              <a:ext uri="{FF2B5EF4-FFF2-40B4-BE49-F238E27FC236}">
                <a16:creationId xmlns:a16="http://schemas.microsoft.com/office/drawing/2014/main" id="{E08D9654-22C2-4BDD-891E-C662C0BDA0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2368" y="497801"/>
            <a:ext cx="1189605" cy="1189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8990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CERTIFICACIONES</a:t>
            </a:r>
          </a:p>
        </p:txBody>
      </p:sp>
      <p:pic>
        <p:nvPicPr>
          <p:cNvPr id="7" name="Imagen 6">
            <a:extLst>
              <a:ext uri="{FF2B5EF4-FFF2-40B4-BE49-F238E27FC236}">
                <a16:creationId xmlns:a16="http://schemas.microsoft.com/office/drawing/2014/main" id="{B60FC935-38D8-4CCA-A210-FAD36D38D89F}"/>
              </a:ext>
            </a:extLst>
          </p:cNvPr>
          <p:cNvPicPr>
            <a:picLocks noChangeAspect="1"/>
          </p:cNvPicPr>
          <p:nvPr/>
        </p:nvPicPr>
        <p:blipFill>
          <a:blip r:embed="rId3"/>
          <a:stretch>
            <a:fillRect/>
          </a:stretch>
        </p:blipFill>
        <p:spPr>
          <a:xfrm>
            <a:off x="1907456" y="849598"/>
            <a:ext cx="5329087" cy="4176852"/>
          </a:xfrm>
          <a:prstGeom prst="rect">
            <a:avLst/>
          </a:prstGeom>
        </p:spPr>
      </p:pic>
      <p:pic>
        <p:nvPicPr>
          <p:cNvPr id="8" name="Picture 4" descr="COBIT 2019 Design and Implementation – SMT Academy">
            <a:extLst>
              <a:ext uri="{FF2B5EF4-FFF2-40B4-BE49-F238E27FC236}">
                <a16:creationId xmlns:a16="http://schemas.microsoft.com/office/drawing/2014/main" id="{39D94AB0-48FA-4F8A-A7A1-AAF16AC00B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6610" y="542043"/>
            <a:ext cx="1101119" cy="1101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1563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CERTIFICACIONES</a:t>
            </a:r>
          </a:p>
        </p:txBody>
      </p:sp>
      <p:pic>
        <p:nvPicPr>
          <p:cNvPr id="4" name="Imagen 3">
            <a:extLst>
              <a:ext uri="{FF2B5EF4-FFF2-40B4-BE49-F238E27FC236}">
                <a16:creationId xmlns:a16="http://schemas.microsoft.com/office/drawing/2014/main" id="{86ED76B7-4BA1-40C3-951E-6E7294D7C3CE}"/>
              </a:ext>
            </a:extLst>
          </p:cNvPr>
          <p:cNvPicPr>
            <a:picLocks noChangeAspect="1"/>
          </p:cNvPicPr>
          <p:nvPr/>
        </p:nvPicPr>
        <p:blipFill>
          <a:blip r:embed="rId3"/>
          <a:stretch>
            <a:fillRect/>
          </a:stretch>
        </p:blipFill>
        <p:spPr>
          <a:xfrm>
            <a:off x="1907456" y="818723"/>
            <a:ext cx="5329087" cy="4172386"/>
          </a:xfrm>
          <a:prstGeom prst="rect">
            <a:avLst/>
          </a:prstGeom>
        </p:spPr>
      </p:pic>
      <p:pic>
        <p:nvPicPr>
          <p:cNvPr id="11266" name="Picture 2" descr="ISACA® Implementing the NIST Cybersecurity Framework Using COBIT 2019  Certificate - Credly">
            <a:extLst>
              <a:ext uri="{FF2B5EF4-FFF2-40B4-BE49-F238E27FC236}">
                <a16:creationId xmlns:a16="http://schemas.microsoft.com/office/drawing/2014/main" id="{B5BA338F-2095-4374-BD36-FD3682E109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8574" y="497801"/>
            <a:ext cx="1117551" cy="1117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178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
        <p:nvSpPr>
          <p:cNvPr id="8" name="Rectángulo 10">
            <a:extLst>
              <a:ext uri="{FF2B5EF4-FFF2-40B4-BE49-F238E27FC236}">
                <a16:creationId xmlns:a16="http://schemas.microsoft.com/office/drawing/2014/main" id="{2CE728F1-CA35-4741-A316-6A8802F5D948}"/>
              </a:ext>
            </a:extLst>
          </p:cNvPr>
          <p:cNvSpPr/>
          <p:nvPr/>
        </p:nvSpPr>
        <p:spPr>
          <a:xfrm>
            <a:off x="2304789" y="713188"/>
            <a:ext cx="6370899" cy="3662541"/>
          </a:xfrm>
          <a:prstGeom prst="rect">
            <a:avLst/>
          </a:prstGeom>
        </p:spPr>
        <p:txBody>
          <a:bodyPr wrap="square" lIns="0" tIns="0" rIns="0" bIns="0">
            <a:spAutoFit/>
          </a:bodyPr>
          <a:lstStyle/>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COBIT es un marco para el gobierno y la gestión de las tecnologías de la información de la empresa, dirigido a toda la empresa. </a:t>
            </a:r>
          </a:p>
          <a:p>
            <a:pPr marL="180975" indent="-180975">
              <a:spcAft>
                <a:spcPts val="1800"/>
              </a:spcAft>
              <a:buSzPct val="100000"/>
              <a:buFont typeface="Arial" panose="020B0604020202020204" pitchFamily="34" charset="0"/>
              <a:buChar char="•"/>
              <a:tabLst>
                <a:tab pos="121285" algn="l"/>
              </a:tabLst>
            </a:pPr>
            <a:r>
              <a:rPr lang="es-ES" sz="1600" dirty="0" smtClean="0">
                <a:solidFill>
                  <a:srgbClr val="FFFFFF"/>
                </a:solidFill>
                <a:latin typeface="+mj-lt"/>
              </a:rPr>
              <a:t>Un </a:t>
            </a:r>
            <a:r>
              <a:rPr lang="es-ES" sz="1600" dirty="0">
                <a:solidFill>
                  <a:srgbClr val="FFFFFF"/>
                </a:solidFill>
                <a:latin typeface="+mj-lt"/>
              </a:rPr>
              <a:t>objetivo de gobierno o gestión siempre está relacionado con un proceso (con un nombre idéntico o similar) y una serie de componentes relacionados de otros tipos para contribuir a lograr el objetivo. </a:t>
            </a:r>
            <a:endParaRPr lang="es-ES" sz="1600" dirty="0">
              <a:solidFill>
                <a:srgbClr val="FFFFFF"/>
              </a:solidFill>
              <a:latin typeface="+mj-lt"/>
            </a:endParaRP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rPr>
              <a:t>Los objetivos de gobierno y gestión de COBIT se agrupan en cinco dominios. Los dominios se nombran mediante verbos que expresan el propósito clave. Los objetivos de gobierno se agrupan en el dominio: Evaluar, Dirigir y Monitorizar (EDM) y los objetivos de gestión se agrupan en cuatro dominios: Alinear, Planificar y Organizar (APO); Construir, Adquirir e Implementar (BAI); Entregar, Dar Servicio y Soporte (DSS); Monitorizar, Evaluar y Valorar (MEA). COBIT 2019 propone 40 objetivos de gobierno y de gestión</a:t>
            </a:r>
            <a:r>
              <a:rPr lang="es-ES" sz="1600" dirty="0" smtClean="0">
                <a:solidFill>
                  <a:srgbClr val="FFFFFF"/>
                </a:solidFill>
              </a:rPr>
              <a:t>.</a:t>
            </a:r>
            <a:endParaRPr lang="es-ES" sz="1600" dirty="0">
              <a:solidFill>
                <a:srgbClr val="FFFFFF"/>
              </a:solidFill>
            </a:endParaRPr>
          </a:p>
        </p:txBody>
      </p:sp>
    </p:spTree>
    <p:custDataLst>
      <p:tags r:id="rId1"/>
    </p:custDataLst>
    <p:extLst>
      <p:ext uri="{BB962C8B-B14F-4D97-AF65-F5344CB8AC3E}">
        <p14:creationId xmlns:p14="http://schemas.microsoft.com/office/powerpoint/2010/main" val="1757486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
        <p:nvSpPr>
          <p:cNvPr id="8" name="Rectángulo 10">
            <a:extLst>
              <a:ext uri="{FF2B5EF4-FFF2-40B4-BE49-F238E27FC236}">
                <a16:creationId xmlns:a16="http://schemas.microsoft.com/office/drawing/2014/main" id="{2CE728F1-CA35-4741-A316-6A8802F5D948}"/>
              </a:ext>
            </a:extLst>
          </p:cNvPr>
          <p:cNvSpPr/>
          <p:nvPr/>
        </p:nvSpPr>
        <p:spPr>
          <a:xfrm>
            <a:off x="2304789" y="836158"/>
            <a:ext cx="6370899" cy="1477328"/>
          </a:xfrm>
          <a:prstGeom prst="rect">
            <a:avLst/>
          </a:prstGeom>
        </p:spPr>
        <p:txBody>
          <a:bodyPr wrap="square" lIns="0" tIns="0" rIns="0" bIns="0">
            <a:spAutoFit/>
          </a:bodyPr>
          <a:lstStyle/>
          <a:p>
            <a:pPr marL="180975" indent="-180975">
              <a:spcAft>
                <a:spcPts val="1800"/>
              </a:spcAft>
              <a:buSzPct val="100000"/>
              <a:buFont typeface="Arial" panose="020B0604020202020204" pitchFamily="34" charset="0"/>
              <a:buChar char="•"/>
              <a:tabLst>
                <a:tab pos="121285" algn="l"/>
              </a:tabLst>
            </a:pPr>
            <a:r>
              <a:rPr lang="es-ES" sz="1600" dirty="0" smtClean="0">
                <a:solidFill>
                  <a:srgbClr val="FFFFFF"/>
                </a:solidFill>
                <a:latin typeface="+mj-lt"/>
              </a:rPr>
              <a:t>Los </a:t>
            </a:r>
            <a:r>
              <a:rPr lang="es-ES" sz="1600" dirty="0">
                <a:solidFill>
                  <a:srgbClr val="FFFFFF"/>
                </a:solidFill>
                <a:latin typeface="+mj-lt"/>
              </a:rPr>
              <a:t>componentes del sistema de gobierno son factores que, de forma individual y colectiva, contribuyen al buen funcionamiento del sistema de gobierno de la empresa en cuanto a I&amp;T. </a:t>
            </a:r>
            <a:r>
              <a:rPr lang="es-ES" sz="1600" dirty="0" smtClean="0">
                <a:solidFill>
                  <a:srgbClr val="FFFFFF"/>
                </a:solidFill>
                <a:latin typeface="+mj-lt"/>
              </a:rPr>
              <a:t>Los </a:t>
            </a:r>
            <a:r>
              <a:rPr lang="es-ES" sz="1600" dirty="0" smtClean="0">
                <a:solidFill>
                  <a:srgbClr val="FFFFFF"/>
                </a:solidFill>
                <a:latin typeface="+mj-lt"/>
              </a:rPr>
              <a:t>componentes </a:t>
            </a:r>
            <a:r>
              <a:rPr lang="es-ES" sz="1600" dirty="0">
                <a:solidFill>
                  <a:srgbClr val="FFFFFF"/>
                </a:solidFill>
                <a:latin typeface="+mj-lt"/>
              </a:rPr>
              <a:t>de un sistema de gobierno incluyen estructuras organizativas; políticas y procedimientos; elementos de información; cultura y comportamiento; habilidades y competencias; y servicios, infraestructura y aplicaciones.</a:t>
            </a:r>
          </a:p>
        </p:txBody>
      </p:sp>
    </p:spTree>
    <p:custDataLst>
      <p:tags r:id="rId1"/>
    </p:custDataLst>
    <p:extLst>
      <p:ext uri="{BB962C8B-B14F-4D97-AF65-F5344CB8AC3E}">
        <p14:creationId xmlns:p14="http://schemas.microsoft.com/office/powerpoint/2010/main" val="12113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25"/>
          <p:cNvSpPr txBox="1">
            <a:spLocks/>
          </p:cNvSpPr>
          <p:nvPr/>
        </p:nvSpPr>
        <p:spPr>
          <a:xfrm>
            <a:off x="515764" y="965680"/>
            <a:ext cx="7979082" cy="1449454"/>
          </a:xfrm>
          <a:prstGeom prst="rect">
            <a:avLst/>
          </a:prstGeom>
        </p:spPr>
        <p:txBody>
          <a:bodyPr lIns="0" tIns="0" rIns="0" bIns="0"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Introducción y Metodología”. </a:t>
            </a:r>
            <a:r>
              <a:rPr lang="en-US" sz="1400" dirty="0">
                <a:solidFill>
                  <a:srgbClr val="0000FF"/>
                </a:solidFill>
                <a:effectLst/>
                <a:latin typeface="Calibri" panose="020F0502020204030204" pitchFamily="34" charset="0"/>
                <a:ea typeface="Times New Roman" panose="02020603050405020304" pitchFamily="18" charset="0"/>
              </a:rPr>
              <a:t>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Objetivos de Gobierno y de Gestión”.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Diseño de una solución de Gobierno de Información y Tecnología”.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Implementación y optimización de una solución de gobierno de información y tecnología”.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p:txBody>
      </p:sp>
      <p:sp>
        <p:nvSpPr>
          <p:cNvPr id="4" name="Rectangle 5"/>
          <p:cNvSpPr/>
          <p:nvPr/>
        </p:nvSpPr>
        <p:spPr>
          <a:xfrm>
            <a:off x="511154" y="331345"/>
            <a:ext cx="1945800" cy="200055"/>
          </a:xfrm>
          <a:prstGeom prst="rect">
            <a:avLst/>
          </a:prstGeom>
        </p:spPr>
        <p:txBody>
          <a:bodyPr wrap="square" lIns="0" tIns="0" rIns="0" bIns="0">
            <a:spAutoFit/>
          </a:bodyPr>
          <a:lstStyle/>
          <a:p>
            <a:r>
              <a:rPr lang="en-US" sz="1300" dirty="0">
                <a:solidFill>
                  <a:srgbClr val="438AD7"/>
                </a:solidFill>
              </a:rPr>
              <a:t>/ BIBLIOGRAFÍA</a:t>
            </a:r>
          </a:p>
        </p:txBody>
      </p:sp>
    </p:spTree>
    <p:custDataLst>
      <p:tags r:id="rId1"/>
    </p:custDataLst>
    <p:extLst>
      <p:ext uri="{BB962C8B-B14F-4D97-AF65-F5344CB8AC3E}">
        <p14:creationId xmlns:p14="http://schemas.microsoft.com/office/powerpoint/2010/main" val="121629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10664</TotalTime>
  <Words>2575</Words>
  <Application>Microsoft Office PowerPoint</Application>
  <PresentationFormat>Presentación en pantalla (16:10)</PresentationFormat>
  <Paragraphs>213</Paragraphs>
  <Slides>37</Slides>
  <Notes>36</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37</vt:i4>
      </vt:variant>
    </vt:vector>
  </HeadingPairs>
  <TitlesOfParts>
    <vt:vector size="47" baseType="lpstr">
      <vt:lpstr>Arial</vt:lpstr>
      <vt:lpstr>Calibri</vt:lpstr>
      <vt:lpstr>JIJNO O+ Times New Roman PSMT</vt:lpstr>
      <vt:lpstr>JIKLE B+ Times New Roman PSMT</vt:lpstr>
      <vt:lpstr>JIKMI E+ Times New Roman PSMT</vt:lpstr>
      <vt:lpstr>Source Sans Pro</vt:lpstr>
      <vt:lpstr>Times New Roman</vt:lpstr>
      <vt:lpstr>Verdana</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643</cp:revision>
  <cp:lastPrinted>2018-01-16T21:42:59Z</cp:lastPrinted>
  <dcterms:created xsi:type="dcterms:W3CDTF">2016-10-06T14:52:02Z</dcterms:created>
  <dcterms:modified xsi:type="dcterms:W3CDTF">2022-05-10T20:40:53Z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