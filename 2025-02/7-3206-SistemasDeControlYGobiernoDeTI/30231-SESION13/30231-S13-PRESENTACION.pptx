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326" r:id="rId2"/>
    <p:sldId id="465" r:id="rId3"/>
    <p:sldId id="726" r:id="rId4"/>
    <p:sldId id="741" r:id="rId5"/>
    <p:sldId id="728" r:id="rId6"/>
    <p:sldId id="740" r:id="rId7"/>
    <p:sldId id="730" r:id="rId8"/>
    <p:sldId id="734" r:id="rId9"/>
    <p:sldId id="732" r:id="rId10"/>
    <p:sldId id="733" r:id="rId11"/>
    <p:sldId id="735" r:id="rId12"/>
    <p:sldId id="742" r:id="rId13"/>
    <p:sldId id="737" r:id="rId14"/>
    <p:sldId id="738" r:id="rId15"/>
    <p:sldId id="725" r:id="rId16"/>
    <p:sldId id="739" r:id="rId17"/>
    <p:sldId id="606" r:id="rId18"/>
  </p:sldIdLst>
  <p:sldSz cx="9144000" cy="5715000" type="screen16x10"/>
  <p:notesSz cx="6797675" cy="9926638"/>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76B7D"/>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93" autoAdjust="0"/>
    <p:restoredTop sz="91400" autoAdjust="0"/>
  </p:normalViewPr>
  <p:slideViewPr>
    <p:cSldViewPr snapToGrid="0" snapToObjects="1" showGuides="1">
      <p:cViewPr varScale="1">
        <p:scale>
          <a:sx n="96" d="100"/>
          <a:sy n="96" d="100"/>
        </p:scale>
        <p:origin x="1339" y="6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12/05/2022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12/05/2022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3902760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395837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5322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3280844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4216842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3775877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spc="-10" dirty="0">
                <a:solidFill>
                  <a:srgbClr val="262626"/>
                </a:solidFill>
              </a:rPr>
              <a:t>En la presente figura se muestra el modelo, los niveles de capacidad incrementales y las características generales de cada uno.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800" b="0" i="0" u="none" strike="noStrike" baseline="0" dirty="0">
                <a:solidFill>
                  <a:srgbClr val="000000"/>
                </a:solidFill>
                <a:latin typeface="JIJNO O+ Times New Roman PSMT"/>
              </a:rPr>
              <a:t>El modelo </a:t>
            </a:r>
            <a:r>
              <a:rPr lang="es-ES" sz="1800" b="0" i="1" u="none" strike="noStrike" baseline="0" dirty="0">
                <a:solidFill>
                  <a:srgbClr val="000000"/>
                </a:solidFill>
                <a:latin typeface="JIJNO O+ Times New Roman PSMT"/>
              </a:rPr>
              <a:t>core</a:t>
            </a:r>
            <a:r>
              <a:rPr lang="es-ES" sz="1800" b="0" i="0" u="none" strike="noStrike" baseline="0" dirty="0">
                <a:solidFill>
                  <a:srgbClr val="000000"/>
                </a:solidFill>
                <a:latin typeface="JIJNO O+ Times New Roman PSMT"/>
              </a:rPr>
              <a:t> de COBIT asigna niveles de capacidad a todas las actividades del proceso, permitiendo una clara definición de los procesos y las actividades requeridas para alcanzar los distintos niveles de capacidad. Ver </a:t>
            </a:r>
            <a:r>
              <a:rPr lang="es-ES" sz="1800" b="0" i="1" u="none" strike="noStrike" baseline="0" dirty="0">
                <a:solidFill>
                  <a:srgbClr val="000000"/>
                </a:solidFill>
                <a:latin typeface="JIJNO P+ Times New Roman PSMT"/>
              </a:rPr>
              <a:t>Marco de referencia COBIT® 2019: Objetivos de gobierno y gestión </a:t>
            </a:r>
            <a:r>
              <a:rPr lang="es-ES" sz="1800" b="0" i="0" u="none" strike="noStrike" baseline="0" dirty="0">
                <a:solidFill>
                  <a:srgbClr val="000000"/>
                </a:solidFill>
                <a:latin typeface="JIJNO O+ Times New Roman PSMT"/>
              </a:rPr>
              <a:t>para más detalles. </a:t>
            </a:r>
            <a:endParaRPr lang="es-ES" sz="1200" spc="-10" dirty="0">
              <a:solidFill>
                <a:srgbClr val="262626"/>
              </a:solidFill>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417488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463084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800" b="0" i="0" u="none" strike="noStrike" baseline="0" dirty="0">
                <a:solidFill>
                  <a:srgbClr val="000000"/>
                </a:solidFill>
                <a:latin typeface="JIJNO O+ Times New Roman PSMT"/>
              </a:rPr>
              <a:t>Los niveles de madurez están asociados con áreas prioritarias (por </a:t>
            </a:r>
            <a:r>
              <a:rPr lang="es-ES" sz="1800" b="0" i="0" u="none" strike="noStrike" baseline="0" dirty="0" smtClean="0">
                <a:solidFill>
                  <a:srgbClr val="000000"/>
                </a:solidFill>
                <a:latin typeface="JIJNO O+ Times New Roman PSMT"/>
              </a:rPr>
              <a:t>ejemplo </a:t>
            </a:r>
            <a:r>
              <a:rPr lang="es-ES" sz="1800" b="0" i="0" u="none" strike="noStrike" baseline="0" dirty="0">
                <a:solidFill>
                  <a:srgbClr val="000000"/>
                </a:solidFill>
                <a:latin typeface="JIJNO O+ Times New Roman PSMT"/>
              </a:rPr>
              <a:t>una colección de objetivos de gobierno y gestión y los componentes subyacentes) y un cierto nivel de madurez se alcanzará si todos los procesos incluidos en el área prioritaria alcanzan ese nivel de capacidad específico. </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693849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2129767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47834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1FB77D5F-F7C7-4A4E-B9CB-9B53C116ECA0}" type="datetimeFigureOut">
              <a:rPr lang="es-ES_tradnl" smtClean="0"/>
              <a:t>12/05/2022</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CCAAA411-D912-394E-A3C9-E79952CE3FED}" type="slidenum">
              <a:rPr lang="es-ES_tradnl" smtClean="0"/>
              <a:t>‹Nº›</a:t>
            </a:fld>
            <a:endParaRPr lang="es-ES_tradnl"/>
          </a:p>
        </p:txBody>
      </p:sp>
    </p:spTree>
    <p:extLst>
      <p:ext uri="{BB962C8B-B14F-4D97-AF65-F5344CB8AC3E}">
        <p14:creationId xmlns:p14="http://schemas.microsoft.com/office/powerpoint/2010/main" val="911076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499402"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 CONTROL Y GOBIERNO</a:t>
              </a:r>
              <a:r>
                <a:rPr lang="en-US" sz="800" kern="1200" baseline="0" dirty="0" smtClean="0">
                  <a:solidFill>
                    <a:schemeClr val="bg1">
                      <a:lumMod val="50000"/>
                    </a:schemeClr>
                  </a:solidFill>
                  <a:latin typeface="Calibri"/>
                  <a:ea typeface="+mn-ea"/>
                  <a:cs typeface="Calibri"/>
                  <a:sym typeface="Wingdings"/>
                </a:rPr>
                <a:t> DE TI</a:t>
              </a:r>
              <a:r>
                <a:rPr lang="en-US" sz="800" kern="1200" dirty="0" smtClean="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 13</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2">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 id="2147483663" r:id="rId10"/>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13</a:t>
            </a:r>
          </a:p>
        </p:txBody>
      </p:sp>
      <p:sp>
        <p:nvSpPr>
          <p:cNvPr id="14" name="CuadroTexto 13"/>
          <p:cNvSpPr txBox="1"/>
          <p:nvPr/>
        </p:nvSpPr>
        <p:spPr>
          <a:xfrm>
            <a:off x="1493096" y="594683"/>
            <a:ext cx="7270481" cy="698012"/>
          </a:xfrm>
          <a:prstGeom prst="rect">
            <a:avLst/>
          </a:prstGeom>
          <a:noFill/>
        </p:spPr>
        <p:txBody>
          <a:bodyPr wrap="square" rtlCol="0">
            <a:spAutoFit/>
          </a:bodyPr>
          <a:lstStyle/>
          <a:p>
            <a:pPr>
              <a:lnSpc>
                <a:spcPct val="80000"/>
              </a:lnSpc>
            </a:pPr>
            <a:r>
              <a:rPr lang="es-ES" sz="4800" b="1" dirty="0" smtClean="0">
                <a:solidFill>
                  <a:srgbClr val="FFFFFF"/>
                </a:solidFill>
              </a:rPr>
              <a:t>GESTIÓN DEL DESEMPEÑO</a:t>
            </a:r>
            <a:endParaRPr lang="es-ES" sz="4800" b="1" dirty="0">
              <a:solidFill>
                <a:srgbClr val="FFFFFF"/>
              </a:solidFill>
            </a:endParaRPr>
          </a:p>
        </p:txBody>
      </p:sp>
      <p:sp>
        <p:nvSpPr>
          <p:cNvPr id="15" name="CuadroTexto 14"/>
          <p:cNvSpPr txBox="1"/>
          <p:nvPr/>
        </p:nvSpPr>
        <p:spPr>
          <a:xfrm>
            <a:off x="589880" y="1967491"/>
            <a:ext cx="5235567" cy="1254446"/>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Definición</a:t>
            </a:r>
          </a:p>
          <a:p>
            <a:pPr marL="285750" indent="-285750">
              <a:lnSpc>
                <a:spcPct val="120000"/>
              </a:lnSpc>
              <a:buSzPct val="80000"/>
              <a:buFont typeface="Wingdings" panose="05000000000000000000" pitchFamily="2" charset="2"/>
              <a:buChar char="ü"/>
            </a:pPr>
            <a:r>
              <a:rPr lang="es-ES" sz="1600" dirty="0">
                <a:solidFill>
                  <a:srgbClr val="FFFFFF"/>
                </a:solidFill>
              </a:rPr>
              <a:t>Principios</a:t>
            </a:r>
          </a:p>
          <a:p>
            <a:pPr marL="285750" indent="-285750">
              <a:lnSpc>
                <a:spcPct val="120000"/>
              </a:lnSpc>
              <a:buSzPct val="80000"/>
              <a:buFont typeface="Wingdings" panose="05000000000000000000" pitchFamily="2" charset="2"/>
              <a:buChar char="ü"/>
            </a:pPr>
            <a:r>
              <a:rPr lang="es-ES" sz="1600" dirty="0">
                <a:solidFill>
                  <a:srgbClr val="FFFFFF"/>
                </a:solidFill>
              </a:rPr>
              <a:t>Visión general</a:t>
            </a:r>
          </a:p>
          <a:p>
            <a:pPr marL="285750" indent="-285750">
              <a:lnSpc>
                <a:spcPct val="120000"/>
              </a:lnSpc>
              <a:buSzPct val="80000"/>
              <a:buFont typeface="Wingdings" panose="05000000000000000000" pitchFamily="2" charset="2"/>
              <a:buChar char="ü"/>
            </a:pPr>
            <a:r>
              <a:rPr lang="es-ES" sz="1600" dirty="0">
                <a:solidFill>
                  <a:srgbClr val="FFFFFF"/>
                </a:solidFill>
              </a:rPr>
              <a:t>Gestión de desempeño de los procesos</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60808"/>
            <a:ext cx="8345931" cy="387798"/>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  UNIDAD DE APRENDIZAJE: GESTIÓN DEL DESEMPEÑO, DISEÑO E IMPLEMENTACIÓN DE GOBIERNO DE TI BASADO EN COBIT 2019     </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6" name="object 7">
            <a:extLst>
              <a:ext uri="{FF2B5EF4-FFF2-40B4-BE49-F238E27FC236}">
                <a16:creationId xmlns:a16="http://schemas.microsoft.com/office/drawing/2014/main" id="{58472751-FD5C-4C14-A418-1AEF0A30EB50}"/>
              </a:ext>
            </a:extLst>
          </p:cNvPr>
          <p:cNvSpPr txBox="1"/>
          <p:nvPr/>
        </p:nvSpPr>
        <p:spPr>
          <a:xfrm>
            <a:off x="507698" y="954483"/>
            <a:ext cx="7614810" cy="984885"/>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cs typeface="Source Sans Pro"/>
              </a:rPr>
              <a:t>En esta sesión </a:t>
            </a:r>
            <a:r>
              <a:rPr lang="es-PE" sz="1600" spc="-10" dirty="0" smtClean="0">
                <a:cs typeface="Source Sans Pro"/>
              </a:rPr>
              <a:t>aprenderás </a:t>
            </a:r>
            <a:r>
              <a:rPr lang="es-PE" sz="1600" spc="-10" dirty="0">
                <a:cs typeface="Source Sans Pro"/>
              </a:rPr>
              <a:t>sobre la gestión del desempeño de COBIT 2019.</a:t>
            </a:r>
            <a:br>
              <a:rPr lang="es-PE" sz="1600" spc="-10" dirty="0">
                <a:cs typeface="Source Sans Pro"/>
              </a:rPr>
            </a:br>
            <a:endParaRPr lang="es-PE" sz="1600" spc="-10" dirty="0">
              <a:cs typeface="Source Sans Pro"/>
            </a:endParaRPr>
          </a:p>
          <a:p>
            <a:pPr marL="184150" indent="-184150">
              <a:buSzPct val="100000"/>
              <a:buFont typeface="Arial" charset="0"/>
              <a:buChar char="•"/>
              <a:tabLst>
                <a:tab pos="85725" algn="l"/>
              </a:tabLst>
            </a:pPr>
            <a:r>
              <a:rPr lang="es-PE" sz="1600" spc="-10" dirty="0" smtClean="0"/>
              <a:t>Comprenderás </a:t>
            </a:r>
            <a:r>
              <a:rPr lang="es-PE" sz="1600" spc="-10" dirty="0"/>
              <a:t>la definición de la gestión del desempeño, los principios, la visión general y finalmente la gestión de desempeño de los procesos.</a:t>
            </a:r>
          </a:p>
        </p:txBody>
      </p:sp>
    </p:spTree>
    <p:custDataLst>
      <p:tags r:id="rId1"/>
    </p:custDataLst>
    <p:extLst>
      <p:ext uri="{BB962C8B-B14F-4D97-AF65-F5344CB8AC3E}">
        <p14:creationId xmlns:p14="http://schemas.microsoft.com/office/powerpoint/2010/main" val="263561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DEFINICIÓN</a:t>
            </a:r>
          </a:p>
        </p:txBody>
      </p:sp>
    </p:spTree>
    <p:custDataLst>
      <p:tags r:id="rId1"/>
    </p:custDataLst>
    <p:extLst>
      <p:ext uri="{BB962C8B-B14F-4D97-AF65-F5344CB8AC3E}">
        <p14:creationId xmlns:p14="http://schemas.microsoft.com/office/powerpoint/2010/main" val="4293160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grupar 1"/>
          <p:cNvGrpSpPr/>
          <p:nvPr/>
        </p:nvGrpSpPr>
        <p:grpSpPr>
          <a:xfrm>
            <a:off x="898497" y="1481113"/>
            <a:ext cx="7160563" cy="2813025"/>
            <a:chOff x="1220114" y="1322150"/>
            <a:chExt cx="6703774" cy="2391498"/>
          </a:xfrm>
        </p:grpSpPr>
        <p:grpSp>
          <p:nvGrpSpPr>
            <p:cNvPr id="10" name="Agrupar 9"/>
            <p:cNvGrpSpPr/>
            <p:nvPr/>
          </p:nvGrpSpPr>
          <p:grpSpPr>
            <a:xfrm>
              <a:off x="1220114" y="1322150"/>
              <a:ext cx="6703774" cy="1087962"/>
              <a:chOff x="2095810" y="1701101"/>
              <a:chExt cx="10726039" cy="1740739"/>
            </a:xfrm>
          </p:grpSpPr>
          <p:sp>
            <p:nvSpPr>
              <p:cNvPr id="9" name="Rectángulo redondeado 8"/>
              <p:cNvSpPr/>
              <p:nvPr/>
            </p:nvSpPr>
            <p:spPr>
              <a:xfrm>
                <a:off x="2095810" y="2008188"/>
                <a:ext cx="10438781" cy="1433652"/>
              </a:xfrm>
              <a:prstGeom prst="roundRect">
                <a:avLst>
                  <a:gd name="adj" fmla="val 10033"/>
                </a:avLst>
              </a:prstGeom>
              <a:solidFill>
                <a:srgbClr val="ADE9FF"/>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marL="285750" indent="-285750" algn="just">
                  <a:spcAft>
                    <a:spcPts val="1800"/>
                  </a:spcAft>
                  <a:buSzPct val="100000"/>
                  <a:buFont typeface="Wingdings" panose="05000000000000000000" pitchFamily="2" charset="2"/>
                  <a:buChar char="q"/>
                  <a:tabLst>
                    <a:tab pos="121285" algn="l"/>
                  </a:tabLst>
                </a:pPr>
                <a:r>
                  <a:rPr lang="es-ES" sz="1200" spc="-10" dirty="0">
                    <a:solidFill>
                      <a:srgbClr val="262626"/>
                    </a:solidFill>
                  </a:rPr>
                  <a:t>La gestión del desempeño es una parte fundamental de un sistema de gobierno y gestión, es un término general que engloba todas las actividades y métodos; expresa hasta qué punto funciona bien el sistema de gobierno y gestión, además de todos los componentes de una empresa, y cómo pueden mejorarse para alcanzar el nivel requerido. </a:t>
                </a:r>
                <a:endParaRPr lang="es-ES" sz="1200" spc="-10" dirty="0">
                  <a:solidFill>
                    <a:srgbClr val="262626"/>
                  </a:solidFill>
                </a:endParaRPr>
              </a:p>
            </p:txBody>
          </p:sp>
          <p:sp>
            <p:nvSpPr>
              <p:cNvPr id="8" name="Elipse 7"/>
              <p:cNvSpPr/>
              <p:nvPr/>
            </p:nvSpPr>
            <p:spPr>
              <a:xfrm>
                <a:off x="12207676" y="1701101"/>
                <a:ext cx="614173" cy="614173"/>
              </a:xfrm>
              <a:prstGeom prst="ellipse">
                <a:avLst/>
              </a:prstGeom>
              <a:solidFill>
                <a:schemeClr val="bg1"/>
              </a:solidFill>
              <a:ln w="28575">
                <a:solidFill>
                  <a:srgbClr val="00BE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400" b="1" dirty="0">
                    <a:solidFill>
                      <a:srgbClr val="00BEFF"/>
                    </a:solidFill>
                    <a:latin typeface="Arial" charset="0"/>
                    <a:ea typeface="Arial" charset="0"/>
                    <a:cs typeface="Arial" charset="0"/>
                  </a:rPr>
                  <a:t>1</a:t>
                </a:r>
              </a:p>
            </p:txBody>
          </p:sp>
        </p:grpSp>
        <p:grpSp>
          <p:nvGrpSpPr>
            <p:cNvPr id="11" name="Agrupar 10"/>
            <p:cNvGrpSpPr/>
            <p:nvPr/>
          </p:nvGrpSpPr>
          <p:grpSpPr>
            <a:xfrm>
              <a:off x="1220114" y="2625686"/>
              <a:ext cx="6703774" cy="1087962"/>
              <a:chOff x="2095810" y="1701101"/>
              <a:chExt cx="10726039" cy="1740739"/>
            </a:xfrm>
          </p:grpSpPr>
          <p:sp>
            <p:nvSpPr>
              <p:cNvPr id="12" name="Rectángulo redondeado 11"/>
              <p:cNvSpPr/>
              <p:nvPr/>
            </p:nvSpPr>
            <p:spPr>
              <a:xfrm>
                <a:off x="2095810" y="2008188"/>
                <a:ext cx="10438781" cy="1433652"/>
              </a:xfrm>
              <a:prstGeom prst="roundRect">
                <a:avLst>
                  <a:gd name="adj" fmla="val 10033"/>
                </a:avLst>
              </a:prstGeom>
              <a:solidFill>
                <a:srgbClr val="93DBC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marL="285750" indent="-285750" algn="just">
                  <a:spcAft>
                    <a:spcPts val="1800"/>
                  </a:spcAft>
                  <a:buSzPct val="100000"/>
                  <a:buFont typeface="Wingdings" panose="05000000000000000000" pitchFamily="2" charset="2"/>
                  <a:buChar char="q"/>
                  <a:tabLst>
                    <a:tab pos="121285" algn="l"/>
                  </a:tabLst>
                </a:pPr>
                <a:r>
                  <a:rPr lang="es-ES" sz="1200" spc="-10" dirty="0">
                    <a:solidFill>
                      <a:srgbClr val="262626"/>
                    </a:solidFill>
                  </a:rPr>
                  <a:t>Incluye conceptos y métodos como niveles de capacidad y niveles de madurez. COBIT utiliza el término gestión del desempeño de COBIT (CPM, por sus siglas en inglés) para describir estas actividades, y el concepto forma parte íntegra del marco de referencia COBIT. </a:t>
                </a:r>
                <a:endParaRPr lang="es-ES" sz="1200" spc="-10" dirty="0">
                  <a:solidFill>
                    <a:srgbClr val="262626"/>
                  </a:solidFill>
                </a:endParaRPr>
              </a:p>
            </p:txBody>
          </p:sp>
          <p:sp>
            <p:nvSpPr>
              <p:cNvPr id="13" name="Elipse 12"/>
              <p:cNvSpPr/>
              <p:nvPr/>
            </p:nvSpPr>
            <p:spPr>
              <a:xfrm>
                <a:off x="12207676" y="1701101"/>
                <a:ext cx="614173" cy="614173"/>
              </a:xfrm>
              <a:prstGeom prst="ellipse">
                <a:avLst/>
              </a:prstGeom>
              <a:solidFill>
                <a:schemeClr val="bg1"/>
              </a:solidFill>
              <a:ln w="28575">
                <a:solidFill>
                  <a:srgbClr val="0BAE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400" b="1" dirty="0">
                    <a:solidFill>
                      <a:srgbClr val="0BAE80"/>
                    </a:solidFill>
                    <a:latin typeface="Arial" charset="0"/>
                    <a:ea typeface="Arial" charset="0"/>
                    <a:cs typeface="Arial" charset="0"/>
                  </a:rPr>
                  <a:t>2</a:t>
                </a:r>
              </a:p>
            </p:txBody>
          </p:sp>
        </p:grpSp>
      </p:grpSp>
      <p:sp>
        <p:nvSpPr>
          <p:cNvPr id="19"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DEFINICIÓN</a:t>
            </a:r>
          </a:p>
        </p:txBody>
      </p:sp>
      <p:sp>
        <p:nvSpPr>
          <p:cNvPr id="20" name="object 7">
            <a:extLst>
              <a:ext uri="{FF2B5EF4-FFF2-40B4-BE49-F238E27FC236}">
                <a16:creationId xmlns:a16="http://schemas.microsoft.com/office/drawing/2014/main" id="{163CCFF5-6DBB-44D7-85E8-567CB4D4AC0E}"/>
              </a:ext>
            </a:extLst>
          </p:cNvPr>
          <p:cNvSpPr txBox="1"/>
          <p:nvPr/>
        </p:nvSpPr>
        <p:spPr>
          <a:xfrm>
            <a:off x="510903" y="771402"/>
            <a:ext cx="4061097"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 DE GESTIÓN DE DESEMPEÑO</a:t>
            </a:r>
          </a:p>
        </p:txBody>
      </p:sp>
    </p:spTree>
    <p:extLst>
      <p:ext uri="{BB962C8B-B14F-4D97-AF65-F5344CB8AC3E}">
        <p14:creationId xmlns:p14="http://schemas.microsoft.com/office/powerpoint/2010/main" val="39313185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PRINCIPIOS</a:t>
            </a:r>
          </a:p>
        </p:txBody>
      </p:sp>
    </p:spTree>
    <p:custDataLst>
      <p:tags r:id="rId1"/>
    </p:custDataLst>
    <p:extLst>
      <p:ext uri="{BB962C8B-B14F-4D97-AF65-F5344CB8AC3E}">
        <p14:creationId xmlns:p14="http://schemas.microsoft.com/office/powerpoint/2010/main" val="321046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7"/>
          <p:cNvSpPr txBox="1"/>
          <p:nvPr/>
        </p:nvSpPr>
        <p:spPr>
          <a:xfrm>
            <a:off x="939029" y="924322"/>
            <a:ext cx="7357666" cy="3628855"/>
          </a:xfrm>
          <a:prstGeom prst="rect">
            <a:avLst/>
          </a:prstGeom>
        </p:spPr>
        <p:txBody>
          <a:bodyPr vert="horz" wrap="square" lIns="90000" tIns="90000" rIns="90000" bIns="90000" rtlCol="0">
            <a:spAutoFit/>
          </a:bodyPr>
          <a:lstStyle/>
          <a:p>
            <a:pPr>
              <a:buClr>
                <a:srgbClr val="FA4044"/>
              </a:buClr>
              <a:buSzPct val="120000"/>
              <a:tabLst>
                <a:tab pos="75803" algn="l"/>
              </a:tabLst>
              <a:defRPr/>
            </a:pPr>
            <a:r>
              <a:rPr lang="es-419" sz="1600" b="1" spc="-6" dirty="0">
                <a:solidFill>
                  <a:srgbClr val="1476FF"/>
                </a:solidFill>
                <a:ea typeface="Arial" charset="0"/>
                <a:cs typeface="Arial" charset="0"/>
              </a:rPr>
              <a:t>COBIT 2019 se basa en los siguientes principios: </a:t>
            </a:r>
          </a:p>
          <a:p>
            <a:pPr>
              <a:buClr>
                <a:srgbClr val="FA4044"/>
              </a:buClr>
              <a:buSzPct val="120000"/>
              <a:tabLst>
                <a:tab pos="75803" algn="l"/>
              </a:tabLst>
              <a:defRPr/>
            </a:pPr>
            <a:endParaRPr lang="es-PE" sz="1200" b="1" spc="-6" dirty="0">
              <a:solidFill>
                <a:srgbClr val="1476FF"/>
              </a:solidFill>
              <a:latin typeface="Arial" charset="0"/>
              <a:ea typeface="Arial" charset="0"/>
              <a:cs typeface="Arial" charset="0"/>
            </a:endParaRPr>
          </a:p>
          <a:p>
            <a:pPr>
              <a:buClr>
                <a:srgbClr val="FA4044"/>
              </a:buClr>
              <a:buSzPct val="120000"/>
              <a:tabLst>
                <a:tab pos="75803" algn="l"/>
              </a:tabLst>
              <a:defRPr/>
            </a:pPr>
            <a:r>
              <a:rPr lang="es-419" sz="1400" spc="-6" dirty="0">
                <a:ea typeface="Arial" charset="0"/>
                <a:cs typeface="Arial" charset="0"/>
              </a:rPr>
              <a:t>El modelo CPM debería entenderse y usarse fácilmente. </a:t>
            </a:r>
          </a:p>
          <a:p>
            <a:pPr>
              <a:buClr>
                <a:srgbClr val="FA4044"/>
              </a:buClr>
              <a:buSzPct val="120000"/>
              <a:tabLst>
                <a:tab pos="75803" algn="l"/>
              </a:tabLst>
              <a:defRPr/>
            </a:pPr>
            <a:endParaRPr lang="es-PE" sz="1400" b="1" spc="-6" dirty="0">
              <a:ea typeface="Arial" charset="0"/>
              <a:cs typeface="Arial" charset="0"/>
            </a:endParaRPr>
          </a:p>
          <a:p>
            <a:pPr>
              <a:buClr>
                <a:srgbClr val="FA4044"/>
              </a:buClr>
              <a:buSzPct val="120000"/>
              <a:tabLst>
                <a:tab pos="75803" algn="l"/>
              </a:tabLst>
              <a:defRPr/>
            </a:pPr>
            <a:r>
              <a:rPr lang="es-419" sz="1400" spc="-6" dirty="0">
                <a:ea typeface="Arial" charset="0"/>
                <a:cs typeface="Arial" charset="0"/>
              </a:rPr>
              <a:t>El modelo CPM debe ser consistente con el modelo conceptual de COBIT y apoyarlo. Debería facilitar la gestión del desempeño de cualquier tipo de componente del sistema de gobierno; debe ser posible gestionar el desempeño de los procesos, así como el desempeño de otros tipos de componentes (como estructuras organizativas o información), si los usuarios desean hacerlo. </a:t>
            </a:r>
          </a:p>
          <a:p>
            <a:pPr>
              <a:buClr>
                <a:srgbClr val="FA4044"/>
              </a:buClr>
              <a:buSzPct val="120000"/>
              <a:tabLst>
                <a:tab pos="75803" algn="l"/>
              </a:tabLst>
              <a:defRPr/>
            </a:pPr>
            <a:endParaRPr lang="es-PE" sz="1400" b="1" spc="-6" dirty="0">
              <a:ea typeface="Arial" charset="0"/>
              <a:cs typeface="Arial" charset="0"/>
            </a:endParaRPr>
          </a:p>
          <a:p>
            <a:pPr>
              <a:buClr>
                <a:srgbClr val="FA4044"/>
              </a:buClr>
              <a:buSzPct val="120000"/>
              <a:tabLst>
                <a:tab pos="75803" algn="l"/>
              </a:tabLst>
              <a:defRPr/>
            </a:pPr>
            <a:r>
              <a:rPr lang="es-419" sz="1400" spc="-6" dirty="0">
                <a:ea typeface="Arial" charset="0"/>
                <a:cs typeface="Arial" charset="0"/>
              </a:rPr>
              <a:t>El modelo CPM debería proporcionar resultados confiables, repetibles y relevantes. </a:t>
            </a:r>
          </a:p>
          <a:p>
            <a:pPr>
              <a:buClr>
                <a:srgbClr val="FA4044"/>
              </a:buClr>
              <a:buSzPct val="120000"/>
              <a:tabLst>
                <a:tab pos="75803" algn="l"/>
              </a:tabLst>
              <a:defRPr/>
            </a:pPr>
            <a:endParaRPr lang="es-PE" sz="1400" b="1" spc="-6" dirty="0">
              <a:ea typeface="Arial" charset="0"/>
              <a:cs typeface="Arial" charset="0"/>
            </a:endParaRPr>
          </a:p>
          <a:p>
            <a:pPr>
              <a:buClr>
                <a:srgbClr val="FA4044"/>
              </a:buClr>
              <a:buSzPct val="120000"/>
              <a:tabLst>
                <a:tab pos="75803" algn="l"/>
              </a:tabLst>
              <a:defRPr/>
            </a:pPr>
            <a:r>
              <a:rPr lang="es-419" sz="1400" spc="-6" dirty="0">
                <a:ea typeface="Arial" charset="0"/>
                <a:cs typeface="Arial" charset="0"/>
              </a:rPr>
              <a:t>El modelo CPM debe ser flexible, para poder dar soporte a los requerimientos de distintas organizaciones con distintas prioridades y necesidades. </a:t>
            </a:r>
            <a:endParaRPr lang="es-419" sz="1400" spc="-6" dirty="0" smtClean="0">
              <a:ea typeface="Arial" charset="0"/>
              <a:cs typeface="Arial" charset="0"/>
            </a:endParaRPr>
          </a:p>
          <a:p>
            <a:pPr>
              <a:buClr>
                <a:srgbClr val="FA4044"/>
              </a:buClr>
              <a:buSzPct val="120000"/>
              <a:tabLst>
                <a:tab pos="75803" algn="l"/>
              </a:tabLst>
              <a:defRPr/>
            </a:pPr>
            <a:endParaRPr lang="es-MX" sz="1400" spc="-6" dirty="0">
              <a:ea typeface="Arial" charset="0"/>
              <a:cs typeface="Arial" charset="0"/>
            </a:endParaRPr>
          </a:p>
          <a:p>
            <a:pPr>
              <a:buClr>
                <a:srgbClr val="FA4044"/>
              </a:buClr>
              <a:buSzPct val="120000"/>
              <a:tabLst>
                <a:tab pos="75803" algn="l"/>
              </a:tabLst>
              <a:defRPr/>
            </a:pPr>
            <a:r>
              <a:rPr lang="es-419" sz="1400" spc="-6" dirty="0">
                <a:ea typeface="Arial" charset="0"/>
                <a:cs typeface="Arial" charset="0"/>
              </a:rPr>
              <a:t>El modelo CPM debería admitir distintos tipos de evaluaciones, desde autoevaluaciones a evaluaciones formales o auditorías. </a:t>
            </a:r>
          </a:p>
        </p:txBody>
      </p:sp>
      <p:sp>
        <p:nvSpPr>
          <p:cNvPr id="25" name="Google Shape;72;p14"/>
          <p:cNvSpPr/>
          <p:nvPr/>
        </p:nvSpPr>
        <p:spPr>
          <a:xfrm rot="10800000" flipH="1">
            <a:off x="755651" y="1419812"/>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6" name="Google Shape;72;p14"/>
          <p:cNvSpPr/>
          <p:nvPr/>
        </p:nvSpPr>
        <p:spPr>
          <a:xfrm rot="10800000" flipH="1">
            <a:off x="744251" y="1871237"/>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7" name="Google Shape;72;p14"/>
          <p:cNvSpPr/>
          <p:nvPr/>
        </p:nvSpPr>
        <p:spPr>
          <a:xfrm rot="10800000" flipH="1">
            <a:off x="776830" y="2893817"/>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8" name="Google Shape;72;p14"/>
          <p:cNvSpPr/>
          <p:nvPr/>
        </p:nvSpPr>
        <p:spPr>
          <a:xfrm rot="10800000" flipH="1">
            <a:off x="744251" y="3409491"/>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16"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PRINCIPIOS</a:t>
            </a:r>
          </a:p>
        </p:txBody>
      </p:sp>
      <p:sp>
        <p:nvSpPr>
          <p:cNvPr id="17" name="Google Shape;72;p14"/>
          <p:cNvSpPr/>
          <p:nvPr/>
        </p:nvSpPr>
        <p:spPr>
          <a:xfrm rot="10800000" flipH="1">
            <a:off x="755653" y="4010063"/>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928714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VISIÓN GENERAL</a:t>
            </a:r>
          </a:p>
        </p:txBody>
      </p:sp>
    </p:spTree>
    <p:custDataLst>
      <p:tags r:id="rId1"/>
    </p:custDataLst>
    <p:extLst>
      <p:ext uri="{BB962C8B-B14F-4D97-AF65-F5344CB8AC3E}">
        <p14:creationId xmlns:p14="http://schemas.microsoft.com/office/powerpoint/2010/main" val="41100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VISIÓN GENERAL</a:t>
            </a:r>
          </a:p>
        </p:txBody>
      </p:sp>
      <p:pic>
        <p:nvPicPr>
          <p:cNvPr id="3" name="Imagen 2">
            <a:extLst>
              <a:ext uri="{FF2B5EF4-FFF2-40B4-BE49-F238E27FC236}">
                <a16:creationId xmlns:a16="http://schemas.microsoft.com/office/drawing/2014/main" id="{831FD790-616F-4C1C-9B5F-14377A18D253}"/>
              </a:ext>
            </a:extLst>
          </p:cNvPr>
          <p:cNvPicPr>
            <a:picLocks noChangeAspect="1"/>
          </p:cNvPicPr>
          <p:nvPr/>
        </p:nvPicPr>
        <p:blipFill>
          <a:blip r:embed="rId3"/>
          <a:stretch>
            <a:fillRect/>
          </a:stretch>
        </p:blipFill>
        <p:spPr>
          <a:xfrm>
            <a:off x="731520" y="763475"/>
            <a:ext cx="7725846" cy="2455322"/>
          </a:xfrm>
          <a:prstGeom prst="rect">
            <a:avLst/>
          </a:prstGeom>
        </p:spPr>
      </p:pic>
      <p:sp>
        <p:nvSpPr>
          <p:cNvPr id="2" name="CuadroTexto 1"/>
          <p:cNvSpPr txBox="1"/>
          <p:nvPr/>
        </p:nvSpPr>
        <p:spPr>
          <a:xfrm>
            <a:off x="466064" y="3218797"/>
            <a:ext cx="8382000" cy="2031325"/>
          </a:xfrm>
          <a:prstGeom prst="rect">
            <a:avLst/>
          </a:prstGeom>
          <a:noFill/>
        </p:spPr>
        <p:txBody>
          <a:bodyPr wrap="square" rtlCol="0">
            <a:spAutoFit/>
          </a:bodyPr>
          <a:lstStyle/>
          <a:p>
            <a:r>
              <a:rPr lang="es-419" sz="1400" dirty="0"/>
              <a:t>El modelo CPM (en la presente tabla) está en gran parte alineado y amplía los conceptos de CMMI Development v2; sus principales características son las siguientes:</a:t>
            </a:r>
          </a:p>
          <a:p>
            <a:pPr marL="285750" indent="-285750">
              <a:buFont typeface="Arial" panose="020B0604020202020204" pitchFamily="34" charset="0"/>
              <a:buChar char="•"/>
            </a:pPr>
            <a:r>
              <a:rPr lang="es-419" sz="1400" dirty="0"/>
              <a:t>Las actividades del proceso están asociadas con los niveles de capacidad. Esto está incluido en la guía del marco de referencia COBIT 2019: Objetivos de gobierno y gestión. </a:t>
            </a:r>
          </a:p>
          <a:p>
            <a:pPr marL="285750" indent="-285750">
              <a:buFont typeface="Arial" panose="020B0604020202020204" pitchFamily="34" charset="0"/>
              <a:buChar char="•"/>
            </a:pPr>
            <a:r>
              <a:rPr lang="es-419" sz="1400" dirty="0"/>
              <a:t>Otros tipos de componentes de gobierno y gestión (como las estructuras organizativas, información) también podrían tener niveles de capacidad definidos para ellos en guías futuras. </a:t>
            </a:r>
          </a:p>
          <a:p>
            <a:pPr marL="285750" indent="-285750">
              <a:buFont typeface="Arial" panose="020B0604020202020204" pitchFamily="34" charset="0"/>
              <a:buChar char="•"/>
            </a:pPr>
            <a:r>
              <a:rPr lang="es-419" sz="1400" dirty="0"/>
              <a:t>Los niveles de madurez están asociados con áreas prioritarias (como una colección de objetivos de gobierno y gestión y los componentes subyacentes) y se alcanzarán si se obtienen todos los niveles de capacidad requeridos</a:t>
            </a:r>
            <a:r>
              <a:rPr lang="es-419" sz="1400" dirty="0" smtClean="0"/>
              <a:t>.</a:t>
            </a:r>
            <a:endParaRPr lang="es-419" dirty="0"/>
          </a:p>
        </p:txBody>
      </p:sp>
    </p:spTree>
    <p:extLst>
      <p:ext uri="{BB962C8B-B14F-4D97-AF65-F5344CB8AC3E}">
        <p14:creationId xmlns:p14="http://schemas.microsoft.com/office/powerpoint/2010/main" val="12033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GESTIÓN DE DESEMPEÑO DE LOS PROCESOS</a:t>
            </a:r>
          </a:p>
        </p:txBody>
      </p:sp>
    </p:spTree>
    <p:custDataLst>
      <p:tags r:id="rId1"/>
    </p:custDataLst>
    <p:extLst>
      <p:ext uri="{BB962C8B-B14F-4D97-AF65-F5344CB8AC3E}">
        <p14:creationId xmlns:p14="http://schemas.microsoft.com/office/powerpoint/2010/main" val="2150449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DESEMPEÑO DE LOS PROCESOS</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937580"/>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NIVELES DE CAPACIDAD DE LOS PROCESOS</a:t>
            </a:r>
          </a:p>
        </p:txBody>
      </p:sp>
      <p:sp>
        <p:nvSpPr>
          <p:cNvPr id="8" name="object 7">
            <a:extLst>
              <a:ext uri="{FF2B5EF4-FFF2-40B4-BE49-F238E27FC236}">
                <a16:creationId xmlns:a16="http://schemas.microsoft.com/office/drawing/2014/main" id="{B5EA86E6-DB35-4893-8551-90B6D8DDF61A}"/>
              </a:ext>
            </a:extLst>
          </p:cNvPr>
          <p:cNvSpPr txBox="1"/>
          <p:nvPr/>
        </p:nvSpPr>
        <p:spPr>
          <a:xfrm>
            <a:off x="670045" y="1461998"/>
            <a:ext cx="7803910" cy="1692771"/>
          </a:xfrm>
          <a:prstGeom prst="rect">
            <a:avLst/>
          </a:prstGeom>
        </p:spPr>
        <p:txBody>
          <a:bodyPr vert="horz" wrap="square" lIns="0" tIns="0" rIns="0" bIns="0" rtlCol="0">
            <a:spAutoFit/>
          </a:bodyPr>
          <a:lstStyle/>
          <a:p>
            <a:pPr marL="285750" indent="-285750" algn="just">
              <a:spcAft>
                <a:spcPts val="1800"/>
              </a:spcAft>
              <a:buSzPct val="100000"/>
              <a:buFont typeface="Wingdings" panose="05000000000000000000" pitchFamily="2" charset="2"/>
              <a:buChar char="q"/>
              <a:tabLst>
                <a:tab pos="121285" algn="l"/>
              </a:tabLst>
            </a:pPr>
            <a:r>
              <a:rPr lang="es-ES" sz="1600" spc="-10" dirty="0">
                <a:solidFill>
                  <a:srgbClr val="262626"/>
                </a:solidFill>
              </a:rPr>
              <a:t>COBIT 2019 admite un esquema de capacidad de procesos basado en CMMI. </a:t>
            </a:r>
          </a:p>
          <a:p>
            <a:pPr marL="285750" indent="-285750" algn="just">
              <a:spcAft>
                <a:spcPts val="1800"/>
              </a:spcAft>
              <a:buSzPct val="100000"/>
              <a:buFont typeface="Wingdings" panose="05000000000000000000" pitchFamily="2" charset="2"/>
              <a:buChar char="q"/>
              <a:tabLst>
                <a:tab pos="121285" algn="l"/>
              </a:tabLst>
            </a:pPr>
            <a:r>
              <a:rPr lang="es-ES" sz="1600" spc="-10" dirty="0">
                <a:solidFill>
                  <a:srgbClr val="262626"/>
                </a:solidFill>
              </a:rPr>
              <a:t>El proceso dentro de cada objetivo de gobierno y gestión puede funcionar con distintos niveles de capacidad, que van de 0 a 5. </a:t>
            </a:r>
          </a:p>
          <a:p>
            <a:pPr marL="285750" indent="-285750" algn="just">
              <a:spcAft>
                <a:spcPts val="1800"/>
              </a:spcAft>
              <a:buSzPct val="100000"/>
              <a:buFont typeface="Wingdings" panose="05000000000000000000" pitchFamily="2" charset="2"/>
              <a:buChar char="q"/>
              <a:tabLst>
                <a:tab pos="121285" algn="l"/>
              </a:tabLst>
            </a:pPr>
            <a:r>
              <a:rPr lang="es-ES" sz="1600" spc="-10" dirty="0">
                <a:solidFill>
                  <a:srgbClr val="262626"/>
                </a:solidFill>
              </a:rPr>
              <a:t>El nivel de capacidad es una medida de lo bien que se ha implementado y funciona un proceso. </a:t>
            </a:r>
          </a:p>
        </p:txBody>
      </p:sp>
      <p:sp>
        <p:nvSpPr>
          <p:cNvPr id="2" name="Flecha: hacia abajo 1">
            <a:extLst>
              <a:ext uri="{FF2B5EF4-FFF2-40B4-BE49-F238E27FC236}">
                <a16:creationId xmlns:a16="http://schemas.microsoft.com/office/drawing/2014/main" id="{5CEDA28B-9687-4D49-8D7F-335420FE6229}"/>
              </a:ext>
            </a:extLst>
          </p:cNvPr>
          <p:cNvSpPr/>
          <p:nvPr/>
        </p:nvSpPr>
        <p:spPr>
          <a:xfrm>
            <a:off x="3810000" y="3591584"/>
            <a:ext cx="1524000" cy="110308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89390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DESEMPEÑO DE LOS PROCESOS</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…NIVELES DE CAPACIDAD DE LOS PROCESOS</a:t>
            </a:r>
          </a:p>
        </p:txBody>
      </p:sp>
      <p:pic>
        <p:nvPicPr>
          <p:cNvPr id="3" name="Imagen 2">
            <a:extLst>
              <a:ext uri="{FF2B5EF4-FFF2-40B4-BE49-F238E27FC236}">
                <a16:creationId xmlns:a16="http://schemas.microsoft.com/office/drawing/2014/main" id="{FADDBF6E-4CD7-4361-BC9D-2E5BF561A5BF}"/>
              </a:ext>
            </a:extLst>
          </p:cNvPr>
          <p:cNvPicPr>
            <a:picLocks noChangeAspect="1"/>
          </p:cNvPicPr>
          <p:nvPr/>
        </p:nvPicPr>
        <p:blipFill>
          <a:blip r:embed="rId3"/>
          <a:stretch>
            <a:fillRect/>
          </a:stretch>
        </p:blipFill>
        <p:spPr>
          <a:xfrm>
            <a:off x="945671" y="1129641"/>
            <a:ext cx="7252657" cy="4037445"/>
          </a:xfrm>
          <a:prstGeom prst="rect">
            <a:avLst/>
          </a:prstGeom>
        </p:spPr>
      </p:pic>
    </p:spTree>
    <p:extLst>
      <p:ext uri="{BB962C8B-B14F-4D97-AF65-F5344CB8AC3E}">
        <p14:creationId xmlns:p14="http://schemas.microsoft.com/office/powerpoint/2010/main" val="2458187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755650" y="1193038"/>
            <a:ext cx="7573481" cy="2105361"/>
          </a:xfrm>
          <a:prstGeom prst="rect">
            <a:avLst/>
          </a:prstGeom>
        </p:spPr>
        <p:txBody>
          <a:bodyPr vert="horz" wrap="square" lIns="90000" tIns="90000" rIns="90000" bIns="90000" rtlCol="0">
            <a:spAutoFit/>
          </a:bodyPr>
          <a:lstStyle/>
          <a:p>
            <a:pPr>
              <a:buClr>
                <a:srgbClr val="FA4044"/>
              </a:buClr>
              <a:buSzPct val="120000"/>
              <a:tabLst>
                <a:tab pos="75803" algn="l"/>
              </a:tabLst>
              <a:defRPr/>
            </a:pPr>
            <a:r>
              <a:rPr lang="es-419" sz="1400" spc="-6" dirty="0">
                <a:ea typeface="Arial" charset="0"/>
                <a:cs typeface="Arial" charset="0"/>
              </a:rPr>
              <a:t>Un nivel de capacidad puede alcanzarse en distinto grado, lo cual puede expresarse mediante una serie de calificaciones. El rango de calificaciones disponible depende del contexto en el que se realiza la evaluación del desempeño. </a:t>
            </a:r>
          </a:p>
          <a:p>
            <a:pPr>
              <a:buClr>
                <a:srgbClr val="FA4044"/>
              </a:buClr>
              <a:buSzPct val="120000"/>
              <a:tabLst>
                <a:tab pos="75803" algn="l"/>
              </a:tabLst>
              <a:defRPr/>
            </a:pPr>
            <a:endParaRPr lang="es-PE" sz="1200" b="1" spc="-6" dirty="0">
              <a:latin typeface="Arial" charset="0"/>
              <a:ea typeface="Arial" charset="0"/>
              <a:cs typeface="Arial" charset="0"/>
            </a:endParaRPr>
          </a:p>
          <a:p>
            <a:pPr marL="444500" indent="-285750" algn="just">
              <a:spcAft>
                <a:spcPts val="1800"/>
              </a:spcAft>
              <a:buSzPct val="100000"/>
              <a:buFont typeface="Wingdings" panose="05000000000000000000" pitchFamily="2" charset="2"/>
              <a:buChar char="§"/>
              <a:tabLst>
                <a:tab pos="121285" algn="l"/>
              </a:tabLst>
            </a:pPr>
            <a:r>
              <a:rPr lang="es-ES" sz="1400" spc="-10" dirty="0">
                <a:solidFill>
                  <a:srgbClr val="262626"/>
                </a:solidFill>
              </a:rPr>
              <a:t>Algunos métodos formales que conducen a una certificación independiente usan una serie de calificaciones binarias de aprobado/falla. </a:t>
            </a:r>
          </a:p>
          <a:p>
            <a:pPr marL="444500" indent="-285750" algn="just">
              <a:spcAft>
                <a:spcPts val="1800"/>
              </a:spcAft>
              <a:buSzPct val="100000"/>
              <a:buFont typeface="Wingdings" panose="05000000000000000000" pitchFamily="2" charset="2"/>
              <a:buChar char="§"/>
              <a:tabLst>
                <a:tab pos="121285" algn="l"/>
              </a:tabLst>
            </a:pPr>
            <a:r>
              <a:rPr lang="es-ES" sz="1400" spc="-10" dirty="0">
                <a:solidFill>
                  <a:srgbClr val="262626"/>
                </a:solidFill>
              </a:rPr>
              <a:t>Métodos menos formales (usados con frecuencia en contextos de mejora del desempeño) funcionan mejor con una serie de calificaciones más amplia, como el conjunto siguiente: </a:t>
            </a:r>
            <a:endParaRPr lang="es-ES" sz="1400" spc="-10" dirty="0">
              <a:solidFill>
                <a:srgbClr val="262626"/>
              </a:solidFill>
            </a:endParaRPr>
          </a:p>
        </p:txBody>
      </p:sp>
      <p:sp>
        <p:nvSpPr>
          <p:cNvPr id="8" name="object 7"/>
          <p:cNvSpPr txBox="1"/>
          <p:nvPr/>
        </p:nvSpPr>
        <p:spPr>
          <a:xfrm>
            <a:off x="1534863" y="3266057"/>
            <a:ext cx="6642446" cy="1274365"/>
          </a:xfrm>
          <a:prstGeom prst="rect">
            <a:avLst/>
          </a:prstGeom>
        </p:spPr>
        <p:txBody>
          <a:bodyPr vert="horz" wrap="square" lIns="90000" tIns="90000" rIns="90000" bIns="90000" rtlCol="0">
            <a:spAutoFit/>
          </a:bodyPr>
          <a:lstStyle/>
          <a:p>
            <a:pPr algn="just">
              <a:spcAft>
                <a:spcPts val="600"/>
              </a:spcAft>
              <a:buSzPct val="100000"/>
              <a:tabLst>
                <a:tab pos="121285" algn="l"/>
              </a:tabLst>
            </a:pPr>
            <a:r>
              <a:rPr lang="es-ES" sz="1400" b="1" spc="-10" dirty="0">
                <a:solidFill>
                  <a:srgbClr val="262626"/>
                </a:solidFill>
              </a:rPr>
              <a:t>Completamente	: </a:t>
            </a:r>
            <a:r>
              <a:rPr lang="es-ES" sz="1400" spc="-10" dirty="0">
                <a:solidFill>
                  <a:srgbClr val="262626"/>
                </a:solidFill>
              </a:rPr>
              <a:t>El nivel de capacidad se alcanza para más del 85 %. </a:t>
            </a:r>
            <a:endParaRPr lang="es-ES" sz="1400" spc="-10" dirty="0" smtClean="0">
              <a:solidFill>
                <a:srgbClr val="262626"/>
              </a:solidFill>
            </a:endParaRPr>
          </a:p>
          <a:p>
            <a:pPr algn="just">
              <a:spcAft>
                <a:spcPts val="600"/>
              </a:spcAft>
              <a:buSzPct val="100000"/>
              <a:tabLst>
                <a:tab pos="121285" algn="l"/>
              </a:tabLst>
            </a:pPr>
            <a:r>
              <a:rPr lang="es-419" sz="1400" b="1" spc="-6" dirty="0" smtClean="0">
                <a:ea typeface="Arial" charset="0"/>
                <a:cs typeface="Arial" charset="0"/>
              </a:rPr>
              <a:t>Largamente</a:t>
            </a:r>
            <a:r>
              <a:rPr lang="es-419" sz="1400" b="1" spc="-6" dirty="0">
                <a:ea typeface="Arial" charset="0"/>
                <a:cs typeface="Arial" charset="0"/>
              </a:rPr>
              <a:t>		: </a:t>
            </a:r>
            <a:r>
              <a:rPr lang="es-419" sz="1400" spc="-6" dirty="0">
                <a:ea typeface="Arial" charset="0"/>
                <a:cs typeface="Arial" charset="0"/>
              </a:rPr>
              <a:t>El nivel de capacidad se alcanza para entre el 50 % y el 85 %. </a:t>
            </a:r>
            <a:endParaRPr lang="es-419" sz="1400" spc="-6" dirty="0" smtClean="0">
              <a:ea typeface="Arial" charset="0"/>
              <a:cs typeface="Arial" charset="0"/>
            </a:endParaRPr>
          </a:p>
          <a:p>
            <a:pPr algn="just">
              <a:spcAft>
                <a:spcPts val="600"/>
              </a:spcAft>
              <a:buSzPct val="100000"/>
              <a:tabLst>
                <a:tab pos="121285" algn="l"/>
              </a:tabLst>
            </a:pPr>
            <a:r>
              <a:rPr lang="es-419" sz="1400" b="1" spc="-6" dirty="0" smtClean="0">
                <a:ea typeface="Arial" charset="0"/>
                <a:cs typeface="Arial" charset="0"/>
              </a:rPr>
              <a:t>Parcialmente</a:t>
            </a:r>
            <a:r>
              <a:rPr lang="es-419" sz="1400" b="1" spc="-6" dirty="0">
                <a:ea typeface="Arial" charset="0"/>
                <a:cs typeface="Arial" charset="0"/>
              </a:rPr>
              <a:t>	: </a:t>
            </a:r>
            <a:r>
              <a:rPr lang="es-419" sz="1400" spc="-6" dirty="0">
                <a:ea typeface="Arial" charset="0"/>
                <a:cs typeface="Arial" charset="0"/>
              </a:rPr>
              <a:t>El nivel de capacidad se alcanza para entre el 15 % y el 50 %. </a:t>
            </a:r>
            <a:endParaRPr lang="es-419" sz="1400" spc="-6" dirty="0" smtClean="0">
              <a:ea typeface="Arial" charset="0"/>
              <a:cs typeface="Arial" charset="0"/>
            </a:endParaRPr>
          </a:p>
          <a:p>
            <a:pPr algn="just">
              <a:spcAft>
                <a:spcPts val="600"/>
              </a:spcAft>
              <a:buSzPct val="100000"/>
              <a:tabLst>
                <a:tab pos="121285" algn="l"/>
              </a:tabLst>
            </a:pPr>
            <a:r>
              <a:rPr lang="es-ES" sz="1400" b="1" spc="-10" dirty="0" smtClean="0">
                <a:solidFill>
                  <a:srgbClr val="262626"/>
                </a:solidFill>
              </a:rPr>
              <a:t>No </a:t>
            </a:r>
            <a:r>
              <a:rPr lang="es-ES" sz="1400" b="1" spc="-10" dirty="0">
                <a:solidFill>
                  <a:srgbClr val="262626"/>
                </a:solidFill>
              </a:rPr>
              <a:t>cumple		:</a:t>
            </a:r>
            <a:r>
              <a:rPr lang="es-ES" sz="1400" spc="-10" dirty="0">
                <a:solidFill>
                  <a:srgbClr val="262626"/>
                </a:solidFill>
              </a:rPr>
              <a:t> El nivel de capacidad se alcanza para menos del 15 %. </a:t>
            </a:r>
          </a:p>
        </p:txBody>
      </p:sp>
      <p:cxnSp>
        <p:nvCxnSpPr>
          <p:cNvPr id="13" name="Conector recto 12"/>
          <p:cNvCxnSpPr/>
          <p:nvPr/>
        </p:nvCxnSpPr>
        <p:spPr>
          <a:xfrm flipV="1">
            <a:off x="1560711" y="3600058"/>
            <a:ext cx="6676840" cy="698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Google Shape;72;p14"/>
          <p:cNvSpPr/>
          <p:nvPr/>
        </p:nvSpPr>
        <p:spPr>
          <a:xfrm rot="10800000" flipH="1">
            <a:off x="1317091" y="3357539"/>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19" name="Google Shape;72;p14"/>
          <p:cNvSpPr/>
          <p:nvPr/>
        </p:nvSpPr>
        <p:spPr>
          <a:xfrm rot="10800000" flipH="1">
            <a:off x="1317091" y="3644343"/>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0" name="Google Shape;72;p14"/>
          <p:cNvSpPr/>
          <p:nvPr/>
        </p:nvSpPr>
        <p:spPr>
          <a:xfrm rot="10800000" flipH="1">
            <a:off x="1316229" y="3954562"/>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3"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DESEMPEÑO DE LOS PROCESOS</a:t>
            </a:r>
          </a:p>
        </p:txBody>
      </p:sp>
      <p:sp>
        <p:nvSpPr>
          <p:cNvPr id="24" name="object 7">
            <a:extLst>
              <a:ext uri="{FF2B5EF4-FFF2-40B4-BE49-F238E27FC236}">
                <a16:creationId xmlns:a16="http://schemas.microsoft.com/office/drawing/2014/main" id="{163CCFF5-6DBB-44D7-85E8-567CB4D4AC0E}"/>
              </a:ext>
            </a:extLst>
          </p:cNvPr>
          <p:cNvSpPr txBox="1"/>
          <p:nvPr/>
        </p:nvSpPr>
        <p:spPr>
          <a:xfrm>
            <a:off x="510903" y="838014"/>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CALIFICAR LAS ACTIVIDADES DEL PROCESO</a:t>
            </a:r>
          </a:p>
        </p:txBody>
      </p:sp>
      <p:cxnSp>
        <p:nvCxnSpPr>
          <p:cNvPr id="25" name="Conector recto 24"/>
          <p:cNvCxnSpPr/>
          <p:nvPr/>
        </p:nvCxnSpPr>
        <p:spPr>
          <a:xfrm flipV="1">
            <a:off x="1534863" y="3887776"/>
            <a:ext cx="6676840" cy="698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ector recto 25"/>
          <p:cNvCxnSpPr/>
          <p:nvPr/>
        </p:nvCxnSpPr>
        <p:spPr>
          <a:xfrm flipV="1">
            <a:off x="1560711" y="4197189"/>
            <a:ext cx="6676840" cy="698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8" name="Google Shape;72;p14"/>
          <p:cNvSpPr/>
          <p:nvPr/>
        </p:nvSpPr>
        <p:spPr>
          <a:xfrm rot="10800000" flipH="1">
            <a:off x="1333857" y="4241366"/>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451049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DESEMPEÑO DE LOS PROCESOS</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NIVELES DE MADUREZ DEL ÁREA PRIORITARIA</a:t>
            </a:r>
          </a:p>
        </p:txBody>
      </p:sp>
      <p:sp>
        <p:nvSpPr>
          <p:cNvPr id="6" name="object 7">
            <a:extLst>
              <a:ext uri="{FF2B5EF4-FFF2-40B4-BE49-F238E27FC236}">
                <a16:creationId xmlns:a16="http://schemas.microsoft.com/office/drawing/2014/main" id="{14894504-3DEF-4C9B-8349-69B082280464}"/>
              </a:ext>
            </a:extLst>
          </p:cNvPr>
          <p:cNvSpPr txBox="1"/>
          <p:nvPr/>
        </p:nvSpPr>
        <p:spPr>
          <a:xfrm>
            <a:off x="638629" y="1238318"/>
            <a:ext cx="7859485" cy="1461939"/>
          </a:xfrm>
          <a:prstGeom prst="rect">
            <a:avLst/>
          </a:prstGeom>
        </p:spPr>
        <p:txBody>
          <a:bodyPr vert="horz" wrap="square" lIns="0" tIns="0" rIns="0" bIns="0" rtlCol="0">
            <a:spAutoFit/>
          </a:bodyPr>
          <a:lstStyle/>
          <a:p>
            <a:pPr marL="285750" indent="-285750" algn="just">
              <a:spcAft>
                <a:spcPts val="1800"/>
              </a:spcAft>
              <a:buSzPct val="100000"/>
              <a:buFont typeface="Wingdings" panose="05000000000000000000" pitchFamily="2" charset="2"/>
              <a:buChar char="q"/>
              <a:tabLst>
                <a:tab pos="121285" algn="l"/>
              </a:tabLst>
            </a:pPr>
            <a:r>
              <a:rPr lang="es-ES" sz="1600" spc="-10" dirty="0">
                <a:solidFill>
                  <a:srgbClr val="262626"/>
                </a:solidFill>
              </a:rPr>
              <a:t>En ocasiones se requiere un nivel más alto para expresar el desempeño sin la granularidad aplicable a las calificaciones individuales de capacidad del proceso. Los niveles de madurez pueden usarse para ese propósito. </a:t>
            </a:r>
          </a:p>
          <a:p>
            <a:pPr marL="285750" indent="-285750" algn="just">
              <a:spcAft>
                <a:spcPts val="1800"/>
              </a:spcAft>
              <a:buSzPct val="100000"/>
              <a:buFont typeface="Wingdings" panose="05000000000000000000" pitchFamily="2" charset="2"/>
              <a:buChar char="q"/>
              <a:tabLst>
                <a:tab pos="121285" algn="l"/>
              </a:tabLst>
            </a:pPr>
            <a:r>
              <a:rPr lang="es-ES" sz="1600" spc="-10" dirty="0">
                <a:solidFill>
                  <a:srgbClr val="262626"/>
                </a:solidFill>
              </a:rPr>
              <a:t>COBIT® 2019 define los niveles de madurez como una medida de desempeño a nivel del área prioritaria, como se muestra en la figura: </a:t>
            </a:r>
          </a:p>
        </p:txBody>
      </p:sp>
      <p:sp>
        <p:nvSpPr>
          <p:cNvPr id="9" name="Flecha: hacia abajo 8">
            <a:extLst>
              <a:ext uri="{FF2B5EF4-FFF2-40B4-BE49-F238E27FC236}">
                <a16:creationId xmlns:a16="http://schemas.microsoft.com/office/drawing/2014/main" id="{CABA7D21-C083-4740-8D36-3EE08F4579F8}"/>
              </a:ext>
            </a:extLst>
          </p:cNvPr>
          <p:cNvSpPr/>
          <p:nvPr/>
        </p:nvSpPr>
        <p:spPr>
          <a:xfrm>
            <a:off x="3810000" y="3387147"/>
            <a:ext cx="1524000" cy="110308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365025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DESEMPEÑO DE LOS PROCESOS</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…NIVELES DE MADUREZ DEL ÁREA PRIORITARIA</a:t>
            </a:r>
          </a:p>
        </p:txBody>
      </p:sp>
      <p:pic>
        <p:nvPicPr>
          <p:cNvPr id="8" name="Imagen 7">
            <a:extLst>
              <a:ext uri="{FF2B5EF4-FFF2-40B4-BE49-F238E27FC236}">
                <a16:creationId xmlns:a16="http://schemas.microsoft.com/office/drawing/2014/main" id="{7734A8F1-F79E-4516-8307-C376EB1562DD}"/>
              </a:ext>
            </a:extLst>
          </p:cNvPr>
          <p:cNvPicPr>
            <a:picLocks noChangeAspect="1"/>
          </p:cNvPicPr>
          <p:nvPr/>
        </p:nvPicPr>
        <p:blipFill>
          <a:blip r:embed="rId3"/>
          <a:stretch>
            <a:fillRect/>
          </a:stretch>
        </p:blipFill>
        <p:spPr>
          <a:xfrm>
            <a:off x="969753" y="1167010"/>
            <a:ext cx="7204493" cy="3969709"/>
          </a:xfrm>
          <a:prstGeom prst="rect">
            <a:avLst/>
          </a:prstGeom>
        </p:spPr>
      </p:pic>
    </p:spTree>
    <p:extLst>
      <p:ext uri="{BB962C8B-B14F-4D97-AF65-F5344CB8AC3E}">
        <p14:creationId xmlns:p14="http://schemas.microsoft.com/office/powerpoint/2010/main" val="169878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787702"/>
            <a:ext cx="6370899" cy="4385816"/>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La gestión del desempeño es una parte fundamental de un sistema de gobierno y gestión, engloba todas las actividades y métodos; expresa hasta qué punto funciona bien </a:t>
            </a:r>
            <a:r>
              <a:rPr lang="es-ES" sz="1600" dirty="0" smtClean="0">
                <a:solidFill>
                  <a:srgbClr val="FFFFFF"/>
                </a:solidFill>
                <a:latin typeface="+mj-lt"/>
              </a:rPr>
              <a:t>este sistema y </a:t>
            </a:r>
            <a:r>
              <a:rPr lang="es-ES" sz="1600" dirty="0">
                <a:solidFill>
                  <a:srgbClr val="FFFFFF"/>
                </a:solidFill>
                <a:latin typeface="+mj-lt"/>
              </a:rPr>
              <a:t>todos los componentes de una empresa, y cómo pueden mejorarse para alcanzar el nivel requerido. </a:t>
            </a:r>
          </a:p>
          <a:p>
            <a:pPr marL="180975" indent="-180975">
              <a:spcAft>
                <a:spcPts val="1800"/>
              </a:spcAft>
              <a:buSzPct val="100000"/>
              <a:buFont typeface="Arial" panose="020B0604020202020204" pitchFamily="34" charset="0"/>
              <a:buChar char="•"/>
              <a:tabLst>
                <a:tab pos="121285" algn="l"/>
              </a:tabLst>
            </a:pPr>
            <a:r>
              <a:rPr lang="es-ES" sz="1600" dirty="0" smtClean="0">
                <a:solidFill>
                  <a:srgbClr val="FFFFFF"/>
                </a:solidFill>
                <a:latin typeface="+mj-lt"/>
              </a:rPr>
              <a:t>Los fundamentos de COBIT </a:t>
            </a:r>
            <a:r>
              <a:rPr lang="es-ES" sz="1600" dirty="0">
                <a:solidFill>
                  <a:srgbClr val="FFFFFF"/>
                </a:solidFill>
                <a:latin typeface="+mj-lt"/>
              </a:rPr>
              <a:t>2019 se </a:t>
            </a:r>
            <a:r>
              <a:rPr lang="es-ES" sz="1600" dirty="0" smtClean="0">
                <a:solidFill>
                  <a:srgbClr val="FFFFFF"/>
                </a:solidFill>
                <a:latin typeface="+mj-lt"/>
              </a:rPr>
              <a:t>basan en la facilidad de uso y entendimiento, </a:t>
            </a:r>
            <a:r>
              <a:rPr lang="es-ES" sz="1600" dirty="0" smtClean="0">
                <a:solidFill>
                  <a:srgbClr val="FFFFFF"/>
                </a:solidFill>
                <a:latin typeface="+mj-lt"/>
              </a:rPr>
              <a:t>además </a:t>
            </a:r>
            <a:r>
              <a:rPr lang="es-ES" sz="1600" dirty="0" smtClean="0">
                <a:solidFill>
                  <a:srgbClr val="FFFFFF"/>
                </a:solidFill>
                <a:latin typeface="+mj-lt"/>
              </a:rPr>
              <a:t>debe </a:t>
            </a:r>
            <a:r>
              <a:rPr lang="es-ES" sz="1600" dirty="0">
                <a:solidFill>
                  <a:srgbClr val="FFFFFF"/>
                </a:solidFill>
                <a:latin typeface="+mj-lt"/>
              </a:rPr>
              <a:t>ser consistente y apoyar el modelo conceptual de COBIT, </a:t>
            </a:r>
            <a:r>
              <a:rPr lang="es-ES" sz="1600" dirty="0" smtClean="0">
                <a:solidFill>
                  <a:srgbClr val="FFFFFF"/>
                </a:solidFill>
                <a:latin typeface="+mj-lt"/>
              </a:rPr>
              <a:t>también </a:t>
            </a:r>
            <a:r>
              <a:rPr lang="es-ES" sz="1600" dirty="0">
                <a:solidFill>
                  <a:srgbClr val="FFFFFF"/>
                </a:solidFill>
                <a:latin typeface="+mj-lt"/>
              </a:rPr>
              <a:t>debería proporcionar resultados confiables y relevantes, </a:t>
            </a:r>
            <a:r>
              <a:rPr lang="es-ES" sz="1600" dirty="0" smtClean="0">
                <a:solidFill>
                  <a:srgbClr val="FFFFFF"/>
                </a:solidFill>
                <a:latin typeface="+mj-lt"/>
              </a:rPr>
              <a:t>ser </a:t>
            </a:r>
            <a:r>
              <a:rPr lang="es-ES" sz="1600" dirty="0">
                <a:solidFill>
                  <a:srgbClr val="FFFFFF"/>
                </a:solidFill>
                <a:latin typeface="+mj-lt"/>
              </a:rPr>
              <a:t>flexible, y </a:t>
            </a:r>
            <a:r>
              <a:rPr lang="es-ES" sz="1600" dirty="0" smtClean="0">
                <a:solidFill>
                  <a:srgbClr val="FFFFFF"/>
                </a:solidFill>
                <a:latin typeface="+mj-lt"/>
              </a:rPr>
              <a:t>admitir </a:t>
            </a:r>
            <a:r>
              <a:rPr lang="es-ES" sz="1600" dirty="0">
                <a:solidFill>
                  <a:srgbClr val="FFFFFF"/>
                </a:solidFill>
                <a:latin typeface="+mj-lt"/>
              </a:rPr>
              <a:t>distintos tipos de evaluaciones.</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El modelo CPM está en gran parte alineado y amplía los conceptos de CMMI Development v2.</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El proceso dentro de cada objetivo de gobierno y gestión puede funcionar con distintos niveles de capacidad, que van de 0 a 5</a:t>
            </a:r>
            <a:r>
              <a:rPr lang="es-ES" sz="1600" dirty="0" smtClean="0">
                <a:solidFill>
                  <a:srgbClr val="FFFFFF"/>
                </a:solidFill>
                <a:latin typeface="+mj-lt"/>
              </a:rPr>
              <a:t>. </a:t>
            </a:r>
            <a:r>
              <a:rPr lang="es-ES" sz="1600" dirty="0">
                <a:solidFill>
                  <a:srgbClr val="FFFFFF"/>
                </a:solidFill>
              </a:rPr>
              <a:t>Un nivel de capacidad puede alcanzarse en distinto grado, lo cual puede expresarse mediante una serie de calificaciones: Completamente (F), Gran Medida (L), Parcialmente (P), y No cumple (N</a:t>
            </a:r>
            <a:r>
              <a:rPr lang="es-ES" sz="1600" dirty="0" smtClean="0">
                <a:solidFill>
                  <a:srgbClr val="FFFFFF"/>
                </a:solidFill>
              </a:rPr>
              <a:t>).</a:t>
            </a:r>
            <a:endParaRPr lang="es-ES" sz="1600" dirty="0">
              <a:solidFill>
                <a:srgbClr val="FFFFFF"/>
              </a:solidFill>
            </a:endParaRPr>
          </a:p>
        </p:txBody>
      </p:sp>
    </p:spTree>
    <p:custDataLst>
      <p:tags r:id="rId1"/>
    </p:custDataLst>
    <p:extLst>
      <p:ext uri="{BB962C8B-B14F-4D97-AF65-F5344CB8AC3E}">
        <p14:creationId xmlns:p14="http://schemas.microsoft.com/office/powerpoint/2010/main" val="205137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849637"/>
            <a:ext cx="6370899" cy="984885"/>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smtClean="0">
                <a:solidFill>
                  <a:srgbClr val="FFFFFF"/>
                </a:solidFill>
                <a:latin typeface="+mj-lt"/>
              </a:rPr>
              <a:t>COBIT</a:t>
            </a:r>
            <a:r>
              <a:rPr lang="es-ES" sz="1600" dirty="0">
                <a:solidFill>
                  <a:srgbClr val="FFFFFF"/>
                </a:solidFill>
                <a:latin typeface="+mj-lt"/>
              </a:rPr>
              <a:t>® 2019 define los niveles de madurez como una medida de desempeño a nivel del área prioritaria requerido para un nivel más </a:t>
            </a:r>
            <a:r>
              <a:rPr lang="es-ES" sz="1600" dirty="0" smtClean="0">
                <a:solidFill>
                  <a:srgbClr val="FFFFFF"/>
                </a:solidFill>
                <a:latin typeface="+mj-lt"/>
              </a:rPr>
              <a:t>alto, </a:t>
            </a:r>
            <a:r>
              <a:rPr lang="es-ES" sz="1600" dirty="0">
                <a:solidFill>
                  <a:srgbClr val="FFFFFF"/>
                </a:solidFill>
                <a:latin typeface="+mj-lt"/>
              </a:rPr>
              <a:t>para expresar el desempeño sin la granularidad aplicable a las calificaciones individuales de capacidad del proceso. </a:t>
            </a:r>
          </a:p>
        </p:txBody>
      </p:sp>
    </p:spTree>
    <p:custDataLst>
      <p:tags r:id="rId1"/>
    </p:custDataLst>
    <p:extLst>
      <p:ext uri="{BB962C8B-B14F-4D97-AF65-F5344CB8AC3E}">
        <p14:creationId xmlns:p14="http://schemas.microsoft.com/office/powerpoint/2010/main" val="52955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80"/>
            <a:ext cx="7979082" cy="1449454"/>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Introducción y Metodología”. </a:t>
            </a:r>
            <a:r>
              <a:rPr lang="en-US" sz="1400" dirty="0">
                <a:solidFill>
                  <a:srgbClr val="0000FF"/>
                </a:solidFill>
                <a:effectLst/>
                <a:latin typeface="Calibri" panose="020F0502020204030204" pitchFamily="34" charset="0"/>
                <a:ea typeface="Times New Roman" panose="02020603050405020304" pitchFamily="18" charset="0"/>
              </a:rPr>
              <a:t>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Objetivos de Gobierno y de Gestión”.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Diseño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Implementación y optimización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8037</TotalTime>
  <Words>1275</Words>
  <Application>Microsoft Office PowerPoint</Application>
  <PresentationFormat>Presentación en pantalla (16:10)</PresentationFormat>
  <Paragraphs>89</Paragraphs>
  <Slides>17</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17</vt:i4>
      </vt:variant>
    </vt:vector>
  </HeadingPairs>
  <TitlesOfParts>
    <vt:vector size="25" baseType="lpstr">
      <vt:lpstr>Arial</vt:lpstr>
      <vt:lpstr>Calibri</vt:lpstr>
      <vt:lpstr>JIJNO O+ Times New Roman PSMT</vt:lpstr>
      <vt:lpstr>JIJNO P+ Times New Roman PSMT</vt:lpstr>
      <vt:lpstr>Source Sans Pro</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593</cp:revision>
  <cp:lastPrinted>2018-01-16T21:42:59Z</cp:lastPrinted>
  <dcterms:created xsi:type="dcterms:W3CDTF">2016-10-06T14:52:02Z</dcterms:created>
  <dcterms:modified xsi:type="dcterms:W3CDTF">2022-05-12T19:06:15Z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